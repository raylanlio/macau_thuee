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sldIdLst>
    <p:sldId id="275" r:id="rId2"/>
    <p:sldId id="274" r:id="rId3"/>
    <p:sldId id="276" r:id="rId4"/>
    <p:sldId id="277" r:id="rId5"/>
    <p:sldId id="278" r:id="rId6"/>
    <p:sldId id="280" r:id="rId7"/>
    <p:sldId id="282" r:id="rId8"/>
    <p:sldId id="281" r:id="rId9"/>
    <p:sldId id="283" r:id="rId10"/>
    <p:sldId id="285" r:id="rId11"/>
    <p:sldId id="367" r:id="rId12"/>
    <p:sldId id="368" r:id="rId13"/>
    <p:sldId id="369" r:id="rId14"/>
    <p:sldId id="370" r:id="rId15"/>
    <p:sldId id="284" r:id="rId16"/>
    <p:sldId id="286" r:id="rId17"/>
    <p:sldId id="287" r:id="rId18"/>
    <p:sldId id="288" r:id="rId19"/>
    <p:sldId id="372" r:id="rId20"/>
    <p:sldId id="371" r:id="rId21"/>
    <p:sldId id="289" r:id="rId22"/>
    <p:sldId id="373" r:id="rId23"/>
    <p:sldId id="374" r:id="rId24"/>
    <p:sldId id="375" r:id="rId25"/>
    <p:sldId id="376" r:id="rId26"/>
    <p:sldId id="377" r:id="rId27"/>
    <p:sldId id="378" r:id="rId28"/>
    <p:sldId id="290" r:id="rId29"/>
    <p:sldId id="291" r:id="rId30"/>
    <p:sldId id="292" r:id="rId31"/>
    <p:sldId id="293" r:id="rId32"/>
    <p:sldId id="294" r:id="rId33"/>
    <p:sldId id="296" r:id="rId34"/>
    <p:sldId id="297" r:id="rId35"/>
    <p:sldId id="298" r:id="rId36"/>
    <p:sldId id="299" r:id="rId37"/>
    <p:sldId id="300" r:id="rId38"/>
    <p:sldId id="301" r:id="rId39"/>
    <p:sldId id="302" r:id="rId40"/>
    <p:sldId id="303" r:id="rId41"/>
    <p:sldId id="304" r:id="rId42"/>
    <p:sldId id="305" r:id="rId43"/>
    <p:sldId id="313" r:id="rId44"/>
    <p:sldId id="330" r:id="rId45"/>
    <p:sldId id="307" r:id="rId46"/>
    <p:sldId id="308" r:id="rId47"/>
    <p:sldId id="309" r:id="rId48"/>
    <p:sldId id="310" r:id="rId49"/>
    <p:sldId id="311" r:id="rId50"/>
    <p:sldId id="331" r:id="rId51"/>
    <p:sldId id="332" r:id="rId52"/>
    <p:sldId id="333" r:id="rId53"/>
    <p:sldId id="334" r:id="rId54"/>
    <p:sldId id="335" r:id="rId55"/>
    <p:sldId id="336" r:id="rId56"/>
    <p:sldId id="337" r:id="rId57"/>
    <p:sldId id="338" r:id="rId58"/>
    <p:sldId id="339" r:id="rId59"/>
    <p:sldId id="341" r:id="rId60"/>
    <p:sldId id="342" r:id="rId61"/>
    <p:sldId id="343" r:id="rId62"/>
    <p:sldId id="344" r:id="rId63"/>
    <p:sldId id="345" r:id="rId64"/>
    <p:sldId id="346" r:id="rId65"/>
    <p:sldId id="347" r:id="rId66"/>
    <p:sldId id="348" r:id="rId67"/>
    <p:sldId id="349" r:id="rId68"/>
    <p:sldId id="351" r:id="rId69"/>
    <p:sldId id="350" r:id="rId70"/>
    <p:sldId id="352" r:id="rId71"/>
    <p:sldId id="353" r:id="rId72"/>
    <p:sldId id="354" r:id="rId73"/>
    <p:sldId id="355" r:id="rId74"/>
    <p:sldId id="356" r:id="rId75"/>
    <p:sldId id="357" r:id="rId76"/>
    <p:sldId id="358" r:id="rId77"/>
    <p:sldId id="359" r:id="rId78"/>
    <p:sldId id="360" r:id="rId79"/>
    <p:sldId id="361" r:id="rId80"/>
    <p:sldId id="362" r:id="rId81"/>
    <p:sldId id="363" r:id="rId82"/>
    <p:sldId id="364" r:id="rId83"/>
    <p:sldId id="365" r:id="rId84"/>
    <p:sldId id="379" r:id="rId85"/>
    <p:sldId id="366"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3" d="100"/>
          <a:sy n="83" d="100"/>
        </p:scale>
        <p:origin x="878"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22DCA-151E-45C7-AC46-0D7506932EB0}" type="datetimeFigureOut">
              <a:rPr lang="zh-CN" altLang="en-US" smtClean="0"/>
              <a:t>2024/5/24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7C08E-78D7-42DB-AE45-AD872A517D50}" type="slidenum">
              <a:rPr lang="zh-CN" altLang="en-US" smtClean="0"/>
              <a:t>‹#›</a:t>
            </a:fld>
            <a:endParaRPr lang="zh-CN" altLang="en-US"/>
          </a:p>
        </p:txBody>
      </p:sp>
    </p:spTree>
    <p:extLst>
      <p:ext uri="{BB962C8B-B14F-4D97-AF65-F5344CB8AC3E}">
        <p14:creationId xmlns:p14="http://schemas.microsoft.com/office/powerpoint/2010/main" val="2734789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miter lim="800000"/>
            <a:headEnd/>
            <a:tailEnd/>
          </a:ln>
        </p:spPr>
        <p:txBody>
          <a:bodyPr/>
          <a:lstStyle/>
          <a:p>
            <a:fld id="{092A4D60-5A50-41C5-A4FE-3705880EC8B2}" type="slidenum">
              <a:rPr lang="zh-CN" altLang="en-US" smtClean="0"/>
              <a:pPr/>
              <a:t>75</a:t>
            </a:fld>
            <a:endParaRPr lang="en-US" altLang="zh-CN"/>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701068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miter lim="800000"/>
            <a:headEnd/>
            <a:tailEnd/>
          </a:ln>
        </p:spPr>
        <p:txBody>
          <a:bodyPr/>
          <a:lstStyle/>
          <a:p>
            <a:fld id="{F029BA96-E45A-42CB-BCE3-C8F39DCE2EAE}" type="slidenum">
              <a:rPr lang="zh-CN" altLang="en-US" smtClean="0"/>
              <a:pPr/>
              <a:t>76</a:t>
            </a:fld>
            <a:endParaRPr lang="en-US" altLang="zh-CN"/>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140113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miter lim="800000"/>
            <a:headEnd/>
            <a:tailEnd/>
          </a:ln>
        </p:spPr>
        <p:txBody>
          <a:bodyPr/>
          <a:lstStyle/>
          <a:p>
            <a:fld id="{9E24FD5D-5358-454F-BD21-595B43AC7430}" type="slidenum">
              <a:rPr lang="zh-CN" altLang="en-US" smtClean="0"/>
              <a:pPr/>
              <a:t>77</a:t>
            </a:fld>
            <a:endParaRPr lang="en-US" altLang="zh-CN"/>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669404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miter lim="800000"/>
            <a:headEnd/>
            <a:tailEnd/>
          </a:ln>
        </p:spPr>
        <p:txBody>
          <a:bodyPr/>
          <a:lstStyle/>
          <a:p>
            <a:fld id="{FB7C72A8-FCA5-40B7-9BF6-A65DDFB6EE7C}" type="slidenum">
              <a:rPr lang="zh-CN" altLang="en-US" smtClean="0"/>
              <a:pPr/>
              <a:t>78</a:t>
            </a:fld>
            <a:endParaRPr lang="en-US" altLang="zh-CN"/>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9404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6E35CCDD-2586-464E-AFE0-B5A574D41AC4}" type="datetime1">
              <a:rPr lang="zh-CN" altLang="en-US" smtClean="0"/>
              <a:t>2024/5/24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310322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3775D4D-DEDA-485F-A57B-0899DFCD11D9}" type="datetime1">
              <a:rPr lang="zh-CN" altLang="en-US" smtClean="0"/>
              <a:t>2024/5/24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330737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1F038E4-5D4A-4CE4-93A0-5565DCCA047E}" type="datetime1">
              <a:rPr lang="zh-CN" altLang="en-US" smtClean="0"/>
              <a:t>2024/5/24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2303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E9C06B8-C690-46DC-8F1A-A6702CAA4F06}" type="datetime1">
              <a:rPr lang="zh-CN" altLang="en-US" smtClean="0"/>
              <a:t>2024/5/24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55887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FC94268E-7B1F-4197-A7F4-178328DB0C0D}" type="datetime1">
              <a:rPr lang="zh-CN" altLang="en-US" smtClean="0"/>
              <a:t>2024/5/24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747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04D75C3-CD71-47A9-AE63-E90B96E31C6B}" type="datetime1">
              <a:rPr lang="zh-CN" altLang="en-US" smtClean="0"/>
              <a:t>2024/5/24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47915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43D92-FE98-4E68-85F1-648E03B26AE2}" type="datetime1">
              <a:rPr lang="zh-CN" altLang="en-US" smtClean="0"/>
              <a:t>2024/5/24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4218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26DDB5F5-E322-44A1-A27C-DBC8ABFD9C51}" type="datetime1">
              <a:rPr lang="zh-CN" altLang="en-US" smtClean="0"/>
              <a:t>2024/5/24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96307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A81A8DBA-A096-4802-8971-4A136D274866}" type="datetime1">
              <a:rPr lang="zh-CN" altLang="en-US" smtClean="0"/>
              <a:t>2024/5/24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245099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46DFE9-AA29-4D92-A503-2669F53D5B6D}" type="datetime1">
              <a:rPr lang="zh-CN" altLang="en-US" smtClean="0"/>
              <a:t>2024/5/24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6442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4586D88-1402-4B29-999F-F36CE83A6A00}" type="datetime1">
              <a:rPr lang="zh-CN" altLang="en-US" smtClean="0"/>
              <a:t>2024/5/24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540790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8C3F33-3C07-4C2F-83D0-1B65706079E4}" type="datetime1">
              <a:rPr lang="zh-CN" altLang="en-US" smtClean="0"/>
              <a:t>2024/5/24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7056160" y="645890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908555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4.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2.wmf"/><Relationship Id="rId3" Type="http://schemas.openxmlformats.org/officeDocument/2006/relationships/image" Target="../media/image7.wmf"/><Relationship Id="rId7" Type="http://schemas.openxmlformats.org/officeDocument/2006/relationships/image" Target="../media/image9.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11.png"/><Relationship Id="rId5" Type="http://schemas.openxmlformats.org/officeDocument/2006/relationships/image" Target="../media/image8.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0.wmf"/></Relationships>
</file>

<file path=ppt/slides/_rels/slide14.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7.xml"/><Relationship Id="rId5" Type="http://schemas.openxmlformats.org/officeDocument/2006/relationships/image" Target="../media/image14.wmf"/><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5.wmf"/><Relationship Id="rId7" Type="http://schemas.openxmlformats.org/officeDocument/2006/relationships/image" Target="../media/image17.w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image" Target="../media/image19.wmf"/><Relationship Id="rId5" Type="http://schemas.openxmlformats.org/officeDocument/2006/relationships/image" Target="../media/image16.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8.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6.bin"/><Relationship Id="rId5" Type="http://schemas.openxmlformats.org/officeDocument/2006/relationships/image" Target="../media/image21.wmf"/><Relationship Id="rId4" Type="http://schemas.openxmlformats.org/officeDocument/2006/relationships/oleObject" Target="../embeddings/oleObject15.bin"/><Relationship Id="rId9" Type="http://schemas.openxmlformats.org/officeDocument/2006/relationships/image" Target="../media/image23.wmf"/></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4.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6.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32.emf"/><Relationship Id="rId3" Type="http://schemas.openxmlformats.org/officeDocument/2006/relationships/image" Target="../media/image27.wmf"/><Relationship Id="rId7" Type="http://schemas.openxmlformats.org/officeDocument/2006/relationships/image" Target="../media/image29.emf"/><Relationship Id="rId12" Type="http://schemas.openxmlformats.org/officeDocument/2006/relationships/oleObject" Target="../embeddings/oleObject24.bin"/><Relationship Id="rId17" Type="http://schemas.openxmlformats.org/officeDocument/2006/relationships/image" Target="../media/image34.wmf"/><Relationship Id="rId2" Type="http://schemas.openxmlformats.org/officeDocument/2006/relationships/oleObject" Target="../embeddings/oleObject19.bin"/><Relationship Id="rId16"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21.bin"/><Relationship Id="rId11" Type="http://schemas.openxmlformats.org/officeDocument/2006/relationships/image" Target="../media/image31.emf"/><Relationship Id="rId5" Type="http://schemas.openxmlformats.org/officeDocument/2006/relationships/image" Target="../media/image28.wmf"/><Relationship Id="rId15" Type="http://schemas.openxmlformats.org/officeDocument/2006/relationships/image" Target="../media/image33.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30.wmf"/><Relationship Id="rId14" Type="http://schemas.openxmlformats.org/officeDocument/2006/relationships/oleObject" Target="../embeddings/oleObject25.bin"/></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41.emf"/><Relationship Id="rId3" Type="http://schemas.openxmlformats.org/officeDocument/2006/relationships/image" Target="../media/image36.emf"/><Relationship Id="rId7" Type="http://schemas.openxmlformats.org/officeDocument/2006/relationships/image" Target="../media/image38.emf"/><Relationship Id="rId12" Type="http://schemas.openxmlformats.org/officeDocument/2006/relationships/oleObject" Target="../embeddings/oleObject32.bin"/><Relationship Id="rId2" Type="http://schemas.openxmlformats.org/officeDocument/2006/relationships/oleObject" Target="../embeddings/oleObject27.bin"/><Relationship Id="rId1" Type="http://schemas.openxmlformats.org/officeDocument/2006/relationships/slideLayout" Target="../slideLayouts/slideLayout7.xml"/><Relationship Id="rId6" Type="http://schemas.openxmlformats.org/officeDocument/2006/relationships/oleObject" Target="../embeddings/oleObject29.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39.wmf"/></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9.emf"/><Relationship Id="rId3" Type="http://schemas.openxmlformats.org/officeDocument/2006/relationships/image" Target="../media/image44.emf"/><Relationship Id="rId7" Type="http://schemas.openxmlformats.org/officeDocument/2006/relationships/image" Target="../media/image46.wmf"/><Relationship Id="rId12" Type="http://schemas.openxmlformats.org/officeDocument/2006/relationships/oleObject" Target="../embeddings/oleObject38.bin"/><Relationship Id="rId2"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oleObject" Target="../embeddings/oleObject35.bin"/><Relationship Id="rId11" Type="http://schemas.openxmlformats.org/officeDocument/2006/relationships/image" Target="../media/image48.wmf"/><Relationship Id="rId5" Type="http://schemas.openxmlformats.org/officeDocument/2006/relationships/image" Target="../media/image45.wmf"/><Relationship Id="rId15" Type="http://schemas.openxmlformats.org/officeDocument/2006/relationships/image" Target="../media/image50.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47.wmf"/><Relationship Id="rId14" Type="http://schemas.openxmlformats.org/officeDocument/2006/relationships/oleObject" Target="../embeddings/oleObject39.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51.wmf"/><Relationship Id="rId7" Type="http://schemas.openxmlformats.org/officeDocument/2006/relationships/image" Target="../media/image53.emf"/><Relationship Id="rId2" Type="http://schemas.openxmlformats.org/officeDocument/2006/relationships/oleObject" Target="../embeddings/oleObject40.bin"/><Relationship Id="rId1" Type="http://schemas.openxmlformats.org/officeDocument/2006/relationships/slideLayout" Target="../slideLayouts/slideLayout7.xml"/><Relationship Id="rId6" Type="http://schemas.openxmlformats.org/officeDocument/2006/relationships/oleObject" Target="../embeddings/oleObject42.bin"/><Relationship Id="rId5" Type="http://schemas.openxmlformats.org/officeDocument/2006/relationships/image" Target="../media/image52.wmf"/><Relationship Id="rId4" Type="http://schemas.openxmlformats.org/officeDocument/2006/relationships/oleObject" Target="../embeddings/oleObject41.bin"/><Relationship Id="rId9" Type="http://schemas.openxmlformats.org/officeDocument/2006/relationships/image" Target="../media/image54.wmf"/></Relationships>
</file>

<file path=ppt/slides/_rels/slide29.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tags" Target="../tags/tag52.xml"/><Relationship Id="rId3" Type="http://schemas.openxmlformats.org/officeDocument/2006/relationships/tags" Target="../tags/tag37.xml"/><Relationship Id="rId21" Type="http://schemas.openxmlformats.org/officeDocument/2006/relationships/image" Target="../media/image4.tmp"/><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slideLayout" Target="../slideLayouts/slideLayout7.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tags" Target="../tags/tag53.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30.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7.emf"/><Relationship Id="rId5" Type="http://schemas.openxmlformats.org/officeDocument/2006/relationships/oleObject" Target="../embeddings/oleObject45.bin"/><Relationship Id="rId4" Type="http://schemas.openxmlformats.org/officeDocument/2006/relationships/image" Target="../media/image56.emf"/></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slideLayout" Target="../slideLayouts/slideLayout7.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 Type="http://schemas.openxmlformats.org/officeDocument/2006/relationships/tags" Target="../tags/tag55.xml"/><Relationship Id="rId16" Type="http://schemas.openxmlformats.org/officeDocument/2006/relationships/tags" Target="../tags/tag69.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tags" Target="../tags/tag68.xml"/><Relationship Id="rId10" Type="http://schemas.openxmlformats.org/officeDocument/2006/relationships/tags" Target="../tags/tag63.xml"/><Relationship Id="rId19" Type="http://schemas.openxmlformats.org/officeDocument/2006/relationships/image" Target="../media/image4.tmp"/><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s>
</file>

<file path=ppt/slides/_rels/slide35.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47.bin"/><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48.bin"/><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49.bin"/><Relationship Id="rId1" Type="http://schemas.openxmlformats.org/officeDocument/2006/relationships/slideLayout" Target="../slideLayouts/slideLayout7.xml"/><Relationship Id="rId5" Type="http://schemas.openxmlformats.org/officeDocument/2006/relationships/image" Target="../media/image63.wmf"/><Relationship Id="rId4" Type="http://schemas.openxmlformats.org/officeDocument/2006/relationships/oleObject" Target="../embeddings/oleObject50.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image" Target="../media/image64.wmf"/><Relationship Id="rId7" Type="http://schemas.openxmlformats.org/officeDocument/2006/relationships/image" Target="../media/image66.wmf"/><Relationship Id="rId2"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oleObject" Target="../embeddings/oleObject53.bin"/><Relationship Id="rId5" Type="http://schemas.openxmlformats.org/officeDocument/2006/relationships/image" Target="../media/image65.wmf"/><Relationship Id="rId4" Type="http://schemas.openxmlformats.org/officeDocument/2006/relationships/oleObject" Target="../embeddings/oleObject52.bin"/><Relationship Id="rId9" Type="http://schemas.openxmlformats.org/officeDocument/2006/relationships/image" Target="../media/image67.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image" Target="../media/image68.wmf"/><Relationship Id="rId7" Type="http://schemas.openxmlformats.org/officeDocument/2006/relationships/image" Target="../media/image70.wmf"/><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7.bin"/><Relationship Id="rId11" Type="http://schemas.openxmlformats.org/officeDocument/2006/relationships/image" Target="../media/image72.wmf"/><Relationship Id="rId5" Type="http://schemas.openxmlformats.org/officeDocument/2006/relationships/image" Target="../media/image69.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71.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77.wmf"/><Relationship Id="rId3" Type="http://schemas.openxmlformats.org/officeDocument/2006/relationships/oleObject" Target="../embeddings/oleObject60.bin"/><Relationship Id="rId7" Type="http://schemas.openxmlformats.org/officeDocument/2006/relationships/image" Target="../media/image75.png"/><Relationship Id="rId12" Type="http://schemas.openxmlformats.org/officeDocument/2006/relationships/oleObject" Target="../embeddings/oleObject64.bin"/><Relationship Id="rId17" Type="http://schemas.openxmlformats.org/officeDocument/2006/relationships/image" Target="../media/image79.wmf"/><Relationship Id="rId2" Type="http://schemas.openxmlformats.org/officeDocument/2006/relationships/image" Target="../media/image73.png"/><Relationship Id="rId16" Type="http://schemas.openxmlformats.org/officeDocument/2006/relationships/oleObject" Target="../embeddings/oleObject66.bin"/><Relationship Id="rId1" Type="http://schemas.openxmlformats.org/officeDocument/2006/relationships/slideLayout" Target="../slideLayouts/slideLayout7.xml"/><Relationship Id="rId6" Type="http://schemas.openxmlformats.org/officeDocument/2006/relationships/image" Target="../media/image74.wmf"/><Relationship Id="rId11" Type="http://schemas.openxmlformats.org/officeDocument/2006/relationships/image" Target="../media/image69.wmf"/><Relationship Id="rId5" Type="http://schemas.openxmlformats.org/officeDocument/2006/relationships/oleObject" Target="../embeddings/oleObject61.bin"/><Relationship Id="rId15" Type="http://schemas.openxmlformats.org/officeDocument/2006/relationships/image" Target="../media/image78.wmf"/><Relationship Id="rId10" Type="http://schemas.openxmlformats.org/officeDocument/2006/relationships/oleObject" Target="../embeddings/oleObject63.bin"/><Relationship Id="rId4" Type="http://schemas.openxmlformats.org/officeDocument/2006/relationships/image" Target="../media/image64.wmf"/><Relationship Id="rId9" Type="http://schemas.openxmlformats.org/officeDocument/2006/relationships/image" Target="../media/image76.wmf"/><Relationship Id="rId14" Type="http://schemas.openxmlformats.org/officeDocument/2006/relationships/oleObject" Target="../embeddings/oleObject65.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72.wmf"/><Relationship Id="rId3" Type="http://schemas.openxmlformats.org/officeDocument/2006/relationships/image" Target="../media/image80.wmf"/><Relationship Id="rId7" Type="http://schemas.openxmlformats.org/officeDocument/2006/relationships/image" Target="../media/image82.wmf"/><Relationship Id="rId12" Type="http://schemas.openxmlformats.org/officeDocument/2006/relationships/oleObject" Target="../embeddings/oleObject72.bin"/><Relationship Id="rId2" Type="http://schemas.openxmlformats.org/officeDocument/2006/relationships/oleObject" Target="../embeddings/oleObject67.bin"/><Relationship Id="rId16" Type="http://schemas.openxmlformats.org/officeDocument/2006/relationships/oleObject" Target="../embeddings/oleObject74.bin"/><Relationship Id="rId1" Type="http://schemas.openxmlformats.org/officeDocument/2006/relationships/slideLayout" Target="../slideLayouts/slideLayout7.xml"/><Relationship Id="rId6" Type="http://schemas.openxmlformats.org/officeDocument/2006/relationships/oleObject" Target="../embeddings/oleObject69.bin"/><Relationship Id="rId11" Type="http://schemas.openxmlformats.org/officeDocument/2006/relationships/image" Target="../media/image71.wmf"/><Relationship Id="rId5" Type="http://schemas.openxmlformats.org/officeDocument/2006/relationships/image" Target="../media/image81.wmf"/><Relationship Id="rId15" Type="http://schemas.openxmlformats.org/officeDocument/2006/relationships/image" Target="../media/image83.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77.wmf"/><Relationship Id="rId14" Type="http://schemas.openxmlformats.org/officeDocument/2006/relationships/oleObject" Target="../embeddings/oleObject73.bin"/></Relationships>
</file>

<file path=ppt/slides/_rels/slide43.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slideLayout" Target="../slideLayouts/slideLayout7.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tags" Target="../tags/tag87.xml"/><Relationship Id="rId2" Type="http://schemas.openxmlformats.org/officeDocument/2006/relationships/tags" Target="../tags/tag72.xml"/><Relationship Id="rId16" Type="http://schemas.openxmlformats.org/officeDocument/2006/relationships/tags" Target="../tags/tag86.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tags" Target="../tags/tag85.xml"/><Relationship Id="rId10" Type="http://schemas.openxmlformats.org/officeDocument/2006/relationships/tags" Target="../tags/tag80.xml"/><Relationship Id="rId19" Type="http://schemas.openxmlformats.org/officeDocument/2006/relationships/image" Target="../media/image4.tmp"/><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4.wmf"/><Relationship Id="rId7" Type="http://schemas.openxmlformats.org/officeDocument/2006/relationships/image" Target="../media/image86.wmf"/><Relationship Id="rId2" Type="http://schemas.openxmlformats.org/officeDocument/2006/relationships/oleObject" Target="../embeddings/oleObject75.bin"/><Relationship Id="rId1" Type="http://schemas.openxmlformats.org/officeDocument/2006/relationships/slideLayout" Target="../slideLayouts/slideLayout7.xml"/><Relationship Id="rId6" Type="http://schemas.openxmlformats.org/officeDocument/2006/relationships/oleObject" Target="../embeddings/oleObject77.bin"/><Relationship Id="rId5" Type="http://schemas.openxmlformats.org/officeDocument/2006/relationships/image" Target="../media/image85.wmf"/><Relationship Id="rId4" Type="http://schemas.openxmlformats.org/officeDocument/2006/relationships/oleObject" Target="../embeddings/oleObject76.bin"/></Relationships>
</file>

<file path=ppt/slides/_rels/slide46.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oleObject" Target="../embeddings/oleObject83.bin"/><Relationship Id="rId18" Type="http://schemas.openxmlformats.org/officeDocument/2006/relationships/image" Target="../media/image85.wmf"/><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92.wmf"/><Relationship Id="rId17" Type="http://schemas.openxmlformats.org/officeDocument/2006/relationships/oleObject" Target="../embeddings/oleObject85.bin"/><Relationship Id="rId2" Type="http://schemas.openxmlformats.org/officeDocument/2006/relationships/image" Target="../media/image87.wmf"/><Relationship Id="rId16" Type="http://schemas.openxmlformats.org/officeDocument/2006/relationships/image" Target="../media/image94.wmf"/><Relationship Id="rId20" Type="http://schemas.openxmlformats.org/officeDocument/2006/relationships/image" Target="../media/image95.wmf"/><Relationship Id="rId1" Type="http://schemas.openxmlformats.org/officeDocument/2006/relationships/slideLayout" Target="../slideLayouts/slideLayout7.xml"/><Relationship Id="rId6" Type="http://schemas.openxmlformats.org/officeDocument/2006/relationships/image" Target="../media/image89.w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oleObject" Target="../embeddings/oleObject84.bin"/><Relationship Id="rId10" Type="http://schemas.openxmlformats.org/officeDocument/2006/relationships/image" Target="../media/image91.wmf"/><Relationship Id="rId19" Type="http://schemas.openxmlformats.org/officeDocument/2006/relationships/oleObject" Target="../embeddings/oleObject86.bin"/><Relationship Id="rId4" Type="http://schemas.openxmlformats.org/officeDocument/2006/relationships/image" Target="../media/image88.wmf"/><Relationship Id="rId9" Type="http://schemas.openxmlformats.org/officeDocument/2006/relationships/oleObject" Target="../embeddings/oleObject81.bin"/><Relationship Id="rId14" Type="http://schemas.openxmlformats.org/officeDocument/2006/relationships/image" Target="../media/image93.wmf"/></Relationships>
</file>

<file path=ppt/slides/_rels/slide4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oleObject" Target="../embeddings/oleObject87.bin"/><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image" Target="../media/image97.wmf"/><Relationship Id="rId7" Type="http://schemas.openxmlformats.org/officeDocument/2006/relationships/image" Target="../media/image98.wmf"/><Relationship Id="rId2"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90.bin"/><Relationship Id="rId5" Type="http://schemas.openxmlformats.org/officeDocument/2006/relationships/image" Target="../media/image80.wmf"/><Relationship Id="rId4" Type="http://schemas.openxmlformats.org/officeDocument/2006/relationships/oleObject" Target="../embeddings/oleObject89.bin"/><Relationship Id="rId9" Type="http://schemas.openxmlformats.org/officeDocument/2006/relationships/image" Target="../media/image77.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image" Target="../media/image99.wmf"/><Relationship Id="rId7" Type="http://schemas.openxmlformats.org/officeDocument/2006/relationships/image" Target="../media/image101.wmf"/><Relationship Id="rId2" Type="http://schemas.openxmlformats.org/officeDocument/2006/relationships/oleObject" Target="../embeddings/oleObject92.bin"/><Relationship Id="rId1" Type="http://schemas.openxmlformats.org/officeDocument/2006/relationships/slideLayout" Target="../slideLayouts/slideLayout7.xml"/><Relationship Id="rId6" Type="http://schemas.openxmlformats.org/officeDocument/2006/relationships/oleObject" Target="../embeddings/oleObject94.bin"/><Relationship Id="rId11" Type="http://schemas.openxmlformats.org/officeDocument/2006/relationships/image" Target="../media/image103.wmf"/><Relationship Id="rId5" Type="http://schemas.openxmlformats.org/officeDocument/2006/relationships/image" Target="../media/image100.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102.wmf"/></Relationships>
</file>

<file path=ppt/slides/_rels/slide51.xml.rels><?xml version="1.0" encoding="UTF-8" standalone="yes"?>
<Relationships xmlns="http://schemas.openxmlformats.org/package/2006/relationships"><Relationship Id="rId8" Type="http://schemas.openxmlformats.org/officeDocument/2006/relationships/image" Target="../media/image106.wmf"/><Relationship Id="rId7" Type="http://schemas.openxmlformats.org/officeDocument/2006/relationships/oleObject" Target="../embeddings/oleObject98.bin"/><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05.wmf"/><Relationship Id="rId5" Type="http://schemas.openxmlformats.org/officeDocument/2006/relationships/oleObject" Target="../embeddings/oleObject97.bin"/><Relationship Id="rId4" Type="http://schemas.openxmlformats.org/officeDocument/2006/relationships/image" Target="../media/image590.png"/></Relationships>
</file>

<file path=ppt/slides/_rels/slide5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3.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50.pn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png"/></Relationships>
</file>

<file path=ppt/slides/_rels/slide54.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99.bin"/><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69.png"/></Relationships>
</file>

<file path=ppt/slides/_rels/slide55.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image" Target="../media/image72.png"/><Relationship Id="rId1" Type="http://schemas.openxmlformats.org/officeDocument/2006/relationships/slideLayout" Target="../slideLayouts/slideLayout7.xml"/><Relationship Id="rId5" Type="http://schemas.openxmlformats.org/officeDocument/2006/relationships/image" Target="../media/image750.png"/><Relationship Id="rId4" Type="http://schemas.openxmlformats.org/officeDocument/2006/relationships/image" Target="../media/image74.png"/></Relationships>
</file>

<file path=ppt/slides/_rels/slide56.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slideLayout" Target="../slideLayouts/slideLayout7.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 Type="http://schemas.openxmlformats.org/officeDocument/2006/relationships/tags" Target="../tags/tag89.xml"/><Relationship Id="rId16" Type="http://schemas.openxmlformats.org/officeDocument/2006/relationships/tags" Target="../tags/tag103.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tags" Target="../tags/tag102.xml"/><Relationship Id="rId10" Type="http://schemas.openxmlformats.org/officeDocument/2006/relationships/tags" Target="../tags/tag97.xml"/><Relationship Id="rId19" Type="http://schemas.openxmlformats.org/officeDocument/2006/relationships/image" Target="../media/image4.tmp"/><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s>
</file>

<file path=ppt/slides/_rels/slide58.x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oleObject" Target="../embeddings/oleObject100.bin"/><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114.emf"/><Relationship Id="rId1" Type="http://schemas.openxmlformats.org/officeDocument/2006/relationships/slideLayout" Target="../slideLayouts/slideLayout7.xml"/><Relationship Id="rId4" Type="http://schemas.openxmlformats.org/officeDocument/2006/relationships/image" Target="../media/image11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tags" Target="../tags/tag117.xml"/><Relationship Id="rId18" Type="http://schemas.openxmlformats.org/officeDocument/2006/relationships/tags" Target="../tags/tag122.xml"/><Relationship Id="rId3" Type="http://schemas.openxmlformats.org/officeDocument/2006/relationships/tags" Target="../tags/tag107.xml"/><Relationship Id="rId21" Type="http://schemas.openxmlformats.org/officeDocument/2006/relationships/image" Target="../media/image4.tmp"/><Relationship Id="rId7" Type="http://schemas.openxmlformats.org/officeDocument/2006/relationships/tags" Target="../tags/tag111.xml"/><Relationship Id="rId12" Type="http://schemas.openxmlformats.org/officeDocument/2006/relationships/tags" Target="../tags/tag116.xml"/><Relationship Id="rId17" Type="http://schemas.openxmlformats.org/officeDocument/2006/relationships/tags" Target="../tags/tag121.xml"/><Relationship Id="rId2" Type="http://schemas.openxmlformats.org/officeDocument/2006/relationships/tags" Target="../tags/tag106.xml"/><Relationship Id="rId16" Type="http://schemas.openxmlformats.org/officeDocument/2006/relationships/tags" Target="../tags/tag120.xml"/><Relationship Id="rId20" Type="http://schemas.openxmlformats.org/officeDocument/2006/relationships/slideLayout" Target="../slideLayouts/slideLayout7.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tags" Target="../tags/tag115.xml"/><Relationship Id="rId5" Type="http://schemas.openxmlformats.org/officeDocument/2006/relationships/tags" Target="../tags/tag109.xml"/><Relationship Id="rId15" Type="http://schemas.openxmlformats.org/officeDocument/2006/relationships/tags" Target="../tags/tag119.xml"/><Relationship Id="rId10" Type="http://schemas.openxmlformats.org/officeDocument/2006/relationships/tags" Target="../tags/tag114.xml"/><Relationship Id="rId19" Type="http://schemas.openxmlformats.org/officeDocument/2006/relationships/tags" Target="../tags/tag123.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tags" Target="../tags/tag118.xml"/></Relationships>
</file>

<file path=ppt/slides/_rels/slide70.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image" Target="../media/image119.wm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126.wmf"/><Relationship Id="rId3" Type="http://schemas.openxmlformats.org/officeDocument/2006/relationships/image" Target="../media/image121.wmf"/><Relationship Id="rId7" Type="http://schemas.openxmlformats.org/officeDocument/2006/relationships/image" Target="../media/image123.wmf"/><Relationship Id="rId12" Type="http://schemas.openxmlformats.org/officeDocument/2006/relationships/oleObject" Target="../embeddings/oleObject106.bin"/><Relationship Id="rId2" Type="http://schemas.openxmlformats.org/officeDocument/2006/relationships/oleObject" Target="../embeddings/oleObject101.bin"/><Relationship Id="rId1" Type="http://schemas.openxmlformats.org/officeDocument/2006/relationships/slideLayout" Target="../slideLayouts/slideLayout7.xml"/><Relationship Id="rId6" Type="http://schemas.openxmlformats.org/officeDocument/2006/relationships/oleObject" Target="../embeddings/oleObject103.bin"/><Relationship Id="rId11" Type="http://schemas.openxmlformats.org/officeDocument/2006/relationships/image" Target="../media/image125.wmf"/><Relationship Id="rId5" Type="http://schemas.openxmlformats.org/officeDocument/2006/relationships/image" Target="../media/image122.wmf"/><Relationship Id="rId15" Type="http://schemas.openxmlformats.org/officeDocument/2006/relationships/image" Target="../media/image127.wmf"/><Relationship Id="rId10" Type="http://schemas.openxmlformats.org/officeDocument/2006/relationships/oleObject" Target="../embeddings/oleObject105.bin"/><Relationship Id="rId4" Type="http://schemas.openxmlformats.org/officeDocument/2006/relationships/oleObject" Target="../embeddings/oleObject102.bin"/><Relationship Id="rId9" Type="http://schemas.openxmlformats.org/officeDocument/2006/relationships/image" Target="../media/image124.wmf"/><Relationship Id="rId14" Type="http://schemas.openxmlformats.org/officeDocument/2006/relationships/oleObject" Target="../embeddings/oleObject107.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28.e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108.bin"/><Relationship Id="rId7" Type="http://schemas.openxmlformats.org/officeDocument/2006/relationships/oleObject" Target="../embeddings/oleObject110.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0.wmf"/><Relationship Id="rId5" Type="http://schemas.openxmlformats.org/officeDocument/2006/relationships/oleObject" Target="../embeddings/oleObject109.bin"/><Relationship Id="rId4" Type="http://schemas.openxmlformats.org/officeDocument/2006/relationships/image" Target="../media/image129.wmf"/></Relationships>
</file>

<file path=ppt/slides/_rels/slide76.x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oleObject" Target="../embeddings/oleObject116.bin"/><Relationship Id="rId3" Type="http://schemas.openxmlformats.org/officeDocument/2006/relationships/oleObject" Target="../embeddings/oleObject111.bin"/><Relationship Id="rId7" Type="http://schemas.openxmlformats.org/officeDocument/2006/relationships/oleObject" Target="../embeddings/oleObject113.bin"/><Relationship Id="rId12" Type="http://schemas.openxmlformats.org/officeDocument/2006/relationships/image" Target="../media/image136.wmf"/><Relationship Id="rId2" Type="http://schemas.openxmlformats.org/officeDocument/2006/relationships/notesSlide" Target="../notesSlides/notesSlide2.xml"/><Relationship Id="rId16" Type="http://schemas.openxmlformats.org/officeDocument/2006/relationships/image" Target="../media/image138.wmf"/><Relationship Id="rId1" Type="http://schemas.openxmlformats.org/officeDocument/2006/relationships/slideLayout" Target="../slideLayouts/slideLayout7.xml"/><Relationship Id="rId6" Type="http://schemas.openxmlformats.org/officeDocument/2006/relationships/image" Target="../media/image133.wmf"/><Relationship Id="rId11" Type="http://schemas.openxmlformats.org/officeDocument/2006/relationships/oleObject" Target="../embeddings/oleObject115.bin"/><Relationship Id="rId5" Type="http://schemas.openxmlformats.org/officeDocument/2006/relationships/oleObject" Target="../embeddings/oleObject112.bin"/><Relationship Id="rId15" Type="http://schemas.openxmlformats.org/officeDocument/2006/relationships/oleObject" Target="../embeddings/oleObject117.bin"/><Relationship Id="rId10" Type="http://schemas.openxmlformats.org/officeDocument/2006/relationships/image" Target="../media/image135.wmf"/><Relationship Id="rId4" Type="http://schemas.openxmlformats.org/officeDocument/2006/relationships/image" Target="../media/image132.wmf"/><Relationship Id="rId9" Type="http://schemas.openxmlformats.org/officeDocument/2006/relationships/oleObject" Target="../embeddings/oleObject114.bin"/><Relationship Id="rId14" Type="http://schemas.openxmlformats.org/officeDocument/2006/relationships/image" Target="../media/image137.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0.wmf"/><Relationship Id="rId5" Type="http://schemas.openxmlformats.org/officeDocument/2006/relationships/oleObject" Target="../embeddings/oleObject119.bin"/><Relationship Id="rId4" Type="http://schemas.openxmlformats.org/officeDocument/2006/relationships/image" Target="../media/image139.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42.png"/><Relationship Id="rId4" Type="http://schemas.openxmlformats.org/officeDocument/2006/relationships/image" Target="../media/image14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43.wm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46.jpg"/><Relationship Id="rId2" Type="http://schemas.openxmlformats.org/officeDocument/2006/relationships/image" Target="../media/image14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a:t>
            </a:fld>
            <a:endParaRPr lang="zh-CN" altLang="en-US"/>
          </a:p>
        </p:txBody>
      </p:sp>
      <p:sp>
        <p:nvSpPr>
          <p:cNvPr id="3" name="Text Box 2"/>
          <p:cNvSpPr txBox="1">
            <a:spLocks noChangeArrowheads="1"/>
          </p:cNvSpPr>
          <p:nvPr/>
        </p:nvSpPr>
        <p:spPr bwMode="auto">
          <a:xfrm>
            <a:off x="1992701" y="431800"/>
            <a:ext cx="5873361" cy="641350"/>
          </a:xfrm>
          <a:prstGeom prst="rect">
            <a:avLst/>
          </a:prstGeom>
          <a:noFill/>
          <a:ln>
            <a:noFill/>
          </a:ln>
          <a:effectLst>
            <a:outerShdw dist="35921" dir="2700000" algn="ctr" rotWithShape="0">
              <a:srgbClr val="1C1C1C"/>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3600" b="1" i="0" u="none" strike="noStrike" kern="0" cap="none" spc="0" normalizeH="0" baseline="0" noProof="0" dirty="0">
                <a:ln>
                  <a:noFill/>
                </a:ln>
                <a:solidFill>
                  <a:srgbClr val="FF6600"/>
                </a:solidFill>
                <a:effectLst>
                  <a:outerShdw blurRad="38100" dist="38100" dir="2700000" algn="tl">
                    <a:srgbClr val="C0C0C0"/>
                  </a:outerShdw>
                </a:effectLst>
                <a:uLnTx/>
                <a:uFillTx/>
                <a:latin typeface="Times New Roman" pitchFamily="18" charset="0"/>
                <a:ea typeface="宋体" pitchFamily="2" charset="-122"/>
              </a:rPr>
              <a:t>第二章   半导体能带</a:t>
            </a:r>
          </a:p>
        </p:txBody>
      </p:sp>
      <p:sp>
        <p:nvSpPr>
          <p:cNvPr id="4" name="Text Box 5"/>
          <p:cNvSpPr txBox="1">
            <a:spLocks noChangeArrowheads="1"/>
          </p:cNvSpPr>
          <p:nvPr/>
        </p:nvSpPr>
        <p:spPr bwMode="auto">
          <a:xfrm>
            <a:off x="548377" y="1500250"/>
            <a:ext cx="8229600" cy="936347"/>
          </a:xfrm>
          <a:prstGeom prst="rect">
            <a:avLst/>
          </a:prstGeom>
          <a:noFill/>
          <a:ln w="12700" cap="sq">
            <a:noFill/>
            <a:miter lim="800000"/>
            <a:headEnd type="none" w="sm" len="sm"/>
            <a:tailEnd type="none" w="sm" len="sm"/>
          </a:ln>
          <a:effectLst/>
        </p:spPr>
        <p:txBody>
          <a:bodyPr>
            <a:spAutoFit/>
          </a:bodyPr>
          <a:lstStyle/>
          <a:p>
            <a:pPr defTabSz="914400" eaLnBrk="0" fontAlgn="base" hangingPunct="0">
              <a:lnSpc>
                <a:spcPct val="120000"/>
              </a:lnSpc>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进一步介绍影响实际能带结构的因素。</a:t>
            </a:r>
            <a:endParaRPr kumimoji="1" lang="en-US" altLang="zh-CN" sz="2400" b="1" dirty="0">
              <a:solidFill>
                <a:srgbClr val="000000"/>
              </a:solidFill>
              <a:latin typeface="Times New Roman" pitchFamily="18" charset="0"/>
              <a:ea typeface="宋体" pitchFamily="2" charset="-122"/>
              <a:cs typeface="Times New Roman" pitchFamily="18" charset="0"/>
            </a:endParaRPr>
          </a:p>
          <a:p>
            <a:pPr defTabSz="914400" eaLnBrk="0" fontAlgn="base" hangingPunct="0">
              <a:lnSpc>
                <a:spcPct val="120000"/>
              </a:lnSpc>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能带起了关键作用，将电学与结构性质</a:t>
            </a:r>
            <a:r>
              <a:rPr kumimoji="1" lang="zh-CN" altLang="en-US" sz="2400" b="1" dirty="0">
                <a:solidFill>
                  <a:srgbClr val="FF0000"/>
                </a:solidFill>
                <a:latin typeface="Times New Roman" pitchFamily="18" charset="0"/>
                <a:ea typeface="宋体" pitchFamily="2" charset="-122"/>
                <a:cs typeface="Times New Roman" pitchFamily="18" charset="0"/>
              </a:rPr>
              <a:t>关联起来。</a:t>
            </a:r>
          </a:p>
        </p:txBody>
      </p:sp>
      <p:sp>
        <p:nvSpPr>
          <p:cNvPr id="5" name="Text Box 3"/>
          <p:cNvSpPr txBox="1">
            <a:spLocks noChangeArrowheads="1"/>
          </p:cNvSpPr>
          <p:nvPr/>
        </p:nvSpPr>
        <p:spPr bwMode="auto">
          <a:xfrm>
            <a:off x="671813" y="2591226"/>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pPr>
            <a:r>
              <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rPr>
              <a:t>本章内容</a:t>
            </a:r>
          </a:p>
        </p:txBody>
      </p:sp>
      <p:sp>
        <p:nvSpPr>
          <p:cNvPr id="6" name="Text Box 4"/>
          <p:cNvSpPr txBox="1">
            <a:spLocks noChangeArrowheads="1"/>
          </p:cNvSpPr>
          <p:nvPr/>
        </p:nvSpPr>
        <p:spPr bwMode="auto">
          <a:xfrm>
            <a:off x="931862" y="3419596"/>
            <a:ext cx="6934200" cy="1762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2.1 </a:t>
            </a:r>
            <a:r>
              <a:rPr kumimoji="1" lang="zh-CN" altLang="en-US" sz="2400" b="1" dirty="0">
                <a:solidFill>
                  <a:srgbClr val="000000"/>
                </a:solidFill>
                <a:latin typeface="Times New Roman" pitchFamily="18" charset="0"/>
                <a:ea typeface="宋体" pitchFamily="2" charset="-122"/>
              </a:rPr>
              <a:t>晶体结构知识回顾</a:t>
            </a:r>
          </a:p>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2.2 </a:t>
            </a:r>
            <a:r>
              <a:rPr kumimoji="1" lang="zh-CN" altLang="en-US" sz="2400" b="1" dirty="0">
                <a:solidFill>
                  <a:srgbClr val="000000"/>
                </a:solidFill>
                <a:latin typeface="Times New Roman" pitchFamily="18" charset="0"/>
                <a:ea typeface="宋体" pitchFamily="2" charset="-122"/>
              </a:rPr>
              <a:t>晶格振动</a:t>
            </a:r>
          </a:p>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2.3 </a:t>
            </a:r>
            <a:r>
              <a:rPr kumimoji="1" lang="zh-CN" altLang="en-US" sz="2400" b="1" dirty="0">
                <a:solidFill>
                  <a:srgbClr val="000000"/>
                </a:solidFill>
                <a:latin typeface="Times New Roman" pitchFamily="18" charset="0"/>
                <a:ea typeface="宋体" pitchFamily="2" charset="-122"/>
              </a:rPr>
              <a:t>能带论</a:t>
            </a:r>
            <a:endParaRPr kumimoji="1" lang="zh-CN" altLang="en-US" sz="2400" b="1" dirty="0">
              <a:solidFill>
                <a:srgbClr val="000000"/>
              </a:solidFill>
              <a:effectLst>
                <a:outerShdw blurRad="38100" dist="38100" dir="2700000" algn="tl">
                  <a:srgbClr val="C0C0C0"/>
                </a:outerShdw>
              </a:effectLst>
              <a:latin typeface="宋体" pitchFamily="2" charset="-122"/>
              <a:ea typeface="宋体" pitchFamily="2" charset="-122"/>
            </a:endParaRPr>
          </a:p>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2.4 </a:t>
            </a:r>
            <a:r>
              <a:rPr kumimoji="1" lang="zh-CN" altLang="en-US" sz="2400" b="1" dirty="0">
                <a:solidFill>
                  <a:srgbClr val="000000"/>
                </a:solidFill>
                <a:latin typeface="Times New Roman" pitchFamily="18" charset="0"/>
                <a:ea typeface="宋体" pitchFamily="2" charset="-122"/>
              </a:rPr>
              <a:t>晶体缺陷</a:t>
            </a:r>
            <a:endParaRPr kumimoji="1" lang="en-US" altLang="zh-CN" sz="2400" b="1" dirty="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2698034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79661" y="332190"/>
            <a:ext cx="4206601" cy="461665"/>
          </a:xfrm>
          <a:prstGeom prst="rect">
            <a:avLst/>
          </a:prstGeom>
        </p:spPr>
        <p:txBody>
          <a:bodyPr wrap="none">
            <a:spAutoFit/>
          </a:bodyPr>
          <a:lstStyle/>
          <a:p>
            <a:pPr lvl="0">
              <a:spcBef>
                <a:spcPct val="50000"/>
              </a:spcBef>
            </a:pPr>
            <a:r>
              <a:rPr kumimoji="1" lang="zh-CN" altLang="en-US" sz="2400" b="1" dirty="0">
                <a:solidFill>
                  <a:srgbClr val="D96227"/>
                </a:solidFill>
                <a:latin typeface="Times New Roman" pitchFamily="18" charset="0"/>
                <a:ea typeface="宋体" pitchFamily="2" charset="-122"/>
                <a:cs typeface="Times New Roman" pitchFamily="18" charset="0"/>
              </a:rPr>
              <a:t>半导体物理与器件的知识结构</a:t>
            </a:r>
            <a:endParaRPr kumimoji="1" lang="en-US" altLang="zh-CN" sz="2400" b="1" dirty="0">
              <a:solidFill>
                <a:srgbClr val="D96227"/>
              </a:solidFill>
              <a:latin typeface="Times New Roman" pitchFamily="18" charset="0"/>
              <a:ea typeface="宋体" pitchFamily="2" charset="-122"/>
              <a:cs typeface="Times New Roman" pitchFamily="18" charset="0"/>
            </a:endParaRPr>
          </a:p>
        </p:txBody>
      </p:sp>
      <p:sp>
        <p:nvSpPr>
          <p:cNvPr id="42" name="Text Box 6"/>
          <p:cNvSpPr txBox="1">
            <a:spLocks noChangeArrowheads="1"/>
          </p:cNvSpPr>
          <p:nvPr/>
        </p:nvSpPr>
        <p:spPr bwMode="auto">
          <a:xfrm>
            <a:off x="1081780" y="2117181"/>
            <a:ext cx="751082" cy="33972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a:latin typeface="+mj-lt"/>
            </a:endParaRPr>
          </a:p>
        </p:txBody>
      </p:sp>
      <p:sp>
        <p:nvSpPr>
          <p:cNvPr id="45" name="Text Box 9"/>
          <p:cNvSpPr txBox="1">
            <a:spLocks noChangeArrowheads="1"/>
          </p:cNvSpPr>
          <p:nvPr/>
        </p:nvSpPr>
        <p:spPr bwMode="auto">
          <a:xfrm>
            <a:off x="7776552" y="5922097"/>
            <a:ext cx="1251548"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a:latin typeface="+mj-lt"/>
            </a:endParaRPr>
          </a:p>
        </p:txBody>
      </p:sp>
      <p:sp>
        <p:nvSpPr>
          <p:cNvPr id="46" name="Text Box 9"/>
          <p:cNvSpPr txBox="1">
            <a:spLocks noChangeArrowheads="1"/>
          </p:cNvSpPr>
          <p:nvPr/>
        </p:nvSpPr>
        <p:spPr bwMode="auto">
          <a:xfrm>
            <a:off x="7780235" y="3932007"/>
            <a:ext cx="1111340"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a:latin typeface="+mj-lt"/>
            </a:endParaRPr>
          </a:p>
        </p:txBody>
      </p:sp>
      <p:sp>
        <p:nvSpPr>
          <p:cNvPr id="49" name="Text Box 9"/>
          <p:cNvSpPr txBox="1">
            <a:spLocks noChangeArrowheads="1"/>
          </p:cNvSpPr>
          <p:nvPr/>
        </p:nvSpPr>
        <p:spPr bwMode="auto">
          <a:xfrm>
            <a:off x="2058159" y="5778947"/>
            <a:ext cx="903600"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a:latin typeface="+mj-lt"/>
            </a:endParaRPr>
          </a:p>
        </p:txBody>
      </p:sp>
      <p:sp>
        <p:nvSpPr>
          <p:cNvPr id="50" name="Text Box 9"/>
          <p:cNvSpPr txBox="1">
            <a:spLocks noChangeArrowheads="1"/>
          </p:cNvSpPr>
          <p:nvPr/>
        </p:nvSpPr>
        <p:spPr bwMode="auto">
          <a:xfrm>
            <a:off x="3244970" y="4270561"/>
            <a:ext cx="1080055"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a:latin typeface="+mj-lt"/>
            </a:endParaRPr>
          </a:p>
        </p:txBody>
      </p:sp>
      <p:sp>
        <p:nvSpPr>
          <p:cNvPr id="51" name="Text Box 9"/>
          <p:cNvSpPr txBox="1">
            <a:spLocks noChangeArrowheads="1"/>
          </p:cNvSpPr>
          <p:nvPr/>
        </p:nvSpPr>
        <p:spPr bwMode="auto">
          <a:xfrm>
            <a:off x="3225787" y="5149473"/>
            <a:ext cx="1092200"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a:latin typeface="+mj-lt"/>
            </a:endParaRPr>
          </a:p>
        </p:txBody>
      </p:sp>
      <p:sp>
        <p:nvSpPr>
          <p:cNvPr id="53" name="Text Box 3"/>
          <p:cNvSpPr txBox="1">
            <a:spLocks noChangeArrowheads="1"/>
          </p:cNvSpPr>
          <p:nvPr/>
        </p:nvSpPr>
        <p:spPr bwMode="auto">
          <a:xfrm>
            <a:off x="123812" y="1299444"/>
            <a:ext cx="692150" cy="584200"/>
          </a:xfrm>
          <a:prstGeom prst="rect">
            <a:avLst/>
          </a:prstGeom>
          <a:solidFill>
            <a:srgbClr val="0070C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量子力学</a:t>
            </a:r>
            <a:endParaRPr lang="en-US" altLang="zh-CN" sz="1600" b="1" u="none" dirty="0">
              <a:latin typeface="+mj-lt"/>
            </a:endParaRPr>
          </a:p>
        </p:txBody>
      </p:sp>
      <p:sp>
        <p:nvSpPr>
          <p:cNvPr id="54" name="Text Box 4"/>
          <p:cNvSpPr txBox="1">
            <a:spLocks noChangeArrowheads="1"/>
          </p:cNvSpPr>
          <p:nvPr/>
        </p:nvSpPr>
        <p:spPr bwMode="auto">
          <a:xfrm>
            <a:off x="123812" y="2131294"/>
            <a:ext cx="692150" cy="584200"/>
          </a:xfrm>
          <a:prstGeom prst="rect">
            <a:avLst/>
          </a:prstGeom>
          <a:solidFill>
            <a:srgbClr val="0070C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固体物理</a:t>
            </a:r>
            <a:endParaRPr lang="en-US" altLang="zh-CN" sz="1600" b="1" u="none" dirty="0">
              <a:latin typeface="+mj-lt"/>
            </a:endParaRPr>
          </a:p>
        </p:txBody>
      </p:sp>
      <p:sp>
        <p:nvSpPr>
          <p:cNvPr id="55" name="AutoShape 5"/>
          <p:cNvSpPr>
            <a:spLocks/>
          </p:cNvSpPr>
          <p:nvPr/>
        </p:nvSpPr>
        <p:spPr bwMode="auto">
          <a:xfrm>
            <a:off x="815962" y="1567731"/>
            <a:ext cx="247650" cy="879475"/>
          </a:xfrm>
          <a:prstGeom prst="rightBrace">
            <a:avLst>
              <a:gd name="adj1" fmla="val 31961"/>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a:latin typeface="Arial" charset="0"/>
            </a:endParaRPr>
          </a:p>
        </p:txBody>
      </p:sp>
      <p:sp>
        <p:nvSpPr>
          <p:cNvPr id="56" name="Text Box 6"/>
          <p:cNvSpPr txBox="1">
            <a:spLocks noChangeArrowheads="1"/>
          </p:cNvSpPr>
          <p:nvPr/>
        </p:nvSpPr>
        <p:spPr bwMode="auto">
          <a:xfrm>
            <a:off x="1079487" y="1711113"/>
            <a:ext cx="746125" cy="584775"/>
          </a:xfrm>
          <a:prstGeom prst="rect">
            <a:avLst/>
          </a:prstGeom>
          <a:solidFill>
            <a:srgbClr val="00B05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能带理论</a:t>
            </a:r>
            <a:endParaRPr lang="en-US" altLang="zh-CN" sz="1600" b="1" u="none" dirty="0">
              <a:latin typeface="+mj-lt"/>
            </a:endParaRPr>
          </a:p>
        </p:txBody>
      </p:sp>
      <p:sp>
        <p:nvSpPr>
          <p:cNvPr id="57" name="Text Box 7"/>
          <p:cNvSpPr txBox="1">
            <a:spLocks noChangeArrowheads="1"/>
          </p:cNvSpPr>
          <p:nvPr/>
        </p:nvSpPr>
        <p:spPr bwMode="auto">
          <a:xfrm>
            <a:off x="96825" y="2910756"/>
            <a:ext cx="719137" cy="585788"/>
          </a:xfrm>
          <a:prstGeom prst="rect">
            <a:avLst/>
          </a:prstGeom>
          <a:solidFill>
            <a:srgbClr val="0070C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统计力学</a:t>
            </a:r>
            <a:endParaRPr lang="en-US" altLang="zh-CN" sz="1600" b="1" u="none" dirty="0">
              <a:latin typeface="+mj-lt"/>
            </a:endParaRPr>
          </a:p>
        </p:txBody>
      </p:sp>
      <p:sp>
        <p:nvSpPr>
          <p:cNvPr id="58" name="Line 8"/>
          <p:cNvSpPr>
            <a:spLocks noChangeShapeType="1"/>
          </p:cNvSpPr>
          <p:nvPr/>
        </p:nvSpPr>
        <p:spPr bwMode="auto">
          <a:xfrm>
            <a:off x="815962" y="3220319"/>
            <a:ext cx="274638" cy="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endParaRPr lang="zh-CN" altLang="en-US" sz="1600" b="1"/>
          </a:p>
        </p:txBody>
      </p:sp>
      <p:sp>
        <p:nvSpPr>
          <p:cNvPr id="59" name="Text Box 9"/>
          <p:cNvSpPr txBox="1">
            <a:spLocks noChangeArrowheads="1"/>
          </p:cNvSpPr>
          <p:nvPr/>
        </p:nvSpPr>
        <p:spPr bwMode="auto">
          <a:xfrm>
            <a:off x="1079487" y="2926631"/>
            <a:ext cx="727075" cy="585788"/>
          </a:xfrm>
          <a:prstGeom prst="rect">
            <a:avLst/>
          </a:prstGeom>
          <a:solidFill>
            <a:srgbClr val="00B05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分布函数</a:t>
            </a:r>
            <a:endParaRPr lang="en-US" altLang="zh-CN" sz="1600" b="1" u="none" dirty="0">
              <a:latin typeface="+mj-lt"/>
            </a:endParaRPr>
          </a:p>
        </p:txBody>
      </p:sp>
      <p:sp>
        <p:nvSpPr>
          <p:cNvPr id="60" name="AutoShape 10"/>
          <p:cNvSpPr>
            <a:spLocks/>
          </p:cNvSpPr>
          <p:nvPr/>
        </p:nvSpPr>
        <p:spPr bwMode="auto">
          <a:xfrm>
            <a:off x="1831962" y="1977306"/>
            <a:ext cx="217488" cy="1309688"/>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a:latin typeface="Arial" charset="0"/>
            </a:endParaRPr>
          </a:p>
        </p:txBody>
      </p:sp>
      <p:sp>
        <p:nvSpPr>
          <p:cNvPr id="61" name="Text Box 11"/>
          <p:cNvSpPr txBox="1">
            <a:spLocks noChangeArrowheads="1"/>
          </p:cNvSpPr>
          <p:nvPr/>
        </p:nvSpPr>
        <p:spPr bwMode="auto">
          <a:xfrm>
            <a:off x="2076437" y="2261469"/>
            <a:ext cx="874713" cy="831850"/>
          </a:xfrm>
          <a:prstGeom prst="rect">
            <a:avLst/>
          </a:prstGeom>
          <a:solidFill>
            <a:srgbClr val="00B05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平衡态载流子浓度</a:t>
            </a:r>
            <a:endParaRPr lang="en-US" altLang="zh-CN" sz="1600" b="1" u="none" dirty="0">
              <a:latin typeface="+mj-lt"/>
            </a:endParaRPr>
          </a:p>
        </p:txBody>
      </p:sp>
      <p:sp>
        <p:nvSpPr>
          <p:cNvPr id="62" name="Text Box 3"/>
          <p:cNvSpPr txBox="1">
            <a:spLocks noChangeArrowheads="1"/>
          </p:cNvSpPr>
          <p:nvPr/>
        </p:nvSpPr>
        <p:spPr bwMode="auto">
          <a:xfrm>
            <a:off x="2049450" y="3539406"/>
            <a:ext cx="895350" cy="830263"/>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产生与复合理论</a:t>
            </a:r>
            <a:endParaRPr lang="en-US" altLang="zh-CN" sz="1600" b="1" u="none" dirty="0">
              <a:latin typeface="+mj-lt"/>
            </a:endParaRPr>
          </a:p>
        </p:txBody>
      </p:sp>
      <p:sp>
        <p:nvSpPr>
          <p:cNvPr id="63" name="Text Box 5"/>
          <p:cNvSpPr txBox="1">
            <a:spLocks noChangeArrowheads="1"/>
          </p:cNvSpPr>
          <p:nvPr/>
        </p:nvSpPr>
        <p:spPr bwMode="auto">
          <a:xfrm>
            <a:off x="3260712" y="2926631"/>
            <a:ext cx="1057275" cy="83185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非平衡态载</a:t>
            </a:r>
            <a:r>
              <a:rPr lang="zh-CN" altLang="en-US" sz="1600" b="1" u="none">
                <a:latin typeface="+mj-lt"/>
              </a:rPr>
              <a:t>流子浓度</a:t>
            </a:r>
            <a:endParaRPr lang="en-US" altLang="zh-CN" sz="1600" b="1" u="none" dirty="0">
              <a:latin typeface="+mj-lt"/>
            </a:endParaRPr>
          </a:p>
        </p:txBody>
      </p:sp>
      <p:sp>
        <p:nvSpPr>
          <p:cNvPr id="64" name="Text Box 6"/>
          <p:cNvSpPr txBox="1">
            <a:spLocks noChangeArrowheads="1"/>
          </p:cNvSpPr>
          <p:nvPr/>
        </p:nvSpPr>
        <p:spPr bwMode="auto">
          <a:xfrm>
            <a:off x="3240075" y="4167965"/>
            <a:ext cx="1077912" cy="33972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输运机制</a:t>
            </a:r>
            <a:endParaRPr lang="en-US" altLang="zh-CN" sz="1600" b="1" u="none" dirty="0">
              <a:latin typeface="+mj-lt"/>
            </a:endParaRPr>
          </a:p>
        </p:txBody>
      </p:sp>
      <p:sp>
        <p:nvSpPr>
          <p:cNvPr id="65" name="Text Box 8"/>
          <p:cNvSpPr txBox="1">
            <a:spLocks noChangeArrowheads="1"/>
          </p:cNvSpPr>
          <p:nvPr/>
        </p:nvSpPr>
        <p:spPr bwMode="auto">
          <a:xfrm>
            <a:off x="4695812" y="3794180"/>
            <a:ext cx="1216025" cy="830262"/>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指定位置和时间下的载流子浓度</a:t>
            </a:r>
            <a:endParaRPr lang="en-US" altLang="zh-CN" sz="1600" b="1" u="none" dirty="0">
              <a:latin typeface="+mj-lt"/>
            </a:endParaRPr>
          </a:p>
        </p:txBody>
      </p:sp>
      <p:sp>
        <p:nvSpPr>
          <p:cNvPr id="66" name="Text Box 10"/>
          <p:cNvSpPr txBox="1">
            <a:spLocks noChangeArrowheads="1"/>
          </p:cNvSpPr>
          <p:nvPr/>
        </p:nvSpPr>
        <p:spPr bwMode="auto">
          <a:xfrm>
            <a:off x="3225787" y="5057204"/>
            <a:ext cx="1092200" cy="33813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散射理论</a:t>
            </a:r>
            <a:endParaRPr lang="en-US" altLang="zh-CN" sz="1600" b="1" u="none" dirty="0">
              <a:latin typeface="+mj-lt"/>
            </a:endParaRPr>
          </a:p>
        </p:txBody>
      </p:sp>
      <p:sp>
        <p:nvSpPr>
          <p:cNvPr id="67" name="AutoShape 10"/>
          <p:cNvSpPr>
            <a:spLocks/>
          </p:cNvSpPr>
          <p:nvPr/>
        </p:nvSpPr>
        <p:spPr bwMode="auto">
          <a:xfrm>
            <a:off x="2968612" y="2677394"/>
            <a:ext cx="233363" cy="1311275"/>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a:latin typeface="Arial" charset="0"/>
            </a:endParaRPr>
          </a:p>
        </p:txBody>
      </p:sp>
      <p:sp>
        <p:nvSpPr>
          <p:cNvPr id="68" name="AutoShape 10"/>
          <p:cNvSpPr>
            <a:spLocks/>
          </p:cNvSpPr>
          <p:nvPr/>
        </p:nvSpPr>
        <p:spPr bwMode="auto">
          <a:xfrm>
            <a:off x="4341800" y="3286994"/>
            <a:ext cx="288925" cy="1916112"/>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a:latin typeface="Arial" charset="0"/>
            </a:endParaRPr>
          </a:p>
        </p:txBody>
      </p:sp>
      <p:sp>
        <p:nvSpPr>
          <p:cNvPr id="69" name="Text Box 6"/>
          <p:cNvSpPr txBox="1">
            <a:spLocks noChangeArrowheads="1"/>
          </p:cNvSpPr>
          <p:nvPr/>
        </p:nvSpPr>
        <p:spPr bwMode="auto">
          <a:xfrm>
            <a:off x="4671789" y="5246325"/>
            <a:ext cx="1209675" cy="58477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半导体物理基本方程</a:t>
            </a:r>
            <a:endParaRPr lang="en-US" altLang="zh-CN" sz="1600" b="1" u="none" dirty="0">
              <a:latin typeface="+mj-lt"/>
            </a:endParaRPr>
          </a:p>
        </p:txBody>
      </p:sp>
      <p:sp>
        <p:nvSpPr>
          <p:cNvPr id="70" name="AutoShape 7"/>
          <p:cNvSpPr>
            <a:spLocks/>
          </p:cNvSpPr>
          <p:nvPr/>
        </p:nvSpPr>
        <p:spPr bwMode="auto">
          <a:xfrm flipH="1">
            <a:off x="7512037" y="3825156"/>
            <a:ext cx="233363" cy="2060575"/>
          </a:xfrm>
          <a:prstGeom prst="rightBrace">
            <a:avLst>
              <a:gd name="adj1" fmla="val 91192"/>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800">
              <a:latin typeface="Arial" charset="0"/>
            </a:endParaRPr>
          </a:p>
        </p:txBody>
      </p:sp>
      <p:sp>
        <p:nvSpPr>
          <p:cNvPr id="71" name="Text Box 8"/>
          <p:cNvSpPr txBox="1">
            <a:spLocks noChangeArrowheads="1"/>
          </p:cNvSpPr>
          <p:nvPr/>
        </p:nvSpPr>
        <p:spPr bwMode="auto">
          <a:xfrm>
            <a:off x="6262675" y="4591919"/>
            <a:ext cx="1214437" cy="58578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algn="ctr" eaLnBrk="1" fontAlgn="ctr" hangingPunct="1">
              <a:spcBef>
                <a:spcPct val="50000"/>
              </a:spcBef>
              <a:buFontTx/>
              <a:buNone/>
              <a:defRPr/>
            </a:pPr>
            <a:r>
              <a:rPr lang="zh-CN" altLang="en-US" sz="1600" b="1" u="none" dirty="0"/>
              <a:t>指定地点和时间的电流</a:t>
            </a:r>
            <a:endParaRPr lang="en-US" altLang="zh-CN" sz="1600" b="1" u="none" dirty="0"/>
          </a:p>
        </p:txBody>
      </p:sp>
      <p:sp>
        <p:nvSpPr>
          <p:cNvPr id="72" name="Text Box 11"/>
          <p:cNvSpPr txBox="1">
            <a:spLocks noChangeArrowheads="1"/>
          </p:cNvSpPr>
          <p:nvPr/>
        </p:nvSpPr>
        <p:spPr bwMode="auto">
          <a:xfrm>
            <a:off x="7769212" y="3575919"/>
            <a:ext cx="1122363" cy="58578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en-US" altLang="zh-CN" sz="1600" b="1" u="none" dirty="0">
                <a:latin typeface="+mj-lt"/>
              </a:rPr>
              <a:t>PN</a:t>
            </a:r>
            <a:r>
              <a:rPr lang="zh-CN" altLang="en-US" sz="1600" b="1" u="none" dirty="0">
                <a:latin typeface="+mj-lt"/>
              </a:rPr>
              <a:t>结合二极管</a:t>
            </a:r>
            <a:endParaRPr lang="en-US" altLang="zh-CN" sz="1600" b="1" u="none" dirty="0">
              <a:latin typeface="+mj-lt"/>
            </a:endParaRPr>
          </a:p>
        </p:txBody>
      </p:sp>
      <p:sp>
        <p:nvSpPr>
          <p:cNvPr id="73" name="Text Box 12"/>
          <p:cNvSpPr txBox="1">
            <a:spLocks noChangeArrowheads="1"/>
          </p:cNvSpPr>
          <p:nvPr/>
        </p:nvSpPr>
        <p:spPr bwMode="auto">
          <a:xfrm>
            <a:off x="7769212" y="4610969"/>
            <a:ext cx="1122363" cy="58578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en-US" altLang="zh-CN" sz="1600" b="1" u="none" dirty="0">
                <a:latin typeface="+mj-lt"/>
              </a:rPr>
              <a:t>BJT</a:t>
            </a:r>
            <a:r>
              <a:rPr lang="zh-CN" altLang="en-US" sz="1600" b="1" u="none" dirty="0">
                <a:latin typeface="+mj-lt"/>
              </a:rPr>
              <a:t>双极结型晶体管</a:t>
            </a:r>
            <a:endParaRPr lang="en-US" altLang="zh-CN" sz="1600" b="1" u="none" dirty="0">
              <a:latin typeface="+mj-lt"/>
            </a:endParaRPr>
          </a:p>
        </p:txBody>
      </p:sp>
      <p:sp>
        <p:nvSpPr>
          <p:cNvPr id="74" name="Text Box 13"/>
          <p:cNvSpPr txBox="1">
            <a:spLocks noChangeArrowheads="1"/>
          </p:cNvSpPr>
          <p:nvPr/>
        </p:nvSpPr>
        <p:spPr bwMode="auto">
          <a:xfrm>
            <a:off x="7770800" y="5566644"/>
            <a:ext cx="1257300" cy="58420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en-US" altLang="zh-CN" sz="1600" b="1" u="none" dirty="0">
                <a:latin typeface="+mj-lt"/>
              </a:rPr>
              <a:t>MOSFET</a:t>
            </a:r>
            <a:r>
              <a:rPr lang="zh-CN" altLang="en-US" sz="1600" b="1" u="none" dirty="0">
                <a:latin typeface="+mj-lt"/>
              </a:rPr>
              <a:t>场效应晶体管</a:t>
            </a:r>
            <a:endParaRPr lang="en-US" altLang="zh-CN" sz="1600" b="1" u="none" dirty="0">
              <a:latin typeface="+mj-lt"/>
            </a:endParaRPr>
          </a:p>
        </p:txBody>
      </p:sp>
      <p:sp>
        <p:nvSpPr>
          <p:cNvPr id="75" name="AutoShape 10"/>
          <p:cNvSpPr>
            <a:spLocks/>
          </p:cNvSpPr>
          <p:nvPr/>
        </p:nvSpPr>
        <p:spPr bwMode="auto">
          <a:xfrm>
            <a:off x="5910250" y="4182437"/>
            <a:ext cx="288925" cy="1384208"/>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a:latin typeface="Arial" charset="0"/>
            </a:endParaRPr>
          </a:p>
        </p:txBody>
      </p:sp>
      <p:sp>
        <p:nvSpPr>
          <p:cNvPr id="80" name="Text Box 6"/>
          <p:cNvSpPr txBox="1">
            <a:spLocks noChangeArrowheads="1"/>
          </p:cNvSpPr>
          <p:nvPr/>
        </p:nvSpPr>
        <p:spPr bwMode="auto">
          <a:xfrm>
            <a:off x="2033051" y="4691089"/>
            <a:ext cx="905492" cy="33972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声子</a:t>
            </a:r>
            <a:endParaRPr lang="en-US" altLang="zh-CN" sz="1600" b="1" u="none" dirty="0">
              <a:latin typeface="+mj-lt"/>
            </a:endParaRPr>
          </a:p>
        </p:txBody>
      </p:sp>
      <p:sp>
        <p:nvSpPr>
          <p:cNvPr id="81" name="AutoShape 10"/>
          <p:cNvSpPr>
            <a:spLocks/>
          </p:cNvSpPr>
          <p:nvPr/>
        </p:nvSpPr>
        <p:spPr bwMode="auto">
          <a:xfrm>
            <a:off x="2950449" y="4866863"/>
            <a:ext cx="233363" cy="822471"/>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a:latin typeface="Arial" charset="0"/>
            </a:endParaRPr>
          </a:p>
        </p:txBody>
      </p:sp>
      <p:sp>
        <p:nvSpPr>
          <p:cNvPr id="82" name="Text Box 6"/>
          <p:cNvSpPr txBox="1">
            <a:spLocks noChangeArrowheads="1"/>
          </p:cNvSpPr>
          <p:nvPr/>
        </p:nvSpPr>
        <p:spPr bwMode="auto">
          <a:xfrm>
            <a:off x="2054494" y="5415506"/>
            <a:ext cx="905492" cy="58477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a:latin typeface="+mj-lt"/>
              </a:rPr>
              <a:t>晶体缺陷理论</a:t>
            </a:r>
            <a:endParaRPr lang="en-US" altLang="zh-CN" sz="1600" b="1" u="none" dirty="0">
              <a:latin typeface="+mj-lt"/>
            </a:endParaRPr>
          </a:p>
        </p:txBody>
      </p:sp>
      <p:sp>
        <p:nvSpPr>
          <p:cNvPr id="83" name="灯片编号占位符 82"/>
          <p:cNvSpPr>
            <a:spLocks noGrp="1"/>
          </p:cNvSpPr>
          <p:nvPr>
            <p:ph type="sldNum" sz="quarter" idx="12"/>
          </p:nvPr>
        </p:nvSpPr>
        <p:spPr/>
        <p:txBody>
          <a:bodyPr/>
          <a:lstStyle/>
          <a:p>
            <a:fld id="{B6DE0A5B-1E35-4081-8D72-3B0687A5C65D}" type="slidenum">
              <a:rPr lang="zh-CN" altLang="en-US" smtClean="0"/>
              <a:t>2</a:t>
            </a:fld>
            <a:endParaRPr lang="zh-CN" altLang="en-US"/>
          </a:p>
        </p:txBody>
      </p:sp>
    </p:spTree>
    <p:extLst>
      <p:ext uri="{BB962C8B-B14F-4D97-AF65-F5344CB8AC3E}">
        <p14:creationId xmlns:p14="http://schemas.microsoft.com/office/powerpoint/2010/main" val="227772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a:t>
            </a:fld>
            <a:endParaRPr lang="zh-CN" altLang="en-US"/>
          </a:p>
        </p:txBody>
      </p:sp>
      <p:sp>
        <p:nvSpPr>
          <p:cNvPr id="4" name="Rectangle 4"/>
          <p:cNvSpPr>
            <a:spLocks noChangeArrowheads="1"/>
          </p:cNvSpPr>
          <p:nvPr/>
        </p:nvSpPr>
        <p:spPr bwMode="auto">
          <a:xfrm>
            <a:off x="2096219" y="295910"/>
            <a:ext cx="4887194"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一、晶体结构知识回顾</a:t>
            </a:r>
          </a:p>
        </p:txBody>
      </p:sp>
      <p:sp>
        <p:nvSpPr>
          <p:cNvPr id="5" name="矩形 4"/>
          <p:cNvSpPr/>
          <p:nvPr/>
        </p:nvSpPr>
        <p:spPr>
          <a:xfrm>
            <a:off x="439165" y="1106581"/>
            <a:ext cx="2888932"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1</a:t>
            </a:r>
            <a:r>
              <a:rPr kumimoji="1" lang="zh-CN" altLang="en-US" sz="2800" b="1" dirty="0">
                <a:solidFill>
                  <a:srgbClr val="D96227"/>
                </a:solidFill>
                <a:latin typeface="Times New Roman" pitchFamily="18" charset="0"/>
                <a:ea typeface="宋体" pitchFamily="2" charset="-122"/>
                <a:cs typeface="Times New Roman" pitchFamily="18" charset="0"/>
              </a:rPr>
              <a:t>、晶体的周期性</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6" name="Text Box 1028"/>
          <p:cNvSpPr txBox="1">
            <a:spLocks noChangeArrowheads="1"/>
          </p:cNvSpPr>
          <p:nvPr/>
        </p:nvSpPr>
        <p:spPr bwMode="auto">
          <a:xfrm>
            <a:off x="685800" y="2057400"/>
            <a:ext cx="7848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ClrTx/>
              <a:buSzTx/>
              <a:buFontTx/>
              <a:buNone/>
            </a:pPr>
            <a:r>
              <a:rPr kumimoji="1" lang="zh-CN" altLang="en-US" sz="2400" b="1">
                <a:latin typeface="Times New Roman" panose="02020603050405020304" pitchFamily="18" charset="0"/>
                <a:ea typeface="宋体" panose="02010600030101010101" pitchFamily="2" charset="-122"/>
              </a:rPr>
              <a:t>大多数半导体材料是固体，固体中的原子在结合形成固体时，排列的形式不同，其性质也不同。通常可分为三类：晶体（单晶）、多晶、非晶</a:t>
            </a:r>
          </a:p>
        </p:txBody>
      </p:sp>
      <p:sp>
        <p:nvSpPr>
          <p:cNvPr id="7" name="Text Box 1029"/>
          <p:cNvSpPr txBox="1">
            <a:spLocks noChangeArrowheads="1"/>
          </p:cNvSpPr>
          <p:nvPr/>
        </p:nvSpPr>
        <p:spPr bwMode="auto">
          <a:xfrm>
            <a:off x="685800" y="3489325"/>
            <a:ext cx="80010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000" b="1">
                <a:solidFill>
                  <a:srgbClr val="FF6600"/>
                </a:solidFill>
                <a:latin typeface="Times New Roman" panose="02020603050405020304" pitchFamily="18" charset="0"/>
                <a:ea typeface="宋体" panose="02010600030101010101" pitchFamily="2" charset="-122"/>
              </a:rPr>
              <a:t>晶体(</a:t>
            </a:r>
            <a:r>
              <a:rPr kumimoji="1" lang="en-US" altLang="zh-CN" sz="2000" b="1">
                <a:solidFill>
                  <a:srgbClr val="FF6600"/>
                </a:solidFill>
                <a:latin typeface="Times New Roman" panose="02020603050405020304" pitchFamily="18" charset="0"/>
                <a:ea typeface="宋体" panose="02010600030101010101" pitchFamily="2" charset="-122"/>
              </a:rPr>
              <a:t>Crystal)</a:t>
            </a:r>
            <a:r>
              <a:rPr kumimoji="1" lang="zh-CN" altLang="en-US" sz="2000" b="1">
                <a:solidFill>
                  <a:srgbClr val="FF6600"/>
                </a:solidFill>
                <a:latin typeface="Times New Roman" panose="02020603050405020304" pitchFamily="18" charset="0"/>
                <a:ea typeface="宋体" panose="02010600030101010101" pitchFamily="2" charset="-122"/>
              </a:rPr>
              <a:t>（单晶）</a:t>
            </a:r>
            <a:r>
              <a:rPr kumimoji="1" lang="en-US" altLang="zh-CN" sz="2000" b="1">
                <a:latin typeface="Times New Roman" panose="02020603050405020304" pitchFamily="18" charset="0"/>
                <a:ea typeface="宋体" panose="02010600030101010101" pitchFamily="2" charset="-122"/>
              </a:rPr>
              <a:t>：</a:t>
            </a:r>
            <a:r>
              <a:rPr kumimoji="1" lang="zh-CN" altLang="en-US" sz="2000" b="1">
                <a:latin typeface="Times New Roman" panose="02020603050405020304" pitchFamily="18" charset="0"/>
                <a:ea typeface="宋体" panose="02010600030101010101" pitchFamily="2" charset="-122"/>
              </a:rPr>
              <a:t>原子排列具有三维长程有序，原子完全规则排列，每个原子周围的情况相同，典型材料如单晶</a:t>
            </a:r>
            <a:r>
              <a:rPr kumimoji="1" lang="en-US" altLang="zh-CN" sz="2000" b="1">
                <a:latin typeface="Times New Roman" panose="02020603050405020304" pitchFamily="18" charset="0"/>
                <a:ea typeface="宋体" panose="02010600030101010101" pitchFamily="2" charset="-122"/>
              </a:rPr>
              <a:t>Si。</a:t>
            </a:r>
          </a:p>
          <a:p>
            <a:pPr>
              <a:lnSpc>
                <a:spcPct val="110000"/>
              </a:lnSpc>
              <a:spcBef>
                <a:spcPct val="50000"/>
              </a:spcBef>
              <a:buClrTx/>
              <a:buSzTx/>
              <a:buFontTx/>
              <a:buNone/>
            </a:pPr>
            <a:r>
              <a:rPr kumimoji="1" lang="zh-CN" altLang="en-US" sz="2000" b="1">
                <a:solidFill>
                  <a:srgbClr val="FF6600"/>
                </a:solidFill>
                <a:latin typeface="Times New Roman" panose="02020603050405020304" pitchFamily="18" charset="0"/>
                <a:ea typeface="宋体" panose="02010600030101010101" pitchFamily="2" charset="-122"/>
              </a:rPr>
              <a:t>多晶(</a:t>
            </a:r>
            <a:r>
              <a:rPr kumimoji="1" lang="en-US" altLang="zh-CN" sz="2000" b="1">
                <a:solidFill>
                  <a:srgbClr val="FF6600"/>
                </a:solidFill>
                <a:latin typeface="Times New Roman" panose="02020603050405020304" pitchFamily="18" charset="0"/>
                <a:ea typeface="宋体" panose="02010600030101010101" pitchFamily="2" charset="-122"/>
              </a:rPr>
              <a:t>Polycrystalline)</a:t>
            </a:r>
            <a:r>
              <a:rPr kumimoji="1" lang="en-US" altLang="zh-CN" sz="2000" b="1">
                <a:latin typeface="Times New Roman" panose="02020603050405020304" pitchFamily="18" charset="0"/>
                <a:ea typeface="宋体" panose="02010600030101010101" pitchFamily="2" charset="-122"/>
              </a:rPr>
              <a:t>：</a:t>
            </a:r>
            <a:r>
              <a:rPr kumimoji="1" lang="zh-CN" altLang="en-US" sz="2000" b="1">
                <a:latin typeface="Times New Roman" panose="02020603050405020304" pitchFamily="18" charset="0"/>
                <a:ea typeface="宋体" panose="02010600030101010101" pitchFamily="2" charset="-122"/>
              </a:rPr>
              <a:t>原子在局域空间内有序排列，类似单晶，称为晶粒；但在不同区域（晶粒，</a:t>
            </a:r>
            <a:r>
              <a:rPr kumimoji="1" lang="en-US" altLang="zh-CN" sz="2000" b="1">
                <a:latin typeface="Times New Roman" panose="02020603050405020304" pitchFamily="18" charset="0"/>
                <a:ea typeface="宋体" panose="02010600030101010101" pitchFamily="2" charset="-122"/>
              </a:rPr>
              <a:t>Grain）</a:t>
            </a:r>
            <a:r>
              <a:rPr kumimoji="1" lang="zh-CN" altLang="en-US" sz="2000" b="1">
                <a:latin typeface="Times New Roman" panose="02020603050405020304" pitchFamily="18" charset="0"/>
                <a:ea typeface="宋体" panose="02010600030101010101" pitchFamily="2" charset="-122"/>
              </a:rPr>
              <a:t>间又无序排列，不同的晶粒界面称为晶界(</a:t>
            </a:r>
            <a:r>
              <a:rPr kumimoji="1" lang="en-US" altLang="zh-CN" sz="2000" b="1">
                <a:latin typeface="Times New Roman" panose="02020603050405020304" pitchFamily="18" charset="0"/>
                <a:ea typeface="宋体" panose="02010600030101010101" pitchFamily="2" charset="-122"/>
              </a:rPr>
              <a:t>Grain boundary)，</a:t>
            </a:r>
            <a:r>
              <a:rPr kumimoji="1" lang="zh-CN" altLang="en-US" sz="2000" b="1">
                <a:latin typeface="Times New Roman" panose="02020603050405020304" pitchFamily="18" charset="0"/>
                <a:ea typeface="宋体" panose="02010600030101010101" pitchFamily="2" charset="-122"/>
              </a:rPr>
              <a:t>如多晶硅等</a:t>
            </a:r>
          </a:p>
          <a:p>
            <a:pPr>
              <a:lnSpc>
                <a:spcPct val="110000"/>
              </a:lnSpc>
              <a:spcBef>
                <a:spcPct val="50000"/>
              </a:spcBef>
              <a:buClrTx/>
              <a:buSzTx/>
              <a:buFontTx/>
              <a:buNone/>
            </a:pPr>
            <a:r>
              <a:rPr kumimoji="1" lang="zh-CN" altLang="en-US" sz="2000" b="1">
                <a:solidFill>
                  <a:srgbClr val="FF6600"/>
                </a:solidFill>
                <a:latin typeface="Times New Roman" panose="02020603050405020304" pitchFamily="18" charset="0"/>
                <a:ea typeface="宋体" panose="02010600030101010101" pitchFamily="2" charset="-122"/>
              </a:rPr>
              <a:t>非晶(</a:t>
            </a:r>
            <a:r>
              <a:rPr kumimoji="1" lang="en-US" altLang="zh-CN" sz="2000" b="1">
                <a:solidFill>
                  <a:srgbClr val="FF6600"/>
                </a:solidFill>
                <a:latin typeface="Times New Roman" panose="02020603050405020304" pitchFamily="18" charset="0"/>
                <a:ea typeface="宋体" panose="02010600030101010101" pitchFamily="2" charset="-122"/>
              </a:rPr>
              <a:t>Amorphous)</a:t>
            </a:r>
            <a:r>
              <a:rPr kumimoji="1" lang="en-US" altLang="zh-CN" sz="2000" b="1">
                <a:latin typeface="Times New Roman" panose="02020603050405020304" pitchFamily="18" charset="0"/>
                <a:ea typeface="宋体" panose="02010600030101010101" pitchFamily="2" charset="-122"/>
              </a:rPr>
              <a:t>：</a:t>
            </a:r>
            <a:r>
              <a:rPr kumimoji="1" lang="zh-CN" altLang="en-US" sz="2000" b="1">
                <a:latin typeface="Times New Roman" panose="02020603050405020304" pitchFamily="18" charset="0"/>
                <a:ea typeface="宋体" panose="02010600030101010101" pitchFamily="2" charset="-122"/>
              </a:rPr>
              <a:t>原子排列长程无序，如</a:t>
            </a:r>
            <a:r>
              <a:rPr kumimoji="1" lang="en-US" altLang="zh-CN" sz="2000" b="1">
                <a:latin typeface="Times New Roman" panose="02020603050405020304" pitchFamily="18" charset="0"/>
                <a:ea typeface="宋体" panose="02010600030101010101" pitchFamily="2" charset="-122"/>
              </a:rPr>
              <a:t>SiO</a:t>
            </a:r>
            <a:r>
              <a:rPr kumimoji="1" lang="en-US" altLang="zh-CN" sz="2000" b="1" baseline="-25000">
                <a:latin typeface="Times New Roman" panose="02020603050405020304" pitchFamily="18" charset="0"/>
                <a:ea typeface="宋体" panose="02010600030101010101" pitchFamily="2" charset="-122"/>
              </a:rPr>
              <a:t>2</a:t>
            </a:r>
            <a:r>
              <a:rPr kumimoji="1" lang="zh-CN" altLang="en-US" sz="2000" b="1">
                <a:latin typeface="Times New Roman" panose="02020603050405020304" pitchFamily="18" charset="0"/>
                <a:ea typeface="宋体" panose="02010600030101010101" pitchFamily="2" charset="-122"/>
              </a:rPr>
              <a:t>等</a:t>
            </a:r>
          </a:p>
        </p:txBody>
      </p:sp>
    </p:spTree>
    <p:extLst>
      <p:ext uri="{BB962C8B-B14F-4D97-AF65-F5344CB8AC3E}">
        <p14:creationId xmlns:p14="http://schemas.microsoft.com/office/powerpoint/2010/main" val="2782985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a:t>
            </a:fld>
            <a:endParaRPr lang="zh-CN" altLang="en-US"/>
          </a:p>
        </p:txBody>
      </p:sp>
      <p:sp>
        <p:nvSpPr>
          <p:cNvPr id="3" name="Text Box 1027"/>
          <p:cNvSpPr txBox="1">
            <a:spLocks noChangeArrowheads="1"/>
          </p:cNvSpPr>
          <p:nvPr/>
        </p:nvSpPr>
        <p:spPr bwMode="auto">
          <a:xfrm>
            <a:off x="373811" y="428445"/>
            <a:ext cx="8610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indent="0">
              <a:spcBef>
                <a:spcPct val="50000"/>
              </a:spcBef>
              <a:buClrTx/>
              <a:buSzTx/>
              <a:buNone/>
            </a:pPr>
            <a:r>
              <a:rPr kumimoji="1" lang="zh-CN" altLang="en-US" sz="2000" b="1" dirty="0">
                <a:latin typeface="Times New Roman" panose="02020603050405020304" pitchFamily="18" charset="0"/>
                <a:ea typeface="宋体" panose="02010600030101010101" pitchFamily="2" charset="-122"/>
              </a:rPr>
              <a:t>晶体中原子的排列是有序的，晶体的这种排列的有序性，可用周期性来描述，原子（离子或分子）排列的具体形式称为晶格。晶体或晶格最基本的特征是周期性。</a:t>
            </a:r>
          </a:p>
        </p:txBody>
      </p:sp>
      <p:grpSp>
        <p:nvGrpSpPr>
          <p:cNvPr id="4" name="Group 2246"/>
          <p:cNvGrpSpPr>
            <a:grpSpLocks/>
          </p:cNvGrpSpPr>
          <p:nvPr/>
        </p:nvGrpSpPr>
        <p:grpSpPr bwMode="auto">
          <a:xfrm>
            <a:off x="5259237" y="1544128"/>
            <a:ext cx="3141663" cy="2667000"/>
            <a:chOff x="576" y="2304"/>
            <a:chExt cx="1979" cy="1680"/>
          </a:xfrm>
        </p:grpSpPr>
        <p:pic>
          <p:nvPicPr>
            <p:cNvPr id="5" name="Picture 1560"/>
            <p:cNvPicPr>
              <a:picLocks noChangeAspect="1" noChangeArrowheads="1"/>
            </p:cNvPicPr>
            <p:nvPr/>
          </p:nvPicPr>
          <p:blipFill>
            <a:blip r:embed="rId2" cstate="print">
              <a:extLst>
                <a:ext uri="{28A0092B-C50C-407E-A947-70E740481C1C}">
                  <a14:useLocalDpi xmlns:a14="http://schemas.microsoft.com/office/drawing/2010/main" val="0"/>
                </a:ext>
              </a:extLst>
            </a:blip>
            <a:srcRect l="2098" r="55905" b="51117"/>
            <a:stretch>
              <a:fillRect/>
            </a:stretch>
          </p:blipFill>
          <p:spPr bwMode="auto">
            <a:xfrm>
              <a:off x="816" y="2304"/>
              <a:ext cx="1739" cy="16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Oval 2241"/>
            <p:cNvSpPr>
              <a:spLocks noChangeArrowheads="1"/>
            </p:cNvSpPr>
            <p:nvPr/>
          </p:nvSpPr>
          <p:spPr bwMode="auto">
            <a:xfrm>
              <a:off x="912" y="2352"/>
              <a:ext cx="336" cy="52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7" name="Line 2242"/>
            <p:cNvSpPr>
              <a:spLocks noChangeShapeType="1"/>
            </p:cNvSpPr>
            <p:nvPr/>
          </p:nvSpPr>
          <p:spPr bwMode="auto">
            <a:xfrm flipH="1">
              <a:off x="576" y="2544"/>
              <a:ext cx="2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Oval 2244"/>
            <p:cNvSpPr>
              <a:spLocks noChangeArrowheads="1"/>
            </p:cNvSpPr>
            <p:nvPr/>
          </p:nvSpPr>
          <p:spPr bwMode="auto">
            <a:xfrm>
              <a:off x="912" y="3552"/>
              <a:ext cx="576" cy="38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 name="Line 2245"/>
            <p:cNvSpPr>
              <a:spLocks noChangeShapeType="1"/>
            </p:cNvSpPr>
            <p:nvPr/>
          </p:nvSpPr>
          <p:spPr bwMode="auto">
            <a:xfrm flipH="1">
              <a:off x="576" y="3744"/>
              <a:ext cx="2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2250"/>
          <p:cNvGrpSpPr>
            <a:grpSpLocks/>
          </p:cNvGrpSpPr>
          <p:nvPr/>
        </p:nvGrpSpPr>
        <p:grpSpPr bwMode="auto">
          <a:xfrm>
            <a:off x="763437" y="1544128"/>
            <a:ext cx="4038600" cy="2438400"/>
            <a:chOff x="3312" y="1584"/>
            <a:chExt cx="2304" cy="1824"/>
          </a:xfrm>
        </p:grpSpPr>
        <p:grpSp>
          <p:nvGrpSpPr>
            <p:cNvPr id="11" name="Group 2251"/>
            <p:cNvGrpSpPr>
              <a:grpSpLocks/>
            </p:cNvGrpSpPr>
            <p:nvPr/>
          </p:nvGrpSpPr>
          <p:grpSpPr bwMode="auto">
            <a:xfrm>
              <a:off x="3312" y="1584"/>
              <a:ext cx="2304" cy="1824"/>
              <a:chOff x="2160" y="2976"/>
              <a:chExt cx="1810" cy="950"/>
            </a:xfrm>
          </p:grpSpPr>
          <p:pic>
            <p:nvPicPr>
              <p:cNvPr id="15" name="Picture 22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 y="2976"/>
                <a:ext cx="1018" cy="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16" name="Picture 22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4" y="2976"/>
                <a:ext cx="946" cy="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
          <p:nvSpPr>
            <p:cNvPr id="12" name="Line 2254"/>
            <p:cNvSpPr>
              <a:spLocks noChangeShapeType="1"/>
            </p:cNvSpPr>
            <p:nvPr/>
          </p:nvSpPr>
          <p:spPr bwMode="auto">
            <a:xfrm flipH="1">
              <a:off x="3923" y="1953"/>
              <a:ext cx="367" cy="553"/>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3" name="Line 2255"/>
            <p:cNvSpPr>
              <a:spLocks noChangeShapeType="1"/>
            </p:cNvSpPr>
            <p:nvPr/>
          </p:nvSpPr>
          <p:spPr bwMode="auto">
            <a:xfrm flipH="1">
              <a:off x="4229" y="1953"/>
              <a:ext cx="366" cy="553"/>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4" name="Line 2256"/>
            <p:cNvSpPr>
              <a:spLocks noChangeShapeType="1"/>
            </p:cNvSpPr>
            <p:nvPr/>
          </p:nvSpPr>
          <p:spPr bwMode="auto">
            <a:xfrm flipH="1">
              <a:off x="4595" y="1953"/>
              <a:ext cx="367" cy="553"/>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17" name="Rectangle 248"/>
          <p:cNvSpPr>
            <a:spLocks noChangeArrowheads="1"/>
          </p:cNvSpPr>
          <p:nvPr/>
        </p:nvSpPr>
        <p:spPr bwMode="auto">
          <a:xfrm>
            <a:off x="373811" y="4465599"/>
            <a:ext cx="836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zh-CN" altLang="en-US" sz="2000" b="1" dirty="0">
                <a:latin typeface="Times New Roman" panose="02020603050405020304" pitchFamily="18" charset="0"/>
                <a:ea typeface="宋体" panose="02010600030101010101" pitchFamily="2" charset="-122"/>
              </a:rPr>
              <a:t>晶格的周期性可用数学的方式来表征，即每个原子或离子的坐标可表示为</a:t>
            </a:r>
          </a:p>
        </p:txBody>
      </p:sp>
      <p:sp>
        <p:nvSpPr>
          <p:cNvPr id="18" name="TextBox 247"/>
          <p:cNvSpPr txBox="1">
            <a:spLocks noChangeArrowheads="1"/>
          </p:cNvSpPr>
          <p:nvPr/>
        </p:nvSpPr>
        <p:spPr bwMode="auto">
          <a:xfrm>
            <a:off x="1701650" y="4853891"/>
            <a:ext cx="4357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2800" i="1" dirty="0">
                <a:latin typeface="Times" panose="02020603050405020304" pitchFamily="18" charset="0"/>
                <a:ea typeface="宋体" panose="02010600030101010101" pitchFamily="2" charset="-122"/>
                <a:cs typeface="Arial" panose="020B0604020202020204" pitchFamily="34" charset="0"/>
              </a:rPr>
              <a:t>n</a:t>
            </a:r>
            <a:r>
              <a:rPr lang="en-US" altLang="zh-CN" sz="2800" baseline="-25000" dirty="0">
                <a:latin typeface="Times" panose="02020603050405020304" pitchFamily="18" charset="0"/>
                <a:ea typeface="宋体" panose="02010600030101010101" pitchFamily="2" charset="-122"/>
                <a:cs typeface="Arial" panose="020B0604020202020204" pitchFamily="34" charset="0"/>
              </a:rPr>
              <a:t>1</a:t>
            </a:r>
            <a:r>
              <a:rPr lang="en-US" altLang="zh-CN" sz="2800" b="1" dirty="0">
                <a:latin typeface="Symbol" panose="05050102010706020507" pitchFamily="18" charset="2"/>
                <a:ea typeface="宋体" panose="02010600030101010101" pitchFamily="2" charset="-122"/>
                <a:cs typeface="Arial" panose="020B0604020202020204" pitchFamily="34" charset="0"/>
              </a:rPr>
              <a:t>a</a:t>
            </a:r>
            <a:r>
              <a:rPr lang="en-US" altLang="zh-CN" sz="2800" baseline="-25000" dirty="0">
                <a:latin typeface="Times" panose="02020603050405020304" pitchFamily="18" charset="0"/>
                <a:ea typeface="宋体" panose="02010600030101010101" pitchFamily="2" charset="-122"/>
                <a:cs typeface="Arial" panose="020B0604020202020204" pitchFamily="34" charset="0"/>
              </a:rPr>
              <a:t>1</a:t>
            </a:r>
            <a:r>
              <a:rPr lang="en-US" altLang="zh-CN" sz="2800" dirty="0">
                <a:latin typeface="Times" panose="02020603050405020304" pitchFamily="18" charset="0"/>
                <a:ea typeface="宋体" panose="02010600030101010101" pitchFamily="2" charset="-122"/>
                <a:cs typeface="Arial" panose="020B0604020202020204" pitchFamily="34" charset="0"/>
              </a:rPr>
              <a:t>+ </a:t>
            </a:r>
            <a:r>
              <a:rPr lang="en-US" altLang="zh-CN" sz="2800" i="1" dirty="0">
                <a:latin typeface="Times" panose="02020603050405020304" pitchFamily="18" charset="0"/>
                <a:ea typeface="宋体" panose="02010600030101010101" pitchFamily="2" charset="-122"/>
                <a:cs typeface="Arial" panose="020B0604020202020204" pitchFamily="34" charset="0"/>
              </a:rPr>
              <a:t>n</a:t>
            </a:r>
            <a:r>
              <a:rPr lang="en-US" altLang="zh-CN" sz="2800" baseline="-25000" dirty="0">
                <a:latin typeface="Times" panose="02020603050405020304" pitchFamily="18" charset="0"/>
                <a:ea typeface="宋体" panose="02010600030101010101" pitchFamily="2" charset="-122"/>
                <a:cs typeface="Arial" panose="020B0604020202020204" pitchFamily="34" charset="0"/>
              </a:rPr>
              <a:t>2</a:t>
            </a:r>
            <a:r>
              <a:rPr lang="en-US" altLang="zh-CN" sz="2800" b="1" dirty="0">
                <a:latin typeface="Symbol" panose="05050102010706020507" pitchFamily="18" charset="2"/>
                <a:ea typeface="宋体" panose="02010600030101010101" pitchFamily="2" charset="-122"/>
                <a:cs typeface="Arial" panose="020B0604020202020204" pitchFamily="34" charset="0"/>
              </a:rPr>
              <a:t>a</a:t>
            </a:r>
            <a:r>
              <a:rPr lang="en-US" altLang="zh-CN" sz="2800" baseline="-25000" dirty="0">
                <a:latin typeface="Times" panose="02020603050405020304" pitchFamily="18" charset="0"/>
                <a:ea typeface="宋体" panose="02010600030101010101" pitchFamily="2" charset="-122"/>
                <a:cs typeface="Arial" panose="020B0604020202020204" pitchFamily="34" charset="0"/>
              </a:rPr>
              <a:t>2</a:t>
            </a:r>
            <a:r>
              <a:rPr lang="en-US" altLang="zh-CN" sz="2800" dirty="0">
                <a:latin typeface="Times" panose="02020603050405020304" pitchFamily="18" charset="0"/>
                <a:ea typeface="宋体" panose="02010600030101010101" pitchFamily="2" charset="-122"/>
                <a:cs typeface="Arial" panose="020B0604020202020204" pitchFamily="34" charset="0"/>
              </a:rPr>
              <a:t>+ </a:t>
            </a:r>
            <a:r>
              <a:rPr lang="en-US" altLang="zh-CN" sz="2800" i="1" dirty="0">
                <a:latin typeface="Times" panose="02020603050405020304" pitchFamily="18" charset="0"/>
                <a:ea typeface="宋体" panose="02010600030101010101" pitchFamily="2" charset="-122"/>
                <a:cs typeface="Arial" panose="020B0604020202020204" pitchFamily="34" charset="0"/>
              </a:rPr>
              <a:t>n</a:t>
            </a:r>
            <a:r>
              <a:rPr lang="en-US" altLang="zh-CN" sz="2800" baseline="-25000" dirty="0">
                <a:latin typeface="Times" panose="02020603050405020304" pitchFamily="18" charset="0"/>
                <a:ea typeface="宋体" panose="02010600030101010101" pitchFamily="2" charset="-122"/>
                <a:cs typeface="Arial" panose="020B0604020202020204" pitchFamily="34" charset="0"/>
              </a:rPr>
              <a:t>3</a:t>
            </a:r>
            <a:r>
              <a:rPr lang="en-US" altLang="zh-CN" sz="2800" b="1" dirty="0">
                <a:latin typeface="Symbol" panose="05050102010706020507" pitchFamily="18" charset="2"/>
                <a:ea typeface="宋体" panose="02010600030101010101" pitchFamily="2" charset="-122"/>
                <a:cs typeface="Arial" panose="020B0604020202020204" pitchFamily="34" charset="0"/>
              </a:rPr>
              <a:t>a</a:t>
            </a:r>
            <a:r>
              <a:rPr lang="en-US" altLang="zh-CN" sz="2800" baseline="-25000" dirty="0">
                <a:latin typeface="Times" panose="02020603050405020304" pitchFamily="18" charset="0"/>
                <a:ea typeface="宋体" panose="02010600030101010101" pitchFamily="2" charset="-122"/>
                <a:cs typeface="Arial" panose="020B0604020202020204" pitchFamily="34" charset="0"/>
              </a:rPr>
              <a:t>3</a:t>
            </a:r>
            <a:endParaRPr lang="zh-CN" altLang="en-US" sz="2800" baseline="-25000" dirty="0">
              <a:latin typeface="Times" panose="02020603050405020304" pitchFamily="18" charset="0"/>
              <a:ea typeface="宋体" panose="02010600030101010101" pitchFamily="2" charset="-122"/>
              <a:cs typeface="Arial" panose="020B0604020202020204" pitchFamily="34" charset="0"/>
            </a:endParaRPr>
          </a:p>
        </p:txBody>
      </p:sp>
      <p:sp>
        <p:nvSpPr>
          <p:cNvPr id="19" name="Text Box 251"/>
          <p:cNvSpPr txBox="1">
            <a:spLocks noChangeArrowheads="1"/>
          </p:cNvSpPr>
          <p:nvPr/>
        </p:nvSpPr>
        <p:spPr bwMode="auto">
          <a:xfrm>
            <a:off x="373811" y="5464865"/>
            <a:ext cx="8615362" cy="287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ts val="1500"/>
              </a:lnSpc>
              <a:spcBef>
                <a:spcPct val="50000"/>
              </a:spcBef>
              <a:buClrTx/>
              <a:buSzTx/>
              <a:buFontTx/>
              <a:buNone/>
            </a:pPr>
            <a:r>
              <a:rPr lang="zh-CN" altLang="en-US" sz="2000" b="1" dirty="0">
                <a:ea typeface="宋体" panose="02010600030101010101" pitchFamily="2" charset="-122"/>
              </a:rPr>
              <a:t>这种具有三维周期性的空间格子称为晶格或布拉伐格子（</a:t>
            </a:r>
            <a:r>
              <a:rPr lang="en-US" altLang="zh-CN" sz="2000" b="1" dirty="0">
                <a:ea typeface="宋体" panose="02010600030101010101" pitchFamily="2" charset="-122"/>
              </a:rPr>
              <a:t>Lattice）</a:t>
            </a:r>
          </a:p>
        </p:txBody>
      </p:sp>
    </p:spTree>
    <p:extLst>
      <p:ext uri="{BB962C8B-B14F-4D97-AF65-F5344CB8AC3E}">
        <p14:creationId xmlns:p14="http://schemas.microsoft.com/office/powerpoint/2010/main" val="1652950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a:t>
            </a:fld>
            <a:endParaRPr lang="zh-CN" altLang="en-US"/>
          </a:p>
        </p:txBody>
      </p:sp>
      <p:sp>
        <p:nvSpPr>
          <p:cNvPr id="3" name="Text Box 3"/>
          <p:cNvSpPr txBox="1">
            <a:spLocks noChangeArrowheads="1"/>
          </p:cNvSpPr>
          <p:nvPr/>
        </p:nvSpPr>
        <p:spPr bwMode="auto">
          <a:xfrm>
            <a:off x="0" y="1481766"/>
            <a:ext cx="861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ClrTx/>
              <a:buSzTx/>
              <a:buFontTx/>
              <a:buNone/>
            </a:pPr>
            <a:r>
              <a:rPr kumimoji="1" lang="zh-CN" altLang="en-US" sz="2000" b="1">
                <a:latin typeface="Times New Roman" panose="02020603050405020304" pitchFamily="18" charset="0"/>
                <a:ea typeface="宋体" panose="02010600030101010101" pitchFamily="2" charset="-122"/>
              </a:rPr>
              <a:t>      具体的晶体结构可以表征为布拉伐格子与基本单元组合的结构来表示</a:t>
            </a:r>
          </a:p>
        </p:txBody>
      </p:sp>
      <p:sp>
        <p:nvSpPr>
          <p:cNvPr id="4" name="Rectangle 22"/>
          <p:cNvSpPr>
            <a:spLocks noChangeArrowheads="1"/>
          </p:cNvSpPr>
          <p:nvPr/>
        </p:nvSpPr>
        <p:spPr bwMode="auto">
          <a:xfrm>
            <a:off x="1711325" y="3661404"/>
            <a:ext cx="317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 name="Rectangle 23"/>
          <p:cNvSpPr>
            <a:spLocks noChangeArrowheads="1"/>
          </p:cNvSpPr>
          <p:nvPr/>
        </p:nvSpPr>
        <p:spPr bwMode="auto">
          <a:xfrm>
            <a:off x="1778000" y="3661404"/>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6" name="Rectangle 24"/>
          <p:cNvSpPr>
            <a:spLocks noChangeArrowheads="1"/>
          </p:cNvSpPr>
          <p:nvPr/>
        </p:nvSpPr>
        <p:spPr bwMode="auto">
          <a:xfrm>
            <a:off x="1843088" y="3661404"/>
            <a:ext cx="317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7" name="Rectangle 25"/>
          <p:cNvSpPr>
            <a:spLocks noChangeArrowheads="1"/>
          </p:cNvSpPr>
          <p:nvPr/>
        </p:nvSpPr>
        <p:spPr bwMode="auto">
          <a:xfrm>
            <a:off x="1908175" y="3661404"/>
            <a:ext cx="349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 name="Rectangle 26"/>
          <p:cNvSpPr>
            <a:spLocks noChangeArrowheads="1"/>
          </p:cNvSpPr>
          <p:nvPr/>
        </p:nvSpPr>
        <p:spPr bwMode="auto">
          <a:xfrm>
            <a:off x="1974850" y="3661404"/>
            <a:ext cx="3333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 name="Rectangle 27"/>
          <p:cNvSpPr>
            <a:spLocks noChangeArrowheads="1"/>
          </p:cNvSpPr>
          <p:nvPr/>
        </p:nvSpPr>
        <p:spPr bwMode="auto">
          <a:xfrm>
            <a:off x="2039938" y="3661404"/>
            <a:ext cx="349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 name="Rectangle 28"/>
          <p:cNvSpPr>
            <a:spLocks noChangeArrowheads="1"/>
          </p:cNvSpPr>
          <p:nvPr/>
        </p:nvSpPr>
        <p:spPr bwMode="auto">
          <a:xfrm>
            <a:off x="2105025" y="3661404"/>
            <a:ext cx="349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11" name="Group 253"/>
          <p:cNvGrpSpPr>
            <a:grpSpLocks/>
          </p:cNvGrpSpPr>
          <p:nvPr/>
        </p:nvGrpSpPr>
        <p:grpSpPr bwMode="auto">
          <a:xfrm>
            <a:off x="365124" y="2184236"/>
            <a:ext cx="5875338" cy="2906712"/>
            <a:chOff x="432" y="2201"/>
            <a:chExt cx="3701" cy="1831"/>
          </a:xfrm>
        </p:grpSpPr>
        <p:sp>
          <p:nvSpPr>
            <p:cNvPr id="12" name="Rectangle 6"/>
            <p:cNvSpPr>
              <a:spLocks noChangeArrowheads="1"/>
            </p:cNvSpPr>
            <p:nvPr/>
          </p:nvSpPr>
          <p:spPr bwMode="auto">
            <a:xfrm>
              <a:off x="3719" y="3278"/>
              <a:ext cx="2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 name="Rectangle 7"/>
            <p:cNvSpPr>
              <a:spLocks noChangeArrowheads="1"/>
            </p:cNvSpPr>
            <p:nvPr/>
          </p:nvSpPr>
          <p:spPr bwMode="auto">
            <a:xfrm>
              <a:off x="3760" y="3278"/>
              <a:ext cx="2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 name="Rectangle 8"/>
            <p:cNvSpPr>
              <a:spLocks noChangeArrowheads="1"/>
            </p:cNvSpPr>
            <p:nvPr/>
          </p:nvSpPr>
          <p:spPr bwMode="auto">
            <a:xfrm>
              <a:off x="3802" y="3278"/>
              <a:ext cx="2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5" name="Rectangle 9"/>
            <p:cNvSpPr>
              <a:spLocks noChangeArrowheads="1"/>
            </p:cNvSpPr>
            <p:nvPr/>
          </p:nvSpPr>
          <p:spPr bwMode="auto">
            <a:xfrm>
              <a:off x="3843" y="3278"/>
              <a:ext cx="2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6" name="Rectangle 10"/>
            <p:cNvSpPr>
              <a:spLocks noChangeArrowheads="1"/>
            </p:cNvSpPr>
            <p:nvPr/>
          </p:nvSpPr>
          <p:spPr bwMode="auto">
            <a:xfrm>
              <a:off x="3884" y="3278"/>
              <a:ext cx="2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7" name="Rectangle 11"/>
            <p:cNvSpPr>
              <a:spLocks noChangeArrowheads="1"/>
            </p:cNvSpPr>
            <p:nvPr/>
          </p:nvSpPr>
          <p:spPr bwMode="auto">
            <a:xfrm>
              <a:off x="3926" y="3278"/>
              <a:ext cx="2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8" name="Rectangle 12"/>
            <p:cNvSpPr>
              <a:spLocks noChangeArrowheads="1"/>
            </p:cNvSpPr>
            <p:nvPr/>
          </p:nvSpPr>
          <p:spPr bwMode="auto">
            <a:xfrm>
              <a:off x="3967" y="3278"/>
              <a:ext cx="2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 name="Rectangle 13"/>
            <p:cNvSpPr>
              <a:spLocks noChangeArrowheads="1"/>
            </p:cNvSpPr>
            <p:nvPr/>
          </p:nvSpPr>
          <p:spPr bwMode="auto">
            <a:xfrm>
              <a:off x="3999" y="3287"/>
              <a:ext cx="6" cy="2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 name="Rectangle 14"/>
            <p:cNvSpPr>
              <a:spLocks noChangeArrowheads="1"/>
            </p:cNvSpPr>
            <p:nvPr/>
          </p:nvSpPr>
          <p:spPr bwMode="auto">
            <a:xfrm>
              <a:off x="3999" y="3329"/>
              <a:ext cx="6" cy="2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 name="Rectangle 15"/>
            <p:cNvSpPr>
              <a:spLocks noChangeArrowheads="1"/>
            </p:cNvSpPr>
            <p:nvPr/>
          </p:nvSpPr>
          <p:spPr bwMode="auto">
            <a:xfrm>
              <a:off x="3999" y="3370"/>
              <a:ext cx="6" cy="2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2" name="Rectangle 16"/>
            <p:cNvSpPr>
              <a:spLocks noChangeArrowheads="1"/>
            </p:cNvSpPr>
            <p:nvPr/>
          </p:nvSpPr>
          <p:spPr bwMode="auto">
            <a:xfrm>
              <a:off x="3999" y="3412"/>
              <a:ext cx="6" cy="2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3" name="Rectangle 17"/>
            <p:cNvSpPr>
              <a:spLocks noChangeArrowheads="1"/>
            </p:cNvSpPr>
            <p:nvPr/>
          </p:nvSpPr>
          <p:spPr bwMode="auto">
            <a:xfrm>
              <a:off x="3999" y="3453"/>
              <a:ext cx="6" cy="2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4" name="Rectangle 18"/>
            <p:cNvSpPr>
              <a:spLocks noChangeArrowheads="1"/>
            </p:cNvSpPr>
            <p:nvPr/>
          </p:nvSpPr>
          <p:spPr bwMode="auto">
            <a:xfrm>
              <a:off x="3999" y="3494"/>
              <a:ext cx="6" cy="2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5" name="Rectangle 19"/>
            <p:cNvSpPr>
              <a:spLocks noChangeArrowheads="1"/>
            </p:cNvSpPr>
            <p:nvPr/>
          </p:nvSpPr>
          <p:spPr bwMode="auto">
            <a:xfrm>
              <a:off x="3999" y="3536"/>
              <a:ext cx="6" cy="2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6" name="Freeform 20"/>
            <p:cNvSpPr>
              <a:spLocks/>
            </p:cNvSpPr>
            <p:nvPr/>
          </p:nvSpPr>
          <p:spPr bwMode="auto">
            <a:xfrm>
              <a:off x="3717" y="3561"/>
              <a:ext cx="5" cy="5"/>
            </a:xfrm>
            <a:custGeom>
              <a:avLst/>
              <a:gdLst>
                <a:gd name="T0" fmla="*/ 0 w 5"/>
                <a:gd name="T1" fmla="*/ 2 h 5"/>
                <a:gd name="T2" fmla="*/ 2 w 5"/>
                <a:gd name="T3" fmla="*/ 5 h 5"/>
                <a:gd name="T4" fmla="*/ 2 w 5"/>
                <a:gd name="T5" fmla="*/ 0 h 5"/>
                <a:gd name="T6" fmla="*/ 5 w 5"/>
                <a:gd name="T7" fmla="*/ 2 h 5"/>
                <a:gd name="T8" fmla="*/ 0 w 5"/>
                <a:gd name="T9" fmla="*/ 2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2"/>
                  </a:moveTo>
                  <a:lnTo>
                    <a:pt x="2" y="5"/>
                  </a:lnTo>
                  <a:lnTo>
                    <a:pt x="2" y="0"/>
                  </a:lnTo>
                  <a:lnTo>
                    <a:pt x="5"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Rectangle 21"/>
            <p:cNvSpPr>
              <a:spLocks noChangeArrowheads="1"/>
            </p:cNvSpPr>
            <p:nvPr/>
          </p:nvSpPr>
          <p:spPr bwMode="auto">
            <a:xfrm>
              <a:off x="1268" y="3295"/>
              <a:ext cx="288" cy="287"/>
            </a:xfrm>
            <a:prstGeom prst="rect">
              <a:avLst/>
            </a:prstGeom>
            <a:solidFill>
              <a:srgbClr val="FFFFFF"/>
            </a:solidFill>
            <a:ln w="9525">
              <a:solidFill>
                <a:srgbClr val="000000"/>
              </a:solidFill>
              <a:prstDash val="sysDot"/>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8" name="Rectangle 29"/>
            <p:cNvSpPr>
              <a:spLocks noChangeArrowheads="1"/>
            </p:cNvSpPr>
            <p:nvPr/>
          </p:nvSpPr>
          <p:spPr bwMode="auto">
            <a:xfrm>
              <a:off x="1551" y="3304"/>
              <a:ext cx="5" cy="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9" name="Rectangle 30"/>
            <p:cNvSpPr>
              <a:spLocks noChangeArrowheads="1"/>
            </p:cNvSpPr>
            <p:nvPr/>
          </p:nvSpPr>
          <p:spPr bwMode="auto">
            <a:xfrm>
              <a:off x="1551" y="3345"/>
              <a:ext cx="5"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0" name="Rectangle 31"/>
            <p:cNvSpPr>
              <a:spLocks noChangeArrowheads="1"/>
            </p:cNvSpPr>
            <p:nvPr/>
          </p:nvSpPr>
          <p:spPr bwMode="auto">
            <a:xfrm>
              <a:off x="1551" y="3386"/>
              <a:ext cx="5"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1" name="Rectangle 32"/>
            <p:cNvSpPr>
              <a:spLocks noChangeArrowheads="1"/>
            </p:cNvSpPr>
            <p:nvPr/>
          </p:nvSpPr>
          <p:spPr bwMode="auto">
            <a:xfrm>
              <a:off x="1551" y="3428"/>
              <a:ext cx="5"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2" name="Rectangle 33"/>
            <p:cNvSpPr>
              <a:spLocks noChangeArrowheads="1"/>
            </p:cNvSpPr>
            <p:nvPr/>
          </p:nvSpPr>
          <p:spPr bwMode="auto">
            <a:xfrm>
              <a:off x="1551" y="3469"/>
              <a:ext cx="5"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3" name="Rectangle 34"/>
            <p:cNvSpPr>
              <a:spLocks noChangeArrowheads="1"/>
            </p:cNvSpPr>
            <p:nvPr/>
          </p:nvSpPr>
          <p:spPr bwMode="auto">
            <a:xfrm>
              <a:off x="1551" y="3510"/>
              <a:ext cx="5"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4" name="Rectangle 35"/>
            <p:cNvSpPr>
              <a:spLocks noChangeArrowheads="1"/>
            </p:cNvSpPr>
            <p:nvPr/>
          </p:nvSpPr>
          <p:spPr bwMode="auto">
            <a:xfrm>
              <a:off x="1551" y="3552"/>
              <a:ext cx="5"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5" name="Freeform 36"/>
            <p:cNvSpPr>
              <a:spLocks/>
            </p:cNvSpPr>
            <p:nvPr/>
          </p:nvSpPr>
          <p:spPr bwMode="auto">
            <a:xfrm>
              <a:off x="1267" y="3577"/>
              <a:ext cx="5" cy="4"/>
            </a:xfrm>
            <a:custGeom>
              <a:avLst/>
              <a:gdLst>
                <a:gd name="T0" fmla="*/ 0 w 5"/>
                <a:gd name="T1" fmla="*/ 2 h 4"/>
                <a:gd name="T2" fmla="*/ 3 w 5"/>
                <a:gd name="T3" fmla="*/ 4 h 4"/>
                <a:gd name="T4" fmla="*/ 3 w 5"/>
                <a:gd name="T5" fmla="*/ 0 h 4"/>
                <a:gd name="T6" fmla="*/ 5 w 5"/>
                <a:gd name="T7" fmla="*/ 2 h 4"/>
                <a:gd name="T8" fmla="*/ 0 w 5"/>
                <a:gd name="T9" fmla="*/ 2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0" y="2"/>
                  </a:moveTo>
                  <a:lnTo>
                    <a:pt x="3" y="4"/>
                  </a:lnTo>
                  <a:lnTo>
                    <a:pt x="3" y="0"/>
                  </a:lnTo>
                  <a:lnTo>
                    <a:pt x="5"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Oval 37"/>
            <p:cNvSpPr>
              <a:spLocks noChangeArrowheads="1"/>
            </p:cNvSpPr>
            <p:nvPr/>
          </p:nvSpPr>
          <p:spPr bwMode="auto">
            <a:xfrm>
              <a:off x="434" y="2453"/>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7" name="Oval 38"/>
            <p:cNvSpPr>
              <a:spLocks noChangeArrowheads="1"/>
            </p:cNvSpPr>
            <p:nvPr/>
          </p:nvSpPr>
          <p:spPr bwMode="auto">
            <a:xfrm>
              <a:off x="711" y="2455"/>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8" name="Oval 39"/>
            <p:cNvSpPr>
              <a:spLocks noChangeArrowheads="1"/>
            </p:cNvSpPr>
            <p:nvPr/>
          </p:nvSpPr>
          <p:spPr bwMode="auto">
            <a:xfrm>
              <a:off x="990" y="2453"/>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39" name="Oval 40"/>
            <p:cNvSpPr>
              <a:spLocks noChangeArrowheads="1"/>
            </p:cNvSpPr>
            <p:nvPr/>
          </p:nvSpPr>
          <p:spPr bwMode="auto">
            <a:xfrm>
              <a:off x="1267" y="2455"/>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0" name="Oval 41"/>
            <p:cNvSpPr>
              <a:spLocks noChangeArrowheads="1"/>
            </p:cNvSpPr>
            <p:nvPr/>
          </p:nvSpPr>
          <p:spPr bwMode="auto">
            <a:xfrm>
              <a:off x="432" y="2730"/>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1" name="Oval 42"/>
            <p:cNvSpPr>
              <a:spLocks noChangeArrowheads="1"/>
            </p:cNvSpPr>
            <p:nvPr/>
          </p:nvSpPr>
          <p:spPr bwMode="auto">
            <a:xfrm>
              <a:off x="711" y="2730"/>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2" name="Oval 43"/>
            <p:cNvSpPr>
              <a:spLocks noChangeArrowheads="1"/>
            </p:cNvSpPr>
            <p:nvPr/>
          </p:nvSpPr>
          <p:spPr bwMode="auto">
            <a:xfrm>
              <a:off x="986" y="2730"/>
              <a:ext cx="32"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3" name="Oval 44"/>
            <p:cNvSpPr>
              <a:spLocks noChangeArrowheads="1"/>
            </p:cNvSpPr>
            <p:nvPr/>
          </p:nvSpPr>
          <p:spPr bwMode="auto">
            <a:xfrm>
              <a:off x="1267" y="2730"/>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4" name="Oval 45"/>
            <p:cNvSpPr>
              <a:spLocks noChangeArrowheads="1"/>
            </p:cNvSpPr>
            <p:nvPr/>
          </p:nvSpPr>
          <p:spPr bwMode="auto">
            <a:xfrm>
              <a:off x="432" y="3009"/>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5" name="Oval 46"/>
            <p:cNvSpPr>
              <a:spLocks noChangeArrowheads="1"/>
            </p:cNvSpPr>
            <p:nvPr/>
          </p:nvSpPr>
          <p:spPr bwMode="auto">
            <a:xfrm>
              <a:off x="711" y="3007"/>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6" name="Oval 47"/>
            <p:cNvSpPr>
              <a:spLocks noChangeArrowheads="1"/>
            </p:cNvSpPr>
            <p:nvPr/>
          </p:nvSpPr>
          <p:spPr bwMode="auto">
            <a:xfrm>
              <a:off x="990" y="3009"/>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7" name="Oval 48"/>
            <p:cNvSpPr>
              <a:spLocks noChangeArrowheads="1"/>
            </p:cNvSpPr>
            <p:nvPr/>
          </p:nvSpPr>
          <p:spPr bwMode="auto">
            <a:xfrm>
              <a:off x="1267" y="3007"/>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8" name="Oval 49"/>
            <p:cNvSpPr>
              <a:spLocks noChangeArrowheads="1"/>
            </p:cNvSpPr>
            <p:nvPr/>
          </p:nvSpPr>
          <p:spPr bwMode="auto">
            <a:xfrm>
              <a:off x="1544" y="2453"/>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9" name="Oval 50"/>
            <p:cNvSpPr>
              <a:spLocks noChangeArrowheads="1"/>
            </p:cNvSpPr>
            <p:nvPr/>
          </p:nvSpPr>
          <p:spPr bwMode="auto">
            <a:xfrm>
              <a:off x="1544" y="2730"/>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0" name="Oval 51"/>
            <p:cNvSpPr>
              <a:spLocks noChangeArrowheads="1"/>
            </p:cNvSpPr>
            <p:nvPr/>
          </p:nvSpPr>
          <p:spPr bwMode="auto">
            <a:xfrm>
              <a:off x="1542" y="3007"/>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1" name="Oval 52"/>
            <p:cNvSpPr>
              <a:spLocks noChangeArrowheads="1"/>
            </p:cNvSpPr>
            <p:nvPr/>
          </p:nvSpPr>
          <p:spPr bwMode="auto">
            <a:xfrm>
              <a:off x="432" y="3286"/>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2" name="Oval 53"/>
            <p:cNvSpPr>
              <a:spLocks noChangeArrowheads="1"/>
            </p:cNvSpPr>
            <p:nvPr/>
          </p:nvSpPr>
          <p:spPr bwMode="auto">
            <a:xfrm>
              <a:off x="711" y="3284"/>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3" name="Oval 54"/>
            <p:cNvSpPr>
              <a:spLocks noChangeArrowheads="1"/>
            </p:cNvSpPr>
            <p:nvPr/>
          </p:nvSpPr>
          <p:spPr bwMode="auto">
            <a:xfrm>
              <a:off x="990" y="3286"/>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4" name="Oval 55"/>
            <p:cNvSpPr>
              <a:spLocks noChangeArrowheads="1"/>
            </p:cNvSpPr>
            <p:nvPr/>
          </p:nvSpPr>
          <p:spPr bwMode="auto">
            <a:xfrm>
              <a:off x="1263" y="3286"/>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5" name="Oval 56"/>
            <p:cNvSpPr>
              <a:spLocks noChangeArrowheads="1"/>
            </p:cNvSpPr>
            <p:nvPr/>
          </p:nvSpPr>
          <p:spPr bwMode="auto">
            <a:xfrm>
              <a:off x="1542" y="3288"/>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6" name="Oval 57"/>
            <p:cNvSpPr>
              <a:spLocks noChangeArrowheads="1"/>
            </p:cNvSpPr>
            <p:nvPr/>
          </p:nvSpPr>
          <p:spPr bwMode="auto">
            <a:xfrm>
              <a:off x="432" y="3568"/>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7" name="Oval 58"/>
            <p:cNvSpPr>
              <a:spLocks noChangeArrowheads="1"/>
            </p:cNvSpPr>
            <p:nvPr/>
          </p:nvSpPr>
          <p:spPr bwMode="auto">
            <a:xfrm>
              <a:off x="711" y="3566"/>
              <a:ext cx="30" cy="31"/>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8" name="Oval 59"/>
            <p:cNvSpPr>
              <a:spLocks noChangeArrowheads="1"/>
            </p:cNvSpPr>
            <p:nvPr/>
          </p:nvSpPr>
          <p:spPr bwMode="auto">
            <a:xfrm>
              <a:off x="990" y="3568"/>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9" name="Oval 60"/>
            <p:cNvSpPr>
              <a:spLocks noChangeArrowheads="1"/>
            </p:cNvSpPr>
            <p:nvPr/>
          </p:nvSpPr>
          <p:spPr bwMode="auto">
            <a:xfrm>
              <a:off x="1263" y="3568"/>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60" name="Oval 61"/>
            <p:cNvSpPr>
              <a:spLocks noChangeArrowheads="1"/>
            </p:cNvSpPr>
            <p:nvPr/>
          </p:nvSpPr>
          <p:spPr bwMode="auto">
            <a:xfrm>
              <a:off x="1542" y="3570"/>
              <a:ext cx="30" cy="30"/>
            </a:xfrm>
            <a:prstGeom prst="ellipse">
              <a:avLst/>
            </a:prstGeom>
            <a:solidFill>
              <a:srgbClr val="FF3333"/>
            </a:solidFill>
            <a:ln w="6350">
              <a:solidFill>
                <a:srgbClr val="FF3333"/>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61" name="Group 62"/>
            <p:cNvGrpSpPr>
              <a:grpSpLocks/>
            </p:cNvGrpSpPr>
            <p:nvPr/>
          </p:nvGrpSpPr>
          <p:grpSpPr bwMode="auto">
            <a:xfrm>
              <a:off x="1754" y="2962"/>
              <a:ext cx="99" cy="99"/>
              <a:chOff x="2341" y="1031"/>
              <a:chExt cx="99" cy="99"/>
            </a:xfrm>
          </p:grpSpPr>
          <p:sp>
            <p:nvSpPr>
              <p:cNvPr id="181" name="Line 63"/>
              <p:cNvSpPr>
                <a:spLocks noChangeShapeType="1"/>
              </p:cNvSpPr>
              <p:nvPr/>
            </p:nvSpPr>
            <p:spPr bwMode="auto">
              <a:xfrm>
                <a:off x="2341" y="1079"/>
                <a:ext cx="9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 name="Line 64"/>
              <p:cNvSpPr>
                <a:spLocks noChangeShapeType="1"/>
              </p:cNvSpPr>
              <p:nvPr/>
            </p:nvSpPr>
            <p:spPr bwMode="auto">
              <a:xfrm>
                <a:off x="2390" y="1031"/>
                <a:ext cx="1" cy="99"/>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2" name="Group 65"/>
            <p:cNvGrpSpPr>
              <a:grpSpLocks/>
            </p:cNvGrpSpPr>
            <p:nvPr/>
          </p:nvGrpSpPr>
          <p:grpSpPr bwMode="auto">
            <a:xfrm>
              <a:off x="2459" y="2974"/>
              <a:ext cx="98" cy="64"/>
              <a:chOff x="3046" y="1043"/>
              <a:chExt cx="98" cy="64"/>
            </a:xfrm>
          </p:grpSpPr>
          <p:sp>
            <p:nvSpPr>
              <p:cNvPr id="179" name="Line 66"/>
              <p:cNvSpPr>
                <a:spLocks noChangeShapeType="1"/>
              </p:cNvSpPr>
              <p:nvPr/>
            </p:nvSpPr>
            <p:spPr bwMode="auto">
              <a:xfrm>
                <a:off x="3046" y="1043"/>
                <a:ext cx="9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67"/>
              <p:cNvSpPr>
                <a:spLocks noChangeShapeType="1"/>
              </p:cNvSpPr>
              <p:nvPr/>
            </p:nvSpPr>
            <p:spPr bwMode="auto">
              <a:xfrm>
                <a:off x="3046" y="1106"/>
                <a:ext cx="9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 name="Rectangle 68"/>
            <p:cNvSpPr>
              <a:spLocks noChangeArrowheads="1"/>
            </p:cNvSpPr>
            <p:nvPr/>
          </p:nvSpPr>
          <p:spPr bwMode="auto">
            <a:xfrm>
              <a:off x="813" y="2247"/>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L</a:t>
              </a:r>
              <a:endParaRPr lang="en-US" altLang="zh-CN" sz="1800">
                <a:ea typeface="宋体" panose="02010600030101010101" pitchFamily="2" charset="-122"/>
              </a:endParaRPr>
            </a:p>
          </p:txBody>
        </p:sp>
        <p:sp>
          <p:nvSpPr>
            <p:cNvPr id="64" name="Rectangle 69"/>
            <p:cNvSpPr>
              <a:spLocks noChangeArrowheads="1"/>
            </p:cNvSpPr>
            <p:nvPr/>
          </p:nvSpPr>
          <p:spPr bwMode="auto">
            <a:xfrm>
              <a:off x="887" y="2247"/>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a</a:t>
              </a:r>
              <a:endParaRPr lang="en-US" altLang="zh-CN" sz="1800">
                <a:ea typeface="宋体" panose="02010600030101010101" pitchFamily="2" charset="-122"/>
              </a:endParaRPr>
            </a:p>
          </p:txBody>
        </p:sp>
        <p:sp>
          <p:nvSpPr>
            <p:cNvPr id="65" name="Rectangle 70"/>
            <p:cNvSpPr>
              <a:spLocks noChangeArrowheads="1"/>
            </p:cNvSpPr>
            <p:nvPr/>
          </p:nvSpPr>
          <p:spPr bwMode="auto">
            <a:xfrm>
              <a:off x="941" y="224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t</a:t>
              </a:r>
              <a:endParaRPr lang="en-US" altLang="zh-CN" sz="1800">
                <a:ea typeface="宋体" panose="02010600030101010101" pitchFamily="2" charset="-122"/>
              </a:endParaRPr>
            </a:p>
          </p:txBody>
        </p:sp>
        <p:sp>
          <p:nvSpPr>
            <p:cNvPr id="66" name="Rectangle 71"/>
            <p:cNvSpPr>
              <a:spLocks noChangeArrowheads="1"/>
            </p:cNvSpPr>
            <p:nvPr/>
          </p:nvSpPr>
          <p:spPr bwMode="auto">
            <a:xfrm>
              <a:off x="975" y="224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t</a:t>
              </a:r>
              <a:endParaRPr lang="en-US" altLang="zh-CN" sz="1800">
                <a:ea typeface="宋体" panose="02010600030101010101" pitchFamily="2" charset="-122"/>
              </a:endParaRPr>
            </a:p>
          </p:txBody>
        </p:sp>
        <p:sp>
          <p:nvSpPr>
            <p:cNvPr id="67" name="Rectangle 72"/>
            <p:cNvSpPr>
              <a:spLocks noChangeArrowheads="1"/>
            </p:cNvSpPr>
            <p:nvPr/>
          </p:nvSpPr>
          <p:spPr bwMode="auto">
            <a:xfrm>
              <a:off x="1009" y="224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i</a:t>
              </a:r>
              <a:endParaRPr lang="en-US" altLang="zh-CN" sz="1800">
                <a:ea typeface="宋体" panose="02010600030101010101" pitchFamily="2" charset="-122"/>
              </a:endParaRPr>
            </a:p>
          </p:txBody>
        </p:sp>
        <p:sp>
          <p:nvSpPr>
            <p:cNvPr id="68" name="Rectangle 73"/>
            <p:cNvSpPr>
              <a:spLocks noChangeArrowheads="1"/>
            </p:cNvSpPr>
            <p:nvPr/>
          </p:nvSpPr>
          <p:spPr bwMode="auto">
            <a:xfrm>
              <a:off x="1043" y="2247"/>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c</a:t>
              </a:r>
              <a:endParaRPr lang="en-US" altLang="zh-CN" sz="1800">
                <a:ea typeface="宋体" panose="02010600030101010101" pitchFamily="2" charset="-122"/>
              </a:endParaRPr>
            </a:p>
          </p:txBody>
        </p:sp>
        <p:sp>
          <p:nvSpPr>
            <p:cNvPr id="69" name="Rectangle 74"/>
            <p:cNvSpPr>
              <a:spLocks noChangeArrowheads="1"/>
            </p:cNvSpPr>
            <p:nvPr/>
          </p:nvSpPr>
          <p:spPr bwMode="auto">
            <a:xfrm>
              <a:off x="1097" y="2247"/>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e</a:t>
              </a:r>
              <a:endParaRPr lang="en-US" altLang="zh-CN" sz="1800">
                <a:ea typeface="宋体" panose="02010600030101010101" pitchFamily="2" charset="-122"/>
              </a:endParaRPr>
            </a:p>
          </p:txBody>
        </p:sp>
        <p:sp>
          <p:nvSpPr>
            <p:cNvPr id="70" name="Rectangle 75"/>
            <p:cNvSpPr>
              <a:spLocks noChangeArrowheads="1"/>
            </p:cNvSpPr>
            <p:nvPr/>
          </p:nvSpPr>
          <p:spPr bwMode="auto">
            <a:xfrm>
              <a:off x="2011" y="2654"/>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B</a:t>
              </a:r>
              <a:endParaRPr lang="en-US" altLang="zh-CN" sz="1800">
                <a:ea typeface="宋体" panose="02010600030101010101" pitchFamily="2" charset="-122"/>
              </a:endParaRPr>
            </a:p>
          </p:txBody>
        </p:sp>
        <p:sp>
          <p:nvSpPr>
            <p:cNvPr id="71" name="Rectangle 76"/>
            <p:cNvSpPr>
              <a:spLocks noChangeArrowheads="1"/>
            </p:cNvSpPr>
            <p:nvPr/>
          </p:nvSpPr>
          <p:spPr bwMode="auto">
            <a:xfrm>
              <a:off x="2092" y="2654"/>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a</a:t>
              </a:r>
              <a:endParaRPr lang="en-US" altLang="zh-CN" sz="1800">
                <a:ea typeface="宋体" panose="02010600030101010101" pitchFamily="2" charset="-122"/>
              </a:endParaRPr>
            </a:p>
          </p:txBody>
        </p:sp>
        <p:sp>
          <p:nvSpPr>
            <p:cNvPr id="72" name="Rectangle 77"/>
            <p:cNvSpPr>
              <a:spLocks noChangeArrowheads="1"/>
            </p:cNvSpPr>
            <p:nvPr/>
          </p:nvSpPr>
          <p:spPr bwMode="auto">
            <a:xfrm>
              <a:off x="2146" y="2654"/>
              <a:ext cx="5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s</a:t>
              </a:r>
              <a:endParaRPr lang="en-US" altLang="zh-CN" sz="1800">
                <a:ea typeface="宋体" panose="02010600030101010101" pitchFamily="2" charset="-122"/>
              </a:endParaRPr>
            </a:p>
          </p:txBody>
        </p:sp>
        <p:sp>
          <p:nvSpPr>
            <p:cNvPr id="73" name="Rectangle 78"/>
            <p:cNvSpPr>
              <a:spLocks noChangeArrowheads="1"/>
            </p:cNvSpPr>
            <p:nvPr/>
          </p:nvSpPr>
          <p:spPr bwMode="auto">
            <a:xfrm>
              <a:off x="2193" y="2654"/>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i</a:t>
              </a:r>
              <a:endParaRPr lang="en-US" altLang="zh-CN" sz="1800">
                <a:ea typeface="宋体" panose="02010600030101010101" pitchFamily="2" charset="-122"/>
              </a:endParaRPr>
            </a:p>
          </p:txBody>
        </p:sp>
        <p:sp>
          <p:nvSpPr>
            <p:cNvPr id="74" name="Rectangle 79"/>
            <p:cNvSpPr>
              <a:spLocks noChangeArrowheads="1"/>
            </p:cNvSpPr>
            <p:nvPr/>
          </p:nvSpPr>
          <p:spPr bwMode="auto">
            <a:xfrm>
              <a:off x="2227" y="2654"/>
              <a:ext cx="5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s</a:t>
              </a:r>
              <a:endParaRPr lang="en-US" altLang="zh-CN" sz="1800">
                <a:ea typeface="宋体" panose="02010600030101010101" pitchFamily="2" charset="-122"/>
              </a:endParaRPr>
            </a:p>
          </p:txBody>
        </p:sp>
        <p:sp>
          <p:nvSpPr>
            <p:cNvPr id="75" name="Rectangle 80"/>
            <p:cNvSpPr>
              <a:spLocks noChangeArrowheads="1"/>
            </p:cNvSpPr>
            <p:nvPr/>
          </p:nvSpPr>
          <p:spPr bwMode="auto">
            <a:xfrm>
              <a:off x="3292" y="2201"/>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C</a:t>
              </a:r>
              <a:endParaRPr lang="en-US" altLang="zh-CN" sz="1800">
                <a:ea typeface="宋体" panose="02010600030101010101" pitchFamily="2" charset="-122"/>
              </a:endParaRPr>
            </a:p>
          </p:txBody>
        </p:sp>
        <p:sp>
          <p:nvSpPr>
            <p:cNvPr id="76" name="Rectangle 81"/>
            <p:cNvSpPr>
              <a:spLocks noChangeArrowheads="1"/>
            </p:cNvSpPr>
            <p:nvPr/>
          </p:nvSpPr>
          <p:spPr bwMode="auto">
            <a:xfrm>
              <a:off x="3373" y="2201"/>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r</a:t>
              </a:r>
              <a:endParaRPr lang="en-US" altLang="zh-CN" sz="1800">
                <a:ea typeface="宋体" panose="02010600030101010101" pitchFamily="2" charset="-122"/>
              </a:endParaRPr>
            </a:p>
          </p:txBody>
        </p:sp>
        <p:sp>
          <p:nvSpPr>
            <p:cNvPr id="77" name="Rectangle 82"/>
            <p:cNvSpPr>
              <a:spLocks noChangeArrowheads="1"/>
            </p:cNvSpPr>
            <p:nvPr/>
          </p:nvSpPr>
          <p:spPr bwMode="auto">
            <a:xfrm>
              <a:off x="3413" y="2201"/>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y</a:t>
              </a:r>
              <a:endParaRPr lang="en-US" altLang="zh-CN" sz="1800">
                <a:ea typeface="宋体" panose="02010600030101010101" pitchFamily="2" charset="-122"/>
              </a:endParaRPr>
            </a:p>
          </p:txBody>
        </p:sp>
        <p:sp>
          <p:nvSpPr>
            <p:cNvPr id="78" name="Rectangle 83"/>
            <p:cNvSpPr>
              <a:spLocks noChangeArrowheads="1"/>
            </p:cNvSpPr>
            <p:nvPr/>
          </p:nvSpPr>
          <p:spPr bwMode="auto">
            <a:xfrm>
              <a:off x="3474" y="2201"/>
              <a:ext cx="5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s</a:t>
              </a:r>
              <a:endParaRPr lang="en-US" altLang="zh-CN" sz="1800">
                <a:ea typeface="宋体" panose="02010600030101010101" pitchFamily="2" charset="-122"/>
              </a:endParaRPr>
            </a:p>
          </p:txBody>
        </p:sp>
        <p:sp>
          <p:nvSpPr>
            <p:cNvPr id="79" name="Rectangle 84"/>
            <p:cNvSpPr>
              <a:spLocks noChangeArrowheads="1"/>
            </p:cNvSpPr>
            <p:nvPr/>
          </p:nvSpPr>
          <p:spPr bwMode="auto">
            <a:xfrm>
              <a:off x="3521" y="2201"/>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t</a:t>
              </a:r>
              <a:endParaRPr lang="en-US" altLang="zh-CN" sz="1800">
                <a:ea typeface="宋体" panose="02010600030101010101" pitchFamily="2" charset="-122"/>
              </a:endParaRPr>
            </a:p>
          </p:txBody>
        </p:sp>
        <p:sp>
          <p:nvSpPr>
            <p:cNvPr id="80" name="Rectangle 85"/>
            <p:cNvSpPr>
              <a:spLocks noChangeArrowheads="1"/>
            </p:cNvSpPr>
            <p:nvPr/>
          </p:nvSpPr>
          <p:spPr bwMode="auto">
            <a:xfrm>
              <a:off x="3555" y="2201"/>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a</a:t>
              </a:r>
              <a:endParaRPr lang="en-US" altLang="zh-CN" sz="1800">
                <a:ea typeface="宋体" panose="02010600030101010101" pitchFamily="2" charset="-122"/>
              </a:endParaRPr>
            </a:p>
          </p:txBody>
        </p:sp>
        <p:sp>
          <p:nvSpPr>
            <p:cNvPr id="81" name="Rectangle 86"/>
            <p:cNvSpPr>
              <a:spLocks noChangeArrowheads="1"/>
            </p:cNvSpPr>
            <p:nvPr/>
          </p:nvSpPr>
          <p:spPr bwMode="auto">
            <a:xfrm>
              <a:off x="3609" y="2201"/>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l</a:t>
              </a:r>
              <a:endParaRPr lang="en-US" altLang="zh-CN" sz="1800">
                <a:ea typeface="宋体" panose="02010600030101010101" pitchFamily="2" charset="-122"/>
              </a:endParaRPr>
            </a:p>
          </p:txBody>
        </p:sp>
        <p:sp>
          <p:nvSpPr>
            <p:cNvPr id="82" name="Oval 87"/>
            <p:cNvSpPr>
              <a:spLocks noChangeArrowheads="1"/>
            </p:cNvSpPr>
            <p:nvPr/>
          </p:nvSpPr>
          <p:spPr bwMode="auto">
            <a:xfrm>
              <a:off x="2222" y="3063"/>
              <a:ext cx="48" cy="46"/>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3" name="Oval 88"/>
            <p:cNvSpPr>
              <a:spLocks noChangeArrowheads="1"/>
            </p:cNvSpPr>
            <p:nvPr/>
          </p:nvSpPr>
          <p:spPr bwMode="auto">
            <a:xfrm>
              <a:off x="2035" y="2888"/>
              <a:ext cx="129"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4" name="Oval 89"/>
            <p:cNvSpPr>
              <a:spLocks noChangeArrowheads="1"/>
            </p:cNvSpPr>
            <p:nvPr/>
          </p:nvSpPr>
          <p:spPr bwMode="auto">
            <a:xfrm>
              <a:off x="2882" y="2437"/>
              <a:ext cx="25"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5" name="Oval 90"/>
            <p:cNvSpPr>
              <a:spLocks noChangeArrowheads="1"/>
            </p:cNvSpPr>
            <p:nvPr/>
          </p:nvSpPr>
          <p:spPr bwMode="auto">
            <a:xfrm>
              <a:off x="3161" y="2440"/>
              <a:ext cx="25" cy="23"/>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6" name="Oval 91"/>
            <p:cNvSpPr>
              <a:spLocks noChangeArrowheads="1"/>
            </p:cNvSpPr>
            <p:nvPr/>
          </p:nvSpPr>
          <p:spPr bwMode="auto">
            <a:xfrm>
              <a:off x="3438" y="2437"/>
              <a:ext cx="25"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7" name="Oval 92"/>
            <p:cNvSpPr>
              <a:spLocks noChangeArrowheads="1"/>
            </p:cNvSpPr>
            <p:nvPr/>
          </p:nvSpPr>
          <p:spPr bwMode="auto">
            <a:xfrm>
              <a:off x="3717" y="2440"/>
              <a:ext cx="23" cy="23"/>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8" name="Oval 93"/>
            <p:cNvSpPr>
              <a:spLocks noChangeArrowheads="1"/>
            </p:cNvSpPr>
            <p:nvPr/>
          </p:nvSpPr>
          <p:spPr bwMode="auto">
            <a:xfrm>
              <a:off x="2881" y="2716"/>
              <a:ext cx="24"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89" name="Oval 94"/>
            <p:cNvSpPr>
              <a:spLocks noChangeArrowheads="1"/>
            </p:cNvSpPr>
            <p:nvPr/>
          </p:nvSpPr>
          <p:spPr bwMode="auto">
            <a:xfrm>
              <a:off x="3161" y="2716"/>
              <a:ext cx="25"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0" name="Oval 95"/>
            <p:cNvSpPr>
              <a:spLocks noChangeArrowheads="1"/>
            </p:cNvSpPr>
            <p:nvPr/>
          </p:nvSpPr>
          <p:spPr bwMode="auto">
            <a:xfrm>
              <a:off x="3437" y="2716"/>
              <a:ext cx="24"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1" name="Oval 96"/>
            <p:cNvSpPr>
              <a:spLocks noChangeArrowheads="1"/>
            </p:cNvSpPr>
            <p:nvPr/>
          </p:nvSpPr>
          <p:spPr bwMode="auto">
            <a:xfrm>
              <a:off x="3717" y="2716"/>
              <a:ext cx="23"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2" name="Oval 97"/>
            <p:cNvSpPr>
              <a:spLocks noChangeArrowheads="1"/>
            </p:cNvSpPr>
            <p:nvPr/>
          </p:nvSpPr>
          <p:spPr bwMode="auto">
            <a:xfrm>
              <a:off x="2881" y="2993"/>
              <a:ext cx="24"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3" name="Oval 98"/>
            <p:cNvSpPr>
              <a:spLocks noChangeArrowheads="1"/>
            </p:cNvSpPr>
            <p:nvPr/>
          </p:nvSpPr>
          <p:spPr bwMode="auto">
            <a:xfrm>
              <a:off x="3161" y="2991"/>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4" name="Oval 99"/>
            <p:cNvSpPr>
              <a:spLocks noChangeArrowheads="1"/>
            </p:cNvSpPr>
            <p:nvPr/>
          </p:nvSpPr>
          <p:spPr bwMode="auto">
            <a:xfrm>
              <a:off x="3438" y="2993"/>
              <a:ext cx="25"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5" name="Oval 100"/>
            <p:cNvSpPr>
              <a:spLocks noChangeArrowheads="1"/>
            </p:cNvSpPr>
            <p:nvPr/>
          </p:nvSpPr>
          <p:spPr bwMode="auto">
            <a:xfrm>
              <a:off x="3717" y="2991"/>
              <a:ext cx="23"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6" name="Oval 101"/>
            <p:cNvSpPr>
              <a:spLocks noChangeArrowheads="1"/>
            </p:cNvSpPr>
            <p:nvPr/>
          </p:nvSpPr>
          <p:spPr bwMode="auto">
            <a:xfrm>
              <a:off x="3994" y="2437"/>
              <a:ext cx="25"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7" name="Oval 102"/>
            <p:cNvSpPr>
              <a:spLocks noChangeArrowheads="1"/>
            </p:cNvSpPr>
            <p:nvPr/>
          </p:nvSpPr>
          <p:spPr bwMode="auto">
            <a:xfrm>
              <a:off x="3994" y="2716"/>
              <a:ext cx="25"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8" name="Oval 103"/>
            <p:cNvSpPr>
              <a:spLocks noChangeArrowheads="1"/>
            </p:cNvSpPr>
            <p:nvPr/>
          </p:nvSpPr>
          <p:spPr bwMode="auto">
            <a:xfrm>
              <a:off x="3992" y="2991"/>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9" name="Oval 104"/>
            <p:cNvSpPr>
              <a:spLocks noChangeArrowheads="1"/>
            </p:cNvSpPr>
            <p:nvPr/>
          </p:nvSpPr>
          <p:spPr bwMode="auto">
            <a:xfrm>
              <a:off x="2881" y="3271"/>
              <a:ext cx="24"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0" name="Oval 105"/>
            <p:cNvSpPr>
              <a:spLocks noChangeArrowheads="1"/>
            </p:cNvSpPr>
            <p:nvPr/>
          </p:nvSpPr>
          <p:spPr bwMode="auto">
            <a:xfrm>
              <a:off x="3161" y="3270"/>
              <a:ext cx="25" cy="24"/>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1" name="Oval 106"/>
            <p:cNvSpPr>
              <a:spLocks noChangeArrowheads="1"/>
            </p:cNvSpPr>
            <p:nvPr/>
          </p:nvSpPr>
          <p:spPr bwMode="auto">
            <a:xfrm>
              <a:off x="3438" y="3271"/>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2" name="Oval 107"/>
            <p:cNvSpPr>
              <a:spLocks noChangeArrowheads="1"/>
            </p:cNvSpPr>
            <p:nvPr/>
          </p:nvSpPr>
          <p:spPr bwMode="auto">
            <a:xfrm>
              <a:off x="3712" y="3271"/>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3" name="Oval 108"/>
            <p:cNvSpPr>
              <a:spLocks noChangeArrowheads="1"/>
            </p:cNvSpPr>
            <p:nvPr/>
          </p:nvSpPr>
          <p:spPr bwMode="auto">
            <a:xfrm>
              <a:off x="3992" y="3273"/>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4" name="Oval 109"/>
            <p:cNvSpPr>
              <a:spLocks noChangeArrowheads="1"/>
            </p:cNvSpPr>
            <p:nvPr/>
          </p:nvSpPr>
          <p:spPr bwMode="auto">
            <a:xfrm>
              <a:off x="2881" y="3552"/>
              <a:ext cx="24"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5" name="Oval 110"/>
            <p:cNvSpPr>
              <a:spLocks noChangeArrowheads="1"/>
            </p:cNvSpPr>
            <p:nvPr/>
          </p:nvSpPr>
          <p:spPr bwMode="auto">
            <a:xfrm>
              <a:off x="3161" y="3550"/>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6" name="Oval 111"/>
            <p:cNvSpPr>
              <a:spLocks noChangeArrowheads="1"/>
            </p:cNvSpPr>
            <p:nvPr/>
          </p:nvSpPr>
          <p:spPr bwMode="auto">
            <a:xfrm>
              <a:off x="3438" y="3552"/>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7" name="Oval 112"/>
            <p:cNvSpPr>
              <a:spLocks noChangeArrowheads="1"/>
            </p:cNvSpPr>
            <p:nvPr/>
          </p:nvSpPr>
          <p:spPr bwMode="auto">
            <a:xfrm>
              <a:off x="3712" y="3552"/>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8" name="Oval 113"/>
            <p:cNvSpPr>
              <a:spLocks noChangeArrowheads="1"/>
            </p:cNvSpPr>
            <p:nvPr/>
          </p:nvSpPr>
          <p:spPr bwMode="auto">
            <a:xfrm>
              <a:off x="3992" y="3554"/>
              <a:ext cx="25" cy="25"/>
            </a:xfrm>
            <a:prstGeom prst="ellipse">
              <a:avLst/>
            </a:prstGeom>
            <a:solidFill>
              <a:srgbClr val="000000"/>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09" name="Oval 114"/>
            <p:cNvSpPr>
              <a:spLocks noChangeArrowheads="1"/>
            </p:cNvSpPr>
            <p:nvPr/>
          </p:nvSpPr>
          <p:spPr bwMode="auto">
            <a:xfrm>
              <a:off x="3012" y="2566"/>
              <a:ext cx="48" cy="47"/>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0" name="Oval 115"/>
            <p:cNvSpPr>
              <a:spLocks noChangeArrowheads="1"/>
            </p:cNvSpPr>
            <p:nvPr/>
          </p:nvSpPr>
          <p:spPr bwMode="auto">
            <a:xfrm>
              <a:off x="3111" y="2663"/>
              <a:ext cx="127" cy="130"/>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1" name="Oval 116"/>
            <p:cNvSpPr>
              <a:spLocks noChangeArrowheads="1"/>
            </p:cNvSpPr>
            <p:nvPr/>
          </p:nvSpPr>
          <p:spPr bwMode="auto">
            <a:xfrm>
              <a:off x="3285" y="2563"/>
              <a:ext cx="47"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2" name="Oval 117"/>
            <p:cNvSpPr>
              <a:spLocks noChangeArrowheads="1"/>
            </p:cNvSpPr>
            <p:nvPr/>
          </p:nvSpPr>
          <p:spPr bwMode="auto">
            <a:xfrm>
              <a:off x="3382" y="2661"/>
              <a:ext cx="130"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3" name="Oval 118"/>
            <p:cNvSpPr>
              <a:spLocks noChangeArrowheads="1"/>
            </p:cNvSpPr>
            <p:nvPr/>
          </p:nvSpPr>
          <p:spPr bwMode="auto">
            <a:xfrm>
              <a:off x="3566" y="2568"/>
              <a:ext cx="46"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4" name="Oval 119"/>
            <p:cNvSpPr>
              <a:spLocks noChangeArrowheads="1"/>
            </p:cNvSpPr>
            <p:nvPr/>
          </p:nvSpPr>
          <p:spPr bwMode="auto">
            <a:xfrm>
              <a:off x="3663" y="2667"/>
              <a:ext cx="130" cy="127"/>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5" name="Oval 120"/>
            <p:cNvSpPr>
              <a:spLocks noChangeArrowheads="1"/>
            </p:cNvSpPr>
            <p:nvPr/>
          </p:nvSpPr>
          <p:spPr bwMode="auto">
            <a:xfrm>
              <a:off x="3845" y="2573"/>
              <a:ext cx="48" cy="49"/>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6" name="Oval 121"/>
            <p:cNvSpPr>
              <a:spLocks noChangeArrowheads="1"/>
            </p:cNvSpPr>
            <p:nvPr/>
          </p:nvSpPr>
          <p:spPr bwMode="auto">
            <a:xfrm>
              <a:off x="3944" y="2672"/>
              <a:ext cx="129"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7" name="Oval 122"/>
            <p:cNvSpPr>
              <a:spLocks noChangeArrowheads="1"/>
            </p:cNvSpPr>
            <p:nvPr/>
          </p:nvSpPr>
          <p:spPr bwMode="auto">
            <a:xfrm>
              <a:off x="3843" y="2843"/>
              <a:ext cx="48"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8" name="Oval 123"/>
            <p:cNvSpPr>
              <a:spLocks noChangeArrowheads="1"/>
            </p:cNvSpPr>
            <p:nvPr/>
          </p:nvSpPr>
          <p:spPr bwMode="auto">
            <a:xfrm>
              <a:off x="3942" y="2942"/>
              <a:ext cx="128"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19" name="Oval 124"/>
            <p:cNvSpPr>
              <a:spLocks noChangeArrowheads="1"/>
            </p:cNvSpPr>
            <p:nvPr/>
          </p:nvSpPr>
          <p:spPr bwMode="auto">
            <a:xfrm>
              <a:off x="3841" y="3122"/>
              <a:ext cx="47" cy="46"/>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0" name="Oval 125"/>
            <p:cNvSpPr>
              <a:spLocks noChangeArrowheads="1"/>
            </p:cNvSpPr>
            <p:nvPr/>
          </p:nvSpPr>
          <p:spPr bwMode="auto">
            <a:xfrm>
              <a:off x="3938" y="3219"/>
              <a:ext cx="130" cy="130"/>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1" name="Oval 126"/>
            <p:cNvSpPr>
              <a:spLocks noChangeArrowheads="1"/>
            </p:cNvSpPr>
            <p:nvPr/>
          </p:nvSpPr>
          <p:spPr bwMode="auto">
            <a:xfrm>
              <a:off x="3562" y="3119"/>
              <a:ext cx="49"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2" name="Oval 127"/>
            <p:cNvSpPr>
              <a:spLocks noChangeArrowheads="1"/>
            </p:cNvSpPr>
            <p:nvPr/>
          </p:nvSpPr>
          <p:spPr bwMode="auto">
            <a:xfrm>
              <a:off x="3661" y="3217"/>
              <a:ext cx="128"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3" name="Oval 128"/>
            <p:cNvSpPr>
              <a:spLocks noChangeArrowheads="1"/>
            </p:cNvSpPr>
            <p:nvPr/>
          </p:nvSpPr>
          <p:spPr bwMode="auto">
            <a:xfrm>
              <a:off x="3841" y="3401"/>
              <a:ext cx="47"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4" name="Oval 129"/>
            <p:cNvSpPr>
              <a:spLocks noChangeArrowheads="1"/>
            </p:cNvSpPr>
            <p:nvPr/>
          </p:nvSpPr>
          <p:spPr bwMode="auto">
            <a:xfrm>
              <a:off x="3938" y="3500"/>
              <a:ext cx="130" cy="129"/>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5" name="Oval 130"/>
            <p:cNvSpPr>
              <a:spLocks noChangeArrowheads="1"/>
            </p:cNvSpPr>
            <p:nvPr/>
          </p:nvSpPr>
          <p:spPr bwMode="auto">
            <a:xfrm>
              <a:off x="3285" y="3117"/>
              <a:ext cx="47" cy="46"/>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6" name="Oval 131"/>
            <p:cNvSpPr>
              <a:spLocks noChangeArrowheads="1"/>
            </p:cNvSpPr>
            <p:nvPr/>
          </p:nvSpPr>
          <p:spPr bwMode="auto">
            <a:xfrm>
              <a:off x="3382" y="3214"/>
              <a:ext cx="130" cy="129"/>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7" name="Oval 132"/>
            <p:cNvSpPr>
              <a:spLocks noChangeArrowheads="1"/>
            </p:cNvSpPr>
            <p:nvPr/>
          </p:nvSpPr>
          <p:spPr bwMode="auto">
            <a:xfrm>
              <a:off x="3010" y="3119"/>
              <a:ext cx="47"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8" name="Oval 133"/>
            <p:cNvSpPr>
              <a:spLocks noChangeArrowheads="1"/>
            </p:cNvSpPr>
            <p:nvPr/>
          </p:nvSpPr>
          <p:spPr bwMode="auto">
            <a:xfrm>
              <a:off x="3107" y="3217"/>
              <a:ext cx="130"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29" name="Oval 134"/>
            <p:cNvSpPr>
              <a:spLocks noChangeArrowheads="1"/>
            </p:cNvSpPr>
            <p:nvPr/>
          </p:nvSpPr>
          <p:spPr bwMode="auto">
            <a:xfrm>
              <a:off x="2835" y="3214"/>
              <a:ext cx="128" cy="129"/>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0" name="Oval 135"/>
            <p:cNvSpPr>
              <a:spLocks noChangeArrowheads="1"/>
            </p:cNvSpPr>
            <p:nvPr/>
          </p:nvSpPr>
          <p:spPr bwMode="auto">
            <a:xfrm>
              <a:off x="3568" y="2843"/>
              <a:ext cx="48"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1" name="Oval 136"/>
            <p:cNvSpPr>
              <a:spLocks noChangeArrowheads="1"/>
            </p:cNvSpPr>
            <p:nvPr/>
          </p:nvSpPr>
          <p:spPr bwMode="auto">
            <a:xfrm>
              <a:off x="3667" y="2942"/>
              <a:ext cx="127"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2" name="Oval 137"/>
            <p:cNvSpPr>
              <a:spLocks noChangeArrowheads="1"/>
            </p:cNvSpPr>
            <p:nvPr/>
          </p:nvSpPr>
          <p:spPr bwMode="auto">
            <a:xfrm>
              <a:off x="3291" y="2843"/>
              <a:ext cx="46"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3" name="Oval 138"/>
            <p:cNvSpPr>
              <a:spLocks noChangeArrowheads="1"/>
            </p:cNvSpPr>
            <p:nvPr/>
          </p:nvSpPr>
          <p:spPr bwMode="auto">
            <a:xfrm>
              <a:off x="3388" y="2942"/>
              <a:ext cx="129"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4" name="Oval 139"/>
            <p:cNvSpPr>
              <a:spLocks noChangeArrowheads="1"/>
            </p:cNvSpPr>
            <p:nvPr/>
          </p:nvSpPr>
          <p:spPr bwMode="auto">
            <a:xfrm>
              <a:off x="3010" y="2841"/>
              <a:ext cx="47" cy="47"/>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5" name="Oval 140"/>
            <p:cNvSpPr>
              <a:spLocks noChangeArrowheads="1"/>
            </p:cNvSpPr>
            <p:nvPr/>
          </p:nvSpPr>
          <p:spPr bwMode="auto">
            <a:xfrm>
              <a:off x="3107" y="2938"/>
              <a:ext cx="130" cy="130"/>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6" name="Oval 141"/>
            <p:cNvSpPr>
              <a:spLocks noChangeArrowheads="1"/>
            </p:cNvSpPr>
            <p:nvPr/>
          </p:nvSpPr>
          <p:spPr bwMode="auto">
            <a:xfrm>
              <a:off x="2830" y="2942"/>
              <a:ext cx="128"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7" name="Oval 142"/>
            <p:cNvSpPr>
              <a:spLocks noChangeArrowheads="1"/>
            </p:cNvSpPr>
            <p:nvPr/>
          </p:nvSpPr>
          <p:spPr bwMode="auto">
            <a:xfrm>
              <a:off x="2828" y="2663"/>
              <a:ext cx="128" cy="130"/>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8" name="Oval 143"/>
            <p:cNvSpPr>
              <a:spLocks noChangeArrowheads="1"/>
            </p:cNvSpPr>
            <p:nvPr/>
          </p:nvSpPr>
          <p:spPr bwMode="auto">
            <a:xfrm>
              <a:off x="3562" y="3401"/>
              <a:ext cx="49"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39" name="Oval 144"/>
            <p:cNvSpPr>
              <a:spLocks noChangeArrowheads="1"/>
            </p:cNvSpPr>
            <p:nvPr/>
          </p:nvSpPr>
          <p:spPr bwMode="auto">
            <a:xfrm>
              <a:off x="3661" y="3500"/>
              <a:ext cx="128" cy="129"/>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0" name="Oval 145"/>
            <p:cNvSpPr>
              <a:spLocks noChangeArrowheads="1"/>
            </p:cNvSpPr>
            <p:nvPr/>
          </p:nvSpPr>
          <p:spPr bwMode="auto">
            <a:xfrm>
              <a:off x="3291" y="3399"/>
              <a:ext cx="46" cy="48"/>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1" name="Oval 146"/>
            <p:cNvSpPr>
              <a:spLocks noChangeArrowheads="1"/>
            </p:cNvSpPr>
            <p:nvPr/>
          </p:nvSpPr>
          <p:spPr bwMode="auto">
            <a:xfrm>
              <a:off x="3388" y="3498"/>
              <a:ext cx="129"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2" name="Oval 147"/>
            <p:cNvSpPr>
              <a:spLocks noChangeArrowheads="1"/>
            </p:cNvSpPr>
            <p:nvPr/>
          </p:nvSpPr>
          <p:spPr bwMode="auto">
            <a:xfrm>
              <a:off x="3016" y="3397"/>
              <a:ext cx="46" cy="47"/>
            </a:xfrm>
            <a:prstGeom prst="ellipse">
              <a:avLst/>
            </a:prstGeom>
            <a:solidFill>
              <a:srgbClr val="9999FF"/>
            </a:solidFill>
            <a:ln w="63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3" name="Oval 148"/>
            <p:cNvSpPr>
              <a:spLocks noChangeArrowheads="1"/>
            </p:cNvSpPr>
            <p:nvPr/>
          </p:nvSpPr>
          <p:spPr bwMode="auto">
            <a:xfrm>
              <a:off x="3112" y="3494"/>
              <a:ext cx="130" cy="130"/>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4" name="Oval 149"/>
            <p:cNvSpPr>
              <a:spLocks noChangeArrowheads="1"/>
            </p:cNvSpPr>
            <p:nvPr/>
          </p:nvSpPr>
          <p:spPr bwMode="auto">
            <a:xfrm>
              <a:off x="2832" y="3498"/>
              <a:ext cx="129"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5" name="Oval 150"/>
            <p:cNvSpPr>
              <a:spLocks noChangeArrowheads="1"/>
            </p:cNvSpPr>
            <p:nvPr/>
          </p:nvSpPr>
          <p:spPr bwMode="auto">
            <a:xfrm>
              <a:off x="2832" y="2388"/>
              <a:ext cx="129" cy="129"/>
            </a:xfrm>
            <a:prstGeom prst="ellipse">
              <a:avLst/>
            </a:prstGeom>
            <a:solidFill>
              <a:srgbClr val="00DD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6" name="Oval 151"/>
            <p:cNvSpPr>
              <a:spLocks noChangeArrowheads="1"/>
            </p:cNvSpPr>
            <p:nvPr/>
          </p:nvSpPr>
          <p:spPr bwMode="auto">
            <a:xfrm>
              <a:off x="3107" y="2391"/>
              <a:ext cx="130"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7" name="Oval 152"/>
            <p:cNvSpPr>
              <a:spLocks noChangeArrowheads="1"/>
            </p:cNvSpPr>
            <p:nvPr/>
          </p:nvSpPr>
          <p:spPr bwMode="auto">
            <a:xfrm>
              <a:off x="3388" y="2386"/>
              <a:ext cx="129"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8" name="Oval 153"/>
            <p:cNvSpPr>
              <a:spLocks noChangeArrowheads="1"/>
            </p:cNvSpPr>
            <p:nvPr/>
          </p:nvSpPr>
          <p:spPr bwMode="auto">
            <a:xfrm>
              <a:off x="3663" y="2386"/>
              <a:ext cx="130"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49" name="Oval 154"/>
            <p:cNvSpPr>
              <a:spLocks noChangeArrowheads="1"/>
            </p:cNvSpPr>
            <p:nvPr/>
          </p:nvSpPr>
          <p:spPr bwMode="auto">
            <a:xfrm>
              <a:off x="3938" y="2386"/>
              <a:ext cx="130" cy="128"/>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50" name="Rectangle 155"/>
            <p:cNvSpPr>
              <a:spLocks noChangeArrowheads="1"/>
            </p:cNvSpPr>
            <p:nvPr/>
          </p:nvSpPr>
          <p:spPr bwMode="auto">
            <a:xfrm>
              <a:off x="1220" y="3643"/>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U</a:t>
              </a:r>
              <a:endParaRPr lang="en-US" altLang="zh-CN" sz="1800">
                <a:ea typeface="宋体" panose="02010600030101010101" pitchFamily="2" charset="-122"/>
              </a:endParaRPr>
            </a:p>
          </p:txBody>
        </p:sp>
        <p:sp>
          <p:nvSpPr>
            <p:cNvPr id="151" name="Rectangle 156"/>
            <p:cNvSpPr>
              <a:spLocks noChangeArrowheads="1"/>
            </p:cNvSpPr>
            <p:nvPr/>
          </p:nvSpPr>
          <p:spPr bwMode="auto">
            <a:xfrm>
              <a:off x="1308" y="3643"/>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n</a:t>
              </a:r>
              <a:endParaRPr lang="en-US" altLang="zh-CN" sz="1800">
                <a:ea typeface="宋体" panose="02010600030101010101" pitchFamily="2" charset="-122"/>
              </a:endParaRPr>
            </a:p>
          </p:txBody>
        </p:sp>
        <p:sp>
          <p:nvSpPr>
            <p:cNvPr id="152" name="Rectangle 157"/>
            <p:cNvSpPr>
              <a:spLocks noChangeArrowheads="1"/>
            </p:cNvSpPr>
            <p:nvPr/>
          </p:nvSpPr>
          <p:spPr bwMode="auto">
            <a:xfrm>
              <a:off x="1369" y="3643"/>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i</a:t>
              </a:r>
              <a:endParaRPr lang="en-US" altLang="zh-CN" sz="1800">
                <a:ea typeface="宋体" panose="02010600030101010101" pitchFamily="2" charset="-122"/>
              </a:endParaRPr>
            </a:p>
          </p:txBody>
        </p:sp>
        <p:sp>
          <p:nvSpPr>
            <p:cNvPr id="153" name="Rectangle 158"/>
            <p:cNvSpPr>
              <a:spLocks noChangeArrowheads="1"/>
            </p:cNvSpPr>
            <p:nvPr/>
          </p:nvSpPr>
          <p:spPr bwMode="auto">
            <a:xfrm>
              <a:off x="1403" y="3643"/>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t</a:t>
              </a:r>
              <a:endParaRPr lang="en-US" altLang="zh-CN" sz="1800">
                <a:ea typeface="宋体" panose="02010600030101010101" pitchFamily="2" charset="-122"/>
              </a:endParaRPr>
            </a:p>
          </p:txBody>
        </p:sp>
        <p:sp>
          <p:nvSpPr>
            <p:cNvPr id="154" name="Rectangle 159"/>
            <p:cNvSpPr>
              <a:spLocks noChangeArrowheads="1"/>
            </p:cNvSpPr>
            <p:nvPr/>
          </p:nvSpPr>
          <p:spPr bwMode="auto">
            <a:xfrm>
              <a:off x="1438" y="3643"/>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600">
                  <a:solidFill>
                    <a:srgbClr val="000000"/>
                  </a:solidFill>
                  <a:latin typeface="Times" panose="02020603050405020304" pitchFamily="18" charset="0"/>
                  <a:ea typeface="宋体" panose="02010600030101010101" pitchFamily="2" charset="-122"/>
                </a:rPr>
                <a:t> </a:t>
              </a:r>
              <a:endParaRPr lang="zh-CN" altLang="en-US" sz="1800">
                <a:ea typeface="宋体" panose="02010600030101010101" pitchFamily="2" charset="-122"/>
              </a:endParaRPr>
            </a:p>
          </p:txBody>
        </p:sp>
        <p:sp>
          <p:nvSpPr>
            <p:cNvPr id="155" name="Rectangle 160"/>
            <p:cNvSpPr>
              <a:spLocks noChangeArrowheads="1"/>
            </p:cNvSpPr>
            <p:nvPr/>
          </p:nvSpPr>
          <p:spPr bwMode="auto">
            <a:xfrm>
              <a:off x="1468" y="3643"/>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c</a:t>
              </a:r>
              <a:endParaRPr lang="en-US" altLang="zh-CN" sz="1800">
                <a:ea typeface="宋体" panose="02010600030101010101" pitchFamily="2" charset="-122"/>
              </a:endParaRPr>
            </a:p>
          </p:txBody>
        </p:sp>
        <p:sp>
          <p:nvSpPr>
            <p:cNvPr id="156" name="Rectangle 161"/>
            <p:cNvSpPr>
              <a:spLocks noChangeArrowheads="1"/>
            </p:cNvSpPr>
            <p:nvPr/>
          </p:nvSpPr>
          <p:spPr bwMode="auto">
            <a:xfrm>
              <a:off x="1522" y="3643"/>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e</a:t>
              </a:r>
              <a:endParaRPr lang="en-US" altLang="zh-CN" sz="1800">
                <a:ea typeface="宋体" panose="02010600030101010101" pitchFamily="2" charset="-122"/>
              </a:endParaRPr>
            </a:p>
          </p:txBody>
        </p:sp>
        <p:sp>
          <p:nvSpPr>
            <p:cNvPr id="157" name="Rectangle 162"/>
            <p:cNvSpPr>
              <a:spLocks noChangeArrowheads="1"/>
            </p:cNvSpPr>
            <p:nvPr/>
          </p:nvSpPr>
          <p:spPr bwMode="auto">
            <a:xfrm>
              <a:off x="1576" y="3643"/>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l</a:t>
              </a:r>
              <a:endParaRPr lang="en-US" altLang="zh-CN" sz="1800">
                <a:ea typeface="宋体" panose="02010600030101010101" pitchFamily="2" charset="-122"/>
              </a:endParaRPr>
            </a:p>
          </p:txBody>
        </p:sp>
        <p:sp>
          <p:nvSpPr>
            <p:cNvPr id="158" name="Rectangle 163"/>
            <p:cNvSpPr>
              <a:spLocks noChangeArrowheads="1"/>
            </p:cNvSpPr>
            <p:nvPr/>
          </p:nvSpPr>
          <p:spPr bwMode="auto">
            <a:xfrm>
              <a:off x="1610" y="3643"/>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l</a:t>
              </a:r>
              <a:endParaRPr lang="en-US" altLang="zh-CN" sz="1800">
                <a:ea typeface="宋体" panose="02010600030101010101" pitchFamily="2" charset="-122"/>
              </a:endParaRPr>
            </a:p>
          </p:txBody>
        </p:sp>
        <p:sp>
          <p:nvSpPr>
            <p:cNvPr id="159" name="Rectangle 164"/>
            <p:cNvSpPr>
              <a:spLocks noChangeArrowheads="1"/>
            </p:cNvSpPr>
            <p:nvPr/>
          </p:nvSpPr>
          <p:spPr bwMode="auto">
            <a:xfrm>
              <a:off x="3706" y="3687"/>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U</a:t>
              </a:r>
              <a:endParaRPr lang="en-US" altLang="zh-CN" sz="1800">
                <a:ea typeface="宋体" panose="02010600030101010101" pitchFamily="2" charset="-122"/>
              </a:endParaRPr>
            </a:p>
          </p:txBody>
        </p:sp>
        <p:sp>
          <p:nvSpPr>
            <p:cNvPr id="160" name="Rectangle 165"/>
            <p:cNvSpPr>
              <a:spLocks noChangeArrowheads="1"/>
            </p:cNvSpPr>
            <p:nvPr/>
          </p:nvSpPr>
          <p:spPr bwMode="auto">
            <a:xfrm>
              <a:off x="3794" y="3687"/>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n</a:t>
              </a:r>
              <a:endParaRPr lang="en-US" altLang="zh-CN" sz="1800">
                <a:ea typeface="宋体" panose="02010600030101010101" pitchFamily="2" charset="-122"/>
              </a:endParaRPr>
            </a:p>
          </p:txBody>
        </p:sp>
        <p:sp>
          <p:nvSpPr>
            <p:cNvPr id="161" name="Rectangle 166"/>
            <p:cNvSpPr>
              <a:spLocks noChangeArrowheads="1"/>
            </p:cNvSpPr>
            <p:nvPr/>
          </p:nvSpPr>
          <p:spPr bwMode="auto">
            <a:xfrm>
              <a:off x="3856" y="368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i</a:t>
              </a:r>
              <a:endParaRPr lang="en-US" altLang="zh-CN" sz="1800">
                <a:ea typeface="宋体" panose="02010600030101010101" pitchFamily="2" charset="-122"/>
              </a:endParaRPr>
            </a:p>
          </p:txBody>
        </p:sp>
        <p:sp>
          <p:nvSpPr>
            <p:cNvPr id="162" name="Rectangle 167"/>
            <p:cNvSpPr>
              <a:spLocks noChangeArrowheads="1"/>
            </p:cNvSpPr>
            <p:nvPr/>
          </p:nvSpPr>
          <p:spPr bwMode="auto">
            <a:xfrm>
              <a:off x="3890" y="368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t</a:t>
              </a:r>
              <a:endParaRPr lang="en-US" altLang="zh-CN" sz="1800">
                <a:ea typeface="宋体" panose="02010600030101010101" pitchFamily="2" charset="-122"/>
              </a:endParaRPr>
            </a:p>
          </p:txBody>
        </p:sp>
        <p:sp>
          <p:nvSpPr>
            <p:cNvPr id="163" name="Rectangle 168"/>
            <p:cNvSpPr>
              <a:spLocks noChangeArrowheads="1"/>
            </p:cNvSpPr>
            <p:nvPr/>
          </p:nvSpPr>
          <p:spPr bwMode="auto">
            <a:xfrm>
              <a:off x="3924" y="3687"/>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600">
                  <a:solidFill>
                    <a:srgbClr val="000000"/>
                  </a:solidFill>
                  <a:latin typeface="Times" panose="02020603050405020304" pitchFamily="18" charset="0"/>
                  <a:ea typeface="宋体" panose="02010600030101010101" pitchFamily="2" charset="-122"/>
                </a:rPr>
                <a:t> </a:t>
              </a:r>
              <a:endParaRPr lang="zh-CN" altLang="en-US" sz="1800">
                <a:ea typeface="宋体" panose="02010600030101010101" pitchFamily="2" charset="-122"/>
              </a:endParaRPr>
            </a:p>
          </p:txBody>
        </p:sp>
        <p:sp>
          <p:nvSpPr>
            <p:cNvPr id="164" name="Rectangle 169"/>
            <p:cNvSpPr>
              <a:spLocks noChangeArrowheads="1"/>
            </p:cNvSpPr>
            <p:nvPr/>
          </p:nvSpPr>
          <p:spPr bwMode="auto">
            <a:xfrm>
              <a:off x="3954" y="3687"/>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c</a:t>
              </a:r>
              <a:endParaRPr lang="en-US" altLang="zh-CN" sz="1800">
                <a:ea typeface="宋体" panose="02010600030101010101" pitchFamily="2" charset="-122"/>
              </a:endParaRPr>
            </a:p>
          </p:txBody>
        </p:sp>
        <p:sp>
          <p:nvSpPr>
            <p:cNvPr id="165" name="Rectangle 170"/>
            <p:cNvSpPr>
              <a:spLocks noChangeArrowheads="1"/>
            </p:cNvSpPr>
            <p:nvPr/>
          </p:nvSpPr>
          <p:spPr bwMode="auto">
            <a:xfrm>
              <a:off x="4008" y="3687"/>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e</a:t>
              </a:r>
              <a:endParaRPr lang="en-US" altLang="zh-CN" sz="1800">
                <a:ea typeface="宋体" panose="02010600030101010101" pitchFamily="2" charset="-122"/>
              </a:endParaRPr>
            </a:p>
          </p:txBody>
        </p:sp>
        <p:sp>
          <p:nvSpPr>
            <p:cNvPr id="166" name="Rectangle 171"/>
            <p:cNvSpPr>
              <a:spLocks noChangeArrowheads="1"/>
            </p:cNvSpPr>
            <p:nvPr/>
          </p:nvSpPr>
          <p:spPr bwMode="auto">
            <a:xfrm>
              <a:off x="4062" y="368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l</a:t>
              </a:r>
              <a:endParaRPr lang="en-US" altLang="zh-CN" sz="1800">
                <a:ea typeface="宋体" panose="02010600030101010101" pitchFamily="2" charset="-122"/>
              </a:endParaRPr>
            </a:p>
          </p:txBody>
        </p:sp>
        <p:sp>
          <p:nvSpPr>
            <p:cNvPr id="167" name="Rectangle 172"/>
            <p:cNvSpPr>
              <a:spLocks noChangeArrowheads="1"/>
            </p:cNvSpPr>
            <p:nvPr/>
          </p:nvSpPr>
          <p:spPr bwMode="auto">
            <a:xfrm>
              <a:off x="4097" y="368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a:solidFill>
                    <a:srgbClr val="000000"/>
                  </a:solidFill>
                  <a:latin typeface="Times" panose="02020603050405020304" pitchFamily="18" charset="0"/>
                  <a:ea typeface="宋体" panose="02010600030101010101" pitchFamily="2" charset="-122"/>
                </a:rPr>
                <a:t>l</a:t>
              </a:r>
              <a:endParaRPr lang="en-US" altLang="zh-CN" sz="1800">
                <a:ea typeface="宋体" panose="02010600030101010101" pitchFamily="2" charset="-122"/>
              </a:endParaRPr>
            </a:p>
          </p:txBody>
        </p:sp>
        <p:sp>
          <p:nvSpPr>
            <p:cNvPr id="168" name="Rectangle 173"/>
            <p:cNvSpPr>
              <a:spLocks noChangeArrowheads="1"/>
            </p:cNvSpPr>
            <p:nvPr/>
          </p:nvSpPr>
          <p:spPr bwMode="auto">
            <a:xfrm>
              <a:off x="1166" y="3399"/>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i="1">
                  <a:solidFill>
                    <a:srgbClr val="000000"/>
                  </a:solidFill>
                  <a:latin typeface="Times" panose="02020603050405020304" pitchFamily="18" charset="0"/>
                  <a:ea typeface="宋体" panose="02010600030101010101" pitchFamily="2" charset="-122"/>
                </a:rPr>
                <a:t>a</a:t>
              </a:r>
              <a:endParaRPr lang="en-US" altLang="zh-CN" sz="1800">
                <a:ea typeface="宋体" panose="02010600030101010101" pitchFamily="2" charset="-122"/>
              </a:endParaRPr>
            </a:p>
          </p:txBody>
        </p:sp>
        <p:sp>
          <p:nvSpPr>
            <p:cNvPr id="169" name="Rectangle 174"/>
            <p:cNvSpPr>
              <a:spLocks noChangeArrowheads="1"/>
            </p:cNvSpPr>
            <p:nvPr/>
          </p:nvSpPr>
          <p:spPr bwMode="auto">
            <a:xfrm>
              <a:off x="1403" y="3172"/>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600" i="1">
                  <a:solidFill>
                    <a:srgbClr val="000000"/>
                  </a:solidFill>
                  <a:latin typeface="Times" panose="02020603050405020304" pitchFamily="18" charset="0"/>
                  <a:ea typeface="宋体" panose="02010600030101010101" pitchFamily="2" charset="-122"/>
                </a:rPr>
                <a:t>a</a:t>
              </a:r>
              <a:endParaRPr lang="en-US" altLang="zh-CN" sz="1800">
                <a:ea typeface="宋体" panose="02010600030101010101" pitchFamily="2" charset="-122"/>
              </a:endParaRPr>
            </a:p>
          </p:txBody>
        </p:sp>
        <p:sp>
          <p:nvSpPr>
            <p:cNvPr id="170" name="Rectangle 175"/>
            <p:cNvSpPr>
              <a:spLocks noChangeArrowheads="1"/>
            </p:cNvSpPr>
            <p:nvPr/>
          </p:nvSpPr>
          <p:spPr bwMode="auto">
            <a:xfrm>
              <a:off x="928" y="3885"/>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sp>
          <p:nvSpPr>
            <p:cNvPr id="171" name="Rectangle 176"/>
            <p:cNvSpPr>
              <a:spLocks noChangeArrowheads="1"/>
            </p:cNvSpPr>
            <p:nvPr/>
          </p:nvSpPr>
          <p:spPr bwMode="auto">
            <a:xfrm>
              <a:off x="959" y="388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300" b="1">
                  <a:solidFill>
                    <a:srgbClr val="000000"/>
                  </a:solidFill>
                  <a:latin typeface="Helvetica" panose="020B0604020202020204" pitchFamily="34" charset="0"/>
                  <a:ea typeface="宋体" panose="02010600030101010101" pitchFamily="2" charset="-122"/>
                </a:rPr>
                <a:t>a</a:t>
              </a:r>
              <a:endParaRPr lang="en-US" altLang="zh-CN" sz="1800">
                <a:ea typeface="宋体" panose="02010600030101010101" pitchFamily="2" charset="-122"/>
              </a:endParaRPr>
            </a:p>
          </p:txBody>
        </p:sp>
        <p:sp>
          <p:nvSpPr>
            <p:cNvPr id="172" name="Rectangle 177"/>
            <p:cNvSpPr>
              <a:spLocks noChangeArrowheads="1"/>
            </p:cNvSpPr>
            <p:nvPr/>
          </p:nvSpPr>
          <p:spPr bwMode="auto">
            <a:xfrm>
              <a:off x="1011" y="3885"/>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sp>
          <p:nvSpPr>
            <p:cNvPr id="173" name="Rectangle 178"/>
            <p:cNvSpPr>
              <a:spLocks noChangeArrowheads="1"/>
            </p:cNvSpPr>
            <p:nvPr/>
          </p:nvSpPr>
          <p:spPr bwMode="auto">
            <a:xfrm>
              <a:off x="2091" y="3907"/>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sp>
          <p:nvSpPr>
            <p:cNvPr id="174" name="Rectangle 179"/>
            <p:cNvSpPr>
              <a:spLocks noChangeArrowheads="1"/>
            </p:cNvSpPr>
            <p:nvPr/>
          </p:nvSpPr>
          <p:spPr bwMode="auto">
            <a:xfrm>
              <a:off x="2121" y="3907"/>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300" b="1">
                  <a:solidFill>
                    <a:srgbClr val="000000"/>
                  </a:solidFill>
                  <a:latin typeface="Helvetica" panose="020B0604020202020204" pitchFamily="34" charset="0"/>
                  <a:ea typeface="宋体" panose="02010600030101010101" pitchFamily="2" charset="-122"/>
                </a:rPr>
                <a:t>b</a:t>
              </a:r>
              <a:endParaRPr lang="en-US" altLang="zh-CN" sz="1800">
                <a:ea typeface="宋体" panose="02010600030101010101" pitchFamily="2" charset="-122"/>
              </a:endParaRPr>
            </a:p>
          </p:txBody>
        </p:sp>
        <p:sp>
          <p:nvSpPr>
            <p:cNvPr id="175" name="Rectangle 180"/>
            <p:cNvSpPr>
              <a:spLocks noChangeArrowheads="1"/>
            </p:cNvSpPr>
            <p:nvPr/>
          </p:nvSpPr>
          <p:spPr bwMode="auto">
            <a:xfrm>
              <a:off x="2179" y="3907"/>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sp>
          <p:nvSpPr>
            <p:cNvPr id="176" name="Rectangle 181"/>
            <p:cNvSpPr>
              <a:spLocks noChangeArrowheads="1"/>
            </p:cNvSpPr>
            <p:nvPr/>
          </p:nvSpPr>
          <p:spPr bwMode="auto">
            <a:xfrm>
              <a:off x="3408" y="3896"/>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sp>
          <p:nvSpPr>
            <p:cNvPr id="177" name="Rectangle 182"/>
            <p:cNvSpPr>
              <a:spLocks noChangeArrowheads="1"/>
            </p:cNvSpPr>
            <p:nvPr/>
          </p:nvSpPr>
          <p:spPr bwMode="auto">
            <a:xfrm>
              <a:off x="3438" y="3896"/>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300" b="1">
                  <a:solidFill>
                    <a:srgbClr val="000000"/>
                  </a:solidFill>
                  <a:latin typeface="Helvetica" panose="020B0604020202020204" pitchFamily="34" charset="0"/>
                  <a:ea typeface="宋体" panose="02010600030101010101" pitchFamily="2" charset="-122"/>
                </a:rPr>
                <a:t>c</a:t>
              </a:r>
              <a:endParaRPr lang="en-US" altLang="zh-CN" sz="1800">
                <a:ea typeface="宋体" panose="02010600030101010101" pitchFamily="2" charset="-122"/>
              </a:endParaRPr>
            </a:p>
          </p:txBody>
        </p:sp>
        <p:sp>
          <p:nvSpPr>
            <p:cNvPr id="178" name="Rectangle 183"/>
            <p:cNvSpPr>
              <a:spLocks noChangeArrowheads="1"/>
            </p:cNvSpPr>
            <p:nvPr/>
          </p:nvSpPr>
          <p:spPr bwMode="auto">
            <a:xfrm>
              <a:off x="3490" y="3896"/>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grpSp>
      <p:grpSp>
        <p:nvGrpSpPr>
          <p:cNvPr id="183" name="Group 187"/>
          <p:cNvGrpSpPr>
            <a:grpSpLocks/>
          </p:cNvGrpSpPr>
          <p:nvPr/>
        </p:nvGrpSpPr>
        <p:grpSpPr bwMode="auto">
          <a:xfrm>
            <a:off x="6858000" y="2488241"/>
            <a:ext cx="1427163" cy="2041525"/>
            <a:chOff x="4717" y="2496"/>
            <a:chExt cx="899" cy="1286"/>
          </a:xfrm>
        </p:grpSpPr>
        <p:sp>
          <p:nvSpPr>
            <p:cNvPr id="184" name="Oval 188"/>
            <p:cNvSpPr>
              <a:spLocks noChangeArrowheads="1"/>
            </p:cNvSpPr>
            <p:nvPr/>
          </p:nvSpPr>
          <p:spPr bwMode="auto">
            <a:xfrm>
              <a:off x="4973" y="2856"/>
              <a:ext cx="52" cy="54"/>
            </a:xfrm>
            <a:prstGeom prst="ellipse">
              <a:avLst/>
            </a:prstGeom>
            <a:solidFill>
              <a:srgbClr val="9999FF"/>
            </a:solidFill>
            <a:ln w="7938">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85" name="Oval 189"/>
            <p:cNvSpPr>
              <a:spLocks noChangeArrowheads="1"/>
            </p:cNvSpPr>
            <p:nvPr/>
          </p:nvSpPr>
          <p:spPr bwMode="auto">
            <a:xfrm>
              <a:off x="4766" y="2664"/>
              <a:ext cx="142" cy="142"/>
            </a:xfrm>
            <a:prstGeom prst="ellipse">
              <a:avLst/>
            </a:prstGeom>
            <a:solidFill>
              <a:srgbClr val="00BB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86" name="Rectangle 190"/>
            <p:cNvSpPr>
              <a:spLocks noChangeArrowheads="1"/>
            </p:cNvSpPr>
            <p:nvPr/>
          </p:nvSpPr>
          <p:spPr bwMode="auto">
            <a:xfrm>
              <a:off x="4836" y="2718"/>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87" name="Rectangle 191"/>
            <p:cNvSpPr>
              <a:spLocks noChangeArrowheads="1"/>
            </p:cNvSpPr>
            <p:nvPr/>
          </p:nvSpPr>
          <p:spPr bwMode="auto">
            <a:xfrm>
              <a:off x="4877" y="2718"/>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88" name="Rectangle 192"/>
            <p:cNvSpPr>
              <a:spLocks noChangeArrowheads="1"/>
            </p:cNvSpPr>
            <p:nvPr/>
          </p:nvSpPr>
          <p:spPr bwMode="auto">
            <a:xfrm>
              <a:off x="4919" y="2718"/>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89" name="Rectangle 193"/>
            <p:cNvSpPr>
              <a:spLocks noChangeArrowheads="1"/>
            </p:cNvSpPr>
            <p:nvPr/>
          </p:nvSpPr>
          <p:spPr bwMode="auto">
            <a:xfrm>
              <a:off x="4960" y="2718"/>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0" name="Rectangle 194"/>
            <p:cNvSpPr>
              <a:spLocks noChangeArrowheads="1"/>
            </p:cNvSpPr>
            <p:nvPr/>
          </p:nvSpPr>
          <p:spPr bwMode="auto">
            <a:xfrm>
              <a:off x="5002" y="2718"/>
              <a:ext cx="1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1" name="Rectangle 195"/>
            <p:cNvSpPr>
              <a:spLocks noChangeArrowheads="1"/>
            </p:cNvSpPr>
            <p:nvPr/>
          </p:nvSpPr>
          <p:spPr bwMode="auto">
            <a:xfrm>
              <a:off x="5043" y="2718"/>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2" name="Rectangle 196"/>
            <p:cNvSpPr>
              <a:spLocks noChangeArrowheads="1"/>
            </p:cNvSpPr>
            <p:nvPr/>
          </p:nvSpPr>
          <p:spPr bwMode="auto">
            <a:xfrm>
              <a:off x="5084" y="2718"/>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3" name="Rectangle 197"/>
            <p:cNvSpPr>
              <a:spLocks noChangeArrowheads="1"/>
            </p:cNvSpPr>
            <p:nvPr/>
          </p:nvSpPr>
          <p:spPr bwMode="auto">
            <a:xfrm>
              <a:off x="5126" y="2718"/>
              <a:ext cx="1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4" name="Rectangle 198"/>
            <p:cNvSpPr>
              <a:spLocks noChangeArrowheads="1"/>
            </p:cNvSpPr>
            <p:nvPr/>
          </p:nvSpPr>
          <p:spPr bwMode="auto">
            <a:xfrm>
              <a:off x="5138" y="2723"/>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5" name="Freeform 199"/>
            <p:cNvSpPr>
              <a:spLocks/>
            </p:cNvSpPr>
            <p:nvPr/>
          </p:nvSpPr>
          <p:spPr bwMode="auto">
            <a:xfrm>
              <a:off x="5138" y="2718"/>
              <a:ext cx="11" cy="11"/>
            </a:xfrm>
            <a:custGeom>
              <a:avLst/>
              <a:gdLst>
                <a:gd name="T0" fmla="*/ 11 w 11"/>
                <a:gd name="T1" fmla="*/ 5 h 11"/>
                <a:gd name="T2" fmla="*/ 6 w 11"/>
                <a:gd name="T3" fmla="*/ 0 h 11"/>
                <a:gd name="T4" fmla="*/ 6 w 11"/>
                <a:gd name="T5" fmla="*/ 11 h 11"/>
                <a:gd name="T6" fmla="*/ 0 w 11"/>
                <a:gd name="T7" fmla="*/ 5 h 11"/>
                <a:gd name="T8" fmla="*/ 11 w 11"/>
                <a:gd name="T9" fmla="*/ 5 h 11"/>
                <a:gd name="T10" fmla="*/ 0 60000 65536"/>
                <a:gd name="T11" fmla="*/ 0 60000 65536"/>
                <a:gd name="T12" fmla="*/ 0 60000 65536"/>
                <a:gd name="T13" fmla="*/ 0 60000 65536"/>
                <a:gd name="T14" fmla="*/ 0 60000 65536"/>
                <a:gd name="T15" fmla="*/ 0 w 11"/>
                <a:gd name="T16" fmla="*/ 0 h 11"/>
                <a:gd name="T17" fmla="*/ 11 w 11"/>
                <a:gd name="T18" fmla="*/ 11 h 11"/>
              </a:gdLst>
              <a:ahLst/>
              <a:cxnLst>
                <a:cxn ang="T10">
                  <a:pos x="T0" y="T1"/>
                </a:cxn>
                <a:cxn ang="T11">
                  <a:pos x="T2" y="T3"/>
                </a:cxn>
                <a:cxn ang="T12">
                  <a:pos x="T4" y="T5"/>
                </a:cxn>
                <a:cxn ang="T13">
                  <a:pos x="T6" y="T7"/>
                </a:cxn>
                <a:cxn ang="T14">
                  <a:pos x="T8" y="T9"/>
                </a:cxn>
              </a:cxnLst>
              <a:rect l="T15" t="T16" r="T17" b="T18"/>
              <a:pathLst>
                <a:path w="11" h="11">
                  <a:moveTo>
                    <a:pt x="11" y="5"/>
                  </a:moveTo>
                  <a:lnTo>
                    <a:pt x="6" y="0"/>
                  </a:lnTo>
                  <a:lnTo>
                    <a:pt x="6" y="11"/>
                  </a:lnTo>
                  <a:lnTo>
                    <a:pt x="0" y="5"/>
                  </a:lnTo>
                  <a:lnTo>
                    <a:pt x="11"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6" name="Rectangle 200"/>
            <p:cNvSpPr>
              <a:spLocks noChangeArrowheads="1"/>
            </p:cNvSpPr>
            <p:nvPr/>
          </p:nvSpPr>
          <p:spPr bwMode="auto">
            <a:xfrm>
              <a:off x="5138" y="2746"/>
              <a:ext cx="11"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7" name="Rectangle 201"/>
            <p:cNvSpPr>
              <a:spLocks noChangeArrowheads="1"/>
            </p:cNvSpPr>
            <p:nvPr/>
          </p:nvSpPr>
          <p:spPr bwMode="auto">
            <a:xfrm>
              <a:off x="5138" y="2788"/>
              <a:ext cx="11"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8" name="Rectangle 202"/>
            <p:cNvSpPr>
              <a:spLocks noChangeArrowheads="1"/>
            </p:cNvSpPr>
            <p:nvPr/>
          </p:nvSpPr>
          <p:spPr bwMode="auto">
            <a:xfrm>
              <a:off x="5138" y="2829"/>
              <a:ext cx="11"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199" name="Rectangle 203"/>
            <p:cNvSpPr>
              <a:spLocks noChangeArrowheads="1"/>
            </p:cNvSpPr>
            <p:nvPr/>
          </p:nvSpPr>
          <p:spPr bwMode="auto">
            <a:xfrm>
              <a:off x="5138" y="2871"/>
              <a:ext cx="11" cy="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0" name="Rectangle 204"/>
            <p:cNvSpPr>
              <a:spLocks noChangeArrowheads="1"/>
            </p:cNvSpPr>
            <p:nvPr/>
          </p:nvSpPr>
          <p:spPr bwMode="auto">
            <a:xfrm>
              <a:off x="5138" y="2912"/>
              <a:ext cx="11" cy="2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1" name="Rectangle 205"/>
            <p:cNvSpPr>
              <a:spLocks noChangeArrowheads="1"/>
            </p:cNvSpPr>
            <p:nvPr/>
          </p:nvSpPr>
          <p:spPr bwMode="auto">
            <a:xfrm>
              <a:off x="5138" y="2953"/>
              <a:ext cx="11" cy="2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2" name="Rectangle 206"/>
            <p:cNvSpPr>
              <a:spLocks noChangeArrowheads="1"/>
            </p:cNvSpPr>
            <p:nvPr/>
          </p:nvSpPr>
          <p:spPr bwMode="auto">
            <a:xfrm>
              <a:off x="5138" y="2995"/>
              <a:ext cx="11" cy="2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3" name="Rectangle 207"/>
            <p:cNvSpPr>
              <a:spLocks noChangeArrowheads="1"/>
            </p:cNvSpPr>
            <p:nvPr/>
          </p:nvSpPr>
          <p:spPr bwMode="auto">
            <a:xfrm>
              <a:off x="5122" y="3031"/>
              <a:ext cx="2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4" name="Rectangle 208"/>
            <p:cNvSpPr>
              <a:spLocks noChangeArrowheads="1"/>
            </p:cNvSpPr>
            <p:nvPr/>
          </p:nvSpPr>
          <p:spPr bwMode="auto">
            <a:xfrm>
              <a:off x="5081" y="3031"/>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5" name="Rectangle 209"/>
            <p:cNvSpPr>
              <a:spLocks noChangeArrowheads="1"/>
            </p:cNvSpPr>
            <p:nvPr/>
          </p:nvSpPr>
          <p:spPr bwMode="auto">
            <a:xfrm>
              <a:off x="5039" y="3031"/>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6" name="Rectangle 210"/>
            <p:cNvSpPr>
              <a:spLocks noChangeArrowheads="1"/>
            </p:cNvSpPr>
            <p:nvPr/>
          </p:nvSpPr>
          <p:spPr bwMode="auto">
            <a:xfrm>
              <a:off x="4998" y="3031"/>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7" name="Rectangle 211"/>
            <p:cNvSpPr>
              <a:spLocks noChangeArrowheads="1"/>
            </p:cNvSpPr>
            <p:nvPr/>
          </p:nvSpPr>
          <p:spPr bwMode="auto">
            <a:xfrm>
              <a:off x="4957" y="3031"/>
              <a:ext cx="1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8" name="Rectangle 212"/>
            <p:cNvSpPr>
              <a:spLocks noChangeArrowheads="1"/>
            </p:cNvSpPr>
            <p:nvPr/>
          </p:nvSpPr>
          <p:spPr bwMode="auto">
            <a:xfrm>
              <a:off x="4915" y="3031"/>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9" name="Rectangle 213"/>
            <p:cNvSpPr>
              <a:spLocks noChangeArrowheads="1"/>
            </p:cNvSpPr>
            <p:nvPr/>
          </p:nvSpPr>
          <p:spPr bwMode="auto">
            <a:xfrm>
              <a:off x="4874" y="3031"/>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0" name="Rectangle 214"/>
            <p:cNvSpPr>
              <a:spLocks noChangeArrowheads="1"/>
            </p:cNvSpPr>
            <p:nvPr/>
          </p:nvSpPr>
          <p:spPr bwMode="auto">
            <a:xfrm>
              <a:off x="4836" y="3031"/>
              <a:ext cx="16"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1" name="Rectangle 215"/>
            <p:cNvSpPr>
              <a:spLocks noChangeArrowheads="1"/>
            </p:cNvSpPr>
            <p:nvPr/>
          </p:nvSpPr>
          <p:spPr bwMode="auto">
            <a:xfrm>
              <a:off x="4829" y="3033"/>
              <a:ext cx="1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2" name="Freeform 216"/>
            <p:cNvSpPr>
              <a:spLocks/>
            </p:cNvSpPr>
            <p:nvPr/>
          </p:nvSpPr>
          <p:spPr bwMode="auto">
            <a:xfrm>
              <a:off x="4829" y="3031"/>
              <a:ext cx="12" cy="11"/>
            </a:xfrm>
            <a:custGeom>
              <a:avLst/>
              <a:gdLst>
                <a:gd name="T0" fmla="*/ 0 w 12"/>
                <a:gd name="T1" fmla="*/ 5 h 11"/>
                <a:gd name="T2" fmla="*/ 7 w 12"/>
                <a:gd name="T3" fmla="*/ 11 h 11"/>
                <a:gd name="T4" fmla="*/ 7 w 12"/>
                <a:gd name="T5" fmla="*/ 0 h 11"/>
                <a:gd name="T6" fmla="*/ 12 w 12"/>
                <a:gd name="T7" fmla="*/ 5 h 11"/>
                <a:gd name="T8" fmla="*/ 0 w 12"/>
                <a:gd name="T9" fmla="*/ 5 h 11"/>
                <a:gd name="T10" fmla="*/ 0 60000 65536"/>
                <a:gd name="T11" fmla="*/ 0 60000 65536"/>
                <a:gd name="T12" fmla="*/ 0 60000 65536"/>
                <a:gd name="T13" fmla="*/ 0 60000 65536"/>
                <a:gd name="T14" fmla="*/ 0 60000 65536"/>
                <a:gd name="T15" fmla="*/ 0 w 12"/>
                <a:gd name="T16" fmla="*/ 0 h 11"/>
                <a:gd name="T17" fmla="*/ 12 w 12"/>
                <a:gd name="T18" fmla="*/ 11 h 11"/>
              </a:gdLst>
              <a:ahLst/>
              <a:cxnLst>
                <a:cxn ang="T10">
                  <a:pos x="T0" y="T1"/>
                </a:cxn>
                <a:cxn ang="T11">
                  <a:pos x="T2" y="T3"/>
                </a:cxn>
                <a:cxn ang="T12">
                  <a:pos x="T4" y="T5"/>
                </a:cxn>
                <a:cxn ang="T13">
                  <a:pos x="T6" y="T7"/>
                </a:cxn>
                <a:cxn ang="T14">
                  <a:pos x="T8" y="T9"/>
                </a:cxn>
              </a:cxnLst>
              <a:rect l="T15" t="T16" r="T17" b="T18"/>
              <a:pathLst>
                <a:path w="12" h="11">
                  <a:moveTo>
                    <a:pt x="0" y="5"/>
                  </a:moveTo>
                  <a:lnTo>
                    <a:pt x="7" y="11"/>
                  </a:lnTo>
                  <a:lnTo>
                    <a:pt x="7" y="0"/>
                  </a:lnTo>
                  <a:lnTo>
                    <a:pt x="12" y="5"/>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3" name="Rectangle 217"/>
            <p:cNvSpPr>
              <a:spLocks noChangeArrowheads="1"/>
            </p:cNvSpPr>
            <p:nvPr/>
          </p:nvSpPr>
          <p:spPr bwMode="auto">
            <a:xfrm>
              <a:off x="4829" y="2991"/>
              <a:ext cx="12"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4" name="Rectangle 218"/>
            <p:cNvSpPr>
              <a:spLocks noChangeArrowheads="1"/>
            </p:cNvSpPr>
            <p:nvPr/>
          </p:nvSpPr>
          <p:spPr bwMode="auto">
            <a:xfrm>
              <a:off x="4829" y="2950"/>
              <a:ext cx="12"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5" name="Rectangle 219"/>
            <p:cNvSpPr>
              <a:spLocks noChangeArrowheads="1"/>
            </p:cNvSpPr>
            <p:nvPr/>
          </p:nvSpPr>
          <p:spPr bwMode="auto">
            <a:xfrm>
              <a:off x="4829" y="2908"/>
              <a:ext cx="12"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6" name="Rectangle 220"/>
            <p:cNvSpPr>
              <a:spLocks noChangeArrowheads="1"/>
            </p:cNvSpPr>
            <p:nvPr/>
          </p:nvSpPr>
          <p:spPr bwMode="auto">
            <a:xfrm>
              <a:off x="4829" y="2867"/>
              <a:ext cx="12"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7" name="Rectangle 221"/>
            <p:cNvSpPr>
              <a:spLocks noChangeArrowheads="1"/>
            </p:cNvSpPr>
            <p:nvPr/>
          </p:nvSpPr>
          <p:spPr bwMode="auto">
            <a:xfrm>
              <a:off x="4829" y="2826"/>
              <a:ext cx="12" cy="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8" name="Rectangle 222"/>
            <p:cNvSpPr>
              <a:spLocks noChangeArrowheads="1"/>
            </p:cNvSpPr>
            <p:nvPr/>
          </p:nvSpPr>
          <p:spPr bwMode="auto">
            <a:xfrm>
              <a:off x="4829" y="2784"/>
              <a:ext cx="12"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19" name="Rectangle 223"/>
            <p:cNvSpPr>
              <a:spLocks noChangeArrowheads="1"/>
            </p:cNvSpPr>
            <p:nvPr/>
          </p:nvSpPr>
          <p:spPr bwMode="auto">
            <a:xfrm>
              <a:off x="4829" y="2743"/>
              <a:ext cx="12" cy="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20" name="Freeform 224"/>
            <p:cNvSpPr>
              <a:spLocks/>
            </p:cNvSpPr>
            <p:nvPr/>
          </p:nvSpPr>
          <p:spPr bwMode="auto">
            <a:xfrm>
              <a:off x="5241" y="2694"/>
              <a:ext cx="63" cy="45"/>
            </a:xfrm>
            <a:custGeom>
              <a:avLst/>
              <a:gdLst>
                <a:gd name="T0" fmla="*/ 63 w 63"/>
                <a:gd name="T1" fmla="*/ 24 h 45"/>
                <a:gd name="T2" fmla="*/ 0 w 63"/>
                <a:gd name="T3" fmla="*/ 45 h 45"/>
                <a:gd name="T4" fmla="*/ 30 w 63"/>
                <a:gd name="T5" fmla="*/ 24 h 45"/>
                <a:gd name="T6" fmla="*/ 0 w 63"/>
                <a:gd name="T7" fmla="*/ 0 h 45"/>
                <a:gd name="T8" fmla="*/ 63 w 63"/>
                <a:gd name="T9" fmla="*/ 24 h 45"/>
                <a:gd name="T10" fmla="*/ 0 60000 65536"/>
                <a:gd name="T11" fmla="*/ 0 60000 65536"/>
                <a:gd name="T12" fmla="*/ 0 60000 65536"/>
                <a:gd name="T13" fmla="*/ 0 60000 65536"/>
                <a:gd name="T14" fmla="*/ 0 60000 65536"/>
                <a:gd name="T15" fmla="*/ 0 w 63"/>
                <a:gd name="T16" fmla="*/ 0 h 45"/>
                <a:gd name="T17" fmla="*/ 63 w 63"/>
                <a:gd name="T18" fmla="*/ 45 h 45"/>
              </a:gdLst>
              <a:ahLst/>
              <a:cxnLst>
                <a:cxn ang="T10">
                  <a:pos x="T0" y="T1"/>
                </a:cxn>
                <a:cxn ang="T11">
                  <a:pos x="T2" y="T3"/>
                </a:cxn>
                <a:cxn ang="T12">
                  <a:pos x="T4" y="T5"/>
                </a:cxn>
                <a:cxn ang="T13">
                  <a:pos x="T6" y="T7"/>
                </a:cxn>
                <a:cxn ang="T14">
                  <a:pos x="T8" y="T9"/>
                </a:cxn>
              </a:cxnLst>
              <a:rect l="T15" t="T16" r="T17" b="T18"/>
              <a:pathLst>
                <a:path w="63" h="45">
                  <a:moveTo>
                    <a:pt x="63" y="24"/>
                  </a:moveTo>
                  <a:lnTo>
                    <a:pt x="0" y="45"/>
                  </a:lnTo>
                  <a:lnTo>
                    <a:pt x="30" y="24"/>
                  </a:lnTo>
                  <a:lnTo>
                    <a:pt x="0" y="0"/>
                  </a:lnTo>
                  <a:lnTo>
                    <a:pt x="63"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1" name="Line 225"/>
            <p:cNvSpPr>
              <a:spLocks noChangeShapeType="1"/>
            </p:cNvSpPr>
            <p:nvPr/>
          </p:nvSpPr>
          <p:spPr bwMode="auto">
            <a:xfrm>
              <a:off x="5137" y="2716"/>
              <a:ext cx="134"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 name="Freeform 226"/>
            <p:cNvSpPr>
              <a:spLocks/>
            </p:cNvSpPr>
            <p:nvPr/>
          </p:nvSpPr>
          <p:spPr bwMode="auto">
            <a:xfrm>
              <a:off x="4816" y="3157"/>
              <a:ext cx="45" cy="63"/>
            </a:xfrm>
            <a:custGeom>
              <a:avLst/>
              <a:gdLst>
                <a:gd name="T0" fmla="*/ 24 w 45"/>
                <a:gd name="T1" fmla="*/ 63 h 63"/>
                <a:gd name="T2" fmla="*/ 0 w 45"/>
                <a:gd name="T3" fmla="*/ 0 h 63"/>
                <a:gd name="T4" fmla="*/ 22 w 45"/>
                <a:gd name="T5" fmla="*/ 30 h 63"/>
                <a:gd name="T6" fmla="*/ 45 w 45"/>
                <a:gd name="T7" fmla="*/ 0 h 63"/>
                <a:gd name="T8" fmla="*/ 24 w 45"/>
                <a:gd name="T9" fmla="*/ 63 h 63"/>
                <a:gd name="T10" fmla="*/ 0 60000 65536"/>
                <a:gd name="T11" fmla="*/ 0 60000 65536"/>
                <a:gd name="T12" fmla="*/ 0 60000 65536"/>
                <a:gd name="T13" fmla="*/ 0 60000 65536"/>
                <a:gd name="T14" fmla="*/ 0 60000 65536"/>
                <a:gd name="T15" fmla="*/ 0 w 45"/>
                <a:gd name="T16" fmla="*/ 0 h 63"/>
                <a:gd name="T17" fmla="*/ 45 w 45"/>
                <a:gd name="T18" fmla="*/ 63 h 63"/>
              </a:gdLst>
              <a:ahLst/>
              <a:cxnLst>
                <a:cxn ang="T10">
                  <a:pos x="T0" y="T1"/>
                </a:cxn>
                <a:cxn ang="T11">
                  <a:pos x="T2" y="T3"/>
                </a:cxn>
                <a:cxn ang="T12">
                  <a:pos x="T4" y="T5"/>
                </a:cxn>
                <a:cxn ang="T13">
                  <a:pos x="T6" y="T7"/>
                </a:cxn>
                <a:cxn ang="T14">
                  <a:pos x="T8" y="T9"/>
                </a:cxn>
              </a:cxnLst>
              <a:rect l="T15" t="T16" r="T17" b="T18"/>
              <a:pathLst>
                <a:path w="45" h="63">
                  <a:moveTo>
                    <a:pt x="24" y="63"/>
                  </a:moveTo>
                  <a:lnTo>
                    <a:pt x="0" y="0"/>
                  </a:lnTo>
                  <a:lnTo>
                    <a:pt x="22" y="30"/>
                  </a:lnTo>
                  <a:lnTo>
                    <a:pt x="45" y="0"/>
                  </a:lnTo>
                  <a:lnTo>
                    <a:pt x="24"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3" name="Line 227"/>
            <p:cNvSpPr>
              <a:spLocks noChangeShapeType="1"/>
            </p:cNvSpPr>
            <p:nvPr/>
          </p:nvSpPr>
          <p:spPr bwMode="auto">
            <a:xfrm>
              <a:off x="4838" y="3036"/>
              <a:ext cx="1" cy="15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 name="Rectangle 228"/>
            <p:cNvSpPr>
              <a:spLocks noChangeArrowheads="1"/>
            </p:cNvSpPr>
            <p:nvPr/>
          </p:nvSpPr>
          <p:spPr bwMode="auto">
            <a:xfrm>
              <a:off x="4811" y="3197"/>
              <a:ext cx="6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700" i="1">
                  <a:solidFill>
                    <a:srgbClr val="000000"/>
                  </a:solidFill>
                  <a:latin typeface="Times" panose="02020603050405020304" pitchFamily="18" charset="0"/>
                  <a:ea typeface="宋体" panose="02010600030101010101" pitchFamily="2" charset="-122"/>
                </a:rPr>
                <a:t>x</a:t>
              </a:r>
              <a:endParaRPr lang="en-US" altLang="zh-CN" sz="1800">
                <a:ea typeface="宋体" panose="02010600030101010101" pitchFamily="2" charset="-122"/>
              </a:endParaRPr>
            </a:p>
          </p:txBody>
        </p:sp>
        <p:sp>
          <p:nvSpPr>
            <p:cNvPr id="225" name="Rectangle 229"/>
            <p:cNvSpPr>
              <a:spLocks noChangeArrowheads="1"/>
            </p:cNvSpPr>
            <p:nvPr/>
          </p:nvSpPr>
          <p:spPr bwMode="auto">
            <a:xfrm>
              <a:off x="5311" y="2628"/>
              <a:ext cx="6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700" i="1">
                  <a:solidFill>
                    <a:srgbClr val="000000"/>
                  </a:solidFill>
                  <a:latin typeface="Times" panose="02020603050405020304" pitchFamily="18" charset="0"/>
                  <a:ea typeface="宋体" panose="02010600030101010101" pitchFamily="2" charset="-122"/>
                </a:rPr>
                <a:t>y</a:t>
              </a:r>
              <a:endParaRPr lang="en-US" altLang="zh-CN" sz="1800">
                <a:ea typeface="宋体" panose="02010600030101010101" pitchFamily="2" charset="-122"/>
              </a:endParaRPr>
            </a:p>
          </p:txBody>
        </p:sp>
        <p:sp>
          <p:nvSpPr>
            <p:cNvPr id="226" name="Rectangle 230"/>
            <p:cNvSpPr>
              <a:spLocks noChangeArrowheads="1"/>
            </p:cNvSpPr>
            <p:nvPr/>
          </p:nvSpPr>
          <p:spPr bwMode="auto">
            <a:xfrm>
              <a:off x="4717" y="2496"/>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4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27" name="Rectangle 231"/>
            <p:cNvSpPr>
              <a:spLocks noChangeArrowheads="1"/>
            </p:cNvSpPr>
            <p:nvPr/>
          </p:nvSpPr>
          <p:spPr bwMode="auto">
            <a:xfrm>
              <a:off x="4755" y="249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400">
                  <a:solidFill>
                    <a:srgbClr val="000000"/>
                  </a:solidFill>
                  <a:latin typeface="Times" panose="02020603050405020304" pitchFamily="18" charset="0"/>
                  <a:ea typeface="宋体" panose="02010600030101010101" pitchFamily="2" charset="-122"/>
                </a:rPr>
                <a:t>0</a:t>
              </a:r>
              <a:endParaRPr lang="zh-CN" altLang="en-US" sz="1800">
                <a:ea typeface="宋体" panose="02010600030101010101" pitchFamily="2" charset="-122"/>
              </a:endParaRPr>
            </a:p>
          </p:txBody>
        </p:sp>
        <p:sp>
          <p:nvSpPr>
            <p:cNvPr id="228" name="Rectangle 232"/>
            <p:cNvSpPr>
              <a:spLocks noChangeArrowheads="1"/>
            </p:cNvSpPr>
            <p:nvPr/>
          </p:nvSpPr>
          <p:spPr bwMode="auto">
            <a:xfrm>
              <a:off x="4811" y="2496"/>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4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29" name="Rectangle 233"/>
            <p:cNvSpPr>
              <a:spLocks noChangeArrowheads="1"/>
            </p:cNvSpPr>
            <p:nvPr/>
          </p:nvSpPr>
          <p:spPr bwMode="auto">
            <a:xfrm>
              <a:off x="4838" y="249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400">
                  <a:solidFill>
                    <a:srgbClr val="000000"/>
                  </a:solidFill>
                  <a:latin typeface="Times" panose="02020603050405020304" pitchFamily="18" charset="0"/>
                  <a:ea typeface="宋体" panose="02010600030101010101" pitchFamily="2" charset="-122"/>
                </a:rPr>
                <a:t>0</a:t>
              </a:r>
              <a:endParaRPr lang="zh-CN" altLang="en-US" sz="1800">
                <a:ea typeface="宋体" panose="02010600030101010101" pitchFamily="2" charset="-122"/>
              </a:endParaRPr>
            </a:p>
          </p:txBody>
        </p:sp>
        <p:sp>
          <p:nvSpPr>
            <p:cNvPr id="230" name="Rectangle 234"/>
            <p:cNvSpPr>
              <a:spLocks noChangeArrowheads="1"/>
            </p:cNvSpPr>
            <p:nvPr/>
          </p:nvSpPr>
          <p:spPr bwMode="auto">
            <a:xfrm>
              <a:off x="4894" y="2496"/>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4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31" name="Rectangle 235"/>
            <p:cNvSpPr>
              <a:spLocks noChangeArrowheads="1"/>
            </p:cNvSpPr>
            <p:nvPr/>
          </p:nvSpPr>
          <p:spPr bwMode="auto">
            <a:xfrm>
              <a:off x="5268" y="2856"/>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32" name="Rectangle 236"/>
            <p:cNvSpPr>
              <a:spLocks noChangeArrowheads="1"/>
            </p:cNvSpPr>
            <p:nvPr/>
          </p:nvSpPr>
          <p:spPr bwMode="auto">
            <a:xfrm>
              <a:off x="5300" y="285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1</a:t>
              </a:r>
              <a:endParaRPr lang="zh-CN" altLang="en-US" sz="1800">
                <a:ea typeface="宋体" panose="02010600030101010101" pitchFamily="2" charset="-122"/>
              </a:endParaRPr>
            </a:p>
          </p:txBody>
        </p:sp>
        <p:sp>
          <p:nvSpPr>
            <p:cNvPr id="233" name="Rectangle 237"/>
            <p:cNvSpPr>
              <a:spLocks noChangeArrowheads="1"/>
            </p:cNvSpPr>
            <p:nvPr/>
          </p:nvSpPr>
          <p:spPr bwMode="auto">
            <a:xfrm>
              <a:off x="5351" y="2856"/>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34" name="Rectangle 238"/>
            <p:cNvSpPr>
              <a:spLocks noChangeArrowheads="1"/>
            </p:cNvSpPr>
            <p:nvPr/>
          </p:nvSpPr>
          <p:spPr bwMode="auto">
            <a:xfrm>
              <a:off x="5378" y="285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2</a:t>
              </a:r>
              <a:endParaRPr lang="zh-CN" altLang="en-US" sz="1800">
                <a:ea typeface="宋体" panose="02010600030101010101" pitchFamily="2" charset="-122"/>
              </a:endParaRPr>
            </a:p>
          </p:txBody>
        </p:sp>
        <p:sp>
          <p:nvSpPr>
            <p:cNvPr id="235" name="Rectangle 239"/>
            <p:cNvSpPr>
              <a:spLocks noChangeArrowheads="1"/>
            </p:cNvSpPr>
            <p:nvPr/>
          </p:nvSpPr>
          <p:spPr bwMode="auto">
            <a:xfrm>
              <a:off x="5428" y="2856"/>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36" name="Rectangle 240"/>
            <p:cNvSpPr>
              <a:spLocks noChangeArrowheads="1"/>
            </p:cNvSpPr>
            <p:nvPr/>
          </p:nvSpPr>
          <p:spPr bwMode="auto">
            <a:xfrm>
              <a:off x="5453" y="285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1</a:t>
              </a:r>
              <a:endParaRPr lang="zh-CN" altLang="en-US" sz="1800">
                <a:ea typeface="宋体" panose="02010600030101010101" pitchFamily="2" charset="-122"/>
              </a:endParaRPr>
            </a:p>
          </p:txBody>
        </p:sp>
        <p:sp>
          <p:nvSpPr>
            <p:cNvPr id="237" name="Rectangle 241"/>
            <p:cNvSpPr>
              <a:spLocks noChangeArrowheads="1"/>
            </p:cNvSpPr>
            <p:nvPr/>
          </p:nvSpPr>
          <p:spPr bwMode="auto">
            <a:xfrm>
              <a:off x="5504" y="2856"/>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38" name="Rectangle 242"/>
            <p:cNvSpPr>
              <a:spLocks noChangeArrowheads="1"/>
            </p:cNvSpPr>
            <p:nvPr/>
          </p:nvSpPr>
          <p:spPr bwMode="auto">
            <a:xfrm>
              <a:off x="5531" y="285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2</a:t>
              </a:r>
              <a:endParaRPr lang="zh-CN" altLang="en-US" sz="1800">
                <a:ea typeface="宋体" panose="02010600030101010101" pitchFamily="2" charset="-122"/>
              </a:endParaRPr>
            </a:p>
          </p:txBody>
        </p:sp>
        <p:sp>
          <p:nvSpPr>
            <p:cNvPr id="239" name="Rectangle 243"/>
            <p:cNvSpPr>
              <a:spLocks noChangeArrowheads="1"/>
            </p:cNvSpPr>
            <p:nvPr/>
          </p:nvSpPr>
          <p:spPr bwMode="auto">
            <a:xfrm>
              <a:off x="5581" y="2856"/>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300">
                  <a:solidFill>
                    <a:srgbClr val="000000"/>
                  </a:solidFill>
                  <a:latin typeface="Times" panose="02020603050405020304" pitchFamily="18" charset="0"/>
                  <a:ea typeface="宋体" panose="02010600030101010101" pitchFamily="2" charset="-122"/>
                </a:rPr>
                <a:t>)</a:t>
              </a:r>
              <a:endParaRPr lang="zh-CN" altLang="en-US" sz="1800">
                <a:ea typeface="宋体" panose="02010600030101010101" pitchFamily="2" charset="-122"/>
              </a:endParaRPr>
            </a:p>
          </p:txBody>
        </p:sp>
        <p:sp>
          <p:nvSpPr>
            <p:cNvPr id="240" name="Line 244"/>
            <p:cNvSpPr>
              <a:spLocks noChangeShapeType="1"/>
            </p:cNvSpPr>
            <p:nvPr/>
          </p:nvSpPr>
          <p:spPr bwMode="auto">
            <a:xfrm>
              <a:off x="5018" y="2887"/>
              <a:ext cx="234" cy="63"/>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 name="Rectangle 245"/>
            <p:cNvSpPr>
              <a:spLocks noChangeArrowheads="1"/>
            </p:cNvSpPr>
            <p:nvPr/>
          </p:nvSpPr>
          <p:spPr bwMode="auto">
            <a:xfrm>
              <a:off x="4944" y="3648"/>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4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sp>
          <p:nvSpPr>
            <p:cNvPr id="242" name="Rectangle 246"/>
            <p:cNvSpPr>
              <a:spLocks noChangeArrowheads="1"/>
            </p:cNvSpPr>
            <p:nvPr/>
          </p:nvSpPr>
          <p:spPr bwMode="auto">
            <a:xfrm>
              <a:off x="4992" y="364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zh-CN" sz="1400" b="1">
                  <a:solidFill>
                    <a:srgbClr val="000000"/>
                  </a:solidFill>
                  <a:latin typeface="Helvetica" panose="020B0604020202020204" pitchFamily="34" charset="0"/>
                  <a:ea typeface="宋体" panose="02010600030101010101" pitchFamily="2" charset="-122"/>
                </a:rPr>
                <a:t>d</a:t>
              </a:r>
              <a:endParaRPr lang="en-US" altLang="zh-CN" sz="1800">
                <a:ea typeface="宋体" panose="02010600030101010101" pitchFamily="2" charset="-122"/>
              </a:endParaRPr>
            </a:p>
          </p:txBody>
        </p:sp>
        <p:sp>
          <p:nvSpPr>
            <p:cNvPr id="243" name="Rectangle 247"/>
            <p:cNvSpPr>
              <a:spLocks noChangeArrowheads="1"/>
            </p:cNvSpPr>
            <p:nvPr/>
          </p:nvSpPr>
          <p:spPr bwMode="auto">
            <a:xfrm>
              <a:off x="5073" y="3648"/>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zh-CN" altLang="en-US" sz="1400" b="1">
                  <a:solidFill>
                    <a:srgbClr val="000000"/>
                  </a:solidFill>
                  <a:latin typeface="Helvetica" panose="020B0604020202020204" pitchFamily="34" charset="0"/>
                  <a:ea typeface="宋体" panose="02010600030101010101" pitchFamily="2" charset="-122"/>
                </a:rPr>
                <a:t>)</a:t>
              </a:r>
              <a:endParaRPr lang="zh-CN" altLang="en-US" sz="1800">
                <a:ea typeface="宋体" panose="02010600030101010101" pitchFamily="2" charset="-122"/>
              </a:endParaRPr>
            </a:p>
          </p:txBody>
        </p:sp>
      </p:grpSp>
      <p:sp>
        <p:nvSpPr>
          <p:cNvPr id="244" name="Text Box 251"/>
          <p:cNvSpPr txBox="1">
            <a:spLocks noChangeArrowheads="1"/>
          </p:cNvSpPr>
          <p:nvPr/>
        </p:nvSpPr>
        <p:spPr bwMode="auto">
          <a:xfrm>
            <a:off x="223838" y="476879"/>
            <a:ext cx="8615362"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ts val="1500"/>
              </a:lnSpc>
              <a:spcBef>
                <a:spcPct val="50000"/>
              </a:spcBef>
              <a:buClrTx/>
              <a:buSzTx/>
              <a:buFontTx/>
              <a:buNone/>
            </a:pPr>
            <a:r>
              <a:rPr lang="zh-CN" altLang="en-US" sz="2000" b="1" dirty="0">
                <a:ea typeface="宋体" panose="02010600030101010101" pitchFamily="2" charset="-122"/>
              </a:rPr>
              <a:t>这种具有三维周期性的空间格子称为晶格或布拉伐格子（</a:t>
            </a:r>
            <a:r>
              <a:rPr lang="en-US" altLang="zh-CN" sz="2000" b="1" dirty="0">
                <a:ea typeface="宋体" panose="02010600030101010101" pitchFamily="2" charset="-122"/>
              </a:rPr>
              <a:t>Lattice）</a:t>
            </a:r>
          </a:p>
          <a:p>
            <a:pPr>
              <a:lnSpc>
                <a:spcPts val="1500"/>
              </a:lnSpc>
              <a:spcBef>
                <a:spcPct val="50000"/>
              </a:spcBef>
              <a:buClrTx/>
              <a:buSzTx/>
              <a:buFontTx/>
              <a:buNone/>
            </a:pPr>
            <a:r>
              <a:rPr lang="en-US" altLang="zh-CN" sz="2000" b="1" dirty="0">
                <a:ea typeface="宋体" panose="02010600030101010101" pitchFamily="2" charset="-122"/>
              </a:rPr>
              <a:t>n</a:t>
            </a:r>
            <a:r>
              <a:rPr lang="en-US" altLang="zh-CN" sz="2000" b="1" baseline="-25000" dirty="0">
                <a:ea typeface="宋体" panose="02010600030101010101" pitchFamily="2" charset="-122"/>
              </a:rPr>
              <a:t>1</a:t>
            </a:r>
            <a:r>
              <a:rPr lang="en-US" altLang="zh-CN" sz="2000" b="1" dirty="0">
                <a:ea typeface="宋体" panose="02010600030101010101" pitchFamily="2" charset="-122"/>
              </a:rPr>
              <a:t>,n</a:t>
            </a:r>
            <a:r>
              <a:rPr lang="en-US" altLang="zh-CN" sz="2000" b="1" baseline="-25000" dirty="0">
                <a:ea typeface="宋体" panose="02010600030101010101" pitchFamily="2" charset="-122"/>
              </a:rPr>
              <a:t>2</a:t>
            </a:r>
            <a:r>
              <a:rPr lang="en-US" altLang="zh-CN" sz="2000" b="1" dirty="0">
                <a:ea typeface="宋体" panose="02010600030101010101" pitchFamily="2" charset="-122"/>
              </a:rPr>
              <a:t>,n</a:t>
            </a:r>
            <a:r>
              <a:rPr lang="en-US" altLang="zh-CN" sz="2000" b="1" baseline="-25000" dirty="0">
                <a:ea typeface="宋体" panose="02010600030101010101" pitchFamily="2" charset="-122"/>
              </a:rPr>
              <a:t>3</a:t>
            </a:r>
            <a:r>
              <a:rPr lang="zh-CN" altLang="en-US" sz="2000" b="1" dirty="0">
                <a:ea typeface="宋体" panose="02010600030101010101" pitchFamily="2" charset="-122"/>
              </a:rPr>
              <a:t>为三个不共面的矢量，称为布拉维格子的</a:t>
            </a:r>
            <a:r>
              <a:rPr kumimoji="1" lang="zh-CN" altLang="en-US" sz="2000" b="1" dirty="0">
                <a:latin typeface="Times New Roman" panose="02020603050405020304" pitchFamily="18" charset="0"/>
                <a:ea typeface="宋体" panose="02010600030101010101" pitchFamily="2" charset="-122"/>
              </a:rPr>
              <a:t>基矢(</a:t>
            </a:r>
            <a:r>
              <a:rPr kumimoji="1" lang="en-US" altLang="zh-CN" sz="2000" b="1" dirty="0">
                <a:latin typeface="Times New Roman" panose="02020603050405020304" pitchFamily="18" charset="0"/>
                <a:ea typeface="宋体" panose="02010600030101010101" pitchFamily="2" charset="-122"/>
              </a:rPr>
              <a:t>Primitive Vector)。</a:t>
            </a:r>
          </a:p>
          <a:p>
            <a:pPr>
              <a:lnSpc>
                <a:spcPts val="1500"/>
              </a:lnSpc>
              <a:spcBef>
                <a:spcPct val="50000"/>
              </a:spcBef>
              <a:buClrTx/>
              <a:buSzTx/>
              <a:buFontTx/>
              <a:buNone/>
            </a:pPr>
            <a:r>
              <a:rPr lang="zh-CN" altLang="en-US" sz="2000" b="1" dirty="0">
                <a:ea typeface="宋体" panose="02010600030101010101" pitchFamily="2" charset="-122"/>
              </a:rPr>
              <a:t>某一格点的最近邻格点数目称为该布拉维格子的配位数。</a:t>
            </a:r>
            <a:endParaRPr lang="en-US" altLang="zh-CN" sz="2000" b="1" dirty="0">
              <a:ea typeface="宋体" panose="02010600030101010101" pitchFamily="2" charset="-122"/>
            </a:endParaRPr>
          </a:p>
          <a:p>
            <a:pPr>
              <a:spcBef>
                <a:spcPct val="50000"/>
              </a:spcBef>
              <a:buClrTx/>
              <a:buSzTx/>
              <a:buFontTx/>
              <a:buNone/>
            </a:pPr>
            <a:endParaRPr lang="en-US" altLang="zh-CN" sz="2000" b="1" dirty="0">
              <a:ea typeface="宋体" panose="02010600030101010101" pitchFamily="2" charset="-122"/>
            </a:endParaRPr>
          </a:p>
        </p:txBody>
      </p:sp>
      <p:sp>
        <p:nvSpPr>
          <p:cNvPr id="245" name="Text Box 694"/>
          <p:cNvSpPr txBox="1">
            <a:spLocks noChangeArrowheads="1"/>
          </p:cNvSpPr>
          <p:nvPr/>
        </p:nvSpPr>
        <p:spPr bwMode="auto">
          <a:xfrm>
            <a:off x="607218" y="5541003"/>
            <a:ext cx="807095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ClrTx/>
              <a:buSzTx/>
              <a:buFontTx/>
              <a:buNone/>
            </a:pPr>
            <a:r>
              <a:rPr lang="zh-CN" altLang="en-US" sz="2000" b="1" dirty="0">
                <a:ea typeface="宋体" panose="02010600030101010101" pitchFamily="2" charset="-122"/>
              </a:rPr>
              <a:t>基元中包含一个原子或离子，则称为简单格子；包含两个以上原子或离子，则称为复式格子。</a:t>
            </a:r>
          </a:p>
        </p:txBody>
      </p:sp>
    </p:spTree>
    <p:extLst>
      <p:ext uri="{BB962C8B-B14F-4D97-AF65-F5344CB8AC3E}">
        <p14:creationId xmlns:p14="http://schemas.microsoft.com/office/powerpoint/2010/main" val="791770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a:t>
            </a:fld>
            <a:endParaRPr lang="zh-CN" altLang="en-US"/>
          </a:p>
        </p:txBody>
      </p:sp>
      <p:sp>
        <p:nvSpPr>
          <p:cNvPr id="3" name="矩形 2"/>
          <p:cNvSpPr/>
          <p:nvPr/>
        </p:nvSpPr>
        <p:spPr>
          <a:xfrm>
            <a:off x="421912" y="494105"/>
            <a:ext cx="2888932"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2</a:t>
            </a:r>
            <a:r>
              <a:rPr kumimoji="1" lang="zh-CN" altLang="en-US" sz="2800" b="1" dirty="0">
                <a:solidFill>
                  <a:srgbClr val="D96227"/>
                </a:solidFill>
                <a:latin typeface="Times New Roman" pitchFamily="18" charset="0"/>
                <a:ea typeface="宋体" pitchFamily="2" charset="-122"/>
                <a:cs typeface="Times New Roman" pitchFamily="18" charset="0"/>
              </a:rPr>
              <a:t>、晶体的对称性</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Rectangle 439"/>
          <p:cNvSpPr>
            <a:spLocks noChangeArrowheads="1"/>
          </p:cNvSpPr>
          <p:nvPr/>
        </p:nvSpPr>
        <p:spPr bwMode="auto">
          <a:xfrm>
            <a:off x="380999" y="1447800"/>
            <a:ext cx="7865853"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20000"/>
              </a:lnSpc>
              <a:spcBef>
                <a:spcPct val="50000"/>
              </a:spcBef>
              <a:buClrTx/>
              <a:buSzTx/>
              <a:buFontTx/>
              <a:buNone/>
            </a:pPr>
            <a:r>
              <a:rPr kumimoji="1" lang="zh-CN" altLang="en-US" sz="2400" b="1" dirty="0">
                <a:latin typeface="Times New Roman" panose="02020603050405020304" pitchFamily="18" charset="0"/>
                <a:ea typeface="宋体" panose="02010600030101010101" pitchFamily="2" charset="-122"/>
              </a:rPr>
              <a:t>构成晶体的最小重复单元，称为原胞（</a:t>
            </a:r>
            <a:r>
              <a:rPr kumimoji="1" lang="en-US" altLang="zh-CN" sz="2400" b="1" dirty="0">
                <a:latin typeface="Times New Roman" panose="02020603050405020304" pitchFamily="18" charset="0"/>
                <a:ea typeface="宋体" panose="02010600030101010101" pitchFamily="2" charset="-122"/>
              </a:rPr>
              <a:t>Primitive Cell）。</a:t>
            </a:r>
          </a:p>
        </p:txBody>
      </p:sp>
      <p:sp>
        <p:nvSpPr>
          <p:cNvPr id="5" name="Text Box 1027"/>
          <p:cNvSpPr txBox="1">
            <a:spLocks noChangeArrowheads="1"/>
          </p:cNvSpPr>
          <p:nvPr/>
        </p:nvSpPr>
        <p:spPr bwMode="auto">
          <a:xfrm>
            <a:off x="380999" y="2197013"/>
            <a:ext cx="83058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indent="0">
              <a:spcBef>
                <a:spcPct val="50000"/>
              </a:spcBef>
              <a:buClrTx/>
              <a:buSzTx/>
              <a:buNone/>
            </a:pPr>
            <a:r>
              <a:rPr kumimoji="1" lang="zh-CN" altLang="en-US" sz="2400" b="1" dirty="0">
                <a:latin typeface="Times New Roman" panose="02020603050405020304" pitchFamily="18" charset="0"/>
                <a:ea typeface="宋体" panose="02010600030101010101" pitchFamily="2" charset="-122"/>
              </a:rPr>
              <a:t>晶体除了具有周期性外，另一个主要的特征是其对称性。不同的晶体可能具有不同的对称性。</a:t>
            </a:r>
          </a:p>
          <a:p>
            <a:pPr marL="0" indent="0">
              <a:spcBef>
                <a:spcPct val="50000"/>
              </a:spcBef>
              <a:buClrTx/>
              <a:buSzTx/>
              <a:buNone/>
            </a:pPr>
            <a:r>
              <a:rPr kumimoji="1" lang="zh-CN" altLang="en-US" sz="2400" b="1" dirty="0">
                <a:latin typeface="Times New Roman" panose="02020603050405020304" pitchFamily="18" charset="0"/>
                <a:ea typeface="宋体" panose="02010600030101010101" pitchFamily="2" charset="-122"/>
              </a:rPr>
              <a:t>单胞：习惯用三个基矢构成的平行六面体作为周期性排列的单元，称为单胞（</a:t>
            </a:r>
            <a:r>
              <a:rPr kumimoji="1" lang="en-US" altLang="zh-CN" sz="2400" b="1" dirty="0">
                <a:latin typeface="Times New Roman" panose="02020603050405020304" pitchFamily="18" charset="0"/>
                <a:ea typeface="宋体" panose="02010600030101010101" pitchFamily="2" charset="-122"/>
              </a:rPr>
              <a:t>Unit Cell）。</a:t>
            </a:r>
            <a:r>
              <a:rPr kumimoji="1" lang="zh-CN" altLang="en-US" sz="2400" b="1" dirty="0">
                <a:latin typeface="Times New Roman" panose="02020603050405020304" pitchFamily="18" charset="0"/>
                <a:ea typeface="宋体" panose="02010600030101010101" pitchFamily="2" charset="-122"/>
              </a:rPr>
              <a:t>单胞的体积可能与原胞相同，也可能不同。单胞的边长称为晶格常数。</a:t>
            </a:r>
          </a:p>
        </p:txBody>
      </p:sp>
      <p:sp>
        <p:nvSpPr>
          <p:cNvPr id="6" name="Text Box 854"/>
          <p:cNvSpPr txBox="1">
            <a:spLocks noChangeArrowheads="1"/>
          </p:cNvSpPr>
          <p:nvPr/>
        </p:nvSpPr>
        <p:spPr bwMode="auto">
          <a:xfrm>
            <a:off x="421911" y="4577153"/>
            <a:ext cx="8264887" cy="93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20000"/>
              </a:lnSpc>
              <a:spcBef>
                <a:spcPct val="50000"/>
              </a:spcBef>
              <a:buClrTx/>
              <a:buSzTx/>
              <a:buFontTx/>
              <a:buNone/>
            </a:pPr>
            <a:r>
              <a:rPr kumimoji="1" lang="zh-CN" altLang="en-US" sz="2400" b="1" dirty="0">
                <a:latin typeface="Times New Roman" panose="02020603050405020304" pitchFamily="18" charset="0"/>
                <a:ea typeface="宋体" panose="02010600030101010101" pitchFamily="2" charset="-122"/>
              </a:rPr>
              <a:t>根据单胞的对称性，可将晶格类型划分成7个晶系14种布拉伐格子，相应的单胞如图所示</a:t>
            </a:r>
          </a:p>
        </p:txBody>
      </p:sp>
    </p:spTree>
    <p:extLst>
      <p:ext uri="{BB962C8B-B14F-4D97-AF65-F5344CB8AC3E}">
        <p14:creationId xmlns:p14="http://schemas.microsoft.com/office/powerpoint/2010/main" val="626275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Si</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属于哪种晶体结构</a:t>
            </a: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简单立方</a:t>
            </a: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面心立方</a:t>
            </a: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体心立方</a:t>
            </a: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简单单斜</a:t>
            </a: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Group 517"/>
          <p:cNvGrpSpPr>
            <a:grpSpLocks/>
          </p:cNvGrpSpPr>
          <p:nvPr/>
        </p:nvGrpSpPr>
        <p:grpSpPr bwMode="auto">
          <a:xfrm>
            <a:off x="5029200" y="2203093"/>
            <a:ext cx="2725738" cy="2620962"/>
            <a:chOff x="2850" y="1625"/>
            <a:chExt cx="1717" cy="1651"/>
          </a:xfrm>
        </p:grpSpPr>
        <p:sp>
          <p:nvSpPr>
            <p:cNvPr id="21" name="Rectangle 518"/>
            <p:cNvSpPr>
              <a:spLocks noChangeArrowheads="1"/>
            </p:cNvSpPr>
            <p:nvPr/>
          </p:nvSpPr>
          <p:spPr bwMode="auto">
            <a:xfrm>
              <a:off x="3360" y="1718"/>
              <a:ext cx="1117" cy="1153"/>
            </a:xfrm>
            <a:prstGeom prst="rect">
              <a:avLst/>
            </a:prstGeom>
            <a:noFill/>
            <a:ln w="23813">
              <a:solidFill>
                <a:srgbClr val="000000"/>
              </a:solidFill>
              <a:miter lim="800000"/>
              <a:headEnd/>
              <a:tailEnd/>
            </a:ln>
          </p:spPr>
          <p:txBody>
            <a:bodyPr/>
            <a:lstStyle/>
            <a:p>
              <a:endParaRPr lang="zh-CN" altLang="en-US">
                <a:ea typeface="宋体" pitchFamily="2" charset="-122"/>
              </a:endParaRPr>
            </a:p>
          </p:txBody>
        </p:sp>
        <p:sp>
          <p:nvSpPr>
            <p:cNvPr id="22" name="Freeform 519"/>
            <p:cNvSpPr>
              <a:spLocks/>
            </p:cNvSpPr>
            <p:nvPr/>
          </p:nvSpPr>
          <p:spPr bwMode="auto">
            <a:xfrm>
              <a:off x="2938" y="1711"/>
              <a:ext cx="415" cy="1495"/>
            </a:xfrm>
            <a:custGeom>
              <a:avLst/>
              <a:gdLst>
                <a:gd name="T0" fmla="*/ 415 w 415"/>
                <a:gd name="T1" fmla="*/ 0 h 1495"/>
                <a:gd name="T2" fmla="*/ 0 w 415"/>
                <a:gd name="T3" fmla="*/ 330 h 1495"/>
                <a:gd name="T4" fmla="*/ 0 w 415"/>
                <a:gd name="T5" fmla="*/ 1495 h 1495"/>
                <a:gd name="T6" fmla="*/ 415 w 415"/>
                <a:gd name="T7" fmla="*/ 1167 h 1495"/>
                <a:gd name="T8" fmla="*/ 415 w 415"/>
                <a:gd name="T9" fmla="*/ 0 h 1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5" h="1495">
                  <a:moveTo>
                    <a:pt x="415" y="0"/>
                  </a:moveTo>
                  <a:lnTo>
                    <a:pt x="0" y="330"/>
                  </a:lnTo>
                  <a:lnTo>
                    <a:pt x="0" y="1495"/>
                  </a:lnTo>
                  <a:lnTo>
                    <a:pt x="415" y="1167"/>
                  </a:lnTo>
                  <a:lnTo>
                    <a:pt x="415" y="0"/>
                  </a:lnTo>
                </a:path>
              </a:pathLst>
            </a:custGeom>
            <a:noFill/>
            <a:ln w="23813">
              <a:solidFill>
                <a:srgbClr val="000000"/>
              </a:solidFill>
              <a:prstDash val="solid"/>
              <a:round/>
              <a:headEnd/>
              <a:tailEnd/>
            </a:ln>
          </p:spPr>
          <p:txBody>
            <a:bodyPr/>
            <a:lstStyle/>
            <a:p>
              <a:endParaRPr lang="zh-CN" altLang="en-US"/>
            </a:p>
          </p:txBody>
        </p:sp>
        <p:sp>
          <p:nvSpPr>
            <p:cNvPr id="23" name="Freeform 520"/>
            <p:cNvSpPr>
              <a:spLocks/>
            </p:cNvSpPr>
            <p:nvPr/>
          </p:nvSpPr>
          <p:spPr bwMode="auto">
            <a:xfrm>
              <a:off x="2938" y="2878"/>
              <a:ext cx="1546" cy="328"/>
            </a:xfrm>
            <a:custGeom>
              <a:avLst/>
              <a:gdLst>
                <a:gd name="T0" fmla="*/ 415 w 1546"/>
                <a:gd name="T1" fmla="*/ 0 h 328"/>
                <a:gd name="T2" fmla="*/ 1546 w 1546"/>
                <a:gd name="T3" fmla="*/ 0 h 328"/>
                <a:gd name="T4" fmla="*/ 1130 w 1546"/>
                <a:gd name="T5" fmla="*/ 328 h 328"/>
                <a:gd name="T6" fmla="*/ 0 w 1546"/>
                <a:gd name="T7" fmla="*/ 328 h 328"/>
                <a:gd name="T8" fmla="*/ 415 w 1546"/>
                <a:gd name="T9" fmla="*/ 0 h 3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6" h="328">
                  <a:moveTo>
                    <a:pt x="415" y="0"/>
                  </a:moveTo>
                  <a:lnTo>
                    <a:pt x="1546" y="0"/>
                  </a:lnTo>
                  <a:lnTo>
                    <a:pt x="1130" y="328"/>
                  </a:lnTo>
                  <a:lnTo>
                    <a:pt x="0" y="328"/>
                  </a:lnTo>
                  <a:lnTo>
                    <a:pt x="415" y="0"/>
                  </a:lnTo>
                </a:path>
              </a:pathLst>
            </a:custGeom>
            <a:noFill/>
            <a:ln w="23813">
              <a:solidFill>
                <a:srgbClr val="000000"/>
              </a:solidFill>
              <a:prstDash val="solid"/>
              <a:round/>
              <a:headEnd/>
              <a:tailEnd/>
            </a:ln>
          </p:spPr>
          <p:txBody>
            <a:bodyPr/>
            <a:lstStyle/>
            <a:p>
              <a:endParaRPr lang="zh-CN" altLang="en-US"/>
            </a:p>
          </p:txBody>
        </p:sp>
        <p:sp>
          <p:nvSpPr>
            <p:cNvPr id="24" name="Freeform 521"/>
            <p:cNvSpPr>
              <a:spLocks/>
            </p:cNvSpPr>
            <p:nvPr/>
          </p:nvSpPr>
          <p:spPr bwMode="auto">
            <a:xfrm>
              <a:off x="2938" y="1711"/>
              <a:ext cx="1546" cy="330"/>
            </a:xfrm>
            <a:custGeom>
              <a:avLst/>
              <a:gdLst>
                <a:gd name="T0" fmla="*/ 415 w 1546"/>
                <a:gd name="T1" fmla="*/ 0 h 330"/>
                <a:gd name="T2" fmla="*/ 1546 w 1546"/>
                <a:gd name="T3" fmla="*/ 0 h 330"/>
                <a:gd name="T4" fmla="*/ 1130 w 1546"/>
                <a:gd name="T5" fmla="*/ 330 h 330"/>
                <a:gd name="T6" fmla="*/ 0 w 1546"/>
                <a:gd name="T7" fmla="*/ 330 h 330"/>
                <a:gd name="T8" fmla="*/ 415 w 1546"/>
                <a:gd name="T9" fmla="*/ 0 h 3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6" h="330">
                  <a:moveTo>
                    <a:pt x="415" y="0"/>
                  </a:moveTo>
                  <a:lnTo>
                    <a:pt x="1546" y="0"/>
                  </a:lnTo>
                  <a:lnTo>
                    <a:pt x="1130" y="330"/>
                  </a:lnTo>
                  <a:lnTo>
                    <a:pt x="0" y="330"/>
                  </a:lnTo>
                  <a:lnTo>
                    <a:pt x="415" y="0"/>
                  </a:lnTo>
                </a:path>
              </a:pathLst>
            </a:custGeom>
            <a:noFill/>
            <a:ln w="23813">
              <a:solidFill>
                <a:srgbClr val="000000"/>
              </a:solidFill>
              <a:prstDash val="solid"/>
              <a:round/>
              <a:headEnd/>
              <a:tailEnd/>
            </a:ln>
          </p:spPr>
          <p:txBody>
            <a:bodyPr/>
            <a:lstStyle/>
            <a:p>
              <a:endParaRPr lang="zh-CN" altLang="en-US"/>
            </a:p>
          </p:txBody>
        </p:sp>
        <p:sp>
          <p:nvSpPr>
            <p:cNvPr id="25" name="Freeform 522"/>
            <p:cNvSpPr>
              <a:spLocks/>
            </p:cNvSpPr>
            <p:nvPr/>
          </p:nvSpPr>
          <p:spPr bwMode="auto">
            <a:xfrm>
              <a:off x="4068" y="1711"/>
              <a:ext cx="416" cy="1495"/>
            </a:xfrm>
            <a:custGeom>
              <a:avLst/>
              <a:gdLst>
                <a:gd name="T0" fmla="*/ 416 w 416"/>
                <a:gd name="T1" fmla="*/ 0 h 1495"/>
                <a:gd name="T2" fmla="*/ 0 w 416"/>
                <a:gd name="T3" fmla="*/ 330 h 1495"/>
                <a:gd name="T4" fmla="*/ 0 w 416"/>
                <a:gd name="T5" fmla="*/ 1495 h 1495"/>
                <a:gd name="T6" fmla="*/ 416 w 416"/>
                <a:gd name="T7" fmla="*/ 1167 h 1495"/>
                <a:gd name="T8" fmla="*/ 416 w 416"/>
                <a:gd name="T9" fmla="*/ 0 h 1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6" h="1495">
                  <a:moveTo>
                    <a:pt x="416" y="0"/>
                  </a:moveTo>
                  <a:lnTo>
                    <a:pt x="0" y="330"/>
                  </a:lnTo>
                  <a:lnTo>
                    <a:pt x="0" y="1495"/>
                  </a:lnTo>
                  <a:lnTo>
                    <a:pt x="416" y="1167"/>
                  </a:lnTo>
                  <a:lnTo>
                    <a:pt x="416" y="0"/>
                  </a:lnTo>
                </a:path>
              </a:pathLst>
            </a:custGeom>
            <a:noFill/>
            <a:ln w="23813">
              <a:solidFill>
                <a:srgbClr val="000000"/>
              </a:solidFill>
              <a:prstDash val="solid"/>
              <a:round/>
              <a:headEnd/>
              <a:tailEnd/>
            </a:ln>
          </p:spPr>
          <p:txBody>
            <a:bodyPr/>
            <a:lstStyle/>
            <a:p>
              <a:endParaRPr lang="zh-CN" altLang="en-US"/>
            </a:p>
          </p:txBody>
        </p:sp>
        <p:sp>
          <p:nvSpPr>
            <p:cNvPr id="26" name="Rectangle 523"/>
            <p:cNvSpPr>
              <a:spLocks noChangeArrowheads="1"/>
            </p:cNvSpPr>
            <p:nvPr/>
          </p:nvSpPr>
          <p:spPr bwMode="auto">
            <a:xfrm>
              <a:off x="2945" y="2048"/>
              <a:ext cx="1116" cy="1151"/>
            </a:xfrm>
            <a:prstGeom prst="rect">
              <a:avLst/>
            </a:prstGeom>
            <a:noFill/>
            <a:ln w="23813">
              <a:solidFill>
                <a:srgbClr val="000000"/>
              </a:solidFill>
              <a:miter lim="800000"/>
              <a:headEnd/>
              <a:tailEnd/>
            </a:ln>
          </p:spPr>
          <p:txBody>
            <a:bodyPr/>
            <a:lstStyle/>
            <a:p>
              <a:endParaRPr lang="zh-CN" altLang="en-US">
                <a:ea typeface="宋体" pitchFamily="2" charset="-122"/>
              </a:endParaRPr>
            </a:p>
          </p:txBody>
        </p:sp>
        <p:sp>
          <p:nvSpPr>
            <p:cNvPr id="27" name="Oval 524"/>
            <p:cNvSpPr>
              <a:spLocks noChangeArrowheads="1"/>
            </p:cNvSpPr>
            <p:nvPr/>
          </p:nvSpPr>
          <p:spPr bwMode="auto">
            <a:xfrm>
              <a:off x="3274" y="2779"/>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28" name="Oval 525"/>
            <p:cNvSpPr>
              <a:spLocks noChangeArrowheads="1"/>
            </p:cNvSpPr>
            <p:nvPr/>
          </p:nvSpPr>
          <p:spPr bwMode="auto">
            <a:xfrm>
              <a:off x="3278" y="2783"/>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29" name="Oval 526"/>
            <p:cNvSpPr>
              <a:spLocks noChangeArrowheads="1"/>
            </p:cNvSpPr>
            <p:nvPr/>
          </p:nvSpPr>
          <p:spPr bwMode="auto">
            <a:xfrm>
              <a:off x="4200" y="2331"/>
              <a:ext cx="188"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30" name="Oval 527"/>
            <p:cNvSpPr>
              <a:spLocks noChangeArrowheads="1"/>
            </p:cNvSpPr>
            <p:nvPr/>
          </p:nvSpPr>
          <p:spPr bwMode="auto">
            <a:xfrm>
              <a:off x="4204" y="2335"/>
              <a:ext cx="180"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31" name="Oval 528"/>
            <p:cNvSpPr>
              <a:spLocks noChangeArrowheads="1"/>
            </p:cNvSpPr>
            <p:nvPr/>
          </p:nvSpPr>
          <p:spPr bwMode="auto">
            <a:xfrm>
              <a:off x="3795" y="2208"/>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32" name="Oval 529"/>
            <p:cNvSpPr>
              <a:spLocks noChangeArrowheads="1"/>
            </p:cNvSpPr>
            <p:nvPr/>
          </p:nvSpPr>
          <p:spPr bwMode="auto">
            <a:xfrm>
              <a:off x="3797" y="2210"/>
              <a:ext cx="186" cy="186"/>
            </a:xfrm>
            <a:prstGeom prst="ellipse">
              <a:avLst/>
            </a:prstGeom>
            <a:noFill/>
            <a:ln w="6350">
              <a:solidFill>
                <a:srgbClr val="000000"/>
              </a:solidFill>
              <a:round/>
              <a:headEnd/>
              <a:tailEnd/>
            </a:ln>
          </p:spPr>
          <p:txBody>
            <a:bodyPr/>
            <a:lstStyle/>
            <a:p>
              <a:endParaRPr lang="zh-CN" altLang="en-US">
                <a:ea typeface="宋体" pitchFamily="2" charset="-122"/>
              </a:endParaRPr>
            </a:p>
          </p:txBody>
        </p:sp>
        <p:sp>
          <p:nvSpPr>
            <p:cNvPr id="33" name="Oval 530"/>
            <p:cNvSpPr>
              <a:spLocks noChangeArrowheads="1"/>
            </p:cNvSpPr>
            <p:nvPr/>
          </p:nvSpPr>
          <p:spPr bwMode="auto">
            <a:xfrm>
              <a:off x="3253" y="1625"/>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34" name="Oval 531"/>
            <p:cNvSpPr>
              <a:spLocks noChangeArrowheads="1"/>
            </p:cNvSpPr>
            <p:nvPr/>
          </p:nvSpPr>
          <p:spPr bwMode="auto">
            <a:xfrm>
              <a:off x="3257" y="1629"/>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35" name="Oval 532"/>
            <p:cNvSpPr>
              <a:spLocks noChangeArrowheads="1"/>
            </p:cNvSpPr>
            <p:nvPr/>
          </p:nvSpPr>
          <p:spPr bwMode="auto">
            <a:xfrm>
              <a:off x="3848" y="2263"/>
              <a:ext cx="22" cy="21"/>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36" name="Oval 533"/>
            <p:cNvSpPr>
              <a:spLocks noChangeArrowheads="1"/>
            </p:cNvSpPr>
            <p:nvPr/>
          </p:nvSpPr>
          <p:spPr bwMode="auto">
            <a:xfrm>
              <a:off x="3849" y="2264"/>
              <a:ext cx="20" cy="19"/>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37" name="Freeform 534"/>
            <p:cNvSpPr>
              <a:spLocks/>
            </p:cNvSpPr>
            <p:nvPr/>
          </p:nvSpPr>
          <p:spPr bwMode="auto">
            <a:xfrm>
              <a:off x="3592" y="2103"/>
              <a:ext cx="261" cy="181"/>
            </a:xfrm>
            <a:custGeom>
              <a:avLst/>
              <a:gdLst>
                <a:gd name="T0" fmla="*/ 30 w 261"/>
                <a:gd name="T1" fmla="*/ 0 h 181"/>
                <a:gd name="T2" fmla="*/ 261 w 261"/>
                <a:gd name="T3" fmla="*/ 154 h 181"/>
                <a:gd name="T4" fmla="*/ 256 w 261"/>
                <a:gd name="T5" fmla="*/ 181 h 181"/>
                <a:gd name="T6" fmla="*/ 0 w 261"/>
                <a:gd name="T7" fmla="*/ 41 h 181"/>
                <a:gd name="T8" fmla="*/ 30 w 261"/>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1" h="181">
                  <a:moveTo>
                    <a:pt x="30" y="0"/>
                  </a:moveTo>
                  <a:lnTo>
                    <a:pt x="261" y="154"/>
                  </a:lnTo>
                  <a:lnTo>
                    <a:pt x="256" y="181"/>
                  </a:lnTo>
                  <a:lnTo>
                    <a:pt x="0" y="41"/>
                  </a:lnTo>
                  <a:lnTo>
                    <a:pt x="30" y="0"/>
                  </a:lnTo>
                  <a:close/>
                </a:path>
              </a:pathLst>
            </a:custGeom>
            <a:solidFill>
              <a:srgbClr val="EE0000"/>
            </a:solidFill>
            <a:ln w="9525">
              <a:noFill/>
              <a:round/>
              <a:headEnd/>
              <a:tailEnd/>
            </a:ln>
          </p:spPr>
          <p:txBody>
            <a:bodyPr/>
            <a:lstStyle/>
            <a:p>
              <a:endParaRPr lang="zh-CN" altLang="en-US"/>
            </a:p>
          </p:txBody>
        </p:sp>
        <p:sp>
          <p:nvSpPr>
            <p:cNvPr id="38" name="Freeform 535"/>
            <p:cNvSpPr>
              <a:spLocks/>
            </p:cNvSpPr>
            <p:nvPr/>
          </p:nvSpPr>
          <p:spPr bwMode="auto">
            <a:xfrm>
              <a:off x="3592" y="2103"/>
              <a:ext cx="261" cy="181"/>
            </a:xfrm>
            <a:custGeom>
              <a:avLst/>
              <a:gdLst>
                <a:gd name="T0" fmla="*/ 30 w 261"/>
                <a:gd name="T1" fmla="*/ 0 h 181"/>
                <a:gd name="T2" fmla="*/ 261 w 261"/>
                <a:gd name="T3" fmla="*/ 154 h 181"/>
                <a:gd name="T4" fmla="*/ 256 w 261"/>
                <a:gd name="T5" fmla="*/ 181 h 181"/>
                <a:gd name="T6" fmla="*/ 0 w 261"/>
                <a:gd name="T7" fmla="*/ 41 h 181"/>
                <a:gd name="T8" fmla="*/ 30 w 261"/>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1" h="181">
                  <a:moveTo>
                    <a:pt x="30" y="0"/>
                  </a:moveTo>
                  <a:lnTo>
                    <a:pt x="261" y="154"/>
                  </a:lnTo>
                  <a:lnTo>
                    <a:pt x="256" y="181"/>
                  </a:lnTo>
                  <a:lnTo>
                    <a:pt x="0" y="41"/>
                  </a:lnTo>
                  <a:lnTo>
                    <a:pt x="30" y="0"/>
                  </a:lnTo>
                </a:path>
              </a:pathLst>
            </a:custGeom>
            <a:noFill/>
            <a:ln w="3175">
              <a:solidFill>
                <a:srgbClr val="EE0000"/>
              </a:solidFill>
              <a:prstDash val="solid"/>
              <a:round/>
              <a:headEnd/>
              <a:tailEnd/>
            </a:ln>
          </p:spPr>
          <p:txBody>
            <a:bodyPr/>
            <a:lstStyle/>
            <a:p>
              <a:endParaRPr lang="zh-CN" altLang="en-US"/>
            </a:p>
          </p:txBody>
        </p:sp>
        <p:sp>
          <p:nvSpPr>
            <p:cNvPr id="39" name="Oval 536"/>
            <p:cNvSpPr>
              <a:spLocks noChangeArrowheads="1"/>
            </p:cNvSpPr>
            <p:nvPr/>
          </p:nvSpPr>
          <p:spPr bwMode="auto">
            <a:xfrm>
              <a:off x="3428" y="1977"/>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40" name="Oval 537"/>
            <p:cNvSpPr>
              <a:spLocks noChangeArrowheads="1"/>
            </p:cNvSpPr>
            <p:nvPr/>
          </p:nvSpPr>
          <p:spPr bwMode="auto">
            <a:xfrm>
              <a:off x="3432" y="1981"/>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41" name="Freeform 538"/>
            <p:cNvSpPr>
              <a:spLocks/>
            </p:cNvSpPr>
            <p:nvPr/>
          </p:nvSpPr>
          <p:spPr bwMode="auto">
            <a:xfrm>
              <a:off x="3563" y="1868"/>
              <a:ext cx="138" cy="148"/>
            </a:xfrm>
            <a:custGeom>
              <a:avLst/>
              <a:gdLst>
                <a:gd name="T0" fmla="*/ 0 w 138"/>
                <a:gd name="T1" fmla="*/ 137 h 148"/>
                <a:gd name="T2" fmla="*/ 93 w 138"/>
                <a:gd name="T3" fmla="*/ 0 h 148"/>
                <a:gd name="T4" fmla="*/ 138 w 138"/>
                <a:gd name="T5" fmla="*/ 37 h 148"/>
                <a:gd name="T6" fmla="*/ 19 w 138"/>
                <a:gd name="T7" fmla="*/ 148 h 148"/>
                <a:gd name="T8" fmla="*/ 0 w 138"/>
                <a:gd name="T9" fmla="*/ 137 h 1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48">
                  <a:moveTo>
                    <a:pt x="0" y="137"/>
                  </a:moveTo>
                  <a:lnTo>
                    <a:pt x="93" y="0"/>
                  </a:lnTo>
                  <a:lnTo>
                    <a:pt x="138" y="37"/>
                  </a:lnTo>
                  <a:lnTo>
                    <a:pt x="19" y="148"/>
                  </a:lnTo>
                  <a:lnTo>
                    <a:pt x="0" y="137"/>
                  </a:lnTo>
                  <a:close/>
                </a:path>
              </a:pathLst>
            </a:custGeom>
            <a:solidFill>
              <a:srgbClr val="EE0000"/>
            </a:solidFill>
            <a:ln w="9525">
              <a:noFill/>
              <a:round/>
              <a:headEnd/>
              <a:tailEnd/>
            </a:ln>
          </p:spPr>
          <p:txBody>
            <a:bodyPr/>
            <a:lstStyle/>
            <a:p>
              <a:endParaRPr lang="zh-CN" altLang="en-US"/>
            </a:p>
          </p:txBody>
        </p:sp>
        <p:sp>
          <p:nvSpPr>
            <p:cNvPr id="42" name="Freeform 539"/>
            <p:cNvSpPr>
              <a:spLocks/>
            </p:cNvSpPr>
            <p:nvPr/>
          </p:nvSpPr>
          <p:spPr bwMode="auto">
            <a:xfrm>
              <a:off x="3563" y="1868"/>
              <a:ext cx="138" cy="148"/>
            </a:xfrm>
            <a:custGeom>
              <a:avLst/>
              <a:gdLst>
                <a:gd name="T0" fmla="*/ 0 w 138"/>
                <a:gd name="T1" fmla="*/ 137 h 148"/>
                <a:gd name="T2" fmla="*/ 93 w 138"/>
                <a:gd name="T3" fmla="*/ 0 h 148"/>
                <a:gd name="T4" fmla="*/ 138 w 138"/>
                <a:gd name="T5" fmla="*/ 37 h 148"/>
                <a:gd name="T6" fmla="*/ 19 w 138"/>
                <a:gd name="T7" fmla="*/ 148 h 148"/>
                <a:gd name="T8" fmla="*/ 0 w 138"/>
                <a:gd name="T9" fmla="*/ 137 h 1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48">
                  <a:moveTo>
                    <a:pt x="0" y="137"/>
                  </a:moveTo>
                  <a:lnTo>
                    <a:pt x="93" y="0"/>
                  </a:lnTo>
                  <a:lnTo>
                    <a:pt x="138" y="37"/>
                  </a:lnTo>
                  <a:lnTo>
                    <a:pt x="19" y="148"/>
                  </a:lnTo>
                  <a:lnTo>
                    <a:pt x="0" y="137"/>
                  </a:lnTo>
                </a:path>
              </a:pathLst>
            </a:custGeom>
            <a:noFill/>
            <a:ln w="3175">
              <a:solidFill>
                <a:srgbClr val="EE0000"/>
              </a:solidFill>
              <a:prstDash val="solid"/>
              <a:round/>
              <a:headEnd/>
              <a:tailEnd/>
            </a:ln>
          </p:spPr>
          <p:txBody>
            <a:bodyPr/>
            <a:lstStyle/>
            <a:p>
              <a:endParaRPr lang="zh-CN" altLang="en-US"/>
            </a:p>
          </p:txBody>
        </p:sp>
        <p:sp>
          <p:nvSpPr>
            <p:cNvPr id="43" name="Oval 540"/>
            <p:cNvSpPr>
              <a:spLocks noChangeArrowheads="1"/>
            </p:cNvSpPr>
            <p:nvPr/>
          </p:nvSpPr>
          <p:spPr bwMode="auto">
            <a:xfrm>
              <a:off x="3560" y="1999"/>
              <a:ext cx="22" cy="21"/>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44" name="Oval 541"/>
            <p:cNvSpPr>
              <a:spLocks noChangeArrowheads="1"/>
            </p:cNvSpPr>
            <p:nvPr/>
          </p:nvSpPr>
          <p:spPr bwMode="auto">
            <a:xfrm>
              <a:off x="3561" y="2000"/>
              <a:ext cx="20" cy="19"/>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45" name="Freeform 542"/>
            <p:cNvSpPr>
              <a:spLocks/>
            </p:cNvSpPr>
            <p:nvPr/>
          </p:nvSpPr>
          <p:spPr bwMode="auto">
            <a:xfrm>
              <a:off x="3360" y="1773"/>
              <a:ext cx="153" cy="232"/>
            </a:xfrm>
            <a:custGeom>
              <a:avLst/>
              <a:gdLst>
                <a:gd name="T0" fmla="*/ 91 w 153"/>
                <a:gd name="T1" fmla="*/ 232 h 232"/>
                <a:gd name="T2" fmla="*/ 0 w 153"/>
                <a:gd name="T3" fmla="*/ 12 h 232"/>
                <a:gd name="T4" fmla="*/ 21 w 153"/>
                <a:gd name="T5" fmla="*/ 0 h 232"/>
                <a:gd name="T6" fmla="*/ 153 w 153"/>
                <a:gd name="T7" fmla="*/ 200 h 232"/>
                <a:gd name="T8" fmla="*/ 134 w 153"/>
                <a:gd name="T9" fmla="*/ 204 h 232"/>
                <a:gd name="T10" fmla="*/ 121 w 153"/>
                <a:gd name="T11" fmla="*/ 209 h 232"/>
                <a:gd name="T12" fmla="*/ 111 w 153"/>
                <a:gd name="T13" fmla="*/ 213 h 232"/>
                <a:gd name="T14" fmla="*/ 100 w 153"/>
                <a:gd name="T15" fmla="*/ 223 h 232"/>
                <a:gd name="T16" fmla="*/ 100 w 153"/>
                <a:gd name="T17" fmla="*/ 223 h 232"/>
                <a:gd name="T18" fmla="*/ 91 w 153"/>
                <a:gd name="T19" fmla="*/ 232 h 2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 h="232">
                  <a:moveTo>
                    <a:pt x="91" y="232"/>
                  </a:moveTo>
                  <a:lnTo>
                    <a:pt x="0" y="12"/>
                  </a:lnTo>
                  <a:lnTo>
                    <a:pt x="21" y="0"/>
                  </a:lnTo>
                  <a:lnTo>
                    <a:pt x="153" y="200"/>
                  </a:lnTo>
                  <a:lnTo>
                    <a:pt x="134" y="204"/>
                  </a:lnTo>
                  <a:lnTo>
                    <a:pt x="121" y="209"/>
                  </a:lnTo>
                  <a:lnTo>
                    <a:pt x="111" y="213"/>
                  </a:lnTo>
                  <a:lnTo>
                    <a:pt x="100" y="223"/>
                  </a:lnTo>
                  <a:lnTo>
                    <a:pt x="91" y="232"/>
                  </a:lnTo>
                  <a:close/>
                </a:path>
              </a:pathLst>
            </a:custGeom>
            <a:solidFill>
              <a:srgbClr val="EE0000"/>
            </a:solidFill>
            <a:ln w="9525">
              <a:noFill/>
              <a:round/>
              <a:headEnd/>
              <a:tailEnd/>
            </a:ln>
          </p:spPr>
          <p:txBody>
            <a:bodyPr/>
            <a:lstStyle/>
            <a:p>
              <a:endParaRPr lang="zh-CN" altLang="en-US"/>
            </a:p>
          </p:txBody>
        </p:sp>
        <p:sp>
          <p:nvSpPr>
            <p:cNvPr id="46" name="Freeform 543"/>
            <p:cNvSpPr>
              <a:spLocks/>
            </p:cNvSpPr>
            <p:nvPr/>
          </p:nvSpPr>
          <p:spPr bwMode="auto">
            <a:xfrm>
              <a:off x="3360" y="1773"/>
              <a:ext cx="153" cy="232"/>
            </a:xfrm>
            <a:custGeom>
              <a:avLst/>
              <a:gdLst>
                <a:gd name="T0" fmla="*/ 91 w 153"/>
                <a:gd name="T1" fmla="*/ 232 h 232"/>
                <a:gd name="T2" fmla="*/ 0 w 153"/>
                <a:gd name="T3" fmla="*/ 12 h 232"/>
                <a:gd name="T4" fmla="*/ 21 w 153"/>
                <a:gd name="T5" fmla="*/ 0 h 232"/>
                <a:gd name="T6" fmla="*/ 153 w 153"/>
                <a:gd name="T7" fmla="*/ 200 h 232"/>
                <a:gd name="T8" fmla="*/ 134 w 153"/>
                <a:gd name="T9" fmla="*/ 204 h 232"/>
                <a:gd name="T10" fmla="*/ 121 w 153"/>
                <a:gd name="T11" fmla="*/ 209 h 232"/>
                <a:gd name="T12" fmla="*/ 111 w 153"/>
                <a:gd name="T13" fmla="*/ 213 h 232"/>
                <a:gd name="T14" fmla="*/ 100 w 153"/>
                <a:gd name="T15" fmla="*/ 223 h 232"/>
                <a:gd name="T16" fmla="*/ 100 w 153"/>
                <a:gd name="T17" fmla="*/ 223 h 232"/>
                <a:gd name="T18" fmla="*/ 91 w 153"/>
                <a:gd name="T19" fmla="*/ 232 h 2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 h="232">
                  <a:moveTo>
                    <a:pt x="91" y="232"/>
                  </a:moveTo>
                  <a:lnTo>
                    <a:pt x="0" y="12"/>
                  </a:lnTo>
                  <a:lnTo>
                    <a:pt x="21" y="0"/>
                  </a:lnTo>
                  <a:lnTo>
                    <a:pt x="153" y="200"/>
                  </a:lnTo>
                  <a:lnTo>
                    <a:pt x="134" y="204"/>
                  </a:lnTo>
                  <a:lnTo>
                    <a:pt x="121" y="209"/>
                  </a:lnTo>
                  <a:lnTo>
                    <a:pt x="111" y="213"/>
                  </a:lnTo>
                  <a:lnTo>
                    <a:pt x="100" y="223"/>
                  </a:lnTo>
                  <a:lnTo>
                    <a:pt x="91" y="232"/>
                  </a:lnTo>
                </a:path>
              </a:pathLst>
            </a:custGeom>
            <a:noFill/>
            <a:ln w="3175">
              <a:solidFill>
                <a:srgbClr val="EE0000"/>
              </a:solidFill>
              <a:prstDash val="solid"/>
              <a:round/>
              <a:headEnd/>
              <a:tailEnd/>
            </a:ln>
          </p:spPr>
          <p:txBody>
            <a:bodyPr/>
            <a:lstStyle/>
            <a:p>
              <a:endParaRPr lang="zh-CN" altLang="en-US"/>
            </a:p>
          </p:txBody>
        </p:sp>
        <p:sp>
          <p:nvSpPr>
            <p:cNvPr id="47" name="Oval 544"/>
            <p:cNvSpPr>
              <a:spLocks noChangeArrowheads="1"/>
            </p:cNvSpPr>
            <p:nvPr/>
          </p:nvSpPr>
          <p:spPr bwMode="auto">
            <a:xfrm>
              <a:off x="3356" y="1764"/>
              <a:ext cx="21" cy="21"/>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48" name="Oval 545"/>
            <p:cNvSpPr>
              <a:spLocks noChangeArrowheads="1"/>
            </p:cNvSpPr>
            <p:nvPr/>
          </p:nvSpPr>
          <p:spPr bwMode="auto">
            <a:xfrm>
              <a:off x="3357" y="1765"/>
              <a:ext cx="19" cy="19"/>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49" name="Freeform 546"/>
            <p:cNvSpPr>
              <a:spLocks/>
            </p:cNvSpPr>
            <p:nvPr/>
          </p:nvSpPr>
          <p:spPr bwMode="auto">
            <a:xfrm>
              <a:off x="3202" y="2116"/>
              <a:ext cx="284" cy="277"/>
            </a:xfrm>
            <a:custGeom>
              <a:avLst/>
              <a:gdLst>
                <a:gd name="T0" fmla="*/ 47 w 284"/>
                <a:gd name="T1" fmla="*/ 277 h 277"/>
                <a:gd name="T2" fmla="*/ 284 w 284"/>
                <a:gd name="T3" fmla="*/ 19 h 277"/>
                <a:gd name="T4" fmla="*/ 265 w 284"/>
                <a:gd name="T5" fmla="*/ 0 h 277"/>
                <a:gd name="T6" fmla="*/ 0 w 284"/>
                <a:gd name="T7" fmla="*/ 232 h 277"/>
                <a:gd name="T8" fmla="*/ 47 w 284"/>
                <a:gd name="T9" fmla="*/ 277 h 2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277">
                  <a:moveTo>
                    <a:pt x="47" y="277"/>
                  </a:moveTo>
                  <a:lnTo>
                    <a:pt x="284" y="19"/>
                  </a:lnTo>
                  <a:lnTo>
                    <a:pt x="265" y="0"/>
                  </a:lnTo>
                  <a:lnTo>
                    <a:pt x="0" y="232"/>
                  </a:lnTo>
                  <a:lnTo>
                    <a:pt x="47" y="277"/>
                  </a:lnTo>
                  <a:close/>
                </a:path>
              </a:pathLst>
            </a:custGeom>
            <a:solidFill>
              <a:srgbClr val="EE0000"/>
            </a:solidFill>
            <a:ln w="9525">
              <a:noFill/>
              <a:round/>
              <a:headEnd/>
              <a:tailEnd/>
            </a:ln>
          </p:spPr>
          <p:txBody>
            <a:bodyPr/>
            <a:lstStyle/>
            <a:p>
              <a:endParaRPr lang="zh-CN" altLang="en-US"/>
            </a:p>
          </p:txBody>
        </p:sp>
        <p:sp>
          <p:nvSpPr>
            <p:cNvPr id="50" name="Freeform 547"/>
            <p:cNvSpPr>
              <a:spLocks/>
            </p:cNvSpPr>
            <p:nvPr/>
          </p:nvSpPr>
          <p:spPr bwMode="auto">
            <a:xfrm>
              <a:off x="3202" y="2116"/>
              <a:ext cx="284" cy="277"/>
            </a:xfrm>
            <a:custGeom>
              <a:avLst/>
              <a:gdLst>
                <a:gd name="T0" fmla="*/ 47 w 284"/>
                <a:gd name="T1" fmla="*/ 277 h 277"/>
                <a:gd name="T2" fmla="*/ 284 w 284"/>
                <a:gd name="T3" fmla="*/ 19 h 277"/>
                <a:gd name="T4" fmla="*/ 265 w 284"/>
                <a:gd name="T5" fmla="*/ 0 h 277"/>
                <a:gd name="T6" fmla="*/ 0 w 284"/>
                <a:gd name="T7" fmla="*/ 232 h 277"/>
                <a:gd name="T8" fmla="*/ 47 w 284"/>
                <a:gd name="T9" fmla="*/ 277 h 2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277">
                  <a:moveTo>
                    <a:pt x="47" y="277"/>
                  </a:moveTo>
                  <a:lnTo>
                    <a:pt x="284" y="19"/>
                  </a:lnTo>
                  <a:lnTo>
                    <a:pt x="265" y="0"/>
                  </a:lnTo>
                  <a:lnTo>
                    <a:pt x="0" y="232"/>
                  </a:lnTo>
                  <a:lnTo>
                    <a:pt x="47" y="277"/>
                  </a:lnTo>
                </a:path>
              </a:pathLst>
            </a:custGeom>
            <a:noFill/>
            <a:ln w="3175">
              <a:solidFill>
                <a:srgbClr val="EE0000"/>
              </a:solidFill>
              <a:prstDash val="solid"/>
              <a:round/>
              <a:headEnd/>
              <a:tailEnd/>
            </a:ln>
          </p:spPr>
          <p:txBody>
            <a:bodyPr/>
            <a:lstStyle/>
            <a:p>
              <a:endParaRPr lang="zh-CN" altLang="en-US"/>
            </a:p>
          </p:txBody>
        </p:sp>
        <p:sp>
          <p:nvSpPr>
            <p:cNvPr id="51" name="Freeform 548"/>
            <p:cNvSpPr>
              <a:spLocks/>
            </p:cNvSpPr>
            <p:nvPr/>
          </p:nvSpPr>
          <p:spPr bwMode="auto">
            <a:xfrm>
              <a:off x="3464" y="2112"/>
              <a:ext cx="26" cy="27"/>
            </a:xfrm>
            <a:custGeom>
              <a:avLst/>
              <a:gdLst>
                <a:gd name="T0" fmla="*/ 26 w 26"/>
                <a:gd name="T1" fmla="*/ 14 h 27"/>
                <a:gd name="T2" fmla="*/ 24 w 26"/>
                <a:gd name="T3" fmla="*/ 17 h 27"/>
                <a:gd name="T4" fmla="*/ 22 w 26"/>
                <a:gd name="T5" fmla="*/ 23 h 27"/>
                <a:gd name="T6" fmla="*/ 19 w 26"/>
                <a:gd name="T7" fmla="*/ 27 h 27"/>
                <a:gd name="T8" fmla="*/ 13 w 26"/>
                <a:gd name="T9" fmla="*/ 27 h 27"/>
                <a:gd name="T10" fmla="*/ 13 w 26"/>
                <a:gd name="T11" fmla="*/ 27 h 27"/>
                <a:gd name="T12" fmla="*/ 7 w 26"/>
                <a:gd name="T13" fmla="*/ 27 h 27"/>
                <a:gd name="T14" fmla="*/ 3 w 26"/>
                <a:gd name="T15" fmla="*/ 23 h 27"/>
                <a:gd name="T16" fmla="*/ 0 w 26"/>
                <a:gd name="T17" fmla="*/ 19 h 27"/>
                <a:gd name="T18" fmla="*/ 0 w 26"/>
                <a:gd name="T19" fmla="*/ 14 h 27"/>
                <a:gd name="T20" fmla="*/ 0 w 26"/>
                <a:gd name="T21" fmla="*/ 14 h 27"/>
                <a:gd name="T22" fmla="*/ 0 w 26"/>
                <a:gd name="T23" fmla="*/ 8 h 27"/>
                <a:gd name="T24" fmla="*/ 3 w 26"/>
                <a:gd name="T25" fmla="*/ 4 h 27"/>
                <a:gd name="T26" fmla="*/ 7 w 26"/>
                <a:gd name="T27" fmla="*/ 0 h 27"/>
                <a:gd name="T28" fmla="*/ 13 w 26"/>
                <a:gd name="T29" fmla="*/ 0 h 27"/>
                <a:gd name="T30" fmla="*/ 13 w 26"/>
                <a:gd name="T31" fmla="*/ 0 h 27"/>
                <a:gd name="T32" fmla="*/ 17 w 26"/>
                <a:gd name="T33" fmla="*/ 0 h 27"/>
                <a:gd name="T34" fmla="*/ 20 w 26"/>
                <a:gd name="T35" fmla="*/ 4 h 27"/>
                <a:gd name="T36" fmla="*/ 24 w 26"/>
                <a:gd name="T37" fmla="*/ 8 h 27"/>
                <a:gd name="T38" fmla="*/ 26 w 26"/>
                <a:gd name="T39" fmla="*/ 14 h 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6" h="27">
                  <a:moveTo>
                    <a:pt x="26" y="14"/>
                  </a:moveTo>
                  <a:lnTo>
                    <a:pt x="24" y="17"/>
                  </a:lnTo>
                  <a:lnTo>
                    <a:pt x="22" y="23"/>
                  </a:lnTo>
                  <a:lnTo>
                    <a:pt x="19" y="27"/>
                  </a:lnTo>
                  <a:lnTo>
                    <a:pt x="13" y="27"/>
                  </a:lnTo>
                  <a:lnTo>
                    <a:pt x="7" y="27"/>
                  </a:lnTo>
                  <a:lnTo>
                    <a:pt x="3" y="23"/>
                  </a:lnTo>
                  <a:lnTo>
                    <a:pt x="0" y="19"/>
                  </a:lnTo>
                  <a:lnTo>
                    <a:pt x="0" y="14"/>
                  </a:lnTo>
                  <a:lnTo>
                    <a:pt x="0" y="8"/>
                  </a:lnTo>
                  <a:lnTo>
                    <a:pt x="3" y="4"/>
                  </a:lnTo>
                  <a:lnTo>
                    <a:pt x="7" y="0"/>
                  </a:lnTo>
                  <a:lnTo>
                    <a:pt x="13" y="0"/>
                  </a:lnTo>
                  <a:lnTo>
                    <a:pt x="17" y="0"/>
                  </a:lnTo>
                  <a:lnTo>
                    <a:pt x="20" y="4"/>
                  </a:lnTo>
                  <a:lnTo>
                    <a:pt x="24" y="8"/>
                  </a:lnTo>
                  <a:lnTo>
                    <a:pt x="26" y="14"/>
                  </a:lnTo>
                  <a:close/>
                </a:path>
              </a:pathLst>
            </a:custGeom>
            <a:solidFill>
              <a:srgbClr val="EE0000"/>
            </a:solidFill>
            <a:ln w="9525">
              <a:noFill/>
              <a:round/>
              <a:headEnd/>
              <a:tailEnd/>
            </a:ln>
          </p:spPr>
          <p:txBody>
            <a:bodyPr/>
            <a:lstStyle/>
            <a:p>
              <a:endParaRPr lang="zh-CN" altLang="en-US"/>
            </a:p>
          </p:txBody>
        </p:sp>
        <p:sp>
          <p:nvSpPr>
            <p:cNvPr id="52" name="Freeform 549"/>
            <p:cNvSpPr>
              <a:spLocks/>
            </p:cNvSpPr>
            <p:nvPr/>
          </p:nvSpPr>
          <p:spPr bwMode="auto">
            <a:xfrm>
              <a:off x="3464" y="2112"/>
              <a:ext cx="26" cy="27"/>
            </a:xfrm>
            <a:custGeom>
              <a:avLst/>
              <a:gdLst>
                <a:gd name="T0" fmla="*/ 26 w 26"/>
                <a:gd name="T1" fmla="*/ 14 h 27"/>
                <a:gd name="T2" fmla="*/ 24 w 26"/>
                <a:gd name="T3" fmla="*/ 17 h 27"/>
                <a:gd name="T4" fmla="*/ 22 w 26"/>
                <a:gd name="T5" fmla="*/ 23 h 27"/>
                <a:gd name="T6" fmla="*/ 19 w 26"/>
                <a:gd name="T7" fmla="*/ 27 h 27"/>
                <a:gd name="T8" fmla="*/ 13 w 26"/>
                <a:gd name="T9" fmla="*/ 27 h 27"/>
                <a:gd name="T10" fmla="*/ 13 w 26"/>
                <a:gd name="T11" fmla="*/ 27 h 27"/>
                <a:gd name="T12" fmla="*/ 7 w 26"/>
                <a:gd name="T13" fmla="*/ 27 h 27"/>
                <a:gd name="T14" fmla="*/ 3 w 26"/>
                <a:gd name="T15" fmla="*/ 23 h 27"/>
                <a:gd name="T16" fmla="*/ 0 w 26"/>
                <a:gd name="T17" fmla="*/ 19 h 27"/>
                <a:gd name="T18" fmla="*/ 0 w 26"/>
                <a:gd name="T19" fmla="*/ 14 h 27"/>
                <a:gd name="T20" fmla="*/ 0 w 26"/>
                <a:gd name="T21" fmla="*/ 14 h 27"/>
                <a:gd name="T22" fmla="*/ 0 w 26"/>
                <a:gd name="T23" fmla="*/ 8 h 27"/>
                <a:gd name="T24" fmla="*/ 3 w 26"/>
                <a:gd name="T25" fmla="*/ 4 h 27"/>
                <a:gd name="T26" fmla="*/ 7 w 26"/>
                <a:gd name="T27" fmla="*/ 0 h 27"/>
                <a:gd name="T28" fmla="*/ 13 w 26"/>
                <a:gd name="T29" fmla="*/ 0 h 27"/>
                <a:gd name="T30" fmla="*/ 13 w 26"/>
                <a:gd name="T31" fmla="*/ 0 h 27"/>
                <a:gd name="T32" fmla="*/ 17 w 26"/>
                <a:gd name="T33" fmla="*/ 0 h 27"/>
                <a:gd name="T34" fmla="*/ 20 w 26"/>
                <a:gd name="T35" fmla="*/ 4 h 27"/>
                <a:gd name="T36" fmla="*/ 24 w 26"/>
                <a:gd name="T37" fmla="*/ 8 h 27"/>
                <a:gd name="T38" fmla="*/ 26 w 26"/>
                <a:gd name="T39" fmla="*/ 14 h 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6" h="27">
                  <a:moveTo>
                    <a:pt x="26" y="14"/>
                  </a:moveTo>
                  <a:lnTo>
                    <a:pt x="24" y="17"/>
                  </a:lnTo>
                  <a:lnTo>
                    <a:pt x="22" y="23"/>
                  </a:lnTo>
                  <a:lnTo>
                    <a:pt x="19" y="27"/>
                  </a:lnTo>
                  <a:lnTo>
                    <a:pt x="13" y="27"/>
                  </a:lnTo>
                  <a:lnTo>
                    <a:pt x="7" y="27"/>
                  </a:lnTo>
                  <a:lnTo>
                    <a:pt x="3" y="23"/>
                  </a:lnTo>
                  <a:lnTo>
                    <a:pt x="0" y="19"/>
                  </a:lnTo>
                  <a:lnTo>
                    <a:pt x="0" y="14"/>
                  </a:lnTo>
                  <a:lnTo>
                    <a:pt x="0" y="8"/>
                  </a:lnTo>
                  <a:lnTo>
                    <a:pt x="3" y="4"/>
                  </a:lnTo>
                  <a:lnTo>
                    <a:pt x="7" y="0"/>
                  </a:lnTo>
                  <a:lnTo>
                    <a:pt x="13" y="0"/>
                  </a:lnTo>
                  <a:lnTo>
                    <a:pt x="17" y="0"/>
                  </a:lnTo>
                  <a:lnTo>
                    <a:pt x="20" y="4"/>
                  </a:lnTo>
                  <a:lnTo>
                    <a:pt x="24" y="8"/>
                  </a:lnTo>
                  <a:lnTo>
                    <a:pt x="26" y="14"/>
                  </a:lnTo>
                </a:path>
              </a:pathLst>
            </a:custGeom>
            <a:noFill/>
            <a:ln w="3175">
              <a:solidFill>
                <a:srgbClr val="EE0000"/>
              </a:solidFill>
              <a:prstDash val="solid"/>
              <a:round/>
              <a:headEnd/>
              <a:tailEnd/>
            </a:ln>
          </p:spPr>
          <p:txBody>
            <a:bodyPr/>
            <a:lstStyle/>
            <a:p>
              <a:endParaRPr lang="zh-CN" altLang="en-US"/>
            </a:p>
          </p:txBody>
        </p:sp>
        <p:sp>
          <p:nvSpPr>
            <p:cNvPr id="53" name="Oval 550"/>
            <p:cNvSpPr>
              <a:spLocks noChangeArrowheads="1"/>
            </p:cNvSpPr>
            <p:nvPr/>
          </p:nvSpPr>
          <p:spPr bwMode="auto">
            <a:xfrm>
              <a:off x="3970" y="3082"/>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54" name="Oval 551"/>
            <p:cNvSpPr>
              <a:spLocks noChangeArrowheads="1"/>
            </p:cNvSpPr>
            <p:nvPr/>
          </p:nvSpPr>
          <p:spPr bwMode="auto">
            <a:xfrm>
              <a:off x="3974" y="3086"/>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55" name="Oval 552"/>
            <p:cNvSpPr>
              <a:spLocks noChangeArrowheads="1"/>
            </p:cNvSpPr>
            <p:nvPr/>
          </p:nvSpPr>
          <p:spPr bwMode="auto">
            <a:xfrm>
              <a:off x="4375" y="1625"/>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56" name="Oval 553"/>
            <p:cNvSpPr>
              <a:spLocks noChangeArrowheads="1"/>
            </p:cNvSpPr>
            <p:nvPr/>
          </p:nvSpPr>
          <p:spPr bwMode="auto">
            <a:xfrm>
              <a:off x="4379" y="1629"/>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57" name="Oval 554"/>
            <p:cNvSpPr>
              <a:spLocks noChangeArrowheads="1"/>
            </p:cNvSpPr>
            <p:nvPr/>
          </p:nvSpPr>
          <p:spPr bwMode="auto">
            <a:xfrm>
              <a:off x="3063" y="2338"/>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58" name="Oval 555"/>
            <p:cNvSpPr>
              <a:spLocks noChangeArrowheads="1"/>
            </p:cNvSpPr>
            <p:nvPr/>
          </p:nvSpPr>
          <p:spPr bwMode="auto">
            <a:xfrm>
              <a:off x="3067" y="2342"/>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59" name="Oval 556"/>
            <p:cNvSpPr>
              <a:spLocks noChangeArrowheads="1"/>
            </p:cNvSpPr>
            <p:nvPr/>
          </p:nvSpPr>
          <p:spPr bwMode="auto">
            <a:xfrm>
              <a:off x="4377" y="2786"/>
              <a:ext cx="190" cy="188"/>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60" name="Oval 557"/>
            <p:cNvSpPr>
              <a:spLocks noChangeArrowheads="1"/>
            </p:cNvSpPr>
            <p:nvPr/>
          </p:nvSpPr>
          <p:spPr bwMode="auto">
            <a:xfrm>
              <a:off x="4381" y="2790"/>
              <a:ext cx="182" cy="180"/>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61" name="Oval 558"/>
            <p:cNvSpPr>
              <a:spLocks noChangeArrowheads="1"/>
            </p:cNvSpPr>
            <p:nvPr/>
          </p:nvSpPr>
          <p:spPr bwMode="auto">
            <a:xfrm>
              <a:off x="4386" y="2854"/>
              <a:ext cx="19" cy="23"/>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62" name="Oval 559"/>
            <p:cNvSpPr>
              <a:spLocks noChangeArrowheads="1"/>
            </p:cNvSpPr>
            <p:nvPr/>
          </p:nvSpPr>
          <p:spPr bwMode="auto">
            <a:xfrm>
              <a:off x="4387" y="2855"/>
              <a:ext cx="17" cy="21"/>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63" name="Freeform 560"/>
            <p:cNvSpPr>
              <a:spLocks/>
            </p:cNvSpPr>
            <p:nvPr/>
          </p:nvSpPr>
          <p:spPr bwMode="auto">
            <a:xfrm>
              <a:off x="4138" y="2700"/>
              <a:ext cx="261" cy="180"/>
            </a:xfrm>
            <a:custGeom>
              <a:avLst/>
              <a:gdLst>
                <a:gd name="T0" fmla="*/ 30 w 261"/>
                <a:gd name="T1" fmla="*/ 0 h 180"/>
                <a:gd name="T2" fmla="*/ 261 w 261"/>
                <a:gd name="T3" fmla="*/ 154 h 180"/>
                <a:gd name="T4" fmla="*/ 256 w 261"/>
                <a:gd name="T5" fmla="*/ 180 h 180"/>
                <a:gd name="T6" fmla="*/ 0 w 261"/>
                <a:gd name="T7" fmla="*/ 41 h 180"/>
                <a:gd name="T8" fmla="*/ 30 w 261"/>
                <a:gd name="T9" fmla="*/ 0 h 1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1" h="180">
                  <a:moveTo>
                    <a:pt x="30" y="0"/>
                  </a:moveTo>
                  <a:lnTo>
                    <a:pt x="261" y="154"/>
                  </a:lnTo>
                  <a:lnTo>
                    <a:pt x="256" y="180"/>
                  </a:lnTo>
                  <a:lnTo>
                    <a:pt x="0" y="41"/>
                  </a:lnTo>
                  <a:lnTo>
                    <a:pt x="30" y="0"/>
                  </a:lnTo>
                  <a:close/>
                </a:path>
              </a:pathLst>
            </a:custGeom>
            <a:solidFill>
              <a:srgbClr val="EE0000"/>
            </a:solidFill>
            <a:ln w="9525">
              <a:noFill/>
              <a:round/>
              <a:headEnd/>
              <a:tailEnd/>
            </a:ln>
          </p:spPr>
          <p:txBody>
            <a:bodyPr/>
            <a:lstStyle/>
            <a:p>
              <a:endParaRPr lang="zh-CN" altLang="en-US"/>
            </a:p>
          </p:txBody>
        </p:sp>
        <p:sp>
          <p:nvSpPr>
            <p:cNvPr id="64" name="Freeform 561"/>
            <p:cNvSpPr>
              <a:spLocks/>
            </p:cNvSpPr>
            <p:nvPr/>
          </p:nvSpPr>
          <p:spPr bwMode="auto">
            <a:xfrm>
              <a:off x="4138" y="2700"/>
              <a:ext cx="261" cy="180"/>
            </a:xfrm>
            <a:custGeom>
              <a:avLst/>
              <a:gdLst>
                <a:gd name="T0" fmla="*/ 30 w 261"/>
                <a:gd name="T1" fmla="*/ 0 h 180"/>
                <a:gd name="T2" fmla="*/ 261 w 261"/>
                <a:gd name="T3" fmla="*/ 154 h 180"/>
                <a:gd name="T4" fmla="*/ 256 w 261"/>
                <a:gd name="T5" fmla="*/ 180 h 180"/>
                <a:gd name="T6" fmla="*/ 0 w 261"/>
                <a:gd name="T7" fmla="*/ 41 h 180"/>
                <a:gd name="T8" fmla="*/ 30 w 261"/>
                <a:gd name="T9" fmla="*/ 0 h 1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1" h="180">
                  <a:moveTo>
                    <a:pt x="30" y="0"/>
                  </a:moveTo>
                  <a:lnTo>
                    <a:pt x="261" y="154"/>
                  </a:lnTo>
                  <a:lnTo>
                    <a:pt x="256" y="180"/>
                  </a:lnTo>
                  <a:lnTo>
                    <a:pt x="0" y="41"/>
                  </a:lnTo>
                  <a:lnTo>
                    <a:pt x="30" y="0"/>
                  </a:lnTo>
                </a:path>
              </a:pathLst>
            </a:custGeom>
            <a:noFill/>
            <a:ln w="3175">
              <a:solidFill>
                <a:srgbClr val="EE0000"/>
              </a:solidFill>
              <a:prstDash val="solid"/>
              <a:round/>
              <a:headEnd/>
              <a:tailEnd/>
            </a:ln>
          </p:spPr>
          <p:txBody>
            <a:bodyPr/>
            <a:lstStyle/>
            <a:p>
              <a:endParaRPr lang="zh-CN" altLang="en-US"/>
            </a:p>
          </p:txBody>
        </p:sp>
        <p:sp>
          <p:nvSpPr>
            <p:cNvPr id="65" name="Oval 562"/>
            <p:cNvSpPr>
              <a:spLocks noChangeArrowheads="1"/>
            </p:cNvSpPr>
            <p:nvPr/>
          </p:nvSpPr>
          <p:spPr bwMode="auto">
            <a:xfrm>
              <a:off x="3974" y="2574"/>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66" name="Oval 563"/>
            <p:cNvSpPr>
              <a:spLocks noChangeArrowheads="1"/>
            </p:cNvSpPr>
            <p:nvPr/>
          </p:nvSpPr>
          <p:spPr bwMode="auto">
            <a:xfrm>
              <a:off x="3978" y="2578"/>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67" name="Freeform 564"/>
            <p:cNvSpPr>
              <a:spLocks/>
            </p:cNvSpPr>
            <p:nvPr/>
          </p:nvSpPr>
          <p:spPr bwMode="auto">
            <a:xfrm>
              <a:off x="4121" y="2472"/>
              <a:ext cx="128" cy="139"/>
            </a:xfrm>
            <a:custGeom>
              <a:avLst/>
              <a:gdLst>
                <a:gd name="T0" fmla="*/ 0 w 128"/>
                <a:gd name="T1" fmla="*/ 124 h 139"/>
                <a:gd name="T2" fmla="*/ 83 w 128"/>
                <a:gd name="T3" fmla="*/ 0 h 139"/>
                <a:gd name="T4" fmla="*/ 92 w 128"/>
                <a:gd name="T5" fmla="*/ 15 h 139"/>
                <a:gd name="T6" fmla="*/ 98 w 128"/>
                <a:gd name="T7" fmla="*/ 22 h 139"/>
                <a:gd name="T8" fmla="*/ 107 w 128"/>
                <a:gd name="T9" fmla="*/ 30 h 139"/>
                <a:gd name="T10" fmla="*/ 120 w 128"/>
                <a:gd name="T11" fmla="*/ 41 h 139"/>
                <a:gd name="T12" fmla="*/ 128 w 128"/>
                <a:gd name="T13" fmla="*/ 45 h 139"/>
                <a:gd name="T14" fmla="*/ 17 w 128"/>
                <a:gd name="T15" fmla="*/ 139 h 139"/>
                <a:gd name="T16" fmla="*/ 0 w 128"/>
                <a:gd name="T17" fmla="*/ 124 h 1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8" h="139">
                  <a:moveTo>
                    <a:pt x="0" y="124"/>
                  </a:moveTo>
                  <a:lnTo>
                    <a:pt x="83" y="0"/>
                  </a:lnTo>
                  <a:lnTo>
                    <a:pt x="92" y="15"/>
                  </a:lnTo>
                  <a:lnTo>
                    <a:pt x="98" y="22"/>
                  </a:lnTo>
                  <a:lnTo>
                    <a:pt x="107" y="30"/>
                  </a:lnTo>
                  <a:lnTo>
                    <a:pt x="120" y="41"/>
                  </a:lnTo>
                  <a:lnTo>
                    <a:pt x="128" y="45"/>
                  </a:lnTo>
                  <a:lnTo>
                    <a:pt x="17" y="139"/>
                  </a:lnTo>
                  <a:lnTo>
                    <a:pt x="0" y="124"/>
                  </a:lnTo>
                  <a:close/>
                </a:path>
              </a:pathLst>
            </a:custGeom>
            <a:solidFill>
              <a:srgbClr val="EE0000"/>
            </a:solidFill>
            <a:ln w="9525">
              <a:noFill/>
              <a:round/>
              <a:headEnd/>
              <a:tailEnd/>
            </a:ln>
          </p:spPr>
          <p:txBody>
            <a:bodyPr/>
            <a:lstStyle/>
            <a:p>
              <a:endParaRPr lang="zh-CN" altLang="en-US"/>
            </a:p>
          </p:txBody>
        </p:sp>
        <p:sp>
          <p:nvSpPr>
            <p:cNvPr id="68" name="Freeform 565"/>
            <p:cNvSpPr>
              <a:spLocks/>
            </p:cNvSpPr>
            <p:nvPr/>
          </p:nvSpPr>
          <p:spPr bwMode="auto">
            <a:xfrm>
              <a:off x="4121" y="2472"/>
              <a:ext cx="128" cy="139"/>
            </a:xfrm>
            <a:custGeom>
              <a:avLst/>
              <a:gdLst>
                <a:gd name="T0" fmla="*/ 0 w 128"/>
                <a:gd name="T1" fmla="*/ 124 h 139"/>
                <a:gd name="T2" fmla="*/ 83 w 128"/>
                <a:gd name="T3" fmla="*/ 0 h 139"/>
                <a:gd name="T4" fmla="*/ 92 w 128"/>
                <a:gd name="T5" fmla="*/ 15 h 139"/>
                <a:gd name="T6" fmla="*/ 98 w 128"/>
                <a:gd name="T7" fmla="*/ 22 h 139"/>
                <a:gd name="T8" fmla="*/ 107 w 128"/>
                <a:gd name="T9" fmla="*/ 30 h 139"/>
                <a:gd name="T10" fmla="*/ 120 w 128"/>
                <a:gd name="T11" fmla="*/ 41 h 139"/>
                <a:gd name="T12" fmla="*/ 128 w 128"/>
                <a:gd name="T13" fmla="*/ 45 h 139"/>
                <a:gd name="T14" fmla="*/ 17 w 128"/>
                <a:gd name="T15" fmla="*/ 139 h 139"/>
                <a:gd name="T16" fmla="*/ 0 w 128"/>
                <a:gd name="T17" fmla="*/ 124 h 1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8" h="139">
                  <a:moveTo>
                    <a:pt x="0" y="124"/>
                  </a:moveTo>
                  <a:lnTo>
                    <a:pt x="83" y="0"/>
                  </a:lnTo>
                  <a:lnTo>
                    <a:pt x="92" y="15"/>
                  </a:lnTo>
                  <a:lnTo>
                    <a:pt x="98" y="22"/>
                  </a:lnTo>
                  <a:lnTo>
                    <a:pt x="107" y="30"/>
                  </a:lnTo>
                  <a:lnTo>
                    <a:pt x="120" y="41"/>
                  </a:lnTo>
                  <a:lnTo>
                    <a:pt x="128" y="45"/>
                  </a:lnTo>
                  <a:lnTo>
                    <a:pt x="17" y="139"/>
                  </a:lnTo>
                  <a:lnTo>
                    <a:pt x="0" y="124"/>
                  </a:lnTo>
                </a:path>
              </a:pathLst>
            </a:custGeom>
            <a:noFill/>
            <a:ln w="3175">
              <a:solidFill>
                <a:srgbClr val="EE0000"/>
              </a:solidFill>
              <a:prstDash val="solid"/>
              <a:round/>
              <a:headEnd/>
              <a:tailEnd/>
            </a:ln>
          </p:spPr>
          <p:txBody>
            <a:bodyPr/>
            <a:lstStyle/>
            <a:p>
              <a:endParaRPr lang="zh-CN" altLang="en-US"/>
            </a:p>
          </p:txBody>
        </p:sp>
        <p:sp>
          <p:nvSpPr>
            <p:cNvPr id="69" name="Oval 566"/>
            <p:cNvSpPr>
              <a:spLocks noChangeArrowheads="1"/>
            </p:cNvSpPr>
            <p:nvPr/>
          </p:nvSpPr>
          <p:spPr bwMode="auto">
            <a:xfrm>
              <a:off x="4117" y="2592"/>
              <a:ext cx="21" cy="19"/>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70" name="Oval 567"/>
            <p:cNvSpPr>
              <a:spLocks noChangeArrowheads="1"/>
            </p:cNvSpPr>
            <p:nvPr/>
          </p:nvSpPr>
          <p:spPr bwMode="auto">
            <a:xfrm>
              <a:off x="4118" y="2593"/>
              <a:ext cx="19" cy="17"/>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71" name="Freeform 568"/>
            <p:cNvSpPr>
              <a:spLocks/>
            </p:cNvSpPr>
            <p:nvPr/>
          </p:nvSpPr>
          <p:spPr bwMode="auto">
            <a:xfrm>
              <a:off x="3761" y="2713"/>
              <a:ext cx="271" cy="269"/>
            </a:xfrm>
            <a:custGeom>
              <a:avLst/>
              <a:gdLst>
                <a:gd name="T0" fmla="*/ 40 w 271"/>
                <a:gd name="T1" fmla="*/ 269 h 269"/>
                <a:gd name="T2" fmla="*/ 271 w 271"/>
                <a:gd name="T3" fmla="*/ 17 h 269"/>
                <a:gd name="T4" fmla="*/ 254 w 271"/>
                <a:gd name="T5" fmla="*/ 0 h 269"/>
                <a:gd name="T6" fmla="*/ 0 w 271"/>
                <a:gd name="T7" fmla="*/ 222 h 269"/>
                <a:gd name="T8" fmla="*/ 40 w 271"/>
                <a:gd name="T9" fmla="*/ 269 h 2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 h="269">
                  <a:moveTo>
                    <a:pt x="40" y="269"/>
                  </a:moveTo>
                  <a:lnTo>
                    <a:pt x="271" y="17"/>
                  </a:lnTo>
                  <a:lnTo>
                    <a:pt x="254" y="0"/>
                  </a:lnTo>
                  <a:lnTo>
                    <a:pt x="0" y="222"/>
                  </a:lnTo>
                  <a:lnTo>
                    <a:pt x="40" y="269"/>
                  </a:lnTo>
                  <a:close/>
                </a:path>
              </a:pathLst>
            </a:custGeom>
            <a:solidFill>
              <a:srgbClr val="EE0000"/>
            </a:solidFill>
            <a:ln w="9525">
              <a:noFill/>
              <a:round/>
              <a:headEnd/>
              <a:tailEnd/>
            </a:ln>
          </p:spPr>
          <p:txBody>
            <a:bodyPr/>
            <a:lstStyle/>
            <a:p>
              <a:endParaRPr lang="zh-CN" altLang="en-US"/>
            </a:p>
          </p:txBody>
        </p:sp>
        <p:sp>
          <p:nvSpPr>
            <p:cNvPr id="72" name="Freeform 569"/>
            <p:cNvSpPr>
              <a:spLocks/>
            </p:cNvSpPr>
            <p:nvPr/>
          </p:nvSpPr>
          <p:spPr bwMode="auto">
            <a:xfrm>
              <a:off x="3761" y="2713"/>
              <a:ext cx="271" cy="269"/>
            </a:xfrm>
            <a:custGeom>
              <a:avLst/>
              <a:gdLst>
                <a:gd name="T0" fmla="*/ 40 w 271"/>
                <a:gd name="T1" fmla="*/ 269 h 269"/>
                <a:gd name="T2" fmla="*/ 271 w 271"/>
                <a:gd name="T3" fmla="*/ 17 h 269"/>
                <a:gd name="T4" fmla="*/ 254 w 271"/>
                <a:gd name="T5" fmla="*/ 0 h 269"/>
                <a:gd name="T6" fmla="*/ 0 w 271"/>
                <a:gd name="T7" fmla="*/ 222 h 269"/>
                <a:gd name="T8" fmla="*/ 40 w 271"/>
                <a:gd name="T9" fmla="*/ 269 h 2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 h="269">
                  <a:moveTo>
                    <a:pt x="40" y="269"/>
                  </a:moveTo>
                  <a:lnTo>
                    <a:pt x="271" y="17"/>
                  </a:lnTo>
                  <a:lnTo>
                    <a:pt x="254" y="0"/>
                  </a:lnTo>
                  <a:lnTo>
                    <a:pt x="0" y="222"/>
                  </a:lnTo>
                  <a:lnTo>
                    <a:pt x="40" y="269"/>
                  </a:lnTo>
                </a:path>
              </a:pathLst>
            </a:custGeom>
            <a:noFill/>
            <a:ln w="3175">
              <a:solidFill>
                <a:srgbClr val="EE0000"/>
              </a:solidFill>
              <a:prstDash val="solid"/>
              <a:round/>
              <a:headEnd/>
              <a:tailEnd/>
            </a:ln>
          </p:spPr>
          <p:txBody>
            <a:bodyPr/>
            <a:lstStyle/>
            <a:p>
              <a:endParaRPr lang="zh-CN" altLang="en-US"/>
            </a:p>
          </p:txBody>
        </p:sp>
        <p:sp>
          <p:nvSpPr>
            <p:cNvPr id="73" name="Freeform 570"/>
            <p:cNvSpPr>
              <a:spLocks/>
            </p:cNvSpPr>
            <p:nvPr/>
          </p:nvSpPr>
          <p:spPr bwMode="auto">
            <a:xfrm>
              <a:off x="4012" y="2709"/>
              <a:ext cx="22" cy="25"/>
            </a:xfrm>
            <a:custGeom>
              <a:avLst/>
              <a:gdLst>
                <a:gd name="T0" fmla="*/ 22 w 22"/>
                <a:gd name="T1" fmla="*/ 13 h 25"/>
                <a:gd name="T2" fmla="*/ 20 w 22"/>
                <a:gd name="T3" fmla="*/ 21 h 25"/>
                <a:gd name="T4" fmla="*/ 11 w 22"/>
                <a:gd name="T5" fmla="*/ 25 h 25"/>
                <a:gd name="T6" fmla="*/ 11 w 22"/>
                <a:gd name="T7" fmla="*/ 25 h 25"/>
                <a:gd name="T8" fmla="*/ 3 w 22"/>
                <a:gd name="T9" fmla="*/ 21 h 25"/>
                <a:gd name="T10" fmla="*/ 0 w 22"/>
                <a:gd name="T11" fmla="*/ 13 h 25"/>
                <a:gd name="T12" fmla="*/ 0 w 22"/>
                <a:gd name="T13" fmla="*/ 13 h 25"/>
                <a:gd name="T14" fmla="*/ 1 w 22"/>
                <a:gd name="T15" fmla="*/ 4 h 25"/>
                <a:gd name="T16" fmla="*/ 11 w 22"/>
                <a:gd name="T17" fmla="*/ 0 h 25"/>
                <a:gd name="T18" fmla="*/ 11 w 22"/>
                <a:gd name="T19" fmla="*/ 0 h 25"/>
                <a:gd name="T20" fmla="*/ 18 w 22"/>
                <a:gd name="T21" fmla="*/ 4 h 25"/>
                <a:gd name="T22" fmla="*/ 22 w 22"/>
                <a:gd name="T23" fmla="*/ 13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 h="25">
                  <a:moveTo>
                    <a:pt x="22" y="13"/>
                  </a:moveTo>
                  <a:lnTo>
                    <a:pt x="20" y="21"/>
                  </a:lnTo>
                  <a:lnTo>
                    <a:pt x="11" y="25"/>
                  </a:lnTo>
                  <a:lnTo>
                    <a:pt x="3" y="21"/>
                  </a:lnTo>
                  <a:lnTo>
                    <a:pt x="0" y="13"/>
                  </a:lnTo>
                  <a:lnTo>
                    <a:pt x="1" y="4"/>
                  </a:lnTo>
                  <a:lnTo>
                    <a:pt x="11" y="0"/>
                  </a:lnTo>
                  <a:lnTo>
                    <a:pt x="18" y="4"/>
                  </a:lnTo>
                  <a:lnTo>
                    <a:pt x="22" y="13"/>
                  </a:lnTo>
                  <a:close/>
                </a:path>
              </a:pathLst>
            </a:custGeom>
            <a:solidFill>
              <a:srgbClr val="EE0000"/>
            </a:solidFill>
            <a:ln w="9525">
              <a:noFill/>
              <a:round/>
              <a:headEnd/>
              <a:tailEnd/>
            </a:ln>
          </p:spPr>
          <p:txBody>
            <a:bodyPr/>
            <a:lstStyle/>
            <a:p>
              <a:endParaRPr lang="zh-CN" altLang="en-US"/>
            </a:p>
          </p:txBody>
        </p:sp>
        <p:sp>
          <p:nvSpPr>
            <p:cNvPr id="74" name="Freeform 571"/>
            <p:cNvSpPr>
              <a:spLocks/>
            </p:cNvSpPr>
            <p:nvPr/>
          </p:nvSpPr>
          <p:spPr bwMode="auto">
            <a:xfrm>
              <a:off x="4012" y="2709"/>
              <a:ext cx="22" cy="25"/>
            </a:xfrm>
            <a:custGeom>
              <a:avLst/>
              <a:gdLst>
                <a:gd name="T0" fmla="*/ 22 w 22"/>
                <a:gd name="T1" fmla="*/ 13 h 25"/>
                <a:gd name="T2" fmla="*/ 20 w 22"/>
                <a:gd name="T3" fmla="*/ 21 h 25"/>
                <a:gd name="T4" fmla="*/ 11 w 22"/>
                <a:gd name="T5" fmla="*/ 25 h 25"/>
                <a:gd name="T6" fmla="*/ 11 w 22"/>
                <a:gd name="T7" fmla="*/ 25 h 25"/>
                <a:gd name="T8" fmla="*/ 3 w 22"/>
                <a:gd name="T9" fmla="*/ 21 h 25"/>
                <a:gd name="T10" fmla="*/ 0 w 22"/>
                <a:gd name="T11" fmla="*/ 13 h 25"/>
                <a:gd name="T12" fmla="*/ 0 w 22"/>
                <a:gd name="T13" fmla="*/ 13 h 25"/>
                <a:gd name="T14" fmla="*/ 1 w 22"/>
                <a:gd name="T15" fmla="*/ 4 h 25"/>
                <a:gd name="T16" fmla="*/ 11 w 22"/>
                <a:gd name="T17" fmla="*/ 0 h 25"/>
                <a:gd name="T18" fmla="*/ 11 w 22"/>
                <a:gd name="T19" fmla="*/ 0 h 25"/>
                <a:gd name="T20" fmla="*/ 18 w 22"/>
                <a:gd name="T21" fmla="*/ 4 h 25"/>
                <a:gd name="T22" fmla="*/ 22 w 22"/>
                <a:gd name="T23" fmla="*/ 13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 h="25">
                  <a:moveTo>
                    <a:pt x="22" y="13"/>
                  </a:moveTo>
                  <a:lnTo>
                    <a:pt x="20" y="21"/>
                  </a:lnTo>
                  <a:lnTo>
                    <a:pt x="11" y="25"/>
                  </a:lnTo>
                  <a:lnTo>
                    <a:pt x="3" y="21"/>
                  </a:lnTo>
                  <a:lnTo>
                    <a:pt x="0" y="13"/>
                  </a:lnTo>
                  <a:lnTo>
                    <a:pt x="1" y="4"/>
                  </a:lnTo>
                  <a:lnTo>
                    <a:pt x="11" y="0"/>
                  </a:lnTo>
                  <a:lnTo>
                    <a:pt x="18" y="4"/>
                  </a:lnTo>
                  <a:lnTo>
                    <a:pt x="22" y="13"/>
                  </a:lnTo>
                </a:path>
              </a:pathLst>
            </a:custGeom>
            <a:noFill/>
            <a:ln w="3175">
              <a:solidFill>
                <a:srgbClr val="EE0000"/>
              </a:solidFill>
              <a:prstDash val="solid"/>
              <a:round/>
              <a:headEnd/>
              <a:tailEnd/>
            </a:ln>
          </p:spPr>
          <p:txBody>
            <a:bodyPr/>
            <a:lstStyle/>
            <a:p>
              <a:endParaRPr lang="zh-CN" altLang="en-US"/>
            </a:p>
          </p:txBody>
        </p:sp>
        <p:sp>
          <p:nvSpPr>
            <p:cNvPr id="75" name="Oval 572"/>
            <p:cNvSpPr>
              <a:spLocks noChangeArrowheads="1"/>
            </p:cNvSpPr>
            <p:nvPr/>
          </p:nvSpPr>
          <p:spPr bwMode="auto">
            <a:xfrm>
              <a:off x="3633" y="1749"/>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76" name="Oval 573"/>
            <p:cNvSpPr>
              <a:spLocks noChangeArrowheads="1"/>
            </p:cNvSpPr>
            <p:nvPr/>
          </p:nvSpPr>
          <p:spPr bwMode="auto">
            <a:xfrm>
              <a:off x="3637" y="1753"/>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77" name="Oval 574"/>
            <p:cNvSpPr>
              <a:spLocks noChangeArrowheads="1"/>
            </p:cNvSpPr>
            <p:nvPr/>
          </p:nvSpPr>
          <p:spPr bwMode="auto">
            <a:xfrm>
              <a:off x="4221" y="2404"/>
              <a:ext cx="20" cy="23"/>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78" name="Oval 575"/>
            <p:cNvSpPr>
              <a:spLocks noChangeArrowheads="1"/>
            </p:cNvSpPr>
            <p:nvPr/>
          </p:nvSpPr>
          <p:spPr bwMode="auto">
            <a:xfrm>
              <a:off x="4222" y="2405"/>
              <a:ext cx="18" cy="21"/>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79" name="Oval 576"/>
            <p:cNvSpPr>
              <a:spLocks noChangeArrowheads="1"/>
            </p:cNvSpPr>
            <p:nvPr/>
          </p:nvSpPr>
          <p:spPr bwMode="auto">
            <a:xfrm>
              <a:off x="3618" y="2929"/>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80" name="Oval 577"/>
            <p:cNvSpPr>
              <a:spLocks noChangeArrowheads="1"/>
            </p:cNvSpPr>
            <p:nvPr/>
          </p:nvSpPr>
          <p:spPr bwMode="auto">
            <a:xfrm>
              <a:off x="3622" y="2933"/>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81" name="Oval 578"/>
            <p:cNvSpPr>
              <a:spLocks noChangeArrowheads="1"/>
            </p:cNvSpPr>
            <p:nvPr/>
          </p:nvSpPr>
          <p:spPr bwMode="auto">
            <a:xfrm>
              <a:off x="3643" y="2997"/>
              <a:ext cx="22" cy="21"/>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82" name="Oval 579"/>
            <p:cNvSpPr>
              <a:spLocks noChangeArrowheads="1"/>
            </p:cNvSpPr>
            <p:nvPr/>
          </p:nvSpPr>
          <p:spPr bwMode="auto">
            <a:xfrm>
              <a:off x="3644" y="2998"/>
              <a:ext cx="20" cy="19"/>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83" name="Freeform 580"/>
            <p:cNvSpPr>
              <a:spLocks/>
            </p:cNvSpPr>
            <p:nvPr/>
          </p:nvSpPr>
          <p:spPr bwMode="auto">
            <a:xfrm>
              <a:off x="3394" y="2833"/>
              <a:ext cx="266" cy="189"/>
            </a:xfrm>
            <a:custGeom>
              <a:avLst/>
              <a:gdLst>
                <a:gd name="T0" fmla="*/ 32 w 266"/>
                <a:gd name="T1" fmla="*/ 0 h 189"/>
                <a:gd name="T2" fmla="*/ 266 w 266"/>
                <a:gd name="T3" fmla="*/ 164 h 189"/>
                <a:gd name="T4" fmla="*/ 260 w 266"/>
                <a:gd name="T5" fmla="*/ 189 h 189"/>
                <a:gd name="T6" fmla="*/ 0 w 266"/>
                <a:gd name="T7" fmla="*/ 55 h 189"/>
                <a:gd name="T8" fmla="*/ 32 w 266"/>
                <a:gd name="T9" fmla="*/ 0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6" h="189">
                  <a:moveTo>
                    <a:pt x="32" y="0"/>
                  </a:moveTo>
                  <a:lnTo>
                    <a:pt x="266" y="164"/>
                  </a:lnTo>
                  <a:lnTo>
                    <a:pt x="260" y="189"/>
                  </a:lnTo>
                  <a:lnTo>
                    <a:pt x="0" y="55"/>
                  </a:lnTo>
                  <a:lnTo>
                    <a:pt x="32" y="0"/>
                  </a:lnTo>
                  <a:close/>
                </a:path>
              </a:pathLst>
            </a:custGeom>
            <a:solidFill>
              <a:srgbClr val="EE0000"/>
            </a:solidFill>
            <a:ln w="9525">
              <a:noFill/>
              <a:round/>
              <a:headEnd/>
              <a:tailEnd/>
            </a:ln>
          </p:spPr>
          <p:txBody>
            <a:bodyPr/>
            <a:lstStyle/>
            <a:p>
              <a:endParaRPr lang="zh-CN" altLang="en-US"/>
            </a:p>
          </p:txBody>
        </p:sp>
        <p:sp>
          <p:nvSpPr>
            <p:cNvPr id="84" name="Freeform 581"/>
            <p:cNvSpPr>
              <a:spLocks/>
            </p:cNvSpPr>
            <p:nvPr/>
          </p:nvSpPr>
          <p:spPr bwMode="auto">
            <a:xfrm>
              <a:off x="3394" y="2833"/>
              <a:ext cx="266" cy="189"/>
            </a:xfrm>
            <a:custGeom>
              <a:avLst/>
              <a:gdLst>
                <a:gd name="T0" fmla="*/ 32 w 266"/>
                <a:gd name="T1" fmla="*/ 0 h 189"/>
                <a:gd name="T2" fmla="*/ 266 w 266"/>
                <a:gd name="T3" fmla="*/ 164 h 189"/>
                <a:gd name="T4" fmla="*/ 260 w 266"/>
                <a:gd name="T5" fmla="*/ 189 h 189"/>
                <a:gd name="T6" fmla="*/ 0 w 266"/>
                <a:gd name="T7" fmla="*/ 55 h 189"/>
                <a:gd name="T8" fmla="*/ 32 w 266"/>
                <a:gd name="T9" fmla="*/ 0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6" h="189">
                  <a:moveTo>
                    <a:pt x="32" y="0"/>
                  </a:moveTo>
                  <a:lnTo>
                    <a:pt x="266" y="164"/>
                  </a:lnTo>
                  <a:lnTo>
                    <a:pt x="260" y="189"/>
                  </a:lnTo>
                  <a:lnTo>
                    <a:pt x="0" y="55"/>
                  </a:lnTo>
                  <a:lnTo>
                    <a:pt x="32" y="0"/>
                  </a:lnTo>
                </a:path>
              </a:pathLst>
            </a:custGeom>
            <a:noFill/>
            <a:ln w="3175">
              <a:solidFill>
                <a:srgbClr val="EE0000"/>
              </a:solidFill>
              <a:prstDash val="solid"/>
              <a:round/>
              <a:headEnd/>
              <a:tailEnd/>
            </a:ln>
          </p:spPr>
          <p:txBody>
            <a:bodyPr/>
            <a:lstStyle/>
            <a:p>
              <a:endParaRPr lang="zh-CN" altLang="en-US"/>
            </a:p>
          </p:txBody>
        </p:sp>
        <p:sp>
          <p:nvSpPr>
            <p:cNvPr id="85" name="Oval 582"/>
            <p:cNvSpPr>
              <a:spLocks noChangeArrowheads="1"/>
            </p:cNvSpPr>
            <p:nvPr/>
          </p:nvSpPr>
          <p:spPr bwMode="auto">
            <a:xfrm>
              <a:off x="3234" y="2718"/>
              <a:ext cx="190" cy="191"/>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86" name="Oval 583"/>
            <p:cNvSpPr>
              <a:spLocks noChangeArrowheads="1"/>
            </p:cNvSpPr>
            <p:nvPr/>
          </p:nvSpPr>
          <p:spPr bwMode="auto">
            <a:xfrm>
              <a:off x="3238" y="2722"/>
              <a:ext cx="182" cy="183"/>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87" name="Freeform 584"/>
            <p:cNvSpPr>
              <a:spLocks/>
            </p:cNvSpPr>
            <p:nvPr/>
          </p:nvSpPr>
          <p:spPr bwMode="auto">
            <a:xfrm>
              <a:off x="3371" y="2607"/>
              <a:ext cx="136" cy="151"/>
            </a:xfrm>
            <a:custGeom>
              <a:avLst/>
              <a:gdLst>
                <a:gd name="T0" fmla="*/ 0 w 136"/>
                <a:gd name="T1" fmla="*/ 138 h 151"/>
                <a:gd name="T2" fmla="*/ 93 w 136"/>
                <a:gd name="T3" fmla="*/ 0 h 151"/>
                <a:gd name="T4" fmla="*/ 136 w 136"/>
                <a:gd name="T5" fmla="*/ 38 h 151"/>
                <a:gd name="T6" fmla="*/ 17 w 136"/>
                <a:gd name="T7" fmla="*/ 151 h 151"/>
                <a:gd name="T8" fmla="*/ 0 w 136"/>
                <a:gd name="T9" fmla="*/ 138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51">
                  <a:moveTo>
                    <a:pt x="0" y="138"/>
                  </a:moveTo>
                  <a:lnTo>
                    <a:pt x="93" y="0"/>
                  </a:lnTo>
                  <a:lnTo>
                    <a:pt x="136" y="38"/>
                  </a:lnTo>
                  <a:lnTo>
                    <a:pt x="17" y="151"/>
                  </a:lnTo>
                  <a:lnTo>
                    <a:pt x="0" y="138"/>
                  </a:lnTo>
                  <a:close/>
                </a:path>
              </a:pathLst>
            </a:custGeom>
            <a:solidFill>
              <a:srgbClr val="EE0000"/>
            </a:solidFill>
            <a:ln w="9525">
              <a:noFill/>
              <a:round/>
              <a:headEnd/>
              <a:tailEnd/>
            </a:ln>
          </p:spPr>
          <p:txBody>
            <a:bodyPr/>
            <a:lstStyle/>
            <a:p>
              <a:endParaRPr lang="zh-CN" altLang="en-US"/>
            </a:p>
          </p:txBody>
        </p:sp>
        <p:sp>
          <p:nvSpPr>
            <p:cNvPr id="88" name="Freeform 585"/>
            <p:cNvSpPr>
              <a:spLocks/>
            </p:cNvSpPr>
            <p:nvPr/>
          </p:nvSpPr>
          <p:spPr bwMode="auto">
            <a:xfrm>
              <a:off x="3371" y="2607"/>
              <a:ext cx="136" cy="151"/>
            </a:xfrm>
            <a:custGeom>
              <a:avLst/>
              <a:gdLst>
                <a:gd name="T0" fmla="*/ 0 w 136"/>
                <a:gd name="T1" fmla="*/ 138 h 151"/>
                <a:gd name="T2" fmla="*/ 93 w 136"/>
                <a:gd name="T3" fmla="*/ 0 h 151"/>
                <a:gd name="T4" fmla="*/ 136 w 136"/>
                <a:gd name="T5" fmla="*/ 38 h 151"/>
                <a:gd name="T6" fmla="*/ 17 w 136"/>
                <a:gd name="T7" fmla="*/ 151 h 151"/>
                <a:gd name="T8" fmla="*/ 0 w 136"/>
                <a:gd name="T9" fmla="*/ 138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51">
                  <a:moveTo>
                    <a:pt x="0" y="138"/>
                  </a:moveTo>
                  <a:lnTo>
                    <a:pt x="93" y="0"/>
                  </a:lnTo>
                  <a:lnTo>
                    <a:pt x="136" y="38"/>
                  </a:lnTo>
                  <a:lnTo>
                    <a:pt x="17" y="151"/>
                  </a:lnTo>
                  <a:lnTo>
                    <a:pt x="0" y="138"/>
                  </a:lnTo>
                </a:path>
              </a:pathLst>
            </a:custGeom>
            <a:noFill/>
            <a:ln w="3175">
              <a:solidFill>
                <a:srgbClr val="EE0000"/>
              </a:solidFill>
              <a:prstDash val="solid"/>
              <a:round/>
              <a:headEnd/>
              <a:tailEnd/>
            </a:ln>
          </p:spPr>
          <p:txBody>
            <a:bodyPr/>
            <a:lstStyle/>
            <a:p>
              <a:endParaRPr lang="zh-CN" altLang="en-US"/>
            </a:p>
          </p:txBody>
        </p:sp>
        <p:sp>
          <p:nvSpPr>
            <p:cNvPr id="89" name="Oval 586"/>
            <p:cNvSpPr>
              <a:spLocks noChangeArrowheads="1"/>
            </p:cNvSpPr>
            <p:nvPr/>
          </p:nvSpPr>
          <p:spPr bwMode="auto">
            <a:xfrm>
              <a:off x="3370" y="2739"/>
              <a:ext cx="18" cy="19"/>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90" name="Oval 587"/>
            <p:cNvSpPr>
              <a:spLocks noChangeArrowheads="1"/>
            </p:cNvSpPr>
            <p:nvPr/>
          </p:nvSpPr>
          <p:spPr bwMode="auto">
            <a:xfrm>
              <a:off x="3371" y="2740"/>
              <a:ext cx="16" cy="17"/>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91" name="Freeform 588"/>
            <p:cNvSpPr>
              <a:spLocks/>
            </p:cNvSpPr>
            <p:nvPr/>
          </p:nvSpPr>
          <p:spPr bwMode="auto">
            <a:xfrm>
              <a:off x="2987" y="2856"/>
              <a:ext cx="305" cy="288"/>
            </a:xfrm>
            <a:custGeom>
              <a:avLst/>
              <a:gdLst>
                <a:gd name="T0" fmla="*/ 51 w 305"/>
                <a:gd name="T1" fmla="*/ 277 h 288"/>
                <a:gd name="T2" fmla="*/ 57 w 305"/>
                <a:gd name="T3" fmla="*/ 288 h 288"/>
                <a:gd name="T4" fmla="*/ 305 w 305"/>
                <a:gd name="T5" fmla="*/ 17 h 288"/>
                <a:gd name="T6" fmla="*/ 287 w 305"/>
                <a:gd name="T7" fmla="*/ 0 h 288"/>
                <a:gd name="T8" fmla="*/ 0 w 305"/>
                <a:gd name="T9" fmla="*/ 233 h 288"/>
                <a:gd name="T10" fmla="*/ 21 w 305"/>
                <a:gd name="T11" fmla="*/ 243 h 288"/>
                <a:gd name="T12" fmla="*/ 34 w 305"/>
                <a:gd name="T13" fmla="*/ 256 h 288"/>
                <a:gd name="T14" fmla="*/ 44 w 305"/>
                <a:gd name="T15" fmla="*/ 267 h 288"/>
                <a:gd name="T16" fmla="*/ 51 w 305"/>
                <a:gd name="T17" fmla="*/ 27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5" h="288">
                  <a:moveTo>
                    <a:pt x="51" y="277"/>
                  </a:moveTo>
                  <a:lnTo>
                    <a:pt x="57" y="288"/>
                  </a:lnTo>
                  <a:lnTo>
                    <a:pt x="305" y="17"/>
                  </a:lnTo>
                  <a:lnTo>
                    <a:pt x="287" y="0"/>
                  </a:lnTo>
                  <a:lnTo>
                    <a:pt x="0" y="233"/>
                  </a:lnTo>
                  <a:lnTo>
                    <a:pt x="21" y="243"/>
                  </a:lnTo>
                  <a:lnTo>
                    <a:pt x="34" y="256"/>
                  </a:lnTo>
                  <a:lnTo>
                    <a:pt x="44" y="267"/>
                  </a:lnTo>
                  <a:lnTo>
                    <a:pt x="51" y="277"/>
                  </a:lnTo>
                  <a:close/>
                </a:path>
              </a:pathLst>
            </a:custGeom>
            <a:solidFill>
              <a:srgbClr val="EE0000"/>
            </a:solidFill>
            <a:ln w="9525">
              <a:noFill/>
              <a:round/>
              <a:headEnd/>
              <a:tailEnd/>
            </a:ln>
          </p:spPr>
          <p:txBody>
            <a:bodyPr/>
            <a:lstStyle/>
            <a:p>
              <a:endParaRPr lang="zh-CN" altLang="en-US"/>
            </a:p>
          </p:txBody>
        </p:sp>
        <p:sp>
          <p:nvSpPr>
            <p:cNvPr id="92" name="Freeform 589"/>
            <p:cNvSpPr>
              <a:spLocks/>
            </p:cNvSpPr>
            <p:nvPr/>
          </p:nvSpPr>
          <p:spPr bwMode="auto">
            <a:xfrm>
              <a:off x="2987" y="2856"/>
              <a:ext cx="305" cy="288"/>
            </a:xfrm>
            <a:custGeom>
              <a:avLst/>
              <a:gdLst>
                <a:gd name="T0" fmla="*/ 51 w 305"/>
                <a:gd name="T1" fmla="*/ 277 h 288"/>
                <a:gd name="T2" fmla="*/ 57 w 305"/>
                <a:gd name="T3" fmla="*/ 288 h 288"/>
                <a:gd name="T4" fmla="*/ 305 w 305"/>
                <a:gd name="T5" fmla="*/ 17 h 288"/>
                <a:gd name="T6" fmla="*/ 287 w 305"/>
                <a:gd name="T7" fmla="*/ 0 h 288"/>
                <a:gd name="T8" fmla="*/ 0 w 305"/>
                <a:gd name="T9" fmla="*/ 233 h 288"/>
                <a:gd name="T10" fmla="*/ 21 w 305"/>
                <a:gd name="T11" fmla="*/ 243 h 288"/>
                <a:gd name="T12" fmla="*/ 34 w 305"/>
                <a:gd name="T13" fmla="*/ 256 h 288"/>
                <a:gd name="T14" fmla="*/ 44 w 305"/>
                <a:gd name="T15" fmla="*/ 267 h 288"/>
                <a:gd name="T16" fmla="*/ 51 w 305"/>
                <a:gd name="T17" fmla="*/ 27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5" h="288">
                  <a:moveTo>
                    <a:pt x="51" y="277"/>
                  </a:moveTo>
                  <a:lnTo>
                    <a:pt x="57" y="288"/>
                  </a:lnTo>
                  <a:lnTo>
                    <a:pt x="305" y="17"/>
                  </a:lnTo>
                  <a:lnTo>
                    <a:pt x="287" y="0"/>
                  </a:lnTo>
                  <a:lnTo>
                    <a:pt x="0" y="233"/>
                  </a:lnTo>
                  <a:lnTo>
                    <a:pt x="21" y="243"/>
                  </a:lnTo>
                  <a:lnTo>
                    <a:pt x="34" y="256"/>
                  </a:lnTo>
                  <a:lnTo>
                    <a:pt x="44" y="267"/>
                  </a:lnTo>
                  <a:lnTo>
                    <a:pt x="51" y="277"/>
                  </a:lnTo>
                </a:path>
              </a:pathLst>
            </a:custGeom>
            <a:noFill/>
            <a:ln w="3175">
              <a:solidFill>
                <a:srgbClr val="EE0000"/>
              </a:solidFill>
              <a:prstDash val="solid"/>
              <a:round/>
              <a:headEnd/>
              <a:tailEnd/>
            </a:ln>
          </p:spPr>
          <p:txBody>
            <a:bodyPr/>
            <a:lstStyle/>
            <a:p>
              <a:endParaRPr lang="zh-CN" altLang="en-US"/>
            </a:p>
          </p:txBody>
        </p:sp>
        <p:sp>
          <p:nvSpPr>
            <p:cNvPr id="93" name="Freeform 590"/>
            <p:cNvSpPr>
              <a:spLocks/>
            </p:cNvSpPr>
            <p:nvPr/>
          </p:nvSpPr>
          <p:spPr bwMode="auto">
            <a:xfrm>
              <a:off x="3272" y="2852"/>
              <a:ext cx="24" cy="25"/>
            </a:xfrm>
            <a:custGeom>
              <a:avLst/>
              <a:gdLst>
                <a:gd name="T0" fmla="*/ 24 w 24"/>
                <a:gd name="T1" fmla="*/ 11 h 25"/>
                <a:gd name="T2" fmla="*/ 20 w 24"/>
                <a:gd name="T3" fmla="*/ 21 h 25"/>
                <a:gd name="T4" fmla="*/ 13 w 24"/>
                <a:gd name="T5" fmla="*/ 25 h 25"/>
                <a:gd name="T6" fmla="*/ 13 w 24"/>
                <a:gd name="T7" fmla="*/ 25 h 25"/>
                <a:gd name="T8" fmla="*/ 3 w 24"/>
                <a:gd name="T9" fmla="*/ 23 h 25"/>
                <a:gd name="T10" fmla="*/ 0 w 24"/>
                <a:gd name="T11" fmla="*/ 13 h 25"/>
                <a:gd name="T12" fmla="*/ 0 w 24"/>
                <a:gd name="T13" fmla="*/ 13 h 25"/>
                <a:gd name="T14" fmla="*/ 3 w 24"/>
                <a:gd name="T15" fmla="*/ 4 h 25"/>
                <a:gd name="T16" fmla="*/ 11 w 24"/>
                <a:gd name="T17" fmla="*/ 0 h 25"/>
                <a:gd name="T18" fmla="*/ 11 w 24"/>
                <a:gd name="T19" fmla="*/ 0 h 25"/>
                <a:gd name="T20" fmla="*/ 20 w 24"/>
                <a:gd name="T21" fmla="*/ 4 h 25"/>
                <a:gd name="T22" fmla="*/ 24 w 24"/>
                <a:gd name="T23" fmla="*/ 1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 h="25">
                  <a:moveTo>
                    <a:pt x="24" y="11"/>
                  </a:moveTo>
                  <a:lnTo>
                    <a:pt x="20" y="21"/>
                  </a:lnTo>
                  <a:lnTo>
                    <a:pt x="13" y="25"/>
                  </a:lnTo>
                  <a:lnTo>
                    <a:pt x="3" y="23"/>
                  </a:lnTo>
                  <a:lnTo>
                    <a:pt x="0" y="13"/>
                  </a:lnTo>
                  <a:lnTo>
                    <a:pt x="3" y="4"/>
                  </a:lnTo>
                  <a:lnTo>
                    <a:pt x="11" y="0"/>
                  </a:lnTo>
                  <a:lnTo>
                    <a:pt x="20" y="4"/>
                  </a:lnTo>
                  <a:lnTo>
                    <a:pt x="24" y="11"/>
                  </a:lnTo>
                  <a:close/>
                </a:path>
              </a:pathLst>
            </a:custGeom>
            <a:solidFill>
              <a:srgbClr val="EE0000"/>
            </a:solidFill>
            <a:ln w="9525">
              <a:noFill/>
              <a:round/>
              <a:headEnd/>
              <a:tailEnd/>
            </a:ln>
          </p:spPr>
          <p:txBody>
            <a:bodyPr/>
            <a:lstStyle/>
            <a:p>
              <a:endParaRPr lang="zh-CN" altLang="en-US"/>
            </a:p>
          </p:txBody>
        </p:sp>
        <p:sp>
          <p:nvSpPr>
            <p:cNvPr id="94" name="Freeform 591"/>
            <p:cNvSpPr>
              <a:spLocks/>
            </p:cNvSpPr>
            <p:nvPr/>
          </p:nvSpPr>
          <p:spPr bwMode="auto">
            <a:xfrm>
              <a:off x="3272" y="2852"/>
              <a:ext cx="24" cy="25"/>
            </a:xfrm>
            <a:custGeom>
              <a:avLst/>
              <a:gdLst>
                <a:gd name="T0" fmla="*/ 24 w 24"/>
                <a:gd name="T1" fmla="*/ 11 h 25"/>
                <a:gd name="T2" fmla="*/ 20 w 24"/>
                <a:gd name="T3" fmla="*/ 21 h 25"/>
                <a:gd name="T4" fmla="*/ 13 w 24"/>
                <a:gd name="T5" fmla="*/ 25 h 25"/>
                <a:gd name="T6" fmla="*/ 13 w 24"/>
                <a:gd name="T7" fmla="*/ 25 h 25"/>
                <a:gd name="T8" fmla="*/ 3 w 24"/>
                <a:gd name="T9" fmla="*/ 23 h 25"/>
                <a:gd name="T10" fmla="*/ 0 w 24"/>
                <a:gd name="T11" fmla="*/ 13 h 25"/>
                <a:gd name="T12" fmla="*/ 0 w 24"/>
                <a:gd name="T13" fmla="*/ 13 h 25"/>
                <a:gd name="T14" fmla="*/ 3 w 24"/>
                <a:gd name="T15" fmla="*/ 4 h 25"/>
                <a:gd name="T16" fmla="*/ 11 w 24"/>
                <a:gd name="T17" fmla="*/ 0 h 25"/>
                <a:gd name="T18" fmla="*/ 11 w 24"/>
                <a:gd name="T19" fmla="*/ 0 h 25"/>
                <a:gd name="T20" fmla="*/ 20 w 24"/>
                <a:gd name="T21" fmla="*/ 4 h 25"/>
                <a:gd name="T22" fmla="*/ 24 w 24"/>
                <a:gd name="T23" fmla="*/ 1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 h="25">
                  <a:moveTo>
                    <a:pt x="24" y="11"/>
                  </a:moveTo>
                  <a:lnTo>
                    <a:pt x="20" y="21"/>
                  </a:lnTo>
                  <a:lnTo>
                    <a:pt x="13" y="25"/>
                  </a:lnTo>
                  <a:lnTo>
                    <a:pt x="3" y="23"/>
                  </a:lnTo>
                  <a:lnTo>
                    <a:pt x="0" y="13"/>
                  </a:lnTo>
                  <a:lnTo>
                    <a:pt x="3" y="4"/>
                  </a:lnTo>
                  <a:lnTo>
                    <a:pt x="11" y="0"/>
                  </a:lnTo>
                  <a:lnTo>
                    <a:pt x="20" y="4"/>
                  </a:lnTo>
                  <a:lnTo>
                    <a:pt x="24" y="11"/>
                  </a:lnTo>
                </a:path>
              </a:pathLst>
            </a:custGeom>
            <a:noFill/>
            <a:ln w="3175">
              <a:solidFill>
                <a:srgbClr val="EE0000"/>
              </a:solidFill>
              <a:prstDash val="solid"/>
              <a:round/>
              <a:headEnd/>
              <a:tailEnd/>
            </a:ln>
          </p:spPr>
          <p:txBody>
            <a:bodyPr/>
            <a:lstStyle/>
            <a:p>
              <a:endParaRPr lang="zh-CN" altLang="en-US"/>
            </a:p>
          </p:txBody>
        </p:sp>
        <p:sp>
          <p:nvSpPr>
            <p:cNvPr id="95" name="Oval 592"/>
            <p:cNvSpPr>
              <a:spLocks noChangeArrowheads="1"/>
            </p:cNvSpPr>
            <p:nvPr/>
          </p:nvSpPr>
          <p:spPr bwMode="auto">
            <a:xfrm>
              <a:off x="2856" y="3086"/>
              <a:ext cx="188"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96" name="Oval 593"/>
            <p:cNvSpPr>
              <a:spLocks noChangeArrowheads="1"/>
            </p:cNvSpPr>
            <p:nvPr/>
          </p:nvSpPr>
          <p:spPr bwMode="auto">
            <a:xfrm>
              <a:off x="2860" y="3090"/>
              <a:ext cx="180"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97" name="Oval 594"/>
            <p:cNvSpPr>
              <a:spLocks noChangeArrowheads="1"/>
            </p:cNvSpPr>
            <p:nvPr/>
          </p:nvSpPr>
          <p:spPr bwMode="auto">
            <a:xfrm>
              <a:off x="2850" y="1941"/>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98" name="Oval 595"/>
            <p:cNvSpPr>
              <a:spLocks noChangeArrowheads="1"/>
            </p:cNvSpPr>
            <p:nvPr/>
          </p:nvSpPr>
          <p:spPr bwMode="auto">
            <a:xfrm>
              <a:off x="2854" y="1945"/>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99" name="Freeform 596"/>
            <p:cNvSpPr>
              <a:spLocks/>
            </p:cNvSpPr>
            <p:nvPr/>
          </p:nvSpPr>
          <p:spPr bwMode="auto">
            <a:xfrm>
              <a:off x="3748" y="1922"/>
              <a:ext cx="145" cy="228"/>
            </a:xfrm>
            <a:custGeom>
              <a:avLst/>
              <a:gdLst>
                <a:gd name="T0" fmla="*/ 83 w 145"/>
                <a:gd name="T1" fmla="*/ 228 h 228"/>
                <a:gd name="T2" fmla="*/ 0 w 145"/>
                <a:gd name="T3" fmla="*/ 11 h 228"/>
                <a:gd name="T4" fmla="*/ 21 w 145"/>
                <a:gd name="T5" fmla="*/ 0 h 228"/>
                <a:gd name="T6" fmla="*/ 145 w 145"/>
                <a:gd name="T7" fmla="*/ 198 h 228"/>
                <a:gd name="T8" fmla="*/ 128 w 145"/>
                <a:gd name="T9" fmla="*/ 202 h 228"/>
                <a:gd name="T10" fmla="*/ 111 w 145"/>
                <a:gd name="T11" fmla="*/ 207 h 228"/>
                <a:gd name="T12" fmla="*/ 96 w 145"/>
                <a:gd name="T13" fmla="*/ 217 h 228"/>
                <a:gd name="T14" fmla="*/ 83 w 145"/>
                <a:gd name="T15" fmla="*/ 228 h 2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5" h="228">
                  <a:moveTo>
                    <a:pt x="83" y="228"/>
                  </a:moveTo>
                  <a:lnTo>
                    <a:pt x="0" y="11"/>
                  </a:lnTo>
                  <a:lnTo>
                    <a:pt x="21" y="0"/>
                  </a:lnTo>
                  <a:lnTo>
                    <a:pt x="145" y="198"/>
                  </a:lnTo>
                  <a:lnTo>
                    <a:pt x="128" y="202"/>
                  </a:lnTo>
                  <a:lnTo>
                    <a:pt x="111" y="207"/>
                  </a:lnTo>
                  <a:lnTo>
                    <a:pt x="96" y="217"/>
                  </a:lnTo>
                  <a:lnTo>
                    <a:pt x="83" y="228"/>
                  </a:lnTo>
                  <a:close/>
                </a:path>
              </a:pathLst>
            </a:custGeom>
            <a:solidFill>
              <a:srgbClr val="EE0000"/>
            </a:solidFill>
            <a:ln w="9525">
              <a:noFill/>
              <a:round/>
              <a:headEnd/>
              <a:tailEnd/>
            </a:ln>
          </p:spPr>
          <p:txBody>
            <a:bodyPr/>
            <a:lstStyle/>
            <a:p>
              <a:endParaRPr lang="zh-CN" altLang="en-US"/>
            </a:p>
          </p:txBody>
        </p:sp>
        <p:sp>
          <p:nvSpPr>
            <p:cNvPr id="100" name="Freeform 597"/>
            <p:cNvSpPr>
              <a:spLocks/>
            </p:cNvSpPr>
            <p:nvPr/>
          </p:nvSpPr>
          <p:spPr bwMode="auto">
            <a:xfrm>
              <a:off x="3748" y="1922"/>
              <a:ext cx="145" cy="228"/>
            </a:xfrm>
            <a:custGeom>
              <a:avLst/>
              <a:gdLst>
                <a:gd name="T0" fmla="*/ 83 w 145"/>
                <a:gd name="T1" fmla="*/ 228 h 228"/>
                <a:gd name="T2" fmla="*/ 0 w 145"/>
                <a:gd name="T3" fmla="*/ 11 h 228"/>
                <a:gd name="T4" fmla="*/ 21 w 145"/>
                <a:gd name="T5" fmla="*/ 0 h 228"/>
                <a:gd name="T6" fmla="*/ 145 w 145"/>
                <a:gd name="T7" fmla="*/ 198 h 228"/>
                <a:gd name="T8" fmla="*/ 128 w 145"/>
                <a:gd name="T9" fmla="*/ 202 h 228"/>
                <a:gd name="T10" fmla="*/ 111 w 145"/>
                <a:gd name="T11" fmla="*/ 207 h 228"/>
                <a:gd name="T12" fmla="*/ 96 w 145"/>
                <a:gd name="T13" fmla="*/ 217 h 228"/>
                <a:gd name="T14" fmla="*/ 83 w 145"/>
                <a:gd name="T15" fmla="*/ 228 h 2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5" h="228">
                  <a:moveTo>
                    <a:pt x="83" y="228"/>
                  </a:moveTo>
                  <a:lnTo>
                    <a:pt x="0" y="11"/>
                  </a:lnTo>
                  <a:lnTo>
                    <a:pt x="21" y="0"/>
                  </a:lnTo>
                  <a:lnTo>
                    <a:pt x="145" y="198"/>
                  </a:lnTo>
                  <a:lnTo>
                    <a:pt x="128" y="202"/>
                  </a:lnTo>
                  <a:lnTo>
                    <a:pt x="111" y="207"/>
                  </a:lnTo>
                  <a:lnTo>
                    <a:pt x="96" y="217"/>
                  </a:lnTo>
                  <a:lnTo>
                    <a:pt x="83" y="228"/>
                  </a:lnTo>
                </a:path>
              </a:pathLst>
            </a:custGeom>
            <a:noFill/>
            <a:ln w="3175">
              <a:solidFill>
                <a:srgbClr val="EE0000"/>
              </a:solidFill>
              <a:prstDash val="solid"/>
              <a:round/>
              <a:headEnd/>
              <a:tailEnd/>
            </a:ln>
          </p:spPr>
          <p:txBody>
            <a:bodyPr/>
            <a:lstStyle/>
            <a:p>
              <a:endParaRPr lang="zh-CN" altLang="en-US"/>
            </a:p>
          </p:txBody>
        </p:sp>
        <p:sp>
          <p:nvSpPr>
            <p:cNvPr id="101" name="Oval 598"/>
            <p:cNvSpPr>
              <a:spLocks noChangeArrowheads="1"/>
            </p:cNvSpPr>
            <p:nvPr/>
          </p:nvSpPr>
          <p:spPr bwMode="auto">
            <a:xfrm>
              <a:off x="3746" y="1915"/>
              <a:ext cx="21" cy="20"/>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102" name="Oval 599"/>
            <p:cNvSpPr>
              <a:spLocks noChangeArrowheads="1"/>
            </p:cNvSpPr>
            <p:nvPr/>
          </p:nvSpPr>
          <p:spPr bwMode="auto">
            <a:xfrm>
              <a:off x="3747" y="1916"/>
              <a:ext cx="19" cy="18"/>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103" name="Freeform 600"/>
            <p:cNvSpPr>
              <a:spLocks/>
            </p:cNvSpPr>
            <p:nvPr/>
          </p:nvSpPr>
          <p:spPr bwMode="auto">
            <a:xfrm>
              <a:off x="3910" y="2374"/>
              <a:ext cx="137" cy="226"/>
            </a:xfrm>
            <a:custGeom>
              <a:avLst/>
              <a:gdLst>
                <a:gd name="T0" fmla="*/ 88 w 137"/>
                <a:gd name="T1" fmla="*/ 226 h 226"/>
                <a:gd name="T2" fmla="*/ 0 w 137"/>
                <a:gd name="T3" fmla="*/ 11 h 226"/>
                <a:gd name="T4" fmla="*/ 21 w 137"/>
                <a:gd name="T5" fmla="*/ 0 h 226"/>
                <a:gd name="T6" fmla="*/ 137 w 137"/>
                <a:gd name="T7" fmla="*/ 198 h 226"/>
                <a:gd name="T8" fmla="*/ 120 w 137"/>
                <a:gd name="T9" fmla="*/ 203 h 226"/>
                <a:gd name="T10" fmla="*/ 109 w 137"/>
                <a:gd name="T11" fmla="*/ 209 h 226"/>
                <a:gd name="T12" fmla="*/ 100 w 137"/>
                <a:gd name="T13" fmla="*/ 215 h 226"/>
                <a:gd name="T14" fmla="*/ 88 w 137"/>
                <a:gd name="T15" fmla="*/ 226 h 22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 h="226">
                  <a:moveTo>
                    <a:pt x="88" y="226"/>
                  </a:moveTo>
                  <a:lnTo>
                    <a:pt x="0" y="11"/>
                  </a:lnTo>
                  <a:lnTo>
                    <a:pt x="21" y="0"/>
                  </a:lnTo>
                  <a:lnTo>
                    <a:pt x="137" y="198"/>
                  </a:lnTo>
                  <a:lnTo>
                    <a:pt x="120" y="203"/>
                  </a:lnTo>
                  <a:lnTo>
                    <a:pt x="109" y="209"/>
                  </a:lnTo>
                  <a:lnTo>
                    <a:pt x="100" y="215"/>
                  </a:lnTo>
                  <a:lnTo>
                    <a:pt x="88" y="226"/>
                  </a:lnTo>
                  <a:close/>
                </a:path>
              </a:pathLst>
            </a:custGeom>
            <a:solidFill>
              <a:srgbClr val="EE0000"/>
            </a:solidFill>
            <a:ln w="9525">
              <a:noFill/>
              <a:round/>
              <a:headEnd/>
              <a:tailEnd/>
            </a:ln>
          </p:spPr>
          <p:txBody>
            <a:bodyPr/>
            <a:lstStyle/>
            <a:p>
              <a:endParaRPr lang="zh-CN" altLang="en-US"/>
            </a:p>
          </p:txBody>
        </p:sp>
        <p:sp>
          <p:nvSpPr>
            <p:cNvPr id="104" name="Freeform 601"/>
            <p:cNvSpPr>
              <a:spLocks/>
            </p:cNvSpPr>
            <p:nvPr/>
          </p:nvSpPr>
          <p:spPr bwMode="auto">
            <a:xfrm>
              <a:off x="3910" y="2374"/>
              <a:ext cx="137" cy="226"/>
            </a:xfrm>
            <a:custGeom>
              <a:avLst/>
              <a:gdLst>
                <a:gd name="T0" fmla="*/ 88 w 137"/>
                <a:gd name="T1" fmla="*/ 226 h 226"/>
                <a:gd name="T2" fmla="*/ 0 w 137"/>
                <a:gd name="T3" fmla="*/ 11 h 226"/>
                <a:gd name="T4" fmla="*/ 21 w 137"/>
                <a:gd name="T5" fmla="*/ 0 h 226"/>
                <a:gd name="T6" fmla="*/ 137 w 137"/>
                <a:gd name="T7" fmla="*/ 198 h 226"/>
                <a:gd name="T8" fmla="*/ 120 w 137"/>
                <a:gd name="T9" fmla="*/ 203 h 226"/>
                <a:gd name="T10" fmla="*/ 109 w 137"/>
                <a:gd name="T11" fmla="*/ 209 h 226"/>
                <a:gd name="T12" fmla="*/ 100 w 137"/>
                <a:gd name="T13" fmla="*/ 215 h 226"/>
                <a:gd name="T14" fmla="*/ 88 w 137"/>
                <a:gd name="T15" fmla="*/ 226 h 22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 h="226">
                  <a:moveTo>
                    <a:pt x="88" y="226"/>
                  </a:moveTo>
                  <a:lnTo>
                    <a:pt x="0" y="11"/>
                  </a:lnTo>
                  <a:lnTo>
                    <a:pt x="21" y="0"/>
                  </a:lnTo>
                  <a:lnTo>
                    <a:pt x="137" y="198"/>
                  </a:lnTo>
                  <a:lnTo>
                    <a:pt x="120" y="203"/>
                  </a:lnTo>
                  <a:lnTo>
                    <a:pt x="109" y="209"/>
                  </a:lnTo>
                  <a:lnTo>
                    <a:pt x="100" y="215"/>
                  </a:lnTo>
                  <a:lnTo>
                    <a:pt x="88" y="226"/>
                  </a:lnTo>
                </a:path>
              </a:pathLst>
            </a:custGeom>
            <a:noFill/>
            <a:ln w="3175">
              <a:solidFill>
                <a:srgbClr val="EE0000"/>
              </a:solidFill>
              <a:prstDash val="solid"/>
              <a:round/>
              <a:headEnd/>
              <a:tailEnd/>
            </a:ln>
          </p:spPr>
          <p:txBody>
            <a:bodyPr/>
            <a:lstStyle/>
            <a:p>
              <a:endParaRPr lang="zh-CN" altLang="en-US"/>
            </a:p>
          </p:txBody>
        </p:sp>
        <p:sp>
          <p:nvSpPr>
            <p:cNvPr id="105" name="Oval 602"/>
            <p:cNvSpPr>
              <a:spLocks noChangeArrowheads="1"/>
            </p:cNvSpPr>
            <p:nvPr/>
          </p:nvSpPr>
          <p:spPr bwMode="auto">
            <a:xfrm>
              <a:off x="3908" y="2365"/>
              <a:ext cx="21" cy="20"/>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106" name="Oval 603"/>
            <p:cNvSpPr>
              <a:spLocks noChangeArrowheads="1"/>
            </p:cNvSpPr>
            <p:nvPr/>
          </p:nvSpPr>
          <p:spPr bwMode="auto">
            <a:xfrm>
              <a:off x="3909" y="2366"/>
              <a:ext cx="19" cy="18"/>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107" name="Freeform 604"/>
            <p:cNvSpPr>
              <a:spLocks/>
            </p:cNvSpPr>
            <p:nvPr/>
          </p:nvSpPr>
          <p:spPr bwMode="auto">
            <a:xfrm>
              <a:off x="3174" y="2517"/>
              <a:ext cx="147" cy="222"/>
            </a:xfrm>
            <a:custGeom>
              <a:avLst/>
              <a:gdLst>
                <a:gd name="T0" fmla="*/ 88 w 147"/>
                <a:gd name="T1" fmla="*/ 222 h 222"/>
                <a:gd name="T2" fmla="*/ 0 w 147"/>
                <a:gd name="T3" fmla="*/ 11 h 222"/>
                <a:gd name="T4" fmla="*/ 19 w 147"/>
                <a:gd name="T5" fmla="*/ 0 h 222"/>
                <a:gd name="T6" fmla="*/ 147 w 147"/>
                <a:gd name="T7" fmla="*/ 198 h 222"/>
                <a:gd name="T8" fmla="*/ 122 w 147"/>
                <a:gd name="T9" fmla="*/ 203 h 222"/>
                <a:gd name="T10" fmla="*/ 103 w 147"/>
                <a:gd name="T11" fmla="*/ 211 h 222"/>
                <a:gd name="T12" fmla="*/ 88 w 147"/>
                <a:gd name="T13" fmla="*/ 222 h 2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7" h="222">
                  <a:moveTo>
                    <a:pt x="88" y="222"/>
                  </a:moveTo>
                  <a:lnTo>
                    <a:pt x="0" y="11"/>
                  </a:lnTo>
                  <a:lnTo>
                    <a:pt x="19" y="0"/>
                  </a:lnTo>
                  <a:lnTo>
                    <a:pt x="147" y="198"/>
                  </a:lnTo>
                  <a:lnTo>
                    <a:pt x="122" y="203"/>
                  </a:lnTo>
                  <a:lnTo>
                    <a:pt x="103" y="211"/>
                  </a:lnTo>
                  <a:lnTo>
                    <a:pt x="88" y="222"/>
                  </a:lnTo>
                  <a:close/>
                </a:path>
              </a:pathLst>
            </a:custGeom>
            <a:solidFill>
              <a:srgbClr val="EE0000"/>
            </a:solidFill>
            <a:ln w="9525">
              <a:noFill/>
              <a:round/>
              <a:headEnd/>
              <a:tailEnd/>
            </a:ln>
          </p:spPr>
          <p:txBody>
            <a:bodyPr/>
            <a:lstStyle/>
            <a:p>
              <a:endParaRPr lang="zh-CN" altLang="en-US"/>
            </a:p>
          </p:txBody>
        </p:sp>
        <p:sp>
          <p:nvSpPr>
            <p:cNvPr id="108" name="Freeform 605"/>
            <p:cNvSpPr>
              <a:spLocks/>
            </p:cNvSpPr>
            <p:nvPr/>
          </p:nvSpPr>
          <p:spPr bwMode="auto">
            <a:xfrm>
              <a:off x="3174" y="2517"/>
              <a:ext cx="147" cy="222"/>
            </a:xfrm>
            <a:custGeom>
              <a:avLst/>
              <a:gdLst>
                <a:gd name="T0" fmla="*/ 88 w 147"/>
                <a:gd name="T1" fmla="*/ 222 h 222"/>
                <a:gd name="T2" fmla="*/ 0 w 147"/>
                <a:gd name="T3" fmla="*/ 11 h 222"/>
                <a:gd name="T4" fmla="*/ 19 w 147"/>
                <a:gd name="T5" fmla="*/ 0 h 222"/>
                <a:gd name="T6" fmla="*/ 147 w 147"/>
                <a:gd name="T7" fmla="*/ 198 h 222"/>
                <a:gd name="T8" fmla="*/ 122 w 147"/>
                <a:gd name="T9" fmla="*/ 203 h 222"/>
                <a:gd name="T10" fmla="*/ 103 w 147"/>
                <a:gd name="T11" fmla="*/ 211 h 222"/>
                <a:gd name="T12" fmla="*/ 88 w 147"/>
                <a:gd name="T13" fmla="*/ 222 h 2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7" h="222">
                  <a:moveTo>
                    <a:pt x="88" y="222"/>
                  </a:moveTo>
                  <a:lnTo>
                    <a:pt x="0" y="11"/>
                  </a:lnTo>
                  <a:lnTo>
                    <a:pt x="19" y="0"/>
                  </a:lnTo>
                  <a:lnTo>
                    <a:pt x="147" y="198"/>
                  </a:lnTo>
                  <a:lnTo>
                    <a:pt x="122" y="203"/>
                  </a:lnTo>
                  <a:lnTo>
                    <a:pt x="103" y="211"/>
                  </a:lnTo>
                  <a:lnTo>
                    <a:pt x="88" y="222"/>
                  </a:lnTo>
                </a:path>
              </a:pathLst>
            </a:custGeom>
            <a:noFill/>
            <a:ln w="3175">
              <a:solidFill>
                <a:srgbClr val="EE0000"/>
              </a:solidFill>
              <a:prstDash val="solid"/>
              <a:round/>
              <a:headEnd/>
              <a:tailEnd/>
            </a:ln>
          </p:spPr>
          <p:txBody>
            <a:bodyPr/>
            <a:lstStyle/>
            <a:p>
              <a:endParaRPr lang="zh-CN" altLang="en-US"/>
            </a:p>
          </p:txBody>
        </p:sp>
        <p:sp>
          <p:nvSpPr>
            <p:cNvPr id="109" name="Oval 606"/>
            <p:cNvSpPr>
              <a:spLocks noChangeArrowheads="1"/>
            </p:cNvSpPr>
            <p:nvPr/>
          </p:nvSpPr>
          <p:spPr bwMode="auto">
            <a:xfrm>
              <a:off x="3170" y="2508"/>
              <a:ext cx="21" cy="20"/>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110" name="Oval 607"/>
            <p:cNvSpPr>
              <a:spLocks noChangeArrowheads="1"/>
            </p:cNvSpPr>
            <p:nvPr/>
          </p:nvSpPr>
          <p:spPr bwMode="auto">
            <a:xfrm>
              <a:off x="3171" y="2509"/>
              <a:ext cx="19" cy="18"/>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111" name="Line 608"/>
            <p:cNvSpPr>
              <a:spLocks noChangeShapeType="1"/>
            </p:cNvSpPr>
            <p:nvPr/>
          </p:nvSpPr>
          <p:spPr bwMode="auto">
            <a:xfrm flipV="1">
              <a:off x="4068" y="2577"/>
              <a:ext cx="1" cy="187"/>
            </a:xfrm>
            <a:prstGeom prst="line">
              <a:avLst/>
            </a:prstGeom>
            <a:noFill/>
            <a:ln w="23813">
              <a:solidFill>
                <a:srgbClr val="000000"/>
              </a:solidFill>
              <a:round/>
              <a:headEnd/>
              <a:tailEnd/>
            </a:ln>
          </p:spPr>
          <p:txBody>
            <a:bodyPr/>
            <a:lstStyle/>
            <a:p>
              <a:endParaRPr lang="zh-CN" altLang="en-US"/>
            </a:p>
          </p:txBody>
        </p:sp>
        <p:sp>
          <p:nvSpPr>
            <p:cNvPr id="112" name="Line 609"/>
            <p:cNvSpPr>
              <a:spLocks noChangeShapeType="1"/>
            </p:cNvSpPr>
            <p:nvPr/>
          </p:nvSpPr>
          <p:spPr bwMode="auto">
            <a:xfrm>
              <a:off x="3419" y="2039"/>
              <a:ext cx="225" cy="1"/>
            </a:xfrm>
            <a:prstGeom prst="line">
              <a:avLst/>
            </a:prstGeom>
            <a:noFill/>
            <a:ln w="23813">
              <a:solidFill>
                <a:srgbClr val="000000"/>
              </a:solidFill>
              <a:round/>
              <a:headEnd/>
              <a:tailEnd/>
            </a:ln>
          </p:spPr>
          <p:txBody>
            <a:bodyPr/>
            <a:lstStyle/>
            <a:p>
              <a:endParaRPr lang="zh-CN" altLang="en-US"/>
            </a:p>
          </p:txBody>
        </p:sp>
        <p:sp>
          <p:nvSpPr>
            <p:cNvPr id="113" name="Line 610"/>
            <p:cNvSpPr>
              <a:spLocks noChangeShapeType="1"/>
            </p:cNvSpPr>
            <p:nvPr/>
          </p:nvSpPr>
          <p:spPr bwMode="auto">
            <a:xfrm>
              <a:off x="3767" y="2041"/>
              <a:ext cx="109" cy="1"/>
            </a:xfrm>
            <a:prstGeom prst="line">
              <a:avLst/>
            </a:prstGeom>
            <a:noFill/>
            <a:ln w="23813">
              <a:solidFill>
                <a:srgbClr val="000000"/>
              </a:solidFill>
              <a:round/>
              <a:headEnd/>
              <a:tailEnd/>
            </a:ln>
          </p:spPr>
          <p:txBody>
            <a:bodyPr/>
            <a:lstStyle/>
            <a:p>
              <a:endParaRPr lang="zh-CN" altLang="en-US"/>
            </a:p>
          </p:txBody>
        </p:sp>
        <p:sp>
          <p:nvSpPr>
            <p:cNvPr id="114" name="Oval 611"/>
            <p:cNvSpPr>
              <a:spLocks noChangeArrowheads="1"/>
            </p:cNvSpPr>
            <p:nvPr/>
          </p:nvSpPr>
          <p:spPr bwMode="auto">
            <a:xfrm>
              <a:off x="3452" y="2462"/>
              <a:ext cx="191" cy="191"/>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115" name="Oval 612"/>
            <p:cNvSpPr>
              <a:spLocks noChangeArrowheads="1"/>
            </p:cNvSpPr>
            <p:nvPr/>
          </p:nvSpPr>
          <p:spPr bwMode="auto">
            <a:xfrm>
              <a:off x="3456" y="2466"/>
              <a:ext cx="183" cy="183"/>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116" name="Freeform 613"/>
            <p:cNvSpPr>
              <a:spLocks/>
            </p:cNvSpPr>
            <p:nvPr/>
          </p:nvSpPr>
          <p:spPr bwMode="auto">
            <a:xfrm>
              <a:off x="3970" y="2242"/>
              <a:ext cx="264" cy="187"/>
            </a:xfrm>
            <a:custGeom>
              <a:avLst/>
              <a:gdLst>
                <a:gd name="T0" fmla="*/ 30 w 264"/>
                <a:gd name="T1" fmla="*/ 0 h 187"/>
                <a:gd name="T2" fmla="*/ 264 w 264"/>
                <a:gd name="T3" fmla="*/ 162 h 187"/>
                <a:gd name="T4" fmla="*/ 256 w 264"/>
                <a:gd name="T5" fmla="*/ 187 h 187"/>
                <a:gd name="T6" fmla="*/ 0 w 264"/>
                <a:gd name="T7" fmla="*/ 51 h 187"/>
                <a:gd name="T8" fmla="*/ 30 w 264"/>
                <a:gd name="T9" fmla="*/ 0 h 1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4" h="187">
                  <a:moveTo>
                    <a:pt x="30" y="0"/>
                  </a:moveTo>
                  <a:lnTo>
                    <a:pt x="264" y="162"/>
                  </a:lnTo>
                  <a:lnTo>
                    <a:pt x="256" y="187"/>
                  </a:lnTo>
                  <a:lnTo>
                    <a:pt x="0" y="51"/>
                  </a:lnTo>
                  <a:lnTo>
                    <a:pt x="30" y="0"/>
                  </a:lnTo>
                  <a:close/>
                </a:path>
              </a:pathLst>
            </a:custGeom>
            <a:solidFill>
              <a:srgbClr val="EE0000"/>
            </a:solidFill>
            <a:ln w="9525">
              <a:noFill/>
              <a:round/>
              <a:headEnd/>
              <a:tailEnd/>
            </a:ln>
          </p:spPr>
          <p:txBody>
            <a:bodyPr/>
            <a:lstStyle/>
            <a:p>
              <a:endParaRPr lang="zh-CN" altLang="en-US"/>
            </a:p>
          </p:txBody>
        </p:sp>
        <p:sp>
          <p:nvSpPr>
            <p:cNvPr id="117" name="Freeform 614"/>
            <p:cNvSpPr>
              <a:spLocks/>
            </p:cNvSpPr>
            <p:nvPr/>
          </p:nvSpPr>
          <p:spPr bwMode="auto">
            <a:xfrm>
              <a:off x="3970" y="2242"/>
              <a:ext cx="264" cy="187"/>
            </a:xfrm>
            <a:custGeom>
              <a:avLst/>
              <a:gdLst>
                <a:gd name="T0" fmla="*/ 30 w 264"/>
                <a:gd name="T1" fmla="*/ 0 h 187"/>
                <a:gd name="T2" fmla="*/ 264 w 264"/>
                <a:gd name="T3" fmla="*/ 162 h 187"/>
                <a:gd name="T4" fmla="*/ 256 w 264"/>
                <a:gd name="T5" fmla="*/ 187 h 187"/>
                <a:gd name="T6" fmla="*/ 0 w 264"/>
                <a:gd name="T7" fmla="*/ 51 h 187"/>
                <a:gd name="T8" fmla="*/ 30 w 264"/>
                <a:gd name="T9" fmla="*/ 0 h 1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4" h="187">
                  <a:moveTo>
                    <a:pt x="30" y="0"/>
                  </a:moveTo>
                  <a:lnTo>
                    <a:pt x="264" y="162"/>
                  </a:lnTo>
                  <a:lnTo>
                    <a:pt x="256" y="187"/>
                  </a:lnTo>
                  <a:lnTo>
                    <a:pt x="0" y="51"/>
                  </a:lnTo>
                  <a:lnTo>
                    <a:pt x="30" y="0"/>
                  </a:lnTo>
                </a:path>
              </a:pathLst>
            </a:custGeom>
            <a:noFill/>
            <a:ln w="3175">
              <a:solidFill>
                <a:srgbClr val="EE0000"/>
              </a:solidFill>
              <a:prstDash val="solid"/>
              <a:round/>
              <a:headEnd/>
              <a:tailEnd/>
            </a:ln>
          </p:spPr>
          <p:txBody>
            <a:bodyPr/>
            <a:lstStyle/>
            <a:p>
              <a:endParaRPr lang="zh-CN" altLang="en-US"/>
            </a:p>
          </p:txBody>
        </p:sp>
        <p:sp>
          <p:nvSpPr>
            <p:cNvPr id="118" name="Oval 615"/>
            <p:cNvSpPr>
              <a:spLocks noChangeArrowheads="1"/>
            </p:cNvSpPr>
            <p:nvPr/>
          </p:nvSpPr>
          <p:spPr bwMode="auto">
            <a:xfrm>
              <a:off x="3808" y="2122"/>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119" name="Oval 616"/>
            <p:cNvSpPr>
              <a:spLocks noChangeArrowheads="1"/>
            </p:cNvSpPr>
            <p:nvPr/>
          </p:nvSpPr>
          <p:spPr bwMode="auto">
            <a:xfrm>
              <a:off x="3812" y="2126"/>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120" name="Freeform 617"/>
            <p:cNvSpPr>
              <a:spLocks/>
            </p:cNvSpPr>
            <p:nvPr/>
          </p:nvSpPr>
          <p:spPr bwMode="auto">
            <a:xfrm>
              <a:off x="3944" y="2058"/>
              <a:ext cx="98" cy="107"/>
            </a:xfrm>
            <a:custGeom>
              <a:avLst/>
              <a:gdLst>
                <a:gd name="T0" fmla="*/ 0 w 98"/>
                <a:gd name="T1" fmla="*/ 94 h 107"/>
                <a:gd name="T2" fmla="*/ 60 w 98"/>
                <a:gd name="T3" fmla="*/ 0 h 107"/>
                <a:gd name="T4" fmla="*/ 98 w 98"/>
                <a:gd name="T5" fmla="*/ 41 h 107"/>
                <a:gd name="T6" fmla="*/ 19 w 98"/>
                <a:gd name="T7" fmla="*/ 107 h 107"/>
                <a:gd name="T8" fmla="*/ 0 w 98"/>
                <a:gd name="T9" fmla="*/ 94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07">
                  <a:moveTo>
                    <a:pt x="0" y="94"/>
                  </a:moveTo>
                  <a:lnTo>
                    <a:pt x="60" y="0"/>
                  </a:lnTo>
                  <a:lnTo>
                    <a:pt x="98" y="41"/>
                  </a:lnTo>
                  <a:lnTo>
                    <a:pt x="19" y="107"/>
                  </a:lnTo>
                  <a:lnTo>
                    <a:pt x="0" y="94"/>
                  </a:lnTo>
                  <a:close/>
                </a:path>
              </a:pathLst>
            </a:custGeom>
            <a:solidFill>
              <a:srgbClr val="EE0000"/>
            </a:solidFill>
            <a:ln w="9525">
              <a:noFill/>
              <a:round/>
              <a:headEnd/>
              <a:tailEnd/>
            </a:ln>
          </p:spPr>
          <p:txBody>
            <a:bodyPr/>
            <a:lstStyle/>
            <a:p>
              <a:endParaRPr lang="zh-CN" altLang="en-US"/>
            </a:p>
          </p:txBody>
        </p:sp>
        <p:sp>
          <p:nvSpPr>
            <p:cNvPr id="121" name="Freeform 618"/>
            <p:cNvSpPr>
              <a:spLocks/>
            </p:cNvSpPr>
            <p:nvPr/>
          </p:nvSpPr>
          <p:spPr bwMode="auto">
            <a:xfrm>
              <a:off x="3944" y="2058"/>
              <a:ext cx="98" cy="107"/>
            </a:xfrm>
            <a:custGeom>
              <a:avLst/>
              <a:gdLst>
                <a:gd name="T0" fmla="*/ 0 w 98"/>
                <a:gd name="T1" fmla="*/ 94 h 107"/>
                <a:gd name="T2" fmla="*/ 60 w 98"/>
                <a:gd name="T3" fmla="*/ 0 h 107"/>
                <a:gd name="T4" fmla="*/ 98 w 98"/>
                <a:gd name="T5" fmla="*/ 41 h 107"/>
                <a:gd name="T6" fmla="*/ 19 w 98"/>
                <a:gd name="T7" fmla="*/ 107 h 107"/>
                <a:gd name="T8" fmla="*/ 0 w 98"/>
                <a:gd name="T9" fmla="*/ 94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07">
                  <a:moveTo>
                    <a:pt x="0" y="94"/>
                  </a:moveTo>
                  <a:lnTo>
                    <a:pt x="60" y="0"/>
                  </a:lnTo>
                  <a:lnTo>
                    <a:pt x="98" y="41"/>
                  </a:lnTo>
                  <a:lnTo>
                    <a:pt x="19" y="107"/>
                  </a:lnTo>
                  <a:lnTo>
                    <a:pt x="0" y="94"/>
                  </a:lnTo>
                </a:path>
              </a:pathLst>
            </a:custGeom>
            <a:noFill/>
            <a:ln w="3175">
              <a:solidFill>
                <a:srgbClr val="EE0000"/>
              </a:solidFill>
              <a:prstDash val="solid"/>
              <a:round/>
              <a:headEnd/>
              <a:tailEnd/>
            </a:ln>
          </p:spPr>
          <p:txBody>
            <a:bodyPr/>
            <a:lstStyle/>
            <a:p>
              <a:endParaRPr lang="zh-CN" altLang="en-US"/>
            </a:p>
          </p:txBody>
        </p:sp>
        <p:sp>
          <p:nvSpPr>
            <p:cNvPr id="122" name="Oval 619"/>
            <p:cNvSpPr>
              <a:spLocks noChangeArrowheads="1"/>
            </p:cNvSpPr>
            <p:nvPr/>
          </p:nvSpPr>
          <p:spPr bwMode="auto">
            <a:xfrm>
              <a:off x="3942" y="2148"/>
              <a:ext cx="17" cy="19"/>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123" name="Oval 620"/>
            <p:cNvSpPr>
              <a:spLocks noChangeArrowheads="1"/>
            </p:cNvSpPr>
            <p:nvPr/>
          </p:nvSpPr>
          <p:spPr bwMode="auto">
            <a:xfrm>
              <a:off x="3943" y="2149"/>
              <a:ext cx="15" cy="17"/>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124" name="Freeform 621"/>
            <p:cNvSpPr>
              <a:spLocks/>
            </p:cNvSpPr>
            <p:nvPr/>
          </p:nvSpPr>
          <p:spPr bwMode="auto">
            <a:xfrm>
              <a:off x="3597" y="2263"/>
              <a:ext cx="268" cy="260"/>
            </a:xfrm>
            <a:custGeom>
              <a:avLst/>
              <a:gdLst>
                <a:gd name="T0" fmla="*/ 44 w 268"/>
                <a:gd name="T1" fmla="*/ 260 h 260"/>
                <a:gd name="T2" fmla="*/ 268 w 268"/>
                <a:gd name="T3" fmla="*/ 17 h 260"/>
                <a:gd name="T4" fmla="*/ 251 w 268"/>
                <a:gd name="T5" fmla="*/ 0 h 260"/>
                <a:gd name="T6" fmla="*/ 0 w 268"/>
                <a:gd name="T7" fmla="*/ 209 h 260"/>
                <a:gd name="T8" fmla="*/ 12 w 268"/>
                <a:gd name="T9" fmla="*/ 215 h 260"/>
                <a:gd name="T10" fmla="*/ 19 w 268"/>
                <a:gd name="T11" fmla="*/ 222 h 260"/>
                <a:gd name="T12" fmla="*/ 29 w 268"/>
                <a:gd name="T13" fmla="*/ 231 h 260"/>
                <a:gd name="T14" fmla="*/ 34 w 268"/>
                <a:gd name="T15" fmla="*/ 239 h 260"/>
                <a:gd name="T16" fmla="*/ 42 w 268"/>
                <a:gd name="T17" fmla="*/ 252 h 260"/>
                <a:gd name="T18" fmla="*/ 44 w 268"/>
                <a:gd name="T19" fmla="*/ 260 h 2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8" h="260">
                  <a:moveTo>
                    <a:pt x="44" y="260"/>
                  </a:moveTo>
                  <a:lnTo>
                    <a:pt x="268" y="17"/>
                  </a:lnTo>
                  <a:lnTo>
                    <a:pt x="251" y="0"/>
                  </a:lnTo>
                  <a:lnTo>
                    <a:pt x="0" y="209"/>
                  </a:lnTo>
                  <a:lnTo>
                    <a:pt x="12" y="215"/>
                  </a:lnTo>
                  <a:lnTo>
                    <a:pt x="19" y="222"/>
                  </a:lnTo>
                  <a:lnTo>
                    <a:pt x="29" y="231"/>
                  </a:lnTo>
                  <a:lnTo>
                    <a:pt x="34" y="239"/>
                  </a:lnTo>
                  <a:lnTo>
                    <a:pt x="42" y="252"/>
                  </a:lnTo>
                  <a:lnTo>
                    <a:pt x="44" y="260"/>
                  </a:lnTo>
                  <a:close/>
                </a:path>
              </a:pathLst>
            </a:custGeom>
            <a:solidFill>
              <a:srgbClr val="EE0000"/>
            </a:solidFill>
            <a:ln w="9525">
              <a:noFill/>
              <a:round/>
              <a:headEnd/>
              <a:tailEnd/>
            </a:ln>
          </p:spPr>
          <p:txBody>
            <a:bodyPr/>
            <a:lstStyle/>
            <a:p>
              <a:endParaRPr lang="zh-CN" altLang="en-US"/>
            </a:p>
          </p:txBody>
        </p:sp>
        <p:sp>
          <p:nvSpPr>
            <p:cNvPr id="125" name="Freeform 622"/>
            <p:cNvSpPr>
              <a:spLocks/>
            </p:cNvSpPr>
            <p:nvPr/>
          </p:nvSpPr>
          <p:spPr bwMode="auto">
            <a:xfrm>
              <a:off x="3597" y="2263"/>
              <a:ext cx="268" cy="260"/>
            </a:xfrm>
            <a:custGeom>
              <a:avLst/>
              <a:gdLst>
                <a:gd name="T0" fmla="*/ 44 w 268"/>
                <a:gd name="T1" fmla="*/ 260 h 260"/>
                <a:gd name="T2" fmla="*/ 268 w 268"/>
                <a:gd name="T3" fmla="*/ 17 h 260"/>
                <a:gd name="T4" fmla="*/ 251 w 268"/>
                <a:gd name="T5" fmla="*/ 0 h 260"/>
                <a:gd name="T6" fmla="*/ 0 w 268"/>
                <a:gd name="T7" fmla="*/ 209 h 260"/>
                <a:gd name="T8" fmla="*/ 12 w 268"/>
                <a:gd name="T9" fmla="*/ 215 h 260"/>
                <a:gd name="T10" fmla="*/ 19 w 268"/>
                <a:gd name="T11" fmla="*/ 222 h 260"/>
                <a:gd name="T12" fmla="*/ 29 w 268"/>
                <a:gd name="T13" fmla="*/ 231 h 260"/>
                <a:gd name="T14" fmla="*/ 34 w 268"/>
                <a:gd name="T15" fmla="*/ 239 h 260"/>
                <a:gd name="T16" fmla="*/ 42 w 268"/>
                <a:gd name="T17" fmla="*/ 252 h 260"/>
                <a:gd name="T18" fmla="*/ 44 w 268"/>
                <a:gd name="T19" fmla="*/ 260 h 2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8" h="260">
                  <a:moveTo>
                    <a:pt x="44" y="260"/>
                  </a:moveTo>
                  <a:lnTo>
                    <a:pt x="268" y="17"/>
                  </a:lnTo>
                  <a:lnTo>
                    <a:pt x="251" y="0"/>
                  </a:lnTo>
                  <a:lnTo>
                    <a:pt x="0" y="209"/>
                  </a:lnTo>
                  <a:lnTo>
                    <a:pt x="12" y="215"/>
                  </a:lnTo>
                  <a:lnTo>
                    <a:pt x="19" y="222"/>
                  </a:lnTo>
                  <a:lnTo>
                    <a:pt x="29" y="231"/>
                  </a:lnTo>
                  <a:lnTo>
                    <a:pt x="34" y="239"/>
                  </a:lnTo>
                  <a:lnTo>
                    <a:pt x="42" y="252"/>
                  </a:lnTo>
                  <a:lnTo>
                    <a:pt x="44" y="260"/>
                  </a:lnTo>
                </a:path>
              </a:pathLst>
            </a:custGeom>
            <a:noFill/>
            <a:ln w="3175">
              <a:solidFill>
                <a:srgbClr val="EE0000"/>
              </a:solidFill>
              <a:prstDash val="solid"/>
              <a:round/>
              <a:headEnd/>
              <a:tailEnd/>
            </a:ln>
          </p:spPr>
          <p:txBody>
            <a:bodyPr/>
            <a:lstStyle/>
            <a:p>
              <a:endParaRPr lang="zh-CN" altLang="en-US"/>
            </a:p>
          </p:txBody>
        </p:sp>
        <p:sp>
          <p:nvSpPr>
            <p:cNvPr id="126" name="Oval 623"/>
            <p:cNvSpPr>
              <a:spLocks noChangeArrowheads="1"/>
            </p:cNvSpPr>
            <p:nvPr/>
          </p:nvSpPr>
          <p:spPr bwMode="auto">
            <a:xfrm>
              <a:off x="3844" y="2259"/>
              <a:ext cx="21" cy="21"/>
            </a:xfrm>
            <a:prstGeom prst="ellipse">
              <a:avLst/>
            </a:prstGeom>
            <a:solidFill>
              <a:srgbClr val="EE0000"/>
            </a:solidFill>
            <a:ln w="9525">
              <a:noFill/>
              <a:round/>
              <a:headEnd/>
              <a:tailEnd/>
            </a:ln>
          </p:spPr>
          <p:txBody>
            <a:bodyPr/>
            <a:lstStyle/>
            <a:p>
              <a:endParaRPr lang="zh-CN" altLang="en-US">
                <a:ea typeface="宋体" pitchFamily="2" charset="-122"/>
              </a:endParaRPr>
            </a:p>
          </p:txBody>
        </p:sp>
        <p:sp>
          <p:nvSpPr>
            <p:cNvPr id="127" name="Oval 624"/>
            <p:cNvSpPr>
              <a:spLocks noChangeArrowheads="1"/>
            </p:cNvSpPr>
            <p:nvPr/>
          </p:nvSpPr>
          <p:spPr bwMode="auto">
            <a:xfrm>
              <a:off x="3845" y="2260"/>
              <a:ext cx="19" cy="19"/>
            </a:xfrm>
            <a:prstGeom prst="ellipse">
              <a:avLst/>
            </a:prstGeom>
            <a:noFill/>
            <a:ln w="3175">
              <a:solidFill>
                <a:srgbClr val="EE0000"/>
              </a:solidFill>
              <a:round/>
              <a:headEnd/>
              <a:tailEnd/>
            </a:ln>
          </p:spPr>
          <p:txBody>
            <a:bodyPr/>
            <a:lstStyle/>
            <a:p>
              <a:endParaRPr lang="zh-CN" altLang="en-US">
                <a:ea typeface="宋体" pitchFamily="2" charset="-122"/>
              </a:endParaRPr>
            </a:p>
          </p:txBody>
        </p:sp>
        <p:sp>
          <p:nvSpPr>
            <p:cNvPr id="128" name="Oval 625"/>
            <p:cNvSpPr>
              <a:spLocks noChangeArrowheads="1"/>
            </p:cNvSpPr>
            <p:nvPr/>
          </p:nvSpPr>
          <p:spPr bwMode="auto">
            <a:xfrm>
              <a:off x="3993" y="1917"/>
              <a:ext cx="190" cy="190"/>
            </a:xfrm>
            <a:prstGeom prst="ellipse">
              <a:avLst/>
            </a:prstGeom>
            <a:solidFill>
              <a:srgbClr val="0099FF"/>
            </a:solidFill>
            <a:ln w="9525">
              <a:noFill/>
              <a:round/>
              <a:headEnd/>
              <a:tailEnd/>
            </a:ln>
          </p:spPr>
          <p:txBody>
            <a:bodyPr/>
            <a:lstStyle/>
            <a:p>
              <a:endParaRPr lang="zh-CN" altLang="en-US">
                <a:ea typeface="宋体" pitchFamily="2" charset="-122"/>
              </a:endParaRPr>
            </a:p>
          </p:txBody>
        </p:sp>
        <p:sp>
          <p:nvSpPr>
            <p:cNvPr id="129" name="Oval 626"/>
            <p:cNvSpPr>
              <a:spLocks noChangeArrowheads="1"/>
            </p:cNvSpPr>
            <p:nvPr/>
          </p:nvSpPr>
          <p:spPr bwMode="auto">
            <a:xfrm>
              <a:off x="3997" y="1921"/>
              <a:ext cx="182" cy="182"/>
            </a:xfrm>
            <a:prstGeom prst="ellipse">
              <a:avLst/>
            </a:prstGeom>
            <a:noFill/>
            <a:ln w="12700">
              <a:solidFill>
                <a:srgbClr val="000000"/>
              </a:solidFill>
              <a:round/>
              <a:headEnd/>
              <a:tailEnd/>
            </a:ln>
          </p:spPr>
          <p:txBody>
            <a:bodyPr/>
            <a:lstStyle/>
            <a:p>
              <a:endParaRPr lang="zh-CN" altLang="en-US">
                <a:ea typeface="宋体" pitchFamily="2" charset="-122"/>
              </a:endParaRPr>
            </a:p>
          </p:txBody>
        </p:sp>
        <p:sp>
          <p:nvSpPr>
            <p:cNvPr id="130" name="Line 627"/>
            <p:cNvSpPr>
              <a:spLocks noChangeShapeType="1"/>
            </p:cNvSpPr>
            <p:nvPr/>
          </p:nvSpPr>
          <p:spPr bwMode="auto">
            <a:xfrm>
              <a:off x="4068" y="2210"/>
              <a:ext cx="1" cy="224"/>
            </a:xfrm>
            <a:prstGeom prst="line">
              <a:avLst/>
            </a:prstGeom>
            <a:noFill/>
            <a:ln w="23813">
              <a:solidFill>
                <a:srgbClr val="000000"/>
              </a:solidFill>
              <a:round/>
              <a:headEnd/>
              <a:tailEnd/>
            </a:ln>
          </p:spPr>
          <p:txBody>
            <a:bodyPr/>
            <a:lstStyle/>
            <a:p>
              <a:endParaRPr lang="zh-CN" altLang="en-US"/>
            </a:p>
          </p:txBody>
        </p:sp>
      </p:gr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288007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a:t>
            </a:fld>
            <a:endParaRPr lang="zh-CN" altLang="en-US"/>
          </a:p>
        </p:txBody>
      </p:sp>
      <p:sp>
        <p:nvSpPr>
          <p:cNvPr id="3" name="矩形 2"/>
          <p:cNvSpPr/>
          <p:nvPr/>
        </p:nvSpPr>
        <p:spPr>
          <a:xfrm>
            <a:off x="421912" y="494105"/>
            <a:ext cx="2888932"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3</a:t>
            </a:r>
            <a:r>
              <a:rPr kumimoji="1" lang="zh-CN" altLang="en-US" sz="2800" b="1" dirty="0">
                <a:solidFill>
                  <a:srgbClr val="D96227"/>
                </a:solidFill>
                <a:latin typeface="Times New Roman" pitchFamily="18" charset="0"/>
                <a:ea typeface="宋体" pitchFamily="2" charset="-122"/>
                <a:cs typeface="Times New Roman" pitchFamily="18" charset="0"/>
              </a:rPr>
              <a:t>、晶体的方向性</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Text Box 1028"/>
          <p:cNvSpPr txBox="1">
            <a:spLocks noChangeArrowheads="1"/>
          </p:cNvSpPr>
          <p:nvPr/>
        </p:nvSpPr>
        <p:spPr bwMode="auto">
          <a:xfrm>
            <a:off x="457200" y="1371600"/>
            <a:ext cx="8305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ClrTx/>
              <a:buSzTx/>
              <a:buFontTx/>
              <a:buNone/>
            </a:pPr>
            <a:r>
              <a:rPr kumimoji="1" lang="zh-CN" altLang="en-US" sz="2400" b="1">
                <a:latin typeface="Times New Roman" panose="02020603050405020304" pitchFamily="18" charset="0"/>
                <a:ea typeface="宋体" panose="02010600030101010101" pitchFamily="2" charset="-122"/>
              </a:rPr>
              <a:t>晶体性质的方向性是晶体的基本特征之一。沿不同的方向，晶体的性质不同</a:t>
            </a:r>
          </a:p>
        </p:txBody>
      </p:sp>
      <p:sp>
        <p:nvSpPr>
          <p:cNvPr id="5" name="Text Box 1029"/>
          <p:cNvSpPr txBox="1">
            <a:spLocks noChangeArrowheads="1"/>
          </p:cNvSpPr>
          <p:nvPr/>
        </p:nvSpPr>
        <p:spPr bwMode="auto">
          <a:xfrm>
            <a:off x="304800" y="2209800"/>
            <a:ext cx="4267200" cy="4118050"/>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晶体的方向，一般通过晶向和晶面来表征。</a:t>
            </a: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晶向：晶格可以看成是由一系列相互平行的直线系上的格点构成，这些直线系称为晶向。</a:t>
            </a: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晶面：晶格也可以看成是由一系列相互平行、等距的平面上的格点构成，这些平行平面称为晶面</a:t>
            </a:r>
          </a:p>
        </p:txBody>
      </p:sp>
      <p:sp>
        <p:nvSpPr>
          <p:cNvPr id="6" name="Rectangle 1033"/>
          <p:cNvSpPr>
            <a:spLocks noChangeArrowheads="1"/>
          </p:cNvSpPr>
          <p:nvPr/>
        </p:nvSpPr>
        <p:spPr bwMode="auto">
          <a:xfrm>
            <a:off x="5181600" y="5410200"/>
            <a:ext cx="36576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晶面的方向通常用</a:t>
            </a:r>
            <a:r>
              <a:rPr kumimoji="1" lang="en-US" altLang="zh-CN" sz="2400" b="1" dirty="0">
                <a:solidFill>
                  <a:srgbClr val="000000"/>
                </a:solidFill>
                <a:latin typeface="宋体" panose="02010600030101010101" pitchFamily="2" charset="-122"/>
                <a:ea typeface="宋体" panose="02010600030101010101" pitchFamily="2" charset="-122"/>
              </a:rPr>
              <a:t>Miller</a:t>
            </a:r>
            <a:r>
              <a:rPr kumimoji="1" lang="zh-CN" altLang="en-US" sz="2400" b="1" dirty="0">
                <a:solidFill>
                  <a:srgbClr val="000000"/>
                </a:solidFill>
                <a:latin typeface="宋体" panose="02010600030101010101" pitchFamily="2" charset="-122"/>
                <a:ea typeface="宋体" panose="02010600030101010101" pitchFamily="2" charset="-122"/>
              </a:rPr>
              <a:t>指数来表征。</a:t>
            </a:r>
          </a:p>
        </p:txBody>
      </p:sp>
      <p:grpSp>
        <p:nvGrpSpPr>
          <p:cNvPr id="7" name="Group 1046"/>
          <p:cNvGrpSpPr>
            <a:grpSpLocks/>
          </p:cNvGrpSpPr>
          <p:nvPr/>
        </p:nvGrpSpPr>
        <p:grpSpPr bwMode="auto">
          <a:xfrm>
            <a:off x="4800600" y="2057400"/>
            <a:ext cx="3962400" cy="3048000"/>
            <a:chOff x="2880" y="1776"/>
            <a:chExt cx="2400" cy="1776"/>
          </a:xfrm>
        </p:grpSpPr>
        <p:grpSp>
          <p:nvGrpSpPr>
            <p:cNvPr id="8" name="Group 1035"/>
            <p:cNvGrpSpPr>
              <a:grpSpLocks/>
            </p:cNvGrpSpPr>
            <p:nvPr/>
          </p:nvGrpSpPr>
          <p:grpSpPr bwMode="auto">
            <a:xfrm>
              <a:off x="2928" y="1776"/>
              <a:ext cx="2304" cy="1776"/>
              <a:chOff x="2160" y="2976"/>
              <a:chExt cx="1810" cy="950"/>
            </a:xfrm>
          </p:grpSpPr>
          <p:pic>
            <p:nvPicPr>
              <p:cNvPr id="15" name="Picture 10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 y="2976"/>
                <a:ext cx="1018" cy="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16" name="Picture 10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4" y="2976"/>
                <a:ext cx="946" cy="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
          <p:nvSpPr>
            <p:cNvPr id="9" name="Line 1038"/>
            <p:cNvSpPr>
              <a:spLocks noChangeShapeType="1"/>
            </p:cNvSpPr>
            <p:nvPr/>
          </p:nvSpPr>
          <p:spPr bwMode="auto">
            <a:xfrm flipH="1">
              <a:off x="3072" y="1968"/>
              <a:ext cx="960" cy="1392"/>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0" name="Line 1041"/>
            <p:cNvSpPr>
              <a:spLocks noChangeShapeType="1"/>
            </p:cNvSpPr>
            <p:nvPr/>
          </p:nvSpPr>
          <p:spPr bwMode="auto">
            <a:xfrm flipH="1">
              <a:off x="2880" y="1776"/>
              <a:ext cx="960" cy="1392"/>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 name="Line 1042"/>
            <p:cNvSpPr>
              <a:spLocks noChangeShapeType="1"/>
            </p:cNvSpPr>
            <p:nvPr/>
          </p:nvSpPr>
          <p:spPr bwMode="auto">
            <a:xfrm flipH="1">
              <a:off x="3408" y="1968"/>
              <a:ext cx="960" cy="1392"/>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2" name="Line 1043"/>
            <p:cNvSpPr>
              <a:spLocks noChangeShapeType="1"/>
            </p:cNvSpPr>
            <p:nvPr/>
          </p:nvSpPr>
          <p:spPr bwMode="auto">
            <a:xfrm flipH="1">
              <a:off x="4080" y="1968"/>
              <a:ext cx="960" cy="1392"/>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3" name="Line 1044"/>
            <p:cNvSpPr>
              <a:spLocks noChangeShapeType="1"/>
            </p:cNvSpPr>
            <p:nvPr/>
          </p:nvSpPr>
          <p:spPr bwMode="auto">
            <a:xfrm flipH="1">
              <a:off x="3744" y="2016"/>
              <a:ext cx="960" cy="1392"/>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4" name="Line 1045"/>
            <p:cNvSpPr>
              <a:spLocks noChangeShapeType="1"/>
            </p:cNvSpPr>
            <p:nvPr/>
          </p:nvSpPr>
          <p:spPr bwMode="auto">
            <a:xfrm flipH="1">
              <a:off x="4320" y="2112"/>
              <a:ext cx="960" cy="1392"/>
            </a:xfrm>
            <a:prstGeom prst="line">
              <a:avLst/>
            </a:prstGeom>
            <a:noFill/>
            <a:ln w="38100" cap="sq">
              <a:solidFill>
                <a:srgbClr val="FF66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921236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a:t>
            </a:fld>
            <a:endParaRPr lang="zh-CN" altLang="en-US"/>
          </a:p>
        </p:txBody>
      </p:sp>
      <p:sp>
        <p:nvSpPr>
          <p:cNvPr id="3" name="矩形 2"/>
          <p:cNvSpPr/>
          <p:nvPr/>
        </p:nvSpPr>
        <p:spPr>
          <a:xfrm>
            <a:off x="421912" y="494105"/>
            <a:ext cx="2528256"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4</a:t>
            </a:r>
            <a:r>
              <a:rPr kumimoji="1" lang="zh-CN" altLang="en-US" sz="2800" b="1" dirty="0">
                <a:solidFill>
                  <a:srgbClr val="D96227"/>
                </a:solidFill>
                <a:latin typeface="Times New Roman" pitchFamily="18" charset="0"/>
                <a:ea typeface="宋体" pitchFamily="2" charset="-122"/>
                <a:cs typeface="Times New Roman" pitchFamily="18" charset="0"/>
              </a:rPr>
              <a:t>、晶体的结合</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7" name="Text Box 4"/>
          <p:cNvSpPr txBox="1">
            <a:spLocks noChangeArrowheads="1"/>
          </p:cNvSpPr>
          <p:nvPr/>
        </p:nvSpPr>
        <p:spPr bwMode="auto">
          <a:xfrm>
            <a:off x="809835" y="3462727"/>
            <a:ext cx="7199312" cy="2501900"/>
          </a:xfrm>
          <a:prstGeom prst="rect">
            <a:avLst/>
          </a:prstGeom>
          <a:noFill/>
          <a:ln w="12700" cap="sq">
            <a:noFill/>
            <a:miter lim="800000"/>
            <a:headEnd type="none" w="sm" len="sm"/>
            <a:tailEnd type="none" w="sm" len="sm"/>
          </a:ln>
          <a:effectLst/>
        </p:spPr>
        <p:txBody>
          <a:bodyPr>
            <a:spAutoFit/>
          </a:bodyPr>
          <a:lstStyle/>
          <a:p>
            <a:pPr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固体</a:t>
            </a:r>
            <a:r>
              <a:rPr kumimoji="1" lang="zh-CN" altLang="en-US" sz="2400" b="1" dirty="0">
                <a:solidFill>
                  <a:srgbClr val="FF3300"/>
                </a:solidFill>
                <a:latin typeface="Times New Roman" pitchFamily="18" charset="0"/>
                <a:ea typeface="宋体" pitchFamily="2" charset="-122"/>
                <a:cs typeface="Times New Roman" pitchFamily="18" charset="0"/>
              </a:rPr>
              <a:t>化学键</a:t>
            </a:r>
            <a:r>
              <a:rPr kumimoji="1" lang="zh-CN" altLang="en-US" sz="2400" b="1" dirty="0">
                <a:solidFill>
                  <a:srgbClr val="000000"/>
                </a:solidFill>
                <a:latin typeface="Times New Roman" pitchFamily="18" charset="0"/>
                <a:ea typeface="宋体" pitchFamily="2" charset="-122"/>
                <a:cs typeface="Times New Roman" pitchFamily="18" charset="0"/>
              </a:rPr>
              <a:t>的种类包括：</a:t>
            </a:r>
          </a:p>
          <a:p>
            <a:pPr marL="719138" lvl="1"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离子键 （</a:t>
            </a:r>
            <a:r>
              <a:rPr kumimoji="1" lang="en-US" altLang="zh-CN" sz="2400" dirty="0">
                <a:solidFill>
                  <a:srgbClr val="000000"/>
                </a:solidFill>
                <a:latin typeface="Times New Roman" pitchFamily="18" charset="0"/>
                <a:ea typeface="宋体" pitchFamily="2" charset="-122"/>
                <a:cs typeface="Times New Roman" pitchFamily="18" charset="0"/>
              </a:rPr>
              <a:t>Ionic Bonding</a:t>
            </a:r>
            <a:r>
              <a:rPr kumimoji="1" lang="zh-CN" altLang="en-US" sz="2400" dirty="0">
                <a:solidFill>
                  <a:srgbClr val="000000"/>
                </a:solidFill>
                <a:latin typeface="Times New Roman" pitchFamily="18" charset="0"/>
                <a:ea typeface="宋体" pitchFamily="2" charset="-122"/>
                <a:cs typeface="Times New Roman" pitchFamily="18" charset="0"/>
              </a:rPr>
              <a:t>）</a:t>
            </a:r>
            <a:endParaRPr kumimoji="1" lang="en-US" altLang="zh-CN" sz="2400" b="1" dirty="0">
              <a:solidFill>
                <a:srgbClr val="000000"/>
              </a:solidFill>
              <a:latin typeface="Times New Roman" pitchFamily="18" charset="0"/>
              <a:ea typeface="宋体" pitchFamily="2" charset="-122"/>
              <a:cs typeface="Times New Roman" pitchFamily="18" charset="0"/>
            </a:endParaRPr>
          </a:p>
          <a:p>
            <a:pPr marL="719138" lvl="1"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共价键 （</a:t>
            </a:r>
            <a:r>
              <a:rPr kumimoji="1" lang="en-US" altLang="zh-CN" sz="2400" dirty="0">
                <a:solidFill>
                  <a:srgbClr val="000000"/>
                </a:solidFill>
                <a:latin typeface="Times New Roman" pitchFamily="18" charset="0"/>
                <a:ea typeface="宋体" pitchFamily="2" charset="-122"/>
                <a:cs typeface="Times New Roman" pitchFamily="18" charset="0"/>
              </a:rPr>
              <a:t>Covalent Bonding</a:t>
            </a:r>
            <a:r>
              <a:rPr kumimoji="1" lang="zh-CN" altLang="en-US" sz="2400" dirty="0">
                <a:solidFill>
                  <a:srgbClr val="000000"/>
                </a:solidFill>
                <a:latin typeface="Times New Roman" pitchFamily="18" charset="0"/>
                <a:ea typeface="宋体" pitchFamily="2" charset="-122"/>
                <a:cs typeface="Times New Roman" pitchFamily="18" charset="0"/>
              </a:rPr>
              <a:t>）</a:t>
            </a:r>
            <a:endParaRPr kumimoji="1" lang="en-US" altLang="zh-CN" sz="2400" dirty="0">
              <a:solidFill>
                <a:srgbClr val="000000"/>
              </a:solidFill>
              <a:latin typeface="Times New Roman" pitchFamily="18" charset="0"/>
              <a:ea typeface="宋体" pitchFamily="2" charset="-122"/>
              <a:cs typeface="Times New Roman" pitchFamily="18" charset="0"/>
            </a:endParaRPr>
          </a:p>
          <a:p>
            <a:pPr marL="719138" lvl="1"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金属键 （</a:t>
            </a:r>
            <a:r>
              <a:rPr kumimoji="1" lang="en-US" altLang="zh-CN" sz="2400" dirty="0">
                <a:solidFill>
                  <a:srgbClr val="000000"/>
                </a:solidFill>
                <a:latin typeface="Times New Roman" pitchFamily="18" charset="0"/>
                <a:ea typeface="宋体" pitchFamily="2" charset="-122"/>
                <a:cs typeface="Times New Roman" pitchFamily="18" charset="0"/>
              </a:rPr>
              <a:t>Metallic Bonding</a:t>
            </a:r>
            <a:r>
              <a:rPr kumimoji="1" lang="zh-CN" altLang="en-US" sz="2400" b="1" dirty="0">
                <a:solidFill>
                  <a:srgbClr val="000000"/>
                </a:solidFill>
                <a:latin typeface="Times New Roman" pitchFamily="18" charset="0"/>
                <a:ea typeface="宋体" pitchFamily="2" charset="-122"/>
                <a:cs typeface="Times New Roman" pitchFamily="18" charset="0"/>
              </a:rPr>
              <a:t>）</a:t>
            </a:r>
            <a:endParaRPr kumimoji="1" lang="en-US" altLang="zh-CN" sz="2400" b="1" dirty="0">
              <a:solidFill>
                <a:srgbClr val="000000"/>
              </a:solidFill>
              <a:latin typeface="Times New Roman" pitchFamily="18" charset="0"/>
              <a:ea typeface="宋体" pitchFamily="2" charset="-122"/>
              <a:cs typeface="Times New Roman" pitchFamily="18" charset="0"/>
            </a:endParaRPr>
          </a:p>
          <a:p>
            <a:pPr marL="719138" lvl="1"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范德瓦耳斯键 （</a:t>
            </a:r>
            <a:r>
              <a:rPr kumimoji="1" lang="en-US" altLang="zh-CN" sz="2400" dirty="0">
                <a:solidFill>
                  <a:srgbClr val="000000"/>
                </a:solidFill>
                <a:latin typeface="Times New Roman" pitchFamily="18" charset="0"/>
                <a:ea typeface="宋体" pitchFamily="2" charset="-122"/>
                <a:cs typeface="Times New Roman" pitchFamily="18" charset="0"/>
              </a:rPr>
              <a:t>van </a:t>
            </a:r>
            <a:r>
              <a:rPr kumimoji="1" lang="en-US" altLang="zh-CN" sz="2400" dirty="0" err="1">
                <a:solidFill>
                  <a:srgbClr val="000000"/>
                </a:solidFill>
                <a:latin typeface="Times New Roman" pitchFamily="18" charset="0"/>
                <a:ea typeface="宋体" pitchFamily="2" charset="-122"/>
                <a:cs typeface="Times New Roman" pitchFamily="18" charset="0"/>
              </a:rPr>
              <a:t>der</a:t>
            </a:r>
            <a:r>
              <a:rPr kumimoji="1" lang="en-US" altLang="zh-CN" sz="2400" dirty="0">
                <a:solidFill>
                  <a:srgbClr val="000000"/>
                </a:solidFill>
                <a:latin typeface="Times New Roman" pitchFamily="18" charset="0"/>
                <a:ea typeface="宋体" pitchFamily="2" charset="-122"/>
                <a:cs typeface="Times New Roman" pitchFamily="18" charset="0"/>
              </a:rPr>
              <a:t> Waals Bonding</a:t>
            </a:r>
            <a:r>
              <a:rPr kumimoji="1" lang="zh-CN" altLang="en-US" sz="2400" b="1" dirty="0">
                <a:solidFill>
                  <a:srgbClr val="000000"/>
                </a:solidFill>
                <a:latin typeface="Times New Roman" pitchFamily="18" charset="0"/>
                <a:ea typeface="宋体" pitchFamily="2" charset="-122"/>
                <a:cs typeface="Times New Roman" pitchFamily="18" charset="0"/>
              </a:rPr>
              <a:t>）</a:t>
            </a:r>
            <a:endParaRPr kumimoji="1" lang="en-US" altLang="zh-CN" sz="2400" b="1" dirty="0">
              <a:solidFill>
                <a:srgbClr val="000000"/>
              </a:solidFill>
              <a:latin typeface="Times New Roman" pitchFamily="18" charset="0"/>
              <a:ea typeface="宋体" pitchFamily="2" charset="-122"/>
              <a:cs typeface="Times New Roman" pitchFamily="18" charset="0"/>
            </a:endParaRPr>
          </a:p>
          <a:p>
            <a:pPr marL="719138" lvl="1"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氢键</a:t>
            </a:r>
            <a:r>
              <a:rPr kumimoji="1" lang="zh-CN" altLang="en-US" sz="2400" dirty="0">
                <a:solidFill>
                  <a:srgbClr val="000000"/>
                </a:solidFill>
                <a:latin typeface="Times New Roman" pitchFamily="18" charset="0"/>
                <a:ea typeface="宋体" pitchFamily="2" charset="-122"/>
                <a:cs typeface="Times New Roman" pitchFamily="18" charset="0"/>
              </a:rPr>
              <a:t>（</a:t>
            </a:r>
            <a:r>
              <a:rPr kumimoji="1" lang="en-US" altLang="zh-CN" sz="2400" dirty="0">
                <a:solidFill>
                  <a:srgbClr val="000000"/>
                </a:solidFill>
                <a:latin typeface="Times New Roman" pitchFamily="18" charset="0"/>
                <a:ea typeface="宋体" pitchFamily="2" charset="-122"/>
                <a:cs typeface="Times New Roman" pitchFamily="18" charset="0"/>
              </a:rPr>
              <a:t>Hydrogen Bonding</a:t>
            </a:r>
            <a:r>
              <a:rPr kumimoji="1" lang="zh-CN" altLang="en-US" sz="2400" dirty="0">
                <a:solidFill>
                  <a:srgbClr val="000000"/>
                </a:solidFill>
                <a:latin typeface="Times New Roman" pitchFamily="18" charset="0"/>
                <a:ea typeface="宋体" pitchFamily="2" charset="-122"/>
                <a:cs typeface="Times New Roman" pitchFamily="18" charset="0"/>
              </a:rPr>
              <a:t>）</a:t>
            </a:r>
          </a:p>
        </p:txBody>
      </p:sp>
      <p:sp>
        <p:nvSpPr>
          <p:cNvPr id="8" name="Line 6"/>
          <p:cNvSpPr>
            <a:spLocks noChangeShapeType="1"/>
          </p:cNvSpPr>
          <p:nvPr/>
        </p:nvSpPr>
        <p:spPr bwMode="auto">
          <a:xfrm flipV="1">
            <a:off x="6859797" y="3084183"/>
            <a:ext cx="0" cy="1800225"/>
          </a:xfrm>
          <a:prstGeom prst="line">
            <a:avLst/>
          </a:prstGeom>
          <a:noFill/>
          <a:ln w="57150" cap="sq">
            <a:solidFill>
              <a:srgbClr val="FFFFFF"/>
            </a:solidFill>
            <a:round/>
            <a:headEnd/>
            <a:tailEnd type="triangle" w="med" len="med"/>
          </a:ln>
          <a:effectLst/>
        </p:spPr>
        <p:txBody>
          <a:bodyPr>
            <a:spAutoFit/>
          </a:bodyPr>
          <a:lstStyle/>
          <a:p>
            <a:pPr defTabSz="914400" eaLnBrk="0" fontAlgn="base" hangingPunct="0">
              <a:spcBef>
                <a:spcPct val="0"/>
              </a:spcBef>
              <a:spcAft>
                <a:spcPct val="0"/>
              </a:spcAft>
            </a:pPr>
            <a:endParaRPr lang="zh-CN" altLang="en-US">
              <a:solidFill>
                <a:srgbClr val="000000"/>
              </a:solidFill>
              <a:latin typeface="Tahoma" pitchFamily="34" charset="0"/>
            </a:endParaRPr>
          </a:p>
        </p:txBody>
      </p:sp>
      <p:sp>
        <p:nvSpPr>
          <p:cNvPr id="9" name="Text Box 7"/>
          <p:cNvSpPr txBox="1">
            <a:spLocks noChangeArrowheads="1"/>
          </p:cNvSpPr>
          <p:nvPr/>
        </p:nvSpPr>
        <p:spPr bwMode="auto">
          <a:xfrm>
            <a:off x="306597" y="1377621"/>
            <a:ext cx="8604250" cy="2025170"/>
          </a:xfrm>
          <a:prstGeom prst="rect">
            <a:avLst/>
          </a:prstGeom>
          <a:noFill/>
          <a:ln w="12700" cap="sq">
            <a:noFill/>
            <a:miter lim="800000"/>
            <a:headEnd/>
            <a:tailEnd/>
          </a:ln>
          <a:effectLst/>
        </p:spPr>
        <p:txBody>
          <a:bodyPr>
            <a:spAutoFit/>
          </a:bodyPr>
          <a:lstStyle/>
          <a:p>
            <a:pPr defTabSz="914400" eaLnBrk="0" fontAlgn="base" hangingPunct="0">
              <a:lnSpc>
                <a:spcPct val="110000"/>
              </a:lnSpc>
              <a:spcBef>
                <a:spcPts val="1200"/>
              </a:spcBef>
              <a:spcAft>
                <a:spcPct val="0"/>
              </a:spcAft>
            </a:pPr>
            <a:r>
              <a:rPr kumimoji="1" lang="zh-CN" altLang="en-US" sz="2400" b="1" dirty="0">
                <a:solidFill>
                  <a:srgbClr val="FF0000"/>
                </a:solidFill>
                <a:latin typeface="Times New Roman" pitchFamily="18" charset="0"/>
                <a:ea typeface="宋体" pitchFamily="2" charset="-122"/>
              </a:rPr>
              <a:t>原子或离子间能够形成化学键的基础：</a:t>
            </a:r>
            <a:r>
              <a:rPr kumimoji="1" lang="zh-CN" altLang="en-US" sz="2400" b="1" dirty="0">
                <a:solidFill>
                  <a:srgbClr val="3333CC"/>
                </a:solidFill>
                <a:latin typeface="Times New Roman" pitchFamily="18" charset="0"/>
                <a:ea typeface="宋体" pitchFamily="2" charset="-122"/>
              </a:rPr>
              <a:t>存在某种相互吸引作用</a:t>
            </a:r>
          </a:p>
          <a:p>
            <a:pPr defTabSz="914400" eaLnBrk="0" fontAlgn="base" hangingPunct="0">
              <a:lnSpc>
                <a:spcPct val="110000"/>
              </a:lnSpc>
              <a:spcBef>
                <a:spcPts val="1200"/>
              </a:spcBef>
              <a:spcAft>
                <a:spcPct val="0"/>
              </a:spcAft>
            </a:pPr>
            <a:r>
              <a:rPr kumimoji="1" lang="zh-CN" altLang="en-US" sz="2400" b="1" dirty="0">
                <a:solidFill>
                  <a:srgbClr val="000000"/>
                </a:solidFill>
                <a:latin typeface="Times New Roman" pitchFamily="18" charset="0"/>
                <a:ea typeface="宋体" pitchFamily="2" charset="-122"/>
              </a:rPr>
              <a:t>原子、离子结合成固体，首先必须在一定条件下存在净的吸引力，因此，</a:t>
            </a:r>
            <a:r>
              <a:rPr kumimoji="1" lang="zh-CN" altLang="en-US" sz="2400" b="1" dirty="0">
                <a:solidFill>
                  <a:srgbClr val="FF0000"/>
                </a:solidFill>
                <a:latin typeface="Times New Roman" pitchFamily="18" charset="0"/>
                <a:ea typeface="宋体" pitchFamily="2" charset="-122"/>
              </a:rPr>
              <a:t>了解化学键的重点：</a:t>
            </a:r>
            <a:r>
              <a:rPr kumimoji="1" lang="zh-CN" altLang="en-US" sz="2400" b="1" dirty="0">
                <a:solidFill>
                  <a:srgbClr val="000000"/>
                </a:solidFill>
                <a:latin typeface="Times New Roman" pitchFamily="18" charset="0"/>
                <a:ea typeface="宋体" pitchFamily="2" charset="-122"/>
              </a:rPr>
              <a:t>了解吸引相互作用的起源？？</a:t>
            </a:r>
            <a:endParaRPr kumimoji="1" lang="en-US" altLang="zh-CN" sz="2400" b="1" dirty="0">
              <a:solidFill>
                <a:srgbClr val="000000"/>
              </a:solidFill>
              <a:latin typeface="Times New Roman" pitchFamily="18" charset="0"/>
              <a:ea typeface="宋体" pitchFamily="2" charset="-122"/>
            </a:endParaRPr>
          </a:p>
          <a:p>
            <a:pPr defTabSz="914400" eaLnBrk="0" fontAlgn="base" hangingPunct="0">
              <a:lnSpc>
                <a:spcPct val="110000"/>
              </a:lnSpc>
              <a:spcBef>
                <a:spcPts val="1200"/>
              </a:spcBef>
              <a:spcAft>
                <a:spcPct val="0"/>
              </a:spcAft>
            </a:pPr>
            <a:r>
              <a:rPr kumimoji="1" lang="zh-CN" altLang="en-US" sz="2400" b="1" dirty="0">
                <a:solidFill>
                  <a:srgbClr val="000000"/>
                </a:solidFill>
                <a:latin typeface="Times New Roman" pitchFamily="18" charset="0"/>
                <a:ea typeface="宋体" pitchFamily="2" charset="-122"/>
              </a:rPr>
              <a:t>其次，要了解排斥作用 性质和特点，决定化学键长和固体形状</a:t>
            </a:r>
          </a:p>
        </p:txBody>
      </p:sp>
    </p:spTree>
    <p:extLst>
      <p:ext uri="{BB962C8B-B14F-4D97-AF65-F5344CB8AC3E}">
        <p14:creationId xmlns:p14="http://schemas.microsoft.com/office/powerpoint/2010/main" val="2292113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10</a:t>
            </a:fld>
            <a:endParaRPr lang="zh-CN" altLang="en-US"/>
          </a:p>
        </p:txBody>
      </p:sp>
      <p:pic>
        <p:nvPicPr>
          <p:cNvPr id="3" name="Picture 4"/>
          <p:cNvPicPr>
            <a:picLocks noChangeAspect="1" noChangeArrowheads="1"/>
          </p:cNvPicPr>
          <p:nvPr/>
        </p:nvPicPr>
        <p:blipFill>
          <a:blip r:embed="rId2" cstate="print"/>
          <a:srcRect r="-748" b="26233"/>
          <a:stretch>
            <a:fillRect/>
          </a:stretch>
        </p:blipFill>
        <p:spPr bwMode="auto">
          <a:xfrm>
            <a:off x="2486594" y="2943495"/>
            <a:ext cx="6153150" cy="3024187"/>
          </a:xfrm>
          <a:prstGeom prst="rect">
            <a:avLst/>
          </a:prstGeom>
          <a:solidFill>
            <a:srgbClr val="FFFFFF"/>
          </a:solidFill>
          <a:ln w="9525">
            <a:noFill/>
            <a:miter lim="800000"/>
            <a:headEnd/>
            <a:tailEnd/>
          </a:ln>
          <a:effectLst/>
        </p:spPr>
      </p:pic>
      <p:sp>
        <p:nvSpPr>
          <p:cNvPr id="4" name="Text Box 3"/>
          <p:cNvSpPr txBox="1">
            <a:spLocks noChangeArrowheads="1"/>
          </p:cNvSpPr>
          <p:nvPr/>
        </p:nvSpPr>
        <p:spPr bwMode="auto">
          <a:xfrm>
            <a:off x="427606" y="421946"/>
            <a:ext cx="8280400" cy="2436564"/>
          </a:xfrm>
          <a:prstGeom prst="rect">
            <a:avLst/>
          </a:prstGeom>
          <a:noFill/>
          <a:ln w="12700" cap="sq">
            <a:noFill/>
            <a:miter lim="800000"/>
            <a:headEnd type="none" w="sm" len="sm"/>
            <a:tailEnd type="none" w="sm" len="sm"/>
          </a:ln>
          <a:effectLst/>
        </p:spPr>
        <p:txBody>
          <a:bodyPr>
            <a:spAutoFit/>
          </a:bodyPr>
          <a:lstStyle/>
          <a:p>
            <a:pPr>
              <a:spcBef>
                <a:spcPts val="1000"/>
              </a:spcBef>
            </a:pPr>
            <a:r>
              <a:rPr kumimoji="1" lang="zh-CN" altLang="en-US" sz="2400" b="1" dirty="0">
                <a:latin typeface="Times New Roman" pitchFamily="18" charset="0"/>
                <a:ea typeface="宋体" pitchFamily="2" charset="-122"/>
              </a:rPr>
              <a:t>    从力学观点：原子间是通过相互作用结合形成一定</a:t>
            </a:r>
            <a:r>
              <a:rPr kumimoji="1" lang="zh-CN" altLang="en-US" sz="2400" b="1" dirty="0">
                <a:solidFill>
                  <a:srgbClr val="0000FF"/>
                </a:solidFill>
                <a:latin typeface="Times New Roman" pitchFamily="18" charset="0"/>
                <a:ea typeface="宋体" pitchFamily="2" charset="-122"/>
              </a:rPr>
              <a:t>形态的固体</a:t>
            </a:r>
            <a:r>
              <a:rPr kumimoji="1" lang="zh-CN" altLang="en-US" sz="2400" b="1" dirty="0">
                <a:latin typeface="Times New Roman" pitchFamily="18" charset="0"/>
                <a:ea typeface="宋体" pitchFamily="2" charset="-122"/>
              </a:rPr>
              <a:t>，而且固体中的这种相互作用必然</a:t>
            </a:r>
            <a:r>
              <a:rPr kumimoji="1" lang="zh-CN" altLang="en-US" sz="2400" b="1" dirty="0">
                <a:solidFill>
                  <a:srgbClr val="FF3300"/>
                </a:solidFill>
                <a:latin typeface="Times New Roman" pitchFamily="18" charset="0"/>
                <a:ea typeface="宋体" pitchFamily="2" charset="-122"/>
              </a:rPr>
              <a:t>同时存在吸引和排斥两类，</a:t>
            </a:r>
            <a:r>
              <a:rPr kumimoji="1" lang="zh-CN" altLang="en-US" sz="2400" b="1" dirty="0">
                <a:latin typeface="Times New Roman" pitchFamily="18" charset="0"/>
                <a:ea typeface="宋体" pitchFamily="2" charset="-122"/>
              </a:rPr>
              <a:t>固体的形态由这两种作用的平衡点决定。</a:t>
            </a:r>
          </a:p>
          <a:p>
            <a:pPr>
              <a:spcBef>
                <a:spcPts val="1000"/>
              </a:spcBef>
            </a:pPr>
            <a:r>
              <a:rPr kumimoji="1" lang="zh-CN" altLang="en-US" sz="2400" b="1" dirty="0">
                <a:latin typeface="Times New Roman" pitchFamily="18" charset="0"/>
                <a:ea typeface="宋体" pitchFamily="2" charset="-122"/>
              </a:rPr>
              <a:t>    从能量观点：原子通过相互作用结合形成</a:t>
            </a:r>
            <a:r>
              <a:rPr kumimoji="1" lang="zh-CN" altLang="en-US" sz="2400" b="1" dirty="0">
                <a:solidFill>
                  <a:srgbClr val="0000FF"/>
                </a:solidFill>
                <a:latin typeface="Times New Roman" pitchFamily="18" charset="0"/>
                <a:ea typeface="宋体" pitchFamily="2" charset="-122"/>
              </a:rPr>
              <a:t>稳定结构</a:t>
            </a:r>
            <a:r>
              <a:rPr kumimoji="1" lang="zh-CN" altLang="en-US" sz="2400" b="1" dirty="0">
                <a:latin typeface="Times New Roman" pitchFamily="18" charset="0"/>
                <a:ea typeface="宋体" pitchFamily="2" charset="-122"/>
              </a:rPr>
              <a:t>的固体时，其相互作用能必然存在</a:t>
            </a:r>
            <a:r>
              <a:rPr kumimoji="1" lang="zh-CN" altLang="en-US" sz="2400" b="1" dirty="0">
                <a:solidFill>
                  <a:srgbClr val="0000FF"/>
                </a:solidFill>
                <a:latin typeface="Times New Roman" pitchFamily="18" charset="0"/>
                <a:ea typeface="宋体" pitchFamily="2" charset="-122"/>
              </a:rPr>
              <a:t>能量极小值</a:t>
            </a:r>
            <a:r>
              <a:rPr kumimoji="1" lang="zh-CN" altLang="en-US" sz="2400" b="1" dirty="0">
                <a:latin typeface="Times New Roman" pitchFamily="18" charset="0"/>
                <a:ea typeface="宋体" pitchFamily="2" charset="-122"/>
              </a:rPr>
              <a:t>。这种能够形成势能极小值的物理相互作用，被化学家形象地称之为化学键。</a:t>
            </a:r>
          </a:p>
        </p:txBody>
      </p:sp>
      <p:sp>
        <p:nvSpPr>
          <p:cNvPr id="5" name="Text Box 5"/>
          <p:cNvSpPr txBox="1">
            <a:spLocks noChangeArrowheads="1"/>
          </p:cNvSpPr>
          <p:nvPr/>
        </p:nvSpPr>
        <p:spPr bwMode="auto">
          <a:xfrm>
            <a:off x="427606" y="3062557"/>
            <a:ext cx="2133600" cy="1844675"/>
          </a:xfrm>
          <a:prstGeom prst="rect">
            <a:avLst/>
          </a:prstGeom>
          <a:noFill/>
          <a:ln w="12700" cap="sq">
            <a:noFill/>
            <a:miter lim="800000"/>
            <a:headEnd/>
            <a:tailEnd/>
          </a:ln>
          <a:effectLst/>
        </p:spPr>
        <p:txBody>
          <a:bodyPr>
            <a:spAutoFit/>
          </a:bodyPr>
          <a:lstStyle/>
          <a:p>
            <a:pPr>
              <a:lnSpc>
                <a:spcPct val="120000"/>
              </a:lnSpc>
              <a:spcBef>
                <a:spcPct val="50000"/>
              </a:spcBef>
            </a:pPr>
            <a:r>
              <a:rPr kumimoji="1" lang="zh-CN" altLang="en-US" sz="2400" b="1">
                <a:latin typeface="Times New Roman" pitchFamily="18" charset="0"/>
                <a:ea typeface="宋体" pitchFamily="2" charset="-122"/>
              </a:rPr>
              <a:t>形成稳定结构时原子间的间距，称为</a:t>
            </a:r>
            <a:r>
              <a:rPr kumimoji="1" lang="zh-CN" altLang="en-US" sz="2400" b="1">
                <a:solidFill>
                  <a:srgbClr val="FF3300"/>
                </a:solidFill>
                <a:latin typeface="Times New Roman" pitchFamily="18" charset="0"/>
                <a:ea typeface="宋体" pitchFamily="2" charset="-122"/>
              </a:rPr>
              <a:t>化学键的键长</a:t>
            </a:r>
          </a:p>
        </p:txBody>
      </p:sp>
      <p:sp>
        <p:nvSpPr>
          <p:cNvPr id="6" name="Text Box 6"/>
          <p:cNvSpPr txBox="1">
            <a:spLocks noChangeArrowheads="1"/>
          </p:cNvSpPr>
          <p:nvPr/>
        </p:nvSpPr>
        <p:spPr bwMode="auto">
          <a:xfrm>
            <a:off x="6398194" y="4837382"/>
            <a:ext cx="685800" cy="366713"/>
          </a:xfrm>
          <a:prstGeom prst="rect">
            <a:avLst/>
          </a:prstGeom>
          <a:noFill/>
          <a:ln w="12700" cap="sq">
            <a:noFill/>
            <a:miter lim="800000"/>
            <a:headEnd/>
            <a:tailEnd/>
          </a:ln>
          <a:effectLst/>
        </p:spPr>
        <p:txBody>
          <a:bodyPr>
            <a:spAutoFit/>
          </a:bodyPr>
          <a:lstStyle/>
          <a:p>
            <a:pPr>
              <a:spcBef>
                <a:spcPct val="50000"/>
              </a:spcBef>
            </a:pPr>
            <a:r>
              <a:rPr kumimoji="1" lang="zh-CN" altLang="en-US" b="1">
                <a:solidFill>
                  <a:schemeClr val="hlink"/>
                </a:solidFill>
                <a:latin typeface="Times New Roman" pitchFamily="18" charset="0"/>
                <a:ea typeface="宋体" pitchFamily="2" charset="-122"/>
              </a:rPr>
              <a:t>键长</a:t>
            </a:r>
          </a:p>
        </p:txBody>
      </p:sp>
      <p:sp>
        <p:nvSpPr>
          <p:cNvPr id="7" name="Line 7"/>
          <p:cNvSpPr>
            <a:spLocks noChangeShapeType="1"/>
          </p:cNvSpPr>
          <p:nvPr/>
        </p:nvSpPr>
        <p:spPr bwMode="auto">
          <a:xfrm flipV="1">
            <a:off x="6779194" y="4456382"/>
            <a:ext cx="76200" cy="381000"/>
          </a:xfrm>
          <a:prstGeom prst="line">
            <a:avLst/>
          </a:prstGeom>
          <a:noFill/>
          <a:ln w="19050" cap="sq">
            <a:solidFill>
              <a:srgbClr val="FF6600"/>
            </a:solidFill>
            <a:round/>
            <a:headEnd/>
            <a:tailEnd type="arrow" w="med" len="med"/>
          </a:ln>
          <a:effectLst/>
        </p:spPr>
        <p:txBody>
          <a:bodyPr>
            <a:spAutoFit/>
          </a:bodyPr>
          <a:lstStyle/>
          <a:p>
            <a:endParaRPr lang="zh-CN" altLang="en-US"/>
          </a:p>
        </p:txBody>
      </p:sp>
      <p:sp>
        <p:nvSpPr>
          <p:cNvPr id="8" name="Text Box 8"/>
          <p:cNvSpPr txBox="1">
            <a:spLocks noChangeArrowheads="1"/>
          </p:cNvSpPr>
          <p:nvPr/>
        </p:nvSpPr>
        <p:spPr bwMode="auto">
          <a:xfrm>
            <a:off x="427606" y="5005657"/>
            <a:ext cx="2449513" cy="844550"/>
          </a:xfrm>
          <a:prstGeom prst="rect">
            <a:avLst/>
          </a:prstGeom>
          <a:noFill/>
          <a:ln w="12700" cap="sq">
            <a:noFill/>
            <a:miter lim="800000"/>
            <a:headEnd/>
            <a:tailEnd/>
          </a:ln>
          <a:effectLst/>
        </p:spPr>
        <p:txBody>
          <a:bodyPr>
            <a:spAutoFit/>
          </a:bodyPr>
          <a:lstStyle/>
          <a:p>
            <a:pPr>
              <a:spcBef>
                <a:spcPts val="113"/>
              </a:spcBef>
            </a:pPr>
            <a:r>
              <a:rPr kumimoji="1" lang="zh-CN" altLang="en-US" sz="2400" b="1">
                <a:latin typeface="Times New Roman" pitchFamily="18" charset="0"/>
                <a:ea typeface="宋体" pitchFamily="2" charset="-122"/>
              </a:rPr>
              <a:t>吸引是长程的</a:t>
            </a:r>
            <a:endParaRPr kumimoji="1" lang="en-US" altLang="zh-CN" sz="2400" b="1">
              <a:latin typeface="Times New Roman" pitchFamily="18" charset="0"/>
              <a:ea typeface="宋体" pitchFamily="2" charset="-122"/>
            </a:endParaRPr>
          </a:p>
          <a:p>
            <a:pPr>
              <a:spcBef>
                <a:spcPts val="113"/>
              </a:spcBef>
            </a:pPr>
            <a:r>
              <a:rPr kumimoji="1" lang="zh-CN" altLang="en-US" sz="2400" b="1">
                <a:latin typeface="Times New Roman" pitchFamily="18" charset="0"/>
                <a:ea typeface="宋体" pitchFamily="2" charset="-122"/>
              </a:rPr>
              <a:t>排斥是短程的</a:t>
            </a:r>
          </a:p>
        </p:txBody>
      </p:sp>
    </p:spTree>
    <p:extLst>
      <p:ext uri="{BB962C8B-B14F-4D97-AF65-F5344CB8AC3E}">
        <p14:creationId xmlns:p14="http://schemas.microsoft.com/office/powerpoint/2010/main" val="1320322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11</a:t>
            </a:fld>
            <a:endParaRPr lang="zh-CN" altLang="en-US"/>
          </a:p>
        </p:txBody>
      </p:sp>
      <p:sp>
        <p:nvSpPr>
          <p:cNvPr id="3" name="Rectangle 4"/>
          <p:cNvSpPr>
            <a:spLocks noChangeArrowheads="1"/>
          </p:cNvSpPr>
          <p:nvPr/>
        </p:nvSpPr>
        <p:spPr bwMode="auto">
          <a:xfrm>
            <a:off x="2734573" y="295910"/>
            <a:ext cx="4248839"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二、晶格振动</a:t>
            </a:r>
          </a:p>
        </p:txBody>
      </p:sp>
      <p:sp>
        <p:nvSpPr>
          <p:cNvPr id="4" name="Text Box 1029"/>
          <p:cNvSpPr txBox="1">
            <a:spLocks noChangeArrowheads="1"/>
          </p:cNvSpPr>
          <p:nvPr/>
        </p:nvSpPr>
        <p:spPr bwMode="auto">
          <a:xfrm>
            <a:off x="419264" y="1252268"/>
            <a:ext cx="8302041" cy="4487382"/>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在前面的课程中假定晶体中离子实不动，并有周期性的规则排列，其结构用布拉维格子加基元来描述。本节将采用更实际的物理图像：</a:t>
            </a: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1.</a:t>
            </a:r>
            <a:r>
              <a:rPr kumimoji="1" lang="zh-CN" altLang="en-US" sz="2400" b="1" dirty="0">
                <a:solidFill>
                  <a:srgbClr val="000000"/>
                </a:solidFill>
                <a:latin typeface="宋体" panose="02010600030101010101" pitchFamily="2" charset="-122"/>
                <a:ea typeface="宋体" panose="02010600030101010101" pitchFamily="2" charset="-122"/>
              </a:rPr>
              <a:t>晶体中的格点表示原子的平衡位置，晶格振动便是指原子在格点附近的振动。</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2.</a:t>
            </a:r>
            <a:r>
              <a:rPr kumimoji="1" lang="zh-CN" altLang="en-US" sz="2400" b="1" dirty="0">
                <a:solidFill>
                  <a:srgbClr val="000000"/>
                </a:solidFill>
                <a:latin typeface="宋体" panose="02010600030101010101" pitchFamily="2" charset="-122"/>
                <a:ea typeface="宋体" panose="02010600030101010101" pitchFamily="2" charset="-122"/>
              </a:rPr>
              <a:t>离子实围绕其平衡位置做小的振动，其瞬时位置对平衡位置的偏离远小于离子间距。</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None/>
            </a:pPr>
            <a:r>
              <a:rPr kumimoji="1" lang="en-US" altLang="zh-CN" sz="2400" b="1" dirty="0">
                <a:solidFill>
                  <a:srgbClr val="000000"/>
                </a:solidFill>
                <a:latin typeface="宋体" panose="02010600030101010101" pitchFamily="2" charset="-122"/>
                <a:ea typeface="宋体" panose="02010600030101010101" pitchFamily="2" charset="-122"/>
              </a:rPr>
              <a:t>3.</a:t>
            </a:r>
            <a:r>
              <a:rPr kumimoji="1" lang="zh-CN" altLang="en-US" sz="2400" b="1" dirty="0">
                <a:solidFill>
                  <a:srgbClr val="000000"/>
                </a:solidFill>
                <a:latin typeface="宋体" panose="02010600030101010101" pitchFamily="2" charset="-122"/>
                <a:ea typeface="宋体" panose="02010600030101010101" pitchFamily="2" charset="-122"/>
              </a:rPr>
              <a:t>对晶体结构的实验观察表明，布拉维格子依然存在。  </a:t>
            </a:r>
          </a:p>
          <a:p>
            <a:pPr>
              <a:lnSpc>
                <a:spcPct val="110000"/>
              </a:lnSpc>
              <a:spcBef>
                <a:spcPct val="50000"/>
              </a:spcBef>
              <a:buClrTx/>
              <a:buSzTx/>
              <a:buNone/>
            </a:pPr>
            <a:r>
              <a:rPr kumimoji="1" lang="en-US" altLang="zh-CN" sz="2400" b="1" dirty="0">
                <a:solidFill>
                  <a:srgbClr val="000000"/>
                </a:solidFill>
                <a:latin typeface="宋体" panose="02010600030101010101" pitchFamily="2" charset="-122"/>
                <a:ea typeface="宋体" panose="02010600030101010101" pitchFamily="2" charset="-122"/>
              </a:rPr>
              <a:t>4.</a:t>
            </a:r>
            <a:r>
              <a:rPr kumimoji="1" lang="zh-CN" altLang="en-US" sz="2400" b="1" dirty="0">
                <a:solidFill>
                  <a:srgbClr val="000000"/>
                </a:solidFill>
                <a:latin typeface="宋体" panose="02010600030101010101" pitchFamily="2" charset="-122"/>
                <a:ea typeface="宋体" panose="02010600030101010101" pitchFamily="2" charset="-122"/>
              </a:rPr>
              <a:t>晶格振动导致了声子的产生。</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141130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2" descr="C:\Users\wjb\Desktop\QQ截图未命名.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76200"/>
            <a:ext cx="9102725" cy="668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83E84DB-010F-43AB-9169-DD79F9DA96C0}" type="slidenum">
              <a:rPr lang="en-US" altLang="zh-CN" sz="1400" smtClean="0"/>
              <a:pPr>
                <a:spcBef>
                  <a:spcPct val="0"/>
                </a:spcBef>
                <a:buFontTx/>
                <a:buNone/>
              </a:pPr>
              <a:t>12</a:t>
            </a:fld>
            <a:endParaRPr lang="en-US" altLang="zh-CN" sz="1400"/>
          </a:p>
        </p:txBody>
      </p:sp>
    </p:spTree>
    <p:extLst>
      <p:ext uri="{BB962C8B-B14F-4D97-AF65-F5344CB8AC3E}">
        <p14:creationId xmlns:p14="http://schemas.microsoft.com/office/powerpoint/2010/main" val="801300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7"/>
          <p:cNvSpPr txBox="1">
            <a:spLocks noChangeArrowheads="1"/>
          </p:cNvSpPr>
          <p:nvPr/>
        </p:nvSpPr>
        <p:spPr bwMode="auto">
          <a:xfrm>
            <a:off x="219075" y="2776538"/>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根据牛顿第二定律：</a:t>
            </a:r>
          </a:p>
        </p:txBody>
      </p:sp>
      <p:graphicFrame>
        <p:nvGraphicFramePr>
          <p:cNvPr id="23556" name="Object 8"/>
          <p:cNvGraphicFramePr>
            <a:graphicFrameLocks noChangeAspect="1"/>
          </p:cNvGraphicFramePr>
          <p:nvPr>
            <p:extLst>
              <p:ext uri="{D42A27DB-BD31-4B8C-83A1-F6EECF244321}">
                <p14:modId xmlns:p14="http://schemas.microsoft.com/office/powerpoint/2010/main" val="1142962208"/>
              </p:ext>
            </p:extLst>
          </p:nvPr>
        </p:nvGraphicFramePr>
        <p:xfrm>
          <a:off x="358775" y="3211513"/>
          <a:ext cx="2676525" cy="790575"/>
        </p:xfrm>
        <a:graphic>
          <a:graphicData uri="http://schemas.openxmlformats.org/presentationml/2006/ole">
            <mc:AlternateContent xmlns:mc="http://schemas.openxmlformats.org/markup-compatibility/2006">
              <mc:Choice xmlns:v="urn:schemas-microsoft-com:vml" Requires="v">
                <p:oleObj name="Equation" r:id="rId2" imgW="1333500" imgH="393700" progId="Equation.DSMT4">
                  <p:embed/>
                </p:oleObj>
              </mc:Choice>
              <mc:Fallback>
                <p:oleObj name="Equation" r:id="rId2" imgW="1333500" imgH="393700" progId="Equation.DSMT4">
                  <p:embed/>
                  <p:pic>
                    <p:nvPicPr>
                      <p:cNvPr id="2355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3211513"/>
                        <a:ext cx="2676525" cy="79057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7" name="Object 10"/>
          <p:cNvGraphicFramePr>
            <a:graphicFrameLocks noChangeAspect="1"/>
          </p:cNvGraphicFramePr>
          <p:nvPr/>
        </p:nvGraphicFramePr>
        <p:xfrm>
          <a:off x="5591175" y="3097213"/>
          <a:ext cx="3529013" cy="962025"/>
        </p:xfrm>
        <a:graphic>
          <a:graphicData uri="http://schemas.openxmlformats.org/presentationml/2006/ole">
            <mc:AlternateContent xmlns:mc="http://schemas.openxmlformats.org/markup-compatibility/2006">
              <mc:Choice xmlns:v="urn:schemas-microsoft-com:vml" Requires="v">
                <p:oleObj name="Equation" r:id="rId4" imgW="1536700" imgH="419100" progId="Equation.DSMT4">
                  <p:embed/>
                </p:oleObj>
              </mc:Choice>
              <mc:Fallback>
                <p:oleObj name="Equation" r:id="rId4" imgW="1536700" imgH="419100" progId="Equation.DSMT4">
                  <p:embed/>
                  <p:pic>
                    <p:nvPicPr>
                      <p:cNvPr id="23557"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1175" y="3097213"/>
                        <a:ext cx="3529013" cy="96202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8" name="Object 12"/>
          <p:cNvGraphicFramePr>
            <a:graphicFrameLocks noChangeAspect="1"/>
          </p:cNvGraphicFramePr>
          <p:nvPr/>
        </p:nvGraphicFramePr>
        <p:xfrm>
          <a:off x="355600" y="4010025"/>
          <a:ext cx="4824413" cy="858838"/>
        </p:xfrm>
        <a:graphic>
          <a:graphicData uri="http://schemas.openxmlformats.org/presentationml/2006/ole">
            <mc:AlternateContent xmlns:mc="http://schemas.openxmlformats.org/markup-compatibility/2006">
              <mc:Choice xmlns:v="urn:schemas-microsoft-com:vml" Requires="v">
                <p:oleObj name="Equation" r:id="rId6" imgW="2209800" imgH="393700" progId="Equation.DSMT4">
                  <p:embed/>
                </p:oleObj>
              </mc:Choice>
              <mc:Fallback>
                <p:oleObj name="Equation" r:id="rId6" imgW="2209800" imgH="393700" progId="Equation.DSMT4">
                  <p:embed/>
                  <p:pic>
                    <p:nvPicPr>
                      <p:cNvPr id="23558"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600" y="4010025"/>
                        <a:ext cx="4824413" cy="8588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9" name="Object 14"/>
          <p:cNvGraphicFramePr>
            <a:graphicFrameLocks noChangeAspect="1"/>
          </p:cNvGraphicFramePr>
          <p:nvPr/>
        </p:nvGraphicFramePr>
        <p:xfrm>
          <a:off x="284163" y="5762625"/>
          <a:ext cx="8181975" cy="827088"/>
        </p:xfrm>
        <a:graphic>
          <a:graphicData uri="http://schemas.openxmlformats.org/presentationml/2006/ole">
            <mc:AlternateContent xmlns:mc="http://schemas.openxmlformats.org/markup-compatibility/2006">
              <mc:Choice xmlns:v="urn:schemas-microsoft-com:vml" Requires="v">
                <p:oleObj name="Equation" r:id="rId8" imgW="3898900" imgH="393700" progId="Equation.DSMT4">
                  <p:embed/>
                </p:oleObj>
              </mc:Choice>
              <mc:Fallback>
                <p:oleObj name="Equation" r:id="rId8" imgW="3898900" imgH="393700" progId="Equation.DSMT4">
                  <p:embed/>
                  <p:pic>
                    <p:nvPicPr>
                      <p:cNvPr id="23559"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163" y="5762625"/>
                        <a:ext cx="8181975" cy="82708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0" name="Object 15"/>
          <p:cNvGraphicFramePr>
            <a:graphicFrameLocks noChangeAspect="1"/>
          </p:cNvGraphicFramePr>
          <p:nvPr/>
        </p:nvGraphicFramePr>
        <p:xfrm>
          <a:off x="214313" y="719138"/>
          <a:ext cx="8466137" cy="2066925"/>
        </p:xfrm>
        <a:graphic>
          <a:graphicData uri="http://schemas.openxmlformats.org/presentationml/2006/ole">
            <mc:AlternateContent xmlns:mc="http://schemas.openxmlformats.org/markup-compatibility/2006">
              <mc:Choice xmlns:v="urn:schemas-microsoft-com:vml" Requires="v">
                <p:oleObj name="位图图像" r:id="rId10" imgW="8466667" imgH="2066667" progId="Paint.Picture">
                  <p:embed/>
                </p:oleObj>
              </mc:Choice>
              <mc:Fallback>
                <p:oleObj name="位图图像" r:id="rId10" imgW="8466667" imgH="2066667" progId="Paint.Picture">
                  <p:embed/>
                  <p:pic>
                    <p:nvPicPr>
                      <p:cNvPr id="2356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4313" y="719138"/>
                        <a:ext cx="8466137"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61"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6E52C14-6C2D-4B5E-BD0D-B597688C3EAB}" type="slidenum">
              <a:rPr lang="en-US" altLang="zh-CN" sz="1400" smtClean="0"/>
              <a:pPr>
                <a:spcBef>
                  <a:spcPct val="0"/>
                </a:spcBef>
                <a:buFontTx/>
                <a:buNone/>
              </a:pPr>
              <a:t>13</a:t>
            </a:fld>
            <a:endParaRPr lang="en-US" altLang="zh-CN" sz="1400"/>
          </a:p>
        </p:txBody>
      </p:sp>
      <p:sp>
        <p:nvSpPr>
          <p:cNvPr id="23562" name="文本框 10"/>
          <p:cNvSpPr txBox="1">
            <a:spLocks noChangeArrowheads="1"/>
          </p:cNvSpPr>
          <p:nvPr/>
        </p:nvSpPr>
        <p:spPr bwMode="auto">
          <a:xfrm>
            <a:off x="107950" y="4899025"/>
            <a:ext cx="8712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l-GR" altLang="zh-CN" sz="2800" b="1" i="1">
                <a:latin typeface="宋体" panose="02010600030101010101" pitchFamily="2" charset="-122"/>
              </a:rPr>
              <a:t>ω</a:t>
            </a:r>
            <a:r>
              <a:rPr lang="zh-CN" altLang="en-US" sz="2800" b="1"/>
              <a:t>是决定于系统自身的常量，物理量</a:t>
            </a:r>
            <a:r>
              <a:rPr lang="en-US" altLang="zh-CN" sz="2800" b="1" i="1"/>
              <a:t>x</a:t>
            </a:r>
            <a:r>
              <a:rPr lang="zh-CN" altLang="en-US" sz="2800" b="1"/>
              <a:t>的变化过程就是简谐振动。</a:t>
            </a:r>
          </a:p>
        </p:txBody>
      </p:sp>
      <p:graphicFrame>
        <p:nvGraphicFramePr>
          <p:cNvPr id="23563" name="对象 1"/>
          <p:cNvGraphicFramePr>
            <a:graphicFrameLocks noChangeAspect="1"/>
          </p:cNvGraphicFramePr>
          <p:nvPr/>
        </p:nvGraphicFramePr>
        <p:xfrm>
          <a:off x="3175000" y="3219450"/>
          <a:ext cx="2279650" cy="736600"/>
        </p:xfrm>
        <a:graphic>
          <a:graphicData uri="http://schemas.openxmlformats.org/presentationml/2006/ole">
            <mc:AlternateContent xmlns:mc="http://schemas.openxmlformats.org/markup-compatibility/2006">
              <mc:Choice xmlns:v="urn:schemas-microsoft-com:vml" Requires="v">
                <p:oleObj name="公式" r:id="rId12" imgW="1256755" imgH="406224" progId="Equation.3">
                  <p:embed/>
                </p:oleObj>
              </mc:Choice>
              <mc:Fallback>
                <p:oleObj name="公式" r:id="rId12" imgW="1256755" imgH="406224" progId="Equation.3">
                  <p:embed/>
                  <p:pic>
                    <p:nvPicPr>
                      <p:cNvPr id="23563" name="对象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75000" y="3219450"/>
                        <a:ext cx="2279650" cy="736600"/>
                      </a:xfrm>
                      <a:prstGeom prst="rect">
                        <a:avLst/>
                      </a:prstGeom>
                      <a:solidFill>
                        <a:srgbClr val="C2FFF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284163" y="105410"/>
            <a:ext cx="3070071"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经典简谐振动回顾</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3220207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029"/>
          <p:cNvSpPr txBox="1">
            <a:spLocks noChangeArrowheads="1"/>
          </p:cNvSpPr>
          <p:nvPr/>
        </p:nvSpPr>
        <p:spPr bwMode="auto">
          <a:xfrm>
            <a:off x="506999" y="4626686"/>
            <a:ext cx="8302041" cy="1680460"/>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FF0000"/>
                </a:solidFill>
                <a:latin typeface="Times New Roman" pitchFamily="18" charset="0"/>
                <a:ea typeface="宋体" pitchFamily="2" charset="-122"/>
              </a:rPr>
              <a:t>不同点</a:t>
            </a:r>
            <a:r>
              <a:rPr kumimoji="1" lang="zh-CN" altLang="en-US" sz="2400" b="1" dirty="0">
                <a:solidFill>
                  <a:srgbClr val="000000"/>
                </a:solidFill>
                <a:latin typeface="宋体" panose="02010600030101010101" pitchFamily="2" charset="-122"/>
                <a:ea typeface="宋体" panose="02010600030101010101" pitchFamily="2" charset="-122"/>
              </a:rPr>
              <a:t>：</a:t>
            </a:r>
            <a:r>
              <a:rPr kumimoji="1" lang="en-US" altLang="zh-CN" sz="2400" b="1" dirty="0">
                <a:solidFill>
                  <a:srgbClr val="000000"/>
                </a:solidFill>
                <a:latin typeface="宋体" panose="02010600030101010101" pitchFamily="2" charset="-122"/>
                <a:ea typeface="宋体" panose="02010600030101010101" pitchFamily="2" charset="-122"/>
              </a:rPr>
              <a:t>1.</a:t>
            </a:r>
            <a:r>
              <a:rPr kumimoji="1" lang="zh-CN" altLang="en-US" sz="2400" b="1" dirty="0">
                <a:solidFill>
                  <a:srgbClr val="000000"/>
                </a:solidFill>
                <a:latin typeface="宋体" panose="02010600030101010101" pitchFamily="2" charset="-122"/>
                <a:ea typeface="宋体" panose="02010600030101010101" pitchFamily="2" charset="-122"/>
              </a:rPr>
              <a:t>晶格中的受力是非线性的</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2. </a:t>
            </a:r>
            <a:r>
              <a:rPr kumimoji="1" lang="zh-CN" altLang="en-US" sz="2400" b="1" dirty="0">
                <a:solidFill>
                  <a:srgbClr val="000000"/>
                </a:solidFill>
                <a:latin typeface="宋体" panose="02010600030101010101" pitchFamily="2" charset="-122"/>
                <a:ea typeface="宋体" panose="02010600030101010101" pitchFamily="2" charset="-122"/>
              </a:rPr>
              <a:t>晶格是多体问题</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3. </a:t>
            </a:r>
            <a:r>
              <a:rPr kumimoji="1" lang="zh-CN" altLang="en-US" sz="2400" b="1" dirty="0">
                <a:solidFill>
                  <a:srgbClr val="000000"/>
                </a:solidFill>
                <a:latin typeface="宋体" panose="02010600030101010101" pitchFamily="2" charset="-122"/>
                <a:ea typeface="宋体" panose="02010600030101010101" pitchFamily="2" charset="-122"/>
              </a:rPr>
              <a:t>晶格有多个维度</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fld id="{B6DE0A5B-1E35-4081-8D72-3B0687A5C65D}" type="slidenum">
              <a:rPr lang="zh-CN" altLang="en-US" smtClean="0"/>
              <a:t>14</a:t>
            </a:fld>
            <a:endParaRPr lang="zh-CN" altLang="en-US"/>
          </a:p>
        </p:txBody>
      </p:sp>
      <p:sp>
        <p:nvSpPr>
          <p:cNvPr id="5" name="Text Box 1029"/>
          <p:cNvSpPr txBox="1">
            <a:spLocks noChangeArrowheads="1"/>
          </p:cNvSpPr>
          <p:nvPr/>
        </p:nvSpPr>
        <p:spPr bwMode="auto">
          <a:xfrm>
            <a:off x="506999" y="1459819"/>
            <a:ext cx="8302041" cy="108952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FF0000"/>
                </a:solidFill>
                <a:latin typeface="Times New Roman" pitchFamily="18" charset="0"/>
                <a:ea typeface="宋体" pitchFamily="2" charset="-122"/>
              </a:rPr>
              <a:t>相同点</a:t>
            </a:r>
            <a:r>
              <a:rPr kumimoji="1" lang="zh-CN" altLang="en-US" sz="2400" b="1" dirty="0">
                <a:solidFill>
                  <a:srgbClr val="000000"/>
                </a:solidFill>
                <a:latin typeface="宋体" panose="02010600030101010101" pitchFamily="2" charset="-122"/>
                <a:ea typeface="宋体" panose="02010600030101010101" pitchFamily="2" charset="-122"/>
              </a:rPr>
              <a:t>：</a:t>
            </a:r>
            <a:r>
              <a:rPr kumimoji="1" lang="en-US" altLang="zh-CN" sz="2400" b="1" dirty="0">
                <a:solidFill>
                  <a:srgbClr val="000000"/>
                </a:solidFill>
                <a:latin typeface="宋体" panose="02010600030101010101" pitchFamily="2" charset="-122"/>
                <a:ea typeface="宋体" panose="02010600030101010101" pitchFamily="2" charset="-122"/>
              </a:rPr>
              <a:t>1.</a:t>
            </a:r>
            <a:r>
              <a:rPr kumimoji="1" lang="zh-CN" altLang="en-US" sz="2400" b="1" dirty="0">
                <a:solidFill>
                  <a:srgbClr val="000000"/>
                </a:solidFill>
                <a:latin typeface="宋体" panose="02010600030101010101" pitchFamily="2" charset="-122"/>
                <a:ea typeface="宋体" panose="02010600030101010101" pitchFamily="2" charset="-122"/>
              </a:rPr>
              <a:t>都有平衡位置</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2. </a:t>
            </a:r>
            <a:r>
              <a:rPr kumimoji="1" lang="zh-CN" altLang="en-US" sz="2400" b="1" dirty="0">
                <a:solidFill>
                  <a:srgbClr val="000000"/>
                </a:solidFill>
                <a:latin typeface="宋体" panose="02010600030101010101" pitchFamily="2" charset="-122"/>
                <a:ea typeface="宋体" panose="02010600030101010101" pitchFamily="2" charset="-122"/>
              </a:rPr>
              <a:t>都可以看成质点的经典运动</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6" name="矩形 5"/>
          <p:cNvSpPr/>
          <p:nvPr/>
        </p:nvSpPr>
        <p:spPr>
          <a:xfrm>
            <a:off x="506999" y="307265"/>
            <a:ext cx="5594801"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晶格振动与经典简谐振动的异同点</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pic>
        <p:nvPicPr>
          <p:cNvPr id="8" name="Picture 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 t="418" r="48053" b="32940"/>
          <a:stretch/>
        </p:blipFill>
        <p:spPr bwMode="auto">
          <a:xfrm>
            <a:off x="5263376" y="1751944"/>
            <a:ext cx="3261730" cy="2808871"/>
          </a:xfrm>
          <a:prstGeom prst="rect">
            <a:avLst/>
          </a:prstGeom>
          <a:solidFill>
            <a:srgbClr val="FFFFFF"/>
          </a:solidFill>
          <a:ln w="9525">
            <a:noFill/>
            <a:miter lim="800000"/>
            <a:headEnd/>
            <a:tailEnd/>
          </a:ln>
          <a:effectLst/>
        </p:spPr>
      </p:pic>
    </p:spTree>
    <p:extLst>
      <p:ext uri="{BB962C8B-B14F-4D97-AF65-F5344CB8AC3E}">
        <p14:creationId xmlns:p14="http://schemas.microsoft.com/office/powerpoint/2010/main" val="2783823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15</a:t>
            </a:fld>
            <a:endParaRPr lang="zh-CN" altLang="en-US"/>
          </a:p>
        </p:txBody>
      </p:sp>
      <p:sp>
        <p:nvSpPr>
          <p:cNvPr id="5" name="Text Box 1029"/>
          <p:cNvSpPr txBox="1">
            <a:spLocks noChangeArrowheads="1"/>
          </p:cNvSpPr>
          <p:nvPr/>
        </p:nvSpPr>
        <p:spPr bwMode="auto">
          <a:xfrm>
            <a:off x="419264" y="2469007"/>
            <a:ext cx="8302041" cy="2308324"/>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FF0000"/>
                </a:solidFill>
                <a:latin typeface="Times New Roman" pitchFamily="18" charset="0"/>
                <a:ea typeface="宋体" pitchFamily="2" charset="-122"/>
              </a:rPr>
              <a:t>简谐近似</a:t>
            </a:r>
            <a:r>
              <a:rPr kumimoji="1" lang="zh-CN" altLang="en-US" sz="2400" b="1" dirty="0">
                <a:solidFill>
                  <a:srgbClr val="000000"/>
                </a:solidFill>
                <a:latin typeface="宋体" panose="02010600030101010101" pitchFamily="2" charset="-122"/>
                <a:ea typeface="宋体" panose="02010600030101010101" pitchFamily="2" charset="-122"/>
              </a:rPr>
              <a:t>：认为原子只发生了微小的偏移，从而可以近似的认为每个原子都在做简谐振动。</a:t>
            </a:r>
            <a:r>
              <a:rPr kumimoji="1" lang="zh-CN" altLang="en-US" sz="2400" b="1" dirty="0">
                <a:solidFill>
                  <a:srgbClr val="0000FF"/>
                </a:solidFill>
                <a:latin typeface="Times New Roman" panose="02020603050405020304" pitchFamily="18" charset="0"/>
                <a:ea typeface="宋体" panose="02010600030101010101" pitchFamily="2" charset="-122"/>
              </a:rPr>
              <a:t>（解决了问题</a:t>
            </a:r>
            <a:r>
              <a:rPr kumimoji="1" lang="en-US" altLang="zh-CN" sz="2400" b="1" dirty="0">
                <a:solidFill>
                  <a:srgbClr val="0000FF"/>
                </a:solidFill>
                <a:latin typeface="Times New Roman" panose="02020603050405020304" pitchFamily="18" charset="0"/>
                <a:ea typeface="宋体" panose="02010600030101010101" pitchFamily="2" charset="-122"/>
              </a:rPr>
              <a:t>1</a:t>
            </a:r>
            <a:r>
              <a:rPr kumimoji="1" lang="zh-CN" altLang="en-US" sz="2400" b="1" dirty="0">
                <a:solidFill>
                  <a:srgbClr val="0000FF"/>
                </a:solidFill>
                <a:latin typeface="Times New Roman" panose="02020603050405020304" pitchFamily="18" charset="0"/>
                <a:ea typeface="宋体" panose="02010600030101010101" pitchFamily="2" charset="-122"/>
              </a:rPr>
              <a:t>）</a:t>
            </a:r>
            <a:endParaRPr kumimoji="1" lang="en-US" altLang="zh-CN" sz="2400" b="1" dirty="0">
              <a:solidFill>
                <a:srgbClr val="0000FF"/>
              </a:solidFill>
              <a:latin typeface="Times New Roman" panose="02020603050405020304" pitchFamily="18" charset="0"/>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简谐近似实质上是假设原子在平衡位置附近振动时，其受力与偏离的距离成正比。这时单个原子的振动与经典力学中的弹簧振动相似。</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6" name="矩形 5"/>
          <p:cNvSpPr/>
          <p:nvPr/>
        </p:nvSpPr>
        <p:spPr>
          <a:xfrm>
            <a:off x="462394" y="4829087"/>
            <a:ext cx="2888932"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1</a:t>
            </a:r>
            <a:r>
              <a:rPr kumimoji="1" lang="zh-CN" altLang="en-US" sz="2800" b="1" dirty="0">
                <a:solidFill>
                  <a:srgbClr val="D96227"/>
                </a:solidFill>
                <a:latin typeface="Times New Roman" pitchFamily="18" charset="0"/>
                <a:ea typeface="宋体" pitchFamily="2" charset="-122"/>
                <a:cs typeface="Times New Roman" pitchFamily="18" charset="0"/>
              </a:rPr>
              <a:t>、一维单原子链</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10" name="Text Box 1029"/>
          <p:cNvSpPr txBox="1">
            <a:spLocks noChangeArrowheads="1"/>
          </p:cNvSpPr>
          <p:nvPr/>
        </p:nvSpPr>
        <p:spPr bwMode="auto">
          <a:xfrm>
            <a:off x="373256" y="5499942"/>
            <a:ext cx="8302041" cy="904863"/>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以一维单原子链为例，其他复杂的晶体结构都可以看成是在此基础上的变形。</a:t>
            </a:r>
            <a:r>
              <a:rPr kumimoji="1" lang="zh-CN" altLang="en-US" sz="2400" b="1" dirty="0">
                <a:solidFill>
                  <a:srgbClr val="0070C0"/>
                </a:solidFill>
                <a:latin typeface="宋体" panose="02010600030101010101" pitchFamily="2" charset="-122"/>
                <a:ea typeface="宋体" panose="02010600030101010101" pitchFamily="2" charset="-122"/>
              </a:rPr>
              <a:t> </a:t>
            </a:r>
            <a:r>
              <a:rPr kumimoji="1" lang="zh-CN" altLang="en-US" sz="2400" b="1" dirty="0">
                <a:solidFill>
                  <a:srgbClr val="0000FF"/>
                </a:solidFill>
                <a:latin typeface="Times New Roman" panose="02020603050405020304" pitchFamily="18" charset="0"/>
                <a:ea typeface="宋体" panose="02010600030101010101" pitchFamily="2" charset="-122"/>
              </a:rPr>
              <a:t>（解决了问题</a:t>
            </a:r>
            <a:r>
              <a:rPr kumimoji="1" lang="en-US" altLang="zh-CN" sz="2400" b="1" dirty="0">
                <a:solidFill>
                  <a:srgbClr val="0000FF"/>
                </a:solidFill>
                <a:latin typeface="Times New Roman" panose="02020603050405020304" pitchFamily="18" charset="0"/>
                <a:ea typeface="宋体" panose="02010600030101010101" pitchFamily="2" charset="-122"/>
              </a:rPr>
              <a:t>3</a:t>
            </a:r>
            <a:r>
              <a:rPr kumimoji="1" lang="zh-CN" altLang="en-US" sz="2400" b="1" dirty="0">
                <a:solidFill>
                  <a:srgbClr val="0000FF"/>
                </a:solidFill>
                <a:latin typeface="Times New Roman" panose="02020603050405020304" pitchFamily="18" charset="0"/>
                <a:ea typeface="宋体" panose="02010600030101010101" pitchFamily="2" charset="-122"/>
              </a:rPr>
              <a:t>）</a:t>
            </a:r>
            <a:endParaRPr kumimoji="1" lang="en-US" altLang="zh-CN" sz="2400" b="1" dirty="0">
              <a:solidFill>
                <a:srgbClr val="0000FF"/>
              </a:solidFill>
              <a:latin typeface="Times New Roman" panose="02020603050405020304" pitchFamily="18" charset="0"/>
              <a:ea typeface="宋体" panose="02010600030101010101" pitchFamily="2" charset="-122"/>
            </a:endParaRPr>
          </a:p>
        </p:txBody>
      </p:sp>
      <p:sp>
        <p:nvSpPr>
          <p:cNvPr id="8" name="Text Box 1029"/>
          <p:cNvSpPr txBox="1">
            <a:spLocks noChangeArrowheads="1"/>
          </p:cNvSpPr>
          <p:nvPr/>
        </p:nvSpPr>
        <p:spPr bwMode="auto">
          <a:xfrm>
            <a:off x="529301" y="355769"/>
            <a:ext cx="8302041" cy="1680460"/>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1. </a:t>
            </a:r>
            <a:r>
              <a:rPr kumimoji="1" lang="zh-CN" altLang="en-US" sz="2400" b="1" dirty="0">
                <a:solidFill>
                  <a:srgbClr val="000000"/>
                </a:solidFill>
                <a:latin typeface="宋体" panose="02010600030101010101" pitchFamily="2" charset="-122"/>
                <a:ea typeface="宋体" panose="02010600030101010101" pitchFamily="2" charset="-122"/>
              </a:rPr>
              <a:t>晶格中的受力是非线性的</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2. </a:t>
            </a:r>
            <a:r>
              <a:rPr kumimoji="1" lang="zh-CN" altLang="en-US" sz="2400" b="1" dirty="0">
                <a:solidFill>
                  <a:srgbClr val="000000"/>
                </a:solidFill>
                <a:latin typeface="宋体" panose="02010600030101010101" pitchFamily="2" charset="-122"/>
                <a:ea typeface="宋体" panose="02010600030101010101" pitchFamily="2" charset="-122"/>
              </a:rPr>
              <a:t>晶格是多体问题</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3. </a:t>
            </a:r>
            <a:r>
              <a:rPr kumimoji="1" lang="zh-CN" altLang="en-US" sz="2400" b="1" dirty="0">
                <a:solidFill>
                  <a:srgbClr val="000000"/>
                </a:solidFill>
                <a:latin typeface="宋体" panose="02010600030101010101" pitchFamily="2" charset="-122"/>
                <a:ea typeface="宋体" panose="02010600030101010101" pitchFamily="2" charset="-122"/>
              </a:rPr>
              <a:t>晶格有多个维度</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479257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16</a:t>
            </a:fld>
            <a:endParaRPr lang="zh-CN" altLang="en-US"/>
          </a:p>
        </p:txBody>
      </p:sp>
      <p:grpSp>
        <p:nvGrpSpPr>
          <p:cNvPr id="17" name="组合 16"/>
          <p:cNvGrpSpPr/>
          <p:nvPr/>
        </p:nvGrpSpPr>
        <p:grpSpPr>
          <a:xfrm>
            <a:off x="2355005" y="500332"/>
            <a:ext cx="5400137" cy="806723"/>
            <a:chOff x="1820169" y="500332"/>
            <a:chExt cx="5400137" cy="806723"/>
          </a:xfrm>
        </p:grpSpPr>
        <p:cxnSp>
          <p:nvCxnSpPr>
            <p:cNvPr id="3" name="直接连接符 2"/>
            <p:cNvCxnSpPr/>
            <p:nvPr/>
          </p:nvCxnSpPr>
          <p:spPr>
            <a:xfrm flipV="1">
              <a:off x="1820169" y="664234"/>
              <a:ext cx="5400137" cy="86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2242864" y="500332"/>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309664" y="500332"/>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376464" y="504646"/>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443264" y="504646"/>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6510064" y="508960"/>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4367838" y="845390"/>
              <a:ext cx="514713" cy="461665"/>
            </a:xfrm>
            <a:prstGeom prst="rect">
              <a:avLst/>
            </a:prstGeom>
            <a:noFill/>
          </p:spPr>
          <p:txBody>
            <a:bodyPr wrap="square" rtlCol="0">
              <a:spAutoFit/>
            </a:bodyPr>
            <a:lstStyle/>
            <a:p>
              <a:r>
                <a:rPr lang="en-US" altLang="zh-CN" sz="2400" b="1" i="1" dirty="0">
                  <a:latin typeface="Times New Roman" panose="02020603050405020304" pitchFamily="18" charset="0"/>
                  <a:cs typeface="Times New Roman" panose="02020603050405020304" pitchFamily="18" charset="0"/>
                </a:rPr>
                <a:t>n</a:t>
              </a:r>
              <a:endParaRPr lang="zh-CN" altLang="en-US" b="1" i="1"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3207582" y="845390"/>
              <a:ext cx="648426" cy="461665"/>
            </a:xfrm>
            <a:prstGeom prst="rect">
              <a:avLst/>
            </a:prstGeom>
            <a:noFill/>
          </p:spPr>
          <p:txBody>
            <a:bodyPr wrap="square" rtlCol="0">
              <a:spAutoFit/>
            </a:bodyPr>
            <a:lstStyle/>
            <a:p>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2089736" y="845390"/>
              <a:ext cx="648426" cy="461665"/>
            </a:xfrm>
            <a:prstGeom prst="rect">
              <a:avLst/>
            </a:prstGeom>
            <a:noFill/>
          </p:spPr>
          <p:txBody>
            <a:bodyPr wrap="square" rtlCol="0">
              <a:spAutoFit/>
            </a:bodyPr>
            <a:lstStyle/>
            <a:p>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5274326" y="845390"/>
              <a:ext cx="703780" cy="461665"/>
            </a:xfrm>
            <a:prstGeom prst="rect">
              <a:avLst/>
            </a:prstGeom>
            <a:noFill/>
          </p:spPr>
          <p:txBody>
            <a:bodyPr wrap="square" rtlCol="0">
              <a:spAutoFit/>
            </a:bodyPr>
            <a:lstStyle/>
            <a:p>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16" name="文本框 15"/>
            <p:cNvSpPr txBox="1"/>
            <p:nvPr/>
          </p:nvSpPr>
          <p:spPr>
            <a:xfrm>
              <a:off x="6300869" y="845390"/>
              <a:ext cx="703780" cy="461665"/>
            </a:xfrm>
            <a:prstGeom prst="rect">
              <a:avLst/>
            </a:prstGeom>
            <a:noFill/>
          </p:spPr>
          <p:txBody>
            <a:bodyPr wrap="square" rtlCol="0">
              <a:spAutoFit/>
            </a:bodyPr>
            <a:lstStyle/>
            <a:p>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p:txBody>
        </p:sp>
      </p:grpSp>
      <p:sp>
        <p:nvSpPr>
          <p:cNvPr id="18" name="文本框 17"/>
          <p:cNvSpPr txBox="1"/>
          <p:nvPr/>
        </p:nvSpPr>
        <p:spPr>
          <a:xfrm>
            <a:off x="4396587" y="176843"/>
            <a:ext cx="514713" cy="461665"/>
          </a:xfrm>
          <a:prstGeom prst="rect">
            <a:avLst/>
          </a:prstGeom>
          <a:noFill/>
        </p:spPr>
        <p:txBody>
          <a:bodyPr wrap="square" rtlCol="0">
            <a:spAutoFit/>
          </a:bodyPr>
          <a:lstStyle/>
          <a:p>
            <a:r>
              <a:rPr lang="en-US" altLang="zh-CN" sz="2400"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19" name="Text Box 1029"/>
          <p:cNvSpPr txBox="1">
            <a:spLocks noChangeArrowheads="1"/>
          </p:cNvSpPr>
          <p:nvPr/>
        </p:nvSpPr>
        <p:spPr bwMode="auto">
          <a:xfrm>
            <a:off x="574251" y="475324"/>
            <a:ext cx="1550435" cy="49859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平衡情况</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20" name="Text Box 1029"/>
          <p:cNvSpPr txBox="1">
            <a:spLocks noChangeArrowheads="1"/>
          </p:cNvSpPr>
          <p:nvPr/>
        </p:nvSpPr>
        <p:spPr bwMode="auto">
          <a:xfrm>
            <a:off x="574251" y="2094218"/>
            <a:ext cx="1550435" cy="44896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偏离情况</a:t>
            </a:r>
            <a:endParaRPr kumimoji="1" lang="en-US" altLang="zh-CN" sz="2400" b="1" dirty="0">
              <a:solidFill>
                <a:srgbClr val="000000"/>
              </a:solidFill>
              <a:latin typeface="宋体" panose="02010600030101010101" pitchFamily="2" charset="-122"/>
              <a:ea typeface="宋体" panose="02010600030101010101" pitchFamily="2" charset="-122"/>
            </a:endParaRPr>
          </a:p>
        </p:txBody>
      </p:sp>
      <p:cxnSp>
        <p:nvCxnSpPr>
          <p:cNvPr id="22" name="直接连接符 21"/>
          <p:cNvCxnSpPr/>
          <p:nvPr/>
        </p:nvCxnSpPr>
        <p:spPr>
          <a:xfrm flipV="1">
            <a:off x="2355004" y="2335952"/>
            <a:ext cx="5400137" cy="86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3088248" y="2172050"/>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4198181" y="2172050"/>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5247729" y="2176364"/>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6262773" y="2176364"/>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7044899" y="2180678"/>
            <a:ext cx="310551" cy="3191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5345174" y="1729241"/>
            <a:ext cx="1601819" cy="830997"/>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a+</a:t>
            </a:r>
            <a:r>
              <a:rPr lang="el-GR" altLang="zh-CN" sz="2400" b="1" i="1" dirty="0">
                <a:latin typeface="Times New Roman" panose="02020603050405020304" pitchFamily="18" charset="0"/>
                <a:cs typeface="Times New Roman" panose="02020603050405020304" pitchFamily="18" charset="0"/>
              </a:rPr>
              <a:t>μ</a:t>
            </a:r>
            <a:r>
              <a:rPr lang="en-US" altLang="zh-CN" sz="2400" b="1" i="1" baseline="-25000" dirty="0">
                <a:latin typeface="Times New Roman" panose="02020603050405020304" pitchFamily="18" charset="0"/>
                <a:cs typeface="Times New Roman" panose="02020603050405020304" pitchFamily="18" charset="0"/>
              </a:rPr>
              <a:t>n</a:t>
            </a:r>
            <a:r>
              <a:rPr lang="en-US" altLang="zh-CN" sz="2400" b="1" baseline="-25000" dirty="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rPr>
              <a:t>-</a:t>
            </a:r>
            <a:r>
              <a:rPr lang="el-GR" altLang="zh-CN" sz="2400" b="1" i="1" dirty="0">
                <a:latin typeface="Times New Roman" panose="02020603050405020304" pitchFamily="18" charset="0"/>
                <a:cs typeface="Times New Roman" panose="02020603050405020304" pitchFamily="18" charset="0"/>
              </a:rPr>
              <a:t>μ</a:t>
            </a:r>
            <a:r>
              <a:rPr lang="en-US" altLang="zh-CN" sz="2400" b="1" i="1" baseline="-25000" dirty="0">
                <a:latin typeface="Times New Roman" panose="02020603050405020304" pitchFamily="18" charset="0"/>
                <a:cs typeface="Times New Roman" panose="02020603050405020304" pitchFamily="18" charset="0"/>
              </a:rPr>
              <a:t>n</a:t>
            </a:r>
            <a:endParaRPr lang="zh-CN" altLang="en-US" b="1" i="1" baseline="-25000" dirty="0">
              <a:latin typeface="Times New Roman" panose="02020603050405020304" pitchFamily="18" charset="0"/>
              <a:cs typeface="Times New Roman" panose="02020603050405020304" pitchFamily="18" charset="0"/>
            </a:endParaRPr>
          </a:p>
          <a:p>
            <a:endParaRPr lang="zh-CN" altLang="en-US" b="1" baseline="-25000" dirty="0">
              <a:latin typeface="Times New Roman" panose="02020603050405020304" pitchFamily="18" charset="0"/>
              <a:cs typeface="Times New Roman" panose="02020603050405020304" pitchFamily="18" charset="0"/>
            </a:endParaRPr>
          </a:p>
          <a:p>
            <a:endParaRPr lang="zh-CN" altLang="en-US" b="1" baseline="-25000" dirty="0">
              <a:latin typeface="Times New Roman" panose="02020603050405020304" pitchFamily="18" charset="0"/>
              <a:cs typeface="Times New Roman" panose="02020603050405020304" pitchFamily="18" charset="0"/>
            </a:endParaRPr>
          </a:p>
        </p:txBody>
      </p:sp>
      <p:sp>
        <p:nvSpPr>
          <p:cNvPr id="29" name="文本框 28"/>
          <p:cNvSpPr txBox="1"/>
          <p:nvPr/>
        </p:nvSpPr>
        <p:spPr>
          <a:xfrm>
            <a:off x="4960931" y="2293217"/>
            <a:ext cx="837493" cy="523220"/>
          </a:xfrm>
          <a:prstGeom prst="rect">
            <a:avLst/>
          </a:prstGeom>
          <a:noFill/>
        </p:spPr>
        <p:txBody>
          <a:bodyPr wrap="square" rtlCol="0">
            <a:spAutoFit/>
          </a:bodyPr>
          <a:lstStyle/>
          <a:p>
            <a:r>
              <a:rPr lang="el-GR" altLang="zh-CN" sz="2800" b="1" i="1" dirty="0">
                <a:latin typeface="Times New Roman" panose="02020603050405020304" pitchFamily="18" charset="0"/>
                <a:cs typeface="Times New Roman" panose="02020603050405020304" pitchFamily="18" charset="0"/>
              </a:rPr>
              <a:t>μ</a:t>
            </a:r>
            <a:r>
              <a:rPr lang="en-US" altLang="zh-CN" sz="2800" b="1" i="1" baseline="-25000" dirty="0">
                <a:latin typeface="Times New Roman" panose="02020603050405020304" pitchFamily="18" charset="0"/>
                <a:cs typeface="Times New Roman" panose="02020603050405020304" pitchFamily="18" charset="0"/>
              </a:rPr>
              <a:t>n</a:t>
            </a:r>
            <a:endParaRPr lang="zh-CN" altLang="en-US" b="1" i="1" baseline="-25000" dirty="0">
              <a:latin typeface="Times New Roman" panose="02020603050405020304" pitchFamily="18" charset="0"/>
              <a:cs typeface="Times New Roman" panose="02020603050405020304" pitchFamily="18" charset="0"/>
            </a:endParaRPr>
          </a:p>
        </p:txBody>
      </p:sp>
      <p:cxnSp>
        <p:nvCxnSpPr>
          <p:cNvPr id="34" name="直接连接符 33"/>
          <p:cNvCxnSpPr/>
          <p:nvPr/>
        </p:nvCxnSpPr>
        <p:spPr>
          <a:xfrm flipV="1">
            <a:off x="2932975" y="1670540"/>
            <a:ext cx="11501" cy="67835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3999770" y="1667668"/>
            <a:ext cx="11501" cy="67835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5075197" y="1644789"/>
            <a:ext cx="11501" cy="67835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6141992" y="1650543"/>
            <a:ext cx="11501" cy="67835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7207721" y="1620936"/>
            <a:ext cx="11501" cy="67835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9" name="Text Box 1029"/>
          <p:cNvSpPr txBox="1">
            <a:spLocks noChangeArrowheads="1"/>
          </p:cNvSpPr>
          <p:nvPr/>
        </p:nvSpPr>
        <p:spPr bwMode="auto">
          <a:xfrm>
            <a:off x="502922" y="3107246"/>
            <a:ext cx="8302041" cy="904863"/>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假设每个原子受力只与相邻两个原子之间的距离有关，受力大小与距离成正比，根据牛顿第二定律</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41" name="Text Box 1029"/>
          <p:cNvSpPr txBox="1">
            <a:spLocks noChangeArrowheads="1"/>
          </p:cNvSpPr>
          <p:nvPr/>
        </p:nvSpPr>
        <p:spPr bwMode="auto">
          <a:xfrm>
            <a:off x="502922" y="5187460"/>
            <a:ext cx="8302041" cy="46544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原子链有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个原子，则有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个方程构成方程组</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 name="Object 5">
            <a:extLst>
              <a:ext uri="{FF2B5EF4-FFF2-40B4-BE49-F238E27FC236}">
                <a16:creationId xmlns:a16="http://schemas.microsoft.com/office/drawing/2014/main" id="{36A6A10D-4918-873D-C3DF-BE157CA0A080}"/>
              </a:ext>
            </a:extLst>
          </p:cNvPr>
          <p:cNvGraphicFramePr>
            <a:graphicFrameLocks noChangeAspect="1"/>
          </p:cNvGraphicFramePr>
          <p:nvPr>
            <p:extLst>
              <p:ext uri="{D42A27DB-BD31-4B8C-83A1-F6EECF244321}">
                <p14:modId xmlns:p14="http://schemas.microsoft.com/office/powerpoint/2010/main" val="1993061069"/>
              </p:ext>
            </p:extLst>
          </p:nvPr>
        </p:nvGraphicFramePr>
        <p:xfrm>
          <a:off x="2249344" y="4087212"/>
          <a:ext cx="4645312" cy="420179"/>
        </p:xfrm>
        <a:graphic>
          <a:graphicData uri="http://schemas.openxmlformats.org/presentationml/2006/ole">
            <mc:AlternateContent xmlns:mc="http://schemas.openxmlformats.org/markup-compatibility/2006">
              <mc:Choice xmlns:v="urn:schemas-microsoft-com:vml" Requires="v">
                <p:oleObj name="Equation" r:id="rId2" imgW="2527200" imgH="228600" progId="Equation.DSMT4">
                  <p:embed/>
                </p:oleObj>
              </mc:Choice>
              <mc:Fallback>
                <p:oleObj name="Equation" r:id="rId2" imgW="2527200" imgH="228600" progId="Equation.DSMT4">
                  <p:embed/>
                  <p:pic>
                    <p:nvPicPr>
                      <p:cNvPr id="0" name=""/>
                      <p:cNvPicPr/>
                      <p:nvPr/>
                    </p:nvPicPr>
                    <p:blipFill>
                      <a:blip r:embed="rId3"/>
                      <a:stretch>
                        <a:fillRect/>
                      </a:stretch>
                    </p:blipFill>
                    <p:spPr>
                      <a:xfrm>
                        <a:off x="2249344" y="4087212"/>
                        <a:ext cx="4645312" cy="420179"/>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A6F651B0-55AB-6EE3-7DFE-EA73D8B11B1A}"/>
              </a:ext>
            </a:extLst>
          </p:cNvPr>
          <p:cNvGraphicFramePr>
            <a:graphicFrameLocks noChangeAspect="1"/>
          </p:cNvGraphicFramePr>
          <p:nvPr>
            <p:extLst>
              <p:ext uri="{D42A27DB-BD31-4B8C-83A1-F6EECF244321}">
                <p14:modId xmlns:p14="http://schemas.microsoft.com/office/powerpoint/2010/main" val="1520138886"/>
              </p:ext>
            </p:extLst>
          </p:nvPr>
        </p:nvGraphicFramePr>
        <p:xfrm>
          <a:off x="2800207" y="4576168"/>
          <a:ext cx="2544967" cy="424161"/>
        </p:xfrm>
        <a:graphic>
          <a:graphicData uri="http://schemas.openxmlformats.org/presentationml/2006/ole">
            <mc:AlternateContent xmlns:mc="http://schemas.openxmlformats.org/markup-compatibility/2006">
              <mc:Choice xmlns:v="urn:schemas-microsoft-com:vml" Requires="v">
                <p:oleObj name="Equation" r:id="rId4" imgW="1371600" imgH="228600" progId="Equation.DSMT4">
                  <p:embed/>
                </p:oleObj>
              </mc:Choice>
              <mc:Fallback>
                <p:oleObj name="Equation" r:id="rId4" imgW="1371600" imgH="228600" progId="Equation.DSMT4">
                  <p:embed/>
                  <p:pic>
                    <p:nvPicPr>
                      <p:cNvPr id="0" name=""/>
                      <p:cNvPicPr/>
                      <p:nvPr/>
                    </p:nvPicPr>
                    <p:blipFill>
                      <a:blip r:embed="rId5"/>
                      <a:stretch>
                        <a:fillRect/>
                      </a:stretch>
                    </p:blipFill>
                    <p:spPr>
                      <a:xfrm>
                        <a:off x="2800207" y="4576168"/>
                        <a:ext cx="2544967" cy="424161"/>
                      </a:xfrm>
                      <a:prstGeom prst="rect">
                        <a:avLst/>
                      </a:prstGeom>
                    </p:spPr>
                  </p:pic>
                </p:oleObj>
              </mc:Fallback>
            </mc:AlternateContent>
          </a:graphicData>
        </a:graphic>
      </p:graphicFrame>
    </p:spTree>
    <p:extLst>
      <p:ext uri="{BB962C8B-B14F-4D97-AF65-F5344CB8AC3E}">
        <p14:creationId xmlns:p14="http://schemas.microsoft.com/office/powerpoint/2010/main" val="603860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17</a:t>
            </a:fld>
            <a:endParaRPr lang="zh-CN" altLang="en-US"/>
          </a:p>
        </p:txBody>
      </p:sp>
      <p:sp>
        <p:nvSpPr>
          <p:cNvPr id="4" name="Text Box 1029"/>
          <p:cNvSpPr txBox="1">
            <a:spLocks noChangeArrowheads="1"/>
          </p:cNvSpPr>
          <p:nvPr/>
        </p:nvSpPr>
        <p:spPr bwMode="auto">
          <a:xfrm>
            <a:off x="477043" y="1030461"/>
            <a:ext cx="8302041" cy="44896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该方程具有如下形式的解</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6" name="Text Box 1029"/>
          <p:cNvSpPr txBox="1">
            <a:spLocks noChangeArrowheads="1"/>
          </p:cNvSpPr>
          <p:nvPr/>
        </p:nvSpPr>
        <p:spPr bwMode="auto">
          <a:xfrm>
            <a:off x="477043" y="2287042"/>
            <a:ext cx="8302041" cy="463717"/>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其中</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为常数。代入方程中得到</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Text Box 1029"/>
          <p:cNvSpPr txBox="1">
            <a:spLocks noChangeArrowheads="1"/>
          </p:cNvSpPr>
          <p:nvPr/>
        </p:nvSpPr>
        <p:spPr bwMode="auto">
          <a:xfrm>
            <a:off x="407871" y="5218329"/>
            <a:ext cx="8302041" cy="131112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晶格振动的解与一般介质波的解具有相同的形式，说明晶格振动也可以看成是一种波，称为“格波”。</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ω</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与</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需要满足一定的关系，这种关系称为“色散关系”。</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1" name="Object 10">
            <a:extLst>
              <a:ext uri="{FF2B5EF4-FFF2-40B4-BE49-F238E27FC236}">
                <a16:creationId xmlns:a16="http://schemas.microsoft.com/office/drawing/2014/main" id="{C40EFC8F-001E-639F-140A-744DCA0E5892}"/>
              </a:ext>
            </a:extLst>
          </p:cNvPr>
          <p:cNvGraphicFramePr>
            <a:graphicFrameLocks noChangeAspect="1"/>
          </p:cNvGraphicFramePr>
          <p:nvPr>
            <p:extLst>
              <p:ext uri="{D42A27DB-BD31-4B8C-83A1-F6EECF244321}">
                <p14:modId xmlns:p14="http://schemas.microsoft.com/office/powerpoint/2010/main" val="4008909203"/>
              </p:ext>
            </p:extLst>
          </p:nvPr>
        </p:nvGraphicFramePr>
        <p:xfrm>
          <a:off x="2815505" y="392482"/>
          <a:ext cx="3625116" cy="494334"/>
        </p:xfrm>
        <a:graphic>
          <a:graphicData uri="http://schemas.openxmlformats.org/presentationml/2006/ole">
            <mc:AlternateContent xmlns:mc="http://schemas.openxmlformats.org/markup-compatibility/2006">
              <mc:Choice xmlns:v="urn:schemas-microsoft-com:vml" Requires="v">
                <p:oleObj name="Equation" r:id="rId2" imgW="1676160" imgH="228600" progId="Equation.DSMT4">
                  <p:embed/>
                </p:oleObj>
              </mc:Choice>
              <mc:Fallback>
                <p:oleObj name="Equation" r:id="rId2" imgW="1676160" imgH="228600" progId="Equation.DSMT4">
                  <p:embed/>
                  <p:pic>
                    <p:nvPicPr>
                      <p:cNvPr id="0" name=""/>
                      <p:cNvPicPr/>
                      <p:nvPr/>
                    </p:nvPicPr>
                    <p:blipFill>
                      <a:blip r:embed="rId3"/>
                      <a:stretch>
                        <a:fillRect/>
                      </a:stretch>
                    </p:blipFill>
                    <p:spPr>
                      <a:xfrm>
                        <a:off x="2815505" y="392482"/>
                        <a:ext cx="3625116" cy="494334"/>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DCC41B8F-41C3-F0D1-0659-82251ED31EB1}"/>
              </a:ext>
            </a:extLst>
          </p:cNvPr>
          <p:cNvGraphicFramePr>
            <a:graphicFrameLocks noChangeAspect="1"/>
          </p:cNvGraphicFramePr>
          <p:nvPr>
            <p:extLst>
              <p:ext uri="{D42A27DB-BD31-4B8C-83A1-F6EECF244321}">
                <p14:modId xmlns:p14="http://schemas.microsoft.com/office/powerpoint/2010/main" val="3382121688"/>
              </p:ext>
            </p:extLst>
          </p:nvPr>
        </p:nvGraphicFramePr>
        <p:xfrm>
          <a:off x="3394680" y="1617471"/>
          <a:ext cx="2466766" cy="608643"/>
        </p:xfrm>
        <a:graphic>
          <a:graphicData uri="http://schemas.openxmlformats.org/presentationml/2006/ole">
            <mc:AlternateContent xmlns:mc="http://schemas.openxmlformats.org/markup-compatibility/2006">
              <mc:Choice xmlns:v="urn:schemas-microsoft-com:vml" Requires="v">
                <p:oleObj name="Equation" r:id="rId4" imgW="965160" imgH="253800" progId="Equation.DSMT4">
                  <p:embed/>
                </p:oleObj>
              </mc:Choice>
              <mc:Fallback>
                <p:oleObj name="Equation" r:id="rId4" imgW="965160" imgH="253800" progId="Equation.DSMT4">
                  <p:embed/>
                  <p:pic>
                    <p:nvPicPr>
                      <p:cNvPr id="0" name=""/>
                      <p:cNvPicPr/>
                      <p:nvPr/>
                    </p:nvPicPr>
                    <p:blipFill>
                      <a:blip r:embed="rId5"/>
                      <a:stretch>
                        <a:fillRect/>
                      </a:stretch>
                    </p:blipFill>
                    <p:spPr>
                      <a:xfrm>
                        <a:off x="3394680" y="1617471"/>
                        <a:ext cx="2466766" cy="608643"/>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FDBACC98-62C8-1A26-C97A-DF2D7C0C93FB}"/>
              </a:ext>
            </a:extLst>
          </p:cNvPr>
          <p:cNvGraphicFramePr>
            <a:graphicFrameLocks noChangeAspect="1"/>
          </p:cNvGraphicFramePr>
          <p:nvPr>
            <p:extLst>
              <p:ext uri="{D42A27DB-BD31-4B8C-83A1-F6EECF244321}">
                <p14:modId xmlns:p14="http://schemas.microsoft.com/office/powerpoint/2010/main" val="2354177488"/>
              </p:ext>
            </p:extLst>
          </p:nvPr>
        </p:nvGraphicFramePr>
        <p:xfrm>
          <a:off x="909490" y="2817771"/>
          <a:ext cx="7367812" cy="546486"/>
        </p:xfrm>
        <a:graphic>
          <a:graphicData uri="http://schemas.openxmlformats.org/presentationml/2006/ole">
            <mc:AlternateContent xmlns:mc="http://schemas.openxmlformats.org/markup-compatibility/2006">
              <mc:Choice xmlns:v="urn:schemas-microsoft-com:vml" Requires="v">
                <p:oleObj name="Equation" r:id="rId6" imgW="3365280" imgH="279360" progId="Equation.DSMT4">
                  <p:embed/>
                </p:oleObj>
              </mc:Choice>
              <mc:Fallback>
                <p:oleObj name="Equation" r:id="rId6" imgW="3365280" imgH="279360" progId="Equation.DSMT4">
                  <p:embed/>
                  <p:pic>
                    <p:nvPicPr>
                      <p:cNvPr id="0" name=""/>
                      <p:cNvPicPr/>
                      <p:nvPr/>
                    </p:nvPicPr>
                    <p:blipFill>
                      <a:blip r:embed="rId7"/>
                      <a:stretch>
                        <a:fillRect/>
                      </a:stretch>
                    </p:blipFill>
                    <p:spPr>
                      <a:xfrm>
                        <a:off x="909490" y="2817771"/>
                        <a:ext cx="7367812" cy="546486"/>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F1F86094-ABDF-5E44-C5A2-D8EFED8E9F5B}"/>
              </a:ext>
            </a:extLst>
          </p:cNvPr>
          <p:cNvGraphicFramePr>
            <a:graphicFrameLocks noChangeAspect="1"/>
          </p:cNvGraphicFramePr>
          <p:nvPr>
            <p:extLst>
              <p:ext uri="{D42A27DB-BD31-4B8C-83A1-F6EECF244321}">
                <p14:modId xmlns:p14="http://schemas.microsoft.com/office/powerpoint/2010/main" val="3621417547"/>
              </p:ext>
            </p:extLst>
          </p:nvPr>
        </p:nvGraphicFramePr>
        <p:xfrm>
          <a:off x="1901670" y="3529620"/>
          <a:ext cx="5340659" cy="546486"/>
        </p:xfrm>
        <a:graphic>
          <a:graphicData uri="http://schemas.openxmlformats.org/presentationml/2006/ole">
            <mc:AlternateContent xmlns:mc="http://schemas.openxmlformats.org/markup-compatibility/2006">
              <mc:Choice xmlns:v="urn:schemas-microsoft-com:vml" Requires="v">
                <p:oleObj name="Equation" r:id="rId8" imgW="2730240" imgH="279360" progId="Equation.DSMT4">
                  <p:embed/>
                </p:oleObj>
              </mc:Choice>
              <mc:Fallback>
                <p:oleObj name="Equation" r:id="rId8" imgW="2730240" imgH="279360" progId="Equation.DSMT4">
                  <p:embed/>
                  <p:pic>
                    <p:nvPicPr>
                      <p:cNvPr id="0" name=""/>
                      <p:cNvPicPr/>
                      <p:nvPr/>
                    </p:nvPicPr>
                    <p:blipFill>
                      <a:blip r:embed="rId9"/>
                      <a:stretch>
                        <a:fillRect/>
                      </a:stretch>
                    </p:blipFill>
                    <p:spPr>
                      <a:xfrm>
                        <a:off x="1901670" y="3529620"/>
                        <a:ext cx="5340659" cy="546486"/>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1B3A144E-1486-4691-4911-E3DB3EFE9098}"/>
              </a:ext>
            </a:extLst>
          </p:cNvPr>
          <p:cNvGraphicFramePr>
            <a:graphicFrameLocks noChangeAspect="1"/>
          </p:cNvGraphicFramePr>
          <p:nvPr>
            <p:extLst>
              <p:ext uri="{D42A27DB-BD31-4B8C-83A1-F6EECF244321}">
                <p14:modId xmlns:p14="http://schemas.microsoft.com/office/powerpoint/2010/main" val="1631776743"/>
              </p:ext>
            </p:extLst>
          </p:nvPr>
        </p:nvGraphicFramePr>
        <p:xfrm>
          <a:off x="2260671" y="4223579"/>
          <a:ext cx="4734784" cy="847277"/>
        </p:xfrm>
        <a:graphic>
          <a:graphicData uri="http://schemas.openxmlformats.org/presentationml/2006/ole">
            <mc:AlternateContent xmlns:mc="http://schemas.openxmlformats.org/markup-compatibility/2006">
              <mc:Choice xmlns:v="urn:schemas-microsoft-com:vml" Requires="v">
                <p:oleObj name="Equation" r:id="rId10" imgW="2412720" imgH="431640" progId="Equation.DSMT4">
                  <p:embed/>
                </p:oleObj>
              </mc:Choice>
              <mc:Fallback>
                <p:oleObj name="Equation" r:id="rId10" imgW="2412720" imgH="431640" progId="Equation.DSMT4">
                  <p:embed/>
                  <p:pic>
                    <p:nvPicPr>
                      <p:cNvPr id="0" name=""/>
                      <p:cNvPicPr/>
                      <p:nvPr/>
                    </p:nvPicPr>
                    <p:blipFill>
                      <a:blip r:embed="rId11"/>
                      <a:stretch>
                        <a:fillRect/>
                      </a:stretch>
                    </p:blipFill>
                    <p:spPr>
                      <a:xfrm>
                        <a:off x="2260671" y="4223579"/>
                        <a:ext cx="4734784" cy="847277"/>
                      </a:xfrm>
                      <a:prstGeom prst="rect">
                        <a:avLst/>
                      </a:prstGeom>
                    </p:spPr>
                  </p:pic>
                </p:oleObj>
              </mc:Fallback>
            </mc:AlternateContent>
          </a:graphicData>
        </a:graphic>
      </p:graphicFrame>
    </p:spTree>
    <p:extLst>
      <p:ext uri="{BB962C8B-B14F-4D97-AF65-F5344CB8AC3E}">
        <p14:creationId xmlns:p14="http://schemas.microsoft.com/office/powerpoint/2010/main" val="2084127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18</a:t>
            </a:fld>
            <a:endParaRPr lang="zh-CN" altLang="en-US"/>
          </a:p>
        </p:txBody>
      </p:sp>
      <p:sp>
        <p:nvSpPr>
          <p:cNvPr id="3" name="Text Box 1029"/>
          <p:cNvSpPr txBox="1">
            <a:spLocks noChangeArrowheads="1"/>
          </p:cNvSpPr>
          <p:nvPr/>
        </p:nvSpPr>
        <p:spPr bwMode="auto">
          <a:xfrm>
            <a:off x="433750" y="361653"/>
            <a:ext cx="8302041" cy="44896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利用周期边条件</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5" name="Text Box 1029"/>
          <p:cNvSpPr txBox="1">
            <a:spLocks noChangeArrowheads="1"/>
          </p:cNvSpPr>
          <p:nvPr/>
        </p:nvSpPr>
        <p:spPr bwMode="auto">
          <a:xfrm>
            <a:off x="433750" y="1031639"/>
            <a:ext cx="8302041" cy="44896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以及</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7" name="Text Box 1029"/>
          <p:cNvSpPr txBox="1">
            <a:spLocks noChangeArrowheads="1"/>
          </p:cNvSpPr>
          <p:nvPr/>
        </p:nvSpPr>
        <p:spPr bwMode="auto">
          <a:xfrm>
            <a:off x="4584770" y="370390"/>
            <a:ext cx="1326118" cy="44896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a:t>
            </a:r>
            <a:r>
              <a:rPr kumimoji="1" lang="zh-CN" altLang="en-US" sz="2400" b="1" dirty="0">
                <a:solidFill>
                  <a:srgbClr val="000000"/>
                </a:solidFill>
                <a:latin typeface="宋体" panose="02010600030101010101" pitchFamily="2" charset="-122"/>
                <a:ea typeface="宋体" panose="02010600030101010101" pitchFamily="2" charset="-122"/>
              </a:rPr>
              <a:t>即</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9" name="Text Box 1029"/>
          <p:cNvSpPr txBox="1">
            <a:spLocks noChangeArrowheads="1"/>
          </p:cNvSpPr>
          <p:nvPr/>
        </p:nvSpPr>
        <p:spPr bwMode="auto">
          <a:xfrm>
            <a:off x="6507061" y="341483"/>
            <a:ext cx="1776148" cy="46544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TW"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为整数</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Text Box 1029"/>
          <p:cNvSpPr txBox="1">
            <a:spLocks noChangeArrowheads="1"/>
          </p:cNvSpPr>
          <p:nvPr/>
        </p:nvSpPr>
        <p:spPr bwMode="auto">
          <a:xfrm>
            <a:off x="407871" y="3631071"/>
            <a:ext cx="8302041" cy="271458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一个格波解表示所有原子同时做频率为</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的振动，不同原子之间有相位差，相邻原子之间的相位差为</a:t>
            </a:r>
            <a:r>
              <a:rPr kumimoji="1" lang="en-US" altLang="zh-CN" sz="2400" b="1"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aq</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可以取</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个不同的值，每个</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对应一种格波。一维原子链上有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个原子，就有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个自由度，因此有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个不同的格波。实际原子的振动是这</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个格波的线性叠加。</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zh-CN"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（解决了问题</a:t>
            </a:r>
            <a:r>
              <a:rPr kumimoji="1" lang="en-US" altLang="zh-CN"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Text Box 1029"/>
          <p:cNvSpPr txBox="1">
            <a:spLocks noChangeArrowheads="1"/>
          </p:cNvSpPr>
          <p:nvPr/>
        </p:nvSpPr>
        <p:spPr bwMode="auto">
          <a:xfrm>
            <a:off x="448058" y="1677265"/>
            <a:ext cx="7988576" cy="46544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得到</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只能取由</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到</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，一共</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个不同的数值</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0" name="Object 9">
            <a:extLst>
              <a:ext uri="{FF2B5EF4-FFF2-40B4-BE49-F238E27FC236}">
                <a16:creationId xmlns:a16="http://schemas.microsoft.com/office/drawing/2014/main" id="{608141CA-05DB-89E1-CE63-19425C538A06}"/>
              </a:ext>
            </a:extLst>
          </p:cNvPr>
          <p:cNvGraphicFramePr>
            <a:graphicFrameLocks noChangeAspect="1"/>
          </p:cNvGraphicFramePr>
          <p:nvPr>
            <p:extLst>
              <p:ext uri="{D42A27DB-BD31-4B8C-83A1-F6EECF244321}">
                <p14:modId xmlns:p14="http://schemas.microsoft.com/office/powerpoint/2010/main" val="3076226925"/>
              </p:ext>
            </p:extLst>
          </p:nvPr>
        </p:nvGraphicFramePr>
        <p:xfrm>
          <a:off x="2834502" y="307894"/>
          <a:ext cx="1724389" cy="502728"/>
        </p:xfrm>
        <a:graphic>
          <a:graphicData uri="http://schemas.openxmlformats.org/presentationml/2006/ole">
            <mc:AlternateContent xmlns:mc="http://schemas.openxmlformats.org/markup-compatibility/2006">
              <mc:Choice xmlns:v="urn:schemas-microsoft-com:vml" Requires="v">
                <p:oleObj name="Equation" r:id="rId2" imgW="647640" imgH="203040" progId="Equation.DSMT4">
                  <p:embed/>
                </p:oleObj>
              </mc:Choice>
              <mc:Fallback>
                <p:oleObj name="Equation" r:id="rId2" imgW="647640" imgH="203040" progId="Equation.DSMT4">
                  <p:embed/>
                  <p:pic>
                    <p:nvPicPr>
                      <p:cNvPr id="0" name=""/>
                      <p:cNvPicPr/>
                      <p:nvPr/>
                    </p:nvPicPr>
                    <p:blipFill>
                      <a:blip r:embed="rId3"/>
                      <a:stretch>
                        <a:fillRect/>
                      </a:stretch>
                    </p:blipFill>
                    <p:spPr>
                      <a:xfrm>
                        <a:off x="2834502" y="307894"/>
                        <a:ext cx="1724389" cy="502728"/>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30DB622D-0972-FF09-2C6F-546015EE5681}"/>
              </a:ext>
            </a:extLst>
          </p:cNvPr>
          <p:cNvGraphicFramePr>
            <a:graphicFrameLocks noChangeAspect="1"/>
          </p:cNvGraphicFramePr>
          <p:nvPr>
            <p:extLst>
              <p:ext uri="{D42A27DB-BD31-4B8C-83A1-F6EECF244321}">
                <p14:modId xmlns:p14="http://schemas.microsoft.com/office/powerpoint/2010/main" val="3050304735"/>
              </p:ext>
            </p:extLst>
          </p:nvPr>
        </p:nvGraphicFramePr>
        <p:xfrm>
          <a:off x="5247829" y="149844"/>
          <a:ext cx="1162207" cy="818827"/>
        </p:xfrm>
        <a:graphic>
          <a:graphicData uri="http://schemas.openxmlformats.org/presentationml/2006/ole">
            <mc:AlternateContent xmlns:mc="http://schemas.openxmlformats.org/markup-compatibility/2006">
              <mc:Choice xmlns:v="urn:schemas-microsoft-com:vml" Requires="v">
                <p:oleObj name="Equation" r:id="rId4" imgW="558720" imgH="393480" progId="Equation.DSMT4">
                  <p:embed/>
                </p:oleObj>
              </mc:Choice>
              <mc:Fallback>
                <p:oleObj name="Equation" r:id="rId4" imgW="558720" imgH="393480" progId="Equation.DSMT4">
                  <p:embed/>
                  <p:pic>
                    <p:nvPicPr>
                      <p:cNvPr id="0" name=""/>
                      <p:cNvPicPr/>
                      <p:nvPr/>
                    </p:nvPicPr>
                    <p:blipFill>
                      <a:blip r:embed="rId5"/>
                      <a:stretch>
                        <a:fillRect/>
                      </a:stretch>
                    </p:blipFill>
                    <p:spPr>
                      <a:xfrm>
                        <a:off x="5247829" y="149844"/>
                        <a:ext cx="1162207" cy="818827"/>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FFE27E2E-B5D9-6DFF-4A73-C0FD3118E4D6}"/>
              </a:ext>
            </a:extLst>
          </p:cNvPr>
          <p:cNvGraphicFramePr>
            <a:graphicFrameLocks noChangeAspect="1"/>
          </p:cNvGraphicFramePr>
          <p:nvPr>
            <p:extLst>
              <p:ext uri="{D42A27DB-BD31-4B8C-83A1-F6EECF244321}">
                <p14:modId xmlns:p14="http://schemas.microsoft.com/office/powerpoint/2010/main" val="2024655781"/>
              </p:ext>
            </p:extLst>
          </p:nvPr>
        </p:nvGraphicFramePr>
        <p:xfrm>
          <a:off x="1280222" y="1057517"/>
          <a:ext cx="1855737" cy="448969"/>
        </p:xfrm>
        <a:graphic>
          <a:graphicData uri="http://schemas.openxmlformats.org/presentationml/2006/ole">
            <mc:AlternateContent xmlns:mc="http://schemas.openxmlformats.org/markup-compatibility/2006">
              <mc:Choice xmlns:v="urn:schemas-microsoft-com:vml" Requires="v">
                <p:oleObj name="Equation" r:id="rId6" imgW="787320" imgH="190440" progId="Equation.DSMT4">
                  <p:embed/>
                </p:oleObj>
              </mc:Choice>
              <mc:Fallback>
                <p:oleObj name="Equation" r:id="rId6" imgW="787320" imgH="190440" progId="Equation.DSMT4">
                  <p:embed/>
                  <p:pic>
                    <p:nvPicPr>
                      <p:cNvPr id="0" name=""/>
                      <p:cNvPicPr/>
                      <p:nvPr/>
                    </p:nvPicPr>
                    <p:blipFill>
                      <a:blip r:embed="rId7"/>
                      <a:stretch>
                        <a:fillRect/>
                      </a:stretch>
                    </p:blipFill>
                    <p:spPr>
                      <a:xfrm>
                        <a:off x="1280222" y="1057517"/>
                        <a:ext cx="1855737" cy="448969"/>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83B24E65-CD79-3E0E-6438-E55CF42265B0}"/>
              </a:ext>
            </a:extLst>
          </p:cNvPr>
          <p:cNvGraphicFramePr>
            <a:graphicFrameLocks noChangeAspect="1"/>
          </p:cNvGraphicFramePr>
          <p:nvPr>
            <p:extLst>
              <p:ext uri="{D42A27DB-BD31-4B8C-83A1-F6EECF244321}">
                <p14:modId xmlns:p14="http://schemas.microsoft.com/office/powerpoint/2010/main" val="1840878923"/>
              </p:ext>
            </p:extLst>
          </p:nvPr>
        </p:nvGraphicFramePr>
        <p:xfrm>
          <a:off x="2630484" y="2384385"/>
          <a:ext cx="2949854" cy="1039472"/>
        </p:xfrm>
        <a:graphic>
          <a:graphicData uri="http://schemas.openxmlformats.org/presentationml/2006/ole">
            <mc:AlternateContent xmlns:mc="http://schemas.openxmlformats.org/markup-compatibility/2006">
              <mc:Choice xmlns:v="urn:schemas-microsoft-com:vml" Requires="v">
                <p:oleObj name="Equation" r:id="rId8" imgW="1333440" imgH="469800" progId="Equation.DSMT4">
                  <p:embed/>
                </p:oleObj>
              </mc:Choice>
              <mc:Fallback>
                <p:oleObj name="Equation" r:id="rId8" imgW="1333440" imgH="469800" progId="Equation.DSMT4">
                  <p:embed/>
                  <p:pic>
                    <p:nvPicPr>
                      <p:cNvPr id="0" name=""/>
                      <p:cNvPicPr/>
                      <p:nvPr/>
                    </p:nvPicPr>
                    <p:blipFill>
                      <a:blip r:embed="rId9"/>
                      <a:stretch>
                        <a:fillRect/>
                      </a:stretch>
                    </p:blipFill>
                    <p:spPr>
                      <a:xfrm>
                        <a:off x="2630484" y="2384385"/>
                        <a:ext cx="2949854" cy="1039472"/>
                      </a:xfrm>
                      <a:prstGeom prst="rect">
                        <a:avLst/>
                      </a:prstGeom>
                    </p:spPr>
                  </p:pic>
                </p:oleObj>
              </mc:Fallback>
            </mc:AlternateContent>
          </a:graphicData>
        </a:graphic>
      </p:graphicFrame>
    </p:spTree>
    <p:extLst>
      <p:ext uri="{BB962C8B-B14F-4D97-AF65-F5344CB8AC3E}">
        <p14:creationId xmlns:p14="http://schemas.microsoft.com/office/powerpoint/2010/main" val="3118837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19</a:t>
            </a:fld>
            <a:endParaRPr lang="zh-CN" altLang="en-US"/>
          </a:p>
        </p:txBody>
      </p:sp>
      <p:sp>
        <p:nvSpPr>
          <p:cNvPr id="3" name="Text Box 1029"/>
          <p:cNvSpPr txBox="1">
            <a:spLocks noChangeArrowheads="1"/>
          </p:cNvSpPr>
          <p:nvPr/>
        </p:nvSpPr>
        <p:spPr bwMode="auto">
          <a:xfrm>
            <a:off x="279873" y="327972"/>
            <a:ext cx="8302041" cy="50840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800" b="1" dirty="0">
                <a:solidFill>
                  <a:srgbClr val="FF0000"/>
                </a:solidFill>
                <a:latin typeface="Times New Roman" pitchFamily="18" charset="0"/>
                <a:ea typeface="宋体" pitchFamily="2" charset="-122"/>
              </a:rPr>
              <a:t>关于周期性边条件</a:t>
            </a:r>
            <a:endParaRPr kumimoji="1" lang="en-US" altLang="zh-CN" sz="2800" b="1" dirty="0">
              <a:solidFill>
                <a:srgbClr val="000000"/>
              </a:solidFill>
              <a:latin typeface="宋体" panose="02010600030101010101" pitchFamily="2" charset="-122"/>
              <a:ea typeface="宋体" panose="02010600030101010101" pitchFamily="2" charset="-122"/>
            </a:endParaRPr>
          </a:p>
        </p:txBody>
      </p:sp>
      <p:sp>
        <p:nvSpPr>
          <p:cNvPr id="4" name="Text Box 3"/>
          <p:cNvSpPr txBox="1">
            <a:spLocks noChangeArrowheads="1"/>
          </p:cNvSpPr>
          <p:nvPr/>
        </p:nvSpPr>
        <p:spPr bwMode="auto">
          <a:xfrm>
            <a:off x="161697" y="887413"/>
            <a:ext cx="8856662"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zh-CN" altLang="zh-CN" sz="2400" b="1" dirty="0">
                <a:solidFill>
                  <a:srgbClr val="0000FF"/>
                </a:solidFill>
              </a:rPr>
              <a:t>实际情况：</a:t>
            </a:r>
            <a:r>
              <a:rPr lang="zh-CN" altLang="zh-CN" sz="2400" b="1" i="1" dirty="0"/>
              <a:t>N</a:t>
            </a:r>
            <a:r>
              <a:rPr lang="zh-CN" altLang="zh-CN" sz="2400" b="1" dirty="0"/>
              <a:t>个原子构成的一维晶体，边界上原子受力的情况有别于体内原子。</a:t>
            </a:r>
            <a:endParaRPr lang="zh-CN" altLang="zh-CN" sz="2400" b="1" dirty="0">
              <a:sym typeface="Wingdings" panose="05000000000000000000" pitchFamily="2" charset="2"/>
            </a:endParaRPr>
          </a:p>
        </p:txBody>
      </p:sp>
      <p:sp>
        <p:nvSpPr>
          <p:cNvPr id="5" name="Text Box 5"/>
          <p:cNvSpPr txBox="1">
            <a:spLocks noChangeArrowheads="1"/>
          </p:cNvSpPr>
          <p:nvPr/>
        </p:nvSpPr>
        <p:spPr bwMode="auto">
          <a:xfrm>
            <a:off x="161698" y="3065305"/>
            <a:ext cx="8787156" cy="1481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50000"/>
              </a:spcBef>
              <a:buNone/>
            </a:pPr>
            <a:r>
              <a:rPr lang="zh-CN" altLang="zh-CN" sz="2400" b="1" dirty="0">
                <a:solidFill>
                  <a:srgbClr val="0000FF"/>
                </a:solidFill>
                <a:sym typeface="Wingdings" panose="05000000000000000000" pitchFamily="2" charset="2"/>
              </a:rPr>
              <a:t>设想边界条件：</a:t>
            </a:r>
            <a:r>
              <a:rPr lang="zh-CN" altLang="zh-CN" sz="2400" b="1" dirty="0">
                <a:sym typeface="Wingdings" panose="05000000000000000000" pitchFamily="2" charset="2"/>
              </a:rPr>
              <a:t>无限多个相同晶体相联接，各晶体中相对应的原子的运动情况都一样。</a:t>
            </a:r>
            <a:r>
              <a:rPr lang="zh-CN" altLang="en-US" sz="2400" b="1" dirty="0">
                <a:sym typeface="Wingdings" panose="05000000000000000000" pitchFamily="2" charset="2"/>
              </a:rPr>
              <a:t>所以，周期性边界条件只是一种近似，且在原子数足够多时是一种很好的近似。</a:t>
            </a:r>
          </a:p>
        </p:txBody>
      </p:sp>
      <p:sp>
        <p:nvSpPr>
          <p:cNvPr id="6" name="Text Box 6"/>
          <p:cNvSpPr txBox="1">
            <a:spLocks noChangeArrowheads="1"/>
          </p:cNvSpPr>
          <p:nvPr/>
        </p:nvSpPr>
        <p:spPr bwMode="auto">
          <a:xfrm>
            <a:off x="161697" y="1943716"/>
            <a:ext cx="8713788"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30000"/>
              </a:lnSpc>
              <a:spcBef>
                <a:spcPct val="50000"/>
              </a:spcBef>
              <a:buFontTx/>
              <a:buNone/>
            </a:pPr>
            <a:r>
              <a:rPr lang="zh-CN" altLang="zh-CN" sz="2400" b="1" dirty="0">
                <a:solidFill>
                  <a:srgbClr val="0000FF"/>
                </a:solidFill>
              </a:rPr>
              <a:t>近似考虑：</a:t>
            </a:r>
            <a:r>
              <a:rPr lang="zh-CN" altLang="zh-CN" sz="2400" b="1" i="1" dirty="0"/>
              <a:t>N</a:t>
            </a:r>
            <a:r>
              <a:rPr lang="zh-CN" altLang="zh-CN" sz="2400" b="1" dirty="0"/>
              <a:t>非常大，边界上原子数目极少，在考虑晶体大块性质时将边界上原子视如体内原子不至于带来误差。</a:t>
            </a:r>
            <a:endParaRPr lang="zh-CN" altLang="zh-CN" sz="2400" b="1" dirty="0">
              <a:sym typeface="Wingdings" panose="05000000000000000000" pitchFamily="2" charset="2"/>
            </a:endParaRPr>
          </a:p>
        </p:txBody>
      </p:sp>
      <p:sp>
        <p:nvSpPr>
          <p:cNvPr id="7" name="文本框 6"/>
          <p:cNvSpPr txBox="1"/>
          <p:nvPr/>
        </p:nvSpPr>
        <p:spPr>
          <a:xfrm>
            <a:off x="799911" y="5079381"/>
            <a:ext cx="2882590" cy="523220"/>
          </a:xfrm>
          <a:prstGeom prst="rect">
            <a:avLst/>
          </a:prstGeom>
          <a:noFill/>
        </p:spPr>
        <p:txBody>
          <a:bodyPr wrap="square" rtlCol="0">
            <a:spAutoFit/>
          </a:bodyPr>
          <a:lstStyle/>
          <a:p>
            <a:r>
              <a:rPr kumimoji="1" lang="zh-CN" altLang="en-US" sz="2800" b="1" dirty="0">
                <a:solidFill>
                  <a:srgbClr val="FF0000"/>
                </a:solidFill>
                <a:latin typeface="Times New Roman" panose="02020603050405020304" pitchFamily="18" charset="0"/>
                <a:ea typeface="宋体" panose="02010600030101010101" pitchFamily="2" charset="-122"/>
              </a:rPr>
              <a:t>纳米器件？</a:t>
            </a:r>
          </a:p>
        </p:txBody>
      </p:sp>
      <p:pic>
        <p:nvPicPr>
          <p:cNvPr id="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2958" y="4252173"/>
            <a:ext cx="2798956" cy="2177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0400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20</a:t>
            </a:fld>
            <a:endParaRPr lang="zh-CN" altLang="en-US"/>
          </a:p>
        </p:txBody>
      </p:sp>
      <p:sp>
        <p:nvSpPr>
          <p:cNvPr id="3" name="Text Box 1029"/>
          <p:cNvSpPr txBox="1">
            <a:spLocks noChangeArrowheads="1"/>
          </p:cNvSpPr>
          <p:nvPr/>
        </p:nvSpPr>
        <p:spPr bwMode="auto">
          <a:xfrm>
            <a:off x="279873" y="327972"/>
            <a:ext cx="8302041" cy="6331670"/>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800" b="1" dirty="0">
                <a:solidFill>
                  <a:srgbClr val="FF0000"/>
                </a:solidFill>
                <a:latin typeface="Times New Roman" panose="02020603050405020304" pitchFamily="18" charset="0"/>
                <a:ea typeface="宋体" pitchFamily="2" charset="-122"/>
                <a:cs typeface="Times New Roman" panose="02020603050405020304" pitchFamily="18" charset="0"/>
              </a:rPr>
              <a:t>小结</a:t>
            </a:r>
            <a:endParaRPr kumimoji="1"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zh-CN"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格波</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：晶体中所有原子共同参与的一种频率相同的振动，不同原子间有振动相位差，这种振动以波的形式在整个晶体中传播，称为格波。</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zh-CN"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格波种类</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（振动模式的数量）：单体振动只有一个振动模式（</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固定不变，仅与受力的系数有关），晶格振动是多体问题，因此有多种振动模式（不同模式的</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不同）。</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由于晶体的周期性特征以及简谐近似，多体问题的解仍然很简洁，表现为多个简谐振动的线性叠加。</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个原子构成的一维单原子链共有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个自由度，因此产生</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种独立的振动模式（</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个不同的</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）。当</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趋于无穷大，则变成连续介质，这时</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就可以连续取值了。</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不同的振动模式对应的相位不同，利用色散关系来描述。</a:t>
            </a:r>
          </a:p>
        </p:txBody>
      </p:sp>
    </p:spTree>
    <p:extLst>
      <p:ext uri="{BB962C8B-B14F-4D97-AF65-F5344CB8AC3E}">
        <p14:creationId xmlns:p14="http://schemas.microsoft.com/office/powerpoint/2010/main" val="1662043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21</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光是一种电磁波，某种意义上说也是一种振动。格波和光波有很多相同点，以下说法正确的是：</a:t>
            </a:r>
          </a:p>
        </p:txBody>
      </p:sp>
      <p:sp>
        <p:nvSpPr>
          <p:cNvPr id="5" name="文本框 4"/>
          <p:cNvSpPr txBox="1"/>
          <p:nvPr>
            <p:custDataLst>
              <p:tags r:id="rId3"/>
            </p:custDataLst>
          </p:nvPr>
        </p:nvSpPr>
        <p:spPr>
          <a:xfrm>
            <a:off x="1276712"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一维单原子链振动是横波，光也是横波</a:t>
            </a:r>
          </a:p>
        </p:txBody>
      </p:sp>
      <p:sp>
        <p:nvSpPr>
          <p:cNvPr id="6" name="文本框 5"/>
          <p:cNvSpPr txBox="1"/>
          <p:nvPr>
            <p:custDataLst>
              <p:tags r:id="rId4"/>
            </p:custDataLst>
          </p:nvPr>
        </p:nvSpPr>
        <p:spPr>
          <a:xfrm>
            <a:off x="1276712" y="3643313"/>
            <a:ext cx="71882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格波和光都可以看成是由不同频率的波叠加构成</a:t>
            </a:r>
          </a:p>
        </p:txBody>
      </p:sp>
      <p:sp>
        <p:nvSpPr>
          <p:cNvPr id="7" name="文本框 6"/>
          <p:cNvSpPr txBox="1"/>
          <p:nvPr>
            <p:custDataLst>
              <p:tags r:id="rId5"/>
            </p:custDataLst>
          </p:nvPr>
        </p:nvSpPr>
        <p:spPr>
          <a:xfrm>
            <a:off x="1276712" y="4500563"/>
            <a:ext cx="7188200"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光波中</a:t>
            </a:r>
            <a:r>
              <a:rPr lang="el-GR"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ω</a:t>
            </a:r>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可以取任意值，格波</a:t>
            </a:r>
            <a:r>
              <a:rPr lang="el-GR"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ω</a:t>
            </a:r>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只能取分立值</a:t>
            </a:r>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8" name="文本框 7"/>
          <p:cNvSpPr txBox="1"/>
          <p:nvPr>
            <p:custDataLst>
              <p:tags r:id="rId6"/>
            </p:custDataLst>
          </p:nvPr>
        </p:nvSpPr>
        <p:spPr>
          <a:xfrm>
            <a:off x="1276712"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格波和光都伴随着能量传递</a:t>
            </a:r>
          </a:p>
        </p:txBody>
      </p:sp>
      <p:sp>
        <p:nvSpPr>
          <p:cNvPr id="9" name="矩形 8"/>
          <p:cNvSpPr>
            <a:spLocks noChangeAspect="1"/>
          </p:cNvSpPr>
          <p:nvPr>
            <p:custDataLst>
              <p:tags r:id="rId7"/>
            </p:custDataLst>
          </p:nvPr>
        </p:nvSpPr>
        <p:spPr>
          <a:xfrm>
            <a:off x="562337" y="28503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562337"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562337"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562337"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058048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22</a:t>
            </a:fld>
            <a:endParaRPr lang="zh-CN" altLang="en-US"/>
          </a:p>
        </p:txBody>
      </p:sp>
      <p:sp>
        <p:nvSpPr>
          <p:cNvPr id="3" name="矩形 2"/>
          <p:cNvSpPr/>
          <p:nvPr/>
        </p:nvSpPr>
        <p:spPr>
          <a:xfrm>
            <a:off x="462394" y="283711"/>
            <a:ext cx="2888932"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2</a:t>
            </a:r>
            <a:r>
              <a:rPr kumimoji="1" lang="zh-CN" altLang="en-US" sz="2800" b="1" dirty="0">
                <a:solidFill>
                  <a:srgbClr val="D96227"/>
                </a:solidFill>
                <a:latin typeface="Times New Roman" pitchFamily="18" charset="0"/>
                <a:ea typeface="宋体" pitchFamily="2" charset="-122"/>
                <a:cs typeface="Times New Roman" pitchFamily="18" charset="0"/>
              </a:rPr>
              <a:t>、一维双原子链</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矩形 3"/>
          <p:cNvSpPr/>
          <p:nvPr/>
        </p:nvSpPr>
        <p:spPr>
          <a:xfrm>
            <a:off x="418171" y="989597"/>
            <a:ext cx="8212873" cy="2049792"/>
          </a:xfrm>
          <a:prstGeom prst="rect">
            <a:avLst/>
          </a:prstGeom>
        </p:spPr>
        <p:txBody>
          <a:bodyPr wrap="square">
            <a:spAutoFit/>
          </a:bodyPr>
          <a:lstStyle/>
          <a:p>
            <a:pPr>
              <a:lnSpc>
                <a:spcPct val="120000"/>
              </a:lnSpc>
              <a:spcBef>
                <a:spcPct val="50000"/>
              </a:spcBef>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我们讨论一维复式晶格的晶格振动，设相邻同种原子的间距为</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甲原子质量为</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M</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，乙种质量为</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m</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，设</a:t>
            </a:r>
            <a:r>
              <a:rPr kumimoji="1" lang="en-US" altLang="zh-CN" sz="2400" b="1"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50000"/>
              </a:spcBef>
            </a:pPr>
            <a:b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b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运动方程</a:t>
            </a:r>
          </a:p>
        </p:txBody>
      </p:sp>
      <p:pic>
        <p:nvPicPr>
          <p:cNvPr id="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59566" y="2487405"/>
            <a:ext cx="5626016" cy="2412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7">
            <a:extLst>
              <a:ext uri="{FF2B5EF4-FFF2-40B4-BE49-F238E27FC236}">
                <a16:creationId xmlns:a16="http://schemas.microsoft.com/office/drawing/2014/main" id="{3BC7121C-0015-0B1F-978B-464CDF8ED45F}"/>
              </a:ext>
            </a:extLst>
          </p:cNvPr>
          <p:cNvGraphicFramePr>
            <a:graphicFrameLocks noChangeAspect="1"/>
          </p:cNvGraphicFramePr>
          <p:nvPr>
            <p:extLst>
              <p:ext uri="{D42A27DB-BD31-4B8C-83A1-F6EECF244321}">
                <p14:modId xmlns:p14="http://schemas.microsoft.com/office/powerpoint/2010/main" val="2037016245"/>
              </p:ext>
            </p:extLst>
          </p:nvPr>
        </p:nvGraphicFramePr>
        <p:xfrm>
          <a:off x="462394" y="5325203"/>
          <a:ext cx="4340722" cy="1001705"/>
        </p:xfrm>
        <a:graphic>
          <a:graphicData uri="http://schemas.openxmlformats.org/presentationml/2006/ole">
            <mc:AlternateContent xmlns:mc="http://schemas.openxmlformats.org/markup-compatibility/2006">
              <mc:Choice xmlns:v="urn:schemas-microsoft-com:vml" Requires="v">
                <p:oleObj name="Equation" r:id="rId3" imgW="1981080" imgH="457200" progId="Equation.DSMT4">
                  <p:embed/>
                </p:oleObj>
              </mc:Choice>
              <mc:Fallback>
                <p:oleObj name="Equation" r:id="rId3" imgW="1981080" imgH="457200" progId="Equation.DSMT4">
                  <p:embed/>
                  <p:pic>
                    <p:nvPicPr>
                      <p:cNvPr id="0" name=""/>
                      <p:cNvPicPr/>
                      <p:nvPr/>
                    </p:nvPicPr>
                    <p:blipFill>
                      <a:blip r:embed="rId4"/>
                      <a:stretch>
                        <a:fillRect/>
                      </a:stretch>
                    </p:blipFill>
                    <p:spPr>
                      <a:xfrm>
                        <a:off x="462394" y="5325203"/>
                        <a:ext cx="4340722" cy="1001705"/>
                      </a:xfrm>
                      <a:prstGeom prst="rect">
                        <a:avLst/>
                      </a:prstGeom>
                    </p:spPr>
                  </p:pic>
                </p:oleObj>
              </mc:Fallback>
            </mc:AlternateContent>
          </a:graphicData>
        </a:graphic>
      </p:graphicFrame>
    </p:spTree>
    <p:extLst>
      <p:ext uri="{BB962C8B-B14F-4D97-AF65-F5344CB8AC3E}">
        <p14:creationId xmlns:p14="http://schemas.microsoft.com/office/powerpoint/2010/main" val="2014906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23</a:t>
            </a:fld>
            <a:endParaRPr lang="zh-CN" altLang="en-US"/>
          </a:p>
        </p:txBody>
      </p:sp>
      <p:sp>
        <p:nvSpPr>
          <p:cNvPr id="5" name="矩形 4"/>
          <p:cNvSpPr/>
          <p:nvPr/>
        </p:nvSpPr>
        <p:spPr>
          <a:xfrm>
            <a:off x="967178" y="212308"/>
            <a:ext cx="1422184" cy="535531"/>
          </a:xfrm>
          <a:prstGeom prst="rect">
            <a:avLst/>
          </a:prstGeom>
        </p:spPr>
        <p:txBody>
          <a:bodyPr wrap="none">
            <a:spAutoFit/>
          </a:bodyPr>
          <a:lstStyle/>
          <a:p>
            <a:pPr lvl="0">
              <a:lnSpc>
                <a:spcPct val="120000"/>
              </a:lnSpc>
              <a:spcBef>
                <a:spcPct val="50000"/>
              </a:spcBef>
            </a:pPr>
            <a:r>
              <a:rPr kumimoji="1" lang="zh-CN" altLang="en-US" sz="2400" b="1" dirty="0">
                <a:solidFill>
                  <a:srgbClr val="000000"/>
                </a:solidFill>
                <a:latin typeface="宋体" panose="02010600030101010101" pitchFamily="2" charset="-122"/>
                <a:ea typeface="宋体" panose="02010600030101010101" pitchFamily="2" charset="-122"/>
              </a:rPr>
              <a:t>格波的解</a:t>
            </a:r>
          </a:p>
        </p:txBody>
      </p:sp>
      <p:sp>
        <p:nvSpPr>
          <p:cNvPr id="7" name="左大括号 6"/>
          <p:cNvSpPr/>
          <p:nvPr/>
        </p:nvSpPr>
        <p:spPr>
          <a:xfrm>
            <a:off x="693973" y="950797"/>
            <a:ext cx="153519" cy="98073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左大括号 9"/>
          <p:cNvSpPr/>
          <p:nvPr/>
        </p:nvSpPr>
        <p:spPr>
          <a:xfrm>
            <a:off x="5028080" y="863446"/>
            <a:ext cx="153519" cy="98073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4" name="Object 2"/>
          <p:cNvGraphicFramePr>
            <a:graphicFrameLocks noChangeAspect="1"/>
          </p:cNvGraphicFramePr>
          <p:nvPr>
            <p:extLst>
              <p:ext uri="{D42A27DB-BD31-4B8C-83A1-F6EECF244321}">
                <p14:modId xmlns:p14="http://schemas.microsoft.com/office/powerpoint/2010/main" val="3261152406"/>
              </p:ext>
            </p:extLst>
          </p:nvPr>
        </p:nvGraphicFramePr>
        <p:xfrm>
          <a:off x="1122363" y="2052638"/>
          <a:ext cx="4367212" cy="1184275"/>
        </p:xfrm>
        <a:graphic>
          <a:graphicData uri="http://schemas.openxmlformats.org/presentationml/2006/ole">
            <mc:AlternateContent xmlns:mc="http://schemas.openxmlformats.org/markup-compatibility/2006">
              <mc:Choice xmlns:v="urn:schemas-microsoft-com:vml" Requires="v">
                <p:oleObj name="Equation" r:id="rId2" imgW="2717640" imgH="736560" progId="Equation.DSMT4">
                  <p:embed/>
                </p:oleObj>
              </mc:Choice>
              <mc:Fallback>
                <p:oleObj name="Equation" r:id="rId2" imgW="2717640" imgH="736560" progId="Equation.DSMT4">
                  <p:embed/>
                  <p:pic>
                    <p:nvPicPr>
                      <p:cNvPr id="58370" name="Object 2"/>
                      <p:cNvPicPr>
                        <a:picLocks noChangeAspect="1" noChangeArrowheads="1"/>
                      </p:cNvPicPr>
                      <p:nvPr/>
                    </p:nvPicPr>
                    <p:blipFill>
                      <a:blip r:embed="rId3"/>
                      <a:srcRect/>
                      <a:stretch>
                        <a:fillRect/>
                      </a:stretch>
                    </p:blipFill>
                    <p:spPr bwMode="auto">
                      <a:xfrm>
                        <a:off x="1122363" y="2052638"/>
                        <a:ext cx="4367212" cy="1184275"/>
                      </a:xfrm>
                      <a:prstGeom prst="rect">
                        <a:avLst/>
                      </a:prstGeom>
                      <a:solidFill>
                        <a:srgbClr val="CCFFFF"/>
                      </a:solidFill>
                      <a:ln>
                        <a:noFill/>
                      </a:ln>
                    </p:spPr>
                  </p:pic>
                </p:oleObj>
              </mc:Fallback>
            </mc:AlternateContent>
          </a:graphicData>
        </a:graphic>
      </p:graphicFrame>
      <p:graphicFrame>
        <p:nvGraphicFramePr>
          <p:cNvPr id="15" name="Object 3"/>
          <p:cNvGraphicFramePr>
            <a:graphicFrameLocks noChangeAspect="1"/>
          </p:cNvGraphicFramePr>
          <p:nvPr>
            <p:extLst>
              <p:ext uri="{D42A27DB-BD31-4B8C-83A1-F6EECF244321}">
                <p14:modId xmlns:p14="http://schemas.microsoft.com/office/powerpoint/2010/main" val="2202837489"/>
              </p:ext>
            </p:extLst>
          </p:nvPr>
        </p:nvGraphicFramePr>
        <p:xfrm>
          <a:off x="1122363" y="3440113"/>
          <a:ext cx="4367212" cy="1179512"/>
        </p:xfrm>
        <a:graphic>
          <a:graphicData uri="http://schemas.openxmlformats.org/presentationml/2006/ole">
            <mc:AlternateContent xmlns:mc="http://schemas.openxmlformats.org/markup-compatibility/2006">
              <mc:Choice xmlns:v="urn:schemas-microsoft-com:vml" Requires="v">
                <p:oleObj name="Equation" r:id="rId4" imgW="2717640" imgH="736560" progId="Equation.DSMT4">
                  <p:embed/>
                </p:oleObj>
              </mc:Choice>
              <mc:Fallback>
                <p:oleObj name="Equation" r:id="rId4" imgW="2717640" imgH="736560" progId="Equation.DSMT4">
                  <p:embed/>
                  <p:pic>
                    <p:nvPicPr>
                      <p:cNvPr id="58371" name="Object 3"/>
                      <p:cNvPicPr>
                        <a:picLocks noChangeAspect="1" noChangeArrowheads="1"/>
                      </p:cNvPicPr>
                      <p:nvPr/>
                    </p:nvPicPr>
                    <p:blipFill>
                      <a:blip r:embed="rId5"/>
                      <a:srcRect/>
                      <a:stretch>
                        <a:fillRect/>
                      </a:stretch>
                    </p:blipFill>
                    <p:spPr bwMode="auto">
                      <a:xfrm>
                        <a:off x="1122363" y="3440113"/>
                        <a:ext cx="4367212" cy="1179512"/>
                      </a:xfrm>
                      <a:prstGeom prst="rect">
                        <a:avLst/>
                      </a:prstGeom>
                      <a:solidFill>
                        <a:srgbClr val="CCFFFF"/>
                      </a:solidFill>
                      <a:ln>
                        <a:noFill/>
                      </a:ln>
                    </p:spPr>
                  </p:pic>
                </p:oleObj>
              </mc:Fallback>
            </mc:AlternateContent>
          </a:graphicData>
        </a:graphic>
      </p:graphicFrame>
      <p:sp>
        <p:nvSpPr>
          <p:cNvPr id="16" name="矩形 15"/>
          <p:cNvSpPr/>
          <p:nvPr/>
        </p:nvSpPr>
        <p:spPr>
          <a:xfrm>
            <a:off x="693973" y="4802893"/>
            <a:ext cx="1731564" cy="476669"/>
          </a:xfrm>
          <a:prstGeom prst="rect">
            <a:avLst/>
          </a:prstGeom>
        </p:spPr>
        <p:txBody>
          <a:bodyPr wrap="none">
            <a:spAutoFit/>
          </a:bodyPr>
          <a:lstStyle/>
          <a:p>
            <a:pPr lvl="0">
              <a:lnSpc>
                <a:spcPct val="120000"/>
              </a:lnSpc>
              <a:spcBef>
                <a:spcPct val="50000"/>
              </a:spcBef>
            </a:pPr>
            <a:r>
              <a:rPr kumimoji="1" lang="zh-CN" altLang="en-US" sz="2400" b="1" dirty="0">
                <a:solidFill>
                  <a:srgbClr val="000000"/>
                </a:solidFill>
                <a:latin typeface="宋体" panose="02010600030101010101" pitchFamily="2" charset="-122"/>
                <a:ea typeface="宋体" panose="02010600030101010101" pitchFamily="2" charset="-122"/>
              </a:rPr>
              <a:t>周期边条件</a:t>
            </a:r>
          </a:p>
        </p:txBody>
      </p:sp>
      <p:graphicFrame>
        <p:nvGraphicFramePr>
          <p:cNvPr id="17" name="Object 6"/>
          <p:cNvGraphicFramePr>
            <a:graphicFrameLocks noChangeAspect="1"/>
          </p:cNvGraphicFramePr>
          <p:nvPr>
            <p:extLst>
              <p:ext uri="{D42A27DB-BD31-4B8C-83A1-F6EECF244321}">
                <p14:modId xmlns:p14="http://schemas.microsoft.com/office/powerpoint/2010/main" val="4079592569"/>
              </p:ext>
            </p:extLst>
          </p:nvPr>
        </p:nvGraphicFramePr>
        <p:xfrm>
          <a:off x="3042696" y="4833303"/>
          <a:ext cx="2057400" cy="609600"/>
        </p:xfrm>
        <a:graphic>
          <a:graphicData uri="http://schemas.openxmlformats.org/presentationml/2006/ole">
            <mc:AlternateContent xmlns:mc="http://schemas.openxmlformats.org/markup-compatibility/2006">
              <mc:Choice xmlns:v="urn:schemas-microsoft-com:vml" Requires="v">
                <p:oleObj r:id="rId6" imgW="638345" imgH="95191" progId="Equation.3">
                  <p:embed/>
                </p:oleObj>
              </mc:Choice>
              <mc:Fallback>
                <p:oleObj r:id="rId6" imgW="638345" imgH="95191" progId="Equation.3">
                  <p:embed/>
                  <p:pic>
                    <p:nvPicPr>
                      <p:cNvPr id="5939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2696" y="4833303"/>
                        <a:ext cx="2057400" cy="6096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7"/>
          <p:cNvGraphicFramePr>
            <a:graphicFrameLocks noChangeAspect="1"/>
          </p:cNvGraphicFramePr>
          <p:nvPr>
            <p:extLst>
              <p:ext uri="{D42A27DB-BD31-4B8C-83A1-F6EECF244321}">
                <p14:modId xmlns:p14="http://schemas.microsoft.com/office/powerpoint/2010/main" val="2138921688"/>
              </p:ext>
            </p:extLst>
          </p:nvPr>
        </p:nvGraphicFramePr>
        <p:xfrm>
          <a:off x="5245123" y="4821971"/>
          <a:ext cx="1731564" cy="620931"/>
        </p:xfrm>
        <a:graphic>
          <a:graphicData uri="http://schemas.openxmlformats.org/presentationml/2006/ole">
            <mc:AlternateContent xmlns:mc="http://schemas.openxmlformats.org/markup-compatibility/2006">
              <mc:Choice xmlns:v="urn:schemas-microsoft-com:vml" Requires="v">
                <p:oleObj name="Equation" r:id="rId8" imgW="634680" imgH="215640" progId="Equation.DSMT4">
                  <p:embed/>
                </p:oleObj>
              </mc:Choice>
              <mc:Fallback>
                <p:oleObj name="Equation" r:id="rId8" imgW="634680" imgH="215640" progId="Equation.DSMT4">
                  <p:embed/>
                  <p:pic>
                    <p:nvPicPr>
                      <p:cNvPr id="59397" name="Object 7"/>
                      <p:cNvPicPr>
                        <a:picLocks noChangeAspect="1" noChangeArrowheads="1"/>
                      </p:cNvPicPr>
                      <p:nvPr/>
                    </p:nvPicPr>
                    <p:blipFill>
                      <a:blip r:embed="rId9"/>
                      <a:srcRect/>
                      <a:stretch>
                        <a:fillRect/>
                      </a:stretch>
                    </p:blipFill>
                    <p:spPr bwMode="auto">
                      <a:xfrm>
                        <a:off x="5245123" y="4821971"/>
                        <a:ext cx="1731564" cy="620931"/>
                      </a:xfrm>
                      <a:prstGeom prst="rect">
                        <a:avLst/>
                      </a:prstGeom>
                      <a:solidFill>
                        <a:srgbClr val="CCFFFF"/>
                      </a:solidFill>
                      <a:ln>
                        <a:noFill/>
                      </a:ln>
                    </p:spPr>
                  </p:pic>
                </p:oleObj>
              </mc:Fallback>
            </mc:AlternateContent>
          </a:graphicData>
        </a:graphic>
      </p:graphicFrame>
      <p:graphicFrame>
        <p:nvGraphicFramePr>
          <p:cNvPr id="19" name="Object 8"/>
          <p:cNvGraphicFramePr>
            <a:graphicFrameLocks noChangeAspect="1"/>
          </p:cNvGraphicFramePr>
          <p:nvPr>
            <p:extLst>
              <p:ext uri="{D42A27DB-BD31-4B8C-83A1-F6EECF244321}">
                <p14:modId xmlns:p14="http://schemas.microsoft.com/office/powerpoint/2010/main" val="3673975532"/>
              </p:ext>
            </p:extLst>
          </p:nvPr>
        </p:nvGraphicFramePr>
        <p:xfrm>
          <a:off x="7217821" y="5049203"/>
          <a:ext cx="1600200" cy="420687"/>
        </p:xfrm>
        <a:graphic>
          <a:graphicData uri="http://schemas.openxmlformats.org/presentationml/2006/ole">
            <mc:AlternateContent xmlns:mc="http://schemas.openxmlformats.org/markup-compatibility/2006">
              <mc:Choice xmlns:v="urn:schemas-microsoft-com:vml" Requires="v">
                <p:oleObj r:id="rId10" imgW="628481" imgH="66587" progId="Equation.3">
                  <p:embed/>
                </p:oleObj>
              </mc:Choice>
              <mc:Fallback>
                <p:oleObj r:id="rId10" imgW="628481" imgH="66587" progId="Equation.3">
                  <p:embed/>
                  <p:pic>
                    <p:nvPicPr>
                      <p:cNvPr id="59398"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17821" y="5049203"/>
                        <a:ext cx="1600200" cy="42068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9"/>
          <p:cNvGraphicFramePr>
            <a:graphicFrameLocks noChangeAspect="1"/>
          </p:cNvGraphicFramePr>
          <p:nvPr>
            <p:extLst>
              <p:ext uri="{D42A27DB-BD31-4B8C-83A1-F6EECF244321}">
                <p14:modId xmlns:p14="http://schemas.microsoft.com/office/powerpoint/2010/main" val="620295123"/>
              </p:ext>
            </p:extLst>
          </p:nvPr>
        </p:nvGraphicFramePr>
        <p:xfrm>
          <a:off x="2969671" y="5625465"/>
          <a:ext cx="2057400" cy="833438"/>
        </p:xfrm>
        <a:graphic>
          <a:graphicData uri="http://schemas.openxmlformats.org/presentationml/2006/ole">
            <mc:AlternateContent xmlns:mc="http://schemas.openxmlformats.org/markup-compatibility/2006">
              <mc:Choice xmlns:v="urn:schemas-microsoft-com:vml" Requires="v">
                <p:oleObj name="Equation" r:id="rId12" imgW="828580" imgH="256970" progId="Equation.DSMT4">
                  <p:embed/>
                </p:oleObj>
              </mc:Choice>
              <mc:Fallback>
                <p:oleObj name="Equation" r:id="rId12" imgW="828580" imgH="256970" progId="Equation.DSMT4">
                  <p:embed/>
                  <p:pic>
                    <p:nvPicPr>
                      <p:cNvPr id="59399"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69671" y="5625465"/>
                        <a:ext cx="2057400" cy="833438"/>
                      </a:xfrm>
                      <a:prstGeom prst="rect">
                        <a:avLst/>
                      </a:prstGeom>
                      <a:solidFill>
                        <a:srgbClr val="CCFFFF"/>
                      </a:solidFill>
                      <a:ln>
                        <a:noFill/>
                      </a:ln>
                    </p:spPr>
                  </p:pic>
                </p:oleObj>
              </mc:Fallback>
            </mc:AlternateContent>
          </a:graphicData>
        </a:graphic>
      </p:graphicFrame>
      <p:graphicFrame>
        <p:nvGraphicFramePr>
          <p:cNvPr id="4" name="Object 3">
            <a:extLst>
              <a:ext uri="{FF2B5EF4-FFF2-40B4-BE49-F238E27FC236}">
                <a16:creationId xmlns:a16="http://schemas.microsoft.com/office/drawing/2014/main" id="{13411D2F-0F66-A5E6-21B7-1B9EDC3FDAA9}"/>
              </a:ext>
            </a:extLst>
          </p:cNvPr>
          <p:cNvGraphicFramePr>
            <a:graphicFrameLocks noChangeAspect="1"/>
          </p:cNvGraphicFramePr>
          <p:nvPr>
            <p:extLst>
              <p:ext uri="{D42A27DB-BD31-4B8C-83A1-F6EECF244321}">
                <p14:modId xmlns:p14="http://schemas.microsoft.com/office/powerpoint/2010/main" val="4006908863"/>
              </p:ext>
            </p:extLst>
          </p:nvPr>
        </p:nvGraphicFramePr>
        <p:xfrm>
          <a:off x="967176" y="772515"/>
          <a:ext cx="3290787" cy="1177923"/>
        </p:xfrm>
        <a:graphic>
          <a:graphicData uri="http://schemas.openxmlformats.org/presentationml/2006/ole">
            <mc:AlternateContent xmlns:mc="http://schemas.openxmlformats.org/markup-compatibility/2006">
              <mc:Choice xmlns:v="urn:schemas-microsoft-com:vml" Requires="v">
                <p:oleObj name="Equation" r:id="rId14" imgW="1244520" imgH="507960" progId="Equation.DSMT4">
                  <p:embed/>
                </p:oleObj>
              </mc:Choice>
              <mc:Fallback>
                <p:oleObj name="Equation" r:id="rId14" imgW="1244520" imgH="507960" progId="Equation.DSMT4">
                  <p:embed/>
                  <p:pic>
                    <p:nvPicPr>
                      <p:cNvPr id="0" name=""/>
                      <p:cNvPicPr/>
                      <p:nvPr/>
                    </p:nvPicPr>
                    <p:blipFill>
                      <a:blip r:embed="rId15"/>
                      <a:stretch>
                        <a:fillRect/>
                      </a:stretch>
                    </p:blipFill>
                    <p:spPr>
                      <a:xfrm>
                        <a:off x="967176" y="772515"/>
                        <a:ext cx="3290787" cy="1177923"/>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E60E1042-DD0A-A330-8288-E1051EE32659}"/>
              </a:ext>
            </a:extLst>
          </p:cNvPr>
          <p:cNvGraphicFramePr>
            <a:graphicFrameLocks noChangeAspect="1"/>
          </p:cNvGraphicFramePr>
          <p:nvPr>
            <p:extLst>
              <p:ext uri="{D42A27DB-BD31-4B8C-83A1-F6EECF244321}">
                <p14:modId xmlns:p14="http://schemas.microsoft.com/office/powerpoint/2010/main" val="170802058"/>
              </p:ext>
            </p:extLst>
          </p:nvPr>
        </p:nvGraphicFramePr>
        <p:xfrm>
          <a:off x="5288912" y="772516"/>
          <a:ext cx="2887911" cy="1071666"/>
        </p:xfrm>
        <a:graphic>
          <a:graphicData uri="http://schemas.openxmlformats.org/presentationml/2006/ole">
            <mc:AlternateContent xmlns:mc="http://schemas.openxmlformats.org/markup-compatibility/2006">
              <mc:Choice xmlns:v="urn:schemas-microsoft-com:vml" Requires="v">
                <p:oleObj name="Equation" r:id="rId16" imgW="1104840" imgH="482400" progId="Equation.DSMT4">
                  <p:embed/>
                </p:oleObj>
              </mc:Choice>
              <mc:Fallback>
                <p:oleObj name="Equation" r:id="rId16" imgW="1104840" imgH="482400" progId="Equation.DSMT4">
                  <p:embed/>
                  <p:pic>
                    <p:nvPicPr>
                      <p:cNvPr id="0" name=""/>
                      <p:cNvPicPr/>
                      <p:nvPr/>
                    </p:nvPicPr>
                    <p:blipFill>
                      <a:blip r:embed="rId17"/>
                      <a:stretch>
                        <a:fillRect/>
                      </a:stretch>
                    </p:blipFill>
                    <p:spPr>
                      <a:xfrm>
                        <a:off x="5288912" y="772516"/>
                        <a:ext cx="2887911" cy="1071666"/>
                      </a:xfrm>
                      <a:prstGeom prst="rect">
                        <a:avLst/>
                      </a:prstGeom>
                    </p:spPr>
                  </p:pic>
                </p:oleObj>
              </mc:Fallback>
            </mc:AlternateContent>
          </a:graphicData>
        </a:graphic>
      </p:graphicFrame>
    </p:spTree>
    <p:extLst>
      <p:ext uri="{BB962C8B-B14F-4D97-AF65-F5344CB8AC3E}">
        <p14:creationId xmlns:p14="http://schemas.microsoft.com/office/powerpoint/2010/main" val="2942662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24</a:t>
            </a:fld>
            <a:endParaRPr lang="zh-CN" altLang="en-US"/>
          </a:p>
        </p:txBody>
      </p:sp>
      <p:sp>
        <p:nvSpPr>
          <p:cNvPr id="4" name="矩形 3"/>
          <p:cNvSpPr/>
          <p:nvPr/>
        </p:nvSpPr>
        <p:spPr>
          <a:xfrm>
            <a:off x="591015" y="451917"/>
            <a:ext cx="8045604" cy="1421928"/>
          </a:xfrm>
          <a:prstGeom prst="rect">
            <a:avLst/>
          </a:prstGeom>
        </p:spPr>
        <p:txBody>
          <a:bodyPr wrap="square">
            <a:spAutoFit/>
          </a:bodyPr>
          <a:lstStyle/>
          <a:p>
            <a:pPr lvl="0" algn="just" defTabSz="914400" fontAlgn="base">
              <a:lnSpc>
                <a:spcPct val="120000"/>
              </a:lnSpc>
              <a:spcBef>
                <a:spcPct val="20000"/>
              </a:spcBef>
              <a:spcAft>
                <a:spcPct val="0"/>
              </a:spcAft>
            </a:pPr>
            <a:r>
              <a:rPr kumimoji="1" lang="zh-CN" altLang="en-US" sz="2400" b="1" dirty="0">
                <a:solidFill>
                  <a:srgbClr val="000000"/>
                </a:solidFill>
                <a:latin typeface="宋体" panose="02010600030101010101" pitchFamily="2" charset="-122"/>
                <a:ea typeface="宋体" panose="02010600030101010101" pitchFamily="2" charset="-122"/>
              </a:rPr>
              <a:t>与单原子链一样，</a:t>
            </a:r>
            <a:r>
              <a:rPr kumimoji="1" lang="en-US" altLang="zh-CN" sz="2400" b="1" dirty="0">
                <a:solidFill>
                  <a:srgbClr val="000000"/>
                </a:solidFill>
                <a:latin typeface="宋体" panose="02010600030101010101" pitchFamily="2" charset="-122"/>
                <a:ea typeface="宋体" panose="02010600030101010101" pitchFamily="2" charset="-122"/>
              </a:rPr>
              <a:t>q</a:t>
            </a:r>
            <a:r>
              <a:rPr kumimoji="1" lang="zh-CN" altLang="en-US" sz="2400" b="1" dirty="0">
                <a:solidFill>
                  <a:srgbClr val="000000"/>
                </a:solidFill>
                <a:latin typeface="宋体" panose="02010600030101010101" pitchFamily="2" charset="-122"/>
                <a:ea typeface="宋体" panose="02010600030101010101" pitchFamily="2" charset="-122"/>
              </a:rPr>
              <a:t>只能取</a:t>
            </a:r>
            <a:r>
              <a:rPr kumimoji="1" lang="en-US" altLang="zh-CN" sz="2400" b="1" dirty="0">
                <a:solidFill>
                  <a:srgbClr val="000000"/>
                </a:solidFill>
                <a:latin typeface="宋体" panose="02010600030101010101" pitchFamily="2" charset="-122"/>
                <a:ea typeface="宋体" panose="02010600030101010101" pitchFamily="2" charset="-122"/>
              </a:rPr>
              <a:t>N</a:t>
            </a:r>
            <a:r>
              <a:rPr kumimoji="1" lang="zh-CN" altLang="en-US" sz="2400" b="1" dirty="0">
                <a:solidFill>
                  <a:srgbClr val="000000"/>
                </a:solidFill>
                <a:latin typeface="宋体" panose="02010600030101010101" pitchFamily="2" charset="-122"/>
                <a:ea typeface="宋体" panose="02010600030101010101" pitchFamily="2" charset="-122"/>
              </a:rPr>
              <a:t>个不同的值，而每一</a:t>
            </a:r>
            <a:r>
              <a:rPr kumimoji="1" lang="en-US" altLang="zh-CN" sz="2400" b="1" dirty="0">
                <a:solidFill>
                  <a:srgbClr val="000000"/>
                </a:solidFill>
                <a:latin typeface="宋体" panose="02010600030101010101" pitchFamily="2" charset="-122"/>
                <a:ea typeface="宋体" panose="02010600030101010101" pitchFamily="2" charset="-122"/>
              </a:rPr>
              <a:t>q</a:t>
            </a:r>
            <a:r>
              <a:rPr kumimoji="1" lang="zh-CN" altLang="en-US" sz="2400" b="1" dirty="0">
                <a:solidFill>
                  <a:srgbClr val="000000"/>
                </a:solidFill>
                <a:latin typeface="宋体" panose="02010600030101010101" pitchFamily="2" charset="-122"/>
                <a:ea typeface="宋体" panose="02010600030101010101" pitchFamily="2" charset="-122"/>
              </a:rPr>
              <a:t>对应两个频率</a:t>
            </a:r>
            <a:r>
              <a:rPr kumimoji="1" lang="zh-CN" altLang="en-US" sz="2400" b="1"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kumimoji="1" lang="en-US" altLang="zh-CN" sz="2400" b="1" baseline="-25000"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kumimoji="1" lang="en-US" altLang="zh-CN" sz="2400" b="1" baseline="-25000"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solidFill>
                  <a:srgbClr val="000000"/>
                </a:solidFill>
                <a:latin typeface="宋体" panose="02010600030101010101" pitchFamily="2" charset="-122"/>
                <a:ea typeface="宋体" panose="02010600030101010101" pitchFamily="2" charset="-122"/>
              </a:rPr>
              <a:t>因此，双原子链共有</a:t>
            </a:r>
            <a:r>
              <a:rPr kumimoji="1" lang="en-US" altLang="zh-CN" sz="2400" b="1" dirty="0">
                <a:solidFill>
                  <a:srgbClr val="000000"/>
                </a:solidFill>
                <a:latin typeface="宋体" panose="02010600030101010101" pitchFamily="2" charset="-122"/>
                <a:ea typeface="宋体" panose="02010600030101010101" pitchFamily="2" charset="-122"/>
              </a:rPr>
              <a:t>2N</a:t>
            </a:r>
            <a:r>
              <a:rPr kumimoji="1" lang="zh-CN" altLang="en-US" sz="2400" b="1" dirty="0">
                <a:solidFill>
                  <a:srgbClr val="000000"/>
                </a:solidFill>
                <a:latin typeface="宋体" panose="02010600030101010101" pitchFamily="2" charset="-122"/>
                <a:ea typeface="宋体" panose="02010600030101010101" pitchFamily="2" charset="-122"/>
              </a:rPr>
              <a:t>个格波。即波矢数等于晶体原胞数，总格波数等于晶体自由度数。</a:t>
            </a:r>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519" y="2112328"/>
            <a:ext cx="5643562"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1220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25</a:t>
            </a:fld>
            <a:endParaRPr lang="zh-CN" altLang="en-US"/>
          </a:p>
        </p:txBody>
      </p:sp>
      <p:sp>
        <p:nvSpPr>
          <p:cNvPr id="4" name="矩形 3"/>
          <p:cNvSpPr/>
          <p:nvPr/>
        </p:nvSpPr>
        <p:spPr>
          <a:xfrm>
            <a:off x="422361" y="274407"/>
            <a:ext cx="2728632" cy="566309"/>
          </a:xfrm>
          <a:prstGeom prst="rect">
            <a:avLst/>
          </a:prstGeom>
        </p:spPr>
        <p:txBody>
          <a:bodyPr wrap="none">
            <a:spAutoFit/>
          </a:bodyPr>
          <a:lstStyle/>
          <a:p>
            <a:pPr lvl="0">
              <a:lnSpc>
                <a:spcPct val="110000"/>
              </a:lnSpc>
              <a:spcBef>
                <a:spcPct val="50000"/>
              </a:spcBef>
            </a:pPr>
            <a:r>
              <a:rPr kumimoji="1" lang="zh-CN" altLang="en-US" sz="2800" b="1" dirty="0">
                <a:solidFill>
                  <a:srgbClr val="FF0000"/>
                </a:solidFill>
                <a:latin typeface="Times New Roman" pitchFamily="18" charset="0"/>
                <a:ea typeface="宋体" pitchFamily="2" charset="-122"/>
              </a:rPr>
              <a:t>光学波和声学波</a:t>
            </a:r>
            <a:endParaRPr kumimoji="1" lang="en-US" altLang="zh-CN" sz="2800" b="1" dirty="0">
              <a:solidFill>
                <a:srgbClr val="000000"/>
              </a:solidFill>
              <a:latin typeface="宋体" panose="02010600030101010101" pitchFamily="2" charset="-122"/>
              <a:ea typeface="宋体" panose="02010600030101010101" pitchFamily="2" charset="-122"/>
            </a:endParaRPr>
          </a:p>
        </p:txBody>
      </p:sp>
      <p:sp>
        <p:nvSpPr>
          <p:cNvPr id="5" name="矩形 4"/>
          <p:cNvSpPr/>
          <p:nvPr/>
        </p:nvSpPr>
        <p:spPr>
          <a:xfrm>
            <a:off x="540726" y="1087687"/>
            <a:ext cx="3336170" cy="461665"/>
          </a:xfrm>
          <a:prstGeom prst="rect">
            <a:avLst/>
          </a:prstGeom>
        </p:spPr>
        <p:txBody>
          <a:bodyPr wrap="none">
            <a:spAutoFit/>
          </a:bodyPr>
          <a:lstStyle/>
          <a:p>
            <a:pPr lvl="0" defTabSz="914400" fontAlgn="base">
              <a:spcBef>
                <a:spcPct val="50000"/>
              </a:spcBef>
              <a:spcAft>
                <a:spcPct val="0"/>
              </a:spcAft>
            </a:pPr>
            <a:r>
              <a:rPr kumimoji="1" lang="zh-CN" altLang="en-US" sz="2400" b="1" dirty="0">
                <a:solidFill>
                  <a:srgbClr val="000000"/>
                </a:solidFill>
                <a:latin typeface="宋体" panose="02010600030101010101" pitchFamily="2" charset="-122"/>
                <a:ea typeface="宋体" panose="02010600030101010101" pitchFamily="2" charset="-122"/>
              </a:rPr>
              <a:t>我们先看光学波</a:t>
            </a:r>
            <a:r>
              <a:rPr kumimoji="1" lang="zh-CN" altLang="en-US" sz="2400" b="1"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kumimoji="1" lang="en-US" altLang="zh-CN" sz="2400" b="1" baseline="-25000"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solidFill>
                  <a:srgbClr val="000000"/>
                </a:solidFill>
                <a:latin typeface="宋体" panose="02010600030101010101" pitchFamily="2" charset="-122"/>
                <a:ea typeface="宋体" panose="02010600030101010101" pitchFamily="2" charset="-122"/>
              </a:rPr>
              <a:t>一支</a:t>
            </a:r>
          </a:p>
        </p:txBody>
      </p:sp>
      <p:graphicFrame>
        <p:nvGraphicFramePr>
          <p:cNvPr id="6" name="Object 5"/>
          <p:cNvGraphicFramePr>
            <a:graphicFrameLocks noChangeAspect="1"/>
          </p:cNvGraphicFramePr>
          <p:nvPr>
            <p:extLst>
              <p:ext uri="{D42A27DB-BD31-4B8C-83A1-F6EECF244321}">
                <p14:modId xmlns:p14="http://schemas.microsoft.com/office/powerpoint/2010/main" val="3938871356"/>
              </p:ext>
            </p:extLst>
          </p:nvPr>
        </p:nvGraphicFramePr>
        <p:xfrm>
          <a:off x="843776" y="1910576"/>
          <a:ext cx="990600" cy="473075"/>
        </p:xfrm>
        <a:graphic>
          <a:graphicData uri="http://schemas.openxmlformats.org/presentationml/2006/ole">
            <mc:AlternateContent xmlns:mc="http://schemas.openxmlformats.org/markup-compatibility/2006">
              <mc:Choice xmlns:v="urn:schemas-microsoft-com:vml" Requires="v">
                <p:oleObj r:id="rId2" imgW="285588" imgH="66587" progId="Equation.3">
                  <p:embed/>
                </p:oleObj>
              </mc:Choice>
              <mc:Fallback>
                <p:oleObj r:id="rId2" imgW="285588" imgH="66587" progId="Equation.3">
                  <p:embed/>
                  <p:pic>
                    <p:nvPicPr>
                      <p:cNvPr id="6144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776" y="1910576"/>
                        <a:ext cx="9906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901355236"/>
              </p:ext>
            </p:extLst>
          </p:nvPr>
        </p:nvGraphicFramePr>
        <p:xfrm>
          <a:off x="2389188" y="1549352"/>
          <a:ext cx="2762675" cy="1028760"/>
        </p:xfrm>
        <a:graphic>
          <a:graphicData uri="http://schemas.openxmlformats.org/presentationml/2006/ole">
            <mc:AlternateContent xmlns:mc="http://schemas.openxmlformats.org/markup-compatibility/2006">
              <mc:Choice xmlns:v="urn:schemas-microsoft-com:vml" Requires="v">
                <p:oleObj name="Equation" r:id="rId4" imgW="1346040" imgH="520560" progId="Equation.DSMT4">
                  <p:embed/>
                </p:oleObj>
              </mc:Choice>
              <mc:Fallback>
                <p:oleObj name="Equation" r:id="rId4" imgW="1346040" imgH="520560" progId="Equation.DSMT4">
                  <p:embed/>
                  <p:pic>
                    <p:nvPicPr>
                      <p:cNvPr id="61445" name="Object 6"/>
                      <p:cNvPicPr>
                        <a:picLocks noChangeAspect="1" noChangeArrowheads="1"/>
                      </p:cNvPicPr>
                      <p:nvPr/>
                    </p:nvPicPr>
                    <p:blipFill>
                      <a:blip r:embed="rId5"/>
                      <a:srcRect/>
                      <a:stretch>
                        <a:fillRect/>
                      </a:stretch>
                    </p:blipFill>
                    <p:spPr bwMode="auto">
                      <a:xfrm>
                        <a:off x="2389188" y="1549352"/>
                        <a:ext cx="2762675" cy="1028760"/>
                      </a:xfrm>
                      <a:prstGeom prst="rect">
                        <a:avLst/>
                      </a:prstGeom>
                      <a:solidFill>
                        <a:srgbClr val="CCFFFF"/>
                      </a:solidFill>
                      <a:ln>
                        <a:noFill/>
                      </a:ln>
                    </p:spPr>
                  </p:pic>
                </p:oleObj>
              </mc:Fallback>
            </mc:AlternateContent>
          </a:graphicData>
        </a:graphic>
      </p:graphicFrame>
      <p:graphicFrame>
        <p:nvGraphicFramePr>
          <p:cNvPr id="8" name="Object 12"/>
          <p:cNvGraphicFramePr>
            <a:graphicFrameLocks noChangeAspect="1"/>
          </p:cNvGraphicFramePr>
          <p:nvPr>
            <p:extLst>
              <p:ext uri="{D42A27DB-BD31-4B8C-83A1-F6EECF244321}">
                <p14:modId xmlns:p14="http://schemas.microsoft.com/office/powerpoint/2010/main" val="1811454182"/>
              </p:ext>
            </p:extLst>
          </p:nvPr>
        </p:nvGraphicFramePr>
        <p:xfrm>
          <a:off x="754488" y="3378819"/>
          <a:ext cx="914400" cy="490538"/>
        </p:xfrm>
        <a:graphic>
          <a:graphicData uri="http://schemas.openxmlformats.org/presentationml/2006/ole">
            <mc:AlternateContent xmlns:mc="http://schemas.openxmlformats.org/markup-compatibility/2006">
              <mc:Choice xmlns:v="urn:schemas-microsoft-com:vml" Requires="v">
                <p:oleObj r:id="rId6" imgW="238146" imgH="66587" progId="Equation.3">
                  <p:embed/>
                </p:oleObj>
              </mc:Choice>
              <mc:Fallback>
                <p:oleObj r:id="rId6" imgW="238146" imgH="66587" progId="Equation.3">
                  <p:embed/>
                  <p:pic>
                    <p:nvPicPr>
                      <p:cNvPr id="62469"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4488" y="3378819"/>
                        <a:ext cx="914400" cy="4905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4"/>
          <p:cNvGraphicFramePr>
            <a:graphicFrameLocks noChangeAspect="1"/>
          </p:cNvGraphicFramePr>
          <p:nvPr>
            <p:extLst>
              <p:ext uri="{D42A27DB-BD31-4B8C-83A1-F6EECF244321}">
                <p14:modId xmlns:p14="http://schemas.microsoft.com/office/powerpoint/2010/main" val="942544554"/>
              </p:ext>
            </p:extLst>
          </p:nvPr>
        </p:nvGraphicFramePr>
        <p:xfrm>
          <a:off x="2389187" y="2891817"/>
          <a:ext cx="2762676" cy="1451325"/>
        </p:xfrm>
        <a:graphic>
          <a:graphicData uri="http://schemas.openxmlformats.org/presentationml/2006/ole">
            <mc:AlternateContent xmlns:mc="http://schemas.openxmlformats.org/markup-compatibility/2006">
              <mc:Choice xmlns:v="urn:schemas-microsoft-com:vml" Requires="v">
                <p:oleObj name="Equation" r:id="rId8" imgW="1523880" imgH="787320" progId="Equation.DSMT4">
                  <p:embed/>
                </p:oleObj>
              </mc:Choice>
              <mc:Fallback>
                <p:oleObj name="Equation" r:id="rId8" imgW="1523880" imgH="787320" progId="Equation.DSMT4">
                  <p:embed/>
                  <p:pic>
                    <p:nvPicPr>
                      <p:cNvPr id="62470" name="Object 14"/>
                      <p:cNvPicPr>
                        <a:picLocks noChangeAspect="1" noChangeArrowheads="1"/>
                      </p:cNvPicPr>
                      <p:nvPr/>
                    </p:nvPicPr>
                    <p:blipFill>
                      <a:blip r:embed="rId9"/>
                      <a:srcRect/>
                      <a:stretch>
                        <a:fillRect/>
                      </a:stretch>
                    </p:blipFill>
                    <p:spPr bwMode="auto">
                      <a:xfrm>
                        <a:off x="2389187" y="2891817"/>
                        <a:ext cx="2762676" cy="1451325"/>
                      </a:xfrm>
                      <a:prstGeom prst="rect">
                        <a:avLst/>
                      </a:prstGeom>
                      <a:solidFill>
                        <a:srgbClr val="CCFFFF"/>
                      </a:solidFill>
                      <a:ln>
                        <a:noFill/>
                      </a:ln>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2149531211"/>
              </p:ext>
            </p:extLst>
          </p:nvPr>
        </p:nvGraphicFramePr>
        <p:xfrm>
          <a:off x="142875" y="4629213"/>
          <a:ext cx="6405707" cy="1836541"/>
        </p:xfrm>
        <a:graphic>
          <a:graphicData uri="http://schemas.openxmlformats.org/presentationml/2006/ole">
            <mc:AlternateContent xmlns:mc="http://schemas.openxmlformats.org/markup-compatibility/2006">
              <mc:Choice xmlns:v="urn:schemas-microsoft-com:vml" Requires="v">
                <p:oleObj name="Equation" r:id="rId10" imgW="3124080" imgH="863280" progId="Equation.DSMT4">
                  <p:embed/>
                </p:oleObj>
              </mc:Choice>
              <mc:Fallback>
                <p:oleObj name="Equation" r:id="rId10" imgW="3124080" imgH="863280" progId="Equation.DSMT4">
                  <p:embed/>
                  <p:pic>
                    <p:nvPicPr>
                      <p:cNvPr id="62467" name="Object 8"/>
                      <p:cNvPicPr>
                        <a:picLocks noChangeAspect="1" noChangeArrowheads="1"/>
                      </p:cNvPicPr>
                      <p:nvPr/>
                    </p:nvPicPr>
                    <p:blipFill>
                      <a:blip r:embed="rId11"/>
                      <a:srcRect/>
                      <a:stretch>
                        <a:fillRect/>
                      </a:stretch>
                    </p:blipFill>
                    <p:spPr bwMode="auto">
                      <a:xfrm>
                        <a:off x="142875" y="4629213"/>
                        <a:ext cx="6405707" cy="1836541"/>
                      </a:xfrm>
                      <a:prstGeom prst="rect">
                        <a:avLst/>
                      </a:prstGeom>
                      <a:solidFill>
                        <a:srgbClr val="CCFFFF"/>
                      </a:solidFill>
                      <a:ln>
                        <a:noFill/>
                      </a:ln>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558361725"/>
              </p:ext>
            </p:extLst>
          </p:nvPr>
        </p:nvGraphicFramePr>
        <p:xfrm>
          <a:off x="6858774" y="5405361"/>
          <a:ext cx="2057400" cy="384464"/>
        </p:xfrm>
        <a:graphic>
          <a:graphicData uri="http://schemas.openxmlformats.org/presentationml/2006/ole">
            <mc:AlternateContent xmlns:mc="http://schemas.openxmlformats.org/markup-compatibility/2006">
              <mc:Choice xmlns:v="urn:schemas-microsoft-com:vml" Requires="v">
                <p:oleObj r:id="rId12" imgW="733228" imgH="47830" progId="Equation.3">
                  <p:embed/>
                </p:oleObj>
              </mc:Choice>
              <mc:Fallback>
                <p:oleObj r:id="rId12" imgW="733228" imgH="47830" progId="Equation.3">
                  <p:embed/>
                  <p:pic>
                    <p:nvPicPr>
                      <p:cNvPr id="62468"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58774" y="5405361"/>
                        <a:ext cx="2057400" cy="384464"/>
                      </a:xfrm>
                      <a:prstGeom prst="rect">
                        <a:avLst/>
                      </a:prstGeom>
                      <a:solidFill>
                        <a:srgbClr val="CCFFFF"/>
                      </a:solidFill>
                      <a:ln>
                        <a:noFill/>
                      </a:ln>
                    </p:spPr>
                  </p:pic>
                </p:oleObj>
              </mc:Fallback>
            </mc:AlternateContent>
          </a:graphicData>
        </a:graphic>
      </p:graphicFrame>
    </p:spTree>
    <p:extLst>
      <p:ext uri="{BB962C8B-B14F-4D97-AF65-F5344CB8AC3E}">
        <p14:creationId xmlns:p14="http://schemas.microsoft.com/office/powerpoint/2010/main" val="3261541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26</a:t>
            </a:fld>
            <a:endParaRPr lang="zh-CN" altLang="en-US"/>
          </a:p>
        </p:txBody>
      </p:sp>
      <p:sp>
        <p:nvSpPr>
          <p:cNvPr id="3" name="Rectangle 3"/>
          <p:cNvSpPr txBox="1">
            <a:spLocks noChangeArrowheads="1"/>
          </p:cNvSpPr>
          <p:nvPr/>
        </p:nvSpPr>
        <p:spPr>
          <a:xfrm>
            <a:off x="217913" y="362415"/>
            <a:ext cx="8588375" cy="1900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Tx/>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原胞中两种原子振幅相反，当</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时，原胞的质心保持不动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质心坐标为</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MA</a:t>
            </a:r>
            <a:r>
              <a:rPr lang="en-US" altLang="zh-CN" sz="24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mB</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24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。也即光学波代表原胞中两个原子的相对振动。长光学波</a:t>
            </a:r>
            <a:r>
              <a:rPr lang="el-GR"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ω</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a:t>
            </a:r>
            <a:r>
              <a:rPr lang="en-US" altLang="zh-CN" sz="2400" b="1" baseline="30000" dirty="0">
                <a:latin typeface="Times New Roman" panose="02020603050405020304" pitchFamily="18" charset="0"/>
                <a:ea typeface="宋体" panose="02010600030101010101" pitchFamily="2" charset="-122"/>
                <a:cs typeface="Times New Roman" panose="02020603050405020304" pitchFamily="18" charset="0"/>
              </a:rPr>
              <a:t>13</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a:t>
            </a:r>
            <a:r>
              <a:rPr lang="en-US" altLang="zh-CN" sz="2400" b="1" baseline="30000" dirty="0">
                <a:latin typeface="Times New Roman" panose="02020603050405020304" pitchFamily="18" charset="0"/>
                <a:ea typeface="宋体" panose="02010600030101010101" pitchFamily="2" charset="-122"/>
                <a:cs typeface="Times New Roman" panose="02020603050405020304" pitchFamily="18" charset="0"/>
              </a:rPr>
              <a:t>14</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范围，对应于红外的光波，就是因为长光学波可以用光来激发，因此称为光学波。 </a:t>
            </a:r>
          </a:p>
        </p:txBody>
      </p:sp>
      <p:pic>
        <p:nvPicPr>
          <p:cNvPr id="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9913" y="2502752"/>
            <a:ext cx="4191000"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913" y="2431315"/>
            <a:ext cx="4286250" cy="266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2390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27</a:t>
            </a:fld>
            <a:endParaRPr lang="zh-CN" altLang="en-US"/>
          </a:p>
        </p:txBody>
      </p:sp>
      <p:sp>
        <p:nvSpPr>
          <p:cNvPr id="3" name="矩形 2"/>
          <p:cNvSpPr/>
          <p:nvPr/>
        </p:nvSpPr>
        <p:spPr>
          <a:xfrm>
            <a:off x="423638" y="379584"/>
            <a:ext cx="3296095" cy="461665"/>
          </a:xfrm>
          <a:prstGeom prst="rect">
            <a:avLst/>
          </a:prstGeom>
        </p:spPr>
        <p:txBody>
          <a:bodyPr wrap="none">
            <a:spAutoFit/>
          </a:bodyPr>
          <a:lstStyle/>
          <a:p>
            <a:pPr lvl="0" defTabSz="914400" fontAlgn="base">
              <a:spcBef>
                <a:spcPct val="50000"/>
              </a:spcBef>
              <a:spcAft>
                <a:spcPct val="0"/>
              </a:spcAft>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我们再看声学波</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ω</a:t>
            </a:r>
            <a:r>
              <a:rPr kumimoji="1" lang="el-GR" altLang="zh-CN" sz="2400" b="1" i="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一支</a:t>
            </a:r>
          </a:p>
        </p:txBody>
      </p:sp>
      <p:graphicFrame>
        <p:nvGraphicFramePr>
          <p:cNvPr id="4" name="Object 5"/>
          <p:cNvGraphicFramePr>
            <a:graphicFrameLocks noChangeAspect="1"/>
          </p:cNvGraphicFramePr>
          <p:nvPr>
            <p:extLst>
              <p:ext uri="{D42A27DB-BD31-4B8C-83A1-F6EECF244321}">
                <p14:modId xmlns:p14="http://schemas.microsoft.com/office/powerpoint/2010/main" val="3060476214"/>
              </p:ext>
            </p:extLst>
          </p:nvPr>
        </p:nvGraphicFramePr>
        <p:xfrm>
          <a:off x="957147" y="1101604"/>
          <a:ext cx="990600" cy="473075"/>
        </p:xfrm>
        <a:graphic>
          <a:graphicData uri="http://schemas.openxmlformats.org/presentationml/2006/ole">
            <mc:AlternateContent xmlns:mc="http://schemas.openxmlformats.org/markup-compatibility/2006">
              <mc:Choice xmlns:v="urn:schemas-microsoft-com:vml" Requires="v">
                <p:oleObj r:id="rId2" imgW="285588" imgH="66587" progId="Equation.3">
                  <p:embed/>
                </p:oleObj>
              </mc:Choice>
              <mc:Fallback>
                <p:oleObj r:id="rId2" imgW="285588" imgH="66587" progId="Equation.3">
                  <p:embed/>
                  <p:pic>
                    <p:nvPicPr>
                      <p:cNvPr id="6349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147" y="1101604"/>
                        <a:ext cx="9906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834659395"/>
              </p:ext>
            </p:extLst>
          </p:nvPr>
        </p:nvGraphicFramePr>
        <p:xfrm>
          <a:off x="561278" y="1724963"/>
          <a:ext cx="2135739" cy="634640"/>
        </p:xfrm>
        <a:graphic>
          <a:graphicData uri="http://schemas.openxmlformats.org/presentationml/2006/ole">
            <mc:AlternateContent xmlns:mc="http://schemas.openxmlformats.org/markup-compatibility/2006">
              <mc:Choice xmlns:v="urn:schemas-microsoft-com:vml" Requires="v">
                <p:oleObj name="Equation" r:id="rId4" imgW="863280" imgH="253800" progId="Equation.DSMT4">
                  <p:embed/>
                </p:oleObj>
              </mc:Choice>
              <mc:Fallback>
                <p:oleObj name="Equation" r:id="rId4" imgW="863280" imgH="253800" progId="Equation.DSMT4">
                  <p:embed/>
                  <p:pic>
                    <p:nvPicPr>
                      <p:cNvPr id="63492" name="Object 7"/>
                      <p:cNvPicPr>
                        <a:picLocks noChangeAspect="1" noChangeArrowheads="1"/>
                      </p:cNvPicPr>
                      <p:nvPr/>
                    </p:nvPicPr>
                    <p:blipFill>
                      <a:blip r:embed="rId5"/>
                      <a:srcRect/>
                      <a:stretch>
                        <a:fillRect/>
                      </a:stretch>
                    </p:blipFill>
                    <p:spPr bwMode="auto">
                      <a:xfrm>
                        <a:off x="561278" y="1724963"/>
                        <a:ext cx="2135739" cy="634640"/>
                      </a:xfrm>
                      <a:prstGeom prst="rect">
                        <a:avLst/>
                      </a:prstGeom>
                      <a:solidFill>
                        <a:srgbClr val="CCFFFF"/>
                      </a:solidFill>
                      <a:ln>
                        <a:noFill/>
                      </a:ln>
                    </p:spPr>
                  </p:pic>
                </p:oleObj>
              </mc:Fallback>
            </mc:AlternateContent>
          </a:graphicData>
        </a:graphic>
      </p:graphicFrame>
      <p:graphicFrame>
        <p:nvGraphicFramePr>
          <p:cNvPr id="6" name="Object 11"/>
          <p:cNvGraphicFramePr>
            <a:graphicFrameLocks noChangeAspect="1"/>
          </p:cNvGraphicFramePr>
          <p:nvPr>
            <p:extLst>
              <p:ext uri="{D42A27DB-BD31-4B8C-83A1-F6EECF244321}">
                <p14:modId xmlns:p14="http://schemas.microsoft.com/office/powerpoint/2010/main" val="1309001040"/>
              </p:ext>
            </p:extLst>
          </p:nvPr>
        </p:nvGraphicFramePr>
        <p:xfrm>
          <a:off x="3797351" y="841249"/>
          <a:ext cx="4547346" cy="1983716"/>
        </p:xfrm>
        <a:graphic>
          <a:graphicData uri="http://schemas.openxmlformats.org/presentationml/2006/ole">
            <mc:AlternateContent xmlns:mc="http://schemas.openxmlformats.org/markup-compatibility/2006">
              <mc:Choice xmlns:v="urn:schemas-microsoft-com:vml" Requires="v">
                <p:oleObj name="Equation" r:id="rId6" imgW="2717640" imgH="1143000" progId="Equation.DSMT4">
                  <p:embed/>
                </p:oleObj>
              </mc:Choice>
              <mc:Fallback>
                <p:oleObj name="Equation" r:id="rId6" imgW="2717640" imgH="1143000" progId="Equation.DSMT4">
                  <p:embed/>
                  <p:pic>
                    <p:nvPicPr>
                      <p:cNvPr id="63494" name="Object 11"/>
                      <p:cNvPicPr>
                        <a:picLocks noChangeAspect="1" noChangeArrowheads="1"/>
                      </p:cNvPicPr>
                      <p:nvPr/>
                    </p:nvPicPr>
                    <p:blipFill>
                      <a:blip r:embed="rId7"/>
                      <a:srcRect/>
                      <a:stretch>
                        <a:fillRect/>
                      </a:stretch>
                    </p:blipFill>
                    <p:spPr bwMode="auto">
                      <a:xfrm>
                        <a:off x="3797351" y="841249"/>
                        <a:ext cx="4547346" cy="1983716"/>
                      </a:xfrm>
                      <a:prstGeom prst="rect">
                        <a:avLst/>
                      </a:prstGeom>
                      <a:solidFill>
                        <a:srgbClr val="CCFFFF"/>
                      </a:solidFill>
                      <a:ln>
                        <a:noFill/>
                      </a:ln>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2464291702"/>
              </p:ext>
            </p:extLst>
          </p:nvPr>
        </p:nvGraphicFramePr>
        <p:xfrm>
          <a:off x="561278" y="3014178"/>
          <a:ext cx="2926511" cy="1093087"/>
        </p:xfrm>
        <a:graphic>
          <a:graphicData uri="http://schemas.openxmlformats.org/presentationml/2006/ole">
            <mc:AlternateContent xmlns:mc="http://schemas.openxmlformats.org/markup-compatibility/2006">
              <mc:Choice xmlns:v="urn:schemas-microsoft-com:vml" Requires="v">
                <p:oleObj name="Equation" r:id="rId8" imgW="1409400" imgH="520560" progId="Equation.DSMT4">
                  <p:embed/>
                </p:oleObj>
              </mc:Choice>
              <mc:Fallback>
                <p:oleObj name="Equation" r:id="rId8" imgW="1409400" imgH="520560" progId="Equation.DSMT4">
                  <p:embed/>
                  <p:pic>
                    <p:nvPicPr>
                      <p:cNvPr id="64515" name="Object 4"/>
                      <p:cNvPicPr>
                        <a:picLocks noChangeAspect="1" noChangeArrowheads="1"/>
                      </p:cNvPicPr>
                      <p:nvPr/>
                    </p:nvPicPr>
                    <p:blipFill>
                      <a:blip r:embed="rId9"/>
                      <a:srcRect/>
                      <a:stretch>
                        <a:fillRect/>
                      </a:stretch>
                    </p:blipFill>
                    <p:spPr bwMode="auto">
                      <a:xfrm>
                        <a:off x="561278" y="3014178"/>
                        <a:ext cx="2926511" cy="1093087"/>
                      </a:xfrm>
                      <a:prstGeom prst="rect">
                        <a:avLst/>
                      </a:prstGeom>
                      <a:solidFill>
                        <a:srgbClr val="CCFFFF"/>
                      </a:solidFill>
                      <a:ln>
                        <a:noFill/>
                      </a:ln>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549045507"/>
              </p:ext>
            </p:extLst>
          </p:nvPr>
        </p:nvGraphicFramePr>
        <p:xfrm>
          <a:off x="3797351" y="3013024"/>
          <a:ext cx="4672445" cy="1523388"/>
        </p:xfrm>
        <a:graphic>
          <a:graphicData uri="http://schemas.openxmlformats.org/presentationml/2006/ole">
            <mc:AlternateContent xmlns:mc="http://schemas.openxmlformats.org/markup-compatibility/2006">
              <mc:Choice xmlns:v="urn:schemas-microsoft-com:vml" Requires="v">
                <p:oleObj name="Equation" r:id="rId10" imgW="2400120" imgH="787320" progId="Equation.DSMT4">
                  <p:embed/>
                </p:oleObj>
              </mc:Choice>
              <mc:Fallback>
                <p:oleObj name="Equation" r:id="rId10" imgW="2400120" imgH="787320" progId="Equation.DSMT4">
                  <p:embed/>
                  <p:pic>
                    <p:nvPicPr>
                      <p:cNvPr id="64516" name="Object 6"/>
                      <p:cNvPicPr>
                        <a:picLocks noChangeAspect="1" noChangeArrowheads="1"/>
                      </p:cNvPicPr>
                      <p:nvPr/>
                    </p:nvPicPr>
                    <p:blipFill>
                      <a:blip r:embed="rId11"/>
                      <a:srcRect/>
                      <a:stretch>
                        <a:fillRect/>
                      </a:stretch>
                    </p:blipFill>
                    <p:spPr bwMode="auto">
                      <a:xfrm>
                        <a:off x="3797351" y="3013024"/>
                        <a:ext cx="4672445" cy="1523388"/>
                      </a:xfrm>
                      <a:prstGeom prst="rect">
                        <a:avLst/>
                      </a:prstGeom>
                      <a:solidFill>
                        <a:srgbClr val="CCFFFF"/>
                      </a:solidFill>
                      <a:ln>
                        <a:noFill/>
                      </a:ln>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371760967"/>
              </p:ext>
            </p:extLst>
          </p:nvPr>
        </p:nvGraphicFramePr>
        <p:xfrm>
          <a:off x="1113680" y="4578381"/>
          <a:ext cx="914400" cy="436562"/>
        </p:xfrm>
        <a:graphic>
          <a:graphicData uri="http://schemas.openxmlformats.org/presentationml/2006/ole">
            <mc:AlternateContent xmlns:mc="http://schemas.openxmlformats.org/markup-compatibility/2006">
              <mc:Choice xmlns:v="urn:schemas-microsoft-com:vml" Requires="v">
                <p:oleObj r:id="rId12" imgW="285588" imgH="66587" progId="Equation.3">
                  <p:embed/>
                </p:oleObj>
              </mc:Choice>
              <mc:Fallback>
                <p:oleObj r:id="rId12" imgW="285588" imgH="66587" progId="Equation.3">
                  <p:embed/>
                  <p:pic>
                    <p:nvPicPr>
                      <p:cNvPr id="64517"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3680" y="4578381"/>
                        <a:ext cx="914400" cy="43656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0"/>
          <p:cNvGraphicFramePr>
            <a:graphicFrameLocks noChangeAspect="1"/>
          </p:cNvGraphicFramePr>
          <p:nvPr>
            <p:extLst>
              <p:ext uri="{D42A27DB-BD31-4B8C-83A1-F6EECF244321}">
                <p14:modId xmlns:p14="http://schemas.microsoft.com/office/powerpoint/2010/main" val="799732474"/>
              </p:ext>
            </p:extLst>
          </p:nvPr>
        </p:nvGraphicFramePr>
        <p:xfrm>
          <a:off x="2416612" y="4321186"/>
          <a:ext cx="1014334" cy="881307"/>
        </p:xfrm>
        <a:graphic>
          <a:graphicData uri="http://schemas.openxmlformats.org/presentationml/2006/ole">
            <mc:AlternateContent xmlns:mc="http://schemas.openxmlformats.org/markup-compatibility/2006">
              <mc:Choice xmlns:v="urn:schemas-microsoft-com:vml" Requires="v">
                <p:oleObj name="Equation" r:id="rId14" imgW="596880" imgH="444240" progId="Equation.DSMT4">
                  <p:embed/>
                </p:oleObj>
              </mc:Choice>
              <mc:Fallback>
                <p:oleObj name="Equation" r:id="rId14" imgW="596880" imgH="444240" progId="Equation.DSMT4">
                  <p:embed/>
                  <p:pic>
                    <p:nvPicPr>
                      <p:cNvPr id="64518" name="Object 10"/>
                      <p:cNvPicPr>
                        <a:picLocks noChangeAspect="1" noChangeArrowheads="1"/>
                      </p:cNvPicPr>
                      <p:nvPr/>
                    </p:nvPicPr>
                    <p:blipFill>
                      <a:blip r:embed="rId15"/>
                      <a:srcRect/>
                      <a:stretch>
                        <a:fillRect/>
                      </a:stretch>
                    </p:blipFill>
                    <p:spPr bwMode="auto">
                      <a:xfrm>
                        <a:off x="2416612" y="4321186"/>
                        <a:ext cx="1014334" cy="881307"/>
                      </a:xfrm>
                      <a:prstGeom prst="rect">
                        <a:avLst/>
                      </a:prstGeom>
                      <a:solidFill>
                        <a:srgbClr val="CCFFFF"/>
                      </a:solidFill>
                      <a:ln>
                        <a:noFill/>
                      </a:ln>
                    </p:spPr>
                  </p:pic>
                </p:oleObj>
              </mc:Fallback>
            </mc:AlternateContent>
          </a:graphicData>
        </a:graphic>
      </p:graphicFrame>
      <p:sp>
        <p:nvSpPr>
          <p:cNvPr id="11" name="Rectangle 3"/>
          <p:cNvSpPr txBox="1">
            <a:spLocks noChangeArrowheads="1"/>
          </p:cNvSpPr>
          <p:nvPr/>
        </p:nvSpPr>
        <p:spPr>
          <a:xfrm>
            <a:off x="222445" y="5263955"/>
            <a:ext cx="8497887" cy="1257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Tx/>
              <a:buNone/>
            </a:pPr>
            <a:r>
              <a:rPr kumimoji="1" lang="zh-CN" altLang="en-US" sz="2400" b="1" dirty="0">
                <a:solidFill>
                  <a:srgbClr val="000000"/>
                </a:solidFill>
                <a:latin typeface="宋体" panose="02010600030101010101" pitchFamily="2" charset="-122"/>
                <a:ea typeface="宋体" panose="02010600030101010101" pitchFamily="2" charset="-122"/>
              </a:rPr>
              <a:t>两种不同原子的振幅都有相同的符号，即相邻原子沿同一方向振动。当波长相当长时，远大于晶格常数，声学波代表原胞质心的振动。 </a:t>
            </a:r>
          </a:p>
        </p:txBody>
      </p:sp>
    </p:spTree>
    <p:extLst>
      <p:ext uri="{BB962C8B-B14F-4D97-AF65-F5344CB8AC3E}">
        <p14:creationId xmlns:p14="http://schemas.microsoft.com/office/powerpoint/2010/main" val="2692061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28</a:t>
            </a:fld>
            <a:endParaRPr lang="zh-CN" altLang="en-US"/>
          </a:p>
        </p:txBody>
      </p:sp>
      <p:sp>
        <p:nvSpPr>
          <p:cNvPr id="3" name="矩形 2"/>
          <p:cNvSpPr/>
          <p:nvPr/>
        </p:nvSpPr>
        <p:spPr>
          <a:xfrm>
            <a:off x="462394" y="283711"/>
            <a:ext cx="1446230"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3</a:t>
            </a:r>
            <a:r>
              <a:rPr kumimoji="1" lang="zh-CN" altLang="en-US" sz="2800" b="1" dirty="0">
                <a:solidFill>
                  <a:srgbClr val="D96227"/>
                </a:solidFill>
                <a:latin typeface="Times New Roman" pitchFamily="18" charset="0"/>
                <a:ea typeface="宋体" pitchFamily="2" charset="-122"/>
                <a:cs typeface="Times New Roman" pitchFamily="18" charset="0"/>
              </a:rPr>
              <a:t>、声子</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Text Box 1029"/>
          <p:cNvSpPr txBox="1">
            <a:spLocks noChangeArrowheads="1"/>
          </p:cNvSpPr>
          <p:nvPr/>
        </p:nvSpPr>
        <p:spPr bwMode="auto">
          <a:xfrm>
            <a:off x="407871" y="991393"/>
            <a:ext cx="8302041" cy="871713"/>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与光波类似，格波的能量也是量子化的，对于每一种振动模式</a:t>
            </a:r>
            <a:r>
              <a:rPr kumimoji="1" lang="el-GR"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en-US" altLang="zh-CN" sz="2400" b="1" i="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，可取的能量间隔是        ，也就是说，这个格波的能量</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Text Box 1029"/>
          <p:cNvSpPr txBox="1">
            <a:spLocks noChangeArrowheads="1"/>
          </p:cNvSpPr>
          <p:nvPr/>
        </p:nvSpPr>
        <p:spPr bwMode="auto">
          <a:xfrm>
            <a:off x="375552" y="2929463"/>
            <a:ext cx="8302041" cy="3493713"/>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在光学里，我们引入了光子的概念，这里我们也引入类似的概念</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“声子”。</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声子指格波的量子化，每个声子的能量是        。</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一个格波，也就是一种振动模式，称为一种声子。由</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个原子构成的一维单原子链由</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种振动模式，所以有</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种声子。</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当一个格波的能量为       时，称为有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2400" b="1" i="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个声子，</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2400" b="1" i="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为声子数。格波的振幅越大，能量越大，则声子数越多。</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A99F6C2C-0A19-2796-AAA0-1875289580D7}"/>
              </a:ext>
            </a:extLst>
          </p:cNvPr>
          <p:cNvGraphicFramePr>
            <a:graphicFrameLocks noChangeAspect="1"/>
          </p:cNvGraphicFramePr>
          <p:nvPr>
            <p:extLst>
              <p:ext uri="{D42A27DB-BD31-4B8C-83A1-F6EECF244321}">
                <p14:modId xmlns:p14="http://schemas.microsoft.com/office/powerpoint/2010/main" val="933950273"/>
              </p:ext>
            </p:extLst>
          </p:nvPr>
        </p:nvGraphicFramePr>
        <p:xfrm>
          <a:off x="3878119" y="1395780"/>
          <a:ext cx="626669" cy="541214"/>
        </p:xfrm>
        <a:graphic>
          <a:graphicData uri="http://schemas.openxmlformats.org/presentationml/2006/ole">
            <mc:AlternateContent xmlns:mc="http://schemas.openxmlformats.org/markup-compatibility/2006">
              <mc:Choice xmlns:v="urn:schemas-microsoft-com:vml" Requires="v">
                <p:oleObj name="Equation" r:id="rId2" imgW="279360" imgH="241200" progId="Equation.DSMT4">
                  <p:embed/>
                </p:oleObj>
              </mc:Choice>
              <mc:Fallback>
                <p:oleObj name="Equation" r:id="rId2" imgW="279360" imgH="241200" progId="Equation.DSMT4">
                  <p:embed/>
                  <p:pic>
                    <p:nvPicPr>
                      <p:cNvPr id="0" name=""/>
                      <p:cNvPicPr/>
                      <p:nvPr/>
                    </p:nvPicPr>
                    <p:blipFill>
                      <a:blip r:embed="rId3"/>
                      <a:stretch>
                        <a:fillRect/>
                      </a:stretch>
                    </p:blipFill>
                    <p:spPr>
                      <a:xfrm>
                        <a:off x="3878119" y="1395780"/>
                        <a:ext cx="626669" cy="541214"/>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BB24BE8F-7E4E-8287-B496-DC594FB9B39D}"/>
              </a:ext>
            </a:extLst>
          </p:cNvPr>
          <p:cNvGraphicFramePr>
            <a:graphicFrameLocks noChangeAspect="1"/>
          </p:cNvGraphicFramePr>
          <p:nvPr>
            <p:extLst>
              <p:ext uri="{D42A27DB-BD31-4B8C-83A1-F6EECF244321}">
                <p14:modId xmlns:p14="http://schemas.microsoft.com/office/powerpoint/2010/main" val="3261667086"/>
              </p:ext>
            </p:extLst>
          </p:nvPr>
        </p:nvGraphicFramePr>
        <p:xfrm>
          <a:off x="3098300" y="1863106"/>
          <a:ext cx="2856544" cy="1066358"/>
        </p:xfrm>
        <a:graphic>
          <a:graphicData uri="http://schemas.openxmlformats.org/presentationml/2006/ole">
            <mc:AlternateContent xmlns:mc="http://schemas.openxmlformats.org/markup-compatibility/2006">
              <mc:Choice xmlns:v="urn:schemas-microsoft-com:vml" Requires="v">
                <p:oleObj name="Equation" r:id="rId4" imgW="1155600" imgH="431640" progId="Equation.DSMT4">
                  <p:embed/>
                </p:oleObj>
              </mc:Choice>
              <mc:Fallback>
                <p:oleObj name="Equation" r:id="rId4" imgW="1155600" imgH="431640" progId="Equation.DSMT4">
                  <p:embed/>
                  <p:pic>
                    <p:nvPicPr>
                      <p:cNvPr id="0" name=""/>
                      <p:cNvPicPr/>
                      <p:nvPr/>
                    </p:nvPicPr>
                    <p:blipFill>
                      <a:blip r:embed="rId5"/>
                      <a:stretch>
                        <a:fillRect/>
                      </a:stretch>
                    </p:blipFill>
                    <p:spPr>
                      <a:xfrm>
                        <a:off x="3098300" y="1863106"/>
                        <a:ext cx="2856544" cy="106635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F326E324-4D02-E16B-5D02-1105966B68A1}"/>
              </a:ext>
            </a:extLst>
          </p:cNvPr>
          <p:cNvGraphicFramePr>
            <a:graphicFrameLocks noChangeAspect="1"/>
          </p:cNvGraphicFramePr>
          <p:nvPr>
            <p:extLst>
              <p:ext uri="{D42A27DB-BD31-4B8C-83A1-F6EECF244321}">
                <p14:modId xmlns:p14="http://schemas.microsoft.com/office/powerpoint/2010/main" val="3578874898"/>
              </p:ext>
            </p:extLst>
          </p:nvPr>
        </p:nvGraphicFramePr>
        <p:xfrm>
          <a:off x="5973316" y="3921608"/>
          <a:ext cx="627063" cy="541337"/>
        </p:xfrm>
        <a:graphic>
          <a:graphicData uri="http://schemas.openxmlformats.org/presentationml/2006/ole">
            <mc:AlternateContent xmlns:mc="http://schemas.openxmlformats.org/markup-compatibility/2006">
              <mc:Choice xmlns:v="urn:schemas-microsoft-com:vml" Requires="v">
                <p:oleObj name="Equation" r:id="rId6" imgW="626470" imgH="541135" progId="Equation.DSMT4">
                  <p:embed/>
                </p:oleObj>
              </mc:Choice>
              <mc:Fallback>
                <p:oleObj name="Equation" r:id="rId6" imgW="626470" imgH="541135" progId="Equation.DSMT4">
                  <p:embed/>
                  <p:pic>
                    <p:nvPicPr>
                      <p:cNvPr id="0" name=""/>
                      <p:cNvPicPr/>
                      <p:nvPr/>
                    </p:nvPicPr>
                    <p:blipFill>
                      <a:blip r:embed="rId7"/>
                      <a:stretch>
                        <a:fillRect/>
                      </a:stretch>
                    </p:blipFill>
                    <p:spPr>
                      <a:xfrm>
                        <a:off x="5973316" y="3921608"/>
                        <a:ext cx="627063" cy="54133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1C04448A-5B1C-0F0D-FC6A-8FBCC0E0DF33}"/>
              </a:ext>
            </a:extLst>
          </p:cNvPr>
          <p:cNvGraphicFramePr>
            <a:graphicFrameLocks noChangeAspect="1"/>
          </p:cNvGraphicFramePr>
          <p:nvPr>
            <p:extLst>
              <p:ext uri="{D42A27DB-BD31-4B8C-83A1-F6EECF244321}">
                <p14:modId xmlns:p14="http://schemas.microsoft.com/office/powerpoint/2010/main" val="235487671"/>
              </p:ext>
            </p:extLst>
          </p:nvPr>
        </p:nvGraphicFramePr>
        <p:xfrm>
          <a:off x="3237069" y="5430980"/>
          <a:ext cx="523272" cy="584833"/>
        </p:xfrm>
        <a:graphic>
          <a:graphicData uri="http://schemas.openxmlformats.org/presentationml/2006/ole">
            <mc:AlternateContent xmlns:mc="http://schemas.openxmlformats.org/markup-compatibility/2006">
              <mc:Choice xmlns:v="urn:schemas-microsoft-com:vml" Requires="v">
                <p:oleObj name="Equation" r:id="rId8" imgW="215640" imgH="241200" progId="Equation.DSMT4">
                  <p:embed/>
                </p:oleObj>
              </mc:Choice>
              <mc:Fallback>
                <p:oleObj name="Equation" r:id="rId8" imgW="215640" imgH="241200" progId="Equation.DSMT4">
                  <p:embed/>
                  <p:pic>
                    <p:nvPicPr>
                      <p:cNvPr id="0" name=""/>
                      <p:cNvPicPr/>
                      <p:nvPr/>
                    </p:nvPicPr>
                    <p:blipFill>
                      <a:blip r:embed="rId9"/>
                      <a:stretch>
                        <a:fillRect/>
                      </a:stretch>
                    </p:blipFill>
                    <p:spPr>
                      <a:xfrm>
                        <a:off x="3237069" y="5430980"/>
                        <a:ext cx="523272" cy="584833"/>
                      </a:xfrm>
                      <a:prstGeom prst="rect">
                        <a:avLst/>
                      </a:prstGeom>
                    </p:spPr>
                  </p:pic>
                </p:oleObj>
              </mc:Fallback>
            </mc:AlternateContent>
          </a:graphicData>
        </a:graphic>
      </p:graphicFrame>
    </p:spTree>
    <p:extLst>
      <p:ext uri="{BB962C8B-B14F-4D97-AF65-F5344CB8AC3E}">
        <p14:creationId xmlns:p14="http://schemas.microsoft.com/office/powerpoint/2010/main" val="3368086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29</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关于声子，以下说法正确的是</a:t>
            </a:r>
          </a:p>
        </p:txBody>
      </p:sp>
      <p:sp>
        <p:nvSpPr>
          <p:cNvPr id="5" name="文本框 4"/>
          <p:cNvSpPr txBox="1"/>
          <p:nvPr>
            <p:custDataLst>
              <p:tags r:id="rId3"/>
            </p:custDataLst>
          </p:nvPr>
        </p:nvSpPr>
        <p:spPr>
          <a:xfrm>
            <a:off x="1199075" y="2682550"/>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声子的数量与晶格振动的模式数有关</a:t>
            </a:r>
          </a:p>
        </p:txBody>
      </p:sp>
      <p:sp>
        <p:nvSpPr>
          <p:cNvPr id="6" name="文本框 5"/>
          <p:cNvSpPr txBox="1"/>
          <p:nvPr>
            <p:custDataLst>
              <p:tags r:id="rId4"/>
            </p:custDataLst>
          </p:nvPr>
        </p:nvSpPr>
        <p:spPr>
          <a:xfrm>
            <a:off x="1199075" y="3368350"/>
            <a:ext cx="7444596"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个原子构成的一维单原子链，最多有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种声子</a:t>
            </a:r>
          </a:p>
        </p:txBody>
      </p:sp>
      <p:sp>
        <p:nvSpPr>
          <p:cNvPr id="7" name="文本框 6"/>
          <p:cNvSpPr txBox="1"/>
          <p:nvPr>
            <p:custDataLst>
              <p:tags r:id="rId5"/>
            </p:custDataLst>
          </p:nvPr>
        </p:nvSpPr>
        <p:spPr>
          <a:xfrm>
            <a:off x="1199075" y="4054150"/>
            <a:ext cx="7444596"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个原子构成的一维单原子链，最多有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个声子</a:t>
            </a:r>
          </a:p>
        </p:txBody>
      </p:sp>
      <p:sp>
        <p:nvSpPr>
          <p:cNvPr id="8" name="文本框 7"/>
          <p:cNvSpPr txBox="1"/>
          <p:nvPr>
            <p:custDataLst>
              <p:tags r:id="rId6"/>
            </p:custDataLst>
          </p:nvPr>
        </p:nvSpPr>
        <p:spPr>
          <a:xfrm>
            <a:off x="1199075" y="4739950"/>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声子的能量与晶格振动频率有关</a:t>
            </a:r>
          </a:p>
        </p:txBody>
      </p:sp>
      <p:sp>
        <p:nvSpPr>
          <p:cNvPr id="9" name="矩形 8"/>
          <p:cNvSpPr>
            <a:spLocks noChangeAspect="1"/>
          </p:cNvSpPr>
          <p:nvPr>
            <p:custDataLst>
              <p:tags r:id="rId7"/>
            </p:custDataLst>
          </p:nvPr>
        </p:nvSpPr>
        <p:spPr>
          <a:xfrm>
            <a:off x="484700" y="274684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484700" y="343264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484700" y="411844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484700" y="480424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0" name="文本框 19"/>
          <p:cNvSpPr txBox="1"/>
          <p:nvPr>
            <p:custDataLst>
              <p:tags r:id="rId12"/>
            </p:custDataLst>
          </p:nvPr>
        </p:nvSpPr>
        <p:spPr>
          <a:xfrm>
            <a:off x="1199075" y="5425750"/>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声子的能量与晶格振动的幅度有关</a:t>
            </a:r>
          </a:p>
        </p:txBody>
      </p:sp>
      <p:sp>
        <p:nvSpPr>
          <p:cNvPr id="21" name="矩形 20"/>
          <p:cNvSpPr>
            <a:spLocks noChangeAspect="1"/>
          </p:cNvSpPr>
          <p:nvPr>
            <p:custDataLst>
              <p:tags r:id="rId13"/>
            </p:custDataLst>
          </p:nvPr>
        </p:nvSpPr>
        <p:spPr>
          <a:xfrm>
            <a:off x="484700" y="549004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4"/>
            </p:custDataLst>
          </p:nvPr>
        </p:nvGrpSpPr>
        <p:grpSpPr>
          <a:xfrm>
            <a:off x="0" y="0"/>
            <a:ext cx="9144000" cy="635000"/>
            <a:chOff x="0" y="0"/>
            <a:chExt cx="9144000" cy="635000"/>
          </a:xfrm>
        </p:grpSpPr>
        <p:sp>
          <p:nvSpPr>
            <p:cNvPr id="14" name="TitleBackground"/>
            <p:cNvSpPr/>
            <p:nvPr>
              <p:custDataLst>
                <p:tags r:id="rId1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464712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30</a:t>
            </a:fld>
            <a:endParaRPr lang="zh-CN" altLang="en-US"/>
          </a:p>
        </p:txBody>
      </p:sp>
      <p:sp>
        <p:nvSpPr>
          <p:cNvPr id="3" name="Text Box 1029"/>
          <p:cNvSpPr txBox="1">
            <a:spLocks noChangeArrowheads="1"/>
          </p:cNvSpPr>
          <p:nvPr/>
        </p:nvSpPr>
        <p:spPr bwMode="auto">
          <a:xfrm>
            <a:off x="341046" y="307034"/>
            <a:ext cx="8302041" cy="3846822"/>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当电子或光子与晶格振动相互作用，交换能量以    为单元。</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若电子从晶格获得    能量，称为吸收一个声子；若电子给晶格    能量，称为发射一个声子。</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声子不是真实的粒子，而是一种“准粒子”，是为了反映晶格原子集体运动状态而引入的。</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声子自身具有能量，也具有动量，光子则动量为</a:t>
            </a:r>
            <a:r>
              <a:rPr kumimoji="1" lang="en-US" altLang="zh-CN" sz="2400" b="1" dirty="0">
                <a:solidFill>
                  <a:srgbClr val="000000"/>
                </a:solidFill>
                <a:latin typeface="宋体" panose="02010600030101010101" pitchFamily="2" charset="-122"/>
                <a:ea typeface="宋体" panose="02010600030101010101" pitchFamily="2" charset="-122"/>
              </a:rPr>
              <a:t>0</a:t>
            </a:r>
            <a:r>
              <a:rPr kumimoji="1" lang="zh-CN" altLang="en-US" sz="2400" b="1" dirty="0">
                <a:solidFill>
                  <a:srgbClr val="000000"/>
                </a:solidFill>
                <a:latin typeface="宋体" panose="02010600030101010101" pitchFamily="2" charset="-122"/>
                <a:ea typeface="宋体" panose="02010600030101010101" pitchFamily="2" charset="-122"/>
              </a:rPr>
              <a:t>。因此，半导体的载流子激发过程中，一旦伴有动量的变化，则会有声子参与。</a:t>
            </a:r>
            <a:endParaRPr kumimoji="1" lang="en-US" altLang="zh-CN" sz="2400" b="1" dirty="0">
              <a:solidFill>
                <a:srgbClr val="000000"/>
              </a:solidFill>
              <a:latin typeface="宋体" panose="02010600030101010101" pitchFamily="2" charset="-122"/>
              <a:ea typeface="宋体" panose="02010600030101010101" pitchFamily="2" charset="-122"/>
            </a:endParaRPr>
          </a:p>
        </p:txBody>
      </p:sp>
      <p:pic>
        <p:nvPicPr>
          <p:cNvPr id="15" name="图片 14"/>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2242512" y="4000502"/>
            <a:ext cx="4348069" cy="2640964"/>
          </a:xfrm>
          <a:prstGeom prst="rect">
            <a:avLst/>
          </a:prstGeom>
        </p:spPr>
      </p:pic>
      <p:sp>
        <p:nvSpPr>
          <p:cNvPr id="16" name="文本框 15"/>
          <p:cNvSpPr txBox="1"/>
          <p:nvPr/>
        </p:nvSpPr>
        <p:spPr>
          <a:xfrm>
            <a:off x="1449238" y="5320984"/>
            <a:ext cx="1130060"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直接禁带</a:t>
            </a:r>
          </a:p>
        </p:txBody>
      </p:sp>
      <p:sp>
        <p:nvSpPr>
          <p:cNvPr id="17" name="文本框 16"/>
          <p:cNvSpPr txBox="1"/>
          <p:nvPr/>
        </p:nvSpPr>
        <p:spPr>
          <a:xfrm>
            <a:off x="6432430" y="5383365"/>
            <a:ext cx="1130060"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间接禁带</a:t>
            </a:r>
          </a:p>
        </p:txBody>
      </p:sp>
      <p:graphicFrame>
        <p:nvGraphicFramePr>
          <p:cNvPr id="4" name="Object 3">
            <a:extLst>
              <a:ext uri="{FF2B5EF4-FFF2-40B4-BE49-F238E27FC236}">
                <a16:creationId xmlns:a16="http://schemas.microsoft.com/office/drawing/2014/main" id="{34DC186F-BF3D-3789-ACAE-44B3C466F19D}"/>
              </a:ext>
            </a:extLst>
          </p:cNvPr>
          <p:cNvGraphicFramePr>
            <a:graphicFrameLocks noChangeAspect="1"/>
          </p:cNvGraphicFramePr>
          <p:nvPr>
            <p:extLst>
              <p:ext uri="{D42A27DB-BD31-4B8C-83A1-F6EECF244321}">
                <p14:modId xmlns:p14="http://schemas.microsoft.com/office/powerpoint/2010/main" val="220374185"/>
              </p:ext>
            </p:extLst>
          </p:nvPr>
        </p:nvGraphicFramePr>
        <p:xfrm>
          <a:off x="6896895" y="307034"/>
          <a:ext cx="628650" cy="541337"/>
        </p:xfrm>
        <a:graphic>
          <a:graphicData uri="http://schemas.openxmlformats.org/presentationml/2006/ole">
            <mc:AlternateContent xmlns:mc="http://schemas.openxmlformats.org/markup-compatibility/2006">
              <mc:Choice xmlns:v="urn:schemas-microsoft-com:vml" Requires="v">
                <p:oleObj name="Equation" r:id="rId3" imgW="627909" imgH="541135" progId="Equation.DSMT4">
                  <p:embed/>
                </p:oleObj>
              </mc:Choice>
              <mc:Fallback>
                <p:oleObj name="Equation" r:id="rId3" imgW="627909" imgH="541135" progId="Equation.DSMT4">
                  <p:embed/>
                  <p:pic>
                    <p:nvPicPr>
                      <p:cNvPr id="0" name=""/>
                      <p:cNvPicPr/>
                      <p:nvPr/>
                    </p:nvPicPr>
                    <p:blipFill>
                      <a:blip r:embed="rId4"/>
                      <a:stretch>
                        <a:fillRect/>
                      </a:stretch>
                    </p:blipFill>
                    <p:spPr>
                      <a:xfrm>
                        <a:off x="6896895" y="307034"/>
                        <a:ext cx="628650" cy="54133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474BBE8-3FBD-498F-27FC-C062F9E4FFAF}"/>
              </a:ext>
            </a:extLst>
          </p:cNvPr>
          <p:cNvGraphicFramePr>
            <a:graphicFrameLocks noChangeAspect="1"/>
          </p:cNvGraphicFramePr>
          <p:nvPr>
            <p:extLst>
              <p:ext uri="{D42A27DB-BD31-4B8C-83A1-F6EECF244321}">
                <p14:modId xmlns:p14="http://schemas.microsoft.com/office/powerpoint/2010/main" val="2297984017"/>
              </p:ext>
            </p:extLst>
          </p:nvPr>
        </p:nvGraphicFramePr>
        <p:xfrm>
          <a:off x="2899929" y="903787"/>
          <a:ext cx="628650" cy="541337"/>
        </p:xfrm>
        <a:graphic>
          <a:graphicData uri="http://schemas.openxmlformats.org/presentationml/2006/ole">
            <mc:AlternateContent xmlns:mc="http://schemas.openxmlformats.org/markup-compatibility/2006">
              <mc:Choice xmlns:v="urn:schemas-microsoft-com:vml" Requires="v">
                <p:oleObj name="Equation" r:id="rId5" imgW="627909" imgH="541135" progId="Equation.DSMT4">
                  <p:embed/>
                </p:oleObj>
              </mc:Choice>
              <mc:Fallback>
                <p:oleObj name="Equation" r:id="rId5" imgW="627909" imgH="541135" progId="Equation.DSMT4">
                  <p:embed/>
                  <p:pic>
                    <p:nvPicPr>
                      <p:cNvPr id="0" name=""/>
                      <p:cNvPicPr/>
                      <p:nvPr/>
                    </p:nvPicPr>
                    <p:blipFill>
                      <a:blip r:embed="rId6"/>
                      <a:stretch>
                        <a:fillRect/>
                      </a:stretch>
                    </p:blipFill>
                    <p:spPr>
                      <a:xfrm>
                        <a:off x="2899929" y="903787"/>
                        <a:ext cx="628650" cy="541337"/>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47D71F6-F269-43FF-1CA9-C6FBCF1116EB}"/>
              </a:ext>
            </a:extLst>
          </p:cNvPr>
          <p:cNvGraphicFramePr>
            <a:graphicFrameLocks noChangeAspect="1"/>
          </p:cNvGraphicFramePr>
          <p:nvPr>
            <p:extLst>
              <p:ext uri="{D42A27DB-BD31-4B8C-83A1-F6EECF244321}">
                <p14:modId xmlns:p14="http://schemas.microsoft.com/office/powerpoint/2010/main" val="1528245367"/>
              </p:ext>
            </p:extLst>
          </p:nvPr>
        </p:nvGraphicFramePr>
        <p:xfrm>
          <a:off x="1071129" y="1301027"/>
          <a:ext cx="628650" cy="541337"/>
        </p:xfrm>
        <a:graphic>
          <a:graphicData uri="http://schemas.openxmlformats.org/presentationml/2006/ole">
            <mc:AlternateContent xmlns:mc="http://schemas.openxmlformats.org/markup-compatibility/2006">
              <mc:Choice xmlns:v="urn:schemas-microsoft-com:vml" Requires="v">
                <p:oleObj name="Equation" r:id="rId7" imgW="627909" imgH="541135" progId="Equation.DSMT4">
                  <p:embed/>
                </p:oleObj>
              </mc:Choice>
              <mc:Fallback>
                <p:oleObj name="Equation" r:id="rId7" imgW="627909" imgH="541135" progId="Equation.DSMT4">
                  <p:embed/>
                  <p:pic>
                    <p:nvPicPr>
                      <p:cNvPr id="0" name=""/>
                      <p:cNvPicPr/>
                      <p:nvPr/>
                    </p:nvPicPr>
                    <p:blipFill>
                      <a:blip r:embed="rId8"/>
                      <a:stretch>
                        <a:fillRect/>
                      </a:stretch>
                    </p:blipFill>
                    <p:spPr>
                      <a:xfrm>
                        <a:off x="1071129" y="1301027"/>
                        <a:ext cx="628650" cy="541337"/>
                      </a:xfrm>
                      <a:prstGeom prst="rect">
                        <a:avLst/>
                      </a:prstGeom>
                    </p:spPr>
                  </p:pic>
                </p:oleObj>
              </mc:Fallback>
            </mc:AlternateContent>
          </a:graphicData>
        </a:graphic>
      </p:graphicFrame>
    </p:spTree>
    <p:extLst>
      <p:ext uri="{BB962C8B-B14F-4D97-AF65-F5344CB8AC3E}">
        <p14:creationId xmlns:p14="http://schemas.microsoft.com/office/powerpoint/2010/main" val="1412840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31</a:t>
            </a:fld>
            <a:endParaRPr lang="zh-CN" altLang="en-US"/>
          </a:p>
        </p:txBody>
      </p:sp>
      <p:sp>
        <p:nvSpPr>
          <p:cNvPr id="3" name="Text Box 1029"/>
          <p:cNvSpPr txBox="1">
            <a:spLocks noChangeArrowheads="1"/>
          </p:cNvSpPr>
          <p:nvPr/>
        </p:nvSpPr>
        <p:spPr bwMode="auto">
          <a:xfrm>
            <a:off x="341046" y="307034"/>
            <a:ext cx="8302041" cy="44896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4" name="Text Box 1029"/>
          <p:cNvSpPr txBox="1">
            <a:spLocks noChangeArrowheads="1"/>
          </p:cNvSpPr>
          <p:nvPr/>
        </p:nvSpPr>
        <p:spPr bwMode="auto">
          <a:xfrm>
            <a:off x="341046" y="307034"/>
            <a:ext cx="8302041" cy="108952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在载流子输运过程中，声子会造成散射，影响平均自由程。</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温度越高，声子数越多，散射的影响越大。</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5" name="矩形 4"/>
          <p:cNvSpPr/>
          <p:nvPr/>
        </p:nvSpPr>
        <p:spPr>
          <a:xfrm>
            <a:off x="341046" y="4825231"/>
            <a:ext cx="3249608"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4</a:t>
            </a:r>
            <a:r>
              <a:rPr kumimoji="1" lang="zh-CN" altLang="en-US" sz="2800" b="1" dirty="0">
                <a:solidFill>
                  <a:srgbClr val="D96227"/>
                </a:solidFill>
                <a:latin typeface="Times New Roman" pitchFamily="18" charset="0"/>
                <a:ea typeface="宋体" pitchFamily="2" charset="-122"/>
                <a:cs typeface="Times New Roman" pitchFamily="18" charset="0"/>
              </a:rPr>
              <a:t>、三维晶体的振动</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6" name="Text Box 1029"/>
          <p:cNvSpPr txBox="1">
            <a:spLocks noChangeArrowheads="1"/>
          </p:cNvSpPr>
          <p:nvPr/>
        </p:nvSpPr>
        <p:spPr bwMode="auto">
          <a:xfrm>
            <a:off x="341046" y="5601350"/>
            <a:ext cx="8302041" cy="871713"/>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对于三维情况，也可以按照类似的方法分析。若晶体中共有</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个原子，则共有</a:t>
            </a:r>
            <a:r>
              <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种振动模式。</a:t>
            </a:r>
            <a:endParaRPr kumimoji="1"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680000">
            <a:off x="1017275" y="1555143"/>
            <a:ext cx="6701606" cy="2901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2693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32</a:t>
            </a:fld>
            <a:endParaRPr lang="zh-CN" altLang="en-US"/>
          </a:p>
        </p:txBody>
      </p:sp>
      <p:sp>
        <p:nvSpPr>
          <p:cNvPr id="3" name="矩形 2"/>
          <p:cNvSpPr/>
          <p:nvPr/>
        </p:nvSpPr>
        <p:spPr>
          <a:xfrm>
            <a:off x="402006" y="1076191"/>
            <a:ext cx="1988045"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重点掌握：</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Rectangle 4"/>
          <p:cNvSpPr>
            <a:spLocks noChangeArrowheads="1"/>
          </p:cNvSpPr>
          <p:nvPr/>
        </p:nvSpPr>
        <p:spPr bwMode="auto">
          <a:xfrm>
            <a:off x="3383280" y="295910"/>
            <a:ext cx="360013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本节小结</a:t>
            </a:r>
          </a:p>
        </p:txBody>
      </p:sp>
      <p:sp>
        <p:nvSpPr>
          <p:cNvPr id="5" name="Text Box 1029"/>
          <p:cNvSpPr txBox="1">
            <a:spLocks noChangeArrowheads="1"/>
          </p:cNvSpPr>
          <p:nvPr/>
        </p:nvSpPr>
        <p:spPr bwMode="auto">
          <a:xfrm>
            <a:off x="402006" y="1785314"/>
            <a:ext cx="8302041" cy="2271391"/>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格波：晶格原子振动的模式</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声子的概念</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影响声子的种类和数量的因素</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吸收和发射声子的物理图像</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6" name="矩形 5"/>
          <p:cNvSpPr/>
          <p:nvPr/>
        </p:nvSpPr>
        <p:spPr>
          <a:xfrm>
            <a:off x="402006" y="4242608"/>
            <a:ext cx="1266693"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了解：</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7" name="Text Box 1029"/>
          <p:cNvSpPr txBox="1">
            <a:spLocks noChangeArrowheads="1"/>
          </p:cNvSpPr>
          <p:nvPr/>
        </p:nvSpPr>
        <p:spPr bwMode="auto">
          <a:xfrm>
            <a:off x="414617" y="4951731"/>
            <a:ext cx="8302041" cy="904863"/>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一维单原子链振动的推导，简谐近似，色散关系，一维双原子链中的光学波和声学波</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5814407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33</a:t>
            </a:fld>
            <a:endParaRPr lang="zh-CN" altLang="en-US"/>
          </a:p>
        </p:txBody>
      </p:sp>
      <p:sp>
        <p:nvSpPr>
          <p:cNvPr id="3" name="Rectangle 4"/>
          <p:cNvSpPr>
            <a:spLocks noChangeArrowheads="1"/>
          </p:cNvSpPr>
          <p:nvPr/>
        </p:nvSpPr>
        <p:spPr bwMode="auto">
          <a:xfrm>
            <a:off x="2734573" y="295910"/>
            <a:ext cx="4248839"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三、能带论</a:t>
            </a:r>
          </a:p>
        </p:txBody>
      </p:sp>
      <p:sp>
        <p:nvSpPr>
          <p:cNvPr id="4" name="矩形 3"/>
          <p:cNvSpPr/>
          <p:nvPr/>
        </p:nvSpPr>
        <p:spPr>
          <a:xfrm>
            <a:off x="432486" y="1091431"/>
            <a:ext cx="2225289"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1</a:t>
            </a:r>
            <a:r>
              <a:rPr kumimoji="1" lang="zh-CN" altLang="en-US" sz="2800" b="1" dirty="0">
                <a:solidFill>
                  <a:srgbClr val="D96227"/>
                </a:solidFill>
                <a:latin typeface="Times New Roman" pitchFamily="18" charset="0"/>
                <a:ea typeface="宋体" pitchFamily="2" charset="-122"/>
                <a:cs typeface="Times New Roman" pitchFamily="18" charset="0"/>
              </a:rPr>
              <a:t>、知识回顾</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5" name="Text Box 1029"/>
          <p:cNvSpPr txBox="1">
            <a:spLocks noChangeArrowheads="1"/>
          </p:cNvSpPr>
          <p:nvPr/>
        </p:nvSpPr>
        <p:spPr bwMode="auto">
          <a:xfrm>
            <a:off x="402006" y="1785314"/>
            <a:ext cx="8302041" cy="131112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晶体中存在允带和禁带，允带（能带）中存在一系列离散的能级，这些能级是准连续的。通常情况下，禁带不能被电子占据。能带论为晶体的结构和电学性质建立了一个桥梁。</a:t>
            </a:r>
            <a:endParaRPr kumimoji="1" lang="en-US" altLang="zh-CN" sz="2400" b="1" dirty="0">
              <a:solidFill>
                <a:srgbClr val="000000"/>
              </a:solidFill>
              <a:latin typeface="宋体" panose="02010600030101010101" pitchFamily="2" charset="-122"/>
              <a:ea typeface="宋体" panose="02010600030101010101" pitchFamily="2" charset="-122"/>
            </a:endParaRPr>
          </a:p>
        </p:txBody>
      </p:sp>
      <p:pic>
        <p:nvPicPr>
          <p:cNvPr id="13" name="图片 12"/>
          <p:cNvPicPr>
            <a:picLocks noChangeAspect="1"/>
          </p:cNvPicPr>
          <p:nvPr/>
        </p:nvPicPr>
        <p:blipFill>
          <a:blip r:embed="rId2"/>
          <a:stretch>
            <a:fillRect/>
          </a:stretch>
        </p:blipFill>
        <p:spPr>
          <a:xfrm>
            <a:off x="1609568" y="3519601"/>
            <a:ext cx="4845333" cy="2939302"/>
          </a:xfrm>
          <a:prstGeom prst="rect">
            <a:avLst/>
          </a:prstGeom>
        </p:spPr>
      </p:pic>
    </p:spTree>
    <p:extLst>
      <p:ext uri="{BB962C8B-B14F-4D97-AF65-F5344CB8AC3E}">
        <p14:creationId xmlns:p14="http://schemas.microsoft.com/office/powerpoint/2010/main" val="1976616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34</a:t>
            </a:fld>
            <a:endParaRPr lang="zh-CN" altLang="en-US"/>
          </a:p>
        </p:txBody>
      </p:sp>
      <p:sp>
        <p:nvSpPr>
          <p:cNvPr id="4" name="文本框 3"/>
          <p:cNvSpPr txBox="1"/>
          <p:nvPr>
            <p:custDataLst>
              <p:tags r:id="rId2"/>
            </p:custDataLst>
          </p:nvPr>
        </p:nvSpPr>
        <p:spPr>
          <a:xfrm>
            <a:off x="914399" y="5715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关于能带，下列说法正确的是</a:t>
            </a:r>
          </a:p>
        </p:txBody>
      </p:sp>
      <p:sp>
        <p:nvSpPr>
          <p:cNvPr id="5" name="文本框 4"/>
          <p:cNvSpPr txBox="1"/>
          <p:nvPr>
            <p:custDataLst>
              <p:tags r:id="rId3"/>
            </p:custDataLst>
          </p:nvPr>
        </p:nvSpPr>
        <p:spPr>
          <a:xfrm>
            <a:off x="1425677"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能带的存在是由于晶体的周期性</a:t>
            </a:r>
          </a:p>
        </p:txBody>
      </p:sp>
      <p:sp>
        <p:nvSpPr>
          <p:cNvPr id="6" name="文本框 5"/>
          <p:cNvSpPr txBox="1"/>
          <p:nvPr>
            <p:custDataLst>
              <p:tags r:id="rId4"/>
            </p:custDataLst>
          </p:nvPr>
        </p:nvSpPr>
        <p:spPr>
          <a:xfrm>
            <a:off x="1425676" y="3643313"/>
            <a:ext cx="74854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晶体的周期性一旦出现一点破坏，能带就不存在了</a:t>
            </a:r>
          </a:p>
        </p:txBody>
      </p:sp>
      <p:sp>
        <p:nvSpPr>
          <p:cNvPr id="7" name="文本框 6"/>
          <p:cNvSpPr txBox="1"/>
          <p:nvPr>
            <p:custDataLst>
              <p:tags r:id="rId5"/>
            </p:custDataLst>
          </p:nvPr>
        </p:nvSpPr>
        <p:spPr>
          <a:xfrm>
            <a:off x="1425677" y="4500563"/>
            <a:ext cx="71882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能带论仅仅是一个近似理论</a:t>
            </a:r>
          </a:p>
        </p:txBody>
      </p:sp>
      <p:sp>
        <p:nvSpPr>
          <p:cNvPr id="8" name="文本框 7"/>
          <p:cNvSpPr txBox="1"/>
          <p:nvPr>
            <p:custDataLst>
              <p:tags r:id="rId6"/>
            </p:custDataLst>
          </p:nvPr>
        </p:nvSpPr>
        <p:spPr>
          <a:xfrm>
            <a:off x="1425676" y="5357813"/>
            <a:ext cx="6803923"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未掺杂的半导体中，禁带一定没有电子占据</a:t>
            </a:r>
          </a:p>
        </p:txBody>
      </p:sp>
      <p:sp>
        <p:nvSpPr>
          <p:cNvPr id="9" name="矩形 8"/>
          <p:cNvSpPr>
            <a:spLocks noChangeAspect="1"/>
          </p:cNvSpPr>
          <p:nvPr>
            <p:custDataLst>
              <p:tags r:id="rId7"/>
            </p:custDataLst>
          </p:nvPr>
        </p:nvSpPr>
        <p:spPr>
          <a:xfrm>
            <a:off x="711302"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711302" y="37076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711302"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711302"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589001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35</a:t>
            </a:fld>
            <a:endParaRPr lang="zh-CN" altLang="en-US"/>
          </a:p>
        </p:txBody>
      </p:sp>
      <p:sp>
        <p:nvSpPr>
          <p:cNvPr id="3" name="矩形 2"/>
          <p:cNvSpPr/>
          <p:nvPr/>
        </p:nvSpPr>
        <p:spPr>
          <a:xfrm>
            <a:off x="432486" y="275355"/>
            <a:ext cx="2888932"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2</a:t>
            </a:r>
            <a:r>
              <a:rPr kumimoji="1" lang="zh-CN" altLang="en-US" sz="2800" b="1" dirty="0">
                <a:solidFill>
                  <a:srgbClr val="D96227"/>
                </a:solidFill>
                <a:latin typeface="Times New Roman" pitchFamily="18" charset="0"/>
                <a:ea typeface="宋体" pitchFamily="2" charset="-122"/>
                <a:cs typeface="Times New Roman" pitchFamily="18" charset="0"/>
              </a:rPr>
              <a:t>、能带论的前提</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Rectangle 12"/>
          <p:cNvSpPr>
            <a:spLocks noChangeArrowheads="1"/>
          </p:cNvSpPr>
          <p:nvPr/>
        </p:nvSpPr>
        <p:spPr bwMode="auto">
          <a:xfrm>
            <a:off x="333277" y="908558"/>
            <a:ext cx="8545255" cy="762000"/>
          </a:xfrm>
          <a:prstGeom prst="rect">
            <a:avLst/>
          </a:prstGeom>
          <a:noFill/>
          <a:ln w="12700" cap="sq">
            <a:noFill/>
            <a:miter lim="800000"/>
            <a:headEnd/>
            <a:tailEnd/>
          </a:ln>
          <a:effectLst/>
        </p:spPr>
        <p:txBody>
          <a:bodyPr wrap="square">
            <a:spAutoFit/>
          </a:bodyPr>
          <a:lstStyle/>
          <a:p>
            <a:pPr>
              <a:spcBef>
                <a:spcPct val="50000"/>
              </a:spcBef>
            </a:pPr>
            <a:r>
              <a:rPr kumimoji="1" lang="zh-CN" altLang="en-US" sz="2200" b="1" dirty="0">
                <a:solidFill>
                  <a:srgbClr val="FF3300"/>
                </a:solidFill>
                <a:latin typeface="Times New Roman" pitchFamily="18" charset="0"/>
                <a:ea typeface="宋体" pitchFamily="2" charset="-122"/>
                <a:cs typeface="Times New Roman" pitchFamily="18" charset="0"/>
              </a:rPr>
              <a:t>能带论的基础包括：</a:t>
            </a:r>
            <a:r>
              <a:rPr kumimoji="1" lang="en-US" altLang="zh-CN" sz="2200" b="1" dirty="0">
                <a:latin typeface="Times New Roman" pitchFamily="18" charset="0"/>
                <a:ea typeface="宋体" pitchFamily="2" charset="-122"/>
                <a:cs typeface="Times New Roman" pitchFamily="18" charset="0"/>
              </a:rPr>
              <a:t>1</a:t>
            </a:r>
            <a:r>
              <a:rPr kumimoji="1" lang="zh-CN" altLang="en-US" sz="2200" b="1" dirty="0">
                <a:latin typeface="Times New Roman" pitchFamily="18" charset="0"/>
                <a:ea typeface="宋体" pitchFamily="2" charset="-122"/>
                <a:cs typeface="Times New Roman" pitchFamily="18" charset="0"/>
              </a:rPr>
              <a:t>、共有化运动的电子；</a:t>
            </a:r>
            <a:r>
              <a:rPr kumimoji="1" lang="en-US" altLang="zh-CN" sz="2200" b="1" dirty="0">
                <a:latin typeface="Times New Roman" pitchFamily="18" charset="0"/>
                <a:ea typeface="宋体" pitchFamily="2" charset="-122"/>
                <a:cs typeface="Times New Roman" pitchFamily="18" charset="0"/>
              </a:rPr>
              <a:t>2</a:t>
            </a:r>
            <a:r>
              <a:rPr kumimoji="1" lang="zh-CN" altLang="en-US" sz="2200" b="1" dirty="0">
                <a:latin typeface="Times New Roman" pitchFamily="18" charset="0"/>
                <a:ea typeface="宋体" pitchFamily="2" charset="-122"/>
                <a:cs typeface="Times New Roman" pitchFamily="18" charset="0"/>
              </a:rPr>
              <a:t>、三大近似；</a:t>
            </a:r>
            <a:r>
              <a:rPr kumimoji="1" lang="en-US" altLang="zh-CN" sz="2200" b="1" dirty="0">
                <a:latin typeface="Times New Roman" pitchFamily="18" charset="0"/>
                <a:ea typeface="宋体" pitchFamily="2" charset="-122"/>
                <a:cs typeface="Times New Roman" pitchFamily="18" charset="0"/>
              </a:rPr>
              <a:t>3</a:t>
            </a:r>
            <a:r>
              <a:rPr kumimoji="1" lang="zh-CN" altLang="en-US" sz="2200" b="1" dirty="0">
                <a:latin typeface="Times New Roman" pitchFamily="18" charset="0"/>
                <a:ea typeface="宋体" pitchFamily="2" charset="-122"/>
                <a:cs typeface="Times New Roman" pitchFamily="18" charset="0"/>
              </a:rPr>
              <a:t>、布洛赫定理</a:t>
            </a:r>
          </a:p>
        </p:txBody>
      </p:sp>
      <p:sp>
        <p:nvSpPr>
          <p:cNvPr id="5" name="Rectangle 12"/>
          <p:cNvSpPr>
            <a:spLocks noChangeArrowheads="1"/>
          </p:cNvSpPr>
          <p:nvPr/>
        </p:nvSpPr>
        <p:spPr bwMode="auto">
          <a:xfrm>
            <a:off x="333275" y="1780541"/>
            <a:ext cx="8545258" cy="430887"/>
          </a:xfrm>
          <a:prstGeom prst="rect">
            <a:avLst/>
          </a:prstGeom>
          <a:noFill/>
          <a:ln w="12700" cap="sq">
            <a:noFill/>
            <a:miter lim="800000"/>
            <a:headEnd/>
            <a:tailEnd/>
          </a:ln>
          <a:effectLst/>
        </p:spPr>
        <p:txBody>
          <a:bodyPr wrap="square">
            <a:spAutoFit/>
          </a:bodyPr>
          <a:lstStyle/>
          <a:p>
            <a:pPr>
              <a:spcBef>
                <a:spcPct val="50000"/>
              </a:spcBef>
            </a:pPr>
            <a:r>
              <a:rPr kumimoji="1" lang="zh-CN" altLang="en-US" sz="2200" b="1" dirty="0">
                <a:solidFill>
                  <a:srgbClr val="FF3300"/>
                </a:solidFill>
                <a:latin typeface="Times New Roman" pitchFamily="18" charset="0"/>
                <a:ea typeface="宋体" pitchFamily="2" charset="-122"/>
                <a:cs typeface="Times New Roman" pitchFamily="18" charset="0"/>
              </a:rPr>
              <a:t>能带论的三个近似：</a:t>
            </a:r>
            <a:r>
              <a:rPr kumimoji="1" lang="en-US" altLang="zh-CN" sz="2200" b="1" dirty="0">
                <a:latin typeface="Times New Roman" pitchFamily="18" charset="0"/>
                <a:ea typeface="宋体" pitchFamily="2" charset="-122"/>
                <a:cs typeface="Times New Roman" pitchFamily="18" charset="0"/>
              </a:rPr>
              <a:t>1</a:t>
            </a:r>
            <a:r>
              <a:rPr kumimoji="1" lang="zh-CN" altLang="en-US" sz="2200" b="1" dirty="0">
                <a:latin typeface="Times New Roman" pitchFamily="18" charset="0"/>
                <a:ea typeface="宋体" pitchFamily="2" charset="-122"/>
                <a:cs typeface="Times New Roman" pitchFamily="18" charset="0"/>
              </a:rPr>
              <a:t>、绝热近似；</a:t>
            </a:r>
            <a:r>
              <a:rPr kumimoji="1" lang="en-US" altLang="zh-CN" sz="2200" b="1" dirty="0">
                <a:latin typeface="Times New Roman" pitchFamily="18" charset="0"/>
                <a:ea typeface="宋体" pitchFamily="2" charset="-122"/>
                <a:cs typeface="Times New Roman" pitchFamily="18" charset="0"/>
              </a:rPr>
              <a:t>2</a:t>
            </a:r>
            <a:r>
              <a:rPr kumimoji="1" lang="zh-CN" altLang="en-US" sz="2200" b="1" dirty="0">
                <a:latin typeface="Times New Roman" pitchFamily="18" charset="0"/>
                <a:ea typeface="宋体" pitchFamily="2" charset="-122"/>
                <a:cs typeface="Times New Roman" pitchFamily="18" charset="0"/>
              </a:rPr>
              <a:t>、单电子近似；</a:t>
            </a:r>
            <a:r>
              <a:rPr kumimoji="1" lang="en-US" altLang="zh-CN" sz="2200" b="1" dirty="0">
                <a:latin typeface="Times New Roman" pitchFamily="18" charset="0"/>
                <a:ea typeface="宋体" pitchFamily="2" charset="-122"/>
                <a:cs typeface="Times New Roman" pitchFamily="18" charset="0"/>
              </a:rPr>
              <a:t>3</a:t>
            </a:r>
            <a:r>
              <a:rPr kumimoji="1" lang="zh-CN" altLang="en-US" sz="2200" b="1" dirty="0">
                <a:latin typeface="Times New Roman" pitchFamily="18" charset="0"/>
                <a:ea typeface="宋体" pitchFamily="2" charset="-122"/>
                <a:cs typeface="Times New Roman" pitchFamily="18" charset="0"/>
              </a:rPr>
              <a:t>、周期场近似</a:t>
            </a:r>
          </a:p>
        </p:txBody>
      </p:sp>
      <p:sp>
        <p:nvSpPr>
          <p:cNvPr id="6" name="TextBox 1"/>
          <p:cNvSpPr txBox="1">
            <a:spLocks noChangeArrowheads="1"/>
          </p:cNvSpPr>
          <p:nvPr/>
        </p:nvSpPr>
        <p:spPr bwMode="auto">
          <a:xfrm>
            <a:off x="333275" y="2501657"/>
            <a:ext cx="8545257" cy="1209562"/>
          </a:xfrm>
          <a:prstGeom prst="rect">
            <a:avLst/>
          </a:prstGeom>
          <a:noFill/>
          <a:ln w="12700" cap="sq">
            <a:noFill/>
            <a:miter lim="800000"/>
            <a:headEnd/>
            <a:tailEnd/>
          </a:ln>
          <a:effectLst/>
        </p:spPr>
        <p:txBody>
          <a:bodyPr wrap="square">
            <a:spAutoFit/>
          </a:bodyPr>
          <a:lstStyle/>
          <a:p>
            <a:pPr>
              <a:lnSpc>
                <a:spcPct val="110000"/>
              </a:lnSpc>
              <a:spcBef>
                <a:spcPct val="50000"/>
              </a:spcBef>
            </a:pPr>
            <a:r>
              <a:rPr kumimoji="1" lang="zh-CN" altLang="en-US" sz="2200" b="1" dirty="0">
                <a:latin typeface="Times New Roman" pitchFamily="18" charset="0"/>
                <a:ea typeface="宋体" pitchFamily="2" charset="-122"/>
              </a:rPr>
              <a:t>能带论是基于量子力学建立起的研究固体中电子运动的主要理论。量子力学的核心是求解薛定谔方程，理论上“</a:t>
            </a:r>
            <a:r>
              <a:rPr kumimoji="1" lang="en-US" altLang="zh-CN" sz="2200" b="1" dirty="0">
                <a:latin typeface="Times New Roman" pitchFamily="18" charset="0"/>
                <a:ea typeface="宋体" pitchFamily="2" charset="-122"/>
              </a:rPr>
              <a:t>1</a:t>
            </a:r>
            <a:r>
              <a:rPr kumimoji="1" lang="zh-CN" altLang="en-US" sz="2200" b="1" dirty="0">
                <a:latin typeface="Times New Roman" pitchFamily="18" charset="0"/>
                <a:ea typeface="宋体" pitchFamily="2" charset="-122"/>
              </a:rPr>
              <a:t>）建立薛定谔方程”、“</a:t>
            </a:r>
            <a:r>
              <a:rPr kumimoji="1" lang="en-US" altLang="zh-CN" sz="2200" b="1" dirty="0">
                <a:latin typeface="Times New Roman" pitchFamily="18" charset="0"/>
                <a:ea typeface="宋体" pitchFamily="2" charset="-122"/>
              </a:rPr>
              <a:t>2</a:t>
            </a:r>
            <a:r>
              <a:rPr kumimoji="1" lang="zh-CN" altLang="en-US" sz="2200" b="1" dirty="0">
                <a:latin typeface="Times New Roman" pitchFamily="18" charset="0"/>
                <a:ea typeface="宋体" pitchFamily="2" charset="-122"/>
              </a:rPr>
              <a:t>）求解薛定谔方程”以后，系统的一切性质就都可以求解了。</a:t>
            </a:r>
          </a:p>
        </p:txBody>
      </p:sp>
      <p:graphicFrame>
        <p:nvGraphicFramePr>
          <p:cNvPr id="7" name="Object 6"/>
          <p:cNvGraphicFramePr>
            <a:graphicFrameLocks noChangeAspect="1"/>
          </p:cNvGraphicFramePr>
          <p:nvPr>
            <p:extLst>
              <p:ext uri="{D42A27DB-BD31-4B8C-83A1-F6EECF244321}">
                <p14:modId xmlns:p14="http://schemas.microsoft.com/office/powerpoint/2010/main" val="2381513261"/>
              </p:ext>
            </p:extLst>
          </p:nvPr>
        </p:nvGraphicFramePr>
        <p:xfrm>
          <a:off x="2815260" y="3809540"/>
          <a:ext cx="3303587" cy="987425"/>
        </p:xfrm>
        <a:graphic>
          <a:graphicData uri="http://schemas.openxmlformats.org/presentationml/2006/ole">
            <mc:AlternateContent xmlns:mc="http://schemas.openxmlformats.org/markup-compatibility/2006">
              <mc:Choice xmlns:v="urn:schemas-microsoft-com:vml" Requires="v">
                <p:oleObj name="Equation" r:id="rId2" imgW="1612900" imgH="482600" progId="Equation.DSMT4">
                  <p:embed/>
                </p:oleObj>
              </mc:Choice>
              <mc:Fallback>
                <p:oleObj name="Equation" r:id="rId2" imgW="1612900" imgH="482600" progId="Equation.DSMT4">
                  <p:embed/>
                  <p:pic>
                    <p:nvPicPr>
                      <p:cNvPr id="19968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5260" y="3809540"/>
                        <a:ext cx="3303587" cy="987425"/>
                      </a:xfrm>
                      <a:prstGeom prst="rect">
                        <a:avLst/>
                      </a:prstGeom>
                      <a:solidFill>
                        <a:srgbClr val="FFFFFF"/>
                      </a:solidFill>
                    </p:spPr>
                  </p:pic>
                </p:oleObj>
              </mc:Fallback>
            </mc:AlternateContent>
          </a:graphicData>
        </a:graphic>
      </p:graphicFrame>
      <p:sp>
        <p:nvSpPr>
          <p:cNvPr id="8" name="文本框 7"/>
          <p:cNvSpPr txBox="1"/>
          <p:nvPr/>
        </p:nvSpPr>
        <p:spPr>
          <a:xfrm>
            <a:off x="3008671" y="4742624"/>
            <a:ext cx="1347020" cy="400110"/>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rPr>
              <a:t>动能项</a:t>
            </a:r>
          </a:p>
        </p:txBody>
      </p:sp>
      <p:sp>
        <p:nvSpPr>
          <p:cNvPr id="9" name="文本框 8"/>
          <p:cNvSpPr txBox="1"/>
          <p:nvPr/>
        </p:nvSpPr>
        <p:spPr>
          <a:xfrm>
            <a:off x="4095135" y="4742624"/>
            <a:ext cx="1347020" cy="400110"/>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rPr>
              <a:t>势能项</a:t>
            </a:r>
          </a:p>
        </p:txBody>
      </p:sp>
      <p:sp>
        <p:nvSpPr>
          <p:cNvPr id="10" name="TextBox 1"/>
          <p:cNvSpPr txBox="1">
            <a:spLocks noChangeArrowheads="1"/>
          </p:cNvSpPr>
          <p:nvPr/>
        </p:nvSpPr>
        <p:spPr bwMode="auto">
          <a:xfrm>
            <a:off x="333275" y="5416693"/>
            <a:ext cx="8545257" cy="837152"/>
          </a:xfrm>
          <a:prstGeom prst="rect">
            <a:avLst/>
          </a:prstGeom>
          <a:noFill/>
          <a:ln w="12700" cap="sq">
            <a:noFill/>
            <a:miter lim="800000"/>
            <a:headEnd/>
            <a:tailEnd/>
          </a:ln>
          <a:effectLst/>
        </p:spPr>
        <p:txBody>
          <a:bodyPr wrap="square">
            <a:spAutoFit/>
          </a:bodyPr>
          <a:lstStyle/>
          <a:p>
            <a:pPr>
              <a:lnSpc>
                <a:spcPct val="110000"/>
              </a:lnSpc>
              <a:spcBef>
                <a:spcPct val="50000"/>
              </a:spcBef>
            </a:pPr>
            <a:r>
              <a:rPr kumimoji="1" lang="zh-CN" altLang="en-US" sz="2200" b="1" dirty="0">
                <a:latin typeface="Times New Roman" pitchFamily="18" charset="0"/>
                <a:ea typeface="宋体" pitchFamily="2" charset="-122"/>
              </a:rPr>
              <a:t>晶体中的薛定谔方程，需要写出所有电子和所有原子核的动能及势能，从而求解出每个电子的波函数</a:t>
            </a:r>
          </a:p>
        </p:txBody>
      </p:sp>
    </p:spTree>
    <p:extLst>
      <p:ext uri="{BB962C8B-B14F-4D97-AF65-F5344CB8AC3E}">
        <p14:creationId xmlns:p14="http://schemas.microsoft.com/office/powerpoint/2010/main" val="222589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36</a:t>
            </a:fld>
            <a:endParaRPr lang="zh-CN" altLang="en-US"/>
          </a:p>
        </p:txBody>
      </p:sp>
      <p:sp>
        <p:nvSpPr>
          <p:cNvPr id="3" name="TextBox 1"/>
          <p:cNvSpPr txBox="1">
            <a:spLocks noChangeArrowheads="1"/>
          </p:cNvSpPr>
          <p:nvPr/>
        </p:nvSpPr>
        <p:spPr bwMode="auto">
          <a:xfrm>
            <a:off x="362772" y="1882233"/>
            <a:ext cx="8545257" cy="1209562"/>
          </a:xfrm>
          <a:prstGeom prst="rect">
            <a:avLst/>
          </a:prstGeom>
          <a:noFill/>
          <a:ln w="12700" cap="sq">
            <a:noFill/>
            <a:miter lim="800000"/>
            <a:headEnd/>
            <a:tailEnd/>
          </a:ln>
          <a:effectLst/>
        </p:spPr>
        <p:txBody>
          <a:bodyPr wrap="square">
            <a:spAutoFit/>
          </a:bodyPr>
          <a:lstStyle/>
          <a:p>
            <a:pPr>
              <a:lnSpc>
                <a:spcPct val="110000"/>
              </a:lnSpc>
              <a:spcBef>
                <a:spcPct val="50000"/>
              </a:spcBef>
            </a:pPr>
            <a:r>
              <a:rPr kumimoji="1" lang="zh-CN" altLang="en-US" sz="2200" b="1" dirty="0">
                <a:latin typeface="Times New Roman" pitchFamily="18" charset="0"/>
                <a:ea typeface="宋体" pitchFamily="2" charset="-122"/>
              </a:rPr>
              <a:t>在共有化电子的前提下，晶体中的薛定谔方程包括</a:t>
            </a:r>
            <a:r>
              <a:rPr kumimoji="1" lang="en-US" altLang="zh-CN" sz="2200" b="1" dirty="0">
                <a:latin typeface="Times New Roman" pitchFamily="18" charset="0"/>
                <a:ea typeface="宋体" pitchFamily="2" charset="-122"/>
              </a:rPr>
              <a:t>5</a:t>
            </a:r>
            <a:r>
              <a:rPr kumimoji="1" lang="zh-CN" altLang="en-US" sz="2200" b="1" dirty="0">
                <a:latin typeface="Times New Roman" pitchFamily="18" charset="0"/>
                <a:ea typeface="宋体" pitchFamily="2" charset="-122"/>
              </a:rPr>
              <a:t>项：</a:t>
            </a:r>
            <a:r>
              <a:rPr kumimoji="1" lang="en-US" altLang="zh-CN" sz="2200" b="1" i="1" dirty="0">
                <a:latin typeface="Times New Roman" pitchFamily="18" charset="0"/>
                <a:ea typeface="宋体" pitchFamily="2" charset="-122"/>
              </a:rPr>
              <a:t>N</a:t>
            </a:r>
            <a:r>
              <a:rPr kumimoji="1" lang="zh-CN" altLang="en-US" sz="2200" b="1" dirty="0">
                <a:latin typeface="Times New Roman" pitchFamily="18" charset="0"/>
                <a:ea typeface="宋体" pitchFamily="2" charset="-122"/>
              </a:rPr>
              <a:t>个电子的动能，</a:t>
            </a:r>
            <a:r>
              <a:rPr kumimoji="1" lang="en-US" altLang="zh-CN" sz="2200" b="1" i="1" dirty="0">
                <a:latin typeface="Times New Roman" pitchFamily="18" charset="0"/>
                <a:ea typeface="宋体" pitchFamily="2" charset="-122"/>
              </a:rPr>
              <a:t>n</a:t>
            </a:r>
            <a:r>
              <a:rPr kumimoji="1" lang="zh-CN" altLang="en-US" sz="2200" b="1" dirty="0">
                <a:latin typeface="Times New Roman" pitchFamily="18" charset="0"/>
                <a:ea typeface="宋体" pitchFamily="2" charset="-122"/>
              </a:rPr>
              <a:t>个原子核（或离子实）的动能，电子之间的势能（</a:t>
            </a:r>
            <a:r>
              <a:rPr kumimoji="1" lang="en-US" altLang="zh-CN" sz="2200" b="1" i="1" dirty="0">
                <a:latin typeface="Times New Roman" pitchFamily="18" charset="0"/>
                <a:ea typeface="宋体" pitchFamily="2" charset="-122"/>
              </a:rPr>
              <a:t>N</a:t>
            </a:r>
            <a:r>
              <a:rPr kumimoji="1" lang="en-US" altLang="zh-CN" sz="2200" b="1" baseline="30000" dirty="0">
                <a:latin typeface="Times New Roman" pitchFamily="18" charset="0"/>
                <a:ea typeface="宋体" pitchFamily="2" charset="-122"/>
              </a:rPr>
              <a:t>2</a:t>
            </a:r>
            <a:r>
              <a:rPr kumimoji="1" lang="zh-CN" altLang="en-US" sz="2200" b="1" dirty="0">
                <a:latin typeface="Times New Roman" pitchFamily="18" charset="0"/>
                <a:ea typeface="宋体" pitchFamily="2" charset="-122"/>
              </a:rPr>
              <a:t>），原子核之间的势能（</a:t>
            </a:r>
            <a:r>
              <a:rPr kumimoji="1" lang="en-US" altLang="zh-CN" sz="2200" b="1" i="1" dirty="0">
                <a:latin typeface="Times New Roman" pitchFamily="18" charset="0"/>
                <a:ea typeface="宋体" pitchFamily="2" charset="-122"/>
              </a:rPr>
              <a:t>n</a:t>
            </a:r>
            <a:r>
              <a:rPr kumimoji="1" lang="en-US" altLang="zh-CN" sz="2200" b="1" baseline="30000" dirty="0">
                <a:latin typeface="Times New Roman" pitchFamily="18" charset="0"/>
                <a:ea typeface="宋体" pitchFamily="2" charset="-122"/>
              </a:rPr>
              <a:t>2</a:t>
            </a:r>
            <a:r>
              <a:rPr kumimoji="1" lang="zh-CN" altLang="en-US" sz="2200" b="1" dirty="0">
                <a:latin typeface="Times New Roman" pitchFamily="18" charset="0"/>
                <a:ea typeface="宋体" pitchFamily="2" charset="-122"/>
              </a:rPr>
              <a:t>），电子和原子核之间的势能（</a:t>
            </a:r>
            <a:r>
              <a:rPr kumimoji="1" lang="en-US" altLang="zh-CN" sz="2200" b="1" i="1" dirty="0" err="1">
                <a:latin typeface="Times New Roman" pitchFamily="18" charset="0"/>
                <a:ea typeface="宋体" pitchFamily="2" charset="-122"/>
              </a:rPr>
              <a:t>Nn</a:t>
            </a:r>
            <a:r>
              <a:rPr kumimoji="1" lang="zh-CN" altLang="en-US" sz="2200" b="1" dirty="0">
                <a:latin typeface="Times New Roman" pitchFamily="18" charset="0"/>
                <a:ea typeface="宋体" pitchFamily="2" charset="-122"/>
              </a:rPr>
              <a:t>）。</a:t>
            </a:r>
          </a:p>
        </p:txBody>
      </p:sp>
      <p:sp>
        <p:nvSpPr>
          <p:cNvPr id="5" name="Text Box 7"/>
          <p:cNvSpPr txBox="1">
            <a:spLocks noChangeArrowheads="1"/>
          </p:cNvSpPr>
          <p:nvPr/>
        </p:nvSpPr>
        <p:spPr bwMode="auto">
          <a:xfrm>
            <a:off x="379145" y="260919"/>
            <a:ext cx="8332236" cy="1581972"/>
          </a:xfrm>
          <a:prstGeom prst="rect">
            <a:avLst/>
          </a:prstGeom>
          <a:noFill/>
          <a:ln w="12700" cap="sq">
            <a:noFill/>
            <a:miter lim="800000"/>
            <a:headEnd type="none" w="sm" len="sm"/>
            <a:tailEnd type="none" w="sm" len="sm"/>
          </a:ln>
          <a:effectLst/>
        </p:spPr>
        <p:txBody>
          <a:bodyPr wrap="square">
            <a:spAutoFit/>
          </a:bodyPr>
          <a:lstStyle/>
          <a:p>
            <a:pPr>
              <a:lnSpc>
                <a:spcPct val="110000"/>
              </a:lnSpc>
              <a:spcBef>
                <a:spcPts val="1200"/>
              </a:spcBef>
            </a:pPr>
            <a:r>
              <a:rPr kumimoji="1" lang="zh-CN" altLang="en-US" sz="2200" b="1" dirty="0">
                <a:solidFill>
                  <a:srgbClr val="FF3300"/>
                </a:solidFill>
                <a:latin typeface="Times New Roman" pitchFamily="18" charset="0"/>
                <a:ea typeface="宋体" pitchFamily="2" charset="-122"/>
                <a:cs typeface="Times New Roman" pitchFamily="18" charset="0"/>
              </a:rPr>
              <a:t>共有化运动的电子：</a:t>
            </a:r>
            <a:r>
              <a:rPr kumimoji="1" lang="zh-CN" altLang="en-US" sz="2200" b="1" dirty="0">
                <a:latin typeface="Times New Roman" pitchFamily="18" charset="0"/>
                <a:ea typeface="宋体" pitchFamily="2" charset="-122"/>
              </a:rPr>
              <a:t>晶体中存在大量电子，它们的相互间运动是关联的。大多数情况下，人们最关注的是价电子的运动状况。能带论的出发点是固体中的电子不再束缚于单个原子，而是在整个固体内运动，称为共有化电子。</a:t>
            </a:r>
            <a:endParaRPr kumimoji="1" lang="en-US" altLang="zh-CN" sz="2200" b="1" dirty="0">
              <a:latin typeface="Times New Roman" pitchFamily="18" charset="0"/>
              <a:ea typeface="宋体" pitchFamily="2" charset="-122"/>
            </a:endParaRPr>
          </a:p>
        </p:txBody>
      </p:sp>
      <p:sp>
        <p:nvSpPr>
          <p:cNvPr id="8" name="Text Box 4"/>
          <p:cNvSpPr txBox="1">
            <a:spLocks noChangeArrowheads="1"/>
          </p:cNvSpPr>
          <p:nvPr/>
        </p:nvSpPr>
        <p:spPr bwMode="auto">
          <a:xfrm>
            <a:off x="352939" y="5178925"/>
            <a:ext cx="8545257" cy="1209562"/>
          </a:xfrm>
          <a:prstGeom prst="rect">
            <a:avLst/>
          </a:prstGeom>
          <a:noFill/>
          <a:ln w="12700" cap="sq">
            <a:noFill/>
            <a:miter lim="800000"/>
            <a:headEnd/>
            <a:tailEnd/>
          </a:ln>
          <a:effectLst/>
        </p:spPr>
        <p:txBody>
          <a:bodyPr wrap="square">
            <a:spAutoFit/>
          </a:bodyPr>
          <a:lstStyle/>
          <a:p>
            <a:pPr defTabSz="914400" eaLnBrk="0" fontAlgn="base" hangingPunct="0">
              <a:lnSpc>
                <a:spcPct val="110000"/>
              </a:lnSpc>
              <a:spcBef>
                <a:spcPct val="50000"/>
              </a:spcBef>
              <a:spcAft>
                <a:spcPct val="0"/>
              </a:spcAft>
            </a:pPr>
            <a:r>
              <a:rPr kumimoji="1" lang="zh-CN" altLang="en-US" sz="2200" b="1" dirty="0">
                <a:solidFill>
                  <a:srgbClr val="3333CC"/>
                </a:solidFill>
                <a:latin typeface="Times New Roman" pitchFamily="18" charset="0"/>
                <a:ea typeface="宋体" pitchFamily="2" charset="-122"/>
              </a:rPr>
              <a:t>三体以上的关联系统是无法解析求解的</a:t>
            </a:r>
            <a:r>
              <a:rPr kumimoji="1" lang="zh-CN" altLang="en-US" sz="2200" b="1" dirty="0">
                <a:solidFill>
                  <a:srgbClr val="000000"/>
                </a:solidFill>
                <a:latin typeface="Times New Roman" pitchFamily="18" charset="0"/>
                <a:ea typeface="宋体" pitchFamily="2" charset="-122"/>
              </a:rPr>
              <a:t>，因此要求解晶体的薛定谔方程，必须要找到一种可以近似求解的有效方法，能带论即是最有效的理论方法。能带论引入了</a:t>
            </a:r>
            <a:r>
              <a:rPr kumimoji="1" lang="zh-CN" altLang="en-US" sz="2200" b="1" dirty="0">
                <a:solidFill>
                  <a:srgbClr val="3333CC"/>
                </a:solidFill>
                <a:latin typeface="Times New Roman" pitchFamily="18" charset="0"/>
                <a:ea typeface="宋体" pitchFamily="2" charset="-122"/>
              </a:rPr>
              <a:t>三大近似</a:t>
            </a:r>
            <a:r>
              <a:rPr kumimoji="1" lang="zh-CN" altLang="en-US" sz="2200" b="1" dirty="0">
                <a:solidFill>
                  <a:srgbClr val="000000"/>
                </a:solidFill>
                <a:latin typeface="Times New Roman" pitchFamily="18" charset="0"/>
                <a:ea typeface="宋体" pitchFamily="2" charset="-122"/>
              </a:rPr>
              <a:t>，从而近似求解了上述方程</a:t>
            </a:r>
          </a:p>
        </p:txBody>
      </p:sp>
      <p:graphicFrame>
        <p:nvGraphicFramePr>
          <p:cNvPr id="6" name="Object 5">
            <a:extLst>
              <a:ext uri="{FF2B5EF4-FFF2-40B4-BE49-F238E27FC236}">
                <a16:creationId xmlns:a16="http://schemas.microsoft.com/office/drawing/2014/main" id="{1B3EDA60-3D17-572E-395C-F66EB5C54831}"/>
              </a:ext>
            </a:extLst>
          </p:cNvPr>
          <p:cNvGraphicFramePr>
            <a:graphicFrameLocks noChangeAspect="1"/>
          </p:cNvGraphicFramePr>
          <p:nvPr>
            <p:extLst>
              <p:ext uri="{D42A27DB-BD31-4B8C-83A1-F6EECF244321}">
                <p14:modId xmlns:p14="http://schemas.microsoft.com/office/powerpoint/2010/main" val="3736455795"/>
              </p:ext>
            </p:extLst>
          </p:nvPr>
        </p:nvGraphicFramePr>
        <p:xfrm>
          <a:off x="942855" y="3131137"/>
          <a:ext cx="7385090" cy="1895042"/>
        </p:xfrm>
        <a:graphic>
          <a:graphicData uri="http://schemas.openxmlformats.org/presentationml/2006/ole">
            <mc:AlternateContent xmlns:mc="http://schemas.openxmlformats.org/markup-compatibility/2006">
              <mc:Choice xmlns:v="urn:schemas-microsoft-com:vml" Requires="v">
                <p:oleObj name="Equation" r:id="rId2" imgW="3365280" imgH="863280" progId="Equation.DSMT4">
                  <p:embed/>
                </p:oleObj>
              </mc:Choice>
              <mc:Fallback>
                <p:oleObj name="Equation" r:id="rId2" imgW="3365280" imgH="863280" progId="Equation.DSMT4">
                  <p:embed/>
                  <p:pic>
                    <p:nvPicPr>
                      <p:cNvPr id="0" name=""/>
                      <p:cNvPicPr/>
                      <p:nvPr/>
                    </p:nvPicPr>
                    <p:blipFill>
                      <a:blip r:embed="rId3"/>
                      <a:stretch>
                        <a:fillRect/>
                      </a:stretch>
                    </p:blipFill>
                    <p:spPr>
                      <a:xfrm>
                        <a:off x="942855" y="3131137"/>
                        <a:ext cx="7385090" cy="1895042"/>
                      </a:xfrm>
                      <a:prstGeom prst="rect">
                        <a:avLst/>
                      </a:prstGeom>
                    </p:spPr>
                  </p:pic>
                </p:oleObj>
              </mc:Fallback>
            </mc:AlternateContent>
          </a:graphicData>
        </a:graphic>
      </p:graphicFrame>
    </p:spTree>
    <p:extLst>
      <p:ext uri="{BB962C8B-B14F-4D97-AF65-F5344CB8AC3E}">
        <p14:creationId xmlns:p14="http://schemas.microsoft.com/office/powerpoint/2010/main" val="31700483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80FFF656-9C67-1641-501E-DF528CB734CA}"/>
              </a:ext>
            </a:extLst>
          </p:cNvPr>
          <p:cNvGraphicFramePr>
            <a:graphicFrameLocks noChangeAspect="1"/>
          </p:cNvGraphicFramePr>
          <p:nvPr>
            <p:extLst>
              <p:ext uri="{D42A27DB-BD31-4B8C-83A1-F6EECF244321}">
                <p14:modId xmlns:p14="http://schemas.microsoft.com/office/powerpoint/2010/main" val="258597561"/>
              </p:ext>
            </p:extLst>
          </p:nvPr>
        </p:nvGraphicFramePr>
        <p:xfrm>
          <a:off x="819489" y="1648978"/>
          <a:ext cx="7942745" cy="2038138"/>
        </p:xfrm>
        <a:graphic>
          <a:graphicData uri="http://schemas.openxmlformats.org/presentationml/2006/ole">
            <mc:AlternateContent xmlns:mc="http://schemas.openxmlformats.org/markup-compatibility/2006">
              <mc:Choice xmlns:v="urn:schemas-microsoft-com:vml" Requires="v">
                <p:oleObj name="Equation" r:id="rId2" imgW="3365280" imgH="863280" progId="Equation.DSMT4">
                  <p:embed/>
                </p:oleObj>
              </mc:Choice>
              <mc:Fallback>
                <p:oleObj name="Equation" r:id="rId2" imgW="3365280" imgH="863280" progId="Equation.DSMT4">
                  <p:embed/>
                  <p:pic>
                    <p:nvPicPr>
                      <p:cNvPr id="6" name="Object 5">
                        <a:extLst>
                          <a:ext uri="{FF2B5EF4-FFF2-40B4-BE49-F238E27FC236}">
                            <a16:creationId xmlns:a16="http://schemas.microsoft.com/office/drawing/2014/main" id="{1B3EDA60-3D17-572E-395C-F66EB5C54831}"/>
                          </a:ext>
                        </a:extLst>
                      </p:cNvPr>
                      <p:cNvPicPr/>
                      <p:nvPr/>
                    </p:nvPicPr>
                    <p:blipFill>
                      <a:blip r:embed="rId3"/>
                      <a:stretch>
                        <a:fillRect/>
                      </a:stretch>
                    </p:blipFill>
                    <p:spPr>
                      <a:xfrm>
                        <a:off x="819489" y="1648978"/>
                        <a:ext cx="7942745" cy="2038138"/>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B6DE0A5B-1E35-4081-8D72-3B0687A5C65D}" type="slidenum">
              <a:rPr lang="zh-CN" altLang="en-US" smtClean="0"/>
              <a:t>37</a:t>
            </a:fld>
            <a:endParaRPr lang="zh-CN" altLang="en-US"/>
          </a:p>
        </p:txBody>
      </p:sp>
      <p:sp>
        <p:nvSpPr>
          <p:cNvPr id="3" name="Text Box 7"/>
          <p:cNvSpPr txBox="1">
            <a:spLocks noChangeArrowheads="1"/>
          </p:cNvSpPr>
          <p:nvPr/>
        </p:nvSpPr>
        <p:spPr bwMode="auto">
          <a:xfrm>
            <a:off x="379145" y="260919"/>
            <a:ext cx="8332236" cy="1209562"/>
          </a:xfrm>
          <a:prstGeom prst="rect">
            <a:avLst/>
          </a:prstGeom>
          <a:noFill/>
          <a:ln w="12700" cap="sq">
            <a:noFill/>
            <a:miter lim="800000"/>
            <a:headEnd type="none" w="sm" len="sm"/>
            <a:tailEnd type="none" w="sm" len="sm"/>
          </a:ln>
          <a:effectLst/>
        </p:spPr>
        <p:txBody>
          <a:bodyPr wrap="square">
            <a:spAutoFit/>
          </a:bodyPr>
          <a:lstStyle/>
          <a:p>
            <a:pPr>
              <a:lnSpc>
                <a:spcPct val="110000"/>
              </a:lnSpc>
              <a:spcBef>
                <a:spcPts val="1200"/>
              </a:spcBef>
            </a:pPr>
            <a:r>
              <a:rPr kumimoji="1" lang="zh-CN" altLang="en-US" sz="2200" b="1" dirty="0">
                <a:solidFill>
                  <a:srgbClr val="FF3300"/>
                </a:solidFill>
                <a:latin typeface="Times New Roman" pitchFamily="18" charset="0"/>
                <a:ea typeface="宋体" pitchFamily="2" charset="-122"/>
                <a:cs typeface="Times New Roman" pitchFamily="18" charset="0"/>
              </a:rPr>
              <a:t>绝热近似：</a:t>
            </a:r>
            <a:r>
              <a:rPr kumimoji="1" lang="zh-CN" altLang="en-US" sz="2200" b="1" dirty="0">
                <a:latin typeface="Times New Roman" pitchFamily="18" charset="0"/>
                <a:ea typeface="宋体" pitchFamily="2" charset="-122"/>
              </a:rPr>
              <a:t>忽略原子的振动，认为原子核全部固定在其平衡位置。绝热近似忽略了晶格热振动，其合理性在于晶格振动对能量（哈密顿量）而言是一个小量。在绝热近似下</a:t>
            </a:r>
            <a:endParaRPr kumimoji="1" lang="en-US" altLang="zh-CN" sz="2200" b="1" dirty="0">
              <a:latin typeface="Times New Roman" pitchFamily="18" charset="0"/>
              <a:ea typeface="宋体" pitchFamily="2" charset="-122"/>
            </a:endParaRPr>
          </a:p>
        </p:txBody>
      </p:sp>
      <p:cxnSp>
        <p:nvCxnSpPr>
          <p:cNvPr id="6" name="直接连接符 5"/>
          <p:cNvCxnSpPr/>
          <p:nvPr/>
        </p:nvCxnSpPr>
        <p:spPr>
          <a:xfrm>
            <a:off x="3406430" y="1691647"/>
            <a:ext cx="845574" cy="85351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3401513" y="1696566"/>
            <a:ext cx="845574" cy="85351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335161" y="2659156"/>
            <a:ext cx="845574" cy="85351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2330244" y="2664075"/>
            <a:ext cx="845574" cy="85351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2222090" y="3611914"/>
            <a:ext cx="1347020" cy="430887"/>
          </a:xfrm>
          <a:prstGeom prst="rect">
            <a:avLst/>
          </a:prstGeom>
          <a:noFill/>
        </p:spPr>
        <p:txBody>
          <a:bodyPr wrap="square" rtlCol="0">
            <a:spAutoFit/>
          </a:bodyPr>
          <a:lstStyle/>
          <a:p>
            <a:r>
              <a:rPr kumimoji="1" lang="zh-CN" altLang="en-US" sz="2200" b="1" dirty="0">
                <a:solidFill>
                  <a:srgbClr val="FF3300"/>
                </a:solidFill>
                <a:latin typeface="Times New Roman" pitchFamily="18" charset="0"/>
                <a:ea typeface="宋体" pitchFamily="2" charset="-122"/>
                <a:cs typeface="Times New Roman" pitchFamily="18" charset="0"/>
              </a:rPr>
              <a:t>为什么？</a:t>
            </a:r>
          </a:p>
        </p:txBody>
      </p:sp>
      <p:sp>
        <p:nvSpPr>
          <p:cNvPr id="13" name="Text Box 7"/>
          <p:cNvSpPr txBox="1">
            <a:spLocks noChangeArrowheads="1"/>
          </p:cNvSpPr>
          <p:nvPr/>
        </p:nvSpPr>
        <p:spPr bwMode="auto">
          <a:xfrm>
            <a:off x="369311" y="4170590"/>
            <a:ext cx="8332236" cy="1209562"/>
          </a:xfrm>
          <a:prstGeom prst="rect">
            <a:avLst/>
          </a:prstGeom>
          <a:noFill/>
          <a:ln w="12700" cap="sq">
            <a:noFill/>
            <a:miter lim="800000"/>
            <a:headEnd type="none" w="sm" len="sm"/>
            <a:tailEnd type="none" w="sm" len="sm"/>
          </a:ln>
          <a:effectLst/>
        </p:spPr>
        <p:txBody>
          <a:bodyPr wrap="square">
            <a:spAutoFit/>
          </a:bodyPr>
          <a:lstStyle/>
          <a:p>
            <a:pPr>
              <a:lnSpc>
                <a:spcPct val="110000"/>
              </a:lnSpc>
              <a:spcBef>
                <a:spcPts val="1200"/>
              </a:spcBef>
            </a:pPr>
            <a:r>
              <a:rPr kumimoji="1" lang="zh-CN" altLang="en-US" sz="2200" b="1" dirty="0">
                <a:solidFill>
                  <a:srgbClr val="FF3300"/>
                </a:solidFill>
                <a:latin typeface="Times New Roman" pitchFamily="18" charset="0"/>
                <a:ea typeface="宋体" pitchFamily="2" charset="-122"/>
                <a:cs typeface="Times New Roman" pitchFamily="18" charset="0"/>
              </a:rPr>
              <a:t>单电子近似：</a:t>
            </a:r>
            <a:r>
              <a:rPr kumimoji="1" lang="zh-CN" altLang="en-US" sz="2200" b="1" dirty="0">
                <a:latin typeface="Times New Roman" pitchFamily="18" charset="0"/>
                <a:ea typeface="宋体" pitchFamily="2" charset="-122"/>
              </a:rPr>
              <a:t>假设大量共有化电子，近似为单电子在平均势场下的运动，实际上意味着共有化电子间的相互作用很弱。单电子近似是将多体问题简化成一个单体问题。</a:t>
            </a:r>
          </a:p>
        </p:txBody>
      </p:sp>
      <p:cxnSp>
        <p:nvCxnSpPr>
          <p:cNvPr id="15" name="直接连接符 14"/>
          <p:cNvCxnSpPr>
            <a:cxnSpLocks/>
          </p:cNvCxnSpPr>
          <p:nvPr/>
        </p:nvCxnSpPr>
        <p:spPr>
          <a:xfrm>
            <a:off x="5514371" y="2854251"/>
            <a:ext cx="448896" cy="40730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cxnSpLocks/>
          </p:cNvCxnSpPr>
          <p:nvPr/>
        </p:nvCxnSpPr>
        <p:spPr>
          <a:xfrm flipH="1">
            <a:off x="5510743" y="2857878"/>
            <a:ext cx="410376" cy="45228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7" name="Object 6">
            <a:extLst>
              <a:ext uri="{FF2B5EF4-FFF2-40B4-BE49-F238E27FC236}">
                <a16:creationId xmlns:a16="http://schemas.microsoft.com/office/drawing/2014/main" id="{4F9AD56C-B3E1-88EE-7214-450CD426D9D9}"/>
              </a:ext>
            </a:extLst>
          </p:cNvPr>
          <p:cNvGraphicFramePr>
            <a:graphicFrameLocks noChangeAspect="1"/>
          </p:cNvGraphicFramePr>
          <p:nvPr>
            <p:extLst>
              <p:ext uri="{D42A27DB-BD31-4B8C-83A1-F6EECF244321}">
                <p14:modId xmlns:p14="http://schemas.microsoft.com/office/powerpoint/2010/main" val="900321589"/>
              </p:ext>
            </p:extLst>
          </p:nvPr>
        </p:nvGraphicFramePr>
        <p:xfrm>
          <a:off x="935038" y="5380038"/>
          <a:ext cx="7712075" cy="1163637"/>
        </p:xfrm>
        <a:graphic>
          <a:graphicData uri="http://schemas.openxmlformats.org/presentationml/2006/ole">
            <mc:AlternateContent xmlns:mc="http://schemas.openxmlformats.org/markup-compatibility/2006">
              <mc:Choice xmlns:v="urn:schemas-microsoft-com:vml" Requires="v">
                <p:oleObj name="Equation" r:id="rId4" imgW="3200400" imgH="482400" progId="Equation.DSMT4">
                  <p:embed/>
                </p:oleObj>
              </mc:Choice>
              <mc:Fallback>
                <p:oleObj name="Equation" r:id="rId4" imgW="3200400" imgH="482400" progId="Equation.DSMT4">
                  <p:embed/>
                  <p:pic>
                    <p:nvPicPr>
                      <p:cNvPr id="0" name=""/>
                      <p:cNvPicPr/>
                      <p:nvPr/>
                    </p:nvPicPr>
                    <p:blipFill>
                      <a:blip r:embed="rId5"/>
                      <a:stretch>
                        <a:fillRect/>
                      </a:stretch>
                    </p:blipFill>
                    <p:spPr>
                      <a:xfrm>
                        <a:off x="935038" y="5380038"/>
                        <a:ext cx="7712075" cy="1163637"/>
                      </a:xfrm>
                      <a:prstGeom prst="rect">
                        <a:avLst/>
                      </a:prstGeom>
                    </p:spPr>
                  </p:pic>
                </p:oleObj>
              </mc:Fallback>
            </mc:AlternateContent>
          </a:graphicData>
        </a:graphic>
      </p:graphicFrame>
    </p:spTree>
    <p:extLst>
      <p:ext uri="{BB962C8B-B14F-4D97-AF65-F5344CB8AC3E}">
        <p14:creationId xmlns:p14="http://schemas.microsoft.com/office/powerpoint/2010/main" val="4275805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38</a:t>
            </a:fld>
            <a:endParaRPr lang="zh-CN" altLang="en-US"/>
          </a:p>
        </p:txBody>
      </p:sp>
      <p:sp>
        <p:nvSpPr>
          <p:cNvPr id="4" name="矩形 3"/>
          <p:cNvSpPr/>
          <p:nvPr/>
        </p:nvSpPr>
        <p:spPr>
          <a:xfrm>
            <a:off x="335497" y="293126"/>
            <a:ext cx="7643866" cy="430887"/>
          </a:xfrm>
          <a:prstGeom prst="rect">
            <a:avLst/>
          </a:prstGeom>
        </p:spPr>
        <p:txBody>
          <a:bodyPr wrap="square">
            <a:spAutoFit/>
          </a:bodyPr>
          <a:lstStyle/>
          <a:p>
            <a:pPr>
              <a:spcBef>
                <a:spcPts val="1000"/>
              </a:spcBef>
            </a:pPr>
            <a:r>
              <a:rPr lang="zh-CN" altLang="en-US" sz="2200" b="1" dirty="0">
                <a:latin typeface="Times New Roman" pitchFamily="18" charset="0"/>
                <a:ea typeface="宋体" pitchFamily="2" charset="-122"/>
                <a:cs typeface="Times New Roman" pitchFamily="18" charset="0"/>
              </a:rPr>
              <a:t>基于单电子近似，晶体中电子将满足薛定谔波动方程：</a:t>
            </a:r>
          </a:p>
        </p:txBody>
      </p:sp>
      <p:sp>
        <p:nvSpPr>
          <p:cNvPr id="5" name="Text Box 7"/>
          <p:cNvSpPr txBox="1">
            <a:spLocks noChangeArrowheads="1"/>
          </p:cNvSpPr>
          <p:nvPr/>
        </p:nvSpPr>
        <p:spPr bwMode="auto">
          <a:xfrm>
            <a:off x="335497" y="2147928"/>
            <a:ext cx="8332236" cy="1209562"/>
          </a:xfrm>
          <a:prstGeom prst="rect">
            <a:avLst/>
          </a:prstGeom>
          <a:noFill/>
          <a:ln w="12700" cap="sq">
            <a:noFill/>
            <a:miter lim="800000"/>
            <a:headEnd type="none" w="sm" len="sm"/>
            <a:tailEnd type="none" w="sm" len="sm"/>
          </a:ln>
          <a:effectLst/>
        </p:spPr>
        <p:txBody>
          <a:bodyPr wrap="square">
            <a:spAutoFit/>
          </a:bodyPr>
          <a:lstStyle/>
          <a:p>
            <a:pPr>
              <a:lnSpc>
                <a:spcPct val="110000"/>
              </a:lnSpc>
              <a:spcBef>
                <a:spcPts val="1200"/>
              </a:spcBef>
            </a:pPr>
            <a:r>
              <a:rPr kumimoji="1" lang="zh-CN" altLang="en-US" sz="2200" b="1" dirty="0">
                <a:solidFill>
                  <a:srgbClr val="FF3300"/>
                </a:solidFill>
                <a:latin typeface="Times New Roman" pitchFamily="18" charset="0"/>
                <a:ea typeface="宋体" pitchFamily="2" charset="-122"/>
                <a:cs typeface="Times New Roman" pitchFamily="18" charset="0"/>
              </a:rPr>
              <a:t>周期场近似：</a:t>
            </a:r>
            <a:r>
              <a:rPr kumimoji="1" lang="zh-CN" altLang="en-US" sz="2200" b="1" dirty="0">
                <a:latin typeface="Times New Roman" pitchFamily="18" charset="0"/>
                <a:ea typeface="宋体" pitchFamily="2" charset="-122"/>
              </a:rPr>
              <a:t>单电子近似认为电子与电子的相互作用可以看成是单电子在其他电子的平均势场下运动，周期场近似进一步认为这个平均场是周期性的，其周期性与晶格的周期性相同。</a:t>
            </a:r>
          </a:p>
        </p:txBody>
      </p:sp>
      <p:graphicFrame>
        <p:nvGraphicFramePr>
          <p:cNvPr id="6" name="Object 5"/>
          <p:cNvGraphicFramePr>
            <a:graphicFrameLocks noChangeAspect="1"/>
          </p:cNvGraphicFramePr>
          <p:nvPr>
            <p:extLst>
              <p:ext uri="{D42A27DB-BD31-4B8C-83A1-F6EECF244321}">
                <p14:modId xmlns:p14="http://schemas.microsoft.com/office/powerpoint/2010/main" val="3702553982"/>
              </p:ext>
            </p:extLst>
          </p:nvPr>
        </p:nvGraphicFramePr>
        <p:xfrm>
          <a:off x="4603340" y="4559036"/>
          <a:ext cx="114300" cy="215900"/>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5734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340" y="4559036"/>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6"/>
          <p:cNvSpPr txBox="1">
            <a:spLocks noChangeArrowheads="1"/>
          </p:cNvSpPr>
          <p:nvPr/>
        </p:nvSpPr>
        <p:spPr bwMode="auto">
          <a:xfrm>
            <a:off x="4592228" y="4508236"/>
            <a:ext cx="925512" cy="460375"/>
          </a:xfrm>
          <a:prstGeom prst="rect">
            <a:avLst/>
          </a:prstGeom>
          <a:solidFill>
            <a:srgbClr val="FFFFFF"/>
          </a:solidFill>
          <a:ln w="12700" cap="sq">
            <a:noFill/>
            <a:miter lim="800000"/>
            <a:headEnd type="none" w="sm" len="sm"/>
            <a:tailEnd type="none" w="sm" len="sm"/>
          </a:ln>
          <a:effectLst/>
        </p:spPr>
        <p:txBody>
          <a:bodyPr>
            <a:spAutoFit/>
          </a:bodyPr>
          <a:lstStyle/>
          <a:p>
            <a:pPr>
              <a:spcBef>
                <a:spcPct val="50000"/>
              </a:spcBef>
            </a:pPr>
            <a:r>
              <a:rPr kumimoji="1" lang="zh-CN" altLang="en-US" sz="2400" b="1" dirty="0">
                <a:latin typeface="Times New Roman" pitchFamily="18" charset="0"/>
                <a:ea typeface="宋体" pitchFamily="2" charset="-122"/>
              </a:rPr>
              <a:t>其中</a:t>
            </a:r>
            <a:endParaRPr kumimoji="1" lang="en-US" altLang="zh-CN" sz="2400" dirty="0">
              <a:latin typeface="Times New Roman" pitchFamily="18" charset="0"/>
              <a:ea typeface="宋体" pitchFamily="2" charset="-122"/>
            </a:endParaRPr>
          </a:p>
        </p:txBody>
      </p:sp>
      <p:graphicFrame>
        <p:nvGraphicFramePr>
          <p:cNvPr id="8" name="对象 1"/>
          <p:cNvGraphicFramePr>
            <a:graphicFrameLocks noChangeAspect="1"/>
          </p:cNvGraphicFramePr>
          <p:nvPr>
            <p:extLst>
              <p:ext uri="{D42A27DB-BD31-4B8C-83A1-F6EECF244321}">
                <p14:modId xmlns:p14="http://schemas.microsoft.com/office/powerpoint/2010/main" val="2845194337"/>
              </p:ext>
            </p:extLst>
          </p:nvPr>
        </p:nvGraphicFramePr>
        <p:xfrm>
          <a:off x="1079500" y="4256088"/>
          <a:ext cx="3406775" cy="987425"/>
        </p:xfrm>
        <a:graphic>
          <a:graphicData uri="http://schemas.openxmlformats.org/presentationml/2006/ole">
            <mc:AlternateContent xmlns:mc="http://schemas.openxmlformats.org/markup-compatibility/2006">
              <mc:Choice xmlns:v="urn:schemas-microsoft-com:vml" Requires="v">
                <p:oleObj name="Equation" r:id="rId4" imgW="1663560" imgH="482400" progId="Equation.DSMT4">
                  <p:embed/>
                </p:oleObj>
              </mc:Choice>
              <mc:Fallback>
                <p:oleObj name="Equation" r:id="rId4" imgW="1663560" imgH="482400" progId="Equation.DSMT4">
                  <p:embed/>
                  <p:pic>
                    <p:nvPicPr>
                      <p:cNvPr id="57352" name="对象 1"/>
                      <p:cNvPicPr>
                        <a:picLocks noChangeAspect="1" noChangeArrowheads="1"/>
                      </p:cNvPicPr>
                      <p:nvPr/>
                    </p:nvPicPr>
                    <p:blipFill>
                      <a:blip r:embed="rId5"/>
                      <a:srcRect/>
                      <a:stretch>
                        <a:fillRect/>
                      </a:stretch>
                    </p:blipFill>
                    <p:spPr bwMode="auto">
                      <a:xfrm>
                        <a:off x="1079500" y="4256088"/>
                        <a:ext cx="3406775" cy="987425"/>
                      </a:xfrm>
                      <a:prstGeom prst="rect">
                        <a:avLst/>
                      </a:prstGeom>
                      <a:solidFill>
                        <a:srgbClr val="FFFFFF"/>
                      </a:solidFill>
                    </p:spPr>
                  </p:pic>
                </p:oleObj>
              </mc:Fallback>
            </mc:AlternateContent>
          </a:graphicData>
        </a:graphic>
      </p:graphicFrame>
      <p:graphicFrame>
        <p:nvGraphicFramePr>
          <p:cNvPr id="9" name="对象 2"/>
          <p:cNvGraphicFramePr>
            <a:graphicFrameLocks noChangeAspect="1"/>
          </p:cNvGraphicFramePr>
          <p:nvPr>
            <p:extLst>
              <p:ext uri="{D42A27DB-BD31-4B8C-83A1-F6EECF244321}">
                <p14:modId xmlns:p14="http://schemas.microsoft.com/office/powerpoint/2010/main" val="2717860899"/>
              </p:ext>
            </p:extLst>
          </p:nvPr>
        </p:nvGraphicFramePr>
        <p:xfrm>
          <a:off x="5493928" y="4478073"/>
          <a:ext cx="2184400" cy="519113"/>
        </p:xfrm>
        <a:graphic>
          <a:graphicData uri="http://schemas.openxmlformats.org/presentationml/2006/ole">
            <mc:AlternateContent xmlns:mc="http://schemas.openxmlformats.org/markup-compatibility/2006">
              <mc:Choice xmlns:v="urn:schemas-microsoft-com:vml" Requires="v">
                <p:oleObj name="Equation" r:id="rId6" imgW="1066337" imgH="253890" progId="Equation.DSMT4">
                  <p:embed/>
                </p:oleObj>
              </mc:Choice>
              <mc:Fallback>
                <p:oleObj name="Equation" r:id="rId6" imgW="1066337" imgH="253890" progId="Equation.DSMT4">
                  <p:embed/>
                  <p:pic>
                    <p:nvPicPr>
                      <p:cNvPr id="57353"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3928" y="4478073"/>
                        <a:ext cx="2184400" cy="519113"/>
                      </a:xfrm>
                      <a:prstGeom prst="rect">
                        <a:avLst/>
                      </a:prstGeom>
                      <a:solidFill>
                        <a:srgbClr val="FFFFFF"/>
                      </a:solidFill>
                    </p:spPr>
                  </p:pic>
                </p:oleObj>
              </mc:Fallback>
            </mc:AlternateContent>
          </a:graphicData>
        </a:graphic>
      </p:graphicFrame>
      <p:sp>
        <p:nvSpPr>
          <p:cNvPr id="10" name="矩形 9"/>
          <p:cNvSpPr/>
          <p:nvPr/>
        </p:nvSpPr>
        <p:spPr>
          <a:xfrm>
            <a:off x="362549" y="3772973"/>
            <a:ext cx="7643866" cy="430887"/>
          </a:xfrm>
          <a:prstGeom prst="rect">
            <a:avLst/>
          </a:prstGeom>
        </p:spPr>
        <p:txBody>
          <a:bodyPr wrap="square">
            <a:spAutoFit/>
          </a:bodyPr>
          <a:lstStyle/>
          <a:p>
            <a:pPr>
              <a:spcBef>
                <a:spcPts val="1000"/>
              </a:spcBef>
            </a:pPr>
            <a:r>
              <a:rPr lang="zh-CN" altLang="en-US" sz="2200" b="1" dirty="0">
                <a:latin typeface="Times New Roman" pitchFamily="18" charset="0"/>
                <a:ea typeface="宋体" pitchFamily="2" charset="-122"/>
                <a:cs typeface="Times New Roman" pitchFamily="18" charset="0"/>
              </a:rPr>
              <a:t>基于上述三个近似，晶体中电子将满足下面的方程：</a:t>
            </a:r>
          </a:p>
        </p:txBody>
      </p:sp>
      <p:sp>
        <p:nvSpPr>
          <p:cNvPr id="12" name="Text Box 7"/>
          <p:cNvSpPr txBox="1">
            <a:spLocks noChangeArrowheads="1"/>
          </p:cNvSpPr>
          <p:nvPr/>
        </p:nvSpPr>
        <p:spPr bwMode="auto">
          <a:xfrm>
            <a:off x="1533192" y="5592468"/>
            <a:ext cx="5800572" cy="830997"/>
          </a:xfrm>
          <a:prstGeom prst="rect">
            <a:avLst/>
          </a:prstGeom>
          <a:noFill/>
          <a:ln w="76200" cap="sq" cmpd="tri">
            <a:solidFill>
              <a:srgbClr val="FF0000"/>
            </a:solidFill>
            <a:miter lim="800000"/>
            <a:headEnd/>
            <a:tailEnd/>
          </a:ln>
          <a:effectLst/>
        </p:spPr>
        <p:txBody>
          <a:bodyPr wrap="square">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上述三个近似是否合理，如果某些情况下不再合理，那么如何引入修正？</a:t>
            </a:r>
          </a:p>
        </p:txBody>
      </p:sp>
      <p:graphicFrame>
        <p:nvGraphicFramePr>
          <p:cNvPr id="11" name="Object 10">
            <a:extLst>
              <a:ext uri="{FF2B5EF4-FFF2-40B4-BE49-F238E27FC236}">
                <a16:creationId xmlns:a16="http://schemas.microsoft.com/office/drawing/2014/main" id="{E95C72B4-2279-043E-F324-B9C425072E09}"/>
              </a:ext>
            </a:extLst>
          </p:cNvPr>
          <p:cNvGraphicFramePr>
            <a:graphicFrameLocks noChangeAspect="1"/>
          </p:cNvGraphicFramePr>
          <p:nvPr>
            <p:extLst>
              <p:ext uri="{D42A27DB-BD31-4B8C-83A1-F6EECF244321}">
                <p14:modId xmlns:p14="http://schemas.microsoft.com/office/powerpoint/2010/main" val="1098088314"/>
              </p:ext>
            </p:extLst>
          </p:nvPr>
        </p:nvGraphicFramePr>
        <p:xfrm>
          <a:off x="1521091" y="919123"/>
          <a:ext cx="6101818" cy="1035130"/>
        </p:xfrm>
        <a:graphic>
          <a:graphicData uri="http://schemas.openxmlformats.org/presentationml/2006/ole">
            <mc:AlternateContent xmlns:mc="http://schemas.openxmlformats.org/markup-compatibility/2006">
              <mc:Choice xmlns:v="urn:schemas-microsoft-com:vml" Requires="v">
                <p:oleObj name="Equation" r:id="rId8" imgW="2844720" imgH="482400" progId="Equation.DSMT4">
                  <p:embed/>
                </p:oleObj>
              </mc:Choice>
              <mc:Fallback>
                <p:oleObj name="Equation" r:id="rId8" imgW="2844720" imgH="482400" progId="Equation.DSMT4">
                  <p:embed/>
                  <p:pic>
                    <p:nvPicPr>
                      <p:cNvPr id="0" name=""/>
                      <p:cNvPicPr/>
                      <p:nvPr/>
                    </p:nvPicPr>
                    <p:blipFill>
                      <a:blip r:embed="rId9"/>
                      <a:stretch>
                        <a:fillRect/>
                      </a:stretch>
                    </p:blipFill>
                    <p:spPr>
                      <a:xfrm>
                        <a:off x="1521091" y="919123"/>
                        <a:ext cx="6101818" cy="1035130"/>
                      </a:xfrm>
                      <a:prstGeom prst="rect">
                        <a:avLst/>
                      </a:prstGeom>
                    </p:spPr>
                  </p:pic>
                </p:oleObj>
              </mc:Fallback>
            </mc:AlternateContent>
          </a:graphicData>
        </a:graphic>
      </p:graphicFrame>
    </p:spTree>
    <p:extLst>
      <p:ext uri="{BB962C8B-B14F-4D97-AF65-F5344CB8AC3E}">
        <p14:creationId xmlns:p14="http://schemas.microsoft.com/office/powerpoint/2010/main" val="2674429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39</a:t>
            </a:fld>
            <a:endParaRPr lang="zh-CN" altLang="en-US"/>
          </a:p>
        </p:txBody>
      </p:sp>
      <p:sp>
        <p:nvSpPr>
          <p:cNvPr id="3" name="矩形 2"/>
          <p:cNvSpPr/>
          <p:nvPr/>
        </p:nvSpPr>
        <p:spPr>
          <a:xfrm>
            <a:off x="335496" y="293126"/>
            <a:ext cx="8425045" cy="1532727"/>
          </a:xfrm>
          <a:prstGeom prst="rect">
            <a:avLst/>
          </a:prstGeom>
        </p:spPr>
        <p:txBody>
          <a:bodyPr wrap="square">
            <a:spAutoFit/>
          </a:bodyPr>
          <a:lstStyle/>
          <a:p>
            <a:pPr>
              <a:lnSpc>
                <a:spcPct val="130000"/>
              </a:lnSpc>
              <a:spcBef>
                <a:spcPts val="1000"/>
              </a:spcBef>
            </a:pPr>
            <a:r>
              <a:rPr lang="zh-CN" altLang="en-US" sz="2400" b="1" dirty="0">
                <a:solidFill>
                  <a:srgbClr val="FF0000"/>
                </a:solidFill>
                <a:latin typeface="Tahoma" pitchFamily="34" charset="0"/>
                <a:ea typeface="宋体" pitchFamily="2" charset="-122"/>
              </a:rPr>
              <a:t>绝热近似</a:t>
            </a:r>
            <a:r>
              <a:rPr lang="zh-CN" altLang="en-US" sz="2400" b="1" dirty="0">
                <a:latin typeface="Tahoma" pitchFamily="34" charset="0"/>
                <a:ea typeface="宋体" pitchFamily="2" charset="-122"/>
              </a:rPr>
              <a:t>忽略了晶格振动，而晶格振动可以用声子来描述。所以在低温下，绝热近似基本合理；温度升高时，可以引入声子与电子的相互作用来补偿绝热近似带来的偏差。</a:t>
            </a:r>
          </a:p>
        </p:txBody>
      </p:sp>
      <p:sp>
        <p:nvSpPr>
          <p:cNvPr id="4" name="Text Box 9"/>
          <p:cNvSpPr txBox="1">
            <a:spLocks noChangeArrowheads="1"/>
          </p:cNvSpPr>
          <p:nvPr/>
        </p:nvSpPr>
        <p:spPr bwMode="auto">
          <a:xfrm>
            <a:off x="335495" y="1916113"/>
            <a:ext cx="8425045" cy="2492990"/>
          </a:xfrm>
          <a:prstGeom prst="rect">
            <a:avLst/>
          </a:prstGeom>
          <a:noFill/>
          <a:ln w="9525">
            <a:noFill/>
            <a:miter lim="800000"/>
            <a:headEnd/>
            <a:tailEnd/>
          </a:ln>
          <a:effectLst/>
        </p:spPr>
        <p:txBody>
          <a:bodyPr wrap="square">
            <a:spAutoFit/>
          </a:bodyPr>
          <a:lstStyle/>
          <a:p>
            <a:pPr>
              <a:lnSpc>
                <a:spcPct val="130000"/>
              </a:lnSpc>
            </a:pPr>
            <a:r>
              <a:rPr lang="zh-CN" altLang="en-US" sz="2400" b="1" dirty="0">
                <a:solidFill>
                  <a:srgbClr val="FF0000"/>
                </a:solidFill>
                <a:ea typeface="宋体" pitchFamily="2" charset="-122"/>
              </a:rPr>
              <a:t>单电子近似</a:t>
            </a:r>
            <a:r>
              <a:rPr lang="zh-CN" altLang="en-US" sz="2400" b="1" dirty="0">
                <a:ea typeface="宋体" pitchFamily="2" charset="-122"/>
              </a:rPr>
              <a:t>理论实际上是忽略了晶体中电子之间的部分相互作用，因此，能带论只适用于电子之间弱相互作用的材料体系。对于一些电子间相互作用强的材料体系，如过渡金属氧化物等，单电子近似不成立，能带论的一些结论有可能不再正确，出现了一些新的物理效应，如超导、磁性等。</a:t>
            </a:r>
          </a:p>
        </p:txBody>
      </p:sp>
      <p:sp>
        <p:nvSpPr>
          <p:cNvPr id="5" name="Text Box 9"/>
          <p:cNvSpPr txBox="1">
            <a:spLocks noChangeArrowheads="1"/>
          </p:cNvSpPr>
          <p:nvPr/>
        </p:nvSpPr>
        <p:spPr bwMode="auto">
          <a:xfrm>
            <a:off x="335494" y="4517852"/>
            <a:ext cx="8425045" cy="1532727"/>
          </a:xfrm>
          <a:prstGeom prst="rect">
            <a:avLst/>
          </a:prstGeom>
          <a:noFill/>
          <a:ln w="9525">
            <a:noFill/>
            <a:miter lim="800000"/>
            <a:headEnd/>
            <a:tailEnd/>
          </a:ln>
          <a:effectLst/>
        </p:spPr>
        <p:txBody>
          <a:bodyPr wrap="square">
            <a:spAutoFit/>
          </a:bodyPr>
          <a:lstStyle/>
          <a:p>
            <a:pPr>
              <a:lnSpc>
                <a:spcPct val="130000"/>
              </a:lnSpc>
            </a:pPr>
            <a:r>
              <a:rPr lang="zh-CN" altLang="en-US" sz="2400" b="1" dirty="0">
                <a:solidFill>
                  <a:srgbClr val="FF0000"/>
                </a:solidFill>
                <a:ea typeface="宋体" pitchFamily="2" charset="-122"/>
              </a:rPr>
              <a:t>周期场近似</a:t>
            </a:r>
            <a:r>
              <a:rPr lang="zh-CN" altLang="en-US" sz="2400" b="1" dirty="0">
                <a:ea typeface="宋体" pitchFamily="2" charset="-122"/>
              </a:rPr>
              <a:t>是建立在晶格周期性的基础上的，一旦晶体的周期性被破坏，如存在缺陷，那么能带结构也将随着发生变化。如点缺陷会造成禁带中的电子能级。具体的分析见下节。</a:t>
            </a:r>
          </a:p>
        </p:txBody>
      </p:sp>
    </p:spTree>
    <p:extLst>
      <p:ext uri="{BB962C8B-B14F-4D97-AF65-F5344CB8AC3E}">
        <p14:creationId xmlns:p14="http://schemas.microsoft.com/office/powerpoint/2010/main" val="3026294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40</a:t>
            </a:fld>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527977668"/>
              </p:ext>
            </p:extLst>
          </p:nvPr>
        </p:nvGraphicFramePr>
        <p:xfrm>
          <a:off x="2949319" y="3293197"/>
          <a:ext cx="390525" cy="520700"/>
        </p:xfrm>
        <a:graphic>
          <a:graphicData uri="http://schemas.openxmlformats.org/presentationml/2006/ole">
            <mc:AlternateContent xmlns:mc="http://schemas.openxmlformats.org/markup-compatibility/2006">
              <mc:Choice xmlns:v="urn:schemas-microsoft-com:vml" Requires="v">
                <p:oleObj name="Equation" r:id="rId2" imgW="190417" imgH="253890" progId="Equation.DSMT4">
                  <p:embed/>
                </p:oleObj>
              </mc:Choice>
              <mc:Fallback>
                <p:oleObj name="Equation" r:id="rId2" imgW="190417" imgH="253890" progId="Equation.DSMT4">
                  <p:embed/>
                  <p:pic>
                    <p:nvPicPr>
                      <p:cNvPr id="59395"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9319" y="3293197"/>
                        <a:ext cx="390525" cy="520700"/>
                      </a:xfrm>
                      <a:prstGeom prst="rect">
                        <a:avLst/>
                      </a:prstGeom>
                      <a:solidFill>
                        <a:srgbClr val="FFFFFF"/>
                      </a:solidFill>
                    </p:spPr>
                  </p:pic>
                </p:oleObj>
              </mc:Fallback>
            </mc:AlternateContent>
          </a:graphicData>
        </a:graphic>
      </p:graphicFrame>
      <p:graphicFrame>
        <p:nvGraphicFramePr>
          <p:cNvPr id="5" name="对象 2"/>
          <p:cNvGraphicFramePr>
            <a:graphicFrameLocks noChangeAspect="1"/>
          </p:cNvGraphicFramePr>
          <p:nvPr>
            <p:extLst>
              <p:ext uri="{D42A27DB-BD31-4B8C-83A1-F6EECF244321}">
                <p14:modId xmlns:p14="http://schemas.microsoft.com/office/powerpoint/2010/main" val="3514798065"/>
              </p:ext>
            </p:extLst>
          </p:nvPr>
        </p:nvGraphicFramePr>
        <p:xfrm>
          <a:off x="1237994" y="3313834"/>
          <a:ext cx="285750" cy="442913"/>
        </p:xfrm>
        <a:graphic>
          <a:graphicData uri="http://schemas.openxmlformats.org/presentationml/2006/ole">
            <mc:AlternateContent xmlns:mc="http://schemas.openxmlformats.org/markup-compatibility/2006">
              <mc:Choice xmlns:v="urn:schemas-microsoft-com:vml" Requires="v">
                <p:oleObj name="Equation" r:id="rId4" imgW="139579" imgH="215713" progId="Equation.DSMT4">
                  <p:embed/>
                </p:oleObj>
              </mc:Choice>
              <mc:Fallback>
                <p:oleObj name="Equation" r:id="rId4" imgW="139579" imgH="215713" progId="Equation.DSMT4">
                  <p:embed/>
                  <p:pic>
                    <p:nvPicPr>
                      <p:cNvPr id="59396"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7994" y="3313834"/>
                        <a:ext cx="285750" cy="442913"/>
                      </a:xfrm>
                      <a:prstGeom prst="rect">
                        <a:avLst/>
                      </a:prstGeom>
                      <a:solidFill>
                        <a:srgbClr val="FFFFFF"/>
                      </a:solidFill>
                    </p:spPr>
                  </p:pic>
                </p:oleObj>
              </mc:Fallback>
            </mc:AlternateContent>
          </a:graphicData>
        </a:graphic>
      </p:graphicFrame>
      <p:sp>
        <p:nvSpPr>
          <p:cNvPr id="6" name="Text Box 5"/>
          <p:cNvSpPr txBox="1">
            <a:spLocks noChangeArrowheads="1"/>
          </p:cNvSpPr>
          <p:nvPr/>
        </p:nvSpPr>
        <p:spPr bwMode="auto">
          <a:xfrm>
            <a:off x="480756" y="3340822"/>
            <a:ext cx="8424863" cy="974725"/>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b="1" dirty="0">
                <a:latin typeface="Times New Roman" pitchFamily="18" charset="0"/>
                <a:ea typeface="宋体" pitchFamily="2" charset="-122"/>
                <a:cs typeface="Times New Roman" pitchFamily="18" charset="0"/>
              </a:rPr>
              <a:t>其中</a:t>
            </a:r>
            <a:r>
              <a:rPr kumimoji="1" lang="zh-CN" altLang="en-US" sz="2400" b="1" i="1" dirty="0">
                <a:latin typeface="Times New Roman" pitchFamily="18" charset="0"/>
                <a:ea typeface="宋体" pitchFamily="2" charset="-122"/>
                <a:cs typeface="Times New Roman" pitchFamily="18" charset="0"/>
              </a:rPr>
              <a:t>  </a:t>
            </a:r>
            <a:r>
              <a:rPr kumimoji="1" lang="en-US" altLang="zh-CN" sz="2400" b="1" i="1" dirty="0">
                <a:latin typeface="Times New Roman" pitchFamily="18" charset="0"/>
                <a:ea typeface="宋体" pitchFamily="2" charset="-122"/>
                <a:cs typeface="Times New Roman" pitchFamily="18" charset="0"/>
              </a:rPr>
              <a:t>  </a:t>
            </a:r>
            <a:r>
              <a:rPr kumimoji="1" lang="zh-CN" altLang="en-US" sz="2400" b="1" dirty="0">
                <a:latin typeface="Times New Roman" pitchFamily="18" charset="0"/>
                <a:ea typeface="宋体" pitchFamily="2" charset="-122"/>
                <a:cs typeface="Times New Roman" pitchFamily="18" charset="0"/>
              </a:rPr>
              <a:t>为波矢量，    为位移晶格矢量</a:t>
            </a:r>
            <a:endParaRPr kumimoji="1" lang="en-US" altLang="zh-CN" sz="2400" b="1" dirty="0">
              <a:latin typeface="Times New Roman" pitchFamily="18" charset="0"/>
              <a:ea typeface="宋体" pitchFamily="2" charset="-122"/>
              <a:cs typeface="Times New Roman" pitchFamily="18" charset="0"/>
            </a:endParaRPr>
          </a:p>
          <a:p>
            <a:pPr>
              <a:spcBef>
                <a:spcPts val="1200"/>
              </a:spcBef>
            </a:pPr>
            <a:r>
              <a:rPr kumimoji="1" lang="zh-CN" altLang="en-US" sz="2400" b="1" dirty="0">
                <a:latin typeface="Times New Roman" pitchFamily="18" charset="0"/>
                <a:ea typeface="宋体" pitchFamily="2" charset="-122"/>
                <a:cs typeface="Times New Roman" pitchFamily="18" charset="0"/>
              </a:rPr>
              <a:t>则</a:t>
            </a:r>
            <a:r>
              <a:rPr kumimoji="1" lang="zh-CN" altLang="en-US" sz="2400" b="1" dirty="0">
                <a:solidFill>
                  <a:srgbClr val="FF3300"/>
                </a:solidFill>
                <a:latin typeface="Times New Roman" pitchFamily="18" charset="0"/>
                <a:ea typeface="宋体" pitchFamily="2" charset="-122"/>
                <a:cs typeface="Times New Roman" pitchFamily="18" charset="0"/>
              </a:rPr>
              <a:t>晶体波函数</a:t>
            </a:r>
            <a:r>
              <a:rPr kumimoji="1" lang="zh-CN" altLang="en-US" sz="2400" b="1" dirty="0">
                <a:latin typeface="Times New Roman" pitchFamily="18" charset="0"/>
                <a:ea typeface="宋体" pitchFamily="2" charset="-122"/>
                <a:cs typeface="Times New Roman" pitchFamily="18" charset="0"/>
              </a:rPr>
              <a:t>可写为：</a:t>
            </a:r>
            <a:endParaRPr kumimoji="1" lang="en-US" altLang="zh-CN" sz="2400" b="1" dirty="0">
              <a:latin typeface="Times New Roman" pitchFamily="18" charset="0"/>
              <a:ea typeface="宋体" pitchFamily="2" charset="-122"/>
              <a:cs typeface="Times New Roman" pitchFamily="18" charset="0"/>
            </a:endParaRPr>
          </a:p>
        </p:txBody>
      </p:sp>
      <p:sp>
        <p:nvSpPr>
          <p:cNvPr id="7" name="Text Box 6"/>
          <p:cNvSpPr txBox="1">
            <a:spLocks noChangeArrowheads="1"/>
          </p:cNvSpPr>
          <p:nvPr/>
        </p:nvSpPr>
        <p:spPr bwMode="auto">
          <a:xfrm>
            <a:off x="480756" y="1196877"/>
            <a:ext cx="8064500" cy="1311275"/>
          </a:xfrm>
          <a:prstGeom prst="rect">
            <a:avLst/>
          </a:prstGeom>
          <a:noFill/>
          <a:ln w="12700" cap="sq">
            <a:noFill/>
            <a:miter lim="800000"/>
            <a:headEnd type="none" w="sm" len="sm"/>
            <a:tailEnd type="none" w="sm" len="sm"/>
          </a:ln>
          <a:effectLst/>
        </p:spPr>
        <p:txBody>
          <a:bodyPr>
            <a:spAutoFit/>
          </a:bodyPr>
          <a:lstStyle/>
          <a:p>
            <a:pPr>
              <a:lnSpc>
                <a:spcPct val="110000"/>
              </a:lnSpc>
              <a:spcBef>
                <a:spcPct val="50000"/>
              </a:spcBef>
            </a:pPr>
            <a:r>
              <a:rPr kumimoji="1" lang="zh-CN" altLang="en-US" sz="2400" b="1">
                <a:latin typeface="Times New Roman" pitchFamily="18" charset="0"/>
                <a:ea typeface="宋体" pitchFamily="2" charset="-122"/>
              </a:rPr>
              <a:t>布洛赫定理是一个被严格证明的理论结果，它在单电子近似理论基础上进一步指出：当势场具有晶格周期性时，波动方程的解（波函数）具有如下性质：</a:t>
            </a:r>
          </a:p>
        </p:txBody>
      </p:sp>
      <p:sp>
        <p:nvSpPr>
          <p:cNvPr id="8" name="Text Box 9"/>
          <p:cNvSpPr txBox="1">
            <a:spLocks noChangeArrowheads="1"/>
          </p:cNvSpPr>
          <p:nvPr/>
        </p:nvSpPr>
        <p:spPr bwMode="auto">
          <a:xfrm>
            <a:off x="3890706" y="4486895"/>
            <a:ext cx="8382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b="1">
                <a:latin typeface="Times New Roman" pitchFamily="18" charset="0"/>
                <a:ea typeface="宋体" pitchFamily="2" charset="-122"/>
              </a:rPr>
              <a:t>其中</a:t>
            </a:r>
          </a:p>
        </p:txBody>
      </p:sp>
      <p:sp>
        <p:nvSpPr>
          <p:cNvPr id="10" name="Rectangle 13"/>
          <p:cNvSpPr>
            <a:spLocks noChangeArrowheads="1"/>
          </p:cNvSpPr>
          <p:nvPr/>
        </p:nvSpPr>
        <p:spPr bwMode="auto">
          <a:xfrm>
            <a:off x="480756" y="318986"/>
            <a:ext cx="2347117" cy="523220"/>
          </a:xfrm>
          <a:prstGeom prst="rect">
            <a:avLst/>
          </a:prstGeom>
          <a:noFill/>
          <a:ln w="9525">
            <a:noFill/>
            <a:miter lim="800000"/>
            <a:headEnd/>
            <a:tailEnd/>
          </a:ln>
          <a:effectLst/>
        </p:spPr>
        <p:txBody>
          <a:bodyPr wrap="none">
            <a:spAutoFit/>
          </a:bodyPr>
          <a:lstStyle/>
          <a:p>
            <a:pPr>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3. </a:t>
            </a:r>
            <a:r>
              <a:rPr kumimoji="1" lang="zh-CN" altLang="en-US" sz="2800" b="1" dirty="0">
                <a:solidFill>
                  <a:srgbClr val="D96227"/>
                </a:solidFill>
                <a:latin typeface="Times New Roman" pitchFamily="18" charset="0"/>
                <a:ea typeface="宋体" pitchFamily="2" charset="-122"/>
                <a:cs typeface="Times New Roman" pitchFamily="18" charset="0"/>
              </a:rPr>
              <a:t>布洛赫定理</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graphicFrame>
        <p:nvGraphicFramePr>
          <p:cNvPr id="11" name="对象 1"/>
          <p:cNvGraphicFramePr>
            <a:graphicFrameLocks noChangeAspect="1"/>
          </p:cNvGraphicFramePr>
          <p:nvPr>
            <p:extLst>
              <p:ext uri="{D42A27DB-BD31-4B8C-83A1-F6EECF244321}">
                <p14:modId xmlns:p14="http://schemas.microsoft.com/office/powerpoint/2010/main" val="2516134133"/>
              </p:ext>
            </p:extLst>
          </p:nvPr>
        </p:nvGraphicFramePr>
        <p:xfrm>
          <a:off x="3069968" y="2663727"/>
          <a:ext cx="2886075" cy="623888"/>
        </p:xfrm>
        <a:graphic>
          <a:graphicData uri="http://schemas.openxmlformats.org/presentationml/2006/ole">
            <mc:AlternateContent xmlns:mc="http://schemas.openxmlformats.org/markup-compatibility/2006">
              <mc:Choice xmlns:v="urn:schemas-microsoft-com:vml" Requires="v">
                <p:oleObj name="Equation" r:id="rId6" imgW="1409088" imgH="304668" progId="Equation.DSMT4">
                  <p:embed/>
                </p:oleObj>
              </mc:Choice>
              <mc:Fallback>
                <p:oleObj name="Equation" r:id="rId6" imgW="1409088" imgH="304668" progId="Equation.DSMT4">
                  <p:embed/>
                  <p:pic>
                    <p:nvPicPr>
                      <p:cNvPr id="59403" name="对象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9968" y="2663727"/>
                        <a:ext cx="2886075" cy="623888"/>
                      </a:xfrm>
                      <a:prstGeom prst="rect">
                        <a:avLst/>
                      </a:prstGeom>
                      <a:solidFill>
                        <a:srgbClr val="FFFFFF"/>
                      </a:solidFill>
                    </p:spPr>
                  </p:pic>
                </p:oleObj>
              </mc:Fallback>
            </mc:AlternateContent>
          </a:graphicData>
        </a:graphic>
      </p:graphicFrame>
      <p:graphicFrame>
        <p:nvGraphicFramePr>
          <p:cNvPr id="12" name="对象 4"/>
          <p:cNvGraphicFramePr>
            <a:graphicFrameLocks noChangeAspect="1"/>
          </p:cNvGraphicFramePr>
          <p:nvPr>
            <p:extLst>
              <p:ext uri="{D42A27DB-BD31-4B8C-83A1-F6EECF244321}">
                <p14:modId xmlns:p14="http://schemas.microsoft.com/office/powerpoint/2010/main" val="3475209635"/>
              </p:ext>
            </p:extLst>
          </p:nvPr>
        </p:nvGraphicFramePr>
        <p:xfrm>
          <a:off x="1503106" y="4450382"/>
          <a:ext cx="2001838" cy="492125"/>
        </p:xfrm>
        <a:graphic>
          <a:graphicData uri="http://schemas.openxmlformats.org/presentationml/2006/ole">
            <mc:AlternateContent xmlns:mc="http://schemas.openxmlformats.org/markup-compatibility/2006">
              <mc:Choice xmlns:v="urn:schemas-microsoft-com:vml" Requires="v">
                <p:oleObj name="Equation" r:id="rId8" imgW="977900" imgH="241300" progId="Equation.DSMT4">
                  <p:embed/>
                </p:oleObj>
              </mc:Choice>
              <mc:Fallback>
                <p:oleObj name="Equation" r:id="rId8" imgW="977900" imgH="241300" progId="Equation.DSMT4">
                  <p:embed/>
                  <p:pic>
                    <p:nvPicPr>
                      <p:cNvPr id="59404"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3106" y="4450382"/>
                        <a:ext cx="2001838" cy="492125"/>
                      </a:xfrm>
                      <a:prstGeom prst="rect">
                        <a:avLst/>
                      </a:prstGeom>
                      <a:solidFill>
                        <a:srgbClr val="FFFFFF"/>
                      </a:solidFill>
                    </p:spPr>
                  </p:pic>
                </p:oleObj>
              </mc:Fallback>
            </mc:AlternateContent>
          </a:graphicData>
        </a:graphic>
      </p:graphicFrame>
      <p:graphicFrame>
        <p:nvGraphicFramePr>
          <p:cNvPr id="13" name="对象 5"/>
          <p:cNvGraphicFramePr>
            <a:graphicFrameLocks noChangeAspect="1"/>
          </p:cNvGraphicFramePr>
          <p:nvPr>
            <p:extLst>
              <p:ext uri="{D42A27DB-BD31-4B8C-83A1-F6EECF244321}">
                <p14:modId xmlns:p14="http://schemas.microsoft.com/office/powerpoint/2010/main" val="1356574701"/>
              </p:ext>
            </p:extLst>
          </p:nvPr>
        </p:nvGraphicFramePr>
        <p:xfrm>
          <a:off x="4719381" y="4447207"/>
          <a:ext cx="2079625" cy="517525"/>
        </p:xfrm>
        <a:graphic>
          <a:graphicData uri="http://schemas.openxmlformats.org/presentationml/2006/ole">
            <mc:AlternateContent xmlns:mc="http://schemas.openxmlformats.org/markup-compatibility/2006">
              <mc:Choice xmlns:v="urn:schemas-microsoft-com:vml" Requires="v">
                <p:oleObj name="Equation" r:id="rId10" imgW="1015559" imgH="253890" progId="Equation.DSMT4">
                  <p:embed/>
                </p:oleObj>
              </mc:Choice>
              <mc:Fallback>
                <p:oleObj name="Equation" r:id="rId10" imgW="1015559" imgH="253890" progId="Equation.DSMT4">
                  <p:embed/>
                  <p:pic>
                    <p:nvPicPr>
                      <p:cNvPr id="59405" name="对象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19381" y="4447207"/>
                        <a:ext cx="2079625" cy="517525"/>
                      </a:xfrm>
                      <a:prstGeom prst="rect">
                        <a:avLst/>
                      </a:prstGeom>
                      <a:solidFill>
                        <a:srgbClr val="FFFFFF"/>
                      </a:solidFill>
                    </p:spPr>
                  </p:pic>
                </p:oleObj>
              </mc:Fallback>
            </mc:AlternateContent>
          </a:graphicData>
        </a:graphic>
      </p:graphicFrame>
      <p:sp>
        <p:nvSpPr>
          <p:cNvPr id="15" name="Text Box 7"/>
          <p:cNvSpPr txBox="1">
            <a:spLocks noChangeArrowheads="1"/>
          </p:cNvSpPr>
          <p:nvPr/>
        </p:nvSpPr>
        <p:spPr bwMode="auto">
          <a:xfrm>
            <a:off x="2949319" y="5320700"/>
            <a:ext cx="2339361" cy="461665"/>
          </a:xfrm>
          <a:prstGeom prst="rect">
            <a:avLst/>
          </a:prstGeom>
          <a:noFill/>
          <a:ln w="76200" cap="sq" cmpd="tri">
            <a:solidFill>
              <a:srgbClr val="FF0000"/>
            </a:solidFill>
            <a:miter lim="800000"/>
            <a:headEnd/>
            <a:tailEnd/>
          </a:ln>
          <a:effectLst/>
        </p:spPr>
        <p:txBody>
          <a:bodyPr wrap="square">
            <a:spAutoFit/>
          </a:bodyPr>
          <a:lstStyle/>
          <a:p>
            <a:pPr lvl="0" algn="ctr" defTabSz="914400" eaLnBrk="0" fontAlgn="base" hangingPunct="0">
              <a:spcBef>
                <a:spcPct val="50000"/>
              </a:spcBef>
              <a:spcAft>
                <a:spcPct val="0"/>
              </a:spcAft>
            </a:pPr>
            <a:r>
              <a:rPr kumimoji="1" lang="zh-CN" altLang="en-US" sz="2400" b="1" dirty="0">
                <a:latin typeface="Times New Roman" pitchFamily="18" charset="0"/>
                <a:ea typeface="宋体" pitchFamily="2" charset="-122"/>
              </a:rPr>
              <a:t>波矢的含义</a:t>
            </a:r>
            <a:r>
              <a:rPr kumimoji="1" lang="en-US" altLang="zh-CN" sz="2400" b="1" i="1" dirty="0">
                <a:latin typeface="Times New Roman" pitchFamily="18" charset="0"/>
                <a:ea typeface="宋体"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a:t>
            </a:r>
          </a:p>
        </p:txBody>
      </p:sp>
    </p:spTree>
    <p:extLst>
      <p:ext uri="{BB962C8B-B14F-4D97-AF65-F5344CB8AC3E}">
        <p14:creationId xmlns:p14="http://schemas.microsoft.com/office/powerpoint/2010/main" val="3797730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41</a:t>
            </a:fld>
            <a:endParaRPr lang="zh-CN" altLang="en-US"/>
          </a:p>
        </p:txBody>
      </p:sp>
      <p:pic>
        <p:nvPicPr>
          <p:cNvPr id="3" name="Picture 11"/>
          <p:cNvPicPr>
            <a:picLocks noChangeAspect="1" noChangeArrowheads="1"/>
          </p:cNvPicPr>
          <p:nvPr/>
        </p:nvPicPr>
        <p:blipFill>
          <a:blip r:embed="rId2" cstate="print"/>
          <a:srcRect/>
          <a:stretch>
            <a:fillRect/>
          </a:stretch>
        </p:blipFill>
        <p:spPr bwMode="auto">
          <a:xfrm>
            <a:off x="808038" y="4665716"/>
            <a:ext cx="5113338" cy="417512"/>
          </a:xfrm>
          <a:prstGeom prst="rect">
            <a:avLst/>
          </a:prstGeom>
          <a:noFill/>
          <a:ln w="9525">
            <a:noFill/>
            <a:miter lim="800000"/>
            <a:headEnd/>
            <a:tailEnd/>
          </a:ln>
        </p:spPr>
      </p:pic>
      <p:graphicFrame>
        <p:nvGraphicFramePr>
          <p:cNvPr id="4" name="Object 2"/>
          <p:cNvGraphicFramePr>
            <a:graphicFrameLocks noChangeAspect="1"/>
          </p:cNvGraphicFramePr>
          <p:nvPr>
            <p:extLst>
              <p:ext uri="{D42A27DB-BD31-4B8C-83A1-F6EECF244321}">
                <p14:modId xmlns:p14="http://schemas.microsoft.com/office/powerpoint/2010/main" val="148599677"/>
              </p:ext>
            </p:extLst>
          </p:nvPr>
        </p:nvGraphicFramePr>
        <p:xfrm>
          <a:off x="4514850" y="2895208"/>
          <a:ext cx="114300" cy="215900"/>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6041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2895208"/>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3"/>
          <p:cNvSpPr txBox="1">
            <a:spLocks noChangeArrowheads="1"/>
          </p:cNvSpPr>
          <p:nvPr/>
        </p:nvSpPr>
        <p:spPr bwMode="auto">
          <a:xfrm>
            <a:off x="3937000" y="2736458"/>
            <a:ext cx="838200" cy="4318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200" b="1">
                <a:latin typeface="Times New Roman" pitchFamily="18" charset="0"/>
                <a:ea typeface="宋体" pitchFamily="2" charset="-122"/>
              </a:rPr>
              <a:t>其中</a:t>
            </a:r>
          </a:p>
        </p:txBody>
      </p:sp>
      <p:sp>
        <p:nvSpPr>
          <p:cNvPr id="6" name="Text Box 5"/>
          <p:cNvSpPr txBox="1">
            <a:spLocks noChangeArrowheads="1"/>
          </p:cNvSpPr>
          <p:nvPr/>
        </p:nvSpPr>
        <p:spPr bwMode="auto">
          <a:xfrm>
            <a:off x="696911" y="1526341"/>
            <a:ext cx="6480175" cy="904875"/>
          </a:xfrm>
          <a:prstGeom prst="rect">
            <a:avLst/>
          </a:prstGeom>
          <a:noFill/>
          <a:ln w="12700" cap="sq">
            <a:noFill/>
            <a:miter lim="800000"/>
            <a:headEnd/>
            <a:tailEnd/>
          </a:ln>
          <a:effectLst/>
        </p:spPr>
        <p:txBody>
          <a:bodyPr>
            <a:spAutoFit/>
          </a:bodyPr>
          <a:lstStyle/>
          <a:p>
            <a:pPr>
              <a:lnSpc>
                <a:spcPct val="110000"/>
              </a:lnSpc>
              <a:spcBef>
                <a:spcPct val="50000"/>
              </a:spcBef>
            </a:pPr>
            <a:r>
              <a:rPr kumimoji="1" lang="zh-CN" altLang="en-US" sz="2400" b="1" dirty="0">
                <a:solidFill>
                  <a:srgbClr val="FF3300"/>
                </a:solidFill>
                <a:latin typeface="Times New Roman" pitchFamily="18" charset="0"/>
                <a:ea typeface="宋体" pitchFamily="2" charset="-122"/>
              </a:rPr>
              <a:t>求解本征波函数和本征值</a:t>
            </a:r>
            <a:r>
              <a:rPr kumimoji="1" lang="zh-CN" altLang="en-US" sz="2400" b="1" dirty="0">
                <a:solidFill>
                  <a:srgbClr val="FF3300"/>
                </a:solidFill>
                <a:latin typeface="Times New Roman" pitchFamily="18" charset="0"/>
                <a:ea typeface="宋体" pitchFamily="2" charset="-122"/>
                <a:sym typeface="Symbol" pitchFamily="18" charset="2"/>
              </a:rPr>
              <a:t>，</a:t>
            </a:r>
            <a:r>
              <a:rPr kumimoji="1" lang="zh-CN" altLang="en-US" sz="2400" b="1" dirty="0">
                <a:solidFill>
                  <a:srgbClr val="FF3300"/>
                </a:solidFill>
                <a:latin typeface="Times New Roman" pitchFamily="18" charset="0"/>
                <a:ea typeface="宋体" pitchFamily="2" charset="-122"/>
              </a:rPr>
              <a:t>需要引入边条件。利用周期性边界条件：</a:t>
            </a:r>
          </a:p>
        </p:txBody>
      </p:sp>
      <p:graphicFrame>
        <p:nvGraphicFramePr>
          <p:cNvPr id="7" name="Object 6"/>
          <p:cNvGraphicFramePr>
            <a:graphicFrameLocks noChangeAspect="1"/>
          </p:cNvGraphicFramePr>
          <p:nvPr>
            <p:extLst>
              <p:ext uri="{D42A27DB-BD31-4B8C-83A1-F6EECF244321}">
                <p14:modId xmlns:p14="http://schemas.microsoft.com/office/powerpoint/2010/main" val="483200094"/>
              </p:ext>
            </p:extLst>
          </p:nvPr>
        </p:nvGraphicFramePr>
        <p:xfrm>
          <a:off x="4859338" y="2757096"/>
          <a:ext cx="1676400" cy="471487"/>
        </p:xfrm>
        <a:graphic>
          <a:graphicData uri="http://schemas.openxmlformats.org/presentationml/2006/ole">
            <mc:AlternateContent xmlns:mc="http://schemas.openxmlformats.org/markup-compatibility/2006">
              <mc:Choice xmlns:v="urn:schemas-microsoft-com:vml" Requires="v">
                <p:oleObj name="Equation" r:id="rId5" imgW="812447" imgH="228501" progId="Equation.3">
                  <p:embed/>
                </p:oleObj>
              </mc:Choice>
              <mc:Fallback>
                <p:oleObj name="Equation" r:id="rId5" imgW="812447" imgH="228501" progId="Equation.3">
                  <p:embed/>
                  <p:pic>
                    <p:nvPicPr>
                      <p:cNvPr id="6042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9338" y="2757096"/>
                        <a:ext cx="1676400" cy="471487"/>
                      </a:xfrm>
                      <a:prstGeom prst="rect">
                        <a:avLst/>
                      </a:prstGeom>
                      <a:solidFill>
                        <a:srgbClr val="FFFFFF"/>
                      </a:solidFill>
                    </p:spPr>
                  </p:pic>
                </p:oleObj>
              </mc:Fallback>
            </mc:AlternateContent>
          </a:graphicData>
        </a:graphic>
      </p:graphicFrame>
      <p:sp>
        <p:nvSpPr>
          <p:cNvPr id="8" name="Text Box 7"/>
          <p:cNvSpPr txBox="1">
            <a:spLocks noChangeArrowheads="1"/>
          </p:cNvSpPr>
          <p:nvPr/>
        </p:nvSpPr>
        <p:spPr bwMode="auto">
          <a:xfrm>
            <a:off x="3937000" y="3265096"/>
            <a:ext cx="4616450" cy="828675"/>
          </a:xfrm>
          <a:prstGeom prst="rect">
            <a:avLst/>
          </a:prstGeom>
          <a:noFill/>
          <a:ln w="12700" cap="sq">
            <a:noFill/>
            <a:miter lim="800000"/>
            <a:headEnd type="none" w="sm" len="sm"/>
            <a:tailEnd type="none" w="sm" len="sm"/>
          </a:ln>
          <a:effectLst/>
        </p:spPr>
        <p:txBody>
          <a:bodyPr>
            <a:spAutoFit/>
          </a:bodyPr>
          <a:lstStyle/>
          <a:p>
            <a:pPr>
              <a:lnSpc>
                <a:spcPct val="110000"/>
              </a:lnSpc>
              <a:spcBef>
                <a:spcPct val="50000"/>
              </a:spcBef>
            </a:pPr>
            <a:r>
              <a:rPr kumimoji="1" lang="en-US" altLang="zh-CN" sz="2200" b="1" i="1">
                <a:latin typeface="Times New Roman" pitchFamily="18" charset="0"/>
                <a:ea typeface="宋体" pitchFamily="2" charset="-122"/>
                <a:cs typeface="Times New Roman" pitchFamily="18" charset="0"/>
              </a:rPr>
              <a:t>N</a:t>
            </a:r>
            <a:r>
              <a:rPr kumimoji="1" lang="en-US" altLang="zh-CN" sz="2200" b="1" i="1" baseline="-25000">
                <a:latin typeface="Times New Roman" pitchFamily="18" charset="0"/>
                <a:ea typeface="宋体" pitchFamily="2" charset="-122"/>
                <a:cs typeface="Times New Roman" pitchFamily="18" charset="0"/>
              </a:rPr>
              <a:t>1</a:t>
            </a:r>
            <a:r>
              <a:rPr kumimoji="1" lang="zh-CN" altLang="en-US" sz="2200" b="1" i="1">
                <a:latin typeface="Times New Roman" pitchFamily="18" charset="0"/>
                <a:ea typeface="宋体" pitchFamily="2" charset="-122"/>
                <a:cs typeface="Times New Roman" pitchFamily="18" charset="0"/>
              </a:rPr>
              <a:t>，</a:t>
            </a:r>
            <a:r>
              <a:rPr kumimoji="1" lang="en-US" altLang="zh-CN" sz="2200" b="1" i="1">
                <a:latin typeface="Times New Roman" pitchFamily="18" charset="0"/>
                <a:ea typeface="宋体" pitchFamily="2" charset="-122"/>
                <a:cs typeface="Times New Roman" pitchFamily="18" charset="0"/>
              </a:rPr>
              <a:t>N</a:t>
            </a:r>
            <a:r>
              <a:rPr kumimoji="1" lang="en-US" altLang="zh-CN" sz="2200" b="1" i="1" baseline="-25000">
                <a:latin typeface="Times New Roman" pitchFamily="18" charset="0"/>
                <a:ea typeface="宋体" pitchFamily="2" charset="-122"/>
                <a:cs typeface="Times New Roman" pitchFamily="18" charset="0"/>
              </a:rPr>
              <a:t>2</a:t>
            </a:r>
            <a:r>
              <a:rPr kumimoji="1" lang="zh-CN" altLang="en-US" sz="2200" b="1" i="1">
                <a:latin typeface="Times New Roman" pitchFamily="18" charset="0"/>
                <a:ea typeface="宋体" pitchFamily="2" charset="-122"/>
                <a:cs typeface="Times New Roman" pitchFamily="18" charset="0"/>
              </a:rPr>
              <a:t>，</a:t>
            </a:r>
            <a:r>
              <a:rPr kumimoji="1" lang="en-US" altLang="zh-CN" sz="2200" b="1" i="1">
                <a:latin typeface="Times New Roman" pitchFamily="18" charset="0"/>
                <a:ea typeface="宋体" pitchFamily="2" charset="-122"/>
                <a:cs typeface="Times New Roman" pitchFamily="18" charset="0"/>
              </a:rPr>
              <a:t>N</a:t>
            </a:r>
            <a:r>
              <a:rPr kumimoji="1" lang="en-US" altLang="zh-CN" sz="2200" b="1" i="1" baseline="-25000">
                <a:latin typeface="Times New Roman" pitchFamily="18" charset="0"/>
                <a:ea typeface="宋体" pitchFamily="2" charset="-122"/>
                <a:cs typeface="Times New Roman" pitchFamily="18" charset="0"/>
              </a:rPr>
              <a:t>3</a:t>
            </a:r>
            <a:r>
              <a:rPr kumimoji="1" lang="zh-CN" altLang="en-US" sz="2200" b="1">
                <a:latin typeface="Times New Roman" pitchFamily="18" charset="0"/>
                <a:ea typeface="宋体" pitchFamily="2" charset="-122"/>
                <a:cs typeface="Times New Roman" pitchFamily="18" charset="0"/>
              </a:rPr>
              <a:t>，分别是晶体沿基矢方向的原胞数，</a:t>
            </a:r>
            <a:r>
              <a:rPr kumimoji="1" lang="en-US" altLang="zh-CN" sz="2200" b="1" i="1">
                <a:latin typeface="Times New Roman" pitchFamily="18" charset="0"/>
                <a:ea typeface="宋体" pitchFamily="2" charset="-122"/>
                <a:cs typeface="Times New Roman" pitchFamily="18" charset="0"/>
              </a:rPr>
              <a:t>N</a:t>
            </a:r>
            <a:r>
              <a:rPr kumimoji="1" lang="zh-CN" altLang="en-US" sz="2200" b="1">
                <a:latin typeface="Times New Roman" pitchFamily="18" charset="0"/>
                <a:ea typeface="宋体" pitchFamily="2" charset="-122"/>
                <a:cs typeface="Times New Roman" pitchFamily="18" charset="0"/>
              </a:rPr>
              <a:t>是晶体总的原胞数</a:t>
            </a:r>
          </a:p>
        </p:txBody>
      </p:sp>
      <p:sp>
        <p:nvSpPr>
          <p:cNvPr id="10" name="Rectangle 9"/>
          <p:cNvSpPr>
            <a:spLocks noChangeArrowheads="1"/>
          </p:cNvSpPr>
          <p:nvPr/>
        </p:nvSpPr>
        <p:spPr bwMode="auto">
          <a:xfrm>
            <a:off x="3937000" y="5438769"/>
            <a:ext cx="1209675" cy="431800"/>
          </a:xfrm>
          <a:prstGeom prst="rect">
            <a:avLst/>
          </a:prstGeom>
          <a:noFill/>
          <a:ln w="12700" cap="sq">
            <a:noFill/>
            <a:miter lim="800000"/>
            <a:headEnd/>
            <a:tailEnd/>
          </a:ln>
          <a:effectLst/>
        </p:spPr>
        <p:txBody>
          <a:bodyPr wrap="none">
            <a:spAutoFit/>
          </a:bodyPr>
          <a:lstStyle/>
          <a:p>
            <a:pPr>
              <a:spcBef>
                <a:spcPct val="50000"/>
              </a:spcBef>
            </a:pPr>
            <a:r>
              <a:rPr kumimoji="1" lang="en-US" altLang="zh-CN" sz="2200" b="1" i="1">
                <a:latin typeface="Times New Roman" pitchFamily="18" charset="0"/>
                <a:ea typeface="宋体" pitchFamily="2" charset="-122"/>
              </a:rPr>
              <a:t>l</a:t>
            </a:r>
            <a:r>
              <a:rPr kumimoji="1" lang="en-US" altLang="zh-CN" sz="2200" b="1" i="1" baseline="-25000">
                <a:latin typeface="Times New Roman" pitchFamily="18" charset="0"/>
                <a:ea typeface="宋体" pitchFamily="2" charset="-122"/>
              </a:rPr>
              <a:t>1</a:t>
            </a:r>
            <a:r>
              <a:rPr kumimoji="1" lang="zh-CN" altLang="en-US" sz="2200" b="1">
                <a:latin typeface="Times New Roman" pitchFamily="18" charset="0"/>
                <a:ea typeface="宋体" pitchFamily="2" charset="-122"/>
              </a:rPr>
              <a:t>为整数</a:t>
            </a:r>
          </a:p>
        </p:txBody>
      </p:sp>
      <p:pic>
        <p:nvPicPr>
          <p:cNvPr id="11" name="Picture 10"/>
          <p:cNvPicPr>
            <a:picLocks noChangeAspect="1" noChangeArrowheads="1"/>
          </p:cNvPicPr>
          <p:nvPr/>
        </p:nvPicPr>
        <p:blipFill>
          <a:blip r:embed="rId7" cstate="print"/>
          <a:srcRect/>
          <a:stretch>
            <a:fillRect/>
          </a:stretch>
        </p:blipFill>
        <p:spPr bwMode="auto">
          <a:xfrm>
            <a:off x="808038" y="2696771"/>
            <a:ext cx="2520950" cy="1409700"/>
          </a:xfrm>
          <a:prstGeom prst="rect">
            <a:avLst/>
          </a:prstGeom>
          <a:noFill/>
          <a:ln w="9525">
            <a:noFill/>
            <a:miter lim="800000"/>
            <a:headEnd/>
            <a:tailEnd/>
          </a:ln>
        </p:spPr>
      </p:pic>
      <p:graphicFrame>
        <p:nvGraphicFramePr>
          <p:cNvPr id="12" name="对象 1"/>
          <p:cNvGraphicFramePr>
            <a:graphicFrameLocks noChangeAspect="1"/>
          </p:cNvGraphicFramePr>
          <p:nvPr>
            <p:extLst>
              <p:ext uri="{D42A27DB-BD31-4B8C-83A1-F6EECF244321}">
                <p14:modId xmlns:p14="http://schemas.microsoft.com/office/powerpoint/2010/main" val="698115302"/>
              </p:ext>
            </p:extLst>
          </p:nvPr>
        </p:nvGraphicFramePr>
        <p:xfrm>
          <a:off x="2124075" y="5399080"/>
          <a:ext cx="1455738" cy="492125"/>
        </p:xfrm>
        <a:graphic>
          <a:graphicData uri="http://schemas.openxmlformats.org/presentationml/2006/ole">
            <mc:AlternateContent xmlns:mc="http://schemas.openxmlformats.org/markup-compatibility/2006">
              <mc:Choice xmlns:v="urn:schemas-microsoft-com:vml" Requires="v">
                <p:oleObj name="Equation" r:id="rId8" imgW="710891" imgH="241195" progId="Equation.DSMT4">
                  <p:embed/>
                </p:oleObj>
              </mc:Choice>
              <mc:Fallback>
                <p:oleObj name="Equation" r:id="rId8" imgW="710891" imgH="241195" progId="Equation.DSMT4">
                  <p:embed/>
                  <p:pic>
                    <p:nvPicPr>
                      <p:cNvPr id="60428" name="对象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4075" y="5399080"/>
                        <a:ext cx="1455738" cy="492125"/>
                      </a:xfrm>
                      <a:prstGeom prst="rect">
                        <a:avLst/>
                      </a:prstGeom>
                      <a:solidFill>
                        <a:srgbClr val="FFFFFF"/>
                      </a:solidFill>
                    </p:spPr>
                  </p:pic>
                </p:oleObj>
              </mc:Fallback>
            </mc:AlternateContent>
          </a:graphicData>
        </a:graphic>
      </p:graphicFrame>
      <p:graphicFrame>
        <p:nvGraphicFramePr>
          <p:cNvPr id="13" name="对象 7"/>
          <p:cNvGraphicFramePr>
            <a:graphicFrameLocks noChangeAspect="1"/>
          </p:cNvGraphicFramePr>
          <p:nvPr>
            <p:extLst>
              <p:ext uri="{D42A27DB-BD31-4B8C-83A1-F6EECF244321}">
                <p14:modId xmlns:p14="http://schemas.microsoft.com/office/powerpoint/2010/main" val="3487075071"/>
              </p:ext>
            </p:extLst>
          </p:nvPr>
        </p:nvGraphicFramePr>
        <p:xfrm>
          <a:off x="3794124" y="639494"/>
          <a:ext cx="285750" cy="442912"/>
        </p:xfrm>
        <a:graphic>
          <a:graphicData uri="http://schemas.openxmlformats.org/presentationml/2006/ole">
            <mc:AlternateContent xmlns:mc="http://schemas.openxmlformats.org/markup-compatibility/2006">
              <mc:Choice xmlns:v="urn:schemas-microsoft-com:vml" Requires="v">
                <p:oleObj name="Equation" r:id="rId10" imgW="139579" imgH="215713" progId="Equation.DSMT4">
                  <p:embed/>
                </p:oleObj>
              </mc:Choice>
              <mc:Fallback>
                <p:oleObj name="Equation" r:id="rId10" imgW="139579" imgH="215713" progId="Equation.DSMT4">
                  <p:embed/>
                  <p:pic>
                    <p:nvPicPr>
                      <p:cNvPr id="3"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94124" y="639494"/>
                        <a:ext cx="285750" cy="442912"/>
                      </a:xfrm>
                      <a:prstGeom prst="rect">
                        <a:avLst/>
                      </a:prstGeom>
                      <a:solidFill>
                        <a:srgbClr val="FFFFFF"/>
                      </a:solidFill>
                    </p:spPr>
                  </p:pic>
                </p:oleObj>
              </mc:Fallback>
            </mc:AlternateContent>
          </a:graphicData>
        </a:graphic>
      </p:graphicFrame>
      <p:sp>
        <p:nvSpPr>
          <p:cNvPr id="14" name="Rectangle 10"/>
          <p:cNvSpPr>
            <a:spLocks noChangeArrowheads="1"/>
          </p:cNvSpPr>
          <p:nvPr/>
        </p:nvSpPr>
        <p:spPr bwMode="auto">
          <a:xfrm>
            <a:off x="564872" y="650606"/>
            <a:ext cx="5076825" cy="431800"/>
          </a:xfrm>
          <a:prstGeom prst="rect">
            <a:avLst/>
          </a:prstGeom>
          <a:noFill/>
          <a:ln w="12700" cap="sq">
            <a:noFill/>
            <a:miter lim="800000"/>
            <a:headEnd/>
            <a:tailEnd/>
          </a:ln>
          <a:effectLst/>
        </p:spPr>
        <p:txBody>
          <a:bodyPr wrap="none">
            <a:spAutoFit/>
          </a:bodyPr>
          <a:lstStyle/>
          <a:p>
            <a:pPr>
              <a:spcBef>
                <a:spcPct val="50000"/>
              </a:spcBef>
            </a:pPr>
            <a:r>
              <a:rPr kumimoji="1" lang="zh-CN" altLang="en-US" sz="2200" b="1" dirty="0">
                <a:latin typeface="Times New Roman" pitchFamily="18" charset="0"/>
                <a:ea typeface="宋体" pitchFamily="2" charset="-122"/>
              </a:rPr>
              <a:t>根据</a:t>
            </a:r>
            <a:r>
              <a:rPr kumimoji="1" lang="zh-CN" altLang="en-US" sz="2200" b="1" dirty="0">
                <a:solidFill>
                  <a:srgbClr val="FF3300"/>
                </a:solidFill>
                <a:latin typeface="Times New Roman" pitchFamily="18" charset="0"/>
                <a:ea typeface="宋体" pitchFamily="2" charset="-122"/>
              </a:rPr>
              <a:t>周期性边条件</a:t>
            </a:r>
            <a:r>
              <a:rPr kumimoji="1" lang="zh-CN" altLang="en-US" sz="2200" b="1" dirty="0">
                <a:latin typeface="Times New Roman" pitchFamily="18" charset="0"/>
                <a:ea typeface="宋体" pitchFamily="2" charset="-122"/>
              </a:rPr>
              <a:t>，波矢</a:t>
            </a:r>
            <a:r>
              <a:rPr kumimoji="1" lang="en-US" altLang="zh-CN" sz="2200" b="1" i="1" dirty="0">
                <a:latin typeface="Times New Roman" pitchFamily="18" charset="0"/>
                <a:ea typeface="宋体" pitchFamily="2" charset="-122"/>
              </a:rPr>
              <a:t>     </a:t>
            </a:r>
            <a:r>
              <a:rPr kumimoji="1" lang="zh-CN" altLang="en-US" sz="2200" b="1" dirty="0">
                <a:latin typeface="Times New Roman" pitchFamily="18" charset="0"/>
                <a:ea typeface="宋体" pitchFamily="2" charset="-122"/>
              </a:rPr>
              <a:t>取离散值：</a:t>
            </a:r>
          </a:p>
        </p:txBody>
      </p:sp>
      <p:graphicFrame>
        <p:nvGraphicFramePr>
          <p:cNvPr id="15" name="对象 6"/>
          <p:cNvGraphicFramePr>
            <a:graphicFrameLocks noChangeAspect="1"/>
          </p:cNvGraphicFramePr>
          <p:nvPr>
            <p:extLst>
              <p:ext uri="{D42A27DB-BD31-4B8C-83A1-F6EECF244321}">
                <p14:modId xmlns:p14="http://schemas.microsoft.com/office/powerpoint/2010/main" val="3720820435"/>
              </p:ext>
            </p:extLst>
          </p:nvPr>
        </p:nvGraphicFramePr>
        <p:xfrm>
          <a:off x="5522635" y="493444"/>
          <a:ext cx="3067050" cy="879475"/>
        </p:xfrm>
        <a:graphic>
          <a:graphicData uri="http://schemas.openxmlformats.org/presentationml/2006/ole">
            <mc:AlternateContent xmlns:mc="http://schemas.openxmlformats.org/markup-compatibility/2006">
              <mc:Choice xmlns:v="urn:schemas-microsoft-com:vml" Requires="v">
                <p:oleObj name="Equation" r:id="rId12" imgW="1497950" imgH="431613" progId="Equation.DSMT4">
                  <p:embed/>
                </p:oleObj>
              </mc:Choice>
              <mc:Fallback>
                <p:oleObj name="Equation" r:id="rId12" imgW="1497950" imgH="431613" progId="Equation.DSMT4">
                  <p:embed/>
                  <p:pic>
                    <p:nvPicPr>
                      <p:cNvPr id="14" name="对象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22635" y="493444"/>
                        <a:ext cx="3067050" cy="879475"/>
                      </a:xfrm>
                      <a:prstGeom prst="rect">
                        <a:avLst/>
                      </a:prstGeom>
                      <a:solidFill>
                        <a:srgbClr val="FFFFFF"/>
                      </a:solidFill>
                    </p:spPr>
                  </p:pic>
                </p:oleObj>
              </mc:Fallback>
            </mc:AlternateContent>
          </a:graphicData>
        </a:graphic>
      </p:graphicFrame>
      <p:sp>
        <p:nvSpPr>
          <p:cNvPr id="16" name="Text Box 4"/>
          <p:cNvSpPr txBox="1">
            <a:spLocks noChangeArrowheads="1"/>
          </p:cNvSpPr>
          <p:nvPr/>
        </p:nvSpPr>
        <p:spPr bwMode="auto">
          <a:xfrm>
            <a:off x="1057275" y="6054662"/>
            <a:ext cx="8382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b="1">
                <a:latin typeface="Times New Roman" pitchFamily="18" charset="0"/>
                <a:ea typeface="宋体" pitchFamily="2" charset="-122"/>
              </a:rPr>
              <a:t>同理</a:t>
            </a:r>
          </a:p>
        </p:txBody>
      </p:sp>
      <p:graphicFrame>
        <p:nvGraphicFramePr>
          <p:cNvPr id="17" name="对象 1"/>
          <p:cNvGraphicFramePr>
            <a:graphicFrameLocks noChangeAspect="1"/>
          </p:cNvGraphicFramePr>
          <p:nvPr>
            <p:extLst>
              <p:ext uri="{D42A27DB-BD31-4B8C-83A1-F6EECF244321}">
                <p14:modId xmlns:p14="http://schemas.microsoft.com/office/powerpoint/2010/main" val="1948211304"/>
              </p:ext>
            </p:extLst>
          </p:nvPr>
        </p:nvGraphicFramePr>
        <p:xfrm>
          <a:off x="3956050" y="6054662"/>
          <a:ext cx="1535112" cy="492125"/>
        </p:xfrm>
        <a:graphic>
          <a:graphicData uri="http://schemas.openxmlformats.org/presentationml/2006/ole">
            <mc:AlternateContent xmlns:mc="http://schemas.openxmlformats.org/markup-compatibility/2006">
              <mc:Choice xmlns:v="urn:schemas-microsoft-com:vml" Requires="v">
                <p:oleObj name="Equation" r:id="rId14" imgW="748975" imgH="241195" progId="Equation.DSMT4">
                  <p:embed/>
                </p:oleObj>
              </mc:Choice>
              <mc:Fallback>
                <p:oleObj name="Equation" r:id="rId14" imgW="748975" imgH="241195" progId="Equation.DSMT4">
                  <p:embed/>
                  <p:pic>
                    <p:nvPicPr>
                      <p:cNvPr id="13" name="对象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56050" y="6054662"/>
                        <a:ext cx="1535112" cy="492125"/>
                      </a:xfrm>
                      <a:prstGeom prst="rect">
                        <a:avLst/>
                      </a:prstGeom>
                      <a:solidFill>
                        <a:srgbClr val="FFFFFF"/>
                      </a:solidFill>
                    </p:spPr>
                  </p:pic>
                </p:oleObj>
              </mc:Fallback>
            </mc:AlternateContent>
          </a:graphicData>
        </a:graphic>
      </p:graphicFrame>
      <p:graphicFrame>
        <p:nvGraphicFramePr>
          <p:cNvPr id="18" name="对象 2"/>
          <p:cNvGraphicFramePr>
            <a:graphicFrameLocks noChangeAspect="1"/>
          </p:cNvGraphicFramePr>
          <p:nvPr>
            <p:extLst>
              <p:ext uri="{D42A27DB-BD31-4B8C-83A1-F6EECF244321}">
                <p14:modId xmlns:p14="http://schemas.microsoft.com/office/powerpoint/2010/main" val="3010678026"/>
              </p:ext>
            </p:extLst>
          </p:nvPr>
        </p:nvGraphicFramePr>
        <p:xfrm>
          <a:off x="2124075" y="6051487"/>
          <a:ext cx="1560512" cy="492125"/>
        </p:xfrm>
        <a:graphic>
          <a:graphicData uri="http://schemas.openxmlformats.org/presentationml/2006/ole">
            <mc:AlternateContent xmlns:mc="http://schemas.openxmlformats.org/markup-compatibility/2006">
              <mc:Choice xmlns:v="urn:schemas-microsoft-com:vml" Requires="v">
                <p:oleObj name="Equation" r:id="rId16" imgW="761669" imgH="241195" progId="Equation.DSMT4">
                  <p:embed/>
                </p:oleObj>
              </mc:Choice>
              <mc:Fallback>
                <p:oleObj name="Equation" r:id="rId16" imgW="761669" imgH="241195" progId="Equation.DSMT4">
                  <p:embed/>
                  <p:pic>
                    <p:nvPicPr>
                      <p:cNvPr id="14" name="对象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24075" y="6051487"/>
                        <a:ext cx="1560512" cy="492125"/>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40534241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42</a:t>
            </a:fld>
            <a:endParaRPr lang="zh-CN" altLang="en-US"/>
          </a:p>
        </p:txBody>
      </p:sp>
      <p:graphicFrame>
        <p:nvGraphicFramePr>
          <p:cNvPr id="3" name="对象 9"/>
          <p:cNvGraphicFramePr>
            <a:graphicFrameLocks noChangeAspect="1"/>
          </p:cNvGraphicFramePr>
          <p:nvPr>
            <p:extLst>
              <p:ext uri="{D42A27DB-BD31-4B8C-83A1-F6EECF244321}">
                <p14:modId xmlns:p14="http://schemas.microsoft.com/office/powerpoint/2010/main" val="882532896"/>
              </p:ext>
            </p:extLst>
          </p:nvPr>
        </p:nvGraphicFramePr>
        <p:xfrm>
          <a:off x="1489075" y="3769696"/>
          <a:ext cx="285750" cy="439737"/>
        </p:xfrm>
        <a:graphic>
          <a:graphicData uri="http://schemas.openxmlformats.org/presentationml/2006/ole">
            <mc:AlternateContent xmlns:mc="http://schemas.openxmlformats.org/markup-compatibility/2006">
              <mc:Choice xmlns:v="urn:schemas-microsoft-com:vml" Requires="v">
                <p:oleObj name="Equation" r:id="rId2" imgW="139579" imgH="215713" progId="Equation.DSMT4">
                  <p:embed/>
                </p:oleObj>
              </mc:Choice>
              <mc:Fallback>
                <p:oleObj name="Equation" r:id="rId2" imgW="139579" imgH="215713" progId="Equation.DSMT4">
                  <p:embed/>
                  <p:pic>
                    <p:nvPicPr>
                      <p:cNvPr id="61442"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9075" y="3769696"/>
                        <a:ext cx="285750" cy="439737"/>
                      </a:xfrm>
                      <a:prstGeom prst="rect">
                        <a:avLst/>
                      </a:prstGeom>
                      <a:solidFill>
                        <a:srgbClr val="FFFFFF"/>
                      </a:solidFill>
                    </p:spPr>
                  </p:pic>
                </p:oleObj>
              </mc:Fallback>
            </mc:AlternateContent>
          </a:graphicData>
        </a:graphic>
      </p:graphicFrame>
      <p:graphicFrame>
        <p:nvGraphicFramePr>
          <p:cNvPr id="4" name="对象 5"/>
          <p:cNvGraphicFramePr>
            <a:graphicFrameLocks noChangeAspect="1"/>
          </p:cNvGraphicFramePr>
          <p:nvPr>
            <p:extLst>
              <p:ext uri="{D42A27DB-BD31-4B8C-83A1-F6EECF244321}">
                <p14:modId xmlns:p14="http://schemas.microsoft.com/office/powerpoint/2010/main" val="2373640004"/>
              </p:ext>
            </p:extLst>
          </p:nvPr>
        </p:nvGraphicFramePr>
        <p:xfrm>
          <a:off x="4276725" y="2051662"/>
          <a:ext cx="1663700" cy="542925"/>
        </p:xfrm>
        <a:graphic>
          <a:graphicData uri="http://schemas.openxmlformats.org/presentationml/2006/ole">
            <mc:AlternateContent xmlns:mc="http://schemas.openxmlformats.org/markup-compatibility/2006">
              <mc:Choice xmlns:v="urn:schemas-microsoft-com:vml" Requires="v">
                <p:oleObj name="Equation" r:id="rId4" imgW="812447" imgH="266584" progId="Equation.DSMT4">
                  <p:embed/>
                </p:oleObj>
              </mc:Choice>
              <mc:Fallback>
                <p:oleObj name="Equation" r:id="rId4" imgW="812447" imgH="266584" progId="Equation.DSMT4">
                  <p:embed/>
                  <p:pic>
                    <p:nvPicPr>
                      <p:cNvPr id="61443"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6725" y="2051662"/>
                        <a:ext cx="1663700" cy="542925"/>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349210213"/>
              </p:ext>
            </p:extLst>
          </p:nvPr>
        </p:nvGraphicFramePr>
        <p:xfrm>
          <a:off x="1514475" y="1554774"/>
          <a:ext cx="1014413" cy="517525"/>
        </p:xfrm>
        <a:graphic>
          <a:graphicData uri="http://schemas.openxmlformats.org/presentationml/2006/ole">
            <mc:AlternateContent xmlns:mc="http://schemas.openxmlformats.org/markup-compatibility/2006">
              <mc:Choice xmlns:v="urn:schemas-microsoft-com:vml" Requires="v">
                <p:oleObj name="Equation" r:id="rId6" imgW="494870" imgH="253780" progId="Equation.DSMT4">
                  <p:embed/>
                </p:oleObj>
              </mc:Choice>
              <mc:Fallback>
                <p:oleObj name="Equation" r:id="rId6" imgW="494870" imgH="253780" progId="Equation.DSMT4">
                  <p:embed/>
                  <p:pic>
                    <p:nvPicPr>
                      <p:cNvPr id="61444"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4475" y="1554774"/>
                        <a:ext cx="1014413" cy="517525"/>
                      </a:xfrm>
                      <a:prstGeom prst="rect">
                        <a:avLst/>
                      </a:prstGeom>
                      <a:solidFill>
                        <a:srgbClr val="FFFFFF"/>
                      </a:solidFill>
                    </p:spPr>
                  </p:pic>
                </p:oleObj>
              </mc:Fallback>
            </mc:AlternateContent>
          </a:graphicData>
        </a:graphic>
      </p:graphicFrame>
      <p:sp>
        <p:nvSpPr>
          <p:cNvPr id="7" name="Text Box 5"/>
          <p:cNvSpPr txBox="1">
            <a:spLocks noChangeArrowheads="1"/>
          </p:cNvSpPr>
          <p:nvPr/>
        </p:nvSpPr>
        <p:spPr bwMode="auto">
          <a:xfrm>
            <a:off x="755650" y="390785"/>
            <a:ext cx="3419475" cy="979488"/>
          </a:xfrm>
          <a:prstGeom prst="rect">
            <a:avLst/>
          </a:prstGeom>
          <a:noFill/>
          <a:ln w="12700" cap="sq">
            <a:noFill/>
            <a:miter lim="800000"/>
            <a:headEnd/>
            <a:tailEnd/>
          </a:ln>
          <a:effectLst/>
        </p:spPr>
        <p:txBody>
          <a:bodyPr>
            <a:spAutoFit/>
          </a:bodyPr>
          <a:lstStyle/>
          <a:p>
            <a:pPr>
              <a:lnSpc>
                <a:spcPct val="120000"/>
              </a:lnSpc>
              <a:spcBef>
                <a:spcPct val="50000"/>
              </a:spcBef>
            </a:pPr>
            <a:r>
              <a:rPr kumimoji="1" lang="zh-CN" altLang="en-US" sz="2400" b="1">
                <a:latin typeface="Times New Roman" pitchFamily="18" charset="0"/>
                <a:ea typeface="宋体" pitchFamily="2" charset="-122"/>
              </a:rPr>
              <a:t>在一个新的坐标（倒格子）空间引入矢量：</a:t>
            </a:r>
          </a:p>
        </p:txBody>
      </p:sp>
      <p:sp>
        <p:nvSpPr>
          <p:cNvPr id="8" name="Text Box 6"/>
          <p:cNvSpPr txBox="1">
            <a:spLocks noChangeArrowheads="1"/>
          </p:cNvSpPr>
          <p:nvPr/>
        </p:nvSpPr>
        <p:spPr bwMode="auto">
          <a:xfrm>
            <a:off x="755650" y="1537312"/>
            <a:ext cx="7140575" cy="1001712"/>
          </a:xfrm>
          <a:prstGeom prst="rect">
            <a:avLst/>
          </a:prstGeom>
          <a:noFill/>
          <a:ln w="12700" cap="sq">
            <a:noFill/>
            <a:miter lim="800000"/>
            <a:headEnd type="none" w="sm" len="sm"/>
            <a:tailEnd type="none" w="sm" len="sm"/>
          </a:ln>
          <a:effectLst/>
        </p:spPr>
        <p:txBody>
          <a:bodyPr>
            <a:spAutoFit/>
          </a:bodyPr>
          <a:lstStyle/>
          <a:p>
            <a:pPr>
              <a:lnSpc>
                <a:spcPct val="130000"/>
              </a:lnSpc>
              <a:spcBef>
                <a:spcPct val="50000"/>
              </a:spcBef>
            </a:pPr>
            <a:r>
              <a:rPr kumimoji="1" lang="zh-CN" altLang="en-US" sz="2400" b="1" dirty="0">
                <a:latin typeface="Times New Roman" pitchFamily="18" charset="0"/>
                <a:ea typeface="宋体" pitchFamily="2" charset="-122"/>
              </a:rPr>
              <a:t>其中</a:t>
            </a:r>
            <a:r>
              <a:rPr kumimoji="1" lang="en-US" altLang="zh-CN" sz="2400" b="1" i="1" dirty="0">
                <a:latin typeface="Times New Roman" pitchFamily="18" charset="0"/>
                <a:ea typeface="宋体" pitchFamily="2" charset="-122"/>
              </a:rPr>
              <a:t>              </a:t>
            </a:r>
            <a:r>
              <a:rPr kumimoji="1" lang="zh-CN" altLang="en-US" sz="2400" b="1" dirty="0">
                <a:latin typeface="Times New Roman" pitchFamily="18" charset="0"/>
                <a:ea typeface="宋体" pitchFamily="2" charset="-122"/>
              </a:rPr>
              <a:t>为倒格子空间的基矢量，称为倒格子基矢量，或倒格矢，满足：</a:t>
            </a:r>
          </a:p>
        </p:txBody>
      </p:sp>
      <p:sp>
        <p:nvSpPr>
          <p:cNvPr id="9" name="Text Box 7"/>
          <p:cNvSpPr txBox="1">
            <a:spLocks noChangeArrowheads="1"/>
          </p:cNvSpPr>
          <p:nvPr/>
        </p:nvSpPr>
        <p:spPr bwMode="auto">
          <a:xfrm>
            <a:off x="755650" y="2834417"/>
            <a:ext cx="1447800" cy="457200"/>
          </a:xfrm>
          <a:prstGeom prst="rect">
            <a:avLst/>
          </a:prstGeom>
          <a:noFill/>
          <a:ln w="12700" cap="sq">
            <a:noFill/>
            <a:miter lim="800000"/>
            <a:headEnd/>
            <a:tailEnd/>
          </a:ln>
          <a:effectLst/>
        </p:spPr>
        <p:txBody>
          <a:bodyPr>
            <a:spAutoFit/>
          </a:bodyPr>
          <a:lstStyle/>
          <a:p>
            <a:pPr>
              <a:spcBef>
                <a:spcPct val="50000"/>
              </a:spcBef>
            </a:pPr>
            <a:r>
              <a:rPr kumimoji="1" lang="zh-CN" altLang="en-US" sz="2400" b="1">
                <a:latin typeface="Times New Roman" pitchFamily="18" charset="0"/>
                <a:ea typeface="宋体" pitchFamily="2" charset="-122"/>
              </a:rPr>
              <a:t>可证明</a:t>
            </a:r>
          </a:p>
        </p:txBody>
      </p:sp>
      <p:sp>
        <p:nvSpPr>
          <p:cNvPr id="10" name="Text Box 10"/>
          <p:cNvSpPr txBox="1">
            <a:spLocks noChangeArrowheads="1"/>
          </p:cNvSpPr>
          <p:nvPr/>
        </p:nvSpPr>
        <p:spPr bwMode="auto">
          <a:xfrm>
            <a:off x="4122738" y="2834417"/>
            <a:ext cx="8382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b="1">
                <a:latin typeface="Times New Roman" pitchFamily="18" charset="0"/>
                <a:ea typeface="宋体" pitchFamily="2" charset="-122"/>
              </a:rPr>
              <a:t>其中</a:t>
            </a:r>
          </a:p>
        </p:txBody>
      </p:sp>
      <p:sp>
        <p:nvSpPr>
          <p:cNvPr id="11" name="Text Box 11"/>
          <p:cNvSpPr txBox="1">
            <a:spLocks noChangeArrowheads="1"/>
          </p:cNvSpPr>
          <p:nvPr/>
        </p:nvSpPr>
        <p:spPr bwMode="auto">
          <a:xfrm>
            <a:off x="755650" y="3795096"/>
            <a:ext cx="4032250" cy="457200"/>
          </a:xfrm>
          <a:prstGeom prst="rect">
            <a:avLst/>
          </a:prstGeom>
          <a:noFill/>
          <a:ln w="12700" cap="sq">
            <a:noFill/>
            <a:miter lim="800000"/>
            <a:headEnd/>
            <a:tailEnd/>
          </a:ln>
          <a:effectLst/>
        </p:spPr>
        <p:txBody>
          <a:bodyPr>
            <a:spAutoFit/>
          </a:bodyPr>
          <a:lstStyle/>
          <a:p>
            <a:pPr>
              <a:spcBef>
                <a:spcPct val="50000"/>
              </a:spcBef>
            </a:pPr>
            <a:r>
              <a:rPr kumimoji="1" lang="zh-CN" altLang="en-US" sz="2400" b="1">
                <a:latin typeface="Times New Roman" pitchFamily="18" charset="0"/>
                <a:ea typeface="宋体" pitchFamily="2" charset="-122"/>
              </a:rPr>
              <a:t>其中</a:t>
            </a:r>
            <a:r>
              <a:rPr kumimoji="1" lang="en-US" altLang="zh-CN" sz="2400" b="1" i="1">
                <a:latin typeface="Times New Roman" pitchFamily="18" charset="0"/>
                <a:ea typeface="宋体" pitchFamily="2" charset="-122"/>
              </a:rPr>
              <a:t>    </a:t>
            </a:r>
            <a:r>
              <a:rPr kumimoji="1" lang="zh-CN" altLang="en-US" sz="2400" b="1">
                <a:latin typeface="Times New Roman" pitchFamily="18" charset="0"/>
                <a:ea typeface="宋体" pitchFamily="2" charset="-122"/>
              </a:rPr>
              <a:t>改变倒格矢的整数倍</a:t>
            </a:r>
          </a:p>
        </p:txBody>
      </p:sp>
      <p:sp>
        <p:nvSpPr>
          <p:cNvPr id="12" name="Text Box 12"/>
          <p:cNvSpPr txBox="1">
            <a:spLocks noChangeArrowheads="1"/>
          </p:cNvSpPr>
          <p:nvPr/>
        </p:nvSpPr>
        <p:spPr bwMode="auto">
          <a:xfrm>
            <a:off x="755650" y="4530705"/>
            <a:ext cx="7704138" cy="461963"/>
          </a:xfrm>
          <a:prstGeom prst="rect">
            <a:avLst/>
          </a:prstGeom>
          <a:noFill/>
          <a:ln w="12700" cap="sq">
            <a:noFill/>
            <a:miter lim="800000"/>
            <a:headEnd/>
            <a:tailEnd/>
          </a:ln>
          <a:effectLst/>
        </p:spPr>
        <p:txBody>
          <a:bodyPr>
            <a:spAutoFit/>
          </a:bodyPr>
          <a:lstStyle/>
          <a:p>
            <a:pPr>
              <a:spcBef>
                <a:spcPct val="50000"/>
              </a:spcBef>
            </a:pPr>
            <a:r>
              <a:rPr kumimoji="1" lang="zh-CN" altLang="en-US" sz="2400" b="1">
                <a:latin typeface="Times New Roman" pitchFamily="18" charset="0"/>
                <a:ea typeface="宋体" pitchFamily="2" charset="-122"/>
              </a:rPr>
              <a:t>不影响波函数的取值，即</a:t>
            </a:r>
            <a:r>
              <a:rPr kumimoji="1" lang="en-US" altLang="zh-CN" sz="2400" b="1" i="1">
                <a:latin typeface="Times New Roman" pitchFamily="18" charset="0"/>
                <a:ea typeface="宋体" pitchFamily="2" charset="-122"/>
              </a:rPr>
              <a:t>     </a:t>
            </a:r>
            <a:r>
              <a:rPr kumimoji="1" lang="zh-CN" altLang="en-US" sz="2400" b="1">
                <a:latin typeface="Times New Roman" pitchFamily="18" charset="0"/>
                <a:ea typeface="宋体" pitchFamily="2" charset="-122"/>
              </a:rPr>
              <a:t>在倒格子空间也满足周期性</a:t>
            </a:r>
          </a:p>
        </p:txBody>
      </p:sp>
      <p:graphicFrame>
        <p:nvGraphicFramePr>
          <p:cNvPr id="15" name="对象 3"/>
          <p:cNvGraphicFramePr>
            <a:graphicFrameLocks noChangeAspect="1"/>
          </p:cNvGraphicFramePr>
          <p:nvPr>
            <p:extLst>
              <p:ext uri="{D42A27DB-BD31-4B8C-83A1-F6EECF244321}">
                <p14:modId xmlns:p14="http://schemas.microsoft.com/office/powerpoint/2010/main" val="3835369222"/>
              </p:ext>
            </p:extLst>
          </p:nvPr>
        </p:nvGraphicFramePr>
        <p:xfrm>
          <a:off x="4316413" y="403485"/>
          <a:ext cx="3067050" cy="879475"/>
        </p:xfrm>
        <a:graphic>
          <a:graphicData uri="http://schemas.openxmlformats.org/presentationml/2006/ole">
            <mc:AlternateContent xmlns:mc="http://schemas.openxmlformats.org/markup-compatibility/2006">
              <mc:Choice xmlns:v="urn:schemas-microsoft-com:vml" Requires="v">
                <p:oleObj name="Equation" r:id="rId8" imgW="1497950" imgH="431613" progId="Equation.DSMT4">
                  <p:embed/>
                </p:oleObj>
              </mc:Choice>
              <mc:Fallback>
                <p:oleObj name="Equation" r:id="rId8" imgW="1497950" imgH="431613" progId="Equation.DSMT4">
                  <p:embed/>
                  <p:pic>
                    <p:nvPicPr>
                      <p:cNvPr id="61455" name="对象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16413" y="403485"/>
                        <a:ext cx="3067050" cy="879475"/>
                      </a:xfrm>
                      <a:prstGeom prst="rect">
                        <a:avLst/>
                      </a:prstGeom>
                      <a:solidFill>
                        <a:srgbClr val="FFFFFF"/>
                      </a:solidFill>
                      <a:ln w="9525">
                        <a:solidFill>
                          <a:schemeClr val="tx1"/>
                        </a:solidFill>
                        <a:miter lim="800000"/>
                        <a:headEnd/>
                        <a:tailEnd/>
                      </a:ln>
                    </p:spPr>
                  </p:pic>
                </p:oleObj>
              </mc:Fallback>
            </mc:AlternateContent>
          </a:graphicData>
        </a:graphic>
      </p:graphicFrame>
      <p:graphicFrame>
        <p:nvGraphicFramePr>
          <p:cNvPr id="16" name="对象 6"/>
          <p:cNvGraphicFramePr>
            <a:graphicFrameLocks noChangeAspect="1"/>
          </p:cNvGraphicFramePr>
          <p:nvPr>
            <p:extLst>
              <p:ext uri="{D42A27DB-BD31-4B8C-83A1-F6EECF244321}">
                <p14:modId xmlns:p14="http://schemas.microsoft.com/office/powerpoint/2010/main" val="3258794015"/>
              </p:ext>
            </p:extLst>
          </p:nvPr>
        </p:nvGraphicFramePr>
        <p:xfrm>
          <a:off x="1979613" y="2794730"/>
          <a:ext cx="2001837" cy="492125"/>
        </p:xfrm>
        <a:graphic>
          <a:graphicData uri="http://schemas.openxmlformats.org/presentationml/2006/ole">
            <mc:AlternateContent xmlns:mc="http://schemas.openxmlformats.org/markup-compatibility/2006">
              <mc:Choice xmlns:v="urn:schemas-microsoft-com:vml" Requires="v">
                <p:oleObj name="Equation" r:id="rId10" imgW="977900" imgH="241300" progId="Equation.DSMT4">
                  <p:embed/>
                </p:oleObj>
              </mc:Choice>
              <mc:Fallback>
                <p:oleObj name="Equation" r:id="rId10" imgW="977900" imgH="241300" progId="Equation.DSMT4">
                  <p:embed/>
                  <p:pic>
                    <p:nvPicPr>
                      <p:cNvPr id="61456" name="对象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79613" y="2794730"/>
                        <a:ext cx="2001837" cy="492125"/>
                      </a:xfrm>
                      <a:prstGeom prst="rect">
                        <a:avLst/>
                      </a:prstGeom>
                      <a:solidFill>
                        <a:srgbClr val="FFFFFF"/>
                      </a:solidFill>
                    </p:spPr>
                  </p:pic>
                </p:oleObj>
              </mc:Fallback>
            </mc:AlternateContent>
          </a:graphicData>
        </a:graphic>
      </p:graphicFrame>
      <p:graphicFrame>
        <p:nvGraphicFramePr>
          <p:cNvPr id="17" name="对象 7"/>
          <p:cNvGraphicFramePr>
            <a:graphicFrameLocks noChangeAspect="1"/>
          </p:cNvGraphicFramePr>
          <p:nvPr>
            <p:extLst>
              <p:ext uri="{D42A27DB-BD31-4B8C-83A1-F6EECF244321}">
                <p14:modId xmlns:p14="http://schemas.microsoft.com/office/powerpoint/2010/main" val="3643206824"/>
              </p:ext>
            </p:extLst>
          </p:nvPr>
        </p:nvGraphicFramePr>
        <p:xfrm>
          <a:off x="5075238" y="2761392"/>
          <a:ext cx="2079625" cy="517525"/>
        </p:xfrm>
        <a:graphic>
          <a:graphicData uri="http://schemas.openxmlformats.org/presentationml/2006/ole">
            <mc:AlternateContent xmlns:mc="http://schemas.openxmlformats.org/markup-compatibility/2006">
              <mc:Choice xmlns:v="urn:schemas-microsoft-com:vml" Requires="v">
                <p:oleObj name="Equation" r:id="rId12" imgW="1015559" imgH="253890" progId="Equation.DSMT4">
                  <p:embed/>
                </p:oleObj>
              </mc:Choice>
              <mc:Fallback>
                <p:oleObj name="Equation" r:id="rId12" imgW="1015559" imgH="253890" progId="Equation.DSMT4">
                  <p:embed/>
                  <p:pic>
                    <p:nvPicPr>
                      <p:cNvPr id="61457" name="对象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75238" y="2761392"/>
                        <a:ext cx="2079625" cy="517525"/>
                      </a:xfrm>
                      <a:prstGeom prst="rect">
                        <a:avLst/>
                      </a:prstGeom>
                      <a:solidFill>
                        <a:srgbClr val="FFFFFF"/>
                      </a:solidFill>
                    </p:spPr>
                  </p:pic>
                </p:oleObj>
              </mc:Fallback>
            </mc:AlternateContent>
          </a:graphicData>
        </a:graphic>
      </p:graphicFrame>
      <p:graphicFrame>
        <p:nvGraphicFramePr>
          <p:cNvPr id="18" name="对象 8"/>
          <p:cNvGraphicFramePr>
            <a:graphicFrameLocks noChangeAspect="1"/>
          </p:cNvGraphicFramePr>
          <p:nvPr>
            <p:extLst>
              <p:ext uri="{D42A27DB-BD31-4B8C-83A1-F6EECF244321}">
                <p14:modId xmlns:p14="http://schemas.microsoft.com/office/powerpoint/2010/main" val="655288301"/>
              </p:ext>
            </p:extLst>
          </p:nvPr>
        </p:nvGraphicFramePr>
        <p:xfrm>
          <a:off x="4786313" y="3756996"/>
          <a:ext cx="2520950" cy="515937"/>
        </p:xfrm>
        <a:graphic>
          <a:graphicData uri="http://schemas.openxmlformats.org/presentationml/2006/ole">
            <mc:AlternateContent xmlns:mc="http://schemas.openxmlformats.org/markup-compatibility/2006">
              <mc:Choice xmlns:v="urn:schemas-microsoft-com:vml" Requires="v">
                <p:oleObj name="Equation" r:id="rId14" imgW="1231366" imgH="253890" progId="Equation.DSMT4">
                  <p:embed/>
                </p:oleObj>
              </mc:Choice>
              <mc:Fallback>
                <p:oleObj name="Equation" r:id="rId14" imgW="1231366" imgH="253890" progId="Equation.DSMT4">
                  <p:embed/>
                  <p:pic>
                    <p:nvPicPr>
                      <p:cNvPr id="61458" name="对象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86313" y="3756996"/>
                        <a:ext cx="2520950" cy="515937"/>
                      </a:xfrm>
                      <a:prstGeom prst="rect">
                        <a:avLst/>
                      </a:prstGeom>
                      <a:solidFill>
                        <a:srgbClr val="FFFFFF"/>
                      </a:solidFill>
                    </p:spPr>
                  </p:pic>
                </p:oleObj>
              </mc:Fallback>
            </mc:AlternateContent>
          </a:graphicData>
        </a:graphic>
      </p:graphicFrame>
      <p:graphicFrame>
        <p:nvGraphicFramePr>
          <p:cNvPr id="19" name="对象 10"/>
          <p:cNvGraphicFramePr>
            <a:graphicFrameLocks noChangeAspect="1"/>
          </p:cNvGraphicFramePr>
          <p:nvPr>
            <p:extLst>
              <p:ext uri="{D42A27DB-BD31-4B8C-83A1-F6EECF244321}">
                <p14:modId xmlns:p14="http://schemas.microsoft.com/office/powerpoint/2010/main" val="1796391763"/>
              </p:ext>
            </p:extLst>
          </p:nvPr>
        </p:nvGraphicFramePr>
        <p:xfrm>
          <a:off x="4298950" y="4505305"/>
          <a:ext cx="285750" cy="439738"/>
        </p:xfrm>
        <a:graphic>
          <a:graphicData uri="http://schemas.openxmlformats.org/presentationml/2006/ole">
            <mc:AlternateContent xmlns:mc="http://schemas.openxmlformats.org/markup-compatibility/2006">
              <mc:Choice xmlns:v="urn:schemas-microsoft-com:vml" Requires="v">
                <p:oleObj name="Equation" r:id="rId16" imgW="139579" imgH="215713" progId="Equation.DSMT4">
                  <p:embed/>
                </p:oleObj>
              </mc:Choice>
              <mc:Fallback>
                <p:oleObj name="Equation" r:id="rId16" imgW="139579" imgH="215713" progId="Equation.DSMT4">
                  <p:embed/>
                  <p:pic>
                    <p:nvPicPr>
                      <p:cNvPr id="61459" name="对象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8950" y="4505305"/>
                        <a:ext cx="285750" cy="439738"/>
                      </a:xfrm>
                      <a:prstGeom prst="rect">
                        <a:avLst/>
                      </a:prstGeom>
                      <a:solidFill>
                        <a:srgbClr val="FFFFFF"/>
                      </a:solidFill>
                    </p:spPr>
                  </p:pic>
                </p:oleObj>
              </mc:Fallback>
            </mc:AlternateContent>
          </a:graphicData>
        </a:graphic>
      </p:graphicFrame>
      <p:sp>
        <p:nvSpPr>
          <p:cNvPr id="20" name="Rectangle 2"/>
          <p:cNvSpPr txBox="1">
            <a:spLocks noChangeArrowheads="1"/>
          </p:cNvSpPr>
          <p:nvPr/>
        </p:nvSpPr>
        <p:spPr>
          <a:xfrm>
            <a:off x="294085" y="5186890"/>
            <a:ext cx="8495506" cy="12789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Tx/>
              <a:buNone/>
            </a:pPr>
            <a:r>
              <a:rPr kumimoji="1" lang="zh-CN" altLang="en-US" sz="2400" b="1" dirty="0">
                <a:solidFill>
                  <a:srgbClr val="FF3300"/>
                </a:solidFill>
                <a:latin typeface="Times New Roman" pitchFamily="18" charset="0"/>
                <a:ea typeface="宋体" pitchFamily="2" charset="-122"/>
              </a:rPr>
              <a:t>半导体</a:t>
            </a:r>
            <a:r>
              <a:rPr kumimoji="1" lang="en-US" altLang="zh-CN" sz="2400" b="1" dirty="0">
                <a:solidFill>
                  <a:srgbClr val="FF3300"/>
                </a:solidFill>
                <a:latin typeface="Times New Roman" pitchFamily="18" charset="0"/>
                <a:ea typeface="宋体" pitchFamily="2" charset="-122"/>
              </a:rPr>
              <a:t>1</a:t>
            </a:r>
            <a:r>
              <a:rPr kumimoji="1" lang="zh-CN" altLang="en-US" sz="2400" b="1" dirty="0">
                <a:solidFill>
                  <a:srgbClr val="FF3300"/>
                </a:solidFill>
                <a:latin typeface="Times New Roman" pitchFamily="18" charset="0"/>
                <a:ea typeface="宋体" pitchFamily="2" charset="-122"/>
              </a:rPr>
              <a:t>中我们学过：</a:t>
            </a:r>
            <a:r>
              <a:rPr kumimoji="1" lang="zh-CN" altLang="en-US" sz="2200" b="1" dirty="0">
                <a:latin typeface="Times New Roman" pitchFamily="18" charset="0"/>
                <a:ea typeface="宋体" pitchFamily="2" charset="-122"/>
                <a:cs typeface="Times New Roman" pitchFamily="18" charset="0"/>
              </a:rPr>
              <a:t>每个晶体结构有两个点阵同它联系，一个是晶体点阵（真实空间），一个是倒易点阵（与真实空间相联系的傅立叶空间）。这里我们又知道倒空间与波矢</a:t>
            </a:r>
            <a:r>
              <a:rPr kumimoji="1" lang="en-US" altLang="zh-CN" sz="2200" b="1" i="1" dirty="0">
                <a:latin typeface="Times New Roman" pitchFamily="18" charset="0"/>
                <a:ea typeface="宋体" pitchFamily="2" charset="-122"/>
                <a:cs typeface="Times New Roman" pitchFamily="18" charset="0"/>
              </a:rPr>
              <a:t>k</a:t>
            </a:r>
            <a:r>
              <a:rPr kumimoji="1" lang="zh-CN" altLang="en-US" sz="2200" b="1" dirty="0">
                <a:latin typeface="Times New Roman" pitchFamily="18" charset="0"/>
                <a:ea typeface="宋体" pitchFamily="2" charset="-122"/>
                <a:cs typeface="Times New Roman" pitchFamily="18" charset="0"/>
              </a:rPr>
              <a:t>相关，因此也称</a:t>
            </a:r>
            <a:r>
              <a:rPr kumimoji="1" lang="en-US" altLang="zh-CN" sz="2200" b="1" i="1" dirty="0">
                <a:latin typeface="Times New Roman" pitchFamily="18" charset="0"/>
                <a:ea typeface="宋体" pitchFamily="2" charset="-122"/>
                <a:cs typeface="Times New Roman" pitchFamily="18" charset="0"/>
              </a:rPr>
              <a:t>k</a:t>
            </a:r>
            <a:r>
              <a:rPr kumimoji="1" lang="zh-CN" altLang="en-US" sz="2200" b="1" dirty="0">
                <a:latin typeface="Times New Roman" pitchFamily="18" charset="0"/>
                <a:ea typeface="宋体" pitchFamily="2" charset="-122"/>
                <a:cs typeface="Times New Roman" pitchFamily="18" charset="0"/>
              </a:rPr>
              <a:t>空间。</a:t>
            </a:r>
          </a:p>
        </p:txBody>
      </p:sp>
    </p:spTree>
    <p:extLst>
      <p:ext uri="{BB962C8B-B14F-4D97-AF65-F5344CB8AC3E}">
        <p14:creationId xmlns:p14="http://schemas.microsoft.com/office/powerpoint/2010/main" val="1117814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43</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关于倒格子和倒空间，以下说法正确的是</a:t>
            </a: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倒格子具有周期性</a:t>
            </a: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倒格子具有与对应的正格子相同的对称性</a:t>
            </a: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倒格子的空间矢量只能取分立的值</a:t>
            </a: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倒空间与电子的波矢和动量相关</a:t>
            </a:r>
          </a:p>
        </p:txBody>
      </p:sp>
      <p:sp>
        <p:nvSpPr>
          <p:cNvPr id="9" name="矩形 8"/>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1114425" y="37076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756445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44</a:t>
            </a:fld>
            <a:endParaRPr lang="zh-CN" altLang="en-US"/>
          </a:p>
        </p:txBody>
      </p:sp>
      <p:sp>
        <p:nvSpPr>
          <p:cNvPr id="3" name="矩形 2"/>
          <p:cNvSpPr/>
          <p:nvPr/>
        </p:nvSpPr>
        <p:spPr>
          <a:xfrm>
            <a:off x="445893" y="334882"/>
            <a:ext cx="8363810" cy="5964710"/>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布洛赫定理仍然比较抽象，下面从</a:t>
            </a:r>
            <a:r>
              <a:rPr kumimoji="1" lang="zh-CN" altLang="en-US" sz="2400" b="1" dirty="0">
                <a:solidFill>
                  <a:srgbClr val="FF0000"/>
                </a:solidFill>
                <a:latin typeface="Times New Roman" pitchFamily="18" charset="0"/>
                <a:ea typeface="宋体" pitchFamily="2" charset="-122"/>
              </a:rPr>
              <a:t>两种极端情况</a:t>
            </a:r>
            <a:r>
              <a:rPr kumimoji="1" lang="zh-CN" altLang="en-US" sz="2400" b="1" dirty="0">
                <a:solidFill>
                  <a:srgbClr val="000000"/>
                </a:solidFill>
                <a:latin typeface="Times New Roman" pitchFamily="18" charset="0"/>
                <a:ea typeface="宋体" pitchFamily="2" charset="-122"/>
              </a:rPr>
              <a:t>出发，从更形象的角度来看能带的产生及其性质。以下的分析中将多次采用量子力学中的微扰论。</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FF0000"/>
                </a:solidFill>
                <a:latin typeface="Times New Roman" pitchFamily="18" charset="0"/>
                <a:ea typeface="宋体" pitchFamily="2" charset="-122"/>
              </a:rPr>
              <a:t>微扰论</a:t>
            </a:r>
            <a:r>
              <a:rPr kumimoji="1" lang="zh-CN" altLang="en-US" sz="2400" b="1" dirty="0">
                <a:solidFill>
                  <a:srgbClr val="000000"/>
                </a:solidFill>
                <a:latin typeface="Times New Roman" pitchFamily="18" charset="0"/>
                <a:ea typeface="宋体" pitchFamily="2" charset="-122"/>
              </a:rPr>
              <a:t>其实是一种数学方法，类似与高等数学中常用的泰勒展开，其核心思想是把较为复杂的表达式一系列简单表达式的级数和，这个级数会快速收敛，因此通常只取一级或二级级数进行讨论。展开以后的表达式不但形式简单，而且与已知的某个表达式相同，因此可以直接套用已知的结论。</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可见，微扰论本质上是在已知的某种运动形式上，叠加一个微小的扰动，再研究当前的运动形式如何偏离已知的形式。</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下面讨论晶体中电子运动的两种极端情况：</a:t>
            </a:r>
            <a:r>
              <a:rPr kumimoji="1" lang="zh-CN" altLang="en-US" sz="2400" b="1" dirty="0">
                <a:solidFill>
                  <a:srgbClr val="FF0000"/>
                </a:solidFill>
                <a:latin typeface="Times New Roman" pitchFamily="18" charset="0"/>
                <a:ea typeface="宋体" pitchFamily="2" charset="-122"/>
              </a:rPr>
              <a:t>近自由电子</a:t>
            </a:r>
            <a:r>
              <a:rPr kumimoji="1" lang="zh-CN" altLang="en-US" sz="2400" b="1" dirty="0">
                <a:solidFill>
                  <a:srgbClr val="000000"/>
                </a:solidFill>
                <a:latin typeface="Times New Roman" pitchFamily="18" charset="0"/>
                <a:ea typeface="宋体" pitchFamily="2" charset="-122"/>
              </a:rPr>
              <a:t>和</a:t>
            </a:r>
            <a:r>
              <a:rPr kumimoji="1" lang="zh-CN" altLang="en-US" sz="2400" b="1" dirty="0">
                <a:solidFill>
                  <a:srgbClr val="FF0000"/>
                </a:solidFill>
                <a:latin typeface="Times New Roman" pitchFamily="18" charset="0"/>
                <a:ea typeface="宋体" pitchFamily="2" charset="-122"/>
              </a:rPr>
              <a:t>紧束缚电子</a:t>
            </a:r>
            <a:r>
              <a:rPr kumimoji="1" lang="zh-CN" altLang="en-US" sz="2400" b="1" dirty="0">
                <a:solidFill>
                  <a:srgbClr val="000000"/>
                </a:solidFill>
                <a:latin typeface="Times New Roman" pitchFamily="18" charset="0"/>
                <a:ea typeface="宋体" pitchFamily="2" charset="-122"/>
              </a:rPr>
              <a:t>。</a:t>
            </a:r>
            <a:endParaRPr kumimoji="1" lang="en-US" altLang="zh-CN" sz="2400" b="1" dirty="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12771486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45</a:t>
            </a:fld>
            <a:endParaRPr lang="zh-CN" altLang="en-US"/>
          </a:p>
        </p:txBody>
      </p:sp>
      <p:sp>
        <p:nvSpPr>
          <p:cNvPr id="3" name="Rectangle 13"/>
          <p:cNvSpPr>
            <a:spLocks noChangeArrowheads="1"/>
          </p:cNvSpPr>
          <p:nvPr/>
        </p:nvSpPr>
        <p:spPr bwMode="auto">
          <a:xfrm>
            <a:off x="480756" y="318986"/>
            <a:ext cx="5589992" cy="523220"/>
          </a:xfrm>
          <a:prstGeom prst="rect">
            <a:avLst/>
          </a:prstGeom>
          <a:noFill/>
          <a:ln w="9525">
            <a:noFill/>
            <a:miter lim="800000"/>
            <a:headEnd/>
            <a:tailEnd/>
          </a:ln>
          <a:effectLst/>
        </p:spPr>
        <p:txBody>
          <a:bodyPr wrap="none">
            <a:spAutoFit/>
          </a:bodyPr>
          <a:lstStyle/>
          <a:p>
            <a:pPr>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4. </a:t>
            </a:r>
            <a:r>
              <a:rPr kumimoji="1" lang="zh-CN" altLang="en-US" sz="2800" b="1" dirty="0">
                <a:solidFill>
                  <a:srgbClr val="D96227"/>
                </a:solidFill>
                <a:latin typeface="Times New Roman" pitchFamily="18" charset="0"/>
                <a:ea typeface="宋体" pitchFamily="2" charset="-122"/>
                <a:cs typeface="Times New Roman" pitchFamily="18" charset="0"/>
              </a:rPr>
              <a:t>能带论举例</a:t>
            </a:r>
            <a:r>
              <a:rPr kumimoji="1" lang="en-US" altLang="zh-CN" sz="2800" b="1" dirty="0">
                <a:solidFill>
                  <a:srgbClr val="D96227"/>
                </a:solidFill>
                <a:latin typeface="Times New Roman" pitchFamily="18" charset="0"/>
                <a:ea typeface="宋体" pitchFamily="2" charset="-122"/>
                <a:cs typeface="Times New Roman" pitchFamily="18" charset="0"/>
              </a:rPr>
              <a:t>——</a:t>
            </a:r>
            <a:r>
              <a:rPr kumimoji="1" lang="zh-CN" altLang="en-US" sz="2800" b="1" dirty="0">
                <a:solidFill>
                  <a:srgbClr val="D96227"/>
                </a:solidFill>
                <a:latin typeface="Times New Roman" pitchFamily="18" charset="0"/>
                <a:ea typeface="宋体" pitchFamily="2" charset="-122"/>
                <a:cs typeface="Times New Roman" pitchFamily="18" charset="0"/>
              </a:rPr>
              <a:t>近自由电子近似</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graphicFrame>
        <p:nvGraphicFramePr>
          <p:cNvPr id="11" name="Object 8"/>
          <p:cNvGraphicFramePr>
            <a:graphicFrameLocks noChangeAspect="1"/>
          </p:cNvGraphicFramePr>
          <p:nvPr>
            <p:extLst>
              <p:ext uri="{D42A27DB-BD31-4B8C-83A1-F6EECF244321}">
                <p14:modId xmlns:p14="http://schemas.microsoft.com/office/powerpoint/2010/main" val="1812145470"/>
              </p:ext>
            </p:extLst>
          </p:nvPr>
        </p:nvGraphicFramePr>
        <p:xfrm>
          <a:off x="2879114" y="2210240"/>
          <a:ext cx="2592388" cy="407987"/>
        </p:xfrm>
        <a:graphic>
          <a:graphicData uri="http://schemas.openxmlformats.org/presentationml/2006/ole">
            <mc:AlternateContent xmlns:mc="http://schemas.openxmlformats.org/markup-compatibility/2006">
              <mc:Choice xmlns:v="urn:schemas-microsoft-com:vml" Requires="v">
                <p:oleObj name="Equation" r:id="rId2" imgW="1206500" imgH="190500" progId="Equation.DSMT4">
                  <p:embed/>
                </p:oleObj>
              </mc:Choice>
              <mc:Fallback>
                <p:oleObj name="Equation" r:id="rId2" imgW="1206500" imgH="190500" progId="Equation.DSMT4">
                  <p:embed/>
                  <p:pic>
                    <p:nvPicPr>
                      <p:cNvPr id="6349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9114" y="2210240"/>
                        <a:ext cx="2592388" cy="407987"/>
                      </a:xfrm>
                      <a:prstGeom prst="rect">
                        <a:avLst/>
                      </a:prstGeom>
                      <a:solidFill>
                        <a:srgbClr val="FFFFFF"/>
                      </a:solidFill>
                      <a:ln>
                        <a:noFill/>
                      </a:ln>
                      <a:extLs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sp>
        <p:nvSpPr>
          <p:cNvPr id="12" name="Text Box 4"/>
          <p:cNvSpPr txBox="1">
            <a:spLocks noChangeArrowheads="1"/>
          </p:cNvSpPr>
          <p:nvPr/>
        </p:nvSpPr>
        <p:spPr bwMode="auto">
          <a:xfrm>
            <a:off x="539552" y="3020201"/>
            <a:ext cx="4572000" cy="1678536"/>
          </a:xfrm>
          <a:prstGeom prst="rect">
            <a:avLst/>
          </a:prstGeom>
          <a:noFill/>
          <a:ln w="12700" cap="sq">
            <a:noFill/>
            <a:miter lim="800000"/>
            <a:headEnd type="none" w="sm" len="sm"/>
            <a:tailEnd type="none" w="sm" len="sm"/>
          </a:ln>
          <a:effectLst/>
        </p:spPr>
        <p:txBody>
          <a:bodyPr>
            <a:spAutoFit/>
          </a:bodyPr>
          <a:lstStyle/>
          <a:p>
            <a:pPr defTabSz="914400" eaLnBrk="0" fontAlgn="base" hangingPunct="0">
              <a:lnSpc>
                <a:spcPct val="120000"/>
              </a:lnSpc>
              <a:spcBef>
                <a:spcPct val="50000"/>
              </a:spcBef>
              <a:spcAft>
                <a:spcPct val="0"/>
              </a:spcAft>
            </a:pPr>
            <a:r>
              <a:rPr kumimoji="1" lang="zh-CN" altLang="en-US" sz="2200" b="1" dirty="0">
                <a:solidFill>
                  <a:srgbClr val="000000"/>
                </a:solidFill>
                <a:latin typeface="Times New Roman" pitchFamily="18" charset="0"/>
                <a:ea typeface="宋体" pitchFamily="2" charset="-122"/>
              </a:rPr>
              <a:t>在零级近似下，半导体中电子可被看成近自由电子，求得完备的本征波函数和本征能量值，</a:t>
            </a:r>
            <a:r>
              <a:rPr kumimoji="1" lang="zh-CN" altLang="en-US" sz="2200" b="1" i="1" dirty="0">
                <a:solidFill>
                  <a:srgbClr val="3333CC"/>
                </a:solidFill>
                <a:latin typeface="Times New Roman" pitchFamily="18" charset="0"/>
                <a:ea typeface="宋体" pitchFamily="2" charset="-122"/>
              </a:rPr>
              <a:t>能量本征值与 </a:t>
            </a:r>
            <a:r>
              <a:rPr kumimoji="1" lang="en-US" altLang="zh-CN" sz="2200" b="1" i="1" dirty="0">
                <a:solidFill>
                  <a:srgbClr val="3333CC"/>
                </a:solidFill>
                <a:latin typeface="Times New Roman" pitchFamily="18" charset="0"/>
                <a:ea typeface="宋体" pitchFamily="2" charset="-122"/>
              </a:rPr>
              <a:t>k</a:t>
            </a:r>
            <a:r>
              <a:rPr kumimoji="1" lang="zh-CN" altLang="en-US" sz="2200" b="1" i="1" dirty="0">
                <a:solidFill>
                  <a:srgbClr val="3333CC"/>
                </a:solidFill>
                <a:latin typeface="Times New Roman" pitchFamily="18" charset="0"/>
                <a:ea typeface="宋体" pitchFamily="2" charset="-122"/>
              </a:rPr>
              <a:t>的关系近似呈抛物线关系</a:t>
            </a:r>
            <a:r>
              <a:rPr kumimoji="1" lang="zh-CN" altLang="en-US" sz="2200" b="1" dirty="0">
                <a:solidFill>
                  <a:srgbClr val="000000"/>
                </a:solidFill>
                <a:latin typeface="Times New Roman" pitchFamily="18" charset="0"/>
                <a:ea typeface="宋体" pitchFamily="2" charset="-122"/>
              </a:rPr>
              <a:t>：</a:t>
            </a:r>
          </a:p>
        </p:txBody>
      </p:sp>
      <p:graphicFrame>
        <p:nvGraphicFramePr>
          <p:cNvPr id="13" name="Object 5"/>
          <p:cNvGraphicFramePr>
            <a:graphicFrameLocks noChangeAspect="1"/>
          </p:cNvGraphicFramePr>
          <p:nvPr/>
        </p:nvGraphicFramePr>
        <p:xfrm>
          <a:off x="1259632" y="5013176"/>
          <a:ext cx="1593850" cy="784225"/>
        </p:xfrm>
        <a:graphic>
          <a:graphicData uri="http://schemas.openxmlformats.org/presentationml/2006/ole">
            <mc:AlternateContent xmlns:mc="http://schemas.openxmlformats.org/markup-compatibility/2006">
              <mc:Choice xmlns:v="urn:schemas-microsoft-com:vml" Requires="v">
                <p:oleObj name="Equation" r:id="rId4" imgW="799753" imgH="393529" progId="Equation.3">
                  <p:embed/>
                </p:oleObj>
              </mc:Choice>
              <mc:Fallback>
                <p:oleObj name="Equation" r:id="rId4" imgW="799753" imgH="393529" progId="Equation.3">
                  <p:embed/>
                  <p:pic>
                    <p:nvPicPr>
                      <p:cNvPr id="6349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5013176"/>
                        <a:ext cx="1593850" cy="784225"/>
                      </a:xfrm>
                      <a:prstGeom prst="rect">
                        <a:avLst/>
                      </a:prstGeom>
                      <a:solidFill>
                        <a:srgbClr val="FFFFFF"/>
                      </a:solidFill>
                    </p:spPr>
                  </p:pic>
                </p:oleObj>
              </mc:Fallback>
            </mc:AlternateContent>
          </a:graphicData>
        </a:graphic>
      </p:graphicFrame>
      <p:sp>
        <p:nvSpPr>
          <p:cNvPr id="14" name="Text Box 6"/>
          <p:cNvSpPr txBox="1">
            <a:spLocks noChangeArrowheads="1"/>
          </p:cNvSpPr>
          <p:nvPr/>
        </p:nvSpPr>
        <p:spPr bwMode="auto">
          <a:xfrm>
            <a:off x="3347864" y="5013176"/>
            <a:ext cx="5040313" cy="822325"/>
          </a:xfrm>
          <a:prstGeom prst="rect">
            <a:avLst/>
          </a:prstGeom>
          <a:noFill/>
          <a:ln w="12700" cap="sq">
            <a:noFill/>
            <a:miter lim="800000"/>
            <a:headEnd/>
            <a:tailEnd/>
          </a:ln>
          <a:effectLst/>
        </p:spPr>
        <p:txBody>
          <a:bodyPr>
            <a:spAutoFit/>
          </a:bodyPr>
          <a:lstStyle/>
          <a:p>
            <a:pPr defTabSz="914400" eaLnBrk="0" fontAlgn="base" hangingPunct="0">
              <a:spcBef>
                <a:spcPct val="50000"/>
              </a:spcBef>
              <a:spcAft>
                <a:spcPct val="0"/>
              </a:spcAft>
            </a:pPr>
            <a:r>
              <a:rPr kumimoji="1" lang="zh-CN" altLang="en-US" sz="2400" b="1" dirty="0">
                <a:solidFill>
                  <a:srgbClr val="3333CC"/>
                </a:solidFill>
                <a:latin typeface="Times New Roman" pitchFamily="18" charset="0"/>
                <a:ea typeface="宋体" pitchFamily="2" charset="-122"/>
              </a:rPr>
              <a:t>波矢</a:t>
            </a:r>
            <a:r>
              <a:rPr kumimoji="1" lang="en-US" altLang="zh-CN" sz="2400" b="1" dirty="0">
                <a:solidFill>
                  <a:srgbClr val="3333CC"/>
                </a:solidFill>
                <a:latin typeface="Times New Roman" pitchFamily="18" charset="0"/>
                <a:ea typeface="宋体" pitchFamily="2" charset="-122"/>
              </a:rPr>
              <a:t>k </a:t>
            </a:r>
            <a:r>
              <a:rPr kumimoji="1" lang="zh-CN" altLang="en-US" sz="2400" b="1" dirty="0">
                <a:solidFill>
                  <a:srgbClr val="3333CC"/>
                </a:solidFill>
                <a:latin typeface="Times New Roman" pitchFamily="18" charset="0"/>
                <a:ea typeface="宋体" pitchFamily="2" charset="-122"/>
              </a:rPr>
              <a:t>取值是有限的。当</a:t>
            </a:r>
            <a:r>
              <a:rPr kumimoji="1" lang="en-US" altLang="zh-CN" sz="2400" b="1" i="1" dirty="0">
                <a:solidFill>
                  <a:srgbClr val="3333CC"/>
                </a:solidFill>
                <a:latin typeface="Times New Roman" pitchFamily="18" charset="0"/>
                <a:ea typeface="宋体" pitchFamily="2" charset="-122"/>
              </a:rPr>
              <a:t>N</a:t>
            </a:r>
            <a:r>
              <a:rPr kumimoji="1" lang="zh-CN" altLang="en-US" sz="2400" b="1" dirty="0">
                <a:solidFill>
                  <a:srgbClr val="3333CC"/>
                </a:solidFill>
                <a:latin typeface="Times New Roman" pitchFamily="18" charset="0"/>
                <a:ea typeface="宋体" pitchFamily="2" charset="-122"/>
              </a:rPr>
              <a:t>很大时，</a:t>
            </a:r>
            <a:r>
              <a:rPr kumimoji="1" lang="en-US" altLang="zh-CN" sz="2400" b="1" i="1" dirty="0">
                <a:solidFill>
                  <a:srgbClr val="3333CC"/>
                </a:solidFill>
                <a:latin typeface="Times New Roman" pitchFamily="18" charset="0"/>
                <a:ea typeface="宋体" pitchFamily="2" charset="-122"/>
              </a:rPr>
              <a:t>k </a:t>
            </a:r>
            <a:r>
              <a:rPr kumimoji="1" lang="zh-CN" altLang="en-US" sz="2400" b="1" dirty="0">
                <a:solidFill>
                  <a:srgbClr val="3333CC"/>
                </a:solidFill>
                <a:latin typeface="Times New Roman" pitchFamily="18" charset="0"/>
                <a:ea typeface="宋体" pitchFamily="2" charset="-122"/>
              </a:rPr>
              <a:t>近似为准连续的</a:t>
            </a:r>
          </a:p>
        </p:txBody>
      </p:sp>
      <p:sp>
        <p:nvSpPr>
          <p:cNvPr id="15" name="Text Box 9"/>
          <p:cNvSpPr txBox="1">
            <a:spLocks noChangeArrowheads="1"/>
          </p:cNvSpPr>
          <p:nvPr/>
        </p:nvSpPr>
        <p:spPr bwMode="auto">
          <a:xfrm>
            <a:off x="299904" y="1173681"/>
            <a:ext cx="8661216" cy="904863"/>
          </a:xfrm>
          <a:prstGeom prst="rect">
            <a:avLst/>
          </a:prstGeom>
          <a:noFill/>
          <a:ln w="12700" cap="sq">
            <a:noFill/>
            <a:miter lim="800000"/>
            <a:headEnd/>
            <a:tailEnd/>
          </a:ln>
          <a:effectLst/>
        </p:spPr>
        <p:txBody>
          <a:bodyPr wrap="square">
            <a:spAutoFit/>
          </a:bodyPr>
          <a:lstStyle/>
          <a:p>
            <a:pPr defTabSz="914400" eaLnBrk="0" fontAlgn="base" hangingPunct="0">
              <a:lnSpc>
                <a:spcPct val="120000"/>
              </a:lnSpc>
              <a:spcBef>
                <a:spcPct val="50000"/>
              </a:spcBef>
              <a:spcAft>
                <a:spcPct val="0"/>
              </a:spcAft>
            </a:pPr>
            <a:r>
              <a:rPr kumimoji="1" lang="zh-CN" altLang="en-US" sz="2200" b="1" dirty="0">
                <a:solidFill>
                  <a:srgbClr val="000000"/>
                </a:solidFill>
                <a:latin typeface="Times New Roman" pitchFamily="18" charset="0"/>
                <a:ea typeface="宋体" pitchFamily="2" charset="-122"/>
              </a:rPr>
              <a:t>假设周期势场起伏不大，则可以把周期势场看做微扰，利用微扰论，求得能量本证值表示为：</a:t>
            </a:r>
          </a:p>
        </p:txBody>
      </p:sp>
      <p:graphicFrame>
        <p:nvGraphicFramePr>
          <p:cNvPr id="16" name="对象 1"/>
          <p:cNvGraphicFramePr>
            <a:graphicFrameLocks noChangeAspect="1"/>
          </p:cNvGraphicFramePr>
          <p:nvPr>
            <p:extLst>
              <p:ext uri="{D42A27DB-BD31-4B8C-83A1-F6EECF244321}">
                <p14:modId xmlns:p14="http://schemas.microsoft.com/office/powerpoint/2010/main" val="733347264"/>
              </p:ext>
            </p:extLst>
          </p:nvPr>
        </p:nvGraphicFramePr>
        <p:xfrm>
          <a:off x="5292080" y="3452249"/>
          <a:ext cx="1963737" cy="898525"/>
        </p:xfrm>
        <a:graphic>
          <a:graphicData uri="http://schemas.openxmlformats.org/presentationml/2006/ole">
            <mc:AlternateContent xmlns:mc="http://schemas.openxmlformats.org/markup-compatibility/2006">
              <mc:Choice xmlns:v="urn:schemas-microsoft-com:vml" Requires="v">
                <p:oleObj name="Equation" r:id="rId6" imgW="914400" imgH="419100" progId="Equation.DSMT4">
                  <p:embed/>
                </p:oleObj>
              </mc:Choice>
              <mc:Fallback>
                <p:oleObj name="Equation" r:id="rId6" imgW="914400" imgH="419100" progId="Equation.DSMT4">
                  <p:embed/>
                  <p:pic>
                    <p:nvPicPr>
                      <p:cNvPr id="63500" name="对象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080" y="3452249"/>
                        <a:ext cx="1963737" cy="898525"/>
                      </a:xfrm>
                      <a:prstGeom prst="rect">
                        <a:avLst/>
                      </a:prstGeom>
                      <a:solidFill>
                        <a:srgbClr val="FFFFFF"/>
                      </a:solidFill>
                      <a:ln>
                        <a:noFill/>
                      </a:ln>
                      <a:extLs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sp>
        <p:nvSpPr>
          <p:cNvPr id="17" name="Text Box 15"/>
          <p:cNvSpPr txBox="1">
            <a:spLocks noChangeArrowheads="1"/>
          </p:cNvSpPr>
          <p:nvPr/>
        </p:nvSpPr>
        <p:spPr bwMode="auto">
          <a:xfrm>
            <a:off x="757238" y="6092825"/>
            <a:ext cx="8386762" cy="457200"/>
          </a:xfrm>
          <a:prstGeom prst="rect">
            <a:avLst/>
          </a:prstGeom>
          <a:noFill/>
          <a:ln w="9525">
            <a:noFill/>
            <a:miter lim="800000"/>
            <a:headEnd/>
            <a:tailEnd/>
          </a:ln>
          <a:effectLst/>
        </p:spPr>
        <p:txBody>
          <a:bodyPr>
            <a:spAutoFit/>
          </a:bodyPr>
          <a:lstStyle/>
          <a:p>
            <a:pPr defTabSz="914400" eaLnBrk="0" fontAlgn="base" hangingPunct="0">
              <a:spcBef>
                <a:spcPct val="50000"/>
              </a:spcBef>
              <a:spcAft>
                <a:spcPct val="0"/>
              </a:spcAft>
            </a:pPr>
            <a:r>
              <a:rPr lang="zh-CN" altLang="en-US" sz="2400" b="1">
                <a:solidFill>
                  <a:srgbClr val="FF0000"/>
                </a:solidFill>
                <a:latin typeface="Tahoma" pitchFamily="34" charset="0"/>
                <a:ea typeface="宋体" pitchFamily="2" charset="-122"/>
              </a:rPr>
              <a:t>下面重点了解的是该体系中电子能级态具有什么特征？</a:t>
            </a:r>
          </a:p>
        </p:txBody>
      </p:sp>
    </p:spTree>
    <p:extLst>
      <p:ext uri="{BB962C8B-B14F-4D97-AF65-F5344CB8AC3E}">
        <p14:creationId xmlns:p14="http://schemas.microsoft.com/office/powerpoint/2010/main" val="37467307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46</a:t>
            </a:fld>
            <a:endParaRPr lang="zh-CN" altLang="en-US"/>
          </a:p>
        </p:txBody>
      </p:sp>
      <p:pic>
        <p:nvPicPr>
          <p:cNvPr id="19" name="Picture 16"/>
          <p:cNvPicPr>
            <a:picLocks noChangeAspect="1" noChangeArrowheads="1"/>
          </p:cNvPicPr>
          <p:nvPr/>
        </p:nvPicPr>
        <p:blipFill>
          <a:blip r:embed="rId2" cstate="print"/>
          <a:srcRect/>
          <a:stretch>
            <a:fillRect/>
          </a:stretch>
        </p:blipFill>
        <p:spPr bwMode="auto">
          <a:xfrm>
            <a:off x="179388" y="1935197"/>
            <a:ext cx="5230812" cy="3959225"/>
          </a:xfrm>
          <a:prstGeom prst="rect">
            <a:avLst/>
          </a:prstGeom>
          <a:noFill/>
          <a:ln w="9525">
            <a:noFill/>
            <a:miter lim="800000"/>
            <a:headEnd/>
            <a:tailEnd/>
          </a:ln>
          <a:effectLst/>
        </p:spPr>
      </p:pic>
      <p:graphicFrame>
        <p:nvGraphicFramePr>
          <p:cNvPr id="20" name="Object 13"/>
          <p:cNvGraphicFramePr>
            <a:graphicFrameLocks noChangeAspect="1"/>
          </p:cNvGraphicFramePr>
          <p:nvPr>
            <p:extLst>
              <p:ext uri="{D42A27DB-BD31-4B8C-83A1-F6EECF244321}">
                <p14:modId xmlns:p14="http://schemas.microsoft.com/office/powerpoint/2010/main" val="4253028243"/>
              </p:ext>
            </p:extLst>
          </p:nvPr>
        </p:nvGraphicFramePr>
        <p:xfrm>
          <a:off x="1116013" y="800401"/>
          <a:ext cx="1655762" cy="758825"/>
        </p:xfrm>
        <a:graphic>
          <a:graphicData uri="http://schemas.openxmlformats.org/presentationml/2006/ole">
            <mc:AlternateContent xmlns:mc="http://schemas.openxmlformats.org/markup-compatibility/2006">
              <mc:Choice xmlns:v="urn:schemas-microsoft-com:vml" Requires="v">
                <p:oleObj name="Equation" r:id="rId3" imgW="914400" imgH="419100" progId="Equation.DSMT4">
                  <p:embed/>
                </p:oleObj>
              </mc:Choice>
              <mc:Fallback>
                <p:oleObj name="Equation" r:id="rId3" imgW="914400" imgH="419100" progId="Equation.DSMT4">
                  <p:embed/>
                  <p:pic>
                    <p:nvPicPr>
                      <p:cNvPr id="64518"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800401"/>
                        <a:ext cx="1655762" cy="758825"/>
                      </a:xfrm>
                      <a:prstGeom prst="rect">
                        <a:avLst/>
                      </a:prstGeom>
                      <a:solidFill>
                        <a:srgbClr val="FFFFFF"/>
                      </a:solidFill>
                    </p:spPr>
                  </p:pic>
                </p:oleObj>
              </mc:Fallback>
            </mc:AlternateContent>
          </a:graphicData>
        </a:graphic>
      </p:graphicFrame>
      <p:graphicFrame>
        <p:nvGraphicFramePr>
          <p:cNvPr id="21" name="对象 1"/>
          <p:cNvGraphicFramePr>
            <a:graphicFrameLocks noChangeAspect="1"/>
          </p:cNvGraphicFramePr>
          <p:nvPr>
            <p:extLst>
              <p:ext uri="{D42A27DB-BD31-4B8C-83A1-F6EECF244321}">
                <p14:modId xmlns:p14="http://schemas.microsoft.com/office/powerpoint/2010/main" val="3371972289"/>
              </p:ext>
            </p:extLst>
          </p:nvPr>
        </p:nvGraphicFramePr>
        <p:xfrm>
          <a:off x="3276600" y="728964"/>
          <a:ext cx="896938" cy="436562"/>
        </p:xfrm>
        <a:graphic>
          <a:graphicData uri="http://schemas.openxmlformats.org/presentationml/2006/ole">
            <mc:AlternateContent xmlns:mc="http://schemas.openxmlformats.org/markup-compatibility/2006">
              <mc:Choice xmlns:v="urn:schemas-microsoft-com:vml" Requires="v">
                <p:oleObj name="Equation" r:id="rId5" imgW="495085" imgH="241195" progId="Equation.DSMT4">
                  <p:embed/>
                </p:oleObj>
              </mc:Choice>
              <mc:Fallback>
                <p:oleObj name="Equation" r:id="rId5" imgW="495085" imgH="241195" progId="Equation.DSMT4">
                  <p:embed/>
                  <p:pic>
                    <p:nvPicPr>
                      <p:cNvPr id="64521"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728964"/>
                        <a:ext cx="896938" cy="436562"/>
                      </a:xfrm>
                      <a:prstGeom prst="rect">
                        <a:avLst/>
                      </a:prstGeom>
                      <a:solidFill>
                        <a:srgbClr val="FFFFFF"/>
                      </a:solidFill>
                    </p:spPr>
                  </p:pic>
                </p:oleObj>
              </mc:Fallback>
            </mc:AlternateContent>
          </a:graphicData>
        </a:graphic>
      </p:graphicFrame>
      <p:graphicFrame>
        <p:nvGraphicFramePr>
          <p:cNvPr id="22" name="对象 2"/>
          <p:cNvGraphicFramePr>
            <a:graphicFrameLocks noChangeAspect="1"/>
          </p:cNvGraphicFramePr>
          <p:nvPr>
            <p:extLst>
              <p:ext uri="{D42A27DB-BD31-4B8C-83A1-F6EECF244321}">
                <p14:modId xmlns:p14="http://schemas.microsoft.com/office/powerpoint/2010/main" val="3583201168"/>
              </p:ext>
            </p:extLst>
          </p:nvPr>
        </p:nvGraphicFramePr>
        <p:xfrm>
          <a:off x="4427538" y="440039"/>
          <a:ext cx="3679825" cy="1401762"/>
        </p:xfrm>
        <a:graphic>
          <a:graphicData uri="http://schemas.openxmlformats.org/presentationml/2006/ole">
            <mc:AlternateContent xmlns:mc="http://schemas.openxmlformats.org/markup-compatibility/2006">
              <mc:Choice xmlns:v="urn:schemas-microsoft-com:vml" Requires="v">
                <p:oleObj name="Equation" r:id="rId7" imgW="2032000" imgH="774700" progId="Equation.DSMT4">
                  <p:embed/>
                </p:oleObj>
              </mc:Choice>
              <mc:Fallback>
                <p:oleObj name="Equation" r:id="rId7" imgW="2032000" imgH="774700" progId="Equation.DSMT4">
                  <p:embed/>
                  <p:pic>
                    <p:nvPicPr>
                      <p:cNvPr id="64522"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7538" y="440039"/>
                        <a:ext cx="3679825" cy="1401762"/>
                      </a:xfrm>
                      <a:prstGeom prst="rect">
                        <a:avLst/>
                      </a:prstGeom>
                      <a:solidFill>
                        <a:srgbClr val="FFFFFF"/>
                      </a:solidFill>
                    </p:spPr>
                  </p:pic>
                </p:oleObj>
              </mc:Fallback>
            </mc:AlternateContent>
          </a:graphicData>
        </a:graphic>
      </p:graphicFrame>
      <p:sp>
        <p:nvSpPr>
          <p:cNvPr id="23" name="Rectangle 12"/>
          <p:cNvSpPr>
            <a:spLocks noChangeArrowheads="1"/>
          </p:cNvSpPr>
          <p:nvPr/>
        </p:nvSpPr>
        <p:spPr bwMode="auto">
          <a:xfrm>
            <a:off x="250735" y="6031632"/>
            <a:ext cx="9217205" cy="465448"/>
          </a:xfrm>
          <a:prstGeom prst="rect">
            <a:avLst/>
          </a:prstGeom>
          <a:noFill/>
          <a:ln w="9525">
            <a:noFill/>
            <a:miter lim="800000"/>
            <a:headEnd/>
            <a:tailEnd/>
          </a:ln>
          <a:effectLst/>
        </p:spPr>
        <p:txBody>
          <a:bodyPr wrap="square">
            <a:spAutoFit/>
          </a:bodyPr>
          <a:lstStyle/>
          <a:p>
            <a:pPr defTabSz="914400" eaLnBrk="0" fontAlgn="base" hangingPunct="0">
              <a:lnSpc>
                <a:spcPct val="110000"/>
              </a:lnSpc>
              <a:spcBef>
                <a:spcPct val="0"/>
              </a:spcBef>
              <a:spcAft>
                <a:spcPct val="0"/>
              </a:spcAft>
            </a:pPr>
            <a:r>
              <a:rPr kumimoji="1"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由此可获得 </a:t>
            </a:r>
            <a:r>
              <a:rPr kumimoji="1" lang="en-US" altLang="zh-CN" sz="2400" b="1" i="1" dirty="0">
                <a:solidFill>
                  <a:srgbClr val="000000"/>
                </a:solidFill>
                <a:latin typeface="Times New Roman" panose="02020603050405020304" pitchFamily="18" charset="0"/>
                <a:ea typeface="宋体" pitchFamily="2" charset="-122"/>
                <a:cs typeface="Times New Roman" panose="02020603050405020304" pitchFamily="18" charset="0"/>
              </a:rPr>
              <a:t>E-k </a:t>
            </a:r>
            <a:r>
              <a:rPr kumimoji="1"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函数关系在            处断开，能量发生</a:t>
            </a:r>
            <a:r>
              <a:rPr kumimoji="1" lang="en-US" altLang="zh-CN" sz="2400" b="1" dirty="0">
                <a:solidFill>
                  <a:srgbClr val="000000"/>
                </a:solidFill>
                <a:latin typeface="Times New Roman" panose="02020603050405020304" pitchFamily="18" charset="0"/>
                <a:ea typeface="宋体" pitchFamily="2" charset="-122"/>
                <a:cs typeface="Times New Roman" panose="02020603050405020304" pitchFamily="18" charset="0"/>
              </a:rPr>
              <a:t>2</a:t>
            </a:r>
            <a:r>
              <a:rPr kumimoji="1" lang="en-US" altLang="zh-CN" sz="2400" b="1" i="1" dirty="0">
                <a:solidFill>
                  <a:srgbClr val="000000"/>
                </a:solidFill>
                <a:latin typeface="Times New Roman" panose="02020603050405020304" pitchFamily="18" charset="0"/>
                <a:ea typeface="宋体" pitchFamily="2" charset="-122"/>
                <a:cs typeface="Times New Roman" panose="02020603050405020304" pitchFamily="18" charset="0"/>
              </a:rPr>
              <a:t>V</a:t>
            </a:r>
            <a:r>
              <a:rPr kumimoji="1" lang="en-US" altLang="zh-CN" sz="2400" b="1" i="1" baseline="-25000" dirty="0">
                <a:solidFill>
                  <a:srgbClr val="000000"/>
                </a:solidFill>
                <a:latin typeface="Times New Roman" panose="02020603050405020304" pitchFamily="18" charset="0"/>
                <a:ea typeface="宋体" pitchFamily="2" charset="-122"/>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突变。</a:t>
            </a:r>
          </a:p>
        </p:txBody>
      </p:sp>
      <p:graphicFrame>
        <p:nvGraphicFramePr>
          <p:cNvPr id="24" name="Object 13"/>
          <p:cNvGraphicFramePr>
            <a:graphicFrameLocks noChangeAspect="1"/>
          </p:cNvGraphicFramePr>
          <p:nvPr>
            <p:extLst>
              <p:ext uri="{D42A27DB-BD31-4B8C-83A1-F6EECF244321}">
                <p14:modId xmlns:p14="http://schemas.microsoft.com/office/powerpoint/2010/main" val="1687393431"/>
              </p:ext>
            </p:extLst>
          </p:nvPr>
        </p:nvGraphicFramePr>
        <p:xfrm>
          <a:off x="4508500" y="3141697"/>
          <a:ext cx="127000" cy="177800"/>
        </p:xfrm>
        <a:graphic>
          <a:graphicData uri="http://schemas.openxmlformats.org/presentationml/2006/ole">
            <mc:AlternateContent xmlns:mc="http://schemas.openxmlformats.org/markup-compatibility/2006">
              <mc:Choice xmlns:v="urn:schemas-microsoft-com:vml" Requires="v">
                <p:oleObj name="公式" r:id="rId9" imgW="126725" imgH="177415" progId="Equation.3">
                  <p:embed/>
                </p:oleObj>
              </mc:Choice>
              <mc:Fallback>
                <p:oleObj name="公式" r:id="rId9" imgW="126725" imgH="177415" progId="Equation.3">
                  <p:embed/>
                  <p:pic>
                    <p:nvPicPr>
                      <p:cNvPr id="64525"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08500" y="3141697"/>
                        <a:ext cx="1270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15"/>
          <p:cNvSpPr>
            <a:spLocks noChangeArrowheads="1"/>
          </p:cNvSpPr>
          <p:nvPr/>
        </p:nvSpPr>
        <p:spPr bwMode="auto">
          <a:xfrm>
            <a:off x="0" y="2997235"/>
            <a:ext cx="9144000" cy="0"/>
          </a:xfrm>
          <a:prstGeom prst="rect">
            <a:avLst/>
          </a:prstGeom>
          <a:noFill/>
          <a:ln w="9525">
            <a:noFill/>
            <a:miter lim="800000"/>
            <a:headEnd/>
            <a:tailEnd/>
          </a:ln>
          <a:effectLst/>
        </p:spPr>
        <p:txBody>
          <a:bodyPr wrap="none" anchor="ctr">
            <a:spAutoFit/>
          </a:bodyPr>
          <a:lstStyle/>
          <a:p>
            <a:pPr defTabSz="914400" eaLnBrk="0" fontAlgn="base" hangingPunct="0">
              <a:spcBef>
                <a:spcPct val="0"/>
              </a:spcBef>
              <a:spcAft>
                <a:spcPct val="0"/>
              </a:spcAft>
            </a:pPr>
            <a:endParaRPr lang="zh-CN" altLang="en-US">
              <a:solidFill>
                <a:srgbClr val="000000"/>
              </a:solidFill>
              <a:latin typeface="Tahoma" pitchFamily="34" charset="0"/>
            </a:endParaRPr>
          </a:p>
        </p:txBody>
      </p:sp>
      <p:graphicFrame>
        <p:nvGraphicFramePr>
          <p:cNvPr id="26" name="Object 7"/>
          <p:cNvGraphicFramePr>
            <a:graphicFrameLocks noChangeAspect="1"/>
          </p:cNvGraphicFramePr>
          <p:nvPr>
            <p:extLst>
              <p:ext uri="{D42A27DB-BD31-4B8C-83A1-F6EECF244321}">
                <p14:modId xmlns:p14="http://schemas.microsoft.com/office/powerpoint/2010/main" val="3305012193"/>
              </p:ext>
            </p:extLst>
          </p:nvPr>
        </p:nvGraphicFramePr>
        <p:xfrm>
          <a:off x="7667625" y="3517935"/>
          <a:ext cx="1223963" cy="400050"/>
        </p:xfrm>
        <a:graphic>
          <a:graphicData uri="http://schemas.openxmlformats.org/presentationml/2006/ole">
            <mc:AlternateContent xmlns:mc="http://schemas.openxmlformats.org/markup-compatibility/2006">
              <mc:Choice xmlns:v="urn:schemas-microsoft-com:vml" Requires="v">
                <p:oleObj name="Equation" r:id="rId11" imgW="660113" imgH="215806" progId="Equation.DSMT4">
                  <p:embed/>
                </p:oleObj>
              </mc:Choice>
              <mc:Fallback>
                <p:oleObj name="Equation" r:id="rId11" imgW="660113" imgH="215806" progId="Equation.DSMT4">
                  <p:embed/>
                  <p:pic>
                    <p:nvPicPr>
                      <p:cNvPr id="64514"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67625" y="3517935"/>
                        <a:ext cx="1223963" cy="400050"/>
                      </a:xfrm>
                      <a:prstGeom prst="rect">
                        <a:avLst/>
                      </a:prstGeom>
                      <a:solidFill>
                        <a:srgbClr val="FFFFFF"/>
                      </a:solidFill>
                    </p:spPr>
                  </p:pic>
                </p:oleObj>
              </mc:Fallback>
            </mc:AlternateContent>
          </a:graphicData>
        </a:graphic>
      </p:graphicFrame>
      <p:graphicFrame>
        <p:nvGraphicFramePr>
          <p:cNvPr id="27" name="Object 8"/>
          <p:cNvGraphicFramePr>
            <a:graphicFrameLocks noChangeAspect="1"/>
          </p:cNvGraphicFramePr>
          <p:nvPr>
            <p:extLst>
              <p:ext uri="{D42A27DB-BD31-4B8C-83A1-F6EECF244321}">
                <p14:modId xmlns:p14="http://schemas.microsoft.com/office/powerpoint/2010/main" val="3079427615"/>
              </p:ext>
            </p:extLst>
          </p:nvPr>
        </p:nvGraphicFramePr>
        <p:xfrm>
          <a:off x="7812088" y="3878263"/>
          <a:ext cx="786967" cy="441325"/>
        </p:xfrm>
        <a:graphic>
          <a:graphicData uri="http://schemas.openxmlformats.org/presentationml/2006/ole">
            <mc:AlternateContent xmlns:mc="http://schemas.openxmlformats.org/markup-compatibility/2006">
              <mc:Choice xmlns:v="urn:schemas-microsoft-com:vml" Requires="v">
                <p:oleObj name="Equation" r:id="rId13" imgW="368140" imgH="215806" progId="Equation.DSMT4">
                  <p:embed/>
                </p:oleObj>
              </mc:Choice>
              <mc:Fallback>
                <p:oleObj name="Equation" r:id="rId13" imgW="368140" imgH="215806" progId="Equation.DSMT4">
                  <p:embed/>
                  <p:pic>
                    <p:nvPicPr>
                      <p:cNvPr id="64515"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12088" y="3878263"/>
                        <a:ext cx="786967" cy="441325"/>
                      </a:xfrm>
                      <a:prstGeom prst="rect">
                        <a:avLst/>
                      </a:prstGeom>
                      <a:solidFill>
                        <a:srgbClr val="FFFFFF"/>
                      </a:solidFill>
                    </p:spPr>
                  </p:pic>
                </p:oleObj>
              </mc:Fallback>
            </mc:AlternateContent>
          </a:graphicData>
        </a:graphic>
      </p:graphicFrame>
      <p:sp>
        <p:nvSpPr>
          <p:cNvPr id="28" name="Text Box 6"/>
          <p:cNvSpPr txBox="1">
            <a:spLocks noChangeArrowheads="1"/>
          </p:cNvSpPr>
          <p:nvPr/>
        </p:nvSpPr>
        <p:spPr bwMode="auto">
          <a:xfrm>
            <a:off x="5435600" y="2222535"/>
            <a:ext cx="3455988" cy="2491067"/>
          </a:xfrm>
          <a:prstGeom prst="rect">
            <a:avLst/>
          </a:prstGeom>
          <a:noFill/>
          <a:ln w="12700" cap="sq">
            <a:noFill/>
            <a:miter lim="800000"/>
            <a:headEnd/>
            <a:tailEnd/>
          </a:ln>
          <a:effectLst/>
        </p:spPr>
        <p:txBody>
          <a:bodyPr wrap="square">
            <a:spAutoFit/>
          </a:bodyPr>
          <a:lstStyle/>
          <a:p>
            <a:pPr defTabSz="914400" eaLnBrk="0" fontAlgn="base" hangingPunct="0">
              <a:lnSpc>
                <a:spcPct val="120000"/>
              </a:lnSpc>
              <a:spcBef>
                <a:spcPct val="50000"/>
              </a:spcBef>
              <a:spcAft>
                <a:spcPct val="0"/>
              </a:spcAft>
            </a:pPr>
            <a:r>
              <a:rPr kumimoji="1" lang="zh-CN" altLang="en-US" sz="2200" b="1" dirty="0">
                <a:solidFill>
                  <a:srgbClr val="000000"/>
                </a:solidFill>
                <a:latin typeface="Times New Roman" pitchFamily="18" charset="0"/>
                <a:ea typeface="宋体" pitchFamily="2" charset="-122"/>
              </a:rPr>
              <a:t>利用微扰论求解电子能量本征值时，微扰项具有周期势形式。周期性微扰势作用下</a:t>
            </a:r>
            <a:r>
              <a:rPr kumimoji="1" lang="en-US" altLang="zh-CN" sz="2200" b="1" i="1" dirty="0">
                <a:solidFill>
                  <a:srgbClr val="000000"/>
                </a:solidFill>
                <a:latin typeface="Times New Roman" pitchFamily="18" charset="0"/>
                <a:ea typeface="宋体" pitchFamily="2" charset="-122"/>
              </a:rPr>
              <a:t>k</a:t>
            </a:r>
            <a:r>
              <a:rPr kumimoji="1" lang="zh-CN" altLang="en-US" sz="2200" b="1" dirty="0">
                <a:solidFill>
                  <a:srgbClr val="000000"/>
                </a:solidFill>
                <a:latin typeface="Times New Roman" pitchFamily="18" charset="0"/>
                <a:ea typeface="宋体" pitchFamily="2" charset="-122"/>
              </a:rPr>
              <a:t>状态只与                   状态发生作用。在              处</a:t>
            </a:r>
          </a:p>
        </p:txBody>
      </p:sp>
      <p:graphicFrame>
        <p:nvGraphicFramePr>
          <p:cNvPr id="29" name="Object 14"/>
          <p:cNvGraphicFramePr>
            <a:graphicFrameLocks noChangeAspect="1"/>
          </p:cNvGraphicFramePr>
          <p:nvPr>
            <p:extLst>
              <p:ext uri="{D42A27DB-BD31-4B8C-83A1-F6EECF244321}">
                <p14:modId xmlns:p14="http://schemas.microsoft.com/office/powerpoint/2010/main" val="1250467968"/>
              </p:ext>
            </p:extLst>
          </p:nvPr>
        </p:nvGraphicFramePr>
        <p:xfrm>
          <a:off x="6300192" y="4387413"/>
          <a:ext cx="1800225" cy="787400"/>
        </p:xfrm>
        <a:graphic>
          <a:graphicData uri="http://schemas.openxmlformats.org/presentationml/2006/ole">
            <mc:AlternateContent xmlns:mc="http://schemas.openxmlformats.org/markup-compatibility/2006">
              <mc:Choice xmlns:v="urn:schemas-microsoft-com:vml" Requires="v">
                <p:oleObj name="公式" r:id="rId15" imgW="1066800" imgH="469900" progId="Equation.3">
                  <p:embed/>
                </p:oleObj>
              </mc:Choice>
              <mc:Fallback>
                <p:oleObj name="公式" r:id="rId15" imgW="1066800" imgH="469900" progId="Equation.3">
                  <p:embed/>
                  <p:pic>
                    <p:nvPicPr>
                      <p:cNvPr id="64526"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00192" y="4387413"/>
                        <a:ext cx="180022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Line 18"/>
          <p:cNvSpPr>
            <a:spLocks noChangeShapeType="1"/>
          </p:cNvSpPr>
          <p:nvPr/>
        </p:nvSpPr>
        <p:spPr bwMode="auto">
          <a:xfrm>
            <a:off x="2843213" y="1303639"/>
            <a:ext cx="360362" cy="217487"/>
          </a:xfrm>
          <a:prstGeom prst="line">
            <a:avLst/>
          </a:prstGeom>
          <a:noFill/>
          <a:ln w="57150">
            <a:solidFill>
              <a:srgbClr val="FF3300"/>
            </a:solidFill>
            <a:round/>
            <a:headEnd/>
            <a:tailEnd type="triangle" w="med" len="med"/>
          </a:ln>
          <a:effectLst/>
        </p:spPr>
        <p:txBody>
          <a:bodyPr/>
          <a:lstStyle/>
          <a:p>
            <a:pPr defTabSz="914400" eaLnBrk="0" fontAlgn="base" hangingPunct="0">
              <a:spcBef>
                <a:spcPct val="0"/>
              </a:spcBef>
              <a:spcAft>
                <a:spcPct val="0"/>
              </a:spcAft>
            </a:pPr>
            <a:endParaRPr lang="zh-CN" altLang="en-US">
              <a:solidFill>
                <a:srgbClr val="000000"/>
              </a:solidFill>
              <a:latin typeface="Tahoma" pitchFamily="34" charset="0"/>
            </a:endParaRPr>
          </a:p>
        </p:txBody>
      </p:sp>
      <p:sp>
        <p:nvSpPr>
          <p:cNvPr id="31" name="Text Box 19"/>
          <p:cNvSpPr txBox="1">
            <a:spLocks noChangeArrowheads="1"/>
          </p:cNvSpPr>
          <p:nvPr/>
        </p:nvSpPr>
        <p:spPr bwMode="auto">
          <a:xfrm>
            <a:off x="3421063" y="1232201"/>
            <a:ext cx="1295400" cy="758825"/>
          </a:xfrm>
          <a:prstGeom prst="rect">
            <a:avLst/>
          </a:prstGeom>
          <a:noFill/>
          <a:ln w="57150" cmpd="thickThin">
            <a:solidFill>
              <a:srgbClr val="FF0000"/>
            </a:solidFill>
            <a:miter lim="800000"/>
            <a:headEnd/>
            <a:tailEnd/>
          </a:ln>
          <a:effectLst/>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0" lang="zh-CN" altLang="en-US" sz="2000" b="1" i="0" u="none" strike="noStrike" kern="0" cap="none" spc="0" normalizeH="0" baseline="0" noProof="0">
                <a:ln>
                  <a:noFill/>
                </a:ln>
                <a:solidFill>
                  <a:srgbClr val="000000"/>
                </a:solidFill>
                <a:effectLst/>
                <a:uLnTx/>
                <a:uFillTx/>
                <a:latin typeface="Tahoma" pitchFamily="34" charset="0"/>
                <a:ea typeface="宋体" pitchFamily="2" charset="-122"/>
              </a:rPr>
              <a:t>能级是准连续的</a:t>
            </a:r>
          </a:p>
        </p:txBody>
      </p:sp>
      <p:sp>
        <p:nvSpPr>
          <p:cNvPr id="32" name="Line 20"/>
          <p:cNvSpPr>
            <a:spLocks noChangeShapeType="1"/>
          </p:cNvSpPr>
          <p:nvPr/>
        </p:nvSpPr>
        <p:spPr bwMode="auto">
          <a:xfrm flipH="1">
            <a:off x="4859338" y="1376664"/>
            <a:ext cx="504825" cy="144462"/>
          </a:xfrm>
          <a:prstGeom prst="line">
            <a:avLst/>
          </a:prstGeom>
          <a:noFill/>
          <a:ln w="57150">
            <a:solidFill>
              <a:srgbClr val="FF0000"/>
            </a:solidFill>
            <a:round/>
            <a:headEnd/>
            <a:tailEnd type="triangle" w="med" len="med"/>
          </a:ln>
          <a:effec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ahoma" pitchFamily="34" charset="0"/>
            </a:endParaRPr>
          </a:p>
        </p:txBody>
      </p:sp>
      <p:sp>
        <p:nvSpPr>
          <p:cNvPr id="33" name="Rectangle 21"/>
          <p:cNvSpPr>
            <a:spLocks noChangeArrowheads="1"/>
          </p:cNvSpPr>
          <p:nvPr/>
        </p:nvSpPr>
        <p:spPr bwMode="auto">
          <a:xfrm>
            <a:off x="5651500" y="5294347"/>
            <a:ext cx="3232150" cy="457200"/>
          </a:xfrm>
          <a:prstGeom prst="rect">
            <a:avLst/>
          </a:prstGeom>
          <a:noFill/>
          <a:ln w="9525">
            <a:noFill/>
            <a:miter lim="800000"/>
            <a:headEnd/>
            <a:tailEnd/>
          </a:ln>
          <a:effectLst/>
        </p:spPr>
        <p:txBody>
          <a:bodyPr wrap="none">
            <a:spAutoFit/>
          </a:bodyPr>
          <a:lstStyle/>
          <a:p>
            <a:pPr defTabSz="914400" eaLnBrk="0" fontAlgn="base" hangingPunct="0">
              <a:spcBef>
                <a:spcPct val="0"/>
              </a:spcBef>
              <a:spcAft>
                <a:spcPct val="0"/>
              </a:spcAft>
            </a:pPr>
            <a:r>
              <a:rPr kumimoji="1" lang="zh-CN" altLang="en-US" sz="2400" b="1">
                <a:solidFill>
                  <a:srgbClr val="FF3300"/>
                </a:solidFill>
                <a:latin typeface="Tahoma" pitchFamily="34" charset="0"/>
                <a:ea typeface="宋体" pitchFamily="2" charset="-122"/>
              </a:rPr>
              <a:t>需要采用简并微扰方法</a:t>
            </a:r>
          </a:p>
        </p:txBody>
      </p:sp>
      <p:graphicFrame>
        <p:nvGraphicFramePr>
          <p:cNvPr id="34" name="Object 5"/>
          <p:cNvGraphicFramePr>
            <a:graphicFrameLocks noChangeAspect="1"/>
          </p:cNvGraphicFramePr>
          <p:nvPr>
            <p:extLst>
              <p:ext uri="{D42A27DB-BD31-4B8C-83A1-F6EECF244321}">
                <p14:modId xmlns:p14="http://schemas.microsoft.com/office/powerpoint/2010/main" val="1622754317"/>
              </p:ext>
            </p:extLst>
          </p:nvPr>
        </p:nvGraphicFramePr>
        <p:xfrm>
          <a:off x="1331640" y="3950677"/>
          <a:ext cx="1447502" cy="712217"/>
        </p:xfrm>
        <a:graphic>
          <a:graphicData uri="http://schemas.openxmlformats.org/presentationml/2006/ole">
            <mc:AlternateContent xmlns:mc="http://schemas.openxmlformats.org/markup-compatibility/2006">
              <mc:Choice xmlns:v="urn:schemas-microsoft-com:vml" Requires="v">
                <p:oleObj name="Equation" r:id="rId17" imgW="799753" imgH="393529" progId="Equation.3">
                  <p:embed/>
                </p:oleObj>
              </mc:Choice>
              <mc:Fallback>
                <p:oleObj name="Equation" r:id="rId17" imgW="799753" imgH="393529" progId="Equation.3">
                  <p:embed/>
                  <p:pic>
                    <p:nvPicPr>
                      <p:cNvPr id="2"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31640" y="3950677"/>
                        <a:ext cx="1447502" cy="712217"/>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14"/>
          <p:cNvGraphicFramePr>
            <a:graphicFrameLocks noChangeAspect="1"/>
          </p:cNvGraphicFramePr>
          <p:nvPr>
            <p:extLst>
              <p:ext uri="{D42A27DB-BD31-4B8C-83A1-F6EECF244321}">
                <p14:modId xmlns:p14="http://schemas.microsoft.com/office/powerpoint/2010/main" val="202091014"/>
              </p:ext>
            </p:extLst>
          </p:nvPr>
        </p:nvGraphicFramePr>
        <p:xfrm>
          <a:off x="4068763" y="6062334"/>
          <a:ext cx="859894" cy="423863"/>
        </p:xfrm>
        <a:graphic>
          <a:graphicData uri="http://schemas.openxmlformats.org/presentationml/2006/ole">
            <mc:AlternateContent xmlns:mc="http://schemas.openxmlformats.org/markup-compatibility/2006">
              <mc:Choice xmlns:v="urn:schemas-microsoft-com:vml" Requires="v">
                <p:oleObj name="Equation" r:id="rId19" imgW="368140" imgH="215806" progId="Equation.DSMT4">
                  <p:embed/>
                </p:oleObj>
              </mc:Choice>
              <mc:Fallback>
                <p:oleObj name="Equation" r:id="rId19" imgW="368140" imgH="215806" progId="Equation.DSMT4">
                  <p:embed/>
                  <p:pic>
                    <p:nvPicPr>
                      <p:cNvPr id="64519"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68763" y="6062334"/>
                        <a:ext cx="859894" cy="423863"/>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1032119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47</a:t>
            </a:fld>
            <a:endParaRPr lang="zh-CN" altLang="en-US"/>
          </a:p>
        </p:txBody>
      </p:sp>
      <p:graphicFrame>
        <p:nvGraphicFramePr>
          <p:cNvPr id="3" name="Object 11"/>
          <p:cNvGraphicFramePr>
            <a:graphicFrameLocks noChangeAspect="1"/>
          </p:cNvGraphicFramePr>
          <p:nvPr>
            <p:extLst>
              <p:ext uri="{D42A27DB-BD31-4B8C-83A1-F6EECF244321}">
                <p14:modId xmlns:p14="http://schemas.microsoft.com/office/powerpoint/2010/main" val="1347062695"/>
              </p:ext>
            </p:extLst>
          </p:nvPr>
        </p:nvGraphicFramePr>
        <p:xfrm>
          <a:off x="1441670" y="1069869"/>
          <a:ext cx="6404676" cy="4387922"/>
        </p:xfrm>
        <a:graphic>
          <a:graphicData uri="http://schemas.openxmlformats.org/presentationml/2006/ole">
            <mc:AlternateContent xmlns:mc="http://schemas.openxmlformats.org/markup-compatibility/2006">
              <mc:Choice xmlns:v="urn:schemas-microsoft-com:vml" Requires="v">
                <p:oleObj name="BMP 图象" r:id="rId2" imgW="7163800" imgH="4219048" progId="PBrush">
                  <p:embed/>
                </p:oleObj>
              </mc:Choice>
              <mc:Fallback>
                <p:oleObj name="BMP 图象" r:id="rId2" imgW="7163800" imgH="4219048" progId="PBrush">
                  <p:embed/>
                  <p:pic>
                    <p:nvPicPr>
                      <p:cNvPr id="252939"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670" y="1069869"/>
                        <a:ext cx="6404676" cy="438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Box 21"/>
          <p:cNvSpPr txBox="1"/>
          <p:nvPr/>
        </p:nvSpPr>
        <p:spPr bwMode="auto">
          <a:xfrm>
            <a:off x="323528" y="107195"/>
            <a:ext cx="8640960"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考虑</a:t>
            </a:r>
            <a:r>
              <a:rPr kumimoji="1" lang="en-US" altLang="zh-CN" sz="2400" b="1" i="1" dirty="0">
                <a:solidFill>
                  <a:srgbClr val="000000"/>
                </a:solidFill>
                <a:latin typeface="Times New Roman" pitchFamily="18" charset="0"/>
                <a:ea typeface="宋体" pitchFamily="2" charset="-122"/>
              </a:rPr>
              <a:t>E-K</a:t>
            </a:r>
            <a:r>
              <a:rPr kumimoji="1" lang="zh-CN" altLang="en-US" sz="2400" b="1" dirty="0">
                <a:solidFill>
                  <a:srgbClr val="000000"/>
                </a:solidFill>
                <a:latin typeface="Times New Roman" pitchFamily="18" charset="0"/>
                <a:ea typeface="宋体" pitchFamily="2" charset="-122"/>
              </a:rPr>
              <a:t>关系的周期性，则在整个</a:t>
            </a:r>
            <a:r>
              <a:rPr kumimoji="1" lang="en-US" altLang="zh-CN" sz="2400" b="1" dirty="0">
                <a:solidFill>
                  <a:srgbClr val="000000"/>
                </a:solidFill>
                <a:latin typeface="Times New Roman" pitchFamily="18" charset="0"/>
                <a:ea typeface="宋体" pitchFamily="2" charset="-122"/>
              </a:rPr>
              <a:t>K</a:t>
            </a:r>
            <a:r>
              <a:rPr kumimoji="1" lang="zh-CN" altLang="en-US" sz="2400" b="1" dirty="0">
                <a:solidFill>
                  <a:srgbClr val="000000"/>
                </a:solidFill>
                <a:latin typeface="Times New Roman" pitchFamily="18" charset="0"/>
                <a:ea typeface="宋体" pitchFamily="2" charset="-122"/>
              </a:rPr>
              <a:t>空间，</a:t>
            </a:r>
            <a:r>
              <a:rPr kumimoji="1" lang="en-US" altLang="zh-CN" sz="2400" b="1" dirty="0">
                <a:solidFill>
                  <a:srgbClr val="000000"/>
                </a:solidFill>
                <a:latin typeface="Times New Roman" pitchFamily="18" charset="0"/>
                <a:ea typeface="宋体" pitchFamily="2" charset="-122"/>
              </a:rPr>
              <a:t>E-K</a:t>
            </a:r>
            <a:r>
              <a:rPr kumimoji="1" lang="zh-CN" altLang="en-US" sz="2400" b="1" dirty="0">
                <a:solidFill>
                  <a:srgbClr val="000000"/>
                </a:solidFill>
                <a:latin typeface="Times New Roman" pitchFamily="18" charset="0"/>
                <a:ea typeface="宋体" pitchFamily="2" charset="-122"/>
              </a:rPr>
              <a:t>关系表现为如下图所示的依赖关系</a:t>
            </a:r>
          </a:p>
        </p:txBody>
      </p:sp>
      <p:sp>
        <p:nvSpPr>
          <p:cNvPr id="5" name="Text Box 3"/>
          <p:cNvSpPr txBox="1">
            <a:spLocks noChangeArrowheads="1"/>
          </p:cNvSpPr>
          <p:nvPr/>
        </p:nvSpPr>
        <p:spPr bwMode="auto">
          <a:xfrm>
            <a:off x="0" y="5410139"/>
            <a:ext cx="9113560" cy="1421928"/>
          </a:xfrm>
          <a:prstGeom prst="rect">
            <a:avLst/>
          </a:prstGeom>
          <a:noFill/>
          <a:ln w="12700" cap="sq">
            <a:noFill/>
            <a:miter lim="800000"/>
            <a:headEnd type="none" w="sm" len="sm"/>
            <a:tailEnd type="none" w="sm" len="sm"/>
          </a:ln>
          <a:effectLst/>
        </p:spPr>
        <p:txBody>
          <a:bodyPr wrap="square">
            <a:spAutoFit/>
          </a:bodyPr>
          <a:lstStyle/>
          <a:p>
            <a:pPr defTabSz="914400" eaLnBrk="0" fontAlgn="base" hangingPunct="0">
              <a:lnSpc>
                <a:spcPct val="120000"/>
              </a:lnSpc>
              <a:spcBef>
                <a:spcPct val="50000"/>
              </a:spcBef>
              <a:spcAft>
                <a:spcPct val="0"/>
              </a:spcAft>
            </a:pPr>
            <a:r>
              <a:rPr kumimoji="1" lang="zh-CN" altLang="en-US" sz="2400" b="1" dirty="0">
                <a:solidFill>
                  <a:srgbClr val="FF3300"/>
                </a:solidFill>
                <a:latin typeface="Times New Roman" pitchFamily="18" charset="0"/>
                <a:ea typeface="宋体" pitchFamily="2" charset="-122"/>
                <a:cs typeface="Times New Roman" pitchFamily="18" charset="0"/>
              </a:rPr>
              <a:t>布里渊区</a:t>
            </a:r>
            <a:r>
              <a:rPr kumimoji="1" lang="zh-CN" altLang="en-US" sz="2400" b="1" dirty="0">
                <a:solidFill>
                  <a:srgbClr val="000000"/>
                </a:solidFill>
                <a:latin typeface="Times New Roman" pitchFamily="18" charset="0"/>
                <a:ea typeface="宋体" pitchFamily="2" charset="-122"/>
                <a:cs typeface="Times New Roman" pitchFamily="18" charset="0"/>
              </a:rPr>
              <a:t>：由于</a:t>
            </a:r>
            <a:r>
              <a:rPr kumimoji="1" lang="en-US" altLang="zh-CN" sz="2400" b="1" i="1" dirty="0">
                <a:solidFill>
                  <a:srgbClr val="000000"/>
                </a:solidFill>
                <a:latin typeface="Times New Roman" pitchFamily="18" charset="0"/>
                <a:ea typeface="宋体" pitchFamily="2" charset="-122"/>
                <a:cs typeface="Times New Roman" pitchFamily="18" charset="0"/>
              </a:rPr>
              <a:t>E-k</a:t>
            </a:r>
            <a:r>
              <a:rPr kumimoji="1" lang="zh-CN" altLang="en-US" sz="2400" b="1" dirty="0">
                <a:solidFill>
                  <a:srgbClr val="000000"/>
                </a:solidFill>
                <a:latin typeface="Times New Roman" pitchFamily="18" charset="0"/>
                <a:ea typeface="宋体" pitchFamily="2" charset="-122"/>
                <a:cs typeface="Times New Roman" pitchFamily="18" charset="0"/>
              </a:rPr>
              <a:t>关系的周期性，为保证 </a:t>
            </a:r>
            <a:r>
              <a:rPr kumimoji="1" lang="en-US" altLang="zh-CN" sz="2400" b="1" i="1" dirty="0">
                <a:solidFill>
                  <a:srgbClr val="000000"/>
                </a:solidFill>
                <a:latin typeface="Times New Roman" pitchFamily="18" charset="0"/>
                <a:ea typeface="宋体" pitchFamily="2" charset="-122"/>
                <a:cs typeface="Times New Roman" pitchFamily="18" charset="0"/>
              </a:rPr>
              <a:t>E-k </a:t>
            </a:r>
            <a:r>
              <a:rPr kumimoji="1" lang="zh-CN" altLang="en-US" sz="2400" b="1" dirty="0">
                <a:solidFill>
                  <a:srgbClr val="000000"/>
                </a:solidFill>
                <a:latin typeface="Times New Roman" pitchFamily="18" charset="0"/>
                <a:ea typeface="宋体" pitchFamily="2" charset="-122"/>
                <a:cs typeface="Times New Roman" pitchFamily="18" charset="0"/>
              </a:rPr>
              <a:t>关系的一一对应性，通常将 </a:t>
            </a:r>
            <a:r>
              <a:rPr kumimoji="1" lang="en-US" altLang="zh-CN" sz="2400" b="1" i="1" dirty="0">
                <a:solidFill>
                  <a:srgbClr val="000000"/>
                </a:solidFill>
                <a:latin typeface="Times New Roman" pitchFamily="18" charset="0"/>
                <a:ea typeface="宋体" pitchFamily="2" charset="-122"/>
                <a:cs typeface="Times New Roman" pitchFamily="18" charset="0"/>
              </a:rPr>
              <a:t>k </a:t>
            </a:r>
            <a:r>
              <a:rPr kumimoji="1" lang="zh-CN" altLang="en-US" sz="2400" b="1" dirty="0">
                <a:solidFill>
                  <a:srgbClr val="000000"/>
                </a:solidFill>
                <a:latin typeface="Times New Roman" pitchFamily="18" charset="0"/>
                <a:ea typeface="宋体" pitchFamily="2" charset="-122"/>
                <a:cs typeface="Times New Roman" pitchFamily="18" charset="0"/>
              </a:rPr>
              <a:t>值限定在某一区间范围，称为布里渊区。在</a:t>
            </a:r>
            <a:r>
              <a:rPr kumimoji="1" lang="en-US" altLang="zh-CN" sz="2400" b="1" dirty="0">
                <a:solidFill>
                  <a:srgbClr val="000000"/>
                </a:solidFill>
                <a:latin typeface="Times New Roman" pitchFamily="18" charset="0"/>
                <a:ea typeface="宋体" pitchFamily="2" charset="-122"/>
                <a:cs typeface="Times New Roman" pitchFamily="18" charset="0"/>
              </a:rPr>
              <a:t>K</a:t>
            </a:r>
            <a:r>
              <a:rPr kumimoji="1" lang="zh-CN" altLang="en-US" sz="2400" b="1" dirty="0">
                <a:solidFill>
                  <a:srgbClr val="000000"/>
                </a:solidFill>
                <a:latin typeface="Times New Roman" pitchFamily="18" charset="0"/>
                <a:ea typeface="宋体" pitchFamily="2" charset="-122"/>
                <a:cs typeface="Times New Roman" pitchFamily="18" charset="0"/>
              </a:rPr>
              <a:t>空间，存在多个布里渊区，在每个布里渊区， </a:t>
            </a:r>
            <a:r>
              <a:rPr kumimoji="1" lang="en-US" altLang="zh-CN" sz="2400" b="1" i="1" dirty="0">
                <a:solidFill>
                  <a:srgbClr val="000000"/>
                </a:solidFill>
                <a:latin typeface="Times New Roman" pitchFamily="18" charset="0"/>
                <a:ea typeface="宋体" pitchFamily="2" charset="-122"/>
                <a:cs typeface="Times New Roman" pitchFamily="18" charset="0"/>
              </a:rPr>
              <a:t>E-k </a:t>
            </a:r>
            <a:r>
              <a:rPr kumimoji="1" lang="zh-CN" altLang="en-US" sz="2400" b="1" dirty="0">
                <a:solidFill>
                  <a:srgbClr val="000000"/>
                </a:solidFill>
                <a:latin typeface="Times New Roman" pitchFamily="18" charset="0"/>
                <a:ea typeface="宋体" pitchFamily="2" charset="-122"/>
                <a:cs typeface="Times New Roman" pitchFamily="18" charset="0"/>
              </a:rPr>
              <a:t>关系具有一一对应关系。</a:t>
            </a:r>
          </a:p>
        </p:txBody>
      </p:sp>
    </p:spTree>
    <p:extLst>
      <p:ext uri="{BB962C8B-B14F-4D97-AF65-F5344CB8AC3E}">
        <p14:creationId xmlns:p14="http://schemas.microsoft.com/office/powerpoint/2010/main" val="3882577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48</a:t>
            </a:fld>
            <a:endParaRPr lang="zh-CN" altLang="en-US"/>
          </a:p>
        </p:txBody>
      </p:sp>
      <p:sp>
        <p:nvSpPr>
          <p:cNvPr id="3" name="Text Box 3"/>
          <p:cNvSpPr txBox="1">
            <a:spLocks noChangeArrowheads="1"/>
          </p:cNvSpPr>
          <p:nvPr/>
        </p:nvSpPr>
        <p:spPr bwMode="auto">
          <a:xfrm>
            <a:off x="496857" y="369079"/>
            <a:ext cx="8208963" cy="5945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eaLnBrk="0" fontAlgn="base" hangingPunct="0">
              <a:lnSpc>
                <a:spcPct val="120000"/>
              </a:lnSpc>
              <a:spcBef>
                <a:spcPts val="100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基于能带论，对晶体周期性势场中电子薛定谔方程的解，可获得如下一些结论：</a:t>
            </a:r>
            <a:endParaRPr kumimoji="1" lang="en-US" altLang="zh-CN" sz="2400" b="1" dirty="0">
              <a:solidFill>
                <a:srgbClr val="000000"/>
              </a:solidFill>
              <a:latin typeface="Times New Roman" pitchFamily="18" charset="0"/>
              <a:ea typeface="宋体" pitchFamily="2" charset="-122"/>
              <a:cs typeface="Times New Roman" pitchFamily="18" charset="0"/>
            </a:endParaRPr>
          </a:p>
          <a:p>
            <a:pPr defTabSz="914400" eaLnBrk="0" fontAlgn="base" hangingPunct="0">
              <a:lnSpc>
                <a:spcPct val="120000"/>
              </a:lnSpc>
              <a:spcBef>
                <a:spcPts val="1000"/>
              </a:spcBef>
              <a:spcAft>
                <a:spcPct val="0"/>
              </a:spcAft>
            </a:pPr>
            <a:r>
              <a:rPr kumimoji="1" lang="zh-CN" altLang="en-US" sz="2400" b="1" dirty="0">
                <a:solidFill>
                  <a:srgbClr val="FF3300"/>
                </a:solidFill>
                <a:latin typeface="Times New Roman" pitchFamily="18" charset="0"/>
                <a:ea typeface="宋体" pitchFamily="2" charset="-122"/>
                <a:cs typeface="Times New Roman" pitchFamily="18" charset="0"/>
              </a:rPr>
              <a:t>晶体中电子的波函数</a:t>
            </a:r>
            <a:r>
              <a:rPr kumimoji="1" lang="zh-CN" altLang="en-US" sz="2400" b="1" dirty="0">
                <a:solidFill>
                  <a:srgbClr val="000000"/>
                </a:solidFill>
                <a:latin typeface="Times New Roman" pitchFamily="18" charset="0"/>
                <a:ea typeface="宋体" pitchFamily="2" charset="-122"/>
                <a:cs typeface="Times New Roman" pitchFamily="18" charset="0"/>
              </a:rPr>
              <a:t>：具有平面波特征，</a:t>
            </a:r>
            <a:endParaRPr kumimoji="1" lang="en-US" altLang="zh-CN" sz="2400" b="1" dirty="0">
              <a:solidFill>
                <a:srgbClr val="000000"/>
              </a:solidFill>
              <a:latin typeface="Times New Roman" pitchFamily="18" charset="0"/>
              <a:ea typeface="宋体" pitchFamily="2" charset="-122"/>
              <a:cs typeface="Times New Roman" pitchFamily="18" charset="0"/>
            </a:endParaRPr>
          </a:p>
          <a:p>
            <a:pPr marL="342900" lvl="1" indent="-342900" defTabSz="914400" eaLnBrk="0" fontAlgn="base" hangingPunct="0">
              <a:lnSpc>
                <a:spcPct val="120000"/>
              </a:lnSpc>
              <a:spcBef>
                <a:spcPts val="50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    </a:t>
            </a:r>
            <a:endParaRPr kumimoji="1" lang="en-US" altLang="zh-CN" sz="2400" b="1" dirty="0">
              <a:solidFill>
                <a:srgbClr val="000000"/>
              </a:solidFill>
              <a:latin typeface="Times New Roman" pitchFamily="18" charset="0"/>
              <a:ea typeface="宋体" pitchFamily="2" charset="-122"/>
              <a:cs typeface="Times New Roman" pitchFamily="18" charset="0"/>
            </a:endParaRPr>
          </a:p>
          <a:p>
            <a:pPr marL="342900" lvl="1" indent="-342900" defTabSz="914400" eaLnBrk="0" fontAlgn="base" hangingPunct="0">
              <a:lnSpc>
                <a:spcPct val="120000"/>
              </a:lnSpc>
              <a:spcBef>
                <a:spcPts val="50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称为布洛赫波，其中 </a:t>
            </a:r>
            <a:r>
              <a:rPr kumimoji="1" lang="en-US" altLang="zh-CN" sz="2400" b="1" i="1" dirty="0">
                <a:solidFill>
                  <a:srgbClr val="000000"/>
                </a:solidFill>
                <a:latin typeface="Times New Roman" pitchFamily="18" charset="0"/>
                <a:ea typeface="宋体" pitchFamily="2" charset="-122"/>
                <a:cs typeface="Times New Roman" pitchFamily="18" charset="0"/>
              </a:rPr>
              <a:t>    </a:t>
            </a:r>
            <a:r>
              <a:rPr kumimoji="1" lang="zh-CN" altLang="en-US" sz="2400" b="1" dirty="0">
                <a:solidFill>
                  <a:srgbClr val="000000"/>
                </a:solidFill>
                <a:latin typeface="Times New Roman" pitchFamily="18" charset="0"/>
                <a:ea typeface="宋体" pitchFamily="2" charset="-122"/>
                <a:cs typeface="Times New Roman" pitchFamily="18" charset="0"/>
              </a:rPr>
              <a:t>为波矢，只能取分离值；</a:t>
            </a:r>
          </a:p>
          <a:p>
            <a:pPr marL="342900" lvl="1" indent="-342900" defTabSz="914400" eaLnBrk="0" fontAlgn="base" hangingPunct="0">
              <a:lnSpc>
                <a:spcPct val="120000"/>
              </a:lnSpc>
              <a:spcBef>
                <a:spcPts val="500"/>
              </a:spcBef>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                     为周期函数 ；</a:t>
            </a:r>
          </a:p>
          <a:p>
            <a:pPr marL="342900" lvl="1" indent="-342900" defTabSz="914400" eaLnBrk="0" fontAlgn="base" hangingPunct="0">
              <a:lnSpc>
                <a:spcPct val="120000"/>
              </a:lnSpc>
              <a:spcBef>
                <a:spcPts val="500"/>
              </a:spcBef>
              <a:spcAft>
                <a:spcPct val="0"/>
              </a:spcAft>
            </a:pPr>
            <a:r>
              <a:rPr kumimoji="1" lang="zh-CN" altLang="en-US" b="1" dirty="0">
                <a:solidFill>
                  <a:srgbClr val="000000"/>
                </a:solidFill>
                <a:latin typeface="Tahoma" pitchFamily="34" charset="0"/>
                <a:ea typeface="宋体" pitchFamily="2" charset="-122"/>
              </a:rPr>
              <a:t>    </a:t>
            </a:r>
            <a:r>
              <a:rPr kumimoji="1" lang="zh-CN" altLang="en-US" sz="2400" b="1" dirty="0">
                <a:solidFill>
                  <a:srgbClr val="000000"/>
                </a:solidFill>
                <a:latin typeface="Times New Roman" pitchFamily="18" charset="0"/>
                <a:ea typeface="宋体" pitchFamily="2" charset="-122"/>
              </a:rPr>
              <a:t>波矢的取值由具体的晶体结构确定。</a:t>
            </a:r>
          </a:p>
          <a:p>
            <a:pPr marL="342900" lvl="1" indent="-342900" defTabSz="914400" eaLnBrk="0" fontAlgn="base" hangingPunct="0">
              <a:lnSpc>
                <a:spcPct val="120000"/>
              </a:lnSpc>
              <a:spcBef>
                <a:spcPts val="500"/>
              </a:spcBef>
              <a:spcAft>
                <a:spcPct val="0"/>
              </a:spcAft>
            </a:pPr>
            <a:endParaRPr kumimoji="1" lang="zh-CN" altLang="en-US" sz="2400" b="1" dirty="0">
              <a:solidFill>
                <a:srgbClr val="000000"/>
              </a:solidFill>
              <a:latin typeface="Times New Roman" pitchFamily="18" charset="0"/>
              <a:ea typeface="宋体" pitchFamily="2" charset="-122"/>
            </a:endParaRPr>
          </a:p>
          <a:p>
            <a:pPr marL="342900" lvl="1" indent="-342900" defTabSz="914400" eaLnBrk="0" fontAlgn="base" hangingPunct="0">
              <a:lnSpc>
                <a:spcPct val="120000"/>
              </a:lnSpc>
              <a:spcBef>
                <a:spcPts val="500"/>
              </a:spcBef>
              <a:spcAft>
                <a:spcPct val="0"/>
              </a:spcAft>
            </a:pPr>
            <a:endParaRPr kumimoji="1" lang="zh-CN" altLang="en-US" sz="2400" b="1" dirty="0">
              <a:solidFill>
                <a:srgbClr val="000000"/>
              </a:solidFill>
              <a:latin typeface="Times New Roman" pitchFamily="18" charset="0"/>
              <a:ea typeface="宋体" pitchFamily="2" charset="-122"/>
            </a:endParaRPr>
          </a:p>
          <a:p>
            <a:pPr marL="342900" lvl="1" indent="-342900" defTabSz="914400" eaLnBrk="0" fontAlgn="base" hangingPunct="0">
              <a:lnSpc>
                <a:spcPct val="120000"/>
              </a:lnSpc>
              <a:spcBef>
                <a:spcPts val="500"/>
              </a:spcBef>
              <a:spcAft>
                <a:spcPct val="0"/>
              </a:spcAft>
              <a:buFont typeface="Arial" charset="0"/>
              <a:buChar char="•"/>
            </a:pPr>
            <a:r>
              <a:rPr kumimoji="1" lang="en-US" altLang="zh-CN" sz="2400" b="1" dirty="0">
                <a:solidFill>
                  <a:srgbClr val="FF3300"/>
                </a:solidFill>
                <a:latin typeface="Times New Roman" pitchFamily="18" charset="0"/>
                <a:ea typeface="宋体" pitchFamily="2" charset="-122"/>
              </a:rPr>
              <a:t>K</a:t>
            </a:r>
            <a:r>
              <a:rPr kumimoji="1" lang="zh-CN" altLang="en-US" sz="2400" b="1" dirty="0">
                <a:solidFill>
                  <a:srgbClr val="FF3300"/>
                </a:solidFill>
                <a:latin typeface="Times New Roman" pitchFamily="18" charset="0"/>
                <a:ea typeface="宋体" pitchFamily="2" charset="-122"/>
              </a:rPr>
              <a:t>空间：</a:t>
            </a:r>
            <a:r>
              <a:rPr kumimoji="1" lang="en-US" altLang="zh-CN" sz="2400" b="1" i="1" dirty="0">
                <a:solidFill>
                  <a:srgbClr val="FF3300"/>
                </a:solidFill>
                <a:latin typeface="Times New Roman" pitchFamily="18" charset="0"/>
                <a:ea typeface="宋体" pitchFamily="2" charset="-122"/>
              </a:rPr>
              <a:t>k</a:t>
            </a:r>
            <a:r>
              <a:rPr kumimoji="1" lang="zh-CN" altLang="en-US" sz="2400" b="1" dirty="0">
                <a:solidFill>
                  <a:srgbClr val="FF3300"/>
                </a:solidFill>
                <a:latin typeface="Times New Roman" pitchFamily="18" charset="0"/>
                <a:ea typeface="宋体" pitchFamily="2" charset="-122"/>
              </a:rPr>
              <a:t>坐标所在空间</a:t>
            </a:r>
            <a:r>
              <a:rPr kumimoji="1" lang="zh-CN" altLang="en-US" sz="2400" b="1" dirty="0">
                <a:solidFill>
                  <a:srgbClr val="000000"/>
                </a:solidFill>
                <a:latin typeface="Times New Roman" pitchFamily="18" charset="0"/>
                <a:ea typeface="宋体" pitchFamily="2" charset="-122"/>
              </a:rPr>
              <a:t>称为（实际上与电子的动量空间对应），在</a:t>
            </a:r>
            <a:r>
              <a:rPr kumimoji="1" lang="en-US" altLang="zh-CN" sz="2400" b="1" dirty="0">
                <a:solidFill>
                  <a:srgbClr val="000000"/>
                </a:solidFill>
                <a:latin typeface="Times New Roman" pitchFamily="18" charset="0"/>
                <a:ea typeface="宋体" pitchFamily="2" charset="-122"/>
              </a:rPr>
              <a:t>K</a:t>
            </a:r>
            <a:r>
              <a:rPr kumimoji="1" lang="zh-CN" altLang="en-US" sz="2400" b="1" dirty="0">
                <a:solidFill>
                  <a:srgbClr val="000000"/>
                </a:solidFill>
                <a:latin typeface="Times New Roman" pitchFamily="18" charset="0"/>
                <a:ea typeface="宋体" pitchFamily="2" charset="-122"/>
              </a:rPr>
              <a:t>空间描述电子能量（能带）形式简单，便于进一步的分析和讨论；</a:t>
            </a:r>
          </a:p>
        </p:txBody>
      </p:sp>
      <p:graphicFrame>
        <p:nvGraphicFramePr>
          <p:cNvPr id="4" name="对象 3"/>
          <p:cNvGraphicFramePr>
            <a:graphicFrameLocks noChangeAspect="1"/>
          </p:cNvGraphicFramePr>
          <p:nvPr>
            <p:extLst>
              <p:ext uri="{D42A27DB-BD31-4B8C-83A1-F6EECF244321}">
                <p14:modId xmlns:p14="http://schemas.microsoft.com/office/powerpoint/2010/main" val="905698878"/>
              </p:ext>
            </p:extLst>
          </p:nvPr>
        </p:nvGraphicFramePr>
        <p:xfrm>
          <a:off x="1208956" y="2835669"/>
          <a:ext cx="863600" cy="636587"/>
        </p:xfrm>
        <a:graphic>
          <a:graphicData uri="http://schemas.openxmlformats.org/presentationml/2006/ole">
            <mc:AlternateContent xmlns:mc="http://schemas.openxmlformats.org/markup-compatibility/2006">
              <mc:Choice xmlns:v="urn:schemas-microsoft-com:vml" Requires="v">
                <p:oleObj name="Equation" r:id="rId2" imgW="342751" imgH="253890" progId="Equation.DSMT4">
                  <p:embed/>
                </p:oleObj>
              </mc:Choice>
              <mc:Fallback>
                <p:oleObj name="Equation" r:id="rId2" imgW="342751" imgH="253890" progId="Equation.DSMT4">
                  <p:embed/>
                  <p:pic>
                    <p:nvPicPr>
                      <p:cNvPr id="65538"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956" y="2835669"/>
                        <a:ext cx="863600" cy="636587"/>
                      </a:xfrm>
                      <a:prstGeom prst="rect">
                        <a:avLst/>
                      </a:prstGeom>
                      <a:solidFill>
                        <a:srgbClr val="FFFFFF"/>
                      </a:solidFill>
                    </p:spPr>
                  </p:pic>
                </p:oleObj>
              </mc:Fallback>
            </mc:AlternateContent>
          </a:graphicData>
        </a:graphic>
      </p:graphicFrame>
      <p:graphicFrame>
        <p:nvGraphicFramePr>
          <p:cNvPr id="5" name="对象 2"/>
          <p:cNvGraphicFramePr>
            <a:graphicFrameLocks noChangeAspect="1"/>
          </p:cNvGraphicFramePr>
          <p:nvPr>
            <p:extLst>
              <p:ext uri="{D42A27DB-BD31-4B8C-83A1-F6EECF244321}">
                <p14:modId xmlns:p14="http://schemas.microsoft.com/office/powerpoint/2010/main" val="2135616297"/>
              </p:ext>
            </p:extLst>
          </p:nvPr>
        </p:nvGraphicFramePr>
        <p:xfrm>
          <a:off x="3388022" y="2400690"/>
          <a:ext cx="285750" cy="434979"/>
        </p:xfrm>
        <a:graphic>
          <a:graphicData uri="http://schemas.openxmlformats.org/presentationml/2006/ole">
            <mc:AlternateContent xmlns:mc="http://schemas.openxmlformats.org/markup-compatibility/2006">
              <mc:Choice xmlns:v="urn:schemas-microsoft-com:vml" Requires="v">
                <p:oleObj name="Equation" r:id="rId4" imgW="139579" imgH="215713" progId="Equation.DSMT4">
                  <p:embed/>
                </p:oleObj>
              </mc:Choice>
              <mc:Fallback>
                <p:oleObj name="Equation" r:id="rId4" imgW="139579" imgH="215713" progId="Equation.DSMT4">
                  <p:embed/>
                  <p:pic>
                    <p:nvPicPr>
                      <p:cNvPr id="65539"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8022" y="2400690"/>
                        <a:ext cx="285750" cy="434979"/>
                      </a:xfrm>
                      <a:prstGeom prst="rect">
                        <a:avLst/>
                      </a:prstGeom>
                      <a:solidFill>
                        <a:srgbClr val="FFFFFF"/>
                      </a:solidFill>
                    </p:spPr>
                  </p:pic>
                </p:oleObj>
              </mc:Fallback>
            </mc:AlternateContent>
          </a:graphicData>
        </a:graphic>
      </p:graphicFrame>
      <p:graphicFrame>
        <p:nvGraphicFramePr>
          <p:cNvPr id="6" name="对象 1"/>
          <p:cNvGraphicFramePr>
            <a:graphicFrameLocks noChangeAspect="1"/>
          </p:cNvGraphicFramePr>
          <p:nvPr>
            <p:extLst>
              <p:ext uri="{D42A27DB-BD31-4B8C-83A1-F6EECF244321}">
                <p14:modId xmlns:p14="http://schemas.microsoft.com/office/powerpoint/2010/main" val="682850191"/>
              </p:ext>
            </p:extLst>
          </p:nvPr>
        </p:nvGraphicFramePr>
        <p:xfrm>
          <a:off x="6329332" y="1305704"/>
          <a:ext cx="2001838" cy="492125"/>
        </p:xfrm>
        <a:graphic>
          <a:graphicData uri="http://schemas.openxmlformats.org/presentationml/2006/ole">
            <mc:AlternateContent xmlns:mc="http://schemas.openxmlformats.org/markup-compatibility/2006">
              <mc:Choice xmlns:v="urn:schemas-microsoft-com:vml" Requires="v">
                <p:oleObj name="Equation" r:id="rId6" imgW="977900" imgH="241300" progId="Equation.DSMT4">
                  <p:embed/>
                </p:oleObj>
              </mc:Choice>
              <mc:Fallback>
                <p:oleObj name="Equation" r:id="rId6" imgW="977900" imgH="241300" progId="Equation.DSMT4">
                  <p:embed/>
                  <p:pic>
                    <p:nvPicPr>
                      <p:cNvPr id="65542" name="对象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9332" y="1305704"/>
                        <a:ext cx="2001838" cy="492125"/>
                      </a:xfrm>
                      <a:prstGeom prst="rect">
                        <a:avLst/>
                      </a:prstGeom>
                      <a:solidFill>
                        <a:srgbClr val="FFFFFF"/>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08081845"/>
              </p:ext>
            </p:extLst>
          </p:nvPr>
        </p:nvGraphicFramePr>
        <p:xfrm>
          <a:off x="2611767" y="3987805"/>
          <a:ext cx="3067050" cy="879475"/>
        </p:xfrm>
        <a:graphic>
          <a:graphicData uri="http://schemas.openxmlformats.org/presentationml/2006/ole">
            <mc:AlternateContent xmlns:mc="http://schemas.openxmlformats.org/markup-compatibility/2006">
              <mc:Choice xmlns:v="urn:schemas-microsoft-com:vml" Requires="v">
                <p:oleObj name="Equation" r:id="rId8" imgW="1497950" imgH="431613" progId="Equation.DSMT4">
                  <p:embed/>
                </p:oleObj>
              </mc:Choice>
              <mc:Fallback>
                <p:oleObj name="Equation" r:id="rId8" imgW="1497950" imgH="431613" progId="Equation.DSMT4">
                  <p:embed/>
                  <p:pic>
                    <p:nvPicPr>
                      <p:cNvPr id="65544"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11767" y="3987805"/>
                        <a:ext cx="3067050" cy="879475"/>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2424476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49</a:t>
            </a:fld>
            <a:endParaRPr lang="zh-CN" altLang="en-US"/>
          </a:p>
        </p:txBody>
      </p:sp>
      <p:sp>
        <p:nvSpPr>
          <p:cNvPr id="3" name="Text Box 3"/>
          <p:cNvSpPr txBox="1">
            <a:spLocks noChangeArrowheads="1"/>
          </p:cNvSpPr>
          <p:nvPr/>
        </p:nvSpPr>
        <p:spPr bwMode="auto">
          <a:xfrm>
            <a:off x="358595" y="151235"/>
            <a:ext cx="8280400" cy="6174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lvl="1" indent="-342900">
              <a:lnSpc>
                <a:spcPct val="130000"/>
              </a:lnSpc>
              <a:spcBef>
                <a:spcPts val="500"/>
              </a:spcBef>
              <a:buFont typeface="Arial" charset="0"/>
              <a:buNone/>
            </a:pPr>
            <a:r>
              <a:rPr kumimoji="1" lang="zh-CN" altLang="en-US" sz="2400" b="1" dirty="0">
                <a:latin typeface="Times New Roman" pitchFamily="18" charset="0"/>
                <a:ea typeface="宋体" pitchFamily="2" charset="-122"/>
                <a:cs typeface="Times New Roman" pitchFamily="18" charset="0"/>
              </a:rPr>
              <a:t>能带论结论</a:t>
            </a:r>
          </a:p>
          <a:p>
            <a:pPr marL="342900" lvl="1" indent="-342900">
              <a:lnSpc>
                <a:spcPct val="130000"/>
              </a:lnSpc>
              <a:spcBef>
                <a:spcPts val="500"/>
              </a:spcBef>
              <a:buFont typeface="Arial" charset="0"/>
              <a:buChar char="•"/>
            </a:pPr>
            <a:r>
              <a:rPr kumimoji="1" lang="zh-CN" altLang="en-US" sz="2400" b="1" dirty="0">
                <a:latin typeface="Times New Roman" pitchFamily="18" charset="0"/>
                <a:ea typeface="宋体" pitchFamily="2" charset="-122"/>
              </a:rPr>
              <a:t>具有</a:t>
            </a:r>
            <a:r>
              <a:rPr kumimoji="1" lang="zh-CN" altLang="en-US" sz="2400" b="1" dirty="0">
                <a:solidFill>
                  <a:srgbClr val="FF3300"/>
                </a:solidFill>
                <a:latin typeface="Times New Roman" pitchFamily="18" charset="0"/>
                <a:ea typeface="宋体" pitchFamily="2" charset="-122"/>
              </a:rPr>
              <a:t>共有化运动和周期场特征的电子</a:t>
            </a:r>
            <a:r>
              <a:rPr kumimoji="1" lang="zh-CN" altLang="en-US" sz="2400" b="1" dirty="0">
                <a:latin typeface="Times New Roman" pitchFamily="18" charset="0"/>
                <a:ea typeface="宋体" pitchFamily="2" charset="-122"/>
              </a:rPr>
              <a:t>，其</a:t>
            </a:r>
            <a:r>
              <a:rPr kumimoji="1" lang="zh-CN" altLang="en-US" sz="2400" b="1" dirty="0">
                <a:solidFill>
                  <a:srgbClr val="FF3300"/>
                </a:solidFill>
                <a:latin typeface="Times New Roman" pitchFamily="18" charset="0"/>
                <a:ea typeface="宋体" pitchFamily="2" charset="-122"/>
              </a:rPr>
              <a:t>本征态具有确定的动量和能量</a:t>
            </a:r>
            <a:r>
              <a:rPr kumimoji="1" lang="zh-CN" altLang="en-US" sz="2400" b="1" dirty="0">
                <a:latin typeface="Times New Roman" pitchFamily="18" charset="0"/>
                <a:ea typeface="宋体" pitchFamily="2" charset="-122"/>
              </a:rPr>
              <a:t>，因此常用能量和动量来共同描述电子的运动状态</a:t>
            </a:r>
          </a:p>
          <a:p>
            <a:pPr marL="342900" lvl="1" indent="-342900">
              <a:lnSpc>
                <a:spcPct val="130000"/>
              </a:lnSpc>
              <a:spcBef>
                <a:spcPts val="500"/>
              </a:spcBef>
              <a:buFont typeface="Arial" charset="0"/>
              <a:buChar char="•"/>
            </a:pPr>
            <a:r>
              <a:rPr kumimoji="1" lang="zh-CN" altLang="en-US" sz="2400" b="1" dirty="0">
                <a:solidFill>
                  <a:srgbClr val="FF3300"/>
                </a:solidFill>
                <a:latin typeface="Times New Roman" pitchFamily="18" charset="0"/>
                <a:ea typeface="宋体" pitchFamily="2" charset="-122"/>
                <a:cs typeface="Times New Roman" pitchFamily="18" charset="0"/>
              </a:rPr>
              <a:t>能量本征值</a:t>
            </a:r>
            <a:r>
              <a:rPr kumimoji="1" lang="en-US" altLang="zh-CN" sz="2400" b="1" i="1" dirty="0">
                <a:solidFill>
                  <a:srgbClr val="FF3300"/>
                </a:solidFill>
                <a:latin typeface="Times New Roman" pitchFamily="18" charset="0"/>
                <a:ea typeface="宋体" pitchFamily="2" charset="-122"/>
                <a:cs typeface="Times New Roman" pitchFamily="18" charset="0"/>
              </a:rPr>
              <a:t>E</a:t>
            </a:r>
            <a:r>
              <a:rPr kumimoji="1" lang="en-US" altLang="zh-CN" sz="2400" b="1" dirty="0">
                <a:latin typeface="Times New Roman" pitchFamily="18" charset="0"/>
                <a:ea typeface="宋体" pitchFamily="2" charset="-122"/>
                <a:cs typeface="Times New Roman" pitchFamily="18" charset="0"/>
              </a:rPr>
              <a:t> </a:t>
            </a:r>
            <a:r>
              <a:rPr kumimoji="1" lang="zh-CN" altLang="en-US" sz="2400" b="1" dirty="0">
                <a:latin typeface="Times New Roman" pitchFamily="18" charset="0"/>
                <a:ea typeface="宋体" pitchFamily="2" charset="-122"/>
                <a:cs typeface="Times New Roman" pitchFamily="18" charset="0"/>
              </a:rPr>
              <a:t>： 在</a:t>
            </a:r>
            <a:r>
              <a:rPr kumimoji="1" lang="en-US" altLang="zh-CN" sz="2400" b="1" i="1" dirty="0">
                <a:latin typeface="Times New Roman" pitchFamily="18" charset="0"/>
                <a:ea typeface="宋体" pitchFamily="2" charset="-122"/>
                <a:cs typeface="Times New Roman" pitchFamily="18" charset="0"/>
              </a:rPr>
              <a:t>k</a:t>
            </a:r>
            <a:r>
              <a:rPr kumimoji="1" lang="zh-CN" altLang="en-US" sz="2400" b="1" dirty="0">
                <a:latin typeface="Times New Roman" pitchFamily="18" charset="0"/>
                <a:ea typeface="宋体" pitchFamily="2" charset="-122"/>
                <a:cs typeface="Times New Roman" pitchFamily="18" charset="0"/>
              </a:rPr>
              <a:t>空间，能量</a:t>
            </a:r>
            <a:r>
              <a:rPr kumimoji="1" lang="en-US" altLang="zh-CN" sz="2400" b="1" i="1" dirty="0">
                <a:latin typeface="Times New Roman" pitchFamily="18" charset="0"/>
                <a:ea typeface="宋体" pitchFamily="2" charset="-122"/>
                <a:cs typeface="Times New Roman" pitchFamily="18" charset="0"/>
              </a:rPr>
              <a:t>E</a:t>
            </a:r>
            <a:r>
              <a:rPr kumimoji="1" lang="zh-CN" altLang="en-US" sz="2400" b="1" dirty="0">
                <a:latin typeface="Times New Roman" pitchFamily="18" charset="0"/>
                <a:ea typeface="宋体" pitchFamily="2" charset="-122"/>
                <a:cs typeface="Times New Roman" pitchFamily="18" charset="0"/>
              </a:rPr>
              <a:t>为</a:t>
            </a:r>
            <a:r>
              <a:rPr kumimoji="1" lang="en-US" altLang="zh-CN" sz="2400" b="1" i="1" dirty="0">
                <a:latin typeface="Times New Roman" pitchFamily="18" charset="0"/>
                <a:ea typeface="宋体" pitchFamily="2" charset="-122"/>
                <a:cs typeface="Times New Roman" pitchFamily="18" charset="0"/>
              </a:rPr>
              <a:t>k</a:t>
            </a:r>
            <a:r>
              <a:rPr kumimoji="1" lang="zh-CN" altLang="en-US" sz="2400" b="1" dirty="0">
                <a:latin typeface="Times New Roman" pitchFamily="18" charset="0"/>
                <a:ea typeface="宋体" pitchFamily="2" charset="-122"/>
                <a:cs typeface="Times New Roman" pitchFamily="18" charset="0"/>
              </a:rPr>
              <a:t>的周期函数，</a:t>
            </a:r>
            <a:r>
              <a:rPr kumimoji="1" lang="zh-CN" altLang="en-US" sz="2400" b="1" dirty="0">
                <a:solidFill>
                  <a:srgbClr val="FF3300"/>
                </a:solidFill>
                <a:latin typeface="Times New Roman" pitchFamily="18" charset="0"/>
                <a:ea typeface="宋体" pitchFamily="2" charset="-122"/>
                <a:cs typeface="Times New Roman" pitchFamily="18" charset="0"/>
              </a:rPr>
              <a:t>其中</a:t>
            </a:r>
            <a:r>
              <a:rPr kumimoji="1" lang="en-US" altLang="zh-CN" sz="2400" b="1" i="1" dirty="0">
                <a:solidFill>
                  <a:srgbClr val="FF3300"/>
                </a:solidFill>
                <a:latin typeface="Times New Roman" pitchFamily="18" charset="0"/>
                <a:ea typeface="宋体" pitchFamily="2" charset="-122"/>
                <a:cs typeface="Times New Roman" pitchFamily="18" charset="0"/>
              </a:rPr>
              <a:t>k </a:t>
            </a:r>
            <a:r>
              <a:rPr kumimoji="1" lang="zh-CN" altLang="en-US" sz="2400" b="1" dirty="0">
                <a:solidFill>
                  <a:srgbClr val="FF3300"/>
                </a:solidFill>
                <a:latin typeface="Times New Roman" pitchFamily="18" charset="0"/>
                <a:ea typeface="宋体" pitchFamily="2" charset="-122"/>
                <a:cs typeface="Times New Roman" pitchFamily="18" charset="0"/>
              </a:rPr>
              <a:t>只能取一系列特定值</a:t>
            </a:r>
            <a:r>
              <a:rPr kumimoji="1" lang="zh-CN" altLang="en-US" sz="2400" b="1" dirty="0">
                <a:latin typeface="Times New Roman" pitchFamily="18" charset="0"/>
                <a:ea typeface="宋体" pitchFamily="2" charset="-122"/>
                <a:cs typeface="Times New Roman" pitchFamily="18" charset="0"/>
              </a:rPr>
              <a:t>，因此</a:t>
            </a:r>
            <a:r>
              <a:rPr kumimoji="1" lang="en-US" altLang="zh-CN" sz="2400" b="1" i="1" dirty="0">
                <a:latin typeface="Times New Roman" pitchFamily="18" charset="0"/>
                <a:ea typeface="宋体" pitchFamily="2" charset="-122"/>
                <a:cs typeface="Times New Roman" pitchFamily="18" charset="0"/>
              </a:rPr>
              <a:t>E</a:t>
            </a:r>
            <a:r>
              <a:rPr kumimoji="1" lang="zh-CN" altLang="en-US" sz="2400" b="1" dirty="0">
                <a:latin typeface="Times New Roman" pitchFamily="18" charset="0"/>
                <a:ea typeface="宋体" pitchFamily="2" charset="-122"/>
                <a:cs typeface="Times New Roman" pitchFamily="18" charset="0"/>
              </a:rPr>
              <a:t>在</a:t>
            </a:r>
            <a:r>
              <a:rPr kumimoji="1" lang="en-US" altLang="zh-CN" sz="2400" b="1" i="1" dirty="0">
                <a:latin typeface="Times New Roman" pitchFamily="18" charset="0"/>
                <a:ea typeface="宋体" pitchFamily="2" charset="-122"/>
                <a:cs typeface="Times New Roman" pitchFamily="18" charset="0"/>
              </a:rPr>
              <a:t>k</a:t>
            </a:r>
            <a:r>
              <a:rPr kumimoji="1" lang="zh-CN" altLang="en-US" sz="2400" b="1" dirty="0">
                <a:latin typeface="Times New Roman" pitchFamily="18" charset="0"/>
                <a:ea typeface="宋体" pitchFamily="2" charset="-122"/>
                <a:cs typeface="Times New Roman" pitchFamily="18" charset="0"/>
              </a:rPr>
              <a:t>空间呈准连续分布，能量随波矢</a:t>
            </a:r>
            <a:r>
              <a:rPr kumimoji="1" lang="en-US" altLang="zh-CN" sz="2400" b="1" i="1" dirty="0">
                <a:latin typeface="Times New Roman" pitchFamily="18" charset="0"/>
                <a:ea typeface="宋体" pitchFamily="2" charset="-122"/>
                <a:cs typeface="Times New Roman" pitchFamily="18" charset="0"/>
              </a:rPr>
              <a:t>k</a:t>
            </a:r>
            <a:r>
              <a:rPr kumimoji="1" lang="zh-CN" altLang="en-US" sz="2400" b="1" dirty="0">
                <a:latin typeface="Times New Roman" pitchFamily="18" charset="0"/>
                <a:ea typeface="宋体" pitchFamily="2" charset="-122"/>
                <a:cs typeface="Times New Roman" pitchFamily="18" charset="0"/>
              </a:rPr>
              <a:t>呈准连续分布的空间称为能带；</a:t>
            </a:r>
          </a:p>
          <a:p>
            <a:pPr marL="342900" lvl="1" indent="-342900">
              <a:lnSpc>
                <a:spcPct val="130000"/>
              </a:lnSpc>
              <a:spcBef>
                <a:spcPts val="500"/>
              </a:spcBef>
              <a:buFont typeface="Arial" charset="0"/>
              <a:buChar char="•"/>
            </a:pPr>
            <a:r>
              <a:rPr kumimoji="1" lang="en-US" altLang="zh-CN" sz="2400" b="1" i="1" dirty="0">
                <a:solidFill>
                  <a:srgbClr val="FF3300"/>
                </a:solidFill>
                <a:latin typeface="Times New Roman" pitchFamily="18" charset="0"/>
                <a:ea typeface="宋体" pitchFamily="2" charset="-122"/>
                <a:cs typeface="Times New Roman" pitchFamily="18" charset="0"/>
              </a:rPr>
              <a:t>E</a:t>
            </a:r>
            <a:r>
              <a:rPr kumimoji="1" lang="en-US" altLang="zh-CN" sz="2400" b="1" dirty="0">
                <a:solidFill>
                  <a:srgbClr val="FF3300"/>
                </a:solidFill>
                <a:latin typeface="Times New Roman" pitchFamily="18" charset="0"/>
                <a:ea typeface="宋体" pitchFamily="2" charset="-122"/>
                <a:cs typeface="Times New Roman" pitchFamily="18" charset="0"/>
              </a:rPr>
              <a:t>-</a:t>
            </a:r>
            <a:r>
              <a:rPr kumimoji="1" lang="en-US" altLang="zh-CN" sz="2400" b="1" i="1" dirty="0">
                <a:solidFill>
                  <a:srgbClr val="FF3300"/>
                </a:solidFill>
                <a:latin typeface="Times New Roman" pitchFamily="18" charset="0"/>
                <a:ea typeface="宋体" pitchFamily="2" charset="-122"/>
                <a:cs typeface="Times New Roman" pitchFamily="18" charset="0"/>
              </a:rPr>
              <a:t>k</a:t>
            </a:r>
            <a:r>
              <a:rPr kumimoji="1" lang="zh-CN" altLang="en-US" sz="2400" b="1" dirty="0">
                <a:solidFill>
                  <a:srgbClr val="FF3300"/>
                </a:solidFill>
                <a:latin typeface="Times New Roman" pitchFamily="18" charset="0"/>
                <a:ea typeface="宋体" pitchFamily="2" charset="-122"/>
                <a:cs typeface="Times New Roman" pitchFamily="18" charset="0"/>
              </a:rPr>
              <a:t>关系</a:t>
            </a:r>
            <a:r>
              <a:rPr kumimoji="1" lang="zh-CN" altLang="en-US" sz="2400" b="1" dirty="0">
                <a:latin typeface="Times New Roman" pitchFamily="18" charset="0"/>
                <a:ea typeface="宋体" pitchFamily="2" charset="-122"/>
                <a:cs typeface="Times New Roman" pitchFamily="18" charset="0"/>
              </a:rPr>
              <a:t>：在</a:t>
            </a:r>
            <a:r>
              <a:rPr kumimoji="1" lang="en-US" altLang="zh-CN" sz="2400" b="1" i="1" dirty="0">
                <a:latin typeface="Times New Roman" pitchFamily="18" charset="0"/>
                <a:ea typeface="宋体" pitchFamily="2" charset="-122"/>
                <a:cs typeface="Times New Roman" pitchFamily="18" charset="0"/>
              </a:rPr>
              <a:t>k</a:t>
            </a:r>
            <a:r>
              <a:rPr kumimoji="1" lang="zh-CN" altLang="en-US" sz="2400" b="1" dirty="0">
                <a:latin typeface="Times New Roman" pitchFamily="18" charset="0"/>
                <a:ea typeface="宋体" pitchFamily="2" charset="-122"/>
                <a:cs typeface="Times New Roman" pitchFamily="18" charset="0"/>
              </a:rPr>
              <a:t>空间描述的能量</a:t>
            </a:r>
            <a:r>
              <a:rPr kumimoji="1" lang="en-US" altLang="zh-CN" sz="2400" b="1" i="1" dirty="0">
                <a:latin typeface="Times New Roman" pitchFamily="18" charset="0"/>
                <a:ea typeface="宋体" pitchFamily="2" charset="-122"/>
                <a:cs typeface="Times New Roman" pitchFamily="18" charset="0"/>
              </a:rPr>
              <a:t>E</a:t>
            </a:r>
            <a:r>
              <a:rPr kumimoji="1" lang="zh-CN" altLang="en-US" sz="2400" b="1" dirty="0">
                <a:latin typeface="Times New Roman" pitchFamily="18" charset="0"/>
                <a:ea typeface="宋体" pitchFamily="2" charset="-122"/>
                <a:cs typeface="Times New Roman" pitchFamily="18" charset="0"/>
              </a:rPr>
              <a:t>随</a:t>
            </a:r>
            <a:r>
              <a:rPr kumimoji="1" lang="en-US" altLang="zh-CN" sz="2400" b="1" i="1" dirty="0">
                <a:latin typeface="Times New Roman" pitchFamily="18" charset="0"/>
                <a:ea typeface="宋体" pitchFamily="2" charset="-122"/>
                <a:cs typeface="Times New Roman" pitchFamily="18" charset="0"/>
              </a:rPr>
              <a:t>k</a:t>
            </a:r>
            <a:r>
              <a:rPr kumimoji="1" lang="zh-CN" altLang="en-US" sz="2400" b="1" dirty="0">
                <a:latin typeface="Times New Roman" pitchFamily="18" charset="0"/>
                <a:ea typeface="宋体" pitchFamily="2" charset="-122"/>
                <a:cs typeface="Times New Roman" pitchFamily="18" charset="0"/>
              </a:rPr>
              <a:t>变化的关系，是描述晶体中电子能态的基本关系。</a:t>
            </a:r>
          </a:p>
          <a:p>
            <a:pPr marL="342900" lvl="1" indent="-342900">
              <a:lnSpc>
                <a:spcPct val="130000"/>
              </a:lnSpc>
              <a:spcBef>
                <a:spcPts val="500"/>
              </a:spcBef>
              <a:buFont typeface="Arial" charset="0"/>
              <a:buChar char="•"/>
            </a:pPr>
            <a:r>
              <a:rPr kumimoji="1" lang="zh-CN" altLang="en-US" sz="2400" b="1" dirty="0">
                <a:solidFill>
                  <a:srgbClr val="FF3300"/>
                </a:solidFill>
                <a:latin typeface="Times New Roman" pitchFamily="18" charset="0"/>
                <a:ea typeface="宋体" pitchFamily="2" charset="-122"/>
                <a:cs typeface="Times New Roman" pitchFamily="18" charset="0"/>
              </a:rPr>
              <a:t>禁带</a:t>
            </a:r>
            <a:r>
              <a:rPr kumimoji="1" lang="zh-CN" altLang="en-US" sz="2400" b="1" dirty="0">
                <a:latin typeface="Times New Roman" pitchFamily="18" charset="0"/>
                <a:ea typeface="宋体" pitchFamily="2" charset="-122"/>
                <a:cs typeface="Times New Roman" pitchFamily="18" charset="0"/>
              </a:rPr>
              <a:t>：不同准连续的能量区间（能带）存在能量不允许的空间，称为禁带；</a:t>
            </a:r>
          </a:p>
          <a:p>
            <a:pPr marL="342900" lvl="1" indent="-342900">
              <a:lnSpc>
                <a:spcPct val="130000"/>
              </a:lnSpc>
              <a:spcBef>
                <a:spcPts val="500"/>
              </a:spcBef>
              <a:buFont typeface="Arial" charset="0"/>
              <a:buChar char="•"/>
            </a:pPr>
            <a:r>
              <a:rPr kumimoji="1" lang="zh-CN" altLang="en-US" sz="2400" b="1" dirty="0">
                <a:solidFill>
                  <a:srgbClr val="FF3300"/>
                </a:solidFill>
                <a:latin typeface="Times New Roman" pitchFamily="18" charset="0"/>
                <a:ea typeface="宋体" pitchFamily="2" charset="-122"/>
                <a:cs typeface="Times New Roman" pitchFamily="18" charset="0"/>
              </a:rPr>
              <a:t>禁带宽度</a:t>
            </a:r>
            <a:r>
              <a:rPr kumimoji="1" lang="zh-CN" altLang="en-US" sz="2400" b="1" dirty="0">
                <a:latin typeface="Times New Roman" pitchFamily="18" charset="0"/>
                <a:ea typeface="宋体" pitchFamily="2" charset="-122"/>
                <a:cs typeface="Times New Roman" pitchFamily="18" charset="0"/>
              </a:rPr>
              <a:t>：能量不允许空间的宽度称为禁带宽度；</a:t>
            </a:r>
          </a:p>
        </p:txBody>
      </p:sp>
    </p:spTree>
    <p:extLst>
      <p:ext uri="{BB962C8B-B14F-4D97-AF65-F5344CB8AC3E}">
        <p14:creationId xmlns:p14="http://schemas.microsoft.com/office/powerpoint/2010/main" val="7676472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50</a:t>
            </a:fld>
            <a:endParaRPr lang="zh-CN" altLang="en-US" dirty="0"/>
          </a:p>
        </p:txBody>
      </p:sp>
      <p:sp>
        <p:nvSpPr>
          <p:cNvPr id="3" name="Rectangle 13"/>
          <p:cNvSpPr>
            <a:spLocks noChangeArrowheads="1"/>
          </p:cNvSpPr>
          <p:nvPr/>
        </p:nvSpPr>
        <p:spPr bwMode="auto">
          <a:xfrm>
            <a:off x="480756" y="318986"/>
            <a:ext cx="4868640" cy="523220"/>
          </a:xfrm>
          <a:prstGeom prst="rect">
            <a:avLst/>
          </a:prstGeom>
          <a:noFill/>
          <a:ln w="9525">
            <a:noFill/>
            <a:miter lim="800000"/>
            <a:headEnd/>
            <a:tailEnd/>
          </a:ln>
          <a:effectLst/>
        </p:spPr>
        <p:txBody>
          <a:bodyPr wrap="none">
            <a:spAutoFit/>
          </a:bodyPr>
          <a:lstStyle/>
          <a:p>
            <a:pPr>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5. </a:t>
            </a:r>
            <a:r>
              <a:rPr kumimoji="1" lang="zh-CN" altLang="en-US" sz="2800" b="1" dirty="0">
                <a:solidFill>
                  <a:srgbClr val="D96227"/>
                </a:solidFill>
                <a:latin typeface="Times New Roman" pitchFamily="18" charset="0"/>
                <a:ea typeface="宋体" pitchFamily="2" charset="-122"/>
                <a:cs typeface="Times New Roman" pitchFamily="18" charset="0"/>
              </a:rPr>
              <a:t>能带论举例</a:t>
            </a:r>
            <a:r>
              <a:rPr kumimoji="1" lang="en-US" altLang="zh-CN" sz="2800" b="1" dirty="0">
                <a:solidFill>
                  <a:srgbClr val="D96227"/>
                </a:solidFill>
                <a:latin typeface="Times New Roman" pitchFamily="18" charset="0"/>
                <a:ea typeface="宋体" pitchFamily="2" charset="-122"/>
                <a:cs typeface="Times New Roman" pitchFamily="18" charset="0"/>
              </a:rPr>
              <a:t>——</a:t>
            </a:r>
            <a:r>
              <a:rPr kumimoji="1" lang="zh-CN" altLang="en-US" sz="2800" b="1" dirty="0">
                <a:solidFill>
                  <a:srgbClr val="D96227"/>
                </a:solidFill>
                <a:latin typeface="Times New Roman" pitchFamily="18" charset="0"/>
                <a:ea typeface="宋体" pitchFamily="2" charset="-122"/>
                <a:cs typeface="Times New Roman" pitchFamily="18" charset="0"/>
              </a:rPr>
              <a:t>紧束缚近似</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Text Box 9"/>
          <p:cNvSpPr txBox="1">
            <a:spLocks noChangeArrowheads="1"/>
          </p:cNvSpPr>
          <p:nvPr/>
        </p:nvSpPr>
        <p:spPr bwMode="auto">
          <a:xfrm>
            <a:off x="381280" y="987943"/>
            <a:ext cx="8426290" cy="2635273"/>
          </a:xfrm>
          <a:prstGeom prst="rect">
            <a:avLst/>
          </a:prstGeom>
          <a:noFill/>
          <a:ln w="12700" cap="sq">
            <a:noFill/>
            <a:miter lim="800000"/>
            <a:headEnd/>
            <a:tailEnd/>
          </a:ln>
          <a:effectLst/>
        </p:spPr>
        <p:txBody>
          <a:bodyPr wrap="square">
            <a:spAutoFit/>
          </a:bodyPr>
          <a:lstStyle/>
          <a:p>
            <a:pPr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与近自由电子近似相反的另一个极端情况：假设电子在一个原子附近时，将主要受到</a:t>
            </a:r>
            <a:r>
              <a:rPr kumimoji="1" lang="zh-CN" altLang="en-US" sz="2400" b="1" dirty="0">
                <a:solidFill>
                  <a:srgbClr val="FF3300"/>
                </a:solidFill>
                <a:latin typeface="Times New Roman" pitchFamily="18" charset="0"/>
                <a:ea typeface="宋体" pitchFamily="2" charset="-122"/>
                <a:cs typeface="Times New Roman" pitchFamily="18" charset="0"/>
              </a:rPr>
              <a:t>该原子场的作用</a:t>
            </a:r>
            <a:r>
              <a:rPr kumimoji="1" lang="zh-CN" altLang="en-US" sz="2400" b="1" dirty="0">
                <a:solidFill>
                  <a:srgbClr val="000000"/>
                </a:solidFill>
                <a:latin typeface="Times New Roman" pitchFamily="18" charset="0"/>
                <a:ea typeface="宋体" pitchFamily="2" charset="-122"/>
              </a:rPr>
              <a:t>，把其它原子场的作用看成是微扰作用。</a:t>
            </a:r>
            <a:endParaRPr kumimoji="1" lang="en-US" altLang="zh-CN" sz="2400" b="1" dirty="0">
              <a:solidFill>
                <a:srgbClr val="000000"/>
              </a:solidFill>
              <a:latin typeface="Times New Roman" pitchFamily="18" charset="0"/>
              <a:ea typeface="宋体" pitchFamily="2" charset="-122"/>
            </a:endParaRPr>
          </a:p>
          <a:p>
            <a:pPr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对于某格点</a:t>
            </a:r>
            <a:endParaRPr kumimoji="1" lang="en-US" altLang="zh-CN" sz="2400" b="1" dirty="0">
              <a:solidFill>
                <a:srgbClr val="000000"/>
              </a:solidFill>
              <a:latin typeface="Times New Roman" pitchFamily="18" charset="0"/>
              <a:ea typeface="宋体" pitchFamily="2" charset="-122"/>
            </a:endParaRPr>
          </a:p>
          <a:p>
            <a:pPr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其束缚的电子满足薛定谔方程</a:t>
            </a:r>
          </a:p>
        </p:txBody>
      </p:sp>
      <p:sp>
        <p:nvSpPr>
          <p:cNvPr id="8" name="Text Box 9"/>
          <p:cNvSpPr txBox="1">
            <a:spLocks noChangeArrowheads="1"/>
          </p:cNvSpPr>
          <p:nvPr/>
        </p:nvSpPr>
        <p:spPr bwMode="auto">
          <a:xfrm>
            <a:off x="381280" y="4634069"/>
            <a:ext cx="8426290" cy="936347"/>
          </a:xfrm>
          <a:prstGeom prst="rect">
            <a:avLst/>
          </a:prstGeom>
          <a:noFill/>
          <a:ln w="12700" cap="sq">
            <a:noFill/>
            <a:miter lim="800000"/>
            <a:headEnd/>
            <a:tailEnd/>
          </a:ln>
          <a:effectLst/>
        </p:spPr>
        <p:txBody>
          <a:bodyPr wrap="square">
            <a:spAutoFit/>
          </a:bodyPr>
          <a:lstStyle/>
          <a:p>
            <a:pPr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其中     表示孤立原子的波动方程的本征态，               是该格点原子自身的势场，    是某原子能级。</a:t>
            </a:r>
            <a:endParaRPr kumimoji="1" lang="en-US" altLang="zh-CN" sz="2400" b="1" dirty="0">
              <a:solidFill>
                <a:srgbClr val="000000"/>
              </a:solidFill>
              <a:latin typeface="Times New Roman" pitchFamily="18" charset="0"/>
              <a:ea typeface="宋体" pitchFamily="2" charset="-122"/>
            </a:endParaRPr>
          </a:p>
        </p:txBody>
      </p:sp>
      <p:graphicFrame>
        <p:nvGraphicFramePr>
          <p:cNvPr id="6" name="Object 5">
            <a:extLst>
              <a:ext uri="{FF2B5EF4-FFF2-40B4-BE49-F238E27FC236}">
                <a16:creationId xmlns:a16="http://schemas.microsoft.com/office/drawing/2014/main" id="{10B86A06-48BF-1CC6-4DCD-5ECCC55FB8C1}"/>
              </a:ext>
            </a:extLst>
          </p:cNvPr>
          <p:cNvGraphicFramePr>
            <a:graphicFrameLocks noChangeAspect="1"/>
          </p:cNvGraphicFramePr>
          <p:nvPr>
            <p:extLst>
              <p:ext uri="{D42A27DB-BD31-4B8C-83A1-F6EECF244321}">
                <p14:modId xmlns:p14="http://schemas.microsoft.com/office/powerpoint/2010/main" val="340143910"/>
              </p:ext>
            </p:extLst>
          </p:nvPr>
        </p:nvGraphicFramePr>
        <p:xfrm>
          <a:off x="2063021" y="2487592"/>
          <a:ext cx="3417262" cy="551171"/>
        </p:xfrm>
        <a:graphic>
          <a:graphicData uri="http://schemas.openxmlformats.org/presentationml/2006/ole">
            <mc:AlternateContent xmlns:mc="http://schemas.openxmlformats.org/markup-compatibility/2006">
              <mc:Choice xmlns:v="urn:schemas-microsoft-com:vml" Requires="v">
                <p:oleObj name="Equation" r:id="rId2" imgW="1574640" imgH="253800" progId="Equation.DSMT4">
                  <p:embed/>
                </p:oleObj>
              </mc:Choice>
              <mc:Fallback>
                <p:oleObj name="Equation" r:id="rId2" imgW="1574640" imgH="253800" progId="Equation.DSMT4">
                  <p:embed/>
                  <p:pic>
                    <p:nvPicPr>
                      <p:cNvPr id="0" name=""/>
                      <p:cNvPicPr/>
                      <p:nvPr/>
                    </p:nvPicPr>
                    <p:blipFill>
                      <a:blip r:embed="rId3"/>
                      <a:stretch>
                        <a:fillRect/>
                      </a:stretch>
                    </p:blipFill>
                    <p:spPr>
                      <a:xfrm>
                        <a:off x="2063021" y="2487592"/>
                        <a:ext cx="3417262" cy="551171"/>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8B352F94-4D83-164B-47C3-B588FCC4D94F}"/>
              </a:ext>
            </a:extLst>
          </p:cNvPr>
          <p:cNvGraphicFramePr>
            <a:graphicFrameLocks noChangeAspect="1"/>
          </p:cNvGraphicFramePr>
          <p:nvPr>
            <p:extLst>
              <p:ext uri="{D42A27DB-BD31-4B8C-83A1-F6EECF244321}">
                <p14:modId xmlns:p14="http://schemas.microsoft.com/office/powerpoint/2010/main" val="1862993825"/>
              </p:ext>
            </p:extLst>
          </p:nvPr>
        </p:nvGraphicFramePr>
        <p:xfrm>
          <a:off x="1256797" y="3623216"/>
          <a:ext cx="6630405" cy="1058636"/>
        </p:xfrm>
        <a:graphic>
          <a:graphicData uri="http://schemas.openxmlformats.org/presentationml/2006/ole">
            <mc:AlternateContent xmlns:mc="http://schemas.openxmlformats.org/markup-compatibility/2006">
              <mc:Choice xmlns:v="urn:schemas-microsoft-com:vml" Requires="v">
                <p:oleObj name="Equation" r:id="rId4" imgW="3022560" imgH="482400" progId="Equation.DSMT4">
                  <p:embed/>
                </p:oleObj>
              </mc:Choice>
              <mc:Fallback>
                <p:oleObj name="Equation" r:id="rId4" imgW="3022560" imgH="482400" progId="Equation.DSMT4">
                  <p:embed/>
                  <p:pic>
                    <p:nvPicPr>
                      <p:cNvPr id="0" name=""/>
                      <p:cNvPicPr/>
                      <p:nvPr/>
                    </p:nvPicPr>
                    <p:blipFill>
                      <a:blip r:embed="rId5"/>
                      <a:stretch>
                        <a:fillRect/>
                      </a:stretch>
                    </p:blipFill>
                    <p:spPr>
                      <a:xfrm>
                        <a:off x="1256797" y="3623216"/>
                        <a:ext cx="6630405" cy="1058636"/>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7EA4B848-AF86-6A22-7A5D-E370DD9FEB66}"/>
              </a:ext>
            </a:extLst>
          </p:cNvPr>
          <p:cNvGraphicFramePr>
            <a:graphicFrameLocks noChangeAspect="1"/>
          </p:cNvGraphicFramePr>
          <p:nvPr>
            <p:extLst>
              <p:ext uri="{D42A27DB-BD31-4B8C-83A1-F6EECF244321}">
                <p14:modId xmlns:p14="http://schemas.microsoft.com/office/powerpoint/2010/main" val="3266710301"/>
              </p:ext>
            </p:extLst>
          </p:nvPr>
        </p:nvGraphicFramePr>
        <p:xfrm>
          <a:off x="1090736" y="4617200"/>
          <a:ext cx="369065" cy="511012"/>
        </p:xfrm>
        <a:graphic>
          <a:graphicData uri="http://schemas.openxmlformats.org/presentationml/2006/ole">
            <mc:AlternateContent xmlns:mc="http://schemas.openxmlformats.org/markup-compatibility/2006">
              <mc:Choice xmlns:v="urn:schemas-microsoft-com:vml" Requires="v">
                <p:oleObj name="Equation" r:id="rId6" imgW="164880" imgH="228600" progId="Equation.DSMT4">
                  <p:embed/>
                </p:oleObj>
              </mc:Choice>
              <mc:Fallback>
                <p:oleObj name="Equation" r:id="rId6" imgW="164880" imgH="228600" progId="Equation.DSMT4">
                  <p:embed/>
                  <p:pic>
                    <p:nvPicPr>
                      <p:cNvPr id="0" name=""/>
                      <p:cNvPicPr/>
                      <p:nvPr/>
                    </p:nvPicPr>
                    <p:blipFill>
                      <a:blip r:embed="rId7"/>
                      <a:stretch>
                        <a:fillRect/>
                      </a:stretch>
                    </p:blipFill>
                    <p:spPr>
                      <a:xfrm>
                        <a:off x="1090736" y="4617200"/>
                        <a:ext cx="369065" cy="51101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08CB9537-AEC9-0A28-1A9E-19BF52BD1F17}"/>
              </a:ext>
            </a:extLst>
          </p:cNvPr>
          <p:cNvGraphicFramePr>
            <a:graphicFrameLocks noChangeAspect="1"/>
          </p:cNvGraphicFramePr>
          <p:nvPr>
            <p:extLst>
              <p:ext uri="{D42A27DB-BD31-4B8C-83A1-F6EECF244321}">
                <p14:modId xmlns:p14="http://schemas.microsoft.com/office/powerpoint/2010/main" val="4003316149"/>
              </p:ext>
            </p:extLst>
          </p:nvPr>
        </p:nvGraphicFramePr>
        <p:xfrm>
          <a:off x="6267450" y="4640686"/>
          <a:ext cx="1260186" cy="570650"/>
        </p:xfrm>
        <a:graphic>
          <a:graphicData uri="http://schemas.openxmlformats.org/presentationml/2006/ole">
            <mc:AlternateContent xmlns:mc="http://schemas.openxmlformats.org/markup-compatibility/2006">
              <mc:Choice xmlns:v="urn:schemas-microsoft-com:vml" Requires="v">
                <p:oleObj name="Equation" r:id="rId8" imgW="672840" imgH="304560" progId="Equation.DSMT4">
                  <p:embed/>
                </p:oleObj>
              </mc:Choice>
              <mc:Fallback>
                <p:oleObj name="Equation" r:id="rId8" imgW="672840" imgH="304560" progId="Equation.DSMT4">
                  <p:embed/>
                  <p:pic>
                    <p:nvPicPr>
                      <p:cNvPr id="0" name=""/>
                      <p:cNvPicPr/>
                      <p:nvPr/>
                    </p:nvPicPr>
                    <p:blipFill>
                      <a:blip r:embed="rId9"/>
                      <a:stretch>
                        <a:fillRect/>
                      </a:stretch>
                    </p:blipFill>
                    <p:spPr>
                      <a:xfrm>
                        <a:off x="6267450" y="4640686"/>
                        <a:ext cx="1260186" cy="57065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71E018DF-BB84-A05E-7CD4-314CD3773AA3}"/>
              </a:ext>
            </a:extLst>
          </p:cNvPr>
          <p:cNvGraphicFramePr>
            <a:graphicFrameLocks noChangeAspect="1"/>
          </p:cNvGraphicFramePr>
          <p:nvPr>
            <p:extLst>
              <p:ext uri="{D42A27DB-BD31-4B8C-83A1-F6EECF244321}">
                <p14:modId xmlns:p14="http://schemas.microsoft.com/office/powerpoint/2010/main" val="3282796793"/>
              </p:ext>
            </p:extLst>
          </p:nvPr>
        </p:nvGraphicFramePr>
        <p:xfrm>
          <a:off x="3216991" y="5045097"/>
          <a:ext cx="362527" cy="543791"/>
        </p:xfrm>
        <a:graphic>
          <a:graphicData uri="http://schemas.openxmlformats.org/presentationml/2006/ole">
            <mc:AlternateContent xmlns:mc="http://schemas.openxmlformats.org/markup-compatibility/2006">
              <mc:Choice xmlns:v="urn:schemas-microsoft-com:vml" Requires="v">
                <p:oleObj name="Equation" r:id="rId10" imgW="152280" imgH="228600" progId="Equation.DSMT4">
                  <p:embed/>
                </p:oleObj>
              </mc:Choice>
              <mc:Fallback>
                <p:oleObj name="Equation" r:id="rId10" imgW="152280" imgH="228600" progId="Equation.DSMT4">
                  <p:embed/>
                  <p:pic>
                    <p:nvPicPr>
                      <p:cNvPr id="0" name=""/>
                      <p:cNvPicPr/>
                      <p:nvPr/>
                    </p:nvPicPr>
                    <p:blipFill>
                      <a:blip r:embed="rId11"/>
                      <a:stretch>
                        <a:fillRect/>
                      </a:stretch>
                    </p:blipFill>
                    <p:spPr>
                      <a:xfrm>
                        <a:off x="3216991" y="5045097"/>
                        <a:ext cx="362527" cy="543791"/>
                      </a:xfrm>
                      <a:prstGeom prst="rect">
                        <a:avLst/>
                      </a:prstGeom>
                    </p:spPr>
                  </p:pic>
                </p:oleObj>
              </mc:Fallback>
            </mc:AlternateContent>
          </a:graphicData>
        </a:graphic>
      </p:graphicFrame>
    </p:spTree>
    <p:extLst>
      <p:ext uri="{BB962C8B-B14F-4D97-AF65-F5344CB8AC3E}">
        <p14:creationId xmlns:p14="http://schemas.microsoft.com/office/powerpoint/2010/main" val="14053032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51</a:t>
            </a:fld>
            <a:endParaRPr lang="zh-CN" altLang="en-US"/>
          </a:p>
        </p:txBody>
      </p:sp>
      <p:sp>
        <p:nvSpPr>
          <p:cNvPr id="4" name="矩形 3"/>
          <p:cNvSpPr/>
          <p:nvPr/>
        </p:nvSpPr>
        <p:spPr>
          <a:xfrm>
            <a:off x="487680" y="304759"/>
            <a:ext cx="8199120" cy="1865126"/>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由于</a:t>
            </a:r>
            <a:r>
              <a:rPr kumimoji="1" lang="zh-CN" altLang="en-US" sz="2400" b="1" dirty="0">
                <a:solidFill>
                  <a:srgbClr val="FF3300"/>
                </a:solidFill>
                <a:latin typeface="Times New Roman" pitchFamily="18" charset="0"/>
                <a:ea typeface="宋体" pitchFamily="2" charset="-122"/>
                <a:cs typeface="Times New Roman" pitchFamily="18" charset="0"/>
              </a:rPr>
              <a:t>晶体具有周期性</a:t>
            </a:r>
            <a:r>
              <a:rPr kumimoji="1" lang="zh-CN" altLang="en-US" sz="2400" b="1" dirty="0">
                <a:solidFill>
                  <a:srgbClr val="000000"/>
                </a:solidFill>
                <a:latin typeface="Times New Roman" pitchFamily="18" charset="0"/>
                <a:ea typeface="宋体" pitchFamily="2" charset="-122"/>
              </a:rPr>
              <a:t>，因此环绕不同的格点将出现</a:t>
            </a:r>
            <a:r>
              <a:rPr kumimoji="1" lang="en-US" altLang="zh-CN" sz="2400" b="1" i="1" dirty="0">
                <a:solidFill>
                  <a:srgbClr val="000000"/>
                </a:solidFill>
                <a:latin typeface="Times New Roman" pitchFamily="18" charset="0"/>
                <a:ea typeface="宋体" pitchFamily="2" charset="-122"/>
              </a:rPr>
              <a:t>N</a:t>
            </a:r>
            <a:r>
              <a:rPr kumimoji="1" lang="zh-CN" altLang="en-US" sz="2400" b="1" dirty="0">
                <a:solidFill>
                  <a:srgbClr val="000000"/>
                </a:solidFill>
                <a:latin typeface="Times New Roman" pitchFamily="18" charset="0"/>
                <a:ea typeface="宋体" pitchFamily="2" charset="-122"/>
              </a:rPr>
              <a:t>个类似的波函数，它们具有相同的能量，因此需要用简并微扰来处理</a:t>
            </a:r>
            <a:r>
              <a:rPr kumimoji="1" lang="zh-CN" altLang="en-US" sz="2400" b="1" dirty="0">
                <a:latin typeface="Times New Roman" pitchFamily="18" charset="0"/>
                <a:ea typeface="宋体" pitchFamily="2" charset="-122"/>
              </a:rPr>
              <a:t>。微扰以后的状态是</a:t>
            </a:r>
            <a:r>
              <a:rPr kumimoji="1" lang="en-US" altLang="zh-CN" sz="2400" b="1" i="1" dirty="0">
                <a:latin typeface="Times New Roman" pitchFamily="18" charset="0"/>
                <a:ea typeface="宋体" pitchFamily="2" charset="-122"/>
              </a:rPr>
              <a:t>N</a:t>
            </a:r>
            <a:r>
              <a:rPr kumimoji="1" lang="zh-CN" altLang="en-US" sz="2400" b="1" dirty="0">
                <a:latin typeface="Times New Roman" pitchFamily="18" charset="0"/>
                <a:ea typeface="宋体" pitchFamily="2" charset="-122"/>
              </a:rPr>
              <a:t>个简并态的线性组合，因此也称为</a:t>
            </a:r>
            <a:r>
              <a:rPr kumimoji="1" lang="zh-CN" altLang="en-US" sz="2400" b="1" dirty="0">
                <a:latin typeface="Times New Roman" pitchFamily="18" charset="0"/>
                <a:ea typeface="宋体" pitchFamily="2" charset="-122"/>
                <a:cs typeface="Times New Roman" pitchFamily="18" charset="0"/>
              </a:rPr>
              <a:t>原子轨道线性组合法</a:t>
            </a:r>
            <a:r>
              <a:rPr kumimoji="1" lang="zh-CN" altLang="en-US" sz="2400" b="1" dirty="0">
                <a:solidFill>
                  <a:srgbClr val="000000"/>
                </a:solidFill>
                <a:latin typeface="Times New Roman" pitchFamily="18" charset="0"/>
                <a:ea typeface="宋体" pitchFamily="2" charset="-122"/>
              </a:rPr>
              <a:t>。</a:t>
            </a:r>
          </a:p>
        </p:txBody>
      </p:sp>
      <p:sp>
        <p:nvSpPr>
          <p:cNvPr id="6" name="矩形 5"/>
          <p:cNvSpPr/>
          <p:nvPr/>
        </p:nvSpPr>
        <p:spPr>
          <a:xfrm>
            <a:off x="487680" y="3381831"/>
            <a:ext cx="8199120" cy="496867"/>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代入晶体中的薛定谔方程：</a:t>
            </a:r>
          </a:p>
        </p:txBody>
      </p:sp>
      <mc:AlternateContent xmlns:mc="http://schemas.openxmlformats.org/markup-compatibility/2006">
        <mc:Choice xmlns:a14="http://schemas.microsoft.com/office/drawing/2010/main" Requires="a14">
          <p:sp>
            <p:nvSpPr>
              <p:cNvPr id="7" name="文本框 6"/>
              <p:cNvSpPr txBox="1"/>
              <p:nvPr/>
            </p:nvSpPr>
            <p:spPr>
              <a:xfrm>
                <a:off x="2308152" y="4053135"/>
                <a:ext cx="4241161" cy="741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m:t>
                      </m:r>
                      <m:f>
                        <m:fPr>
                          <m:ctrlPr>
                            <a:rPr lang="en-US" altLang="zh-CN" sz="2400" i="1">
                              <a:latin typeface="Cambria Math" panose="02040503050406030204" pitchFamily="18" charset="0"/>
                            </a:rPr>
                          </m:ctrlPr>
                        </m:fPr>
                        <m:num>
                          <m:sSup>
                            <m:sSupPr>
                              <m:ctrlPr>
                                <a:rPr lang="en-US" altLang="zh-CN" sz="2400" i="1">
                                  <a:latin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ℏ</m:t>
                              </m:r>
                            </m:e>
                            <m:sup>
                              <m:r>
                                <a:rPr lang="en-US" altLang="zh-CN" sz="2400" i="1">
                                  <a:latin typeface="Cambria Math" panose="02040503050406030204" pitchFamily="18" charset="0"/>
                                </a:rPr>
                                <m:t>2</m:t>
                              </m:r>
                            </m:sup>
                          </m:sSup>
                        </m:num>
                        <m:den>
                          <m:r>
                            <a:rPr lang="en-US" altLang="zh-CN" sz="2400" i="1">
                              <a:latin typeface="Cambria Math" panose="02040503050406030204" pitchFamily="18" charset="0"/>
                            </a:rPr>
                            <m:t>2</m:t>
                          </m:r>
                          <m:r>
                            <a:rPr lang="en-US" altLang="zh-CN" sz="2400" b="0" i="1" smtClean="0">
                              <a:latin typeface="Cambria Math" panose="02040503050406030204" pitchFamily="18" charset="0"/>
                            </a:rPr>
                            <m:t>𝑚</m:t>
                          </m:r>
                        </m:den>
                      </m:f>
                      <m:sSup>
                        <m:sSupPr>
                          <m:ctrlPr>
                            <a:rPr lang="en-US" altLang="zh-CN" sz="2400" i="1">
                              <a:latin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m:t>
                      </m:r>
                      <m:r>
                        <a:rPr lang="en-US" altLang="zh-CN" sz="2400" b="0" i="1" smtClean="0">
                          <a:latin typeface="Cambria Math" panose="02040503050406030204" pitchFamily="18" charset="0"/>
                        </a:rPr>
                        <m:t>𝑈</m:t>
                      </m:r>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𝜓</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i="1">
                          <a:latin typeface="Cambria Math" panose="02040503050406030204" pitchFamily="18" charset="0"/>
                        </a:rPr>
                        <m:t>)</m:t>
                      </m:r>
                      <m:r>
                        <a:rPr lang="en-US" altLang="zh-CN" sz="2400" i="1" smtClean="0">
                          <a:latin typeface="Cambria Math" panose="02040503050406030204" pitchFamily="18" charset="0"/>
                        </a:rPr>
                        <m:t>=</m:t>
                      </m:r>
                      <m:r>
                        <a:rPr lang="en-US" altLang="zh-CN" sz="2400" b="0" i="1" smtClean="0">
                          <a:latin typeface="Cambria Math" panose="02040503050406030204" pitchFamily="18" charset="0"/>
                        </a:rPr>
                        <m:t>𝐸</m:t>
                      </m:r>
                      <m:r>
                        <a:rPr lang="zh-CN" altLang="en-US" sz="2400" b="0" i="1" smtClean="0">
                          <a:latin typeface="Cambria Math" panose="02040503050406030204" pitchFamily="18" charset="0"/>
                        </a:rPr>
                        <m:t>𝜓</m:t>
                      </m:r>
                      <m:r>
                        <a:rPr lang="en-US" altLang="zh-CN" sz="2400" i="1">
                          <a:solidFill>
                            <a:prstClr val="black"/>
                          </a:solidFill>
                          <a:latin typeface="Cambria Math" panose="02040503050406030204" pitchFamily="18" charset="0"/>
                        </a:rPr>
                        <m:t>(</m:t>
                      </m:r>
                      <m:acc>
                        <m:accPr>
                          <m:chr m:val="⃑"/>
                          <m:ctrlPr>
                            <a:rPr lang="en-US" altLang="zh-CN" sz="2400" i="1">
                              <a:solidFill>
                                <a:prstClr val="black"/>
                              </a:solidFill>
                              <a:latin typeface="Cambria Math" panose="02040503050406030204" pitchFamily="18" charset="0"/>
                            </a:rPr>
                          </m:ctrlPr>
                        </m:accPr>
                        <m:e>
                          <m:r>
                            <a:rPr lang="en-US" altLang="zh-CN" sz="2400" i="1">
                              <a:solidFill>
                                <a:prstClr val="black"/>
                              </a:solidFill>
                              <a:latin typeface="Cambria Math" panose="02040503050406030204" pitchFamily="18" charset="0"/>
                            </a:rPr>
                            <m:t>𝑟</m:t>
                          </m:r>
                        </m:e>
                      </m:acc>
                      <m:r>
                        <a:rPr lang="en-US" altLang="zh-CN" sz="2400" i="1">
                          <a:solidFill>
                            <a:prstClr val="black"/>
                          </a:solidFill>
                          <a:latin typeface="Cambria Math" panose="02040503050406030204" pitchFamily="18" charset="0"/>
                        </a:rPr>
                        <m:t>)</m:t>
                      </m:r>
                    </m:oMath>
                  </m:oMathPara>
                </a14:m>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2308152" y="4053135"/>
                <a:ext cx="4241161" cy="741165"/>
              </a:xfrm>
              <a:prstGeom prst="rect">
                <a:avLst/>
              </a:prstGeom>
              <a:blipFill>
                <a:blip r:embed="rId2"/>
                <a:stretch>
                  <a:fillRect/>
                </a:stretch>
              </a:blipFill>
            </p:spPr>
            <p:txBody>
              <a:bodyPr/>
              <a:lstStyle/>
              <a:p>
                <a:r>
                  <a:rPr lang="zh-TW" altLang="en-US">
                    <a:noFill/>
                  </a:rPr>
                  <a:t> </a:t>
                </a:r>
              </a:p>
            </p:txBody>
          </p:sp>
        </mc:Fallback>
      </mc:AlternateContent>
      <p:sp>
        <p:nvSpPr>
          <p:cNvPr id="8" name="矩形 7"/>
          <p:cNvSpPr/>
          <p:nvPr/>
        </p:nvSpPr>
        <p:spPr>
          <a:xfrm>
            <a:off x="487680" y="4907804"/>
            <a:ext cx="8199120" cy="496867"/>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得到：</a:t>
            </a:r>
          </a:p>
        </p:txBody>
      </p:sp>
      <mc:AlternateContent xmlns:mc="http://schemas.openxmlformats.org/markup-compatibility/2006" xmlns:a14="http://schemas.microsoft.com/office/drawing/2010/main">
        <mc:Choice Requires="a14">
          <p:sp>
            <p:nvSpPr>
              <p:cNvPr id="9" name="文本框 8"/>
              <p:cNvSpPr txBox="1"/>
              <p:nvPr/>
            </p:nvSpPr>
            <p:spPr>
              <a:xfrm>
                <a:off x="212388" y="5524504"/>
                <a:ext cx="8749703"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altLang="zh-CN" sz="2400" i="1" smtClean="0">
                              <a:latin typeface="Cambria Math" panose="02040503050406030204" pitchFamily="18" charset="0"/>
                            </a:rPr>
                          </m:ctrlPr>
                        </m:naryPr>
                        <m:sub>
                          <m:r>
                            <a:rPr lang="en-US" altLang="zh-CN" sz="2400" b="0" i="1" smtClean="0">
                              <a:latin typeface="Cambria Math" panose="02040503050406030204" pitchFamily="18" charset="0"/>
                            </a:rPr>
                            <m:t>𝑚</m:t>
                          </m:r>
                        </m:sub>
                        <m:sup/>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𝑚</m:t>
                              </m:r>
                            </m:sub>
                          </m:sSub>
                        </m:e>
                      </m:nary>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𝑈</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e>
                          </m:d>
                          <m:r>
                            <a:rPr lang="en-US" altLang="zh-CN" sz="2400" b="0" i="1" smtClean="0">
                              <a:latin typeface="Cambria Math" panose="02040503050406030204" pitchFamily="18" charset="0"/>
                            </a:rPr>
                            <m:t>−</m:t>
                          </m:r>
                          <m:r>
                            <a:rPr lang="en-US" altLang="zh-CN" sz="2400" i="1">
                              <a:latin typeface="Cambria Math" panose="02040503050406030204" pitchFamily="18" charset="0"/>
                            </a:rPr>
                            <m:t>𝑉</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𝑚</m:t>
                                      </m:r>
                                    </m:sub>
                                  </m:sSub>
                                </m:e>
                              </m:acc>
                            </m:e>
                          </m:d>
                          <m:r>
                            <a:rPr lang="en-US" altLang="zh-CN" sz="2400" b="0" i="1" smtClean="0">
                              <a:latin typeface="Cambria Math" panose="02040503050406030204" pitchFamily="18" charset="0"/>
                            </a:rPr>
                            <m:t>]</m:t>
                          </m:r>
                          <m:r>
                            <a:rPr lang="zh-CN" altLang="en-US" sz="2400" i="1" smtClean="0">
                              <a:latin typeface="Cambria Math" panose="02040503050406030204" pitchFamily="18" charset="0"/>
                            </a:rPr>
                            <m:t>𝜑</m:t>
                          </m:r>
                        </m:e>
                        <m:sub>
                          <m:r>
                            <a:rPr lang="en-US" altLang="zh-CN" sz="2400" b="0" i="1" smtClean="0">
                              <a:latin typeface="Cambria Math" panose="02040503050406030204" pitchFamily="18" charset="0"/>
                            </a:rPr>
                            <m:t>𝑖</m:t>
                          </m:r>
                        </m:sub>
                      </m:sSub>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𝑟</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𝑚</m:t>
                                  </m:r>
                                </m:sub>
                              </m:sSub>
                            </m:e>
                          </m:acc>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𝐸</m:t>
                      </m:r>
                      <m:nary>
                        <m:naryPr>
                          <m:chr m:val="∑"/>
                          <m:supHide m:val="on"/>
                          <m:ctrlPr>
                            <a:rPr lang="en-US" altLang="zh-CN" sz="2400" i="1">
                              <a:solidFill>
                                <a:prstClr val="black"/>
                              </a:solidFill>
                              <a:latin typeface="Cambria Math" panose="02040503050406030204" pitchFamily="18" charset="0"/>
                            </a:rPr>
                          </m:ctrlPr>
                        </m:naryPr>
                        <m:sub>
                          <m:r>
                            <a:rPr lang="en-US" altLang="zh-CN" sz="2400" i="1">
                              <a:solidFill>
                                <a:prstClr val="black"/>
                              </a:solidFill>
                              <a:latin typeface="Cambria Math" panose="02040503050406030204" pitchFamily="18" charset="0"/>
                            </a:rPr>
                            <m:t>𝑚</m:t>
                          </m:r>
                        </m:sub>
                        <m:sup/>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𝑎</m:t>
                              </m:r>
                            </m:e>
                            <m:sub>
                              <m:r>
                                <a:rPr lang="en-US" altLang="zh-CN" sz="2400" i="1">
                                  <a:solidFill>
                                    <a:prstClr val="black"/>
                                  </a:solidFill>
                                  <a:latin typeface="Cambria Math" panose="02040503050406030204" pitchFamily="18" charset="0"/>
                                </a:rPr>
                                <m:t>𝑚</m:t>
                              </m:r>
                            </m:sub>
                          </m:sSub>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𝜑</m:t>
                              </m:r>
                            </m:e>
                            <m:sub>
                              <m:r>
                                <a:rPr lang="en-US" altLang="zh-CN" sz="2400" i="1">
                                  <a:latin typeface="Cambria Math" panose="02040503050406030204" pitchFamily="18" charset="0"/>
                                </a:rPr>
                                <m:t>𝑖</m:t>
                              </m:r>
                            </m:sub>
                          </m:sSub>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𝑚</m:t>
                                      </m:r>
                                    </m:sub>
                                  </m:sSub>
                                </m:e>
                              </m:acc>
                            </m:e>
                          </m:d>
                        </m:e>
                      </m:nary>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212388" y="5524504"/>
                <a:ext cx="8749703" cy="896207"/>
              </a:xfrm>
              <a:prstGeom prst="rect">
                <a:avLst/>
              </a:prstGeom>
              <a:blipFill>
                <a:blip r:embed="rId4"/>
                <a:stretch>
                  <a:fillRect/>
                </a:stretch>
              </a:blipFill>
            </p:spPr>
            <p:txBody>
              <a:bodyPr/>
              <a:lstStyle/>
              <a:p>
                <a:r>
                  <a:rPr lang="zh-CN" altLang="en-US">
                    <a:noFill/>
                  </a:rPr>
                  <a:t> </a:t>
                </a:r>
              </a:p>
            </p:txBody>
          </p:sp>
        </mc:Fallback>
      </mc:AlternateContent>
      <p:graphicFrame>
        <p:nvGraphicFramePr>
          <p:cNvPr id="3" name="Object 2">
            <a:extLst>
              <a:ext uri="{FF2B5EF4-FFF2-40B4-BE49-F238E27FC236}">
                <a16:creationId xmlns:a16="http://schemas.microsoft.com/office/drawing/2014/main" id="{09E84FE4-51FE-33C5-D296-B1724F71C9D8}"/>
              </a:ext>
            </a:extLst>
          </p:cNvPr>
          <p:cNvGraphicFramePr>
            <a:graphicFrameLocks noChangeAspect="1"/>
          </p:cNvGraphicFramePr>
          <p:nvPr>
            <p:extLst>
              <p:ext uri="{D42A27DB-BD31-4B8C-83A1-F6EECF244321}">
                <p14:modId xmlns:p14="http://schemas.microsoft.com/office/powerpoint/2010/main" val="448444144"/>
              </p:ext>
            </p:extLst>
          </p:nvPr>
        </p:nvGraphicFramePr>
        <p:xfrm>
          <a:off x="2605416" y="2327755"/>
          <a:ext cx="3646631" cy="896206"/>
        </p:xfrm>
        <a:graphic>
          <a:graphicData uri="http://schemas.openxmlformats.org/presentationml/2006/ole">
            <mc:AlternateContent xmlns:mc="http://schemas.openxmlformats.org/markup-compatibility/2006">
              <mc:Choice xmlns:v="urn:schemas-microsoft-com:vml" Requires="v">
                <p:oleObj name="Equation" r:id="rId5" imgW="1498320" imgH="368280" progId="Equation.DSMT4">
                  <p:embed/>
                </p:oleObj>
              </mc:Choice>
              <mc:Fallback>
                <p:oleObj name="Equation" r:id="rId5" imgW="1498320" imgH="368280" progId="Equation.DSMT4">
                  <p:embed/>
                  <p:pic>
                    <p:nvPicPr>
                      <p:cNvPr id="0" name=""/>
                      <p:cNvPicPr/>
                      <p:nvPr/>
                    </p:nvPicPr>
                    <p:blipFill>
                      <a:blip r:embed="rId6"/>
                      <a:stretch>
                        <a:fillRect/>
                      </a:stretch>
                    </p:blipFill>
                    <p:spPr>
                      <a:xfrm>
                        <a:off x="2605416" y="2327755"/>
                        <a:ext cx="3646631" cy="896206"/>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D2C98218-2472-23FF-4E98-515713EC71FA}"/>
              </a:ext>
            </a:extLst>
          </p:cNvPr>
          <p:cNvGraphicFramePr>
            <a:graphicFrameLocks noChangeAspect="1"/>
          </p:cNvGraphicFramePr>
          <p:nvPr>
            <p:extLst>
              <p:ext uri="{D42A27DB-BD31-4B8C-83A1-F6EECF244321}">
                <p14:modId xmlns:p14="http://schemas.microsoft.com/office/powerpoint/2010/main" val="3373023656"/>
              </p:ext>
            </p:extLst>
          </p:nvPr>
        </p:nvGraphicFramePr>
        <p:xfrm>
          <a:off x="628650" y="-14288"/>
          <a:ext cx="673100" cy="406401"/>
        </p:xfrm>
        <a:graphic>
          <a:graphicData uri="http://schemas.openxmlformats.org/presentationml/2006/ole">
            <mc:AlternateContent xmlns:mc="http://schemas.openxmlformats.org/markup-compatibility/2006">
              <mc:Choice xmlns:v="urn:schemas-microsoft-com:vml" Requires="v">
                <p:oleObj name="Equation" r:id="rId7" imgW="672840" imgH="406080" progId="Equation.DSMT4">
                  <p:embed/>
                </p:oleObj>
              </mc:Choice>
              <mc:Fallback>
                <p:oleObj name="Equation" r:id="rId7" imgW="672840" imgH="406080" progId="Equation.DSMT4">
                  <p:embed/>
                  <p:pic>
                    <p:nvPicPr>
                      <p:cNvPr id="0" name=""/>
                      <p:cNvPicPr/>
                      <p:nvPr/>
                    </p:nvPicPr>
                    <p:blipFill>
                      <a:blip r:embed="rId8"/>
                      <a:stretch>
                        <a:fillRect/>
                      </a:stretch>
                    </p:blipFill>
                    <p:spPr>
                      <a:xfrm>
                        <a:off x="628650" y="-14288"/>
                        <a:ext cx="673100" cy="406401"/>
                      </a:xfrm>
                      <a:prstGeom prst="rect">
                        <a:avLst/>
                      </a:prstGeom>
                    </p:spPr>
                  </p:pic>
                </p:oleObj>
              </mc:Fallback>
            </mc:AlternateContent>
          </a:graphicData>
        </a:graphic>
      </p:graphicFrame>
    </p:spTree>
    <p:extLst>
      <p:ext uri="{BB962C8B-B14F-4D97-AF65-F5344CB8AC3E}">
        <p14:creationId xmlns:p14="http://schemas.microsoft.com/office/powerpoint/2010/main" val="37627292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52</a:t>
            </a:fld>
            <a:endParaRPr lang="zh-CN" altLang="en-US"/>
          </a:p>
        </p:txBody>
      </p:sp>
      <mc:AlternateContent xmlns:mc="http://schemas.openxmlformats.org/markup-compatibility/2006" xmlns:a14="http://schemas.microsoft.com/office/drawing/2010/main">
        <mc:Choice Requires="a14">
          <p:sp>
            <p:nvSpPr>
              <p:cNvPr id="3" name="矩形 2"/>
              <p:cNvSpPr/>
              <p:nvPr/>
            </p:nvSpPr>
            <p:spPr>
              <a:xfrm>
                <a:off x="411480" y="1534935"/>
                <a:ext cx="8199120" cy="978729"/>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FF0000"/>
                    </a:solidFill>
                    <a:latin typeface="Times New Roman" pitchFamily="18" charset="0"/>
                    <a:ea typeface="宋体" pitchFamily="2" charset="-122"/>
                  </a:rPr>
                  <a:t>紧束缚近似</a:t>
                </a:r>
                <a:r>
                  <a:rPr kumimoji="1" lang="zh-CN" altLang="en-US" sz="2400" b="1" dirty="0">
                    <a:solidFill>
                      <a:srgbClr val="000000"/>
                    </a:solidFill>
                    <a:latin typeface="Times New Roman" pitchFamily="18" charset="0"/>
                    <a:ea typeface="宋体" pitchFamily="2" charset="-122"/>
                  </a:rPr>
                  <a:t>假设不同格点的波函数</a:t>
                </a:r>
                <a14:m>
                  <m:oMath xmlns:m="http://schemas.openxmlformats.org/officeDocument/2006/math">
                    <m:sSub>
                      <m:sSubPr>
                        <m:ctrlPr>
                          <a:rPr lang="en-US" altLang="zh-CN"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𝜑</m:t>
                        </m:r>
                      </m:e>
                      <m:sub>
                        <m:r>
                          <a:rPr lang="en-US" altLang="zh-CN" sz="2400" i="1">
                            <a:solidFill>
                              <a:prstClr val="black"/>
                            </a:solidFill>
                            <a:latin typeface="Cambria Math" panose="02040503050406030204" pitchFamily="18" charset="0"/>
                          </a:rPr>
                          <m:t>𝑖</m:t>
                        </m:r>
                      </m:sub>
                    </m:sSub>
                  </m:oMath>
                </a14:m>
                <a:r>
                  <a:rPr kumimoji="1" lang="zh-CN" altLang="en-US" sz="2400" b="1" dirty="0">
                    <a:solidFill>
                      <a:srgbClr val="000000"/>
                    </a:solidFill>
                    <a:latin typeface="Times New Roman" pitchFamily="18" charset="0"/>
                    <a:ea typeface="宋体" pitchFamily="2" charset="-122"/>
                  </a:rPr>
                  <a:t>重叠很小，近似为</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，这样上式可以化简为</a:t>
                </a:r>
              </a:p>
            </p:txBody>
          </p:sp>
        </mc:Choice>
        <mc:Fallback xmlns="">
          <p:sp>
            <p:nvSpPr>
              <p:cNvPr id="3" name="矩形 2"/>
              <p:cNvSpPr>
                <a:spLocks noRot="1" noChangeAspect="1" noMove="1" noResize="1" noEditPoints="1" noAdjustHandles="1" noChangeArrowheads="1" noChangeShapeType="1" noTextEdit="1"/>
              </p:cNvSpPr>
              <p:nvPr/>
            </p:nvSpPr>
            <p:spPr>
              <a:xfrm>
                <a:off x="411480" y="1534935"/>
                <a:ext cx="8199120" cy="978729"/>
              </a:xfrm>
              <a:prstGeom prst="rect">
                <a:avLst/>
              </a:prstGeom>
              <a:blipFill>
                <a:blip r:embed="rId2"/>
                <a:stretch>
                  <a:fillRect l="-1190" t="-3750"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751628" y="2656528"/>
                <a:ext cx="4566315"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m:t>
                      </m:r>
                      <m:nary>
                        <m:naryPr>
                          <m:chr m:val="∑"/>
                          <m:supHide m:val="on"/>
                          <m:ctrlPr>
                            <a:rPr lang="en-US" altLang="zh-CN" sz="2400" i="1" smtClean="0">
                              <a:latin typeface="Cambria Math" panose="02040503050406030204" pitchFamily="18" charset="0"/>
                            </a:rPr>
                          </m:ctrlPr>
                        </m:naryPr>
                        <m:sub>
                          <m:r>
                            <a:rPr lang="en-US" altLang="zh-CN" sz="2400" b="0" i="1" smtClean="0">
                              <a:latin typeface="Cambria Math" panose="02040503050406030204" pitchFamily="18" charset="0"/>
                            </a:rPr>
                            <m:t>𝑚</m:t>
                          </m:r>
                        </m:sub>
                        <m:sup/>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𝑚</m:t>
                              </m:r>
                            </m:sub>
                          </m:sSub>
                          <m:r>
                            <a:rPr lang="en-US" altLang="zh-CN" sz="2400" b="0" i="1" smtClean="0">
                              <a:latin typeface="Cambria Math" panose="02040503050406030204" pitchFamily="18" charset="0"/>
                            </a:rPr>
                            <m:t>𝐽</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b="0" i="1" smtClean="0">
                                          <a:latin typeface="Cambria Math" panose="02040503050406030204" pitchFamily="18" charset="0"/>
                                        </a:rPr>
                                        <m:t>𝑛</m:t>
                                      </m:r>
                                    </m:sub>
                                  </m:sSub>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𝑚</m:t>
                                      </m:r>
                                    </m:sub>
                                  </m:sSub>
                                </m:e>
                              </m:acc>
                            </m:e>
                          </m:d>
                          <m:r>
                            <a:rPr lang="en-US" altLang="zh-CN" sz="2400" b="0" i="1" smtClean="0">
                              <a:latin typeface="Cambria Math" panose="02040503050406030204" pitchFamily="18" charset="0"/>
                            </a:rPr>
                            <m:t>=</m:t>
                          </m:r>
                        </m:e>
                      </m:nary>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𝐸</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𝑎</m:t>
                          </m:r>
                        </m:e>
                        <m:sub>
                          <m:r>
                            <a:rPr lang="en-US" altLang="zh-CN" sz="2400" b="0" i="1" smtClean="0">
                              <a:solidFill>
                                <a:prstClr val="black"/>
                              </a:solidFill>
                              <a:latin typeface="Cambria Math" panose="02040503050406030204" pitchFamily="18" charset="0"/>
                            </a:rPr>
                            <m:t>𝑛</m:t>
                          </m:r>
                        </m:sub>
                      </m:sSub>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1751628" y="2656528"/>
                <a:ext cx="4566315" cy="89620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411480" y="3699015"/>
                <a:ext cx="8305800" cy="2049792"/>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其中</a:t>
                </a:r>
                <a:r>
                  <a:rPr kumimoji="1" lang="en-US" altLang="zh-CN" sz="2400" b="1" i="1" dirty="0">
                    <a:solidFill>
                      <a:srgbClr val="000000"/>
                    </a:solidFill>
                    <a:latin typeface="Times New Roman" pitchFamily="18" charset="0"/>
                    <a:ea typeface="宋体" pitchFamily="2" charset="-122"/>
                  </a:rPr>
                  <a:t>J</a:t>
                </a:r>
                <a:r>
                  <a:rPr kumimoji="1" lang="zh-CN" altLang="en-US" sz="2400" b="1" dirty="0">
                    <a:solidFill>
                      <a:srgbClr val="000000"/>
                    </a:solidFill>
                    <a:latin typeface="Times New Roman" pitchFamily="18" charset="0"/>
                    <a:ea typeface="宋体" pitchFamily="2" charset="-122"/>
                  </a:rPr>
                  <a:t>与</a:t>
                </a:r>
                <a:r>
                  <a:rPr kumimoji="1" lang="en-US" altLang="zh-CN" sz="2400" b="1" i="1" dirty="0">
                    <a:solidFill>
                      <a:srgbClr val="000000"/>
                    </a:solidFill>
                    <a:latin typeface="Times New Roman" pitchFamily="18" charset="0"/>
                    <a:ea typeface="宋体" pitchFamily="2" charset="-122"/>
                  </a:rPr>
                  <a:t>U-V</a:t>
                </a:r>
                <a:r>
                  <a:rPr kumimoji="1" lang="zh-CN" altLang="en-US" sz="2400" b="1" dirty="0">
                    <a:solidFill>
                      <a:srgbClr val="000000"/>
                    </a:solidFill>
                    <a:latin typeface="Times New Roman" pitchFamily="18" charset="0"/>
                    <a:ea typeface="宋体" pitchFamily="2" charset="-122"/>
                  </a:rPr>
                  <a:t>有关，即周期场减掉在原点的原子场，具体数学形式需要量子力学计算。</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上式其实是以</a:t>
                </a:r>
                <a14:m>
                  <m:oMath xmlns:m="http://schemas.openxmlformats.org/officeDocument/2006/math">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𝑎</m:t>
                        </m:r>
                      </m:e>
                      <m:sub>
                        <m:r>
                          <a:rPr lang="en-US" altLang="zh-CN" sz="2400" i="1">
                            <a:solidFill>
                              <a:prstClr val="black"/>
                            </a:solidFill>
                            <a:latin typeface="Cambria Math" panose="02040503050406030204" pitchFamily="18" charset="0"/>
                          </a:rPr>
                          <m:t>𝑚</m:t>
                        </m:r>
                      </m:sub>
                    </m:sSub>
                  </m:oMath>
                </a14:m>
                <a:r>
                  <a:rPr kumimoji="1" lang="zh-CN" altLang="en-US" sz="2400" b="1" dirty="0">
                    <a:solidFill>
                      <a:srgbClr val="000000"/>
                    </a:solidFill>
                    <a:latin typeface="Times New Roman" pitchFamily="18" charset="0"/>
                    <a:ea typeface="宋体" pitchFamily="2" charset="-122"/>
                  </a:rPr>
                  <a:t>为未知数的线性方程组。该方程组有以下形式的解</a:t>
                </a:r>
              </a:p>
            </p:txBody>
          </p:sp>
        </mc:Choice>
        <mc:Fallback xmlns="">
          <p:sp>
            <p:nvSpPr>
              <p:cNvPr id="5" name="矩形 4"/>
              <p:cNvSpPr>
                <a:spLocks noRot="1" noChangeAspect="1" noMove="1" noResize="1" noEditPoints="1" noAdjustHandles="1" noChangeArrowheads="1" noChangeShapeType="1" noTextEdit="1"/>
              </p:cNvSpPr>
              <p:nvPr/>
            </p:nvSpPr>
            <p:spPr>
              <a:xfrm>
                <a:off x="411480" y="3699015"/>
                <a:ext cx="8305800" cy="2049792"/>
              </a:xfrm>
              <a:prstGeom prst="rect">
                <a:avLst/>
              </a:prstGeom>
              <a:blipFill>
                <a:blip r:embed="rId4"/>
                <a:stretch>
                  <a:fillRect l="-1175" t="-1786" r="-587" b="-29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3180747" y="5634951"/>
                <a:ext cx="2190728" cy="520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𝑎</m:t>
                          </m:r>
                        </m:e>
                        <m:sub>
                          <m:r>
                            <a:rPr lang="en-US" altLang="zh-CN" sz="2800" b="0" i="1" smtClean="0">
                              <a:solidFill>
                                <a:prstClr val="black"/>
                              </a:solidFill>
                              <a:latin typeface="Cambria Math" panose="02040503050406030204" pitchFamily="18" charset="0"/>
                            </a:rPr>
                            <m:t>𝑚</m:t>
                          </m:r>
                        </m:sub>
                      </m:sSub>
                      <m:r>
                        <a:rPr lang="en-US" altLang="zh-CN" sz="2800" b="0" i="1" smtClean="0">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𝐶</m:t>
                      </m:r>
                      <m:sSup>
                        <m:sSupPr>
                          <m:ctrlPr>
                            <a:rPr lang="en-US" altLang="zh-CN" sz="2800" b="0" i="1" smtClean="0">
                              <a:solidFill>
                                <a:prstClr val="black"/>
                              </a:solidFill>
                              <a:latin typeface="Cambria Math" panose="02040503050406030204" pitchFamily="18" charset="0"/>
                            </a:rPr>
                          </m:ctrlPr>
                        </m:sSupPr>
                        <m:e>
                          <m:r>
                            <a:rPr lang="en-US" altLang="zh-CN" sz="2800" b="0" i="1" smtClean="0">
                              <a:solidFill>
                                <a:prstClr val="black"/>
                              </a:solidFill>
                              <a:latin typeface="Cambria Math" panose="02040503050406030204" pitchFamily="18" charset="0"/>
                            </a:rPr>
                            <m:t>𝑒</m:t>
                          </m:r>
                        </m:e>
                        <m:sup>
                          <m:r>
                            <a:rPr lang="en-US" altLang="zh-CN" sz="2800" b="0" i="1" smtClean="0">
                              <a:solidFill>
                                <a:prstClr val="black"/>
                              </a:solidFill>
                              <a:latin typeface="Cambria Math" panose="02040503050406030204" pitchFamily="18" charset="0"/>
                            </a:rPr>
                            <m:t>𝑖</m:t>
                          </m:r>
                          <m:acc>
                            <m:accPr>
                              <m:chr m:val="⃑"/>
                              <m:ctrlPr>
                                <a:rPr lang="en-US" altLang="zh-CN" sz="2800" b="0" i="1" smtClean="0">
                                  <a:solidFill>
                                    <a:prstClr val="black"/>
                                  </a:solidFill>
                                  <a:latin typeface="Cambria Math" panose="02040503050406030204" pitchFamily="18" charset="0"/>
                                </a:rPr>
                              </m:ctrlPr>
                            </m:accPr>
                            <m:e>
                              <m:r>
                                <a:rPr lang="en-US" altLang="zh-CN" sz="2800" b="0" i="1" smtClean="0">
                                  <a:solidFill>
                                    <a:prstClr val="black"/>
                                  </a:solidFill>
                                  <a:latin typeface="Cambria Math" panose="02040503050406030204" pitchFamily="18" charset="0"/>
                                </a:rPr>
                                <m:t>𝑘</m:t>
                              </m:r>
                            </m:e>
                          </m:acc>
                          <m:r>
                            <a:rPr lang="en-US" altLang="zh-CN" sz="2800" i="1" smtClean="0">
                              <a:solidFill>
                                <a:prstClr val="black"/>
                              </a:solidFill>
                              <a:latin typeface="Cambria Math" panose="02040503050406030204" pitchFamily="18" charset="0"/>
                              <a:ea typeface="Cambria Math" panose="02040503050406030204" pitchFamily="18" charset="0"/>
                            </a:rPr>
                            <m:t>∙</m:t>
                          </m:r>
                          <m:acc>
                            <m:accPr>
                              <m:chr m:val="⃑"/>
                              <m:ctrlPr>
                                <a:rPr lang="en-US" altLang="zh-CN" sz="2800" i="1" smtClean="0">
                                  <a:solidFill>
                                    <a:prstClr val="black"/>
                                  </a:solidFill>
                                  <a:latin typeface="Cambria Math" panose="02040503050406030204" pitchFamily="18" charset="0"/>
                                  <a:ea typeface="Cambria Math" panose="02040503050406030204" pitchFamily="18" charset="0"/>
                                </a:rPr>
                              </m:ctrlPr>
                            </m:accPr>
                            <m:e>
                              <m:sSub>
                                <m:sSubPr>
                                  <m:ctrlPr>
                                    <a:rPr lang="en-US" altLang="zh-CN" sz="2800" i="1" smtClean="0">
                                      <a:solidFill>
                                        <a:prstClr val="black"/>
                                      </a:solidFill>
                                      <a:latin typeface="Cambria Math" panose="02040503050406030204" pitchFamily="18" charset="0"/>
                                      <a:ea typeface="Cambria Math" panose="02040503050406030204" pitchFamily="18" charset="0"/>
                                    </a:rPr>
                                  </m:ctrlPr>
                                </m:sSubPr>
                                <m:e>
                                  <m:r>
                                    <a:rPr lang="en-US" altLang="zh-CN" sz="2800" b="0" i="1" smtClean="0">
                                      <a:solidFill>
                                        <a:prstClr val="black"/>
                                      </a:solidFill>
                                      <a:latin typeface="Cambria Math" panose="02040503050406030204" pitchFamily="18" charset="0"/>
                                      <a:ea typeface="Cambria Math" panose="02040503050406030204" pitchFamily="18" charset="0"/>
                                    </a:rPr>
                                    <m:t>𝑅</m:t>
                                  </m:r>
                                </m:e>
                                <m:sub>
                                  <m:r>
                                    <a:rPr lang="en-US" altLang="zh-CN" sz="2800" b="0" i="1" smtClean="0">
                                      <a:solidFill>
                                        <a:prstClr val="black"/>
                                      </a:solidFill>
                                      <a:latin typeface="Cambria Math" panose="02040503050406030204" pitchFamily="18" charset="0"/>
                                      <a:ea typeface="Cambria Math" panose="02040503050406030204" pitchFamily="18" charset="0"/>
                                    </a:rPr>
                                    <m:t>𝑚</m:t>
                                  </m:r>
                                </m:sub>
                              </m:sSub>
                            </m:e>
                          </m:acc>
                        </m:sup>
                      </m:sSup>
                    </m:oMath>
                  </m:oMathPara>
                </a14:m>
                <a:endParaRPr lang="zh-CN" altLang="en-US" sz="2000" dirty="0"/>
              </a:p>
            </p:txBody>
          </p:sp>
        </mc:Choice>
        <mc:Fallback xmlns="">
          <p:sp>
            <p:nvSpPr>
              <p:cNvPr id="6" name="文本框 5"/>
              <p:cNvSpPr txBox="1">
                <a:spLocks noRot="1" noChangeAspect="1" noMove="1" noResize="1" noEditPoints="1" noAdjustHandles="1" noChangeArrowheads="1" noChangeShapeType="1" noTextEdit="1"/>
              </p:cNvSpPr>
              <p:nvPr/>
            </p:nvSpPr>
            <p:spPr>
              <a:xfrm>
                <a:off x="3180747" y="5634951"/>
                <a:ext cx="2190728" cy="52027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64764" y="475205"/>
                <a:ext cx="8749703"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altLang="zh-CN" sz="2400" i="1" smtClean="0">
                              <a:latin typeface="Cambria Math" panose="02040503050406030204" pitchFamily="18" charset="0"/>
                            </a:rPr>
                          </m:ctrlPr>
                        </m:naryPr>
                        <m:sub>
                          <m:r>
                            <a:rPr lang="en-US" altLang="zh-CN" sz="2400" b="0" i="1" smtClean="0">
                              <a:latin typeface="Cambria Math" panose="02040503050406030204" pitchFamily="18" charset="0"/>
                            </a:rPr>
                            <m:t>𝑚</m:t>
                          </m:r>
                        </m:sub>
                        <m:sup/>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𝑚</m:t>
                              </m:r>
                            </m:sub>
                          </m:sSub>
                        </m:e>
                      </m:nary>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𝑈</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e>
                          </m:d>
                          <m:r>
                            <a:rPr lang="en-US" altLang="zh-CN" sz="2400" b="0" i="1" smtClean="0">
                              <a:latin typeface="Cambria Math" panose="02040503050406030204" pitchFamily="18" charset="0"/>
                            </a:rPr>
                            <m:t>−</m:t>
                          </m:r>
                          <m:r>
                            <a:rPr lang="en-US" altLang="zh-CN" sz="2400" i="1">
                              <a:latin typeface="Cambria Math" panose="02040503050406030204" pitchFamily="18" charset="0"/>
                            </a:rPr>
                            <m:t>𝑉</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𝑚</m:t>
                                      </m:r>
                                    </m:sub>
                                  </m:sSub>
                                </m:e>
                              </m:acc>
                            </m:e>
                          </m:d>
                          <m:r>
                            <a:rPr lang="en-US" altLang="zh-CN" sz="2400" b="0" i="1" smtClean="0">
                              <a:latin typeface="Cambria Math" panose="02040503050406030204" pitchFamily="18" charset="0"/>
                            </a:rPr>
                            <m:t>]</m:t>
                          </m:r>
                          <m:r>
                            <a:rPr lang="zh-CN" altLang="en-US" sz="2400" i="1" smtClean="0">
                              <a:latin typeface="Cambria Math" panose="02040503050406030204" pitchFamily="18" charset="0"/>
                            </a:rPr>
                            <m:t>𝜑</m:t>
                          </m:r>
                        </m:e>
                        <m:sub>
                          <m:r>
                            <a:rPr lang="en-US" altLang="zh-CN" sz="2400" b="0" i="1" smtClean="0">
                              <a:latin typeface="Cambria Math" panose="02040503050406030204" pitchFamily="18" charset="0"/>
                            </a:rPr>
                            <m:t>𝑖</m:t>
                          </m:r>
                        </m:sub>
                      </m:sSub>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𝑟</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𝑚</m:t>
                                  </m:r>
                                </m:sub>
                              </m:sSub>
                            </m:e>
                          </m:acc>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𝐸</m:t>
                      </m:r>
                      <m:nary>
                        <m:naryPr>
                          <m:chr m:val="∑"/>
                          <m:supHide m:val="on"/>
                          <m:ctrlPr>
                            <a:rPr lang="en-US" altLang="zh-CN" sz="2400" i="1">
                              <a:solidFill>
                                <a:prstClr val="black"/>
                              </a:solidFill>
                              <a:latin typeface="Cambria Math" panose="02040503050406030204" pitchFamily="18" charset="0"/>
                            </a:rPr>
                          </m:ctrlPr>
                        </m:naryPr>
                        <m:sub>
                          <m:r>
                            <a:rPr lang="en-US" altLang="zh-CN" sz="2400" i="1">
                              <a:solidFill>
                                <a:prstClr val="black"/>
                              </a:solidFill>
                              <a:latin typeface="Cambria Math" panose="02040503050406030204" pitchFamily="18" charset="0"/>
                            </a:rPr>
                            <m:t>𝑚</m:t>
                          </m:r>
                        </m:sub>
                        <m:sup/>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𝑎</m:t>
                              </m:r>
                            </m:e>
                            <m:sub>
                              <m:r>
                                <a:rPr lang="en-US" altLang="zh-CN" sz="2400" i="1">
                                  <a:solidFill>
                                    <a:prstClr val="black"/>
                                  </a:solidFill>
                                  <a:latin typeface="Cambria Math" panose="02040503050406030204" pitchFamily="18" charset="0"/>
                                </a:rPr>
                                <m:t>𝑚</m:t>
                              </m:r>
                            </m:sub>
                          </m:sSub>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𝜑</m:t>
                              </m:r>
                            </m:e>
                            <m:sub>
                              <m:r>
                                <a:rPr lang="en-US" altLang="zh-CN" sz="2400" i="1">
                                  <a:latin typeface="Cambria Math" panose="02040503050406030204" pitchFamily="18" charset="0"/>
                                </a:rPr>
                                <m:t>𝑖</m:t>
                              </m:r>
                            </m:sub>
                          </m:sSub>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𝑚</m:t>
                                      </m:r>
                                    </m:sub>
                                  </m:sSub>
                                </m:e>
                              </m:acc>
                            </m:e>
                          </m:d>
                        </m:e>
                      </m:nary>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164764" y="475205"/>
                <a:ext cx="8749703" cy="896207"/>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011825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53</a:t>
            </a:fld>
            <a:endParaRPr lang="zh-CN" altLang="en-US"/>
          </a:p>
        </p:txBody>
      </p:sp>
      <p:sp>
        <p:nvSpPr>
          <p:cNvPr id="3" name="矩形 2"/>
          <p:cNvSpPr/>
          <p:nvPr/>
        </p:nvSpPr>
        <p:spPr>
          <a:xfrm>
            <a:off x="411480" y="349071"/>
            <a:ext cx="8199120" cy="496867"/>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因此对于某一个确定的</a:t>
            </a:r>
            <a:r>
              <a:rPr kumimoji="1" lang="en-US" altLang="zh-CN" sz="2400" b="1" i="1" dirty="0">
                <a:solidFill>
                  <a:srgbClr val="000000"/>
                </a:solidFill>
                <a:latin typeface="Times New Roman" pitchFamily="18" charset="0"/>
                <a:ea typeface="宋体" pitchFamily="2" charset="-122"/>
              </a:rPr>
              <a:t>k</a:t>
            </a:r>
            <a:r>
              <a:rPr kumimoji="1" lang="zh-CN" altLang="en-US" sz="2400" b="1" dirty="0">
                <a:solidFill>
                  <a:srgbClr val="000000"/>
                </a:solidFill>
                <a:latin typeface="Times New Roman" pitchFamily="18" charset="0"/>
                <a:ea typeface="宋体" pitchFamily="2" charset="-122"/>
              </a:rPr>
              <a:t>值，周期场中运动的解</a:t>
            </a:r>
          </a:p>
        </p:txBody>
      </p:sp>
      <mc:AlternateContent xmlns:mc="http://schemas.openxmlformats.org/markup-compatibility/2006" xmlns:a14="http://schemas.microsoft.com/office/drawing/2010/main">
        <mc:Choice Requires="a14">
          <p:sp>
            <p:nvSpPr>
              <p:cNvPr id="4" name="文本框 3"/>
              <p:cNvSpPr txBox="1"/>
              <p:nvPr/>
            </p:nvSpPr>
            <p:spPr>
              <a:xfrm>
                <a:off x="1631662" y="1022109"/>
                <a:ext cx="5424498" cy="10455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zh-CN" altLang="en-US" sz="2800" i="1">
                              <a:latin typeface="Cambria Math" panose="02040503050406030204" pitchFamily="18" charset="0"/>
                            </a:rPr>
                            <m:t>𝜓</m:t>
                          </m:r>
                        </m:e>
                        <m:sub>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𝑘</m:t>
                              </m:r>
                            </m:e>
                          </m:acc>
                        </m:sub>
                      </m:sSub>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𝑟</m:t>
                              </m:r>
                            </m:e>
                          </m:acc>
                          <m:r>
                            <a:rPr lang="en-US" altLang="zh-CN" sz="2800" i="1" smtClean="0">
                              <a:latin typeface="Cambria Math" panose="02040503050406030204" pitchFamily="18" charset="0"/>
                            </a:rPr>
                            <m:t> </m:t>
                          </m:r>
                        </m:e>
                      </m:d>
                      <m:r>
                        <a:rPr lang="en-US" altLang="zh-CN" sz="2800" i="1" smtClean="0">
                          <a:latin typeface="Cambria Math" panose="02040503050406030204" pitchFamily="18" charset="0"/>
                        </a:rPr>
                        <m:t>=</m:t>
                      </m:r>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1</m:t>
                          </m:r>
                        </m:num>
                        <m:den>
                          <m:rad>
                            <m:radPr>
                              <m:degHide m:val="on"/>
                              <m:ctrlPr>
                                <a:rPr lang="en-US" altLang="zh-CN" sz="2800" i="1" smtClean="0">
                                  <a:latin typeface="Cambria Math" panose="02040503050406030204" pitchFamily="18" charset="0"/>
                                </a:rPr>
                              </m:ctrlPr>
                            </m:radPr>
                            <m:deg/>
                            <m:e>
                              <m:r>
                                <a:rPr lang="en-US" altLang="zh-CN" sz="2800" b="0" i="1" smtClean="0">
                                  <a:latin typeface="Cambria Math" panose="02040503050406030204" pitchFamily="18" charset="0"/>
                                </a:rPr>
                                <m:t>𝑁</m:t>
                              </m:r>
                            </m:e>
                          </m:rad>
                        </m:den>
                      </m:f>
                      <m:nary>
                        <m:naryPr>
                          <m:chr m:val="∑"/>
                          <m:supHide m:val="on"/>
                          <m:ctrlPr>
                            <a:rPr lang="en-US" altLang="zh-CN" sz="2800" i="1">
                              <a:latin typeface="Cambria Math" panose="02040503050406030204" pitchFamily="18" charset="0"/>
                            </a:rPr>
                          </m:ctrlPr>
                        </m:naryPr>
                        <m:sub>
                          <m:r>
                            <a:rPr lang="en-US" altLang="zh-CN" sz="2800" b="0" i="1" smtClean="0">
                              <a:latin typeface="Cambria Math" panose="02040503050406030204" pitchFamily="18" charset="0"/>
                            </a:rPr>
                            <m:t>𝑚</m:t>
                          </m:r>
                        </m:sub>
                        <m:sup/>
                        <m:e>
                          <m:sSup>
                            <m:sSupPr>
                              <m:ctrlPr>
                                <a:rPr lang="en-US" altLang="zh-CN" sz="2800" i="1">
                                  <a:solidFill>
                                    <a:prstClr val="black"/>
                                  </a:solidFill>
                                  <a:latin typeface="Cambria Math" panose="02040503050406030204" pitchFamily="18" charset="0"/>
                                </a:rPr>
                              </m:ctrlPr>
                            </m:sSupPr>
                            <m:e>
                              <m:r>
                                <a:rPr lang="en-US" altLang="zh-CN" sz="2800" i="1">
                                  <a:solidFill>
                                    <a:prstClr val="black"/>
                                  </a:solidFill>
                                  <a:latin typeface="Cambria Math" panose="02040503050406030204" pitchFamily="18" charset="0"/>
                                </a:rPr>
                                <m:t>𝑒</m:t>
                              </m:r>
                            </m:e>
                            <m:sup>
                              <m:r>
                                <a:rPr lang="en-US" altLang="zh-CN" sz="2800" i="1">
                                  <a:solidFill>
                                    <a:prstClr val="black"/>
                                  </a:solidFill>
                                  <a:latin typeface="Cambria Math" panose="02040503050406030204" pitchFamily="18" charset="0"/>
                                </a:rPr>
                                <m:t>𝑖</m:t>
                              </m:r>
                              <m:acc>
                                <m:accPr>
                                  <m:chr m:val="⃑"/>
                                  <m:ctrlPr>
                                    <a:rPr lang="en-US" altLang="zh-CN" sz="2800" i="1">
                                      <a:solidFill>
                                        <a:prstClr val="black"/>
                                      </a:solidFill>
                                      <a:latin typeface="Cambria Math" panose="02040503050406030204" pitchFamily="18" charset="0"/>
                                    </a:rPr>
                                  </m:ctrlPr>
                                </m:accPr>
                                <m:e>
                                  <m:r>
                                    <a:rPr lang="en-US" altLang="zh-CN" sz="2800" i="1">
                                      <a:solidFill>
                                        <a:prstClr val="black"/>
                                      </a:solidFill>
                                      <a:latin typeface="Cambria Math" panose="02040503050406030204" pitchFamily="18" charset="0"/>
                                    </a:rPr>
                                    <m:t>𝑘</m:t>
                                  </m:r>
                                </m:e>
                              </m:acc>
                              <m:r>
                                <a:rPr lang="en-US" altLang="zh-CN" sz="2800" i="1">
                                  <a:solidFill>
                                    <a:prstClr val="black"/>
                                  </a:solidFill>
                                  <a:latin typeface="Cambria Math" panose="02040503050406030204" pitchFamily="18" charset="0"/>
                                  <a:ea typeface="Cambria Math" panose="02040503050406030204" pitchFamily="18" charset="0"/>
                                </a:rPr>
                                <m:t>∙</m:t>
                              </m:r>
                              <m:acc>
                                <m:accPr>
                                  <m:chr m:val="⃑"/>
                                  <m:ctrlPr>
                                    <a:rPr lang="en-US" altLang="zh-CN" sz="2800" i="1">
                                      <a:solidFill>
                                        <a:prstClr val="black"/>
                                      </a:solidFill>
                                      <a:latin typeface="Cambria Math" panose="02040503050406030204" pitchFamily="18" charset="0"/>
                                      <a:ea typeface="Cambria Math" panose="02040503050406030204" pitchFamily="18" charset="0"/>
                                    </a:rPr>
                                  </m:ctrlPr>
                                </m:accPr>
                                <m:e>
                                  <m:sSub>
                                    <m:sSubPr>
                                      <m:ctrlPr>
                                        <a:rPr lang="en-US" altLang="zh-CN" sz="2800" i="1">
                                          <a:solidFill>
                                            <a:prstClr val="black"/>
                                          </a:solidFill>
                                          <a:latin typeface="Cambria Math" panose="02040503050406030204" pitchFamily="18" charset="0"/>
                                          <a:ea typeface="Cambria Math" panose="02040503050406030204" pitchFamily="18" charset="0"/>
                                        </a:rPr>
                                      </m:ctrlPr>
                                    </m:sSubPr>
                                    <m:e>
                                      <m:r>
                                        <a:rPr lang="en-US" altLang="zh-CN" sz="2800" i="1">
                                          <a:solidFill>
                                            <a:prstClr val="black"/>
                                          </a:solidFill>
                                          <a:latin typeface="Cambria Math" panose="02040503050406030204" pitchFamily="18" charset="0"/>
                                          <a:ea typeface="Cambria Math" panose="02040503050406030204" pitchFamily="18" charset="0"/>
                                        </a:rPr>
                                        <m:t>𝑅</m:t>
                                      </m:r>
                                    </m:e>
                                    <m:sub>
                                      <m:r>
                                        <a:rPr lang="en-US" altLang="zh-CN" sz="2800" i="1">
                                          <a:solidFill>
                                            <a:prstClr val="black"/>
                                          </a:solidFill>
                                          <a:latin typeface="Cambria Math" panose="02040503050406030204" pitchFamily="18" charset="0"/>
                                          <a:ea typeface="Cambria Math" panose="02040503050406030204" pitchFamily="18" charset="0"/>
                                        </a:rPr>
                                        <m:t>𝑚</m:t>
                                      </m:r>
                                    </m:sub>
                                  </m:sSub>
                                </m:e>
                              </m:acc>
                            </m:sup>
                          </m:sSup>
                        </m:e>
                      </m:nary>
                      <m:sSub>
                        <m:sSubPr>
                          <m:ctrlPr>
                            <a:rPr lang="en-US" altLang="zh-CN" sz="2800" i="1" smtClean="0">
                              <a:latin typeface="Cambria Math" panose="02040503050406030204" pitchFamily="18" charset="0"/>
                            </a:rPr>
                          </m:ctrlPr>
                        </m:sSubPr>
                        <m:e>
                          <m:r>
                            <a:rPr lang="zh-CN" altLang="en-US" sz="2800" i="1" smtClean="0">
                              <a:latin typeface="Cambria Math" panose="02040503050406030204" pitchFamily="18" charset="0"/>
                            </a:rPr>
                            <m:t>𝜑</m:t>
                          </m:r>
                        </m:e>
                        <m:sub>
                          <m:r>
                            <a:rPr lang="en-US" altLang="zh-CN" sz="2800" b="0" i="1" smtClean="0">
                              <a:latin typeface="Cambria Math" panose="02040503050406030204" pitchFamily="18" charset="0"/>
                            </a:rPr>
                            <m:t>𝑖</m:t>
                          </m:r>
                        </m:sub>
                      </m:sSub>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𝑟</m:t>
                              </m:r>
                            </m:e>
                          </m:acc>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𝑅</m:t>
                                  </m:r>
                                </m:e>
                                <m:sub>
                                  <m:r>
                                    <a:rPr lang="en-US" altLang="zh-CN" sz="2800" b="0" i="1" smtClean="0">
                                      <a:latin typeface="Cambria Math" panose="02040503050406030204" pitchFamily="18" charset="0"/>
                                    </a:rPr>
                                    <m:t>𝑚</m:t>
                                  </m:r>
                                </m:sub>
                              </m:sSub>
                            </m:e>
                          </m:acc>
                        </m:e>
                      </m:d>
                    </m:oMath>
                  </m:oMathPara>
                </a14:m>
                <a:endParaRPr lang="zh-CN" altLang="en-US" sz="2800" dirty="0"/>
              </a:p>
            </p:txBody>
          </p:sp>
        </mc:Choice>
        <mc:Fallback xmlns="">
          <p:sp>
            <p:nvSpPr>
              <p:cNvPr id="4" name="文本框 3"/>
              <p:cNvSpPr txBox="1">
                <a:spLocks noRot="1" noChangeAspect="1" noMove="1" noResize="1" noEditPoints="1" noAdjustHandles="1" noChangeArrowheads="1" noChangeShapeType="1" noTextEdit="1"/>
              </p:cNvSpPr>
              <p:nvPr/>
            </p:nvSpPr>
            <p:spPr>
              <a:xfrm>
                <a:off x="1631662" y="1022109"/>
                <a:ext cx="5424498" cy="1045543"/>
              </a:xfrm>
              <a:prstGeom prst="rect">
                <a:avLst/>
              </a:prstGeom>
              <a:blipFill>
                <a:blip r:embed="rId2"/>
                <a:stretch>
                  <a:fillRect/>
                </a:stretch>
              </a:blipFill>
            </p:spPr>
            <p:txBody>
              <a:bodyPr/>
              <a:lstStyle/>
              <a:p>
                <a:r>
                  <a:rPr lang="zh-CN" altLang="en-US">
                    <a:noFill/>
                  </a:rPr>
                  <a:t> </a:t>
                </a:r>
              </a:p>
            </p:txBody>
          </p:sp>
        </mc:Fallback>
      </mc:AlternateContent>
      <p:sp>
        <p:nvSpPr>
          <p:cNvPr id="5" name="矩形 4"/>
          <p:cNvSpPr/>
          <p:nvPr/>
        </p:nvSpPr>
        <p:spPr>
          <a:xfrm>
            <a:off x="411480" y="2243823"/>
            <a:ext cx="8199120" cy="496867"/>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能量本征值</a:t>
            </a:r>
          </a:p>
        </p:txBody>
      </p:sp>
      <mc:AlternateContent xmlns:mc="http://schemas.openxmlformats.org/markup-compatibility/2006" xmlns:a14="http://schemas.microsoft.com/office/drawing/2010/main">
        <mc:Choice Requires="a14">
          <p:sp>
            <p:nvSpPr>
              <p:cNvPr id="6" name="文本框 5"/>
              <p:cNvSpPr txBox="1"/>
              <p:nvPr/>
            </p:nvSpPr>
            <p:spPr>
              <a:xfrm>
                <a:off x="2441018" y="2419994"/>
                <a:ext cx="4140044" cy="10455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prstClr val="black"/>
                              </a:solidFill>
                              <a:latin typeface="Cambria Math" panose="02040503050406030204" pitchFamily="18" charset="0"/>
                            </a:rPr>
                          </m:ctrlPr>
                        </m:sSubPr>
                        <m:e>
                          <m:r>
                            <a:rPr lang="en-US" altLang="zh-CN" sz="2800" b="0" i="1" smtClean="0">
                              <a:solidFill>
                                <a:prstClr val="black"/>
                              </a:solidFill>
                              <a:latin typeface="Cambria Math" panose="02040503050406030204" pitchFamily="18" charset="0"/>
                            </a:rPr>
                            <m:t>𝐸</m:t>
                          </m:r>
                        </m:e>
                        <m:sub>
                          <m:acc>
                            <m:accPr>
                              <m:chr m:val="⃑"/>
                              <m:ctrlPr>
                                <a:rPr lang="en-US" altLang="zh-CN" sz="2800" i="1" smtClean="0">
                                  <a:solidFill>
                                    <a:prstClr val="black"/>
                                  </a:solidFill>
                                  <a:latin typeface="Cambria Math" panose="02040503050406030204" pitchFamily="18" charset="0"/>
                                </a:rPr>
                              </m:ctrlPr>
                            </m:accPr>
                            <m:e>
                              <m:r>
                                <a:rPr lang="en-US" altLang="zh-CN" sz="2800" b="0" i="1" smtClean="0">
                                  <a:solidFill>
                                    <a:prstClr val="black"/>
                                  </a:solidFill>
                                  <a:latin typeface="Cambria Math" panose="02040503050406030204" pitchFamily="18" charset="0"/>
                                </a:rPr>
                                <m:t>𝑘</m:t>
                              </m:r>
                            </m:e>
                          </m:acc>
                        </m:sub>
                      </m:sSub>
                      <m:r>
                        <a:rPr lang="en-US" altLang="zh-CN" sz="2800" b="0" i="1" smtClean="0">
                          <a:solidFill>
                            <a:prstClr val="black"/>
                          </a:solidFill>
                          <a:latin typeface="Cambria Math" panose="02040503050406030204" pitchFamily="18" charset="0"/>
                        </a:rPr>
                        <m:t>=</m:t>
                      </m:r>
                      <m:sSub>
                        <m:sSubPr>
                          <m:ctrlPr>
                            <a:rPr lang="en-US" altLang="zh-CN" sz="2800" i="1">
                              <a:latin typeface="Cambria Math" panose="02040503050406030204" pitchFamily="18" charset="0"/>
                            </a:rPr>
                          </m:ctrlPr>
                        </m:sSubPr>
                        <m:e>
                          <m:r>
                            <a:rPr lang="zh-CN" altLang="en-US" sz="2800" i="1">
                              <a:latin typeface="Cambria Math" panose="02040503050406030204" pitchFamily="18" charset="0"/>
                            </a:rPr>
                            <m:t>𝜀</m:t>
                          </m:r>
                        </m:e>
                        <m:sub>
                          <m:r>
                            <a:rPr lang="en-US" altLang="zh-CN" sz="2800" i="1">
                              <a:latin typeface="Cambria Math" panose="02040503050406030204" pitchFamily="18" charset="0"/>
                            </a:rPr>
                            <m:t>𝑖</m:t>
                          </m:r>
                        </m:sub>
                      </m:sSub>
                      <m:r>
                        <a:rPr lang="en-US" altLang="zh-CN" sz="2800" b="0" i="1" smtClean="0">
                          <a:latin typeface="Cambria Math" panose="02040503050406030204" pitchFamily="18" charset="0"/>
                        </a:rPr>
                        <m:t>−</m:t>
                      </m:r>
                      <m:nary>
                        <m:naryPr>
                          <m:chr m:val="∑"/>
                          <m:supHide m:val="on"/>
                          <m:ctrlPr>
                            <a:rPr lang="en-US" altLang="zh-CN" sz="2800" i="1">
                              <a:latin typeface="Cambria Math" panose="02040503050406030204" pitchFamily="18" charset="0"/>
                            </a:rPr>
                          </m:ctrlPr>
                        </m:naryPr>
                        <m:sub>
                          <m:r>
                            <a:rPr lang="en-US" altLang="zh-CN" sz="2800" b="0" i="1" smtClean="0">
                              <a:latin typeface="Cambria Math" panose="02040503050406030204" pitchFamily="18" charset="0"/>
                            </a:rPr>
                            <m:t>𝑠</m:t>
                          </m:r>
                        </m:sub>
                        <m:sup/>
                        <m:e>
                          <m:sSup>
                            <m:sSupPr>
                              <m:ctrlPr>
                                <a:rPr lang="en-US" altLang="zh-CN" sz="2800" i="1">
                                  <a:solidFill>
                                    <a:prstClr val="black"/>
                                  </a:solidFill>
                                  <a:latin typeface="Cambria Math" panose="02040503050406030204" pitchFamily="18" charset="0"/>
                                </a:rPr>
                              </m:ctrlPr>
                            </m:sSupPr>
                            <m:e>
                              <m:r>
                                <a:rPr lang="en-US" altLang="zh-CN" sz="2800" b="0" i="1" smtClean="0">
                                  <a:solidFill>
                                    <a:prstClr val="black"/>
                                  </a:solidFill>
                                  <a:latin typeface="Cambria Math" panose="02040503050406030204" pitchFamily="18" charset="0"/>
                                </a:rPr>
                                <m:t>𝐽</m:t>
                              </m:r>
                              <m:r>
                                <a:rPr lang="en-US" altLang="zh-CN" sz="2800" b="0" i="1" smtClean="0">
                                  <a:solidFill>
                                    <a:prstClr val="black"/>
                                  </a:solidFill>
                                  <a:latin typeface="Cambria Math" panose="02040503050406030204" pitchFamily="18" charset="0"/>
                                </a:rPr>
                                <m:t>(</m:t>
                              </m:r>
                              <m:acc>
                                <m:accPr>
                                  <m:chr m:val="⃑"/>
                                  <m:ctrlPr>
                                    <a:rPr lang="en-US" altLang="zh-CN" sz="2800" i="1">
                                      <a:latin typeface="Cambria Math" panose="02040503050406030204" pitchFamily="18" charset="0"/>
                                    </a:rPr>
                                  </m:ctrlPr>
                                </m:acc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𝑠</m:t>
                                      </m:r>
                                    </m:sub>
                                  </m:sSub>
                                </m:e>
                              </m:acc>
                              <m:r>
                                <a:rPr lang="en-US" altLang="zh-CN" sz="2800" b="0" i="1" smtClean="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𝑒</m:t>
                              </m:r>
                            </m:e>
                            <m:sup>
                              <m:r>
                                <a:rPr lang="en-US" altLang="zh-CN" sz="2800" b="0" i="1" smtClean="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𝑖</m:t>
                              </m:r>
                              <m:acc>
                                <m:accPr>
                                  <m:chr m:val="⃑"/>
                                  <m:ctrlPr>
                                    <a:rPr lang="en-US" altLang="zh-CN" sz="2800" i="1">
                                      <a:solidFill>
                                        <a:prstClr val="black"/>
                                      </a:solidFill>
                                      <a:latin typeface="Cambria Math" panose="02040503050406030204" pitchFamily="18" charset="0"/>
                                    </a:rPr>
                                  </m:ctrlPr>
                                </m:accPr>
                                <m:e>
                                  <m:r>
                                    <a:rPr lang="en-US" altLang="zh-CN" sz="2800" i="1">
                                      <a:solidFill>
                                        <a:prstClr val="black"/>
                                      </a:solidFill>
                                      <a:latin typeface="Cambria Math" panose="02040503050406030204" pitchFamily="18" charset="0"/>
                                    </a:rPr>
                                    <m:t>𝑘</m:t>
                                  </m:r>
                                </m:e>
                              </m:acc>
                              <m:r>
                                <a:rPr lang="en-US" altLang="zh-CN" sz="2800" i="1">
                                  <a:solidFill>
                                    <a:prstClr val="black"/>
                                  </a:solidFill>
                                  <a:latin typeface="Cambria Math" panose="02040503050406030204" pitchFamily="18" charset="0"/>
                                  <a:ea typeface="Cambria Math" panose="02040503050406030204" pitchFamily="18" charset="0"/>
                                </a:rPr>
                                <m:t>∙</m:t>
                              </m:r>
                              <m:acc>
                                <m:accPr>
                                  <m:chr m:val="⃑"/>
                                  <m:ctrlPr>
                                    <a:rPr lang="en-US" altLang="zh-CN" sz="2800" i="1">
                                      <a:solidFill>
                                        <a:prstClr val="black"/>
                                      </a:solidFill>
                                      <a:latin typeface="Cambria Math" panose="02040503050406030204" pitchFamily="18" charset="0"/>
                                      <a:ea typeface="Cambria Math" panose="02040503050406030204" pitchFamily="18" charset="0"/>
                                    </a:rPr>
                                  </m:ctrlPr>
                                </m:accPr>
                                <m:e>
                                  <m:sSub>
                                    <m:sSubPr>
                                      <m:ctrlPr>
                                        <a:rPr lang="en-US" altLang="zh-CN" sz="2800" i="1">
                                          <a:solidFill>
                                            <a:prstClr val="black"/>
                                          </a:solidFill>
                                          <a:latin typeface="Cambria Math" panose="02040503050406030204" pitchFamily="18" charset="0"/>
                                          <a:ea typeface="Cambria Math" panose="02040503050406030204" pitchFamily="18" charset="0"/>
                                        </a:rPr>
                                      </m:ctrlPr>
                                    </m:sSubPr>
                                    <m:e>
                                      <m:r>
                                        <a:rPr lang="en-US" altLang="zh-CN" sz="2800" i="1">
                                          <a:solidFill>
                                            <a:prstClr val="black"/>
                                          </a:solidFill>
                                          <a:latin typeface="Cambria Math" panose="02040503050406030204" pitchFamily="18" charset="0"/>
                                          <a:ea typeface="Cambria Math" panose="02040503050406030204" pitchFamily="18" charset="0"/>
                                        </a:rPr>
                                        <m:t>𝑅</m:t>
                                      </m:r>
                                    </m:e>
                                    <m:sub>
                                      <m:r>
                                        <a:rPr lang="en-US" altLang="zh-CN" sz="2800" b="0" i="1" smtClean="0">
                                          <a:solidFill>
                                            <a:prstClr val="black"/>
                                          </a:solidFill>
                                          <a:latin typeface="Cambria Math" panose="02040503050406030204" pitchFamily="18" charset="0"/>
                                          <a:ea typeface="Cambria Math" panose="02040503050406030204" pitchFamily="18" charset="0"/>
                                        </a:rPr>
                                        <m:t>𝑠</m:t>
                                      </m:r>
                                    </m:sub>
                                  </m:sSub>
                                </m:e>
                              </m:acc>
                            </m:sup>
                          </m:sSup>
                        </m:e>
                      </m:nary>
                    </m:oMath>
                  </m:oMathPara>
                </a14:m>
                <a:endParaRPr lang="zh-CN" altLang="en-US" sz="2800" dirty="0"/>
              </a:p>
            </p:txBody>
          </p:sp>
        </mc:Choice>
        <mc:Fallback xmlns="">
          <p:sp>
            <p:nvSpPr>
              <p:cNvPr id="6" name="文本框 5"/>
              <p:cNvSpPr txBox="1">
                <a:spLocks noRot="1" noChangeAspect="1" noMove="1" noResize="1" noEditPoints="1" noAdjustHandles="1" noChangeArrowheads="1" noChangeShapeType="1" noTextEdit="1"/>
              </p:cNvSpPr>
              <p:nvPr/>
            </p:nvSpPr>
            <p:spPr>
              <a:xfrm>
                <a:off x="2441018" y="2419994"/>
                <a:ext cx="4140044" cy="104554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04887" y="3641708"/>
                <a:ext cx="8199120" cy="2286332"/>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其中</a:t>
                </a:r>
                <a:r>
                  <a:rPr kumimoji="1" lang="en-US" altLang="zh-CN" sz="2400" b="1" dirty="0">
                    <a:solidFill>
                      <a:srgbClr val="000000"/>
                    </a:solidFill>
                    <a:latin typeface="Times New Roman" pitchFamily="18" charset="0"/>
                    <a:ea typeface="宋体" pitchFamily="2" charset="-122"/>
                  </a:rPr>
                  <a:t>N</a:t>
                </a:r>
                <a:r>
                  <a:rPr kumimoji="1" lang="zh-CN" altLang="en-US" sz="2400" b="1" dirty="0">
                    <a:solidFill>
                      <a:srgbClr val="000000"/>
                    </a:solidFill>
                    <a:latin typeface="Times New Roman" pitchFamily="18" charset="0"/>
                    <a:ea typeface="宋体" pitchFamily="2" charset="-122"/>
                  </a:rPr>
                  <a:t>为原子（原胞）数，</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可见，能量本征值与</a:t>
                </a:r>
                <a:r>
                  <a:rPr kumimoji="1" lang="en-US" altLang="zh-CN" sz="2400" b="1" i="1" dirty="0">
                    <a:solidFill>
                      <a:srgbClr val="000000"/>
                    </a:solidFill>
                    <a:latin typeface="Times New Roman" pitchFamily="18" charset="0"/>
                    <a:ea typeface="宋体" pitchFamily="2" charset="-122"/>
                  </a:rPr>
                  <a:t>m</a:t>
                </a:r>
                <a:r>
                  <a:rPr kumimoji="1" lang="zh-CN" altLang="en-US" sz="2400" b="1" dirty="0">
                    <a:solidFill>
                      <a:srgbClr val="000000"/>
                    </a:solidFill>
                    <a:latin typeface="Times New Roman" pitchFamily="18" charset="0"/>
                    <a:ea typeface="宋体" pitchFamily="2" charset="-122"/>
                  </a:rPr>
                  <a:t>无关，说明所有具有相同</a:t>
                </a:r>
                <a:r>
                  <a:rPr kumimoji="1" lang="en-US" altLang="zh-CN" sz="2400" b="1" i="1" dirty="0">
                    <a:solidFill>
                      <a:srgbClr val="000000"/>
                    </a:solidFill>
                    <a:latin typeface="Times New Roman" pitchFamily="18" charset="0"/>
                    <a:ea typeface="宋体" pitchFamily="2" charset="-122"/>
                  </a:rPr>
                  <a:t>k</a:t>
                </a:r>
                <a:r>
                  <a:rPr kumimoji="1" lang="zh-CN" altLang="en-US" sz="2400" b="1" dirty="0">
                    <a:solidFill>
                      <a:srgbClr val="000000"/>
                    </a:solidFill>
                    <a:latin typeface="Times New Roman" pitchFamily="18" charset="0"/>
                    <a:ea typeface="宋体" pitchFamily="2" charset="-122"/>
                  </a:rPr>
                  <a:t>值的波函数能量都相同。</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很容易验证</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𝑘</m:t>
                            </m:r>
                          </m:e>
                        </m:acc>
                      </m:sub>
                    </m:sSub>
                  </m:oMath>
                </a14:m>
                <a:r>
                  <a:rPr kumimoji="1" lang="zh-CN" altLang="en-US" sz="2400" b="1" dirty="0">
                    <a:solidFill>
                      <a:srgbClr val="000000"/>
                    </a:solidFill>
                    <a:latin typeface="Times New Roman" pitchFamily="18" charset="0"/>
                    <a:ea typeface="宋体" pitchFamily="2" charset="-122"/>
                  </a:rPr>
                  <a:t>是布洛赫函数。</a:t>
                </a:r>
              </a:p>
            </p:txBody>
          </p:sp>
        </mc:Choice>
        <mc:Fallback xmlns="">
          <p:sp>
            <p:nvSpPr>
              <p:cNvPr id="7" name="矩形 6"/>
              <p:cNvSpPr>
                <a:spLocks noRot="1" noChangeAspect="1" noMove="1" noResize="1" noEditPoints="1" noAdjustHandles="1" noChangeArrowheads="1" noChangeShapeType="1" noTextEdit="1"/>
              </p:cNvSpPr>
              <p:nvPr/>
            </p:nvSpPr>
            <p:spPr>
              <a:xfrm>
                <a:off x="504887" y="3641708"/>
                <a:ext cx="8199120" cy="2286332"/>
              </a:xfrm>
              <a:prstGeom prst="rect">
                <a:avLst/>
              </a:prstGeom>
              <a:blipFill>
                <a:blip r:embed="rId4"/>
                <a:stretch>
                  <a:fillRect l="-1190" t="-1600" b="-21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011068" y="3628311"/>
                <a:ext cx="2106218" cy="5064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prstClr val="black"/>
                              </a:solidFill>
                              <a:latin typeface="Cambria Math" panose="02040503050406030204" pitchFamily="18" charset="0"/>
                            </a:rPr>
                          </m:ctrlPr>
                        </m:accPr>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𝑅</m:t>
                              </m:r>
                            </m:e>
                            <m:sub>
                              <m:r>
                                <a:rPr lang="en-US" altLang="zh-CN" sz="2400" i="1">
                                  <a:solidFill>
                                    <a:prstClr val="black"/>
                                  </a:solidFill>
                                  <a:latin typeface="Cambria Math" panose="02040503050406030204" pitchFamily="18" charset="0"/>
                                </a:rPr>
                                <m:t>𝑠</m:t>
                              </m:r>
                            </m:sub>
                          </m:sSub>
                        </m:e>
                      </m:acc>
                      <m:r>
                        <a:rPr lang="en-US" altLang="zh-CN" sz="2400" b="0" i="1" smtClean="0">
                          <a:solidFill>
                            <a:prstClr val="black"/>
                          </a:solidFill>
                          <a:latin typeface="Cambria Math" panose="02040503050406030204" pitchFamily="18" charset="0"/>
                        </a:rPr>
                        <m:t>=</m:t>
                      </m:r>
                      <m:acc>
                        <m:accPr>
                          <m:chr m:val="⃑"/>
                          <m:ctrlPr>
                            <a:rPr lang="en-US" altLang="zh-CN" sz="2400" i="1">
                              <a:solidFill>
                                <a:prstClr val="black"/>
                              </a:solidFill>
                              <a:latin typeface="Cambria Math" panose="02040503050406030204" pitchFamily="18" charset="0"/>
                            </a:rPr>
                          </m:ctrlPr>
                        </m:accPr>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𝑅</m:t>
                              </m:r>
                            </m:e>
                            <m:sub>
                              <m:r>
                                <a:rPr lang="en-US" altLang="zh-CN" sz="2400" b="0" i="1" smtClean="0">
                                  <a:solidFill>
                                    <a:prstClr val="black"/>
                                  </a:solidFill>
                                  <a:latin typeface="Cambria Math" panose="02040503050406030204" pitchFamily="18" charset="0"/>
                                </a:rPr>
                                <m:t>𝑛</m:t>
                              </m:r>
                            </m:sub>
                          </m:sSub>
                        </m:e>
                      </m:acc>
                      <m:r>
                        <a:rPr lang="en-US" altLang="zh-CN" sz="2400" b="0" i="1" smtClean="0">
                          <a:solidFill>
                            <a:prstClr val="black"/>
                          </a:solidFill>
                          <a:latin typeface="Cambria Math" panose="02040503050406030204" pitchFamily="18" charset="0"/>
                        </a:rPr>
                        <m:t>−</m:t>
                      </m:r>
                      <m:acc>
                        <m:accPr>
                          <m:chr m:val="⃑"/>
                          <m:ctrlPr>
                            <a:rPr lang="en-US" altLang="zh-CN" sz="2400" i="1">
                              <a:solidFill>
                                <a:prstClr val="black"/>
                              </a:solidFill>
                              <a:latin typeface="Cambria Math" panose="02040503050406030204" pitchFamily="18" charset="0"/>
                            </a:rPr>
                          </m:ctrlPr>
                        </m:accPr>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𝑅</m:t>
                              </m:r>
                            </m:e>
                            <m:sub>
                              <m:r>
                                <a:rPr lang="en-US" altLang="zh-CN" sz="2400" b="0" i="1" smtClean="0">
                                  <a:solidFill>
                                    <a:prstClr val="black"/>
                                  </a:solidFill>
                                  <a:latin typeface="Cambria Math" panose="02040503050406030204" pitchFamily="18" charset="0"/>
                                </a:rPr>
                                <m:t>𝑚</m:t>
                              </m:r>
                            </m:sub>
                          </m:sSub>
                        </m:e>
                      </m:acc>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4011068" y="3628311"/>
                <a:ext cx="2106218" cy="50642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639667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54</a:t>
            </a:fld>
            <a:endParaRPr lang="zh-CN" altLang="en-US"/>
          </a:p>
        </p:txBody>
      </p:sp>
      <p:sp>
        <p:nvSpPr>
          <p:cNvPr id="3" name="矩形 2"/>
          <p:cNvSpPr/>
          <p:nvPr/>
        </p:nvSpPr>
        <p:spPr>
          <a:xfrm>
            <a:off x="470474" y="2904688"/>
            <a:ext cx="8199120" cy="496867"/>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考虑周期边条件</a:t>
            </a:r>
          </a:p>
        </p:txBody>
      </p:sp>
      <p:graphicFrame>
        <p:nvGraphicFramePr>
          <p:cNvPr id="4" name="对象 3"/>
          <p:cNvGraphicFramePr>
            <a:graphicFrameLocks noChangeAspect="1"/>
          </p:cNvGraphicFramePr>
          <p:nvPr/>
        </p:nvGraphicFramePr>
        <p:xfrm>
          <a:off x="2690425" y="3401555"/>
          <a:ext cx="3340271" cy="957821"/>
        </p:xfrm>
        <a:graphic>
          <a:graphicData uri="http://schemas.openxmlformats.org/presentationml/2006/ole">
            <mc:AlternateContent xmlns:mc="http://schemas.openxmlformats.org/markup-compatibility/2006">
              <mc:Choice xmlns:v="urn:schemas-microsoft-com:vml" Requires="v">
                <p:oleObj name="Equation" r:id="rId2" imgW="1497950" imgH="431613" progId="Equation.DSMT4">
                  <p:embed/>
                </p:oleObj>
              </mc:Choice>
              <mc:Fallback>
                <p:oleObj name="Equation" r:id="rId2" imgW="1497950" imgH="431613" progId="Equation.DSMT4">
                  <p:embed/>
                  <p:pic>
                    <p:nvPicPr>
                      <p:cNvPr id="4"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0425" y="3401555"/>
                        <a:ext cx="3340271" cy="957821"/>
                      </a:xfrm>
                      <a:prstGeom prst="rect">
                        <a:avLst/>
                      </a:prstGeom>
                      <a:solidFill>
                        <a:srgbClr val="FFFFFF"/>
                      </a:solidFill>
                    </p:spPr>
                  </p:pic>
                </p:oleObj>
              </mc:Fallback>
            </mc:AlternateContent>
          </a:graphicData>
        </a:graphic>
      </p:graphicFrame>
      <p:sp>
        <p:nvSpPr>
          <p:cNvPr id="5" name="矩形 4"/>
          <p:cNvSpPr/>
          <p:nvPr/>
        </p:nvSpPr>
        <p:spPr>
          <a:xfrm>
            <a:off x="544216" y="4359376"/>
            <a:ext cx="8199120" cy="496867"/>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共得到</a:t>
            </a:r>
            <a:r>
              <a:rPr kumimoji="1" lang="en-US" altLang="zh-CN" sz="2400" b="1" i="1" dirty="0">
                <a:solidFill>
                  <a:srgbClr val="000000"/>
                </a:solidFill>
                <a:latin typeface="Times New Roman" pitchFamily="18" charset="0"/>
                <a:ea typeface="宋体" pitchFamily="2" charset="-122"/>
              </a:rPr>
              <a:t>N</a:t>
            </a:r>
            <a:r>
              <a:rPr kumimoji="1" lang="zh-CN" altLang="en-US" sz="2400" b="1" dirty="0">
                <a:solidFill>
                  <a:srgbClr val="000000"/>
                </a:solidFill>
                <a:latin typeface="Times New Roman" pitchFamily="18" charset="0"/>
                <a:ea typeface="宋体" pitchFamily="2" charset="-122"/>
              </a:rPr>
              <a:t>个相同形式的解</a:t>
            </a:r>
          </a:p>
        </p:txBody>
      </p:sp>
      <mc:AlternateContent xmlns:mc="http://schemas.openxmlformats.org/markup-compatibility/2006" xmlns:a14="http://schemas.microsoft.com/office/drawing/2010/main">
        <mc:Choice Requires="a14">
          <p:sp>
            <p:nvSpPr>
              <p:cNvPr id="6" name="矩形 5"/>
              <p:cNvSpPr/>
              <p:nvPr/>
            </p:nvSpPr>
            <p:spPr>
              <a:xfrm>
                <a:off x="411480" y="349071"/>
                <a:ext cx="8199120" cy="1032462"/>
              </a:xfrm>
              <a:prstGeom prst="rect">
                <a:avLst/>
              </a:prstGeom>
            </p:spPr>
            <p:txBody>
              <a:bodyPr wrap="square">
                <a:spAutoFit/>
              </a:bodyPr>
              <a:lstStyle/>
              <a:p>
                <a:pPr lvl="0" defTabSz="914400" eaLnBrk="0" fontAlgn="base" hangingPunct="0">
                  <a:lnSpc>
                    <a:spcPct val="120000"/>
                  </a:lnSpc>
                  <a:spcBef>
                    <a:spcPct val="50000"/>
                  </a:spcBef>
                  <a:spcAft>
                    <a:spcPct val="0"/>
                  </a:spcAft>
                </a:pP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oMath>
                </a14:m>
                <a:r>
                  <a:rPr kumimoji="1" lang="zh-CN" altLang="en-US" sz="2400" b="1" dirty="0">
                    <a:solidFill>
                      <a:srgbClr val="000000"/>
                    </a:solidFill>
                    <a:latin typeface="Times New Roman" pitchFamily="18" charset="0"/>
                    <a:ea typeface="宋体" pitchFamily="2" charset="-122"/>
                  </a:rPr>
                  <a:t>表示</a:t>
                </a:r>
                <a:r>
                  <a:rPr kumimoji="1" lang="en-US" altLang="zh-CN" sz="2400" b="1" i="1" dirty="0">
                    <a:solidFill>
                      <a:srgbClr val="000000"/>
                    </a:solidFill>
                    <a:latin typeface="Times New Roman" pitchFamily="18" charset="0"/>
                    <a:ea typeface="宋体" pitchFamily="2" charset="-122"/>
                  </a:rPr>
                  <a:t>U</a:t>
                </a:r>
                <a:r>
                  <a:rPr kumimoji="1" lang="en-US" altLang="zh-CN" sz="2400" b="1" dirty="0">
                    <a:solidFill>
                      <a:srgbClr val="000000"/>
                    </a:solidFill>
                    <a:latin typeface="Times New Roman" pitchFamily="18" charset="0"/>
                    <a:ea typeface="宋体" pitchFamily="2" charset="-122"/>
                  </a:rPr>
                  <a:t>-</a:t>
                </a:r>
                <a:r>
                  <a:rPr kumimoji="1" lang="en-US" altLang="zh-CN" sz="2400" b="1" i="1" dirty="0">
                    <a:solidFill>
                      <a:srgbClr val="000000"/>
                    </a:solidFill>
                    <a:latin typeface="Times New Roman" pitchFamily="18" charset="0"/>
                    <a:ea typeface="宋体" pitchFamily="2" charset="-122"/>
                  </a:rPr>
                  <a:t>V</a:t>
                </a:r>
                <a:r>
                  <a:rPr kumimoji="1" lang="zh-CN" altLang="en-US" sz="2400" b="1" dirty="0">
                    <a:solidFill>
                      <a:srgbClr val="000000"/>
                    </a:solidFill>
                    <a:latin typeface="Times New Roman" pitchFamily="18" charset="0"/>
                    <a:ea typeface="宋体" pitchFamily="2" charset="-122"/>
                  </a:rPr>
                  <a:t>对该格点电子的作用，并假设非最近邻情况下的</a:t>
                </a:r>
                <a14:m>
                  <m:oMath xmlns:m="http://schemas.openxmlformats.org/officeDocument/2006/math">
                    <m:r>
                      <a:rPr lang="en-US" altLang="zh-CN" sz="2400" i="1">
                        <a:solidFill>
                          <a:prstClr val="black"/>
                        </a:solidFill>
                        <a:latin typeface="Cambria Math" panose="02040503050406030204" pitchFamily="18" charset="0"/>
                      </a:rPr>
                      <m:t>𝐽</m:t>
                    </m:r>
                    <m:r>
                      <a:rPr lang="en-US" altLang="zh-CN" sz="2400" i="1">
                        <a:solidFill>
                          <a:prstClr val="black"/>
                        </a:solidFill>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𝑠</m:t>
                            </m:r>
                          </m:sub>
                        </m:sSub>
                      </m:e>
                    </m:acc>
                    <m:r>
                      <a:rPr lang="en-US" altLang="zh-CN" sz="2400" i="1">
                        <a:solidFill>
                          <a:prstClr val="black"/>
                        </a:solidFill>
                        <a:latin typeface="Cambria Math" panose="02040503050406030204" pitchFamily="18" charset="0"/>
                      </a:rPr>
                      <m:t>)</m:t>
                    </m:r>
                  </m:oMath>
                </a14:m>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，则能量本征值可以表示为</a:t>
                </a:r>
              </a:p>
            </p:txBody>
          </p:sp>
        </mc:Choice>
        <mc:Fallback xmlns="">
          <p:sp>
            <p:nvSpPr>
              <p:cNvPr id="6" name="矩形 5"/>
              <p:cNvSpPr>
                <a:spLocks noRot="1" noChangeAspect="1" noMove="1" noResize="1" noEditPoints="1" noAdjustHandles="1" noChangeArrowheads="1" noChangeShapeType="1" noTextEdit="1"/>
              </p:cNvSpPr>
              <p:nvPr/>
            </p:nvSpPr>
            <p:spPr>
              <a:xfrm>
                <a:off x="411480" y="349071"/>
                <a:ext cx="8199120" cy="1032462"/>
              </a:xfrm>
              <a:prstGeom prst="rect">
                <a:avLst/>
              </a:prstGeom>
              <a:blipFill>
                <a:blip r:embed="rId5"/>
                <a:stretch>
                  <a:fillRect l="-520" t="-3529" b="-76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890652" y="1505594"/>
                <a:ext cx="4943213" cy="10455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prstClr val="black"/>
                              </a:solidFill>
                              <a:latin typeface="Cambria Math" panose="02040503050406030204" pitchFamily="18" charset="0"/>
                            </a:rPr>
                          </m:ctrlPr>
                        </m:sSubPr>
                        <m:e>
                          <m:r>
                            <a:rPr lang="en-US" altLang="zh-CN" sz="2800" b="0" i="1" smtClean="0">
                              <a:solidFill>
                                <a:prstClr val="black"/>
                              </a:solidFill>
                              <a:latin typeface="Cambria Math" panose="02040503050406030204" pitchFamily="18" charset="0"/>
                            </a:rPr>
                            <m:t>𝐸</m:t>
                          </m:r>
                        </m:e>
                        <m:sub>
                          <m:acc>
                            <m:accPr>
                              <m:chr m:val="⃑"/>
                              <m:ctrlPr>
                                <a:rPr lang="en-US" altLang="zh-CN" sz="2800" i="1" smtClean="0">
                                  <a:solidFill>
                                    <a:prstClr val="black"/>
                                  </a:solidFill>
                                  <a:latin typeface="Cambria Math" panose="02040503050406030204" pitchFamily="18" charset="0"/>
                                </a:rPr>
                              </m:ctrlPr>
                            </m:accPr>
                            <m:e>
                              <m:r>
                                <a:rPr lang="en-US" altLang="zh-CN" sz="2800" b="0" i="1" smtClean="0">
                                  <a:solidFill>
                                    <a:prstClr val="black"/>
                                  </a:solidFill>
                                  <a:latin typeface="Cambria Math" panose="02040503050406030204" pitchFamily="18" charset="0"/>
                                </a:rPr>
                                <m:t>𝑘</m:t>
                              </m:r>
                            </m:e>
                          </m:acc>
                        </m:sub>
                      </m:sSub>
                      <m:r>
                        <a:rPr lang="en-US" altLang="zh-CN" sz="2800" b="0" i="1" smtClean="0">
                          <a:solidFill>
                            <a:prstClr val="black"/>
                          </a:solidFill>
                          <a:latin typeface="Cambria Math" panose="02040503050406030204" pitchFamily="18" charset="0"/>
                        </a:rPr>
                        <m:t>=</m:t>
                      </m:r>
                      <m:sSub>
                        <m:sSubPr>
                          <m:ctrlPr>
                            <a:rPr lang="en-US" altLang="zh-CN" sz="2800" i="1">
                              <a:latin typeface="Cambria Math" panose="02040503050406030204" pitchFamily="18" charset="0"/>
                            </a:rPr>
                          </m:ctrlPr>
                        </m:sSubPr>
                        <m:e>
                          <m:r>
                            <a:rPr lang="zh-CN" altLang="en-US" sz="2800" i="1">
                              <a:latin typeface="Cambria Math" panose="02040503050406030204" pitchFamily="18" charset="0"/>
                            </a:rPr>
                            <m:t>𝜀</m:t>
                          </m:r>
                        </m:e>
                        <m:sub>
                          <m:r>
                            <a:rPr lang="en-US" altLang="zh-CN" sz="2800" i="1">
                              <a:latin typeface="Cambria Math" panose="02040503050406030204" pitchFamily="18" charset="0"/>
                            </a:rPr>
                            <m:t>𝑖</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𝐽</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m:t>
                      </m:r>
                      <m:nary>
                        <m:naryPr>
                          <m:chr m:val="∑"/>
                          <m:supHide m:val="on"/>
                          <m:ctrlPr>
                            <a:rPr lang="en-US" altLang="zh-CN" sz="2800" i="1">
                              <a:latin typeface="Cambria Math" panose="02040503050406030204" pitchFamily="18" charset="0"/>
                            </a:rPr>
                          </m:ctrlPr>
                        </m:naryPr>
                        <m:sub>
                          <m:r>
                            <a:rPr lang="en-US" altLang="zh-CN" sz="2800" b="0" i="1" smtClean="0">
                              <a:latin typeface="Cambria Math" panose="02040503050406030204" pitchFamily="18" charset="0"/>
                            </a:rPr>
                            <m:t>𝑅𝑠</m:t>
                          </m:r>
                          <m:r>
                            <a:rPr lang="en-US" altLang="zh-CN" sz="2800" b="0" i="1" smtClean="0">
                              <a:latin typeface="Cambria Math" panose="02040503050406030204" pitchFamily="18" charset="0"/>
                            </a:rPr>
                            <m:t>=</m:t>
                          </m:r>
                          <m:r>
                            <a:rPr lang="zh-CN" altLang="en-US" sz="2800" b="0" i="1" smtClean="0">
                              <a:latin typeface="Cambria Math" panose="02040503050406030204" pitchFamily="18" charset="0"/>
                            </a:rPr>
                            <m:t>𝛼</m:t>
                          </m:r>
                        </m:sub>
                        <m:sup/>
                        <m:e>
                          <m:sSup>
                            <m:sSupPr>
                              <m:ctrlPr>
                                <a:rPr lang="en-US" altLang="zh-CN" sz="2800" i="1">
                                  <a:solidFill>
                                    <a:prstClr val="black"/>
                                  </a:solidFill>
                                  <a:latin typeface="Cambria Math" panose="02040503050406030204" pitchFamily="18" charset="0"/>
                                </a:rPr>
                              </m:ctrlPr>
                            </m:sSupPr>
                            <m:e>
                              <m:r>
                                <a:rPr lang="en-US" altLang="zh-CN" sz="2800" b="0" i="1" smtClean="0">
                                  <a:solidFill>
                                    <a:prstClr val="black"/>
                                  </a:solidFill>
                                  <a:latin typeface="Cambria Math" panose="02040503050406030204" pitchFamily="18" charset="0"/>
                                </a:rPr>
                                <m:t>𝐽</m:t>
                              </m:r>
                              <m:r>
                                <a:rPr lang="en-US" altLang="zh-CN" sz="2800" b="0" i="1" smtClean="0">
                                  <a:solidFill>
                                    <a:prstClr val="black"/>
                                  </a:solidFill>
                                  <a:latin typeface="Cambria Math" panose="02040503050406030204" pitchFamily="18" charset="0"/>
                                </a:rPr>
                                <m:t>(</m:t>
                              </m:r>
                              <m:acc>
                                <m:accPr>
                                  <m:chr m:val="⃑"/>
                                  <m:ctrlPr>
                                    <a:rPr lang="en-US" altLang="zh-CN" sz="2800" i="1">
                                      <a:latin typeface="Cambria Math" panose="02040503050406030204" pitchFamily="18" charset="0"/>
                                    </a:rPr>
                                  </m:ctrlPr>
                                </m:acc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𝑠</m:t>
                                      </m:r>
                                    </m:sub>
                                  </m:sSub>
                                </m:e>
                              </m:acc>
                              <m:r>
                                <a:rPr lang="en-US" altLang="zh-CN" sz="2800" b="0" i="1" smtClean="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𝑒</m:t>
                              </m:r>
                            </m:e>
                            <m:sup>
                              <m:r>
                                <a:rPr lang="en-US" altLang="zh-CN" sz="2800" b="0" i="1" smtClean="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𝑖</m:t>
                              </m:r>
                              <m:acc>
                                <m:accPr>
                                  <m:chr m:val="⃑"/>
                                  <m:ctrlPr>
                                    <a:rPr lang="en-US" altLang="zh-CN" sz="2800" i="1">
                                      <a:solidFill>
                                        <a:prstClr val="black"/>
                                      </a:solidFill>
                                      <a:latin typeface="Cambria Math" panose="02040503050406030204" pitchFamily="18" charset="0"/>
                                    </a:rPr>
                                  </m:ctrlPr>
                                </m:accPr>
                                <m:e>
                                  <m:r>
                                    <a:rPr lang="en-US" altLang="zh-CN" sz="2800" i="1">
                                      <a:solidFill>
                                        <a:prstClr val="black"/>
                                      </a:solidFill>
                                      <a:latin typeface="Cambria Math" panose="02040503050406030204" pitchFamily="18" charset="0"/>
                                    </a:rPr>
                                    <m:t>𝑘</m:t>
                                  </m:r>
                                </m:e>
                              </m:acc>
                              <m:r>
                                <a:rPr lang="en-US" altLang="zh-CN" sz="2800" i="1">
                                  <a:solidFill>
                                    <a:prstClr val="black"/>
                                  </a:solidFill>
                                  <a:latin typeface="Cambria Math" panose="02040503050406030204" pitchFamily="18" charset="0"/>
                                  <a:ea typeface="Cambria Math" panose="02040503050406030204" pitchFamily="18" charset="0"/>
                                </a:rPr>
                                <m:t>∙</m:t>
                              </m:r>
                              <m:acc>
                                <m:accPr>
                                  <m:chr m:val="⃑"/>
                                  <m:ctrlPr>
                                    <a:rPr lang="en-US" altLang="zh-CN" sz="2800" i="1">
                                      <a:solidFill>
                                        <a:prstClr val="black"/>
                                      </a:solidFill>
                                      <a:latin typeface="Cambria Math" panose="02040503050406030204" pitchFamily="18" charset="0"/>
                                      <a:ea typeface="Cambria Math" panose="02040503050406030204" pitchFamily="18" charset="0"/>
                                    </a:rPr>
                                  </m:ctrlPr>
                                </m:accPr>
                                <m:e>
                                  <m:sSub>
                                    <m:sSubPr>
                                      <m:ctrlPr>
                                        <a:rPr lang="en-US" altLang="zh-CN" sz="2800" i="1">
                                          <a:solidFill>
                                            <a:prstClr val="black"/>
                                          </a:solidFill>
                                          <a:latin typeface="Cambria Math" panose="02040503050406030204" pitchFamily="18" charset="0"/>
                                          <a:ea typeface="Cambria Math" panose="02040503050406030204" pitchFamily="18" charset="0"/>
                                        </a:rPr>
                                      </m:ctrlPr>
                                    </m:sSubPr>
                                    <m:e>
                                      <m:r>
                                        <a:rPr lang="en-US" altLang="zh-CN" sz="2800" i="1">
                                          <a:solidFill>
                                            <a:prstClr val="black"/>
                                          </a:solidFill>
                                          <a:latin typeface="Cambria Math" panose="02040503050406030204" pitchFamily="18" charset="0"/>
                                          <a:ea typeface="Cambria Math" panose="02040503050406030204" pitchFamily="18" charset="0"/>
                                        </a:rPr>
                                        <m:t>𝑅</m:t>
                                      </m:r>
                                    </m:e>
                                    <m:sub>
                                      <m:r>
                                        <a:rPr lang="en-US" altLang="zh-CN" sz="2800" b="0" i="1" smtClean="0">
                                          <a:solidFill>
                                            <a:prstClr val="black"/>
                                          </a:solidFill>
                                          <a:latin typeface="Cambria Math" panose="02040503050406030204" pitchFamily="18" charset="0"/>
                                          <a:ea typeface="Cambria Math" panose="02040503050406030204" pitchFamily="18" charset="0"/>
                                        </a:rPr>
                                        <m:t>𝑠</m:t>
                                      </m:r>
                                    </m:sub>
                                  </m:sSub>
                                </m:e>
                              </m:acc>
                            </m:sup>
                          </m:sSup>
                        </m:e>
                      </m:nary>
                    </m:oMath>
                  </m:oMathPara>
                </a14:m>
                <a:endParaRPr lang="zh-CN" altLang="en-US" sz="2800" dirty="0"/>
              </a:p>
            </p:txBody>
          </p:sp>
        </mc:Choice>
        <mc:Fallback xmlns="">
          <p:sp>
            <p:nvSpPr>
              <p:cNvPr id="7" name="文本框 6"/>
              <p:cNvSpPr txBox="1">
                <a:spLocks noRot="1" noChangeAspect="1" noMove="1" noResize="1" noEditPoints="1" noAdjustHandles="1" noChangeArrowheads="1" noChangeShapeType="1" noTextEdit="1"/>
              </p:cNvSpPr>
              <p:nvPr/>
            </p:nvSpPr>
            <p:spPr>
              <a:xfrm>
                <a:off x="1890652" y="1505594"/>
                <a:ext cx="4943213" cy="1045543"/>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99700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55</a:t>
            </a:fld>
            <a:endParaRPr lang="zh-CN" altLang="en-US"/>
          </a:p>
        </p:txBody>
      </p:sp>
      <mc:AlternateContent xmlns:mc="http://schemas.openxmlformats.org/markup-compatibility/2006" xmlns:a14="http://schemas.microsoft.com/office/drawing/2010/main">
        <mc:Choice Requires="a14">
          <p:sp>
            <p:nvSpPr>
              <p:cNvPr id="3" name="矩形 2"/>
              <p:cNvSpPr/>
              <p:nvPr/>
            </p:nvSpPr>
            <p:spPr>
              <a:xfrm>
                <a:off x="367235" y="377312"/>
                <a:ext cx="8199120" cy="3543919"/>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下面以简单立方晶格的</a:t>
                </a:r>
                <a:r>
                  <a:rPr kumimoji="1" lang="en-US" altLang="zh-CN" sz="2400" b="1" dirty="0">
                    <a:solidFill>
                      <a:srgbClr val="000000"/>
                    </a:solidFill>
                    <a:latin typeface="Times New Roman" pitchFamily="18" charset="0"/>
                    <a:ea typeface="宋体" pitchFamily="2" charset="-122"/>
                  </a:rPr>
                  <a:t>s</a:t>
                </a:r>
                <a:r>
                  <a:rPr kumimoji="1" lang="zh-CN" altLang="en-US" sz="2400" b="1" dirty="0">
                    <a:solidFill>
                      <a:srgbClr val="000000"/>
                    </a:solidFill>
                    <a:latin typeface="Times New Roman" pitchFamily="18" charset="0"/>
                    <a:ea typeface="宋体" pitchFamily="2" charset="-122"/>
                  </a:rPr>
                  <a:t>态电子为例。已知</a:t>
                </a:r>
                <a:r>
                  <a:rPr kumimoji="1" lang="en-US" altLang="zh-CN" sz="2400" b="1" dirty="0">
                    <a:solidFill>
                      <a:srgbClr val="000000"/>
                    </a:solidFill>
                    <a:latin typeface="Times New Roman" pitchFamily="18" charset="0"/>
                    <a:ea typeface="宋体" pitchFamily="2" charset="-122"/>
                  </a:rPr>
                  <a:t>s</a:t>
                </a:r>
                <a:r>
                  <a:rPr kumimoji="1" lang="zh-CN" altLang="en-US" sz="2400" b="1" dirty="0">
                    <a:solidFill>
                      <a:srgbClr val="000000"/>
                    </a:solidFill>
                    <a:latin typeface="Times New Roman" pitchFamily="18" charset="0"/>
                    <a:ea typeface="宋体" pitchFamily="2" charset="-122"/>
                  </a:rPr>
                  <a:t>态电子是球对称的，所以所有的</a:t>
                </a:r>
                <a14:m>
                  <m:oMath xmlns:m="http://schemas.openxmlformats.org/officeDocument/2006/math">
                    <m:r>
                      <a:rPr lang="en-US" altLang="zh-CN" sz="2400" i="1">
                        <a:solidFill>
                          <a:prstClr val="black"/>
                        </a:solidFill>
                        <a:latin typeface="Cambria Math" panose="02040503050406030204" pitchFamily="18" charset="0"/>
                      </a:rPr>
                      <m:t>𝐽</m:t>
                    </m:r>
                    <m:r>
                      <a:rPr lang="en-US" altLang="zh-CN" sz="2400" i="1">
                        <a:solidFill>
                          <a:prstClr val="black"/>
                        </a:solidFill>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𝑠</m:t>
                            </m:r>
                          </m:sub>
                        </m:sSub>
                      </m:e>
                    </m:acc>
                    <m:r>
                      <a:rPr lang="en-US" altLang="zh-CN" sz="2400" i="1">
                        <a:solidFill>
                          <a:prstClr val="black"/>
                        </a:solidFill>
                        <a:latin typeface="Cambria Math" panose="02040503050406030204" pitchFamily="18" charset="0"/>
                      </a:rPr>
                      <m:t>)</m:t>
                    </m:r>
                  </m:oMath>
                </a14:m>
                <a:r>
                  <a:rPr kumimoji="1" lang="zh-CN" altLang="en-US" sz="2400" b="1" dirty="0">
                    <a:solidFill>
                      <a:srgbClr val="000000"/>
                    </a:solidFill>
                    <a:latin typeface="Times New Roman" pitchFamily="18" charset="0"/>
                    <a:ea typeface="宋体" pitchFamily="2" charset="-122"/>
                  </a:rPr>
                  <a:t>具有相同的值，设为</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1</m:t>
                        </m:r>
                      </m:sub>
                    </m:sSub>
                  </m:oMath>
                </a14:m>
                <a:r>
                  <a:rPr kumimoji="1" lang="zh-CN" altLang="en-US" sz="2400" b="1" dirty="0">
                    <a:solidFill>
                      <a:srgbClr val="000000"/>
                    </a:solidFill>
                    <a:latin typeface="Times New Roman" pitchFamily="18" charset="0"/>
                    <a:ea typeface="宋体" pitchFamily="2" charset="-122"/>
                  </a:rPr>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1</m:t>
                        </m:r>
                      </m:sub>
                    </m:sSub>
                    <m:r>
                      <a:rPr lang="en-US" altLang="zh-CN" sz="2400" b="1" i="0" smtClean="0">
                        <a:latin typeface="Cambria Math" panose="02040503050406030204" pitchFamily="18" charset="0"/>
                      </a:rPr>
                      <m:t>&gt;</m:t>
                    </m:r>
                    <m:r>
                      <a:rPr lang="en-US" altLang="zh-CN" sz="2400" b="1" i="0" smtClean="0">
                        <a:latin typeface="Cambria Math" panose="02040503050406030204" pitchFamily="18" charset="0"/>
                      </a:rPr>
                      <m:t>𝟎</m:t>
                    </m:r>
                  </m:oMath>
                </a14:m>
                <a:r>
                  <a:rPr kumimoji="1" lang="zh-CN" altLang="en-US" sz="2400" b="1" dirty="0">
                    <a:solidFill>
                      <a:srgbClr val="000000"/>
                    </a:solidFill>
                    <a:latin typeface="Times New Roman" pitchFamily="18" charset="0"/>
                    <a:ea typeface="宋体" pitchFamily="2" charset="-122"/>
                  </a:rPr>
                  <a:t>）。</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对于（</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）格点，其最近邻的格点有</a:t>
                </a:r>
                <a:r>
                  <a:rPr kumimoji="1" lang="en-US" altLang="zh-CN" sz="2400" b="1" dirty="0">
                    <a:solidFill>
                      <a:srgbClr val="000000"/>
                    </a:solidFill>
                    <a:latin typeface="Times New Roman" pitchFamily="18" charset="0"/>
                    <a:ea typeface="宋体" pitchFamily="2" charset="-122"/>
                  </a:rPr>
                  <a:t>6</a:t>
                </a:r>
                <a:r>
                  <a:rPr kumimoji="1" lang="zh-CN" altLang="en-US" sz="2400" b="1" dirty="0">
                    <a:solidFill>
                      <a:srgbClr val="000000"/>
                    </a:solidFill>
                    <a:latin typeface="Times New Roman" pitchFamily="18" charset="0"/>
                    <a:ea typeface="宋体" pitchFamily="2" charset="-122"/>
                  </a:rPr>
                  <a:t>个，分别为</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a</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a</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a</a:t>
                </a:r>
                <a:r>
                  <a:rPr kumimoji="1" lang="zh-CN" altLang="en-US" sz="2400" b="1" dirty="0">
                    <a:solidFill>
                      <a:srgbClr val="000000"/>
                    </a:solidFill>
                    <a:latin typeface="Times New Roman" pitchFamily="18" charset="0"/>
                    <a:ea typeface="宋体" pitchFamily="2" charset="-122"/>
                  </a:rPr>
                  <a:t>），</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-a</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-a</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0</a:t>
                </a:r>
                <a:r>
                  <a:rPr kumimoji="1" lang="zh-CN" altLang="en-US" sz="2400" b="1" dirty="0">
                    <a:solidFill>
                      <a:srgbClr val="000000"/>
                    </a:solidFill>
                    <a:latin typeface="Times New Roman" pitchFamily="18" charset="0"/>
                    <a:ea typeface="宋体" pitchFamily="2" charset="-122"/>
                  </a:rPr>
                  <a:t>，</a:t>
                </a:r>
                <a:r>
                  <a:rPr kumimoji="1" lang="en-US" altLang="zh-CN" sz="2400" b="1" dirty="0">
                    <a:solidFill>
                      <a:srgbClr val="000000"/>
                    </a:solidFill>
                    <a:latin typeface="Times New Roman" pitchFamily="18" charset="0"/>
                    <a:ea typeface="宋体" pitchFamily="2" charset="-122"/>
                  </a:rPr>
                  <a:t>-a</a:t>
                </a:r>
                <a:r>
                  <a:rPr kumimoji="1" lang="zh-CN" altLang="en-US" sz="2400" b="1" dirty="0">
                    <a:solidFill>
                      <a:srgbClr val="000000"/>
                    </a:solidFill>
                    <a:latin typeface="Times New Roman" pitchFamily="18" charset="0"/>
                    <a:ea typeface="宋体" pitchFamily="2" charset="-122"/>
                  </a:rPr>
                  <a:t>）。</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所以</a:t>
                </a:r>
              </a:p>
            </p:txBody>
          </p:sp>
        </mc:Choice>
        <mc:Fallback xmlns="">
          <p:sp>
            <p:nvSpPr>
              <p:cNvPr id="3" name="矩形 2"/>
              <p:cNvSpPr>
                <a:spLocks noRot="1" noChangeAspect="1" noMove="1" noResize="1" noEditPoints="1" noAdjustHandles="1" noChangeArrowheads="1" noChangeShapeType="1" noTextEdit="1"/>
              </p:cNvSpPr>
              <p:nvPr/>
            </p:nvSpPr>
            <p:spPr>
              <a:xfrm>
                <a:off x="367235" y="377312"/>
                <a:ext cx="8199120" cy="3543919"/>
              </a:xfrm>
              <a:prstGeom prst="rect">
                <a:avLst/>
              </a:prstGeom>
              <a:blipFill>
                <a:blip r:embed="rId2"/>
                <a:stretch>
                  <a:fillRect l="-1115" t="-1033" b="-13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434770" y="3629356"/>
                <a:ext cx="6650090" cy="461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𝐸</m:t>
                      </m:r>
                      <m:r>
                        <a:rPr lang="en-US" altLang="zh-CN" sz="2400" b="0" i="1" smtClean="0">
                          <a:solidFill>
                            <a:prstClr val="black"/>
                          </a:solidFill>
                          <a:latin typeface="Cambria Math" panose="02040503050406030204" pitchFamily="18" charset="0"/>
                        </a:rPr>
                        <m:t>(</m:t>
                      </m:r>
                      <m:acc>
                        <m:accPr>
                          <m:chr m:val="⃑"/>
                          <m:ctrlPr>
                            <a:rPr lang="en-US" altLang="zh-CN" sz="2400" i="1">
                              <a:solidFill>
                                <a:prstClr val="black"/>
                              </a:solidFill>
                              <a:latin typeface="Cambria Math" panose="02040503050406030204" pitchFamily="18" charset="0"/>
                            </a:rPr>
                          </m:ctrlPr>
                        </m:accPr>
                        <m:e>
                          <m:r>
                            <a:rPr lang="en-US" altLang="zh-CN" sz="2400" i="1">
                              <a:solidFill>
                                <a:prstClr val="black"/>
                              </a:solidFill>
                              <a:latin typeface="Cambria Math" panose="02040503050406030204" pitchFamily="18" charset="0"/>
                            </a:rPr>
                            <m:t>𝑘</m:t>
                          </m:r>
                        </m:e>
                      </m:acc>
                      <m:r>
                        <a:rPr lang="en-US" altLang="zh-CN" sz="2400" b="0" i="1" smtClean="0">
                          <a:solidFill>
                            <a:prstClr val="black"/>
                          </a:solidFill>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𝐽</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−2</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𝑥</m:t>
                              </m:r>
                            </m:sub>
                          </m:sSub>
                          <m:r>
                            <a:rPr lang="en-US" altLang="zh-CN" sz="2400" b="0" i="1" smtClean="0">
                              <a:latin typeface="Cambria Math" panose="02040503050406030204" pitchFamily="18" charset="0"/>
                            </a:rPr>
                            <m:t>𝑎</m:t>
                          </m:r>
                          <m:r>
                            <a:rPr lang="en-US" altLang="zh-CN" sz="2400" b="0" i="1" smtClean="0">
                              <a:latin typeface="Cambria Math" panose="02040503050406030204" pitchFamily="18" charset="0"/>
                            </a:rPr>
                            <m:t>+</m:t>
                          </m:r>
                        </m:e>
                      </m:func>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cos</m:t>
                          </m:r>
                        </m:fNa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b="0" i="1" smtClean="0">
                                  <a:latin typeface="Cambria Math" panose="02040503050406030204" pitchFamily="18" charset="0"/>
                                </a:rPr>
                                <m:t>𝑦</m:t>
                              </m:r>
                            </m:sub>
                          </m:sSub>
                          <m:r>
                            <a:rPr lang="en-US" altLang="zh-CN" sz="2400" i="1">
                              <a:latin typeface="Cambria Math" panose="02040503050406030204" pitchFamily="18" charset="0"/>
                            </a:rPr>
                            <m:t>𝑎</m:t>
                          </m:r>
                          <m:r>
                            <a:rPr lang="en-US" altLang="zh-CN" sz="2400" i="1">
                              <a:latin typeface="Cambria Math" panose="02040503050406030204" pitchFamily="18" charset="0"/>
                            </a:rPr>
                            <m:t>+</m:t>
                          </m:r>
                        </m:e>
                      </m:func>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cos</m:t>
                          </m:r>
                        </m:fNa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b="0" i="1" smtClean="0">
                                  <a:latin typeface="Cambria Math" panose="02040503050406030204" pitchFamily="18" charset="0"/>
                                </a:rPr>
                                <m:t>𝑧</m:t>
                              </m:r>
                            </m:sub>
                          </m:sSub>
                          <m:r>
                            <a:rPr lang="en-US" altLang="zh-CN" sz="2400" i="1">
                              <a:latin typeface="Cambria Math" panose="02040503050406030204" pitchFamily="18" charset="0"/>
                            </a:rPr>
                            <m:t>𝑎</m:t>
                          </m:r>
                        </m:e>
                      </m:func>
                      <m:r>
                        <a:rPr lang="en-US" altLang="zh-CN" sz="2400" b="0" i="1" smtClean="0">
                          <a:latin typeface="Cambria Math" panose="02040503050406030204" pitchFamily="18" charset="0"/>
                        </a:rPr>
                        <m:t>)</m:t>
                      </m:r>
                    </m:oMath>
                  </m:oMathPara>
                </a14:m>
                <a:endParaRPr lang="zh-CN" altLang="en-US"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434770" y="3629356"/>
                <a:ext cx="6650090" cy="461601"/>
              </a:xfrm>
              <a:prstGeom prst="rect">
                <a:avLst/>
              </a:prstGeom>
              <a:blipFill>
                <a:blip r:embed="rId3"/>
                <a:stretch>
                  <a:fillRect/>
                </a:stretch>
              </a:blipFill>
            </p:spPr>
            <p:txBody>
              <a:bodyPr/>
              <a:lstStyle/>
              <a:p>
                <a:r>
                  <a:rPr lang="zh-CN" altLang="en-US">
                    <a:noFill/>
                  </a:rPr>
                  <a:t> </a:t>
                </a:r>
              </a:p>
            </p:txBody>
          </p:sp>
        </mc:Fallback>
      </mc:AlternateContent>
      <p:sp>
        <p:nvSpPr>
          <p:cNvPr id="6" name="矩形 5"/>
          <p:cNvSpPr/>
          <p:nvPr/>
        </p:nvSpPr>
        <p:spPr>
          <a:xfrm>
            <a:off x="367235" y="4444766"/>
            <a:ext cx="8199120" cy="496867"/>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显然，其最小值和最大值分别为</a:t>
            </a:r>
          </a:p>
        </p:txBody>
      </p:sp>
      <mc:AlternateContent xmlns:mc="http://schemas.openxmlformats.org/markup-compatibility/2006" xmlns:a14="http://schemas.microsoft.com/office/drawing/2010/main">
        <mc:Choice Requires="a14">
          <p:sp>
            <p:nvSpPr>
              <p:cNvPr id="7" name="文本框 6"/>
              <p:cNvSpPr txBox="1"/>
              <p:nvPr/>
            </p:nvSpPr>
            <p:spPr>
              <a:xfrm>
                <a:off x="2717880" y="5116478"/>
                <a:ext cx="27336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𝐸</m:t>
                      </m:r>
                      <m:r>
                        <a:rPr lang="en-US" altLang="zh-CN" sz="2400" b="0" i="1" smtClean="0">
                          <a:solidFill>
                            <a:prstClr val="black"/>
                          </a:solidFill>
                          <a:latin typeface="Cambria Math" panose="02040503050406030204" pitchFamily="18" charset="0"/>
                        </a:rPr>
                        <m:t>(</m:t>
                      </m:r>
                      <m:r>
                        <m:rPr>
                          <m:sty m:val="p"/>
                        </m:rPr>
                        <a:rPr lang="el-GR" altLang="zh-CN" sz="2400" i="1" smtClean="0">
                          <a:solidFill>
                            <a:prstClr val="black"/>
                          </a:solidFill>
                          <a:latin typeface="Cambria Math" panose="02040503050406030204" pitchFamily="18" charset="0"/>
                          <a:ea typeface="Cambria Math" panose="02040503050406030204" pitchFamily="18" charset="0"/>
                        </a:rPr>
                        <m:t>Γ</m:t>
                      </m:r>
                      <m:r>
                        <a:rPr lang="en-US" altLang="zh-CN" sz="2400" b="0" i="1" smtClean="0">
                          <a:solidFill>
                            <a:prstClr val="black"/>
                          </a:solidFill>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𝐽</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6</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2717880" y="5116478"/>
                <a:ext cx="2733697" cy="369332"/>
              </a:xfrm>
              <a:prstGeom prst="rect">
                <a:avLst/>
              </a:prstGeom>
              <a:blipFill>
                <a:blip r:embed="rId4"/>
                <a:stretch>
                  <a:fillRect l="-2232" r="-670" b="-344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2717880" y="5760491"/>
                <a:ext cx="27336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𝐸</m:t>
                      </m:r>
                      <m:d>
                        <m:dPr>
                          <m:ctrlPr>
                            <a:rPr lang="en-US" altLang="zh-CN" sz="2400" b="0" i="1" smtClean="0">
                              <a:solidFill>
                                <a:prstClr val="black"/>
                              </a:solidFill>
                              <a:latin typeface="Cambria Math" panose="02040503050406030204" pitchFamily="18" charset="0"/>
                            </a:rPr>
                          </m:ctrlPr>
                        </m:dPr>
                        <m:e>
                          <m:r>
                            <m:rPr>
                              <m:sty m:val="p"/>
                            </m:rPr>
                            <a:rPr lang="en-US" altLang="zh-CN" sz="2400" i="1">
                              <a:solidFill>
                                <a:prstClr val="black"/>
                              </a:solidFill>
                              <a:latin typeface="Cambria Math" panose="02040503050406030204" pitchFamily="18" charset="0"/>
                              <a:ea typeface="Cambria Math" panose="02040503050406030204" pitchFamily="18" charset="0"/>
                            </a:rPr>
                            <m:t>R</m:t>
                          </m:r>
                        </m:e>
                      </m:d>
                      <m:r>
                        <a:rPr lang="en-US" altLang="zh-CN" sz="2400" b="0" i="1" smtClean="0">
                          <a:solidFill>
                            <a:prstClr val="black"/>
                          </a:solidFill>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𝐽</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6</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2717880" y="5760491"/>
                <a:ext cx="2733697" cy="369332"/>
              </a:xfrm>
              <a:prstGeom prst="rect">
                <a:avLst/>
              </a:prstGeom>
              <a:blipFill>
                <a:blip r:embed="rId5"/>
                <a:stretch>
                  <a:fillRect l="-2679" r="-1116" b="-278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59978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56</a:t>
            </a:fld>
            <a:endParaRPr lang="zh-CN" altLang="en-US"/>
          </a:p>
        </p:txBody>
      </p:sp>
      <mc:AlternateContent xmlns:mc="http://schemas.openxmlformats.org/markup-compatibility/2006" xmlns:a14="http://schemas.microsoft.com/office/drawing/2010/main">
        <mc:Choice Requires="a14">
          <p:sp>
            <p:nvSpPr>
              <p:cNvPr id="3" name="矩形 2"/>
              <p:cNvSpPr/>
              <p:nvPr/>
            </p:nvSpPr>
            <p:spPr>
              <a:xfrm>
                <a:off x="445893" y="334882"/>
                <a:ext cx="8363810" cy="1379545"/>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可见，在紧束缚近似下，原来能量为</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𝑠</m:t>
                        </m:r>
                      </m:sub>
                    </m:sSub>
                  </m:oMath>
                </a14:m>
                <a:r>
                  <a:rPr kumimoji="1" lang="zh-CN" altLang="en-US" sz="2400" b="1" dirty="0">
                    <a:solidFill>
                      <a:srgbClr val="000000"/>
                    </a:solidFill>
                    <a:latin typeface="Times New Roman" pitchFamily="18" charset="0"/>
                    <a:ea typeface="宋体" pitchFamily="2" charset="-122"/>
                  </a:rPr>
                  <a:t>的原子能级扩展为以</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𝑠</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oMath>
                </a14:m>
                <a:r>
                  <a:rPr kumimoji="1" lang="zh-CN" altLang="en-US" sz="2400" b="1" dirty="0">
                    <a:solidFill>
                      <a:srgbClr val="000000"/>
                    </a:solidFill>
                    <a:latin typeface="Times New Roman" pitchFamily="18" charset="0"/>
                    <a:ea typeface="宋体" pitchFamily="2" charset="-122"/>
                  </a:rPr>
                  <a:t>为中心，宽度为</a:t>
                </a:r>
                <a:r>
                  <a:rPr kumimoji="1" lang="en-US" altLang="zh-CN" sz="2400" b="1" dirty="0">
                    <a:solidFill>
                      <a:srgbClr val="000000"/>
                    </a:solidFill>
                    <a:latin typeface="Times New Roman" pitchFamily="18" charset="0"/>
                    <a:ea typeface="宋体" pitchFamily="2" charset="-122"/>
                  </a:rPr>
                  <a:t>12</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1</m:t>
                        </m:r>
                      </m:sub>
                    </m:sSub>
                  </m:oMath>
                </a14:m>
                <a:r>
                  <a:rPr kumimoji="1" lang="zh-CN" altLang="en-US" sz="2400" b="1" dirty="0">
                    <a:solidFill>
                      <a:srgbClr val="000000"/>
                    </a:solidFill>
                    <a:latin typeface="Times New Roman" pitchFamily="18" charset="0"/>
                    <a:ea typeface="宋体" pitchFamily="2" charset="-122"/>
                  </a:rPr>
                  <a:t>的能带。能带宽度取决于最近邻原子波函数之间的相互交叠，交叠越多，形成的能带就越宽。</a:t>
                </a:r>
                <a:endParaRPr kumimoji="1" lang="en-US" altLang="zh-CN" sz="2400" b="1" dirty="0">
                  <a:solidFill>
                    <a:srgbClr val="000000"/>
                  </a:solidFill>
                  <a:latin typeface="Times New Roman" pitchFamily="18" charset="0"/>
                  <a:ea typeface="宋体"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445893" y="334882"/>
                <a:ext cx="8363810" cy="1379545"/>
              </a:xfrm>
              <a:prstGeom prst="rect">
                <a:avLst/>
              </a:prstGeom>
              <a:blipFill>
                <a:blip r:embed="rId2"/>
                <a:stretch>
                  <a:fillRect l="-1093" t="-2655" r="-875" b="-796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922249" y="1852078"/>
            <a:ext cx="7411097" cy="1969000"/>
          </a:xfrm>
          <a:prstGeom prst="rect">
            <a:avLst/>
          </a:prstGeom>
        </p:spPr>
      </p:pic>
      <p:sp>
        <p:nvSpPr>
          <p:cNvPr id="5" name="矩形 4"/>
          <p:cNvSpPr/>
          <p:nvPr/>
        </p:nvSpPr>
        <p:spPr>
          <a:xfrm>
            <a:off x="445893" y="4109827"/>
            <a:ext cx="8216327" cy="2492990"/>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由于</a:t>
            </a:r>
            <a:r>
              <a:rPr kumimoji="1" lang="en-US" altLang="zh-CN" sz="2400" b="1" i="1" dirty="0" err="1">
                <a:solidFill>
                  <a:srgbClr val="000000"/>
                </a:solidFill>
                <a:latin typeface="Times New Roman" pitchFamily="18" charset="0"/>
                <a:ea typeface="宋体" pitchFamily="2" charset="-122"/>
              </a:rPr>
              <a:t>k</a:t>
            </a:r>
            <a:r>
              <a:rPr kumimoji="1" lang="en-US" altLang="zh-CN" sz="2400" b="1" i="1" baseline="-25000" dirty="0" err="1">
                <a:solidFill>
                  <a:srgbClr val="000000"/>
                </a:solidFill>
                <a:latin typeface="Times New Roman" pitchFamily="18" charset="0"/>
                <a:ea typeface="宋体" pitchFamily="2" charset="-122"/>
              </a:rPr>
              <a:t>x</a:t>
            </a:r>
            <a:r>
              <a:rPr kumimoji="1" lang="zh-CN" altLang="en-US" sz="2400" b="1" dirty="0">
                <a:solidFill>
                  <a:srgbClr val="000000"/>
                </a:solidFill>
                <a:latin typeface="Times New Roman" pitchFamily="18" charset="0"/>
                <a:ea typeface="宋体" pitchFamily="2" charset="-122"/>
              </a:rPr>
              <a:t>，</a:t>
            </a:r>
            <a:r>
              <a:rPr kumimoji="1" lang="en-US" altLang="zh-CN" sz="2400" b="1" i="1" dirty="0" err="1">
                <a:solidFill>
                  <a:srgbClr val="000000"/>
                </a:solidFill>
                <a:latin typeface="Times New Roman" pitchFamily="18" charset="0"/>
                <a:ea typeface="宋体" pitchFamily="2" charset="-122"/>
              </a:rPr>
              <a:t>k</a:t>
            </a:r>
            <a:r>
              <a:rPr kumimoji="1" lang="en-US" altLang="zh-CN" sz="2400" b="1" i="1" baseline="-25000" dirty="0" err="1">
                <a:solidFill>
                  <a:srgbClr val="000000"/>
                </a:solidFill>
                <a:latin typeface="Times New Roman" pitchFamily="18" charset="0"/>
                <a:ea typeface="宋体" pitchFamily="2" charset="-122"/>
              </a:rPr>
              <a:t>y</a:t>
            </a:r>
            <a:r>
              <a:rPr kumimoji="1" lang="zh-CN" altLang="en-US" sz="2400" b="1" dirty="0">
                <a:solidFill>
                  <a:srgbClr val="000000"/>
                </a:solidFill>
                <a:latin typeface="Times New Roman" pitchFamily="18" charset="0"/>
                <a:ea typeface="宋体" pitchFamily="2" charset="-122"/>
              </a:rPr>
              <a:t>，</a:t>
            </a:r>
            <a:r>
              <a:rPr kumimoji="1" lang="en-US" altLang="zh-CN" sz="2400" b="1" i="1" dirty="0" err="1">
                <a:solidFill>
                  <a:srgbClr val="000000"/>
                </a:solidFill>
                <a:latin typeface="Times New Roman" pitchFamily="18" charset="0"/>
                <a:ea typeface="宋体" pitchFamily="2" charset="-122"/>
              </a:rPr>
              <a:t>k</a:t>
            </a:r>
            <a:r>
              <a:rPr kumimoji="1" lang="en-US" altLang="zh-CN" sz="2400" b="1" i="1" baseline="-25000" dirty="0" err="1">
                <a:solidFill>
                  <a:srgbClr val="000000"/>
                </a:solidFill>
                <a:latin typeface="Times New Roman" pitchFamily="18" charset="0"/>
                <a:ea typeface="宋体" pitchFamily="2" charset="-122"/>
              </a:rPr>
              <a:t>z</a:t>
            </a:r>
            <a:r>
              <a:rPr kumimoji="1" lang="zh-CN" altLang="en-US" sz="2400" b="1" dirty="0">
                <a:solidFill>
                  <a:srgbClr val="000000"/>
                </a:solidFill>
                <a:latin typeface="Times New Roman" pitchFamily="18" charset="0"/>
                <a:ea typeface="宋体" pitchFamily="2" charset="-122"/>
              </a:rPr>
              <a:t>只能取分立的值，可取值的总数等于原子的总数</a:t>
            </a:r>
            <a:r>
              <a:rPr kumimoji="1" lang="en-US" altLang="zh-CN" sz="2400" b="1" i="1" dirty="0">
                <a:solidFill>
                  <a:srgbClr val="000000"/>
                </a:solidFill>
                <a:latin typeface="Times New Roman" pitchFamily="18" charset="0"/>
                <a:ea typeface="宋体" pitchFamily="2" charset="-122"/>
              </a:rPr>
              <a:t>N</a:t>
            </a:r>
            <a:r>
              <a:rPr kumimoji="1" lang="zh-CN" altLang="en-US" sz="2400" b="1" dirty="0">
                <a:solidFill>
                  <a:srgbClr val="000000"/>
                </a:solidFill>
                <a:latin typeface="Times New Roman" pitchFamily="18" charset="0"/>
                <a:ea typeface="宋体" pitchFamily="2" charset="-122"/>
              </a:rPr>
              <a:t>，所以这个能带里电子可取的能量值也是不连续的，总共有</a:t>
            </a:r>
            <a:r>
              <a:rPr kumimoji="1" lang="en-US" altLang="zh-CN" sz="2400" b="1" i="1" dirty="0">
                <a:solidFill>
                  <a:srgbClr val="000000"/>
                </a:solidFill>
                <a:latin typeface="Times New Roman" pitchFamily="18" charset="0"/>
                <a:ea typeface="宋体" pitchFamily="2" charset="-122"/>
              </a:rPr>
              <a:t>N</a:t>
            </a:r>
            <a:r>
              <a:rPr kumimoji="1" lang="zh-CN" altLang="en-US" sz="2400" b="1" dirty="0">
                <a:solidFill>
                  <a:srgbClr val="000000"/>
                </a:solidFill>
                <a:latin typeface="Times New Roman" pitchFamily="18" charset="0"/>
                <a:ea typeface="宋体" pitchFamily="2" charset="-122"/>
              </a:rPr>
              <a:t>个分立的能级。由于能级之间的能量差很小，可以认为是准连续的。当</a:t>
            </a:r>
            <a:r>
              <a:rPr kumimoji="1" lang="en-US" altLang="zh-CN" sz="2400" b="1" i="1" dirty="0">
                <a:solidFill>
                  <a:srgbClr val="000000"/>
                </a:solidFill>
                <a:latin typeface="Times New Roman" pitchFamily="18" charset="0"/>
                <a:ea typeface="宋体" pitchFamily="2" charset="-122"/>
              </a:rPr>
              <a:t>N</a:t>
            </a:r>
            <a:r>
              <a:rPr kumimoji="1" lang="zh-CN" altLang="en-US" sz="2400" b="1" dirty="0">
                <a:solidFill>
                  <a:srgbClr val="000000"/>
                </a:solidFill>
                <a:latin typeface="Times New Roman" pitchFamily="18" charset="0"/>
                <a:ea typeface="宋体" pitchFamily="2" charset="-122"/>
              </a:rPr>
              <a:t>趋于无穷大，则能量趋于连续。</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不同的原子能级与不同能带之间存在一定的对应关系。</a:t>
            </a:r>
            <a:endParaRPr kumimoji="1" lang="en-US" altLang="zh-CN" sz="2400" b="1" dirty="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12828262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57</a:t>
            </a:fld>
            <a:endParaRPr lang="zh-CN" altLang="en-US"/>
          </a:p>
        </p:txBody>
      </p:sp>
      <p:sp>
        <p:nvSpPr>
          <p:cNvPr id="4" name="文本框 3"/>
          <p:cNvSpPr txBox="1"/>
          <p:nvPr>
            <p:custDataLst>
              <p:tags r:id="rId2"/>
            </p:custDataLst>
          </p:nvPr>
        </p:nvSpPr>
        <p:spPr>
          <a:xfrm>
            <a:off x="914400" y="635000"/>
            <a:ext cx="7551174"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对于紧束缚近似下形成的能带，以下说法正确的是</a:t>
            </a:r>
          </a:p>
        </p:txBody>
      </p:sp>
      <p:sp>
        <p:nvSpPr>
          <p:cNvPr id="5" name="文本框 4"/>
          <p:cNvSpPr txBox="1"/>
          <p:nvPr>
            <p:custDataLst>
              <p:tags r:id="rId3"/>
            </p:custDataLst>
          </p:nvPr>
        </p:nvSpPr>
        <p:spPr>
          <a:xfrm>
            <a:off x="1828800" y="268774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氢原子只有一个电子，如果存在氢晶体的话，这种晶体只有一个能带</a:t>
            </a: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能带中的能级都是等间隔的</a:t>
            </a: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在多数情况下，能量越高的能带越宽</a:t>
            </a: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能带的数量与原子中的电子能级数量相同</a:t>
            </a:r>
          </a:p>
        </p:txBody>
      </p:sp>
      <p:sp>
        <p:nvSpPr>
          <p:cNvPr id="9" name="矩形 8"/>
          <p:cNvSpPr>
            <a:spLocks noChangeAspect="1"/>
          </p:cNvSpPr>
          <p:nvPr>
            <p:custDataLst>
              <p:tags r:id="rId7"/>
            </p:custDataLst>
          </p:nvPr>
        </p:nvSpPr>
        <p:spPr>
          <a:xfrm>
            <a:off x="1114425" y="275203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1114425" y="37076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1114425"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283274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58</a:t>
            </a:fld>
            <a:endParaRPr lang="zh-CN" altLang="en-US"/>
          </a:p>
        </p:txBody>
      </p:sp>
      <p:pic>
        <p:nvPicPr>
          <p:cNvPr id="4" name="图片 3"/>
          <p:cNvPicPr>
            <a:picLocks noChangeAspect="1"/>
          </p:cNvPicPr>
          <p:nvPr/>
        </p:nvPicPr>
        <p:blipFill>
          <a:blip r:embed="rId2"/>
          <a:stretch>
            <a:fillRect/>
          </a:stretch>
        </p:blipFill>
        <p:spPr>
          <a:xfrm>
            <a:off x="1877193" y="1512330"/>
            <a:ext cx="5178967" cy="3994540"/>
          </a:xfrm>
          <a:prstGeom prst="rect">
            <a:avLst/>
          </a:prstGeom>
        </p:spPr>
      </p:pic>
    </p:spTree>
    <p:extLst>
      <p:ext uri="{BB962C8B-B14F-4D97-AF65-F5344CB8AC3E}">
        <p14:creationId xmlns:p14="http://schemas.microsoft.com/office/powerpoint/2010/main" val="19599689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59</a:t>
            </a:fld>
            <a:endParaRPr lang="zh-CN" altLang="en-US"/>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73213"/>
            <a:ext cx="8305800" cy="326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4" name="Text Box 5"/>
          <p:cNvSpPr txBox="1">
            <a:spLocks noChangeArrowheads="1"/>
          </p:cNvSpPr>
          <p:nvPr/>
        </p:nvSpPr>
        <p:spPr bwMode="auto">
          <a:xfrm>
            <a:off x="1676400" y="1676400"/>
            <a:ext cx="1295400" cy="396875"/>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000" b="1">
                <a:solidFill>
                  <a:srgbClr val="000000"/>
                </a:solidFill>
                <a:latin typeface="Times New Roman" panose="02020603050405020304" pitchFamily="18" charset="0"/>
                <a:ea typeface="宋体" panose="02010600030101010101" pitchFamily="2" charset="-122"/>
              </a:rPr>
              <a:t>绝缘体</a:t>
            </a:r>
          </a:p>
        </p:txBody>
      </p:sp>
      <p:sp>
        <p:nvSpPr>
          <p:cNvPr id="5" name="Text Box 6"/>
          <p:cNvSpPr txBox="1">
            <a:spLocks noChangeArrowheads="1"/>
          </p:cNvSpPr>
          <p:nvPr/>
        </p:nvSpPr>
        <p:spPr bwMode="auto">
          <a:xfrm>
            <a:off x="3200400" y="1676400"/>
            <a:ext cx="1828800" cy="396875"/>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000" b="1">
                <a:solidFill>
                  <a:srgbClr val="000000"/>
                </a:solidFill>
                <a:latin typeface="Times New Roman" panose="02020603050405020304" pitchFamily="18" charset="0"/>
                <a:ea typeface="宋体" panose="02010600030101010101" pitchFamily="2" charset="-122"/>
              </a:rPr>
              <a:t>       半导体</a:t>
            </a:r>
          </a:p>
        </p:txBody>
      </p:sp>
      <p:sp>
        <p:nvSpPr>
          <p:cNvPr id="6" name="Text Box 7"/>
          <p:cNvSpPr txBox="1">
            <a:spLocks noChangeArrowheads="1"/>
          </p:cNvSpPr>
          <p:nvPr/>
        </p:nvSpPr>
        <p:spPr bwMode="auto">
          <a:xfrm>
            <a:off x="5029200" y="1752600"/>
            <a:ext cx="1981200" cy="854075"/>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000" b="1">
                <a:solidFill>
                  <a:srgbClr val="000000"/>
                </a:solidFill>
                <a:latin typeface="Times New Roman" panose="02020603050405020304" pitchFamily="18" charset="0"/>
                <a:ea typeface="宋体" panose="02010600030101010101" pitchFamily="2" charset="-122"/>
              </a:rPr>
              <a:t>       半金属</a:t>
            </a:r>
          </a:p>
          <a:p>
            <a:pPr>
              <a:spcBef>
                <a:spcPct val="50000"/>
              </a:spcBef>
            </a:pPr>
            <a:endParaRPr kumimoji="1" lang="zh-CN" altLang="en-US" sz="2000" b="1">
              <a:solidFill>
                <a:srgbClr val="000000"/>
              </a:solidFill>
              <a:latin typeface="Times New Roman" panose="02020603050405020304" pitchFamily="18" charset="0"/>
              <a:ea typeface="宋体" panose="02010600030101010101" pitchFamily="2" charset="-122"/>
            </a:endParaRPr>
          </a:p>
        </p:txBody>
      </p:sp>
      <p:sp>
        <p:nvSpPr>
          <p:cNvPr id="7" name="Text Box 8"/>
          <p:cNvSpPr txBox="1">
            <a:spLocks noChangeArrowheads="1"/>
          </p:cNvSpPr>
          <p:nvPr/>
        </p:nvSpPr>
        <p:spPr bwMode="auto">
          <a:xfrm>
            <a:off x="6858000" y="1828800"/>
            <a:ext cx="1676400" cy="396875"/>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000" b="1">
                <a:solidFill>
                  <a:srgbClr val="000000"/>
                </a:solidFill>
                <a:latin typeface="Times New Roman" panose="02020603050405020304" pitchFamily="18" charset="0"/>
                <a:ea typeface="宋体" panose="02010600030101010101" pitchFamily="2" charset="-122"/>
              </a:rPr>
              <a:t>       金属</a:t>
            </a:r>
          </a:p>
        </p:txBody>
      </p:sp>
      <p:sp>
        <p:nvSpPr>
          <p:cNvPr id="8" name="Text Box 9"/>
          <p:cNvSpPr txBox="1">
            <a:spLocks noChangeArrowheads="1"/>
          </p:cNvSpPr>
          <p:nvPr/>
        </p:nvSpPr>
        <p:spPr bwMode="auto">
          <a:xfrm>
            <a:off x="1143000" y="4114800"/>
            <a:ext cx="1371600" cy="641350"/>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400" b="1">
                <a:solidFill>
                  <a:srgbClr val="000000"/>
                </a:solidFill>
                <a:latin typeface="Times New Roman" panose="02020603050405020304" pitchFamily="18" charset="0"/>
                <a:ea typeface="宋体" panose="02010600030101010101" pitchFamily="2" charset="-122"/>
              </a:rPr>
              <a:t>满态</a:t>
            </a:r>
          </a:p>
          <a:p>
            <a:pPr>
              <a:spcBef>
                <a:spcPct val="50000"/>
              </a:spcBef>
            </a:pPr>
            <a:endParaRPr kumimoji="1" lang="zh-CN" altLang="en-US" sz="800" b="1">
              <a:solidFill>
                <a:srgbClr val="000000"/>
              </a:solidFill>
              <a:latin typeface="Times New Roman" panose="02020603050405020304" pitchFamily="18" charset="0"/>
              <a:ea typeface="宋体" panose="02010600030101010101" pitchFamily="2" charset="-122"/>
            </a:endParaRPr>
          </a:p>
        </p:txBody>
      </p:sp>
      <p:sp>
        <p:nvSpPr>
          <p:cNvPr id="9" name="Rectangle 10"/>
          <p:cNvSpPr>
            <a:spLocks noChangeArrowheads="1"/>
          </p:cNvSpPr>
          <p:nvPr/>
        </p:nvSpPr>
        <p:spPr bwMode="auto">
          <a:xfrm>
            <a:off x="533400" y="4495800"/>
            <a:ext cx="609600" cy="228600"/>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 name="Text Box 11"/>
          <p:cNvSpPr txBox="1">
            <a:spLocks noChangeArrowheads="1"/>
          </p:cNvSpPr>
          <p:nvPr/>
        </p:nvSpPr>
        <p:spPr bwMode="auto">
          <a:xfrm>
            <a:off x="2971800" y="4038600"/>
            <a:ext cx="3810000" cy="676275"/>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160000"/>
              </a:lnSpc>
              <a:spcBef>
                <a:spcPct val="50000"/>
              </a:spcBef>
            </a:pPr>
            <a:r>
              <a:rPr kumimoji="1" lang="zh-CN" altLang="en-US" sz="2400" b="1">
                <a:solidFill>
                  <a:srgbClr val="000000"/>
                </a:solidFill>
                <a:latin typeface="Times New Roman" panose="02020603050405020304" pitchFamily="18" charset="0"/>
                <a:ea typeface="宋体" panose="02010600030101010101" pitchFamily="2" charset="-122"/>
              </a:rPr>
              <a:t>空态</a:t>
            </a:r>
          </a:p>
        </p:txBody>
      </p:sp>
      <p:sp>
        <p:nvSpPr>
          <p:cNvPr id="11" name="AutoShape 12"/>
          <p:cNvSpPr>
            <a:spLocks noChangeArrowheads="1"/>
          </p:cNvSpPr>
          <p:nvPr/>
        </p:nvSpPr>
        <p:spPr bwMode="auto">
          <a:xfrm>
            <a:off x="4953000" y="4114800"/>
            <a:ext cx="1600200" cy="533400"/>
          </a:xfrm>
          <a:prstGeom prst="wedgeRoundRectCallout">
            <a:avLst>
              <a:gd name="adj1" fmla="val 96625"/>
              <a:gd name="adj2" fmla="val -316963"/>
              <a:gd name="adj3" fmla="val 16667"/>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kumimoji="1" lang="zh-CN" altLang="en-US" sz="2400" b="1">
                <a:solidFill>
                  <a:srgbClr val="000000"/>
                </a:solidFill>
                <a:latin typeface="Times New Roman" panose="02020603050405020304" pitchFamily="18" charset="0"/>
                <a:ea typeface="宋体" panose="02010600030101010101" pitchFamily="2" charset="-122"/>
              </a:rPr>
              <a:t>半满带</a:t>
            </a:r>
          </a:p>
        </p:txBody>
      </p:sp>
      <p:sp>
        <p:nvSpPr>
          <p:cNvPr id="12" name="Text Box 13"/>
          <p:cNvSpPr txBox="1">
            <a:spLocks noChangeArrowheads="1"/>
          </p:cNvSpPr>
          <p:nvPr/>
        </p:nvSpPr>
        <p:spPr bwMode="auto">
          <a:xfrm>
            <a:off x="1676400" y="26670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en-US" altLang="zh-CN" sz="2400" b="1">
                <a:solidFill>
                  <a:srgbClr val="000000"/>
                </a:solidFill>
                <a:latin typeface="Times New Roman" panose="02020603050405020304" pitchFamily="18" charset="0"/>
                <a:ea typeface="宋体" panose="02010600030101010101" pitchFamily="2" charset="-122"/>
              </a:rPr>
              <a:t>Eg &gt;5eV</a:t>
            </a:r>
          </a:p>
        </p:txBody>
      </p:sp>
      <p:sp>
        <p:nvSpPr>
          <p:cNvPr id="13" name="Text Box 14"/>
          <p:cNvSpPr txBox="1">
            <a:spLocks noChangeArrowheads="1"/>
          </p:cNvSpPr>
          <p:nvPr/>
        </p:nvSpPr>
        <p:spPr bwMode="auto">
          <a:xfrm>
            <a:off x="838200" y="51054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400" b="1">
                <a:latin typeface="Times New Roman" panose="02020603050405020304" pitchFamily="18" charset="0"/>
                <a:ea typeface="宋体" panose="02010600030101010101" pitchFamily="2" charset="-122"/>
              </a:rPr>
              <a:t>能带结构的不同造成导电性能的不同</a:t>
            </a:r>
          </a:p>
        </p:txBody>
      </p:sp>
    </p:spTree>
    <p:extLst>
      <p:ext uri="{BB962C8B-B14F-4D97-AF65-F5344CB8AC3E}">
        <p14:creationId xmlns:p14="http://schemas.microsoft.com/office/powerpoint/2010/main" val="19716272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60</a:t>
            </a:fld>
            <a:endParaRPr lang="zh-CN" altLang="en-US"/>
          </a:p>
        </p:txBody>
      </p:sp>
      <p:sp>
        <p:nvSpPr>
          <p:cNvPr id="3" name="Rectangle 4"/>
          <p:cNvSpPr>
            <a:spLocks noChangeArrowheads="1"/>
          </p:cNvSpPr>
          <p:nvPr/>
        </p:nvSpPr>
        <p:spPr bwMode="auto">
          <a:xfrm>
            <a:off x="609600" y="381000"/>
            <a:ext cx="7772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 name="Text Box 5"/>
          <p:cNvSpPr txBox="1">
            <a:spLocks noChangeArrowheads="1"/>
          </p:cNvSpPr>
          <p:nvPr/>
        </p:nvSpPr>
        <p:spPr bwMode="auto">
          <a:xfrm>
            <a:off x="381000" y="5181600"/>
            <a:ext cx="1143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400" b="1">
                <a:latin typeface="Times New Roman" panose="02020603050405020304" pitchFamily="18" charset="0"/>
                <a:ea typeface="宋体" panose="02010600030101010101" pitchFamily="2" charset="-122"/>
              </a:rPr>
              <a:t>邻近的杂化轨道交叠</a:t>
            </a:r>
          </a:p>
        </p:txBody>
      </p:sp>
      <p:sp>
        <p:nvSpPr>
          <p:cNvPr id="5" name="AutoShape 6"/>
          <p:cNvSpPr>
            <a:spLocks noChangeArrowheads="1"/>
          </p:cNvSpPr>
          <p:nvPr/>
        </p:nvSpPr>
        <p:spPr bwMode="auto">
          <a:xfrm>
            <a:off x="1752600" y="5715000"/>
            <a:ext cx="304800" cy="304800"/>
          </a:xfrm>
          <a:prstGeom prst="rightArrow">
            <a:avLst>
              <a:gd name="adj1" fmla="val 50000"/>
              <a:gd name="adj2" fmla="val 25000"/>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 name="Text Box 7"/>
          <p:cNvSpPr txBox="1">
            <a:spLocks noChangeArrowheads="1"/>
          </p:cNvSpPr>
          <p:nvPr/>
        </p:nvSpPr>
        <p:spPr bwMode="auto">
          <a:xfrm>
            <a:off x="2286000" y="5257800"/>
            <a:ext cx="16002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400" b="1">
                <a:latin typeface="Times New Roman" panose="02020603050405020304" pitchFamily="18" charset="0"/>
                <a:ea typeface="宋体" panose="02010600030101010101" pitchFamily="2" charset="-122"/>
              </a:rPr>
              <a:t>反成键态</a:t>
            </a:r>
          </a:p>
          <a:p>
            <a:pPr>
              <a:spcBef>
                <a:spcPct val="50000"/>
              </a:spcBef>
            </a:pPr>
            <a:r>
              <a:rPr kumimoji="1" lang="zh-CN" altLang="en-US" sz="2400" b="1">
                <a:latin typeface="Times New Roman" panose="02020603050405020304" pitchFamily="18" charset="0"/>
                <a:ea typeface="宋体" panose="02010600030101010101" pitchFamily="2" charset="-122"/>
              </a:rPr>
              <a:t>成键态</a:t>
            </a:r>
          </a:p>
        </p:txBody>
      </p:sp>
      <p:sp>
        <p:nvSpPr>
          <p:cNvPr id="7" name="AutoShape 8"/>
          <p:cNvSpPr>
            <a:spLocks noChangeArrowheads="1"/>
          </p:cNvSpPr>
          <p:nvPr/>
        </p:nvSpPr>
        <p:spPr bwMode="auto">
          <a:xfrm>
            <a:off x="3733800" y="6019800"/>
            <a:ext cx="457200" cy="152400"/>
          </a:xfrm>
          <a:prstGeom prst="rightArrow">
            <a:avLst>
              <a:gd name="adj1" fmla="val 50000"/>
              <a:gd name="adj2" fmla="val 75000"/>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 name="Text Box 9"/>
          <p:cNvSpPr txBox="1">
            <a:spLocks noChangeArrowheads="1"/>
          </p:cNvSpPr>
          <p:nvPr/>
        </p:nvSpPr>
        <p:spPr bwMode="auto">
          <a:xfrm>
            <a:off x="4343400" y="57150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400" b="1">
                <a:latin typeface="Times New Roman" panose="02020603050405020304" pitchFamily="18" charset="0"/>
                <a:ea typeface="宋体" panose="02010600030101010101" pitchFamily="2" charset="-122"/>
              </a:rPr>
              <a:t>与</a:t>
            </a:r>
            <a:r>
              <a:rPr kumimoji="1" lang="en-US" altLang="zh-CN" sz="2400" b="1">
                <a:latin typeface="Times New Roman" panose="02020603050405020304" pitchFamily="18" charset="0"/>
                <a:ea typeface="宋体" panose="02010600030101010101" pitchFamily="2" charset="-122"/>
              </a:rPr>
              <a:t>Si</a:t>
            </a:r>
            <a:r>
              <a:rPr kumimoji="1" lang="zh-CN" altLang="en-US" sz="2400" b="1">
                <a:latin typeface="Times New Roman" panose="02020603050405020304" pitchFamily="18" charset="0"/>
                <a:ea typeface="宋体" panose="02010600030101010101" pitchFamily="2" charset="-122"/>
              </a:rPr>
              <a:t>－</a:t>
            </a:r>
            <a:r>
              <a:rPr kumimoji="1" lang="en-US" altLang="zh-CN" sz="2400" b="1">
                <a:latin typeface="Times New Roman" panose="02020603050405020304" pitchFamily="18" charset="0"/>
                <a:ea typeface="宋体" panose="02010600030101010101" pitchFamily="2" charset="-122"/>
              </a:rPr>
              <a:t>Si</a:t>
            </a:r>
            <a:r>
              <a:rPr kumimoji="1" lang="zh-CN" altLang="en-US" sz="2400" b="1">
                <a:latin typeface="Times New Roman" panose="02020603050405020304" pitchFamily="18" charset="0"/>
                <a:ea typeface="宋体" panose="02010600030101010101" pitchFamily="2" charset="-122"/>
              </a:rPr>
              <a:t>键相对应</a:t>
            </a:r>
          </a:p>
        </p:txBody>
      </p:sp>
      <p:sp>
        <p:nvSpPr>
          <p:cNvPr id="9" name="AutoShape 10"/>
          <p:cNvSpPr>
            <a:spLocks noChangeArrowheads="1"/>
          </p:cNvSpPr>
          <p:nvPr/>
        </p:nvSpPr>
        <p:spPr bwMode="auto">
          <a:xfrm>
            <a:off x="5791200" y="6096000"/>
            <a:ext cx="457200" cy="152400"/>
          </a:xfrm>
          <a:prstGeom prst="rightArrow">
            <a:avLst>
              <a:gd name="adj1" fmla="val 50000"/>
              <a:gd name="adj2" fmla="val 75000"/>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 name="Text Box 11"/>
          <p:cNvSpPr txBox="1">
            <a:spLocks noChangeArrowheads="1"/>
          </p:cNvSpPr>
          <p:nvPr/>
        </p:nvSpPr>
        <p:spPr bwMode="auto">
          <a:xfrm>
            <a:off x="6553200" y="5791200"/>
            <a:ext cx="19812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400" b="1">
                <a:latin typeface="Times New Roman" panose="02020603050405020304" pitchFamily="18" charset="0"/>
                <a:ea typeface="宋体" panose="02010600030101010101" pitchFamily="2" charset="-122"/>
              </a:rPr>
              <a:t>形成价带 </a:t>
            </a:r>
            <a:r>
              <a:rPr kumimoji="1" lang="en-US" altLang="zh-CN" sz="2400" b="1">
                <a:latin typeface="Times New Roman" panose="02020603050405020304" pitchFamily="18" charset="0"/>
                <a:ea typeface="宋体" panose="02010600030101010101" pitchFamily="2" charset="-122"/>
              </a:rPr>
              <a:t>VB</a:t>
            </a:r>
          </a:p>
          <a:p>
            <a:pPr>
              <a:spcBef>
                <a:spcPct val="50000"/>
              </a:spcBef>
            </a:pPr>
            <a:r>
              <a:rPr kumimoji="1" lang="en-US" altLang="zh-CN" sz="2400" b="1">
                <a:latin typeface="Times New Roman" panose="02020603050405020304" pitchFamily="18" charset="0"/>
                <a:ea typeface="宋体" panose="02010600030101010101" pitchFamily="2" charset="-122"/>
              </a:rPr>
              <a:t>Valence band</a:t>
            </a:r>
          </a:p>
        </p:txBody>
      </p:sp>
      <p:sp>
        <p:nvSpPr>
          <p:cNvPr id="11" name="AutoShape 12"/>
          <p:cNvSpPr>
            <a:spLocks noChangeArrowheads="1"/>
          </p:cNvSpPr>
          <p:nvPr/>
        </p:nvSpPr>
        <p:spPr bwMode="auto">
          <a:xfrm>
            <a:off x="3733800" y="5395913"/>
            <a:ext cx="457200" cy="152400"/>
          </a:xfrm>
          <a:prstGeom prst="rightArrow">
            <a:avLst>
              <a:gd name="adj1" fmla="val 50000"/>
              <a:gd name="adj2" fmla="val 75000"/>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 name="Text Box 13"/>
          <p:cNvSpPr txBox="1">
            <a:spLocks noChangeArrowheads="1"/>
          </p:cNvSpPr>
          <p:nvPr/>
        </p:nvSpPr>
        <p:spPr bwMode="auto">
          <a:xfrm>
            <a:off x="4495800" y="518160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kumimoji="1" lang="zh-CN" altLang="en-US" sz="2400" b="1">
                <a:latin typeface="Times New Roman" panose="02020603050405020304" pitchFamily="18" charset="0"/>
                <a:ea typeface="宋体" panose="02010600030101010101" pitchFamily="2" charset="-122"/>
              </a:rPr>
              <a:t>形成导带 </a:t>
            </a:r>
            <a:r>
              <a:rPr kumimoji="1" lang="en-US" altLang="zh-CN" sz="2400" b="1">
                <a:latin typeface="Times New Roman" panose="02020603050405020304" pitchFamily="18" charset="0"/>
                <a:ea typeface="宋体" panose="02010600030101010101" pitchFamily="2" charset="-122"/>
              </a:rPr>
              <a:t>CB </a:t>
            </a:r>
            <a:r>
              <a:rPr kumimoji="1" lang="en-US" altLang="zh-CN" b="1">
                <a:latin typeface="Times New Roman" panose="02020603050405020304" pitchFamily="18" charset="0"/>
                <a:ea typeface="宋体" panose="02010600030101010101" pitchFamily="2" charset="-122"/>
              </a:rPr>
              <a:t>Conduction band</a:t>
            </a:r>
          </a:p>
        </p:txBody>
      </p:sp>
      <p:sp>
        <p:nvSpPr>
          <p:cNvPr id="13" name="Line 14"/>
          <p:cNvSpPr>
            <a:spLocks noChangeShapeType="1"/>
          </p:cNvSpPr>
          <p:nvPr/>
        </p:nvSpPr>
        <p:spPr bwMode="auto">
          <a:xfrm>
            <a:off x="2362200" y="5791200"/>
            <a:ext cx="6096000" cy="0"/>
          </a:xfrm>
          <a:prstGeom prst="line">
            <a:avLst/>
          </a:prstGeom>
          <a:noFill/>
          <a:ln w="57150" cap="sq" cmpd="thinThick">
            <a:solidFill>
              <a:srgbClr val="99FF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14" name="Group 15"/>
          <p:cNvGrpSpPr>
            <a:grpSpLocks/>
          </p:cNvGrpSpPr>
          <p:nvPr/>
        </p:nvGrpSpPr>
        <p:grpSpPr bwMode="auto">
          <a:xfrm>
            <a:off x="1066800" y="457200"/>
            <a:ext cx="7010400" cy="3962400"/>
            <a:chOff x="1021" y="383"/>
            <a:chExt cx="3579" cy="1928"/>
          </a:xfrm>
        </p:grpSpPr>
        <p:grpSp>
          <p:nvGrpSpPr>
            <p:cNvPr id="15" name="Group 16"/>
            <p:cNvGrpSpPr>
              <a:grpSpLocks/>
            </p:cNvGrpSpPr>
            <p:nvPr/>
          </p:nvGrpSpPr>
          <p:grpSpPr bwMode="auto">
            <a:xfrm>
              <a:off x="1139" y="588"/>
              <a:ext cx="3461" cy="1495"/>
              <a:chOff x="1139" y="588"/>
              <a:chExt cx="3461" cy="1495"/>
            </a:xfrm>
          </p:grpSpPr>
          <p:sp>
            <p:nvSpPr>
              <p:cNvPr id="598" name="Line 17"/>
              <p:cNvSpPr>
                <a:spLocks noChangeShapeType="1"/>
              </p:cNvSpPr>
              <p:nvPr/>
            </p:nvSpPr>
            <p:spPr bwMode="auto">
              <a:xfrm>
                <a:off x="2781" y="1562"/>
                <a:ext cx="488" cy="1"/>
              </a:xfrm>
              <a:prstGeom prst="line">
                <a:avLst/>
              </a:prstGeom>
              <a:noFill/>
              <a:ln w="26988">
                <a:solidFill>
                  <a:srgbClr val="00EE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9" name="Line 18"/>
              <p:cNvSpPr>
                <a:spLocks noChangeShapeType="1"/>
              </p:cNvSpPr>
              <p:nvPr/>
            </p:nvSpPr>
            <p:spPr bwMode="auto">
              <a:xfrm>
                <a:off x="2779" y="819"/>
                <a:ext cx="483" cy="1"/>
              </a:xfrm>
              <a:prstGeom prst="line">
                <a:avLst/>
              </a:prstGeom>
              <a:noFill/>
              <a:ln w="26988">
                <a:solidFill>
                  <a:srgbClr val="00EE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0" name="Line 19"/>
              <p:cNvSpPr>
                <a:spLocks noChangeShapeType="1"/>
              </p:cNvSpPr>
              <p:nvPr/>
            </p:nvSpPr>
            <p:spPr bwMode="auto">
              <a:xfrm flipV="1">
                <a:off x="1139" y="1321"/>
                <a:ext cx="433" cy="2"/>
              </a:xfrm>
              <a:prstGeom prst="line">
                <a:avLst/>
              </a:prstGeom>
              <a:noFill/>
              <a:ln w="26988">
                <a:solidFill>
                  <a:srgbClr val="00EE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1" name="Rectangle 20"/>
              <p:cNvSpPr>
                <a:spLocks noChangeArrowheads="1"/>
              </p:cNvSpPr>
              <p:nvPr/>
            </p:nvSpPr>
            <p:spPr bwMode="auto">
              <a:xfrm>
                <a:off x="1307" y="1251"/>
                <a:ext cx="115"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2" name="Freeform 21"/>
              <p:cNvSpPr>
                <a:spLocks/>
              </p:cNvSpPr>
              <p:nvPr/>
            </p:nvSpPr>
            <p:spPr bwMode="auto">
              <a:xfrm>
                <a:off x="1323" y="1262"/>
                <a:ext cx="33" cy="42"/>
              </a:xfrm>
              <a:custGeom>
                <a:avLst/>
                <a:gdLst>
                  <a:gd name="T0" fmla="*/ 18 w 33"/>
                  <a:gd name="T1" fmla="*/ 0 h 42"/>
                  <a:gd name="T2" fmla="*/ 33 w 33"/>
                  <a:gd name="T3" fmla="*/ 42 h 42"/>
                  <a:gd name="T4" fmla="*/ 0 w 33"/>
                  <a:gd name="T5" fmla="*/ 42 h 42"/>
                  <a:gd name="T6" fmla="*/ 18 w 33"/>
                  <a:gd name="T7" fmla="*/ 0 h 42"/>
                  <a:gd name="T8" fmla="*/ 0 60000 65536"/>
                  <a:gd name="T9" fmla="*/ 0 60000 65536"/>
                  <a:gd name="T10" fmla="*/ 0 60000 65536"/>
                  <a:gd name="T11" fmla="*/ 0 60000 65536"/>
                  <a:gd name="T12" fmla="*/ 0 w 33"/>
                  <a:gd name="T13" fmla="*/ 0 h 42"/>
                  <a:gd name="T14" fmla="*/ 33 w 33"/>
                  <a:gd name="T15" fmla="*/ 42 h 42"/>
                </a:gdLst>
                <a:ahLst/>
                <a:cxnLst>
                  <a:cxn ang="T8">
                    <a:pos x="T0" y="T1"/>
                  </a:cxn>
                  <a:cxn ang="T9">
                    <a:pos x="T2" y="T3"/>
                  </a:cxn>
                  <a:cxn ang="T10">
                    <a:pos x="T4" y="T5"/>
                  </a:cxn>
                  <a:cxn ang="T11">
                    <a:pos x="T6" y="T7"/>
                  </a:cxn>
                </a:cxnLst>
                <a:rect l="T12" t="T13" r="T14" b="T15"/>
                <a:pathLst>
                  <a:path w="33" h="42">
                    <a:moveTo>
                      <a:pt x="18" y="0"/>
                    </a:moveTo>
                    <a:lnTo>
                      <a:pt x="33" y="42"/>
                    </a:lnTo>
                    <a:lnTo>
                      <a:pt x="0" y="42"/>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3" name="Line 22"/>
              <p:cNvSpPr>
                <a:spLocks noChangeShapeType="1"/>
              </p:cNvSpPr>
              <p:nvPr/>
            </p:nvSpPr>
            <p:spPr bwMode="auto">
              <a:xfrm>
                <a:off x="1341" y="1306"/>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 name="Freeform 23"/>
              <p:cNvSpPr>
                <a:spLocks/>
              </p:cNvSpPr>
              <p:nvPr/>
            </p:nvSpPr>
            <p:spPr bwMode="auto">
              <a:xfrm>
                <a:off x="1373" y="1342"/>
                <a:ext cx="30" cy="44"/>
              </a:xfrm>
              <a:custGeom>
                <a:avLst/>
                <a:gdLst>
                  <a:gd name="T0" fmla="*/ 15 w 30"/>
                  <a:gd name="T1" fmla="*/ 44 h 44"/>
                  <a:gd name="T2" fmla="*/ 0 w 30"/>
                  <a:gd name="T3" fmla="*/ 0 h 44"/>
                  <a:gd name="T4" fmla="*/ 30 w 30"/>
                  <a:gd name="T5" fmla="*/ 0 h 44"/>
                  <a:gd name="T6" fmla="*/ 15 w 30"/>
                  <a:gd name="T7" fmla="*/ 44 h 44"/>
                  <a:gd name="T8" fmla="*/ 0 60000 65536"/>
                  <a:gd name="T9" fmla="*/ 0 60000 65536"/>
                  <a:gd name="T10" fmla="*/ 0 60000 65536"/>
                  <a:gd name="T11" fmla="*/ 0 60000 65536"/>
                  <a:gd name="T12" fmla="*/ 0 w 30"/>
                  <a:gd name="T13" fmla="*/ 0 h 44"/>
                  <a:gd name="T14" fmla="*/ 30 w 30"/>
                  <a:gd name="T15" fmla="*/ 44 h 44"/>
                </a:gdLst>
                <a:ahLst/>
                <a:cxnLst>
                  <a:cxn ang="T8">
                    <a:pos x="T0" y="T1"/>
                  </a:cxn>
                  <a:cxn ang="T9">
                    <a:pos x="T2" y="T3"/>
                  </a:cxn>
                  <a:cxn ang="T10">
                    <a:pos x="T4" y="T5"/>
                  </a:cxn>
                  <a:cxn ang="T11">
                    <a:pos x="T6" y="T7"/>
                  </a:cxn>
                </a:cxnLst>
                <a:rect l="T12" t="T13" r="T14" b="T15"/>
                <a:pathLst>
                  <a:path w="30" h="44">
                    <a:moveTo>
                      <a:pt x="15" y="44"/>
                    </a:moveTo>
                    <a:lnTo>
                      <a:pt x="0" y="0"/>
                    </a:lnTo>
                    <a:lnTo>
                      <a:pt x="30" y="0"/>
                    </a:lnTo>
                    <a:lnTo>
                      <a:pt x="1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5" name="Line 24"/>
              <p:cNvSpPr>
                <a:spLocks noChangeShapeType="1"/>
              </p:cNvSpPr>
              <p:nvPr/>
            </p:nvSpPr>
            <p:spPr bwMode="auto">
              <a:xfrm flipV="1">
                <a:off x="1388" y="1262"/>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 name="Line 25"/>
              <p:cNvSpPr>
                <a:spLocks noChangeShapeType="1"/>
              </p:cNvSpPr>
              <p:nvPr/>
            </p:nvSpPr>
            <p:spPr bwMode="auto">
              <a:xfrm flipH="1">
                <a:off x="1145" y="1087"/>
                <a:ext cx="439" cy="1"/>
              </a:xfrm>
              <a:prstGeom prst="line">
                <a:avLst/>
              </a:prstGeom>
              <a:noFill/>
              <a:ln w="26988">
                <a:solidFill>
                  <a:srgbClr val="00EE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7" name="Rectangle 26"/>
              <p:cNvSpPr>
                <a:spLocks noChangeArrowheads="1"/>
              </p:cNvSpPr>
              <p:nvPr/>
            </p:nvSpPr>
            <p:spPr bwMode="auto">
              <a:xfrm>
                <a:off x="1426" y="1015"/>
                <a:ext cx="118"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8" name="Rectangle 27"/>
              <p:cNvSpPr>
                <a:spLocks noChangeArrowheads="1"/>
              </p:cNvSpPr>
              <p:nvPr/>
            </p:nvSpPr>
            <p:spPr bwMode="auto">
              <a:xfrm>
                <a:off x="1310" y="1015"/>
                <a:ext cx="116"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9" name="Rectangle 28"/>
              <p:cNvSpPr>
                <a:spLocks noChangeArrowheads="1"/>
              </p:cNvSpPr>
              <p:nvPr/>
            </p:nvSpPr>
            <p:spPr bwMode="auto">
              <a:xfrm>
                <a:off x="1193" y="1015"/>
                <a:ext cx="117"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0" name="Freeform 29"/>
              <p:cNvSpPr>
                <a:spLocks/>
              </p:cNvSpPr>
              <p:nvPr/>
            </p:nvSpPr>
            <p:spPr bwMode="auto">
              <a:xfrm>
                <a:off x="1234" y="1025"/>
                <a:ext cx="32" cy="43"/>
              </a:xfrm>
              <a:custGeom>
                <a:avLst/>
                <a:gdLst>
                  <a:gd name="T0" fmla="*/ 17 w 32"/>
                  <a:gd name="T1" fmla="*/ 0 h 43"/>
                  <a:gd name="T2" fmla="*/ 32 w 32"/>
                  <a:gd name="T3" fmla="*/ 43 h 43"/>
                  <a:gd name="T4" fmla="*/ 0 w 32"/>
                  <a:gd name="T5" fmla="*/ 43 h 43"/>
                  <a:gd name="T6" fmla="*/ 17 w 32"/>
                  <a:gd name="T7" fmla="*/ 0 h 43"/>
                  <a:gd name="T8" fmla="*/ 0 60000 65536"/>
                  <a:gd name="T9" fmla="*/ 0 60000 65536"/>
                  <a:gd name="T10" fmla="*/ 0 60000 65536"/>
                  <a:gd name="T11" fmla="*/ 0 60000 65536"/>
                  <a:gd name="T12" fmla="*/ 0 w 32"/>
                  <a:gd name="T13" fmla="*/ 0 h 43"/>
                  <a:gd name="T14" fmla="*/ 32 w 32"/>
                  <a:gd name="T15" fmla="*/ 43 h 43"/>
                </a:gdLst>
                <a:ahLst/>
                <a:cxnLst>
                  <a:cxn ang="T8">
                    <a:pos x="T0" y="T1"/>
                  </a:cxn>
                  <a:cxn ang="T9">
                    <a:pos x="T2" y="T3"/>
                  </a:cxn>
                  <a:cxn ang="T10">
                    <a:pos x="T4" y="T5"/>
                  </a:cxn>
                  <a:cxn ang="T11">
                    <a:pos x="T6" y="T7"/>
                  </a:cxn>
                </a:cxnLst>
                <a:rect l="T12" t="T13" r="T14" b="T15"/>
                <a:pathLst>
                  <a:path w="32" h="43">
                    <a:moveTo>
                      <a:pt x="17" y="0"/>
                    </a:moveTo>
                    <a:lnTo>
                      <a:pt x="32" y="43"/>
                    </a:lnTo>
                    <a:lnTo>
                      <a:pt x="0" y="43"/>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1" name="Line 30"/>
              <p:cNvSpPr>
                <a:spLocks noChangeShapeType="1"/>
              </p:cNvSpPr>
              <p:nvPr/>
            </p:nvSpPr>
            <p:spPr bwMode="auto">
              <a:xfrm>
                <a:off x="1251" y="1068"/>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2" name="Freeform 31"/>
              <p:cNvSpPr>
                <a:spLocks/>
              </p:cNvSpPr>
              <p:nvPr/>
            </p:nvSpPr>
            <p:spPr bwMode="auto">
              <a:xfrm>
                <a:off x="1348" y="1025"/>
                <a:ext cx="32" cy="43"/>
              </a:xfrm>
              <a:custGeom>
                <a:avLst/>
                <a:gdLst>
                  <a:gd name="T0" fmla="*/ 17 w 32"/>
                  <a:gd name="T1" fmla="*/ 0 h 43"/>
                  <a:gd name="T2" fmla="*/ 32 w 32"/>
                  <a:gd name="T3" fmla="*/ 43 h 43"/>
                  <a:gd name="T4" fmla="*/ 0 w 32"/>
                  <a:gd name="T5" fmla="*/ 43 h 43"/>
                  <a:gd name="T6" fmla="*/ 17 w 32"/>
                  <a:gd name="T7" fmla="*/ 0 h 43"/>
                  <a:gd name="T8" fmla="*/ 0 60000 65536"/>
                  <a:gd name="T9" fmla="*/ 0 60000 65536"/>
                  <a:gd name="T10" fmla="*/ 0 60000 65536"/>
                  <a:gd name="T11" fmla="*/ 0 60000 65536"/>
                  <a:gd name="T12" fmla="*/ 0 w 32"/>
                  <a:gd name="T13" fmla="*/ 0 h 43"/>
                  <a:gd name="T14" fmla="*/ 32 w 32"/>
                  <a:gd name="T15" fmla="*/ 43 h 43"/>
                </a:gdLst>
                <a:ahLst/>
                <a:cxnLst>
                  <a:cxn ang="T8">
                    <a:pos x="T0" y="T1"/>
                  </a:cxn>
                  <a:cxn ang="T9">
                    <a:pos x="T2" y="T3"/>
                  </a:cxn>
                  <a:cxn ang="T10">
                    <a:pos x="T4" y="T5"/>
                  </a:cxn>
                  <a:cxn ang="T11">
                    <a:pos x="T6" y="T7"/>
                  </a:cxn>
                </a:cxnLst>
                <a:rect l="T12" t="T13" r="T14" b="T15"/>
                <a:pathLst>
                  <a:path w="32" h="43">
                    <a:moveTo>
                      <a:pt x="17" y="0"/>
                    </a:moveTo>
                    <a:lnTo>
                      <a:pt x="32" y="43"/>
                    </a:lnTo>
                    <a:lnTo>
                      <a:pt x="0" y="43"/>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3" name="Line 32"/>
              <p:cNvSpPr>
                <a:spLocks noChangeShapeType="1"/>
              </p:cNvSpPr>
              <p:nvPr/>
            </p:nvSpPr>
            <p:spPr bwMode="auto">
              <a:xfrm>
                <a:off x="1365" y="1068"/>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 name="Line 33"/>
              <p:cNvSpPr>
                <a:spLocks noChangeShapeType="1"/>
              </p:cNvSpPr>
              <p:nvPr/>
            </p:nvSpPr>
            <p:spPr bwMode="auto">
              <a:xfrm>
                <a:off x="1827" y="1190"/>
                <a:ext cx="650" cy="1"/>
              </a:xfrm>
              <a:prstGeom prst="line">
                <a:avLst/>
              </a:prstGeom>
              <a:noFill/>
              <a:ln w="26988">
                <a:solidFill>
                  <a:srgbClr val="00EE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 name="Rectangle 34"/>
              <p:cNvSpPr>
                <a:spLocks noChangeArrowheads="1"/>
              </p:cNvSpPr>
              <p:nvPr/>
            </p:nvSpPr>
            <p:spPr bwMode="auto">
              <a:xfrm>
                <a:off x="2186" y="1118"/>
                <a:ext cx="118"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6" name="Rectangle 35"/>
              <p:cNvSpPr>
                <a:spLocks noChangeArrowheads="1"/>
              </p:cNvSpPr>
              <p:nvPr/>
            </p:nvSpPr>
            <p:spPr bwMode="auto">
              <a:xfrm>
                <a:off x="2069" y="1118"/>
                <a:ext cx="117"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7" name="Rectangle 36"/>
              <p:cNvSpPr>
                <a:spLocks noChangeArrowheads="1"/>
              </p:cNvSpPr>
              <p:nvPr/>
            </p:nvSpPr>
            <p:spPr bwMode="auto">
              <a:xfrm>
                <a:off x="1953" y="1118"/>
                <a:ext cx="117"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8" name="Freeform 37"/>
              <p:cNvSpPr>
                <a:spLocks/>
              </p:cNvSpPr>
              <p:nvPr/>
            </p:nvSpPr>
            <p:spPr bwMode="auto">
              <a:xfrm>
                <a:off x="1994" y="1127"/>
                <a:ext cx="33" cy="44"/>
              </a:xfrm>
              <a:custGeom>
                <a:avLst/>
                <a:gdLst>
                  <a:gd name="T0" fmla="*/ 17 w 33"/>
                  <a:gd name="T1" fmla="*/ 0 h 44"/>
                  <a:gd name="T2" fmla="*/ 33 w 33"/>
                  <a:gd name="T3" fmla="*/ 44 h 44"/>
                  <a:gd name="T4" fmla="*/ 0 w 33"/>
                  <a:gd name="T5" fmla="*/ 44 h 44"/>
                  <a:gd name="T6" fmla="*/ 17 w 33"/>
                  <a:gd name="T7" fmla="*/ 0 h 44"/>
                  <a:gd name="T8" fmla="*/ 0 60000 65536"/>
                  <a:gd name="T9" fmla="*/ 0 60000 65536"/>
                  <a:gd name="T10" fmla="*/ 0 60000 65536"/>
                  <a:gd name="T11" fmla="*/ 0 60000 65536"/>
                  <a:gd name="T12" fmla="*/ 0 w 33"/>
                  <a:gd name="T13" fmla="*/ 0 h 44"/>
                  <a:gd name="T14" fmla="*/ 33 w 33"/>
                  <a:gd name="T15" fmla="*/ 44 h 44"/>
                </a:gdLst>
                <a:ahLst/>
                <a:cxnLst>
                  <a:cxn ang="T8">
                    <a:pos x="T0" y="T1"/>
                  </a:cxn>
                  <a:cxn ang="T9">
                    <a:pos x="T2" y="T3"/>
                  </a:cxn>
                  <a:cxn ang="T10">
                    <a:pos x="T4" y="T5"/>
                  </a:cxn>
                  <a:cxn ang="T11">
                    <a:pos x="T6" y="T7"/>
                  </a:cxn>
                </a:cxnLst>
                <a:rect l="T12" t="T13" r="T14" b="T15"/>
                <a:pathLst>
                  <a:path w="33" h="44">
                    <a:moveTo>
                      <a:pt x="17" y="0"/>
                    </a:moveTo>
                    <a:lnTo>
                      <a:pt x="33" y="44"/>
                    </a:lnTo>
                    <a:lnTo>
                      <a:pt x="0" y="44"/>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9" name="Line 38"/>
              <p:cNvSpPr>
                <a:spLocks noChangeShapeType="1"/>
              </p:cNvSpPr>
              <p:nvPr/>
            </p:nvSpPr>
            <p:spPr bwMode="auto">
              <a:xfrm>
                <a:off x="2011" y="1171"/>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0" name="Freeform 39"/>
              <p:cNvSpPr>
                <a:spLocks/>
              </p:cNvSpPr>
              <p:nvPr/>
            </p:nvSpPr>
            <p:spPr bwMode="auto">
              <a:xfrm>
                <a:off x="2108" y="1127"/>
                <a:ext cx="33" cy="44"/>
              </a:xfrm>
              <a:custGeom>
                <a:avLst/>
                <a:gdLst>
                  <a:gd name="T0" fmla="*/ 16 w 33"/>
                  <a:gd name="T1" fmla="*/ 0 h 44"/>
                  <a:gd name="T2" fmla="*/ 33 w 33"/>
                  <a:gd name="T3" fmla="*/ 44 h 44"/>
                  <a:gd name="T4" fmla="*/ 0 w 33"/>
                  <a:gd name="T5" fmla="*/ 44 h 44"/>
                  <a:gd name="T6" fmla="*/ 16 w 33"/>
                  <a:gd name="T7" fmla="*/ 0 h 44"/>
                  <a:gd name="T8" fmla="*/ 0 60000 65536"/>
                  <a:gd name="T9" fmla="*/ 0 60000 65536"/>
                  <a:gd name="T10" fmla="*/ 0 60000 65536"/>
                  <a:gd name="T11" fmla="*/ 0 60000 65536"/>
                  <a:gd name="T12" fmla="*/ 0 w 33"/>
                  <a:gd name="T13" fmla="*/ 0 h 44"/>
                  <a:gd name="T14" fmla="*/ 33 w 33"/>
                  <a:gd name="T15" fmla="*/ 44 h 44"/>
                </a:gdLst>
                <a:ahLst/>
                <a:cxnLst>
                  <a:cxn ang="T8">
                    <a:pos x="T0" y="T1"/>
                  </a:cxn>
                  <a:cxn ang="T9">
                    <a:pos x="T2" y="T3"/>
                  </a:cxn>
                  <a:cxn ang="T10">
                    <a:pos x="T4" y="T5"/>
                  </a:cxn>
                  <a:cxn ang="T11">
                    <a:pos x="T6" y="T7"/>
                  </a:cxn>
                </a:cxnLst>
                <a:rect l="T12" t="T13" r="T14" b="T15"/>
                <a:pathLst>
                  <a:path w="33" h="44">
                    <a:moveTo>
                      <a:pt x="16" y="0"/>
                    </a:moveTo>
                    <a:lnTo>
                      <a:pt x="33" y="44"/>
                    </a:lnTo>
                    <a:lnTo>
                      <a:pt x="0" y="44"/>
                    </a:lnTo>
                    <a:lnTo>
                      <a:pt x="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21" name="Line 40"/>
              <p:cNvSpPr>
                <a:spLocks noChangeShapeType="1"/>
              </p:cNvSpPr>
              <p:nvPr/>
            </p:nvSpPr>
            <p:spPr bwMode="auto">
              <a:xfrm>
                <a:off x="2125" y="1171"/>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2" name="Rectangle 41"/>
              <p:cNvSpPr>
                <a:spLocks noChangeArrowheads="1"/>
              </p:cNvSpPr>
              <p:nvPr/>
            </p:nvSpPr>
            <p:spPr bwMode="auto">
              <a:xfrm>
                <a:off x="2302" y="1118"/>
                <a:ext cx="118"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23" name="Freeform 42"/>
              <p:cNvSpPr>
                <a:spLocks/>
              </p:cNvSpPr>
              <p:nvPr/>
            </p:nvSpPr>
            <p:spPr bwMode="auto">
              <a:xfrm>
                <a:off x="2222" y="1127"/>
                <a:ext cx="33" cy="44"/>
              </a:xfrm>
              <a:custGeom>
                <a:avLst/>
                <a:gdLst>
                  <a:gd name="T0" fmla="*/ 16 w 33"/>
                  <a:gd name="T1" fmla="*/ 0 h 44"/>
                  <a:gd name="T2" fmla="*/ 33 w 33"/>
                  <a:gd name="T3" fmla="*/ 44 h 44"/>
                  <a:gd name="T4" fmla="*/ 0 w 33"/>
                  <a:gd name="T5" fmla="*/ 44 h 44"/>
                  <a:gd name="T6" fmla="*/ 16 w 33"/>
                  <a:gd name="T7" fmla="*/ 0 h 44"/>
                  <a:gd name="T8" fmla="*/ 0 60000 65536"/>
                  <a:gd name="T9" fmla="*/ 0 60000 65536"/>
                  <a:gd name="T10" fmla="*/ 0 60000 65536"/>
                  <a:gd name="T11" fmla="*/ 0 60000 65536"/>
                  <a:gd name="T12" fmla="*/ 0 w 33"/>
                  <a:gd name="T13" fmla="*/ 0 h 44"/>
                  <a:gd name="T14" fmla="*/ 33 w 33"/>
                  <a:gd name="T15" fmla="*/ 44 h 44"/>
                </a:gdLst>
                <a:ahLst/>
                <a:cxnLst>
                  <a:cxn ang="T8">
                    <a:pos x="T0" y="T1"/>
                  </a:cxn>
                  <a:cxn ang="T9">
                    <a:pos x="T2" y="T3"/>
                  </a:cxn>
                  <a:cxn ang="T10">
                    <a:pos x="T4" y="T5"/>
                  </a:cxn>
                  <a:cxn ang="T11">
                    <a:pos x="T6" y="T7"/>
                  </a:cxn>
                </a:cxnLst>
                <a:rect l="T12" t="T13" r="T14" b="T15"/>
                <a:pathLst>
                  <a:path w="33" h="44">
                    <a:moveTo>
                      <a:pt x="16" y="0"/>
                    </a:moveTo>
                    <a:lnTo>
                      <a:pt x="33" y="44"/>
                    </a:lnTo>
                    <a:lnTo>
                      <a:pt x="0" y="44"/>
                    </a:lnTo>
                    <a:lnTo>
                      <a:pt x="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24" name="Line 43"/>
              <p:cNvSpPr>
                <a:spLocks noChangeShapeType="1"/>
              </p:cNvSpPr>
              <p:nvPr/>
            </p:nvSpPr>
            <p:spPr bwMode="auto">
              <a:xfrm>
                <a:off x="2239" y="1171"/>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 name="Freeform 44"/>
              <p:cNvSpPr>
                <a:spLocks/>
              </p:cNvSpPr>
              <p:nvPr/>
            </p:nvSpPr>
            <p:spPr bwMode="auto">
              <a:xfrm>
                <a:off x="2342" y="1127"/>
                <a:ext cx="30" cy="44"/>
              </a:xfrm>
              <a:custGeom>
                <a:avLst/>
                <a:gdLst>
                  <a:gd name="T0" fmla="*/ 15 w 30"/>
                  <a:gd name="T1" fmla="*/ 0 h 44"/>
                  <a:gd name="T2" fmla="*/ 30 w 30"/>
                  <a:gd name="T3" fmla="*/ 44 h 44"/>
                  <a:gd name="T4" fmla="*/ 0 w 30"/>
                  <a:gd name="T5" fmla="*/ 44 h 44"/>
                  <a:gd name="T6" fmla="*/ 15 w 30"/>
                  <a:gd name="T7" fmla="*/ 0 h 44"/>
                  <a:gd name="T8" fmla="*/ 0 60000 65536"/>
                  <a:gd name="T9" fmla="*/ 0 60000 65536"/>
                  <a:gd name="T10" fmla="*/ 0 60000 65536"/>
                  <a:gd name="T11" fmla="*/ 0 60000 65536"/>
                  <a:gd name="T12" fmla="*/ 0 w 30"/>
                  <a:gd name="T13" fmla="*/ 0 h 44"/>
                  <a:gd name="T14" fmla="*/ 30 w 30"/>
                  <a:gd name="T15" fmla="*/ 44 h 44"/>
                </a:gdLst>
                <a:ahLst/>
                <a:cxnLst>
                  <a:cxn ang="T8">
                    <a:pos x="T0" y="T1"/>
                  </a:cxn>
                  <a:cxn ang="T9">
                    <a:pos x="T2" y="T3"/>
                  </a:cxn>
                  <a:cxn ang="T10">
                    <a:pos x="T4" y="T5"/>
                  </a:cxn>
                  <a:cxn ang="T11">
                    <a:pos x="T6" y="T7"/>
                  </a:cxn>
                </a:cxnLst>
                <a:rect l="T12" t="T13" r="T14" b="T15"/>
                <a:pathLst>
                  <a:path w="30" h="44">
                    <a:moveTo>
                      <a:pt x="15" y="0"/>
                    </a:moveTo>
                    <a:lnTo>
                      <a:pt x="30" y="44"/>
                    </a:lnTo>
                    <a:lnTo>
                      <a:pt x="0" y="44"/>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26" name="Line 45"/>
              <p:cNvSpPr>
                <a:spLocks noChangeShapeType="1"/>
              </p:cNvSpPr>
              <p:nvPr/>
            </p:nvSpPr>
            <p:spPr bwMode="auto">
              <a:xfrm>
                <a:off x="2357" y="1171"/>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7" name="Line 46"/>
              <p:cNvSpPr>
                <a:spLocks noChangeShapeType="1"/>
              </p:cNvSpPr>
              <p:nvPr/>
            </p:nvSpPr>
            <p:spPr bwMode="auto">
              <a:xfrm flipH="1" flipV="1">
                <a:off x="1808" y="1180"/>
                <a:ext cx="21" cy="8"/>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8" name="Line 47"/>
              <p:cNvSpPr>
                <a:spLocks noChangeShapeType="1"/>
              </p:cNvSpPr>
              <p:nvPr/>
            </p:nvSpPr>
            <p:spPr bwMode="auto">
              <a:xfrm flipH="1" flipV="1">
                <a:off x="1768" y="1161"/>
                <a:ext cx="19" cy="10"/>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9" name="Line 48"/>
              <p:cNvSpPr>
                <a:spLocks noChangeShapeType="1"/>
              </p:cNvSpPr>
              <p:nvPr/>
            </p:nvSpPr>
            <p:spPr bwMode="auto">
              <a:xfrm flipH="1" flipV="1">
                <a:off x="1728" y="1144"/>
                <a:ext cx="19" cy="10"/>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0" name="Line 49"/>
              <p:cNvSpPr>
                <a:spLocks noChangeShapeType="1"/>
              </p:cNvSpPr>
              <p:nvPr/>
            </p:nvSpPr>
            <p:spPr bwMode="auto">
              <a:xfrm flipH="1" flipV="1">
                <a:off x="1688" y="1127"/>
                <a:ext cx="19" cy="8"/>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1" name="Line 50"/>
              <p:cNvSpPr>
                <a:spLocks noChangeShapeType="1"/>
              </p:cNvSpPr>
              <p:nvPr/>
            </p:nvSpPr>
            <p:spPr bwMode="auto">
              <a:xfrm flipH="1" flipV="1">
                <a:off x="1648" y="1108"/>
                <a:ext cx="19" cy="10"/>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2" name="Line 51"/>
              <p:cNvSpPr>
                <a:spLocks noChangeShapeType="1"/>
              </p:cNvSpPr>
              <p:nvPr/>
            </p:nvSpPr>
            <p:spPr bwMode="auto">
              <a:xfrm flipH="1" flipV="1">
                <a:off x="1609" y="1091"/>
                <a:ext cx="19" cy="10"/>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3" name="Line 52"/>
              <p:cNvSpPr>
                <a:spLocks noChangeShapeType="1"/>
              </p:cNvSpPr>
              <p:nvPr/>
            </p:nvSpPr>
            <p:spPr bwMode="auto">
              <a:xfrm flipV="1">
                <a:off x="1582" y="1313"/>
                <a:ext cx="19" cy="12"/>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 name="Line 53"/>
              <p:cNvSpPr>
                <a:spLocks noChangeShapeType="1"/>
              </p:cNvSpPr>
              <p:nvPr/>
            </p:nvSpPr>
            <p:spPr bwMode="auto">
              <a:xfrm flipV="1">
                <a:off x="1620" y="1291"/>
                <a:ext cx="19" cy="11"/>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 name="Line 54"/>
              <p:cNvSpPr>
                <a:spLocks noChangeShapeType="1"/>
              </p:cNvSpPr>
              <p:nvPr/>
            </p:nvSpPr>
            <p:spPr bwMode="auto">
              <a:xfrm flipV="1">
                <a:off x="1658" y="1270"/>
                <a:ext cx="19" cy="11"/>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6" name="Line 55"/>
              <p:cNvSpPr>
                <a:spLocks noChangeShapeType="1"/>
              </p:cNvSpPr>
              <p:nvPr/>
            </p:nvSpPr>
            <p:spPr bwMode="auto">
              <a:xfrm flipV="1">
                <a:off x="1696" y="1247"/>
                <a:ext cx="19" cy="11"/>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7" name="Line 56"/>
              <p:cNvSpPr>
                <a:spLocks noChangeShapeType="1"/>
              </p:cNvSpPr>
              <p:nvPr/>
            </p:nvSpPr>
            <p:spPr bwMode="auto">
              <a:xfrm flipV="1">
                <a:off x="1734" y="1226"/>
                <a:ext cx="19" cy="10"/>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8" name="Line 57"/>
              <p:cNvSpPr>
                <a:spLocks noChangeShapeType="1"/>
              </p:cNvSpPr>
              <p:nvPr/>
            </p:nvSpPr>
            <p:spPr bwMode="auto">
              <a:xfrm flipV="1">
                <a:off x="1772" y="1203"/>
                <a:ext cx="19" cy="12"/>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9" name="Line 58"/>
              <p:cNvSpPr>
                <a:spLocks noChangeShapeType="1"/>
              </p:cNvSpPr>
              <p:nvPr/>
            </p:nvSpPr>
            <p:spPr bwMode="auto">
              <a:xfrm flipV="1">
                <a:off x="1810" y="1186"/>
                <a:ext cx="11" cy="6"/>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0" name="Line 59"/>
              <p:cNvSpPr>
                <a:spLocks noChangeShapeType="1"/>
              </p:cNvSpPr>
              <p:nvPr/>
            </p:nvSpPr>
            <p:spPr bwMode="auto">
              <a:xfrm>
                <a:off x="2279" y="1049"/>
                <a:ext cx="2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1" name="Line 60"/>
              <p:cNvSpPr>
                <a:spLocks noChangeShapeType="1"/>
              </p:cNvSpPr>
              <p:nvPr/>
            </p:nvSpPr>
            <p:spPr bwMode="auto">
              <a:xfrm>
                <a:off x="2323" y="1049"/>
                <a:ext cx="2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2" name="Line 61"/>
              <p:cNvSpPr>
                <a:spLocks noChangeShapeType="1"/>
              </p:cNvSpPr>
              <p:nvPr/>
            </p:nvSpPr>
            <p:spPr bwMode="auto">
              <a:xfrm>
                <a:off x="2367" y="1049"/>
                <a:ext cx="2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3" name="Line 62"/>
              <p:cNvSpPr>
                <a:spLocks noChangeShapeType="1"/>
              </p:cNvSpPr>
              <p:nvPr/>
            </p:nvSpPr>
            <p:spPr bwMode="auto">
              <a:xfrm>
                <a:off x="2410" y="1049"/>
                <a:ext cx="2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4" name="Line 63"/>
              <p:cNvSpPr>
                <a:spLocks noChangeShapeType="1"/>
              </p:cNvSpPr>
              <p:nvPr/>
            </p:nvSpPr>
            <p:spPr bwMode="auto">
              <a:xfrm>
                <a:off x="2435" y="1070"/>
                <a:ext cx="1"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 name="Line 64"/>
              <p:cNvSpPr>
                <a:spLocks noChangeShapeType="1"/>
              </p:cNvSpPr>
              <p:nvPr/>
            </p:nvSpPr>
            <p:spPr bwMode="auto">
              <a:xfrm>
                <a:off x="2435" y="1114"/>
                <a:ext cx="1"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 name="Line 65"/>
              <p:cNvSpPr>
                <a:spLocks noChangeShapeType="1"/>
              </p:cNvSpPr>
              <p:nvPr/>
            </p:nvSpPr>
            <p:spPr bwMode="auto">
              <a:xfrm>
                <a:off x="2435" y="1158"/>
                <a:ext cx="1"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7" name="Line 66"/>
              <p:cNvSpPr>
                <a:spLocks noChangeShapeType="1"/>
              </p:cNvSpPr>
              <p:nvPr/>
            </p:nvSpPr>
            <p:spPr bwMode="auto">
              <a:xfrm>
                <a:off x="2435" y="1201"/>
                <a:ext cx="1"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 name="Line 67"/>
              <p:cNvSpPr>
                <a:spLocks noChangeShapeType="1"/>
              </p:cNvSpPr>
              <p:nvPr/>
            </p:nvSpPr>
            <p:spPr bwMode="auto">
              <a:xfrm>
                <a:off x="2435" y="1245"/>
                <a:ext cx="1"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9" name="Line 68"/>
              <p:cNvSpPr>
                <a:spLocks noChangeShapeType="1"/>
              </p:cNvSpPr>
              <p:nvPr/>
            </p:nvSpPr>
            <p:spPr bwMode="auto">
              <a:xfrm>
                <a:off x="2435" y="1289"/>
                <a:ext cx="1"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0" name="Line 69"/>
              <p:cNvSpPr>
                <a:spLocks noChangeShapeType="1"/>
              </p:cNvSpPr>
              <p:nvPr/>
            </p:nvSpPr>
            <p:spPr bwMode="auto">
              <a:xfrm flipH="1">
                <a:off x="2409" y="1327"/>
                <a:ext cx="20"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1" name="Line 70"/>
              <p:cNvSpPr>
                <a:spLocks noChangeShapeType="1"/>
              </p:cNvSpPr>
              <p:nvPr/>
            </p:nvSpPr>
            <p:spPr bwMode="auto">
              <a:xfrm flipH="1">
                <a:off x="2365" y="1327"/>
                <a:ext cx="2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2" name="Line 71"/>
              <p:cNvSpPr>
                <a:spLocks noChangeShapeType="1"/>
              </p:cNvSpPr>
              <p:nvPr/>
            </p:nvSpPr>
            <p:spPr bwMode="auto">
              <a:xfrm flipH="1">
                <a:off x="2321" y="1327"/>
                <a:ext cx="2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3" name="Line 72"/>
              <p:cNvSpPr>
                <a:spLocks noChangeShapeType="1"/>
              </p:cNvSpPr>
              <p:nvPr/>
            </p:nvSpPr>
            <p:spPr bwMode="auto">
              <a:xfrm flipH="1">
                <a:off x="2279" y="1327"/>
                <a:ext cx="1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4" name="Line 73"/>
              <p:cNvSpPr>
                <a:spLocks noChangeShapeType="1"/>
              </p:cNvSpPr>
              <p:nvPr/>
            </p:nvSpPr>
            <p:spPr bwMode="auto">
              <a:xfrm flipV="1">
                <a:off x="2279" y="1323"/>
                <a:ext cx="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 name="Line 74"/>
              <p:cNvSpPr>
                <a:spLocks noChangeShapeType="1"/>
              </p:cNvSpPr>
              <p:nvPr/>
            </p:nvSpPr>
            <p:spPr bwMode="auto">
              <a:xfrm flipV="1">
                <a:off x="2279" y="1279"/>
                <a:ext cx="1" cy="2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 name="Line 75"/>
              <p:cNvSpPr>
                <a:spLocks noChangeShapeType="1"/>
              </p:cNvSpPr>
              <p:nvPr/>
            </p:nvSpPr>
            <p:spPr bwMode="auto">
              <a:xfrm flipV="1">
                <a:off x="2279" y="1236"/>
                <a:ext cx="1" cy="2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7" name="Line 76"/>
              <p:cNvSpPr>
                <a:spLocks noChangeShapeType="1"/>
              </p:cNvSpPr>
              <p:nvPr/>
            </p:nvSpPr>
            <p:spPr bwMode="auto">
              <a:xfrm flipV="1">
                <a:off x="2279" y="1192"/>
                <a:ext cx="1" cy="2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8" name="Line 77"/>
              <p:cNvSpPr>
                <a:spLocks noChangeShapeType="1"/>
              </p:cNvSpPr>
              <p:nvPr/>
            </p:nvSpPr>
            <p:spPr bwMode="auto">
              <a:xfrm flipV="1">
                <a:off x="2279" y="1148"/>
                <a:ext cx="1" cy="2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9" name="Line 78"/>
              <p:cNvSpPr>
                <a:spLocks noChangeShapeType="1"/>
              </p:cNvSpPr>
              <p:nvPr/>
            </p:nvSpPr>
            <p:spPr bwMode="auto">
              <a:xfrm flipV="1">
                <a:off x="2279" y="1104"/>
                <a:ext cx="1" cy="2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0" name="Line 79"/>
              <p:cNvSpPr>
                <a:spLocks noChangeShapeType="1"/>
              </p:cNvSpPr>
              <p:nvPr/>
            </p:nvSpPr>
            <p:spPr bwMode="auto">
              <a:xfrm flipV="1">
                <a:off x="2279" y="1061"/>
                <a:ext cx="1" cy="2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1" name="Rectangle 80"/>
              <p:cNvSpPr>
                <a:spLocks noChangeArrowheads="1"/>
              </p:cNvSpPr>
              <p:nvPr/>
            </p:nvSpPr>
            <p:spPr bwMode="auto">
              <a:xfrm>
                <a:off x="2967" y="1489"/>
                <a:ext cx="116" cy="145"/>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62" name="Freeform 81"/>
              <p:cNvSpPr>
                <a:spLocks/>
              </p:cNvSpPr>
              <p:nvPr/>
            </p:nvSpPr>
            <p:spPr bwMode="auto">
              <a:xfrm>
                <a:off x="2986" y="1494"/>
                <a:ext cx="33" cy="44"/>
              </a:xfrm>
              <a:custGeom>
                <a:avLst/>
                <a:gdLst>
                  <a:gd name="T0" fmla="*/ 15 w 33"/>
                  <a:gd name="T1" fmla="*/ 0 h 44"/>
                  <a:gd name="T2" fmla="*/ 33 w 33"/>
                  <a:gd name="T3" fmla="*/ 44 h 44"/>
                  <a:gd name="T4" fmla="*/ 0 w 33"/>
                  <a:gd name="T5" fmla="*/ 44 h 44"/>
                  <a:gd name="T6" fmla="*/ 15 w 33"/>
                  <a:gd name="T7" fmla="*/ 0 h 44"/>
                  <a:gd name="T8" fmla="*/ 0 60000 65536"/>
                  <a:gd name="T9" fmla="*/ 0 60000 65536"/>
                  <a:gd name="T10" fmla="*/ 0 60000 65536"/>
                  <a:gd name="T11" fmla="*/ 0 60000 65536"/>
                  <a:gd name="T12" fmla="*/ 0 w 33"/>
                  <a:gd name="T13" fmla="*/ 0 h 44"/>
                  <a:gd name="T14" fmla="*/ 33 w 33"/>
                  <a:gd name="T15" fmla="*/ 44 h 44"/>
                </a:gdLst>
                <a:ahLst/>
                <a:cxnLst>
                  <a:cxn ang="T8">
                    <a:pos x="T0" y="T1"/>
                  </a:cxn>
                  <a:cxn ang="T9">
                    <a:pos x="T2" y="T3"/>
                  </a:cxn>
                  <a:cxn ang="T10">
                    <a:pos x="T4" y="T5"/>
                  </a:cxn>
                  <a:cxn ang="T11">
                    <a:pos x="T6" y="T7"/>
                  </a:cxn>
                </a:cxnLst>
                <a:rect l="T12" t="T13" r="T14" b="T15"/>
                <a:pathLst>
                  <a:path w="33" h="44">
                    <a:moveTo>
                      <a:pt x="15" y="0"/>
                    </a:moveTo>
                    <a:lnTo>
                      <a:pt x="33" y="44"/>
                    </a:lnTo>
                    <a:lnTo>
                      <a:pt x="0" y="44"/>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63" name="Line 82"/>
              <p:cNvSpPr>
                <a:spLocks noChangeShapeType="1"/>
              </p:cNvSpPr>
              <p:nvPr/>
            </p:nvSpPr>
            <p:spPr bwMode="auto">
              <a:xfrm>
                <a:off x="3003" y="1538"/>
                <a:ext cx="1" cy="8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4" name="Freeform 83"/>
              <p:cNvSpPr>
                <a:spLocks/>
              </p:cNvSpPr>
              <p:nvPr/>
            </p:nvSpPr>
            <p:spPr bwMode="auto">
              <a:xfrm>
                <a:off x="3036" y="1580"/>
                <a:ext cx="32" cy="43"/>
              </a:xfrm>
              <a:custGeom>
                <a:avLst/>
                <a:gdLst>
                  <a:gd name="T0" fmla="*/ 15 w 32"/>
                  <a:gd name="T1" fmla="*/ 43 h 43"/>
                  <a:gd name="T2" fmla="*/ 0 w 32"/>
                  <a:gd name="T3" fmla="*/ 0 h 43"/>
                  <a:gd name="T4" fmla="*/ 32 w 32"/>
                  <a:gd name="T5" fmla="*/ 0 h 43"/>
                  <a:gd name="T6" fmla="*/ 15 w 32"/>
                  <a:gd name="T7" fmla="*/ 43 h 43"/>
                  <a:gd name="T8" fmla="*/ 0 60000 65536"/>
                  <a:gd name="T9" fmla="*/ 0 60000 65536"/>
                  <a:gd name="T10" fmla="*/ 0 60000 65536"/>
                  <a:gd name="T11" fmla="*/ 0 60000 65536"/>
                  <a:gd name="T12" fmla="*/ 0 w 32"/>
                  <a:gd name="T13" fmla="*/ 0 h 43"/>
                  <a:gd name="T14" fmla="*/ 32 w 32"/>
                  <a:gd name="T15" fmla="*/ 43 h 43"/>
                </a:gdLst>
                <a:ahLst/>
                <a:cxnLst>
                  <a:cxn ang="T8">
                    <a:pos x="T0" y="T1"/>
                  </a:cxn>
                  <a:cxn ang="T9">
                    <a:pos x="T2" y="T3"/>
                  </a:cxn>
                  <a:cxn ang="T10">
                    <a:pos x="T4" y="T5"/>
                  </a:cxn>
                  <a:cxn ang="T11">
                    <a:pos x="T6" y="T7"/>
                  </a:cxn>
                </a:cxnLst>
                <a:rect l="T12" t="T13" r="T14" b="T15"/>
                <a:pathLst>
                  <a:path w="32" h="43">
                    <a:moveTo>
                      <a:pt x="15" y="43"/>
                    </a:moveTo>
                    <a:lnTo>
                      <a:pt x="0" y="0"/>
                    </a:lnTo>
                    <a:lnTo>
                      <a:pt x="32" y="0"/>
                    </a:lnTo>
                    <a:lnTo>
                      <a:pt x="15"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65" name="Line 84"/>
              <p:cNvSpPr>
                <a:spLocks noChangeShapeType="1"/>
              </p:cNvSpPr>
              <p:nvPr/>
            </p:nvSpPr>
            <p:spPr bwMode="auto">
              <a:xfrm flipV="1">
                <a:off x="3053" y="1498"/>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 name="Line 85"/>
              <p:cNvSpPr>
                <a:spLocks noChangeShapeType="1"/>
              </p:cNvSpPr>
              <p:nvPr/>
            </p:nvSpPr>
            <p:spPr bwMode="auto">
              <a:xfrm flipV="1">
                <a:off x="2483" y="821"/>
                <a:ext cx="292" cy="367"/>
              </a:xfrm>
              <a:prstGeom prst="line">
                <a:avLst/>
              </a:prstGeom>
              <a:noFill/>
              <a:ln w="15875">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 name="Line 86"/>
              <p:cNvSpPr>
                <a:spLocks noChangeShapeType="1"/>
              </p:cNvSpPr>
              <p:nvPr/>
            </p:nvSpPr>
            <p:spPr bwMode="auto">
              <a:xfrm>
                <a:off x="2483" y="1188"/>
                <a:ext cx="298" cy="374"/>
              </a:xfrm>
              <a:prstGeom prst="line">
                <a:avLst/>
              </a:prstGeom>
              <a:noFill/>
              <a:ln w="15875">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8" name="Freeform 87"/>
              <p:cNvSpPr>
                <a:spLocks/>
              </p:cNvSpPr>
              <p:nvPr/>
            </p:nvSpPr>
            <p:spPr bwMode="auto">
              <a:xfrm>
                <a:off x="2188" y="660"/>
                <a:ext cx="91" cy="61"/>
              </a:xfrm>
              <a:custGeom>
                <a:avLst/>
                <a:gdLst>
                  <a:gd name="T0" fmla="*/ 86 w 91"/>
                  <a:gd name="T1" fmla="*/ 38 h 61"/>
                  <a:gd name="T2" fmla="*/ 89 w 91"/>
                  <a:gd name="T3" fmla="*/ 34 h 61"/>
                  <a:gd name="T4" fmla="*/ 91 w 91"/>
                  <a:gd name="T5" fmla="*/ 30 h 61"/>
                  <a:gd name="T6" fmla="*/ 89 w 91"/>
                  <a:gd name="T7" fmla="*/ 26 h 61"/>
                  <a:gd name="T8" fmla="*/ 86 w 91"/>
                  <a:gd name="T9" fmla="*/ 23 h 61"/>
                  <a:gd name="T10" fmla="*/ 74 w 91"/>
                  <a:gd name="T11" fmla="*/ 15 h 61"/>
                  <a:gd name="T12" fmla="*/ 61 w 91"/>
                  <a:gd name="T13" fmla="*/ 7 h 61"/>
                  <a:gd name="T14" fmla="*/ 48 w 91"/>
                  <a:gd name="T15" fmla="*/ 2 h 61"/>
                  <a:gd name="T16" fmla="*/ 36 w 91"/>
                  <a:gd name="T17" fmla="*/ 0 h 61"/>
                  <a:gd name="T18" fmla="*/ 27 w 91"/>
                  <a:gd name="T19" fmla="*/ 2 h 61"/>
                  <a:gd name="T20" fmla="*/ 17 w 91"/>
                  <a:gd name="T21" fmla="*/ 5 h 61"/>
                  <a:gd name="T22" fmla="*/ 10 w 91"/>
                  <a:gd name="T23" fmla="*/ 9 h 61"/>
                  <a:gd name="T24" fmla="*/ 6 w 91"/>
                  <a:gd name="T25" fmla="*/ 17 h 61"/>
                  <a:gd name="T26" fmla="*/ 2 w 91"/>
                  <a:gd name="T27" fmla="*/ 23 h 61"/>
                  <a:gd name="T28" fmla="*/ 0 w 91"/>
                  <a:gd name="T29" fmla="*/ 30 h 61"/>
                  <a:gd name="T30" fmla="*/ 2 w 91"/>
                  <a:gd name="T31" fmla="*/ 38 h 61"/>
                  <a:gd name="T32" fmla="*/ 6 w 91"/>
                  <a:gd name="T33" fmla="*/ 45 h 61"/>
                  <a:gd name="T34" fmla="*/ 12 w 91"/>
                  <a:gd name="T35" fmla="*/ 53 h 61"/>
                  <a:gd name="T36" fmla="*/ 19 w 91"/>
                  <a:gd name="T37" fmla="*/ 57 h 61"/>
                  <a:gd name="T38" fmla="*/ 29 w 91"/>
                  <a:gd name="T39" fmla="*/ 61 h 61"/>
                  <a:gd name="T40" fmla="*/ 38 w 91"/>
                  <a:gd name="T41" fmla="*/ 61 h 61"/>
                  <a:gd name="T42" fmla="*/ 50 w 91"/>
                  <a:gd name="T43" fmla="*/ 57 h 61"/>
                  <a:gd name="T44" fmla="*/ 61 w 91"/>
                  <a:gd name="T45" fmla="*/ 53 h 61"/>
                  <a:gd name="T46" fmla="*/ 74 w 91"/>
                  <a:gd name="T47" fmla="*/ 45 h 61"/>
                  <a:gd name="T48" fmla="*/ 86 w 91"/>
                  <a:gd name="T49" fmla="*/ 38 h 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
                  <a:gd name="T76" fmla="*/ 0 h 61"/>
                  <a:gd name="T77" fmla="*/ 91 w 91"/>
                  <a:gd name="T78" fmla="*/ 61 h 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 h="61">
                    <a:moveTo>
                      <a:pt x="86" y="38"/>
                    </a:moveTo>
                    <a:lnTo>
                      <a:pt x="89" y="34"/>
                    </a:lnTo>
                    <a:lnTo>
                      <a:pt x="91" y="30"/>
                    </a:lnTo>
                    <a:lnTo>
                      <a:pt x="89" y="26"/>
                    </a:lnTo>
                    <a:lnTo>
                      <a:pt x="86" y="23"/>
                    </a:lnTo>
                    <a:lnTo>
                      <a:pt x="74" y="15"/>
                    </a:lnTo>
                    <a:lnTo>
                      <a:pt x="61" y="7"/>
                    </a:lnTo>
                    <a:lnTo>
                      <a:pt x="48" y="2"/>
                    </a:lnTo>
                    <a:lnTo>
                      <a:pt x="36" y="0"/>
                    </a:lnTo>
                    <a:lnTo>
                      <a:pt x="27" y="2"/>
                    </a:lnTo>
                    <a:lnTo>
                      <a:pt x="17" y="5"/>
                    </a:lnTo>
                    <a:lnTo>
                      <a:pt x="10" y="9"/>
                    </a:lnTo>
                    <a:lnTo>
                      <a:pt x="6" y="17"/>
                    </a:lnTo>
                    <a:lnTo>
                      <a:pt x="2" y="23"/>
                    </a:lnTo>
                    <a:lnTo>
                      <a:pt x="0" y="30"/>
                    </a:lnTo>
                    <a:lnTo>
                      <a:pt x="2" y="38"/>
                    </a:lnTo>
                    <a:lnTo>
                      <a:pt x="6" y="45"/>
                    </a:lnTo>
                    <a:lnTo>
                      <a:pt x="12" y="53"/>
                    </a:lnTo>
                    <a:lnTo>
                      <a:pt x="19" y="57"/>
                    </a:lnTo>
                    <a:lnTo>
                      <a:pt x="29" y="61"/>
                    </a:lnTo>
                    <a:lnTo>
                      <a:pt x="38" y="61"/>
                    </a:lnTo>
                    <a:lnTo>
                      <a:pt x="50" y="57"/>
                    </a:lnTo>
                    <a:lnTo>
                      <a:pt x="61" y="53"/>
                    </a:lnTo>
                    <a:lnTo>
                      <a:pt x="74" y="45"/>
                    </a:lnTo>
                    <a:lnTo>
                      <a:pt x="86" y="38"/>
                    </a:lnTo>
                    <a:close/>
                  </a:path>
                </a:pathLst>
              </a:custGeom>
              <a:solidFill>
                <a:srgbClr val="33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69" name="Line 88"/>
              <p:cNvSpPr>
                <a:spLocks noChangeShapeType="1"/>
              </p:cNvSpPr>
              <p:nvPr/>
            </p:nvSpPr>
            <p:spPr bwMode="auto">
              <a:xfrm flipV="1">
                <a:off x="2276" y="696"/>
                <a:ext cx="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0" name="Line 89"/>
              <p:cNvSpPr>
                <a:spLocks noChangeShapeType="1"/>
              </p:cNvSpPr>
              <p:nvPr/>
            </p:nvSpPr>
            <p:spPr bwMode="auto">
              <a:xfrm flipV="1">
                <a:off x="2279" y="692"/>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1" name="Line 90"/>
              <p:cNvSpPr>
                <a:spLocks noChangeShapeType="1"/>
              </p:cNvSpPr>
              <p:nvPr/>
            </p:nvSpPr>
            <p:spPr bwMode="auto">
              <a:xfrm flipH="1" flipV="1">
                <a:off x="2279" y="688"/>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2" name="Line 91"/>
              <p:cNvSpPr>
                <a:spLocks noChangeShapeType="1"/>
              </p:cNvSpPr>
              <p:nvPr/>
            </p:nvSpPr>
            <p:spPr bwMode="auto">
              <a:xfrm flipH="1" flipV="1">
                <a:off x="2276" y="684"/>
                <a:ext cx="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3" name="Line 92"/>
              <p:cNvSpPr>
                <a:spLocks noChangeShapeType="1"/>
              </p:cNvSpPr>
              <p:nvPr/>
            </p:nvSpPr>
            <p:spPr bwMode="auto">
              <a:xfrm flipH="1" flipV="1">
                <a:off x="2264" y="677"/>
                <a:ext cx="1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4" name="Line 93"/>
              <p:cNvSpPr>
                <a:spLocks noChangeShapeType="1"/>
              </p:cNvSpPr>
              <p:nvPr/>
            </p:nvSpPr>
            <p:spPr bwMode="auto">
              <a:xfrm flipH="1" flipV="1">
                <a:off x="2251" y="669"/>
                <a:ext cx="13"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 name="Line 94"/>
              <p:cNvSpPr>
                <a:spLocks noChangeShapeType="1"/>
              </p:cNvSpPr>
              <p:nvPr/>
            </p:nvSpPr>
            <p:spPr bwMode="auto">
              <a:xfrm flipH="1" flipV="1">
                <a:off x="2238" y="664"/>
                <a:ext cx="13"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 name="Line 95"/>
              <p:cNvSpPr>
                <a:spLocks noChangeShapeType="1"/>
              </p:cNvSpPr>
              <p:nvPr/>
            </p:nvSpPr>
            <p:spPr bwMode="auto">
              <a:xfrm flipH="1" flipV="1">
                <a:off x="2226" y="662"/>
                <a:ext cx="12"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 name="Line 96"/>
              <p:cNvSpPr>
                <a:spLocks noChangeShapeType="1"/>
              </p:cNvSpPr>
              <p:nvPr/>
            </p:nvSpPr>
            <p:spPr bwMode="auto">
              <a:xfrm flipH="1">
                <a:off x="2217" y="662"/>
                <a:ext cx="9"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8" name="Line 97"/>
              <p:cNvSpPr>
                <a:spLocks noChangeShapeType="1"/>
              </p:cNvSpPr>
              <p:nvPr/>
            </p:nvSpPr>
            <p:spPr bwMode="auto">
              <a:xfrm flipH="1">
                <a:off x="2207" y="664"/>
                <a:ext cx="10"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9" name="Line 98"/>
              <p:cNvSpPr>
                <a:spLocks noChangeShapeType="1"/>
              </p:cNvSpPr>
              <p:nvPr/>
            </p:nvSpPr>
            <p:spPr bwMode="auto">
              <a:xfrm flipH="1">
                <a:off x="2200" y="667"/>
                <a:ext cx="7"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0" name="Line 99"/>
              <p:cNvSpPr>
                <a:spLocks noChangeShapeType="1"/>
              </p:cNvSpPr>
              <p:nvPr/>
            </p:nvSpPr>
            <p:spPr bwMode="auto">
              <a:xfrm flipH="1">
                <a:off x="2196" y="671"/>
                <a:ext cx="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1" name="Line 100"/>
              <p:cNvSpPr>
                <a:spLocks noChangeShapeType="1"/>
              </p:cNvSpPr>
              <p:nvPr/>
            </p:nvSpPr>
            <p:spPr bwMode="auto">
              <a:xfrm flipH="1">
                <a:off x="2192" y="679"/>
                <a:ext cx="4"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 name="Line 101"/>
              <p:cNvSpPr>
                <a:spLocks noChangeShapeType="1"/>
              </p:cNvSpPr>
              <p:nvPr/>
            </p:nvSpPr>
            <p:spPr bwMode="auto">
              <a:xfrm flipH="1">
                <a:off x="2190" y="684"/>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3" name="Line 102"/>
              <p:cNvSpPr>
                <a:spLocks noChangeShapeType="1"/>
              </p:cNvSpPr>
              <p:nvPr/>
            </p:nvSpPr>
            <p:spPr bwMode="auto">
              <a:xfrm>
                <a:off x="2190" y="692"/>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4" name="Line 103"/>
              <p:cNvSpPr>
                <a:spLocks noChangeShapeType="1"/>
              </p:cNvSpPr>
              <p:nvPr/>
            </p:nvSpPr>
            <p:spPr bwMode="auto">
              <a:xfrm>
                <a:off x="2192" y="700"/>
                <a:ext cx="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5" name="Line 104"/>
              <p:cNvSpPr>
                <a:spLocks noChangeShapeType="1"/>
              </p:cNvSpPr>
              <p:nvPr/>
            </p:nvSpPr>
            <p:spPr bwMode="auto">
              <a:xfrm>
                <a:off x="2196" y="707"/>
                <a:ext cx="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 name="Line 105"/>
              <p:cNvSpPr>
                <a:spLocks noChangeShapeType="1"/>
              </p:cNvSpPr>
              <p:nvPr/>
            </p:nvSpPr>
            <p:spPr bwMode="auto">
              <a:xfrm>
                <a:off x="2201" y="715"/>
                <a:ext cx="8"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7" name="Line 106"/>
              <p:cNvSpPr>
                <a:spLocks noChangeShapeType="1"/>
              </p:cNvSpPr>
              <p:nvPr/>
            </p:nvSpPr>
            <p:spPr bwMode="auto">
              <a:xfrm>
                <a:off x="2209" y="719"/>
                <a:ext cx="10"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 name="Line 107"/>
              <p:cNvSpPr>
                <a:spLocks noChangeShapeType="1"/>
              </p:cNvSpPr>
              <p:nvPr/>
            </p:nvSpPr>
            <p:spPr bwMode="auto">
              <a:xfrm>
                <a:off x="2219" y="722"/>
                <a:ext cx="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9" name="Line 108"/>
              <p:cNvSpPr>
                <a:spLocks noChangeShapeType="1"/>
              </p:cNvSpPr>
              <p:nvPr/>
            </p:nvSpPr>
            <p:spPr bwMode="auto">
              <a:xfrm flipV="1">
                <a:off x="2228" y="719"/>
                <a:ext cx="11"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0" name="Line 109"/>
              <p:cNvSpPr>
                <a:spLocks noChangeShapeType="1"/>
              </p:cNvSpPr>
              <p:nvPr/>
            </p:nvSpPr>
            <p:spPr bwMode="auto">
              <a:xfrm flipV="1">
                <a:off x="2239" y="715"/>
                <a:ext cx="1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1" name="Line 110"/>
              <p:cNvSpPr>
                <a:spLocks noChangeShapeType="1"/>
              </p:cNvSpPr>
              <p:nvPr/>
            </p:nvSpPr>
            <p:spPr bwMode="auto">
              <a:xfrm flipV="1">
                <a:off x="2251" y="707"/>
                <a:ext cx="13"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2" name="Line 111"/>
              <p:cNvSpPr>
                <a:spLocks noChangeShapeType="1"/>
              </p:cNvSpPr>
              <p:nvPr/>
            </p:nvSpPr>
            <p:spPr bwMode="auto">
              <a:xfrm flipV="1">
                <a:off x="2264" y="700"/>
                <a:ext cx="1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3" name="Freeform 112"/>
              <p:cNvSpPr>
                <a:spLocks/>
              </p:cNvSpPr>
              <p:nvPr/>
            </p:nvSpPr>
            <p:spPr bwMode="auto">
              <a:xfrm>
                <a:off x="2281" y="616"/>
                <a:ext cx="226" cy="150"/>
              </a:xfrm>
              <a:custGeom>
                <a:avLst/>
                <a:gdLst>
                  <a:gd name="T0" fmla="*/ 12 w 226"/>
                  <a:gd name="T1" fmla="*/ 95 h 150"/>
                  <a:gd name="T2" fmla="*/ 6 w 226"/>
                  <a:gd name="T3" fmla="*/ 89 h 150"/>
                  <a:gd name="T4" fmla="*/ 2 w 226"/>
                  <a:gd name="T5" fmla="*/ 86 h 150"/>
                  <a:gd name="T6" fmla="*/ 0 w 226"/>
                  <a:gd name="T7" fmla="*/ 80 h 150"/>
                  <a:gd name="T8" fmla="*/ 0 w 226"/>
                  <a:gd name="T9" fmla="*/ 76 h 150"/>
                  <a:gd name="T10" fmla="*/ 0 w 226"/>
                  <a:gd name="T11" fmla="*/ 70 h 150"/>
                  <a:gd name="T12" fmla="*/ 2 w 226"/>
                  <a:gd name="T13" fmla="*/ 67 h 150"/>
                  <a:gd name="T14" fmla="*/ 8 w 226"/>
                  <a:gd name="T15" fmla="*/ 61 h 150"/>
                  <a:gd name="T16" fmla="*/ 14 w 226"/>
                  <a:gd name="T17" fmla="*/ 55 h 150"/>
                  <a:gd name="T18" fmla="*/ 42 w 226"/>
                  <a:gd name="T19" fmla="*/ 36 h 150"/>
                  <a:gd name="T20" fmla="*/ 74 w 226"/>
                  <a:gd name="T21" fmla="*/ 19 h 150"/>
                  <a:gd name="T22" fmla="*/ 90 w 226"/>
                  <a:gd name="T23" fmla="*/ 11 h 150"/>
                  <a:gd name="T24" fmla="*/ 107 w 226"/>
                  <a:gd name="T25" fmla="*/ 6 h 150"/>
                  <a:gd name="T26" fmla="*/ 122 w 226"/>
                  <a:gd name="T27" fmla="*/ 2 h 150"/>
                  <a:gd name="T28" fmla="*/ 137 w 226"/>
                  <a:gd name="T29" fmla="*/ 0 h 150"/>
                  <a:gd name="T30" fmla="*/ 150 w 226"/>
                  <a:gd name="T31" fmla="*/ 0 h 150"/>
                  <a:gd name="T32" fmla="*/ 162 w 226"/>
                  <a:gd name="T33" fmla="*/ 2 h 150"/>
                  <a:gd name="T34" fmla="*/ 175 w 226"/>
                  <a:gd name="T35" fmla="*/ 6 h 150"/>
                  <a:gd name="T36" fmla="*/ 185 w 226"/>
                  <a:gd name="T37" fmla="*/ 11 h 150"/>
                  <a:gd name="T38" fmla="*/ 194 w 226"/>
                  <a:gd name="T39" fmla="*/ 17 h 150"/>
                  <a:gd name="T40" fmla="*/ 202 w 226"/>
                  <a:gd name="T41" fmla="*/ 23 h 150"/>
                  <a:gd name="T42" fmla="*/ 209 w 226"/>
                  <a:gd name="T43" fmla="*/ 32 h 150"/>
                  <a:gd name="T44" fmla="*/ 215 w 226"/>
                  <a:gd name="T45" fmla="*/ 40 h 150"/>
                  <a:gd name="T46" fmla="*/ 221 w 226"/>
                  <a:gd name="T47" fmla="*/ 49 h 150"/>
                  <a:gd name="T48" fmla="*/ 224 w 226"/>
                  <a:gd name="T49" fmla="*/ 57 h 150"/>
                  <a:gd name="T50" fmla="*/ 226 w 226"/>
                  <a:gd name="T51" fmla="*/ 67 h 150"/>
                  <a:gd name="T52" fmla="*/ 226 w 226"/>
                  <a:gd name="T53" fmla="*/ 74 h 150"/>
                  <a:gd name="T54" fmla="*/ 226 w 226"/>
                  <a:gd name="T55" fmla="*/ 84 h 150"/>
                  <a:gd name="T56" fmla="*/ 224 w 226"/>
                  <a:gd name="T57" fmla="*/ 91 h 150"/>
                  <a:gd name="T58" fmla="*/ 221 w 226"/>
                  <a:gd name="T59" fmla="*/ 103 h 150"/>
                  <a:gd name="T60" fmla="*/ 215 w 226"/>
                  <a:gd name="T61" fmla="*/ 112 h 150"/>
                  <a:gd name="T62" fmla="*/ 207 w 226"/>
                  <a:gd name="T63" fmla="*/ 122 h 150"/>
                  <a:gd name="T64" fmla="*/ 200 w 226"/>
                  <a:gd name="T65" fmla="*/ 131 h 150"/>
                  <a:gd name="T66" fmla="*/ 192 w 226"/>
                  <a:gd name="T67" fmla="*/ 139 h 150"/>
                  <a:gd name="T68" fmla="*/ 181 w 226"/>
                  <a:gd name="T69" fmla="*/ 144 h 150"/>
                  <a:gd name="T70" fmla="*/ 169 w 226"/>
                  <a:gd name="T71" fmla="*/ 148 h 150"/>
                  <a:gd name="T72" fmla="*/ 158 w 226"/>
                  <a:gd name="T73" fmla="*/ 150 h 150"/>
                  <a:gd name="T74" fmla="*/ 147 w 226"/>
                  <a:gd name="T75" fmla="*/ 150 h 150"/>
                  <a:gd name="T76" fmla="*/ 133 w 226"/>
                  <a:gd name="T77" fmla="*/ 150 h 150"/>
                  <a:gd name="T78" fmla="*/ 118 w 226"/>
                  <a:gd name="T79" fmla="*/ 148 h 150"/>
                  <a:gd name="T80" fmla="*/ 105 w 226"/>
                  <a:gd name="T81" fmla="*/ 144 h 150"/>
                  <a:gd name="T82" fmla="*/ 88 w 226"/>
                  <a:gd name="T83" fmla="*/ 139 h 150"/>
                  <a:gd name="T84" fmla="*/ 72 w 226"/>
                  <a:gd name="T85" fmla="*/ 131 h 150"/>
                  <a:gd name="T86" fmla="*/ 40 w 226"/>
                  <a:gd name="T87" fmla="*/ 114 h 150"/>
                  <a:gd name="T88" fmla="*/ 12 w 226"/>
                  <a:gd name="T89" fmla="*/ 95 h 1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26"/>
                  <a:gd name="T136" fmla="*/ 0 h 150"/>
                  <a:gd name="T137" fmla="*/ 226 w 226"/>
                  <a:gd name="T138" fmla="*/ 150 h 1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26" h="150">
                    <a:moveTo>
                      <a:pt x="12" y="95"/>
                    </a:moveTo>
                    <a:lnTo>
                      <a:pt x="6" y="89"/>
                    </a:lnTo>
                    <a:lnTo>
                      <a:pt x="2" y="86"/>
                    </a:lnTo>
                    <a:lnTo>
                      <a:pt x="0" y="80"/>
                    </a:lnTo>
                    <a:lnTo>
                      <a:pt x="0" y="76"/>
                    </a:lnTo>
                    <a:lnTo>
                      <a:pt x="0" y="70"/>
                    </a:lnTo>
                    <a:lnTo>
                      <a:pt x="2" y="67"/>
                    </a:lnTo>
                    <a:lnTo>
                      <a:pt x="8" y="61"/>
                    </a:lnTo>
                    <a:lnTo>
                      <a:pt x="14" y="55"/>
                    </a:lnTo>
                    <a:lnTo>
                      <a:pt x="42" y="36"/>
                    </a:lnTo>
                    <a:lnTo>
                      <a:pt x="74" y="19"/>
                    </a:lnTo>
                    <a:lnTo>
                      <a:pt x="90" y="11"/>
                    </a:lnTo>
                    <a:lnTo>
                      <a:pt x="107" y="6"/>
                    </a:lnTo>
                    <a:lnTo>
                      <a:pt x="122" y="2"/>
                    </a:lnTo>
                    <a:lnTo>
                      <a:pt x="137" y="0"/>
                    </a:lnTo>
                    <a:lnTo>
                      <a:pt x="150" y="0"/>
                    </a:lnTo>
                    <a:lnTo>
                      <a:pt x="162" y="2"/>
                    </a:lnTo>
                    <a:lnTo>
                      <a:pt x="175" y="6"/>
                    </a:lnTo>
                    <a:lnTo>
                      <a:pt x="185" y="11"/>
                    </a:lnTo>
                    <a:lnTo>
                      <a:pt x="194" y="17"/>
                    </a:lnTo>
                    <a:lnTo>
                      <a:pt x="202" y="23"/>
                    </a:lnTo>
                    <a:lnTo>
                      <a:pt x="209" y="32"/>
                    </a:lnTo>
                    <a:lnTo>
                      <a:pt x="215" y="40"/>
                    </a:lnTo>
                    <a:lnTo>
                      <a:pt x="221" y="49"/>
                    </a:lnTo>
                    <a:lnTo>
                      <a:pt x="224" y="57"/>
                    </a:lnTo>
                    <a:lnTo>
                      <a:pt x="226" y="67"/>
                    </a:lnTo>
                    <a:lnTo>
                      <a:pt x="226" y="74"/>
                    </a:lnTo>
                    <a:lnTo>
                      <a:pt x="226" y="84"/>
                    </a:lnTo>
                    <a:lnTo>
                      <a:pt x="224" y="91"/>
                    </a:lnTo>
                    <a:lnTo>
                      <a:pt x="221" y="103"/>
                    </a:lnTo>
                    <a:lnTo>
                      <a:pt x="215" y="112"/>
                    </a:lnTo>
                    <a:lnTo>
                      <a:pt x="207" y="122"/>
                    </a:lnTo>
                    <a:lnTo>
                      <a:pt x="200" y="131"/>
                    </a:lnTo>
                    <a:lnTo>
                      <a:pt x="192" y="139"/>
                    </a:lnTo>
                    <a:lnTo>
                      <a:pt x="181" y="144"/>
                    </a:lnTo>
                    <a:lnTo>
                      <a:pt x="169" y="148"/>
                    </a:lnTo>
                    <a:lnTo>
                      <a:pt x="158" y="150"/>
                    </a:lnTo>
                    <a:lnTo>
                      <a:pt x="147" y="150"/>
                    </a:lnTo>
                    <a:lnTo>
                      <a:pt x="133" y="150"/>
                    </a:lnTo>
                    <a:lnTo>
                      <a:pt x="118" y="148"/>
                    </a:lnTo>
                    <a:lnTo>
                      <a:pt x="105" y="144"/>
                    </a:lnTo>
                    <a:lnTo>
                      <a:pt x="88" y="139"/>
                    </a:lnTo>
                    <a:lnTo>
                      <a:pt x="72" y="131"/>
                    </a:lnTo>
                    <a:lnTo>
                      <a:pt x="40" y="114"/>
                    </a:lnTo>
                    <a:lnTo>
                      <a:pt x="12" y="95"/>
                    </a:lnTo>
                    <a:close/>
                  </a:path>
                </a:pathLst>
              </a:custGeom>
              <a:solidFill>
                <a:srgbClr val="33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94" name="Line 113"/>
              <p:cNvSpPr>
                <a:spLocks noChangeShapeType="1"/>
              </p:cNvSpPr>
              <p:nvPr/>
            </p:nvSpPr>
            <p:spPr bwMode="auto">
              <a:xfrm flipH="1" flipV="1">
                <a:off x="2289" y="707"/>
                <a:ext cx="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5" name="Line 114"/>
              <p:cNvSpPr>
                <a:spLocks noChangeShapeType="1"/>
              </p:cNvSpPr>
              <p:nvPr/>
            </p:nvSpPr>
            <p:spPr bwMode="auto">
              <a:xfrm flipH="1" flipV="1">
                <a:off x="2285" y="703"/>
                <a:ext cx="4"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 name="Line 115"/>
              <p:cNvSpPr>
                <a:spLocks noChangeShapeType="1"/>
              </p:cNvSpPr>
              <p:nvPr/>
            </p:nvSpPr>
            <p:spPr bwMode="auto">
              <a:xfrm flipH="1" flipV="1">
                <a:off x="2283" y="698"/>
                <a:ext cx="2"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 name="Line 116"/>
              <p:cNvSpPr>
                <a:spLocks noChangeShapeType="1"/>
              </p:cNvSpPr>
              <p:nvPr/>
            </p:nvSpPr>
            <p:spPr bwMode="auto">
              <a:xfrm flipV="1">
                <a:off x="2283" y="694"/>
                <a:ext cx="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8" name="Line 117"/>
              <p:cNvSpPr>
                <a:spLocks noChangeShapeType="1"/>
              </p:cNvSpPr>
              <p:nvPr/>
            </p:nvSpPr>
            <p:spPr bwMode="auto">
              <a:xfrm flipV="1">
                <a:off x="2283" y="688"/>
                <a:ext cx="1"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 name="Line 118"/>
              <p:cNvSpPr>
                <a:spLocks noChangeShapeType="1"/>
              </p:cNvSpPr>
              <p:nvPr/>
            </p:nvSpPr>
            <p:spPr bwMode="auto">
              <a:xfrm flipV="1">
                <a:off x="2283" y="684"/>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0" name="Line 119"/>
              <p:cNvSpPr>
                <a:spLocks noChangeShapeType="1"/>
              </p:cNvSpPr>
              <p:nvPr/>
            </p:nvSpPr>
            <p:spPr bwMode="auto">
              <a:xfrm flipV="1">
                <a:off x="2285" y="679"/>
                <a:ext cx="6"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1" name="Line 120"/>
              <p:cNvSpPr>
                <a:spLocks noChangeShapeType="1"/>
              </p:cNvSpPr>
              <p:nvPr/>
            </p:nvSpPr>
            <p:spPr bwMode="auto">
              <a:xfrm flipV="1">
                <a:off x="2291" y="673"/>
                <a:ext cx="5"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2" name="Line 121"/>
              <p:cNvSpPr>
                <a:spLocks noChangeShapeType="1"/>
              </p:cNvSpPr>
              <p:nvPr/>
            </p:nvSpPr>
            <p:spPr bwMode="auto">
              <a:xfrm flipV="1">
                <a:off x="2296" y="654"/>
                <a:ext cx="29" cy="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3" name="Line 122"/>
              <p:cNvSpPr>
                <a:spLocks noChangeShapeType="1"/>
              </p:cNvSpPr>
              <p:nvPr/>
            </p:nvSpPr>
            <p:spPr bwMode="auto">
              <a:xfrm flipV="1">
                <a:off x="2325" y="637"/>
                <a:ext cx="32"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4" name="Line 123"/>
              <p:cNvSpPr>
                <a:spLocks noChangeShapeType="1"/>
              </p:cNvSpPr>
              <p:nvPr/>
            </p:nvSpPr>
            <p:spPr bwMode="auto">
              <a:xfrm flipV="1">
                <a:off x="2357" y="629"/>
                <a:ext cx="1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5" name="Line 124"/>
              <p:cNvSpPr>
                <a:spLocks noChangeShapeType="1"/>
              </p:cNvSpPr>
              <p:nvPr/>
            </p:nvSpPr>
            <p:spPr bwMode="auto">
              <a:xfrm flipV="1">
                <a:off x="2372" y="624"/>
                <a:ext cx="18"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 name="Line 125"/>
              <p:cNvSpPr>
                <a:spLocks noChangeShapeType="1"/>
              </p:cNvSpPr>
              <p:nvPr/>
            </p:nvSpPr>
            <p:spPr bwMode="auto">
              <a:xfrm flipV="1">
                <a:off x="2390" y="620"/>
                <a:ext cx="15"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 name="Line 126"/>
              <p:cNvSpPr>
                <a:spLocks noChangeShapeType="1"/>
              </p:cNvSpPr>
              <p:nvPr/>
            </p:nvSpPr>
            <p:spPr bwMode="auto">
              <a:xfrm flipV="1">
                <a:off x="2405" y="618"/>
                <a:ext cx="15"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8" name="Line 127"/>
              <p:cNvSpPr>
                <a:spLocks noChangeShapeType="1"/>
              </p:cNvSpPr>
              <p:nvPr/>
            </p:nvSpPr>
            <p:spPr bwMode="auto">
              <a:xfrm>
                <a:off x="2420" y="618"/>
                <a:ext cx="1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 name="Line 128"/>
              <p:cNvSpPr>
                <a:spLocks noChangeShapeType="1"/>
              </p:cNvSpPr>
              <p:nvPr/>
            </p:nvSpPr>
            <p:spPr bwMode="auto">
              <a:xfrm>
                <a:off x="2433" y="618"/>
                <a:ext cx="12"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0" name="Line 129"/>
              <p:cNvSpPr>
                <a:spLocks noChangeShapeType="1"/>
              </p:cNvSpPr>
              <p:nvPr/>
            </p:nvSpPr>
            <p:spPr bwMode="auto">
              <a:xfrm>
                <a:off x="2445" y="620"/>
                <a:ext cx="1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1" name="Line 130"/>
              <p:cNvSpPr>
                <a:spLocks noChangeShapeType="1"/>
              </p:cNvSpPr>
              <p:nvPr/>
            </p:nvSpPr>
            <p:spPr bwMode="auto">
              <a:xfrm>
                <a:off x="2458" y="624"/>
                <a:ext cx="9"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2" name="Line 131"/>
              <p:cNvSpPr>
                <a:spLocks noChangeShapeType="1"/>
              </p:cNvSpPr>
              <p:nvPr/>
            </p:nvSpPr>
            <p:spPr bwMode="auto">
              <a:xfrm>
                <a:off x="2467" y="629"/>
                <a:ext cx="10"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3" name="Line 132"/>
              <p:cNvSpPr>
                <a:spLocks noChangeShapeType="1"/>
              </p:cNvSpPr>
              <p:nvPr/>
            </p:nvSpPr>
            <p:spPr bwMode="auto">
              <a:xfrm>
                <a:off x="2477" y="635"/>
                <a:ext cx="8"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4" name="Line 133"/>
              <p:cNvSpPr>
                <a:spLocks noChangeShapeType="1"/>
              </p:cNvSpPr>
              <p:nvPr/>
            </p:nvSpPr>
            <p:spPr bwMode="auto">
              <a:xfrm>
                <a:off x="2485" y="641"/>
                <a:ext cx="7"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5" name="Line 134"/>
              <p:cNvSpPr>
                <a:spLocks noChangeShapeType="1"/>
              </p:cNvSpPr>
              <p:nvPr/>
            </p:nvSpPr>
            <p:spPr bwMode="auto">
              <a:xfrm>
                <a:off x="2492" y="650"/>
                <a:ext cx="6"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 name="Line 135"/>
              <p:cNvSpPr>
                <a:spLocks noChangeShapeType="1"/>
              </p:cNvSpPr>
              <p:nvPr/>
            </p:nvSpPr>
            <p:spPr bwMode="auto">
              <a:xfrm>
                <a:off x="2498" y="658"/>
                <a:ext cx="6"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 name="Line 136"/>
              <p:cNvSpPr>
                <a:spLocks noChangeShapeType="1"/>
              </p:cNvSpPr>
              <p:nvPr/>
            </p:nvSpPr>
            <p:spPr bwMode="auto">
              <a:xfrm>
                <a:off x="2504" y="667"/>
                <a:ext cx="3"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 name="Line 137"/>
              <p:cNvSpPr>
                <a:spLocks noChangeShapeType="1"/>
              </p:cNvSpPr>
              <p:nvPr/>
            </p:nvSpPr>
            <p:spPr bwMode="auto">
              <a:xfrm>
                <a:off x="2507" y="675"/>
                <a:ext cx="2"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 name="Line 138"/>
              <p:cNvSpPr>
                <a:spLocks noChangeShapeType="1"/>
              </p:cNvSpPr>
              <p:nvPr/>
            </p:nvSpPr>
            <p:spPr bwMode="auto">
              <a:xfrm>
                <a:off x="2509" y="684"/>
                <a:ext cx="1"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 name="Line 139"/>
              <p:cNvSpPr>
                <a:spLocks noChangeShapeType="1"/>
              </p:cNvSpPr>
              <p:nvPr/>
            </p:nvSpPr>
            <p:spPr bwMode="auto">
              <a:xfrm>
                <a:off x="2509" y="692"/>
                <a:ext cx="1"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 name="Line 140"/>
              <p:cNvSpPr>
                <a:spLocks noChangeShapeType="1"/>
              </p:cNvSpPr>
              <p:nvPr/>
            </p:nvSpPr>
            <p:spPr bwMode="auto">
              <a:xfrm flipH="1">
                <a:off x="2507" y="702"/>
                <a:ext cx="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2" name="Line 141"/>
              <p:cNvSpPr>
                <a:spLocks noChangeShapeType="1"/>
              </p:cNvSpPr>
              <p:nvPr/>
            </p:nvSpPr>
            <p:spPr bwMode="auto">
              <a:xfrm flipH="1">
                <a:off x="2504" y="709"/>
                <a:ext cx="3"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 name="Line 142"/>
              <p:cNvSpPr>
                <a:spLocks noChangeShapeType="1"/>
              </p:cNvSpPr>
              <p:nvPr/>
            </p:nvSpPr>
            <p:spPr bwMode="auto">
              <a:xfrm flipH="1">
                <a:off x="2498" y="721"/>
                <a:ext cx="6"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 name="Line 143"/>
              <p:cNvSpPr>
                <a:spLocks noChangeShapeType="1"/>
              </p:cNvSpPr>
              <p:nvPr/>
            </p:nvSpPr>
            <p:spPr bwMode="auto">
              <a:xfrm flipH="1">
                <a:off x="2490" y="730"/>
                <a:ext cx="8"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5" name="Line 144"/>
              <p:cNvSpPr>
                <a:spLocks noChangeShapeType="1"/>
              </p:cNvSpPr>
              <p:nvPr/>
            </p:nvSpPr>
            <p:spPr bwMode="auto">
              <a:xfrm flipH="1">
                <a:off x="2483" y="740"/>
                <a:ext cx="7"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6" name="Line 145"/>
              <p:cNvSpPr>
                <a:spLocks noChangeShapeType="1"/>
              </p:cNvSpPr>
              <p:nvPr/>
            </p:nvSpPr>
            <p:spPr bwMode="auto">
              <a:xfrm flipH="1">
                <a:off x="2475" y="749"/>
                <a:ext cx="8"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 name="Line 146"/>
              <p:cNvSpPr>
                <a:spLocks noChangeShapeType="1"/>
              </p:cNvSpPr>
              <p:nvPr/>
            </p:nvSpPr>
            <p:spPr bwMode="auto">
              <a:xfrm flipH="1">
                <a:off x="2464" y="757"/>
                <a:ext cx="11"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 name="Line 147"/>
              <p:cNvSpPr>
                <a:spLocks noChangeShapeType="1"/>
              </p:cNvSpPr>
              <p:nvPr/>
            </p:nvSpPr>
            <p:spPr bwMode="auto">
              <a:xfrm flipH="1">
                <a:off x="2452" y="762"/>
                <a:ext cx="1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 name="Line 148"/>
              <p:cNvSpPr>
                <a:spLocks noChangeShapeType="1"/>
              </p:cNvSpPr>
              <p:nvPr/>
            </p:nvSpPr>
            <p:spPr bwMode="auto">
              <a:xfrm flipH="1">
                <a:off x="2441" y="766"/>
                <a:ext cx="11"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0" name="Line 149"/>
              <p:cNvSpPr>
                <a:spLocks noChangeShapeType="1"/>
              </p:cNvSpPr>
              <p:nvPr/>
            </p:nvSpPr>
            <p:spPr bwMode="auto">
              <a:xfrm flipH="1">
                <a:off x="2429" y="768"/>
                <a:ext cx="12"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1" name="Line 150"/>
              <p:cNvSpPr>
                <a:spLocks noChangeShapeType="1"/>
              </p:cNvSpPr>
              <p:nvPr/>
            </p:nvSpPr>
            <p:spPr bwMode="auto">
              <a:xfrm flipH="1">
                <a:off x="2416" y="768"/>
                <a:ext cx="1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2" name="Line 151"/>
              <p:cNvSpPr>
                <a:spLocks noChangeShapeType="1"/>
              </p:cNvSpPr>
              <p:nvPr/>
            </p:nvSpPr>
            <p:spPr bwMode="auto">
              <a:xfrm flipH="1" flipV="1">
                <a:off x="2401" y="766"/>
                <a:ext cx="15"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3" name="Line 152"/>
              <p:cNvSpPr>
                <a:spLocks noChangeShapeType="1"/>
              </p:cNvSpPr>
              <p:nvPr/>
            </p:nvSpPr>
            <p:spPr bwMode="auto">
              <a:xfrm flipH="1" flipV="1">
                <a:off x="2388" y="762"/>
                <a:ext cx="1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4" name="Line 153"/>
              <p:cNvSpPr>
                <a:spLocks noChangeShapeType="1"/>
              </p:cNvSpPr>
              <p:nvPr/>
            </p:nvSpPr>
            <p:spPr bwMode="auto">
              <a:xfrm flipH="1" flipV="1">
                <a:off x="2371" y="757"/>
                <a:ext cx="17"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5" name="Line 154"/>
              <p:cNvSpPr>
                <a:spLocks noChangeShapeType="1"/>
              </p:cNvSpPr>
              <p:nvPr/>
            </p:nvSpPr>
            <p:spPr bwMode="auto">
              <a:xfrm flipH="1" flipV="1">
                <a:off x="2355" y="749"/>
                <a:ext cx="16"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6" name="Line 155"/>
              <p:cNvSpPr>
                <a:spLocks noChangeShapeType="1"/>
              </p:cNvSpPr>
              <p:nvPr/>
            </p:nvSpPr>
            <p:spPr bwMode="auto">
              <a:xfrm flipH="1" flipV="1">
                <a:off x="2323" y="732"/>
                <a:ext cx="32"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 name="Line 156"/>
              <p:cNvSpPr>
                <a:spLocks noChangeShapeType="1"/>
              </p:cNvSpPr>
              <p:nvPr/>
            </p:nvSpPr>
            <p:spPr bwMode="auto">
              <a:xfrm flipH="1" flipV="1">
                <a:off x="2295" y="713"/>
                <a:ext cx="28" cy="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 name="Freeform 157"/>
              <p:cNvSpPr>
                <a:spLocks/>
              </p:cNvSpPr>
              <p:nvPr/>
            </p:nvSpPr>
            <p:spPr bwMode="auto">
              <a:xfrm>
                <a:off x="2403" y="622"/>
                <a:ext cx="32" cy="43"/>
              </a:xfrm>
              <a:custGeom>
                <a:avLst/>
                <a:gdLst>
                  <a:gd name="T0" fmla="*/ 17 w 32"/>
                  <a:gd name="T1" fmla="*/ 0 h 43"/>
                  <a:gd name="T2" fmla="*/ 32 w 32"/>
                  <a:gd name="T3" fmla="*/ 43 h 43"/>
                  <a:gd name="T4" fmla="*/ 0 w 32"/>
                  <a:gd name="T5" fmla="*/ 43 h 43"/>
                  <a:gd name="T6" fmla="*/ 17 w 32"/>
                  <a:gd name="T7" fmla="*/ 0 h 43"/>
                  <a:gd name="T8" fmla="*/ 0 60000 65536"/>
                  <a:gd name="T9" fmla="*/ 0 60000 65536"/>
                  <a:gd name="T10" fmla="*/ 0 60000 65536"/>
                  <a:gd name="T11" fmla="*/ 0 60000 65536"/>
                  <a:gd name="T12" fmla="*/ 0 w 32"/>
                  <a:gd name="T13" fmla="*/ 0 h 43"/>
                  <a:gd name="T14" fmla="*/ 32 w 32"/>
                  <a:gd name="T15" fmla="*/ 43 h 43"/>
                </a:gdLst>
                <a:ahLst/>
                <a:cxnLst>
                  <a:cxn ang="T8">
                    <a:pos x="T0" y="T1"/>
                  </a:cxn>
                  <a:cxn ang="T9">
                    <a:pos x="T2" y="T3"/>
                  </a:cxn>
                  <a:cxn ang="T10">
                    <a:pos x="T4" y="T5"/>
                  </a:cxn>
                  <a:cxn ang="T11">
                    <a:pos x="T6" y="T7"/>
                  </a:cxn>
                </a:cxnLst>
                <a:rect l="T12" t="T13" r="T14" b="T15"/>
                <a:pathLst>
                  <a:path w="32" h="43">
                    <a:moveTo>
                      <a:pt x="17" y="0"/>
                    </a:moveTo>
                    <a:lnTo>
                      <a:pt x="32" y="43"/>
                    </a:lnTo>
                    <a:lnTo>
                      <a:pt x="0" y="43"/>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39" name="Line 158"/>
              <p:cNvSpPr>
                <a:spLocks noChangeShapeType="1"/>
              </p:cNvSpPr>
              <p:nvPr/>
            </p:nvSpPr>
            <p:spPr bwMode="auto">
              <a:xfrm>
                <a:off x="2420" y="667"/>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 name="Rectangle 159"/>
              <p:cNvSpPr>
                <a:spLocks noChangeArrowheads="1"/>
              </p:cNvSpPr>
              <p:nvPr/>
            </p:nvSpPr>
            <p:spPr bwMode="auto">
              <a:xfrm>
                <a:off x="1171" y="1559"/>
                <a:ext cx="36"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S</a:t>
                </a:r>
                <a:endParaRPr lang="en-US" altLang="zh-CN" sz="2400" b="1">
                  <a:latin typeface="Times" panose="02020603050405020304" pitchFamily="18" charset="0"/>
                  <a:ea typeface="宋体" panose="02010600030101010101" pitchFamily="2" charset="-122"/>
                </a:endParaRPr>
              </a:p>
            </p:txBody>
          </p:sp>
          <p:sp>
            <p:nvSpPr>
              <p:cNvPr id="741" name="Rectangle 160"/>
              <p:cNvSpPr>
                <a:spLocks noChangeArrowheads="1"/>
              </p:cNvSpPr>
              <p:nvPr/>
            </p:nvSpPr>
            <p:spPr bwMode="auto">
              <a:xfrm>
                <a:off x="1211" y="1559"/>
                <a:ext cx="18"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i</a:t>
                </a:r>
                <a:endParaRPr lang="en-US" altLang="zh-CN" sz="2400" b="1">
                  <a:latin typeface="Times" panose="02020603050405020304" pitchFamily="18" charset="0"/>
                  <a:ea typeface="宋体" panose="02010600030101010101" pitchFamily="2" charset="-122"/>
                </a:endParaRPr>
              </a:p>
            </p:txBody>
          </p:sp>
          <p:sp>
            <p:nvSpPr>
              <p:cNvPr id="742" name="Rectangle 161"/>
              <p:cNvSpPr>
                <a:spLocks noChangeArrowheads="1"/>
              </p:cNvSpPr>
              <p:nvPr/>
            </p:nvSpPr>
            <p:spPr bwMode="auto">
              <a:xfrm>
                <a:off x="1233" y="1559"/>
                <a:ext cx="16"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000" b="1">
                    <a:solidFill>
                      <a:srgbClr val="000000"/>
                    </a:solidFill>
                    <a:latin typeface="Times New Roman" panose="02020603050405020304" pitchFamily="18" charset="0"/>
                    <a:ea typeface="宋体" panose="02010600030101010101" pitchFamily="2" charset="-122"/>
                  </a:rPr>
                  <a:t> </a:t>
                </a:r>
                <a:endParaRPr lang="zh-CN" altLang="en-US" sz="2400" b="1">
                  <a:latin typeface="Times" panose="02020603050405020304" pitchFamily="18" charset="0"/>
                  <a:ea typeface="宋体" panose="02010600030101010101" pitchFamily="2" charset="-122"/>
                </a:endParaRPr>
              </a:p>
            </p:txBody>
          </p:sp>
          <p:sp>
            <p:nvSpPr>
              <p:cNvPr id="743" name="Rectangle 162"/>
              <p:cNvSpPr>
                <a:spLocks noChangeArrowheads="1"/>
              </p:cNvSpPr>
              <p:nvPr/>
            </p:nvSpPr>
            <p:spPr bwMode="auto">
              <a:xfrm>
                <a:off x="1251" y="1559"/>
                <a:ext cx="16"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000" b="1">
                    <a:solidFill>
                      <a:srgbClr val="000000"/>
                    </a:solidFill>
                    <a:latin typeface="Times New Roman" panose="02020603050405020304" pitchFamily="18" charset="0"/>
                    <a:ea typeface="宋体" panose="02010600030101010101" pitchFamily="2" charset="-122"/>
                  </a:rPr>
                  <a:t> </a:t>
                </a:r>
                <a:endParaRPr lang="zh-CN" altLang="en-US" sz="2400" b="1">
                  <a:latin typeface="Times" panose="02020603050405020304" pitchFamily="18" charset="0"/>
                  <a:ea typeface="宋体" panose="02010600030101010101" pitchFamily="2" charset="-122"/>
                </a:endParaRPr>
              </a:p>
            </p:txBody>
          </p:sp>
          <p:sp>
            <p:nvSpPr>
              <p:cNvPr id="744" name="Rectangle 163"/>
              <p:cNvSpPr>
                <a:spLocks noChangeArrowheads="1"/>
              </p:cNvSpPr>
              <p:nvPr/>
            </p:nvSpPr>
            <p:spPr bwMode="auto">
              <a:xfrm>
                <a:off x="1271" y="1559"/>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A</a:t>
                </a:r>
                <a:endParaRPr lang="en-US" altLang="zh-CN" sz="2400" b="1">
                  <a:latin typeface="Times" panose="02020603050405020304" pitchFamily="18" charset="0"/>
                  <a:ea typeface="宋体" panose="02010600030101010101" pitchFamily="2" charset="-122"/>
                </a:endParaRPr>
              </a:p>
            </p:txBody>
          </p:sp>
          <p:sp>
            <p:nvSpPr>
              <p:cNvPr id="745" name="Rectangle 164"/>
              <p:cNvSpPr>
                <a:spLocks noChangeArrowheads="1"/>
              </p:cNvSpPr>
              <p:nvPr/>
            </p:nvSpPr>
            <p:spPr bwMode="auto">
              <a:xfrm>
                <a:off x="1327" y="1559"/>
                <a:ext cx="42"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T</a:t>
                </a:r>
                <a:endParaRPr lang="en-US" altLang="zh-CN" sz="2400" b="1">
                  <a:latin typeface="Times" panose="02020603050405020304" pitchFamily="18" charset="0"/>
                  <a:ea typeface="宋体" panose="02010600030101010101" pitchFamily="2" charset="-122"/>
                </a:endParaRPr>
              </a:p>
            </p:txBody>
          </p:sp>
          <p:sp>
            <p:nvSpPr>
              <p:cNvPr id="746" name="Rectangle 165"/>
              <p:cNvSpPr>
                <a:spLocks noChangeArrowheads="1"/>
              </p:cNvSpPr>
              <p:nvPr/>
            </p:nvSpPr>
            <p:spPr bwMode="auto">
              <a:xfrm>
                <a:off x="1374" y="1559"/>
                <a:ext cx="50"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O</a:t>
                </a:r>
                <a:endParaRPr lang="en-US" altLang="zh-CN" sz="2400" b="1">
                  <a:latin typeface="Times" panose="02020603050405020304" pitchFamily="18" charset="0"/>
                  <a:ea typeface="宋体" panose="02010600030101010101" pitchFamily="2" charset="-122"/>
                </a:endParaRPr>
              </a:p>
            </p:txBody>
          </p:sp>
          <p:sp>
            <p:nvSpPr>
              <p:cNvPr id="747" name="Rectangle 166"/>
              <p:cNvSpPr>
                <a:spLocks noChangeArrowheads="1"/>
              </p:cNvSpPr>
              <p:nvPr/>
            </p:nvSpPr>
            <p:spPr bwMode="auto">
              <a:xfrm>
                <a:off x="1429" y="1559"/>
                <a:ext cx="61"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M</a:t>
                </a:r>
                <a:endParaRPr lang="en-US" altLang="zh-CN" sz="2400" b="1">
                  <a:latin typeface="Times" panose="02020603050405020304" pitchFamily="18" charset="0"/>
                  <a:ea typeface="宋体" panose="02010600030101010101" pitchFamily="2" charset="-122"/>
                </a:endParaRPr>
              </a:p>
            </p:txBody>
          </p:sp>
          <p:sp>
            <p:nvSpPr>
              <p:cNvPr id="748" name="Rectangle 167"/>
              <p:cNvSpPr>
                <a:spLocks noChangeArrowheads="1"/>
              </p:cNvSpPr>
              <p:nvPr/>
            </p:nvSpPr>
            <p:spPr bwMode="auto">
              <a:xfrm>
                <a:off x="3597" y="1400"/>
                <a:ext cx="1003" cy="473"/>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49" name="Rectangle 168"/>
              <p:cNvSpPr>
                <a:spLocks noChangeArrowheads="1"/>
              </p:cNvSpPr>
              <p:nvPr/>
            </p:nvSpPr>
            <p:spPr bwMode="auto">
              <a:xfrm>
                <a:off x="3597" y="589"/>
                <a:ext cx="1003" cy="473"/>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50" name="Line 169"/>
              <p:cNvSpPr>
                <a:spLocks noChangeShapeType="1"/>
              </p:cNvSpPr>
              <p:nvPr/>
            </p:nvSpPr>
            <p:spPr bwMode="auto">
              <a:xfrm flipH="1">
                <a:off x="3264" y="588"/>
                <a:ext cx="332" cy="229"/>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1" name="Line 170"/>
              <p:cNvSpPr>
                <a:spLocks noChangeShapeType="1"/>
              </p:cNvSpPr>
              <p:nvPr/>
            </p:nvSpPr>
            <p:spPr bwMode="auto">
              <a:xfrm flipH="1" flipV="1">
                <a:off x="3264" y="821"/>
                <a:ext cx="325" cy="223"/>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2" name="Line 171"/>
              <p:cNvSpPr>
                <a:spLocks noChangeShapeType="1"/>
              </p:cNvSpPr>
              <p:nvPr/>
            </p:nvSpPr>
            <p:spPr bwMode="auto">
              <a:xfrm flipV="1">
                <a:off x="3269" y="1403"/>
                <a:ext cx="324" cy="159"/>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3" name="Line 172"/>
              <p:cNvSpPr>
                <a:spLocks noChangeShapeType="1"/>
              </p:cNvSpPr>
              <p:nvPr/>
            </p:nvSpPr>
            <p:spPr bwMode="auto">
              <a:xfrm>
                <a:off x="3281" y="1562"/>
                <a:ext cx="312" cy="305"/>
              </a:xfrm>
              <a:prstGeom prst="line">
                <a:avLst/>
              </a:prstGeom>
              <a:noFill/>
              <a:ln w="6350">
                <a:solidFill>
                  <a:srgbClr val="EE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4" name="Rectangle 173"/>
              <p:cNvSpPr>
                <a:spLocks noChangeArrowheads="1"/>
              </p:cNvSpPr>
              <p:nvPr/>
            </p:nvSpPr>
            <p:spPr bwMode="auto">
              <a:xfrm>
                <a:off x="2804" y="1365"/>
                <a:ext cx="4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Symbol" panose="05050102010706020507" pitchFamily="18" charset="2"/>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755" name="Rectangle 174"/>
              <p:cNvSpPr>
                <a:spLocks noChangeArrowheads="1"/>
              </p:cNvSpPr>
              <p:nvPr/>
            </p:nvSpPr>
            <p:spPr bwMode="auto">
              <a:xfrm>
                <a:off x="2863" y="1437"/>
                <a:ext cx="36"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i="1">
                    <a:solidFill>
                      <a:srgbClr val="000000"/>
                    </a:solidFill>
                    <a:latin typeface="Times New Roman" panose="02020603050405020304" pitchFamily="18" charset="0"/>
                    <a:ea typeface="宋体" panose="02010600030101010101" pitchFamily="2" charset="-122"/>
                  </a:rPr>
                  <a:t>B</a:t>
                </a:r>
                <a:endParaRPr lang="en-US" altLang="zh-CN" sz="2400" b="1">
                  <a:latin typeface="Times" panose="02020603050405020304" pitchFamily="18" charset="0"/>
                  <a:ea typeface="宋体" panose="02010600030101010101" pitchFamily="2" charset="-122"/>
                </a:endParaRPr>
              </a:p>
            </p:txBody>
          </p:sp>
          <p:sp>
            <p:nvSpPr>
              <p:cNvPr id="756" name="Rectangle 175"/>
              <p:cNvSpPr>
                <a:spLocks noChangeArrowheads="1"/>
              </p:cNvSpPr>
              <p:nvPr/>
            </p:nvSpPr>
            <p:spPr bwMode="auto">
              <a:xfrm>
                <a:off x="2982" y="1954"/>
                <a:ext cx="4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Symbol" panose="05050102010706020507" pitchFamily="18" charset="2"/>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757" name="Rectangle 176"/>
              <p:cNvSpPr>
                <a:spLocks noChangeArrowheads="1"/>
              </p:cNvSpPr>
              <p:nvPr/>
            </p:nvSpPr>
            <p:spPr bwMode="auto">
              <a:xfrm>
                <a:off x="3038" y="2024"/>
                <a:ext cx="35"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i="1">
                    <a:solidFill>
                      <a:srgbClr val="000000"/>
                    </a:solidFill>
                    <a:latin typeface="Times New Roman" panose="02020603050405020304" pitchFamily="18" charset="0"/>
                    <a:ea typeface="宋体" panose="02010600030101010101" pitchFamily="2" charset="-122"/>
                  </a:rPr>
                  <a:t>B</a:t>
                </a:r>
                <a:endParaRPr lang="en-US" altLang="zh-CN" sz="2400" b="1">
                  <a:latin typeface="Times" panose="02020603050405020304" pitchFamily="18" charset="0"/>
                  <a:ea typeface="宋体" panose="02010600030101010101" pitchFamily="2" charset="-122"/>
                </a:endParaRPr>
              </a:p>
            </p:txBody>
          </p:sp>
          <p:sp>
            <p:nvSpPr>
              <p:cNvPr id="758" name="Freeform 177"/>
              <p:cNvSpPr>
                <a:spLocks/>
              </p:cNvSpPr>
              <p:nvPr/>
            </p:nvSpPr>
            <p:spPr bwMode="auto">
              <a:xfrm>
                <a:off x="2880" y="1752"/>
                <a:ext cx="329" cy="211"/>
              </a:xfrm>
              <a:custGeom>
                <a:avLst/>
                <a:gdLst>
                  <a:gd name="T0" fmla="*/ 310 w 329"/>
                  <a:gd name="T1" fmla="*/ 135 h 211"/>
                  <a:gd name="T2" fmla="*/ 317 w 329"/>
                  <a:gd name="T3" fmla="*/ 128 h 211"/>
                  <a:gd name="T4" fmla="*/ 325 w 329"/>
                  <a:gd name="T5" fmla="*/ 122 h 211"/>
                  <a:gd name="T6" fmla="*/ 327 w 329"/>
                  <a:gd name="T7" fmla="*/ 115 h 211"/>
                  <a:gd name="T8" fmla="*/ 329 w 329"/>
                  <a:gd name="T9" fmla="*/ 107 h 211"/>
                  <a:gd name="T10" fmla="*/ 329 w 329"/>
                  <a:gd name="T11" fmla="*/ 99 h 211"/>
                  <a:gd name="T12" fmla="*/ 325 w 329"/>
                  <a:gd name="T13" fmla="*/ 94 h 211"/>
                  <a:gd name="T14" fmla="*/ 321 w 329"/>
                  <a:gd name="T15" fmla="*/ 86 h 211"/>
                  <a:gd name="T16" fmla="*/ 313 w 329"/>
                  <a:gd name="T17" fmla="*/ 78 h 211"/>
                  <a:gd name="T18" fmla="*/ 296 w 329"/>
                  <a:gd name="T19" fmla="*/ 65 h 211"/>
                  <a:gd name="T20" fmla="*/ 281 w 329"/>
                  <a:gd name="T21" fmla="*/ 54 h 211"/>
                  <a:gd name="T22" fmla="*/ 266 w 329"/>
                  <a:gd name="T23" fmla="*/ 42 h 211"/>
                  <a:gd name="T24" fmla="*/ 251 w 329"/>
                  <a:gd name="T25" fmla="*/ 33 h 211"/>
                  <a:gd name="T26" fmla="*/ 236 w 329"/>
                  <a:gd name="T27" fmla="*/ 23 h 211"/>
                  <a:gd name="T28" fmla="*/ 220 w 329"/>
                  <a:gd name="T29" fmla="*/ 16 h 211"/>
                  <a:gd name="T30" fmla="*/ 205 w 329"/>
                  <a:gd name="T31" fmla="*/ 10 h 211"/>
                  <a:gd name="T32" fmla="*/ 192 w 329"/>
                  <a:gd name="T33" fmla="*/ 4 h 211"/>
                  <a:gd name="T34" fmla="*/ 177 w 329"/>
                  <a:gd name="T35" fmla="*/ 2 h 211"/>
                  <a:gd name="T36" fmla="*/ 161 w 329"/>
                  <a:gd name="T37" fmla="*/ 0 h 211"/>
                  <a:gd name="T38" fmla="*/ 146 w 329"/>
                  <a:gd name="T39" fmla="*/ 2 h 211"/>
                  <a:gd name="T40" fmla="*/ 131 w 329"/>
                  <a:gd name="T41" fmla="*/ 6 h 211"/>
                  <a:gd name="T42" fmla="*/ 116 w 329"/>
                  <a:gd name="T43" fmla="*/ 10 h 211"/>
                  <a:gd name="T44" fmla="*/ 101 w 329"/>
                  <a:gd name="T45" fmla="*/ 18 h 211"/>
                  <a:gd name="T46" fmla="*/ 85 w 329"/>
                  <a:gd name="T47" fmla="*/ 25 h 211"/>
                  <a:gd name="T48" fmla="*/ 72 w 329"/>
                  <a:gd name="T49" fmla="*/ 35 h 211"/>
                  <a:gd name="T50" fmla="*/ 59 w 329"/>
                  <a:gd name="T51" fmla="*/ 44 h 211"/>
                  <a:gd name="T52" fmla="*/ 44 w 329"/>
                  <a:gd name="T53" fmla="*/ 56 h 211"/>
                  <a:gd name="T54" fmla="*/ 30 w 329"/>
                  <a:gd name="T55" fmla="*/ 67 h 211"/>
                  <a:gd name="T56" fmla="*/ 15 w 329"/>
                  <a:gd name="T57" fmla="*/ 80 h 211"/>
                  <a:gd name="T58" fmla="*/ 9 w 329"/>
                  <a:gd name="T59" fmla="*/ 86 h 211"/>
                  <a:gd name="T60" fmla="*/ 4 w 329"/>
                  <a:gd name="T61" fmla="*/ 94 h 211"/>
                  <a:gd name="T62" fmla="*/ 2 w 329"/>
                  <a:gd name="T63" fmla="*/ 99 h 211"/>
                  <a:gd name="T64" fmla="*/ 0 w 329"/>
                  <a:gd name="T65" fmla="*/ 107 h 211"/>
                  <a:gd name="T66" fmla="*/ 0 w 329"/>
                  <a:gd name="T67" fmla="*/ 113 h 211"/>
                  <a:gd name="T68" fmla="*/ 4 w 329"/>
                  <a:gd name="T69" fmla="*/ 120 h 211"/>
                  <a:gd name="T70" fmla="*/ 7 w 329"/>
                  <a:gd name="T71" fmla="*/ 126 h 211"/>
                  <a:gd name="T72" fmla="*/ 13 w 329"/>
                  <a:gd name="T73" fmla="*/ 132 h 211"/>
                  <a:gd name="T74" fmla="*/ 26 w 329"/>
                  <a:gd name="T75" fmla="*/ 145 h 211"/>
                  <a:gd name="T76" fmla="*/ 42 w 329"/>
                  <a:gd name="T77" fmla="*/ 156 h 211"/>
                  <a:gd name="T78" fmla="*/ 59 w 329"/>
                  <a:gd name="T79" fmla="*/ 170 h 211"/>
                  <a:gd name="T80" fmla="*/ 76 w 329"/>
                  <a:gd name="T81" fmla="*/ 181 h 211"/>
                  <a:gd name="T82" fmla="*/ 93 w 329"/>
                  <a:gd name="T83" fmla="*/ 191 h 211"/>
                  <a:gd name="T84" fmla="*/ 110 w 329"/>
                  <a:gd name="T85" fmla="*/ 200 h 211"/>
                  <a:gd name="T86" fmla="*/ 125 w 329"/>
                  <a:gd name="T87" fmla="*/ 206 h 211"/>
                  <a:gd name="T88" fmla="*/ 140 w 329"/>
                  <a:gd name="T89" fmla="*/ 210 h 211"/>
                  <a:gd name="T90" fmla="*/ 154 w 329"/>
                  <a:gd name="T91" fmla="*/ 211 h 211"/>
                  <a:gd name="T92" fmla="*/ 169 w 329"/>
                  <a:gd name="T93" fmla="*/ 211 h 211"/>
                  <a:gd name="T94" fmla="*/ 182 w 329"/>
                  <a:gd name="T95" fmla="*/ 211 h 211"/>
                  <a:gd name="T96" fmla="*/ 196 w 329"/>
                  <a:gd name="T97" fmla="*/ 208 h 211"/>
                  <a:gd name="T98" fmla="*/ 209 w 329"/>
                  <a:gd name="T99" fmla="*/ 204 h 211"/>
                  <a:gd name="T100" fmla="*/ 222 w 329"/>
                  <a:gd name="T101" fmla="*/ 198 h 211"/>
                  <a:gd name="T102" fmla="*/ 236 w 329"/>
                  <a:gd name="T103" fmla="*/ 192 h 211"/>
                  <a:gd name="T104" fmla="*/ 247 w 329"/>
                  <a:gd name="T105" fmla="*/ 183 h 211"/>
                  <a:gd name="T106" fmla="*/ 260 w 329"/>
                  <a:gd name="T107" fmla="*/ 173 h 211"/>
                  <a:gd name="T108" fmla="*/ 275 w 329"/>
                  <a:gd name="T109" fmla="*/ 162 h 211"/>
                  <a:gd name="T110" fmla="*/ 293 w 329"/>
                  <a:gd name="T111" fmla="*/ 149 h 211"/>
                  <a:gd name="T112" fmla="*/ 310 w 329"/>
                  <a:gd name="T113" fmla="*/ 135 h 21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29"/>
                  <a:gd name="T172" fmla="*/ 0 h 211"/>
                  <a:gd name="T173" fmla="*/ 329 w 329"/>
                  <a:gd name="T174" fmla="*/ 211 h 21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29" h="211">
                    <a:moveTo>
                      <a:pt x="310" y="135"/>
                    </a:moveTo>
                    <a:lnTo>
                      <a:pt x="317" y="128"/>
                    </a:lnTo>
                    <a:lnTo>
                      <a:pt x="325" y="122"/>
                    </a:lnTo>
                    <a:lnTo>
                      <a:pt x="327" y="115"/>
                    </a:lnTo>
                    <a:lnTo>
                      <a:pt x="329" y="107"/>
                    </a:lnTo>
                    <a:lnTo>
                      <a:pt x="329" y="99"/>
                    </a:lnTo>
                    <a:lnTo>
                      <a:pt x="325" y="94"/>
                    </a:lnTo>
                    <a:lnTo>
                      <a:pt x="321" y="86"/>
                    </a:lnTo>
                    <a:lnTo>
                      <a:pt x="313" y="78"/>
                    </a:lnTo>
                    <a:lnTo>
                      <a:pt x="296" y="65"/>
                    </a:lnTo>
                    <a:lnTo>
                      <a:pt x="281" y="54"/>
                    </a:lnTo>
                    <a:lnTo>
                      <a:pt x="266" y="42"/>
                    </a:lnTo>
                    <a:lnTo>
                      <a:pt x="251" y="33"/>
                    </a:lnTo>
                    <a:lnTo>
                      <a:pt x="236" y="23"/>
                    </a:lnTo>
                    <a:lnTo>
                      <a:pt x="220" y="16"/>
                    </a:lnTo>
                    <a:lnTo>
                      <a:pt x="205" y="10"/>
                    </a:lnTo>
                    <a:lnTo>
                      <a:pt x="192" y="4"/>
                    </a:lnTo>
                    <a:lnTo>
                      <a:pt x="177" y="2"/>
                    </a:lnTo>
                    <a:lnTo>
                      <a:pt x="161" y="0"/>
                    </a:lnTo>
                    <a:lnTo>
                      <a:pt x="146" y="2"/>
                    </a:lnTo>
                    <a:lnTo>
                      <a:pt x="131" y="6"/>
                    </a:lnTo>
                    <a:lnTo>
                      <a:pt x="116" y="10"/>
                    </a:lnTo>
                    <a:lnTo>
                      <a:pt x="101" y="18"/>
                    </a:lnTo>
                    <a:lnTo>
                      <a:pt x="85" y="25"/>
                    </a:lnTo>
                    <a:lnTo>
                      <a:pt x="72" y="35"/>
                    </a:lnTo>
                    <a:lnTo>
                      <a:pt x="59" y="44"/>
                    </a:lnTo>
                    <a:lnTo>
                      <a:pt x="44" y="56"/>
                    </a:lnTo>
                    <a:lnTo>
                      <a:pt x="30" y="67"/>
                    </a:lnTo>
                    <a:lnTo>
                      <a:pt x="15" y="80"/>
                    </a:lnTo>
                    <a:lnTo>
                      <a:pt x="9" y="86"/>
                    </a:lnTo>
                    <a:lnTo>
                      <a:pt x="4" y="94"/>
                    </a:lnTo>
                    <a:lnTo>
                      <a:pt x="2" y="99"/>
                    </a:lnTo>
                    <a:lnTo>
                      <a:pt x="0" y="107"/>
                    </a:lnTo>
                    <a:lnTo>
                      <a:pt x="0" y="113"/>
                    </a:lnTo>
                    <a:lnTo>
                      <a:pt x="4" y="120"/>
                    </a:lnTo>
                    <a:lnTo>
                      <a:pt x="7" y="126"/>
                    </a:lnTo>
                    <a:lnTo>
                      <a:pt x="13" y="132"/>
                    </a:lnTo>
                    <a:lnTo>
                      <a:pt x="26" y="145"/>
                    </a:lnTo>
                    <a:lnTo>
                      <a:pt x="42" y="156"/>
                    </a:lnTo>
                    <a:lnTo>
                      <a:pt x="59" y="170"/>
                    </a:lnTo>
                    <a:lnTo>
                      <a:pt x="76" y="181"/>
                    </a:lnTo>
                    <a:lnTo>
                      <a:pt x="93" y="191"/>
                    </a:lnTo>
                    <a:lnTo>
                      <a:pt x="110" y="200"/>
                    </a:lnTo>
                    <a:lnTo>
                      <a:pt x="125" y="206"/>
                    </a:lnTo>
                    <a:lnTo>
                      <a:pt x="140" y="210"/>
                    </a:lnTo>
                    <a:lnTo>
                      <a:pt x="154" y="211"/>
                    </a:lnTo>
                    <a:lnTo>
                      <a:pt x="169" y="211"/>
                    </a:lnTo>
                    <a:lnTo>
                      <a:pt x="182" y="211"/>
                    </a:lnTo>
                    <a:lnTo>
                      <a:pt x="196" y="208"/>
                    </a:lnTo>
                    <a:lnTo>
                      <a:pt x="209" y="204"/>
                    </a:lnTo>
                    <a:lnTo>
                      <a:pt x="222" y="198"/>
                    </a:lnTo>
                    <a:lnTo>
                      <a:pt x="236" y="192"/>
                    </a:lnTo>
                    <a:lnTo>
                      <a:pt x="247" y="183"/>
                    </a:lnTo>
                    <a:lnTo>
                      <a:pt x="260" y="173"/>
                    </a:lnTo>
                    <a:lnTo>
                      <a:pt x="275" y="162"/>
                    </a:lnTo>
                    <a:lnTo>
                      <a:pt x="293" y="149"/>
                    </a:lnTo>
                    <a:lnTo>
                      <a:pt x="310" y="135"/>
                    </a:lnTo>
                    <a:close/>
                  </a:path>
                </a:pathLst>
              </a:custGeom>
              <a:solidFill>
                <a:srgbClr val="FFFF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59" name="Line 178"/>
              <p:cNvSpPr>
                <a:spLocks noChangeShapeType="1"/>
              </p:cNvSpPr>
              <p:nvPr/>
            </p:nvSpPr>
            <p:spPr bwMode="auto">
              <a:xfrm flipV="1">
                <a:off x="3192" y="1882"/>
                <a:ext cx="7"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 name="Line 179"/>
              <p:cNvSpPr>
                <a:spLocks noChangeShapeType="1"/>
              </p:cNvSpPr>
              <p:nvPr/>
            </p:nvSpPr>
            <p:spPr bwMode="auto">
              <a:xfrm flipV="1">
                <a:off x="3199" y="1876"/>
                <a:ext cx="8"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 name="Line 180"/>
              <p:cNvSpPr>
                <a:spLocks noChangeShapeType="1"/>
              </p:cNvSpPr>
              <p:nvPr/>
            </p:nvSpPr>
            <p:spPr bwMode="auto">
              <a:xfrm flipV="1">
                <a:off x="3207" y="1868"/>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 name="Line 181"/>
              <p:cNvSpPr>
                <a:spLocks noChangeShapeType="1"/>
              </p:cNvSpPr>
              <p:nvPr/>
            </p:nvSpPr>
            <p:spPr bwMode="auto">
              <a:xfrm flipV="1">
                <a:off x="3209" y="1861"/>
                <a:ext cx="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 name="Line 182"/>
              <p:cNvSpPr>
                <a:spLocks noChangeShapeType="1"/>
              </p:cNvSpPr>
              <p:nvPr/>
            </p:nvSpPr>
            <p:spPr bwMode="auto">
              <a:xfrm flipV="1">
                <a:off x="3211" y="1853"/>
                <a:ext cx="1"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 name="Line 183"/>
              <p:cNvSpPr>
                <a:spLocks noChangeShapeType="1"/>
              </p:cNvSpPr>
              <p:nvPr/>
            </p:nvSpPr>
            <p:spPr bwMode="auto">
              <a:xfrm flipH="1" flipV="1">
                <a:off x="3207" y="1848"/>
                <a:ext cx="4"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5" name="Line 184"/>
              <p:cNvSpPr>
                <a:spLocks noChangeShapeType="1"/>
              </p:cNvSpPr>
              <p:nvPr/>
            </p:nvSpPr>
            <p:spPr bwMode="auto">
              <a:xfrm flipH="1" flipV="1">
                <a:off x="3203" y="1840"/>
                <a:ext cx="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6" name="Line 185"/>
              <p:cNvSpPr>
                <a:spLocks noChangeShapeType="1"/>
              </p:cNvSpPr>
              <p:nvPr/>
            </p:nvSpPr>
            <p:spPr bwMode="auto">
              <a:xfrm flipH="1" flipV="1">
                <a:off x="3195" y="1832"/>
                <a:ext cx="8"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7" name="Line 186"/>
              <p:cNvSpPr>
                <a:spLocks noChangeShapeType="1"/>
              </p:cNvSpPr>
              <p:nvPr/>
            </p:nvSpPr>
            <p:spPr bwMode="auto">
              <a:xfrm flipH="1" flipV="1">
                <a:off x="3178" y="1819"/>
                <a:ext cx="17"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 name="Line 187"/>
              <p:cNvSpPr>
                <a:spLocks noChangeShapeType="1"/>
              </p:cNvSpPr>
              <p:nvPr/>
            </p:nvSpPr>
            <p:spPr bwMode="auto">
              <a:xfrm flipH="1" flipV="1">
                <a:off x="3163" y="1808"/>
                <a:ext cx="15"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 name="Line 188"/>
              <p:cNvSpPr>
                <a:spLocks noChangeShapeType="1"/>
              </p:cNvSpPr>
              <p:nvPr/>
            </p:nvSpPr>
            <p:spPr bwMode="auto">
              <a:xfrm flipH="1" flipV="1">
                <a:off x="3148" y="1796"/>
                <a:ext cx="15"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0" name="Line 189"/>
              <p:cNvSpPr>
                <a:spLocks noChangeShapeType="1"/>
              </p:cNvSpPr>
              <p:nvPr/>
            </p:nvSpPr>
            <p:spPr bwMode="auto">
              <a:xfrm flipH="1" flipV="1">
                <a:off x="3133" y="1787"/>
                <a:ext cx="15"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1" name="Line 190"/>
              <p:cNvSpPr>
                <a:spLocks noChangeShapeType="1"/>
              </p:cNvSpPr>
              <p:nvPr/>
            </p:nvSpPr>
            <p:spPr bwMode="auto">
              <a:xfrm flipH="1" flipV="1">
                <a:off x="3117" y="1777"/>
                <a:ext cx="16"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2" name="Line 191"/>
              <p:cNvSpPr>
                <a:spLocks noChangeShapeType="1"/>
              </p:cNvSpPr>
              <p:nvPr/>
            </p:nvSpPr>
            <p:spPr bwMode="auto">
              <a:xfrm flipH="1" flipV="1">
                <a:off x="3102" y="1770"/>
                <a:ext cx="15"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3" name="Line 192"/>
              <p:cNvSpPr>
                <a:spLocks noChangeShapeType="1"/>
              </p:cNvSpPr>
              <p:nvPr/>
            </p:nvSpPr>
            <p:spPr bwMode="auto">
              <a:xfrm flipH="1" flipV="1">
                <a:off x="3087" y="1764"/>
                <a:ext cx="15"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4" name="Line 193"/>
              <p:cNvSpPr>
                <a:spLocks noChangeShapeType="1"/>
              </p:cNvSpPr>
              <p:nvPr/>
            </p:nvSpPr>
            <p:spPr bwMode="auto">
              <a:xfrm flipH="1" flipV="1">
                <a:off x="3074" y="1758"/>
                <a:ext cx="13"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5" name="Line 194"/>
              <p:cNvSpPr>
                <a:spLocks noChangeShapeType="1"/>
              </p:cNvSpPr>
              <p:nvPr/>
            </p:nvSpPr>
            <p:spPr bwMode="auto">
              <a:xfrm flipH="1" flipV="1">
                <a:off x="3058" y="1756"/>
                <a:ext cx="16"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6" name="Line 195"/>
              <p:cNvSpPr>
                <a:spLocks noChangeShapeType="1"/>
              </p:cNvSpPr>
              <p:nvPr/>
            </p:nvSpPr>
            <p:spPr bwMode="auto">
              <a:xfrm flipH="1" flipV="1">
                <a:off x="3043" y="1754"/>
                <a:ext cx="15"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7" name="Line 196"/>
              <p:cNvSpPr>
                <a:spLocks noChangeShapeType="1"/>
              </p:cNvSpPr>
              <p:nvPr/>
            </p:nvSpPr>
            <p:spPr bwMode="auto">
              <a:xfrm flipH="1">
                <a:off x="3028" y="1754"/>
                <a:ext cx="15"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 name="Line 197"/>
              <p:cNvSpPr>
                <a:spLocks noChangeShapeType="1"/>
              </p:cNvSpPr>
              <p:nvPr/>
            </p:nvSpPr>
            <p:spPr bwMode="auto">
              <a:xfrm flipH="1">
                <a:off x="3013" y="1756"/>
                <a:ext cx="15"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 name="Line 198"/>
              <p:cNvSpPr>
                <a:spLocks noChangeShapeType="1"/>
              </p:cNvSpPr>
              <p:nvPr/>
            </p:nvSpPr>
            <p:spPr bwMode="auto">
              <a:xfrm flipH="1">
                <a:off x="2998" y="1760"/>
                <a:ext cx="15"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 name="Line 199"/>
              <p:cNvSpPr>
                <a:spLocks noChangeShapeType="1"/>
              </p:cNvSpPr>
              <p:nvPr/>
            </p:nvSpPr>
            <p:spPr bwMode="auto">
              <a:xfrm flipH="1">
                <a:off x="2982" y="1764"/>
                <a:ext cx="16"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 name="Line 200"/>
              <p:cNvSpPr>
                <a:spLocks noChangeShapeType="1"/>
              </p:cNvSpPr>
              <p:nvPr/>
            </p:nvSpPr>
            <p:spPr bwMode="auto">
              <a:xfrm flipH="1">
                <a:off x="2967" y="1771"/>
                <a:ext cx="1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 name="Line 201"/>
              <p:cNvSpPr>
                <a:spLocks noChangeShapeType="1"/>
              </p:cNvSpPr>
              <p:nvPr/>
            </p:nvSpPr>
            <p:spPr bwMode="auto">
              <a:xfrm flipH="1">
                <a:off x="2954" y="1779"/>
                <a:ext cx="13"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 name="Line 202"/>
              <p:cNvSpPr>
                <a:spLocks noChangeShapeType="1"/>
              </p:cNvSpPr>
              <p:nvPr/>
            </p:nvSpPr>
            <p:spPr bwMode="auto">
              <a:xfrm flipH="1">
                <a:off x="2941" y="1789"/>
                <a:ext cx="13"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 name="Line 203"/>
              <p:cNvSpPr>
                <a:spLocks noChangeShapeType="1"/>
              </p:cNvSpPr>
              <p:nvPr/>
            </p:nvSpPr>
            <p:spPr bwMode="auto">
              <a:xfrm flipH="1">
                <a:off x="2925" y="1798"/>
                <a:ext cx="16"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5" name="Line 204"/>
              <p:cNvSpPr>
                <a:spLocks noChangeShapeType="1"/>
              </p:cNvSpPr>
              <p:nvPr/>
            </p:nvSpPr>
            <p:spPr bwMode="auto">
              <a:xfrm flipH="1">
                <a:off x="2912" y="1809"/>
                <a:ext cx="13"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6" name="Line 205"/>
              <p:cNvSpPr>
                <a:spLocks noChangeShapeType="1"/>
              </p:cNvSpPr>
              <p:nvPr/>
            </p:nvSpPr>
            <p:spPr bwMode="auto">
              <a:xfrm flipH="1">
                <a:off x="2897" y="1821"/>
                <a:ext cx="15"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7" name="Line 206"/>
              <p:cNvSpPr>
                <a:spLocks noChangeShapeType="1"/>
              </p:cNvSpPr>
              <p:nvPr/>
            </p:nvSpPr>
            <p:spPr bwMode="auto">
              <a:xfrm flipH="1">
                <a:off x="2891" y="1834"/>
                <a:ext cx="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 name="Line 207"/>
              <p:cNvSpPr>
                <a:spLocks noChangeShapeType="1"/>
              </p:cNvSpPr>
              <p:nvPr/>
            </p:nvSpPr>
            <p:spPr bwMode="auto">
              <a:xfrm flipH="1">
                <a:off x="2886" y="1840"/>
                <a:ext cx="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 name="Line 208"/>
              <p:cNvSpPr>
                <a:spLocks noChangeShapeType="1"/>
              </p:cNvSpPr>
              <p:nvPr/>
            </p:nvSpPr>
            <p:spPr bwMode="auto">
              <a:xfrm flipH="1">
                <a:off x="2884" y="1848"/>
                <a:ext cx="2"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 name="Line 209"/>
              <p:cNvSpPr>
                <a:spLocks noChangeShapeType="1"/>
              </p:cNvSpPr>
              <p:nvPr/>
            </p:nvSpPr>
            <p:spPr bwMode="auto">
              <a:xfrm flipH="1">
                <a:off x="2882" y="1853"/>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1" name="Line 210"/>
              <p:cNvSpPr>
                <a:spLocks noChangeShapeType="1"/>
              </p:cNvSpPr>
              <p:nvPr/>
            </p:nvSpPr>
            <p:spPr bwMode="auto">
              <a:xfrm>
                <a:off x="2882" y="1861"/>
                <a:ext cx="1"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2" name="Line 211"/>
              <p:cNvSpPr>
                <a:spLocks noChangeShapeType="1"/>
              </p:cNvSpPr>
              <p:nvPr/>
            </p:nvSpPr>
            <p:spPr bwMode="auto">
              <a:xfrm>
                <a:off x="2882" y="1867"/>
                <a:ext cx="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3" name="Line 212"/>
              <p:cNvSpPr>
                <a:spLocks noChangeShapeType="1"/>
              </p:cNvSpPr>
              <p:nvPr/>
            </p:nvSpPr>
            <p:spPr bwMode="auto">
              <a:xfrm>
                <a:off x="2886" y="1874"/>
                <a:ext cx="3"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4" name="Line 213"/>
              <p:cNvSpPr>
                <a:spLocks noChangeShapeType="1"/>
              </p:cNvSpPr>
              <p:nvPr/>
            </p:nvSpPr>
            <p:spPr bwMode="auto">
              <a:xfrm>
                <a:off x="2889" y="1880"/>
                <a:ext cx="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5" name="Line 214"/>
              <p:cNvSpPr>
                <a:spLocks noChangeShapeType="1"/>
              </p:cNvSpPr>
              <p:nvPr/>
            </p:nvSpPr>
            <p:spPr bwMode="auto">
              <a:xfrm>
                <a:off x="2895" y="1886"/>
                <a:ext cx="13"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6" name="Line 215"/>
              <p:cNvSpPr>
                <a:spLocks noChangeShapeType="1"/>
              </p:cNvSpPr>
              <p:nvPr/>
            </p:nvSpPr>
            <p:spPr bwMode="auto">
              <a:xfrm>
                <a:off x="2908" y="1899"/>
                <a:ext cx="16"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7" name="Line 216"/>
              <p:cNvSpPr>
                <a:spLocks noChangeShapeType="1"/>
              </p:cNvSpPr>
              <p:nvPr/>
            </p:nvSpPr>
            <p:spPr bwMode="auto">
              <a:xfrm>
                <a:off x="2924" y="1910"/>
                <a:ext cx="17"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 name="Group 217"/>
            <p:cNvGrpSpPr>
              <a:grpSpLocks/>
            </p:cNvGrpSpPr>
            <p:nvPr/>
          </p:nvGrpSpPr>
          <p:grpSpPr bwMode="auto">
            <a:xfrm>
              <a:off x="2234" y="383"/>
              <a:ext cx="2316" cy="1583"/>
              <a:chOff x="2234" y="383"/>
              <a:chExt cx="2316" cy="1583"/>
            </a:xfrm>
          </p:grpSpPr>
          <p:sp>
            <p:nvSpPr>
              <p:cNvPr id="398" name="Line 218"/>
              <p:cNvSpPr>
                <a:spLocks noChangeShapeType="1"/>
              </p:cNvSpPr>
              <p:nvPr/>
            </p:nvSpPr>
            <p:spPr bwMode="auto">
              <a:xfrm>
                <a:off x="2941" y="1924"/>
                <a:ext cx="17"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 name="Line 219"/>
              <p:cNvSpPr>
                <a:spLocks noChangeShapeType="1"/>
              </p:cNvSpPr>
              <p:nvPr/>
            </p:nvSpPr>
            <p:spPr bwMode="auto">
              <a:xfrm>
                <a:off x="2958" y="1935"/>
                <a:ext cx="17"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 name="Line 220"/>
              <p:cNvSpPr>
                <a:spLocks noChangeShapeType="1"/>
              </p:cNvSpPr>
              <p:nvPr/>
            </p:nvSpPr>
            <p:spPr bwMode="auto">
              <a:xfrm>
                <a:off x="2975" y="1944"/>
                <a:ext cx="17"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1" name="Line 221"/>
              <p:cNvSpPr>
                <a:spLocks noChangeShapeType="1"/>
              </p:cNvSpPr>
              <p:nvPr/>
            </p:nvSpPr>
            <p:spPr bwMode="auto">
              <a:xfrm>
                <a:off x="2992" y="1954"/>
                <a:ext cx="15"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2" name="Line 222"/>
              <p:cNvSpPr>
                <a:spLocks noChangeShapeType="1"/>
              </p:cNvSpPr>
              <p:nvPr/>
            </p:nvSpPr>
            <p:spPr bwMode="auto">
              <a:xfrm>
                <a:off x="3007" y="1960"/>
                <a:ext cx="15"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3" name="Line 223"/>
              <p:cNvSpPr>
                <a:spLocks noChangeShapeType="1"/>
              </p:cNvSpPr>
              <p:nvPr/>
            </p:nvSpPr>
            <p:spPr bwMode="auto">
              <a:xfrm>
                <a:off x="3022" y="1963"/>
                <a:ext cx="14"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4" name="Line 224"/>
              <p:cNvSpPr>
                <a:spLocks noChangeShapeType="1"/>
              </p:cNvSpPr>
              <p:nvPr/>
            </p:nvSpPr>
            <p:spPr bwMode="auto">
              <a:xfrm>
                <a:off x="3036" y="1965"/>
                <a:ext cx="15"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 name="Line 225"/>
              <p:cNvSpPr>
                <a:spLocks noChangeShapeType="1"/>
              </p:cNvSpPr>
              <p:nvPr/>
            </p:nvSpPr>
            <p:spPr bwMode="auto">
              <a:xfrm>
                <a:off x="3051" y="1965"/>
                <a:ext cx="1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 name="Line 226"/>
              <p:cNvSpPr>
                <a:spLocks noChangeShapeType="1"/>
              </p:cNvSpPr>
              <p:nvPr/>
            </p:nvSpPr>
            <p:spPr bwMode="auto">
              <a:xfrm flipV="1">
                <a:off x="3064" y="1962"/>
                <a:ext cx="14"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 name="Line 227"/>
              <p:cNvSpPr>
                <a:spLocks noChangeShapeType="1"/>
              </p:cNvSpPr>
              <p:nvPr/>
            </p:nvSpPr>
            <p:spPr bwMode="auto">
              <a:xfrm flipV="1">
                <a:off x="3078" y="1958"/>
                <a:ext cx="1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 name="Line 228"/>
              <p:cNvSpPr>
                <a:spLocks noChangeShapeType="1"/>
              </p:cNvSpPr>
              <p:nvPr/>
            </p:nvSpPr>
            <p:spPr bwMode="auto">
              <a:xfrm flipV="1">
                <a:off x="3091" y="1952"/>
                <a:ext cx="13"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 name="Line 229"/>
              <p:cNvSpPr>
                <a:spLocks noChangeShapeType="1"/>
              </p:cNvSpPr>
              <p:nvPr/>
            </p:nvSpPr>
            <p:spPr bwMode="auto">
              <a:xfrm flipV="1">
                <a:off x="3104" y="1946"/>
                <a:ext cx="13"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 name="Line 230"/>
              <p:cNvSpPr>
                <a:spLocks noChangeShapeType="1"/>
              </p:cNvSpPr>
              <p:nvPr/>
            </p:nvSpPr>
            <p:spPr bwMode="auto">
              <a:xfrm flipV="1">
                <a:off x="3117" y="1937"/>
                <a:ext cx="12"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 name="Line 231"/>
              <p:cNvSpPr>
                <a:spLocks noChangeShapeType="1"/>
              </p:cNvSpPr>
              <p:nvPr/>
            </p:nvSpPr>
            <p:spPr bwMode="auto">
              <a:xfrm flipV="1">
                <a:off x="3129" y="1927"/>
                <a:ext cx="13"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 name="Line 232"/>
              <p:cNvSpPr>
                <a:spLocks noChangeShapeType="1"/>
              </p:cNvSpPr>
              <p:nvPr/>
            </p:nvSpPr>
            <p:spPr bwMode="auto">
              <a:xfrm flipV="1">
                <a:off x="3142" y="1916"/>
                <a:ext cx="15"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 name="Line 233"/>
              <p:cNvSpPr>
                <a:spLocks noChangeShapeType="1"/>
              </p:cNvSpPr>
              <p:nvPr/>
            </p:nvSpPr>
            <p:spPr bwMode="auto">
              <a:xfrm flipV="1">
                <a:off x="3157" y="1903"/>
                <a:ext cx="17"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4" name="Line 234"/>
              <p:cNvSpPr>
                <a:spLocks noChangeShapeType="1"/>
              </p:cNvSpPr>
              <p:nvPr/>
            </p:nvSpPr>
            <p:spPr bwMode="auto">
              <a:xfrm flipV="1">
                <a:off x="3174" y="1889"/>
                <a:ext cx="18"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 name="Freeform 235"/>
              <p:cNvSpPr>
                <a:spLocks/>
              </p:cNvSpPr>
              <p:nvPr/>
            </p:nvSpPr>
            <p:spPr bwMode="auto">
              <a:xfrm>
                <a:off x="3007" y="1792"/>
                <a:ext cx="32" cy="44"/>
              </a:xfrm>
              <a:custGeom>
                <a:avLst/>
                <a:gdLst>
                  <a:gd name="T0" fmla="*/ 15 w 32"/>
                  <a:gd name="T1" fmla="*/ 0 h 44"/>
                  <a:gd name="T2" fmla="*/ 32 w 32"/>
                  <a:gd name="T3" fmla="*/ 44 h 44"/>
                  <a:gd name="T4" fmla="*/ 0 w 32"/>
                  <a:gd name="T5" fmla="*/ 44 h 44"/>
                  <a:gd name="T6" fmla="*/ 15 w 32"/>
                  <a:gd name="T7" fmla="*/ 0 h 44"/>
                  <a:gd name="T8" fmla="*/ 0 60000 65536"/>
                  <a:gd name="T9" fmla="*/ 0 60000 65536"/>
                  <a:gd name="T10" fmla="*/ 0 60000 65536"/>
                  <a:gd name="T11" fmla="*/ 0 60000 65536"/>
                  <a:gd name="T12" fmla="*/ 0 w 32"/>
                  <a:gd name="T13" fmla="*/ 0 h 44"/>
                  <a:gd name="T14" fmla="*/ 32 w 32"/>
                  <a:gd name="T15" fmla="*/ 44 h 44"/>
                </a:gdLst>
                <a:ahLst/>
                <a:cxnLst>
                  <a:cxn ang="T8">
                    <a:pos x="T0" y="T1"/>
                  </a:cxn>
                  <a:cxn ang="T9">
                    <a:pos x="T2" y="T3"/>
                  </a:cxn>
                  <a:cxn ang="T10">
                    <a:pos x="T4" y="T5"/>
                  </a:cxn>
                  <a:cxn ang="T11">
                    <a:pos x="T6" y="T7"/>
                  </a:cxn>
                </a:cxnLst>
                <a:rect l="T12" t="T13" r="T14" b="T15"/>
                <a:pathLst>
                  <a:path w="32" h="44">
                    <a:moveTo>
                      <a:pt x="15" y="0"/>
                    </a:moveTo>
                    <a:lnTo>
                      <a:pt x="32" y="44"/>
                    </a:lnTo>
                    <a:lnTo>
                      <a:pt x="0" y="44"/>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6" name="Line 236"/>
              <p:cNvSpPr>
                <a:spLocks noChangeShapeType="1"/>
              </p:cNvSpPr>
              <p:nvPr/>
            </p:nvSpPr>
            <p:spPr bwMode="auto">
              <a:xfrm>
                <a:off x="3024" y="1836"/>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7" name="Freeform 237"/>
              <p:cNvSpPr>
                <a:spLocks/>
              </p:cNvSpPr>
              <p:nvPr/>
            </p:nvSpPr>
            <p:spPr bwMode="auto">
              <a:xfrm>
                <a:off x="3060" y="1874"/>
                <a:ext cx="33" cy="44"/>
              </a:xfrm>
              <a:custGeom>
                <a:avLst/>
                <a:gdLst>
                  <a:gd name="T0" fmla="*/ 16 w 33"/>
                  <a:gd name="T1" fmla="*/ 44 h 44"/>
                  <a:gd name="T2" fmla="*/ 0 w 33"/>
                  <a:gd name="T3" fmla="*/ 0 h 44"/>
                  <a:gd name="T4" fmla="*/ 33 w 33"/>
                  <a:gd name="T5" fmla="*/ 0 h 44"/>
                  <a:gd name="T6" fmla="*/ 16 w 33"/>
                  <a:gd name="T7" fmla="*/ 44 h 44"/>
                  <a:gd name="T8" fmla="*/ 0 60000 65536"/>
                  <a:gd name="T9" fmla="*/ 0 60000 65536"/>
                  <a:gd name="T10" fmla="*/ 0 60000 65536"/>
                  <a:gd name="T11" fmla="*/ 0 60000 65536"/>
                  <a:gd name="T12" fmla="*/ 0 w 33"/>
                  <a:gd name="T13" fmla="*/ 0 h 44"/>
                  <a:gd name="T14" fmla="*/ 33 w 33"/>
                  <a:gd name="T15" fmla="*/ 44 h 44"/>
                </a:gdLst>
                <a:ahLst/>
                <a:cxnLst>
                  <a:cxn ang="T8">
                    <a:pos x="T0" y="T1"/>
                  </a:cxn>
                  <a:cxn ang="T9">
                    <a:pos x="T2" y="T3"/>
                  </a:cxn>
                  <a:cxn ang="T10">
                    <a:pos x="T4" y="T5"/>
                  </a:cxn>
                  <a:cxn ang="T11">
                    <a:pos x="T6" y="T7"/>
                  </a:cxn>
                </a:cxnLst>
                <a:rect l="T12" t="T13" r="T14" b="T15"/>
                <a:pathLst>
                  <a:path w="33" h="44">
                    <a:moveTo>
                      <a:pt x="16" y="44"/>
                    </a:moveTo>
                    <a:lnTo>
                      <a:pt x="0" y="0"/>
                    </a:lnTo>
                    <a:lnTo>
                      <a:pt x="33" y="0"/>
                    </a:lnTo>
                    <a:lnTo>
                      <a:pt x="16"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8" name="Line 238"/>
              <p:cNvSpPr>
                <a:spLocks noChangeShapeType="1"/>
              </p:cNvSpPr>
              <p:nvPr/>
            </p:nvSpPr>
            <p:spPr bwMode="auto">
              <a:xfrm flipV="1">
                <a:off x="3078" y="1792"/>
                <a:ext cx="1"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 name="Freeform 239"/>
              <p:cNvSpPr>
                <a:spLocks/>
              </p:cNvSpPr>
              <p:nvPr/>
            </p:nvSpPr>
            <p:spPr bwMode="auto">
              <a:xfrm>
                <a:off x="2787" y="1827"/>
                <a:ext cx="89" cy="59"/>
              </a:xfrm>
              <a:custGeom>
                <a:avLst/>
                <a:gdLst>
                  <a:gd name="T0" fmla="*/ 85 w 89"/>
                  <a:gd name="T1" fmla="*/ 36 h 59"/>
                  <a:gd name="T2" fmla="*/ 89 w 89"/>
                  <a:gd name="T3" fmla="*/ 32 h 59"/>
                  <a:gd name="T4" fmla="*/ 89 w 89"/>
                  <a:gd name="T5" fmla="*/ 28 h 59"/>
                  <a:gd name="T6" fmla="*/ 89 w 89"/>
                  <a:gd name="T7" fmla="*/ 24 h 59"/>
                  <a:gd name="T8" fmla="*/ 83 w 89"/>
                  <a:gd name="T9" fmla="*/ 21 h 59"/>
                  <a:gd name="T10" fmla="*/ 72 w 89"/>
                  <a:gd name="T11" fmla="*/ 13 h 59"/>
                  <a:gd name="T12" fmla="*/ 61 w 89"/>
                  <a:gd name="T13" fmla="*/ 5 h 59"/>
                  <a:gd name="T14" fmla="*/ 47 w 89"/>
                  <a:gd name="T15" fmla="*/ 2 h 59"/>
                  <a:gd name="T16" fmla="*/ 36 w 89"/>
                  <a:gd name="T17" fmla="*/ 0 h 59"/>
                  <a:gd name="T18" fmla="*/ 24 w 89"/>
                  <a:gd name="T19" fmla="*/ 0 h 59"/>
                  <a:gd name="T20" fmla="*/ 17 w 89"/>
                  <a:gd name="T21" fmla="*/ 3 h 59"/>
                  <a:gd name="T22" fmla="*/ 9 w 89"/>
                  <a:gd name="T23" fmla="*/ 9 h 59"/>
                  <a:gd name="T24" fmla="*/ 4 w 89"/>
                  <a:gd name="T25" fmla="*/ 15 h 59"/>
                  <a:gd name="T26" fmla="*/ 2 w 89"/>
                  <a:gd name="T27" fmla="*/ 22 h 59"/>
                  <a:gd name="T28" fmla="*/ 0 w 89"/>
                  <a:gd name="T29" fmla="*/ 28 h 59"/>
                  <a:gd name="T30" fmla="*/ 2 w 89"/>
                  <a:gd name="T31" fmla="*/ 36 h 59"/>
                  <a:gd name="T32" fmla="*/ 4 w 89"/>
                  <a:gd name="T33" fmla="*/ 43 h 59"/>
                  <a:gd name="T34" fmla="*/ 9 w 89"/>
                  <a:gd name="T35" fmla="*/ 51 h 59"/>
                  <a:gd name="T36" fmla="*/ 17 w 89"/>
                  <a:gd name="T37" fmla="*/ 55 h 59"/>
                  <a:gd name="T38" fmla="*/ 26 w 89"/>
                  <a:gd name="T39" fmla="*/ 59 h 59"/>
                  <a:gd name="T40" fmla="*/ 38 w 89"/>
                  <a:gd name="T41" fmla="*/ 59 h 59"/>
                  <a:gd name="T42" fmla="*/ 47 w 89"/>
                  <a:gd name="T43" fmla="*/ 57 h 59"/>
                  <a:gd name="T44" fmla="*/ 61 w 89"/>
                  <a:gd name="T45" fmla="*/ 51 h 59"/>
                  <a:gd name="T46" fmla="*/ 74 w 89"/>
                  <a:gd name="T47" fmla="*/ 43 h 59"/>
                  <a:gd name="T48" fmla="*/ 85 w 89"/>
                  <a:gd name="T49" fmla="*/ 36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9"/>
                  <a:gd name="T76" fmla="*/ 0 h 59"/>
                  <a:gd name="T77" fmla="*/ 89 w 89"/>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9" h="59">
                    <a:moveTo>
                      <a:pt x="85" y="36"/>
                    </a:moveTo>
                    <a:lnTo>
                      <a:pt x="89" y="32"/>
                    </a:lnTo>
                    <a:lnTo>
                      <a:pt x="89" y="28"/>
                    </a:lnTo>
                    <a:lnTo>
                      <a:pt x="89" y="24"/>
                    </a:lnTo>
                    <a:lnTo>
                      <a:pt x="83" y="21"/>
                    </a:lnTo>
                    <a:lnTo>
                      <a:pt x="72" y="13"/>
                    </a:lnTo>
                    <a:lnTo>
                      <a:pt x="61" y="5"/>
                    </a:lnTo>
                    <a:lnTo>
                      <a:pt x="47" y="2"/>
                    </a:lnTo>
                    <a:lnTo>
                      <a:pt x="36" y="0"/>
                    </a:lnTo>
                    <a:lnTo>
                      <a:pt x="24" y="0"/>
                    </a:lnTo>
                    <a:lnTo>
                      <a:pt x="17" y="3"/>
                    </a:lnTo>
                    <a:lnTo>
                      <a:pt x="9" y="9"/>
                    </a:lnTo>
                    <a:lnTo>
                      <a:pt x="4" y="15"/>
                    </a:lnTo>
                    <a:lnTo>
                      <a:pt x="2" y="22"/>
                    </a:lnTo>
                    <a:lnTo>
                      <a:pt x="0" y="28"/>
                    </a:lnTo>
                    <a:lnTo>
                      <a:pt x="2" y="36"/>
                    </a:lnTo>
                    <a:lnTo>
                      <a:pt x="4" y="43"/>
                    </a:lnTo>
                    <a:lnTo>
                      <a:pt x="9" y="51"/>
                    </a:lnTo>
                    <a:lnTo>
                      <a:pt x="17" y="55"/>
                    </a:lnTo>
                    <a:lnTo>
                      <a:pt x="26" y="59"/>
                    </a:lnTo>
                    <a:lnTo>
                      <a:pt x="38" y="59"/>
                    </a:lnTo>
                    <a:lnTo>
                      <a:pt x="47" y="57"/>
                    </a:lnTo>
                    <a:lnTo>
                      <a:pt x="61" y="51"/>
                    </a:lnTo>
                    <a:lnTo>
                      <a:pt x="74" y="43"/>
                    </a:lnTo>
                    <a:lnTo>
                      <a:pt x="85" y="36"/>
                    </a:lnTo>
                    <a:close/>
                  </a:path>
                </a:pathLst>
              </a:custGeom>
              <a:solidFill>
                <a:srgbClr val="FFFF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20" name="Line 240"/>
              <p:cNvSpPr>
                <a:spLocks noChangeShapeType="1"/>
              </p:cNvSpPr>
              <p:nvPr/>
            </p:nvSpPr>
            <p:spPr bwMode="auto">
              <a:xfrm flipV="1">
                <a:off x="2874" y="1861"/>
                <a:ext cx="4"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1" name="Line 241"/>
              <p:cNvSpPr>
                <a:spLocks noChangeShapeType="1"/>
              </p:cNvSpPr>
              <p:nvPr/>
            </p:nvSpPr>
            <p:spPr bwMode="auto">
              <a:xfrm flipV="1">
                <a:off x="2878" y="1857"/>
                <a:ext cx="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2" name="Line 242"/>
              <p:cNvSpPr>
                <a:spLocks noChangeShapeType="1"/>
              </p:cNvSpPr>
              <p:nvPr/>
            </p:nvSpPr>
            <p:spPr bwMode="auto">
              <a:xfrm flipV="1">
                <a:off x="2878" y="1853"/>
                <a:ext cx="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3" name="Line 243"/>
              <p:cNvSpPr>
                <a:spLocks noChangeShapeType="1"/>
              </p:cNvSpPr>
              <p:nvPr/>
            </p:nvSpPr>
            <p:spPr bwMode="auto">
              <a:xfrm flipH="1" flipV="1">
                <a:off x="2872" y="1849"/>
                <a:ext cx="6"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4" name="Line 244"/>
              <p:cNvSpPr>
                <a:spLocks noChangeShapeType="1"/>
              </p:cNvSpPr>
              <p:nvPr/>
            </p:nvSpPr>
            <p:spPr bwMode="auto">
              <a:xfrm flipH="1" flipV="1">
                <a:off x="2861" y="1842"/>
                <a:ext cx="11"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5" name="Line 245"/>
              <p:cNvSpPr>
                <a:spLocks noChangeShapeType="1"/>
              </p:cNvSpPr>
              <p:nvPr/>
            </p:nvSpPr>
            <p:spPr bwMode="auto">
              <a:xfrm flipH="1" flipV="1">
                <a:off x="2849" y="1834"/>
                <a:ext cx="1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6" name="Line 246"/>
              <p:cNvSpPr>
                <a:spLocks noChangeShapeType="1"/>
              </p:cNvSpPr>
              <p:nvPr/>
            </p:nvSpPr>
            <p:spPr bwMode="auto">
              <a:xfrm flipH="1" flipV="1">
                <a:off x="2836" y="1830"/>
                <a:ext cx="1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7" name="Line 247"/>
              <p:cNvSpPr>
                <a:spLocks noChangeShapeType="1"/>
              </p:cNvSpPr>
              <p:nvPr/>
            </p:nvSpPr>
            <p:spPr bwMode="auto">
              <a:xfrm flipH="1" flipV="1">
                <a:off x="2825" y="1829"/>
                <a:ext cx="1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8" name="Line 248"/>
              <p:cNvSpPr>
                <a:spLocks noChangeShapeType="1"/>
              </p:cNvSpPr>
              <p:nvPr/>
            </p:nvSpPr>
            <p:spPr bwMode="auto">
              <a:xfrm flipH="1">
                <a:off x="2813" y="1829"/>
                <a:ext cx="12"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9" name="Line 249"/>
              <p:cNvSpPr>
                <a:spLocks noChangeShapeType="1"/>
              </p:cNvSpPr>
              <p:nvPr/>
            </p:nvSpPr>
            <p:spPr bwMode="auto">
              <a:xfrm flipH="1">
                <a:off x="2806" y="1829"/>
                <a:ext cx="7"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 name="Line 250"/>
              <p:cNvSpPr>
                <a:spLocks noChangeShapeType="1"/>
              </p:cNvSpPr>
              <p:nvPr/>
            </p:nvSpPr>
            <p:spPr bwMode="auto">
              <a:xfrm flipH="1">
                <a:off x="2798" y="1832"/>
                <a:ext cx="8"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 name="Line 251"/>
              <p:cNvSpPr>
                <a:spLocks noChangeShapeType="1"/>
              </p:cNvSpPr>
              <p:nvPr/>
            </p:nvSpPr>
            <p:spPr bwMode="auto">
              <a:xfrm flipH="1">
                <a:off x="2792" y="1838"/>
                <a:ext cx="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 name="Line 252"/>
              <p:cNvSpPr>
                <a:spLocks noChangeShapeType="1"/>
              </p:cNvSpPr>
              <p:nvPr/>
            </p:nvSpPr>
            <p:spPr bwMode="auto">
              <a:xfrm flipH="1">
                <a:off x="2791" y="1844"/>
                <a:ext cx="1"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 name="Line 253"/>
              <p:cNvSpPr>
                <a:spLocks noChangeShapeType="1"/>
              </p:cNvSpPr>
              <p:nvPr/>
            </p:nvSpPr>
            <p:spPr bwMode="auto">
              <a:xfrm flipH="1">
                <a:off x="2789" y="1851"/>
                <a:ext cx="2"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4" name="Line 254"/>
              <p:cNvSpPr>
                <a:spLocks noChangeShapeType="1"/>
              </p:cNvSpPr>
              <p:nvPr/>
            </p:nvSpPr>
            <p:spPr bwMode="auto">
              <a:xfrm>
                <a:off x="2789" y="1857"/>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5" name="Line 255"/>
              <p:cNvSpPr>
                <a:spLocks noChangeShapeType="1"/>
              </p:cNvSpPr>
              <p:nvPr/>
            </p:nvSpPr>
            <p:spPr bwMode="auto">
              <a:xfrm>
                <a:off x="2791" y="1865"/>
                <a:ext cx="1"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 name="Line 256"/>
              <p:cNvSpPr>
                <a:spLocks noChangeShapeType="1"/>
              </p:cNvSpPr>
              <p:nvPr/>
            </p:nvSpPr>
            <p:spPr bwMode="auto">
              <a:xfrm>
                <a:off x="2792" y="1872"/>
                <a:ext cx="6"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7" name="Line 257"/>
              <p:cNvSpPr>
                <a:spLocks noChangeShapeType="1"/>
              </p:cNvSpPr>
              <p:nvPr/>
            </p:nvSpPr>
            <p:spPr bwMode="auto">
              <a:xfrm>
                <a:off x="2798" y="1880"/>
                <a:ext cx="8"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8" name="Line 258"/>
              <p:cNvSpPr>
                <a:spLocks noChangeShapeType="1"/>
              </p:cNvSpPr>
              <p:nvPr/>
            </p:nvSpPr>
            <p:spPr bwMode="auto">
              <a:xfrm>
                <a:off x="2806" y="1884"/>
                <a:ext cx="9"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 name="Line 259"/>
              <p:cNvSpPr>
                <a:spLocks noChangeShapeType="1"/>
              </p:cNvSpPr>
              <p:nvPr/>
            </p:nvSpPr>
            <p:spPr bwMode="auto">
              <a:xfrm>
                <a:off x="2815" y="1887"/>
                <a:ext cx="12"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 name="Line 260"/>
              <p:cNvSpPr>
                <a:spLocks noChangeShapeType="1"/>
              </p:cNvSpPr>
              <p:nvPr/>
            </p:nvSpPr>
            <p:spPr bwMode="auto">
              <a:xfrm flipV="1">
                <a:off x="2827" y="1886"/>
                <a:ext cx="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 name="Line 261"/>
              <p:cNvSpPr>
                <a:spLocks noChangeShapeType="1"/>
              </p:cNvSpPr>
              <p:nvPr/>
            </p:nvSpPr>
            <p:spPr bwMode="auto">
              <a:xfrm flipV="1">
                <a:off x="2836" y="1880"/>
                <a:ext cx="13"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2" name="Line 262"/>
              <p:cNvSpPr>
                <a:spLocks noChangeShapeType="1"/>
              </p:cNvSpPr>
              <p:nvPr/>
            </p:nvSpPr>
            <p:spPr bwMode="auto">
              <a:xfrm flipV="1">
                <a:off x="2849" y="1872"/>
                <a:ext cx="1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3" name="Line 263"/>
              <p:cNvSpPr>
                <a:spLocks noChangeShapeType="1"/>
              </p:cNvSpPr>
              <p:nvPr/>
            </p:nvSpPr>
            <p:spPr bwMode="auto">
              <a:xfrm flipV="1">
                <a:off x="2863" y="1865"/>
                <a:ext cx="11"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 name="Freeform 264"/>
              <p:cNvSpPr>
                <a:spLocks/>
              </p:cNvSpPr>
              <p:nvPr/>
            </p:nvSpPr>
            <p:spPr bwMode="auto">
              <a:xfrm>
                <a:off x="3212" y="1825"/>
                <a:ext cx="92" cy="61"/>
              </a:xfrm>
              <a:custGeom>
                <a:avLst/>
                <a:gdLst>
                  <a:gd name="T0" fmla="*/ 6 w 92"/>
                  <a:gd name="T1" fmla="*/ 38 h 61"/>
                  <a:gd name="T2" fmla="*/ 2 w 92"/>
                  <a:gd name="T3" fmla="*/ 34 h 61"/>
                  <a:gd name="T4" fmla="*/ 0 w 92"/>
                  <a:gd name="T5" fmla="*/ 30 h 61"/>
                  <a:gd name="T6" fmla="*/ 2 w 92"/>
                  <a:gd name="T7" fmla="*/ 26 h 61"/>
                  <a:gd name="T8" fmla="*/ 6 w 92"/>
                  <a:gd name="T9" fmla="*/ 23 h 61"/>
                  <a:gd name="T10" fmla="*/ 18 w 92"/>
                  <a:gd name="T11" fmla="*/ 15 h 61"/>
                  <a:gd name="T12" fmla="*/ 31 w 92"/>
                  <a:gd name="T13" fmla="*/ 7 h 61"/>
                  <a:gd name="T14" fmla="*/ 42 w 92"/>
                  <a:gd name="T15" fmla="*/ 2 h 61"/>
                  <a:gd name="T16" fmla="*/ 56 w 92"/>
                  <a:gd name="T17" fmla="*/ 0 h 61"/>
                  <a:gd name="T18" fmla="*/ 65 w 92"/>
                  <a:gd name="T19" fmla="*/ 2 h 61"/>
                  <a:gd name="T20" fmla="*/ 75 w 92"/>
                  <a:gd name="T21" fmla="*/ 4 h 61"/>
                  <a:gd name="T22" fmla="*/ 82 w 92"/>
                  <a:gd name="T23" fmla="*/ 9 h 61"/>
                  <a:gd name="T24" fmla="*/ 86 w 92"/>
                  <a:gd name="T25" fmla="*/ 17 h 61"/>
                  <a:gd name="T26" fmla="*/ 90 w 92"/>
                  <a:gd name="T27" fmla="*/ 23 h 61"/>
                  <a:gd name="T28" fmla="*/ 92 w 92"/>
                  <a:gd name="T29" fmla="*/ 30 h 61"/>
                  <a:gd name="T30" fmla="*/ 90 w 92"/>
                  <a:gd name="T31" fmla="*/ 36 h 61"/>
                  <a:gd name="T32" fmla="*/ 86 w 92"/>
                  <a:gd name="T33" fmla="*/ 45 h 61"/>
                  <a:gd name="T34" fmla="*/ 80 w 92"/>
                  <a:gd name="T35" fmla="*/ 53 h 61"/>
                  <a:gd name="T36" fmla="*/ 73 w 92"/>
                  <a:gd name="T37" fmla="*/ 57 h 61"/>
                  <a:gd name="T38" fmla="*/ 63 w 92"/>
                  <a:gd name="T39" fmla="*/ 61 h 61"/>
                  <a:gd name="T40" fmla="*/ 54 w 92"/>
                  <a:gd name="T41" fmla="*/ 61 h 61"/>
                  <a:gd name="T42" fmla="*/ 42 w 92"/>
                  <a:gd name="T43" fmla="*/ 57 h 61"/>
                  <a:gd name="T44" fmla="*/ 29 w 92"/>
                  <a:gd name="T45" fmla="*/ 53 h 61"/>
                  <a:gd name="T46" fmla="*/ 18 w 92"/>
                  <a:gd name="T47" fmla="*/ 45 h 61"/>
                  <a:gd name="T48" fmla="*/ 6 w 92"/>
                  <a:gd name="T49" fmla="*/ 38 h 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2"/>
                  <a:gd name="T76" fmla="*/ 0 h 61"/>
                  <a:gd name="T77" fmla="*/ 92 w 92"/>
                  <a:gd name="T78" fmla="*/ 61 h 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2" h="61">
                    <a:moveTo>
                      <a:pt x="6" y="38"/>
                    </a:moveTo>
                    <a:lnTo>
                      <a:pt x="2" y="34"/>
                    </a:lnTo>
                    <a:lnTo>
                      <a:pt x="0" y="30"/>
                    </a:lnTo>
                    <a:lnTo>
                      <a:pt x="2" y="26"/>
                    </a:lnTo>
                    <a:lnTo>
                      <a:pt x="6" y="23"/>
                    </a:lnTo>
                    <a:lnTo>
                      <a:pt x="18" y="15"/>
                    </a:lnTo>
                    <a:lnTo>
                      <a:pt x="31" y="7"/>
                    </a:lnTo>
                    <a:lnTo>
                      <a:pt x="42" y="2"/>
                    </a:lnTo>
                    <a:lnTo>
                      <a:pt x="56" y="0"/>
                    </a:lnTo>
                    <a:lnTo>
                      <a:pt x="65" y="2"/>
                    </a:lnTo>
                    <a:lnTo>
                      <a:pt x="75" y="4"/>
                    </a:lnTo>
                    <a:lnTo>
                      <a:pt x="82" y="9"/>
                    </a:lnTo>
                    <a:lnTo>
                      <a:pt x="86" y="17"/>
                    </a:lnTo>
                    <a:lnTo>
                      <a:pt x="90" y="23"/>
                    </a:lnTo>
                    <a:lnTo>
                      <a:pt x="92" y="30"/>
                    </a:lnTo>
                    <a:lnTo>
                      <a:pt x="90" y="36"/>
                    </a:lnTo>
                    <a:lnTo>
                      <a:pt x="86" y="45"/>
                    </a:lnTo>
                    <a:lnTo>
                      <a:pt x="80" y="53"/>
                    </a:lnTo>
                    <a:lnTo>
                      <a:pt x="73" y="57"/>
                    </a:lnTo>
                    <a:lnTo>
                      <a:pt x="63" y="61"/>
                    </a:lnTo>
                    <a:lnTo>
                      <a:pt x="54" y="61"/>
                    </a:lnTo>
                    <a:lnTo>
                      <a:pt x="42" y="57"/>
                    </a:lnTo>
                    <a:lnTo>
                      <a:pt x="29" y="53"/>
                    </a:lnTo>
                    <a:lnTo>
                      <a:pt x="18" y="45"/>
                    </a:lnTo>
                    <a:lnTo>
                      <a:pt x="6" y="38"/>
                    </a:lnTo>
                    <a:close/>
                  </a:path>
                </a:pathLst>
              </a:custGeom>
              <a:solidFill>
                <a:srgbClr val="FFFF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45" name="Line 265"/>
              <p:cNvSpPr>
                <a:spLocks noChangeShapeType="1"/>
              </p:cNvSpPr>
              <p:nvPr/>
            </p:nvSpPr>
            <p:spPr bwMode="auto">
              <a:xfrm flipH="1" flipV="1">
                <a:off x="3216" y="1861"/>
                <a:ext cx="4"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 name="Line 266"/>
              <p:cNvSpPr>
                <a:spLocks noChangeShapeType="1"/>
              </p:cNvSpPr>
              <p:nvPr/>
            </p:nvSpPr>
            <p:spPr bwMode="auto">
              <a:xfrm flipH="1" flipV="1">
                <a:off x="3214" y="1857"/>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7" name="Line 267"/>
              <p:cNvSpPr>
                <a:spLocks noChangeShapeType="1"/>
              </p:cNvSpPr>
              <p:nvPr/>
            </p:nvSpPr>
            <p:spPr bwMode="auto">
              <a:xfrm flipV="1">
                <a:off x="3214" y="1853"/>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8" name="Line 268"/>
              <p:cNvSpPr>
                <a:spLocks noChangeShapeType="1"/>
              </p:cNvSpPr>
              <p:nvPr/>
            </p:nvSpPr>
            <p:spPr bwMode="auto">
              <a:xfrm flipV="1">
                <a:off x="3216" y="1849"/>
                <a:ext cx="4"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 name="Line 269"/>
              <p:cNvSpPr>
                <a:spLocks noChangeShapeType="1"/>
              </p:cNvSpPr>
              <p:nvPr/>
            </p:nvSpPr>
            <p:spPr bwMode="auto">
              <a:xfrm flipV="1">
                <a:off x="3220" y="1842"/>
                <a:ext cx="11"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 name="Line 270"/>
              <p:cNvSpPr>
                <a:spLocks noChangeShapeType="1"/>
              </p:cNvSpPr>
              <p:nvPr/>
            </p:nvSpPr>
            <p:spPr bwMode="auto">
              <a:xfrm flipV="1">
                <a:off x="3231" y="1834"/>
                <a:ext cx="1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 name="Line 271"/>
              <p:cNvSpPr>
                <a:spLocks noChangeShapeType="1"/>
              </p:cNvSpPr>
              <p:nvPr/>
            </p:nvSpPr>
            <p:spPr bwMode="auto">
              <a:xfrm flipV="1">
                <a:off x="3245" y="1829"/>
                <a:ext cx="11"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2" name="Line 272"/>
              <p:cNvSpPr>
                <a:spLocks noChangeShapeType="1"/>
              </p:cNvSpPr>
              <p:nvPr/>
            </p:nvSpPr>
            <p:spPr bwMode="auto">
              <a:xfrm flipV="1">
                <a:off x="3256" y="1827"/>
                <a:ext cx="13"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3" name="Line 273"/>
              <p:cNvSpPr>
                <a:spLocks noChangeShapeType="1"/>
              </p:cNvSpPr>
              <p:nvPr/>
            </p:nvSpPr>
            <p:spPr bwMode="auto">
              <a:xfrm>
                <a:off x="3269" y="1827"/>
                <a:ext cx="10"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4" name="Line 274"/>
              <p:cNvSpPr>
                <a:spLocks noChangeShapeType="1"/>
              </p:cNvSpPr>
              <p:nvPr/>
            </p:nvSpPr>
            <p:spPr bwMode="auto">
              <a:xfrm>
                <a:off x="3279" y="1829"/>
                <a:ext cx="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5" name="Line 275"/>
              <p:cNvSpPr>
                <a:spLocks noChangeShapeType="1"/>
              </p:cNvSpPr>
              <p:nvPr/>
            </p:nvSpPr>
            <p:spPr bwMode="auto">
              <a:xfrm>
                <a:off x="3288" y="1830"/>
                <a:ext cx="8"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6" name="Line 276"/>
              <p:cNvSpPr>
                <a:spLocks noChangeShapeType="1"/>
              </p:cNvSpPr>
              <p:nvPr/>
            </p:nvSpPr>
            <p:spPr bwMode="auto">
              <a:xfrm>
                <a:off x="3296" y="1836"/>
                <a:ext cx="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7" name="Line 277"/>
              <p:cNvSpPr>
                <a:spLocks noChangeShapeType="1"/>
              </p:cNvSpPr>
              <p:nvPr/>
            </p:nvSpPr>
            <p:spPr bwMode="auto">
              <a:xfrm>
                <a:off x="3300" y="1844"/>
                <a:ext cx="4"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8" name="Line 278"/>
              <p:cNvSpPr>
                <a:spLocks noChangeShapeType="1"/>
              </p:cNvSpPr>
              <p:nvPr/>
            </p:nvSpPr>
            <p:spPr bwMode="auto">
              <a:xfrm>
                <a:off x="3304" y="1849"/>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9" name="Line 279"/>
              <p:cNvSpPr>
                <a:spLocks noChangeShapeType="1"/>
              </p:cNvSpPr>
              <p:nvPr/>
            </p:nvSpPr>
            <p:spPr bwMode="auto">
              <a:xfrm flipH="1">
                <a:off x="3304" y="1857"/>
                <a:ext cx="2"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 name="Line 280"/>
              <p:cNvSpPr>
                <a:spLocks noChangeShapeType="1"/>
              </p:cNvSpPr>
              <p:nvPr/>
            </p:nvSpPr>
            <p:spPr bwMode="auto">
              <a:xfrm flipH="1">
                <a:off x="3300" y="1863"/>
                <a:ext cx="4"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 name="Line 281"/>
              <p:cNvSpPr>
                <a:spLocks noChangeShapeType="1"/>
              </p:cNvSpPr>
              <p:nvPr/>
            </p:nvSpPr>
            <p:spPr bwMode="auto">
              <a:xfrm flipH="1">
                <a:off x="3294" y="1872"/>
                <a:ext cx="6"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 name="Line 282"/>
              <p:cNvSpPr>
                <a:spLocks noChangeShapeType="1"/>
              </p:cNvSpPr>
              <p:nvPr/>
            </p:nvSpPr>
            <p:spPr bwMode="auto">
              <a:xfrm flipH="1">
                <a:off x="3287" y="1880"/>
                <a:ext cx="7"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 name="Line 283"/>
              <p:cNvSpPr>
                <a:spLocks noChangeShapeType="1"/>
              </p:cNvSpPr>
              <p:nvPr/>
            </p:nvSpPr>
            <p:spPr bwMode="auto">
              <a:xfrm flipH="1">
                <a:off x="3277" y="1884"/>
                <a:ext cx="10"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 name="Line 284"/>
              <p:cNvSpPr>
                <a:spLocks noChangeShapeType="1"/>
              </p:cNvSpPr>
              <p:nvPr/>
            </p:nvSpPr>
            <p:spPr bwMode="auto">
              <a:xfrm flipH="1">
                <a:off x="3268" y="1887"/>
                <a:ext cx="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 name="Line 285"/>
              <p:cNvSpPr>
                <a:spLocks noChangeShapeType="1"/>
              </p:cNvSpPr>
              <p:nvPr/>
            </p:nvSpPr>
            <p:spPr bwMode="auto">
              <a:xfrm flipH="1" flipV="1">
                <a:off x="3256" y="1884"/>
                <a:ext cx="12"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6" name="Line 286"/>
              <p:cNvSpPr>
                <a:spLocks noChangeShapeType="1"/>
              </p:cNvSpPr>
              <p:nvPr/>
            </p:nvSpPr>
            <p:spPr bwMode="auto">
              <a:xfrm flipH="1" flipV="1">
                <a:off x="3243" y="1880"/>
                <a:ext cx="1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7" name="Line 287"/>
              <p:cNvSpPr>
                <a:spLocks noChangeShapeType="1"/>
              </p:cNvSpPr>
              <p:nvPr/>
            </p:nvSpPr>
            <p:spPr bwMode="auto">
              <a:xfrm flipH="1" flipV="1">
                <a:off x="3231" y="1872"/>
                <a:ext cx="1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8" name="Line 288"/>
              <p:cNvSpPr>
                <a:spLocks noChangeShapeType="1"/>
              </p:cNvSpPr>
              <p:nvPr/>
            </p:nvSpPr>
            <p:spPr bwMode="auto">
              <a:xfrm flipH="1" flipV="1">
                <a:off x="3220" y="1865"/>
                <a:ext cx="11"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9" name="Oval 289"/>
              <p:cNvSpPr>
                <a:spLocks noChangeArrowheads="1"/>
              </p:cNvSpPr>
              <p:nvPr/>
            </p:nvSpPr>
            <p:spPr bwMode="auto">
              <a:xfrm>
                <a:off x="2863" y="1842"/>
                <a:ext cx="28" cy="36"/>
              </a:xfrm>
              <a:prstGeom prst="ellipse">
                <a:avLst/>
              </a:prstGeom>
              <a:solidFill>
                <a:srgbClr val="000000"/>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70" name="Oval 290"/>
              <p:cNvSpPr>
                <a:spLocks noChangeArrowheads="1"/>
              </p:cNvSpPr>
              <p:nvPr/>
            </p:nvSpPr>
            <p:spPr bwMode="auto">
              <a:xfrm>
                <a:off x="3197" y="1842"/>
                <a:ext cx="29" cy="36"/>
              </a:xfrm>
              <a:prstGeom prst="ellipse">
                <a:avLst/>
              </a:prstGeom>
              <a:solidFill>
                <a:srgbClr val="000000"/>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71" name="Rectangle 291"/>
              <p:cNvSpPr>
                <a:spLocks noChangeArrowheads="1"/>
              </p:cNvSpPr>
              <p:nvPr/>
            </p:nvSpPr>
            <p:spPr bwMode="auto">
              <a:xfrm>
                <a:off x="2823" y="803"/>
                <a:ext cx="4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Symbol" panose="05050102010706020507" pitchFamily="18" charset="2"/>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472" name="Rectangle 292"/>
              <p:cNvSpPr>
                <a:spLocks noChangeArrowheads="1"/>
              </p:cNvSpPr>
              <p:nvPr/>
            </p:nvSpPr>
            <p:spPr bwMode="auto">
              <a:xfrm>
                <a:off x="2878" y="875"/>
                <a:ext cx="35"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i="1">
                    <a:solidFill>
                      <a:srgbClr val="000000"/>
                    </a:solidFill>
                    <a:latin typeface="Times New Roman" panose="02020603050405020304" pitchFamily="18" charset="0"/>
                    <a:ea typeface="宋体" panose="02010600030101010101" pitchFamily="2" charset="-122"/>
                  </a:rPr>
                  <a:t>A</a:t>
                </a:r>
                <a:endParaRPr lang="en-US" altLang="zh-CN" sz="2400" b="1">
                  <a:latin typeface="Times" panose="02020603050405020304" pitchFamily="18" charset="0"/>
                  <a:ea typeface="宋体" panose="02010600030101010101" pitchFamily="2" charset="-122"/>
                </a:endParaRPr>
              </a:p>
            </p:txBody>
          </p:sp>
          <p:sp>
            <p:nvSpPr>
              <p:cNvPr id="473" name="Rectangle 293"/>
              <p:cNvSpPr>
                <a:spLocks noChangeArrowheads="1"/>
              </p:cNvSpPr>
              <p:nvPr/>
            </p:nvSpPr>
            <p:spPr bwMode="auto">
              <a:xfrm>
                <a:off x="2929" y="383"/>
                <a:ext cx="48"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Symbol" panose="05050102010706020507" pitchFamily="18" charset="2"/>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474" name="Rectangle 294"/>
              <p:cNvSpPr>
                <a:spLocks noChangeArrowheads="1"/>
              </p:cNvSpPr>
              <p:nvPr/>
            </p:nvSpPr>
            <p:spPr bwMode="auto">
              <a:xfrm>
                <a:off x="2984" y="455"/>
                <a:ext cx="35"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i="1">
                    <a:solidFill>
                      <a:srgbClr val="000000"/>
                    </a:solidFill>
                    <a:latin typeface="Times New Roman" panose="02020603050405020304" pitchFamily="18" charset="0"/>
                    <a:ea typeface="宋体" panose="02010600030101010101" pitchFamily="2" charset="-122"/>
                  </a:rPr>
                  <a:t>A</a:t>
                </a:r>
                <a:endParaRPr lang="en-US" altLang="zh-CN" sz="2400" b="1">
                  <a:latin typeface="Times" panose="02020603050405020304" pitchFamily="18" charset="0"/>
                  <a:ea typeface="宋体" panose="02010600030101010101" pitchFamily="2" charset="-122"/>
                </a:endParaRPr>
              </a:p>
            </p:txBody>
          </p:sp>
          <p:sp>
            <p:nvSpPr>
              <p:cNvPr id="475" name="Rectangle 295"/>
              <p:cNvSpPr>
                <a:spLocks noChangeArrowheads="1"/>
              </p:cNvSpPr>
              <p:nvPr/>
            </p:nvSpPr>
            <p:spPr bwMode="auto">
              <a:xfrm>
                <a:off x="2234" y="472"/>
                <a:ext cx="4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Symbol" panose="05050102010706020507" pitchFamily="18" charset="2"/>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476" name="Rectangle 296"/>
              <p:cNvSpPr>
                <a:spLocks noChangeArrowheads="1"/>
              </p:cNvSpPr>
              <p:nvPr/>
            </p:nvSpPr>
            <p:spPr bwMode="auto">
              <a:xfrm>
                <a:off x="2294" y="546"/>
                <a:ext cx="2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a:solidFill>
                      <a:srgbClr val="000000"/>
                    </a:solidFill>
                    <a:latin typeface="Times New Roman" panose="02020603050405020304" pitchFamily="18" charset="0"/>
                    <a:ea typeface="宋体" panose="02010600030101010101" pitchFamily="2" charset="-122"/>
                  </a:rPr>
                  <a:t>h</a:t>
                </a:r>
                <a:endParaRPr lang="en-US" altLang="zh-CN" sz="2400" b="1">
                  <a:latin typeface="Times" panose="02020603050405020304" pitchFamily="18" charset="0"/>
                  <a:ea typeface="宋体" panose="02010600030101010101" pitchFamily="2" charset="-122"/>
                </a:endParaRPr>
              </a:p>
            </p:txBody>
          </p:sp>
          <p:sp>
            <p:nvSpPr>
              <p:cNvPr id="477" name="Rectangle 297"/>
              <p:cNvSpPr>
                <a:spLocks noChangeArrowheads="1"/>
              </p:cNvSpPr>
              <p:nvPr/>
            </p:nvSpPr>
            <p:spPr bwMode="auto">
              <a:xfrm>
                <a:off x="2323" y="546"/>
                <a:ext cx="26"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a:solidFill>
                      <a:srgbClr val="000000"/>
                    </a:solidFill>
                    <a:latin typeface="Times New Roman" panose="02020603050405020304" pitchFamily="18" charset="0"/>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478" name="Rectangle 298"/>
              <p:cNvSpPr>
                <a:spLocks noChangeArrowheads="1"/>
              </p:cNvSpPr>
              <p:nvPr/>
            </p:nvSpPr>
            <p:spPr bwMode="auto">
              <a:xfrm>
                <a:off x="2350" y="546"/>
                <a:ext cx="2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a:solidFill>
                      <a:srgbClr val="000000"/>
                    </a:solidFill>
                    <a:latin typeface="Times New Roman" panose="02020603050405020304" pitchFamily="18" charset="0"/>
                    <a:ea typeface="宋体" panose="02010600030101010101" pitchFamily="2" charset="-122"/>
                  </a:rPr>
                  <a:t>b</a:t>
                </a:r>
                <a:endParaRPr lang="en-US" altLang="zh-CN" sz="2400" b="1">
                  <a:latin typeface="Times" panose="02020603050405020304" pitchFamily="18" charset="0"/>
                  <a:ea typeface="宋体" panose="02010600030101010101" pitchFamily="2" charset="-122"/>
                </a:endParaRPr>
              </a:p>
            </p:txBody>
          </p:sp>
          <p:sp>
            <p:nvSpPr>
              <p:cNvPr id="479" name="Rectangle 299"/>
              <p:cNvSpPr>
                <a:spLocks noChangeArrowheads="1"/>
              </p:cNvSpPr>
              <p:nvPr/>
            </p:nvSpPr>
            <p:spPr bwMode="auto">
              <a:xfrm>
                <a:off x="3682"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C</a:t>
                </a:r>
                <a:endParaRPr lang="en-US" altLang="zh-CN" sz="2400" b="1">
                  <a:latin typeface="Times" panose="02020603050405020304" pitchFamily="18" charset="0"/>
                  <a:ea typeface="宋体" panose="02010600030101010101" pitchFamily="2" charset="-122"/>
                </a:endParaRPr>
              </a:p>
            </p:txBody>
          </p:sp>
          <p:sp>
            <p:nvSpPr>
              <p:cNvPr id="480" name="Rectangle 300"/>
              <p:cNvSpPr>
                <a:spLocks noChangeArrowheads="1"/>
              </p:cNvSpPr>
              <p:nvPr/>
            </p:nvSpPr>
            <p:spPr bwMode="auto">
              <a:xfrm>
                <a:off x="3732" y="468"/>
                <a:ext cx="50"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O</a:t>
                </a:r>
                <a:endParaRPr lang="en-US" altLang="zh-CN" sz="2400" b="1">
                  <a:latin typeface="Times" panose="02020603050405020304" pitchFamily="18" charset="0"/>
                  <a:ea typeface="宋体" panose="02010600030101010101" pitchFamily="2" charset="-122"/>
                </a:endParaRPr>
              </a:p>
            </p:txBody>
          </p:sp>
          <p:sp>
            <p:nvSpPr>
              <p:cNvPr id="481" name="Rectangle 301"/>
              <p:cNvSpPr>
                <a:spLocks noChangeArrowheads="1"/>
              </p:cNvSpPr>
              <p:nvPr/>
            </p:nvSpPr>
            <p:spPr bwMode="auto">
              <a:xfrm>
                <a:off x="3788"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N</a:t>
                </a:r>
                <a:endParaRPr lang="en-US" altLang="zh-CN" sz="2400" b="1">
                  <a:latin typeface="Times" panose="02020603050405020304" pitchFamily="18" charset="0"/>
                  <a:ea typeface="宋体" panose="02010600030101010101" pitchFamily="2" charset="-122"/>
                </a:endParaRPr>
              </a:p>
            </p:txBody>
          </p:sp>
          <p:sp>
            <p:nvSpPr>
              <p:cNvPr id="482" name="Rectangle 302"/>
              <p:cNvSpPr>
                <a:spLocks noChangeArrowheads="1"/>
              </p:cNvSpPr>
              <p:nvPr/>
            </p:nvSpPr>
            <p:spPr bwMode="auto">
              <a:xfrm>
                <a:off x="3843"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D</a:t>
                </a:r>
                <a:endParaRPr lang="en-US" altLang="zh-CN" sz="2400" b="1">
                  <a:latin typeface="Times" panose="02020603050405020304" pitchFamily="18" charset="0"/>
                  <a:ea typeface="宋体" panose="02010600030101010101" pitchFamily="2" charset="-122"/>
                </a:endParaRPr>
              </a:p>
            </p:txBody>
          </p:sp>
          <p:sp>
            <p:nvSpPr>
              <p:cNvPr id="483" name="Rectangle 303"/>
              <p:cNvSpPr>
                <a:spLocks noChangeArrowheads="1"/>
              </p:cNvSpPr>
              <p:nvPr/>
            </p:nvSpPr>
            <p:spPr bwMode="auto">
              <a:xfrm>
                <a:off x="3898"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U</a:t>
                </a:r>
                <a:endParaRPr lang="en-US" altLang="zh-CN" sz="2400" b="1">
                  <a:latin typeface="Times" panose="02020603050405020304" pitchFamily="18" charset="0"/>
                  <a:ea typeface="宋体" panose="02010600030101010101" pitchFamily="2" charset="-122"/>
                </a:endParaRPr>
              </a:p>
            </p:txBody>
          </p:sp>
          <p:sp>
            <p:nvSpPr>
              <p:cNvPr id="484" name="Rectangle 304"/>
              <p:cNvSpPr>
                <a:spLocks noChangeArrowheads="1"/>
              </p:cNvSpPr>
              <p:nvPr/>
            </p:nvSpPr>
            <p:spPr bwMode="auto">
              <a:xfrm>
                <a:off x="3954"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C</a:t>
                </a:r>
                <a:endParaRPr lang="en-US" altLang="zh-CN" sz="2400" b="1">
                  <a:latin typeface="Times" panose="02020603050405020304" pitchFamily="18" charset="0"/>
                  <a:ea typeface="宋体" panose="02010600030101010101" pitchFamily="2" charset="-122"/>
                </a:endParaRPr>
              </a:p>
            </p:txBody>
          </p:sp>
          <p:sp>
            <p:nvSpPr>
              <p:cNvPr id="485" name="Rectangle 305"/>
              <p:cNvSpPr>
                <a:spLocks noChangeArrowheads="1"/>
              </p:cNvSpPr>
              <p:nvPr/>
            </p:nvSpPr>
            <p:spPr bwMode="auto">
              <a:xfrm>
                <a:off x="4005" y="468"/>
                <a:ext cx="43"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T</a:t>
                </a:r>
                <a:endParaRPr lang="en-US" altLang="zh-CN" sz="2400" b="1">
                  <a:latin typeface="Times" panose="02020603050405020304" pitchFamily="18" charset="0"/>
                  <a:ea typeface="宋体" panose="02010600030101010101" pitchFamily="2" charset="-122"/>
                </a:endParaRPr>
              </a:p>
            </p:txBody>
          </p:sp>
          <p:sp>
            <p:nvSpPr>
              <p:cNvPr id="486" name="Rectangle 306"/>
              <p:cNvSpPr>
                <a:spLocks noChangeArrowheads="1"/>
              </p:cNvSpPr>
              <p:nvPr/>
            </p:nvSpPr>
            <p:spPr bwMode="auto">
              <a:xfrm>
                <a:off x="4052" y="468"/>
                <a:ext cx="25"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I</a:t>
                </a:r>
                <a:endParaRPr lang="en-US" altLang="zh-CN" sz="2400" b="1">
                  <a:latin typeface="Times" panose="02020603050405020304" pitchFamily="18" charset="0"/>
                  <a:ea typeface="宋体" panose="02010600030101010101" pitchFamily="2" charset="-122"/>
                </a:endParaRPr>
              </a:p>
            </p:txBody>
          </p:sp>
          <p:sp>
            <p:nvSpPr>
              <p:cNvPr id="487" name="Rectangle 307"/>
              <p:cNvSpPr>
                <a:spLocks noChangeArrowheads="1"/>
              </p:cNvSpPr>
              <p:nvPr/>
            </p:nvSpPr>
            <p:spPr bwMode="auto">
              <a:xfrm>
                <a:off x="4077" y="468"/>
                <a:ext cx="51"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O</a:t>
                </a:r>
                <a:endParaRPr lang="en-US" altLang="zh-CN" sz="2400" b="1">
                  <a:latin typeface="Times" panose="02020603050405020304" pitchFamily="18" charset="0"/>
                  <a:ea typeface="宋体" panose="02010600030101010101" pitchFamily="2" charset="-122"/>
                </a:endParaRPr>
              </a:p>
            </p:txBody>
          </p:sp>
          <p:sp>
            <p:nvSpPr>
              <p:cNvPr id="488" name="Rectangle 308"/>
              <p:cNvSpPr>
                <a:spLocks noChangeArrowheads="1"/>
              </p:cNvSpPr>
              <p:nvPr/>
            </p:nvSpPr>
            <p:spPr bwMode="auto">
              <a:xfrm>
                <a:off x="4132"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N</a:t>
                </a:r>
                <a:endParaRPr lang="en-US" altLang="zh-CN" sz="2400" b="1">
                  <a:latin typeface="Times" panose="02020603050405020304" pitchFamily="18" charset="0"/>
                  <a:ea typeface="宋体" panose="02010600030101010101" pitchFamily="2" charset="-122"/>
                </a:endParaRPr>
              </a:p>
            </p:txBody>
          </p:sp>
          <p:sp>
            <p:nvSpPr>
              <p:cNvPr id="489" name="Rectangle 309"/>
              <p:cNvSpPr>
                <a:spLocks noChangeArrowheads="1"/>
              </p:cNvSpPr>
              <p:nvPr/>
            </p:nvSpPr>
            <p:spPr bwMode="auto">
              <a:xfrm>
                <a:off x="4187" y="468"/>
                <a:ext cx="16"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000" b="1">
                    <a:solidFill>
                      <a:srgbClr val="000000"/>
                    </a:solidFill>
                    <a:latin typeface="Times New Roman" panose="02020603050405020304" pitchFamily="18" charset="0"/>
                    <a:ea typeface="宋体" panose="02010600030101010101" pitchFamily="2" charset="-122"/>
                  </a:rPr>
                  <a:t> </a:t>
                </a:r>
                <a:endParaRPr lang="zh-CN" altLang="en-US" sz="2400" b="1">
                  <a:latin typeface="Times" panose="02020603050405020304" pitchFamily="18" charset="0"/>
                  <a:ea typeface="宋体" panose="02010600030101010101" pitchFamily="2" charset="-122"/>
                </a:endParaRPr>
              </a:p>
            </p:txBody>
          </p:sp>
          <p:sp>
            <p:nvSpPr>
              <p:cNvPr id="490" name="Rectangle 310"/>
              <p:cNvSpPr>
                <a:spLocks noChangeArrowheads="1"/>
              </p:cNvSpPr>
              <p:nvPr/>
            </p:nvSpPr>
            <p:spPr bwMode="auto">
              <a:xfrm>
                <a:off x="4206" y="468"/>
                <a:ext cx="43"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B</a:t>
                </a:r>
                <a:endParaRPr lang="en-US" altLang="zh-CN" sz="2400" b="1">
                  <a:latin typeface="Times" panose="02020603050405020304" pitchFamily="18" charset="0"/>
                  <a:ea typeface="宋体" panose="02010600030101010101" pitchFamily="2" charset="-122"/>
                </a:endParaRPr>
              </a:p>
            </p:txBody>
          </p:sp>
          <p:sp>
            <p:nvSpPr>
              <p:cNvPr id="491" name="Rectangle 311"/>
              <p:cNvSpPr>
                <a:spLocks noChangeArrowheads="1"/>
              </p:cNvSpPr>
              <p:nvPr/>
            </p:nvSpPr>
            <p:spPr bwMode="auto">
              <a:xfrm>
                <a:off x="4258"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A</a:t>
                </a:r>
                <a:endParaRPr lang="en-US" altLang="zh-CN" sz="2400" b="1">
                  <a:latin typeface="Times" panose="02020603050405020304" pitchFamily="18" charset="0"/>
                  <a:ea typeface="宋体" panose="02010600030101010101" pitchFamily="2" charset="-122"/>
                </a:endParaRPr>
              </a:p>
            </p:txBody>
          </p:sp>
          <p:sp>
            <p:nvSpPr>
              <p:cNvPr id="492" name="Rectangle 312"/>
              <p:cNvSpPr>
                <a:spLocks noChangeArrowheads="1"/>
              </p:cNvSpPr>
              <p:nvPr/>
            </p:nvSpPr>
            <p:spPr bwMode="auto">
              <a:xfrm>
                <a:off x="4313"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N</a:t>
                </a:r>
                <a:endParaRPr lang="en-US" altLang="zh-CN" sz="2400" b="1">
                  <a:latin typeface="Times" panose="02020603050405020304" pitchFamily="18" charset="0"/>
                  <a:ea typeface="宋体" panose="02010600030101010101" pitchFamily="2" charset="-122"/>
                </a:endParaRPr>
              </a:p>
            </p:txBody>
          </p:sp>
          <p:sp>
            <p:nvSpPr>
              <p:cNvPr id="493" name="Rectangle 313"/>
              <p:cNvSpPr>
                <a:spLocks noChangeArrowheads="1"/>
              </p:cNvSpPr>
              <p:nvPr/>
            </p:nvSpPr>
            <p:spPr bwMode="auto">
              <a:xfrm>
                <a:off x="4367" y="468"/>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D</a:t>
                </a:r>
                <a:endParaRPr lang="en-US" altLang="zh-CN" sz="2400" b="1">
                  <a:latin typeface="Times" panose="02020603050405020304" pitchFamily="18" charset="0"/>
                  <a:ea typeface="宋体" panose="02010600030101010101" pitchFamily="2" charset="-122"/>
                </a:endParaRPr>
              </a:p>
            </p:txBody>
          </p:sp>
          <p:sp>
            <p:nvSpPr>
              <p:cNvPr id="494" name="Rectangle 314"/>
              <p:cNvSpPr>
                <a:spLocks noChangeArrowheads="1"/>
              </p:cNvSpPr>
              <p:nvPr/>
            </p:nvSpPr>
            <p:spPr bwMode="auto">
              <a:xfrm>
                <a:off x="3804" y="1882"/>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V</a:t>
                </a:r>
                <a:endParaRPr lang="en-US" altLang="zh-CN" sz="2400" b="1">
                  <a:latin typeface="Times" panose="02020603050405020304" pitchFamily="18" charset="0"/>
                  <a:ea typeface="宋体" panose="02010600030101010101" pitchFamily="2" charset="-122"/>
                </a:endParaRPr>
              </a:p>
            </p:txBody>
          </p:sp>
          <p:sp>
            <p:nvSpPr>
              <p:cNvPr id="495" name="Rectangle 315"/>
              <p:cNvSpPr>
                <a:spLocks noChangeArrowheads="1"/>
              </p:cNvSpPr>
              <p:nvPr/>
            </p:nvSpPr>
            <p:spPr bwMode="auto">
              <a:xfrm>
                <a:off x="3859" y="1882"/>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A</a:t>
                </a:r>
                <a:endParaRPr lang="en-US" altLang="zh-CN" sz="2400" b="1">
                  <a:latin typeface="Times" panose="02020603050405020304" pitchFamily="18" charset="0"/>
                  <a:ea typeface="宋体" panose="02010600030101010101" pitchFamily="2" charset="-122"/>
                </a:endParaRPr>
              </a:p>
            </p:txBody>
          </p:sp>
          <p:sp>
            <p:nvSpPr>
              <p:cNvPr id="496" name="Rectangle 316"/>
              <p:cNvSpPr>
                <a:spLocks noChangeArrowheads="1"/>
              </p:cNvSpPr>
              <p:nvPr/>
            </p:nvSpPr>
            <p:spPr bwMode="auto">
              <a:xfrm>
                <a:off x="3914" y="1882"/>
                <a:ext cx="42"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L</a:t>
                </a:r>
                <a:endParaRPr lang="en-US" altLang="zh-CN" sz="2400" b="1">
                  <a:latin typeface="Times" panose="02020603050405020304" pitchFamily="18" charset="0"/>
                  <a:ea typeface="宋体" panose="02010600030101010101" pitchFamily="2" charset="-122"/>
                </a:endParaRPr>
              </a:p>
            </p:txBody>
          </p:sp>
          <p:sp>
            <p:nvSpPr>
              <p:cNvPr id="497" name="Rectangle 317"/>
              <p:cNvSpPr>
                <a:spLocks noChangeArrowheads="1"/>
              </p:cNvSpPr>
              <p:nvPr/>
            </p:nvSpPr>
            <p:spPr bwMode="auto">
              <a:xfrm>
                <a:off x="3961" y="1882"/>
                <a:ext cx="43"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E</a:t>
                </a:r>
                <a:endParaRPr lang="en-US" altLang="zh-CN" sz="2400" b="1">
                  <a:latin typeface="Times" panose="02020603050405020304" pitchFamily="18" charset="0"/>
                  <a:ea typeface="宋体" panose="02010600030101010101" pitchFamily="2" charset="-122"/>
                </a:endParaRPr>
              </a:p>
            </p:txBody>
          </p:sp>
          <p:sp>
            <p:nvSpPr>
              <p:cNvPr id="498" name="Rectangle 318"/>
              <p:cNvSpPr>
                <a:spLocks noChangeArrowheads="1"/>
              </p:cNvSpPr>
              <p:nvPr/>
            </p:nvSpPr>
            <p:spPr bwMode="auto">
              <a:xfrm>
                <a:off x="4009" y="1882"/>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N</a:t>
                </a:r>
                <a:endParaRPr lang="en-US" altLang="zh-CN" sz="2400" b="1">
                  <a:latin typeface="Times" panose="02020603050405020304" pitchFamily="18" charset="0"/>
                  <a:ea typeface="宋体" panose="02010600030101010101" pitchFamily="2" charset="-122"/>
                </a:endParaRPr>
              </a:p>
            </p:txBody>
          </p:sp>
          <p:sp>
            <p:nvSpPr>
              <p:cNvPr id="499" name="Rectangle 319"/>
              <p:cNvSpPr>
                <a:spLocks noChangeArrowheads="1"/>
              </p:cNvSpPr>
              <p:nvPr/>
            </p:nvSpPr>
            <p:spPr bwMode="auto">
              <a:xfrm>
                <a:off x="4063" y="1882"/>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C</a:t>
                </a:r>
                <a:endParaRPr lang="en-US" altLang="zh-CN" sz="2400" b="1">
                  <a:latin typeface="Times" panose="02020603050405020304" pitchFamily="18" charset="0"/>
                  <a:ea typeface="宋体" panose="02010600030101010101" pitchFamily="2" charset="-122"/>
                </a:endParaRPr>
              </a:p>
            </p:txBody>
          </p:sp>
          <p:sp>
            <p:nvSpPr>
              <p:cNvPr id="500" name="Rectangle 320"/>
              <p:cNvSpPr>
                <a:spLocks noChangeArrowheads="1"/>
              </p:cNvSpPr>
              <p:nvPr/>
            </p:nvSpPr>
            <p:spPr bwMode="auto">
              <a:xfrm>
                <a:off x="4115" y="1882"/>
                <a:ext cx="42"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E</a:t>
                </a:r>
                <a:endParaRPr lang="en-US" altLang="zh-CN" sz="2400" b="1">
                  <a:latin typeface="Times" panose="02020603050405020304" pitchFamily="18" charset="0"/>
                  <a:ea typeface="宋体" panose="02010600030101010101" pitchFamily="2" charset="-122"/>
                </a:endParaRPr>
              </a:p>
            </p:txBody>
          </p:sp>
          <p:sp>
            <p:nvSpPr>
              <p:cNvPr id="501" name="Rectangle 321"/>
              <p:cNvSpPr>
                <a:spLocks noChangeArrowheads="1"/>
              </p:cNvSpPr>
              <p:nvPr/>
            </p:nvSpPr>
            <p:spPr bwMode="auto">
              <a:xfrm>
                <a:off x="4162" y="1882"/>
                <a:ext cx="17"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000" b="1">
                    <a:solidFill>
                      <a:srgbClr val="000000"/>
                    </a:solidFill>
                    <a:latin typeface="Times New Roman" panose="02020603050405020304" pitchFamily="18" charset="0"/>
                    <a:ea typeface="宋体" panose="02010600030101010101" pitchFamily="2" charset="-122"/>
                  </a:rPr>
                  <a:t> </a:t>
                </a:r>
                <a:endParaRPr lang="zh-CN" altLang="en-US" sz="2400" b="1">
                  <a:latin typeface="Times" panose="02020603050405020304" pitchFamily="18" charset="0"/>
                  <a:ea typeface="宋体" panose="02010600030101010101" pitchFamily="2" charset="-122"/>
                </a:endParaRPr>
              </a:p>
            </p:txBody>
          </p:sp>
          <p:sp>
            <p:nvSpPr>
              <p:cNvPr id="502" name="Rectangle 322"/>
              <p:cNvSpPr>
                <a:spLocks noChangeArrowheads="1"/>
              </p:cNvSpPr>
              <p:nvPr/>
            </p:nvSpPr>
            <p:spPr bwMode="auto">
              <a:xfrm>
                <a:off x="4182" y="1882"/>
                <a:ext cx="43"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B</a:t>
                </a:r>
                <a:endParaRPr lang="en-US" altLang="zh-CN" sz="2400" b="1">
                  <a:latin typeface="Times" panose="02020603050405020304" pitchFamily="18" charset="0"/>
                  <a:ea typeface="宋体" panose="02010600030101010101" pitchFamily="2" charset="-122"/>
                </a:endParaRPr>
              </a:p>
            </p:txBody>
          </p:sp>
          <p:sp>
            <p:nvSpPr>
              <p:cNvPr id="503" name="Rectangle 323"/>
              <p:cNvSpPr>
                <a:spLocks noChangeArrowheads="1"/>
              </p:cNvSpPr>
              <p:nvPr/>
            </p:nvSpPr>
            <p:spPr bwMode="auto">
              <a:xfrm>
                <a:off x="4233" y="1882"/>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A</a:t>
                </a:r>
                <a:endParaRPr lang="en-US" altLang="zh-CN" sz="2400" b="1">
                  <a:latin typeface="Times" panose="02020603050405020304" pitchFamily="18" charset="0"/>
                  <a:ea typeface="宋体" panose="02010600030101010101" pitchFamily="2" charset="-122"/>
                </a:endParaRPr>
              </a:p>
            </p:txBody>
          </p:sp>
          <p:sp>
            <p:nvSpPr>
              <p:cNvPr id="504" name="Rectangle 324"/>
              <p:cNvSpPr>
                <a:spLocks noChangeArrowheads="1"/>
              </p:cNvSpPr>
              <p:nvPr/>
            </p:nvSpPr>
            <p:spPr bwMode="auto">
              <a:xfrm>
                <a:off x="4287" y="1882"/>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N</a:t>
                </a:r>
                <a:endParaRPr lang="en-US" altLang="zh-CN" sz="2400" b="1">
                  <a:latin typeface="Times" panose="02020603050405020304" pitchFamily="18" charset="0"/>
                  <a:ea typeface="宋体" panose="02010600030101010101" pitchFamily="2" charset="-122"/>
                </a:endParaRPr>
              </a:p>
            </p:txBody>
          </p:sp>
          <p:sp>
            <p:nvSpPr>
              <p:cNvPr id="505" name="Rectangle 325"/>
              <p:cNvSpPr>
                <a:spLocks noChangeArrowheads="1"/>
              </p:cNvSpPr>
              <p:nvPr/>
            </p:nvSpPr>
            <p:spPr bwMode="auto">
              <a:xfrm>
                <a:off x="4341" y="1882"/>
                <a:ext cx="47"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000" b="1">
                    <a:solidFill>
                      <a:srgbClr val="000000"/>
                    </a:solidFill>
                    <a:latin typeface="Times New Roman" panose="02020603050405020304" pitchFamily="18" charset="0"/>
                    <a:ea typeface="宋体" panose="02010600030101010101" pitchFamily="2" charset="-122"/>
                  </a:rPr>
                  <a:t>D</a:t>
                </a:r>
                <a:endParaRPr lang="en-US" altLang="zh-CN" sz="2400" b="1">
                  <a:latin typeface="Times" panose="02020603050405020304" pitchFamily="18" charset="0"/>
                  <a:ea typeface="宋体" panose="02010600030101010101" pitchFamily="2" charset="-122"/>
                </a:endParaRPr>
              </a:p>
            </p:txBody>
          </p:sp>
          <p:sp>
            <p:nvSpPr>
              <p:cNvPr id="506" name="Freeform 326"/>
              <p:cNvSpPr>
                <a:spLocks/>
              </p:cNvSpPr>
              <p:nvPr/>
            </p:nvSpPr>
            <p:spPr bwMode="auto">
              <a:xfrm>
                <a:off x="4520" y="1357"/>
                <a:ext cx="30" cy="44"/>
              </a:xfrm>
              <a:custGeom>
                <a:avLst/>
                <a:gdLst>
                  <a:gd name="T0" fmla="*/ 15 w 30"/>
                  <a:gd name="T1" fmla="*/ 44 h 44"/>
                  <a:gd name="T2" fmla="*/ 0 w 30"/>
                  <a:gd name="T3" fmla="*/ 0 h 44"/>
                  <a:gd name="T4" fmla="*/ 15 w 30"/>
                  <a:gd name="T5" fmla="*/ 21 h 44"/>
                  <a:gd name="T6" fmla="*/ 30 w 30"/>
                  <a:gd name="T7" fmla="*/ 0 h 44"/>
                  <a:gd name="T8" fmla="*/ 15 w 30"/>
                  <a:gd name="T9" fmla="*/ 44 h 44"/>
                  <a:gd name="T10" fmla="*/ 0 60000 65536"/>
                  <a:gd name="T11" fmla="*/ 0 60000 65536"/>
                  <a:gd name="T12" fmla="*/ 0 60000 65536"/>
                  <a:gd name="T13" fmla="*/ 0 60000 65536"/>
                  <a:gd name="T14" fmla="*/ 0 60000 65536"/>
                  <a:gd name="T15" fmla="*/ 0 w 30"/>
                  <a:gd name="T16" fmla="*/ 0 h 44"/>
                  <a:gd name="T17" fmla="*/ 30 w 30"/>
                  <a:gd name="T18" fmla="*/ 44 h 44"/>
                </a:gdLst>
                <a:ahLst/>
                <a:cxnLst>
                  <a:cxn ang="T10">
                    <a:pos x="T0" y="T1"/>
                  </a:cxn>
                  <a:cxn ang="T11">
                    <a:pos x="T2" y="T3"/>
                  </a:cxn>
                  <a:cxn ang="T12">
                    <a:pos x="T4" y="T5"/>
                  </a:cxn>
                  <a:cxn ang="T13">
                    <a:pos x="T6" y="T7"/>
                  </a:cxn>
                  <a:cxn ang="T14">
                    <a:pos x="T8" y="T9"/>
                  </a:cxn>
                </a:cxnLst>
                <a:rect l="T15" t="T16" r="T17" b="T18"/>
                <a:pathLst>
                  <a:path w="30" h="44">
                    <a:moveTo>
                      <a:pt x="15" y="44"/>
                    </a:moveTo>
                    <a:lnTo>
                      <a:pt x="0" y="0"/>
                    </a:lnTo>
                    <a:lnTo>
                      <a:pt x="15" y="21"/>
                    </a:lnTo>
                    <a:lnTo>
                      <a:pt x="30" y="0"/>
                    </a:lnTo>
                    <a:lnTo>
                      <a:pt x="1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7" name="Freeform 327"/>
              <p:cNvSpPr>
                <a:spLocks/>
              </p:cNvSpPr>
              <p:nvPr/>
            </p:nvSpPr>
            <p:spPr bwMode="auto">
              <a:xfrm>
                <a:off x="4520" y="1061"/>
                <a:ext cx="30" cy="43"/>
              </a:xfrm>
              <a:custGeom>
                <a:avLst/>
                <a:gdLst>
                  <a:gd name="T0" fmla="*/ 15 w 30"/>
                  <a:gd name="T1" fmla="*/ 0 h 43"/>
                  <a:gd name="T2" fmla="*/ 30 w 30"/>
                  <a:gd name="T3" fmla="*/ 43 h 43"/>
                  <a:gd name="T4" fmla="*/ 15 w 30"/>
                  <a:gd name="T5" fmla="*/ 21 h 43"/>
                  <a:gd name="T6" fmla="*/ 0 w 30"/>
                  <a:gd name="T7" fmla="*/ 43 h 43"/>
                  <a:gd name="T8" fmla="*/ 15 w 30"/>
                  <a:gd name="T9" fmla="*/ 0 h 43"/>
                  <a:gd name="T10" fmla="*/ 0 60000 65536"/>
                  <a:gd name="T11" fmla="*/ 0 60000 65536"/>
                  <a:gd name="T12" fmla="*/ 0 60000 65536"/>
                  <a:gd name="T13" fmla="*/ 0 60000 65536"/>
                  <a:gd name="T14" fmla="*/ 0 60000 65536"/>
                  <a:gd name="T15" fmla="*/ 0 w 30"/>
                  <a:gd name="T16" fmla="*/ 0 h 43"/>
                  <a:gd name="T17" fmla="*/ 30 w 30"/>
                  <a:gd name="T18" fmla="*/ 43 h 43"/>
                </a:gdLst>
                <a:ahLst/>
                <a:cxnLst>
                  <a:cxn ang="T10">
                    <a:pos x="T0" y="T1"/>
                  </a:cxn>
                  <a:cxn ang="T11">
                    <a:pos x="T2" y="T3"/>
                  </a:cxn>
                  <a:cxn ang="T12">
                    <a:pos x="T4" y="T5"/>
                  </a:cxn>
                  <a:cxn ang="T13">
                    <a:pos x="T6" y="T7"/>
                  </a:cxn>
                  <a:cxn ang="T14">
                    <a:pos x="T8" y="T9"/>
                  </a:cxn>
                </a:cxnLst>
                <a:rect l="T15" t="T16" r="T17" b="T18"/>
                <a:pathLst>
                  <a:path w="30" h="43">
                    <a:moveTo>
                      <a:pt x="15" y="0"/>
                    </a:moveTo>
                    <a:lnTo>
                      <a:pt x="30" y="43"/>
                    </a:lnTo>
                    <a:lnTo>
                      <a:pt x="15" y="21"/>
                    </a:lnTo>
                    <a:lnTo>
                      <a:pt x="0" y="43"/>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8" name="Line 328"/>
              <p:cNvSpPr>
                <a:spLocks noChangeShapeType="1"/>
              </p:cNvSpPr>
              <p:nvPr/>
            </p:nvSpPr>
            <p:spPr bwMode="auto">
              <a:xfrm>
                <a:off x="4535" y="1084"/>
                <a:ext cx="1" cy="29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9" name="Rectangle 329"/>
              <p:cNvSpPr>
                <a:spLocks noChangeArrowheads="1"/>
              </p:cNvSpPr>
              <p:nvPr/>
            </p:nvSpPr>
            <p:spPr bwMode="auto">
              <a:xfrm>
                <a:off x="3929" y="1167"/>
                <a:ext cx="48"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E</a:t>
                </a:r>
                <a:endParaRPr lang="en-US" altLang="zh-CN" sz="2400" b="1">
                  <a:latin typeface="Times" panose="02020603050405020304" pitchFamily="18" charset="0"/>
                  <a:ea typeface="宋体" panose="02010600030101010101" pitchFamily="2" charset="-122"/>
                </a:endParaRPr>
              </a:p>
            </p:txBody>
          </p:sp>
          <p:sp>
            <p:nvSpPr>
              <p:cNvPr id="510" name="Rectangle 330"/>
              <p:cNvSpPr>
                <a:spLocks noChangeArrowheads="1"/>
              </p:cNvSpPr>
              <p:nvPr/>
            </p:nvSpPr>
            <p:spPr bwMode="auto">
              <a:xfrm>
                <a:off x="3980" y="1167"/>
                <a:ext cx="41"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n</a:t>
                </a:r>
                <a:endParaRPr lang="en-US" altLang="zh-CN" sz="2400" b="1">
                  <a:latin typeface="Times" panose="02020603050405020304" pitchFamily="18" charset="0"/>
                  <a:ea typeface="宋体" panose="02010600030101010101" pitchFamily="2" charset="-122"/>
                </a:endParaRPr>
              </a:p>
            </p:txBody>
          </p:sp>
          <p:sp>
            <p:nvSpPr>
              <p:cNvPr id="511" name="Rectangle 331"/>
              <p:cNvSpPr>
                <a:spLocks noChangeArrowheads="1"/>
              </p:cNvSpPr>
              <p:nvPr/>
            </p:nvSpPr>
            <p:spPr bwMode="auto">
              <a:xfrm>
                <a:off x="4022" y="1167"/>
                <a:ext cx="33"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e</a:t>
                </a:r>
                <a:endParaRPr lang="en-US" altLang="zh-CN" sz="2400" b="1">
                  <a:latin typeface="Times" panose="02020603050405020304" pitchFamily="18" charset="0"/>
                  <a:ea typeface="宋体" panose="02010600030101010101" pitchFamily="2" charset="-122"/>
                </a:endParaRPr>
              </a:p>
            </p:txBody>
          </p:sp>
          <p:sp>
            <p:nvSpPr>
              <p:cNvPr id="512" name="Rectangle 332"/>
              <p:cNvSpPr>
                <a:spLocks noChangeArrowheads="1"/>
              </p:cNvSpPr>
              <p:nvPr/>
            </p:nvSpPr>
            <p:spPr bwMode="auto">
              <a:xfrm>
                <a:off x="4060" y="1167"/>
                <a:ext cx="33"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r</a:t>
                </a:r>
                <a:endParaRPr lang="en-US" altLang="zh-CN" sz="2400" b="1">
                  <a:latin typeface="Times" panose="02020603050405020304" pitchFamily="18" charset="0"/>
                  <a:ea typeface="宋体" panose="02010600030101010101" pitchFamily="2" charset="-122"/>
                </a:endParaRPr>
              </a:p>
            </p:txBody>
          </p:sp>
          <p:sp>
            <p:nvSpPr>
              <p:cNvPr id="513" name="Rectangle 333"/>
              <p:cNvSpPr>
                <a:spLocks noChangeArrowheads="1"/>
              </p:cNvSpPr>
              <p:nvPr/>
            </p:nvSpPr>
            <p:spPr bwMode="auto">
              <a:xfrm>
                <a:off x="4088" y="1167"/>
                <a:ext cx="35"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g</a:t>
                </a:r>
                <a:endParaRPr lang="en-US" altLang="zh-CN" sz="2400" b="1">
                  <a:latin typeface="Times" panose="02020603050405020304" pitchFamily="18" charset="0"/>
                  <a:ea typeface="宋体" panose="02010600030101010101" pitchFamily="2" charset="-122"/>
                </a:endParaRPr>
              </a:p>
            </p:txBody>
          </p:sp>
          <p:sp>
            <p:nvSpPr>
              <p:cNvPr id="514" name="Rectangle 334"/>
              <p:cNvSpPr>
                <a:spLocks noChangeArrowheads="1"/>
              </p:cNvSpPr>
              <p:nvPr/>
            </p:nvSpPr>
            <p:spPr bwMode="auto">
              <a:xfrm>
                <a:off x="4130" y="1167"/>
                <a:ext cx="36"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515" name="Rectangle 335"/>
              <p:cNvSpPr>
                <a:spLocks noChangeArrowheads="1"/>
              </p:cNvSpPr>
              <p:nvPr/>
            </p:nvSpPr>
            <p:spPr bwMode="auto">
              <a:xfrm>
                <a:off x="4172" y="1167"/>
                <a:ext cx="19"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100" b="1">
                    <a:solidFill>
                      <a:srgbClr val="000000"/>
                    </a:solidFill>
                    <a:latin typeface="Times New Roman" panose="02020603050405020304" pitchFamily="18" charset="0"/>
                    <a:ea typeface="宋体" panose="02010600030101010101" pitchFamily="2" charset="-122"/>
                  </a:rPr>
                  <a:t> </a:t>
                </a:r>
                <a:endParaRPr lang="zh-CN" altLang="en-US" sz="2400" b="1">
                  <a:latin typeface="Times" panose="02020603050405020304" pitchFamily="18" charset="0"/>
                  <a:ea typeface="宋体" panose="02010600030101010101" pitchFamily="2" charset="-122"/>
                </a:endParaRPr>
              </a:p>
            </p:txBody>
          </p:sp>
          <p:sp>
            <p:nvSpPr>
              <p:cNvPr id="516" name="Rectangle 336"/>
              <p:cNvSpPr>
                <a:spLocks noChangeArrowheads="1"/>
              </p:cNvSpPr>
              <p:nvPr/>
            </p:nvSpPr>
            <p:spPr bwMode="auto">
              <a:xfrm>
                <a:off x="4187" y="1167"/>
                <a:ext cx="35"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g</a:t>
                </a:r>
                <a:endParaRPr lang="en-US" altLang="zh-CN" sz="2400" b="1">
                  <a:latin typeface="Times" panose="02020603050405020304" pitchFamily="18" charset="0"/>
                  <a:ea typeface="宋体" panose="02010600030101010101" pitchFamily="2" charset="-122"/>
                </a:endParaRPr>
              </a:p>
            </p:txBody>
          </p:sp>
          <p:sp>
            <p:nvSpPr>
              <p:cNvPr id="517" name="Rectangle 337"/>
              <p:cNvSpPr>
                <a:spLocks noChangeArrowheads="1"/>
              </p:cNvSpPr>
              <p:nvPr/>
            </p:nvSpPr>
            <p:spPr bwMode="auto">
              <a:xfrm>
                <a:off x="4229" y="1167"/>
                <a:ext cx="35"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a</a:t>
                </a:r>
                <a:endParaRPr lang="en-US" altLang="zh-CN" sz="2400" b="1">
                  <a:latin typeface="Times" panose="02020603050405020304" pitchFamily="18" charset="0"/>
                  <a:ea typeface="宋体" panose="02010600030101010101" pitchFamily="2" charset="-122"/>
                </a:endParaRPr>
              </a:p>
            </p:txBody>
          </p:sp>
          <p:sp>
            <p:nvSpPr>
              <p:cNvPr id="518" name="Rectangle 338"/>
              <p:cNvSpPr>
                <a:spLocks noChangeArrowheads="1"/>
              </p:cNvSpPr>
              <p:nvPr/>
            </p:nvSpPr>
            <p:spPr bwMode="auto">
              <a:xfrm>
                <a:off x="4267" y="1167"/>
                <a:ext cx="40"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p</a:t>
                </a:r>
                <a:endParaRPr lang="en-US" altLang="zh-CN" sz="2400" b="1">
                  <a:latin typeface="Times" panose="02020603050405020304" pitchFamily="18" charset="0"/>
                  <a:ea typeface="宋体" panose="02010600030101010101" pitchFamily="2" charset="-122"/>
                </a:endParaRPr>
              </a:p>
            </p:txBody>
          </p:sp>
          <p:sp>
            <p:nvSpPr>
              <p:cNvPr id="519" name="Rectangle 339"/>
              <p:cNvSpPr>
                <a:spLocks noChangeArrowheads="1"/>
              </p:cNvSpPr>
              <p:nvPr/>
            </p:nvSpPr>
            <p:spPr bwMode="auto">
              <a:xfrm>
                <a:off x="4309" y="1167"/>
                <a:ext cx="19"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a:t>
                </a:r>
                <a:endParaRPr lang="en-US" altLang="zh-CN" sz="2400" b="1">
                  <a:latin typeface="Times" panose="02020603050405020304" pitchFamily="18" charset="0"/>
                  <a:ea typeface="宋体" panose="02010600030101010101" pitchFamily="2" charset="-122"/>
                </a:endParaRPr>
              </a:p>
            </p:txBody>
          </p:sp>
          <p:sp>
            <p:nvSpPr>
              <p:cNvPr id="520" name="Rectangle 340"/>
              <p:cNvSpPr>
                <a:spLocks noChangeArrowheads="1"/>
              </p:cNvSpPr>
              <p:nvPr/>
            </p:nvSpPr>
            <p:spPr bwMode="auto">
              <a:xfrm>
                <a:off x="4330" y="1167"/>
                <a:ext cx="18"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100" b="1">
                    <a:solidFill>
                      <a:srgbClr val="000000"/>
                    </a:solidFill>
                    <a:latin typeface="Times New Roman" panose="02020603050405020304" pitchFamily="18" charset="0"/>
                    <a:ea typeface="宋体" panose="02010600030101010101" pitchFamily="2" charset="-122"/>
                  </a:rPr>
                  <a:t> </a:t>
                </a:r>
                <a:endParaRPr lang="zh-CN" altLang="en-US" sz="2400" b="1">
                  <a:latin typeface="Times" panose="02020603050405020304" pitchFamily="18" charset="0"/>
                  <a:ea typeface="宋体" panose="02010600030101010101" pitchFamily="2" charset="-122"/>
                </a:endParaRPr>
              </a:p>
            </p:txBody>
          </p:sp>
          <p:sp>
            <p:nvSpPr>
              <p:cNvPr id="521" name="Rectangle 341"/>
              <p:cNvSpPr>
                <a:spLocks noChangeArrowheads="1"/>
              </p:cNvSpPr>
              <p:nvPr/>
            </p:nvSpPr>
            <p:spPr bwMode="auto">
              <a:xfrm>
                <a:off x="4345" y="1167"/>
                <a:ext cx="48"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Times New Roman" panose="02020603050405020304" pitchFamily="18" charset="0"/>
                    <a:ea typeface="宋体" panose="02010600030101010101" pitchFamily="2" charset="-122"/>
                  </a:rPr>
                  <a:t>E</a:t>
                </a:r>
                <a:endParaRPr lang="en-US" altLang="zh-CN" sz="2400" b="1">
                  <a:latin typeface="Times" panose="02020603050405020304" pitchFamily="18" charset="0"/>
                  <a:ea typeface="宋体" panose="02010600030101010101" pitchFamily="2" charset="-122"/>
                </a:endParaRPr>
              </a:p>
            </p:txBody>
          </p:sp>
          <p:sp>
            <p:nvSpPr>
              <p:cNvPr id="522" name="Rectangle 342"/>
              <p:cNvSpPr>
                <a:spLocks noChangeArrowheads="1"/>
              </p:cNvSpPr>
              <p:nvPr/>
            </p:nvSpPr>
            <p:spPr bwMode="auto">
              <a:xfrm>
                <a:off x="4395" y="1232"/>
                <a:ext cx="26"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i="1">
                    <a:solidFill>
                      <a:srgbClr val="000000"/>
                    </a:solidFill>
                    <a:latin typeface="Times New Roman" panose="02020603050405020304" pitchFamily="18" charset="0"/>
                    <a:ea typeface="宋体" panose="02010600030101010101" pitchFamily="2" charset="-122"/>
                  </a:rPr>
                  <a:t>g</a:t>
                </a:r>
                <a:endParaRPr lang="en-US" altLang="zh-CN" sz="2400" b="1">
                  <a:latin typeface="Times" panose="02020603050405020304" pitchFamily="18" charset="0"/>
                  <a:ea typeface="宋体" panose="02010600030101010101" pitchFamily="2" charset="-122"/>
                </a:endParaRPr>
              </a:p>
            </p:txBody>
          </p:sp>
          <p:sp>
            <p:nvSpPr>
              <p:cNvPr id="523" name="Freeform 343"/>
              <p:cNvSpPr>
                <a:spLocks/>
              </p:cNvSpPr>
              <p:nvPr/>
            </p:nvSpPr>
            <p:spPr bwMode="auto">
              <a:xfrm>
                <a:off x="2853" y="515"/>
                <a:ext cx="164" cy="118"/>
              </a:xfrm>
              <a:custGeom>
                <a:avLst/>
                <a:gdLst>
                  <a:gd name="T0" fmla="*/ 158 w 164"/>
                  <a:gd name="T1" fmla="*/ 71 h 118"/>
                  <a:gd name="T2" fmla="*/ 164 w 164"/>
                  <a:gd name="T3" fmla="*/ 63 h 118"/>
                  <a:gd name="T4" fmla="*/ 164 w 164"/>
                  <a:gd name="T5" fmla="*/ 55 h 118"/>
                  <a:gd name="T6" fmla="*/ 162 w 164"/>
                  <a:gd name="T7" fmla="*/ 50 h 118"/>
                  <a:gd name="T8" fmla="*/ 158 w 164"/>
                  <a:gd name="T9" fmla="*/ 42 h 118"/>
                  <a:gd name="T10" fmla="*/ 147 w 164"/>
                  <a:gd name="T11" fmla="*/ 31 h 118"/>
                  <a:gd name="T12" fmla="*/ 135 w 164"/>
                  <a:gd name="T13" fmla="*/ 19 h 118"/>
                  <a:gd name="T14" fmla="*/ 124 w 164"/>
                  <a:gd name="T15" fmla="*/ 12 h 118"/>
                  <a:gd name="T16" fmla="*/ 110 w 164"/>
                  <a:gd name="T17" fmla="*/ 4 h 118"/>
                  <a:gd name="T18" fmla="*/ 101 w 164"/>
                  <a:gd name="T19" fmla="*/ 0 h 118"/>
                  <a:gd name="T20" fmla="*/ 93 w 164"/>
                  <a:gd name="T21" fmla="*/ 0 h 118"/>
                  <a:gd name="T22" fmla="*/ 82 w 164"/>
                  <a:gd name="T23" fmla="*/ 2 h 118"/>
                  <a:gd name="T24" fmla="*/ 71 w 164"/>
                  <a:gd name="T25" fmla="*/ 6 h 118"/>
                  <a:gd name="T26" fmla="*/ 59 w 164"/>
                  <a:gd name="T27" fmla="*/ 12 h 118"/>
                  <a:gd name="T28" fmla="*/ 50 w 164"/>
                  <a:gd name="T29" fmla="*/ 15 h 118"/>
                  <a:gd name="T30" fmla="*/ 42 w 164"/>
                  <a:gd name="T31" fmla="*/ 21 h 118"/>
                  <a:gd name="T32" fmla="*/ 33 w 164"/>
                  <a:gd name="T33" fmla="*/ 25 h 118"/>
                  <a:gd name="T34" fmla="*/ 19 w 164"/>
                  <a:gd name="T35" fmla="*/ 36 h 118"/>
                  <a:gd name="T36" fmla="*/ 6 w 164"/>
                  <a:gd name="T37" fmla="*/ 46 h 118"/>
                  <a:gd name="T38" fmla="*/ 2 w 164"/>
                  <a:gd name="T39" fmla="*/ 54 h 118"/>
                  <a:gd name="T40" fmla="*/ 0 w 164"/>
                  <a:gd name="T41" fmla="*/ 59 h 118"/>
                  <a:gd name="T42" fmla="*/ 2 w 164"/>
                  <a:gd name="T43" fmla="*/ 65 h 118"/>
                  <a:gd name="T44" fmla="*/ 8 w 164"/>
                  <a:gd name="T45" fmla="*/ 71 h 118"/>
                  <a:gd name="T46" fmla="*/ 21 w 164"/>
                  <a:gd name="T47" fmla="*/ 82 h 118"/>
                  <a:gd name="T48" fmla="*/ 34 w 164"/>
                  <a:gd name="T49" fmla="*/ 93 h 118"/>
                  <a:gd name="T50" fmla="*/ 42 w 164"/>
                  <a:gd name="T51" fmla="*/ 97 h 118"/>
                  <a:gd name="T52" fmla="*/ 52 w 164"/>
                  <a:gd name="T53" fmla="*/ 103 h 118"/>
                  <a:gd name="T54" fmla="*/ 61 w 164"/>
                  <a:gd name="T55" fmla="*/ 109 h 118"/>
                  <a:gd name="T56" fmla="*/ 74 w 164"/>
                  <a:gd name="T57" fmla="*/ 112 h 118"/>
                  <a:gd name="T58" fmla="*/ 86 w 164"/>
                  <a:gd name="T59" fmla="*/ 118 h 118"/>
                  <a:gd name="T60" fmla="*/ 95 w 164"/>
                  <a:gd name="T61" fmla="*/ 118 h 118"/>
                  <a:gd name="T62" fmla="*/ 105 w 164"/>
                  <a:gd name="T63" fmla="*/ 118 h 118"/>
                  <a:gd name="T64" fmla="*/ 112 w 164"/>
                  <a:gd name="T65" fmla="*/ 114 h 118"/>
                  <a:gd name="T66" fmla="*/ 126 w 164"/>
                  <a:gd name="T67" fmla="*/ 105 h 118"/>
                  <a:gd name="T68" fmla="*/ 137 w 164"/>
                  <a:gd name="T69" fmla="*/ 95 h 118"/>
                  <a:gd name="T70" fmla="*/ 147 w 164"/>
                  <a:gd name="T71" fmla="*/ 84 h 118"/>
                  <a:gd name="T72" fmla="*/ 158 w 164"/>
                  <a:gd name="T73" fmla="*/ 71 h 11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4"/>
                  <a:gd name="T112" fmla="*/ 0 h 118"/>
                  <a:gd name="T113" fmla="*/ 164 w 164"/>
                  <a:gd name="T114" fmla="*/ 118 h 11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4" h="118">
                    <a:moveTo>
                      <a:pt x="158" y="71"/>
                    </a:moveTo>
                    <a:lnTo>
                      <a:pt x="164" y="63"/>
                    </a:lnTo>
                    <a:lnTo>
                      <a:pt x="164" y="55"/>
                    </a:lnTo>
                    <a:lnTo>
                      <a:pt x="162" y="50"/>
                    </a:lnTo>
                    <a:lnTo>
                      <a:pt x="158" y="42"/>
                    </a:lnTo>
                    <a:lnTo>
                      <a:pt x="147" y="31"/>
                    </a:lnTo>
                    <a:lnTo>
                      <a:pt x="135" y="19"/>
                    </a:lnTo>
                    <a:lnTo>
                      <a:pt x="124" y="12"/>
                    </a:lnTo>
                    <a:lnTo>
                      <a:pt x="110" y="4"/>
                    </a:lnTo>
                    <a:lnTo>
                      <a:pt x="101" y="0"/>
                    </a:lnTo>
                    <a:lnTo>
                      <a:pt x="93" y="0"/>
                    </a:lnTo>
                    <a:lnTo>
                      <a:pt x="82" y="2"/>
                    </a:lnTo>
                    <a:lnTo>
                      <a:pt x="71" y="6"/>
                    </a:lnTo>
                    <a:lnTo>
                      <a:pt x="59" y="12"/>
                    </a:lnTo>
                    <a:lnTo>
                      <a:pt x="50" y="15"/>
                    </a:lnTo>
                    <a:lnTo>
                      <a:pt x="42" y="21"/>
                    </a:lnTo>
                    <a:lnTo>
                      <a:pt x="33" y="25"/>
                    </a:lnTo>
                    <a:lnTo>
                      <a:pt x="19" y="36"/>
                    </a:lnTo>
                    <a:lnTo>
                      <a:pt x="6" y="46"/>
                    </a:lnTo>
                    <a:lnTo>
                      <a:pt x="2" y="54"/>
                    </a:lnTo>
                    <a:lnTo>
                      <a:pt x="0" y="59"/>
                    </a:lnTo>
                    <a:lnTo>
                      <a:pt x="2" y="65"/>
                    </a:lnTo>
                    <a:lnTo>
                      <a:pt x="8" y="71"/>
                    </a:lnTo>
                    <a:lnTo>
                      <a:pt x="21" y="82"/>
                    </a:lnTo>
                    <a:lnTo>
                      <a:pt x="34" y="93"/>
                    </a:lnTo>
                    <a:lnTo>
                      <a:pt x="42" y="97"/>
                    </a:lnTo>
                    <a:lnTo>
                      <a:pt x="52" y="103"/>
                    </a:lnTo>
                    <a:lnTo>
                      <a:pt x="61" y="109"/>
                    </a:lnTo>
                    <a:lnTo>
                      <a:pt x="74" y="112"/>
                    </a:lnTo>
                    <a:lnTo>
                      <a:pt x="86" y="118"/>
                    </a:lnTo>
                    <a:lnTo>
                      <a:pt x="95" y="118"/>
                    </a:lnTo>
                    <a:lnTo>
                      <a:pt x="105" y="118"/>
                    </a:lnTo>
                    <a:lnTo>
                      <a:pt x="112" y="114"/>
                    </a:lnTo>
                    <a:lnTo>
                      <a:pt x="126" y="105"/>
                    </a:lnTo>
                    <a:lnTo>
                      <a:pt x="137" y="95"/>
                    </a:lnTo>
                    <a:lnTo>
                      <a:pt x="147" y="84"/>
                    </a:lnTo>
                    <a:lnTo>
                      <a:pt x="158" y="71"/>
                    </a:lnTo>
                    <a:close/>
                  </a:path>
                </a:pathLst>
              </a:custGeom>
              <a:solidFill>
                <a:srgbClr val="33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24" name="Line 344"/>
              <p:cNvSpPr>
                <a:spLocks noChangeShapeType="1"/>
              </p:cNvSpPr>
              <p:nvPr/>
            </p:nvSpPr>
            <p:spPr bwMode="auto">
              <a:xfrm flipV="1">
                <a:off x="3013" y="580"/>
                <a:ext cx="6"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5" name="Line 345"/>
              <p:cNvSpPr>
                <a:spLocks noChangeShapeType="1"/>
              </p:cNvSpPr>
              <p:nvPr/>
            </p:nvSpPr>
            <p:spPr bwMode="auto">
              <a:xfrm flipV="1">
                <a:off x="3019" y="572"/>
                <a:ext cx="1" cy="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6" name="Line 346"/>
              <p:cNvSpPr>
                <a:spLocks noChangeShapeType="1"/>
              </p:cNvSpPr>
              <p:nvPr/>
            </p:nvSpPr>
            <p:spPr bwMode="auto">
              <a:xfrm flipH="1" flipV="1">
                <a:off x="3017" y="567"/>
                <a:ext cx="2" cy="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7" name="Line 347"/>
              <p:cNvSpPr>
                <a:spLocks noChangeShapeType="1"/>
              </p:cNvSpPr>
              <p:nvPr/>
            </p:nvSpPr>
            <p:spPr bwMode="auto">
              <a:xfrm flipH="1" flipV="1">
                <a:off x="3013" y="559"/>
                <a:ext cx="4"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8" name="Line 348"/>
              <p:cNvSpPr>
                <a:spLocks noChangeShapeType="1"/>
              </p:cNvSpPr>
              <p:nvPr/>
            </p:nvSpPr>
            <p:spPr bwMode="auto">
              <a:xfrm flipH="1" flipV="1">
                <a:off x="3001" y="548"/>
                <a:ext cx="12"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9" name="Line 349"/>
              <p:cNvSpPr>
                <a:spLocks noChangeShapeType="1"/>
              </p:cNvSpPr>
              <p:nvPr/>
            </p:nvSpPr>
            <p:spPr bwMode="auto">
              <a:xfrm flipH="1" flipV="1">
                <a:off x="2990" y="536"/>
                <a:ext cx="11" cy="1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0" name="Line 350"/>
              <p:cNvSpPr>
                <a:spLocks noChangeShapeType="1"/>
              </p:cNvSpPr>
              <p:nvPr/>
            </p:nvSpPr>
            <p:spPr bwMode="auto">
              <a:xfrm flipH="1" flipV="1">
                <a:off x="2979" y="529"/>
                <a:ext cx="11" cy="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1" name="Line 351"/>
              <p:cNvSpPr>
                <a:spLocks noChangeShapeType="1"/>
              </p:cNvSpPr>
              <p:nvPr/>
            </p:nvSpPr>
            <p:spPr bwMode="auto">
              <a:xfrm flipH="1" flipV="1">
                <a:off x="2965" y="521"/>
                <a:ext cx="14"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 name="Line 352"/>
              <p:cNvSpPr>
                <a:spLocks noChangeShapeType="1"/>
              </p:cNvSpPr>
              <p:nvPr/>
            </p:nvSpPr>
            <p:spPr bwMode="auto">
              <a:xfrm flipH="1" flipV="1">
                <a:off x="2956" y="517"/>
                <a:ext cx="9"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 name="Line 353"/>
              <p:cNvSpPr>
                <a:spLocks noChangeShapeType="1"/>
              </p:cNvSpPr>
              <p:nvPr/>
            </p:nvSpPr>
            <p:spPr bwMode="auto">
              <a:xfrm flipH="1">
                <a:off x="2948" y="517"/>
                <a:ext cx="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 name="Line 354"/>
              <p:cNvSpPr>
                <a:spLocks noChangeShapeType="1"/>
              </p:cNvSpPr>
              <p:nvPr/>
            </p:nvSpPr>
            <p:spPr bwMode="auto">
              <a:xfrm flipH="1">
                <a:off x="2937" y="517"/>
                <a:ext cx="11"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5" name="Line 355"/>
              <p:cNvSpPr>
                <a:spLocks noChangeShapeType="1"/>
              </p:cNvSpPr>
              <p:nvPr/>
            </p:nvSpPr>
            <p:spPr bwMode="auto">
              <a:xfrm flipH="1">
                <a:off x="2925" y="519"/>
                <a:ext cx="12"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6" name="Line 356"/>
              <p:cNvSpPr>
                <a:spLocks noChangeShapeType="1"/>
              </p:cNvSpPr>
              <p:nvPr/>
            </p:nvSpPr>
            <p:spPr bwMode="auto">
              <a:xfrm flipH="1">
                <a:off x="2914" y="523"/>
                <a:ext cx="11"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7" name="Line 357"/>
              <p:cNvSpPr>
                <a:spLocks noChangeShapeType="1"/>
              </p:cNvSpPr>
              <p:nvPr/>
            </p:nvSpPr>
            <p:spPr bwMode="auto">
              <a:xfrm flipH="1">
                <a:off x="2905" y="529"/>
                <a:ext cx="9"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8" name="Line 358"/>
              <p:cNvSpPr>
                <a:spLocks noChangeShapeType="1"/>
              </p:cNvSpPr>
              <p:nvPr/>
            </p:nvSpPr>
            <p:spPr bwMode="auto">
              <a:xfrm flipH="1">
                <a:off x="2897" y="532"/>
                <a:ext cx="8"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9" name="Line 359"/>
              <p:cNvSpPr>
                <a:spLocks noChangeShapeType="1"/>
              </p:cNvSpPr>
              <p:nvPr/>
            </p:nvSpPr>
            <p:spPr bwMode="auto">
              <a:xfrm flipH="1">
                <a:off x="2887" y="538"/>
                <a:ext cx="10"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0" name="Line 360"/>
              <p:cNvSpPr>
                <a:spLocks noChangeShapeType="1"/>
              </p:cNvSpPr>
              <p:nvPr/>
            </p:nvSpPr>
            <p:spPr bwMode="auto">
              <a:xfrm flipH="1">
                <a:off x="2874" y="542"/>
                <a:ext cx="13"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1" name="Line 361"/>
              <p:cNvSpPr>
                <a:spLocks noChangeShapeType="1"/>
              </p:cNvSpPr>
              <p:nvPr/>
            </p:nvSpPr>
            <p:spPr bwMode="auto">
              <a:xfrm flipH="1">
                <a:off x="2861" y="553"/>
                <a:ext cx="13" cy="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 name="Line 362"/>
              <p:cNvSpPr>
                <a:spLocks noChangeShapeType="1"/>
              </p:cNvSpPr>
              <p:nvPr/>
            </p:nvSpPr>
            <p:spPr bwMode="auto">
              <a:xfrm flipH="1">
                <a:off x="2857" y="563"/>
                <a:ext cx="4" cy="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 name="Line 363"/>
              <p:cNvSpPr>
                <a:spLocks noChangeShapeType="1"/>
              </p:cNvSpPr>
              <p:nvPr/>
            </p:nvSpPr>
            <p:spPr bwMode="auto">
              <a:xfrm flipH="1">
                <a:off x="2855" y="570"/>
                <a:ext cx="2" cy="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 name="Line 364"/>
              <p:cNvSpPr>
                <a:spLocks noChangeShapeType="1"/>
              </p:cNvSpPr>
              <p:nvPr/>
            </p:nvSpPr>
            <p:spPr bwMode="auto">
              <a:xfrm>
                <a:off x="2855" y="576"/>
                <a:ext cx="2" cy="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5" name="Line 365"/>
              <p:cNvSpPr>
                <a:spLocks noChangeShapeType="1"/>
              </p:cNvSpPr>
              <p:nvPr/>
            </p:nvSpPr>
            <p:spPr bwMode="auto">
              <a:xfrm>
                <a:off x="2857" y="582"/>
                <a:ext cx="6"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6" name="Line 366"/>
              <p:cNvSpPr>
                <a:spLocks noChangeShapeType="1"/>
              </p:cNvSpPr>
              <p:nvPr/>
            </p:nvSpPr>
            <p:spPr bwMode="auto">
              <a:xfrm>
                <a:off x="2863" y="588"/>
                <a:ext cx="13"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7" name="Line 367"/>
              <p:cNvSpPr>
                <a:spLocks noChangeShapeType="1"/>
              </p:cNvSpPr>
              <p:nvPr/>
            </p:nvSpPr>
            <p:spPr bwMode="auto">
              <a:xfrm>
                <a:off x="2876" y="599"/>
                <a:ext cx="13"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8" name="Line 368"/>
              <p:cNvSpPr>
                <a:spLocks noChangeShapeType="1"/>
              </p:cNvSpPr>
              <p:nvPr/>
            </p:nvSpPr>
            <p:spPr bwMode="auto">
              <a:xfrm>
                <a:off x="2889" y="610"/>
                <a:ext cx="8" cy="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9" name="Line 369"/>
              <p:cNvSpPr>
                <a:spLocks noChangeShapeType="1"/>
              </p:cNvSpPr>
              <p:nvPr/>
            </p:nvSpPr>
            <p:spPr bwMode="auto">
              <a:xfrm>
                <a:off x="2897" y="614"/>
                <a:ext cx="9"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0" name="Line 370"/>
              <p:cNvSpPr>
                <a:spLocks noChangeShapeType="1"/>
              </p:cNvSpPr>
              <p:nvPr/>
            </p:nvSpPr>
            <p:spPr bwMode="auto">
              <a:xfrm>
                <a:off x="2906" y="620"/>
                <a:ext cx="10"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1" name="Line 371"/>
              <p:cNvSpPr>
                <a:spLocks noChangeShapeType="1"/>
              </p:cNvSpPr>
              <p:nvPr/>
            </p:nvSpPr>
            <p:spPr bwMode="auto">
              <a:xfrm>
                <a:off x="2916" y="626"/>
                <a:ext cx="13"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 name="Line 372"/>
              <p:cNvSpPr>
                <a:spLocks noChangeShapeType="1"/>
              </p:cNvSpPr>
              <p:nvPr/>
            </p:nvSpPr>
            <p:spPr bwMode="auto">
              <a:xfrm>
                <a:off x="2929" y="629"/>
                <a:ext cx="12"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 name="Line 373"/>
              <p:cNvSpPr>
                <a:spLocks noChangeShapeType="1"/>
              </p:cNvSpPr>
              <p:nvPr/>
            </p:nvSpPr>
            <p:spPr bwMode="auto">
              <a:xfrm>
                <a:off x="2941" y="635"/>
                <a:ext cx="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 name="Line 374"/>
              <p:cNvSpPr>
                <a:spLocks noChangeShapeType="1"/>
              </p:cNvSpPr>
              <p:nvPr/>
            </p:nvSpPr>
            <p:spPr bwMode="auto">
              <a:xfrm>
                <a:off x="2950" y="635"/>
                <a:ext cx="1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 name="Line 375"/>
              <p:cNvSpPr>
                <a:spLocks noChangeShapeType="1"/>
              </p:cNvSpPr>
              <p:nvPr/>
            </p:nvSpPr>
            <p:spPr bwMode="auto">
              <a:xfrm flipV="1">
                <a:off x="2960" y="631"/>
                <a:ext cx="7" cy="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 name="Line 376"/>
              <p:cNvSpPr>
                <a:spLocks noChangeShapeType="1"/>
              </p:cNvSpPr>
              <p:nvPr/>
            </p:nvSpPr>
            <p:spPr bwMode="auto">
              <a:xfrm flipV="1">
                <a:off x="2967" y="622"/>
                <a:ext cx="14"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 name="Line 377"/>
              <p:cNvSpPr>
                <a:spLocks noChangeShapeType="1"/>
              </p:cNvSpPr>
              <p:nvPr/>
            </p:nvSpPr>
            <p:spPr bwMode="auto">
              <a:xfrm flipV="1">
                <a:off x="2981" y="612"/>
                <a:ext cx="11" cy="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 name="Line 378"/>
              <p:cNvSpPr>
                <a:spLocks noChangeShapeType="1"/>
              </p:cNvSpPr>
              <p:nvPr/>
            </p:nvSpPr>
            <p:spPr bwMode="auto">
              <a:xfrm flipV="1">
                <a:off x="2992" y="601"/>
                <a:ext cx="9"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 name="Line 379"/>
              <p:cNvSpPr>
                <a:spLocks noChangeShapeType="1"/>
              </p:cNvSpPr>
              <p:nvPr/>
            </p:nvSpPr>
            <p:spPr bwMode="auto">
              <a:xfrm flipV="1">
                <a:off x="3001" y="588"/>
                <a:ext cx="12" cy="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 name="Freeform 380"/>
              <p:cNvSpPr>
                <a:spLocks/>
              </p:cNvSpPr>
              <p:nvPr/>
            </p:nvSpPr>
            <p:spPr bwMode="auto">
              <a:xfrm>
                <a:off x="3020" y="511"/>
                <a:ext cx="164" cy="118"/>
              </a:xfrm>
              <a:custGeom>
                <a:avLst/>
                <a:gdLst>
                  <a:gd name="T0" fmla="*/ 6 w 164"/>
                  <a:gd name="T1" fmla="*/ 71 h 118"/>
                  <a:gd name="T2" fmla="*/ 2 w 164"/>
                  <a:gd name="T3" fmla="*/ 63 h 118"/>
                  <a:gd name="T4" fmla="*/ 0 w 164"/>
                  <a:gd name="T5" fmla="*/ 56 h 118"/>
                  <a:gd name="T6" fmla="*/ 2 w 164"/>
                  <a:gd name="T7" fmla="*/ 50 h 118"/>
                  <a:gd name="T8" fmla="*/ 6 w 164"/>
                  <a:gd name="T9" fmla="*/ 42 h 118"/>
                  <a:gd name="T10" fmla="*/ 18 w 164"/>
                  <a:gd name="T11" fmla="*/ 31 h 118"/>
                  <a:gd name="T12" fmla="*/ 29 w 164"/>
                  <a:gd name="T13" fmla="*/ 19 h 118"/>
                  <a:gd name="T14" fmla="*/ 40 w 164"/>
                  <a:gd name="T15" fmla="*/ 12 h 118"/>
                  <a:gd name="T16" fmla="*/ 56 w 164"/>
                  <a:gd name="T17" fmla="*/ 4 h 118"/>
                  <a:gd name="T18" fmla="*/ 63 w 164"/>
                  <a:gd name="T19" fmla="*/ 0 h 118"/>
                  <a:gd name="T20" fmla="*/ 73 w 164"/>
                  <a:gd name="T21" fmla="*/ 0 h 118"/>
                  <a:gd name="T22" fmla="*/ 82 w 164"/>
                  <a:gd name="T23" fmla="*/ 2 h 118"/>
                  <a:gd name="T24" fmla="*/ 94 w 164"/>
                  <a:gd name="T25" fmla="*/ 6 h 118"/>
                  <a:gd name="T26" fmla="*/ 105 w 164"/>
                  <a:gd name="T27" fmla="*/ 12 h 118"/>
                  <a:gd name="T28" fmla="*/ 115 w 164"/>
                  <a:gd name="T29" fmla="*/ 16 h 118"/>
                  <a:gd name="T30" fmla="*/ 124 w 164"/>
                  <a:gd name="T31" fmla="*/ 21 h 118"/>
                  <a:gd name="T32" fmla="*/ 132 w 164"/>
                  <a:gd name="T33" fmla="*/ 25 h 118"/>
                  <a:gd name="T34" fmla="*/ 145 w 164"/>
                  <a:gd name="T35" fmla="*/ 37 h 118"/>
                  <a:gd name="T36" fmla="*/ 158 w 164"/>
                  <a:gd name="T37" fmla="*/ 46 h 118"/>
                  <a:gd name="T38" fmla="*/ 162 w 164"/>
                  <a:gd name="T39" fmla="*/ 54 h 118"/>
                  <a:gd name="T40" fmla="*/ 164 w 164"/>
                  <a:gd name="T41" fmla="*/ 59 h 118"/>
                  <a:gd name="T42" fmla="*/ 162 w 164"/>
                  <a:gd name="T43" fmla="*/ 65 h 118"/>
                  <a:gd name="T44" fmla="*/ 156 w 164"/>
                  <a:gd name="T45" fmla="*/ 71 h 118"/>
                  <a:gd name="T46" fmla="*/ 143 w 164"/>
                  <a:gd name="T47" fmla="*/ 82 h 118"/>
                  <a:gd name="T48" fmla="*/ 130 w 164"/>
                  <a:gd name="T49" fmla="*/ 94 h 118"/>
                  <a:gd name="T50" fmla="*/ 122 w 164"/>
                  <a:gd name="T51" fmla="*/ 97 h 118"/>
                  <a:gd name="T52" fmla="*/ 113 w 164"/>
                  <a:gd name="T53" fmla="*/ 103 h 118"/>
                  <a:gd name="T54" fmla="*/ 103 w 164"/>
                  <a:gd name="T55" fmla="*/ 109 h 118"/>
                  <a:gd name="T56" fmla="*/ 92 w 164"/>
                  <a:gd name="T57" fmla="*/ 113 h 118"/>
                  <a:gd name="T58" fmla="*/ 80 w 164"/>
                  <a:gd name="T59" fmla="*/ 118 h 118"/>
                  <a:gd name="T60" fmla="*/ 69 w 164"/>
                  <a:gd name="T61" fmla="*/ 118 h 118"/>
                  <a:gd name="T62" fmla="*/ 61 w 164"/>
                  <a:gd name="T63" fmla="*/ 118 h 118"/>
                  <a:gd name="T64" fmla="*/ 52 w 164"/>
                  <a:gd name="T65" fmla="*/ 115 h 118"/>
                  <a:gd name="T66" fmla="*/ 40 w 164"/>
                  <a:gd name="T67" fmla="*/ 105 h 118"/>
                  <a:gd name="T68" fmla="*/ 29 w 164"/>
                  <a:gd name="T69" fmla="*/ 96 h 118"/>
                  <a:gd name="T70" fmla="*/ 18 w 164"/>
                  <a:gd name="T71" fmla="*/ 84 h 118"/>
                  <a:gd name="T72" fmla="*/ 6 w 164"/>
                  <a:gd name="T73" fmla="*/ 71 h 11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4"/>
                  <a:gd name="T112" fmla="*/ 0 h 118"/>
                  <a:gd name="T113" fmla="*/ 164 w 164"/>
                  <a:gd name="T114" fmla="*/ 118 h 11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4" h="118">
                    <a:moveTo>
                      <a:pt x="6" y="71"/>
                    </a:moveTo>
                    <a:lnTo>
                      <a:pt x="2" y="63"/>
                    </a:lnTo>
                    <a:lnTo>
                      <a:pt x="0" y="56"/>
                    </a:lnTo>
                    <a:lnTo>
                      <a:pt x="2" y="50"/>
                    </a:lnTo>
                    <a:lnTo>
                      <a:pt x="6" y="42"/>
                    </a:lnTo>
                    <a:lnTo>
                      <a:pt x="18" y="31"/>
                    </a:lnTo>
                    <a:lnTo>
                      <a:pt x="29" y="19"/>
                    </a:lnTo>
                    <a:lnTo>
                      <a:pt x="40" y="12"/>
                    </a:lnTo>
                    <a:lnTo>
                      <a:pt x="56" y="4"/>
                    </a:lnTo>
                    <a:lnTo>
                      <a:pt x="63" y="0"/>
                    </a:lnTo>
                    <a:lnTo>
                      <a:pt x="73" y="0"/>
                    </a:lnTo>
                    <a:lnTo>
                      <a:pt x="82" y="2"/>
                    </a:lnTo>
                    <a:lnTo>
                      <a:pt x="94" y="6"/>
                    </a:lnTo>
                    <a:lnTo>
                      <a:pt x="105" y="12"/>
                    </a:lnTo>
                    <a:lnTo>
                      <a:pt x="115" y="16"/>
                    </a:lnTo>
                    <a:lnTo>
                      <a:pt x="124" y="21"/>
                    </a:lnTo>
                    <a:lnTo>
                      <a:pt x="132" y="25"/>
                    </a:lnTo>
                    <a:lnTo>
                      <a:pt x="145" y="37"/>
                    </a:lnTo>
                    <a:lnTo>
                      <a:pt x="158" y="46"/>
                    </a:lnTo>
                    <a:lnTo>
                      <a:pt x="162" y="54"/>
                    </a:lnTo>
                    <a:lnTo>
                      <a:pt x="164" y="59"/>
                    </a:lnTo>
                    <a:lnTo>
                      <a:pt x="162" y="65"/>
                    </a:lnTo>
                    <a:lnTo>
                      <a:pt x="156" y="71"/>
                    </a:lnTo>
                    <a:lnTo>
                      <a:pt x="143" y="82"/>
                    </a:lnTo>
                    <a:lnTo>
                      <a:pt x="130" y="94"/>
                    </a:lnTo>
                    <a:lnTo>
                      <a:pt x="122" y="97"/>
                    </a:lnTo>
                    <a:lnTo>
                      <a:pt x="113" y="103"/>
                    </a:lnTo>
                    <a:lnTo>
                      <a:pt x="103" y="109"/>
                    </a:lnTo>
                    <a:lnTo>
                      <a:pt x="92" y="113"/>
                    </a:lnTo>
                    <a:lnTo>
                      <a:pt x="80" y="118"/>
                    </a:lnTo>
                    <a:lnTo>
                      <a:pt x="69" y="118"/>
                    </a:lnTo>
                    <a:lnTo>
                      <a:pt x="61" y="118"/>
                    </a:lnTo>
                    <a:lnTo>
                      <a:pt x="52" y="115"/>
                    </a:lnTo>
                    <a:lnTo>
                      <a:pt x="40" y="105"/>
                    </a:lnTo>
                    <a:lnTo>
                      <a:pt x="29" y="96"/>
                    </a:lnTo>
                    <a:lnTo>
                      <a:pt x="18" y="84"/>
                    </a:lnTo>
                    <a:lnTo>
                      <a:pt x="6" y="71"/>
                    </a:lnTo>
                    <a:close/>
                  </a:path>
                </a:pathLst>
              </a:custGeom>
              <a:solidFill>
                <a:srgbClr val="33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61" name="Line 381"/>
              <p:cNvSpPr>
                <a:spLocks noChangeShapeType="1"/>
              </p:cNvSpPr>
              <p:nvPr/>
            </p:nvSpPr>
            <p:spPr bwMode="auto">
              <a:xfrm flipH="1" flipV="1">
                <a:off x="3024" y="576"/>
                <a:ext cx="4"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 name="Line 382"/>
              <p:cNvSpPr>
                <a:spLocks noChangeShapeType="1"/>
              </p:cNvSpPr>
              <p:nvPr/>
            </p:nvSpPr>
            <p:spPr bwMode="auto">
              <a:xfrm flipH="1" flipV="1">
                <a:off x="3022" y="569"/>
                <a:ext cx="2"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 name="Line 383"/>
              <p:cNvSpPr>
                <a:spLocks noChangeShapeType="1"/>
              </p:cNvSpPr>
              <p:nvPr/>
            </p:nvSpPr>
            <p:spPr bwMode="auto">
              <a:xfrm flipV="1">
                <a:off x="3022" y="563"/>
                <a:ext cx="2" cy="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 name="Line 384"/>
              <p:cNvSpPr>
                <a:spLocks noChangeShapeType="1"/>
              </p:cNvSpPr>
              <p:nvPr/>
            </p:nvSpPr>
            <p:spPr bwMode="auto">
              <a:xfrm flipV="1">
                <a:off x="3024" y="555"/>
                <a:ext cx="4"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5" name="Line 385"/>
              <p:cNvSpPr>
                <a:spLocks noChangeShapeType="1"/>
              </p:cNvSpPr>
              <p:nvPr/>
            </p:nvSpPr>
            <p:spPr bwMode="auto">
              <a:xfrm flipV="1">
                <a:off x="3028" y="544"/>
                <a:ext cx="11"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6" name="Line 386"/>
              <p:cNvSpPr>
                <a:spLocks noChangeShapeType="1"/>
              </p:cNvSpPr>
              <p:nvPr/>
            </p:nvSpPr>
            <p:spPr bwMode="auto">
              <a:xfrm flipV="1">
                <a:off x="3039" y="532"/>
                <a:ext cx="12" cy="1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7" name="Line 387"/>
              <p:cNvSpPr>
                <a:spLocks noChangeShapeType="1"/>
              </p:cNvSpPr>
              <p:nvPr/>
            </p:nvSpPr>
            <p:spPr bwMode="auto">
              <a:xfrm flipV="1">
                <a:off x="3051" y="525"/>
                <a:ext cx="11" cy="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8" name="Line 388"/>
              <p:cNvSpPr>
                <a:spLocks noChangeShapeType="1"/>
              </p:cNvSpPr>
              <p:nvPr/>
            </p:nvSpPr>
            <p:spPr bwMode="auto">
              <a:xfrm flipV="1">
                <a:off x="3062" y="517"/>
                <a:ext cx="16"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9" name="Line 389"/>
              <p:cNvSpPr>
                <a:spLocks noChangeShapeType="1"/>
              </p:cNvSpPr>
              <p:nvPr/>
            </p:nvSpPr>
            <p:spPr bwMode="auto">
              <a:xfrm flipV="1">
                <a:off x="3078" y="513"/>
                <a:ext cx="7" cy="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0" name="Line 390"/>
              <p:cNvSpPr>
                <a:spLocks noChangeShapeType="1"/>
              </p:cNvSpPr>
              <p:nvPr/>
            </p:nvSpPr>
            <p:spPr bwMode="auto">
              <a:xfrm>
                <a:off x="3085" y="513"/>
                <a:ext cx="1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1" name="Line 391"/>
              <p:cNvSpPr>
                <a:spLocks noChangeShapeType="1"/>
              </p:cNvSpPr>
              <p:nvPr/>
            </p:nvSpPr>
            <p:spPr bwMode="auto">
              <a:xfrm>
                <a:off x="3095" y="513"/>
                <a:ext cx="9"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2" name="Line 392"/>
              <p:cNvSpPr>
                <a:spLocks noChangeShapeType="1"/>
              </p:cNvSpPr>
              <p:nvPr/>
            </p:nvSpPr>
            <p:spPr bwMode="auto">
              <a:xfrm>
                <a:off x="3104" y="515"/>
                <a:ext cx="12"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 name="Line 393"/>
              <p:cNvSpPr>
                <a:spLocks noChangeShapeType="1"/>
              </p:cNvSpPr>
              <p:nvPr/>
            </p:nvSpPr>
            <p:spPr bwMode="auto">
              <a:xfrm>
                <a:off x="3116" y="519"/>
                <a:ext cx="11"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 name="Line 394"/>
              <p:cNvSpPr>
                <a:spLocks noChangeShapeType="1"/>
              </p:cNvSpPr>
              <p:nvPr/>
            </p:nvSpPr>
            <p:spPr bwMode="auto">
              <a:xfrm>
                <a:off x="3127" y="525"/>
                <a:ext cx="9"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5" name="Line 395"/>
              <p:cNvSpPr>
                <a:spLocks noChangeShapeType="1"/>
              </p:cNvSpPr>
              <p:nvPr/>
            </p:nvSpPr>
            <p:spPr bwMode="auto">
              <a:xfrm>
                <a:off x="3136" y="529"/>
                <a:ext cx="10" cy="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6" name="Line 396"/>
              <p:cNvSpPr>
                <a:spLocks noChangeShapeType="1"/>
              </p:cNvSpPr>
              <p:nvPr/>
            </p:nvSpPr>
            <p:spPr bwMode="auto">
              <a:xfrm>
                <a:off x="3146" y="534"/>
                <a:ext cx="8" cy="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7" name="Line 397"/>
              <p:cNvSpPr>
                <a:spLocks noChangeShapeType="1"/>
              </p:cNvSpPr>
              <p:nvPr/>
            </p:nvSpPr>
            <p:spPr bwMode="auto">
              <a:xfrm>
                <a:off x="3154" y="538"/>
                <a:ext cx="13"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8" name="Line 398"/>
              <p:cNvSpPr>
                <a:spLocks noChangeShapeType="1"/>
              </p:cNvSpPr>
              <p:nvPr/>
            </p:nvSpPr>
            <p:spPr bwMode="auto">
              <a:xfrm>
                <a:off x="3167" y="549"/>
                <a:ext cx="13" cy="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9" name="Line 399"/>
              <p:cNvSpPr>
                <a:spLocks noChangeShapeType="1"/>
              </p:cNvSpPr>
              <p:nvPr/>
            </p:nvSpPr>
            <p:spPr bwMode="auto">
              <a:xfrm>
                <a:off x="3180" y="559"/>
                <a:ext cx="4"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0" name="Line 400"/>
              <p:cNvSpPr>
                <a:spLocks noChangeShapeType="1"/>
              </p:cNvSpPr>
              <p:nvPr/>
            </p:nvSpPr>
            <p:spPr bwMode="auto">
              <a:xfrm>
                <a:off x="3184" y="567"/>
                <a:ext cx="2" cy="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1" name="Line 401"/>
              <p:cNvSpPr>
                <a:spLocks noChangeShapeType="1"/>
              </p:cNvSpPr>
              <p:nvPr/>
            </p:nvSpPr>
            <p:spPr bwMode="auto">
              <a:xfrm flipH="1">
                <a:off x="3184" y="572"/>
                <a:ext cx="2" cy="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2" name="Line 402"/>
              <p:cNvSpPr>
                <a:spLocks noChangeShapeType="1"/>
              </p:cNvSpPr>
              <p:nvPr/>
            </p:nvSpPr>
            <p:spPr bwMode="auto">
              <a:xfrm flipH="1">
                <a:off x="3178" y="578"/>
                <a:ext cx="6"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 name="Line 403"/>
              <p:cNvSpPr>
                <a:spLocks noChangeShapeType="1"/>
              </p:cNvSpPr>
              <p:nvPr/>
            </p:nvSpPr>
            <p:spPr bwMode="auto">
              <a:xfrm flipH="1">
                <a:off x="3165" y="584"/>
                <a:ext cx="13"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 name="Line 404"/>
              <p:cNvSpPr>
                <a:spLocks noChangeShapeType="1"/>
              </p:cNvSpPr>
              <p:nvPr/>
            </p:nvSpPr>
            <p:spPr bwMode="auto">
              <a:xfrm flipH="1">
                <a:off x="3152" y="595"/>
                <a:ext cx="13" cy="1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5" name="Line 405"/>
              <p:cNvSpPr>
                <a:spLocks noChangeShapeType="1"/>
              </p:cNvSpPr>
              <p:nvPr/>
            </p:nvSpPr>
            <p:spPr bwMode="auto">
              <a:xfrm flipH="1">
                <a:off x="3144" y="607"/>
                <a:ext cx="8"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6" name="Line 406"/>
              <p:cNvSpPr>
                <a:spLocks noChangeShapeType="1"/>
              </p:cNvSpPr>
              <p:nvPr/>
            </p:nvSpPr>
            <p:spPr bwMode="auto">
              <a:xfrm flipH="1">
                <a:off x="3135" y="610"/>
                <a:ext cx="9"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7" name="Line 407"/>
              <p:cNvSpPr>
                <a:spLocks noChangeShapeType="1"/>
              </p:cNvSpPr>
              <p:nvPr/>
            </p:nvSpPr>
            <p:spPr bwMode="auto">
              <a:xfrm flipH="1">
                <a:off x="3125" y="616"/>
                <a:ext cx="10"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8" name="Line 408"/>
              <p:cNvSpPr>
                <a:spLocks noChangeShapeType="1"/>
              </p:cNvSpPr>
              <p:nvPr/>
            </p:nvSpPr>
            <p:spPr bwMode="auto">
              <a:xfrm flipH="1">
                <a:off x="3114" y="622"/>
                <a:ext cx="11"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9" name="Line 409"/>
              <p:cNvSpPr>
                <a:spLocks noChangeShapeType="1"/>
              </p:cNvSpPr>
              <p:nvPr/>
            </p:nvSpPr>
            <p:spPr bwMode="auto">
              <a:xfrm flipH="1">
                <a:off x="3102" y="626"/>
                <a:ext cx="12" cy="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0" name="Line 410"/>
              <p:cNvSpPr>
                <a:spLocks noChangeShapeType="1"/>
              </p:cNvSpPr>
              <p:nvPr/>
            </p:nvSpPr>
            <p:spPr bwMode="auto">
              <a:xfrm flipH="1">
                <a:off x="3091" y="631"/>
                <a:ext cx="1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1" name="Line 411"/>
              <p:cNvSpPr>
                <a:spLocks noChangeShapeType="1"/>
              </p:cNvSpPr>
              <p:nvPr/>
            </p:nvSpPr>
            <p:spPr bwMode="auto">
              <a:xfrm flipH="1">
                <a:off x="3083" y="631"/>
                <a:ext cx="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2" name="Line 412"/>
              <p:cNvSpPr>
                <a:spLocks noChangeShapeType="1"/>
              </p:cNvSpPr>
              <p:nvPr/>
            </p:nvSpPr>
            <p:spPr bwMode="auto">
              <a:xfrm flipH="1" flipV="1">
                <a:off x="3074" y="627"/>
                <a:ext cx="9"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 name="Line 413"/>
              <p:cNvSpPr>
                <a:spLocks noChangeShapeType="1"/>
              </p:cNvSpPr>
              <p:nvPr/>
            </p:nvSpPr>
            <p:spPr bwMode="auto">
              <a:xfrm flipH="1" flipV="1">
                <a:off x="3062" y="618"/>
                <a:ext cx="12"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 name="Line 414"/>
              <p:cNvSpPr>
                <a:spLocks noChangeShapeType="1"/>
              </p:cNvSpPr>
              <p:nvPr/>
            </p:nvSpPr>
            <p:spPr bwMode="auto">
              <a:xfrm flipH="1" flipV="1">
                <a:off x="3051" y="608"/>
                <a:ext cx="11" cy="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5" name="Line 415"/>
              <p:cNvSpPr>
                <a:spLocks noChangeShapeType="1"/>
              </p:cNvSpPr>
              <p:nvPr/>
            </p:nvSpPr>
            <p:spPr bwMode="auto">
              <a:xfrm flipH="1" flipV="1">
                <a:off x="3039" y="597"/>
                <a:ext cx="12"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6" name="Line 416"/>
              <p:cNvSpPr>
                <a:spLocks noChangeShapeType="1"/>
              </p:cNvSpPr>
              <p:nvPr/>
            </p:nvSpPr>
            <p:spPr bwMode="auto">
              <a:xfrm flipH="1" flipV="1">
                <a:off x="3028" y="584"/>
                <a:ext cx="11" cy="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7" name="Freeform 417"/>
              <p:cNvSpPr>
                <a:spLocks/>
              </p:cNvSpPr>
              <p:nvPr/>
            </p:nvSpPr>
            <p:spPr bwMode="auto">
              <a:xfrm>
                <a:off x="2766" y="542"/>
                <a:ext cx="89" cy="61"/>
              </a:xfrm>
              <a:custGeom>
                <a:avLst/>
                <a:gdLst>
                  <a:gd name="T0" fmla="*/ 83 w 89"/>
                  <a:gd name="T1" fmla="*/ 38 h 61"/>
                  <a:gd name="T2" fmla="*/ 87 w 89"/>
                  <a:gd name="T3" fmla="*/ 34 h 61"/>
                  <a:gd name="T4" fmla="*/ 89 w 89"/>
                  <a:gd name="T5" fmla="*/ 30 h 61"/>
                  <a:gd name="T6" fmla="*/ 87 w 89"/>
                  <a:gd name="T7" fmla="*/ 27 h 61"/>
                  <a:gd name="T8" fmla="*/ 83 w 89"/>
                  <a:gd name="T9" fmla="*/ 23 h 61"/>
                  <a:gd name="T10" fmla="*/ 72 w 89"/>
                  <a:gd name="T11" fmla="*/ 15 h 61"/>
                  <a:gd name="T12" fmla="*/ 61 w 89"/>
                  <a:gd name="T13" fmla="*/ 7 h 61"/>
                  <a:gd name="T14" fmla="*/ 47 w 89"/>
                  <a:gd name="T15" fmla="*/ 2 h 61"/>
                  <a:gd name="T16" fmla="*/ 36 w 89"/>
                  <a:gd name="T17" fmla="*/ 0 h 61"/>
                  <a:gd name="T18" fmla="*/ 25 w 89"/>
                  <a:gd name="T19" fmla="*/ 2 h 61"/>
                  <a:gd name="T20" fmla="*/ 15 w 89"/>
                  <a:gd name="T21" fmla="*/ 6 h 61"/>
                  <a:gd name="T22" fmla="*/ 9 w 89"/>
                  <a:gd name="T23" fmla="*/ 9 h 61"/>
                  <a:gd name="T24" fmla="*/ 4 w 89"/>
                  <a:gd name="T25" fmla="*/ 17 h 61"/>
                  <a:gd name="T26" fmla="*/ 0 w 89"/>
                  <a:gd name="T27" fmla="*/ 23 h 61"/>
                  <a:gd name="T28" fmla="*/ 0 w 89"/>
                  <a:gd name="T29" fmla="*/ 30 h 61"/>
                  <a:gd name="T30" fmla="*/ 0 w 89"/>
                  <a:gd name="T31" fmla="*/ 38 h 61"/>
                  <a:gd name="T32" fmla="*/ 4 w 89"/>
                  <a:gd name="T33" fmla="*/ 46 h 61"/>
                  <a:gd name="T34" fmla="*/ 9 w 89"/>
                  <a:gd name="T35" fmla="*/ 53 h 61"/>
                  <a:gd name="T36" fmla="*/ 17 w 89"/>
                  <a:gd name="T37" fmla="*/ 57 h 61"/>
                  <a:gd name="T38" fmla="*/ 26 w 89"/>
                  <a:gd name="T39" fmla="*/ 61 h 61"/>
                  <a:gd name="T40" fmla="*/ 36 w 89"/>
                  <a:gd name="T41" fmla="*/ 61 h 61"/>
                  <a:gd name="T42" fmla="*/ 47 w 89"/>
                  <a:gd name="T43" fmla="*/ 57 h 61"/>
                  <a:gd name="T44" fmla="*/ 61 w 89"/>
                  <a:gd name="T45" fmla="*/ 53 h 61"/>
                  <a:gd name="T46" fmla="*/ 74 w 89"/>
                  <a:gd name="T47" fmla="*/ 46 h 61"/>
                  <a:gd name="T48" fmla="*/ 83 w 89"/>
                  <a:gd name="T49" fmla="*/ 38 h 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9"/>
                  <a:gd name="T76" fmla="*/ 0 h 61"/>
                  <a:gd name="T77" fmla="*/ 89 w 89"/>
                  <a:gd name="T78" fmla="*/ 61 h 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9" h="61">
                    <a:moveTo>
                      <a:pt x="83" y="38"/>
                    </a:moveTo>
                    <a:lnTo>
                      <a:pt x="87" y="34"/>
                    </a:lnTo>
                    <a:lnTo>
                      <a:pt x="89" y="30"/>
                    </a:lnTo>
                    <a:lnTo>
                      <a:pt x="87" y="27"/>
                    </a:lnTo>
                    <a:lnTo>
                      <a:pt x="83" y="23"/>
                    </a:lnTo>
                    <a:lnTo>
                      <a:pt x="72" y="15"/>
                    </a:lnTo>
                    <a:lnTo>
                      <a:pt x="61" y="7"/>
                    </a:lnTo>
                    <a:lnTo>
                      <a:pt x="47" y="2"/>
                    </a:lnTo>
                    <a:lnTo>
                      <a:pt x="36" y="0"/>
                    </a:lnTo>
                    <a:lnTo>
                      <a:pt x="25" y="2"/>
                    </a:lnTo>
                    <a:lnTo>
                      <a:pt x="15" y="6"/>
                    </a:lnTo>
                    <a:lnTo>
                      <a:pt x="9" y="9"/>
                    </a:lnTo>
                    <a:lnTo>
                      <a:pt x="4" y="17"/>
                    </a:lnTo>
                    <a:lnTo>
                      <a:pt x="0" y="23"/>
                    </a:lnTo>
                    <a:lnTo>
                      <a:pt x="0" y="30"/>
                    </a:lnTo>
                    <a:lnTo>
                      <a:pt x="0" y="38"/>
                    </a:lnTo>
                    <a:lnTo>
                      <a:pt x="4" y="46"/>
                    </a:lnTo>
                    <a:lnTo>
                      <a:pt x="9" y="53"/>
                    </a:lnTo>
                    <a:lnTo>
                      <a:pt x="17" y="57"/>
                    </a:lnTo>
                    <a:lnTo>
                      <a:pt x="26" y="61"/>
                    </a:lnTo>
                    <a:lnTo>
                      <a:pt x="36" y="61"/>
                    </a:lnTo>
                    <a:lnTo>
                      <a:pt x="47" y="57"/>
                    </a:lnTo>
                    <a:lnTo>
                      <a:pt x="61" y="53"/>
                    </a:lnTo>
                    <a:lnTo>
                      <a:pt x="74" y="46"/>
                    </a:lnTo>
                    <a:lnTo>
                      <a:pt x="83" y="38"/>
                    </a:lnTo>
                    <a:close/>
                  </a:path>
                </a:pathLst>
              </a:custGeom>
              <a:solidFill>
                <a:srgbClr val="33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17" name="Line 418"/>
            <p:cNvSpPr>
              <a:spLocks noChangeShapeType="1"/>
            </p:cNvSpPr>
            <p:nvPr/>
          </p:nvSpPr>
          <p:spPr bwMode="auto">
            <a:xfrm flipV="1">
              <a:off x="2851" y="578"/>
              <a:ext cx="4"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419"/>
            <p:cNvSpPr>
              <a:spLocks noChangeShapeType="1"/>
            </p:cNvSpPr>
            <p:nvPr/>
          </p:nvSpPr>
          <p:spPr bwMode="auto">
            <a:xfrm flipV="1">
              <a:off x="2855" y="574"/>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420"/>
            <p:cNvSpPr>
              <a:spLocks noChangeShapeType="1"/>
            </p:cNvSpPr>
            <p:nvPr/>
          </p:nvSpPr>
          <p:spPr bwMode="auto">
            <a:xfrm flipH="1" flipV="1">
              <a:off x="2855" y="570"/>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421"/>
            <p:cNvSpPr>
              <a:spLocks noChangeShapeType="1"/>
            </p:cNvSpPr>
            <p:nvPr/>
          </p:nvSpPr>
          <p:spPr bwMode="auto">
            <a:xfrm flipH="1" flipV="1">
              <a:off x="2851" y="567"/>
              <a:ext cx="4"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422"/>
            <p:cNvSpPr>
              <a:spLocks noChangeShapeType="1"/>
            </p:cNvSpPr>
            <p:nvPr/>
          </p:nvSpPr>
          <p:spPr bwMode="auto">
            <a:xfrm flipH="1" flipV="1">
              <a:off x="2840" y="559"/>
              <a:ext cx="11"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423"/>
            <p:cNvSpPr>
              <a:spLocks noChangeShapeType="1"/>
            </p:cNvSpPr>
            <p:nvPr/>
          </p:nvSpPr>
          <p:spPr bwMode="auto">
            <a:xfrm flipH="1" flipV="1">
              <a:off x="2829" y="551"/>
              <a:ext cx="11"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424"/>
            <p:cNvSpPr>
              <a:spLocks noChangeShapeType="1"/>
            </p:cNvSpPr>
            <p:nvPr/>
          </p:nvSpPr>
          <p:spPr bwMode="auto">
            <a:xfrm flipH="1" flipV="1">
              <a:off x="2815" y="546"/>
              <a:ext cx="14"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425"/>
            <p:cNvSpPr>
              <a:spLocks noChangeShapeType="1"/>
            </p:cNvSpPr>
            <p:nvPr/>
          </p:nvSpPr>
          <p:spPr bwMode="auto">
            <a:xfrm flipH="1" flipV="1">
              <a:off x="2804" y="544"/>
              <a:ext cx="11"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426"/>
            <p:cNvSpPr>
              <a:spLocks noChangeShapeType="1"/>
            </p:cNvSpPr>
            <p:nvPr/>
          </p:nvSpPr>
          <p:spPr bwMode="auto">
            <a:xfrm flipH="1">
              <a:off x="2792" y="544"/>
              <a:ext cx="12"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427"/>
            <p:cNvSpPr>
              <a:spLocks noChangeShapeType="1"/>
            </p:cNvSpPr>
            <p:nvPr/>
          </p:nvSpPr>
          <p:spPr bwMode="auto">
            <a:xfrm flipH="1">
              <a:off x="2783" y="546"/>
              <a:ext cx="9"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428"/>
            <p:cNvSpPr>
              <a:spLocks noChangeShapeType="1"/>
            </p:cNvSpPr>
            <p:nvPr/>
          </p:nvSpPr>
          <p:spPr bwMode="auto">
            <a:xfrm flipH="1">
              <a:off x="2777" y="549"/>
              <a:ext cx="6"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429"/>
            <p:cNvSpPr>
              <a:spLocks noChangeShapeType="1"/>
            </p:cNvSpPr>
            <p:nvPr/>
          </p:nvSpPr>
          <p:spPr bwMode="auto">
            <a:xfrm flipH="1">
              <a:off x="2772" y="553"/>
              <a:ext cx="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430"/>
            <p:cNvSpPr>
              <a:spLocks noChangeShapeType="1"/>
            </p:cNvSpPr>
            <p:nvPr/>
          </p:nvSpPr>
          <p:spPr bwMode="auto">
            <a:xfrm flipH="1">
              <a:off x="2768" y="561"/>
              <a:ext cx="4"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431"/>
            <p:cNvSpPr>
              <a:spLocks noChangeShapeType="1"/>
            </p:cNvSpPr>
            <p:nvPr/>
          </p:nvSpPr>
          <p:spPr bwMode="auto">
            <a:xfrm>
              <a:off x="2768" y="567"/>
              <a:ext cx="1"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432"/>
            <p:cNvSpPr>
              <a:spLocks noChangeShapeType="1"/>
            </p:cNvSpPr>
            <p:nvPr/>
          </p:nvSpPr>
          <p:spPr bwMode="auto">
            <a:xfrm>
              <a:off x="2768" y="574"/>
              <a:ext cx="1"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433"/>
            <p:cNvSpPr>
              <a:spLocks noChangeShapeType="1"/>
            </p:cNvSpPr>
            <p:nvPr/>
          </p:nvSpPr>
          <p:spPr bwMode="auto">
            <a:xfrm>
              <a:off x="2768" y="582"/>
              <a:ext cx="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434"/>
            <p:cNvSpPr>
              <a:spLocks noChangeShapeType="1"/>
            </p:cNvSpPr>
            <p:nvPr/>
          </p:nvSpPr>
          <p:spPr bwMode="auto">
            <a:xfrm>
              <a:off x="2772" y="589"/>
              <a:ext cx="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435"/>
            <p:cNvSpPr>
              <a:spLocks noChangeShapeType="1"/>
            </p:cNvSpPr>
            <p:nvPr/>
          </p:nvSpPr>
          <p:spPr bwMode="auto">
            <a:xfrm>
              <a:off x="2777" y="597"/>
              <a:ext cx="8"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436"/>
            <p:cNvSpPr>
              <a:spLocks noChangeShapeType="1"/>
            </p:cNvSpPr>
            <p:nvPr/>
          </p:nvSpPr>
          <p:spPr bwMode="auto">
            <a:xfrm>
              <a:off x="2785" y="601"/>
              <a:ext cx="9"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437"/>
            <p:cNvSpPr>
              <a:spLocks noChangeShapeType="1"/>
            </p:cNvSpPr>
            <p:nvPr/>
          </p:nvSpPr>
          <p:spPr bwMode="auto">
            <a:xfrm>
              <a:off x="2794" y="605"/>
              <a:ext cx="10"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438"/>
            <p:cNvSpPr>
              <a:spLocks noChangeShapeType="1"/>
            </p:cNvSpPr>
            <p:nvPr/>
          </p:nvSpPr>
          <p:spPr bwMode="auto">
            <a:xfrm flipV="1">
              <a:off x="2804" y="601"/>
              <a:ext cx="1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439"/>
            <p:cNvSpPr>
              <a:spLocks noChangeShapeType="1"/>
            </p:cNvSpPr>
            <p:nvPr/>
          </p:nvSpPr>
          <p:spPr bwMode="auto">
            <a:xfrm flipV="1">
              <a:off x="2815" y="597"/>
              <a:ext cx="14"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440"/>
            <p:cNvSpPr>
              <a:spLocks noChangeShapeType="1"/>
            </p:cNvSpPr>
            <p:nvPr/>
          </p:nvSpPr>
          <p:spPr bwMode="auto">
            <a:xfrm flipV="1">
              <a:off x="2829" y="589"/>
              <a:ext cx="13"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41"/>
            <p:cNvSpPr>
              <a:spLocks noChangeShapeType="1"/>
            </p:cNvSpPr>
            <p:nvPr/>
          </p:nvSpPr>
          <p:spPr bwMode="auto">
            <a:xfrm flipV="1">
              <a:off x="2842" y="582"/>
              <a:ext cx="9"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Freeform 442"/>
            <p:cNvSpPr>
              <a:spLocks/>
            </p:cNvSpPr>
            <p:nvPr/>
          </p:nvSpPr>
          <p:spPr bwMode="auto">
            <a:xfrm>
              <a:off x="3186" y="542"/>
              <a:ext cx="91" cy="61"/>
            </a:xfrm>
            <a:custGeom>
              <a:avLst/>
              <a:gdLst>
                <a:gd name="T0" fmla="*/ 6 w 91"/>
                <a:gd name="T1" fmla="*/ 38 h 61"/>
                <a:gd name="T2" fmla="*/ 2 w 91"/>
                <a:gd name="T3" fmla="*/ 34 h 61"/>
                <a:gd name="T4" fmla="*/ 0 w 91"/>
                <a:gd name="T5" fmla="*/ 30 h 61"/>
                <a:gd name="T6" fmla="*/ 2 w 91"/>
                <a:gd name="T7" fmla="*/ 27 h 61"/>
                <a:gd name="T8" fmla="*/ 6 w 91"/>
                <a:gd name="T9" fmla="*/ 23 h 61"/>
                <a:gd name="T10" fmla="*/ 17 w 91"/>
                <a:gd name="T11" fmla="*/ 15 h 61"/>
                <a:gd name="T12" fmla="*/ 30 w 91"/>
                <a:gd name="T13" fmla="*/ 7 h 61"/>
                <a:gd name="T14" fmla="*/ 44 w 91"/>
                <a:gd name="T15" fmla="*/ 2 h 61"/>
                <a:gd name="T16" fmla="*/ 55 w 91"/>
                <a:gd name="T17" fmla="*/ 0 h 61"/>
                <a:gd name="T18" fmla="*/ 64 w 91"/>
                <a:gd name="T19" fmla="*/ 2 h 61"/>
                <a:gd name="T20" fmla="*/ 74 w 91"/>
                <a:gd name="T21" fmla="*/ 6 h 61"/>
                <a:gd name="T22" fmla="*/ 82 w 91"/>
                <a:gd name="T23" fmla="*/ 9 h 61"/>
                <a:gd name="T24" fmla="*/ 85 w 91"/>
                <a:gd name="T25" fmla="*/ 17 h 61"/>
                <a:gd name="T26" fmla="*/ 89 w 91"/>
                <a:gd name="T27" fmla="*/ 23 h 61"/>
                <a:gd name="T28" fmla="*/ 91 w 91"/>
                <a:gd name="T29" fmla="*/ 30 h 61"/>
                <a:gd name="T30" fmla="*/ 89 w 91"/>
                <a:gd name="T31" fmla="*/ 38 h 61"/>
                <a:gd name="T32" fmla="*/ 85 w 91"/>
                <a:gd name="T33" fmla="*/ 46 h 61"/>
                <a:gd name="T34" fmla="*/ 80 w 91"/>
                <a:gd name="T35" fmla="*/ 53 h 61"/>
                <a:gd name="T36" fmla="*/ 72 w 91"/>
                <a:gd name="T37" fmla="*/ 57 h 61"/>
                <a:gd name="T38" fmla="*/ 63 w 91"/>
                <a:gd name="T39" fmla="*/ 61 h 61"/>
                <a:gd name="T40" fmla="*/ 53 w 91"/>
                <a:gd name="T41" fmla="*/ 61 h 61"/>
                <a:gd name="T42" fmla="*/ 42 w 91"/>
                <a:gd name="T43" fmla="*/ 57 h 61"/>
                <a:gd name="T44" fmla="*/ 30 w 91"/>
                <a:gd name="T45" fmla="*/ 53 h 61"/>
                <a:gd name="T46" fmla="*/ 17 w 91"/>
                <a:gd name="T47" fmla="*/ 46 h 61"/>
                <a:gd name="T48" fmla="*/ 6 w 91"/>
                <a:gd name="T49" fmla="*/ 38 h 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
                <a:gd name="T76" fmla="*/ 0 h 61"/>
                <a:gd name="T77" fmla="*/ 91 w 91"/>
                <a:gd name="T78" fmla="*/ 61 h 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 h="61">
                  <a:moveTo>
                    <a:pt x="6" y="38"/>
                  </a:moveTo>
                  <a:lnTo>
                    <a:pt x="2" y="34"/>
                  </a:lnTo>
                  <a:lnTo>
                    <a:pt x="0" y="30"/>
                  </a:lnTo>
                  <a:lnTo>
                    <a:pt x="2" y="27"/>
                  </a:lnTo>
                  <a:lnTo>
                    <a:pt x="6" y="23"/>
                  </a:lnTo>
                  <a:lnTo>
                    <a:pt x="17" y="15"/>
                  </a:lnTo>
                  <a:lnTo>
                    <a:pt x="30" y="7"/>
                  </a:lnTo>
                  <a:lnTo>
                    <a:pt x="44" y="2"/>
                  </a:lnTo>
                  <a:lnTo>
                    <a:pt x="55" y="0"/>
                  </a:lnTo>
                  <a:lnTo>
                    <a:pt x="64" y="2"/>
                  </a:lnTo>
                  <a:lnTo>
                    <a:pt x="74" y="6"/>
                  </a:lnTo>
                  <a:lnTo>
                    <a:pt x="82" y="9"/>
                  </a:lnTo>
                  <a:lnTo>
                    <a:pt x="85" y="17"/>
                  </a:lnTo>
                  <a:lnTo>
                    <a:pt x="89" y="23"/>
                  </a:lnTo>
                  <a:lnTo>
                    <a:pt x="91" y="30"/>
                  </a:lnTo>
                  <a:lnTo>
                    <a:pt x="89" y="38"/>
                  </a:lnTo>
                  <a:lnTo>
                    <a:pt x="85" y="46"/>
                  </a:lnTo>
                  <a:lnTo>
                    <a:pt x="80" y="53"/>
                  </a:lnTo>
                  <a:lnTo>
                    <a:pt x="72" y="57"/>
                  </a:lnTo>
                  <a:lnTo>
                    <a:pt x="63" y="61"/>
                  </a:lnTo>
                  <a:lnTo>
                    <a:pt x="53" y="61"/>
                  </a:lnTo>
                  <a:lnTo>
                    <a:pt x="42" y="57"/>
                  </a:lnTo>
                  <a:lnTo>
                    <a:pt x="30" y="53"/>
                  </a:lnTo>
                  <a:lnTo>
                    <a:pt x="17" y="46"/>
                  </a:lnTo>
                  <a:lnTo>
                    <a:pt x="6" y="38"/>
                  </a:lnTo>
                  <a:close/>
                </a:path>
              </a:pathLst>
            </a:custGeom>
            <a:solidFill>
              <a:srgbClr val="33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2" name="Line 443"/>
            <p:cNvSpPr>
              <a:spLocks noChangeShapeType="1"/>
            </p:cNvSpPr>
            <p:nvPr/>
          </p:nvSpPr>
          <p:spPr bwMode="auto">
            <a:xfrm flipH="1" flipV="1">
              <a:off x="3190" y="578"/>
              <a:ext cx="3"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44"/>
            <p:cNvSpPr>
              <a:spLocks noChangeShapeType="1"/>
            </p:cNvSpPr>
            <p:nvPr/>
          </p:nvSpPr>
          <p:spPr bwMode="auto">
            <a:xfrm flipH="1" flipV="1">
              <a:off x="3188" y="574"/>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45"/>
            <p:cNvSpPr>
              <a:spLocks noChangeShapeType="1"/>
            </p:cNvSpPr>
            <p:nvPr/>
          </p:nvSpPr>
          <p:spPr bwMode="auto">
            <a:xfrm flipV="1">
              <a:off x="3188" y="570"/>
              <a:ext cx="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46"/>
            <p:cNvSpPr>
              <a:spLocks noChangeShapeType="1"/>
            </p:cNvSpPr>
            <p:nvPr/>
          </p:nvSpPr>
          <p:spPr bwMode="auto">
            <a:xfrm flipV="1">
              <a:off x="3190" y="567"/>
              <a:ext cx="3"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47"/>
            <p:cNvSpPr>
              <a:spLocks noChangeShapeType="1"/>
            </p:cNvSpPr>
            <p:nvPr/>
          </p:nvSpPr>
          <p:spPr bwMode="auto">
            <a:xfrm flipV="1">
              <a:off x="3193" y="559"/>
              <a:ext cx="1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48"/>
            <p:cNvSpPr>
              <a:spLocks noChangeShapeType="1"/>
            </p:cNvSpPr>
            <p:nvPr/>
          </p:nvSpPr>
          <p:spPr bwMode="auto">
            <a:xfrm flipV="1">
              <a:off x="3205" y="551"/>
              <a:ext cx="13"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49"/>
            <p:cNvSpPr>
              <a:spLocks noChangeShapeType="1"/>
            </p:cNvSpPr>
            <p:nvPr/>
          </p:nvSpPr>
          <p:spPr bwMode="auto">
            <a:xfrm flipV="1">
              <a:off x="3218" y="546"/>
              <a:ext cx="13"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50"/>
            <p:cNvSpPr>
              <a:spLocks noChangeShapeType="1"/>
            </p:cNvSpPr>
            <p:nvPr/>
          </p:nvSpPr>
          <p:spPr bwMode="auto">
            <a:xfrm flipV="1">
              <a:off x="3231" y="544"/>
              <a:ext cx="12"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51"/>
            <p:cNvSpPr>
              <a:spLocks noChangeShapeType="1"/>
            </p:cNvSpPr>
            <p:nvPr/>
          </p:nvSpPr>
          <p:spPr bwMode="auto">
            <a:xfrm>
              <a:off x="3243" y="544"/>
              <a:ext cx="9"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452"/>
            <p:cNvSpPr>
              <a:spLocks noChangeShapeType="1"/>
            </p:cNvSpPr>
            <p:nvPr/>
          </p:nvSpPr>
          <p:spPr bwMode="auto">
            <a:xfrm>
              <a:off x="3252" y="546"/>
              <a:ext cx="10"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453"/>
            <p:cNvSpPr>
              <a:spLocks noChangeShapeType="1"/>
            </p:cNvSpPr>
            <p:nvPr/>
          </p:nvSpPr>
          <p:spPr bwMode="auto">
            <a:xfrm>
              <a:off x="3262" y="549"/>
              <a:ext cx="7"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454"/>
            <p:cNvSpPr>
              <a:spLocks noChangeShapeType="1"/>
            </p:cNvSpPr>
            <p:nvPr/>
          </p:nvSpPr>
          <p:spPr bwMode="auto">
            <a:xfrm>
              <a:off x="3269" y="553"/>
              <a:ext cx="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455"/>
            <p:cNvSpPr>
              <a:spLocks noChangeShapeType="1"/>
            </p:cNvSpPr>
            <p:nvPr/>
          </p:nvSpPr>
          <p:spPr bwMode="auto">
            <a:xfrm>
              <a:off x="3273" y="561"/>
              <a:ext cx="4"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456"/>
            <p:cNvSpPr>
              <a:spLocks noChangeShapeType="1"/>
            </p:cNvSpPr>
            <p:nvPr/>
          </p:nvSpPr>
          <p:spPr bwMode="auto">
            <a:xfrm>
              <a:off x="3277" y="567"/>
              <a:ext cx="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457"/>
            <p:cNvSpPr>
              <a:spLocks noChangeShapeType="1"/>
            </p:cNvSpPr>
            <p:nvPr/>
          </p:nvSpPr>
          <p:spPr bwMode="auto">
            <a:xfrm flipH="1">
              <a:off x="3277" y="574"/>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458"/>
            <p:cNvSpPr>
              <a:spLocks noChangeShapeType="1"/>
            </p:cNvSpPr>
            <p:nvPr/>
          </p:nvSpPr>
          <p:spPr bwMode="auto">
            <a:xfrm flipH="1">
              <a:off x="3273" y="582"/>
              <a:ext cx="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459"/>
            <p:cNvSpPr>
              <a:spLocks noChangeShapeType="1"/>
            </p:cNvSpPr>
            <p:nvPr/>
          </p:nvSpPr>
          <p:spPr bwMode="auto">
            <a:xfrm flipH="1">
              <a:off x="3268" y="589"/>
              <a:ext cx="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460"/>
            <p:cNvSpPr>
              <a:spLocks noChangeShapeType="1"/>
            </p:cNvSpPr>
            <p:nvPr/>
          </p:nvSpPr>
          <p:spPr bwMode="auto">
            <a:xfrm flipH="1">
              <a:off x="3260" y="597"/>
              <a:ext cx="8"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461"/>
            <p:cNvSpPr>
              <a:spLocks noChangeShapeType="1"/>
            </p:cNvSpPr>
            <p:nvPr/>
          </p:nvSpPr>
          <p:spPr bwMode="auto">
            <a:xfrm flipH="1">
              <a:off x="3250" y="601"/>
              <a:ext cx="10"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462"/>
            <p:cNvSpPr>
              <a:spLocks noChangeShapeType="1"/>
            </p:cNvSpPr>
            <p:nvPr/>
          </p:nvSpPr>
          <p:spPr bwMode="auto">
            <a:xfrm flipH="1">
              <a:off x="3241" y="605"/>
              <a:ext cx="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463"/>
            <p:cNvSpPr>
              <a:spLocks noChangeShapeType="1"/>
            </p:cNvSpPr>
            <p:nvPr/>
          </p:nvSpPr>
          <p:spPr bwMode="auto">
            <a:xfrm flipH="1" flipV="1">
              <a:off x="3230" y="601"/>
              <a:ext cx="1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464"/>
            <p:cNvSpPr>
              <a:spLocks noChangeShapeType="1"/>
            </p:cNvSpPr>
            <p:nvPr/>
          </p:nvSpPr>
          <p:spPr bwMode="auto">
            <a:xfrm flipH="1" flipV="1">
              <a:off x="3218" y="597"/>
              <a:ext cx="12"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465"/>
            <p:cNvSpPr>
              <a:spLocks noChangeShapeType="1"/>
            </p:cNvSpPr>
            <p:nvPr/>
          </p:nvSpPr>
          <p:spPr bwMode="auto">
            <a:xfrm flipH="1" flipV="1">
              <a:off x="3205" y="589"/>
              <a:ext cx="13"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466"/>
            <p:cNvSpPr>
              <a:spLocks noChangeShapeType="1"/>
            </p:cNvSpPr>
            <p:nvPr/>
          </p:nvSpPr>
          <p:spPr bwMode="auto">
            <a:xfrm flipH="1" flipV="1">
              <a:off x="3193" y="582"/>
              <a:ext cx="1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Oval 467"/>
            <p:cNvSpPr>
              <a:spLocks noChangeArrowheads="1"/>
            </p:cNvSpPr>
            <p:nvPr/>
          </p:nvSpPr>
          <p:spPr bwMode="auto">
            <a:xfrm>
              <a:off x="2266" y="675"/>
              <a:ext cx="28" cy="34"/>
            </a:xfrm>
            <a:prstGeom prst="ellipse">
              <a:avLst/>
            </a:prstGeom>
            <a:solidFill>
              <a:srgbClr val="000000"/>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7" name="Oval 468"/>
            <p:cNvSpPr>
              <a:spLocks noChangeArrowheads="1"/>
            </p:cNvSpPr>
            <p:nvPr/>
          </p:nvSpPr>
          <p:spPr bwMode="auto">
            <a:xfrm>
              <a:off x="2842" y="557"/>
              <a:ext cx="30" cy="34"/>
            </a:xfrm>
            <a:prstGeom prst="ellipse">
              <a:avLst/>
            </a:prstGeom>
            <a:solidFill>
              <a:srgbClr val="000000"/>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8" name="Oval 469"/>
            <p:cNvSpPr>
              <a:spLocks noChangeArrowheads="1"/>
            </p:cNvSpPr>
            <p:nvPr/>
          </p:nvSpPr>
          <p:spPr bwMode="auto">
            <a:xfrm>
              <a:off x="3175" y="557"/>
              <a:ext cx="30" cy="34"/>
            </a:xfrm>
            <a:prstGeom prst="ellipse">
              <a:avLst/>
            </a:prstGeom>
            <a:solidFill>
              <a:srgbClr val="000000"/>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9" name="Freeform 470"/>
            <p:cNvSpPr>
              <a:spLocks/>
            </p:cNvSpPr>
            <p:nvPr/>
          </p:nvSpPr>
          <p:spPr bwMode="auto">
            <a:xfrm>
              <a:off x="2363" y="1000"/>
              <a:ext cx="30" cy="44"/>
            </a:xfrm>
            <a:custGeom>
              <a:avLst/>
              <a:gdLst>
                <a:gd name="T0" fmla="*/ 15 w 30"/>
                <a:gd name="T1" fmla="*/ 44 h 44"/>
                <a:gd name="T2" fmla="*/ 0 w 30"/>
                <a:gd name="T3" fmla="*/ 0 h 44"/>
                <a:gd name="T4" fmla="*/ 15 w 30"/>
                <a:gd name="T5" fmla="*/ 21 h 44"/>
                <a:gd name="T6" fmla="*/ 30 w 30"/>
                <a:gd name="T7" fmla="*/ 0 h 44"/>
                <a:gd name="T8" fmla="*/ 15 w 30"/>
                <a:gd name="T9" fmla="*/ 44 h 44"/>
                <a:gd name="T10" fmla="*/ 0 60000 65536"/>
                <a:gd name="T11" fmla="*/ 0 60000 65536"/>
                <a:gd name="T12" fmla="*/ 0 60000 65536"/>
                <a:gd name="T13" fmla="*/ 0 60000 65536"/>
                <a:gd name="T14" fmla="*/ 0 60000 65536"/>
                <a:gd name="T15" fmla="*/ 0 w 30"/>
                <a:gd name="T16" fmla="*/ 0 h 44"/>
                <a:gd name="T17" fmla="*/ 30 w 30"/>
                <a:gd name="T18" fmla="*/ 44 h 44"/>
              </a:gdLst>
              <a:ahLst/>
              <a:cxnLst>
                <a:cxn ang="T10">
                  <a:pos x="T0" y="T1"/>
                </a:cxn>
                <a:cxn ang="T11">
                  <a:pos x="T2" y="T3"/>
                </a:cxn>
                <a:cxn ang="T12">
                  <a:pos x="T4" y="T5"/>
                </a:cxn>
                <a:cxn ang="T13">
                  <a:pos x="T6" y="T7"/>
                </a:cxn>
                <a:cxn ang="T14">
                  <a:pos x="T8" y="T9"/>
                </a:cxn>
              </a:cxnLst>
              <a:rect l="T15" t="T16" r="T17" b="T18"/>
              <a:pathLst>
                <a:path w="30" h="44">
                  <a:moveTo>
                    <a:pt x="15" y="44"/>
                  </a:moveTo>
                  <a:lnTo>
                    <a:pt x="0" y="0"/>
                  </a:lnTo>
                  <a:lnTo>
                    <a:pt x="15" y="21"/>
                  </a:lnTo>
                  <a:lnTo>
                    <a:pt x="30" y="0"/>
                  </a:lnTo>
                  <a:lnTo>
                    <a:pt x="1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0" name="Line 471"/>
            <p:cNvSpPr>
              <a:spLocks noChangeShapeType="1"/>
            </p:cNvSpPr>
            <p:nvPr/>
          </p:nvSpPr>
          <p:spPr bwMode="auto">
            <a:xfrm flipV="1">
              <a:off x="2378" y="770"/>
              <a:ext cx="4" cy="25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 name="Group 472"/>
            <p:cNvGrpSpPr>
              <a:grpSpLocks/>
            </p:cNvGrpSpPr>
            <p:nvPr/>
          </p:nvGrpSpPr>
          <p:grpSpPr bwMode="auto">
            <a:xfrm>
              <a:off x="1933" y="1494"/>
              <a:ext cx="511" cy="118"/>
              <a:chOff x="1933" y="1494"/>
              <a:chExt cx="511" cy="118"/>
            </a:xfrm>
          </p:grpSpPr>
          <p:grpSp>
            <p:nvGrpSpPr>
              <p:cNvPr id="393" name="Group 473"/>
              <p:cNvGrpSpPr>
                <a:grpSpLocks/>
              </p:cNvGrpSpPr>
              <p:nvPr/>
            </p:nvGrpSpPr>
            <p:grpSpPr bwMode="auto">
              <a:xfrm>
                <a:off x="1933" y="1494"/>
                <a:ext cx="511" cy="60"/>
                <a:chOff x="1933" y="1494"/>
                <a:chExt cx="511" cy="60"/>
              </a:xfrm>
            </p:grpSpPr>
            <p:sp>
              <p:nvSpPr>
                <p:cNvPr id="395" name="Line 474"/>
                <p:cNvSpPr>
                  <a:spLocks noChangeShapeType="1"/>
                </p:cNvSpPr>
                <p:nvPr/>
              </p:nvSpPr>
              <p:spPr bwMode="auto">
                <a:xfrm>
                  <a:off x="1939" y="1553"/>
                  <a:ext cx="504"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 name="Line 475"/>
                <p:cNvSpPr>
                  <a:spLocks noChangeShapeType="1"/>
                </p:cNvSpPr>
                <p:nvPr/>
              </p:nvSpPr>
              <p:spPr bwMode="auto">
                <a:xfrm flipV="1">
                  <a:off x="1933" y="1498"/>
                  <a:ext cx="1" cy="5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7" name="Line 476"/>
                <p:cNvSpPr>
                  <a:spLocks noChangeShapeType="1"/>
                </p:cNvSpPr>
                <p:nvPr/>
              </p:nvSpPr>
              <p:spPr bwMode="auto">
                <a:xfrm flipV="1">
                  <a:off x="2443" y="1494"/>
                  <a:ext cx="1" cy="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4" name="Line 477"/>
              <p:cNvSpPr>
                <a:spLocks noChangeShapeType="1"/>
              </p:cNvSpPr>
              <p:nvPr/>
            </p:nvSpPr>
            <p:spPr bwMode="auto">
              <a:xfrm>
                <a:off x="2192" y="1553"/>
                <a:ext cx="1" cy="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2" name="Rectangle 478"/>
            <p:cNvSpPr>
              <a:spLocks noChangeArrowheads="1"/>
            </p:cNvSpPr>
            <p:nvPr/>
          </p:nvSpPr>
          <p:spPr bwMode="auto">
            <a:xfrm>
              <a:off x="1021" y="1019"/>
              <a:ext cx="36"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3</a:t>
              </a:r>
              <a:endParaRPr lang="en-US" altLang="zh-CN" sz="2400" b="1">
                <a:latin typeface="Times" panose="02020603050405020304" pitchFamily="18" charset="0"/>
                <a:ea typeface="宋体" panose="02010600030101010101" pitchFamily="2" charset="-122"/>
              </a:endParaRPr>
            </a:p>
          </p:txBody>
        </p:sp>
        <p:sp>
          <p:nvSpPr>
            <p:cNvPr id="73" name="Rectangle 479"/>
            <p:cNvSpPr>
              <a:spLocks noChangeArrowheads="1"/>
            </p:cNvSpPr>
            <p:nvPr/>
          </p:nvSpPr>
          <p:spPr bwMode="auto">
            <a:xfrm>
              <a:off x="1063" y="1019"/>
              <a:ext cx="36"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Times New Roman" panose="02020603050405020304" pitchFamily="18" charset="0"/>
                  <a:ea typeface="宋体" panose="02010600030101010101" pitchFamily="2" charset="-122"/>
                </a:rPr>
                <a:t>p</a:t>
              </a:r>
              <a:endParaRPr lang="en-US" altLang="zh-CN" sz="2400" b="1">
                <a:latin typeface="Times" panose="02020603050405020304" pitchFamily="18" charset="0"/>
                <a:ea typeface="宋体" panose="02010600030101010101" pitchFamily="2" charset="-122"/>
              </a:endParaRPr>
            </a:p>
          </p:txBody>
        </p:sp>
        <p:sp>
          <p:nvSpPr>
            <p:cNvPr id="74" name="Rectangle 480"/>
            <p:cNvSpPr>
              <a:spLocks noChangeArrowheads="1"/>
            </p:cNvSpPr>
            <p:nvPr/>
          </p:nvSpPr>
          <p:spPr bwMode="auto">
            <a:xfrm>
              <a:off x="1021" y="1270"/>
              <a:ext cx="36"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a:solidFill>
                    <a:srgbClr val="000000"/>
                  </a:solidFill>
                  <a:latin typeface="Times New Roman" panose="02020603050405020304" pitchFamily="18" charset="0"/>
                  <a:ea typeface="宋体" panose="02010600030101010101" pitchFamily="2" charset="-122"/>
                </a:rPr>
                <a:t>3</a:t>
              </a:r>
              <a:endParaRPr lang="en-US" altLang="zh-CN" sz="2400" b="1">
                <a:latin typeface="Times" panose="02020603050405020304" pitchFamily="18" charset="0"/>
                <a:ea typeface="宋体" panose="02010600030101010101" pitchFamily="2" charset="-122"/>
              </a:endParaRPr>
            </a:p>
          </p:txBody>
        </p:sp>
        <p:sp>
          <p:nvSpPr>
            <p:cNvPr id="75" name="Rectangle 481"/>
            <p:cNvSpPr>
              <a:spLocks noChangeArrowheads="1"/>
            </p:cNvSpPr>
            <p:nvPr/>
          </p:nvSpPr>
          <p:spPr bwMode="auto">
            <a:xfrm>
              <a:off x="1063" y="1270"/>
              <a:ext cx="28"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Times New Roman" panose="02020603050405020304" pitchFamily="18" charset="0"/>
                  <a:ea typeface="宋体" panose="02010600030101010101" pitchFamily="2" charset="-122"/>
                </a:rPr>
                <a:t>s</a:t>
              </a:r>
              <a:endParaRPr lang="en-US" altLang="zh-CN" sz="2400" b="1">
                <a:latin typeface="Times" panose="02020603050405020304" pitchFamily="18" charset="0"/>
                <a:ea typeface="宋体" panose="02010600030101010101" pitchFamily="2" charset="-122"/>
              </a:endParaRPr>
            </a:p>
          </p:txBody>
        </p:sp>
        <p:grpSp>
          <p:nvGrpSpPr>
            <p:cNvPr id="76" name="Group 482"/>
            <p:cNvGrpSpPr>
              <a:grpSpLocks/>
            </p:cNvGrpSpPr>
            <p:nvPr/>
          </p:nvGrpSpPr>
          <p:grpSpPr bwMode="auto">
            <a:xfrm>
              <a:off x="2002" y="1656"/>
              <a:ext cx="528" cy="539"/>
              <a:chOff x="2002" y="1656"/>
              <a:chExt cx="528" cy="539"/>
            </a:xfrm>
          </p:grpSpPr>
          <p:sp>
            <p:nvSpPr>
              <p:cNvPr id="193" name="Line 483"/>
              <p:cNvSpPr>
                <a:spLocks noChangeShapeType="1"/>
              </p:cNvSpPr>
              <p:nvPr/>
            </p:nvSpPr>
            <p:spPr bwMode="auto">
              <a:xfrm>
                <a:off x="2445" y="2148"/>
                <a:ext cx="85" cy="4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 name="Line 484"/>
              <p:cNvSpPr>
                <a:spLocks noChangeShapeType="1"/>
              </p:cNvSpPr>
              <p:nvPr/>
            </p:nvSpPr>
            <p:spPr bwMode="auto">
              <a:xfrm>
                <a:off x="2008" y="1656"/>
                <a:ext cx="49" cy="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 name="Freeform 485"/>
              <p:cNvSpPr>
                <a:spLocks/>
              </p:cNvSpPr>
              <p:nvPr/>
            </p:nvSpPr>
            <p:spPr bwMode="auto">
              <a:xfrm>
                <a:off x="2093" y="1988"/>
                <a:ext cx="84" cy="93"/>
              </a:xfrm>
              <a:custGeom>
                <a:avLst/>
                <a:gdLst>
                  <a:gd name="T0" fmla="*/ 63 w 84"/>
                  <a:gd name="T1" fmla="*/ 0 h 93"/>
                  <a:gd name="T2" fmla="*/ 70 w 84"/>
                  <a:gd name="T3" fmla="*/ 0 h 93"/>
                  <a:gd name="T4" fmla="*/ 76 w 84"/>
                  <a:gd name="T5" fmla="*/ 2 h 93"/>
                  <a:gd name="T6" fmla="*/ 80 w 84"/>
                  <a:gd name="T7" fmla="*/ 8 h 93"/>
                  <a:gd name="T8" fmla="*/ 82 w 84"/>
                  <a:gd name="T9" fmla="*/ 15 h 93"/>
                  <a:gd name="T10" fmla="*/ 84 w 84"/>
                  <a:gd name="T11" fmla="*/ 32 h 93"/>
                  <a:gd name="T12" fmla="*/ 82 w 84"/>
                  <a:gd name="T13" fmla="*/ 46 h 93"/>
                  <a:gd name="T14" fmla="*/ 80 w 84"/>
                  <a:gd name="T15" fmla="*/ 57 h 93"/>
                  <a:gd name="T16" fmla="*/ 72 w 84"/>
                  <a:gd name="T17" fmla="*/ 70 h 93"/>
                  <a:gd name="T18" fmla="*/ 69 w 84"/>
                  <a:gd name="T19" fmla="*/ 76 h 93"/>
                  <a:gd name="T20" fmla="*/ 65 w 84"/>
                  <a:gd name="T21" fmla="*/ 82 h 93"/>
                  <a:gd name="T22" fmla="*/ 59 w 84"/>
                  <a:gd name="T23" fmla="*/ 86 h 93"/>
                  <a:gd name="T24" fmla="*/ 51 w 84"/>
                  <a:gd name="T25" fmla="*/ 89 h 93"/>
                  <a:gd name="T26" fmla="*/ 40 w 84"/>
                  <a:gd name="T27" fmla="*/ 91 h 93"/>
                  <a:gd name="T28" fmla="*/ 29 w 84"/>
                  <a:gd name="T29" fmla="*/ 93 h 93"/>
                  <a:gd name="T30" fmla="*/ 19 w 84"/>
                  <a:gd name="T31" fmla="*/ 89 h 93"/>
                  <a:gd name="T32" fmla="*/ 12 w 84"/>
                  <a:gd name="T33" fmla="*/ 86 h 93"/>
                  <a:gd name="T34" fmla="*/ 6 w 84"/>
                  <a:gd name="T35" fmla="*/ 80 h 93"/>
                  <a:gd name="T36" fmla="*/ 2 w 84"/>
                  <a:gd name="T37" fmla="*/ 70 h 93"/>
                  <a:gd name="T38" fmla="*/ 0 w 84"/>
                  <a:gd name="T39" fmla="*/ 61 h 93"/>
                  <a:gd name="T40" fmla="*/ 0 w 84"/>
                  <a:gd name="T41" fmla="*/ 50 h 93"/>
                  <a:gd name="T42" fmla="*/ 2 w 84"/>
                  <a:gd name="T43" fmla="*/ 38 h 93"/>
                  <a:gd name="T44" fmla="*/ 8 w 84"/>
                  <a:gd name="T45" fmla="*/ 27 h 93"/>
                  <a:gd name="T46" fmla="*/ 12 w 84"/>
                  <a:gd name="T47" fmla="*/ 21 h 93"/>
                  <a:gd name="T48" fmla="*/ 17 w 84"/>
                  <a:gd name="T49" fmla="*/ 17 h 93"/>
                  <a:gd name="T50" fmla="*/ 23 w 84"/>
                  <a:gd name="T51" fmla="*/ 12 h 93"/>
                  <a:gd name="T52" fmla="*/ 31 w 84"/>
                  <a:gd name="T53" fmla="*/ 10 h 93"/>
                  <a:gd name="T54" fmla="*/ 46 w 84"/>
                  <a:gd name="T55" fmla="*/ 4 h 93"/>
                  <a:gd name="T56" fmla="*/ 63 w 84"/>
                  <a:gd name="T57" fmla="*/ 0 h 9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93"/>
                  <a:gd name="T89" fmla="*/ 84 w 84"/>
                  <a:gd name="T90" fmla="*/ 93 h 9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93">
                    <a:moveTo>
                      <a:pt x="63" y="0"/>
                    </a:moveTo>
                    <a:lnTo>
                      <a:pt x="70" y="0"/>
                    </a:lnTo>
                    <a:lnTo>
                      <a:pt x="76" y="2"/>
                    </a:lnTo>
                    <a:lnTo>
                      <a:pt x="80" y="8"/>
                    </a:lnTo>
                    <a:lnTo>
                      <a:pt x="82" y="15"/>
                    </a:lnTo>
                    <a:lnTo>
                      <a:pt x="84" y="32"/>
                    </a:lnTo>
                    <a:lnTo>
                      <a:pt x="82" y="46"/>
                    </a:lnTo>
                    <a:lnTo>
                      <a:pt x="80" y="57"/>
                    </a:lnTo>
                    <a:lnTo>
                      <a:pt x="72" y="70"/>
                    </a:lnTo>
                    <a:lnTo>
                      <a:pt x="69" y="76"/>
                    </a:lnTo>
                    <a:lnTo>
                      <a:pt x="65" y="82"/>
                    </a:lnTo>
                    <a:lnTo>
                      <a:pt x="59" y="86"/>
                    </a:lnTo>
                    <a:lnTo>
                      <a:pt x="51" y="89"/>
                    </a:lnTo>
                    <a:lnTo>
                      <a:pt x="40" y="91"/>
                    </a:lnTo>
                    <a:lnTo>
                      <a:pt x="29" y="93"/>
                    </a:lnTo>
                    <a:lnTo>
                      <a:pt x="19" y="89"/>
                    </a:lnTo>
                    <a:lnTo>
                      <a:pt x="12" y="86"/>
                    </a:lnTo>
                    <a:lnTo>
                      <a:pt x="6" y="80"/>
                    </a:lnTo>
                    <a:lnTo>
                      <a:pt x="2" y="70"/>
                    </a:lnTo>
                    <a:lnTo>
                      <a:pt x="0" y="61"/>
                    </a:lnTo>
                    <a:lnTo>
                      <a:pt x="0" y="50"/>
                    </a:lnTo>
                    <a:lnTo>
                      <a:pt x="2" y="38"/>
                    </a:lnTo>
                    <a:lnTo>
                      <a:pt x="8" y="27"/>
                    </a:lnTo>
                    <a:lnTo>
                      <a:pt x="12" y="21"/>
                    </a:lnTo>
                    <a:lnTo>
                      <a:pt x="17" y="17"/>
                    </a:lnTo>
                    <a:lnTo>
                      <a:pt x="23" y="12"/>
                    </a:lnTo>
                    <a:lnTo>
                      <a:pt x="31" y="10"/>
                    </a:lnTo>
                    <a:lnTo>
                      <a:pt x="46" y="4"/>
                    </a:lnTo>
                    <a:lnTo>
                      <a:pt x="63"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96" name="Line 486"/>
              <p:cNvSpPr>
                <a:spLocks noChangeShapeType="1"/>
              </p:cNvSpPr>
              <p:nvPr/>
            </p:nvSpPr>
            <p:spPr bwMode="auto">
              <a:xfrm>
                <a:off x="2158" y="1990"/>
                <a:ext cx="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7" name="Line 487"/>
              <p:cNvSpPr>
                <a:spLocks noChangeShapeType="1"/>
              </p:cNvSpPr>
              <p:nvPr/>
            </p:nvSpPr>
            <p:spPr bwMode="auto">
              <a:xfrm>
                <a:off x="2165" y="1990"/>
                <a:ext cx="6"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 name="Line 488"/>
              <p:cNvSpPr>
                <a:spLocks noChangeShapeType="1"/>
              </p:cNvSpPr>
              <p:nvPr/>
            </p:nvSpPr>
            <p:spPr bwMode="auto">
              <a:xfrm>
                <a:off x="2171" y="1992"/>
                <a:ext cx="4"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 name="Line 489"/>
              <p:cNvSpPr>
                <a:spLocks noChangeShapeType="1"/>
              </p:cNvSpPr>
              <p:nvPr/>
            </p:nvSpPr>
            <p:spPr bwMode="auto">
              <a:xfrm>
                <a:off x="2175" y="1998"/>
                <a:ext cx="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 name="Line 490"/>
              <p:cNvSpPr>
                <a:spLocks noChangeShapeType="1"/>
              </p:cNvSpPr>
              <p:nvPr/>
            </p:nvSpPr>
            <p:spPr bwMode="auto">
              <a:xfrm>
                <a:off x="2177" y="2005"/>
                <a:ext cx="2"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 name="Line 491"/>
              <p:cNvSpPr>
                <a:spLocks noChangeShapeType="1"/>
              </p:cNvSpPr>
              <p:nvPr/>
            </p:nvSpPr>
            <p:spPr bwMode="auto">
              <a:xfrm flipH="1">
                <a:off x="2177" y="2022"/>
                <a:ext cx="2"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2" name="Line 492"/>
              <p:cNvSpPr>
                <a:spLocks noChangeShapeType="1"/>
              </p:cNvSpPr>
              <p:nvPr/>
            </p:nvSpPr>
            <p:spPr bwMode="auto">
              <a:xfrm flipH="1">
                <a:off x="2175" y="2036"/>
                <a:ext cx="2"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 name="Line 493"/>
              <p:cNvSpPr>
                <a:spLocks noChangeShapeType="1"/>
              </p:cNvSpPr>
              <p:nvPr/>
            </p:nvSpPr>
            <p:spPr bwMode="auto">
              <a:xfrm flipH="1">
                <a:off x="2167" y="2047"/>
                <a:ext cx="8"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 name="Line 494"/>
              <p:cNvSpPr>
                <a:spLocks noChangeShapeType="1"/>
              </p:cNvSpPr>
              <p:nvPr/>
            </p:nvSpPr>
            <p:spPr bwMode="auto">
              <a:xfrm flipH="1">
                <a:off x="2163" y="2060"/>
                <a:ext cx="4"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 name="Line 495"/>
              <p:cNvSpPr>
                <a:spLocks noChangeShapeType="1"/>
              </p:cNvSpPr>
              <p:nvPr/>
            </p:nvSpPr>
            <p:spPr bwMode="auto">
              <a:xfrm flipH="1">
                <a:off x="2160" y="2066"/>
                <a:ext cx="3"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 name="Line 496"/>
              <p:cNvSpPr>
                <a:spLocks noChangeShapeType="1"/>
              </p:cNvSpPr>
              <p:nvPr/>
            </p:nvSpPr>
            <p:spPr bwMode="auto">
              <a:xfrm flipH="1">
                <a:off x="2154" y="2072"/>
                <a:ext cx="6"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 name="Line 497"/>
              <p:cNvSpPr>
                <a:spLocks noChangeShapeType="1"/>
              </p:cNvSpPr>
              <p:nvPr/>
            </p:nvSpPr>
            <p:spPr bwMode="auto">
              <a:xfrm flipH="1">
                <a:off x="2146" y="2076"/>
                <a:ext cx="8"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 name="Line 498"/>
              <p:cNvSpPr>
                <a:spLocks noChangeShapeType="1"/>
              </p:cNvSpPr>
              <p:nvPr/>
            </p:nvSpPr>
            <p:spPr bwMode="auto">
              <a:xfrm flipH="1">
                <a:off x="2135" y="2079"/>
                <a:ext cx="11"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 name="Line 499"/>
              <p:cNvSpPr>
                <a:spLocks noChangeShapeType="1"/>
              </p:cNvSpPr>
              <p:nvPr/>
            </p:nvSpPr>
            <p:spPr bwMode="auto">
              <a:xfrm flipH="1">
                <a:off x="2124" y="2081"/>
                <a:ext cx="11"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 name="Line 500"/>
              <p:cNvSpPr>
                <a:spLocks noChangeShapeType="1"/>
              </p:cNvSpPr>
              <p:nvPr/>
            </p:nvSpPr>
            <p:spPr bwMode="auto">
              <a:xfrm flipH="1" flipV="1">
                <a:off x="2114" y="2079"/>
                <a:ext cx="10"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 name="Line 501"/>
              <p:cNvSpPr>
                <a:spLocks noChangeShapeType="1"/>
              </p:cNvSpPr>
              <p:nvPr/>
            </p:nvSpPr>
            <p:spPr bwMode="auto">
              <a:xfrm flipH="1" flipV="1">
                <a:off x="2106" y="2076"/>
                <a:ext cx="8"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 name="Line 502"/>
              <p:cNvSpPr>
                <a:spLocks noChangeShapeType="1"/>
              </p:cNvSpPr>
              <p:nvPr/>
            </p:nvSpPr>
            <p:spPr bwMode="auto">
              <a:xfrm flipH="1" flipV="1">
                <a:off x="2101" y="2070"/>
                <a:ext cx="5"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 name="Line 503"/>
              <p:cNvSpPr>
                <a:spLocks noChangeShapeType="1"/>
              </p:cNvSpPr>
              <p:nvPr/>
            </p:nvSpPr>
            <p:spPr bwMode="auto">
              <a:xfrm flipH="1" flipV="1">
                <a:off x="2097" y="2060"/>
                <a:ext cx="4"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Line 504"/>
              <p:cNvSpPr>
                <a:spLocks noChangeShapeType="1"/>
              </p:cNvSpPr>
              <p:nvPr/>
            </p:nvSpPr>
            <p:spPr bwMode="auto">
              <a:xfrm flipH="1" flipV="1">
                <a:off x="2095" y="2051"/>
                <a:ext cx="2"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 name="Line 505"/>
              <p:cNvSpPr>
                <a:spLocks noChangeShapeType="1"/>
              </p:cNvSpPr>
              <p:nvPr/>
            </p:nvSpPr>
            <p:spPr bwMode="auto">
              <a:xfrm flipV="1">
                <a:off x="2095" y="2039"/>
                <a:ext cx="1"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 name="Line 506"/>
              <p:cNvSpPr>
                <a:spLocks noChangeShapeType="1"/>
              </p:cNvSpPr>
              <p:nvPr/>
            </p:nvSpPr>
            <p:spPr bwMode="auto">
              <a:xfrm flipV="1">
                <a:off x="2095" y="2028"/>
                <a:ext cx="2"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 name="Line 507"/>
              <p:cNvSpPr>
                <a:spLocks noChangeShapeType="1"/>
              </p:cNvSpPr>
              <p:nvPr/>
            </p:nvSpPr>
            <p:spPr bwMode="auto">
              <a:xfrm flipV="1">
                <a:off x="2097" y="2017"/>
                <a:ext cx="6"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 name="Line 508"/>
              <p:cNvSpPr>
                <a:spLocks noChangeShapeType="1"/>
              </p:cNvSpPr>
              <p:nvPr/>
            </p:nvSpPr>
            <p:spPr bwMode="auto">
              <a:xfrm flipV="1">
                <a:off x="2103" y="2011"/>
                <a:ext cx="3"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Line 509"/>
              <p:cNvSpPr>
                <a:spLocks noChangeShapeType="1"/>
              </p:cNvSpPr>
              <p:nvPr/>
            </p:nvSpPr>
            <p:spPr bwMode="auto">
              <a:xfrm flipV="1">
                <a:off x="2106" y="2007"/>
                <a:ext cx="6"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 name="Line 510"/>
              <p:cNvSpPr>
                <a:spLocks noChangeShapeType="1"/>
              </p:cNvSpPr>
              <p:nvPr/>
            </p:nvSpPr>
            <p:spPr bwMode="auto">
              <a:xfrm flipV="1">
                <a:off x="2112" y="2001"/>
                <a:ext cx="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511"/>
              <p:cNvSpPr>
                <a:spLocks noChangeShapeType="1"/>
              </p:cNvSpPr>
              <p:nvPr/>
            </p:nvSpPr>
            <p:spPr bwMode="auto">
              <a:xfrm flipV="1">
                <a:off x="2118" y="2000"/>
                <a:ext cx="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 name="Line 512"/>
              <p:cNvSpPr>
                <a:spLocks noChangeShapeType="1"/>
              </p:cNvSpPr>
              <p:nvPr/>
            </p:nvSpPr>
            <p:spPr bwMode="auto">
              <a:xfrm flipV="1">
                <a:off x="2125" y="1994"/>
                <a:ext cx="1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Line 513"/>
              <p:cNvSpPr>
                <a:spLocks noChangeShapeType="1"/>
              </p:cNvSpPr>
              <p:nvPr/>
            </p:nvSpPr>
            <p:spPr bwMode="auto">
              <a:xfrm flipV="1">
                <a:off x="2141" y="1990"/>
                <a:ext cx="17"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 name="Freeform 514"/>
              <p:cNvSpPr>
                <a:spLocks/>
              </p:cNvSpPr>
              <p:nvPr/>
            </p:nvSpPr>
            <p:spPr bwMode="auto">
              <a:xfrm>
                <a:off x="2186" y="1992"/>
                <a:ext cx="268" cy="184"/>
              </a:xfrm>
              <a:custGeom>
                <a:avLst/>
                <a:gdLst>
                  <a:gd name="T0" fmla="*/ 6 w 268"/>
                  <a:gd name="T1" fmla="*/ 34 h 184"/>
                  <a:gd name="T2" fmla="*/ 2 w 268"/>
                  <a:gd name="T3" fmla="*/ 27 h 184"/>
                  <a:gd name="T4" fmla="*/ 0 w 268"/>
                  <a:gd name="T5" fmla="*/ 19 h 184"/>
                  <a:gd name="T6" fmla="*/ 0 w 268"/>
                  <a:gd name="T7" fmla="*/ 13 h 184"/>
                  <a:gd name="T8" fmla="*/ 2 w 268"/>
                  <a:gd name="T9" fmla="*/ 8 h 184"/>
                  <a:gd name="T10" fmla="*/ 6 w 268"/>
                  <a:gd name="T11" fmla="*/ 4 h 184"/>
                  <a:gd name="T12" fmla="*/ 12 w 268"/>
                  <a:gd name="T13" fmla="*/ 2 h 184"/>
                  <a:gd name="T14" fmla="*/ 17 w 268"/>
                  <a:gd name="T15" fmla="*/ 0 h 184"/>
                  <a:gd name="T16" fmla="*/ 27 w 268"/>
                  <a:gd name="T17" fmla="*/ 0 h 184"/>
                  <a:gd name="T18" fmla="*/ 71 w 268"/>
                  <a:gd name="T19" fmla="*/ 2 h 184"/>
                  <a:gd name="T20" fmla="*/ 116 w 268"/>
                  <a:gd name="T21" fmla="*/ 6 h 184"/>
                  <a:gd name="T22" fmla="*/ 139 w 268"/>
                  <a:gd name="T23" fmla="*/ 9 h 184"/>
                  <a:gd name="T24" fmla="*/ 160 w 268"/>
                  <a:gd name="T25" fmla="*/ 13 h 184"/>
                  <a:gd name="T26" fmla="*/ 181 w 268"/>
                  <a:gd name="T27" fmla="*/ 21 h 184"/>
                  <a:gd name="T28" fmla="*/ 198 w 268"/>
                  <a:gd name="T29" fmla="*/ 28 h 184"/>
                  <a:gd name="T30" fmla="*/ 213 w 268"/>
                  <a:gd name="T31" fmla="*/ 36 h 184"/>
                  <a:gd name="T32" fmla="*/ 226 w 268"/>
                  <a:gd name="T33" fmla="*/ 46 h 184"/>
                  <a:gd name="T34" fmla="*/ 238 w 268"/>
                  <a:gd name="T35" fmla="*/ 57 h 184"/>
                  <a:gd name="T36" fmla="*/ 247 w 268"/>
                  <a:gd name="T37" fmla="*/ 68 h 184"/>
                  <a:gd name="T38" fmla="*/ 255 w 268"/>
                  <a:gd name="T39" fmla="*/ 80 h 184"/>
                  <a:gd name="T40" fmla="*/ 261 w 268"/>
                  <a:gd name="T41" fmla="*/ 89 h 184"/>
                  <a:gd name="T42" fmla="*/ 264 w 268"/>
                  <a:gd name="T43" fmla="*/ 101 h 184"/>
                  <a:gd name="T44" fmla="*/ 266 w 268"/>
                  <a:gd name="T45" fmla="*/ 112 h 184"/>
                  <a:gd name="T46" fmla="*/ 268 w 268"/>
                  <a:gd name="T47" fmla="*/ 123 h 184"/>
                  <a:gd name="T48" fmla="*/ 266 w 268"/>
                  <a:gd name="T49" fmla="*/ 133 h 184"/>
                  <a:gd name="T50" fmla="*/ 264 w 268"/>
                  <a:gd name="T51" fmla="*/ 142 h 184"/>
                  <a:gd name="T52" fmla="*/ 261 w 268"/>
                  <a:gd name="T53" fmla="*/ 150 h 184"/>
                  <a:gd name="T54" fmla="*/ 257 w 268"/>
                  <a:gd name="T55" fmla="*/ 158 h 184"/>
                  <a:gd name="T56" fmla="*/ 249 w 268"/>
                  <a:gd name="T57" fmla="*/ 163 h 184"/>
                  <a:gd name="T58" fmla="*/ 240 w 268"/>
                  <a:gd name="T59" fmla="*/ 169 h 184"/>
                  <a:gd name="T60" fmla="*/ 228 w 268"/>
                  <a:gd name="T61" fmla="*/ 175 h 184"/>
                  <a:gd name="T62" fmla="*/ 215 w 268"/>
                  <a:gd name="T63" fmla="*/ 180 h 184"/>
                  <a:gd name="T64" fmla="*/ 202 w 268"/>
                  <a:gd name="T65" fmla="*/ 182 h 184"/>
                  <a:gd name="T66" fmla="*/ 186 w 268"/>
                  <a:gd name="T67" fmla="*/ 184 h 184"/>
                  <a:gd name="T68" fmla="*/ 173 w 268"/>
                  <a:gd name="T69" fmla="*/ 182 h 184"/>
                  <a:gd name="T70" fmla="*/ 158 w 268"/>
                  <a:gd name="T71" fmla="*/ 179 h 184"/>
                  <a:gd name="T72" fmla="*/ 143 w 268"/>
                  <a:gd name="T73" fmla="*/ 173 h 184"/>
                  <a:gd name="T74" fmla="*/ 128 w 268"/>
                  <a:gd name="T75" fmla="*/ 165 h 184"/>
                  <a:gd name="T76" fmla="*/ 114 w 268"/>
                  <a:gd name="T77" fmla="*/ 158 h 184"/>
                  <a:gd name="T78" fmla="*/ 99 w 268"/>
                  <a:gd name="T79" fmla="*/ 146 h 184"/>
                  <a:gd name="T80" fmla="*/ 84 w 268"/>
                  <a:gd name="T81" fmla="*/ 133 h 184"/>
                  <a:gd name="T82" fmla="*/ 71 w 268"/>
                  <a:gd name="T83" fmla="*/ 120 h 184"/>
                  <a:gd name="T84" fmla="*/ 55 w 268"/>
                  <a:gd name="T85" fmla="*/ 103 h 184"/>
                  <a:gd name="T86" fmla="*/ 40 w 268"/>
                  <a:gd name="T87" fmla="*/ 85 h 184"/>
                  <a:gd name="T88" fmla="*/ 29 w 268"/>
                  <a:gd name="T89" fmla="*/ 68 h 184"/>
                  <a:gd name="T90" fmla="*/ 15 w 268"/>
                  <a:gd name="T91" fmla="*/ 51 h 184"/>
                  <a:gd name="T92" fmla="*/ 6 w 268"/>
                  <a:gd name="T93" fmla="*/ 34 h 1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68"/>
                  <a:gd name="T142" fmla="*/ 0 h 184"/>
                  <a:gd name="T143" fmla="*/ 268 w 268"/>
                  <a:gd name="T144" fmla="*/ 184 h 1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68" h="184">
                    <a:moveTo>
                      <a:pt x="6" y="34"/>
                    </a:moveTo>
                    <a:lnTo>
                      <a:pt x="2" y="27"/>
                    </a:lnTo>
                    <a:lnTo>
                      <a:pt x="0" y="19"/>
                    </a:lnTo>
                    <a:lnTo>
                      <a:pt x="0" y="13"/>
                    </a:lnTo>
                    <a:lnTo>
                      <a:pt x="2" y="8"/>
                    </a:lnTo>
                    <a:lnTo>
                      <a:pt x="6" y="4"/>
                    </a:lnTo>
                    <a:lnTo>
                      <a:pt x="12" y="2"/>
                    </a:lnTo>
                    <a:lnTo>
                      <a:pt x="17" y="0"/>
                    </a:lnTo>
                    <a:lnTo>
                      <a:pt x="27" y="0"/>
                    </a:lnTo>
                    <a:lnTo>
                      <a:pt x="71" y="2"/>
                    </a:lnTo>
                    <a:lnTo>
                      <a:pt x="116" y="6"/>
                    </a:lnTo>
                    <a:lnTo>
                      <a:pt x="139" y="9"/>
                    </a:lnTo>
                    <a:lnTo>
                      <a:pt x="160" y="13"/>
                    </a:lnTo>
                    <a:lnTo>
                      <a:pt x="181" y="21"/>
                    </a:lnTo>
                    <a:lnTo>
                      <a:pt x="198" y="28"/>
                    </a:lnTo>
                    <a:lnTo>
                      <a:pt x="213" y="36"/>
                    </a:lnTo>
                    <a:lnTo>
                      <a:pt x="226" y="46"/>
                    </a:lnTo>
                    <a:lnTo>
                      <a:pt x="238" y="57"/>
                    </a:lnTo>
                    <a:lnTo>
                      <a:pt x="247" y="68"/>
                    </a:lnTo>
                    <a:lnTo>
                      <a:pt x="255" y="80"/>
                    </a:lnTo>
                    <a:lnTo>
                      <a:pt x="261" y="89"/>
                    </a:lnTo>
                    <a:lnTo>
                      <a:pt x="264" y="101"/>
                    </a:lnTo>
                    <a:lnTo>
                      <a:pt x="266" y="112"/>
                    </a:lnTo>
                    <a:lnTo>
                      <a:pt x="268" y="123"/>
                    </a:lnTo>
                    <a:lnTo>
                      <a:pt x="266" y="133"/>
                    </a:lnTo>
                    <a:lnTo>
                      <a:pt x="264" y="142"/>
                    </a:lnTo>
                    <a:lnTo>
                      <a:pt x="261" y="150"/>
                    </a:lnTo>
                    <a:lnTo>
                      <a:pt x="257" y="158"/>
                    </a:lnTo>
                    <a:lnTo>
                      <a:pt x="249" y="163"/>
                    </a:lnTo>
                    <a:lnTo>
                      <a:pt x="240" y="169"/>
                    </a:lnTo>
                    <a:lnTo>
                      <a:pt x="228" y="175"/>
                    </a:lnTo>
                    <a:lnTo>
                      <a:pt x="215" y="180"/>
                    </a:lnTo>
                    <a:lnTo>
                      <a:pt x="202" y="182"/>
                    </a:lnTo>
                    <a:lnTo>
                      <a:pt x="186" y="184"/>
                    </a:lnTo>
                    <a:lnTo>
                      <a:pt x="173" y="182"/>
                    </a:lnTo>
                    <a:lnTo>
                      <a:pt x="158" y="179"/>
                    </a:lnTo>
                    <a:lnTo>
                      <a:pt x="143" y="173"/>
                    </a:lnTo>
                    <a:lnTo>
                      <a:pt x="128" y="165"/>
                    </a:lnTo>
                    <a:lnTo>
                      <a:pt x="114" y="158"/>
                    </a:lnTo>
                    <a:lnTo>
                      <a:pt x="99" y="146"/>
                    </a:lnTo>
                    <a:lnTo>
                      <a:pt x="84" y="133"/>
                    </a:lnTo>
                    <a:lnTo>
                      <a:pt x="71" y="120"/>
                    </a:lnTo>
                    <a:lnTo>
                      <a:pt x="55" y="103"/>
                    </a:lnTo>
                    <a:lnTo>
                      <a:pt x="40" y="85"/>
                    </a:lnTo>
                    <a:lnTo>
                      <a:pt x="29" y="68"/>
                    </a:lnTo>
                    <a:lnTo>
                      <a:pt x="15" y="51"/>
                    </a:lnTo>
                    <a:lnTo>
                      <a:pt x="6" y="34"/>
                    </a:lnTo>
                    <a:close/>
                  </a:path>
                </a:pathLst>
              </a:custGeom>
              <a:solidFill>
                <a:srgbClr val="00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5" name="Line 515"/>
              <p:cNvSpPr>
                <a:spLocks noChangeShapeType="1"/>
              </p:cNvSpPr>
              <p:nvPr/>
            </p:nvSpPr>
            <p:spPr bwMode="auto">
              <a:xfrm flipH="1" flipV="1">
                <a:off x="2190" y="2020"/>
                <a:ext cx="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 name="Line 516"/>
              <p:cNvSpPr>
                <a:spLocks noChangeShapeType="1"/>
              </p:cNvSpPr>
              <p:nvPr/>
            </p:nvSpPr>
            <p:spPr bwMode="auto">
              <a:xfrm flipH="1" flipV="1">
                <a:off x="2188" y="2013"/>
                <a:ext cx="2"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 name="Line 517"/>
              <p:cNvSpPr>
                <a:spLocks noChangeShapeType="1"/>
              </p:cNvSpPr>
              <p:nvPr/>
            </p:nvSpPr>
            <p:spPr bwMode="auto">
              <a:xfrm flipV="1">
                <a:off x="2188" y="2007"/>
                <a:ext cx="1"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 name="Line 518"/>
              <p:cNvSpPr>
                <a:spLocks noChangeShapeType="1"/>
              </p:cNvSpPr>
              <p:nvPr/>
            </p:nvSpPr>
            <p:spPr bwMode="auto">
              <a:xfrm flipV="1">
                <a:off x="2188" y="2001"/>
                <a:ext cx="2"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 name="Line 519"/>
              <p:cNvSpPr>
                <a:spLocks noChangeShapeType="1"/>
              </p:cNvSpPr>
              <p:nvPr/>
            </p:nvSpPr>
            <p:spPr bwMode="auto">
              <a:xfrm flipV="1">
                <a:off x="2190" y="1998"/>
                <a:ext cx="4"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 name="Line 520"/>
              <p:cNvSpPr>
                <a:spLocks noChangeShapeType="1"/>
              </p:cNvSpPr>
              <p:nvPr/>
            </p:nvSpPr>
            <p:spPr bwMode="auto">
              <a:xfrm flipV="1">
                <a:off x="2194" y="1996"/>
                <a:ext cx="6"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 name="Line 521"/>
              <p:cNvSpPr>
                <a:spLocks noChangeShapeType="1"/>
              </p:cNvSpPr>
              <p:nvPr/>
            </p:nvSpPr>
            <p:spPr bwMode="auto">
              <a:xfrm flipV="1">
                <a:off x="2200" y="1994"/>
                <a:ext cx="5"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 name="Line 522"/>
              <p:cNvSpPr>
                <a:spLocks noChangeShapeType="1"/>
              </p:cNvSpPr>
              <p:nvPr/>
            </p:nvSpPr>
            <p:spPr bwMode="auto">
              <a:xfrm>
                <a:off x="2205" y="1994"/>
                <a:ext cx="10"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 name="Line 523"/>
              <p:cNvSpPr>
                <a:spLocks noChangeShapeType="1"/>
              </p:cNvSpPr>
              <p:nvPr/>
            </p:nvSpPr>
            <p:spPr bwMode="auto">
              <a:xfrm>
                <a:off x="2215" y="1994"/>
                <a:ext cx="43"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 name="Line 524"/>
              <p:cNvSpPr>
                <a:spLocks noChangeShapeType="1"/>
              </p:cNvSpPr>
              <p:nvPr/>
            </p:nvSpPr>
            <p:spPr bwMode="auto">
              <a:xfrm>
                <a:off x="2258" y="1996"/>
                <a:ext cx="46"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 name="Line 525"/>
              <p:cNvSpPr>
                <a:spLocks noChangeShapeType="1"/>
              </p:cNvSpPr>
              <p:nvPr/>
            </p:nvSpPr>
            <p:spPr bwMode="auto">
              <a:xfrm>
                <a:off x="2304" y="2000"/>
                <a:ext cx="23"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 name="Line 526"/>
              <p:cNvSpPr>
                <a:spLocks noChangeShapeType="1"/>
              </p:cNvSpPr>
              <p:nvPr/>
            </p:nvSpPr>
            <p:spPr bwMode="auto">
              <a:xfrm>
                <a:off x="2327" y="2003"/>
                <a:ext cx="2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 name="Line 527"/>
              <p:cNvSpPr>
                <a:spLocks noChangeShapeType="1"/>
              </p:cNvSpPr>
              <p:nvPr/>
            </p:nvSpPr>
            <p:spPr bwMode="auto">
              <a:xfrm>
                <a:off x="2348" y="2007"/>
                <a:ext cx="21"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 name="Line 528"/>
              <p:cNvSpPr>
                <a:spLocks noChangeShapeType="1"/>
              </p:cNvSpPr>
              <p:nvPr/>
            </p:nvSpPr>
            <p:spPr bwMode="auto">
              <a:xfrm>
                <a:off x="2369" y="2015"/>
                <a:ext cx="17"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 name="Line 529"/>
              <p:cNvSpPr>
                <a:spLocks noChangeShapeType="1"/>
              </p:cNvSpPr>
              <p:nvPr/>
            </p:nvSpPr>
            <p:spPr bwMode="auto">
              <a:xfrm>
                <a:off x="2386" y="2022"/>
                <a:ext cx="1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 name="Line 530"/>
              <p:cNvSpPr>
                <a:spLocks noChangeShapeType="1"/>
              </p:cNvSpPr>
              <p:nvPr/>
            </p:nvSpPr>
            <p:spPr bwMode="auto">
              <a:xfrm>
                <a:off x="2401" y="2030"/>
                <a:ext cx="13"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 name="Line 531"/>
              <p:cNvSpPr>
                <a:spLocks noChangeShapeType="1"/>
              </p:cNvSpPr>
              <p:nvPr/>
            </p:nvSpPr>
            <p:spPr bwMode="auto">
              <a:xfrm>
                <a:off x="2414" y="2039"/>
                <a:ext cx="12"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 name="Line 532"/>
              <p:cNvSpPr>
                <a:spLocks noChangeShapeType="1"/>
              </p:cNvSpPr>
              <p:nvPr/>
            </p:nvSpPr>
            <p:spPr bwMode="auto">
              <a:xfrm>
                <a:off x="2426" y="2051"/>
                <a:ext cx="9"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 name="Line 533"/>
              <p:cNvSpPr>
                <a:spLocks noChangeShapeType="1"/>
              </p:cNvSpPr>
              <p:nvPr/>
            </p:nvSpPr>
            <p:spPr bwMode="auto">
              <a:xfrm>
                <a:off x="2435" y="2062"/>
                <a:ext cx="8"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4" name="Line 534"/>
              <p:cNvSpPr>
                <a:spLocks noChangeShapeType="1"/>
              </p:cNvSpPr>
              <p:nvPr/>
            </p:nvSpPr>
            <p:spPr bwMode="auto">
              <a:xfrm>
                <a:off x="2443" y="2074"/>
                <a:ext cx="5"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 name="Line 535"/>
              <p:cNvSpPr>
                <a:spLocks noChangeShapeType="1"/>
              </p:cNvSpPr>
              <p:nvPr/>
            </p:nvSpPr>
            <p:spPr bwMode="auto">
              <a:xfrm>
                <a:off x="2448" y="2083"/>
                <a:ext cx="4"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 name="Line 536"/>
              <p:cNvSpPr>
                <a:spLocks noChangeShapeType="1"/>
              </p:cNvSpPr>
              <p:nvPr/>
            </p:nvSpPr>
            <p:spPr bwMode="auto">
              <a:xfrm>
                <a:off x="2452" y="2095"/>
                <a:ext cx="2"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 name="Line 537"/>
              <p:cNvSpPr>
                <a:spLocks noChangeShapeType="1"/>
              </p:cNvSpPr>
              <p:nvPr/>
            </p:nvSpPr>
            <p:spPr bwMode="auto">
              <a:xfrm>
                <a:off x="2454" y="2106"/>
                <a:ext cx="2"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 name="Line 538"/>
              <p:cNvSpPr>
                <a:spLocks noChangeShapeType="1"/>
              </p:cNvSpPr>
              <p:nvPr/>
            </p:nvSpPr>
            <p:spPr bwMode="auto">
              <a:xfrm flipH="1">
                <a:off x="2454" y="2117"/>
                <a:ext cx="2"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9" name="Line 539"/>
              <p:cNvSpPr>
                <a:spLocks noChangeShapeType="1"/>
              </p:cNvSpPr>
              <p:nvPr/>
            </p:nvSpPr>
            <p:spPr bwMode="auto">
              <a:xfrm flipH="1">
                <a:off x="2452" y="2127"/>
                <a:ext cx="2"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 name="Line 540"/>
              <p:cNvSpPr>
                <a:spLocks noChangeShapeType="1"/>
              </p:cNvSpPr>
              <p:nvPr/>
            </p:nvSpPr>
            <p:spPr bwMode="auto">
              <a:xfrm flipH="1">
                <a:off x="2448" y="2136"/>
                <a:ext cx="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1" name="Line 541"/>
              <p:cNvSpPr>
                <a:spLocks noChangeShapeType="1"/>
              </p:cNvSpPr>
              <p:nvPr/>
            </p:nvSpPr>
            <p:spPr bwMode="auto">
              <a:xfrm flipH="1">
                <a:off x="2445" y="2144"/>
                <a:ext cx="3"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 name="Line 542"/>
              <p:cNvSpPr>
                <a:spLocks noChangeShapeType="1"/>
              </p:cNvSpPr>
              <p:nvPr/>
            </p:nvSpPr>
            <p:spPr bwMode="auto">
              <a:xfrm flipH="1">
                <a:off x="2437" y="2152"/>
                <a:ext cx="8"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 name="Line 543"/>
              <p:cNvSpPr>
                <a:spLocks noChangeShapeType="1"/>
              </p:cNvSpPr>
              <p:nvPr/>
            </p:nvSpPr>
            <p:spPr bwMode="auto">
              <a:xfrm flipH="1">
                <a:off x="2428" y="2157"/>
                <a:ext cx="9"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 name="Line 544"/>
              <p:cNvSpPr>
                <a:spLocks noChangeShapeType="1"/>
              </p:cNvSpPr>
              <p:nvPr/>
            </p:nvSpPr>
            <p:spPr bwMode="auto">
              <a:xfrm flipH="1">
                <a:off x="2416" y="2163"/>
                <a:ext cx="12"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 name="Line 545"/>
              <p:cNvSpPr>
                <a:spLocks noChangeShapeType="1"/>
              </p:cNvSpPr>
              <p:nvPr/>
            </p:nvSpPr>
            <p:spPr bwMode="auto">
              <a:xfrm flipH="1">
                <a:off x="2403" y="2169"/>
                <a:ext cx="13"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 name="Line 546"/>
              <p:cNvSpPr>
                <a:spLocks noChangeShapeType="1"/>
              </p:cNvSpPr>
              <p:nvPr/>
            </p:nvSpPr>
            <p:spPr bwMode="auto">
              <a:xfrm flipH="1">
                <a:off x="2390" y="2174"/>
                <a:ext cx="13"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 name="Line 547"/>
              <p:cNvSpPr>
                <a:spLocks noChangeShapeType="1"/>
              </p:cNvSpPr>
              <p:nvPr/>
            </p:nvSpPr>
            <p:spPr bwMode="auto">
              <a:xfrm flipH="1">
                <a:off x="2374" y="2176"/>
                <a:ext cx="16"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 name="Line 548"/>
              <p:cNvSpPr>
                <a:spLocks noChangeShapeType="1"/>
              </p:cNvSpPr>
              <p:nvPr/>
            </p:nvSpPr>
            <p:spPr bwMode="auto">
              <a:xfrm flipH="1" flipV="1">
                <a:off x="2361" y="2176"/>
                <a:ext cx="13"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 name="Line 549"/>
              <p:cNvSpPr>
                <a:spLocks noChangeShapeType="1"/>
              </p:cNvSpPr>
              <p:nvPr/>
            </p:nvSpPr>
            <p:spPr bwMode="auto">
              <a:xfrm flipH="1" flipV="1">
                <a:off x="2346" y="2172"/>
                <a:ext cx="15"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 name="Line 550"/>
              <p:cNvSpPr>
                <a:spLocks noChangeShapeType="1"/>
              </p:cNvSpPr>
              <p:nvPr/>
            </p:nvSpPr>
            <p:spPr bwMode="auto">
              <a:xfrm flipH="1" flipV="1">
                <a:off x="2331" y="2167"/>
                <a:ext cx="15"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 name="Line 551"/>
              <p:cNvSpPr>
                <a:spLocks noChangeShapeType="1"/>
              </p:cNvSpPr>
              <p:nvPr/>
            </p:nvSpPr>
            <p:spPr bwMode="auto">
              <a:xfrm flipH="1" flipV="1">
                <a:off x="2315" y="2159"/>
                <a:ext cx="16"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 name="Line 552"/>
              <p:cNvSpPr>
                <a:spLocks noChangeShapeType="1"/>
              </p:cNvSpPr>
              <p:nvPr/>
            </p:nvSpPr>
            <p:spPr bwMode="auto">
              <a:xfrm flipH="1" flipV="1">
                <a:off x="2302" y="2152"/>
                <a:ext cx="13"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 name="Line 553"/>
              <p:cNvSpPr>
                <a:spLocks noChangeShapeType="1"/>
              </p:cNvSpPr>
              <p:nvPr/>
            </p:nvSpPr>
            <p:spPr bwMode="auto">
              <a:xfrm flipH="1" flipV="1">
                <a:off x="2287" y="2140"/>
                <a:ext cx="15"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 name="Line 554"/>
              <p:cNvSpPr>
                <a:spLocks noChangeShapeType="1"/>
              </p:cNvSpPr>
              <p:nvPr/>
            </p:nvSpPr>
            <p:spPr bwMode="auto">
              <a:xfrm flipH="1" flipV="1">
                <a:off x="2272" y="2127"/>
                <a:ext cx="15"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 name="Line 555"/>
              <p:cNvSpPr>
                <a:spLocks noChangeShapeType="1"/>
              </p:cNvSpPr>
              <p:nvPr/>
            </p:nvSpPr>
            <p:spPr bwMode="auto">
              <a:xfrm flipH="1" flipV="1">
                <a:off x="2258" y="2114"/>
                <a:ext cx="14"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 name="Line 556"/>
              <p:cNvSpPr>
                <a:spLocks noChangeShapeType="1"/>
              </p:cNvSpPr>
              <p:nvPr/>
            </p:nvSpPr>
            <p:spPr bwMode="auto">
              <a:xfrm flipH="1" flipV="1">
                <a:off x="2243" y="2096"/>
                <a:ext cx="15" cy="1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 name="Line 557"/>
              <p:cNvSpPr>
                <a:spLocks noChangeShapeType="1"/>
              </p:cNvSpPr>
              <p:nvPr/>
            </p:nvSpPr>
            <p:spPr bwMode="auto">
              <a:xfrm flipH="1" flipV="1">
                <a:off x="2228" y="2079"/>
                <a:ext cx="15"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558"/>
              <p:cNvSpPr>
                <a:spLocks noChangeShapeType="1"/>
              </p:cNvSpPr>
              <p:nvPr/>
            </p:nvSpPr>
            <p:spPr bwMode="auto">
              <a:xfrm flipH="1" flipV="1">
                <a:off x="2217" y="2062"/>
                <a:ext cx="11"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Line 559"/>
              <p:cNvSpPr>
                <a:spLocks noChangeShapeType="1"/>
              </p:cNvSpPr>
              <p:nvPr/>
            </p:nvSpPr>
            <p:spPr bwMode="auto">
              <a:xfrm flipH="1" flipV="1">
                <a:off x="2203" y="2045"/>
                <a:ext cx="14"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0" name="Line 560"/>
              <p:cNvSpPr>
                <a:spLocks noChangeShapeType="1"/>
              </p:cNvSpPr>
              <p:nvPr/>
            </p:nvSpPr>
            <p:spPr bwMode="auto">
              <a:xfrm flipH="1" flipV="1">
                <a:off x="2194" y="2028"/>
                <a:ext cx="9"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 name="Freeform 561"/>
              <p:cNvSpPr>
                <a:spLocks/>
              </p:cNvSpPr>
              <p:nvPr/>
            </p:nvSpPr>
            <p:spPr bwMode="auto">
              <a:xfrm>
                <a:off x="2002" y="1722"/>
                <a:ext cx="175" cy="264"/>
              </a:xfrm>
              <a:custGeom>
                <a:avLst/>
                <a:gdLst>
                  <a:gd name="T0" fmla="*/ 173 w 175"/>
                  <a:gd name="T1" fmla="*/ 241 h 264"/>
                  <a:gd name="T2" fmla="*/ 171 w 175"/>
                  <a:gd name="T3" fmla="*/ 249 h 264"/>
                  <a:gd name="T4" fmla="*/ 169 w 175"/>
                  <a:gd name="T5" fmla="*/ 257 h 264"/>
                  <a:gd name="T6" fmla="*/ 165 w 175"/>
                  <a:gd name="T7" fmla="*/ 260 h 264"/>
                  <a:gd name="T8" fmla="*/ 161 w 175"/>
                  <a:gd name="T9" fmla="*/ 264 h 264"/>
                  <a:gd name="T10" fmla="*/ 156 w 175"/>
                  <a:gd name="T11" fmla="*/ 264 h 264"/>
                  <a:gd name="T12" fmla="*/ 150 w 175"/>
                  <a:gd name="T13" fmla="*/ 264 h 264"/>
                  <a:gd name="T14" fmla="*/ 144 w 175"/>
                  <a:gd name="T15" fmla="*/ 262 h 264"/>
                  <a:gd name="T16" fmla="*/ 137 w 175"/>
                  <a:gd name="T17" fmla="*/ 257 h 264"/>
                  <a:gd name="T18" fmla="*/ 120 w 175"/>
                  <a:gd name="T19" fmla="*/ 245 h 264"/>
                  <a:gd name="T20" fmla="*/ 103 w 175"/>
                  <a:gd name="T21" fmla="*/ 232 h 264"/>
                  <a:gd name="T22" fmla="*/ 85 w 175"/>
                  <a:gd name="T23" fmla="*/ 219 h 264"/>
                  <a:gd name="T24" fmla="*/ 68 w 175"/>
                  <a:gd name="T25" fmla="*/ 203 h 264"/>
                  <a:gd name="T26" fmla="*/ 51 w 175"/>
                  <a:gd name="T27" fmla="*/ 188 h 264"/>
                  <a:gd name="T28" fmla="*/ 38 w 175"/>
                  <a:gd name="T29" fmla="*/ 171 h 264"/>
                  <a:gd name="T30" fmla="*/ 26 w 175"/>
                  <a:gd name="T31" fmla="*/ 156 h 264"/>
                  <a:gd name="T32" fmla="*/ 17 w 175"/>
                  <a:gd name="T33" fmla="*/ 139 h 264"/>
                  <a:gd name="T34" fmla="*/ 9 w 175"/>
                  <a:gd name="T35" fmla="*/ 124 h 264"/>
                  <a:gd name="T36" fmla="*/ 4 w 175"/>
                  <a:gd name="T37" fmla="*/ 108 h 264"/>
                  <a:gd name="T38" fmla="*/ 0 w 175"/>
                  <a:gd name="T39" fmla="*/ 93 h 264"/>
                  <a:gd name="T40" fmla="*/ 0 w 175"/>
                  <a:gd name="T41" fmla="*/ 78 h 264"/>
                  <a:gd name="T42" fmla="*/ 0 w 175"/>
                  <a:gd name="T43" fmla="*/ 65 h 264"/>
                  <a:gd name="T44" fmla="*/ 2 w 175"/>
                  <a:gd name="T45" fmla="*/ 53 h 264"/>
                  <a:gd name="T46" fmla="*/ 6 w 175"/>
                  <a:gd name="T47" fmla="*/ 42 h 264"/>
                  <a:gd name="T48" fmla="*/ 9 w 175"/>
                  <a:gd name="T49" fmla="*/ 30 h 264"/>
                  <a:gd name="T50" fmla="*/ 15 w 175"/>
                  <a:gd name="T51" fmla="*/ 21 h 264"/>
                  <a:gd name="T52" fmla="*/ 23 w 175"/>
                  <a:gd name="T53" fmla="*/ 13 h 264"/>
                  <a:gd name="T54" fmla="*/ 28 w 175"/>
                  <a:gd name="T55" fmla="*/ 8 h 264"/>
                  <a:gd name="T56" fmla="*/ 36 w 175"/>
                  <a:gd name="T57" fmla="*/ 4 h 264"/>
                  <a:gd name="T58" fmla="*/ 46 w 175"/>
                  <a:gd name="T59" fmla="*/ 0 h 264"/>
                  <a:gd name="T60" fmla="*/ 55 w 175"/>
                  <a:gd name="T61" fmla="*/ 0 h 264"/>
                  <a:gd name="T62" fmla="*/ 66 w 175"/>
                  <a:gd name="T63" fmla="*/ 0 h 264"/>
                  <a:gd name="T64" fmla="*/ 78 w 175"/>
                  <a:gd name="T65" fmla="*/ 2 h 264"/>
                  <a:gd name="T66" fmla="*/ 91 w 175"/>
                  <a:gd name="T67" fmla="*/ 4 h 264"/>
                  <a:gd name="T68" fmla="*/ 104 w 175"/>
                  <a:gd name="T69" fmla="*/ 10 h 264"/>
                  <a:gd name="T70" fmla="*/ 116 w 175"/>
                  <a:gd name="T71" fmla="*/ 17 h 264"/>
                  <a:gd name="T72" fmla="*/ 125 w 175"/>
                  <a:gd name="T73" fmla="*/ 27 h 264"/>
                  <a:gd name="T74" fmla="*/ 135 w 175"/>
                  <a:gd name="T75" fmla="*/ 38 h 264"/>
                  <a:gd name="T76" fmla="*/ 144 w 175"/>
                  <a:gd name="T77" fmla="*/ 49 h 264"/>
                  <a:gd name="T78" fmla="*/ 152 w 175"/>
                  <a:gd name="T79" fmla="*/ 65 h 264"/>
                  <a:gd name="T80" fmla="*/ 158 w 175"/>
                  <a:gd name="T81" fmla="*/ 80 h 264"/>
                  <a:gd name="T82" fmla="*/ 163 w 175"/>
                  <a:gd name="T83" fmla="*/ 97 h 264"/>
                  <a:gd name="T84" fmla="*/ 169 w 175"/>
                  <a:gd name="T85" fmla="*/ 114 h 264"/>
                  <a:gd name="T86" fmla="*/ 171 w 175"/>
                  <a:gd name="T87" fmla="*/ 135 h 264"/>
                  <a:gd name="T88" fmla="*/ 175 w 175"/>
                  <a:gd name="T89" fmla="*/ 156 h 264"/>
                  <a:gd name="T90" fmla="*/ 175 w 175"/>
                  <a:gd name="T91" fmla="*/ 200 h 264"/>
                  <a:gd name="T92" fmla="*/ 173 w 175"/>
                  <a:gd name="T93" fmla="*/ 241 h 2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5"/>
                  <a:gd name="T142" fmla="*/ 0 h 264"/>
                  <a:gd name="T143" fmla="*/ 175 w 175"/>
                  <a:gd name="T144" fmla="*/ 264 h 2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5" h="264">
                    <a:moveTo>
                      <a:pt x="173" y="241"/>
                    </a:moveTo>
                    <a:lnTo>
                      <a:pt x="171" y="249"/>
                    </a:lnTo>
                    <a:lnTo>
                      <a:pt x="169" y="257"/>
                    </a:lnTo>
                    <a:lnTo>
                      <a:pt x="165" y="260"/>
                    </a:lnTo>
                    <a:lnTo>
                      <a:pt x="161" y="264"/>
                    </a:lnTo>
                    <a:lnTo>
                      <a:pt x="156" y="264"/>
                    </a:lnTo>
                    <a:lnTo>
                      <a:pt x="150" y="264"/>
                    </a:lnTo>
                    <a:lnTo>
                      <a:pt x="144" y="262"/>
                    </a:lnTo>
                    <a:lnTo>
                      <a:pt x="137" y="257"/>
                    </a:lnTo>
                    <a:lnTo>
                      <a:pt x="120" y="245"/>
                    </a:lnTo>
                    <a:lnTo>
                      <a:pt x="103" y="232"/>
                    </a:lnTo>
                    <a:lnTo>
                      <a:pt x="85" y="219"/>
                    </a:lnTo>
                    <a:lnTo>
                      <a:pt x="68" y="203"/>
                    </a:lnTo>
                    <a:lnTo>
                      <a:pt x="51" y="188"/>
                    </a:lnTo>
                    <a:lnTo>
                      <a:pt x="38" y="171"/>
                    </a:lnTo>
                    <a:lnTo>
                      <a:pt x="26" y="156"/>
                    </a:lnTo>
                    <a:lnTo>
                      <a:pt x="17" y="139"/>
                    </a:lnTo>
                    <a:lnTo>
                      <a:pt x="9" y="124"/>
                    </a:lnTo>
                    <a:lnTo>
                      <a:pt x="4" y="108"/>
                    </a:lnTo>
                    <a:lnTo>
                      <a:pt x="0" y="93"/>
                    </a:lnTo>
                    <a:lnTo>
                      <a:pt x="0" y="78"/>
                    </a:lnTo>
                    <a:lnTo>
                      <a:pt x="0" y="65"/>
                    </a:lnTo>
                    <a:lnTo>
                      <a:pt x="2" y="53"/>
                    </a:lnTo>
                    <a:lnTo>
                      <a:pt x="6" y="42"/>
                    </a:lnTo>
                    <a:lnTo>
                      <a:pt x="9" y="30"/>
                    </a:lnTo>
                    <a:lnTo>
                      <a:pt x="15" y="21"/>
                    </a:lnTo>
                    <a:lnTo>
                      <a:pt x="23" y="13"/>
                    </a:lnTo>
                    <a:lnTo>
                      <a:pt x="28" y="8"/>
                    </a:lnTo>
                    <a:lnTo>
                      <a:pt x="36" y="4"/>
                    </a:lnTo>
                    <a:lnTo>
                      <a:pt x="46" y="0"/>
                    </a:lnTo>
                    <a:lnTo>
                      <a:pt x="55" y="0"/>
                    </a:lnTo>
                    <a:lnTo>
                      <a:pt x="66" y="0"/>
                    </a:lnTo>
                    <a:lnTo>
                      <a:pt x="78" y="2"/>
                    </a:lnTo>
                    <a:lnTo>
                      <a:pt x="91" y="4"/>
                    </a:lnTo>
                    <a:lnTo>
                      <a:pt x="104" y="10"/>
                    </a:lnTo>
                    <a:lnTo>
                      <a:pt x="116" y="17"/>
                    </a:lnTo>
                    <a:lnTo>
                      <a:pt x="125" y="27"/>
                    </a:lnTo>
                    <a:lnTo>
                      <a:pt x="135" y="38"/>
                    </a:lnTo>
                    <a:lnTo>
                      <a:pt x="144" y="49"/>
                    </a:lnTo>
                    <a:lnTo>
                      <a:pt x="152" y="65"/>
                    </a:lnTo>
                    <a:lnTo>
                      <a:pt x="158" y="80"/>
                    </a:lnTo>
                    <a:lnTo>
                      <a:pt x="163" y="97"/>
                    </a:lnTo>
                    <a:lnTo>
                      <a:pt x="169" y="114"/>
                    </a:lnTo>
                    <a:lnTo>
                      <a:pt x="171" y="135"/>
                    </a:lnTo>
                    <a:lnTo>
                      <a:pt x="175" y="156"/>
                    </a:lnTo>
                    <a:lnTo>
                      <a:pt x="175" y="200"/>
                    </a:lnTo>
                    <a:lnTo>
                      <a:pt x="173" y="241"/>
                    </a:lnTo>
                    <a:close/>
                  </a:path>
                </a:pathLst>
              </a:custGeom>
              <a:solidFill>
                <a:srgbClr val="FFFF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72" name="Line 562"/>
              <p:cNvSpPr>
                <a:spLocks noChangeShapeType="1"/>
              </p:cNvSpPr>
              <p:nvPr/>
            </p:nvSpPr>
            <p:spPr bwMode="auto">
              <a:xfrm flipH="1">
                <a:off x="2175" y="1965"/>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 name="Line 563"/>
              <p:cNvSpPr>
                <a:spLocks noChangeShapeType="1"/>
              </p:cNvSpPr>
              <p:nvPr/>
            </p:nvSpPr>
            <p:spPr bwMode="auto">
              <a:xfrm flipH="1">
                <a:off x="2173" y="1973"/>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 name="Line 564"/>
              <p:cNvSpPr>
                <a:spLocks noChangeShapeType="1"/>
              </p:cNvSpPr>
              <p:nvPr/>
            </p:nvSpPr>
            <p:spPr bwMode="auto">
              <a:xfrm flipH="1">
                <a:off x="2169" y="1981"/>
                <a:ext cx="4"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 name="Line 565"/>
              <p:cNvSpPr>
                <a:spLocks noChangeShapeType="1"/>
              </p:cNvSpPr>
              <p:nvPr/>
            </p:nvSpPr>
            <p:spPr bwMode="auto">
              <a:xfrm flipH="1">
                <a:off x="2165" y="1984"/>
                <a:ext cx="4"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 name="Line 566"/>
              <p:cNvSpPr>
                <a:spLocks noChangeShapeType="1"/>
              </p:cNvSpPr>
              <p:nvPr/>
            </p:nvSpPr>
            <p:spPr bwMode="auto">
              <a:xfrm flipH="1">
                <a:off x="2160" y="1988"/>
                <a:ext cx="5"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 name="Line 567"/>
              <p:cNvSpPr>
                <a:spLocks noChangeShapeType="1"/>
              </p:cNvSpPr>
              <p:nvPr/>
            </p:nvSpPr>
            <p:spPr bwMode="auto">
              <a:xfrm flipH="1">
                <a:off x="2154" y="1988"/>
                <a:ext cx="6"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 name="Line 568"/>
              <p:cNvSpPr>
                <a:spLocks noChangeShapeType="1"/>
              </p:cNvSpPr>
              <p:nvPr/>
            </p:nvSpPr>
            <p:spPr bwMode="auto">
              <a:xfrm flipH="1" flipV="1">
                <a:off x="2148" y="1986"/>
                <a:ext cx="6"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 name="Line 569"/>
              <p:cNvSpPr>
                <a:spLocks noChangeShapeType="1"/>
              </p:cNvSpPr>
              <p:nvPr/>
            </p:nvSpPr>
            <p:spPr bwMode="auto">
              <a:xfrm flipH="1" flipV="1">
                <a:off x="2141" y="1981"/>
                <a:ext cx="7"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 name="Line 570"/>
              <p:cNvSpPr>
                <a:spLocks noChangeShapeType="1"/>
              </p:cNvSpPr>
              <p:nvPr/>
            </p:nvSpPr>
            <p:spPr bwMode="auto">
              <a:xfrm flipH="1" flipV="1">
                <a:off x="2124" y="1969"/>
                <a:ext cx="17"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 name="Line 571"/>
              <p:cNvSpPr>
                <a:spLocks noChangeShapeType="1"/>
              </p:cNvSpPr>
              <p:nvPr/>
            </p:nvSpPr>
            <p:spPr bwMode="auto">
              <a:xfrm flipH="1" flipV="1">
                <a:off x="2106" y="1956"/>
                <a:ext cx="18"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 name="Line 572"/>
              <p:cNvSpPr>
                <a:spLocks noChangeShapeType="1"/>
              </p:cNvSpPr>
              <p:nvPr/>
            </p:nvSpPr>
            <p:spPr bwMode="auto">
              <a:xfrm flipH="1" flipV="1">
                <a:off x="2089" y="1943"/>
                <a:ext cx="17"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 name="Line 573"/>
              <p:cNvSpPr>
                <a:spLocks noChangeShapeType="1"/>
              </p:cNvSpPr>
              <p:nvPr/>
            </p:nvSpPr>
            <p:spPr bwMode="auto">
              <a:xfrm flipH="1" flipV="1">
                <a:off x="2072" y="1927"/>
                <a:ext cx="17"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 name="Line 574"/>
              <p:cNvSpPr>
                <a:spLocks noChangeShapeType="1"/>
              </p:cNvSpPr>
              <p:nvPr/>
            </p:nvSpPr>
            <p:spPr bwMode="auto">
              <a:xfrm flipH="1" flipV="1">
                <a:off x="2055" y="1912"/>
                <a:ext cx="17"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 name="Line 575"/>
              <p:cNvSpPr>
                <a:spLocks noChangeShapeType="1"/>
              </p:cNvSpPr>
              <p:nvPr/>
            </p:nvSpPr>
            <p:spPr bwMode="auto">
              <a:xfrm flipH="1" flipV="1">
                <a:off x="2042" y="1895"/>
                <a:ext cx="13"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 name="Line 576"/>
              <p:cNvSpPr>
                <a:spLocks noChangeShapeType="1"/>
              </p:cNvSpPr>
              <p:nvPr/>
            </p:nvSpPr>
            <p:spPr bwMode="auto">
              <a:xfrm flipH="1" flipV="1">
                <a:off x="2030" y="1880"/>
                <a:ext cx="12"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 name="Line 577"/>
              <p:cNvSpPr>
                <a:spLocks noChangeShapeType="1"/>
              </p:cNvSpPr>
              <p:nvPr/>
            </p:nvSpPr>
            <p:spPr bwMode="auto">
              <a:xfrm flipH="1" flipV="1">
                <a:off x="2021" y="1863"/>
                <a:ext cx="9"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8" name="Line 578"/>
              <p:cNvSpPr>
                <a:spLocks noChangeShapeType="1"/>
              </p:cNvSpPr>
              <p:nvPr/>
            </p:nvSpPr>
            <p:spPr bwMode="auto">
              <a:xfrm flipH="1" flipV="1">
                <a:off x="2013" y="1848"/>
                <a:ext cx="8"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9" name="Line 579"/>
              <p:cNvSpPr>
                <a:spLocks noChangeShapeType="1"/>
              </p:cNvSpPr>
              <p:nvPr/>
            </p:nvSpPr>
            <p:spPr bwMode="auto">
              <a:xfrm flipH="1" flipV="1">
                <a:off x="2008" y="1832"/>
                <a:ext cx="5"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 name="Line 580"/>
              <p:cNvSpPr>
                <a:spLocks noChangeShapeType="1"/>
              </p:cNvSpPr>
              <p:nvPr/>
            </p:nvSpPr>
            <p:spPr bwMode="auto">
              <a:xfrm flipH="1" flipV="1">
                <a:off x="2004" y="1817"/>
                <a:ext cx="4"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 name="Line 581"/>
              <p:cNvSpPr>
                <a:spLocks noChangeShapeType="1"/>
              </p:cNvSpPr>
              <p:nvPr/>
            </p:nvSpPr>
            <p:spPr bwMode="auto">
              <a:xfrm flipV="1">
                <a:off x="2004" y="1802"/>
                <a:ext cx="1"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 name="Line 582"/>
              <p:cNvSpPr>
                <a:spLocks noChangeShapeType="1"/>
              </p:cNvSpPr>
              <p:nvPr/>
            </p:nvSpPr>
            <p:spPr bwMode="auto">
              <a:xfrm flipV="1">
                <a:off x="2004" y="1789"/>
                <a:ext cx="1"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 name="Line 583"/>
              <p:cNvSpPr>
                <a:spLocks noChangeShapeType="1"/>
              </p:cNvSpPr>
              <p:nvPr/>
            </p:nvSpPr>
            <p:spPr bwMode="auto">
              <a:xfrm flipV="1">
                <a:off x="2004" y="1777"/>
                <a:ext cx="2"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 name="Line 584"/>
              <p:cNvSpPr>
                <a:spLocks noChangeShapeType="1"/>
              </p:cNvSpPr>
              <p:nvPr/>
            </p:nvSpPr>
            <p:spPr bwMode="auto">
              <a:xfrm flipV="1">
                <a:off x="2006" y="1766"/>
                <a:ext cx="3"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 name="Line 585"/>
              <p:cNvSpPr>
                <a:spLocks noChangeShapeType="1"/>
              </p:cNvSpPr>
              <p:nvPr/>
            </p:nvSpPr>
            <p:spPr bwMode="auto">
              <a:xfrm flipV="1">
                <a:off x="2009" y="1754"/>
                <a:ext cx="4"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6" name="Line 586"/>
              <p:cNvSpPr>
                <a:spLocks noChangeShapeType="1"/>
              </p:cNvSpPr>
              <p:nvPr/>
            </p:nvSpPr>
            <p:spPr bwMode="auto">
              <a:xfrm flipV="1">
                <a:off x="2013" y="1745"/>
                <a:ext cx="6"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 name="Line 587"/>
              <p:cNvSpPr>
                <a:spLocks noChangeShapeType="1"/>
              </p:cNvSpPr>
              <p:nvPr/>
            </p:nvSpPr>
            <p:spPr bwMode="auto">
              <a:xfrm flipV="1">
                <a:off x="2019" y="1737"/>
                <a:ext cx="8"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 name="Line 588"/>
              <p:cNvSpPr>
                <a:spLocks noChangeShapeType="1"/>
              </p:cNvSpPr>
              <p:nvPr/>
            </p:nvSpPr>
            <p:spPr bwMode="auto">
              <a:xfrm flipV="1">
                <a:off x="2027" y="1732"/>
                <a:ext cx="5"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9" name="Line 589"/>
              <p:cNvSpPr>
                <a:spLocks noChangeShapeType="1"/>
              </p:cNvSpPr>
              <p:nvPr/>
            </p:nvSpPr>
            <p:spPr bwMode="auto">
              <a:xfrm flipV="1">
                <a:off x="2032" y="1728"/>
                <a:ext cx="8"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0" name="Line 590"/>
              <p:cNvSpPr>
                <a:spLocks noChangeShapeType="1"/>
              </p:cNvSpPr>
              <p:nvPr/>
            </p:nvSpPr>
            <p:spPr bwMode="auto">
              <a:xfrm flipV="1">
                <a:off x="2040" y="1724"/>
                <a:ext cx="9"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1" name="Line 591"/>
              <p:cNvSpPr>
                <a:spLocks noChangeShapeType="1"/>
              </p:cNvSpPr>
              <p:nvPr/>
            </p:nvSpPr>
            <p:spPr bwMode="auto">
              <a:xfrm>
                <a:off x="2049" y="1724"/>
                <a:ext cx="10"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2" name="Line 592"/>
              <p:cNvSpPr>
                <a:spLocks noChangeShapeType="1"/>
              </p:cNvSpPr>
              <p:nvPr/>
            </p:nvSpPr>
            <p:spPr bwMode="auto">
              <a:xfrm>
                <a:off x="2059" y="1724"/>
                <a:ext cx="1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 name="Line 593"/>
              <p:cNvSpPr>
                <a:spLocks noChangeShapeType="1"/>
              </p:cNvSpPr>
              <p:nvPr/>
            </p:nvSpPr>
            <p:spPr bwMode="auto">
              <a:xfrm>
                <a:off x="2070" y="1724"/>
                <a:ext cx="12"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4" name="Line 594"/>
              <p:cNvSpPr>
                <a:spLocks noChangeShapeType="1"/>
              </p:cNvSpPr>
              <p:nvPr/>
            </p:nvSpPr>
            <p:spPr bwMode="auto">
              <a:xfrm>
                <a:off x="2082" y="1726"/>
                <a:ext cx="13"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5" name="Line 595"/>
              <p:cNvSpPr>
                <a:spLocks noChangeShapeType="1"/>
              </p:cNvSpPr>
              <p:nvPr/>
            </p:nvSpPr>
            <p:spPr bwMode="auto">
              <a:xfrm>
                <a:off x="2095" y="1728"/>
                <a:ext cx="13"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6" name="Line 596"/>
              <p:cNvSpPr>
                <a:spLocks noChangeShapeType="1"/>
              </p:cNvSpPr>
              <p:nvPr/>
            </p:nvSpPr>
            <p:spPr bwMode="auto">
              <a:xfrm>
                <a:off x="2108" y="1733"/>
                <a:ext cx="1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 name="Line 597"/>
              <p:cNvSpPr>
                <a:spLocks noChangeShapeType="1"/>
              </p:cNvSpPr>
              <p:nvPr/>
            </p:nvSpPr>
            <p:spPr bwMode="auto">
              <a:xfrm>
                <a:off x="2120" y="1741"/>
                <a:ext cx="9"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 name="Line 598"/>
              <p:cNvSpPr>
                <a:spLocks noChangeShapeType="1"/>
              </p:cNvSpPr>
              <p:nvPr/>
            </p:nvSpPr>
            <p:spPr bwMode="auto">
              <a:xfrm>
                <a:off x="2129" y="1751"/>
                <a:ext cx="10"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9" name="Line 599"/>
              <p:cNvSpPr>
                <a:spLocks noChangeShapeType="1"/>
              </p:cNvSpPr>
              <p:nvPr/>
            </p:nvSpPr>
            <p:spPr bwMode="auto">
              <a:xfrm>
                <a:off x="2139" y="1762"/>
                <a:ext cx="9"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 name="Line 600"/>
              <p:cNvSpPr>
                <a:spLocks noChangeShapeType="1"/>
              </p:cNvSpPr>
              <p:nvPr/>
            </p:nvSpPr>
            <p:spPr bwMode="auto">
              <a:xfrm>
                <a:off x="2148" y="1773"/>
                <a:ext cx="8"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 name="Line 601"/>
              <p:cNvSpPr>
                <a:spLocks noChangeShapeType="1"/>
              </p:cNvSpPr>
              <p:nvPr/>
            </p:nvSpPr>
            <p:spPr bwMode="auto">
              <a:xfrm>
                <a:off x="2156" y="1789"/>
                <a:ext cx="6"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 name="Line 602"/>
              <p:cNvSpPr>
                <a:spLocks noChangeShapeType="1"/>
              </p:cNvSpPr>
              <p:nvPr/>
            </p:nvSpPr>
            <p:spPr bwMode="auto">
              <a:xfrm>
                <a:off x="2162" y="1804"/>
                <a:ext cx="5"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 name="Line 603"/>
              <p:cNvSpPr>
                <a:spLocks noChangeShapeType="1"/>
              </p:cNvSpPr>
              <p:nvPr/>
            </p:nvSpPr>
            <p:spPr bwMode="auto">
              <a:xfrm>
                <a:off x="2167" y="1821"/>
                <a:ext cx="6"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 name="Line 604"/>
              <p:cNvSpPr>
                <a:spLocks noChangeShapeType="1"/>
              </p:cNvSpPr>
              <p:nvPr/>
            </p:nvSpPr>
            <p:spPr bwMode="auto">
              <a:xfrm>
                <a:off x="2173" y="1838"/>
                <a:ext cx="2"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 name="Line 605"/>
              <p:cNvSpPr>
                <a:spLocks noChangeShapeType="1"/>
              </p:cNvSpPr>
              <p:nvPr/>
            </p:nvSpPr>
            <p:spPr bwMode="auto">
              <a:xfrm>
                <a:off x="2175" y="1859"/>
                <a:ext cx="4" cy="2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6" name="Line 606"/>
              <p:cNvSpPr>
                <a:spLocks noChangeShapeType="1"/>
              </p:cNvSpPr>
              <p:nvPr/>
            </p:nvSpPr>
            <p:spPr bwMode="auto">
              <a:xfrm>
                <a:off x="2179" y="1880"/>
                <a:ext cx="1" cy="4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 name="Line 607"/>
              <p:cNvSpPr>
                <a:spLocks noChangeShapeType="1"/>
              </p:cNvSpPr>
              <p:nvPr/>
            </p:nvSpPr>
            <p:spPr bwMode="auto">
              <a:xfrm flipH="1">
                <a:off x="2177" y="1924"/>
                <a:ext cx="2" cy="4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 name="Oval 608"/>
              <p:cNvSpPr>
                <a:spLocks noChangeArrowheads="1"/>
              </p:cNvSpPr>
              <p:nvPr/>
            </p:nvSpPr>
            <p:spPr bwMode="auto">
              <a:xfrm>
                <a:off x="2149" y="1961"/>
                <a:ext cx="55" cy="55"/>
              </a:xfrm>
              <a:prstGeom prst="ellipse">
                <a:avLst/>
              </a:prstGeom>
              <a:solidFill>
                <a:srgbClr val="000000"/>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9" name="Freeform 609"/>
              <p:cNvSpPr>
                <a:spLocks/>
              </p:cNvSpPr>
              <p:nvPr/>
            </p:nvSpPr>
            <p:spPr bwMode="auto">
              <a:xfrm>
                <a:off x="2030" y="1891"/>
                <a:ext cx="135" cy="93"/>
              </a:xfrm>
              <a:custGeom>
                <a:avLst/>
                <a:gdLst>
                  <a:gd name="T0" fmla="*/ 132 w 135"/>
                  <a:gd name="T1" fmla="*/ 76 h 93"/>
                  <a:gd name="T2" fmla="*/ 135 w 135"/>
                  <a:gd name="T3" fmla="*/ 84 h 93"/>
                  <a:gd name="T4" fmla="*/ 133 w 135"/>
                  <a:gd name="T5" fmla="*/ 90 h 93"/>
                  <a:gd name="T6" fmla="*/ 130 w 135"/>
                  <a:gd name="T7" fmla="*/ 91 h 93"/>
                  <a:gd name="T8" fmla="*/ 120 w 135"/>
                  <a:gd name="T9" fmla="*/ 93 h 93"/>
                  <a:gd name="T10" fmla="*/ 99 w 135"/>
                  <a:gd name="T11" fmla="*/ 91 h 93"/>
                  <a:gd name="T12" fmla="*/ 76 w 135"/>
                  <a:gd name="T13" fmla="*/ 90 h 93"/>
                  <a:gd name="T14" fmla="*/ 54 w 135"/>
                  <a:gd name="T15" fmla="*/ 86 h 93"/>
                  <a:gd name="T16" fmla="*/ 37 w 135"/>
                  <a:gd name="T17" fmla="*/ 78 h 93"/>
                  <a:gd name="T18" fmla="*/ 27 w 135"/>
                  <a:gd name="T19" fmla="*/ 74 h 93"/>
                  <a:gd name="T20" fmla="*/ 21 w 135"/>
                  <a:gd name="T21" fmla="*/ 69 h 93"/>
                  <a:gd name="T22" fmla="*/ 16 w 135"/>
                  <a:gd name="T23" fmla="*/ 65 h 93"/>
                  <a:gd name="T24" fmla="*/ 10 w 135"/>
                  <a:gd name="T25" fmla="*/ 59 h 93"/>
                  <a:gd name="T26" fmla="*/ 4 w 135"/>
                  <a:gd name="T27" fmla="*/ 48 h 93"/>
                  <a:gd name="T28" fmla="*/ 0 w 135"/>
                  <a:gd name="T29" fmla="*/ 36 h 93"/>
                  <a:gd name="T30" fmla="*/ 0 w 135"/>
                  <a:gd name="T31" fmla="*/ 27 h 93"/>
                  <a:gd name="T32" fmla="*/ 4 w 135"/>
                  <a:gd name="T33" fmla="*/ 17 h 93"/>
                  <a:gd name="T34" fmla="*/ 6 w 135"/>
                  <a:gd name="T35" fmla="*/ 14 h 93"/>
                  <a:gd name="T36" fmla="*/ 10 w 135"/>
                  <a:gd name="T37" fmla="*/ 12 h 93"/>
                  <a:gd name="T38" fmla="*/ 16 w 135"/>
                  <a:gd name="T39" fmla="*/ 8 h 93"/>
                  <a:gd name="T40" fmla="*/ 21 w 135"/>
                  <a:gd name="T41" fmla="*/ 6 h 93"/>
                  <a:gd name="T42" fmla="*/ 27 w 135"/>
                  <a:gd name="T43" fmla="*/ 2 h 93"/>
                  <a:gd name="T44" fmla="*/ 35 w 135"/>
                  <a:gd name="T45" fmla="*/ 2 h 93"/>
                  <a:gd name="T46" fmla="*/ 40 w 135"/>
                  <a:gd name="T47" fmla="*/ 0 h 93"/>
                  <a:gd name="T48" fmla="*/ 48 w 135"/>
                  <a:gd name="T49" fmla="*/ 2 h 93"/>
                  <a:gd name="T50" fmla="*/ 63 w 135"/>
                  <a:gd name="T51" fmla="*/ 6 h 93"/>
                  <a:gd name="T52" fmla="*/ 78 w 135"/>
                  <a:gd name="T53" fmla="*/ 14 h 93"/>
                  <a:gd name="T54" fmla="*/ 84 w 135"/>
                  <a:gd name="T55" fmla="*/ 19 h 93"/>
                  <a:gd name="T56" fmla="*/ 92 w 135"/>
                  <a:gd name="T57" fmla="*/ 27 h 93"/>
                  <a:gd name="T58" fmla="*/ 99 w 135"/>
                  <a:gd name="T59" fmla="*/ 33 h 93"/>
                  <a:gd name="T60" fmla="*/ 107 w 135"/>
                  <a:gd name="T61" fmla="*/ 42 h 93"/>
                  <a:gd name="T62" fmla="*/ 120 w 135"/>
                  <a:gd name="T63" fmla="*/ 59 h 93"/>
                  <a:gd name="T64" fmla="*/ 132 w 135"/>
                  <a:gd name="T65" fmla="*/ 76 h 9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5"/>
                  <a:gd name="T100" fmla="*/ 0 h 93"/>
                  <a:gd name="T101" fmla="*/ 135 w 135"/>
                  <a:gd name="T102" fmla="*/ 93 h 9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5" h="93">
                    <a:moveTo>
                      <a:pt x="132" y="76"/>
                    </a:moveTo>
                    <a:lnTo>
                      <a:pt x="135" y="84"/>
                    </a:lnTo>
                    <a:lnTo>
                      <a:pt x="133" y="90"/>
                    </a:lnTo>
                    <a:lnTo>
                      <a:pt x="130" y="91"/>
                    </a:lnTo>
                    <a:lnTo>
                      <a:pt x="120" y="93"/>
                    </a:lnTo>
                    <a:lnTo>
                      <a:pt x="99" y="91"/>
                    </a:lnTo>
                    <a:lnTo>
                      <a:pt x="76" y="90"/>
                    </a:lnTo>
                    <a:lnTo>
                      <a:pt x="54" y="86"/>
                    </a:lnTo>
                    <a:lnTo>
                      <a:pt x="37" y="78"/>
                    </a:lnTo>
                    <a:lnTo>
                      <a:pt x="27" y="74"/>
                    </a:lnTo>
                    <a:lnTo>
                      <a:pt x="21" y="69"/>
                    </a:lnTo>
                    <a:lnTo>
                      <a:pt x="16" y="65"/>
                    </a:lnTo>
                    <a:lnTo>
                      <a:pt x="10" y="59"/>
                    </a:lnTo>
                    <a:lnTo>
                      <a:pt x="4" y="48"/>
                    </a:lnTo>
                    <a:lnTo>
                      <a:pt x="0" y="36"/>
                    </a:lnTo>
                    <a:lnTo>
                      <a:pt x="0" y="27"/>
                    </a:lnTo>
                    <a:lnTo>
                      <a:pt x="4" y="17"/>
                    </a:lnTo>
                    <a:lnTo>
                      <a:pt x="6" y="14"/>
                    </a:lnTo>
                    <a:lnTo>
                      <a:pt x="10" y="12"/>
                    </a:lnTo>
                    <a:lnTo>
                      <a:pt x="16" y="8"/>
                    </a:lnTo>
                    <a:lnTo>
                      <a:pt x="21" y="6"/>
                    </a:lnTo>
                    <a:lnTo>
                      <a:pt x="27" y="2"/>
                    </a:lnTo>
                    <a:lnTo>
                      <a:pt x="35" y="2"/>
                    </a:lnTo>
                    <a:lnTo>
                      <a:pt x="40" y="0"/>
                    </a:lnTo>
                    <a:lnTo>
                      <a:pt x="48" y="2"/>
                    </a:lnTo>
                    <a:lnTo>
                      <a:pt x="63" y="6"/>
                    </a:lnTo>
                    <a:lnTo>
                      <a:pt x="78" y="14"/>
                    </a:lnTo>
                    <a:lnTo>
                      <a:pt x="84" y="19"/>
                    </a:lnTo>
                    <a:lnTo>
                      <a:pt x="92" y="27"/>
                    </a:lnTo>
                    <a:lnTo>
                      <a:pt x="99" y="33"/>
                    </a:lnTo>
                    <a:lnTo>
                      <a:pt x="107" y="42"/>
                    </a:lnTo>
                    <a:lnTo>
                      <a:pt x="120" y="59"/>
                    </a:lnTo>
                    <a:lnTo>
                      <a:pt x="132" y="76"/>
                    </a:lnTo>
                    <a:close/>
                  </a:path>
                </a:pathLst>
              </a:custGeom>
              <a:solidFill>
                <a:srgbClr val="00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0" name="Line 610"/>
              <p:cNvSpPr>
                <a:spLocks noChangeShapeType="1"/>
              </p:cNvSpPr>
              <p:nvPr/>
            </p:nvSpPr>
            <p:spPr bwMode="auto">
              <a:xfrm>
                <a:off x="2162" y="1967"/>
                <a:ext cx="3"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1" name="Line 611"/>
              <p:cNvSpPr>
                <a:spLocks noChangeShapeType="1"/>
              </p:cNvSpPr>
              <p:nvPr/>
            </p:nvSpPr>
            <p:spPr bwMode="auto">
              <a:xfrm flipH="1">
                <a:off x="2163" y="1975"/>
                <a:ext cx="2" cy="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2" name="Line 612"/>
              <p:cNvSpPr>
                <a:spLocks noChangeShapeType="1"/>
              </p:cNvSpPr>
              <p:nvPr/>
            </p:nvSpPr>
            <p:spPr bwMode="auto">
              <a:xfrm flipH="1">
                <a:off x="2160" y="1981"/>
                <a:ext cx="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3" name="Line 613"/>
              <p:cNvSpPr>
                <a:spLocks noChangeShapeType="1"/>
              </p:cNvSpPr>
              <p:nvPr/>
            </p:nvSpPr>
            <p:spPr bwMode="auto">
              <a:xfrm flipH="1">
                <a:off x="2150" y="1982"/>
                <a:ext cx="10"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4" name="Line 614"/>
              <p:cNvSpPr>
                <a:spLocks noChangeShapeType="1"/>
              </p:cNvSpPr>
              <p:nvPr/>
            </p:nvSpPr>
            <p:spPr bwMode="auto">
              <a:xfrm flipH="1" flipV="1">
                <a:off x="2129" y="1982"/>
                <a:ext cx="21"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5" name="Line 615"/>
              <p:cNvSpPr>
                <a:spLocks noChangeShapeType="1"/>
              </p:cNvSpPr>
              <p:nvPr/>
            </p:nvSpPr>
            <p:spPr bwMode="auto">
              <a:xfrm flipH="1" flipV="1">
                <a:off x="2106" y="1981"/>
                <a:ext cx="2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6" name="Line 616"/>
              <p:cNvSpPr>
                <a:spLocks noChangeShapeType="1"/>
              </p:cNvSpPr>
              <p:nvPr/>
            </p:nvSpPr>
            <p:spPr bwMode="auto">
              <a:xfrm flipH="1" flipV="1">
                <a:off x="2084" y="1977"/>
                <a:ext cx="22"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 name="Line 617"/>
              <p:cNvSpPr>
                <a:spLocks noChangeShapeType="1"/>
              </p:cNvSpPr>
              <p:nvPr/>
            </p:nvSpPr>
            <p:spPr bwMode="auto">
              <a:xfrm flipH="1" flipV="1">
                <a:off x="2067" y="1969"/>
                <a:ext cx="17"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 name="Line 618"/>
              <p:cNvSpPr>
                <a:spLocks noChangeShapeType="1"/>
              </p:cNvSpPr>
              <p:nvPr/>
            </p:nvSpPr>
            <p:spPr bwMode="auto">
              <a:xfrm flipH="1" flipV="1">
                <a:off x="2057" y="1965"/>
                <a:ext cx="10"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9" name="Line 619"/>
              <p:cNvSpPr>
                <a:spLocks noChangeShapeType="1"/>
              </p:cNvSpPr>
              <p:nvPr/>
            </p:nvSpPr>
            <p:spPr bwMode="auto">
              <a:xfrm flipH="1" flipV="1">
                <a:off x="2051" y="1960"/>
                <a:ext cx="6"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0" name="Line 620"/>
              <p:cNvSpPr>
                <a:spLocks noChangeShapeType="1"/>
              </p:cNvSpPr>
              <p:nvPr/>
            </p:nvSpPr>
            <p:spPr bwMode="auto">
              <a:xfrm flipH="1" flipV="1">
                <a:off x="2046" y="1956"/>
                <a:ext cx="5"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 name="Line 621"/>
              <p:cNvSpPr>
                <a:spLocks noChangeShapeType="1"/>
              </p:cNvSpPr>
              <p:nvPr/>
            </p:nvSpPr>
            <p:spPr bwMode="auto">
              <a:xfrm flipH="1" flipV="1">
                <a:off x="2040" y="1950"/>
                <a:ext cx="6" cy="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 name="Line 622"/>
              <p:cNvSpPr>
                <a:spLocks noChangeShapeType="1"/>
              </p:cNvSpPr>
              <p:nvPr/>
            </p:nvSpPr>
            <p:spPr bwMode="auto">
              <a:xfrm flipH="1" flipV="1">
                <a:off x="2034" y="1939"/>
                <a:ext cx="6" cy="1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 name="Line 623"/>
              <p:cNvSpPr>
                <a:spLocks noChangeShapeType="1"/>
              </p:cNvSpPr>
              <p:nvPr/>
            </p:nvSpPr>
            <p:spPr bwMode="auto">
              <a:xfrm flipH="1" flipV="1">
                <a:off x="2030" y="1927"/>
                <a:ext cx="4" cy="1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4" name="Line 624"/>
              <p:cNvSpPr>
                <a:spLocks noChangeShapeType="1"/>
              </p:cNvSpPr>
              <p:nvPr/>
            </p:nvSpPr>
            <p:spPr bwMode="auto">
              <a:xfrm flipV="1">
                <a:off x="2030" y="1918"/>
                <a:ext cx="1" cy="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5" name="Line 625"/>
              <p:cNvSpPr>
                <a:spLocks noChangeShapeType="1"/>
              </p:cNvSpPr>
              <p:nvPr/>
            </p:nvSpPr>
            <p:spPr bwMode="auto">
              <a:xfrm flipV="1">
                <a:off x="2030" y="1908"/>
                <a:ext cx="4" cy="1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 name="Line 626"/>
              <p:cNvSpPr>
                <a:spLocks noChangeShapeType="1"/>
              </p:cNvSpPr>
              <p:nvPr/>
            </p:nvSpPr>
            <p:spPr bwMode="auto">
              <a:xfrm flipV="1">
                <a:off x="2034" y="1905"/>
                <a:ext cx="2"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 name="Line 627"/>
              <p:cNvSpPr>
                <a:spLocks noChangeShapeType="1"/>
              </p:cNvSpPr>
              <p:nvPr/>
            </p:nvSpPr>
            <p:spPr bwMode="auto">
              <a:xfrm flipV="1">
                <a:off x="2036" y="1903"/>
                <a:ext cx="4"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 name="Line 628"/>
              <p:cNvSpPr>
                <a:spLocks noChangeShapeType="1"/>
              </p:cNvSpPr>
              <p:nvPr/>
            </p:nvSpPr>
            <p:spPr bwMode="auto">
              <a:xfrm flipV="1">
                <a:off x="2040" y="1899"/>
                <a:ext cx="6"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 name="Line 629"/>
              <p:cNvSpPr>
                <a:spLocks noChangeShapeType="1"/>
              </p:cNvSpPr>
              <p:nvPr/>
            </p:nvSpPr>
            <p:spPr bwMode="auto">
              <a:xfrm flipV="1">
                <a:off x="2046" y="1897"/>
                <a:ext cx="5"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 name="Line 630"/>
              <p:cNvSpPr>
                <a:spLocks noChangeShapeType="1"/>
              </p:cNvSpPr>
              <p:nvPr/>
            </p:nvSpPr>
            <p:spPr bwMode="auto">
              <a:xfrm flipV="1">
                <a:off x="2051" y="1893"/>
                <a:ext cx="6"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 name="Line 631"/>
              <p:cNvSpPr>
                <a:spLocks noChangeShapeType="1"/>
              </p:cNvSpPr>
              <p:nvPr/>
            </p:nvSpPr>
            <p:spPr bwMode="auto">
              <a:xfrm>
                <a:off x="2057" y="1893"/>
                <a:ext cx="8"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 name="Line 632"/>
              <p:cNvSpPr>
                <a:spLocks noChangeShapeType="1"/>
              </p:cNvSpPr>
              <p:nvPr/>
            </p:nvSpPr>
            <p:spPr bwMode="auto">
              <a:xfrm flipV="1">
                <a:off x="2065" y="1891"/>
                <a:ext cx="5"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3" name="Line 633"/>
              <p:cNvSpPr>
                <a:spLocks noChangeShapeType="1"/>
              </p:cNvSpPr>
              <p:nvPr/>
            </p:nvSpPr>
            <p:spPr bwMode="auto">
              <a:xfrm>
                <a:off x="2070" y="1891"/>
                <a:ext cx="8"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4" name="Line 634"/>
              <p:cNvSpPr>
                <a:spLocks noChangeShapeType="1"/>
              </p:cNvSpPr>
              <p:nvPr/>
            </p:nvSpPr>
            <p:spPr bwMode="auto">
              <a:xfrm>
                <a:off x="2078" y="1893"/>
                <a:ext cx="15"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 name="Line 635"/>
              <p:cNvSpPr>
                <a:spLocks noChangeShapeType="1"/>
              </p:cNvSpPr>
              <p:nvPr/>
            </p:nvSpPr>
            <p:spPr bwMode="auto">
              <a:xfrm>
                <a:off x="2093" y="1897"/>
                <a:ext cx="15"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 name="Line 636"/>
              <p:cNvSpPr>
                <a:spLocks noChangeShapeType="1"/>
              </p:cNvSpPr>
              <p:nvPr/>
            </p:nvSpPr>
            <p:spPr bwMode="auto">
              <a:xfrm>
                <a:off x="2108" y="1905"/>
                <a:ext cx="6"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 name="Line 637"/>
              <p:cNvSpPr>
                <a:spLocks noChangeShapeType="1"/>
              </p:cNvSpPr>
              <p:nvPr/>
            </p:nvSpPr>
            <p:spPr bwMode="auto">
              <a:xfrm>
                <a:off x="2114" y="1910"/>
                <a:ext cx="8"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 name="Line 638"/>
              <p:cNvSpPr>
                <a:spLocks noChangeShapeType="1"/>
              </p:cNvSpPr>
              <p:nvPr/>
            </p:nvSpPr>
            <p:spPr bwMode="auto">
              <a:xfrm>
                <a:off x="2122" y="1918"/>
                <a:ext cx="7" cy="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 name="Line 639"/>
              <p:cNvSpPr>
                <a:spLocks noChangeShapeType="1"/>
              </p:cNvSpPr>
              <p:nvPr/>
            </p:nvSpPr>
            <p:spPr bwMode="auto">
              <a:xfrm>
                <a:off x="2129" y="1924"/>
                <a:ext cx="8" cy="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0" name="Line 640"/>
              <p:cNvSpPr>
                <a:spLocks noChangeShapeType="1"/>
              </p:cNvSpPr>
              <p:nvPr/>
            </p:nvSpPr>
            <p:spPr bwMode="auto">
              <a:xfrm>
                <a:off x="2137" y="1933"/>
                <a:ext cx="13" cy="1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1" name="Line 641"/>
              <p:cNvSpPr>
                <a:spLocks noChangeShapeType="1"/>
              </p:cNvSpPr>
              <p:nvPr/>
            </p:nvSpPr>
            <p:spPr bwMode="auto">
              <a:xfrm>
                <a:off x="2150" y="1950"/>
                <a:ext cx="12" cy="1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 name="Freeform 642"/>
              <p:cNvSpPr>
                <a:spLocks/>
              </p:cNvSpPr>
              <p:nvPr/>
            </p:nvSpPr>
            <p:spPr bwMode="auto">
              <a:xfrm>
                <a:off x="2177" y="2000"/>
                <a:ext cx="87" cy="133"/>
              </a:xfrm>
              <a:custGeom>
                <a:avLst/>
                <a:gdLst>
                  <a:gd name="T0" fmla="*/ 0 w 87"/>
                  <a:gd name="T1" fmla="*/ 13 h 133"/>
                  <a:gd name="T2" fmla="*/ 2 w 87"/>
                  <a:gd name="T3" fmla="*/ 7 h 133"/>
                  <a:gd name="T4" fmla="*/ 2 w 87"/>
                  <a:gd name="T5" fmla="*/ 5 h 133"/>
                  <a:gd name="T6" fmla="*/ 4 w 87"/>
                  <a:gd name="T7" fmla="*/ 1 h 133"/>
                  <a:gd name="T8" fmla="*/ 5 w 87"/>
                  <a:gd name="T9" fmla="*/ 1 h 133"/>
                  <a:gd name="T10" fmla="*/ 9 w 87"/>
                  <a:gd name="T11" fmla="*/ 0 h 133"/>
                  <a:gd name="T12" fmla="*/ 11 w 87"/>
                  <a:gd name="T13" fmla="*/ 0 h 133"/>
                  <a:gd name="T14" fmla="*/ 15 w 87"/>
                  <a:gd name="T15" fmla="*/ 1 h 133"/>
                  <a:gd name="T16" fmla="*/ 19 w 87"/>
                  <a:gd name="T17" fmla="*/ 3 h 133"/>
                  <a:gd name="T18" fmla="*/ 36 w 87"/>
                  <a:gd name="T19" fmla="*/ 17 h 133"/>
                  <a:gd name="T20" fmla="*/ 53 w 87"/>
                  <a:gd name="T21" fmla="*/ 32 h 133"/>
                  <a:gd name="T22" fmla="*/ 61 w 87"/>
                  <a:gd name="T23" fmla="*/ 39 h 133"/>
                  <a:gd name="T24" fmla="*/ 68 w 87"/>
                  <a:gd name="T25" fmla="*/ 47 h 133"/>
                  <a:gd name="T26" fmla="*/ 74 w 87"/>
                  <a:gd name="T27" fmla="*/ 55 h 133"/>
                  <a:gd name="T28" fmla="*/ 80 w 87"/>
                  <a:gd name="T29" fmla="*/ 62 h 133"/>
                  <a:gd name="T30" fmla="*/ 83 w 87"/>
                  <a:gd name="T31" fmla="*/ 72 h 133"/>
                  <a:gd name="T32" fmla="*/ 85 w 87"/>
                  <a:gd name="T33" fmla="*/ 79 h 133"/>
                  <a:gd name="T34" fmla="*/ 87 w 87"/>
                  <a:gd name="T35" fmla="*/ 87 h 133"/>
                  <a:gd name="T36" fmla="*/ 87 w 87"/>
                  <a:gd name="T37" fmla="*/ 93 h 133"/>
                  <a:gd name="T38" fmla="*/ 85 w 87"/>
                  <a:gd name="T39" fmla="*/ 106 h 133"/>
                  <a:gd name="T40" fmla="*/ 81 w 87"/>
                  <a:gd name="T41" fmla="*/ 117 h 133"/>
                  <a:gd name="T42" fmla="*/ 76 w 87"/>
                  <a:gd name="T43" fmla="*/ 125 h 133"/>
                  <a:gd name="T44" fmla="*/ 68 w 87"/>
                  <a:gd name="T45" fmla="*/ 131 h 133"/>
                  <a:gd name="T46" fmla="*/ 61 w 87"/>
                  <a:gd name="T47" fmla="*/ 133 h 133"/>
                  <a:gd name="T48" fmla="*/ 47 w 87"/>
                  <a:gd name="T49" fmla="*/ 133 h 133"/>
                  <a:gd name="T50" fmla="*/ 42 w 87"/>
                  <a:gd name="T51" fmla="*/ 131 h 133"/>
                  <a:gd name="T52" fmla="*/ 36 w 87"/>
                  <a:gd name="T53" fmla="*/ 127 h 133"/>
                  <a:gd name="T54" fmla="*/ 30 w 87"/>
                  <a:gd name="T55" fmla="*/ 125 h 133"/>
                  <a:gd name="T56" fmla="*/ 24 w 87"/>
                  <a:gd name="T57" fmla="*/ 119 h 133"/>
                  <a:gd name="T58" fmla="*/ 15 w 87"/>
                  <a:gd name="T59" fmla="*/ 108 h 133"/>
                  <a:gd name="T60" fmla="*/ 7 w 87"/>
                  <a:gd name="T61" fmla="*/ 93 h 133"/>
                  <a:gd name="T62" fmla="*/ 4 w 87"/>
                  <a:gd name="T63" fmla="*/ 76 h 133"/>
                  <a:gd name="T64" fmla="*/ 0 w 87"/>
                  <a:gd name="T65" fmla="*/ 55 h 133"/>
                  <a:gd name="T66" fmla="*/ 0 w 87"/>
                  <a:gd name="T67" fmla="*/ 32 h 133"/>
                  <a:gd name="T68" fmla="*/ 0 w 87"/>
                  <a:gd name="T69" fmla="*/ 13 h 13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7"/>
                  <a:gd name="T106" fmla="*/ 0 h 133"/>
                  <a:gd name="T107" fmla="*/ 87 w 87"/>
                  <a:gd name="T108" fmla="*/ 133 h 13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7" h="133">
                    <a:moveTo>
                      <a:pt x="0" y="13"/>
                    </a:moveTo>
                    <a:lnTo>
                      <a:pt x="2" y="7"/>
                    </a:lnTo>
                    <a:lnTo>
                      <a:pt x="2" y="5"/>
                    </a:lnTo>
                    <a:lnTo>
                      <a:pt x="4" y="1"/>
                    </a:lnTo>
                    <a:lnTo>
                      <a:pt x="5" y="1"/>
                    </a:lnTo>
                    <a:lnTo>
                      <a:pt x="9" y="0"/>
                    </a:lnTo>
                    <a:lnTo>
                      <a:pt x="11" y="0"/>
                    </a:lnTo>
                    <a:lnTo>
                      <a:pt x="15" y="1"/>
                    </a:lnTo>
                    <a:lnTo>
                      <a:pt x="19" y="3"/>
                    </a:lnTo>
                    <a:lnTo>
                      <a:pt x="36" y="17"/>
                    </a:lnTo>
                    <a:lnTo>
                      <a:pt x="53" y="32"/>
                    </a:lnTo>
                    <a:lnTo>
                      <a:pt x="61" y="39"/>
                    </a:lnTo>
                    <a:lnTo>
                      <a:pt x="68" y="47"/>
                    </a:lnTo>
                    <a:lnTo>
                      <a:pt x="74" y="55"/>
                    </a:lnTo>
                    <a:lnTo>
                      <a:pt x="80" y="62"/>
                    </a:lnTo>
                    <a:lnTo>
                      <a:pt x="83" y="72"/>
                    </a:lnTo>
                    <a:lnTo>
                      <a:pt x="85" y="79"/>
                    </a:lnTo>
                    <a:lnTo>
                      <a:pt x="87" y="87"/>
                    </a:lnTo>
                    <a:lnTo>
                      <a:pt x="87" y="93"/>
                    </a:lnTo>
                    <a:lnTo>
                      <a:pt x="85" y="106"/>
                    </a:lnTo>
                    <a:lnTo>
                      <a:pt x="81" y="117"/>
                    </a:lnTo>
                    <a:lnTo>
                      <a:pt x="76" y="125"/>
                    </a:lnTo>
                    <a:lnTo>
                      <a:pt x="68" y="131"/>
                    </a:lnTo>
                    <a:lnTo>
                      <a:pt x="61" y="133"/>
                    </a:lnTo>
                    <a:lnTo>
                      <a:pt x="47" y="133"/>
                    </a:lnTo>
                    <a:lnTo>
                      <a:pt x="42" y="131"/>
                    </a:lnTo>
                    <a:lnTo>
                      <a:pt x="36" y="127"/>
                    </a:lnTo>
                    <a:lnTo>
                      <a:pt x="30" y="125"/>
                    </a:lnTo>
                    <a:lnTo>
                      <a:pt x="24" y="119"/>
                    </a:lnTo>
                    <a:lnTo>
                      <a:pt x="15" y="108"/>
                    </a:lnTo>
                    <a:lnTo>
                      <a:pt x="7" y="93"/>
                    </a:lnTo>
                    <a:lnTo>
                      <a:pt x="4" y="76"/>
                    </a:lnTo>
                    <a:lnTo>
                      <a:pt x="0" y="55"/>
                    </a:lnTo>
                    <a:lnTo>
                      <a:pt x="0" y="32"/>
                    </a:lnTo>
                    <a:lnTo>
                      <a:pt x="0" y="13"/>
                    </a:lnTo>
                    <a:close/>
                  </a:path>
                </a:pathLst>
              </a:custGeom>
              <a:solidFill>
                <a:srgbClr val="FFFF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3" name="Line 643"/>
              <p:cNvSpPr>
                <a:spLocks noChangeShapeType="1"/>
              </p:cNvSpPr>
              <p:nvPr/>
            </p:nvSpPr>
            <p:spPr bwMode="auto">
              <a:xfrm flipV="1">
                <a:off x="2177" y="2007"/>
                <a:ext cx="2" cy="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4" name="Line 644"/>
              <p:cNvSpPr>
                <a:spLocks noChangeShapeType="1"/>
              </p:cNvSpPr>
              <p:nvPr/>
            </p:nvSpPr>
            <p:spPr bwMode="auto">
              <a:xfrm flipV="1">
                <a:off x="2179" y="2005"/>
                <a:ext cx="1"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5" name="Line 645"/>
              <p:cNvSpPr>
                <a:spLocks noChangeShapeType="1"/>
              </p:cNvSpPr>
              <p:nvPr/>
            </p:nvSpPr>
            <p:spPr bwMode="auto">
              <a:xfrm flipV="1">
                <a:off x="2179" y="2001"/>
                <a:ext cx="2"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6" name="Line 646"/>
              <p:cNvSpPr>
                <a:spLocks noChangeShapeType="1"/>
              </p:cNvSpPr>
              <p:nvPr/>
            </p:nvSpPr>
            <p:spPr bwMode="auto">
              <a:xfrm>
                <a:off x="2181" y="2001"/>
                <a:ext cx="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7" name="Line 647"/>
              <p:cNvSpPr>
                <a:spLocks noChangeShapeType="1"/>
              </p:cNvSpPr>
              <p:nvPr/>
            </p:nvSpPr>
            <p:spPr bwMode="auto">
              <a:xfrm flipV="1">
                <a:off x="2182" y="2000"/>
                <a:ext cx="4"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 name="Line 648"/>
              <p:cNvSpPr>
                <a:spLocks noChangeShapeType="1"/>
              </p:cNvSpPr>
              <p:nvPr/>
            </p:nvSpPr>
            <p:spPr bwMode="auto">
              <a:xfrm>
                <a:off x="2186" y="2000"/>
                <a:ext cx="2"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 name="Line 649"/>
              <p:cNvSpPr>
                <a:spLocks noChangeShapeType="1"/>
              </p:cNvSpPr>
              <p:nvPr/>
            </p:nvSpPr>
            <p:spPr bwMode="auto">
              <a:xfrm>
                <a:off x="2188" y="2000"/>
                <a:ext cx="4"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0" name="Line 650"/>
              <p:cNvSpPr>
                <a:spLocks noChangeShapeType="1"/>
              </p:cNvSpPr>
              <p:nvPr/>
            </p:nvSpPr>
            <p:spPr bwMode="auto">
              <a:xfrm>
                <a:off x="2192" y="2001"/>
                <a:ext cx="4"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1" name="Line 651"/>
              <p:cNvSpPr>
                <a:spLocks noChangeShapeType="1"/>
              </p:cNvSpPr>
              <p:nvPr/>
            </p:nvSpPr>
            <p:spPr bwMode="auto">
              <a:xfrm>
                <a:off x="2196" y="2003"/>
                <a:ext cx="17"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2" name="Line 652"/>
              <p:cNvSpPr>
                <a:spLocks noChangeShapeType="1"/>
              </p:cNvSpPr>
              <p:nvPr/>
            </p:nvSpPr>
            <p:spPr bwMode="auto">
              <a:xfrm>
                <a:off x="2213" y="2017"/>
                <a:ext cx="17" cy="1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3" name="Line 653"/>
              <p:cNvSpPr>
                <a:spLocks noChangeShapeType="1"/>
              </p:cNvSpPr>
              <p:nvPr/>
            </p:nvSpPr>
            <p:spPr bwMode="auto">
              <a:xfrm>
                <a:off x="2230" y="2032"/>
                <a:ext cx="8" cy="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4" name="Line 654"/>
              <p:cNvSpPr>
                <a:spLocks noChangeShapeType="1"/>
              </p:cNvSpPr>
              <p:nvPr/>
            </p:nvSpPr>
            <p:spPr bwMode="auto">
              <a:xfrm>
                <a:off x="2238" y="2039"/>
                <a:ext cx="7"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5" name="Line 655"/>
              <p:cNvSpPr>
                <a:spLocks noChangeShapeType="1"/>
              </p:cNvSpPr>
              <p:nvPr/>
            </p:nvSpPr>
            <p:spPr bwMode="auto">
              <a:xfrm>
                <a:off x="2245" y="2047"/>
                <a:ext cx="6"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6" name="Line 656"/>
              <p:cNvSpPr>
                <a:spLocks noChangeShapeType="1"/>
              </p:cNvSpPr>
              <p:nvPr/>
            </p:nvSpPr>
            <p:spPr bwMode="auto">
              <a:xfrm>
                <a:off x="2251" y="2055"/>
                <a:ext cx="6" cy="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7" name="Line 657"/>
              <p:cNvSpPr>
                <a:spLocks noChangeShapeType="1"/>
              </p:cNvSpPr>
              <p:nvPr/>
            </p:nvSpPr>
            <p:spPr bwMode="auto">
              <a:xfrm>
                <a:off x="2257" y="2062"/>
                <a:ext cx="3" cy="1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 name="Line 658"/>
              <p:cNvSpPr>
                <a:spLocks noChangeShapeType="1"/>
              </p:cNvSpPr>
              <p:nvPr/>
            </p:nvSpPr>
            <p:spPr bwMode="auto">
              <a:xfrm>
                <a:off x="2260" y="2072"/>
                <a:ext cx="2" cy="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 name="Line 659"/>
              <p:cNvSpPr>
                <a:spLocks noChangeShapeType="1"/>
              </p:cNvSpPr>
              <p:nvPr/>
            </p:nvSpPr>
            <p:spPr bwMode="auto">
              <a:xfrm>
                <a:off x="2262" y="2079"/>
                <a:ext cx="2"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0" name="Line 660"/>
              <p:cNvSpPr>
                <a:spLocks noChangeShapeType="1"/>
              </p:cNvSpPr>
              <p:nvPr/>
            </p:nvSpPr>
            <p:spPr bwMode="auto">
              <a:xfrm>
                <a:off x="2264" y="2087"/>
                <a:ext cx="1" cy="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1" name="Line 661"/>
              <p:cNvSpPr>
                <a:spLocks noChangeShapeType="1"/>
              </p:cNvSpPr>
              <p:nvPr/>
            </p:nvSpPr>
            <p:spPr bwMode="auto">
              <a:xfrm flipH="1">
                <a:off x="2262" y="2093"/>
                <a:ext cx="2" cy="1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2" name="Line 662"/>
              <p:cNvSpPr>
                <a:spLocks noChangeShapeType="1"/>
              </p:cNvSpPr>
              <p:nvPr/>
            </p:nvSpPr>
            <p:spPr bwMode="auto">
              <a:xfrm flipH="1">
                <a:off x="2258" y="2106"/>
                <a:ext cx="4" cy="1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3" name="Line 663"/>
              <p:cNvSpPr>
                <a:spLocks noChangeShapeType="1"/>
              </p:cNvSpPr>
              <p:nvPr/>
            </p:nvSpPr>
            <p:spPr bwMode="auto">
              <a:xfrm flipH="1">
                <a:off x="2253" y="2117"/>
                <a:ext cx="5" cy="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4" name="Line 664"/>
              <p:cNvSpPr>
                <a:spLocks noChangeShapeType="1"/>
              </p:cNvSpPr>
              <p:nvPr/>
            </p:nvSpPr>
            <p:spPr bwMode="auto">
              <a:xfrm flipH="1">
                <a:off x="2245" y="2125"/>
                <a:ext cx="8" cy="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5" name="Line 665"/>
              <p:cNvSpPr>
                <a:spLocks noChangeShapeType="1"/>
              </p:cNvSpPr>
              <p:nvPr/>
            </p:nvSpPr>
            <p:spPr bwMode="auto">
              <a:xfrm flipH="1">
                <a:off x="2238" y="2131"/>
                <a:ext cx="7"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6" name="Line 666"/>
              <p:cNvSpPr>
                <a:spLocks noChangeShapeType="1"/>
              </p:cNvSpPr>
              <p:nvPr/>
            </p:nvSpPr>
            <p:spPr bwMode="auto">
              <a:xfrm flipH="1">
                <a:off x="2224" y="2133"/>
                <a:ext cx="14"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 name="Line 667"/>
              <p:cNvSpPr>
                <a:spLocks noChangeShapeType="1"/>
              </p:cNvSpPr>
              <p:nvPr/>
            </p:nvSpPr>
            <p:spPr bwMode="auto">
              <a:xfrm flipH="1" flipV="1">
                <a:off x="2219" y="2131"/>
                <a:ext cx="5"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 name="Line 668"/>
              <p:cNvSpPr>
                <a:spLocks noChangeShapeType="1"/>
              </p:cNvSpPr>
              <p:nvPr/>
            </p:nvSpPr>
            <p:spPr bwMode="auto">
              <a:xfrm flipH="1" flipV="1">
                <a:off x="2213" y="2127"/>
                <a:ext cx="6"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 name="Line 669"/>
              <p:cNvSpPr>
                <a:spLocks noChangeShapeType="1"/>
              </p:cNvSpPr>
              <p:nvPr/>
            </p:nvSpPr>
            <p:spPr bwMode="auto">
              <a:xfrm flipH="1" flipV="1">
                <a:off x="2207" y="2125"/>
                <a:ext cx="6"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 name="Line 670"/>
              <p:cNvSpPr>
                <a:spLocks noChangeShapeType="1"/>
              </p:cNvSpPr>
              <p:nvPr/>
            </p:nvSpPr>
            <p:spPr bwMode="auto">
              <a:xfrm flipH="1" flipV="1">
                <a:off x="2201" y="2119"/>
                <a:ext cx="6" cy="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1" name="Line 671"/>
              <p:cNvSpPr>
                <a:spLocks noChangeShapeType="1"/>
              </p:cNvSpPr>
              <p:nvPr/>
            </p:nvSpPr>
            <p:spPr bwMode="auto">
              <a:xfrm flipH="1" flipV="1">
                <a:off x="2192" y="2108"/>
                <a:ext cx="9" cy="1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2" name="Line 672"/>
              <p:cNvSpPr>
                <a:spLocks noChangeShapeType="1"/>
              </p:cNvSpPr>
              <p:nvPr/>
            </p:nvSpPr>
            <p:spPr bwMode="auto">
              <a:xfrm flipH="1" flipV="1">
                <a:off x="2184" y="2093"/>
                <a:ext cx="8" cy="1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 name="Line 673"/>
              <p:cNvSpPr>
                <a:spLocks noChangeShapeType="1"/>
              </p:cNvSpPr>
              <p:nvPr/>
            </p:nvSpPr>
            <p:spPr bwMode="auto">
              <a:xfrm flipH="1" flipV="1">
                <a:off x="2181" y="2076"/>
                <a:ext cx="3" cy="1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4" name="Line 674"/>
              <p:cNvSpPr>
                <a:spLocks noChangeShapeType="1"/>
              </p:cNvSpPr>
              <p:nvPr/>
            </p:nvSpPr>
            <p:spPr bwMode="auto">
              <a:xfrm flipH="1" flipV="1">
                <a:off x="2177" y="2055"/>
                <a:ext cx="4"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5" name="Line 675"/>
              <p:cNvSpPr>
                <a:spLocks noChangeShapeType="1"/>
              </p:cNvSpPr>
              <p:nvPr/>
            </p:nvSpPr>
            <p:spPr bwMode="auto">
              <a:xfrm flipV="1">
                <a:off x="2177" y="2032"/>
                <a:ext cx="1" cy="2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6" name="Line 676"/>
              <p:cNvSpPr>
                <a:spLocks noChangeShapeType="1"/>
              </p:cNvSpPr>
              <p:nvPr/>
            </p:nvSpPr>
            <p:spPr bwMode="auto">
              <a:xfrm flipV="1">
                <a:off x="2177" y="2013"/>
                <a:ext cx="1" cy="1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7" name="Freeform 677"/>
              <p:cNvSpPr>
                <a:spLocks/>
              </p:cNvSpPr>
              <p:nvPr/>
            </p:nvSpPr>
            <p:spPr bwMode="auto">
              <a:xfrm>
                <a:off x="2169" y="1804"/>
                <a:ext cx="175" cy="186"/>
              </a:xfrm>
              <a:custGeom>
                <a:avLst/>
                <a:gdLst>
                  <a:gd name="T0" fmla="*/ 36 w 175"/>
                  <a:gd name="T1" fmla="*/ 186 h 186"/>
                  <a:gd name="T2" fmla="*/ 25 w 175"/>
                  <a:gd name="T3" fmla="*/ 184 h 186"/>
                  <a:gd name="T4" fmla="*/ 15 w 175"/>
                  <a:gd name="T5" fmla="*/ 182 h 186"/>
                  <a:gd name="T6" fmla="*/ 10 w 175"/>
                  <a:gd name="T7" fmla="*/ 175 h 186"/>
                  <a:gd name="T8" fmla="*/ 6 w 175"/>
                  <a:gd name="T9" fmla="*/ 163 h 186"/>
                  <a:gd name="T10" fmla="*/ 2 w 175"/>
                  <a:gd name="T11" fmla="*/ 139 h 186"/>
                  <a:gd name="T12" fmla="*/ 0 w 175"/>
                  <a:gd name="T13" fmla="*/ 108 h 186"/>
                  <a:gd name="T14" fmla="*/ 0 w 175"/>
                  <a:gd name="T15" fmla="*/ 95 h 186"/>
                  <a:gd name="T16" fmla="*/ 2 w 175"/>
                  <a:gd name="T17" fmla="*/ 80 h 186"/>
                  <a:gd name="T18" fmla="*/ 6 w 175"/>
                  <a:gd name="T19" fmla="*/ 64 h 186"/>
                  <a:gd name="T20" fmla="*/ 12 w 175"/>
                  <a:gd name="T21" fmla="*/ 49 h 186"/>
                  <a:gd name="T22" fmla="*/ 19 w 175"/>
                  <a:gd name="T23" fmla="*/ 34 h 186"/>
                  <a:gd name="T24" fmla="*/ 31 w 175"/>
                  <a:gd name="T25" fmla="*/ 23 h 186"/>
                  <a:gd name="T26" fmla="*/ 42 w 175"/>
                  <a:gd name="T27" fmla="*/ 15 h 186"/>
                  <a:gd name="T28" fmla="*/ 57 w 175"/>
                  <a:gd name="T29" fmla="*/ 7 h 186"/>
                  <a:gd name="T30" fmla="*/ 74 w 175"/>
                  <a:gd name="T31" fmla="*/ 4 h 186"/>
                  <a:gd name="T32" fmla="*/ 88 w 175"/>
                  <a:gd name="T33" fmla="*/ 0 h 186"/>
                  <a:gd name="T34" fmla="*/ 101 w 175"/>
                  <a:gd name="T35" fmla="*/ 0 h 186"/>
                  <a:gd name="T36" fmla="*/ 112 w 175"/>
                  <a:gd name="T37" fmla="*/ 0 h 186"/>
                  <a:gd name="T38" fmla="*/ 122 w 175"/>
                  <a:gd name="T39" fmla="*/ 2 h 186"/>
                  <a:gd name="T40" fmla="*/ 129 w 175"/>
                  <a:gd name="T41" fmla="*/ 4 h 186"/>
                  <a:gd name="T42" fmla="*/ 137 w 175"/>
                  <a:gd name="T43" fmla="*/ 7 h 186"/>
                  <a:gd name="T44" fmla="*/ 145 w 175"/>
                  <a:gd name="T45" fmla="*/ 13 h 186"/>
                  <a:gd name="T46" fmla="*/ 150 w 175"/>
                  <a:gd name="T47" fmla="*/ 19 h 186"/>
                  <a:gd name="T48" fmla="*/ 158 w 175"/>
                  <a:gd name="T49" fmla="*/ 26 h 186"/>
                  <a:gd name="T50" fmla="*/ 162 w 175"/>
                  <a:gd name="T51" fmla="*/ 34 h 186"/>
                  <a:gd name="T52" fmla="*/ 167 w 175"/>
                  <a:gd name="T53" fmla="*/ 44 h 186"/>
                  <a:gd name="T54" fmla="*/ 171 w 175"/>
                  <a:gd name="T55" fmla="*/ 55 h 186"/>
                  <a:gd name="T56" fmla="*/ 175 w 175"/>
                  <a:gd name="T57" fmla="*/ 66 h 186"/>
                  <a:gd name="T58" fmla="*/ 175 w 175"/>
                  <a:gd name="T59" fmla="*/ 80 h 186"/>
                  <a:gd name="T60" fmla="*/ 175 w 175"/>
                  <a:gd name="T61" fmla="*/ 93 h 186"/>
                  <a:gd name="T62" fmla="*/ 171 w 175"/>
                  <a:gd name="T63" fmla="*/ 108 h 186"/>
                  <a:gd name="T64" fmla="*/ 165 w 175"/>
                  <a:gd name="T65" fmla="*/ 121 h 186"/>
                  <a:gd name="T66" fmla="*/ 158 w 175"/>
                  <a:gd name="T67" fmla="*/ 135 h 186"/>
                  <a:gd name="T68" fmla="*/ 148 w 175"/>
                  <a:gd name="T69" fmla="*/ 148 h 186"/>
                  <a:gd name="T70" fmla="*/ 135 w 175"/>
                  <a:gd name="T71" fmla="*/ 159 h 186"/>
                  <a:gd name="T72" fmla="*/ 122 w 175"/>
                  <a:gd name="T73" fmla="*/ 169 h 186"/>
                  <a:gd name="T74" fmla="*/ 108 w 175"/>
                  <a:gd name="T75" fmla="*/ 175 h 186"/>
                  <a:gd name="T76" fmla="*/ 93 w 175"/>
                  <a:gd name="T77" fmla="*/ 178 h 186"/>
                  <a:gd name="T78" fmla="*/ 65 w 175"/>
                  <a:gd name="T79" fmla="*/ 182 h 186"/>
                  <a:gd name="T80" fmla="*/ 36 w 175"/>
                  <a:gd name="T81" fmla="*/ 186 h 18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5"/>
                  <a:gd name="T124" fmla="*/ 0 h 186"/>
                  <a:gd name="T125" fmla="*/ 175 w 175"/>
                  <a:gd name="T126" fmla="*/ 186 h 18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5" h="186">
                    <a:moveTo>
                      <a:pt x="36" y="186"/>
                    </a:moveTo>
                    <a:lnTo>
                      <a:pt x="25" y="184"/>
                    </a:lnTo>
                    <a:lnTo>
                      <a:pt x="15" y="182"/>
                    </a:lnTo>
                    <a:lnTo>
                      <a:pt x="10" y="175"/>
                    </a:lnTo>
                    <a:lnTo>
                      <a:pt x="6" y="163"/>
                    </a:lnTo>
                    <a:lnTo>
                      <a:pt x="2" y="139"/>
                    </a:lnTo>
                    <a:lnTo>
                      <a:pt x="0" y="108"/>
                    </a:lnTo>
                    <a:lnTo>
                      <a:pt x="0" y="95"/>
                    </a:lnTo>
                    <a:lnTo>
                      <a:pt x="2" y="80"/>
                    </a:lnTo>
                    <a:lnTo>
                      <a:pt x="6" y="64"/>
                    </a:lnTo>
                    <a:lnTo>
                      <a:pt x="12" y="49"/>
                    </a:lnTo>
                    <a:lnTo>
                      <a:pt x="19" y="34"/>
                    </a:lnTo>
                    <a:lnTo>
                      <a:pt x="31" y="23"/>
                    </a:lnTo>
                    <a:lnTo>
                      <a:pt x="42" y="15"/>
                    </a:lnTo>
                    <a:lnTo>
                      <a:pt x="57" y="7"/>
                    </a:lnTo>
                    <a:lnTo>
                      <a:pt x="74" y="4"/>
                    </a:lnTo>
                    <a:lnTo>
                      <a:pt x="88" y="0"/>
                    </a:lnTo>
                    <a:lnTo>
                      <a:pt x="101" y="0"/>
                    </a:lnTo>
                    <a:lnTo>
                      <a:pt x="112" y="0"/>
                    </a:lnTo>
                    <a:lnTo>
                      <a:pt x="122" y="2"/>
                    </a:lnTo>
                    <a:lnTo>
                      <a:pt x="129" y="4"/>
                    </a:lnTo>
                    <a:lnTo>
                      <a:pt x="137" y="7"/>
                    </a:lnTo>
                    <a:lnTo>
                      <a:pt x="145" y="13"/>
                    </a:lnTo>
                    <a:lnTo>
                      <a:pt x="150" y="19"/>
                    </a:lnTo>
                    <a:lnTo>
                      <a:pt x="158" y="26"/>
                    </a:lnTo>
                    <a:lnTo>
                      <a:pt x="162" y="34"/>
                    </a:lnTo>
                    <a:lnTo>
                      <a:pt x="167" y="44"/>
                    </a:lnTo>
                    <a:lnTo>
                      <a:pt x="171" y="55"/>
                    </a:lnTo>
                    <a:lnTo>
                      <a:pt x="175" y="66"/>
                    </a:lnTo>
                    <a:lnTo>
                      <a:pt x="175" y="80"/>
                    </a:lnTo>
                    <a:lnTo>
                      <a:pt x="175" y="93"/>
                    </a:lnTo>
                    <a:lnTo>
                      <a:pt x="171" y="108"/>
                    </a:lnTo>
                    <a:lnTo>
                      <a:pt x="165" y="121"/>
                    </a:lnTo>
                    <a:lnTo>
                      <a:pt x="158" y="135"/>
                    </a:lnTo>
                    <a:lnTo>
                      <a:pt x="148" y="148"/>
                    </a:lnTo>
                    <a:lnTo>
                      <a:pt x="135" y="159"/>
                    </a:lnTo>
                    <a:lnTo>
                      <a:pt x="122" y="169"/>
                    </a:lnTo>
                    <a:lnTo>
                      <a:pt x="108" y="175"/>
                    </a:lnTo>
                    <a:lnTo>
                      <a:pt x="93" y="178"/>
                    </a:lnTo>
                    <a:lnTo>
                      <a:pt x="65" y="182"/>
                    </a:lnTo>
                    <a:lnTo>
                      <a:pt x="36" y="186"/>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8" name="Line 678"/>
              <p:cNvSpPr>
                <a:spLocks noChangeShapeType="1"/>
              </p:cNvSpPr>
              <p:nvPr/>
            </p:nvSpPr>
            <p:spPr bwMode="auto">
              <a:xfrm flipH="1" flipV="1">
                <a:off x="2196" y="1990"/>
                <a:ext cx="11"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 name="Line 679"/>
              <p:cNvSpPr>
                <a:spLocks noChangeShapeType="1"/>
              </p:cNvSpPr>
              <p:nvPr/>
            </p:nvSpPr>
            <p:spPr bwMode="auto">
              <a:xfrm flipH="1" flipV="1">
                <a:off x="2186" y="1988"/>
                <a:ext cx="10"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0" name="Line 680"/>
              <p:cNvSpPr>
                <a:spLocks noChangeShapeType="1"/>
              </p:cNvSpPr>
              <p:nvPr/>
            </p:nvSpPr>
            <p:spPr bwMode="auto">
              <a:xfrm flipH="1" flipV="1">
                <a:off x="2181" y="1981"/>
                <a:ext cx="5"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1" name="Line 681"/>
              <p:cNvSpPr>
                <a:spLocks noChangeShapeType="1"/>
              </p:cNvSpPr>
              <p:nvPr/>
            </p:nvSpPr>
            <p:spPr bwMode="auto">
              <a:xfrm flipH="1" flipV="1">
                <a:off x="2177" y="1969"/>
                <a:ext cx="4"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2" name="Line 682"/>
              <p:cNvSpPr>
                <a:spLocks noChangeShapeType="1"/>
              </p:cNvSpPr>
              <p:nvPr/>
            </p:nvSpPr>
            <p:spPr bwMode="auto">
              <a:xfrm flipH="1" flipV="1">
                <a:off x="2173" y="1944"/>
                <a:ext cx="4"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 name="Line 683"/>
            <p:cNvSpPr>
              <a:spLocks noChangeShapeType="1"/>
            </p:cNvSpPr>
            <p:nvPr/>
          </p:nvSpPr>
          <p:spPr bwMode="auto">
            <a:xfrm flipH="1" flipV="1">
              <a:off x="2171" y="1914"/>
              <a:ext cx="2" cy="3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684"/>
            <p:cNvSpPr>
              <a:spLocks noChangeShapeType="1"/>
            </p:cNvSpPr>
            <p:nvPr/>
          </p:nvSpPr>
          <p:spPr bwMode="auto">
            <a:xfrm flipV="1">
              <a:off x="2171" y="1901"/>
              <a:ext cx="1"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685"/>
            <p:cNvSpPr>
              <a:spLocks noChangeShapeType="1"/>
            </p:cNvSpPr>
            <p:nvPr/>
          </p:nvSpPr>
          <p:spPr bwMode="auto">
            <a:xfrm flipV="1">
              <a:off x="2171" y="1886"/>
              <a:ext cx="2"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686"/>
            <p:cNvSpPr>
              <a:spLocks noChangeShapeType="1"/>
            </p:cNvSpPr>
            <p:nvPr/>
          </p:nvSpPr>
          <p:spPr bwMode="auto">
            <a:xfrm flipV="1">
              <a:off x="2173" y="1870"/>
              <a:ext cx="4"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687"/>
            <p:cNvSpPr>
              <a:spLocks noChangeShapeType="1"/>
            </p:cNvSpPr>
            <p:nvPr/>
          </p:nvSpPr>
          <p:spPr bwMode="auto">
            <a:xfrm flipV="1">
              <a:off x="2177" y="1855"/>
              <a:ext cx="5"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688"/>
            <p:cNvSpPr>
              <a:spLocks noChangeShapeType="1"/>
            </p:cNvSpPr>
            <p:nvPr/>
          </p:nvSpPr>
          <p:spPr bwMode="auto">
            <a:xfrm flipV="1">
              <a:off x="2182" y="1840"/>
              <a:ext cx="8"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689"/>
            <p:cNvSpPr>
              <a:spLocks noChangeShapeType="1"/>
            </p:cNvSpPr>
            <p:nvPr/>
          </p:nvSpPr>
          <p:spPr bwMode="auto">
            <a:xfrm flipV="1">
              <a:off x="2190" y="1829"/>
              <a:ext cx="11"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690"/>
            <p:cNvSpPr>
              <a:spLocks noChangeShapeType="1"/>
            </p:cNvSpPr>
            <p:nvPr/>
          </p:nvSpPr>
          <p:spPr bwMode="auto">
            <a:xfrm flipV="1">
              <a:off x="2201" y="1821"/>
              <a:ext cx="1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691"/>
            <p:cNvSpPr>
              <a:spLocks noChangeShapeType="1"/>
            </p:cNvSpPr>
            <p:nvPr/>
          </p:nvSpPr>
          <p:spPr bwMode="auto">
            <a:xfrm flipV="1">
              <a:off x="2213" y="1813"/>
              <a:ext cx="15"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692"/>
            <p:cNvSpPr>
              <a:spLocks noChangeShapeType="1"/>
            </p:cNvSpPr>
            <p:nvPr/>
          </p:nvSpPr>
          <p:spPr bwMode="auto">
            <a:xfrm flipV="1">
              <a:off x="2228" y="1809"/>
              <a:ext cx="17"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Line 693"/>
            <p:cNvSpPr>
              <a:spLocks noChangeShapeType="1"/>
            </p:cNvSpPr>
            <p:nvPr/>
          </p:nvSpPr>
          <p:spPr bwMode="auto">
            <a:xfrm flipV="1">
              <a:off x="2245" y="1806"/>
              <a:ext cx="13"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694"/>
            <p:cNvSpPr>
              <a:spLocks noChangeShapeType="1"/>
            </p:cNvSpPr>
            <p:nvPr/>
          </p:nvSpPr>
          <p:spPr bwMode="auto">
            <a:xfrm>
              <a:off x="2258" y="1806"/>
              <a:ext cx="14"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695"/>
            <p:cNvSpPr>
              <a:spLocks noChangeShapeType="1"/>
            </p:cNvSpPr>
            <p:nvPr/>
          </p:nvSpPr>
          <p:spPr bwMode="auto">
            <a:xfrm>
              <a:off x="2272" y="1806"/>
              <a:ext cx="1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696"/>
            <p:cNvSpPr>
              <a:spLocks noChangeShapeType="1"/>
            </p:cNvSpPr>
            <p:nvPr/>
          </p:nvSpPr>
          <p:spPr bwMode="auto">
            <a:xfrm>
              <a:off x="2283" y="1806"/>
              <a:ext cx="10"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697"/>
            <p:cNvSpPr>
              <a:spLocks noChangeShapeType="1"/>
            </p:cNvSpPr>
            <p:nvPr/>
          </p:nvSpPr>
          <p:spPr bwMode="auto">
            <a:xfrm>
              <a:off x="2293" y="1808"/>
              <a:ext cx="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698"/>
            <p:cNvSpPr>
              <a:spLocks noChangeShapeType="1"/>
            </p:cNvSpPr>
            <p:nvPr/>
          </p:nvSpPr>
          <p:spPr bwMode="auto">
            <a:xfrm>
              <a:off x="2300" y="1809"/>
              <a:ext cx="8"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699"/>
            <p:cNvSpPr>
              <a:spLocks noChangeShapeType="1"/>
            </p:cNvSpPr>
            <p:nvPr/>
          </p:nvSpPr>
          <p:spPr bwMode="auto">
            <a:xfrm>
              <a:off x="2308" y="1813"/>
              <a:ext cx="7"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700"/>
            <p:cNvSpPr>
              <a:spLocks noChangeShapeType="1"/>
            </p:cNvSpPr>
            <p:nvPr/>
          </p:nvSpPr>
          <p:spPr bwMode="auto">
            <a:xfrm>
              <a:off x="2315" y="1819"/>
              <a:ext cx="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701"/>
            <p:cNvSpPr>
              <a:spLocks noChangeShapeType="1"/>
            </p:cNvSpPr>
            <p:nvPr/>
          </p:nvSpPr>
          <p:spPr bwMode="auto">
            <a:xfrm>
              <a:off x="2321" y="1825"/>
              <a:ext cx="8"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702"/>
            <p:cNvSpPr>
              <a:spLocks noChangeShapeType="1"/>
            </p:cNvSpPr>
            <p:nvPr/>
          </p:nvSpPr>
          <p:spPr bwMode="auto">
            <a:xfrm>
              <a:off x="2329" y="1832"/>
              <a:ext cx="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703"/>
            <p:cNvSpPr>
              <a:spLocks noChangeShapeType="1"/>
            </p:cNvSpPr>
            <p:nvPr/>
          </p:nvSpPr>
          <p:spPr bwMode="auto">
            <a:xfrm>
              <a:off x="2333" y="1840"/>
              <a:ext cx="5"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704"/>
            <p:cNvSpPr>
              <a:spLocks noChangeShapeType="1"/>
            </p:cNvSpPr>
            <p:nvPr/>
          </p:nvSpPr>
          <p:spPr bwMode="auto">
            <a:xfrm>
              <a:off x="2338" y="1849"/>
              <a:ext cx="4"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705"/>
            <p:cNvSpPr>
              <a:spLocks noChangeShapeType="1"/>
            </p:cNvSpPr>
            <p:nvPr/>
          </p:nvSpPr>
          <p:spPr bwMode="auto">
            <a:xfrm>
              <a:off x="2342" y="1861"/>
              <a:ext cx="4"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706"/>
            <p:cNvSpPr>
              <a:spLocks noChangeShapeType="1"/>
            </p:cNvSpPr>
            <p:nvPr/>
          </p:nvSpPr>
          <p:spPr bwMode="auto">
            <a:xfrm>
              <a:off x="2346" y="1872"/>
              <a:ext cx="1"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Line 707"/>
            <p:cNvSpPr>
              <a:spLocks noChangeShapeType="1"/>
            </p:cNvSpPr>
            <p:nvPr/>
          </p:nvSpPr>
          <p:spPr bwMode="auto">
            <a:xfrm>
              <a:off x="2346" y="1886"/>
              <a:ext cx="1"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Line 708"/>
            <p:cNvSpPr>
              <a:spLocks noChangeShapeType="1"/>
            </p:cNvSpPr>
            <p:nvPr/>
          </p:nvSpPr>
          <p:spPr bwMode="auto">
            <a:xfrm flipH="1">
              <a:off x="2342" y="1899"/>
              <a:ext cx="4"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709"/>
            <p:cNvSpPr>
              <a:spLocks noChangeShapeType="1"/>
            </p:cNvSpPr>
            <p:nvPr/>
          </p:nvSpPr>
          <p:spPr bwMode="auto">
            <a:xfrm flipH="1">
              <a:off x="2336" y="1914"/>
              <a:ext cx="6"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710"/>
            <p:cNvSpPr>
              <a:spLocks noChangeShapeType="1"/>
            </p:cNvSpPr>
            <p:nvPr/>
          </p:nvSpPr>
          <p:spPr bwMode="auto">
            <a:xfrm flipH="1">
              <a:off x="2329" y="1927"/>
              <a:ext cx="7"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711"/>
            <p:cNvSpPr>
              <a:spLocks noChangeShapeType="1"/>
            </p:cNvSpPr>
            <p:nvPr/>
          </p:nvSpPr>
          <p:spPr bwMode="auto">
            <a:xfrm flipH="1">
              <a:off x="2319" y="1941"/>
              <a:ext cx="10"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712"/>
            <p:cNvSpPr>
              <a:spLocks noChangeShapeType="1"/>
            </p:cNvSpPr>
            <p:nvPr/>
          </p:nvSpPr>
          <p:spPr bwMode="auto">
            <a:xfrm flipH="1">
              <a:off x="2306" y="1954"/>
              <a:ext cx="13"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713"/>
            <p:cNvSpPr>
              <a:spLocks noChangeShapeType="1"/>
            </p:cNvSpPr>
            <p:nvPr/>
          </p:nvSpPr>
          <p:spPr bwMode="auto">
            <a:xfrm flipH="1">
              <a:off x="2293" y="1965"/>
              <a:ext cx="13"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714"/>
            <p:cNvSpPr>
              <a:spLocks noChangeShapeType="1"/>
            </p:cNvSpPr>
            <p:nvPr/>
          </p:nvSpPr>
          <p:spPr bwMode="auto">
            <a:xfrm flipH="1">
              <a:off x="2279" y="1975"/>
              <a:ext cx="14"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715"/>
            <p:cNvSpPr>
              <a:spLocks noChangeShapeType="1"/>
            </p:cNvSpPr>
            <p:nvPr/>
          </p:nvSpPr>
          <p:spPr bwMode="auto">
            <a:xfrm flipH="1">
              <a:off x="2264" y="1981"/>
              <a:ext cx="15"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716"/>
            <p:cNvSpPr>
              <a:spLocks noChangeShapeType="1"/>
            </p:cNvSpPr>
            <p:nvPr/>
          </p:nvSpPr>
          <p:spPr bwMode="auto">
            <a:xfrm flipH="1">
              <a:off x="2236" y="1984"/>
              <a:ext cx="28"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 name="Line 717"/>
            <p:cNvSpPr>
              <a:spLocks noChangeShapeType="1"/>
            </p:cNvSpPr>
            <p:nvPr/>
          </p:nvSpPr>
          <p:spPr bwMode="auto">
            <a:xfrm flipH="1">
              <a:off x="2207" y="1988"/>
              <a:ext cx="29"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 name="Group 718"/>
            <p:cNvGrpSpPr>
              <a:grpSpLocks/>
            </p:cNvGrpSpPr>
            <p:nvPr/>
          </p:nvGrpSpPr>
          <p:grpSpPr bwMode="auto">
            <a:xfrm>
              <a:off x="1886" y="1722"/>
              <a:ext cx="600" cy="547"/>
              <a:chOff x="1886" y="1722"/>
              <a:chExt cx="600" cy="547"/>
            </a:xfrm>
          </p:grpSpPr>
          <p:sp>
            <p:nvSpPr>
              <p:cNvPr id="181" name="Line 719"/>
              <p:cNvSpPr>
                <a:spLocks noChangeShapeType="1"/>
              </p:cNvSpPr>
              <p:nvPr/>
            </p:nvSpPr>
            <p:spPr bwMode="auto">
              <a:xfrm>
                <a:off x="2044" y="1722"/>
                <a:ext cx="44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 name="Line 720"/>
              <p:cNvSpPr>
                <a:spLocks noChangeShapeType="1"/>
              </p:cNvSpPr>
              <p:nvPr/>
            </p:nvSpPr>
            <p:spPr bwMode="auto">
              <a:xfrm>
                <a:off x="2485" y="1722"/>
                <a:ext cx="1" cy="4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 name="Line 721"/>
              <p:cNvSpPr>
                <a:spLocks noChangeShapeType="1"/>
              </p:cNvSpPr>
              <p:nvPr/>
            </p:nvSpPr>
            <p:spPr bwMode="auto">
              <a:xfrm flipH="1">
                <a:off x="2044" y="2171"/>
                <a:ext cx="44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 name="Line 722"/>
              <p:cNvSpPr>
                <a:spLocks noChangeShapeType="1"/>
              </p:cNvSpPr>
              <p:nvPr/>
            </p:nvSpPr>
            <p:spPr bwMode="auto">
              <a:xfrm flipV="1">
                <a:off x="2044" y="1722"/>
                <a:ext cx="1" cy="4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 name="Line 723"/>
              <p:cNvSpPr>
                <a:spLocks noChangeShapeType="1"/>
              </p:cNvSpPr>
              <p:nvPr/>
            </p:nvSpPr>
            <p:spPr bwMode="auto">
              <a:xfrm>
                <a:off x="1886" y="1819"/>
                <a:ext cx="44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 name="Line 724"/>
              <p:cNvSpPr>
                <a:spLocks noChangeShapeType="1"/>
              </p:cNvSpPr>
              <p:nvPr/>
            </p:nvSpPr>
            <p:spPr bwMode="auto">
              <a:xfrm>
                <a:off x="2327" y="1819"/>
                <a:ext cx="1" cy="4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 name="Line 725"/>
              <p:cNvSpPr>
                <a:spLocks noChangeShapeType="1"/>
              </p:cNvSpPr>
              <p:nvPr/>
            </p:nvSpPr>
            <p:spPr bwMode="auto">
              <a:xfrm flipH="1">
                <a:off x="1886" y="2268"/>
                <a:ext cx="44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 name="Line 726"/>
              <p:cNvSpPr>
                <a:spLocks noChangeShapeType="1"/>
              </p:cNvSpPr>
              <p:nvPr/>
            </p:nvSpPr>
            <p:spPr bwMode="auto">
              <a:xfrm flipV="1">
                <a:off x="1886" y="1819"/>
                <a:ext cx="1" cy="4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 name="Line 727"/>
              <p:cNvSpPr>
                <a:spLocks noChangeShapeType="1"/>
              </p:cNvSpPr>
              <p:nvPr/>
            </p:nvSpPr>
            <p:spPr bwMode="auto">
              <a:xfrm flipH="1">
                <a:off x="1886" y="1722"/>
                <a:ext cx="158" cy="9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Line 728"/>
              <p:cNvSpPr>
                <a:spLocks noChangeShapeType="1"/>
              </p:cNvSpPr>
              <p:nvPr/>
            </p:nvSpPr>
            <p:spPr bwMode="auto">
              <a:xfrm flipH="1">
                <a:off x="2327" y="1722"/>
                <a:ext cx="158" cy="9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 name="Line 729"/>
              <p:cNvSpPr>
                <a:spLocks noChangeShapeType="1"/>
              </p:cNvSpPr>
              <p:nvPr/>
            </p:nvSpPr>
            <p:spPr bwMode="auto">
              <a:xfrm flipH="1">
                <a:off x="2327" y="2171"/>
                <a:ext cx="158" cy="9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730"/>
              <p:cNvSpPr>
                <a:spLocks noChangeShapeType="1"/>
              </p:cNvSpPr>
              <p:nvPr/>
            </p:nvSpPr>
            <p:spPr bwMode="auto">
              <a:xfrm flipH="1">
                <a:off x="1886" y="2171"/>
                <a:ext cx="158" cy="9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3" name="Line 731"/>
            <p:cNvSpPr>
              <a:spLocks noChangeShapeType="1"/>
            </p:cNvSpPr>
            <p:nvPr/>
          </p:nvSpPr>
          <p:spPr bwMode="auto">
            <a:xfrm flipV="1">
              <a:off x="2310" y="1819"/>
              <a:ext cx="21" cy="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Oval 732"/>
            <p:cNvSpPr>
              <a:spLocks noChangeArrowheads="1"/>
            </p:cNvSpPr>
            <p:nvPr/>
          </p:nvSpPr>
          <p:spPr bwMode="auto">
            <a:xfrm>
              <a:off x="2315" y="1803"/>
              <a:ext cx="32" cy="32"/>
            </a:xfrm>
            <a:prstGeom prst="ellipse">
              <a:avLst/>
            </a:prstGeom>
            <a:solidFill>
              <a:srgbClr val="FFFFFF"/>
            </a:solidFill>
            <a:ln w="317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5" name="Line 733"/>
            <p:cNvSpPr>
              <a:spLocks noChangeShapeType="1"/>
            </p:cNvSpPr>
            <p:nvPr/>
          </p:nvSpPr>
          <p:spPr bwMode="auto">
            <a:xfrm flipV="1">
              <a:off x="2331" y="1758"/>
              <a:ext cx="55" cy="6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 name="Freeform 734"/>
            <p:cNvSpPr>
              <a:spLocks/>
            </p:cNvSpPr>
            <p:nvPr/>
          </p:nvSpPr>
          <p:spPr bwMode="auto">
            <a:xfrm>
              <a:off x="1892" y="1992"/>
              <a:ext cx="275" cy="268"/>
            </a:xfrm>
            <a:custGeom>
              <a:avLst/>
              <a:gdLst>
                <a:gd name="T0" fmla="*/ 239 w 275"/>
                <a:gd name="T1" fmla="*/ 2 h 268"/>
                <a:gd name="T2" fmla="*/ 251 w 275"/>
                <a:gd name="T3" fmla="*/ 0 h 268"/>
                <a:gd name="T4" fmla="*/ 260 w 275"/>
                <a:gd name="T5" fmla="*/ 2 h 268"/>
                <a:gd name="T6" fmla="*/ 266 w 275"/>
                <a:gd name="T7" fmla="*/ 4 h 268"/>
                <a:gd name="T8" fmla="*/ 271 w 275"/>
                <a:gd name="T9" fmla="*/ 8 h 268"/>
                <a:gd name="T10" fmla="*/ 273 w 275"/>
                <a:gd name="T11" fmla="*/ 13 h 268"/>
                <a:gd name="T12" fmla="*/ 275 w 275"/>
                <a:gd name="T13" fmla="*/ 21 h 268"/>
                <a:gd name="T14" fmla="*/ 273 w 275"/>
                <a:gd name="T15" fmla="*/ 30 h 268"/>
                <a:gd name="T16" fmla="*/ 271 w 275"/>
                <a:gd name="T17" fmla="*/ 44 h 268"/>
                <a:gd name="T18" fmla="*/ 252 w 275"/>
                <a:gd name="T19" fmla="*/ 93 h 268"/>
                <a:gd name="T20" fmla="*/ 232 w 275"/>
                <a:gd name="T21" fmla="*/ 141 h 268"/>
                <a:gd name="T22" fmla="*/ 220 w 275"/>
                <a:gd name="T23" fmla="*/ 163 h 268"/>
                <a:gd name="T24" fmla="*/ 207 w 275"/>
                <a:gd name="T25" fmla="*/ 182 h 268"/>
                <a:gd name="T26" fmla="*/ 194 w 275"/>
                <a:gd name="T27" fmla="*/ 201 h 268"/>
                <a:gd name="T28" fmla="*/ 178 w 275"/>
                <a:gd name="T29" fmla="*/ 218 h 268"/>
                <a:gd name="T30" fmla="*/ 163 w 275"/>
                <a:gd name="T31" fmla="*/ 232 h 268"/>
                <a:gd name="T32" fmla="*/ 148 w 275"/>
                <a:gd name="T33" fmla="*/ 243 h 268"/>
                <a:gd name="T34" fmla="*/ 133 w 275"/>
                <a:gd name="T35" fmla="*/ 253 h 268"/>
                <a:gd name="T36" fmla="*/ 117 w 275"/>
                <a:gd name="T37" fmla="*/ 260 h 268"/>
                <a:gd name="T38" fmla="*/ 102 w 275"/>
                <a:gd name="T39" fmla="*/ 264 h 268"/>
                <a:gd name="T40" fmla="*/ 89 w 275"/>
                <a:gd name="T41" fmla="*/ 266 h 268"/>
                <a:gd name="T42" fmla="*/ 78 w 275"/>
                <a:gd name="T43" fmla="*/ 268 h 268"/>
                <a:gd name="T44" fmla="*/ 66 w 275"/>
                <a:gd name="T45" fmla="*/ 268 h 268"/>
                <a:gd name="T46" fmla="*/ 55 w 275"/>
                <a:gd name="T47" fmla="*/ 264 h 268"/>
                <a:gd name="T48" fmla="*/ 45 w 275"/>
                <a:gd name="T49" fmla="*/ 260 h 268"/>
                <a:gd name="T50" fmla="*/ 36 w 275"/>
                <a:gd name="T51" fmla="*/ 257 h 268"/>
                <a:gd name="T52" fmla="*/ 26 w 275"/>
                <a:gd name="T53" fmla="*/ 249 h 268"/>
                <a:gd name="T54" fmla="*/ 17 w 275"/>
                <a:gd name="T55" fmla="*/ 241 h 268"/>
                <a:gd name="T56" fmla="*/ 9 w 275"/>
                <a:gd name="T57" fmla="*/ 230 h 268"/>
                <a:gd name="T58" fmla="*/ 3 w 275"/>
                <a:gd name="T59" fmla="*/ 217 h 268"/>
                <a:gd name="T60" fmla="*/ 0 w 275"/>
                <a:gd name="T61" fmla="*/ 203 h 268"/>
                <a:gd name="T62" fmla="*/ 0 w 275"/>
                <a:gd name="T63" fmla="*/ 188 h 268"/>
                <a:gd name="T64" fmla="*/ 0 w 275"/>
                <a:gd name="T65" fmla="*/ 171 h 268"/>
                <a:gd name="T66" fmla="*/ 3 w 275"/>
                <a:gd name="T67" fmla="*/ 156 h 268"/>
                <a:gd name="T68" fmla="*/ 11 w 275"/>
                <a:gd name="T69" fmla="*/ 141 h 268"/>
                <a:gd name="T70" fmla="*/ 19 w 275"/>
                <a:gd name="T71" fmla="*/ 125 h 268"/>
                <a:gd name="T72" fmla="*/ 30 w 275"/>
                <a:gd name="T73" fmla="*/ 112 h 268"/>
                <a:gd name="T74" fmla="*/ 43 w 275"/>
                <a:gd name="T75" fmla="*/ 97 h 268"/>
                <a:gd name="T76" fmla="*/ 57 w 275"/>
                <a:gd name="T77" fmla="*/ 85 h 268"/>
                <a:gd name="T78" fmla="*/ 74 w 275"/>
                <a:gd name="T79" fmla="*/ 72 h 268"/>
                <a:gd name="T80" fmla="*/ 95 w 275"/>
                <a:gd name="T81" fmla="*/ 59 h 268"/>
                <a:gd name="T82" fmla="*/ 116 w 275"/>
                <a:gd name="T83" fmla="*/ 47 h 268"/>
                <a:gd name="T84" fmla="*/ 140 w 275"/>
                <a:gd name="T85" fmla="*/ 36 h 268"/>
                <a:gd name="T86" fmla="*/ 167 w 275"/>
                <a:gd name="T87" fmla="*/ 25 h 268"/>
                <a:gd name="T88" fmla="*/ 192 w 275"/>
                <a:gd name="T89" fmla="*/ 15 h 268"/>
                <a:gd name="T90" fmla="*/ 216 w 275"/>
                <a:gd name="T91" fmla="*/ 8 h 268"/>
                <a:gd name="T92" fmla="*/ 239 w 275"/>
                <a:gd name="T93" fmla="*/ 2 h 2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75"/>
                <a:gd name="T142" fmla="*/ 0 h 268"/>
                <a:gd name="T143" fmla="*/ 275 w 275"/>
                <a:gd name="T144" fmla="*/ 268 h 26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75" h="268">
                  <a:moveTo>
                    <a:pt x="239" y="2"/>
                  </a:moveTo>
                  <a:lnTo>
                    <a:pt x="251" y="0"/>
                  </a:lnTo>
                  <a:lnTo>
                    <a:pt x="260" y="2"/>
                  </a:lnTo>
                  <a:lnTo>
                    <a:pt x="266" y="4"/>
                  </a:lnTo>
                  <a:lnTo>
                    <a:pt x="271" y="8"/>
                  </a:lnTo>
                  <a:lnTo>
                    <a:pt x="273" y="13"/>
                  </a:lnTo>
                  <a:lnTo>
                    <a:pt x="275" y="21"/>
                  </a:lnTo>
                  <a:lnTo>
                    <a:pt x="273" y="30"/>
                  </a:lnTo>
                  <a:lnTo>
                    <a:pt x="271" y="44"/>
                  </a:lnTo>
                  <a:lnTo>
                    <a:pt x="252" y="93"/>
                  </a:lnTo>
                  <a:lnTo>
                    <a:pt x="232" y="141"/>
                  </a:lnTo>
                  <a:lnTo>
                    <a:pt x="220" y="163"/>
                  </a:lnTo>
                  <a:lnTo>
                    <a:pt x="207" y="182"/>
                  </a:lnTo>
                  <a:lnTo>
                    <a:pt x="194" y="201"/>
                  </a:lnTo>
                  <a:lnTo>
                    <a:pt x="178" y="218"/>
                  </a:lnTo>
                  <a:lnTo>
                    <a:pt x="163" y="232"/>
                  </a:lnTo>
                  <a:lnTo>
                    <a:pt x="148" y="243"/>
                  </a:lnTo>
                  <a:lnTo>
                    <a:pt x="133" y="253"/>
                  </a:lnTo>
                  <a:lnTo>
                    <a:pt x="117" y="260"/>
                  </a:lnTo>
                  <a:lnTo>
                    <a:pt x="102" y="264"/>
                  </a:lnTo>
                  <a:lnTo>
                    <a:pt x="89" y="266"/>
                  </a:lnTo>
                  <a:lnTo>
                    <a:pt x="78" y="268"/>
                  </a:lnTo>
                  <a:lnTo>
                    <a:pt x="66" y="268"/>
                  </a:lnTo>
                  <a:lnTo>
                    <a:pt x="55" y="264"/>
                  </a:lnTo>
                  <a:lnTo>
                    <a:pt x="45" y="260"/>
                  </a:lnTo>
                  <a:lnTo>
                    <a:pt x="36" y="257"/>
                  </a:lnTo>
                  <a:lnTo>
                    <a:pt x="26" y="249"/>
                  </a:lnTo>
                  <a:lnTo>
                    <a:pt x="17" y="241"/>
                  </a:lnTo>
                  <a:lnTo>
                    <a:pt x="9" y="230"/>
                  </a:lnTo>
                  <a:lnTo>
                    <a:pt x="3" y="217"/>
                  </a:lnTo>
                  <a:lnTo>
                    <a:pt x="0" y="203"/>
                  </a:lnTo>
                  <a:lnTo>
                    <a:pt x="0" y="188"/>
                  </a:lnTo>
                  <a:lnTo>
                    <a:pt x="0" y="171"/>
                  </a:lnTo>
                  <a:lnTo>
                    <a:pt x="3" y="156"/>
                  </a:lnTo>
                  <a:lnTo>
                    <a:pt x="11" y="141"/>
                  </a:lnTo>
                  <a:lnTo>
                    <a:pt x="19" y="125"/>
                  </a:lnTo>
                  <a:lnTo>
                    <a:pt x="30" y="112"/>
                  </a:lnTo>
                  <a:lnTo>
                    <a:pt x="43" y="97"/>
                  </a:lnTo>
                  <a:lnTo>
                    <a:pt x="57" y="85"/>
                  </a:lnTo>
                  <a:lnTo>
                    <a:pt x="74" y="72"/>
                  </a:lnTo>
                  <a:lnTo>
                    <a:pt x="95" y="59"/>
                  </a:lnTo>
                  <a:lnTo>
                    <a:pt x="116" y="47"/>
                  </a:lnTo>
                  <a:lnTo>
                    <a:pt x="140" y="36"/>
                  </a:lnTo>
                  <a:lnTo>
                    <a:pt x="167" y="25"/>
                  </a:lnTo>
                  <a:lnTo>
                    <a:pt x="192" y="15"/>
                  </a:lnTo>
                  <a:lnTo>
                    <a:pt x="216" y="8"/>
                  </a:lnTo>
                  <a:lnTo>
                    <a:pt x="239" y="2"/>
                  </a:lnTo>
                  <a:close/>
                </a:path>
              </a:pathLst>
            </a:custGeom>
            <a:solidFill>
              <a:srgbClr val="FF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7" name="Line 735"/>
            <p:cNvSpPr>
              <a:spLocks noChangeShapeType="1"/>
            </p:cNvSpPr>
            <p:nvPr/>
          </p:nvSpPr>
          <p:spPr bwMode="auto">
            <a:xfrm flipV="1">
              <a:off x="2133" y="1994"/>
              <a:ext cx="11"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736"/>
            <p:cNvSpPr>
              <a:spLocks noChangeShapeType="1"/>
            </p:cNvSpPr>
            <p:nvPr/>
          </p:nvSpPr>
          <p:spPr bwMode="auto">
            <a:xfrm>
              <a:off x="2144" y="1994"/>
              <a:ext cx="10"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737"/>
            <p:cNvSpPr>
              <a:spLocks noChangeShapeType="1"/>
            </p:cNvSpPr>
            <p:nvPr/>
          </p:nvSpPr>
          <p:spPr bwMode="auto">
            <a:xfrm>
              <a:off x="2154" y="1996"/>
              <a:ext cx="6"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Line 738"/>
            <p:cNvSpPr>
              <a:spLocks noChangeShapeType="1"/>
            </p:cNvSpPr>
            <p:nvPr/>
          </p:nvSpPr>
          <p:spPr bwMode="auto">
            <a:xfrm>
              <a:off x="2160" y="1998"/>
              <a:ext cx="5"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739"/>
            <p:cNvSpPr>
              <a:spLocks noChangeShapeType="1"/>
            </p:cNvSpPr>
            <p:nvPr/>
          </p:nvSpPr>
          <p:spPr bwMode="auto">
            <a:xfrm>
              <a:off x="2165" y="2001"/>
              <a:ext cx="2"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 name="Line 740"/>
            <p:cNvSpPr>
              <a:spLocks noChangeShapeType="1"/>
            </p:cNvSpPr>
            <p:nvPr/>
          </p:nvSpPr>
          <p:spPr bwMode="auto">
            <a:xfrm>
              <a:off x="2167" y="2007"/>
              <a:ext cx="2"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 name="Line 741"/>
            <p:cNvSpPr>
              <a:spLocks noChangeShapeType="1"/>
            </p:cNvSpPr>
            <p:nvPr/>
          </p:nvSpPr>
          <p:spPr bwMode="auto">
            <a:xfrm flipH="1">
              <a:off x="2167" y="2015"/>
              <a:ext cx="2" cy="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Line 742"/>
            <p:cNvSpPr>
              <a:spLocks noChangeShapeType="1"/>
            </p:cNvSpPr>
            <p:nvPr/>
          </p:nvSpPr>
          <p:spPr bwMode="auto">
            <a:xfrm flipH="1">
              <a:off x="2165" y="2024"/>
              <a:ext cx="2"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 name="Line 743"/>
            <p:cNvSpPr>
              <a:spLocks noChangeShapeType="1"/>
            </p:cNvSpPr>
            <p:nvPr/>
          </p:nvSpPr>
          <p:spPr bwMode="auto">
            <a:xfrm flipH="1">
              <a:off x="2146" y="2038"/>
              <a:ext cx="19" cy="4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 name="Line 744"/>
            <p:cNvSpPr>
              <a:spLocks noChangeShapeType="1"/>
            </p:cNvSpPr>
            <p:nvPr/>
          </p:nvSpPr>
          <p:spPr bwMode="auto">
            <a:xfrm flipH="1">
              <a:off x="2125" y="2087"/>
              <a:ext cx="21" cy="4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745"/>
            <p:cNvSpPr>
              <a:spLocks noChangeShapeType="1"/>
            </p:cNvSpPr>
            <p:nvPr/>
          </p:nvSpPr>
          <p:spPr bwMode="auto">
            <a:xfrm flipH="1">
              <a:off x="2114" y="2134"/>
              <a:ext cx="11" cy="2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746"/>
            <p:cNvSpPr>
              <a:spLocks noChangeShapeType="1"/>
            </p:cNvSpPr>
            <p:nvPr/>
          </p:nvSpPr>
          <p:spPr bwMode="auto">
            <a:xfrm flipH="1">
              <a:off x="2101" y="2157"/>
              <a:ext cx="13" cy="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747"/>
            <p:cNvSpPr>
              <a:spLocks noChangeShapeType="1"/>
            </p:cNvSpPr>
            <p:nvPr/>
          </p:nvSpPr>
          <p:spPr bwMode="auto">
            <a:xfrm flipH="1">
              <a:off x="2087" y="2176"/>
              <a:ext cx="14" cy="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748"/>
            <p:cNvSpPr>
              <a:spLocks noChangeShapeType="1"/>
            </p:cNvSpPr>
            <p:nvPr/>
          </p:nvSpPr>
          <p:spPr bwMode="auto">
            <a:xfrm flipH="1">
              <a:off x="2072" y="2195"/>
              <a:ext cx="15"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Line 749"/>
            <p:cNvSpPr>
              <a:spLocks noChangeShapeType="1"/>
            </p:cNvSpPr>
            <p:nvPr/>
          </p:nvSpPr>
          <p:spPr bwMode="auto">
            <a:xfrm flipH="1">
              <a:off x="2057" y="2212"/>
              <a:ext cx="15"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 name="Line 750"/>
            <p:cNvSpPr>
              <a:spLocks noChangeShapeType="1"/>
            </p:cNvSpPr>
            <p:nvPr/>
          </p:nvSpPr>
          <p:spPr bwMode="auto">
            <a:xfrm flipH="1">
              <a:off x="2042" y="2226"/>
              <a:ext cx="15"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 name="Line 751"/>
            <p:cNvSpPr>
              <a:spLocks noChangeShapeType="1"/>
            </p:cNvSpPr>
            <p:nvPr/>
          </p:nvSpPr>
          <p:spPr bwMode="auto">
            <a:xfrm flipH="1">
              <a:off x="2027" y="2237"/>
              <a:ext cx="15"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Line 752"/>
            <p:cNvSpPr>
              <a:spLocks noChangeShapeType="1"/>
            </p:cNvSpPr>
            <p:nvPr/>
          </p:nvSpPr>
          <p:spPr bwMode="auto">
            <a:xfrm flipH="1">
              <a:off x="2011" y="2247"/>
              <a:ext cx="16"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753"/>
            <p:cNvSpPr>
              <a:spLocks noChangeShapeType="1"/>
            </p:cNvSpPr>
            <p:nvPr/>
          </p:nvSpPr>
          <p:spPr bwMode="auto">
            <a:xfrm flipH="1">
              <a:off x="1996" y="2254"/>
              <a:ext cx="15"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754"/>
            <p:cNvSpPr>
              <a:spLocks noChangeShapeType="1"/>
            </p:cNvSpPr>
            <p:nvPr/>
          </p:nvSpPr>
          <p:spPr bwMode="auto">
            <a:xfrm flipH="1">
              <a:off x="1983" y="2258"/>
              <a:ext cx="13"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 name="Line 755"/>
            <p:cNvSpPr>
              <a:spLocks noChangeShapeType="1"/>
            </p:cNvSpPr>
            <p:nvPr/>
          </p:nvSpPr>
          <p:spPr bwMode="auto">
            <a:xfrm flipH="1">
              <a:off x="1971" y="2260"/>
              <a:ext cx="12" cy="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 name="Line 756"/>
            <p:cNvSpPr>
              <a:spLocks noChangeShapeType="1"/>
            </p:cNvSpPr>
            <p:nvPr/>
          </p:nvSpPr>
          <p:spPr bwMode="auto">
            <a:xfrm flipH="1">
              <a:off x="1960" y="2262"/>
              <a:ext cx="1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 name="Line 757"/>
            <p:cNvSpPr>
              <a:spLocks noChangeShapeType="1"/>
            </p:cNvSpPr>
            <p:nvPr/>
          </p:nvSpPr>
          <p:spPr bwMode="auto">
            <a:xfrm flipH="1" flipV="1">
              <a:off x="1949" y="2258"/>
              <a:ext cx="11"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 name="Line 758"/>
            <p:cNvSpPr>
              <a:spLocks noChangeShapeType="1"/>
            </p:cNvSpPr>
            <p:nvPr/>
          </p:nvSpPr>
          <p:spPr bwMode="auto">
            <a:xfrm flipH="1" flipV="1">
              <a:off x="1939" y="2254"/>
              <a:ext cx="10"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Line 759"/>
            <p:cNvSpPr>
              <a:spLocks noChangeShapeType="1"/>
            </p:cNvSpPr>
            <p:nvPr/>
          </p:nvSpPr>
          <p:spPr bwMode="auto">
            <a:xfrm flipH="1" flipV="1">
              <a:off x="1930" y="2250"/>
              <a:ext cx="9" cy="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 name="Line 760"/>
            <p:cNvSpPr>
              <a:spLocks noChangeShapeType="1"/>
            </p:cNvSpPr>
            <p:nvPr/>
          </p:nvSpPr>
          <p:spPr bwMode="auto">
            <a:xfrm flipH="1" flipV="1">
              <a:off x="1920" y="2243"/>
              <a:ext cx="10"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 name="Line 761"/>
            <p:cNvSpPr>
              <a:spLocks noChangeShapeType="1"/>
            </p:cNvSpPr>
            <p:nvPr/>
          </p:nvSpPr>
          <p:spPr bwMode="auto">
            <a:xfrm flipH="1" flipV="1">
              <a:off x="1911" y="2235"/>
              <a:ext cx="9"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Line 762"/>
            <p:cNvSpPr>
              <a:spLocks noChangeShapeType="1"/>
            </p:cNvSpPr>
            <p:nvPr/>
          </p:nvSpPr>
          <p:spPr bwMode="auto">
            <a:xfrm flipH="1" flipV="1">
              <a:off x="1903" y="2224"/>
              <a:ext cx="8"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 name="Line 763"/>
            <p:cNvSpPr>
              <a:spLocks noChangeShapeType="1"/>
            </p:cNvSpPr>
            <p:nvPr/>
          </p:nvSpPr>
          <p:spPr bwMode="auto">
            <a:xfrm flipH="1" flipV="1">
              <a:off x="1897" y="2210"/>
              <a:ext cx="6" cy="1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Line 764"/>
            <p:cNvSpPr>
              <a:spLocks noChangeShapeType="1"/>
            </p:cNvSpPr>
            <p:nvPr/>
          </p:nvSpPr>
          <p:spPr bwMode="auto">
            <a:xfrm flipH="1" flipV="1">
              <a:off x="1894" y="2197"/>
              <a:ext cx="3"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 name="Line 765"/>
            <p:cNvSpPr>
              <a:spLocks noChangeShapeType="1"/>
            </p:cNvSpPr>
            <p:nvPr/>
          </p:nvSpPr>
          <p:spPr bwMode="auto">
            <a:xfrm flipV="1">
              <a:off x="1894" y="2182"/>
              <a:ext cx="1"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 name="Line 766"/>
            <p:cNvSpPr>
              <a:spLocks noChangeShapeType="1"/>
            </p:cNvSpPr>
            <p:nvPr/>
          </p:nvSpPr>
          <p:spPr bwMode="auto">
            <a:xfrm flipV="1">
              <a:off x="1894" y="2165"/>
              <a:ext cx="1" cy="1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 name="Line 767"/>
            <p:cNvSpPr>
              <a:spLocks noChangeShapeType="1"/>
            </p:cNvSpPr>
            <p:nvPr/>
          </p:nvSpPr>
          <p:spPr bwMode="auto">
            <a:xfrm flipV="1">
              <a:off x="1894" y="2150"/>
              <a:ext cx="3"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 name="Line 768"/>
            <p:cNvSpPr>
              <a:spLocks noChangeShapeType="1"/>
            </p:cNvSpPr>
            <p:nvPr/>
          </p:nvSpPr>
          <p:spPr bwMode="auto">
            <a:xfrm flipV="1">
              <a:off x="1897" y="2134"/>
              <a:ext cx="8"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 name="Line 769"/>
            <p:cNvSpPr>
              <a:spLocks noChangeShapeType="1"/>
            </p:cNvSpPr>
            <p:nvPr/>
          </p:nvSpPr>
          <p:spPr bwMode="auto">
            <a:xfrm flipV="1">
              <a:off x="1905" y="2119"/>
              <a:ext cx="8"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 name="Line 770"/>
            <p:cNvSpPr>
              <a:spLocks noChangeShapeType="1"/>
            </p:cNvSpPr>
            <p:nvPr/>
          </p:nvSpPr>
          <p:spPr bwMode="auto">
            <a:xfrm flipV="1">
              <a:off x="1913" y="2106"/>
              <a:ext cx="11"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 name="Line 771"/>
            <p:cNvSpPr>
              <a:spLocks noChangeShapeType="1"/>
            </p:cNvSpPr>
            <p:nvPr/>
          </p:nvSpPr>
          <p:spPr bwMode="auto">
            <a:xfrm flipV="1">
              <a:off x="1924" y="2091"/>
              <a:ext cx="13" cy="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 name="Line 772"/>
            <p:cNvSpPr>
              <a:spLocks noChangeShapeType="1"/>
            </p:cNvSpPr>
            <p:nvPr/>
          </p:nvSpPr>
          <p:spPr bwMode="auto">
            <a:xfrm flipV="1">
              <a:off x="1937" y="2079"/>
              <a:ext cx="14"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 name="Line 773"/>
            <p:cNvSpPr>
              <a:spLocks noChangeShapeType="1"/>
            </p:cNvSpPr>
            <p:nvPr/>
          </p:nvSpPr>
          <p:spPr bwMode="auto">
            <a:xfrm flipV="1">
              <a:off x="1951" y="2066"/>
              <a:ext cx="17"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 name="Line 774"/>
            <p:cNvSpPr>
              <a:spLocks noChangeShapeType="1"/>
            </p:cNvSpPr>
            <p:nvPr/>
          </p:nvSpPr>
          <p:spPr bwMode="auto">
            <a:xfrm flipV="1">
              <a:off x="1968" y="2053"/>
              <a:ext cx="21" cy="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 name="Line 775"/>
            <p:cNvSpPr>
              <a:spLocks noChangeShapeType="1"/>
            </p:cNvSpPr>
            <p:nvPr/>
          </p:nvSpPr>
          <p:spPr bwMode="auto">
            <a:xfrm flipV="1">
              <a:off x="1989" y="2041"/>
              <a:ext cx="20" cy="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 name="Line 776"/>
            <p:cNvSpPr>
              <a:spLocks noChangeShapeType="1"/>
            </p:cNvSpPr>
            <p:nvPr/>
          </p:nvSpPr>
          <p:spPr bwMode="auto">
            <a:xfrm flipV="1">
              <a:off x="2009" y="2030"/>
              <a:ext cx="25"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 name="Line 777"/>
            <p:cNvSpPr>
              <a:spLocks noChangeShapeType="1"/>
            </p:cNvSpPr>
            <p:nvPr/>
          </p:nvSpPr>
          <p:spPr bwMode="auto">
            <a:xfrm flipV="1">
              <a:off x="2034" y="2019"/>
              <a:ext cx="27" cy="1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 name="Line 778"/>
            <p:cNvSpPr>
              <a:spLocks noChangeShapeType="1"/>
            </p:cNvSpPr>
            <p:nvPr/>
          </p:nvSpPr>
          <p:spPr bwMode="auto">
            <a:xfrm flipV="1">
              <a:off x="2061" y="2009"/>
              <a:ext cx="25" cy="1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 name="Line 779"/>
            <p:cNvSpPr>
              <a:spLocks noChangeShapeType="1"/>
            </p:cNvSpPr>
            <p:nvPr/>
          </p:nvSpPr>
          <p:spPr bwMode="auto">
            <a:xfrm flipV="1">
              <a:off x="2086" y="2001"/>
              <a:ext cx="24" cy="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 name="Line 780"/>
            <p:cNvSpPr>
              <a:spLocks noChangeShapeType="1"/>
            </p:cNvSpPr>
            <p:nvPr/>
          </p:nvSpPr>
          <p:spPr bwMode="auto">
            <a:xfrm flipV="1">
              <a:off x="2110" y="1996"/>
              <a:ext cx="23" cy="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Line 781"/>
            <p:cNvSpPr>
              <a:spLocks noChangeShapeType="1"/>
            </p:cNvSpPr>
            <p:nvPr/>
          </p:nvSpPr>
          <p:spPr bwMode="auto">
            <a:xfrm flipH="1">
              <a:off x="1886" y="2220"/>
              <a:ext cx="47" cy="4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 name="Oval 782"/>
            <p:cNvSpPr>
              <a:spLocks noChangeArrowheads="1"/>
            </p:cNvSpPr>
            <p:nvPr/>
          </p:nvSpPr>
          <p:spPr bwMode="auto">
            <a:xfrm>
              <a:off x="1872" y="2250"/>
              <a:ext cx="30" cy="30"/>
            </a:xfrm>
            <a:prstGeom prst="ellipse">
              <a:avLst/>
            </a:prstGeom>
            <a:solidFill>
              <a:srgbClr val="FFFFFF"/>
            </a:solidFill>
            <a:ln w="317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65" name="Line 783"/>
            <p:cNvSpPr>
              <a:spLocks noChangeShapeType="1"/>
            </p:cNvSpPr>
            <p:nvPr/>
          </p:nvSpPr>
          <p:spPr bwMode="auto">
            <a:xfrm flipH="1">
              <a:off x="1838" y="2266"/>
              <a:ext cx="46" cy="4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 name="Freeform 784"/>
            <p:cNvSpPr>
              <a:spLocks/>
            </p:cNvSpPr>
            <p:nvPr/>
          </p:nvSpPr>
          <p:spPr bwMode="auto">
            <a:xfrm>
              <a:off x="2061" y="1745"/>
              <a:ext cx="32" cy="44"/>
            </a:xfrm>
            <a:custGeom>
              <a:avLst/>
              <a:gdLst>
                <a:gd name="T0" fmla="*/ 17 w 32"/>
                <a:gd name="T1" fmla="*/ 0 h 44"/>
                <a:gd name="T2" fmla="*/ 32 w 32"/>
                <a:gd name="T3" fmla="*/ 44 h 44"/>
                <a:gd name="T4" fmla="*/ 0 w 32"/>
                <a:gd name="T5" fmla="*/ 44 h 44"/>
                <a:gd name="T6" fmla="*/ 17 w 32"/>
                <a:gd name="T7" fmla="*/ 0 h 44"/>
                <a:gd name="T8" fmla="*/ 0 60000 65536"/>
                <a:gd name="T9" fmla="*/ 0 60000 65536"/>
                <a:gd name="T10" fmla="*/ 0 60000 65536"/>
                <a:gd name="T11" fmla="*/ 0 60000 65536"/>
                <a:gd name="T12" fmla="*/ 0 w 32"/>
                <a:gd name="T13" fmla="*/ 0 h 44"/>
                <a:gd name="T14" fmla="*/ 32 w 32"/>
                <a:gd name="T15" fmla="*/ 44 h 44"/>
              </a:gdLst>
              <a:ahLst/>
              <a:cxnLst>
                <a:cxn ang="T8">
                  <a:pos x="T0" y="T1"/>
                </a:cxn>
                <a:cxn ang="T9">
                  <a:pos x="T2" y="T3"/>
                </a:cxn>
                <a:cxn ang="T10">
                  <a:pos x="T4" y="T5"/>
                </a:cxn>
                <a:cxn ang="T11">
                  <a:pos x="T6" y="T7"/>
                </a:cxn>
              </a:cxnLst>
              <a:rect l="T12" t="T13" r="T14" b="T15"/>
              <a:pathLst>
                <a:path w="32" h="44">
                  <a:moveTo>
                    <a:pt x="17" y="0"/>
                  </a:moveTo>
                  <a:lnTo>
                    <a:pt x="32" y="44"/>
                  </a:lnTo>
                  <a:lnTo>
                    <a:pt x="0" y="44"/>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67" name="Line 785"/>
            <p:cNvSpPr>
              <a:spLocks noChangeShapeType="1"/>
            </p:cNvSpPr>
            <p:nvPr/>
          </p:nvSpPr>
          <p:spPr bwMode="auto">
            <a:xfrm>
              <a:off x="2078" y="1789"/>
              <a:ext cx="1" cy="5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 name="Freeform 786"/>
            <p:cNvSpPr>
              <a:spLocks/>
            </p:cNvSpPr>
            <p:nvPr/>
          </p:nvSpPr>
          <p:spPr bwMode="auto">
            <a:xfrm>
              <a:off x="2241" y="1853"/>
              <a:ext cx="33" cy="44"/>
            </a:xfrm>
            <a:custGeom>
              <a:avLst/>
              <a:gdLst>
                <a:gd name="T0" fmla="*/ 16 w 33"/>
                <a:gd name="T1" fmla="*/ 0 h 44"/>
                <a:gd name="T2" fmla="*/ 33 w 33"/>
                <a:gd name="T3" fmla="*/ 44 h 44"/>
                <a:gd name="T4" fmla="*/ 0 w 33"/>
                <a:gd name="T5" fmla="*/ 44 h 44"/>
                <a:gd name="T6" fmla="*/ 16 w 33"/>
                <a:gd name="T7" fmla="*/ 0 h 44"/>
                <a:gd name="T8" fmla="*/ 0 60000 65536"/>
                <a:gd name="T9" fmla="*/ 0 60000 65536"/>
                <a:gd name="T10" fmla="*/ 0 60000 65536"/>
                <a:gd name="T11" fmla="*/ 0 60000 65536"/>
                <a:gd name="T12" fmla="*/ 0 w 33"/>
                <a:gd name="T13" fmla="*/ 0 h 44"/>
                <a:gd name="T14" fmla="*/ 33 w 33"/>
                <a:gd name="T15" fmla="*/ 44 h 44"/>
              </a:gdLst>
              <a:ahLst/>
              <a:cxnLst>
                <a:cxn ang="T8">
                  <a:pos x="T0" y="T1"/>
                </a:cxn>
                <a:cxn ang="T9">
                  <a:pos x="T2" y="T3"/>
                </a:cxn>
                <a:cxn ang="T10">
                  <a:pos x="T4" y="T5"/>
                </a:cxn>
                <a:cxn ang="T11">
                  <a:pos x="T6" y="T7"/>
                </a:cxn>
              </a:cxnLst>
              <a:rect l="T12" t="T13" r="T14" b="T15"/>
              <a:pathLst>
                <a:path w="33" h="44">
                  <a:moveTo>
                    <a:pt x="16" y="0"/>
                  </a:moveTo>
                  <a:lnTo>
                    <a:pt x="33" y="44"/>
                  </a:lnTo>
                  <a:lnTo>
                    <a:pt x="0" y="44"/>
                  </a:lnTo>
                  <a:lnTo>
                    <a:pt x="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69" name="Line 787"/>
            <p:cNvSpPr>
              <a:spLocks noChangeShapeType="1"/>
            </p:cNvSpPr>
            <p:nvPr/>
          </p:nvSpPr>
          <p:spPr bwMode="auto">
            <a:xfrm>
              <a:off x="2258" y="1897"/>
              <a:ext cx="1" cy="5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Freeform 788"/>
            <p:cNvSpPr>
              <a:spLocks/>
            </p:cNvSpPr>
            <p:nvPr/>
          </p:nvSpPr>
          <p:spPr bwMode="auto">
            <a:xfrm>
              <a:off x="2350" y="2043"/>
              <a:ext cx="32" cy="44"/>
            </a:xfrm>
            <a:custGeom>
              <a:avLst/>
              <a:gdLst>
                <a:gd name="T0" fmla="*/ 15 w 32"/>
                <a:gd name="T1" fmla="*/ 0 h 44"/>
                <a:gd name="T2" fmla="*/ 32 w 32"/>
                <a:gd name="T3" fmla="*/ 44 h 44"/>
                <a:gd name="T4" fmla="*/ 0 w 32"/>
                <a:gd name="T5" fmla="*/ 44 h 44"/>
                <a:gd name="T6" fmla="*/ 15 w 32"/>
                <a:gd name="T7" fmla="*/ 0 h 44"/>
                <a:gd name="T8" fmla="*/ 0 60000 65536"/>
                <a:gd name="T9" fmla="*/ 0 60000 65536"/>
                <a:gd name="T10" fmla="*/ 0 60000 65536"/>
                <a:gd name="T11" fmla="*/ 0 60000 65536"/>
                <a:gd name="T12" fmla="*/ 0 w 32"/>
                <a:gd name="T13" fmla="*/ 0 h 44"/>
                <a:gd name="T14" fmla="*/ 32 w 32"/>
                <a:gd name="T15" fmla="*/ 44 h 44"/>
              </a:gdLst>
              <a:ahLst/>
              <a:cxnLst>
                <a:cxn ang="T8">
                  <a:pos x="T0" y="T1"/>
                </a:cxn>
                <a:cxn ang="T9">
                  <a:pos x="T2" y="T3"/>
                </a:cxn>
                <a:cxn ang="T10">
                  <a:pos x="T4" y="T5"/>
                </a:cxn>
                <a:cxn ang="T11">
                  <a:pos x="T6" y="T7"/>
                </a:cxn>
              </a:cxnLst>
              <a:rect l="T12" t="T13" r="T14" b="T15"/>
              <a:pathLst>
                <a:path w="32" h="44">
                  <a:moveTo>
                    <a:pt x="15" y="0"/>
                  </a:moveTo>
                  <a:lnTo>
                    <a:pt x="32" y="44"/>
                  </a:lnTo>
                  <a:lnTo>
                    <a:pt x="0" y="44"/>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71" name="Line 789"/>
            <p:cNvSpPr>
              <a:spLocks noChangeShapeType="1"/>
            </p:cNvSpPr>
            <p:nvPr/>
          </p:nvSpPr>
          <p:spPr bwMode="auto">
            <a:xfrm>
              <a:off x="2367" y="2089"/>
              <a:ext cx="1" cy="5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Freeform 790"/>
            <p:cNvSpPr>
              <a:spLocks/>
            </p:cNvSpPr>
            <p:nvPr/>
          </p:nvSpPr>
          <p:spPr bwMode="auto">
            <a:xfrm>
              <a:off x="1981" y="2100"/>
              <a:ext cx="32" cy="42"/>
            </a:xfrm>
            <a:custGeom>
              <a:avLst/>
              <a:gdLst>
                <a:gd name="T0" fmla="*/ 15 w 32"/>
                <a:gd name="T1" fmla="*/ 0 h 42"/>
                <a:gd name="T2" fmla="*/ 32 w 32"/>
                <a:gd name="T3" fmla="*/ 42 h 42"/>
                <a:gd name="T4" fmla="*/ 0 w 32"/>
                <a:gd name="T5" fmla="*/ 42 h 42"/>
                <a:gd name="T6" fmla="*/ 15 w 32"/>
                <a:gd name="T7" fmla="*/ 0 h 42"/>
                <a:gd name="T8" fmla="*/ 0 60000 65536"/>
                <a:gd name="T9" fmla="*/ 0 60000 65536"/>
                <a:gd name="T10" fmla="*/ 0 60000 65536"/>
                <a:gd name="T11" fmla="*/ 0 60000 65536"/>
                <a:gd name="T12" fmla="*/ 0 w 32"/>
                <a:gd name="T13" fmla="*/ 0 h 42"/>
                <a:gd name="T14" fmla="*/ 32 w 32"/>
                <a:gd name="T15" fmla="*/ 42 h 42"/>
              </a:gdLst>
              <a:ahLst/>
              <a:cxnLst>
                <a:cxn ang="T8">
                  <a:pos x="T0" y="T1"/>
                </a:cxn>
                <a:cxn ang="T9">
                  <a:pos x="T2" y="T3"/>
                </a:cxn>
                <a:cxn ang="T10">
                  <a:pos x="T4" y="T5"/>
                </a:cxn>
                <a:cxn ang="T11">
                  <a:pos x="T6" y="T7"/>
                </a:cxn>
              </a:cxnLst>
              <a:rect l="T12" t="T13" r="T14" b="T15"/>
              <a:pathLst>
                <a:path w="32" h="42">
                  <a:moveTo>
                    <a:pt x="15" y="0"/>
                  </a:moveTo>
                  <a:lnTo>
                    <a:pt x="32" y="42"/>
                  </a:lnTo>
                  <a:lnTo>
                    <a:pt x="0" y="42"/>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73" name="Line 791"/>
            <p:cNvSpPr>
              <a:spLocks noChangeShapeType="1"/>
            </p:cNvSpPr>
            <p:nvPr/>
          </p:nvSpPr>
          <p:spPr bwMode="auto">
            <a:xfrm>
              <a:off x="1998" y="2144"/>
              <a:ext cx="1" cy="5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Freeform 792"/>
            <p:cNvSpPr>
              <a:spLocks/>
            </p:cNvSpPr>
            <p:nvPr/>
          </p:nvSpPr>
          <p:spPr bwMode="auto">
            <a:xfrm>
              <a:off x="1903" y="2134"/>
              <a:ext cx="25" cy="19"/>
            </a:xfrm>
            <a:custGeom>
              <a:avLst/>
              <a:gdLst>
                <a:gd name="T0" fmla="*/ 25 w 25"/>
                <a:gd name="T1" fmla="*/ 19 h 19"/>
                <a:gd name="T2" fmla="*/ 0 w 25"/>
                <a:gd name="T3" fmla="*/ 14 h 19"/>
                <a:gd name="T4" fmla="*/ 13 w 25"/>
                <a:gd name="T5" fmla="*/ 12 h 19"/>
                <a:gd name="T6" fmla="*/ 8 w 25"/>
                <a:gd name="T7" fmla="*/ 0 h 19"/>
                <a:gd name="T8" fmla="*/ 25 w 25"/>
                <a:gd name="T9" fmla="*/ 19 h 19"/>
                <a:gd name="T10" fmla="*/ 0 60000 65536"/>
                <a:gd name="T11" fmla="*/ 0 60000 65536"/>
                <a:gd name="T12" fmla="*/ 0 60000 65536"/>
                <a:gd name="T13" fmla="*/ 0 60000 65536"/>
                <a:gd name="T14" fmla="*/ 0 60000 65536"/>
                <a:gd name="T15" fmla="*/ 0 w 25"/>
                <a:gd name="T16" fmla="*/ 0 h 19"/>
                <a:gd name="T17" fmla="*/ 25 w 25"/>
                <a:gd name="T18" fmla="*/ 19 h 19"/>
              </a:gdLst>
              <a:ahLst/>
              <a:cxnLst>
                <a:cxn ang="T10">
                  <a:pos x="T0" y="T1"/>
                </a:cxn>
                <a:cxn ang="T11">
                  <a:pos x="T2" y="T3"/>
                </a:cxn>
                <a:cxn ang="T12">
                  <a:pos x="T4" y="T5"/>
                </a:cxn>
                <a:cxn ang="T13">
                  <a:pos x="T6" y="T7"/>
                </a:cxn>
                <a:cxn ang="T14">
                  <a:pos x="T8" y="T9"/>
                </a:cxn>
              </a:cxnLst>
              <a:rect l="T15" t="T16" r="T17" b="T18"/>
              <a:pathLst>
                <a:path w="25" h="19">
                  <a:moveTo>
                    <a:pt x="25" y="19"/>
                  </a:moveTo>
                  <a:lnTo>
                    <a:pt x="0" y="14"/>
                  </a:lnTo>
                  <a:lnTo>
                    <a:pt x="13" y="12"/>
                  </a:lnTo>
                  <a:lnTo>
                    <a:pt x="8" y="0"/>
                  </a:lnTo>
                  <a:lnTo>
                    <a:pt x="2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75" name="Line 793"/>
            <p:cNvSpPr>
              <a:spLocks noChangeShapeType="1"/>
            </p:cNvSpPr>
            <p:nvPr/>
          </p:nvSpPr>
          <p:spPr bwMode="auto">
            <a:xfrm flipH="1" flipV="1">
              <a:off x="1743" y="2047"/>
              <a:ext cx="173" cy="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 name="Rectangle 794"/>
            <p:cNvSpPr>
              <a:spLocks noChangeArrowheads="1"/>
            </p:cNvSpPr>
            <p:nvPr/>
          </p:nvSpPr>
          <p:spPr bwMode="auto">
            <a:xfrm>
              <a:off x="1546" y="1947"/>
              <a:ext cx="4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100" b="1" i="1">
                  <a:solidFill>
                    <a:srgbClr val="000000"/>
                  </a:solidFill>
                  <a:latin typeface="Symbol" panose="05050102010706020507" pitchFamily="18" charset="2"/>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177" name="Rectangle 795"/>
            <p:cNvSpPr>
              <a:spLocks noChangeArrowheads="1"/>
            </p:cNvSpPr>
            <p:nvPr/>
          </p:nvSpPr>
          <p:spPr bwMode="auto">
            <a:xfrm>
              <a:off x="1605" y="2021"/>
              <a:ext cx="30"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a:solidFill>
                    <a:srgbClr val="000000"/>
                  </a:solidFill>
                  <a:latin typeface="Times New Roman" panose="02020603050405020304" pitchFamily="18" charset="0"/>
                  <a:ea typeface="宋体" panose="02010600030101010101" pitchFamily="2" charset="-122"/>
                </a:rPr>
                <a:t>h</a:t>
              </a:r>
              <a:endParaRPr lang="en-US" altLang="zh-CN" sz="2400" b="1">
                <a:latin typeface="Times" panose="02020603050405020304" pitchFamily="18" charset="0"/>
                <a:ea typeface="宋体" panose="02010600030101010101" pitchFamily="2" charset="-122"/>
              </a:endParaRPr>
            </a:p>
          </p:txBody>
        </p:sp>
        <p:sp>
          <p:nvSpPr>
            <p:cNvPr id="178" name="Rectangle 796"/>
            <p:cNvSpPr>
              <a:spLocks noChangeArrowheads="1"/>
            </p:cNvSpPr>
            <p:nvPr/>
          </p:nvSpPr>
          <p:spPr bwMode="auto">
            <a:xfrm>
              <a:off x="1633" y="2021"/>
              <a:ext cx="26"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a:solidFill>
                    <a:srgbClr val="000000"/>
                  </a:solidFill>
                  <a:latin typeface="Times New Roman" panose="02020603050405020304" pitchFamily="18" charset="0"/>
                  <a:ea typeface="宋体" panose="02010600030101010101" pitchFamily="2" charset="-122"/>
                </a:rPr>
                <a:t>y</a:t>
              </a:r>
              <a:endParaRPr lang="en-US" altLang="zh-CN" sz="2400" b="1">
                <a:latin typeface="Times" panose="02020603050405020304" pitchFamily="18" charset="0"/>
                <a:ea typeface="宋体" panose="02010600030101010101" pitchFamily="2" charset="-122"/>
              </a:endParaRPr>
            </a:p>
          </p:txBody>
        </p:sp>
        <p:sp>
          <p:nvSpPr>
            <p:cNvPr id="179" name="Rectangle 797"/>
            <p:cNvSpPr>
              <a:spLocks noChangeArrowheads="1"/>
            </p:cNvSpPr>
            <p:nvPr/>
          </p:nvSpPr>
          <p:spPr bwMode="auto">
            <a:xfrm>
              <a:off x="1662" y="2021"/>
              <a:ext cx="29"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800" b="1">
                  <a:solidFill>
                    <a:srgbClr val="000000"/>
                  </a:solidFill>
                  <a:latin typeface="Times New Roman" panose="02020603050405020304" pitchFamily="18" charset="0"/>
                  <a:ea typeface="宋体" panose="02010600030101010101" pitchFamily="2" charset="-122"/>
                </a:rPr>
                <a:t>b</a:t>
              </a:r>
              <a:endParaRPr lang="en-US" altLang="zh-CN" sz="2400" b="1">
                <a:latin typeface="Times" panose="02020603050405020304" pitchFamily="18" charset="0"/>
                <a:ea typeface="宋体" panose="02010600030101010101" pitchFamily="2" charset="-122"/>
              </a:endParaRPr>
            </a:p>
          </p:txBody>
        </p:sp>
        <p:sp>
          <p:nvSpPr>
            <p:cNvPr id="180" name="Rectangle 798"/>
            <p:cNvSpPr>
              <a:spLocks noChangeArrowheads="1"/>
            </p:cNvSpPr>
            <p:nvPr/>
          </p:nvSpPr>
          <p:spPr bwMode="auto">
            <a:xfrm>
              <a:off x="2962" y="747"/>
              <a:ext cx="117" cy="146"/>
            </a:xfrm>
            <a:prstGeom prst="rect">
              <a:avLst/>
            </a:prstGeom>
            <a:solidFill>
              <a:srgbClr val="FFFF66"/>
            </a:solidFill>
            <a:ln w="12700">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798" name="Group 799"/>
          <p:cNvGrpSpPr>
            <a:grpSpLocks/>
          </p:cNvGrpSpPr>
          <p:nvPr/>
        </p:nvGrpSpPr>
        <p:grpSpPr bwMode="auto">
          <a:xfrm>
            <a:off x="7164388" y="3860800"/>
            <a:ext cx="1728787" cy="1403350"/>
            <a:chOff x="1824" y="748"/>
            <a:chExt cx="1936" cy="1936"/>
          </a:xfrm>
        </p:grpSpPr>
        <p:grpSp>
          <p:nvGrpSpPr>
            <p:cNvPr id="799" name="Group 800"/>
            <p:cNvGrpSpPr>
              <a:grpSpLocks/>
            </p:cNvGrpSpPr>
            <p:nvPr/>
          </p:nvGrpSpPr>
          <p:grpSpPr bwMode="auto">
            <a:xfrm>
              <a:off x="2792" y="970"/>
              <a:ext cx="484" cy="41"/>
              <a:chOff x="2792" y="970"/>
              <a:chExt cx="484" cy="41"/>
            </a:xfrm>
          </p:grpSpPr>
          <p:sp>
            <p:nvSpPr>
              <p:cNvPr id="916" name="Line 801"/>
              <p:cNvSpPr>
                <a:spLocks noChangeShapeType="1"/>
              </p:cNvSpPr>
              <p:nvPr/>
            </p:nvSpPr>
            <p:spPr bwMode="auto">
              <a:xfrm flipH="1">
                <a:off x="2792" y="97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7" name="Line 802"/>
              <p:cNvSpPr>
                <a:spLocks noChangeShapeType="1"/>
              </p:cNvSpPr>
              <p:nvPr/>
            </p:nvSpPr>
            <p:spPr bwMode="auto">
              <a:xfrm>
                <a:off x="2792" y="101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0" name="Group 803"/>
            <p:cNvGrpSpPr>
              <a:grpSpLocks/>
            </p:cNvGrpSpPr>
            <p:nvPr/>
          </p:nvGrpSpPr>
          <p:grpSpPr bwMode="auto">
            <a:xfrm>
              <a:off x="3014" y="748"/>
              <a:ext cx="41" cy="484"/>
              <a:chOff x="3014" y="748"/>
              <a:chExt cx="41" cy="484"/>
            </a:xfrm>
          </p:grpSpPr>
          <p:sp>
            <p:nvSpPr>
              <p:cNvPr id="914" name="Line 804"/>
              <p:cNvSpPr>
                <a:spLocks noChangeShapeType="1"/>
              </p:cNvSpPr>
              <p:nvPr/>
            </p:nvSpPr>
            <p:spPr bwMode="auto">
              <a:xfrm flipV="1">
                <a:off x="3054"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5" name="Line 805"/>
              <p:cNvSpPr>
                <a:spLocks noChangeShapeType="1"/>
              </p:cNvSpPr>
              <p:nvPr/>
            </p:nvSpPr>
            <p:spPr bwMode="auto">
              <a:xfrm>
                <a:off x="3014"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1" name="Group 806"/>
            <p:cNvGrpSpPr>
              <a:grpSpLocks/>
            </p:cNvGrpSpPr>
            <p:nvPr/>
          </p:nvGrpSpPr>
          <p:grpSpPr bwMode="auto">
            <a:xfrm>
              <a:off x="1824" y="970"/>
              <a:ext cx="484" cy="41"/>
              <a:chOff x="1824" y="970"/>
              <a:chExt cx="484" cy="41"/>
            </a:xfrm>
          </p:grpSpPr>
          <p:sp>
            <p:nvSpPr>
              <p:cNvPr id="912" name="Line 807"/>
              <p:cNvSpPr>
                <a:spLocks noChangeShapeType="1"/>
              </p:cNvSpPr>
              <p:nvPr/>
            </p:nvSpPr>
            <p:spPr bwMode="auto">
              <a:xfrm flipH="1">
                <a:off x="1824" y="97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3" name="Line 808"/>
              <p:cNvSpPr>
                <a:spLocks noChangeShapeType="1"/>
              </p:cNvSpPr>
              <p:nvPr/>
            </p:nvSpPr>
            <p:spPr bwMode="auto">
              <a:xfrm>
                <a:off x="1824" y="101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2" name="Group 809"/>
            <p:cNvGrpSpPr>
              <a:grpSpLocks/>
            </p:cNvGrpSpPr>
            <p:nvPr/>
          </p:nvGrpSpPr>
          <p:grpSpPr bwMode="auto">
            <a:xfrm>
              <a:off x="2046" y="748"/>
              <a:ext cx="41" cy="484"/>
              <a:chOff x="2046" y="748"/>
              <a:chExt cx="41" cy="484"/>
            </a:xfrm>
          </p:grpSpPr>
          <p:sp>
            <p:nvSpPr>
              <p:cNvPr id="910" name="Line 810"/>
              <p:cNvSpPr>
                <a:spLocks noChangeShapeType="1"/>
              </p:cNvSpPr>
              <p:nvPr/>
            </p:nvSpPr>
            <p:spPr bwMode="auto">
              <a:xfrm flipV="1">
                <a:off x="2086"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 name="Line 811"/>
              <p:cNvSpPr>
                <a:spLocks noChangeShapeType="1"/>
              </p:cNvSpPr>
              <p:nvPr/>
            </p:nvSpPr>
            <p:spPr bwMode="auto">
              <a:xfrm>
                <a:off x="2046"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3" name="Group 812"/>
            <p:cNvGrpSpPr>
              <a:grpSpLocks/>
            </p:cNvGrpSpPr>
            <p:nvPr/>
          </p:nvGrpSpPr>
          <p:grpSpPr bwMode="auto">
            <a:xfrm>
              <a:off x="2308" y="970"/>
              <a:ext cx="484" cy="41"/>
              <a:chOff x="2308" y="970"/>
              <a:chExt cx="484" cy="41"/>
            </a:xfrm>
          </p:grpSpPr>
          <p:sp>
            <p:nvSpPr>
              <p:cNvPr id="908" name="Line 813"/>
              <p:cNvSpPr>
                <a:spLocks noChangeShapeType="1"/>
              </p:cNvSpPr>
              <p:nvPr/>
            </p:nvSpPr>
            <p:spPr bwMode="auto">
              <a:xfrm flipH="1">
                <a:off x="2308" y="97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9" name="Line 814"/>
              <p:cNvSpPr>
                <a:spLocks noChangeShapeType="1"/>
              </p:cNvSpPr>
              <p:nvPr/>
            </p:nvSpPr>
            <p:spPr bwMode="auto">
              <a:xfrm>
                <a:off x="2308" y="101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4" name="Group 815"/>
            <p:cNvGrpSpPr>
              <a:grpSpLocks/>
            </p:cNvGrpSpPr>
            <p:nvPr/>
          </p:nvGrpSpPr>
          <p:grpSpPr bwMode="auto">
            <a:xfrm>
              <a:off x="2530" y="748"/>
              <a:ext cx="41" cy="484"/>
              <a:chOff x="2530" y="748"/>
              <a:chExt cx="41" cy="484"/>
            </a:xfrm>
          </p:grpSpPr>
          <p:sp>
            <p:nvSpPr>
              <p:cNvPr id="906" name="Line 816"/>
              <p:cNvSpPr>
                <a:spLocks noChangeShapeType="1"/>
              </p:cNvSpPr>
              <p:nvPr/>
            </p:nvSpPr>
            <p:spPr bwMode="auto">
              <a:xfrm flipV="1">
                <a:off x="2570"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7" name="Line 817"/>
              <p:cNvSpPr>
                <a:spLocks noChangeShapeType="1"/>
              </p:cNvSpPr>
              <p:nvPr/>
            </p:nvSpPr>
            <p:spPr bwMode="auto">
              <a:xfrm>
                <a:off x="2530"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5" name="Group 818"/>
            <p:cNvGrpSpPr>
              <a:grpSpLocks/>
            </p:cNvGrpSpPr>
            <p:nvPr/>
          </p:nvGrpSpPr>
          <p:grpSpPr bwMode="auto">
            <a:xfrm>
              <a:off x="3276" y="970"/>
              <a:ext cx="484" cy="41"/>
              <a:chOff x="3276" y="970"/>
              <a:chExt cx="484" cy="41"/>
            </a:xfrm>
          </p:grpSpPr>
          <p:sp>
            <p:nvSpPr>
              <p:cNvPr id="904" name="Line 819"/>
              <p:cNvSpPr>
                <a:spLocks noChangeShapeType="1"/>
              </p:cNvSpPr>
              <p:nvPr/>
            </p:nvSpPr>
            <p:spPr bwMode="auto">
              <a:xfrm flipH="1">
                <a:off x="3276" y="97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5" name="Line 820"/>
              <p:cNvSpPr>
                <a:spLocks noChangeShapeType="1"/>
              </p:cNvSpPr>
              <p:nvPr/>
            </p:nvSpPr>
            <p:spPr bwMode="auto">
              <a:xfrm>
                <a:off x="3276" y="1010"/>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6" name="Group 821"/>
            <p:cNvGrpSpPr>
              <a:grpSpLocks/>
            </p:cNvGrpSpPr>
            <p:nvPr/>
          </p:nvGrpSpPr>
          <p:grpSpPr bwMode="auto">
            <a:xfrm>
              <a:off x="3498" y="748"/>
              <a:ext cx="41" cy="484"/>
              <a:chOff x="3498" y="748"/>
              <a:chExt cx="41" cy="484"/>
            </a:xfrm>
          </p:grpSpPr>
          <p:sp>
            <p:nvSpPr>
              <p:cNvPr id="902" name="Line 822"/>
              <p:cNvSpPr>
                <a:spLocks noChangeShapeType="1"/>
              </p:cNvSpPr>
              <p:nvPr/>
            </p:nvSpPr>
            <p:spPr bwMode="auto">
              <a:xfrm flipV="1">
                <a:off x="3538"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3" name="Line 823"/>
              <p:cNvSpPr>
                <a:spLocks noChangeShapeType="1"/>
              </p:cNvSpPr>
              <p:nvPr/>
            </p:nvSpPr>
            <p:spPr bwMode="auto">
              <a:xfrm>
                <a:off x="3498" y="748"/>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7" name="Group 824"/>
            <p:cNvGrpSpPr>
              <a:grpSpLocks/>
            </p:cNvGrpSpPr>
            <p:nvPr/>
          </p:nvGrpSpPr>
          <p:grpSpPr bwMode="auto">
            <a:xfrm>
              <a:off x="2792" y="1454"/>
              <a:ext cx="484" cy="41"/>
              <a:chOff x="2792" y="1454"/>
              <a:chExt cx="484" cy="41"/>
            </a:xfrm>
          </p:grpSpPr>
          <p:sp>
            <p:nvSpPr>
              <p:cNvPr id="900" name="Line 825"/>
              <p:cNvSpPr>
                <a:spLocks noChangeShapeType="1"/>
              </p:cNvSpPr>
              <p:nvPr/>
            </p:nvSpPr>
            <p:spPr bwMode="auto">
              <a:xfrm flipH="1">
                <a:off x="2792" y="145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 name="Line 826"/>
              <p:cNvSpPr>
                <a:spLocks noChangeShapeType="1"/>
              </p:cNvSpPr>
              <p:nvPr/>
            </p:nvSpPr>
            <p:spPr bwMode="auto">
              <a:xfrm>
                <a:off x="2792" y="149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8" name="Group 827"/>
            <p:cNvGrpSpPr>
              <a:grpSpLocks/>
            </p:cNvGrpSpPr>
            <p:nvPr/>
          </p:nvGrpSpPr>
          <p:grpSpPr bwMode="auto">
            <a:xfrm>
              <a:off x="3014" y="1232"/>
              <a:ext cx="41" cy="484"/>
              <a:chOff x="3014" y="1232"/>
              <a:chExt cx="41" cy="484"/>
            </a:xfrm>
          </p:grpSpPr>
          <p:sp>
            <p:nvSpPr>
              <p:cNvPr id="898" name="Line 828"/>
              <p:cNvSpPr>
                <a:spLocks noChangeShapeType="1"/>
              </p:cNvSpPr>
              <p:nvPr/>
            </p:nvSpPr>
            <p:spPr bwMode="auto">
              <a:xfrm flipV="1">
                <a:off x="3054"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9" name="Line 829"/>
              <p:cNvSpPr>
                <a:spLocks noChangeShapeType="1"/>
              </p:cNvSpPr>
              <p:nvPr/>
            </p:nvSpPr>
            <p:spPr bwMode="auto">
              <a:xfrm>
                <a:off x="3014"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9" name="Group 830"/>
            <p:cNvGrpSpPr>
              <a:grpSpLocks/>
            </p:cNvGrpSpPr>
            <p:nvPr/>
          </p:nvGrpSpPr>
          <p:grpSpPr bwMode="auto">
            <a:xfrm>
              <a:off x="1824" y="1454"/>
              <a:ext cx="484" cy="41"/>
              <a:chOff x="1824" y="1454"/>
              <a:chExt cx="484" cy="41"/>
            </a:xfrm>
          </p:grpSpPr>
          <p:sp>
            <p:nvSpPr>
              <p:cNvPr id="896" name="Line 831"/>
              <p:cNvSpPr>
                <a:spLocks noChangeShapeType="1"/>
              </p:cNvSpPr>
              <p:nvPr/>
            </p:nvSpPr>
            <p:spPr bwMode="auto">
              <a:xfrm flipH="1">
                <a:off x="1824" y="145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7" name="Line 832"/>
              <p:cNvSpPr>
                <a:spLocks noChangeShapeType="1"/>
              </p:cNvSpPr>
              <p:nvPr/>
            </p:nvSpPr>
            <p:spPr bwMode="auto">
              <a:xfrm>
                <a:off x="1824" y="149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0" name="Group 833"/>
            <p:cNvGrpSpPr>
              <a:grpSpLocks/>
            </p:cNvGrpSpPr>
            <p:nvPr/>
          </p:nvGrpSpPr>
          <p:grpSpPr bwMode="auto">
            <a:xfrm>
              <a:off x="2046" y="1232"/>
              <a:ext cx="41" cy="484"/>
              <a:chOff x="2046" y="1232"/>
              <a:chExt cx="41" cy="484"/>
            </a:xfrm>
          </p:grpSpPr>
          <p:sp>
            <p:nvSpPr>
              <p:cNvPr id="894" name="Line 834"/>
              <p:cNvSpPr>
                <a:spLocks noChangeShapeType="1"/>
              </p:cNvSpPr>
              <p:nvPr/>
            </p:nvSpPr>
            <p:spPr bwMode="auto">
              <a:xfrm flipV="1">
                <a:off x="2086"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5" name="Line 835"/>
              <p:cNvSpPr>
                <a:spLocks noChangeShapeType="1"/>
              </p:cNvSpPr>
              <p:nvPr/>
            </p:nvSpPr>
            <p:spPr bwMode="auto">
              <a:xfrm>
                <a:off x="2046"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1" name="Group 836"/>
            <p:cNvGrpSpPr>
              <a:grpSpLocks/>
            </p:cNvGrpSpPr>
            <p:nvPr/>
          </p:nvGrpSpPr>
          <p:grpSpPr bwMode="auto">
            <a:xfrm>
              <a:off x="2308" y="1454"/>
              <a:ext cx="484" cy="41"/>
              <a:chOff x="2308" y="1454"/>
              <a:chExt cx="484" cy="41"/>
            </a:xfrm>
          </p:grpSpPr>
          <p:sp>
            <p:nvSpPr>
              <p:cNvPr id="892" name="Line 837"/>
              <p:cNvSpPr>
                <a:spLocks noChangeShapeType="1"/>
              </p:cNvSpPr>
              <p:nvPr/>
            </p:nvSpPr>
            <p:spPr bwMode="auto">
              <a:xfrm flipH="1">
                <a:off x="2308" y="145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 name="Line 838"/>
              <p:cNvSpPr>
                <a:spLocks noChangeShapeType="1"/>
              </p:cNvSpPr>
              <p:nvPr/>
            </p:nvSpPr>
            <p:spPr bwMode="auto">
              <a:xfrm>
                <a:off x="2308" y="149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2" name="Group 839"/>
            <p:cNvGrpSpPr>
              <a:grpSpLocks/>
            </p:cNvGrpSpPr>
            <p:nvPr/>
          </p:nvGrpSpPr>
          <p:grpSpPr bwMode="auto">
            <a:xfrm>
              <a:off x="2530" y="1232"/>
              <a:ext cx="41" cy="484"/>
              <a:chOff x="2530" y="1232"/>
              <a:chExt cx="41" cy="484"/>
            </a:xfrm>
          </p:grpSpPr>
          <p:sp>
            <p:nvSpPr>
              <p:cNvPr id="890" name="Line 840"/>
              <p:cNvSpPr>
                <a:spLocks noChangeShapeType="1"/>
              </p:cNvSpPr>
              <p:nvPr/>
            </p:nvSpPr>
            <p:spPr bwMode="auto">
              <a:xfrm flipV="1">
                <a:off x="2570"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 name="Line 841"/>
              <p:cNvSpPr>
                <a:spLocks noChangeShapeType="1"/>
              </p:cNvSpPr>
              <p:nvPr/>
            </p:nvSpPr>
            <p:spPr bwMode="auto">
              <a:xfrm>
                <a:off x="2530"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3" name="Group 842"/>
            <p:cNvGrpSpPr>
              <a:grpSpLocks/>
            </p:cNvGrpSpPr>
            <p:nvPr/>
          </p:nvGrpSpPr>
          <p:grpSpPr bwMode="auto">
            <a:xfrm>
              <a:off x="3276" y="1454"/>
              <a:ext cx="484" cy="41"/>
              <a:chOff x="3276" y="1454"/>
              <a:chExt cx="484" cy="41"/>
            </a:xfrm>
          </p:grpSpPr>
          <p:sp>
            <p:nvSpPr>
              <p:cNvPr id="888" name="Line 843"/>
              <p:cNvSpPr>
                <a:spLocks noChangeShapeType="1"/>
              </p:cNvSpPr>
              <p:nvPr/>
            </p:nvSpPr>
            <p:spPr bwMode="auto">
              <a:xfrm flipH="1">
                <a:off x="3276" y="145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9" name="Line 844"/>
              <p:cNvSpPr>
                <a:spLocks noChangeShapeType="1"/>
              </p:cNvSpPr>
              <p:nvPr/>
            </p:nvSpPr>
            <p:spPr bwMode="auto">
              <a:xfrm>
                <a:off x="3276" y="1494"/>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4" name="Group 845"/>
            <p:cNvGrpSpPr>
              <a:grpSpLocks/>
            </p:cNvGrpSpPr>
            <p:nvPr/>
          </p:nvGrpSpPr>
          <p:grpSpPr bwMode="auto">
            <a:xfrm>
              <a:off x="3498" y="1232"/>
              <a:ext cx="41" cy="484"/>
              <a:chOff x="3498" y="1232"/>
              <a:chExt cx="41" cy="484"/>
            </a:xfrm>
          </p:grpSpPr>
          <p:sp>
            <p:nvSpPr>
              <p:cNvPr id="886" name="Line 846"/>
              <p:cNvSpPr>
                <a:spLocks noChangeShapeType="1"/>
              </p:cNvSpPr>
              <p:nvPr/>
            </p:nvSpPr>
            <p:spPr bwMode="auto">
              <a:xfrm flipV="1">
                <a:off x="3538"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7" name="Line 847"/>
              <p:cNvSpPr>
                <a:spLocks noChangeShapeType="1"/>
              </p:cNvSpPr>
              <p:nvPr/>
            </p:nvSpPr>
            <p:spPr bwMode="auto">
              <a:xfrm>
                <a:off x="3498" y="1232"/>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5" name="Group 848"/>
            <p:cNvGrpSpPr>
              <a:grpSpLocks/>
            </p:cNvGrpSpPr>
            <p:nvPr/>
          </p:nvGrpSpPr>
          <p:grpSpPr bwMode="auto">
            <a:xfrm>
              <a:off x="2792" y="1938"/>
              <a:ext cx="484" cy="41"/>
              <a:chOff x="2792" y="1938"/>
              <a:chExt cx="484" cy="41"/>
            </a:xfrm>
          </p:grpSpPr>
          <p:sp>
            <p:nvSpPr>
              <p:cNvPr id="884" name="Line 849"/>
              <p:cNvSpPr>
                <a:spLocks noChangeShapeType="1"/>
              </p:cNvSpPr>
              <p:nvPr/>
            </p:nvSpPr>
            <p:spPr bwMode="auto">
              <a:xfrm flipH="1">
                <a:off x="2792" y="193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5" name="Line 850"/>
              <p:cNvSpPr>
                <a:spLocks noChangeShapeType="1"/>
              </p:cNvSpPr>
              <p:nvPr/>
            </p:nvSpPr>
            <p:spPr bwMode="auto">
              <a:xfrm>
                <a:off x="2792" y="197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6" name="Group 851"/>
            <p:cNvGrpSpPr>
              <a:grpSpLocks/>
            </p:cNvGrpSpPr>
            <p:nvPr/>
          </p:nvGrpSpPr>
          <p:grpSpPr bwMode="auto">
            <a:xfrm>
              <a:off x="3014" y="1716"/>
              <a:ext cx="41" cy="484"/>
              <a:chOff x="3014" y="1716"/>
              <a:chExt cx="41" cy="484"/>
            </a:xfrm>
          </p:grpSpPr>
          <p:sp>
            <p:nvSpPr>
              <p:cNvPr id="882" name="Line 852"/>
              <p:cNvSpPr>
                <a:spLocks noChangeShapeType="1"/>
              </p:cNvSpPr>
              <p:nvPr/>
            </p:nvSpPr>
            <p:spPr bwMode="auto">
              <a:xfrm flipV="1">
                <a:off x="3054" y="1716"/>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3" name="Line 853"/>
              <p:cNvSpPr>
                <a:spLocks noChangeShapeType="1"/>
              </p:cNvSpPr>
              <p:nvPr/>
            </p:nvSpPr>
            <p:spPr bwMode="auto">
              <a:xfrm>
                <a:off x="3014" y="1716"/>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7" name="Group 854"/>
            <p:cNvGrpSpPr>
              <a:grpSpLocks/>
            </p:cNvGrpSpPr>
            <p:nvPr/>
          </p:nvGrpSpPr>
          <p:grpSpPr bwMode="auto">
            <a:xfrm>
              <a:off x="1824" y="1938"/>
              <a:ext cx="484" cy="41"/>
              <a:chOff x="1824" y="1938"/>
              <a:chExt cx="484" cy="41"/>
            </a:xfrm>
          </p:grpSpPr>
          <p:sp>
            <p:nvSpPr>
              <p:cNvPr id="880" name="Line 855"/>
              <p:cNvSpPr>
                <a:spLocks noChangeShapeType="1"/>
              </p:cNvSpPr>
              <p:nvPr/>
            </p:nvSpPr>
            <p:spPr bwMode="auto">
              <a:xfrm flipH="1">
                <a:off x="1824" y="193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 name="Line 856"/>
              <p:cNvSpPr>
                <a:spLocks noChangeShapeType="1"/>
              </p:cNvSpPr>
              <p:nvPr/>
            </p:nvSpPr>
            <p:spPr bwMode="auto">
              <a:xfrm>
                <a:off x="1824" y="197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8" name="Group 857"/>
            <p:cNvGrpSpPr>
              <a:grpSpLocks/>
            </p:cNvGrpSpPr>
            <p:nvPr/>
          </p:nvGrpSpPr>
          <p:grpSpPr bwMode="auto">
            <a:xfrm>
              <a:off x="2046" y="1716"/>
              <a:ext cx="41" cy="484"/>
              <a:chOff x="2046" y="1716"/>
              <a:chExt cx="41" cy="484"/>
            </a:xfrm>
          </p:grpSpPr>
          <p:sp>
            <p:nvSpPr>
              <p:cNvPr id="878" name="Line 858"/>
              <p:cNvSpPr>
                <a:spLocks noChangeShapeType="1"/>
              </p:cNvSpPr>
              <p:nvPr/>
            </p:nvSpPr>
            <p:spPr bwMode="auto">
              <a:xfrm flipV="1">
                <a:off x="2086" y="1716"/>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9" name="Line 859"/>
              <p:cNvSpPr>
                <a:spLocks noChangeShapeType="1"/>
              </p:cNvSpPr>
              <p:nvPr/>
            </p:nvSpPr>
            <p:spPr bwMode="auto">
              <a:xfrm>
                <a:off x="2046" y="1716"/>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9" name="Group 860"/>
            <p:cNvGrpSpPr>
              <a:grpSpLocks/>
            </p:cNvGrpSpPr>
            <p:nvPr/>
          </p:nvGrpSpPr>
          <p:grpSpPr bwMode="auto">
            <a:xfrm>
              <a:off x="2308" y="1938"/>
              <a:ext cx="484" cy="41"/>
              <a:chOff x="2308" y="1938"/>
              <a:chExt cx="484" cy="41"/>
            </a:xfrm>
          </p:grpSpPr>
          <p:sp>
            <p:nvSpPr>
              <p:cNvPr id="876" name="Line 861"/>
              <p:cNvSpPr>
                <a:spLocks noChangeShapeType="1"/>
              </p:cNvSpPr>
              <p:nvPr/>
            </p:nvSpPr>
            <p:spPr bwMode="auto">
              <a:xfrm flipH="1">
                <a:off x="2308" y="193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7" name="Line 862"/>
              <p:cNvSpPr>
                <a:spLocks noChangeShapeType="1"/>
              </p:cNvSpPr>
              <p:nvPr/>
            </p:nvSpPr>
            <p:spPr bwMode="auto">
              <a:xfrm>
                <a:off x="2308" y="197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0" name="Group 863"/>
            <p:cNvGrpSpPr>
              <a:grpSpLocks/>
            </p:cNvGrpSpPr>
            <p:nvPr/>
          </p:nvGrpSpPr>
          <p:grpSpPr bwMode="auto">
            <a:xfrm>
              <a:off x="2530" y="1716"/>
              <a:ext cx="41" cy="484"/>
              <a:chOff x="2530" y="1716"/>
              <a:chExt cx="41" cy="484"/>
            </a:xfrm>
          </p:grpSpPr>
          <p:sp>
            <p:nvSpPr>
              <p:cNvPr id="874" name="Line 864"/>
              <p:cNvSpPr>
                <a:spLocks noChangeShapeType="1"/>
              </p:cNvSpPr>
              <p:nvPr/>
            </p:nvSpPr>
            <p:spPr bwMode="auto">
              <a:xfrm flipV="1">
                <a:off x="2570" y="1716"/>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5" name="Line 865"/>
              <p:cNvSpPr>
                <a:spLocks noChangeShapeType="1"/>
              </p:cNvSpPr>
              <p:nvPr/>
            </p:nvSpPr>
            <p:spPr bwMode="auto">
              <a:xfrm>
                <a:off x="2530" y="1716"/>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1" name="Group 866"/>
            <p:cNvGrpSpPr>
              <a:grpSpLocks/>
            </p:cNvGrpSpPr>
            <p:nvPr/>
          </p:nvGrpSpPr>
          <p:grpSpPr bwMode="auto">
            <a:xfrm>
              <a:off x="3276" y="1938"/>
              <a:ext cx="484" cy="41"/>
              <a:chOff x="3276" y="1938"/>
              <a:chExt cx="484" cy="41"/>
            </a:xfrm>
          </p:grpSpPr>
          <p:sp>
            <p:nvSpPr>
              <p:cNvPr id="872" name="Line 867"/>
              <p:cNvSpPr>
                <a:spLocks noChangeShapeType="1"/>
              </p:cNvSpPr>
              <p:nvPr/>
            </p:nvSpPr>
            <p:spPr bwMode="auto">
              <a:xfrm flipH="1">
                <a:off x="3276" y="193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3" name="Line 868"/>
              <p:cNvSpPr>
                <a:spLocks noChangeShapeType="1"/>
              </p:cNvSpPr>
              <p:nvPr/>
            </p:nvSpPr>
            <p:spPr bwMode="auto">
              <a:xfrm>
                <a:off x="3276" y="1978"/>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2" name="Group 869"/>
            <p:cNvGrpSpPr>
              <a:grpSpLocks/>
            </p:cNvGrpSpPr>
            <p:nvPr/>
          </p:nvGrpSpPr>
          <p:grpSpPr bwMode="auto">
            <a:xfrm>
              <a:off x="3498" y="1716"/>
              <a:ext cx="41" cy="488"/>
              <a:chOff x="3498" y="1716"/>
              <a:chExt cx="41" cy="488"/>
            </a:xfrm>
          </p:grpSpPr>
          <p:sp>
            <p:nvSpPr>
              <p:cNvPr id="870" name="Line 870"/>
              <p:cNvSpPr>
                <a:spLocks noChangeShapeType="1"/>
              </p:cNvSpPr>
              <p:nvPr/>
            </p:nvSpPr>
            <p:spPr bwMode="auto">
              <a:xfrm flipV="1">
                <a:off x="3538" y="1716"/>
                <a:ext cx="1" cy="488"/>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 name="Line 871"/>
              <p:cNvSpPr>
                <a:spLocks noChangeShapeType="1"/>
              </p:cNvSpPr>
              <p:nvPr/>
            </p:nvSpPr>
            <p:spPr bwMode="auto">
              <a:xfrm>
                <a:off x="3498" y="1716"/>
                <a:ext cx="1" cy="488"/>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3" name="Group 872"/>
            <p:cNvGrpSpPr>
              <a:grpSpLocks/>
            </p:cNvGrpSpPr>
            <p:nvPr/>
          </p:nvGrpSpPr>
          <p:grpSpPr bwMode="auto">
            <a:xfrm>
              <a:off x="2792" y="2422"/>
              <a:ext cx="484" cy="41"/>
              <a:chOff x="2792" y="2422"/>
              <a:chExt cx="484" cy="41"/>
            </a:xfrm>
          </p:grpSpPr>
          <p:sp>
            <p:nvSpPr>
              <p:cNvPr id="868" name="Line 873"/>
              <p:cNvSpPr>
                <a:spLocks noChangeShapeType="1"/>
              </p:cNvSpPr>
              <p:nvPr/>
            </p:nvSpPr>
            <p:spPr bwMode="auto">
              <a:xfrm flipH="1">
                <a:off x="2792" y="242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9" name="Line 874"/>
              <p:cNvSpPr>
                <a:spLocks noChangeShapeType="1"/>
              </p:cNvSpPr>
              <p:nvPr/>
            </p:nvSpPr>
            <p:spPr bwMode="auto">
              <a:xfrm>
                <a:off x="2792" y="246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4" name="Group 875"/>
            <p:cNvGrpSpPr>
              <a:grpSpLocks/>
            </p:cNvGrpSpPr>
            <p:nvPr/>
          </p:nvGrpSpPr>
          <p:grpSpPr bwMode="auto">
            <a:xfrm>
              <a:off x="3014" y="2200"/>
              <a:ext cx="41" cy="484"/>
              <a:chOff x="3014" y="2200"/>
              <a:chExt cx="41" cy="484"/>
            </a:xfrm>
          </p:grpSpPr>
          <p:sp>
            <p:nvSpPr>
              <p:cNvPr id="866" name="Line 876"/>
              <p:cNvSpPr>
                <a:spLocks noChangeShapeType="1"/>
              </p:cNvSpPr>
              <p:nvPr/>
            </p:nvSpPr>
            <p:spPr bwMode="auto">
              <a:xfrm flipV="1">
                <a:off x="3054" y="2200"/>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7" name="Line 877"/>
              <p:cNvSpPr>
                <a:spLocks noChangeShapeType="1"/>
              </p:cNvSpPr>
              <p:nvPr/>
            </p:nvSpPr>
            <p:spPr bwMode="auto">
              <a:xfrm>
                <a:off x="3014" y="2200"/>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5" name="Group 878"/>
            <p:cNvGrpSpPr>
              <a:grpSpLocks/>
            </p:cNvGrpSpPr>
            <p:nvPr/>
          </p:nvGrpSpPr>
          <p:grpSpPr bwMode="auto">
            <a:xfrm>
              <a:off x="1824" y="2422"/>
              <a:ext cx="484" cy="41"/>
              <a:chOff x="1824" y="2422"/>
              <a:chExt cx="484" cy="41"/>
            </a:xfrm>
          </p:grpSpPr>
          <p:sp>
            <p:nvSpPr>
              <p:cNvPr id="864" name="Line 879"/>
              <p:cNvSpPr>
                <a:spLocks noChangeShapeType="1"/>
              </p:cNvSpPr>
              <p:nvPr/>
            </p:nvSpPr>
            <p:spPr bwMode="auto">
              <a:xfrm flipH="1">
                <a:off x="1824" y="242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5" name="Line 880"/>
              <p:cNvSpPr>
                <a:spLocks noChangeShapeType="1"/>
              </p:cNvSpPr>
              <p:nvPr/>
            </p:nvSpPr>
            <p:spPr bwMode="auto">
              <a:xfrm>
                <a:off x="1824" y="246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6" name="Group 881"/>
            <p:cNvGrpSpPr>
              <a:grpSpLocks/>
            </p:cNvGrpSpPr>
            <p:nvPr/>
          </p:nvGrpSpPr>
          <p:grpSpPr bwMode="auto">
            <a:xfrm>
              <a:off x="2046" y="2200"/>
              <a:ext cx="41" cy="484"/>
              <a:chOff x="2046" y="2200"/>
              <a:chExt cx="41" cy="484"/>
            </a:xfrm>
          </p:grpSpPr>
          <p:sp>
            <p:nvSpPr>
              <p:cNvPr id="862" name="Line 882"/>
              <p:cNvSpPr>
                <a:spLocks noChangeShapeType="1"/>
              </p:cNvSpPr>
              <p:nvPr/>
            </p:nvSpPr>
            <p:spPr bwMode="auto">
              <a:xfrm flipV="1">
                <a:off x="2086" y="2200"/>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3" name="Line 883"/>
              <p:cNvSpPr>
                <a:spLocks noChangeShapeType="1"/>
              </p:cNvSpPr>
              <p:nvPr/>
            </p:nvSpPr>
            <p:spPr bwMode="auto">
              <a:xfrm>
                <a:off x="2046" y="2200"/>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7" name="Group 884"/>
            <p:cNvGrpSpPr>
              <a:grpSpLocks/>
            </p:cNvGrpSpPr>
            <p:nvPr/>
          </p:nvGrpSpPr>
          <p:grpSpPr bwMode="auto">
            <a:xfrm>
              <a:off x="2308" y="2422"/>
              <a:ext cx="484" cy="41"/>
              <a:chOff x="2308" y="2422"/>
              <a:chExt cx="484" cy="41"/>
            </a:xfrm>
          </p:grpSpPr>
          <p:sp>
            <p:nvSpPr>
              <p:cNvPr id="860" name="Line 885"/>
              <p:cNvSpPr>
                <a:spLocks noChangeShapeType="1"/>
              </p:cNvSpPr>
              <p:nvPr/>
            </p:nvSpPr>
            <p:spPr bwMode="auto">
              <a:xfrm flipH="1">
                <a:off x="2308" y="242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1" name="Line 886"/>
              <p:cNvSpPr>
                <a:spLocks noChangeShapeType="1"/>
              </p:cNvSpPr>
              <p:nvPr/>
            </p:nvSpPr>
            <p:spPr bwMode="auto">
              <a:xfrm>
                <a:off x="2308" y="246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8" name="Group 887"/>
            <p:cNvGrpSpPr>
              <a:grpSpLocks/>
            </p:cNvGrpSpPr>
            <p:nvPr/>
          </p:nvGrpSpPr>
          <p:grpSpPr bwMode="auto">
            <a:xfrm>
              <a:off x="2530" y="2200"/>
              <a:ext cx="41" cy="484"/>
              <a:chOff x="2530" y="2200"/>
              <a:chExt cx="41" cy="484"/>
            </a:xfrm>
          </p:grpSpPr>
          <p:sp>
            <p:nvSpPr>
              <p:cNvPr id="858" name="Line 888"/>
              <p:cNvSpPr>
                <a:spLocks noChangeShapeType="1"/>
              </p:cNvSpPr>
              <p:nvPr/>
            </p:nvSpPr>
            <p:spPr bwMode="auto">
              <a:xfrm flipV="1">
                <a:off x="2570" y="2200"/>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9" name="Line 889"/>
              <p:cNvSpPr>
                <a:spLocks noChangeShapeType="1"/>
              </p:cNvSpPr>
              <p:nvPr/>
            </p:nvSpPr>
            <p:spPr bwMode="auto">
              <a:xfrm>
                <a:off x="2530" y="2200"/>
                <a:ext cx="1" cy="4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9" name="Group 890"/>
            <p:cNvGrpSpPr>
              <a:grpSpLocks/>
            </p:cNvGrpSpPr>
            <p:nvPr/>
          </p:nvGrpSpPr>
          <p:grpSpPr bwMode="auto">
            <a:xfrm>
              <a:off x="3276" y="2422"/>
              <a:ext cx="484" cy="41"/>
              <a:chOff x="3276" y="2422"/>
              <a:chExt cx="484" cy="41"/>
            </a:xfrm>
          </p:grpSpPr>
          <p:sp>
            <p:nvSpPr>
              <p:cNvPr id="856" name="Line 891"/>
              <p:cNvSpPr>
                <a:spLocks noChangeShapeType="1"/>
              </p:cNvSpPr>
              <p:nvPr/>
            </p:nvSpPr>
            <p:spPr bwMode="auto">
              <a:xfrm flipH="1">
                <a:off x="3276" y="242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7" name="Line 892"/>
              <p:cNvSpPr>
                <a:spLocks noChangeShapeType="1"/>
              </p:cNvSpPr>
              <p:nvPr/>
            </p:nvSpPr>
            <p:spPr bwMode="auto">
              <a:xfrm>
                <a:off x="3276" y="2462"/>
                <a:ext cx="48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30" name="Group 893"/>
            <p:cNvGrpSpPr>
              <a:grpSpLocks/>
            </p:cNvGrpSpPr>
            <p:nvPr/>
          </p:nvGrpSpPr>
          <p:grpSpPr bwMode="auto">
            <a:xfrm>
              <a:off x="3498" y="2196"/>
              <a:ext cx="41" cy="488"/>
              <a:chOff x="3498" y="2196"/>
              <a:chExt cx="41" cy="488"/>
            </a:xfrm>
          </p:grpSpPr>
          <p:sp>
            <p:nvSpPr>
              <p:cNvPr id="854" name="Line 894"/>
              <p:cNvSpPr>
                <a:spLocks noChangeShapeType="1"/>
              </p:cNvSpPr>
              <p:nvPr/>
            </p:nvSpPr>
            <p:spPr bwMode="auto">
              <a:xfrm flipV="1">
                <a:off x="3538" y="2196"/>
                <a:ext cx="1" cy="488"/>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5" name="Line 895"/>
              <p:cNvSpPr>
                <a:spLocks noChangeShapeType="1"/>
              </p:cNvSpPr>
              <p:nvPr/>
            </p:nvSpPr>
            <p:spPr bwMode="auto">
              <a:xfrm>
                <a:off x="3498" y="2196"/>
                <a:ext cx="1" cy="488"/>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1" name="Rectangle 896"/>
            <p:cNvSpPr>
              <a:spLocks noChangeArrowheads="1"/>
            </p:cNvSpPr>
            <p:nvPr/>
          </p:nvSpPr>
          <p:spPr bwMode="auto">
            <a:xfrm>
              <a:off x="1878" y="784"/>
              <a:ext cx="1822" cy="16"/>
            </a:xfrm>
            <a:prstGeom prst="rect">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2" name="Rectangle 897"/>
            <p:cNvSpPr>
              <a:spLocks noChangeArrowheads="1"/>
            </p:cNvSpPr>
            <p:nvPr/>
          </p:nvSpPr>
          <p:spPr bwMode="auto">
            <a:xfrm>
              <a:off x="3692" y="792"/>
              <a:ext cx="16" cy="1832"/>
            </a:xfrm>
            <a:prstGeom prst="rect">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3" name="Freeform 898"/>
            <p:cNvSpPr>
              <a:spLocks/>
            </p:cNvSpPr>
            <p:nvPr/>
          </p:nvSpPr>
          <p:spPr bwMode="auto">
            <a:xfrm>
              <a:off x="3692" y="784"/>
              <a:ext cx="16" cy="16"/>
            </a:xfrm>
            <a:custGeom>
              <a:avLst/>
              <a:gdLst>
                <a:gd name="T0" fmla="*/ 16 w 16"/>
                <a:gd name="T1" fmla="*/ 8 h 16"/>
                <a:gd name="T2" fmla="*/ 8 w 16"/>
                <a:gd name="T3" fmla="*/ 0 h 16"/>
                <a:gd name="T4" fmla="*/ 8 w 16"/>
                <a:gd name="T5" fmla="*/ 16 h 16"/>
                <a:gd name="T6" fmla="*/ 0 w 16"/>
                <a:gd name="T7" fmla="*/ 8 h 16"/>
                <a:gd name="T8" fmla="*/ 16 w 16"/>
                <a:gd name="T9" fmla="*/ 8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16" y="8"/>
                  </a:moveTo>
                  <a:lnTo>
                    <a:pt x="8" y="0"/>
                  </a:lnTo>
                  <a:lnTo>
                    <a:pt x="8" y="16"/>
                  </a:lnTo>
                  <a:lnTo>
                    <a:pt x="0" y="8"/>
                  </a:lnTo>
                  <a:lnTo>
                    <a:pt x="16" y="8"/>
                  </a:lnTo>
                  <a:close/>
                </a:path>
              </a:pathLst>
            </a:custGeom>
            <a:solidFill>
              <a:srgbClr val="00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4" name="Rectangle 899"/>
            <p:cNvSpPr>
              <a:spLocks noChangeArrowheads="1"/>
            </p:cNvSpPr>
            <p:nvPr/>
          </p:nvSpPr>
          <p:spPr bwMode="auto">
            <a:xfrm>
              <a:off x="1878" y="2616"/>
              <a:ext cx="1822" cy="16"/>
            </a:xfrm>
            <a:prstGeom prst="rect">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5" name="Freeform 900"/>
            <p:cNvSpPr>
              <a:spLocks/>
            </p:cNvSpPr>
            <p:nvPr/>
          </p:nvSpPr>
          <p:spPr bwMode="auto">
            <a:xfrm>
              <a:off x="3692" y="2616"/>
              <a:ext cx="16" cy="16"/>
            </a:xfrm>
            <a:custGeom>
              <a:avLst/>
              <a:gdLst>
                <a:gd name="T0" fmla="*/ 8 w 16"/>
                <a:gd name="T1" fmla="*/ 16 h 16"/>
                <a:gd name="T2" fmla="*/ 16 w 16"/>
                <a:gd name="T3" fmla="*/ 8 h 16"/>
                <a:gd name="T4" fmla="*/ 0 w 16"/>
                <a:gd name="T5" fmla="*/ 8 h 16"/>
                <a:gd name="T6" fmla="*/ 8 w 16"/>
                <a:gd name="T7" fmla="*/ 0 h 16"/>
                <a:gd name="T8" fmla="*/ 8 w 16"/>
                <a:gd name="T9" fmla="*/ 16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8" y="16"/>
                  </a:moveTo>
                  <a:lnTo>
                    <a:pt x="16" y="8"/>
                  </a:lnTo>
                  <a:lnTo>
                    <a:pt x="0" y="8"/>
                  </a:lnTo>
                  <a:lnTo>
                    <a:pt x="8" y="0"/>
                  </a:lnTo>
                  <a:lnTo>
                    <a:pt x="8" y="16"/>
                  </a:lnTo>
                  <a:close/>
                </a:path>
              </a:pathLst>
            </a:custGeom>
            <a:solidFill>
              <a:srgbClr val="00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6" name="Rectangle 901"/>
            <p:cNvSpPr>
              <a:spLocks noChangeArrowheads="1"/>
            </p:cNvSpPr>
            <p:nvPr/>
          </p:nvSpPr>
          <p:spPr bwMode="auto">
            <a:xfrm>
              <a:off x="1870" y="792"/>
              <a:ext cx="16" cy="1832"/>
            </a:xfrm>
            <a:prstGeom prst="rect">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7" name="Freeform 902"/>
            <p:cNvSpPr>
              <a:spLocks/>
            </p:cNvSpPr>
            <p:nvPr/>
          </p:nvSpPr>
          <p:spPr bwMode="auto">
            <a:xfrm>
              <a:off x="1870" y="2616"/>
              <a:ext cx="16" cy="16"/>
            </a:xfrm>
            <a:custGeom>
              <a:avLst/>
              <a:gdLst>
                <a:gd name="T0" fmla="*/ 0 w 16"/>
                <a:gd name="T1" fmla="*/ 8 h 16"/>
                <a:gd name="T2" fmla="*/ 8 w 16"/>
                <a:gd name="T3" fmla="*/ 16 h 16"/>
                <a:gd name="T4" fmla="*/ 8 w 16"/>
                <a:gd name="T5" fmla="*/ 0 h 16"/>
                <a:gd name="T6" fmla="*/ 16 w 16"/>
                <a:gd name="T7" fmla="*/ 8 h 16"/>
                <a:gd name="T8" fmla="*/ 0 w 16"/>
                <a:gd name="T9" fmla="*/ 8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0" y="8"/>
                  </a:moveTo>
                  <a:lnTo>
                    <a:pt x="8" y="16"/>
                  </a:lnTo>
                  <a:lnTo>
                    <a:pt x="8" y="0"/>
                  </a:lnTo>
                  <a:lnTo>
                    <a:pt x="16" y="8"/>
                  </a:lnTo>
                  <a:lnTo>
                    <a:pt x="0" y="8"/>
                  </a:lnTo>
                  <a:close/>
                </a:path>
              </a:pathLst>
            </a:custGeom>
            <a:solidFill>
              <a:srgbClr val="00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8" name="Oval 903"/>
            <p:cNvSpPr>
              <a:spLocks noChangeArrowheads="1"/>
            </p:cNvSpPr>
            <p:nvPr/>
          </p:nvSpPr>
          <p:spPr bwMode="auto">
            <a:xfrm>
              <a:off x="2906" y="862"/>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9" name="Oval 904"/>
            <p:cNvSpPr>
              <a:spLocks noChangeArrowheads="1"/>
            </p:cNvSpPr>
            <p:nvPr/>
          </p:nvSpPr>
          <p:spPr bwMode="auto">
            <a:xfrm>
              <a:off x="1938" y="862"/>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0" name="Oval 905"/>
            <p:cNvSpPr>
              <a:spLocks noChangeArrowheads="1"/>
            </p:cNvSpPr>
            <p:nvPr/>
          </p:nvSpPr>
          <p:spPr bwMode="auto">
            <a:xfrm>
              <a:off x="2422" y="862"/>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1" name="Oval 906"/>
            <p:cNvSpPr>
              <a:spLocks noChangeArrowheads="1"/>
            </p:cNvSpPr>
            <p:nvPr/>
          </p:nvSpPr>
          <p:spPr bwMode="auto">
            <a:xfrm>
              <a:off x="3390" y="862"/>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2" name="Oval 907"/>
            <p:cNvSpPr>
              <a:spLocks noChangeArrowheads="1"/>
            </p:cNvSpPr>
            <p:nvPr/>
          </p:nvSpPr>
          <p:spPr bwMode="auto">
            <a:xfrm>
              <a:off x="2906" y="1346"/>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3" name="Oval 908"/>
            <p:cNvSpPr>
              <a:spLocks noChangeArrowheads="1"/>
            </p:cNvSpPr>
            <p:nvPr/>
          </p:nvSpPr>
          <p:spPr bwMode="auto">
            <a:xfrm>
              <a:off x="1938" y="1346"/>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4" name="Oval 909"/>
            <p:cNvSpPr>
              <a:spLocks noChangeArrowheads="1"/>
            </p:cNvSpPr>
            <p:nvPr/>
          </p:nvSpPr>
          <p:spPr bwMode="auto">
            <a:xfrm>
              <a:off x="2422" y="1346"/>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5" name="Oval 910"/>
            <p:cNvSpPr>
              <a:spLocks noChangeArrowheads="1"/>
            </p:cNvSpPr>
            <p:nvPr/>
          </p:nvSpPr>
          <p:spPr bwMode="auto">
            <a:xfrm>
              <a:off x="3390" y="1346"/>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6" name="Oval 911"/>
            <p:cNvSpPr>
              <a:spLocks noChangeArrowheads="1"/>
            </p:cNvSpPr>
            <p:nvPr/>
          </p:nvSpPr>
          <p:spPr bwMode="auto">
            <a:xfrm>
              <a:off x="2906" y="1830"/>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7" name="Oval 912"/>
            <p:cNvSpPr>
              <a:spLocks noChangeArrowheads="1"/>
            </p:cNvSpPr>
            <p:nvPr/>
          </p:nvSpPr>
          <p:spPr bwMode="auto">
            <a:xfrm>
              <a:off x="1938" y="1830"/>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8" name="Oval 913"/>
            <p:cNvSpPr>
              <a:spLocks noChangeArrowheads="1"/>
            </p:cNvSpPr>
            <p:nvPr/>
          </p:nvSpPr>
          <p:spPr bwMode="auto">
            <a:xfrm>
              <a:off x="2422" y="1830"/>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9" name="Oval 914"/>
            <p:cNvSpPr>
              <a:spLocks noChangeArrowheads="1"/>
            </p:cNvSpPr>
            <p:nvPr/>
          </p:nvSpPr>
          <p:spPr bwMode="auto">
            <a:xfrm>
              <a:off x="3390" y="1830"/>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50" name="Oval 915"/>
            <p:cNvSpPr>
              <a:spLocks noChangeArrowheads="1"/>
            </p:cNvSpPr>
            <p:nvPr/>
          </p:nvSpPr>
          <p:spPr bwMode="auto">
            <a:xfrm>
              <a:off x="2906" y="2314"/>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51" name="Oval 916"/>
            <p:cNvSpPr>
              <a:spLocks noChangeArrowheads="1"/>
            </p:cNvSpPr>
            <p:nvPr/>
          </p:nvSpPr>
          <p:spPr bwMode="auto">
            <a:xfrm>
              <a:off x="1938" y="2314"/>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52" name="Oval 917"/>
            <p:cNvSpPr>
              <a:spLocks noChangeArrowheads="1"/>
            </p:cNvSpPr>
            <p:nvPr/>
          </p:nvSpPr>
          <p:spPr bwMode="auto">
            <a:xfrm>
              <a:off x="2422" y="2314"/>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53" name="Oval 918"/>
            <p:cNvSpPr>
              <a:spLocks noChangeArrowheads="1"/>
            </p:cNvSpPr>
            <p:nvPr/>
          </p:nvSpPr>
          <p:spPr bwMode="auto">
            <a:xfrm>
              <a:off x="3390" y="2314"/>
              <a:ext cx="256" cy="256"/>
            </a:xfrm>
            <a:prstGeom prst="ellipse">
              <a:avLst/>
            </a:prstGeom>
            <a:solidFill>
              <a:srgbClr val="66CCCC"/>
            </a:solidFill>
            <a:ln w="12700">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918" name="Group 919"/>
          <p:cNvGrpSpPr>
            <a:grpSpLocks/>
          </p:cNvGrpSpPr>
          <p:nvPr/>
        </p:nvGrpSpPr>
        <p:grpSpPr bwMode="auto">
          <a:xfrm>
            <a:off x="1258888" y="0"/>
            <a:ext cx="1731962" cy="1652588"/>
            <a:chOff x="2221" y="255"/>
            <a:chExt cx="1194" cy="1157"/>
          </a:xfrm>
        </p:grpSpPr>
        <p:sp>
          <p:nvSpPr>
            <p:cNvPr id="919" name="Oval 920"/>
            <p:cNvSpPr>
              <a:spLocks noChangeArrowheads="1"/>
            </p:cNvSpPr>
            <p:nvPr/>
          </p:nvSpPr>
          <p:spPr bwMode="auto">
            <a:xfrm>
              <a:off x="2702" y="840"/>
              <a:ext cx="262" cy="192"/>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0" name="Oval 921"/>
            <p:cNvSpPr>
              <a:spLocks noChangeArrowheads="1"/>
            </p:cNvSpPr>
            <p:nvPr/>
          </p:nvSpPr>
          <p:spPr bwMode="auto">
            <a:xfrm>
              <a:off x="3084" y="840"/>
              <a:ext cx="263" cy="192"/>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1" name="Oval 922"/>
            <p:cNvSpPr>
              <a:spLocks noChangeArrowheads="1"/>
            </p:cNvSpPr>
            <p:nvPr/>
          </p:nvSpPr>
          <p:spPr bwMode="auto">
            <a:xfrm>
              <a:off x="2941" y="585"/>
              <a:ext cx="176" cy="285"/>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2" name="Oval 923"/>
            <p:cNvSpPr>
              <a:spLocks noChangeArrowheads="1"/>
            </p:cNvSpPr>
            <p:nvPr/>
          </p:nvSpPr>
          <p:spPr bwMode="auto">
            <a:xfrm>
              <a:off x="2936" y="997"/>
              <a:ext cx="179" cy="282"/>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923" name="Group 924"/>
            <p:cNvGrpSpPr>
              <a:grpSpLocks/>
            </p:cNvGrpSpPr>
            <p:nvPr/>
          </p:nvGrpSpPr>
          <p:grpSpPr bwMode="auto">
            <a:xfrm>
              <a:off x="2977" y="871"/>
              <a:ext cx="113" cy="125"/>
              <a:chOff x="2889" y="663"/>
              <a:chExt cx="98" cy="100"/>
            </a:xfrm>
          </p:grpSpPr>
          <p:sp>
            <p:nvSpPr>
              <p:cNvPr id="977" name="Oval 925"/>
              <p:cNvSpPr>
                <a:spLocks noChangeArrowheads="1"/>
              </p:cNvSpPr>
              <p:nvPr/>
            </p:nvSpPr>
            <p:spPr bwMode="auto">
              <a:xfrm>
                <a:off x="2889" y="663"/>
                <a:ext cx="98" cy="100"/>
              </a:xfrm>
              <a:prstGeom prst="ellipse">
                <a:avLst/>
              </a:prstGeom>
              <a:solidFill>
                <a:srgbClr val="0000FF"/>
              </a:solidFill>
              <a:ln w="3175">
                <a:solidFill>
                  <a:srgbClr val="0000FF"/>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978" name="Group 926"/>
              <p:cNvGrpSpPr>
                <a:grpSpLocks/>
              </p:cNvGrpSpPr>
              <p:nvPr/>
            </p:nvGrpSpPr>
            <p:grpSpPr bwMode="auto">
              <a:xfrm>
                <a:off x="2912" y="686"/>
                <a:ext cx="50" cy="52"/>
                <a:chOff x="2912" y="686"/>
                <a:chExt cx="50" cy="52"/>
              </a:xfrm>
            </p:grpSpPr>
            <p:sp>
              <p:nvSpPr>
                <p:cNvPr id="979" name="Line 927"/>
                <p:cNvSpPr>
                  <a:spLocks noChangeShapeType="1"/>
                </p:cNvSpPr>
                <p:nvPr/>
              </p:nvSpPr>
              <p:spPr bwMode="auto">
                <a:xfrm>
                  <a:off x="2912" y="712"/>
                  <a:ext cx="50" cy="1"/>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0" name="Line 928"/>
                <p:cNvSpPr>
                  <a:spLocks noChangeShapeType="1"/>
                </p:cNvSpPr>
                <p:nvPr/>
              </p:nvSpPr>
              <p:spPr bwMode="auto">
                <a:xfrm>
                  <a:off x="2938" y="686"/>
                  <a:ext cx="1" cy="52"/>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924" name="Oval 929"/>
            <p:cNvSpPr>
              <a:spLocks noChangeArrowheads="1"/>
            </p:cNvSpPr>
            <p:nvPr/>
          </p:nvSpPr>
          <p:spPr bwMode="auto">
            <a:xfrm>
              <a:off x="3011" y="701"/>
              <a:ext cx="37" cy="40"/>
            </a:xfrm>
            <a:prstGeom prst="ellipse">
              <a:avLst/>
            </a:prstGeom>
            <a:solidFill>
              <a:srgbClr val="FF0000"/>
            </a:solidFill>
            <a:ln w="3175">
              <a:solidFill>
                <a:srgbClr val="FF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5" name="Oval 930"/>
            <p:cNvSpPr>
              <a:spLocks noChangeArrowheads="1"/>
            </p:cNvSpPr>
            <p:nvPr/>
          </p:nvSpPr>
          <p:spPr bwMode="auto">
            <a:xfrm>
              <a:off x="3202" y="916"/>
              <a:ext cx="39" cy="40"/>
            </a:xfrm>
            <a:prstGeom prst="ellipse">
              <a:avLst/>
            </a:prstGeom>
            <a:solidFill>
              <a:srgbClr val="FF0000"/>
            </a:solidFill>
            <a:ln w="3175">
              <a:solidFill>
                <a:srgbClr val="FF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6" name="Oval 931"/>
            <p:cNvSpPr>
              <a:spLocks noChangeArrowheads="1"/>
            </p:cNvSpPr>
            <p:nvPr/>
          </p:nvSpPr>
          <p:spPr bwMode="auto">
            <a:xfrm>
              <a:off x="3009" y="1126"/>
              <a:ext cx="37" cy="42"/>
            </a:xfrm>
            <a:prstGeom prst="ellipse">
              <a:avLst/>
            </a:prstGeom>
            <a:solidFill>
              <a:srgbClr val="FF0000"/>
            </a:solidFill>
            <a:ln w="3175">
              <a:solidFill>
                <a:srgbClr val="FF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7" name="Oval 932"/>
            <p:cNvSpPr>
              <a:spLocks noChangeArrowheads="1"/>
            </p:cNvSpPr>
            <p:nvPr/>
          </p:nvSpPr>
          <p:spPr bwMode="auto">
            <a:xfrm>
              <a:off x="2803" y="911"/>
              <a:ext cx="39" cy="42"/>
            </a:xfrm>
            <a:prstGeom prst="ellipse">
              <a:avLst/>
            </a:prstGeom>
            <a:solidFill>
              <a:srgbClr val="FF0000"/>
            </a:solidFill>
            <a:ln w="3175">
              <a:solidFill>
                <a:srgbClr val="FF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8" name="Rectangle 933"/>
            <p:cNvSpPr>
              <a:spLocks noChangeArrowheads="1"/>
            </p:cNvSpPr>
            <p:nvPr/>
          </p:nvSpPr>
          <p:spPr bwMode="auto">
            <a:xfrm>
              <a:off x="2648" y="255"/>
              <a:ext cx="9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i="1">
                  <a:latin typeface="Symbol" panose="05050102010706020507" pitchFamily="18" charset="2"/>
                  <a:ea typeface="宋体" panose="02010600030101010101" pitchFamily="2" charset="-122"/>
                </a:rPr>
                <a:t>y</a:t>
              </a:r>
              <a:endParaRPr lang="en-US" altLang="zh-CN" sz="2400">
                <a:latin typeface="Times" panose="02020603050405020304" pitchFamily="18" charset="0"/>
                <a:ea typeface="宋体" panose="02010600030101010101" pitchFamily="2" charset="-122"/>
              </a:endParaRPr>
            </a:p>
          </p:txBody>
        </p:sp>
        <p:sp>
          <p:nvSpPr>
            <p:cNvPr id="929" name="Rectangle 934"/>
            <p:cNvSpPr>
              <a:spLocks noChangeArrowheads="1"/>
            </p:cNvSpPr>
            <p:nvPr/>
          </p:nvSpPr>
          <p:spPr bwMode="auto">
            <a:xfrm>
              <a:off x="2743" y="345"/>
              <a:ext cx="58"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200" b="1" i="1">
                  <a:latin typeface="Times New Roman" panose="02020603050405020304" pitchFamily="18" charset="0"/>
                  <a:ea typeface="宋体" panose="02010600030101010101" pitchFamily="2" charset="-122"/>
                </a:rPr>
                <a:t>h</a:t>
              </a:r>
              <a:endParaRPr lang="en-US" altLang="zh-CN" sz="2400">
                <a:latin typeface="Times" panose="02020603050405020304" pitchFamily="18" charset="0"/>
                <a:ea typeface="宋体" panose="02010600030101010101" pitchFamily="2" charset="-122"/>
              </a:endParaRPr>
            </a:p>
          </p:txBody>
        </p:sp>
        <p:sp>
          <p:nvSpPr>
            <p:cNvPr id="930" name="Rectangle 935"/>
            <p:cNvSpPr>
              <a:spLocks noChangeArrowheads="1"/>
            </p:cNvSpPr>
            <p:nvPr/>
          </p:nvSpPr>
          <p:spPr bwMode="auto">
            <a:xfrm>
              <a:off x="2804" y="345"/>
              <a:ext cx="4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200" b="1" i="1">
                  <a:latin typeface="Times New Roman" panose="02020603050405020304" pitchFamily="18" charset="0"/>
                  <a:ea typeface="宋体" panose="02010600030101010101" pitchFamily="2" charset="-122"/>
                </a:rPr>
                <a:t>y</a:t>
              </a:r>
              <a:endParaRPr lang="en-US" altLang="zh-CN" sz="2400">
                <a:latin typeface="Times" panose="02020603050405020304" pitchFamily="18" charset="0"/>
                <a:ea typeface="宋体" panose="02010600030101010101" pitchFamily="2" charset="-122"/>
              </a:endParaRPr>
            </a:p>
          </p:txBody>
        </p:sp>
        <p:sp>
          <p:nvSpPr>
            <p:cNvPr id="931" name="Rectangle 936"/>
            <p:cNvSpPr>
              <a:spLocks noChangeArrowheads="1"/>
            </p:cNvSpPr>
            <p:nvPr/>
          </p:nvSpPr>
          <p:spPr bwMode="auto">
            <a:xfrm>
              <a:off x="2850" y="345"/>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200" b="1" i="1">
                  <a:latin typeface="Times New Roman" panose="02020603050405020304" pitchFamily="18" charset="0"/>
                  <a:ea typeface="宋体" panose="02010600030101010101" pitchFamily="2" charset="-122"/>
                </a:rPr>
                <a:t>b</a:t>
              </a:r>
              <a:endParaRPr lang="en-US" altLang="zh-CN" sz="2400">
                <a:latin typeface="Times" panose="02020603050405020304" pitchFamily="18" charset="0"/>
                <a:ea typeface="宋体" panose="02010600030101010101" pitchFamily="2" charset="-122"/>
              </a:endParaRPr>
            </a:p>
          </p:txBody>
        </p:sp>
        <p:sp>
          <p:nvSpPr>
            <p:cNvPr id="932" name="Rectangle 937"/>
            <p:cNvSpPr>
              <a:spLocks noChangeArrowheads="1"/>
            </p:cNvSpPr>
            <p:nvPr/>
          </p:nvSpPr>
          <p:spPr bwMode="auto">
            <a:xfrm>
              <a:off x="2903" y="267"/>
              <a:ext cx="3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500" b="1">
                  <a:latin typeface="Times New Roman" panose="02020603050405020304" pitchFamily="18" charset="0"/>
                  <a:ea typeface="宋体" panose="02010600030101010101" pitchFamily="2" charset="-122"/>
                </a:rPr>
                <a:t> </a:t>
              </a:r>
              <a:endParaRPr lang="zh-CN" altLang="en-US" sz="2400">
                <a:latin typeface="Times" panose="02020603050405020304" pitchFamily="18" charset="0"/>
                <a:ea typeface="宋体" panose="02010600030101010101" pitchFamily="2" charset="-122"/>
              </a:endParaRPr>
            </a:p>
          </p:txBody>
        </p:sp>
        <p:sp>
          <p:nvSpPr>
            <p:cNvPr id="933" name="Rectangle 938"/>
            <p:cNvSpPr>
              <a:spLocks noChangeArrowheads="1"/>
            </p:cNvSpPr>
            <p:nvPr/>
          </p:nvSpPr>
          <p:spPr bwMode="auto">
            <a:xfrm>
              <a:off x="2923" y="267"/>
              <a:ext cx="6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o</a:t>
              </a:r>
              <a:endParaRPr lang="en-US" altLang="zh-CN" sz="2400">
                <a:latin typeface="Times" panose="02020603050405020304" pitchFamily="18" charset="0"/>
                <a:ea typeface="宋体" panose="02010600030101010101" pitchFamily="2" charset="-122"/>
              </a:endParaRPr>
            </a:p>
          </p:txBody>
        </p:sp>
        <p:sp>
          <p:nvSpPr>
            <p:cNvPr id="934" name="Rectangle 939"/>
            <p:cNvSpPr>
              <a:spLocks noChangeArrowheads="1"/>
            </p:cNvSpPr>
            <p:nvPr/>
          </p:nvSpPr>
          <p:spPr bwMode="auto">
            <a:xfrm>
              <a:off x="2991" y="267"/>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r</a:t>
              </a:r>
              <a:endParaRPr lang="en-US" altLang="zh-CN" sz="2400">
                <a:latin typeface="Times" panose="02020603050405020304" pitchFamily="18" charset="0"/>
                <a:ea typeface="宋体" panose="02010600030101010101" pitchFamily="2" charset="-122"/>
              </a:endParaRPr>
            </a:p>
          </p:txBody>
        </p:sp>
        <p:sp>
          <p:nvSpPr>
            <p:cNvPr id="935" name="Rectangle 940"/>
            <p:cNvSpPr>
              <a:spLocks noChangeArrowheads="1"/>
            </p:cNvSpPr>
            <p:nvPr/>
          </p:nvSpPr>
          <p:spPr bwMode="auto">
            <a:xfrm>
              <a:off x="3052" y="267"/>
              <a:ext cx="7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b</a:t>
              </a:r>
              <a:endParaRPr lang="en-US" altLang="zh-CN" sz="2400">
                <a:latin typeface="Times" panose="02020603050405020304" pitchFamily="18" charset="0"/>
                <a:ea typeface="宋体" panose="02010600030101010101" pitchFamily="2" charset="-122"/>
              </a:endParaRPr>
            </a:p>
          </p:txBody>
        </p:sp>
        <p:sp>
          <p:nvSpPr>
            <p:cNvPr id="936" name="Rectangle 941"/>
            <p:cNvSpPr>
              <a:spLocks noChangeArrowheads="1"/>
            </p:cNvSpPr>
            <p:nvPr/>
          </p:nvSpPr>
          <p:spPr bwMode="auto">
            <a:xfrm>
              <a:off x="3129" y="267"/>
              <a:ext cx="3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i</a:t>
              </a:r>
              <a:endParaRPr lang="en-US" altLang="zh-CN" sz="2400">
                <a:latin typeface="Times" panose="02020603050405020304" pitchFamily="18" charset="0"/>
                <a:ea typeface="宋体" panose="02010600030101010101" pitchFamily="2" charset="-122"/>
              </a:endParaRPr>
            </a:p>
          </p:txBody>
        </p:sp>
        <p:sp>
          <p:nvSpPr>
            <p:cNvPr id="937" name="Rectangle 942"/>
            <p:cNvSpPr>
              <a:spLocks noChangeArrowheads="1"/>
            </p:cNvSpPr>
            <p:nvPr/>
          </p:nvSpPr>
          <p:spPr bwMode="auto">
            <a:xfrm>
              <a:off x="3165" y="267"/>
              <a:ext cx="4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t</a:t>
              </a:r>
              <a:endParaRPr lang="en-US" altLang="zh-CN" sz="2400">
                <a:latin typeface="Times" panose="02020603050405020304" pitchFamily="18" charset="0"/>
                <a:ea typeface="宋体" panose="02010600030101010101" pitchFamily="2" charset="-122"/>
              </a:endParaRPr>
            </a:p>
          </p:txBody>
        </p:sp>
        <p:sp>
          <p:nvSpPr>
            <p:cNvPr id="938" name="Rectangle 943"/>
            <p:cNvSpPr>
              <a:spLocks noChangeArrowheads="1"/>
            </p:cNvSpPr>
            <p:nvPr/>
          </p:nvSpPr>
          <p:spPr bwMode="auto">
            <a:xfrm>
              <a:off x="3213" y="267"/>
              <a:ext cx="6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a</a:t>
              </a:r>
              <a:endParaRPr lang="en-US" altLang="zh-CN" sz="2400">
                <a:latin typeface="Times" panose="02020603050405020304" pitchFamily="18" charset="0"/>
                <a:ea typeface="宋体" panose="02010600030101010101" pitchFamily="2" charset="-122"/>
              </a:endParaRPr>
            </a:p>
          </p:txBody>
        </p:sp>
        <p:sp>
          <p:nvSpPr>
            <p:cNvPr id="939" name="Rectangle 944"/>
            <p:cNvSpPr>
              <a:spLocks noChangeArrowheads="1"/>
            </p:cNvSpPr>
            <p:nvPr/>
          </p:nvSpPr>
          <p:spPr bwMode="auto">
            <a:xfrm>
              <a:off x="3281" y="267"/>
              <a:ext cx="3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l</a:t>
              </a:r>
              <a:endParaRPr lang="en-US" altLang="zh-CN" sz="2400">
                <a:latin typeface="Times" panose="02020603050405020304" pitchFamily="18" charset="0"/>
                <a:ea typeface="宋体" panose="02010600030101010101" pitchFamily="2" charset="-122"/>
              </a:endParaRPr>
            </a:p>
          </p:txBody>
        </p:sp>
        <p:sp>
          <p:nvSpPr>
            <p:cNvPr id="940" name="Rectangle 945"/>
            <p:cNvSpPr>
              <a:spLocks noChangeArrowheads="1"/>
            </p:cNvSpPr>
            <p:nvPr/>
          </p:nvSpPr>
          <p:spPr bwMode="auto">
            <a:xfrm>
              <a:off x="3319" y="267"/>
              <a:ext cx="5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s</a:t>
              </a:r>
              <a:endParaRPr lang="en-US" altLang="zh-CN" sz="2400">
                <a:latin typeface="Times" panose="02020603050405020304" pitchFamily="18" charset="0"/>
                <a:ea typeface="宋体" panose="02010600030101010101" pitchFamily="2" charset="-122"/>
              </a:endParaRPr>
            </a:p>
          </p:txBody>
        </p:sp>
        <p:sp>
          <p:nvSpPr>
            <p:cNvPr id="941" name="Line 946"/>
            <p:cNvSpPr>
              <a:spLocks noChangeShapeType="1"/>
            </p:cNvSpPr>
            <p:nvPr/>
          </p:nvSpPr>
          <p:spPr bwMode="auto">
            <a:xfrm flipH="1">
              <a:off x="2667" y="977"/>
              <a:ext cx="318" cy="31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 name="Rectangle 947"/>
            <p:cNvSpPr>
              <a:spLocks noChangeArrowheads="1"/>
            </p:cNvSpPr>
            <p:nvPr/>
          </p:nvSpPr>
          <p:spPr bwMode="auto">
            <a:xfrm>
              <a:off x="2465" y="1249"/>
              <a:ext cx="7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S</a:t>
              </a:r>
              <a:endParaRPr lang="en-US" altLang="zh-CN" sz="2400">
                <a:latin typeface="Times" panose="02020603050405020304" pitchFamily="18" charset="0"/>
                <a:ea typeface="宋体" panose="02010600030101010101" pitchFamily="2" charset="-122"/>
              </a:endParaRPr>
            </a:p>
          </p:txBody>
        </p:sp>
        <p:sp>
          <p:nvSpPr>
            <p:cNvPr id="943" name="Rectangle 948"/>
            <p:cNvSpPr>
              <a:spLocks noChangeArrowheads="1"/>
            </p:cNvSpPr>
            <p:nvPr/>
          </p:nvSpPr>
          <p:spPr bwMode="auto">
            <a:xfrm>
              <a:off x="2541" y="1249"/>
              <a:ext cx="3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i</a:t>
              </a:r>
              <a:endParaRPr lang="en-US" altLang="zh-CN" sz="2400">
                <a:latin typeface="Times" panose="02020603050405020304" pitchFamily="18" charset="0"/>
                <a:ea typeface="宋体" panose="02010600030101010101" pitchFamily="2" charset="-122"/>
              </a:endParaRPr>
            </a:p>
          </p:txBody>
        </p:sp>
        <p:sp>
          <p:nvSpPr>
            <p:cNvPr id="944" name="Rectangle 949"/>
            <p:cNvSpPr>
              <a:spLocks noChangeArrowheads="1"/>
            </p:cNvSpPr>
            <p:nvPr/>
          </p:nvSpPr>
          <p:spPr bwMode="auto">
            <a:xfrm>
              <a:off x="2579" y="1249"/>
              <a:ext cx="3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500" b="1">
                  <a:latin typeface="Times New Roman" panose="02020603050405020304" pitchFamily="18" charset="0"/>
                  <a:ea typeface="宋体" panose="02010600030101010101" pitchFamily="2" charset="-122"/>
                </a:rPr>
                <a:t> </a:t>
              </a:r>
              <a:endParaRPr lang="zh-CN" altLang="en-US" sz="2400">
                <a:latin typeface="Times" panose="02020603050405020304" pitchFamily="18" charset="0"/>
                <a:ea typeface="宋体" panose="02010600030101010101" pitchFamily="2" charset="-122"/>
              </a:endParaRPr>
            </a:p>
          </p:txBody>
        </p:sp>
        <p:sp>
          <p:nvSpPr>
            <p:cNvPr id="945" name="Rectangle 950"/>
            <p:cNvSpPr>
              <a:spLocks noChangeArrowheads="1"/>
            </p:cNvSpPr>
            <p:nvPr/>
          </p:nvSpPr>
          <p:spPr bwMode="auto">
            <a:xfrm>
              <a:off x="2613" y="1249"/>
              <a:ext cx="3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i</a:t>
              </a:r>
              <a:endParaRPr lang="en-US" altLang="zh-CN" sz="2400">
                <a:latin typeface="Times" panose="02020603050405020304" pitchFamily="18" charset="0"/>
                <a:ea typeface="宋体" panose="02010600030101010101" pitchFamily="2" charset="-122"/>
              </a:endParaRPr>
            </a:p>
          </p:txBody>
        </p:sp>
        <p:sp>
          <p:nvSpPr>
            <p:cNvPr id="946" name="Rectangle 951"/>
            <p:cNvSpPr>
              <a:spLocks noChangeArrowheads="1"/>
            </p:cNvSpPr>
            <p:nvPr/>
          </p:nvSpPr>
          <p:spPr bwMode="auto">
            <a:xfrm>
              <a:off x="2651" y="1249"/>
              <a:ext cx="6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o</a:t>
              </a:r>
              <a:endParaRPr lang="en-US" altLang="zh-CN" sz="2400">
                <a:latin typeface="Times" panose="02020603050405020304" pitchFamily="18" charset="0"/>
                <a:ea typeface="宋体" panose="02010600030101010101" pitchFamily="2" charset="-122"/>
              </a:endParaRPr>
            </a:p>
          </p:txBody>
        </p:sp>
        <p:sp>
          <p:nvSpPr>
            <p:cNvPr id="947" name="Rectangle 952"/>
            <p:cNvSpPr>
              <a:spLocks noChangeArrowheads="1"/>
            </p:cNvSpPr>
            <p:nvPr/>
          </p:nvSpPr>
          <p:spPr bwMode="auto">
            <a:xfrm>
              <a:off x="2720" y="1249"/>
              <a:ext cx="7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n</a:t>
              </a:r>
              <a:endParaRPr lang="en-US" altLang="zh-CN" sz="2400">
                <a:latin typeface="Times" panose="02020603050405020304" pitchFamily="18" charset="0"/>
                <a:ea typeface="宋体" panose="02010600030101010101" pitchFamily="2" charset="-122"/>
              </a:endParaRPr>
            </a:p>
          </p:txBody>
        </p:sp>
        <p:sp>
          <p:nvSpPr>
            <p:cNvPr id="948" name="Rectangle 953"/>
            <p:cNvSpPr>
              <a:spLocks noChangeArrowheads="1"/>
            </p:cNvSpPr>
            <p:nvPr/>
          </p:nvSpPr>
          <p:spPr bwMode="auto">
            <a:xfrm>
              <a:off x="2797" y="1249"/>
              <a:ext cx="3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500" b="1">
                  <a:latin typeface="Times New Roman" panose="02020603050405020304" pitchFamily="18" charset="0"/>
                  <a:ea typeface="宋体" panose="02010600030101010101" pitchFamily="2" charset="-122"/>
                </a:rPr>
                <a:t> </a:t>
              </a:r>
              <a:endParaRPr lang="zh-CN" altLang="en-US" sz="2400">
                <a:latin typeface="Times" panose="02020603050405020304" pitchFamily="18" charset="0"/>
                <a:ea typeface="宋体" panose="02010600030101010101" pitchFamily="2" charset="-122"/>
              </a:endParaRPr>
            </a:p>
          </p:txBody>
        </p:sp>
        <p:sp>
          <p:nvSpPr>
            <p:cNvPr id="949" name="Rectangle 954"/>
            <p:cNvSpPr>
              <a:spLocks noChangeArrowheads="1"/>
            </p:cNvSpPr>
            <p:nvPr/>
          </p:nvSpPr>
          <p:spPr bwMode="auto">
            <a:xfrm>
              <a:off x="2832" y="1249"/>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c</a:t>
              </a:r>
              <a:endParaRPr lang="en-US" altLang="zh-CN" sz="2400">
                <a:latin typeface="Times" panose="02020603050405020304" pitchFamily="18" charset="0"/>
                <a:ea typeface="宋体" panose="02010600030101010101" pitchFamily="2" charset="-122"/>
              </a:endParaRPr>
            </a:p>
          </p:txBody>
        </p:sp>
        <p:sp>
          <p:nvSpPr>
            <p:cNvPr id="950" name="Rectangle 955"/>
            <p:cNvSpPr>
              <a:spLocks noChangeArrowheads="1"/>
            </p:cNvSpPr>
            <p:nvPr/>
          </p:nvSpPr>
          <p:spPr bwMode="auto">
            <a:xfrm>
              <a:off x="2892" y="1249"/>
              <a:ext cx="6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o</a:t>
              </a:r>
              <a:endParaRPr lang="en-US" altLang="zh-CN" sz="2400">
                <a:latin typeface="Times" panose="02020603050405020304" pitchFamily="18" charset="0"/>
                <a:ea typeface="宋体" panose="02010600030101010101" pitchFamily="2" charset="-122"/>
              </a:endParaRPr>
            </a:p>
          </p:txBody>
        </p:sp>
        <p:sp>
          <p:nvSpPr>
            <p:cNvPr id="951" name="Rectangle 956"/>
            <p:cNvSpPr>
              <a:spLocks noChangeArrowheads="1"/>
            </p:cNvSpPr>
            <p:nvPr/>
          </p:nvSpPr>
          <p:spPr bwMode="auto">
            <a:xfrm>
              <a:off x="2961" y="1249"/>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r</a:t>
              </a:r>
              <a:endParaRPr lang="en-US" altLang="zh-CN" sz="2400">
                <a:latin typeface="Times" panose="02020603050405020304" pitchFamily="18" charset="0"/>
                <a:ea typeface="宋体" panose="02010600030101010101" pitchFamily="2" charset="-122"/>
              </a:endParaRPr>
            </a:p>
          </p:txBody>
        </p:sp>
        <p:sp>
          <p:nvSpPr>
            <p:cNvPr id="952" name="Rectangle 957"/>
            <p:cNvSpPr>
              <a:spLocks noChangeArrowheads="1"/>
            </p:cNvSpPr>
            <p:nvPr/>
          </p:nvSpPr>
          <p:spPr bwMode="auto">
            <a:xfrm>
              <a:off x="3022" y="1249"/>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e</a:t>
              </a:r>
              <a:endParaRPr lang="en-US" altLang="zh-CN" sz="2400">
                <a:latin typeface="Times" panose="02020603050405020304" pitchFamily="18" charset="0"/>
                <a:ea typeface="宋体" panose="02010600030101010101" pitchFamily="2" charset="-122"/>
              </a:endParaRPr>
            </a:p>
          </p:txBody>
        </p:sp>
        <p:sp>
          <p:nvSpPr>
            <p:cNvPr id="953" name="Rectangle 958"/>
            <p:cNvSpPr>
              <a:spLocks noChangeArrowheads="1"/>
            </p:cNvSpPr>
            <p:nvPr/>
          </p:nvSpPr>
          <p:spPr bwMode="auto">
            <a:xfrm>
              <a:off x="3082" y="1249"/>
              <a:ext cx="3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500" b="1">
                  <a:latin typeface="Times New Roman" panose="02020603050405020304" pitchFamily="18" charset="0"/>
                  <a:ea typeface="宋体" panose="02010600030101010101" pitchFamily="2" charset="-122"/>
                </a:rPr>
                <a:t> </a:t>
              </a:r>
              <a:endParaRPr lang="zh-CN" altLang="en-US" sz="2400">
                <a:latin typeface="Times" panose="02020603050405020304" pitchFamily="18" charset="0"/>
                <a:ea typeface="宋体" panose="02010600030101010101" pitchFamily="2" charset="-122"/>
              </a:endParaRPr>
            </a:p>
          </p:txBody>
        </p:sp>
        <p:sp>
          <p:nvSpPr>
            <p:cNvPr id="954" name="Rectangle 959"/>
            <p:cNvSpPr>
              <a:spLocks noChangeArrowheads="1"/>
            </p:cNvSpPr>
            <p:nvPr/>
          </p:nvSpPr>
          <p:spPr bwMode="auto">
            <a:xfrm>
              <a:off x="3117" y="1249"/>
              <a:ext cx="4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a:t>
              </a:r>
              <a:endParaRPr lang="en-US" altLang="zh-CN" sz="2400">
                <a:latin typeface="Times" panose="02020603050405020304" pitchFamily="18" charset="0"/>
                <a:ea typeface="宋体" panose="02010600030101010101" pitchFamily="2" charset="-122"/>
              </a:endParaRPr>
            </a:p>
          </p:txBody>
        </p:sp>
        <p:sp>
          <p:nvSpPr>
            <p:cNvPr id="955" name="Rectangle 960"/>
            <p:cNvSpPr>
              <a:spLocks noChangeArrowheads="1"/>
            </p:cNvSpPr>
            <p:nvPr/>
          </p:nvSpPr>
          <p:spPr bwMode="auto">
            <a:xfrm>
              <a:off x="3163" y="1249"/>
              <a:ext cx="7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a:t>
              </a:r>
              <a:endParaRPr lang="en-US" altLang="zh-CN" sz="2400">
                <a:latin typeface="Times" panose="02020603050405020304" pitchFamily="18" charset="0"/>
                <a:ea typeface="宋体" panose="02010600030101010101" pitchFamily="2" charset="-122"/>
              </a:endParaRPr>
            </a:p>
          </p:txBody>
        </p:sp>
        <p:sp>
          <p:nvSpPr>
            <p:cNvPr id="956" name="Rectangle 961"/>
            <p:cNvSpPr>
              <a:spLocks noChangeArrowheads="1"/>
            </p:cNvSpPr>
            <p:nvPr/>
          </p:nvSpPr>
          <p:spPr bwMode="auto">
            <a:xfrm>
              <a:off x="3242" y="1249"/>
              <a:ext cx="6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4</a:t>
              </a:r>
              <a:endParaRPr lang="en-US" altLang="zh-CN" sz="2400">
                <a:latin typeface="Times" panose="02020603050405020304" pitchFamily="18" charset="0"/>
                <a:ea typeface="宋体" panose="02010600030101010101" pitchFamily="2" charset="-122"/>
              </a:endParaRPr>
            </a:p>
          </p:txBody>
        </p:sp>
        <p:sp>
          <p:nvSpPr>
            <p:cNvPr id="957" name="Rectangle 962"/>
            <p:cNvSpPr>
              <a:spLocks noChangeArrowheads="1"/>
            </p:cNvSpPr>
            <p:nvPr/>
          </p:nvSpPr>
          <p:spPr bwMode="auto">
            <a:xfrm>
              <a:off x="3312" y="1252"/>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i="1">
                  <a:latin typeface="Times New Roman" panose="02020603050405020304" pitchFamily="18" charset="0"/>
                  <a:ea typeface="宋体" panose="02010600030101010101" pitchFamily="2" charset="-122"/>
                </a:rPr>
                <a:t>e</a:t>
              </a:r>
              <a:endParaRPr lang="en-US" altLang="zh-CN" sz="2400">
                <a:latin typeface="Times" panose="02020603050405020304" pitchFamily="18" charset="0"/>
                <a:ea typeface="宋体" panose="02010600030101010101" pitchFamily="2" charset="-122"/>
              </a:endParaRPr>
            </a:p>
          </p:txBody>
        </p:sp>
        <p:sp>
          <p:nvSpPr>
            <p:cNvPr id="958" name="Rectangle 963"/>
            <p:cNvSpPr>
              <a:spLocks noChangeArrowheads="1"/>
            </p:cNvSpPr>
            <p:nvPr/>
          </p:nvSpPr>
          <p:spPr bwMode="auto">
            <a:xfrm>
              <a:off x="3371" y="1249"/>
              <a:ext cx="4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a:t>
              </a:r>
              <a:endParaRPr lang="en-US" altLang="zh-CN" sz="2400">
                <a:latin typeface="Times" panose="02020603050405020304" pitchFamily="18" charset="0"/>
                <a:ea typeface="宋体" panose="02010600030101010101" pitchFamily="2" charset="-122"/>
              </a:endParaRPr>
            </a:p>
          </p:txBody>
        </p:sp>
        <p:sp>
          <p:nvSpPr>
            <p:cNvPr id="959" name="Line 964"/>
            <p:cNvSpPr>
              <a:spLocks noChangeShapeType="1"/>
            </p:cNvSpPr>
            <p:nvPr/>
          </p:nvSpPr>
          <p:spPr bwMode="auto">
            <a:xfrm flipH="1" flipV="1">
              <a:off x="2685" y="815"/>
              <a:ext cx="135" cy="11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0" name="Rectangle 965"/>
            <p:cNvSpPr>
              <a:spLocks noChangeArrowheads="1"/>
            </p:cNvSpPr>
            <p:nvPr/>
          </p:nvSpPr>
          <p:spPr bwMode="auto">
            <a:xfrm>
              <a:off x="2221" y="465"/>
              <a:ext cx="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V</a:t>
              </a:r>
              <a:endParaRPr lang="en-US" altLang="zh-CN" sz="2400">
                <a:latin typeface="Times" panose="02020603050405020304" pitchFamily="18" charset="0"/>
                <a:ea typeface="宋体" panose="02010600030101010101" pitchFamily="2" charset="-122"/>
              </a:endParaRPr>
            </a:p>
          </p:txBody>
        </p:sp>
        <p:sp>
          <p:nvSpPr>
            <p:cNvPr id="961" name="Rectangle 966"/>
            <p:cNvSpPr>
              <a:spLocks noChangeArrowheads="1"/>
            </p:cNvSpPr>
            <p:nvPr/>
          </p:nvSpPr>
          <p:spPr bwMode="auto">
            <a:xfrm>
              <a:off x="2321" y="465"/>
              <a:ext cx="6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a</a:t>
              </a:r>
              <a:endParaRPr lang="en-US" altLang="zh-CN" sz="2400">
                <a:latin typeface="Times" panose="02020603050405020304" pitchFamily="18" charset="0"/>
                <a:ea typeface="宋体" panose="02010600030101010101" pitchFamily="2" charset="-122"/>
              </a:endParaRPr>
            </a:p>
          </p:txBody>
        </p:sp>
        <p:sp>
          <p:nvSpPr>
            <p:cNvPr id="962" name="Rectangle 967"/>
            <p:cNvSpPr>
              <a:spLocks noChangeArrowheads="1"/>
            </p:cNvSpPr>
            <p:nvPr/>
          </p:nvSpPr>
          <p:spPr bwMode="auto">
            <a:xfrm>
              <a:off x="2391" y="465"/>
              <a:ext cx="3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l</a:t>
              </a:r>
              <a:endParaRPr lang="en-US" altLang="zh-CN" sz="2400">
                <a:latin typeface="Times" panose="02020603050405020304" pitchFamily="18" charset="0"/>
                <a:ea typeface="宋体" panose="02010600030101010101" pitchFamily="2" charset="-122"/>
              </a:endParaRPr>
            </a:p>
          </p:txBody>
        </p:sp>
        <p:sp>
          <p:nvSpPr>
            <p:cNvPr id="963" name="Rectangle 968"/>
            <p:cNvSpPr>
              <a:spLocks noChangeArrowheads="1"/>
            </p:cNvSpPr>
            <p:nvPr/>
          </p:nvSpPr>
          <p:spPr bwMode="auto">
            <a:xfrm>
              <a:off x="2428" y="465"/>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e</a:t>
              </a:r>
              <a:endParaRPr lang="en-US" altLang="zh-CN" sz="2400">
                <a:latin typeface="Times" panose="02020603050405020304" pitchFamily="18" charset="0"/>
                <a:ea typeface="宋体" panose="02010600030101010101" pitchFamily="2" charset="-122"/>
              </a:endParaRPr>
            </a:p>
          </p:txBody>
        </p:sp>
        <p:sp>
          <p:nvSpPr>
            <p:cNvPr id="964" name="Rectangle 969"/>
            <p:cNvSpPr>
              <a:spLocks noChangeArrowheads="1"/>
            </p:cNvSpPr>
            <p:nvPr/>
          </p:nvSpPr>
          <p:spPr bwMode="auto">
            <a:xfrm>
              <a:off x="2488" y="465"/>
              <a:ext cx="7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n</a:t>
              </a:r>
              <a:endParaRPr lang="en-US" altLang="zh-CN" sz="2400">
                <a:latin typeface="Times" panose="02020603050405020304" pitchFamily="18" charset="0"/>
                <a:ea typeface="宋体" panose="02010600030101010101" pitchFamily="2" charset="-122"/>
              </a:endParaRPr>
            </a:p>
          </p:txBody>
        </p:sp>
        <p:sp>
          <p:nvSpPr>
            <p:cNvPr id="965" name="Rectangle 970"/>
            <p:cNvSpPr>
              <a:spLocks noChangeArrowheads="1"/>
            </p:cNvSpPr>
            <p:nvPr/>
          </p:nvSpPr>
          <p:spPr bwMode="auto">
            <a:xfrm>
              <a:off x="2565" y="465"/>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c</a:t>
              </a:r>
              <a:endParaRPr lang="en-US" altLang="zh-CN" sz="2400">
                <a:latin typeface="Times" panose="02020603050405020304" pitchFamily="18" charset="0"/>
                <a:ea typeface="宋体" panose="02010600030101010101" pitchFamily="2" charset="-122"/>
              </a:endParaRPr>
            </a:p>
          </p:txBody>
        </p:sp>
        <p:sp>
          <p:nvSpPr>
            <p:cNvPr id="966" name="Rectangle 971"/>
            <p:cNvSpPr>
              <a:spLocks noChangeArrowheads="1"/>
            </p:cNvSpPr>
            <p:nvPr/>
          </p:nvSpPr>
          <p:spPr bwMode="auto">
            <a:xfrm>
              <a:off x="2625" y="465"/>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e</a:t>
              </a:r>
              <a:endParaRPr lang="en-US" altLang="zh-CN" sz="2400">
                <a:latin typeface="Times" panose="02020603050405020304" pitchFamily="18" charset="0"/>
                <a:ea typeface="宋体" panose="02010600030101010101" pitchFamily="2" charset="-122"/>
              </a:endParaRPr>
            </a:p>
          </p:txBody>
        </p:sp>
        <p:sp>
          <p:nvSpPr>
            <p:cNvPr id="967" name="Rectangle 972"/>
            <p:cNvSpPr>
              <a:spLocks noChangeArrowheads="1"/>
            </p:cNvSpPr>
            <p:nvPr/>
          </p:nvSpPr>
          <p:spPr bwMode="auto">
            <a:xfrm>
              <a:off x="2221" y="650"/>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e</a:t>
              </a:r>
              <a:endParaRPr lang="en-US" altLang="zh-CN" sz="2400">
                <a:latin typeface="Times" panose="02020603050405020304" pitchFamily="18" charset="0"/>
                <a:ea typeface="宋体" panose="02010600030101010101" pitchFamily="2" charset="-122"/>
              </a:endParaRPr>
            </a:p>
          </p:txBody>
        </p:sp>
        <p:sp>
          <p:nvSpPr>
            <p:cNvPr id="968" name="Rectangle 973"/>
            <p:cNvSpPr>
              <a:spLocks noChangeArrowheads="1"/>
            </p:cNvSpPr>
            <p:nvPr/>
          </p:nvSpPr>
          <p:spPr bwMode="auto">
            <a:xfrm>
              <a:off x="2282" y="650"/>
              <a:ext cx="3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l</a:t>
              </a:r>
              <a:endParaRPr lang="en-US" altLang="zh-CN" sz="2400">
                <a:latin typeface="Times" panose="02020603050405020304" pitchFamily="18" charset="0"/>
                <a:ea typeface="宋体" panose="02010600030101010101" pitchFamily="2" charset="-122"/>
              </a:endParaRPr>
            </a:p>
          </p:txBody>
        </p:sp>
        <p:sp>
          <p:nvSpPr>
            <p:cNvPr id="969" name="Rectangle 974"/>
            <p:cNvSpPr>
              <a:spLocks noChangeArrowheads="1"/>
            </p:cNvSpPr>
            <p:nvPr/>
          </p:nvSpPr>
          <p:spPr bwMode="auto">
            <a:xfrm>
              <a:off x="2320" y="650"/>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e</a:t>
              </a:r>
              <a:endParaRPr lang="en-US" altLang="zh-CN" sz="2400">
                <a:latin typeface="Times" panose="02020603050405020304" pitchFamily="18" charset="0"/>
                <a:ea typeface="宋体" panose="02010600030101010101" pitchFamily="2" charset="-122"/>
              </a:endParaRPr>
            </a:p>
          </p:txBody>
        </p:sp>
        <p:sp>
          <p:nvSpPr>
            <p:cNvPr id="970" name="Rectangle 975"/>
            <p:cNvSpPr>
              <a:spLocks noChangeArrowheads="1"/>
            </p:cNvSpPr>
            <p:nvPr/>
          </p:nvSpPr>
          <p:spPr bwMode="auto">
            <a:xfrm>
              <a:off x="2379" y="650"/>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c</a:t>
              </a:r>
              <a:endParaRPr lang="en-US" altLang="zh-CN" sz="2400">
                <a:latin typeface="Times" panose="02020603050405020304" pitchFamily="18" charset="0"/>
                <a:ea typeface="宋体" panose="02010600030101010101" pitchFamily="2" charset="-122"/>
              </a:endParaRPr>
            </a:p>
          </p:txBody>
        </p:sp>
        <p:sp>
          <p:nvSpPr>
            <p:cNvPr id="971" name="Rectangle 976"/>
            <p:cNvSpPr>
              <a:spLocks noChangeArrowheads="1"/>
            </p:cNvSpPr>
            <p:nvPr/>
          </p:nvSpPr>
          <p:spPr bwMode="auto">
            <a:xfrm>
              <a:off x="2439" y="650"/>
              <a:ext cx="4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t</a:t>
              </a:r>
              <a:endParaRPr lang="en-US" altLang="zh-CN" sz="2400">
                <a:latin typeface="Times" panose="02020603050405020304" pitchFamily="18" charset="0"/>
                <a:ea typeface="宋体" panose="02010600030101010101" pitchFamily="2" charset="-122"/>
              </a:endParaRPr>
            </a:p>
          </p:txBody>
        </p:sp>
        <p:sp>
          <p:nvSpPr>
            <p:cNvPr id="972" name="Rectangle 977"/>
            <p:cNvSpPr>
              <a:spLocks noChangeArrowheads="1"/>
            </p:cNvSpPr>
            <p:nvPr/>
          </p:nvSpPr>
          <p:spPr bwMode="auto">
            <a:xfrm>
              <a:off x="2486" y="650"/>
              <a:ext cx="5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r</a:t>
              </a:r>
              <a:endParaRPr lang="en-US" altLang="zh-CN" sz="2400">
                <a:latin typeface="Times" panose="02020603050405020304" pitchFamily="18" charset="0"/>
                <a:ea typeface="宋体" panose="02010600030101010101" pitchFamily="2" charset="-122"/>
              </a:endParaRPr>
            </a:p>
          </p:txBody>
        </p:sp>
        <p:sp>
          <p:nvSpPr>
            <p:cNvPr id="973" name="Rectangle 978"/>
            <p:cNvSpPr>
              <a:spLocks noChangeArrowheads="1"/>
            </p:cNvSpPr>
            <p:nvPr/>
          </p:nvSpPr>
          <p:spPr bwMode="auto">
            <a:xfrm>
              <a:off x="2546" y="650"/>
              <a:ext cx="6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o</a:t>
              </a:r>
              <a:endParaRPr lang="en-US" altLang="zh-CN" sz="2400">
                <a:latin typeface="Times" panose="02020603050405020304" pitchFamily="18" charset="0"/>
                <a:ea typeface="宋体" panose="02010600030101010101" pitchFamily="2" charset="-122"/>
              </a:endParaRPr>
            </a:p>
          </p:txBody>
        </p:sp>
        <p:sp>
          <p:nvSpPr>
            <p:cNvPr id="974" name="Rectangle 979"/>
            <p:cNvSpPr>
              <a:spLocks noChangeArrowheads="1"/>
            </p:cNvSpPr>
            <p:nvPr/>
          </p:nvSpPr>
          <p:spPr bwMode="auto">
            <a:xfrm>
              <a:off x="2616" y="650"/>
              <a:ext cx="7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500" b="1">
                  <a:latin typeface="Times New Roman" panose="02020603050405020304" pitchFamily="18" charset="0"/>
                  <a:ea typeface="宋体" panose="02010600030101010101" pitchFamily="2" charset="-122"/>
                </a:rPr>
                <a:t>n</a:t>
              </a:r>
              <a:endParaRPr lang="en-US" altLang="zh-CN" sz="2400">
                <a:latin typeface="Times" panose="02020603050405020304" pitchFamily="18" charset="0"/>
                <a:ea typeface="宋体" panose="02010600030101010101" pitchFamily="2" charset="-122"/>
              </a:endParaRPr>
            </a:p>
          </p:txBody>
        </p:sp>
        <p:sp>
          <p:nvSpPr>
            <p:cNvPr id="975" name="Line 980"/>
            <p:cNvSpPr>
              <a:spLocks noChangeShapeType="1"/>
            </p:cNvSpPr>
            <p:nvPr/>
          </p:nvSpPr>
          <p:spPr bwMode="auto">
            <a:xfrm flipV="1">
              <a:off x="2818" y="485"/>
              <a:ext cx="27" cy="38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6" name="Line 981"/>
            <p:cNvSpPr>
              <a:spLocks noChangeShapeType="1"/>
            </p:cNvSpPr>
            <p:nvPr/>
          </p:nvSpPr>
          <p:spPr bwMode="auto">
            <a:xfrm flipH="1" flipV="1">
              <a:off x="2848" y="492"/>
              <a:ext cx="123" cy="12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81" name="Text Box 983"/>
          <p:cNvSpPr txBox="1">
            <a:spLocks noChangeArrowheads="1"/>
          </p:cNvSpPr>
          <p:nvPr/>
        </p:nvSpPr>
        <p:spPr bwMode="auto">
          <a:xfrm>
            <a:off x="179388" y="260350"/>
            <a:ext cx="97155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altLang="zh-CN" sz="2400" b="1">
                <a:ea typeface="宋体" panose="02010600030101010101" pitchFamily="2" charset="-122"/>
              </a:rPr>
              <a:t>Si</a:t>
            </a:r>
          </a:p>
          <a:p>
            <a:pPr>
              <a:spcBef>
                <a:spcPct val="50000"/>
              </a:spcBef>
            </a:pPr>
            <a:r>
              <a:rPr lang="zh-CN" altLang="en-US" sz="2400" b="1">
                <a:ea typeface="宋体" panose="02010600030101010101" pitchFamily="2" charset="-122"/>
              </a:rPr>
              <a:t>共价键</a:t>
            </a:r>
          </a:p>
        </p:txBody>
      </p:sp>
    </p:spTree>
    <p:extLst>
      <p:ext uri="{BB962C8B-B14F-4D97-AF65-F5344CB8AC3E}">
        <p14:creationId xmlns:p14="http://schemas.microsoft.com/office/powerpoint/2010/main" val="16874710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61</a:t>
            </a:fld>
            <a:endParaRPr lang="zh-CN" altLang="en-US"/>
          </a:p>
        </p:txBody>
      </p:sp>
      <p:graphicFrame>
        <p:nvGraphicFramePr>
          <p:cNvPr id="3" name="Object 2"/>
          <p:cNvGraphicFramePr>
            <a:graphicFrameLocks noChangeAspect="1"/>
          </p:cNvGraphicFramePr>
          <p:nvPr/>
        </p:nvGraphicFramePr>
        <p:xfrm>
          <a:off x="1143000" y="1676400"/>
          <a:ext cx="6831013" cy="4238625"/>
        </p:xfrm>
        <a:graphic>
          <a:graphicData uri="http://schemas.openxmlformats.org/presentationml/2006/ole">
            <mc:AlternateContent xmlns:mc="http://schemas.openxmlformats.org/markup-compatibility/2006">
              <mc:Choice xmlns:v="urn:schemas-microsoft-com:vml" Requires="v">
                <p:oleObj name="位图图像" r:id="rId2" imgW="6830378" imgH="4238095" progId="Paint.Picture">
                  <p:embed/>
                </p:oleObj>
              </mc:Choice>
              <mc:Fallback>
                <p:oleObj name="位图图像" r:id="rId2" imgW="6830378" imgH="4238095" progId="Paint.Picture">
                  <p:embed/>
                  <p:pic>
                    <p:nvPicPr>
                      <p:cNvPr id="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676400"/>
                        <a:ext cx="6831013"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3"/>
          <p:cNvSpPr txBox="1">
            <a:spLocks noChangeArrowheads="1"/>
          </p:cNvSpPr>
          <p:nvPr/>
        </p:nvSpPr>
        <p:spPr bwMode="auto">
          <a:xfrm>
            <a:off x="2057400" y="609600"/>
            <a:ext cx="632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kumimoji="1" lang="zh-CN" altLang="en-US" sz="3200" b="1">
                <a:latin typeface="Times New Roman" panose="02020603050405020304" pitchFamily="18" charset="0"/>
                <a:ea typeface="宋体" panose="02010600030101010101" pitchFamily="2" charset="-122"/>
              </a:rPr>
              <a:t>应变  </a:t>
            </a:r>
            <a:r>
              <a:rPr kumimoji="1" lang="en-US" altLang="zh-CN" sz="3200" b="1">
                <a:latin typeface="Times New Roman" panose="02020603050405020304" pitchFamily="18" charset="0"/>
                <a:ea typeface="宋体" panose="02010600030101010101" pitchFamily="2" charset="-122"/>
              </a:rPr>
              <a:t>SiGe</a:t>
            </a:r>
          </a:p>
        </p:txBody>
      </p:sp>
    </p:spTree>
    <p:extLst>
      <p:ext uri="{BB962C8B-B14F-4D97-AF65-F5344CB8AC3E}">
        <p14:creationId xmlns:p14="http://schemas.microsoft.com/office/powerpoint/2010/main" val="919076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62</a:t>
            </a:fld>
            <a:endParaRPr lang="zh-CN" altLang="en-US"/>
          </a:p>
        </p:txBody>
      </p:sp>
      <p:sp>
        <p:nvSpPr>
          <p:cNvPr id="3" name="矩形 2"/>
          <p:cNvSpPr/>
          <p:nvPr/>
        </p:nvSpPr>
        <p:spPr>
          <a:xfrm>
            <a:off x="445893" y="334882"/>
            <a:ext cx="8363810" cy="4007251"/>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能带理论总结：近自由电子近似和紧束缚近似从两个极端情况出发，很好的诠释了能带形成的物理图像</a:t>
            </a:r>
            <a:r>
              <a:rPr kumimoji="1" lang="en-US" altLang="zh-CN" sz="2400" b="1" dirty="0">
                <a:solidFill>
                  <a:srgbClr val="000000"/>
                </a:solidFill>
                <a:latin typeface="Times New Roman" pitchFamily="18" charset="0"/>
                <a:ea typeface="宋体" pitchFamily="2" charset="-122"/>
              </a:rPr>
              <a:t>——</a:t>
            </a:r>
            <a:r>
              <a:rPr kumimoji="1" lang="zh-CN" altLang="en-US" sz="2400" b="1" dirty="0">
                <a:solidFill>
                  <a:srgbClr val="000000"/>
                </a:solidFill>
                <a:latin typeface="Times New Roman" pitchFamily="18" charset="0"/>
                <a:ea typeface="宋体" pitchFamily="2" charset="-122"/>
              </a:rPr>
              <a:t>由于周期性晶格势场的微扰，造成连续的能量状态下出现不可取值的带隙；由于最近邻格点的微扰，造成分立原子能级的扩展。</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实际晶体中的能带形成情况更为复杂，一般低能量能带接近紧束缚近似，高能量能带接近近自由电子近似。</a:t>
            </a:r>
            <a:endParaRPr kumimoji="1" lang="en-US" altLang="zh-CN" sz="2400" b="1" dirty="0">
              <a:solidFill>
                <a:srgbClr val="000000"/>
              </a:solidFill>
              <a:latin typeface="Times New Roman" pitchFamily="18" charset="0"/>
              <a:ea typeface="宋体" pitchFamily="2" charset="-122"/>
            </a:endParaRPr>
          </a:p>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不同原子能级的能带之间可能产生交叠，合并成为一个能带。</a:t>
            </a:r>
            <a:endParaRPr kumimoji="1" lang="en-US" altLang="zh-CN" sz="2400" b="1" dirty="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3439180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63</a:t>
            </a:fld>
            <a:endParaRPr lang="zh-CN" altLang="en-US"/>
          </a:p>
        </p:txBody>
      </p:sp>
      <p:sp>
        <p:nvSpPr>
          <p:cNvPr id="3" name="矩形 2"/>
          <p:cNvSpPr/>
          <p:nvPr/>
        </p:nvSpPr>
        <p:spPr>
          <a:xfrm>
            <a:off x="188872" y="1291375"/>
            <a:ext cx="3663048" cy="2862322"/>
          </a:xfrm>
          <a:prstGeom prst="rect">
            <a:avLst/>
          </a:prstGeom>
        </p:spPr>
        <p:txBody>
          <a:bodyPr wrap="square">
            <a:spAutoFit/>
          </a:bodyPr>
          <a:lstStyle/>
          <a:p>
            <a:r>
              <a:rPr lang="zh-CN" altLang="en-US" sz="2000" u="none" dirty="0"/>
              <a:t>       光子入射到样品，样品内电子吸收光子发生跃迁，当能量大于表面势垒</a:t>
            </a:r>
            <a:r>
              <a:rPr lang="en-US" altLang="zh-CN" sz="2000" u="none" dirty="0"/>
              <a:t>(</a:t>
            </a:r>
            <a:r>
              <a:rPr lang="en-US" altLang="zh-CN" sz="2000" u="none" dirty="0" err="1"/>
              <a:t>Φ</a:t>
            </a:r>
            <a:r>
              <a:rPr lang="zh-CN" altLang="en-US" sz="2000" u="none" dirty="0"/>
              <a:t>，材料功函数，即样品阻止价电子逃逸的表面势垒，通常金属功函数约为</a:t>
            </a:r>
            <a:r>
              <a:rPr lang="en-US" altLang="zh-CN" sz="2000" u="none" dirty="0"/>
              <a:t>4-5eV)</a:t>
            </a:r>
            <a:r>
              <a:rPr lang="zh-CN" altLang="en-US" sz="2000" u="none" dirty="0"/>
              <a:t>， 电子就存在一定的几率逃逸出样品表面，逃逸能量的最大值为</a:t>
            </a:r>
            <a:r>
              <a:rPr lang="en-US" altLang="zh-CN" sz="2000" u="none" dirty="0" err="1"/>
              <a:t>hν</a:t>
            </a:r>
            <a:r>
              <a:rPr lang="en-US" altLang="zh-CN" sz="2000" u="none" dirty="0"/>
              <a:t> –</a:t>
            </a:r>
            <a:r>
              <a:rPr lang="en-US" altLang="zh-CN" sz="2000" u="none" dirty="0" err="1"/>
              <a:t>Φ</a:t>
            </a:r>
            <a:r>
              <a:rPr lang="zh-CN" altLang="en-US" sz="2000" u="none" dirty="0"/>
              <a:t>（其中</a:t>
            </a:r>
            <a:r>
              <a:rPr lang="en-US" altLang="zh-CN" sz="2000" u="none" dirty="0" err="1"/>
              <a:t>hν</a:t>
            </a:r>
            <a:r>
              <a:rPr lang="zh-CN" altLang="en-US" sz="2000" u="none" dirty="0"/>
              <a:t>为入射光子能量）。</a:t>
            </a: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5746" y="1426390"/>
            <a:ext cx="4406684" cy="2570565"/>
          </a:xfrm>
          <a:prstGeom prst="rect">
            <a:avLst/>
          </a:prstGeom>
        </p:spPr>
      </p:pic>
      <p:sp>
        <p:nvSpPr>
          <p:cNvPr id="5" name="矩形 4"/>
          <p:cNvSpPr/>
          <p:nvPr/>
        </p:nvSpPr>
        <p:spPr>
          <a:xfrm>
            <a:off x="316542" y="4322102"/>
            <a:ext cx="8145905" cy="1631216"/>
          </a:xfrm>
          <a:prstGeom prst="rect">
            <a:avLst/>
          </a:prstGeom>
        </p:spPr>
        <p:txBody>
          <a:bodyPr wrap="square">
            <a:spAutoFit/>
          </a:bodyPr>
          <a:lstStyle/>
          <a:p>
            <a:r>
              <a:rPr lang="zh-CN" altLang="en-US" sz="2000" u="none" dirty="0"/>
              <a:t>　　角分辨光电子谱通过测量不同初射角度的光电子的动能（光电子的动能，材料的功函数以及电子的束缚能之和等于入射电子的能量），就可以得到电子在固体中平行于样品表面的动量分量。将得到的能量和动量对应起来，就可以得到材料中电子的</a:t>
            </a:r>
            <a:r>
              <a:rPr lang="en-US" altLang="zh-CN" sz="2000" u="none" dirty="0" err="1"/>
              <a:t>E~k</a:t>
            </a:r>
            <a:r>
              <a:rPr lang="zh-CN" altLang="en-US" sz="2000" u="none" dirty="0"/>
              <a:t>关系。同时，</a:t>
            </a:r>
            <a:r>
              <a:rPr lang="en-US" altLang="zh-CN" sz="2000" u="none" dirty="0"/>
              <a:t>APERES</a:t>
            </a:r>
            <a:r>
              <a:rPr lang="zh-CN" altLang="en-US" sz="2000" u="none" dirty="0"/>
              <a:t>也可以得到能态密度曲线和动量密度曲线，并直接给出固体的费米面。</a:t>
            </a:r>
          </a:p>
        </p:txBody>
      </p:sp>
      <p:sp>
        <p:nvSpPr>
          <p:cNvPr id="6" name="Text Box 4"/>
          <p:cNvSpPr txBox="1">
            <a:spLocks noChangeArrowheads="1"/>
          </p:cNvSpPr>
          <p:nvPr/>
        </p:nvSpPr>
        <p:spPr bwMode="auto">
          <a:xfrm>
            <a:off x="152400" y="404813"/>
            <a:ext cx="88392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a:spcBef>
                <a:spcPct val="25000"/>
              </a:spcBef>
              <a:buFontTx/>
              <a:buNone/>
            </a:pPr>
            <a:r>
              <a:rPr kumimoji="1" lang="zh-CN" altLang="en-US" sz="2800" b="1" u="none" dirty="0">
                <a:solidFill>
                  <a:srgbClr val="800000"/>
                </a:solidFill>
                <a:ea typeface="隶书" charset="0"/>
              </a:rPr>
              <a:t>如何实验获得能带结构：角分辨光电子能谱（</a:t>
            </a:r>
            <a:r>
              <a:rPr kumimoji="1" lang="en-US" altLang="zh-CN" sz="2800" b="1" u="none" dirty="0">
                <a:solidFill>
                  <a:srgbClr val="800000"/>
                </a:solidFill>
                <a:ea typeface="隶书" charset="0"/>
              </a:rPr>
              <a:t>ARPES</a:t>
            </a:r>
            <a:r>
              <a:rPr kumimoji="1" lang="zh-CN" altLang="en-US" sz="2800" b="1" u="none" dirty="0">
                <a:solidFill>
                  <a:srgbClr val="800000"/>
                </a:solidFill>
                <a:ea typeface="隶书" charset="0"/>
              </a:rPr>
              <a:t>）</a:t>
            </a:r>
            <a:endParaRPr kumimoji="1" lang="zh-CN" altLang="en-US" sz="2800" b="1" u="none" dirty="0">
              <a:solidFill>
                <a:srgbClr val="800000"/>
              </a:solidFill>
              <a:latin typeface="隶书" charset="0"/>
              <a:ea typeface="隶书" charset="0"/>
            </a:endParaRPr>
          </a:p>
        </p:txBody>
      </p:sp>
    </p:spTree>
    <p:extLst>
      <p:ext uri="{BB962C8B-B14F-4D97-AF65-F5344CB8AC3E}">
        <p14:creationId xmlns:p14="http://schemas.microsoft.com/office/powerpoint/2010/main" val="4230501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64</a:t>
            </a:fld>
            <a:endParaRPr lang="zh-CN" altLang="en-US"/>
          </a:p>
        </p:txBody>
      </p:sp>
      <p:sp>
        <p:nvSpPr>
          <p:cNvPr id="3" name="Text Box 4"/>
          <p:cNvSpPr txBox="1">
            <a:spLocks noChangeArrowheads="1"/>
          </p:cNvSpPr>
          <p:nvPr/>
        </p:nvSpPr>
        <p:spPr bwMode="auto">
          <a:xfrm>
            <a:off x="152400" y="404813"/>
            <a:ext cx="8839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a:spcBef>
                <a:spcPct val="25000"/>
              </a:spcBef>
              <a:buFontTx/>
              <a:buNone/>
            </a:pPr>
            <a:r>
              <a:rPr kumimoji="1" lang="zh-CN" altLang="en-US" sz="2800" b="1" u="none" dirty="0">
                <a:solidFill>
                  <a:srgbClr val="800000"/>
                </a:solidFill>
                <a:ea typeface="隶书" charset="0"/>
              </a:rPr>
              <a:t>如何理论计算获得能带结构</a:t>
            </a:r>
            <a:endParaRPr kumimoji="1" lang="zh-CN" altLang="en-US" sz="2800" b="1" u="none" dirty="0">
              <a:solidFill>
                <a:srgbClr val="800000"/>
              </a:solidFill>
              <a:latin typeface="隶书" charset="0"/>
              <a:ea typeface="隶书" charset="0"/>
            </a:endParaRPr>
          </a:p>
        </p:txBody>
      </p:sp>
      <p:sp>
        <p:nvSpPr>
          <p:cNvPr id="5" name="Text Box 8"/>
          <p:cNvSpPr txBox="1">
            <a:spLocks noChangeArrowheads="1"/>
          </p:cNvSpPr>
          <p:nvPr/>
        </p:nvSpPr>
        <p:spPr bwMode="auto">
          <a:xfrm>
            <a:off x="917366" y="1434861"/>
            <a:ext cx="6985000" cy="4186238"/>
          </a:xfrm>
          <a:prstGeom prst="rect">
            <a:avLst/>
          </a:prstGeom>
          <a:noFill/>
          <a:ln w="9525">
            <a:noFill/>
            <a:miter lim="800000"/>
            <a:headEnd/>
            <a:tailEnd/>
          </a:ln>
          <a:effectLst/>
        </p:spPr>
        <p:txBody>
          <a:bodyPr>
            <a:spAutoFit/>
          </a:bodyPr>
          <a:lstStyle/>
          <a:p>
            <a:pPr marL="273050" indent="-273050">
              <a:spcBef>
                <a:spcPct val="50000"/>
              </a:spcBef>
            </a:pPr>
            <a:r>
              <a:rPr lang="zh-CN" altLang="en-US" sz="2200" b="1" dirty="0">
                <a:latin typeface="Times New Roman" pitchFamily="18" charset="0"/>
                <a:ea typeface="宋体" pitchFamily="2" charset="-122"/>
                <a:cs typeface="Times New Roman" pitchFamily="18" charset="0"/>
              </a:rPr>
              <a:t>基于能带论，目前已发展出多种计算能带结构的方法：</a:t>
            </a:r>
          </a:p>
          <a:p>
            <a:pPr marL="273050" indent="-273050">
              <a:spcBef>
                <a:spcPts val="1000"/>
              </a:spcBef>
              <a:buFontTx/>
              <a:buChar char="•"/>
            </a:pPr>
            <a:r>
              <a:rPr lang="zh-CN" altLang="en-US" sz="2000" b="1" dirty="0">
                <a:latin typeface="Times New Roman" pitchFamily="18" charset="0"/>
                <a:ea typeface="宋体" pitchFamily="2" charset="-122"/>
                <a:cs typeface="Times New Roman" pitchFamily="18" charset="0"/>
              </a:rPr>
              <a:t>紧束缚近似（</a:t>
            </a:r>
            <a:r>
              <a:rPr lang="en-US" altLang="zh-CN" sz="2000" b="1" dirty="0">
                <a:latin typeface="Times New Roman" pitchFamily="18" charset="0"/>
                <a:ea typeface="宋体" pitchFamily="2" charset="-122"/>
                <a:cs typeface="Times New Roman" pitchFamily="18" charset="0"/>
              </a:rPr>
              <a:t>TB</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a:t>
            </a:r>
            <a:r>
              <a:rPr lang="zh-CN" altLang="en-US" sz="2000" b="1" dirty="0">
                <a:latin typeface="Times New Roman" pitchFamily="18" charset="0"/>
                <a:ea typeface="宋体" pitchFamily="2" charset="-122"/>
                <a:cs typeface="Times New Roman" pitchFamily="18" charset="0"/>
              </a:rPr>
              <a:t>采用原子轨道线性组合基函数</a:t>
            </a:r>
          </a:p>
          <a:p>
            <a:pPr marL="273050" indent="-273050">
              <a:spcBef>
                <a:spcPts val="1000"/>
              </a:spcBef>
              <a:buFontTx/>
              <a:buChar char="•"/>
            </a:pPr>
            <a:r>
              <a:rPr lang="zh-CN" altLang="en-US" sz="2000" b="1" dirty="0">
                <a:latin typeface="Times New Roman" pitchFamily="18" charset="0"/>
                <a:ea typeface="宋体" pitchFamily="2" charset="-122"/>
                <a:cs typeface="Times New Roman" pitchFamily="18" charset="0"/>
              </a:rPr>
              <a:t>正交化平面波（</a:t>
            </a:r>
            <a:r>
              <a:rPr lang="en-US" altLang="zh-CN" sz="2000" b="1" dirty="0">
                <a:latin typeface="Times New Roman" pitchFamily="18" charset="0"/>
                <a:ea typeface="宋体" pitchFamily="2" charset="-122"/>
                <a:cs typeface="Times New Roman" pitchFamily="18" charset="0"/>
              </a:rPr>
              <a:t>OPW</a:t>
            </a:r>
            <a:r>
              <a:rPr lang="zh-CN" altLang="en-US" sz="2000" b="1" dirty="0">
                <a:latin typeface="Times New Roman" pitchFamily="18" charset="0"/>
                <a:ea typeface="宋体" pitchFamily="2" charset="-122"/>
                <a:cs typeface="Times New Roman" pitchFamily="18" charset="0"/>
              </a:rPr>
              <a:t>）法</a:t>
            </a:r>
          </a:p>
          <a:p>
            <a:pPr marL="719138" lvl="1" indent="-285750">
              <a:spcBef>
                <a:spcPts val="1000"/>
              </a:spcBef>
              <a:buFont typeface="Wingdings" pitchFamily="2" charset="2"/>
              <a:buChar char="Ø"/>
            </a:pPr>
            <a:r>
              <a:rPr lang="en-US" altLang="zh-CN" sz="2000" b="1" dirty="0">
                <a:latin typeface="Times New Roman" pitchFamily="18" charset="0"/>
                <a:ea typeface="宋体" pitchFamily="2" charset="-122"/>
                <a:cs typeface="Times New Roman" pitchFamily="18" charset="0"/>
              </a:rPr>
              <a:t>KP</a:t>
            </a:r>
            <a:r>
              <a:rPr lang="zh-CN" altLang="en-US" sz="2000" b="1" dirty="0">
                <a:latin typeface="Times New Roman" pitchFamily="18" charset="0"/>
                <a:ea typeface="宋体" pitchFamily="2" charset="-122"/>
                <a:cs typeface="Times New Roman" pitchFamily="18" charset="0"/>
              </a:rPr>
              <a:t>微扰方法</a:t>
            </a:r>
          </a:p>
          <a:p>
            <a:pPr marL="719138" lvl="1" indent="-285750">
              <a:spcBef>
                <a:spcPts val="1000"/>
              </a:spcBef>
              <a:buFont typeface="Wingdings" pitchFamily="2" charset="2"/>
              <a:buChar char="Ø"/>
            </a:pPr>
            <a:r>
              <a:rPr lang="zh-CN" altLang="en-US" sz="2000" b="1" dirty="0">
                <a:latin typeface="Times New Roman" pitchFamily="18" charset="0"/>
                <a:ea typeface="宋体" pitchFamily="2" charset="-122"/>
                <a:cs typeface="Times New Roman" pitchFamily="18" charset="0"/>
              </a:rPr>
              <a:t>赝势方法</a:t>
            </a:r>
          </a:p>
          <a:p>
            <a:pPr marL="273050" indent="-273050">
              <a:spcBef>
                <a:spcPts val="1000"/>
              </a:spcBef>
              <a:buFontTx/>
              <a:buChar char="•"/>
            </a:pPr>
            <a:r>
              <a:rPr lang="zh-CN" altLang="en-US" sz="2000" b="1" dirty="0">
                <a:latin typeface="Times New Roman" pitchFamily="18" charset="0"/>
                <a:ea typeface="宋体" pitchFamily="2" charset="-122"/>
                <a:cs typeface="Times New Roman" pitchFamily="18" charset="0"/>
              </a:rPr>
              <a:t>原子球近似法</a:t>
            </a:r>
          </a:p>
          <a:p>
            <a:pPr marL="719138" lvl="1" indent="-285750">
              <a:spcBef>
                <a:spcPts val="1000"/>
              </a:spcBef>
              <a:buFont typeface="Wingdings" pitchFamily="2" charset="2"/>
              <a:buChar char="Ø"/>
            </a:pPr>
            <a:r>
              <a:rPr lang="zh-CN" altLang="en-US" sz="2000" b="1" dirty="0">
                <a:latin typeface="Times New Roman" pitchFamily="18" charset="0"/>
                <a:ea typeface="宋体" pitchFamily="2" charset="-122"/>
                <a:cs typeface="Times New Roman" pitchFamily="18" charset="0"/>
              </a:rPr>
              <a:t>缀加平面波法（</a:t>
            </a:r>
            <a:r>
              <a:rPr lang="en-US" altLang="zh-CN" sz="2000" b="1" dirty="0">
                <a:latin typeface="Times New Roman" pitchFamily="18" charset="0"/>
                <a:ea typeface="宋体" pitchFamily="2" charset="-122"/>
                <a:cs typeface="Times New Roman" pitchFamily="18" charset="0"/>
              </a:rPr>
              <a:t>APW</a:t>
            </a:r>
            <a:r>
              <a:rPr lang="zh-CN" altLang="en-US" sz="2000" b="1" dirty="0">
                <a:latin typeface="Times New Roman" pitchFamily="18" charset="0"/>
                <a:ea typeface="宋体" pitchFamily="2" charset="-122"/>
                <a:cs typeface="Times New Roman" pitchFamily="18" charset="0"/>
              </a:rPr>
              <a:t>）、格林函数法（</a:t>
            </a:r>
            <a:r>
              <a:rPr lang="en-US" altLang="zh-CN" sz="2000" b="1" dirty="0">
                <a:latin typeface="Times New Roman" pitchFamily="18" charset="0"/>
                <a:ea typeface="宋体" pitchFamily="2" charset="-122"/>
                <a:cs typeface="Times New Roman" pitchFamily="18" charset="0"/>
              </a:rPr>
              <a:t>KKR</a:t>
            </a:r>
            <a:r>
              <a:rPr lang="zh-CN" altLang="en-US" sz="2000" b="1" dirty="0">
                <a:latin typeface="Times New Roman" pitchFamily="18" charset="0"/>
                <a:ea typeface="宋体" pitchFamily="2" charset="-122"/>
                <a:cs typeface="Times New Roman" pitchFamily="18" charset="0"/>
              </a:rPr>
              <a:t>）</a:t>
            </a:r>
          </a:p>
          <a:p>
            <a:pPr marL="719138" lvl="1" indent="-285750">
              <a:spcBef>
                <a:spcPts val="1000"/>
              </a:spcBef>
              <a:buFont typeface="Wingdings" pitchFamily="2" charset="2"/>
              <a:buChar char="Ø"/>
            </a:pPr>
            <a:r>
              <a:rPr lang="zh-CN" altLang="en-US" sz="2000" b="1" dirty="0">
                <a:latin typeface="Times New Roman" pitchFamily="18" charset="0"/>
                <a:ea typeface="宋体" pitchFamily="2" charset="-122"/>
                <a:cs typeface="Times New Roman" pitchFamily="18" charset="0"/>
              </a:rPr>
              <a:t>线性化高模轨道法（</a:t>
            </a:r>
            <a:r>
              <a:rPr lang="en-US" altLang="zh-CN" sz="2000" b="1" dirty="0">
                <a:latin typeface="Times New Roman" pitchFamily="18" charset="0"/>
                <a:ea typeface="宋体" pitchFamily="2" charset="-122"/>
                <a:cs typeface="Times New Roman" pitchFamily="18" charset="0"/>
              </a:rPr>
              <a:t>LMTO</a:t>
            </a:r>
            <a:r>
              <a:rPr lang="zh-CN" altLang="en-US" sz="2000" b="1" dirty="0">
                <a:latin typeface="Times New Roman" pitchFamily="18" charset="0"/>
                <a:ea typeface="宋体" pitchFamily="2" charset="-122"/>
                <a:cs typeface="Times New Roman" pitchFamily="18" charset="0"/>
              </a:rPr>
              <a:t>）、线性化叠加平面波法（</a:t>
            </a:r>
            <a:r>
              <a:rPr lang="en-US" altLang="zh-CN" sz="2000" b="1" dirty="0">
                <a:latin typeface="Times New Roman" pitchFamily="18" charset="0"/>
                <a:ea typeface="宋体" pitchFamily="2" charset="-122"/>
                <a:cs typeface="Times New Roman" pitchFamily="18" charset="0"/>
              </a:rPr>
              <a:t>LAPW )</a:t>
            </a:r>
          </a:p>
          <a:p>
            <a:pPr marL="273050" indent="-273050">
              <a:spcBef>
                <a:spcPts val="1000"/>
              </a:spcBef>
              <a:buFontTx/>
              <a:buChar char="•"/>
            </a:pPr>
            <a:r>
              <a:rPr lang="zh-CN" altLang="en-US" sz="2000" b="1" dirty="0">
                <a:solidFill>
                  <a:srgbClr val="0000FF"/>
                </a:solidFill>
                <a:latin typeface="Times New Roman" pitchFamily="18" charset="0"/>
                <a:ea typeface="宋体" pitchFamily="2" charset="-122"/>
                <a:cs typeface="Times New Roman" pitchFamily="18" charset="0"/>
              </a:rPr>
              <a:t>密度泛函理论基础上的局域密度近似方法</a:t>
            </a:r>
          </a:p>
        </p:txBody>
      </p:sp>
    </p:spTree>
    <p:extLst>
      <p:ext uri="{BB962C8B-B14F-4D97-AF65-F5344CB8AC3E}">
        <p14:creationId xmlns:p14="http://schemas.microsoft.com/office/powerpoint/2010/main" val="39186709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65</a:t>
            </a:fld>
            <a:endParaRPr lang="zh-CN" altLang="en-US"/>
          </a:p>
        </p:txBody>
      </p:sp>
      <p:pic>
        <p:nvPicPr>
          <p:cNvPr id="3" name="图片 2"/>
          <p:cNvPicPr>
            <a:picLocks noChangeAspect="1"/>
          </p:cNvPicPr>
          <p:nvPr/>
        </p:nvPicPr>
        <p:blipFill>
          <a:blip r:embed="rId2"/>
          <a:stretch>
            <a:fillRect/>
          </a:stretch>
        </p:blipFill>
        <p:spPr>
          <a:xfrm>
            <a:off x="219751" y="1529150"/>
            <a:ext cx="4576840" cy="3672116"/>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707184" y="5711924"/>
                <a:ext cx="6650090" cy="461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𝐸</m:t>
                      </m:r>
                      <m:r>
                        <a:rPr lang="en-US" altLang="zh-CN" sz="2400" b="0" i="1" smtClean="0">
                          <a:solidFill>
                            <a:prstClr val="black"/>
                          </a:solidFill>
                          <a:latin typeface="Cambria Math" panose="02040503050406030204" pitchFamily="18" charset="0"/>
                        </a:rPr>
                        <m:t>(</m:t>
                      </m:r>
                      <m:acc>
                        <m:accPr>
                          <m:chr m:val="⃑"/>
                          <m:ctrlPr>
                            <a:rPr lang="en-US" altLang="zh-CN" sz="2400" i="1">
                              <a:solidFill>
                                <a:prstClr val="black"/>
                              </a:solidFill>
                              <a:latin typeface="Cambria Math" panose="02040503050406030204" pitchFamily="18" charset="0"/>
                            </a:rPr>
                          </m:ctrlPr>
                        </m:accPr>
                        <m:e>
                          <m:r>
                            <a:rPr lang="en-US" altLang="zh-CN" sz="2400" i="1">
                              <a:solidFill>
                                <a:prstClr val="black"/>
                              </a:solidFill>
                              <a:latin typeface="Cambria Math" panose="02040503050406030204" pitchFamily="18" charset="0"/>
                            </a:rPr>
                            <m:t>𝑘</m:t>
                          </m:r>
                        </m:e>
                      </m:acc>
                      <m:r>
                        <a:rPr lang="en-US" altLang="zh-CN" sz="2400" b="0" i="1" smtClean="0">
                          <a:solidFill>
                            <a:prstClr val="black"/>
                          </a:solidFill>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𝐽</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−2</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𝑥</m:t>
                              </m:r>
                            </m:sub>
                          </m:sSub>
                          <m:r>
                            <a:rPr lang="en-US" altLang="zh-CN" sz="2400" b="0" i="1" smtClean="0">
                              <a:latin typeface="Cambria Math" panose="02040503050406030204" pitchFamily="18" charset="0"/>
                            </a:rPr>
                            <m:t>𝑎</m:t>
                          </m:r>
                          <m:r>
                            <a:rPr lang="en-US" altLang="zh-CN" sz="2400" b="0" i="1" smtClean="0">
                              <a:latin typeface="Cambria Math" panose="02040503050406030204" pitchFamily="18" charset="0"/>
                            </a:rPr>
                            <m:t>+</m:t>
                          </m:r>
                        </m:e>
                      </m:func>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cos</m:t>
                          </m:r>
                        </m:fNa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b="0" i="1" smtClean="0">
                                  <a:latin typeface="Cambria Math" panose="02040503050406030204" pitchFamily="18" charset="0"/>
                                </a:rPr>
                                <m:t>𝑦</m:t>
                              </m:r>
                            </m:sub>
                          </m:sSub>
                          <m:r>
                            <a:rPr lang="en-US" altLang="zh-CN" sz="2400" i="1">
                              <a:latin typeface="Cambria Math" panose="02040503050406030204" pitchFamily="18" charset="0"/>
                            </a:rPr>
                            <m:t>𝑎</m:t>
                          </m:r>
                          <m:r>
                            <a:rPr lang="en-US" altLang="zh-CN" sz="2400" i="1">
                              <a:latin typeface="Cambria Math" panose="02040503050406030204" pitchFamily="18" charset="0"/>
                            </a:rPr>
                            <m:t>+</m:t>
                          </m:r>
                        </m:e>
                      </m:func>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cos</m:t>
                          </m:r>
                        </m:fNa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b="0" i="1" smtClean="0">
                                  <a:latin typeface="Cambria Math" panose="02040503050406030204" pitchFamily="18" charset="0"/>
                                </a:rPr>
                                <m:t>𝑧</m:t>
                              </m:r>
                            </m:sub>
                          </m:sSub>
                          <m:r>
                            <a:rPr lang="en-US" altLang="zh-CN" sz="2400" i="1">
                              <a:latin typeface="Cambria Math" panose="02040503050406030204" pitchFamily="18" charset="0"/>
                            </a:rPr>
                            <m:t>𝑎</m:t>
                          </m:r>
                        </m:e>
                      </m:func>
                      <m:r>
                        <a:rPr lang="en-US" altLang="zh-CN" sz="2400" b="0" i="1" smtClean="0">
                          <a:latin typeface="Cambria Math" panose="02040503050406030204" pitchFamily="18" charset="0"/>
                        </a:rPr>
                        <m:t>)</m:t>
                      </m:r>
                    </m:oMath>
                  </m:oMathPara>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707184" y="5711924"/>
                <a:ext cx="6650090" cy="461601"/>
              </a:xfrm>
              <a:prstGeom prst="rect">
                <a:avLst/>
              </a:prstGeom>
              <a:blipFill>
                <a:blip r:embed="rId3"/>
                <a:stretch>
                  <a:fillRect/>
                </a:stretch>
              </a:blipFill>
            </p:spPr>
            <p:txBody>
              <a:bodyPr/>
              <a:lstStyle/>
              <a:p>
                <a:r>
                  <a:rPr lang="zh-CN" altLang="en-US">
                    <a:noFill/>
                  </a:rPr>
                  <a:t> </a:t>
                </a:r>
              </a:p>
            </p:txBody>
          </p:sp>
        </mc:Fallback>
      </mc:AlternateContent>
      <p:sp>
        <p:nvSpPr>
          <p:cNvPr id="5" name="矩形 4"/>
          <p:cNvSpPr/>
          <p:nvPr/>
        </p:nvSpPr>
        <p:spPr>
          <a:xfrm>
            <a:off x="445893" y="334882"/>
            <a:ext cx="8363810" cy="978729"/>
          </a:xfrm>
          <a:prstGeom prst="rect">
            <a:avLst/>
          </a:prstGeom>
        </p:spPr>
        <p:txBody>
          <a:bodyPr wrap="square">
            <a:spAutoFit/>
          </a:bodyPr>
          <a:lstStyle/>
          <a:p>
            <a:pPr lvl="0"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高对称点：</a:t>
            </a:r>
            <a:r>
              <a:rPr kumimoji="1" lang="en-US" altLang="zh-CN" sz="2400" b="1" dirty="0">
                <a:solidFill>
                  <a:srgbClr val="000000"/>
                </a:solidFill>
                <a:latin typeface="Times New Roman" pitchFamily="18" charset="0"/>
                <a:ea typeface="宋体" pitchFamily="2" charset="-122"/>
              </a:rPr>
              <a:t>k</a:t>
            </a:r>
            <a:r>
              <a:rPr kumimoji="1" lang="zh-CN" altLang="en-US" sz="2400" b="1" dirty="0">
                <a:solidFill>
                  <a:srgbClr val="000000"/>
                </a:solidFill>
                <a:latin typeface="Times New Roman" pitchFamily="18" charset="0"/>
                <a:ea typeface="宋体" pitchFamily="2" charset="-122"/>
              </a:rPr>
              <a:t>空间中的某些对称点，一般能带的带顶和带底只会在这些高对称点上</a:t>
            </a:r>
            <a:endParaRPr kumimoji="1" lang="en-US" altLang="zh-CN" sz="2400" b="1" dirty="0">
              <a:solidFill>
                <a:srgbClr val="000000"/>
              </a:solidFill>
              <a:latin typeface="Times New Roman" pitchFamily="18" charset="0"/>
              <a:ea typeface="宋体" pitchFamily="2" charset="-122"/>
            </a:endParaRPr>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7784" y="1831911"/>
            <a:ext cx="3830643" cy="3369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65406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66</a:t>
            </a:fld>
            <a:endParaRPr lang="zh-CN" altLang="en-US"/>
          </a:p>
        </p:txBody>
      </p:sp>
      <p:sp>
        <p:nvSpPr>
          <p:cNvPr id="3" name="矩形 2"/>
          <p:cNvSpPr/>
          <p:nvPr/>
        </p:nvSpPr>
        <p:spPr>
          <a:xfrm>
            <a:off x="402006" y="1076191"/>
            <a:ext cx="1988045"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重点掌握：</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Rectangle 4"/>
          <p:cNvSpPr>
            <a:spLocks noChangeArrowheads="1"/>
          </p:cNvSpPr>
          <p:nvPr/>
        </p:nvSpPr>
        <p:spPr bwMode="auto">
          <a:xfrm>
            <a:off x="3383280" y="295910"/>
            <a:ext cx="360013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本节小结</a:t>
            </a:r>
          </a:p>
        </p:txBody>
      </p:sp>
      <p:sp>
        <p:nvSpPr>
          <p:cNvPr id="5" name="Text Box 1029"/>
          <p:cNvSpPr txBox="1">
            <a:spLocks noChangeArrowheads="1"/>
          </p:cNvSpPr>
          <p:nvPr/>
        </p:nvSpPr>
        <p:spPr bwMode="auto">
          <a:xfrm>
            <a:off x="402006" y="1785314"/>
            <a:ext cx="8302041" cy="3194721"/>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能带理论的基础：</a:t>
            </a:r>
            <a:r>
              <a:rPr kumimoji="1" lang="en-US" altLang="zh-CN" sz="2400" b="1" dirty="0">
                <a:latin typeface="Times New Roman" pitchFamily="18" charset="0"/>
                <a:ea typeface="宋体" pitchFamily="2" charset="-122"/>
                <a:cs typeface="Times New Roman" pitchFamily="18" charset="0"/>
              </a:rPr>
              <a:t>1</a:t>
            </a:r>
            <a:r>
              <a:rPr kumimoji="1" lang="zh-CN" altLang="en-US" sz="2400" b="1" dirty="0">
                <a:latin typeface="Times New Roman" pitchFamily="18" charset="0"/>
                <a:ea typeface="宋体" pitchFamily="2" charset="-122"/>
                <a:cs typeface="Times New Roman" pitchFamily="18" charset="0"/>
              </a:rPr>
              <a:t>、共有化运动的电子；</a:t>
            </a:r>
            <a:r>
              <a:rPr kumimoji="1" lang="en-US" altLang="zh-CN" sz="2400" b="1" dirty="0">
                <a:latin typeface="Times New Roman" pitchFamily="18" charset="0"/>
                <a:ea typeface="宋体" pitchFamily="2" charset="-122"/>
                <a:cs typeface="Times New Roman" pitchFamily="18" charset="0"/>
              </a:rPr>
              <a:t>2</a:t>
            </a:r>
            <a:r>
              <a:rPr kumimoji="1" lang="zh-CN" altLang="en-US" sz="2400" b="1" dirty="0">
                <a:latin typeface="Times New Roman" pitchFamily="18" charset="0"/>
                <a:ea typeface="宋体" pitchFamily="2" charset="-122"/>
                <a:cs typeface="Times New Roman" pitchFamily="18" charset="0"/>
              </a:rPr>
              <a:t>、三大近似；</a:t>
            </a:r>
            <a:r>
              <a:rPr kumimoji="1" lang="en-US" altLang="zh-CN" sz="2400" b="1" dirty="0">
                <a:latin typeface="Times New Roman" pitchFamily="18" charset="0"/>
                <a:ea typeface="宋体" pitchFamily="2" charset="-122"/>
                <a:cs typeface="Times New Roman" pitchFamily="18" charset="0"/>
              </a:rPr>
              <a:t>3</a:t>
            </a:r>
            <a:r>
              <a:rPr kumimoji="1" lang="zh-CN" altLang="en-US" sz="2400" b="1" dirty="0">
                <a:latin typeface="Times New Roman" pitchFamily="18" charset="0"/>
                <a:ea typeface="宋体" pitchFamily="2" charset="-122"/>
                <a:cs typeface="Times New Roman" pitchFamily="18" charset="0"/>
              </a:rPr>
              <a:t>、布洛赫定理。</a:t>
            </a: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布洛赫定理与周期边条件。</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波矢</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与倒格子。</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en-US" altLang="zh-CN" sz="2400" b="1" dirty="0">
                <a:solidFill>
                  <a:srgbClr val="000000"/>
                </a:solidFill>
                <a:latin typeface="宋体" panose="02010600030101010101" pitchFamily="2" charset="-122"/>
                <a:ea typeface="宋体" panose="02010600030101010101" pitchFamily="2" charset="-122"/>
              </a:rPr>
              <a:t>E-k</a:t>
            </a:r>
            <a:r>
              <a:rPr kumimoji="1" lang="zh-CN" altLang="en-US" sz="2400" b="1" dirty="0">
                <a:solidFill>
                  <a:srgbClr val="000000"/>
                </a:solidFill>
                <a:latin typeface="宋体" panose="02010600030101010101" pitchFamily="2" charset="-122"/>
                <a:ea typeface="宋体" panose="02010600030101010101" pitchFamily="2" charset="-122"/>
              </a:rPr>
              <a:t>关系与布里渊区。</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能带的特点。</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6" name="矩形 5"/>
          <p:cNvSpPr/>
          <p:nvPr/>
        </p:nvSpPr>
        <p:spPr>
          <a:xfrm>
            <a:off x="402006" y="5074231"/>
            <a:ext cx="1266693"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了解：</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7" name="Text Box 1029"/>
          <p:cNvSpPr txBox="1">
            <a:spLocks noChangeArrowheads="1"/>
          </p:cNvSpPr>
          <p:nvPr/>
        </p:nvSpPr>
        <p:spPr bwMode="auto">
          <a:xfrm>
            <a:off x="501445" y="5674627"/>
            <a:ext cx="8202602" cy="49859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近自由电子近似，紧束缚近似</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746520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67</a:t>
            </a:fld>
            <a:endParaRPr lang="zh-CN" altLang="en-US"/>
          </a:p>
        </p:txBody>
      </p:sp>
      <p:sp>
        <p:nvSpPr>
          <p:cNvPr id="3" name="Rectangle 4"/>
          <p:cNvSpPr>
            <a:spLocks noChangeArrowheads="1"/>
          </p:cNvSpPr>
          <p:nvPr/>
        </p:nvSpPr>
        <p:spPr bwMode="auto">
          <a:xfrm>
            <a:off x="2734573" y="295910"/>
            <a:ext cx="4248839"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四、晶体缺陷</a:t>
            </a:r>
          </a:p>
        </p:txBody>
      </p:sp>
      <p:sp>
        <p:nvSpPr>
          <p:cNvPr id="4" name="矩形 3"/>
          <p:cNvSpPr/>
          <p:nvPr/>
        </p:nvSpPr>
        <p:spPr>
          <a:xfrm>
            <a:off x="432486" y="1091431"/>
            <a:ext cx="2225289"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1</a:t>
            </a:r>
            <a:r>
              <a:rPr kumimoji="1" lang="zh-CN" altLang="en-US" sz="2800" b="1" dirty="0">
                <a:solidFill>
                  <a:srgbClr val="D96227"/>
                </a:solidFill>
                <a:latin typeface="Times New Roman" pitchFamily="18" charset="0"/>
                <a:ea typeface="宋体" pitchFamily="2" charset="-122"/>
                <a:cs typeface="Times New Roman" pitchFamily="18" charset="0"/>
              </a:rPr>
              <a:t>、知识回顾</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6" name="Text Box 16"/>
          <p:cNvSpPr txBox="1">
            <a:spLocks noChangeArrowheads="1"/>
          </p:cNvSpPr>
          <p:nvPr/>
        </p:nvSpPr>
        <p:spPr bwMode="auto">
          <a:xfrm>
            <a:off x="670560" y="1986915"/>
            <a:ext cx="76200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110000"/>
              </a:lnSpc>
              <a:spcBef>
                <a:spcPct val="50000"/>
              </a:spcBef>
            </a:pPr>
            <a:r>
              <a:rPr lang="zh-CN" altLang="en-US" sz="3200" b="1" dirty="0">
                <a:ea typeface="宋体" panose="02010600030101010101" pitchFamily="2" charset="-122"/>
              </a:rPr>
              <a:t>晶体中的缺陷包括：</a:t>
            </a:r>
          </a:p>
          <a:p>
            <a:pPr>
              <a:lnSpc>
                <a:spcPct val="110000"/>
              </a:lnSpc>
              <a:spcBef>
                <a:spcPct val="50000"/>
              </a:spcBef>
            </a:pPr>
            <a:r>
              <a:rPr lang="zh-CN" altLang="en-US" sz="3200" b="1" dirty="0">
                <a:ea typeface="宋体" panose="02010600030101010101" pitchFamily="2" charset="-122"/>
              </a:rPr>
              <a:t>1）点缺陷－杂质原子、原子空位等</a:t>
            </a:r>
          </a:p>
          <a:p>
            <a:pPr>
              <a:lnSpc>
                <a:spcPct val="110000"/>
              </a:lnSpc>
              <a:spcBef>
                <a:spcPct val="50000"/>
              </a:spcBef>
            </a:pPr>
            <a:r>
              <a:rPr lang="zh-CN" altLang="en-US" sz="3200" b="1" dirty="0">
                <a:ea typeface="宋体" panose="02010600030101010101" pitchFamily="2" charset="-122"/>
              </a:rPr>
              <a:t>2）线缺陷－位错</a:t>
            </a:r>
          </a:p>
          <a:p>
            <a:pPr>
              <a:lnSpc>
                <a:spcPct val="110000"/>
              </a:lnSpc>
              <a:spcBef>
                <a:spcPct val="50000"/>
              </a:spcBef>
            </a:pPr>
            <a:r>
              <a:rPr lang="zh-CN" altLang="en-US" sz="3200" b="1" dirty="0">
                <a:ea typeface="宋体" panose="02010600030101010101" pitchFamily="2" charset="-122"/>
              </a:rPr>
              <a:t>3）面缺陷－晶粒间界、层错</a:t>
            </a:r>
          </a:p>
          <a:p>
            <a:pPr>
              <a:lnSpc>
                <a:spcPct val="110000"/>
              </a:lnSpc>
              <a:spcBef>
                <a:spcPct val="50000"/>
              </a:spcBef>
            </a:pPr>
            <a:r>
              <a:rPr lang="zh-CN" altLang="en-US" sz="3200" b="1" dirty="0">
                <a:ea typeface="宋体" panose="02010600030101010101" pitchFamily="2" charset="-122"/>
              </a:rPr>
              <a:t>4）体缺陷－无序</a:t>
            </a:r>
          </a:p>
        </p:txBody>
      </p:sp>
    </p:spTree>
    <p:extLst>
      <p:ext uri="{BB962C8B-B14F-4D97-AF65-F5344CB8AC3E}">
        <p14:creationId xmlns:p14="http://schemas.microsoft.com/office/powerpoint/2010/main" val="5923217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68</a:t>
            </a:fld>
            <a:endParaRPr lang="zh-CN" altLang="en-US"/>
          </a:p>
        </p:txBody>
      </p:sp>
      <p:pic>
        <p:nvPicPr>
          <p:cNvPr id="3" name="Picture 6" descr="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844675"/>
            <a:ext cx="6767513" cy="494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p:cNvSpPr txBox="1">
            <a:spLocks noChangeArrowheads="1"/>
          </p:cNvSpPr>
          <p:nvPr/>
        </p:nvSpPr>
        <p:spPr bwMode="auto">
          <a:xfrm>
            <a:off x="1835150" y="333375"/>
            <a:ext cx="5400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spcBef>
                <a:spcPct val="50000"/>
              </a:spcBef>
            </a:pPr>
            <a:r>
              <a:rPr lang="zh-CN" altLang="en-US" sz="3600" b="1">
                <a:ea typeface="宋体" panose="02010600030101010101" pitchFamily="2" charset="-122"/>
              </a:rPr>
              <a:t>点缺陷的种类</a:t>
            </a:r>
          </a:p>
        </p:txBody>
      </p:sp>
      <p:sp>
        <p:nvSpPr>
          <p:cNvPr id="5" name="Text Box 5"/>
          <p:cNvSpPr txBox="1">
            <a:spLocks noChangeArrowheads="1"/>
          </p:cNvSpPr>
          <p:nvPr/>
        </p:nvSpPr>
        <p:spPr bwMode="auto">
          <a:xfrm>
            <a:off x="468313" y="1341438"/>
            <a:ext cx="842486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110000"/>
              </a:lnSpc>
              <a:spcBef>
                <a:spcPct val="50000"/>
              </a:spcBef>
            </a:pPr>
            <a:r>
              <a:rPr lang="zh-CN" altLang="en-US" sz="2400" b="1">
                <a:ea typeface="宋体" panose="02010600030101010101" pitchFamily="2" charset="-122"/>
              </a:rPr>
              <a:t>在各个方向均没有延伸，主要包括：自间隙原子、空位、肖特基缺陷、弗兰克尔缺陷、外来原子（替位式、间隙式）</a:t>
            </a:r>
          </a:p>
        </p:txBody>
      </p:sp>
    </p:spTree>
    <p:extLst>
      <p:ext uri="{BB962C8B-B14F-4D97-AF65-F5344CB8AC3E}">
        <p14:creationId xmlns:p14="http://schemas.microsoft.com/office/powerpoint/2010/main" val="20293555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69</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对于单晶硅，以下哪些缺陷属于点缺陷？</a:t>
            </a:r>
          </a:p>
        </p:txBody>
      </p:sp>
      <p:sp>
        <p:nvSpPr>
          <p:cNvPr id="5" name="文本框 4"/>
          <p:cNvSpPr txBox="1"/>
          <p:nvPr>
            <p:custDataLst>
              <p:tags r:id="rId3"/>
            </p:custDataLst>
          </p:nvPr>
        </p:nvSpPr>
        <p:spPr>
          <a:xfrm>
            <a:off x="1828800" y="2535899"/>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处于格点上的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杂质</a:t>
            </a:r>
          </a:p>
        </p:txBody>
      </p:sp>
      <p:sp>
        <p:nvSpPr>
          <p:cNvPr id="6" name="文本框 5"/>
          <p:cNvSpPr txBox="1"/>
          <p:nvPr>
            <p:custDataLst>
              <p:tags r:id="rId4"/>
            </p:custDataLst>
          </p:nvPr>
        </p:nvSpPr>
        <p:spPr>
          <a:xfrm>
            <a:off x="1828800" y="3221699"/>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处于格点上的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杂质</a:t>
            </a:r>
          </a:p>
        </p:txBody>
      </p:sp>
      <p:sp>
        <p:nvSpPr>
          <p:cNvPr id="7" name="文本框 6"/>
          <p:cNvSpPr txBox="1"/>
          <p:nvPr>
            <p:custDataLst>
              <p:tags r:id="rId5"/>
            </p:custDataLst>
          </p:nvPr>
        </p:nvSpPr>
        <p:spPr>
          <a:xfrm>
            <a:off x="1828800" y="3907499"/>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处于晶格间隙的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Si</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原子</a:t>
            </a:r>
          </a:p>
        </p:txBody>
      </p:sp>
      <p:sp>
        <p:nvSpPr>
          <p:cNvPr id="8" name="文本框 7"/>
          <p:cNvSpPr txBox="1"/>
          <p:nvPr>
            <p:custDataLst>
              <p:tags r:id="rId6"/>
            </p:custDataLst>
          </p:nvPr>
        </p:nvSpPr>
        <p:spPr>
          <a:xfrm>
            <a:off x="1828800" y="4593299"/>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处于晶格间隙的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原子</a:t>
            </a:r>
          </a:p>
        </p:txBody>
      </p:sp>
      <p:sp>
        <p:nvSpPr>
          <p:cNvPr id="9" name="矩形 8"/>
          <p:cNvSpPr>
            <a:spLocks noChangeAspect="1"/>
          </p:cNvSpPr>
          <p:nvPr>
            <p:custDataLst>
              <p:tags r:id="rId7"/>
            </p:custDataLst>
          </p:nvPr>
        </p:nvSpPr>
        <p:spPr>
          <a:xfrm>
            <a:off x="1114425" y="260019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1114425" y="328599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1114425" y="397179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1114425" y="465759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0" name="文本框 19"/>
          <p:cNvSpPr txBox="1"/>
          <p:nvPr>
            <p:custDataLst>
              <p:tags r:id="rId12"/>
            </p:custDataLst>
          </p:nvPr>
        </p:nvSpPr>
        <p:spPr>
          <a:xfrm>
            <a:off x="1828800" y="5279099"/>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处于格点上的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Si</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空位</a:t>
            </a:r>
          </a:p>
        </p:txBody>
      </p:sp>
      <p:sp>
        <p:nvSpPr>
          <p:cNvPr id="21" name="矩形 20"/>
          <p:cNvSpPr>
            <a:spLocks noChangeAspect="1"/>
          </p:cNvSpPr>
          <p:nvPr>
            <p:custDataLst>
              <p:tags r:id="rId13"/>
            </p:custDataLst>
          </p:nvPr>
        </p:nvSpPr>
        <p:spPr>
          <a:xfrm>
            <a:off x="1114425" y="534339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4"/>
            </p:custDataLst>
          </p:nvPr>
        </p:nvGrpSpPr>
        <p:grpSpPr>
          <a:xfrm>
            <a:off x="0" y="0"/>
            <a:ext cx="9144000" cy="635000"/>
            <a:chOff x="0" y="0"/>
            <a:chExt cx="9144000" cy="635000"/>
          </a:xfrm>
        </p:grpSpPr>
        <p:sp>
          <p:nvSpPr>
            <p:cNvPr id="14" name="TitleBackground"/>
            <p:cNvSpPr/>
            <p:nvPr>
              <p:custDataLst>
                <p:tags r:id="rId1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6392995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70</a:t>
            </a:fld>
            <a:endParaRPr lang="zh-CN" altLang="en-US"/>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19789" r="22205" b="34927"/>
          <a:stretch>
            <a:fillRect/>
          </a:stretch>
        </p:blipFill>
        <p:spPr bwMode="auto">
          <a:xfrm>
            <a:off x="5638800" y="2393832"/>
            <a:ext cx="3276600" cy="265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r="552" b="22758"/>
          <a:stretch>
            <a:fillRect/>
          </a:stretch>
        </p:blipFill>
        <p:spPr bwMode="auto">
          <a:xfrm>
            <a:off x="152400" y="1739664"/>
            <a:ext cx="6096000"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p:cNvSpPr txBox="1">
            <a:spLocks noChangeArrowheads="1"/>
          </p:cNvSpPr>
          <p:nvPr/>
        </p:nvSpPr>
        <p:spPr bwMode="auto">
          <a:xfrm>
            <a:off x="762000" y="1130064"/>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zh-CN" altLang="en-US" sz="2400" b="1" dirty="0">
                <a:ea typeface="宋体" panose="02010600030101010101" pitchFamily="2" charset="-122"/>
              </a:rPr>
              <a:t>掺杂对能带的影响（</a:t>
            </a:r>
            <a:r>
              <a:rPr lang="en-US" altLang="zh-CN" sz="2400" b="1" dirty="0">
                <a:ea typeface="宋体" panose="02010600030101010101" pitchFamily="2" charset="-122"/>
              </a:rPr>
              <a:t>N</a:t>
            </a:r>
            <a:r>
              <a:rPr lang="zh-CN" altLang="en-US" sz="2400" b="1" dirty="0">
                <a:ea typeface="宋体" panose="02010600030101010101" pitchFamily="2" charset="-122"/>
              </a:rPr>
              <a:t>型掺杂）</a:t>
            </a:r>
          </a:p>
        </p:txBody>
      </p:sp>
      <p:sp>
        <p:nvSpPr>
          <p:cNvPr id="6" name="Text Box 5"/>
          <p:cNvSpPr txBox="1">
            <a:spLocks noChangeArrowheads="1"/>
          </p:cNvSpPr>
          <p:nvPr/>
        </p:nvSpPr>
        <p:spPr bwMode="auto">
          <a:xfrm>
            <a:off x="2057400" y="291864"/>
            <a:ext cx="5105400" cy="519113"/>
          </a:xfrm>
          <a:prstGeom prst="rect">
            <a:avLst/>
          </a:prstGeom>
          <a:noFill/>
          <a:ln w="12700" cap="sq">
            <a:noFill/>
            <a:miter lim="800000"/>
            <a:headEnd type="none" w="sm" len="sm"/>
            <a:tailEnd type="none" w="sm" len="sm"/>
          </a:ln>
          <a:effectLst/>
        </p:spPr>
        <p:txBody>
          <a:bodyPr>
            <a:spAutoFit/>
          </a:bodyPr>
          <a:lstStyle/>
          <a:p>
            <a:pPr eaLnBrk="1" hangingPunct="1">
              <a:spcBef>
                <a:spcPct val="50000"/>
              </a:spcBef>
              <a:defRPr/>
            </a:pPr>
            <a:r>
              <a:rPr kumimoji="1" lang="zh-CN" altLang="en-US" sz="2800" b="1">
                <a:effectLst>
                  <a:outerShdw blurRad="38100" dist="38100" dir="2700000" algn="tl">
                    <a:srgbClr val="C0C0C0"/>
                  </a:outerShdw>
                </a:effectLst>
                <a:latin typeface="Times New Roman" pitchFamily="18" charset="0"/>
                <a:ea typeface="宋体" pitchFamily="2" charset="-122"/>
              </a:rPr>
              <a:t>半导体材料的掺杂效应</a:t>
            </a:r>
          </a:p>
        </p:txBody>
      </p:sp>
      <p:sp>
        <p:nvSpPr>
          <p:cNvPr id="7" name="Text Box 4"/>
          <p:cNvSpPr txBox="1">
            <a:spLocks noChangeArrowheads="1"/>
          </p:cNvSpPr>
          <p:nvPr/>
        </p:nvSpPr>
        <p:spPr bwMode="auto">
          <a:xfrm>
            <a:off x="603849" y="6155514"/>
            <a:ext cx="441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zh-CN" altLang="en-US" sz="2400" b="1" dirty="0">
                <a:ea typeface="宋体" panose="02010600030101010101" pitchFamily="2" charset="-122"/>
              </a:rPr>
              <a:t>电离能</a:t>
            </a:r>
            <a:r>
              <a:rPr lang="zh-CN" altLang="en-US" sz="2400" dirty="0">
                <a:sym typeface="Symbol" panose="05050102010706020507" pitchFamily="18" charset="2"/>
              </a:rPr>
              <a:t></a:t>
            </a:r>
            <a:r>
              <a:rPr lang="en-US" altLang="zh-CN" sz="2400" i="1" dirty="0"/>
              <a:t>E</a:t>
            </a:r>
            <a:r>
              <a:rPr lang="en-US" altLang="zh-CN" sz="2400" i="1" baseline="-25000" dirty="0"/>
              <a:t>d </a:t>
            </a:r>
            <a:r>
              <a:rPr lang="en-US" altLang="zh-CN" sz="2400" dirty="0"/>
              <a:t>= </a:t>
            </a:r>
            <a:r>
              <a:rPr lang="en-US" altLang="zh-CN" sz="2400" i="1" dirty="0" err="1"/>
              <a:t>E</a:t>
            </a:r>
            <a:r>
              <a:rPr lang="en-US" altLang="zh-CN" sz="2400" i="1" baseline="-25000" dirty="0" err="1"/>
              <a:t>c</a:t>
            </a:r>
            <a:r>
              <a:rPr lang="en-US" altLang="zh-CN" sz="2400" dirty="0"/>
              <a:t> – </a:t>
            </a:r>
            <a:r>
              <a:rPr lang="en-US" altLang="zh-CN" sz="2400" i="1" dirty="0"/>
              <a:t>E</a:t>
            </a:r>
            <a:r>
              <a:rPr lang="en-US" altLang="zh-CN" sz="2400" i="1" baseline="-25000" dirty="0"/>
              <a:t>d</a:t>
            </a:r>
            <a:r>
              <a:rPr lang="en-US" altLang="zh-CN" sz="2400" dirty="0"/>
              <a:t> </a:t>
            </a:r>
            <a:endParaRPr lang="zh-CN" altLang="en-US" sz="2400" b="1" i="1" baseline="-25000" dirty="0">
              <a:ea typeface="宋体" panose="02010600030101010101" pitchFamily="2" charset="-122"/>
            </a:endParaRPr>
          </a:p>
        </p:txBody>
      </p:sp>
    </p:spTree>
    <p:extLst>
      <p:ext uri="{BB962C8B-B14F-4D97-AF65-F5344CB8AC3E}">
        <p14:creationId xmlns:p14="http://schemas.microsoft.com/office/powerpoint/2010/main" val="3222587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71</a:t>
            </a:fld>
            <a:endParaRPr lang="zh-CN" altLang="en-US"/>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3641" r="57132" b="56673"/>
          <a:stretch>
            <a:fillRect/>
          </a:stretch>
        </p:blipFill>
        <p:spPr bwMode="auto">
          <a:xfrm>
            <a:off x="5715000" y="730370"/>
            <a:ext cx="2514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l="15565" r="17862" b="35892"/>
          <a:stretch>
            <a:fillRect/>
          </a:stretch>
        </p:blipFill>
        <p:spPr bwMode="auto">
          <a:xfrm>
            <a:off x="762000" y="2101970"/>
            <a:ext cx="4419600" cy="311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41679" r="11961" b="48453"/>
          <a:stretch>
            <a:fillRect/>
          </a:stretch>
        </p:blipFill>
        <p:spPr bwMode="auto">
          <a:xfrm>
            <a:off x="5486400" y="2992558"/>
            <a:ext cx="2971800" cy="253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7"/>
          <p:cNvSpPr txBox="1">
            <a:spLocks noChangeArrowheads="1"/>
          </p:cNvSpPr>
          <p:nvPr/>
        </p:nvSpPr>
        <p:spPr bwMode="auto">
          <a:xfrm>
            <a:off x="762000" y="57797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zh-CN" altLang="en-US" sz="2400" b="1" dirty="0">
                <a:ea typeface="宋体" panose="02010600030101010101" pitchFamily="2" charset="-122"/>
              </a:rPr>
              <a:t>掺杂对能带的影响（</a:t>
            </a:r>
            <a:r>
              <a:rPr lang="en-US" altLang="zh-CN" sz="2400" b="1" dirty="0">
                <a:ea typeface="宋体" panose="02010600030101010101" pitchFamily="2" charset="-122"/>
              </a:rPr>
              <a:t>P</a:t>
            </a:r>
            <a:r>
              <a:rPr lang="zh-CN" altLang="en-US" sz="2400" b="1" dirty="0">
                <a:ea typeface="宋体" panose="02010600030101010101" pitchFamily="2" charset="-122"/>
              </a:rPr>
              <a:t>型掺杂）</a:t>
            </a:r>
          </a:p>
        </p:txBody>
      </p:sp>
      <p:sp>
        <p:nvSpPr>
          <p:cNvPr id="7" name="Text Box 4"/>
          <p:cNvSpPr txBox="1">
            <a:spLocks noChangeArrowheads="1"/>
          </p:cNvSpPr>
          <p:nvPr/>
        </p:nvSpPr>
        <p:spPr bwMode="auto">
          <a:xfrm>
            <a:off x="762000" y="6001703"/>
            <a:ext cx="441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zh-CN" altLang="en-US" sz="2400" b="1" dirty="0">
                <a:ea typeface="宋体" panose="02010600030101010101" pitchFamily="2" charset="-122"/>
              </a:rPr>
              <a:t>电离能</a:t>
            </a:r>
            <a:r>
              <a:rPr lang="zh-CN" altLang="en-US" sz="2400" dirty="0">
                <a:sym typeface="Symbol" panose="05050102010706020507" pitchFamily="18" charset="2"/>
              </a:rPr>
              <a:t></a:t>
            </a:r>
            <a:r>
              <a:rPr lang="en-US" altLang="zh-CN" sz="2400" i="1" dirty="0" err="1"/>
              <a:t>E</a:t>
            </a:r>
            <a:r>
              <a:rPr lang="en-US" altLang="zh-CN" sz="2400" i="1" baseline="-25000" dirty="0" err="1"/>
              <a:t>a</a:t>
            </a:r>
            <a:r>
              <a:rPr lang="en-US" altLang="zh-CN" sz="2400" i="1" baseline="-25000" dirty="0"/>
              <a:t> </a:t>
            </a:r>
            <a:r>
              <a:rPr lang="en-US" altLang="zh-CN" sz="2400" dirty="0"/>
              <a:t>= </a:t>
            </a:r>
            <a:r>
              <a:rPr lang="en-US" altLang="zh-CN" sz="2400" i="1" dirty="0" err="1"/>
              <a:t>E</a:t>
            </a:r>
            <a:r>
              <a:rPr lang="en-US" altLang="zh-CN" sz="2400" i="1" baseline="-25000" dirty="0" err="1"/>
              <a:t>a</a:t>
            </a:r>
            <a:r>
              <a:rPr lang="en-US" altLang="zh-CN" sz="2400" dirty="0"/>
              <a:t> – </a:t>
            </a:r>
            <a:r>
              <a:rPr lang="en-US" altLang="zh-CN" sz="2400" i="1" dirty="0" err="1"/>
              <a:t>E</a:t>
            </a:r>
            <a:r>
              <a:rPr lang="en-US" altLang="zh-CN" sz="2400" i="1" baseline="-25000" dirty="0" err="1"/>
              <a:t>v</a:t>
            </a:r>
            <a:r>
              <a:rPr lang="en-US" altLang="zh-CN" sz="2400" i="1" baseline="-25000" dirty="0"/>
              <a:t> </a:t>
            </a:r>
            <a:endParaRPr lang="zh-CN" altLang="en-US" sz="2400" b="1" i="1" baseline="-25000" dirty="0">
              <a:ea typeface="宋体" panose="02010600030101010101" pitchFamily="2" charset="-122"/>
            </a:endParaRPr>
          </a:p>
        </p:txBody>
      </p:sp>
    </p:spTree>
    <p:extLst>
      <p:ext uri="{BB962C8B-B14F-4D97-AF65-F5344CB8AC3E}">
        <p14:creationId xmlns:p14="http://schemas.microsoft.com/office/powerpoint/2010/main" val="14916806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72</a:t>
            </a:fld>
            <a:endParaRPr lang="zh-CN" altLang="en-US"/>
          </a:p>
        </p:txBody>
      </p:sp>
      <p:sp>
        <p:nvSpPr>
          <p:cNvPr id="4" name="矩形 3"/>
          <p:cNvSpPr/>
          <p:nvPr/>
        </p:nvSpPr>
        <p:spPr>
          <a:xfrm>
            <a:off x="320343" y="280548"/>
            <a:ext cx="2603598"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2</a:t>
            </a:r>
            <a:r>
              <a:rPr kumimoji="1" lang="zh-CN" altLang="en-US" sz="2800" b="1" dirty="0">
                <a:solidFill>
                  <a:srgbClr val="D96227"/>
                </a:solidFill>
                <a:latin typeface="Times New Roman" pitchFamily="18" charset="0"/>
                <a:ea typeface="宋体" pitchFamily="2" charset="-122"/>
                <a:cs typeface="Times New Roman" pitchFamily="18" charset="0"/>
              </a:rPr>
              <a:t>、浅能级杂质</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5" name="Text Box 1029"/>
          <p:cNvSpPr txBox="1">
            <a:spLocks noChangeArrowheads="1"/>
          </p:cNvSpPr>
          <p:nvPr/>
        </p:nvSpPr>
        <p:spPr bwMode="auto">
          <a:xfrm>
            <a:off x="384753" y="1086575"/>
            <a:ext cx="8302041" cy="2308324"/>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以一个</a:t>
            </a:r>
            <a:r>
              <a:rPr kumimoji="1" lang="en-US" altLang="zh-CN" sz="2400" b="1" dirty="0">
                <a:solidFill>
                  <a:srgbClr val="000000"/>
                </a:solidFill>
                <a:latin typeface="宋体" panose="02010600030101010101" pitchFamily="2" charset="-122"/>
                <a:ea typeface="宋体" panose="02010600030101010101" pitchFamily="2" charset="-122"/>
              </a:rPr>
              <a:t>V</a:t>
            </a:r>
            <a:r>
              <a:rPr kumimoji="1" lang="zh-CN" altLang="en-US" sz="2400" b="1" dirty="0">
                <a:solidFill>
                  <a:srgbClr val="000000"/>
                </a:solidFill>
                <a:latin typeface="宋体" panose="02010600030101010101" pitchFamily="2" charset="-122"/>
                <a:ea typeface="宋体" panose="02010600030101010101" pitchFamily="2" charset="-122"/>
              </a:rPr>
              <a:t>族原子占据</a:t>
            </a:r>
            <a:r>
              <a:rPr kumimoji="1" lang="en-US" altLang="zh-CN" sz="2400" b="1" dirty="0">
                <a:solidFill>
                  <a:srgbClr val="000000"/>
                </a:solidFill>
                <a:latin typeface="宋体" panose="02010600030101010101" pitchFamily="2" charset="-122"/>
                <a:ea typeface="宋体" panose="02010600030101010101" pitchFamily="2" charset="-122"/>
              </a:rPr>
              <a:t>Si</a:t>
            </a:r>
            <a:r>
              <a:rPr kumimoji="1" lang="zh-CN" altLang="en-US" sz="2400" b="1" dirty="0">
                <a:solidFill>
                  <a:srgbClr val="000000"/>
                </a:solidFill>
                <a:latin typeface="宋体" panose="02010600030101010101" pitchFamily="2" charset="-122"/>
                <a:ea typeface="宋体" panose="02010600030101010101" pitchFamily="2" charset="-122"/>
              </a:rPr>
              <a:t>原子格点为例，</a:t>
            </a:r>
            <a:r>
              <a:rPr kumimoji="1" lang="en-US" altLang="zh-CN" sz="2400" b="1" dirty="0">
                <a:solidFill>
                  <a:srgbClr val="000000"/>
                </a:solidFill>
                <a:latin typeface="宋体" panose="02010600030101010101" pitchFamily="2" charset="-122"/>
                <a:ea typeface="宋体" panose="02010600030101010101" pitchFamily="2" charset="-122"/>
              </a:rPr>
              <a:t>Si</a:t>
            </a:r>
            <a:r>
              <a:rPr kumimoji="1" lang="zh-CN" altLang="en-US" sz="2400" b="1" dirty="0">
                <a:solidFill>
                  <a:srgbClr val="000000"/>
                </a:solidFill>
                <a:latin typeface="宋体" panose="02010600030101010101" pitchFamily="2" charset="-122"/>
                <a:ea typeface="宋体" panose="02010600030101010101" pitchFamily="2" charset="-122"/>
              </a:rPr>
              <a:t>中的势场相当于严格的周期势场上叠加一个正电中心产生的库伦势场。</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周期势场的作用可以用有效质量代替，这样正电中心的作用就可以看成是一个类似氢原子的模型。</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氢原子的基态能量和波尔半径</a:t>
            </a:r>
            <a:endParaRPr kumimoji="1" lang="en-US" altLang="zh-CN" sz="2400" b="1" dirty="0">
              <a:solidFill>
                <a:srgbClr val="000000"/>
              </a:solidFill>
              <a:latin typeface="宋体" panose="02010600030101010101" pitchFamily="2" charset="-122"/>
              <a:ea typeface="宋体" panose="02010600030101010101" pitchFamily="2" charset="-122"/>
            </a:endParaRPr>
          </a:p>
        </p:txBody>
      </p:sp>
      <p:graphicFrame>
        <p:nvGraphicFramePr>
          <p:cNvPr id="7" name="Object 8"/>
          <p:cNvGraphicFramePr>
            <a:graphicFrameLocks noChangeAspect="1"/>
          </p:cNvGraphicFramePr>
          <p:nvPr/>
        </p:nvGraphicFramePr>
        <p:xfrm>
          <a:off x="871659" y="3598163"/>
          <a:ext cx="3394075" cy="885825"/>
        </p:xfrm>
        <a:graphic>
          <a:graphicData uri="http://schemas.openxmlformats.org/presentationml/2006/ole">
            <mc:AlternateContent xmlns:mc="http://schemas.openxmlformats.org/markup-compatibility/2006">
              <mc:Choice xmlns:v="urn:schemas-microsoft-com:vml" Requires="v">
                <p:oleObj r:id="rId2" imgW="1753361" imgH="457399" progId="Equation.3">
                  <p:embed/>
                </p:oleObj>
              </mc:Choice>
              <mc:Fallback>
                <p:oleObj r:id="rId2" imgW="1753361" imgH="457399" progId="Equation.3">
                  <p:embed/>
                  <p:pic>
                    <p:nvPicPr>
                      <p:cNvPr id="7"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659" y="3598163"/>
                        <a:ext cx="33940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3"/>
          <p:cNvGraphicFramePr>
            <a:graphicFrameLocks noChangeAspect="1"/>
          </p:cNvGraphicFramePr>
          <p:nvPr/>
        </p:nvGraphicFramePr>
        <p:xfrm>
          <a:off x="4806203" y="3668012"/>
          <a:ext cx="2771775" cy="746125"/>
        </p:xfrm>
        <a:graphic>
          <a:graphicData uri="http://schemas.openxmlformats.org/presentationml/2006/ole">
            <mc:AlternateContent xmlns:mc="http://schemas.openxmlformats.org/markup-compatibility/2006">
              <mc:Choice xmlns:v="urn:schemas-microsoft-com:vml" Requires="v">
                <p:oleObj name="Equation" r:id="rId4" imgW="1459866" imgH="431613" progId="Equation.DSMT4">
                  <p:embed/>
                </p:oleObj>
              </mc:Choice>
              <mc:Fallback>
                <p:oleObj name="Equation" r:id="rId4" imgW="1459866" imgH="431613" progId="Equation.DSMT4">
                  <p:embed/>
                  <p:pic>
                    <p:nvPicPr>
                      <p:cNvPr id="8" name="Object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6203" y="3668012"/>
                        <a:ext cx="27717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p:cNvSpPr txBox="1">
            <a:spLocks noChangeArrowheads="1"/>
          </p:cNvSpPr>
          <p:nvPr/>
        </p:nvSpPr>
        <p:spPr bwMode="auto">
          <a:xfrm>
            <a:off x="103515" y="4414137"/>
            <a:ext cx="8850702" cy="2044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zh-CN" altLang="zh-CN" sz="2400" baseline="-25000" dirty="0">
                <a:sym typeface="Symbol" panose="05050102010706020507" pitchFamily="18" charset="2"/>
              </a:rPr>
              <a:t>  </a:t>
            </a:r>
          </a:p>
          <a:p>
            <a:pPr>
              <a:buFont typeface="Wingdings" panose="05000000000000000000" pitchFamily="2" charset="2"/>
              <a:buNone/>
            </a:pPr>
            <a:r>
              <a:rPr lang="zh-CN" altLang="zh-CN" sz="2400" dirty="0">
                <a:sym typeface="Symbol" panose="05050102010706020507" pitchFamily="18" charset="2"/>
              </a:rPr>
              <a:t>施主杂质的电离能：</a:t>
            </a:r>
          </a:p>
          <a:p>
            <a:pPr>
              <a:buFont typeface="Wingdings" panose="05000000000000000000" pitchFamily="2" charset="2"/>
              <a:buNone/>
            </a:pPr>
            <a:endParaRPr lang="zh-CN" altLang="zh-CN" sz="2400" baseline="-25000" dirty="0">
              <a:sym typeface="Symbol" panose="05050102010706020507" pitchFamily="18" charset="2"/>
            </a:endParaRPr>
          </a:p>
          <a:p>
            <a:pPr>
              <a:buFont typeface="Wingdings" panose="05000000000000000000" pitchFamily="2" charset="2"/>
              <a:buNone/>
            </a:pPr>
            <a:r>
              <a:rPr lang="zh-CN" altLang="zh-CN" sz="2400" dirty="0">
                <a:sym typeface="Symbol" panose="05050102010706020507" pitchFamily="18" charset="2"/>
              </a:rPr>
              <a:t>  Si:  </a:t>
            </a:r>
          </a:p>
        </p:txBody>
      </p:sp>
      <p:graphicFrame>
        <p:nvGraphicFramePr>
          <p:cNvPr id="10" name="对象 4"/>
          <p:cNvGraphicFramePr>
            <a:graphicFrameLocks noChangeAspect="1"/>
          </p:cNvGraphicFramePr>
          <p:nvPr/>
        </p:nvGraphicFramePr>
        <p:xfrm>
          <a:off x="3121467" y="4492546"/>
          <a:ext cx="5565327" cy="943974"/>
        </p:xfrm>
        <a:graphic>
          <a:graphicData uri="http://schemas.openxmlformats.org/presentationml/2006/ole">
            <mc:AlternateContent xmlns:mc="http://schemas.openxmlformats.org/markup-compatibility/2006">
              <mc:Choice xmlns:v="urn:schemas-microsoft-com:vml" Requires="v">
                <p:oleObj name="Equation" r:id="rId6" imgW="2959100" imgH="482600" progId="Equation.DSMT4">
                  <p:embed/>
                </p:oleObj>
              </mc:Choice>
              <mc:Fallback>
                <p:oleObj name="Equation" r:id="rId6" imgW="2959100" imgH="482600" progId="Equation.DSMT4">
                  <p:embed/>
                  <p:pic>
                    <p:nvPicPr>
                      <p:cNvPr id="10"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1467" y="4492546"/>
                        <a:ext cx="5565327" cy="943974"/>
                      </a:xfrm>
                      <a:prstGeom prst="rect">
                        <a:avLst/>
                      </a:prstGeom>
                      <a:noFill/>
                      <a:ln>
                        <a:noFill/>
                      </a:ln>
                    </p:spPr>
                  </p:pic>
                </p:oleObj>
              </mc:Fallback>
            </mc:AlternateContent>
          </a:graphicData>
        </a:graphic>
      </p:graphicFrame>
      <p:graphicFrame>
        <p:nvGraphicFramePr>
          <p:cNvPr id="11" name="对象 5"/>
          <p:cNvGraphicFramePr>
            <a:graphicFrameLocks noChangeAspect="1"/>
          </p:cNvGraphicFramePr>
          <p:nvPr/>
        </p:nvGraphicFramePr>
        <p:xfrm>
          <a:off x="1231901" y="5471799"/>
          <a:ext cx="1683827" cy="473535"/>
        </p:xfrm>
        <a:graphic>
          <a:graphicData uri="http://schemas.openxmlformats.org/presentationml/2006/ole">
            <mc:AlternateContent xmlns:mc="http://schemas.openxmlformats.org/markup-compatibility/2006">
              <mc:Choice xmlns:v="urn:schemas-microsoft-com:vml" Requires="v">
                <p:oleObj name="Equation" r:id="rId8" imgW="914400" imgH="254000" progId="Equation.DSMT4">
                  <p:embed/>
                </p:oleObj>
              </mc:Choice>
              <mc:Fallback>
                <p:oleObj name="Equation" r:id="rId8" imgW="914400" imgH="254000" progId="Equation.DSMT4">
                  <p:embed/>
                  <p:pic>
                    <p:nvPicPr>
                      <p:cNvPr id="11"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31901" y="5471799"/>
                        <a:ext cx="1683827" cy="473535"/>
                      </a:xfrm>
                      <a:prstGeom prst="rect">
                        <a:avLst/>
                      </a:prstGeom>
                      <a:noFill/>
                      <a:ln>
                        <a:noFill/>
                      </a:ln>
                    </p:spPr>
                  </p:pic>
                </p:oleObj>
              </mc:Fallback>
            </mc:AlternateContent>
          </a:graphicData>
        </a:graphic>
      </p:graphicFrame>
      <p:graphicFrame>
        <p:nvGraphicFramePr>
          <p:cNvPr id="12" name="对象 6"/>
          <p:cNvGraphicFramePr>
            <a:graphicFrameLocks noChangeAspect="1"/>
          </p:cNvGraphicFramePr>
          <p:nvPr/>
        </p:nvGraphicFramePr>
        <p:xfrm>
          <a:off x="3698970" y="5478769"/>
          <a:ext cx="1072729" cy="470634"/>
        </p:xfrm>
        <a:graphic>
          <a:graphicData uri="http://schemas.openxmlformats.org/presentationml/2006/ole">
            <mc:AlternateContent xmlns:mc="http://schemas.openxmlformats.org/markup-compatibility/2006">
              <mc:Choice xmlns:v="urn:schemas-microsoft-com:vml" Requires="v">
                <p:oleObj name="Equation" r:id="rId10" imgW="545863" imgH="241195" progId="Equation.DSMT4">
                  <p:embed/>
                </p:oleObj>
              </mc:Choice>
              <mc:Fallback>
                <p:oleObj name="Equation" r:id="rId10" imgW="545863" imgH="241195" progId="Equation.DSMT4">
                  <p:embed/>
                  <p:pic>
                    <p:nvPicPr>
                      <p:cNvPr id="12" name="对象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8970" y="5478769"/>
                        <a:ext cx="1072729" cy="470634"/>
                      </a:xfrm>
                      <a:prstGeom prst="rect">
                        <a:avLst/>
                      </a:prstGeom>
                      <a:noFill/>
                      <a:ln>
                        <a:noFill/>
                      </a:ln>
                    </p:spPr>
                  </p:pic>
                </p:oleObj>
              </mc:Fallback>
            </mc:AlternateContent>
          </a:graphicData>
        </a:graphic>
      </p:graphicFrame>
      <p:graphicFrame>
        <p:nvGraphicFramePr>
          <p:cNvPr id="13" name="对象 7"/>
          <p:cNvGraphicFramePr>
            <a:graphicFrameLocks noChangeAspect="1"/>
          </p:cNvGraphicFramePr>
          <p:nvPr/>
        </p:nvGraphicFramePr>
        <p:xfrm>
          <a:off x="5507438" y="5519406"/>
          <a:ext cx="2079166" cy="443867"/>
        </p:xfrm>
        <a:graphic>
          <a:graphicData uri="http://schemas.openxmlformats.org/presentationml/2006/ole">
            <mc:AlternateContent xmlns:mc="http://schemas.openxmlformats.org/markup-compatibility/2006">
              <mc:Choice xmlns:v="urn:schemas-microsoft-com:vml" Requires="v">
                <p:oleObj name="Equation" r:id="rId12" imgW="1117600" imgH="241300" progId="Equation.DSMT4">
                  <p:embed/>
                </p:oleObj>
              </mc:Choice>
              <mc:Fallback>
                <p:oleObj name="Equation" r:id="rId12" imgW="1117600" imgH="241300" progId="Equation.DSMT4">
                  <p:embed/>
                  <p:pic>
                    <p:nvPicPr>
                      <p:cNvPr id="13" name="对象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07438" y="5519406"/>
                        <a:ext cx="2079166" cy="443867"/>
                      </a:xfrm>
                      <a:prstGeom prst="rect">
                        <a:avLst/>
                      </a:prstGeom>
                      <a:noFill/>
                      <a:ln>
                        <a:noFill/>
                      </a:ln>
                    </p:spPr>
                  </p:pic>
                </p:oleObj>
              </mc:Fallback>
            </mc:AlternateContent>
          </a:graphicData>
        </a:graphic>
      </p:graphicFrame>
      <p:sp>
        <p:nvSpPr>
          <p:cNvPr id="14" name="Rectangle 3"/>
          <p:cNvSpPr txBox="1">
            <a:spLocks noChangeArrowheads="1"/>
          </p:cNvSpPr>
          <p:nvPr/>
        </p:nvSpPr>
        <p:spPr bwMode="auto">
          <a:xfrm>
            <a:off x="138273" y="6191245"/>
            <a:ext cx="38100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pPr>
            <a:r>
              <a:rPr lang="zh-CN" altLang="zh-CN" sz="2400" dirty="0"/>
              <a:t>施主杂质半径：</a:t>
            </a:r>
          </a:p>
        </p:txBody>
      </p:sp>
      <p:graphicFrame>
        <p:nvGraphicFramePr>
          <p:cNvPr id="15" name="Object 5"/>
          <p:cNvGraphicFramePr>
            <a:graphicFrameLocks noChangeAspect="1"/>
          </p:cNvGraphicFramePr>
          <p:nvPr/>
        </p:nvGraphicFramePr>
        <p:xfrm>
          <a:off x="2705312" y="5979240"/>
          <a:ext cx="3318303" cy="878760"/>
        </p:xfrm>
        <a:graphic>
          <a:graphicData uri="http://schemas.openxmlformats.org/presentationml/2006/ole">
            <mc:AlternateContent xmlns:mc="http://schemas.openxmlformats.org/markup-compatibility/2006">
              <mc:Choice xmlns:v="urn:schemas-microsoft-com:vml" Requires="v">
                <p:oleObj name="Equation" r:id="rId14" imgW="1828800" imgH="482600" progId="Equation.DSMT4">
                  <p:embed/>
                </p:oleObj>
              </mc:Choice>
              <mc:Fallback>
                <p:oleObj name="Equation" r:id="rId14" imgW="1828800" imgH="482600" progId="Equation.DSMT4">
                  <p:embed/>
                  <p:pic>
                    <p:nvPicPr>
                      <p:cNvPr id="15"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05312" y="5979240"/>
                        <a:ext cx="3318303" cy="87876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0553369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73</a:t>
            </a:fld>
            <a:endParaRPr lang="zh-CN" altLang="en-US"/>
          </a:p>
        </p:txBody>
      </p:sp>
      <p:sp>
        <p:nvSpPr>
          <p:cNvPr id="3" name="Text Box 1029"/>
          <p:cNvSpPr txBox="1">
            <a:spLocks noChangeArrowheads="1"/>
          </p:cNvSpPr>
          <p:nvPr/>
        </p:nvSpPr>
        <p:spPr bwMode="auto">
          <a:xfrm>
            <a:off x="186347" y="292947"/>
            <a:ext cx="8815071" cy="5216813"/>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类氢模型的特点：</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en-US" altLang="zh-CN" sz="2400" b="1" dirty="0">
                <a:solidFill>
                  <a:srgbClr val="000000"/>
                </a:solidFill>
                <a:latin typeface="宋体" panose="02010600030101010101" pitchFamily="2" charset="-122"/>
                <a:ea typeface="宋体" panose="02010600030101010101" pitchFamily="2" charset="-122"/>
              </a:rPr>
              <a:t>1.</a:t>
            </a:r>
            <a:r>
              <a:rPr kumimoji="1" lang="zh-CN" altLang="en-US" sz="2400" b="1" dirty="0">
                <a:solidFill>
                  <a:srgbClr val="000000"/>
                </a:solidFill>
                <a:latin typeface="宋体" panose="02010600030101010101" pitchFamily="2" charset="-122"/>
                <a:ea typeface="宋体" panose="02010600030101010101" pitchFamily="2" charset="-122"/>
              </a:rPr>
              <a:t>电子（空穴）处于束缚态（导带电子和价带空穴处于扩展态）。</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en-US" altLang="zh-CN" sz="2400" b="1" dirty="0">
                <a:solidFill>
                  <a:srgbClr val="000000"/>
                </a:solidFill>
                <a:latin typeface="宋体" panose="02010600030101010101" pitchFamily="2" charset="-122"/>
                <a:ea typeface="宋体" panose="02010600030101010101" pitchFamily="2" charset="-122"/>
              </a:rPr>
              <a:t>2.</a:t>
            </a:r>
            <a:r>
              <a:rPr kumimoji="1" lang="zh-CN" altLang="en-US" sz="2400" b="1" dirty="0">
                <a:solidFill>
                  <a:srgbClr val="000000"/>
                </a:solidFill>
                <a:latin typeface="宋体" panose="02010600030101010101" pitchFamily="2" charset="-122"/>
                <a:ea typeface="宋体" panose="02010600030101010101" pitchFamily="2" charset="-122"/>
              </a:rPr>
              <a:t>形成了固定的缺陷能级，能级位置一般处于禁带中。</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en-US" altLang="zh-CN" sz="2400" b="1" dirty="0">
                <a:solidFill>
                  <a:srgbClr val="000000"/>
                </a:solidFill>
                <a:latin typeface="宋体" panose="02010600030101010101" pitchFamily="2" charset="-122"/>
                <a:ea typeface="宋体" panose="02010600030101010101" pitchFamily="2" charset="-122"/>
              </a:rPr>
              <a:t>3.</a:t>
            </a:r>
            <a:r>
              <a:rPr kumimoji="1" lang="zh-CN" altLang="en-US" sz="2400" b="1" dirty="0">
                <a:solidFill>
                  <a:srgbClr val="000000"/>
                </a:solidFill>
                <a:latin typeface="宋体" panose="02010600030101010101" pitchFamily="2" charset="-122"/>
                <a:ea typeface="宋体" panose="02010600030101010101" pitchFamily="2" charset="-122"/>
              </a:rPr>
              <a:t>正电中心的库仑力不强，因此电离能较低，在能带中对应为能级位置离导带底或价带顶很近，因此称为浅能级杂质或浅杂质。</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浅能级杂质对半导体的载流子浓度影响显著，因此半导体物理与器件中被广泛研究。</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endParaRPr kumimoji="1" lang="en-US" altLang="zh-CN" sz="11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扩展态：电子（空穴）可以在晶体中自由运动（共有化运动）。</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束缚态：电子（空穴）被束缚在某个空间范围，不能在晶体中自由运动。</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4" name="Text Box 1029"/>
          <p:cNvSpPr txBox="1">
            <a:spLocks noChangeArrowheads="1"/>
          </p:cNvSpPr>
          <p:nvPr/>
        </p:nvSpPr>
        <p:spPr bwMode="auto">
          <a:xfrm>
            <a:off x="484995" y="5763717"/>
            <a:ext cx="7599865" cy="830997"/>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FF0000"/>
                </a:solidFill>
                <a:latin typeface="宋体" panose="02010600030101010101" pitchFamily="2" charset="-122"/>
                <a:ea typeface="宋体" panose="02010600030101010101" pitchFamily="2" charset="-122"/>
              </a:rPr>
              <a:t>思考：</a:t>
            </a:r>
            <a:r>
              <a:rPr kumimoji="1" lang="en-US" altLang="zh-CN" sz="2400" b="1" dirty="0">
                <a:solidFill>
                  <a:srgbClr val="FF0000"/>
                </a:solidFill>
                <a:latin typeface="宋体" panose="02010600030101010101" pitchFamily="2" charset="-122"/>
                <a:ea typeface="宋体" panose="02010600030101010101" pitchFamily="2" charset="-122"/>
              </a:rPr>
              <a:t>Si</a:t>
            </a:r>
            <a:r>
              <a:rPr kumimoji="1" lang="zh-CN" altLang="en-US" sz="2400" b="1" dirty="0">
                <a:solidFill>
                  <a:srgbClr val="FF0000"/>
                </a:solidFill>
                <a:latin typeface="宋体" panose="02010600030101010101" pitchFamily="2" charset="-122"/>
                <a:ea typeface="宋体" panose="02010600030101010101" pitchFamily="2" charset="-122"/>
              </a:rPr>
              <a:t>中除了掺杂</a:t>
            </a:r>
            <a:r>
              <a:rPr kumimoji="1" lang="en-US" altLang="zh-CN" sz="2400" b="1" dirty="0">
                <a:solidFill>
                  <a:srgbClr val="FF0000"/>
                </a:solidFill>
                <a:latin typeface="宋体" panose="02010600030101010101" pitchFamily="2" charset="-122"/>
                <a:ea typeface="宋体" panose="02010600030101010101" pitchFamily="2" charset="-122"/>
              </a:rPr>
              <a:t>III</a:t>
            </a:r>
            <a:r>
              <a:rPr kumimoji="1" lang="zh-CN" altLang="en-US" sz="2400" b="1" dirty="0">
                <a:solidFill>
                  <a:srgbClr val="FF0000"/>
                </a:solidFill>
                <a:latin typeface="宋体" panose="02010600030101010101" pitchFamily="2" charset="-122"/>
                <a:ea typeface="宋体" panose="02010600030101010101" pitchFamily="2" charset="-122"/>
              </a:rPr>
              <a:t>族或</a:t>
            </a:r>
            <a:r>
              <a:rPr kumimoji="1" lang="en-US" altLang="zh-CN" sz="2400" b="1" dirty="0">
                <a:solidFill>
                  <a:srgbClr val="FF0000"/>
                </a:solidFill>
                <a:latin typeface="宋体" panose="02010600030101010101" pitchFamily="2" charset="-122"/>
                <a:ea typeface="宋体" panose="02010600030101010101" pitchFamily="2" charset="-122"/>
              </a:rPr>
              <a:t>V</a:t>
            </a:r>
            <a:r>
              <a:rPr kumimoji="1" lang="zh-CN" altLang="en-US" sz="2400" b="1" dirty="0">
                <a:solidFill>
                  <a:srgbClr val="FF0000"/>
                </a:solidFill>
                <a:latin typeface="宋体" panose="02010600030101010101" pitchFamily="2" charset="-122"/>
                <a:ea typeface="宋体" panose="02010600030101010101" pitchFamily="2" charset="-122"/>
              </a:rPr>
              <a:t>族元素以外，还有没有其他形成浅能级杂质的可能性？</a:t>
            </a:r>
            <a:endParaRPr kumimoji="1" lang="en-US" altLang="zh-CN" sz="2400" b="1"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08560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74</a:t>
            </a:fld>
            <a:endParaRPr lang="zh-CN" altLang="en-US"/>
          </a:p>
        </p:txBody>
      </p:sp>
      <p:pic>
        <p:nvPicPr>
          <p:cNvPr id="3" name="图片 2"/>
          <p:cNvPicPr>
            <a:picLocks noChangeAspect="1"/>
          </p:cNvPicPr>
          <p:nvPr/>
        </p:nvPicPr>
        <p:blipFill>
          <a:blip r:embed="rId2"/>
          <a:stretch>
            <a:fillRect/>
          </a:stretch>
        </p:blipFill>
        <p:spPr>
          <a:xfrm>
            <a:off x="2096633" y="2691441"/>
            <a:ext cx="4718235" cy="3275313"/>
          </a:xfrm>
          <a:prstGeom prst="rect">
            <a:avLst/>
          </a:prstGeom>
        </p:spPr>
      </p:pic>
      <p:sp>
        <p:nvSpPr>
          <p:cNvPr id="4" name="Text Box 1029"/>
          <p:cNvSpPr txBox="1">
            <a:spLocks noChangeArrowheads="1"/>
          </p:cNvSpPr>
          <p:nvPr/>
        </p:nvSpPr>
        <p:spPr bwMode="auto">
          <a:xfrm>
            <a:off x="298489" y="405088"/>
            <a:ext cx="8302041" cy="1384995"/>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对于离子型晶体</a:t>
            </a:r>
            <a:r>
              <a:rPr kumimoji="1" lang="en-US" altLang="zh-CN" sz="2400" b="1" dirty="0">
                <a:solidFill>
                  <a:srgbClr val="000000"/>
                </a:solidFill>
                <a:latin typeface="宋体" panose="02010600030101010101" pitchFamily="2" charset="-122"/>
                <a:ea typeface="宋体" panose="02010600030101010101" pitchFamily="2" charset="-122"/>
              </a:rPr>
              <a:t>M</a:t>
            </a:r>
            <a:r>
              <a:rPr kumimoji="1" lang="en-US" altLang="zh-CN" sz="2400" b="1" baseline="30000" dirty="0">
                <a:solidFill>
                  <a:srgbClr val="000000"/>
                </a:solidFill>
                <a:latin typeface="宋体" panose="02010600030101010101" pitchFamily="2" charset="-122"/>
                <a:ea typeface="宋体" panose="02010600030101010101" pitchFamily="2" charset="-122"/>
              </a:rPr>
              <a:t>+</a:t>
            </a:r>
            <a:r>
              <a:rPr kumimoji="1" lang="en-US" altLang="zh-CN" sz="2400" b="1" dirty="0">
                <a:solidFill>
                  <a:srgbClr val="000000"/>
                </a:solidFill>
                <a:latin typeface="宋体" panose="02010600030101010101" pitchFamily="2" charset="-122"/>
                <a:ea typeface="宋体" panose="02010600030101010101" pitchFamily="2" charset="-122"/>
              </a:rPr>
              <a:t>X</a:t>
            </a:r>
            <a:r>
              <a:rPr kumimoji="1" lang="en-US" altLang="zh-CN" sz="2400" b="1" baseline="30000" dirty="0">
                <a:solidFill>
                  <a:srgbClr val="000000"/>
                </a:solidFill>
                <a:latin typeface="宋体" panose="02010600030101010101" pitchFamily="2" charset="-122"/>
                <a:ea typeface="宋体" panose="02010600030101010101" pitchFamily="2" charset="-122"/>
              </a:rPr>
              <a:t>-</a:t>
            </a:r>
            <a:r>
              <a:rPr kumimoji="1" lang="zh-CN" altLang="en-US" sz="2400" b="1" dirty="0">
                <a:solidFill>
                  <a:srgbClr val="000000"/>
                </a:solidFill>
                <a:latin typeface="宋体" panose="02010600030101010101" pitchFamily="2" charset="-122"/>
                <a:ea typeface="宋体" panose="02010600030101010101" pitchFamily="2" charset="-122"/>
              </a:rPr>
              <a:t>中的空位缺陷，在正离子空位处形成负电中心，从而可以束缚一个空穴，起到受主作用。</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处于间隙的正负离子也可以起到相似的作用。</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216013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对象 1"/>
          <p:cNvGraphicFramePr>
            <a:graphicFrameLocks noChangeAspect="1"/>
          </p:cNvGraphicFramePr>
          <p:nvPr/>
        </p:nvGraphicFramePr>
        <p:xfrm>
          <a:off x="827088" y="3500438"/>
          <a:ext cx="7489825" cy="1741487"/>
        </p:xfrm>
        <a:graphic>
          <a:graphicData uri="http://schemas.openxmlformats.org/presentationml/2006/ole">
            <mc:AlternateContent xmlns:mc="http://schemas.openxmlformats.org/markup-compatibility/2006">
              <mc:Choice xmlns:v="urn:schemas-microsoft-com:vml" Requires="v">
                <p:oleObj name="Equation" r:id="rId3" imgW="2997000" imgH="698400" progId="Equation.DSMT4">
                  <p:embed/>
                </p:oleObj>
              </mc:Choice>
              <mc:Fallback>
                <p:oleObj name="Equation" r:id="rId3" imgW="2997000" imgH="698400" progId="Equation.DSMT4">
                  <p:embed/>
                  <p:pic>
                    <p:nvPicPr>
                      <p:cNvPr id="52226"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500438"/>
                        <a:ext cx="7489825" cy="1741487"/>
                      </a:xfrm>
                      <a:prstGeom prst="rect">
                        <a:avLst/>
                      </a:prstGeom>
                      <a:solidFill>
                        <a:srgbClr val="FFFFFF"/>
                      </a:solidFill>
                    </p:spPr>
                  </p:pic>
                </p:oleObj>
              </mc:Fallback>
            </mc:AlternateContent>
          </a:graphicData>
        </a:graphic>
      </p:graphicFrame>
      <p:graphicFrame>
        <p:nvGraphicFramePr>
          <p:cNvPr id="52227" name="对象 2"/>
          <p:cNvGraphicFramePr>
            <a:graphicFrameLocks noChangeAspect="1"/>
          </p:cNvGraphicFramePr>
          <p:nvPr/>
        </p:nvGraphicFramePr>
        <p:xfrm>
          <a:off x="681038" y="5157788"/>
          <a:ext cx="8027987" cy="1203325"/>
        </p:xfrm>
        <a:graphic>
          <a:graphicData uri="http://schemas.openxmlformats.org/presentationml/2006/ole">
            <mc:AlternateContent xmlns:mc="http://schemas.openxmlformats.org/markup-compatibility/2006">
              <mc:Choice xmlns:v="urn:schemas-microsoft-com:vml" Requires="v">
                <p:oleObj name="Equation" r:id="rId5" imgW="3213000" imgH="482400" progId="Equation.DSMT4">
                  <p:embed/>
                </p:oleObj>
              </mc:Choice>
              <mc:Fallback>
                <p:oleObj name="Equation" r:id="rId5" imgW="3213000" imgH="482400" progId="Equation.DSMT4">
                  <p:embed/>
                  <p:pic>
                    <p:nvPicPr>
                      <p:cNvPr id="52227"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038" y="5157788"/>
                        <a:ext cx="8027987" cy="1203325"/>
                      </a:xfrm>
                      <a:prstGeom prst="rect">
                        <a:avLst/>
                      </a:prstGeom>
                      <a:solidFill>
                        <a:srgbClr val="FFFFFF"/>
                      </a:solidFill>
                    </p:spPr>
                  </p:pic>
                </p:oleObj>
              </mc:Fallback>
            </mc:AlternateContent>
          </a:graphicData>
        </a:graphic>
      </p:graphicFrame>
      <p:sp>
        <p:nvSpPr>
          <p:cNvPr id="52228" name="Text Box 2"/>
          <p:cNvSpPr txBox="1">
            <a:spLocks noChangeArrowheads="1"/>
          </p:cNvSpPr>
          <p:nvPr/>
        </p:nvSpPr>
        <p:spPr bwMode="auto">
          <a:xfrm>
            <a:off x="539750" y="1257654"/>
            <a:ext cx="3455988" cy="523220"/>
          </a:xfrm>
          <a:prstGeom prst="rect">
            <a:avLst/>
          </a:prstGeom>
          <a:noFill/>
          <a:ln w="12700" cap="sq">
            <a:noFill/>
            <a:miter lim="800000"/>
            <a:headEnd type="none" w="sm" len="sm"/>
            <a:tailEnd type="none" w="sm" len="sm"/>
          </a:ln>
          <a:effectLst/>
        </p:spPr>
        <p:txBody>
          <a:bodyPr wrap="square">
            <a:spAutoFit/>
          </a:bodyPr>
          <a:lstStyle/>
          <a:p>
            <a:pPr>
              <a:spcBef>
                <a:spcPct val="50000"/>
              </a:spcBef>
              <a:buFont typeface="Wingdings" pitchFamily="2" charset="2"/>
              <a:buNone/>
            </a:pPr>
            <a:r>
              <a:rPr kumimoji="1" lang="zh-CN" altLang="en-US" sz="2800" dirty="0">
                <a:solidFill>
                  <a:srgbClr val="FF3300"/>
                </a:solidFill>
                <a:latin typeface="Times New Roman" pitchFamily="18" charset="0"/>
                <a:ea typeface="宋体" charset="-122"/>
              </a:rPr>
              <a:t>（</a:t>
            </a:r>
            <a:r>
              <a:rPr kumimoji="1" lang="en-US" altLang="zh-CN" sz="2800" dirty="0">
                <a:solidFill>
                  <a:srgbClr val="FF3300"/>
                </a:solidFill>
                <a:latin typeface="Times New Roman" pitchFamily="18" charset="0"/>
                <a:ea typeface="宋体" charset="-122"/>
              </a:rPr>
              <a:t>1</a:t>
            </a:r>
            <a:r>
              <a:rPr kumimoji="1" lang="zh-CN" altLang="en-US" sz="2800" dirty="0">
                <a:solidFill>
                  <a:srgbClr val="FF3300"/>
                </a:solidFill>
                <a:latin typeface="Times New Roman" pitchFamily="18" charset="0"/>
                <a:ea typeface="宋体" charset="-122"/>
              </a:rPr>
              <a:t>）低温弱电离区</a:t>
            </a:r>
          </a:p>
        </p:txBody>
      </p:sp>
      <p:sp>
        <p:nvSpPr>
          <p:cNvPr id="52229" name="Text Box 4"/>
          <p:cNvSpPr txBox="1">
            <a:spLocks noChangeArrowheads="1"/>
          </p:cNvSpPr>
          <p:nvPr/>
        </p:nvSpPr>
        <p:spPr bwMode="auto">
          <a:xfrm>
            <a:off x="539750" y="1989138"/>
            <a:ext cx="7920038" cy="904875"/>
          </a:xfrm>
          <a:prstGeom prst="rect">
            <a:avLst/>
          </a:prstGeom>
          <a:noFill/>
          <a:ln w="12700" cap="sq">
            <a:noFill/>
            <a:miter lim="800000"/>
            <a:headEnd type="none" w="sm" len="sm"/>
            <a:tailEnd type="none" w="sm" len="sm"/>
          </a:ln>
          <a:effectLst/>
        </p:spPr>
        <p:txBody>
          <a:bodyPr>
            <a:spAutoFit/>
          </a:bodyPr>
          <a:lstStyle/>
          <a:p>
            <a:pPr>
              <a:lnSpc>
                <a:spcPct val="110000"/>
              </a:lnSpc>
              <a:spcBef>
                <a:spcPct val="50000"/>
              </a:spcBef>
            </a:pPr>
            <a:r>
              <a:rPr kumimoji="1" lang="zh-CN" altLang="en-US" sz="2400" dirty="0">
                <a:latin typeface="Times New Roman" pitchFamily="18" charset="0"/>
                <a:ea typeface="宋体" charset="-122"/>
              </a:rPr>
              <a:t>只有少数施主杂质能级的电子电离进入导带，大部分杂质没有电离，因此，</a:t>
            </a:r>
            <a:r>
              <a:rPr kumimoji="1" lang="zh-CN" altLang="en-US" sz="2400" dirty="0">
                <a:solidFill>
                  <a:srgbClr val="FF3300"/>
                </a:solidFill>
                <a:latin typeface="Times New Roman" pitchFamily="18" charset="0"/>
                <a:ea typeface="宋体" charset="-122"/>
              </a:rPr>
              <a:t>费米能级在施主能级之上</a:t>
            </a:r>
            <a:r>
              <a:rPr kumimoji="1" lang="zh-CN" altLang="en-US" sz="2400" dirty="0">
                <a:latin typeface="Times New Roman" pitchFamily="18" charset="0"/>
                <a:ea typeface="宋体" charset="-122"/>
              </a:rPr>
              <a:t>。</a:t>
            </a:r>
          </a:p>
        </p:txBody>
      </p:sp>
      <p:sp>
        <p:nvSpPr>
          <p:cNvPr id="52230" name="Text Box 5"/>
          <p:cNvSpPr txBox="1">
            <a:spLocks noChangeArrowheads="1"/>
          </p:cNvSpPr>
          <p:nvPr/>
        </p:nvSpPr>
        <p:spPr bwMode="auto">
          <a:xfrm>
            <a:off x="885825" y="2978150"/>
            <a:ext cx="30480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a:latin typeface="Times New Roman" pitchFamily="18" charset="0"/>
                <a:ea typeface="宋体" charset="-122"/>
              </a:rPr>
              <a:t>电中性条件简化为：</a:t>
            </a:r>
          </a:p>
        </p:txBody>
      </p:sp>
      <p:graphicFrame>
        <p:nvGraphicFramePr>
          <p:cNvPr id="52232" name="Object 9"/>
          <p:cNvGraphicFramePr>
            <a:graphicFrameLocks noChangeAspect="1"/>
          </p:cNvGraphicFramePr>
          <p:nvPr/>
        </p:nvGraphicFramePr>
        <p:xfrm>
          <a:off x="3995738" y="2879725"/>
          <a:ext cx="2665412" cy="601663"/>
        </p:xfrm>
        <a:graphic>
          <a:graphicData uri="http://schemas.openxmlformats.org/presentationml/2006/ole">
            <mc:AlternateContent xmlns:mc="http://schemas.openxmlformats.org/markup-compatibility/2006">
              <mc:Choice xmlns:v="urn:schemas-microsoft-com:vml" Requires="v">
                <p:oleObj name="Equation" r:id="rId7" imgW="1066800" imgH="241300" progId="Equation.DSMT4">
                  <p:embed/>
                </p:oleObj>
              </mc:Choice>
              <mc:Fallback>
                <p:oleObj name="Equation" r:id="rId7" imgW="1066800" imgH="241300" progId="Equation.DSMT4">
                  <p:embed/>
                  <p:pic>
                    <p:nvPicPr>
                      <p:cNvPr id="52232"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5738" y="2879725"/>
                        <a:ext cx="2665412" cy="601663"/>
                      </a:xfrm>
                      <a:prstGeom prst="rect">
                        <a:avLst/>
                      </a:prstGeom>
                      <a:solidFill>
                        <a:srgbClr val="FFFFFF"/>
                      </a:solidFill>
                    </p:spPr>
                  </p:pic>
                </p:oleObj>
              </mc:Fallback>
            </mc:AlternateContent>
          </a:graphicData>
        </a:graphic>
      </p:graphicFrame>
      <p:sp>
        <p:nvSpPr>
          <p:cNvPr id="9" name="灯片编号占位符 8"/>
          <p:cNvSpPr>
            <a:spLocks noGrp="1"/>
          </p:cNvSpPr>
          <p:nvPr>
            <p:ph type="sldNum" sz="quarter" idx="12"/>
          </p:nvPr>
        </p:nvSpPr>
        <p:spPr/>
        <p:txBody>
          <a:bodyPr/>
          <a:lstStyle/>
          <a:p>
            <a:pPr>
              <a:defRPr/>
            </a:pPr>
            <a:fld id="{7B8E1D45-D5D4-43C7-AA50-0DEC171C56E7}" type="slidenum">
              <a:rPr lang="zh-CN" altLang="en-US" smtClean="0"/>
              <a:pPr>
                <a:defRPr/>
              </a:pPr>
              <a:t>75</a:t>
            </a:fld>
            <a:endParaRPr lang="en-US" altLang="zh-CN"/>
          </a:p>
        </p:txBody>
      </p:sp>
      <p:sp>
        <p:nvSpPr>
          <p:cNvPr id="2" name="矩形 1"/>
          <p:cNvSpPr/>
          <p:nvPr/>
        </p:nvSpPr>
        <p:spPr>
          <a:xfrm>
            <a:off x="539750" y="375633"/>
            <a:ext cx="4152099" cy="523220"/>
          </a:xfrm>
          <a:prstGeom prst="rect">
            <a:avLst/>
          </a:prstGeom>
        </p:spPr>
        <p:txBody>
          <a:bodyPr wrap="none">
            <a:spAutoFit/>
          </a:bodyPr>
          <a:lstStyle/>
          <a:p>
            <a:pPr algn="just">
              <a:spcBef>
                <a:spcPct val="50000"/>
              </a:spcBef>
              <a:defRPr/>
            </a:pPr>
            <a:r>
              <a:rPr kumimoji="1" lang="zh-CN" altLang="en-US" sz="2800" b="1" dirty="0">
                <a:solidFill>
                  <a:srgbClr val="FF0000"/>
                </a:solidFill>
                <a:latin typeface="Times New Roman" pitchFamily="18" charset="0"/>
                <a:ea typeface="宋体" charset="-122"/>
              </a:rPr>
              <a:t>费米能级的温度依赖关系</a:t>
            </a:r>
          </a:p>
        </p:txBody>
      </p:sp>
    </p:spTree>
    <p:extLst>
      <p:ext uri="{BB962C8B-B14F-4D97-AF65-F5344CB8AC3E}">
        <p14:creationId xmlns:p14="http://schemas.microsoft.com/office/powerpoint/2010/main" val="17425090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561975" y="127660"/>
            <a:ext cx="4747444" cy="523220"/>
          </a:xfrm>
          <a:prstGeom prst="rect">
            <a:avLst/>
          </a:prstGeom>
          <a:noFill/>
          <a:ln w="12700" cap="sq">
            <a:noFill/>
            <a:miter lim="800000"/>
            <a:headEnd type="none" w="sm" len="sm"/>
            <a:tailEnd type="none" w="sm" len="sm"/>
          </a:ln>
          <a:effectLst/>
        </p:spPr>
        <p:txBody>
          <a:bodyPr wrap="square">
            <a:spAutoFit/>
          </a:bodyPr>
          <a:lstStyle/>
          <a:p>
            <a:pPr>
              <a:spcBef>
                <a:spcPct val="50000"/>
              </a:spcBef>
              <a:buFont typeface="Wingdings" pitchFamily="2" charset="2"/>
              <a:buNone/>
            </a:pPr>
            <a:r>
              <a:rPr kumimoji="1" lang="zh-CN" altLang="en-US" sz="2800" dirty="0">
                <a:solidFill>
                  <a:srgbClr val="FF3300"/>
                </a:solidFill>
                <a:latin typeface="Times New Roman" pitchFamily="18" charset="0"/>
                <a:ea typeface="宋体" charset="-122"/>
              </a:rPr>
              <a:t>（</a:t>
            </a:r>
            <a:r>
              <a:rPr kumimoji="1" lang="en-US" altLang="zh-CN" sz="2800" dirty="0">
                <a:solidFill>
                  <a:srgbClr val="FF3300"/>
                </a:solidFill>
                <a:latin typeface="Times New Roman" pitchFamily="18" charset="0"/>
                <a:ea typeface="宋体" charset="-122"/>
              </a:rPr>
              <a:t>2</a:t>
            </a:r>
            <a:r>
              <a:rPr kumimoji="1" lang="zh-CN" altLang="en-US" sz="2800" dirty="0">
                <a:solidFill>
                  <a:srgbClr val="FF3300"/>
                </a:solidFill>
                <a:latin typeface="Times New Roman" pitchFamily="18" charset="0"/>
                <a:ea typeface="宋体" charset="-122"/>
              </a:rPr>
              <a:t>）中等电离和强电离区</a:t>
            </a:r>
          </a:p>
        </p:txBody>
      </p:sp>
      <p:sp>
        <p:nvSpPr>
          <p:cNvPr id="54275" name="Text Box 3"/>
          <p:cNvSpPr txBox="1">
            <a:spLocks noChangeArrowheads="1"/>
          </p:cNvSpPr>
          <p:nvPr/>
        </p:nvSpPr>
        <p:spPr bwMode="auto">
          <a:xfrm>
            <a:off x="539750" y="691278"/>
            <a:ext cx="6840538"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sz="2400" i="1">
                <a:latin typeface="Times New Roman" pitchFamily="18" charset="0"/>
                <a:ea typeface="宋体" charset="-122"/>
              </a:rPr>
              <a:t>E</a:t>
            </a:r>
            <a:r>
              <a:rPr kumimoji="1" lang="en-US" altLang="zh-CN" sz="2400" i="1" baseline="-25000">
                <a:latin typeface="Times New Roman" pitchFamily="18" charset="0"/>
                <a:ea typeface="宋体" charset="-122"/>
              </a:rPr>
              <a:t>F </a:t>
            </a:r>
            <a:r>
              <a:rPr kumimoji="1" lang="zh-CN" altLang="en-US" sz="2400">
                <a:latin typeface="Times New Roman" pitchFamily="18" charset="0"/>
                <a:ea typeface="宋体" charset="-122"/>
              </a:rPr>
              <a:t>接近 </a:t>
            </a:r>
            <a:r>
              <a:rPr kumimoji="1" lang="en-US" altLang="zh-CN" sz="2400" i="1">
                <a:latin typeface="Times New Roman" pitchFamily="18" charset="0"/>
                <a:ea typeface="宋体" charset="-122"/>
              </a:rPr>
              <a:t>E</a:t>
            </a:r>
            <a:r>
              <a:rPr kumimoji="1" lang="en-US" altLang="zh-CN" sz="2400" i="1" baseline="-25000">
                <a:latin typeface="Times New Roman" pitchFamily="18" charset="0"/>
                <a:ea typeface="宋体" charset="-122"/>
              </a:rPr>
              <a:t>D </a:t>
            </a:r>
            <a:r>
              <a:rPr kumimoji="1" lang="zh-CN" altLang="en-US" sz="2400">
                <a:latin typeface="Times New Roman" pitchFamily="18" charset="0"/>
                <a:ea typeface="宋体" charset="-122"/>
              </a:rPr>
              <a:t>的中等电离和 </a:t>
            </a:r>
            <a:r>
              <a:rPr kumimoji="1" lang="en-US" altLang="zh-CN" sz="2400" i="1">
                <a:latin typeface="Times New Roman" pitchFamily="18" charset="0"/>
                <a:ea typeface="宋体" charset="-122"/>
              </a:rPr>
              <a:t>E</a:t>
            </a:r>
            <a:r>
              <a:rPr kumimoji="1" lang="en-US" altLang="zh-CN" sz="2400" i="1" baseline="-25000">
                <a:latin typeface="Times New Roman" pitchFamily="18" charset="0"/>
                <a:ea typeface="宋体" charset="-122"/>
              </a:rPr>
              <a:t>F </a:t>
            </a:r>
            <a:r>
              <a:rPr kumimoji="1" lang="zh-CN" altLang="en-US" sz="2400">
                <a:latin typeface="Times New Roman" pitchFamily="18" charset="0"/>
                <a:ea typeface="宋体" charset="-122"/>
              </a:rPr>
              <a:t>在 </a:t>
            </a:r>
            <a:r>
              <a:rPr kumimoji="1" lang="en-US" altLang="zh-CN" sz="2400" i="1">
                <a:latin typeface="Times New Roman" pitchFamily="18" charset="0"/>
                <a:ea typeface="宋体" charset="-122"/>
              </a:rPr>
              <a:t>E</a:t>
            </a:r>
            <a:r>
              <a:rPr kumimoji="1" lang="en-US" altLang="zh-CN" sz="2400" i="1" baseline="-25000">
                <a:latin typeface="Times New Roman" pitchFamily="18" charset="0"/>
                <a:ea typeface="宋体" charset="-122"/>
              </a:rPr>
              <a:t>D </a:t>
            </a:r>
            <a:r>
              <a:rPr kumimoji="1" lang="zh-CN" altLang="en-US" sz="2400">
                <a:latin typeface="Times New Roman" pitchFamily="18" charset="0"/>
                <a:ea typeface="宋体" charset="-122"/>
              </a:rPr>
              <a:t>以下的强电离</a:t>
            </a:r>
          </a:p>
        </p:txBody>
      </p:sp>
      <p:sp>
        <p:nvSpPr>
          <p:cNvPr id="54276" name="Rectangle 4"/>
          <p:cNvSpPr>
            <a:spLocks noChangeArrowheads="1"/>
          </p:cNvSpPr>
          <p:nvPr/>
        </p:nvSpPr>
        <p:spPr bwMode="auto">
          <a:xfrm>
            <a:off x="539750" y="1410415"/>
            <a:ext cx="2041525" cy="461963"/>
          </a:xfrm>
          <a:prstGeom prst="rect">
            <a:avLst/>
          </a:prstGeom>
          <a:noFill/>
          <a:ln w="76200" cap="sq" cmpd="tri">
            <a:solidFill>
              <a:srgbClr val="FF6600"/>
            </a:solidFill>
            <a:miter lim="800000"/>
            <a:headEnd type="none" w="sm" len="sm"/>
            <a:tailEnd type="none" w="sm" len="sm"/>
          </a:ln>
          <a:effectLst/>
        </p:spPr>
        <p:txBody>
          <a:bodyPr wrap="none">
            <a:spAutoFit/>
          </a:bodyPr>
          <a:lstStyle/>
          <a:p>
            <a:r>
              <a:rPr kumimoji="1" lang="zh-CN" altLang="en-US" sz="2400">
                <a:solidFill>
                  <a:srgbClr val="FF3300"/>
                </a:solidFill>
                <a:latin typeface="Times New Roman" pitchFamily="18" charset="0"/>
                <a:ea typeface="宋体" charset="-122"/>
              </a:rPr>
              <a:t>电中性条件：</a:t>
            </a:r>
          </a:p>
        </p:txBody>
      </p:sp>
      <p:graphicFrame>
        <p:nvGraphicFramePr>
          <p:cNvPr id="54277" name="Object 5"/>
          <p:cNvGraphicFramePr>
            <a:graphicFrameLocks noChangeAspect="1"/>
          </p:cNvGraphicFramePr>
          <p:nvPr/>
        </p:nvGraphicFramePr>
        <p:xfrm>
          <a:off x="539749" y="3330670"/>
          <a:ext cx="3937000" cy="1147762"/>
        </p:xfrm>
        <a:graphic>
          <a:graphicData uri="http://schemas.openxmlformats.org/presentationml/2006/ole">
            <mc:AlternateContent xmlns:mc="http://schemas.openxmlformats.org/markup-compatibility/2006">
              <mc:Choice xmlns:v="urn:schemas-microsoft-com:vml" Requires="v">
                <p:oleObj name="Equation" r:id="rId3" imgW="1930400" imgH="558800" progId="Equation.DSMT4">
                  <p:embed/>
                </p:oleObj>
              </mc:Choice>
              <mc:Fallback>
                <p:oleObj name="Equation" r:id="rId3" imgW="1930400" imgH="558800" progId="Equation.DSMT4">
                  <p:embed/>
                  <p:pic>
                    <p:nvPicPr>
                      <p:cNvPr id="5427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49" y="3330670"/>
                        <a:ext cx="3937000" cy="1147762"/>
                      </a:xfrm>
                      <a:prstGeom prst="rect">
                        <a:avLst/>
                      </a:prstGeom>
                      <a:solidFill>
                        <a:srgbClr val="FFFFFF"/>
                      </a:solidFill>
                    </p:spPr>
                  </p:pic>
                </p:oleObj>
              </mc:Fallback>
            </mc:AlternateContent>
          </a:graphicData>
        </a:graphic>
      </p:graphicFrame>
      <p:graphicFrame>
        <p:nvGraphicFramePr>
          <p:cNvPr id="54278" name="Object 6"/>
          <p:cNvGraphicFramePr>
            <a:graphicFrameLocks noChangeAspect="1"/>
          </p:cNvGraphicFramePr>
          <p:nvPr/>
        </p:nvGraphicFramePr>
        <p:xfrm>
          <a:off x="5383213" y="3325554"/>
          <a:ext cx="3292475" cy="1071563"/>
        </p:xfrm>
        <a:graphic>
          <a:graphicData uri="http://schemas.openxmlformats.org/presentationml/2006/ole">
            <mc:AlternateContent xmlns:mc="http://schemas.openxmlformats.org/markup-compatibility/2006">
              <mc:Choice xmlns:v="urn:schemas-microsoft-com:vml" Requires="v">
                <p:oleObj name="Equation" r:id="rId5" imgW="1651000" imgH="533400" progId="Equation.3">
                  <p:embed/>
                </p:oleObj>
              </mc:Choice>
              <mc:Fallback>
                <p:oleObj name="Equation" r:id="rId5" imgW="1651000" imgH="533400" progId="Equation.3">
                  <p:embed/>
                  <p:pic>
                    <p:nvPicPr>
                      <p:cNvPr id="5427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3213" y="3325554"/>
                        <a:ext cx="3292475" cy="1071563"/>
                      </a:xfrm>
                      <a:prstGeom prst="rect">
                        <a:avLst/>
                      </a:prstGeom>
                      <a:solidFill>
                        <a:srgbClr val="FFFFFF"/>
                      </a:solidFill>
                    </p:spPr>
                  </p:pic>
                </p:oleObj>
              </mc:Fallback>
            </mc:AlternateContent>
          </a:graphicData>
        </a:graphic>
      </p:graphicFrame>
      <p:sp>
        <p:nvSpPr>
          <p:cNvPr id="54279" name="Text Box 7"/>
          <p:cNvSpPr txBox="1">
            <a:spLocks noChangeArrowheads="1"/>
          </p:cNvSpPr>
          <p:nvPr/>
        </p:nvSpPr>
        <p:spPr bwMode="auto">
          <a:xfrm>
            <a:off x="4545013" y="3673217"/>
            <a:ext cx="9906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a:latin typeface="Times New Roman" pitchFamily="18" charset="0"/>
                <a:ea typeface="宋体" charset="-122"/>
              </a:rPr>
              <a:t>其中</a:t>
            </a:r>
          </a:p>
        </p:txBody>
      </p:sp>
      <p:graphicFrame>
        <p:nvGraphicFramePr>
          <p:cNvPr id="54281" name="Object 9"/>
          <p:cNvGraphicFramePr>
            <a:graphicFrameLocks noChangeAspect="1"/>
          </p:cNvGraphicFramePr>
          <p:nvPr/>
        </p:nvGraphicFramePr>
        <p:xfrm>
          <a:off x="3086100" y="1372315"/>
          <a:ext cx="4297363" cy="503238"/>
        </p:xfrm>
        <a:graphic>
          <a:graphicData uri="http://schemas.openxmlformats.org/presentationml/2006/ole">
            <mc:AlternateContent xmlns:mc="http://schemas.openxmlformats.org/markup-compatibility/2006">
              <mc:Choice xmlns:v="urn:schemas-microsoft-com:vml" Requires="v">
                <p:oleObj name="Equation" r:id="rId7" imgW="1955800" imgH="228600" progId="Equation.3">
                  <p:embed/>
                </p:oleObj>
              </mc:Choice>
              <mc:Fallback>
                <p:oleObj name="Equation" r:id="rId7" imgW="1955800" imgH="228600" progId="Equation.3">
                  <p:embed/>
                  <p:pic>
                    <p:nvPicPr>
                      <p:cNvPr id="54281"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6100" y="1372315"/>
                        <a:ext cx="4297363" cy="503238"/>
                      </a:xfrm>
                      <a:prstGeom prst="rect">
                        <a:avLst/>
                      </a:prstGeom>
                      <a:solidFill>
                        <a:srgbClr val="FFFFFF"/>
                      </a:solidFill>
                      <a:ln>
                        <a:noFill/>
                      </a:ln>
                      <a:effectLst/>
                      <a:extLst>
                        <a:ext uri="{91240B29-F687-4F45-9708-019B960494DF}">
                          <a14:hiddenLine xmlns:a14="http://schemas.microsoft.com/office/drawing/2010/main" w="12700" cap="sq">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CC00"/>
                              </a:outerShdw>
                            </a:effectLst>
                          </a14:hiddenEffects>
                        </a:ext>
                      </a:extLst>
                    </p:spPr>
                  </p:pic>
                </p:oleObj>
              </mc:Fallback>
            </mc:AlternateContent>
          </a:graphicData>
        </a:graphic>
      </p:graphicFrame>
      <p:graphicFrame>
        <p:nvGraphicFramePr>
          <p:cNvPr id="54282" name="Object 10"/>
          <p:cNvGraphicFramePr>
            <a:graphicFrameLocks noChangeAspect="1"/>
          </p:cNvGraphicFramePr>
          <p:nvPr/>
        </p:nvGraphicFramePr>
        <p:xfrm>
          <a:off x="2935288" y="1940640"/>
          <a:ext cx="5021262" cy="1433513"/>
        </p:xfrm>
        <a:graphic>
          <a:graphicData uri="http://schemas.openxmlformats.org/presentationml/2006/ole">
            <mc:AlternateContent xmlns:mc="http://schemas.openxmlformats.org/markup-compatibility/2006">
              <mc:Choice xmlns:v="urn:schemas-microsoft-com:vml" Requires="v">
                <p:oleObj name="Equation" r:id="rId9" imgW="2324100" imgH="660400" progId="Equation.DSMT4">
                  <p:embed/>
                </p:oleObj>
              </mc:Choice>
              <mc:Fallback>
                <p:oleObj name="Equation" r:id="rId9" imgW="2324100" imgH="660400" progId="Equation.DSMT4">
                  <p:embed/>
                  <p:pic>
                    <p:nvPicPr>
                      <p:cNvPr id="54282"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35288" y="1940640"/>
                        <a:ext cx="5021262" cy="1433513"/>
                      </a:xfrm>
                      <a:prstGeom prst="rect">
                        <a:avLst/>
                      </a:prstGeom>
                      <a:solidFill>
                        <a:srgbClr val="FFFFFF"/>
                      </a:solidFill>
                    </p:spPr>
                  </p:pic>
                </p:oleObj>
              </mc:Fallback>
            </mc:AlternateContent>
          </a:graphicData>
        </a:graphic>
      </p:graphicFrame>
      <p:sp>
        <p:nvSpPr>
          <p:cNvPr id="54283" name="Text Box 11"/>
          <p:cNvSpPr txBox="1">
            <a:spLocks noChangeArrowheads="1"/>
          </p:cNvSpPr>
          <p:nvPr/>
        </p:nvSpPr>
        <p:spPr bwMode="auto">
          <a:xfrm>
            <a:off x="561975" y="2999856"/>
            <a:ext cx="1219200" cy="457200"/>
          </a:xfrm>
          <a:prstGeom prst="rect">
            <a:avLst/>
          </a:prstGeom>
          <a:noFill/>
          <a:ln w="12700" cap="sq">
            <a:noFill/>
            <a:miter lim="800000"/>
            <a:headEnd/>
            <a:tailEnd/>
          </a:ln>
          <a:effectLst/>
        </p:spPr>
        <p:txBody>
          <a:bodyPr>
            <a:spAutoFit/>
          </a:bodyPr>
          <a:lstStyle/>
          <a:p>
            <a:pPr>
              <a:spcBef>
                <a:spcPct val="50000"/>
              </a:spcBef>
            </a:pPr>
            <a:r>
              <a:rPr kumimoji="1" lang="zh-CN" altLang="en-US" sz="2400" dirty="0">
                <a:latin typeface="Times New Roman" pitchFamily="18" charset="0"/>
                <a:ea typeface="宋体" charset="-122"/>
              </a:rPr>
              <a:t>可得：</a:t>
            </a:r>
          </a:p>
        </p:txBody>
      </p:sp>
      <p:sp>
        <p:nvSpPr>
          <p:cNvPr id="54284" name="Text Box 12"/>
          <p:cNvSpPr txBox="1">
            <a:spLocks noChangeArrowheads="1"/>
          </p:cNvSpPr>
          <p:nvPr/>
        </p:nvSpPr>
        <p:spPr bwMode="auto">
          <a:xfrm>
            <a:off x="1481138" y="2159715"/>
            <a:ext cx="1219200" cy="457200"/>
          </a:xfrm>
          <a:prstGeom prst="rect">
            <a:avLst/>
          </a:prstGeom>
          <a:noFill/>
          <a:ln w="12700" cap="sq">
            <a:noFill/>
            <a:miter lim="800000"/>
            <a:headEnd/>
            <a:tailEnd/>
          </a:ln>
          <a:effectLst/>
        </p:spPr>
        <p:txBody>
          <a:bodyPr>
            <a:spAutoFit/>
          </a:bodyPr>
          <a:lstStyle/>
          <a:p>
            <a:pPr>
              <a:spcBef>
                <a:spcPct val="50000"/>
              </a:spcBef>
            </a:pPr>
            <a:r>
              <a:rPr kumimoji="1" lang="zh-CN" altLang="en-US" sz="2400">
                <a:latin typeface="Times New Roman" pitchFamily="18" charset="0"/>
                <a:ea typeface="宋体" charset="-122"/>
              </a:rPr>
              <a:t>此时：</a:t>
            </a:r>
          </a:p>
        </p:txBody>
      </p:sp>
      <p:sp>
        <p:nvSpPr>
          <p:cNvPr id="13" name="灯片编号占位符 12"/>
          <p:cNvSpPr>
            <a:spLocks noGrp="1"/>
          </p:cNvSpPr>
          <p:nvPr>
            <p:ph type="sldNum" sz="quarter" idx="12"/>
          </p:nvPr>
        </p:nvSpPr>
        <p:spPr/>
        <p:txBody>
          <a:bodyPr/>
          <a:lstStyle/>
          <a:p>
            <a:pPr>
              <a:defRPr/>
            </a:pPr>
            <a:fld id="{7B8E1D45-D5D4-43C7-AA50-0DEC171C56E7}" type="slidenum">
              <a:rPr lang="zh-CN" altLang="en-US" smtClean="0"/>
              <a:pPr>
                <a:defRPr/>
              </a:pPr>
              <a:t>76</a:t>
            </a:fld>
            <a:endParaRPr lang="en-US" altLang="zh-CN"/>
          </a:p>
        </p:txBody>
      </p:sp>
      <p:sp>
        <p:nvSpPr>
          <p:cNvPr id="15" name="Text Box 2"/>
          <p:cNvSpPr txBox="1">
            <a:spLocks noChangeArrowheads="1"/>
          </p:cNvSpPr>
          <p:nvPr/>
        </p:nvSpPr>
        <p:spPr bwMode="auto">
          <a:xfrm>
            <a:off x="549581" y="4537028"/>
            <a:ext cx="3137515" cy="523220"/>
          </a:xfrm>
          <a:prstGeom prst="rect">
            <a:avLst/>
          </a:prstGeom>
          <a:noFill/>
          <a:ln w="12700" cap="sq">
            <a:noFill/>
            <a:miter lim="800000"/>
            <a:headEnd type="none" w="sm" len="sm"/>
            <a:tailEnd type="none" w="sm" len="sm"/>
          </a:ln>
          <a:effectLst/>
        </p:spPr>
        <p:txBody>
          <a:bodyPr wrap="square">
            <a:spAutoFit/>
          </a:bodyPr>
          <a:lstStyle/>
          <a:p>
            <a:pPr>
              <a:spcBef>
                <a:spcPct val="50000"/>
              </a:spcBef>
              <a:buFont typeface="Wingdings" pitchFamily="2" charset="2"/>
              <a:buNone/>
            </a:pPr>
            <a:r>
              <a:rPr kumimoji="1" lang="zh-CN" altLang="en-US" sz="2800" dirty="0">
                <a:solidFill>
                  <a:srgbClr val="FF3300"/>
                </a:solidFill>
                <a:latin typeface="Times New Roman" pitchFamily="18" charset="0"/>
                <a:ea typeface="宋体" charset="-122"/>
              </a:rPr>
              <a:t>（</a:t>
            </a:r>
            <a:r>
              <a:rPr kumimoji="1" lang="en-US" altLang="zh-CN" sz="2800" dirty="0">
                <a:solidFill>
                  <a:srgbClr val="FF3300"/>
                </a:solidFill>
                <a:latin typeface="Times New Roman" pitchFamily="18" charset="0"/>
                <a:ea typeface="宋体" charset="-122"/>
              </a:rPr>
              <a:t>3</a:t>
            </a:r>
            <a:r>
              <a:rPr kumimoji="1" lang="zh-CN" altLang="en-US" sz="2800" dirty="0">
                <a:solidFill>
                  <a:srgbClr val="FF3300"/>
                </a:solidFill>
                <a:latin typeface="Times New Roman" pitchFamily="18" charset="0"/>
                <a:ea typeface="宋体" charset="-122"/>
              </a:rPr>
              <a:t>）完全电离</a:t>
            </a:r>
          </a:p>
        </p:txBody>
      </p:sp>
      <p:sp>
        <p:nvSpPr>
          <p:cNvPr id="16" name="Text Box 3"/>
          <p:cNvSpPr txBox="1">
            <a:spLocks noChangeArrowheads="1"/>
          </p:cNvSpPr>
          <p:nvPr/>
        </p:nvSpPr>
        <p:spPr bwMode="auto">
          <a:xfrm>
            <a:off x="1117907" y="5073603"/>
            <a:ext cx="6005513"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a:latin typeface="Times New Roman" pitchFamily="18" charset="0"/>
                <a:ea typeface="宋体" charset="-122"/>
              </a:rPr>
              <a:t>杂质全部电离的情形（此时 </a:t>
            </a:r>
            <a:r>
              <a:rPr kumimoji="1" lang="en-US" altLang="zh-CN" sz="2400" i="1">
                <a:latin typeface="Times New Roman" pitchFamily="18" charset="0"/>
                <a:ea typeface="宋体" charset="-122"/>
              </a:rPr>
              <a:t>E</a:t>
            </a:r>
            <a:r>
              <a:rPr kumimoji="1" lang="en-US" altLang="zh-CN" sz="2400" i="1" baseline="-25000">
                <a:latin typeface="Times New Roman" pitchFamily="18" charset="0"/>
                <a:ea typeface="宋体" charset="-122"/>
              </a:rPr>
              <a:t>f</a:t>
            </a:r>
            <a:r>
              <a:rPr kumimoji="1" lang="en-US" altLang="zh-CN" sz="2400">
                <a:latin typeface="Times New Roman" pitchFamily="18" charset="0"/>
                <a:ea typeface="宋体" charset="-122"/>
              </a:rPr>
              <a:t>&lt;</a:t>
            </a:r>
            <a:r>
              <a:rPr kumimoji="1" lang="en-US" altLang="zh-CN" sz="2400" i="1">
                <a:latin typeface="Times New Roman" pitchFamily="18" charset="0"/>
                <a:ea typeface="宋体" charset="-122"/>
              </a:rPr>
              <a:t>E</a:t>
            </a:r>
            <a:r>
              <a:rPr kumimoji="1" lang="en-US" altLang="zh-CN" sz="2400" i="1" baseline="-25000">
                <a:latin typeface="Times New Roman" pitchFamily="18" charset="0"/>
                <a:ea typeface="宋体" charset="-122"/>
              </a:rPr>
              <a:t>D</a:t>
            </a:r>
            <a:r>
              <a:rPr kumimoji="1" lang="zh-CN" altLang="en-US" sz="2400">
                <a:latin typeface="Times New Roman" pitchFamily="18" charset="0"/>
                <a:ea typeface="宋体" charset="-122"/>
              </a:rPr>
              <a:t>），即：</a:t>
            </a:r>
          </a:p>
        </p:txBody>
      </p:sp>
      <p:graphicFrame>
        <p:nvGraphicFramePr>
          <p:cNvPr id="18" name="Object 10"/>
          <p:cNvGraphicFramePr>
            <a:graphicFrameLocks noChangeAspect="1"/>
          </p:cNvGraphicFramePr>
          <p:nvPr/>
        </p:nvGraphicFramePr>
        <p:xfrm>
          <a:off x="539749" y="5749703"/>
          <a:ext cx="2828925" cy="661988"/>
        </p:xfrm>
        <a:graphic>
          <a:graphicData uri="http://schemas.openxmlformats.org/presentationml/2006/ole">
            <mc:AlternateContent xmlns:mc="http://schemas.openxmlformats.org/markup-compatibility/2006">
              <mc:Choice xmlns:v="urn:schemas-microsoft-com:vml" Requires="v">
                <p:oleObj name="Equation" r:id="rId11" imgW="1079032" imgH="253890" progId="Equation.DSMT4">
                  <p:embed/>
                </p:oleObj>
              </mc:Choice>
              <mc:Fallback>
                <p:oleObj name="Equation" r:id="rId11" imgW="1079032" imgH="253890" progId="Equation.DSMT4">
                  <p:embed/>
                  <p:pic>
                    <p:nvPicPr>
                      <p:cNvPr id="18"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749" y="5749703"/>
                        <a:ext cx="2828925" cy="661988"/>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对象 1"/>
          <p:cNvGraphicFramePr>
            <a:graphicFrameLocks noChangeAspect="1"/>
          </p:cNvGraphicFramePr>
          <p:nvPr/>
        </p:nvGraphicFramePr>
        <p:xfrm>
          <a:off x="7123420" y="5027756"/>
          <a:ext cx="1231900" cy="596900"/>
        </p:xfrm>
        <a:graphic>
          <a:graphicData uri="http://schemas.openxmlformats.org/presentationml/2006/ole">
            <mc:AlternateContent xmlns:mc="http://schemas.openxmlformats.org/markup-compatibility/2006">
              <mc:Choice xmlns:v="urn:schemas-microsoft-com:vml" Requires="v">
                <p:oleObj name="Equation" r:id="rId13" imgW="469800" imgH="228600" progId="Equation.DSMT4">
                  <p:embed/>
                </p:oleObj>
              </mc:Choice>
              <mc:Fallback>
                <p:oleObj name="Equation" r:id="rId13" imgW="469800" imgH="228600" progId="Equation.DSMT4">
                  <p:embed/>
                  <p:pic>
                    <p:nvPicPr>
                      <p:cNvPr id="20" name="对象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23420" y="5027756"/>
                        <a:ext cx="1231900" cy="59690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7"/>
          <p:cNvGraphicFramePr>
            <a:graphicFrameLocks noChangeAspect="1"/>
          </p:cNvGraphicFramePr>
          <p:nvPr/>
        </p:nvGraphicFramePr>
        <p:xfrm>
          <a:off x="5535613" y="5662612"/>
          <a:ext cx="2981325" cy="1027113"/>
        </p:xfrm>
        <a:graphic>
          <a:graphicData uri="http://schemas.openxmlformats.org/presentationml/2006/ole">
            <mc:AlternateContent xmlns:mc="http://schemas.openxmlformats.org/markup-compatibility/2006">
              <mc:Choice xmlns:v="urn:schemas-microsoft-com:vml" Requires="v">
                <p:oleObj name="Equation" r:id="rId15" imgW="1409088" imgH="482391" progId="Equation.DSMT4">
                  <p:embed/>
                </p:oleObj>
              </mc:Choice>
              <mc:Fallback>
                <p:oleObj name="Equation" r:id="rId15" imgW="1409088" imgH="482391" progId="Equation.DSMT4">
                  <p:embed/>
                  <p:pic>
                    <p:nvPicPr>
                      <p:cNvPr id="21"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35613" y="5662612"/>
                        <a:ext cx="2981325" cy="1027113"/>
                      </a:xfrm>
                      <a:prstGeom prst="rect">
                        <a:avLst/>
                      </a:prstGeom>
                      <a:solidFill>
                        <a:srgbClr val="FFFFFF"/>
                      </a:solidFill>
                    </p:spPr>
                  </p:pic>
                </p:oleObj>
              </mc:Fallback>
            </mc:AlternateContent>
          </a:graphicData>
        </a:graphic>
      </p:graphicFrame>
      <p:sp>
        <p:nvSpPr>
          <p:cNvPr id="22" name="Text Box 12"/>
          <p:cNvSpPr txBox="1">
            <a:spLocks noChangeArrowheads="1"/>
          </p:cNvSpPr>
          <p:nvPr/>
        </p:nvSpPr>
        <p:spPr bwMode="auto">
          <a:xfrm>
            <a:off x="3462338" y="5905500"/>
            <a:ext cx="15240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a:latin typeface="Times New Roman" pitchFamily="18" charset="0"/>
                <a:ea typeface="宋体" charset="-122"/>
              </a:rPr>
              <a:t>可求得：</a:t>
            </a:r>
          </a:p>
        </p:txBody>
      </p:sp>
    </p:spTree>
    <p:extLst>
      <p:ext uri="{BB962C8B-B14F-4D97-AF65-F5344CB8AC3E}">
        <p14:creationId xmlns:p14="http://schemas.microsoft.com/office/powerpoint/2010/main" val="31038560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Text Box 5"/>
          <p:cNvSpPr txBox="1">
            <a:spLocks noChangeArrowheads="1"/>
          </p:cNvSpPr>
          <p:nvPr/>
        </p:nvSpPr>
        <p:spPr bwMode="auto">
          <a:xfrm>
            <a:off x="971600" y="334156"/>
            <a:ext cx="4104456" cy="461665"/>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kumimoji="1" lang="zh-CN" altLang="en-US" sz="2400" dirty="0">
                <a:latin typeface="Times New Roman" pitchFamily="18" charset="0"/>
                <a:ea typeface="宋体" charset="-122"/>
              </a:rPr>
              <a:t>随温度上升， </a:t>
            </a:r>
            <a:r>
              <a:rPr kumimoji="1" lang="zh-CN" altLang="en-US" sz="2400" i="1" dirty="0">
                <a:latin typeface="Times New Roman" pitchFamily="18" charset="0"/>
                <a:ea typeface="宋体" charset="-122"/>
                <a:sym typeface="Symbol"/>
              </a:rPr>
              <a:t></a:t>
            </a:r>
            <a:r>
              <a:rPr kumimoji="1" lang="zh-CN" altLang="en-US" sz="2400" i="1" dirty="0">
                <a:latin typeface="Times New Roman" pitchFamily="18" charset="0"/>
                <a:ea typeface="宋体" charset="-122"/>
              </a:rPr>
              <a:t> </a:t>
            </a:r>
            <a:r>
              <a:rPr kumimoji="1" lang="zh-CN" altLang="en-US" sz="2400" dirty="0">
                <a:latin typeface="Times New Roman" pitchFamily="18" charset="0"/>
                <a:ea typeface="宋体" charset="-122"/>
              </a:rPr>
              <a:t>增加。</a:t>
            </a:r>
          </a:p>
        </p:txBody>
      </p:sp>
      <p:graphicFrame>
        <p:nvGraphicFramePr>
          <p:cNvPr id="55301" name="Object 6"/>
          <p:cNvGraphicFramePr>
            <a:graphicFrameLocks noChangeAspect="1"/>
          </p:cNvGraphicFramePr>
          <p:nvPr/>
        </p:nvGraphicFramePr>
        <p:xfrm>
          <a:off x="2632075" y="982228"/>
          <a:ext cx="936625" cy="442912"/>
        </p:xfrm>
        <a:graphic>
          <a:graphicData uri="http://schemas.openxmlformats.org/presentationml/2006/ole">
            <mc:AlternateContent xmlns:mc="http://schemas.openxmlformats.org/markup-compatibility/2006">
              <mc:Choice xmlns:v="urn:schemas-microsoft-com:vml" Requires="v">
                <p:oleObj name="Equation" r:id="rId3" imgW="431613" imgH="203112" progId="Equation.3">
                  <p:embed/>
                </p:oleObj>
              </mc:Choice>
              <mc:Fallback>
                <p:oleObj name="Equation" r:id="rId3" imgW="431613" imgH="203112" progId="Equation.3">
                  <p:embed/>
                  <p:pic>
                    <p:nvPicPr>
                      <p:cNvPr id="55301"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2075" y="982228"/>
                        <a:ext cx="936625" cy="442912"/>
                      </a:xfrm>
                      <a:prstGeom prst="rect">
                        <a:avLst/>
                      </a:prstGeom>
                      <a:solidFill>
                        <a:srgbClr val="FFFFFF"/>
                      </a:solidFill>
                    </p:spPr>
                  </p:pic>
                </p:oleObj>
              </mc:Fallback>
            </mc:AlternateContent>
          </a:graphicData>
        </a:graphic>
      </p:graphicFrame>
      <p:sp>
        <p:nvSpPr>
          <p:cNvPr id="55303" name="Rectangle 9"/>
          <p:cNvSpPr>
            <a:spLocks noChangeArrowheads="1"/>
          </p:cNvSpPr>
          <p:nvPr/>
        </p:nvSpPr>
        <p:spPr bwMode="auto">
          <a:xfrm>
            <a:off x="811437" y="1763551"/>
            <a:ext cx="7416824" cy="830997"/>
          </a:xfrm>
          <a:prstGeom prst="rect">
            <a:avLst/>
          </a:prstGeom>
          <a:noFill/>
          <a:ln w="12700" cap="sq">
            <a:noFill/>
            <a:miter lim="800000"/>
            <a:headEnd type="none" w="sm" len="sm"/>
            <a:tailEnd type="none" w="sm" len="sm"/>
          </a:ln>
          <a:effectLst/>
        </p:spPr>
        <p:txBody>
          <a:bodyPr wrap="square">
            <a:spAutoFit/>
          </a:bodyPr>
          <a:lstStyle/>
          <a:p>
            <a:r>
              <a:rPr kumimoji="1" lang="en-US" altLang="zh-CN" sz="2400" i="1" dirty="0" err="1">
                <a:latin typeface="Times New Roman" pitchFamily="18" charset="0"/>
                <a:ea typeface="宋体" charset="-122"/>
              </a:rPr>
              <a:t>E</a:t>
            </a:r>
            <a:r>
              <a:rPr kumimoji="1" lang="en-US" altLang="zh-CN" sz="2400" i="1" baseline="-25000" dirty="0" err="1">
                <a:latin typeface="Times New Roman" pitchFamily="18" charset="0"/>
                <a:ea typeface="宋体" charset="-122"/>
              </a:rPr>
              <a:t>f</a:t>
            </a:r>
            <a:r>
              <a:rPr kumimoji="1" lang="en-US" altLang="zh-CN" sz="2400" i="1" baseline="-25000" dirty="0">
                <a:latin typeface="Times New Roman" pitchFamily="18" charset="0"/>
                <a:ea typeface="宋体" charset="-122"/>
              </a:rPr>
              <a:t> </a:t>
            </a:r>
            <a:r>
              <a:rPr kumimoji="1" lang="zh-CN" altLang="en-US" sz="2400" dirty="0">
                <a:latin typeface="Times New Roman" pitchFamily="18" charset="0"/>
                <a:ea typeface="宋体" charset="-122"/>
              </a:rPr>
              <a:t>在</a:t>
            </a:r>
            <a:r>
              <a:rPr kumimoji="1" lang="en-US" altLang="zh-CN" sz="2400" i="1" dirty="0">
                <a:latin typeface="Times New Roman" pitchFamily="18" charset="0"/>
                <a:ea typeface="宋体" charset="-122"/>
              </a:rPr>
              <a:t>E</a:t>
            </a:r>
            <a:r>
              <a:rPr kumimoji="1" lang="en-US" altLang="zh-CN" sz="2400" i="1" baseline="-25000" dirty="0">
                <a:latin typeface="Times New Roman" pitchFamily="18" charset="0"/>
                <a:ea typeface="宋体" charset="-122"/>
              </a:rPr>
              <a:t>D</a:t>
            </a:r>
            <a:r>
              <a:rPr kumimoji="1" lang="zh-CN" altLang="en-US" sz="2400" dirty="0">
                <a:latin typeface="Times New Roman" pitchFamily="18" charset="0"/>
                <a:ea typeface="宋体" charset="-122"/>
              </a:rPr>
              <a:t>以下，对应于杂质能级上的电子强电离情形，随温度上升而下降</a:t>
            </a:r>
          </a:p>
        </p:txBody>
      </p:sp>
      <p:graphicFrame>
        <p:nvGraphicFramePr>
          <p:cNvPr id="55306" name="Object 13"/>
          <p:cNvGraphicFramePr>
            <a:graphicFrameLocks noChangeAspect="1"/>
          </p:cNvGraphicFramePr>
          <p:nvPr/>
        </p:nvGraphicFramePr>
        <p:xfrm>
          <a:off x="4283968" y="694196"/>
          <a:ext cx="3149600" cy="982663"/>
        </p:xfrm>
        <a:graphic>
          <a:graphicData uri="http://schemas.openxmlformats.org/presentationml/2006/ole">
            <mc:AlternateContent xmlns:mc="http://schemas.openxmlformats.org/markup-compatibility/2006">
              <mc:Choice xmlns:v="urn:schemas-microsoft-com:vml" Requires="v">
                <p:oleObj name="Equation" r:id="rId5" imgW="1473120" imgH="457200" progId="Equation.DSMT4">
                  <p:embed/>
                </p:oleObj>
              </mc:Choice>
              <mc:Fallback>
                <p:oleObj name="Equation" r:id="rId5" imgW="1473120" imgH="457200" progId="Equation.DSMT4">
                  <p:embed/>
                  <p:pic>
                    <p:nvPicPr>
                      <p:cNvPr id="55306"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3968" y="694196"/>
                        <a:ext cx="3149600" cy="982663"/>
                      </a:xfrm>
                      <a:prstGeom prst="rect">
                        <a:avLst/>
                      </a:prstGeom>
                      <a:solidFill>
                        <a:srgbClr val="FFFFFF"/>
                      </a:solidFill>
                    </p:spPr>
                  </p:pic>
                </p:oleObj>
              </mc:Fallback>
            </mc:AlternateContent>
          </a:graphicData>
        </a:graphic>
      </p:graphicFrame>
      <p:sp>
        <p:nvSpPr>
          <p:cNvPr id="13" name="灯片编号占位符 12"/>
          <p:cNvSpPr>
            <a:spLocks noGrp="1"/>
          </p:cNvSpPr>
          <p:nvPr>
            <p:ph type="sldNum" sz="quarter" idx="12"/>
          </p:nvPr>
        </p:nvSpPr>
        <p:spPr/>
        <p:txBody>
          <a:bodyPr/>
          <a:lstStyle/>
          <a:p>
            <a:pPr>
              <a:defRPr/>
            </a:pPr>
            <a:fld id="{7B8E1D45-D5D4-43C7-AA50-0DEC171C56E7}" type="slidenum">
              <a:rPr lang="zh-CN" altLang="en-US" smtClean="0"/>
              <a:pPr>
                <a:defRPr/>
              </a:pPr>
              <a:t>77</a:t>
            </a:fld>
            <a:endParaRPr lang="en-US" altLang="zh-CN"/>
          </a:p>
        </p:txBody>
      </p:sp>
      <p:sp>
        <p:nvSpPr>
          <p:cNvPr id="2" name="TextBox 1"/>
          <p:cNvSpPr txBox="1"/>
          <p:nvPr/>
        </p:nvSpPr>
        <p:spPr>
          <a:xfrm>
            <a:off x="1756147" y="982228"/>
            <a:ext cx="871637" cy="461665"/>
          </a:xfrm>
          <a:prstGeom prst="rect">
            <a:avLst/>
          </a:prstGeom>
          <a:noFill/>
        </p:spPr>
        <p:txBody>
          <a:bodyPr wrap="square" rtlCol="0">
            <a:spAutoFit/>
          </a:bodyPr>
          <a:lstStyle/>
          <a:p>
            <a:r>
              <a:rPr lang="zh-CN" altLang="en-US" sz="2400" dirty="0"/>
              <a:t>当</a:t>
            </a:r>
          </a:p>
        </p:txBody>
      </p:sp>
      <p:sp>
        <p:nvSpPr>
          <p:cNvPr id="16" name="Text Box 2"/>
          <p:cNvSpPr txBox="1">
            <a:spLocks noChangeArrowheads="1"/>
          </p:cNvSpPr>
          <p:nvPr/>
        </p:nvSpPr>
        <p:spPr bwMode="auto">
          <a:xfrm>
            <a:off x="634653" y="2886227"/>
            <a:ext cx="2438400" cy="519112"/>
          </a:xfrm>
          <a:prstGeom prst="rect">
            <a:avLst/>
          </a:prstGeom>
          <a:noFill/>
          <a:ln w="12700" cap="sq">
            <a:noFill/>
            <a:miter lim="800000"/>
            <a:headEnd type="none" w="sm" len="sm"/>
            <a:tailEnd type="none" w="sm" len="sm"/>
          </a:ln>
          <a:effectLst/>
        </p:spPr>
        <p:txBody>
          <a:bodyPr>
            <a:spAutoFit/>
          </a:bodyPr>
          <a:lstStyle/>
          <a:p>
            <a:pPr>
              <a:spcBef>
                <a:spcPct val="50000"/>
              </a:spcBef>
              <a:buFont typeface="Wingdings" pitchFamily="2" charset="2"/>
              <a:buNone/>
            </a:pPr>
            <a:r>
              <a:rPr kumimoji="1" lang="zh-CN" altLang="en-US" sz="2800" dirty="0">
                <a:solidFill>
                  <a:srgbClr val="FF3300"/>
                </a:solidFill>
                <a:latin typeface="Times New Roman" pitchFamily="18" charset="0"/>
                <a:ea typeface="宋体" charset="-122"/>
              </a:rPr>
              <a:t>（</a:t>
            </a:r>
            <a:r>
              <a:rPr kumimoji="1" lang="en-US" altLang="zh-CN" sz="2800" dirty="0">
                <a:solidFill>
                  <a:srgbClr val="FF3300"/>
                </a:solidFill>
                <a:latin typeface="Times New Roman" pitchFamily="18" charset="0"/>
                <a:ea typeface="宋体" charset="-122"/>
              </a:rPr>
              <a:t>4</a:t>
            </a:r>
            <a:r>
              <a:rPr kumimoji="1" lang="zh-CN" altLang="en-US" sz="2800" dirty="0">
                <a:solidFill>
                  <a:srgbClr val="FF3300"/>
                </a:solidFill>
                <a:latin typeface="Times New Roman" pitchFamily="18" charset="0"/>
                <a:ea typeface="宋体" charset="-122"/>
              </a:rPr>
              <a:t>）过渡区</a:t>
            </a:r>
          </a:p>
        </p:txBody>
      </p:sp>
      <p:sp>
        <p:nvSpPr>
          <p:cNvPr id="17" name="Text Box 3"/>
          <p:cNvSpPr txBox="1">
            <a:spLocks noChangeArrowheads="1"/>
          </p:cNvSpPr>
          <p:nvPr/>
        </p:nvSpPr>
        <p:spPr bwMode="auto">
          <a:xfrm>
            <a:off x="265471" y="3435502"/>
            <a:ext cx="8426245" cy="461665"/>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kumimoji="1" lang="zh-CN" altLang="en-US" sz="2400" dirty="0">
                <a:latin typeface="Times New Roman" pitchFamily="18" charset="0"/>
                <a:ea typeface="宋体" charset="-122"/>
              </a:rPr>
              <a:t>杂质全部电离，但随温度增加，空穴浓度增加，电中性条件为：</a:t>
            </a:r>
          </a:p>
        </p:txBody>
      </p:sp>
      <p:sp>
        <p:nvSpPr>
          <p:cNvPr id="18" name="Text Box 4"/>
          <p:cNvSpPr txBox="1">
            <a:spLocks noChangeArrowheads="1"/>
          </p:cNvSpPr>
          <p:nvPr/>
        </p:nvSpPr>
        <p:spPr bwMode="auto">
          <a:xfrm>
            <a:off x="1032247" y="4051155"/>
            <a:ext cx="1447800" cy="457200"/>
          </a:xfrm>
          <a:prstGeom prst="rect">
            <a:avLst/>
          </a:prstGeom>
          <a:solidFill>
            <a:srgbClr val="FFFFFF"/>
          </a:solidFill>
          <a:ln w="12700" cap="sq">
            <a:noFill/>
            <a:miter lim="800000"/>
            <a:headEnd type="none" w="sm" len="sm"/>
            <a:tailEnd type="none" w="sm" len="sm"/>
          </a:ln>
          <a:effectLst/>
        </p:spPr>
        <p:txBody>
          <a:bodyPr>
            <a:spAutoFit/>
          </a:bodyPr>
          <a:lstStyle/>
          <a:p>
            <a:pPr>
              <a:spcBef>
                <a:spcPct val="50000"/>
              </a:spcBef>
            </a:pPr>
            <a:r>
              <a:rPr kumimoji="1" lang="en-US" altLang="zh-CN" sz="2400" i="1" dirty="0">
                <a:latin typeface="Times New Roman" pitchFamily="18" charset="0"/>
                <a:ea typeface="宋体" charset="-122"/>
              </a:rPr>
              <a:t>n=N</a:t>
            </a:r>
            <a:r>
              <a:rPr kumimoji="1" lang="en-US" altLang="zh-CN" sz="2400" i="1" baseline="-25000" dirty="0">
                <a:latin typeface="Times New Roman" pitchFamily="18" charset="0"/>
                <a:ea typeface="宋体" charset="-122"/>
              </a:rPr>
              <a:t>D</a:t>
            </a:r>
            <a:r>
              <a:rPr kumimoji="1" lang="zh-CN" altLang="en-US" sz="2400" dirty="0">
                <a:latin typeface="Times New Roman" pitchFamily="18" charset="0"/>
                <a:ea typeface="宋体" charset="-122"/>
              </a:rPr>
              <a:t>＋</a:t>
            </a:r>
            <a:r>
              <a:rPr kumimoji="1" lang="en-US" altLang="zh-CN" sz="2400" i="1" dirty="0">
                <a:latin typeface="Times New Roman" pitchFamily="18" charset="0"/>
                <a:ea typeface="宋体" charset="-122"/>
              </a:rPr>
              <a:t>p</a:t>
            </a:r>
          </a:p>
        </p:txBody>
      </p:sp>
      <p:sp>
        <p:nvSpPr>
          <p:cNvPr id="19" name="Text Box 5"/>
          <p:cNvSpPr txBox="1">
            <a:spLocks noChangeArrowheads="1"/>
          </p:cNvSpPr>
          <p:nvPr/>
        </p:nvSpPr>
        <p:spPr bwMode="auto">
          <a:xfrm>
            <a:off x="856903" y="5970261"/>
            <a:ext cx="3048000" cy="457200"/>
          </a:xfrm>
          <a:prstGeom prst="rect">
            <a:avLst/>
          </a:prstGeom>
          <a:noFill/>
          <a:ln w="12700" cap="sq">
            <a:noFill/>
            <a:miter lim="800000"/>
            <a:headEnd type="none" w="sm" len="sm"/>
            <a:tailEnd type="none" w="sm" len="sm"/>
          </a:ln>
          <a:effectLst/>
        </p:spPr>
        <p:txBody>
          <a:bodyPr>
            <a:spAutoFit/>
          </a:bodyPr>
          <a:lstStyle/>
          <a:p>
            <a:pPr>
              <a:spcBef>
                <a:spcPct val="50000"/>
              </a:spcBef>
            </a:pPr>
            <a:endParaRPr kumimoji="1" lang="zh-CN" altLang="en-US" sz="2400">
              <a:latin typeface="Times New Roman" pitchFamily="18" charset="0"/>
              <a:ea typeface="宋体" charset="-122"/>
            </a:endParaRPr>
          </a:p>
        </p:txBody>
      </p:sp>
      <p:sp>
        <p:nvSpPr>
          <p:cNvPr id="20" name="Rectangle 6"/>
          <p:cNvSpPr>
            <a:spLocks noChangeArrowheads="1"/>
          </p:cNvSpPr>
          <p:nvPr/>
        </p:nvSpPr>
        <p:spPr bwMode="auto">
          <a:xfrm>
            <a:off x="3860453" y="4071445"/>
            <a:ext cx="3771900" cy="457200"/>
          </a:xfrm>
          <a:prstGeom prst="rect">
            <a:avLst/>
          </a:prstGeom>
          <a:noFill/>
          <a:ln w="12700" cap="sq">
            <a:noFill/>
            <a:miter lim="800000"/>
            <a:headEnd type="none" w="sm" len="sm"/>
            <a:tailEnd type="none" w="sm" len="sm"/>
          </a:ln>
          <a:effectLst/>
        </p:spPr>
        <p:txBody>
          <a:bodyPr>
            <a:spAutoFit/>
          </a:bodyPr>
          <a:lstStyle/>
          <a:p>
            <a:r>
              <a:rPr kumimoji="1" lang="en-US" altLang="zh-CN" sz="2400" i="1">
                <a:latin typeface="Times New Roman" pitchFamily="18" charset="0"/>
                <a:ea typeface="宋体" charset="-122"/>
              </a:rPr>
              <a:t>E</a:t>
            </a:r>
            <a:r>
              <a:rPr kumimoji="1" lang="en-US" altLang="zh-CN" sz="2400" i="1" baseline="-25000">
                <a:latin typeface="Times New Roman" pitchFamily="18" charset="0"/>
                <a:ea typeface="宋体" charset="-122"/>
              </a:rPr>
              <a:t>f </a:t>
            </a:r>
            <a:r>
              <a:rPr kumimoji="1" lang="zh-CN" altLang="en-US" sz="2400">
                <a:latin typeface="Times New Roman" pitchFamily="18" charset="0"/>
                <a:ea typeface="宋体" charset="-122"/>
              </a:rPr>
              <a:t>向本征费米能级靠近。</a:t>
            </a:r>
          </a:p>
        </p:txBody>
      </p:sp>
      <p:sp>
        <p:nvSpPr>
          <p:cNvPr id="21" name="Text Box 7"/>
          <p:cNvSpPr txBox="1">
            <a:spLocks noChangeArrowheads="1"/>
          </p:cNvSpPr>
          <p:nvPr/>
        </p:nvSpPr>
        <p:spPr bwMode="auto">
          <a:xfrm>
            <a:off x="634652" y="5125711"/>
            <a:ext cx="3485063" cy="523220"/>
          </a:xfrm>
          <a:prstGeom prst="rect">
            <a:avLst/>
          </a:prstGeom>
          <a:noFill/>
          <a:ln w="12700" cap="sq">
            <a:noFill/>
            <a:miter lim="800000"/>
            <a:headEnd type="none" w="sm" len="sm"/>
            <a:tailEnd type="none" w="sm" len="sm"/>
          </a:ln>
          <a:effectLst/>
        </p:spPr>
        <p:txBody>
          <a:bodyPr wrap="square">
            <a:spAutoFit/>
          </a:bodyPr>
          <a:lstStyle/>
          <a:p>
            <a:pPr>
              <a:spcBef>
                <a:spcPct val="50000"/>
              </a:spcBef>
              <a:buFont typeface="Wingdings" pitchFamily="2" charset="2"/>
              <a:buNone/>
            </a:pPr>
            <a:r>
              <a:rPr kumimoji="1" lang="zh-CN" altLang="en-US" sz="2800" dirty="0">
                <a:solidFill>
                  <a:srgbClr val="FF3300"/>
                </a:solidFill>
                <a:latin typeface="Times New Roman" pitchFamily="18" charset="0"/>
                <a:ea typeface="宋体" charset="-122"/>
              </a:rPr>
              <a:t>（</a:t>
            </a:r>
            <a:r>
              <a:rPr kumimoji="1" lang="en-US" altLang="zh-CN" sz="2800" dirty="0">
                <a:solidFill>
                  <a:srgbClr val="FF3300"/>
                </a:solidFill>
                <a:latin typeface="Times New Roman" pitchFamily="18" charset="0"/>
                <a:ea typeface="宋体" charset="-122"/>
              </a:rPr>
              <a:t>5</a:t>
            </a:r>
            <a:r>
              <a:rPr kumimoji="1" lang="zh-CN" altLang="en-US" sz="2800" dirty="0">
                <a:solidFill>
                  <a:srgbClr val="FF3300"/>
                </a:solidFill>
                <a:latin typeface="Times New Roman" pitchFamily="18" charset="0"/>
                <a:ea typeface="宋体" charset="-122"/>
              </a:rPr>
              <a:t>）本征电离区</a:t>
            </a:r>
          </a:p>
        </p:txBody>
      </p:sp>
      <p:sp>
        <p:nvSpPr>
          <p:cNvPr id="22" name="Text Box 8"/>
          <p:cNvSpPr txBox="1">
            <a:spLocks noChangeArrowheads="1"/>
          </p:cNvSpPr>
          <p:nvPr/>
        </p:nvSpPr>
        <p:spPr bwMode="auto">
          <a:xfrm>
            <a:off x="1210916" y="5587673"/>
            <a:ext cx="5184775" cy="461963"/>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sz="2400">
                <a:latin typeface="Times New Roman" pitchFamily="18" charset="0"/>
                <a:ea typeface="宋体" charset="-122"/>
              </a:rPr>
              <a:t>本征载流子浓度远超过掺杂浓度：</a:t>
            </a:r>
          </a:p>
        </p:txBody>
      </p:sp>
      <p:sp>
        <p:nvSpPr>
          <p:cNvPr id="23" name="Text Box 9"/>
          <p:cNvSpPr txBox="1">
            <a:spLocks noChangeArrowheads="1"/>
          </p:cNvSpPr>
          <p:nvPr/>
        </p:nvSpPr>
        <p:spPr bwMode="auto">
          <a:xfrm>
            <a:off x="3730278" y="6148061"/>
            <a:ext cx="2016125" cy="461962"/>
          </a:xfrm>
          <a:prstGeom prst="rect">
            <a:avLst/>
          </a:prstGeom>
          <a:solidFill>
            <a:srgbClr val="FFFFFF"/>
          </a:solidFill>
          <a:ln w="12700" cap="sq">
            <a:noFill/>
            <a:miter lim="800000"/>
            <a:headEnd type="none" w="sm" len="sm"/>
            <a:tailEnd type="none" w="sm" len="sm"/>
          </a:ln>
          <a:effectLst/>
        </p:spPr>
        <p:txBody>
          <a:bodyPr>
            <a:spAutoFit/>
          </a:bodyPr>
          <a:lstStyle/>
          <a:p>
            <a:pPr>
              <a:spcBef>
                <a:spcPct val="50000"/>
              </a:spcBef>
            </a:pPr>
            <a:r>
              <a:rPr kumimoji="1" lang="en-US" altLang="zh-CN" sz="2400" i="1">
                <a:latin typeface="Times New Roman" pitchFamily="18" charset="0"/>
                <a:ea typeface="宋体" charset="-122"/>
              </a:rPr>
              <a:t>n=p=n</a:t>
            </a:r>
            <a:r>
              <a:rPr kumimoji="1" lang="en-US" altLang="zh-CN" sz="2400" i="1" baseline="-25000">
                <a:latin typeface="Times New Roman" pitchFamily="18" charset="0"/>
                <a:ea typeface="宋体" charset="-122"/>
              </a:rPr>
              <a:t>i</a:t>
            </a:r>
          </a:p>
        </p:txBody>
      </p:sp>
    </p:spTree>
    <p:extLst>
      <p:ext uri="{BB962C8B-B14F-4D97-AF65-F5344CB8AC3E}">
        <p14:creationId xmlns:p14="http://schemas.microsoft.com/office/powerpoint/2010/main" val="9674623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1439863" y="539750"/>
            <a:ext cx="6613525" cy="519113"/>
          </a:xfrm>
          <a:prstGeom prst="rect">
            <a:avLst/>
          </a:prstGeom>
          <a:noFill/>
          <a:ln w="12700" cap="sq">
            <a:noFill/>
            <a:miter lim="800000"/>
            <a:headEnd type="none" w="sm" len="sm"/>
            <a:tailEnd type="none" w="sm" len="sm"/>
          </a:ln>
          <a:effectLst/>
        </p:spPr>
        <p:txBody>
          <a:bodyPr wrap="none">
            <a:spAutoFit/>
          </a:bodyPr>
          <a:lstStyle/>
          <a:p>
            <a:pPr eaLnBrk="1" hangingPunct="1"/>
            <a:r>
              <a:rPr kumimoji="1" lang="zh-CN" altLang="en-US" sz="2800">
                <a:solidFill>
                  <a:srgbClr val="FF3300"/>
                </a:solidFill>
                <a:latin typeface="Times New Roman" pitchFamily="18" charset="0"/>
                <a:ea typeface="宋体" charset="-122"/>
              </a:rPr>
              <a:t>非本征半导体载流子浓度随温度变化关系</a:t>
            </a:r>
          </a:p>
        </p:txBody>
      </p:sp>
      <p:grpSp>
        <p:nvGrpSpPr>
          <p:cNvPr id="57347" name="Group 3"/>
          <p:cNvGrpSpPr>
            <a:grpSpLocks/>
          </p:cNvGrpSpPr>
          <p:nvPr/>
        </p:nvGrpSpPr>
        <p:grpSpPr bwMode="auto">
          <a:xfrm>
            <a:off x="319088" y="2057400"/>
            <a:ext cx="4495800" cy="3240088"/>
            <a:chOff x="480" y="1140"/>
            <a:chExt cx="4720" cy="1994"/>
          </a:xfrm>
        </p:grpSpPr>
        <p:graphicFrame>
          <p:nvGraphicFramePr>
            <p:cNvPr id="57349" name="Object 4"/>
            <p:cNvGraphicFramePr>
              <a:graphicFrameLocks noChangeAspect="1"/>
            </p:cNvGraphicFramePr>
            <p:nvPr/>
          </p:nvGraphicFramePr>
          <p:xfrm>
            <a:off x="480" y="1140"/>
            <a:ext cx="4720" cy="1994"/>
          </p:xfrm>
          <a:graphic>
            <a:graphicData uri="http://schemas.openxmlformats.org/presentationml/2006/ole">
              <mc:AlternateContent xmlns:mc="http://schemas.openxmlformats.org/markup-compatibility/2006">
                <mc:Choice xmlns:v="urn:schemas-microsoft-com:vml" Requires="v">
                  <p:oleObj name="BMP 图象" r:id="rId3" imgW="7621064" imgH="3219899" progId="PBrush">
                    <p:embed/>
                  </p:oleObj>
                </mc:Choice>
                <mc:Fallback>
                  <p:oleObj name="BMP 图象" r:id="rId3" imgW="7621064" imgH="3219899" progId="PBrush">
                    <p:embed/>
                    <p:pic>
                      <p:nvPicPr>
                        <p:cNvPr id="5734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 y="1140"/>
                          <a:ext cx="4720" cy="1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0" name="Oval 5"/>
            <p:cNvSpPr>
              <a:spLocks noChangeArrowheads="1"/>
            </p:cNvSpPr>
            <p:nvPr/>
          </p:nvSpPr>
          <p:spPr bwMode="auto">
            <a:xfrm>
              <a:off x="3186" y="1646"/>
              <a:ext cx="336" cy="240"/>
            </a:xfrm>
            <a:prstGeom prst="ellipse">
              <a:avLst/>
            </a:prstGeom>
            <a:noFill/>
            <a:ln w="19050" cap="sq">
              <a:solidFill>
                <a:srgbClr val="0099FF"/>
              </a:solidFill>
              <a:round/>
              <a:headEnd type="none" w="sm" len="sm"/>
              <a:tailEnd type="none" w="sm" len="sm"/>
            </a:ln>
            <a:effectLst/>
          </p:spPr>
          <p:txBody>
            <a:bodyPr wrap="none" anchor="ctr"/>
            <a:lstStyle/>
            <a:p>
              <a:endParaRPr lang="zh-CN" altLang="en-US">
                <a:ea typeface="宋体" charset="-122"/>
              </a:endParaRPr>
            </a:p>
          </p:txBody>
        </p:sp>
        <p:sp>
          <p:nvSpPr>
            <p:cNvPr id="57351" name="Oval 6"/>
            <p:cNvSpPr>
              <a:spLocks noChangeArrowheads="1"/>
            </p:cNvSpPr>
            <p:nvPr/>
          </p:nvSpPr>
          <p:spPr bwMode="auto">
            <a:xfrm>
              <a:off x="1584" y="1632"/>
              <a:ext cx="432" cy="240"/>
            </a:xfrm>
            <a:prstGeom prst="ellipse">
              <a:avLst/>
            </a:prstGeom>
            <a:noFill/>
            <a:ln w="19050" cap="sq">
              <a:solidFill>
                <a:srgbClr val="0099FF"/>
              </a:solidFill>
              <a:round/>
              <a:headEnd type="none" w="sm" len="sm"/>
              <a:tailEnd type="none" w="sm" len="sm"/>
            </a:ln>
            <a:effectLst/>
          </p:spPr>
          <p:txBody>
            <a:bodyPr wrap="none" anchor="ctr"/>
            <a:lstStyle/>
            <a:p>
              <a:endParaRPr lang="zh-CN" altLang="en-US">
                <a:ea typeface="宋体" charset="-122"/>
              </a:endParaRPr>
            </a:p>
          </p:txBody>
        </p:sp>
      </p:grpSp>
      <p:pic>
        <p:nvPicPr>
          <p:cNvPr id="57348" name="Picture 7"/>
          <p:cNvPicPr>
            <a:picLocks noChangeAspect="1" noChangeArrowheads="1"/>
          </p:cNvPicPr>
          <p:nvPr/>
        </p:nvPicPr>
        <p:blipFill>
          <a:blip r:embed="rId5" cstate="print"/>
          <a:srcRect/>
          <a:stretch>
            <a:fillRect/>
          </a:stretch>
        </p:blipFill>
        <p:spPr bwMode="auto">
          <a:xfrm>
            <a:off x="4932363" y="2060575"/>
            <a:ext cx="4024312" cy="3240088"/>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pPr>
              <a:defRPr/>
            </a:pPr>
            <a:fld id="{7B8E1D45-D5D4-43C7-AA50-0DEC171C56E7}" type="slidenum">
              <a:rPr lang="zh-CN" altLang="en-US" smtClean="0"/>
              <a:pPr>
                <a:defRPr/>
              </a:pPr>
              <a:t>78</a:t>
            </a:fld>
            <a:endParaRPr lang="en-US" altLang="zh-CN"/>
          </a:p>
        </p:txBody>
      </p:sp>
    </p:spTree>
    <p:extLst>
      <p:ext uri="{BB962C8B-B14F-4D97-AF65-F5344CB8AC3E}">
        <p14:creationId xmlns:p14="http://schemas.microsoft.com/office/powerpoint/2010/main" val="11760936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79</a:t>
            </a:fld>
            <a:endParaRPr lang="zh-CN" altLang="en-US"/>
          </a:p>
        </p:txBody>
      </p:sp>
      <p:sp>
        <p:nvSpPr>
          <p:cNvPr id="3" name="矩形 2"/>
          <p:cNvSpPr/>
          <p:nvPr/>
        </p:nvSpPr>
        <p:spPr>
          <a:xfrm>
            <a:off x="320343" y="280548"/>
            <a:ext cx="2603598"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3</a:t>
            </a:r>
            <a:r>
              <a:rPr kumimoji="1" lang="zh-CN" altLang="en-US" sz="2800" b="1" dirty="0">
                <a:solidFill>
                  <a:srgbClr val="D96227"/>
                </a:solidFill>
                <a:latin typeface="Times New Roman" pitchFamily="18" charset="0"/>
                <a:ea typeface="宋体" pitchFamily="2" charset="-122"/>
                <a:cs typeface="Times New Roman" pitchFamily="18" charset="0"/>
              </a:rPr>
              <a:t>、深能级杂质</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Text Box 1029"/>
          <p:cNvSpPr txBox="1">
            <a:spLocks noChangeArrowheads="1"/>
          </p:cNvSpPr>
          <p:nvPr/>
        </p:nvSpPr>
        <p:spPr bwMode="auto">
          <a:xfrm>
            <a:off x="320343" y="974430"/>
            <a:ext cx="8302041" cy="526297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en-US" altLang="zh-CN" sz="2400" b="1" dirty="0">
                <a:solidFill>
                  <a:srgbClr val="000000"/>
                </a:solidFill>
                <a:latin typeface="宋体" panose="02010600030101010101" pitchFamily="2" charset="-122"/>
                <a:ea typeface="宋体" panose="02010600030101010101" pitchFamily="2" charset="-122"/>
              </a:rPr>
              <a:t>Si</a:t>
            </a:r>
            <a:r>
              <a:rPr kumimoji="1" lang="zh-CN" altLang="en-US" sz="2400" b="1" dirty="0">
                <a:solidFill>
                  <a:srgbClr val="000000"/>
                </a:solidFill>
                <a:latin typeface="宋体" panose="02010600030101010101" pitchFamily="2" charset="-122"/>
                <a:ea typeface="宋体" panose="02010600030101010101" pitchFamily="2" charset="-122"/>
              </a:rPr>
              <a:t>中掺杂</a:t>
            </a:r>
            <a:r>
              <a:rPr kumimoji="1" lang="en-US" altLang="zh-CN" sz="2400" b="1" dirty="0">
                <a:solidFill>
                  <a:srgbClr val="000000"/>
                </a:solidFill>
                <a:latin typeface="宋体" panose="02010600030101010101" pitchFamily="2" charset="-122"/>
                <a:ea typeface="宋体" panose="02010600030101010101" pitchFamily="2" charset="-122"/>
              </a:rPr>
              <a:t>VI</a:t>
            </a:r>
            <a:r>
              <a:rPr kumimoji="1" lang="zh-CN" altLang="en-US" sz="2400" b="1" dirty="0">
                <a:solidFill>
                  <a:srgbClr val="000000"/>
                </a:solidFill>
                <a:latin typeface="宋体" panose="02010600030101010101" pitchFamily="2" charset="-122"/>
                <a:ea typeface="宋体" panose="02010600030101010101" pitchFamily="2" charset="-122"/>
              </a:rPr>
              <a:t>族元素时，将形成带两个单位电荷的正电中心，这是杂质将形成类似氦原子的情况。</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由于正电中心的作用力更强，因此对应的能级位置距离导带底更远，形成深能级。</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这时的杂质可以电离出两个电子，第一个电子电离时，由于第二个电子对正电中心有一定的屏蔽作用，因此第一个电子的电离能相对小一些；而第二个电子的电离能更大。这样，深能级杂质就形成了两个不同位置的缺陷能级。</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同理，掺杂</a:t>
            </a:r>
            <a:r>
              <a:rPr kumimoji="1" lang="en-US" altLang="zh-CN" sz="2400" b="1" dirty="0">
                <a:solidFill>
                  <a:srgbClr val="000000"/>
                </a:solidFill>
                <a:latin typeface="宋体" panose="02010600030101010101" pitchFamily="2" charset="-122"/>
                <a:ea typeface="宋体" panose="02010600030101010101" pitchFamily="2" charset="-122"/>
              </a:rPr>
              <a:t>VII</a:t>
            </a:r>
            <a:r>
              <a:rPr kumimoji="1" lang="zh-CN" altLang="en-US" sz="2400" b="1" dirty="0">
                <a:solidFill>
                  <a:srgbClr val="000000"/>
                </a:solidFill>
                <a:latin typeface="宋体" panose="02010600030101010101" pitchFamily="2" charset="-122"/>
                <a:ea typeface="宋体" panose="02010600030101010101" pitchFamily="2" charset="-122"/>
              </a:rPr>
              <a:t>族元素可以形成三个电子能级；掺杂</a:t>
            </a:r>
            <a:r>
              <a:rPr kumimoji="1" lang="en-US" altLang="zh-CN" sz="2400" b="1" dirty="0">
                <a:solidFill>
                  <a:srgbClr val="000000"/>
                </a:solidFill>
                <a:latin typeface="宋体" panose="02010600030101010101" pitchFamily="2" charset="-122"/>
                <a:ea typeface="宋体" panose="02010600030101010101" pitchFamily="2" charset="-122"/>
              </a:rPr>
              <a:t>II</a:t>
            </a:r>
            <a:r>
              <a:rPr kumimoji="1" lang="zh-CN" altLang="en-US" sz="2400" b="1" dirty="0">
                <a:solidFill>
                  <a:srgbClr val="000000"/>
                </a:solidFill>
                <a:latin typeface="宋体" panose="02010600030101010101" pitchFamily="2" charset="-122"/>
                <a:ea typeface="宋体" panose="02010600030101010101" pitchFamily="2" charset="-122"/>
              </a:rPr>
              <a:t>族元素可以形成两个空穴能级。</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实际情况更为复杂，而且存在能级进入能带，形成准束缚态的情况。</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3541538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80</a:t>
            </a:fld>
            <a:endParaRPr lang="zh-CN" altLang="en-US"/>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b="26062"/>
          <a:stretch>
            <a:fillRect/>
          </a:stretch>
        </p:blipFill>
        <p:spPr bwMode="auto">
          <a:xfrm>
            <a:off x="1892780" y="1101305"/>
            <a:ext cx="5322497" cy="430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
          <p:cNvSpPr txBox="1">
            <a:spLocks noChangeArrowheads="1"/>
          </p:cNvSpPr>
          <p:nvPr/>
        </p:nvSpPr>
        <p:spPr bwMode="auto">
          <a:xfrm>
            <a:off x="1010729" y="415505"/>
            <a:ext cx="708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zh-CN" altLang="en-US" sz="2400" b="1" dirty="0">
                <a:ea typeface="宋体" panose="02010600030101010101" pitchFamily="2" charset="-122"/>
              </a:rPr>
              <a:t>禁带中深能级杂质的作用：1）复合中心；2）陷阱</a:t>
            </a:r>
          </a:p>
        </p:txBody>
      </p:sp>
      <p:sp>
        <p:nvSpPr>
          <p:cNvPr id="5" name="Text Box 1029"/>
          <p:cNvSpPr txBox="1">
            <a:spLocks noChangeArrowheads="1"/>
          </p:cNvSpPr>
          <p:nvPr/>
        </p:nvSpPr>
        <p:spPr bwMode="auto">
          <a:xfrm>
            <a:off x="403007" y="5503300"/>
            <a:ext cx="8302041" cy="1200329"/>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对于化合物半导体，通常是离子键和共价键共存的情况，这时空位缺陷也可以产生类似的电荷中心。例如</a:t>
            </a:r>
            <a:r>
              <a:rPr kumimoji="1" lang="en-US" altLang="zh-CN" sz="2400" b="1" dirty="0" err="1">
                <a:solidFill>
                  <a:srgbClr val="000000"/>
                </a:solidFill>
                <a:latin typeface="宋体" panose="02010600030101010101" pitchFamily="2" charset="-122"/>
                <a:ea typeface="宋体" panose="02010600030101010101" pitchFamily="2" charset="-122"/>
              </a:rPr>
              <a:t>ZnO</a:t>
            </a:r>
            <a:r>
              <a:rPr kumimoji="1" lang="zh-CN" altLang="en-US" sz="2400" b="1" dirty="0">
                <a:solidFill>
                  <a:srgbClr val="000000"/>
                </a:solidFill>
                <a:latin typeface="宋体" panose="02010600030101010101" pitchFamily="2" charset="-122"/>
                <a:ea typeface="宋体" panose="02010600030101010101" pitchFamily="2" charset="-122"/>
              </a:rPr>
              <a:t>中的氧空位可以形成二重电子能级</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72511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81</a:t>
            </a:fld>
            <a:endParaRPr lang="zh-CN" altLang="en-US"/>
          </a:p>
        </p:txBody>
      </p:sp>
      <p:sp>
        <p:nvSpPr>
          <p:cNvPr id="4" name="矩形 3"/>
          <p:cNvSpPr/>
          <p:nvPr/>
        </p:nvSpPr>
        <p:spPr>
          <a:xfrm>
            <a:off x="320343" y="280548"/>
            <a:ext cx="2888932"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4</a:t>
            </a:r>
            <a:r>
              <a:rPr kumimoji="1" lang="zh-CN" altLang="en-US" sz="2800" b="1" dirty="0">
                <a:solidFill>
                  <a:srgbClr val="D96227"/>
                </a:solidFill>
                <a:latin typeface="Times New Roman" pitchFamily="18" charset="0"/>
                <a:ea typeface="宋体" pitchFamily="2" charset="-122"/>
                <a:cs typeface="Times New Roman" pitchFamily="18" charset="0"/>
              </a:rPr>
              <a:t>、重掺杂半导体</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cxnSp>
        <p:nvCxnSpPr>
          <p:cNvPr id="6" name="直接连接符 5"/>
          <p:cNvCxnSpPr/>
          <p:nvPr/>
        </p:nvCxnSpPr>
        <p:spPr>
          <a:xfrm flipV="1">
            <a:off x="824400" y="5218975"/>
            <a:ext cx="2674437" cy="172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824399" y="6182259"/>
            <a:ext cx="2674437" cy="172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824399" y="5477086"/>
            <a:ext cx="2625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1330482" y="5474213"/>
            <a:ext cx="2625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1802058" y="5479967"/>
            <a:ext cx="2625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227624" y="5474213"/>
            <a:ext cx="2625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733707" y="5471340"/>
            <a:ext cx="2625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3205283" y="5477094"/>
            <a:ext cx="2625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右箭头 14"/>
          <p:cNvSpPr/>
          <p:nvPr/>
        </p:nvSpPr>
        <p:spPr>
          <a:xfrm>
            <a:off x="3786997" y="5479967"/>
            <a:ext cx="457200" cy="2824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flipV="1">
            <a:off x="4694789" y="5201723"/>
            <a:ext cx="2674437" cy="172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4694788" y="6165007"/>
            <a:ext cx="2674437" cy="172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4694787" y="5592109"/>
            <a:ext cx="2674437" cy="172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4700541" y="5356324"/>
            <a:ext cx="2674437" cy="172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4689041" y="5517350"/>
            <a:ext cx="2674437" cy="17252"/>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4694796" y="5462720"/>
            <a:ext cx="2674437" cy="17252"/>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4694794" y="5402330"/>
            <a:ext cx="2674437" cy="17252"/>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9" name="Text Box 3"/>
          <p:cNvSpPr txBox="1">
            <a:spLocks noChangeArrowheads="1"/>
          </p:cNvSpPr>
          <p:nvPr/>
        </p:nvSpPr>
        <p:spPr bwMode="auto">
          <a:xfrm>
            <a:off x="7397983" y="5282910"/>
            <a:ext cx="162808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zh-CN" altLang="en-US" sz="2400" b="1" dirty="0">
                <a:ea typeface="宋体" panose="02010600030101010101" pitchFamily="2" charset="-122"/>
              </a:rPr>
              <a:t>杂质能带</a:t>
            </a:r>
          </a:p>
        </p:txBody>
      </p:sp>
      <p:sp>
        <p:nvSpPr>
          <p:cNvPr id="30" name="Text Box 3"/>
          <p:cNvSpPr txBox="1">
            <a:spLocks noChangeArrowheads="1"/>
          </p:cNvSpPr>
          <p:nvPr/>
        </p:nvSpPr>
        <p:spPr bwMode="auto">
          <a:xfrm>
            <a:off x="236221" y="4973123"/>
            <a:ext cx="162808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altLang="zh-CN" sz="2400" b="1" dirty="0" err="1">
                <a:ea typeface="宋体" panose="02010600030101010101" pitchFamily="2" charset="-122"/>
              </a:rPr>
              <a:t>Ec</a:t>
            </a:r>
            <a:endParaRPr lang="zh-CN" altLang="en-US" sz="2400" b="1" dirty="0">
              <a:ea typeface="宋体" panose="02010600030101010101" pitchFamily="2" charset="-122"/>
            </a:endParaRPr>
          </a:p>
        </p:txBody>
      </p:sp>
      <p:sp>
        <p:nvSpPr>
          <p:cNvPr id="31" name="Text Box 3"/>
          <p:cNvSpPr txBox="1">
            <a:spLocks noChangeArrowheads="1"/>
          </p:cNvSpPr>
          <p:nvPr/>
        </p:nvSpPr>
        <p:spPr bwMode="auto">
          <a:xfrm>
            <a:off x="272878" y="5953659"/>
            <a:ext cx="162808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altLang="zh-CN" sz="2400" b="1" dirty="0" err="1">
                <a:ea typeface="宋体" panose="02010600030101010101" pitchFamily="2" charset="-122"/>
              </a:rPr>
              <a:t>Ev</a:t>
            </a:r>
            <a:endParaRPr lang="zh-CN" altLang="en-US" sz="2400" b="1" dirty="0">
              <a:ea typeface="宋体" panose="02010600030101010101" pitchFamily="2" charset="-122"/>
            </a:endParaRPr>
          </a:p>
        </p:txBody>
      </p:sp>
      <p:sp>
        <p:nvSpPr>
          <p:cNvPr id="32" name="Text Box 1029"/>
          <p:cNvSpPr txBox="1">
            <a:spLocks noChangeArrowheads="1"/>
          </p:cNvSpPr>
          <p:nvPr/>
        </p:nvSpPr>
        <p:spPr bwMode="auto">
          <a:xfrm>
            <a:off x="320343" y="974430"/>
            <a:ext cx="8302041" cy="3600986"/>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当晶体中杂质浓度很低时，杂质之间平均距离较远（大于波尔半径），杂质能级中的电子处于束缚态。</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杂质浓度增加，相邻杂质的电子轨道发生交叠，形成扩展态，这时杂质能级将扩展成为一个新能带，这个能带位于禁带中。</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根据紧束缚近似的结论，杂质浓度越高，平均距离越近，能带扩展得越宽，直到杂质能带与晶体能带发生交叠，这时可以等效为禁带宽度减小。这种情况称为简并半导体。</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简并情况对应的掺杂浓度一般在</a:t>
            </a:r>
            <a:r>
              <a:rPr kumimoji="1" lang="en-US" altLang="zh-CN" sz="2400" b="1" dirty="0">
                <a:solidFill>
                  <a:srgbClr val="000000"/>
                </a:solidFill>
                <a:latin typeface="宋体" panose="02010600030101010101" pitchFamily="2" charset="-122"/>
                <a:ea typeface="宋体" panose="02010600030101010101" pitchFamily="2" charset="-122"/>
              </a:rPr>
              <a:t>10</a:t>
            </a:r>
            <a:r>
              <a:rPr kumimoji="1" lang="en-US" altLang="zh-CN" sz="2400" b="1" baseline="30000" dirty="0">
                <a:solidFill>
                  <a:srgbClr val="000000"/>
                </a:solidFill>
                <a:latin typeface="宋体" panose="02010600030101010101" pitchFamily="2" charset="-122"/>
                <a:ea typeface="宋体" panose="02010600030101010101" pitchFamily="2" charset="-122"/>
              </a:rPr>
              <a:t>18</a:t>
            </a:r>
            <a:r>
              <a:rPr kumimoji="1" lang="en-US" altLang="zh-CN" sz="2400" b="1" dirty="0">
                <a:solidFill>
                  <a:srgbClr val="000000"/>
                </a:solidFill>
                <a:latin typeface="宋体" panose="02010600030101010101" pitchFamily="2" charset="-122"/>
                <a:ea typeface="宋体" panose="02010600030101010101" pitchFamily="2" charset="-122"/>
              </a:rPr>
              <a:t>cm</a:t>
            </a:r>
            <a:r>
              <a:rPr kumimoji="1" lang="en-US" altLang="zh-CN" sz="2400" b="1" baseline="30000" dirty="0">
                <a:solidFill>
                  <a:srgbClr val="000000"/>
                </a:solidFill>
                <a:latin typeface="宋体" panose="02010600030101010101" pitchFamily="2" charset="-122"/>
                <a:ea typeface="宋体" panose="02010600030101010101" pitchFamily="2" charset="-122"/>
              </a:rPr>
              <a:t>-3</a:t>
            </a:r>
            <a:r>
              <a:rPr kumimoji="1" lang="zh-CN" altLang="en-US" sz="2400" b="1" dirty="0">
                <a:solidFill>
                  <a:srgbClr val="000000"/>
                </a:solidFill>
                <a:latin typeface="宋体" panose="02010600030101010101" pitchFamily="2" charset="-122"/>
                <a:ea typeface="宋体" panose="02010600030101010101" pitchFamily="2" charset="-122"/>
              </a:rPr>
              <a:t>以上。</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0381824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82</a:t>
            </a:fld>
            <a:endParaRPr lang="zh-CN" altLang="en-US"/>
          </a:p>
        </p:txBody>
      </p:sp>
      <p:sp>
        <p:nvSpPr>
          <p:cNvPr id="3" name="Freeform 4"/>
          <p:cNvSpPr>
            <a:spLocks/>
          </p:cNvSpPr>
          <p:nvPr/>
        </p:nvSpPr>
        <p:spPr bwMode="auto">
          <a:xfrm>
            <a:off x="7505700" y="2292350"/>
            <a:ext cx="6350" cy="6350"/>
          </a:xfrm>
          <a:custGeom>
            <a:avLst/>
            <a:gdLst>
              <a:gd name="T0" fmla="*/ 0 w 4"/>
              <a:gd name="T1" fmla="*/ 6350 h 4"/>
              <a:gd name="T2" fmla="*/ 3175 w 4"/>
              <a:gd name="T3" fmla="*/ 6350 h 4"/>
              <a:gd name="T4" fmla="*/ 6350 w 4"/>
              <a:gd name="T5" fmla="*/ 0 h 4"/>
              <a:gd name="T6" fmla="*/ 6350 w 4"/>
              <a:gd name="T7" fmla="*/ 0 h 4"/>
              <a:gd name="T8" fmla="*/ 0 w 4"/>
              <a:gd name="T9" fmla="*/ 635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0" y="4"/>
                </a:moveTo>
                <a:lnTo>
                  <a:pt x="2" y="4"/>
                </a:lnTo>
                <a:lnTo>
                  <a:pt x="4" y="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 name="Freeform 5"/>
          <p:cNvSpPr>
            <a:spLocks/>
          </p:cNvSpPr>
          <p:nvPr/>
        </p:nvSpPr>
        <p:spPr bwMode="auto">
          <a:xfrm>
            <a:off x="7505700" y="2063750"/>
            <a:ext cx="6350" cy="9525"/>
          </a:xfrm>
          <a:custGeom>
            <a:avLst/>
            <a:gdLst>
              <a:gd name="T0" fmla="*/ 3175 w 4"/>
              <a:gd name="T1" fmla="*/ 0 h 6"/>
              <a:gd name="T2" fmla="*/ 0 w 4"/>
              <a:gd name="T3" fmla="*/ 0 h 6"/>
              <a:gd name="T4" fmla="*/ 6350 w 4"/>
              <a:gd name="T5" fmla="*/ 9525 h 6"/>
              <a:gd name="T6" fmla="*/ 6350 w 4"/>
              <a:gd name="T7" fmla="*/ 9525 h 6"/>
              <a:gd name="T8" fmla="*/ 3175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2" y="0"/>
                </a:moveTo>
                <a:lnTo>
                  <a:pt x="0" y="0"/>
                </a:lnTo>
                <a:lnTo>
                  <a:pt x="4"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 name="Freeform 6"/>
          <p:cNvSpPr>
            <a:spLocks/>
          </p:cNvSpPr>
          <p:nvPr/>
        </p:nvSpPr>
        <p:spPr bwMode="auto">
          <a:xfrm>
            <a:off x="7556500" y="2041525"/>
            <a:ext cx="3175" cy="9525"/>
          </a:xfrm>
          <a:custGeom>
            <a:avLst/>
            <a:gdLst>
              <a:gd name="T0" fmla="*/ 3175 w 2"/>
              <a:gd name="T1" fmla="*/ 0 h 6"/>
              <a:gd name="T2" fmla="*/ 0 w 2"/>
              <a:gd name="T3" fmla="*/ 0 h 6"/>
              <a:gd name="T4" fmla="*/ 3175 w 2"/>
              <a:gd name="T5" fmla="*/ 9525 h 6"/>
              <a:gd name="T6" fmla="*/ 3175 w 2"/>
              <a:gd name="T7" fmla="*/ 9525 h 6"/>
              <a:gd name="T8" fmla="*/ 3175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0"/>
                </a:moveTo>
                <a:lnTo>
                  <a:pt x="0" y="0"/>
                </a:lnTo>
                <a:lnTo>
                  <a:pt x="2"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 name="Freeform 7"/>
          <p:cNvSpPr>
            <a:spLocks/>
          </p:cNvSpPr>
          <p:nvPr/>
        </p:nvSpPr>
        <p:spPr bwMode="auto">
          <a:xfrm>
            <a:off x="7613650" y="2041525"/>
            <a:ext cx="3175" cy="9525"/>
          </a:xfrm>
          <a:custGeom>
            <a:avLst/>
            <a:gdLst>
              <a:gd name="T0" fmla="*/ 3175 w 2"/>
              <a:gd name="T1" fmla="*/ 0 h 6"/>
              <a:gd name="T2" fmla="*/ 0 w 2"/>
              <a:gd name="T3" fmla="*/ 0 h 6"/>
              <a:gd name="T4" fmla="*/ 0 w 2"/>
              <a:gd name="T5" fmla="*/ 9525 h 6"/>
              <a:gd name="T6" fmla="*/ 0 w 2"/>
              <a:gd name="T7" fmla="*/ 9525 h 6"/>
              <a:gd name="T8" fmla="*/ 3175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0"/>
                </a:moveTo>
                <a:lnTo>
                  <a:pt x="0" y="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 name="Freeform 8"/>
          <p:cNvSpPr>
            <a:spLocks/>
          </p:cNvSpPr>
          <p:nvPr/>
        </p:nvSpPr>
        <p:spPr bwMode="auto">
          <a:xfrm>
            <a:off x="7715250" y="2152650"/>
            <a:ext cx="9525" cy="3175"/>
          </a:xfrm>
          <a:custGeom>
            <a:avLst/>
            <a:gdLst>
              <a:gd name="T0" fmla="*/ 9525 w 6"/>
              <a:gd name="T1" fmla="*/ 0 h 2"/>
              <a:gd name="T2" fmla="*/ 9525 w 6"/>
              <a:gd name="T3" fmla="*/ 0 h 2"/>
              <a:gd name="T4" fmla="*/ 0 w 6"/>
              <a:gd name="T5" fmla="*/ 3175 h 2"/>
              <a:gd name="T6" fmla="*/ 0 w 6"/>
              <a:gd name="T7" fmla="*/ 3175 h 2"/>
              <a:gd name="T8" fmla="*/ 9525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6" y="0"/>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 name="Freeform 9"/>
          <p:cNvSpPr>
            <a:spLocks/>
          </p:cNvSpPr>
          <p:nvPr/>
        </p:nvSpPr>
        <p:spPr bwMode="auto">
          <a:xfrm>
            <a:off x="7064375" y="2295525"/>
            <a:ext cx="3175" cy="9525"/>
          </a:xfrm>
          <a:custGeom>
            <a:avLst/>
            <a:gdLst>
              <a:gd name="T0" fmla="*/ 0 w 2"/>
              <a:gd name="T1" fmla="*/ 9525 h 6"/>
              <a:gd name="T2" fmla="*/ 0 w 2"/>
              <a:gd name="T3" fmla="*/ 9525 h 6"/>
              <a:gd name="T4" fmla="*/ 3175 w 2"/>
              <a:gd name="T5" fmla="*/ 0 h 6"/>
              <a:gd name="T6" fmla="*/ 3175 w 2"/>
              <a:gd name="T7" fmla="*/ 0 h 6"/>
              <a:gd name="T8" fmla="*/ 0 w 2"/>
              <a:gd name="T9" fmla="*/ 9525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6"/>
                </a:moveTo>
                <a:lnTo>
                  <a:pt x="0" y="6"/>
                </a:lnTo>
                <a:lnTo>
                  <a:pt x="2"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 name="Freeform 10"/>
          <p:cNvSpPr>
            <a:spLocks/>
          </p:cNvSpPr>
          <p:nvPr/>
        </p:nvSpPr>
        <p:spPr bwMode="auto">
          <a:xfrm>
            <a:off x="6953250" y="2193925"/>
            <a:ext cx="9525" cy="3175"/>
          </a:xfrm>
          <a:custGeom>
            <a:avLst/>
            <a:gdLst>
              <a:gd name="T0" fmla="*/ 0 w 6"/>
              <a:gd name="T1" fmla="*/ 0 h 2"/>
              <a:gd name="T2" fmla="*/ 0 w 6"/>
              <a:gd name="T3" fmla="*/ 3175 h 2"/>
              <a:gd name="T4" fmla="*/ 9525 w 6"/>
              <a:gd name="T5" fmla="*/ 0 h 2"/>
              <a:gd name="T6" fmla="*/ 9525 w 6"/>
              <a:gd name="T7" fmla="*/ 0 h 2"/>
              <a:gd name="T8" fmla="*/ 0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0"/>
                </a:moveTo>
                <a:lnTo>
                  <a:pt x="0" y="2"/>
                </a:lnTo>
                <a:lnTo>
                  <a:pt x="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 name="Freeform 11"/>
          <p:cNvSpPr>
            <a:spLocks/>
          </p:cNvSpPr>
          <p:nvPr/>
        </p:nvSpPr>
        <p:spPr bwMode="auto">
          <a:xfrm>
            <a:off x="6953250" y="2136775"/>
            <a:ext cx="9525" cy="3175"/>
          </a:xfrm>
          <a:custGeom>
            <a:avLst/>
            <a:gdLst>
              <a:gd name="T0" fmla="*/ 0 w 6"/>
              <a:gd name="T1" fmla="*/ 0 h 2"/>
              <a:gd name="T2" fmla="*/ 0 w 6"/>
              <a:gd name="T3" fmla="*/ 3175 h 2"/>
              <a:gd name="T4" fmla="*/ 9525 w 6"/>
              <a:gd name="T5" fmla="*/ 3175 h 2"/>
              <a:gd name="T6" fmla="*/ 9525 w 6"/>
              <a:gd name="T7" fmla="*/ 3175 h 2"/>
              <a:gd name="T8" fmla="*/ 0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0"/>
                </a:moveTo>
                <a:lnTo>
                  <a:pt x="0" y="2"/>
                </a:lnTo>
                <a:lnTo>
                  <a:pt x="6"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 name="Freeform 12"/>
          <p:cNvSpPr>
            <a:spLocks/>
          </p:cNvSpPr>
          <p:nvPr/>
        </p:nvSpPr>
        <p:spPr bwMode="auto">
          <a:xfrm>
            <a:off x="7223125" y="2136775"/>
            <a:ext cx="9525" cy="3175"/>
          </a:xfrm>
          <a:custGeom>
            <a:avLst/>
            <a:gdLst>
              <a:gd name="T0" fmla="*/ 9525 w 6"/>
              <a:gd name="T1" fmla="*/ 3175 h 2"/>
              <a:gd name="T2" fmla="*/ 9525 w 6"/>
              <a:gd name="T3" fmla="*/ 0 h 2"/>
              <a:gd name="T4" fmla="*/ 0 w 6"/>
              <a:gd name="T5" fmla="*/ 3175 h 2"/>
              <a:gd name="T6" fmla="*/ 0 w 6"/>
              <a:gd name="T7" fmla="*/ 3175 h 2"/>
              <a:gd name="T8" fmla="*/ 9525 w 6"/>
              <a:gd name="T9" fmla="*/ 3175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2"/>
                </a:moveTo>
                <a:lnTo>
                  <a:pt x="6" y="0"/>
                </a:lnTo>
                <a:lnTo>
                  <a:pt x="0" y="2"/>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 name="Freeform 13"/>
          <p:cNvSpPr>
            <a:spLocks/>
          </p:cNvSpPr>
          <p:nvPr/>
        </p:nvSpPr>
        <p:spPr bwMode="auto">
          <a:xfrm>
            <a:off x="4543425" y="2292350"/>
            <a:ext cx="6350" cy="6350"/>
          </a:xfrm>
          <a:custGeom>
            <a:avLst/>
            <a:gdLst>
              <a:gd name="T0" fmla="*/ 3175 w 4"/>
              <a:gd name="T1" fmla="*/ 6350 h 4"/>
              <a:gd name="T2" fmla="*/ 6350 w 4"/>
              <a:gd name="T3" fmla="*/ 6350 h 4"/>
              <a:gd name="T4" fmla="*/ 0 w 4"/>
              <a:gd name="T5" fmla="*/ 0 h 4"/>
              <a:gd name="T6" fmla="*/ 0 w 4"/>
              <a:gd name="T7" fmla="*/ 0 h 4"/>
              <a:gd name="T8" fmla="*/ 3175 w 4"/>
              <a:gd name="T9" fmla="*/ 635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2" y="4"/>
                </a:moveTo>
                <a:lnTo>
                  <a:pt x="4" y="4"/>
                </a:lnTo>
                <a:lnTo>
                  <a:pt x="0" y="0"/>
                </a:lnTo>
                <a:lnTo>
                  <a:pt x="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3" name="Freeform 14"/>
          <p:cNvSpPr>
            <a:spLocks/>
          </p:cNvSpPr>
          <p:nvPr/>
        </p:nvSpPr>
        <p:spPr bwMode="auto">
          <a:xfrm>
            <a:off x="4387850" y="2292350"/>
            <a:ext cx="6350" cy="6350"/>
          </a:xfrm>
          <a:custGeom>
            <a:avLst/>
            <a:gdLst>
              <a:gd name="T0" fmla="*/ 0 w 4"/>
              <a:gd name="T1" fmla="*/ 6350 h 4"/>
              <a:gd name="T2" fmla="*/ 0 w 4"/>
              <a:gd name="T3" fmla="*/ 6350 h 4"/>
              <a:gd name="T4" fmla="*/ 6350 w 4"/>
              <a:gd name="T5" fmla="*/ 0 h 4"/>
              <a:gd name="T6" fmla="*/ 6350 w 4"/>
              <a:gd name="T7" fmla="*/ 0 h 4"/>
              <a:gd name="T8" fmla="*/ 0 w 4"/>
              <a:gd name="T9" fmla="*/ 635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0" y="4"/>
                </a:moveTo>
                <a:lnTo>
                  <a:pt x="0" y="4"/>
                </a:lnTo>
                <a:lnTo>
                  <a:pt x="4" y="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4" name="Freeform 15"/>
          <p:cNvSpPr>
            <a:spLocks/>
          </p:cNvSpPr>
          <p:nvPr/>
        </p:nvSpPr>
        <p:spPr bwMode="auto">
          <a:xfrm>
            <a:off x="4327525" y="2152650"/>
            <a:ext cx="9525" cy="3175"/>
          </a:xfrm>
          <a:custGeom>
            <a:avLst/>
            <a:gdLst>
              <a:gd name="T0" fmla="*/ 0 w 6"/>
              <a:gd name="T1" fmla="*/ 0 h 2"/>
              <a:gd name="T2" fmla="*/ 0 w 6"/>
              <a:gd name="T3" fmla="*/ 0 h 2"/>
              <a:gd name="T4" fmla="*/ 9525 w 6"/>
              <a:gd name="T5" fmla="*/ 3175 h 2"/>
              <a:gd name="T6" fmla="*/ 9525 w 6"/>
              <a:gd name="T7" fmla="*/ 3175 h 2"/>
              <a:gd name="T8" fmla="*/ 0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0"/>
                </a:moveTo>
                <a:lnTo>
                  <a:pt x="0" y="0"/>
                </a:lnTo>
                <a:lnTo>
                  <a:pt x="6"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5" name="Freeform 16"/>
          <p:cNvSpPr>
            <a:spLocks/>
          </p:cNvSpPr>
          <p:nvPr/>
        </p:nvSpPr>
        <p:spPr bwMode="auto">
          <a:xfrm>
            <a:off x="4349750" y="2101850"/>
            <a:ext cx="9525" cy="6350"/>
          </a:xfrm>
          <a:custGeom>
            <a:avLst/>
            <a:gdLst>
              <a:gd name="T0" fmla="*/ 0 w 6"/>
              <a:gd name="T1" fmla="*/ 0 h 4"/>
              <a:gd name="T2" fmla="*/ 0 w 6"/>
              <a:gd name="T3" fmla="*/ 0 h 4"/>
              <a:gd name="T4" fmla="*/ 9525 w 6"/>
              <a:gd name="T5" fmla="*/ 6350 h 4"/>
              <a:gd name="T6" fmla="*/ 9525 w 6"/>
              <a:gd name="T7" fmla="*/ 6350 h 4"/>
              <a:gd name="T8" fmla="*/ 0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0"/>
                </a:moveTo>
                <a:lnTo>
                  <a:pt x="0" y="0"/>
                </a:lnTo>
                <a:lnTo>
                  <a:pt x="6"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6" name="Freeform 17"/>
          <p:cNvSpPr>
            <a:spLocks/>
          </p:cNvSpPr>
          <p:nvPr/>
        </p:nvSpPr>
        <p:spPr bwMode="auto">
          <a:xfrm>
            <a:off x="4387850" y="2063750"/>
            <a:ext cx="6350" cy="9525"/>
          </a:xfrm>
          <a:custGeom>
            <a:avLst/>
            <a:gdLst>
              <a:gd name="T0" fmla="*/ 0 w 4"/>
              <a:gd name="T1" fmla="*/ 0 h 6"/>
              <a:gd name="T2" fmla="*/ 0 w 4"/>
              <a:gd name="T3" fmla="*/ 0 h 6"/>
              <a:gd name="T4" fmla="*/ 6350 w 4"/>
              <a:gd name="T5" fmla="*/ 9525 h 6"/>
              <a:gd name="T6" fmla="*/ 6350 w 4"/>
              <a:gd name="T7" fmla="*/ 9525 h 6"/>
              <a:gd name="T8" fmla="*/ 0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0" y="0"/>
                </a:moveTo>
                <a:lnTo>
                  <a:pt x="0" y="0"/>
                </a:lnTo>
                <a:lnTo>
                  <a:pt x="4" y="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7" name="Freeform 18"/>
          <p:cNvSpPr>
            <a:spLocks/>
          </p:cNvSpPr>
          <p:nvPr/>
        </p:nvSpPr>
        <p:spPr bwMode="auto">
          <a:xfrm>
            <a:off x="4438650" y="2041525"/>
            <a:ext cx="3175" cy="9525"/>
          </a:xfrm>
          <a:custGeom>
            <a:avLst/>
            <a:gdLst>
              <a:gd name="T0" fmla="*/ 3175 w 2"/>
              <a:gd name="T1" fmla="*/ 0 h 6"/>
              <a:gd name="T2" fmla="*/ 0 w 2"/>
              <a:gd name="T3" fmla="*/ 0 h 6"/>
              <a:gd name="T4" fmla="*/ 3175 w 2"/>
              <a:gd name="T5" fmla="*/ 9525 h 6"/>
              <a:gd name="T6" fmla="*/ 3175 w 2"/>
              <a:gd name="T7" fmla="*/ 9525 h 6"/>
              <a:gd name="T8" fmla="*/ 3175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0"/>
                </a:moveTo>
                <a:lnTo>
                  <a:pt x="0" y="0"/>
                </a:lnTo>
                <a:lnTo>
                  <a:pt x="2"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8" name="Freeform 19"/>
          <p:cNvSpPr>
            <a:spLocks/>
          </p:cNvSpPr>
          <p:nvPr/>
        </p:nvSpPr>
        <p:spPr bwMode="auto">
          <a:xfrm>
            <a:off x="4495800" y="2041525"/>
            <a:ext cx="3175" cy="9525"/>
          </a:xfrm>
          <a:custGeom>
            <a:avLst/>
            <a:gdLst>
              <a:gd name="T0" fmla="*/ 3175 w 2"/>
              <a:gd name="T1" fmla="*/ 0 h 6"/>
              <a:gd name="T2" fmla="*/ 0 w 2"/>
              <a:gd name="T3" fmla="*/ 0 h 6"/>
              <a:gd name="T4" fmla="*/ 0 w 2"/>
              <a:gd name="T5" fmla="*/ 9525 h 6"/>
              <a:gd name="T6" fmla="*/ 0 w 2"/>
              <a:gd name="T7" fmla="*/ 9525 h 6"/>
              <a:gd name="T8" fmla="*/ 3175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0"/>
                </a:moveTo>
                <a:lnTo>
                  <a:pt x="0" y="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9" name="Freeform 20"/>
          <p:cNvSpPr>
            <a:spLocks/>
          </p:cNvSpPr>
          <p:nvPr/>
        </p:nvSpPr>
        <p:spPr bwMode="auto">
          <a:xfrm>
            <a:off x="4578350" y="2101850"/>
            <a:ext cx="9525" cy="6350"/>
          </a:xfrm>
          <a:custGeom>
            <a:avLst/>
            <a:gdLst>
              <a:gd name="T0" fmla="*/ 9525 w 6"/>
              <a:gd name="T1" fmla="*/ 0 h 4"/>
              <a:gd name="T2" fmla="*/ 6350 w 6"/>
              <a:gd name="T3" fmla="*/ 0 h 4"/>
              <a:gd name="T4" fmla="*/ 0 w 6"/>
              <a:gd name="T5" fmla="*/ 6350 h 4"/>
              <a:gd name="T6" fmla="*/ 0 w 6"/>
              <a:gd name="T7" fmla="*/ 6350 h 4"/>
              <a:gd name="T8" fmla="*/ 9525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6" y="0"/>
                </a:moveTo>
                <a:lnTo>
                  <a:pt x="4" y="0"/>
                </a:lnTo>
                <a:lnTo>
                  <a:pt x="0" y="4"/>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0" name="Freeform 21"/>
          <p:cNvSpPr>
            <a:spLocks/>
          </p:cNvSpPr>
          <p:nvPr/>
        </p:nvSpPr>
        <p:spPr bwMode="auto">
          <a:xfrm>
            <a:off x="4086225" y="2241550"/>
            <a:ext cx="6350" cy="6350"/>
          </a:xfrm>
          <a:custGeom>
            <a:avLst/>
            <a:gdLst>
              <a:gd name="T0" fmla="*/ 6350 w 4"/>
              <a:gd name="T1" fmla="*/ 6350 h 4"/>
              <a:gd name="T2" fmla="*/ 6350 w 4"/>
              <a:gd name="T3" fmla="*/ 6350 h 4"/>
              <a:gd name="T4" fmla="*/ 0 w 4"/>
              <a:gd name="T5" fmla="*/ 0 h 4"/>
              <a:gd name="T6" fmla="*/ 0 w 4"/>
              <a:gd name="T7" fmla="*/ 0 h 4"/>
              <a:gd name="T8" fmla="*/ 6350 w 4"/>
              <a:gd name="T9" fmla="*/ 635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4" y="4"/>
                </a:moveTo>
                <a:lnTo>
                  <a:pt x="4" y="4"/>
                </a:lnTo>
                <a:lnTo>
                  <a:pt x="0"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1" name="Freeform 22"/>
          <p:cNvSpPr>
            <a:spLocks/>
          </p:cNvSpPr>
          <p:nvPr/>
        </p:nvSpPr>
        <p:spPr bwMode="auto">
          <a:xfrm>
            <a:off x="4086225" y="2241550"/>
            <a:ext cx="6350" cy="6350"/>
          </a:xfrm>
          <a:custGeom>
            <a:avLst/>
            <a:gdLst>
              <a:gd name="T0" fmla="*/ 6350 w 4"/>
              <a:gd name="T1" fmla="*/ 6350 h 4"/>
              <a:gd name="T2" fmla="*/ 6350 w 4"/>
              <a:gd name="T3" fmla="*/ 3175 h 4"/>
              <a:gd name="T4" fmla="*/ 0 w 4"/>
              <a:gd name="T5" fmla="*/ 0 h 4"/>
              <a:gd name="T6" fmla="*/ 0 w 4"/>
              <a:gd name="T7" fmla="*/ 0 h 4"/>
              <a:gd name="T8" fmla="*/ 6350 w 4"/>
              <a:gd name="T9" fmla="*/ 635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4" y="4"/>
                </a:moveTo>
                <a:lnTo>
                  <a:pt x="4" y="2"/>
                </a:lnTo>
                <a:lnTo>
                  <a:pt x="0"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 name="Freeform 23"/>
          <p:cNvSpPr>
            <a:spLocks/>
          </p:cNvSpPr>
          <p:nvPr/>
        </p:nvSpPr>
        <p:spPr bwMode="auto">
          <a:xfrm>
            <a:off x="3946525" y="2295525"/>
            <a:ext cx="3175" cy="9525"/>
          </a:xfrm>
          <a:custGeom>
            <a:avLst/>
            <a:gdLst>
              <a:gd name="T0" fmla="*/ 0 w 2"/>
              <a:gd name="T1" fmla="*/ 9525 h 6"/>
              <a:gd name="T2" fmla="*/ 0 w 2"/>
              <a:gd name="T3" fmla="*/ 9525 h 6"/>
              <a:gd name="T4" fmla="*/ 3175 w 2"/>
              <a:gd name="T5" fmla="*/ 0 h 6"/>
              <a:gd name="T6" fmla="*/ 3175 w 2"/>
              <a:gd name="T7" fmla="*/ 0 h 6"/>
              <a:gd name="T8" fmla="*/ 0 w 2"/>
              <a:gd name="T9" fmla="*/ 9525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6"/>
                </a:moveTo>
                <a:lnTo>
                  <a:pt x="0" y="6"/>
                </a:lnTo>
                <a:lnTo>
                  <a:pt x="2"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23" name="Group 24"/>
          <p:cNvGrpSpPr>
            <a:grpSpLocks/>
          </p:cNvGrpSpPr>
          <p:nvPr/>
        </p:nvGrpSpPr>
        <p:grpSpPr bwMode="auto">
          <a:xfrm>
            <a:off x="990600" y="2743200"/>
            <a:ext cx="7391400" cy="3657600"/>
            <a:chOff x="734" y="500"/>
            <a:chExt cx="4295" cy="1803"/>
          </a:xfrm>
        </p:grpSpPr>
        <p:sp>
          <p:nvSpPr>
            <p:cNvPr id="24" name="Oval 25"/>
            <p:cNvSpPr>
              <a:spLocks noChangeArrowheads="1"/>
            </p:cNvSpPr>
            <p:nvPr/>
          </p:nvSpPr>
          <p:spPr bwMode="auto">
            <a:xfrm>
              <a:off x="4855" y="1337"/>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5" name="Oval 26"/>
            <p:cNvSpPr>
              <a:spLocks noChangeArrowheads="1"/>
            </p:cNvSpPr>
            <p:nvPr/>
          </p:nvSpPr>
          <p:spPr bwMode="auto">
            <a:xfrm>
              <a:off x="4859" y="1665"/>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6" name="Oval 27"/>
            <p:cNvSpPr>
              <a:spLocks noChangeArrowheads="1"/>
            </p:cNvSpPr>
            <p:nvPr/>
          </p:nvSpPr>
          <p:spPr bwMode="auto">
            <a:xfrm>
              <a:off x="4859" y="1995"/>
              <a:ext cx="170" cy="7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27" name="Group 28"/>
            <p:cNvGrpSpPr>
              <a:grpSpLocks/>
            </p:cNvGrpSpPr>
            <p:nvPr/>
          </p:nvGrpSpPr>
          <p:grpSpPr bwMode="auto">
            <a:xfrm>
              <a:off x="4933" y="1325"/>
              <a:ext cx="32" cy="100"/>
              <a:chOff x="4933" y="1325"/>
              <a:chExt cx="32" cy="100"/>
            </a:xfrm>
          </p:grpSpPr>
          <p:sp>
            <p:nvSpPr>
              <p:cNvPr id="602" name="Oval 29"/>
              <p:cNvSpPr>
                <a:spLocks noChangeArrowheads="1"/>
              </p:cNvSpPr>
              <p:nvPr/>
            </p:nvSpPr>
            <p:spPr bwMode="auto">
              <a:xfrm>
                <a:off x="4933" y="132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3" name="Oval 30"/>
              <p:cNvSpPr>
                <a:spLocks noChangeArrowheads="1"/>
              </p:cNvSpPr>
              <p:nvPr/>
            </p:nvSpPr>
            <p:spPr bwMode="auto">
              <a:xfrm>
                <a:off x="4933" y="139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8" name="Group 31"/>
            <p:cNvGrpSpPr>
              <a:grpSpLocks/>
            </p:cNvGrpSpPr>
            <p:nvPr/>
          </p:nvGrpSpPr>
          <p:grpSpPr bwMode="auto">
            <a:xfrm>
              <a:off x="4933" y="1651"/>
              <a:ext cx="32" cy="100"/>
              <a:chOff x="4933" y="1651"/>
              <a:chExt cx="32" cy="100"/>
            </a:xfrm>
          </p:grpSpPr>
          <p:sp>
            <p:nvSpPr>
              <p:cNvPr id="600" name="Oval 32"/>
              <p:cNvSpPr>
                <a:spLocks noChangeArrowheads="1"/>
              </p:cNvSpPr>
              <p:nvPr/>
            </p:nvSpPr>
            <p:spPr bwMode="auto">
              <a:xfrm>
                <a:off x="4933" y="165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1" name="Oval 33"/>
              <p:cNvSpPr>
                <a:spLocks noChangeArrowheads="1"/>
              </p:cNvSpPr>
              <p:nvPr/>
            </p:nvSpPr>
            <p:spPr bwMode="auto">
              <a:xfrm>
                <a:off x="4933" y="171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9" name="Group 34"/>
            <p:cNvGrpSpPr>
              <a:grpSpLocks/>
            </p:cNvGrpSpPr>
            <p:nvPr/>
          </p:nvGrpSpPr>
          <p:grpSpPr bwMode="auto">
            <a:xfrm>
              <a:off x="4933" y="1979"/>
              <a:ext cx="34" cy="100"/>
              <a:chOff x="4933" y="1979"/>
              <a:chExt cx="34" cy="100"/>
            </a:xfrm>
          </p:grpSpPr>
          <p:sp>
            <p:nvSpPr>
              <p:cNvPr id="598" name="Oval 35"/>
              <p:cNvSpPr>
                <a:spLocks noChangeArrowheads="1"/>
              </p:cNvSpPr>
              <p:nvPr/>
            </p:nvSpPr>
            <p:spPr bwMode="auto">
              <a:xfrm>
                <a:off x="4933" y="1979"/>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99" name="Oval 36"/>
              <p:cNvSpPr>
                <a:spLocks noChangeArrowheads="1"/>
              </p:cNvSpPr>
              <p:nvPr/>
            </p:nvSpPr>
            <p:spPr bwMode="auto">
              <a:xfrm>
                <a:off x="4933" y="2047"/>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30" name="Freeform 37"/>
            <p:cNvSpPr>
              <a:spLocks/>
            </p:cNvSpPr>
            <p:nvPr/>
          </p:nvSpPr>
          <p:spPr bwMode="auto">
            <a:xfrm>
              <a:off x="4618" y="1166"/>
              <a:ext cx="130" cy="128"/>
            </a:xfrm>
            <a:custGeom>
              <a:avLst/>
              <a:gdLst>
                <a:gd name="T0" fmla="*/ 90 w 130"/>
                <a:gd name="T1" fmla="*/ 38 h 128"/>
                <a:gd name="T2" fmla="*/ 102 w 130"/>
                <a:gd name="T3" fmla="*/ 50 h 128"/>
                <a:gd name="T4" fmla="*/ 112 w 130"/>
                <a:gd name="T5" fmla="*/ 64 h 128"/>
                <a:gd name="T6" fmla="*/ 120 w 130"/>
                <a:gd name="T7" fmla="*/ 76 h 128"/>
                <a:gd name="T8" fmla="*/ 124 w 130"/>
                <a:gd name="T9" fmla="*/ 88 h 128"/>
                <a:gd name="T10" fmla="*/ 128 w 130"/>
                <a:gd name="T11" fmla="*/ 100 h 128"/>
                <a:gd name="T12" fmla="*/ 130 w 130"/>
                <a:gd name="T13" fmla="*/ 108 h 128"/>
                <a:gd name="T14" fmla="*/ 128 w 130"/>
                <a:gd name="T15" fmla="*/ 118 h 128"/>
                <a:gd name="T16" fmla="*/ 124 w 130"/>
                <a:gd name="T17" fmla="*/ 124 h 128"/>
                <a:gd name="T18" fmla="*/ 118 w 130"/>
                <a:gd name="T19" fmla="*/ 128 h 128"/>
                <a:gd name="T20" fmla="*/ 110 w 130"/>
                <a:gd name="T21" fmla="*/ 128 h 128"/>
                <a:gd name="T22" fmla="*/ 100 w 130"/>
                <a:gd name="T23" fmla="*/ 128 h 128"/>
                <a:gd name="T24" fmla="*/ 88 w 130"/>
                <a:gd name="T25" fmla="*/ 124 h 128"/>
                <a:gd name="T26" fmla="*/ 76 w 130"/>
                <a:gd name="T27" fmla="*/ 118 h 128"/>
                <a:gd name="T28" fmla="*/ 64 w 130"/>
                <a:gd name="T29" fmla="*/ 110 h 128"/>
                <a:gd name="T30" fmla="*/ 52 w 130"/>
                <a:gd name="T31" fmla="*/ 102 h 128"/>
                <a:gd name="T32" fmla="*/ 38 w 130"/>
                <a:gd name="T33" fmla="*/ 90 h 128"/>
                <a:gd name="T34" fmla="*/ 28 w 130"/>
                <a:gd name="T35" fmla="*/ 78 h 128"/>
                <a:gd name="T36" fmla="*/ 18 w 130"/>
                <a:gd name="T37" fmla="*/ 64 h 128"/>
                <a:gd name="T38" fmla="*/ 10 w 130"/>
                <a:gd name="T39" fmla="*/ 52 h 128"/>
                <a:gd name="T40" fmla="*/ 4 w 130"/>
                <a:gd name="T41" fmla="*/ 40 h 128"/>
                <a:gd name="T42" fmla="*/ 0 w 130"/>
                <a:gd name="T43" fmla="*/ 28 h 128"/>
                <a:gd name="T44" fmla="*/ 0 w 130"/>
                <a:gd name="T45" fmla="*/ 20 h 128"/>
                <a:gd name="T46" fmla="*/ 0 w 130"/>
                <a:gd name="T47" fmla="*/ 10 h 128"/>
                <a:gd name="T48" fmla="*/ 4 w 130"/>
                <a:gd name="T49" fmla="*/ 4 h 128"/>
                <a:gd name="T50" fmla="*/ 12 w 130"/>
                <a:gd name="T51" fmla="*/ 0 h 128"/>
                <a:gd name="T52" fmla="*/ 20 w 130"/>
                <a:gd name="T53" fmla="*/ 0 h 128"/>
                <a:gd name="T54" fmla="*/ 30 w 130"/>
                <a:gd name="T55" fmla="*/ 0 h 128"/>
                <a:gd name="T56" fmla="*/ 40 w 130"/>
                <a:gd name="T57" fmla="*/ 4 h 128"/>
                <a:gd name="T58" fmla="*/ 52 w 130"/>
                <a:gd name="T59" fmla="*/ 10 h 128"/>
                <a:gd name="T60" fmla="*/ 66 w 130"/>
                <a:gd name="T61" fmla="*/ 18 h 128"/>
                <a:gd name="T62" fmla="*/ 78 w 130"/>
                <a:gd name="T63" fmla="*/ 26 h 128"/>
                <a:gd name="T64" fmla="*/ 90 w 130"/>
                <a:gd name="T65" fmla="*/ 38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0"/>
                <a:gd name="T100" fmla="*/ 0 h 128"/>
                <a:gd name="T101" fmla="*/ 130 w 13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0" h="128">
                  <a:moveTo>
                    <a:pt x="90" y="38"/>
                  </a:moveTo>
                  <a:lnTo>
                    <a:pt x="102" y="50"/>
                  </a:lnTo>
                  <a:lnTo>
                    <a:pt x="112" y="64"/>
                  </a:lnTo>
                  <a:lnTo>
                    <a:pt x="120" y="76"/>
                  </a:lnTo>
                  <a:lnTo>
                    <a:pt x="124" y="88"/>
                  </a:lnTo>
                  <a:lnTo>
                    <a:pt x="128" y="100"/>
                  </a:lnTo>
                  <a:lnTo>
                    <a:pt x="130" y="108"/>
                  </a:lnTo>
                  <a:lnTo>
                    <a:pt x="128" y="118"/>
                  </a:lnTo>
                  <a:lnTo>
                    <a:pt x="124" y="124"/>
                  </a:lnTo>
                  <a:lnTo>
                    <a:pt x="118" y="128"/>
                  </a:lnTo>
                  <a:lnTo>
                    <a:pt x="110" y="128"/>
                  </a:lnTo>
                  <a:lnTo>
                    <a:pt x="100" y="128"/>
                  </a:lnTo>
                  <a:lnTo>
                    <a:pt x="88" y="124"/>
                  </a:lnTo>
                  <a:lnTo>
                    <a:pt x="76" y="118"/>
                  </a:lnTo>
                  <a:lnTo>
                    <a:pt x="64" y="110"/>
                  </a:lnTo>
                  <a:lnTo>
                    <a:pt x="52" y="102"/>
                  </a:lnTo>
                  <a:lnTo>
                    <a:pt x="38" y="90"/>
                  </a:lnTo>
                  <a:lnTo>
                    <a:pt x="28" y="78"/>
                  </a:lnTo>
                  <a:lnTo>
                    <a:pt x="18" y="64"/>
                  </a:lnTo>
                  <a:lnTo>
                    <a:pt x="10" y="52"/>
                  </a:lnTo>
                  <a:lnTo>
                    <a:pt x="4" y="40"/>
                  </a:lnTo>
                  <a:lnTo>
                    <a:pt x="0" y="28"/>
                  </a:lnTo>
                  <a:lnTo>
                    <a:pt x="0" y="20"/>
                  </a:lnTo>
                  <a:lnTo>
                    <a:pt x="0" y="10"/>
                  </a:lnTo>
                  <a:lnTo>
                    <a:pt x="4" y="4"/>
                  </a:lnTo>
                  <a:lnTo>
                    <a:pt x="12" y="0"/>
                  </a:lnTo>
                  <a:lnTo>
                    <a:pt x="20" y="0"/>
                  </a:lnTo>
                  <a:lnTo>
                    <a:pt x="30" y="0"/>
                  </a:lnTo>
                  <a:lnTo>
                    <a:pt x="40" y="4"/>
                  </a:lnTo>
                  <a:lnTo>
                    <a:pt x="52" y="10"/>
                  </a:lnTo>
                  <a:lnTo>
                    <a:pt x="66" y="18"/>
                  </a:lnTo>
                  <a:lnTo>
                    <a:pt x="78" y="26"/>
                  </a:lnTo>
                  <a:lnTo>
                    <a:pt x="90" y="38"/>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 name="Freeform 38"/>
            <p:cNvSpPr>
              <a:spLocks/>
            </p:cNvSpPr>
            <p:nvPr/>
          </p:nvSpPr>
          <p:spPr bwMode="auto">
            <a:xfrm>
              <a:off x="4484" y="1168"/>
              <a:ext cx="130" cy="130"/>
            </a:xfrm>
            <a:custGeom>
              <a:avLst/>
              <a:gdLst>
                <a:gd name="T0" fmla="*/ 92 w 130"/>
                <a:gd name="T1" fmla="*/ 90 h 130"/>
                <a:gd name="T2" fmla="*/ 78 w 130"/>
                <a:gd name="T3" fmla="*/ 102 h 130"/>
                <a:gd name="T4" fmla="*/ 66 w 130"/>
                <a:gd name="T5" fmla="*/ 112 h 130"/>
                <a:gd name="T6" fmla="*/ 54 w 130"/>
                <a:gd name="T7" fmla="*/ 120 h 130"/>
                <a:gd name="T8" fmla="*/ 42 w 130"/>
                <a:gd name="T9" fmla="*/ 126 h 130"/>
                <a:gd name="T10" fmla="*/ 30 w 130"/>
                <a:gd name="T11" fmla="*/ 128 h 130"/>
                <a:gd name="T12" fmla="*/ 20 w 130"/>
                <a:gd name="T13" fmla="*/ 130 h 130"/>
                <a:gd name="T14" fmla="*/ 12 w 130"/>
                <a:gd name="T15" fmla="*/ 128 h 130"/>
                <a:gd name="T16" fmla="*/ 6 w 130"/>
                <a:gd name="T17" fmla="*/ 124 h 130"/>
                <a:gd name="T18" fmla="*/ 2 w 130"/>
                <a:gd name="T19" fmla="*/ 118 h 130"/>
                <a:gd name="T20" fmla="*/ 0 w 130"/>
                <a:gd name="T21" fmla="*/ 110 h 130"/>
                <a:gd name="T22" fmla="*/ 2 w 130"/>
                <a:gd name="T23" fmla="*/ 100 h 130"/>
                <a:gd name="T24" fmla="*/ 6 w 130"/>
                <a:gd name="T25" fmla="*/ 90 h 130"/>
                <a:gd name="T26" fmla="*/ 10 w 130"/>
                <a:gd name="T27" fmla="*/ 78 h 130"/>
                <a:gd name="T28" fmla="*/ 18 w 130"/>
                <a:gd name="T29" fmla="*/ 64 h 130"/>
                <a:gd name="T30" fmla="*/ 28 w 130"/>
                <a:gd name="T31" fmla="*/ 52 h 130"/>
                <a:gd name="T32" fmla="*/ 40 w 130"/>
                <a:gd name="T33" fmla="*/ 40 h 130"/>
                <a:gd name="T34" fmla="*/ 52 w 130"/>
                <a:gd name="T35" fmla="*/ 28 h 130"/>
                <a:gd name="T36" fmla="*/ 64 w 130"/>
                <a:gd name="T37" fmla="*/ 18 h 130"/>
                <a:gd name="T38" fmla="*/ 78 w 130"/>
                <a:gd name="T39" fmla="*/ 10 h 130"/>
                <a:gd name="T40" fmla="*/ 90 w 130"/>
                <a:gd name="T41" fmla="*/ 4 h 130"/>
                <a:gd name="T42" fmla="*/ 100 w 130"/>
                <a:gd name="T43" fmla="*/ 2 h 130"/>
                <a:gd name="T44" fmla="*/ 110 w 130"/>
                <a:gd name="T45" fmla="*/ 0 h 130"/>
                <a:gd name="T46" fmla="*/ 118 w 130"/>
                <a:gd name="T47" fmla="*/ 2 h 130"/>
                <a:gd name="T48" fmla="*/ 126 w 130"/>
                <a:gd name="T49" fmla="*/ 6 h 130"/>
                <a:gd name="T50" fmla="*/ 130 w 130"/>
                <a:gd name="T51" fmla="*/ 12 h 130"/>
                <a:gd name="T52" fmla="*/ 130 w 130"/>
                <a:gd name="T53" fmla="*/ 20 h 130"/>
                <a:gd name="T54" fmla="*/ 130 w 130"/>
                <a:gd name="T55" fmla="*/ 30 h 130"/>
                <a:gd name="T56" fmla="*/ 126 w 130"/>
                <a:gd name="T57" fmla="*/ 42 h 130"/>
                <a:gd name="T58" fmla="*/ 120 w 130"/>
                <a:gd name="T59" fmla="*/ 54 h 130"/>
                <a:gd name="T60" fmla="*/ 112 w 130"/>
                <a:gd name="T61" fmla="*/ 66 h 130"/>
                <a:gd name="T62" fmla="*/ 102 w 130"/>
                <a:gd name="T63" fmla="*/ 78 h 130"/>
                <a:gd name="T64" fmla="*/ 92 w 130"/>
                <a:gd name="T65" fmla="*/ 9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0"/>
                <a:gd name="T100" fmla="*/ 0 h 130"/>
                <a:gd name="T101" fmla="*/ 130 w 130"/>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0" h="130">
                  <a:moveTo>
                    <a:pt x="92" y="90"/>
                  </a:moveTo>
                  <a:lnTo>
                    <a:pt x="78" y="102"/>
                  </a:lnTo>
                  <a:lnTo>
                    <a:pt x="66" y="112"/>
                  </a:lnTo>
                  <a:lnTo>
                    <a:pt x="54" y="120"/>
                  </a:lnTo>
                  <a:lnTo>
                    <a:pt x="42" y="126"/>
                  </a:lnTo>
                  <a:lnTo>
                    <a:pt x="30" y="128"/>
                  </a:lnTo>
                  <a:lnTo>
                    <a:pt x="20" y="130"/>
                  </a:lnTo>
                  <a:lnTo>
                    <a:pt x="12" y="128"/>
                  </a:lnTo>
                  <a:lnTo>
                    <a:pt x="6" y="124"/>
                  </a:lnTo>
                  <a:lnTo>
                    <a:pt x="2" y="118"/>
                  </a:lnTo>
                  <a:lnTo>
                    <a:pt x="0" y="110"/>
                  </a:lnTo>
                  <a:lnTo>
                    <a:pt x="2" y="100"/>
                  </a:lnTo>
                  <a:lnTo>
                    <a:pt x="6" y="90"/>
                  </a:lnTo>
                  <a:lnTo>
                    <a:pt x="10" y="78"/>
                  </a:lnTo>
                  <a:lnTo>
                    <a:pt x="18" y="64"/>
                  </a:lnTo>
                  <a:lnTo>
                    <a:pt x="28" y="52"/>
                  </a:lnTo>
                  <a:lnTo>
                    <a:pt x="40" y="40"/>
                  </a:lnTo>
                  <a:lnTo>
                    <a:pt x="52" y="28"/>
                  </a:lnTo>
                  <a:lnTo>
                    <a:pt x="64" y="18"/>
                  </a:lnTo>
                  <a:lnTo>
                    <a:pt x="78" y="10"/>
                  </a:lnTo>
                  <a:lnTo>
                    <a:pt x="90" y="4"/>
                  </a:lnTo>
                  <a:lnTo>
                    <a:pt x="100" y="2"/>
                  </a:lnTo>
                  <a:lnTo>
                    <a:pt x="110" y="0"/>
                  </a:lnTo>
                  <a:lnTo>
                    <a:pt x="118" y="2"/>
                  </a:lnTo>
                  <a:lnTo>
                    <a:pt x="126" y="6"/>
                  </a:lnTo>
                  <a:lnTo>
                    <a:pt x="130" y="12"/>
                  </a:lnTo>
                  <a:lnTo>
                    <a:pt x="130" y="20"/>
                  </a:lnTo>
                  <a:lnTo>
                    <a:pt x="130" y="30"/>
                  </a:lnTo>
                  <a:lnTo>
                    <a:pt x="126" y="42"/>
                  </a:lnTo>
                  <a:lnTo>
                    <a:pt x="120" y="54"/>
                  </a:lnTo>
                  <a:lnTo>
                    <a:pt x="112" y="66"/>
                  </a:lnTo>
                  <a:lnTo>
                    <a:pt x="102" y="78"/>
                  </a:lnTo>
                  <a:lnTo>
                    <a:pt x="92" y="9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 name="Oval 39"/>
            <p:cNvSpPr>
              <a:spLocks noChangeArrowheads="1"/>
            </p:cNvSpPr>
            <p:nvPr/>
          </p:nvSpPr>
          <p:spPr bwMode="auto">
            <a:xfrm>
              <a:off x="4690" y="1286"/>
              <a:ext cx="180" cy="18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 name="Freeform 40"/>
            <p:cNvSpPr>
              <a:spLocks/>
            </p:cNvSpPr>
            <p:nvPr/>
          </p:nvSpPr>
          <p:spPr bwMode="auto">
            <a:xfrm>
              <a:off x="4860" y="1374"/>
              <a:ext cx="8" cy="18"/>
            </a:xfrm>
            <a:custGeom>
              <a:avLst/>
              <a:gdLst>
                <a:gd name="T0" fmla="*/ 8 w 8"/>
                <a:gd name="T1" fmla="*/ 0 h 18"/>
                <a:gd name="T2" fmla="*/ 6 w 8"/>
                <a:gd name="T3" fmla="*/ 18 h 18"/>
                <a:gd name="T4" fmla="*/ 0 w 8"/>
                <a:gd name="T5" fmla="*/ 18 h 18"/>
                <a:gd name="T6" fmla="*/ 2 w 8"/>
                <a:gd name="T7" fmla="*/ 0 h 18"/>
                <a:gd name="T8" fmla="*/ 8 w 8"/>
                <a:gd name="T9" fmla="*/ 0 h 18"/>
                <a:gd name="T10" fmla="*/ 0 60000 65536"/>
                <a:gd name="T11" fmla="*/ 0 60000 65536"/>
                <a:gd name="T12" fmla="*/ 0 60000 65536"/>
                <a:gd name="T13" fmla="*/ 0 60000 65536"/>
                <a:gd name="T14" fmla="*/ 0 60000 65536"/>
                <a:gd name="T15" fmla="*/ 0 w 8"/>
                <a:gd name="T16" fmla="*/ 0 h 18"/>
                <a:gd name="T17" fmla="*/ 8 w 8"/>
                <a:gd name="T18" fmla="*/ 18 h 18"/>
              </a:gdLst>
              <a:ahLst/>
              <a:cxnLst>
                <a:cxn ang="T10">
                  <a:pos x="T0" y="T1"/>
                </a:cxn>
                <a:cxn ang="T11">
                  <a:pos x="T2" y="T3"/>
                </a:cxn>
                <a:cxn ang="T12">
                  <a:pos x="T4" y="T5"/>
                </a:cxn>
                <a:cxn ang="T13">
                  <a:pos x="T6" y="T7"/>
                </a:cxn>
                <a:cxn ang="T14">
                  <a:pos x="T8" y="T9"/>
                </a:cxn>
              </a:cxnLst>
              <a:rect l="T15" t="T16" r="T17" b="T18"/>
              <a:pathLst>
                <a:path w="8" h="18">
                  <a:moveTo>
                    <a:pt x="8" y="0"/>
                  </a:moveTo>
                  <a:lnTo>
                    <a:pt x="6" y="18"/>
                  </a:lnTo>
                  <a:lnTo>
                    <a:pt x="0" y="18"/>
                  </a:lnTo>
                  <a:lnTo>
                    <a:pt x="2"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 name="Freeform 41"/>
            <p:cNvSpPr>
              <a:spLocks/>
            </p:cNvSpPr>
            <p:nvPr/>
          </p:nvSpPr>
          <p:spPr bwMode="auto">
            <a:xfrm>
              <a:off x="4848" y="1406"/>
              <a:ext cx="14" cy="18"/>
            </a:xfrm>
            <a:custGeom>
              <a:avLst/>
              <a:gdLst>
                <a:gd name="T0" fmla="*/ 14 w 14"/>
                <a:gd name="T1" fmla="*/ 4 h 18"/>
                <a:gd name="T2" fmla="*/ 6 w 14"/>
                <a:gd name="T3" fmla="*/ 18 h 18"/>
                <a:gd name="T4" fmla="*/ 0 w 14"/>
                <a:gd name="T5" fmla="*/ 16 h 18"/>
                <a:gd name="T6" fmla="*/ 8 w 14"/>
                <a:gd name="T7" fmla="*/ 0 h 18"/>
                <a:gd name="T8" fmla="*/ 14 w 14"/>
                <a:gd name="T9" fmla="*/ 4 h 18"/>
                <a:gd name="T10" fmla="*/ 0 60000 65536"/>
                <a:gd name="T11" fmla="*/ 0 60000 65536"/>
                <a:gd name="T12" fmla="*/ 0 60000 65536"/>
                <a:gd name="T13" fmla="*/ 0 60000 65536"/>
                <a:gd name="T14" fmla="*/ 0 60000 65536"/>
                <a:gd name="T15" fmla="*/ 0 w 14"/>
                <a:gd name="T16" fmla="*/ 0 h 18"/>
                <a:gd name="T17" fmla="*/ 14 w 14"/>
                <a:gd name="T18" fmla="*/ 18 h 18"/>
              </a:gdLst>
              <a:ahLst/>
              <a:cxnLst>
                <a:cxn ang="T10">
                  <a:pos x="T0" y="T1"/>
                </a:cxn>
                <a:cxn ang="T11">
                  <a:pos x="T2" y="T3"/>
                </a:cxn>
                <a:cxn ang="T12">
                  <a:pos x="T4" y="T5"/>
                </a:cxn>
                <a:cxn ang="T13">
                  <a:pos x="T6" y="T7"/>
                </a:cxn>
                <a:cxn ang="T14">
                  <a:pos x="T8" y="T9"/>
                </a:cxn>
              </a:cxnLst>
              <a:rect l="T15" t="T16" r="T17" b="T18"/>
              <a:pathLst>
                <a:path w="14" h="18">
                  <a:moveTo>
                    <a:pt x="14" y="4"/>
                  </a:moveTo>
                  <a:lnTo>
                    <a:pt x="6" y="18"/>
                  </a:lnTo>
                  <a:lnTo>
                    <a:pt x="0" y="16"/>
                  </a:lnTo>
                  <a:lnTo>
                    <a:pt x="8" y="0"/>
                  </a:lnTo>
                  <a:lnTo>
                    <a:pt x="1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 name="Freeform 42"/>
            <p:cNvSpPr>
              <a:spLocks/>
            </p:cNvSpPr>
            <p:nvPr/>
          </p:nvSpPr>
          <p:spPr bwMode="auto">
            <a:xfrm>
              <a:off x="4848" y="1420"/>
              <a:ext cx="6" cy="6"/>
            </a:xfrm>
            <a:custGeom>
              <a:avLst/>
              <a:gdLst>
                <a:gd name="T0" fmla="*/ 6 w 6"/>
                <a:gd name="T1" fmla="*/ 4 h 6"/>
                <a:gd name="T2" fmla="*/ 4 w 6"/>
                <a:gd name="T3" fmla="*/ 6 h 6"/>
                <a:gd name="T4" fmla="*/ 0 w 6"/>
                <a:gd name="T5" fmla="*/ 2 h 6"/>
                <a:gd name="T6" fmla="*/ 0 w 6"/>
                <a:gd name="T7" fmla="*/ 0 h 6"/>
                <a:gd name="T8" fmla="*/ 6 w 6"/>
                <a:gd name="T9" fmla="*/ 4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6" y="4"/>
                  </a:moveTo>
                  <a:lnTo>
                    <a:pt x="4" y="6"/>
                  </a:lnTo>
                  <a:lnTo>
                    <a:pt x="0" y="2"/>
                  </a:lnTo>
                  <a:lnTo>
                    <a:pt x="0" y="0"/>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 name="Freeform 43"/>
            <p:cNvSpPr>
              <a:spLocks/>
            </p:cNvSpPr>
            <p:nvPr/>
          </p:nvSpPr>
          <p:spPr bwMode="auto">
            <a:xfrm>
              <a:off x="4848" y="1420"/>
              <a:ext cx="6" cy="4"/>
            </a:xfrm>
            <a:custGeom>
              <a:avLst/>
              <a:gdLst>
                <a:gd name="T0" fmla="*/ 6 w 6"/>
                <a:gd name="T1" fmla="*/ 4 h 4"/>
                <a:gd name="T2" fmla="*/ 6 w 6"/>
                <a:gd name="T3" fmla="*/ 4 h 4"/>
                <a:gd name="T4" fmla="*/ 0 w 6"/>
                <a:gd name="T5" fmla="*/ 2 h 4"/>
                <a:gd name="T6" fmla="*/ 0 w 6"/>
                <a:gd name="T7" fmla="*/ 0 h 4"/>
                <a:gd name="T8" fmla="*/ 6 w 6"/>
                <a:gd name="T9" fmla="*/ 4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6" y="4"/>
                  </a:moveTo>
                  <a:lnTo>
                    <a:pt x="6" y="4"/>
                  </a:lnTo>
                  <a:lnTo>
                    <a:pt x="0" y="2"/>
                  </a:lnTo>
                  <a:lnTo>
                    <a:pt x="0" y="0"/>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 name="Freeform 44"/>
            <p:cNvSpPr>
              <a:spLocks/>
            </p:cNvSpPr>
            <p:nvPr/>
          </p:nvSpPr>
          <p:spPr bwMode="auto">
            <a:xfrm>
              <a:off x="4826" y="1434"/>
              <a:ext cx="14" cy="14"/>
            </a:xfrm>
            <a:custGeom>
              <a:avLst/>
              <a:gdLst>
                <a:gd name="T0" fmla="*/ 14 w 14"/>
                <a:gd name="T1" fmla="*/ 4 h 14"/>
                <a:gd name="T2" fmla="*/ 4 w 14"/>
                <a:gd name="T3" fmla="*/ 14 h 14"/>
                <a:gd name="T4" fmla="*/ 0 w 14"/>
                <a:gd name="T5" fmla="*/ 10 h 14"/>
                <a:gd name="T6" fmla="*/ 10 w 14"/>
                <a:gd name="T7" fmla="*/ 0 h 14"/>
                <a:gd name="T8" fmla="*/ 14 w 14"/>
                <a:gd name="T9" fmla="*/ 4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4"/>
                  </a:moveTo>
                  <a:lnTo>
                    <a:pt x="4" y="14"/>
                  </a:lnTo>
                  <a:lnTo>
                    <a:pt x="0" y="10"/>
                  </a:lnTo>
                  <a:lnTo>
                    <a:pt x="10" y="0"/>
                  </a:lnTo>
                  <a:lnTo>
                    <a:pt x="1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 name="Freeform 45"/>
            <p:cNvSpPr>
              <a:spLocks/>
            </p:cNvSpPr>
            <p:nvPr/>
          </p:nvSpPr>
          <p:spPr bwMode="auto">
            <a:xfrm>
              <a:off x="4824" y="1444"/>
              <a:ext cx="4" cy="6"/>
            </a:xfrm>
            <a:custGeom>
              <a:avLst/>
              <a:gdLst>
                <a:gd name="T0" fmla="*/ 4 w 4"/>
                <a:gd name="T1" fmla="*/ 4 h 6"/>
                <a:gd name="T2" fmla="*/ 2 w 4"/>
                <a:gd name="T3" fmla="*/ 6 h 6"/>
                <a:gd name="T4" fmla="*/ 0 w 4"/>
                <a:gd name="T5" fmla="*/ 0 h 6"/>
                <a:gd name="T6" fmla="*/ 2 w 4"/>
                <a:gd name="T7" fmla="*/ 0 h 6"/>
                <a:gd name="T8" fmla="*/ 4 w 4"/>
                <a:gd name="T9" fmla="*/ 4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4"/>
                  </a:moveTo>
                  <a:lnTo>
                    <a:pt x="2" y="6"/>
                  </a:lnTo>
                  <a:lnTo>
                    <a:pt x="0" y="0"/>
                  </a:lnTo>
                  <a:lnTo>
                    <a:pt x="2"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 name="Freeform 46"/>
            <p:cNvSpPr>
              <a:spLocks/>
            </p:cNvSpPr>
            <p:nvPr/>
          </p:nvSpPr>
          <p:spPr bwMode="auto">
            <a:xfrm>
              <a:off x="4826" y="1444"/>
              <a:ext cx="4" cy="4"/>
            </a:xfrm>
            <a:custGeom>
              <a:avLst/>
              <a:gdLst>
                <a:gd name="T0" fmla="*/ 2 w 4"/>
                <a:gd name="T1" fmla="*/ 4 h 4"/>
                <a:gd name="T2" fmla="*/ 4 w 4"/>
                <a:gd name="T3" fmla="*/ 4 h 4"/>
                <a:gd name="T4" fmla="*/ 0 w 4"/>
                <a:gd name="T5" fmla="*/ 0 h 4"/>
                <a:gd name="T6" fmla="*/ 0 w 4"/>
                <a:gd name="T7" fmla="*/ 0 h 4"/>
                <a:gd name="T8" fmla="*/ 2 w 4"/>
                <a:gd name="T9" fmla="*/ 4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2" y="4"/>
                  </a:moveTo>
                  <a:lnTo>
                    <a:pt x="4" y="4"/>
                  </a:lnTo>
                  <a:lnTo>
                    <a:pt x="0" y="0"/>
                  </a:lnTo>
                  <a:lnTo>
                    <a:pt x="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 name="Freeform 47"/>
            <p:cNvSpPr>
              <a:spLocks/>
            </p:cNvSpPr>
            <p:nvPr/>
          </p:nvSpPr>
          <p:spPr bwMode="auto">
            <a:xfrm>
              <a:off x="4796" y="1452"/>
              <a:ext cx="14" cy="10"/>
            </a:xfrm>
            <a:custGeom>
              <a:avLst/>
              <a:gdLst>
                <a:gd name="T0" fmla="*/ 14 w 14"/>
                <a:gd name="T1" fmla="*/ 6 h 10"/>
                <a:gd name="T2" fmla="*/ 2 w 14"/>
                <a:gd name="T3" fmla="*/ 10 h 10"/>
                <a:gd name="T4" fmla="*/ 0 w 14"/>
                <a:gd name="T5" fmla="*/ 4 h 10"/>
                <a:gd name="T6" fmla="*/ 14 w 14"/>
                <a:gd name="T7" fmla="*/ 0 h 10"/>
                <a:gd name="T8" fmla="*/ 14 w 14"/>
                <a:gd name="T9" fmla="*/ 6 h 10"/>
                <a:gd name="T10" fmla="*/ 0 60000 65536"/>
                <a:gd name="T11" fmla="*/ 0 60000 65536"/>
                <a:gd name="T12" fmla="*/ 0 60000 65536"/>
                <a:gd name="T13" fmla="*/ 0 60000 65536"/>
                <a:gd name="T14" fmla="*/ 0 60000 65536"/>
                <a:gd name="T15" fmla="*/ 0 w 14"/>
                <a:gd name="T16" fmla="*/ 0 h 10"/>
                <a:gd name="T17" fmla="*/ 14 w 14"/>
                <a:gd name="T18" fmla="*/ 10 h 10"/>
              </a:gdLst>
              <a:ahLst/>
              <a:cxnLst>
                <a:cxn ang="T10">
                  <a:pos x="T0" y="T1"/>
                </a:cxn>
                <a:cxn ang="T11">
                  <a:pos x="T2" y="T3"/>
                </a:cxn>
                <a:cxn ang="T12">
                  <a:pos x="T4" y="T5"/>
                </a:cxn>
                <a:cxn ang="T13">
                  <a:pos x="T6" y="T7"/>
                </a:cxn>
                <a:cxn ang="T14">
                  <a:pos x="T8" y="T9"/>
                </a:cxn>
              </a:cxnLst>
              <a:rect l="T15" t="T16" r="T17" b="T18"/>
              <a:pathLst>
                <a:path w="14" h="10">
                  <a:moveTo>
                    <a:pt x="14" y="6"/>
                  </a:moveTo>
                  <a:lnTo>
                    <a:pt x="2" y="10"/>
                  </a:lnTo>
                  <a:lnTo>
                    <a:pt x="0" y="4"/>
                  </a:lnTo>
                  <a:lnTo>
                    <a:pt x="14" y="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 name="Rectangle 48"/>
            <p:cNvSpPr>
              <a:spLocks noChangeArrowheads="1"/>
            </p:cNvSpPr>
            <p:nvPr/>
          </p:nvSpPr>
          <p:spPr bwMode="auto">
            <a:xfrm>
              <a:off x="4794" y="1456"/>
              <a:ext cx="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2" name="Freeform 49"/>
            <p:cNvSpPr>
              <a:spLocks/>
            </p:cNvSpPr>
            <p:nvPr/>
          </p:nvSpPr>
          <p:spPr bwMode="auto">
            <a:xfrm>
              <a:off x="4796" y="1456"/>
              <a:ext cx="2" cy="6"/>
            </a:xfrm>
            <a:custGeom>
              <a:avLst/>
              <a:gdLst>
                <a:gd name="T0" fmla="*/ 0 w 2"/>
                <a:gd name="T1" fmla="*/ 6 h 6"/>
                <a:gd name="T2" fmla="*/ 2 w 2"/>
                <a:gd name="T3" fmla="*/ 6 h 6"/>
                <a:gd name="T4" fmla="*/ 0 w 2"/>
                <a:gd name="T5" fmla="*/ 0 h 6"/>
                <a:gd name="T6" fmla="*/ 0 w 2"/>
                <a:gd name="T7" fmla="*/ 0 h 6"/>
                <a:gd name="T8" fmla="*/ 0 w 2"/>
                <a:gd name="T9" fmla="*/ 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6"/>
                  </a:moveTo>
                  <a:lnTo>
                    <a:pt x="2" y="6"/>
                  </a:lnTo>
                  <a:lnTo>
                    <a:pt x="0"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3" name="Freeform 50"/>
            <p:cNvSpPr>
              <a:spLocks/>
            </p:cNvSpPr>
            <p:nvPr/>
          </p:nvSpPr>
          <p:spPr bwMode="auto">
            <a:xfrm>
              <a:off x="4762" y="1456"/>
              <a:ext cx="14" cy="8"/>
            </a:xfrm>
            <a:custGeom>
              <a:avLst/>
              <a:gdLst>
                <a:gd name="T0" fmla="*/ 14 w 14"/>
                <a:gd name="T1" fmla="*/ 8 h 8"/>
                <a:gd name="T2" fmla="*/ 0 w 14"/>
                <a:gd name="T3" fmla="*/ 6 h 8"/>
                <a:gd name="T4" fmla="*/ 0 w 14"/>
                <a:gd name="T5" fmla="*/ 0 h 8"/>
                <a:gd name="T6" fmla="*/ 14 w 14"/>
                <a:gd name="T7" fmla="*/ 2 h 8"/>
                <a:gd name="T8" fmla="*/ 14 w 14"/>
                <a:gd name="T9" fmla="*/ 8 h 8"/>
                <a:gd name="T10" fmla="*/ 0 60000 65536"/>
                <a:gd name="T11" fmla="*/ 0 60000 65536"/>
                <a:gd name="T12" fmla="*/ 0 60000 65536"/>
                <a:gd name="T13" fmla="*/ 0 60000 65536"/>
                <a:gd name="T14" fmla="*/ 0 60000 65536"/>
                <a:gd name="T15" fmla="*/ 0 w 14"/>
                <a:gd name="T16" fmla="*/ 0 h 8"/>
                <a:gd name="T17" fmla="*/ 14 w 14"/>
                <a:gd name="T18" fmla="*/ 8 h 8"/>
              </a:gdLst>
              <a:ahLst/>
              <a:cxnLst>
                <a:cxn ang="T10">
                  <a:pos x="T0" y="T1"/>
                </a:cxn>
                <a:cxn ang="T11">
                  <a:pos x="T2" y="T3"/>
                </a:cxn>
                <a:cxn ang="T12">
                  <a:pos x="T4" y="T5"/>
                </a:cxn>
                <a:cxn ang="T13">
                  <a:pos x="T6" y="T7"/>
                </a:cxn>
                <a:cxn ang="T14">
                  <a:pos x="T8" y="T9"/>
                </a:cxn>
              </a:cxnLst>
              <a:rect l="T15" t="T16" r="T17" b="T18"/>
              <a:pathLst>
                <a:path w="14" h="8">
                  <a:moveTo>
                    <a:pt x="14" y="8"/>
                  </a:moveTo>
                  <a:lnTo>
                    <a:pt x="0" y="6"/>
                  </a:lnTo>
                  <a:lnTo>
                    <a:pt x="0" y="0"/>
                  </a:lnTo>
                  <a:lnTo>
                    <a:pt x="14" y="2"/>
                  </a:lnTo>
                  <a:lnTo>
                    <a:pt x="1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4" name="Freeform 51"/>
            <p:cNvSpPr>
              <a:spLocks/>
            </p:cNvSpPr>
            <p:nvPr/>
          </p:nvSpPr>
          <p:spPr bwMode="auto">
            <a:xfrm>
              <a:off x="4758" y="1456"/>
              <a:ext cx="4" cy="6"/>
            </a:xfrm>
            <a:custGeom>
              <a:avLst/>
              <a:gdLst>
                <a:gd name="T0" fmla="*/ 2 w 4"/>
                <a:gd name="T1" fmla="*/ 6 h 6"/>
                <a:gd name="T2" fmla="*/ 0 w 4"/>
                <a:gd name="T3" fmla="*/ 6 h 6"/>
                <a:gd name="T4" fmla="*/ 2 w 4"/>
                <a:gd name="T5" fmla="*/ 0 h 6"/>
                <a:gd name="T6" fmla="*/ 4 w 4"/>
                <a:gd name="T7" fmla="*/ 0 h 6"/>
                <a:gd name="T8" fmla="*/ 2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2" y="6"/>
                  </a:moveTo>
                  <a:lnTo>
                    <a:pt x="0" y="6"/>
                  </a:lnTo>
                  <a:lnTo>
                    <a:pt x="2" y="0"/>
                  </a:lnTo>
                  <a:lnTo>
                    <a:pt x="4" y="0"/>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5" name="Freeform 52"/>
            <p:cNvSpPr>
              <a:spLocks/>
            </p:cNvSpPr>
            <p:nvPr/>
          </p:nvSpPr>
          <p:spPr bwMode="auto">
            <a:xfrm>
              <a:off x="4760" y="1456"/>
              <a:ext cx="2" cy="6"/>
            </a:xfrm>
            <a:custGeom>
              <a:avLst/>
              <a:gdLst>
                <a:gd name="T0" fmla="*/ 0 w 2"/>
                <a:gd name="T1" fmla="*/ 6 h 6"/>
                <a:gd name="T2" fmla="*/ 2 w 2"/>
                <a:gd name="T3" fmla="*/ 6 h 6"/>
                <a:gd name="T4" fmla="*/ 2 w 2"/>
                <a:gd name="T5" fmla="*/ 0 h 6"/>
                <a:gd name="T6" fmla="*/ 2 w 2"/>
                <a:gd name="T7" fmla="*/ 0 h 6"/>
                <a:gd name="T8" fmla="*/ 0 w 2"/>
                <a:gd name="T9" fmla="*/ 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6"/>
                  </a:moveTo>
                  <a:lnTo>
                    <a:pt x="2" y="6"/>
                  </a:lnTo>
                  <a:lnTo>
                    <a:pt x="2"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 name="Freeform 53"/>
            <p:cNvSpPr>
              <a:spLocks/>
            </p:cNvSpPr>
            <p:nvPr/>
          </p:nvSpPr>
          <p:spPr bwMode="auto">
            <a:xfrm>
              <a:off x="4730" y="1444"/>
              <a:ext cx="14" cy="12"/>
            </a:xfrm>
            <a:custGeom>
              <a:avLst/>
              <a:gdLst>
                <a:gd name="T0" fmla="*/ 12 w 14"/>
                <a:gd name="T1" fmla="*/ 12 h 12"/>
                <a:gd name="T2" fmla="*/ 0 w 14"/>
                <a:gd name="T3" fmla="*/ 4 h 12"/>
                <a:gd name="T4" fmla="*/ 2 w 14"/>
                <a:gd name="T5" fmla="*/ 0 h 12"/>
                <a:gd name="T6" fmla="*/ 14 w 14"/>
                <a:gd name="T7" fmla="*/ 6 h 12"/>
                <a:gd name="T8" fmla="*/ 12 w 14"/>
                <a:gd name="T9" fmla="*/ 12 h 12"/>
                <a:gd name="T10" fmla="*/ 0 60000 65536"/>
                <a:gd name="T11" fmla="*/ 0 60000 65536"/>
                <a:gd name="T12" fmla="*/ 0 60000 65536"/>
                <a:gd name="T13" fmla="*/ 0 60000 65536"/>
                <a:gd name="T14" fmla="*/ 0 60000 65536"/>
                <a:gd name="T15" fmla="*/ 0 w 14"/>
                <a:gd name="T16" fmla="*/ 0 h 12"/>
                <a:gd name="T17" fmla="*/ 14 w 14"/>
                <a:gd name="T18" fmla="*/ 12 h 12"/>
              </a:gdLst>
              <a:ahLst/>
              <a:cxnLst>
                <a:cxn ang="T10">
                  <a:pos x="T0" y="T1"/>
                </a:cxn>
                <a:cxn ang="T11">
                  <a:pos x="T2" y="T3"/>
                </a:cxn>
                <a:cxn ang="T12">
                  <a:pos x="T4" y="T5"/>
                </a:cxn>
                <a:cxn ang="T13">
                  <a:pos x="T6" y="T7"/>
                </a:cxn>
                <a:cxn ang="T14">
                  <a:pos x="T8" y="T9"/>
                </a:cxn>
              </a:cxnLst>
              <a:rect l="T15" t="T16" r="T17" b="T18"/>
              <a:pathLst>
                <a:path w="14" h="12">
                  <a:moveTo>
                    <a:pt x="12" y="12"/>
                  </a:moveTo>
                  <a:lnTo>
                    <a:pt x="0" y="4"/>
                  </a:lnTo>
                  <a:lnTo>
                    <a:pt x="2" y="0"/>
                  </a:lnTo>
                  <a:lnTo>
                    <a:pt x="14" y="6"/>
                  </a:lnTo>
                  <a:lnTo>
                    <a:pt x="1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7" name="Freeform 54"/>
            <p:cNvSpPr>
              <a:spLocks/>
            </p:cNvSpPr>
            <p:nvPr/>
          </p:nvSpPr>
          <p:spPr bwMode="auto">
            <a:xfrm>
              <a:off x="4726" y="1442"/>
              <a:ext cx="6" cy="6"/>
            </a:xfrm>
            <a:custGeom>
              <a:avLst/>
              <a:gdLst>
                <a:gd name="T0" fmla="*/ 2 w 6"/>
                <a:gd name="T1" fmla="*/ 6 h 6"/>
                <a:gd name="T2" fmla="*/ 0 w 6"/>
                <a:gd name="T3" fmla="*/ 4 h 6"/>
                <a:gd name="T4" fmla="*/ 4 w 6"/>
                <a:gd name="T5" fmla="*/ 0 h 6"/>
                <a:gd name="T6" fmla="*/ 6 w 6"/>
                <a:gd name="T7" fmla="*/ 2 h 6"/>
                <a:gd name="T8" fmla="*/ 2 w 6"/>
                <a:gd name="T9" fmla="*/ 6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2" y="6"/>
                  </a:moveTo>
                  <a:lnTo>
                    <a:pt x="0" y="4"/>
                  </a:lnTo>
                  <a:lnTo>
                    <a:pt x="4" y="0"/>
                  </a:lnTo>
                  <a:lnTo>
                    <a:pt x="6" y="2"/>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 name="Freeform 55"/>
            <p:cNvSpPr>
              <a:spLocks/>
            </p:cNvSpPr>
            <p:nvPr/>
          </p:nvSpPr>
          <p:spPr bwMode="auto">
            <a:xfrm>
              <a:off x="4704" y="1420"/>
              <a:ext cx="14" cy="14"/>
            </a:xfrm>
            <a:custGeom>
              <a:avLst/>
              <a:gdLst>
                <a:gd name="T0" fmla="*/ 8 w 14"/>
                <a:gd name="T1" fmla="*/ 14 h 14"/>
                <a:gd name="T2" fmla="*/ 0 w 14"/>
                <a:gd name="T3" fmla="*/ 4 h 14"/>
                <a:gd name="T4" fmla="*/ 6 w 14"/>
                <a:gd name="T5" fmla="*/ 0 h 14"/>
                <a:gd name="T6" fmla="*/ 14 w 14"/>
                <a:gd name="T7" fmla="*/ 10 h 14"/>
                <a:gd name="T8" fmla="*/ 8 w 14"/>
                <a:gd name="T9" fmla="*/ 14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8" y="14"/>
                  </a:moveTo>
                  <a:lnTo>
                    <a:pt x="0" y="4"/>
                  </a:lnTo>
                  <a:lnTo>
                    <a:pt x="6" y="0"/>
                  </a:lnTo>
                  <a:lnTo>
                    <a:pt x="14" y="10"/>
                  </a:lnTo>
                  <a:lnTo>
                    <a:pt x="8"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9" name="Freeform 56"/>
            <p:cNvSpPr>
              <a:spLocks/>
            </p:cNvSpPr>
            <p:nvPr/>
          </p:nvSpPr>
          <p:spPr bwMode="auto">
            <a:xfrm>
              <a:off x="4702" y="1418"/>
              <a:ext cx="8" cy="6"/>
            </a:xfrm>
            <a:custGeom>
              <a:avLst/>
              <a:gdLst>
                <a:gd name="T0" fmla="*/ 2 w 8"/>
                <a:gd name="T1" fmla="*/ 6 h 6"/>
                <a:gd name="T2" fmla="*/ 0 w 8"/>
                <a:gd name="T3" fmla="*/ 2 h 6"/>
                <a:gd name="T4" fmla="*/ 6 w 8"/>
                <a:gd name="T5" fmla="*/ 0 h 6"/>
                <a:gd name="T6" fmla="*/ 8 w 8"/>
                <a:gd name="T7" fmla="*/ 4 h 6"/>
                <a:gd name="T8" fmla="*/ 2 w 8"/>
                <a:gd name="T9" fmla="*/ 6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2" y="6"/>
                  </a:moveTo>
                  <a:lnTo>
                    <a:pt x="0" y="2"/>
                  </a:lnTo>
                  <a:lnTo>
                    <a:pt x="6" y="0"/>
                  </a:lnTo>
                  <a:lnTo>
                    <a:pt x="8" y="4"/>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 name="Freeform 57"/>
            <p:cNvSpPr>
              <a:spLocks/>
            </p:cNvSpPr>
            <p:nvPr/>
          </p:nvSpPr>
          <p:spPr bwMode="auto">
            <a:xfrm>
              <a:off x="4704" y="1420"/>
              <a:ext cx="6" cy="4"/>
            </a:xfrm>
            <a:custGeom>
              <a:avLst/>
              <a:gdLst>
                <a:gd name="T0" fmla="*/ 0 w 6"/>
                <a:gd name="T1" fmla="*/ 4 h 4"/>
                <a:gd name="T2" fmla="*/ 0 w 6"/>
                <a:gd name="T3" fmla="*/ 4 h 4"/>
                <a:gd name="T4" fmla="*/ 6 w 6"/>
                <a:gd name="T5" fmla="*/ 0 h 4"/>
                <a:gd name="T6" fmla="*/ 6 w 6"/>
                <a:gd name="T7" fmla="*/ 2 h 4"/>
                <a:gd name="T8" fmla="*/ 0 w 6"/>
                <a:gd name="T9" fmla="*/ 4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4"/>
                  </a:moveTo>
                  <a:lnTo>
                    <a:pt x="0" y="4"/>
                  </a:lnTo>
                  <a:lnTo>
                    <a:pt x="6" y="0"/>
                  </a:lnTo>
                  <a:lnTo>
                    <a:pt x="6"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1" name="Freeform 58"/>
            <p:cNvSpPr>
              <a:spLocks/>
            </p:cNvSpPr>
            <p:nvPr/>
          </p:nvSpPr>
          <p:spPr bwMode="auto">
            <a:xfrm>
              <a:off x="4690" y="1390"/>
              <a:ext cx="10" cy="14"/>
            </a:xfrm>
            <a:custGeom>
              <a:avLst/>
              <a:gdLst>
                <a:gd name="T0" fmla="*/ 4 w 10"/>
                <a:gd name="T1" fmla="*/ 14 h 14"/>
                <a:gd name="T2" fmla="*/ 0 w 10"/>
                <a:gd name="T3" fmla="*/ 2 h 14"/>
                <a:gd name="T4" fmla="*/ 6 w 10"/>
                <a:gd name="T5" fmla="*/ 0 h 14"/>
                <a:gd name="T6" fmla="*/ 10 w 10"/>
                <a:gd name="T7" fmla="*/ 12 h 14"/>
                <a:gd name="T8" fmla="*/ 4 w 10"/>
                <a:gd name="T9" fmla="*/ 14 h 14"/>
                <a:gd name="T10" fmla="*/ 0 60000 65536"/>
                <a:gd name="T11" fmla="*/ 0 60000 65536"/>
                <a:gd name="T12" fmla="*/ 0 60000 65536"/>
                <a:gd name="T13" fmla="*/ 0 60000 65536"/>
                <a:gd name="T14" fmla="*/ 0 60000 65536"/>
                <a:gd name="T15" fmla="*/ 0 w 10"/>
                <a:gd name="T16" fmla="*/ 0 h 14"/>
                <a:gd name="T17" fmla="*/ 10 w 10"/>
                <a:gd name="T18" fmla="*/ 14 h 14"/>
              </a:gdLst>
              <a:ahLst/>
              <a:cxnLst>
                <a:cxn ang="T10">
                  <a:pos x="T0" y="T1"/>
                </a:cxn>
                <a:cxn ang="T11">
                  <a:pos x="T2" y="T3"/>
                </a:cxn>
                <a:cxn ang="T12">
                  <a:pos x="T4" y="T5"/>
                </a:cxn>
                <a:cxn ang="T13">
                  <a:pos x="T6" y="T7"/>
                </a:cxn>
                <a:cxn ang="T14">
                  <a:pos x="T8" y="T9"/>
                </a:cxn>
              </a:cxnLst>
              <a:rect l="T15" t="T16" r="T17" b="T18"/>
              <a:pathLst>
                <a:path w="10" h="14">
                  <a:moveTo>
                    <a:pt x="4" y="14"/>
                  </a:moveTo>
                  <a:lnTo>
                    <a:pt x="0" y="2"/>
                  </a:lnTo>
                  <a:lnTo>
                    <a:pt x="6" y="0"/>
                  </a:lnTo>
                  <a:lnTo>
                    <a:pt x="10" y="12"/>
                  </a:lnTo>
                  <a:lnTo>
                    <a:pt x="4"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2" name="Freeform 59"/>
            <p:cNvSpPr>
              <a:spLocks/>
            </p:cNvSpPr>
            <p:nvPr/>
          </p:nvSpPr>
          <p:spPr bwMode="auto">
            <a:xfrm>
              <a:off x="4690" y="1386"/>
              <a:ext cx="8" cy="6"/>
            </a:xfrm>
            <a:custGeom>
              <a:avLst/>
              <a:gdLst>
                <a:gd name="T0" fmla="*/ 0 w 8"/>
                <a:gd name="T1" fmla="*/ 6 h 6"/>
                <a:gd name="T2" fmla="*/ 0 w 8"/>
                <a:gd name="T3" fmla="*/ 0 h 6"/>
                <a:gd name="T4" fmla="*/ 6 w 8"/>
                <a:gd name="T5" fmla="*/ 0 h 6"/>
                <a:gd name="T6" fmla="*/ 8 w 8"/>
                <a:gd name="T7" fmla="*/ 6 h 6"/>
                <a:gd name="T8" fmla="*/ 0 w 8"/>
                <a:gd name="T9" fmla="*/ 6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0" y="6"/>
                  </a:moveTo>
                  <a:lnTo>
                    <a:pt x="0" y="0"/>
                  </a:lnTo>
                  <a:lnTo>
                    <a:pt x="6" y="0"/>
                  </a:lnTo>
                  <a:lnTo>
                    <a:pt x="8"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3" name="Freeform 60"/>
            <p:cNvSpPr>
              <a:spLocks/>
            </p:cNvSpPr>
            <p:nvPr/>
          </p:nvSpPr>
          <p:spPr bwMode="auto">
            <a:xfrm>
              <a:off x="4690" y="1390"/>
              <a:ext cx="8" cy="2"/>
            </a:xfrm>
            <a:custGeom>
              <a:avLst/>
              <a:gdLst>
                <a:gd name="T0" fmla="*/ 0 w 8"/>
                <a:gd name="T1" fmla="*/ 2 h 2"/>
                <a:gd name="T2" fmla="*/ 0 w 8"/>
                <a:gd name="T3" fmla="*/ 2 h 2"/>
                <a:gd name="T4" fmla="*/ 6 w 8"/>
                <a:gd name="T5" fmla="*/ 0 h 2"/>
                <a:gd name="T6" fmla="*/ 8 w 8"/>
                <a:gd name="T7" fmla="*/ 2 h 2"/>
                <a:gd name="T8" fmla="*/ 0 w 8"/>
                <a:gd name="T9" fmla="*/ 2 h 2"/>
                <a:gd name="T10" fmla="*/ 0 60000 65536"/>
                <a:gd name="T11" fmla="*/ 0 60000 65536"/>
                <a:gd name="T12" fmla="*/ 0 60000 65536"/>
                <a:gd name="T13" fmla="*/ 0 60000 65536"/>
                <a:gd name="T14" fmla="*/ 0 60000 65536"/>
                <a:gd name="T15" fmla="*/ 0 w 8"/>
                <a:gd name="T16" fmla="*/ 0 h 2"/>
                <a:gd name="T17" fmla="*/ 8 w 8"/>
                <a:gd name="T18" fmla="*/ 2 h 2"/>
              </a:gdLst>
              <a:ahLst/>
              <a:cxnLst>
                <a:cxn ang="T10">
                  <a:pos x="T0" y="T1"/>
                </a:cxn>
                <a:cxn ang="T11">
                  <a:pos x="T2" y="T3"/>
                </a:cxn>
                <a:cxn ang="T12">
                  <a:pos x="T4" y="T5"/>
                </a:cxn>
                <a:cxn ang="T13">
                  <a:pos x="T6" y="T7"/>
                </a:cxn>
                <a:cxn ang="T14">
                  <a:pos x="T8" y="T9"/>
                </a:cxn>
              </a:cxnLst>
              <a:rect l="T15" t="T16" r="T17" b="T18"/>
              <a:pathLst>
                <a:path w="8" h="2">
                  <a:moveTo>
                    <a:pt x="0" y="2"/>
                  </a:moveTo>
                  <a:lnTo>
                    <a:pt x="0" y="2"/>
                  </a:lnTo>
                  <a:lnTo>
                    <a:pt x="6" y="0"/>
                  </a:lnTo>
                  <a:lnTo>
                    <a:pt x="8"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4" name="Freeform 61"/>
            <p:cNvSpPr>
              <a:spLocks/>
            </p:cNvSpPr>
            <p:nvPr/>
          </p:nvSpPr>
          <p:spPr bwMode="auto">
            <a:xfrm>
              <a:off x="4690" y="1356"/>
              <a:ext cx="8" cy="14"/>
            </a:xfrm>
            <a:custGeom>
              <a:avLst/>
              <a:gdLst>
                <a:gd name="T0" fmla="*/ 0 w 8"/>
                <a:gd name="T1" fmla="*/ 12 h 14"/>
                <a:gd name="T2" fmla="*/ 0 w 8"/>
                <a:gd name="T3" fmla="*/ 0 h 14"/>
                <a:gd name="T4" fmla="*/ 8 w 8"/>
                <a:gd name="T5" fmla="*/ 2 h 14"/>
                <a:gd name="T6" fmla="*/ 6 w 8"/>
                <a:gd name="T7" fmla="*/ 14 h 14"/>
                <a:gd name="T8" fmla="*/ 0 w 8"/>
                <a:gd name="T9" fmla="*/ 12 h 14"/>
                <a:gd name="T10" fmla="*/ 0 60000 65536"/>
                <a:gd name="T11" fmla="*/ 0 60000 65536"/>
                <a:gd name="T12" fmla="*/ 0 60000 65536"/>
                <a:gd name="T13" fmla="*/ 0 60000 65536"/>
                <a:gd name="T14" fmla="*/ 0 60000 65536"/>
                <a:gd name="T15" fmla="*/ 0 w 8"/>
                <a:gd name="T16" fmla="*/ 0 h 14"/>
                <a:gd name="T17" fmla="*/ 8 w 8"/>
                <a:gd name="T18" fmla="*/ 14 h 14"/>
              </a:gdLst>
              <a:ahLst/>
              <a:cxnLst>
                <a:cxn ang="T10">
                  <a:pos x="T0" y="T1"/>
                </a:cxn>
                <a:cxn ang="T11">
                  <a:pos x="T2" y="T3"/>
                </a:cxn>
                <a:cxn ang="T12">
                  <a:pos x="T4" y="T5"/>
                </a:cxn>
                <a:cxn ang="T13">
                  <a:pos x="T6" y="T7"/>
                </a:cxn>
                <a:cxn ang="T14">
                  <a:pos x="T8" y="T9"/>
                </a:cxn>
              </a:cxnLst>
              <a:rect l="T15" t="T16" r="T17" b="T18"/>
              <a:pathLst>
                <a:path w="8" h="14">
                  <a:moveTo>
                    <a:pt x="0" y="12"/>
                  </a:moveTo>
                  <a:lnTo>
                    <a:pt x="0" y="0"/>
                  </a:lnTo>
                  <a:lnTo>
                    <a:pt x="8" y="2"/>
                  </a:lnTo>
                  <a:lnTo>
                    <a:pt x="6" y="14"/>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5" name="Freeform 62"/>
            <p:cNvSpPr>
              <a:spLocks/>
            </p:cNvSpPr>
            <p:nvPr/>
          </p:nvSpPr>
          <p:spPr bwMode="auto">
            <a:xfrm>
              <a:off x="4690" y="1352"/>
              <a:ext cx="8" cy="6"/>
            </a:xfrm>
            <a:custGeom>
              <a:avLst/>
              <a:gdLst>
                <a:gd name="T0" fmla="*/ 0 w 8"/>
                <a:gd name="T1" fmla="*/ 4 h 6"/>
                <a:gd name="T2" fmla="*/ 2 w 8"/>
                <a:gd name="T3" fmla="*/ 0 h 6"/>
                <a:gd name="T4" fmla="*/ 8 w 8"/>
                <a:gd name="T5" fmla="*/ 2 h 6"/>
                <a:gd name="T6" fmla="*/ 6 w 8"/>
                <a:gd name="T7" fmla="*/ 6 h 6"/>
                <a:gd name="T8" fmla="*/ 0 w 8"/>
                <a:gd name="T9" fmla="*/ 4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0" y="4"/>
                  </a:moveTo>
                  <a:lnTo>
                    <a:pt x="2" y="0"/>
                  </a:lnTo>
                  <a:lnTo>
                    <a:pt x="8" y="2"/>
                  </a:lnTo>
                  <a:lnTo>
                    <a:pt x="6" y="6"/>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6" name="Freeform 63"/>
            <p:cNvSpPr>
              <a:spLocks/>
            </p:cNvSpPr>
            <p:nvPr/>
          </p:nvSpPr>
          <p:spPr bwMode="auto">
            <a:xfrm>
              <a:off x="4690" y="1356"/>
              <a:ext cx="8" cy="2"/>
            </a:xfrm>
            <a:custGeom>
              <a:avLst/>
              <a:gdLst>
                <a:gd name="T0" fmla="*/ 0 w 8"/>
                <a:gd name="T1" fmla="*/ 0 h 2"/>
                <a:gd name="T2" fmla="*/ 0 w 8"/>
                <a:gd name="T3" fmla="*/ 0 h 2"/>
                <a:gd name="T4" fmla="*/ 8 w 8"/>
                <a:gd name="T5" fmla="*/ 2 h 2"/>
                <a:gd name="T6" fmla="*/ 6 w 8"/>
                <a:gd name="T7" fmla="*/ 2 h 2"/>
                <a:gd name="T8" fmla="*/ 0 w 8"/>
                <a:gd name="T9" fmla="*/ 0 h 2"/>
                <a:gd name="T10" fmla="*/ 0 60000 65536"/>
                <a:gd name="T11" fmla="*/ 0 60000 65536"/>
                <a:gd name="T12" fmla="*/ 0 60000 65536"/>
                <a:gd name="T13" fmla="*/ 0 60000 65536"/>
                <a:gd name="T14" fmla="*/ 0 60000 65536"/>
                <a:gd name="T15" fmla="*/ 0 w 8"/>
                <a:gd name="T16" fmla="*/ 0 h 2"/>
                <a:gd name="T17" fmla="*/ 8 w 8"/>
                <a:gd name="T18" fmla="*/ 2 h 2"/>
              </a:gdLst>
              <a:ahLst/>
              <a:cxnLst>
                <a:cxn ang="T10">
                  <a:pos x="T0" y="T1"/>
                </a:cxn>
                <a:cxn ang="T11">
                  <a:pos x="T2" y="T3"/>
                </a:cxn>
                <a:cxn ang="T12">
                  <a:pos x="T4" y="T5"/>
                </a:cxn>
                <a:cxn ang="T13">
                  <a:pos x="T6" y="T7"/>
                </a:cxn>
                <a:cxn ang="T14">
                  <a:pos x="T8" y="T9"/>
                </a:cxn>
              </a:cxnLst>
              <a:rect l="T15" t="T16" r="T17" b="T18"/>
              <a:pathLst>
                <a:path w="8" h="2">
                  <a:moveTo>
                    <a:pt x="0" y="0"/>
                  </a:moveTo>
                  <a:lnTo>
                    <a:pt x="0" y="0"/>
                  </a:lnTo>
                  <a:lnTo>
                    <a:pt x="8" y="2"/>
                  </a:lnTo>
                  <a:lnTo>
                    <a:pt x="6"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7" name="Freeform 64"/>
            <p:cNvSpPr>
              <a:spLocks/>
            </p:cNvSpPr>
            <p:nvPr/>
          </p:nvSpPr>
          <p:spPr bwMode="auto">
            <a:xfrm>
              <a:off x="4698" y="1324"/>
              <a:ext cx="12" cy="14"/>
            </a:xfrm>
            <a:custGeom>
              <a:avLst/>
              <a:gdLst>
                <a:gd name="T0" fmla="*/ 0 w 12"/>
                <a:gd name="T1" fmla="*/ 10 h 14"/>
                <a:gd name="T2" fmla="*/ 6 w 12"/>
                <a:gd name="T3" fmla="*/ 0 h 14"/>
                <a:gd name="T4" fmla="*/ 12 w 12"/>
                <a:gd name="T5" fmla="*/ 4 h 14"/>
                <a:gd name="T6" fmla="*/ 6 w 12"/>
                <a:gd name="T7" fmla="*/ 14 h 14"/>
                <a:gd name="T8" fmla="*/ 0 w 12"/>
                <a:gd name="T9" fmla="*/ 10 h 14"/>
                <a:gd name="T10" fmla="*/ 0 60000 65536"/>
                <a:gd name="T11" fmla="*/ 0 60000 65536"/>
                <a:gd name="T12" fmla="*/ 0 60000 65536"/>
                <a:gd name="T13" fmla="*/ 0 60000 65536"/>
                <a:gd name="T14" fmla="*/ 0 60000 65536"/>
                <a:gd name="T15" fmla="*/ 0 w 12"/>
                <a:gd name="T16" fmla="*/ 0 h 14"/>
                <a:gd name="T17" fmla="*/ 12 w 12"/>
                <a:gd name="T18" fmla="*/ 14 h 14"/>
              </a:gdLst>
              <a:ahLst/>
              <a:cxnLst>
                <a:cxn ang="T10">
                  <a:pos x="T0" y="T1"/>
                </a:cxn>
                <a:cxn ang="T11">
                  <a:pos x="T2" y="T3"/>
                </a:cxn>
                <a:cxn ang="T12">
                  <a:pos x="T4" y="T5"/>
                </a:cxn>
                <a:cxn ang="T13">
                  <a:pos x="T6" y="T7"/>
                </a:cxn>
                <a:cxn ang="T14">
                  <a:pos x="T8" y="T9"/>
                </a:cxn>
              </a:cxnLst>
              <a:rect l="T15" t="T16" r="T17" b="T18"/>
              <a:pathLst>
                <a:path w="12" h="14">
                  <a:moveTo>
                    <a:pt x="0" y="10"/>
                  </a:moveTo>
                  <a:lnTo>
                    <a:pt x="6" y="0"/>
                  </a:lnTo>
                  <a:lnTo>
                    <a:pt x="12" y="4"/>
                  </a:lnTo>
                  <a:lnTo>
                    <a:pt x="6" y="14"/>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8" name="Freeform 65"/>
            <p:cNvSpPr>
              <a:spLocks/>
            </p:cNvSpPr>
            <p:nvPr/>
          </p:nvSpPr>
          <p:spPr bwMode="auto">
            <a:xfrm>
              <a:off x="4704" y="1320"/>
              <a:ext cx="10" cy="8"/>
            </a:xfrm>
            <a:custGeom>
              <a:avLst/>
              <a:gdLst>
                <a:gd name="T0" fmla="*/ 0 w 10"/>
                <a:gd name="T1" fmla="*/ 4 h 8"/>
                <a:gd name="T2" fmla="*/ 4 w 10"/>
                <a:gd name="T3" fmla="*/ 0 h 8"/>
                <a:gd name="T4" fmla="*/ 10 w 10"/>
                <a:gd name="T5" fmla="*/ 4 h 8"/>
                <a:gd name="T6" fmla="*/ 6 w 10"/>
                <a:gd name="T7" fmla="*/ 8 h 8"/>
                <a:gd name="T8" fmla="*/ 0 w 10"/>
                <a:gd name="T9" fmla="*/ 4 h 8"/>
                <a:gd name="T10" fmla="*/ 0 60000 65536"/>
                <a:gd name="T11" fmla="*/ 0 60000 65536"/>
                <a:gd name="T12" fmla="*/ 0 60000 65536"/>
                <a:gd name="T13" fmla="*/ 0 60000 65536"/>
                <a:gd name="T14" fmla="*/ 0 60000 65536"/>
                <a:gd name="T15" fmla="*/ 0 w 10"/>
                <a:gd name="T16" fmla="*/ 0 h 8"/>
                <a:gd name="T17" fmla="*/ 10 w 10"/>
                <a:gd name="T18" fmla="*/ 8 h 8"/>
              </a:gdLst>
              <a:ahLst/>
              <a:cxnLst>
                <a:cxn ang="T10">
                  <a:pos x="T0" y="T1"/>
                </a:cxn>
                <a:cxn ang="T11">
                  <a:pos x="T2" y="T3"/>
                </a:cxn>
                <a:cxn ang="T12">
                  <a:pos x="T4" y="T5"/>
                </a:cxn>
                <a:cxn ang="T13">
                  <a:pos x="T6" y="T7"/>
                </a:cxn>
                <a:cxn ang="T14">
                  <a:pos x="T8" y="T9"/>
                </a:cxn>
              </a:cxnLst>
              <a:rect l="T15" t="T16" r="T17" b="T18"/>
              <a:pathLst>
                <a:path w="10" h="8">
                  <a:moveTo>
                    <a:pt x="0" y="4"/>
                  </a:moveTo>
                  <a:lnTo>
                    <a:pt x="4" y="0"/>
                  </a:lnTo>
                  <a:lnTo>
                    <a:pt x="10" y="4"/>
                  </a:lnTo>
                  <a:lnTo>
                    <a:pt x="6" y="8"/>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9" name="Freeform 66"/>
            <p:cNvSpPr>
              <a:spLocks/>
            </p:cNvSpPr>
            <p:nvPr/>
          </p:nvSpPr>
          <p:spPr bwMode="auto">
            <a:xfrm>
              <a:off x="4704" y="1324"/>
              <a:ext cx="6" cy="4"/>
            </a:xfrm>
            <a:custGeom>
              <a:avLst/>
              <a:gdLst>
                <a:gd name="T0" fmla="*/ 0 w 6"/>
                <a:gd name="T1" fmla="*/ 0 h 4"/>
                <a:gd name="T2" fmla="*/ 0 w 6"/>
                <a:gd name="T3" fmla="*/ 0 h 4"/>
                <a:gd name="T4" fmla="*/ 6 w 6"/>
                <a:gd name="T5" fmla="*/ 4 h 4"/>
                <a:gd name="T6" fmla="*/ 6 w 6"/>
                <a:gd name="T7" fmla="*/ 4 h 4"/>
                <a:gd name="T8" fmla="*/ 0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0"/>
                  </a:moveTo>
                  <a:lnTo>
                    <a:pt x="0" y="0"/>
                  </a:lnTo>
                  <a:lnTo>
                    <a:pt x="6"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0" name="Freeform 67"/>
            <p:cNvSpPr>
              <a:spLocks/>
            </p:cNvSpPr>
            <p:nvPr/>
          </p:nvSpPr>
          <p:spPr bwMode="auto">
            <a:xfrm>
              <a:off x="4720" y="1300"/>
              <a:ext cx="12" cy="12"/>
            </a:xfrm>
            <a:custGeom>
              <a:avLst/>
              <a:gdLst>
                <a:gd name="T0" fmla="*/ 0 w 12"/>
                <a:gd name="T1" fmla="*/ 6 h 12"/>
                <a:gd name="T2" fmla="*/ 8 w 12"/>
                <a:gd name="T3" fmla="*/ 0 h 12"/>
                <a:gd name="T4" fmla="*/ 12 w 12"/>
                <a:gd name="T5" fmla="*/ 6 h 12"/>
                <a:gd name="T6" fmla="*/ 4 w 12"/>
                <a:gd name="T7" fmla="*/ 12 h 12"/>
                <a:gd name="T8" fmla="*/ 0 w 12"/>
                <a:gd name="T9" fmla="*/ 6 h 12"/>
                <a:gd name="T10" fmla="*/ 0 60000 65536"/>
                <a:gd name="T11" fmla="*/ 0 60000 65536"/>
                <a:gd name="T12" fmla="*/ 0 60000 65536"/>
                <a:gd name="T13" fmla="*/ 0 60000 65536"/>
                <a:gd name="T14" fmla="*/ 0 60000 65536"/>
                <a:gd name="T15" fmla="*/ 0 w 12"/>
                <a:gd name="T16" fmla="*/ 0 h 12"/>
                <a:gd name="T17" fmla="*/ 12 w 12"/>
                <a:gd name="T18" fmla="*/ 12 h 12"/>
              </a:gdLst>
              <a:ahLst/>
              <a:cxnLst>
                <a:cxn ang="T10">
                  <a:pos x="T0" y="T1"/>
                </a:cxn>
                <a:cxn ang="T11">
                  <a:pos x="T2" y="T3"/>
                </a:cxn>
                <a:cxn ang="T12">
                  <a:pos x="T4" y="T5"/>
                </a:cxn>
                <a:cxn ang="T13">
                  <a:pos x="T6" y="T7"/>
                </a:cxn>
                <a:cxn ang="T14">
                  <a:pos x="T8" y="T9"/>
                </a:cxn>
              </a:cxnLst>
              <a:rect l="T15" t="T16" r="T17" b="T18"/>
              <a:pathLst>
                <a:path w="12" h="12">
                  <a:moveTo>
                    <a:pt x="0" y="6"/>
                  </a:moveTo>
                  <a:lnTo>
                    <a:pt x="8" y="0"/>
                  </a:lnTo>
                  <a:lnTo>
                    <a:pt x="12" y="6"/>
                  </a:lnTo>
                  <a:lnTo>
                    <a:pt x="4" y="12"/>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1" name="Freeform 68"/>
            <p:cNvSpPr>
              <a:spLocks/>
            </p:cNvSpPr>
            <p:nvPr/>
          </p:nvSpPr>
          <p:spPr bwMode="auto">
            <a:xfrm>
              <a:off x="4730" y="1296"/>
              <a:ext cx="8" cy="10"/>
            </a:xfrm>
            <a:custGeom>
              <a:avLst/>
              <a:gdLst>
                <a:gd name="T0" fmla="*/ 0 w 8"/>
                <a:gd name="T1" fmla="*/ 4 h 10"/>
                <a:gd name="T2" fmla="*/ 6 w 8"/>
                <a:gd name="T3" fmla="*/ 0 h 10"/>
                <a:gd name="T4" fmla="*/ 8 w 8"/>
                <a:gd name="T5" fmla="*/ 6 h 10"/>
                <a:gd name="T6" fmla="*/ 2 w 8"/>
                <a:gd name="T7" fmla="*/ 10 h 10"/>
                <a:gd name="T8" fmla="*/ 0 w 8"/>
                <a:gd name="T9" fmla="*/ 4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0" y="4"/>
                  </a:moveTo>
                  <a:lnTo>
                    <a:pt x="6" y="0"/>
                  </a:lnTo>
                  <a:lnTo>
                    <a:pt x="8" y="6"/>
                  </a:lnTo>
                  <a:lnTo>
                    <a:pt x="2"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2" name="Freeform 69"/>
            <p:cNvSpPr>
              <a:spLocks/>
            </p:cNvSpPr>
            <p:nvPr/>
          </p:nvSpPr>
          <p:spPr bwMode="auto">
            <a:xfrm>
              <a:off x="4752" y="1286"/>
              <a:ext cx="10" cy="10"/>
            </a:xfrm>
            <a:custGeom>
              <a:avLst/>
              <a:gdLst>
                <a:gd name="T0" fmla="*/ 0 w 10"/>
                <a:gd name="T1" fmla="*/ 4 h 10"/>
                <a:gd name="T2" fmla="*/ 8 w 10"/>
                <a:gd name="T3" fmla="*/ 0 h 10"/>
                <a:gd name="T4" fmla="*/ 10 w 10"/>
                <a:gd name="T5" fmla="*/ 6 h 10"/>
                <a:gd name="T6" fmla="*/ 2 w 10"/>
                <a:gd name="T7" fmla="*/ 10 h 10"/>
                <a:gd name="T8" fmla="*/ 0 w 10"/>
                <a:gd name="T9" fmla="*/ 4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0" y="4"/>
                  </a:moveTo>
                  <a:lnTo>
                    <a:pt x="8" y="0"/>
                  </a:lnTo>
                  <a:lnTo>
                    <a:pt x="10" y="6"/>
                  </a:lnTo>
                  <a:lnTo>
                    <a:pt x="2"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3" name="Rectangle 70"/>
            <p:cNvSpPr>
              <a:spLocks noChangeArrowheads="1"/>
            </p:cNvSpPr>
            <p:nvPr/>
          </p:nvSpPr>
          <p:spPr bwMode="auto">
            <a:xfrm>
              <a:off x="4762" y="1286"/>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4" name="Rectangle 71"/>
            <p:cNvSpPr>
              <a:spLocks noChangeArrowheads="1"/>
            </p:cNvSpPr>
            <p:nvPr/>
          </p:nvSpPr>
          <p:spPr bwMode="auto">
            <a:xfrm>
              <a:off x="4786" y="1286"/>
              <a:ext cx="1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5" name="Freeform 72"/>
            <p:cNvSpPr>
              <a:spLocks/>
            </p:cNvSpPr>
            <p:nvPr/>
          </p:nvSpPr>
          <p:spPr bwMode="auto">
            <a:xfrm>
              <a:off x="4796" y="1286"/>
              <a:ext cx="8" cy="8"/>
            </a:xfrm>
            <a:custGeom>
              <a:avLst/>
              <a:gdLst>
                <a:gd name="T0" fmla="*/ 2 w 8"/>
                <a:gd name="T1" fmla="*/ 0 h 8"/>
                <a:gd name="T2" fmla="*/ 8 w 8"/>
                <a:gd name="T3" fmla="*/ 2 h 8"/>
                <a:gd name="T4" fmla="*/ 6 w 8"/>
                <a:gd name="T5" fmla="*/ 8 h 8"/>
                <a:gd name="T6" fmla="*/ 0 w 8"/>
                <a:gd name="T7" fmla="*/ 6 h 8"/>
                <a:gd name="T8" fmla="*/ 2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2" y="0"/>
                  </a:moveTo>
                  <a:lnTo>
                    <a:pt x="8" y="2"/>
                  </a:lnTo>
                  <a:lnTo>
                    <a:pt x="6" y="8"/>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6" name="Freeform 73"/>
            <p:cNvSpPr>
              <a:spLocks/>
            </p:cNvSpPr>
            <p:nvPr/>
          </p:nvSpPr>
          <p:spPr bwMode="auto">
            <a:xfrm>
              <a:off x="4818" y="1296"/>
              <a:ext cx="10" cy="10"/>
            </a:xfrm>
            <a:custGeom>
              <a:avLst/>
              <a:gdLst>
                <a:gd name="T0" fmla="*/ 2 w 10"/>
                <a:gd name="T1" fmla="*/ 0 h 10"/>
                <a:gd name="T2" fmla="*/ 10 w 10"/>
                <a:gd name="T3" fmla="*/ 4 h 10"/>
                <a:gd name="T4" fmla="*/ 8 w 10"/>
                <a:gd name="T5" fmla="*/ 10 h 10"/>
                <a:gd name="T6" fmla="*/ 0 w 10"/>
                <a:gd name="T7" fmla="*/ 6 h 10"/>
                <a:gd name="T8" fmla="*/ 2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2" y="0"/>
                  </a:moveTo>
                  <a:lnTo>
                    <a:pt x="10" y="4"/>
                  </a:lnTo>
                  <a:lnTo>
                    <a:pt x="8" y="1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7" name="Freeform 74"/>
            <p:cNvSpPr>
              <a:spLocks/>
            </p:cNvSpPr>
            <p:nvPr/>
          </p:nvSpPr>
          <p:spPr bwMode="auto">
            <a:xfrm>
              <a:off x="4826" y="1300"/>
              <a:ext cx="10" cy="10"/>
            </a:xfrm>
            <a:custGeom>
              <a:avLst/>
              <a:gdLst>
                <a:gd name="T0" fmla="*/ 4 w 10"/>
                <a:gd name="T1" fmla="*/ 0 h 10"/>
                <a:gd name="T2" fmla="*/ 10 w 10"/>
                <a:gd name="T3" fmla="*/ 6 h 10"/>
                <a:gd name="T4" fmla="*/ 6 w 10"/>
                <a:gd name="T5" fmla="*/ 10 h 10"/>
                <a:gd name="T6" fmla="*/ 0 w 10"/>
                <a:gd name="T7" fmla="*/ 4 h 10"/>
                <a:gd name="T8" fmla="*/ 4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4" y="0"/>
                  </a:moveTo>
                  <a:lnTo>
                    <a:pt x="10" y="6"/>
                  </a:lnTo>
                  <a:lnTo>
                    <a:pt x="6" y="10"/>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8" name="Freeform 75"/>
            <p:cNvSpPr>
              <a:spLocks/>
            </p:cNvSpPr>
            <p:nvPr/>
          </p:nvSpPr>
          <p:spPr bwMode="auto">
            <a:xfrm>
              <a:off x="4826" y="1300"/>
              <a:ext cx="4" cy="6"/>
            </a:xfrm>
            <a:custGeom>
              <a:avLst/>
              <a:gdLst>
                <a:gd name="T0" fmla="*/ 4 w 4"/>
                <a:gd name="T1" fmla="*/ 0 h 6"/>
                <a:gd name="T2" fmla="*/ 2 w 4"/>
                <a:gd name="T3" fmla="*/ 0 h 6"/>
                <a:gd name="T4" fmla="*/ 0 w 4"/>
                <a:gd name="T5" fmla="*/ 6 h 6"/>
                <a:gd name="T6" fmla="*/ 0 w 4"/>
                <a:gd name="T7" fmla="*/ 4 h 6"/>
                <a:gd name="T8" fmla="*/ 4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0"/>
                  </a:moveTo>
                  <a:lnTo>
                    <a:pt x="2" y="0"/>
                  </a:lnTo>
                  <a:lnTo>
                    <a:pt x="0" y="6"/>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69" name="Freeform 76"/>
            <p:cNvSpPr>
              <a:spLocks/>
            </p:cNvSpPr>
            <p:nvPr/>
          </p:nvSpPr>
          <p:spPr bwMode="auto">
            <a:xfrm>
              <a:off x="4844" y="1318"/>
              <a:ext cx="10" cy="10"/>
            </a:xfrm>
            <a:custGeom>
              <a:avLst/>
              <a:gdLst>
                <a:gd name="T0" fmla="*/ 4 w 10"/>
                <a:gd name="T1" fmla="*/ 0 h 10"/>
                <a:gd name="T2" fmla="*/ 10 w 10"/>
                <a:gd name="T3" fmla="*/ 6 h 10"/>
                <a:gd name="T4" fmla="*/ 4 w 10"/>
                <a:gd name="T5" fmla="*/ 10 h 10"/>
                <a:gd name="T6" fmla="*/ 0 w 10"/>
                <a:gd name="T7" fmla="*/ 4 h 10"/>
                <a:gd name="T8" fmla="*/ 4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4" y="0"/>
                  </a:moveTo>
                  <a:lnTo>
                    <a:pt x="10" y="6"/>
                  </a:lnTo>
                  <a:lnTo>
                    <a:pt x="4" y="10"/>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0" name="Freeform 77"/>
            <p:cNvSpPr>
              <a:spLocks/>
            </p:cNvSpPr>
            <p:nvPr/>
          </p:nvSpPr>
          <p:spPr bwMode="auto">
            <a:xfrm>
              <a:off x="4848" y="1324"/>
              <a:ext cx="10" cy="12"/>
            </a:xfrm>
            <a:custGeom>
              <a:avLst/>
              <a:gdLst>
                <a:gd name="T0" fmla="*/ 6 w 10"/>
                <a:gd name="T1" fmla="*/ 0 h 12"/>
                <a:gd name="T2" fmla="*/ 10 w 10"/>
                <a:gd name="T3" fmla="*/ 10 h 12"/>
                <a:gd name="T4" fmla="*/ 4 w 10"/>
                <a:gd name="T5" fmla="*/ 12 h 12"/>
                <a:gd name="T6" fmla="*/ 0 w 10"/>
                <a:gd name="T7" fmla="*/ 4 h 12"/>
                <a:gd name="T8" fmla="*/ 6 w 10"/>
                <a:gd name="T9" fmla="*/ 0 h 12"/>
                <a:gd name="T10" fmla="*/ 0 60000 65536"/>
                <a:gd name="T11" fmla="*/ 0 60000 65536"/>
                <a:gd name="T12" fmla="*/ 0 60000 65536"/>
                <a:gd name="T13" fmla="*/ 0 60000 65536"/>
                <a:gd name="T14" fmla="*/ 0 60000 65536"/>
                <a:gd name="T15" fmla="*/ 0 w 10"/>
                <a:gd name="T16" fmla="*/ 0 h 12"/>
                <a:gd name="T17" fmla="*/ 10 w 10"/>
                <a:gd name="T18" fmla="*/ 12 h 12"/>
              </a:gdLst>
              <a:ahLst/>
              <a:cxnLst>
                <a:cxn ang="T10">
                  <a:pos x="T0" y="T1"/>
                </a:cxn>
                <a:cxn ang="T11">
                  <a:pos x="T2" y="T3"/>
                </a:cxn>
                <a:cxn ang="T12">
                  <a:pos x="T4" y="T5"/>
                </a:cxn>
                <a:cxn ang="T13">
                  <a:pos x="T6" y="T7"/>
                </a:cxn>
                <a:cxn ang="T14">
                  <a:pos x="T8" y="T9"/>
                </a:cxn>
              </a:cxnLst>
              <a:rect l="T15" t="T16" r="T17" b="T18"/>
              <a:pathLst>
                <a:path w="10" h="12">
                  <a:moveTo>
                    <a:pt x="6" y="0"/>
                  </a:moveTo>
                  <a:lnTo>
                    <a:pt x="10" y="10"/>
                  </a:lnTo>
                  <a:lnTo>
                    <a:pt x="4" y="12"/>
                  </a:lnTo>
                  <a:lnTo>
                    <a:pt x="0" y="4"/>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1" name="Freeform 78"/>
            <p:cNvSpPr>
              <a:spLocks/>
            </p:cNvSpPr>
            <p:nvPr/>
          </p:nvSpPr>
          <p:spPr bwMode="auto">
            <a:xfrm>
              <a:off x="4848" y="1324"/>
              <a:ext cx="6" cy="4"/>
            </a:xfrm>
            <a:custGeom>
              <a:avLst/>
              <a:gdLst>
                <a:gd name="T0" fmla="*/ 6 w 6"/>
                <a:gd name="T1" fmla="*/ 0 h 4"/>
                <a:gd name="T2" fmla="*/ 6 w 6"/>
                <a:gd name="T3" fmla="*/ 0 h 4"/>
                <a:gd name="T4" fmla="*/ 0 w 6"/>
                <a:gd name="T5" fmla="*/ 4 h 4"/>
                <a:gd name="T6" fmla="*/ 0 w 6"/>
                <a:gd name="T7" fmla="*/ 4 h 4"/>
                <a:gd name="T8" fmla="*/ 6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6" y="0"/>
                  </a:moveTo>
                  <a:lnTo>
                    <a:pt x="6" y="0"/>
                  </a:lnTo>
                  <a:lnTo>
                    <a:pt x="0" y="4"/>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2" name="Freeform 79"/>
            <p:cNvSpPr>
              <a:spLocks/>
            </p:cNvSpPr>
            <p:nvPr/>
          </p:nvSpPr>
          <p:spPr bwMode="auto">
            <a:xfrm>
              <a:off x="4858" y="1350"/>
              <a:ext cx="8" cy="8"/>
            </a:xfrm>
            <a:custGeom>
              <a:avLst/>
              <a:gdLst>
                <a:gd name="T0" fmla="*/ 6 w 8"/>
                <a:gd name="T1" fmla="*/ 0 h 8"/>
                <a:gd name="T2" fmla="*/ 8 w 8"/>
                <a:gd name="T3" fmla="*/ 6 h 8"/>
                <a:gd name="T4" fmla="*/ 2 w 8"/>
                <a:gd name="T5" fmla="*/ 8 h 8"/>
                <a:gd name="T6" fmla="*/ 0 w 8"/>
                <a:gd name="T7" fmla="*/ 2 h 8"/>
                <a:gd name="T8" fmla="*/ 6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6" y="0"/>
                  </a:moveTo>
                  <a:lnTo>
                    <a:pt x="8" y="6"/>
                  </a:lnTo>
                  <a:lnTo>
                    <a:pt x="2" y="8"/>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3" name="Freeform 80"/>
            <p:cNvSpPr>
              <a:spLocks/>
            </p:cNvSpPr>
            <p:nvPr/>
          </p:nvSpPr>
          <p:spPr bwMode="auto">
            <a:xfrm>
              <a:off x="4860" y="1356"/>
              <a:ext cx="8" cy="12"/>
            </a:xfrm>
            <a:custGeom>
              <a:avLst/>
              <a:gdLst>
                <a:gd name="T0" fmla="*/ 6 w 8"/>
                <a:gd name="T1" fmla="*/ 0 h 12"/>
                <a:gd name="T2" fmla="*/ 8 w 8"/>
                <a:gd name="T3" fmla="*/ 12 h 12"/>
                <a:gd name="T4" fmla="*/ 2 w 8"/>
                <a:gd name="T5" fmla="*/ 12 h 12"/>
                <a:gd name="T6" fmla="*/ 0 w 8"/>
                <a:gd name="T7" fmla="*/ 2 h 12"/>
                <a:gd name="T8" fmla="*/ 6 w 8"/>
                <a:gd name="T9" fmla="*/ 0 h 12"/>
                <a:gd name="T10" fmla="*/ 0 60000 65536"/>
                <a:gd name="T11" fmla="*/ 0 60000 65536"/>
                <a:gd name="T12" fmla="*/ 0 60000 65536"/>
                <a:gd name="T13" fmla="*/ 0 60000 65536"/>
                <a:gd name="T14" fmla="*/ 0 60000 65536"/>
                <a:gd name="T15" fmla="*/ 0 w 8"/>
                <a:gd name="T16" fmla="*/ 0 h 12"/>
                <a:gd name="T17" fmla="*/ 8 w 8"/>
                <a:gd name="T18" fmla="*/ 12 h 12"/>
              </a:gdLst>
              <a:ahLst/>
              <a:cxnLst>
                <a:cxn ang="T10">
                  <a:pos x="T0" y="T1"/>
                </a:cxn>
                <a:cxn ang="T11">
                  <a:pos x="T2" y="T3"/>
                </a:cxn>
                <a:cxn ang="T12">
                  <a:pos x="T4" y="T5"/>
                </a:cxn>
                <a:cxn ang="T13">
                  <a:pos x="T6" y="T7"/>
                </a:cxn>
                <a:cxn ang="T14">
                  <a:pos x="T8" y="T9"/>
                </a:cxn>
              </a:cxnLst>
              <a:rect l="T15" t="T16" r="T17" b="T18"/>
              <a:pathLst>
                <a:path w="8" h="12">
                  <a:moveTo>
                    <a:pt x="6" y="0"/>
                  </a:moveTo>
                  <a:lnTo>
                    <a:pt x="8" y="12"/>
                  </a:lnTo>
                  <a:lnTo>
                    <a:pt x="2" y="12"/>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4" name="Oval 81"/>
            <p:cNvSpPr>
              <a:spLocks noChangeArrowheads="1"/>
            </p:cNvSpPr>
            <p:nvPr/>
          </p:nvSpPr>
          <p:spPr bwMode="auto">
            <a:xfrm>
              <a:off x="4380" y="1276"/>
              <a:ext cx="180" cy="18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5" name="Freeform 82"/>
            <p:cNvSpPr>
              <a:spLocks/>
            </p:cNvSpPr>
            <p:nvPr/>
          </p:nvSpPr>
          <p:spPr bwMode="auto">
            <a:xfrm>
              <a:off x="4550" y="1364"/>
              <a:ext cx="8" cy="18"/>
            </a:xfrm>
            <a:custGeom>
              <a:avLst/>
              <a:gdLst>
                <a:gd name="T0" fmla="*/ 8 w 8"/>
                <a:gd name="T1" fmla="*/ 2 h 18"/>
                <a:gd name="T2" fmla="*/ 6 w 8"/>
                <a:gd name="T3" fmla="*/ 18 h 18"/>
                <a:gd name="T4" fmla="*/ 0 w 8"/>
                <a:gd name="T5" fmla="*/ 18 h 18"/>
                <a:gd name="T6" fmla="*/ 2 w 8"/>
                <a:gd name="T7" fmla="*/ 0 h 18"/>
                <a:gd name="T8" fmla="*/ 8 w 8"/>
                <a:gd name="T9" fmla="*/ 2 h 18"/>
                <a:gd name="T10" fmla="*/ 0 60000 65536"/>
                <a:gd name="T11" fmla="*/ 0 60000 65536"/>
                <a:gd name="T12" fmla="*/ 0 60000 65536"/>
                <a:gd name="T13" fmla="*/ 0 60000 65536"/>
                <a:gd name="T14" fmla="*/ 0 60000 65536"/>
                <a:gd name="T15" fmla="*/ 0 w 8"/>
                <a:gd name="T16" fmla="*/ 0 h 18"/>
                <a:gd name="T17" fmla="*/ 8 w 8"/>
                <a:gd name="T18" fmla="*/ 18 h 18"/>
              </a:gdLst>
              <a:ahLst/>
              <a:cxnLst>
                <a:cxn ang="T10">
                  <a:pos x="T0" y="T1"/>
                </a:cxn>
                <a:cxn ang="T11">
                  <a:pos x="T2" y="T3"/>
                </a:cxn>
                <a:cxn ang="T12">
                  <a:pos x="T4" y="T5"/>
                </a:cxn>
                <a:cxn ang="T13">
                  <a:pos x="T6" y="T7"/>
                </a:cxn>
                <a:cxn ang="T14">
                  <a:pos x="T8" y="T9"/>
                </a:cxn>
              </a:cxnLst>
              <a:rect l="T15" t="T16" r="T17" b="T18"/>
              <a:pathLst>
                <a:path w="8" h="18">
                  <a:moveTo>
                    <a:pt x="8" y="2"/>
                  </a:moveTo>
                  <a:lnTo>
                    <a:pt x="6" y="18"/>
                  </a:lnTo>
                  <a:lnTo>
                    <a:pt x="0" y="18"/>
                  </a:lnTo>
                  <a:lnTo>
                    <a:pt x="2" y="0"/>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6" name="Freeform 83"/>
            <p:cNvSpPr>
              <a:spLocks/>
            </p:cNvSpPr>
            <p:nvPr/>
          </p:nvSpPr>
          <p:spPr bwMode="auto">
            <a:xfrm>
              <a:off x="4538" y="1398"/>
              <a:ext cx="12" cy="16"/>
            </a:xfrm>
            <a:custGeom>
              <a:avLst/>
              <a:gdLst>
                <a:gd name="T0" fmla="*/ 12 w 12"/>
                <a:gd name="T1" fmla="*/ 2 h 16"/>
                <a:gd name="T2" fmla="*/ 4 w 12"/>
                <a:gd name="T3" fmla="*/ 16 h 16"/>
                <a:gd name="T4" fmla="*/ 0 w 12"/>
                <a:gd name="T5" fmla="*/ 14 h 16"/>
                <a:gd name="T6" fmla="*/ 8 w 12"/>
                <a:gd name="T7" fmla="*/ 0 h 16"/>
                <a:gd name="T8" fmla="*/ 12 w 12"/>
                <a:gd name="T9" fmla="*/ 2 h 16"/>
                <a:gd name="T10" fmla="*/ 0 60000 65536"/>
                <a:gd name="T11" fmla="*/ 0 60000 65536"/>
                <a:gd name="T12" fmla="*/ 0 60000 65536"/>
                <a:gd name="T13" fmla="*/ 0 60000 65536"/>
                <a:gd name="T14" fmla="*/ 0 60000 65536"/>
                <a:gd name="T15" fmla="*/ 0 w 12"/>
                <a:gd name="T16" fmla="*/ 0 h 16"/>
                <a:gd name="T17" fmla="*/ 12 w 12"/>
                <a:gd name="T18" fmla="*/ 16 h 16"/>
              </a:gdLst>
              <a:ahLst/>
              <a:cxnLst>
                <a:cxn ang="T10">
                  <a:pos x="T0" y="T1"/>
                </a:cxn>
                <a:cxn ang="T11">
                  <a:pos x="T2" y="T3"/>
                </a:cxn>
                <a:cxn ang="T12">
                  <a:pos x="T4" y="T5"/>
                </a:cxn>
                <a:cxn ang="T13">
                  <a:pos x="T6" y="T7"/>
                </a:cxn>
                <a:cxn ang="T14">
                  <a:pos x="T8" y="T9"/>
                </a:cxn>
              </a:cxnLst>
              <a:rect l="T15" t="T16" r="T17" b="T18"/>
              <a:pathLst>
                <a:path w="12" h="16">
                  <a:moveTo>
                    <a:pt x="12" y="2"/>
                  </a:moveTo>
                  <a:lnTo>
                    <a:pt x="4" y="16"/>
                  </a:lnTo>
                  <a:lnTo>
                    <a:pt x="0" y="14"/>
                  </a:lnTo>
                  <a:lnTo>
                    <a:pt x="8" y="0"/>
                  </a:lnTo>
                  <a:lnTo>
                    <a:pt x="1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7" name="Freeform 84"/>
            <p:cNvSpPr>
              <a:spLocks/>
            </p:cNvSpPr>
            <p:nvPr/>
          </p:nvSpPr>
          <p:spPr bwMode="auto">
            <a:xfrm>
              <a:off x="4538" y="1412"/>
              <a:ext cx="4" cy="4"/>
            </a:xfrm>
            <a:custGeom>
              <a:avLst/>
              <a:gdLst>
                <a:gd name="T0" fmla="*/ 4 w 4"/>
                <a:gd name="T1" fmla="*/ 4 h 4"/>
                <a:gd name="T2" fmla="*/ 4 w 4"/>
                <a:gd name="T3" fmla="*/ 4 h 4"/>
                <a:gd name="T4" fmla="*/ 0 w 4"/>
                <a:gd name="T5" fmla="*/ 0 h 4"/>
                <a:gd name="T6" fmla="*/ 0 w 4"/>
                <a:gd name="T7" fmla="*/ 0 h 4"/>
                <a:gd name="T8" fmla="*/ 4 w 4"/>
                <a:gd name="T9" fmla="*/ 4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4" y="4"/>
                  </a:moveTo>
                  <a:lnTo>
                    <a:pt x="4" y="4"/>
                  </a:lnTo>
                  <a:lnTo>
                    <a:pt x="0"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8" name="Freeform 85"/>
            <p:cNvSpPr>
              <a:spLocks/>
            </p:cNvSpPr>
            <p:nvPr/>
          </p:nvSpPr>
          <p:spPr bwMode="auto">
            <a:xfrm>
              <a:off x="4538" y="1412"/>
              <a:ext cx="4" cy="4"/>
            </a:xfrm>
            <a:custGeom>
              <a:avLst/>
              <a:gdLst>
                <a:gd name="T0" fmla="*/ 4 w 4"/>
                <a:gd name="T1" fmla="*/ 4 h 4"/>
                <a:gd name="T2" fmla="*/ 4 w 4"/>
                <a:gd name="T3" fmla="*/ 2 h 4"/>
                <a:gd name="T4" fmla="*/ 0 w 4"/>
                <a:gd name="T5" fmla="*/ 0 h 4"/>
                <a:gd name="T6" fmla="*/ 0 w 4"/>
                <a:gd name="T7" fmla="*/ 0 h 4"/>
                <a:gd name="T8" fmla="*/ 4 w 4"/>
                <a:gd name="T9" fmla="*/ 4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4" y="4"/>
                  </a:moveTo>
                  <a:lnTo>
                    <a:pt x="4" y="2"/>
                  </a:lnTo>
                  <a:lnTo>
                    <a:pt x="0"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79" name="Freeform 86"/>
            <p:cNvSpPr>
              <a:spLocks/>
            </p:cNvSpPr>
            <p:nvPr/>
          </p:nvSpPr>
          <p:spPr bwMode="auto">
            <a:xfrm>
              <a:off x="4514" y="1424"/>
              <a:ext cx="16" cy="16"/>
            </a:xfrm>
            <a:custGeom>
              <a:avLst/>
              <a:gdLst>
                <a:gd name="T0" fmla="*/ 16 w 16"/>
                <a:gd name="T1" fmla="*/ 6 h 16"/>
                <a:gd name="T2" fmla="*/ 4 w 16"/>
                <a:gd name="T3" fmla="*/ 16 h 16"/>
                <a:gd name="T4" fmla="*/ 0 w 16"/>
                <a:gd name="T5" fmla="*/ 10 h 16"/>
                <a:gd name="T6" fmla="*/ 12 w 16"/>
                <a:gd name="T7" fmla="*/ 0 h 16"/>
                <a:gd name="T8" fmla="*/ 16 w 16"/>
                <a:gd name="T9" fmla="*/ 6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16" y="6"/>
                  </a:moveTo>
                  <a:lnTo>
                    <a:pt x="4" y="16"/>
                  </a:lnTo>
                  <a:lnTo>
                    <a:pt x="0" y="10"/>
                  </a:lnTo>
                  <a:lnTo>
                    <a:pt x="12" y="0"/>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0" name="Freeform 87"/>
            <p:cNvSpPr>
              <a:spLocks/>
            </p:cNvSpPr>
            <p:nvPr/>
          </p:nvSpPr>
          <p:spPr bwMode="auto">
            <a:xfrm>
              <a:off x="4514" y="1434"/>
              <a:ext cx="4" cy="6"/>
            </a:xfrm>
            <a:custGeom>
              <a:avLst/>
              <a:gdLst>
                <a:gd name="T0" fmla="*/ 4 w 4"/>
                <a:gd name="T1" fmla="*/ 6 h 6"/>
                <a:gd name="T2" fmla="*/ 2 w 4"/>
                <a:gd name="T3" fmla="*/ 6 h 6"/>
                <a:gd name="T4" fmla="*/ 0 w 4"/>
                <a:gd name="T5" fmla="*/ 0 h 6"/>
                <a:gd name="T6" fmla="*/ 2 w 4"/>
                <a:gd name="T7" fmla="*/ 0 h 6"/>
                <a:gd name="T8" fmla="*/ 4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6"/>
                  </a:moveTo>
                  <a:lnTo>
                    <a:pt x="2" y="6"/>
                  </a:lnTo>
                  <a:lnTo>
                    <a:pt x="0" y="0"/>
                  </a:lnTo>
                  <a:lnTo>
                    <a:pt x="2" y="0"/>
                  </a:lnTo>
                  <a:lnTo>
                    <a:pt x="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1" name="Freeform 88"/>
            <p:cNvSpPr>
              <a:spLocks/>
            </p:cNvSpPr>
            <p:nvPr/>
          </p:nvSpPr>
          <p:spPr bwMode="auto">
            <a:xfrm>
              <a:off x="4514" y="1434"/>
              <a:ext cx="4" cy="6"/>
            </a:xfrm>
            <a:custGeom>
              <a:avLst/>
              <a:gdLst>
                <a:gd name="T0" fmla="*/ 4 w 4"/>
                <a:gd name="T1" fmla="*/ 6 h 6"/>
                <a:gd name="T2" fmla="*/ 4 w 4"/>
                <a:gd name="T3" fmla="*/ 6 h 6"/>
                <a:gd name="T4" fmla="*/ 0 w 4"/>
                <a:gd name="T5" fmla="*/ 0 h 6"/>
                <a:gd name="T6" fmla="*/ 2 w 4"/>
                <a:gd name="T7" fmla="*/ 0 h 6"/>
                <a:gd name="T8" fmla="*/ 4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6"/>
                  </a:moveTo>
                  <a:lnTo>
                    <a:pt x="4" y="6"/>
                  </a:lnTo>
                  <a:lnTo>
                    <a:pt x="0" y="0"/>
                  </a:lnTo>
                  <a:lnTo>
                    <a:pt x="2" y="0"/>
                  </a:lnTo>
                  <a:lnTo>
                    <a:pt x="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2" name="Freeform 89"/>
            <p:cNvSpPr>
              <a:spLocks/>
            </p:cNvSpPr>
            <p:nvPr/>
          </p:nvSpPr>
          <p:spPr bwMode="auto">
            <a:xfrm>
              <a:off x="4484" y="1442"/>
              <a:ext cx="16" cy="10"/>
            </a:xfrm>
            <a:custGeom>
              <a:avLst/>
              <a:gdLst>
                <a:gd name="T0" fmla="*/ 16 w 16"/>
                <a:gd name="T1" fmla="*/ 6 h 10"/>
                <a:gd name="T2" fmla="*/ 2 w 16"/>
                <a:gd name="T3" fmla="*/ 10 h 10"/>
                <a:gd name="T4" fmla="*/ 0 w 16"/>
                <a:gd name="T5" fmla="*/ 4 h 10"/>
                <a:gd name="T6" fmla="*/ 14 w 16"/>
                <a:gd name="T7" fmla="*/ 0 h 10"/>
                <a:gd name="T8" fmla="*/ 16 w 16"/>
                <a:gd name="T9" fmla="*/ 6 h 10"/>
                <a:gd name="T10" fmla="*/ 0 60000 65536"/>
                <a:gd name="T11" fmla="*/ 0 60000 65536"/>
                <a:gd name="T12" fmla="*/ 0 60000 65536"/>
                <a:gd name="T13" fmla="*/ 0 60000 65536"/>
                <a:gd name="T14" fmla="*/ 0 60000 65536"/>
                <a:gd name="T15" fmla="*/ 0 w 16"/>
                <a:gd name="T16" fmla="*/ 0 h 10"/>
                <a:gd name="T17" fmla="*/ 16 w 16"/>
                <a:gd name="T18" fmla="*/ 10 h 10"/>
              </a:gdLst>
              <a:ahLst/>
              <a:cxnLst>
                <a:cxn ang="T10">
                  <a:pos x="T0" y="T1"/>
                </a:cxn>
                <a:cxn ang="T11">
                  <a:pos x="T2" y="T3"/>
                </a:cxn>
                <a:cxn ang="T12">
                  <a:pos x="T4" y="T5"/>
                </a:cxn>
                <a:cxn ang="T13">
                  <a:pos x="T6" y="T7"/>
                </a:cxn>
                <a:cxn ang="T14">
                  <a:pos x="T8" y="T9"/>
                </a:cxn>
              </a:cxnLst>
              <a:rect l="T15" t="T16" r="T17" b="T18"/>
              <a:pathLst>
                <a:path w="16" h="10">
                  <a:moveTo>
                    <a:pt x="16" y="6"/>
                  </a:moveTo>
                  <a:lnTo>
                    <a:pt x="2" y="10"/>
                  </a:lnTo>
                  <a:lnTo>
                    <a:pt x="0" y="4"/>
                  </a:lnTo>
                  <a:lnTo>
                    <a:pt x="14" y="0"/>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3" name="Freeform 90"/>
            <p:cNvSpPr>
              <a:spLocks/>
            </p:cNvSpPr>
            <p:nvPr/>
          </p:nvSpPr>
          <p:spPr bwMode="auto">
            <a:xfrm>
              <a:off x="4482" y="1446"/>
              <a:ext cx="4" cy="8"/>
            </a:xfrm>
            <a:custGeom>
              <a:avLst/>
              <a:gdLst>
                <a:gd name="T0" fmla="*/ 4 w 4"/>
                <a:gd name="T1" fmla="*/ 6 h 8"/>
                <a:gd name="T2" fmla="*/ 2 w 4"/>
                <a:gd name="T3" fmla="*/ 8 h 8"/>
                <a:gd name="T4" fmla="*/ 0 w 4"/>
                <a:gd name="T5" fmla="*/ 0 h 8"/>
                <a:gd name="T6" fmla="*/ 4 w 4"/>
                <a:gd name="T7" fmla="*/ 0 h 8"/>
                <a:gd name="T8" fmla="*/ 4 w 4"/>
                <a:gd name="T9" fmla="*/ 6 h 8"/>
                <a:gd name="T10" fmla="*/ 0 60000 65536"/>
                <a:gd name="T11" fmla="*/ 0 60000 65536"/>
                <a:gd name="T12" fmla="*/ 0 60000 65536"/>
                <a:gd name="T13" fmla="*/ 0 60000 65536"/>
                <a:gd name="T14" fmla="*/ 0 60000 65536"/>
                <a:gd name="T15" fmla="*/ 0 w 4"/>
                <a:gd name="T16" fmla="*/ 0 h 8"/>
                <a:gd name="T17" fmla="*/ 4 w 4"/>
                <a:gd name="T18" fmla="*/ 8 h 8"/>
              </a:gdLst>
              <a:ahLst/>
              <a:cxnLst>
                <a:cxn ang="T10">
                  <a:pos x="T0" y="T1"/>
                </a:cxn>
                <a:cxn ang="T11">
                  <a:pos x="T2" y="T3"/>
                </a:cxn>
                <a:cxn ang="T12">
                  <a:pos x="T4" y="T5"/>
                </a:cxn>
                <a:cxn ang="T13">
                  <a:pos x="T6" y="T7"/>
                </a:cxn>
                <a:cxn ang="T14">
                  <a:pos x="T8" y="T9"/>
                </a:cxn>
              </a:cxnLst>
              <a:rect l="T15" t="T16" r="T17" b="T18"/>
              <a:pathLst>
                <a:path w="4" h="8">
                  <a:moveTo>
                    <a:pt x="4" y="6"/>
                  </a:moveTo>
                  <a:lnTo>
                    <a:pt x="2" y="8"/>
                  </a:lnTo>
                  <a:lnTo>
                    <a:pt x="0" y="0"/>
                  </a:lnTo>
                  <a:lnTo>
                    <a:pt x="4" y="0"/>
                  </a:lnTo>
                  <a:lnTo>
                    <a:pt x="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4" name="Freeform 91"/>
            <p:cNvSpPr>
              <a:spLocks/>
            </p:cNvSpPr>
            <p:nvPr/>
          </p:nvSpPr>
          <p:spPr bwMode="auto">
            <a:xfrm>
              <a:off x="4484" y="1446"/>
              <a:ext cx="2" cy="6"/>
            </a:xfrm>
            <a:custGeom>
              <a:avLst/>
              <a:gdLst>
                <a:gd name="T0" fmla="*/ 2 w 2"/>
                <a:gd name="T1" fmla="*/ 6 h 6"/>
                <a:gd name="T2" fmla="*/ 2 w 2"/>
                <a:gd name="T3" fmla="*/ 6 h 6"/>
                <a:gd name="T4" fmla="*/ 0 w 2"/>
                <a:gd name="T5" fmla="*/ 0 h 6"/>
                <a:gd name="T6" fmla="*/ 2 w 2"/>
                <a:gd name="T7" fmla="*/ 0 h 6"/>
                <a:gd name="T8" fmla="*/ 2 w 2"/>
                <a:gd name="T9" fmla="*/ 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2" y="6"/>
                  </a:lnTo>
                  <a:lnTo>
                    <a:pt x="0" y="0"/>
                  </a:lnTo>
                  <a:lnTo>
                    <a:pt x="2" y="0"/>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5" name="Freeform 92"/>
            <p:cNvSpPr>
              <a:spLocks/>
            </p:cNvSpPr>
            <p:nvPr/>
          </p:nvSpPr>
          <p:spPr bwMode="auto">
            <a:xfrm>
              <a:off x="4450" y="1446"/>
              <a:ext cx="16" cy="8"/>
            </a:xfrm>
            <a:custGeom>
              <a:avLst/>
              <a:gdLst>
                <a:gd name="T0" fmla="*/ 16 w 16"/>
                <a:gd name="T1" fmla="*/ 8 h 8"/>
                <a:gd name="T2" fmla="*/ 0 w 16"/>
                <a:gd name="T3" fmla="*/ 6 h 8"/>
                <a:gd name="T4" fmla="*/ 2 w 16"/>
                <a:gd name="T5" fmla="*/ 0 h 8"/>
                <a:gd name="T6" fmla="*/ 16 w 16"/>
                <a:gd name="T7" fmla="*/ 2 h 8"/>
                <a:gd name="T8" fmla="*/ 16 w 16"/>
                <a:gd name="T9" fmla="*/ 8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16" y="8"/>
                  </a:moveTo>
                  <a:lnTo>
                    <a:pt x="0" y="6"/>
                  </a:lnTo>
                  <a:lnTo>
                    <a:pt x="2" y="0"/>
                  </a:lnTo>
                  <a:lnTo>
                    <a:pt x="16" y="2"/>
                  </a:lnTo>
                  <a:lnTo>
                    <a:pt x="1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6" name="Freeform 93"/>
            <p:cNvSpPr>
              <a:spLocks/>
            </p:cNvSpPr>
            <p:nvPr/>
          </p:nvSpPr>
          <p:spPr bwMode="auto">
            <a:xfrm>
              <a:off x="4448" y="1446"/>
              <a:ext cx="4" cy="6"/>
            </a:xfrm>
            <a:custGeom>
              <a:avLst/>
              <a:gdLst>
                <a:gd name="T0" fmla="*/ 2 w 4"/>
                <a:gd name="T1" fmla="*/ 6 h 6"/>
                <a:gd name="T2" fmla="*/ 0 w 4"/>
                <a:gd name="T3" fmla="*/ 6 h 6"/>
                <a:gd name="T4" fmla="*/ 2 w 4"/>
                <a:gd name="T5" fmla="*/ 0 h 6"/>
                <a:gd name="T6" fmla="*/ 4 w 4"/>
                <a:gd name="T7" fmla="*/ 0 h 6"/>
                <a:gd name="T8" fmla="*/ 2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2" y="6"/>
                  </a:moveTo>
                  <a:lnTo>
                    <a:pt x="0" y="6"/>
                  </a:lnTo>
                  <a:lnTo>
                    <a:pt x="2" y="0"/>
                  </a:lnTo>
                  <a:lnTo>
                    <a:pt x="4" y="0"/>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7" name="Freeform 94"/>
            <p:cNvSpPr>
              <a:spLocks/>
            </p:cNvSpPr>
            <p:nvPr/>
          </p:nvSpPr>
          <p:spPr bwMode="auto">
            <a:xfrm>
              <a:off x="4418" y="1434"/>
              <a:ext cx="16" cy="12"/>
            </a:xfrm>
            <a:custGeom>
              <a:avLst/>
              <a:gdLst>
                <a:gd name="T0" fmla="*/ 12 w 16"/>
                <a:gd name="T1" fmla="*/ 12 h 12"/>
                <a:gd name="T2" fmla="*/ 0 w 16"/>
                <a:gd name="T3" fmla="*/ 6 h 12"/>
                <a:gd name="T4" fmla="*/ 4 w 16"/>
                <a:gd name="T5" fmla="*/ 0 h 12"/>
                <a:gd name="T6" fmla="*/ 16 w 16"/>
                <a:gd name="T7" fmla="*/ 6 h 12"/>
                <a:gd name="T8" fmla="*/ 12 w 16"/>
                <a:gd name="T9" fmla="*/ 12 h 12"/>
                <a:gd name="T10" fmla="*/ 0 60000 65536"/>
                <a:gd name="T11" fmla="*/ 0 60000 65536"/>
                <a:gd name="T12" fmla="*/ 0 60000 65536"/>
                <a:gd name="T13" fmla="*/ 0 60000 65536"/>
                <a:gd name="T14" fmla="*/ 0 60000 65536"/>
                <a:gd name="T15" fmla="*/ 0 w 16"/>
                <a:gd name="T16" fmla="*/ 0 h 12"/>
                <a:gd name="T17" fmla="*/ 16 w 16"/>
                <a:gd name="T18" fmla="*/ 12 h 12"/>
              </a:gdLst>
              <a:ahLst/>
              <a:cxnLst>
                <a:cxn ang="T10">
                  <a:pos x="T0" y="T1"/>
                </a:cxn>
                <a:cxn ang="T11">
                  <a:pos x="T2" y="T3"/>
                </a:cxn>
                <a:cxn ang="T12">
                  <a:pos x="T4" y="T5"/>
                </a:cxn>
                <a:cxn ang="T13">
                  <a:pos x="T6" y="T7"/>
                </a:cxn>
                <a:cxn ang="T14">
                  <a:pos x="T8" y="T9"/>
                </a:cxn>
              </a:cxnLst>
              <a:rect l="T15" t="T16" r="T17" b="T18"/>
              <a:pathLst>
                <a:path w="16" h="12">
                  <a:moveTo>
                    <a:pt x="12" y="12"/>
                  </a:moveTo>
                  <a:lnTo>
                    <a:pt x="0" y="6"/>
                  </a:lnTo>
                  <a:lnTo>
                    <a:pt x="4" y="0"/>
                  </a:lnTo>
                  <a:lnTo>
                    <a:pt x="16" y="6"/>
                  </a:lnTo>
                  <a:lnTo>
                    <a:pt x="1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8" name="Freeform 95"/>
            <p:cNvSpPr>
              <a:spLocks/>
            </p:cNvSpPr>
            <p:nvPr/>
          </p:nvSpPr>
          <p:spPr bwMode="auto">
            <a:xfrm>
              <a:off x="4416" y="1432"/>
              <a:ext cx="6" cy="8"/>
            </a:xfrm>
            <a:custGeom>
              <a:avLst/>
              <a:gdLst>
                <a:gd name="T0" fmla="*/ 2 w 6"/>
                <a:gd name="T1" fmla="*/ 8 h 8"/>
                <a:gd name="T2" fmla="*/ 0 w 6"/>
                <a:gd name="T3" fmla="*/ 4 h 8"/>
                <a:gd name="T4" fmla="*/ 4 w 6"/>
                <a:gd name="T5" fmla="*/ 0 h 8"/>
                <a:gd name="T6" fmla="*/ 6 w 6"/>
                <a:gd name="T7" fmla="*/ 2 h 8"/>
                <a:gd name="T8" fmla="*/ 2 w 6"/>
                <a:gd name="T9" fmla="*/ 8 h 8"/>
                <a:gd name="T10" fmla="*/ 0 60000 65536"/>
                <a:gd name="T11" fmla="*/ 0 60000 65536"/>
                <a:gd name="T12" fmla="*/ 0 60000 65536"/>
                <a:gd name="T13" fmla="*/ 0 60000 65536"/>
                <a:gd name="T14" fmla="*/ 0 60000 65536"/>
                <a:gd name="T15" fmla="*/ 0 w 6"/>
                <a:gd name="T16" fmla="*/ 0 h 8"/>
                <a:gd name="T17" fmla="*/ 6 w 6"/>
                <a:gd name="T18" fmla="*/ 8 h 8"/>
              </a:gdLst>
              <a:ahLst/>
              <a:cxnLst>
                <a:cxn ang="T10">
                  <a:pos x="T0" y="T1"/>
                </a:cxn>
                <a:cxn ang="T11">
                  <a:pos x="T2" y="T3"/>
                </a:cxn>
                <a:cxn ang="T12">
                  <a:pos x="T4" y="T5"/>
                </a:cxn>
                <a:cxn ang="T13">
                  <a:pos x="T6" y="T7"/>
                </a:cxn>
                <a:cxn ang="T14">
                  <a:pos x="T8" y="T9"/>
                </a:cxn>
              </a:cxnLst>
              <a:rect l="T15" t="T16" r="T17" b="T18"/>
              <a:pathLst>
                <a:path w="6" h="8">
                  <a:moveTo>
                    <a:pt x="2" y="8"/>
                  </a:moveTo>
                  <a:lnTo>
                    <a:pt x="0" y="4"/>
                  </a:lnTo>
                  <a:lnTo>
                    <a:pt x="4" y="0"/>
                  </a:lnTo>
                  <a:lnTo>
                    <a:pt x="6" y="2"/>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89" name="Freeform 96"/>
            <p:cNvSpPr>
              <a:spLocks/>
            </p:cNvSpPr>
            <p:nvPr/>
          </p:nvSpPr>
          <p:spPr bwMode="auto">
            <a:xfrm>
              <a:off x="4418" y="1434"/>
              <a:ext cx="4" cy="6"/>
            </a:xfrm>
            <a:custGeom>
              <a:avLst/>
              <a:gdLst>
                <a:gd name="T0" fmla="*/ 0 w 4"/>
                <a:gd name="T1" fmla="*/ 6 h 6"/>
                <a:gd name="T2" fmla="*/ 0 w 4"/>
                <a:gd name="T3" fmla="*/ 6 h 6"/>
                <a:gd name="T4" fmla="*/ 4 w 4"/>
                <a:gd name="T5" fmla="*/ 0 h 6"/>
                <a:gd name="T6" fmla="*/ 4 w 4"/>
                <a:gd name="T7" fmla="*/ 0 h 6"/>
                <a:gd name="T8" fmla="*/ 0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0" y="6"/>
                  </a:moveTo>
                  <a:lnTo>
                    <a:pt x="0" y="6"/>
                  </a:lnTo>
                  <a:lnTo>
                    <a:pt x="4"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0" name="Freeform 97"/>
            <p:cNvSpPr>
              <a:spLocks/>
            </p:cNvSpPr>
            <p:nvPr/>
          </p:nvSpPr>
          <p:spPr bwMode="auto">
            <a:xfrm>
              <a:off x="4394" y="1412"/>
              <a:ext cx="14" cy="14"/>
            </a:xfrm>
            <a:custGeom>
              <a:avLst/>
              <a:gdLst>
                <a:gd name="T0" fmla="*/ 8 w 14"/>
                <a:gd name="T1" fmla="*/ 14 h 14"/>
                <a:gd name="T2" fmla="*/ 0 w 14"/>
                <a:gd name="T3" fmla="*/ 4 h 14"/>
                <a:gd name="T4" fmla="*/ 6 w 14"/>
                <a:gd name="T5" fmla="*/ 0 h 14"/>
                <a:gd name="T6" fmla="*/ 14 w 14"/>
                <a:gd name="T7" fmla="*/ 10 h 14"/>
                <a:gd name="T8" fmla="*/ 8 w 14"/>
                <a:gd name="T9" fmla="*/ 14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8" y="14"/>
                  </a:moveTo>
                  <a:lnTo>
                    <a:pt x="0" y="4"/>
                  </a:lnTo>
                  <a:lnTo>
                    <a:pt x="6" y="0"/>
                  </a:lnTo>
                  <a:lnTo>
                    <a:pt x="14" y="10"/>
                  </a:lnTo>
                  <a:lnTo>
                    <a:pt x="8"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1" name="Freeform 98"/>
            <p:cNvSpPr>
              <a:spLocks/>
            </p:cNvSpPr>
            <p:nvPr/>
          </p:nvSpPr>
          <p:spPr bwMode="auto">
            <a:xfrm>
              <a:off x="4392" y="1408"/>
              <a:ext cx="8" cy="6"/>
            </a:xfrm>
            <a:custGeom>
              <a:avLst/>
              <a:gdLst>
                <a:gd name="T0" fmla="*/ 2 w 8"/>
                <a:gd name="T1" fmla="*/ 6 h 6"/>
                <a:gd name="T2" fmla="*/ 0 w 8"/>
                <a:gd name="T3" fmla="*/ 2 h 6"/>
                <a:gd name="T4" fmla="*/ 6 w 8"/>
                <a:gd name="T5" fmla="*/ 0 h 6"/>
                <a:gd name="T6" fmla="*/ 8 w 8"/>
                <a:gd name="T7" fmla="*/ 4 h 6"/>
                <a:gd name="T8" fmla="*/ 2 w 8"/>
                <a:gd name="T9" fmla="*/ 6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2" y="6"/>
                  </a:moveTo>
                  <a:lnTo>
                    <a:pt x="0" y="2"/>
                  </a:lnTo>
                  <a:lnTo>
                    <a:pt x="6" y="0"/>
                  </a:lnTo>
                  <a:lnTo>
                    <a:pt x="8" y="4"/>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2" name="Freeform 99"/>
            <p:cNvSpPr>
              <a:spLocks/>
            </p:cNvSpPr>
            <p:nvPr/>
          </p:nvSpPr>
          <p:spPr bwMode="auto">
            <a:xfrm>
              <a:off x="4394" y="1412"/>
              <a:ext cx="6" cy="4"/>
            </a:xfrm>
            <a:custGeom>
              <a:avLst/>
              <a:gdLst>
                <a:gd name="T0" fmla="*/ 0 w 6"/>
                <a:gd name="T1" fmla="*/ 2 h 4"/>
                <a:gd name="T2" fmla="*/ 0 w 6"/>
                <a:gd name="T3" fmla="*/ 4 h 4"/>
                <a:gd name="T4" fmla="*/ 6 w 6"/>
                <a:gd name="T5" fmla="*/ 0 h 4"/>
                <a:gd name="T6" fmla="*/ 6 w 6"/>
                <a:gd name="T7" fmla="*/ 0 h 4"/>
                <a:gd name="T8" fmla="*/ 0 w 6"/>
                <a:gd name="T9" fmla="*/ 2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2"/>
                  </a:moveTo>
                  <a:lnTo>
                    <a:pt x="0" y="4"/>
                  </a:lnTo>
                  <a:lnTo>
                    <a:pt x="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3" name="Freeform 100"/>
            <p:cNvSpPr>
              <a:spLocks/>
            </p:cNvSpPr>
            <p:nvPr/>
          </p:nvSpPr>
          <p:spPr bwMode="auto">
            <a:xfrm>
              <a:off x="4380" y="1382"/>
              <a:ext cx="10" cy="12"/>
            </a:xfrm>
            <a:custGeom>
              <a:avLst/>
              <a:gdLst>
                <a:gd name="T0" fmla="*/ 4 w 10"/>
                <a:gd name="T1" fmla="*/ 12 h 12"/>
                <a:gd name="T2" fmla="*/ 0 w 10"/>
                <a:gd name="T3" fmla="*/ 2 h 12"/>
                <a:gd name="T4" fmla="*/ 6 w 10"/>
                <a:gd name="T5" fmla="*/ 0 h 12"/>
                <a:gd name="T6" fmla="*/ 10 w 10"/>
                <a:gd name="T7" fmla="*/ 10 h 12"/>
                <a:gd name="T8" fmla="*/ 4 w 10"/>
                <a:gd name="T9" fmla="*/ 12 h 12"/>
                <a:gd name="T10" fmla="*/ 0 60000 65536"/>
                <a:gd name="T11" fmla="*/ 0 60000 65536"/>
                <a:gd name="T12" fmla="*/ 0 60000 65536"/>
                <a:gd name="T13" fmla="*/ 0 60000 65536"/>
                <a:gd name="T14" fmla="*/ 0 60000 65536"/>
                <a:gd name="T15" fmla="*/ 0 w 10"/>
                <a:gd name="T16" fmla="*/ 0 h 12"/>
                <a:gd name="T17" fmla="*/ 10 w 10"/>
                <a:gd name="T18" fmla="*/ 12 h 12"/>
              </a:gdLst>
              <a:ahLst/>
              <a:cxnLst>
                <a:cxn ang="T10">
                  <a:pos x="T0" y="T1"/>
                </a:cxn>
                <a:cxn ang="T11">
                  <a:pos x="T2" y="T3"/>
                </a:cxn>
                <a:cxn ang="T12">
                  <a:pos x="T4" y="T5"/>
                </a:cxn>
                <a:cxn ang="T13">
                  <a:pos x="T6" y="T7"/>
                </a:cxn>
                <a:cxn ang="T14">
                  <a:pos x="T8" y="T9"/>
                </a:cxn>
              </a:cxnLst>
              <a:rect l="T15" t="T16" r="T17" b="T18"/>
              <a:pathLst>
                <a:path w="10" h="12">
                  <a:moveTo>
                    <a:pt x="4" y="12"/>
                  </a:moveTo>
                  <a:lnTo>
                    <a:pt x="0" y="2"/>
                  </a:lnTo>
                  <a:lnTo>
                    <a:pt x="6" y="0"/>
                  </a:lnTo>
                  <a:lnTo>
                    <a:pt x="10" y="10"/>
                  </a:lnTo>
                  <a:lnTo>
                    <a:pt x="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4" name="Freeform 101"/>
            <p:cNvSpPr>
              <a:spLocks/>
            </p:cNvSpPr>
            <p:nvPr/>
          </p:nvSpPr>
          <p:spPr bwMode="auto">
            <a:xfrm>
              <a:off x="4380" y="1376"/>
              <a:ext cx="6" cy="6"/>
            </a:xfrm>
            <a:custGeom>
              <a:avLst/>
              <a:gdLst>
                <a:gd name="T0" fmla="*/ 0 w 6"/>
                <a:gd name="T1" fmla="*/ 6 h 6"/>
                <a:gd name="T2" fmla="*/ 0 w 6"/>
                <a:gd name="T3" fmla="*/ 2 h 6"/>
                <a:gd name="T4" fmla="*/ 6 w 6"/>
                <a:gd name="T5" fmla="*/ 0 h 6"/>
                <a:gd name="T6" fmla="*/ 6 w 6"/>
                <a:gd name="T7" fmla="*/ 6 h 6"/>
                <a:gd name="T8" fmla="*/ 0 w 6"/>
                <a:gd name="T9" fmla="*/ 6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0" y="6"/>
                  </a:moveTo>
                  <a:lnTo>
                    <a:pt x="0" y="2"/>
                  </a:lnTo>
                  <a:lnTo>
                    <a:pt x="6" y="0"/>
                  </a:lnTo>
                  <a:lnTo>
                    <a:pt x="6"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5" name="Rectangle 102"/>
            <p:cNvSpPr>
              <a:spLocks noChangeArrowheads="1"/>
            </p:cNvSpPr>
            <p:nvPr/>
          </p:nvSpPr>
          <p:spPr bwMode="auto">
            <a:xfrm>
              <a:off x="4380" y="1348"/>
              <a:ext cx="6"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6" name="Freeform 103"/>
            <p:cNvSpPr>
              <a:spLocks/>
            </p:cNvSpPr>
            <p:nvPr/>
          </p:nvSpPr>
          <p:spPr bwMode="auto">
            <a:xfrm>
              <a:off x="4380" y="1342"/>
              <a:ext cx="8" cy="6"/>
            </a:xfrm>
            <a:custGeom>
              <a:avLst/>
              <a:gdLst>
                <a:gd name="T0" fmla="*/ 0 w 8"/>
                <a:gd name="T1" fmla="*/ 4 h 6"/>
                <a:gd name="T2" fmla="*/ 2 w 8"/>
                <a:gd name="T3" fmla="*/ 0 h 6"/>
                <a:gd name="T4" fmla="*/ 8 w 8"/>
                <a:gd name="T5" fmla="*/ 2 h 6"/>
                <a:gd name="T6" fmla="*/ 6 w 8"/>
                <a:gd name="T7" fmla="*/ 6 h 6"/>
                <a:gd name="T8" fmla="*/ 0 w 8"/>
                <a:gd name="T9" fmla="*/ 4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0" y="4"/>
                  </a:moveTo>
                  <a:lnTo>
                    <a:pt x="2" y="0"/>
                  </a:lnTo>
                  <a:lnTo>
                    <a:pt x="8" y="2"/>
                  </a:lnTo>
                  <a:lnTo>
                    <a:pt x="6" y="6"/>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7" name="Freeform 104"/>
            <p:cNvSpPr>
              <a:spLocks/>
            </p:cNvSpPr>
            <p:nvPr/>
          </p:nvSpPr>
          <p:spPr bwMode="auto">
            <a:xfrm>
              <a:off x="4388" y="1316"/>
              <a:ext cx="12" cy="12"/>
            </a:xfrm>
            <a:custGeom>
              <a:avLst/>
              <a:gdLst>
                <a:gd name="T0" fmla="*/ 0 w 12"/>
                <a:gd name="T1" fmla="*/ 10 h 12"/>
                <a:gd name="T2" fmla="*/ 6 w 12"/>
                <a:gd name="T3" fmla="*/ 0 h 12"/>
                <a:gd name="T4" fmla="*/ 12 w 12"/>
                <a:gd name="T5" fmla="*/ 2 h 12"/>
                <a:gd name="T6" fmla="*/ 6 w 12"/>
                <a:gd name="T7" fmla="*/ 12 h 12"/>
                <a:gd name="T8" fmla="*/ 0 w 12"/>
                <a:gd name="T9" fmla="*/ 10 h 12"/>
                <a:gd name="T10" fmla="*/ 0 60000 65536"/>
                <a:gd name="T11" fmla="*/ 0 60000 65536"/>
                <a:gd name="T12" fmla="*/ 0 60000 65536"/>
                <a:gd name="T13" fmla="*/ 0 60000 65536"/>
                <a:gd name="T14" fmla="*/ 0 60000 65536"/>
                <a:gd name="T15" fmla="*/ 0 w 12"/>
                <a:gd name="T16" fmla="*/ 0 h 12"/>
                <a:gd name="T17" fmla="*/ 12 w 12"/>
                <a:gd name="T18" fmla="*/ 12 h 12"/>
              </a:gdLst>
              <a:ahLst/>
              <a:cxnLst>
                <a:cxn ang="T10">
                  <a:pos x="T0" y="T1"/>
                </a:cxn>
                <a:cxn ang="T11">
                  <a:pos x="T2" y="T3"/>
                </a:cxn>
                <a:cxn ang="T12">
                  <a:pos x="T4" y="T5"/>
                </a:cxn>
                <a:cxn ang="T13">
                  <a:pos x="T6" y="T7"/>
                </a:cxn>
                <a:cxn ang="T14">
                  <a:pos x="T8" y="T9"/>
                </a:cxn>
              </a:cxnLst>
              <a:rect l="T15" t="T16" r="T17" b="T18"/>
              <a:pathLst>
                <a:path w="12" h="12">
                  <a:moveTo>
                    <a:pt x="0" y="10"/>
                  </a:moveTo>
                  <a:lnTo>
                    <a:pt x="6" y="0"/>
                  </a:lnTo>
                  <a:lnTo>
                    <a:pt x="12" y="2"/>
                  </a:lnTo>
                  <a:lnTo>
                    <a:pt x="6" y="12"/>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8" name="Freeform 105"/>
            <p:cNvSpPr>
              <a:spLocks/>
            </p:cNvSpPr>
            <p:nvPr/>
          </p:nvSpPr>
          <p:spPr bwMode="auto">
            <a:xfrm>
              <a:off x="4394" y="1310"/>
              <a:ext cx="8" cy="8"/>
            </a:xfrm>
            <a:custGeom>
              <a:avLst/>
              <a:gdLst>
                <a:gd name="T0" fmla="*/ 0 w 8"/>
                <a:gd name="T1" fmla="*/ 4 h 8"/>
                <a:gd name="T2" fmla="*/ 4 w 8"/>
                <a:gd name="T3" fmla="*/ 0 h 8"/>
                <a:gd name="T4" fmla="*/ 8 w 8"/>
                <a:gd name="T5" fmla="*/ 4 h 8"/>
                <a:gd name="T6" fmla="*/ 6 w 8"/>
                <a:gd name="T7" fmla="*/ 8 h 8"/>
                <a:gd name="T8" fmla="*/ 0 w 8"/>
                <a:gd name="T9" fmla="*/ 4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0" y="4"/>
                  </a:moveTo>
                  <a:lnTo>
                    <a:pt x="4" y="0"/>
                  </a:lnTo>
                  <a:lnTo>
                    <a:pt x="8" y="4"/>
                  </a:lnTo>
                  <a:lnTo>
                    <a:pt x="6" y="8"/>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99" name="Freeform 106"/>
            <p:cNvSpPr>
              <a:spLocks/>
            </p:cNvSpPr>
            <p:nvPr/>
          </p:nvSpPr>
          <p:spPr bwMode="auto">
            <a:xfrm>
              <a:off x="4394" y="1314"/>
              <a:ext cx="6" cy="4"/>
            </a:xfrm>
            <a:custGeom>
              <a:avLst/>
              <a:gdLst>
                <a:gd name="T0" fmla="*/ 0 w 6"/>
                <a:gd name="T1" fmla="*/ 0 h 4"/>
                <a:gd name="T2" fmla="*/ 0 w 6"/>
                <a:gd name="T3" fmla="*/ 2 h 4"/>
                <a:gd name="T4" fmla="*/ 6 w 6"/>
                <a:gd name="T5" fmla="*/ 4 h 4"/>
                <a:gd name="T6" fmla="*/ 6 w 6"/>
                <a:gd name="T7" fmla="*/ 4 h 4"/>
                <a:gd name="T8" fmla="*/ 0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0"/>
                  </a:moveTo>
                  <a:lnTo>
                    <a:pt x="0" y="2"/>
                  </a:lnTo>
                  <a:lnTo>
                    <a:pt x="6"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0" name="Freeform 107"/>
            <p:cNvSpPr>
              <a:spLocks/>
            </p:cNvSpPr>
            <p:nvPr/>
          </p:nvSpPr>
          <p:spPr bwMode="auto">
            <a:xfrm>
              <a:off x="4410" y="1290"/>
              <a:ext cx="12" cy="12"/>
            </a:xfrm>
            <a:custGeom>
              <a:avLst/>
              <a:gdLst>
                <a:gd name="T0" fmla="*/ 0 w 12"/>
                <a:gd name="T1" fmla="*/ 8 h 12"/>
                <a:gd name="T2" fmla="*/ 8 w 12"/>
                <a:gd name="T3" fmla="*/ 0 h 12"/>
                <a:gd name="T4" fmla="*/ 12 w 12"/>
                <a:gd name="T5" fmla="*/ 6 h 12"/>
                <a:gd name="T6" fmla="*/ 4 w 12"/>
                <a:gd name="T7" fmla="*/ 12 h 12"/>
                <a:gd name="T8" fmla="*/ 0 w 12"/>
                <a:gd name="T9" fmla="*/ 8 h 12"/>
                <a:gd name="T10" fmla="*/ 0 60000 65536"/>
                <a:gd name="T11" fmla="*/ 0 60000 65536"/>
                <a:gd name="T12" fmla="*/ 0 60000 65536"/>
                <a:gd name="T13" fmla="*/ 0 60000 65536"/>
                <a:gd name="T14" fmla="*/ 0 60000 65536"/>
                <a:gd name="T15" fmla="*/ 0 w 12"/>
                <a:gd name="T16" fmla="*/ 0 h 12"/>
                <a:gd name="T17" fmla="*/ 12 w 12"/>
                <a:gd name="T18" fmla="*/ 12 h 12"/>
              </a:gdLst>
              <a:ahLst/>
              <a:cxnLst>
                <a:cxn ang="T10">
                  <a:pos x="T0" y="T1"/>
                </a:cxn>
                <a:cxn ang="T11">
                  <a:pos x="T2" y="T3"/>
                </a:cxn>
                <a:cxn ang="T12">
                  <a:pos x="T4" y="T5"/>
                </a:cxn>
                <a:cxn ang="T13">
                  <a:pos x="T6" y="T7"/>
                </a:cxn>
                <a:cxn ang="T14">
                  <a:pos x="T8" y="T9"/>
                </a:cxn>
              </a:cxnLst>
              <a:rect l="T15" t="T16" r="T17" b="T18"/>
              <a:pathLst>
                <a:path w="12" h="12">
                  <a:moveTo>
                    <a:pt x="0" y="8"/>
                  </a:moveTo>
                  <a:lnTo>
                    <a:pt x="8" y="0"/>
                  </a:lnTo>
                  <a:lnTo>
                    <a:pt x="12" y="6"/>
                  </a:lnTo>
                  <a:lnTo>
                    <a:pt x="4" y="1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1" name="Freeform 108"/>
            <p:cNvSpPr>
              <a:spLocks/>
            </p:cNvSpPr>
            <p:nvPr/>
          </p:nvSpPr>
          <p:spPr bwMode="auto">
            <a:xfrm>
              <a:off x="4418" y="1286"/>
              <a:ext cx="10" cy="10"/>
            </a:xfrm>
            <a:custGeom>
              <a:avLst/>
              <a:gdLst>
                <a:gd name="T0" fmla="*/ 0 w 10"/>
                <a:gd name="T1" fmla="*/ 4 h 10"/>
                <a:gd name="T2" fmla="*/ 6 w 10"/>
                <a:gd name="T3" fmla="*/ 0 h 10"/>
                <a:gd name="T4" fmla="*/ 10 w 10"/>
                <a:gd name="T5" fmla="*/ 6 h 10"/>
                <a:gd name="T6" fmla="*/ 4 w 10"/>
                <a:gd name="T7" fmla="*/ 10 h 10"/>
                <a:gd name="T8" fmla="*/ 0 w 10"/>
                <a:gd name="T9" fmla="*/ 4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0" y="4"/>
                  </a:moveTo>
                  <a:lnTo>
                    <a:pt x="6" y="0"/>
                  </a:lnTo>
                  <a:lnTo>
                    <a:pt x="10" y="6"/>
                  </a:lnTo>
                  <a:lnTo>
                    <a:pt x="4"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2" name="Freeform 109"/>
            <p:cNvSpPr>
              <a:spLocks/>
            </p:cNvSpPr>
            <p:nvPr/>
          </p:nvSpPr>
          <p:spPr bwMode="auto">
            <a:xfrm>
              <a:off x="4418" y="1290"/>
              <a:ext cx="4" cy="6"/>
            </a:xfrm>
            <a:custGeom>
              <a:avLst/>
              <a:gdLst>
                <a:gd name="T0" fmla="*/ 0 w 4"/>
                <a:gd name="T1" fmla="*/ 0 h 6"/>
                <a:gd name="T2" fmla="*/ 0 w 4"/>
                <a:gd name="T3" fmla="*/ 0 h 6"/>
                <a:gd name="T4" fmla="*/ 4 w 4"/>
                <a:gd name="T5" fmla="*/ 6 h 6"/>
                <a:gd name="T6" fmla="*/ 4 w 4"/>
                <a:gd name="T7" fmla="*/ 6 h 6"/>
                <a:gd name="T8" fmla="*/ 0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0" y="0"/>
                  </a:moveTo>
                  <a:lnTo>
                    <a:pt x="0" y="0"/>
                  </a:lnTo>
                  <a:lnTo>
                    <a:pt x="4" y="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3" name="Freeform 110"/>
            <p:cNvSpPr>
              <a:spLocks/>
            </p:cNvSpPr>
            <p:nvPr/>
          </p:nvSpPr>
          <p:spPr bwMode="auto">
            <a:xfrm>
              <a:off x="4442" y="1276"/>
              <a:ext cx="10" cy="10"/>
            </a:xfrm>
            <a:custGeom>
              <a:avLst/>
              <a:gdLst>
                <a:gd name="T0" fmla="*/ 0 w 10"/>
                <a:gd name="T1" fmla="*/ 4 h 10"/>
                <a:gd name="T2" fmla="*/ 8 w 10"/>
                <a:gd name="T3" fmla="*/ 0 h 10"/>
                <a:gd name="T4" fmla="*/ 10 w 10"/>
                <a:gd name="T5" fmla="*/ 6 h 10"/>
                <a:gd name="T6" fmla="*/ 2 w 10"/>
                <a:gd name="T7" fmla="*/ 10 h 10"/>
                <a:gd name="T8" fmla="*/ 0 w 10"/>
                <a:gd name="T9" fmla="*/ 4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0" y="4"/>
                  </a:moveTo>
                  <a:lnTo>
                    <a:pt x="8" y="0"/>
                  </a:lnTo>
                  <a:lnTo>
                    <a:pt x="10" y="6"/>
                  </a:lnTo>
                  <a:lnTo>
                    <a:pt x="2"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4" name="Freeform 111"/>
            <p:cNvSpPr>
              <a:spLocks/>
            </p:cNvSpPr>
            <p:nvPr/>
          </p:nvSpPr>
          <p:spPr bwMode="auto">
            <a:xfrm>
              <a:off x="4450" y="1276"/>
              <a:ext cx="10" cy="8"/>
            </a:xfrm>
            <a:custGeom>
              <a:avLst/>
              <a:gdLst>
                <a:gd name="T0" fmla="*/ 0 w 10"/>
                <a:gd name="T1" fmla="*/ 0 h 8"/>
                <a:gd name="T2" fmla="*/ 8 w 10"/>
                <a:gd name="T3" fmla="*/ 0 h 8"/>
                <a:gd name="T4" fmla="*/ 10 w 10"/>
                <a:gd name="T5" fmla="*/ 6 h 8"/>
                <a:gd name="T6" fmla="*/ 2 w 10"/>
                <a:gd name="T7" fmla="*/ 8 h 8"/>
                <a:gd name="T8" fmla="*/ 0 w 10"/>
                <a:gd name="T9" fmla="*/ 0 h 8"/>
                <a:gd name="T10" fmla="*/ 0 60000 65536"/>
                <a:gd name="T11" fmla="*/ 0 60000 65536"/>
                <a:gd name="T12" fmla="*/ 0 60000 65536"/>
                <a:gd name="T13" fmla="*/ 0 60000 65536"/>
                <a:gd name="T14" fmla="*/ 0 60000 65536"/>
                <a:gd name="T15" fmla="*/ 0 w 10"/>
                <a:gd name="T16" fmla="*/ 0 h 8"/>
                <a:gd name="T17" fmla="*/ 10 w 10"/>
                <a:gd name="T18" fmla="*/ 8 h 8"/>
              </a:gdLst>
              <a:ahLst/>
              <a:cxnLst>
                <a:cxn ang="T10">
                  <a:pos x="T0" y="T1"/>
                </a:cxn>
                <a:cxn ang="T11">
                  <a:pos x="T2" y="T3"/>
                </a:cxn>
                <a:cxn ang="T12">
                  <a:pos x="T4" y="T5"/>
                </a:cxn>
                <a:cxn ang="T13">
                  <a:pos x="T6" y="T7"/>
                </a:cxn>
                <a:cxn ang="T14">
                  <a:pos x="T8" y="T9"/>
                </a:cxn>
              </a:cxnLst>
              <a:rect l="T15" t="T16" r="T17" b="T18"/>
              <a:pathLst>
                <a:path w="10" h="8">
                  <a:moveTo>
                    <a:pt x="0" y="0"/>
                  </a:moveTo>
                  <a:lnTo>
                    <a:pt x="8" y="0"/>
                  </a:lnTo>
                  <a:lnTo>
                    <a:pt x="10" y="6"/>
                  </a:lnTo>
                  <a:lnTo>
                    <a:pt x="2"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5" name="Freeform 112"/>
            <p:cNvSpPr>
              <a:spLocks/>
            </p:cNvSpPr>
            <p:nvPr/>
          </p:nvSpPr>
          <p:spPr bwMode="auto">
            <a:xfrm>
              <a:off x="4450" y="1276"/>
              <a:ext cx="2" cy="8"/>
            </a:xfrm>
            <a:custGeom>
              <a:avLst/>
              <a:gdLst>
                <a:gd name="T0" fmla="*/ 0 w 2"/>
                <a:gd name="T1" fmla="*/ 0 h 8"/>
                <a:gd name="T2" fmla="*/ 0 w 2"/>
                <a:gd name="T3" fmla="*/ 0 h 8"/>
                <a:gd name="T4" fmla="*/ 2 w 2"/>
                <a:gd name="T5" fmla="*/ 6 h 8"/>
                <a:gd name="T6" fmla="*/ 2 w 2"/>
                <a:gd name="T7" fmla="*/ 8 h 8"/>
                <a:gd name="T8" fmla="*/ 0 w 2"/>
                <a:gd name="T9" fmla="*/ 0 h 8"/>
                <a:gd name="T10" fmla="*/ 0 60000 65536"/>
                <a:gd name="T11" fmla="*/ 0 60000 65536"/>
                <a:gd name="T12" fmla="*/ 0 60000 65536"/>
                <a:gd name="T13" fmla="*/ 0 60000 65536"/>
                <a:gd name="T14" fmla="*/ 0 60000 65536"/>
                <a:gd name="T15" fmla="*/ 0 w 2"/>
                <a:gd name="T16" fmla="*/ 0 h 8"/>
                <a:gd name="T17" fmla="*/ 2 w 2"/>
                <a:gd name="T18" fmla="*/ 8 h 8"/>
              </a:gdLst>
              <a:ahLst/>
              <a:cxnLst>
                <a:cxn ang="T10">
                  <a:pos x="T0" y="T1"/>
                </a:cxn>
                <a:cxn ang="T11">
                  <a:pos x="T2" y="T3"/>
                </a:cxn>
                <a:cxn ang="T12">
                  <a:pos x="T4" y="T5"/>
                </a:cxn>
                <a:cxn ang="T13">
                  <a:pos x="T6" y="T7"/>
                </a:cxn>
                <a:cxn ang="T14">
                  <a:pos x="T8" y="T9"/>
                </a:cxn>
              </a:cxnLst>
              <a:rect l="T15" t="T16" r="T17" b="T18"/>
              <a:pathLst>
                <a:path w="2" h="8">
                  <a:moveTo>
                    <a:pt x="0" y="0"/>
                  </a:moveTo>
                  <a:lnTo>
                    <a:pt x="0" y="0"/>
                  </a:lnTo>
                  <a:lnTo>
                    <a:pt x="2" y="6"/>
                  </a:lnTo>
                  <a:lnTo>
                    <a:pt x="2"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6" name="Freeform 113"/>
            <p:cNvSpPr>
              <a:spLocks/>
            </p:cNvSpPr>
            <p:nvPr/>
          </p:nvSpPr>
          <p:spPr bwMode="auto">
            <a:xfrm>
              <a:off x="4476" y="1276"/>
              <a:ext cx="10" cy="8"/>
            </a:xfrm>
            <a:custGeom>
              <a:avLst/>
              <a:gdLst>
                <a:gd name="T0" fmla="*/ 0 w 10"/>
                <a:gd name="T1" fmla="*/ 0 h 8"/>
                <a:gd name="T2" fmla="*/ 10 w 10"/>
                <a:gd name="T3" fmla="*/ 0 h 8"/>
                <a:gd name="T4" fmla="*/ 10 w 10"/>
                <a:gd name="T5" fmla="*/ 8 h 8"/>
                <a:gd name="T6" fmla="*/ 0 w 10"/>
                <a:gd name="T7" fmla="*/ 6 h 8"/>
                <a:gd name="T8" fmla="*/ 0 w 10"/>
                <a:gd name="T9" fmla="*/ 0 h 8"/>
                <a:gd name="T10" fmla="*/ 0 60000 65536"/>
                <a:gd name="T11" fmla="*/ 0 60000 65536"/>
                <a:gd name="T12" fmla="*/ 0 60000 65536"/>
                <a:gd name="T13" fmla="*/ 0 60000 65536"/>
                <a:gd name="T14" fmla="*/ 0 60000 65536"/>
                <a:gd name="T15" fmla="*/ 0 w 10"/>
                <a:gd name="T16" fmla="*/ 0 h 8"/>
                <a:gd name="T17" fmla="*/ 10 w 10"/>
                <a:gd name="T18" fmla="*/ 8 h 8"/>
              </a:gdLst>
              <a:ahLst/>
              <a:cxnLst>
                <a:cxn ang="T10">
                  <a:pos x="T0" y="T1"/>
                </a:cxn>
                <a:cxn ang="T11">
                  <a:pos x="T2" y="T3"/>
                </a:cxn>
                <a:cxn ang="T12">
                  <a:pos x="T4" y="T5"/>
                </a:cxn>
                <a:cxn ang="T13">
                  <a:pos x="T6" y="T7"/>
                </a:cxn>
                <a:cxn ang="T14">
                  <a:pos x="T8" y="T9"/>
                </a:cxn>
              </a:cxnLst>
              <a:rect l="T15" t="T16" r="T17" b="T18"/>
              <a:pathLst>
                <a:path w="10" h="8">
                  <a:moveTo>
                    <a:pt x="0" y="0"/>
                  </a:moveTo>
                  <a:lnTo>
                    <a:pt x="10" y="0"/>
                  </a:lnTo>
                  <a:lnTo>
                    <a:pt x="10" y="8"/>
                  </a:lnTo>
                  <a:lnTo>
                    <a:pt x="0" y="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7" name="Freeform 114"/>
            <p:cNvSpPr>
              <a:spLocks/>
            </p:cNvSpPr>
            <p:nvPr/>
          </p:nvSpPr>
          <p:spPr bwMode="auto">
            <a:xfrm>
              <a:off x="4484" y="1276"/>
              <a:ext cx="10" cy="10"/>
            </a:xfrm>
            <a:custGeom>
              <a:avLst/>
              <a:gdLst>
                <a:gd name="T0" fmla="*/ 2 w 10"/>
                <a:gd name="T1" fmla="*/ 0 h 10"/>
                <a:gd name="T2" fmla="*/ 10 w 10"/>
                <a:gd name="T3" fmla="*/ 4 h 10"/>
                <a:gd name="T4" fmla="*/ 8 w 10"/>
                <a:gd name="T5" fmla="*/ 10 h 10"/>
                <a:gd name="T6" fmla="*/ 0 w 10"/>
                <a:gd name="T7" fmla="*/ 6 h 10"/>
                <a:gd name="T8" fmla="*/ 2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2" y="0"/>
                  </a:moveTo>
                  <a:lnTo>
                    <a:pt x="10" y="4"/>
                  </a:lnTo>
                  <a:lnTo>
                    <a:pt x="8" y="1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8" name="Freeform 115"/>
            <p:cNvSpPr>
              <a:spLocks/>
            </p:cNvSpPr>
            <p:nvPr/>
          </p:nvSpPr>
          <p:spPr bwMode="auto">
            <a:xfrm>
              <a:off x="4484" y="1276"/>
              <a:ext cx="2" cy="8"/>
            </a:xfrm>
            <a:custGeom>
              <a:avLst/>
              <a:gdLst>
                <a:gd name="T0" fmla="*/ 2 w 2"/>
                <a:gd name="T1" fmla="*/ 0 h 8"/>
                <a:gd name="T2" fmla="*/ 2 w 2"/>
                <a:gd name="T3" fmla="*/ 0 h 8"/>
                <a:gd name="T4" fmla="*/ 2 w 2"/>
                <a:gd name="T5" fmla="*/ 8 h 8"/>
                <a:gd name="T6" fmla="*/ 0 w 2"/>
                <a:gd name="T7" fmla="*/ 6 h 8"/>
                <a:gd name="T8" fmla="*/ 2 w 2"/>
                <a:gd name="T9" fmla="*/ 0 h 8"/>
                <a:gd name="T10" fmla="*/ 0 60000 65536"/>
                <a:gd name="T11" fmla="*/ 0 60000 65536"/>
                <a:gd name="T12" fmla="*/ 0 60000 65536"/>
                <a:gd name="T13" fmla="*/ 0 60000 65536"/>
                <a:gd name="T14" fmla="*/ 0 60000 65536"/>
                <a:gd name="T15" fmla="*/ 0 w 2"/>
                <a:gd name="T16" fmla="*/ 0 h 8"/>
                <a:gd name="T17" fmla="*/ 2 w 2"/>
                <a:gd name="T18" fmla="*/ 8 h 8"/>
              </a:gdLst>
              <a:ahLst/>
              <a:cxnLst>
                <a:cxn ang="T10">
                  <a:pos x="T0" y="T1"/>
                </a:cxn>
                <a:cxn ang="T11">
                  <a:pos x="T2" y="T3"/>
                </a:cxn>
                <a:cxn ang="T12">
                  <a:pos x="T4" y="T5"/>
                </a:cxn>
                <a:cxn ang="T13">
                  <a:pos x="T6" y="T7"/>
                </a:cxn>
                <a:cxn ang="T14">
                  <a:pos x="T8" y="T9"/>
                </a:cxn>
              </a:cxnLst>
              <a:rect l="T15" t="T16" r="T17" b="T18"/>
              <a:pathLst>
                <a:path w="2" h="8">
                  <a:moveTo>
                    <a:pt x="2" y="0"/>
                  </a:moveTo>
                  <a:lnTo>
                    <a:pt x="2" y="0"/>
                  </a:lnTo>
                  <a:lnTo>
                    <a:pt x="2" y="8"/>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09" name="Freeform 116"/>
            <p:cNvSpPr>
              <a:spLocks/>
            </p:cNvSpPr>
            <p:nvPr/>
          </p:nvSpPr>
          <p:spPr bwMode="auto">
            <a:xfrm>
              <a:off x="4508" y="1286"/>
              <a:ext cx="10" cy="10"/>
            </a:xfrm>
            <a:custGeom>
              <a:avLst/>
              <a:gdLst>
                <a:gd name="T0" fmla="*/ 2 w 10"/>
                <a:gd name="T1" fmla="*/ 0 h 10"/>
                <a:gd name="T2" fmla="*/ 10 w 10"/>
                <a:gd name="T3" fmla="*/ 4 h 10"/>
                <a:gd name="T4" fmla="*/ 8 w 10"/>
                <a:gd name="T5" fmla="*/ 10 h 10"/>
                <a:gd name="T6" fmla="*/ 0 w 10"/>
                <a:gd name="T7" fmla="*/ 6 h 10"/>
                <a:gd name="T8" fmla="*/ 2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2" y="0"/>
                  </a:moveTo>
                  <a:lnTo>
                    <a:pt x="10" y="4"/>
                  </a:lnTo>
                  <a:lnTo>
                    <a:pt x="8" y="1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0" name="Freeform 117"/>
            <p:cNvSpPr>
              <a:spLocks/>
            </p:cNvSpPr>
            <p:nvPr/>
          </p:nvSpPr>
          <p:spPr bwMode="auto">
            <a:xfrm>
              <a:off x="4514" y="1290"/>
              <a:ext cx="12" cy="10"/>
            </a:xfrm>
            <a:custGeom>
              <a:avLst/>
              <a:gdLst>
                <a:gd name="T0" fmla="*/ 4 w 12"/>
                <a:gd name="T1" fmla="*/ 0 h 10"/>
                <a:gd name="T2" fmla="*/ 12 w 12"/>
                <a:gd name="T3" fmla="*/ 6 h 10"/>
                <a:gd name="T4" fmla="*/ 8 w 12"/>
                <a:gd name="T5" fmla="*/ 10 h 10"/>
                <a:gd name="T6" fmla="*/ 0 w 12"/>
                <a:gd name="T7" fmla="*/ 6 h 10"/>
                <a:gd name="T8" fmla="*/ 4 w 12"/>
                <a:gd name="T9" fmla="*/ 0 h 10"/>
                <a:gd name="T10" fmla="*/ 0 60000 65536"/>
                <a:gd name="T11" fmla="*/ 0 60000 65536"/>
                <a:gd name="T12" fmla="*/ 0 60000 65536"/>
                <a:gd name="T13" fmla="*/ 0 60000 65536"/>
                <a:gd name="T14" fmla="*/ 0 60000 65536"/>
                <a:gd name="T15" fmla="*/ 0 w 12"/>
                <a:gd name="T16" fmla="*/ 0 h 10"/>
                <a:gd name="T17" fmla="*/ 12 w 12"/>
                <a:gd name="T18" fmla="*/ 10 h 10"/>
              </a:gdLst>
              <a:ahLst/>
              <a:cxnLst>
                <a:cxn ang="T10">
                  <a:pos x="T0" y="T1"/>
                </a:cxn>
                <a:cxn ang="T11">
                  <a:pos x="T2" y="T3"/>
                </a:cxn>
                <a:cxn ang="T12">
                  <a:pos x="T4" y="T5"/>
                </a:cxn>
                <a:cxn ang="T13">
                  <a:pos x="T6" y="T7"/>
                </a:cxn>
                <a:cxn ang="T14">
                  <a:pos x="T8" y="T9"/>
                </a:cxn>
              </a:cxnLst>
              <a:rect l="T15" t="T16" r="T17" b="T18"/>
              <a:pathLst>
                <a:path w="12" h="10">
                  <a:moveTo>
                    <a:pt x="4" y="0"/>
                  </a:moveTo>
                  <a:lnTo>
                    <a:pt x="12" y="6"/>
                  </a:lnTo>
                  <a:lnTo>
                    <a:pt x="8" y="10"/>
                  </a:lnTo>
                  <a:lnTo>
                    <a:pt x="0" y="6"/>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1" name="Freeform 118"/>
            <p:cNvSpPr>
              <a:spLocks/>
            </p:cNvSpPr>
            <p:nvPr/>
          </p:nvSpPr>
          <p:spPr bwMode="auto">
            <a:xfrm>
              <a:off x="4514" y="1290"/>
              <a:ext cx="4" cy="6"/>
            </a:xfrm>
            <a:custGeom>
              <a:avLst/>
              <a:gdLst>
                <a:gd name="T0" fmla="*/ 4 w 4"/>
                <a:gd name="T1" fmla="*/ 0 h 6"/>
                <a:gd name="T2" fmla="*/ 4 w 4"/>
                <a:gd name="T3" fmla="*/ 0 h 6"/>
                <a:gd name="T4" fmla="*/ 2 w 4"/>
                <a:gd name="T5" fmla="*/ 6 h 6"/>
                <a:gd name="T6" fmla="*/ 0 w 4"/>
                <a:gd name="T7" fmla="*/ 6 h 6"/>
                <a:gd name="T8" fmla="*/ 4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0"/>
                  </a:moveTo>
                  <a:lnTo>
                    <a:pt x="4" y="0"/>
                  </a:lnTo>
                  <a:lnTo>
                    <a:pt x="2" y="6"/>
                  </a:lnTo>
                  <a:lnTo>
                    <a:pt x="0" y="6"/>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2" name="Freeform 119"/>
            <p:cNvSpPr>
              <a:spLocks/>
            </p:cNvSpPr>
            <p:nvPr/>
          </p:nvSpPr>
          <p:spPr bwMode="auto">
            <a:xfrm>
              <a:off x="4534" y="1308"/>
              <a:ext cx="8" cy="10"/>
            </a:xfrm>
            <a:custGeom>
              <a:avLst/>
              <a:gdLst>
                <a:gd name="T0" fmla="*/ 4 w 8"/>
                <a:gd name="T1" fmla="*/ 0 h 10"/>
                <a:gd name="T2" fmla="*/ 8 w 8"/>
                <a:gd name="T3" fmla="*/ 6 h 10"/>
                <a:gd name="T4" fmla="*/ 4 w 8"/>
                <a:gd name="T5" fmla="*/ 10 h 10"/>
                <a:gd name="T6" fmla="*/ 0 w 8"/>
                <a:gd name="T7" fmla="*/ 4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lnTo>
                    <a:pt x="8" y="6"/>
                  </a:lnTo>
                  <a:lnTo>
                    <a:pt x="4" y="10"/>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3" name="Freeform 120"/>
            <p:cNvSpPr>
              <a:spLocks/>
            </p:cNvSpPr>
            <p:nvPr/>
          </p:nvSpPr>
          <p:spPr bwMode="auto">
            <a:xfrm>
              <a:off x="4538" y="1316"/>
              <a:ext cx="10" cy="10"/>
            </a:xfrm>
            <a:custGeom>
              <a:avLst/>
              <a:gdLst>
                <a:gd name="T0" fmla="*/ 4 w 10"/>
                <a:gd name="T1" fmla="*/ 0 h 10"/>
                <a:gd name="T2" fmla="*/ 10 w 10"/>
                <a:gd name="T3" fmla="*/ 8 h 10"/>
                <a:gd name="T4" fmla="*/ 4 w 10"/>
                <a:gd name="T5" fmla="*/ 10 h 10"/>
                <a:gd name="T6" fmla="*/ 0 w 10"/>
                <a:gd name="T7" fmla="*/ 2 h 10"/>
                <a:gd name="T8" fmla="*/ 4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4" y="0"/>
                  </a:moveTo>
                  <a:lnTo>
                    <a:pt x="10" y="8"/>
                  </a:lnTo>
                  <a:lnTo>
                    <a:pt x="4" y="10"/>
                  </a:lnTo>
                  <a:lnTo>
                    <a:pt x="0"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4" name="Freeform 121"/>
            <p:cNvSpPr>
              <a:spLocks/>
            </p:cNvSpPr>
            <p:nvPr/>
          </p:nvSpPr>
          <p:spPr bwMode="auto">
            <a:xfrm>
              <a:off x="4538" y="1314"/>
              <a:ext cx="4" cy="4"/>
            </a:xfrm>
            <a:custGeom>
              <a:avLst/>
              <a:gdLst>
                <a:gd name="T0" fmla="*/ 4 w 4"/>
                <a:gd name="T1" fmla="*/ 2 h 4"/>
                <a:gd name="T2" fmla="*/ 4 w 4"/>
                <a:gd name="T3" fmla="*/ 0 h 4"/>
                <a:gd name="T4" fmla="*/ 0 w 4"/>
                <a:gd name="T5" fmla="*/ 4 h 4"/>
                <a:gd name="T6" fmla="*/ 0 w 4"/>
                <a:gd name="T7" fmla="*/ 4 h 4"/>
                <a:gd name="T8" fmla="*/ 4 w 4"/>
                <a:gd name="T9" fmla="*/ 2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4" y="2"/>
                  </a:moveTo>
                  <a:lnTo>
                    <a:pt x="4" y="0"/>
                  </a:lnTo>
                  <a:lnTo>
                    <a:pt x="0" y="4"/>
                  </a:lnTo>
                  <a:lnTo>
                    <a:pt x="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5" name="Freeform 122"/>
            <p:cNvSpPr>
              <a:spLocks/>
            </p:cNvSpPr>
            <p:nvPr/>
          </p:nvSpPr>
          <p:spPr bwMode="auto">
            <a:xfrm>
              <a:off x="4548" y="1340"/>
              <a:ext cx="8" cy="8"/>
            </a:xfrm>
            <a:custGeom>
              <a:avLst/>
              <a:gdLst>
                <a:gd name="T0" fmla="*/ 6 w 8"/>
                <a:gd name="T1" fmla="*/ 0 h 8"/>
                <a:gd name="T2" fmla="*/ 8 w 8"/>
                <a:gd name="T3" fmla="*/ 6 h 8"/>
                <a:gd name="T4" fmla="*/ 2 w 8"/>
                <a:gd name="T5" fmla="*/ 8 h 8"/>
                <a:gd name="T6" fmla="*/ 0 w 8"/>
                <a:gd name="T7" fmla="*/ 2 h 8"/>
                <a:gd name="T8" fmla="*/ 6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6" y="0"/>
                  </a:moveTo>
                  <a:lnTo>
                    <a:pt x="8" y="6"/>
                  </a:lnTo>
                  <a:lnTo>
                    <a:pt x="2" y="8"/>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6" name="Freeform 123"/>
            <p:cNvSpPr>
              <a:spLocks/>
            </p:cNvSpPr>
            <p:nvPr/>
          </p:nvSpPr>
          <p:spPr bwMode="auto">
            <a:xfrm>
              <a:off x="4550" y="1348"/>
              <a:ext cx="8" cy="10"/>
            </a:xfrm>
            <a:custGeom>
              <a:avLst/>
              <a:gdLst>
                <a:gd name="T0" fmla="*/ 6 w 8"/>
                <a:gd name="T1" fmla="*/ 0 h 10"/>
                <a:gd name="T2" fmla="*/ 8 w 8"/>
                <a:gd name="T3" fmla="*/ 10 h 10"/>
                <a:gd name="T4" fmla="*/ 2 w 8"/>
                <a:gd name="T5" fmla="*/ 10 h 10"/>
                <a:gd name="T6" fmla="*/ 0 w 8"/>
                <a:gd name="T7" fmla="*/ 0 h 10"/>
                <a:gd name="T8" fmla="*/ 6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6" y="0"/>
                  </a:moveTo>
                  <a:lnTo>
                    <a:pt x="8" y="10"/>
                  </a:lnTo>
                  <a:lnTo>
                    <a:pt x="2" y="10"/>
                  </a:lnTo>
                  <a:lnTo>
                    <a:pt x="0"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7" name="Oval 124"/>
            <p:cNvSpPr>
              <a:spLocks noChangeArrowheads="1"/>
            </p:cNvSpPr>
            <p:nvPr/>
          </p:nvSpPr>
          <p:spPr bwMode="auto">
            <a:xfrm>
              <a:off x="4603" y="120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8" name="Oval 125"/>
            <p:cNvSpPr>
              <a:spLocks noChangeArrowheads="1"/>
            </p:cNvSpPr>
            <p:nvPr/>
          </p:nvSpPr>
          <p:spPr bwMode="auto">
            <a:xfrm>
              <a:off x="4599" y="115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19" name="Oval 126"/>
            <p:cNvSpPr>
              <a:spLocks noChangeArrowheads="1"/>
            </p:cNvSpPr>
            <p:nvPr/>
          </p:nvSpPr>
          <p:spPr bwMode="auto">
            <a:xfrm>
              <a:off x="4281" y="1327"/>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0" name="Oval 127"/>
            <p:cNvSpPr>
              <a:spLocks noChangeArrowheads="1"/>
            </p:cNvSpPr>
            <p:nvPr/>
          </p:nvSpPr>
          <p:spPr bwMode="auto">
            <a:xfrm>
              <a:off x="4275" y="13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1" name="Oval 128"/>
            <p:cNvSpPr>
              <a:spLocks noChangeArrowheads="1"/>
            </p:cNvSpPr>
            <p:nvPr/>
          </p:nvSpPr>
          <p:spPr bwMode="auto">
            <a:xfrm>
              <a:off x="4271" y="166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2" name="Oval 129"/>
            <p:cNvSpPr>
              <a:spLocks noChangeArrowheads="1"/>
            </p:cNvSpPr>
            <p:nvPr/>
          </p:nvSpPr>
          <p:spPr bwMode="auto">
            <a:xfrm>
              <a:off x="4271" y="17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3" name="Oval 130"/>
            <p:cNvSpPr>
              <a:spLocks noChangeArrowheads="1"/>
            </p:cNvSpPr>
            <p:nvPr/>
          </p:nvSpPr>
          <p:spPr bwMode="auto">
            <a:xfrm>
              <a:off x="4275" y="1995"/>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4" name="Oval 131"/>
            <p:cNvSpPr>
              <a:spLocks noChangeArrowheads="1"/>
            </p:cNvSpPr>
            <p:nvPr/>
          </p:nvSpPr>
          <p:spPr bwMode="auto">
            <a:xfrm>
              <a:off x="4275" y="2063"/>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5" name="Oval 132"/>
            <p:cNvSpPr>
              <a:spLocks noChangeArrowheads="1"/>
            </p:cNvSpPr>
            <p:nvPr/>
          </p:nvSpPr>
          <p:spPr bwMode="auto">
            <a:xfrm>
              <a:off x="4207" y="1339"/>
              <a:ext cx="19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6" name="Oval 133"/>
            <p:cNvSpPr>
              <a:spLocks noChangeArrowheads="1"/>
            </p:cNvSpPr>
            <p:nvPr/>
          </p:nvSpPr>
          <p:spPr bwMode="auto">
            <a:xfrm>
              <a:off x="4209" y="1671"/>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7" name="Oval 134"/>
            <p:cNvSpPr>
              <a:spLocks noChangeArrowheads="1"/>
            </p:cNvSpPr>
            <p:nvPr/>
          </p:nvSpPr>
          <p:spPr bwMode="auto">
            <a:xfrm>
              <a:off x="4209" y="1999"/>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8" name="Oval 135"/>
            <p:cNvSpPr>
              <a:spLocks noChangeArrowheads="1"/>
            </p:cNvSpPr>
            <p:nvPr/>
          </p:nvSpPr>
          <p:spPr bwMode="auto">
            <a:xfrm>
              <a:off x="4571" y="1343"/>
              <a:ext cx="112"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29" name="Oval 136"/>
            <p:cNvSpPr>
              <a:spLocks noChangeArrowheads="1"/>
            </p:cNvSpPr>
            <p:nvPr/>
          </p:nvSpPr>
          <p:spPr bwMode="auto">
            <a:xfrm>
              <a:off x="4537" y="1671"/>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30" name="Oval 137"/>
            <p:cNvSpPr>
              <a:spLocks noChangeArrowheads="1"/>
            </p:cNvSpPr>
            <p:nvPr/>
          </p:nvSpPr>
          <p:spPr bwMode="auto">
            <a:xfrm>
              <a:off x="4537" y="1999"/>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31" name="Oval 138"/>
            <p:cNvSpPr>
              <a:spLocks noChangeArrowheads="1"/>
            </p:cNvSpPr>
            <p:nvPr/>
          </p:nvSpPr>
          <p:spPr bwMode="auto">
            <a:xfrm>
              <a:off x="4423" y="2123"/>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32" name="Oval 139"/>
            <p:cNvSpPr>
              <a:spLocks noChangeArrowheads="1"/>
            </p:cNvSpPr>
            <p:nvPr/>
          </p:nvSpPr>
          <p:spPr bwMode="auto">
            <a:xfrm>
              <a:off x="4423" y="1795"/>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33" name="Freeform 140"/>
            <p:cNvSpPr>
              <a:spLocks/>
            </p:cNvSpPr>
            <p:nvPr/>
          </p:nvSpPr>
          <p:spPr bwMode="auto">
            <a:xfrm>
              <a:off x="4428" y="1442"/>
              <a:ext cx="74" cy="176"/>
            </a:xfrm>
            <a:custGeom>
              <a:avLst/>
              <a:gdLst>
                <a:gd name="T0" fmla="*/ 74 w 74"/>
                <a:gd name="T1" fmla="*/ 92 h 176"/>
                <a:gd name="T2" fmla="*/ 72 w 74"/>
                <a:gd name="T3" fmla="*/ 110 h 176"/>
                <a:gd name="T4" fmla="*/ 68 w 74"/>
                <a:gd name="T5" fmla="*/ 126 h 176"/>
                <a:gd name="T6" fmla="*/ 64 w 74"/>
                <a:gd name="T7" fmla="*/ 140 h 176"/>
                <a:gd name="T8" fmla="*/ 58 w 74"/>
                <a:gd name="T9" fmla="*/ 154 h 176"/>
                <a:gd name="T10" fmla="*/ 52 w 74"/>
                <a:gd name="T11" fmla="*/ 164 h 176"/>
                <a:gd name="T12" fmla="*/ 44 w 74"/>
                <a:gd name="T13" fmla="*/ 172 h 176"/>
                <a:gd name="T14" fmla="*/ 38 w 74"/>
                <a:gd name="T15" fmla="*/ 176 h 176"/>
                <a:gd name="T16" fmla="*/ 30 w 74"/>
                <a:gd name="T17" fmla="*/ 176 h 176"/>
                <a:gd name="T18" fmla="*/ 22 w 74"/>
                <a:gd name="T19" fmla="*/ 174 h 176"/>
                <a:gd name="T20" fmla="*/ 16 w 74"/>
                <a:gd name="T21" fmla="*/ 168 h 176"/>
                <a:gd name="T22" fmla="*/ 12 w 74"/>
                <a:gd name="T23" fmla="*/ 160 h 176"/>
                <a:gd name="T24" fmla="*/ 6 w 74"/>
                <a:gd name="T25" fmla="*/ 148 h 176"/>
                <a:gd name="T26" fmla="*/ 4 w 74"/>
                <a:gd name="T27" fmla="*/ 134 h 176"/>
                <a:gd name="T28" fmla="*/ 2 w 74"/>
                <a:gd name="T29" fmla="*/ 120 h 176"/>
                <a:gd name="T30" fmla="*/ 0 w 74"/>
                <a:gd name="T31" fmla="*/ 102 h 176"/>
                <a:gd name="T32" fmla="*/ 2 w 74"/>
                <a:gd name="T33" fmla="*/ 86 h 176"/>
                <a:gd name="T34" fmla="*/ 4 w 74"/>
                <a:gd name="T35" fmla="*/ 68 h 176"/>
                <a:gd name="T36" fmla="*/ 6 w 74"/>
                <a:gd name="T37" fmla="*/ 50 h 176"/>
                <a:gd name="T38" fmla="*/ 12 w 74"/>
                <a:gd name="T39" fmla="*/ 36 h 176"/>
                <a:gd name="T40" fmla="*/ 18 w 74"/>
                <a:gd name="T41" fmla="*/ 24 h 176"/>
                <a:gd name="T42" fmla="*/ 24 w 74"/>
                <a:gd name="T43" fmla="*/ 14 h 176"/>
                <a:gd name="T44" fmla="*/ 30 w 74"/>
                <a:gd name="T45" fmla="*/ 6 h 176"/>
                <a:gd name="T46" fmla="*/ 38 w 74"/>
                <a:gd name="T47" fmla="*/ 0 h 176"/>
                <a:gd name="T48" fmla="*/ 44 w 74"/>
                <a:gd name="T49" fmla="*/ 0 h 176"/>
                <a:gd name="T50" fmla="*/ 52 w 74"/>
                <a:gd name="T51" fmla="*/ 2 h 176"/>
                <a:gd name="T52" fmla="*/ 58 w 74"/>
                <a:gd name="T53" fmla="*/ 8 h 176"/>
                <a:gd name="T54" fmla="*/ 64 w 74"/>
                <a:gd name="T55" fmla="*/ 16 h 176"/>
                <a:gd name="T56" fmla="*/ 68 w 74"/>
                <a:gd name="T57" fmla="*/ 28 h 176"/>
                <a:gd name="T58" fmla="*/ 72 w 74"/>
                <a:gd name="T59" fmla="*/ 42 h 176"/>
                <a:gd name="T60" fmla="*/ 74 w 74"/>
                <a:gd name="T61" fmla="*/ 58 h 176"/>
                <a:gd name="T62" fmla="*/ 74 w 74"/>
                <a:gd name="T63" fmla="*/ 74 h 176"/>
                <a:gd name="T64" fmla="*/ 74 w 74"/>
                <a:gd name="T65" fmla="*/ 92 h 1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4"/>
                <a:gd name="T100" fmla="*/ 0 h 176"/>
                <a:gd name="T101" fmla="*/ 74 w 74"/>
                <a:gd name="T102" fmla="*/ 176 h 1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4" h="176">
                  <a:moveTo>
                    <a:pt x="74" y="92"/>
                  </a:moveTo>
                  <a:lnTo>
                    <a:pt x="72" y="110"/>
                  </a:lnTo>
                  <a:lnTo>
                    <a:pt x="68" y="126"/>
                  </a:lnTo>
                  <a:lnTo>
                    <a:pt x="64" y="140"/>
                  </a:lnTo>
                  <a:lnTo>
                    <a:pt x="58" y="154"/>
                  </a:lnTo>
                  <a:lnTo>
                    <a:pt x="52" y="164"/>
                  </a:lnTo>
                  <a:lnTo>
                    <a:pt x="44" y="172"/>
                  </a:lnTo>
                  <a:lnTo>
                    <a:pt x="38" y="176"/>
                  </a:lnTo>
                  <a:lnTo>
                    <a:pt x="30" y="176"/>
                  </a:lnTo>
                  <a:lnTo>
                    <a:pt x="22" y="174"/>
                  </a:lnTo>
                  <a:lnTo>
                    <a:pt x="16" y="168"/>
                  </a:lnTo>
                  <a:lnTo>
                    <a:pt x="12" y="160"/>
                  </a:lnTo>
                  <a:lnTo>
                    <a:pt x="6" y="148"/>
                  </a:lnTo>
                  <a:lnTo>
                    <a:pt x="4" y="134"/>
                  </a:lnTo>
                  <a:lnTo>
                    <a:pt x="2" y="120"/>
                  </a:lnTo>
                  <a:lnTo>
                    <a:pt x="0" y="102"/>
                  </a:lnTo>
                  <a:lnTo>
                    <a:pt x="2" y="86"/>
                  </a:lnTo>
                  <a:lnTo>
                    <a:pt x="4" y="68"/>
                  </a:lnTo>
                  <a:lnTo>
                    <a:pt x="6" y="50"/>
                  </a:lnTo>
                  <a:lnTo>
                    <a:pt x="12" y="36"/>
                  </a:lnTo>
                  <a:lnTo>
                    <a:pt x="18" y="24"/>
                  </a:lnTo>
                  <a:lnTo>
                    <a:pt x="24" y="14"/>
                  </a:lnTo>
                  <a:lnTo>
                    <a:pt x="30" y="6"/>
                  </a:lnTo>
                  <a:lnTo>
                    <a:pt x="38" y="0"/>
                  </a:lnTo>
                  <a:lnTo>
                    <a:pt x="44" y="0"/>
                  </a:lnTo>
                  <a:lnTo>
                    <a:pt x="52" y="2"/>
                  </a:lnTo>
                  <a:lnTo>
                    <a:pt x="58" y="8"/>
                  </a:lnTo>
                  <a:lnTo>
                    <a:pt x="64" y="16"/>
                  </a:lnTo>
                  <a:lnTo>
                    <a:pt x="68" y="28"/>
                  </a:lnTo>
                  <a:lnTo>
                    <a:pt x="72" y="42"/>
                  </a:lnTo>
                  <a:lnTo>
                    <a:pt x="74" y="58"/>
                  </a:lnTo>
                  <a:lnTo>
                    <a:pt x="74" y="74"/>
                  </a:lnTo>
                  <a:lnTo>
                    <a:pt x="74" y="92"/>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134" name="Group 141"/>
            <p:cNvGrpSpPr>
              <a:grpSpLocks/>
            </p:cNvGrpSpPr>
            <p:nvPr/>
          </p:nvGrpSpPr>
          <p:grpSpPr bwMode="auto">
            <a:xfrm>
              <a:off x="4609" y="1331"/>
              <a:ext cx="32" cy="100"/>
              <a:chOff x="4609" y="1331"/>
              <a:chExt cx="32" cy="100"/>
            </a:xfrm>
          </p:grpSpPr>
          <p:sp>
            <p:nvSpPr>
              <p:cNvPr id="596" name="Oval 142"/>
              <p:cNvSpPr>
                <a:spLocks noChangeArrowheads="1"/>
              </p:cNvSpPr>
              <p:nvPr/>
            </p:nvSpPr>
            <p:spPr bwMode="auto">
              <a:xfrm>
                <a:off x="4609" y="13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97" name="Oval 143"/>
              <p:cNvSpPr>
                <a:spLocks noChangeArrowheads="1"/>
              </p:cNvSpPr>
              <p:nvPr/>
            </p:nvSpPr>
            <p:spPr bwMode="auto">
              <a:xfrm>
                <a:off x="4609" y="13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35" name="Group 144"/>
            <p:cNvGrpSpPr>
              <a:grpSpLocks/>
            </p:cNvGrpSpPr>
            <p:nvPr/>
          </p:nvGrpSpPr>
          <p:grpSpPr bwMode="auto">
            <a:xfrm>
              <a:off x="4611" y="1657"/>
              <a:ext cx="32" cy="100"/>
              <a:chOff x="4611" y="1657"/>
              <a:chExt cx="32" cy="100"/>
            </a:xfrm>
          </p:grpSpPr>
          <p:sp>
            <p:nvSpPr>
              <p:cNvPr id="594" name="Oval 145"/>
              <p:cNvSpPr>
                <a:spLocks noChangeArrowheads="1"/>
              </p:cNvSpPr>
              <p:nvPr/>
            </p:nvSpPr>
            <p:spPr bwMode="auto">
              <a:xfrm>
                <a:off x="4611" y="165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95" name="Oval 146"/>
              <p:cNvSpPr>
                <a:spLocks noChangeArrowheads="1"/>
              </p:cNvSpPr>
              <p:nvPr/>
            </p:nvSpPr>
            <p:spPr bwMode="auto">
              <a:xfrm>
                <a:off x="4611" y="172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36" name="Group 147"/>
            <p:cNvGrpSpPr>
              <a:grpSpLocks/>
            </p:cNvGrpSpPr>
            <p:nvPr/>
          </p:nvGrpSpPr>
          <p:grpSpPr bwMode="auto">
            <a:xfrm>
              <a:off x="4607" y="1985"/>
              <a:ext cx="32" cy="100"/>
              <a:chOff x="4607" y="1985"/>
              <a:chExt cx="32" cy="100"/>
            </a:xfrm>
          </p:grpSpPr>
          <p:sp>
            <p:nvSpPr>
              <p:cNvPr id="592" name="Oval 148"/>
              <p:cNvSpPr>
                <a:spLocks noChangeArrowheads="1"/>
              </p:cNvSpPr>
              <p:nvPr/>
            </p:nvSpPr>
            <p:spPr bwMode="auto">
              <a:xfrm>
                <a:off x="4607" y="198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93" name="Oval 149"/>
              <p:cNvSpPr>
                <a:spLocks noChangeArrowheads="1"/>
              </p:cNvSpPr>
              <p:nvPr/>
            </p:nvSpPr>
            <p:spPr bwMode="auto">
              <a:xfrm>
                <a:off x="4607" y="205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37" name="Group 150"/>
            <p:cNvGrpSpPr>
              <a:grpSpLocks/>
            </p:cNvGrpSpPr>
            <p:nvPr/>
          </p:nvGrpSpPr>
          <p:grpSpPr bwMode="auto">
            <a:xfrm>
              <a:off x="4415" y="1515"/>
              <a:ext cx="102" cy="32"/>
              <a:chOff x="4415" y="1515"/>
              <a:chExt cx="102" cy="32"/>
            </a:xfrm>
          </p:grpSpPr>
          <p:sp>
            <p:nvSpPr>
              <p:cNvPr id="590" name="Oval 151"/>
              <p:cNvSpPr>
                <a:spLocks noChangeArrowheads="1"/>
              </p:cNvSpPr>
              <p:nvPr/>
            </p:nvSpPr>
            <p:spPr bwMode="auto">
              <a:xfrm>
                <a:off x="4483" y="1515"/>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91" name="Oval 152"/>
              <p:cNvSpPr>
                <a:spLocks noChangeArrowheads="1"/>
              </p:cNvSpPr>
              <p:nvPr/>
            </p:nvSpPr>
            <p:spPr bwMode="auto">
              <a:xfrm>
                <a:off x="4415" y="151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38" name="Group 153"/>
            <p:cNvGrpSpPr>
              <a:grpSpLocks/>
            </p:cNvGrpSpPr>
            <p:nvPr/>
          </p:nvGrpSpPr>
          <p:grpSpPr bwMode="auto">
            <a:xfrm>
              <a:off x="4413" y="1865"/>
              <a:ext cx="102" cy="32"/>
              <a:chOff x="4413" y="1865"/>
              <a:chExt cx="102" cy="32"/>
            </a:xfrm>
          </p:grpSpPr>
          <p:sp>
            <p:nvSpPr>
              <p:cNvPr id="588" name="Oval 154"/>
              <p:cNvSpPr>
                <a:spLocks noChangeArrowheads="1"/>
              </p:cNvSpPr>
              <p:nvPr/>
            </p:nvSpPr>
            <p:spPr bwMode="auto">
              <a:xfrm>
                <a:off x="4483" y="186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89" name="Oval 155"/>
              <p:cNvSpPr>
                <a:spLocks noChangeArrowheads="1"/>
              </p:cNvSpPr>
              <p:nvPr/>
            </p:nvSpPr>
            <p:spPr bwMode="auto">
              <a:xfrm>
                <a:off x="4413" y="186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39" name="Group 156"/>
            <p:cNvGrpSpPr>
              <a:grpSpLocks/>
            </p:cNvGrpSpPr>
            <p:nvPr/>
          </p:nvGrpSpPr>
          <p:grpSpPr bwMode="auto">
            <a:xfrm>
              <a:off x="4409" y="2189"/>
              <a:ext cx="100" cy="32"/>
              <a:chOff x="4409" y="2189"/>
              <a:chExt cx="100" cy="32"/>
            </a:xfrm>
          </p:grpSpPr>
          <p:sp>
            <p:nvSpPr>
              <p:cNvPr id="586" name="Oval 157"/>
              <p:cNvSpPr>
                <a:spLocks noChangeArrowheads="1"/>
              </p:cNvSpPr>
              <p:nvPr/>
            </p:nvSpPr>
            <p:spPr bwMode="auto">
              <a:xfrm>
                <a:off x="4477" y="218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87" name="Oval 158"/>
              <p:cNvSpPr>
                <a:spLocks noChangeArrowheads="1"/>
              </p:cNvSpPr>
              <p:nvPr/>
            </p:nvSpPr>
            <p:spPr bwMode="auto">
              <a:xfrm>
                <a:off x="4409" y="218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140" name="Oval 159"/>
            <p:cNvSpPr>
              <a:spLocks noChangeArrowheads="1"/>
            </p:cNvSpPr>
            <p:nvPr/>
          </p:nvSpPr>
          <p:spPr bwMode="auto">
            <a:xfrm>
              <a:off x="4747" y="2133"/>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41" name="Oval 160"/>
            <p:cNvSpPr>
              <a:spLocks noChangeArrowheads="1"/>
            </p:cNvSpPr>
            <p:nvPr/>
          </p:nvSpPr>
          <p:spPr bwMode="auto">
            <a:xfrm>
              <a:off x="4747" y="1805"/>
              <a:ext cx="74"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42" name="Freeform 161"/>
            <p:cNvSpPr>
              <a:spLocks/>
            </p:cNvSpPr>
            <p:nvPr/>
          </p:nvSpPr>
          <p:spPr bwMode="auto">
            <a:xfrm>
              <a:off x="4738" y="1448"/>
              <a:ext cx="74" cy="180"/>
            </a:xfrm>
            <a:custGeom>
              <a:avLst/>
              <a:gdLst>
                <a:gd name="T0" fmla="*/ 72 w 74"/>
                <a:gd name="T1" fmla="*/ 86 h 180"/>
                <a:gd name="T2" fmla="*/ 74 w 74"/>
                <a:gd name="T3" fmla="*/ 104 h 180"/>
                <a:gd name="T4" fmla="*/ 72 w 74"/>
                <a:gd name="T5" fmla="*/ 122 h 180"/>
                <a:gd name="T6" fmla="*/ 70 w 74"/>
                <a:gd name="T7" fmla="*/ 138 h 180"/>
                <a:gd name="T8" fmla="*/ 68 w 74"/>
                <a:gd name="T9" fmla="*/ 152 h 180"/>
                <a:gd name="T10" fmla="*/ 62 w 74"/>
                <a:gd name="T11" fmla="*/ 162 h 180"/>
                <a:gd name="T12" fmla="*/ 58 w 74"/>
                <a:gd name="T13" fmla="*/ 172 h 180"/>
                <a:gd name="T14" fmla="*/ 52 w 74"/>
                <a:gd name="T15" fmla="*/ 178 h 180"/>
                <a:gd name="T16" fmla="*/ 44 w 74"/>
                <a:gd name="T17" fmla="*/ 180 h 180"/>
                <a:gd name="T18" fmla="*/ 36 w 74"/>
                <a:gd name="T19" fmla="*/ 178 h 180"/>
                <a:gd name="T20" fmla="*/ 30 w 74"/>
                <a:gd name="T21" fmla="*/ 174 h 180"/>
                <a:gd name="T22" fmla="*/ 22 w 74"/>
                <a:gd name="T23" fmla="*/ 166 h 180"/>
                <a:gd name="T24" fmla="*/ 16 w 74"/>
                <a:gd name="T25" fmla="*/ 156 h 180"/>
                <a:gd name="T26" fmla="*/ 10 w 74"/>
                <a:gd name="T27" fmla="*/ 142 h 180"/>
                <a:gd name="T28" fmla="*/ 6 w 74"/>
                <a:gd name="T29" fmla="*/ 128 h 180"/>
                <a:gd name="T30" fmla="*/ 2 w 74"/>
                <a:gd name="T31" fmla="*/ 112 h 180"/>
                <a:gd name="T32" fmla="*/ 0 w 74"/>
                <a:gd name="T33" fmla="*/ 94 h 180"/>
                <a:gd name="T34" fmla="*/ 0 w 74"/>
                <a:gd name="T35" fmla="*/ 76 h 180"/>
                <a:gd name="T36" fmla="*/ 0 w 74"/>
                <a:gd name="T37" fmla="*/ 58 h 180"/>
                <a:gd name="T38" fmla="*/ 2 w 74"/>
                <a:gd name="T39" fmla="*/ 42 h 180"/>
                <a:gd name="T40" fmla="*/ 6 w 74"/>
                <a:gd name="T41" fmla="*/ 28 h 180"/>
                <a:gd name="T42" fmla="*/ 10 w 74"/>
                <a:gd name="T43" fmla="*/ 16 h 180"/>
                <a:gd name="T44" fmla="*/ 16 w 74"/>
                <a:gd name="T45" fmla="*/ 8 h 180"/>
                <a:gd name="T46" fmla="*/ 22 w 74"/>
                <a:gd name="T47" fmla="*/ 2 h 180"/>
                <a:gd name="T48" fmla="*/ 30 w 74"/>
                <a:gd name="T49" fmla="*/ 0 h 180"/>
                <a:gd name="T50" fmla="*/ 36 w 74"/>
                <a:gd name="T51" fmla="*/ 0 h 180"/>
                <a:gd name="T52" fmla="*/ 44 w 74"/>
                <a:gd name="T53" fmla="*/ 6 h 180"/>
                <a:gd name="T54" fmla="*/ 50 w 74"/>
                <a:gd name="T55" fmla="*/ 14 h 180"/>
                <a:gd name="T56" fmla="*/ 58 w 74"/>
                <a:gd name="T57" fmla="*/ 24 h 180"/>
                <a:gd name="T58" fmla="*/ 62 w 74"/>
                <a:gd name="T59" fmla="*/ 36 h 180"/>
                <a:gd name="T60" fmla="*/ 68 w 74"/>
                <a:gd name="T61" fmla="*/ 52 h 180"/>
                <a:gd name="T62" fmla="*/ 70 w 74"/>
                <a:gd name="T63" fmla="*/ 68 h 180"/>
                <a:gd name="T64" fmla="*/ 72 w 74"/>
                <a:gd name="T65" fmla="*/ 86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4"/>
                <a:gd name="T100" fmla="*/ 0 h 180"/>
                <a:gd name="T101" fmla="*/ 74 w 74"/>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4" h="180">
                  <a:moveTo>
                    <a:pt x="72" y="86"/>
                  </a:moveTo>
                  <a:lnTo>
                    <a:pt x="74" y="104"/>
                  </a:lnTo>
                  <a:lnTo>
                    <a:pt x="72" y="122"/>
                  </a:lnTo>
                  <a:lnTo>
                    <a:pt x="70" y="138"/>
                  </a:lnTo>
                  <a:lnTo>
                    <a:pt x="68" y="152"/>
                  </a:lnTo>
                  <a:lnTo>
                    <a:pt x="62" y="162"/>
                  </a:lnTo>
                  <a:lnTo>
                    <a:pt x="58" y="172"/>
                  </a:lnTo>
                  <a:lnTo>
                    <a:pt x="52" y="178"/>
                  </a:lnTo>
                  <a:lnTo>
                    <a:pt x="44" y="180"/>
                  </a:lnTo>
                  <a:lnTo>
                    <a:pt x="36" y="178"/>
                  </a:lnTo>
                  <a:lnTo>
                    <a:pt x="30" y="174"/>
                  </a:lnTo>
                  <a:lnTo>
                    <a:pt x="22" y="166"/>
                  </a:lnTo>
                  <a:lnTo>
                    <a:pt x="16" y="156"/>
                  </a:lnTo>
                  <a:lnTo>
                    <a:pt x="10" y="142"/>
                  </a:lnTo>
                  <a:lnTo>
                    <a:pt x="6" y="128"/>
                  </a:lnTo>
                  <a:lnTo>
                    <a:pt x="2" y="112"/>
                  </a:lnTo>
                  <a:lnTo>
                    <a:pt x="0" y="94"/>
                  </a:lnTo>
                  <a:lnTo>
                    <a:pt x="0" y="76"/>
                  </a:lnTo>
                  <a:lnTo>
                    <a:pt x="0" y="58"/>
                  </a:lnTo>
                  <a:lnTo>
                    <a:pt x="2" y="42"/>
                  </a:lnTo>
                  <a:lnTo>
                    <a:pt x="6" y="28"/>
                  </a:lnTo>
                  <a:lnTo>
                    <a:pt x="10" y="16"/>
                  </a:lnTo>
                  <a:lnTo>
                    <a:pt x="16" y="8"/>
                  </a:lnTo>
                  <a:lnTo>
                    <a:pt x="22" y="2"/>
                  </a:lnTo>
                  <a:lnTo>
                    <a:pt x="30" y="0"/>
                  </a:lnTo>
                  <a:lnTo>
                    <a:pt x="36" y="0"/>
                  </a:lnTo>
                  <a:lnTo>
                    <a:pt x="44" y="6"/>
                  </a:lnTo>
                  <a:lnTo>
                    <a:pt x="50" y="14"/>
                  </a:lnTo>
                  <a:lnTo>
                    <a:pt x="58" y="24"/>
                  </a:lnTo>
                  <a:lnTo>
                    <a:pt x="62" y="36"/>
                  </a:lnTo>
                  <a:lnTo>
                    <a:pt x="68" y="52"/>
                  </a:lnTo>
                  <a:lnTo>
                    <a:pt x="70" y="68"/>
                  </a:lnTo>
                  <a:lnTo>
                    <a:pt x="72" y="86"/>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143" name="Group 162"/>
            <p:cNvGrpSpPr>
              <a:grpSpLocks/>
            </p:cNvGrpSpPr>
            <p:nvPr/>
          </p:nvGrpSpPr>
          <p:grpSpPr bwMode="auto">
            <a:xfrm>
              <a:off x="4725" y="1523"/>
              <a:ext cx="102" cy="34"/>
              <a:chOff x="4725" y="1523"/>
              <a:chExt cx="102" cy="34"/>
            </a:xfrm>
          </p:grpSpPr>
          <p:sp>
            <p:nvSpPr>
              <p:cNvPr id="584" name="Oval 163"/>
              <p:cNvSpPr>
                <a:spLocks noChangeArrowheads="1"/>
              </p:cNvSpPr>
              <p:nvPr/>
            </p:nvSpPr>
            <p:spPr bwMode="auto">
              <a:xfrm>
                <a:off x="4795" y="1523"/>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85" name="Oval 164"/>
              <p:cNvSpPr>
                <a:spLocks noChangeArrowheads="1"/>
              </p:cNvSpPr>
              <p:nvPr/>
            </p:nvSpPr>
            <p:spPr bwMode="auto">
              <a:xfrm>
                <a:off x="4725" y="1523"/>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44" name="Group 165"/>
            <p:cNvGrpSpPr>
              <a:grpSpLocks/>
            </p:cNvGrpSpPr>
            <p:nvPr/>
          </p:nvGrpSpPr>
          <p:grpSpPr bwMode="auto">
            <a:xfrm>
              <a:off x="4737" y="1873"/>
              <a:ext cx="102" cy="32"/>
              <a:chOff x="4737" y="1873"/>
              <a:chExt cx="102" cy="32"/>
            </a:xfrm>
          </p:grpSpPr>
          <p:sp>
            <p:nvSpPr>
              <p:cNvPr id="582" name="Oval 166"/>
              <p:cNvSpPr>
                <a:spLocks noChangeArrowheads="1"/>
              </p:cNvSpPr>
              <p:nvPr/>
            </p:nvSpPr>
            <p:spPr bwMode="auto">
              <a:xfrm>
                <a:off x="4807" y="187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83" name="Oval 167"/>
              <p:cNvSpPr>
                <a:spLocks noChangeArrowheads="1"/>
              </p:cNvSpPr>
              <p:nvPr/>
            </p:nvSpPr>
            <p:spPr bwMode="auto">
              <a:xfrm>
                <a:off x="4737" y="187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45" name="Group 168"/>
            <p:cNvGrpSpPr>
              <a:grpSpLocks/>
            </p:cNvGrpSpPr>
            <p:nvPr/>
          </p:nvGrpSpPr>
          <p:grpSpPr bwMode="auto">
            <a:xfrm>
              <a:off x="4733" y="2199"/>
              <a:ext cx="100" cy="32"/>
              <a:chOff x="4733" y="2199"/>
              <a:chExt cx="100" cy="32"/>
            </a:xfrm>
          </p:grpSpPr>
          <p:sp>
            <p:nvSpPr>
              <p:cNvPr id="580" name="Oval 169"/>
              <p:cNvSpPr>
                <a:spLocks noChangeArrowheads="1"/>
              </p:cNvSpPr>
              <p:nvPr/>
            </p:nvSpPr>
            <p:spPr bwMode="auto">
              <a:xfrm>
                <a:off x="4801" y="21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81" name="Oval 170"/>
              <p:cNvSpPr>
                <a:spLocks noChangeArrowheads="1"/>
              </p:cNvSpPr>
              <p:nvPr/>
            </p:nvSpPr>
            <p:spPr bwMode="auto">
              <a:xfrm>
                <a:off x="4733" y="21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146" name="Oval 171"/>
            <p:cNvSpPr>
              <a:spLocks noChangeArrowheads="1"/>
            </p:cNvSpPr>
            <p:nvPr/>
          </p:nvSpPr>
          <p:spPr bwMode="auto">
            <a:xfrm>
              <a:off x="4677" y="1273"/>
              <a:ext cx="174" cy="172"/>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47" name="Oval 172"/>
            <p:cNvSpPr>
              <a:spLocks noChangeArrowheads="1"/>
            </p:cNvSpPr>
            <p:nvPr/>
          </p:nvSpPr>
          <p:spPr bwMode="auto">
            <a:xfrm>
              <a:off x="4405" y="127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48" name="Oval 173"/>
            <p:cNvSpPr>
              <a:spLocks noChangeArrowheads="1"/>
            </p:cNvSpPr>
            <p:nvPr/>
          </p:nvSpPr>
          <p:spPr bwMode="auto">
            <a:xfrm>
              <a:off x="4373" y="1625"/>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49" name="Oval 174"/>
            <p:cNvSpPr>
              <a:spLocks noChangeArrowheads="1"/>
            </p:cNvSpPr>
            <p:nvPr/>
          </p:nvSpPr>
          <p:spPr bwMode="auto">
            <a:xfrm>
              <a:off x="4373" y="1949"/>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50" name="Oval 175"/>
            <p:cNvSpPr>
              <a:spLocks noChangeArrowheads="1"/>
            </p:cNvSpPr>
            <p:nvPr/>
          </p:nvSpPr>
          <p:spPr bwMode="auto">
            <a:xfrm>
              <a:off x="4697" y="163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51" name="Oval 176"/>
            <p:cNvSpPr>
              <a:spLocks noChangeArrowheads="1"/>
            </p:cNvSpPr>
            <p:nvPr/>
          </p:nvSpPr>
          <p:spPr bwMode="auto">
            <a:xfrm>
              <a:off x="4697" y="1957"/>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52" name="Line 177"/>
            <p:cNvSpPr>
              <a:spLocks noChangeShapeType="1"/>
            </p:cNvSpPr>
            <p:nvPr/>
          </p:nvSpPr>
          <p:spPr bwMode="auto">
            <a:xfrm>
              <a:off x="1432" y="1206"/>
              <a:ext cx="3554"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 name="Rectangle 178"/>
            <p:cNvSpPr>
              <a:spLocks noChangeArrowheads="1"/>
            </p:cNvSpPr>
            <p:nvPr/>
          </p:nvSpPr>
          <p:spPr bwMode="auto">
            <a:xfrm>
              <a:off x="830" y="1676"/>
              <a:ext cx="6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B</a:t>
              </a:r>
              <a:endParaRPr lang="en-US" altLang="zh-CN">
                <a:ea typeface="宋体" panose="02010600030101010101" pitchFamily="2" charset="-122"/>
              </a:endParaRPr>
            </a:p>
          </p:txBody>
        </p:sp>
        <p:sp>
          <p:nvSpPr>
            <p:cNvPr id="154" name="Rectangle 179"/>
            <p:cNvSpPr>
              <a:spLocks noChangeArrowheads="1"/>
            </p:cNvSpPr>
            <p:nvPr/>
          </p:nvSpPr>
          <p:spPr bwMode="auto">
            <a:xfrm>
              <a:off x="906" y="1676"/>
              <a:ext cx="5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u</a:t>
              </a:r>
              <a:endParaRPr lang="en-US" altLang="zh-CN">
                <a:ea typeface="宋体" panose="02010600030101010101" pitchFamily="2" charset="-122"/>
              </a:endParaRPr>
            </a:p>
          </p:txBody>
        </p:sp>
        <p:sp>
          <p:nvSpPr>
            <p:cNvPr id="155" name="Rectangle 180"/>
            <p:cNvSpPr>
              <a:spLocks noChangeArrowheads="1"/>
            </p:cNvSpPr>
            <p:nvPr/>
          </p:nvSpPr>
          <p:spPr bwMode="auto">
            <a:xfrm>
              <a:off x="962" y="1676"/>
              <a:ext cx="2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l</a:t>
              </a:r>
              <a:endParaRPr lang="en-US" altLang="zh-CN">
                <a:ea typeface="宋体" panose="02010600030101010101" pitchFamily="2" charset="-122"/>
              </a:endParaRPr>
            </a:p>
          </p:txBody>
        </p:sp>
        <p:sp>
          <p:nvSpPr>
            <p:cNvPr id="156" name="Rectangle 181"/>
            <p:cNvSpPr>
              <a:spLocks noChangeArrowheads="1"/>
            </p:cNvSpPr>
            <p:nvPr/>
          </p:nvSpPr>
          <p:spPr bwMode="auto">
            <a:xfrm>
              <a:off x="992" y="167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k</a:t>
              </a:r>
              <a:endParaRPr lang="en-US" altLang="zh-CN">
                <a:ea typeface="宋体" panose="02010600030101010101" pitchFamily="2" charset="-122"/>
              </a:endParaRPr>
            </a:p>
          </p:txBody>
        </p:sp>
        <p:sp>
          <p:nvSpPr>
            <p:cNvPr id="157" name="Rectangle 182"/>
            <p:cNvSpPr>
              <a:spLocks noChangeArrowheads="1"/>
            </p:cNvSpPr>
            <p:nvPr/>
          </p:nvSpPr>
          <p:spPr bwMode="auto">
            <a:xfrm>
              <a:off x="1048" y="1676"/>
              <a:ext cx="26"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400">
                  <a:solidFill>
                    <a:srgbClr val="000000"/>
                  </a:solidFill>
                  <a:latin typeface="Times" panose="02020603050405020304" pitchFamily="18" charset="0"/>
                  <a:ea typeface="宋体" panose="02010600030101010101" pitchFamily="2" charset="-122"/>
                </a:rPr>
                <a:t> </a:t>
              </a:r>
              <a:endParaRPr lang="zh-CN" altLang="en-US">
                <a:ea typeface="宋体" panose="02010600030101010101" pitchFamily="2" charset="-122"/>
              </a:endParaRPr>
            </a:p>
          </p:txBody>
        </p:sp>
        <p:sp>
          <p:nvSpPr>
            <p:cNvPr id="158" name="Rectangle 183"/>
            <p:cNvSpPr>
              <a:spLocks noChangeArrowheads="1"/>
            </p:cNvSpPr>
            <p:nvPr/>
          </p:nvSpPr>
          <p:spPr bwMode="auto">
            <a:xfrm>
              <a:off x="1076" y="167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c</a:t>
              </a:r>
              <a:endParaRPr lang="en-US" altLang="zh-CN">
                <a:ea typeface="宋体" panose="02010600030101010101" pitchFamily="2" charset="-122"/>
              </a:endParaRPr>
            </a:p>
          </p:txBody>
        </p:sp>
        <p:sp>
          <p:nvSpPr>
            <p:cNvPr id="159" name="Rectangle 184"/>
            <p:cNvSpPr>
              <a:spLocks noChangeArrowheads="1"/>
            </p:cNvSpPr>
            <p:nvPr/>
          </p:nvSpPr>
          <p:spPr bwMode="auto">
            <a:xfrm>
              <a:off x="1126" y="1676"/>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r</a:t>
              </a:r>
              <a:endParaRPr lang="en-US" altLang="zh-CN">
                <a:ea typeface="宋体" panose="02010600030101010101" pitchFamily="2" charset="-122"/>
              </a:endParaRPr>
            </a:p>
          </p:txBody>
        </p:sp>
        <p:sp>
          <p:nvSpPr>
            <p:cNvPr id="160" name="Rectangle 185"/>
            <p:cNvSpPr>
              <a:spLocks noChangeArrowheads="1"/>
            </p:cNvSpPr>
            <p:nvPr/>
          </p:nvSpPr>
          <p:spPr bwMode="auto">
            <a:xfrm>
              <a:off x="1162" y="1676"/>
              <a:ext cx="5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y</a:t>
              </a:r>
              <a:endParaRPr lang="en-US" altLang="zh-CN">
                <a:ea typeface="宋体" panose="02010600030101010101" pitchFamily="2" charset="-122"/>
              </a:endParaRPr>
            </a:p>
          </p:txBody>
        </p:sp>
        <p:sp>
          <p:nvSpPr>
            <p:cNvPr id="161" name="Rectangle 186"/>
            <p:cNvSpPr>
              <a:spLocks noChangeArrowheads="1"/>
            </p:cNvSpPr>
            <p:nvPr/>
          </p:nvSpPr>
          <p:spPr bwMode="auto">
            <a:xfrm>
              <a:off x="1218" y="1676"/>
              <a:ext cx="4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s</a:t>
              </a:r>
              <a:endParaRPr lang="en-US" altLang="zh-CN">
                <a:ea typeface="宋体" panose="02010600030101010101" pitchFamily="2" charset="-122"/>
              </a:endParaRPr>
            </a:p>
          </p:txBody>
        </p:sp>
        <p:sp>
          <p:nvSpPr>
            <p:cNvPr id="162" name="Rectangle 187"/>
            <p:cNvSpPr>
              <a:spLocks noChangeArrowheads="1"/>
            </p:cNvSpPr>
            <p:nvPr/>
          </p:nvSpPr>
          <p:spPr bwMode="auto">
            <a:xfrm>
              <a:off x="1262" y="1676"/>
              <a:ext cx="28"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t</a:t>
              </a:r>
              <a:endParaRPr lang="en-US" altLang="zh-CN">
                <a:ea typeface="宋体" panose="02010600030101010101" pitchFamily="2" charset="-122"/>
              </a:endParaRPr>
            </a:p>
          </p:txBody>
        </p:sp>
        <p:sp>
          <p:nvSpPr>
            <p:cNvPr id="163" name="Rectangle 188"/>
            <p:cNvSpPr>
              <a:spLocks noChangeArrowheads="1"/>
            </p:cNvSpPr>
            <p:nvPr/>
          </p:nvSpPr>
          <p:spPr bwMode="auto">
            <a:xfrm>
              <a:off x="1292" y="167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a</a:t>
              </a:r>
              <a:endParaRPr lang="en-US" altLang="zh-CN">
                <a:ea typeface="宋体" panose="02010600030101010101" pitchFamily="2" charset="-122"/>
              </a:endParaRPr>
            </a:p>
          </p:txBody>
        </p:sp>
        <p:sp>
          <p:nvSpPr>
            <p:cNvPr id="164" name="Rectangle 189"/>
            <p:cNvSpPr>
              <a:spLocks noChangeArrowheads="1"/>
            </p:cNvSpPr>
            <p:nvPr/>
          </p:nvSpPr>
          <p:spPr bwMode="auto">
            <a:xfrm>
              <a:off x="1342" y="1676"/>
              <a:ext cx="2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l</a:t>
              </a:r>
              <a:endParaRPr lang="en-US" altLang="zh-CN">
                <a:ea typeface="宋体" panose="02010600030101010101" pitchFamily="2" charset="-122"/>
              </a:endParaRPr>
            </a:p>
          </p:txBody>
        </p:sp>
        <p:sp>
          <p:nvSpPr>
            <p:cNvPr id="165" name="Rectangle 190"/>
            <p:cNvSpPr>
              <a:spLocks noChangeArrowheads="1"/>
            </p:cNvSpPr>
            <p:nvPr/>
          </p:nvSpPr>
          <p:spPr bwMode="auto">
            <a:xfrm>
              <a:off x="1044" y="1106"/>
              <a:ext cx="58"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S</a:t>
              </a:r>
              <a:endParaRPr lang="en-US" altLang="zh-CN">
                <a:ea typeface="宋体" panose="02010600030101010101" pitchFamily="2" charset="-122"/>
              </a:endParaRPr>
            </a:p>
          </p:txBody>
        </p:sp>
        <p:sp>
          <p:nvSpPr>
            <p:cNvPr id="166" name="Rectangle 191"/>
            <p:cNvSpPr>
              <a:spLocks noChangeArrowheads="1"/>
            </p:cNvSpPr>
            <p:nvPr/>
          </p:nvSpPr>
          <p:spPr bwMode="auto">
            <a:xfrm>
              <a:off x="1106" y="1106"/>
              <a:ext cx="5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u</a:t>
              </a:r>
              <a:endParaRPr lang="en-US" altLang="zh-CN">
                <a:ea typeface="宋体" panose="02010600030101010101" pitchFamily="2" charset="-122"/>
              </a:endParaRPr>
            </a:p>
          </p:txBody>
        </p:sp>
        <p:sp>
          <p:nvSpPr>
            <p:cNvPr id="167" name="Rectangle 192"/>
            <p:cNvSpPr>
              <a:spLocks noChangeArrowheads="1"/>
            </p:cNvSpPr>
            <p:nvPr/>
          </p:nvSpPr>
          <p:spPr bwMode="auto">
            <a:xfrm>
              <a:off x="1162" y="1106"/>
              <a:ext cx="34"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r</a:t>
              </a:r>
              <a:endParaRPr lang="en-US" altLang="zh-CN">
                <a:ea typeface="宋体" panose="02010600030101010101" pitchFamily="2" charset="-122"/>
              </a:endParaRPr>
            </a:p>
          </p:txBody>
        </p:sp>
        <p:sp>
          <p:nvSpPr>
            <p:cNvPr id="168" name="Rectangle 193"/>
            <p:cNvSpPr>
              <a:spLocks noChangeArrowheads="1"/>
            </p:cNvSpPr>
            <p:nvPr/>
          </p:nvSpPr>
          <p:spPr bwMode="auto">
            <a:xfrm>
              <a:off x="1198" y="1106"/>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f</a:t>
              </a:r>
              <a:endParaRPr lang="en-US" altLang="zh-CN">
                <a:ea typeface="宋体" panose="02010600030101010101" pitchFamily="2" charset="-122"/>
              </a:endParaRPr>
            </a:p>
          </p:txBody>
        </p:sp>
        <p:sp>
          <p:nvSpPr>
            <p:cNvPr id="169" name="Rectangle 194"/>
            <p:cNvSpPr>
              <a:spLocks noChangeArrowheads="1"/>
            </p:cNvSpPr>
            <p:nvPr/>
          </p:nvSpPr>
          <p:spPr bwMode="auto">
            <a:xfrm>
              <a:off x="1234" y="110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a</a:t>
              </a:r>
              <a:endParaRPr lang="en-US" altLang="zh-CN">
                <a:ea typeface="宋体" panose="02010600030101010101" pitchFamily="2" charset="-122"/>
              </a:endParaRPr>
            </a:p>
          </p:txBody>
        </p:sp>
        <p:sp>
          <p:nvSpPr>
            <p:cNvPr id="170" name="Rectangle 195"/>
            <p:cNvSpPr>
              <a:spLocks noChangeArrowheads="1"/>
            </p:cNvSpPr>
            <p:nvPr/>
          </p:nvSpPr>
          <p:spPr bwMode="auto">
            <a:xfrm>
              <a:off x="1284" y="110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c</a:t>
              </a:r>
              <a:endParaRPr lang="en-US" altLang="zh-CN">
                <a:ea typeface="宋体" panose="02010600030101010101" pitchFamily="2" charset="-122"/>
              </a:endParaRPr>
            </a:p>
          </p:txBody>
        </p:sp>
        <p:sp>
          <p:nvSpPr>
            <p:cNvPr id="171" name="Rectangle 196"/>
            <p:cNvSpPr>
              <a:spLocks noChangeArrowheads="1"/>
            </p:cNvSpPr>
            <p:nvPr/>
          </p:nvSpPr>
          <p:spPr bwMode="auto">
            <a:xfrm>
              <a:off x="1334" y="110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e</a:t>
              </a:r>
              <a:endParaRPr lang="en-US" altLang="zh-CN">
                <a:ea typeface="宋体" panose="02010600030101010101" pitchFamily="2" charset="-122"/>
              </a:endParaRPr>
            </a:p>
          </p:txBody>
        </p:sp>
        <p:sp>
          <p:nvSpPr>
            <p:cNvPr id="172" name="Rectangle 197"/>
            <p:cNvSpPr>
              <a:spLocks noChangeArrowheads="1"/>
            </p:cNvSpPr>
            <p:nvPr/>
          </p:nvSpPr>
          <p:spPr bwMode="auto">
            <a:xfrm>
              <a:off x="734" y="1282"/>
              <a:ext cx="58"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S</a:t>
              </a:r>
              <a:endParaRPr lang="en-US" altLang="zh-CN">
                <a:ea typeface="宋体" panose="02010600030101010101" pitchFamily="2" charset="-122"/>
              </a:endParaRPr>
            </a:p>
          </p:txBody>
        </p:sp>
        <p:sp>
          <p:nvSpPr>
            <p:cNvPr id="173" name="Rectangle 198"/>
            <p:cNvSpPr>
              <a:spLocks noChangeArrowheads="1"/>
            </p:cNvSpPr>
            <p:nvPr/>
          </p:nvSpPr>
          <p:spPr bwMode="auto">
            <a:xfrm>
              <a:off x="796" y="1282"/>
              <a:ext cx="5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u</a:t>
              </a:r>
              <a:endParaRPr lang="en-US" altLang="zh-CN">
                <a:ea typeface="宋体" panose="02010600030101010101" pitchFamily="2" charset="-122"/>
              </a:endParaRPr>
            </a:p>
          </p:txBody>
        </p:sp>
        <p:sp>
          <p:nvSpPr>
            <p:cNvPr id="174" name="Rectangle 199"/>
            <p:cNvSpPr>
              <a:spLocks noChangeArrowheads="1"/>
            </p:cNvSpPr>
            <p:nvPr/>
          </p:nvSpPr>
          <p:spPr bwMode="auto">
            <a:xfrm>
              <a:off x="852" y="1282"/>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r</a:t>
              </a:r>
              <a:endParaRPr lang="en-US" altLang="zh-CN">
                <a:ea typeface="宋体" panose="02010600030101010101" pitchFamily="2" charset="-122"/>
              </a:endParaRPr>
            </a:p>
          </p:txBody>
        </p:sp>
        <p:sp>
          <p:nvSpPr>
            <p:cNvPr id="175" name="Rectangle 200"/>
            <p:cNvSpPr>
              <a:spLocks noChangeArrowheads="1"/>
            </p:cNvSpPr>
            <p:nvPr/>
          </p:nvSpPr>
          <p:spPr bwMode="auto">
            <a:xfrm>
              <a:off x="888" y="1282"/>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f</a:t>
              </a:r>
              <a:endParaRPr lang="en-US" altLang="zh-CN">
                <a:ea typeface="宋体" panose="02010600030101010101" pitchFamily="2" charset="-122"/>
              </a:endParaRPr>
            </a:p>
          </p:txBody>
        </p:sp>
        <p:sp>
          <p:nvSpPr>
            <p:cNvPr id="176" name="Rectangle 201"/>
            <p:cNvSpPr>
              <a:spLocks noChangeArrowheads="1"/>
            </p:cNvSpPr>
            <p:nvPr/>
          </p:nvSpPr>
          <p:spPr bwMode="auto">
            <a:xfrm>
              <a:off x="924" y="1282"/>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a</a:t>
              </a:r>
              <a:endParaRPr lang="en-US" altLang="zh-CN">
                <a:ea typeface="宋体" panose="02010600030101010101" pitchFamily="2" charset="-122"/>
              </a:endParaRPr>
            </a:p>
          </p:txBody>
        </p:sp>
        <p:sp>
          <p:nvSpPr>
            <p:cNvPr id="177" name="Rectangle 202"/>
            <p:cNvSpPr>
              <a:spLocks noChangeArrowheads="1"/>
            </p:cNvSpPr>
            <p:nvPr/>
          </p:nvSpPr>
          <p:spPr bwMode="auto">
            <a:xfrm>
              <a:off x="974" y="1282"/>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c</a:t>
              </a:r>
              <a:endParaRPr lang="en-US" altLang="zh-CN">
                <a:ea typeface="宋体" panose="02010600030101010101" pitchFamily="2" charset="-122"/>
              </a:endParaRPr>
            </a:p>
          </p:txBody>
        </p:sp>
        <p:sp>
          <p:nvSpPr>
            <p:cNvPr id="178" name="Rectangle 203"/>
            <p:cNvSpPr>
              <a:spLocks noChangeArrowheads="1"/>
            </p:cNvSpPr>
            <p:nvPr/>
          </p:nvSpPr>
          <p:spPr bwMode="auto">
            <a:xfrm>
              <a:off x="1024" y="1282"/>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e</a:t>
              </a:r>
              <a:endParaRPr lang="en-US" altLang="zh-CN">
                <a:ea typeface="宋体" panose="02010600030101010101" pitchFamily="2" charset="-122"/>
              </a:endParaRPr>
            </a:p>
          </p:txBody>
        </p:sp>
        <p:sp>
          <p:nvSpPr>
            <p:cNvPr id="179" name="Rectangle 204"/>
            <p:cNvSpPr>
              <a:spLocks noChangeArrowheads="1"/>
            </p:cNvSpPr>
            <p:nvPr/>
          </p:nvSpPr>
          <p:spPr bwMode="auto">
            <a:xfrm>
              <a:off x="1074" y="1282"/>
              <a:ext cx="26"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400">
                  <a:solidFill>
                    <a:srgbClr val="000000"/>
                  </a:solidFill>
                  <a:latin typeface="Times" panose="02020603050405020304" pitchFamily="18" charset="0"/>
                  <a:ea typeface="宋体" panose="02010600030101010101" pitchFamily="2" charset="-122"/>
                </a:rPr>
                <a:t> </a:t>
              </a:r>
              <a:endParaRPr lang="zh-CN" altLang="en-US">
                <a:ea typeface="宋体" panose="02010600030101010101" pitchFamily="2" charset="-122"/>
              </a:endParaRPr>
            </a:p>
          </p:txBody>
        </p:sp>
        <p:sp>
          <p:nvSpPr>
            <p:cNvPr id="180" name="Rectangle 205"/>
            <p:cNvSpPr>
              <a:spLocks noChangeArrowheads="1"/>
            </p:cNvSpPr>
            <p:nvPr/>
          </p:nvSpPr>
          <p:spPr bwMode="auto">
            <a:xfrm>
              <a:off x="1102" y="1282"/>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a</a:t>
              </a:r>
              <a:endParaRPr lang="en-US" altLang="zh-CN">
                <a:ea typeface="宋体" panose="02010600030101010101" pitchFamily="2" charset="-122"/>
              </a:endParaRPr>
            </a:p>
          </p:txBody>
        </p:sp>
        <p:sp>
          <p:nvSpPr>
            <p:cNvPr id="181" name="Rectangle 206"/>
            <p:cNvSpPr>
              <a:spLocks noChangeArrowheads="1"/>
            </p:cNvSpPr>
            <p:nvPr/>
          </p:nvSpPr>
          <p:spPr bwMode="auto">
            <a:xfrm>
              <a:off x="1152" y="1282"/>
              <a:ext cx="2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t</a:t>
              </a:r>
              <a:endParaRPr lang="en-US" altLang="zh-CN">
                <a:ea typeface="宋体" panose="02010600030101010101" pitchFamily="2" charset="-122"/>
              </a:endParaRPr>
            </a:p>
          </p:txBody>
        </p:sp>
        <p:sp>
          <p:nvSpPr>
            <p:cNvPr id="182" name="Rectangle 207"/>
            <p:cNvSpPr>
              <a:spLocks noChangeArrowheads="1"/>
            </p:cNvSpPr>
            <p:nvPr/>
          </p:nvSpPr>
          <p:spPr bwMode="auto">
            <a:xfrm>
              <a:off x="1182" y="1282"/>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sp>
          <p:nvSpPr>
            <p:cNvPr id="183" name="Rectangle 208"/>
            <p:cNvSpPr>
              <a:spLocks noChangeArrowheads="1"/>
            </p:cNvSpPr>
            <p:nvPr/>
          </p:nvSpPr>
          <p:spPr bwMode="auto">
            <a:xfrm>
              <a:off x="1238" y="1282"/>
              <a:ext cx="80"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m</a:t>
              </a:r>
              <a:endParaRPr lang="en-US" altLang="zh-CN">
                <a:ea typeface="宋体" panose="02010600030101010101" pitchFamily="2" charset="-122"/>
              </a:endParaRPr>
            </a:p>
          </p:txBody>
        </p:sp>
        <p:sp>
          <p:nvSpPr>
            <p:cNvPr id="184" name="Rectangle 209"/>
            <p:cNvSpPr>
              <a:spLocks noChangeArrowheads="1"/>
            </p:cNvSpPr>
            <p:nvPr/>
          </p:nvSpPr>
          <p:spPr bwMode="auto">
            <a:xfrm>
              <a:off x="1326" y="1282"/>
              <a:ext cx="4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s</a:t>
              </a:r>
              <a:endParaRPr lang="en-US" altLang="zh-CN">
                <a:ea typeface="宋体" panose="02010600030101010101" pitchFamily="2" charset="-122"/>
              </a:endParaRPr>
            </a:p>
          </p:txBody>
        </p:sp>
        <p:sp>
          <p:nvSpPr>
            <p:cNvPr id="185" name="Oval 210"/>
            <p:cNvSpPr>
              <a:spLocks noChangeArrowheads="1"/>
            </p:cNvSpPr>
            <p:nvPr/>
          </p:nvSpPr>
          <p:spPr bwMode="auto">
            <a:xfrm>
              <a:off x="2891" y="1337"/>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86" name="Oval 211"/>
            <p:cNvSpPr>
              <a:spLocks noChangeArrowheads="1"/>
            </p:cNvSpPr>
            <p:nvPr/>
          </p:nvSpPr>
          <p:spPr bwMode="auto">
            <a:xfrm>
              <a:off x="2895" y="1665"/>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187" name="Oval 212"/>
            <p:cNvSpPr>
              <a:spLocks noChangeArrowheads="1"/>
            </p:cNvSpPr>
            <p:nvPr/>
          </p:nvSpPr>
          <p:spPr bwMode="auto">
            <a:xfrm>
              <a:off x="2895" y="1995"/>
              <a:ext cx="170" cy="7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188" name="Group 213"/>
            <p:cNvGrpSpPr>
              <a:grpSpLocks/>
            </p:cNvGrpSpPr>
            <p:nvPr/>
          </p:nvGrpSpPr>
          <p:grpSpPr bwMode="auto">
            <a:xfrm>
              <a:off x="2969" y="1325"/>
              <a:ext cx="32" cy="100"/>
              <a:chOff x="2969" y="1325"/>
              <a:chExt cx="32" cy="100"/>
            </a:xfrm>
          </p:grpSpPr>
          <p:sp>
            <p:nvSpPr>
              <p:cNvPr id="578" name="Oval 214"/>
              <p:cNvSpPr>
                <a:spLocks noChangeArrowheads="1"/>
              </p:cNvSpPr>
              <p:nvPr/>
            </p:nvSpPr>
            <p:spPr bwMode="auto">
              <a:xfrm>
                <a:off x="2969" y="132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79" name="Oval 215"/>
              <p:cNvSpPr>
                <a:spLocks noChangeArrowheads="1"/>
              </p:cNvSpPr>
              <p:nvPr/>
            </p:nvSpPr>
            <p:spPr bwMode="auto">
              <a:xfrm>
                <a:off x="2969" y="139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89" name="Group 216"/>
            <p:cNvGrpSpPr>
              <a:grpSpLocks/>
            </p:cNvGrpSpPr>
            <p:nvPr/>
          </p:nvGrpSpPr>
          <p:grpSpPr bwMode="auto">
            <a:xfrm>
              <a:off x="2969" y="1651"/>
              <a:ext cx="32" cy="100"/>
              <a:chOff x="2969" y="1651"/>
              <a:chExt cx="32" cy="100"/>
            </a:xfrm>
          </p:grpSpPr>
          <p:sp>
            <p:nvSpPr>
              <p:cNvPr id="576" name="Oval 217"/>
              <p:cNvSpPr>
                <a:spLocks noChangeArrowheads="1"/>
              </p:cNvSpPr>
              <p:nvPr/>
            </p:nvSpPr>
            <p:spPr bwMode="auto">
              <a:xfrm>
                <a:off x="2969" y="165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77" name="Oval 218"/>
              <p:cNvSpPr>
                <a:spLocks noChangeArrowheads="1"/>
              </p:cNvSpPr>
              <p:nvPr/>
            </p:nvSpPr>
            <p:spPr bwMode="auto">
              <a:xfrm>
                <a:off x="2969" y="171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190" name="Group 219"/>
            <p:cNvGrpSpPr>
              <a:grpSpLocks/>
            </p:cNvGrpSpPr>
            <p:nvPr/>
          </p:nvGrpSpPr>
          <p:grpSpPr bwMode="auto">
            <a:xfrm>
              <a:off x="2969" y="1979"/>
              <a:ext cx="32" cy="100"/>
              <a:chOff x="2969" y="1979"/>
              <a:chExt cx="32" cy="100"/>
            </a:xfrm>
          </p:grpSpPr>
          <p:sp>
            <p:nvSpPr>
              <p:cNvPr id="574" name="Oval 220"/>
              <p:cNvSpPr>
                <a:spLocks noChangeArrowheads="1"/>
              </p:cNvSpPr>
              <p:nvPr/>
            </p:nvSpPr>
            <p:spPr bwMode="auto">
              <a:xfrm>
                <a:off x="2969" y="197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75" name="Oval 221"/>
              <p:cNvSpPr>
                <a:spLocks noChangeArrowheads="1"/>
              </p:cNvSpPr>
              <p:nvPr/>
            </p:nvSpPr>
            <p:spPr bwMode="auto">
              <a:xfrm>
                <a:off x="2969" y="204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191" name="Rectangle 222"/>
            <p:cNvSpPr>
              <a:spLocks noChangeArrowheads="1"/>
            </p:cNvSpPr>
            <p:nvPr/>
          </p:nvSpPr>
          <p:spPr bwMode="auto">
            <a:xfrm>
              <a:off x="2296" y="676"/>
              <a:ext cx="70"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R</a:t>
              </a:r>
              <a:endParaRPr lang="en-US" altLang="zh-CN">
                <a:ea typeface="宋体" panose="02010600030101010101" pitchFamily="2" charset="-122"/>
              </a:endParaRPr>
            </a:p>
          </p:txBody>
        </p:sp>
        <p:sp>
          <p:nvSpPr>
            <p:cNvPr id="192" name="Rectangle 223"/>
            <p:cNvSpPr>
              <a:spLocks noChangeArrowheads="1"/>
            </p:cNvSpPr>
            <p:nvPr/>
          </p:nvSpPr>
          <p:spPr bwMode="auto">
            <a:xfrm>
              <a:off x="2372" y="67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e</a:t>
              </a:r>
              <a:endParaRPr lang="en-US" altLang="zh-CN">
                <a:ea typeface="宋体" panose="02010600030101010101" pitchFamily="2" charset="-122"/>
              </a:endParaRPr>
            </a:p>
          </p:txBody>
        </p:sp>
        <p:sp>
          <p:nvSpPr>
            <p:cNvPr id="193" name="Rectangle 224"/>
            <p:cNvSpPr>
              <a:spLocks noChangeArrowheads="1"/>
            </p:cNvSpPr>
            <p:nvPr/>
          </p:nvSpPr>
          <p:spPr bwMode="auto">
            <a:xfrm>
              <a:off x="2422" y="67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c</a:t>
              </a:r>
              <a:endParaRPr lang="en-US" altLang="zh-CN">
                <a:ea typeface="宋体" panose="02010600030101010101" pitchFamily="2" charset="-122"/>
              </a:endParaRPr>
            </a:p>
          </p:txBody>
        </p:sp>
        <p:sp>
          <p:nvSpPr>
            <p:cNvPr id="194" name="Rectangle 225"/>
            <p:cNvSpPr>
              <a:spLocks noChangeArrowheads="1"/>
            </p:cNvSpPr>
            <p:nvPr/>
          </p:nvSpPr>
          <p:spPr bwMode="auto">
            <a:xfrm>
              <a:off x="2472" y="676"/>
              <a:ext cx="5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sp>
          <p:nvSpPr>
            <p:cNvPr id="195" name="Rectangle 226"/>
            <p:cNvSpPr>
              <a:spLocks noChangeArrowheads="1"/>
            </p:cNvSpPr>
            <p:nvPr/>
          </p:nvSpPr>
          <p:spPr bwMode="auto">
            <a:xfrm>
              <a:off x="2528" y="67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n</a:t>
              </a:r>
              <a:endParaRPr lang="en-US" altLang="zh-CN">
                <a:ea typeface="宋体" panose="02010600030101010101" pitchFamily="2" charset="-122"/>
              </a:endParaRPr>
            </a:p>
          </p:txBody>
        </p:sp>
        <p:sp>
          <p:nvSpPr>
            <p:cNvPr id="196" name="Rectangle 227"/>
            <p:cNvSpPr>
              <a:spLocks noChangeArrowheads="1"/>
            </p:cNvSpPr>
            <p:nvPr/>
          </p:nvSpPr>
          <p:spPr bwMode="auto">
            <a:xfrm>
              <a:off x="2584" y="676"/>
              <a:ext cx="4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s</a:t>
              </a:r>
              <a:endParaRPr lang="en-US" altLang="zh-CN">
                <a:ea typeface="宋体" panose="02010600030101010101" pitchFamily="2" charset="-122"/>
              </a:endParaRPr>
            </a:p>
          </p:txBody>
        </p:sp>
        <p:sp>
          <p:nvSpPr>
            <p:cNvPr id="197" name="Rectangle 228"/>
            <p:cNvSpPr>
              <a:spLocks noChangeArrowheads="1"/>
            </p:cNvSpPr>
            <p:nvPr/>
          </p:nvSpPr>
          <p:spPr bwMode="auto">
            <a:xfrm>
              <a:off x="2628" y="676"/>
              <a:ext cx="2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t</a:t>
              </a:r>
              <a:endParaRPr lang="en-US" altLang="zh-CN">
                <a:ea typeface="宋体" panose="02010600030101010101" pitchFamily="2" charset="-122"/>
              </a:endParaRPr>
            </a:p>
          </p:txBody>
        </p:sp>
        <p:sp>
          <p:nvSpPr>
            <p:cNvPr id="198" name="Rectangle 229"/>
            <p:cNvSpPr>
              <a:spLocks noChangeArrowheads="1"/>
            </p:cNvSpPr>
            <p:nvPr/>
          </p:nvSpPr>
          <p:spPr bwMode="auto">
            <a:xfrm>
              <a:off x="2658" y="676"/>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r</a:t>
              </a:r>
              <a:endParaRPr lang="en-US" altLang="zh-CN">
                <a:ea typeface="宋体" panose="02010600030101010101" pitchFamily="2" charset="-122"/>
              </a:endParaRPr>
            </a:p>
          </p:txBody>
        </p:sp>
        <p:sp>
          <p:nvSpPr>
            <p:cNvPr id="199" name="Rectangle 230"/>
            <p:cNvSpPr>
              <a:spLocks noChangeArrowheads="1"/>
            </p:cNvSpPr>
            <p:nvPr/>
          </p:nvSpPr>
          <p:spPr bwMode="auto">
            <a:xfrm>
              <a:off x="2694" y="67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u</a:t>
              </a:r>
              <a:endParaRPr lang="en-US" altLang="zh-CN">
                <a:ea typeface="宋体" panose="02010600030101010101" pitchFamily="2" charset="-122"/>
              </a:endParaRPr>
            </a:p>
          </p:txBody>
        </p:sp>
        <p:sp>
          <p:nvSpPr>
            <p:cNvPr id="200" name="Rectangle 231"/>
            <p:cNvSpPr>
              <a:spLocks noChangeArrowheads="1"/>
            </p:cNvSpPr>
            <p:nvPr/>
          </p:nvSpPr>
          <p:spPr bwMode="auto">
            <a:xfrm>
              <a:off x="2750" y="67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c</a:t>
              </a:r>
              <a:endParaRPr lang="en-US" altLang="zh-CN">
                <a:ea typeface="宋体" panose="02010600030101010101" pitchFamily="2" charset="-122"/>
              </a:endParaRPr>
            </a:p>
          </p:txBody>
        </p:sp>
        <p:sp>
          <p:nvSpPr>
            <p:cNvPr id="201" name="Rectangle 232"/>
            <p:cNvSpPr>
              <a:spLocks noChangeArrowheads="1"/>
            </p:cNvSpPr>
            <p:nvPr/>
          </p:nvSpPr>
          <p:spPr bwMode="auto">
            <a:xfrm>
              <a:off x="2800" y="676"/>
              <a:ext cx="2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t</a:t>
              </a:r>
              <a:endParaRPr lang="en-US" altLang="zh-CN">
                <a:ea typeface="宋体" panose="02010600030101010101" pitchFamily="2" charset="-122"/>
              </a:endParaRPr>
            </a:p>
          </p:txBody>
        </p:sp>
        <p:sp>
          <p:nvSpPr>
            <p:cNvPr id="202" name="Rectangle 233"/>
            <p:cNvSpPr>
              <a:spLocks noChangeArrowheads="1"/>
            </p:cNvSpPr>
            <p:nvPr/>
          </p:nvSpPr>
          <p:spPr bwMode="auto">
            <a:xfrm>
              <a:off x="2830" y="67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e</a:t>
              </a:r>
              <a:endParaRPr lang="en-US" altLang="zh-CN">
                <a:ea typeface="宋体" panose="02010600030101010101" pitchFamily="2" charset="-122"/>
              </a:endParaRPr>
            </a:p>
          </p:txBody>
        </p:sp>
        <p:sp>
          <p:nvSpPr>
            <p:cNvPr id="203" name="Rectangle 234"/>
            <p:cNvSpPr>
              <a:spLocks noChangeArrowheads="1"/>
            </p:cNvSpPr>
            <p:nvPr/>
          </p:nvSpPr>
          <p:spPr bwMode="auto">
            <a:xfrm>
              <a:off x="2880" y="676"/>
              <a:ext cx="5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d</a:t>
              </a:r>
              <a:endParaRPr lang="en-US" altLang="zh-CN">
                <a:ea typeface="宋体" panose="02010600030101010101" pitchFamily="2" charset="-122"/>
              </a:endParaRPr>
            </a:p>
          </p:txBody>
        </p:sp>
        <p:sp>
          <p:nvSpPr>
            <p:cNvPr id="204" name="Rectangle 235"/>
            <p:cNvSpPr>
              <a:spLocks noChangeArrowheads="1"/>
            </p:cNvSpPr>
            <p:nvPr/>
          </p:nvSpPr>
          <p:spPr bwMode="auto">
            <a:xfrm>
              <a:off x="2458" y="816"/>
              <a:ext cx="4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s</a:t>
              </a:r>
              <a:endParaRPr lang="en-US" altLang="zh-CN">
                <a:ea typeface="宋体" panose="02010600030101010101" pitchFamily="2" charset="-122"/>
              </a:endParaRPr>
            </a:p>
          </p:txBody>
        </p:sp>
        <p:sp>
          <p:nvSpPr>
            <p:cNvPr id="205" name="Rectangle 236"/>
            <p:cNvSpPr>
              <a:spLocks noChangeArrowheads="1"/>
            </p:cNvSpPr>
            <p:nvPr/>
          </p:nvSpPr>
          <p:spPr bwMode="auto">
            <a:xfrm>
              <a:off x="2502" y="81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u</a:t>
              </a:r>
              <a:endParaRPr lang="en-US" altLang="zh-CN">
                <a:ea typeface="宋体" panose="02010600030101010101" pitchFamily="2" charset="-122"/>
              </a:endParaRPr>
            </a:p>
          </p:txBody>
        </p:sp>
        <p:sp>
          <p:nvSpPr>
            <p:cNvPr id="206" name="Rectangle 237"/>
            <p:cNvSpPr>
              <a:spLocks noChangeArrowheads="1"/>
            </p:cNvSpPr>
            <p:nvPr/>
          </p:nvSpPr>
          <p:spPr bwMode="auto">
            <a:xfrm>
              <a:off x="2558" y="816"/>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r</a:t>
              </a:r>
              <a:endParaRPr lang="en-US" altLang="zh-CN">
                <a:ea typeface="宋体" panose="02010600030101010101" pitchFamily="2" charset="-122"/>
              </a:endParaRPr>
            </a:p>
          </p:txBody>
        </p:sp>
        <p:sp>
          <p:nvSpPr>
            <p:cNvPr id="207" name="Rectangle 238"/>
            <p:cNvSpPr>
              <a:spLocks noChangeArrowheads="1"/>
            </p:cNvSpPr>
            <p:nvPr/>
          </p:nvSpPr>
          <p:spPr bwMode="auto">
            <a:xfrm>
              <a:off x="2594" y="816"/>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f</a:t>
              </a:r>
              <a:endParaRPr lang="en-US" altLang="zh-CN">
                <a:ea typeface="宋体" panose="02010600030101010101" pitchFamily="2" charset="-122"/>
              </a:endParaRPr>
            </a:p>
          </p:txBody>
        </p:sp>
        <p:sp>
          <p:nvSpPr>
            <p:cNvPr id="208" name="Rectangle 239"/>
            <p:cNvSpPr>
              <a:spLocks noChangeArrowheads="1"/>
            </p:cNvSpPr>
            <p:nvPr/>
          </p:nvSpPr>
          <p:spPr bwMode="auto">
            <a:xfrm>
              <a:off x="2630" y="81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a</a:t>
              </a:r>
              <a:endParaRPr lang="en-US" altLang="zh-CN">
                <a:ea typeface="宋体" panose="02010600030101010101" pitchFamily="2" charset="-122"/>
              </a:endParaRPr>
            </a:p>
          </p:txBody>
        </p:sp>
        <p:sp>
          <p:nvSpPr>
            <p:cNvPr id="209" name="Rectangle 240"/>
            <p:cNvSpPr>
              <a:spLocks noChangeArrowheads="1"/>
            </p:cNvSpPr>
            <p:nvPr/>
          </p:nvSpPr>
          <p:spPr bwMode="auto">
            <a:xfrm>
              <a:off x="2680" y="81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c</a:t>
              </a:r>
              <a:endParaRPr lang="en-US" altLang="zh-CN">
                <a:ea typeface="宋体" panose="02010600030101010101" pitchFamily="2" charset="-122"/>
              </a:endParaRPr>
            </a:p>
          </p:txBody>
        </p:sp>
        <p:sp>
          <p:nvSpPr>
            <p:cNvPr id="210" name="Rectangle 241"/>
            <p:cNvSpPr>
              <a:spLocks noChangeArrowheads="1"/>
            </p:cNvSpPr>
            <p:nvPr/>
          </p:nvSpPr>
          <p:spPr bwMode="auto">
            <a:xfrm>
              <a:off x="2730" y="81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e</a:t>
              </a:r>
              <a:endParaRPr lang="en-US" altLang="zh-CN">
                <a:ea typeface="宋体" panose="02010600030101010101" pitchFamily="2" charset="-122"/>
              </a:endParaRPr>
            </a:p>
          </p:txBody>
        </p:sp>
        <p:sp>
          <p:nvSpPr>
            <p:cNvPr id="211" name="Oval 242"/>
            <p:cNvSpPr>
              <a:spLocks noChangeArrowheads="1"/>
            </p:cNvSpPr>
            <p:nvPr/>
          </p:nvSpPr>
          <p:spPr bwMode="auto">
            <a:xfrm>
              <a:off x="4095" y="2123"/>
              <a:ext cx="72"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12" name="Oval 243"/>
            <p:cNvSpPr>
              <a:spLocks noChangeArrowheads="1"/>
            </p:cNvSpPr>
            <p:nvPr/>
          </p:nvSpPr>
          <p:spPr bwMode="auto">
            <a:xfrm>
              <a:off x="4095" y="1793"/>
              <a:ext cx="72"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13" name="Oval 244"/>
            <p:cNvSpPr>
              <a:spLocks noChangeArrowheads="1"/>
            </p:cNvSpPr>
            <p:nvPr/>
          </p:nvSpPr>
          <p:spPr bwMode="auto">
            <a:xfrm>
              <a:off x="4095" y="1457"/>
              <a:ext cx="72"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14" name="Oval 245"/>
            <p:cNvSpPr>
              <a:spLocks noChangeArrowheads="1"/>
            </p:cNvSpPr>
            <p:nvPr/>
          </p:nvSpPr>
          <p:spPr bwMode="auto">
            <a:xfrm>
              <a:off x="4095" y="1137"/>
              <a:ext cx="72"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215" name="Group 246"/>
            <p:cNvGrpSpPr>
              <a:grpSpLocks/>
            </p:cNvGrpSpPr>
            <p:nvPr/>
          </p:nvGrpSpPr>
          <p:grpSpPr bwMode="auto">
            <a:xfrm>
              <a:off x="4079" y="1535"/>
              <a:ext cx="102" cy="32"/>
              <a:chOff x="4079" y="1535"/>
              <a:chExt cx="102" cy="32"/>
            </a:xfrm>
          </p:grpSpPr>
          <p:sp>
            <p:nvSpPr>
              <p:cNvPr id="572" name="Oval 247"/>
              <p:cNvSpPr>
                <a:spLocks noChangeArrowheads="1"/>
              </p:cNvSpPr>
              <p:nvPr/>
            </p:nvSpPr>
            <p:spPr bwMode="auto">
              <a:xfrm>
                <a:off x="4149" y="153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73" name="Oval 248"/>
              <p:cNvSpPr>
                <a:spLocks noChangeArrowheads="1"/>
              </p:cNvSpPr>
              <p:nvPr/>
            </p:nvSpPr>
            <p:spPr bwMode="auto">
              <a:xfrm>
                <a:off x="4079" y="153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16" name="Group 249"/>
            <p:cNvGrpSpPr>
              <a:grpSpLocks/>
            </p:cNvGrpSpPr>
            <p:nvPr/>
          </p:nvGrpSpPr>
          <p:grpSpPr bwMode="auto">
            <a:xfrm>
              <a:off x="4085" y="1863"/>
              <a:ext cx="100" cy="32"/>
              <a:chOff x="4085" y="1863"/>
              <a:chExt cx="100" cy="32"/>
            </a:xfrm>
          </p:grpSpPr>
          <p:sp>
            <p:nvSpPr>
              <p:cNvPr id="570" name="Oval 250"/>
              <p:cNvSpPr>
                <a:spLocks noChangeArrowheads="1"/>
              </p:cNvSpPr>
              <p:nvPr/>
            </p:nvSpPr>
            <p:spPr bwMode="auto">
              <a:xfrm>
                <a:off x="4153" y="186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71" name="Oval 251"/>
              <p:cNvSpPr>
                <a:spLocks noChangeArrowheads="1"/>
              </p:cNvSpPr>
              <p:nvPr/>
            </p:nvSpPr>
            <p:spPr bwMode="auto">
              <a:xfrm>
                <a:off x="4085" y="186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17" name="Group 252"/>
            <p:cNvGrpSpPr>
              <a:grpSpLocks/>
            </p:cNvGrpSpPr>
            <p:nvPr/>
          </p:nvGrpSpPr>
          <p:grpSpPr bwMode="auto">
            <a:xfrm>
              <a:off x="4079" y="2187"/>
              <a:ext cx="102" cy="32"/>
              <a:chOff x="4079" y="2187"/>
              <a:chExt cx="102" cy="32"/>
            </a:xfrm>
          </p:grpSpPr>
          <p:sp>
            <p:nvSpPr>
              <p:cNvPr id="568" name="Oval 253"/>
              <p:cNvSpPr>
                <a:spLocks noChangeArrowheads="1"/>
              </p:cNvSpPr>
              <p:nvPr/>
            </p:nvSpPr>
            <p:spPr bwMode="auto">
              <a:xfrm>
                <a:off x="4149" y="218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69" name="Oval 254"/>
              <p:cNvSpPr>
                <a:spLocks noChangeArrowheads="1"/>
              </p:cNvSpPr>
              <p:nvPr/>
            </p:nvSpPr>
            <p:spPr bwMode="auto">
              <a:xfrm>
                <a:off x="4079" y="218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218" name="Oval 255"/>
            <p:cNvSpPr>
              <a:spLocks noChangeArrowheads="1"/>
            </p:cNvSpPr>
            <p:nvPr/>
          </p:nvSpPr>
          <p:spPr bwMode="auto">
            <a:xfrm>
              <a:off x="4111" y="112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19" name="Oval 256"/>
            <p:cNvSpPr>
              <a:spLocks noChangeArrowheads="1"/>
            </p:cNvSpPr>
            <p:nvPr/>
          </p:nvSpPr>
          <p:spPr bwMode="auto">
            <a:xfrm>
              <a:off x="3765" y="2123"/>
              <a:ext cx="74"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0" name="Oval 257"/>
            <p:cNvSpPr>
              <a:spLocks noChangeArrowheads="1"/>
            </p:cNvSpPr>
            <p:nvPr/>
          </p:nvSpPr>
          <p:spPr bwMode="auto">
            <a:xfrm>
              <a:off x="3437" y="2117"/>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1" name="Oval 258"/>
            <p:cNvSpPr>
              <a:spLocks noChangeArrowheads="1"/>
            </p:cNvSpPr>
            <p:nvPr/>
          </p:nvSpPr>
          <p:spPr bwMode="auto">
            <a:xfrm>
              <a:off x="3105" y="2109"/>
              <a:ext cx="72"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2" name="Oval 259"/>
            <p:cNvSpPr>
              <a:spLocks noChangeArrowheads="1"/>
            </p:cNvSpPr>
            <p:nvPr/>
          </p:nvSpPr>
          <p:spPr bwMode="auto">
            <a:xfrm>
              <a:off x="3765" y="1793"/>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3" name="Oval 260"/>
            <p:cNvSpPr>
              <a:spLocks noChangeArrowheads="1"/>
            </p:cNvSpPr>
            <p:nvPr/>
          </p:nvSpPr>
          <p:spPr bwMode="auto">
            <a:xfrm>
              <a:off x="3437" y="1789"/>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4" name="Oval 261"/>
            <p:cNvSpPr>
              <a:spLocks noChangeArrowheads="1"/>
            </p:cNvSpPr>
            <p:nvPr/>
          </p:nvSpPr>
          <p:spPr bwMode="auto">
            <a:xfrm>
              <a:off x="3105" y="1779"/>
              <a:ext cx="72"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5" name="Oval 262"/>
            <p:cNvSpPr>
              <a:spLocks noChangeArrowheads="1"/>
            </p:cNvSpPr>
            <p:nvPr/>
          </p:nvSpPr>
          <p:spPr bwMode="auto">
            <a:xfrm>
              <a:off x="3221" y="1997"/>
              <a:ext cx="170" cy="7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6" name="Oval 263"/>
            <p:cNvSpPr>
              <a:spLocks noChangeArrowheads="1"/>
            </p:cNvSpPr>
            <p:nvPr/>
          </p:nvSpPr>
          <p:spPr bwMode="auto">
            <a:xfrm>
              <a:off x="3055" y="1947"/>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7" name="Oval 264"/>
            <p:cNvSpPr>
              <a:spLocks noChangeArrowheads="1"/>
            </p:cNvSpPr>
            <p:nvPr/>
          </p:nvSpPr>
          <p:spPr bwMode="auto">
            <a:xfrm>
              <a:off x="3557" y="1997"/>
              <a:ext cx="168" cy="7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8" name="Oval 265"/>
            <p:cNvSpPr>
              <a:spLocks noChangeArrowheads="1"/>
            </p:cNvSpPr>
            <p:nvPr/>
          </p:nvSpPr>
          <p:spPr bwMode="auto">
            <a:xfrm>
              <a:off x="3389" y="1947"/>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29" name="Oval 266"/>
            <p:cNvSpPr>
              <a:spLocks noChangeArrowheads="1"/>
            </p:cNvSpPr>
            <p:nvPr/>
          </p:nvSpPr>
          <p:spPr bwMode="auto">
            <a:xfrm>
              <a:off x="3885" y="1997"/>
              <a:ext cx="170" cy="7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0" name="Oval 267"/>
            <p:cNvSpPr>
              <a:spLocks noChangeArrowheads="1"/>
            </p:cNvSpPr>
            <p:nvPr/>
          </p:nvSpPr>
          <p:spPr bwMode="auto">
            <a:xfrm>
              <a:off x="3719" y="1947"/>
              <a:ext cx="172"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1" name="Oval 268"/>
            <p:cNvSpPr>
              <a:spLocks noChangeArrowheads="1"/>
            </p:cNvSpPr>
            <p:nvPr/>
          </p:nvSpPr>
          <p:spPr bwMode="auto">
            <a:xfrm>
              <a:off x="3765" y="1459"/>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2" name="Oval 269"/>
            <p:cNvSpPr>
              <a:spLocks noChangeArrowheads="1"/>
            </p:cNvSpPr>
            <p:nvPr/>
          </p:nvSpPr>
          <p:spPr bwMode="auto">
            <a:xfrm>
              <a:off x="3437" y="1465"/>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3" name="Oval 270"/>
            <p:cNvSpPr>
              <a:spLocks noChangeArrowheads="1"/>
            </p:cNvSpPr>
            <p:nvPr/>
          </p:nvSpPr>
          <p:spPr bwMode="auto">
            <a:xfrm>
              <a:off x="3105" y="1457"/>
              <a:ext cx="72"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4" name="Oval 271"/>
            <p:cNvSpPr>
              <a:spLocks noChangeArrowheads="1"/>
            </p:cNvSpPr>
            <p:nvPr/>
          </p:nvSpPr>
          <p:spPr bwMode="auto">
            <a:xfrm>
              <a:off x="3221" y="1673"/>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5" name="Oval 272"/>
            <p:cNvSpPr>
              <a:spLocks noChangeArrowheads="1"/>
            </p:cNvSpPr>
            <p:nvPr/>
          </p:nvSpPr>
          <p:spPr bwMode="auto">
            <a:xfrm>
              <a:off x="3055" y="162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6" name="Oval 273"/>
            <p:cNvSpPr>
              <a:spLocks noChangeArrowheads="1"/>
            </p:cNvSpPr>
            <p:nvPr/>
          </p:nvSpPr>
          <p:spPr bwMode="auto">
            <a:xfrm>
              <a:off x="3557" y="1673"/>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7" name="Oval 274"/>
            <p:cNvSpPr>
              <a:spLocks noChangeArrowheads="1"/>
            </p:cNvSpPr>
            <p:nvPr/>
          </p:nvSpPr>
          <p:spPr bwMode="auto">
            <a:xfrm>
              <a:off x="3389" y="162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8" name="Oval 275"/>
            <p:cNvSpPr>
              <a:spLocks noChangeArrowheads="1"/>
            </p:cNvSpPr>
            <p:nvPr/>
          </p:nvSpPr>
          <p:spPr bwMode="auto">
            <a:xfrm>
              <a:off x="3885" y="1673"/>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39" name="Oval 276"/>
            <p:cNvSpPr>
              <a:spLocks noChangeArrowheads="1"/>
            </p:cNvSpPr>
            <p:nvPr/>
          </p:nvSpPr>
          <p:spPr bwMode="auto">
            <a:xfrm>
              <a:off x="3719" y="1623"/>
              <a:ext cx="172"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0" name="Oval 277"/>
            <p:cNvSpPr>
              <a:spLocks noChangeArrowheads="1"/>
            </p:cNvSpPr>
            <p:nvPr/>
          </p:nvSpPr>
          <p:spPr bwMode="auto">
            <a:xfrm>
              <a:off x="3765" y="1137"/>
              <a:ext cx="78"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1" name="Freeform 278"/>
            <p:cNvSpPr>
              <a:spLocks/>
            </p:cNvSpPr>
            <p:nvPr/>
          </p:nvSpPr>
          <p:spPr bwMode="auto">
            <a:xfrm>
              <a:off x="3370" y="1136"/>
              <a:ext cx="106" cy="150"/>
            </a:xfrm>
            <a:custGeom>
              <a:avLst/>
              <a:gdLst>
                <a:gd name="T0" fmla="*/ 84 w 106"/>
                <a:gd name="T1" fmla="*/ 56 h 150"/>
                <a:gd name="T2" fmla="*/ 92 w 106"/>
                <a:gd name="T3" fmla="*/ 72 h 150"/>
                <a:gd name="T4" fmla="*/ 98 w 106"/>
                <a:gd name="T5" fmla="*/ 86 h 150"/>
                <a:gd name="T6" fmla="*/ 102 w 106"/>
                <a:gd name="T7" fmla="*/ 100 h 150"/>
                <a:gd name="T8" fmla="*/ 104 w 106"/>
                <a:gd name="T9" fmla="*/ 114 h 150"/>
                <a:gd name="T10" fmla="*/ 106 w 106"/>
                <a:gd name="T11" fmla="*/ 126 h 150"/>
                <a:gd name="T12" fmla="*/ 104 w 106"/>
                <a:gd name="T13" fmla="*/ 136 h 150"/>
                <a:gd name="T14" fmla="*/ 100 w 106"/>
                <a:gd name="T15" fmla="*/ 142 h 150"/>
                <a:gd name="T16" fmla="*/ 94 w 106"/>
                <a:gd name="T17" fmla="*/ 148 h 150"/>
                <a:gd name="T18" fmla="*/ 88 w 106"/>
                <a:gd name="T19" fmla="*/ 150 h 150"/>
                <a:gd name="T20" fmla="*/ 80 w 106"/>
                <a:gd name="T21" fmla="*/ 150 h 150"/>
                <a:gd name="T22" fmla="*/ 70 w 106"/>
                <a:gd name="T23" fmla="*/ 146 h 150"/>
                <a:gd name="T24" fmla="*/ 60 w 106"/>
                <a:gd name="T25" fmla="*/ 140 h 150"/>
                <a:gd name="T26" fmla="*/ 50 w 106"/>
                <a:gd name="T27" fmla="*/ 130 h 150"/>
                <a:gd name="T28" fmla="*/ 40 w 106"/>
                <a:gd name="T29" fmla="*/ 120 h 150"/>
                <a:gd name="T30" fmla="*/ 30 w 106"/>
                <a:gd name="T31" fmla="*/ 108 h 150"/>
                <a:gd name="T32" fmla="*/ 20 w 106"/>
                <a:gd name="T33" fmla="*/ 94 h 150"/>
                <a:gd name="T34" fmla="*/ 14 w 106"/>
                <a:gd name="T35" fmla="*/ 78 h 150"/>
                <a:gd name="T36" fmla="*/ 8 w 106"/>
                <a:gd name="T37" fmla="*/ 64 h 150"/>
                <a:gd name="T38" fmla="*/ 2 w 106"/>
                <a:gd name="T39" fmla="*/ 50 h 150"/>
                <a:gd name="T40" fmla="*/ 0 w 106"/>
                <a:gd name="T41" fmla="*/ 36 h 150"/>
                <a:gd name="T42" fmla="*/ 0 w 106"/>
                <a:gd name="T43" fmla="*/ 24 h 150"/>
                <a:gd name="T44" fmla="*/ 2 w 106"/>
                <a:gd name="T45" fmla="*/ 14 h 150"/>
                <a:gd name="T46" fmla="*/ 4 w 106"/>
                <a:gd name="T47" fmla="*/ 8 h 150"/>
                <a:gd name="T48" fmla="*/ 10 w 106"/>
                <a:gd name="T49" fmla="*/ 2 h 150"/>
                <a:gd name="T50" fmla="*/ 18 w 106"/>
                <a:gd name="T51" fmla="*/ 0 h 150"/>
                <a:gd name="T52" fmla="*/ 26 w 106"/>
                <a:gd name="T53" fmla="*/ 0 h 150"/>
                <a:gd name="T54" fmla="*/ 36 w 106"/>
                <a:gd name="T55" fmla="*/ 4 h 150"/>
                <a:gd name="T56" fmla="*/ 46 w 106"/>
                <a:gd name="T57" fmla="*/ 10 h 150"/>
                <a:gd name="T58" fmla="*/ 56 w 106"/>
                <a:gd name="T59" fmla="*/ 20 h 150"/>
                <a:gd name="T60" fmla="*/ 66 w 106"/>
                <a:gd name="T61" fmla="*/ 30 h 150"/>
                <a:gd name="T62" fmla="*/ 76 w 106"/>
                <a:gd name="T63" fmla="*/ 42 h 150"/>
                <a:gd name="T64" fmla="*/ 84 w 106"/>
                <a:gd name="T65" fmla="*/ 56 h 15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6"/>
                <a:gd name="T100" fmla="*/ 0 h 150"/>
                <a:gd name="T101" fmla="*/ 106 w 106"/>
                <a:gd name="T102" fmla="*/ 150 h 15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6" h="150">
                  <a:moveTo>
                    <a:pt x="84" y="56"/>
                  </a:moveTo>
                  <a:lnTo>
                    <a:pt x="92" y="72"/>
                  </a:lnTo>
                  <a:lnTo>
                    <a:pt x="98" y="86"/>
                  </a:lnTo>
                  <a:lnTo>
                    <a:pt x="102" y="100"/>
                  </a:lnTo>
                  <a:lnTo>
                    <a:pt x="104" y="114"/>
                  </a:lnTo>
                  <a:lnTo>
                    <a:pt x="106" y="126"/>
                  </a:lnTo>
                  <a:lnTo>
                    <a:pt x="104" y="136"/>
                  </a:lnTo>
                  <a:lnTo>
                    <a:pt x="100" y="142"/>
                  </a:lnTo>
                  <a:lnTo>
                    <a:pt x="94" y="148"/>
                  </a:lnTo>
                  <a:lnTo>
                    <a:pt x="88" y="150"/>
                  </a:lnTo>
                  <a:lnTo>
                    <a:pt x="80" y="150"/>
                  </a:lnTo>
                  <a:lnTo>
                    <a:pt x="70" y="146"/>
                  </a:lnTo>
                  <a:lnTo>
                    <a:pt x="60" y="140"/>
                  </a:lnTo>
                  <a:lnTo>
                    <a:pt x="50" y="130"/>
                  </a:lnTo>
                  <a:lnTo>
                    <a:pt x="40" y="120"/>
                  </a:lnTo>
                  <a:lnTo>
                    <a:pt x="30" y="108"/>
                  </a:lnTo>
                  <a:lnTo>
                    <a:pt x="20" y="94"/>
                  </a:lnTo>
                  <a:lnTo>
                    <a:pt x="14" y="78"/>
                  </a:lnTo>
                  <a:lnTo>
                    <a:pt x="8" y="64"/>
                  </a:lnTo>
                  <a:lnTo>
                    <a:pt x="2" y="50"/>
                  </a:lnTo>
                  <a:lnTo>
                    <a:pt x="0" y="36"/>
                  </a:lnTo>
                  <a:lnTo>
                    <a:pt x="0" y="24"/>
                  </a:lnTo>
                  <a:lnTo>
                    <a:pt x="2" y="14"/>
                  </a:lnTo>
                  <a:lnTo>
                    <a:pt x="4" y="8"/>
                  </a:lnTo>
                  <a:lnTo>
                    <a:pt x="10" y="2"/>
                  </a:lnTo>
                  <a:lnTo>
                    <a:pt x="18" y="0"/>
                  </a:lnTo>
                  <a:lnTo>
                    <a:pt x="26" y="0"/>
                  </a:lnTo>
                  <a:lnTo>
                    <a:pt x="36" y="4"/>
                  </a:lnTo>
                  <a:lnTo>
                    <a:pt x="46" y="10"/>
                  </a:lnTo>
                  <a:lnTo>
                    <a:pt x="56" y="20"/>
                  </a:lnTo>
                  <a:lnTo>
                    <a:pt x="66" y="30"/>
                  </a:lnTo>
                  <a:lnTo>
                    <a:pt x="76" y="42"/>
                  </a:lnTo>
                  <a:lnTo>
                    <a:pt x="84" y="56"/>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2" name="Freeform 279"/>
            <p:cNvSpPr>
              <a:spLocks/>
            </p:cNvSpPr>
            <p:nvPr/>
          </p:nvSpPr>
          <p:spPr bwMode="auto">
            <a:xfrm>
              <a:off x="3146" y="1140"/>
              <a:ext cx="106" cy="150"/>
            </a:xfrm>
            <a:custGeom>
              <a:avLst/>
              <a:gdLst>
                <a:gd name="T0" fmla="*/ 84 w 106"/>
                <a:gd name="T1" fmla="*/ 94 h 150"/>
                <a:gd name="T2" fmla="*/ 76 w 106"/>
                <a:gd name="T3" fmla="*/ 108 h 150"/>
                <a:gd name="T4" fmla="*/ 66 w 106"/>
                <a:gd name="T5" fmla="*/ 120 h 150"/>
                <a:gd name="T6" fmla="*/ 56 w 106"/>
                <a:gd name="T7" fmla="*/ 132 h 150"/>
                <a:gd name="T8" fmla="*/ 46 w 106"/>
                <a:gd name="T9" fmla="*/ 140 h 150"/>
                <a:gd name="T10" fmla="*/ 36 w 106"/>
                <a:gd name="T11" fmla="*/ 146 h 150"/>
                <a:gd name="T12" fmla="*/ 26 w 106"/>
                <a:gd name="T13" fmla="*/ 150 h 150"/>
                <a:gd name="T14" fmla="*/ 18 w 106"/>
                <a:gd name="T15" fmla="*/ 150 h 150"/>
                <a:gd name="T16" fmla="*/ 10 w 106"/>
                <a:gd name="T17" fmla="*/ 148 h 150"/>
                <a:gd name="T18" fmla="*/ 6 w 106"/>
                <a:gd name="T19" fmla="*/ 144 h 150"/>
                <a:gd name="T20" fmla="*/ 2 w 106"/>
                <a:gd name="T21" fmla="*/ 136 h 150"/>
                <a:gd name="T22" fmla="*/ 0 w 106"/>
                <a:gd name="T23" fmla="*/ 126 h 150"/>
                <a:gd name="T24" fmla="*/ 0 w 106"/>
                <a:gd name="T25" fmla="*/ 114 h 150"/>
                <a:gd name="T26" fmla="*/ 4 w 106"/>
                <a:gd name="T27" fmla="*/ 102 h 150"/>
                <a:gd name="T28" fmla="*/ 8 w 106"/>
                <a:gd name="T29" fmla="*/ 88 h 150"/>
                <a:gd name="T30" fmla="*/ 14 w 106"/>
                <a:gd name="T31" fmla="*/ 72 h 150"/>
                <a:gd name="T32" fmla="*/ 22 w 106"/>
                <a:gd name="T33" fmla="*/ 58 h 150"/>
                <a:gd name="T34" fmla="*/ 30 w 106"/>
                <a:gd name="T35" fmla="*/ 44 h 150"/>
                <a:gd name="T36" fmla="*/ 40 w 106"/>
                <a:gd name="T37" fmla="*/ 30 h 150"/>
                <a:gd name="T38" fmla="*/ 50 w 106"/>
                <a:gd name="T39" fmla="*/ 20 h 150"/>
                <a:gd name="T40" fmla="*/ 60 w 106"/>
                <a:gd name="T41" fmla="*/ 12 h 150"/>
                <a:gd name="T42" fmla="*/ 70 w 106"/>
                <a:gd name="T43" fmla="*/ 4 h 150"/>
                <a:gd name="T44" fmla="*/ 80 w 106"/>
                <a:gd name="T45" fmla="*/ 2 h 150"/>
                <a:gd name="T46" fmla="*/ 88 w 106"/>
                <a:gd name="T47" fmla="*/ 0 h 150"/>
                <a:gd name="T48" fmla="*/ 96 w 106"/>
                <a:gd name="T49" fmla="*/ 2 h 150"/>
                <a:gd name="T50" fmla="*/ 100 w 106"/>
                <a:gd name="T51" fmla="*/ 8 h 150"/>
                <a:gd name="T52" fmla="*/ 104 w 106"/>
                <a:gd name="T53" fmla="*/ 16 h 150"/>
                <a:gd name="T54" fmla="*/ 106 w 106"/>
                <a:gd name="T55" fmla="*/ 26 h 150"/>
                <a:gd name="T56" fmla="*/ 106 w 106"/>
                <a:gd name="T57" fmla="*/ 36 h 150"/>
                <a:gd name="T58" fmla="*/ 102 w 106"/>
                <a:gd name="T59" fmla="*/ 50 h 150"/>
                <a:gd name="T60" fmla="*/ 98 w 106"/>
                <a:gd name="T61" fmla="*/ 64 h 150"/>
                <a:gd name="T62" fmla="*/ 92 w 106"/>
                <a:gd name="T63" fmla="*/ 78 h 150"/>
                <a:gd name="T64" fmla="*/ 84 w 106"/>
                <a:gd name="T65" fmla="*/ 94 h 15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6"/>
                <a:gd name="T100" fmla="*/ 0 h 150"/>
                <a:gd name="T101" fmla="*/ 106 w 106"/>
                <a:gd name="T102" fmla="*/ 150 h 15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6" h="150">
                  <a:moveTo>
                    <a:pt x="84" y="94"/>
                  </a:moveTo>
                  <a:lnTo>
                    <a:pt x="76" y="108"/>
                  </a:lnTo>
                  <a:lnTo>
                    <a:pt x="66" y="120"/>
                  </a:lnTo>
                  <a:lnTo>
                    <a:pt x="56" y="132"/>
                  </a:lnTo>
                  <a:lnTo>
                    <a:pt x="46" y="140"/>
                  </a:lnTo>
                  <a:lnTo>
                    <a:pt x="36" y="146"/>
                  </a:lnTo>
                  <a:lnTo>
                    <a:pt x="26" y="150"/>
                  </a:lnTo>
                  <a:lnTo>
                    <a:pt x="18" y="150"/>
                  </a:lnTo>
                  <a:lnTo>
                    <a:pt x="10" y="148"/>
                  </a:lnTo>
                  <a:lnTo>
                    <a:pt x="6" y="144"/>
                  </a:lnTo>
                  <a:lnTo>
                    <a:pt x="2" y="136"/>
                  </a:lnTo>
                  <a:lnTo>
                    <a:pt x="0" y="126"/>
                  </a:lnTo>
                  <a:lnTo>
                    <a:pt x="0" y="114"/>
                  </a:lnTo>
                  <a:lnTo>
                    <a:pt x="4" y="102"/>
                  </a:lnTo>
                  <a:lnTo>
                    <a:pt x="8" y="88"/>
                  </a:lnTo>
                  <a:lnTo>
                    <a:pt x="14" y="72"/>
                  </a:lnTo>
                  <a:lnTo>
                    <a:pt x="22" y="58"/>
                  </a:lnTo>
                  <a:lnTo>
                    <a:pt x="30" y="44"/>
                  </a:lnTo>
                  <a:lnTo>
                    <a:pt x="40" y="30"/>
                  </a:lnTo>
                  <a:lnTo>
                    <a:pt x="50" y="20"/>
                  </a:lnTo>
                  <a:lnTo>
                    <a:pt x="60" y="12"/>
                  </a:lnTo>
                  <a:lnTo>
                    <a:pt x="70" y="4"/>
                  </a:lnTo>
                  <a:lnTo>
                    <a:pt x="80" y="2"/>
                  </a:lnTo>
                  <a:lnTo>
                    <a:pt x="88" y="0"/>
                  </a:lnTo>
                  <a:lnTo>
                    <a:pt x="96" y="2"/>
                  </a:lnTo>
                  <a:lnTo>
                    <a:pt x="100" y="8"/>
                  </a:lnTo>
                  <a:lnTo>
                    <a:pt x="104" y="16"/>
                  </a:lnTo>
                  <a:lnTo>
                    <a:pt x="106" y="26"/>
                  </a:lnTo>
                  <a:lnTo>
                    <a:pt x="106" y="36"/>
                  </a:lnTo>
                  <a:lnTo>
                    <a:pt x="102" y="50"/>
                  </a:lnTo>
                  <a:lnTo>
                    <a:pt x="98" y="64"/>
                  </a:lnTo>
                  <a:lnTo>
                    <a:pt x="92" y="78"/>
                  </a:lnTo>
                  <a:lnTo>
                    <a:pt x="84" y="9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3" name="Oval 280"/>
            <p:cNvSpPr>
              <a:spLocks noChangeArrowheads="1"/>
            </p:cNvSpPr>
            <p:nvPr/>
          </p:nvSpPr>
          <p:spPr bwMode="auto">
            <a:xfrm>
              <a:off x="3221" y="1339"/>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4" name="Oval 281"/>
            <p:cNvSpPr>
              <a:spLocks noChangeArrowheads="1"/>
            </p:cNvSpPr>
            <p:nvPr/>
          </p:nvSpPr>
          <p:spPr bwMode="auto">
            <a:xfrm>
              <a:off x="3055" y="1289"/>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5" name="Oval 282"/>
            <p:cNvSpPr>
              <a:spLocks noChangeArrowheads="1"/>
            </p:cNvSpPr>
            <p:nvPr/>
          </p:nvSpPr>
          <p:spPr bwMode="auto">
            <a:xfrm>
              <a:off x="3557" y="1339"/>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6" name="Oval 283"/>
            <p:cNvSpPr>
              <a:spLocks noChangeArrowheads="1"/>
            </p:cNvSpPr>
            <p:nvPr/>
          </p:nvSpPr>
          <p:spPr bwMode="auto">
            <a:xfrm>
              <a:off x="3389" y="1289"/>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7" name="Oval 284"/>
            <p:cNvSpPr>
              <a:spLocks noChangeArrowheads="1"/>
            </p:cNvSpPr>
            <p:nvPr/>
          </p:nvSpPr>
          <p:spPr bwMode="auto">
            <a:xfrm>
              <a:off x="3885" y="1339"/>
              <a:ext cx="17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48" name="Rectangle 285"/>
            <p:cNvSpPr>
              <a:spLocks noChangeArrowheads="1"/>
            </p:cNvSpPr>
            <p:nvPr/>
          </p:nvSpPr>
          <p:spPr bwMode="auto">
            <a:xfrm>
              <a:off x="3270" y="1028"/>
              <a:ext cx="7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sp>
          <p:nvSpPr>
            <p:cNvPr id="249" name="Rectangle 286"/>
            <p:cNvSpPr>
              <a:spLocks noChangeArrowheads="1"/>
            </p:cNvSpPr>
            <p:nvPr/>
          </p:nvSpPr>
          <p:spPr bwMode="auto">
            <a:xfrm>
              <a:off x="3762" y="898"/>
              <a:ext cx="76"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H</a:t>
              </a:r>
              <a:endParaRPr lang="en-US" altLang="zh-CN">
                <a:ea typeface="宋体" panose="02010600030101010101" pitchFamily="2" charset="-122"/>
              </a:endParaRPr>
            </a:p>
          </p:txBody>
        </p:sp>
        <p:sp>
          <p:nvSpPr>
            <p:cNvPr id="250" name="Rectangle 287"/>
            <p:cNvSpPr>
              <a:spLocks noChangeArrowheads="1"/>
            </p:cNvSpPr>
            <p:nvPr/>
          </p:nvSpPr>
          <p:spPr bwMode="auto">
            <a:xfrm>
              <a:off x="3114" y="664"/>
              <a:ext cx="76"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A</a:t>
              </a:r>
              <a:endParaRPr lang="en-US" altLang="zh-CN">
                <a:ea typeface="宋体" panose="02010600030101010101" pitchFamily="2" charset="-122"/>
              </a:endParaRPr>
            </a:p>
          </p:txBody>
        </p:sp>
        <p:sp>
          <p:nvSpPr>
            <p:cNvPr id="251" name="Rectangle 288"/>
            <p:cNvSpPr>
              <a:spLocks noChangeArrowheads="1"/>
            </p:cNvSpPr>
            <p:nvPr/>
          </p:nvSpPr>
          <p:spPr bwMode="auto">
            <a:xfrm>
              <a:off x="3196" y="664"/>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b</a:t>
              </a:r>
              <a:endParaRPr lang="en-US" altLang="zh-CN">
                <a:ea typeface="宋体" panose="02010600030101010101" pitchFamily="2" charset="-122"/>
              </a:endParaRPr>
            </a:p>
          </p:txBody>
        </p:sp>
        <p:sp>
          <p:nvSpPr>
            <p:cNvPr id="252" name="Rectangle 289"/>
            <p:cNvSpPr>
              <a:spLocks noChangeArrowheads="1"/>
            </p:cNvSpPr>
            <p:nvPr/>
          </p:nvSpPr>
          <p:spPr bwMode="auto">
            <a:xfrm>
              <a:off x="3252" y="664"/>
              <a:ext cx="4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s</a:t>
              </a:r>
              <a:endParaRPr lang="en-US" altLang="zh-CN">
                <a:ea typeface="宋体" panose="02010600030101010101" pitchFamily="2" charset="-122"/>
              </a:endParaRPr>
            </a:p>
          </p:txBody>
        </p:sp>
        <p:sp>
          <p:nvSpPr>
            <p:cNvPr id="253" name="Rectangle 290"/>
            <p:cNvSpPr>
              <a:spLocks noChangeArrowheads="1"/>
            </p:cNvSpPr>
            <p:nvPr/>
          </p:nvSpPr>
          <p:spPr bwMode="auto">
            <a:xfrm>
              <a:off x="3296" y="664"/>
              <a:ext cx="5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sp>
          <p:nvSpPr>
            <p:cNvPr id="254" name="Rectangle 291"/>
            <p:cNvSpPr>
              <a:spLocks noChangeArrowheads="1"/>
            </p:cNvSpPr>
            <p:nvPr/>
          </p:nvSpPr>
          <p:spPr bwMode="auto">
            <a:xfrm>
              <a:off x="3352" y="664"/>
              <a:ext cx="3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r</a:t>
              </a:r>
              <a:endParaRPr lang="en-US" altLang="zh-CN">
                <a:ea typeface="宋体" panose="02010600030101010101" pitchFamily="2" charset="-122"/>
              </a:endParaRPr>
            </a:p>
          </p:txBody>
        </p:sp>
        <p:sp>
          <p:nvSpPr>
            <p:cNvPr id="255" name="Rectangle 292"/>
            <p:cNvSpPr>
              <a:spLocks noChangeArrowheads="1"/>
            </p:cNvSpPr>
            <p:nvPr/>
          </p:nvSpPr>
          <p:spPr bwMode="auto">
            <a:xfrm>
              <a:off x="3388" y="664"/>
              <a:ext cx="5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b</a:t>
              </a:r>
              <a:endParaRPr lang="en-US" altLang="zh-CN">
                <a:ea typeface="宋体" panose="02010600030101010101" pitchFamily="2" charset="-122"/>
              </a:endParaRPr>
            </a:p>
          </p:txBody>
        </p:sp>
        <p:sp>
          <p:nvSpPr>
            <p:cNvPr id="256" name="Rectangle 293"/>
            <p:cNvSpPr>
              <a:spLocks noChangeArrowheads="1"/>
            </p:cNvSpPr>
            <p:nvPr/>
          </p:nvSpPr>
          <p:spPr bwMode="auto">
            <a:xfrm>
              <a:off x="3444" y="664"/>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e</a:t>
              </a:r>
              <a:endParaRPr lang="en-US" altLang="zh-CN">
                <a:ea typeface="宋体" panose="02010600030101010101" pitchFamily="2" charset="-122"/>
              </a:endParaRPr>
            </a:p>
          </p:txBody>
        </p:sp>
        <p:sp>
          <p:nvSpPr>
            <p:cNvPr id="257" name="Rectangle 294"/>
            <p:cNvSpPr>
              <a:spLocks noChangeArrowheads="1"/>
            </p:cNvSpPr>
            <p:nvPr/>
          </p:nvSpPr>
          <p:spPr bwMode="auto">
            <a:xfrm>
              <a:off x="3494" y="664"/>
              <a:ext cx="5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d</a:t>
              </a:r>
              <a:endParaRPr lang="en-US" altLang="zh-CN">
                <a:ea typeface="宋体" panose="02010600030101010101" pitchFamily="2" charset="-122"/>
              </a:endParaRPr>
            </a:p>
          </p:txBody>
        </p:sp>
        <p:sp>
          <p:nvSpPr>
            <p:cNvPr id="258" name="Rectangle 295"/>
            <p:cNvSpPr>
              <a:spLocks noChangeArrowheads="1"/>
            </p:cNvSpPr>
            <p:nvPr/>
          </p:nvSpPr>
          <p:spPr bwMode="auto">
            <a:xfrm>
              <a:off x="3154" y="804"/>
              <a:ext cx="74"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sp>
          <p:nvSpPr>
            <p:cNvPr id="259" name="Rectangle 296"/>
            <p:cNvSpPr>
              <a:spLocks noChangeArrowheads="1"/>
            </p:cNvSpPr>
            <p:nvPr/>
          </p:nvSpPr>
          <p:spPr bwMode="auto">
            <a:xfrm>
              <a:off x="3236" y="804"/>
              <a:ext cx="52"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x</a:t>
              </a:r>
              <a:endParaRPr lang="en-US" altLang="zh-CN">
                <a:ea typeface="宋体" panose="02010600030101010101" pitchFamily="2" charset="-122"/>
              </a:endParaRPr>
            </a:p>
          </p:txBody>
        </p:sp>
        <p:sp>
          <p:nvSpPr>
            <p:cNvPr id="260" name="Rectangle 297"/>
            <p:cNvSpPr>
              <a:spLocks noChangeArrowheads="1"/>
            </p:cNvSpPr>
            <p:nvPr/>
          </p:nvSpPr>
          <p:spPr bwMode="auto">
            <a:xfrm>
              <a:off x="3292" y="804"/>
              <a:ext cx="53"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y</a:t>
              </a:r>
              <a:endParaRPr lang="en-US" altLang="zh-CN">
                <a:ea typeface="宋体" panose="02010600030101010101" pitchFamily="2" charset="-122"/>
              </a:endParaRPr>
            </a:p>
          </p:txBody>
        </p:sp>
        <p:sp>
          <p:nvSpPr>
            <p:cNvPr id="261" name="Rectangle 298"/>
            <p:cNvSpPr>
              <a:spLocks noChangeArrowheads="1"/>
            </p:cNvSpPr>
            <p:nvPr/>
          </p:nvSpPr>
          <p:spPr bwMode="auto">
            <a:xfrm>
              <a:off x="3348" y="804"/>
              <a:ext cx="52"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g</a:t>
              </a:r>
              <a:endParaRPr lang="en-US" altLang="zh-CN">
                <a:ea typeface="宋体" panose="02010600030101010101" pitchFamily="2" charset="-122"/>
              </a:endParaRPr>
            </a:p>
          </p:txBody>
        </p:sp>
        <p:sp>
          <p:nvSpPr>
            <p:cNvPr id="262" name="Rectangle 299"/>
            <p:cNvSpPr>
              <a:spLocks noChangeArrowheads="1"/>
            </p:cNvSpPr>
            <p:nvPr/>
          </p:nvSpPr>
          <p:spPr bwMode="auto">
            <a:xfrm>
              <a:off x="3404" y="804"/>
              <a:ext cx="47"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e</a:t>
              </a:r>
              <a:endParaRPr lang="en-US" altLang="zh-CN">
                <a:ea typeface="宋体" panose="02010600030101010101" pitchFamily="2" charset="-122"/>
              </a:endParaRPr>
            </a:p>
          </p:txBody>
        </p:sp>
        <p:sp>
          <p:nvSpPr>
            <p:cNvPr id="263" name="Rectangle 300"/>
            <p:cNvSpPr>
              <a:spLocks noChangeArrowheads="1"/>
            </p:cNvSpPr>
            <p:nvPr/>
          </p:nvSpPr>
          <p:spPr bwMode="auto">
            <a:xfrm>
              <a:off x="3454" y="804"/>
              <a:ext cx="53"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n</a:t>
              </a:r>
              <a:endParaRPr lang="en-US" altLang="zh-CN">
                <a:ea typeface="宋体" panose="02010600030101010101" pitchFamily="2" charset="-122"/>
              </a:endParaRPr>
            </a:p>
          </p:txBody>
        </p:sp>
        <p:sp>
          <p:nvSpPr>
            <p:cNvPr id="264" name="Rectangle 301"/>
            <p:cNvSpPr>
              <a:spLocks noChangeArrowheads="1"/>
            </p:cNvSpPr>
            <p:nvPr/>
          </p:nvSpPr>
          <p:spPr bwMode="auto">
            <a:xfrm>
              <a:off x="3982" y="500"/>
              <a:ext cx="76"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H</a:t>
              </a:r>
              <a:endParaRPr lang="en-US" altLang="zh-CN">
                <a:ea typeface="宋体" panose="02010600030101010101" pitchFamily="2" charset="-122"/>
              </a:endParaRPr>
            </a:p>
          </p:txBody>
        </p:sp>
        <p:sp>
          <p:nvSpPr>
            <p:cNvPr id="265" name="Rectangle 302"/>
            <p:cNvSpPr>
              <a:spLocks noChangeArrowheads="1"/>
            </p:cNvSpPr>
            <p:nvPr/>
          </p:nvSpPr>
          <p:spPr bwMode="auto">
            <a:xfrm>
              <a:off x="4064" y="568"/>
              <a:ext cx="41"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100">
                  <a:solidFill>
                    <a:srgbClr val="000000"/>
                  </a:solidFill>
                  <a:latin typeface="Times" panose="02020603050405020304" pitchFamily="18" charset="0"/>
                  <a:ea typeface="宋体" panose="02010600030101010101" pitchFamily="2" charset="-122"/>
                </a:rPr>
                <a:t>2</a:t>
              </a:r>
              <a:endParaRPr lang="zh-CN" altLang="en-US">
                <a:ea typeface="宋体" panose="02010600030101010101" pitchFamily="2" charset="-122"/>
              </a:endParaRPr>
            </a:p>
          </p:txBody>
        </p:sp>
        <p:sp>
          <p:nvSpPr>
            <p:cNvPr id="266" name="Rectangle 303"/>
            <p:cNvSpPr>
              <a:spLocks noChangeArrowheads="1"/>
            </p:cNvSpPr>
            <p:nvPr/>
          </p:nvSpPr>
          <p:spPr bwMode="auto">
            <a:xfrm>
              <a:off x="4108" y="500"/>
              <a:ext cx="76"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grpSp>
          <p:nvGrpSpPr>
            <p:cNvPr id="267" name="Group 304"/>
            <p:cNvGrpSpPr>
              <a:grpSpLocks/>
            </p:cNvGrpSpPr>
            <p:nvPr/>
          </p:nvGrpSpPr>
          <p:grpSpPr bwMode="auto">
            <a:xfrm>
              <a:off x="3293" y="1323"/>
              <a:ext cx="32" cy="100"/>
              <a:chOff x="3293" y="1323"/>
              <a:chExt cx="32" cy="100"/>
            </a:xfrm>
          </p:grpSpPr>
          <p:sp>
            <p:nvSpPr>
              <p:cNvPr id="566" name="Oval 305"/>
              <p:cNvSpPr>
                <a:spLocks noChangeArrowheads="1"/>
              </p:cNvSpPr>
              <p:nvPr/>
            </p:nvSpPr>
            <p:spPr bwMode="auto">
              <a:xfrm>
                <a:off x="3293" y="132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67" name="Oval 306"/>
              <p:cNvSpPr>
                <a:spLocks noChangeArrowheads="1"/>
              </p:cNvSpPr>
              <p:nvPr/>
            </p:nvSpPr>
            <p:spPr bwMode="auto">
              <a:xfrm>
                <a:off x="3293" y="139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68" name="Group 307"/>
            <p:cNvGrpSpPr>
              <a:grpSpLocks/>
            </p:cNvGrpSpPr>
            <p:nvPr/>
          </p:nvGrpSpPr>
          <p:grpSpPr bwMode="auto">
            <a:xfrm>
              <a:off x="3621" y="1327"/>
              <a:ext cx="32" cy="100"/>
              <a:chOff x="3621" y="1327"/>
              <a:chExt cx="32" cy="100"/>
            </a:xfrm>
          </p:grpSpPr>
          <p:sp>
            <p:nvSpPr>
              <p:cNvPr id="564" name="Oval 308"/>
              <p:cNvSpPr>
                <a:spLocks noChangeArrowheads="1"/>
              </p:cNvSpPr>
              <p:nvPr/>
            </p:nvSpPr>
            <p:spPr bwMode="auto">
              <a:xfrm>
                <a:off x="3621" y="132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65" name="Oval 309"/>
              <p:cNvSpPr>
                <a:spLocks noChangeArrowheads="1"/>
              </p:cNvSpPr>
              <p:nvPr/>
            </p:nvSpPr>
            <p:spPr bwMode="auto">
              <a:xfrm>
                <a:off x="3621" y="139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69" name="Group 310"/>
            <p:cNvGrpSpPr>
              <a:grpSpLocks/>
            </p:cNvGrpSpPr>
            <p:nvPr/>
          </p:nvGrpSpPr>
          <p:grpSpPr bwMode="auto">
            <a:xfrm>
              <a:off x="3953" y="1327"/>
              <a:ext cx="32" cy="100"/>
              <a:chOff x="3953" y="1327"/>
              <a:chExt cx="32" cy="100"/>
            </a:xfrm>
          </p:grpSpPr>
          <p:sp>
            <p:nvSpPr>
              <p:cNvPr id="562" name="Oval 311"/>
              <p:cNvSpPr>
                <a:spLocks noChangeArrowheads="1"/>
              </p:cNvSpPr>
              <p:nvPr/>
            </p:nvSpPr>
            <p:spPr bwMode="auto">
              <a:xfrm>
                <a:off x="3953" y="132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63" name="Oval 312"/>
              <p:cNvSpPr>
                <a:spLocks noChangeArrowheads="1"/>
              </p:cNvSpPr>
              <p:nvPr/>
            </p:nvSpPr>
            <p:spPr bwMode="auto">
              <a:xfrm>
                <a:off x="3953" y="139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0" name="Group 313"/>
            <p:cNvGrpSpPr>
              <a:grpSpLocks/>
            </p:cNvGrpSpPr>
            <p:nvPr/>
          </p:nvGrpSpPr>
          <p:grpSpPr bwMode="auto">
            <a:xfrm>
              <a:off x="3957" y="1655"/>
              <a:ext cx="32" cy="100"/>
              <a:chOff x="3957" y="1655"/>
              <a:chExt cx="32" cy="100"/>
            </a:xfrm>
          </p:grpSpPr>
          <p:sp>
            <p:nvSpPr>
              <p:cNvPr id="560" name="Oval 314"/>
              <p:cNvSpPr>
                <a:spLocks noChangeArrowheads="1"/>
              </p:cNvSpPr>
              <p:nvPr/>
            </p:nvSpPr>
            <p:spPr bwMode="auto">
              <a:xfrm>
                <a:off x="3957" y="165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61" name="Oval 315"/>
              <p:cNvSpPr>
                <a:spLocks noChangeArrowheads="1"/>
              </p:cNvSpPr>
              <p:nvPr/>
            </p:nvSpPr>
            <p:spPr bwMode="auto">
              <a:xfrm>
                <a:off x="3957" y="172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1" name="Group 316"/>
            <p:cNvGrpSpPr>
              <a:grpSpLocks/>
            </p:cNvGrpSpPr>
            <p:nvPr/>
          </p:nvGrpSpPr>
          <p:grpSpPr bwMode="auto">
            <a:xfrm>
              <a:off x="3619" y="1659"/>
              <a:ext cx="32" cy="100"/>
              <a:chOff x="3619" y="1659"/>
              <a:chExt cx="32" cy="100"/>
            </a:xfrm>
          </p:grpSpPr>
          <p:sp>
            <p:nvSpPr>
              <p:cNvPr id="558" name="Oval 317"/>
              <p:cNvSpPr>
                <a:spLocks noChangeArrowheads="1"/>
              </p:cNvSpPr>
              <p:nvPr/>
            </p:nvSpPr>
            <p:spPr bwMode="auto">
              <a:xfrm>
                <a:off x="3619" y="165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59" name="Oval 318"/>
              <p:cNvSpPr>
                <a:spLocks noChangeArrowheads="1"/>
              </p:cNvSpPr>
              <p:nvPr/>
            </p:nvSpPr>
            <p:spPr bwMode="auto">
              <a:xfrm>
                <a:off x="3619" y="172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2" name="Group 319"/>
            <p:cNvGrpSpPr>
              <a:grpSpLocks/>
            </p:cNvGrpSpPr>
            <p:nvPr/>
          </p:nvGrpSpPr>
          <p:grpSpPr bwMode="auto">
            <a:xfrm>
              <a:off x="3287" y="1659"/>
              <a:ext cx="32" cy="100"/>
              <a:chOff x="3287" y="1659"/>
              <a:chExt cx="32" cy="100"/>
            </a:xfrm>
          </p:grpSpPr>
          <p:sp>
            <p:nvSpPr>
              <p:cNvPr id="556" name="Oval 320"/>
              <p:cNvSpPr>
                <a:spLocks noChangeArrowheads="1"/>
              </p:cNvSpPr>
              <p:nvPr/>
            </p:nvSpPr>
            <p:spPr bwMode="auto">
              <a:xfrm>
                <a:off x="3287" y="165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57" name="Oval 321"/>
              <p:cNvSpPr>
                <a:spLocks noChangeArrowheads="1"/>
              </p:cNvSpPr>
              <p:nvPr/>
            </p:nvSpPr>
            <p:spPr bwMode="auto">
              <a:xfrm>
                <a:off x="3287" y="172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3" name="Group 322"/>
            <p:cNvGrpSpPr>
              <a:grpSpLocks/>
            </p:cNvGrpSpPr>
            <p:nvPr/>
          </p:nvGrpSpPr>
          <p:grpSpPr bwMode="auto">
            <a:xfrm>
              <a:off x="3961" y="1979"/>
              <a:ext cx="34" cy="100"/>
              <a:chOff x="3961" y="1979"/>
              <a:chExt cx="34" cy="100"/>
            </a:xfrm>
          </p:grpSpPr>
          <p:sp>
            <p:nvSpPr>
              <p:cNvPr id="554" name="Oval 323"/>
              <p:cNvSpPr>
                <a:spLocks noChangeArrowheads="1"/>
              </p:cNvSpPr>
              <p:nvPr/>
            </p:nvSpPr>
            <p:spPr bwMode="auto">
              <a:xfrm>
                <a:off x="3961" y="1979"/>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55" name="Oval 324"/>
              <p:cNvSpPr>
                <a:spLocks noChangeArrowheads="1"/>
              </p:cNvSpPr>
              <p:nvPr/>
            </p:nvSpPr>
            <p:spPr bwMode="auto">
              <a:xfrm>
                <a:off x="3961" y="2047"/>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4" name="Group 325"/>
            <p:cNvGrpSpPr>
              <a:grpSpLocks/>
            </p:cNvGrpSpPr>
            <p:nvPr/>
          </p:nvGrpSpPr>
          <p:grpSpPr bwMode="auto">
            <a:xfrm>
              <a:off x="3625" y="1983"/>
              <a:ext cx="32" cy="100"/>
              <a:chOff x="3625" y="1983"/>
              <a:chExt cx="32" cy="100"/>
            </a:xfrm>
          </p:grpSpPr>
          <p:sp>
            <p:nvSpPr>
              <p:cNvPr id="552" name="Oval 326"/>
              <p:cNvSpPr>
                <a:spLocks noChangeArrowheads="1"/>
              </p:cNvSpPr>
              <p:nvPr/>
            </p:nvSpPr>
            <p:spPr bwMode="auto">
              <a:xfrm>
                <a:off x="3625" y="198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53" name="Oval 327"/>
              <p:cNvSpPr>
                <a:spLocks noChangeArrowheads="1"/>
              </p:cNvSpPr>
              <p:nvPr/>
            </p:nvSpPr>
            <p:spPr bwMode="auto">
              <a:xfrm>
                <a:off x="3625" y="205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5" name="Group 328"/>
            <p:cNvGrpSpPr>
              <a:grpSpLocks/>
            </p:cNvGrpSpPr>
            <p:nvPr/>
          </p:nvGrpSpPr>
          <p:grpSpPr bwMode="auto">
            <a:xfrm>
              <a:off x="3291" y="1983"/>
              <a:ext cx="32" cy="100"/>
              <a:chOff x="3291" y="1983"/>
              <a:chExt cx="32" cy="100"/>
            </a:xfrm>
          </p:grpSpPr>
          <p:sp>
            <p:nvSpPr>
              <p:cNvPr id="550" name="Oval 329"/>
              <p:cNvSpPr>
                <a:spLocks noChangeArrowheads="1"/>
              </p:cNvSpPr>
              <p:nvPr/>
            </p:nvSpPr>
            <p:spPr bwMode="auto">
              <a:xfrm>
                <a:off x="3291" y="198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51" name="Oval 330"/>
              <p:cNvSpPr>
                <a:spLocks noChangeArrowheads="1"/>
              </p:cNvSpPr>
              <p:nvPr/>
            </p:nvSpPr>
            <p:spPr bwMode="auto">
              <a:xfrm>
                <a:off x="3291" y="205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6" name="Group 331"/>
            <p:cNvGrpSpPr>
              <a:grpSpLocks/>
            </p:cNvGrpSpPr>
            <p:nvPr/>
          </p:nvGrpSpPr>
          <p:grpSpPr bwMode="auto">
            <a:xfrm>
              <a:off x="3089" y="1521"/>
              <a:ext cx="102" cy="32"/>
              <a:chOff x="3089" y="1521"/>
              <a:chExt cx="102" cy="32"/>
            </a:xfrm>
          </p:grpSpPr>
          <p:sp>
            <p:nvSpPr>
              <p:cNvPr id="548" name="Oval 332"/>
              <p:cNvSpPr>
                <a:spLocks noChangeArrowheads="1"/>
              </p:cNvSpPr>
              <p:nvPr/>
            </p:nvSpPr>
            <p:spPr bwMode="auto">
              <a:xfrm>
                <a:off x="3159" y="152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49" name="Oval 333"/>
              <p:cNvSpPr>
                <a:spLocks noChangeArrowheads="1"/>
              </p:cNvSpPr>
              <p:nvPr/>
            </p:nvSpPr>
            <p:spPr bwMode="auto">
              <a:xfrm>
                <a:off x="3089" y="152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7" name="Group 334"/>
            <p:cNvGrpSpPr>
              <a:grpSpLocks/>
            </p:cNvGrpSpPr>
            <p:nvPr/>
          </p:nvGrpSpPr>
          <p:grpSpPr bwMode="auto">
            <a:xfrm>
              <a:off x="3427" y="1517"/>
              <a:ext cx="100" cy="32"/>
              <a:chOff x="3427" y="1517"/>
              <a:chExt cx="100" cy="32"/>
            </a:xfrm>
          </p:grpSpPr>
          <p:sp>
            <p:nvSpPr>
              <p:cNvPr id="546" name="Oval 335"/>
              <p:cNvSpPr>
                <a:spLocks noChangeArrowheads="1"/>
              </p:cNvSpPr>
              <p:nvPr/>
            </p:nvSpPr>
            <p:spPr bwMode="auto">
              <a:xfrm>
                <a:off x="3495" y="151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47" name="Oval 336"/>
              <p:cNvSpPr>
                <a:spLocks noChangeArrowheads="1"/>
              </p:cNvSpPr>
              <p:nvPr/>
            </p:nvSpPr>
            <p:spPr bwMode="auto">
              <a:xfrm>
                <a:off x="3427" y="151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8" name="Group 337"/>
            <p:cNvGrpSpPr>
              <a:grpSpLocks/>
            </p:cNvGrpSpPr>
            <p:nvPr/>
          </p:nvGrpSpPr>
          <p:grpSpPr bwMode="auto">
            <a:xfrm>
              <a:off x="3751" y="1531"/>
              <a:ext cx="100" cy="32"/>
              <a:chOff x="3751" y="1531"/>
              <a:chExt cx="100" cy="32"/>
            </a:xfrm>
          </p:grpSpPr>
          <p:sp>
            <p:nvSpPr>
              <p:cNvPr id="544" name="Oval 338"/>
              <p:cNvSpPr>
                <a:spLocks noChangeArrowheads="1"/>
              </p:cNvSpPr>
              <p:nvPr/>
            </p:nvSpPr>
            <p:spPr bwMode="auto">
              <a:xfrm>
                <a:off x="3819" y="15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45" name="Oval 339"/>
              <p:cNvSpPr>
                <a:spLocks noChangeArrowheads="1"/>
              </p:cNvSpPr>
              <p:nvPr/>
            </p:nvSpPr>
            <p:spPr bwMode="auto">
              <a:xfrm>
                <a:off x="3751" y="15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79" name="Group 340"/>
            <p:cNvGrpSpPr>
              <a:grpSpLocks/>
            </p:cNvGrpSpPr>
            <p:nvPr/>
          </p:nvGrpSpPr>
          <p:grpSpPr bwMode="auto">
            <a:xfrm>
              <a:off x="3095" y="1849"/>
              <a:ext cx="100" cy="34"/>
              <a:chOff x="3095" y="1849"/>
              <a:chExt cx="100" cy="34"/>
            </a:xfrm>
          </p:grpSpPr>
          <p:sp>
            <p:nvSpPr>
              <p:cNvPr id="542" name="Oval 341"/>
              <p:cNvSpPr>
                <a:spLocks noChangeArrowheads="1"/>
              </p:cNvSpPr>
              <p:nvPr/>
            </p:nvSpPr>
            <p:spPr bwMode="auto">
              <a:xfrm>
                <a:off x="3163" y="1849"/>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43" name="Oval 342"/>
              <p:cNvSpPr>
                <a:spLocks noChangeArrowheads="1"/>
              </p:cNvSpPr>
              <p:nvPr/>
            </p:nvSpPr>
            <p:spPr bwMode="auto">
              <a:xfrm>
                <a:off x="3095" y="1849"/>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80" name="Group 343"/>
            <p:cNvGrpSpPr>
              <a:grpSpLocks/>
            </p:cNvGrpSpPr>
            <p:nvPr/>
          </p:nvGrpSpPr>
          <p:grpSpPr bwMode="auto">
            <a:xfrm>
              <a:off x="3431" y="1845"/>
              <a:ext cx="102" cy="32"/>
              <a:chOff x="3431" y="1845"/>
              <a:chExt cx="102" cy="32"/>
            </a:xfrm>
          </p:grpSpPr>
          <p:sp>
            <p:nvSpPr>
              <p:cNvPr id="540" name="Oval 344"/>
              <p:cNvSpPr>
                <a:spLocks noChangeArrowheads="1"/>
              </p:cNvSpPr>
              <p:nvPr/>
            </p:nvSpPr>
            <p:spPr bwMode="auto">
              <a:xfrm>
                <a:off x="3501" y="184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41" name="Oval 345"/>
              <p:cNvSpPr>
                <a:spLocks noChangeArrowheads="1"/>
              </p:cNvSpPr>
              <p:nvPr/>
            </p:nvSpPr>
            <p:spPr bwMode="auto">
              <a:xfrm>
                <a:off x="3431" y="1845"/>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81" name="Group 346"/>
            <p:cNvGrpSpPr>
              <a:grpSpLocks/>
            </p:cNvGrpSpPr>
            <p:nvPr/>
          </p:nvGrpSpPr>
          <p:grpSpPr bwMode="auto">
            <a:xfrm>
              <a:off x="3755" y="1859"/>
              <a:ext cx="102" cy="32"/>
              <a:chOff x="3755" y="1859"/>
              <a:chExt cx="102" cy="32"/>
            </a:xfrm>
          </p:grpSpPr>
          <p:sp>
            <p:nvSpPr>
              <p:cNvPr id="538" name="Oval 347"/>
              <p:cNvSpPr>
                <a:spLocks noChangeArrowheads="1"/>
              </p:cNvSpPr>
              <p:nvPr/>
            </p:nvSpPr>
            <p:spPr bwMode="auto">
              <a:xfrm>
                <a:off x="3825" y="185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39" name="Oval 348"/>
              <p:cNvSpPr>
                <a:spLocks noChangeArrowheads="1"/>
              </p:cNvSpPr>
              <p:nvPr/>
            </p:nvSpPr>
            <p:spPr bwMode="auto">
              <a:xfrm>
                <a:off x="3755" y="185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82" name="Group 349"/>
            <p:cNvGrpSpPr>
              <a:grpSpLocks/>
            </p:cNvGrpSpPr>
            <p:nvPr/>
          </p:nvGrpSpPr>
          <p:grpSpPr bwMode="auto">
            <a:xfrm>
              <a:off x="3089" y="2173"/>
              <a:ext cx="102" cy="34"/>
              <a:chOff x="3089" y="2173"/>
              <a:chExt cx="102" cy="34"/>
            </a:xfrm>
          </p:grpSpPr>
          <p:sp>
            <p:nvSpPr>
              <p:cNvPr id="536" name="Oval 350"/>
              <p:cNvSpPr>
                <a:spLocks noChangeArrowheads="1"/>
              </p:cNvSpPr>
              <p:nvPr/>
            </p:nvSpPr>
            <p:spPr bwMode="auto">
              <a:xfrm>
                <a:off x="3159" y="2173"/>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37" name="Oval 351"/>
              <p:cNvSpPr>
                <a:spLocks noChangeArrowheads="1"/>
              </p:cNvSpPr>
              <p:nvPr/>
            </p:nvSpPr>
            <p:spPr bwMode="auto">
              <a:xfrm>
                <a:off x="3089" y="2173"/>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83" name="Group 352"/>
            <p:cNvGrpSpPr>
              <a:grpSpLocks/>
            </p:cNvGrpSpPr>
            <p:nvPr/>
          </p:nvGrpSpPr>
          <p:grpSpPr bwMode="auto">
            <a:xfrm>
              <a:off x="3423" y="2169"/>
              <a:ext cx="100" cy="32"/>
              <a:chOff x="3423" y="2169"/>
              <a:chExt cx="100" cy="32"/>
            </a:xfrm>
          </p:grpSpPr>
          <p:sp>
            <p:nvSpPr>
              <p:cNvPr id="534" name="Oval 353"/>
              <p:cNvSpPr>
                <a:spLocks noChangeArrowheads="1"/>
              </p:cNvSpPr>
              <p:nvPr/>
            </p:nvSpPr>
            <p:spPr bwMode="auto">
              <a:xfrm>
                <a:off x="3491" y="216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35" name="Oval 354"/>
              <p:cNvSpPr>
                <a:spLocks noChangeArrowheads="1"/>
              </p:cNvSpPr>
              <p:nvPr/>
            </p:nvSpPr>
            <p:spPr bwMode="auto">
              <a:xfrm>
                <a:off x="3423" y="216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284" name="Group 355"/>
            <p:cNvGrpSpPr>
              <a:grpSpLocks/>
            </p:cNvGrpSpPr>
            <p:nvPr/>
          </p:nvGrpSpPr>
          <p:grpSpPr bwMode="auto">
            <a:xfrm>
              <a:off x="3751" y="2183"/>
              <a:ext cx="100" cy="32"/>
              <a:chOff x="3751" y="2183"/>
              <a:chExt cx="100" cy="32"/>
            </a:xfrm>
          </p:grpSpPr>
          <p:sp>
            <p:nvSpPr>
              <p:cNvPr id="532" name="Oval 356"/>
              <p:cNvSpPr>
                <a:spLocks noChangeArrowheads="1"/>
              </p:cNvSpPr>
              <p:nvPr/>
            </p:nvSpPr>
            <p:spPr bwMode="auto">
              <a:xfrm>
                <a:off x="3819" y="218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33" name="Oval 357"/>
              <p:cNvSpPr>
                <a:spLocks noChangeArrowheads="1"/>
              </p:cNvSpPr>
              <p:nvPr/>
            </p:nvSpPr>
            <p:spPr bwMode="auto">
              <a:xfrm>
                <a:off x="3751" y="218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285" name="Oval 358"/>
            <p:cNvSpPr>
              <a:spLocks noChangeArrowheads="1"/>
            </p:cNvSpPr>
            <p:nvPr/>
          </p:nvSpPr>
          <p:spPr bwMode="auto">
            <a:xfrm>
              <a:off x="3147" y="117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86" name="Oval 359"/>
            <p:cNvSpPr>
              <a:spLocks noChangeArrowheads="1"/>
            </p:cNvSpPr>
            <p:nvPr/>
          </p:nvSpPr>
          <p:spPr bwMode="auto">
            <a:xfrm>
              <a:off x="3435" y="1167"/>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87" name="Oval 360"/>
            <p:cNvSpPr>
              <a:spLocks noChangeArrowheads="1"/>
            </p:cNvSpPr>
            <p:nvPr/>
          </p:nvSpPr>
          <p:spPr bwMode="auto">
            <a:xfrm>
              <a:off x="3745" y="1199"/>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88" name="Oval 361"/>
            <p:cNvSpPr>
              <a:spLocks noChangeArrowheads="1"/>
            </p:cNvSpPr>
            <p:nvPr/>
          </p:nvSpPr>
          <p:spPr bwMode="auto">
            <a:xfrm>
              <a:off x="3761" y="1053"/>
              <a:ext cx="78" cy="78"/>
            </a:xfrm>
            <a:prstGeom prst="ellipse">
              <a:avLst/>
            </a:prstGeom>
            <a:blipFill dpi="0" rotWithShape="0">
              <a:blip r:embed="rId2"/>
              <a:srcRect/>
              <a:tile tx="0" ty="0" sx="100000" sy="100000" flip="none" algn="tl"/>
            </a:blipFill>
            <a:ln w="9525">
              <a:solidFill>
                <a:srgbClr val="0000FF"/>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89" name="Oval 362"/>
            <p:cNvSpPr>
              <a:spLocks noChangeArrowheads="1"/>
            </p:cNvSpPr>
            <p:nvPr/>
          </p:nvSpPr>
          <p:spPr bwMode="auto">
            <a:xfrm>
              <a:off x="3223" y="1009"/>
              <a:ext cx="174" cy="174"/>
            </a:xfrm>
            <a:prstGeom prst="ellipse">
              <a:avLst/>
            </a:prstGeom>
            <a:solidFill>
              <a:srgbClr val="FF99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0" name="Oval 363"/>
            <p:cNvSpPr>
              <a:spLocks noChangeArrowheads="1"/>
            </p:cNvSpPr>
            <p:nvPr/>
          </p:nvSpPr>
          <p:spPr bwMode="auto">
            <a:xfrm>
              <a:off x="3215" y="122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1" name="Oval 364"/>
            <p:cNvSpPr>
              <a:spLocks noChangeArrowheads="1"/>
            </p:cNvSpPr>
            <p:nvPr/>
          </p:nvSpPr>
          <p:spPr bwMode="auto">
            <a:xfrm>
              <a:off x="3375" y="121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2" name="Oval 365"/>
            <p:cNvSpPr>
              <a:spLocks noChangeArrowheads="1"/>
            </p:cNvSpPr>
            <p:nvPr/>
          </p:nvSpPr>
          <p:spPr bwMode="auto">
            <a:xfrm>
              <a:off x="3821" y="1199"/>
              <a:ext cx="34"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3" name="Oval 366"/>
            <p:cNvSpPr>
              <a:spLocks noChangeArrowheads="1"/>
            </p:cNvSpPr>
            <p:nvPr/>
          </p:nvSpPr>
          <p:spPr bwMode="auto">
            <a:xfrm>
              <a:off x="3929" y="705"/>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4" name="Oval 367"/>
            <p:cNvSpPr>
              <a:spLocks noChangeArrowheads="1"/>
            </p:cNvSpPr>
            <p:nvPr/>
          </p:nvSpPr>
          <p:spPr bwMode="auto">
            <a:xfrm>
              <a:off x="4095" y="857"/>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5" name="Oval 368"/>
            <p:cNvSpPr>
              <a:spLocks noChangeArrowheads="1"/>
            </p:cNvSpPr>
            <p:nvPr/>
          </p:nvSpPr>
          <p:spPr bwMode="auto">
            <a:xfrm>
              <a:off x="3937" y="76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6" name="Oval 369"/>
            <p:cNvSpPr>
              <a:spLocks noChangeArrowheads="1"/>
            </p:cNvSpPr>
            <p:nvPr/>
          </p:nvSpPr>
          <p:spPr bwMode="auto">
            <a:xfrm>
              <a:off x="4093" y="999"/>
              <a:ext cx="78" cy="78"/>
            </a:xfrm>
            <a:prstGeom prst="ellipse">
              <a:avLst/>
            </a:prstGeom>
            <a:blipFill dpi="0" rotWithShape="0">
              <a:blip r:embed="rId2"/>
              <a:srcRect/>
              <a:tile tx="0" ty="0" sx="100000" sy="100000" flip="none" algn="tl"/>
            </a:blipFill>
            <a:ln w="9525">
              <a:solidFill>
                <a:srgbClr val="0000FF"/>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7" name="Oval 370"/>
            <p:cNvSpPr>
              <a:spLocks noChangeArrowheads="1"/>
            </p:cNvSpPr>
            <p:nvPr/>
          </p:nvSpPr>
          <p:spPr bwMode="auto">
            <a:xfrm>
              <a:off x="4147" y="92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8" name="Oval 371"/>
            <p:cNvSpPr>
              <a:spLocks noChangeArrowheads="1"/>
            </p:cNvSpPr>
            <p:nvPr/>
          </p:nvSpPr>
          <p:spPr bwMode="auto">
            <a:xfrm>
              <a:off x="4067" y="91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299" name="Oval 372"/>
            <p:cNvSpPr>
              <a:spLocks noChangeArrowheads="1"/>
            </p:cNvSpPr>
            <p:nvPr/>
          </p:nvSpPr>
          <p:spPr bwMode="auto">
            <a:xfrm>
              <a:off x="4035" y="687"/>
              <a:ext cx="172" cy="174"/>
            </a:xfrm>
            <a:prstGeom prst="ellipse">
              <a:avLst/>
            </a:prstGeom>
            <a:solidFill>
              <a:srgbClr val="FF99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00" name="Freeform 373"/>
            <p:cNvSpPr>
              <a:spLocks/>
            </p:cNvSpPr>
            <p:nvPr/>
          </p:nvSpPr>
          <p:spPr bwMode="auto">
            <a:xfrm>
              <a:off x="3858" y="716"/>
              <a:ext cx="168" cy="64"/>
            </a:xfrm>
            <a:custGeom>
              <a:avLst/>
              <a:gdLst>
                <a:gd name="T0" fmla="*/ 84 w 168"/>
                <a:gd name="T1" fmla="*/ 0 h 64"/>
                <a:gd name="T2" fmla="*/ 68 w 168"/>
                <a:gd name="T3" fmla="*/ 0 h 64"/>
                <a:gd name="T4" fmla="*/ 52 w 168"/>
                <a:gd name="T5" fmla="*/ 2 h 64"/>
                <a:gd name="T6" fmla="*/ 38 w 168"/>
                <a:gd name="T7" fmla="*/ 6 h 64"/>
                <a:gd name="T8" fmla="*/ 24 w 168"/>
                <a:gd name="T9" fmla="*/ 10 h 64"/>
                <a:gd name="T10" fmla="*/ 14 w 168"/>
                <a:gd name="T11" fmla="*/ 14 h 64"/>
                <a:gd name="T12" fmla="*/ 6 w 168"/>
                <a:gd name="T13" fmla="*/ 20 h 64"/>
                <a:gd name="T14" fmla="*/ 2 w 168"/>
                <a:gd name="T15" fmla="*/ 26 h 64"/>
                <a:gd name="T16" fmla="*/ 0 w 168"/>
                <a:gd name="T17" fmla="*/ 32 h 64"/>
                <a:gd name="T18" fmla="*/ 2 w 168"/>
                <a:gd name="T19" fmla="*/ 38 h 64"/>
                <a:gd name="T20" fmla="*/ 6 w 168"/>
                <a:gd name="T21" fmla="*/ 44 h 64"/>
                <a:gd name="T22" fmla="*/ 14 w 168"/>
                <a:gd name="T23" fmla="*/ 50 h 64"/>
                <a:gd name="T24" fmla="*/ 24 w 168"/>
                <a:gd name="T25" fmla="*/ 54 h 64"/>
                <a:gd name="T26" fmla="*/ 38 w 168"/>
                <a:gd name="T27" fmla="*/ 58 h 64"/>
                <a:gd name="T28" fmla="*/ 52 w 168"/>
                <a:gd name="T29" fmla="*/ 62 h 64"/>
                <a:gd name="T30" fmla="*/ 68 w 168"/>
                <a:gd name="T31" fmla="*/ 64 h 64"/>
                <a:gd name="T32" fmla="*/ 84 w 168"/>
                <a:gd name="T33" fmla="*/ 64 h 64"/>
                <a:gd name="T34" fmla="*/ 100 w 168"/>
                <a:gd name="T35" fmla="*/ 64 h 64"/>
                <a:gd name="T36" fmla="*/ 116 w 168"/>
                <a:gd name="T37" fmla="*/ 62 h 64"/>
                <a:gd name="T38" fmla="*/ 130 w 168"/>
                <a:gd name="T39" fmla="*/ 58 h 64"/>
                <a:gd name="T40" fmla="*/ 144 w 168"/>
                <a:gd name="T41" fmla="*/ 54 h 64"/>
                <a:gd name="T42" fmla="*/ 154 w 168"/>
                <a:gd name="T43" fmla="*/ 50 h 64"/>
                <a:gd name="T44" fmla="*/ 162 w 168"/>
                <a:gd name="T45" fmla="*/ 44 h 64"/>
                <a:gd name="T46" fmla="*/ 166 w 168"/>
                <a:gd name="T47" fmla="*/ 38 h 64"/>
                <a:gd name="T48" fmla="*/ 168 w 168"/>
                <a:gd name="T49" fmla="*/ 32 h 64"/>
                <a:gd name="T50" fmla="*/ 166 w 168"/>
                <a:gd name="T51" fmla="*/ 26 h 64"/>
                <a:gd name="T52" fmla="*/ 162 w 168"/>
                <a:gd name="T53" fmla="*/ 20 h 64"/>
                <a:gd name="T54" fmla="*/ 154 w 168"/>
                <a:gd name="T55" fmla="*/ 14 h 64"/>
                <a:gd name="T56" fmla="*/ 144 w 168"/>
                <a:gd name="T57" fmla="*/ 10 h 64"/>
                <a:gd name="T58" fmla="*/ 130 w 168"/>
                <a:gd name="T59" fmla="*/ 6 h 64"/>
                <a:gd name="T60" fmla="*/ 116 w 168"/>
                <a:gd name="T61" fmla="*/ 2 h 64"/>
                <a:gd name="T62" fmla="*/ 100 w 168"/>
                <a:gd name="T63" fmla="*/ 0 h 64"/>
                <a:gd name="T64" fmla="*/ 84 w 168"/>
                <a:gd name="T65" fmla="*/ 0 h 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8"/>
                <a:gd name="T100" fmla="*/ 0 h 64"/>
                <a:gd name="T101" fmla="*/ 168 w 168"/>
                <a:gd name="T102" fmla="*/ 64 h 6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8" h="64">
                  <a:moveTo>
                    <a:pt x="84" y="0"/>
                  </a:moveTo>
                  <a:lnTo>
                    <a:pt x="68" y="0"/>
                  </a:lnTo>
                  <a:lnTo>
                    <a:pt x="52" y="2"/>
                  </a:lnTo>
                  <a:lnTo>
                    <a:pt x="38" y="6"/>
                  </a:lnTo>
                  <a:lnTo>
                    <a:pt x="24" y="10"/>
                  </a:lnTo>
                  <a:lnTo>
                    <a:pt x="14" y="14"/>
                  </a:lnTo>
                  <a:lnTo>
                    <a:pt x="6" y="20"/>
                  </a:lnTo>
                  <a:lnTo>
                    <a:pt x="2" y="26"/>
                  </a:lnTo>
                  <a:lnTo>
                    <a:pt x="0" y="32"/>
                  </a:lnTo>
                  <a:lnTo>
                    <a:pt x="2" y="38"/>
                  </a:lnTo>
                  <a:lnTo>
                    <a:pt x="6" y="44"/>
                  </a:lnTo>
                  <a:lnTo>
                    <a:pt x="14" y="50"/>
                  </a:lnTo>
                  <a:lnTo>
                    <a:pt x="24" y="54"/>
                  </a:lnTo>
                  <a:lnTo>
                    <a:pt x="38" y="58"/>
                  </a:lnTo>
                  <a:lnTo>
                    <a:pt x="52" y="62"/>
                  </a:lnTo>
                  <a:lnTo>
                    <a:pt x="68" y="64"/>
                  </a:lnTo>
                  <a:lnTo>
                    <a:pt x="84" y="64"/>
                  </a:lnTo>
                  <a:lnTo>
                    <a:pt x="100" y="64"/>
                  </a:lnTo>
                  <a:lnTo>
                    <a:pt x="116" y="62"/>
                  </a:lnTo>
                  <a:lnTo>
                    <a:pt x="130" y="58"/>
                  </a:lnTo>
                  <a:lnTo>
                    <a:pt x="144" y="54"/>
                  </a:lnTo>
                  <a:lnTo>
                    <a:pt x="154" y="50"/>
                  </a:lnTo>
                  <a:lnTo>
                    <a:pt x="162" y="44"/>
                  </a:lnTo>
                  <a:lnTo>
                    <a:pt x="166" y="38"/>
                  </a:lnTo>
                  <a:lnTo>
                    <a:pt x="168" y="32"/>
                  </a:lnTo>
                  <a:lnTo>
                    <a:pt x="166" y="26"/>
                  </a:lnTo>
                  <a:lnTo>
                    <a:pt x="162" y="20"/>
                  </a:lnTo>
                  <a:lnTo>
                    <a:pt x="154" y="14"/>
                  </a:lnTo>
                  <a:lnTo>
                    <a:pt x="144" y="10"/>
                  </a:lnTo>
                  <a:lnTo>
                    <a:pt x="130" y="6"/>
                  </a:lnTo>
                  <a:lnTo>
                    <a:pt x="116" y="2"/>
                  </a:lnTo>
                  <a:lnTo>
                    <a:pt x="100" y="0"/>
                  </a:lnTo>
                  <a:lnTo>
                    <a:pt x="84"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01" name="Oval 374"/>
            <p:cNvSpPr>
              <a:spLocks noChangeArrowheads="1"/>
            </p:cNvSpPr>
            <p:nvPr/>
          </p:nvSpPr>
          <p:spPr bwMode="auto">
            <a:xfrm>
              <a:off x="3803" y="719"/>
              <a:ext cx="78" cy="78"/>
            </a:xfrm>
            <a:prstGeom prst="ellipse">
              <a:avLst/>
            </a:prstGeom>
            <a:blipFill dpi="0" rotWithShape="0">
              <a:blip r:embed="rId2"/>
              <a:srcRect/>
              <a:tile tx="0" ty="0" sx="100000" sy="100000" flip="none" algn="tl"/>
            </a:blipFill>
            <a:ln w="9525">
              <a:solidFill>
                <a:srgbClr val="0000FF"/>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02" name="Oval 375"/>
            <p:cNvSpPr>
              <a:spLocks noChangeArrowheads="1"/>
            </p:cNvSpPr>
            <p:nvPr/>
          </p:nvSpPr>
          <p:spPr bwMode="auto">
            <a:xfrm>
              <a:off x="4043" y="162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03" name="Rectangle 376"/>
            <p:cNvSpPr>
              <a:spLocks noChangeArrowheads="1"/>
            </p:cNvSpPr>
            <p:nvPr/>
          </p:nvSpPr>
          <p:spPr bwMode="auto">
            <a:xfrm>
              <a:off x="3274" y="1012"/>
              <a:ext cx="74"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sp>
          <p:nvSpPr>
            <p:cNvPr id="304" name="Oval 377"/>
            <p:cNvSpPr>
              <a:spLocks noChangeArrowheads="1"/>
            </p:cNvSpPr>
            <p:nvPr/>
          </p:nvSpPr>
          <p:spPr bwMode="auto">
            <a:xfrm>
              <a:off x="4043" y="1289"/>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05" name="Oval 378"/>
            <p:cNvSpPr>
              <a:spLocks noChangeArrowheads="1"/>
            </p:cNvSpPr>
            <p:nvPr/>
          </p:nvSpPr>
          <p:spPr bwMode="auto">
            <a:xfrm>
              <a:off x="3719" y="1289"/>
              <a:ext cx="172"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06" name="Oval 379"/>
            <p:cNvSpPr>
              <a:spLocks noChangeArrowheads="1"/>
            </p:cNvSpPr>
            <p:nvPr/>
          </p:nvSpPr>
          <p:spPr bwMode="auto">
            <a:xfrm>
              <a:off x="4043" y="1947"/>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07" name="Rectangle 380"/>
            <p:cNvSpPr>
              <a:spLocks noChangeArrowheads="1"/>
            </p:cNvSpPr>
            <p:nvPr/>
          </p:nvSpPr>
          <p:spPr bwMode="auto">
            <a:xfrm>
              <a:off x="4388" y="862"/>
              <a:ext cx="75"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H</a:t>
              </a:r>
              <a:endParaRPr lang="en-US" altLang="zh-CN">
                <a:ea typeface="宋体" panose="02010600030101010101" pitchFamily="2" charset="-122"/>
              </a:endParaRPr>
            </a:p>
          </p:txBody>
        </p:sp>
        <p:sp>
          <p:nvSpPr>
            <p:cNvPr id="308" name="Rectangle 381"/>
            <p:cNvSpPr>
              <a:spLocks noChangeArrowheads="1"/>
            </p:cNvSpPr>
            <p:nvPr/>
          </p:nvSpPr>
          <p:spPr bwMode="auto">
            <a:xfrm>
              <a:off x="4470" y="930"/>
              <a:ext cx="41"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100">
                  <a:solidFill>
                    <a:srgbClr val="000000"/>
                  </a:solidFill>
                  <a:latin typeface="Times" panose="02020603050405020304" pitchFamily="18" charset="0"/>
                  <a:ea typeface="宋体" panose="02010600030101010101" pitchFamily="2" charset="-122"/>
                </a:rPr>
                <a:t>2</a:t>
              </a:r>
              <a:endParaRPr lang="zh-CN" altLang="en-US">
                <a:ea typeface="宋体" panose="02010600030101010101" pitchFamily="2" charset="-122"/>
              </a:endParaRPr>
            </a:p>
          </p:txBody>
        </p:sp>
        <p:sp>
          <p:nvSpPr>
            <p:cNvPr id="309" name="Oval 382"/>
            <p:cNvSpPr>
              <a:spLocks noChangeArrowheads="1"/>
            </p:cNvSpPr>
            <p:nvPr/>
          </p:nvSpPr>
          <p:spPr bwMode="auto">
            <a:xfrm>
              <a:off x="4577" y="865"/>
              <a:ext cx="78"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0" name="Oval 383"/>
            <p:cNvSpPr>
              <a:spLocks noChangeArrowheads="1"/>
            </p:cNvSpPr>
            <p:nvPr/>
          </p:nvSpPr>
          <p:spPr bwMode="auto">
            <a:xfrm>
              <a:off x="4547" y="927"/>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1" name="Oval 384"/>
            <p:cNvSpPr>
              <a:spLocks noChangeArrowheads="1"/>
            </p:cNvSpPr>
            <p:nvPr/>
          </p:nvSpPr>
          <p:spPr bwMode="auto">
            <a:xfrm>
              <a:off x="4571" y="781"/>
              <a:ext cx="78" cy="78"/>
            </a:xfrm>
            <a:prstGeom prst="ellipse">
              <a:avLst/>
            </a:prstGeom>
            <a:blipFill dpi="0" rotWithShape="0">
              <a:blip r:embed="rId2"/>
              <a:srcRect/>
              <a:tile tx="0" ty="0" sx="100000" sy="100000" flip="none" algn="tl"/>
            </a:blipFill>
            <a:ln w="9525">
              <a:solidFill>
                <a:srgbClr val="0000FF"/>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2" name="Oval 385"/>
            <p:cNvSpPr>
              <a:spLocks noChangeArrowheads="1"/>
            </p:cNvSpPr>
            <p:nvPr/>
          </p:nvSpPr>
          <p:spPr bwMode="auto">
            <a:xfrm>
              <a:off x="4631" y="925"/>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3" name="Oval 386"/>
            <p:cNvSpPr>
              <a:spLocks noChangeArrowheads="1"/>
            </p:cNvSpPr>
            <p:nvPr/>
          </p:nvSpPr>
          <p:spPr bwMode="auto">
            <a:xfrm>
              <a:off x="4581" y="1033"/>
              <a:ext cx="78" cy="76"/>
            </a:xfrm>
            <a:prstGeom prst="ellipse">
              <a:avLst/>
            </a:prstGeom>
            <a:blipFill dpi="0" rotWithShape="0">
              <a:blip r:embed="rId2"/>
              <a:srcRect/>
              <a:tile tx="0" ty="0" sx="100000" sy="100000" flip="none" algn="tl"/>
            </a:blipFill>
            <a:ln w="9525">
              <a:solidFill>
                <a:srgbClr val="0000FF"/>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4" name="Freeform 387"/>
            <p:cNvSpPr>
              <a:spLocks/>
            </p:cNvSpPr>
            <p:nvPr/>
          </p:nvSpPr>
          <p:spPr bwMode="auto">
            <a:xfrm>
              <a:off x="2654" y="1166"/>
              <a:ext cx="130" cy="128"/>
            </a:xfrm>
            <a:custGeom>
              <a:avLst/>
              <a:gdLst>
                <a:gd name="T0" fmla="*/ 90 w 130"/>
                <a:gd name="T1" fmla="*/ 38 h 128"/>
                <a:gd name="T2" fmla="*/ 102 w 130"/>
                <a:gd name="T3" fmla="*/ 50 h 128"/>
                <a:gd name="T4" fmla="*/ 112 w 130"/>
                <a:gd name="T5" fmla="*/ 64 h 128"/>
                <a:gd name="T6" fmla="*/ 118 w 130"/>
                <a:gd name="T7" fmla="*/ 76 h 128"/>
                <a:gd name="T8" fmla="*/ 124 w 130"/>
                <a:gd name="T9" fmla="*/ 88 h 128"/>
                <a:gd name="T10" fmla="*/ 128 w 130"/>
                <a:gd name="T11" fmla="*/ 100 h 128"/>
                <a:gd name="T12" fmla="*/ 130 w 130"/>
                <a:gd name="T13" fmla="*/ 108 h 128"/>
                <a:gd name="T14" fmla="*/ 128 w 130"/>
                <a:gd name="T15" fmla="*/ 118 h 128"/>
                <a:gd name="T16" fmla="*/ 124 w 130"/>
                <a:gd name="T17" fmla="*/ 124 h 128"/>
                <a:gd name="T18" fmla="*/ 118 w 130"/>
                <a:gd name="T19" fmla="*/ 128 h 128"/>
                <a:gd name="T20" fmla="*/ 110 w 130"/>
                <a:gd name="T21" fmla="*/ 128 h 128"/>
                <a:gd name="T22" fmla="*/ 100 w 130"/>
                <a:gd name="T23" fmla="*/ 128 h 128"/>
                <a:gd name="T24" fmla="*/ 88 w 130"/>
                <a:gd name="T25" fmla="*/ 124 h 128"/>
                <a:gd name="T26" fmla="*/ 76 w 130"/>
                <a:gd name="T27" fmla="*/ 118 h 128"/>
                <a:gd name="T28" fmla="*/ 64 w 130"/>
                <a:gd name="T29" fmla="*/ 110 h 128"/>
                <a:gd name="T30" fmla="*/ 50 w 130"/>
                <a:gd name="T31" fmla="*/ 102 h 128"/>
                <a:gd name="T32" fmla="*/ 38 w 130"/>
                <a:gd name="T33" fmla="*/ 90 h 128"/>
                <a:gd name="T34" fmla="*/ 28 w 130"/>
                <a:gd name="T35" fmla="*/ 78 h 128"/>
                <a:gd name="T36" fmla="*/ 18 w 130"/>
                <a:gd name="T37" fmla="*/ 64 h 128"/>
                <a:gd name="T38" fmla="*/ 10 w 130"/>
                <a:gd name="T39" fmla="*/ 52 h 128"/>
                <a:gd name="T40" fmla="*/ 4 w 130"/>
                <a:gd name="T41" fmla="*/ 40 h 128"/>
                <a:gd name="T42" fmla="*/ 0 w 130"/>
                <a:gd name="T43" fmla="*/ 28 h 128"/>
                <a:gd name="T44" fmla="*/ 0 w 130"/>
                <a:gd name="T45" fmla="*/ 20 h 128"/>
                <a:gd name="T46" fmla="*/ 0 w 130"/>
                <a:gd name="T47" fmla="*/ 10 h 128"/>
                <a:gd name="T48" fmla="*/ 4 w 130"/>
                <a:gd name="T49" fmla="*/ 4 h 128"/>
                <a:gd name="T50" fmla="*/ 10 w 130"/>
                <a:gd name="T51" fmla="*/ 0 h 128"/>
                <a:gd name="T52" fmla="*/ 20 w 130"/>
                <a:gd name="T53" fmla="*/ 0 h 128"/>
                <a:gd name="T54" fmla="*/ 30 w 130"/>
                <a:gd name="T55" fmla="*/ 0 h 128"/>
                <a:gd name="T56" fmla="*/ 40 w 130"/>
                <a:gd name="T57" fmla="*/ 4 h 128"/>
                <a:gd name="T58" fmla="*/ 52 w 130"/>
                <a:gd name="T59" fmla="*/ 10 h 128"/>
                <a:gd name="T60" fmla="*/ 64 w 130"/>
                <a:gd name="T61" fmla="*/ 18 h 128"/>
                <a:gd name="T62" fmla="*/ 78 w 130"/>
                <a:gd name="T63" fmla="*/ 26 h 128"/>
                <a:gd name="T64" fmla="*/ 90 w 130"/>
                <a:gd name="T65" fmla="*/ 38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0"/>
                <a:gd name="T100" fmla="*/ 0 h 128"/>
                <a:gd name="T101" fmla="*/ 130 w 13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0" h="128">
                  <a:moveTo>
                    <a:pt x="90" y="38"/>
                  </a:moveTo>
                  <a:lnTo>
                    <a:pt x="102" y="50"/>
                  </a:lnTo>
                  <a:lnTo>
                    <a:pt x="112" y="64"/>
                  </a:lnTo>
                  <a:lnTo>
                    <a:pt x="118" y="76"/>
                  </a:lnTo>
                  <a:lnTo>
                    <a:pt x="124" y="88"/>
                  </a:lnTo>
                  <a:lnTo>
                    <a:pt x="128" y="100"/>
                  </a:lnTo>
                  <a:lnTo>
                    <a:pt x="130" y="108"/>
                  </a:lnTo>
                  <a:lnTo>
                    <a:pt x="128" y="118"/>
                  </a:lnTo>
                  <a:lnTo>
                    <a:pt x="124" y="124"/>
                  </a:lnTo>
                  <a:lnTo>
                    <a:pt x="118" y="128"/>
                  </a:lnTo>
                  <a:lnTo>
                    <a:pt x="110" y="128"/>
                  </a:lnTo>
                  <a:lnTo>
                    <a:pt x="100" y="128"/>
                  </a:lnTo>
                  <a:lnTo>
                    <a:pt x="88" y="124"/>
                  </a:lnTo>
                  <a:lnTo>
                    <a:pt x="76" y="118"/>
                  </a:lnTo>
                  <a:lnTo>
                    <a:pt x="64" y="110"/>
                  </a:lnTo>
                  <a:lnTo>
                    <a:pt x="50" y="102"/>
                  </a:lnTo>
                  <a:lnTo>
                    <a:pt x="38" y="90"/>
                  </a:lnTo>
                  <a:lnTo>
                    <a:pt x="28" y="78"/>
                  </a:lnTo>
                  <a:lnTo>
                    <a:pt x="18" y="64"/>
                  </a:lnTo>
                  <a:lnTo>
                    <a:pt x="10" y="52"/>
                  </a:lnTo>
                  <a:lnTo>
                    <a:pt x="4" y="40"/>
                  </a:lnTo>
                  <a:lnTo>
                    <a:pt x="0" y="28"/>
                  </a:lnTo>
                  <a:lnTo>
                    <a:pt x="0" y="20"/>
                  </a:lnTo>
                  <a:lnTo>
                    <a:pt x="0" y="10"/>
                  </a:lnTo>
                  <a:lnTo>
                    <a:pt x="4" y="4"/>
                  </a:lnTo>
                  <a:lnTo>
                    <a:pt x="10" y="0"/>
                  </a:lnTo>
                  <a:lnTo>
                    <a:pt x="20" y="0"/>
                  </a:lnTo>
                  <a:lnTo>
                    <a:pt x="30" y="0"/>
                  </a:lnTo>
                  <a:lnTo>
                    <a:pt x="40" y="4"/>
                  </a:lnTo>
                  <a:lnTo>
                    <a:pt x="52" y="10"/>
                  </a:lnTo>
                  <a:lnTo>
                    <a:pt x="64" y="18"/>
                  </a:lnTo>
                  <a:lnTo>
                    <a:pt x="78" y="26"/>
                  </a:lnTo>
                  <a:lnTo>
                    <a:pt x="90" y="38"/>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5" name="Freeform 388"/>
            <p:cNvSpPr>
              <a:spLocks/>
            </p:cNvSpPr>
            <p:nvPr/>
          </p:nvSpPr>
          <p:spPr bwMode="auto">
            <a:xfrm>
              <a:off x="2520" y="1168"/>
              <a:ext cx="130" cy="130"/>
            </a:xfrm>
            <a:custGeom>
              <a:avLst/>
              <a:gdLst>
                <a:gd name="T0" fmla="*/ 92 w 130"/>
                <a:gd name="T1" fmla="*/ 90 h 130"/>
                <a:gd name="T2" fmla="*/ 78 w 130"/>
                <a:gd name="T3" fmla="*/ 102 h 130"/>
                <a:gd name="T4" fmla="*/ 66 w 130"/>
                <a:gd name="T5" fmla="*/ 112 h 130"/>
                <a:gd name="T6" fmla="*/ 54 w 130"/>
                <a:gd name="T7" fmla="*/ 120 h 130"/>
                <a:gd name="T8" fmla="*/ 42 w 130"/>
                <a:gd name="T9" fmla="*/ 126 h 130"/>
                <a:gd name="T10" fmla="*/ 30 w 130"/>
                <a:gd name="T11" fmla="*/ 128 h 130"/>
                <a:gd name="T12" fmla="*/ 20 w 130"/>
                <a:gd name="T13" fmla="*/ 130 h 130"/>
                <a:gd name="T14" fmla="*/ 12 w 130"/>
                <a:gd name="T15" fmla="*/ 128 h 130"/>
                <a:gd name="T16" fmla="*/ 6 w 130"/>
                <a:gd name="T17" fmla="*/ 124 h 130"/>
                <a:gd name="T18" fmla="*/ 2 w 130"/>
                <a:gd name="T19" fmla="*/ 118 h 130"/>
                <a:gd name="T20" fmla="*/ 0 w 130"/>
                <a:gd name="T21" fmla="*/ 110 h 130"/>
                <a:gd name="T22" fmla="*/ 2 w 130"/>
                <a:gd name="T23" fmla="*/ 100 h 130"/>
                <a:gd name="T24" fmla="*/ 4 w 130"/>
                <a:gd name="T25" fmla="*/ 90 h 130"/>
                <a:gd name="T26" fmla="*/ 10 w 130"/>
                <a:gd name="T27" fmla="*/ 78 h 130"/>
                <a:gd name="T28" fmla="*/ 18 w 130"/>
                <a:gd name="T29" fmla="*/ 64 h 130"/>
                <a:gd name="T30" fmla="*/ 28 w 130"/>
                <a:gd name="T31" fmla="*/ 52 h 130"/>
                <a:gd name="T32" fmla="*/ 40 w 130"/>
                <a:gd name="T33" fmla="*/ 40 h 130"/>
                <a:gd name="T34" fmla="*/ 52 w 130"/>
                <a:gd name="T35" fmla="*/ 28 h 130"/>
                <a:gd name="T36" fmla="*/ 64 w 130"/>
                <a:gd name="T37" fmla="*/ 18 h 130"/>
                <a:gd name="T38" fmla="*/ 78 w 130"/>
                <a:gd name="T39" fmla="*/ 10 h 130"/>
                <a:gd name="T40" fmla="*/ 90 w 130"/>
                <a:gd name="T41" fmla="*/ 4 h 130"/>
                <a:gd name="T42" fmla="*/ 100 w 130"/>
                <a:gd name="T43" fmla="*/ 2 h 130"/>
                <a:gd name="T44" fmla="*/ 110 w 130"/>
                <a:gd name="T45" fmla="*/ 0 h 130"/>
                <a:gd name="T46" fmla="*/ 118 w 130"/>
                <a:gd name="T47" fmla="*/ 2 h 130"/>
                <a:gd name="T48" fmla="*/ 124 w 130"/>
                <a:gd name="T49" fmla="*/ 6 h 130"/>
                <a:gd name="T50" fmla="*/ 128 w 130"/>
                <a:gd name="T51" fmla="*/ 12 h 130"/>
                <a:gd name="T52" fmla="*/ 130 w 130"/>
                <a:gd name="T53" fmla="*/ 20 h 130"/>
                <a:gd name="T54" fmla="*/ 130 w 130"/>
                <a:gd name="T55" fmla="*/ 30 h 130"/>
                <a:gd name="T56" fmla="*/ 126 w 130"/>
                <a:gd name="T57" fmla="*/ 42 h 130"/>
                <a:gd name="T58" fmla="*/ 120 w 130"/>
                <a:gd name="T59" fmla="*/ 54 h 130"/>
                <a:gd name="T60" fmla="*/ 112 w 130"/>
                <a:gd name="T61" fmla="*/ 66 h 130"/>
                <a:gd name="T62" fmla="*/ 102 w 130"/>
                <a:gd name="T63" fmla="*/ 78 h 130"/>
                <a:gd name="T64" fmla="*/ 92 w 130"/>
                <a:gd name="T65" fmla="*/ 9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0"/>
                <a:gd name="T100" fmla="*/ 0 h 130"/>
                <a:gd name="T101" fmla="*/ 130 w 130"/>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0" h="130">
                  <a:moveTo>
                    <a:pt x="92" y="90"/>
                  </a:moveTo>
                  <a:lnTo>
                    <a:pt x="78" y="102"/>
                  </a:lnTo>
                  <a:lnTo>
                    <a:pt x="66" y="112"/>
                  </a:lnTo>
                  <a:lnTo>
                    <a:pt x="54" y="120"/>
                  </a:lnTo>
                  <a:lnTo>
                    <a:pt x="42" y="126"/>
                  </a:lnTo>
                  <a:lnTo>
                    <a:pt x="30" y="128"/>
                  </a:lnTo>
                  <a:lnTo>
                    <a:pt x="20" y="130"/>
                  </a:lnTo>
                  <a:lnTo>
                    <a:pt x="12" y="128"/>
                  </a:lnTo>
                  <a:lnTo>
                    <a:pt x="6" y="124"/>
                  </a:lnTo>
                  <a:lnTo>
                    <a:pt x="2" y="118"/>
                  </a:lnTo>
                  <a:lnTo>
                    <a:pt x="0" y="110"/>
                  </a:lnTo>
                  <a:lnTo>
                    <a:pt x="2" y="100"/>
                  </a:lnTo>
                  <a:lnTo>
                    <a:pt x="4" y="90"/>
                  </a:lnTo>
                  <a:lnTo>
                    <a:pt x="10" y="78"/>
                  </a:lnTo>
                  <a:lnTo>
                    <a:pt x="18" y="64"/>
                  </a:lnTo>
                  <a:lnTo>
                    <a:pt x="28" y="52"/>
                  </a:lnTo>
                  <a:lnTo>
                    <a:pt x="40" y="40"/>
                  </a:lnTo>
                  <a:lnTo>
                    <a:pt x="52" y="28"/>
                  </a:lnTo>
                  <a:lnTo>
                    <a:pt x="64" y="18"/>
                  </a:lnTo>
                  <a:lnTo>
                    <a:pt x="78" y="10"/>
                  </a:lnTo>
                  <a:lnTo>
                    <a:pt x="90" y="4"/>
                  </a:lnTo>
                  <a:lnTo>
                    <a:pt x="100" y="2"/>
                  </a:lnTo>
                  <a:lnTo>
                    <a:pt x="110" y="0"/>
                  </a:lnTo>
                  <a:lnTo>
                    <a:pt x="118" y="2"/>
                  </a:lnTo>
                  <a:lnTo>
                    <a:pt x="124" y="6"/>
                  </a:lnTo>
                  <a:lnTo>
                    <a:pt x="128" y="12"/>
                  </a:lnTo>
                  <a:lnTo>
                    <a:pt x="130" y="20"/>
                  </a:lnTo>
                  <a:lnTo>
                    <a:pt x="130" y="30"/>
                  </a:lnTo>
                  <a:lnTo>
                    <a:pt x="126" y="42"/>
                  </a:lnTo>
                  <a:lnTo>
                    <a:pt x="120" y="54"/>
                  </a:lnTo>
                  <a:lnTo>
                    <a:pt x="112" y="66"/>
                  </a:lnTo>
                  <a:lnTo>
                    <a:pt x="102" y="78"/>
                  </a:lnTo>
                  <a:lnTo>
                    <a:pt x="92" y="9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6" name="Oval 389"/>
            <p:cNvSpPr>
              <a:spLocks noChangeArrowheads="1"/>
            </p:cNvSpPr>
            <p:nvPr/>
          </p:nvSpPr>
          <p:spPr bwMode="auto">
            <a:xfrm>
              <a:off x="2726" y="1286"/>
              <a:ext cx="180" cy="18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7" name="Freeform 390"/>
            <p:cNvSpPr>
              <a:spLocks/>
            </p:cNvSpPr>
            <p:nvPr/>
          </p:nvSpPr>
          <p:spPr bwMode="auto">
            <a:xfrm>
              <a:off x="2896" y="1374"/>
              <a:ext cx="8" cy="18"/>
            </a:xfrm>
            <a:custGeom>
              <a:avLst/>
              <a:gdLst>
                <a:gd name="T0" fmla="*/ 8 w 8"/>
                <a:gd name="T1" fmla="*/ 0 h 18"/>
                <a:gd name="T2" fmla="*/ 6 w 8"/>
                <a:gd name="T3" fmla="*/ 18 h 18"/>
                <a:gd name="T4" fmla="*/ 0 w 8"/>
                <a:gd name="T5" fmla="*/ 18 h 18"/>
                <a:gd name="T6" fmla="*/ 2 w 8"/>
                <a:gd name="T7" fmla="*/ 0 h 18"/>
                <a:gd name="T8" fmla="*/ 8 w 8"/>
                <a:gd name="T9" fmla="*/ 0 h 18"/>
                <a:gd name="T10" fmla="*/ 0 60000 65536"/>
                <a:gd name="T11" fmla="*/ 0 60000 65536"/>
                <a:gd name="T12" fmla="*/ 0 60000 65536"/>
                <a:gd name="T13" fmla="*/ 0 60000 65536"/>
                <a:gd name="T14" fmla="*/ 0 60000 65536"/>
                <a:gd name="T15" fmla="*/ 0 w 8"/>
                <a:gd name="T16" fmla="*/ 0 h 18"/>
                <a:gd name="T17" fmla="*/ 8 w 8"/>
                <a:gd name="T18" fmla="*/ 18 h 18"/>
              </a:gdLst>
              <a:ahLst/>
              <a:cxnLst>
                <a:cxn ang="T10">
                  <a:pos x="T0" y="T1"/>
                </a:cxn>
                <a:cxn ang="T11">
                  <a:pos x="T2" y="T3"/>
                </a:cxn>
                <a:cxn ang="T12">
                  <a:pos x="T4" y="T5"/>
                </a:cxn>
                <a:cxn ang="T13">
                  <a:pos x="T6" y="T7"/>
                </a:cxn>
                <a:cxn ang="T14">
                  <a:pos x="T8" y="T9"/>
                </a:cxn>
              </a:cxnLst>
              <a:rect l="T15" t="T16" r="T17" b="T18"/>
              <a:pathLst>
                <a:path w="8" h="18">
                  <a:moveTo>
                    <a:pt x="8" y="0"/>
                  </a:moveTo>
                  <a:lnTo>
                    <a:pt x="6" y="18"/>
                  </a:lnTo>
                  <a:lnTo>
                    <a:pt x="0" y="18"/>
                  </a:lnTo>
                  <a:lnTo>
                    <a:pt x="2"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8" name="Freeform 391"/>
            <p:cNvSpPr>
              <a:spLocks/>
            </p:cNvSpPr>
            <p:nvPr/>
          </p:nvSpPr>
          <p:spPr bwMode="auto">
            <a:xfrm>
              <a:off x="2884" y="1406"/>
              <a:ext cx="14" cy="18"/>
            </a:xfrm>
            <a:custGeom>
              <a:avLst/>
              <a:gdLst>
                <a:gd name="T0" fmla="*/ 14 w 14"/>
                <a:gd name="T1" fmla="*/ 4 h 18"/>
                <a:gd name="T2" fmla="*/ 6 w 14"/>
                <a:gd name="T3" fmla="*/ 18 h 18"/>
                <a:gd name="T4" fmla="*/ 0 w 14"/>
                <a:gd name="T5" fmla="*/ 16 h 18"/>
                <a:gd name="T6" fmla="*/ 8 w 14"/>
                <a:gd name="T7" fmla="*/ 0 h 18"/>
                <a:gd name="T8" fmla="*/ 14 w 14"/>
                <a:gd name="T9" fmla="*/ 4 h 18"/>
                <a:gd name="T10" fmla="*/ 0 60000 65536"/>
                <a:gd name="T11" fmla="*/ 0 60000 65536"/>
                <a:gd name="T12" fmla="*/ 0 60000 65536"/>
                <a:gd name="T13" fmla="*/ 0 60000 65536"/>
                <a:gd name="T14" fmla="*/ 0 60000 65536"/>
                <a:gd name="T15" fmla="*/ 0 w 14"/>
                <a:gd name="T16" fmla="*/ 0 h 18"/>
                <a:gd name="T17" fmla="*/ 14 w 14"/>
                <a:gd name="T18" fmla="*/ 18 h 18"/>
              </a:gdLst>
              <a:ahLst/>
              <a:cxnLst>
                <a:cxn ang="T10">
                  <a:pos x="T0" y="T1"/>
                </a:cxn>
                <a:cxn ang="T11">
                  <a:pos x="T2" y="T3"/>
                </a:cxn>
                <a:cxn ang="T12">
                  <a:pos x="T4" y="T5"/>
                </a:cxn>
                <a:cxn ang="T13">
                  <a:pos x="T6" y="T7"/>
                </a:cxn>
                <a:cxn ang="T14">
                  <a:pos x="T8" y="T9"/>
                </a:cxn>
              </a:cxnLst>
              <a:rect l="T15" t="T16" r="T17" b="T18"/>
              <a:pathLst>
                <a:path w="14" h="18">
                  <a:moveTo>
                    <a:pt x="14" y="4"/>
                  </a:moveTo>
                  <a:lnTo>
                    <a:pt x="6" y="18"/>
                  </a:lnTo>
                  <a:lnTo>
                    <a:pt x="0" y="16"/>
                  </a:lnTo>
                  <a:lnTo>
                    <a:pt x="8" y="0"/>
                  </a:lnTo>
                  <a:lnTo>
                    <a:pt x="1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19" name="Freeform 392"/>
            <p:cNvSpPr>
              <a:spLocks/>
            </p:cNvSpPr>
            <p:nvPr/>
          </p:nvSpPr>
          <p:spPr bwMode="auto">
            <a:xfrm>
              <a:off x="2884" y="1420"/>
              <a:ext cx="4" cy="6"/>
            </a:xfrm>
            <a:custGeom>
              <a:avLst/>
              <a:gdLst>
                <a:gd name="T0" fmla="*/ 4 w 4"/>
                <a:gd name="T1" fmla="*/ 4 h 6"/>
                <a:gd name="T2" fmla="*/ 4 w 4"/>
                <a:gd name="T3" fmla="*/ 6 h 6"/>
                <a:gd name="T4" fmla="*/ 0 w 4"/>
                <a:gd name="T5" fmla="*/ 2 h 6"/>
                <a:gd name="T6" fmla="*/ 0 w 4"/>
                <a:gd name="T7" fmla="*/ 0 h 6"/>
                <a:gd name="T8" fmla="*/ 4 w 4"/>
                <a:gd name="T9" fmla="*/ 4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4"/>
                  </a:moveTo>
                  <a:lnTo>
                    <a:pt x="4" y="6"/>
                  </a:lnTo>
                  <a:lnTo>
                    <a:pt x="0" y="2"/>
                  </a:lnTo>
                  <a:lnTo>
                    <a:pt x="0"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0" name="Freeform 393"/>
            <p:cNvSpPr>
              <a:spLocks/>
            </p:cNvSpPr>
            <p:nvPr/>
          </p:nvSpPr>
          <p:spPr bwMode="auto">
            <a:xfrm>
              <a:off x="2884" y="1420"/>
              <a:ext cx="6" cy="4"/>
            </a:xfrm>
            <a:custGeom>
              <a:avLst/>
              <a:gdLst>
                <a:gd name="T0" fmla="*/ 4 w 6"/>
                <a:gd name="T1" fmla="*/ 4 h 4"/>
                <a:gd name="T2" fmla="*/ 6 w 6"/>
                <a:gd name="T3" fmla="*/ 4 h 4"/>
                <a:gd name="T4" fmla="*/ 0 w 6"/>
                <a:gd name="T5" fmla="*/ 2 h 4"/>
                <a:gd name="T6" fmla="*/ 0 w 6"/>
                <a:gd name="T7" fmla="*/ 0 h 4"/>
                <a:gd name="T8" fmla="*/ 4 w 6"/>
                <a:gd name="T9" fmla="*/ 4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4" y="4"/>
                  </a:moveTo>
                  <a:lnTo>
                    <a:pt x="6" y="4"/>
                  </a:lnTo>
                  <a:lnTo>
                    <a:pt x="0" y="2"/>
                  </a:lnTo>
                  <a:lnTo>
                    <a:pt x="0"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1" name="Freeform 394"/>
            <p:cNvSpPr>
              <a:spLocks/>
            </p:cNvSpPr>
            <p:nvPr/>
          </p:nvSpPr>
          <p:spPr bwMode="auto">
            <a:xfrm>
              <a:off x="2862" y="1434"/>
              <a:ext cx="14" cy="14"/>
            </a:xfrm>
            <a:custGeom>
              <a:avLst/>
              <a:gdLst>
                <a:gd name="T0" fmla="*/ 14 w 14"/>
                <a:gd name="T1" fmla="*/ 4 h 14"/>
                <a:gd name="T2" fmla="*/ 4 w 14"/>
                <a:gd name="T3" fmla="*/ 14 h 14"/>
                <a:gd name="T4" fmla="*/ 0 w 14"/>
                <a:gd name="T5" fmla="*/ 10 h 14"/>
                <a:gd name="T6" fmla="*/ 10 w 14"/>
                <a:gd name="T7" fmla="*/ 0 h 14"/>
                <a:gd name="T8" fmla="*/ 14 w 14"/>
                <a:gd name="T9" fmla="*/ 4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4"/>
                  </a:moveTo>
                  <a:lnTo>
                    <a:pt x="4" y="14"/>
                  </a:lnTo>
                  <a:lnTo>
                    <a:pt x="0" y="10"/>
                  </a:lnTo>
                  <a:lnTo>
                    <a:pt x="10" y="0"/>
                  </a:lnTo>
                  <a:lnTo>
                    <a:pt x="1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2" name="Freeform 395"/>
            <p:cNvSpPr>
              <a:spLocks/>
            </p:cNvSpPr>
            <p:nvPr/>
          </p:nvSpPr>
          <p:spPr bwMode="auto">
            <a:xfrm>
              <a:off x="2860" y="1444"/>
              <a:ext cx="4" cy="6"/>
            </a:xfrm>
            <a:custGeom>
              <a:avLst/>
              <a:gdLst>
                <a:gd name="T0" fmla="*/ 4 w 4"/>
                <a:gd name="T1" fmla="*/ 4 h 6"/>
                <a:gd name="T2" fmla="*/ 2 w 4"/>
                <a:gd name="T3" fmla="*/ 6 h 6"/>
                <a:gd name="T4" fmla="*/ 0 w 4"/>
                <a:gd name="T5" fmla="*/ 0 h 6"/>
                <a:gd name="T6" fmla="*/ 2 w 4"/>
                <a:gd name="T7" fmla="*/ 0 h 6"/>
                <a:gd name="T8" fmla="*/ 4 w 4"/>
                <a:gd name="T9" fmla="*/ 4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4"/>
                  </a:moveTo>
                  <a:lnTo>
                    <a:pt x="2" y="6"/>
                  </a:lnTo>
                  <a:lnTo>
                    <a:pt x="0" y="0"/>
                  </a:lnTo>
                  <a:lnTo>
                    <a:pt x="2" y="0"/>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3" name="Freeform 396"/>
            <p:cNvSpPr>
              <a:spLocks/>
            </p:cNvSpPr>
            <p:nvPr/>
          </p:nvSpPr>
          <p:spPr bwMode="auto">
            <a:xfrm>
              <a:off x="2832" y="1452"/>
              <a:ext cx="14" cy="10"/>
            </a:xfrm>
            <a:custGeom>
              <a:avLst/>
              <a:gdLst>
                <a:gd name="T0" fmla="*/ 14 w 14"/>
                <a:gd name="T1" fmla="*/ 6 h 10"/>
                <a:gd name="T2" fmla="*/ 2 w 14"/>
                <a:gd name="T3" fmla="*/ 10 h 10"/>
                <a:gd name="T4" fmla="*/ 0 w 14"/>
                <a:gd name="T5" fmla="*/ 4 h 10"/>
                <a:gd name="T6" fmla="*/ 12 w 14"/>
                <a:gd name="T7" fmla="*/ 0 h 10"/>
                <a:gd name="T8" fmla="*/ 14 w 14"/>
                <a:gd name="T9" fmla="*/ 6 h 10"/>
                <a:gd name="T10" fmla="*/ 0 60000 65536"/>
                <a:gd name="T11" fmla="*/ 0 60000 65536"/>
                <a:gd name="T12" fmla="*/ 0 60000 65536"/>
                <a:gd name="T13" fmla="*/ 0 60000 65536"/>
                <a:gd name="T14" fmla="*/ 0 60000 65536"/>
                <a:gd name="T15" fmla="*/ 0 w 14"/>
                <a:gd name="T16" fmla="*/ 0 h 10"/>
                <a:gd name="T17" fmla="*/ 14 w 14"/>
                <a:gd name="T18" fmla="*/ 10 h 10"/>
              </a:gdLst>
              <a:ahLst/>
              <a:cxnLst>
                <a:cxn ang="T10">
                  <a:pos x="T0" y="T1"/>
                </a:cxn>
                <a:cxn ang="T11">
                  <a:pos x="T2" y="T3"/>
                </a:cxn>
                <a:cxn ang="T12">
                  <a:pos x="T4" y="T5"/>
                </a:cxn>
                <a:cxn ang="T13">
                  <a:pos x="T6" y="T7"/>
                </a:cxn>
                <a:cxn ang="T14">
                  <a:pos x="T8" y="T9"/>
                </a:cxn>
              </a:cxnLst>
              <a:rect l="T15" t="T16" r="T17" b="T18"/>
              <a:pathLst>
                <a:path w="14" h="10">
                  <a:moveTo>
                    <a:pt x="14" y="6"/>
                  </a:moveTo>
                  <a:lnTo>
                    <a:pt x="2" y="10"/>
                  </a:lnTo>
                  <a:lnTo>
                    <a:pt x="0" y="4"/>
                  </a:lnTo>
                  <a:lnTo>
                    <a:pt x="12" y="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4" name="Freeform 397"/>
            <p:cNvSpPr>
              <a:spLocks/>
            </p:cNvSpPr>
            <p:nvPr/>
          </p:nvSpPr>
          <p:spPr bwMode="auto">
            <a:xfrm>
              <a:off x="2828" y="1456"/>
              <a:ext cx="4" cy="6"/>
            </a:xfrm>
            <a:custGeom>
              <a:avLst/>
              <a:gdLst>
                <a:gd name="T0" fmla="*/ 4 w 4"/>
                <a:gd name="T1" fmla="*/ 6 h 6"/>
                <a:gd name="T2" fmla="*/ 2 w 4"/>
                <a:gd name="T3" fmla="*/ 6 h 6"/>
                <a:gd name="T4" fmla="*/ 0 w 4"/>
                <a:gd name="T5" fmla="*/ 0 h 6"/>
                <a:gd name="T6" fmla="*/ 4 w 4"/>
                <a:gd name="T7" fmla="*/ 0 h 6"/>
                <a:gd name="T8" fmla="*/ 4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6"/>
                  </a:moveTo>
                  <a:lnTo>
                    <a:pt x="2" y="6"/>
                  </a:lnTo>
                  <a:lnTo>
                    <a:pt x="0" y="0"/>
                  </a:lnTo>
                  <a:lnTo>
                    <a:pt x="4" y="0"/>
                  </a:lnTo>
                  <a:lnTo>
                    <a:pt x="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5" name="Freeform 398"/>
            <p:cNvSpPr>
              <a:spLocks/>
            </p:cNvSpPr>
            <p:nvPr/>
          </p:nvSpPr>
          <p:spPr bwMode="auto">
            <a:xfrm>
              <a:off x="2832" y="1456"/>
              <a:ext cx="2" cy="6"/>
            </a:xfrm>
            <a:custGeom>
              <a:avLst/>
              <a:gdLst>
                <a:gd name="T0" fmla="*/ 0 w 2"/>
                <a:gd name="T1" fmla="*/ 6 h 6"/>
                <a:gd name="T2" fmla="*/ 2 w 2"/>
                <a:gd name="T3" fmla="*/ 6 h 6"/>
                <a:gd name="T4" fmla="*/ 0 w 2"/>
                <a:gd name="T5" fmla="*/ 0 h 6"/>
                <a:gd name="T6" fmla="*/ 0 w 2"/>
                <a:gd name="T7" fmla="*/ 0 h 6"/>
                <a:gd name="T8" fmla="*/ 0 w 2"/>
                <a:gd name="T9" fmla="*/ 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6"/>
                  </a:moveTo>
                  <a:lnTo>
                    <a:pt x="2" y="6"/>
                  </a:lnTo>
                  <a:lnTo>
                    <a:pt x="0"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6" name="Freeform 399"/>
            <p:cNvSpPr>
              <a:spLocks/>
            </p:cNvSpPr>
            <p:nvPr/>
          </p:nvSpPr>
          <p:spPr bwMode="auto">
            <a:xfrm>
              <a:off x="2796" y="1456"/>
              <a:ext cx="16" cy="8"/>
            </a:xfrm>
            <a:custGeom>
              <a:avLst/>
              <a:gdLst>
                <a:gd name="T0" fmla="*/ 16 w 16"/>
                <a:gd name="T1" fmla="*/ 8 h 8"/>
                <a:gd name="T2" fmla="*/ 0 w 16"/>
                <a:gd name="T3" fmla="*/ 6 h 8"/>
                <a:gd name="T4" fmla="*/ 2 w 16"/>
                <a:gd name="T5" fmla="*/ 0 h 8"/>
                <a:gd name="T6" fmla="*/ 16 w 16"/>
                <a:gd name="T7" fmla="*/ 2 h 8"/>
                <a:gd name="T8" fmla="*/ 16 w 16"/>
                <a:gd name="T9" fmla="*/ 8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16" y="8"/>
                  </a:moveTo>
                  <a:lnTo>
                    <a:pt x="0" y="6"/>
                  </a:lnTo>
                  <a:lnTo>
                    <a:pt x="2" y="0"/>
                  </a:lnTo>
                  <a:lnTo>
                    <a:pt x="16" y="2"/>
                  </a:lnTo>
                  <a:lnTo>
                    <a:pt x="1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7" name="Freeform 400"/>
            <p:cNvSpPr>
              <a:spLocks/>
            </p:cNvSpPr>
            <p:nvPr/>
          </p:nvSpPr>
          <p:spPr bwMode="auto">
            <a:xfrm>
              <a:off x="2794" y="1456"/>
              <a:ext cx="4" cy="6"/>
            </a:xfrm>
            <a:custGeom>
              <a:avLst/>
              <a:gdLst>
                <a:gd name="T0" fmla="*/ 2 w 4"/>
                <a:gd name="T1" fmla="*/ 6 h 6"/>
                <a:gd name="T2" fmla="*/ 0 w 4"/>
                <a:gd name="T3" fmla="*/ 6 h 6"/>
                <a:gd name="T4" fmla="*/ 2 w 4"/>
                <a:gd name="T5" fmla="*/ 0 h 6"/>
                <a:gd name="T6" fmla="*/ 4 w 4"/>
                <a:gd name="T7" fmla="*/ 0 h 6"/>
                <a:gd name="T8" fmla="*/ 2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2" y="6"/>
                  </a:moveTo>
                  <a:lnTo>
                    <a:pt x="0" y="6"/>
                  </a:lnTo>
                  <a:lnTo>
                    <a:pt x="2" y="0"/>
                  </a:lnTo>
                  <a:lnTo>
                    <a:pt x="4" y="0"/>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8" name="Freeform 401"/>
            <p:cNvSpPr>
              <a:spLocks/>
            </p:cNvSpPr>
            <p:nvPr/>
          </p:nvSpPr>
          <p:spPr bwMode="auto">
            <a:xfrm>
              <a:off x="2796" y="1456"/>
              <a:ext cx="2" cy="6"/>
            </a:xfrm>
            <a:custGeom>
              <a:avLst/>
              <a:gdLst>
                <a:gd name="T0" fmla="*/ 0 w 2"/>
                <a:gd name="T1" fmla="*/ 6 h 6"/>
                <a:gd name="T2" fmla="*/ 0 w 2"/>
                <a:gd name="T3" fmla="*/ 6 h 6"/>
                <a:gd name="T4" fmla="*/ 2 w 2"/>
                <a:gd name="T5" fmla="*/ 0 h 6"/>
                <a:gd name="T6" fmla="*/ 2 w 2"/>
                <a:gd name="T7" fmla="*/ 0 h 6"/>
                <a:gd name="T8" fmla="*/ 0 w 2"/>
                <a:gd name="T9" fmla="*/ 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6"/>
                  </a:moveTo>
                  <a:lnTo>
                    <a:pt x="0" y="6"/>
                  </a:lnTo>
                  <a:lnTo>
                    <a:pt x="2"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29" name="Freeform 402"/>
            <p:cNvSpPr>
              <a:spLocks/>
            </p:cNvSpPr>
            <p:nvPr/>
          </p:nvSpPr>
          <p:spPr bwMode="auto">
            <a:xfrm>
              <a:off x="2764" y="1444"/>
              <a:ext cx="16" cy="12"/>
            </a:xfrm>
            <a:custGeom>
              <a:avLst/>
              <a:gdLst>
                <a:gd name="T0" fmla="*/ 14 w 16"/>
                <a:gd name="T1" fmla="*/ 12 h 12"/>
                <a:gd name="T2" fmla="*/ 0 w 16"/>
                <a:gd name="T3" fmla="*/ 4 h 12"/>
                <a:gd name="T4" fmla="*/ 4 w 16"/>
                <a:gd name="T5" fmla="*/ 0 h 12"/>
                <a:gd name="T6" fmla="*/ 16 w 16"/>
                <a:gd name="T7" fmla="*/ 6 h 12"/>
                <a:gd name="T8" fmla="*/ 14 w 16"/>
                <a:gd name="T9" fmla="*/ 12 h 12"/>
                <a:gd name="T10" fmla="*/ 0 60000 65536"/>
                <a:gd name="T11" fmla="*/ 0 60000 65536"/>
                <a:gd name="T12" fmla="*/ 0 60000 65536"/>
                <a:gd name="T13" fmla="*/ 0 60000 65536"/>
                <a:gd name="T14" fmla="*/ 0 60000 65536"/>
                <a:gd name="T15" fmla="*/ 0 w 16"/>
                <a:gd name="T16" fmla="*/ 0 h 12"/>
                <a:gd name="T17" fmla="*/ 16 w 16"/>
                <a:gd name="T18" fmla="*/ 12 h 12"/>
              </a:gdLst>
              <a:ahLst/>
              <a:cxnLst>
                <a:cxn ang="T10">
                  <a:pos x="T0" y="T1"/>
                </a:cxn>
                <a:cxn ang="T11">
                  <a:pos x="T2" y="T3"/>
                </a:cxn>
                <a:cxn ang="T12">
                  <a:pos x="T4" y="T5"/>
                </a:cxn>
                <a:cxn ang="T13">
                  <a:pos x="T6" y="T7"/>
                </a:cxn>
                <a:cxn ang="T14">
                  <a:pos x="T8" y="T9"/>
                </a:cxn>
              </a:cxnLst>
              <a:rect l="T15" t="T16" r="T17" b="T18"/>
              <a:pathLst>
                <a:path w="16" h="12">
                  <a:moveTo>
                    <a:pt x="14" y="12"/>
                  </a:moveTo>
                  <a:lnTo>
                    <a:pt x="0" y="4"/>
                  </a:lnTo>
                  <a:lnTo>
                    <a:pt x="4" y="0"/>
                  </a:lnTo>
                  <a:lnTo>
                    <a:pt x="16" y="6"/>
                  </a:lnTo>
                  <a:lnTo>
                    <a:pt x="1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0" name="Freeform 403"/>
            <p:cNvSpPr>
              <a:spLocks/>
            </p:cNvSpPr>
            <p:nvPr/>
          </p:nvSpPr>
          <p:spPr bwMode="auto">
            <a:xfrm>
              <a:off x="2762" y="1442"/>
              <a:ext cx="6" cy="6"/>
            </a:xfrm>
            <a:custGeom>
              <a:avLst/>
              <a:gdLst>
                <a:gd name="T0" fmla="*/ 2 w 6"/>
                <a:gd name="T1" fmla="*/ 6 h 6"/>
                <a:gd name="T2" fmla="*/ 0 w 6"/>
                <a:gd name="T3" fmla="*/ 4 h 6"/>
                <a:gd name="T4" fmla="*/ 4 w 6"/>
                <a:gd name="T5" fmla="*/ 0 h 6"/>
                <a:gd name="T6" fmla="*/ 6 w 6"/>
                <a:gd name="T7" fmla="*/ 2 h 6"/>
                <a:gd name="T8" fmla="*/ 2 w 6"/>
                <a:gd name="T9" fmla="*/ 6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2" y="6"/>
                  </a:moveTo>
                  <a:lnTo>
                    <a:pt x="0" y="4"/>
                  </a:lnTo>
                  <a:lnTo>
                    <a:pt x="4" y="0"/>
                  </a:lnTo>
                  <a:lnTo>
                    <a:pt x="6" y="2"/>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1" name="Freeform 404"/>
            <p:cNvSpPr>
              <a:spLocks/>
            </p:cNvSpPr>
            <p:nvPr/>
          </p:nvSpPr>
          <p:spPr bwMode="auto">
            <a:xfrm>
              <a:off x="2740" y="1420"/>
              <a:ext cx="14" cy="14"/>
            </a:xfrm>
            <a:custGeom>
              <a:avLst/>
              <a:gdLst>
                <a:gd name="T0" fmla="*/ 8 w 14"/>
                <a:gd name="T1" fmla="*/ 14 h 14"/>
                <a:gd name="T2" fmla="*/ 0 w 14"/>
                <a:gd name="T3" fmla="*/ 4 h 14"/>
                <a:gd name="T4" fmla="*/ 6 w 14"/>
                <a:gd name="T5" fmla="*/ 0 h 14"/>
                <a:gd name="T6" fmla="*/ 14 w 14"/>
                <a:gd name="T7" fmla="*/ 10 h 14"/>
                <a:gd name="T8" fmla="*/ 8 w 14"/>
                <a:gd name="T9" fmla="*/ 14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8" y="14"/>
                  </a:moveTo>
                  <a:lnTo>
                    <a:pt x="0" y="4"/>
                  </a:lnTo>
                  <a:lnTo>
                    <a:pt x="6" y="0"/>
                  </a:lnTo>
                  <a:lnTo>
                    <a:pt x="14" y="10"/>
                  </a:lnTo>
                  <a:lnTo>
                    <a:pt x="8"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2" name="Freeform 405"/>
            <p:cNvSpPr>
              <a:spLocks/>
            </p:cNvSpPr>
            <p:nvPr/>
          </p:nvSpPr>
          <p:spPr bwMode="auto">
            <a:xfrm>
              <a:off x="2738" y="1418"/>
              <a:ext cx="8" cy="6"/>
            </a:xfrm>
            <a:custGeom>
              <a:avLst/>
              <a:gdLst>
                <a:gd name="T0" fmla="*/ 2 w 8"/>
                <a:gd name="T1" fmla="*/ 6 h 6"/>
                <a:gd name="T2" fmla="*/ 0 w 8"/>
                <a:gd name="T3" fmla="*/ 2 h 6"/>
                <a:gd name="T4" fmla="*/ 6 w 8"/>
                <a:gd name="T5" fmla="*/ 0 h 6"/>
                <a:gd name="T6" fmla="*/ 8 w 8"/>
                <a:gd name="T7" fmla="*/ 4 h 6"/>
                <a:gd name="T8" fmla="*/ 2 w 8"/>
                <a:gd name="T9" fmla="*/ 6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2" y="6"/>
                  </a:moveTo>
                  <a:lnTo>
                    <a:pt x="0" y="2"/>
                  </a:lnTo>
                  <a:lnTo>
                    <a:pt x="6" y="0"/>
                  </a:lnTo>
                  <a:lnTo>
                    <a:pt x="8" y="4"/>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3" name="Freeform 406"/>
            <p:cNvSpPr>
              <a:spLocks/>
            </p:cNvSpPr>
            <p:nvPr/>
          </p:nvSpPr>
          <p:spPr bwMode="auto">
            <a:xfrm>
              <a:off x="2740" y="1420"/>
              <a:ext cx="6" cy="4"/>
            </a:xfrm>
            <a:custGeom>
              <a:avLst/>
              <a:gdLst>
                <a:gd name="T0" fmla="*/ 0 w 6"/>
                <a:gd name="T1" fmla="*/ 4 h 4"/>
                <a:gd name="T2" fmla="*/ 0 w 6"/>
                <a:gd name="T3" fmla="*/ 4 h 4"/>
                <a:gd name="T4" fmla="*/ 6 w 6"/>
                <a:gd name="T5" fmla="*/ 0 h 4"/>
                <a:gd name="T6" fmla="*/ 6 w 6"/>
                <a:gd name="T7" fmla="*/ 2 h 4"/>
                <a:gd name="T8" fmla="*/ 0 w 6"/>
                <a:gd name="T9" fmla="*/ 4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4"/>
                  </a:moveTo>
                  <a:lnTo>
                    <a:pt x="0" y="4"/>
                  </a:lnTo>
                  <a:lnTo>
                    <a:pt x="6" y="0"/>
                  </a:lnTo>
                  <a:lnTo>
                    <a:pt x="6"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4" name="Freeform 407"/>
            <p:cNvSpPr>
              <a:spLocks/>
            </p:cNvSpPr>
            <p:nvPr/>
          </p:nvSpPr>
          <p:spPr bwMode="auto">
            <a:xfrm>
              <a:off x="2726" y="1390"/>
              <a:ext cx="10" cy="14"/>
            </a:xfrm>
            <a:custGeom>
              <a:avLst/>
              <a:gdLst>
                <a:gd name="T0" fmla="*/ 4 w 10"/>
                <a:gd name="T1" fmla="*/ 14 h 14"/>
                <a:gd name="T2" fmla="*/ 0 w 10"/>
                <a:gd name="T3" fmla="*/ 2 h 14"/>
                <a:gd name="T4" fmla="*/ 6 w 10"/>
                <a:gd name="T5" fmla="*/ 0 h 14"/>
                <a:gd name="T6" fmla="*/ 10 w 10"/>
                <a:gd name="T7" fmla="*/ 12 h 14"/>
                <a:gd name="T8" fmla="*/ 4 w 10"/>
                <a:gd name="T9" fmla="*/ 14 h 14"/>
                <a:gd name="T10" fmla="*/ 0 60000 65536"/>
                <a:gd name="T11" fmla="*/ 0 60000 65536"/>
                <a:gd name="T12" fmla="*/ 0 60000 65536"/>
                <a:gd name="T13" fmla="*/ 0 60000 65536"/>
                <a:gd name="T14" fmla="*/ 0 60000 65536"/>
                <a:gd name="T15" fmla="*/ 0 w 10"/>
                <a:gd name="T16" fmla="*/ 0 h 14"/>
                <a:gd name="T17" fmla="*/ 10 w 10"/>
                <a:gd name="T18" fmla="*/ 14 h 14"/>
              </a:gdLst>
              <a:ahLst/>
              <a:cxnLst>
                <a:cxn ang="T10">
                  <a:pos x="T0" y="T1"/>
                </a:cxn>
                <a:cxn ang="T11">
                  <a:pos x="T2" y="T3"/>
                </a:cxn>
                <a:cxn ang="T12">
                  <a:pos x="T4" y="T5"/>
                </a:cxn>
                <a:cxn ang="T13">
                  <a:pos x="T6" y="T7"/>
                </a:cxn>
                <a:cxn ang="T14">
                  <a:pos x="T8" y="T9"/>
                </a:cxn>
              </a:cxnLst>
              <a:rect l="T15" t="T16" r="T17" b="T18"/>
              <a:pathLst>
                <a:path w="10" h="14">
                  <a:moveTo>
                    <a:pt x="4" y="14"/>
                  </a:moveTo>
                  <a:lnTo>
                    <a:pt x="0" y="2"/>
                  </a:lnTo>
                  <a:lnTo>
                    <a:pt x="6" y="0"/>
                  </a:lnTo>
                  <a:lnTo>
                    <a:pt x="10" y="12"/>
                  </a:lnTo>
                  <a:lnTo>
                    <a:pt x="4"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5" name="Rectangle 408"/>
            <p:cNvSpPr>
              <a:spLocks noChangeArrowheads="1"/>
            </p:cNvSpPr>
            <p:nvPr/>
          </p:nvSpPr>
          <p:spPr bwMode="auto">
            <a:xfrm>
              <a:off x="2726" y="1386"/>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6" name="Freeform 409"/>
            <p:cNvSpPr>
              <a:spLocks/>
            </p:cNvSpPr>
            <p:nvPr/>
          </p:nvSpPr>
          <p:spPr bwMode="auto">
            <a:xfrm>
              <a:off x="2726" y="1390"/>
              <a:ext cx="6" cy="2"/>
            </a:xfrm>
            <a:custGeom>
              <a:avLst/>
              <a:gdLst>
                <a:gd name="T0" fmla="*/ 0 w 6"/>
                <a:gd name="T1" fmla="*/ 2 h 2"/>
                <a:gd name="T2" fmla="*/ 0 w 6"/>
                <a:gd name="T3" fmla="*/ 2 h 2"/>
                <a:gd name="T4" fmla="*/ 6 w 6"/>
                <a:gd name="T5" fmla="*/ 0 h 2"/>
                <a:gd name="T6" fmla="*/ 6 w 6"/>
                <a:gd name="T7" fmla="*/ 2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0" y="2"/>
                  </a:lnTo>
                  <a:lnTo>
                    <a:pt x="6" y="0"/>
                  </a:lnTo>
                  <a:lnTo>
                    <a:pt x="6"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7" name="Freeform 410"/>
            <p:cNvSpPr>
              <a:spLocks/>
            </p:cNvSpPr>
            <p:nvPr/>
          </p:nvSpPr>
          <p:spPr bwMode="auto">
            <a:xfrm>
              <a:off x="2726" y="1356"/>
              <a:ext cx="6" cy="14"/>
            </a:xfrm>
            <a:custGeom>
              <a:avLst/>
              <a:gdLst>
                <a:gd name="T0" fmla="*/ 0 w 6"/>
                <a:gd name="T1" fmla="*/ 12 h 14"/>
                <a:gd name="T2" fmla="*/ 0 w 6"/>
                <a:gd name="T3" fmla="*/ 0 h 14"/>
                <a:gd name="T4" fmla="*/ 6 w 6"/>
                <a:gd name="T5" fmla="*/ 2 h 14"/>
                <a:gd name="T6" fmla="*/ 6 w 6"/>
                <a:gd name="T7" fmla="*/ 14 h 14"/>
                <a:gd name="T8" fmla="*/ 0 w 6"/>
                <a:gd name="T9" fmla="*/ 12 h 14"/>
                <a:gd name="T10" fmla="*/ 0 60000 65536"/>
                <a:gd name="T11" fmla="*/ 0 60000 65536"/>
                <a:gd name="T12" fmla="*/ 0 60000 65536"/>
                <a:gd name="T13" fmla="*/ 0 60000 65536"/>
                <a:gd name="T14" fmla="*/ 0 60000 65536"/>
                <a:gd name="T15" fmla="*/ 0 w 6"/>
                <a:gd name="T16" fmla="*/ 0 h 14"/>
                <a:gd name="T17" fmla="*/ 6 w 6"/>
                <a:gd name="T18" fmla="*/ 14 h 14"/>
              </a:gdLst>
              <a:ahLst/>
              <a:cxnLst>
                <a:cxn ang="T10">
                  <a:pos x="T0" y="T1"/>
                </a:cxn>
                <a:cxn ang="T11">
                  <a:pos x="T2" y="T3"/>
                </a:cxn>
                <a:cxn ang="T12">
                  <a:pos x="T4" y="T5"/>
                </a:cxn>
                <a:cxn ang="T13">
                  <a:pos x="T6" y="T7"/>
                </a:cxn>
                <a:cxn ang="T14">
                  <a:pos x="T8" y="T9"/>
                </a:cxn>
              </a:cxnLst>
              <a:rect l="T15" t="T16" r="T17" b="T18"/>
              <a:pathLst>
                <a:path w="6" h="14">
                  <a:moveTo>
                    <a:pt x="0" y="12"/>
                  </a:moveTo>
                  <a:lnTo>
                    <a:pt x="0" y="0"/>
                  </a:lnTo>
                  <a:lnTo>
                    <a:pt x="6" y="2"/>
                  </a:lnTo>
                  <a:lnTo>
                    <a:pt x="6" y="14"/>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8" name="Freeform 411"/>
            <p:cNvSpPr>
              <a:spLocks/>
            </p:cNvSpPr>
            <p:nvPr/>
          </p:nvSpPr>
          <p:spPr bwMode="auto">
            <a:xfrm>
              <a:off x="2726" y="1352"/>
              <a:ext cx="8" cy="6"/>
            </a:xfrm>
            <a:custGeom>
              <a:avLst/>
              <a:gdLst>
                <a:gd name="T0" fmla="*/ 0 w 8"/>
                <a:gd name="T1" fmla="*/ 4 h 6"/>
                <a:gd name="T2" fmla="*/ 2 w 8"/>
                <a:gd name="T3" fmla="*/ 0 h 6"/>
                <a:gd name="T4" fmla="*/ 8 w 8"/>
                <a:gd name="T5" fmla="*/ 2 h 6"/>
                <a:gd name="T6" fmla="*/ 6 w 8"/>
                <a:gd name="T7" fmla="*/ 6 h 6"/>
                <a:gd name="T8" fmla="*/ 0 w 8"/>
                <a:gd name="T9" fmla="*/ 4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0" y="4"/>
                  </a:moveTo>
                  <a:lnTo>
                    <a:pt x="2" y="0"/>
                  </a:lnTo>
                  <a:lnTo>
                    <a:pt x="8" y="2"/>
                  </a:lnTo>
                  <a:lnTo>
                    <a:pt x="6" y="6"/>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39" name="Freeform 412"/>
            <p:cNvSpPr>
              <a:spLocks/>
            </p:cNvSpPr>
            <p:nvPr/>
          </p:nvSpPr>
          <p:spPr bwMode="auto">
            <a:xfrm>
              <a:off x="2734" y="1324"/>
              <a:ext cx="12" cy="14"/>
            </a:xfrm>
            <a:custGeom>
              <a:avLst/>
              <a:gdLst>
                <a:gd name="T0" fmla="*/ 0 w 12"/>
                <a:gd name="T1" fmla="*/ 10 h 14"/>
                <a:gd name="T2" fmla="*/ 6 w 12"/>
                <a:gd name="T3" fmla="*/ 0 h 14"/>
                <a:gd name="T4" fmla="*/ 12 w 12"/>
                <a:gd name="T5" fmla="*/ 4 h 14"/>
                <a:gd name="T6" fmla="*/ 6 w 12"/>
                <a:gd name="T7" fmla="*/ 14 h 14"/>
                <a:gd name="T8" fmla="*/ 0 w 12"/>
                <a:gd name="T9" fmla="*/ 10 h 14"/>
                <a:gd name="T10" fmla="*/ 0 60000 65536"/>
                <a:gd name="T11" fmla="*/ 0 60000 65536"/>
                <a:gd name="T12" fmla="*/ 0 60000 65536"/>
                <a:gd name="T13" fmla="*/ 0 60000 65536"/>
                <a:gd name="T14" fmla="*/ 0 60000 65536"/>
                <a:gd name="T15" fmla="*/ 0 w 12"/>
                <a:gd name="T16" fmla="*/ 0 h 14"/>
                <a:gd name="T17" fmla="*/ 12 w 12"/>
                <a:gd name="T18" fmla="*/ 14 h 14"/>
              </a:gdLst>
              <a:ahLst/>
              <a:cxnLst>
                <a:cxn ang="T10">
                  <a:pos x="T0" y="T1"/>
                </a:cxn>
                <a:cxn ang="T11">
                  <a:pos x="T2" y="T3"/>
                </a:cxn>
                <a:cxn ang="T12">
                  <a:pos x="T4" y="T5"/>
                </a:cxn>
                <a:cxn ang="T13">
                  <a:pos x="T6" y="T7"/>
                </a:cxn>
                <a:cxn ang="T14">
                  <a:pos x="T8" y="T9"/>
                </a:cxn>
              </a:cxnLst>
              <a:rect l="T15" t="T16" r="T17" b="T18"/>
              <a:pathLst>
                <a:path w="12" h="14">
                  <a:moveTo>
                    <a:pt x="0" y="10"/>
                  </a:moveTo>
                  <a:lnTo>
                    <a:pt x="6" y="0"/>
                  </a:lnTo>
                  <a:lnTo>
                    <a:pt x="12" y="4"/>
                  </a:lnTo>
                  <a:lnTo>
                    <a:pt x="6" y="14"/>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0" name="Freeform 413"/>
            <p:cNvSpPr>
              <a:spLocks/>
            </p:cNvSpPr>
            <p:nvPr/>
          </p:nvSpPr>
          <p:spPr bwMode="auto">
            <a:xfrm>
              <a:off x="2740" y="1320"/>
              <a:ext cx="10" cy="8"/>
            </a:xfrm>
            <a:custGeom>
              <a:avLst/>
              <a:gdLst>
                <a:gd name="T0" fmla="*/ 0 w 10"/>
                <a:gd name="T1" fmla="*/ 4 h 8"/>
                <a:gd name="T2" fmla="*/ 4 w 10"/>
                <a:gd name="T3" fmla="*/ 0 h 8"/>
                <a:gd name="T4" fmla="*/ 10 w 10"/>
                <a:gd name="T5" fmla="*/ 4 h 8"/>
                <a:gd name="T6" fmla="*/ 6 w 10"/>
                <a:gd name="T7" fmla="*/ 8 h 8"/>
                <a:gd name="T8" fmla="*/ 0 w 10"/>
                <a:gd name="T9" fmla="*/ 4 h 8"/>
                <a:gd name="T10" fmla="*/ 0 60000 65536"/>
                <a:gd name="T11" fmla="*/ 0 60000 65536"/>
                <a:gd name="T12" fmla="*/ 0 60000 65536"/>
                <a:gd name="T13" fmla="*/ 0 60000 65536"/>
                <a:gd name="T14" fmla="*/ 0 60000 65536"/>
                <a:gd name="T15" fmla="*/ 0 w 10"/>
                <a:gd name="T16" fmla="*/ 0 h 8"/>
                <a:gd name="T17" fmla="*/ 10 w 10"/>
                <a:gd name="T18" fmla="*/ 8 h 8"/>
              </a:gdLst>
              <a:ahLst/>
              <a:cxnLst>
                <a:cxn ang="T10">
                  <a:pos x="T0" y="T1"/>
                </a:cxn>
                <a:cxn ang="T11">
                  <a:pos x="T2" y="T3"/>
                </a:cxn>
                <a:cxn ang="T12">
                  <a:pos x="T4" y="T5"/>
                </a:cxn>
                <a:cxn ang="T13">
                  <a:pos x="T6" y="T7"/>
                </a:cxn>
                <a:cxn ang="T14">
                  <a:pos x="T8" y="T9"/>
                </a:cxn>
              </a:cxnLst>
              <a:rect l="T15" t="T16" r="T17" b="T18"/>
              <a:pathLst>
                <a:path w="10" h="8">
                  <a:moveTo>
                    <a:pt x="0" y="4"/>
                  </a:moveTo>
                  <a:lnTo>
                    <a:pt x="4" y="0"/>
                  </a:lnTo>
                  <a:lnTo>
                    <a:pt x="10" y="4"/>
                  </a:lnTo>
                  <a:lnTo>
                    <a:pt x="6" y="8"/>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1" name="Freeform 414"/>
            <p:cNvSpPr>
              <a:spLocks/>
            </p:cNvSpPr>
            <p:nvPr/>
          </p:nvSpPr>
          <p:spPr bwMode="auto">
            <a:xfrm>
              <a:off x="2756" y="1300"/>
              <a:ext cx="12" cy="12"/>
            </a:xfrm>
            <a:custGeom>
              <a:avLst/>
              <a:gdLst>
                <a:gd name="T0" fmla="*/ 0 w 12"/>
                <a:gd name="T1" fmla="*/ 6 h 12"/>
                <a:gd name="T2" fmla="*/ 8 w 12"/>
                <a:gd name="T3" fmla="*/ 0 h 12"/>
                <a:gd name="T4" fmla="*/ 12 w 12"/>
                <a:gd name="T5" fmla="*/ 6 h 12"/>
                <a:gd name="T6" fmla="*/ 4 w 12"/>
                <a:gd name="T7" fmla="*/ 12 h 12"/>
                <a:gd name="T8" fmla="*/ 0 w 12"/>
                <a:gd name="T9" fmla="*/ 6 h 12"/>
                <a:gd name="T10" fmla="*/ 0 60000 65536"/>
                <a:gd name="T11" fmla="*/ 0 60000 65536"/>
                <a:gd name="T12" fmla="*/ 0 60000 65536"/>
                <a:gd name="T13" fmla="*/ 0 60000 65536"/>
                <a:gd name="T14" fmla="*/ 0 60000 65536"/>
                <a:gd name="T15" fmla="*/ 0 w 12"/>
                <a:gd name="T16" fmla="*/ 0 h 12"/>
                <a:gd name="T17" fmla="*/ 12 w 12"/>
                <a:gd name="T18" fmla="*/ 12 h 12"/>
              </a:gdLst>
              <a:ahLst/>
              <a:cxnLst>
                <a:cxn ang="T10">
                  <a:pos x="T0" y="T1"/>
                </a:cxn>
                <a:cxn ang="T11">
                  <a:pos x="T2" y="T3"/>
                </a:cxn>
                <a:cxn ang="T12">
                  <a:pos x="T4" y="T5"/>
                </a:cxn>
                <a:cxn ang="T13">
                  <a:pos x="T6" y="T7"/>
                </a:cxn>
                <a:cxn ang="T14">
                  <a:pos x="T8" y="T9"/>
                </a:cxn>
              </a:cxnLst>
              <a:rect l="T15" t="T16" r="T17" b="T18"/>
              <a:pathLst>
                <a:path w="12" h="12">
                  <a:moveTo>
                    <a:pt x="0" y="6"/>
                  </a:moveTo>
                  <a:lnTo>
                    <a:pt x="8" y="0"/>
                  </a:lnTo>
                  <a:lnTo>
                    <a:pt x="12" y="6"/>
                  </a:lnTo>
                  <a:lnTo>
                    <a:pt x="4" y="12"/>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2" name="Freeform 415"/>
            <p:cNvSpPr>
              <a:spLocks/>
            </p:cNvSpPr>
            <p:nvPr/>
          </p:nvSpPr>
          <p:spPr bwMode="auto">
            <a:xfrm>
              <a:off x="2764" y="1296"/>
              <a:ext cx="10" cy="10"/>
            </a:xfrm>
            <a:custGeom>
              <a:avLst/>
              <a:gdLst>
                <a:gd name="T0" fmla="*/ 0 w 10"/>
                <a:gd name="T1" fmla="*/ 4 h 10"/>
                <a:gd name="T2" fmla="*/ 8 w 10"/>
                <a:gd name="T3" fmla="*/ 0 h 10"/>
                <a:gd name="T4" fmla="*/ 10 w 10"/>
                <a:gd name="T5" fmla="*/ 6 h 10"/>
                <a:gd name="T6" fmla="*/ 4 w 10"/>
                <a:gd name="T7" fmla="*/ 10 h 10"/>
                <a:gd name="T8" fmla="*/ 0 w 10"/>
                <a:gd name="T9" fmla="*/ 4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0" y="4"/>
                  </a:moveTo>
                  <a:lnTo>
                    <a:pt x="8" y="0"/>
                  </a:lnTo>
                  <a:lnTo>
                    <a:pt x="10" y="6"/>
                  </a:lnTo>
                  <a:lnTo>
                    <a:pt x="4"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3" name="Freeform 416"/>
            <p:cNvSpPr>
              <a:spLocks/>
            </p:cNvSpPr>
            <p:nvPr/>
          </p:nvSpPr>
          <p:spPr bwMode="auto">
            <a:xfrm>
              <a:off x="2788" y="1286"/>
              <a:ext cx="10" cy="10"/>
            </a:xfrm>
            <a:custGeom>
              <a:avLst/>
              <a:gdLst>
                <a:gd name="T0" fmla="*/ 0 w 10"/>
                <a:gd name="T1" fmla="*/ 4 h 10"/>
                <a:gd name="T2" fmla="*/ 8 w 10"/>
                <a:gd name="T3" fmla="*/ 0 h 10"/>
                <a:gd name="T4" fmla="*/ 10 w 10"/>
                <a:gd name="T5" fmla="*/ 6 h 10"/>
                <a:gd name="T6" fmla="*/ 2 w 10"/>
                <a:gd name="T7" fmla="*/ 10 h 10"/>
                <a:gd name="T8" fmla="*/ 0 w 10"/>
                <a:gd name="T9" fmla="*/ 4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0" y="4"/>
                  </a:moveTo>
                  <a:lnTo>
                    <a:pt x="8" y="0"/>
                  </a:lnTo>
                  <a:lnTo>
                    <a:pt x="10" y="6"/>
                  </a:lnTo>
                  <a:lnTo>
                    <a:pt x="2"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4" name="Freeform 417"/>
            <p:cNvSpPr>
              <a:spLocks/>
            </p:cNvSpPr>
            <p:nvPr/>
          </p:nvSpPr>
          <p:spPr bwMode="auto">
            <a:xfrm>
              <a:off x="2798" y="1286"/>
              <a:ext cx="8" cy="6"/>
            </a:xfrm>
            <a:custGeom>
              <a:avLst/>
              <a:gdLst>
                <a:gd name="T0" fmla="*/ 0 w 8"/>
                <a:gd name="T1" fmla="*/ 0 h 6"/>
                <a:gd name="T2" fmla="*/ 6 w 8"/>
                <a:gd name="T3" fmla="*/ 0 h 6"/>
                <a:gd name="T4" fmla="*/ 8 w 8"/>
                <a:gd name="T5" fmla="*/ 6 h 6"/>
                <a:gd name="T6" fmla="*/ 0 w 8"/>
                <a:gd name="T7" fmla="*/ 6 h 6"/>
                <a:gd name="T8" fmla="*/ 0 w 8"/>
                <a:gd name="T9" fmla="*/ 0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0" y="0"/>
                  </a:moveTo>
                  <a:lnTo>
                    <a:pt x="6" y="0"/>
                  </a:lnTo>
                  <a:lnTo>
                    <a:pt x="8" y="6"/>
                  </a:lnTo>
                  <a:lnTo>
                    <a:pt x="0" y="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5" name="Rectangle 418"/>
            <p:cNvSpPr>
              <a:spLocks noChangeArrowheads="1"/>
            </p:cNvSpPr>
            <p:nvPr/>
          </p:nvSpPr>
          <p:spPr bwMode="auto">
            <a:xfrm>
              <a:off x="2822" y="1286"/>
              <a:ext cx="1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6" name="Freeform 419"/>
            <p:cNvSpPr>
              <a:spLocks/>
            </p:cNvSpPr>
            <p:nvPr/>
          </p:nvSpPr>
          <p:spPr bwMode="auto">
            <a:xfrm>
              <a:off x="2832" y="1286"/>
              <a:ext cx="8" cy="8"/>
            </a:xfrm>
            <a:custGeom>
              <a:avLst/>
              <a:gdLst>
                <a:gd name="T0" fmla="*/ 2 w 8"/>
                <a:gd name="T1" fmla="*/ 0 h 8"/>
                <a:gd name="T2" fmla="*/ 8 w 8"/>
                <a:gd name="T3" fmla="*/ 2 h 8"/>
                <a:gd name="T4" fmla="*/ 6 w 8"/>
                <a:gd name="T5" fmla="*/ 8 h 8"/>
                <a:gd name="T6" fmla="*/ 0 w 8"/>
                <a:gd name="T7" fmla="*/ 6 h 8"/>
                <a:gd name="T8" fmla="*/ 2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2" y="0"/>
                  </a:moveTo>
                  <a:lnTo>
                    <a:pt x="8" y="2"/>
                  </a:lnTo>
                  <a:lnTo>
                    <a:pt x="6" y="8"/>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7" name="Freeform 420"/>
            <p:cNvSpPr>
              <a:spLocks/>
            </p:cNvSpPr>
            <p:nvPr/>
          </p:nvSpPr>
          <p:spPr bwMode="auto">
            <a:xfrm>
              <a:off x="2854" y="1296"/>
              <a:ext cx="10" cy="10"/>
            </a:xfrm>
            <a:custGeom>
              <a:avLst/>
              <a:gdLst>
                <a:gd name="T0" fmla="*/ 2 w 10"/>
                <a:gd name="T1" fmla="*/ 0 h 10"/>
                <a:gd name="T2" fmla="*/ 10 w 10"/>
                <a:gd name="T3" fmla="*/ 4 h 10"/>
                <a:gd name="T4" fmla="*/ 8 w 10"/>
                <a:gd name="T5" fmla="*/ 10 h 10"/>
                <a:gd name="T6" fmla="*/ 0 w 10"/>
                <a:gd name="T7" fmla="*/ 6 h 10"/>
                <a:gd name="T8" fmla="*/ 2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2" y="0"/>
                  </a:moveTo>
                  <a:lnTo>
                    <a:pt x="10" y="4"/>
                  </a:lnTo>
                  <a:lnTo>
                    <a:pt x="8" y="1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8" name="Freeform 421"/>
            <p:cNvSpPr>
              <a:spLocks/>
            </p:cNvSpPr>
            <p:nvPr/>
          </p:nvSpPr>
          <p:spPr bwMode="auto">
            <a:xfrm>
              <a:off x="2862" y="1300"/>
              <a:ext cx="10" cy="10"/>
            </a:xfrm>
            <a:custGeom>
              <a:avLst/>
              <a:gdLst>
                <a:gd name="T0" fmla="*/ 4 w 10"/>
                <a:gd name="T1" fmla="*/ 0 h 10"/>
                <a:gd name="T2" fmla="*/ 10 w 10"/>
                <a:gd name="T3" fmla="*/ 6 h 10"/>
                <a:gd name="T4" fmla="*/ 6 w 10"/>
                <a:gd name="T5" fmla="*/ 10 h 10"/>
                <a:gd name="T6" fmla="*/ 0 w 10"/>
                <a:gd name="T7" fmla="*/ 4 h 10"/>
                <a:gd name="T8" fmla="*/ 4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4" y="0"/>
                  </a:moveTo>
                  <a:lnTo>
                    <a:pt x="10" y="6"/>
                  </a:lnTo>
                  <a:lnTo>
                    <a:pt x="6" y="10"/>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49" name="Freeform 422"/>
            <p:cNvSpPr>
              <a:spLocks/>
            </p:cNvSpPr>
            <p:nvPr/>
          </p:nvSpPr>
          <p:spPr bwMode="auto">
            <a:xfrm>
              <a:off x="2862" y="1300"/>
              <a:ext cx="4" cy="6"/>
            </a:xfrm>
            <a:custGeom>
              <a:avLst/>
              <a:gdLst>
                <a:gd name="T0" fmla="*/ 4 w 4"/>
                <a:gd name="T1" fmla="*/ 0 h 6"/>
                <a:gd name="T2" fmla="*/ 2 w 4"/>
                <a:gd name="T3" fmla="*/ 0 h 6"/>
                <a:gd name="T4" fmla="*/ 0 w 4"/>
                <a:gd name="T5" fmla="*/ 6 h 6"/>
                <a:gd name="T6" fmla="*/ 0 w 4"/>
                <a:gd name="T7" fmla="*/ 4 h 6"/>
                <a:gd name="T8" fmla="*/ 4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0"/>
                  </a:moveTo>
                  <a:lnTo>
                    <a:pt x="2" y="0"/>
                  </a:lnTo>
                  <a:lnTo>
                    <a:pt x="0" y="6"/>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0" name="Freeform 423"/>
            <p:cNvSpPr>
              <a:spLocks/>
            </p:cNvSpPr>
            <p:nvPr/>
          </p:nvSpPr>
          <p:spPr bwMode="auto">
            <a:xfrm>
              <a:off x="2880" y="1318"/>
              <a:ext cx="8" cy="10"/>
            </a:xfrm>
            <a:custGeom>
              <a:avLst/>
              <a:gdLst>
                <a:gd name="T0" fmla="*/ 4 w 8"/>
                <a:gd name="T1" fmla="*/ 0 h 10"/>
                <a:gd name="T2" fmla="*/ 8 w 8"/>
                <a:gd name="T3" fmla="*/ 6 h 10"/>
                <a:gd name="T4" fmla="*/ 4 w 8"/>
                <a:gd name="T5" fmla="*/ 10 h 10"/>
                <a:gd name="T6" fmla="*/ 0 w 8"/>
                <a:gd name="T7" fmla="*/ 4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lnTo>
                    <a:pt x="8" y="6"/>
                  </a:lnTo>
                  <a:lnTo>
                    <a:pt x="4" y="10"/>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1" name="Freeform 424"/>
            <p:cNvSpPr>
              <a:spLocks/>
            </p:cNvSpPr>
            <p:nvPr/>
          </p:nvSpPr>
          <p:spPr bwMode="auto">
            <a:xfrm>
              <a:off x="2884" y="1324"/>
              <a:ext cx="10" cy="12"/>
            </a:xfrm>
            <a:custGeom>
              <a:avLst/>
              <a:gdLst>
                <a:gd name="T0" fmla="*/ 6 w 10"/>
                <a:gd name="T1" fmla="*/ 0 h 12"/>
                <a:gd name="T2" fmla="*/ 10 w 10"/>
                <a:gd name="T3" fmla="*/ 10 h 12"/>
                <a:gd name="T4" fmla="*/ 4 w 10"/>
                <a:gd name="T5" fmla="*/ 12 h 12"/>
                <a:gd name="T6" fmla="*/ 0 w 10"/>
                <a:gd name="T7" fmla="*/ 4 h 12"/>
                <a:gd name="T8" fmla="*/ 6 w 10"/>
                <a:gd name="T9" fmla="*/ 0 h 12"/>
                <a:gd name="T10" fmla="*/ 0 60000 65536"/>
                <a:gd name="T11" fmla="*/ 0 60000 65536"/>
                <a:gd name="T12" fmla="*/ 0 60000 65536"/>
                <a:gd name="T13" fmla="*/ 0 60000 65536"/>
                <a:gd name="T14" fmla="*/ 0 60000 65536"/>
                <a:gd name="T15" fmla="*/ 0 w 10"/>
                <a:gd name="T16" fmla="*/ 0 h 12"/>
                <a:gd name="T17" fmla="*/ 10 w 10"/>
                <a:gd name="T18" fmla="*/ 12 h 12"/>
              </a:gdLst>
              <a:ahLst/>
              <a:cxnLst>
                <a:cxn ang="T10">
                  <a:pos x="T0" y="T1"/>
                </a:cxn>
                <a:cxn ang="T11">
                  <a:pos x="T2" y="T3"/>
                </a:cxn>
                <a:cxn ang="T12">
                  <a:pos x="T4" y="T5"/>
                </a:cxn>
                <a:cxn ang="T13">
                  <a:pos x="T6" y="T7"/>
                </a:cxn>
                <a:cxn ang="T14">
                  <a:pos x="T8" y="T9"/>
                </a:cxn>
              </a:cxnLst>
              <a:rect l="T15" t="T16" r="T17" b="T18"/>
              <a:pathLst>
                <a:path w="10" h="12">
                  <a:moveTo>
                    <a:pt x="6" y="0"/>
                  </a:moveTo>
                  <a:lnTo>
                    <a:pt x="10" y="10"/>
                  </a:lnTo>
                  <a:lnTo>
                    <a:pt x="4" y="12"/>
                  </a:lnTo>
                  <a:lnTo>
                    <a:pt x="0" y="4"/>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2" name="Freeform 425"/>
            <p:cNvSpPr>
              <a:spLocks/>
            </p:cNvSpPr>
            <p:nvPr/>
          </p:nvSpPr>
          <p:spPr bwMode="auto">
            <a:xfrm>
              <a:off x="2894" y="1350"/>
              <a:ext cx="8" cy="8"/>
            </a:xfrm>
            <a:custGeom>
              <a:avLst/>
              <a:gdLst>
                <a:gd name="T0" fmla="*/ 6 w 8"/>
                <a:gd name="T1" fmla="*/ 0 h 8"/>
                <a:gd name="T2" fmla="*/ 8 w 8"/>
                <a:gd name="T3" fmla="*/ 6 h 8"/>
                <a:gd name="T4" fmla="*/ 2 w 8"/>
                <a:gd name="T5" fmla="*/ 8 h 8"/>
                <a:gd name="T6" fmla="*/ 0 w 8"/>
                <a:gd name="T7" fmla="*/ 2 h 8"/>
                <a:gd name="T8" fmla="*/ 6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6" y="0"/>
                  </a:moveTo>
                  <a:lnTo>
                    <a:pt x="8" y="6"/>
                  </a:lnTo>
                  <a:lnTo>
                    <a:pt x="2" y="8"/>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3" name="Freeform 426"/>
            <p:cNvSpPr>
              <a:spLocks/>
            </p:cNvSpPr>
            <p:nvPr/>
          </p:nvSpPr>
          <p:spPr bwMode="auto">
            <a:xfrm>
              <a:off x="2896" y="1356"/>
              <a:ext cx="8" cy="12"/>
            </a:xfrm>
            <a:custGeom>
              <a:avLst/>
              <a:gdLst>
                <a:gd name="T0" fmla="*/ 6 w 8"/>
                <a:gd name="T1" fmla="*/ 0 h 12"/>
                <a:gd name="T2" fmla="*/ 8 w 8"/>
                <a:gd name="T3" fmla="*/ 12 h 12"/>
                <a:gd name="T4" fmla="*/ 2 w 8"/>
                <a:gd name="T5" fmla="*/ 12 h 12"/>
                <a:gd name="T6" fmla="*/ 0 w 8"/>
                <a:gd name="T7" fmla="*/ 2 h 12"/>
                <a:gd name="T8" fmla="*/ 6 w 8"/>
                <a:gd name="T9" fmla="*/ 0 h 12"/>
                <a:gd name="T10" fmla="*/ 0 60000 65536"/>
                <a:gd name="T11" fmla="*/ 0 60000 65536"/>
                <a:gd name="T12" fmla="*/ 0 60000 65536"/>
                <a:gd name="T13" fmla="*/ 0 60000 65536"/>
                <a:gd name="T14" fmla="*/ 0 60000 65536"/>
                <a:gd name="T15" fmla="*/ 0 w 8"/>
                <a:gd name="T16" fmla="*/ 0 h 12"/>
                <a:gd name="T17" fmla="*/ 8 w 8"/>
                <a:gd name="T18" fmla="*/ 12 h 12"/>
              </a:gdLst>
              <a:ahLst/>
              <a:cxnLst>
                <a:cxn ang="T10">
                  <a:pos x="T0" y="T1"/>
                </a:cxn>
                <a:cxn ang="T11">
                  <a:pos x="T2" y="T3"/>
                </a:cxn>
                <a:cxn ang="T12">
                  <a:pos x="T4" y="T5"/>
                </a:cxn>
                <a:cxn ang="T13">
                  <a:pos x="T6" y="T7"/>
                </a:cxn>
                <a:cxn ang="T14">
                  <a:pos x="T8" y="T9"/>
                </a:cxn>
              </a:cxnLst>
              <a:rect l="T15" t="T16" r="T17" b="T18"/>
              <a:pathLst>
                <a:path w="8" h="12">
                  <a:moveTo>
                    <a:pt x="6" y="0"/>
                  </a:moveTo>
                  <a:lnTo>
                    <a:pt x="8" y="12"/>
                  </a:lnTo>
                  <a:lnTo>
                    <a:pt x="2" y="12"/>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4" name="Freeform 427"/>
            <p:cNvSpPr>
              <a:spLocks/>
            </p:cNvSpPr>
            <p:nvPr/>
          </p:nvSpPr>
          <p:spPr bwMode="auto">
            <a:xfrm>
              <a:off x="2896" y="1356"/>
              <a:ext cx="6" cy="2"/>
            </a:xfrm>
            <a:custGeom>
              <a:avLst/>
              <a:gdLst>
                <a:gd name="T0" fmla="*/ 6 w 6"/>
                <a:gd name="T1" fmla="*/ 0 h 2"/>
                <a:gd name="T2" fmla="*/ 6 w 6"/>
                <a:gd name="T3" fmla="*/ 0 h 2"/>
                <a:gd name="T4" fmla="*/ 0 w 6"/>
                <a:gd name="T5" fmla="*/ 2 h 2"/>
                <a:gd name="T6" fmla="*/ 0 w 6"/>
                <a:gd name="T7" fmla="*/ 2 h 2"/>
                <a:gd name="T8" fmla="*/ 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6" y="0"/>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5" name="Oval 428"/>
            <p:cNvSpPr>
              <a:spLocks noChangeArrowheads="1"/>
            </p:cNvSpPr>
            <p:nvPr/>
          </p:nvSpPr>
          <p:spPr bwMode="auto">
            <a:xfrm>
              <a:off x="2416" y="1276"/>
              <a:ext cx="180" cy="18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6" name="Freeform 429"/>
            <p:cNvSpPr>
              <a:spLocks/>
            </p:cNvSpPr>
            <p:nvPr/>
          </p:nvSpPr>
          <p:spPr bwMode="auto">
            <a:xfrm>
              <a:off x="2586" y="1364"/>
              <a:ext cx="8" cy="18"/>
            </a:xfrm>
            <a:custGeom>
              <a:avLst/>
              <a:gdLst>
                <a:gd name="T0" fmla="*/ 8 w 8"/>
                <a:gd name="T1" fmla="*/ 2 h 18"/>
                <a:gd name="T2" fmla="*/ 6 w 8"/>
                <a:gd name="T3" fmla="*/ 18 h 18"/>
                <a:gd name="T4" fmla="*/ 0 w 8"/>
                <a:gd name="T5" fmla="*/ 18 h 18"/>
                <a:gd name="T6" fmla="*/ 2 w 8"/>
                <a:gd name="T7" fmla="*/ 0 h 18"/>
                <a:gd name="T8" fmla="*/ 8 w 8"/>
                <a:gd name="T9" fmla="*/ 2 h 18"/>
                <a:gd name="T10" fmla="*/ 0 60000 65536"/>
                <a:gd name="T11" fmla="*/ 0 60000 65536"/>
                <a:gd name="T12" fmla="*/ 0 60000 65536"/>
                <a:gd name="T13" fmla="*/ 0 60000 65536"/>
                <a:gd name="T14" fmla="*/ 0 60000 65536"/>
                <a:gd name="T15" fmla="*/ 0 w 8"/>
                <a:gd name="T16" fmla="*/ 0 h 18"/>
                <a:gd name="T17" fmla="*/ 8 w 8"/>
                <a:gd name="T18" fmla="*/ 18 h 18"/>
              </a:gdLst>
              <a:ahLst/>
              <a:cxnLst>
                <a:cxn ang="T10">
                  <a:pos x="T0" y="T1"/>
                </a:cxn>
                <a:cxn ang="T11">
                  <a:pos x="T2" y="T3"/>
                </a:cxn>
                <a:cxn ang="T12">
                  <a:pos x="T4" y="T5"/>
                </a:cxn>
                <a:cxn ang="T13">
                  <a:pos x="T6" y="T7"/>
                </a:cxn>
                <a:cxn ang="T14">
                  <a:pos x="T8" y="T9"/>
                </a:cxn>
              </a:cxnLst>
              <a:rect l="T15" t="T16" r="T17" b="T18"/>
              <a:pathLst>
                <a:path w="8" h="18">
                  <a:moveTo>
                    <a:pt x="8" y="2"/>
                  </a:moveTo>
                  <a:lnTo>
                    <a:pt x="6" y="18"/>
                  </a:lnTo>
                  <a:lnTo>
                    <a:pt x="0" y="18"/>
                  </a:lnTo>
                  <a:lnTo>
                    <a:pt x="2" y="0"/>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7" name="Freeform 430"/>
            <p:cNvSpPr>
              <a:spLocks/>
            </p:cNvSpPr>
            <p:nvPr/>
          </p:nvSpPr>
          <p:spPr bwMode="auto">
            <a:xfrm>
              <a:off x="2574" y="1398"/>
              <a:ext cx="12" cy="16"/>
            </a:xfrm>
            <a:custGeom>
              <a:avLst/>
              <a:gdLst>
                <a:gd name="T0" fmla="*/ 12 w 12"/>
                <a:gd name="T1" fmla="*/ 2 h 16"/>
                <a:gd name="T2" fmla="*/ 4 w 12"/>
                <a:gd name="T3" fmla="*/ 16 h 16"/>
                <a:gd name="T4" fmla="*/ 0 w 12"/>
                <a:gd name="T5" fmla="*/ 14 h 16"/>
                <a:gd name="T6" fmla="*/ 8 w 12"/>
                <a:gd name="T7" fmla="*/ 0 h 16"/>
                <a:gd name="T8" fmla="*/ 12 w 12"/>
                <a:gd name="T9" fmla="*/ 2 h 16"/>
                <a:gd name="T10" fmla="*/ 0 60000 65536"/>
                <a:gd name="T11" fmla="*/ 0 60000 65536"/>
                <a:gd name="T12" fmla="*/ 0 60000 65536"/>
                <a:gd name="T13" fmla="*/ 0 60000 65536"/>
                <a:gd name="T14" fmla="*/ 0 60000 65536"/>
                <a:gd name="T15" fmla="*/ 0 w 12"/>
                <a:gd name="T16" fmla="*/ 0 h 16"/>
                <a:gd name="T17" fmla="*/ 12 w 12"/>
                <a:gd name="T18" fmla="*/ 16 h 16"/>
              </a:gdLst>
              <a:ahLst/>
              <a:cxnLst>
                <a:cxn ang="T10">
                  <a:pos x="T0" y="T1"/>
                </a:cxn>
                <a:cxn ang="T11">
                  <a:pos x="T2" y="T3"/>
                </a:cxn>
                <a:cxn ang="T12">
                  <a:pos x="T4" y="T5"/>
                </a:cxn>
                <a:cxn ang="T13">
                  <a:pos x="T6" y="T7"/>
                </a:cxn>
                <a:cxn ang="T14">
                  <a:pos x="T8" y="T9"/>
                </a:cxn>
              </a:cxnLst>
              <a:rect l="T15" t="T16" r="T17" b="T18"/>
              <a:pathLst>
                <a:path w="12" h="16">
                  <a:moveTo>
                    <a:pt x="12" y="2"/>
                  </a:moveTo>
                  <a:lnTo>
                    <a:pt x="4" y="16"/>
                  </a:lnTo>
                  <a:lnTo>
                    <a:pt x="0" y="14"/>
                  </a:lnTo>
                  <a:lnTo>
                    <a:pt x="8" y="0"/>
                  </a:lnTo>
                  <a:lnTo>
                    <a:pt x="1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8" name="Freeform 431"/>
            <p:cNvSpPr>
              <a:spLocks/>
            </p:cNvSpPr>
            <p:nvPr/>
          </p:nvSpPr>
          <p:spPr bwMode="auto">
            <a:xfrm>
              <a:off x="2550" y="1424"/>
              <a:ext cx="16" cy="16"/>
            </a:xfrm>
            <a:custGeom>
              <a:avLst/>
              <a:gdLst>
                <a:gd name="T0" fmla="*/ 16 w 16"/>
                <a:gd name="T1" fmla="*/ 6 h 16"/>
                <a:gd name="T2" fmla="*/ 4 w 16"/>
                <a:gd name="T3" fmla="*/ 16 h 16"/>
                <a:gd name="T4" fmla="*/ 0 w 16"/>
                <a:gd name="T5" fmla="*/ 10 h 16"/>
                <a:gd name="T6" fmla="*/ 12 w 16"/>
                <a:gd name="T7" fmla="*/ 0 h 16"/>
                <a:gd name="T8" fmla="*/ 16 w 16"/>
                <a:gd name="T9" fmla="*/ 6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16" y="6"/>
                  </a:moveTo>
                  <a:lnTo>
                    <a:pt x="4" y="16"/>
                  </a:lnTo>
                  <a:lnTo>
                    <a:pt x="0" y="10"/>
                  </a:lnTo>
                  <a:lnTo>
                    <a:pt x="12" y="0"/>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59" name="Freeform 432"/>
            <p:cNvSpPr>
              <a:spLocks/>
            </p:cNvSpPr>
            <p:nvPr/>
          </p:nvSpPr>
          <p:spPr bwMode="auto">
            <a:xfrm>
              <a:off x="2550" y="1434"/>
              <a:ext cx="4" cy="6"/>
            </a:xfrm>
            <a:custGeom>
              <a:avLst/>
              <a:gdLst>
                <a:gd name="T0" fmla="*/ 4 w 4"/>
                <a:gd name="T1" fmla="*/ 6 h 6"/>
                <a:gd name="T2" fmla="*/ 2 w 4"/>
                <a:gd name="T3" fmla="*/ 6 h 6"/>
                <a:gd name="T4" fmla="*/ 0 w 4"/>
                <a:gd name="T5" fmla="*/ 0 h 6"/>
                <a:gd name="T6" fmla="*/ 2 w 4"/>
                <a:gd name="T7" fmla="*/ 0 h 6"/>
                <a:gd name="T8" fmla="*/ 4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6"/>
                  </a:moveTo>
                  <a:lnTo>
                    <a:pt x="2" y="6"/>
                  </a:lnTo>
                  <a:lnTo>
                    <a:pt x="0" y="0"/>
                  </a:lnTo>
                  <a:lnTo>
                    <a:pt x="2" y="0"/>
                  </a:lnTo>
                  <a:lnTo>
                    <a:pt x="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0" name="Freeform 433"/>
            <p:cNvSpPr>
              <a:spLocks/>
            </p:cNvSpPr>
            <p:nvPr/>
          </p:nvSpPr>
          <p:spPr bwMode="auto">
            <a:xfrm>
              <a:off x="2550" y="1434"/>
              <a:ext cx="4" cy="6"/>
            </a:xfrm>
            <a:custGeom>
              <a:avLst/>
              <a:gdLst>
                <a:gd name="T0" fmla="*/ 4 w 4"/>
                <a:gd name="T1" fmla="*/ 6 h 6"/>
                <a:gd name="T2" fmla="*/ 4 w 4"/>
                <a:gd name="T3" fmla="*/ 6 h 6"/>
                <a:gd name="T4" fmla="*/ 0 w 4"/>
                <a:gd name="T5" fmla="*/ 0 h 6"/>
                <a:gd name="T6" fmla="*/ 2 w 4"/>
                <a:gd name="T7" fmla="*/ 0 h 6"/>
                <a:gd name="T8" fmla="*/ 4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6"/>
                  </a:moveTo>
                  <a:lnTo>
                    <a:pt x="4" y="6"/>
                  </a:lnTo>
                  <a:lnTo>
                    <a:pt x="0" y="0"/>
                  </a:lnTo>
                  <a:lnTo>
                    <a:pt x="2" y="0"/>
                  </a:lnTo>
                  <a:lnTo>
                    <a:pt x="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1" name="Freeform 434"/>
            <p:cNvSpPr>
              <a:spLocks/>
            </p:cNvSpPr>
            <p:nvPr/>
          </p:nvSpPr>
          <p:spPr bwMode="auto">
            <a:xfrm>
              <a:off x="2520" y="1442"/>
              <a:ext cx="16" cy="10"/>
            </a:xfrm>
            <a:custGeom>
              <a:avLst/>
              <a:gdLst>
                <a:gd name="T0" fmla="*/ 16 w 16"/>
                <a:gd name="T1" fmla="*/ 6 h 10"/>
                <a:gd name="T2" fmla="*/ 2 w 16"/>
                <a:gd name="T3" fmla="*/ 10 h 10"/>
                <a:gd name="T4" fmla="*/ 0 w 16"/>
                <a:gd name="T5" fmla="*/ 4 h 10"/>
                <a:gd name="T6" fmla="*/ 14 w 16"/>
                <a:gd name="T7" fmla="*/ 0 h 10"/>
                <a:gd name="T8" fmla="*/ 16 w 16"/>
                <a:gd name="T9" fmla="*/ 6 h 10"/>
                <a:gd name="T10" fmla="*/ 0 60000 65536"/>
                <a:gd name="T11" fmla="*/ 0 60000 65536"/>
                <a:gd name="T12" fmla="*/ 0 60000 65536"/>
                <a:gd name="T13" fmla="*/ 0 60000 65536"/>
                <a:gd name="T14" fmla="*/ 0 60000 65536"/>
                <a:gd name="T15" fmla="*/ 0 w 16"/>
                <a:gd name="T16" fmla="*/ 0 h 10"/>
                <a:gd name="T17" fmla="*/ 16 w 16"/>
                <a:gd name="T18" fmla="*/ 10 h 10"/>
              </a:gdLst>
              <a:ahLst/>
              <a:cxnLst>
                <a:cxn ang="T10">
                  <a:pos x="T0" y="T1"/>
                </a:cxn>
                <a:cxn ang="T11">
                  <a:pos x="T2" y="T3"/>
                </a:cxn>
                <a:cxn ang="T12">
                  <a:pos x="T4" y="T5"/>
                </a:cxn>
                <a:cxn ang="T13">
                  <a:pos x="T6" y="T7"/>
                </a:cxn>
                <a:cxn ang="T14">
                  <a:pos x="T8" y="T9"/>
                </a:cxn>
              </a:cxnLst>
              <a:rect l="T15" t="T16" r="T17" b="T18"/>
              <a:pathLst>
                <a:path w="16" h="10">
                  <a:moveTo>
                    <a:pt x="16" y="6"/>
                  </a:moveTo>
                  <a:lnTo>
                    <a:pt x="2" y="10"/>
                  </a:lnTo>
                  <a:lnTo>
                    <a:pt x="0" y="4"/>
                  </a:lnTo>
                  <a:lnTo>
                    <a:pt x="14" y="0"/>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2" name="Freeform 435"/>
            <p:cNvSpPr>
              <a:spLocks/>
            </p:cNvSpPr>
            <p:nvPr/>
          </p:nvSpPr>
          <p:spPr bwMode="auto">
            <a:xfrm>
              <a:off x="2518" y="1446"/>
              <a:ext cx="4" cy="8"/>
            </a:xfrm>
            <a:custGeom>
              <a:avLst/>
              <a:gdLst>
                <a:gd name="T0" fmla="*/ 4 w 4"/>
                <a:gd name="T1" fmla="*/ 6 h 8"/>
                <a:gd name="T2" fmla="*/ 2 w 4"/>
                <a:gd name="T3" fmla="*/ 8 h 8"/>
                <a:gd name="T4" fmla="*/ 0 w 4"/>
                <a:gd name="T5" fmla="*/ 0 h 8"/>
                <a:gd name="T6" fmla="*/ 4 w 4"/>
                <a:gd name="T7" fmla="*/ 0 h 8"/>
                <a:gd name="T8" fmla="*/ 4 w 4"/>
                <a:gd name="T9" fmla="*/ 6 h 8"/>
                <a:gd name="T10" fmla="*/ 0 60000 65536"/>
                <a:gd name="T11" fmla="*/ 0 60000 65536"/>
                <a:gd name="T12" fmla="*/ 0 60000 65536"/>
                <a:gd name="T13" fmla="*/ 0 60000 65536"/>
                <a:gd name="T14" fmla="*/ 0 60000 65536"/>
                <a:gd name="T15" fmla="*/ 0 w 4"/>
                <a:gd name="T16" fmla="*/ 0 h 8"/>
                <a:gd name="T17" fmla="*/ 4 w 4"/>
                <a:gd name="T18" fmla="*/ 8 h 8"/>
              </a:gdLst>
              <a:ahLst/>
              <a:cxnLst>
                <a:cxn ang="T10">
                  <a:pos x="T0" y="T1"/>
                </a:cxn>
                <a:cxn ang="T11">
                  <a:pos x="T2" y="T3"/>
                </a:cxn>
                <a:cxn ang="T12">
                  <a:pos x="T4" y="T5"/>
                </a:cxn>
                <a:cxn ang="T13">
                  <a:pos x="T6" y="T7"/>
                </a:cxn>
                <a:cxn ang="T14">
                  <a:pos x="T8" y="T9"/>
                </a:cxn>
              </a:cxnLst>
              <a:rect l="T15" t="T16" r="T17" b="T18"/>
              <a:pathLst>
                <a:path w="4" h="8">
                  <a:moveTo>
                    <a:pt x="4" y="6"/>
                  </a:moveTo>
                  <a:lnTo>
                    <a:pt x="2" y="8"/>
                  </a:lnTo>
                  <a:lnTo>
                    <a:pt x="0" y="0"/>
                  </a:lnTo>
                  <a:lnTo>
                    <a:pt x="4" y="0"/>
                  </a:lnTo>
                  <a:lnTo>
                    <a:pt x="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3" name="Freeform 436"/>
            <p:cNvSpPr>
              <a:spLocks/>
            </p:cNvSpPr>
            <p:nvPr/>
          </p:nvSpPr>
          <p:spPr bwMode="auto">
            <a:xfrm>
              <a:off x="2520" y="1446"/>
              <a:ext cx="2" cy="6"/>
            </a:xfrm>
            <a:custGeom>
              <a:avLst/>
              <a:gdLst>
                <a:gd name="T0" fmla="*/ 2 w 2"/>
                <a:gd name="T1" fmla="*/ 6 h 6"/>
                <a:gd name="T2" fmla="*/ 2 w 2"/>
                <a:gd name="T3" fmla="*/ 6 h 6"/>
                <a:gd name="T4" fmla="*/ 0 w 2"/>
                <a:gd name="T5" fmla="*/ 0 h 6"/>
                <a:gd name="T6" fmla="*/ 2 w 2"/>
                <a:gd name="T7" fmla="*/ 0 h 6"/>
                <a:gd name="T8" fmla="*/ 2 w 2"/>
                <a:gd name="T9" fmla="*/ 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2" y="6"/>
                  </a:lnTo>
                  <a:lnTo>
                    <a:pt x="0" y="0"/>
                  </a:lnTo>
                  <a:lnTo>
                    <a:pt x="2" y="0"/>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4" name="Freeform 437"/>
            <p:cNvSpPr>
              <a:spLocks/>
            </p:cNvSpPr>
            <p:nvPr/>
          </p:nvSpPr>
          <p:spPr bwMode="auto">
            <a:xfrm>
              <a:off x="2486" y="1446"/>
              <a:ext cx="16" cy="8"/>
            </a:xfrm>
            <a:custGeom>
              <a:avLst/>
              <a:gdLst>
                <a:gd name="T0" fmla="*/ 16 w 16"/>
                <a:gd name="T1" fmla="*/ 8 h 8"/>
                <a:gd name="T2" fmla="*/ 0 w 16"/>
                <a:gd name="T3" fmla="*/ 6 h 8"/>
                <a:gd name="T4" fmla="*/ 2 w 16"/>
                <a:gd name="T5" fmla="*/ 0 h 8"/>
                <a:gd name="T6" fmla="*/ 16 w 16"/>
                <a:gd name="T7" fmla="*/ 2 h 8"/>
                <a:gd name="T8" fmla="*/ 16 w 16"/>
                <a:gd name="T9" fmla="*/ 8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16" y="8"/>
                  </a:moveTo>
                  <a:lnTo>
                    <a:pt x="0" y="6"/>
                  </a:lnTo>
                  <a:lnTo>
                    <a:pt x="2" y="0"/>
                  </a:lnTo>
                  <a:lnTo>
                    <a:pt x="16" y="2"/>
                  </a:lnTo>
                  <a:lnTo>
                    <a:pt x="1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5" name="Freeform 438"/>
            <p:cNvSpPr>
              <a:spLocks/>
            </p:cNvSpPr>
            <p:nvPr/>
          </p:nvSpPr>
          <p:spPr bwMode="auto">
            <a:xfrm>
              <a:off x="2484" y="1446"/>
              <a:ext cx="4" cy="6"/>
            </a:xfrm>
            <a:custGeom>
              <a:avLst/>
              <a:gdLst>
                <a:gd name="T0" fmla="*/ 2 w 4"/>
                <a:gd name="T1" fmla="*/ 6 h 6"/>
                <a:gd name="T2" fmla="*/ 0 w 4"/>
                <a:gd name="T3" fmla="*/ 6 h 6"/>
                <a:gd name="T4" fmla="*/ 2 w 4"/>
                <a:gd name="T5" fmla="*/ 0 h 6"/>
                <a:gd name="T6" fmla="*/ 4 w 4"/>
                <a:gd name="T7" fmla="*/ 0 h 6"/>
                <a:gd name="T8" fmla="*/ 2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2" y="6"/>
                  </a:moveTo>
                  <a:lnTo>
                    <a:pt x="0" y="6"/>
                  </a:lnTo>
                  <a:lnTo>
                    <a:pt x="2" y="0"/>
                  </a:lnTo>
                  <a:lnTo>
                    <a:pt x="4" y="0"/>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6" name="Freeform 439"/>
            <p:cNvSpPr>
              <a:spLocks/>
            </p:cNvSpPr>
            <p:nvPr/>
          </p:nvSpPr>
          <p:spPr bwMode="auto">
            <a:xfrm>
              <a:off x="2454" y="1434"/>
              <a:ext cx="16" cy="12"/>
            </a:xfrm>
            <a:custGeom>
              <a:avLst/>
              <a:gdLst>
                <a:gd name="T0" fmla="*/ 12 w 16"/>
                <a:gd name="T1" fmla="*/ 12 h 12"/>
                <a:gd name="T2" fmla="*/ 0 w 16"/>
                <a:gd name="T3" fmla="*/ 6 h 12"/>
                <a:gd name="T4" fmla="*/ 4 w 16"/>
                <a:gd name="T5" fmla="*/ 0 h 12"/>
                <a:gd name="T6" fmla="*/ 16 w 16"/>
                <a:gd name="T7" fmla="*/ 6 h 12"/>
                <a:gd name="T8" fmla="*/ 12 w 16"/>
                <a:gd name="T9" fmla="*/ 12 h 12"/>
                <a:gd name="T10" fmla="*/ 0 60000 65536"/>
                <a:gd name="T11" fmla="*/ 0 60000 65536"/>
                <a:gd name="T12" fmla="*/ 0 60000 65536"/>
                <a:gd name="T13" fmla="*/ 0 60000 65536"/>
                <a:gd name="T14" fmla="*/ 0 60000 65536"/>
                <a:gd name="T15" fmla="*/ 0 w 16"/>
                <a:gd name="T16" fmla="*/ 0 h 12"/>
                <a:gd name="T17" fmla="*/ 16 w 16"/>
                <a:gd name="T18" fmla="*/ 12 h 12"/>
              </a:gdLst>
              <a:ahLst/>
              <a:cxnLst>
                <a:cxn ang="T10">
                  <a:pos x="T0" y="T1"/>
                </a:cxn>
                <a:cxn ang="T11">
                  <a:pos x="T2" y="T3"/>
                </a:cxn>
                <a:cxn ang="T12">
                  <a:pos x="T4" y="T5"/>
                </a:cxn>
                <a:cxn ang="T13">
                  <a:pos x="T6" y="T7"/>
                </a:cxn>
                <a:cxn ang="T14">
                  <a:pos x="T8" y="T9"/>
                </a:cxn>
              </a:cxnLst>
              <a:rect l="T15" t="T16" r="T17" b="T18"/>
              <a:pathLst>
                <a:path w="16" h="12">
                  <a:moveTo>
                    <a:pt x="12" y="12"/>
                  </a:moveTo>
                  <a:lnTo>
                    <a:pt x="0" y="6"/>
                  </a:lnTo>
                  <a:lnTo>
                    <a:pt x="4" y="0"/>
                  </a:lnTo>
                  <a:lnTo>
                    <a:pt x="16" y="6"/>
                  </a:lnTo>
                  <a:lnTo>
                    <a:pt x="1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7" name="Freeform 440"/>
            <p:cNvSpPr>
              <a:spLocks/>
            </p:cNvSpPr>
            <p:nvPr/>
          </p:nvSpPr>
          <p:spPr bwMode="auto">
            <a:xfrm>
              <a:off x="2452" y="1432"/>
              <a:ext cx="6" cy="8"/>
            </a:xfrm>
            <a:custGeom>
              <a:avLst/>
              <a:gdLst>
                <a:gd name="T0" fmla="*/ 2 w 6"/>
                <a:gd name="T1" fmla="*/ 8 h 8"/>
                <a:gd name="T2" fmla="*/ 0 w 6"/>
                <a:gd name="T3" fmla="*/ 4 h 8"/>
                <a:gd name="T4" fmla="*/ 4 w 6"/>
                <a:gd name="T5" fmla="*/ 0 h 8"/>
                <a:gd name="T6" fmla="*/ 6 w 6"/>
                <a:gd name="T7" fmla="*/ 2 h 8"/>
                <a:gd name="T8" fmla="*/ 2 w 6"/>
                <a:gd name="T9" fmla="*/ 8 h 8"/>
                <a:gd name="T10" fmla="*/ 0 60000 65536"/>
                <a:gd name="T11" fmla="*/ 0 60000 65536"/>
                <a:gd name="T12" fmla="*/ 0 60000 65536"/>
                <a:gd name="T13" fmla="*/ 0 60000 65536"/>
                <a:gd name="T14" fmla="*/ 0 60000 65536"/>
                <a:gd name="T15" fmla="*/ 0 w 6"/>
                <a:gd name="T16" fmla="*/ 0 h 8"/>
                <a:gd name="T17" fmla="*/ 6 w 6"/>
                <a:gd name="T18" fmla="*/ 8 h 8"/>
              </a:gdLst>
              <a:ahLst/>
              <a:cxnLst>
                <a:cxn ang="T10">
                  <a:pos x="T0" y="T1"/>
                </a:cxn>
                <a:cxn ang="T11">
                  <a:pos x="T2" y="T3"/>
                </a:cxn>
                <a:cxn ang="T12">
                  <a:pos x="T4" y="T5"/>
                </a:cxn>
                <a:cxn ang="T13">
                  <a:pos x="T6" y="T7"/>
                </a:cxn>
                <a:cxn ang="T14">
                  <a:pos x="T8" y="T9"/>
                </a:cxn>
              </a:cxnLst>
              <a:rect l="T15" t="T16" r="T17" b="T18"/>
              <a:pathLst>
                <a:path w="6" h="8">
                  <a:moveTo>
                    <a:pt x="2" y="8"/>
                  </a:moveTo>
                  <a:lnTo>
                    <a:pt x="0" y="4"/>
                  </a:lnTo>
                  <a:lnTo>
                    <a:pt x="4" y="0"/>
                  </a:lnTo>
                  <a:lnTo>
                    <a:pt x="6" y="2"/>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8" name="Freeform 441"/>
            <p:cNvSpPr>
              <a:spLocks/>
            </p:cNvSpPr>
            <p:nvPr/>
          </p:nvSpPr>
          <p:spPr bwMode="auto">
            <a:xfrm>
              <a:off x="2454" y="1434"/>
              <a:ext cx="4" cy="6"/>
            </a:xfrm>
            <a:custGeom>
              <a:avLst/>
              <a:gdLst>
                <a:gd name="T0" fmla="*/ 0 w 4"/>
                <a:gd name="T1" fmla="*/ 6 h 6"/>
                <a:gd name="T2" fmla="*/ 0 w 4"/>
                <a:gd name="T3" fmla="*/ 6 h 6"/>
                <a:gd name="T4" fmla="*/ 4 w 4"/>
                <a:gd name="T5" fmla="*/ 0 h 6"/>
                <a:gd name="T6" fmla="*/ 4 w 4"/>
                <a:gd name="T7" fmla="*/ 0 h 6"/>
                <a:gd name="T8" fmla="*/ 0 w 4"/>
                <a:gd name="T9" fmla="*/ 6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0" y="6"/>
                  </a:moveTo>
                  <a:lnTo>
                    <a:pt x="0" y="6"/>
                  </a:lnTo>
                  <a:lnTo>
                    <a:pt x="4"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69" name="Freeform 442"/>
            <p:cNvSpPr>
              <a:spLocks/>
            </p:cNvSpPr>
            <p:nvPr/>
          </p:nvSpPr>
          <p:spPr bwMode="auto">
            <a:xfrm>
              <a:off x="2430" y="1412"/>
              <a:ext cx="14" cy="14"/>
            </a:xfrm>
            <a:custGeom>
              <a:avLst/>
              <a:gdLst>
                <a:gd name="T0" fmla="*/ 8 w 14"/>
                <a:gd name="T1" fmla="*/ 14 h 14"/>
                <a:gd name="T2" fmla="*/ 0 w 14"/>
                <a:gd name="T3" fmla="*/ 4 h 14"/>
                <a:gd name="T4" fmla="*/ 4 w 14"/>
                <a:gd name="T5" fmla="*/ 0 h 14"/>
                <a:gd name="T6" fmla="*/ 14 w 14"/>
                <a:gd name="T7" fmla="*/ 10 h 14"/>
                <a:gd name="T8" fmla="*/ 8 w 14"/>
                <a:gd name="T9" fmla="*/ 14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8" y="14"/>
                  </a:moveTo>
                  <a:lnTo>
                    <a:pt x="0" y="4"/>
                  </a:lnTo>
                  <a:lnTo>
                    <a:pt x="4" y="0"/>
                  </a:lnTo>
                  <a:lnTo>
                    <a:pt x="14" y="10"/>
                  </a:lnTo>
                  <a:lnTo>
                    <a:pt x="8"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0" name="Freeform 443"/>
            <p:cNvSpPr>
              <a:spLocks/>
            </p:cNvSpPr>
            <p:nvPr/>
          </p:nvSpPr>
          <p:spPr bwMode="auto">
            <a:xfrm>
              <a:off x="2428" y="1408"/>
              <a:ext cx="8" cy="6"/>
            </a:xfrm>
            <a:custGeom>
              <a:avLst/>
              <a:gdLst>
                <a:gd name="T0" fmla="*/ 2 w 8"/>
                <a:gd name="T1" fmla="*/ 6 h 6"/>
                <a:gd name="T2" fmla="*/ 0 w 8"/>
                <a:gd name="T3" fmla="*/ 2 h 6"/>
                <a:gd name="T4" fmla="*/ 6 w 8"/>
                <a:gd name="T5" fmla="*/ 0 h 6"/>
                <a:gd name="T6" fmla="*/ 8 w 8"/>
                <a:gd name="T7" fmla="*/ 4 h 6"/>
                <a:gd name="T8" fmla="*/ 2 w 8"/>
                <a:gd name="T9" fmla="*/ 6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2" y="6"/>
                  </a:moveTo>
                  <a:lnTo>
                    <a:pt x="0" y="2"/>
                  </a:lnTo>
                  <a:lnTo>
                    <a:pt x="6" y="0"/>
                  </a:lnTo>
                  <a:lnTo>
                    <a:pt x="8" y="4"/>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1" name="Freeform 444"/>
            <p:cNvSpPr>
              <a:spLocks/>
            </p:cNvSpPr>
            <p:nvPr/>
          </p:nvSpPr>
          <p:spPr bwMode="auto">
            <a:xfrm>
              <a:off x="2430" y="1412"/>
              <a:ext cx="6" cy="4"/>
            </a:xfrm>
            <a:custGeom>
              <a:avLst/>
              <a:gdLst>
                <a:gd name="T0" fmla="*/ 0 w 6"/>
                <a:gd name="T1" fmla="*/ 2 h 4"/>
                <a:gd name="T2" fmla="*/ 0 w 6"/>
                <a:gd name="T3" fmla="*/ 4 h 4"/>
                <a:gd name="T4" fmla="*/ 4 w 6"/>
                <a:gd name="T5" fmla="*/ 0 h 4"/>
                <a:gd name="T6" fmla="*/ 6 w 6"/>
                <a:gd name="T7" fmla="*/ 0 h 4"/>
                <a:gd name="T8" fmla="*/ 0 w 6"/>
                <a:gd name="T9" fmla="*/ 2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2"/>
                  </a:moveTo>
                  <a:lnTo>
                    <a:pt x="0" y="4"/>
                  </a:lnTo>
                  <a:lnTo>
                    <a:pt x="4" y="0"/>
                  </a:lnTo>
                  <a:lnTo>
                    <a:pt x="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2" name="Freeform 445"/>
            <p:cNvSpPr>
              <a:spLocks/>
            </p:cNvSpPr>
            <p:nvPr/>
          </p:nvSpPr>
          <p:spPr bwMode="auto">
            <a:xfrm>
              <a:off x="2416" y="1382"/>
              <a:ext cx="10" cy="12"/>
            </a:xfrm>
            <a:custGeom>
              <a:avLst/>
              <a:gdLst>
                <a:gd name="T0" fmla="*/ 4 w 10"/>
                <a:gd name="T1" fmla="*/ 12 h 12"/>
                <a:gd name="T2" fmla="*/ 0 w 10"/>
                <a:gd name="T3" fmla="*/ 2 h 12"/>
                <a:gd name="T4" fmla="*/ 6 w 10"/>
                <a:gd name="T5" fmla="*/ 0 h 12"/>
                <a:gd name="T6" fmla="*/ 10 w 10"/>
                <a:gd name="T7" fmla="*/ 10 h 12"/>
                <a:gd name="T8" fmla="*/ 4 w 10"/>
                <a:gd name="T9" fmla="*/ 12 h 12"/>
                <a:gd name="T10" fmla="*/ 0 60000 65536"/>
                <a:gd name="T11" fmla="*/ 0 60000 65536"/>
                <a:gd name="T12" fmla="*/ 0 60000 65536"/>
                <a:gd name="T13" fmla="*/ 0 60000 65536"/>
                <a:gd name="T14" fmla="*/ 0 60000 65536"/>
                <a:gd name="T15" fmla="*/ 0 w 10"/>
                <a:gd name="T16" fmla="*/ 0 h 12"/>
                <a:gd name="T17" fmla="*/ 10 w 10"/>
                <a:gd name="T18" fmla="*/ 12 h 12"/>
              </a:gdLst>
              <a:ahLst/>
              <a:cxnLst>
                <a:cxn ang="T10">
                  <a:pos x="T0" y="T1"/>
                </a:cxn>
                <a:cxn ang="T11">
                  <a:pos x="T2" y="T3"/>
                </a:cxn>
                <a:cxn ang="T12">
                  <a:pos x="T4" y="T5"/>
                </a:cxn>
                <a:cxn ang="T13">
                  <a:pos x="T6" y="T7"/>
                </a:cxn>
                <a:cxn ang="T14">
                  <a:pos x="T8" y="T9"/>
                </a:cxn>
              </a:cxnLst>
              <a:rect l="T15" t="T16" r="T17" b="T18"/>
              <a:pathLst>
                <a:path w="10" h="12">
                  <a:moveTo>
                    <a:pt x="4" y="12"/>
                  </a:moveTo>
                  <a:lnTo>
                    <a:pt x="0" y="2"/>
                  </a:lnTo>
                  <a:lnTo>
                    <a:pt x="6" y="0"/>
                  </a:lnTo>
                  <a:lnTo>
                    <a:pt x="10" y="10"/>
                  </a:lnTo>
                  <a:lnTo>
                    <a:pt x="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3" name="Freeform 446"/>
            <p:cNvSpPr>
              <a:spLocks/>
            </p:cNvSpPr>
            <p:nvPr/>
          </p:nvSpPr>
          <p:spPr bwMode="auto">
            <a:xfrm>
              <a:off x="2416" y="1376"/>
              <a:ext cx="6" cy="6"/>
            </a:xfrm>
            <a:custGeom>
              <a:avLst/>
              <a:gdLst>
                <a:gd name="T0" fmla="*/ 0 w 6"/>
                <a:gd name="T1" fmla="*/ 6 h 6"/>
                <a:gd name="T2" fmla="*/ 0 w 6"/>
                <a:gd name="T3" fmla="*/ 2 h 6"/>
                <a:gd name="T4" fmla="*/ 6 w 6"/>
                <a:gd name="T5" fmla="*/ 0 h 6"/>
                <a:gd name="T6" fmla="*/ 6 w 6"/>
                <a:gd name="T7" fmla="*/ 6 h 6"/>
                <a:gd name="T8" fmla="*/ 0 w 6"/>
                <a:gd name="T9" fmla="*/ 6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0" y="6"/>
                  </a:moveTo>
                  <a:lnTo>
                    <a:pt x="0" y="2"/>
                  </a:lnTo>
                  <a:lnTo>
                    <a:pt x="6" y="0"/>
                  </a:lnTo>
                  <a:lnTo>
                    <a:pt x="6"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4" name="Freeform 447"/>
            <p:cNvSpPr>
              <a:spLocks/>
            </p:cNvSpPr>
            <p:nvPr/>
          </p:nvSpPr>
          <p:spPr bwMode="auto">
            <a:xfrm>
              <a:off x="2416" y="1382"/>
              <a:ext cx="6" cy="2"/>
            </a:xfrm>
            <a:custGeom>
              <a:avLst/>
              <a:gdLst>
                <a:gd name="T0" fmla="*/ 0 w 6"/>
                <a:gd name="T1" fmla="*/ 0 h 2"/>
                <a:gd name="T2" fmla="*/ 0 w 6"/>
                <a:gd name="T3" fmla="*/ 2 h 2"/>
                <a:gd name="T4" fmla="*/ 6 w 6"/>
                <a:gd name="T5" fmla="*/ 0 h 2"/>
                <a:gd name="T6" fmla="*/ 6 w 6"/>
                <a:gd name="T7" fmla="*/ 0 h 2"/>
                <a:gd name="T8" fmla="*/ 0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0"/>
                  </a:moveTo>
                  <a:lnTo>
                    <a:pt x="0" y="2"/>
                  </a:lnTo>
                  <a:lnTo>
                    <a:pt x="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5" name="Freeform 448"/>
            <p:cNvSpPr>
              <a:spLocks/>
            </p:cNvSpPr>
            <p:nvPr/>
          </p:nvSpPr>
          <p:spPr bwMode="auto">
            <a:xfrm>
              <a:off x="2414" y="1348"/>
              <a:ext cx="8" cy="12"/>
            </a:xfrm>
            <a:custGeom>
              <a:avLst/>
              <a:gdLst>
                <a:gd name="T0" fmla="*/ 0 w 8"/>
                <a:gd name="T1" fmla="*/ 12 h 12"/>
                <a:gd name="T2" fmla="*/ 2 w 8"/>
                <a:gd name="T3" fmla="*/ 0 h 12"/>
                <a:gd name="T4" fmla="*/ 8 w 8"/>
                <a:gd name="T5" fmla="*/ 0 h 12"/>
                <a:gd name="T6" fmla="*/ 8 w 8"/>
                <a:gd name="T7" fmla="*/ 12 h 12"/>
                <a:gd name="T8" fmla="*/ 0 w 8"/>
                <a:gd name="T9" fmla="*/ 12 h 12"/>
                <a:gd name="T10" fmla="*/ 0 60000 65536"/>
                <a:gd name="T11" fmla="*/ 0 60000 65536"/>
                <a:gd name="T12" fmla="*/ 0 60000 65536"/>
                <a:gd name="T13" fmla="*/ 0 60000 65536"/>
                <a:gd name="T14" fmla="*/ 0 60000 65536"/>
                <a:gd name="T15" fmla="*/ 0 w 8"/>
                <a:gd name="T16" fmla="*/ 0 h 12"/>
                <a:gd name="T17" fmla="*/ 8 w 8"/>
                <a:gd name="T18" fmla="*/ 12 h 12"/>
              </a:gdLst>
              <a:ahLst/>
              <a:cxnLst>
                <a:cxn ang="T10">
                  <a:pos x="T0" y="T1"/>
                </a:cxn>
                <a:cxn ang="T11">
                  <a:pos x="T2" y="T3"/>
                </a:cxn>
                <a:cxn ang="T12">
                  <a:pos x="T4" y="T5"/>
                </a:cxn>
                <a:cxn ang="T13">
                  <a:pos x="T6" y="T7"/>
                </a:cxn>
                <a:cxn ang="T14">
                  <a:pos x="T8" y="T9"/>
                </a:cxn>
              </a:cxnLst>
              <a:rect l="T15" t="T16" r="T17" b="T18"/>
              <a:pathLst>
                <a:path w="8" h="12">
                  <a:moveTo>
                    <a:pt x="0" y="12"/>
                  </a:moveTo>
                  <a:lnTo>
                    <a:pt x="2" y="0"/>
                  </a:lnTo>
                  <a:lnTo>
                    <a:pt x="8" y="0"/>
                  </a:lnTo>
                  <a:lnTo>
                    <a:pt x="8" y="12"/>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6" name="Freeform 449"/>
            <p:cNvSpPr>
              <a:spLocks/>
            </p:cNvSpPr>
            <p:nvPr/>
          </p:nvSpPr>
          <p:spPr bwMode="auto">
            <a:xfrm>
              <a:off x="2416" y="1342"/>
              <a:ext cx="8" cy="6"/>
            </a:xfrm>
            <a:custGeom>
              <a:avLst/>
              <a:gdLst>
                <a:gd name="T0" fmla="*/ 0 w 8"/>
                <a:gd name="T1" fmla="*/ 4 h 6"/>
                <a:gd name="T2" fmla="*/ 2 w 8"/>
                <a:gd name="T3" fmla="*/ 0 h 6"/>
                <a:gd name="T4" fmla="*/ 8 w 8"/>
                <a:gd name="T5" fmla="*/ 2 h 6"/>
                <a:gd name="T6" fmla="*/ 6 w 8"/>
                <a:gd name="T7" fmla="*/ 6 h 6"/>
                <a:gd name="T8" fmla="*/ 0 w 8"/>
                <a:gd name="T9" fmla="*/ 4 h 6"/>
                <a:gd name="T10" fmla="*/ 0 60000 65536"/>
                <a:gd name="T11" fmla="*/ 0 60000 65536"/>
                <a:gd name="T12" fmla="*/ 0 60000 65536"/>
                <a:gd name="T13" fmla="*/ 0 60000 65536"/>
                <a:gd name="T14" fmla="*/ 0 60000 65536"/>
                <a:gd name="T15" fmla="*/ 0 w 8"/>
                <a:gd name="T16" fmla="*/ 0 h 6"/>
                <a:gd name="T17" fmla="*/ 8 w 8"/>
                <a:gd name="T18" fmla="*/ 6 h 6"/>
              </a:gdLst>
              <a:ahLst/>
              <a:cxnLst>
                <a:cxn ang="T10">
                  <a:pos x="T0" y="T1"/>
                </a:cxn>
                <a:cxn ang="T11">
                  <a:pos x="T2" y="T3"/>
                </a:cxn>
                <a:cxn ang="T12">
                  <a:pos x="T4" y="T5"/>
                </a:cxn>
                <a:cxn ang="T13">
                  <a:pos x="T6" y="T7"/>
                </a:cxn>
                <a:cxn ang="T14">
                  <a:pos x="T8" y="T9"/>
                </a:cxn>
              </a:cxnLst>
              <a:rect l="T15" t="T16" r="T17" b="T18"/>
              <a:pathLst>
                <a:path w="8" h="6">
                  <a:moveTo>
                    <a:pt x="0" y="4"/>
                  </a:moveTo>
                  <a:lnTo>
                    <a:pt x="2" y="0"/>
                  </a:lnTo>
                  <a:lnTo>
                    <a:pt x="8" y="2"/>
                  </a:lnTo>
                  <a:lnTo>
                    <a:pt x="6" y="6"/>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7" name="Freeform 450"/>
            <p:cNvSpPr>
              <a:spLocks/>
            </p:cNvSpPr>
            <p:nvPr/>
          </p:nvSpPr>
          <p:spPr bwMode="auto">
            <a:xfrm>
              <a:off x="2416" y="1346"/>
              <a:ext cx="6" cy="2"/>
            </a:xfrm>
            <a:custGeom>
              <a:avLst/>
              <a:gdLst>
                <a:gd name="T0" fmla="*/ 0 w 6"/>
                <a:gd name="T1" fmla="*/ 0 h 2"/>
                <a:gd name="T2" fmla="*/ 0 w 6"/>
                <a:gd name="T3" fmla="*/ 2 h 2"/>
                <a:gd name="T4" fmla="*/ 6 w 6"/>
                <a:gd name="T5" fmla="*/ 2 h 2"/>
                <a:gd name="T6" fmla="*/ 6 w 6"/>
                <a:gd name="T7" fmla="*/ 2 h 2"/>
                <a:gd name="T8" fmla="*/ 0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0"/>
                  </a:moveTo>
                  <a:lnTo>
                    <a:pt x="0" y="2"/>
                  </a:lnTo>
                  <a:lnTo>
                    <a:pt x="6"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8" name="Freeform 451"/>
            <p:cNvSpPr>
              <a:spLocks/>
            </p:cNvSpPr>
            <p:nvPr/>
          </p:nvSpPr>
          <p:spPr bwMode="auto">
            <a:xfrm>
              <a:off x="2424" y="1316"/>
              <a:ext cx="12" cy="12"/>
            </a:xfrm>
            <a:custGeom>
              <a:avLst/>
              <a:gdLst>
                <a:gd name="T0" fmla="*/ 0 w 12"/>
                <a:gd name="T1" fmla="*/ 10 h 12"/>
                <a:gd name="T2" fmla="*/ 6 w 12"/>
                <a:gd name="T3" fmla="*/ 0 h 12"/>
                <a:gd name="T4" fmla="*/ 12 w 12"/>
                <a:gd name="T5" fmla="*/ 2 h 12"/>
                <a:gd name="T6" fmla="*/ 6 w 12"/>
                <a:gd name="T7" fmla="*/ 12 h 12"/>
                <a:gd name="T8" fmla="*/ 0 w 12"/>
                <a:gd name="T9" fmla="*/ 10 h 12"/>
                <a:gd name="T10" fmla="*/ 0 60000 65536"/>
                <a:gd name="T11" fmla="*/ 0 60000 65536"/>
                <a:gd name="T12" fmla="*/ 0 60000 65536"/>
                <a:gd name="T13" fmla="*/ 0 60000 65536"/>
                <a:gd name="T14" fmla="*/ 0 60000 65536"/>
                <a:gd name="T15" fmla="*/ 0 w 12"/>
                <a:gd name="T16" fmla="*/ 0 h 12"/>
                <a:gd name="T17" fmla="*/ 12 w 12"/>
                <a:gd name="T18" fmla="*/ 12 h 12"/>
              </a:gdLst>
              <a:ahLst/>
              <a:cxnLst>
                <a:cxn ang="T10">
                  <a:pos x="T0" y="T1"/>
                </a:cxn>
                <a:cxn ang="T11">
                  <a:pos x="T2" y="T3"/>
                </a:cxn>
                <a:cxn ang="T12">
                  <a:pos x="T4" y="T5"/>
                </a:cxn>
                <a:cxn ang="T13">
                  <a:pos x="T6" y="T7"/>
                </a:cxn>
                <a:cxn ang="T14">
                  <a:pos x="T8" y="T9"/>
                </a:cxn>
              </a:cxnLst>
              <a:rect l="T15" t="T16" r="T17" b="T18"/>
              <a:pathLst>
                <a:path w="12" h="12">
                  <a:moveTo>
                    <a:pt x="0" y="10"/>
                  </a:moveTo>
                  <a:lnTo>
                    <a:pt x="6" y="0"/>
                  </a:lnTo>
                  <a:lnTo>
                    <a:pt x="12" y="2"/>
                  </a:lnTo>
                  <a:lnTo>
                    <a:pt x="6" y="12"/>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79" name="Freeform 452"/>
            <p:cNvSpPr>
              <a:spLocks/>
            </p:cNvSpPr>
            <p:nvPr/>
          </p:nvSpPr>
          <p:spPr bwMode="auto">
            <a:xfrm>
              <a:off x="2430" y="1310"/>
              <a:ext cx="8" cy="8"/>
            </a:xfrm>
            <a:custGeom>
              <a:avLst/>
              <a:gdLst>
                <a:gd name="T0" fmla="*/ 0 w 8"/>
                <a:gd name="T1" fmla="*/ 4 h 8"/>
                <a:gd name="T2" fmla="*/ 4 w 8"/>
                <a:gd name="T3" fmla="*/ 0 h 8"/>
                <a:gd name="T4" fmla="*/ 8 w 8"/>
                <a:gd name="T5" fmla="*/ 4 h 8"/>
                <a:gd name="T6" fmla="*/ 4 w 8"/>
                <a:gd name="T7" fmla="*/ 8 h 8"/>
                <a:gd name="T8" fmla="*/ 0 w 8"/>
                <a:gd name="T9" fmla="*/ 4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0" y="4"/>
                  </a:moveTo>
                  <a:lnTo>
                    <a:pt x="4" y="0"/>
                  </a:lnTo>
                  <a:lnTo>
                    <a:pt x="8" y="4"/>
                  </a:lnTo>
                  <a:lnTo>
                    <a:pt x="4" y="8"/>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0" name="Freeform 453"/>
            <p:cNvSpPr>
              <a:spLocks/>
            </p:cNvSpPr>
            <p:nvPr/>
          </p:nvSpPr>
          <p:spPr bwMode="auto">
            <a:xfrm>
              <a:off x="2430" y="1314"/>
              <a:ext cx="6" cy="4"/>
            </a:xfrm>
            <a:custGeom>
              <a:avLst/>
              <a:gdLst>
                <a:gd name="T0" fmla="*/ 0 w 6"/>
                <a:gd name="T1" fmla="*/ 0 h 4"/>
                <a:gd name="T2" fmla="*/ 0 w 6"/>
                <a:gd name="T3" fmla="*/ 2 h 4"/>
                <a:gd name="T4" fmla="*/ 6 w 6"/>
                <a:gd name="T5" fmla="*/ 4 h 4"/>
                <a:gd name="T6" fmla="*/ 4 w 6"/>
                <a:gd name="T7" fmla="*/ 4 h 4"/>
                <a:gd name="T8" fmla="*/ 0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0"/>
                  </a:moveTo>
                  <a:lnTo>
                    <a:pt x="0" y="2"/>
                  </a:lnTo>
                  <a:lnTo>
                    <a:pt x="6" y="4"/>
                  </a:lnTo>
                  <a:lnTo>
                    <a:pt x="4"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1" name="Freeform 454"/>
            <p:cNvSpPr>
              <a:spLocks/>
            </p:cNvSpPr>
            <p:nvPr/>
          </p:nvSpPr>
          <p:spPr bwMode="auto">
            <a:xfrm>
              <a:off x="2446" y="1290"/>
              <a:ext cx="12" cy="12"/>
            </a:xfrm>
            <a:custGeom>
              <a:avLst/>
              <a:gdLst>
                <a:gd name="T0" fmla="*/ 0 w 12"/>
                <a:gd name="T1" fmla="*/ 8 h 12"/>
                <a:gd name="T2" fmla="*/ 8 w 12"/>
                <a:gd name="T3" fmla="*/ 0 h 12"/>
                <a:gd name="T4" fmla="*/ 12 w 12"/>
                <a:gd name="T5" fmla="*/ 6 h 12"/>
                <a:gd name="T6" fmla="*/ 4 w 12"/>
                <a:gd name="T7" fmla="*/ 12 h 12"/>
                <a:gd name="T8" fmla="*/ 0 w 12"/>
                <a:gd name="T9" fmla="*/ 8 h 12"/>
                <a:gd name="T10" fmla="*/ 0 60000 65536"/>
                <a:gd name="T11" fmla="*/ 0 60000 65536"/>
                <a:gd name="T12" fmla="*/ 0 60000 65536"/>
                <a:gd name="T13" fmla="*/ 0 60000 65536"/>
                <a:gd name="T14" fmla="*/ 0 60000 65536"/>
                <a:gd name="T15" fmla="*/ 0 w 12"/>
                <a:gd name="T16" fmla="*/ 0 h 12"/>
                <a:gd name="T17" fmla="*/ 12 w 12"/>
                <a:gd name="T18" fmla="*/ 12 h 12"/>
              </a:gdLst>
              <a:ahLst/>
              <a:cxnLst>
                <a:cxn ang="T10">
                  <a:pos x="T0" y="T1"/>
                </a:cxn>
                <a:cxn ang="T11">
                  <a:pos x="T2" y="T3"/>
                </a:cxn>
                <a:cxn ang="T12">
                  <a:pos x="T4" y="T5"/>
                </a:cxn>
                <a:cxn ang="T13">
                  <a:pos x="T6" y="T7"/>
                </a:cxn>
                <a:cxn ang="T14">
                  <a:pos x="T8" y="T9"/>
                </a:cxn>
              </a:cxnLst>
              <a:rect l="T15" t="T16" r="T17" b="T18"/>
              <a:pathLst>
                <a:path w="12" h="12">
                  <a:moveTo>
                    <a:pt x="0" y="8"/>
                  </a:moveTo>
                  <a:lnTo>
                    <a:pt x="8" y="0"/>
                  </a:lnTo>
                  <a:lnTo>
                    <a:pt x="12" y="6"/>
                  </a:lnTo>
                  <a:lnTo>
                    <a:pt x="4" y="1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2" name="Freeform 455"/>
            <p:cNvSpPr>
              <a:spLocks/>
            </p:cNvSpPr>
            <p:nvPr/>
          </p:nvSpPr>
          <p:spPr bwMode="auto">
            <a:xfrm>
              <a:off x="2454" y="1286"/>
              <a:ext cx="10" cy="10"/>
            </a:xfrm>
            <a:custGeom>
              <a:avLst/>
              <a:gdLst>
                <a:gd name="T0" fmla="*/ 0 w 10"/>
                <a:gd name="T1" fmla="*/ 4 h 10"/>
                <a:gd name="T2" fmla="*/ 6 w 10"/>
                <a:gd name="T3" fmla="*/ 0 h 10"/>
                <a:gd name="T4" fmla="*/ 10 w 10"/>
                <a:gd name="T5" fmla="*/ 6 h 10"/>
                <a:gd name="T6" fmla="*/ 4 w 10"/>
                <a:gd name="T7" fmla="*/ 10 h 10"/>
                <a:gd name="T8" fmla="*/ 0 w 10"/>
                <a:gd name="T9" fmla="*/ 4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0" y="4"/>
                  </a:moveTo>
                  <a:lnTo>
                    <a:pt x="6" y="0"/>
                  </a:lnTo>
                  <a:lnTo>
                    <a:pt x="10" y="6"/>
                  </a:lnTo>
                  <a:lnTo>
                    <a:pt x="4"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3" name="Freeform 456"/>
            <p:cNvSpPr>
              <a:spLocks/>
            </p:cNvSpPr>
            <p:nvPr/>
          </p:nvSpPr>
          <p:spPr bwMode="auto">
            <a:xfrm>
              <a:off x="2454" y="1290"/>
              <a:ext cx="4" cy="6"/>
            </a:xfrm>
            <a:custGeom>
              <a:avLst/>
              <a:gdLst>
                <a:gd name="T0" fmla="*/ 0 w 4"/>
                <a:gd name="T1" fmla="*/ 0 h 6"/>
                <a:gd name="T2" fmla="*/ 0 w 4"/>
                <a:gd name="T3" fmla="*/ 0 h 6"/>
                <a:gd name="T4" fmla="*/ 4 w 4"/>
                <a:gd name="T5" fmla="*/ 6 h 6"/>
                <a:gd name="T6" fmla="*/ 4 w 4"/>
                <a:gd name="T7" fmla="*/ 6 h 6"/>
                <a:gd name="T8" fmla="*/ 0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0" y="0"/>
                  </a:moveTo>
                  <a:lnTo>
                    <a:pt x="0" y="0"/>
                  </a:lnTo>
                  <a:lnTo>
                    <a:pt x="4" y="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4" name="Freeform 457"/>
            <p:cNvSpPr>
              <a:spLocks/>
            </p:cNvSpPr>
            <p:nvPr/>
          </p:nvSpPr>
          <p:spPr bwMode="auto">
            <a:xfrm>
              <a:off x="2478" y="1276"/>
              <a:ext cx="10" cy="10"/>
            </a:xfrm>
            <a:custGeom>
              <a:avLst/>
              <a:gdLst>
                <a:gd name="T0" fmla="*/ 0 w 10"/>
                <a:gd name="T1" fmla="*/ 4 h 10"/>
                <a:gd name="T2" fmla="*/ 8 w 10"/>
                <a:gd name="T3" fmla="*/ 0 h 10"/>
                <a:gd name="T4" fmla="*/ 10 w 10"/>
                <a:gd name="T5" fmla="*/ 6 h 10"/>
                <a:gd name="T6" fmla="*/ 0 w 10"/>
                <a:gd name="T7" fmla="*/ 10 h 10"/>
                <a:gd name="T8" fmla="*/ 0 w 10"/>
                <a:gd name="T9" fmla="*/ 4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0" y="4"/>
                  </a:moveTo>
                  <a:lnTo>
                    <a:pt x="8" y="0"/>
                  </a:lnTo>
                  <a:lnTo>
                    <a:pt x="10" y="6"/>
                  </a:lnTo>
                  <a:lnTo>
                    <a:pt x="0" y="1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5" name="Freeform 458"/>
            <p:cNvSpPr>
              <a:spLocks/>
            </p:cNvSpPr>
            <p:nvPr/>
          </p:nvSpPr>
          <p:spPr bwMode="auto">
            <a:xfrm>
              <a:off x="2486" y="1276"/>
              <a:ext cx="10" cy="8"/>
            </a:xfrm>
            <a:custGeom>
              <a:avLst/>
              <a:gdLst>
                <a:gd name="T0" fmla="*/ 0 w 10"/>
                <a:gd name="T1" fmla="*/ 0 h 8"/>
                <a:gd name="T2" fmla="*/ 8 w 10"/>
                <a:gd name="T3" fmla="*/ 0 h 8"/>
                <a:gd name="T4" fmla="*/ 10 w 10"/>
                <a:gd name="T5" fmla="*/ 6 h 8"/>
                <a:gd name="T6" fmla="*/ 2 w 10"/>
                <a:gd name="T7" fmla="*/ 8 h 8"/>
                <a:gd name="T8" fmla="*/ 0 w 10"/>
                <a:gd name="T9" fmla="*/ 0 h 8"/>
                <a:gd name="T10" fmla="*/ 0 60000 65536"/>
                <a:gd name="T11" fmla="*/ 0 60000 65536"/>
                <a:gd name="T12" fmla="*/ 0 60000 65536"/>
                <a:gd name="T13" fmla="*/ 0 60000 65536"/>
                <a:gd name="T14" fmla="*/ 0 60000 65536"/>
                <a:gd name="T15" fmla="*/ 0 w 10"/>
                <a:gd name="T16" fmla="*/ 0 h 8"/>
                <a:gd name="T17" fmla="*/ 10 w 10"/>
                <a:gd name="T18" fmla="*/ 8 h 8"/>
              </a:gdLst>
              <a:ahLst/>
              <a:cxnLst>
                <a:cxn ang="T10">
                  <a:pos x="T0" y="T1"/>
                </a:cxn>
                <a:cxn ang="T11">
                  <a:pos x="T2" y="T3"/>
                </a:cxn>
                <a:cxn ang="T12">
                  <a:pos x="T4" y="T5"/>
                </a:cxn>
                <a:cxn ang="T13">
                  <a:pos x="T6" y="T7"/>
                </a:cxn>
                <a:cxn ang="T14">
                  <a:pos x="T8" y="T9"/>
                </a:cxn>
              </a:cxnLst>
              <a:rect l="T15" t="T16" r="T17" b="T18"/>
              <a:pathLst>
                <a:path w="10" h="8">
                  <a:moveTo>
                    <a:pt x="0" y="0"/>
                  </a:moveTo>
                  <a:lnTo>
                    <a:pt x="8" y="0"/>
                  </a:lnTo>
                  <a:lnTo>
                    <a:pt x="10" y="6"/>
                  </a:lnTo>
                  <a:lnTo>
                    <a:pt x="2"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6" name="Freeform 459"/>
            <p:cNvSpPr>
              <a:spLocks/>
            </p:cNvSpPr>
            <p:nvPr/>
          </p:nvSpPr>
          <p:spPr bwMode="auto">
            <a:xfrm>
              <a:off x="2486" y="1276"/>
              <a:ext cx="2" cy="8"/>
            </a:xfrm>
            <a:custGeom>
              <a:avLst/>
              <a:gdLst>
                <a:gd name="T0" fmla="*/ 0 w 2"/>
                <a:gd name="T1" fmla="*/ 0 h 8"/>
                <a:gd name="T2" fmla="*/ 0 w 2"/>
                <a:gd name="T3" fmla="*/ 0 h 8"/>
                <a:gd name="T4" fmla="*/ 2 w 2"/>
                <a:gd name="T5" fmla="*/ 6 h 8"/>
                <a:gd name="T6" fmla="*/ 2 w 2"/>
                <a:gd name="T7" fmla="*/ 8 h 8"/>
                <a:gd name="T8" fmla="*/ 0 w 2"/>
                <a:gd name="T9" fmla="*/ 0 h 8"/>
                <a:gd name="T10" fmla="*/ 0 60000 65536"/>
                <a:gd name="T11" fmla="*/ 0 60000 65536"/>
                <a:gd name="T12" fmla="*/ 0 60000 65536"/>
                <a:gd name="T13" fmla="*/ 0 60000 65536"/>
                <a:gd name="T14" fmla="*/ 0 60000 65536"/>
                <a:gd name="T15" fmla="*/ 0 w 2"/>
                <a:gd name="T16" fmla="*/ 0 h 8"/>
                <a:gd name="T17" fmla="*/ 2 w 2"/>
                <a:gd name="T18" fmla="*/ 8 h 8"/>
              </a:gdLst>
              <a:ahLst/>
              <a:cxnLst>
                <a:cxn ang="T10">
                  <a:pos x="T0" y="T1"/>
                </a:cxn>
                <a:cxn ang="T11">
                  <a:pos x="T2" y="T3"/>
                </a:cxn>
                <a:cxn ang="T12">
                  <a:pos x="T4" y="T5"/>
                </a:cxn>
                <a:cxn ang="T13">
                  <a:pos x="T6" y="T7"/>
                </a:cxn>
                <a:cxn ang="T14">
                  <a:pos x="T8" y="T9"/>
                </a:cxn>
              </a:cxnLst>
              <a:rect l="T15" t="T16" r="T17" b="T18"/>
              <a:pathLst>
                <a:path w="2" h="8">
                  <a:moveTo>
                    <a:pt x="0" y="0"/>
                  </a:moveTo>
                  <a:lnTo>
                    <a:pt x="0" y="0"/>
                  </a:lnTo>
                  <a:lnTo>
                    <a:pt x="2" y="6"/>
                  </a:lnTo>
                  <a:lnTo>
                    <a:pt x="2"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7" name="Freeform 460"/>
            <p:cNvSpPr>
              <a:spLocks/>
            </p:cNvSpPr>
            <p:nvPr/>
          </p:nvSpPr>
          <p:spPr bwMode="auto">
            <a:xfrm>
              <a:off x="2512" y="1276"/>
              <a:ext cx="10" cy="8"/>
            </a:xfrm>
            <a:custGeom>
              <a:avLst/>
              <a:gdLst>
                <a:gd name="T0" fmla="*/ 0 w 10"/>
                <a:gd name="T1" fmla="*/ 0 h 8"/>
                <a:gd name="T2" fmla="*/ 10 w 10"/>
                <a:gd name="T3" fmla="*/ 0 h 8"/>
                <a:gd name="T4" fmla="*/ 10 w 10"/>
                <a:gd name="T5" fmla="*/ 8 h 8"/>
                <a:gd name="T6" fmla="*/ 0 w 10"/>
                <a:gd name="T7" fmla="*/ 6 h 8"/>
                <a:gd name="T8" fmla="*/ 0 w 10"/>
                <a:gd name="T9" fmla="*/ 0 h 8"/>
                <a:gd name="T10" fmla="*/ 0 60000 65536"/>
                <a:gd name="T11" fmla="*/ 0 60000 65536"/>
                <a:gd name="T12" fmla="*/ 0 60000 65536"/>
                <a:gd name="T13" fmla="*/ 0 60000 65536"/>
                <a:gd name="T14" fmla="*/ 0 60000 65536"/>
                <a:gd name="T15" fmla="*/ 0 w 10"/>
                <a:gd name="T16" fmla="*/ 0 h 8"/>
                <a:gd name="T17" fmla="*/ 10 w 10"/>
                <a:gd name="T18" fmla="*/ 8 h 8"/>
              </a:gdLst>
              <a:ahLst/>
              <a:cxnLst>
                <a:cxn ang="T10">
                  <a:pos x="T0" y="T1"/>
                </a:cxn>
                <a:cxn ang="T11">
                  <a:pos x="T2" y="T3"/>
                </a:cxn>
                <a:cxn ang="T12">
                  <a:pos x="T4" y="T5"/>
                </a:cxn>
                <a:cxn ang="T13">
                  <a:pos x="T6" y="T7"/>
                </a:cxn>
                <a:cxn ang="T14">
                  <a:pos x="T8" y="T9"/>
                </a:cxn>
              </a:cxnLst>
              <a:rect l="T15" t="T16" r="T17" b="T18"/>
              <a:pathLst>
                <a:path w="10" h="8">
                  <a:moveTo>
                    <a:pt x="0" y="0"/>
                  </a:moveTo>
                  <a:lnTo>
                    <a:pt x="10" y="0"/>
                  </a:lnTo>
                  <a:lnTo>
                    <a:pt x="10" y="8"/>
                  </a:lnTo>
                  <a:lnTo>
                    <a:pt x="0" y="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8" name="Freeform 461"/>
            <p:cNvSpPr>
              <a:spLocks/>
            </p:cNvSpPr>
            <p:nvPr/>
          </p:nvSpPr>
          <p:spPr bwMode="auto">
            <a:xfrm>
              <a:off x="2520" y="1276"/>
              <a:ext cx="10" cy="10"/>
            </a:xfrm>
            <a:custGeom>
              <a:avLst/>
              <a:gdLst>
                <a:gd name="T0" fmla="*/ 2 w 10"/>
                <a:gd name="T1" fmla="*/ 0 h 10"/>
                <a:gd name="T2" fmla="*/ 10 w 10"/>
                <a:gd name="T3" fmla="*/ 4 h 10"/>
                <a:gd name="T4" fmla="*/ 8 w 10"/>
                <a:gd name="T5" fmla="*/ 10 h 10"/>
                <a:gd name="T6" fmla="*/ 0 w 10"/>
                <a:gd name="T7" fmla="*/ 6 h 10"/>
                <a:gd name="T8" fmla="*/ 2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2" y="0"/>
                  </a:moveTo>
                  <a:lnTo>
                    <a:pt x="10" y="4"/>
                  </a:lnTo>
                  <a:lnTo>
                    <a:pt x="8" y="1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89" name="Freeform 462"/>
            <p:cNvSpPr>
              <a:spLocks/>
            </p:cNvSpPr>
            <p:nvPr/>
          </p:nvSpPr>
          <p:spPr bwMode="auto">
            <a:xfrm>
              <a:off x="2520" y="1276"/>
              <a:ext cx="2" cy="8"/>
            </a:xfrm>
            <a:custGeom>
              <a:avLst/>
              <a:gdLst>
                <a:gd name="T0" fmla="*/ 2 w 2"/>
                <a:gd name="T1" fmla="*/ 0 h 8"/>
                <a:gd name="T2" fmla="*/ 2 w 2"/>
                <a:gd name="T3" fmla="*/ 0 h 8"/>
                <a:gd name="T4" fmla="*/ 2 w 2"/>
                <a:gd name="T5" fmla="*/ 8 h 8"/>
                <a:gd name="T6" fmla="*/ 0 w 2"/>
                <a:gd name="T7" fmla="*/ 6 h 8"/>
                <a:gd name="T8" fmla="*/ 2 w 2"/>
                <a:gd name="T9" fmla="*/ 0 h 8"/>
                <a:gd name="T10" fmla="*/ 0 60000 65536"/>
                <a:gd name="T11" fmla="*/ 0 60000 65536"/>
                <a:gd name="T12" fmla="*/ 0 60000 65536"/>
                <a:gd name="T13" fmla="*/ 0 60000 65536"/>
                <a:gd name="T14" fmla="*/ 0 60000 65536"/>
                <a:gd name="T15" fmla="*/ 0 w 2"/>
                <a:gd name="T16" fmla="*/ 0 h 8"/>
                <a:gd name="T17" fmla="*/ 2 w 2"/>
                <a:gd name="T18" fmla="*/ 8 h 8"/>
              </a:gdLst>
              <a:ahLst/>
              <a:cxnLst>
                <a:cxn ang="T10">
                  <a:pos x="T0" y="T1"/>
                </a:cxn>
                <a:cxn ang="T11">
                  <a:pos x="T2" y="T3"/>
                </a:cxn>
                <a:cxn ang="T12">
                  <a:pos x="T4" y="T5"/>
                </a:cxn>
                <a:cxn ang="T13">
                  <a:pos x="T6" y="T7"/>
                </a:cxn>
                <a:cxn ang="T14">
                  <a:pos x="T8" y="T9"/>
                </a:cxn>
              </a:cxnLst>
              <a:rect l="T15" t="T16" r="T17" b="T18"/>
              <a:pathLst>
                <a:path w="2" h="8">
                  <a:moveTo>
                    <a:pt x="2" y="0"/>
                  </a:moveTo>
                  <a:lnTo>
                    <a:pt x="2" y="0"/>
                  </a:lnTo>
                  <a:lnTo>
                    <a:pt x="2" y="8"/>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0" name="Freeform 463"/>
            <p:cNvSpPr>
              <a:spLocks/>
            </p:cNvSpPr>
            <p:nvPr/>
          </p:nvSpPr>
          <p:spPr bwMode="auto">
            <a:xfrm>
              <a:off x="2544" y="1286"/>
              <a:ext cx="10" cy="10"/>
            </a:xfrm>
            <a:custGeom>
              <a:avLst/>
              <a:gdLst>
                <a:gd name="T0" fmla="*/ 2 w 10"/>
                <a:gd name="T1" fmla="*/ 0 h 10"/>
                <a:gd name="T2" fmla="*/ 10 w 10"/>
                <a:gd name="T3" fmla="*/ 4 h 10"/>
                <a:gd name="T4" fmla="*/ 8 w 10"/>
                <a:gd name="T5" fmla="*/ 10 h 10"/>
                <a:gd name="T6" fmla="*/ 0 w 10"/>
                <a:gd name="T7" fmla="*/ 6 h 10"/>
                <a:gd name="T8" fmla="*/ 2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2" y="0"/>
                  </a:moveTo>
                  <a:lnTo>
                    <a:pt x="10" y="4"/>
                  </a:lnTo>
                  <a:lnTo>
                    <a:pt x="8" y="10"/>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1" name="Freeform 464"/>
            <p:cNvSpPr>
              <a:spLocks/>
            </p:cNvSpPr>
            <p:nvPr/>
          </p:nvSpPr>
          <p:spPr bwMode="auto">
            <a:xfrm>
              <a:off x="2550" y="1290"/>
              <a:ext cx="12" cy="10"/>
            </a:xfrm>
            <a:custGeom>
              <a:avLst/>
              <a:gdLst>
                <a:gd name="T0" fmla="*/ 4 w 12"/>
                <a:gd name="T1" fmla="*/ 0 h 10"/>
                <a:gd name="T2" fmla="*/ 12 w 12"/>
                <a:gd name="T3" fmla="*/ 6 h 10"/>
                <a:gd name="T4" fmla="*/ 8 w 12"/>
                <a:gd name="T5" fmla="*/ 10 h 10"/>
                <a:gd name="T6" fmla="*/ 0 w 12"/>
                <a:gd name="T7" fmla="*/ 6 h 10"/>
                <a:gd name="T8" fmla="*/ 4 w 12"/>
                <a:gd name="T9" fmla="*/ 0 h 10"/>
                <a:gd name="T10" fmla="*/ 0 60000 65536"/>
                <a:gd name="T11" fmla="*/ 0 60000 65536"/>
                <a:gd name="T12" fmla="*/ 0 60000 65536"/>
                <a:gd name="T13" fmla="*/ 0 60000 65536"/>
                <a:gd name="T14" fmla="*/ 0 60000 65536"/>
                <a:gd name="T15" fmla="*/ 0 w 12"/>
                <a:gd name="T16" fmla="*/ 0 h 10"/>
                <a:gd name="T17" fmla="*/ 12 w 12"/>
                <a:gd name="T18" fmla="*/ 10 h 10"/>
              </a:gdLst>
              <a:ahLst/>
              <a:cxnLst>
                <a:cxn ang="T10">
                  <a:pos x="T0" y="T1"/>
                </a:cxn>
                <a:cxn ang="T11">
                  <a:pos x="T2" y="T3"/>
                </a:cxn>
                <a:cxn ang="T12">
                  <a:pos x="T4" y="T5"/>
                </a:cxn>
                <a:cxn ang="T13">
                  <a:pos x="T6" y="T7"/>
                </a:cxn>
                <a:cxn ang="T14">
                  <a:pos x="T8" y="T9"/>
                </a:cxn>
              </a:cxnLst>
              <a:rect l="T15" t="T16" r="T17" b="T18"/>
              <a:pathLst>
                <a:path w="12" h="10">
                  <a:moveTo>
                    <a:pt x="4" y="0"/>
                  </a:moveTo>
                  <a:lnTo>
                    <a:pt x="12" y="6"/>
                  </a:lnTo>
                  <a:lnTo>
                    <a:pt x="8" y="10"/>
                  </a:lnTo>
                  <a:lnTo>
                    <a:pt x="0" y="6"/>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2" name="Freeform 465"/>
            <p:cNvSpPr>
              <a:spLocks/>
            </p:cNvSpPr>
            <p:nvPr/>
          </p:nvSpPr>
          <p:spPr bwMode="auto">
            <a:xfrm>
              <a:off x="2550" y="1290"/>
              <a:ext cx="4" cy="6"/>
            </a:xfrm>
            <a:custGeom>
              <a:avLst/>
              <a:gdLst>
                <a:gd name="T0" fmla="*/ 4 w 4"/>
                <a:gd name="T1" fmla="*/ 0 h 6"/>
                <a:gd name="T2" fmla="*/ 4 w 4"/>
                <a:gd name="T3" fmla="*/ 0 h 6"/>
                <a:gd name="T4" fmla="*/ 2 w 4"/>
                <a:gd name="T5" fmla="*/ 6 h 6"/>
                <a:gd name="T6" fmla="*/ 0 w 4"/>
                <a:gd name="T7" fmla="*/ 6 h 6"/>
                <a:gd name="T8" fmla="*/ 4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0"/>
                  </a:moveTo>
                  <a:lnTo>
                    <a:pt x="4" y="0"/>
                  </a:lnTo>
                  <a:lnTo>
                    <a:pt x="2" y="6"/>
                  </a:lnTo>
                  <a:lnTo>
                    <a:pt x="0" y="6"/>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3" name="Freeform 466"/>
            <p:cNvSpPr>
              <a:spLocks/>
            </p:cNvSpPr>
            <p:nvPr/>
          </p:nvSpPr>
          <p:spPr bwMode="auto">
            <a:xfrm>
              <a:off x="2568" y="1308"/>
              <a:ext cx="10" cy="10"/>
            </a:xfrm>
            <a:custGeom>
              <a:avLst/>
              <a:gdLst>
                <a:gd name="T0" fmla="*/ 6 w 10"/>
                <a:gd name="T1" fmla="*/ 0 h 10"/>
                <a:gd name="T2" fmla="*/ 10 w 10"/>
                <a:gd name="T3" fmla="*/ 6 h 10"/>
                <a:gd name="T4" fmla="*/ 6 w 10"/>
                <a:gd name="T5" fmla="*/ 10 h 10"/>
                <a:gd name="T6" fmla="*/ 0 w 10"/>
                <a:gd name="T7" fmla="*/ 4 h 10"/>
                <a:gd name="T8" fmla="*/ 6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6" y="0"/>
                  </a:moveTo>
                  <a:lnTo>
                    <a:pt x="10" y="6"/>
                  </a:lnTo>
                  <a:lnTo>
                    <a:pt x="6" y="10"/>
                  </a:lnTo>
                  <a:lnTo>
                    <a:pt x="0" y="4"/>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4" name="Freeform 467"/>
            <p:cNvSpPr>
              <a:spLocks/>
            </p:cNvSpPr>
            <p:nvPr/>
          </p:nvSpPr>
          <p:spPr bwMode="auto">
            <a:xfrm>
              <a:off x="2574" y="1316"/>
              <a:ext cx="10" cy="10"/>
            </a:xfrm>
            <a:custGeom>
              <a:avLst/>
              <a:gdLst>
                <a:gd name="T0" fmla="*/ 4 w 10"/>
                <a:gd name="T1" fmla="*/ 0 h 10"/>
                <a:gd name="T2" fmla="*/ 10 w 10"/>
                <a:gd name="T3" fmla="*/ 8 h 10"/>
                <a:gd name="T4" fmla="*/ 4 w 10"/>
                <a:gd name="T5" fmla="*/ 10 h 10"/>
                <a:gd name="T6" fmla="*/ 0 w 10"/>
                <a:gd name="T7" fmla="*/ 2 h 10"/>
                <a:gd name="T8" fmla="*/ 4 w 10"/>
                <a:gd name="T9" fmla="*/ 0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4" y="0"/>
                  </a:moveTo>
                  <a:lnTo>
                    <a:pt x="10" y="8"/>
                  </a:lnTo>
                  <a:lnTo>
                    <a:pt x="4" y="10"/>
                  </a:lnTo>
                  <a:lnTo>
                    <a:pt x="0"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5" name="Freeform 468"/>
            <p:cNvSpPr>
              <a:spLocks/>
            </p:cNvSpPr>
            <p:nvPr/>
          </p:nvSpPr>
          <p:spPr bwMode="auto">
            <a:xfrm>
              <a:off x="2574" y="1314"/>
              <a:ext cx="4" cy="4"/>
            </a:xfrm>
            <a:custGeom>
              <a:avLst/>
              <a:gdLst>
                <a:gd name="T0" fmla="*/ 4 w 4"/>
                <a:gd name="T1" fmla="*/ 2 h 4"/>
                <a:gd name="T2" fmla="*/ 4 w 4"/>
                <a:gd name="T3" fmla="*/ 0 h 4"/>
                <a:gd name="T4" fmla="*/ 0 w 4"/>
                <a:gd name="T5" fmla="*/ 4 h 4"/>
                <a:gd name="T6" fmla="*/ 0 w 4"/>
                <a:gd name="T7" fmla="*/ 4 h 4"/>
                <a:gd name="T8" fmla="*/ 4 w 4"/>
                <a:gd name="T9" fmla="*/ 2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4" y="2"/>
                  </a:moveTo>
                  <a:lnTo>
                    <a:pt x="4" y="0"/>
                  </a:lnTo>
                  <a:lnTo>
                    <a:pt x="0" y="4"/>
                  </a:lnTo>
                  <a:lnTo>
                    <a:pt x="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6" name="Freeform 469"/>
            <p:cNvSpPr>
              <a:spLocks/>
            </p:cNvSpPr>
            <p:nvPr/>
          </p:nvSpPr>
          <p:spPr bwMode="auto">
            <a:xfrm>
              <a:off x="2584" y="1340"/>
              <a:ext cx="8" cy="8"/>
            </a:xfrm>
            <a:custGeom>
              <a:avLst/>
              <a:gdLst>
                <a:gd name="T0" fmla="*/ 6 w 8"/>
                <a:gd name="T1" fmla="*/ 0 h 8"/>
                <a:gd name="T2" fmla="*/ 8 w 8"/>
                <a:gd name="T3" fmla="*/ 6 h 8"/>
                <a:gd name="T4" fmla="*/ 2 w 8"/>
                <a:gd name="T5" fmla="*/ 8 h 8"/>
                <a:gd name="T6" fmla="*/ 0 w 8"/>
                <a:gd name="T7" fmla="*/ 2 h 8"/>
                <a:gd name="T8" fmla="*/ 6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6" y="0"/>
                  </a:moveTo>
                  <a:lnTo>
                    <a:pt x="8" y="6"/>
                  </a:lnTo>
                  <a:lnTo>
                    <a:pt x="2" y="8"/>
                  </a:lnTo>
                  <a:lnTo>
                    <a:pt x="0"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7" name="Freeform 470"/>
            <p:cNvSpPr>
              <a:spLocks/>
            </p:cNvSpPr>
            <p:nvPr/>
          </p:nvSpPr>
          <p:spPr bwMode="auto">
            <a:xfrm>
              <a:off x="2586" y="1348"/>
              <a:ext cx="8" cy="10"/>
            </a:xfrm>
            <a:custGeom>
              <a:avLst/>
              <a:gdLst>
                <a:gd name="T0" fmla="*/ 6 w 8"/>
                <a:gd name="T1" fmla="*/ 0 h 10"/>
                <a:gd name="T2" fmla="*/ 8 w 8"/>
                <a:gd name="T3" fmla="*/ 10 h 10"/>
                <a:gd name="T4" fmla="*/ 2 w 8"/>
                <a:gd name="T5" fmla="*/ 10 h 10"/>
                <a:gd name="T6" fmla="*/ 0 w 8"/>
                <a:gd name="T7" fmla="*/ 0 h 10"/>
                <a:gd name="T8" fmla="*/ 6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6" y="0"/>
                  </a:moveTo>
                  <a:lnTo>
                    <a:pt x="8" y="10"/>
                  </a:lnTo>
                  <a:lnTo>
                    <a:pt x="2" y="10"/>
                  </a:lnTo>
                  <a:lnTo>
                    <a:pt x="0"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8" name="Freeform 471"/>
            <p:cNvSpPr>
              <a:spLocks/>
            </p:cNvSpPr>
            <p:nvPr/>
          </p:nvSpPr>
          <p:spPr bwMode="auto">
            <a:xfrm>
              <a:off x="2586" y="1346"/>
              <a:ext cx="6" cy="2"/>
            </a:xfrm>
            <a:custGeom>
              <a:avLst/>
              <a:gdLst>
                <a:gd name="T0" fmla="*/ 6 w 6"/>
                <a:gd name="T1" fmla="*/ 2 h 2"/>
                <a:gd name="T2" fmla="*/ 6 w 6"/>
                <a:gd name="T3" fmla="*/ 0 h 2"/>
                <a:gd name="T4" fmla="*/ 0 w 6"/>
                <a:gd name="T5" fmla="*/ 2 h 2"/>
                <a:gd name="T6" fmla="*/ 0 w 6"/>
                <a:gd name="T7" fmla="*/ 2 h 2"/>
                <a:gd name="T8" fmla="*/ 6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2"/>
                  </a:moveTo>
                  <a:lnTo>
                    <a:pt x="6" y="0"/>
                  </a:lnTo>
                  <a:lnTo>
                    <a:pt x="0" y="2"/>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399" name="Oval 472"/>
            <p:cNvSpPr>
              <a:spLocks noChangeArrowheads="1"/>
            </p:cNvSpPr>
            <p:nvPr/>
          </p:nvSpPr>
          <p:spPr bwMode="auto">
            <a:xfrm>
              <a:off x="2639" y="120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0" name="Oval 473"/>
            <p:cNvSpPr>
              <a:spLocks noChangeArrowheads="1"/>
            </p:cNvSpPr>
            <p:nvPr/>
          </p:nvSpPr>
          <p:spPr bwMode="auto">
            <a:xfrm>
              <a:off x="2635" y="115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1" name="Oval 474"/>
            <p:cNvSpPr>
              <a:spLocks noChangeArrowheads="1"/>
            </p:cNvSpPr>
            <p:nvPr/>
          </p:nvSpPr>
          <p:spPr bwMode="auto">
            <a:xfrm>
              <a:off x="1903" y="1337"/>
              <a:ext cx="170" cy="7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2" name="Oval 475"/>
            <p:cNvSpPr>
              <a:spLocks noChangeArrowheads="1"/>
            </p:cNvSpPr>
            <p:nvPr/>
          </p:nvSpPr>
          <p:spPr bwMode="auto">
            <a:xfrm>
              <a:off x="1909" y="1665"/>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3" name="Oval 476"/>
            <p:cNvSpPr>
              <a:spLocks noChangeArrowheads="1"/>
            </p:cNvSpPr>
            <p:nvPr/>
          </p:nvSpPr>
          <p:spPr bwMode="auto">
            <a:xfrm>
              <a:off x="1909" y="1993"/>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4" name="Oval 477"/>
            <p:cNvSpPr>
              <a:spLocks noChangeArrowheads="1"/>
            </p:cNvSpPr>
            <p:nvPr/>
          </p:nvSpPr>
          <p:spPr bwMode="auto">
            <a:xfrm>
              <a:off x="2317" y="1327"/>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5" name="Oval 478"/>
            <p:cNvSpPr>
              <a:spLocks noChangeArrowheads="1"/>
            </p:cNvSpPr>
            <p:nvPr/>
          </p:nvSpPr>
          <p:spPr bwMode="auto">
            <a:xfrm>
              <a:off x="2311" y="13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6" name="Oval 479"/>
            <p:cNvSpPr>
              <a:spLocks noChangeArrowheads="1"/>
            </p:cNvSpPr>
            <p:nvPr/>
          </p:nvSpPr>
          <p:spPr bwMode="auto">
            <a:xfrm>
              <a:off x="2307" y="166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7" name="Oval 480"/>
            <p:cNvSpPr>
              <a:spLocks noChangeArrowheads="1"/>
            </p:cNvSpPr>
            <p:nvPr/>
          </p:nvSpPr>
          <p:spPr bwMode="auto">
            <a:xfrm>
              <a:off x="2307" y="17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8" name="Oval 481"/>
            <p:cNvSpPr>
              <a:spLocks noChangeArrowheads="1"/>
            </p:cNvSpPr>
            <p:nvPr/>
          </p:nvSpPr>
          <p:spPr bwMode="auto">
            <a:xfrm>
              <a:off x="2311" y="198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09" name="Oval 482"/>
            <p:cNvSpPr>
              <a:spLocks noChangeArrowheads="1"/>
            </p:cNvSpPr>
            <p:nvPr/>
          </p:nvSpPr>
          <p:spPr bwMode="auto">
            <a:xfrm>
              <a:off x="2311" y="205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0" name="Oval 483"/>
            <p:cNvSpPr>
              <a:spLocks noChangeArrowheads="1"/>
            </p:cNvSpPr>
            <p:nvPr/>
          </p:nvSpPr>
          <p:spPr bwMode="auto">
            <a:xfrm>
              <a:off x="2119" y="2113"/>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1" name="Oval 484"/>
            <p:cNvSpPr>
              <a:spLocks noChangeArrowheads="1"/>
            </p:cNvSpPr>
            <p:nvPr/>
          </p:nvSpPr>
          <p:spPr bwMode="auto">
            <a:xfrm>
              <a:off x="2119" y="1785"/>
              <a:ext cx="74"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2" name="Oval 485"/>
            <p:cNvSpPr>
              <a:spLocks noChangeArrowheads="1"/>
            </p:cNvSpPr>
            <p:nvPr/>
          </p:nvSpPr>
          <p:spPr bwMode="auto">
            <a:xfrm>
              <a:off x="2119" y="1461"/>
              <a:ext cx="74"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3" name="Oval 486"/>
            <p:cNvSpPr>
              <a:spLocks noChangeArrowheads="1"/>
            </p:cNvSpPr>
            <p:nvPr/>
          </p:nvSpPr>
          <p:spPr bwMode="auto">
            <a:xfrm>
              <a:off x="2119" y="1127"/>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14" name="Rectangle 487"/>
            <p:cNvSpPr>
              <a:spLocks noChangeArrowheads="1"/>
            </p:cNvSpPr>
            <p:nvPr/>
          </p:nvSpPr>
          <p:spPr bwMode="auto">
            <a:xfrm>
              <a:off x="1446" y="796"/>
              <a:ext cx="76"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D</a:t>
              </a:r>
              <a:endParaRPr lang="en-US" altLang="zh-CN">
                <a:ea typeface="宋体" panose="02010600030101010101" pitchFamily="2" charset="-122"/>
              </a:endParaRPr>
            </a:p>
          </p:txBody>
        </p:sp>
        <p:sp>
          <p:nvSpPr>
            <p:cNvPr id="415" name="Rectangle 488"/>
            <p:cNvSpPr>
              <a:spLocks noChangeArrowheads="1"/>
            </p:cNvSpPr>
            <p:nvPr/>
          </p:nvSpPr>
          <p:spPr bwMode="auto">
            <a:xfrm>
              <a:off x="1528" y="796"/>
              <a:ext cx="4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a</a:t>
              </a:r>
              <a:endParaRPr lang="en-US" altLang="zh-CN">
                <a:ea typeface="宋体" panose="02010600030101010101" pitchFamily="2" charset="-122"/>
              </a:endParaRPr>
            </a:p>
          </p:txBody>
        </p:sp>
        <p:sp>
          <p:nvSpPr>
            <p:cNvPr id="416" name="Rectangle 489"/>
            <p:cNvSpPr>
              <a:spLocks noChangeArrowheads="1"/>
            </p:cNvSpPr>
            <p:nvPr/>
          </p:nvSpPr>
          <p:spPr bwMode="auto">
            <a:xfrm>
              <a:off x="1578" y="79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n</a:t>
              </a:r>
              <a:endParaRPr lang="en-US" altLang="zh-CN">
                <a:ea typeface="宋体" panose="02010600030101010101" pitchFamily="2" charset="-122"/>
              </a:endParaRPr>
            </a:p>
          </p:txBody>
        </p:sp>
        <p:sp>
          <p:nvSpPr>
            <p:cNvPr id="417" name="Rectangle 490"/>
            <p:cNvSpPr>
              <a:spLocks noChangeArrowheads="1"/>
            </p:cNvSpPr>
            <p:nvPr/>
          </p:nvSpPr>
          <p:spPr bwMode="auto">
            <a:xfrm>
              <a:off x="1634" y="79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g</a:t>
              </a:r>
              <a:endParaRPr lang="en-US" altLang="zh-CN">
                <a:ea typeface="宋体" panose="02010600030101010101" pitchFamily="2" charset="-122"/>
              </a:endParaRPr>
            </a:p>
          </p:txBody>
        </p:sp>
        <p:sp>
          <p:nvSpPr>
            <p:cNvPr id="418" name="Rectangle 491"/>
            <p:cNvSpPr>
              <a:spLocks noChangeArrowheads="1"/>
            </p:cNvSpPr>
            <p:nvPr/>
          </p:nvSpPr>
          <p:spPr bwMode="auto">
            <a:xfrm>
              <a:off x="1690" y="796"/>
              <a:ext cx="2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l</a:t>
              </a:r>
              <a:endParaRPr lang="en-US" altLang="zh-CN">
                <a:ea typeface="宋体" panose="02010600030101010101" pitchFamily="2" charset="-122"/>
              </a:endParaRPr>
            </a:p>
          </p:txBody>
        </p:sp>
        <p:sp>
          <p:nvSpPr>
            <p:cNvPr id="419" name="Rectangle 492"/>
            <p:cNvSpPr>
              <a:spLocks noChangeArrowheads="1"/>
            </p:cNvSpPr>
            <p:nvPr/>
          </p:nvSpPr>
          <p:spPr bwMode="auto">
            <a:xfrm>
              <a:off x="1720" y="796"/>
              <a:ext cx="29"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i</a:t>
              </a:r>
              <a:endParaRPr lang="en-US" altLang="zh-CN">
                <a:ea typeface="宋体" panose="02010600030101010101" pitchFamily="2" charset="-122"/>
              </a:endParaRPr>
            </a:p>
          </p:txBody>
        </p:sp>
        <p:sp>
          <p:nvSpPr>
            <p:cNvPr id="420" name="Rectangle 493"/>
            <p:cNvSpPr>
              <a:spLocks noChangeArrowheads="1"/>
            </p:cNvSpPr>
            <p:nvPr/>
          </p:nvSpPr>
          <p:spPr bwMode="auto">
            <a:xfrm>
              <a:off x="1750" y="796"/>
              <a:ext cx="5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n</a:t>
              </a:r>
              <a:endParaRPr lang="en-US" altLang="zh-CN">
                <a:ea typeface="宋体" panose="02010600030101010101" pitchFamily="2" charset="-122"/>
              </a:endParaRPr>
            </a:p>
          </p:txBody>
        </p:sp>
        <p:sp>
          <p:nvSpPr>
            <p:cNvPr id="421" name="Rectangle 494"/>
            <p:cNvSpPr>
              <a:spLocks noChangeArrowheads="1"/>
            </p:cNvSpPr>
            <p:nvPr/>
          </p:nvSpPr>
          <p:spPr bwMode="auto">
            <a:xfrm>
              <a:off x="1806" y="796"/>
              <a:ext cx="5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g</a:t>
              </a:r>
              <a:endParaRPr lang="en-US" altLang="zh-CN">
                <a:ea typeface="宋体" panose="02010600030101010101" pitchFamily="2" charset="-122"/>
              </a:endParaRPr>
            </a:p>
          </p:txBody>
        </p:sp>
        <p:sp>
          <p:nvSpPr>
            <p:cNvPr id="422" name="Rectangle 495"/>
            <p:cNvSpPr>
              <a:spLocks noChangeArrowheads="1"/>
            </p:cNvSpPr>
            <p:nvPr/>
          </p:nvSpPr>
          <p:spPr bwMode="auto">
            <a:xfrm>
              <a:off x="1862" y="796"/>
              <a:ext cx="27"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zh-CN" altLang="en-US" sz="1400">
                  <a:solidFill>
                    <a:srgbClr val="000000"/>
                  </a:solidFill>
                  <a:latin typeface="Times" panose="02020603050405020304" pitchFamily="18" charset="0"/>
                  <a:ea typeface="宋体" panose="02010600030101010101" pitchFamily="2" charset="-122"/>
                </a:rPr>
                <a:t> </a:t>
              </a:r>
              <a:endParaRPr lang="zh-CN" altLang="en-US">
                <a:ea typeface="宋体" panose="02010600030101010101" pitchFamily="2" charset="-122"/>
              </a:endParaRPr>
            </a:p>
          </p:txBody>
        </p:sp>
        <p:sp>
          <p:nvSpPr>
            <p:cNvPr id="423" name="Rectangle 496"/>
            <p:cNvSpPr>
              <a:spLocks noChangeArrowheads="1"/>
            </p:cNvSpPr>
            <p:nvPr/>
          </p:nvSpPr>
          <p:spPr bwMode="auto">
            <a:xfrm>
              <a:off x="1890" y="796"/>
              <a:ext cx="52"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b</a:t>
              </a:r>
              <a:endParaRPr lang="en-US" altLang="zh-CN">
                <a:ea typeface="宋体" panose="02010600030101010101" pitchFamily="2" charset="-122"/>
              </a:endParaRPr>
            </a:p>
          </p:txBody>
        </p:sp>
        <p:sp>
          <p:nvSpPr>
            <p:cNvPr id="424" name="Rectangle 497"/>
            <p:cNvSpPr>
              <a:spLocks noChangeArrowheads="1"/>
            </p:cNvSpPr>
            <p:nvPr/>
          </p:nvSpPr>
          <p:spPr bwMode="auto">
            <a:xfrm>
              <a:off x="1946" y="79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o</a:t>
              </a:r>
              <a:endParaRPr lang="en-US" altLang="zh-CN">
                <a:ea typeface="宋体" panose="02010600030101010101" pitchFamily="2" charset="-122"/>
              </a:endParaRPr>
            </a:p>
          </p:txBody>
        </p:sp>
        <p:sp>
          <p:nvSpPr>
            <p:cNvPr id="425" name="Rectangle 498"/>
            <p:cNvSpPr>
              <a:spLocks noChangeArrowheads="1"/>
            </p:cNvSpPr>
            <p:nvPr/>
          </p:nvSpPr>
          <p:spPr bwMode="auto">
            <a:xfrm>
              <a:off x="2002" y="796"/>
              <a:ext cx="53"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n</a:t>
              </a:r>
              <a:endParaRPr lang="en-US" altLang="zh-CN">
                <a:ea typeface="宋体" panose="02010600030101010101" pitchFamily="2" charset="-122"/>
              </a:endParaRPr>
            </a:p>
          </p:txBody>
        </p:sp>
        <p:sp>
          <p:nvSpPr>
            <p:cNvPr id="426" name="Rectangle 499"/>
            <p:cNvSpPr>
              <a:spLocks noChangeArrowheads="1"/>
            </p:cNvSpPr>
            <p:nvPr/>
          </p:nvSpPr>
          <p:spPr bwMode="auto">
            <a:xfrm>
              <a:off x="2058" y="796"/>
              <a:ext cx="51"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a:solidFill>
                    <a:srgbClr val="000000"/>
                  </a:solidFill>
                  <a:latin typeface="Times" panose="02020603050405020304" pitchFamily="18" charset="0"/>
                  <a:ea typeface="宋体" panose="02010600030101010101" pitchFamily="2" charset="-122"/>
                </a:rPr>
                <a:t>d</a:t>
              </a:r>
              <a:endParaRPr lang="en-US" altLang="zh-CN">
                <a:ea typeface="宋体" panose="02010600030101010101" pitchFamily="2" charset="-122"/>
              </a:endParaRPr>
            </a:p>
          </p:txBody>
        </p:sp>
        <p:grpSp>
          <p:nvGrpSpPr>
            <p:cNvPr id="427" name="Group 500"/>
            <p:cNvGrpSpPr>
              <a:grpSpLocks/>
            </p:cNvGrpSpPr>
            <p:nvPr/>
          </p:nvGrpSpPr>
          <p:grpSpPr bwMode="auto">
            <a:xfrm>
              <a:off x="1969" y="1323"/>
              <a:ext cx="34" cy="100"/>
              <a:chOff x="1969" y="1323"/>
              <a:chExt cx="34" cy="100"/>
            </a:xfrm>
          </p:grpSpPr>
          <p:sp>
            <p:nvSpPr>
              <p:cNvPr id="530" name="Oval 501"/>
              <p:cNvSpPr>
                <a:spLocks noChangeArrowheads="1"/>
              </p:cNvSpPr>
              <p:nvPr/>
            </p:nvSpPr>
            <p:spPr bwMode="auto">
              <a:xfrm>
                <a:off x="1969" y="1323"/>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31" name="Oval 502"/>
              <p:cNvSpPr>
                <a:spLocks noChangeArrowheads="1"/>
              </p:cNvSpPr>
              <p:nvPr/>
            </p:nvSpPr>
            <p:spPr bwMode="auto">
              <a:xfrm>
                <a:off x="1969" y="1391"/>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28" name="Group 503"/>
            <p:cNvGrpSpPr>
              <a:grpSpLocks/>
            </p:cNvGrpSpPr>
            <p:nvPr/>
          </p:nvGrpSpPr>
          <p:grpSpPr bwMode="auto">
            <a:xfrm>
              <a:off x="1969" y="1655"/>
              <a:ext cx="32" cy="100"/>
              <a:chOff x="1969" y="1655"/>
              <a:chExt cx="32" cy="100"/>
            </a:xfrm>
          </p:grpSpPr>
          <p:sp>
            <p:nvSpPr>
              <p:cNvPr id="528" name="Oval 504"/>
              <p:cNvSpPr>
                <a:spLocks noChangeArrowheads="1"/>
              </p:cNvSpPr>
              <p:nvPr/>
            </p:nvSpPr>
            <p:spPr bwMode="auto">
              <a:xfrm>
                <a:off x="1969" y="165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29" name="Oval 505"/>
              <p:cNvSpPr>
                <a:spLocks noChangeArrowheads="1"/>
              </p:cNvSpPr>
              <p:nvPr/>
            </p:nvSpPr>
            <p:spPr bwMode="auto">
              <a:xfrm>
                <a:off x="1969" y="172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29" name="Group 506"/>
            <p:cNvGrpSpPr>
              <a:grpSpLocks/>
            </p:cNvGrpSpPr>
            <p:nvPr/>
          </p:nvGrpSpPr>
          <p:grpSpPr bwMode="auto">
            <a:xfrm>
              <a:off x="1973" y="1979"/>
              <a:ext cx="32" cy="100"/>
              <a:chOff x="1973" y="1979"/>
              <a:chExt cx="32" cy="100"/>
            </a:xfrm>
          </p:grpSpPr>
          <p:sp>
            <p:nvSpPr>
              <p:cNvPr id="526" name="Oval 507"/>
              <p:cNvSpPr>
                <a:spLocks noChangeArrowheads="1"/>
              </p:cNvSpPr>
              <p:nvPr/>
            </p:nvSpPr>
            <p:spPr bwMode="auto">
              <a:xfrm>
                <a:off x="1973" y="197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27" name="Oval 508"/>
              <p:cNvSpPr>
                <a:spLocks noChangeArrowheads="1"/>
              </p:cNvSpPr>
              <p:nvPr/>
            </p:nvSpPr>
            <p:spPr bwMode="auto">
              <a:xfrm>
                <a:off x="1973" y="204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30" name="Group 509"/>
            <p:cNvGrpSpPr>
              <a:grpSpLocks/>
            </p:cNvGrpSpPr>
            <p:nvPr/>
          </p:nvGrpSpPr>
          <p:grpSpPr bwMode="auto">
            <a:xfrm>
              <a:off x="2105" y="1525"/>
              <a:ext cx="100" cy="34"/>
              <a:chOff x="2105" y="1525"/>
              <a:chExt cx="100" cy="34"/>
            </a:xfrm>
          </p:grpSpPr>
          <p:sp>
            <p:nvSpPr>
              <p:cNvPr id="524" name="Oval 510"/>
              <p:cNvSpPr>
                <a:spLocks noChangeArrowheads="1"/>
              </p:cNvSpPr>
              <p:nvPr/>
            </p:nvSpPr>
            <p:spPr bwMode="auto">
              <a:xfrm>
                <a:off x="2173" y="1525"/>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25" name="Oval 511"/>
              <p:cNvSpPr>
                <a:spLocks noChangeArrowheads="1"/>
              </p:cNvSpPr>
              <p:nvPr/>
            </p:nvSpPr>
            <p:spPr bwMode="auto">
              <a:xfrm>
                <a:off x="2105" y="1525"/>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31" name="Group 512"/>
            <p:cNvGrpSpPr>
              <a:grpSpLocks/>
            </p:cNvGrpSpPr>
            <p:nvPr/>
          </p:nvGrpSpPr>
          <p:grpSpPr bwMode="auto">
            <a:xfrm>
              <a:off x="2103" y="1857"/>
              <a:ext cx="100" cy="32"/>
              <a:chOff x="2103" y="1857"/>
              <a:chExt cx="100" cy="32"/>
            </a:xfrm>
          </p:grpSpPr>
          <p:sp>
            <p:nvSpPr>
              <p:cNvPr id="522" name="Oval 513"/>
              <p:cNvSpPr>
                <a:spLocks noChangeArrowheads="1"/>
              </p:cNvSpPr>
              <p:nvPr/>
            </p:nvSpPr>
            <p:spPr bwMode="auto">
              <a:xfrm>
                <a:off x="2171" y="185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23" name="Oval 514"/>
              <p:cNvSpPr>
                <a:spLocks noChangeArrowheads="1"/>
              </p:cNvSpPr>
              <p:nvPr/>
            </p:nvSpPr>
            <p:spPr bwMode="auto">
              <a:xfrm>
                <a:off x="2103" y="185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32" name="Group 515"/>
            <p:cNvGrpSpPr>
              <a:grpSpLocks/>
            </p:cNvGrpSpPr>
            <p:nvPr/>
          </p:nvGrpSpPr>
          <p:grpSpPr bwMode="auto">
            <a:xfrm>
              <a:off x="2105" y="2181"/>
              <a:ext cx="100" cy="32"/>
              <a:chOff x="2105" y="2181"/>
              <a:chExt cx="100" cy="32"/>
            </a:xfrm>
          </p:grpSpPr>
          <p:sp>
            <p:nvSpPr>
              <p:cNvPr id="520" name="Oval 516"/>
              <p:cNvSpPr>
                <a:spLocks noChangeArrowheads="1"/>
              </p:cNvSpPr>
              <p:nvPr/>
            </p:nvSpPr>
            <p:spPr bwMode="auto">
              <a:xfrm>
                <a:off x="2173" y="218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21" name="Oval 517"/>
              <p:cNvSpPr>
                <a:spLocks noChangeArrowheads="1"/>
              </p:cNvSpPr>
              <p:nvPr/>
            </p:nvSpPr>
            <p:spPr bwMode="auto">
              <a:xfrm>
                <a:off x="2105" y="218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433" name="Oval 518"/>
            <p:cNvSpPr>
              <a:spLocks noChangeArrowheads="1"/>
            </p:cNvSpPr>
            <p:nvPr/>
          </p:nvSpPr>
          <p:spPr bwMode="auto">
            <a:xfrm>
              <a:off x="2103" y="1169"/>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34" name="Oval 519"/>
            <p:cNvSpPr>
              <a:spLocks noChangeArrowheads="1"/>
            </p:cNvSpPr>
            <p:nvPr/>
          </p:nvSpPr>
          <p:spPr bwMode="auto">
            <a:xfrm>
              <a:off x="2243" y="1339"/>
              <a:ext cx="190"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35" name="Oval 520"/>
            <p:cNvSpPr>
              <a:spLocks noChangeArrowheads="1"/>
            </p:cNvSpPr>
            <p:nvPr/>
          </p:nvSpPr>
          <p:spPr bwMode="auto">
            <a:xfrm>
              <a:off x="2245" y="1671"/>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36" name="Oval 521"/>
            <p:cNvSpPr>
              <a:spLocks noChangeArrowheads="1"/>
            </p:cNvSpPr>
            <p:nvPr/>
          </p:nvSpPr>
          <p:spPr bwMode="auto">
            <a:xfrm>
              <a:off x="2245" y="1999"/>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37" name="Oval 522"/>
            <p:cNvSpPr>
              <a:spLocks noChangeArrowheads="1"/>
            </p:cNvSpPr>
            <p:nvPr/>
          </p:nvSpPr>
          <p:spPr bwMode="auto">
            <a:xfrm>
              <a:off x="2607" y="1343"/>
              <a:ext cx="112"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38" name="Oval 523"/>
            <p:cNvSpPr>
              <a:spLocks noChangeArrowheads="1"/>
            </p:cNvSpPr>
            <p:nvPr/>
          </p:nvSpPr>
          <p:spPr bwMode="auto">
            <a:xfrm>
              <a:off x="2573" y="1671"/>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39" name="Oval 524"/>
            <p:cNvSpPr>
              <a:spLocks noChangeArrowheads="1"/>
            </p:cNvSpPr>
            <p:nvPr/>
          </p:nvSpPr>
          <p:spPr bwMode="auto">
            <a:xfrm>
              <a:off x="2573" y="1999"/>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40" name="Oval 525"/>
            <p:cNvSpPr>
              <a:spLocks noChangeArrowheads="1"/>
            </p:cNvSpPr>
            <p:nvPr/>
          </p:nvSpPr>
          <p:spPr bwMode="auto">
            <a:xfrm>
              <a:off x="2459" y="2123"/>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41" name="Oval 526"/>
            <p:cNvSpPr>
              <a:spLocks noChangeArrowheads="1"/>
            </p:cNvSpPr>
            <p:nvPr/>
          </p:nvSpPr>
          <p:spPr bwMode="auto">
            <a:xfrm>
              <a:off x="2459" y="1795"/>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42" name="Freeform 527"/>
            <p:cNvSpPr>
              <a:spLocks/>
            </p:cNvSpPr>
            <p:nvPr/>
          </p:nvSpPr>
          <p:spPr bwMode="auto">
            <a:xfrm>
              <a:off x="2464" y="1442"/>
              <a:ext cx="74" cy="176"/>
            </a:xfrm>
            <a:custGeom>
              <a:avLst/>
              <a:gdLst>
                <a:gd name="T0" fmla="*/ 74 w 74"/>
                <a:gd name="T1" fmla="*/ 92 h 176"/>
                <a:gd name="T2" fmla="*/ 72 w 74"/>
                <a:gd name="T3" fmla="*/ 110 h 176"/>
                <a:gd name="T4" fmla="*/ 68 w 74"/>
                <a:gd name="T5" fmla="*/ 126 h 176"/>
                <a:gd name="T6" fmla="*/ 64 w 74"/>
                <a:gd name="T7" fmla="*/ 140 h 176"/>
                <a:gd name="T8" fmla="*/ 58 w 74"/>
                <a:gd name="T9" fmla="*/ 154 h 176"/>
                <a:gd name="T10" fmla="*/ 52 w 74"/>
                <a:gd name="T11" fmla="*/ 164 h 176"/>
                <a:gd name="T12" fmla="*/ 44 w 74"/>
                <a:gd name="T13" fmla="*/ 172 h 176"/>
                <a:gd name="T14" fmla="*/ 38 w 74"/>
                <a:gd name="T15" fmla="*/ 176 h 176"/>
                <a:gd name="T16" fmla="*/ 30 w 74"/>
                <a:gd name="T17" fmla="*/ 176 h 176"/>
                <a:gd name="T18" fmla="*/ 22 w 74"/>
                <a:gd name="T19" fmla="*/ 174 h 176"/>
                <a:gd name="T20" fmla="*/ 16 w 74"/>
                <a:gd name="T21" fmla="*/ 168 h 176"/>
                <a:gd name="T22" fmla="*/ 10 w 74"/>
                <a:gd name="T23" fmla="*/ 160 h 176"/>
                <a:gd name="T24" fmla="*/ 6 w 74"/>
                <a:gd name="T25" fmla="*/ 148 h 176"/>
                <a:gd name="T26" fmla="*/ 4 w 74"/>
                <a:gd name="T27" fmla="*/ 134 h 176"/>
                <a:gd name="T28" fmla="*/ 0 w 74"/>
                <a:gd name="T29" fmla="*/ 120 h 176"/>
                <a:gd name="T30" fmla="*/ 0 w 74"/>
                <a:gd name="T31" fmla="*/ 102 h 176"/>
                <a:gd name="T32" fmla="*/ 0 w 74"/>
                <a:gd name="T33" fmla="*/ 86 h 176"/>
                <a:gd name="T34" fmla="*/ 4 w 74"/>
                <a:gd name="T35" fmla="*/ 68 h 176"/>
                <a:gd name="T36" fmla="*/ 6 w 74"/>
                <a:gd name="T37" fmla="*/ 50 h 176"/>
                <a:gd name="T38" fmla="*/ 12 w 74"/>
                <a:gd name="T39" fmla="*/ 36 h 176"/>
                <a:gd name="T40" fmla="*/ 16 w 74"/>
                <a:gd name="T41" fmla="*/ 24 h 176"/>
                <a:gd name="T42" fmla="*/ 24 w 74"/>
                <a:gd name="T43" fmla="*/ 14 h 176"/>
                <a:gd name="T44" fmla="*/ 30 w 74"/>
                <a:gd name="T45" fmla="*/ 6 h 176"/>
                <a:gd name="T46" fmla="*/ 38 w 74"/>
                <a:gd name="T47" fmla="*/ 0 h 176"/>
                <a:gd name="T48" fmla="*/ 44 w 74"/>
                <a:gd name="T49" fmla="*/ 0 h 176"/>
                <a:gd name="T50" fmla="*/ 52 w 74"/>
                <a:gd name="T51" fmla="*/ 2 h 176"/>
                <a:gd name="T52" fmla="*/ 58 w 74"/>
                <a:gd name="T53" fmla="*/ 8 h 176"/>
                <a:gd name="T54" fmla="*/ 64 w 74"/>
                <a:gd name="T55" fmla="*/ 16 h 176"/>
                <a:gd name="T56" fmla="*/ 68 w 74"/>
                <a:gd name="T57" fmla="*/ 28 h 176"/>
                <a:gd name="T58" fmla="*/ 72 w 74"/>
                <a:gd name="T59" fmla="*/ 42 h 176"/>
                <a:gd name="T60" fmla="*/ 74 w 74"/>
                <a:gd name="T61" fmla="*/ 58 h 176"/>
                <a:gd name="T62" fmla="*/ 74 w 74"/>
                <a:gd name="T63" fmla="*/ 74 h 176"/>
                <a:gd name="T64" fmla="*/ 74 w 74"/>
                <a:gd name="T65" fmla="*/ 92 h 1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4"/>
                <a:gd name="T100" fmla="*/ 0 h 176"/>
                <a:gd name="T101" fmla="*/ 74 w 74"/>
                <a:gd name="T102" fmla="*/ 176 h 1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4" h="176">
                  <a:moveTo>
                    <a:pt x="74" y="92"/>
                  </a:moveTo>
                  <a:lnTo>
                    <a:pt x="72" y="110"/>
                  </a:lnTo>
                  <a:lnTo>
                    <a:pt x="68" y="126"/>
                  </a:lnTo>
                  <a:lnTo>
                    <a:pt x="64" y="140"/>
                  </a:lnTo>
                  <a:lnTo>
                    <a:pt x="58" y="154"/>
                  </a:lnTo>
                  <a:lnTo>
                    <a:pt x="52" y="164"/>
                  </a:lnTo>
                  <a:lnTo>
                    <a:pt x="44" y="172"/>
                  </a:lnTo>
                  <a:lnTo>
                    <a:pt x="38" y="176"/>
                  </a:lnTo>
                  <a:lnTo>
                    <a:pt x="30" y="176"/>
                  </a:lnTo>
                  <a:lnTo>
                    <a:pt x="22" y="174"/>
                  </a:lnTo>
                  <a:lnTo>
                    <a:pt x="16" y="168"/>
                  </a:lnTo>
                  <a:lnTo>
                    <a:pt x="10" y="160"/>
                  </a:lnTo>
                  <a:lnTo>
                    <a:pt x="6" y="148"/>
                  </a:lnTo>
                  <a:lnTo>
                    <a:pt x="4" y="134"/>
                  </a:lnTo>
                  <a:lnTo>
                    <a:pt x="0" y="120"/>
                  </a:lnTo>
                  <a:lnTo>
                    <a:pt x="0" y="102"/>
                  </a:lnTo>
                  <a:lnTo>
                    <a:pt x="0" y="86"/>
                  </a:lnTo>
                  <a:lnTo>
                    <a:pt x="4" y="68"/>
                  </a:lnTo>
                  <a:lnTo>
                    <a:pt x="6" y="50"/>
                  </a:lnTo>
                  <a:lnTo>
                    <a:pt x="12" y="36"/>
                  </a:lnTo>
                  <a:lnTo>
                    <a:pt x="16" y="24"/>
                  </a:lnTo>
                  <a:lnTo>
                    <a:pt x="24" y="14"/>
                  </a:lnTo>
                  <a:lnTo>
                    <a:pt x="30" y="6"/>
                  </a:lnTo>
                  <a:lnTo>
                    <a:pt x="38" y="0"/>
                  </a:lnTo>
                  <a:lnTo>
                    <a:pt x="44" y="0"/>
                  </a:lnTo>
                  <a:lnTo>
                    <a:pt x="52" y="2"/>
                  </a:lnTo>
                  <a:lnTo>
                    <a:pt x="58" y="8"/>
                  </a:lnTo>
                  <a:lnTo>
                    <a:pt x="64" y="16"/>
                  </a:lnTo>
                  <a:lnTo>
                    <a:pt x="68" y="28"/>
                  </a:lnTo>
                  <a:lnTo>
                    <a:pt x="72" y="42"/>
                  </a:lnTo>
                  <a:lnTo>
                    <a:pt x="74" y="58"/>
                  </a:lnTo>
                  <a:lnTo>
                    <a:pt x="74" y="74"/>
                  </a:lnTo>
                  <a:lnTo>
                    <a:pt x="74" y="92"/>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443" name="Group 528"/>
            <p:cNvGrpSpPr>
              <a:grpSpLocks/>
            </p:cNvGrpSpPr>
            <p:nvPr/>
          </p:nvGrpSpPr>
          <p:grpSpPr bwMode="auto">
            <a:xfrm>
              <a:off x="2645" y="1331"/>
              <a:ext cx="32" cy="100"/>
              <a:chOff x="2645" y="1331"/>
              <a:chExt cx="32" cy="100"/>
            </a:xfrm>
          </p:grpSpPr>
          <p:sp>
            <p:nvSpPr>
              <p:cNvPr id="518" name="Oval 529"/>
              <p:cNvSpPr>
                <a:spLocks noChangeArrowheads="1"/>
              </p:cNvSpPr>
              <p:nvPr/>
            </p:nvSpPr>
            <p:spPr bwMode="auto">
              <a:xfrm>
                <a:off x="2645" y="13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19" name="Oval 530"/>
              <p:cNvSpPr>
                <a:spLocks noChangeArrowheads="1"/>
              </p:cNvSpPr>
              <p:nvPr/>
            </p:nvSpPr>
            <p:spPr bwMode="auto">
              <a:xfrm>
                <a:off x="2645" y="13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44" name="Group 531"/>
            <p:cNvGrpSpPr>
              <a:grpSpLocks/>
            </p:cNvGrpSpPr>
            <p:nvPr/>
          </p:nvGrpSpPr>
          <p:grpSpPr bwMode="auto">
            <a:xfrm>
              <a:off x="2647" y="1657"/>
              <a:ext cx="32" cy="100"/>
              <a:chOff x="2647" y="1657"/>
              <a:chExt cx="32" cy="100"/>
            </a:xfrm>
          </p:grpSpPr>
          <p:sp>
            <p:nvSpPr>
              <p:cNvPr id="516" name="Oval 532"/>
              <p:cNvSpPr>
                <a:spLocks noChangeArrowheads="1"/>
              </p:cNvSpPr>
              <p:nvPr/>
            </p:nvSpPr>
            <p:spPr bwMode="auto">
              <a:xfrm>
                <a:off x="2647" y="165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17" name="Oval 533"/>
              <p:cNvSpPr>
                <a:spLocks noChangeArrowheads="1"/>
              </p:cNvSpPr>
              <p:nvPr/>
            </p:nvSpPr>
            <p:spPr bwMode="auto">
              <a:xfrm>
                <a:off x="2647" y="172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45" name="Group 534"/>
            <p:cNvGrpSpPr>
              <a:grpSpLocks/>
            </p:cNvGrpSpPr>
            <p:nvPr/>
          </p:nvGrpSpPr>
          <p:grpSpPr bwMode="auto">
            <a:xfrm>
              <a:off x="2641" y="1985"/>
              <a:ext cx="34" cy="100"/>
              <a:chOff x="2641" y="1985"/>
              <a:chExt cx="34" cy="100"/>
            </a:xfrm>
          </p:grpSpPr>
          <p:sp>
            <p:nvSpPr>
              <p:cNvPr id="514" name="Oval 535"/>
              <p:cNvSpPr>
                <a:spLocks noChangeArrowheads="1"/>
              </p:cNvSpPr>
              <p:nvPr/>
            </p:nvSpPr>
            <p:spPr bwMode="auto">
              <a:xfrm>
                <a:off x="2641" y="1985"/>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15" name="Oval 536"/>
              <p:cNvSpPr>
                <a:spLocks noChangeArrowheads="1"/>
              </p:cNvSpPr>
              <p:nvPr/>
            </p:nvSpPr>
            <p:spPr bwMode="auto">
              <a:xfrm>
                <a:off x="2641" y="2053"/>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46" name="Group 537"/>
            <p:cNvGrpSpPr>
              <a:grpSpLocks/>
            </p:cNvGrpSpPr>
            <p:nvPr/>
          </p:nvGrpSpPr>
          <p:grpSpPr bwMode="auto">
            <a:xfrm>
              <a:off x="2451" y="1515"/>
              <a:ext cx="102" cy="32"/>
              <a:chOff x="2451" y="1515"/>
              <a:chExt cx="102" cy="32"/>
            </a:xfrm>
          </p:grpSpPr>
          <p:sp>
            <p:nvSpPr>
              <p:cNvPr id="512" name="Oval 538"/>
              <p:cNvSpPr>
                <a:spLocks noChangeArrowheads="1"/>
              </p:cNvSpPr>
              <p:nvPr/>
            </p:nvSpPr>
            <p:spPr bwMode="auto">
              <a:xfrm>
                <a:off x="2519" y="1515"/>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13" name="Oval 539"/>
              <p:cNvSpPr>
                <a:spLocks noChangeArrowheads="1"/>
              </p:cNvSpPr>
              <p:nvPr/>
            </p:nvSpPr>
            <p:spPr bwMode="auto">
              <a:xfrm>
                <a:off x="2451" y="151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47" name="Group 540"/>
            <p:cNvGrpSpPr>
              <a:grpSpLocks/>
            </p:cNvGrpSpPr>
            <p:nvPr/>
          </p:nvGrpSpPr>
          <p:grpSpPr bwMode="auto">
            <a:xfrm>
              <a:off x="2449" y="1865"/>
              <a:ext cx="102" cy="32"/>
              <a:chOff x="2449" y="1865"/>
              <a:chExt cx="102" cy="32"/>
            </a:xfrm>
          </p:grpSpPr>
          <p:sp>
            <p:nvSpPr>
              <p:cNvPr id="510" name="Oval 541"/>
              <p:cNvSpPr>
                <a:spLocks noChangeArrowheads="1"/>
              </p:cNvSpPr>
              <p:nvPr/>
            </p:nvSpPr>
            <p:spPr bwMode="auto">
              <a:xfrm>
                <a:off x="2519" y="186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11" name="Oval 542"/>
              <p:cNvSpPr>
                <a:spLocks noChangeArrowheads="1"/>
              </p:cNvSpPr>
              <p:nvPr/>
            </p:nvSpPr>
            <p:spPr bwMode="auto">
              <a:xfrm>
                <a:off x="2449" y="186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48" name="Group 543"/>
            <p:cNvGrpSpPr>
              <a:grpSpLocks/>
            </p:cNvGrpSpPr>
            <p:nvPr/>
          </p:nvGrpSpPr>
          <p:grpSpPr bwMode="auto">
            <a:xfrm>
              <a:off x="2445" y="2189"/>
              <a:ext cx="100" cy="32"/>
              <a:chOff x="2445" y="2189"/>
              <a:chExt cx="100" cy="32"/>
            </a:xfrm>
          </p:grpSpPr>
          <p:sp>
            <p:nvSpPr>
              <p:cNvPr id="508" name="Oval 544"/>
              <p:cNvSpPr>
                <a:spLocks noChangeArrowheads="1"/>
              </p:cNvSpPr>
              <p:nvPr/>
            </p:nvSpPr>
            <p:spPr bwMode="auto">
              <a:xfrm>
                <a:off x="2513" y="218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9" name="Oval 545"/>
              <p:cNvSpPr>
                <a:spLocks noChangeArrowheads="1"/>
              </p:cNvSpPr>
              <p:nvPr/>
            </p:nvSpPr>
            <p:spPr bwMode="auto">
              <a:xfrm>
                <a:off x="2445" y="218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449" name="Oval 546"/>
            <p:cNvSpPr>
              <a:spLocks noChangeArrowheads="1"/>
            </p:cNvSpPr>
            <p:nvPr/>
          </p:nvSpPr>
          <p:spPr bwMode="auto">
            <a:xfrm>
              <a:off x="2783" y="2133"/>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50" name="Oval 547"/>
            <p:cNvSpPr>
              <a:spLocks noChangeArrowheads="1"/>
            </p:cNvSpPr>
            <p:nvPr/>
          </p:nvSpPr>
          <p:spPr bwMode="auto">
            <a:xfrm>
              <a:off x="2783" y="1805"/>
              <a:ext cx="74"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51" name="Freeform 548"/>
            <p:cNvSpPr>
              <a:spLocks/>
            </p:cNvSpPr>
            <p:nvPr/>
          </p:nvSpPr>
          <p:spPr bwMode="auto">
            <a:xfrm>
              <a:off x="2774" y="1448"/>
              <a:ext cx="74" cy="180"/>
            </a:xfrm>
            <a:custGeom>
              <a:avLst/>
              <a:gdLst>
                <a:gd name="T0" fmla="*/ 72 w 74"/>
                <a:gd name="T1" fmla="*/ 86 h 180"/>
                <a:gd name="T2" fmla="*/ 74 w 74"/>
                <a:gd name="T3" fmla="*/ 104 h 180"/>
                <a:gd name="T4" fmla="*/ 72 w 74"/>
                <a:gd name="T5" fmla="*/ 122 h 180"/>
                <a:gd name="T6" fmla="*/ 70 w 74"/>
                <a:gd name="T7" fmla="*/ 138 h 180"/>
                <a:gd name="T8" fmla="*/ 68 w 74"/>
                <a:gd name="T9" fmla="*/ 152 h 180"/>
                <a:gd name="T10" fmla="*/ 62 w 74"/>
                <a:gd name="T11" fmla="*/ 162 h 180"/>
                <a:gd name="T12" fmla="*/ 58 w 74"/>
                <a:gd name="T13" fmla="*/ 172 h 180"/>
                <a:gd name="T14" fmla="*/ 50 w 74"/>
                <a:gd name="T15" fmla="*/ 178 h 180"/>
                <a:gd name="T16" fmla="*/ 44 w 74"/>
                <a:gd name="T17" fmla="*/ 180 h 180"/>
                <a:gd name="T18" fmla="*/ 36 w 74"/>
                <a:gd name="T19" fmla="*/ 178 h 180"/>
                <a:gd name="T20" fmla="*/ 30 w 74"/>
                <a:gd name="T21" fmla="*/ 174 h 180"/>
                <a:gd name="T22" fmla="*/ 22 w 74"/>
                <a:gd name="T23" fmla="*/ 166 h 180"/>
                <a:gd name="T24" fmla="*/ 16 w 74"/>
                <a:gd name="T25" fmla="*/ 156 h 180"/>
                <a:gd name="T26" fmla="*/ 10 w 74"/>
                <a:gd name="T27" fmla="*/ 142 h 180"/>
                <a:gd name="T28" fmla="*/ 6 w 74"/>
                <a:gd name="T29" fmla="*/ 128 h 180"/>
                <a:gd name="T30" fmla="*/ 2 w 74"/>
                <a:gd name="T31" fmla="*/ 112 h 180"/>
                <a:gd name="T32" fmla="*/ 0 w 74"/>
                <a:gd name="T33" fmla="*/ 94 h 180"/>
                <a:gd name="T34" fmla="*/ 0 w 74"/>
                <a:gd name="T35" fmla="*/ 76 h 180"/>
                <a:gd name="T36" fmla="*/ 0 w 74"/>
                <a:gd name="T37" fmla="*/ 58 h 180"/>
                <a:gd name="T38" fmla="*/ 2 w 74"/>
                <a:gd name="T39" fmla="*/ 42 h 180"/>
                <a:gd name="T40" fmla="*/ 6 w 74"/>
                <a:gd name="T41" fmla="*/ 28 h 180"/>
                <a:gd name="T42" fmla="*/ 10 w 74"/>
                <a:gd name="T43" fmla="*/ 16 h 180"/>
                <a:gd name="T44" fmla="*/ 16 w 74"/>
                <a:gd name="T45" fmla="*/ 8 h 180"/>
                <a:gd name="T46" fmla="*/ 22 w 74"/>
                <a:gd name="T47" fmla="*/ 2 h 180"/>
                <a:gd name="T48" fmla="*/ 30 w 74"/>
                <a:gd name="T49" fmla="*/ 0 h 180"/>
                <a:gd name="T50" fmla="*/ 36 w 74"/>
                <a:gd name="T51" fmla="*/ 0 h 180"/>
                <a:gd name="T52" fmla="*/ 44 w 74"/>
                <a:gd name="T53" fmla="*/ 6 h 180"/>
                <a:gd name="T54" fmla="*/ 50 w 74"/>
                <a:gd name="T55" fmla="*/ 14 h 180"/>
                <a:gd name="T56" fmla="*/ 56 w 74"/>
                <a:gd name="T57" fmla="*/ 24 h 180"/>
                <a:gd name="T58" fmla="*/ 62 w 74"/>
                <a:gd name="T59" fmla="*/ 36 h 180"/>
                <a:gd name="T60" fmla="*/ 68 w 74"/>
                <a:gd name="T61" fmla="*/ 52 h 180"/>
                <a:gd name="T62" fmla="*/ 70 w 74"/>
                <a:gd name="T63" fmla="*/ 68 h 180"/>
                <a:gd name="T64" fmla="*/ 72 w 74"/>
                <a:gd name="T65" fmla="*/ 86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4"/>
                <a:gd name="T100" fmla="*/ 0 h 180"/>
                <a:gd name="T101" fmla="*/ 74 w 74"/>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4" h="180">
                  <a:moveTo>
                    <a:pt x="72" y="86"/>
                  </a:moveTo>
                  <a:lnTo>
                    <a:pt x="74" y="104"/>
                  </a:lnTo>
                  <a:lnTo>
                    <a:pt x="72" y="122"/>
                  </a:lnTo>
                  <a:lnTo>
                    <a:pt x="70" y="138"/>
                  </a:lnTo>
                  <a:lnTo>
                    <a:pt x="68" y="152"/>
                  </a:lnTo>
                  <a:lnTo>
                    <a:pt x="62" y="162"/>
                  </a:lnTo>
                  <a:lnTo>
                    <a:pt x="58" y="172"/>
                  </a:lnTo>
                  <a:lnTo>
                    <a:pt x="50" y="178"/>
                  </a:lnTo>
                  <a:lnTo>
                    <a:pt x="44" y="180"/>
                  </a:lnTo>
                  <a:lnTo>
                    <a:pt x="36" y="178"/>
                  </a:lnTo>
                  <a:lnTo>
                    <a:pt x="30" y="174"/>
                  </a:lnTo>
                  <a:lnTo>
                    <a:pt x="22" y="166"/>
                  </a:lnTo>
                  <a:lnTo>
                    <a:pt x="16" y="156"/>
                  </a:lnTo>
                  <a:lnTo>
                    <a:pt x="10" y="142"/>
                  </a:lnTo>
                  <a:lnTo>
                    <a:pt x="6" y="128"/>
                  </a:lnTo>
                  <a:lnTo>
                    <a:pt x="2" y="112"/>
                  </a:lnTo>
                  <a:lnTo>
                    <a:pt x="0" y="94"/>
                  </a:lnTo>
                  <a:lnTo>
                    <a:pt x="0" y="76"/>
                  </a:lnTo>
                  <a:lnTo>
                    <a:pt x="0" y="58"/>
                  </a:lnTo>
                  <a:lnTo>
                    <a:pt x="2" y="42"/>
                  </a:lnTo>
                  <a:lnTo>
                    <a:pt x="6" y="28"/>
                  </a:lnTo>
                  <a:lnTo>
                    <a:pt x="10" y="16"/>
                  </a:lnTo>
                  <a:lnTo>
                    <a:pt x="16" y="8"/>
                  </a:lnTo>
                  <a:lnTo>
                    <a:pt x="22" y="2"/>
                  </a:lnTo>
                  <a:lnTo>
                    <a:pt x="30" y="0"/>
                  </a:lnTo>
                  <a:lnTo>
                    <a:pt x="36" y="0"/>
                  </a:lnTo>
                  <a:lnTo>
                    <a:pt x="44" y="6"/>
                  </a:lnTo>
                  <a:lnTo>
                    <a:pt x="50" y="14"/>
                  </a:lnTo>
                  <a:lnTo>
                    <a:pt x="56" y="24"/>
                  </a:lnTo>
                  <a:lnTo>
                    <a:pt x="62" y="36"/>
                  </a:lnTo>
                  <a:lnTo>
                    <a:pt x="68" y="52"/>
                  </a:lnTo>
                  <a:lnTo>
                    <a:pt x="70" y="68"/>
                  </a:lnTo>
                  <a:lnTo>
                    <a:pt x="72" y="86"/>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452" name="Group 549"/>
            <p:cNvGrpSpPr>
              <a:grpSpLocks/>
            </p:cNvGrpSpPr>
            <p:nvPr/>
          </p:nvGrpSpPr>
          <p:grpSpPr bwMode="auto">
            <a:xfrm>
              <a:off x="2761" y="1523"/>
              <a:ext cx="102" cy="34"/>
              <a:chOff x="2761" y="1523"/>
              <a:chExt cx="102" cy="34"/>
            </a:xfrm>
          </p:grpSpPr>
          <p:sp>
            <p:nvSpPr>
              <p:cNvPr id="506" name="Oval 550"/>
              <p:cNvSpPr>
                <a:spLocks noChangeArrowheads="1"/>
              </p:cNvSpPr>
              <p:nvPr/>
            </p:nvSpPr>
            <p:spPr bwMode="auto">
              <a:xfrm>
                <a:off x="2829" y="1523"/>
                <a:ext cx="34"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7" name="Oval 551"/>
              <p:cNvSpPr>
                <a:spLocks noChangeArrowheads="1"/>
              </p:cNvSpPr>
              <p:nvPr/>
            </p:nvSpPr>
            <p:spPr bwMode="auto">
              <a:xfrm>
                <a:off x="2761" y="1523"/>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53" name="Group 552"/>
            <p:cNvGrpSpPr>
              <a:grpSpLocks/>
            </p:cNvGrpSpPr>
            <p:nvPr/>
          </p:nvGrpSpPr>
          <p:grpSpPr bwMode="auto">
            <a:xfrm>
              <a:off x="2773" y="1873"/>
              <a:ext cx="102" cy="32"/>
              <a:chOff x="2773" y="1873"/>
              <a:chExt cx="102" cy="32"/>
            </a:xfrm>
          </p:grpSpPr>
          <p:sp>
            <p:nvSpPr>
              <p:cNvPr id="504" name="Oval 553"/>
              <p:cNvSpPr>
                <a:spLocks noChangeArrowheads="1"/>
              </p:cNvSpPr>
              <p:nvPr/>
            </p:nvSpPr>
            <p:spPr bwMode="auto">
              <a:xfrm>
                <a:off x="2841" y="1873"/>
                <a:ext cx="34"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5" name="Oval 554"/>
              <p:cNvSpPr>
                <a:spLocks noChangeArrowheads="1"/>
              </p:cNvSpPr>
              <p:nvPr/>
            </p:nvSpPr>
            <p:spPr bwMode="auto">
              <a:xfrm>
                <a:off x="2773" y="187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54" name="Group 555"/>
            <p:cNvGrpSpPr>
              <a:grpSpLocks/>
            </p:cNvGrpSpPr>
            <p:nvPr/>
          </p:nvGrpSpPr>
          <p:grpSpPr bwMode="auto">
            <a:xfrm>
              <a:off x="2769" y="2199"/>
              <a:ext cx="100" cy="32"/>
              <a:chOff x="2769" y="2199"/>
              <a:chExt cx="100" cy="32"/>
            </a:xfrm>
          </p:grpSpPr>
          <p:sp>
            <p:nvSpPr>
              <p:cNvPr id="502" name="Oval 556"/>
              <p:cNvSpPr>
                <a:spLocks noChangeArrowheads="1"/>
              </p:cNvSpPr>
              <p:nvPr/>
            </p:nvSpPr>
            <p:spPr bwMode="auto">
              <a:xfrm>
                <a:off x="2837" y="21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3" name="Oval 557"/>
              <p:cNvSpPr>
                <a:spLocks noChangeArrowheads="1"/>
              </p:cNvSpPr>
              <p:nvPr/>
            </p:nvSpPr>
            <p:spPr bwMode="auto">
              <a:xfrm>
                <a:off x="2769" y="21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55" name="Group 558"/>
            <p:cNvGrpSpPr>
              <a:grpSpLocks/>
            </p:cNvGrpSpPr>
            <p:nvPr/>
          </p:nvGrpSpPr>
          <p:grpSpPr bwMode="auto">
            <a:xfrm>
              <a:off x="1458" y="1486"/>
              <a:ext cx="68" cy="692"/>
              <a:chOff x="1458" y="1486"/>
              <a:chExt cx="68" cy="692"/>
            </a:xfrm>
          </p:grpSpPr>
          <p:sp>
            <p:nvSpPr>
              <p:cNvPr id="499" name="Freeform 559"/>
              <p:cNvSpPr>
                <a:spLocks/>
              </p:cNvSpPr>
              <p:nvPr/>
            </p:nvSpPr>
            <p:spPr bwMode="auto">
              <a:xfrm>
                <a:off x="1458" y="2086"/>
                <a:ext cx="68" cy="92"/>
              </a:xfrm>
              <a:custGeom>
                <a:avLst/>
                <a:gdLst>
                  <a:gd name="T0" fmla="*/ 34 w 68"/>
                  <a:gd name="T1" fmla="*/ 92 h 92"/>
                  <a:gd name="T2" fmla="*/ 0 w 68"/>
                  <a:gd name="T3" fmla="*/ 0 h 92"/>
                  <a:gd name="T4" fmla="*/ 34 w 68"/>
                  <a:gd name="T5" fmla="*/ 46 h 92"/>
                  <a:gd name="T6" fmla="*/ 68 w 68"/>
                  <a:gd name="T7" fmla="*/ 0 h 92"/>
                  <a:gd name="T8" fmla="*/ 34 w 68"/>
                  <a:gd name="T9" fmla="*/ 92 h 92"/>
                  <a:gd name="T10" fmla="*/ 0 60000 65536"/>
                  <a:gd name="T11" fmla="*/ 0 60000 65536"/>
                  <a:gd name="T12" fmla="*/ 0 60000 65536"/>
                  <a:gd name="T13" fmla="*/ 0 60000 65536"/>
                  <a:gd name="T14" fmla="*/ 0 60000 65536"/>
                  <a:gd name="T15" fmla="*/ 0 w 68"/>
                  <a:gd name="T16" fmla="*/ 0 h 92"/>
                  <a:gd name="T17" fmla="*/ 68 w 68"/>
                  <a:gd name="T18" fmla="*/ 92 h 92"/>
                </a:gdLst>
                <a:ahLst/>
                <a:cxnLst>
                  <a:cxn ang="T10">
                    <a:pos x="T0" y="T1"/>
                  </a:cxn>
                  <a:cxn ang="T11">
                    <a:pos x="T2" y="T3"/>
                  </a:cxn>
                  <a:cxn ang="T12">
                    <a:pos x="T4" y="T5"/>
                  </a:cxn>
                  <a:cxn ang="T13">
                    <a:pos x="T6" y="T7"/>
                  </a:cxn>
                  <a:cxn ang="T14">
                    <a:pos x="T8" y="T9"/>
                  </a:cxn>
                </a:cxnLst>
                <a:rect l="T15" t="T16" r="T17" b="T18"/>
                <a:pathLst>
                  <a:path w="68" h="92">
                    <a:moveTo>
                      <a:pt x="34" y="92"/>
                    </a:moveTo>
                    <a:lnTo>
                      <a:pt x="0" y="0"/>
                    </a:lnTo>
                    <a:lnTo>
                      <a:pt x="34" y="46"/>
                    </a:lnTo>
                    <a:lnTo>
                      <a:pt x="68" y="0"/>
                    </a:lnTo>
                    <a:lnTo>
                      <a:pt x="34" y="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500" name="Line 560"/>
              <p:cNvSpPr>
                <a:spLocks noChangeShapeType="1"/>
              </p:cNvSpPr>
              <p:nvPr/>
            </p:nvSpPr>
            <p:spPr bwMode="auto">
              <a:xfrm>
                <a:off x="1492" y="1492"/>
                <a:ext cx="1" cy="64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 name="Line 561"/>
              <p:cNvSpPr>
                <a:spLocks noChangeShapeType="1"/>
              </p:cNvSpPr>
              <p:nvPr/>
            </p:nvSpPr>
            <p:spPr bwMode="auto">
              <a:xfrm>
                <a:off x="1460" y="1486"/>
                <a:ext cx="6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6" name="Freeform 562"/>
            <p:cNvSpPr>
              <a:spLocks/>
            </p:cNvSpPr>
            <p:nvPr/>
          </p:nvSpPr>
          <p:spPr bwMode="auto">
            <a:xfrm>
              <a:off x="1458" y="1202"/>
              <a:ext cx="68" cy="90"/>
            </a:xfrm>
            <a:custGeom>
              <a:avLst/>
              <a:gdLst>
                <a:gd name="T0" fmla="*/ 34 w 68"/>
                <a:gd name="T1" fmla="*/ 0 h 90"/>
                <a:gd name="T2" fmla="*/ 68 w 68"/>
                <a:gd name="T3" fmla="*/ 90 h 90"/>
                <a:gd name="T4" fmla="*/ 34 w 68"/>
                <a:gd name="T5" fmla="*/ 44 h 90"/>
                <a:gd name="T6" fmla="*/ 0 w 68"/>
                <a:gd name="T7" fmla="*/ 90 h 90"/>
                <a:gd name="T8" fmla="*/ 34 w 68"/>
                <a:gd name="T9" fmla="*/ 0 h 90"/>
                <a:gd name="T10" fmla="*/ 0 60000 65536"/>
                <a:gd name="T11" fmla="*/ 0 60000 65536"/>
                <a:gd name="T12" fmla="*/ 0 60000 65536"/>
                <a:gd name="T13" fmla="*/ 0 60000 65536"/>
                <a:gd name="T14" fmla="*/ 0 60000 65536"/>
                <a:gd name="T15" fmla="*/ 0 w 68"/>
                <a:gd name="T16" fmla="*/ 0 h 90"/>
                <a:gd name="T17" fmla="*/ 68 w 68"/>
                <a:gd name="T18" fmla="*/ 90 h 90"/>
              </a:gdLst>
              <a:ahLst/>
              <a:cxnLst>
                <a:cxn ang="T10">
                  <a:pos x="T0" y="T1"/>
                </a:cxn>
                <a:cxn ang="T11">
                  <a:pos x="T2" y="T3"/>
                </a:cxn>
                <a:cxn ang="T12">
                  <a:pos x="T4" y="T5"/>
                </a:cxn>
                <a:cxn ang="T13">
                  <a:pos x="T6" y="T7"/>
                </a:cxn>
                <a:cxn ang="T14">
                  <a:pos x="T8" y="T9"/>
                </a:cxn>
              </a:cxnLst>
              <a:rect l="T15" t="T16" r="T17" b="T18"/>
              <a:pathLst>
                <a:path w="68" h="90">
                  <a:moveTo>
                    <a:pt x="34" y="0"/>
                  </a:moveTo>
                  <a:lnTo>
                    <a:pt x="68" y="90"/>
                  </a:lnTo>
                  <a:lnTo>
                    <a:pt x="34" y="44"/>
                  </a:lnTo>
                  <a:lnTo>
                    <a:pt x="0" y="9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57" name="Freeform 563"/>
            <p:cNvSpPr>
              <a:spLocks/>
            </p:cNvSpPr>
            <p:nvPr/>
          </p:nvSpPr>
          <p:spPr bwMode="auto">
            <a:xfrm>
              <a:off x="1458" y="1404"/>
              <a:ext cx="68" cy="92"/>
            </a:xfrm>
            <a:custGeom>
              <a:avLst/>
              <a:gdLst>
                <a:gd name="T0" fmla="*/ 34 w 68"/>
                <a:gd name="T1" fmla="*/ 92 h 92"/>
                <a:gd name="T2" fmla="*/ 0 w 68"/>
                <a:gd name="T3" fmla="*/ 0 h 92"/>
                <a:gd name="T4" fmla="*/ 34 w 68"/>
                <a:gd name="T5" fmla="*/ 46 h 92"/>
                <a:gd name="T6" fmla="*/ 68 w 68"/>
                <a:gd name="T7" fmla="*/ 0 h 92"/>
                <a:gd name="T8" fmla="*/ 34 w 68"/>
                <a:gd name="T9" fmla="*/ 92 h 92"/>
                <a:gd name="T10" fmla="*/ 0 60000 65536"/>
                <a:gd name="T11" fmla="*/ 0 60000 65536"/>
                <a:gd name="T12" fmla="*/ 0 60000 65536"/>
                <a:gd name="T13" fmla="*/ 0 60000 65536"/>
                <a:gd name="T14" fmla="*/ 0 60000 65536"/>
                <a:gd name="T15" fmla="*/ 0 w 68"/>
                <a:gd name="T16" fmla="*/ 0 h 92"/>
                <a:gd name="T17" fmla="*/ 68 w 68"/>
                <a:gd name="T18" fmla="*/ 92 h 92"/>
              </a:gdLst>
              <a:ahLst/>
              <a:cxnLst>
                <a:cxn ang="T10">
                  <a:pos x="T0" y="T1"/>
                </a:cxn>
                <a:cxn ang="T11">
                  <a:pos x="T2" y="T3"/>
                </a:cxn>
                <a:cxn ang="T12">
                  <a:pos x="T4" y="T5"/>
                </a:cxn>
                <a:cxn ang="T13">
                  <a:pos x="T6" y="T7"/>
                </a:cxn>
                <a:cxn ang="T14">
                  <a:pos x="T8" y="T9"/>
                </a:cxn>
              </a:cxnLst>
              <a:rect l="T15" t="T16" r="T17" b="T18"/>
              <a:pathLst>
                <a:path w="68" h="92">
                  <a:moveTo>
                    <a:pt x="34" y="92"/>
                  </a:moveTo>
                  <a:lnTo>
                    <a:pt x="0" y="0"/>
                  </a:lnTo>
                  <a:lnTo>
                    <a:pt x="34" y="46"/>
                  </a:lnTo>
                  <a:lnTo>
                    <a:pt x="68" y="0"/>
                  </a:lnTo>
                  <a:lnTo>
                    <a:pt x="34" y="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58" name="Line 564"/>
            <p:cNvSpPr>
              <a:spLocks noChangeShapeType="1"/>
            </p:cNvSpPr>
            <p:nvPr/>
          </p:nvSpPr>
          <p:spPr bwMode="auto">
            <a:xfrm flipV="1">
              <a:off x="1492" y="1248"/>
              <a:ext cx="1" cy="20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9" name="Oval 565"/>
            <p:cNvSpPr>
              <a:spLocks noChangeArrowheads="1"/>
            </p:cNvSpPr>
            <p:nvPr/>
          </p:nvSpPr>
          <p:spPr bwMode="auto">
            <a:xfrm>
              <a:off x="2713" y="1273"/>
              <a:ext cx="174" cy="172"/>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0" name="Line 566"/>
            <p:cNvSpPr>
              <a:spLocks noChangeShapeType="1"/>
            </p:cNvSpPr>
            <p:nvPr/>
          </p:nvSpPr>
          <p:spPr bwMode="auto">
            <a:xfrm flipV="1">
              <a:off x="2650" y="950"/>
              <a:ext cx="1" cy="20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 name="Oval 567"/>
            <p:cNvSpPr>
              <a:spLocks noChangeArrowheads="1"/>
            </p:cNvSpPr>
            <p:nvPr/>
          </p:nvSpPr>
          <p:spPr bwMode="auto">
            <a:xfrm>
              <a:off x="1567" y="1345"/>
              <a:ext cx="170" cy="7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2" name="Oval 568"/>
            <p:cNvSpPr>
              <a:spLocks noChangeArrowheads="1"/>
            </p:cNvSpPr>
            <p:nvPr/>
          </p:nvSpPr>
          <p:spPr bwMode="auto">
            <a:xfrm>
              <a:off x="1573" y="1673"/>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3" name="Oval 569"/>
            <p:cNvSpPr>
              <a:spLocks noChangeArrowheads="1"/>
            </p:cNvSpPr>
            <p:nvPr/>
          </p:nvSpPr>
          <p:spPr bwMode="auto">
            <a:xfrm>
              <a:off x="1573" y="2001"/>
              <a:ext cx="168" cy="7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4" name="Oval 570"/>
            <p:cNvSpPr>
              <a:spLocks noChangeArrowheads="1"/>
            </p:cNvSpPr>
            <p:nvPr/>
          </p:nvSpPr>
          <p:spPr bwMode="auto">
            <a:xfrm>
              <a:off x="1783" y="2121"/>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5" name="Oval 571"/>
            <p:cNvSpPr>
              <a:spLocks noChangeArrowheads="1"/>
            </p:cNvSpPr>
            <p:nvPr/>
          </p:nvSpPr>
          <p:spPr bwMode="auto">
            <a:xfrm>
              <a:off x="1783" y="1793"/>
              <a:ext cx="74"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6" name="Oval 572"/>
            <p:cNvSpPr>
              <a:spLocks noChangeArrowheads="1"/>
            </p:cNvSpPr>
            <p:nvPr/>
          </p:nvSpPr>
          <p:spPr bwMode="auto">
            <a:xfrm>
              <a:off x="1735" y="1951"/>
              <a:ext cx="172"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7" name="Oval 573"/>
            <p:cNvSpPr>
              <a:spLocks noChangeArrowheads="1"/>
            </p:cNvSpPr>
            <p:nvPr/>
          </p:nvSpPr>
          <p:spPr bwMode="auto">
            <a:xfrm>
              <a:off x="1783" y="1469"/>
              <a:ext cx="74" cy="16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8" name="Oval 574"/>
            <p:cNvSpPr>
              <a:spLocks noChangeArrowheads="1"/>
            </p:cNvSpPr>
            <p:nvPr/>
          </p:nvSpPr>
          <p:spPr bwMode="auto">
            <a:xfrm>
              <a:off x="1735" y="1627"/>
              <a:ext cx="172"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69" name="Oval 575"/>
            <p:cNvSpPr>
              <a:spLocks noChangeArrowheads="1"/>
            </p:cNvSpPr>
            <p:nvPr/>
          </p:nvSpPr>
          <p:spPr bwMode="auto">
            <a:xfrm>
              <a:off x="1783" y="1135"/>
              <a:ext cx="74" cy="17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70" name="Oval 576"/>
            <p:cNvSpPr>
              <a:spLocks noChangeArrowheads="1"/>
            </p:cNvSpPr>
            <p:nvPr/>
          </p:nvSpPr>
          <p:spPr bwMode="auto">
            <a:xfrm>
              <a:off x="1735" y="1295"/>
              <a:ext cx="172"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nvGrpSpPr>
            <p:cNvPr id="471" name="Group 577"/>
            <p:cNvGrpSpPr>
              <a:grpSpLocks/>
            </p:cNvGrpSpPr>
            <p:nvPr/>
          </p:nvGrpSpPr>
          <p:grpSpPr bwMode="auto">
            <a:xfrm>
              <a:off x="1635" y="1331"/>
              <a:ext cx="32" cy="100"/>
              <a:chOff x="1635" y="1331"/>
              <a:chExt cx="32" cy="100"/>
            </a:xfrm>
          </p:grpSpPr>
          <p:sp>
            <p:nvSpPr>
              <p:cNvPr id="497" name="Oval 578"/>
              <p:cNvSpPr>
                <a:spLocks noChangeArrowheads="1"/>
              </p:cNvSpPr>
              <p:nvPr/>
            </p:nvSpPr>
            <p:spPr bwMode="auto">
              <a:xfrm>
                <a:off x="1635" y="13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98" name="Oval 579"/>
              <p:cNvSpPr>
                <a:spLocks noChangeArrowheads="1"/>
              </p:cNvSpPr>
              <p:nvPr/>
            </p:nvSpPr>
            <p:spPr bwMode="auto">
              <a:xfrm>
                <a:off x="1635" y="139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72" name="Group 580"/>
            <p:cNvGrpSpPr>
              <a:grpSpLocks/>
            </p:cNvGrpSpPr>
            <p:nvPr/>
          </p:nvGrpSpPr>
          <p:grpSpPr bwMode="auto">
            <a:xfrm>
              <a:off x="1633" y="1663"/>
              <a:ext cx="32" cy="100"/>
              <a:chOff x="1633" y="1663"/>
              <a:chExt cx="32" cy="100"/>
            </a:xfrm>
          </p:grpSpPr>
          <p:sp>
            <p:nvSpPr>
              <p:cNvPr id="495" name="Oval 581"/>
              <p:cNvSpPr>
                <a:spLocks noChangeArrowheads="1"/>
              </p:cNvSpPr>
              <p:nvPr/>
            </p:nvSpPr>
            <p:spPr bwMode="auto">
              <a:xfrm>
                <a:off x="1633" y="166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96" name="Oval 582"/>
              <p:cNvSpPr>
                <a:spLocks noChangeArrowheads="1"/>
              </p:cNvSpPr>
              <p:nvPr/>
            </p:nvSpPr>
            <p:spPr bwMode="auto">
              <a:xfrm>
                <a:off x="1633" y="1731"/>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73" name="Group 583"/>
            <p:cNvGrpSpPr>
              <a:grpSpLocks/>
            </p:cNvGrpSpPr>
            <p:nvPr/>
          </p:nvGrpSpPr>
          <p:grpSpPr bwMode="auto">
            <a:xfrm>
              <a:off x="1637" y="1987"/>
              <a:ext cx="32" cy="100"/>
              <a:chOff x="1637" y="1987"/>
              <a:chExt cx="32" cy="100"/>
            </a:xfrm>
          </p:grpSpPr>
          <p:sp>
            <p:nvSpPr>
              <p:cNvPr id="493" name="Oval 584"/>
              <p:cNvSpPr>
                <a:spLocks noChangeArrowheads="1"/>
              </p:cNvSpPr>
              <p:nvPr/>
            </p:nvSpPr>
            <p:spPr bwMode="auto">
              <a:xfrm>
                <a:off x="1637" y="198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94" name="Oval 585"/>
              <p:cNvSpPr>
                <a:spLocks noChangeArrowheads="1"/>
              </p:cNvSpPr>
              <p:nvPr/>
            </p:nvSpPr>
            <p:spPr bwMode="auto">
              <a:xfrm>
                <a:off x="1637" y="2055"/>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74" name="Group 586"/>
            <p:cNvGrpSpPr>
              <a:grpSpLocks/>
            </p:cNvGrpSpPr>
            <p:nvPr/>
          </p:nvGrpSpPr>
          <p:grpSpPr bwMode="auto">
            <a:xfrm>
              <a:off x="1769" y="1533"/>
              <a:ext cx="100" cy="34"/>
              <a:chOff x="1769" y="1533"/>
              <a:chExt cx="100" cy="34"/>
            </a:xfrm>
          </p:grpSpPr>
          <p:sp>
            <p:nvSpPr>
              <p:cNvPr id="491" name="Oval 587"/>
              <p:cNvSpPr>
                <a:spLocks noChangeArrowheads="1"/>
              </p:cNvSpPr>
              <p:nvPr/>
            </p:nvSpPr>
            <p:spPr bwMode="auto">
              <a:xfrm>
                <a:off x="1837" y="1533"/>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92" name="Oval 588"/>
              <p:cNvSpPr>
                <a:spLocks noChangeArrowheads="1"/>
              </p:cNvSpPr>
              <p:nvPr/>
            </p:nvSpPr>
            <p:spPr bwMode="auto">
              <a:xfrm>
                <a:off x="1769" y="1533"/>
                <a:ext cx="32" cy="34"/>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75" name="Group 589"/>
            <p:cNvGrpSpPr>
              <a:grpSpLocks/>
            </p:cNvGrpSpPr>
            <p:nvPr/>
          </p:nvGrpSpPr>
          <p:grpSpPr bwMode="auto">
            <a:xfrm>
              <a:off x="1773" y="1863"/>
              <a:ext cx="100" cy="32"/>
              <a:chOff x="1773" y="1863"/>
              <a:chExt cx="100" cy="32"/>
            </a:xfrm>
          </p:grpSpPr>
          <p:sp>
            <p:nvSpPr>
              <p:cNvPr id="489" name="Oval 590"/>
              <p:cNvSpPr>
                <a:spLocks noChangeArrowheads="1"/>
              </p:cNvSpPr>
              <p:nvPr/>
            </p:nvSpPr>
            <p:spPr bwMode="auto">
              <a:xfrm>
                <a:off x="1841" y="186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90" name="Oval 591"/>
              <p:cNvSpPr>
                <a:spLocks noChangeArrowheads="1"/>
              </p:cNvSpPr>
              <p:nvPr/>
            </p:nvSpPr>
            <p:spPr bwMode="auto">
              <a:xfrm>
                <a:off x="1773" y="1863"/>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grpSp>
          <p:nvGrpSpPr>
            <p:cNvPr id="476" name="Group 592"/>
            <p:cNvGrpSpPr>
              <a:grpSpLocks/>
            </p:cNvGrpSpPr>
            <p:nvPr/>
          </p:nvGrpSpPr>
          <p:grpSpPr bwMode="auto">
            <a:xfrm>
              <a:off x="1769" y="2189"/>
              <a:ext cx="100" cy="32"/>
              <a:chOff x="1769" y="2189"/>
              <a:chExt cx="100" cy="32"/>
            </a:xfrm>
          </p:grpSpPr>
          <p:sp>
            <p:nvSpPr>
              <p:cNvPr id="487" name="Oval 593"/>
              <p:cNvSpPr>
                <a:spLocks noChangeArrowheads="1"/>
              </p:cNvSpPr>
              <p:nvPr/>
            </p:nvSpPr>
            <p:spPr bwMode="auto">
              <a:xfrm>
                <a:off x="1837" y="218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8" name="Oval 594"/>
              <p:cNvSpPr>
                <a:spLocks noChangeArrowheads="1"/>
              </p:cNvSpPr>
              <p:nvPr/>
            </p:nvSpPr>
            <p:spPr bwMode="auto">
              <a:xfrm>
                <a:off x="1769" y="2189"/>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477" name="Oval 595"/>
            <p:cNvSpPr>
              <a:spLocks noChangeArrowheads="1"/>
            </p:cNvSpPr>
            <p:nvPr/>
          </p:nvSpPr>
          <p:spPr bwMode="auto">
            <a:xfrm>
              <a:off x="1769" y="1177"/>
              <a:ext cx="32" cy="32"/>
            </a:xfrm>
            <a:prstGeom prst="ellipse">
              <a:avLst/>
            </a:prstGeom>
            <a:solidFill>
              <a:srgbClr val="FF3300"/>
            </a:solidFill>
            <a:ln w="9525">
              <a:solidFill>
                <a:srgbClr val="FF33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78" name="Line 596"/>
            <p:cNvSpPr>
              <a:spLocks noChangeShapeType="1"/>
            </p:cNvSpPr>
            <p:nvPr/>
          </p:nvSpPr>
          <p:spPr bwMode="auto">
            <a:xfrm flipV="1">
              <a:off x="1824" y="938"/>
              <a:ext cx="1" cy="19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9" name="Oval 597"/>
            <p:cNvSpPr>
              <a:spLocks noChangeArrowheads="1"/>
            </p:cNvSpPr>
            <p:nvPr/>
          </p:nvSpPr>
          <p:spPr bwMode="auto">
            <a:xfrm>
              <a:off x="2069" y="1287"/>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0" name="Oval 598"/>
            <p:cNvSpPr>
              <a:spLocks noChangeArrowheads="1"/>
            </p:cNvSpPr>
            <p:nvPr/>
          </p:nvSpPr>
          <p:spPr bwMode="auto">
            <a:xfrm>
              <a:off x="2441" y="127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1" name="Oval 599"/>
            <p:cNvSpPr>
              <a:spLocks noChangeArrowheads="1"/>
            </p:cNvSpPr>
            <p:nvPr/>
          </p:nvSpPr>
          <p:spPr bwMode="auto">
            <a:xfrm>
              <a:off x="2069" y="1619"/>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2" name="Oval 600"/>
            <p:cNvSpPr>
              <a:spLocks noChangeArrowheads="1"/>
            </p:cNvSpPr>
            <p:nvPr/>
          </p:nvSpPr>
          <p:spPr bwMode="auto">
            <a:xfrm>
              <a:off x="2409" y="1625"/>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3" name="Oval 601"/>
            <p:cNvSpPr>
              <a:spLocks noChangeArrowheads="1"/>
            </p:cNvSpPr>
            <p:nvPr/>
          </p:nvSpPr>
          <p:spPr bwMode="auto">
            <a:xfrm>
              <a:off x="2409" y="1949"/>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4" name="Oval 602"/>
            <p:cNvSpPr>
              <a:spLocks noChangeArrowheads="1"/>
            </p:cNvSpPr>
            <p:nvPr/>
          </p:nvSpPr>
          <p:spPr bwMode="auto">
            <a:xfrm>
              <a:off x="2069" y="194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5" name="Oval 603"/>
            <p:cNvSpPr>
              <a:spLocks noChangeArrowheads="1"/>
            </p:cNvSpPr>
            <p:nvPr/>
          </p:nvSpPr>
          <p:spPr bwMode="auto">
            <a:xfrm>
              <a:off x="2733" y="1633"/>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sp>
          <p:nvSpPr>
            <p:cNvPr id="486" name="Oval 604"/>
            <p:cNvSpPr>
              <a:spLocks noChangeArrowheads="1"/>
            </p:cNvSpPr>
            <p:nvPr/>
          </p:nvSpPr>
          <p:spPr bwMode="auto">
            <a:xfrm>
              <a:off x="2733" y="1957"/>
              <a:ext cx="174" cy="174"/>
            </a:xfrm>
            <a:prstGeom prst="ellipse">
              <a:avLst/>
            </a:prstGeom>
            <a:solidFill>
              <a:srgbClr val="33CCCC"/>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a:ea typeface="宋体" panose="02010600030101010101" pitchFamily="2" charset="-122"/>
              </a:endParaRPr>
            </a:p>
          </p:txBody>
        </p:sp>
      </p:grpSp>
      <p:sp>
        <p:nvSpPr>
          <p:cNvPr id="604" name="Text Box 605"/>
          <p:cNvSpPr txBox="1">
            <a:spLocks noChangeArrowheads="1"/>
          </p:cNvSpPr>
          <p:nvPr/>
        </p:nvSpPr>
        <p:spPr bwMode="auto">
          <a:xfrm>
            <a:off x="533400" y="1295400"/>
            <a:ext cx="8305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zh-CN" altLang="en-US" sz="2400" b="1">
                <a:ea typeface="宋体" panose="02010600030101010101" pitchFamily="2" charset="-122"/>
              </a:rPr>
              <a:t>由于其周期性受到破坏，会出现未成键的化学键（不饱和键），此时可能出现各种不同的情形：1）形成悬挂键；2）发生表面重构；3）吸附其它原子，形成其它键</a:t>
            </a:r>
          </a:p>
        </p:txBody>
      </p:sp>
      <p:sp>
        <p:nvSpPr>
          <p:cNvPr id="606" name="矩形 605"/>
          <p:cNvSpPr/>
          <p:nvPr/>
        </p:nvSpPr>
        <p:spPr>
          <a:xfrm>
            <a:off x="320343" y="280548"/>
            <a:ext cx="3648756" cy="523220"/>
          </a:xfrm>
          <a:prstGeom prst="rect">
            <a:avLst/>
          </a:prstGeom>
        </p:spPr>
        <p:txBody>
          <a:bodyPr wrap="none">
            <a:spAutoFit/>
          </a:bodyPr>
          <a:lstStyle/>
          <a:p>
            <a:pPr lvl="0">
              <a:spcBef>
                <a:spcPct val="50000"/>
              </a:spcBef>
            </a:pPr>
            <a:r>
              <a:rPr kumimoji="1" lang="en-US" altLang="zh-CN" sz="2800" b="1" dirty="0">
                <a:solidFill>
                  <a:srgbClr val="D96227"/>
                </a:solidFill>
                <a:latin typeface="Times New Roman" pitchFamily="18" charset="0"/>
                <a:ea typeface="宋体" pitchFamily="2" charset="-122"/>
                <a:cs typeface="Times New Roman" pitchFamily="18" charset="0"/>
              </a:rPr>
              <a:t>5</a:t>
            </a:r>
            <a:r>
              <a:rPr kumimoji="1" lang="zh-CN" altLang="en-US" sz="2800" b="1" dirty="0">
                <a:solidFill>
                  <a:srgbClr val="D96227"/>
                </a:solidFill>
                <a:latin typeface="Times New Roman" pitchFamily="18" charset="0"/>
                <a:ea typeface="宋体" pitchFamily="2" charset="-122"/>
                <a:cs typeface="Times New Roman" pitchFamily="18" charset="0"/>
              </a:rPr>
              <a:t>、晶体的表面缺陷态</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346549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83</a:t>
            </a:fld>
            <a:endParaRPr lang="zh-CN" altLang="en-US"/>
          </a:p>
        </p:txBody>
      </p:sp>
      <p:pic>
        <p:nvPicPr>
          <p:cNvPr id="3" name="图片 2"/>
          <p:cNvPicPr>
            <a:picLocks noChangeAspect="1"/>
          </p:cNvPicPr>
          <p:nvPr/>
        </p:nvPicPr>
        <p:blipFill>
          <a:blip r:embed="rId2"/>
          <a:stretch>
            <a:fillRect/>
          </a:stretch>
        </p:blipFill>
        <p:spPr>
          <a:xfrm>
            <a:off x="152400" y="3463201"/>
            <a:ext cx="4762500" cy="2676525"/>
          </a:xfrm>
          <a:prstGeom prst="rect">
            <a:avLst/>
          </a:prstGeom>
        </p:spPr>
      </p:pic>
      <p:sp>
        <p:nvSpPr>
          <p:cNvPr id="4" name="Text Box 4"/>
          <p:cNvSpPr txBox="1">
            <a:spLocks noChangeArrowheads="1"/>
          </p:cNvSpPr>
          <p:nvPr/>
        </p:nvSpPr>
        <p:spPr bwMode="auto">
          <a:xfrm>
            <a:off x="152400" y="404813"/>
            <a:ext cx="8839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a:spcBef>
                <a:spcPct val="25000"/>
              </a:spcBef>
              <a:buFontTx/>
              <a:buNone/>
            </a:pPr>
            <a:r>
              <a:rPr kumimoji="1" lang="zh-CN" altLang="en-US" sz="2800" b="1" u="none" dirty="0">
                <a:solidFill>
                  <a:srgbClr val="800000"/>
                </a:solidFill>
                <a:ea typeface="隶书" charset="0"/>
              </a:rPr>
              <a:t>拓扑绝缘体</a:t>
            </a:r>
            <a:endParaRPr kumimoji="1" lang="zh-CN" altLang="en-US" sz="2800" b="1" u="none" dirty="0">
              <a:solidFill>
                <a:srgbClr val="800000"/>
              </a:solidFill>
              <a:latin typeface="隶书" charset="0"/>
              <a:ea typeface="隶书" charset="0"/>
            </a:endParaRPr>
          </a:p>
        </p:txBody>
      </p:sp>
      <p:sp>
        <p:nvSpPr>
          <p:cNvPr id="5" name="矩形 4"/>
          <p:cNvSpPr/>
          <p:nvPr/>
        </p:nvSpPr>
        <p:spPr>
          <a:xfrm>
            <a:off x="445939" y="1205424"/>
            <a:ext cx="8171850" cy="1200329"/>
          </a:xfrm>
          <a:prstGeom prst="rect">
            <a:avLst/>
          </a:prstGeom>
        </p:spPr>
        <p:txBody>
          <a:bodyPr wrap="square">
            <a:spAutoFit/>
          </a:bodyPr>
          <a:lstStyle/>
          <a:p>
            <a:r>
              <a:rPr lang="zh-CN" altLang="en-US" b="1" dirty="0"/>
              <a:t>扑绝缘体</a:t>
            </a:r>
            <a:r>
              <a:rPr lang="zh-CN" altLang="en-US" dirty="0"/>
              <a:t>是一种内部绝缘，界面允许电荷移动的材料。</a:t>
            </a:r>
          </a:p>
          <a:p>
            <a:r>
              <a:rPr lang="zh-CN" altLang="en-US" dirty="0"/>
              <a:t>在拓扑绝缘体的内部，电子能带结构和常规的绝缘体相似，其费米能级位于导带和价带之间。在拓扑绝缘体的表面存在一些特殊的量子态，这些量子态位于块体能带结构的带隙之中，从而允许导电，因而导致其表面总是金属性的。</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6385" y="2894040"/>
            <a:ext cx="3038475" cy="3076575"/>
          </a:xfrm>
          <a:prstGeom prst="rect">
            <a:avLst/>
          </a:prstGeom>
        </p:spPr>
      </p:pic>
    </p:spTree>
    <p:extLst>
      <p:ext uri="{BB962C8B-B14F-4D97-AF65-F5344CB8AC3E}">
        <p14:creationId xmlns:p14="http://schemas.microsoft.com/office/powerpoint/2010/main" val="13334379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84</a:t>
            </a:fld>
            <a:endParaRPr lang="zh-CN" altLang="en-US"/>
          </a:p>
        </p:txBody>
      </p:sp>
      <p:sp>
        <p:nvSpPr>
          <p:cNvPr id="3" name="矩形 2"/>
          <p:cNvSpPr/>
          <p:nvPr/>
        </p:nvSpPr>
        <p:spPr>
          <a:xfrm>
            <a:off x="402006" y="1076191"/>
            <a:ext cx="1988045"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重点掌握：</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Rectangle 4"/>
          <p:cNvSpPr>
            <a:spLocks noChangeArrowheads="1"/>
          </p:cNvSpPr>
          <p:nvPr/>
        </p:nvSpPr>
        <p:spPr bwMode="auto">
          <a:xfrm>
            <a:off x="3383280" y="295910"/>
            <a:ext cx="360013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本节小结</a:t>
            </a:r>
          </a:p>
        </p:txBody>
      </p:sp>
      <p:sp>
        <p:nvSpPr>
          <p:cNvPr id="5" name="Text Box 1029"/>
          <p:cNvSpPr txBox="1">
            <a:spLocks noChangeArrowheads="1"/>
          </p:cNvSpPr>
          <p:nvPr/>
        </p:nvSpPr>
        <p:spPr bwMode="auto">
          <a:xfrm>
            <a:off x="402006" y="1785314"/>
            <a:ext cx="8302041" cy="2788456"/>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浅能级杂质的类氢模型</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扩展态与束缚态的概念</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费米能级与温度的关系（</a:t>
            </a:r>
            <a:r>
              <a:rPr kumimoji="1" lang="zh-CN" altLang="en-US" sz="2400" b="1" dirty="0">
                <a:solidFill>
                  <a:srgbClr val="FF0000"/>
                </a:solidFill>
                <a:latin typeface="宋体" panose="02010600030101010101" pitchFamily="2" charset="-122"/>
                <a:ea typeface="宋体" panose="02010600030101010101" pitchFamily="2" charset="-122"/>
              </a:rPr>
              <a:t>重要</a:t>
            </a:r>
            <a:r>
              <a:rPr kumimoji="1" lang="zh-CN" altLang="en-US" sz="2400" b="1" dirty="0">
                <a:solidFill>
                  <a:srgbClr val="000000"/>
                </a:solidFill>
                <a:latin typeface="宋体" panose="02010600030101010101" pitchFamily="2" charset="-122"/>
                <a:ea typeface="宋体" panose="02010600030101010101" pitchFamily="2" charset="-122"/>
              </a:rPr>
              <a:t>）</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深能级杂质的特点</a:t>
            </a:r>
            <a:endParaRPr kumimoji="1" lang="en-US" altLang="zh-CN" sz="2400" b="1" dirty="0">
              <a:solidFill>
                <a:srgbClr val="000000"/>
              </a:solidFill>
              <a:latin typeface="宋体" panose="02010600030101010101" pitchFamily="2" charset="-122"/>
              <a:ea typeface="宋体" panose="02010600030101010101" pitchFamily="2" charset="-122"/>
            </a:endParaRPr>
          </a:p>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重掺杂半导体的特点，简并半导体</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
        <p:nvSpPr>
          <p:cNvPr id="6" name="矩形 5"/>
          <p:cNvSpPr/>
          <p:nvPr/>
        </p:nvSpPr>
        <p:spPr>
          <a:xfrm>
            <a:off x="402006" y="5074231"/>
            <a:ext cx="1266693"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了解：</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7" name="Text Box 1029"/>
          <p:cNvSpPr txBox="1">
            <a:spLocks noChangeArrowheads="1"/>
          </p:cNvSpPr>
          <p:nvPr/>
        </p:nvSpPr>
        <p:spPr bwMode="auto">
          <a:xfrm>
            <a:off x="501445" y="5674627"/>
            <a:ext cx="8202602" cy="49859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10000"/>
              </a:lnSpc>
              <a:spcBef>
                <a:spcPct val="50000"/>
              </a:spcBef>
              <a:buClrTx/>
              <a:buSzTx/>
              <a:buFontTx/>
              <a:buNone/>
            </a:pPr>
            <a:r>
              <a:rPr kumimoji="1" lang="zh-CN" altLang="en-US" sz="2400" b="1" dirty="0">
                <a:solidFill>
                  <a:srgbClr val="000000"/>
                </a:solidFill>
                <a:latin typeface="宋体" panose="02010600030101010101" pitchFamily="2" charset="-122"/>
                <a:ea typeface="宋体" panose="02010600030101010101" pitchFamily="2" charset="-122"/>
              </a:rPr>
              <a:t>化合物半导体中的点缺陷，表面缺陷态的概念</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290342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85</a:t>
            </a:fld>
            <a:endParaRPr lang="zh-CN" altLang="en-US"/>
          </a:p>
        </p:txBody>
      </p:sp>
      <p:sp>
        <p:nvSpPr>
          <p:cNvPr id="4" name="Rectangle 4"/>
          <p:cNvSpPr>
            <a:spLocks noChangeArrowheads="1"/>
          </p:cNvSpPr>
          <p:nvPr/>
        </p:nvSpPr>
        <p:spPr bwMode="auto">
          <a:xfrm>
            <a:off x="3383280" y="295910"/>
            <a:ext cx="360013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本章总结</a:t>
            </a:r>
          </a:p>
        </p:txBody>
      </p:sp>
      <p:sp>
        <p:nvSpPr>
          <p:cNvPr id="5" name="Text Box 1029"/>
          <p:cNvSpPr txBox="1">
            <a:spLocks noChangeArrowheads="1"/>
          </p:cNvSpPr>
          <p:nvPr/>
        </p:nvSpPr>
        <p:spPr bwMode="auto">
          <a:xfrm>
            <a:off x="289864" y="1005201"/>
            <a:ext cx="8509081" cy="5632311"/>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格波：晶格振动的运动形式</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声子：晶格振动模式的能量量子化</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能带论的基础：共有化运动电子，绝热近似，单电子近似，周期场近似，布洛赫定理</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布洛赫波：晶体中共有化电子的运动形式，周期函数叠加一个与</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相关的相位因子</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en-US" altLang="zh-CN" sz="2400" b="1" dirty="0">
                <a:solidFill>
                  <a:srgbClr val="000000"/>
                </a:solidFill>
                <a:latin typeface="宋体" panose="02010600030101010101" pitchFamily="2" charset="-122"/>
                <a:ea typeface="宋体" panose="02010600030101010101" pitchFamily="2" charset="-122"/>
              </a:rPr>
              <a:t>E-k</a:t>
            </a:r>
            <a:r>
              <a:rPr kumimoji="1" lang="zh-CN" altLang="en-US" sz="2400" b="1" dirty="0">
                <a:solidFill>
                  <a:srgbClr val="000000"/>
                </a:solidFill>
                <a:latin typeface="宋体" panose="02010600030101010101" pitchFamily="2" charset="-122"/>
                <a:ea typeface="宋体" panose="02010600030101010101" pitchFamily="2" charset="-122"/>
              </a:rPr>
              <a:t>关系：在</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空间描述的能量</a:t>
            </a:r>
            <a:r>
              <a:rPr kumimoji="1" lang="en-US" altLang="zh-CN" sz="2400" b="1" dirty="0">
                <a:solidFill>
                  <a:srgbClr val="000000"/>
                </a:solidFill>
                <a:latin typeface="宋体" panose="02010600030101010101" pitchFamily="2" charset="-122"/>
                <a:ea typeface="宋体" panose="02010600030101010101" pitchFamily="2" charset="-122"/>
              </a:rPr>
              <a:t>E</a:t>
            </a:r>
            <a:r>
              <a:rPr kumimoji="1" lang="zh-CN" altLang="en-US" sz="2400" b="1" dirty="0">
                <a:solidFill>
                  <a:srgbClr val="000000"/>
                </a:solidFill>
                <a:latin typeface="宋体" panose="02010600030101010101" pitchFamily="2" charset="-122"/>
                <a:ea typeface="宋体" panose="02010600030101010101" pitchFamily="2" charset="-122"/>
              </a:rPr>
              <a:t>随</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变化的关系。能量</a:t>
            </a:r>
            <a:r>
              <a:rPr kumimoji="1" lang="en-US" altLang="zh-CN" sz="2400" b="1" dirty="0">
                <a:solidFill>
                  <a:srgbClr val="000000"/>
                </a:solidFill>
                <a:latin typeface="宋体" panose="02010600030101010101" pitchFamily="2" charset="-122"/>
                <a:ea typeface="宋体" panose="02010600030101010101" pitchFamily="2" charset="-122"/>
              </a:rPr>
              <a:t>E</a:t>
            </a:r>
            <a:r>
              <a:rPr kumimoji="1" lang="zh-CN" altLang="en-US" sz="2400" b="1" dirty="0">
                <a:solidFill>
                  <a:srgbClr val="000000"/>
                </a:solidFill>
                <a:latin typeface="宋体" panose="02010600030101010101" pitchFamily="2" charset="-122"/>
                <a:ea typeface="宋体" panose="02010600030101010101" pitchFamily="2" charset="-122"/>
              </a:rPr>
              <a:t>为</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的周期函数，</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只能取一系列特定值，因此</a:t>
            </a:r>
            <a:r>
              <a:rPr kumimoji="1" lang="en-US" altLang="zh-CN" sz="2400" b="1" dirty="0">
                <a:solidFill>
                  <a:srgbClr val="000000"/>
                </a:solidFill>
                <a:latin typeface="宋体" panose="02010600030101010101" pitchFamily="2" charset="-122"/>
                <a:ea typeface="宋体" panose="02010600030101010101" pitchFamily="2" charset="-122"/>
              </a:rPr>
              <a:t>E</a:t>
            </a:r>
            <a:r>
              <a:rPr kumimoji="1" lang="zh-CN" altLang="en-US" sz="2400" b="1" dirty="0">
                <a:solidFill>
                  <a:srgbClr val="000000"/>
                </a:solidFill>
                <a:latin typeface="宋体" panose="02010600030101010101" pitchFamily="2" charset="-122"/>
                <a:ea typeface="宋体" panose="02010600030101010101" pitchFamily="2" charset="-122"/>
              </a:rPr>
              <a:t>在</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空间呈准连续分布，</a:t>
            </a:r>
            <a:r>
              <a:rPr kumimoji="1" lang="en-US" altLang="zh-CN" sz="2400" b="1" dirty="0">
                <a:solidFill>
                  <a:srgbClr val="000000"/>
                </a:solidFill>
                <a:latin typeface="宋体" panose="02010600030101010101" pitchFamily="2" charset="-122"/>
                <a:ea typeface="宋体" panose="02010600030101010101" pitchFamily="2" charset="-122"/>
              </a:rPr>
              <a:t>E</a:t>
            </a:r>
            <a:r>
              <a:rPr kumimoji="1" lang="zh-CN" altLang="en-US" sz="2400" b="1" dirty="0">
                <a:solidFill>
                  <a:srgbClr val="000000"/>
                </a:solidFill>
                <a:latin typeface="宋体" panose="02010600030101010101" pitchFamily="2" charset="-122"/>
                <a:ea typeface="宋体" panose="02010600030101010101" pitchFamily="2" charset="-122"/>
              </a:rPr>
              <a:t>随</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呈准连续分布的空间称为能带。</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布里渊区：在</a:t>
            </a:r>
            <a:r>
              <a:rPr kumimoji="1" lang="en-US" altLang="zh-CN" sz="2400" b="1" dirty="0">
                <a:solidFill>
                  <a:srgbClr val="000000"/>
                </a:solidFill>
                <a:latin typeface="宋体" panose="02010600030101010101" pitchFamily="2" charset="-122"/>
                <a:ea typeface="宋体" panose="02010600030101010101" pitchFamily="2" charset="-122"/>
              </a:rPr>
              <a:t>K</a:t>
            </a:r>
            <a:r>
              <a:rPr kumimoji="1" lang="zh-CN" altLang="en-US" sz="2400" b="1" dirty="0">
                <a:solidFill>
                  <a:srgbClr val="000000"/>
                </a:solidFill>
                <a:latin typeface="宋体" panose="02010600030101010101" pitchFamily="2" charset="-122"/>
                <a:ea typeface="宋体" panose="02010600030101010101" pitchFamily="2" charset="-122"/>
              </a:rPr>
              <a:t>空间，存在多个布里渊区，在每个布里渊区， </a:t>
            </a:r>
            <a:r>
              <a:rPr kumimoji="1" lang="en-US" altLang="zh-CN" sz="2400" b="1" dirty="0">
                <a:solidFill>
                  <a:srgbClr val="000000"/>
                </a:solidFill>
                <a:latin typeface="宋体" panose="02010600030101010101" pitchFamily="2" charset="-122"/>
                <a:ea typeface="宋体" panose="02010600030101010101" pitchFamily="2" charset="-122"/>
              </a:rPr>
              <a:t>E-k </a:t>
            </a:r>
            <a:r>
              <a:rPr kumimoji="1" lang="zh-CN" altLang="en-US" sz="2400" b="1" dirty="0">
                <a:solidFill>
                  <a:srgbClr val="000000"/>
                </a:solidFill>
                <a:latin typeface="宋体" panose="02010600030101010101" pitchFamily="2" charset="-122"/>
                <a:ea typeface="宋体" panose="02010600030101010101" pitchFamily="2" charset="-122"/>
              </a:rPr>
              <a:t>关系具有一一对应关系。</a:t>
            </a:r>
            <a:endParaRPr kumimoji="1" lang="en-US" altLang="zh-CN" sz="2400" b="1" dirty="0">
              <a:solidFill>
                <a:srgbClr val="000000"/>
              </a:solidFill>
              <a:latin typeface="宋体" panose="02010600030101010101" pitchFamily="2" charset="-122"/>
              <a:ea typeface="宋体" panose="02010600030101010101" pitchFamily="2" charset="-122"/>
            </a:endParaRPr>
          </a:p>
          <a:p>
            <a:pPr>
              <a:spcBef>
                <a:spcPct val="50000"/>
              </a:spcBef>
              <a:buNone/>
            </a:pPr>
            <a:r>
              <a:rPr kumimoji="1" lang="zh-CN" altLang="en-US" sz="2400" b="1" dirty="0">
                <a:solidFill>
                  <a:srgbClr val="000000"/>
                </a:solidFill>
                <a:latin typeface="宋体" panose="02010600030101010101" pitchFamily="2" charset="-122"/>
                <a:ea typeface="宋体" panose="02010600030101010101" pitchFamily="2" charset="-122"/>
              </a:rPr>
              <a:t>浅能级杂质，深能级杂质，简并半导体，费米能级与温度关系</a:t>
            </a:r>
            <a:endParaRPr kumimoji="1"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87071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16919</TotalTime>
  <Words>7095</Words>
  <Application>Microsoft Office PowerPoint</Application>
  <PresentationFormat>On-screen Show (4:3)</PresentationFormat>
  <Paragraphs>859</Paragraphs>
  <Slides>85</Slides>
  <Notes>4</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6</vt:i4>
      </vt:variant>
      <vt:variant>
        <vt:lpstr>Slide Titles</vt:lpstr>
      </vt:variant>
      <vt:variant>
        <vt:i4>85</vt:i4>
      </vt:variant>
    </vt:vector>
  </HeadingPairs>
  <TitlesOfParts>
    <vt:vector size="106" baseType="lpstr">
      <vt:lpstr>宋体</vt:lpstr>
      <vt:lpstr>Microsoft Yahei</vt:lpstr>
      <vt:lpstr>等线</vt:lpstr>
      <vt:lpstr>隶书</vt:lpstr>
      <vt:lpstr>Arial</vt:lpstr>
      <vt:lpstr>Calibri</vt:lpstr>
      <vt:lpstr>Calibri Light</vt:lpstr>
      <vt:lpstr>Cambria Math</vt:lpstr>
      <vt:lpstr>Helvetica</vt:lpstr>
      <vt:lpstr>Symbol</vt:lpstr>
      <vt:lpstr>Tahoma</vt:lpstr>
      <vt:lpstr>Times</vt:lpstr>
      <vt:lpstr>Times New Roman</vt:lpstr>
      <vt:lpstr>Wingdings</vt:lpstr>
      <vt:lpstr>Office 主题​​</vt:lpstr>
      <vt:lpstr>MathType 7.0 Equation</vt:lpstr>
      <vt:lpstr>Equation</vt:lpstr>
      <vt:lpstr>位图图像</vt:lpstr>
      <vt:lpstr>公式</vt:lpstr>
      <vt:lpstr>Equation.3</vt:lpstr>
      <vt:lpstr>BMP 图象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gaobin</dc:creator>
  <cp:lastModifiedBy>Man Fong Lio</cp:lastModifiedBy>
  <cp:revision>205</cp:revision>
  <dcterms:created xsi:type="dcterms:W3CDTF">2018-11-20T07:03:35Z</dcterms:created>
  <dcterms:modified xsi:type="dcterms:W3CDTF">2024-05-26T06:26:58Z</dcterms:modified>
</cp:coreProperties>
</file>