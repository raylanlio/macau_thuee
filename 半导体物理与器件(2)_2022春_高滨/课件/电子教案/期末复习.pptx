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9" r:id="rId2"/>
    <p:sldId id="281" r:id="rId3"/>
    <p:sldId id="283" r:id="rId4"/>
    <p:sldId id="285" r:id="rId5"/>
    <p:sldId id="284" r:id="rId6"/>
    <p:sldId id="287" r:id="rId7"/>
    <p:sldId id="288" r:id="rId8"/>
    <p:sldId id="289" r:id="rId9"/>
    <p:sldId id="290" r:id="rId10"/>
    <p:sldId id="291" r:id="rId11"/>
    <p:sldId id="293" r:id="rId12"/>
    <p:sldId id="294" r:id="rId13"/>
    <p:sldId id="292" r:id="rId14"/>
    <p:sldId id="296" r:id="rId15"/>
    <p:sldId id="297" r:id="rId16"/>
    <p:sldId id="298" r:id="rId17"/>
    <p:sldId id="299" r:id="rId18"/>
    <p:sldId id="300" r:id="rId19"/>
    <p:sldId id="301" r:id="rId20"/>
    <p:sldId id="30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5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png"/><Relationship Id="rId1" Type="http://schemas.openxmlformats.org/officeDocument/2006/relationships/image" Target="../media/image47.png"/><Relationship Id="rId4" Type="http://schemas.openxmlformats.org/officeDocument/2006/relationships/image" Target="../media/image5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C792C-111F-4E8F-90ED-A227640BA86A}" type="datetimeFigureOut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73C6D-2231-48A4-96DD-B22752A16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581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066B5-3900-4E69-AC63-E08D9529DCB2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032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37C18-80A1-4EE9-A044-624DBEDCE751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37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86B63-AE03-44CE-80A3-7BBAC1B55F36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038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5B58C-5F2D-42D0-BF22-6877EE4169FA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5887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F948F-173C-4B97-8C13-9260365D7016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77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DEBF5-2A95-4AAC-9832-86A77768D124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9150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1B035-15FB-45CA-9F77-E0FE510F543D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2185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E0AEA-D69D-47B6-BB8B-EEE38E32873A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30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8A5B2-E38D-4244-8A6B-5C0E80022A63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099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6840F-DBFF-4A17-A892-21695A6A918F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424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296DA-F8F2-457E-9C59-89B31F6583E5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0790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B749A-EAE5-4E87-8283-536461AEC78E}" type="datetime1">
              <a:rPr lang="zh-CN" altLang="en-US" smtClean="0"/>
              <a:t>2021/12/20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7070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E0A5B-1E35-4081-8D72-3B0687A5C65D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085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7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17.w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9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17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.wmf"/><Relationship Id="rId20" Type="http://schemas.openxmlformats.org/officeDocument/2006/relationships/image" Target="../media/image1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20.wmf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oleObject" Target="../embeddings/oleObject20.bin"/><Relationship Id="rId10" Type="http://schemas.openxmlformats.org/officeDocument/2006/relationships/image" Target="../media/image13.wmf"/><Relationship Id="rId19" Type="http://schemas.openxmlformats.org/officeDocument/2006/relationships/oleObject" Target="../embeddings/oleObject18.bin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5.wmf"/><Relationship Id="rId22" Type="http://schemas.openxmlformats.org/officeDocument/2006/relationships/image" Target="../media/image19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2.png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oleObject" Target="../embeddings/oleObject24.bin"/><Relationship Id="rId7" Type="http://schemas.openxmlformats.org/officeDocument/2006/relationships/image" Target="../media/image3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1.png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29.bin"/><Relationship Id="rId3" Type="http://schemas.openxmlformats.org/officeDocument/2006/relationships/image" Target="../media/image39.e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0.png"/><Relationship Id="rId11" Type="http://schemas.openxmlformats.org/officeDocument/2006/relationships/oleObject" Target="../embeddings/oleObject28.bin"/><Relationship Id="rId5" Type="http://schemas.openxmlformats.org/officeDocument/2006/relationships/image" Target="../media/image34.wmf"/><Relationship Id="rId10" Type="http://schemas.openxmlformats.org/officeDocument/2006/relationships/image" Target="../media/image36.wmf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5.wmf"/><Relationship Id="rId3" Type="http://schemas.openxmlformats.org/officeDocument/2006/relationships/oleObject" Target="../embeddings/oleObject30.bin"/><Relationship Id="rId7" Type="http://schemas.openxmlformats.org/officeDocument/2006/relationships/image" Target="../media/image42.wmf"/><Relationship Id="rId12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4.wmf"/><Relationship Id="rId5" Type="http://schemas.openxmlformats.org/officeDocument/2006/relationships/image" Target="../media/image46.png"/><Relationship Id="rId10" Type="http://schemas.openxmlformats.org/officeDocument/2006/relationships/oleObject" Target="../embeddings/oleObject33.bin"/><Relationship Id="rId4" Type="http://schemas.openxmlformats.org/officeDocument/2006/relationships/image" Target="../media/image41.wmf"/><Relationship Id="rId9" Type="http://schemas.openxmlformats.org/officeDocument/2006/relationships/image" Target="../media/image43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51.png"/><Relationship Id="rId7" Type="http://schemas.openxmlformats.org/officeDocument/2006/relationships/image" Target="../media/image48.png"/><Relationship Id="rId12" Type="http://schemas.openxmlformats.org/officeDocument/2006/relationships/image" Target="../media/image5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36.bin"/><Relationship Id="rId11" Type="http://schemas.openxmlformats.org/officeDocument/2006/relationships/oleObject" Target="../embeddings/oleObject38.bin"/><Relationship Id="rId5" Type="http://schemas.openxmlformats.org/officeDocument/2006/relationships/image" Target="../media/image47.png"/><Relationship Id="rId10" Type="http://schemas.openxmlformats.org/officeDocument/2006/relationships/image" Target="../media/image49.wmf"/><Relationship Id="rId4" Type="http://schemas.openxmlformats.org/officeDocument/2006/relationships/oleObject" Target="../embeddings/oleObject35.bin"/><Relationship Id="rId9" Type="http://schemas.openxmlformats.org/officeDocument/2006/relationships/oleObject" Target="../embeddings/oleObject3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gif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gif"/><Relationship Id="rId4" Type="http://schemas.openxmlformats.org/officeDocument/2006/relationships/image" Target="../media/image55.gi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471290" y="1219950"/>
            <a:ext cx="811092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紧束缚近似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471290" y="2051800"/>
            <a:ext cx="811092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近自由近似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1282382" y="1488524"/>
            <a:ext cx="247650" cy="879475"/>
          </a:xfrm>
          <a:prstGeom prst="rightBrace">
            <a:avLst>
              <a:gd name="adj1" fmla="val 31961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1545907" y="1631906"/>
            <a:ext cx="746125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</a:t>
            </a:r>
            <a:r>
              <a:rPr lang="zh-CN" altLang="en-US" sz="1600" b="1" u="none" dirty="0">
                <a:solidFill>
                  <a:prstClr val="black"/>
                </a:solidFill>
                <a:latin typeface="Calibri"/>
              </a:rPr>
              <a:t>基础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563245" y="2832056"/>
            <a:ext cx="719137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晶格振动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2" name="Line 8"/>
          <p:cNvSpPr>
            <a:spLocks noChangeShapeType="1"/>
          </p:cNvSpPr>
          <p:nvPr/>
        </p:nvSpPr>
        <p:spPr bwMode="auto">
          <a:xfrm>
            <a:off x="1282382" y="3141112"/>
            <a:ext cx="274638" cy="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 u="sng">
              <a:solidFill>
                <a:prstClr val="black"/>
              </a:solidFill>
              <a:latin typeface="Arial" charset="0"/>
              <a:ea typeface="宋体" charset="-122"/>
            </a:endParaRPr>
          </a:p>
        </p:txBody>
      </p:sp>
      <p:sp>
        <p:nvSpPr>
          <p:cNvPr id="13" name="Text Box 9"/>
          <p:cNvSpPr txBox="1">
            <a:spLocks noChangeArrowheads="1"/>
          </p:cNvSpPr>
          <p:nvPr/>
        </p:nvSpPr>
        <p:spPr bwMode="auto">
          <a:xfrm>
            <a:off x="1545907" y="2971041"/>
            <a:ext cx="727075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声子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AutoShape 10"/>
          <p:cNvSpPr>
            <a:spLocks/>
          </p:cNvSpPr>
          <p:nvPr/>
        </p:nvSpPr>
        <p:spPr bwMode="auto">
          <a:xfrm>
            <a:off x="2298382" y="1898099"/>
            <a:ext cx="217488" cy="193516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2551483" y="2590474"/>
            <a:ext cx="1023249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  <a:p>
            <a:pPr algn="ctr" defTabSz="914400" eaLnBrk="1" fontAlgn="ctr" hangingPunct="1"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能带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1078670" y="4987013"/>
            <a:ext cx="105727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非平衡态载流子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1078670" y="4271849"/>
            <a:ext cx="1077912" cy="33972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输运机制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9" name="Text Box 8"/>
          <p:cNvSpPr txBox="1">
            <a:spLocks noChangeArrowheads="1"/>
          </p:cNvSpPr>
          <p:nvPr/>
        </p:nvSpPr>
        <p:spPr bwMode="auto">
          <a:xfrm>
            <a:off x="3921200" y="3611761"/>
            <a:ext cx="1216025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半导体器件基本原理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0" name="Text Box 10"/>
          <p:cNvSpPr txBox="1">
            <a:spLocks noChangeArrowheads="1"/>
          </p:cNvSpPr>
          <p:nvPr/>
        </p:nvSpPr>
        <p:spPr bwMode="auto">
          <a:xfrm>
            <a:off x="3029462" y="454089"/>
            <a:ext cx="3107196" cy="1323439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半导体物理基本方程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1. 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泊松方程（计算能带变化）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2. 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电流连续性方程（计算输运，本课程主要涉及</a:t>
            </a: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DD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模型）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1" name="AutoShape 10"/>
          <p:cNvSpPr>
            <a:spLocks/>
          </p:cNvSpPr>
          <p:nvPr/>
        </p:nvSpPr>
        <p:spPr bwMode="auto">
          <a:xfrm>
            <a:off x="2253628" y="4435177"/>
            <a:ext cx="233363" cy="837254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2" name="AutoShape 10"/>
          <p:cNvSpPr>
            <a:spLocks/>
          </p:cNvSpPr>
          <p:nvPr/>
        </p:nvSpPr>
        <p:spPr bwMode="auto">
          <a:xfrm>
            <a:off x="3601031" y="2944262"/>
            <a:ext cx="288925" cy="1960562"/>
          </a:xfrm>
          <a:prstGeom prst="rightBrace">
            <a:avLst>
              <a:gd name="adj1" fmla="val 42400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600" b="1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6" name="AutoShape 7"/>
          <p:cNvSpPr>
            <a:spLocks/>
          </p:cNvSpPr>
          <p:nvPr/>
        </p:nvSpPr>
        <p:spPr bwMode="auto">
          <a:xfrm flipH="1">
            <a:off x="5203813" y="2215700"/>
            <a:ext cx="233363" cy="3413823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endParaRPr lang="zh-CN" altLang="en-US" sz="1800" u="sng" smtClean="0">
              <a:solidFill>
                <a:prstClr val="black"/>
              </a:solidFill>
              <a:latin typeface="Arial" charset="0"/>
            </a:endParaRPr>
          </a:p>
        </p:txBody>
      </p:sp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5447346" y="2038895"/>
            <a:ext cx="1122363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结型器件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0" name="Text Box 13"/>
          <p:cNvSpPr txBox="1">
            <a:spLocks noChangeArrowheads="1"/>
          </p:cNvSpPr>
          <p:nvPr/>
        </p:nvSpPr>
        <p:spPr bwMode="auto">
          <a:xfrm>
            <a:off x="5495141" y="5440143"/>
            <a:ext cx="1122363" cy="584775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新原理器件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2" name="Text Box 3"/>
          <p:cNvSpPr txBox="1">
            <a:spLocks noChangeArrowheads="1"/>
          </p:cNvSpPr>
          <p:nvPr/>
        </p:nvSpPr>
        <p:spPr bwMode="auto">
          <a:xfrm>
            <a:off x="688657" y="3612312"/>
            <a:ext cx="1544638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晶体缺陷理论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3" name="Text Box 11"/>
          <p:cNvSpPr txBox="1">
            <a:spLocks noChangeArrowheads="1"/>
          </p:cNvSpPr>
          <p:nvPr/>
        </p:nvSpPr>
        <p:spPr bwMode="auto">
          <a:xfrm>
            <a:off x="2551483" y="4561416"/>
            <a:ext cx="1023249" cy="584775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半导体载流子输运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4" name="上下箭头 33"/>
          <p:cNvSpPr/>
          <p:nvPr/>
        </p:nvSpPr>
        <p:spPr>
          <a:xfrm>
            <a:off x="4396309" y="1987470"/>
            <a:ext cx="276045" cy="1181439"/>
          </a:xfrm>
          <a:prstGeom prst="up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Text Box 10"/>
          <p:cNvSpPr txBox="1">
            <a:spLocks noChangeArrowheads="1"/>
          </p:cNvSpPr>
          <p:nvPr/>
        </p:nvSpPr>
        <p:spPr bwMode="auto">
          <a:xfrm>
            <a:off x="2972094" y="5952437"/>
            <a:ext cx="1424215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非理想因素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7" name="AutoShape 7"/>
          <p:cNvSpPr>
            <a:spLocks/>
          </p:cNvSpPr>
          <p:nvPr/>
        </p:nvSpPr>
        <p:spPr bwMode="auto">
          <a:xfrm flipH="1">
            <a:off x="6617501" y="1644288"/>
            <a:ext cx="233363" cy="1102465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6898658" y="1397453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PN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结、异质结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6898658" y="1987470"/>
            <a:ext cx="1586571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金</a:t>
            </a: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-</a:t>
            </a: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半接触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0" name="Text Box 11"/>
          <p:cNvSpPr txBox="1">
            <a:spLocks noChangeArrowheads="1"/>
          </p:cNvSpPr>
          <p:nvPr/>
        </p:nvSpPr>
        <p:spPr bwMode="auto">
          <a:xfrm>
            <a:off x="6898657" y="2593179"/>
            <a:ext cx="1707342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双极结型晶体管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2" name="Text Box 7"/>
          <p:cNvSpPr txBox="1">
            <a:spLocks noChangeArrowheads="1"/>
          </p:cNvSpPr>
          <p:nvPr/>
        </p:nvSpPr>
        <p:spPr bwMode="auto">
          <a:xfrm>
            <a:off x="5557537" y="3765157"/>
            <a:ext cx="902614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en-US" altLang="zh-CN" sz="1600" b="1" u="none" dirty="0" smtClean="0">
                <a:solidFill>
                  <a:prstClr val="black"/>
                </a:solidFill>
                <a:latin typeface="Calibri"/>
              </a:rPr>
              <a:t>MOSFET</a:t>
            </a:r>
          </a:p>
        </p:txBody>
      </p:sp>
      <p:sp>
        <p:nvSpPr>
          <p:cNvPr id="43" name="AutoShape 7"/>
          <p:cNvSpPr>
            <a:spLocks/>
          </p:cNvSpPr>
          <p:nvPr/>
        </p:nvSpPr>
        <p:spPr bwMode="auto">
          <a:xfrm flipH="1">
            <a:off x="6498269" y="3378605"/>
            <a:ext cx="233363" cy="1151460"/>
          </a:xfrm>
          <a:prstGeom prst="rightBrace">
            <a:avLst>
              <a:gd name="adj1" fmla="val 91192"/>
              <a:gd name="adj2" fmla="val 50000"/>
            </a:avLst>
          </a:prstGeom>
          <a:noFill/>
          <a:ln w="476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charset="0"/>
                <a:ea typeface="宋体" charset="-122"/>
              </a:defRPr>
            </a:lvl1pPr>
            <a:lvl2pPr marL="742950" indent="-28575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charset="0"/>
                <a:ea typeface="宋体" charset="-122"/>
              </a:defRPr>
            </a:lvl2pPr>
            <a:lvl3pPr marL="1143000" indent="-22860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charset="0"/>
                <a:ea typeface="宋体" charset="-122"/>
              </a:defRPr>
            </a:lvl3pPr>
            <a:lvl4pPr marL="1600200" indent="-22860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4pPr>
            <a:lvl5pPr marL="2057400" indent="-22860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宋体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zh-CN" altLang="en-US" sz="1800" smtClean="0">
              <a:latin typeface="Arial" charset="0"/>
            </a:endParaRPr>
          </a:p>
        </p:txBody>
      </p:sp>
      <p:sp>
        <p:nvSpPr>
          <p:cNvPr id="44" name="Text Box 7"/>
          <p:cNvSpPr txBox="1">
            <a:spLocks noChangeArrowheads="1"/>
          </p:cNvSpPr>
          <p:nvPr/>
        </p:nvSpPr>
        <p:spPr bwMode="auto">
          <a:xfrm>
            <a:off x="6796320" y="3197795"/>
            <a:ext cx="1063782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栅</a:t>
            </a:r>
            <a:r>
              <a:rPr lang="zh-CN" altLang="en-US" sz="1600" b="1" u="none" smtClean="0">
                <a:solidFill>
                  <a:prstClr val="black"/>
                </a:solidFill>
                <a:latin typeface="Calibri"/>
              </a:rPr>
              <a:t>控能力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5" name="Text Box 7"/>
          <p:cNvSpPr txBox="1">
            <a:spLocks noChangeArrowheads="1"/>
          </p:cNvSpPr>
          <p:nvPr/>
        </p:nvSpPr>
        <p:spPr bwMode="auto">
          <a:xfrm>
            <a:off x="6796319" y="3781589"/>
            <a:ext cx="1241179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迁移率改善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6804946" y="4345212"/>
            <a:ext cx="1232553" cy="338554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小尺寸效应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8" name="Line 8"/>
          <p:cNvSpPr>
            <a:spLocks noChangeShapeType="1"/>
          </p:cNvSpPr>
          <p:nvPr/>
        </p:nvSpPr>
        <p:spPr bwMode="auto">
          <a:xfrm rot="5400000">
            <a:off x="1419001" y="5778697"/>
            <a:ext cx="274638" cy="0"/>
          </a:xfrm>
          <a:prstGeom prst="line">
            <a:avLst/>
          </a:prstGeom>
          <a:noFill/>
          <a:ln w="476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600" b="1" u="sng">
              <a:solidFill>
                <a:prstClr val="black"/>
              </a:solidFill>
              <a:latin typeface="Arial" charset="0"/>
              <a:ea typeface="宋体" charset="-122"/>
            </a:endParaRPr>
          </a:p>
        </p:txBody>
      </p:sp>
      <p:sp>
        <p:nvSpPr>
          <p:cNvPr id="51" name="Text Box 6"/>
          <p:cNvSpPr txBox="1">
            <a:spLocks noChangeArrowheads="1"/>
          </p:cNvSpPr>
          <p:nvPr/>
        </p:nvSpPr>
        <p:spPr bwMode="auto">
          <a:xfrm>
            <a:off x="1056474" y="5959175"/>
            <a:ext cx="1077912" cy="338554"/>
          </a:xfrm>
          <a:prstGeom prst="rect">
            <a:avLst/>
          </a:prstGeom>
          <a:solidFill>
            <a:srgbClr val="FFCC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fontAlgn="ctr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1600" b="1" u="none" dirty="0" smtClean="0">
                <a:solidFill>
                  <a:prstClr val="black"/>
                </a:solidFill>
                <a:latin typeface="Calibri"/>
              </a:rPr>
              <a:t>光电效应</a:t>
            </a:r>
            <a:endParaRPr lang="en-US" altLang="zh-CN" sz="1600" b="1" u="none" dirty="0" smtClean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866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能带基础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6901" y="1047483"/>
            <a:ext cx="8489680" cy="532453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共有化电子：固体中的电子不再束缚于单个原子，而是在整个固体内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运动。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单电子近似和周期场近似：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</a:rPr>
              <a:t>假设大量共有化电子，近似为单电子在平均势场下的运动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</a:rPr>
              <a:t>，平均场具有与晶格相同的周期性。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布洛赫定理：周期场中的电子具有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波矢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取离散值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周期场中的电子，其本征态具有确定的动量和能量，因此常用能量和动量来共同描述电子的运动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状态。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空间：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坐标所在空间称为（实际上与电子的动量空间对应），在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空间描述电子能量（能带）形式简单，便于进一步的分析和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讨论。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E-k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关系：在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空间描述的能量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随 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 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变化的关系，是描述晶体中电子能态的基本关系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。能量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为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的周期函数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在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空间呈准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连续分布，形成能带。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布里渊区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空间存在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多个布里渊区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，每个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布里渊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区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E-k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具有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一一对应关系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。</a:t>
            </a:r>
            <a:endParaRPr kumimoji="1"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9797672"/>
              </p:ext>
            </p:extLst>
          </p:nvPr>
        </p:nvGraphicFramePr>
        <p:xfrm>
          <a:off x="4407456" y="2268861"/>
          <a:ext cx="1924334" cy="4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2" name="Equation" r:id="rId3" imgW="1409088" imgH="304668" progId="Equation.DSMT4">
                  <p:embed/>
                </p:oleObj>
              </mc:Choice>
              <mc:Fallback>
                <p:oleObj name="Equation" r:id="rId3" imgW="1409088" imgH="304668" progId="Equation.DSMT4">
                  <p:embed/>
                  <p:pic>
                    <p:nvPicPr>
                      <p:cNvPr id="11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7456" y="2268861"/>
                        <a:ext cx="1924334" cy="415987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3237893"/>
              </p:ext>
            </p:extLst>
          </p:nvPr>
        </p:nvGraphicFramePr>
        <p:xfrm>
          <a:off x="2479658" y="2700213"/>
          <a:ext cx="2238990" cy="642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3" name="Equation" r:id="rId5" imgW="1497950" imgH="431613" progId="Equation.DSMT4">
                  <p:embed/>
                </p:oleObj>
              </mc:Choice>
              <mc:Fallback>
                <p:oleObj name="Equation" r:id="rId5" imgW="1497950" imgH="431613" progId="Equation.DSMT4">
                  <p:embed/>
                  <p:pic>
                    <p:nvPicPr>
                      <p:cNvPr id="14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9658" y="2700213"/>
                        <a:ext cx="2238990" cy="64202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2133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晶格振动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ChangeArrowheads="1"/>
              </p:cNvSpPr>
              <p:nvPr/>
            </p:nvSpPr>
            <p:spPr bwMode="auto">
              <a:xfrm>
                <a:off x="386901" y="1047483"/>
                <a:ext cx="8489680" cy="1351075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Font typeface="Wingdings" pitchFamily="2" charset="2"/>
                  <a:buNone/>
                </a:pPr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格波：晶格振动具有简谐波的形式，称为格波</a:t>
                </a:r>
                <a:endParaRPr kumimoji="1" lang="en-US" altLang="zh-CN" sz="2000" b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  <a:p>
                <a:pPr>
                  <a:spcAft>
                    <a:spcPts val="1200"/>
                  </a:spcAft>
                  <a:buFont typeface="Wingdings" pitchFamily="2" charset="2"/>
                  <a:buNone/>
                </a:pPr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</a:rPr>
                  <a:t>实际晶格振动是多种不同频率波的叠加。</a:t>
                </a:r>
                <a:endParaRPr kumimoji="1" lang="en-US" altLang="zh-CN" sz="2000" b="1" dirty="0" smtClean="0">
                  <a:latin typeface="Times New Roman" pitchFamily="18" charset="0"/>
                  <a:ea typeface="宋体" pitchFamily="2" charset="-122"/>
                </a:endParaRPr>
              </a:p>
              <a:p>
                <a:pPr>
                  <a:spcAft>
                    <a:spcPts val="1200"/>
                  </a:spcAft>
                  <a:buFont typeface="Wingdings" pitchFamily="2" charset="2"/>
                  <a:buNone/>
                </a:pPr>
                <a:r>
                  <a:rPr kumimoji="1" lang="zh-CN" altLang="en-US" sz="20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声子</a:t>
                </a:r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：</a:t>
                </a:r>
                <a:r>
                  <a:rPr kumimoji="1" lang="zh-CN" altLang="en-US" sz="2000" b="1" dirty="0">
                    <a:solidFill>
                      <a:srgbClr val="0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格波的量子化，每个声子的能量是</a:t>
                </a:r>
                <a14:m>
                  <m:oMath xmlns:m="http://schemas.openxmlformats.org/officeDocument/2006/math">
                    <m:r>
                      <a:rPr kumimoji="1" lang="en-US" altLang="zh-CN" sz="20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ℏ</m:t>
                    </m:r>
                    <m:sSub>
                      <m:sSubPr>
                        <m:ctrlPr>
                          <a:rPr kumimoji="1"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zh-CN" altLang="en-US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kumimoji="1" lang="en-US" altLang="zh-CN" sz="2000" b="1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endParaRPr kumimoji="1" lang="en-US" altLang="zh-CN" sz="2000" b="1" dirty="0" smtClean="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6901" y="1047483"/>
                <a:ext cx="8489680" cy="1351075"/>
              </a:xfrm>
              <a:prstGeom prst="rect">
                <a:avLst/>
              </a:prstGeom>
              <a:blipFill>
                <a:blip r:embed="rId2"/>
                <a:stretch>
                  <a:fillRect l="-718" t="-3620" b="-4072"/>
                </a:stretch>
              </a:blipFill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5740684" y="1021605"/>
                <a:ext cx="2460032" cy="4260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 altLang="zh-CN" sz="2400" b="1" i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nq</m:t>
                          </m:r>
                        </m:sub>
                      </m:sSub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400" i="1">
                          <a:latin typeface="Cambria Math" panose="02040503050406030204" pitchFamily="18" charset="0"/>
                        </a:rPr>
                        <m:t>A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l-GR" altLang="zh-CN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𝑛𝑎𝑞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684" y="1021605"/>
                <a:ext cx="2460032" cy="42607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386901" y="2730242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晶体缺陷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6901" y="3451778"/>
            <a:ext cx="8489680" cy="178510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浅能级杂质：施主或受主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深能级杂质：多重能级，复合中心，陷阱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费米能级随温度的变化：低温弱电离，高温强电离，本质电离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简并半导体：杂质能级的电子波函数发生交叠，在禁带中形成杂质能带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249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载流子输运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6901" y="1165778"/>
            <a:ext cx="8489680" cy="501675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微观运动：热运动与散射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散射机制：电离杂质散射，晶格（声子）散射等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平均自由程：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发生两次散射之间所运动的平均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距离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影响迁移率的因素：有效质量，平均自由时间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电阻率与温度的关系：载流子浓度和迁移率与温度的关系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宏观运动：漂移运动和扩散运动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爱因斯坦关系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956679"/>
              </p:ext>
            </p:extLst>
          </p:nvPr>
        </p:nvGraphicFramePr>
        <p:xfrm>
          <a:off x="6265050" y="2073570"/>
          <a:ext cx="1411300" cy="92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6" name="公式" r:id="rId3" imgW="495085" imgH="393529" progId="Equation.3">
                  <p:embed/>
                </p:oleObj>
              </mc:Choice>
              <mc:Fallback>
                <p:oleObj name="公式" r:id="rId3" imgW="495085" imgH="393529" progId="Equation.3">
                  <p:embed/>
                  <p:pic>
                    <p:nvPicPr>
                      <p:cNvPr id="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5050" y="2073570"/>
                        <a:ext cx="1411300" cy="9232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4316108"/>
              </p:ext>
            </p:extLst>
          </p:nvPr>
        </p:nvGraphicFramePr>
        <p:xfrm>
          <a:off x="5514956" y="3363233"/>
          <a:ext cx="2745124" cy="608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7" name="Equation" r:id="rId5" imgW="1079032" imgH="241195" progId="Equation.3">
                  <p:embed/>
                </p:oleObj>
              </mc:Choice>
              <mc:Fallback>
                <p:oleObj name="Equation" r:id="rId5" imgW="1079032" imgH="241195" progId="Equation.3">
                  <p:embed/>
                  <p:pic>
                    <p:nvPicPr>
                      <p:cNvPr id="2253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956" y="3363233"/>
                        <a:ext cx="2745124" cy="60818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1180332"/>
              </p:ext>
            </p:extLst>
          </p:nvPr>
        </p:nvGraphicFramePr>
        <p:xfrm>
          <a:off x="4360262" y="3988725"/>
          <a:ext cx="2805379" cy="1058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8" name="Equation" r:id="rId7" imgW="1346200" imgH="508000" progId="Equation.DSMT4">
                  <p:embed/>
                </p:oleObj>
              </mc:Choice>
              <mc:Fallback>
                <p:oleObj name="Equation" r:id="rId7" imgW="1346200" imgH="508000" progId="Equation.DSMT4">
                  <p:embed/>
                  <p:pic>
                    <p:nvPicPr>
                      <p:cNvPr id="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0262" y="3988725"/>
                        <a:ext cx="2805379" cy="105876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107233"/>
              </p:ext>
            </p:extLst>
          </p:nvPr>
        </p:nvGraphicFramePr>
        <p:xfrm>
          <a:off x="2416315" y="5219739"/>
          <a:ext cx="2704325" cy="7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9" name="Equation" r:id="rId9" imgW="1587500" imgH="419100" progId="Equation.DSMT4">
                  <p:embed/>
                </p:oleObj>
              </mc:Choice>
              <mc:Fallback>
                <p:oleObj name="Equation" r:id="rId9" imgW="1587500" imgH="419100" progId="Equation.DSMT4">
                  <p:embed/>
                  <p:pic>
                    <p:nvPicPr>
                      <p:cNvPr id="13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315" y="5219739"/>
                        <a:ext cx="2704325" cy="714413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9080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144795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非平衡载流子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6901" y="719679"/>
            <a:ext cx="8489680" cy="594008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非平衡态：由于外界影响，载流子分别偏离平衡态。非平衡态可以是稳定态也可以是非稳定态。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准平衡态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：各子系统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内部已达到热平衡，但子系统之间尚未达到热平衡的状态称为准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平衡态。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准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费米能级：准平衡态下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，在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导带、价带子系统中，可分别引入自己的费米能级，称为电子和空穴的准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费米能级。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非平衡载流子：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非平衡状态下的载流子称为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非平衡载流子。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过剩载流子：</a:t>
            </a:r>
            <a:r>
              <a:rPr kumimoji="1" lang="zh-CN" altLang="en-US" sz="20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非平衡载流子浓度超过热平衡时的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部分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过剩载流子的生成（注入）和复合。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复合机制：直接复合，间接复合，俄歇复合。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间接复合的</a:t>
            </a:r>
            <a:r>
              <a:rPr kumimoji="1" lang="en-US" altLang="zh-CN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4</a:t>
            </a:r>
            <a:r>
              <a:rPr kumimoji="1" lang="zh-CN" altLang="en-US" sz="20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个微观过程：电子俘获，电子发射，空穴俘获，空穴发射。</a:t>
            </a:r>
            <a:endParaRPr kumimoji="1" lang="en-US" altLang="zh-CN" sz="2000" b="1" dirty="0" smtClean="0">
              <a:solidFill>
                <a:srgbClr val="000000"/>
              </a:solidFill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复合的驱动力</a:t>
            </a:r>
            <a:r>
              <a:rPr lang="en-US" altLang="zh-CN" sz="2000" b="1" i="1" dirty="0" err="1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pn</a:t>
            </a:r>
            <a:r>
              <a:rPr lang="zh-CN" altLang="en-US" sz="2000" b="1" i="1" dirty="0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－</a:t>
            </a:r>
            <a:r>
              <a:rPr lang="en-US" altLang="zh-CN" sz="2000" b="1" i="1" dirty="0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i="1" baseline="-25000" dirty="0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b="1" i="1" baseline="30000" dirty="0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2000" b="1" dirty="0">
                <a:latin typeface="Arial" panose="020B0604020202020204" pitchFamily="34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，本征费米能级附近的缺陷是最有效的复合中心。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非平衡载流子的寿命和扩散的计算。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光电效应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及其应用：光吸收和光发射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68287"/>
              </p:ext>
            </p:extLst>
          </p:nvPr>
        </p:nvGraphicFramePr>
        <p:xfrm>
          <a:off x="6496247" y="3473029"/>
          <a:ext cx="1320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7" name="公式" r:id="rId3" imgW="698500" imgH="228600" progId="Equation.3">
                  <p:embed/>
                </p:oleObj>
              </mc:Choice>
              <mc:Fallback>
                <p:oleObj name="公式" r:id="rId3" imgW="698500" imgH="228600" progId="Equation.3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247" y="3473029"/>
                        <a:ext cx="1320800" cy="43338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6373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半导体物理基本方程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882456"/>
              </p:ext>
            </p:extLst>
          </p:nvPr>
        </p:nvGraphicFramePr>
        <p:xfrm>
          <a:off x="513530" y="1565204"/>
          <a:ext cx="7948613" cy="207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0" name="Equation" r:id="rId3" imgW="3708400" imgH="939800" progId="Equation.DSMT4">
                  <p:embed/>
                </p:oleObj>
              </mc:Choice>
              <mc:Fallback>
                <p:oleObj name="Equation" r:id="rId3" imgW="3708400" imgH="939800" progId="Equation.DSMT4">
                  <p:embed/>
                  <p:pic>
                    <p:nvPicPr>
                      <p:cNvPr id="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530" y="1565204"/>
                        <a:ext cx="7948613" cy="2071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6082742"/>
              </p:ext>
            </p:extLst>
          </p:nvPr>
        </p:nvGraphicFramePr>
        <p:xfrm>
          <a:off x="1923230" y="3678166"/>
          <a:ext cx="5367338" cy="99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Equation" r:id="rId5" imgW="2603500" imgH="482600" progId="Equation.DSMT4">
                  <p:embed/>
                </p:oleObj>
              </mc:Choice>
              <mc:Fallback>
                <p:oleObj name="Equation" r:id="rId5" imgW="2603500" imgH="482600" progId="Equation.DSMT4">
                  <p:embed/>
                  <p:pic>
                    <p:nvPicPr>
                      <p:cNvPr id="4" name="Object 10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3230" y="3678166"/>
                        <a:ext cx="5367338" cy="995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039"/>
          <p:cNvSpPr txBox="1">
            <a:spLocks noChangeArrowheads="1"/>
          </p:cNvSpPr>
          <p:nvPr/>
        </p:nvSpPr>
        <p:spPr bwMode="auto">
          <a:xfrm>
            <a:off x="411930" y="3965504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定义：</a:t>
            </a:r>
          </a:p>
        </p:txBody>
      </p:sp>
      <p:sp>
        <p:nvSpPr>
          <p:cNvPr id="7" name="Text Box 1040"/>
          <p:cNvSpPr txBox="1">
            <a:spLocks noChangeArrowheads="1"/>
          </p:cNvSpPr>
          <p:nvPr/>
        </p:nvSpPr>
        <p:spPr bwMode="auto">
          <a:xfrm>
            <a:off x="411930" y="4721154"/>
            <a:ext cx="4103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称为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电子和空穴的准费米势。</a:t>
            </a:r>
          </a:p>
        </p:txBody>
      </p:sp>
      <p:sp>
        <p:nvSpPr>
          <p:cNvPr id="8" name="Text Box 1041"/>
          <p:cNvSpPr txBox="1">
            <a:spLocks noChangeArrowheads="1"/>
          </p:cNvSpPr>
          <p:nvPr/>
        </p:nvSpPr>
        <p:spPr bwMode="auto">
          <a:xfrm>
            <a:off x="411930" y="5178354"/>
            <a:ext cx="7993063" cy="97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fontAlgn="base">
              <a:lnSpc>
                <a:spcPct val="12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66FF"/>
                </a:solidFill>
                <a:latin typeface="Times New Roman" pitchFamily="18" charset="0"/>
                <a:ea typeface="宋体" charset="-122"/>
              </a:rPr>
              <a:t>基于以上结果，可以得到以下结论：电子或空穴的准费米势在空间的变化将引起电子或空穴电流。</a:t>
            </a:r>
          </a:p>
        </p:txBody>
      </p:sp>
      <p:sp>
        <p:nvSpPr>
          <p:cNvPr id="9" name="Rectangle 16"/>
          <p:cNvSpPr>
            <a:spLocks noChangeArrowheads="1"/>
          </p:cNvSpPr>
          <p:nvPr/>
        </p:nvSpPr>
        <p:spPr bwMode="auto">
          <a:xfrm>
            <a:off x="411930" y="1142929"/>
            <a:ext cx="36734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电子和空穴的准费米势：</a:t>
            </a:r>
          </a:p>
        </p:txBody>
      </p:sp>
      <p:sp>
        <p:nvSpPr>
          <p:cNvPr id="10" name="Text Box 1040"/>
          <p:cNvSpPr txBox="1">
            <a:spLocks noChangeArrowheads="1"/>
          </p:cNvSpPr>
          <p:nvPr/>
        </p:nvSpPr>
        <p:spPr bwMode="auto">
          <a:xfrm>
            <a:off x="411930" y="6214992"/>
            <a:ext cx="41036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  <a:ea typeface="宋体" charset="-122"/>
              </a:rPr>
              <a:t>计算准费米能级的位置。</a:t>
            </a:r>
            <a:endParaRPr kumimoji="1" lang="zh-CN" altLang="en-US" sz="2400" b="1" dirty="0">
              <a:solidFill>
                <a:srgbClr val="000000"/>
              </a:solidFill>
              <a:latin typeface="Times New Roman" pitchFamily="18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2676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7</a:t>
            </a:fld>
            <a:endParaRPr lang="zh-CN" altLang="en-US"/>
          </a:p>
        </p:txBody>
      </p:sp>
      <p:graphicFrame>
        <p:nvGraphicFramePr>
          <p:cNvPr id="3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4773786"/>
              </p:ext>
            </p:extLst>
          </p:nvPr>
        </p:nvGraphicFramePr>
        <p:xfrm>
          <a:off x="848272" y="299561"/>
          <a:ext cx="2931248" cy="10707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1" name="Equation" r:id="rId3" imgW="1117600" imgH="431800" progId="Equation.3">
                  <p:embed/>
                </p:oleObj>
              </mc:Choice>
              <mc:Fallback>
                <p:oleObj name="Equation" r:id="rId3" imgW="1117600" imgH="431800" progId="Equation.3">
                  <p:embed/>
                  <p:pic>
                    <p:nvPicPr>
                      <p:cNvPr id="5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272" y="299561"/>
                        <a:ext cx="2931248" cy="1070721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185859"/>
              </p:ext>
            </p:extLst>
          </p:nvPr>
        </p:nvGraphicFramePr>
        <p:xfrm>
          <a:off x="4339273" y="299561"/>
          <a:ext cx="2975927" cy="108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2" name="Equation" r:id="rId5" imgW="1167893" imgH="444307" progId="Equation.DSMT4">
                  <p:embed/>
                </p:oleObj>
              </mc:Choice>
              <mc:Fallback>
                <p:oleObj name="Equation" r:id="rId5" imgW="1167893" imgH="444307" progId="Equation.DSMT4">
                  <p:embed/>
                  <p:pic>
                    <p:nvPicPr>
                      <p:cNvPr id="8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273" y="299561"/>
                        <a:ext cx="2975927" cy="108578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0634440"/>
              </p:ext>
            </p:extLst>
          </p:nvPr>
        </p:nvGraphicFramePr>
        <p:xfrm>
          <a:off x="2423954" y="1620789"/>
          <a:ext cx="3830637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3" name="Equation" r:id="rId7" imgW="1473200" imgH="241300" progId="Equation.DSMT4">
                  <p:embed/>
                </p:oleObj>
              </mc:Choice>
              <mc:Fallback>
                <p:oleObj name="Equation" r:id="rId7" imgW="1473200" imgH="241300" progId="Equation.DSMT4">
                  <p:embed/>
                  <p:pic>
                    <p:nvPicPr>
                      <p:cNvPr id="1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954" y="1620789"/>
                        <a:ext cx="3830637" cy="6270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560263"/>
              </p:ext>
            </p:extLst>
          </p:nvPr>
        </p:nvGraphicFramePr>
        <p:xfrm>
          <a:off x="543543" y="2802674"/>
          <a:ext cx="3083578" cy="9870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4" name="Equation" r:id="rId9" imgW="1308100" imgH="419100" progId="Equation.DSMT4">
                  <p:embed/>
                </p:oleObj>
              </mc:Choice>
              <mc:Fallback>
                <p:oleObj name="Equation" r:id="rId9" imgW="1308100" imgH="419100" progId="Equation.DSMT4">
                  <p:embed/>
                  <p:pic>
                    <p:nvPicPr>
                      <p:cNvPr id="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43" y="2802674"/>
                        <a:ext cx="3083578" cy="987090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4131616"/>
              </p:ext>
            </p:extLst>
          </p:nvPr>
        </p:nvGraphicFramePr>
        <p:xfrm>
          <a:off x="4294306" y="2802674"/>
          <a:ext cx="3287408" cy="969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5" name="Equation" r:id="rId11" imgW="1422400" imgH="419100" progId="Equation.DSMT4">
                  <p:embed/>
                </p:oleObj>
              </mc:Choice>
              <mc:Fallback>
                <p:oleObj name="Equation" r:id="rId11" imgW="1422400" imgH="419100" progId="Equation.DSMT4">
                  <p:embed/>
                  <p:pic>
                    <p:nvPicPr>
                      <p:cNvPr id="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306" y="2802674"/>
                        <a:ext cx="3287408" cy="969708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5788380"/>
              </p:ext>
            </p:extLst>
          </p:nvPr>
        </p:nvGraphicFramePr>
        <p:xfrm>
          <a:off x="543543" y="4297910"/>
          <a:ext cx="3367088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6" name="Equation" r:id="rId13" imgW="1295400" imgH="228600" progId="Equation.DSMT4">
                  <p:embed/>
                </p:oleObj>
              </mc:Choice>
              <mc:Fallback>
                <p:oleObj name="Equation" r:id="rId13" imgW="1295400" imgH="228600" progId="Equation.DSMT4">
                  <p:embed/>
                  <p:pic>
                    <p:nvPicPr>
                      <p:cNvPr id="12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543" y="4297910"/>
                        <a:ext cx="3367088" cy="5937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608423"/>
              </p:ext>
            </p:extLst>
          </p:nvPr>
        </p:nvGraphicFramePr>
        <p:xfrm>
          <a:off x="4339272" y="4235238"/>
          <a:ext cx="34988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7" name="Equation" r:id="rId15" imgW="1346200" imgH="241300" progId="Equation.DSMT4">
                  <p:embed/>
                </p:oleObj>
              </mc:Choice>
              <mc:Fallback>
                <p:oleObj name="Equation" r:id="rId15" imgW="1346200" imgH="241300" progId="Equation.DSMT4">
                  <p:embed/>
                  <p:pic>
                    <p:nvPicPr>
                      <p:cNvPr id="1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9272" y="4235238"/>
                        <a:ext cx="3498850" cy="627063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745059"/>
              </p:ext>
            </p:extLst>
          </p:nvPr>
        </p:nvGraphicFramePr>
        <p:xfrm>
          <a:off x="1068212" y="5125143"/>
          <a:ext cx="231775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8" name="公式" r:id="rId17" imgW="965200" imgH="228600" progId="Equation.3">
                  <p:embed/>
                </p:oleObj>
              </mc:Choice>
              <mc:Fallback>
                <p:oleObj name="公式" r:id="rId17" imgW="965200" imgH="228600" progId="Equation.3">
                  <p:embed/>
                  <p:pic>
                    <p:nvPicPr>
                      <p:cNvPr id="1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212" y="5125143"/>
                        <a:ext cx="2317750" cy="5492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2933160"/>
              </p:ext>
            </p:extLst>
          </p:nvPr>
        </p:nvGraphicFramePr>
        <p:xfrm>
          <a:off x="4876800" y="5094981"/>
          <a:ext cx="24384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89" name="Equation" r:id="rId19" imgW="1016000" imgH="241300" progId="Equation.3">
                  <p:embed/>
                </p:oleObj>
              </mc:Choice>
              <mc:Fallback>
                <p:oleObj name="Equation" r:id="rId19" imgW="1016000" imgH="241300" progId="Equation.3">
                  <p:embed/>
                  <p:pic>
                    <p:nvPicPr>
                      <p:cNvPr id="1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094981"/>
                        <a:ext cx="2438400" cy="579437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2565029"/>
              </p:ext>
            </p:extLst>
          </p:nvPr>
        </p:nvGraphicFramePr>
        <p:xfrm>
          <a:off x="1068212" y="6038057"/>
          <a:ext cx="238760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0" name="Equation" r:id="rId21" imgW="952200" imgH="253800" progId="Equation.DSMT4">
                  <p:embed/>
                </p:oleObj>
              </mc:Choice>
              <mc:Fallback>
                <p:oleObj name="Equation" r:id="rId21" imgW="952200" imgH="253800" progId="Equation.DSMT4">
                  <p:embed/>
                  <p:pic>
                    <p:nvPicPr>
                      <p:cNvPr id="15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8212" y="6038057"/>
                        <a:ext cx="2387600" cy="636587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FFFF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CC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0752539"/>
              </p:ext>
            </p:extLst>
          </p:nvPr>
        </p:nvGraphicFramePr>
        <p:xfrm>
          <a:off x="4876800" y="6042026"/>
          <a:ext cx="2420938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1" name="公式" r:id="rId23" imgW="977476" imgH="253890" progId="Equation.3">
                  <p:embed/>
                </p:oleObj>
              </mc:Choice>
              <mc:Fallback>
                <p:oleObj name="公式" r:id="rId23" imgW="977476" imgH="253890" progId="Equation.3">
                  <p:embed/>
                  <p:pic>
                    <p:nvPicPr>
                      <p:cNvPr id="16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6042026"/>
                        <a:ext cx="2420938" cy="628650"/>
                      </a:xfrm>
                      <a:prstGeom prst="rect">
                        <a:avLst/>
                      </a:prstGeom>
                      <a:solidFill>
                        <a:srgbClr val="FF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rgbClr val="FFFF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00CC0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1768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PN</a:t>
            </a: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结、肖特基和异质结二极管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86901" y="1047483"/>
            <a:ext cx="8489680" cy="8617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结正反偏时的准费米能级：主要降落在准中性区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结的主要电流机制：过剩少子形成的扩散电流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618290"/>
              </p:ext>
            </p:extLst>
          </p:nvPr>
        </p:nvGraphicFramePr>
        <p:xfrm>
          <a:off x="656072" y="2583336"/>
          <a:ext cx="3622630" cy="17704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9" name="BMP 图象" r:id="rId3" imgW="7602011" imgH="3715269" progId="PBrush">
                  <p:embed/>
                </p:oleObj>
              </mc:Choice>
              <mc:Fallback>
                <p:oleObj name="BMP 图象" r:id="rId3" imgW="7602011" imgH="3715269" progId="PBrush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072" y="2583336"/>
                        <a:ext cx="3622630" cy="17704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6391766"/>
              </p:ext>
            </p:extLst>
          </p:nvPr>
        </p:nvGraphicFramePr>
        <p:xfrm>
          <a:off x="4878462" y="2504401"/>
          <a:ext cx="3540919" cy="1849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20" name="BMP 图象" r:id="rId5" imgW="7314286" imgH="3820058" progId="PBrush">
                  <p:embed/>
                </p:oleObj>
              </mc:Choice>
              <mc:Fallback>
                <p:oleObj name="BMP 图象" r:id="rId5" imgW="7314286" imgH="3820058" progId="PBrush">
                  <p:embed/>
                  <p:pic>
                    <p:nvPicPr>
                      <p:cNvPr id="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8462" y="2504401"/>
                        <a:ext cx="3540919" cy="18494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7" cstate="print"/>
          <a:srcRect t="55493" r="4705" b="19235"/>
          <a:stretch/>
        </p:blipFill>
        <p:spPr bwMode="auto">
          <a:xfrm>
            <a:off x="2182072" y="4612094"/>
            <a:ext cx="4400759" cy="1744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5717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09263" y="417755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结的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扩散电容：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结的过剩少子浓度变化形成的微分电容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041135"/>
              </p:ext>
            </p:extLst>
          </p:nvPr>
        </p:nvGraphicFramePr>
        <p:xfrm>
          <a:off x="2078966" y="957875"/>
          <a:ext cx="4775693" cy="9063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5" name="Equation" r:id="rId3" imgW="2667000" imgH="482600" progId="Equation.3">
                  <p:embed/>
                </p:oleObj>
              </mc:Choice>
              <mc:Fallback>
                <p:oleObj name="Equation" r:id="rId3" imgW="2667000" imgH="482600" progId="Equation.3">
                  <p:embed/>
                  <p:pic>
                    <p:nvPicPr>
                      <p:cNvPr id="11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8966" y="957875"/>
                        <a:ext cx="4775693" cy="9063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309263" y="1967708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肖特基电流机制和能带图：热电子发射和扩散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6" name="图片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" b="19288"/>
          <a:stretch/>
        </p:blipFill>
        <p:spPr bwMode="auto">
          <a:xfrm>
            <a:off x="3379706" y="2585742"/>
            <a:ext cx="5553508" cy="1753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pic>
        <p:nvPicPr>
          <p:cNvPr id="7" name="图片 6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7" b="16178"/>
          <a:stretch/>
        </p:blipFill>
        <p:spPr bwMode="auto">
          <a:xfrm>
            <a:off x="454881" y="2551236"/>
            <a:ext cx="2676508" cy="178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4656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09263" y="417755"/>
            <a:ext cx="8489680" cy="163121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异质结：两种不同半导体组成的结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异质结分类：反型异质结，同型异质结；突变异质结，缓变异质结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异质结能带：能带在界面不连续，形成尖峰和凹口；电场不连续；平衡时费米能级仍然是平的；真空能级弯曲且连续；可能存在耗尽层或积累层。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263" y="2696708"/>
            <a:ext cx="3607129" cy="226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091" y="2327390"/>
            <a:ext cx="4348458" cy="3797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8480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1" y="325947"/>
            <a:ext cx="5256212" cy="5191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双极晶体管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09263" y="995725"/>
            <a:ext cx="8489680" cy="116955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双极晶体管的器件结构：两个背靠背的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结，中间基区宽度很窄。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掺杂浓度的特点：发射区最高，集电区最低。原型晶体管掺杂浓度均匀，实际晶体管掺杂浓度变化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9738688"/>
              </p:ext>
            </p:extLst>
          </p:nvPr>
        </p:nvGraphicFramePr>
        <p:xfrm>
          <a:off x="602562" y="2483491"/>
          <a:ext cx="4495650" cy="1657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1" name="图片" r:id="rId3" imgW="3409920" imgH="1257480" progId="Word.Picture.8">
                  <p:embed/>
                </p:oleObj>
              </mc:Choice>
              <mc:Fallback>
                <p:oleObj name="图片" r:id="rId3" imgW="3409920" imgH="1257480" progId="Word.Picture.8">
                  <p:embed/>
                  <p:pic>
                    <p:nvPicPr>
                      <p:cNvPr id="7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2562" y="2483491"/>
                        <a:ext cx="4495650" cy="165727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332493" y="4140769"/>
            <a:ext cx="2739175" cy="231742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546007" y="3795620"/>
            <a:ext cx="4003443" cy="2743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132716" y="2149027"/>
            <a:ext cx="1732834" cy="1059998"/>
          </a:xfrm>
          <a:prstGeom prst="rect">
            <a:avLst/>
          </a:prstGeom>
          <a:noFill/>
        </p:spPr>
      </p:pic>
      <p:grpSp>
        <p:nvGrpSpPr>
          <p:cNvPr id="17" name="组合 16"/>
          <p:cNvGrpSpPr/>
          <p:nvPr/>
        </p:nvGrpSpPr>
        <p:grpSpPr>
          <a:xfrm>
            <a:off x="7041850" y="2165276"/>
            <a:ext cx="1757093" cy="1350885"/>
            <a:chOff x="533400" y="1371600"/>
            <a:chExt cx="4895850" cy="4229100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533400" y="1371600"/>
              <a:ext cx="4895850" cy="4229100"/>
            </a:xfrm>
            <a:prstGeom prst="rect">
              <a:avLst/>
            </a:prstGeom>
            <a:noFill/>
          </p:spPr>
        </p:pic>
        <p:sp>
          <p:nvSpPr>
            <p:cNvPr id="11" name="椭圆 10"/>
            <p:cNvSpPr/>
            <p:nvPr/>
          </p:nvSpPr>
          <p:spPr bwMode="auto">
            <a:xfrm>
              <a:off x="1828800" y="1752600"/>
              <a:ext cx="180000" cy="180000"/>
            </a:xfrm>
            <a:prstGeom prst="ellipse">
              <a:avLst/>
            </a:prstGeom>
            <a:solidFill>
              <a:srgbClr val="3333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椭圆 11"/>
            <p:cNvSpPr/>
            <p:nvPr/>
          </p:nvSpPr>
          <p:spPr bwMode="auto">
            <a:xfrm>
              <a:off x="3581400" y="2514600"/>
              <a:ext cx="180000" cy="180000"/>
            </a:xfrm>
            <a:prstGeom prst="ellipse">
              <a:avLst/>
            </a:prstGeom>
            <a:solidFill>
              <a:srgbClr val="3333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椭圆 12"/>
            <p:cNvSpPr/>
            <p:nvPr/>
          </p:nvSpPr>
          <p:spPr bwMode="auto">
            <a:xfrm>
              <a:off x="1143000" y="2209800"/>
              <a:ext cx="180000" cy="180000"/>
            </a:xfrm>
            <a:prstGeom prst="ellipse">
              <a:avLst/>
            </a:prstGeom>
            <a:solidFill>
              <a:srgbClr val="3333C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接箭头连接符 13"/>
            <p:cNvCxnSpPr>
              <a:stCxn id="13" idx="7"/>
              <a:endCxn id="11" idx="2"/>
            </p:cNvCxnSpPr>
            <p:nvPr/>
          </p:nvCxnSpPr>
          <p:spPr bwMode="auto">
            <a:xfrm flipV="1">
              <a:off x="1296640" y="1842600"/>
              <a:ext cx="532160" cy="39356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3333CC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15" name="直接连接符 14"/>
            <p:cNvCxnSpPr>
              <a:stCxn id="11" idx="6"/>
            </p:cNvCxnSpPr>
            <p:nvPr/>
          </p:nvCxnSpPr>
          <p:spPr bwMode="auto">
            <a:xfrm flipV="1">
              <a:off x="2008800" y="1828800"/>
              <a:ext cx="134400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3333C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直接箭头连接符 15"/>
            <p:cNvCxnSpPr/>
            <p:nvPr/>
          </p:nvCxnSpPr>
          <p:spPr bwMode="auto">
            <a:xfrm>
              <a:off x="3352800" y="1828800"/>
              <a:ext cx="304800" cy="6858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3333CC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6754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52395" y="322865"/>
            <a:ext cx="8489680" cy="70788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双极晶体管主要电流机制：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BE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结正偏形成的电子电流，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BC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结反偏形成的集电区电子电流，基区的复合电流，基区到发射区的空穴扩散电流。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010" y="1149151"/>
            <a:ext cx="4944515" cy="2173464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896213"/>
              </p:ext>
            </p:extLst>
          </p:nvPr>
        </p:nvGraphicFramePr>
        <p:xfrm>
          <a:off x="629728" y="3441015"/>
          <a:ext cx="4339087" cy="16796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9" name="公式" r:id="rId4" imgW="2425680" imgH="939600" progId="Equation.3">
                  <p:embed/>
                </p:oleObj>
              </mc:Choice>
              <mc:Fallback>
                <p:oleObj name="公式" r:id="rId4" imgW="2425680" imgH="939600" progId="Equation.3">
                  <p:embed/>
                  <p:pic>
                    <p:nvPicPr>
                      <p:cNvPr id="19968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728" y="3441015"/>
                        <a:ext cx="4339087" cy="16796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18861" y="1483743"/>
            <a:ext cx="3303677" cy="27107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9724651"/>
              </p:ext>
            </p:extLst>
          </p:nvPr>
        </p:nvGraphicFramePr>
        <p:xfrm>
          <a:off x="1367286" y="5239019"/>
          <a:ext cx="2626744" cy="86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0" name="公式" r:id="rId7" imgW="1295400" imgH="431800" progId="Equation.3">
                  <p:embed/>
                </p:oleObj>
              </mc:Choice>
              <mc:Fallback>
                <p:oleObj name="公式" r:id="rId7" imgW="1295400" imgH="431800" progId="Equation.3">
                  <p:embed/>
                  <p:pic>
                    <p:nvPicPr>
                      <p:cNvPr id="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286" y="5239019"/>
                        <a:ext cx="2626744" cy="8693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084267"/>
              </p:ext>
            </p:extLst>
          </p:nvPr>
        </p:nvGraphicFramePr>
        <p:xfrm>
          <a:off x="1802921" y="6108332"/>
          <a:ext cx="1328738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公式" r:id="rId9" imgW="596880" imgH="228600" progId="Equation.3">
                  <p:embed/>
                </p:oleObj>
              </mc:Choice>
              <mc:Fallback>
                <p:oleObj name="公式" r:id="rId9" imgW="596880" imgH="228600" progId="Equation.3">
                  <p:embed/>
                  <p:pic>
                    <p:nvPicPr>
                      <p:cNvPr id="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2921" y="6108332"/>
                        <a:ext cx="1328738" cy="506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189202"/>
              </p:ext>
            </p:extLst>
          </p:nvPr>
        </p:nvGraphicFramePr>
        <p:xfrm>
          <a:off x="5236525" y="4587627"/>
          <a:ext cx="3109061" cy="742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公式" r:id="rId11" imgW="1917700" imgH="457200" progId="Equation.3">
                  <p:embed/>
                </p:oleObj>
              </mc:Choice>
              <mc:Fallback>
                <p:oleObj name="公式" r:id="rId11" imgW="1917700" imgH="457200" progId="Equation.3">
                  <p:embed/>
                  <p:pic>
                    <p:nvPicPr>
                      <p:cNvPr id="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6525" y="4587627"/>
                        <a:ext cx="3109061" cy="74248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152020"/>
              </p:ext>
            </p:extLst>
          </p:nvPr>
        </p:nvGraphicFramePr>
        <p:xfrm>
          <a:off x="5169656" y="5607995"/>
          <a:ext cx="3007465" cy="7630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公式" r:id="rId13" imgW="1841500" imgH="469900" progId="Equation.3">
                  <p:embed/>
                </p:oleObj>
              </mc:Choice>
              <mc:Fallback>
                <p:oleObj name="公式" r:id="rId13" imgW="1841500" imgH="469900" progId="Equation.3">
                  <p:embed/>
                  <p:pic>
                    <p:nvPicPr>
                      <p:cNvPr id="22733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9656" y="5607995"/>
                        <a:ext cx="3007465" cy="76301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076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83384" y="1056112"/>
            <a:ext cx="8489680" cy="255454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结电流：空间电荷区的产生电流对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结反向电流的影响，空间电荷区的复合电流对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PN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结正向小电压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IV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的影响，大注入效应对正向大电压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IV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的影响，串联电阻对极大电压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IV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的影响。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肖特基势垒：镜像力导致势垒降低，界面态的费米钉扎效应导致势垒与金属功函数无关。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双极晶体管：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Early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效应（基区宽度调变效应）导致的电流不饱和，发射区重掺杂导致的禁带变窄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386900" y="325947"/>
            <a:ext cx="6143295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结型器件的非理想特性及其物理图像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5376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0" y="325947"/>
            <a:ext cx="6143295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MOSCAP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283384" y="1056112"/>
            <a:ext cx="8489680" cy="132343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表面电荷密度与表面势的关系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表面电荷电容与表面势的关系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栅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压与表面势的关系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4279279"/>
              </p:ext>
            </p:extLst>
          </p:nvPr>
        </p:nvGraphicFramePr>
        <p:xfrm>
          <a:off x="721051" y="2509693"/>
          <a:ext cx="3859576" cy="21623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7" name="Equation" r:id="rId3" imgW="2197100" imgH="1231900" progId="Equation.DSMT4">
                  <p:embed/>
                </p:oleObj>
              </mc:Choice>
              <mc:Fallback>
                <p:oleObj name="Equation" r:id="rId3" imgW="2197100" imgH="1231900" progId="Equation.DSMT4">
                  <p:embed/>
                  <p:pic>
                    <p:nvPicPr>
                      <p:cNvPr id="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51" y="2509693"/>
                        <a:ext cx="3859576" cy="21623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4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8339" y="1717831"/>
            <a:ext cx="2884722" cy="26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1075798"/>
              </p:ext>
            </p:extLst>
          </p:nvPr>
        </p:nvGraphicFramePr>
        <p:xfrm>
          <a:off x="564689" y="4960376"/>
          <a:ext cx="4921712" cy="819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8" name="公式" r:id="rId6" imgW="3009900" imgH="495300" progId="Equation.3">
                  <p:embed/>
                </p:oleObj>
              </mc:Choice>
              <mc:Fallback>
                <p:oleObj name="公式" r:id="rId6" imgW="3009900" imgH="4953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689" y="4960376"/>
                        <a:ext cx="4921712" cy="8192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525881"/>
              </p:ext>
            </p:extLst>
          </p:nvPr>
        </p:nvGraphicFramePr>
        <p:xfrm>
          <a:off x="975474" y="5983892"/>
          <a:ext cx="3199711" cy="7635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公式" r:id="rId8" imgW="2057400" imgH="431800" progId="Equation.3">
                  <p:embed/>
                </p:oleObj>
              </mc:Choice>
              <mc:Fallback>
                <p:oleObj name="公式" r:id="rId8" imgW="2057400" imgH="4318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5474" y="5983892"/>
                        <a:ext cx="3199711" cy="76355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530853"/>
              </p:ext>
            </p:extLst>
          </p:nvPr>
        </p:nvGraphicFramePr>
        <p:xfrm>
          <a:off x="5314338" y="5611593"/>
          <a:ext cx="3312723" cy="4125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0" name="公式" r:id="rId10" imgW="2260600" imgH="241300" progId="Equation.3">
                  <p:embed/>
                </p:oleObj>
              </mc:Choice>
              <mc:Fallback>
                <p:oleObj name="公式" r:id="rId10" imgW="2260600" imgH="2413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338" y="5611593"/>
                        <a:ext cx="3312723" cy="4125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130432"/>
              </p:ext>
            </p:extLst>
          </p:nvPr>
        </p:nvGraphicFramePr>
        <p:xfrm>
          <a:off x="6128139" y="4736830"/>
          <a:ext cx="1871261" cy="747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1" name="公式" r:id="rId12" imgW="990170" imgH="431613" progId="Equation.3">
                  <p:embed/>
                </p:oleObj>
              </mc:Choice>
              <mc:Fallback>
                <p:oleObj name="公式" r:id="rId12" imgW="990170" imgH="431613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8139" y="4736830"/>
                        <a:ext cx="1871261" cy="747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48229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35142" y="443637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氧化层和界面电荷对平带电压和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CV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的影响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2" t="16386" r="8163"/>
          <a:stretch>
            <a:fillRect/>
          </a:stretch>
        </p:blipFill>
        <p:spPr bwMode="auto">
          <a:xfrm>
            <a:off x="815309" y="998068"/>
            <a:ext cx="2842058" cy="2469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3961718"/>
              </p:ext>
            </p:extLst>
          </p:nvPr>
        </p:nvGraphicFramePr>
        <p:xfrm>
          <a:off x="4579982" y="998067"/>
          <a:ext cx="3059872" cy="2651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4" name="BMP 图像" r:id="rId4" imgW="4428571" imgH="3839111" progId="Paint.Picture">
                  <p:embed/>
                </p:oleObj>
              </mc:Choice>
              <mc:Fallback>
                <p:oleObj name="BMP 图像" r:id="rId4" imgW="4428571" imgH="3839111" progId="Paint.Picture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9982" y="998067"/>
                        <a:ext cx="3059872" cy="2651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020144"/>
              </p:ext>
            </p:extLst>
          </p:nvPr>
        </p:nvGraphicFramePr>
        <p:xfrm>
          <a:off x="1151913" y="3649612"/>
          <a:ext cx="2574699" cy="1904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5" name="BMP 图象" r:id="rId6" imgW="5342857" imgH="3952381" progId="PBrush">
                  <p:embed/>
                </p:oleObj>
              </mc:Choice>
              <mc:Fallback>
                <p:oleObj name="BMP 图象" r:id="rId6" imgW="5342857" imgH="3952381" progId="PBrush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913" y="3649612"/>
                        <a:ext cx="2574699" cy="190495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3" t="8112" r="8460" b="20329"/>
          <a:stretch/>
        </p:blipFill>
        <p:spPr bwMode="auto">
          <a:xfrm>
            <a:off x="4402186" y="3407117"/>
            <a:ext cx="3597214" cy="2139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165700"/>
              </p:ext>
            </p:extLst>
          </p:nvPr>
        </p:nvGraphicFramePr>
        <p:xfrm>
          <a:off x="431798" y="5806209"/>
          <a:ext cx="4243719" cy="6987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6" name="Equation" r:id="rId9" imgW="2641600" imgH="431800" progId="Equation.DSMT4">
                  <p:embed/>
                </p:oleObj>
              </mc:Choice>
              <mc:Fallback>
                <p:oleObj name="Equation" r:id="rId9" imgW="2641600" imgH="431800" progId="Equation.DSMT4">
                  <p:embed/>
                  <p:pic>
                    <p:nvPicPr>
                      <p:cNvPr id="13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798" y="5806209"/>
                        <a:ext cx="4243719" cy="6987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9687563"/>
              </p:ext>
            </p:extLst>
          </p:nvPr>
        </p:nvGraphicFramePr>
        <p:xfrm>
          <a:off x="5159585" y="5701566"/>
          <a:ext cx="26574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7" r:id="rId11" imgW="1269449" imgH="431613" progId="Equation.3">
                  <p:embed/>
                </p:oleObj>
              </mc:Choice>
              <mc:Fallback>
                <p:oleObj r:id="rId11" imgW="1269449" imgH="431613" progId="Equation.3">
                  <p:embed/>
                  <p:pic>
                    <p:nvPicPr>
                      <p:cNvPr id="12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585" y="5701566"/>
                        <a:ext cx="26574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6847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86900" y="325947"/>
            <a:ext cx="6143295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800" b="1" dirty="0" smtClean="0">
                <a:solidFill>
                  <a:srgbClr val="D96227"/>
                </a:solidFill>
                <a:latin typeface="Times New Roman" pitchFamily="18" charset="0"/>
                <a:ea typeface="宋体" pitchFamily="2" charset="-122"/>
              </a:rPr>
              <a:t>MOSFET</a:t>
            </a:r>
            <a:endParaRPr kumimoji="1" lang="zh-CN" altLang="en-US" sz="2800" b="1" dirty="0">
              <a:solidFill>
                <a:srgbClr val="D96227"/>
              </a:solidFill>
              <a:latin typeface="Times New Roman" pitchFamily="18" charset="0"/>
              <a:ea typeface="宋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ChangeArrowheads="1"/>
              </p:cNvSpPr>
              <p:nvPr/>
            </p:nvSpPr>
            <p:spPr bwMode="auto">
              <a:xfrm>
                <a:off x="317889" y="926716"/>
                <a:ext cx="8489680" cy="861774"/>
              </a:xfrm>
              <a:prstGeom prst="rect">
                <a:avLst/>
              </a:prstGeom>
              <a:noFill/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  <a:buFont typeface="Wingdings" pitchFamily="2" charset="2"/>
                  <a:buNone/>
                </a:pPr>
                <a:r>
                  <a:rPr kumimoji="1" lang="en-US" altLang="zh-CN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MOS</a:t>
                </a:r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的强反型条件：表面势达到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时</a:t>
                </a:r>
                <a:r>
                  <a:rPr kumimoji="1" lang="en-US" altLang="zh-CN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n=Na</a:t>
                </a:r>
              </a:p>
              <a:p>
                <a:pPr>
                  <a:spcAft>
                    <a:spcPts val="1200"/>
                  </a:spcAft>
                </a:pPr>
                <a:r>
                  <a:rPr kumimoji="1" lang="en-US" altLang="zh-CN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MOSFET</a:t>
                </a:r>
                <a:r>
                  <a:rPr kumimoji="1" lang="zh-CN" altLang="en-US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的强反型条件：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000" i="1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kumimoji="1" lang="zh-CN" altLang="en-US" sz="2000" b="1" dirty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时</a:t>
                </a:r>
                <a:r>
                  <a:rPr kumimoji="1" lang="en-US" altLang="zh-CN" sz="2000" b="1" dirty="0" smtClean="0">
                    <a:latin typeface="Times New Roman" pitchFamily="18" charset="0"/>
                    <a:ea typeface="宋体" pitchFamily="2" charset="-122"/>
                    <a:cs typeface="Times New Roman" pitchFamily="18" charset="0"/>
                  </a:rPr>
                  <a:t>n=Na</a:t>
                </a:r>
                <a:endParaRPr kumimoji="1" lang="en-US" altLang="zh-CN" sz="2000" b="1" dirty="0">
                  <a:latin typeface="Times New Roman" pitchFamily="18" charset="0"/>
                  <a:ea typeface="宋体" pitchFamily="2" charset="-122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889" y="926716"/>
                <a:ext cx="8489680" cy="861774"/>
              </a:xfrm>
              <a:prstGeom prst="rect">
                <a:avLst/>
              </a:prstGeom>
              <a:blipFill>
                <a:blip r:embed="rId2"/>
                <a:stretch>
                  <a:fillRect l="-718" t="-4965" b="-12766"/>
                </a:stretch>
              </a:blipFill>
              <a:ln w="12700" cap="sq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56965" y="3043007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线性区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1259456" y="2984689"/>
                <a:ext cx="3791894" cy="5167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56" y="2984689"/>
                <a:ext cx="3791894" cy="5167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5051350" y="2876325"/>
                <a:ext cx="3278397" cy="733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𝑓𝑏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1350" y="2876325"/>
                <a:ext cx="3278397" cy="7334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56965" y="3826216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饱和区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1259456" y="3884533"/>
                <a:ext cx="4536237" cy="62235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𝑑𝑠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Sup>
                            <m:sSub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456" y="3884533"/>
                <a:ext cx="4536237" cy="6223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317889" y="4732279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体效应系数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2037737" y="4797629"/>
                <a:ext cx="4785348" cy="733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𝑆𝑖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/4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=1+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737" y="4797629"/>
                <a:ext cx="4785348" cy="7334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/>
              <p:cNvSpPr txBox="1"/>
              <p:nvPr/>
            </p:nvSpPr>
            <p:spPr>
              <a:xfrm>
                <a:off x="5565365" y="3875557"/>
                <a:ext cx="3086413" cy="5640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𝑎𝑡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eff</m:t>
                          </m:r>
                        </m:sub>
                      </m:sSub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𝑜𝑥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5365" y="3875557"/>
                <a:ext cx="3086413" cy="5640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0487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78274" y="365999"/>
            <a:ext cx="8489680" cy="40011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工作区、转移特性曲线，输出特性曲线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55" y="1338595"/>
            <a:ext cx="3663453" cy="2224114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790" y="1357382"/>
            <a:ext cx="3323096" cy="2205327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7265" y="4137919"/>
            <a:ext cx="3342844" cy="22184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982" y="4087513"/>
            <a:ext cx="3418797" cy="22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85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378274" y="365999"/>
            <a:ext cx="8489680" cy="861774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亚阈值电流：表面弱反型，扩散电流为主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亚阈值斜率：通常为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70~100mV/Decade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，极限值为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60mV/Decade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0" y="1524957"/>
                <a:ext cx="8683607" cy="6159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𝑙𝑔</m:t>
                                  </m:r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𝑑𝑠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=2.3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𝑚𝑘𝑇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=2.3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𝑘𝑇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1+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𝑑𝑚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𝑜𝑥</m:t>
                              </m:r>
                            </m:sub>
                          </m:sSub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24957"/>
                <a:ext cx="8683607" cy="6159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78274" y="2668677"/>
            <a:ext cx="8489680" cy="1477328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主要的短沟道效应、物理图像及其对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Id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的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影响：电荷共享，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DIBL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SCBE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，</a:t>
            </a:r>
            <a:r>
              <a:rPr kumimoji="1"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沟长调制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效应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当前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小尺寸器件新技术的基本原理：高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k/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金属栅，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高迁移率材料，多栅结构，超薄体沟道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949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57200" y="541496"/>
            <a:ext cx="8321040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结构（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型半导体）处于深耗尽时，半导体一侧的电荷由</a:t>
            </a:r>
            <a:r>
              <a:rPr lang="en-US" altLang="zh-CN" sz="2000" b="1" u="sng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提供。</a:t>
            </a:r>
            <a:endParaRPr lang="zh-CN" altLang="zh-CN" sz="16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3048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A.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电子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B.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空穴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C.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界面态电荷</a:t>
            </a:r>
            <a:endParaRPr lang="zh-CN" altLang="zh-CN" sz="16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28600" indent="152400"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D.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施主杂质离子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E.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受主杂质离子</a:t>
            </a:r>
            <a:endParaRPr lang="zh-CN" altLang="zh-CN" sz="16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" y="2541955"/>
            <a:ext cx="8001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间接复合包括两对互逆的微观过程，分别是：电子</a:t>
            </a:r>
            <a:r>
              <a:rPr lang="zh-CN" altLang="zh-CN" sz="2000" u="sng" kern="100" dirty="0">
                <a:ea typeface="Times New Roman" panose="02020603050405020304" pitchFamily="18" charset="0"/>
              </a:rPr>
              <a:t> </a:t>
            </a:r>
            <a:r>
              <a:rPr lang="en-US" altLang="zh-CN" sz="2000" u="sng" kern="100" dirty="0">
                <a:ea typeface="Times New Roman" panose="02020603050405020304" pitchFamily="18" charset="0"/>
              </a:rPr>
              <a:t>      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和空穴</a:t>
            </a:r>
            <a:r>
              <a:rPr lang="en-US" altLang="zh-CN" sz="2000" u="sng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sz="2000" dirty="0"/>
          </a:p>
        </p:txBody>
      </p:sp>
      <p:sp>
        <p:nvSpPr>
          <p:cNvPr id="5" name="矩形 4"/>
          <p:cNvSpPr/>
          <p:nvPr/>
        </p:nvSpPr>
        <p:spPr>
          <a:xfrm>
            <a:off x="365760" y="3534402"/>
            <a:ext cx="84124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试画出有、无界面态情况下的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结构等效电路图，并画出此时刻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电容高低频</a:t>
            </a:r>
            <a:r>
              <a:rPr lang="en-US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C-V</a:t>
            </a:r>
            <a:r>
              <a:rPr lang="zh-CN" altLang="zh-CN" sz="2000" kern="1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曲线，标出界面态对该曲线的影响部分。</a:t>
            </a:r>
            <a:endParaRPr lang="zh-CN" altLang="en-US" sz="2000" dirty="0"/>
          </a:p>
        </p:txBody>
      </p:sp>
      <p:sp>
        <p:nvSpPr>
          <p:cNvPr id="6" name="矩形 5"/>
          <p:cNvSpPr/>
          <p:nvPr/>
        </p:nvSpPr>
        <p:spPr>
          <a:xfrm>
            <a:off x="457200" y="4834625"/>
            <a:ext cx="80924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en-US" altLang="zh-CN" kern="100">
                <a:latin typeface="Times New Roman" panose="02020603050405020304" pitchFamily="18" charset="0"/>
                <a:ea typeface="宋体" panose="02010600030101010101" pitchFamily="2" charset="-122"/>
              </a:rPr>
              <a:t>InSb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电子有效质量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  <a:r>
              <a:rPr lang="en-US" altLang="zh-CN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= 0.015m</a:t>
            </a:r>
            <a:r>
              <a:rPr lang="en-US" altLang="zh-CN" kern="1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，介电常数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ε=18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，晶格常数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a = 6.49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</a:rPr>
              <a:t> Å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。试计算：（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）施主的电离能；</a:t>
            </a:r>
            <a:endParaRPr lang="zh-CN" altLang="zh-CN" sz="14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Aft>
                <a:spcPts val="0"/>
              </a:spcAft>
            </a:pP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）施主均匀分布，相邻杂质原子的轨道之间发生交叠时，掺有的施主杂质浓度应高于多少？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22107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DE0A5B-1E35-4081-8D72-3B0687A5C65D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93514" y="755432"/>
            <a:ext cx="8489680" cy="363176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期末考试：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</a:t>
            </a:r>
            <a:r>
              <a:rPr kumimoji="1"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7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日星期五上午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9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点  六教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6A203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半开卷：可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带一张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A4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纸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两小时左右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答疑时间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：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暂定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号上午和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月</a:t>
            </a:r>
            <a:r>
              <a:rPr kumimoji="1" lang="en-US" altLang="zh-CN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号上午</a:t>
            </a:r>
            <a:endParaRPr kumimoji="1" lang="en-US" altLang="zh-CN" sz="2000" b="1" dirty="0" smtClean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其它时间可提前预约</a:t>
            </a:r>
            <a:endParaRPr kumimoji="1" lang="en-US" altLang="zh-CN" sz="2000" b="1" dirty="0" smtClean="0">
              <a:solidFill>
                <a:srgbClr val="C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>
              <a:spcAft>
                <a:spcPts val="1200"/>
              </a:spcAft>
              <a:buFont typeface="Wingdings" pitchFamily="2" charset="2"/>
              <a:buNone/>
            </a:pPr>
            <a:r>
              <a:rPr kumimoji="1" lang="zh-CN" altLang="en-US" sz="2000" b="1" dirty="0" smtClean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注重概念和物理图像的理解，计算题难度参考作业题</a:t>
            </a:r>
            <a:endParaRPr kumimoji="1"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08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4005</TotalTime>
  <Words>1669</Words>
  <Application>Microsoft Office PowerPoint</Application>
  <PresentationFormat>全屏显示(4:3)</PresentationFormat>
  <Paragraphs>147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20</vt:i4>
      </vt:variant>
    </vt:vector>
  </HeadingPairs>
  <TitlesOfParts>
    <vt:vector size="37" baseType="lpstr">
      <vt:lpstr>等线</vt:lpstr>
      <vt:lpstr>等线 Light</vt:lpstr>
      <vt:lpstr>华文中宋</vt:lpstr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主题​​</vt:lpstr>
      <vt:lpstr>Equation</vt:lpstr>
      <vt:lpstr>公式</vt:lpstr>
      <vt:lpstr>BMP 图象</vt:lpstr>
      <vt:lpstr>图片</vt:lpstr>
      <vt:lpstr>BMP 图像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Tsinghua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gaobin</dc:creator>
  <cp:lastModifiedBy>gaobin</cp:lastModifiedBy>
  <cp:revision>110</cp:revision>
  <dcterms:created xsi:type="dcterms:W3CDTF">2018-11-20T07:03:35Z</dcterms:created>
  <dcterms:modified xsi:type="dcterms:W3CDTF">2021-12-20T00:40:44Z</dcterms:modified>
</cp:coreProperties>
</file>