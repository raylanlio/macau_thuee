
<file path=[Content_Types].xml><?xml version="1.0" encoding="utf-8"?>
<Types xmlns="http://schemas.openxmlformats.org/package/2006/content-types">
  <Default Extension="bin" ContentType="application/vnd.openxmlformats-officedocument.oleObject"/>
  <Default Extension="png" ContentType="image/png"/>
  <Default Extension="tmp"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75" r:id="rId2"/>
    <p:sldId id="274" r:id="rId3"/>
    <p:sldId id="276" r:id="rId4"/>
    <p:sldId id="331" r:id="rId5"/>
    <p:sldId id="332" r:id="rId6"/>
    <p:sldId id="333" r:id="rId7"/>
    <p:sldId id="334" r:id="rId8"/>
    <p:sldId id="335" r:id="rId9"/>
    <p:sldId id="336" r:id="rId10"/>
    <p:sldId id="337" r:id="rId11"/>
    <p:sldId id="338" r:id="rId12"/>
    <p:sldId id="366" r:id="rId13"/>
    <p:sldId id="348" r:id="rId14"/>
    <p:sldId id="339" r:id="rId15"/>
    <p:sldId id="340" r:id="rId16"/>
    <p:sldId id="341" r:id="rId17"/>
    <p:sldId id="367" r:id="rId18"/>
    <p:sldId id="347" r:id="rId19"/>
    <p:sldId id="349" r:id="rId20"/>
    <p:sldId id="350" r:id="rId21"/>
    <p:sldId id="351" r:id="rId22"/>
    <p:sldId id="352" r:id="rId23"/>
    <p:sldId id="353" r:id="rId24"/>
    <p:sldId id="354" r:id="rId25"/>
    <p:sldId id="355" r:id="rId26"/>
    <p:sldId id="356" r:id="rId27"/>
    <p:sldId id="357" r:id="rId28"/>
    <p:sldId id="362" r:id="rId29"/>
    <p:sldId id="363" r:id="rId30"/>
    <p:sldId id="364" r:id="rId31"/>
    <p:sldId id="359" r:id="rId32"/>
    <p:sldId id="361" r:id="rId33"/>
    <p:sldId id="368" r:id="rId34"/>
    <p:sldId id="396" r:id="rId35"/>
    <p:sldId id="397" r:id="rId36"/>
    <p:sldId id="398" r:id="rId37"/>
    <p:sldId id="369" r:id="rId38"/>
    <p:sldId id="370" r:id="rId39"/>
    <p:sldId id="374" r:id="rId40"/>
    <p:sldId id="372" r:id="rId41"/>
    <p:sldId id="376" r:id="rId42"/>
    <p:sldId id="377" r:id="rId43"/>
    <p:sldId id="378" r:id="rId44"/>
    <p:sldId id="379" r:id="rId45"/>
    <p:sldId id="380" r:id="rId46"/>
    <p:sldId id="381" r:id="rId47"/>
    <p:sldId id="382" r:id="rId48"/>
    <p:sldId id="383" r:id="rId49"/>
    <p:sldId id="384" r:id="rId50"/>
    <p:sldId id="385" r:id="rId51"/>
    <p:sldId id="386" r:id="rId52"/>
    <p:sldId id="387" r:id="rId53"/>
    <p:sldId id="388" r:id="rId54"/>
    <p:sldId id="389" r:id="rId55"/>
    <p:sldId id="390" r:id="rId56"/>
    <p:sldId id="391" r:id="rId57"/>
    <p:sldId id="392" r:id="rId58"/>
    <p:sldId id="393" r:id="rId59"/>
    <p:sldId id="394" r:id="rId60"/>
    <p:sldId id="395"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15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4"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1.png"/></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image" Target="../media/image105.png"/></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 Id="rId4" Type="http://schemas.openxmlformats.org/officeDocument/2006/relationships/image" Target="../media/image11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 Id="rId6" Type="http://schemas.openxmlformats.org/officeDocument/2006/relationships/image" Target="../media/image119.wmf"/><Relationship Id="rId5" Type="http://schemas.openxmlformats.org/officeDocument/2006/relationships/image" Target="../media/image118.wmf"/><Relationship Id="rId4" Type="http://schemas.openxmlformats.org/officeDocument/2006/relationships/image" Target="../media/image11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 Id="rId4" Type="http://schemas.openxmlformats.org/officeDocument/2006/relationships/image" Target="../media/image12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 Id="rId4" Type="http://schemas.openxmlformats.org/officeDocument/2006/relationships/image" Target="../media/image13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 Id="rId4" Type="http://schemas.openxmlformats.org/officeDocument/2006/relationships/image" Target="../media/image134.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36.wmf"/><Relationship Id="rId1" Type="http://schemas.openxmlformats.org/officeDocument/2006/relationships/image" Target="../media/image135.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37.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3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37.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image" Target="../media/image148.wmf"/><Relationship Id="rId7" Type="http://schemas.openxmlformats.org/officeDocument/2006/relationships/image" Target="../media/image152.wmf"/><Relationship Id="rId2" Type="http://schemas.openxmlformats.org/officeDocument/2006/relationships/image" Target="../media/image147.wmf"/><Relationship Id="rId1" Type="http://schemas.openxmlformats.org/officeDocument/2006/relationships/image" Target="../media/image146.wmf"/><Relationship Id="rId6" Type="http://schemas.openxmlformats.org/officeDocument/2006/relationships/image" Target="../media/image151.wmf"/><Relationship Id="rId5" Type="http://schemas.openxmlformats.org/officeDocument/2006/relationships/image" Target="../media/image150.wmf"/><Relationship Id="rId10" Type="http://schemas.openxmlformats.org/officeDocument/2006/relationships/image" Target="../media/image155.wmf"/><Relationship Id="rId4" Type="http://schemas.openxmlformats.org/officeDocument/2006/relationships/image" Target="../media/image149.wmf"/><Relationship Id="rId9" Type="http://schemas.openxmlformats.org/officeDocument/2006/relationships/image" Target="../media/image15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22DCA-151E-45C7-AC46-0D7506932EB0}" type="datetimeFigureOut">
              <a:rPr lang="zh-CN" altLang="en-US" smtClean="0"/>
              <a:t>2021/10/13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7C08E-78D7-42DB-AE45-AD872A517D50}" type="slidenum">
              <a:rPr lang="zh-CN" altLang="en-US" smtClean="0"/>
              <a:t>‹#›</a:t>
            </a:fld>
            <a:endParaRPr lang="zh-CN" altLang="en-US"/>
          </a:p>
        </p:txBody>
      </p:sp>
    </p:spTree>
    <p:extLst>
      <p:ext uri="{BB962C8B-B14F-4D97-AF65-F5344CB8AC3E}">
        <p14:creationId xmlns:p14="http://schemas.microsoft.com/office/powerpoint/2010/main" val="2734789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6E35CCDD-2586-464E-AFE0-B5A574D41AC4}" type="datetime1">
              <a:rPr lang="zh-CN" altLang="en-US" smtClean="0"/>
              <a:t>2021/10/13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310322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3775D4D-DEDA-485F-A57B-0899DFCD11D9}" type="datetime1">
              <a:rPr lang="zh-CN" altLang="en-US" smtClean="0"/>
              <a:t>2021/10/13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330737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1F038E4-5D4A-4CE4-93A0-5565DCCA047E}" type="datetime1">
              <a:rPr lang="zh-CN" altLang="en-US" smtClean="0"/>
              <a:t>2021/10/13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2723038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E9C06B8-C690-46DC-8F1A-A6702CAA4F06}" type="datetime1">
              <a:rPr lang="zh-CN" altLang="en-US" smtClean="0"/>
              <a:t>2021/10/13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2755887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C94268E-7B1F-4197-A7F4-178328DB0C0D}" type="datetime1">
              <a:rPr lang="zh-CN" altLang="en-US" smtClean="0"/>
              <a:t>2021/10/13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4747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204D75C3-CD71-47A9-AE63-E90B96E31C6B}" type="datetime1">
              <a:rPr lang="zh-CN" altLang="en-US" smtClean="0"/>
              <a:t>2021/10/13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47915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43D92-FE98-4E68-85F1-648E03B26AE2}" type="datetime1">
              <a:rPr lang="zh-CN" altLang="en-US" smtClean="0"/>
              <a:t>2021/10/13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44218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26DDB5F5-E322-44A1-A27C-DBC8ABFD9C51}" type="datetime1">
              <a:rPr lang="zh-CN" altLang="en-US" smtClean="0"/>
              <a:t>2021/10/13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096307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81A8DBA-A096-4802-8971-4A136D274866}" type="datetime1">
              <a:rPr lang="zh-CN" altLang="en-US" smtClean="0"/>
              <a:t>2021/10/13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245099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D46DFE9-AA29-4D92-A503-2669F53D5B6D}" type="datetime1">
              <a:rPr lang="zh-CN" altLang="en-US" smtClean="0"/>
              <a:t>2021/10/13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06442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4586D88-1402-4B29-999F-F36CE83A6A00}" type="datetime1">
              <a:rPr lang="zh-CN" altLang="en-US" smtClean="0"/>
              <a:t>2021/10/13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540790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8C3F33-3C07-4C2F-83D0-1B65706079E4}" type="datetime1">
              <a:rPr lang="zh-CN" altLang="en-US" smtClean="0"/>
              <a:t>2021/10/13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7056160" y="645890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908555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s>
</file>

<file path=ppt/slides/_rels/slide9.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1.wmf"/><Relationship Id="rId2" Type="http://schemas.openxmlformats.org/officeDocument/2006/relationships/slideLayout" Target="../slideLayouts/slideLayout7.xml"/><Relationship Id="rId16" Type="http://schemas.openxmlformats.org/officeDocument/2006/relationships/image" Target="../media/image13.wmf"/><Relationship Id="rId1" Type="http://schemas.openxmlformats.org/officeDocument/2006/relationships/vmlDrawing" Target="../drawings/vmlDrawing4.vml"/><Relationship Id="rId6" Type="http://schemas.openxmlformats.org/officeDocument/2006/relationships/image" Target="../media/image8.w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oleObject" Target="../embeddings/oleObject12.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9.bin"/><Relationship Id="rId14" Type="http://schemas.openxmlformats.org/officeDocument/2006/relationships/image" Target="../media/image12.wmf"/></Relationships>
</file>

<file path=ppt/slides/_rels/slide10.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6.png"/><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7.png"/><Relationship Id="rId5" Type="http://schemas.openxmlformats.org/officeDocument/2006/relationships/image" Target="../media/image14.wmf"/><Relationship Id="rId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image" Target="../media/image19.tmp"/><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2.wmf"/><Relationship Id="rId5" Type="http://schemas.openxmlformats.org/officeDocument/2006/relationships/oleObject" Target="../embeddings/oleObject16.bin"/><Relationship Id="rId4" Type="http://schemas.openxmlformats.org/officeDocument/2006/relationships/image" Target="../media/image21.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3.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5.wmf"/><Relationship Id="rId5" Type="http://schemas.openxmlformats.org/officeDocument/2006/relationships/oleObject" Target="../embeddings/oleObject19.bin"/><Relationship Id="rId4" Type="http://schemas.openxmlformats.org/officeDocument/2006/relationships/image" Target="../media/image24.wmf"/></Relationships>
</file>

<file path=ppt/slides/_rels/slide17.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slideLayout" Target="../slideLayouts/slideLayout7.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image" Target="../media/image19.tmp"/><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18.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7.wmf"/><Relationship Id="rId5" Type="http://schemas.openxmlformats.org/officeDocument/2006/relationships/oleObject" Target="../embeddings/oleObject21.bin"/><Relationship Id="rId4" Type="http://schemas.openxmlformats.org/officeDocument/2006/relationships/image" Target="../media/image26.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0.wmf"/><Relationship Id="rId5" Type="http://schemas.openxmlformats.org/officeDocument/2006/relationships/oleObject" Target="../embeddings/oleObject24.bin"/><Relationship Id="rId4" Type="http://schemas.openxmlformats.org/officeDocument/2006/relationships/image" Target="../media/image29.wmf"/></Relationships>
</file>

<file path=ppt/slides/_rels/slide20.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35.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2.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8.bin"/><Relationship Id="rId14" Type="http://schemas.openxmlformats.org/officeDocument/2006/relationships/image" Target="../media/image36.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41.png"/><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33.bin"/><Relationship Id="rId11" Type="http://schemas.openxmlformats.org/officeDocument/2006/relationships/image" Target="../media/image40.wmf"/><Relationship Id="rId5" Type="http://schemas.openxmlformats.org/officeDocument/2006/relationships/image" Target="../media/image37.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39.wmf"/></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6.wmf"/><Relationship Id="rId5" Type="http://schemas.openxmlformats.org/officeDocument/2006/relationships/oleObject" Target="../embeddings/oleObject37.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39.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53.wmf"/><Relationship Id="rId3" Type="http://schemas.openxmlformats.org/officeDocument/2006/relationships/image" Target="../media/image44.png"/><Relationship Id="rId7" Type="http://schemas.openxmlformats.org/officeDocument/2006/relationships/image" Target="../media/image50.wmf"/><Relationship Id="rId12"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41.bin"/><Relationship Id="rId11" Type="http://schemas.openxmlformats.org/officeDocument/2006/relationships/image" Target="../media/image52.wmf"/><Relationship Id="rId5" Type="http://schemas.openxmlformats.org/officeDocument/2006/relationships/image" Target="../media/image49.wmf"/><Relationship Id="rId15" Type="http://schemas.openxmlformats.org/officeDocument/2006/relationships/image" Target="../media/image54.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51.wmf"/><Relationship Id="rId14" Type="http://schemas.openxmlformats.org/officeDocument/2006/relationships/oleObject" Target="../embeddings/oleObject45.bin"/></Relationships>
</file>

<file path=ppt/slides/_rels/slide27.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oleObject" Target="../embeddings/oleObject51.bin"/><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59.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6.wmf"/><Relationship Id="rId11" Type="http://schemas.openxmlformats.org/officeDocument/2006/relationships/oleObject" Target="../embeddings/oleObject50.bin"/><Relationship Id="rId5" Type="http://schemas.openxmlformats.org/officeDocument/2006/relationships/oleObject" Target="../embeddings/oleObject47.bin"/><Relationship Id="rId10" Type="http://schemas.openxmlformats.org/officeDocument/2006/relationships/image" Target="../media/image58.wmf"/><Relationship Id="rId4" Type="http://schemas.openxmlformats.org/officeDocument/2006/relationships/image" Target="../media/image55.wmf"/><Relationship Id="rId9" Type="http://schemas.openxmlformats.org/officeDocument/2006/relationships/oleObject" Target="../embeddings/oleObject49.bin"/><Relationship Id="rId14" Type="http://schemas.openxmlformats.org/officeDocument/2006/relationships/image" Target="../media/image60.wmf"/></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7.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3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92.png"/><Relationship Id="rId11" Type="http://schemas.openxmlformats.org/officeDocument/2006/relationships/image" Target="../media/image97.jpeg"/><Relationship Id="rId5" Type="http://schemas.openxmlformats.org/officeDocument/2006/relationships/image" Target="../media/image91.jpe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39.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slideLayout" Target="../slideLayouts/slideLayout7.xml"/><Relationship Id="rId4" Type="http://schemas.openxmlformats.org/officeDocument/2006/relationships/image" Target="../media/image102.jpeg"/></Relationships>
</file>

<file path=ppt/slides/_rels/slide4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oleObject" Target="../embeddings/oleObject53.bin"/><Relationship Id="rId7" Type="http://schemas.openxmlformats.org/officeDocument/2006/relationships/image" Target="../media/image106.png"/><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54.bin"/><Relationship Id="rId5" Type="http://schemas.openxmlformats.org/officeDocument/2006/relationships/image" Target="../media/image107.png"/><Relationship Id="rId4" Type="http://schemas.openxmlformats.org/officeDocument/2006/relationships/image" Target="../media/image105.png"/><Relationship Id="rId9" Type="http://schemas.openxmlformats.org/officeDocument/2006/relationships/image" Target="../media/image109.png"/></Relationships>
</file>

<file path=ppt/slides/_rels/slide43.x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111.wmf"/><Relationship Id="rId5" Type="http://schemas.openxmlformats.org/officeDocument/2006/relationships/oleObject" Target="../embeddings/oleObject56.bin"/><Relationship Id="rId10" Type="http://schemas.openxmlformats.org/officeDocument/2006/relationships/image" Target="../media/image113.wmf"/><Relationship Id="rId4" Type="http://schemas.openxmlformats.org/officeDocument/2006/relationships/image" Target="../media/image110.wmf"/><Relationship Id="rId9" Type="http://schemas.openxmlformats.org/officeDocument/2006/relationships/oleObject" Target="../embeddings/oleObject58.bin"/></Relationships>
</file>

<file path=ppt/slides/_rels/slide44.xml.rels><?xml version="1.0" encoding="UTF-8" standalone="yes"?>
<Relationships xmlns="http://schemas.openxmlformats.org/package/2006/relationships"><Relationship Id="rId8" Type="http://schemas.openxmlformats.org/officeDocument/2006/relationships/image" Target="../media/image116.wmf"/><Relationship Id="rId13" Type="http://schemas.openxmlformats.org/officeDocument/2006/relationships/oleObject" Target="../embeddings/oleObject64.bin"/><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118.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15.wmf"/><Relationship Id="rId11" Type="http://schemas.openxmlformats.org/officeDocument/2006/relationships/oleObject" Target="../embeddings/oleObject63.bin"/><Relationship Id="rId5" Type="http://schemas.openxmlformats.org/officeDocument/2006/relationships/oleObject" Target="../embeddings/oleObject60.bin"/><Relationship Id="rId10" Type="http://schemas.openxmlformats.org/officeDocument/2006/relationships/image" Target="../media/image117.wmf"/><Relationship Id="rId4" Type="http://schemas.openxmlformats.org/officeDocument/2006/relationships/image" Target="../media/image114.wmf"/><Relationship Id="rId9" Type="http://schemas.openxmlformats.org/officeDocument/2006/relationships/oleObject" Target="../embeddings/oleObject62.bin"/><Relationship Id="rId14" Type="http://schemas.openxmlformats.org/officeDocument/2006/relationships/image" Target="../media/image119.wmf"/></Relationships>
</file>

<file path=ppt/slides/_rels/slide45.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23.wmf"/><Relationship Id="rId5" Type="http://schemas.openxmlformats.org/officeDocument/2006/relationships/oleObject" Target="../embeddings/oleObject66.bin"/><Relationship Id="rId10" Type="http://schemas.openxmlformats.org/officeDocument/2006/relationships/image" Target="../media/image125.wmf"/><Relationship Id="rId4" Type="http://schemas.openxmlformats.org/officeDocument/2006/relationships/image" Target="../media/image122.wmf"/><Relationship Id="rId9" Type="http://schemas.openxmlformats.org/officeDocument/2006/relationships/oleObject" Target="../embeddings/oleObject68.bin"/></Relationships>
</file>

<file path=ppt/slides/_rels/slide5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28.wmf"/><Relationship Id="rId5" Type="http://schemas.openxmlformats.org/officeDocument/2006/relationships/oleObject" Target="../embeddings/oleObject70.bin"/><Relationship Id="rId10" Type="http://schemas.openxmlformats.org/officeDocument/2006/relationships/image" Target="../media/image130.wmf"/><Relationship Id="rId4" Type="http://schemas.openxmlformats.org/officeDocument/2006/relationships/image" Target="../media/image127.wmf"/><Relationship Id="rId9" Type="http://schemas.openxmlformats.org/officeDocument/2006/relationships/oleObject" Target="../embeddings/oleObject72.bin"/></Relationships>
</file>

<file path=ppt/slides/_rels/slide53.xml.rels><?xml version="1.0" encoding="UTF-8" standalone="yes"?>
<Relationships xmlns="http://schemas.openxmlformats.org/package/2006/relationships"><Relationship Id="rId8" Type="http://schemas.openxmlformats.org/officeDocument/2006/relationships/image" Target="../media/image133.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32.wmf"/><Relationship Id="rId5" Type="http://schemas.openxmlformats.org/officeDocument/2006/relationships/oleObject" Target="../embeddings/oleObject74.bin"/><Relationship Id="rId10" Type="http://schemas.openxmlformats.org/officeDocument/2006/relationships/image" Target="../media/image134.wmf"/><Relationship Id="rId4" Type="http://schemas.openxmlformats.org/officeDocument/2006/relationships/image" Target="../media/image131.wmf"/><Relationship Id="rId9" Type="http://schemas.openxmlformats.org/officeDocument/2006/relationships/oleObject" Target="../embeddings/oleObject76.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36.wmf"/><Relationship Id="rId5" Type="http://schemas.openxmlformats.org/officeDocument/2006/relationships/oleObject" Target="../embeddings/oleObject78.bin"/><Relationship Id="rId4" Type="http://schemas.openxmlformats.org/officeDocument/2006/relationships/image" Target="../media/image135.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38.wmf"/><Relationship Id="rId5" Type="http://schemas.openxmlformats.org/officeDocument/2006/relationships/oleObject" Target="../embeddings/oleObject80.bin"/><Relationship Id="rId4" Type="http://schemas.openxmlformats.org/officeDocument/2006/relationships/image" Target="../media/image137.wmf"/></Relationships>
</file>

<file path=ppt/slides/_rels/slide56.x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oleObject" Target="../embeddings/oleObject81.bin"/><Relationship Id="rId7"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40.wmf"/><Relationship Id="rId5" Type="http://schemas.openxmlformats.org/officeDocument/2006/relationships/oleObject" Target="../embeddings/oleObject82.bin"/><Relationship Id="rId4" Type="http://schemas.openxmlformats.org/officeDocument/2006/relationships/image" Target="../media/image139.wmf"/></Relationships>
</file>

<file path=ppt/slides/_rels/slide57.xml.rels><?xml version="1.0" encoding="UTF-8" standalone="yes"?>
<Relationships xmlns="http://schemas.openxmlformats.org/package/2006/relationships"><Relationship Id="rId8" Type="http://schemas.openxmlformats.org/officeDocument/2006/relationships/image" Target="../media/image143.wmf"/><Relationship Id="rId3" Type="http://schemas.openxmlformats.org/officeDocument/2006/relationships/oleObject" Target="../embeddings/oleObject84.bin"/><Relationship Id="rId7"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42.wmf"/><Relationship Id="rId5" Type="http://schemas.openxmlformats.org/officeDocument/2006/relationships/oleObject" Target="../embeddings/oleObject85.bin"/><Relationship Id="rId4" Type="http://schemas.openxmlformats.org/officeDocument/2006/relationships/image" Target="../media/image137.wmf"/></Relationships>
</file>

<file path=ppt/slides/_rels/slide58.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oleObject" Target="../embeddings/oleObject87.bin"/><Relationship Id="rId7"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44.wmf"/><Relationship Id="rId5" Type="http://schemas.openxmlformats.org/officeDocument/2006/relationships/oleObject" Target="../embeddings/oleObject88.bin"/><Relationship Id="rId4" Type="http://schemas.openxmlformats.org/officeDocument/2006/relationships/image" Target="../media/image137.wmf"/></Relationships>
</file>

<file path=ppt/slides/_rels/slide59.x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oleObject" Target="../embeddings/oleObject95.bin"/><Relationship Id="rId18" Type="http://schemas.openxmlformats.org/officeDocument/2006/relationships/image" Target="../media/image153.wmf"/><Relationship Id="rId3" Type="http://schemas.openxmlformats.org/officeDocument/2006/relationships/oleObject" Target="../embeddings/oleObject90.bin"/><Relationship Id="rId21" Type="http://schemas.openxmlformats.org/officeDocument/2006/relationships/oleObject" Target="../embeddings/oleObject99.bin"/><Relationship Id="rId7" Type="http://schemas.openxmlformats.org/officeDocument/2006/relationships/oleObject" Target="../embeddings/oleObject92.bin"/><Relationship Id="rId12" Type="http://schemas.openxmlformats.org/officeDocument/2006/relationships/image" Target="../media/image150.wmf"/><Relationship Id="rId17" Type="http://schemas.openxmlformats.org/officeDocument/2006/relationships/oleObject" Target="../embeddings/oleObject97.bin"/><Relationship Id="rId2" Type="http://schemas.openxmlformats.org/officeDocument/2006/relationships/slideLayout" Target="../slideLayouts/slideLayout7.xml"/><Relationship Id="rId16" Type="http://schemas.openxmlformats.org/officeDocument/2006/relationships/image" Target="../media/image152.wmf"/><Relationship Id="rId20" Type="http://schemas.openxmlformats.org/officeDocument/2006/relationships/image" Target="../media/image154.wmf"/><Relationship Id="rId1" Type="http://schemas.openxmlformats.org/officeDocument/2006/relationships/vmlDrawing" Target="../drawings/vmlDrawing28.vml"/><Relationship Id="rId6" Type="http://schemas.openxmlformats.org/officeDocument/2006/relationships/image" Target="../media/image147.wmf"/><Relationship Id="rId11" Type="http://schemas.openxmlformats.org/officeDocument/2006/relationships/oleObject" Target="../embeddings/oleObject94.bin"/><Relationship Id="rId5" Type="http://schemas.openxmlformats.org/officeDocument/2006/relationships/oleObject" Target="../embeddings/oleObject91.bin"/><Relationship Id="rId15" Type="http://schemas.openxmlformats.org/officeDocument/2006/relationships/oleObject" Target="../embeddings/oleObject96.bin"/><Relationship Id="rId10" Type="http://schemas.openxmlformats.org/officeDocument/2006/relationships/image" Target="../media/image149.wmf"/><Relationship Id="rId19" Type="http://schemas.openxmlformats.org/officeDocument/2006/relationships/oleObject" Target="../embeddings/oleObject98.bin"/><Relationship Id="rId4" Type="http://schemas.openxmlformats.org/officeDocument/2006/relationships/image" Target="../media/image146.wmf"/><Relationship Id="rId9" Type="http://schemas.openxmlformats.org/officeDocument/2006/relationships/oleObject" Target="../embeddings/oleObject93.bin"/><Relationship Id="rId14" Type="http://schemas.openxmlformats.org/officeDocument/2006/relationships/image" Target="../media/image151.wmf"/><Relationship Id="rId22" Type="http://schemas.openxmlformats.org/officeDocument/2006/relationships/image" Target="../media/image155.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a:t>
            </a:fld>
            <a:endParaRPr lang="zh-CN" altLang="en-US"/>
          </a:p>
        </p:txBody>
      </p:sp>
      <p:sp>
        <p:nvSpPr>
          <p:cNvPr id="3" name="Text Box 2"/>
          <p:cNvSpPr txBox="1">
            <a:spLocks noChangeArrowheads="1"/>
          </p:cNvSpPr>
          <p:nvPr/>
        </p:nvSpPr>
        <p:spPr bwMode="auto">
          <a:xfrm>
            <a:off x="1992701" y="431800"/>
            <a:ext cx="5873361" cy="641350"/>
          </a:xfrm>
          <a:prstGeom prst="rect">
            <a:avLst/>
          </a:prstGeom>
          <a:noFill/>
          <a:ln>
            <a:noFill/>
          </a:ln>
          <a:effectLst>
            <a:outerShdw dist="35921" dir="2700000" algn="ctr" rotWithShape="0">
              <a:srgbClr val="1C1C1C"/>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itchFamily="18" charset="0"/>
                <a:ea typeface="宋体" pitchFamily="2" charset="-122"/>
              </a:rPr>
              <a:t>第三章   载流子输运</a:t>
            </a:r>
            <a:endParaRPr kumimoji="1" lang="zh-CN" altLang="en-US" sz="3600" b="1" i="0" u="none" strike="noStrike" kern="0" cap="none" spc="0" normalizeH="0" baseline="0" noProof="0" dirty="0">
              <a:ln>
                <a:noFill/>
              </a:ln>
              <a:solidFill>
                <a:srgbClr val="FF6600"/>
              </a:solidFill>
              <a:effectLst>
                <a:outerShdw blurRad="38100" dist="38100" dir="2700000" algn="tl">
                  <a:srgbClr val="C0C0C0"/>
                </a:outerShdw>
              </a:effectLst>
              <a:uLnTx/>
              <a:uFillTx/>
              <a:latin typeface="Times New Roman" pitchFamily="18" charset="0"/>
              <a:ea typeface="宋体" pitchFamily="2" charset="-122"/>
            </a:endParaRPr>
          </a:p>
        </p:txBody>
      </p:sp>
      <p:sp>
        <p:nvSpPr>
          <p:cNvPr id="4" name="Text Box 5"/>
          <p:cNvSpPr txBox="1">
            <a:spLocks noChangeArrowheads="1"/>
          </p:cNvSpPr>
          <p:nvPr/>
        </p:nvSpPr>
        <p:spPr bwMode="auto">
          <a:xfrm>
            <a:off x="548377" y="1500250"/>
            <a:ext cx="8229600" cy="936347"/>
          </a:xfrm>
          <a:prstGeom prst="rect">
            <a:avLst/>
          </a:prstGeom>
          <a:noFill/>
          <a:ln w="12700" cap="sq">
            <a:noFill/>
            <a:miter lim="800000"/>
            <a:headEnd type="none" w="sm" len="sm"/>
            <a:tailEnd type="none" w="sm" len="sm"/>
          </a:ln>
          <a:effectLst/>
        </p:spPr>
        <p:txBody>
          <a:bodyPr>
            <a:spAutoFit/>
          </a:bodyPr>
          <a:lstStyle/>
          <a:p>
            <a:pPr defTabSz="914400" eaLnBrk="0" fontAlgn="base" hangingPunct="0">
              <a:lnSpc>
                <a:spcPct val="120000"/>
              </a:lnSpc>
              <a:spcAft>
                <a:spcPct val="0"/>
              </a:spcAft>
            </a:pPr>
            <a:r>
              <a:rPr kumimoji="1" lang="zh-CN" altLang="en-US" sz="2400" b="1" dirty="0">
                <a:solidFill>
                  <a:srgbClr val="000000"/>
                </a:solidFill>
                <a:latin typeface="Times New Roman" pitchFamily="18" charset="0"/>
                <a:ea typeface="宋体" pitchFamily="2" charset="-122"/>
                <a:cs typeface="Times New Roman" pitchFamily="18" charset="0"/>
              </a:rPr>
              <a:t>进一步研究和了解载流子的输运规律，这是研究半导体器件性能的基础。</a:t>
            </a:r>
          </a:p>
        </p:txBody>
      </p:sp>
      <p:sp>
        <p:nvSpPr>
          <p:cNvPr id="5" name="Text Box 3"/>
          <p:cNvSpPr txBox="1">
            <a:spLocks noChangeArrowheads="1"/>
          </p:cNvSpPr>
          <p:nvPr/>
        </p:nvSpPr>
        <p:spPr bwMode="auto">
          <a:xfrm>
            <a:off x="671813" y="2591226"/>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pPr>
            <a:r>
              <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rPr>
              <a:t>本章内容</a:t>
            </a:r>
          </a:p>
        </p:txBody>
      </p:sp>
      <p:sp>
        <p:nvSpPr>
          <p:cNvPr id="6" name="Text Box 4"/>
          <p:cNvSpPr txBox="1">
            <a:spLocks noChangeArrowheads="1"/>
          </p:cNvSpPr>
          <p:nvPr/>
        </p:nvSpPr>
        <p:spPr bwMode="auto">
          <a:xfrm>
            <a:off x="931862" y="3419596"/>
            <a:ext cx="6934200" cy="1762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a:solidFill>
                  <a:srgbClr val="000000"/>
                </a:solidFill>
                <a:latin typeface="Times New Roman" pitchFamily="18" charset="0"/>
                <a:ea typeface="宋体" pitchFamily="2" charset="-122"/>
              </a:rPr>
              <a:t>2.1 </a:t>
            </a:r>
            <a:r>
              <a:rPr kumimoji="1" lang="zh-CN" altLang="en-US" sz="2400" b="1" dirty="0" smtClean="0">
                <a:solidFill>
                  <a:srgbClr val="000000"/>
                </a:solidFill>
                <a:latin typeface="Times New Roman" pitchFamily="18" charset="0"/>
                <a:ea typeface="宋体" pitchFamily="2" charset="-122"/>
              </a:rPr>
              <a:t>载流子输运与散射</a:t>
            </a:r>
            <a:endParaRPr kumimoji="1" lang="zh-CN" altLang="en-US" sz="2400" b="1" dirty="0">
              <a:solidFill>
                <a:srgbClr val="000000"/>
              </a:solidFill>
              <a:latin typeface="Times New Roman" pitchFamily="18" charset="0"/>
              <a:ea typeface="宋体" pitchFamily="2" charset="-122"/>
            </a:endParaRPr>
          </a:p>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a:solidFill>
                  <a:srgbClr val="000000"/>
                </a:solidFill>
                <a:latin typeface="Times New Roman" pitchFamily="18" charset="0"/>
                <a:ea typeface="宋体" pitchFamily="2" charset="-122"/>
              </a:rPr>
              <a:t>2.2 </a:t>
            </a:r>
            <a:r>
              <a:rPr kumimoji="1" lang="zh-CN" altLang="en-US" sz="2400" b="1" dirty="0" smtClean="0">
                <a:solidFill>
                  <a:srgbClr val="000000"/>
                </a:solidFill>
                <a:latin typeface="Times New Roman" pitchFamily="18" charset="0"/>
                <a:ea typeface="宋体" pitchFamily="2" charset="-122"/>
              </a:rPr>
              <a:t>非平衡载流子</a:t>
            </a:r>
            <a:endParaRPr kumimoji="1" lang="zh-CN" altLang="en-US" sz="2400" b="1" dirty="0">
              <a:solidFill>
                <a:srgbClr val="000000"/>
              </a:solidFill>
              <a:latin typeface="Times New Roman" pitchFamily="18" charset="0"/>
              <a:ea typeface="宋体" pitchFamily="2" charset="-122"/>
            </a:endParaRPr>
          </a:p>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a:solidFill>
                  <a:srgbClr val="000000"/>
                </a:solidFill>
                <a:latin typeface="Times New Roman" pitchFamily="18" charset="0"/>
                <a:ea typeface="宋体" pitchFamily="2" charset="-122"/>
              </a:rPr>
              <a:t>2.3 </a:t>
            </a:r>
            <a:r>
              <a:rPr kumimoji="1" lang="zh-CN" altLang="en-US" sz="2400" b="1" dirty="0" smtClean="0">
                <a:solidFill>
                  <a:srgbClr val="000000"/>
                </a:solidFill>
                <a:latin typeface="Times New Roman" pitchFamily="18" charset="0"/>
                <a:ea typeface="宋体" pitchFamily="2" charset="-122"/>
              </a:rPr>
              <a:t>光电效应</a:t>
            </a:r>
            <a:endParaRPr kumimoji="1" lang="zh-CN" altLang="en-US" sz="2400" b="1" dirty="0">
              <a:solidFill>
                <a:srgbClr val="000000"/>
              </a:solidFill>
              <a:effectLst>
                <a:outerShdw blurRad="38100" dist="38100" dir="2700000" algn="tl">
                  <a:srgbClr val="C0C0C0"/>
                </a:outerShdw>
              </a:effectLst>
              <a:latin typeface="宋体" pitchFamily="2" charset="-122"/>
              <a:ea typeface="宋体" pitchFamily="2" charset="-122"/>
            </a:endParaRPr>
          </a:p>
          <a:p>
            <a:pPr defTabSz="914400" eaLnBrk="0" fontAlgn="base" hangingPunct="0">
              <a:spcBef>
                <a:spcPts val="500"/>
              </a:spcBef>
              <a:spcAft>
                <a:spcPct val="0"/>
              </a:spcAft>
            </a:pPr>
            <a:r>
              <a:rPr kumimoji="1" lang="en-US" altLang="zh-CN" sz="2400" b="1" dirty="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a:solidFill>
                  <a:srgbClr val="000000"/>
                </a:solidFill>
                <a:latin typeface="Times New Roman" pitchFamily="18" charset="0"/>
                <a:ea typeface="宋体" pitchFamily="2" charset="-122"/>
              </a:rPr>
              <a:t>2.4 </a:t>
            </a:r>
            <a:r>
              <a:rPr kumimoji="1" lang="zh-CN" altLang="en-US" sz="2400" b="1" dirty="0" smtClean="0">
                <a:solidFill>
                  <a:srgbClr val="000000"/>
                </a:solidFill>
                <a:latin typeface="Times New Roman" pitchFamily="18" charset="0"/>
                <a:ea typeface="宋体" pitchFamily="2" charset="-122"/>
              </a:rPr>
              <a:t>半导体物理的基本方程</a:t>
            </a:r>
            <a:endParaRPr kumimoji="1" lang="en-US" altLang="zh-CN" sz="2400" b="1" dirty="0" smtClean="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26980346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79661" y="332190"/>
            <a:ext cx="4206601" cy="461665"/>
          </a:xfrm>
          <a:prstGeom prst="rect">
            <a:avLst/>
          </a:prstGeom>
        </p:spPr>
        <p:txBody>
          <a:bodyPr wrap="none">
            <a:spAutoFit/>
          </a:bodyPr>
          <a:lstStyle/>
          <a:p>
            <a:pPr lvl="0">
              <a:spcBef>
                <a:spcPct val="50000"/>
              </a:spcBef>
            </a:pPr>
            <a:r>
              <a:rPr kumimoji="1" lang="zh-CN" altLang="en-US" sz="2400" b="1" dirty="0" smtClean="0">
                <a:solidFill>
                  <a:srgbClr val="D96227"/>
                </a:solidFill>
                <a:latin typeface="Times New Roman" pitchFamily="18" charset="0"/>
                <a:ea typeface="宋体" pitchFamily="2" charset="-122"/>
                <a:cs typeface="Times New Roman" pitchFamily="18" charset="0"/>
              </a:rPr>
              <a:t>半导体物理与器件的知识结构</a:t>
            </a:r>
            <a:endParaRPr kumimoji="1" lang="en-US" altLang="zh-CN" sz="2400" b="1" dirty="0">
              <a:solidFill>
                <a:srgbClr val="D96227"/>
              </a:solidFill>
              <a:latin typeface="Times New Roman" pitchFamily="18" charset="0"/>
              <a:ea typeface="宋体" pitchFamily="2" charset="-122"/>
              <a:cs typeface="Times New Roman" pitchFamily="18" charset="0"/>
            </a:endParaRPr>
          </a:p>
        </p:txBody>
      </p:sp>
      <p:sp>
        <p:nvSpPr>
          <p:cNvPr id="42" name="Text Box 6"/>
          <p:cNvSpPr txBox="1">
            <a:spLocks noChangeArrowheads="1"/>
          </p:cNvSpPr>
          <p:nvPr/>
        </p:nvSpPr>
        <p:spPr bwMode="auto">
          <a:xfrm>
            <a:off x="1081780" y="2117181"/>
            <a:ext cx="751082" cy="33972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smtClean="0">
              <a:latin typeface="+mj-lt"/>
            </a:endParaRPr>
          </a:p>
        </p:txBody>
      </p:sp>
      <p:sp>
        <p:nvSpPr>
          <p:cNvPr id="45" name="Text Box 9"/>
          <p:cNvSpPr txBox="1">
            <a:spLocks noChangeArrowheads="1"/>
          </p:cNvSpPr>
          <p:nvPr/>
        </p:nvSpPr>
        <p:spPr bwMode="auto">
          <a:xfrm>
            <a:off x="7776552" y="5922097"/>
            <a:ext cx="1251548"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smtClean="0">
              <a:latin typeface="+mj-lt"/>
            </a:endParaRPr>
          </a:p>
        </p:txBody>
      </p:sp>
      <p:sp>
        <p:nvSpPr>
          <p:cNvPr id="46" name="Text Box 9"/>
          <p:cNvSpPr txBox="1">
            <a:spLocks noChangeArrowheads="1"/>
          </p:cNvSpPr>
          <p:nvPr/>
        </p:nvSpPr>
        <p:spPr bwMode="auto">
          <a:xfrm>
            <a:off x="7780235" y="3932007"/>
            <a:ext cx="1111340"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smtClean="0">
              <a:latin typeface="+mj-lt"/>
            </a:endParaRPr>
          </a:p>
        </p:txBody>
      </p:sp>
      <p:sp>
        <p:nvSpPr>
          <p:cNvPr id="49" name="Text Box 9"/>
          <p:cNvSpPr txBox="1">
            <a:spLocks noChangeArrowheads="1"/>
          </p:cNvSpPr>
          <p:nvPr/>
        </p:nvSpPr>
        <p:spPr bwMode="auto">
          <a:xfrm>
            <a:off x="2058159" y="5778947"/>
            <a:ext cx="903600"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smtClean="0">
              <a:latin typeface="+mj-lt"/>
            </a:endParaRPr>
          </a:p>
        </p:txBody>
      </p:sp>
      <p:sp>
        <p:nvSpPr>
          <p:cNvPr id="50" name="Text Box 9"/>
          <p:cNvSpPr txBox="1">
            <a:spLocks noChangeArrowheads="1"/>
          </p:cNvSpPr>
          <p:nvPr/>
        </p:nvSpPr>
        <p:spPr bwMode="auto">
          <a:xfrm>
            <a:off x="3244970" y="4270561"/>
            <a:ext cx="1080055"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smtClean="0">
              <a:latin typeface="+mj-lt"/>
            </a:endParaRPr>
          </a:p>
        </p:txBody>
      </p:sp>
      <p:sp>
        <p:nvSpPr>
          <p:cNvPr id="51" name="Text Box 9"/>
          <p:cNvSpPr txBox="1">
            <a:spLocks noChangeArrowheads="1"/>
          </p:cNvSpPr>
          <p:nvPr/>
        </p:nvSpPr>
        <p:spPr bwMode="auto">
          <a:xfrm>
            <a:off x="3225787" y="5149473"/>
            <a:ext cx="1092200" cy="338554"/>
          </a:xfrm>
          <a:prstGeom prst="rect">
            <a:avLst/>
          </a:prstGeom>
          <a:solidFill>
            <a:srgbClr val="00B050"/>
          </a:solidFill>
          <a:ln>
            <a:noFill/>
          </a:ln>
          <a:effectLst/>
        </p:spPr>
        <p:txBody>
          <a:bodyPr wrap="square"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endParaRPr lang="en-US" altLang="zh-CN" sz="1600" b="1" u="none" dirty="0" smtClean="0">
              <a:latin typeface="+mj-lt"/>
            </a:endParaRPr>
          </a:p>
        </p:txBody>
      </p:sp>
      <p:sp>
        <p:nvSpPr>
          <p:cNvPr id="53" name="Text Box 3"/>
          <p:cNvSpPr txBox="1">
            <a:spLocks noChangeArrowheads="1"/>
          </p:cNvSpPr>
          <p:nvPr/>
        </p:nvSpPr>
        <p:spPr bwMode="auto">
          <a:xfrm>
            <a:off x="123812" y="1299444"/>
            <a:ext cx="692150" cy="584200"/>
          </a:xfrm>
          <a:prstGeom prst="rect">
            <a:avLst/>
          </a:prstGeom>
          <a:solidFill>
            <a:srgbClr val="0070C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量子力学</a:t>
            </a:r>
            <a:endParaRPr lang="en-US" altLang="zh-CN" sz="1600" b="1" u="none" dirty="0" smtClean="0">
              <a:latin typeface="+mj-lt"/>
            </a:endParaRPr>
          </a:p>
        </p:txBody>
      </p:sp>
      <p:sp>
        <p:nvSpPr>
          <p:cNvPr id="54" name="Text Box 4"/>
          <p:cNvSpPr txBox="1">
            <a:spLocks noChangeArrowheads="1"/>
          </p:cNvSpPr>
          <p:nvPr/>
        </p:nvSpPr>
        <p:spPr bwMode="auto">
          <a:xfrm>
            <a:off x="123812" y="2131294"/>
            <a:ext cx="692150" cy="584200"/>
          </a:xfrm>
          <a:prstGeom prst="rect">
            <a:avLst/>
          </a:prstGeom>
          <a:solidFill>
            <a:srgbClr val="0070C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固体物理</a:t>
            </a:r>
            <a:endParaRPr lang="en-US" altLang="zh-CN" sz="1600" b="1" u="none" dirty="0" smtClean="0">
              <a:latin typeface="+mj-lt"/>
            </a:endParaRPr>
          </a:p>
        </p:txBody>
      </p:sp>
      <p:sp>
        <p:nvSpPr>
          <p:cNvPr id="55" name="AutoShape 5"/>
          <p:cNvSpPr>
            <a:spLocks/>
          </p:cNvSpPr>
          <p:nvPr/>
        </p:nvSpPr>
        <p:spPr bwMode="auto">
          <a:xfrm>
            <a:off x="815962" y="1567731"/>
            <a:ext cx="247650" cy="879475"/>
          </a:xfrm>
          <a:prstGeom prst="rightBrace">
            <a:avLst>
              <a:gd name="adj1" fmla="val 31961"/>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smtClean="0">
              <a:latin typeface="Arial" charset="0"/>
            </a:endParaRPr>
          </a:p>
        </p:txBody>
      </p:sp>
      <p:sp>
        <p:nvSpPr>
          <p:cNvPr id="56" name="Text Box 6"/>
          <p:cNvSpPr txBox="1">
            <a:spLocks noChangeArrowheads="1"/>
          </p:cNvSpPr>
          <p:nvPr/>
        </p:nvSpPr>
        <p:spPr bwMode="auto">
          <a:xfrm>
            <a:off x="1079487" y="1711113"/>
            <a:ext cx="746125" cy="584775"/>
          </a:xfrm>
          <a:prstGeom prst="rect">
            <a:avLst/>
          </a:prstGeom>
          <a:solidFill>
            <a:srgbClr val="00B05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能带理论</a:t>
            </a:r>
            <a:endParaRPr lang="en-US" altLang="zh-CN" sz="1600" b="1" u="none" dirty="0" smtClean="0">
              <a:latin typeface="+mj-lt"/>
            </a:endParaRPr>
          </a:p>
        </p:txBody>
      </p:sp>
      <p:sp>
        <p:nvSpPr>
          <p:cNvPr id="57" name="Text Box 7"/>
          <p:cNvSpPr txBox="1">
            <a:spLocks noChangeArrowheads="1"/>
          </p:cNvSpPr>
          <p:nvPr/>
        </p:nvSpPr>
        <p:spPr bwMode="auto">
          <a:xfrm>
            <a:off x="96825" y="2910756"/>
            <a:ext cx="719137" cy="585788"/>
          </a:xfrm>
          <a:prstGeom prst="rect">
            <a:avLst/>
          </a:prstGeom>
          <a:solidFill>
            <a:srgbClr val="0070C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统计力学</a:t>
            </a:r>
            <a:endParaRPr lang="en-US" altLang="zh-CN" sz="1600" b="1" u="none" dirty="0" smtClean="0">
              <a:latin typeface="+mj-lt"/>
            </a:endParaRPr>
          </a:p>
        </p:txBody>
      </p:sp>
      <p:sp>
        <p:nvSpPr>
          <p:cNvPr id="58" name="Line 8"/>
          <p:cNvSpPr>
            <a:spLocks noChangeShapeType="1"/>
          </p:cNvSpPr>
          <p:nvPr/>
        </p:nvSpPr>
        <p:spPr bwMode="auto">
          <a:xfrm>
            <a:off x="815962" y="3220319"/>
            <a:ext cx="274638" cy="0"/>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endParaRPr lang="zh-CN" altLang="en-US" sz="1600" b="1"/>
          </a:p>
        </p:txBody>
      </p:sp>
      <p:sp>
        <p:nvSpPr>
          <p:cNvPr id="59" name="Text Box 9"/>
          <p:cNvSpPr txBox="1">
            <a:spLocks noChangeArrowheads="1"/>
          </p:cNvSpPr>
          <p:nvPr/>
        </p:nvSpPr>
        <p:spPr bwMode="auto">
          <a:xfrm>
            <a:off x="1079487" y="2926631"/>
            <a:ext cx="727075" cy="585788"/>
          </a:xfrm>
          <a:prstGeom prst="rect">
            <a:avLst/>
          </a:prstGeom>
          <a:solidFill>
            <a:srgbClr val="00B05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分布函数</a:t>
            </a:r>
            <a:endParaRPr lang="en-US" altLang="zh-CN" sz="1600" b="1" u="none" dirty="0" smtClean="0">
              <a:latin typeface="+mj-lt"/>
            </a:endParaRPr>
          </a:p>
        </p:txBody>
      </p:sp>
      <p:sp>
        <p:nvSpPr>
          <p:cNvPr id="60" name="AutoShape 10"/>
          <p:cNvSpPr>
            <a:spLocks/>
          </p:cNvSpPr>
          <p:nvPr/>
        </p:nvSpPr>
        <p:spPr bwMode="auto">
          <a:xfrm>
            <a:off x="1831962" y="1977306"/>
            <a:ext cx="217488" cy="1309688"/>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smtClean="0">
              <a:latin typeface="Arial" charset="0"/>
            </a:endParaRPr>
          </a:p>
        </p:txBody>
      </p:sp>
      <p:sp>
        <p:nvSpPr>
          <p:cNvPr id="61" name="Text Box 11"/>
          <p:cNvSpPr txBox="1">
            <a:spLocks noChangeArrowheads="1"/>
          </p:cNvSpPr>
          <p:nvPr/>
        </p:nvSpPr>
        <p:spPr bwMode="auto">
          <a:xfrm>
            <a:off x="2076437" y="2261469"/>
            <a:ext cx="874713" cy="831850"/>
          </a:xfrm>
          <a:prstGeom prst="rect">
            <a:avLst/>
          </a:prstGeom>
          <a:solidFill>
            <a:srgbClr val="00B050"/>
          </a:solidFill>
          <a:ln>
            <a:noFill/>
          </a:ln>
          <a:effectLst/>
        </p:spPr>
        <p:txBody>
          <a:bodyPr anchor="ct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平衡态载流子浓度</a:t>
            </a:r>
            <a:endParaRPr lang="en-US" altLang="zh-CN" sz="1600" b="1" u="none" dirty="0" smtClean="0">
              <a:latin typeface="+mj-lt"/>
            </a:endParaRPr>
          </a:p>
        </p:txBody>
      </p:sp>
      <p:sp>
        <p:nvSpPr>
          <p:cNvPr id="62" name="Text Box 3"/>
          <p:cNvSpPr txBox="1">
            <a:spLocks noChangeArrowheads="1"/>
          </p:cNvSpPr>
          <p:nvPr/>
        </p:nvSpPr>
        <p:spPr bwMode="auto">
          <a:xfrm>
            <a:off x="2049450" y="3539406"/>
            <a:ext cx="895350" cy="830263"/>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产生与复合理论</a:t>
            </a:r>
            <a:endParaRPr lang="en-US" altLang="zh-CN" sz="1600" b="1" u="none" dirty="0" smtClean="0">
              <a:latin typeface="+mj-lt"/>
            </a:endParaRPr>
          </a:p>
        </p:txBody>
      </p:sp>
      <p:sp>
        <p:nvSpPr>
          <p:cNvPr id="63" name="Text Box 5"/>
          <p:cNvSpPr txBox="1">
            <a:spLocks noChangeArrowheads="1"/>
          </p:cNvSpPr>
          <p:nvPr/>
        </p:nvSpPr>
        <p:spPr bwMode="auto">
          <a:xfrm>
            <a:off x="3260712" y="2926631"/>
            <a:ext cx="1057275" cy="83185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非平衡态载</a:t>
            </a:r>
            <a:r>
              <a:rPr lang="zh-CN" altLang="en-US" sz="1600" b="1" u="none" smtClean="0">
                <a:latin typeface="+mj-lt"/>
              </a:rPr>
              <a:t>流子浓度</a:t>
            </a:r>
            <a:endParaRPr lang="en-US" altLang="zh-CN" sz="1600" b="1" u="none" dirty="0" smtClean="0">
              <a:latin typeface="+mj-lt"/>
            </a:endParaRPr>
          </a:p>
        </p:txBody>
      </p:sp>
      <p:sp>
        <p:nvSpPr>
          <p:cNvPr id="64" name="Text Box 6"/>
          <p:cNvSpPr txBox="1">
            <a:spLocks noChangeArrowheads="1"/>
          </p:cNvSpPr>
          <p:nvPr/>
        </p:nvSpPr>
        <p:spPr bwMode="auto">
          <a:xfrm>
            <a:off x="3240075" y="4167965"/>
            <a:ext cx="1077912" cy="33972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输运机制</a:t>
            </a:r>
            <a:endParaRPr lang="en-US" altLang="zh-CN" sz="1600" b="1" u="none" dirty="0" smtClean="0">
              <a:latin typeface="+mj-lt"/>
            </a:endParaRPr>
          </a:p>
        </p:txBody>
      </p:sp>
      <p:sp>
        <p:nvSpPr>
          <p:cNvPr id="65" name="Text Box 8"/>
          <p:cNvSpPr txBox="1">
            <a:spLocks noChangeArrowheads="1"/>
          </p:cNvSpPr>
          <p:nvPr/>
        </p:nvSpPr>
        <p:spPr bwMode="auto">
          <a:xfrm>
            <a:off x="4695812" y="3794180"/>
            <a:ext cx="1216025" cy="830262"/>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指定位置和时间下的载流子浓度</a:t>
            </a:r>
            <a:endParaRPr lang="en-US" altLang="zh-CN" sz="1600" b="1" u="none" dirty="0" smtClean="0">
              <a:latin typeface="+mj-lt"/>
            </a:endParaRPr>
          </a:p>
        </p:txBody>
      </p:sp>
      <p:sp>
        <p:nvSpPr>
          <p:cNvPr id="66" name="Text Box 10"/>
          <p:cNvSpPr txBox="1">
            <a:spLocks noChangeArrowheads="1"/>
          </p:cNvSpPr>
          <p:nvPr/>
        </p:nvSpPr>
        <p:spPr bwMode="auto">
          <a:xfrm>
            <a:off x="3225787" y="5057204"/>
            <a:ext cx="1092200" cy="33813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散射理论</a:t>
            </a:r>
            <a:endParaRPr lang="en-US" altLang="zh-CN" sz="1600" b="1" u="none" dirty="0" smtClean="0">
              <a:latin typeface="+mj-lt"/>
            </a:endParaRPr>
          </a:p>
        </p:txBody>
      </p:sp>
      <p:sp>
        <p:nvSpPr>
          <p:cNvPr id="67" name="AutoShape 10"/>
          <p:cNvSpPr>
            <a:spLocks/>
          </p:cNvSpPr>
          <p:nvPr/>
        </p:nvSpPr>
        <p:spPr bwMode="auto">
          <a:xfrm>
            <a:off x="2968612" y="2677394"/>
            <a:ext cx="233363" cy="1311275"/>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smtClean="0">
              <a:latin typeface="Arial" charset="0"/>
            </a:endParaRPr>
          </a:p>
        </p:txBody>
      </p:sp>
      <p:sp>
        <p:nvSpPr>
          <p:cNvPr id="68" name="AutoShape 10"/>
          <p:cNvSpPr>
            <a:spLocks/>
          </p:cNvSpPr>
          <p:nvPr/>
        </p:nvSpPr>
        <p:spPr bwMode="auto">
          <a:xfrm>
            <a:off x="4341800" y="3286994"/>
            <a:ext cx="288925" cy="1916112"/>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smtClean="0">
              <a:latin typeface="Arial" charset="0"/>
            </a:endParaRPr>
          </a:p>
        </p:txBody>
      </p:sp>
      <p:sp>
        <p:nvSpPr>
          <p:cNvPr id="69" name="Text Box 6"/>
          <p:cNvSpPr txBox="1">
            <a:spLocks noChangeArrowheads="1"/>
          </p:cNvSpPr>
          <p:nvPr/>
        </p:nvSpPr>
        <p:spPr bwMode="auto">
          <a:xfrm>
            <a:off x="4671789" y="5246325"/>
            <a:ext cx="1209675" cy="58477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半导体物理基本方程</a:t>
            </a:r>
            <a:endParaRPr lang="en-US" altLang="zh-CN" sz="1600" b="1" u="none" dirty="0" smtClean="0">
              <a:latin typeface="+mj-lt"/>
            </a:endParaRPr>
          </a:p>
        </p:txBody>
      </p:sp>
      <p:sp>
        <p:nvSpPr>
          <p:cNvPr id="70" name="AutoShape 7"/>
          <p:cNvSpPr>
            <a:spLocks/>
          </p:cNvSpPr>
          <p:nvPr/>
        </p:nvSpPr>
        <p:spPr bwMode="auto">
          <a:xfrm flipH="1">
            <a:off x="7512037" y="3825156"/>
            <a:ext cx="233363" cy="2060575"/>
          </a:xfrm>
          <a:prstGeom prst="rightBrace">
            <a:avLst>
              <a:gd name="adj1" fmla="val 91192"/>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800" smtClean="0">
              <a:latin typeface="Arial" charset="0"/>
            </a:endParaRPr>
          </a:p>
        </p:txBody>
      </p:sp>
      <p:sp>
        <p:nvSpPr>
          <p:cNvPr id="71" name="Text Box 8"/>
          <p:cNvSpPr txBox="1">
            <a:spLocks noChangeArrowheads="1"/>
          </p:cNvSpPr>
          <p:nvPr/>
        </p:nvSpPr>
        <p:spPr bwMode="auto">
          <a:xfrm>
            <a:off x="6262675" y="4591919"/>
            <a:ext cx="1214437" cy="58578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algn="ctr" eaLnBrk="1" fontAlgn="ctr" hangingPunct="1">
              <a:spcBef>
                <a:spcPct val="50000"/>
              </a:spcBef>
              <a:buFontTx/>
              <a:buNone/>
              <a:defRPr/>
            </a:pPr>
            <a:r>
              <a:rPr lang="zh-CN" altLang="en-US" sz="1600" b="1" u="none" dirty="0" smtClean="0"/>
              <a:t>指定地点和时间的电流</a:t>
            </a:r>
            <a:endParaRPr lang="en-US" altLang="zh-CN" sz="1600" b="1" u="none" dirty="0" smtClean="0"/>
          </a:p>
        </p:txBody>
      </p:sp>
      <p:sp>
        <p:nvSpPr>
          <p:cNvPr id="72" name="Text Box 11"/>
          <p:cNvSpPr txBox="1">
            <a:spLocks noChangeArrowheads="1"/>
          </p:cNvSpPr>
          <p:nvPr/>
        </p:nvSpPr>
        <p:spPr bwMode="auto">
          <a:xfrm>
            <a:off x="7769212" y="3575919"/>
            <a:ext cx="1122363" cy="58578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en-US" altLang="zh-CN" sz="1600" b="1" u="none" dirty="0" smtClean="0">
                <a:latin typeface="+mj-lt"/>
              </a:rPr>
              <a:t>PN</a:t>
            </a:r>
            <a:r>
              <a:rPr lang="zh-CN" altLang="en-US" sz="1600" b="1" u="none" dirty="0" smtClean="0">
                <a:latin typeface="+mj-lt"/>
              </a:rPr>
              <a:t>结合二极管</a:t>
            </a:r>
            <a:endParaRPr lang="en-US" altLang="zh-CN" sz="1600" b="1" u="none" dirty="0" smtClean="0">
              <a:latin typeface="+mj-lt"/>
            </a:endParaRPr>
          </a:p>
        </p:txBody>
      </p:sp>
      <p:sp>
        <p:nvSpPr>
          <p:cNvPr id="73" name="Text Box 12"/>
          <p:cNvSpPr txBox="1">
            <a:spLocks noChangeArrowheads="1"/>
          </p:cNvSpPr>
          <p:nvPr/>
        </p:nvSpPr>
        <p:spPr bwMode="auto">
          <a:xfrm>
            <a:off x="7769212" y="4610969"/>
            <a:ext cx="1122363" cy="585787"/>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en-US" altLang="zh-CN" sz="1600" b="1" u="none" dirty="0" smtClean="0">
                <a:latin typeface="+mj-lt"/>
              </a:rPr>
              <a:t>BJT</a:t>
            </a:r>
            <a:r>
              <a:rPr lang="zh-CN" altLang="en-US" sz="1600" b="1" u="none" dirty="0" smtClean="0">
                <a:latin typeface="+mj-lt"/>
              </a:rPr>
              <a:t>双极结型晶体管</a:t>
            </a:r>
            <a:endParaRPr lang="en-US" altLang="zh-CN" sz="1600" b="1" u="none" dirty="0" smtClean="0">
              <a:latin typeface="+mj-lt"/>
            </a:endParaRPr>
          </a:p>
        </p:txBody>
      </p:sp>
      <p:sp>
        <p:nvSpPr>
          <p:cNvPr id="74" name="Text Box 13"/>
          <p:cNvSpPr txBox="1">
            <a:spLocks noChangeArrowheads="1"/>
          </p:cNvSpPr>
          <p:nvPr/>
        </p:nvSpPr>
        <p:spPr bwMode="auto">
          <a:xfrm>
            <a:off x="7770800" y="5566644"/>
            <a:ext cx="1257300" cy="58420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en-US" altLang="zh-CN" sz="1600" b="1" u="none" dirty="0" smtClean="0">
                <a:latin typeface="+mj-lt"/>
              </a:rPr>
              <a:t>MOSFET</a:t>
            </a:r>
            <a:r>
              <a:rPr lang="zh-CN" altLang="en-US" sz="1600" b="1" u="none" dirty="0" smtClean="0">
                <a:latin typeface="+mj-lt"/>
              </a:rPr>
              <a:t>场效应晶体管</a:t>
            </a:r>
            <a:endParaRPr lang="en-US" altLang="zh-CN" sz="1600" b="1" u="none" dirty="0" smtClean="0">
              <a:latin typeface="+mj-lt"/>
            </a:endParaRPr>
          </a:p>
        </p:txBody>
      </p:sp>
      <p:sp>
        <p:nvSpPr>
          <p:cNvPr id="75" name="AutoShape 10"/>
          <p:cNvSpPr>
            <a:spLocks/>
          </p:cNvSpPr>
          <p:nvPr/>
        </p:nvSpPr>
        <p:spPr bwMode="auto">
          <a:xfrm>
            <a:off x="5910250" y="4182437"/>
            <a:ext cx="288925" cy="1384208"/>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smtClean="0">
              <a:latin typeface="Arial" charset="0"/>
            </a:endParaRPr>
          </a:p>
        </p:txBody>
      </p:sp>
      <p:sp>
        <p:nvSpPr>
          <p:cNvPr id="80" name="Text Box 6"/>
          <p:cNvSpPr txBox="1">
            <a:spLocks noChangeArrowheads="1"/>
          </p:cNvSpPr>
          <p:nvPr/>
        </p:nvSpPr>
        <p:spPr bwMode="auto">
          <a:xfrm>
            <a:off x="2033051" y="4691089"/>
            <a:ext cx="905492" cy="33972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声子</a:t>
            </a:r>
            <a:endParaRPr lang="en-US" altLang="zh-CN" sz="1600" b="1" u="none" dirty="0" smtClean="0">
              <a:latin typeface="+mj-lt"/>
            </a:endParaRPr>
          </a:p>
        </p:txBody>
      </p:sp>
      <p:sp>
        <p:nvSpPr>
          <p:cNvPr id="81" name="AutoShape 10"/>
          <p:cNvSpPr>
            <a:spLocks/>
          </p:cNvSpPr>
          <p:nvPr/>
        </p:nvSpPr>
        <p:spPr bwMode="auto">
          <a:xfrm>
            <a:off x="2950449" y="4866863"/>
            <a:ext cx="233363" cy="822471"/>
          </a:xfrm>
          <a:prstGeom prst="rightBrace">
            <a:avLst>
              <a:gd name="adj1" fmla="val 42400"/>
              <a:gd name="adj2" fmla="val 50000"/>
            </a:avLst>
          </a:prstGeom>
          <a:noFill/>
          <a:ln w="476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Font typeface="Arial" charset="0"/>
              <a:buChar char="•"/>
              <a:defRPr sz="3200">
                <a:solidFill>
                  <a:schemeClr val="tx1"/>
                </a:solidFill>
                <a:latin typeface="Calibri" charset="0"/>
                <a:ea typeface="宋体" charset="-122"/>
              </a:defRPr>
            </a:lvl1pPr>
            <a:lvl2pPr marL="742950" indent="-285750">
              <a:spcBef>
                <a:spcPct val="20000"/>
              </a:spcBef>
              <a:buFont typeface="Arial" charset="0"/>
              <a:buChar char="–"/>
              <a:defRPr sz="2800">
                <a:solidFill>
                  <a:schemeClr val="tx1"/>
                </a:solidFill>
                <a:latin typeface="Calibri" charset="0"/>
                <a:ea typeface="宋体" charset="-122"/>
              </a:defRPr>
            </a:lvl2pPr>
            <a:lvl3pPr marL="1143000" indent="-228600">
              <a:spcBef>
                <a:spcPct val="20000"/>
              </a:spcBef>
              <a:buFont typeface="Arial" charset="0"/>
              <a:buChar char="•"/>
              <a:defRPr sz="2400">
                <a:solidFill>
                  <a:schemeClr val="tx1"/>
                </a:solidFill>
                <a:latin typeface="Calibri" charset="0"/>
                <a:ea typeface="宋体" charset="-122"/>
              </a:defRPr>
            </a:lvl3pPr>
            <a:lvl4pPr marL="1600200" indent="-228600">
              <a:spcBef>
                <a:spcPct val="20000"/>
              </a:spcBef>
              <a:buFont typeface="Arial" charset="0"/>
              <a:buChar char="–"/>
              <a:defRPr sz="2000">
                <a:solidFill>
                  <a:schemeClr val="tx1"/>
                </a:solidFill>
                <a:latin typeface="Calibri" charset="0"/>
                <a:ea typeface="宋体" charset="-122"/>
              </a:defRPr>
            </a:lvl4pPr>
            <a:lvl5pPr marL="2057400" indent="-228600">
              <a:spcBef>
                <a:spcPct val="20000"/>
              </a:spcBef>
              <a:buFont typeface="Arial" charset="0"/>
              <a:buChar char="»"/>
              <a:defRPr sz="2000">
                <a:solidFill>
                  <a:schemeClr val="tx1"/>
                </a:solidFill>
                <a:latin typeface="Calibri"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charset="0"/>
                <a:ea typeface="宋体" charset="-122"/>
              </a:defRPr>
            </a:lvl9pPr>
          </a:lstStyle>
          <a:p>
            <a:pPr eaLnBrk="1" hangingPunct="1">
              <a:spcBef>
                <a:spcPct val="0"/>
              </a:spcBef>
              <a:buFontTx/>
              <a:buNone/>
              <a:defRPr/>
            </a:pPr>
            <a:endParaRPr lang="zh-CN" altLang="en-US" sz="1600" b="1" smtClean="0">
              <a:latin typeface="Arial" charset="0"/>
            </a:endParaRPr>
          </a:p>
        </p:txBody>
      </p:sp>
      <p:sp>
        <p:nvSpPr>
          <p:cNvPr id="82" name="Text Box 6"/>
          <p:cNvSpPr txBox="1">
            <a:spLocks noChangeArrowheads="1"/>
          </p:cNvSpPr>
          <p:nvPr/>
        </p:nvSpPr>
        <p:spPr bwMode="auto">
          <a:xfrm>
            <a:off x="2054494" y="5415506"/>
            <a:ext cx="905492" cy="58477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u="sng">
                <a:solidFill>
                  <a:schemeClr val="tx1"/>
                </a:solidFill>
                <a:latin typeface="Arial" panose="020B0604020202020204" pitchFamily="34" charset="0"/>
                <a:ea typeface="宋体" panose="02010600030101010101" pitchFamily="2" charset="-122"/>
              </a:defRPr>
            </a:lvl1pPr>
            <a:lvl2pPr marL="742950" indent="-285750" eaLnBrk="0" hangingPunct="0">
              <a:defRPr u="sng">
                <a:solidFill>
                  <a:schemeClr val="tx1"/>
                </a:solidFill>
                <a:latin typeface="Arial" panose="020B0604020202020204" pitchFamily="34" charset="0"/>
                <a:ea typeface="宋体" panose="02010600030101010101" pitchFamily="2" charset="-122"/>
              </a:defRPr>
            </a:lvl2pPr>
            <a:lvl3pPr marL="1143000" indent="-228600" eaLnBrk="0" hangingPunct="0">
              <a:defRPr u="sng">
                <a:solidFill>
                  <a:schemeClr val="tx1"/>
                </a:solidFill>
                <a:latin typeface="Arial" panose="020B0604020202020204" pitchFamily="34" charset="0"/>
                <a:ea typeface="宋体" panose="02010600030101010101" pitchFamily="2" charset="-122"/>
              </a:defRPr>
            </a:lvl3pPr>
            <a:lvl4pPr marL="1600200" indent="-228600" eaLnBrk="0" hangingPunct="0">
              <a:defRPr u="sng">
                <a:solidFill>
                  <a:schemeClr val="tx1"/>
                </a:solidFill>
                <a:latin typeface="Arial" panose="020B0604020202020204" pitchFamily="34" charset="0"/>
                <a:ea typeface="宋体" panose="02010600030101010101" pitchFamily="2" charset="-122"/>
              </a:defRPr>
            </a:lvl4pPr>
            <a:lvl5pPr marL="2057400" indent="-228600" eaLnBrk="0" hangingPunc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lgn="ctr" eaLnBrk="1" fontAlgn="ctr" hangingPunct="1">
              <a:spcBef>
                <a:spcPct val="50000"/>
              </a:spcBef>
              <a:defRPr/>
            </a:pPr>
            <a:r>
              <a:rPr lang="zh-CN" altLang="en-US" sz="1600" b="1" u="none" dirty="0" smtClean="0">
                <a:latin typeface="+mj-lt"/>
              </a:rPr>
              <a:t>晶体缺陷理论</a:t>
            </a:r>
            <a:endParaRPr lang="en-US" altLang="zh-CN" sz="1600" b="1" u="none" dirty="0" smtClean="0">
              <a:latin typeface="+mj-lt"/>
            </a:endParaRPr>
          </a:p>
        </p:txBody>
      </p:sp>
      <p:sp>
        <p:nvSpPr>
          <p:cNvPr id="83" name="灯片编号占位符 82"/>
          <p:cNvSpPr>
            <a:spLocks noGrp="1"/>
          </p:cNvSpPr>
          <p:nvPr>
            <p:ph type="sldNum" sz="quarter" idx="12"/>
          </p:nvPr>
        </p:nvSpPr>
        <p:spPr/>
        <p:txBody>
          <a:bodyPr/>
          <a:lstStyle/>
          <a:p>
            <a:fld id="{B6DE0A5B-1E35-4081-8D72-3B0687A5C65D}" type="slidenum">
              <a:rPr lang="zh-CN" altLang="en-US" smtClean="0"/>
              <a:t>2</a:t>
            </a:fld>
            <a:endParaRPr lang="zh-CN" altLang="en-US"/>
          </a:p>
        </p:txBody>
      </p:sp>
    </p:spTree>
    <p:extLst>
      <p:ext uri="{BB962C8B-B14F-4D97-AF65-F5344CB8AC3E}">
        <p14:creationId xmlns:p14="http://schemas.microsoft.com/office/powerpoint/2010/main" val="2277726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a:t>
            </a:fld>
            <a:endParaRPr lang="zh-CN" altLang="en-US"/>
          </a:p>
        </p:txBody>
      </p:sp>
      <p:sp>
        <p:nvSpPr>
          <p:cNvPr id="4" name="Rectangle 4"/>
          <p:cNvSpPr>
            <a:spLocks noChangeArrowheads="1"/>
          </p:cNvSpPr>
          <p:nvPr/>
        </p:nvSpPr>
        <p:spPr bwMode="auto">
          <a:xfrm>
            <a:off x="2096219" y="295910"/>
            <a:ext cx="4887194"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一</a:t>
            </a:r>
            <a:r>
              <a:rPr kumimoji="1" lang="zh-CN" altLang="en-US" sz="3600" b="1" dirty="0" smtClean="0">
                <a:solidFill>
                  <a:srgbClr val="FF6600"/>
                </a:solidFill>
                <a:latin typeface="Times New Roman" pitchFamily="18" charset="0"/>
                <a:ea typeface="宋体" pitchFamily="2" charset="-122"/>
              </a:rPr>
              <a:t>、载流子输运与散射</a:t>
            </a:r>
            <a:endParaRPr kumimoji="1" lang="zh-CN" altLang="en-US" sz="3600" b="1" dirty="0">
              <a:solidFill>
                <a:srgbClr val="FF6600"/>
              </a:solidFill>
              <a:latin typeface="Times New Roman" pitchFamily="18" charset="0"/>
              <a:ea typeface="宋体" pitchFamily="2" charset="-122"/>
            </a:endParaRPr>
          </a:p>
        </p:txBody>
      </p:sp>
      <p:sp>
        <p:nvSpPr>
          <p:cNvPr id="5" name="矩形 4"/>
          <p:cNvSpPr/>
          <p:nvPr/>
        </p:nvSpPr>
        <p:spPr>
          <a:xfrm>
            <a:off x="539750" y="1281034"/>
            <a:ext cx="4331635"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1</a:t>
            </a:r>
            <a:r>
              <a:rPr kumimoji="1" lang="zh-CN" altLang="en-US" sz="2800" b="1" dirty="0" smtClean="0">
                <a:solidFill>
                  <a:srgbClr val="D96227"/>
                </a:solidFill>
                <a:latin typeface="Times New Roman" pitchFamily="18" charset="0"/>
                <a:ea typeface="宋体" pitchFamily="2" charset="-122"/>
                <a:cs typeface="Times New Roman" pitchFamily="18" charset="0"/>
              </a:rPr>
              <a:t>、载流子的微观运动行为</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14" name="Text Box 6"/>
          <p:cNvSpPr txBox="1">
            <a:spLocks noChangeArrowheads="1"/>
          </p:cNvSpPr>
          <p:nvPr/>
        </p:nvSpPr>
        <p:spPr bwMode="auto">
          <a:xfrm>
            <a:off x="539750" y="2519363"/>
            <a:ext cx="8064500" cy="2049462"/>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20000"/>
              </a:lnSpc>
              <a:spcBef>
                <a:spcPct val="50000"/>
              </a:spcBef>
              <a:spcAft>
                <a:spcPct val="0"/>
              </a:spcAft>
            </a:pPr>
            <a:r>
              <a:rPr kumimoji="1" lang="zh-CN" altLang="en-US" sz="2400" b="1">
                <a:solidFill>
                  <a:srgbClr val="000000"/>
                </a:solidFill>
                <a:latin typeface="Times New Roman" pitchFamily="18" charset="0"/>
                <a:ea typeface="宋体" charset="-122"/>
              </a:rPr>
              <a:t>随机的热运动是半导体载流子（导带电子和价带空穴）微观运动的基本形式；</a:t>
            </a:r>
          </a:p>
          <a:p>
            <a:pPr defTabSz="914400" eaLnBrk="0" fontAlgn="base" hangingPunct="0">
              <a:lnSpc>
                <a:spcPct val="120000"/>
              </a:lnSpc>
              <a:spcBef>
                <a:spcPts val="1000"/>
              </a:spcBef>
              <a:spcAft>
                <a:spcPct val="0"/>
              </a:spcAft>
            </a:pPr>
            <a:r>
              <a:rPr kumimoji="1" lang="zh-CN" altLang="en-US" sz="2400" b="1">
                <a:solidFill>
                  <a:srgbClr val="000000"/>
                </a:solidFill>
                <a:latin typeface="Times New Roman" pitchFamily="18" charset="0"/>
                <a:ea typeface="宋体" charset="-122"/>
              </a:rPr>
              <a:t>在热平衡条件下，按照统计物理规律，载流子的平均动能与其热能（</a:t>
            </a:r>
            <a:r>
              <a:rPr kumimoji="1" lang="en-US" altLang="zh-CN" sz="2400" b="1">
                <a:solidFill>
                  <a:srgbClr val="000000"/>
                </a:solidFill>
                <a:latin typeface="Times New Roman" pitchFamily="18" charset="0"/>
                <a:ea typeface="宋体" charset="-122"/>
              </a:rPr>
              <a:t>Thermal Energy</a:t>
            </a:r>
            <a:r>
              <a:rPr kumimoji="1" lang="zh-CN" altLang="en-US" sz="2400" b="1">
                <a:solidFill>
                  <a:srgbClr val="000000"/>
                </a:solidFill>
                <a:latin typeface="Times New Roman" pitchFamily="18" charset="0"/>
                <a:ea typeface="宋体" charset="-122"/>
              </a:rPr>
              <a:t>）</a:t>
            </a:r>
            <a:r>
              <a:rPr kumimoji="1" lang="en-US" altLang="zh-CN" sz="2400" b="1" i="1">
                <a:solidFill>
                  <a:srgbClr val="000000"/>
                </a:solidFill>
                <a:latin typeface="Times New Roman" pitchFamily="18" charset="0"/>
                <a:ea typeface="宋体" charset="-122"/>
              </a:rPr>
              <a:t>kT </a:t>
            </a:r>
            <a:r>
              <a:rPr kumimoji="1" lang="zh-CN" altLang="en-US" sz="2400" b="1">
                <a:solidFill>
                  <a:srgbClr val="000000"/>
                </a:solidFill>
                <a:latin typeface="Times New Roman" pitchFamily="18" charset="0"/>
                <a:ea typeface="宋体" charset="-122"/>
              </a:rPr>
              <a:t>相关，三维运动情形下：</a:t>
            </a:r>
          </a:p>
        </p:txBody>
      </p:sp>
      <p:sp>
        <p:nvSpPr>
          <p:cNvPr id="15" name="Text Box 8"/>
          <p:cNvSpPr txBox="1">
            <a:spLocks noChangeArrowheads="1"/>
          </p:cNvSpPr>
          <p:nvPr/>
        </p:nvSpPr>
        <p:spPr bwMode="auto">
          <a:xfrm>
            <a:off x="2430463" y="5365750"/>
            <a:ext cx="4284662" cy="958850"/>
          </a:xfrm>
          <a:prstGeom prst="rect">
            <a:avLst/>
          </a:prstGeom>
          <a:noFill/>
          <a:ln w="12700" cap="sq">
            <a:noFill/>
            <a:miter lim="800000"/>
            <a:headEnd type="none" w="sm" len="sm"/>
            <a:tailEnd type="none" w="sm" len="sm"/>
          </a:ln>
        </p:spPr>
        <p:txBody>
          <a:bodyPr>
            <a:spAutoFit/>
          </a:bodyPr>
          <a:lstStyle/>
          <a:p>
            <a:pPr algn="ctr" defTabSz="914400" eaLnBrk="0" fontAlgn="base" hangingPunct="0">
              <a:spcBef>
                <a:spcPts val="800"/>
              </a:spcBef>
              <a:spcAft>
                <a:spcPct val="0"/>
              </a:spcAft>
            </a:pPr>
            <a:r>
              <a:rPr kumimoji="1" lang="zh-CN" altLang="en-US" sz="2400" b="1">
                <a:solidFill>
                  <a:srgbClr val="000000"/>
                </a:solidFill>
                <a:latin typeface="Times New Roman" pitchFamily="18" charset="0"/>
                <a:ea typeface="宋体" charset="-122"/>
              </a:rPr>
              <a:t>其中，</a:t>
            </a:r>
            <a:r>
              <a:rPr kumimoji="1" lang="en-US" altLang="zh-CN" sz="2400" b="1" i="1">
                <a:solidFill>
                  <a:srgbClr val="000000"/>
                </a:solidFill>
                <a:latin typeface="Times New Roman" pitchFamily="18" charset="0"/>
                <a:ea typeface="宋体" charset="-122"/>
              </a:rPr>
              <a:t>m</a:t>
            </a:r>
            <a:r>
              <a:rPr kumimoji="1" lang="en-US" altLang="zh-CN" sz="2400" b="1" i="1" baseline="-25000">
                <a:solidFill>
                  <a:srgbClr val="000000"/>
                </a:solidFill>
                <a:latin typeface="Times New Roman" pitchFamily="18" charset="0"/>
                <a:ea typeface="宋体" charset="-122"/>
              </a:rPr>
              <a:t>n</a:t>
            </a:r>
            <a:r>
              <a:rPr kumimoji="1" lang="zh-CN" altLang="en-US" sz="2400" b="1">
                <a:solidFill>
                  <a:srgbClr val="000000"/>
                </a:solidFill>
                <a:latin typeface="Times New Roman" pitchFamily="18" charset="0"/>
                <a:ea typeface="宋体" charset="-122"/>
              </a:rPr>
              <a:t>是载流子的有效质量</a:t>
            </a:r>
          </a:p>
          <a:p>
            <a:pPr algn="ctr" defTabSz="914400" eaLnBrk="0" fontAlgn="base" hangingPunct="0">
              <a:spcBef>
                <a:spcPts val="800"/>
              </a:spcBef>
              <a:spcAft>
                <a:spcPct val="0"/>
              </a:spcAft>
            </a:pPr>
            <a:r>
              <a:rPr kumimoji="1" lang="en-US" altLang="zh-CN" sz="2400" b="1" i="1">
                <a:solidFill>
                  <a:srgbClr val="FF3300"/>
                </a:solidFill>
                <a:latin typeface="Times New Roman" pitchFamily="18" charset="0"/>
                <a:ea typeface="宋体" charset="-122"/>
              </a:rPr>
              <a:t>V</a:t>
            </a:r>
            <a:r>
              <a:rPr kumimoji="1" lang="en-US" altLang="zh-CN" sz="2400" b="1" i="1" baseline="-25000">
                <a:solidFill>
                  <a:srgbClr val="FF3300"/>
                </a:solidFill>
                <a:latin typeface="Times New Roman" pitchFamily="18" charset="0"/>
                <a:ea typeface="宋体" charset="-122"/>
              </a:rPr>
              <a:t>th</a:t>
            </a:r>
            <a:r>
              <a:rPr kumimoji="1" lang="zh-CN" altLang="en-US" sz="2400" b="1">
                <a:solidFill>
                  <a:srgbClr val="FF3300"/>
                </a:solidFill>
                <a:latin typeface="Times New Roman" pitchFamily="18" charset="0"/>
                <a:ea typeface="宋体" charset="-122"/>
              </a:rPr>
              <a:t>～</a:t>
            </a:r>
            <a:r>
              <a:rPr kumimoji="1" lang="en-US" altLang="zh-CN" sz="2400" b="1">
                <a:solidFill>
                  <a:srgbClr val="FF3300"/>
                </a:solidFill>
                <a:latin typeface="Times New Roman" pitchFamily="18" charset="0"/>
                <a:ea typeface="宋体" charset="-122"/>
              </a:rPr>
              <a:t>10</a:t>
            </a:r>
            <a:r>
              <a:rPr kumimoji="1" lang="en-US" altLang="zh-CN" sz="2400" b="1" baseline="30000">
                <a:solidFill>
                  <a:srgbClr val="FF3300"/>
                </a:solidFill>
                <a:latin typeface="Times New Roman" pitchFamily="18" charset="0"/>
                <a:ea typeface="宋体" charset="-122"/>
              </a:rPr>
              <a:t>7</a:t>
            </a:r>
            <a:r>
              <a:rPr kumimoji="1" lang="en-US" altLang="zh-CN" sz="2400" b="1">
                <a:solidFill>
                  <a:srgbClr val="FF3300"/>
                </a:solidFill>
                <a:latin typeface="Times New Roman" pitchFamily="18" charset="0"/>
                <a:ea typeface="宋体" charset="-122"/>
              </a:rPr>
              <a:t> cm/sec. @300K</a:t>
            </a:r>
          </a:p>
        </p:txBody>
      </p:sp>
      <p:sp>
        <p:nvSpPr>
          <p:cNvPr id="16" name="Rectangle 14"/>
          <p:cNvSpPr>
            <a:spLocks noChangeArrowheads="1"/>
          </p:cNvSpPr>
          <p:nvPr/>
        </p:nvSpPr>
        <p:spPr bwMode="auto">
          <a:xfrm>
            <a:off x="510254" y="1911965"/>
            <a:ext cx="8280400" cy="457200"/>
          </a:xfrm>
          <a:prstGeom prst="rect">
            <a:avLst/>
          </a:prstGeom>
          <a:noFill/>
          <a:ln w="9525">
            <a:noFill/>
            <a:miter lim="800000"/>
            <a:headEnd/>
            <a:tailEnd/>
          </a:ln>
        </p:spPr>
        <p:txBody>
          <a:bodyPr>
            <a:spAutoFit/>
          </a:bodyPr>
          <a:lstStyle/>
          <a:p>
            <a:pPr defTabSz="914400" fontAlgn="base">
              <a:spcBef>
                <a:spcPct val="0"/>
              </a:spcBef>
              <a:spcAft>
                <a:spcPct val="0"/>
              </a:spcAft>
            </a:pPr>
            <a:r>
              <a:rPr kumimoji="1" lang="zh-CN" altLang="en-US" sz="2400" b="1" dirty="0">
                <a:solidFill>
                  <a:srgbClr val="000000"/>
                </a:solidFill>
                <a:latin typeface="Times New Roman" pitchFamily="18" charset="0"/>
                <a:ea typeface="宋体" charset="-122"/>
              </a:rPr>
              <a:t>半导体中载流子微观运动的基本形式包括：</a:t>
            </a:r>
            <a:r>
              <a:rPr kumimoji="1" lang="zh-CN" altLang="en-US" sz="2400" b="1" dirty="0">
                <a:solidFill>
                  <a:srgbClr val="FF3300"/>
                </a:solidFill>
                <a:latin typeface="Times New Roman" pitchFamily="18" charset="0"/>
                <a:ea typeface="宋体" charset="-122"/>
              </a:rPr>
              <a:t>热运动</a:t>
            </a:r>
            <a:r>
              <a:rPr kumimoji="1" lang="zh-CN" altLang="en-US" sz="2400" b="1" dirty="0">
                <a:solidFill>
                  <a:srgbClr val="000000"/>
                </a:solidFill>
                <a:latin typeface="Times New Roman" pitchFamily="18" charset="0"/>
                <a:ea typeface="宋体" charset="-122"/>
              </a:rPr>
              <a:t>和</a:t>
            </a:r>
            <a:r>
              <a:rPr kumimoji="1" lang="zh-CN" altLang="en-US" sz="2400" b="1" dirty="0">
                <a:solidFill>
                  <a:srgbClr val="FF3300"/>
                </a:solidFill>
                <a:latin typeface="Times New Roman" pitchFamily="18" charset="0"/>
                <a:ea typeface="宋体" charset="-122"/>
              </a:rPr>
              <a:t>散射</a:t>
            </a:r>
            <a:r>
              <a:rPr kumimoji="1" lang="zh-CN" altLang="en-US" sz="2400" b="1" dirty="0">
                <a:solidFill>
                  <a:srgbClr val="000000"/>
                </a:solidFill>
                <a:latin typeface="Times New Roman" pitchFamily="18" charset="0"/>
                <a:ea typeface="宋体" charset="-122"/>
              </a:rPr>
              <a:t>。</a:t>
            </a:r>
          </a:p>
        </p:txBody>
      </p:sp>
      <p:graphicFrame>
        <p:nvGraphicFramePr>
          <p:cNvPr id="17" name="对象 1"/>
          <p:cNvGraphicFramePr>
            <a:graphicFrameLocks noChangeAspect="1"/>
          </p:cNvGraphicFramePr>
          <p:nvPr/>
        </p:nvGraphicFramePr>
        <p:xfrm>
          <a:off x="3530600" y="4541838"/>
          <a:ext cx="2120900" cy="733425"/>
        </p:xfrm>
        <a:graphic>
          <a:graphicData uri="http://schemas.openxmlformats.org/presentationml/2006/ole">
            <mc:AlternateContent xmlns:mc="http://schemas.openxmlformats.org/markup-compatibility/2006">
              <mc:Choice xmlns:v="urn:schemas-microsoft-com:vml" Requires="v">
                <p:oleObj spid="_x0000_s10274" name="Equation" r:id="rId3" imgW="939392" imgH="393529" progId="Equation.DSMT4">
                  <p:embed/>
                </p:oleObj>
              </mc:Choice>
              <mc:Fallback>
                <p:oleObj name="Equation" r:id="rId3" imgW="939392" imgH="393529" progId="Equation.DSMT4">
                  <p:embed/>
                  <p:pic>
                    <p:nvPicPr>
                      <p:cNvPr id="5127"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0600" y="4541838"/>
                        <a:ext cx="2120900" cy="733425"/>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27829850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a:t>
            </a:fld>
            <a:endParaRPr lang="zh-CN" altLang="en-US"/>
          </a:p>
        </p:txBody>
      </p:sp>
      <p:pic>
        <p:nvPicPr>
          <p:cNvPr id="3" name="Picture 9"/>
          <p:cNvPicPr>
            <a:picLocks noChangeAspect="1" noChangeArrowheads="1"/>
          </p:cNvPicPr>
          <p:nvPr/>
        </p:nvPicPr>
        <p:blipFill>
          <a:blip r:embed="rId2" cstate="print"/>
          <a:srcRect/>
          <a:stretch>
            <a:fillRect/>
          </a:stretch>
        </p:blipFill>
        <p:spPr bwMode="auto">
          <a:xfrm>
            <a:off x="5854450" y="2145847"/>
            <a:ext cx="3060734" cy="2106964"/>
          </a:xfrm>
          <a:prstGeom prst="rect">
            <a:avLst/>
          </a:prstGeom>
          <a:noFill/>
          <a:ln w="9525">
            <a:noFill/>
            <a:miter lim="800000"/>
            <a:headEnd/>
            <a:tailEnd/>
          </a:ln>
        </p:spPr>
      </p:pic>
      <p:sp>
        <p:nvSpPr>
          <p:cNvPr id="4" name="Text Box 8"/>
          <p:cNvSpPr txBox="1">
            <a:spLocks noChangeArrowheads="1"/>
          </p:cNvSpPr>
          <p:nvPr/>
        </p:nvSpPr>
        <p:spPr bwMode="auto">
          <a:xfrm>
            <a:off x="382434" y="1192625"/>
            <a:ext cx="8281988" cy="96837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20000"/>
              </a:lnSpc>
              <a:spcBef>
                <a:spcPct val="50000"/>
              </a:spcBef>
              <a:spcAft>
                <a:spcPct val="0"/>
              </a:spcAft>
            </a:pPr>
            <a:r>
              <a:rPr kumimoji="1" lang="zh-CN" altLang="en-US" sz="2400" b="1" dirty="0">
                <a:solidFill>
                  <a:srgbClr val="000000"/>
                </a:solidFill>
                <a:latin typeface="Times New Roman" pitchFamily="18" charset="0"/>
                <a:ea typeface="宋体" charset="-122"/>
              </a:rPr>
              <a:t>热平衡时，载流子的运动是</a:t>
            </a:r>
            <a:r>
              <a:rPr kumimoji="1" lang="zh-CN" altLang="en-US" sz="2400" b="1" dirty="0">
                <a:solidFill>
                  <a:srgbClr val="3333CC"/>
                </a:solidFill>
                <a:latin typeface="Times New Roman" pitchFamily="18" charset="0"/>
                <a:ea typeface="宋体" charset="-122"/>
              </a:rPr>
              <a:t>完全</a:t>
            </a:r>
            <a:r>
              <a:rPr kumimoji="1" lang="zh-CN" altLang="en-US" sz="2400" b="1" dirty="0">
                <a:solidFill>
                  <a:srgbClr val="000000"/>
                </a:solidFill>
                <a:latin typeface="Times New Roman" pitchFamily="18" charset="0"/>
                <a:ea typeface="宋体" charset="-122"/>
              </a:rPr>
              <a:t>随机的热运动；在热运动过程中，载流子将遭遇各种类型（散射机制）散射的作用。</a:t>
            </a:r>
          </a:p>
        </p:txBody>
      </p:sp>
      <p:sp>
        <p:nvSpPr>
          <p:cNvPr id="5" name="Text Box 10"/>
          <p:cNvSpPr txBox="1">
            <a:spLocks noChangeArrowheads="1"/>
          </p:cNvSpPr>
          <p:nvPr/>
        </p:nvSpPr>
        <p:spPr bwMode="auto">
          <a:xfrm>
            <a:off x="517449" y="2271219"/>
            <a:ext cx="5337395" cy="2529923"/>
          </a:xfrm>
          <a:prstGeom prst="rect">
            <a:avLst/>
          </a:prstGeom>
          <a:noFill/>
          <a:ln w="9525">
            <a:noFill/>
            <a:miter lim="800000"/>
            <a:headEnd/>
            <a:tailEnd/>
          </a:ln>
        </p:spPr>
        <p:txBody>
          <a:bodyPr wrap="square">
            <a:spAutoFit/>
          </a:bodyPr>
          <a:lstStyle/>
          <a:p>
            <a:pPr defTabSz="914400" fontAlgn="base">
              <a:lnSpc>
                <a:spcPct val="120000"/>
              </a:lnSpc>
              <a:spcBef>
                <a:spcPct val="0"/>
              </a:spcBef>
              <a:spcAft>
                <a:spcPct val="0"/>
              </a:spcAft>
            </a:pPr>
            <a:r>
              <a:rPr kumimoji="1" lang="zh-CN" altLang="en-US" sz="2200" b="1" dirty="0">
                <a:solidFill>
                  <a:srgbClr val="000000"/>
                </a:solidFill>
                <a:latin typeface="Times New Roman" pitchFamily="18" charset="0"/>
                <a:ea typeface="宋体" charset="-122"/>
              </a:rPr>
              <a:t>在热平衡情况下，电子的热运动是按照运动、散射、再运动、再散射的形式完全无规则（随机）运动的，每次散射与之前的运动状态相关，但散射后丢失散射前的运动</a:t>
            </a:r>
            <a:r>
              <a:rPr kumimoji="1" lang="zh-CN" altLang="en-US" sz="2200" b="1" dirty="0" smtClean="0">
                <a:solidFill>
                  <a:srgbClr val="000000"/>
                </a:solidFill>
                <a:latin typeface="Times New Roman" pitchFamily="18" charset="0"/>
                <a:ea typeface="宋体" charset="-122"/>
              </a:rPr>
              <a:t>状态（</a:t>
            </a:r>
            <a:r>
              <a:rPr kumimoji="1" lang="zh-CN" altLang="en-US" sz="2200" b="1" dirty="0" smtClean="0">
                <a:solidFill>
                  <a:srgbClr val="0000FF"/>
                </a:solidFill>
                <a:latin typeface="Times New Roman" pitchFamily="18" charset="0"/>
                <a:ea typeface="宋体" charset="-122"/>
              </a:rPr>
              <a:t>统计物理假设，在介观体系中该假设不再成立</a:t>
            </a:r>
            <a:r>
              <a:rPr kumimoji="1" lang="zh-CN" altLang="en-US" sz="2200" b="1" dirty="0" smtClean="0">
                <a:solidFill>
                  <a:srgbClr val="000000"/>
                </a:solidFill>
                <a:latin typeface="Times New Roman" pitchFamily="18" charset="0"/>
                <a:ea typeface="宋体" charset="-122"/>
              </a:rPr>
              <a:t>）。</a:t>
            </a:r>
            <a:endParaRPr kumimoji="1" lang="zh-CN" altLang="en-US" sz="2200" b="1" dirty="0">
              <a:solidFill>
                <a:srgbClr val="000000"/>
              </a:solidFill>
              <a:latin typeface="Times New Roman" pitchFamily="18" charset="0"/>
              <a:ea typeface="宋体" charset="-122"/>
            </a:endParaRPr>
          </a:p>
        </p:txBody>
      </p:sp>
      <p:sp>
        <p:nvSpPr>
          <p:cNvPr id="6" name="Rectangle 13"/>
          <p:cNvSpPr>
            <a:spLocks noChangeArrowheads="1"/>
          </p:cNvSpPr>
          <p:nvPr/>
        </p:nvSpPr>
        <p:spPr bwMode="auto">
          <a:xfrm>
            <a:off x="382434" y="4985912"/>
            <a:ext cx="7920038" cy="895350"/>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400" b="1" dirty="0">
                <a:solidFill>
                  <a:srgbClr val="3333CC"/>
                </a:solidFill>
                <a:latin typeface="Times New Roman" pitchFamily="18" charset="0"/>
                <a:ea typeface="宋体" charset="-122"/>
              </a:rPr>
              <a:t>按照统计物理规律，在热平衡条件下，随机热运动的载流子形成的宏观净电流为零。</a:t>
            </a:r>
          </a:p>
        </p:txBody>
      </p:sp>
      <p:sp>
        <p:nvSpPr>
          <p:cNvPr id="7" name="矩形 6"/>
          <p:cNvSpPr/>
          <p:nvPr/>
        </p:nvSpPr>
        <p:spPr>
          <a:xfrm>
            <a:off x="517449" y="597153"/>
            <a:ext cx="1266693" cy="523220"/>
          </a:xfrm>
          <a:prstGeom prst="rect">
            <a:avLst/>
          </a:prstGeom>
        </p:spPr>
        <p:txBody>
          <a:bodyPr wrap="none">
            <a:spAutoFit/>
          </a:bodyPr>
          <a:lstStyle/>
          <a:p>
            <a:pPr lvl="0">
              <a:spcBef>
                <a:spcPct val="50000"/>
              </a:spcBef>
            </a:pPr>
            <a:r>
              <a:rPr kumimoji="1" lang="zh-CN" altLang="en-US" sz="2800" b="1" dirty="0" smtClean="0">
                <a:solidFill>
                  <a:srgbClr val="D96227"/>
                </a:solidFill>
                <a:latin typeface="Times New Roman" pitchFamily="18" charset="0"/>
                <a:ea typeface="宋体" pitchFamily="2" charset="-122"/>
                <a:cs typeface="Times New Roman" pitchFamily="18" charset="0"/>
              </a:rPr>
              <a:t>热运动</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1307170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a:t>
            </a:fld>
            <a:endParaRPr lang="zh-CN" altLang="en-US"/>
          </a:p>
        </p:txBody>
      </p:sp>
      <p:sp>
        <p:nvSpPr>
          <p:cNvPr id="4" name="Text Box 7"/>
          <p:cNvSpPr txBox="1">
            <a:spLocks noChangeArrowheads="1"/>
          </p:cNvSpPr>
          <p:nvPr/>
        </p:nvSpPr>
        <p:spPr bwMode="auto">
          <a:xfrm>
            <a:off x="579079" y="1340211"/>
            <a:ext cx="8135938" cy="4387850"/>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30000"/>
              </a:lnSpc>
              <a:spcBef>
                <a:spcPts val="1000"/>
              </a:spcBef>
              <a:spcAft>
                <a:spcPct val="0"/>
              </a:spcAft>
            </a:pPr>
            <a:r>
              <a:rPr lang="zh-CN" altLang="en-US" sz="2200" b="1" dirty="0">
                <a:solidFill>
                  <a:srgbClr val="000000"/>
                </a:solidFill>
                <a:latin typeface="Times New Roman" pitchFamily="18" charset="0"/>
                <a:ea typeface="宋体" charset="-122"/>
              </a:rPr>
              <a:t>按照固体物理理论，在</a:t>
            </a:r>
            <a:r>
              <a:rPr kumimoji="1" lang="zh-CN" altLang="en-US" sz="2200" b="1" dirty="0">
                <a:solidFill>
                  <a:srgbClr val="000000"/>
                </a:solidFill>
                <a:latin typeface="Times New Roman" pitchFamily="18" charset="0"/>
                <a:ea typeface="宋体" charset="-122"/>
              </a:rPr>
              <a:t>理想周期势场中</a:t>
            </a:r>
            <a:r>
              <a:rPr lang="zh-CN" altLang="en-US" sz="2200" b="1" dirty="0">
                <a:solidFill>
                  <a:srgbClr val="000000"/>
                </a:solidFill>
                <a:latin typeface="Times New Roman" pitchFamily="18" charset="0"/>
                <a:ea typeface="宋体" charset="-122"/>
              </a:rPr>
              <a:t>运动的载流子可</a:t>
            </a:r>
            <a:r>
              <a:rPr kumimoji="1" lang="zh-CN" altLang="en-US" sz="2200" b="1" dirty="0">
                <a:solidFill>
                  <a:srgbClr val="000000"/>
                </a:solidFill>
                <a:latin typeface="Times New Roman" pitchFamily="18" charset="0"/>
                <a:ea typeface="宋体" charset="-122"/>
              </a:rPr>
              <a:t>等效为完全自由运动的粒子（有效质量近似）。</a:t>
            </a:r>
          </a:p>
          <a:p>
            <a:pPr defTabSz="914400" eaLnBrk="0" fontAlgn="base" hangingPunct="0">
              <a:lnSpc>
                <a:spcPct val="130000"/>
              </a:lnSpc>
              <a:spcBef>
                <a:spcPts val="1000"/>
              </a:spcBef>
              <a:spcAft>
                <a:spcPct val="0"/>
              </a:spcAft>
            </a:pPr>
            <a:r>
              <a:rPr kumimoji="1" lang="zh-CN" altLang="en-US" sz="2200" b="1" dirty="0">
                <a:solidFill>
                  <a:srgbClr val="000000"/>
                </a:solidFill>
                <a:latin typeface="Times New Roman" pitchFamily="18" charset="0"/>
                <a:ea typeface="宋体" charset="-122"/>
              </a:rPr>
              <a:t>如果严格的周期势场外，另有新的附加电势场存在，则载流子将会受到附加电势场的散射作用，不再是自由运动的粒子，。</a:t>
            </a:r>
          </a:p>
          <a:p>
            <a:pPr defTabSz="914400" eaLnBrk="0" fontAlgn="base" hangingPunct="0">
              <a:lnSpc>
                <a:spcPct val="130000"/>
              </a:lnSpc>
              <a:spcBef>
                <a:spcPts val="1000"/>
              </a:spcBef>
              <a:spcAft>
                <a:spcPct val="0"/>
              </a:spcAft>
            </a:pPr>
            <a:r>
              <a:rPr kumimoji="1" lang="zh-CN" altLang="en-US" sz="2200" b="1" dirty="0">
                <a:solidFill>
                  <a:srgbClr val="000000"/>
                </a:solidFill>
                <a:latin typeface="Times New Roman" pitchFamily="18" charset="0"/>
                <a:ea typeface="宋体" charset="-122"/>
              </a:rPr>
              <a:t>因此，任何在破坏周期势场的附加因素（引入新的能级态），都可以引起载流子的散射作用，</a:t>
            </a:r>
            <a:r>
              <a:rPr kumimoji="1" lang="zh-CN" altLang="en-US" sz="2200" b="1" dirty="0">
                <a:solidFill>
                  <a:srgbClr val="3333CC"/>
                </a:solidFill>
                <a:latin typeface="Times New Roman" pitchFamily="18" charset="0"/>
                <a:ea typeface="宋体" charset="-122"/>
              </a:rPr>
              <a:t>不同的因素</a:t>
            </a:r>
            <a:r>
              <a:rPr kumimoji="1" lang="zh-CN" altLang="en-US" sz="2200" b="1" dirty="0">
                <a:solidFill>
                  <a:srgbClr val="000000"/>
                </a:solidFill>
                <a:latin typeface="Times New Roman" pitchFamily="18" charset="0"/>
                <a:ea typeface="宋体" charset="-122"/>
              </a:rPr>
              <a:t>对应</a:t>
            </a:r>
            <a:r>
              <a:rPr kumimoji="1" lang="zh-CN" altLang="en-US" sz="2200" b="1" dirty="0">
                <a:solidFill>
                  <a:srgbClr val="3333CC"/>
                </a:solidFill>
                <a:latin typeface="Times New Roman" pitchFamily="18" charset="0"/>
                <a:ea typeface="宋体" charset="-122"/>
              </a:rPr>
              <a:t>不同的散射机制</a:t>
            </a:r>
            <a:r>
              <a:rPr kumimoji="1" lang="zh-CN" altLang="en-US" sz="2200" b="1" dirty="0">
                <a:solidFill>
                  <a:srgbClr val="000000"/>
                </a:solidFill>
                <a:latin typeface="Times New Roman" pitchFamily="18" charset="0"/>
                <a:ea typeface="宋体" charset="-122"/>
              </a:rPr>
              <a:t>。</a:t>
            </a:r>
          </a:p>
          <a:p>
            <a:pPr defTabSz="914400" eaLnBrk="0" fontAlgn="base" hangingPunct="0">
              <a:lnSpc>
                <a:spcPct val="130000"/>
              </a:lnSpc>
              <a:spcBef>
                <a:spcPts val="1000"/>
              </a:spcBef>
              <a:spcAft>
                <a:spcPct val="0"/>
              </a:spcAft>
            </a:pPr>
            <a:r>
              <a:rPr kumimoji="1" lang="zh-CN" altLang="en-US" sz="2200" b="1" dirty="0">
                <a:solidFill>
                  <a:srgbClr val="000000"/>
                </a:solidFill>
                <a:latin typeface="Times New Roman" pitchFamily="18" charset="0"/>
                <a:ea typeface="宋体" charset="-122"/>
              </a:rPr>
              <a:t>按照统计物理规律，热运动的粒子在经历散射后，将损失其平均动能，平均运动速度变为</a:t>
            </a:r>
            <a:r>
              <a:rPr kumimoji="1" lang="en-US" altLang="zh-CN" sz="2200" b="1" dirty="0">
                <a:solidFill>
                  <a:srgbClr val="000000"/>
                </a:solidFill>
                <a:latin typeface="Times New Roman" pitchFamily="18" charset="0"/>
                <a:ea typeface="宋体" charset="-122"/>
              </a:rPr>
              <a:t>0</a:t>
            </a:r>
            <a:r>
              <a:rPr kumimoji="1" lang="zh-CN" altLang="en-US" sz="2200" b="1" dirty="0">
                <a:solidFill>
                  <a:srgbClr val="000000"/>
                </a:solidFill>
                <a:latin typeface="Times New Roman" pitchFamily="18" charset="0"/>
                <a:ea typeface="宋体" charset="-122"/>
              </a:rPr>
              <a:t>，因此，在外场（电场）作用下载流子的最大速度将受到限制。</a:t>
            </a:r>
          </a:p>
        </p:txBody>
      </p:sp>
      <p:sp>
        <p:nvSpPr>
          <p:cNvPr id="5" name="矩形 4"/>
          <p:cNvSpPr/>
          <p:nvPr/>
        </p:nvSpPr>
        <p:spPr>
          <a:xfrm>
            <a:off x="517449" y="597153"/>
            <a:ext cx="906017" cy="523220"/>
          </a:xfrm>
          <a:prstGeom prst="rect">
            <a:avLst/>
          </a:prstGeom>
        </p:spPr>
        <p:txBody>
          <a:bodyPr wrap="none">
            <a:spAutoFit/>
          </a:bodyPr>
          <a:lstStyle/>
          <a:p>
            <a:pPr lvl="0">
              <a:spcBef>
                <a:spcPct val="50000"/>
              </a:spcBef>
            </a:pPr>
            <a:r>
              <a:rPr kumimoji="1" lang="zh-CN" altLang="en-US" sz="2800" b="1" dirty="0" smtClean="0">
                <a:solidFill>
                  <a:srgbClr val="D96227"/>
                </a:solidFill>
                <a:latin typeface="Times New Roman" pitchFamily="18" charset="0"/>
                <a:ea typeface="宋体" pitchFamily="2" charset="-122"/>
                <a:cs typeface="Times New Roman" pitchFamily="18" charset="0"/>
              </a:rPr>
              <a:t>散射</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1250922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a:t>
            </a:fld>
            <a:endParaRPr lang="zh-CN" altLang="en-US"/>
          </a:p>
        </p:txBody>
      </p:sp>
      <p:sp>
        <p:nvSpPr>
          <p:cNvPr id="4" name="Text Box 7"/>
          <p:cNvSpPr txBox="1">
            <a:spLocks noChangeArrowheads="1"/>
          </p:cNvSpPr>
          <p:nvPr/>
        </p:nvSpPr>
        <p:spPr bwMode="auto">
          <a:xfrm>
            <a:off x="517449" y="1247220"/>
            <a:ext cx="8208963" cy="5211683"/>
          </a:xfrm>
          <a:prstGeom prst="rect">
            <a:avLst/>
          </a:prstGeom>
          <a:noFill/>
          <a:ln w="12700" cap="sq">
            <a:noFill/>
            <a:miter lim="800000"/>
            <a:headEnd type="none" w="sm" len="sm"/>
            <a:tailEnd type="none" w="sm" len="sm"/>
          </a:ln>
        </p:spPr>
        <p:txBody>
          <a:bodyPr>
            <a:spAutoFit/>
          </a:bodyPr>
          <a:lstStyle/>
          <a:p>
            <a:pPr marL="342900" indent="-342900" defTabSz="914400" eaLnBrk="0" fontAlgn="base" hangingPunct="0">
              <a:spcBef>
                <a:spcPts val="800"/>
              </a:spcBef>
              <a:spcAft>
                <a:spcPct val="0"/>
              </a:spcAft>
              <a:buFont typeface="Arial" charset="0"/>
              <a:buChar char="•"/>
            </a:pPr>
            <a:r>
              <a:rPr kumimoji="1" lang="zh-CN" altLang="en-US" sz="2200" b="1" dirty="0" smtClean="0">
                <a:solidFill>
                  <a:srgbClr val="3333CC"/>
                </a:solidFill>
                <a:latin typeface="宋体" charset="-122"/>
                <a:ea typeface="宋体" charset="-122"/>
              </a:rPr>
              <a:t>电离杂质散射（库仑作用）：掺杂原子电离后留下的荷电离子引起的散射，与温度相关</a:t>
            </a:r>
            <a:r>
              <a:rPr kumimoji="1" lang="zh-CN" altLang="en-US" sz="2200" b="1" dirty="0" smtClean="0">
                <a:solidFill>
                  <a:srgbClr val="000000"/>
                </a:solidFill>
                <a:latin typeface="Times New Roman" pitchFamily="18" charset="0"/>
                <a:ea typeface="宋体" charset="-122"/>
              </a:rPr>
              <a:t>（</a:t>
            </a:r>
            <a:r>
              <a:rPr kumimoji="1" lang="en-US" altLang="zh-CN" sz="2200" b="1" i="1" dirty="0" smtClean="0">
                <a:solidFill>
                  <a:srgbClr val="000000"/>
                </a:solidFill>
                <a:latin typeface="Times New Roman" pitchFamily="18" charset="0"/>
                <a:ea typeface="宋体" charset="-122"/>
              </a:rPr>
              <a:t>T</a:t>
            </a:r>
            <a:r>
              <a:rPr kumimoji="1" lang="en-US" altLang="zh-CN" sz="2200" b="1" i="1" baseline="30000" dirty="0" smtClean="0">
                <a:solidFill>
                  <a:srgbClr val="000000"/>
                </a:solidFill>
                <a:latin typeface="Times New Roman" pitchFamily="18" charset="0"/>
                <a:ea typeface="宋体" charset="-122"/>
              </a:rPr>
              <a:t>-3/2</a:t>
            </a:r>
            <a:r>
              <a:rPr kumimoji="1" lang="zh-CN" altLang="en-US" sz="2200" b="1" dirty="0" smtClean="0">
                <a:solidFill>
                  <a:srgbClr val="000000"/>
                </a:solidFill>
                <a:latin typeface="Times New Roman" pitchFamily="18" charset="0"/>
                <a:ea typeface="宋体" charset="-122"/>
              </a:rPr>
              <a:t>） </a:t>
            </a:r>
            <a:r>
              <a:rPr kumimoji="1" lang="zh-CN" altLang="en-US" sz="2200" b="1" dirty="0" smtClean="0">
                <a:solidFill>
                  <a:srgbClr val="3333CC"/>
                </a:solidFill>
                <a:latin typeface="宋体" charset="-122"/>
                <a:ea typeface="宋体" charset="-122"/>
              </a:rPr>
              <a:t>；</a:t>
            </a:r>
            <a:r>
              <a:rPr kumimoji="1" lang="zh-CN" altLang="en-US" sz="2200" b="1" dirty="0" smtClean="0">
                <a:solidFill>
                  <a:srgbClr val="FF0000"/>
                </a:solidFill>
                <a:latin typeface="宋体" charset="-122"/>
                <a:ea typeface="宋体" charset="-122"/>
              </a:rPr>
              <a:t>（掺杂引入杂质能级外，还将对载流子的运动产生</a:t>
            </a:r>
            <a:r>
              <a:rPr kumimoji="1" lang="zh-CN" altLang="en-US" sz="2200" b="1" dirty="0">
                <a:solidFill>
                  <a:srgbClr val="FF0000"/>
                </a:solidFill>
                <a:latin typeface="宋体" charset="-122"/>
                <a:ea typeface="宋体" charset="-122"/>
              </a:rPr>
              <a:t>散射</a:t>
            </a:r>
            <a:r>
              <a:rPr kumimoji="1" lang="zh-CN" altLang="en-US" sz="2200" b="1" dirty="0" smtClean="0">
                <a:solidFill>
                  <a:srgbClr val="FF0000"/>
                </a:solidFill>
                <a:latin typeface="宋体" charset="-122"/>
                <a:ea typeface="宋体" charset="-122"/>
              </a:rPr>
              <a:t>）。</a:t>
            </a:r>
            <a:r>
              <a:rPr kumimoji="1" lang="zh-CN" altLang="en-US" sz="2200" b="1" dirty="0" smtClean="0">
                <a:solidFill>
                  <a:srgbClr val="000000"/>
                </a:solidFill>
                <a:latin typeface="宋体" charset="-122"/>
                <a:ea typeface="宋体" charset="-122"/>
              </a:rPr>
              <a:t>随</a:t>
            </a:r>
            <a:r>
              <a:rPr kumimoji="1" lang="zh-CN" altLang="en-US" sz="2200" b="1" dirty="0">
                <a:solidFill>
                  <a:srgbClr val="000000"/>
                </a:solidFill>
                <a:latin typeface="宋体" charset="-122"/>
                <a:ea typeface="宋体" charset="-122"/>
              </a:rPr>
              <a:t>温度升高，载流子热运动速度增加，散射效应减小</a:t>
            </a:r>
          </a:p>
          <a:p>
            <a:pPr marL="342900" indent="-342900" defTabSz="914400" eaLnBrk="0" fontAlgn="base" hangingPunct="0">
              <a:spcBef>
                <a:spcPts val="800"/>
              </a:spcBef>
              <a:spcAft>
                <a:spcPct val="0"/>
              </a:spcAft>
              <a:buFont typeface="Arial" charset="0"/>
              <a:buChar char="•"/>
            </a:pPr>
            <a:r>
              <a:rPr kumimoji="1" lang="zh-CN" altLang="en-US" sz="2200" b="1" dirty="0" smtClean="0">
                <a:solidFill>
                  <a:srgbClr val="3333CC"/>
                </a:solidFill>
                <a:latin typeface="宋体" charset="-122"/>
                <a:ea typeface="宋体" charset="-122"/>
              </a:rPr>
              <a:t>晶格</a:t>
            </a:r>
            <a:r>
              <a:rPr kumimoji="1" lang="zh-CN" altLang="en-US" sz="2200" b="1" dirty="0">
                <a:solidFill>
                  <a:srgbClr val="3333CC"/>
                </a:solidFill>
                <a:latin typeface="宋体" charset="-122"/>
                <a:ea typeface="宋体" charset="-122"/>
              </a:rPr>
              <a:t>散射或声子散射：晶格热振动引起的散射，与温度</a:t>
            </a:r>
            <a:r>
              <a:rPr kumimoji="1" lang="zh-CN" altLang="en-US" sz="2200" b="1" dirty="0" smtClean="0">
                <a:solidFill>
                  <a:srgbClr val="3333CC"/>
                </a:solidFill>
                <a:latin typeface="宋体" charset="-122"/>
                <a:ea typeface="宋体" charset="-122"/>
              </a:rPr>
              <a:t>相关（</a:t>
            </a:r>
            <a:r>
              <a:rPr kumimoji="1" lang="zh-CN" altLang="en-US" sz="2200" b="1" dirty="0">
                <a:solidFill>
                  <a:srgbClr val="000000"/>
                </a:solidFill>
                <a:latin typeface="Times New Roman" pitchFamily="18" charset="0"/>
                <a:ea typeface="宋体" charset="-122"/>
              </a:rPr>
              <a:t>声学波声子呈 </a:t>
            </a:r>
            <a:r>
              <a:rPr kumimoji="1" lang="en-US" altLang="zh-CN" sz="2200" b="1" i="1" dirty="0">
                <a:solidFill>
                  <a:srgbClr val="000000"/>
                </a:solidFill>
                <a:latin typeface="Times New Roman" pitchFamily="18" charset="0"/>
                <a:ea typeface="宋体" charset="-122"/>
              </a:rPr>
              <a:t>T</a:t>
            </a:r>
            <a:r>
              <a:rPr kumimoji="1" lang="en-US" altLang="zh-CN" sz="2200" b="1" i="1" baseline="30000" dirty="0">
                <a:solidFill>
                  <a:srgbClr val="000000"/>
                </a:solidFill>
                <a:latin typeface="Times New Roman" pitchFamily="18" charset="0"/>
                <a:ea typeface="宋体" charset="-122"/>
              </a:rPr>
              <a:t>3/2</a:t>
            </a:r>
            <a:r>
              <a:rPr kumimoji="1" lang="zh-CN" altLang="en-US" sz="2200" b="1" dirty="0">
                <a:solidFill>
                  <a:srgbClr val="000000"/>
                </a:solidFill>
                <a:latin typeface="Times New Roman" pitchFamily="18" charset="0"/>
                <a:ea typeface="宋体" charset="-122"/>
              </a:rPr>
              <a:t>关系</a:t>
            </a:r>
            <a:r>
              <a:rPr kumimoji="1" lang="zh-CN" altLang="en-US" sz="2200" b="1" dirty="0" smtClean="0">
                <a:solidFill>
                  <a:srgbClr val="3333CC"/>
                </a:solidFill>
                <a:latin typeface="宋体" charset="-122"/>
                <a:ea typeface="宋体" charset="-122"/>
              </a:rPr>
              <a:t>）；</a:t>
            </a:r>
            <a:endParaRPr kumimoji="1" lang="zh-CN" altLang="en-US" sz="2200" b="1" dirty="0">
              <a:solidFill>
                <a:srgbClr val="3333CC"/>
              </a:solidFill>
              <a:latin typeface="宋体" charset="-122"/>
              <a:ea typeface="宋体" charset="-122"/>
            </a:endParaRPr>
          </a:p>
          <a:p>
            <a:pPr marL="342900" indent="-342900" defTabSz="914400" eaLnBrk="0" fontAlgn="base" hangingPunct="0">
              <a:spcBef>
                <a:spcPts val="800"/>
              </a:spcBef>
              <a:spcAft>
                <a:spcPct val="0"/>
              </a:spcAft>
              <a:buFont typeface="Arial" charset="0"/>
              <a:buChar char="•"/>
            </a:pPr>
            <a:r>
              <a:rPr kumimoji="1" lang="zh-CN" altLang="en-US" sz="2200" b="1" dirty="0">
                <a:solidFill>
                  <a:srgbClr val="000000"/>
                </a:solidFill>
                <a:latin typeface="宋体" charset="-122"/>
                <a:ea typeface="宋体" charset="-122"/>
              </a:rPr>
              <a:t>其它固定电荷和陷阱电荷散射</a:t>
            </a:r>
          </a:p>
          <a:p>
            <a:pPr marL="342900" indent="-342900" defTabSz="914400" eaLnBrk="0" fontAlgn="base" hangingPunct="0">
              <a:spcBef>
                <a:spcPts val="800"/>
              </a:spcBef>
              <a:spcAft>
                <a:spcPct val="0"/>
              </a:spcAft>
              <a:buFont typeface="Arial" charset="0"/>
              <a:buChar char="•"/>
            </a:pPr>
            <a:r>
              <a:rPr kumimoji="1" lang="zh-CN" altLang="en-US" sz="2200" b="1" dirty="0">
                <a:solidFill>
                  <a:srgbClr val="000000"/>
                </a:solidFill>
                <a:latin typeface="宋体" charset="-122"/>
                <a:ea typeface="宋体" charset="-122"/>
              </a:rPr>
              <a:t>表面散射：载流子在表面层（如反型层）运动时受到表面因素如粗糙度作用引起的散射；</a:t>
            </a:r>
          </a:p>
          <a:p>
            <a:pPr marL="342900" indent="-342900" defTabSz="914400" eaLnBrk="0" fontAlgn="base" hangingPunct="0">
              <a:spcBef>
                <a:spcPts val="800"/>
              </a:spcBef>
              <a:spcAft>
                <a:spcPct val="0"/>
              </a:spcAft>
              <a:buFont typeface="Arial" charset="0"/>
              <a:buChar char="•"/>
            </a:pPr>
            <a:r>
              <a:rPr kumimoji="1" lang="zh-CN" altLang="en-US" sz="2200" b="1" dirty="0">
                <a:solidFill>
                  <a:srgbClr val="000000"/>
                </a:solidFill>
                <a:latin typeface="宋体" charset="-122"/>
                <a:ea typeface="宋体" charset="-122"/>
              </a:rPr>
              <a:t>晶格缺陷散射：在多晶情形时变得显著；</a:t>
            </a:r>
          </a:p>
          <a:p>
            <a:pPr marL="342900" indent="-342900" defTabSz="914400" eaLnBrk="0" fontAlgn="base" hangingPunct="0">
              <a:spcBef>
                <a:spcPts val="800"/>
              </a:spcBef>
              <a:spcAft>
                <a:spcPct val="0"/>
              </a:spcAft>
              <a:buFont typeface="Arial" charset="0"/>
              <a:buChar char="•"/>
            </a:pPr>
            <a:r>
              <a:rPr kumimoji="1" lang="zh-CN" altLang="en-US" sz="2200" b="1" dirty="0">
                <a:solidFill>
                  <a:srgbClr val="000000"/>
                </a:solidFill>
                <a:latin typeface="宋体" charset="-122"/>
                <a:ea typeface="宋体" charset="-122"/>
              </a:rPr>
              <a:t>中性杂质散射：在杂质浓度不是很高时可忽略；</a:t>
            </a:r>
          </a:p>
          <a:p>
            <a:pPr marL="342900" indent="-342900" defTabSz="914400" eaLnBrk="0" fontAlgn="base" hangingPunct="0">
              <a:spcBef>
                <a:spcPts val="800"/>
              </a:spcBef>
              <a:spcAft>
                <a:spcPct val="0"/>
              </a:spcAft>
              <a:buFont typeface="Arial" charset="0"/>
              <a:buChar char="•"/>
            </a:pPr>
            <a:r>
              <a:rPr kumimoji="1" lang="zh-CN" altLang="en-US" sz="2200" b="1" dirty="0">
                <a:solidFill>
                  <a:srgbClr val="000000"/>
                </a:solidFill>
                <a:latin typeface="宋体" charset="-122"/>
                <a:ea typeface="宋体" charset="-122"/>
              </a:rPr>
              <a:t>电子和（或）空穴散射：在载流子浓度很高的情形才显著；</a:t>
            </a:r>
          </a:p>
          <a:p>
            <a:pPr marL="342900" indent="-342900" defTabSz="914400" eaLnBrk="0" fontAlgn="base" hangingPunct="0">
              <a:spcBef>
                <a:spcPts val="800"/>
              </a:spcBef>
              <a:spcAft>
                <a:spcPct val="0"/>
              </a:spcAft>
              <a:buFont typeface="Arial" charset="0"/>
              <a:buChar char="•"/>
            </a:pPr>
            <a:r>
              <a:rPr kumimoji="1" lang="zh-CN" altLang="en-US" sz="2200" b="1" dirty="0">
                <a:solidFill>
                  <a:srgbClr val="FF3300"/>
                </a:solidFill>
                <a:latin typeface="宋体" charset="-122"/>
                <a:ea typeface="宋体" charset="-122"/>
              </a:rPr>
              <a:t>。。。</a:t>
            </a:r>
          </a:p>
        </p:txBody>
      </p:sp>
      <p:sp>
        <p:nvSpPr>
          <p:cNvPr id="5" name="矩形 4"/>
          <p:cNvSpPr/>
          <p:nvPr/>
        </p:nvSpPr>
        <p:spPr>
          <a:xfrm>
            <a:off x="517449" y="597153"/>
            <a:ext cx="3070071" cy="523220"/>
          </a:xfrm>
          <a:prstGeom prst="rect">
            <a:avLst/>
          </a:prstGeom>
        </p:spPr>
        <p:txBody>
          <a:bodyPr wrap="none">
            <a:spAutoFit/>
          </a:bodyPr>
          <a:lstStyle/>
          <a:p>
            <a:pPr lvl="0">
              <a:spcBef>
                <a:spcPct val="50000"/>
              </a:spcBef>
            </a:pPr>
            <a:r>
              <a:rPr kumimoji="1" lang="zh-CN" altLang="en-US" sz="2800" b="1" dirty="0" smtClean="0">
                <a:solidFill>
                  <a:srgbClr val="D96227"/>
                </a:solidFill>
                <a:latin typeface="Times New Roman" pitchFamily="18" charset="0"/>
                <a:ea typeface="宋体" pitchFamily="2" charset="-122"/>
                <a:cs typeface="Times New Roman" pitchFamily="18" charset="0"/>
              </a:rPr>
              <a:t>载流子的散射机制</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4049232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a:t>
            </a:fld>
            <a:endParaRPr lang="zh-CN" altLang="en-US"/>
          </a:p>
        </p:txBody>
      </p:sp>
      <p:graphicFrame>
        <p:nvGraphicFramePr>
          <p:cNvPr id="6" name="对象 1"/>
          <p:cNvGraphicFramePr>
            <a:graphicFrameLocks noChangeAspect="1"/>
          </p:cNvGraphicFramePr>
          <p:nvPr>
            <p:extLst>
              <p:ext uri="{D42A27DB-BD31-4B8C-83A1-F6EECF244321}">
                <p14:modId xmlns:p14="http://schemas.microsoft.com/office/powerpoint/2010/main" val="2106945975"/>
              </p:ext>
            </p:extLst>
          </p:nvPr>
        </p:nvGraphicFramePr>
        <p:xfrm>
          <a:off x="2612103" y="5251065"/>
          <a:ext cx="3860800" cy="862012"/>
        </p:xfrm>
        <a:graphic>
          <a:graphicData uri="http://schemas.openxmlformats.org/presentationml/2006/ole">
            <mc:AlternateContent xmlns:mc="http://schemas.openxmlformats.org/markup-compatibility/2006">
              <mc:Choice xmlns:v="urn:schemas-microsoft-com:vml" Requires="v">
                <p:oleObj spid="_x0000_s11297" name="Equation" r:id="rId3" imgW="1549400" imgH="419100" progId="Equation.DSMT4">
                  <p:embed/>
                </p:oleObj>
              </mc:Choice>
              <mc:Fallback>
                <p:oleObj name="Equation" r:id="rId3" imgW="1549400" imgH="419100" progId="Equation.DSMT4">
                  <p:embed/>
                  <p:pic>
                    <p:nvPicPr>
                      <p:cNvPr id="13314"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2103" y="5251065"/>
                        <a:ext cx="3860800" cy="862012"/>
                      </a:xfrm>
                      <a:prstGeom prst="rect">
                        <a:avLst/>
                      </a:prstGeom>
                      <a:solidFill>
                        <a:srgbClr val="FFFFFF"/>
                      </a:solidFill>
                    </p:spPr>
                  </p:pic>
                </p:oleObj>
              </mc:Fallback>
            </mc:AlternateContent>
          </a:graphicData>
        </a:graphic>
      </p:graphicFrame>
      <p:sp>
        <p:nvSpPr>
          <p:cNvPr id="7" name="Text Box 7"/>
          <p:cNvSpPr txBox="1">
            <a:spLocks noChangeArrowheads="1"/>
          </p:cNvSpPr>
          <p:nvPr/>
        </p:nvSpPr>
        <p:spPr bwMode="auto">
          <a:xfrm>
            <a:off x="510253" y="1470387"/>
            <a:ext cx="8064500" cy="225742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20000"/>
              </a:lnSpc>
              <a:spcBef>
                <a:spcPct val="50000"/>
              </a:spcBef>
              <a:spcAft>
                <a:spcPct val="0"/>
              </a:spcAft>
            </a:pPr>
            <a:r>
              <a:rPr kumimoji="1" lang="zh-CN" altLang="en-US" sz="2200" b="1" dirty="0">
                <a:solidFill>
                  <a:srgbClr val="000000"/>
                </a:solidFill>
                <a:latin typeface="Times New Roman" pitchFamily="18" charset="0"/>
                <a:ea typeface="宋体" charset="-122"/>
              </a:rPr>
              <a:t>散射是影响载流子微观运动的重要物理效应，是影响载流子输运能力的主要因素之一，如何选择表征参数是物理学研究的重要内容。散射效应所采用的表征参数包括：</a:t>
            </a:r>
          </a:p>
          <a:p>
            <a:pPr marL="800100" lvl="1" indent="-342900" defTabSz="914400" eaLnBrk="0" fontAlgn="base" hangingPunct="0">
              <a:lnSpc>
                <a:spcPct val="110000"/>
              </a:lnSpc>
              <a:spcBef>
                <a:spcPts val="1000"/>
              </a:spcBef>
              <a:spcAft>
                <a:spcPct val="0"/>
              </a:spcAft>
              <a:buFont typeface="Arial" charset="0"/>
              <a:buChar char="•"/>
            </a:pPr>
            <a:r>
              <a:rPr kumimoji="1" lang="zh-CN" altLang="en-US" sz="2400" b="1" dirty="0">
                <a:solidFill>
                  <a:srgbClr val="FF3300"/>
                </a:solidFill>
                <a:latin typeface="Times New Roman" pitchFamily="18" charset="0"/>
                <a:ea typeface="宋体" charset="-122"/>
              </a:rPr>
              <a:t>平均自由程（</a:t>
            </a:r>
            <a:r>
              <a:rPr kumimoji="1" lang="en-US" altLang="zh-CN" sz="2400" b="1" dirty="0">
                <a:solidFill>
                  <a:srgbClr val="FF3300"/>
                </a:solidFill>
                <a:latin typeface="Times New Roman" pitchFamily="18" charset="0"/>
                <a:ea typeface="宋体" charset="-122"/>
              </a:rPr>
              <a:t>Mean Free Path</a:t>
            </a:r>
            <a:r>
              <a:rPr kumimoji="1" lang="zh-CN" altLang="en-US" sz="2400" b="1" dirty="0">
                <a:solidFill>
                  <a:srgbClr val="FF3300"/>
                </a:solidFill>
                <a:latin typeface="Times New Roman" pitchFamily="18" charset="0"/>
                <a:ea typeface="宋体" charset="-122"/>
              </a:rPr>
              <a:t>）</a:t>
            </a:r>
          </a:p>
          <a:p>
            <a:pPr marL="800100" lvl="1" indent="-342900" defTabSz="914400" eaLnBrk="0" fontAlgn="base" hangingPunct="0">
              <a:lnSpc>
                <a:spcPct val="110000"/>
              </a:lnSpc>
              <a:spcBef>
                <a:spcPts val="300"/>
              </a:spcBef>
              <a:spcAft>
                <a:spcPct val="0"/>
              </a:spcAft>
              <a:buFont typeface="Arial" charset="0"/>
              <a:buChar char="•"/>
            </a:pPr>
            <a:r>
              <a:rPr kumimoji="1" lang="zh-CN" altLang="en-US" sz="2400" b="1" dirty="0">
                <a:solidFill>
                  <a:srgbClr val="FF3300"/>
                </a:solidFill>
                <a:latin typeface="Times New Roman" pitchFamily="18" charset="0"/>
                <a:ea typeface="宋体" charset="-122"/>
              </a:rPr>
              <a:t>平均自由时间</a:t>
            </a:r>
          </a:p>
        </p:txBody>
      </p:sp>
      <p:sp>
        <p:nvSpPr>
          <p:cNvPr id="8" name="Text Box 9"/>
          <p:cNvSpPr txBox="1">
            <a:spLocks noChangeArrowheads="1"/>
          </p:cNvSpPr>
          <p:nvPr/>
        </p:nvSpPr>
        <p:spPr bwMode="auto">
          <a:xfrm>
            <a:off x="528453" y="3782717"/>
            <a:ext cx="8064500" cy="156527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200" b="1" dirty="0">
                <a:solidFill>
                  <a:srgbClr val="000000"/>
                </a:solidFill>
                <a:latin typeface="Times New Roman" pitchFamily="18" charset="0"/>
                <a:ea typeface="宋体" charset="-122"/>
                <a:cs typeface="Times New Roman" pitchFamily="18" charset="0"/>
              </a:rPr>
              <a:t>载流子热运动时，发生两次散射之间所运动的平均距离（统计平均值）称为</a:t>
            </a:r>
            <a:r>
              <a:rPr kumimoji="1" lang="zh-CN" altLang="en-US" sz="2200" b="1" dirty="0">
                <a:solidFill>
                  <a:srgbClr val="000099"/>
                </a:solidFill>
                <a:latin typeface="Times New Roman" pitchFamily="18" charset="0"/>
                <a:ea typeface="宋体" charset="-122"/>
                <a:cs typeface="Times New Roman" pitchFamily="18" charset="0"/>
              </a:rPr>
              <a:t>平均自由程</a:t>
            </a:r>
            <a:r>
              <a:rPr kumimoji="1" lang="zh-CN" altLang="en-US" sz="2200" b="1" dirty="0">
                <a:solidFill>
                  <a:srgbClr val="000000"/>
                </a:solidFill>
                <a:latin typeface="Times New Roman" pitchFamily="18" charset="0"/>
                <a:ea typeface="宋体" charset="-122"/>
                <a:cs typeface="Times New Roman" pitchFamily="18" charset="0"/>
              </a:rPr>
              <a:t>。载流子在</a:t>
            </a:r>
            <a:r>
              <a:rPr kumimoji="1" lang="en-US" altLang="zh-CN" sz="2200" b="1" dirty="0">
                <a:solidFill>
                  <a:srgbClr val="000000"/>
                </a:solidFill>
                <a:latin typeface="Times New Roman" pitchFamily="18" charset="0"/>
                <a:ea typeface="宋体" charset="-122"/>
                <a:cs typeface="Times New Roman" pitchFamily="18" charset="0"/>
              </a:rPr>
              <a:t>Si</a:t>
            </a:r>
            <a:r>
              <a:rPr kumimoji="1" lang="zh-CN" altLang="en-US" sz="2200" b="1" dirty="0">
                <a:solidFill>
                  <a:srgbClr val="000000"/>
                </a:solidFill>
                <a:latin typeface="Times New Roman" pitchFamily="18" charset="0"/>
                <a:ea typeface="宋体" charset="-122"/>
                <a:cs typeface="Times New Roman" pitchFamily="18" charset="0"/>
              </a:rPr>
              <a:t>中的平均自由程约为 </a:t>
            </a:r>
            <a:r>
              <a:rPr kumimoji="1" lang="en-US" altLang="zh-CN" sz="2200" b="1" dirty="0">
                <a:solidFill>
                  <a:srgbClr val="000000"/>
                </a:solidFill>
                <a:latin typeface="Times New Roman" pitchFamily="18" charset="0"/>
                <a:ea typeface="宋体" charset="-122"/>
                <a:cs typeface="Times New Roman" pitchFamily="18" charset="0"/>
              </a:rPr>
              <a:t>1</a:t>
            </a:r>
            <a:r>
              <a:rPr kumimoji="1" lang="en-US" altLang="zh-CN" sz="2200" b="1" i="1" dirty="0">
                <a:solidFill>
                  <a:srgbClr val="000000"/>
                </a:solidFill>
                <a:latin typeface="Times New Roman" pitchFamily="18" charset="0"/>
                <a:ea typeface="宋体" charset="-122"/>
                <a:cs typeface="Times New Roman" pitchFamily="18" charset="0"/>
              </a:rPr>
              <a:t>nm ~ </a:t>
            </a:r>
            <a:r>
              <a:rPr kumimoji="1" lang="en-US" altLang="zh-CN" sz="2200" b="1" dirty="0">
                <a:solidFill>
                  <a:srgbClr val="000000"/>
                </a:solidFill>
                <a:latin typeface="Times New Roman" pitchFamily="18" charset="0"/>
                <a:ea typeface="宋体" charset="-122"/>
                <a:cs typeface="Times New Roman" pitchFamily="18" charset="0"/>
              </a:rPr>
              <a:t>1</a:t>
            </a:r>
            <a:r>
              <a:rPr kumimoji="1" lang="en-US" altLang="zh-CN" sz="2200" b="1" i="1" dirty="0">
                <a:solidFill>
                  <a:srgbClr val="000000"/>
                </a:solidFill>
                <a:latin typeface="Times New Roman" pitchFamily="18" charset="0"/>
                <a:ea typeface="宋体" charset="-122"/>
                <a:cs typeface="Times New Roman" pitchFamily="18" charset="0"/>
                <a:sym typeface="Symbol" pitchFamily="18" charset="2"/>
              </a:rPr>
              <a:t>m</a:t>
            </a:r>
            <a:r>
              <a:rPr kumimoji="1" lang="zh-CN" altLang="en-US" sz="2200" b="1" dirty="0">
                <a:solidFill>
                  <a:srgbClr val="000000"/>
                </a:solidFill>
                <a:latin typeface="Times New Roman" pitchFamily="18" charset="0"/>
                <a:ea typeface="宋体" charset="-122"/>
                <a:cs typeface="Times New Roman" pitchFamily="18" charset="0"/>
                <a:sym typeface="Symbol" pitchFamily="18" charset="2"/>
              </a:rPr>
              <a:t>，与具体的散射类型有关。设其平均自由程 </a:t>
            </a:r>
            <a:r>
              <a:rPr kumimoji="1" lang="en-US" altLang="zh-CN" sz="2200" b="1" i="1" dirty="0">
                <a:solidFill>
                  <a:srgbClr val="000000"/>
                </a:solidFill>
                <a:latin typeface="Times New Roman" pitchFamily="18" charset="0"/>
                <a:ea typeface="宋体" charset="-122"/>
                <a:cs typeface="Times New Roman" pitchFamily="18" charset="0"/>
                <a:sym typeface="Symbol" pitchFamily="18" charset="2"/>
              </a:rPr>
              <a:t>l </a:t>
            </a:r>
            <a:r>
              <a:rPr kumimoji="1" lang="zh-CN" altLang="en-US" sz="2200" b="1" dirty="0">
                <a:solidFill>
                  <a:srgbClr val="000000"/>
                </a:solidFill>
                <a:latin typeface="Times New Roman" pitchFamily="18" charset="0"/>
                <a:ea typeface="宋体" charset="-122"/>
                <a:cs typeface="Times New Roman" pitchFamily="18" charset="0"/>
                <a:sym typeface="Symbol" pitchFamily="18" charset="2"/>
              </a:rPr>
              <a:t>为</a:t>
            </a:r>
            <a:r>
              <a:rPr kumimoji="1" lang="en-US" altLang="zh-CN" sz="2200" b="1" dirty="0">
                <a:solidFill>
                  <a:srgbClr val="000000"/>
                </a:solidFill>
                <a:latin typeface="Times New Roman" pitchFamily="18" charset="0"/>
                <a:ea typeface="宋体" charset="-122"/>
                <a:cs typeface="Times New Roman" pitchFamily="18" charset="0"/>
                <a:sym typeface="Symbol" pitchFamily="18" charset="2"/>
              </a:rPr>
              <a:t>0.</a:t>
            </a:r>
            <a:r>
              <a:rPr kumimoji="1" lang="en-US" altLang="zh-CN" sz="2200" b="1" dirty="0">
                <a:solidFill>
                  <a:srgbClr val="000000"/>
                </a:solidFill>
                <a:latin typeface="Times New Roman" pitchFamily="18" charset="0"/>
                <a:ea typeface="宋体" charset="-122"/>
                <a:cs typeface="Times New Roman" pitchFamily="18" charset="0"/>
              </a:rPr>
              <a:t>1</a:t>
            </a:r>
            <a:r>
              <a:rPr kumimoji="1" lang="en-US" altLang="zh-CN" sz="2200" b="1" i="1" dirty="0">
                <a:solidFill>
                  <a:srgbClr val="000000"/>
                </a:solidFill>
                <a:latin typeface="Times New Roman" pitchFamily="18" charset="0"/>
                <a:ea typeface="宋体" charset="-122"/>
                <a:cs typeface="Times New Roman" pitchFamily="18" charset="0"/>
                <a:sym typeface="Symbol" pitchFamily="18" charset="2"/>
              </a:rPr>
              <a:t>m</a:t>
            </a:r>
            <a:r>
              <a:rPr kumimoji="1" lang="zh-CN" altLang="en-US" sz="2200" b="1" dirty="0">
                <a:solidFill>
                  <a:srgbClr val="000000"/>
                </a:solidFill>
                <a:latin typeface="Times New Roman" pitchFamily="18" charset="0"/>
                <a:ea typeface="宋体" charset="-122"/>
                <a:cs typeface="Times New Roman" pitchFamily="18" charset="0"/>
                <a:sym typeface="Symbol" pitchFamily="18" charset="2"/>
              </a:rPr>
              <a:t>，则其</a:t>
            </a:r>
            <a:r>
              <a:rPr kumimoji="1" lang="zh-CN" altLang="en-US" sz="2200" b="1" dirty="0">
                <a:solidFill>
                  <a:srgbClr val="000099"/>
                </a:solidFill>
                <a:latin typeface="Times New Roman" pitchFamily="18" charset="0"/>
                <a:ea typeface="宋体" charset="-122"/>
                <a:cs typeface="Times New Roman" pitchFamily="18" charset="0"/>
                <a:sym typeface="Symbol" pitchFamily="18" charset="2"/>
              </a:rPr>
              <a:t>平均自由运动时间</a:t>
            </a:r>
            <a:r>
              <a:rPr kumimoji="1" lang="en-US" altLang="zh-CN" sz="2200" b="1" dirty="0">
                <a:solidFill>
                  <a:srgbClr val="000000"/>
                </a:solidFill>
                <a:latin typeface="Times New Roman" pitchFamily="18" charset="0"/>
                <a:ea typeface="宋体" charset="-122"/>
                <a:cs typeface="Times New Roman" pitchFamily="18" charset="0"/>
                <a:sym typeface="Symbol" pitchFamily="18" charset="2"/>
              </a:rPr>
              <a:t>~1</a:t>
            </a:r>
            <a:r>
              <a:rPr kumimoji="1" lang="en-US" altLang="zh-CN" sz="2200" b="1" i="1" dirty="0">
                <a:solidFill>
                  <a:srgbClr val="000000"/>
                </a:solidFill>
                <a:latin typeface="Times New Roman" pitchFamily="18" charset="0"/>
                <a:ea typeface="宋体" charset="-122"/>
                <a:cs typeface="Times New Roman" pitchFamily="18" charset="0"/>
                <a:sym typeface="Symbol" pitchFamily="18" charset="2"/>
              </a:rPr>
              <a:t>ps</a:t>
            </a:r>
            <a:r>
              <a:rPr kumimoji="1" lang="zh-CN" altLang="en-US" sz="2200" b="1" dirty="0">
                <a:solidFill>
                  <a:srgbClr val="000000"/>
                </a:solidFill>
                <a:latin typeface="Times New Roman" pitchFamily="18" charset="0"/>
                <a:ea typeface="宋体" charset="-122"/>
                <a:cs typeface="Times New Roman" pitchFamily="18" charset="0"/>
                <a:sym typeface="Symbol" pitchFamily="18" charset="2"/>
              </a:rPr>
              <a:t>。</a:t>
            </a:r>
          </a:p>
        </p:txBody>
      </p:sp>
      <p:sp>
        <p:nvSpPr>
          <p:cNvPr id="9" name="矩形 8"/>
          <p:cNvSpPr/>
          <p:nvPr/>
        </p:nvSpPr>
        <p:spPr>
          <a:xfrm>
            <a:off x="510253" y="492483"/>
            <a:ext cx="5234125" cy="523220"/>
          </a:xfrm>
          <a:prstGeom prst="rect">
            <a:avLst/>
          </a:prstGeom>
        </p:spPr>
        <p:txBody>
          <a:bodyPr wrap="none">
            <a:spAutoFit/>
          </a:bodyPr>
          <a:lstStyle/>
          <a:p>
            <a:pPr lvl="0">
              <a:spcBef>
                <a:spcPct val="50000"/>
              </a:spcBef>
            </a:pPr>
            <a:r>
              <a:rPr kumimoji="1" lang="zh-CN" altLang="en-US" sz="2800" b="1" dirty="0">
                <a:solidFill>
                  <a:srgbClr val="D96227"/>
                </a:solidFill>
                <a:latin typeface="Times New Roman" pitchFamily="18" charset="0"/>
                <a:ea typeface="宋体" pitchFamily="2" charset="-122"/>
                <a:cs typeface="Times New Roman" pitchFamily="18" charset="0"/>
              </a:rPr>
              <a:t>半导体中载流子散射效应的表征</a:t>
            </a:r>
          </a:p>
        </p:txBody>
      </p:sp>
    </p:spTree>
    <p:extLst>
      <p:ext uri="{BB962C8B-B14F-4D97-AF65-F5344CB8AC3E}">
        <p14:creationId xmlns:p14="http://schemas.microsoft.com/office/powerpoint/2010/main" val="2932331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a:t>
            </a:fld>
            <a:endParaRPr lang="zh-CN" altLang="en-US"/>
          </a:p>
        </p:txBody>
      </p:sp>
      <p:graphicFrame>
        <p:nvGraphicFramePr>
          <p:cNvPr id="4" name="Object 12"/>
          <p:cNvGraphicFramePr>
            <a:graphicFrameLocks noChangeAspect="1"/>
          </p:cNvGraphicFramePr>
          <p:nvPr>
            <p:extLst>
              <p:ext uri="{D42A27DB-BD31-4B8C-83A1-F6EECF244321}">
                <p14:modId xmlns:p14="http://schemas.microsoft.com/office/powerpoint/2010/main" val="1580153574"/>
              </p:ext>
            </p:extLst>
          </p:nvPr>
        </p:nvGraphicFramePr>
        <p:xfrm>
          <a:off x="2126687" y="4615443"/>
          <a:ext cx="4278312" cy="1046162"/>
        </p:xfrm>
        <a:graphic>
          <a:graphicData uri="http://schemas.openxmlformats.org/presentationml/2006/ole">
            <mc:AlternateContent xmlns:mc="http://schemas.openxmlformats.org/markup-compatibility/2006">
              <mc:Choice xmlns:v="urn:schemas-microsoft-com:vml" Requires="v">
                <p:oleObj spid="_x0000_s12377" name="Equation" r:id="rId3" imgW="2260600" imgH="558800" progId="Equation.DSMT4">
                  <p:embed/>
                </p:oleObj>
              </mc:Choice>
              <mc:Fallback>
                <p:oleObj name="Equation" r:id="rId3" imgW="2260600" imgH="558800" progId="Equation.DSMT4">
                  <p:embed/>
                  <p:pic>
                    <p:nvPicPr>
                      <p:cNvPr id="39938"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6687" y="4615443"/>
                        <a:ext cx="4278312" cy="1046162"/>
                      </a:xfrm>
                      <a:prstGeom prst="rect">
                        <a:avLst/>
                      </a:prstGeom>
                      <a:solidFill>
                        <a:srgbClr val="FFFFFF"/>
                      </a:solidFill>
                    </p:spPr>
                  </p:pic>
                </p:oleObj>
              </mc:Fallback>
            </mc:AlternateContent>
          </a:graphicData>
        </a:graphic>
      </p:graphicFrame>
      <p:sp>
        <p:nvSpPr>
          <p:cNvPr id="5" name="Text Box 6"/>
          <p:cNvSpPr txBox="1">
            <a:spLocks noChangeArrowheads="1"/>
          </p:cNvSpPr>
          <p:nvPr/>
        </p:nvSpPr>
        <p:spPr bwMode="auto">
          <a:xfrm>
            <a:off x="501085" y="701769"/>
            <a:ext cx="5903913" cy="480131"/>
          </a:xfrm>
          <a:prstGeom prst="rect">
            <a:avLst/>
          </a:prstGeom>
          <a:noFill/>
          <a:ln w="12700" cap="sq">
            <a:noFill/>
            <a:miter lim="800000"/>
            <a:headEnd type="none" w="sm" len="sm"/>
            <a:tailEnd type="none" w="sm" len="sm"/>
          </a:ln>
          <a:effectLst/>
        </p:spPr>
        <p:txBody>
          <a:bodyPr wrap="square">
            <a:spAutoFit/>
          </a:bodyP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90000"/>
              </a:lnSpc>
              <a:spcBef>
                <a:spcPct val="50000"/>
              </a:spcBef>
              <a:spcAft>
                <a:spcPct val="0"/>
              </a:spcAft>
              <a:buClrTx/>
              <a:buSzTx/>
              <a:buFontTx/>
              <a:buNone/>
              <a:tabLst/>
              <a:defRPr/>
            </a:pPr>
            <a:r>
              <a:rPr lang="zh-CN" altLang="en-US" sz="2800" b="1" dirty="0">
                <a:solidFill>
                  <a:srgbClr val="D96227"/>
                </a:solidFill>
                <a:cs typeface="Times New Roman" pitchFamily="18" charset="0"/>
              </a:rPr>
              <a:t>平均自由时间与散射概率的关系</a:t>
            </a:r>
          </a:p>
        </p:txBody>
      </p:sp>
      <p:graphicFrame>
        <p:nvGraphicFramePr>
          <p:cNvPr id="6" name="Object 8"/>
          <p:cNvGraphicFramePr>
            <a:graphicFrameLocks noChangeAspect="1"/>
          </p:cNvGraphicFramePr>
          <p:nvPr>
            <p:extLst>
              <p:ext uri="{D42A27DB-BD31-4B8C-83A1-F6EECF244321}">
                <p14:modId xmlns:p14="http://schemas.microsoft.com/office/powerpoint/2010/main" val="1769598121"/>
              </p:ext>
            </p:extLst>
          </p:nvPr>
        </p:nvGraphicFramePr>
        <p:xfrm>
          <a:off x="2690249" y="3898602"/>
          <a:ext cx="1749425" cy="482600"/>
        </p:xfrm>
        <a:graphic>
          <a:graphicData uri="http://schemas.openxmlformats.org/presentationml/2006/ole">
            <mc:AlternateContent xmlns:mc="http://schemas.openxmlformats.org/markup-compatibility/2006">
              <mc:Choice xmlns:v="urn:schemas-microsoft-com:vml" Requires="v">
                <p:oleObj spid="_x0000_s12378" name="公式" r:id="rId5" imgW="863225" imgH="241195" progId="Equation.DSMT4">
                  <p:embed/>
                </p:oleObj>
              </mc:Choice>
              <mc:Fallback>
                <p:oleObj name="公式" r:id="rId5" imgW="863225" imgH="241195" progId="Equation.DSMT4">
                  <p:embed/>
                  <p:pic>
                    <p:nvPicPr>
                      <p:cNvPr id="39945"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0249" y="3898602"/>
                        <a:ext cx="1749425" cy="482600"/>
                      </a:xfrm>
                      <a:prstGeom prst="rect">
                        <a:avLst/>
                      </a:prstGeom>
                      <a:solidFill>
                        <a:srgbClr val="FFFFFF"/>
                      </a:solidFill>
                    </p:spPr>
                  </p:pic>
                </p:oleObj>
              </mc:Fallback>
            </mc:AlternateContent>
          </a:graphicData>
        </a:graphic>
      </p:graphicFrame>
      <p:sp>
        <p:nvSpPr>
          <p:cNvPr id="7" name="Text Box 9"/>
          <p:cNvSpPr txBox="1">
            <a:spLocks noChangeArrowheads="1"/>
          </p:cNvSpPr>
          <p:nvPr/>
        </p:nvSpPr>
        <p:spPr bwMode="auto">
          <a:xfrm>
            <a:off x="547717" y="1324113"/>
            <a:ext cx="8135938" cy="1311128"/>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20000"/>
              </a:lnSpc>
              <a:spcBef>
                <a:spcPct val="0"/>
              </a:spcBef>
              <a:spcAft>
                <a:spcPct val="0"/>
              </a:spcAft>
            </a:pPr>
            <a:r>
              <a:rPr kumimoji="1" lang="zh-CN" altLang="en-US" sz="2200" b="1" dirty="0" smtClean="0">
                <a:solidFill>
                  <a:srgbClr val="000000"/>
                </a:solidFill>
                <a:latin typeface="Times New Roman" pitchFamily="18" charset="0"/>
                <a:ea typeface="宋体" charset="-122"/>
              </a:rPr>
              <a:t>统计物理假设，散射使微观粒子失去其原有的状态，因此，半导体</a:t>
            </a:r>
            <a:r>
              <a:rPr kumimoji="1" lang="zh-CN" altLang="en-US" sz="2200" b="1" dirty="0">
                <a:solidFill>
                  <a:srgbClr val="000000"/>
                </a:solidFill>
                <a:latin typeface="Times New Roman" pitchFamily="18" charset="0"/>
                <a:ea typeface="宋体" charset="-122"/>
              </a:rPr>
              <a:t>中某状态的粒子数</a:t>
            </a:r>
            <a:r>
              <a:rPr kumimoji="1" lang="zh-CN" altLang="en-US" sz="2200" b="1" dirty="0" smtClean="0">
                <a:solidFill>
                  <a:srgbClr val="000000"/>
                </a:solidFill>
                <a:latin typeface="Times New Roman" pitchFamily="18" charset="0"/>
                <a:ea typeface="宋体" charset="-122"/>
              </a:rPr>
              <a:t>浓度会由于</a:t>
            </a:r>
            <a:r>
              <a:rPr kumimoji="1" lang="zh-CN" altLang="en-US" sz="2200" b="1" dirty="0">
                <a:solidFill>
                  <a:srgbClr val="000000"/>
                </a:solidFill>
                <a:latin typeface="Times New Roman" pitchFamily="18" charset="0"/>
                <a:ea typeface="宋体" charset="-122"/>
              </a:rPr>
              <a:t>散射而减少</a:t>
            </a:r>
            <a:r>
              <a:rPr kumimoji="1" lang="zh-CN" altLang="en-US" sz="2200" b="1" dirty="0" smtClean="0">
                <a:solidFill>
                  <a:srgbClr val="000000"/>
                </a:solidFill>
                <a:latin typeface="Times New Roman" pitchFamily="18" charset="0"/>
                <a:ea typeface="宋体" charset="-122"/>
              </a:rPr>
              <a:t>，假设在</a:t>
            </a:r>
            <a:r>
              <a:rPr kumimoji="1" lang="en-US" altLang="zh-CN" sz="2200" b="1" i="1" dirty="0" err="1">
                <a:solidFill>
                  <a:srgbClr val="000000"/>
                </a:solidFill>
                <a:latin typeface="Times New Roman" pitchFamily="18" charset="0"/>
                <a:ea typeface="宋体" charset="-122"/>
              </a:rPr>
              <a:t>t~t+dt</a:t>
            </a:r>
            <a:r>
              <a:rPr kumimoji="1" lang="zh-CN" altLang="en-US" sz="2200" b="1" dirty="0">
                <a:solidFill>
                  <a:srgbClr val="000000"/>
                </a:solidFill>
                <a:latin typeface="Times New Roman" pitchFamily="18" charset="0"/>
                <a:ea typeface="宋体" charset="-122"/>
              </a:rPr>
              <a:t>时间内被散射的粒子</a:t>
            </a:r>
            <a:r>
              <a:rPr kumimoji="1" lang="en-US" altLang="zh-CN" sz="2200" b="1" i="1" dirty="0" err="1">
                <a:solidFill>
                  <a:srgbClr val="000000"/>
                </a:solidFill>
                <a:latin typeface="Times New Roman" pitchFamily="18" charset="0"/>
                <a:ea typeface="宋体" charset="-122"/>
              </a:rPr>
              <a:t>dN</a:t>
            </a:r>
            <a:r>
              <a:rPr kumimoji="1" lang="en-US" altLang="zh-CN" sz="2200" b="1" i="1" dirty="0">
                <a:solidFill>
                  <a:srgbClr val="000000"/>
                </a:solidFill>
                <a:latin typeface="Times New Roman" pitchFamily="18" charset="0"/>
                <a:ea typeface="宋体" charset="-122"/>
              </a:rPr>
              <a:t>(t)</a:t>
            </a:r>
            <a:r>
              <a:rPr kumimoji="1" lang="zh-CN" altLang="en-US" sz="2200" b="1" dirty="0">
                <a:solidFill>
                  <a:srgbClr val="000000"/>
                </a:solidFill>
                <a:latin typeface="Times New Roman" pitchFamily="18" charset="0"/>
                <a:ea typeface="宋体" charset="-122"/>
              </a:rPr>
              <a:t>与粒子浓度</a:t>
            </a:r>
            <a:r>
              <a:rPr kumimoji="1" lang="en-US" altLang="zh-CN" sz="2200" b="1" i="1" dirty="0">
                <a:solidFill>
                  <a:srgbClr val="000000"/>
                </a:solidFill>
                <a:latin typeface="Times New Roman" pitchFamily="18" charset="0"/>
                <a:ea typeface="宋体" charset="-122"/>
              </a:rPr>
              <a:t>N(t)</a:t>
            </a:r>
            <a:r>
              <a:rPr kumimoji="1" lang="zh-CN" altLang="en-US" sz="2200" b="1" dirty="0">
                <a:solidFill>
                  <a:srgbClr val="000000"/>
                </a:solidFill>
                <a:latin typeface="Times New Roman" pitchFamily="18" charset="0"/>
                <a:ea typeface="宋体" charset="-122"/>
              </a:rPr>
              <a:t>和时间间隔</a:t>
            </a:r>
            <a:r>
              <a:rPr kumimoji="1" lang="en-US" altLang="zh-CN" sz="2200" b="1" i="1" dirty="0" err="1">
                <a:solidFill>
                  <a:srgbClr val="000000"/>
                </a:solidFill>
                <a:latin typeface="Times New Roman" pitchFamily="18" charset="0"/>
                <a:ea typeface="宋体" charset="-122"/>
              </a:rPr>
              <a:t>dt</a:t>
            </a:r>
            <a:r>
              <a:rPr kumimoji="1" lang="zh-CN" altLang="en-US" sz="2200" b="1" dirty="0">
                <a:solidFill>
                  <a:srgbClr val="000000"/>
                </a:solidFill>
                <a:latin typeface="Times New Roman" pitchFamily="18" charset="0"/>
                <a:ea typeface="宋体" charset="-122"/>
              </a:rPr>
              <a:t>成正比。即：</a:t>
            </a:r>
          </a:p>
        </p:txBody>
      </p:sp>
      <p:sp>
        <p:nvSpPr>
          <p:cNvPr id="8" name="Text Box 10"/>
          <p:cNvSpPr txBox="1">
            <a:spLocks noChangeArrowheads="1"/>
          </p:cNvSpPr>
          <p:nvPr/>
        </p:nvSpPr>
        <p:spPr bwMode="auto">
          <a:xfrm>
            <a:off x="4719074" y="3920827"/>
            <a:ext cx="3048000" cy="46037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20000"/>
              </a:lnSpc>
              <a:spcBef>
                <a:spcPct val="50000"/>
              </a:spcBef>
              <a:spcAft>
                <a:spcPct val="0"/>
              </a:spcAft>
            </a:pPr>
            <a:r>
              <a:rPr kumimoji="1" lang="zh-CN" altLang="en-US" sz="2200" b="1" dirty="0">
                <a:solidFill>
                  <a:srgbClr val="000000"/>
                </a:solidFill>
                <a:latin typeface="Times New Roman" pitchFamily="18" charset="0"/>
                <a:ea typeface="宋体" charset="-122"/>
              </a:rPr>
              <a:t>其中</a:t>
            </a:r>
            <a:r>
              <a:rPr kumimoji="1" lang="en-US" altLang="zh-CN" sz="2200" b="1" i="1" dirty="0">
                <a:solidFill>
                  <a:srgbClr val="000000"/>
                </a:solidFill>
                <a:latin typeface="Times New Roman" pitchFamily="18" charset="0"/>
                <a:ea typeface="宋体" charset="-122"/>
              </a:rPr>
              <a:t>P</a:t>
            </a:r>
            <a:r>
              <a:rPr kumimoji="1" lang="zh-CN" altLang="en-US" sz="2200" b="1" dirty="0">
                <a:solidFill>
                  <a:srgbClr val="000000"/>
                </a:solidFill>
                <a:latin typeface="Times New Roman" pitchFamily="18" charset="0"/>
                <a:ea typeface="宋体" charset="-122"/>
              </a:rPr>
              <a:t>是散射概率</a:t>
            </a:r>
          </a:p>
        </p:txBody>
      </p:sp>
      <p:graphicFrame>
        <p:nvGraphicFramePr>
          <p:cNvPr id="9" name="Object 15"/>
          <p:cNvGraphicFramePr>
            <a:graphicFrameLocks noChangeAspect="1"/>
          </p:cNvGraphicFramePr>
          <p:nvPr>
            <p:extLst>
              <p:ext uri="{D42A27DB-BD31-4B8C-83A1-F6EECF244321}">
                <p14:modId xmlns:p14="http://schemas.microsoft.com/office/powerpoint/2010/main" val="4140368611"/>
              </p:ext>
            </p:extLst>
          </p:nvPr>
        </p:nvGraphicFramePr>
        <p:xfrm>
          <a:off x="1110686" y="2738835"/>
          <a:ext cx="1828800" cy="379412"/>
        </p:xfrm>
        <a:graphic>
          <a:graphicData uri="http://schemas.openxmlformats.org/presentationml/2006/ole">
            <mc:AlternateContent xmlns:mc="http://schemas.openxmlformats.org/markup-compatibility/2006">
              <mc:Choice xmlns:v="urn:schemas-microsoft-com:vml" Requires="v">
                <p:oleObj spid="_x0000_s12379" name="Equation" r:id="rId7" imgW="977476" imgH="203112" progId="Equation.3">
                  <p:embed/>
                </p:oleObj>
              </mc:Choice>
              <mc:Fallback>
                <p:oleObj name="Equation" r:id="rId7" imgW="977476" imgH="203112" progId="Equation.3">
                  <p:embed/>
                  <p:pic>
                    <p:nvPicPr>
                      <p:cNvPr id="39949"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0686" y="2738835"/>
                        <a:ext cx="1828800" cy="379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17"/>
          <p:cNvSpPr>
            <a:spLocks noChangeArrowheads="1"/>
          </p:cNvSpPr>
          <p:nvPr/>
        </p:nvSpPr>
        <p:spPr bwMode="auto">
          <a:xfrm>
            <a:off x="470924" y="3258371"/>
            <a:ext cx="5575565" cy="430887"/>
          </a:xfrm>
          <a:prstGeom prst="rect">
            <a:avLst/>
          </a:prstGeom>
          <a:noFill/>
          <a:ln w="9525">
            <a:noFill/>
            <a:miter lim="800000"/>
            <a:headEnd/>
            <a:tailEnd/>
          </a:ln>
        </p:spPr>
        <p:txBody>
          <a:bodyPr wrap="none">
            <a:spAutoFit/>
          </a:bodyPr>
          <a:lstStyle/>
          <a:p>
            <a:pPr defTabSz="914400" fontAlgn="base">
              <a:spcBef>
                <a:spcPct val="0"/>
              </a:spcBef>
              <a:spcAft>
                <a:spcPct val="0"/>
              </a:spcAft>
            </a:pPr>
            <a:r>
              <a:rPr kumimoji="1" lang="zh-CN" altLang="en-US" sz="2200" b="1" dirty="0">
                <a:solidFill>
                  <a:srgbClr val="000000"/>
                </a:solidFill>
                <a:latin typeface="Times New Roman" pitchFamily="18" charset="0"/>
                <a:ea typeface="宋体" charset="-122"/>
              </a:rPr>
              <a:t>于是</a:t>
            </a:r>
            <a:r>
              <a:rPr kumimoji="1" lang="zh-CN" altLang="en-US" sz="2200" b="1" dirty="0" smtClean="0">
                <a:solidFill>
                  <a:srgbClr val="000000"/>
                </a:solidFill>
                <a:latin typeface="Times New Roman" pitchFamily="18" charset="0"/>
                <a:ea typeface="宋体" charset="-122"/>
              </a:rPr>
              <a:t>，粒子</a:t>
            </a:r>
            <a:r>
              <a:rPr kumimoji="1" lang="zh-CN" altLang="en-US" sz="2200" b="1" dirty="0">
                <a:solidFill>
                  <a:srgbClr val="000000"/>
                </a:solidFill>
                <a:latin typeface="Times New Roman" pitchFamily="18" charset="0"/>
                <a:ea typeface="宋体" charset="-122"/>
              </a:rPr>
              <a:t>浓度随时间演变满足下列方程：</a:t>
            </a:r>
          </a:p>
        </p:txBody>
      </p:sp>
      <p:sp>
        <p:nvSpPr>
          <p:cNvPr id="11" name="TextBox 19"/>
          <p:cNvSpPr txBox="1"/>
          <p:nvPr/>
        </p:nvSpPr>
        <p:spPr bwMode="auto">
          <a:xfrm>
            <a:off x="677749" y="5658871"/>
            <a:ext cx="7875875" cy="430887"/>
          </a:xfrm>
          <a:prstGeom prst="rect">
            <a:avLst/>
          </a:prstGeom>
          <a:noFill/>
          <a:ln w="12700" cap="sq">
            <a:noFill/>
            <a:miter lim="800000"/>
            <a:headEnd type="none" w="sm" len="sm"/>
            <a:tailEnd type="none" w="sm" len="sm"/>
          </a:ln>
          <a:effectLst/>
        </p:spPr>
        <p:txBody>
          <a:bodyPr wrap="square" rtlCol="0">
            <a:spAutoFit/>
          </a:bodyPr>
          <a:lstStyle/>
          <a:p>
            <a:pPr defTabSz="914400" fontAlgn="base">
              <a:spcBef>
                <a:spcPct val="50000"/>
              </a:spcBef>
              <a:spcAft>
                <a:spcPct val="0"/>
              </a:spcAft>
            </a:pPr>
            <a:r>
              <a:rPr kumimoji="1" lang="zh-CN" altLang="en-US" sz="2200" b="1" dirty="0" smtClean="0">
                <a:solidFill>
                  <a:srgbClr val="FF6600"/>
                </a:solidFill>
                <a:effectLst>
                  <a:outerShdw blurRad="38100" dist="38100" dir="2700000" algn="tl">
                    <a:srgbClr val="C0C0C0"/>
                  </a:outerShdw>
                </a:effectLst>
                <a:latin typeface="Times New Roman" pitchFamily="18" charset="0"/>
                <a:ea typeface="宋体" charset="-122"/>
              </a:rPr>
              <a:t>这个重要的关系式，描述了平均自由时间与散射概率的关系</a:t>
            </a:r>
            <a:endParaRPr kumimoji="1" lang="zh-CN" altLang="en-US" sz="2200" b="1" dirty="0">
              <a:solidFill>
                <a:srgbClr val="FF6600"/>
              </a:solidFill>
              <a:effectLst>
                <a:outerShdw blurRad="38100" dist="38100" dir="2700000" algn="tl">
                  <a:srgbClr val="C0C0C0"/>
                </a:outerShdw>
              </a:effectLst>
              <a:latin typeface="Times New Roman" pitchFamily="18" charset="0"/>
              <a:ea typeface="宋体" charset="-122"/>
            </a:endParaRPr>
          </a:p>
        </p:txBody>
      </p:sp>
    </p:spTree>
    <p:extLst>
      <p:ext uri="{BB962C8B-B14F-4D97-AF65-F5344CB8AC3E}">
        <p14:creationId xmlns:p14="http://schemas.microsoft.com/office/powerpoint/2010/main" val="1206325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a:t>
            </a:fld>
            <a:endParaRPr lang="zh-CN" altLang="en-US"/>
          </a:p>
        </p:txBody>
      </p:sp>
      <p:sp>
        <p:nvSpPr>
          <p:cNvPr id="3" name="Text Box 6"/>
          <p:cNvSpPr txBox="1">
            <a:spLocks noChangeArrowheads="1"/>
          </p:cNvSpPr>
          <p:nvPr/>
        </p:nvSpPr>
        <p:spPr bwMode="auto">
          <a:xfrm>
            <a:off x="501086" y="170825"/>
            <a:ext cx="4876800" cy="480131"/>
          </a:xfrm>
          <a:prstGeom prst="rect">
            <a:avLst/>
          </a:prstGeom>
          <a:noFill/>
          <a:ln w="12700" cap="sq">
            <a:noFill/>
            <a:miter lim="800000"/>
            <a:headEnd type="none" w="sm" len="sm"/>
            <a:tailEnd type="none" w="sm" len="sm"/>
          </a:ln>
          <a:effectLst/>
        </p:spPr>
        <p:txBody>
          <a:bodyPr>
            <a:spAutoFit/>
          </a:bodyPr>
          <a:lstStyle>
            <a:lvl1pPr eaLnBrk="0" hangingPunct="0">
              <a:defRPr kumimoji="1" sz="3200">
                <a:solidFill>
                  <a:schemeClr val="tx1"/>
                </a:solidFill>
                <a:latin typeface="Times New Roman" pitchFamily="18" charset="0"/>
                <a:ea typeface="宋体" pitchFamily="2" charset="-122"/>
              </a:defRPr>
            </a:lvl1pPr>
            <a:lvl2pPr marL="742950" indent="-285750" eaLnBrk="0" hangingPunct="0">
              <a:defRPr kumimoji="1" sz="3200">
                <a:solidFill>
                  <a:schemeClr val="tx1"/>
                </a:solidFill>
                <a:latin typeface="Times New Roman" pitchFamily="18" charset="0"/>
                <a:ea typeface="宋体" pitchFamily="2" charset="-122"/>
              </a:defRPr>
            </a:lvl2pPr>
            <a:lvl3pPr marL="1143000" indent="-228600" eaLnBrk="0" hangingPunct="0">
              <a:defRPr kumimoji="1" sz="3200">
                <a:solidFill>
                  <a:schemeClr val="tx1"/>
                </a:solidFill>
                <a:latin typeface="Times New Roman" pitchFamily="18" charset="0"/>
                <a:ea typeface="宋体" pitchFamily="2" charset="-122"/>
              </a:defRPr>
            </a:lvl3pPr>
            <a:lvl4pPr marL="1600200" indent="-228600" eaLnBrk="0" hangingPunct="0">
              <a:defRPr kumimoji="1" sz="3200">
                <a:solidFill>
                  <a:schemeClr val="tx1"/>
                </a:solidFill>
                <a:latin typeface="Times New Roman" pitchFamily="18" charset="0"/>
                <a:ea typeface="宋体" pitchFamily="2" charset="-122"/>
              </a:defRPr>
            </a:lvl4pPr>
            <a:lvl5pPr marL="2057400" indent="-228600" eaLnBrk="0" hangingPunct="0">
              <a:defRPr kumimoji="1"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90000"/>
              </a:lnSpc>
              <a:spcBef>
                <a:spcPct val="50000"/>
              </a:spcBef>
              <a:spcAft>
                <a:spcPct val="0"/>
              </a:spcAft>
              <a:buClrTx/>
              <a:buSzTx/>
              <a:buFontTx/>
              <a:buNone/>
              <a:tabLst/>
              <a:defRPr/>
            </a:pPr>
            <a:r>
              <a:rPr lang="zh-CN" altLang="en-US" sz="2800" b="1" dirty="0" smtClean="0">
                <a:solidFill>
                  <a:srgbClr val="D96227"/>
                </a:solidFill>
                <a:cs typeface="Times New Roman" pitchFamily="18" charset="0"/>
              </a:rPr>
              <a:t>影响迁移率的因素</a:t>
            </a:r>
            <a:endParaRPr lang="zh-CN" altLang="en-US" sz="2800" b="1" dirty="0">
              <a:solidFill>
                <a:srgbClr val="D96227"/>
              </a:solidFill>
              <a:cs typeface="Times New Roman" pitchFamily="18" charset="0"/>
            </a:endParaRPr>
          </a:p>
        </p:txBody>
      </p:sp>
      <p:sp>
        <p:nvSpPr>
          <p:cNvPr id="7" name="Text Box 6"/>
          <p:cNvSpPr txBox="1">
            <a:spLocks noChangeArrowheads="1"/>
          </p:cNvSpPr>
          <p:nvPr/>
        </p:nvSpPr>
        <p:spPr bwMode="auto">
          <a:xfrm>
            <a:off x="501086" y="1535203"/>
            <a:ext cx="8407400" cy="461665"/>
          </a:xfrm>
          <a:prstGeom prst="rect">
            <a:avLst/>
          </a:prstGeom>
          <a:solidFill>
            <a:srgbClr val="FFFFFF"/>
          </a:solidFill>
          <a:ln w="12700" cap="sq">
            <a:noFill/>
            <a:miter lim="800000"/>
            <a:headEnd type="none" w="sm" len="sm"/>
            <a:tailEnd type="none" w="sm" len="sm"/>
          </a:ln>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charset="-122"/>
              </a:rPr>
              <a:t>影响迁移率的因素</a:t>
            </a:r>
            <a:r>
              <a:rPr kumimoji="1" lang="zh-CN" altLang="en-US" sz="2400" b="1" kern="0" dirty="0" smtClean="0">
                <a:solidFill>
                  <a:srgbClr val="000000"/>
                </a:solidFill>
                <a:latin typeface="Times New Roman" pitchFamily="18" charset="0"/>
                <a:ea typeface="宋体" charset="-122"/>
                <a:sym typeface="Wingdings" panose="05000000000000000000" pitchFamily="2" charset="2"/>
              </a:rPr>
              <a:t>：（</a:t>
            </a:r>
            <a:r>
              <a:rPr kumimoji="1" lang="en-US" altLang="zh-CN" sz="2400" b="1" kern="0" dirty="0" smtClean="0">
                <a:solidFill>
                  <a:srgbClr val="000000"/>
                </a:solidFill>
                <a:latin typeface="Times New Roman" pitchFamily="18" charset="0"/>
                <a:ea typeface="宋体" charset="-122"/>
                <a:sym typeface="Wingdings" panose="05000000000000000000" pitchFamily="2" charset="2"/>
              </a:rPr>
              <a:t>1</a:t>
            </a:r>
            <a:r>
              <a:rPr kumimoji="1" lang="zh-CN" altLang="en-US" sz="2400" b="1" kern="0" dirty="0" smtClean="0">
                <a:solidFill>
                  <a:srgbClr val="000000"/>
                </a:solidFill>
                <a:latin typeface="Times New Roman" pitchFamily="18" charset="0"/>
                <a:ea typeface="宋体" charset="-122"/>
                <a:sym typeface="Wingdings" panose="05000000000000000000" pitchFamily="2" charset="2"/>
              </a:rPr>
              <a:t>）</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charset="-122"/>
              </a:rPr>
              <a:t>有效质量；（</a:t>
            </a: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charset="-122"/>
              </a:rPr>
              <a:t>2</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charset="-122"/>
              </a:rPr>
              <a:t>）弛豫时间（散射</a:t>
            </a: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charset="-122"/>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3107164498"/>
              </p:ext>
            </p:extLst>
          </p:nvPr>
        </p:nvGraphicFramePr>
        <p:xfrm>
          <a:off x="2694807" y="577079"/>
          <a:ext cx="1524000" cy="996950"/>
        </p:xfrm>
        <a:graphic>
          <a:graphicData uri="http://schemas.openxmlformats.org/presentationml/2006/ole">
            <mc:AlternateContent xmlns:mc="http://schemas.openxmlformats.org/markup-compatibility/2006">
              <mc:Choice xmlns:v="urn:schemas-microsoft-com:vml" Requires="v">
                <p:oleObj spid="_x0000_s13518" name="公式" r:id="rId3" imgW="495085" imgH="393529" progId="Equation.3">
                  <p:embed/>
                </p:oleObj>
              </mc:Choice>
              <mc:Fallback>
                <p:oleObj name="公式" r:id="rId3" imgW="495085" imgH="393529" progId="Equation.3">
                  <p:embed/>
                  <p:pic>
                    <p:nvPicPr>
                      <p:cNvPr id="46086"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4807" y="577079"/>
                        <a:ext cx="1524000" cy="996950"/>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8"/>
          <p:cNvSpPr txBox="1">
            <a:spLocks noChangeArrowheads="1"/>
          </p:cNvSpPr>
          <p:nvPr/>
        </p:nvSpPr>
        <p:spPr bwMode="auto">
          <a:xfrm>
            <a:off x="539750" y="826317"/>
            <a:ext cx="2519363" cy="498475"/>
          </a:xfrm>
          <a:prstGeom prst="rect">
            <a:avLst/>
          </a:prstGeom>
          <a:noFill/>
          <a:ln w="12700" cap="sq">
            <a:noFill/>
            <a:miter lim="800000"/>
            <a:headEnd type="none" w="sm" len="sm"/>
            <a:tailEnd type="none" w="sm" len="sm"/>
          </a:ln>
          <a:effectLst/>
        </p:spPr>
        <p:txBody>
          <a:bodyPr>
            <a:spAutoFit/>
          </a:bodyPr>
          <a:lstStyle/>
          <a:p>
            <a:pPr defTabSz="914400" fontAlgn="base">
              <a:lnSpc>
                <a:spcPct val="110000"/>
              </a:lnSpc>
              <a:spcAft>
                <a:spcPct val="0"/>
              </a:spcAft>
              <a:defRPr/>
            </a:pPr>
            <a:r>
              <a:rPr kumimoji="1" lang="zh-CN" altLang="en-US" sz="2400" b="1" dirty="0" smtClean="0">
                <a:solidFill>
                  <a:srgbClr val="FF6600"/>
                </a:solidFill>
                <a:effectLst>
                  <a:outerShdw blurRad="38100" dist="38100" dir="2700000" algn="tl">
                    <a:srgbClr val="C0C0C0"/>
                  </a:outerShdw>
                </a:effectLst>
                <a:latin typeface="Times New Roman" pitchFamily="18" charset="0"/>
                <a:ea typeface="宋体" pitchFamily="2" charset="-122"/>
              </a:rPr>
              <a:t>迁移率</a:t>
            </a:r>
            <a:r>
              <a:rPr kumimoji="1" lang="zh-CN" altLang="en-US" sz="2400" b="1" dirty="0">
                <a:solidFill>
                  <a:srgbClr val="FF6600"/>
                </a:solidFill>
                <a:effectLst>
                  <a:outerShdw blurRad="38100" dist="38100" dir="2700000" algn="tl">
                    <a:srgbClr val="C0C0C0"/>
                  </a:outerShdw>
                </a:effectLst>
                <a:latin typeface="Times New Roman" pitchFamily="18" charset="0"/>
                <a:ea typeface="宋体" pitchFamily="2" charset="-122"/>
              </a:rPr>
              <a:t>公式</a:t>
            </a:r>
          </a:p>
        </p:txBody>
      </p:sp>
      <p:graphicFrame>
        <p:nvGraphicFramePr>
          <p:cNvPr id="23" name="Object 4"/>
          <p:cNvGraphicFramePr>
            <a:graphicFrameLocks noChangeAspect="1"/>
          </p:cNvGraphicFramePr>
          <p:nvPr>
            <p:extLst>
              <p:ext uri="{D42A27DB-BD31-4B8C-83A1-F6EECF244321}">
                <p14:modId xmlns:p14="http://schemas.microsoft.com/office/powerpoint/2010/main" val="1165173610"/>
              </p:ext>
            </p:extLst>
          </p:nvPr>
        </p:nvGraphicFramePr>
        <p:xfrm>
          <a:off x="6783388" y="2500518"/>
          <a:ext cx="1447800" cy="473075"/>
        </p:xfrm>
        <a:graphic>
          <a:graphicData uri="http://schemas.openxmlformats.org/presentationml/2006/ole">
            <mc:AlternateContent xmlns:mc="http://schemas.openxmlformats.org/markup-compatibility/2006">
              <mc:Choice xmlns:v="urn:schemas-microsoft-com:vml" Requires="v">
                <p:oleObj spid="_x0000_s13519" name="Equation" r:id="rId5" imgW="698500" imgH="228600" progId="Equation.3">
                  <p:embed/>
                </p:oleObj>
              </mc:Choice>
              <mc:Fallback>
                <p:oleObj name="Equation" r:id="rId5" imgW="698500" imgH="228600" progId="Equation.3">
                  <p:embed/>
                  <p:pic>
                    <p:nvPicPr>
                      <p:cNvPr id="4710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3388" y="2500518"/>
                        <a:ext cx="144780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1"/>
          <p:cNvGraphicFramePr>
            <a:graphicFrameLocks noChangeAspect="1"/>
          </p:cNvGraphicFramePr>
          <p:nvPr>
            <p:extLst>
              <p:ext uri="{D42A27DB-BD31-4B8C-83A1-F6EECF244321}">
                <p14:modId xmlns:p14="http://schemas.microsoft.com/office/powerpoint/2010/main" val="1570911697"/>
              </p:ext>
            </p:extLst>
          </p:nvPr>
        </p:nvGraphicFramePr>
        <p:xfrm>
          <a:off x="3995738" y="2898980"/>
          <a:ext cx="1368425" cy="473075"/>
        </p:xfrm>
        <a:graphic>
          <a:graphicData uri="http://schemas.openxmlformats.org/presentationml/2006/ole">
            <mc:AlternateContent xmlns:mc="http://schemas.openxmlformats.org/markup-compatibility/2006">
              <mc:Choice xmlns:v="urn:schemas-microsoft-com:vml" Requires="v">
                <p:oleObj spid="_x0000_s13520" name="Equation" r:id="rId7" imgW="660400" imgH="228600" progId="Equation.DSMT4">
                  <p:embed/>
                </p:oleObj>
              </mc:Choice>
              <mc:Fallback>
                <p:oleObj name="Equation" r:id="rId7" imgW="660400" imgH="228600" progId="Equation.DSMT4">
                  <p:embed/>
                  <p:pic>
                    <p:nvPicPr>
                      <p:cNvPr id="47107"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5738" y="2898980"/>
                        <a:ext cx="1368425"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0"/>
          <p:cNvGraphicFramePr>
            <a:graphicFrameLocks noChangeAspect="1"/>
          </p:cNvGraphicFramePr>
          <p:nvPr>
            <p:extLst>
              <p:ext uri="{D42A27DB-BD31-4B8C-83A1-F6EECF244321}">
                <p14:modId xmlns:p14="http://schemas.microsoft.com/office/powerpoint/2010/main" val="1857520857"/>
              </p:ext>
            </p:extLst>
          </p:nvPr>
        </p:nvGraphicFramePr>
        <p:xfrm>
          <a:off x="3124200" y="3418093"/>
          <a:ext cx="2535238" cy="490537"/>
        </p:xfrm>
        <a:graphic>
          <a:graphicData uri="http://schemas.openxmlformats.org/presentationml/2006/ole">
            <mc:AlternateContent xmlns:mc="http://schemas.openxmlformats.org/markup-compatibility/2006">
              <mc:Choice xmlns:v="urn:schemas-microsoft-com:vml" Requires="v">
                <p:oleObj spid="_x0000_s13521" name="公式" r:id="rId9" imgW="1181100" imgH="228600" progId="Equation.3">
                  <p:embed/>
                </p:oleObj>
              </mc:Choice>
              <mc:Fallback>
                <p:oleObj name="公式" r:id="rId9" imgW="1181100" imgH="228600" progId="Equation.3">
                  <p:embed/>
                  <p:pic>
                    <p:nvPicPr>
                      <p:cNvPr id="47108" name="Object 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3418093"/>
                        <a:ext cx="2535238" cy="490537"/>
                      </a:xfrm>
                      <a:prstGeom prst="rect">
                        <a:avLst/>
                      </a:prstGeom>
                      <a:solidFill>
                        <a:srgbClr val="FFFFFF"/>
                      </a:solidFill>
                    </p:spPr>
                  </p:pic>
                </p:oleObj>
              </mc:Fallback>
            </mc:AlternateContent>
          </a:graphicData>
        </a:graphic>
      </p:graphicFrame>
      <p:graphicFrame>
        <p:nvGraphicFramePr>
          <p:cNvPr id="26" name="Object 1"/>
          <p:cNvGraphicFramePr>
            <a:graphicFrameLocks noChangeAspect="1"/>
          </p:cNvGraphicFramePr>
          <p:nvPr>
            <p:extLst>
              <p:ext uri="{D42A27DB-BD31-4B8C-83A1-F6EECF244321}">
                <p14:modId xmlns:p14="http://schemas.microsoft.com/office/powerpoint/2010/main" val="151987078"/>
              </p:ext>
            </p:extLst>
          </p:nvPr>
        </p:nvGraphicFramePr>
        <p:xfrm>
          <a:off x="2843213" y="3892755"/>
          <a:ext cx="3140075" cy="923925"/>
        </p:xfrm>
        <a:graphic>
          <a:graphicData uri="http://schemas.openxmlformats.org/presentationml/2006/ole">
            <mc:AlternateContent xmlns:mc="http://schemas.openxmlformats.org/markup-compatibility/2006">
              <mc:Choice xmlns:v="urn:schemas-microsoft-com:vml" Requires="v">
                <p:oleObj spid="_x0000_s13522" name="公式" r:id="rId11" imgW="1459866" imgH="431613" progId="Equation.3">
                  <p:embed/>
                </p:oleObj>
              </mc:Choice>
              <mc:Fallback>
                <p:oleObj name="公式" r:id="rId11" imgW="1459866" imgH="431613" progId="Equation.3">
                  <p:embed/>
                  <p:pic>
                    <p:nvPicPr>
                      <p:cNvPr id="47109"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3213" y="3892755"/>
                        <a:ext cx="3140075" cy="923925"/>
                      </a:xfrm>
                      <a:prstGeom prst="rect">
                        <a:avLst/>
                      </a:prstGeom>
                      <a:solidFill>
                        <a:srgbClr val="FFFFFF"/>
                      </a:solidFill>
                    </p:spPr>
                  </p:pic>
                </p:oleObj>
              </mc:Fallback>
            </mc:AlternateContent>
          </a:graphicData>
        </a:graphic>
      </p:graphicFrame>
      <p:graphicFrame>
        <p:nvGraphicFramePr>
          <p:cNvPr id="27" name="Object 2"/>
          <p:cNvGraphicFramePr>
            <a:graphicFrameLocks noChangeAspect="1"/>
          </p:cNvGraphicFramePr>
          <p:nvPr>
            <p:extLst>
              <p:ext uri="{D42A27DB-BD31-4B8C-83A1-F6EECF244321}">
                <p14:modId xmlns:p14="http://schemas.microsoft.com/office/powerpoint/2010/main" val="4066723929"/>
              </p:ext>
            </p:extLst>
          </p:nvPr>
        </p:nvGraphicFramePr>
        <p:xfrm>
          <a:off x="1331913" y="4761118"/>
          <a:ext cx="5000625" cy="954087"/>
        </p:xfrm>
        <a:graphic>
          <a:graphicData uri="http://schemas.openxmlformats.org/presentationml/2006/ole">
            <mc:AlternateContent xmlns:mc="http://schemas.openxmlformats.org/markup-compatibility/2006">
              <mc:Choice xmlns:v="urn:schemas-microsoft-com:vml" Requires="v">
                <p:oleObj spid="_x0000_s13523" name="Equation" r:id="rId13" imgW="2260600" imgH="431800" progId="Equation.DSMT4">
                  <p:embed/>
                </p:oleObj>
              </mc:Choice>
              <mc:Fallback>
                <p:oleObj name="Equation" r:id="rId13" imgW="2260600" imgH="431800" progId="Equation.DSMT4">
                  <p:embed/>
                  <p:pic>
                    <p:nvPicPr>
                      <p:cNvPr id="4711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31913" y="4761118"/>
                        <a:ext cx="5000625" cy="954087"/>
                      </a:xfrm>
                      <a:prstGeom prst="rect">
                        <a:avLst/>
                      </a:prstGeom>
                      <a:solidFill>
                        <a:srgbClr val="FFFFFF"/>
                      </a:solidFill>
                    </p:spPr>
                  </p:pic>
                </p:oleObj>
              </mc:Fallback>
            </mc:AlternateContent>
          </a:graphicData>
        </a:graphic>
      </p:graphicFrame>
      <p:graphicFrame>
        <p:nvGraphicFramePr>
          <p:cNvPr id="28" name="Object 3"/>
          <p:cNvGraphicFramePr>
            <a:graphicFrameLocks noChangeAspect="1"/>
          </p:cNvGraphicFramePr>
          <p:nvPr>
            <p:extLst>
              <p:ext uri="{D42A27DB-BD31-4B8C-83A1-F6EECF244321}">
                <p14:modId xmlns:p14="http://schemas.microsoft.com/office/powerpoint/2010/main" val="2775987905"/>
              </p:ext>
            </p:extLst>
          </p:nvPr>
        </p:nvGraphicFramePr>
        <p:xfrm>
          <a:off x="3708400" y="5723143"/>
          <a:ext cx="2892425" cy="927100"/>
        </p:xfrm>
        <a:graphic>
          <a:graphicData uri="http://schemas.openxmlformats.org/presentationml/2006/ole">
            <mc:AlternateContent xmlns:mc="http://schemas.openxmlformats.org/markup-compatibility/2006">
              <mc:Choice xmlns:v="urn:schemas-microsoft-com:vml" Requires="v">
                <p:oleObj spid="_x0000_s13524" name="公式" r:id="rId15" imgW="1346200" imgH="431800" progId="Equation.3">
                  <p:embed/>
                </p:oleObj>
              </mc:Choice>
              <mc:Fallback>
                <p:oleObj name="公式" r:id="rId15" imgW="1346200" imgH="431800" progId="Equation.3">
                  <p:embed/>
                  <p:pic>
                    <p:nvPicPr>
                      <p:cNvPr id="47111" name="Object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08400" y="5723143"/>
                        <a:ext cx="2892425" cy="927100"/>
                      </a:xfrm>
                      <a:prstGeom prst="rect">
                        <a:avLst/>
                      </a:prstGeom>
                      <a:solidFill>
                        <a:srgbClr val="FFFFFF"/>
                      </a:solidFill>
                      <a:ln w="9525">
                        <a:solidFill>
                          <a:srgbClr val="FF6600"/>
                        </a:solidFill>
                        <a:miter lim="800000"/>
                        <a:headEnd/>
                        <a:tailEnd/>
                      </a:ln>
                    </p:spPr>
                  </p:pic>
                </p:oleObj>
              </mc:Fallback>
            </mc:AlternateContent>
          </a:graphicData>
        </a:graphic>
      </p:graphicFrame>
      <p:sp>
        <p:nvSpPr>
          <p:cNvPr id="29" name="Text Box 13"/>
          <p:cNvSpPr txBox="1">
            <a:spLocks noChangeArrowheads="1"/>
          </p:cNvSpPr>
          <p:nvPr/>
        </p:nvSpPr>
        <p:spPr bwMode="auto">
          <a:xfrm>
            <a:off x="539750" y="2024268"/>
            <a:ext cx="4572000" cy="46672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400" b="1" dirty="0">
                <a:solidFill>
                  <a:srgbClr val="000000"/>
                </a:solidFill>
                <a:latin typeface="Times New Roman" pitchFamily="18" charset="0"/>
                <a:ea typeface="宋体" charset="-122"/>
              </a:rPr>
              <a:t>假设系统存在多种散射机制。</a:t>
            </a:r>
          </a:p>
        </p:txBody>
      </p:sp>
      <p:sp>
        <p:nvSpPr>
          <p:cNvPr id="30" name="Text Box 14"/>
          <p:cNvSpPr txBox="1">
            <a:spLocks noChangeArrowheads="1"/>
          </p:cNvSpPr>
          <p:nvPr/>
        </p:nvSpPr>
        <p:spPr bwMode="auto">
          <a:xfrm>
            <a:off x="539750" y="4092780"/>
            <a:ext cx="2660650" cy="49847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400" b="1">
                <a:solidFill>
                  <a:srgbClr val="000000"/>
                </a:solidFill>
                <a:latin typeface="Times New Roman" pitchFamily="18" charset="0"/>
                <a:ea typeface="宋体" charset="-122"/>
              </a:rPr>
              <a:t>平均自由时间：</a:t>
            </a:r>
          </a:p>
        </p:txBody>
      </p:sp>
      <p:sp>
        <p:nvSpPr>
          <p:cNvPr id="31" name="Text Box 15"/>
          <p:cNvSpPr txBox="1">
            <a:spLocks noChangeArrowheads="1"/>
          </p:cNvSpPr>
          <p:nvPr/>
        </p:nvSpPr>
        <p:spPr bwMode="auto">
          <a:xfrm>
            <a:off x="341530" y="5761243"/>
            <a:ext cx="3438308" cy="904863"/>
          </a:xfrm>
          <a:prstGeom prst="rect">
            <a:avLst/>
          </a:prstGeom>
          <a:noFill/>
          <a:ln w="12700" cap="sq">
            <a:noFill/>
            <a:miter lim="800000"/>
            <a:headEnd type="none" w="sm" len="sm"/>
            <a:tailEnd type="none" w="sm" len="sm"/>
          </a:ln>
        </p:spPr>
        <p:txBody>
          <a:bodyPr wrap="square">
            <a:spAutoFit/>
          </a:bodyPr>
          <a:lstStyle/>
          <a:p>
            <a:pPr defTabSz="914400" eaLnBrk="0" fontAlgn="base" hangingPunct="0">
              <a:lnSpc>
                <a:spcPct val="110000"/>
              </a:lnSpc>
              <a:spcBef>
                <a:spcPct val="50000"/>
              </a:spcBef>
              <a:spcAft>
                <a:spcPct val="0"/>
              </a:spcAft>
            </a:pPr>
            <a:r>
              <a:rPr kumimoji="1" lang="zh-CN" altLang="en-US" sz="2400" b="1" dirty="0">
                <a:solidFill>
                  <a:srgbClr val="3333CC"/>
                </a:solidFill>
                <a:latin typeface="Times New Roman" pitchFamily="18" charset="0"/>
                <a:ea typeface="宋体" charset="-122"/>
              </a:rPr>
              <a:t>存在多种散射机制时，总的迁移率表达式</a:t>
            </a:r>
          </a:p>
        </p:txBody>
      </p:sp>
      <p:sp>
        <p:nvSpPr>
          <p:cNvPr id="32" name="Rectangle 18"/>
          <p:cNvSpPr>
            <a:spLocks noChangeArrowheads="1"/>
          </p:cNvSpPr>
          <p:nvPr/>
        </p:nvSpPr>
        <p:spPr bwMode="auto">
          <a:xfrm>
            <a:off x="539750" y="3392693"/>
            <a:ext cx="2660650" cy="465137"/>
          </a:xfrm>
          <a:prstGeom prst="rect">
            <a:avLst/>
          </a:prstGeom>
          <a:noFill/>
          <a:ln w="9525">
            <a:noFill/>
            <a:miter lim="800000"/>
            <a:headEnd/>
            <a:tailEnd/>
          </a:ln>
        </p:spPr>
        <p:txBody>
          <a:bodyPr wrap="none">
            <a:spAutoFit/>
          </a:bodyPr>
          <a:lstStyle/>
          <a:p>
            <a:pPr defTabSz="914400" fontAlgn="base">
              <a:lnSpc>
                <a:spcPct val="110000"/>
              </a:lnSpc>
              <a:spcBef>
                <a:spcPct val="0"/>
              </a:spcBef>
              <a:spcAft>
                <a:spcPct val="0"/>
              </a:spcAft>
            </a:pPr>
            <a:r>
              <a:rPr kumimoji="1" lang="zh-CN" altLang="en-US" sz="2400" b="1">
                <a:solidFill>
                  <a:srgbClr val="000000"/>
                </a:solidFill>
                <a:latin typeface="Times New Roman" pitchFamily="18" charset="0"/>
                <a:ea typeface="宋体" charset="-122"/>
              </a:rPr>
              <a:t>则总的散射概率：</a:t>
            </a:r>
          </a:p>
        </p:txBody>
      </p:sp>
      <p:sp>
        <p:nvSpPr>
          <p:cNvPr id="33" name="Rectangle 20"/>
          <p:cNvSpPr>
            <a:spLocks noChangeArrowheads="1"/>
          </p:cNvSpPr>
          <p:nvPr/>
        </p:nvSpPr>
        <p:spPr bwMode="auto">
          <a:xfrm>
            <a:off x="539750" y="2457655"/>
            <a:ext cx="6372225" cy="465138"/>
          </a:xfrm>
          <a:prstGeom prst="rect">
            <a:avLst/>
          </a:prstGeom>
          <a:noFill/>
          <a:ln w="9525">
            <a:noFill/>
            <a:miter lim="800000"/>
            <a:headEnd/>
            <a:tailEnd/>
          </a:ln>
        </p:spPr>
        <p:txBody>
          <a:bodyPr wrap="none">
            <a:spAutoFit/>
          </a:bodyPr>
          <a:lstStyle/>
          <a:p>
            <a:pPr defTabSz="914400" fontAlgn="base">
              <a:lnSpc>
                <a:spcPct val="110000"/>
              </a:lnSpc>
              <a:spcBef>
                <a:spcPct val="0"/>
              </a:spcBef>
              <a:spcAft>
                <a:spcPct val="0"/>
              </a:spcAft>
            </a:pPr>
            <a:r>
              <a:rPr kumimoji="1" lang="zh-CN" altLang="en-US" sz="2400" b="1">
                <a:solidFill>
                  <a:srgbClr val="000000"/>
                </a:solidFill>
                <a:latin typeface="Times New Roman" pitchFamily="18" charset="0"/>
                <a:ea typeface="宋体" charset="-122"/>
              </a:rPr>
              <a:t>如果每种散射独自存在时的散射概率分别为：</a:t>
            </a:r>
          </a:p>
        </p:txBody>
      </p:sp>
      <p:sp>
        <p:nvSpPr>
          <p:cNvPr id="34" name="Text Box 21"/>
          <p:cNvSpPr txBox="1">
            <a:spLocks noChangeArrowheads="1"/>
          </p:cNvSpPr>
          <p:nvPr/>
        </p:nvSpPr>
        <p:spPr bwMode="auto">
          <a:xfrm>
            <a:off x="539750" y="2889455"/>
            <a:ext cx="3673475" cy="465138"/>
          </a:xfrm>
          <a:prstGeom prst="rect">
            <a:avLst/>
          </a:prstGeom>
          <a:noFill/>
          <a:ln w="9525">
            <a:noFill/>
            <a:miter lim="800000"/>
            <a:headEnd/>
            <a:tailEnd/>
          </a:ln>
        </p:spPr>
        <p:txBody>
          <a:bodyPr>
            <a:spAutoFit/>
          </a:bodyPr>
          <a:lstStyle/>
          <a:p>
            <a:pPr defTabSz="914400" fontAlgn="base">
              <a:lnSpc>
                <a:spcPct val="110000"/>
              </a:lnSpc>
              <a:spcBef>
                <a:spcPct val="50000"/>
              </a:spcBef>
              <a:spcAft>
                <a:spcPct val="0"/>
              </a:spcAft>
            </a:pPr>
            <a:r>
              <a:rPr kumimoji="1" lang="zh-CN" altLang="en-US" sz="2400" b="1">
                <a:solidFill>
                  <a:srgbClr val="000000"/>
                </a:solidFill>
                <a:latin typeface="Times New Roman" pitchFamily="18" charset="0"/>
                <a:ea typeface="宋体" charset="-122"/>
              </a:rPr>
              <a:t>相应的平均自由时间为：</a:t>
            </a:r>
          </a:p>
        </p:txBody>
      </p:sp>
      <p:sp>
        <p:nvSpPr>
          <p:cNvPr id="35" name="Text Box 24"/>
          <p:cNvSpPr txBox="1">
            <a:spLocks noChangeArrowheads="1"/>
          </p:cNvSpPr>
          <p:nvPr/>
        </p:nvSpPr>
        <p:spPr bwMode="auto">
          <a:xfrm>
            <a:off x="6822250" y="4115426"/>
            <a:ext cx="1728788" cy="2492990"/>
          </a:xfrm>
          <a:prstGeom prst="rect">
            <a:avLst/>
          </a:prstGeom>
          <a:noFill/>
          <a:ln w="9525">
            <a:solidFill>
              <a:srgbClr val="FFCF01"/>
            </a:solidFill>
            <a:miter lim="800000"/>
            <a:headEnd/>
            <a:tailEnd/>
          </a:ln>
        </p:spPr>
        <p:txBody>
          <a:bodyPr>
            <a:spAutoFit/>
          </a:bodyPr>
          <a:lstStyle/>
          <a:p>
            <a:pPr marL="0" marR="0" lvl="0" indent="0" defTabSz="914400" eaLnBrk="1" fontAlgn="base" latinLnBrk="0" hangingPunct="1">
              <a:lnSpc>
                <a:spcPct val="130000"/>
              </a:lnSpc>
              <a:spcBef>
                <a:spcPct val="50000"/>
              </a:spcBef>
              <a:spcAft>
                <a:spcPct val="0"/>
              </a:spcAft>
              <a:buClrTx/>
              <a:buSzTx/>
              <a:buFontTx/>
              <a:buNone/>
              <a:tabLst/>
              <a:defRPr/>
            </a:pPr>
            <a:r>
              <a:rPr kumimoji="1" lang="zh-CN" altLang="en-US" sz="2400" b="1" i="0" u="none" strike="noStrike" kern="0" cap="none" spc="0" normalizeH="0" baseline="0" noProof="0" dirty="0" smtClean="0">
                <a:ln>
                  <a:noFill/>
                </a:ln>
                <a:solidFill>
                  <a:srgbClr val="000099"/>
                </a:solidFill>
                <a:effectLst/>
                <a:uLnTx/>
                <a:uFillTx/>
                <a:latin typeface="Times New Roman" pitchFamily="18" charset="0"/>
                <a:ea typeface="宋体" charset="-122"/>
              </a:rPr>
              <a:t>平均自由时间最小的散射因素对总的迁移率影响最大。</a:t>
            </a:r>
          </a:p>
        </p:txBody>
      </p:sp>
    </p:spTree>
    <p:extLst>
      <p:ext uri="{BB962C8B-B14F-4D97-AF65-F5344CB8AC3E}">
        <p14:creationId xmlns:p14="http://schemas.microsoft.com/office/powerpoint/2010/main" val="2120477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10</a:t>
            </a:fld>
            <a:endParaRPr lang="zh-CN" altLang="en-US"/>
          </a:p>
        </p:txBody>
      </p:sp>
      <p:sp>
        <p:nvSpPr>
          <p:cNvPr id="3" name="Rectangle 13"/>
          <p:cNvSpPr txBox="1">
            <a:spLocks noChangeArrowheads="1"/>
          </p:cNvSpPr>
          <p:nvPr/>
        </p:nvSpPr>
        <p:spPr bwMode="auto">
          <a:xfrm>
            <a:off x="7042150" y="5791354"/>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defRPr kumimoji="1" sz="1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32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32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32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3200" kern="1200">
                <a:solidFill>
                  <a:schemeClr val="tx1"/>
                </a:solidFill>
                <a:latin typeface="Times New Roman" pitchFamily="18" charset="0"/>
                <a:ea typeface="宋体" charset="-122"/>
                <a:cs typeface="+mn-cs"/>
              </a:defRPr>
            </a:lvl5pPr>
            <a:lvl6pPr marL="2286000" algn="l" defTabSz="914400" rtl="0" eaLnBrk="1" latinLnBrk="0" hangingPunct="1">
              <a:defRPr kumimoji="1" sz="3200" kern="1200">
                <a:solidFill>
                  <a:schemeClr val="tx1"/>
                </a:solidFill>
                <a:latin typeface="Times New Roman" pitchFamily="18" charset="0"/>
                <a:ea typeface="宋体" charset="-122"/>
                <a:cs typeface="+mn-cs"/>
              </a:defRPr>
            </a:lvl6pPr>
            <a:lvl7pPr marL="2743200" algn="l" defTabSz="914400" rtl="0" eaLnBrk="1" latinLnBrk="0" hangingPunct="1">
              <a:defRPr kumimoji="1" sz="3200" kern="1200">
                <a:solidFill>
                  <a:schemeClr val="tx1"/>
                </a:solidFill>
                <a:latin typeface="Times New Roman" pitchFamily="18" charset="0"/>
                <a:ea typeface="宋体" charset="-122"/>
                <a:cs typeface="+mn-cs"/>
              </a:defRPr>
            </a:lvl7pPr>
            <a:lvl8pPr marL="3200400" algn="l" defTabSz="914400" rtl="0" eaLnBrk="1" latinLnBrk="0" hangingPunct="1">
              <a:defRPr kumimoji="1" sz="3200" kern="1200">
                <a:solidFill>
                  <a:schemeClr val="tx1"/>
                </a:solidFill>
                <a:latin typeface="Times New Roman" pitchFamily="18" charset="0"/>
                <a:ea typeface="宋体" charset="-122"/>
                <a:cs typeface="+mn-cs"/>
              </a:defRPr>
            </a:lvl8pPr>
            <a:lvl9pPr marL="3657600" algn="l" defTabSz="914400" rtl="0" eaLnBrk="1" latinLnBrk="0" hangingPunct="1">
              <a:defRPr kumimoji="1" sz="3200" kern="1200">
                <a:solidFill>
                  <a:schemeClr val="tx1"/>
                </a:solidFill>
                <a:latin typeface="Times New Roman" pitchFamily="18" charset="0"/>
                <a:ea typeface="宋体" charset="-122"/>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71B580F-EBEF-4235-B855-F493C9C9ACE4}" type="slidenum">
              <a:rPr kumimoji="1" lang="en-US" altLang="zh-CN" sz="1400" b="0" i="0" u="none" strike="noStrike" kern="1200" cap="none" spc="0" normalizeH="0" baseline="0" noProof="0" smtClean="0">
                <a:ln>
                  <a:noFill/>
                </a:ln>
                <a:solidFill>
                  <a:srgbClr val="00000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1" lang="en-US" altLang="zh-CN" sz="14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pic>
        <p:nvPicPr>
          <p:cNvPr id="4" name="Picture 18"/>
          <p:cNvPicPr>
            <a:picLocks noChangeAspect="1" noChangeArrowheads="1"/>
          </p:cNvPicPr>
          <p:nvPr/>
        </p:nvPicPr>
        <p:blipFill>
          <a:blip r:embed="rId3" cstate="print"/>
          <a:srcRect/>
          <a:stretch>
            <a:fillRect/>
          </a:stretch>
        </p:blipFill>
        <p:spPr bwMode="auto">
          <a:xfrm>
            <a:off x="5662613" y="1897216"/>
            <a:ext cx="3275012" cy="4319588"/>
          </a:xfrm>
          <a:prstGeom prst="rect">
            <a:avLst/>
          </a:prstGeom>
          <a:noFill/>
          <a:ln w="9525">
            <a:noFill/>
            <a:miter lim="800000"/>
            <a:headEnd/>
            <a:tailEnd/>
          </a:ln>
        </p:spPr>
      </p:pic>
      <p:graphicFrame>
        <p:nvGraphicFramePr>
          <p:cNvPr id="5" name="Object 1024"/>
          <p:cNvGraphicFramePr>
            <a:graphicFrameLocks noChangeAspect="1"/>
          </p:cNvGraphicFramePr>
          <p:nvPr>
            <p:extLst>
              <p:ext uri="{D42A27DB-BD31-4B8C-83A1-F6EECF244321}">
                <p14:modId xmlns:p14="http://schemas.microsoft.com/office/powerpoint/2010/main" val="4107846860"/>
              </p:ext>
            </p:extLst>
          </p:nvPr>
        </p:nvGraphicFramePr>
        <p:xfrm>
          <a:off x="4057650" y="1833716"/>
          <a:ext cx="1557338" cy="669925"/>
        </p:xfrm>
        <a:graphic>
          <a:graphicData uri="http://schemas.openxmlformats.org/presentationml/2006/ole">
            <mc:AlternateContent xmlns:mc="http://schemas.openxmlformats.org/markup-compatibility/2006">
              <mc:Choice xmlns:v="urn:schemas-microsoft-com:vml" Requires="v">
                <p:oleObj spid="_x0000_s14396" name="公式" r:id="rId4" imgW="647700" imgH="279400" progId="Equation.3">
                  <p:embed/>
                </p:oleObj>
              </mc:Choice>
              <mc:Fallback>
                <p:oleObj name="公式" r:id="rId4" imgW="647700" imgH="279400" progId="Equation.3">
                  <p:embed/>
                  <p:pic>
                    <p:nvPicPr>
                      <p:cNvPr id="49155" name="Object 10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7650" y="1833716"/>
                        <a:ext cx="1557338"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0"/>
          <p:cNvPicPr>
            <a:picLocks noChangeAspect="1" noChangeArrowheads="1"/>
          </p:cNvPicPr>
          <p:nvPr/>
        </p:nvPicPr>
        <p:blipFill>
          <a:blip r:embed="rId6" cstate="print"/>
          <a:srcRect/>
          <a:stretch>
            <a:fillRect/>
          </a:stretch>
        </p:blipFill>
        <p:spPr bwMode="auto">
          <a:xfrm>
            <a:off x="338138" y="3192616"/>
            <a:ext cx="4233862" cy="2879725"/>
          </a:xfrm>
          <a:prstGeom prst="rect">
            <a:avLst/>
          </a:prstGeom>
          <a:noFill/>
          <a:ln w="9525">
            <a:noFill/>
            <a:miter lim="800000"/>
            <a:headEnd/>
            <a:tailEnd/>
          </a:ln>
        </p:spPr>
      </p:pic>
      <p:sp>
        <p:nvSpPr>
          <p:cNvPr id="7" name="Text Box 11"/>
          <p:cNvSpPr txBox="1">
            <a:spLocks noChangeArrowheads="1"/>
          </p:cNvSpPr>
          <p:nvPr/>
        </p:nvSpPr>
        <p:spPr bwMode="auto">
          <a:xfrm>
            <a:off x="539750" y="1392391"/>
            <a:ext cx="6985000" cy="1677988"/>
          </a:xfrm>
          <a:prstGeom prst="rect">
            <a:avLst/>
          </a:prstGeom>
          <a:noFill/>
          <a:ln w="9525">
            <a:noFill/>
            <a:miter lim="800000"/>
            <a:headEnd/>
            <a:tailEnd/>
          </a:ln>
        </p:spPr>
        <p:txBody>
          <a:bodyPr>
            <a:spAutoFit/>
          </a:bodyPr>
          <a:lstStyle/>
          <a:p>
            <a:pPr defTabSz="914400" fontAlgn="base">
              <a:lnSpc>
                <a:spcPct val="120000"/>
              </a:lnSpc>
              <a:spcBef>
                <a:spcPts val="1500"/>
              </a:spcBef>
              <a:spcAft>
                <a:spcPct val="0"/>
              </a:spcAft>
            </a:pPr>
            <a:r>
              <a:rPr kumimoji="1" lang="zh-CN" altLang="en-US" sz="2400" b="1" dirty="0">
                <a:solidFill>
                  <a:srgbClr val="000000"/>
                </a:solidFill>
                <a:latin typeface="Times New Roman" pitchFamily="18" charset="0"/>
                <a:ea typeface="宋体" charset="-122"/>
              </a:rPr>
              <a:t>两种重要的散射机制：杂质散射</a:t>
            </a:r>
            <a:r>
              <a:rPr kumimoji="1" lang="zh-CN" altLang="en-US" sz="2400" b="1" dirty="0" smtClean="0">
                <a:solidFill>
                  <a:srgbClr val="000000"/>
                </a:solidFill>
                <a:latin typeface="Times New Roman" pitchFamily="18" charset="0"/>
                <a:ea typeface="宋体" charset="-122"/>
              </a:rPr>
              <a:t>和声子散射</a:t>
            </a:r>
            <a:r>
              <a:rPr kumimoji="1" lang="zh-CN" altLang="en-US" sz="2400" b="1" dirty="0">
                <a:solidFill>
                  <a:srgbClr val="000000"/>
                </a:solidFill>
                <a:latin typeface="Times New Roman" pitchFamily="18" charset="0"/>
                <a:ea typeface="宋体" charset="-122"/>
              </a:rPr>
              <a:t>。</a:t>
            </a:r>
            <a:endParaRPr kumimoji="1" lang="en-US" altLang="zh-CN" sz="2400" b="1" dirty="0">
              <a:solidFill>
                <a:srgbClr val="000000"/>
              </a:solidFill>
              <a:latin typeface="Times New Roman" pitchFamily="18" charset="0"/>
              <a:ea typeface="宋体" charset="-122"/>
            </a:endParaRPr>
          </a:p>
          <a:p>
            <a:pPr defTabSz="914400" fontAlgn="base">
              <a:lnSpc>
                <a:spcPct val="120000"/>
              </a:lnSpc>
              <a:spcBef>
                <a:spcPts val="1500"/>
              </a:spcBef>
              <a:spcAft>
                <a:spcPct val="0"/>
              </a:spcAft>
            </a:pPr>
            <a:r>
              <a:rPr kumimoji="1" lang="zh-CN" altLang="en-US" sz="2400" b="1" dirty="0">
                <a:solidFill>
                  <a:srgbClr val="000000"/>
                </a:solidFill>
                <a:latin typeface="Times New Roman" pitchFamily="18" charset="0"/>
                <a:ea typeface="宋体" charset="-122"/>
              </a:rPr>
              <a:t>与晶格散射有关的迁移率</a:t>
            </a:r>
            <a:endParaRPr kumimoji="1" lang="en-US" altLang="zh-CN" sz="2400" b="1" dirty="0">
              <a:solidFill>
                <a:srgbClr val="000000"/>
              </a:solidFill>
              <a:latin typeface="Times New Roman" pitchFamily="18" charset="0"/>
              <a:ea typeface="宋体" charset="-122"/>
            </a:endParaRPr>
          </a:p>
          <a:p>
            <a:pPr defTabSz="914400" fontAlgn="base">
              <a:lnSpc>
                <a:spcPct val="120000"/>
              </a:lnSpc>
              <a:spcBef>
                <a:spcPts val="500"/>
              </a:spcBef>
              <a:spcAft>
                <a:spcPct val="0"/>
              </a:spcAft>
            </a:pPr>
            <a:r>
              <a:rPr kumimoji="1" lang="zh-CN" altLang="en-US" sz="2400" b="1" dirty="0">
                <a:solidFill>
                  <a:srgbClr val="000000"/>
                </a:solidFill>
                <a:latin typeface="Times New Roman" pitchFamily="18" charset="0"/>
                <a:ea typeface="宋体" charset="-122"/>
              </a:rPr>
              <a:t>与杂质散射有关的迁移率</a:t>
            </a:r>
          </a:p>
        </p:txBody>
      </p:sp>
      <p:graphicFrame>
        <p:nvGraphicFramePr>
          <p:cNvPr id="8" name="Object 1025"/>
          <p:cNvGraphicFramePr>
            <a:graphicFrameLocks noChangeAspect="1"/>
          </p:cNvGraphicFramePr>
          <p:nvPr>
            <p:extLst>
              <p:ext uri="{D42A27DB-BD31-4B8C-83A1-F6EECF244321}">
                <p14:modId xmlns:p14="http://schemas.microsoft.com/office/powerpoint/2010/main" val="2483240527"/>
              </p:ext>
            </p:extLst>
          </p:nvPr>
        </p:nvGraphicFramePr>
        <p:xfrm>
          <a:off x="4079875" y="2340129"/>
          <a:ext cx="1428750" cy="682625"/>
        </p:xfrm>
        <a:graphic>
          <a:graphicData uri="http://schemas.openxmlformats.org/presentationml/2006/ole">
            <mc:AlternateContent xmlns:mc="http://schemas.openxmlformats.org/markup-compatibility/2006">
              <mc:Choice xmlns:v="urn:schemas-microsoft-com:vml" Requires="v">
                <p:oleObj spid="_x0000_s14397" name="公式" r:id="rId7" imgW="583947" imgH="279279" progId="Equation.3">
                  <p:embed/>
                </p:oleObj>
              </mc:Choice>
              <mc:Fallback>
                <p:oleObj name="公式" r:id="rId7" imgW="583947" imgH="279279" progId="Equation.3">
                  <p:embed/>
                  <p:pic>
                    <p:nvPicPr>
                      <p:cNvPr id="49161" name="Object 10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9875" y="2340129"/>
                        <a:ext cx="1428750"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23"/>
          <p:cNvSpPr txBox="1">
            <a:spLocks noChangeArrowheads="1"/>
          </p:cNvSpPr>
          <p:nvPr/>
        </p:nvSpPr>
        <p:spPr bwMode="auto">
          <a:xfrm>
            <a:off x="3492500" y="3121179"/>
            <a:ext cx="1800225" cy="1568450"/>
          </a:xfrm>
          <a:prstGeom prst="rect">
            <a:avLst/>
          </a:prstGeom>
          <a:noFill/>
          <a:ln w="9525">
            <a:noFill/>
            <a:miter lim="800000"/>
            <a:headEnd/>
            <a:tailEnd/>
          </a:ln>
        </p:spPr>
        <p:txBody>
          <a:bodyPr>
            <a:spAutoFit/>
          </a:bodyPr>
          <a:lstStyle/>
          <a:p>
            <a:pPr defTabSz="914400" fontAlgn="base">
              <a:spcBef>
                <a:spcPct val="0"/>
              </a:spcBef>
              <a:spcAft>
                <a:spcPct val="0"/>
              </a:spcAft>
            </a:pPr>
            <a:r>
              <a:rPr kumimoji="1" lang="zh-CN" altLang="en-US" sz="2400" b="1">
                <a:solidFill>
                  <a:srgbClr val="FF3300"/>
                </a:solidFill>
                <a:latin typeface="Times New Roman" pitchFamily="18" charset="0"/>
                <a:ea typeface="宋体" charset="-122"/>
              </a:rPr>
              <a:t>讨论不同温度范围两个因素对迁移率的影响？</a:t>
            </a:r>
          </a:p>
        </p:txBody>
      </p:sp>
      <p:sp>
        <p:nvSpPr>
          <p:cNvPr id="10" name="Text Box 8"/>
          <p:cNvSpPr txBox="1">
            <a:spLocks noChangeArrowheads="1"/>
          </p:cNvSpPr>
          <p:nvPr/>
        </p:nvSpPr>
        <p:spPr bwMode="auto">
          <a:xfrm>
            <a:off x="478631" y="574624"/>
            <a:ext cx="5183982" cy="566309"/>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迁移率</a:t>
            </a:r>
            <a:r>
              <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rPr>
              <a:t>与杂质和温度的关系</a:t>
            </a:r>
          </a:p>
        </p:txBody>
      </p:sp>
    </p:spTree>
    <p:extLst>
      <p:ext uri="{BB962C8B-B14F-4D97-AF65-F5344CB8AC3E}">
        <p14:creationId xmlns:p14="http://schemas.microsoft.com/office/powerpoint/2010/main" val="1176838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11</a:t>
            </a:fld>
            <a:endParaRPr lang="zh-CN" altLang="en-US"/>
          </a:p>
        </p:txBody>
      </p:sp>
      <p:sp>
        <p:nvSpPr>
          <p:cNvPr id="5" name="Text Box 8"/>
          <p:cNvSpPr txBox="1">
            <a:spLocks noChangeArrowheads="1"/>
          </p:cNvSpPr>
          <p:nvPr/>
        </p:nvSpPr>
        <p:spPr bwMode="auto">
          <a:xfrm>
            <a:off x="5614886" y="1031721"/>
            <a:ext cx="3330575" cy="5078313"/>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30000"/>
              </a:lnSpc>
              <a:spcBef>
                <a:spcPct val="50000"/>
              </a:spcBef>
              <a:spcAft>
                <a:spcPct val="0"/>
              </a:spcAft>
            </a:pPr>
            <a:r>
              <a:rPr kumimoji="1" lang="zh-CN" altLang="en-US" sz="2400" b="1" dirty="0" smtClean="0">
                <a:solidFill>
                  <a:srgbClr val="000000"/>
                </a:solidFill>
                <a:latin typeface="Times New Roman" pitchFamily="18" charset="0"/>
                <a:ea typeface="宋体" charset="-122"/>
              </a:rPr>
              <a:t>电子迁移率</a:t>
            </a:r>
            <a:r>
              <a:rPr kumimoji="1" lang="zh-CN" altLang="en-US" sz="2400" b="1" dirty="0">
                <a:solidFill>
                  <a:srgbClr val="000000"/>
                </a:solidFill>
                <a:latin typeface="Times New Roman" pitchFamily="18" charset="0"/>
                <a:ea typeface="宋体" charset="-122"/>
              </a:rPr>
              <a:t>大于</a:t>
            </a:r>
            <a:r>
              <a:rPr kumimoji="1" lang="zh-CN" altLang="en-US" sz="2400" b="1" dirty="0" smtClean="0">
                <a:solidFill>
                  <a:srgbClr val="000000"/>
                </a:solidFill>
                <a:latin typeface="Times New Roman" pitchFamily="18" charset="0"/>
                <a:ea typeface="宋体" charset="-122"/>
              </a:rPr>
              <a:t>空穴迁移率</a:t>
            </a:r>
            <a:r>
              <a:rPr kumimoji="1" lang="zh-CN" altLang="en-US" sz="2400" b="1" dirty="0">
                <a:solidFill>
                  <a:srgbClr val="000000"/>
                </a:solidFill>
                <a:latin typeface="Times New Roman" pitchFamily="18" charset="0"/>
                <a:ea typeface="宋体" charset="-122"/>
              </a:rPr>
              <a:t>，主要原因是电子</a:t>
            </a:r>
            <a:r>
              <a:rPr kumimoji="1" lang="zh-CN" altLang="en-US" sz="2400" b="1" dirty="0" smtClean="0">
                <a:solidFill>
                  <a:srgbClr val="000000"/>
                </a:solidFill>
                <a:latin typeface="Times New Roman" pitchFamily="18" charset="0"/>
                <a:ea typeface="宋体" charset="-122"/>
              </a:rPr>
              <a:t>的平均有效</a:t>
            </a:r>
            <a:r>
              <a:rPr kumimoji="1" lang="zh-CN" altLang="en-US" sz="2400" b="1" dirty="0">
                <a:solidFill>
                  <a:srgbClr val="000000"/>
                </a:solidFill>
                <a:latin typeface="Times New Roman" pitchFamily="18" charset="0"/>
                <a:ea typeface="宋体" charset="-122"/>
              </a:rPr>
              <a:t>质量小于空穴</a:t>
            </a:r>
            <a:r>
              <a:rPr kumimoji="1" lang="zh-CN" altLang="en-US" sz="2400" b="1" dirty="0" smtClean="0">
                <a:solidFill>
                  <a:srgbClr val="000000"/>
                </a:solidFill>
                <a:latin typeface="Times New Roman" pitchFamily="18" charset="0"/>
                <a:ea typeface="宋体" charset="-122"/>
              </a:rPr>
              <a:t>的平均有效</a:t>
            </a:r>
            <a:r>
              <a:rPr kumimoji="1" lang="zh-CN" altLang="en-US" sz="2400" b="1" dirty="0">
                <a:solidFill>
                  <a:srgbClr val="000000"/>
                </a:solidFill>
                <a:latin typeface="Times New Roman" pitchFamily="18" charset="0"/>
                <a:ea typeface="宋体" charset="-122"/>
              </a:rPr>
              <a:t>质量。</a:t>
            </a:r>
          </a:p>
          <a:p>
            <a:pPr defTabSz="914400" eaLnBrk="0" fontAlgn="base" hangingPunct="0">
              <a:lnSpc>
                <a:spcPct val="130000"/>
              </a:lnSpc>
              <a:spcBef>
                <a:spcPct val="50000"/>
              </a:spcBef>
              <a:spcAft>
                <a:spcPct val="0"/>
              </a:spcAft>
            </a:pPr>
            <a:r>
              <a:rPr kumimoji="1" lang="zh-CN" altLang="en-US" sz="2400" b="1" dirty="0">
                <a:solidFill>
                  <a:srgbClr val="000000"/>
                </a:solidFill>
                <a:latin typeface="Times New Roman" pitchFamily="18" charset="0"/>
                <a:ea typeface="宋体" charset="-122"/>
              </a:rPr>
              <a:t>因此，提高载流子迁移率的主要途径包括：减小散射概率；减小有效质量（改变能带结构，如采用</a:t>
            </a:r>
            <a:r>
              <a:rPr kumimoji="1" lang="en-US" altLang="zh-CN" sz="2400" b="1" dirty="0" err="1">
                <a:solidFill>
                  <a:srgbClr val="000000"/>
                </a:solidFill>
                <a:latin typeface="Times New Roman" pitchFamily="18" charset="0"/>
                <a:ea typeface="宋体" charset="-122"/>
              </a:rPr>
              <a:t>GeSi</a:t>
            </a:r>
            <a:r>
              <a:rPr kumimoji="1" lang="zh-CN" altLang="en-US" sz="2400" b="1" dirty="0">
                <a:solidFill>
                  <a:srgbClr val="000000"/>
                </a:solidFill>
                <a:latin typeface="Times New Roman" pitchFamily="18" charset="0"/>
                <a:ea typeface="宋体" charset="-122"/>
              </a:rPr>
              <a:t>、应变</a:t>
            </a:r>
            <a:r>
              <a:rPr kumimoji="1" lang="en-US" altLang="zh-CN" sz="2400" b="1" dirty="0">
                <a:solidFill>
                  <a:srgbClr val="000000"/>
                </a:solidFill>
                <a:latin typeface="Times New Roman" pitchFamily="18" charset="0"/>
                <a:ea typeface="宋体" charset="-122"/>
              </a:rPr>
              <a:t>Si</a:t>
            </a:r>
            <a:r>
              <a:rPr kumimoji="1" lang="zh-CN" altLang="en-US" sz="2400" b="1" dirty="0">
                <a:solidFill>
                  <a:srgbClr val="000000"/>
                </a:solidFill>
                <a:latin typeface="Times New Roman" pitchFamily="18" charset="0"/>
                <a:ea typeface="宋体" charset="-122"/>
              </a:rPr>
              <a:t>或</a:t>
            </a:r>
            <a:r>
              <a:rPr kumimoji="1" lang="en-US" altLang="zh-CN" sz="2400" b="1" dirty="0" err="1">
                <a:solidFill>
                  <a:srgbClr val="000000"/>
                </a:solidFill>
                <a:latin typeface="Times New Roman" pitchFamily="18" charset="0"/>
                <a:ea typeface="宋体" charset="-122"/>
              </a:rPr>
              <a:t>Ge</a:t>
            </a:r>
            <a:r>
              <a:rPr kumimoji="1" lang="zh-CN" altLang="en-US" sz="2400" b="1" dirty="0">
                <a:solidFill>
                  <a:srgbClr val="000000"/>
                </a:solidFill>
                <a:latin typeface="Times New Roman" pitchFamily="18" charset="0"/>
                <a:ea typeface="宋体" charset="-122"/>
              </a:rPr>
              <a:t>等材料）</a:t>
            </a:r>
          </a:p>
        </p:txBody>
      </p:sp>
      <p:pic>
        <p:nvPicPr>
          <p:cNvPr id="6" name="Picture 10"/>
          <p:cNvPicPr>
            <a:picLocks noChangeAspect="1" noChangeArrowheads="1"/>
          </p:cNvPicPr>
          <p:nvPr/>
        </p:nvPicPr>
        <p:blipFill>
          <a:blip r:embed="rId2" cstate="print"/>
          <a:srcRect/>
          <a:stretch>
            <a:fillRect/>
          </a:stretch>
        </p:blipFill>
        <p:spPr bwMode="auto">
          <a:xfrm>
            <a:off x="98323" y="1233333"/>
            <a:ext cx="5364163" cy="4325938"/>
          </a:xfrm>
          <a:prstGeom prst="rect">
            <a:avLst/>
          </a:prstGeom>
          <a:noFill/>
          <a:ln w="9525">
            <a:noFill/>
            <a:miter lim="800000"/>
            <a:headEnd/>
            <a:tailEnd/>
          </a:ln>
        </p:spPr>
      </p:pic>
    </p:spTree>
    <p:extLst>
      <p:ext uri="{BB962C8B-B14F-4D97-AF65-F5344CB8AC3E}">
        <p14:creationId xmlns:p14="http://schemas.microsoft.com/office/powerpoint/2010/main" val="1739581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12</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对于一个</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型的半导体器件，以下哪些参数增大以后，器件沟道的电流密度将会增大？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沟道电子浓度</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34718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电子的有效质量</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8800" y="41576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电子的平均自由时间</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8800" y="48434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沟道宽度</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1114425" y="35361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1114425" y="42219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1114425" y="49077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文本框 19"/>
          <p:cNvSpPr txBox="1"/>
          <p:nvPr>
            <p:custDataLst>
              <p:tags r:id="rId12"/>
            </p:custDataLst>
          </p:nvPr>
        </p:nvSpPr>
        <p:spPr>
          <a:xfrm>
            <a:off x="1828800" y="55292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温度</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矩形 20"/>
          <p:cNvSpPr>
            <a:spLocks noChangeAspect="1"/>
          </p:cNvSpPr>
          <p:nvPr>
            <p:custDataLst>
              <p:tags r:id="rId13"/>
            </p:custDataLst>
          </p:nvPr>
        </p:nvSpPr>
        <p:spPr>
          <a:xfrm>
            <a:off x="1114425" y="55935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4"/>
            </p:custDataLst>
          </p:nvPr>
        </p:nvGrpSpPr>
        <p:grpSpPr>
          <a:xfrm>
            <a:off x="0" y="0"/>
            <a:ext cx="9144000" cy="635000"/>
            <a:chOff x="0" y="0"/>
            <a:chExt cx="9144000" cy="635000"/>
          </a:xfrm>
        </p:grpSpPr>
        <p:sp>
          <p:nvSpPr>
            <p:cNvPr id="14" name="TitleBackground"/>
            <p:cNvSpPr/>
            <p:nvPr>
              <p:custDataLst>
                <p:tags r:id="rId1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5"/>
            </p:custDataLst>
          </p:nvPr>
        </p:nvPicPr>
        <p:blipFill>
          <a:blip r:embed="rId2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7143448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13</a:t>
            </a:fld>
            <a:endParaRPr lang="zh-CN" altLang="en-US"/>
          </a:p>
        </p:txBody>
      </p:sp>
      <p:grpSp>
        <p:nvGrpSpPr>
          <p:cNvPr id="38" name="组 3"/>
          <p:cNvGrpSpPr>
            <a:grpSpLocks/>
          </p:cNvGrpSpPr>
          <p:nvPr/>
        </p:nvGrpSpPr>
        <p:grpSpPr bwMode="auto">
          <a:xfrm>
            <a:off x="222250" y="1358900"/>
            <a:ext cx="4527550" cy="801688"/>
            <a:chOff x="222071" y="1358770"/>
            <a:chExt cx="4528330" cy="801438"/>
          </a:xfrm>
        </p:grpSpPr>
        <p:sp>
          <p:nvSpPr>
            <p:cNvPr id="39" name="文本框 38"/>
            <p:cNvSpPr txBox="1">
              <a:spLocks noRot="1" noChangeAspect="1" noMove="1" noResize="1" noEditPoints="1" noAdjustHandles="1" noChangeArrowheads="1" noChangeShapeType="1" noTextEdit="1"/>
            </p:cNvSpPr>
            <p:nvPr/>
          </p:nvSpPr>
          <p:spPr>
            <a:xfrm>
              <a:off x="2245036" y="1358770"/>
              <a:ext cx="2505365" cy="801438"/>
            </a:xfrm>
            <a:prstGeom prst="rect">
              <a:avLst/>
            </a:prstGeom>
            <a:blipFill rotWithShape="0">
              <a:blip r:embed="rId2"/>
              <a:stretch>
                <a:fillRect/>
              </a:stretch>
            </a:blipFill>
          </p:spPr>
          <p:txBody>
            <a:bodyPr/>
            <a:lstStyle/>
            <a:p>
              <a:pPr defTabSz="914400" eaLnBrk="0" fontAlgn="base" hangingPunct="0">
                <a:spcBef>
                  <a:spcPct val="0"/>
                </a:spcBef>
                <a:spcAft>
                  <a:spcPct val="0"/>
                </a:spcAft>
                <a:defRPr/>
              </a:pPr>
              <a:r>
                <a:rPr lang="zh-CN" altLang="en-US" u="sng">
                  <a:noFill/>
                  <a:latin typeface="Arial" charset="0"/>
                  <a:ea typeface="宋体" charset="-122"/>
                </a:rPr>
                <a:t> </a:t>
              </a:r>
            </a:p>
          </p:txBody>
        </p:sp>
        <p:sp>
          <p:nvSpPr>
            <p:cNvPr id="40" name="文本框 1"/>
            <p:cNvSpPr txBox="1">
              <a:spLocks noChangeArrowheads="1"/>
            </p:cNvSpPr>
            <p:nvPr/>
          </p:nvSpPr>
          <p:spPr bwMode="auto">
            <a:xfrm>
              <a:off x="222071" y="157487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eaLnBrk="0" fontAlgn="base" hangingPunct="0">
                <a:spcBef>
                  <a:spcPct val="0"/>
                </a:spcBef>
                <a:spcAft>
                  <a:spcPct val="0"/>
                </a:spcAft>
                <a:buFontTx/>
                <a:buNone/>
              </a:pPr>
              <a:r>
                <a:rPr kumimoji="1" lang="zh-CN" altLang="en-US" sz="2400" b="1" smtClean="0">
                  <a:solidFill>
                    <a:prstClr val="black"/>
                  </a:solidFill>
                  <a:latin typeface="Arial" panose="020B0604020202020204" pitchFamily="34" charset="0"/>
                </a:rPr>
                <a:t>电阻率公式：</a:t>
              </a:r>
            </a:p>
          </p:txBody>
        </p:sp>
      </p:grpSp>
      <p:grpSp>
        <p:nvGrpSpPr>
          <p:cNvPr id="41" name="组 5"/>
          <p:cNvGrpSpPr>
            <a:grpSpLocks/>
          </p:cNvGrpSpPr>
          <p:nvPr/>
        </p:nvGrpSpPr>
        <p:grpSpPr bwMode="auto">
          <a:xfrm>
            <a:off x="3556000" y="1503363"/>
            <a:ext cx="5618163" cy="2043112"/>
            <a:chOff x="3555383" y="1504039"/>
            <a:chExt cx="5618162" cy="2043112"/>
          </a:xfrm>
        </p:grpSpPr>
        <p:sp>
          <p:nvSpPr>
            <p:cNvPr id="42" name="Text Box 11"/>
            <p:cNvSpPr txBox="1">
              <a:spLocks noChangeArrowheads="1"/>
            </p:cNvSpPr>
            <p:nvPr/>
          </p:nvSpPr>
          <p:spPr bwMode="auto">
            <a:xfrm>
              <a:off x="7155832" y="1504039"/>
              <a:ext cx="1477963" cy="3698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smtClean="0">
                  <a:solidFill>
                    <a:srgbClr val="0000FF"/>
                  </a:solidFill>
                  <a:latin typeface="Arial" panose="020B0604020202020204" pitchFamily="34" charset="0"/>
                  <a:ea typeface="SimHei" panose="02010609060101010101" pitchFamily="49" charset="-122"/>
                  <a:sym typeface="Symbol" panose="05050102010706020507" pitchFamily="18" charset="2"/>
                </a:rPr>
                <a:t>杂质电离</a:t>
              </a:r>
              <a:r>
                <a:rPr kumimoji="1" lang="en-US" altLang="zh-CN" sz="2400" smtClean="0">
                  <a:solidFill>
                    <a:srgbClr val="0000FF"/>
                  </a:solidFill>
                  <a:latin typeface="Arial" panose="020B0604020202020204" pitchFamily="34" charset="0"/>
                  <a:ea typeface="SimHei" panose="02010609060101010101" pitchFamily="49" charset="-122"/>
                  <a:sym typeface="Symbol" panose="05050102010706020507" pitchFamily="18" charset="2"/>
                </a:rPr>
                <a:t>1</a:t>
              </a:r>
            </a:p>
          </p:txBody>
        </p:sp>
        <p:sp>
          <p:nvSpPr>
            <p:cNvPr id="43" name="Text Box 12"/>
            <p:cNvSpPr txBox="1">
              <a:spLocks noChangeArrowheads="1"/>
            </p:cNvSpPr>
            <p:nvPr/>
          </p:nvSpPr>
          <p:spPr bwMode="auto">
            <a:xfrm>
              <a:off x="7155832" y="2007276"/>
              <a:ext cx="1404938" cy="3698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smtClean="0">
                  <a:solidFill>
                    <a:srgbClr val="0000FF"/>
                  </a:solidFill>
                  <a:latin typeface="Arial" panose="020B0604020202020204" pitchFamily="34" charset="0"/>
                  <a:ea typeface="SimHei" panose="02010609060101010101" pitchFamily="49" charset="-122"/>
                  <a:sym typeface="Symbol" panose="05050102010706020507" pitchFamily="18" charset="2"/>
                </a:rPr>
                <a:t>本征激发</a:t>
              </a:r>
              <a:r>
                <a:rPr kumimoji="1" lang="en-US" altLang="zh-CN" sz="2400" smtClean="0">
                  <a:solidFill>
                    <a:srgbClr val="0000FF"/>
                  </a:solidFill>
                  <a:latin typeface="Arial" panose="020B0604020202020204" pitchFamily="34" charset="0"/>
                  <a:ea typeface="SimHei" panose="02010609060101010101" pitchFamily="49" charset="-122"/>
                  <a:sym typeface="Symbol" panose="05050102010706020507" pitchFamily="18" charset="2"/>
                </a:rPr>
                <a:t>2</a:t>
              </a:r>
            </a:p>
          </p:txBody>
        </p:sp>
        <p:sp>
          <p:nvSpPr>
            <p:cNvPr id="44" name="Text Box 14"/>
            <p:cNvSpPr txBox="1">
              <a:spLocks noChangeArrowheads="1"/>
            </p:cNvSpPr>
            <p:nvPr/>
          </p:nvSpPr>
          <p:spPr bwMode="auto">
            <a:xfrm>
              <a:off x="7155832" y="2723239"/>
              <a:ext cx="2017713" cy="3698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smtClean="0">
                  <a:solidFill>
                    <a:srgbClr val="0000FF"/>
                  </a:solidFill>
                  <a:latin typeface="Arial" panose="020B0604020202020204" pitchFamily="34" charset="0"/>
                  <a:ea typeface="SimHei" panose="02010609060101010101" pitchFamily="49" charset="-122"/>
                  <a:sym typeface="Symbol" panose="05050102010706020507" pitchFamily="18" charset="2"/>
                </a:rPr>
                <a:t>电离杂质散射</a:t>
              </a:r>
              <a:r>
                <a:rPr kumimoji="1" lang="en-US" altLang="zh-CN" sz="2400" smtClean="0">
                  <a:solidFill>
                    <a:srgbClr val="0000FF"/>
                  </a:solidFill>
                  <a:latin typeface="Arial" panose="020B0604020202020204" pitchFamily="34" charset="0"/>
                  <a:ea typeface="SimHei" panose="02010609060101010101" pitchFamily="49" charset="-122"/>
                  <a:sym typeface="Symbol" panose="05050102010706020507" pitchFamily="18" charset="2"/>
                </a:rPr>
                <a:t>3</a:t>
              </a:r>
            </a:p>
          </p:txBody>
        </p:sp>
        <p:sp>
          <p:nvSpPr>
            <p:cNvPr id="45" name="Text Box 15"/>
            <p:cNvSpPr txBox="1">
              <a:spLocks noChangeArrowheads="1"/>
            </p:cNvSpPr>
            <p:nvPr/>
          </p:nvSpPr>
          <p:spPr bwMode="auto">
            <a:xfrm>
              <a:off x="7155832" y="3177264"/>
              <a:ext cx="1489075" cy="3698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smtClean="0">
                  <a:solidFill>
                    <a:srgbClr val="0000FF"/>
                  </a:solidFill>
                  <a:latin typeface="Arial" panose="020B0604020202020204" pitchFamily="34" charset="0"/>
                  <a:ea typeface="SimHei" panose="02010609060101010101" pitchFamily="49" charset="-122"/>
                  <a:sym typeface="Symbol" panose="05050102010706020507" pitchFamily="18" charset="2"/>
                </a:rPr>
                <a:t>晶格散射</a:t>
              </a:r>
              <a:r>
                <a:rPr kumimoji="1" lang="en-US" altLang="zh-CN" sz="2400" smtClean="0">
                  <a:solidFill>
                    <a:srgbClr val="0000FF"/>
                  </a:solidFill>
                  <a:latin typeface="Arial" panose="020B0604020202020204" pitchFamily="34" charset="0"/>
                  <a:ea typeface="SimHei" panose="02010609060101010101" pitchFamily="49" charset="-122"/>
                  <a:sym typeface="Symbol" panose="05050102010706020507" pitchFamily="18" charset="2"/>
                </a:rPr>
                <a:t>4</a:t>
              </a:r>
            </a:p>
          </p:txBody>
        </p:sp>
        <p:grpSp>
          <p:nvGrpSpPr>
            <p:cNvPr id="46" name="Group 23"/>
            <p:cNvGrpSpPr>
              <a:grpSpLocks/>
            </p:cNvGrpSpPr>
            <p:nvPr/>
          </p:nvGrpSpPr>
          <p:grpSpPr bwMode="auto">
            <a:xfrm>
              <a:off x="3555383" y="1770739"/>
              <a:ext cx="3529012" cy="1520825"/>
              <a:chOff x="2357" y="845"/>
              <a:chExt cx="2223" cy="958"/>
            </a:xfrm>
          </p:grpSpPr>
          <p:sp>
            <p:nvSpPr>
              <p:cNvPr id="47" name="Text Box 9"/>
              <p:cNvSpPr txBox="1">
                <a:spLocks noChangeArrowheads="1"/>
              </p:cNvSpPr>
              <p:nvPr/>
            </p:nvSpPr>
            <p:spPr bwMode="auto">
              <a:xfrm>
                <a:off x="2357" y="1253"/>
                <a:ext cx="1043" cy="23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smtClean="0">
                    <a:solidFill>
                      <a:srgbClr val="0000FF"/>
                    </a:solidFill>
                    <a:latin typeface="Arial" panose="020B0604020202020204" pitchFamily="34" charset="0"/>
                    <a:ea typeface="SimHei" panose="02010609060101010101" pitchFamily="49" charset="-122"/>
                    <a:sym typeface="Symbol" panose="05050102010706020507" pitchFamily="18" charset="2"/>
                  </a:rPr>
                  <a:t>杂质半导体</a:t>
                </a:r>
              </a:p>
            </p:txBody>
          </p:sp>
          <p:sp>
            <p:nvSpPr>
              <p:cNvPr id="48" name="Text Box 10"/>
              <p:cNvSpPr txBox="1">
                <a:spLocks noChangeArrowheads="1"/>
              </p:cNvSpPr>
              <p:nvPr/>
            </p:nvSpPr>
            <p:spPr bwMode="auto">
              <a:xfrm>
                <a:off x="3491" y="845"/>
                <a:ext cx="969" cy="23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smtClean="0">
                    <a:solidFill>
                      <a:srgbClr val="0000FF"/>
                    </a:solidFill>
                    <a:latin typeface="Arial" panose="020B0604020202020204" pitchFamily="34" charset="0"/>
                    <a:ea typeface="SimHei" panose="02010609060101010101" pitchFamily="49" charset="-122"/>
                    <a:sym typeface="Symbol" panose="05050102010706020507" pitchFamily="18" charset="2"/>
                  </a:rPr>
                  <a:t>载流子来源</a:t>
                </a:r>
              </a:p>
            </p:txBody>
          </p:sp>
          <p:sp>
            <p:nvSpPr>
              <p:cNvPr id="49" name="Text Box 13"/>
              <p:cNvSpPr txBox="1">
                <a:spLocks noChangeArrowheads="1"/>
              </p:cNvSpPr>
              <p:nvPr/>
            </p:nvSpPr>
            <p:spPr bwMode="auto">
              <a:xfrm>
                <a:off x="3491" y="1570"/>
                <a:ext cx="969" cy="23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smtClean="0">
                    <a:solidFill>
                      <a:srgbClr val="0000FF"/>
                    </a:solidFill>
                    <a:latin typeface="Arial" panose="020B0604020202020204" pitchFamily="34" charset="0"/>
                    <a:ea typeface="SimHei" panose="02010609060101010101" pitchFamily="49" charset="-122"/>
                    <a:sym typeface="Symbol" panose="05050102010706020507" pitchFamily="18" charset="2"/>
                  </a:rPr>
                  <a:t>迁移率因素</a:t>
                </a:r>
              </a:p>
            </p:txBody>
          </p:sp>
          <p:sp>
            <p:nvSpPr>
              <p:cNvPr id="50" name="Line 16"/>
              <p:cNvSpPr>
                <a:spLocks noChangeShapeType="1"/>
              </p:cNvSpPr>
              <p:nvPr/>
            </p:nvSpPr>
            <p:spPr bwMode="auto">
              <a:xfrm flipV="1">
                <a:off x="3401" y="1071"/>
                <a:ext cx="317" cy="273"/>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defTabSz="914400" eaLnBrk="0" fontAlgn="base" hangingPunct="0">
                  <a:spcBef>
                    <a:spcPct val="0"/>
                  </a:spcBef>
                  <a:spcAft>
                    <a:spcPct val="0"/>
                  </a:spcAft>
                  <a:defRPr/>
                </a:pPr>
                <a:endParaRPr lang="zh-CN" altLang="en-US">
                  <a:solidFill>
                    <a:prstClr val="black"/>
                  </a:solidFill>
                  <a:latin typeface="Arial" charset="0"/>
                  <a:ea typeface="宋体" charset="-122"/>
                </a:endParaRPr>
              </a:p>
            </p:txBody>
          </p:sp>
          <p:sp>
            <p:nvSpPr>
              <p:cNvPr id="51" name="Line 17"/>
              <p:cNvSpPr>
                <a:spLocks noChangeShapeType="1"/>
              </p:cNvSpPr>
              <p:nvPr/>
            </p:nvSpPr>
            <p:spPr bwMode="auto">
              <a:xfrm>
                <a:off x="3401" y="1344"/>
                <a:ext cx="362" cy="226"/>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defTabSz="914400" eaLnBrk="0" fontAlgn="base" hangingPunct="0">
                  <a:spcBef>
                    <a:spcPct val="0"/>
                  </a:spcBef>
                  <a:spcAft>
                    <a:spcPct val="0"/>
                  </a:spcAft>
                  <a:defRPr/>
                </a:pPr>
                <a:endParaRPr lang="zh-CN" altLang="en-US">
                  <a:solidFill>
                    <a:prstClr val="black"/>
                  </a:solidFill>
                  <a:latin typeface="Arial" charset="0"/>
                  <a:ea typeface="宋体" charset="-122"/>
                </a:endParaRPr>
              </a:p>
            </p:txBody>
          </p:sp>
          <p:sp>
            <p:nvSpPr>
              <p:cNvPr id="52" name="Line 18"/>
              <p:cNvSpPr>
                <a:spLocks noChangeShapeType="1"/>
              </p:cNvSpPr>
              <p:nvPr/>
            </p:nvSpPr>
            <p:spPr bwMode="auto">
              <a:xfrm flipV="1">
                <a:off x="4444" y="845"/>
                <a:ext cx="136" cy="91"/>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defTabSz="914400" eaLnBrk="0" fontAlgn="base" hangingPunct="0">
                  <a:spcBef>
                    <a:spcPct val="0"/>
                  </a:spcBef>
                  <a:spcAft>
                    <a:spcPct val="0"/>
                  </a:spcAft>
                  <a:defRPr/>
                </a:pPr>
                <a:endParaRPr lang="zh-CN" altLang="en-US">
                  <a:solidFill>
                    <a:prstClr val="black"/>
                  </a:solidFill>
                  <a:latin typeface="Arial" charset="0"/>
                  <a:ea typeface="宋体" charset="-122"/>
                </a:endParaRPr>
              </a:p>
            </p:txBody>
          </p:sp>
          <p:sp>
            <p:nvSpPr>
              <p:cNvPr id="53" name="Line 19"/>
              <p:cNvSpPr>
                <a:spLocks noChangeShapeType="1"/>
              </p:cNvSpPr>
              <p:nvPr/>
            </p:nvSpPr>
            <p:spPr bwMode="auto">
              <a:xfrm>
                <a:off x="4444" y="980"/>
                <a:ext cx="136" cy="91"/>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defTabSz="914400" eaLnBrk="0" fontAlgn="base" hangingPunct="0">
                  <a:spcBef>
                    <a:spcPct val="0"/>
                  </a:spcBef>
                  <a:spcAft>
                    <a:spcPct val="0"/>
                  </a:spcAft>
                  <a:defRPr/>
                </a:pPr>
                <a:endParaRPr lang="zh-CN" altLang="en-US">
                  <a:solidFill>
                    <a:prstClr val="black"/>
                  </a:solidFill>
                  <a:latin typeface="Arial" charset="0"/>
                  <a:ea typeface="宋体" charset="-122"/>
                </a:endParaRPr>
              </a:p>
            </p:txBody>
          </p:sp>
          <p:sp>
            <p:nvSpPr>
              <p:cNvPr id="54" name="Line 20"/>
              <p:cNvSpPr>
                <a:spLocks noChangeShapeType="1"/>
              </p:cNvSpPr>
              <p:nvPr/>
            </p:nvSpPr>
            <p:spPr bwMode="auto">
              <a:xfrm flipV="1">
                <a:off x="4444" y="1570"/>
                <a:ext cx="136" cy="91"/>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defTabSz="914400" eaLnBrk="0" fontAlgn="base" hangingPunct="0">
                  <a:spcBef>
                    <a:spcPct val="0"/>
                  </a:spcBef>
                  <a:spcAft>
                    <a:spcPct val="0"/>
                  </a:spcAft>
                  <a:defRPr/>
                </a:pPr>
                <a:endParaRPr lang="zh-CN" altLang="en-US">
                  <a:solidFill>
                    <a:prstClr val="black"/>
                  </a:solidFill>
                  <a:latin typeface="Arial" charset="0"/>
                  <a:ea typeface="宋体" charset="-122"/>
                </a:endParaRPr>
              </a:p>
            </p:txBody>
          </p:sp>
          <p:sp>
            <p:nvSpPr>
              <p:cNvPr id="55" name="Line 21"/>
              <p:cNvSpPr>
                <a:spLocks noChangeShapeType="1"/>
              </p:cNvSpPr>
              <p:nvPr/>
            </p:nvSpPr>
            <p:spPr bwMode="auto">
              <a:xfrm>
                <a:off x="4444" y="1706"/>
                <a:ext cx="136" cy="91"/>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defTabSz="914400" eaLnBrk="0" fontAlgn="base" hangingPunct="0">
                  <a:spcBef>
                    <a:spcPct val="0"/>
                  </a:spcBef>
                  <a:spcAft>
                    <a:spcPct val="0"/>
                  </a:spcAft>
                  <a:defRPr/>
                </a:pPr>
                <a:endParaRPr lang="zh-CN" altLang="en-US">
                  <a:solidFill>
                    <a:prstClr val="black"/>
                  </a:solidFill>
                  <a:latin typeface="Arial" charset="0"/>
                  <a:ea typeface="宋体" charset="-122"/>
                </a:endParaRPr>
              </a:p>
            </p:txBody>
          </p:sp>
        </p:grpSp>
      </p:grpSp>
      <p:grpSp>
        <p:nvGrpSpPr>
          <p:cNvPr id="56" name="Group 146"/>
          <p:cNvGrpSpPr>
            <a:grpSpLocks/>
          </p:cNvGrpSpPr>
          <p:nvPr/>
        </p:nvGrpSpPr>
        <p:grpSpPr bwMode="auto">
          <a:xfrm>
            <a:off x="222250" y="2968625"/>
            <a:ext cx="4275138" cy="3311525"/>
            <a:chOff x="158" y="1888"/>
            <a:chExt cx="2693" cy="2086"/>
          </a:xfrm>
        </p:grpSpPr>
        <p:sp>
          <p:nvSpPr>
            <p:cNvPr id="57" name="Text Box 5"/>
            <p:cNvSpPr txBox="1">
              <a:spLocks noChangeArrowheads="1"/>
            </p:cNvSpPr>
            <p:nvPr/>
          </p:nvSpPr>
          <p:spPr bwMode="auto">
            <a:xfrm>
              <a:off x="1445" y="2362"/>
              <a:ext cx="1406" cy="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000" b="0" i="0" u="none" strike="noStrike" kern="0" cap="none" spc="0" normalizeH="0" baseline="0" noProof="0" smtClean="0">
                  <a:ln>
                    <a:noFill/>
                  </a:ln>
                  <a:solidFill>
                    <a:srgbClr val="0000FF"/>
                  </a:solidFill>
                  <a:effectLst/>
                  <a:uLnTx/>
                  <a:uFillTx/>
                  <a:latin typeface="Arial" panose="020B0604020202020204" pitchFamily="34" charset="0"/>
                  <a:ea typeface="SimHei" panose="02010609060101010101" pitchFamily="49" charset="-122"/>
                  <a:sym typeface="Symbol" panose="05050102010706020507" pitchFamily="18" charset="2"/>
                </a:rPr>
                <a:t>－主要由</a:t>
              </a:r>
              <a:r>
                <a:rPr kumimoji="1" lang="en-US" altLang="zh-CN" sz="2000" b="0" i="0" u="none" strike="noStrike" kern="0" cap="none" spc="0" normalizeH="0" baseline="0" noProof="0" smtClean="0">
                  <a:ln>
                    <a:noFill/>
                  </a:ln>
                  <a:solidFill>
                    <a:srgbClr val="0000FF"/>
                  </a:solidFill>
                  <a:effectLst/>
                  <a:uLnTx/>
                  <a:uFillTx/>
                  <a:latin typeface="Arial" panose="020B0604020202020204" pitchFamily="34" charset="0"/>
                  <a:ea typeface="SimHei" panose="02010609060101010101" pitchFamily="49" charset="-122"/>
                  <a:sym typeface="Symbol" panose="05050102010706020507" pitchFamily="18" charset="2"/>
                </a:rPr>
                <a:t>n</a:t>
              </a:r>
              <a:r>
                <a:rPr kumimoji="1" lang="en-US" altLang="zh-CN" sz="2000" b="0" i="0" u="none" strike="noStrike" kern="0" cap="none" spc="0" normalizeH="0" baseline="-25000" noProof="0" smtClean="0">
                  <a:ln>
                    <a:noFill/>
                  </a:ln>
                  <a:solidFill>
                    <a:srgbClr val="0000FF"/>
                  </a:solidFill>
                  <a:effectLst/>
                  <a:uLnTx/>
                  <a:uFillTx/>
                  <a:latin typeface="Arial" panose="020B0604020202020204" pitchFamily="34" charset="0"/>
                  <a:ea typeface="SimHei" panose="02010609060101010101" pitchFamily="49" charset="-122"/>
                  <a:sym typeface="Symbol" panose="05050102010706020507" pitchFamily="18" charset="2"/>
                </a:rPr>
                <a:t>i</a:t>
              </a:r>
              <a:r>
                <a:rPr kumimoji="1" lang="zh-CN" altLang="en-US" sz="2000" b="0" i="0" u="none" strike="noStrike" kern="0" cap="none" spc="0" normalizeH="0" baseline="0" noProof="0" smtClean="0">
                  <a:ln>
                    <a:noFill/>
                  </a:ln>
                  <a:solidFill>
                    <a:srgbClr val="0000FF"/>
                  </a:solidFill>
                  <a:effectLst/>
                  <a:uLnTx/>
                  <a:uFillTx/>
                  <a:latin typeface="Arial" panose="020B0604020202020204" pitchFamily="34" charset="0"/>
                  <a:ea typeface="SimHei" panose="02010609060101010101" pitchFamily="49" charset="-122"/>
                  <a:sym typeface="Symbol" panose="05050102010706020507" pitchFamily="18" charset="2"/>
                </a:rPr>
                <a:t>决定，单调下降</a:t>
              </a:r>
            </a:p>
          </p:txBody>
        </p:sp>
        <p:sp>
          <p:nvSpPr>
            <p:cNvPr id="58" name="Line 132"/>
            <p:cNvSpPr>
              <a:spLocks noChangeShapeType="1"/>
            </p:cNvSpPr>
            <p:nvPr/>
          </p:nvSpPr>
          <p:spPr bwMode="auto">
            <a:xfrm flipV="1">
              <a:off x="340" y="2160"/>
              <a:ext cx="0" cy="1814"/>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sng" strike="noStrike" kern="0" cap="none" spc="0" normalizeH="0" baseline="0" noProof="0">
                <a:ln>
                  <a:noFill/>
                </a:ln>
                <a:solidFill>
                  <a:prstClr val="black"/>
                </a:solidFill>
                <a:effectLst/>
                <a:uLnTx/>
                <a:uFillTx/>
                <a:latin typeface="Arial" charset="0"/>
                <a:ea typeface="宋体" charset="-122"/>
              </a:endParaRPr>
            </a:p>
          </p:txBody>
        </p:sp>
        <p:sp>
          <p:nvSpPr>
            <p:cNvPr id="59" name="Line 133"/>
            <p:cNvSpPr>
              <a:spLocks noChangeShapeType="1"/>
            </p:cNvSpPr>
            <p:nvPr/>
          </p:nvSpPr>
          <p:spPr bwMode="auto">
            <a:xfrm>
              <a:off x="340" y="3974"/>
              <a:ext cx="2404" cy="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sng" strike="noStrike" kern="0" cap="none" spc="0" normalizeH="0" baseline="0" noProof="0">
                <a:ln>
                  <a:noFill/>
                </a:ln>
                <a:solidFill>
                  <a:prstClr val="black"/>
                </a:solidFill>
                <a:effectLst/>
                <a:uLnTx/>
                <a:uFillTx/>
                <a:latin typeface="Arial" charset="0"/>
                <a:ea typeface="宋体" charset="-122"/>
              </a:endParaRPr>
            </a:p>
          </p:txBody>
        </p:sp>
        <p:sp>
          <p:nvSpPr>
            <p:cNvPr id="60" name="Freeform 134"/>
            <p:cNvSpPr>
              <a:spLocks/>
            </p:cNvSpPr>
            <p:nvPr/>
          </p:nvSpPr>
          <p:spPr bwMode="auto">
            <a:xfrm>
              <a:off x="431" y="2952"/>
              <a:ext cx="1666" cy="886"/>
            </a:xfrm>
            <a:custGeom>
              <a:avLst/>
              <a:gdLst>
                <a:gd name="T0" fmla="*/ 0 w 1666"/>
                <a:gd name="T1" fmla="*/ 538 h 886"/>
                <a:gd name="T2" fmla="*/ 317 w 1666"/>
                <a:gd name="T3" fmla="*/ 810 h 886"/>
                <a:gd name="T4" fmla="*/ 1089 w 1666"/>
                <a:gd name="T5" fmla="*/ 84 h 886"/>
                <a:gd name="T6" fmla="*/ 1666 w 1666"/>
                <a:gd name="T7" fmla="*/ 305 h 88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66" h="886">
                  <a:moveTo>
                    <a:pt x="0" y="538"/>
                  </a:moveTo>
                  <a:cubicBezTo>
                    <a:pt x="68" y="712"/>
                    <a:pt x="136" y="886"/>
                    <a:pt x="317" y="810"/>
                  </a:cubicBezTo>
                  <a:cubicBezTo>
                    <a:pt x="498" y="734"/>
                    <a:pt x="864" y="168"/>
                    <a:pt x="1089" y="84"/>
                  </a:cubicBezTo>
                  <a:cubicBezTo>
                    <a:pt x="1314" y="0"/>
                    <a:pt x="1546" y="259"/>
                    <a:pt x="1666" y="305"/>
                  </a:cubicBez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sng" strike="noStrike" kern="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endParaRPr>
            </a:p>
          </p:txBody>
        </p:sp>
        <p:sp>
          <p:nvSpPr>
            <p:cNvPr id="61" name="Freeform 135"/>
            <p:cNvSpPr>
              <a:spLocks/>
            </p:cNvSpPr>
            <p:nvPr/>
          </p:nvSpPr>
          <p:spPr bwMode="auto">
            <a:xfrm>
              <a:off x="671" y="2152"/>
              <a:ext cx="1846" cy="1278"/>
            </a:xfrm>
            <a:custGeom>
              <a:avLst/>
              <a:gdLst>
                <a:gd name="T0" fmla="*/ 0 w 1846"/>
                <a:gd name="T1" fmla="*/ 0 h 1278"/>
                <a:gd name="T2" fmla="*/ 820 w 1846"/>
                <a:gd name="T3" fmla="*/ 650 h 1278"/>
                <a:gd name="T4" fmla="*/ 1846 w 1846"/>
                <a:gd name="T5" fmla="*/ 1278 h 1278"/>
                <a:gd name="T6" fmla="*/ 0 60000 65536"/>
                <a:gd name="T7" fmla="*/ 0 60000 65536"/>
                <a:gd name="T8" fmla="*/ 0 60000 65536"/>
              </a:gdLst>
              <a:ahLst/>
              <a:cxnLst>
                <a:cxn ang="T6">
                  <a:pos x="T0" y="T1"/>
                </a:cxn>
                <a:cxn ang="T7">
                  <a:pos x="T2" y="T3"/>
                </a:cxn>
                <a:cxn ang="T8">
                  <a:pos x="T4" y="T5"/>
                </a:cxn>
              </a:cxnLst>
              <a:rect l="0" t="0" r="r" b="b"/>
              <a:pathLst>
                <a:path w="1846" h="1278">
                  <a:moveTo>
                    <a:pt x="0" y="0"/>
                  </a:moveTo>
                  <a:cubicBezTo>
                    <a:pt x="135" y="108"/>
                    <a:pt x="512" y="437"/>
                    <a:pt x="820" y="650"/>
                  </a:cubicBezTo>
                  <a:cubicBezTo>
                    <a:pt x="1128" y="863"/>
                    <a:pt x="1632" y="1147"/>
                    <a:pt x="1846" y="1278"/>
                  </a:cubicBezTo>
                </a:path>
              </a:pathLst>
            </a:custGeom>
            <a:noFill/>
            <a:ln w="38100" cap="flat" cmpd="sng">
              <a:solidFill>
                <a:srgbClr val="0000FF"/>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sng" strike="noStrike" kern="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endParaRPr>
            </a:p>
          </p:txBody>
        </p:sp>
        <p:sp>
          <p:nvSpPr>
            <p:cNvPr id="62" name="Text Box 136"/>
            <p:cNvSpPr txBox="1">
              <a:spLocks noChangeArrowheads="1"/>
            </p:cNvSpPr>
            <p:nvPr/>
          </p:nvSpPr>
          <p:spPr bwMode="auto">
            <a:xfrm>
              <a:off x="385" y="3249"/>
              <a:ext cx="1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eaLnBrk="0" hangingPunct="0">
                <a:defRPr kumimoji="1" sz="2400" b="1">
                  <a:solidFill>
                    <a:srgbClr val="0000FF"/>
                  </a:solidFill>
                  <a:latin typeface="Arial" charset="0"/>
                  <a:ea typeface="黑体" charset="-122"/>
                  <a:sym typeface="Symbol" charset="2"/>
                </a:defRPr>
              </a:lvl1pPr>
              <a:lvl2pPr marL="742950" indent="-285750" eaLnBrk="0" hangingPunct="0">
                <a:defRPr kumimoji="1" sz="2400" b="1">
                  <a:solidFill>
                    <a:srgbClr val="0000FF"/>
                  </a:solidFill>
                  <a:latin typeface="Arial" charset="0"/>
                  <a:ea typeface="黑体" charset="-122"/>
                  <a:sym typeface="Symbol" charset="2"/>
                </a:defRPr>
              </a:lvl2pPr>
              <a:lvl3pPr marL="1143000" indent="-228600" eaLnBrk="0" hangingPunct="0">
                <a:defRPr kumimoji="1" sz="2400" b="1">
                  <a:solidFill>
                    <a:srgbClr val="0000FF"/>
                  </a:solidFill>
                  <a:latin typeface="Arial" charset="0"/>
                  <a:ea typeface="黑体" charset="-122"/>
                  <a:sym typeface="Symbol" charset="2"/>
                </a:defRPr>
              </a:lvl3pPr>
              <a:lvl4pPr marL="1600200" indent="-228600" eaLnBrk="0" hangingPunct="0">
                <a:defRPr kumimoji="1" sz="2400" b="1">
                  <a:solidFill>
                    <a:srgbClr val="0000FF"/>
                  </a:solidFill>
                  <a:latin typeface="Arial" charset="0"/>
                  <a:ea typeface="黑体" charset="-122"/>
                  <a:sym typeface="Symbol" charset="2"/>
                </a:defRPr>
              </a:lvl4pPr>
              <a:lvl5pPr marL="2057400" indent="-228600" eaLnBrk="0" hangingPunct="0">
                <a:defRPr kumimoji="1" sz="2400" b="1">
                  <a:solidFill>
                    <a:srgbClr val="0000FF"/>
                  </a:solidFill>
                  <a:latin typeface="Arial" charset="0"/>
                  <a:ea typeface="黑体" charset="-122"/>
                  <a:sym typeface="Symbol" charset="2"/>
                </a:defRPr>
              </a:lvl5pPr>
              <a:lvl6pPr marL="25146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6pPr>
              <a:lvl7pPr marL="29718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7pPr>
              <a:lvl8pPr marL="34290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8pPr>
              <a:lvl9pPr marL="38862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smtClean="0">
                  <a:ln>
                    <a:noFill/>
                  </a:ln>
                  <a:solidFill>
                    <a:srgbClr val="0000FF"/>
                  </a:solidFill>
                  <a:effectLst/>
                  <a:uLnTx/>
                  <a:uFillTx/>
                  <a:latin typeface="Arial" charset="0"/>
                  <a:ea typeface="黑体" charset="-122"/>
                  <a:sym typeface="Symbol" charset="2"/>
                </a:rPr>
                <a:t>A</a:t>
              </a:r>
            </a:p>
          </p:txBody>
        </p:sp>
        <p:sp>
          <p:nvSpPr>
            <p:cNvPr id="63" name="Text Box 137"/>
            <p:cNvSpPr txBox="1">
              <a:spLocks noChangeArrowheads="1"/>
            </p:cNvSpPr>
            <p:nvPr/>
          </p:nvSpPr>
          <p:spPr bwMode="auto">
            <a:xfrm>
              <a:off x="654" y="3541"/>
              <a:ext cx="1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eaLnBrk="0" hangingPunct="0">
                <a:defRPr kumimoji="1" sz="2400" b="1">
                  <a:solidFill>
                    <a:srgbClr val="0000FF"/>
                  </a:solidFill>
                  <a:latin typeface="Arial" charset="0"/>
                  <a:ea typeface="黑体" charset="-122"/>
                  <a:sym typeface="Symbol" charset="2"/>
                </a:defRPr>
              </a:lvl1pPr>
              <a:lvl2pPr marL="742950" indent="-285750" eaLnBrk="0" hangingPunct="0">
                <a:defRPr kumimoji="1" sz="2400" b="1">
                  <a:solidFill>
                    <a:srgbClr val="0000FF"/>
                  </a:solidFill>
                  <a:latin typeface="Arial" charset="0"/>
                  <a:ea typeface="黑体" charset="-122"/>
                  <a:sym typeface="Symbol" charset="2"/>
                </a:defRPr>
              </a:lvl2pPr>
              <a:lvl3pPr marL="1143000" indent="-228600" eaLnBrk="0" hangingPunct="0">
                <a:defRPr kumimoji="1" sz="2400" b="1">
                  <a:solidFill>
                    <a:srgbClr val="0000FF"/>
                  </a:solidFill>
                  <a:latin typeface="Arial" charset="0"/>
                  <a:ea typeface="黑体" charset="-122"/>
                  <a:sym typeface="Symbol" charset="2"/>
                </a:defRPr>
              </a:lvl3pPr>
              <a:lvl4pPr marL="1600200" indent="-228600" eaLnBrk="0" hangingPunct="0">
                <a:defRPr kumimoji="1" sz="2400" b="1">
                  <a:solidFill>
                    <a:srgbClr val="0000FF"/>
                  </a:solidFill>
                  <a:latin typeface="Arial" charset="0"/>
                  <a:ea typeface="黑体" charset="-122"/>
                  <a:sym typeface="Symbol" charset="2"/>
                </a:defRPr>
              </a:lvl4pPr>
              <a:lvl5pPr marL="2057400" indent="-228600" eaLnBrk="0" hangingPunct="0">
                <a:defRPr kumimoji="1" sz="2400" b="1">
                  <a:solidFill>
                    <a:srgbClr val="0000FF"/>
                  </a:solidFill>
                  <a:latin typeface="Arial" charset="0"/>
                  <a:ea typeface="黑体" charset="-122"/>
                  <a:sym typeface="Symbol" charset="2"/>
                </a:defRPr>
              </a:lvl5pPr>
              <a:lvl6pPr marL="25146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6pPr>
              <a:lvl7pPr marL="29718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7pPr>
              <a:lvl8pPr marL="34290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8pPr>
              <a:lvl9pPr marL="38862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smtClean="0">
                  <a:ln>
                    <a:noFill/>
                  </a:ln>
                  <a:solidFill>
                    <a:srgbClr val="0000FF"/>
                  </a:solidFill>
                  <a:effectLst/>
                  <a:uLnTx/>
                  <a:uFillTx/>
                  <a:latin typeface="Arial" charset="0"/>
                  <a:ea typeface="黑体" charset="-122"/>
                  <a:sym typeface="Symbol" charset="2"/>
                </a:rPr>
                <a:t>B</a:t>
              </a:r>
            </a:p>
          </p:txBody>
        </p:sp>
        <p:sp>
          <p:nvSpPr>
            <p:cNvPr id="64" name="Text Box 138"/>
            <p:cNvSpPr txBox="1">
              <a:spLocks noChangeArrowheads="1"/>
            </p:cNvSpPr>
            <p:nvPr/>
          </p:nvSpPr>
          <p:spPr bwMode="auto">
            <a:xfrm>
              <a:off x="1565" y="3113"/>
              <a:ext cx="1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eaLnBrk="0" hangingPunct="0">
                <a:defRPr kumimoji="1" sz="2400" b="1">
                  <a:solidFill>
                    <a:srgbClr val="0000FF"/>
                  </a:solidFill>
                  <a:latin typeface="Arial" charset="0"/>
                  <a:ea typeface="黑体" charset="-122"/>
                  <a:sym typeface="Symbol" charset="2"/>
                </a:defRPr>
              </a:lvl1pPr>
              <a:lvl2pPr marL="742950" indent="-285750" eaLnBrk="0" hangingPunct="0">
                <a:defRPr kumimoji="1" sz="2400" b="1">
                  <a:solidFill>
                    <a:srgbClr val="0000FF"/>
                  </a:solidFill>
                  <a:latin typeface="Arial" charset="0"/>
                  <a:ea typeface="黑体" charset="-122"/>
                  <a:sym typeface="Symbol" charset="2"/>
                </a:defRPr>
              </a:lvl2pPr>
              <a:lvl3pPr marL="1143000" indent="-228600" eaLnBrk="0" hangingPunct="0">
                <a:defRPr kumimoji="1" sz="2400" b="1">
                  <a:solidFill>
                    <a:srgbClr val="0000FF"/>
                  </a:solidFill>
                  <a:latin typeface="Arial" charset="0"/>
                  <a:ea typeface="黑体" charset="-122"/>
                  <a:sym typeface="Symbol" charset="2"/>
                </a:defRPr>
              </a:lvl3pPr>
              <a:lvl4pPr marL="1600200" indent="-228600" eaLnBrk="0" hangingPunct="0">
                <a:defRPr kumimoji="1" sz="2400" b="1">
                  <a:solidFill>
                    <a:srgbClr val="0000FF"/>
                  </a:solidFill>
                  <a:latin typeface="Arial" charset="0"/>
                  <a:ea typeface="黑体" charset="-122"/>
                  <a:sym typeface="Symbol" charset="2"/>
                </a:defRPr>
              </a:lvl4pPr>
              <a:lvl5pPr marL="2057400" indent="-228600" eaLnBrk="0" hangingPunct="0">
                <a:defRPr kumimoji="1" sz="2400" b="1">
                  <a:solidFill>
                    <a:srgbClr val="0000FF"/>
                  </a:solidFill>
                  <a:latin typeface="Arial" charset="0"/>
                  <a:ea typeface="黑体" charset="-122"/>
                  <a:sym typeface="Symbol" charset="2"/>
                </a:defRPr>
              </a:lvl5pPr>
              <a:lvl6pPr marL="25146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6pPr>
              <a:lvl7pPr marL="29718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7pPr>
              <a:lvl8pPr marL="34290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8pPr>
              <a:lvl9pPr marL="38862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smtClean="0">
                  <a:ln>
                    <a:noFill/>
                  </a:ln>
                  <a:solidFill>
                    <a:srgbClr val="0000FF"/>
                  </a:solidFill>
                  <a:effectLst/>
                  <a:uLnTx/>
                  <a:uFillTx/>
                  <a:latin typeface="Arial" charset="0"/>
                  <a:ea typeface="黑体" charset="-122"/>
                  <a:sym typeface="Symbol" charset="2"/>
                </a:rPr>
                <a:t>C</a:t>
              </a:r>
            </a:p>
          </p:txBody>
        </p:sp>
        <p:sp>
          <p:nvSpPr>
            <p:cNvPr id="65" name="Text Box 139"/>
            <p:cNvSpPr txBox="1">
              <a:spLocks noChangeArrowheads="1"/>
            </p:cNvSpPr>
            <p:nvPr/>
          </p:nvSpPr>
          <p:spPr bwMode="auto">
            <a:xfrm>
              <a:off x="1927" y="3294"/>
              <a:ext cx="1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eaLnBrk="0" hangingPunct="0">
                <a:defRPr kumimoji="1" sz="2400" b="1">
                  <a:solidFill>
                    <a:srgbClr val="0000FF"/>
                  </a:solidFill>
                  <a:latin typeface="Arial" charset="0"/>
                  <a:ea typeface="黑体" charset="-122"/>
                  <a:sym typeface="Symbol" charset="2"/>
                </a:defRPr>
              </a:lvl1pPr>
              <a:lvl2pPr marL="742950" indent="-285750" eaLnBrk="0" hangingPunct="0">
                <a:defRPr kumimoji="1" sz="2400" b="1">
                  <a:solidFill>
                    <a:srgbClr val="0000FF"/>
                  </a:solidFill>
                  <a:latin typeface="Arial" charset="0"/>
                  <a:ea typeface="黑体" charset="-122"/>
                  <a:sym typeface="Symbol" charset="2"/>
                </a:defRPr>
              </a:lvl2pPr>
              <a:lvl3pPr marL="1143000" indent="-228600" eaLnBrk="0" hangingPunct="0">
                <a:defRPr kumimoji="1" sz="2400" b="1">
                  <a:solidFill>
                    <a:srgbClr val="0000FF"/>
                  </a:solidFill>
                  <a:latin typeface="Arial" charset="0"/>
                  <a:ea typeface="黑体" charset="-122"/>
                  <a:sym typeface="Symbol" charset="2"/>
                </a:defRPr>
              </a:lvl3pPr>
              <a:lvl4pPr marL="1600200" indent="-228600" eaLnBrk="0" hangingPunct="0">
                <a:defRPr kumimoji="1" sz="2400" b="1">
                  <a:solidFill>
                    <a:srgbClr val="0000FF"/>
                  </a:solidFill>
                  <a:latin typeface="Arial" charset="0"/>
                  <a:ea typeface="黑体" charset="-122"/>
                  <a:sym typeface="Symbol" charset="2"/>
                </a:defRPr>
              </a:lvl4pPr>
              <a:lvl5pPr marL="2057400" indent="-228600" eaLnBrk="0" hangingPunct="0">
                <a:defRPr kumimoji="1" sz="2400" b="1">
                  <a:solidFill>
                    <a:srgbClr val="0000FF"/>
                  </a:solidFill>
                  <a:latin typeface="Arial" charset="0"/>
                  <a:ea typeface="黑体" charset="-122"/>
                  <a:sym typeface="Symbol" charset="2"/>
                </a:defRPr>
              </a:lvl5pPr>
              <a:lvl6pPr marL="25146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6pPr>
              <a:lvl7pPr marL="29718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7pPr>
              <a:lvl8pPr marL="34290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8pPr>
              <a:lvl9pPr marL="38862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smtClean="0">
                  <a:ln>
                    <a:noFill/>
                  </a:ln>
                  <a:solidFill>
                    <a:srgbClr val="0000FF"/>
                  </a:solidFill>
                  <a:effectLst/>
                  <a:uLnTx/>
                  <a:uFillTx/>
                  <a:latin typeface="Arial" charset="0"/>
                  <a:ea typeface="黑体" charset="-122"/>
                  <a:sym typeface="Symbol" charset="2"/>
                </a:rPr>
                <a:t>D</a:t>
              </a:r>
            </a:p>
          </p:txBody>
        </p:sp>
        <p:sp>
          <p:nvSpPr>
            <p:cNvPr id="66" name="Text Box 140"/>
            <p:cNvSpPr txBox="1">
              <a:spLocks noChangeArrowheads="1"/>
            </p:cNvSpPr>
            <p:nvPr/>
          </p:nvSpPr>
          <p:spPr bwMode="auto">
            <a:xfrm>
              <a:off x="590" y="2928"/>
              <a:ext cx="726"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smtClean="0">
                  <a:ln>
                    <a:noFill/>
                  </a:ln>
                  <a:solidFill>
                    <a:srgbClr val="0000FF"/>
                  </a:solidFill>
                  <a:effectLst/>
                  <a:uLnTx/>
                  <a:uFillTx/>
                  <a:latin typeface="Arial" panose="020B0604020202020204" pitchFamily="34" charset="0"/>
                  <a:ea typeface="SimHei" panose="02010609060101010101" pitchFamily="49" charset="-122"/>
                  <a:sym typeface="Symbol" panose="05050102010706020507" pitchFamily="18" charset="2"/>
                </a:rPr>
                <a:t>杂质半导体</a:t>
              </a:r>
            </a:p>
          </p:txBody>
        </p:sp>
        <p:sp>
          <p:nvSpPr>
            <p:cNvPr id="67" name="Text Box 141"/>
            <p:cNvSpPr txBox="1">
              <a:spLocks noChangeArrowheads="1"/>
            </p:cNvSpPr>
            <p:nvPr/>
          </p:nvSpPr>
          <p:spPr bwMode="auto">
            <a:xfrm>
              <a:off x="873" y="1888"/>
              <a:ext cx="726"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smtClean="0">
                  <a:ln>
                    <a:noFill/>
                  </a:ln>
                  <a:solidFill>
                    <a:srgbClr val="0000FF"/>
                  </a:solidFill>
                  <a:effectLst/>
                  <a:uLnTx/>
                  <a:uFillTx/>
                  <a:latin typeface="Arial" panose="020B0604020202020204" pitchFamily="34" charset="0"/>
                  <a:ea typeface="SimHei" panose="02010609060101010101" pitchFamily="49" charset="-122"/>
                  <a:sym typeface="Symbol" panose="05050102010706020507" pitchFamily="18" charset="2"/>
                </a:rPr>
                <a:t>本征半导体</a:t>
              </a:r>
            </a:p>
          </p:txBody>
        </p:sp>
        <p:sp>
          <p:nvSpPr>
            <p:cNvPr id="68" name="Line 142"/>
            <p:cNvSpPr>
              <a:spLocks noChangeShapeType="1"/>
            </p:cNvSpPr>
            <p:nvPr/>
          </p:nvSpPr>
          <p:spPr bwMode="auto">
            <a:xfrm>
              <a:off x="1156" y="3521"/>
              <a:ext cx="0" cy="317"/>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sng" strike="noStrike" kern="0" cap="none" spc="0" normalizeH="0" baseline="0" noProof="0">
                <a:ln>
                  <a:noFill/>
                </a:ln>
                <a:solidFill>
                  <a:prstClr val="black"/>
                </a:solidFill>
                <a:effectLst/>
                <a:uLnTx/>
                <a:uFillTx/>
                <a:latin typeface="Arial" charset="0"/>
                <a:ea typeface="宋体" charset="-122"/>
              </a:endParaRPr>
            </a:p>
          </p:txBody>
        </p:sp>
        <p:sp>
          <p:nvSpPr>
            <p:cNvPr id="69" name="Text Box 143"/>
            <p:cNvSpPr txBox="1">
              <a:spLocks noChangeArrowheads="1"/>
            </p:cNvSpPr>
            <p:nvPr/>
          </p:nvSpPr>
          <p:spPr bwMode="auto">
            <a:xfrm>
              <a:off x="1224" y="3615"/>
              <a:ext cx="3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srgbClr val="0000FF"/>
                  </a:solidFill>
                  <a:effectLst/>
                  <a:uLnTx/>
                  <a:uFillTx/>
                  <a:latin typeface="Arial" panose="020B0604020202020204" pitchFamily="34" charset="0"/>
                  <a:ea typeface="SimHei" panose="02010609060101010101" pitchFamily="49" charset="-122"/>
                  <a:sym typeface="Symbol" panose="05050102010706020507" pitchFamily="18" charset="2"/>
                </a:rPr>
                <a:t>室温</a:t>
              </a:r>
            </a:p>
          </p:txBody>
        </p:sp>
        <p:sp>
          <p:nvSpPr>
            <p:cNvPr id="70" name="Text Box 144"/>
            <p:cNvSpPr txBox="1">
              <a:spLocks noChangeArrowheads="1"/>
            </p:cNvSpPr>
            <p:nvPr/>
          </p:nvSpPr>
          <p:spPr bwMode="auto">
            <a:xfrm>
              <a:off x="2653" y="3722"/>
              <a:ext cx="13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eaLnBrk="0" hangingPunct="0">
                <a:defRPr kumimoji="1" sz="2400" b="1">
                  <a:solidFill>
                    <a:srgbClr val="0000FF"/>
                  </a:solidFill>
                  <a:latin typeface="Arial" charset="0"/>
                  <a:ea typeface="黑体" charset="-122"/>
                  <a:sym typeface="Symbol" charset="2"/>
                </a:defRPr>
              </a:lvl1pPr>
              <a:lvl2pPr marL="742950" indent="-285750" eaLnBrk="0" hangingPunct="0">
                <a:defRPr kumimoji="1" sz="2400" b="1">
                  <a:solidFill>
                    <a:srgbClr val="0000FF"/>
                  </a:solidFill>
                  <a:latin typeface="Arial" charset="0"/>
                  <a:ea typeface="黑体" charset="-122"/>
                  <a:sym typeface="Symbol" charset="2"/>
                </a:defRPr>
              </a:lvl2pPr>
              <a:lvl3pPr marL="1143000" indent="-228600" eaLnBrk="0" hangingPunct="0">
                <a:defRPr kumimoji="1" sz="2400" b="1">
                  <a:solidFill>
                    <a:srgbClr val="0000FF"/>
                  </a:solidFill>
                  <a:latin typeface="Arial" charset="0"/>
                  <a:ea typeface="黑体" charset="-122"/>
                  <a:sym typeface="Symbol" charset="2"/>
                </a:defRPr>
              </a:lvl3pPr>
              <a:lvl4pPr marL="1600200" indent="-228600" eaLnBrk="0" hangingPunct="0">
                <a:defRPr kumimoji="1" sz="2400" b="1">
                  <a:solidFill>
                    <a:srgbClr val="0000FF"/>
                  </a:solidFill>
                  <a:latin typeface="Arial" charset="0"/>
                  <a:ea typeface="黑体" charset="-122"/>
                  <a:sym typeface="Symbol" charset="2"/>
                </a:defRPr>
              </a:lvl4pPr>
              <a:lvl5pPr marL="2057400" indent="-228600" eaLnBrk="0" hangingPunct="0">
                <a:defRPr kumimoji="1" sz="2400" b="1">
                  <a:solidFill>
                    <a:srgbClr val="0000FF"/>
                  </a:solidFill>
                  <a:latin typeface="Arial" charset="0"/>
                  <a:ea typeface="黑体" charset="-122"/>
                  <a:sym typeface="Symbol" charset="2"/>
                </a:defRPr>
              </a:lvl5pPr>
              <a:lvl6pPr marL="25146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6pPr>
              <a:lvl7pPr marL="29718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7pPr>
              <a:lvl8pPr marL="34290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8pPr>
              <a:lvl9pPr marL="3886200" indent="-228600" algn="ctr" eaLnBrk="0" fontAlgn="base" hangingPunct="0">
                <a:lnSpc>
                  <a:spcPct val="90000"/>
                </a:lnSpc>
                <a:spcBef>
                  <a:spcPct val="20000"/>
                </a:spcBef>
                <a:spcAft>
                  <a:spcPct val="0"/>
                </a:spcAft>
                <a:defRPr kumimoji="1" sz="2400" b="1">
                  <a:solidFill>
                    <a:srgbClr val="0000FF"/>
                  </a:solidFill>
                  <a:latin typeface="Arial" charset="0"/>
                  <a:ea typeface="黑体" charset="-122"/>
                  <a:sym typeface="Symbol" charset="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smtClean="0">
                  <a:ln>
                    <a:noFill/>
                  </a:ln>
                  <a:solidFill>
                    <a:srgbClr val="0000FF"/>
                  </a:solidFill>
                  <a:effectLst/>
                  <a:uLnTx/>
                  <a:uFillTx/>
                  <a:latin typeface="Arial" charset="0"/>
                  <a:ea typeface="黑体" charset="-122"/>
                  <a:sym typeface="Symbol" charset="2"/>
                </a:rPr>
                <a:t>T</a:t>
              </a:r>
            </a:p>
          </p:txBody>
        </p:sp>
        <p:sp>
          <p:nvSpPr>
            <p:cNvPr id="71" name="Text Box 145"/>
            <p:cNvSpPr txBox="1">
              <a:spLocks noChangeArrowheads="1"/>
            </p:cNvSpPr>
            <p:nvPr/>
          </p:nvSpPr>
          <p:spPr bwMode="auto">
            <a:xfrm>
              <a:off x="158" y="2115"/>
              <a:ext cx="18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0" u="none" strike="noStrike" kern="0" cap="none" spc="0" normalizeH="0" baseline="0" noProof="0" smtClean="0">
                  <a:ln>
                    <a:noFill/>
                  </a:ln>
                  <a:solidFill>
                    <a:srgbClr val="0000FF"/>
                  </a:solidFill>
                  <a:effectLst/>
                  <a:uLnTx/>
                  <a:uFillTx/>
                  <a:latin typeface="Arial" panose="020B0604020202020204" pitchFamily="34" charset="0"/>
                  <a:ea typeface="SimHei" panose="02010609060101010101" pitchFamily="49" charset="-122"/>
                  <a:sym typeface="Symbol" panose="05050102010706020507" pitchFamily="18" charset="2"/>
                </a:rPr>
                <a:t></a:t>
              </a:r>
            </a:p>
          </p:txBody>
        </p:sp>
      </p:grpSp>
      <p:graphicFrame>
        <p:nvGraphicFramePr>
          <p:cNvPr id="72" name="Group 160"/>
          <p:cNvGraphicFramePr>
            <a:graphicFrameLocks noGrp="1"/>
          </p:cNvGraphicFramePr>
          <p:nvPr/>
        </p:nvGraphicFramePr>
        <p:xfrm>
          <a:off x="4481513" y="3792538"/>
          <a:ext cx="4537075" cy="2133600"/>
        </p:xfrm>
        <a:graphic>
          <a:graphicData uri="http://schemas.openxmlformats.org/drawingml/2006/table">
            <a:tbl>
              <a:tblPr/>
              <a:tblGrid>
                <a:gridCol w="576262">
                  <a:extLst>
                    <a:ext uri="{9D8B030D-6E8A-4147-A177-3AD203B41FA5}">
                      <a16:colId xmlns:a16="http://schemas.microsoft.com/office/drawing/2014/main" val="2748970354"/>
                    </a:ext>
                  </a:extLst>
                </a:gridCol>
                <a:gridCol w="936625">
                  <a:extLst>
                    <a:ext uri="{9D8B030D-6E8A-4147-A177-3AD203B41FA5}">
                      <a16:colId xmlns:a16="http://schemas.microsoft.com/office/drawing/2014/main" val="2936664691"/>
                    </a:ext>
                  </a:extLst>
                </a:gridCol>
                <a:gridCol w="981075">
                  <a:extLst>
                    <a:ext uri="{9D8B030D-6E8A-4147-A177-3AD203B41FA5}">
                      <a16:colId xmlns:a16="http://schemas.microsoft.com/office/drawing/2014/main" val="2380412188"/>
                    </a:ext>
                  </a:extLst>
                </a:gridCol>
                <a:gridCol w="963613">
                  <a:extLst>
                    <a:ext uri="{9D8B030D-6E8A-4147-A177-3AD203B41FA5}">
                      <a16:colId xmlns:a16="http://schemas.microsoft.com/office/drawing/2014/main" val="733030472"/>
                    </a:ext>
                  </a:extLst>
                </a:gridCol>
                <a:gridCol w="1079500">
                  <a:extLst>
                    <a:ext uri="{9D8B030D-6E8A-4147-A177-3AD203B41FA5}">
                      <a16:colId xmlns:a16="http://schemas.microsoft.com/office/drawing/2014/main" val="4100701286"/>
                    </a:ext>
                  </a:extLst>
                </a:gridCol>
              </a:tblGrid>
              <a:tr h="412750">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endParaRPr>
                    </a:p>
                  </a:txBody>
                  <a:tcPr marL="0" marR="0" marT="0" marB="0"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gridSpan="2">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载流子变化</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迁移率变化</a:t>
                      </a:r>
                    </a:p>
                  </a:txBody>
                  <a:tcPr marL="0" marR="0" marT="0" marB="0"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399911769"/>
                  </a:ext>
                </a:extLst>
              </a:tr>
              <a:tr h="365125">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endParaRPr>
                    </a:p>
                  </a:txBody>
                  <a:tcPr marL="0" marR="0" marT="0" marB="0"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1</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2</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3</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4</a:t>
                      </a:r>
                    </a:p>
                  </a:txBody>
                  <a:tcPr marL="0" marR="0" marT="0" marB="0"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5327852"/>
                  </a:ext>
                </a:extLst>
              </a:tr>
              <a:tr h="415925">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AB</a:t>
                      </a:r>
                    </a:p>
                  </a:txBody>
                  <a:tcPr marL="0" marR="0" marT="0" marB="0"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随</a:t>
                      </a:r>
                      <a:r>
                        <a:rPr kumimoji="0" lang="en-US" altLang="zh-CN"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T</a:t>
                      </a: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增加</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忽略</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随</a:t>
                      </a:r>
                      <a:r>
                        <a:rPr kumimoji="0" lang="en-US" altLang="zh-CN"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T</a:t>
                      </a: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增加</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忽略</a:t>
                      </a:r>
                    </a:p>
                  </a:txBody>
                  <a:tcPr marL="0" marR="0" marT="0" marB="0"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17133767"/>
                  </a:ext>
                </a:extLst>
              </a:tr>
              <a:tr h="420688">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BC</a:t>
                      </a:r>
                    </a:p>
                  </a:txBody>
                  <a:tcPr marL="0" marR="0" marT="0" marB="0"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全电离</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次要</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次要</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随</a:t>
                      </a:r>
                      <a:r>
                        <a:rPr kumimoji="0" lang="en-US" altLang="zh-CN"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T</a:t>
                      </a: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降低</a:t>
                      </a:r>
                    </a:p>
                  </a:txBody>
                  <a:tcPr marL="0" marR="0" marT="0" marB="0"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16943940"/>
                  </a:ext>
                </a:extLst>
              </a:tr>
              <a:tr h="403225">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CD</a:t>
                      </a:r>
                    </a:p>
                  </a:txBody>
                  <a:tcPr marL="0" marR="0" marT="0" marB="0"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次要</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随</a:t>
                      </a:r>
                      <a:r>
                        <a:rPr kumimoji="0" lang="en-US" altLang="zh-CN"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T</a:t>
                      </a: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增加</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次要</a:t>
                      </a:r>
                    </a:p>
                  </a:txBody>
                  <a:tcPr marL="0" marR="0" marT="0" marB="0"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Font typeface="Arial" panose="020B0604020202020204" pitchFamily="34" charset="0"/>
                        <a:defRPr sz="2800" kern="1200">
                          <a:solidFill>
                            <a:schemeClr val="tx1"/>
                          </a:solidFill>
                          <a:latin typeface="Calibri" panose="020F0502020204030204" pitchFamily="34" charset="0"/>
                          <a:ea typeface="宋体" panose="02010600030101010101" pitchFamily="2" charset="-122"/>
                        </a:defRPr>
                      </a:lvl1pPr>
                      <a:lvl2pPr marL="742950" indent="-285750" algn="l" defTabSz="914400" rtl="0" eaLnBrk="1" latinLnBrk="0" hangingPunct="1">
                        <a:spcBef>
                          <a:spcPct val="20000"/>
                        </a:spcBef>
                        <a:buFont typeface="Arial" panose="020B0604020202020204" pitchFamily="34" charset="0"/>
                        <a:defRPr sz="2400" kern="1200">
                          <a:solidFill>
                            <a:schemeClr val="tx1"/>
                          </a:solidFill>
                          <a:latin typeface="Calibri" panose="020F0502020204030204" pitchFamily="34" charset="0"/>
                          <a:ea typeface="宋体" panose="02010600030101010101" pitchFamily="2" charset="-122"/>
                        </a:defRPr>
                      </a:lvl2pPr>
                      <a:lvl3pPr marL="1143000" indent="-228600" algn="l" defTabSz="914400" rtl="0" eaLnBrk="1" latinLnBrk="0" hangingPunct="1">
                        <a:spcBef>
                          <a:spcPct val="20000"/>
                        </a:spcBef>
                        <a:buFont typeface="Arial" panose="020B0604020202020204" pitchFamily="34" charset="0"/>
                        <a:defRPr sz="2000" kern="1200">
                          <a:solidFill>
                            <a:schemeClr val="tx1"/>
                          </a:solidFill>
                          <a:latin typeface="Calibri" panose="020F0502020204030204" pitchFamily="34" charset="0"/>
                          <a:ea typeface="宋体" panose="02010600030101010101" pitchFamily="2" charset="-122"/>
                        </a:defRPr>
                      </a:lvl3pPr>
                      <a:lvl4pPr marL="16002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4pPr>
                      <a:lvl5pPr marL="2057400" indent="-228600" algn="l" defTabSz="914400" rtl="0" eaLnBrk="1" latinLnBrk="0" hangingPunct="1">
                        <a:spcBef>
                          <a:spcPct val="20000"/>
                        </a:spcBef>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Font typeface="Arial" panose="020B0604020202020204" pitchFamily="34" charset="0"/>
                        <a:defRPr sz="1800" kern="12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0" i="0" u="none" strike="noStrike" cap="none" normalizeH="0" baseline="0" smtClean="0">
                          <a:ln>
                            <a:noFill/>
                          </a:ln>
                          <a:solidFill>
                            <a:srgbClr val="0000FF"/>
                          </a:solidFill>
                          <a:effectLst/>
                          <a:latin typeface="Arial" panose="020B0604020202020204" pitchFamily="34" charset="0"/>
                          <a:ea typeface="SimHei" panose="02010609060101010101" pitchFamily="49" charset="-122"/>
                          <a:sym typeface="Symbol" panose="05050102010706020507" pitchFamily="18" charset="2"/>
                        </a:rPr>
                        <a:t>次要</a:t>
                      </a:r>
                    </a:p>
                  </a:txBody>
                  <a:tcPr marL="0" marR="0" marT="0" marB="0"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9657421"/>
                  </a:ext>
                </a:extLst>
              </a:tr>
            </a:tbl>
          </a:graphicData>
        </a:graphic>
      </p:graphicFrame>
    </p:spTree>
    <p:extLst>
      <p:ext uri="{BB962C8B-B14F-4D97-AF65-F5344CB8AC3E}">
        <p14:creationId xmlns:p14="http://schemas.microsoft.com/office/powerpoint/2010/main" val="226145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anim calcmode="lin" valueType="num">
                                      <p:cBhvr additive="base">
                                        <p:cTn id="11" dur="500" fill="hold"/>
                                        <p:tgtEl>
                                          <p:spTgt spid="56"/>
                                        </p:tgtEl>
                                        <p:attrNameLst>
                                          <p:attrName>ppt_x</p:attrName>
                                        </p:attrNameLst>
                                      </p:cBhvr>
                                      <p:tavLst>
                                        <p:tav tm="0">
                                          <p:val>
                                            <p:strVal val="0-#ppt_w/2"/>
                                          </p:val>
                                        </p:tav>
                                        <p:tav tm="100000">
                                          <p:val>
                                            <p:strVal val="#ppt_x"/>
                                          </p:val>
                                        </p:tav>
                                      </p:tavLst>
                                    </p:anim>
                                    <p:anim calcmode="lin" valueType="num">
                                      <p:cBhvr additive="base">
                                        <p:cTn id="12"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checkerboard(across)">
                                      <p:cBhvr>
                                        <p:cTn id="21"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14</a:t>
            </a:fld>
            <a:endParaRPr lang="zh-CN" altLang="en-US"/>
          </a:p>
        </p:txBody>
      </p:sp>
      <p:sp>
        <p:nvSpPr>
          <p:cNvPr id="3" name="矩形 2"/>
          <p:cNvSpPr/>
          <p:nvPr/>
        </p:nvSpPr>
        <p:spPr>
          <a:xfrm>
            <a:off x="500421" y="366634"/>
            <a:ext cx="4331635"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2</a:t>
            </a:r>
            <a:r>
              <a:rPr kumimoji="1" lang="zh-CN" altLang="en-US" sz="2800" b="1" dirty="0" smtClean="0">
                <a:solidFill>
                  <a:srgbClr val="D96227"/>
                </a:solidFill>
                <a:latin typeface="Times New Roman" pitchFamily="18" charset="0"/>
                <a:ea typeface="宋体" pitchFamily="2" charset="-122"/>
                <a:cs typeface="Times New Roman" pitchFamily="18" charset="0"/>
              </a:rPr>
              <a:t>、载流子的宏观运动行为</a:t>
            </a:r>
            <a:endParaRPr kumimoji="1" lang="en-US" altLang="zh-CN" sz="2800" b="1" dirty="0">
              <a:solidFill>
                <a:srgbClr val="D96227"/>
              </a:solidFill>
              <a:latin typeface="Times New Roman" pitchFamily="18" charset="0"/>
              <a:ea typeface="宋体" pitchFamily="2" charset="-122"/>
              <a:cs typeface="Times New Roman" pitchFamily="18" charset="0"/>
            </a:endParaRPr>
          </a:p>
        </p:txBody>
      </p:sp>
      <p:sp>
        <p:nvSpPr>
          <p:cNvPr id="5" name="Text Box 8"/>
          <p:cNvSpPr txBox="1">
            <a:spLocks noChangeArrowheads="1"/>
          </p:cNvSpPr>
          <p:nvPr/>
        </p:nvSpPr>
        <p:spPr bwMode="auto">
          <a:xfrm>
            <a:off x="500421" y="3052507"/>
            <a:ext cx="8172710" cy="1923988"/>
          </a:xfrm>
          <a:prstGeom prst="rect">
            <a:avLst/>
          </a:prstGeom>
          <a:noFill/>
          <a:ln w="12700" cap="sq">
            <a:noFill/>
            <a:miter lim="800000"/>
            <a:headEnd type="none" w="sm" len="sm"/>
            <a:tailEnd type="none" w="sm" len="sm"/>
          </a:ln>
        </p:spPr>
        <p:txBody>
          <a:bodyPr wrap="square">
            <a:spAutoFit/>
          </a:bodyPr>
          <a:lstStyle/>
          <a:p>
            <a:pPr defTabSz="914400" eaLnBrk="0" fontAlgn="base" hangingPunct="0">
              <a:lnSpc>
                <a:spcPct val="110000"/>
              </a:lnSpc>
              <a:spcBef>
                <a:spcPts val="1000"/>
              </a:spcBef>
              <a:spcAft>
                <a:spcPct val="0"/>
              </a:spcAft>
            </a:pPr>
            <a:r>
              <a:rPr kumimoji="1" lang="zh-CN" altLang="en-US" sz="2200" b="1" dirty="0" smtClean="0">
                <a:solidFill>
                  <a:srgbClr val="000000"/>
                </a:solidFill>
                <a:latin typeface="Times New Roman" pitchFamily="18" charset="0"/>
                <a:ea typeface="宋体" charset="-122"/>
              </a:rPr>
              <a:t>存在</a:t>
            </a:r>
            <a:r>
              <a:rPr kumimoji="1" lang="zh-CN" altLang="en-US" sz="2200" b="1" dirty="0">
                <a:solidFill>
                  <a:srgbClr val="000000"/>
                </a:solidFill>
                <a:latin typeface="Times New Roman" pitchFamily="18" charset="0"/>
                <a:ea typeface="宋体" charset="-122"/>
              </a:rPr>
              <a:t>外电场时</a:t>
            </a:r>
            <a:r>
              <a:rPr kumimoji="1" lang="zh-CN" altLang="en-US" sz="2200" b="1" dirty="0" smtClean="0">
                <a:solidFill>
                  <a:srgbClr val="000000"/>
                </a:solidFill>
                <a:latin typeface="Times New Roman" pitchFamily="18" charset="0"/>
                <a:ea typeface="宋体" charset="-122"/>
              </a:rPr>
              <a:t>，半导体中载流子在外电场的作用下所做的定向</a:t>
            </a:r>
            <a:r>
              <a:rPr kumimoji="1" lang="zh-CN" altLang="en-US" sz="2200" b="1" dirty="0">
                <a:solidFill>
                  <a:srgbClr val="000000"/>
                </a:solidFill>
                <a:latin typeface="Times New Roman" pitchFamily="18" charset="0"/>
                <a:ea typeface="宋体" charset="-122"/>
              </a:rPr>
              <a:t>运动，称之为漂移运动（</a:t>
            </a:r>
            <a:r>
              <a:rPr kumimoji="1" lang="en-US" altLang="zh-CN" sz="2200" b="1" dirty="0">
                <a:solidFill>
                  <a:srgbClr val="000000"/>
                </a:solidFill>
                <a:latin typeface="Times New Roman" pitchFamily="18" charset="0"/>
                <a:ea typeface="宋体" charset="-122"/>
              </a:rPr>
              <a:t>Drift</a:t>
            </a:r>
            <a:r>
              <a:rPr kumimoji="1" lang="zh-CN" altLang="en-US" sz="2200" b="1" dirty="0">
                <a:solidFill>
                  <a:srgbClr val="000000"/>
                </a:solidFill>
                <a:latin typeface="Times New Roman" pitchFamily="18" charset="0"/>
                <a:ea typeface="宋体" charset="-122"/>
              </a:rPr>
              <a:t>）。</a:t>
            </a:r>
            <a:r>
              <a:rPr kumimoji="1" lang="zh-CN" altLang="en-US" sz="2200" b="1" dirty="0">
                <a:solidFill>
                  <a:srgbClr val="FF3300"/>
                </a:solidFill>
                <a:latin typeface="Times New Roman" pitchFamily="18" charset="0"/>
                <a:ea typeface="宋体" charset="-122"/>
              </a:rPr>
              <a:t>漂移运动是载流子在电场作用</a:t>
            </a:r>
            <a:r>
              <a:rPr kumimoji="1" lang="zh-CN" altLang="en-US" sz="2200" b="1" dirty="0" smtClean="0">
                <a:solidFill>
                  <a:srgbClr val="FF3300"/>
                </a:solidFill>
                <a:latin typeface="Times New Roman" pitchFamily="18" charset="0"/>
                <a:ea typeface="宋体" charset="-122"/>
              </a:rPr>
              <a:t>下</a:t>
            </a:r>
            <a:r>
              <a:rPr kumimoji="1" lang="zh-CN" altLang="en-US" sz="2200" b="1" dirty="0" smtClean="0">
                <a:solidFill>
                  <a:srgbClr val="FF0000"/>
                </a:solidFill>
                <a:latin typeface="Times New Roman" pitchFamily="18" charset="0"/>
                <a:ea typeface="宋体" charset="-122"/>
              </a:rPr>
              <a:t>载流子</a:t>
            </a:r>
            <a:r>
              <a:rPr kumimoji="1" lang="zh-CN" altLang="en-US" sz="2200" b="1" dirty="0">
                <a:solidFill>
                  <a:srgbClr val="FF0000"/>
                </a:solidFill>
                <a:latin typeface="Times New Roman" pitchFamily="18" charset="0"/>
                <a:ea typeface="宋体" charset="-122"/>
              </a:rPr>
              <a:t>微观运动的统计平均结果的具体表征</a:t>
            </a:r>
            <a:r>
              <a:rPr kumimoji="1" lang="zh-CN" altLang="en-US" sz="2200" b="1" dirty="0">
                <a:solidFill>
                  <a:srgbClr val="000000"/>
                </a:solidFill>
                <a:latin typeface="Times New Roman" pitchFamily="18" charset="0"/>
                <a:ea typeface="宋体" charset="-122"/>
              </a:rPr>
              <a:t>。载流子的漂移运动实际是载流子在电场作用下经历加速、碰撞减速过程的统计平均结果</a:t>
            </a:r>
            <a:r>
              <a:rPr kumimoji="1" lang="zh-CN" altLang="en-US" sz="2200" b="1" dirty="0" smtClean="0">
                <a:solidFill>
                  <a:srgbClr val="000000"/>
                </a:solidFill>
                <a:latin typeface="Times New Roman" pitchFamily="18" charset="0"/>
                <a:ea typeface="宋体" charset="-122"/>
              </a:rPr>
              <a:t>。由此导致</a:t>
            </a:r>
            <a:r>
              <a:rPr kumimoji="1" lang="zh-CN" altLang="en-US" sz="2200" b="1" dirty="0">
                <a:solidFill>
                  <a:srgbClr val="000000"/>
                </a:solidFill>
                <a:latin typeface="Times New Roman" pitchFamily="18" charset="0"/>
                <a:ea typeface="宋体" charset="-122"/>
              </a:rPr>
              <a:t>的电流输运，称为</a:t>
            </a:r>
            <a:r>
              <a:rPr kumimoji="1" lang="zh-CN" altLang="en-US" sz="2200" b="1" dirty="0">
                <a:solidFill>
                  <a:srgbClr val="FF3300"/>
                </a:solidFill>
                <a:latin typeface="Times New Roman" pitchFamily="18" charset="0"/>
                <a:ea typeface="宋体" charset="-122"/>
              </a:rPr>
              <a:t>漂移电流</a:t>
            </a:r>
            <a:r>
              <a:rPr kumimoji="1" lang="zh-CN" altLang="en-US" sz="2200" b="1" dirty="0">
                <a:solidFill>
                  <a:srgbClr val="000000"/>
                </a:solidFill>
                <a:latin typeface="Times New Roman" pitchFamily="18" charset="0"/>
                <a:ea typeface="宋体" charset="-122"/>
              </a:rPr>
              <a:t>。</a:t>
            </a:r>
          </a:p>
        </p:txBody>
      </p:sp>
      <p:sp>
        <p:nvSpPr>
          <p:cNvPr id="6" name="Text Box 10"/>
          <p:cNvSpPr txBox="1">
            <a:spLocks noChangeArrowheads="1"/>
          </p:cNvSpPr>
          <p:nvPr/>
        </p:nvSpPr>
        <p:spPr bwMode="auto">
          <a:xfrm>
            <a:off x="500421" y="1039982"/>
            <a:ext cx="8307725" cy="1311128"/>
          </a:xfrm>
          <a:prstGeom prst="rect">
            <a:avLst/>
          </a:prstGeom>
          <a:noFill/>
          <a:ln w="9525">
            <a:noFill/>
            <a:miter lim="800000"/>
            <a:headEnd/>
            <a:tailEnd/>
          </a:ln>
        </p:spPr>
        <p:txBody>
          <a:bodyPr wrap="square">
            <a:spAutoFit/>
          </a:bodyPr>
          <a:lstStyle/>
          <a:p>
            <a:pPr defTabSz="914400" fontAlgn="base">
              <a:lnSpc>
                <a:spcPct val="120000"/>
              </a:lnSpc>
              <a:spcBef>
                <a:spcPct val="50000"/>
              </a:spcBef>
              <a:spcAft>
                <a:spcPct val="0"/>
              </a:spcAft>
            </a:pPr>
            <a:r>
              <a:rPr kumimoji="1" lang="zh-CN" altLang="en-US" sz="2200" b="1" dirty="0">
                <a:solidFill>
                  <a:srgbClr val="000000"/>
                </a:solidFill>
                <a:latin typeface="Times New Roman" pitchFamily="18" charset="0"/>
                <a:ea typeface="宋体" charset="-122"/>
              </a:rPr>
              <a:t>半导体中宏观</a:t>
            </a:r>
            <a:r>
              <a:rPr kumimoji="1" lang="zh-CN" altLang="en-US" sz="2200" b="1" dirty="0" smtClean="0">
                <a:solidFill>
                  <a:srgbClr val="000000"/>
                </a:solidFill>
                <a:latin typeface="Times New Roman" pitchFamily="18" charset="0"/>
                <a:ea typeface="宋体" charset="-122"/>
              </a:rPr>
              <a:t>电流输</a:t>
            </a:r>
            <a:r>
              <a:rPr kumimoji="1" lang="zh-CN" altLang="en-US" sz="2200" b="1" dirty="0">
                <a:solidFill>
                  <a:srgbClr val="000000"/>
                </a:solidFill>
                <a:latin typeface="Times New Roman" pitchFamily="18" charset="0"/>
                <a:ea typeface="宋体" charset="-122"/>
              </a:rPr>
              <a:t>运是通过</a:t>
            </a:r>
            <a:r>
              <a:rPr kumimoji="1" lang="zh-CN" altLang="en-US" sz="2200" b="1" dirty="0">
                <a:solidFill>
                  <a:srgbClr val="FF3300"/>
                </a:solidFill>
                <a:latin typeface="Times New Roman" pitchFamily="18" charset="0"/>
                <a:ea typeface="宋体" charset="-122"/>
              </a:rPr>
              <a:t>载流子的宏观定向运动</a:t>
            </a:r>
            <a:r>
              <a:rPr kumimoji="1" lang="zh-CN" altLang="en-US" sz="2200" b="1" dirty="0">
                <a:solidFill>
                  <a:srgbClr val="000000"/>
                </a:solidFill>
                <a:latin typeface="Times New Roman" pitchFamily="18" charset="0"/>
                <a:ea typeface="宋体" charset="-122"/>
              </a:rPr>
              <a:t>实现的，宏观定向运动实际上体现了微观运动的统计平均</a:t>
            </a:r>
            <a:r>
              <a:rPr kumimoji="1" lang="zh-CN" altLang="en-US" sz="2200" b="1" dirty="0" smtClean="0">
                <a:solidFill>
                  <a:srgbClr val="000000"/>
                </a:solidFill>
                <a:latin typeface="Times New Roman" pitchFamily="18" charset="0"/>
                <a:ea typeface="宋体" charset="-122"/>
              </a:rPr>
              <a:t>结果。半导体中的载流子宏观电流输运具体</a:t>
            </a:r>
            <a:r>
              <a:rPr kumimoji="1" lang="zh-CN" altLang="en-US" sz="2200" b="1" dirty="0">
                <a:solidFill>
                  <a:srgbClr val="000000"/>
                </a:solidFill>
                <a:latin typeface="Times New Roman" pitchFamily="18" charset="0"/>
                <a:ea typeface="宋体" charset="-122"/>
              </a:rPr>
              <a:t>表现为：</a:t>
            </a:r>
            <a:r>
              <a:rPr kumimoji="1" lang="zh-CN" altLang="en-US" sz="2200" b="1" dirty="0">
                <a:solidFill>
                  <a:srgbClr val="FF3300"/>
                </a:solidFill>
                <a:latin typeface="Times New Roman" pitchFamily="18" charset="0"/>
                <a:ea typeface="宋体" charset="-122"/>
              </a:rPr>
              <a:t>漂移运动</a:t>
            </a:r>
            <a:r>
              <a:rPr kumimoji="1" lang="zh-CN" altLang="en-US" sz="2200" b="1" dirty="0">
                <a:solidFill>
                  <a:srgbClr val="000000"/>
                </a:solidFill>
                <a:latin typeface="Times New Roman" pitchFamily="18" charset="0"/>
                <a:ea typeface="宋体" charset="-122"/>
              </a:rPr>
              <a:t>和</a:t>
            </a:r>
            <a:r>
              <a:rPr kumimoji="1" lang="zh-CN" altLang="en-US" sz="2200" b="1" dirty="0">
                <a:solidFill>
                  <a:srgbClr val="FF3300"/>
                </a:solidFill>
                <a:latin typeface="Times New Roman" pitchFamily="18" charset="0"/>
                <a:ea typeface="宋体" charset="-122"/>
              </a:rPr>
              <a:t>扩散运动</a:t>
            </a:r>
            <a:r>
              <a:rPr kumimoji="1" lang="zh-CN" altLang="en-US" sz="2200" b="1" dirty="0">
                <a:solidFill>
                  <a:srgbClr val="000000"/>
                </a:solidFill>
                <a:latin typeface="Times New Roman" pitchFamily="18" charset="0"/>
                <a:ea typeface="宋体" charset="-122"/>
              </a:rPr>
              <a:t>两种形式。</a:t>
            </a:r>
          </a:p>
        </p:txBody>
      </p:sp>
      <p:sp>
        <p:nvSpPr>
          <p:cNvPr id="8" name="Text Box 8"/>
          <p:cNvSpPr txBox="1">
            <a:spLocks noChangeArrowheads="1"/>
          </p:cNvSpPr>
          <p:nvPr/>
        </p:nvSpPr>
        <p:spPr bwMode="auto">
          <a:xfrm>
            <a:off x="500421" y="2438621"/>
            <a:ext cx="4357688" cy="527580"/>
          </a:xfrm>
          <a:prstGeom prst="rect">
            <a:avLst/>
          </a:prstGeom>
          <a:noFill/>
          <a:ln w="12700" cap="sq">
            <a:noFill/>
            <a:miter lim="800000"/>
            <a:headEnd type="none" w="sm" len="sm"/>
            <a:tailEnd type="none" w="sm" len="sm"/>
          </a:ln>
          <a:effectLst/>
        </p:spPr>
        <p:txBody>
          <a:bodyPr>
            <a:spAutoFit/>
          </a:bodyPr>
          <a:lstStyle/>
          <a:p>
            <a:pPr defTabSz="914400" fontAlgn="base">
              <a:lnSpc>
                <a:spcPct val="110000"/>
              </a:lnSpc>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载流子的漂移运动</a:t>
            </a:r>
            <a:endPar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endParaRPr>
          </a:p>
        </p:txBody>
      </p:sp>
      <p:sp>
        <p:nvSpPr>
          <p:cNvPr id="11" name="矩形 10"/>
          <p:cNvSpPr/>
          <p:nvPr/>
        </p:nvSpPr>
        <p:spPr>
          <a:xfrm>
            <a:off x="500421" y="5121214"/>
            <a:ext cx="2969083" cy="572464"/>
          </a:xfrm>
          <a:prstGeom prst="rect">
            <a:avLst/>
          </a:prstGeom>
        </p:spPr>
        <p:txBody>
          <a:bodyPr wrap="none">
            <a:spAutoFit/>
          </a:bodyPr>
          <a:lstStyle/>
          <a:p>
            <a:pPr lvl="0" defTabSz="914400" eaLnBrk="0" fontAlgn="base" hangingPunct="0">
              <a:lnSpc>
                <a:spcPct val="130000"/>
              </a:lnSpc>
              <a:spcBef>
                <a:spcPct val="50000"/>
              </a:spcBef>
              <a:spcAft>
                <a:spcPct val="0"/>
              </a:spcAft>
            </a:pPr>
            <a:r>
              <a:rPr kumimoji="1" lang="zh-CN" altLang="en-US" sz="2400" b="1" dirty="0">
                <a:solidFill>
                  <a:srgbClr val="000000"/>
                </a:solidFill>
                <a:latin typeface="Times New Roman" pitchFamily="18" charset="0"/>
                <a:ea typeface="宋体" charset="-122"/>
              </a:rPr>
              <a:t>漂移电流可表示为：</a:t>
            </a:r>
          </a:p>
        </p:txBody>
      </p:sp>
      <p:graphicFrame>
        <p:nvGraphicFramePr>
          <p:cNvPr id="12" name="Object 0"/>
          <p:cNvGraphicFramePr>
            <a:graphicFrameLocks noChangeAspect="1"/>
          </p:cNvGraphicFramePr>
          <p:nvPr>
            <p:extLst>
              <p:ext uri="{D42A27DB-BD31-4B8C-83A1-F6EECF244321}">
                <p14:modId xmlns:p14="http://schemas.microsoft.com/office/powerpoint/2010/main" val="218541570"/>
              </p:ext>
            </p:extLst>
          </p:nvPr>
        </p:nvGraphicFramePr>
        <p:xfrm>
          <a:off x="3469504" y="5167733"/>
          <a:ext cx="1289050" cy="479425"/>
        </p:xfrm>
        <a:graphic>
          <a:graphicData uri="http://schemas.openxmlformats.org/presentationml/2006/ole">
            <mc:AlternateContent xmlns:mc="http://schemas.openxmlformats.org/markup-compatibility/2006">
              <mc:Choice xmlns:v="urn:schemas-microsoft-com:vml" Requires="v">
                <p:oleObj spid="_x0000_s15418" name="Equation" r:id="rId3" imgW="508000" imgH="190500" progId="Equation.3">
                  <p:embed/>
                </p:oleObj>
              </mc:Choice>
              <mc:Fallback>
                <p:oleObj name="Equation" r:id="rId3" imgW="508000" imgH="190500" progId="Equation.3">
                  <p:embed/>
                  <p:pic>
                    <p:nvPicPr>
                      <p:cNvPr id="16388"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9504" y="5167733"/>
                        <a:ext cx="1289050" cy="479425"/>
                      </a:xfrm>
                      <a:prstGeom prst="rect">
                        <a:avLst/>
                      </a:prstGeom>
                      <a:solidFill>
                        <a:srgbClr val="FFFFFF"/>
                      </a:solidFill>
                    </p:spPr>
                  </p:pic>
                </p:oleObj>
              </mc:Fallback>
            </mc:AlternateContent>
          </a:graphicData>
        </a:graphic>
      </p:graphicFrame>
      <p:graphicFrame>
        <p:nvGraphicFramePr>
          <p:cNvPr id="13" name="Object 1"/>
          <p:cNvGraphicFramePr>
            <a:graphicFrameLocks noChangeAspect="1"/>
          </p:cNvGraphicFramePr>
          <p:nvPr>
            <p:extLst>
              <p:ext uri="{D42A27DB-BD31-4B8C-83A1-F6EECF244321}">
                <p14:modId xmlns:p14="http://schemas.microsoft.com/office/powerpoint/2010/main" val="380055549"/>
              </p:ext>
            </p:extLst>
          </p:nvPr>
        </p:nvGraphicFramePr>
        <p:xfrm>
          <a:off x="5197162" y="5195203"/>
          <a:ext cx="1241425" cy="498475"/>
        </p:xfrm>
        <a:graphic>
          <a:graphicData uri="http://schemas.openxmlformats.org/presentationml/2006/ole">
            <mc:AlternateContent xmlns:mc="http://schemas.openxmlformats.org/markup-compatibility/2006">
              <mc:Choice xmlns:v="urn:schemas-microsoft-com:vml" Requires="v">
                <p:oleObj spid="_x0000_s15419" name="Equation" r:id="rId5" imgW="469696" imgH="190417" progId="Equation.3">
                  <p:embed/>
                </p:oleObj>
              </mc:Choice>
              <mc:Fallback>
                <p:oleObj name="Equation" r:id="rId5" imgW="469696" imgH="190417" progId="Equation.3">
                  <p:embed/>
                  <p:pic>
                    <p:nvPicPr>
                      <p:cNvPr id="16387"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7162" y="5195203"/>
                        <a:ext cx="1241425" cy="498475"/>
                      </a:xfrm>
                      <a:prstGeom prst="rect">
                        <a:avLst/>
                      </a:prstGeom>
                      <a:solidFill>
                        <a:srgbClr val="FFFFFF"/>
                      </a:solidFill>
                    </p:spPr>
                  </p:pic>
                </p:oleObj>
              </mc:Fallback>
            </mc:AlternateContent>
          </a:graphicData>
        </a:graphic>
      </p:graphicFrame>
      <p:sp>
        <p:nvSpPr>
          <p:cNvPr id="14" name="矩形 13"/>
          <p:cNvSpPr/>
          <p:nvPr/>
        </p:nvSpPr>
        <p:spPr>
          <a:xfrm>
            <a:off x="500421" y="5884916"/>
            <a:ext cx="8136194" cy="769441"/>
          </a:xfrm>
          <a:prstGeom prst="rect">
            <a:avLst/>
          </a:prstGeom>
        </p:spPr>
        <p:txBody>
          <a:bodyPr wrap="square">
            <a:spAutoFit/>
          </a:bodyPr>
          <a:lstStyle/>
          <a:p>
            <a:pPr lvl="0" defTabSz="914400" eaLnBrk="0" fontAlgn="base" hangingPunct="0">
              <a:spcAft>
                <a:spcPct val="0"/>
              </a:spcAft>
            </a:pPr>
            <a:r>
              <a:rPr kumimoji="1" lang="zh-CN" altLang="en-US" sz="2200" b="1" dirty="0">
                <a:solidFill>
                  <a:srgbClr val="000000"/>
                </a:solidFill>
                <a:latin typeface="Times New Roman" pitchFamily="18" charset="0"/>
                <a:ea typeface="宋体" charset="-122"/>
              </a:rPr>
              <a:t>比例系数 </a:t>
            </a:r>
            <a:r>
              <a:rPr kumimoji="1" lang="zh-CN" altLang="en-US" sz="2200" b="1" dirty="0">
                <a:solidFill>
                  <a:srgbClr val="000000"/>
                </a:solidFill>
                <a:latin typeface="Times New Roman" pitchFamily="18" charset="0"/>
                <a:ea typeface="宋体" charset="-122"/>
                <a:sym typeface="Symbol" pitchFamily="18" charset="2"/>
              </a:rPr>
              <a:t> </a:t>
            </a:r>
            <a:r>
              <a:rPr kumimoji="1" lang="zh-CN" altLang="en-US" sz="2200" b="1" dirty="0">
                <a:solidFill>
                  <a:srgbClr val="000000"/>
                </a:solidFill>
                <a:latin typeface="Times New Roman" pitchFamily="18" charset="0"/>
                <a:ea typeface="宋体" charset="-122"/>
              </a:rPr>
              <a:t>称为载流子的迁移率，其定义为：单位电场作用下，载流子获得的平均定向运动</a:t>
            </a:r>
            <a:r>
              <a:rPr kumimoji="1" lang="zh-CN" altLang="en-US" sz="2200" b="1" dirty="0" smtClean="0">
                <a:solidFill>
                  <a:srgbClr val="000000"/>
                </a:solidFill>
                <a:latin typeface="Times New Roman" pitchFamily="18" charset="0"/>
                <a:ea typeface="宋体" charset="-122"/>
              </a:rPr>
              <a:t>速度。</a:t>
            </a:r>
            <a:endParaRPr kumimoji="1" lang="en-US" altLang="zh-CN" sz="2200" b="1" dirty="0">
              <a:solidFill>
                <a:srgbClr val="000000"/>
              </a:solidFill>
              <a:latin typeface="Times New Roman" pitchFamily="18" charset="0"/>
              <a:ea typeface="宋体" charset="-122"/>
            </a:endParaRPr>
          </a:p>
        </p:txBody>
      </p:sp>
    </p:spTree>
    <p:extLst>
      <p:ext uri="{BB962C8B-B14F-4D97-AF65-F5344CB8AC3E}">
        <p14:creationId xmlns:p14="http://schemas.microsoft.com/office/powerpoint/2010/main" val="5354460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15</a:t>
            </a:fld>
            <a:endParaRPr lang="zh-CN" altLang="en-US"/>
          </a:p>
        </p:txBody>
      </p:sp>
      <p:sp>
        <p:nvSpPr>
          <p:cNvPr id="3" name="Text Box 8"/>
          <p:cNvSpPr txBox="1">
            <a:spLocks noChangeArrowheads="1"/>
          </p:cNvSpPr>
          <p:nvPr/>
        </p:nvSpPr>
        <p:spPr bwMode="auto">
          <a:xfrm>
            <a:off x="421763" y="246028"/>
            <a:ext cx="4357688" cy="527580"/>
          </a:xfrm>
          <a:prstGeom prst="rect">
            <a:avLst/>
          </a:prstGeom>
          <a:noFill/>
          <a:ln w="12700" cap="sq">
            <a:noFill/>
            <a:miter lim="800000"/>
            <a:headEnd type="none" w="sm" len="sm"/>
            <a:tailEnd type="none" w="sm" len="sm"/>
          </a:ln>
          <a:effectLst/>
        </p:spPr>
        <p:txBody>
          <a:bodyPr>
            <a:spAutoFit/>
          </a:bodyPr>
          <a:lstStyle/>
          <a:p>
            <a:pPr defTabSz="914400" fontAlgn="base">
              <a:lnSpc>
                <a:spcPct val="110000"/>
              </a:lnSpc>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载流子的</a:t>
            </a:r>
            <a:r>
              <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rPr>
              <a:t>扩散</a:t>
            </a: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运动</a:t>
            </a:r>
            <a:endPar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endParaRPr>
          </a:p>
        </p:txBody>
      </p:sp>
      <p:graphicFrame>
        <p:nvGraphicFramePr>
          <p:cNvPr id="4" name="Object 9"/>
          <p:cNvGraphicFramePr>
            <a:graphicFrameLocks noChangeAspect="1"/>
          </p:cNvGraphicFramePr>
          <p:nvPr>
            <p:extLst>
              <p:ext uri="{D42A27DB-BD31-4B8C-83A1-F6EECF244321}">
                <p14:modId xmlns:p14="http://schemas.microsoft.com/office/powerpoint/2010/main" val="3264295276"/>
              </p:ext>
            </p:extLst>
          </p:nvPr>
        </p:nvGraphicFramePr>
        <p:xfrm>
          <a:off x="3517388" y="2471210"/>
          <a:ext cx="1728788" cy="904875"/>
        </p:xfrm>
        <a:graphic>
          <a:graphicData uri="http://schemas.openxmlformats.org/presentationml/2006/ole">
            <mc:AlternateContent xmlns:mc="http://schemas.openxmlformats.org/markup-compatibility/2006">
              <mc:Choice xmlns:v="urn:schemas-microsoft-com:vml" Requires="v">
                <p:oleObj spid="_x0000_s16414" name="公式" r:id="rId3" imgW="748975" imgH="393529" progId="Equation.3">
                  <p:embed/>
                </p:oleObj>
              </mc:Choice>
              <mc:Fallback>
                <p:oleObj name="公式" r:id="rId3" imgW="748975" imgH="393529" progId="Equation.3">
                  <p:embed/>
                  <p:pic>
                    <p:nvPicPr>
                      <p:cNvPr id="21507"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7388" y="2471210"/>
                        <a:ext cx="1728788" cy="904875"/>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7"/>
          <p:cNvSpPr txBox="1">
            <a:spLocks noChangeArrowheads="1"/>
          </p:cNvSpPr>
          <p:nvPr/>
        </p:nvSpPr>
        <p:spPr bwMode="auto">
          <a:xfrm>
            <a:off x="421763" y="1026908"/>
            <a:ext cx="8205788" cy="1375248"/>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400" b="1" dirty="0">
                <a:solidFill>
                  <a:srgbClr val="000000"/>
                </a:solidFill>
                <a:latin typeface="Times New Roman" pitchFamily="18" charset="0"/>
                <a:ea typeface="宋体" charset="-122"/>
              </a:rPr>
              <a:t>半导体载流子的另一</a:t>
            </a:r>
            <a:r>
              <a:rPr kumimoji="1" lang="zh-CN" altLang="en-US" sz="2400" b="1" dirty="0" smtClean="0">
                <a:solidFill>
                  <a:srgbClr val="000000"/>
                </a:solidFill>
                <a:latin typeface="Times New Roman" pitchFamily="18" charset="0"/>
                <a:ea typeface="宋体" charset="-122"/>
              </a:rPr>
              <a:t>宏观电流输</a:t>
            </a:r>
            <a:r>
              <a:rPr kumimoji="1" lang="zh-CN" altLang="en-US" sz="2400" b="1" dirty="0">
                <a:solidFill>
                  <a:srgbClr val="000000"/>
                </a:solidFill>
                <a:latin typeface="Times New Roman" pitchFamily="18" charset="0"/>
                <a:ea typeface="宋体" charset="-122"/>
              </a:rPr>
              <a:t>运机制是</a:t>
            </a:r>
            <a:r>
              <a:rPr kumimoji="1" lang="zh-CN" altLang="en-US" sz="2400" b="1" dirty="0">
                <a:solidFill>
                  <a:srgbClr val="FF3300"/>
                </a:solidFill>
                <a:latin typeface="Times New Roman" pitchFamily="18" charset="0"/>
                <a:ea typeface="宋体" charset="-122"/>
              </a:rPr>
              <a:t>扩散运动</a:t>
            </a:r>
            <a:r>
              <a:rPr kumimoji="1" lang="zh-CN" altLang="en-US" sz="2400" b="1" dirty="0">
                <a:solidFill>
                  <a:srgbClr val="000000"/>
                </a:solidFill>
                <a:latin typeface="Times New Roman" pitchFamily="18" charset="0"/>
                <a:ea typeface="宋体" charset="-122"/>
              </a:rPr>
              <a:t>。</a:t>
            </a:r>
          </a:p>
          <a:p>
            <a:pPr defTabSz="914400" eaLnBrk="0" fontAlgn="base" hangingPunct="0">
              <a:lnSpc>
                <a:spcPct val="110000"/>
              </a:lnSpc>
              <a:spcBef>
                <a:spcPts val="500"/>
              </a:spcBef>
              <a:spcAft>
                <a:spcPct val="0"/>
              </a:spcAft>
            </a:pPr>
            <a:r>
              <a:rPr kumimoji="1" lang="zh-CN" altLang="en-US" sz="2400" b="1" dirty="0">
                <a:solidFill>
                  <a:srgbClr val="FF3300"/>
                </a:solidFill>
                <a:latin typeface="Times New Roman" pitchFamily="18" charset="0"/>
                <a:ea typeface="宋体" charset="-122"/>
              </a:rPr>
              <a:t>当半导体中存在</a:t>
            </a:r>
            <a:r>
              <a:rPr kumimoji="1" lang="zh-CN" altLang="en-US" sz="2400" b="1" dirty="0">
                <a:solidFill>
                  <a:srgbClr val="0066FF"/>
                </a:solidFill>
                <a:latin typeface="Times New Roman" pitchFamily="18" charset="0"/>
                <a:ea typeface="宋体" charset="-122"/>
              </a:rPr>
              <a:t>载流子浓度梯度</a:t>
            </a:r>
            <a:r>
              <a:rPr kumimoji="1" lang="zh-CN" altLang="en-US" sz="2400" b="1" dirty="0">
                <a:solidFill>
                  <a:srgbClr val="FF3300"/>
                </a:solidFill>
                <a:latin typeface="Times New Roman" pitchFamily="18" charset="0"/>
                <a:ea typeface="宋体" charset="-122"/>
              </a:rPr>
              <a:t>时，载流子将发生宏观的定向运动</a:t>
            </a:r>
            <a:r>
              <a:rPr kumimoji="1" lang="en-US" altLang="zh-CN" sz="2400" b="1" dirty="0">
                <a:solidFill>
                  <a:srgbClr val="000000"/>
                </a:solidFill>
                <a:latin typeface="Times New Roman" pitchFamily="18" charset="0"/>
                <a:ea typeface="宋体" charset="-122"/>
              </a:rPr>
              <a:t>——</a:t>
            </a:r>
            <a:r>
              <a:rPr kumimoji="1" lang="zh-CN" altLang="en-US" sz="2400" b="1" dirty="0">
                <a:solidFill>
                  <a:srgbClr val="0066FF"/>
                </a:solidFill>
                <a:latin typeface="Times New Roman" pitchFamily="18" charset="0"/>
                <a:ea typeface="宋体" charset="-122"/>
              </a:rPr>
              <a:t>扩散运动</a:t>
            </a:r>
            <a:r>
              <a:rPr kumimoji="1" lang="zh-CN" altLang="en-US" sz="2400" b="1" dirty="0">
                <a:solidFill>
                  <a:srgbClr val="000000"/>
                </a:solidFill>
                <a:latin typeface="Times New Roman" pitchFamily="18" charset="0"/>
                <a:ea typeface="宋体" charset="-122"/>
              </a:rPr>
              <a:t>。载流子的扩散运动满足</a:t>
            </a:r>
            <a:r>
              <a:rPr kumimoji="1" lang="zh-CN" altLang="en-US" sz="2400" b="1" dirty="0">
                <a:solidFill>
                  <a:srgbClr val="3333CC"/>
                </a:solidFill>
                <a:latin typeface="Times New Roman" pitchFamily="18" charset="0"/>
                <a:ea typeface="宋体" charset="-122"/>
              </a:rPr>
              <a:t>扩散方程</a:t>
            </a:r>
            <a:r>
              <a:rPr kumimoji="1" lang="zh-CN" altLang="en-US" sz="2400" b="1" dirty="0">
                <a:solidFill>
                  <a:srgbClr val="000000"/>
                </a:solidFill>
                <a:latin typeface="Times New Roman" pitchFamily="18" charset="0"/>
                <a:ea typeface="宋体" charset="-122"/>
              </a:rPr>
              <a:t>：</a:t>
            </a:r>
          </a:p>
        </p:txBody>
      </p:sp>
      <p:sp>
        <p:nvSpPr>
          <p:cNvPr id="6" name="Rectangle 11"/>
          <p:cNvSpPr>
            <a:spLocks noChangeArrowheads="1"/>
          </p:cNvSpPr>
          <p:nvPr/>
        </p:nvSpPr>
        <p:spPr bwMode="auto">
          <a:xfrm>
            <a:off x="490589" y="3376085"/>
            <a:ext cx="8205788" cy="871537"/>
          </a:xfrm>
          <a:prstGeom prst="rect">
            <a:avLst/>
          </a:prstGeom>
          <a:noFill/>
          <a:ln w="9525">
            <a:noFill/>
            <a:miter lim="800000"/>
            <a:headEnd/>
            <a:tailEnd/>
          </a:ln>
        </p:spPr>
        <p:txBody>
          <a:bodyPr>
            <a:spAutoFit/>
          </a:bodyPr>
          <a:lstStyle/>
          <a:p>
            <a:pPr defTabSz="914400" eaLnBrk="0" fontAlgn="base" hangingPunct="0">
              <a:lnSpc>
                <a:spcPct val="110000"/>
              </a:lnSpc>
              <a:spcBef>
                <a:spcPct val="0"/>
              </a:spcBef>
              <a:spcAft>
                <a:spcPct val="0"/>
              </a:spcAft>
            </a:pPr>
            <a:r>
              <a:rPr kumimoji="1" lang="zh-CN" altLang="en-US" sz="2400" b="1" dirty="0">
                <a:solidFill>
                  <a:srgbClr val="000000"/>
                </a:solidFill>
                <a:latin typeface="Times New Roman" pitchFamily="18" charset="0"/>
                <a:ea typeface="宋体" charset="-122"/>
              </a:rPr>
              <a:t>荷电载流子宏观的定向运动（扩散），将形成电流，这种由载流子的扩散运动形成的电流称为扩散电流。</a:t>
            </a:r>
          </a:p>
        </p:txBody>
      </p:sp>
      <p:sp>
        <p:nvSpPr>
          <p:cNvPr id="8" name="Text Box 13"/>
          <p:cNvSpPr txBox="1">
            <a:spLocks noChangeArrowheads="1"/>
          </p:cNvSpPr>
          <p:nvPr/>
        </p:nvSpPr>
        <p:spPr bwMode="auto">
          <a:xfrm>
            <a:off x="539750" y="4519613"/>
            <a:ext cx="8280400" cy="1774825"/>
          </a:xfrm>
          <a:prstGeom prst="rect">
            <a:avLst/>
          </a:prstGeom>
          <a:noFill/>
          <a:ln w="76200" cmpd="tri">
            <a:solidFill>
              <a:srgbClr val="FF3300"/>
            </a:solidFill>
            <a:miter lim="800000"/>
            <a:headEnd/>
            <a:tailEnd/>
          </a:ln>
        </p:spPr>
        <p:txBody>
          <a:bodyPr>
            <a:spAutoFit/>
          </a:bodyPr>
          <a:lstStyle/>
          <a:p>
            <a:pPr defTabSz="914400" fontAlgn="base">
              <a:lnSpc>
                <a:spcPct val="110000"/>
              </a:lnSpc>
              <a:spcBef>
                <a:spcPct val="50000"/>
              </a:spcBef>
              <a:spcAft>
                <a:spcPct val="0"/>
              </a:spcAft>
            </a:pPr>
            <a:r>
              <a:rPr kumimoji="1" lang="zh-CN" altLang="en-US" sz="2400" b="1">
                <a:solidFill>
                  <a:srgbClr val="000000"/>
                </a:solidFill>
                <a:latin typeface="Times New Roman" pitchFamily="18" charset="0"/>
                <a:ea typeface="宋体" charset="-122"/>
              </a:rPr>
              <a:t>扩散电流大小决定于载流子浓度的梯度，而少数载流子更容易形成大的浓度梯度，因此，往往是少数载流子的因素在扩散电流中占主要部分，这是与漂移电流明显不同之处。因此，在研究扩散电流时，</a:t>
            </a:r>
            <a:r>
              <a:rPr kumimoji="1" lang="zh-CN" altLang="en-US" sz="2400" b="1">
                <a:solidFill>
                  <a:srgbClr val="3333CC"/>
                </a:solidFill>
                <a:latin typeface="Times New Roman" pitchFamily="18" charset="0"/>
                <a:ea typeface="宋体" charset="-122"/>
              </a:rPr>
              <a:t>少数载流子的影响不可忽略</a:t>
            </a:r>
            <a:r>
              <a:rPr kumimoji="1" lang="zh-CN" altLang="en-US" sz="2400" b="1">
                <a:solidFill>
                  <a:srgbClr val="000000"/>
                </a:solidFill>
                <a:latin typeface="Times New Roman" pitchFamily="18" charset="0"/>
                <a:ea typeface="宋体" charset="-122"/>
              </a:rPr>
              <a:t>。</a:t>
            </a:r>
          </a:p>
        </p:txBody>
      </p:sp>
    </p:spTree>
    <p:extLst>
      <p:ext uri="{BB962C8B-B14F-4D97-AF65-F5344CB8AC3E}">
        <p14:creationId xmlns:p14="http://schemas.microsoft.com/office/powerpoint/2010/main" val="25234897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16</a:t>
            </a:fld>
            <a:endParaRPr lang="zh-CN" altLang="en-US"/>
          </a:p>
        </p:txBody>
      </p:sp>
      <p:sp>
        <p:nvSpPr>
          <p:cNvPr id="3" name="Text Box 6"/>
          <p:cNvSpPr txBox="1">
            <a:spLocks noChangeArrowheads="1"/>
          </p:cNvSpPr>
          <p:nvPr/>
        </p:nvSpPr>
        <p:spPr bwMode="auto">
          <a:xfrm>
            <a:off x="539750" y="2191569"/>
            <a:ext cx="1800225" cy="522288"/>
          </a:xfrm>
          <a:prstGeom prst="rect">
            <a:avLst/>
          </a:prstGeom>
          <a:noFill/>
          <a:ln w="76200" cap="sq" cmpd="tri">
            <a:solidFill>
              <a:srgbClr val="FF3300"/>
            </a:solidFill>
            <a:miter lim="800000"/>
            <a:headEnd type="none" w="sm" len="sm"/>
            <a:tailEnd type="none" w="sm" len="sm"/>
          </a:ln>
          <a:effectLst/>
        </p:spPr>
        <p:txBody>
          <a:bodyPr>
            <a:spAutoFit/>
          </a:bodyPr>
          <a:lstStyle/>
          <a:p>
            <a:pPr defTabSz="914400" fontAlgn="base">
              <a:spcAft>
                <a:spcPct val="0"/>
              </a:spcAft>
              <a:defRPr/>
            </a:pPr>
            <a:r>
              <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rPr>
              <a:t>电流方程</a:t>
            </a:r>
          </a:p>
        </p:txBody>
      </p:sp>
      <p:graphicFrame>
        <p:nvGraphicFramePr>
          <p:cNvPr id="4" name="Object 9"/>
          <p:cNvGraphicFramePr>
            <a:graphicFrameLocks noChangeAspect="1"/>
          </p:cNvGraphicFramePr>
          <p:nvPr>
            <p:extLst>
              <p:ext uri="{D42A27DB-BD31-4B8C-83A1-F6EECF244321}">
                <p14:modId xmlns:p14="http://schemas.microsoft.com/office/powerpoint/2010/main" val="3432661262"/>
              </p:ext>
            </p:extLst>
          </p:nvPr>
        </p:nvGraphicFramePr>
        <p:xfrm>
          <a:off x="1546225" y="2978969"/>
          <a:ext cx="3878263" cy="1463675"/>
        </p:xfrm>
        <a:graphic>
          <a:graphicData uri="http://schemas.openxmlformats.org/presentationml/2006/ole">
            <mc:AlternateContent xmlns:mc="http://schemas.openxmlformats.org/markup-compatibility/2006">
              <mc:Choice xmlns:v="urn:schemas-microsoft-com:vml" Requires="v">
                <p:oleObj spid="_x0000_s17466" name="Equation" r:id="rId3" imgW="1346200" imgH="508000" progId="Equation.DSMT4">
                  <p:embed/>
                </p:oleObj>
              </mc:Choice>
              <mc:Fallback>
                <p:oleObj name="Equation" r:id="rId3" imgW="1346200" imgH="508000" progId="Equation.DSMT4">
                  <p:embed/>
                  <p:pic>
                    <p:nvPicPr>
                      <p:cNvPr id="23555"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6225" y="2978969"/>
                        <a:ext cx="3878263" cy="1463675"/>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1"/>
          <p:cNvSpPr txBox="1">
            <a:spLocks noChangeArrowheads="1"/>
          </p:cNvSpPr>
          <p:nvPr/>
        </p:nvSpPr>
        <p:spPr bwMode="auto">
          <a:xfrm>
            <a:off x="539750" y="4658544"/>
            <a:ext cx="8151813" cy="1052513"/>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30000"/>
              </a:lnSpc>
              <a:spcBef>
                <a:spcPct val="50000"/>
              </a:spcBef>
              <a:spcAft>
                <a:spcPct val="0"/>
              </a:spcAft>
            </a:pPr>
            <a:r>
              <a:rPr kumimoji="1" lang="zh-CN" altLang="en-US" sz="2400" b="1" dirty="0">
                <a:solidFill>
                  <a:srgbClr val="000000"/>
                </a:solidFill>
                <a:latin typeface="Times New Roman" pitchFamily="18" charset="0"/>
                <a:ea typeface="宋体" charset="-122"/>
              </a:rPr>
              <a:t>空穴的扩散电流项之前有负号，表明空穴扩散流与空穴浓度增加方向相反。该表达式是半导体物理中的基本式子之一。</a:t>
            </a:r>
          </a:p>
        </p:txBody>
      </p:sp>
      <p:sp>
        <p:nvSpPr>
          <p:cNvPr id="6" name="Text Box 12"/>
          <p:cNvSpPr txBox="1">
            <a:spLocks noChangeArrowheads="1"/>
          </p:cNvSpPr>
          <p:nvPr/>
        </p:nvSpPr>
        <p:spPr bwMode="auto">
          <a:xfrm>
            <a:off x="539750" y="653282"/>
            <a:ext cx="8151813" cy="1422400"/>
          </a:xfrm>
          <a:prstGeom prst="rect">
            <a:avLst/>
          </a:prstGeom>
          <a:noFill/>
          <a:ln w="9525">
            <a:noFill/>
            <a:miter lim="800000"/>
            <a:headEnd/>
            <a:tailEnd/>
          </a:ln>
        </p:spPr>
        <p:txBody>
          <a:bodyPr>
            <a:spAutoFit/>
          </a:bodyPr>
          <a:lstStyle/>
          <a:p>
            <a:pPr defTabSz="914400" fontAlgn="base">
              <a:lnSpc>
                <a:spcPct val="120000"/>
              </a:lnSpc>
              <a:spcBef>
                <a:spcPct val="50000"/>
              </a:spcBef>
              <a:spcAft>
                <a:spcPct val="0"/>
              </a:spcAft>
            </a:pPr>
            <a:r>
              <a:rPr kumimoji="1" lang="zh-CN" altLang="en-US" sz="2400" b="1">
                <a:solidFill>
                  <a:srgbClr val="000000"/>
                </a:solidFill>
                <a:latin typeface="Times New Roman" pitchFamily="18" charset="0"/>
                <a:ea typeface="宋体" charset="-122"/>
              </a:rPr>
              <a:t>半导体中电子和空穴的漂移和扩散运动构成了半导体中载流子基本的定向运动形式，因此，载流子的漂移和扩散运动构成了半导体中电流输运的基本机制。</a:t>
            </a:r>
          </a:p>
        </p:txBody>
      </p:sp>
      <p:sp>
        <p:nvSpPr>
          <p:cNvPr id="7" name="AutoShape 8"/>
          <p:cNvSpPr>
            <a:spLocks noChangeArrowheads="1"/>
          </p:cNvSpPr>
          <p:nvPr/>
        </p:nvSpPr>
        <p:spPr bwMode="auto">
          <a:xfrm>
            <a:off x="184150" y="3901307"/>
            <a:ext cx="1219200" cy="685800"/>
          </a:xfrm>
          <a:prstGeom prst="wedgeRoundRectCallout">
            <a:avLst>
              <a:gd name="adj1" fmla="val 191514"/>
              <a:gd name="adj2" fmla="val -104991"/>
              <a:gd name="adj3" fmla="val 16667"/>
            </a:avLst>
          </a:prstGeom>
          <a:noFill/>
          <a:ln w="12700" cap="sq">
            <a:solidFill>
              <a:srgbClr val="000000"/>
            </a:solidFill>
            <a:miter lim="800000"/>
            <a:headEnd type="none" w="sm" len="sm"/>
            <a:tailEnd type="none" w="sm" len="sm"/>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srgbClr val="FF3300"/>
                </a:solidFill>
                <a:effectLst/>
                <a:uLnTx/>
                <a:uFillTx/>
                <a:latin typeface="Times New Roman" pitchFamily="18" charset="0"/>
                <a:ea typeface="宋体" charset="-122"/>
              </a:rPr>
              <a:t>漂移项</a:t>
            </a:r>
          </a:p>
        </p:txBody>
      </p:sp>
      <p:sp>
        <p:nvSpPr>
          <p:cNvPr id="8" name="AutoShape 7"/>
          <p:cNvSpPr>
            <a:spLocks noChangeArrowheads="1"/>
          </p:cNvSpPr>
          <p:nvPr/>
        </p:nvSpPr>
        <p:spPr bwMode="auto">
          <a:xfrm>
            <a:off x="6372225" y="3793357"/>
            <a:ext cx="1008063" cy="793750"/>
          </a:xfrm>
          <a:prstGeom prst="wedgeRoundRectCallout">
            <a:avLst>
              <a:gd name="adj1" fmla="val -223856"/>
              <a:gd name="adj2" fmla="val -89634"/>
              <a:gd name="adj3" fmla="val 16667"/>
            </a:avLst>
          </a:prstGeom>
          <a:noFill/>
          <a:ln w="12700" cap="sq">
            <a:solidFill>
              <a:srgbClr val="000000"/>
            </a:solidFill>
            <a:miter lim="800000"/>
            <a:headEnd type="none" w="sm" len="sm"/>
            <a:tailEnd type="none" w="sm" len="sm"/>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srgbClr val="FF3300"/>
                </a:solidFill>
                <a:effectLst/>
                <a:uLnTx/>
                <a:uFillTx/>
                <a:latin typeface="Times New Roman" pitchFamily="18" charset="0"/>
                <a:ea typeface="宋体" charset="-122"/>
              </a:rPr>
              <a:t>扩散项</a:t>
            </a:r>
          </a:p>
        </p:txBody>
      </p:sp>
      <p:sp>
        <p:nvSpPr>
          <p:cNvPr id="9" name="Text Box 14"/>
          <p:cNvSpPr txBox="1">
            <a:spLocks noChangeArrowheads="1"/>
          </p:cNvSpPr>
          <p:nvPr/>
        </p:nvSpPr>
        <p:spPr bwMode="auto">
          <a:xfrm>
            <a:off x="5651500" y="1921694"/>
            <a:ext cx="3009900" cy="1609725"/>
          </a:xfrm>
          <a:prstGeom prst="rect">
            <a:avLst/>
          </a:prstGeom>
          <a:noFill/>
          <a:ln w="57150" cmpd="thickThin">
            <a:solidFill>
              <a:srgbClr val="FF6600"/>
            </a:solidFill>
            <a:miter lim="800000"/>
            <a:headEnd/>
            <a:tailEnd/>
          </a:ln>
        </p:spPr>
        <p:txBody>
          <a:bodyPr>
            <a:spAutoFit/>
          </a:bodyPr>
          <a:lstStyle/>
          <a:p>
            <a:pPr defTabSz="914400" fontAlgn="base">
              <a:spcBef>
                <a:spcPct val="0"/>
              </a:spcBef>
              <a:spcAft>
                <a:spcPct val="0"/>
              </a:spcAft>
            </a:pPr>
            <a:r>
              <a:rPr kumimoji="1" lang="zh-CN" altLang="en-US" sz="2400" b="1">
                <a:solidFill>
                  <a:srgbClr val="000099"/>
                </a:solidFill>
                <a:latin typeface="Times New Roman" pitchFamily="18" charset="0"/>
                <a:ea typeface="宋体" charset="-122"/>
              </a:rPr>
              <a:t>半导体中有两种载流子，通过漂移和扩散两种方式（机制）定向运动，形成电流。</a:t>
            </a:r>
          </a:p>
        </p:txBody>
      </p:sp>
      <p:sp>
        <p:nvSpPr>
          <p:cNvPr id="10" name="Oval 12"/>
          <p:cNvSpPr>
            <a:spLocks noChangeArrowheads="1"/>
          </p:cNvSpPr>
          <p:nvPr/>
        </p:nvSpPr>
        <p:spPr bwMode="auto">
          <a:xfrm>
            <a:off x="3635375" y="3074219"/>
            <a:ext cx="288925" cy="504825"/>
          </a:xfrm>
          <a:prstGeom prst="ellipse">
            <a:avLst/>
          </a:prstGeom>
          <a:noFill/>
          <a:ln w="38100">
            <a:solidFill>
              <a:srgbClr val="FF0000"/>
            </a:solidFill>
            <a:prstDash val="sysDot"/>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11" name="Oval 13"/>
          <p:cNvSpPr>
            <a:spLocks noChangeArrowheads="1"/>
          </p:cNvSpPr>
          <p:nvPr/>
        </p:nvSpPr>
        <p:spPr bwMode="auto">
          <a:xfrm>
            <a:off x="3779838" y="3794944"/>
            <a:ext cx="288925" cy="504825"/>
          </a:xfrm>
          <a:prstGeom prst="ellipse">
            <a:avLst/>
          </a:prstGeom>
          <a:noFill/>
          <a:ln w="38100">
            <a:solidFill>
              <a:srgbClr val="FF0000"/>
            </a:solidFill>
            <a:prstDash val="sysDot"/>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12" name="Text Box 8"/>
          <p:cNvSpPr txBox="1">
            <a:spLocks noChangeArrowheads="1"/>
          </p:cNvSpPr>
          <p:nvPr/>
        </p:nvSpPr>
        <p:spPr bwMode="auto">
          <a:xfrm>
            <a:off x="478094" y="112163"/>
            <a:ext cx="4357688" cy="527580"/>
          </a:xfrm>
          <a:prstGeom prst="rect">
            <a:avLst/>
          </a:prstGeom>
          <a:noFill/>
          <a:ln w="12700" cap="sq">
            <a:noFill/>
            <a:miter lim="800000"/>
            <a:headEnd type="none" w="sm" len="sm"/>
            <a:tailEnd type="none" w="sm" len="sm"/>
          </a:ln>
          <a:effectLst/>
        </p:spPr>
        <p:txBody>
          <a:bodyPr>
            <a:spAutoFit/>
          </a:bodyPr>
          <a:lstStyle/>
          <a:p>
            <a:pPr defTabSz="914400" fontAlgn="base">
              <a:lnSpc>
                <a:spcPct val="110000"/>
              </a:lnSpc>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载流子的电流方程</a:t>
            </a:r>
            <a:endPar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endParaRPr>
          </a:p>
        </p:txBody>
      </p:sp>
      <p:graphicFrame>
        <p:nvGraphicFramePr>
          <p:cNvPr id="13" name="对象 1"/>
          <p:cNvGraphicFramePr>
            <a:graphicFrameLocks noChangeAspect="1"/>
          </p:cNvGraphicFramePr>
          <p:nvPr>
            <p:extLst>
              <p:ext uri="{D42A27DB-BD31-4B8C-83A1-F6EECF244321}">
                <p14:modId xmlns:p14="http://schemas.microsoft.com/office/powerpoint/2010/main" val="1452843022"/>
              </p:ext>
            </p:extLst>
          </p:nvPr>
        </p:nvGraphicFramePr>
        <p:xfrm>
          <a:off x="3574692" y="5686322"/>
          <a:ext cx="3863975" cy="1020763"/>
        </p:xfrm>
        <a:graphic>
          <a:graphicData uri="http://schemas.openxmlformats.org/presentationml/2006/ole">
            <mc:AlternateContent xmlns:mc="http://schemas.openxmlformats.org/markup-compatibility/2006">
              <mc:Choice xmlns:v="urn:schemas-microsoft-com:vml" Requires="v">
                <p:oleObj spid="_x0000_s17467" name="Equation" r:id="rId5" imgW="1587500" imgH="419100" progId="Equation.DSMT4">
                  <p:embed/>
                </p:oleObj>
              </mc:Choice>
              <mc:Fallback>
                <p:oleObj name="Equation" r:id="rId5" imgW="1587500" imgH="419100" progId="Equation.DSMT4">
                  <p:embed/>
                  <p:pic>
                    <p:nvPicPr>
                      <p:cNvPr id="24578"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4692" y="5686322"/>
                        <a:ext cx="3863975" cy="1020763"/>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矩形 13"/>
          <p:cNvSpPr/>
          <p:nvPr/>
        </p:nvSpPr>
        <p:spPr>
          <a:xfrm>
            <a:off x="793750" y="5924232"/>
            <a:ext cx="2350323" cy="46166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charset="-122"/>
              </a:rPr>
              <a:t>爱因斯坦关系</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charset="-122"/>
              </a:rPr>
              <a:t>：</a:t>
            </a:r>
            <a:endParaRPr kumimoji="0" lang="zh-CN" altLang="en-US" sz="1800" b="0" i="0" u="none" strike="noStrike" kern="0" cap="none" spc="0" normalizeH="0" baseline="0" noProof="0" dirty="0" smtClean="0">
              <a:ln>
                <a:noFill/>
              </a:ln>
              <a:solidFill>
                <a:sysClr val="windowText" lastClr="000000"/>
              </a:solidFill>
              <a:effectLst/>
              <a:uLnTx/>
              <a:uFillTx/>
            </a:endParaRPr>
          </a:p>
        </p:txBody>
      </p:sp>
    </p:spTree>
    <p:extLst>
      <p:ext uri="{BB962C8B-B14F-4D97-AF65-F5344CB8AC3E}">
        <p14:creationId xmlns:p14="http://schemas.microsoft.com/office/powerpoint/2010/main" val="2750992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17</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以下哪些状态是非平衡态？</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光照下有载流子生成</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正偏</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PN</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结的耗尽区</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强场作用下的半导体</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半导体材料温度突然升高的瞬间</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1114425" y="45648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9799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18</a:t>
            </a:fld>
            <a:endParaRPr lang="zh-CN" altLang="en-US"/>
          </a:p>
        </p:txBody>
      </p:sp>
      <p:sp>
        <p:nvSpPr>
          <p:cNvPr id="3" name="Rectangle 4"/>
          <p:cNvSpPr>
            <a:spLocks noChangeArrowheads="1"/>
          </p:cNvSpPr>
          <p:nvPr/>
        </p:nvSpPr>
        <p:spPr bwMode="auto">
          <a:xfrm>
            <a:off x="2427570" y="226584"/>
            <a:ext cx="4887194"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二、非平衡载流子</a:t>
            </a:r>
            <a:endParaRPr kumimoji="1" lang="zh-CN" altLang="en-US" sz="3600" b="1" dirty="0">
              <a:solidFill>
                <a:srgbClr val="FF6600"/>
              </a:solidFill>
              <a:latin typeface="Times New Roman" pitchFamily="18" charset="0"/>
              <a:ea typeface="宋体" pitchFamily="2" charset="-122"/>
            </a:endParaRPr>
          </a:p>
        </p:txBody>
      </p:sp>
      <p:sp>
        <p:nvSpPr>
          <p:cNvPr id="7" name="Text Box 7"/>
          <p:cNvSpPr txBox="1">
            <a:spLocks noChangeArrowheads="1"/>
          </p:cNvSpPr>
          <p:nvPr/>
        </p:nvSpPr>
        <p:spPr bwMode="auto">
          <a:xfrm>
            <a:off x="430572" y="2796858"/>
            <a:ext cx="8218488" cy="3745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marL="341313" indent="-341313" defTabSz="914400" eaLnBrk="0" fontAlgn="base" hangingPunct="0">
              <a:lnSpc>
                <a:spcPct val="120000"/>
              </a:lnSpc>
              <a:spcBef>
                <a:spcPts val="800"/>
              </a:spcBef>
              <a:spcAft>
                <a:spcPct val="0"/>
              </a:spcAft>
              <a:buFont typeface="Wingdings" pitchFamily="2" charset="2"/>
              <a:buChar char="q"/>
            </a:pPr>
            <a:r>
              <a:rPr kumimoji="1" lang="zh-CN" altLang="en-US" sz="2000" b="1" dirty="0">
                <a:solidFill>
                  <a:srgbClr val="000000"/>
                </a:solidFill>
                <a:latin typeface="Times New Roman" pitchFamily="18" charset="0"/>
                <a:ea typeface="宋体" charset="-122"/>
              </a:rPr>
              <a:t>在非平衡状态下，载流子分布函数和浓度将与热平衡时的情形不同。非平衡状态下的载流子称为</a:t>
            </a:r>
            <a:r>
              <a:rPr kumimoji="1" lang="zh-CN" altLang="en-US" sz="2000" b="1" dirty="0">
                <a:solidFill>
                  <a:srgbClr val="3333CC"/>
                </a:solidFill>
                <a:latin typeface="Times New Roman" pitchFamily="18" charset="0"/>
                <a:ea typeface="宋体" charset="-122"/>
              </a:rPr>
              <a:t>非平衡载流子</a:t>
            </a:r>
            <a:r>
              <a:rPr kumimoji="1" lang="zh-CN" altLang="en-US" sz="2000" b="1" dirty="0">
                <a:solidFill>
                  <a:srgbClr val="000000"/>
                </a:solidFill>
                <a:latin typeface="Times New Roman" pitchFamily="18" charset="0"/>
                <a:ea typeface="宋体" charset="-122"/>
              </a:rPr>
              <a:t>。非平衡载流子浓度超过热平衡时的部分，称为</a:t>
            </a:r>
            <a:r>
              <a:rPr kumimoji="1" lang="zh-CN" altLang="en-US" sz="2200" b="1" dirty="0">
                <a:solidFill>
                  <a:srgbClr val="3333CC"/>
                </a:solidFill>
                <a:latin typeface="Times New Roman" pitchFamily="18" charset="0"/>
                <a:ea typeface="宋体" charset="-122"/>
              </a:rPr>
              <a:t>过剩载流子</a:t>
            </a:r>
            <a:r>
              <a:rPr kumimoji="1" lang="zh-CN" altLang="en-US" sz="2000" b="1" dirty="0" smtClean="0">
                <a:solidFill>
                  <a:srgbClr val="000000"/>
                </a:solidFill>
                <a:latin typeface="Times New Roman" pitchFamily="18" charset="0"/>
                <a:ea typeface="宋体" charset="-122"/>
              </a:rPr>
              <a:t>：</a:t>
            </a:r>
            <a:endParaRPr kumimoji="1" lang="en-US" altLang="zh-CN" sz="2000" b="1" dirty="0">
              <a:solidFill>
                <a:srgbClr val="000000"/>
              </a:solidFill>
              <a:latin typeface="Times New Roman" pitchFamily="18" charset="0"/>
              <a:ea typeface="宋体" charset="-122"/>
            </a:endParaRPr>
          </a:p>
          <a:p>
            <a:pPr marL="341313" indent="-341313" defTabSz="914400" eaLnBrk="0" fontAlgn="base" hangingPunct="0">
              <a:lnSpc>
                <a:spcPct val="120000"/>
              </a:lnSpc>
              <a:spcBef>
                <a:spcPts val="800"/>
              </a:spcBef>
              <a:spcAft>
                <a:spcPct val="0"/>
              </a:spcAft>
              <a:buFont typeface="Wingdings" pitchFamily="2" charset="2"/>
              <a:buChar char="q"/>
            </a:pPr>
            <a:r>
              <a:rPr kumimoji="1" lang="zh-CN" altLang="en-US" sz="2000" b="1" dirty="0" smtClean="0">
                <a:solidFill>
                  <a:srgbClr val="000000"/>
                </a:solidFill>
                <a:latin typeface="Times New Roman" pitchFamily="18" charset="0"/>
                <a:ea typeface="宋体" charset="-122"/>
              </a:rPr>
              <a:t>非平衡情形的电中性条件：</a:t>
            </a:r>
            <a:endParaRPr kumimoji="1" lang="zh-CN" altLang="en-US" sz="2000" b="1" dirty="0">
              <a:solidFill>
                <a:srgbClr val="000000"/>
              </a:solidFill>
              <a:latin typeface="Times New Roman" pitchFamily="18" charset="0"/>
              <a:ea typeface="宋体" charset="-122"/>
            </a:endParaRPr>
          </a:p>
          <a:p>
            <a:pPr marL="341313" indent="-341313" defTabSz="914400" eaLnBrk="0" fontAlgn="base" hangingPunct="0">
              <a:lnSpc>
                <a:spcPct val="120000"/>
              </a:lnSpc>
              <a:spcBef>
                <a:spcPts val="300"/>
              </a:spcBef>
              <a:spcAft>
                <a:spcPct val="0"/>
              </a:spcAft>
              <a:buFont typeface="Wingdings" pitchFamily="2" charset="2"/>
              <a:buChar char="q"/>
            </a:pPr>
            <a:r>
              <a:rPr kumimoji="1" lang="zh-CN" altLang="en-US" sz="2000" b="1" dirty="0" smtClean="0">
                <a:solidFill>
                  <a:srgbClr val="000000"/>
                </a:solidFill>
                <a:latin typeface="Times New Roman" pitchFamily="18" charset="0"/>
                <a:ea typeface="宋体" charset="-122"/>
              </a:rPr>
              <a:t>过剩载流子产生的起源是</a:t>
            </a:r>
            <a:r>
              <a:rPr kumimoji="1" lang="zh-CN" altLang="en-US" sz="2000" b="1" dirty="0">
                <a:solidFill>
                  <a:srgbClr val="000000"/>
                </a:solidFill>
                <a:latin typeface="Times New Roman" pitchFamily="18" charset="0"/>
                <a:ea typeface="宋体" charset="-122"/>
              </a:rPr>
              <a:t>由于系统</a:t>
            </a:r>
            <a:r>
              <a:rPr kumimoji="1" lang="zh-CN" altLang="en-US" sz="2000" b="1" dirty="0" smtClean="0">
                <a:solidFill>
                  <a:srgbClr val="000000"/>
                </a:solidFill>
                <a:latin typeface="Times New Roman" pitchFamily="18" charset="0"/>
                <a:ea typeface="宋体" charset="-122"/>
              </a:rPr>
              <a:t>受到外界影响，使得载流子的分布偏离热平衡分布所引起；过剩载流子是在热平衡基础上，产生新的载流子所致；</a:t>
            </a:r>
            <a:endParaRPr kumimoji="1" lang="zh-CN" altLang="en-US" sz="2000" b="1" dirty="0">
              <a:solidFill>
                <a:srgbClr val="000000"/>
              </a:solidFill>
              <a:latin typeface="Times New Roman" pitchFamily="18" charset="0"/>
              <a:ea typeface="宋体" charset="-122"/>
            </a:endParaRPr>
          </a:p>
          <a:p>
            <a:pPr marL="341313" indent="-341313" defTabSz="914400" eaLnBrk="0" fontAlgn="base" hangingPunct="0">
              <a:lnSpc>
                <a:spcPct val="120000"/>
              </a:lnSpc>
              <a:spcBef>
                <a:spcPts val="300"/>
              </a:spcBef>
              <a:spcAft>
                <a:spcPct val="0"/>
              </a:spcAft>
              <a:buFont typeface="Wingdings" pitchFamily="2" charset="2"/>
              <a:buChar char="q"/>
            </a:pPr>
            <a:r>
              <a:rPr kumimoji="1" lang="zh-CN" altLang="en-US" sz="2000" b="1" dirty="0" smtClean="0">
                <a:solidFill>
                  <a:srgbClr val="000000"/>
                </a:solidFill>
                <a:latin typeface="Times New Roman" pitchFamily="18" charset="0"/>
                <a:ea typeface="宋体" charset="-122"/>
              </a:rPr>
              <a:t>产生过剩载流子的因素包括光照、外加电压等；</a:t>
            </a:r>
            <a:endParaRPr kumimoji="1" lang="zh-CN" altLang="en-US" sz="2000" b="1" dirty="0">
              <a:solidFill>
                <a:srgbClr val="000000"/>
              </a:solidFill>
              <a:latin typeface="Times New Roman" pitchFamily="18" charset="0"/>
              <a:ea typeface="宋体" charset="-122"/>
            </a:endParaRPr>
          </a:p>
          <a:p>
            <a:pPr marL="341313" indent="-341313" defTabSz="914400" eaLnBrk="0" fontAlgn="base" hangingPunct="0">
              <a:lnSpc>
                <a:spcPct val="120000"/>
              </a:lnSpc>
              <a:spcBef>
                <a:spcPts val="300"/>
              </a:spcBef>
              <a:spcAft>
                <a:spcPct val="0"/>
              </a:spcAft>
              <a:buFont typeface="Wingdings" pitchFamily="2" charset="2"/>
              <a:buChar char="q"/>
            </a:pPr>
            <a:r>
              <a:rPr kumimoji="1" lang="zh-CN" altLang="en-US" sz="2000" b="1" dirty="0">
                <a:solidFill>
                  <a:srgbClr val="000000"/>
                </a:solidFill>
                <a:latin typeface="Times New Roman" pitchFamily="18" charset="0"/>
                <a:ea typeface="宋体" charset="-122"/>
              </a:rPr>
              <a:t>产生过剩载流子的方法 ，称为过剩载流子的</a:t>
            </a:r>
            <a:r>
              <a:rPr kumimoji="1" lang="zh-CN" altLang="en-US" sz="2200" b="1" dirty="0">
                <a:solidFill>
                  <a:srgbClr val="3333CC"/>
                </a:solidFill>
                <a:latin typeface="Times New Roman" pitchFamily="18" charset="0"/>
                <a:ea typeface="宋体" charset="-122"/>
              </a:rPr>
              <a:t>注入</a:t>
            </a:r>
            <a:r>
              <a:rPr kumimoji="1" lang="en-US" altLang="zh-CN" sz="2000" b="1" dirty="0">
                <a:solidFill>
                  <a:srgbClr val="000000"/>
                </a:solidFill>
                <a:latin typeface="Times New Roman" pitchFamily="18" charset="0"/>
                <a:ea typeface="宋体" charset="-122"/>
              </a:rPr>
              <a:t>(Injection)</a:t>
            </a:r>
            <a:r>
              <a:rPr kumimoji="1" lang="zh-CN" altLang="en-US" sz="2000" b="1" dirty="0" smtClean="0">
                <a:solidFill>
                  <a:srgbClr val="000000"/>
                </a:solidFill>
                <a:latin typeface="Times New Roman" pitchFamily="18" charset="0"/>
                <a:ea typeface="宋体" charset="-122"/>
              </a:rPr>
              <a:t>；</a:t>
            </a:r>
            <a:endParaRPr kumimoji="1" lang="zh-CN" altLang="en-US" sz="2000" b="1" dirty="0">
              <a:solidFill>
                <a:srgbClr val="000000"/>
              </a:solidFill>
              <a:latin typeface="Times New Roman" pitchFamily="18" charset="0"/>
              <a:ea typeface="宋体" charset="-122"/>
            </a:endParaRPr>
          </a:p>
        </p:txBody>
      </p:sp>
      <p:graphicFrame>
        <p:nvGraphicFramePr>
          <p:cNvPr id="8" name="Object 8"/>
          <p:cNvGraphicFramePr>
            <a:graphicFrameLocks noChangeAspect="1"/>
          </p:cNvGraphicFramePr>
          <p:nvPr>
            <p:extLst>
              <p:ext uri="{D42A27DB-BD31-4B8C-83A1-F6EECF244321}">
                <p14:modId xmlns:p14="http://schemas.microsoft.com/office/powerpoint/2010/main" val="556910335"/>
              </p:ext>
            </p:extLst>
          </p:nvPr>
        </p:nvGraphicFramePr>
        <p:xfrm>
          <a:off x="4871167" y="3583735"/>
          <a:ext cx="1320800" cy="433388"/>
        </p:xfrm>
        <a:graphic>
          <a:graphicData uri="http://schemas.openxmlformats.org/presentationml/2006/ole">
            <mc:AlternateContent xmlns:mc="http://schemas.openxmlformats.org/markup-compatibility/2006">
              <mc:Choice xmlns:v="urn:schemas-microsoft-com:vml" Requires="v">
                <p:oleObj spid="_x0000_s19528" name="公式" r:id="rId3" imgW="698500" imgH="228600" progId="Equation.3">
                  <p:embed/>
                </p:oleObj>
              </mc:Choice>
              <mc:Fallback>
                <p:oleObj name="公式" r:id="rId3" imgW="698500" imgH="228600" progId="Equation.3">
                  <p:embed/>
                  <p:pic>
                    <p:nvPicPr>
                      <p:cNvPr id="6247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1167" y="3583735"/>
                        <a:ext cx="1320800" cy="433388"/>
                      </a:xfrm>
                      <a:prstGeom prst="rect">
                        <a:avLst/>
                      </a:prstGeom>
                      <a:solidFill>
                        <a:srgbClr val="FFFFFF"/>
                      </a:solidFill>
                    </p:spPr>
                  </p:pic>
                </p:oleObj>
              </mc:Fallback>
            </mc:AlternateContent>
          </a:graphicData>
        </a:graphic>
      </p:graphicFrame>
      <p:graphicFrame>
        <p:nvGraphicFramePr>
          <p:cNvPr id="9" name="Object 9"/>
          <p:cNvGraphicFramePr>
            <a:graphicFrameLocks noChangeAspect="1"/>
          </p:cNvGraphicFramePr>
          <p:nvPr>
            <p:extLst>
              <p:ext uri="{D42A27DB-BD31-4B8C-83A1-F6EECF244321}">
                <p14:modId xmlns:p14="http://schemas.microsoft.com/office/powerpoint/2010/main" val="1325634841"/>
              </p:ext>
            </p:extLst>
          </p:nvPr>
        </p:nvGraphicFramePr>
        <p:xfrm>
          <a:off x="6513155" y="3583735"/>
          <a:ext cx="1417637" cy="433388"/>
        </p:xfrm>
        <a:graphic>
          <a:graphicData uri="http://schemas.openxmlformats.org/presentationml/2006/ole">
            <mc:AlternateContent xmlns:mc="http://schemas.openxmlformats.org/markup-compatibility/2006">
              <mc:Choice xmlns:v="urn:schemas-microsoft-com:vml" Requires="v">
                <p:oleObj spid="_x0000_s19529" name="公式" r:id="rId5" imgW="749300" imgH="228600" progId="Equation.3">
                  <p:embed/>
                </p:oleObj>
              </mc:Choice>
              <mc:Fallback>
                <p:oleObj name="公式" r:id="rId5" imgW="749300" imgH="228600" progId="Equation.3">
                  <p:embed/>
                  <p:pic>
                    <p:nvPicPr>
                      <p:cNvPr id="62471"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3155" y="3583735"/>
                        <a:ext cx="1417637" cy="433388"/>
                      </a:xfrm>
                      <a:prstGeom prst="rect">
                        <a:avLst/>
                      </a:prstGeom>
                      <a:solidFill>
                        <a:srgbClr val="FFFFFF"/>
                      </a:solidFill>
                    </p:spPr>
                  </p:pic>
                </p:oleObj>
              </mc:Fallback>
            </mc:AlternateContent>
          </a:graphicData>
        </a:graphic>
      </p:graphicFrame>
      <p:sp>
        <p:nvSpPr>
          <p:cNvPr id="10" name="Text Box 7"/>
          <p:cNvSpPr txBox="1">
            <a:spLocks noChangeArrowheads="1"/>
          </p:cNvSpPr>
          <p:nvPr/>
        </p:nvSpPr>
        <p:spPr bwMode="auto">
          <a:xfrm>
            <a:off x="430572" y="1094367"/>
            <a:ext cx="8218488" cy="1672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marL="341313" indent="-341313" defTabSz="914400" eaLnBrk="0" fontAlgn="base" hangingPunct="0">
              <a:lnSpc>
                <a:spcPct val="120000"/>
              </a:lnSpc>
              <a:spcBef>
                <a:spcPts val="800"/>
              </a:spcBef>
              <a:spcAft>
                <a:spcPct val="0"/>
              </a:spcAft>
              <a:buFont typeface="Wingdings" pitchFamily="2" charset="2"/>
              <a:buChar char="q"/>
            </a:pPr>
            <a:r>
              <a:rPr kumimoji="1" lang="zh-CN" altLang="en-US" sz="2000" b="1" dirty="0" smtClean="0">
                <a:solidFill>
                  <a:srgbClr val="000000"/>
                </a:solidFill>
                <a:latin typeface="Times New Roman" pitchFamily="18" charset="0"/>
                <a:ea typeface="宋体" charset="-122"/>
              </a:rPr>
              <a:t>平衡态：没有外界影响的条件下，系统各部分宏观性质长时间不发生变化的状态。平衡态必然是稳定态。</a:t>
            </a:r>
            <a:endParaRPr kumimoji="1" lang="en-US" altLang="zh-CN" sz="2000" b="1" dirty="0" smtClean="0">
              <a:solidFill>
                <a:srgbClr val="000000"/>
              </a:solidFill>
              <a:latin typeface="Times New Roman" pitchFamily="18" charset="0"/>
              <a:ea typeface="宋体" charset="-122"/>
            </a:endParaRPr>
          </a:p>
          <a:p>
            <a:pPr marL="341313" indent="-341313" defTabSz="914400" eaLnBrk="0" fontAlgn="base" hangingPunct="0">
              <a:lnSpc>
                <a:spcPct val="120000"/>
              </a:lnSpc>
              <a:spcBef>
                <a:spcPts val="800"/>
              </a:spcBef>
              <a:spcAft>
                <a:spcPct val="0"/>
              </a:spcAft>
              <a:buFont typeface="Wingdings" pitchFamily="2" charset="2"/>
              <a:buChar char="q"/>
            </a:pPr>
            <a:r>
              <a:rPr kumimoji="1" lang="zh-CN" altLang="en-US" sz="2000" b="1" dirty="0" smtClean="0">
                <a:solidFill>
                  <a:srgbClr val="000000"/>
                </a:solidFill>
                <a:latin typeface="Times New Roman" pitchFamily="18" charset="0"/>
                <a:ea typeface="宋体" charset="-122"/>
              </a:rPr>
              <a:t>稳定态：即使有外界影响时分布偏离平衡态，但是系统各部分宏观性质长时间不发生变化的状态</a:t>
            </a:r>
            <a:r>
              <a:rPr kumimoji="1" lang="zh-CN" altLang="en-US" sz="2000" b="1" dirty="0" smtClean="0">
                <a:solidFill>
                  <a:srgbClr val="000000"/>
                </a:solidFill>
                <a:latin typeface="Times New Roman" pitchFamily="18" charset="0"/>
                <a:ea typeface="宋体" charset="-122"/>
              </a:rPr>
              <a:t>。</a:t>
            </a:r>
            <a:endParaRPr kumimoji="1" lang="en-US" altLang="zh-CN" sz="2000" b="1" dirty="0">
              <a:solidFill>
                <a:srgbClr val="000000"/>
              </a:solidFill>
              <a:latin typeface="Times New Roman" pitchFamily="18" charset="0"/>
              <a:ea typeface="宋体" charset="-122"/>
            </a:endParaRPr>
          </a:p>
        </p:txBody>
      </p:sp>
      <p:graphicFrame>
        <p:nvGraphicFramePr>
          <p:cNvPr id="13" name="Object 26"/>
          <p:cNvGraphicFramePr>
            <a:graphicFrameLocks noChangeAspect="1"/>
          </p:cNvGraphicFramePr>
          <p:nvPr>
            <p:extLst>
              <p:ext uri="{D42A27DB-BD31-4B8C-83A1-F6EECF244321}">
                <p14:modId xmlns:p14="http://schemas.microsoft.com/office/powerpoint/2010/main" val="348987622"/>
              </p:ext>
            </p:extLst>
          </p:nvPr>
        </p:nvGraphicFramePr>
        <p:xfrm>
          <a:off x="3914749" y="4103099"/>
          <a:ext cx="1018340" cy="371269"/>
        </p:xfrm>
        <a:graphic>
          <a:graphicData uri="http://schemas.openxmlformats.org/presentationml/2006/ole">
            <mc:AlternateContent xmlns:mc="http://schemas.openxmlformats.org/markup-compatibility/2006">
              <mc:Choice xmlns:v="urn:schemas-microsoft-com:vml" Requires="v">
                <p:oleObj spid="_x0000_s19530" name="公式" r:id="rId7" imgW="545626" imgH="203024" progId="Equation.3">
                  <p:embed/>
                </p:oleObj>
              </mc:Choice>
              <mc:Fallback>
                <p:oleObj name="公式" r:id="rId7" imgW="545626" imgH="203024" progId="Equation.3">
                  <p:embed/>
                  <p:pic>
                    <p:nvPicPr>
                      <p:cNvPr id="12"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4749" y="4103099"/>
                        <a:ext cx="1018340" cy="371269"/>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3009886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19</a:t>
            </a:fld>
            <a:endParaRPr lang="zh-CN" altLang="en-US"/>
          </a:p>
        </p:txBody>
      </p:sp>
      <p:sp>
        <p:nvSpPr>
          <p:cNvPr id="13" name="Text Box 14"/>
          <p:cNvSpPr txBox="1">
            <a:spLocks noChangeArrowheads="1"/>
          </p:cNvSpPr>
          <p:nvPr/>
        </p:nvSpPr>
        <p:spPr bwMode="auto">
          <a:xfrm>
            <a:off x="455971" y="212416"/>
            <a:ext cx="2089150" cy="569913"/>
          </a:xfrm>
          <a:prstGeom prst="rect">
            <a:avLst/>
          </a:prstGeom>
          <a:noFill/>
          <a:ln w="76200" cap="sq" cmpd="tri">
            <a:solidFill>
              <a:srgbClr val="000099"/>
            </a:solidFill>
            <a:miter lim="800000"/>
            <a:headEnd type="none" w="sm" len="sm"/>
            <a:tailEnd type="none" w="sm" len="sm"/>
          </a:ln>
        </p:spPr>
        <p:txBody>
          <a:bodyPr>
            <a:spAutoFit/>
          </a:bodyPr>
          <a:lstStyle/>
          <a:p>
            <a:pPr defTabSz="914400" eaLnBrk="0" fontAlgn="base" hangingPunct="0">
              <a:lnSpc>
                <a:spcPct val="110000"/>
              </a:lnSpc>
              <a:spcBef>
                <a:spcPct val="0"/>
              </a:spcBef>
              <a:spcAft>
                <a:spcPct val="0"/>
              </a:spcAft>
              <a:buFont typeface="Wingdings" pitchFamily="2" charset="2"/>
              <a:buChar char="q"/>
            </a:pPr>
            <a:r>
              <a:rPr kumimoji="1" lang="zh-CN" altLang="en-US" sz="2400" b="1">
                <a:solidFill>
                  <a:srgbClr val="FF3300"/>
                </a:solidFill>
                <a:latin typeface="Times New Roman" pitchFamily="18" charset="0"/>
                <a:ea typeface="宋体" charset="-122"/>
              </a:rPr>
              <a:t>小注入条件</a:t>
            </a:r>
          </a:p>
        </p:txBody>
      </p:sp>
      <p:graphicFrame>
        <p:nvGraphicFramePr>
          <p:cNvPr id="14" name="Object 15"/>
          <p:cNvGraphicFramePr>
            <a:graphicFrameLocks noChangeAspect="1"/>
          </p:cNvGraphicFramePr>
          <p:nvPr>
            <p:extLst>
              <p:ext uri="{D42A27DB-BD31-4B8C-83A1-F6EECF244321}">
                <p14:modId xmlns:p14="http://schemas.microsoft.com/office/powerpoint/2010/main" val="1128821700"/>
              </p:ext>
            </p:extLst>
          </p:nvPr>
        </p:nvGraphicFramePr>
        <p:xfrm>
          <a:off x="2799121" y="2566679"/>
          <a:ext cx="1385887" cy="554037"/>
        </p:xfrm>
        <a:graphic>
          <a:graphicData uri="http://schemas.openxmlformats.org/presentationml/2006/ole">
            <mc:AlternateContent xmlns:mc="http://schemas.openxmlformats.org/markup-compatibility/2006">
              <mc:Choice xmlns:v="urn:schemas-microsoft-com:vml" Requires="v">
                <p:oleObj spid="_x0000_s20540" name="公式" r:id="rId3" imgW="571252" imgH="228501" progId="Equation.3">
                  <p:embed/>
                </p:oleObj>
              </mc:Choice>
              <mc:Fallback>
                <p:oleObj name="公式" r:id="rId3" imgW="571252" imgH="228501" progId="Equation.3">
                  <p:embed/>
                  <p:pic>
                    <p:nvPicPr>
                      <p:cNvPr id="65543"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9121" y="2566679"/>
                        <a:ext cx="1385887" cy="554037"/>
                      </a:xfrm>
                      <a:prstGeom prst="rect">
                        <a:avLst/>
                      </a:prstGeom>
                      <a:solidFill>
                        <a:srgbClr val="FFFFFF"/>
                      </a:solidFill>
                    </p:spPr>
                  </p:pic>
                </p:oleObj>
              </mc:Fallback>
            </mc:AlternateContent>
          </a:graphicData>
        </a:graphic>
      </p:graphicFrame>
      <p:graphicFrame>
        <p:nvGraphicFramePr>
          <p:cNvPr id="15" name="Object 16"/>
          <p:cNvGraphicFramePr>
            <a:graphicFrameLocks noChangeAspect="1"/>
          </p:cNvGraphicFramePr>
          <p:nvPr>
            <p:extLst>
              <p:ext uri="{D42A27DB-BD31-4B8C-83A1-F6EECF244321}">
                <p14:modId xmlns:p14="http://schemas.microsoft.com/office/powerpoint/2010/main" val="3543063512"/>
              </p:ext>
            </p:extLst>
          </p:nvPr>
        </p:nvGraphicFramePr>
        <p:xfrm>
          <a:off x="4761271" y="2566679"/>
          <a:ext cx="1447800" cy="554037"/>
        </p:xfrm>
        <a:graphic>
          <a:graphicData uri="http://schemas.openxmlformats.org/presentationml/2006/ole">
            <mc:AlternateContent xmlns:mc="http://schemas.openxmlformats.org/markup-compatibility/2006">
              <mc:Choice xmlns:v="urn:schemas-microsoft-com:vml" Requires="v">
                <p:oleObj spid="_x0000_s20541" name="公式" r:id="rId5" imgW="596900" imgH="228600" progId="Equation.3">
                  <p:embed/>
                </p:oleObj>
              </mc:Choice>
              <mc:Fallback>
                <p:oleObj name="公式" r:id="rId5" imgW="596900" imgH="228600" progId="Equation.3">
                  <p:embed/>
                  <p:pic>
                    <p:nvPicPr>
                      <p:cNvPr id="65544"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1271" y="2566679"/>
                        <a:ext cx="1447800" cy="554037"/>
                      </a:xfrm>
                      <a:prstGeom prst="rect">
                        <a:avLst/>
                      </a:prstGeom>
                      <a:solidFill>
                        <a:srgbClr val="FFFFFF"/>
                      </a:solidFill>
                    </p:spPr>
                  </p:pic>
                </p:oleObj>
              </mc:Fallback>
            </mc:AlternateContent>
          </a:graphicData>
        </a:graphic>
      </p:graphicFrame>
      <p:sp>
        <p:nvSpPr>
          <p:cNvPr id="16" name="Text Box 17"/>
          <p:cNvSpPr txBox="1">
            <a:spLocks noChangeArrowheads="1"/>
          </p:cNvSpPr>
          <p:nvPr/>
        </p:nvSpPr>
        <p:spPr bwMode="auto">
          <a:xfrm>
            <a:off x="473433" y="3050300"/>
            <a:ext cx="5400675" cy="465137"/>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0"/>
              </a:spcBef>
              <a:spcAft>
                <a:spcPct val="0"/>
              </a:spcAft>
              <a:buFont typeface="Wingdings" pitchFamily="2" charset="2"/>
              <a:buChar char="q"/>
            </a:pPr>
            <a:r>
              <a:rPr kumimoji="1" lang="zh-CN" altLang="en-US" sz="2400" b="1" dirty="0">
                <a:solidFill>
                  <a:srgbClr val="FF3300"/>
                </a:solidFill>
                <a:latin typeface="Times New Roman" pitchFamily="18" charset="0"/>
                <a:ea typeface="宋体" charset="-122"/>
              </a:rPr>
              <a:t>非平衡的过剩少数载流子（少子）</a:t>
            </a:r>
          </a:p>
        </p:txBody>
      </p:sp>
      <p:sp>
        <p:nvSpPr>
          <p:cNvPr id="17" name="Text Box 18"/>
          <p:cNvSpPr txBox="1">
            <a:spLocks noChangeArrowheads="1"/>
          </p:cNvSpPr>
          <p:nvPr/>
        </p:nvSpPr>
        <p:spPr bwMode="auto">
          <a:xfrm>
            <a:off x="473433" y="3507500"/>
            <a:ext cx="8242300" cy="1717393"/>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0"/>
              </a:spcBef>
              <a:spcAft>
                <a:spcPct val="0"/>
              </a:spcAft>
            </a:pPr>
            <a:r>
              <a:rPr kumimoji="1" lang="zh-CN" altLang="en-US" sz="2400" b="1" dirty="0">
                <a:solidFill>
                  <a:srgbClr val="000000"/>
                </a:solidFill>
                <a:latin typeface="Times New Roman" pitchFamily="18" charset="0"/>
                <a:ea typeface="宋体" charset="-122"/>
              </a:rPr>
              <a:t>在小注入条件下</a:t>
            </a:r>
            <a:r>
              <a:rPr kumimoji="1" lang="zh-CN" altLang="en-US" sz="2400" b="1" dirty="0" smtClean="0">
                <a:solidFill>
                  <a:srgbClr val="000000"/>
                </a:solidFill>
                <a:latin typeface="Times New Roman" pitchFamily="18" charset="0"/>
                <a:ea typeface="宋体" charset="-122"/>
              </a:rPr>
              <a:t>，通常会</a:t>
            </a:r>
            <a:r>
              <a:rPr kumimoji="1" lang="zh-CN" altLang="en-US" sz="2400" b="1" dirty="0">
                <a:solidFill>
                  <a:srgbClr val="000000"/>
                </a:solidFill>
                <a:latin typeface="Times New Roman" pitchFamily="18" charset="0"/>
                <a:ea typeface="宋体" charset="-122"/>
              </a:rPr>
              <a:t>出现半导体中过剩少子远大于平衡态少</a:t>
            </a:r>
            <a:r>
              <a:rPr kumimoji="1" lang="zh-CN" altLang="en-US" sz="2400" b="1" dirty="0" smtClean="0">
                <a:solidFill>
                  <a:srgbClr val="000000"/>
                </a:solidFill>
                <a:latin typeface="Times New Roman" pitchFamily="18" charset="0"/>
                <a:ea typeface="宋体" charset="-122"/>
              </a:rPr>
              <a:t>子情形，此时，可能产生</a:t>
            </a:r>
            <a:r>
              <a:rPr kumimoji="1" lang="zh-CN" altLang="en-US" sz="2400" b="1" dirty="0" smtClean="0">
                <a:solidFill>
                  <a:srgbClr val="0000FF"/>
                </a:solidFill>
                <a:latin typeface="Times New Roman" pitchFamily="18" charset="0"/>
                <a:ea typeface="宋体" charset="-122"/>
              </a:rPr>
              <a:t>显著的少子浓度梯度</a:t>
            </a:r>
            <a:r>
              <a:rPr kumimoji="1" lang="zh-CN" altLang="en-US" sz="2400" b="1" dirty="0" smtClean="0">
                <a:solidFill>
                  <a:srgbClr val="000000"/>
                </a:solidFill>
                <a:latin typeface="Times New Roman" pitchFamily="18" charset="0"/>
                <a:ea typeface="宋体" charset="-122"/>
              </a:rPr>
              <a:t>。因此</a:t>
            </a:r>
            <a:r>
              <a:rPr kumimoji="1" lang="zh-CN" altLang="en-US" sz="2400" b="1" dirty="0">
                <a:solidFill>
                  <a:srgbClr val="000000"/>
                </a:solidFill>
                <a:latin typeface="Times New Roman" pitchFamily="18" charset="0"/>
                <a:ea typeface="宋体" charset="-122"/>
              </a:rPr>
              <a:t>，过剩少子对半导体导电特性的影响变得显著，因而，在半导体物理中，主要关注的是</a:t>
            </a:r>
            <a:r>
              <a:rPr kumimoji="1" lang="zh-CN" altLang="en-US" sz="2400" b="1" dirty="0">
                <a:solidFill>
                  <a:srgbClr val="FF3300"/>
                </a:solidFill>
                <a:latin typeface="Times New Roman" pitchFamily="18" charset="0"/>
                <a:ea typeface="宋体" charset="-122"/>
              </a:rPr>
              <a:t>小注入下过剩少子的行为</a:t>
            </a:r>
            <a:r>
              <a:rPr kumimoji="1" lang="zh-CN" altLang="en-US" sz="2400" b="1" dirty="0">
                <a:solidFill>
                  <a:srgbClr val="000000"/>
                </a:solidFill>
                <a:latin typeface="Times New Roman" pitchFamily="18" charset="0"/>
                <a:ea typeface="宋体" charset="-122"/>
              </a:rPr>
              <a:t>。</a:t>
            </a:r>
          </a:p>
        </p:txBody>
      </p:sp>
      <p:sp>
        <p:nvSpPr>
          <p:cNvPr id="18" name="Rectangle 19"/>
          <p:cNvSpPr>
            <a:spLocks noChangeArrowheads="1"/>
          </p:cNvSpPr>
          <p:nvPr/>
        </p:nvSpPr>
        <p:spPr bwMode="auto">
          <a:xfrm>
            <a:off x="473433" y="895041"/>
            <a:ext cx="8242300" cy="169862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0"/>
              </a:spcBef>
              <a:spcAft>
                <a:spcPct val="0"/>
              </a:spcAft>
            </a:pPr>
            <a:r>
              <a:rPr kumimoji="1" lang="zh-CN" altLang="en-US" sz="2400" b="1">
                <a:solidFill>
                  <a:srgbClr val="000000"/>
                </a:solidFill>
                <a:latin typeface="Times New Roman" pitchFamily="18" charset="0"/>
                <a:ea typeface="宋体" charset="-122"/>
              </a:rPr>
              <a:t>如果外加作用使得</a:t>
            </a:r>
            <a:r>
              <a:rPr kumimoji="1" lang="zh-CN" altLang="en-US" sz="2400" b="1">
                <a:solidFill>
                  <a:srgbClr val="FF3300"/>
                </a:solidFill>
                <a:latin typeface="Times New Roman" pitchFamily="18" charset="0"/>
                <a:ea typeface="宋体" charset="-122"/>
              </a:rPr>
              <a:t>多数</a:t>
            </a:r>
            <a:r>
              <a:rPr kumimoji="1" lang="zh-CN" altLang="en-US" sz="2400" b="1">
                <a:solidFill>
                  <a:srgbClr val="000000"/>
                </a:solidFill>
                <a:latin typeface="Times New Roman" pitchFamily="18" charset="0"/>
                <a:ea typeface="宋体" charset="-122"/>
              </a:rPr>
              <a:t>载流子分布函数相对于平衡时变化不大（弛豫近似成立），则</a:t>
            </a:r>
            <a:r>
              <a:rPr kumimoji="1" lang="zh-CN" altLang="en-US" sz="2400" b="1">
                <a:solidFill>
                  <a:srgbClr val="3333CC"/>
                </a:solidFill>
                <a:latin typeface="Times New Roman" pitchFamily="18" charset="0"/>
                <a:ea typeface="宋体" charset="-122"/>
              </a:rPr>
              <a:t>过剩载流子的浓度</a:t>
            </a:r>
            <a:r>
              <a:rPr kumimoji="1" lang="zh-CN" altLang="en-US" sz="2400" b="1">
                <a:solidFill>
                  <a:srgbClr val="000000"/>
                </a:solidFill>
                <a:latin typeface="Times New Roman" pitchFamily="18" charset="0"/>
                <a:ea typeface="宋体" charset="-122"/>
              </a:rPr>
              <a:t>与</a:t>
            </a:r>
            <a:r>
              <a:rPr kumimoji="1" lang="zh-CN" altLang="en-US" sz="2400" b="1">
                <a:solidFill>
                  <a:srgbClr val="FF3300"/>
                </a:solidFill>
                <a:latin typeface="Times New Roman" pitchFamily="18" charset="0"/>
                <a:ea typeface="宋体" charset="-122"/>
              </a:rPr>
              <a:t>多数载流子浓度</a:t>
            </a:r>
            <a:r>
              <a:rPr kumimoji="1" lang="zh-CN" altLang="en-US" sz="2400" b="1">
                <a:solidFill>
                  <a:srgbClr val="000000"/>
                </a:solidFill>
                <a:latin typeface="Times New Roman" pitchFamily="18" charset="0"/>
                <a:ea typeface="宋体" charset="-122"/>
              </a:rPr>
              <a:t>相比是一个小量可忽略，此时称为</a:t>
            </a:r>
            <a:r>
              <a:rPr kumimoji="1" lang="zh-CN" altLang="en-US" sz="2400" b="1">
                <a:solidFill>
                  <a:srgbClr val="FF3300"/>
                </a:solidFill>
                <a:latin typeface="Times New Roman" pitchFamily="18" charset="0"/>
                <a:ea typeface="宋体" charset="-122"/>
              </a:rPr>
              <a:t>小注入情形</a:t>
            </a:r>
            <a:r>
              <a:rPr kumimoji="1" lang="zh-CN" altLang="en-US" sz="2400" b="1">
                <a:solidFill>
                  <a:srgbClr val="000000"/>
                </a:solidFill>
                <a:latin typeface="Times New Roman" pitchFamily="18" charset="0"/>
                <a:ea typeface="宋体" charset="-122"/>
              </a:rPr>
              <a:t>。半导体物理中研究的主要是小注入情形，其条件为：</a:t>
            </a:r>
          </a:p>
        </p:txBody>
      </p:sp>
      <p:sp>
        <p:nvSpPr>
          <p:cNvPr id="19" name="Text Box 1055"/>
          <p:cNvSpPr txBox="1">
            <a:spLocks noChangeArrowheads="1"/>
          </p:cNvSpPr>
          <p:nvPr/>
        </p:nvSpPr>
        <p:spPr bwMode="auto">
          <a:xfrm>
            <a:off x="4243746" y="2582554"/>
            <a:ext cx="1008062" cy="466725"/>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400" b="1">
                <a:solidFill>
                  <a:srgbClr val="000000"/>
                </a:solidFill>
                <a:latin typeface="Times New Roman" pitchFamily="18" charset="0"/>
                <a:ea typeface="宋体" charset="-122"/>
              </a:rPr>
              <a:t>或</a:t>
            </a:r>
            <a:endParaRPr kumimoji="1" lang="en-US" altLang="zh-CN" sz="2400" b="1">
              <a:solidFill>
                <a:srgbClr val="000000"/>
              </a:solidFill>
              <a:latin typeface="Times New Roman" pitchFamily="18" charset="0"/>
              <a:ea typeface="宋体" charset="-122"/>
            </a:endParaRPr>
          </a:p>
        </p:txBody>
      </p:sp>
    </p:spTree>
    <p:extLst>
      <p:ext uri="{BB962C8B-B14F-4D97-AF65-F5344CB8AC3E}">
        <p14:creationId xmlns:p14="http://schemas.microsoft.com/office/powerpoint/2010/main" val="25679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20</a:t>
            </a:fld>
            <a:endParaRPr lang="zh-CN" altLang="en-US"/>
          </a:p>
        </p:txBody>
      </p:sp>
      <p:sp>
        <p:nvSpPr>
          <p:cNvPr id="3" name="Text Box 9"/>
          <p:cNvSpPr txBox="1">
            <a:spLocks noChangeArrowheads="1"/>
          </p:cNvSpPr>
          <p:nvPr/>
        </p:nvSpPr>
        <p:spPr bwMode="auto">
          <a:xfrm>
            <a:off x="500421" y="112507"/>
            <a:ext cx="8135938" cy="3021340"/>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30000"/>
              </a:lnSpc>
              <a:spcBef>
                <a:spcPts val="500"/>
              </a:spcBef>
              <a:spcAft>
                <a:spcPct val="0"/>
              </a:spcAft>
              <a:buFont typeface="Wingdings" pitchFamily="2" charset="2"/>
              <a:buChar char="q"/>
            </a:pPr>
            <a:r>
              <a:rPr kumimoji="1" lang="zh-CN" altLang="en-US" sz="2000" b="1" dirty="0">
                <a:solidFill>
                  <a:srgbClr val="000000"/>
                </a:solidFill>
                <a:latin typeface="Times New Roman" pitchFamily="18" charset="0"/>
                <a:ea typeface="宋体" charset="-122"/>
              </a:rPr>
              <a:t>当产生非平衡过剩载流子的外界因素撤除后，系统将逐渐从非平衡态向平衡态恢复，过剩载流子逐渐消失，在一定时间后，重新建立热平衡。</a:t>
            </a:r>
          </a:p>
          <a:p>
            <a:pPr marL="341313" indent="-341313" defTabSz="914400" eaLnBrk="0" fontAlgn="base" hangingPunct="0">
              <a:lnSpc>
                <a:spcPct val="130000"/>
              </a:lnSpc>
              <a:spcBef>
                <a:spcPts val="500"/>
              </a:spcBef>
              <a:spcAft>
                <a:spcPct val="0"/>
              </a:spcAft>
              <a:buFont typeface="Wingdings" pitchFamily="2" charset="2"/>
              <a:buChar char="q"/>
            </a:pPr>
            <a:r>
              <a:rPr kumimoji="1" lang="zh-CN" altLang="en-US" sz="2000" b="1" dirty="0">
                <a:solidFill>
                  <a:srgbClr val="3333CC"/>
                </a:solidFill>
                <a:latin typeface="Times New Roman" pitchFamily="18" charset="0"/>
                <a:ea typeface="宋体" charset="-122"/>
              </a:rPr>
              <a:t>非平衡过剩载流子消失的过程，称为过剩载流子的复合。</a:t>
            </a:r>
          </a:p>
          <a:p>
            <a:pPr marL="341313" indent="-341313" defTabSz="914400" eaLnBrk="0" fontAlgn="base" hangingPunct="0">
              <a:lnSpc>
                <a:spcPct val="130000"/>
              </a:lnSpc>
              <a:spcBef>
                <a:spcPts val="500"/>
              </a:spcBef>
              <a:spcAft>
                <a:spcPct val="0"/>
              </a:spcAft>
              <a:buFont typeface="Wingdings" pitchFamily="2" charset="2"/>
              <a:buChar char="q"/>
            </a:pPr>
            <a:r>
              <a:rPr kumimoji="1" lang="zh-CN" altLang="en-US" sz="2000" b="1" dirty="0">
                <a:solidFill>
                  <a:srgbClr val="000000"/>
                </a:solidFill>
                <a:latin typeface="Times New Roman" pitchFamily="18" charset="0"/>
                <a:ea typeface="宋体" charset="-122"/>
              </a:rPr>
              <a:t>过剩载流子的产生源于外界因素影响，使得载流子的</a:t>
            </a:r>
            <a:r>
              <a:rPr kumimoji="1" lang="zh-CN" altLang="en-US" sz="2000" b="1" dirty="0" smtClean="0">
                <a:solidFill>
                  <a:srgbClr val="000000"/>
                </a:solidFill>
                <a:latin typeface="Times New Roman" pitchFamily="18" charset="0"/>
                <a:ea typeface="宋体" charset="-122"/>
              </a:rPr>
              <a:t>产生超过复合所致；</a:t>
            </a:r>
            <a:r>
              <a:rPr kumimoji="1" lang="zh-CN" altLang="en-US" sz="2000" b="1" dirty="0">
                <a:solidFill>
                  <a:srgbClr val="000000"/>
                </a:solidFill>
                <a:latin typeface="Times New Roman" pitchFamily="18" charset="0"/>
                <a:ea typeface="宋体" charset="-122"/>
              </a:rPr>
              <a:t>而过剩载流子的复合则是在外界因素撤除后，载流子的产生与</a:t>
            </a:r>
            <a:r>
              <a:rPr kumimoji="1" lang="zh-CN" altLang="en-US" sz="2000" b="1" dirty="0" smtClean="0">
                <a:solidFill>
                  <a:srgbClr val="000000"/>
                </a:solidFill>
                <a:latin typeface="Times New Roman" pitchFamily="18" charset="0"/>
                <a:ea typeface="宋体" charset="-122"/>
              </a:rPr>
              <a:t>复合重新</a:t>
            </a:r>
            <a:r>
              <a:rPr kumimoji="1" lang="zh-CN" altLang="en-US" sz="2000" b="1" dirty="0">
                <a:solidFill>
                  <a:srgbClr val="000000"/>
                </a:solidFill>
                <a:latin typeface="Times New Roman" pitchFamily="18" charset="0"/>
                <a:ea typeface="宋体" charset="-122"/>
              </a:rPr>
              <a:t>建立动态平衡的过程</a:t>
            </a:r>
            <a:r>
              <a:rPr kumimoji="1" lang="zh-CN" altLang="en-US" sz="2000" b="1" dirty="0">
                <a:solidFill>
                  <a:srgbClr val="3333CC"/>
                </a:solidFill>
                <a:latin typeface="Times New Roman" pitchFamily="18" charset="0"/>
                <a:ea typeface="宋体" charset="-122"/>
              </a:rPr>
              <a:t>，是一个内部自我调整的过程</a:t>
            </a:r>
            <a:r>
              <a:rPr kumimoji="1" lang="zh-CN" altLang="en-US" sz="2000" b="1" dirty="0" smtClean="0">
                <a:solidFill>
                  <a:srgbClr val="000000"/>
                </a:solidFill>
                <a:latin typeface="Times New Roman" pitchFamily="18" charset="0"/>
                <a:ea typeface="宋体" charset="-122"/>
              </a:rPr>
              <a:t>。</a:t>
            </a:r>
            <a:endParaRPr kumimoji="1" lang="zh-CN" altLang="en-US" sz="2000" b="1" dirty="0">
              <a:solidFill>
                <a:srgbClr val="000000"/>
              </a:solidFill>
              <a:latin typeface="Times New Roman" pitchFamily="18" charset="0"/>
              <a:ea typeface="宋体" charset="-122"/>
            </a:endParaRPr>
          </a:p>
        </p:txBody>
      </p:sp>
      <p:sp>
        <p:nvSpPr>
          <p:cNvPr id="4" name="Text Box 8"/>
          <p:cNvSpPr txBox="1">
            <a:spLocks noChangeArrowheads="1"/>
          </p:cNvSpPr>
          <p:nvPr/>
        </p:nvSpPr>
        <p:spPr bwMode="auto">
          <a:xfrm>
            <a:off x="500421" y="3124732"/>
            <a:ext cx="8128000" cy="1420902"/>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30000"/>
              </a:lnSpc>
              <a:spcBef>
                <a:spcPts val="1000"/>
              </a:spcBef>
              <a:spcAft>
                <a:spcPct val="0"/>
              </a:spcAft>
              <a:buFont typeface="Wingdings" pitchFamily="2" charset="2"/>
              <a:buChar char="q"/>
            </a:pPr>
            <a:r>
              <a:rPr kumimoji="1" lang="zh-CN" altLang="en-US" sz="2000" b="1" dirty="0">
                <a:solidFill>
                  <a:srgbClr val="000000"/>
                </a:solidFill>
                <a:latin typeface="Times New Roman" pitchFamily="18" charset="0"/>
                <a:ea typeface="宋体" charset="-122"/>
              </a:rPr>
              <a:t>引起产生的外界因素撤除后</a:t>
            </a:r>
            <a:r>
              <a:rPr kumimoji="1" lang="zh-CN" altLang="en-US" sz="2000" b="1" dirty="0">
                <a:solidFill>
                  <a:srgbClr val="000000"/>
                </a:solidFill>
                <a:latin typeface="Times New Roman" pitchFamily="18" charset="0"/>
                <a:ea typeface="宋体" charset="-122"/>
              </a:rPr>
              <a:t>，非平衡过剩载流子</a:t>
            </a:r>
            <a:r>
              <a:rPr kumimoji="1" lang="zh-CN" altLang="en-US" sz="2000" b="1" dirty="0">
                <a:solidFill>
                  <a:srgbClr val="000000"/>
                </a:solidFill>
                <a:latin typeface="Times New Roman" pitchFamily="18" charset="0"/>
                <a:ea typeface="宋体" charset="-122"/>
              </a:rPr>
              <a:t>存在的</a:t>
            </a:r>
            <a:r>
              <a:rPr kumimoji="1" lang="zh-CN" altLang="en-US" sz="2000" b="1" dirty="0" smtClean="0">
                <a:solidFill>
                  <a:srgbClr val="000000"/>
                </a:solidFill>
                <a:latin typeface="Times New Roman" pitchFamily="18" charset="0"/>
                <a:ea typeface="宋体" charset="-122"/>
              </a:rPr>
              <a:t>特征时间即其</a:t>
            </a:r>
            <a:r>
              <a:rPr kumimoji="1" lang="zh-CN" altLang="en-US" sz="2000" b="1" dirty="0">
                <a:solidFill>
                  <a:srgbClr val="000000"/>
                </a:solidFill>
                <a:latin typeface="Times New Roman" pitchFamily="18" charset="0"/>
                <a:ea typeface="宋体" charset="-122"/>
              </a:rPr>
              <a:t>平均生存时间     </a:t>
            </a:r>
            <a:r>
              <a:rPr kumimoji="1" lang="zh-CN" altLang="en-US" sz="2000" b="1" dirty="0">
                <a:solidFill>
                  <a:srgbClr val="000000"/>
                </a:solidFill>
                <a:latin typeface="Times New Roman" pitchFamily="18" charset="0"/>
                <a:ea typeface="宋体" charset="-122"/>
              </a:rPr>
              <a:t>称为过剩载流子</a:t>
            </a:r>
            <a:r>
              <a:rPr kumimoji="1" lang="zh-CN" altLang="en-US" sz="2000" b="1" dirty="0">
                <a:solidFill>
                  <a:srgbClr val="000000"/>
                </a:solidFill>
                <a:latin typeface="Times New Roman" pitchFamily="18" charset="0"/>
                <a:ea typeface="宋体" charset="-122"/>
              </a:rPr>
              <a:t>的寿命；</a:t>
            </a:r>
          </a:p>
          <a:p>
            <a:pPr indent="-341313" defTabSz="914400" eaLnBrk="0" fontAlgn="base" hangingPunct="0">
              <a:lnSpc>
                <a:spcPct val="130000"/>
              </a:lnSpc>
              <a:spcBef>
                <a:spcPts val="1000"/>
              </a:spcBef>
              <a:spcAft>
                <a:spcPct val="0"/>
              </a:spcAft>
              <a:buFont typeface="Wingdings" pitchFamily="2" charset="2"/>
              <a:buChar char="q"/>
            </a:pPr>
            <a:r>
              <a:rPr kumimoji="1" lang="zh-CN" altLang="en-US" sz="2000" b="1" dirty="0" smtClean="0">
                <a:solidFill>
                  <a:srgbClr val="000000"/>
                </a:solidFill>
                <a:latin typeface="Times New Roman" pitchFamily="18" charset="0"/>
                <a:ea typeface="宋体" charset="-122"/>
              </a:rPr>
              <a:t>小</a:t>
            </a:r>
            <a:r>
              <a:rPr kumimoji="1" lang="zh-CN" altLang="en-US" sz="2000" b="1" dirty="0">
                <a:solidFill>
                  <a:srgbClr val="000000"/>
                </a:solidFill>
                <a:latin typeface="Times New Roman" pitchFamily="18" charset="0"/>
                <a:ea typeface="宋体" charset="-122"/>
              </a:rPr>
              <a:t>注入情形下</a:t>
            </a:r>
            <a:r>
              <a:rPr kumimoji="1" lang="zh-CN" altLang="en-US" sz="2000" b="1" dirty="0" smtClean="0">
                <a:solidFill>
                  <a:srgbClr val="000000"/>
                </a:solidFill>
                <a:latin typeface="Times New Roman" pitchFamily="18" charset="0"/>
                <a:ea typeface="宋体" charset="-122"/>
              </a:rPr>
              <a:t>，过剩载流子</a:t>
            </a:r>
            <a:r>
              <a:rPr kumimoji="1" lang="zh-CN" altLang="en-US" sz="2000" b="1" dirty="0">
                <a:solidFill>
                  <a:srgbClr val="000000"/>
                </a:solidFill>
                <a:latin typeface="Times New Roman" pitchFamily="18" charset="0"/>
                <a:ea typeface="宋体" charset="-122"/>
              </a:rPr>
              <a:t>的复合过程满足：</a:t>
            </a:r>
          </a:p>
        </p:txBody>
      </p:sp>
      <p:graphicFrame>
        <p:nvGraphicFramePr>
          <p:cNvPr id="5" name="Object 1024"/>
          <p:cNvGraphicFramePr>
            <a:graphicFrameLocks noChangeAspect="1"/>
          </p:cNvGraphicFramePr>
          <p:nvPr>
            <p:extLst>
              <p:ext uri="{D42A27DB-BD31-4B8C-83A1-F6EECF244321}">
                <p14:modId xmlns:p14="http://schemas.microsoft.com/office/powerpoint/2010/main" val="3322424099"/>
              </p:ext>
            </p:extLst>
          </p:nvPr>
        </p:nvGraphicFramePr>
        <p:xfrm>
          <a:off x="1657299" y="4574304"/>
          <a:ext cx="2224087" cy="944563"/>
        </p:xfrm>
        <a:graphic>
          <a:graphicData uri="http://schemas.openxmlformats.org/presentationml/2006/ole">
            <mc:AlternateContent xmlns:mc="http://schemas.openxmlformats.org/markup-compatibility/2006">
              <mc:Choice xmlns:v="urn:schemas-microsoft-com:vml" Requires="v">
                <p:oleObj spid="_x0000_s21660" name="公式" r:id="rId3" imgW="926698" imgH="393529" progId="Equation.3">
                  <p:embed/>
                </p:oleObj>
              </mc:Choice>
              <mc:Fallback>
                <p:oleObj name="公式" r:id="rId3" imgW="926698" imgH="393529" progId="Equation.3">
                  <p:embed/>
                  <p:pic>
                    <p:nvPicPr>
                      <p:cNvPr id="70664"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299" y="4574304"/>
                        <a:ext cx="2224087" cy="944563"/>
                      </a:xfrm>
                      <a:prstGeom prst="rect">
                        <a:avLst/>
                      </a:prstGeom>
                      <a:solidFill>
                        <a:srgbClr val="FFFFFF"/>
                      </a:solidFill>
                    </p:spPr>
                  </p:pic>
                </p:oleObj>
              </mc:Fallback>
            </mc:AlternateContent>
          </a:graphicData>
        </a:graphic>
      </p:graphicFrame>
      <p:graphicFrame>
        <p:nvGraphicFramePr>
          <p:cNvPr id="6" name="Object 1025"/>
          <p:cNvGraphicFramePr>
            <a:graphicFrameLocks noChangeAspect="1"/>
          </p:cNvGraphicFramePr>
          <p:nvPr>
            <p:extLst>
              <p:ext uri="{D42A27DB-BD31-4B8C-83A1-F6EECF244321}">
                <p14:modId xmlns:p14="http://schemas.microsoft.com/office/powerpoint/2010/main" val="2716562999"/>
              </p:ext>
            </p:extLst>
          </p:nvPr>
        </p:nvGraphicFramePr>
        <p:xfrm>
          <a:off x="4848174" y="4486992"/>
          <a:ext cx="2649537" cy="854075"/>
        </p:xfrm>
        <a:graphic>
          <a:graphicData uri="http://schemas.openxmlformats.org/presentationml/2006/ole">
            <mc:AlternateContent xmlns:mc="http://schemas.openxmlformats.org/markup-compatibility/2006">
              <mc:Choice xmlns:v="urn:schemas-microsoft-com:vml" Requires="v">
                <p:oleObj spid="_x0000_s21661" name="Equation" r:id="rId5" imgW="1104421" imgH="355446" progId="Equation.DSMT4">
                  <p:embed/>
                </p:oleObj>
              </mc:Choice>
              <mc:Fallback>
                <p:oleObj name="Equation" r:id="rId5" imgW="1104421" imgH="355446" progId="Equation.DSMT4">
                  <p:embed/>
                  <p:pic>
                    <p:nvPicPr>
                      <p:cNvPr id="70666"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8174" y="4486992"/>
                        <a:ext cx="2649537" cy="854075"/>
                      </a:xfrm>
                      <a:prstGeom prst="rect">
                        <a:avLst/>
                      </a:prstGeom>
                      <a:solidFill>
                        <a:srgbClr val="FFFFFF"/>
                      </a:solidFill>
                    </p:spPr>
                  </p:pic>
                </p:oleObj>
              </mc:Fallback>
            </mc:AlternateContent>
          </a:graphicData>
        </a:graphic>
      </p:graphicFrame>
      <p:sp>
        <p:nvSpPr>
          <p:cNvPr id="7" name="Text Box 13"/>
          <p:cNvSpPr txBox="1">
            <a:spLocks noChangeArrowheads="1"/>
          </p:cNvSpPr>
          <p:nvPr/>
        </p:nvSpPr>
        <p:spPr bwMode="auto">
          <a:xfrm>
            <a:off x="500421" y="5546390"/>
            <a:ext cx="1219200" cy="457200"/>
          </a:xfrm>
          <a:prstGeom prst="rect">
            <a:avLst/>
          </a:prstGeom>
          <a:noFill/>
          <a:ln w="127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400" b="1" dirty="0">
                <a:solidFill>
                  <a:srgbClr val="000000"/>
                </a:solidFill>
                <a:latin typeface="Times New Roman" pitchFamily="18" charset="0"/>
                <a:ea typeface="宋体" charset="-122"/>
              </a:rPr>
              <a:t>其中：</a:t>
            </a:r>
          </a:p>
        </p:txBody>
      </p:sp>
      <p:graphicFrame>
        <p:nvGraphicFramePr>
          <p:cNvPr id="8" name="Object 1026"/>
          <p:cNvGraphicFramePr>
            <a:graphicFrameLocks noChangeAspect="1"/>
          </p:cNvGraphicFramePr>
          <p:nvPr>
            <p:extLst>
              <p:ext uri="{D42A27DB-BD31-4B8C-83A1-F6EECF244321}">
                <p14:modId xmlns:p14="http://schemas.microsoft.com/office/powerpoint/2010/main" val="1508909101"/>
              </p:ext>
            </p:extLst>
          </p:nvPr>
        </p:nvGraphicFramePr>
        <p:xfrm>
          <a:off x="1508484" y="5511465"/>
          <a:ext cx="914400" cy="549275"/>
        </p:xfrm>
        <a:graphic>
          <a:graphicData uri="http://schemas.openxmlformats.org/presentationml/2006/ole">
            <mc:AlternateContent xmlns:mc="http://schemas.openxmlformats.org/markup-compatibility/2006">
              <mc:Choice xmlns:v="urn:schemas-microsoft-com:vml" Requires="v">
                <p:oleObj spid="_x0000_s21662" name="Equation" r:id="rId7" imgW="381000" imgH="228600" progId="Equation.3">
                  <p:embed/>
                </p:oleObj>
              </mc:Choice>
              <mc:Fallback>
                <p:oleObj name="Equation" r:id="rId7" imgW="381000" imgH="228600" progId="Equation.3">
                  <p:embed/>
                  <p:pic>
                    <p:nvPicPr>
                      <p:cNvPr id="70668"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8484" y="5511465"/>
                        <a:ext cx="914400" cy="549275"/>
                      </a:xfrm>
                      <a:prstGeom prst="rect">
                        <a:avLst/>
                      </a:prstGeom>
                      <a:solidFill>
                        <a:srgbClr val="FFFFFF"/>
                      </a:solidFill>
                    </p:spPr>
                  </p:pic>
                </p:oleObj>
              </mc:Fallback>
            </mc:AlternateContent>
          </a:graphicData>
        </a:graphic>
      </p:graphicFrame>
      <p:graphicFrame>
        <p:nvGraphicFramePr>
          <p:cNvPr id="9" name="Object 1027"/>
          <p:cNvGraphicFramePr>
            <a:graphicFrameLocks noChangeAspect="1"/>
          </p:cNvGraphicFramePr>
          <p:nvPr>
            <p:extLst>
              <p:ext uri="{D42A27DB-BD31-4B8C-83A1-F6EECF244321}">
                <p14:modId xmlns:p14="http://schemas.microsoft.com/office/powerpoint/2010/main" val="1463700395"/>
              </p:ext>
            </p:extLst>
          </p:nvPr>
        </p:nvGraphicFramePr>
        <p:xfrm>
          <a:off x="4759684" y="5621002"/>
          <a:ext cx="303212" cy="334963"/>
        </p:xfrm>
        <a:graphic>
          <a:graphicData uri="http://schemas.openxmlformats.org/presentationml/2006/ole">
            <mc:AlternateContent xmlns:mc="http://schemas.openxmlformats.org/markup-compatibility/2006">
              <mc:Choice xmlns:v="urn:schemas-microsoft-com:vml" Requires="v">
                <p:oleObj spid="_x0000_s21663" name="Equation" r:id="rId9" imgW="126835" imgH="139518" progId="Equation.3">
                  <p:embed/>
                </p:oleObj>
              </mc:Choice>
              <mc:Fallback>
                <p:oleObj name="Equation" r:id="rId9" imgW="126835" imgH="139518" progId="Equation.3">
                  <p:embed/>
                  <p:pic>
                    <p:nvPicPr>
                      <p:cNvPr id="70669"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59684" y="5621002"/>
                        <a:ext cx="303212" cy="334963"/>
                      </a:xfrm>
                      <a:prstGeom prst="rect">
                        <a:avLst/>
                      </a:prstGeom>
                      <a:solidFill>
                        <a:srgbClr val="FFFFFF"/>
                      </a:solidFill>
                    </p:spPr>
                  </p:pic>
                </p:oleObj>
              </mc:Fallback>
            </mc:AlternateContent>
          </a:graphicData>
        </a:graphic>
      </p:graphicFrame>
      <p:sp>
        <p:nvSpPr>
          <p:cNvPr id="10" name="Text Box 16"/>
          <p:cNvSpPr txBox="1">
            <a:spLocks noChangeArrowheads="1"/>
          </p:cNvSpPr>
          <p:nvPr/>
        </p:nvSpPr>
        <p:spPr bwMode="auto">
          <a:xfrm>
            <a:off x="2332396" y="5546390"/>
            <a:ext cx="2667000" cy="457200"/>
          </a:xfrm>
          <a:prstGeom prst="rect">
            <a:avLst/>
          </a:prstGeom>
          <a:noFill/>
          <a:ln w="127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400" b="1" dirty="0">
                <a:solidFill>
                  <a:srgbClr val="000000"/>
                </a:solidFill>
                <a:latin typeface="Times New Roman" pitchFamily="18" charset="0"/>
                <a:ea typeface="宋体" charset="-122"/>
              </a:rPr>
              <a:t>是 </a:t>
            </a:r>
            <a:r>
              <a:rPr kumimoji="1" lang="en-US" altLang="zh-CN" sz="2400" b="1" i="1" dirty="0">
                <a:solidFill>
                  <a:srgbClr val="000000"/>
                </a:solidFill>
                <a:latin typeface="Times New Roman" pitchFamily="18" charset="0"/>
                <a:ea typeface="宋体" charset="-122"/>
              </a:rPr>
              <a:t>t=</a:t>
            </a:r>
            <a:r>
              <a:rPr kumimoji="1" lang="en-US" altLang="zh-CN" sz="2400" b="1" dirty="0">
                <a:solidFill>
                  <a:srgbClr val="000000"/>
                </a:solidFill>
                <a:latin typeface="Times New Roman" pitchFamily="18" charset="0"/>
                <a:ea typeface="宋体" charset="-122"/>
              </a:rPr>
              <a:t>0 </a:t>
            </a:r>
            <a:r>
              <a:rPr kumimoji="1" lang="zh-CN" altLang="en-US" sz="2400" b="1" dirty="0">
                <a:solidFill>
                  <a:srgbClr val="000000"/>
                </a:solidFill>
                <a:latin typeface="Times New Roman" pitchFamily="18" charset="0"/>
                <a:ea typeface="宋体" charset="-122"/>
              </a:rPr>
              <a:t>时的浓度，</a:t>
            </a:r>
          </a:p>
        </p:txBody>
      </p:sp>
      <p:sp>
        <p:nvSpPr>
          <p:cNvPr id="11" name="Text Box 17"/>
          <p:cNvSpPr txBox="1">
            <a:spLocks noChangeArrowheads="1"/>
          </p:cNvSpPr>
          <p:nvPr/>
        </p:nvSpPr>
        <p:spPr bwMode="auto">
          <a:xfrm>
            <a:off x="4920021" y="5546390"/>
            <a:ext cx="3324225" cy="457200"/>
          </a:xfrm>
          <a:prstGeom prst="rect">
            <a:avLst/>
          </a:prstGeom>
          <a:noFill/>
          <a:ln w="12700" cap="sq">
            <a:noFill/>
            <a:miter lim="800000"/>
            <a:headEnd type="none" w="sm" len="sm"/>
            <a:tailEnd type="none" w="sm" len="sm"/>
          </a:ln>
        </p:spPr>
        <p:txBody>
          <a:bodyPr>
            <a:spAutoFit/>
          </a:bodyPr>
          <a:lstStyle/>
          <a:p>
            <a:pPr defTabSz="914400" eaLnBrk="0" fontAlgn="base" hangingPunct="0">
              <a:spcBef>
                <a:spcPct val="50000"/>
              </a:spcBef>
              <a:spcAft>
                <a:spcPct val="0"/>
              </a:spcAft>
            </a:pPr>
            <a:r>
              <a:rPr kumimoji="1" lang="zh-CN" altLang="en-US" sz="2400" b="1">
                <a:solidFill>
                  <a:srgbClr val="000000"/>
                </a:solidFill>
                <a:latin typeface="Times New Roman" pitchFamily="18" charset="0"/>
                <a:ea typeface="宋体" charset="-122"/>
              </a:rPr>
              <a:t>是过剩载流子的寿命。</a:t>
            </a:r>
          </a:p>
        </p:txBody>
      </p:sp>
      <p:graphicFrame>
        <p:nvGraphicFramePr>
          <p:cNvPr id="12" name="Object 1028"/>
          <p:cNvGraphicFramePr>
            <a:graphicFrameLocks noChangeAspect="1"/>
          </p:cNvGraphicFramePr>
          <p:nvPr>
            <p:extLst>
              <p:ext uri="{D42A27DB-BD31-4B8C-83A1-F6EECF244321}">
                <p14:modId xmlns:p14="http://schemas.microsoft.com/office/powerpoint/2010/main" val="620262867"/>
              </p:ext>
            </p:extLst>
          </p:nvPr>
        </p:nvGraphicFramePr>
        <p:xfrm>
          <a:off x="4681896" y="6051011"/>
          <a:ext cx="762000" cy="731837"/>
        </p:xfrm>
        <a:graphic>
          <a:graphicData uri="http://schemas.openxmlformats.org/presentationml/2006/ole">
            <mc:AlternateContent xmlns:mc="http://schemas.openxmlformats.org/markup-compatibility/2006">
              <mc:Choice xmlns:v="urn:schemas-microsoft-com:vml" Requires="v">
                <p:oleObj spid="_x0000_s21664" name="Equation" r:id="rId11" imgW="317225" imgH="304536" progId="Equation.3">
                  <p:embed/>
                </p:oleObj>
              </mc:Choice>
              <mc:Fallback>
                <p:oleObj name="Equation" r:id="rId11" imgW="317225" imgH="304536" progId="Equation.3">
                  <p:embed/>
                  <p:pic>
                    <p:nvPicPr>
                      <p:cNvPr id="70672"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81896" y="6051011"/>
                        <a:ext cx="762000" cy="731837"/>
                      </a:xfrm>
                      <a:prstGeom prst="rect">
                        <a:avLst/>
                      </a:prstGeom>
                      <a:solidFill>
                        <a:srgbClr val="FFFFFF"/>
                      </a:solidFill>
                    </p:spPr>
                  </p:pic>
                </p:oleObj>
              </mc:Fallback>
            </mc:AlternateContent>
          </a:graphicData>
        </a:graphic>
      </p:graphicFrame>
      <p:graphicFrame>
        <p:nvGraphicFramePr>
          <p:cNvPr id="13" name="Object 1029"/>
          <p:cNvGraphicFramePr>
            <a:graphicFrameLocks noChangeAspect="1"/>
          </p:cNvGraphicFramePr>
          <p:nvPr>
            <p:extLst>
              <p:ext uri="{D42A27DB-BD31-4B8C-83A1-F6EECF244321}">
                <p14:modId xmlns:p14="http://schemas.microsoft.com/office/powerpoint/2010/main" val="667711515"/>
              </p:ext>
            </p:extLst>
          </p:nvPr>
        </p:nvGraphicFramePr>
        <p:xfrm>
          <a:off x="6233835" y="5990685"/>
          <a:ext cx="822325" cy="792163"/>
        </p:xfrm>
        <a:graphic>
          <a:graphicData uri="http://schemas.openxmlformats.org/presentationml/2006/ole">
            <mc:AlternateContent xmlns:mc="http://schemas.openxmlformats.org/markup-compatibility/2006">
              <mc:Choice xmlns:v="urn:schemas-microsoft-com:vml" Requires="v">
                <p:oleObj spid="_x0000_s21665" name="Equation" r:id="rId13" imgW="342751" imgH="330057" progId="Equation.3">
                  <p:embed/>
                </p:oleObj>
              </mc:Choice>
              <mc:Fallback>
                <p:oleObj name="Equation" r:id="rId13" imgW="342751" imgH="330057" progId="Equation.3">
                  <p:embed/>
                  <p:pic>
                    <p:nvPicPr>
                      <p:cNvPr id="70673" name="Object 10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33835" y="5990685"/>
                        <a:ext cx="822325" cy="792163"/>
                      </a:xfrm>
                      <a:prstGeom prst="rect">
                        <a:avLst/>
                      </a:prstGeom>
                      <a:solidFill>
                        <a:srgbClr val="FFFFFF"/>
                      </a:solidFill>
                    </p:spPr>
                  </p:pic>
                </p:oleObj>
              </mc:Fallback>
            </mc:AlternateContent>
          </a:graphicData>
        </a:graphic>
      </p:graphicFrame>
      <p:sp>
        <p:nvSpPr>
          <p:cNvPr id="14" name="AutoShape 20"/>
          <p:cNvSpPr>
            <a:spLocks noChangeArrowheads="1"/>
          </p:cNvSpPr>
          <p:nvPr/>
        </p:nvSpPr>
        <p:spPr bwMode="auto">
          <a:xfrm>
            <a:off x="4135386" y="4875929"/>
            <a:ext cx="609600" cy="304800"/>
          </a:xfrm>
          <a:prstGeom prst="rightArrow">
            <a:avLst>
              <a:gd name="adj1" fmla="val 50000"/>
              <a:gd name="adj2" fmla="val 50000"/>
            </a:avLst>
          </a:prstGeom>
          <a:solidFill>
            <a:srgbClr val="00E4A8"/>
          </a:solidFill>
          <a:ln w="12700" cap="sq">
            <a:solidFill>
              <a:srgbClr val="000000"/>
            </a:solidFill>
            <a:miter lim="800000"/>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15" name="Rectangle 21"/>
          <p:cNvSpPr>
            <a:spLocks noChangeArrowheads="1"/>
          </p:cNvSpPr>
          <p:nvPr/>
        </p:nvSpPr>
        <p:spPr bwMode="auto">
          <a:xfrm>
            <a:off x="345148" y="6219490"/>
            <a:ext cx="4248150" cy="457200"/>
          </a:xfrm>
          <a:prstGeom prst="rect">
            <a:avLst/>
          </a:prstGeom>
          <a:noFill/>
          <a:ln w="38100" cap="sq">
            <a:noFill/>
            <a:miter lim="800000"/>
            <a:headEnd type="none" w="sm" len="sm"/>
            <a:tailEnd type="none" w="sm" len="sm"/>
          </a:ln>
        </p:spPr>
        <p:txBody>
          <a:bodyPr>
            <a:spAutoFit/>
          </a:bodyPr>
          <a:lstStyle/>
          <a:p>
            <a:pPr indent="-341313" algn="ctr" defTabSz="914400" eaLnBrk="0" fontAlgn="base" hangingPunct="0">
              <a:spcBef>
                <a:spcPct val="50000"/>
              </a:spcBef>
              <a:spcAft>
                <a:spcPct val="0"/>
              </a:spcAft>
              <a:buFont typeface="Wingdings" pitchFamily="2" charset="2"/>
              <a:buChar char="q"/>
            </a:pPr>
            <a:r>
              <a:rPr kumimoji="1" lang="zh-CN" altLang="en-US" sz="2400" b="1" dirty="0">
                <a:solidFill>
                  <a:srgbClr val="000000"/>
                </a:solidFill>
                <a:latin typeface="Times New Roman" pitchFamily="18" charset="0"/>
                <a:ea typeface="宋体" charset="-122"/>
              </a:rPr>
              <a:t>过剩</a:t>
            </a:r>
            <a:r>
              <a:rPr kumimoji="1" lang="zh-CN" altLang="en-US" sz="2400" b="1" dirty="0" smtClean="0">
                <a:solidFill>
                  <a:srgbClr val="000000"/>
                </a:solidFill>
                <a:latin typeface="Times New Roman" pitchFamily="18" charset="0"/>
                <a:ea typeface="宋体" charset="-122"/>
              </a:rPr>
              <a:t>载流子</a:t>
            </a:r>
            <a:r>
              <a:rPr kumimoji="1" lang="zh-CN" altLang="en-US" sz="2400" b="1" dirty="0">
                <a:solidFill>
                  <a:srgbClr val="000000"/>
                </a:solidFill>
                <a:latin typeface="Times New Roman" pitchFamily="18" charset="0"/>
                <a:ea typeface="宋体" charset="-122"/>
              </a:rPr>
              <a:t>的复合率为：</a:t>
            </a:r>
          </a:p>
        </p:txBody>
      </p:sp>
      <p:sp>
        <p:nvSpPr>
          <p:cNvPr id="16" name="Rectangle 22"/>
          <p:cNvSpPr>
            <a:spLocks noChangeArrowheads="1"/>
          </p:cNvSpPr>
          <p:nvPr/>
        </p:nvSpPr>
        <p:spPr bwMode="auto">
          <a:xfrm>
            <a:off x="5553434" y="6217902"/>
            <a:ext cx="490537" cy="457200"/>
          </a:xfrm>
          <a:prstGeom prst="rect">
            <a:avLst/>
          </a:prstGeom>
          <a:noFill/>
          <a:ln w="9525">
            <a:noFill/>
            <a:miter lim="800000"/>
            <a:headEnd/>
            <a:tailEnd/>
          </a:ln>
        </p:spPr>
        <p:txBody>
          <a:bodyPr wrap="none">
            <a:spAutoFit/>
          </a:bodyPr>
          <a:lstStyle/>
          <a:p>
            <a:pPr defTabSz="914400" fontAlgn="base">
              <a:spcBef>
                <a:spcPct val="0"/>
              </a:spcBef>
              <a:spcAft>
                <a:spcPct val="0"/>
              </a:spcAft>
            </a:pPr>
            <a:r>
              <a:rPr kumimoji="1" lang="zh-CN" altLang="en-US" sz="2400" b="1">
                <a:solidFill>
                  <a:srgbClr val="000000"/>
                </a:solidFill>
                <a:latin typeface="Times New Roman" pitchFamily="18" charset="0"/>
                <a:ea typeface="宋体" charset="-122"/>
              </a:rPr>
              <a:t>或</a:t>
            </a:r>
          </a:p>
        </p:txBody>
      </p:sp>
      <p:graphicFrame>
        <p:nvGraphicFramePr>
          <p:cNvPr id="17" name="Object 1030"/>
          <p:cNvGraphicFramePr>
            <a:graphicFrameLocks noChangeAspect="1"/>
          </p:cNvGraphicFramePr>
          <p:nvPr>
            <p:extLst>
              <p:ext uri="{D42A27DB-BD31-4B8C-83A1-F6EECF244321}">
                <p14:modId xmlns:p14="http://schemas.microsoft.com/office/powerpoint/2010/main" val="309625897"/>
              </p:ext>
            </p:extLst>
          </p:nvPr>
        </p:nvGraphicFramePr>
        <p:xfrm>
          <a:off x="2724385" y="3594409"/>
          <a:ext cx="304800" cy="334963"/>
        </p:xfrm>
        <a:graphic>
          <a:graphicData uri="http://schemas.openxmlformats.org/presentationml/2006/ole">
            <mc:AlternateContent xmlns:mc="http://schemas.openxmlformats.org/markup-compatibility/2006">
              <mc:Choice xmlns:v="urn:schemas-microsoft-com:vml" Requires="v">
                <p:oleObj spid="_x0000_s21666" name="Equation" r:id="rId15" imgW="126835" imgH="139518" progId="Equation.3">
                  <p:embed/>
                </p:oleObj>
              </mc:Choice>
              <mc:Fallback>
                <p:oleObj name="Equation" r:id="rId15" imgW="126835" imgH="139518" progId="Equation.3">
                  <p:embed/>
                  <p:pic>
                    <p:nvPicPr>
                      <p:cNvPr id="70677" name="Object 10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24385" y="3594409"/>
                        <a:ext cx="304800" cy="334963"/>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3490497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21</a:t>
            </a:fld>
            <a:endParaRPr lang="zh-CN" altLang="en-US"/>
          </a:p>
        </p:txBody>
      </p:sp>
      <p:pic>
        <p:nvPicPr>
          <p:cNvPr id="3" name="Picture 13"/>
          <p:cNvPicPr>
            <a:picLocks noChangeArrowheads="1"/>
          </p:cNvPicPr>
          <p:nvPr/>
        </p:nvPicPr>
        <p:blipFill>
          <a:blip r:embed="rId3" cstate="print"/>
          <a:srcRect l="21675" t="24315"/>
          <a:stretch>
            <a:fillRect/>
          </a:stretch>
        </p:blipFill>
        <p:spPr bwMode="auto">
          <a:xfrm>
            <a:off x="4804220" y="1657145"/>
            <a:ext cx="3602570" cy="2052973"/>
          </a:xfrm>
          <a:prstGeom prst="rect">
            <a:avLst/>
          </a:prstGeom>
          <a:noFill/>
          <a:ln w="9525">
            <a:noFill/>
            <a:miter lim="800000"/>
            <a:headEnd/>
            <a:tailEnd/>
          </a:ln>
        </p:spPr>
      </p:pic>
      <p:sp>
        <p:nvSpPr>
          <p:cNvPr id="4" name="Text Box 3"/>
          <p:cNvSpPr txBox="1">
            <a:spLocks noChangeArrowheads="1"/>
          </p:cNvSpPr>
          <p:nvPr/>
        </p:nvSpPr>
        <p:spPr bwMode="auto">
          <a:xfrm>
            <a:off x="422576" y="1185052"/>
            <a:ext cx="3222161"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直接复合</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
        <p:nvSpPr>
          <p:cNvPr id="5" name="Text Box 10"/>
          <p:cNvSpPr txBox="1">
            <a:spLocks noChangeArrowheads="1"/>
          </p:cNvSpPr>
          <p:nvPr/>
        </p:nvSpPr>
        <p:spPr bwMode="auto">
          <a:xfrm>
            <a:off x="160089" y="253320"/>
            <a:ext cx="8077200" cy="464743"/>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200" b="1" dirty="0">
                <a:solidFill>
                  <a:srgbClr val="FF3300"/>
                </a:solidFill>
                <a:latin typeface="Times New Roman" pitchFamily="18" charset="0"/>
                <a:ea typeface="宋体" charset="-122"/>
              </a:rPr>
              <a:t>复合</a:t>
            </a:r>
            <a:r>
              <a:rPr kumimoji="1" lang="zh-CN" altLang="en-US" sz="2200" b="1" dirty="0" smtClean="0">
                <a:solidFill>
                  <a:srgbClr val="FF3300"/>
                </a:solidFill>
                <a:latin typeface="Times New Roman" pitchFamily="18" charset="0"/>
                <a:ea typeface="宋体" charset="-122"/>
              </a:rPr>
              <a:t>过程按复合特征分有</a:t>
            </a:r>
            <a:r>
              <a:rPr kumimoji="1" lang="zh-CN" altLang="en-US" sz="2200" b="1" dirty="0">
                <a:solidFill>
                  <a:srgbClr val="FF3300"/>
                </a:solidFill>
                <a:latin typeface="Times New Roman" pitchFamily="18" charset="0"/>
                <a:ea typeface="宋体" charset="-122"/>
              </a:rPr>
              <a:t>两大类</a:t>
            </a:r>
            <a:r>
              <a:rPr kumimoji="1" lang="zh-CN" altLang="en-US" sz="2200" b="1" dirty="0" smtClean="0">
                <a:solidFill>
                  <a:srgbClr val="FF3300"/>
                </a:solidFill>
                <a:latin typeface="Times New Roman" pitchFamily="18" charset="0"/>
                <a:ea typeface="宋体" charset="-122"/>
              </a:rPr>
              <a:t>：</a:t>
            </a:r>
            <a:r>
              <a:rPr kumimoji="1" lang="zh-CN" altLang="en-US" sz="2200" b="1" dirty="0" smtClean="0">
                <a:solidFill>
                  <a:srgbClr val="000000"/>
                </a:solidFill>
                <a:latin typeface="Times New Roman" pitchFamily="18" charset="0"/>
                <a:ea typeface="宋体" charset="-122"/>
              </a:rPr>
              <a:t>直接复合和间接复合</a:t>
            </a:r>
            <a:endParaRPr kumimoji="1" lang="en-US" altLang="zh-CN" sz="2200" b="1" dirty="0">
              <a:solidFill>
                <a:srgbClr val="000000"/>
              </a:solidFill>
              <a:latin typeface="Times New Roman" pitchFamily="18" charset="0"/>
              <a:ea typeface="宋体" charset="-122"/>
            </a:endParaRPr>
          </a:p>
        </p:txBody>
      </p:sp>
      <p:sp>
        <p:nvSpPr>
          <p:cNvPr id="6" name="Text Box 11"/>
          <p:cNvSpPr txBox="1">
            <a:spLocks noChangeArrowheads="1"/>
          </p:cNvSpPr>
          <p:nvPr/>
        </p:nvSpPr>
        <p:spPr bwMode="auto">
          <a:xfrm>
            <a:off x="411930" y="1657145"/>
            <a:ext cx="4392290" cy="1785104"/>
          </a:xfrm>
          <a:prstGeom prst="rect">
            <a:avLst/>
          </a:prstGeom>
          <a:noFill/>
          <a:ln w="12700" cap="sq">
            <a:noFill/>
            <a:miter lim="800000"/>
            <a:headEnd type="none" w="sm" len="sm"/>
            <a:tailEnd type="none" w="sm" len="sm"/>
          </a:ln>
        </p:spPr>
        <p:txBody>
          <a:bodyPr wrap="square">
            <a:spAutoFit/>
          </a:bodyPr>
          <a:lstStyle/>
          <a:p>
            <a:pPr marL="341313" indent="-341313" defTabSz="914400" eaLnBrk="0" fontAlgn="base" hangingPunct="0">
              <a:lnSpc>
                <a:spcPct val="110000"/>
              </a:lnSpc>
              <a:spcBef>
                <a:spcPct val="0"/>
              </a:spcBef>
              <a:spcAft>
                <a:spcPct val="0"/>
              </a:spcAft>
              <a:buFont typeface="Wingdings" pitchFamily="2" charset="2"/>
              <a:buChar char="Ø"/>
            </a:pPr>
            <a:r>
              <a:rPr kumimoji="1" lang="zh-CN" altLang="en-US" sz="2000" b="1" dirty="0">
                <a:solidFill>
                  <a:srgbClr val="000000"/>
                </a:solidFill>
                <a:latin typeface="Times New Roman" pitchFamily="18" charset="0"/>
                <a:ea typeface="宋体" charset="-122"/>
              </a:rPr>
              <a:t>导带电子直接跃迁 （</a:t>
            </a:r>
            <a:r>
              <a:rPr kumimoji="1" lang="en-US" altLang="zh-CN" sz="2000" b="1" dirty="0">
                <a:solidFill>
                  <a:srgbClr val="000000"/>
                </a:solidFill>
                <a:latin typeface="Times New Roman" pitchFamily="18" charset="0"/>
                <a:ea typeface="宋体" charset="-122"/>
              </a:rPr>
              <a:t>Transition</a:t>
            </a:r>
            <a:r>
              <a:rPr kumimoji="1" lang="zh-CN" altLang="en-US" sz="2000" b="1" dirty="0">
                <a:solidFill>
                  <a:srgbClr val="000000"/>
                </a:solidFill>
                <a:latin typeface="Times New Roman" pitchFamily="18" charset="0"/>
                <a:ea typeface="宋体" charset="-122"/>
              </a:rPr>
              <a:t>）</a:t>
            </a:r>
            <a:r>
              <a:rPr kumimoji="1" lang="en-US" altLang="zh-CN" sz="2000" b="1" dirty="0">
                <a:solidFill>
                  <a:srgbClr val="000000"/>
                </a:solidFill>
                <a:latin typeface="Times New Roman" pitchFamily="18" charset="0"/>
                <a:ea typeface="宋体" charset="-122"/>
              </a:rPr>
              <a:t> </a:t>
            </a:r>
            <a:r>
              <a:rPr kumimoji="1" lang="zh-CN" altLang="en-US" sz="2000" b="1" dirty="0">
                <a:solidFill>
                  <a:srgbClr val="000000"/>
                </a:solidFill>
                <a:latin typeface="Times New Roman" pitchFamily="18" charset="0"/>
                <a:ea typeface="宋体" charset="-122"/>
              </a:rPr>
              <a:t>到价带，与价带空穴</a:t>
            </a:r>
            <a:r>
              <a:rPr kumimoji="1" lang="zh-CN" altLang="en-US" sz="2000" b="1" dirty="0" smtClean="0">
                <a:solidFill>
                  <a:srgbClr val="000000"/>
                </a:solidFill>
                <a:latin typeface="Times New Roman" pitchFamily="18" charset="0"/>
                <a:ea typeface="宋体" charset="-122"/>
              </a:rPr>
              <a:t>发生带</a:t>
            </a:r>
            <a:r>
              <a:rPr kumimoji="1" lang="en-US" altLang="zh-CN" sz="2000" b="1" dirty="0" smtClean="0">
                <a:solidFill>
                  <a:srgbClr val="000000"/>
                </a:solidFill>
                <a:latin typeface="Times New Roman" pitchFamily="18" charset="0"/>
                <a:ea typeface="宋体" charset="-122"/>
              </a:rPr>
              <a:t>-</a:t>
            </a:r>
            <a:r>
              <a:rPr kumimoji="1" lang="zh-CN" altLang="en-US" sz="2000" b="1" dirty="0" smtClean="0">
                <a:solidFill>
                  <a:srgbClr val="000000"/>
                </a:solidFill>
                <a:latin typeface="Times New Roman" pitchFamily="18" charset="0"/>
                <a:ea typeface="宋体" charset="-122"/>
              </a:rPr>
              <a:t>带 （</a:t>
            </a:r>
            <a:r>
              <a:rPr kumimoji="1" lang="en-US" altLang="zh-CN" sz="2000" b="1" dirty="0">
                <a:solidFill>
                  <a:srgbClr val="000000"/>
                </a:solidFill>
                <a:latin typeface="Times New Roman" pitchFamily="18" charset="0"/>
                <a:ea typeface="宋体" charset="-122"/>
              </a:rPr>
              <a:t>Band to Band</a:t>
            </a:r>
            <a:r>
              <a:rPr kumimoji="1" lang="zh-CN" altLang="en-US" sz="2000" b="1" dirty="0">
                <a:solidFill>
                  <a:srgbClr val="000000"/>
                </a:solidFill>
                <a:latin typeface="Times New Roman" pitchFamily="18" charset="0"/>
                <a:ea typeface="宋体" charset="-122"/>
              </a:rPr>
              <a:t>）</a:t>
            </a:r>
            <a:r>
              <a:rPr kumimoji="1" lang="zh-CN" altLang="en-US" sz="2000" b="1" dirty="0" smtClean="0">
                <a:solidFill>
                  <a:srgbClr val="000000"/>
                </a:solidFill>
                <a:latin typeface="Times New Roman" pitchFamily="18" charset="0"/>
                <a:ea typeface="宋体" charset="-122"/>
              </a:rPr>
              <a:t>复合的过程</a:t>
            </a:r>
            <a:r>
              <a:rPr kumimoji="1" lang="zh-CN" altLang="en-US" sz="2000" b="1" dirty="0">
                <a:solidFill>
                  <a:srgbClr val="000000"/>
                </a:solidFill>
                <a:latin typeface="Times New Roman" pitchFamily="18" charset="0"/>
                <a:ea typeface="宋体" charset="-122"/>
              </a:rPr>
              <a:t>；</a:t>
            </a:r>
          </a:p>
          <a:p>
            <a:pPr marL="341313" indent="-341313" defTabSz="914400" eaLnBrk="0" fontAlgn="base" hangingPunct="0">
              <a:lnSpc>
                <a:spcPct val="110000"/>
              </a:lnSpc>
              <a:spcBef>
                <a:spcPct val="0"/>
              </a:spcBef>
              <a:spcAft>
                <a:spcPct val="0"/>
              </a:spcAft>
              <a:buFont typeface="Wingdings" pitchFamily="2" charset="2"/>
              <a:buChar char="Ø"/>
            </a:pPr>
            <a:r>
              <a:rPr kumimoji="1" lang="zh-CN" altLang="en-US" sz="2000" b="1" dirty="0">
                <a:solidFill>
                  <a:srgbClr val="000000"/>
                </a:solidFill>
                <a:latin typeface="Times New Roman" pitchFamily="18" charset="0"/>
                <a:ea typeface="宋体" charset="-122"/>
              </a:rPr>
              <a:t>直接复合时通常伴随有</a:t>
            </a:r>
            <a:r>
              <a:rPr kumimoji="1" lang="zh-CN" altLang="en-US" sz="2000" b="1" dirty="0" smtClean="0">
                <a:solidFill>
                  <a:srgbClr val="000000"/>
                </a:solidFill>
                <a:latin typeface="Times New Roman" pitchFamily="18" charset="0"/>
                <a:ea typeface="宋体" charset="-122"/>
              </a:rPr>
              <a:t>光子发射</a:t>
            </a:r>
            <a:r>
              <a:rPr kumimoji="1" lang="zh-CN" altLang="en-US" sz="2000" b="1" dirty="0">
                <a:solidFill>
                  <a:srgbClr val="000000"/>
                </a:solidFill>
                <a:latin typeface="Times New Roman" pitchFamily="18" charset="0"/>
                <a:ea typeface="宋体" charset="-122"/>
              </a:rPr>
              <a:t>，光子能量与禁带</a:t>
            </a:r>
            <a:r>
              <a:rPr kumimoji="1" lang="zh-CN" altLang="en-US" sz="2000" b="1" dirty="0" smtClean="0">
                <a:solidFill>
                  <a:srgbClr val="000000"/>
                </a:solidFill>
                <a:latin typeface="Times New Roman" pitchFamily="18" charset="0"/>
                <a:ea typeface="宋体" charset="-122"/>
              </a:rPr>
              <a:t>宽度相关</a:t>
            </a:r>
            <a:r>
              <a:rPr kumimoji="1" lang="zh-CN" altLang="en-US" sz="2000" b="1" dirty="0">
                <a:solidFill>
                  <a:srgbClr val="000000"/>
                </a:solidFill>
                <a:latin typeface="Times New Roman" pitchFamily="18" charset="0"/>
                <a:ea typeface="宋体" charset="-122"/>
              </a:rPr>
              <a:t>；</a:t>
            </a:r>
          </a:p>
        </p:txBody>
      </p:sp>
      <p:sp>
        <p:nvSpPr>
          <p:cNvPr id="7" name="Rectangle 12"/>
          <p:cNvSpPr>
            <a:spLocks noChangeArrowheads="1"/>
          </p:cNvSpPr>
          <p:nvPr/>
        </p:nvSpPr>
        <p:spPr bwMode="auto">
          <a:xfrm>
            <a:off x="151525" y="754690"/>
            <a:ext cx="8696611" cy="434350"/>
          </a:xfrm>
          <a:prstGeom prst="rect">
            <a:avLst/>
          </a:prstGeom>
          <a:noFill/>
          <a:ln w="12700" cap="sq">
            <a:noFill/>
            <a:miter lim="800000"/>
            <a:headEnd type="none" w="sm" len="sm"/>
            <a:tailEnd type="none" w="sm" len="sm"/>
          </a:ln>
        </p:spPr>
        <p:txBody>
          <a:bodyPr wrap="none">
            <a:spAutoFit/>
          </a:bodyPr>
          <a:lstStyle/>
          <a:p>
            <a:pPr defTabSz="914400" eaLnBrk="0" fontAlgn="base" hangingPunct="0">
              <a:lnSpc>
                <a:spcPct val="110000"/>
              </a:lnSpc>
              <a:spcBef>
                <a:spcPct val="0"/>
              </a:spcBef>
              <a:spcAft>
                <a:spcPct val="0"/>
              </a:spcAft>
            </a:pPr>
            <a:r>
              <a:rPr kumimoji="1" lang="zh-CN" altLang="en-US" sz="2200" b="1" dirty="0">
                <a:solidFill>
                  <a:srgbClr val="FF3300"/>
                </a:solidFill>
                <a:latin typeface="Times New Roman" pitchFamily="18" charset="0"/>
                <a:ea typeface="宋体" charset="-122"/>
              </a:rPr>
              <a:t>复合</a:t>
            </a:r>
            <a:r>
              <a:rPr kumimoji="1" lang="zh-CN" altLang="en-US" sz="2200" b="1" dirty="0" smtClean="0">
                <a:solidFill>
                  <a:srgbClr val="FF3300"/>
                </a:solidFill>
                <a:latin typeface="Times New Roman" pitchFamily="18" charset="0"/>
                <a:ea typeface="宋体" charset="-122"/>
              </a:rPr>
              <a:t>过程</a:t>
            </a:r>
            <a:r>
              <a:rPr kumimoji="1" lang="zh-CN" altLang="en-US" sz="2200" b="1" dirty="0" smtClean="0">
                <a:solidFill>
                  <a:srgbClr val="000000"/>
                </a:solidFill>
                <a:latin typeface="Times New Roman" pitchFamily="18" charset="0"/>
                <a:ea typeface="宋体" charset="-122"/>
              </a:rPr>
              <a:t>总是满足</a:t>
            </a:r>
            <a:r>
              <a:rPr kumimoji="1" lang="zh-CN" altLang="en-US" sz="2200" b="1" dirty="0">
                <a:solidFill>
                  <a:srgbClr val="000099"/>
                </a:solidFill>
                <a:latin typeface="Times New Roman" pitchFamily="18" charset="0"/>
                <a:ea typeface="宋体" charset="-122"/>
              </a:rPr>
              <a:t>动量守恒</a:t>
            </a:r>
            <a:r>
              <a:rPr kumimoji="1" lang="zh-CN" altLang="en-US" sz="2200" b="1" dirty="0">
                <a:solidFill>
                  <a:srgbClr val="FF3300"/>
                </a:solidFill>
                <a:latin typeface="Times New Roman" pitchFamily="18" charset="0"/>
                <a:ea typeface="宋体" charset="-122"/>
              </a:rPr>
              <a:t>和</a:t>
            </a:r>
            <a:r>
              <a:rPr kumimoji="1" lang="zh-CN" altLang="en-US" sz="2200" b="1" dirty="0">
                <a:solidFill>
                  <a:srgbClr val="000099"/>
                </a:solidFill>
                <a:latin typeface="Times New Roman" pitchFamily="18" charset="0"/>
                <a:ea typeface="宋体" charset="-122"/>
              </a:rPr>
              <a:t>能量守恒</a:t>
            </a:r>
            <a:r>
              <a:rPr kumimoji="1" lang="zh-CN" altLang="en-US" sz="2200" b="1" dirty="0" smtClean="0">
                <a:solidFill>
                  <a:srgbClr val="000099"/>
                </a:solidFill>
                <a:latin typeface="Times New Roman" pitchFamily="18" charset="0"/>
                <a:ea typeface="宋体" charset="-122"/>
              </a:rPr>
              <a:t>原理，</a:t>
            </a:r>
            <a:r>
              <a:rPr kumimoji="1" lang="zh-CN" altLang="en-US" sz="2200" b="1" dirty="0" smtClean="0">
                <a:solidFill>
                  <a:srgbClr val="000000"/>
                </a:solidFill>
                <a:latin typeface="Times New Roman" pitchFamily="18" charset="0"/>
                <a:ea typeface="宋体" charset="-122"/>
              </a:rPr>
              <a:t>是研究复合过程的基础</a:t>
            </a:r>
            <a:endParaRPr kumimoji="1" lang="zh-CN" altLang="en-US" sz="2200" b="1" dirty="0">
              <a:solidFill>
                <a:srgbClr val="000000"/>
              </a:solidFill>
              <a:latin typeface="Times New Roman" pitchFamily="18" charset="0"/>
              <a:ea typeface="宋体" charset="-122"/>
            </a:endParaRPr>
          </a:p>
        </p:txBody>
      </p:sp>
      <p:graphicFrame>
        <p:nvGraphicFramePr>
          <p:cNvPr id="10" name="Object 10"/>
          <p:cNvGraphicFramePr>
            <a:graphicFrameLocks noChangeAspect="1"/>
          </p:cNvGraphicFramePr>
          <p:nvPr>
            <p:extLst>
              <p:ext uri="{D42A27DB-BD31-4B8C-83A1-F6EECF244321}">
                <p14:modId xmlns:p14="http://schemas.microsoft.com/office/powerpoint/2010/main" val="1027578272"/>
              </p:ext>
            </p:extLst>
          </p:nvPr>
        </p:nvGraphicFramePr>
        <p:xfrm>
          <a:off x="3554858" y="3541003"/>
          <a:ext cx="1249362" cy="487363"/>
        </p:xfrm>
        <a:graphic>
          <a:graphicData uri="http://schemas.openxmlformats.org/presentationml/2006/ole">
            <mc:AlternateContent xmlns:mc="http://schemas.openxmlformats.org/markup-compatibility/2006">
              <mc:Choice xmlns:v="urn:schemas-microsoft-com:vml" Requires="v">
                <p:oleObj spid="_x0000_s22622" name="公式" r:id="rId4" imgW="520474" imgH="203112" progId="Equation.3">
                  <p:embed/>
                </p:oleObj>
              </mc:Choice>
              <mc:Fallback>
                <p:oleObj name="公式" r:id="rId4" imgW="520474" imgH="203112" progId="Equation.3">
                  <p:embed/>
                  <p:pic>
                    <p:nvPicPr>
                      <p:cNvPr id="77832"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4858" y="3541003"/>
                        <a:ext cx="1249362" cy="487363"/>
                      </a:xfrm>
                      <a:prstGeom prst="rect">
                        <a:avLst/>
                      </a:prstGeom>
                      <a:solidFill>
                        <a:srgbClr val="FFFFFF"/>
                      </a:solidFill>
                    </p:spPr>
                  </p:pic>
                </p:oleObj>
              </mc:Fallback>
            </mc:AlternateContent>
          </a:graphicData>
        </a:graphic>
      </p:graphicFrame>
      <p:sp>
        <p:nvSpPr>
          <p:cNvPr id="11" name="Text Box 11"/>
          <p:cNvSpPr txBox="1">
            <a:spLocks noChangeArrowheads="1"/>
          </p:cNvSpPr>
          <p:nvPr/>
        </p:nvSpPr>
        <p:spPr bwMode="auto">
          <a:xfrm>
            <a:off x="510253" y="3567991"/>
            <a:ext cx="3405188" cy="46037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0"/>
              </a:spcBef>
              <a:spcAft>
                <a:spcPct val="0"/>
              </a:spcAft>
            </a:pPr>
            <a:r>
              <a:rPr kumimoji="1" lang="zh-CN" altLang="en-US" sz="2200" b="1" dirty="0">
                <a:solidFill>
                  <a:srgbClr val="000000"/>
                </a:solidFill>
                <a:latin typeface="Times New Roman" pitchFamily="18" charset="0"/>
                <a:ea typeface="宋体" charset="-122"/>
              </a:rPr>
              <a:t>载流子的</a:t>
            </a:r>
            <a:r>
              <a:rPr kumimoji="1" lang="zh-CN" altLang="en-US" sz="2200" b="1" dirty="0">
                <a:solidFill>
                  <a:srgbClr val="3333CC"/>
                </a:solidFill>
                <a:latin typeface="Times New Roman" pitchFamily="18" charset="0"/>
                <a:ea typeface="宋体" charset="-122"/>
              </a:rPr>
              <a:t>直接复合率</a:t>
            </a:r>
            <a:r>
              <a:rPr kumimoji="1" lang="zh-CN" altLang="en-US" sz="2200" b="1" dirty="0">
                <a:solidFill>
                  <a:srgbClr val="000000"/>
                </a:solidFill>
                <a:latin typeface="Times New Roman" pitchFamily="18" charset="0"/>
                <a:ea typeface="宋体" charset="-122"/>
              </a:rPr>
              <a:t>：</a:t>
            </a:r>
          </a:p>
        </p:txBody>
      </p:sp>
      <p:graphicFrame>
        <p:nvGraphicFramePr>
          <p:cNvPr id="16" name="Object 15"/>
          <p:cNvGraphicFramePr>
            <a:graphicFrameLocks noChangeAspect="1"/>
          </p:cNvGraphicFramePr>
          <p:nvPr>
            <p:extLst>
              <p:ext uri="{D42A27DB-BD31-4B8C-83A1-F6EECF244321}">
                <p14:modId xmlns:p14="http://schemas.microsoft.com/office/powerpoint/2010/main" val="3075860109"/>
              </p:ext>
            </p:extLst>
          </p:nvPr>
        </p:nvGraphicFramePr>
        <p:xfrm>
          <a:off x="3013843" y="4453766"/>
          <a:ext cx="3230562" cy="579437"/>
        </p:xfrm>
        <a:graphic>
          <a:graphicData uri="http://schemas.openxmlformats.org/presentationml/2006/ole">
            <mc:AlternateContent xmlns:mc="http://schemas.openxmlformats.org/markup-compatibility/2006">
              <mc:Choice xmlns:v="urn:schemas-microsoft-com:vml" Requires="v">
                <p:oleObj spid="_x0000_s22623" name="Equation" r:id="rId6" imgW="1346200" imgH="241300" progId="Equation.3">
                  <p:embed/>
                </p:oleObj>
              </mc:Choice>
              <mc:Fallback>
                <p:oleObj name="Equation" r:id="rId6" imgW="1346200" imgH="241300" progId="Equation.3">
                  <p:embed/>
                  <p:pic>
                    <p:nvPicPr>
                      <p:cNvPr id="77836"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3843" y="4453766"/>
                        <a:ext cx="3230562" cy="579437"/>
                      </a:xfrm>
                      <a:prstGeom prst="rect">
                        <a:avLst/>
                      </a:prstGeom>
                      <a:solidFill>
                        <a:srgbClr val="FFFFFF"/>
                      </a:solidFill>
                    </p:spPr>
                  </p:pic>
                </p:oleObj>
              </mc:Fallback>
            </mc:AlternateContent>
          </a:graphicData>
        </a:graphic>
      </p:graphicFrame>
      <p:sp>
        <p:nvSpPr>
          <p:cNvPr id="17" name="Text Box 14"/>
          <p:cNvSpPr txBox="1">
            <a:spLocks noChangeArrowheads="1"/>
          </p:cNvSpPr>
          <p:nvPr/>
        </p:nvSpPr>
        <p:spPr bwMode="auto">
          <a:xfrm>
            <a:off x="411929" y="4073405"/>
            <a:ext cx="8262721" cy="464743"/>
          </a:xfrm>
          <a:prstGeom prst="rect">
            <a:avLst/>
          </a:prstGeom>
          <a:noFill/>
          <a:ln w="12700" cap="sq">
            <a:noFill/>
            <a:miter lim="800000"/>
            <a:headEnd type="none" w="sm" len="sm"/>
            <a:tailEnd type="none" w="sm" len="sm"/>
          </a:ln>
        </p:spPr>
        <p:txBody>
          <a:bodyPr wrap="square">
            <a:spAutoFit/>
          </a:bodyPr>
          <a:lstStyle/>
          <a:p>
            <a:pPr defTabSz="914400" eaLnBrk="0" fontAlgn="base" hangingPunct="0">
              <a:lnSpc>
                <a:spcPct val="110000"/>
              </a:lnSpc>
              <a:spcBef>
                <a:spcPct val="0"/>
              </a:spcBef>
              <a:spcAft>
                <a:spcPct val="0"/>
              </a:spcAft>
            </a:pPr>
            <a:r>
              <a:rPr kumimoji="1" lang="zh-CN" altLang="en-US" sz="2200" b="1" dirty="0" smtClean="0">
                <a:solidFill>
                  <a:srgbClr val="000000"/>
                </a:solidFill>
                <a:latin typeface="Times New Roman" pitchFamily="18" charset="0"/>
                <a:ea typeface="宋体" charset="-122"/>
              </a:rPr>
              <a:t>热平衡</a:t>
            </a:r>
            <a:r>
              <a:rPr kumimoji="1" lang="zh-CN" altLang="en-US" sz="2200" b="1" dirty="0">
                <a:solidFill>
                  <a:srgbClr val="000000"/>
                </a:solidFill>
                <a:latin typeface="Times New Roman" pitchFamily="18" charset="0"/>
                <a:ea typeface="宋体" charset="-122"/>
              </a:rPr>
              <a:t>情形</a:t>
            </a:r>
            <a:r>
              <a:rPr kumimoji="1" lang="zh-CN" altLang="en-US" sz="2200" b="1" dirty="0" smtClean="0">
                <a:solidFill>
                  <a:srgbClr val="000000"/>
                </a:solidFill>
                <a:latin typeface="Times New Roman" pitchFamily="18" charset="0"/>
                <a:ea typeface="宋体" charset="-122"/>
              </a:rPr>
              <a:t>，热能引起的产生与内部复合达到</a:t>
            </a:r>
            <a:r>
              <a:rPr kumimoji="1" lang="zh-CN" altLang="en-US" sz="2200" b="1" dirty="0">
                <a:solidFill>
                  <a:srgbClr val="000000"/>
                </a:solidFill>
                <a:latin typeface="Times New Roman" pitchFamily="18" charset="0"/>
                <a:ea typeface="宋体" charset="-122"/>
              </a:rPr>
              <a:t>动态平衡，即：</a:t>
            </a:r>
          </a:p>
        </p:txBody>
      </p:sp>
      <p:sp>
        <p:nvSpPr>
          <p:cNvPr id="25" name="Text Box 12"/>
          <p:cNvSpPr txBox="1">
            <a:spLocks noChangeArrowheads="1"/>
          </p:cNvSpPr>
          <p:nvPr/>
        </p:nvSpPr>
        <p:spPr bwMode="auto">
          <a:xfrm>
            <a:off x="422576" y="6159383"/>
            <a:ext cx="4117975" cy="46037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0"/>
              </a:spcBef>
              <a:spcAft>
                <a:spcPct val="0"/>
              </a:spcAft>
            </a:pPr>
            <a:r>
              <a:rPr kumimoji="1" lang="zh-CN" altLang="en-US" sz="2200" b="1" dirty="0">
                <a:solidFill>
                  <a:srgbClr val="000000"/>
                </a:solidFill>
                <a:latin typeface="Times New Roman" pitchFamily="18" charset="0"/>
                <a:ea typeface="宋体" charset="-122"/>
              </a:rPr>
              <a:t>过剩</a:t>
            </a:r>
            <a:r>
              <a:rPr kumimoji="1" lang="zh-CN" altLang="en-US" sz="2200" b="1" dirty="0" smtClean="0">
                <a:solidFill>
                  <a:srgbClr val="000000"/>
                </a:solidFill>
                <a:latin typeface="Times New Roman" pitchFamily="18" charset="0"/>
                <a:ea typeface="宋体" charset="-122"/>
              </a:rPr>
              <a:t>载流子</a:t>
            </a:r>
            <a:r>
              <a:rPr kumimoji="1" lang="zh-CN" altLang="en-US" sz="2200" b="1" dirty="0">
                <a:solidFill>
                  <a:srgbClr val="000000"/>
                </a:solidFill>
                <a:latin typeface="Times New Roman" pitchFamily="18" charset="0"/>
                <a:ea typeface="宋体" charset="-122"/>
              </a:rPr>
              <a:t>的</a:t>
            </a:r>
            <a:r>
              <a:rPr kumimoji="1" lang="zh-CN" altLang="en-US" sz="2200" b="1" dirty="0">
                <a:solidFill>
                  <a:srgbClr val="3333CC"/>
                </a:solidFill>
                <a:latin typeface="Times New Roman" pitchFamily="18" charset="0"/>
                <a:ea typeface="宋体" charset="-122"/>
              </a:rPr>
              <a:t>净复合率</a:t>
            </a:r>
            <a:r>
              <a:rPr kumimoji="1" lang="zh-CN" altLang="en-US" sz="2200" b="1" dirty="0">
                <a:solidFill>
                  <a:srgbClr val="000000"/>
                </a:solidFill>
                <a:latin typeface="Times New Roman" pitchFamily="18" charset="0"/>
                <a:ea typeface="宋体" charset="-122"/>
              </a:rPr>
              <a:t>：</a:t>
            </a:r>
          </a:p>
        </p:txBody>
      </p:sp>
      <p:graphicFrame>
        <p:nvGraphicFramePr>
          <p:cNvPr id="26" name="Object 13"/>
          <p:cNvGraphicFramePr>
            <a:graphicFrameLocks noChangeAspect="1"/>
          </p:cNvGraphicFramePr>
          <p:nvPr>
            <p:extLst>
              <p:ext uri="{D42A27DB-BD31-4B8C-83A1-F6EECF244321}">
                <p14:modId xmlns:p14="http://schemas.microsoft.com/office/powerpoint/2010/main" val="968205770"/>
              </p:ext>
            </p:extLst>
          </p:nvPr>
        </p:nvGraphicFramePr>
        <p:xfrm>
          <a:off x="4094464" y="6087946"/>
          <a:ext cx="3567112" cy="577850"/>
        </p:xfrm>
        <a:graphic>
          <a:graphicData uri="http://schemas.openxmlformats.org/presentationml/2006/ole">
            <mc:AlternateContent xmlns:mc="http://schemas.openxmlformats.org/markup-compatibility/2006">
              <mc:Choice xmlns:v="urn:schemas-microsoft-com:vml" Requires="v">
                <p:oleObj spid="_x0000_s22624" name="公式" r:id="rId8" imgW="1485900" imgH="241300" progId="Equation.3">
                  <p:embed/>
                </p:oleObj>
              </mc:Choice>
              <mc:Fallback>
                <p:oleObj name="公式" r:id="rId8" imgW="1485900" imgH="241300" progId="Equation.3">
                  <p:embed/>
                  <p:pic>
                    <p:nvPicPr>
                      <p:cNvPr id="77835"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94464" y="6087946"/>
                        <a:ext cx="3567112" cy="577850"/>
                      </a:xfrm>
                      <a:prstGeom prst="rect">
                        <a:avLst/>
                      </a:prstGeom>
                      <a:solidFill>
                        <a:srgbClr val="FFFFFF"/>
                      </a:solidFill>
                    </p:spPr>
                  </p:pic>
                </p:oleObj>
              </mc:Fallback>
            </mc:AlternateContent>
          </a:graphicData>
        </a:graphic>
      </p:graphicFrame>
      <p:sp>
        <p:nvSpPr>
          <p:cNvPr id="27" name="Rectangle 21"/>
          <p:cNvSpPr>
            <a:spLocks noChangeArrowheads="1"/>
          </p:cNvSpPr>
          <p:nvPr/>
        </p:nvSpPr>
        <p:spPr bwMode="auto">
          <a:xfrm>
            <a:off x="422576" y="5079784"/>
            <a:ext cx="8442740" cy="464743"/>
          </a:xfrm>
          <a:prstGeom prst="rect">
            <a:avLst/>
          </a:prstGeom>
          <a:noFill/>
          <a:ln w="9525">
            <a:noFill/>
            <a:miter lim="800000"/>
            <a:headEnd/>
            <a:tailEnd/>
          </a:ln>
        </p:spPr>
        <p:txBody>
          <a:bodyPr wrap="square">
            <a:spAutoFit/>
          </a:bodyPr>
          <a:lstStyle/>
          <a:p>
            <a:pPr defTabSz="914400" eaLnBrk="0" fontAlgn="base" hangingPunct="0">
              <a:lnSpc>
                <a:spcPct val="110000"/>
              </a:lnSpc>
              <a:spcBef>
                <a:spcPct val="0"/>
              </a:spcBef>
              <a:spcAft>
                <a:spcPct val="0"/>
              </a:spcAft>
            </a:pPr>
            <a:r>
              <a:rPr kumimoji="1" lang="zh-CN" altLang="en-US" sz="2200" b="1" dirty="0" smtClean="0">
                <a:solidFill>
                  <a:srgbClr val="000000"/>
                </a:solidFill>
                <a:latin typeface="Times New Roman" pitchFamily="18" charset="0"/>
                <a:ea typeface="宋体" charset="-122"/>
              </a:rPr>
              <a:t>外加</a:t>
            </a:r>
            <a:r>
              <a:rPr kumimoji="1" lang="zh-CN" altLang="en-US" sz="2200" b="1" dirty="0" smtClean="0">
                <a:solidFill>
                  <a:srgbClr val="000000"/>
                </a:solidFill>
                <a:latin typeface="Times New Roman" pitchFamily="18" charset="0"/>
                <a:ea typeface="宋体" charset="-122"/>
              </a:rPr>
              <a:t>因素</a:t>
            </a:r>
            <a:r>
              <a:rPr kumimoji="1" lang="zh-CN" altLang="en-US" sz="2200" b="1" dirty="0">
                <a:solidFill>
                  <a:srgbClr val="000000"/>
                </a:solidFill>
                <a:latin typeface="Times New Roman" pitchFamily="18" charset="0"/>
                <a:ea typeface="宋体" charset="-122"/>
              </a:rPr>
              <a:t>撤除</a:t>
            </a:r>
            <a:r>
              <a:rPr kumimoji="1" lang="zh-CN" altLang="en-US" sz="2200" b="1" dirty="0" smtClean="0">
                <a:solidFill>
                  <a:srgbClr val="000000"/>
                </a:solidFill>
                <a:latin typeface="Times New Roman" pitchFamily="18" charset="0"/>
                <a:ea typeface="宋体" charset="-122"/>
              </a:rPr>
              <a:t>后</a:t>
            </a:r>
            <a:r>
              <a:rPr kumimoji="1" lang="zh-CN" altLang="en-US" sz="2200" b="1" dirty="0">
                <a:solidFill>
                  <a:srgbClr val="000000"/>
                </a:solidFill>
                <a:latin typeface="Times New Roman" pitchFamily="18" charset="0"/>
                <a:ea typeface="宋体" charset="-122"/>
              </a:rPr>
              <a:t>，</a:t>
            </a:r>
            <a:r>
              <a:rPr kumimoji="1" lang="zh-CN" altLang="en-US" sz="2200" b="1" dirty="0" smtClean="0">
                <a:solidFill>
                  <a:srgbClr val="000000"/>
                </a:solidFill>
                <a:latin typeface="Times New Roman" pitchFamily="18" charset="0"/>
                <a:ea typeface="宋体" charset="-122"/>
              </a:rPr>
              <a:t>非平衡态下的</a:t>
            </a:r>
            <a:r>
              <a:rPr kumimoji="1" lang="zh-CN" altLang="en-US" sz="2200" b="1" dirty="0">
                <a:solidFill>
                  <a:srgbClr val="000000"/>
                </a:solidFill>
                <a:latin typeface="Times New Roman" pitchFamily="18" charset="0"/>
                <a:ea typeface="宋体" charset="-122"/>
              </a:rPr>
              <a:t>产生率与热平衡</a:t>
            </a:r>
            <a:r>
              <a:rPr kumimoji="1" lang="zh-CN" altLang="en-US" sz="2200" b="1" dirty="0" smtClean="0">
                <a:solidFill>
                  <a:srgbClr val="000000"/>
                </a:solidFill>
                <a:latin typeface="Times New Roman" pitchFamily="18" charset="0"/>
                <a:ea typeface="宋体" charset="-122"/>
              </a:rPr>
              <a:t>时是相同的：</a:t>
            </a:r>
            <a:endParaRPr kumimoji="1" lang="zh-CN" altLang="en-US" sz="2200" b="1" dirty="0">
              <a:solidFill>
                <a:srgbClr val="000000"/>
              </a:solidFill>
              <a:latin typeface="Times New Roman" pitchFamily="18" charset="0"/>
              <a:ea typeface="宋体" charset="-122"/>
            </a:endParaRPr>
          </a:p>
        </p:txBody>
      </p:sp>
      <p:graphicFrame>
        <p:nvGraphicFramePr>
          <p:cNvPr id="28" name="Object 22"/>
          <p:cNvGraphicFramePr>
            <a:graphicFrameLocks noChangeAspect="1"/>
          </p:cNvGraphicFramePr>
          <p:nvPr>
            <p:extLst>
              <p:ext uri="{D42A27DB-BD31-4B8C-83A1-F6EECF244321}">
                <p14:modId xmlns:p14="http://schemas.microsoft.com/office/powerpoint/2010/main" val="1965586876"/>
              </p:ext>
            </p:extLst>
          </p:nvPr>
        </p:nvGraphicFramePr>
        <p:xfrm>
          <a:off x="2620470" y="5484693"/>
          <a:ext cx="3840162" cy="579437"/>
        </p:xfrm>
        <a:graphic>
          <a:graphicData uri="http://schemas.openxmlformats.org/presentationml/2006/ole">
            <mc:AlternateContent xmlns:mc="http://schemas.openxmlformats.org/markup-compatibility/2006">
              <mc:Choice xmlns:v="urn:schemas-microsoft-com:vml" Requires="v">
                <p:oleObj spid="_x0000_s22625" name="公式" r:id="rId10" imgW="1600200" imgH="241300" progId="Equation.3">
                  <p:embed/>
                </p:oleObj>
              </mc:Choice>
              <mc:Fallback>
                <p:oleObj name="公式" r:id="rId10" imgW="1600200" imgH="241300" progId="Equation.3">
                  <p:embed/>
                  <p:pic>
                    <p:nvPicPr>
                      <p:cNvPr id="7784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20470" y="5484693"/>
                        <a:ext cx="3840162" cy="579437"/>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2075409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22</a:t>
            </a:fld>
            <a:endParaRPr lang="zh-CN" altLang="en-US"/>
          </a:p>
        </p:txBody>
      </p:sp>
      <p:sp>
        <p:nvSpPr>
          <p:cNvPr id="3" name="Text Box 9"/>
          <p:cNvSpPr txBox="1">
            <a:spLocks noChangeArrowheads="1"/>
          </p:cNvSpPr>
          <p:nvPr/>
        </p:nvSpPr>
        <p:spPr bwMode="auto">
          <a:xfrm>
            <a:off x="539750" y="1107288"/>
            <a:ext cx="8064500" cy="2492990"/>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30000"/>
              </a:lnSpc>
              <a:spcBef>
                <a:spcPct val="0"/>
              </a:spcBef>
              <a:spcAft>
                <a:spcPct val="0"/>
              </a:spcAft>
              <a:buFont typeface="Wingdings" pitchFamily="2" charset="2"/>
              <a:buChar char="q"/>
            </a:pPr>
            <a:r>
              <a:rPr kumimoji="1" lang="zh-CN" altLang="en-US" sz="2400" b="1" dirty="0">
                <a:solidFill>
                  <a:srgbClr val="000000"/>
                </a:solidFill>
                <a:latin typeface="Times New Roman" pitchFamily="18" charset="0"/>
                <a:ea typeface="宋体" charset="-122"/>
              </a:rPr>
              <a:t>导带电子和价带空穴通过禁带中</a:t>
            </a:r>
            <a:r>
              <a:rPr kumimoji="1" lang="zh-CN" altLang="en-US" sz="2400" b="1" dirty="0" smtClean="0">
                <a:solidFill>
                  <a:srgbClr val="000000"/>
                </a:solidFill>
                <a:latin typeface="Times New Roman" pitchFamily="18" charset="0"/>
                <a:ea typeface="宋体" charset="-122"/>
              </a:rPr>
              <a:t>的复合中心（杂质</a:t>
            </a:r>
            <a:r>
              <a:rPr kumimoji="1" lang="zh-CN" altLang="en-US" sz="2400" b="1" dirty="0">
                <a:solidFill>
                  <a:srgbClr val="000000"/>
                </a:solidFill>
                <a:latin typeface="Times New Roman" pitchFamily="18" charset="0"/>
                <a:ea typeface="宋体" charset="-122"/>
              </a:rPr>
              <a:t>或缺陷</a:t>
            </a:r>
            <a:r>
              <a:rPr kumimoji="1" lang="zh-CN" altLang="en-US" sz="2400" b="1" dirty="0" smtClean="0">
                <a:solidFill>
                  <a:srgbClr val="000000"/>
                </a:solidFill>
                <a:latin typeface="Times New Roman" pitchFamily="18" charset="0"/>
                <a:ea typeface="宋体" charset="-122"/>
              </a:rPr>
              <a:t>能级）的</a:t>
            </a:r>
            <a:r>
              <a:rPr kumimoji="1" lang="zh-CN" altLang="en-US" sz="2400" b="1" dirty="0">
                <a:solidFill>
                  <a:srgbClr val="000000"/>
                </a:solidFill>
                <a:latin typeface="Times New Roman" pitchFamily="18" charset="0"/>
                <a:ea typeface="宋体" charset="-122"/>
              </a:rPr>
              <a:t>辅助作用而发生的复合过程。复合过程中，电子首先从导带跃迁到禁带中的复合中心</a:t>
            </a:r>
            <a:r>
              <a:rPr kumimoji="1" lang="zh-CN" altLang="en-US" sz="2400" b="1" dirty="0" smtClean="0">
                <a:solidFill>
                  <a:srgbClr val="000000"/>
                </a:solidFill>
                <a:latin typeface="Times New Roman" pitchFamily="18" charset="0"/>
                <a:ea typeface="宋体" charset="-122"/>
              </a:rPr>
              <a:t>能级上，然后从复合中心再</a:t>
            </a:r>
            <a:r>
              <a:rPr kumimoji="1" lang="zh-CN" altLang="en-US" sz="2400" b="1" dirty="0">
                <a:solidFill>
                  <a:srgbClr val="000000"/>
                </a:solidFill>
                <a:latin typeface="Times New Roman" pitchFamily="18" charset="0"/>
                <a:ea typeface="宋体" charset="-122"/>
              </a:rPr>
              <a:t>跃迁到价带与空穴发生复合的过程。这些对复合起辅助作用的杂质或缺陷能级称为</a:t>
            </a:r>
            <a:r>
              <a:rPr kumimoji="1" lang="zh-CN" altLang="en-US" sz="2400" b="1" dirty="0">
                <a:solidFill>
                  <a:srgbClr val="FF3300"/>
                </a:solidFill>
                <a:latin typeface="Times New Roman" pitchFamily="18" charset="0"/>
                <a:ea typeface="宋体" charset="-122"/>
              </a:rPr>
              <a:t>复合中心</a:t>
            </a:r>
            <a:r>
              <a:rPr kumimoji="1" lang="zh-CN" altLang="en-US" sz="2400" b="1" dirty="0">
                <a:solidFill>
                  <a:srgbClr val="000000"/>
                </a:solidFill>
                <a:latin typeface="Times New Roman" pitchFamily="18" charset="0"/>
                <a:ea typeface="宋体" charset="-122"/>
              </a:rPr>
              <a:t>。</a:t>
            </a:r>
          </a:p>
        </p:txBody>
      </p:sp>
      <p:grpSp>
        <p:nvGrpSpPr>
          <p:cNvPr id="4" name="Group 22"/>
          <p:cNvGrpSpPr>
            <a:grpSpLocks/>
          </p:cNvGrpSpPr>
          <p:nvPr/>
        </p:nvGrpSpPr>
        <p:grpSpPr bwMode="auto">
          <a:xfrm>
            <a:off x="1116013" y="3582563"/>
            <a:ext cx="6985000" cy="2240479"/>
            <a:chOff x="612" y="2387"/>
            <a:chExt cx="4400" cy="1542"/>
          </a:xfrm>
        </p:grpSpPr>
        <p:grpSp>
          <p:nvGrpSpPr>
            <p:cNvPr id="5" name="Group 21"/>
            <p:cNvGrpSpPr>
              <a:grpSpLocks/>
            </p:cNvGrpSpPr>
            <p:nvPr/>
          </p:nvGrpSpPr>
          <p:grpSpPr bwMode="auto">
            <a:xfrm>
              <a:off x="612" y="2387"/>
              <a:ext cx="4400" cy="1542"/>
              <a:chOff x="612" y="1933"/>
              <a:chExt cx="4400" cy="1769"/>
            </a:xfrm>
          </p:grpSpPr>
          <p:pic>
            <p:nvPicPr>
              <p:cNvPr id="7" name="Picture 13"/>
              <p:cNvPicPr>
                <a:picLocks noChangeAspect="1" noChangeArrowheads="1"/>
              </p:cNvPicPr>
              <p:nvPr/>
            </p:nvPicPr>
            <p:blipFill>
              <a:blip r:embed="rId2" cstate="print"/>
              <a:srcRect b="9329"/>
              <a:stretch>
                <a:fillRect/>
              </a:stretch>
            </p:blipFill>
            <p:spPr bwMode="auto">
              <a:xfrm>
                <a:off x="612" y="1933"/>
                <a:ext cx="4400" cy="1769"/>
              </a:xfrm>
              <a:prstGeom prst="rect">
                <a:avLst/>
              </a:prstGeom>
              <a:noFill/>
              <a:ln w="9525">
                <a:noFill/>
                <a:miter lim="800000"/>
                <a:headEnd/>
                <a:tailEnd/>
              </a:ln>
            </p:spPr>
          </p:pic>
          <p:sp>
            <p:nvSpPr>
              <p:cNvPr id="8" name="Text Box 14"/>
              <p:cNvSpPr txBox="1">
                <a:spLocks noChangeArrowheads="1"/>
              </p:cNvSpPr>
              <p:nvPr/>
            </p:nvSpPr>
            <p:spPr bwMode="auto">
              <a:xfrm>
                <a:off x="1968" y="1955"/>
                <a:ext cx="336" cy="287"/>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0" i="0" u="none" strike="noStrike" kern="0" cap="none" spc="0" normalizeH="0" baseline="0" noProof="0" smtClean="0">
                    <a:ln>
                      <a:noFill/>
                    </a:ln>
                    <a:solidFill>
                      <a:srgbClr val="000000"/>
                    </a:solidFill>
                    <a:effectLst/>
                    <a:uLnTx/>
                    <a:uFillTx/>
                    <a:latin typeface="Times New Roman" pitchFamily="18" charset="0"/>
                    <a:ea typeface="宋体" charset="-122"/>
                  </a:rPr>
                  <a:t>E</a:t>
                </a:r>
                <a:r>
                  <a:rPr kumimoji="1" lang="en-US" altLang="zh-CN" sz="2000" b="0" i="0" u="none" strike="noStrike" kern="0" cap="none" spc="0" normalizeH="0" baseline="-25000" noProof="0" smtClean="0">
                    <a:ln>
                      <a:noFill/>
                    </a:ln>
                    <a:solidFill>
                      <a:srgbClr val="000000"/>
                    </a:solidFill>
                    <a:effectLst/>
                    <a:uLnTx/>
                    <a:uFillTx/>
                    <a:latin typeface="Times New Roman" pitchFamily="18" charset="0"/>
                    <a:ea typeface="宋体" charset="-122"/>
                  </a:rPr>
                  <a:t>C</a:t>
                </a:r>
              </a:p>
            </p:txBody>
          </p:sp>
          <p:sp>
            <p:nvSpPr>
              <p:cNvPr id="9" name="Text Box 15"/>
              <p:cNvSpPr txBox="1">
                <a:spLocks noChangeArrowheads="1"/>
              </p:cNvSpPr>
              <p:nvPr/>
            </p:nvSpPr>
            <p:spPr bwMode="auto">
              <a:xfrm>
                <a:off x="1920" y="2675"/>
                <a:ext cx="336" cy="287"/>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0" i="0" u="none" strike="noStrike" kern="0" cap="none" spc="0" normalizeH="0" baseline="0" noProof="0" smtClean="0">
                    <a:ln>
                      <a:noFill/>
                    </a:ln>
                    <a:solidFill>
                      <a:srgbClr val="000000"/>
                    </a:solidFill>
                    <a:effectLst/>
                    <a:uLnTx/>
                    <a:uFillTx/>
                    <a:latin typeface="Times New Roman" pitchFamily="18" charset="0"/>
                    <a:ea typeface="宋体" charset="-122"/>
                  </a:rPr>
                  <a:t>E</a:t>
                </a:r>
                <a:r>
                  <a:rPr kumimoji="1" lang="en-US" altLang="zh-CN" sz="2000" b="0" i="0" u="none" strike="noStrike" kern="0" cap="none" spc="0" normalizeH="0" baseline="-25000" noProof="0" smtClean="0">
                    <a:ln>
                      <a:noFill/>
                    </a:ln>
                    <a:solidFill>
                      <a:srgbClr val="000000"/>
                    </a:solidFill>
                    <a:effectLst/>
                    <a:uLnTx/>
                    <a:uFillTx/>
                    <a:latin typeface="Times New Roman" pitchFamily="18" charset="0"/>
                    <a:ea typeface="宋体" charset="-122"/>
                  </a:rPr>
                  <a:t>V</a:t>
                </a:r>
              </a:p>
            </p:txBody>
          </p:sp>
          <p:sp>
            <p:nvSpPr>
              <p:cNvPr id="10" name="Text Box 16"/>
              <p:cNvSpPr txBox="1">
                <a:spLocks noChangeArrowheads="1"/>
              </p:cNvSpPr>
              <p:nvPr/>
            </p:nvSpPr>
            <p:spPr bwMode="auto">
              <a:xfrm>
                <a:off x="4560" y="2003"/>
                <a:ext cx="336" cy="287"/>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0" i="0" u="none" strike="noStrike" kern="0" cap="none" spc="0" normalizeH="0" baseline="0" noProof="0" smtClean="0">
                    <a:ln>
                      <a:noFill/>
                    </a:ln>
                    <a:solidFill>
                      <a:srgbClr val="000000"/>
                    </a:solidFill>
                    <a:effectLst/>
                    <a:uLnTx/>
                    <a:uFillTx/>
                    <a:latin typeface="Times New Roman" pitchFamily="18" charset="0"/>
                    <a:ea typeface="宋体" charset="-122"/>
                  </a:rPr>
                  <a:t>E</a:t>
                </a:r>
                <a:r>
                  <a:rPr kumimoji="1" lang="en-US" altLang="zh-CN" sz="2000" b="0" i="0" u="none" strike="noStrike" kern="0" cap="none" spc="0" normalizeH="0" baseline="-25000" noProof="0" smtClean="0">
                    <a:ln>
                      <a:noFill/>
                    </a:ln>
                    <a:solidFill>
                      <a:srgbClr val="000000"/>
                    </a:solidFill>
                    <a:effectLst/>
                    <a:uLnTx/>
                    <a:uFillTx/>
                    <a:latin typeface="Times New Roman" pitchFamily="18" charset="0"/>
                    <a:ea typeface="宋体" charset="-122"/>
                  </a:rPr>
                  <a:t>C</a:t>
                </a:r>
              </a:p>
            </p:txBody>
          </p:sp>
          <p:sp>
            <p:nvSpPr>
              <p:cNvPr id="11" name="Text Box 17"/>
              <p:cNvSpPr txBox="1">
                <a:spLocks noChangeArrowheads="1"/>
              </p:cNvSpPr>
              <p:nvPr/>
            </p:nvSpPr>
            <p:spPr bwMode="auto">
              <a:xfrm>
                <a:off x="4560" y="2723"/>
                <a:ext cx="336" cy="287"/>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0" i="0" u="none" strike="noStrike" kern="0" cap="none" spc="0" normalizeH="0" baseline="0" noProof="0" smtClean="0">
                    <a:ln>
                      <a:noFill/>
                    </a:ln>
                    <a:solidFill>
                      <a:srgbClr val="000000"/>
                    </a:solidFill>
                    <a:effectLst/>
                    <a:uLnTx/>
                    <a:uFillTx/>
                    <a:latin typeface="Times New Roman" pitchFamily="18" charset="0"/>
                    <a:ea typeface="宋体" charset="-122"/>
                  </a:rPr>
                  <a:t>E</a:t>
                </a:r>
                <a:r>
                  <a:rPr kumimoji="1" lang="en-US" altLang="zh-CN" sz="2000" b="0" i="0" u="none" strike="noStrike" kern="0" cap="none" spc="0" normalizeH="0" baseline="-25000" noProof="0" smtClean="0">
                    <a:ln>
                      <a:noFill/>
                    </a:ln>
                    <a:solidFill>
                      <a:srgbClr val="000000"/>
                    </a:solidFill>
                    <a:effectLst/>
                    <a:uLnTx/>
                    <a:uFillTx/>
                    <a:latin typeface="Times New Roman" pitchFamily="18" charset="0"/>
                    <a:ea typeface="宋体" charset="-122"/>
                  </a:rPr>
                  <a:t>V</a:t>
                </a:r>
              </a:p>
            </p:txBody>
          </p:sp>
          <p:sp>
            <p:nvSpPr>
              <p:cNvPr id="12" name="Text Box 18"/>
              <p:cNvSpPr txBox="1">
                <a:spLocks noChangeArrowheads="1"/>
              </p:cNvSpPr>
              <p:nvPr/>
            </p:nvSpPr>
            <p:spPr bwMode="auto">
              <a:xfrm>
                <a:off x="1968" y="2339"/>
                <a:ext cx="336" cy="287"/>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0" i="0" u="none" strike="noStrike" kern="0" cap="none" spc="0" normalizeH="0" baseline="0" noProof="0" smtClean="0">
                    <a:ln>
                      <a:noFill/>
                    </a:ln>
                    <a:solidFill>
                      <a:srgbClr val="000000"/>
                    </a:solidFill>
                    <a:effectLst/>
                    <a:uLnTx/>
                    <a:uFillTx/>
                    <a:latin typeface="Times New Roman" pitchFamily="18" charset="0"/>
                    <a:ea typeface="宋体" charset="-122"/>
                  </a:rPr>
                  <a:t>E</a:t>
                </a:r>
                <a:r>
                  <a:rPr kumimoji="1" lang="en-US" altLang="zh-CN" sz="2000" b="0" i="0" u="none" strike="noStrike" kern="0" cap="none" spc="0" normalizeH="0" baseline="-25000" noProof="0" smtClean="0">
                    <a:ln>
                      <a:noFill/>
                    </a:ln>
                    <a:solidFill>
                      <a:srgbClr val="000000"/>
                    </a:solidFill>
                    <a:effectLst/>
                    <a:uLnTx/>
                    <a:uFillTx/>
                    <a:latin typeface="Times New Roman" pitchFamily="18" charset="0"/>
                    <a:ea typeface="宋体" charset="-122"/>
                  </a:rPr>
                  <a:t>T</a:t>
                </a:r>
              </a:p>
            </p:txBody>
          </p:sp>
          <p:sp>
            <p:nvSpPr>
              <p:cNvPr id="13" name="Text Box 19"/>
              <p:cNvSpPr txBox="1">
                <a:spLocks noChangeArrowheads="1"/>
              </p:cNvSpPr>
              <p:nvPr/>
            </p:nvSpPr>
            <p:spPr bwMode="auto">
              <a:xfrm>
                <a:off x="4608" y="2339"/>
                <a:ext cx="336" cy="287"/>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0" i="0" u="none" strike="noStrike" kern="0" cap="none" spc="0" normalizeH="0" baseline="0" noProof="0" smtClean="0">
                    <a:ln>
                      <a:noFill/>
                    </a:ln>
                    <a:solidFill>
                      <a:srgbClr val="000000"/>
                    </a:solidFill>
                    <a:effectLst/>
                    <a:uLnTx/>
                    <a:uFillTx/>
                    <a:latin typeface="Times New Roman" pitchFamily="18" charset="0"/>
                    <a:ea typeface="宋体" charset="-122"/>
                  </a:rPr>
                  <a:t>E</a:t>
                </a:r>
                <a:r>
                  <a:rPr kumimoji="1" lang="en-US" altLang="zh-CN" sz="2000" b="0" i="0" u="none" strike="noStrike" kern="0" cap="none" spc="0" normalizeH="0" baseline="-25000" noProof="0" smtClean="0">
                    <a:ln>
                      <a:noFill/>
                    </a:ln>
                    <a:solidFill>
                      <a:srgbClr val="000000"/>
                    </a:solidFill>
                    <a:effectLst/>
                    <a:uLnTx/>
                    <a:uFillTx/>
                    <a:latin typeface="Times New Roman" pitchFamily="18" charset="0"/>
                    <a:ea typeface="宋体" charset="-122"/>
                  </a:rPr>
                  <a:t>T</a:t>
                </a:r>
              </a:p>
            </p:txBody>
          </p:sp>
        </p:grpSp>
        <p:sp>
          <p:nvSpPr>
            <p:cNvPr id="6" name="Text Box 11"/>
            <p:cNvSpPr txBox="1">
              <a:spLocks noChangeArrowheads="1"/>
            </p:cNvSpPr>
            <p:nvPr/>
          </p:nvSpPr>
          <p:spPr bwMode="auto">
            <a:xfrm>
              <a:off x="2042" y="3339"/>
              <a:ext cx="1539" cy="288"/>
            </a:xfrm>
            <a:prstGeom prst="rect">
              <a:avLst/>
            </a:prstGeom>
            <a:noFill/>
            <a:ln w="12700" cap="sq">
              <a:noFill/>
              <a:miter lim="800000"/>
              <a:headEnd type="none" w="sm" len="sm"/>
              <a:tailEnd type="none" w="sm" len="sm"/>
            </a:ln>
          </p:spPr>
          <p:txBody>
            <a:bodyPr>
              <a:spAutoFit/>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charset="-122"/>
                </a:rPr>
                <a:t>间接复合的方式</a:t>
              </a:r>
            </a:p>
          </p:txBody>
        </p:sp>
      </p:grpSp>
      <p:sp>
        <p:nvSpPr>
          <p:cNvPr id="14" name="TextBox 20"/>
          <p:cNvSpPr txBox="1"/>
          <p:nvPr/>
        </p:nvSpPr>
        <p:spPr bwMode="auto">
          <a:xfrm>
            <a:off x="881590" y="5832813"/>
            <a:ext cx="7785865" cy="461665"/>
          </a:xfrm>
          <a:prstGeom prst="rect">
            <a:avLst/>
          </a:prstGeom>
          <a:noFill/>
          <a:ln w="12700" cap="sq">
            <a:noFill/>
            <a:miter lim="800000"/>
            <a:headEnd type="none" w="sm" len="sm"/>
            <a:tailEnd type="none" w="sm" len="sm"/>
          </a:ln>
          <a:effectLst/>
        </p:spPr>
        <p:txBody>
          <a:bodyPr wrap="square" rtlCol="0">
            <a:spAutoFit/>
          </a:bodyPr>
          <a:lstStyle/>
          <a:p>
            <a:pPr defTabSz="914400" fontAlgn="base">
              <a:spcBef>
                <a:spcPct val="50000"/>
              </a:spcBef>
              <a:spcAft>
                <a:spcPct val="0"/>
              </a:spcAft>
            </a:pPr>
            <a:r>
              <a:rPr kumimoji="1" lang="zh-CN" altLang="en-US" sz="2400" b="1" dirty="0" smtClean="0">
                <a:solidFill>
                  <a:srgbClr val="FF6600"/>
                </a:solidFill>
                <a:effectLst>
                  <a:outerShdw blurRad="38100" dist="38100" dir="2700000" algn="tl">
                    <a:srgbClr val="C0C0C0"/>
                  </a:outerShdw>
                </a:effectLst>
                <a:latin typeface="Times New Roman" pitchFamily="18" charset="0"/>
                <a:ea typeface="宋体" charset="-122"/>
              </a:rPr>
              <a:t>间接复合的微观过程比较复杂，通常包括</a:t>
            </a:r>
            <a:r>
              <a:rPr kumimoji="1" lang="en-US" altLang="zh-CN" sz="2400" b="1" dirty="0" smtClean="0">
                <a:solidFill>
                  <a:srgbClr val="FF6600"/>
                </a:solidFill>
                <a:effectLst>
                  <a:outerShdw blurRad="38100" dist="38100" dir="2700000" algn="tl">
                    <a:srgbClr val="C0C0C0"/>
                  </a:outerShdw>
                </a:effectLst>
                <a:latin typeface="Times New Roman" pitchFamily="18" charset="0"/>
                <a:ea typeface="宋体" charset="-122"/>
              </a:rPr>
              <a:t>4</a:t>
            </a:r>
            <a:r>
              <a:rPr kumimoji="1" lang="zh-CN" altLang="en-US" sz="2400" b="1" dirty="0" smtClean="0">
                <a:solidFill>
                  <a:srgbClr val="FF6600"/>
                </a:solidFill>
                <a:effectLst>
                  <a:outerShdw blurRad="38100" dist="38100" dir="2700000" algn="tl">
                    <a:srgbClr val="C0C0C0"/>
                  </a:outerShdw>
                </a:effectLst>
                <a:latin typeface="Times New Roman" pitchFamily="18" charset="0"/>
                <a:ea typeface="宋体" charset="-122"/>
              </a:rPr>
              <a:t>个过程。</a:t>
            </a:r>
            <a:endParaRPr kumimoji="1" lang="zh-CN" altLang="en-US" sz="2400" b="1" dirty="0">
              <a:solidFill>
                <a:srgbClr val="FF6600"/>
              </a:solidFill>
              <a:effectLst>
                <a:outerShdw blurRad="38100" dist="38100" dir="2700000" algn="tl">
                  <a:srgbClr val="C0C0C0"/>
                </a:outerShdw>
              </a:effectLst>
              <a:latin typeface="Times New Roman" pitchFamily="18" charset="0"/>
              <a:ea typeface="宋体" charset="-122"/>
            </a:endParaRPr>
          </a:p>
        </p:txBody>
      </p:sp>
      <p:sp>
        <p:nvSpPr>
          <p:cNvPr id="15" name="Text Box 3"/>
          <p:cNvSpPr txBox="1">
            <a:spLocks noChangeArrowheads="1"/>
          </p:cNvSpPr>
          <p:nvPr/>
        </p:nvSpPr>
        <p:spPr bwMode="auto">
          <a:xfrm>
            <a:off x="503702" y="404701"/>
            <a:ext cx="3222161"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间接复合</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Tree>
    <p:extLst>
      <p:ext uri="{BB962C8B-B14F-4D97-AF65-F5344CB8AC3E}">
        <p14:creationId xmlns:p14="http://schemas.microsoft.com/office/powerpoint/2010/main" val="2075709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23</a:t>
            </a:fld>
            <a:endParaRPr lang="zh-CN" altLang="en-US"/>
          </a:p>
        </p:txBody>
      </p:sp>
      <p:pic>
        <p:nvPicPr>
          <p:cNvPr id="3" name="Picture 12"/>
          <p:cNvPicPr>
            <a:picLocks noChangeAspect="1" noChangeArrowheads="1"/>
          </p:cNvPicPr>
          <p:nvPr/>
        </p:nvPicPr>
        <p:blipFill>
          <a:blip r:embed="rId2" cstate="print"/>
          <a:srcRect/>
          <a:stretch>
            <a:fillRect/>
          </a:stretch>
        </p:blipFill>
        <p:spPr bwMode="auto">
          <a:xfrm>
            <a:off x="929610" y="2633407"/>
            <a:ext cx="7129462" cy="3600450"/>
          </a:xfrm>
          <a:prstGeom prst="rect">
            <a:avLst/>
          </a:prstGeom>
          <a:noFill/>
          <a:ln w="9525">
            <a:noFill/>
            <a:miter lim="800000"/>
            <a:headEnd/>
            <a:tailEnd/>
          </a:ln>
        </p:spPr>
      </p:pic>
      <p:sp>
        <p:nvSpPr>
          <p:cNvPr id="4" name="Text Box 13"/>
          <p:cNvSpPr txBox="1">
            <a:spLocks noChangeArrowheads="1"/>
          </p:cNvSpPr>
          <p:nvPr/>
        </p:nvSpPr>
        <p:spPr bwMode="auto">
          <a:xfrm>
            <a:off x="6447760" y="4073270"/>
            <a:ext cx="1752600" cy="396875"/>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smtClean="0">
                <a:ln>
                  <a:noFill/>
                </a:ln>
                <a:solidFill>
                  <a:srgbClr val="000000"/>
                </a:solidFill>
                <a:effectLst/>
                <a:uLnTx/>
                <a:uFillTx/>
                <a:latin typeface="Times New Roman" pitchFamily="18" charset="0"/>
                <a:ea typeface="宋体" charset="-122"/>
              </a:rPr>
              <a:t>禁带中央 </a:t>
            </a:r>
            <a:r>
              <a:rPr kumimoji="1" lang="en-US" altLang="zh-CN" sz="2000" b="1" i="1" u="none" strike="noStrike" kern="0" cap="none" spc="0" normalizeH="0" baseline="0" noProof="0" smtClean="0">
                <a:ln>
                  <a:noFill/>
                </a:ln>
                <a:solidFill>
                  <a:srgbClr val="000000"/>
                </a:solidFill>
                <a:effectLst/>
                <a:uLnTx/>
                <a:uFillTx/>
                <a:latin typeface="Times New Roman" pitchFamily="18" charset="0"/>
                <a:ea typeface="宋体" charset="-122"/>
              </a:rPr>
              <a:t>E</a:t>
            </a:r>
            <a:r>
              <a:rPr kumimoji="1" lang="en-US" altLang="zh-CN" sz="2000" b="1" i="1" u="none" strike="noStrike" kern="0" cap="none" spc="0" normalizeH="0" baseline="-25000" noProof="0" smtClean="0">
                <a:ln>
                  <a:noFill/>
                </a:ln>
                <a:solidFill>
                  <a:srgbClr val="000000"/>
                </a:solidFill>
                <a:effectLst/>
                <a:uLnTx/>
                <a:uFillTx/>
                <a:latin typeface="Times New Roman" pitchFamily="18" charset="0"/>
                <a:ea typeface="宋体" charset="-122"/>
              </a:rPr>
              <a:t>i</a:t>
            </a:r>
          </a:p>
        </p:txBody>
      </p:sp>
      <p:sp>
        <p:nvSpPr>
          <p:cNvPr id="5" name="Text Box 9"/>
          <p:cNvSpPr txBox="1">
            <a:spLocks noChangeArrowheads="1"/>
          </p:cNvSpPr>
          <p:nvPr/>
        </p:nvSpPr>
        <p:spPr bwMode="auto">
          <a:xfrm>
            <a:off x="569247" y="1076070"/>
            <a:ext cx="8064500" cy="1532727"/>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30000"/>
              </a:lnSpc>
              <a:spcBef>
                <a:spcPct val="0"/>
              </a:spcBef>
              <a:spcAft>
                <a:spcPct val="0"/>
              </a:spcAft>
              <a:buFont typeface="Wingdings" pitchFamily="2" charset="2"/>
              <a:buChar char="q"/>
            </a:pPr>
            <a:r>
              <a:rPr kumimoji="1" lang="zh-CN" altLang="en-US" sz="2400" b="1" dirty="0">
                <a:solidFill>
                  <a:srgbClr val="000000"/>
                </a:solidFill>
                <a:latin typeface="Times New Roman" pitchFamily="18" charset="0"/>
                <a:ea typeface="宋体" charset="-122"/>
              </a:rPr>
              <a:t>一般在禁带中央附近的深能级态才能起到</a:t>
            </a:r>
            <a:r>
              <a:rPr kumimoji="1" lang="zh-CN" altLang="en-US" sz="2400" b="1" dirty="0">
                <a:solidFill>
                  <a:srgbClr val="000099"/>
                </a:solidFill>
                <a:latin typeface="Times New Roman" pitchFamily="18" charset="0"/>
                <a:ea typeface="宋体" charset="-122"/>
              </a:rPr>
              <a:t>有效的复合中心</a:t>
            </a:r>
            <a:r>
              <a:rPr kumimoji="1" lang="zh-CN" altLang="en-US" sz="2400" b="1" dirty="0">
                <a:solidFill>
                  <a:srgbClr val="000000"/>
                </a:solidFill>
                <a:latin typeface="Times New Roman" pitchFamily="18" charset="0"/>
                <a:ea typeface="宋体" charset="-122"/>
              </a:rPr>
              <a:t>作用（如果靠近导带或价带，则起掺杂</a:t>
            </a:r>
            <a:r>
              <a:rPr kumimoji="1" lang="zh-CN" altLang="en-US" sz="2400" b="1" dirty="0" smtClean="0">
                <a:solidFill>
                  <a:srgbClr val="000000"/>
                </a:solidFill>
                <a:latin typeface="Times New Roman" pitchFamily="18" charset="0"/>
                <a:ea typeface="宋体" charset="-122"/>
              </a:rPr>
              <a:t>作用）。</a:t>
            </a:r>
            <a:r>
              <a:rPr kumimoji="1" lang="zh-CN" altLang="en-US" sz="2400" b="1" dirty="0">
                <a:solidFill>
                  <a:srgbClr val="000000"/>
                </a:solidFill>
                <a:latin typeface="Times New Roman" pitchFamily="18" charset="0"/>
                <a:ea typeface="宋体" charset="-122"/>
              </a:rPr>
              <a:t>后面我们将</a:t>
            </a:r>
            <a:r>
              <a:rPr kumimoji="1" lang="zh-CN" altLang="en-US" sz="2400" b="1" dirty="0" smtClean="0">
                <a:solidFill>
                  <a:srgbClr val="000000"/>
                </a:solidFill>
                <a:latin typeface="Times New Roman" pitchFamily="18" charset="0"/>
                <a:ea typeface="宋体" charset="-122"/>
              </a:rPr>
              <a:t>通过</a:t>
            </a:r>
            <a:r>
              <a:rPr kumimoji="1" lang="en-US" altLang="zh-CN" sz="2400" b="1" dirty="0" smtClean="0">
                <a:solidFill>
                  <a:srgbClr val="000000"/>
                </a:solidFill>
                <a:latin typeface="Times New Roman" pitchFamily="18" charset="0"/>
                <a:ea typeface="宋体" charset="-122"/>
              </a:rPr>
              <a:t>SRH</a:t>
            </a:r>
            <a:r>
              <a:rPr kumimoji="1" lang="zh-CN" altLang="en-US" sz="2400" b="1" dirty="0" smtClean="0">
                <a:solidFill>
                  <a:srgbClr val="000000"/>
                </a:solidFill>
                <a:latin typeface="Times New Roman" pitchFamily="18" charset="0"/>
                <a:ea typeface="宋体" charset="-122"/>
              </a:rPr>
              <a:t>理论分析</a:t>
            </a:r>
            <a:r>
              <a:rPr kumimoji="1" lang="zh-CN" altLang="en-US" sz="2400" b="1" dirty="0">
                <a:solidFill>
                  <a:srgbClr val="000000"/>
                </a:solidFill>
                <a:latin typeface="Times New Roman" pitchFamily="18" charset="0"/>
                <a:ea typeface="宋体" charset="-122"/>
              </a:rPr>
              <a:t>说明这一点。</a:t>
            </a:r>
          </a:p>
        </p:txBody>
      </p:sp>
    </p:spTree>
    <p:extLst>
      <p:ext uri="{BB962C8B-B14F-4D97-AF65-F5344CB8AC3E}">
        <p14:creationId xmlns:p14="http://schemas.microsoft.com/office/powerpoint/2010/main" val="2739919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24</a:t>
            </a:fld>
            <a:endParaRPr lang="zh-CN" altLang="en-US"/>
          </a:p>
        </p:txBody>
      </p:sp>
      <p:sp>
        <p:nvSpPr>
          <p:cNvPr id="3" name="Rectangle 10"/>
          <p:cNvSpPr>
            <a:spLocks noChangeArrowheads="1"/>
          </p:cNvSpPr>
          <p:nvPr/>
        </p:nvSpPr>
        <p:spPr bwMode="auto">
          <a:xfrm>
            <a:off x="392266" y="859760"/>
            <a:ext cx="8262938" cy="895350"/>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en-US" altLang="zh-CN" sz="2400" b="1" dirty="0">
                <a:solidFill>
                  <a:srgbClr val="000000"/>
                </a:solidFill>
                <a:latin typeface="Times New Roman" pitchFamily="18" charset="0"/>
                <a:ea typeface="宋体" charset="-122"/>
              </a:rPr>
              <a:t> </a:t>
            </a:r>
            <a:r>
              <a:rPr kumimoji="1" lang="zh-CN" altLang="en-US" sz="2400" b="1" dirty="0">
                <a:solidFill>
                  <a:srgbClr val="000000"/>
                </a:solidFill>
                <a:latin typeface="Times New Roman" pitchFamily="18" charset="0"/>
                <a:ea typeface="宋体" charset="-122"/>
              </a:rPr>
              <a:t>假设存在复合中心</a:t>
            </a:r>
            <a:r>
              <a:rPr kumimoji="1" lang="en-US" altLang="zh-CN" sz="2400" b="1" i="1" dirty="0">
                <a:solidFill>
                  <a:srgbClr val="000000"/>
                </a:solidFill>
                <a:latin typeface="Times New Roman" pitchFamily="18" charset="0"/>
                <a:ea typeface="宋体" charset="-122"/>
              </a:rPr>
              <a:t>E</a:t>
            </a:r>
            <a:r>
              <a:rPr kumimoji="1" lang="en-US" altLang="zh-CN" sz="2400" b="1" i="1" baseline="-25000" dirty="0">
                <a:solidFill>
                  <a:srgbClr val="000000"/>
                </a:solidFill>
                <a:latin typeface="Times New Roman" pitchFamily="18" charset="0"/>
                <a:ea typeface="宋体" charset="-122"/>
              </a:rPr>
              <a:t>t</a:t>
            </a:r>
            <a:r>
              <a:rPr kumimoji="1" lang="zh-CN" altLang="en-US" sz="2400" b="1" dirty="0">
                <a:solidFill>
                  <a:srgbClr val="000000"/>
                </a:solidFill>
                <a:latin typeface="Times New Roman" pitchFamily="18" charset="0"/>
                <a:ea typeface="宋体" charset="-122"/>
              </a:rPr>
              <a:t>，则在间接复合过程</a:t>
            </a:r>
            <a:r>
              <a:rPr kumimoji="1" lang="zh-CN" altLang="en-US" sz="2400" b="1" dirty="0" smtClean="0">
                <a:solidFill>
                  <a:srgbClr val="000000"/>
                </a:solidFill>
                <a:latin typeface="Times New Roman" pitchFamily="18" charset="0"/>
                <a:ea typeface="宋体" charset="-122"/>
              </a:rPr>
              <a:t>中关联的</a:t>
            </a:r>
            <a:r>
              <a:rPr kumimoji="1" lang="en-US" altLang="zh-CN" sz="2400" b="1" dirty="0" smtClean="0">
                <a:solidFill>
                  <a:srgbClr val="000000"/>
                </a:solidFill>
                <a:latin typeface="Times New Roman" pitchFamily="18" charset="0"/>
                <a:ea typeface="宋体" charset="-122"/>
              </a:rPr>
              <a:t>4</a:t>
            </a:r>
            <a:r>
              <a:rPr kumimoji="1" lang="zh-CN" altLang="en-US" sz="2400" b="1" dirty="0">
                <a:solidFill>
                  <a:srgbClr val="000000"/>
                </a:solidFill>
                <a:latin typeface="Times New Roman" pitchFamily="18" charset="0"/>
                <a:ea typeface="宋体" charset="-122"/>
              </a:rPr>
              <a:t>个微观</a:t>
            </a:r>
            <a:r>
              <a:rPr kumimoji="1" lang="zh-CN" altLang="en-US" sz="2400" b="1" dirty="0" smtClean="0">
                <a:solidFill>
                  <a:srgbClr val="000000"/>
                </a:solidFill>
                <a:latin typeface="Times New Roman" pitchFamily="18" charset="0"/>
                <a:ea typeface="宋体" charset="-122"/>
              </a:rPr>
              <a:t>过程包括：</a:t>
            </a:r>
            <a:endParaRPr kumimoji="1" lang="zh-CN" altLang="en-US" sz="2400" b="1" dirty="0">
              <a:solidFill>
                <a:srgbClr val="000000"/>
              </a:solidFill>
              <a:latin typeface="Times New Roman" pitchFamily="18" charset="0"/>
              <a:ea typeface="宋体" charset="-122"/>
            </a:endParaRPr>
          </a:p>
        </p:txBody>
      </p:sp>
      <p:sp>
        <p:nvSpPr>
          <p:cNvPr id="4" name="Text Box 12"/>
          <p:cNvSpPr txBox="1">
            <a:spLocks noChangeArrowheads="1"/>
          </p:cNvSpPr>
          <p:nvPr/>
        </p:nvSpPr>
        <p:spPr bwMode="auto">
          <a:xfrm>
            <a:off x="176366" y="1851947"/>
            <a:ext cx="4427538" cy="3292475"/>
          </a:xfrm>
          <a:prstGeom prst="rect">
            <a:avLst/>
          </a:prstGeom>
          <a:noFill/>
          <a:ln w="38100" cap="sq">
            <a:noFill/>
            <a:miter lim="800000"/>
            <a:headEnd type="none" w="sm" len="sm"/>
            <a:tailEnd type="none" w="sm" len="sm"/>
          </a:ln>
        </p:spPr>
        <p:txBody>
          <a:bodyPr>
            <a:spAutoFit/>
          </a:bodyPr>
          <a:lstStyle/>
          <a:p>
            <a:pPr marL="341313" indent="-341313" defTabSz="914400" eaLnBrk="0" fontAlgn="base" hangingPunct="0">
              <a:lnSpc>
                <a:spcPct val="110000"/>
              </a:lnSpc>
              <a:spcBef>
                <a:spcPts val="1000"/>
              </a:spcBef>
              <a:spcAft>
                <a:spcPct val="0"/>
              </a:spcAft>
              <a:buFontTx/>
              <a:buChar char="•"/>
            </a:pPr>
            <a:r>
              <a:rPr kumimoji="1" lang="zh-CN" altLang="en-US" sz="2200" b="1" dirty="0">
                <a:solidFill>
                  <a:srgbClr val="000099"/>
                </a:solidFill>
                <a:latin typeface="Times New Roman" pitchFamily="18" charset="0"/>
                <a:ea typeface="宋体" charset="-122"/>
              </a:rPr>
              <a:t>过程</a:t>
            </a:r>
            <a:r>
              <a:rPr kumimoji="1" lang="en-US" altLang="zh-CN" sz="2200" b="1" dirty="0" smtClean="0">
                <a:solidFill>
                  <a:srgbClr val="000099"/>
                </a:solidFill>
                <a:latin typeface="Times New Roman" pitchFamily="18" charset="0"/>
                <a:ea typeface="宋体" charset="-122"/>
              </a:rPr>
              <a:t>1-</a:t>
            </a:r>
            <a:r>
              <a:rPr kumimoji="1" lang="zh-CN" altLang="en-US" sz="2200" b="1" dirty="0" smtClean="0">
                <a:solidFill>
                  <a:srgbClr val="000000"/>
                </a:solidFill>
                <a:latin typeface="Times New Roman" pitchFamily="18" charset="0"/>
                <a:ea typeface="宋体" charset="-122"/>
              </a:rPr>
              <a:t>电子</a:t>
            </a:r>
            <a:r>
              <a:rPr kumimoji="1" lang="zh-CN" altLang="en-US" sz="2200" b="1" dirty="0">
                <a:solidFill>
                  <a:srgbClr val="000000"/>
                </a:solidFill>
                <a:latin typeface="Times New Roman" pitchFamily="18" charset="0"/>
                <a:ea typeface="宋体" charset="-122"/>
              </a:rPr>
              <a:t>的</a:t>
            </a:r>
            <a:r>
              <a:rPr kumimoji="1" lang="zh-CN" altLang="en-US" sz="2200" b="1" dirty="0" smtClean="0">
                <a:solidFill>
                  <a:srgbClr val="000000"/>
                </a:solidFill>
                <a:latin typeface="Times New Roman" pitchFamily="18" charset="0"/>
                <a:ea typeface="宋体" charset="-122"/>
              </a:rPr>
              <a:t>俘获：导带</a:t>
            </a:r>
            <a:r>
              <a:rPr kumimoji="1" lang="zh-CN" altLang="en-US" sz="2200" b="1" dirty="0">
                <a:solidFill>
                  <a:srgbClr val="000000"/>
                </a:solidFill>
                <a:latin typeface="Times New Roman" pitchFamily="18" charset="0"/>
                <a:ea typeface="宋体" charset="-122"/>
              </a:rPr>
              <a:t>电子跃迁到复合中心电子空位上；</a:t>
            </a:r>
          </a:p>
          <a:p>
            <a:pPr marL="341313" indent="-341313" defTabSz="914400" eaLnBrk="0" fontAlgn="base" hangingPunct="0">
              <a:lnSpc>
                <a:spcPct val="110000"/>
              </a:lnSpc>
              <a:spcBef>
                <a:spcPts val="1000"/>
              </a:spcBef>
              <a:spcAft>
                <a:spcPct val="0"/>
              </a:spcAft>
              <a:buFontTx/>
              <a:buChar char="•"/>
            </a:pPr>
            <a:r>
              <a:rPr kumimoji="1" lang="zh-CN" altLang="en-US" sz="2200" b="1" dirty="0">
                <a:solidFill>
                  <a:srgbClr val="000099"/>
                </a:solidFill>
                <a:latin typeface="Times New Roman" pitchFamily="18" charset="0"/>
                <a:ea typeface="宋体" charset="-122"/>
              </a:rPr>
              <a:t>过程</a:t>
            </a:r>
            <a:r>
              <a:rPr kumimoji="1" lang="en-US" altLang="zh-CN" sz="2200" b="1" dirty="0" smtClean="0">
                <a:solidFill>
                  <a:srgbClr val="000099"/>
                </a:solidFill>
                <a:latin typeface="Times New Roman" pitchFamily="18" charset="0"/>
                <a:ea typeface="宋体" charset="-122"/>
              </a:rPr>
              <a:t>2-</a:t>
            </a:r>
            <a:r>
              <a:rPr kumimoji="1" lang="zh-CN" altLang="en-US" sz="2200" b="1" dirty="0" smtClean="0">
                <a:solidFill>
                  <a:srgbClr val="000000"/>
                </a:solidFill>
                <a:latin typeface="Times New Roman" pitchFamily="18" charset="0"/>
                <a:ea typeface="宋体" charset="-122"/>
              </a:rPr>
              <a:t>电子</a:t>
            </a:r>
            <a:r>
              <a:rPr kumimoji="1" lang="zh-CN" altLang="en-US" sz="2200" b="1" dirty="0">
                <a:solidFill>
                  <a:srgbClr val="000000"/>
                </a:solidFill>
                <a:latin typeface="Times New Roman" pitchFamily="18" charset="0"/>
                <a:ea typeface="宋体" charset="-122"/>
              </a:rPr>
              <a:t>的</a:t>
            </a:r>
            <a:r>
              <a:rPr kumimoji="1" lang="zh-CN" altLang="en-US" sz="2200" b="1" dirty="0" smtClean="0">
                <a:solidFill>
                  <a:srgbClr val="000000"/>
                </a:solidFill>
                <a:latin typeface="Times New Roman" pitchFamily="18" charset="0"/>
                <a:ea typeface="宋体" charset="-122"/>
              </a:rPr>
              <a:t>发射：复合</a:t>
            </a:r>
            <a:r>
              <a:rPr kumimoji="1" lang="zh-CN" altLang="en-US" sz="2200" b="1" dirty="0">
                <a:solidFill>
                  <a:srgbClr val="000000"/>
                </a:solidFill>
                <a:latin typeface="Times New Roman" pitchFamily="18" charset="0"/>
                <a:ea typeface="宋体" charset="-122"/>
              </a:rPr>
              <a:t>中心的电子跃迁到导带；</a:t>
            </a:r>
          </a:p>
          <a:p>
            <a:pPr marL="341313" indent="-341313" defTabSz="914400" eaLnBrk="0" fontAlgn="base" hangingPunct="0">
              <a:lnSpc>
                <a:spcPct val="110000"/>
              </a:lnSpc>
              <a:spcBef>
                <a:spcPts val="1000"/>
              </a:spcBef>
              <a:spcAft>
                <a:spcPct val="0"/>
              </a:spcAft>
              <a:buFontTx/>
              <a:buChar char="•"/>
            </a:pPr>
            <a:r>
              <a:rPr kumimoji="1" lang="zh-CN" altLang="en-US" sz="2200" b="1" dirty="0">
                <a:solidFill>
                  <a:srgbClr val="000099"/>
                </a:solidFill>
                <a:latin typeface="Times New Roman" pitchFamily="18" charset="0"/>
                <a:ea typeface="宋体" charset="-122"/>
              </a:rPr>
              <a:t>过程</a:t>
            </a:r>
            <a:r>
              <a:rPr kumimoji="1" lang="en-US" altLang="zh-CN" sz="2200" b="1" dirty="0" smtClean="0">
                <a:solidFill>
                  <a:srgbClr val="000099"/>
                </a:solidFill>
                <a:latin typeface="Times New Roman" pitchFamily="18" charset="0"/>
                <a:ea typeface="宋体" charset="-122"/>
              </a:rPr>
              <a:t>3-</a:t>
            </a:r>
            <a:r>
              <a:rPr kumimoji="1" lang="zh-CN" altLang="en-US" sz="2200" b="1" dirty="0" smtClean="0">
                <a:solidFill>
                  <a:srgbClr val="000000"/>
                </a:solidFill>
                <a:latin typeface="Times New Roman" pitchFamily="18" charset="0"/>
                <a:ea typeface="宋体" charset="-122"/>
              </a:rPr>
              <a:t>空穴</a:t>
            </a:r>
            <a:r>
              <a:rPr kumimoji="1" lang="zh-CN" altLang="en-US" sz="2200" b="1" dirty="0">
                <a:solidFill>
                  <a:srgbClr val="000000"/>
                </a:solidFill>
                <a:latin typeface="Times New Roman" pitchFamily="18" charset="0"/>
                <a:ea typeface="宋体" charset="-122"/>
              </a:rPr>
              <a:t>的</a:t>
            </a:r>
            <a:r>
              <a:rPr kumimoji="1" lang="zh-CN" altLang="en-US" sz="2200" b="1" dirty="0" smtClean="0">
                <a:solidFill>
                  <a:srgbClr val="000000"/>
                </a:solidFill>
                <a:latin typeface="Times New Roman" pitchFamily="18" charset="0"/>
                <a:ea typeface="宋体" charset="-122"/>
              </a:rPr>
              <a:t>俘获：复合</a:t>
            </a:r>
            <a:r>
              <a:rPr kumimoji="1" lang="zh-CN" altLang="en-US" sz="2200" b="1" dirty="0">
                <a:solidFill>
                  <a:srgbClr val="000000"/>
                </a:solidFill>
                <a:latin typeface="Times New Roman" pitchFamily="18" charset="0"/>
                <a:ea typeface="宋体" charset="-122"/>
              </a:rPr>
              <a:t>中心的电子跃迁到价带，与价带空穴复合，等价于价带空穴跃迁到复合能级；</a:t>
            </a:r>
          </a:p>
        </p:txBody>
      </p:sp>
      <p:pic>
        <p:nvPicPr>
          <p:cNvPr id="5" name="Picture 13"/>
          <p:cNvPicPr>
            <a:picLocks noChangeAspect="1" noChangeArrowheads="1"/>
          </p:cNvPicPr>
          <p:nvPr/>
        </p:nvPicPr>
        <p:blipFill>
          <a:blip r:embed="rId2" cstate="print"/>
          <a:srcRect/>
          <a:stretch>
            <a:fillRect/>
          </a:stretch>
        </p:blipFill>
        <p:spPr bwMode="auto">
          <a:xfrm>
            <a:off x="4515004" y="1948785"/>
            <a:ext cx="4356100" cy="2971800"/>
          </a:xfrm>
          <a:prstGeom prst="rect">
            <a:avLst/>
          </a:prstGeom>
          <a:noFill/>
          <a:ln w="9525">
            <a:noFill/>
            <a:miter lim="800000"/>
            <a:headEnd/>
            <a:tailEnd/>
          </a:ln>
        </p:spPr>
      </p:pic>
      <p:sp>
        <p:nvSpPr>
          <p:cNvPr id="6" name="Rectangle 14"/>
          <p:cNvSpPr>
            <a:spLocks noChangeArrowheads="1"/>
          </p:cNvSpPr>
          <p:nvPr/>
        </p:nvSpPr>
        <p:spPr bwMode="auto">
          <a:xfrm>
            <a:off x="176366" y="5260310"/>
            <a:ext cx="8242300" cy="828675"/>
          </a:xfrm>
          <a:prstGeom prst="rect">
            <a:avLst/>
          </a:prstGeom>
          <a:noFill/>
          <a:ln w="9525">
            <a:noFill/>
            <a:miter lim="800000"/>
            <a:headEnd/>
            <a:tailEnd/>
          </a:ln>
        </p:spPr>
        <p:txBody>
          <a:bodyPr>
            <a:spAutoFit/>
          </a:bodyPr>
          <a:lstStyle/>
          <a:p>
            <a:pPr marL="341313" indent="-341313" defTabSz="914400" eaLnBrk="0" fontAlgn="base" hangingPunct="0">
              <a:lnSpc>
                <a:spcPct val="110000"/>
              </a:lnSpc>
              <a:spcBef>
                <a:spcPts val="1000"/>
              </a:spcBef>
              <a:spcAft>
                <a:spcPct val="0"/>
              </a:spcAft>
              <a:buFontTx/>
              <a:buChar char="•"/>
            </a:pPr>
            <a:r>
              <a:rPr kumimoji="1" lang="zh-CN" altLang="en-US" sz="2200" b="1" dirty="0">
                <a:solidFill>
                  <a:srgbClr val="000099"/>
                </a:solidFill>
                <a:latin typeface="Times New Roman" pitchFamily="18" charset="0"/>
                <a:ea typeface="宋体" charset="-122"/>
              </a:rPr>
              <a:t>过程</a:t>
            </a:r>
            <a:r>
              <a:rPr kumimoji="1" lang="en-US" altLang="zh-CN" sz="2200" b="1" dirty="0" smtClean="0">
                <a:solidFill>
                  <a:srgbClr val="000099"/>
                </a:solidFill>
                <a:latin typeface="Times New Roman" pitchFamily="18" charset="0"/>
                <a:ea typeface="宋体" charset="-122"/>
              </a:rPr>
              <a:t>4-</a:t>
            </a:r>
            <a:r>
              <a:rPr kumimoji="1" lang="zh-CN" altLang="en-US" sz="2200" b="1" dirty="0" smtClean="0">
                <a:solidFill>
                  <a:srgbClr val="000000"/>
                </a:solidFill>
                <a:latin typeface="Times New Roman" pitchFamily="18" charset="0"/>
                <a:ea typeface="宋体" charset="-122"/>
              </a:rPr>
              <a:t>空穴</a:t>
            </a:r>
            <a:r>
              <a:rPr kumimoji="1" lang="zh-CN" altLang="en-US" sz="2200" b="1" dirty="0">
                <a:solidFill>
                  <a:srgbClr val="000000"/>
                </a:solidFill>
                <a:latin typeface="Times New Roman" pitchFamily="18" charset="0"/>
                <a:ea typeface="宋体" charset="-122"/>
              </a:rPr>
              <a:t>的</a:t>
            </a:r>
            <a:r>
              <a:rPr kumimoji="1" lang="zh-CN" altLang="en-US" sz="2200" b="1" dirty="0" smtClean="0">
                <a:solidFill>
                  <a:srgbClr val="000000"/>
                </a:solidFill>
                <a:latin typeface="Times New Roman" pitchFamily="18" charset="0"/>
                <a:ea typeface="宋体" charset="-122"/>
              </a:rPr>
              <a:t>发射：价带</a:t>
            </a:r>
            <a:r>
              <a:rPr kumimoji="1" lang="zh-CN" altLang="en-US" sz="2200" b="1" dirty="0">
                <a:solidFill>
                  <a:srgbClr val="000000"/>
                </a:solidFill>
                <a:latin typeface="Times New Roman" pitchFamily="18" charset="0"/>
                <a:ea typeface="宋体" charset="-122"/>
              </a:rPr>
              <a:t>电子跃迁到复合中心的电子空位，等价于复合中心的空穴发射到价带，在价带产生空穴。</a:t>
            </a:r>
            <a:endParaRPr kumimoji="1" lang="zh-CN" altLang="en-US" sz="2200" b="1" dirty="0">
              <a:solidFill>
                <a:srgbClr val="FF3300"/>
              </a:solidFill>
              <a:latin typeface="Times New Roman" pitchFamily="18" charset="0"/>
              <a:ea typeface="宋体" charset="-122"/>
            </a:endParaRPr>
          </a:p>
        </p:txBody>
      </p:sp>
      <p:sp>
        <p:nvSpPr>
          <p:cNvPr id="7" name="Text Box 15"/>
          <p:cNvSpPr txBox="1">
            <a:spLocks noChangeArrowheads="1"/>
          </p:cNvSpPr>
          <p:nvPr/>
        </p:nvSpPr>
        <p:spPr bwMode="auto">
          <a:xfrm>
            <a:off x="4640416" y="1410622"/>
            <a:ext cx="3671888" cy="465138"/>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400" b="1">
                <a:solidFill>
                  <a:srgbClr val="FF3300"/>
                </a:solidFill>
                <a:latin typeface="Times New Roman" pitchFamily="18" charset="0"/>
                <a:ea typeface="宋体" charset="-122"/>
              </a:rPr>
              <a:t>从复合中心能级角度来看</a:t>
            </a:r>
          </a:p>
        </p:txBody>
      </p:sp>
    </p:spTree>
    <p:extLst>
      <p:ext uri="{BB962C8B-B14F-4D97-AF65-F5344CB8AC3E}">
        <p14:creationId xmlns:p14="http://schemas.microsoft.com/office/powerpoint/2010/main" val="2225836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25</a:t>
            </a:fld>
            <a:endParaRPr lang="zh-CN" altLang="en-US"/>
          </a:p>
        </p:txBody>
      </p:sp>
      <p:graphicFrame>
        <p:nvGraphicFramePr>
          <p:cNvPr id="3" name="Object 1"/>
          <p:cNvGraphicFramePr>
            <a:graphicFrameLocks noChangeAspect="1"/>
          </p:cNvGraphicFramePr>
          <p:nvPr>
            <p:extLst>
              <p:ext uri="{D42A27DB-BD31-4B8C-83A1-F6EECF244321}">
                <p14:modId xmlns:p14="http://schemas.microsoft.com/office/powerpoint/2010/main" val="1722198494"/>
              </p:ext>
            </p:extLst>
          </p:nvPr>
        </p:nvGraphicFramePr>
        <p:xfrm>
          <a:off x="3727655" y="3713521"/>
          <a:ext cx="1157288" cy="579438"/>
        </p:xfrm>
        <a:graphic>
          <a:graphicData uri="http://schemas.openxmlformats.org/presentationml/2006/ole">
            <mc:AlternateContent xmlns:mc="http://schemas.openxmlformats.org/markup-compatibility/2006">
              <mc:Choice xmlns:v="urn:schemas-microsoft-com:vml" Requires="v">
                <p:oleObj spid="_x0000_s23646" name="Equation" r:id="rId3" imgW="482391" imgH="241195" progId="Equation.3">
                  <p:embed/>
                </p:oleObj>
              </mc:Choice>
              <mc:Fallback>
                <p:oleObj name="Equation" r:id="rId3" imgW="482391" imgH="241195" progId="Equation.3">
                  <p:embed/>
                  <p:pic>
                    <p:nvPicPr>
                      <p:cNvPr id="8192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7655" y="3713521"/>
                        <a:ext cx="1157288"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10"/>
          <p:cNvSpPr txBox="1">
            <a:spLocks noChangeArrowheads="1"/>
          </p:cNvSpPr>
          <p:nvPr/>
        </p:nvSpPr>
        <p:spPr bwMode="auto">
          <a:xfrm>
            <a:off x="343105" y="790934"/>
            <a:ext cx="8294688" cy="1311275"/>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400" b="1">
                <a:solidFill>
                  <a:srgbClr val="000000"/>
                </a:solidFill>
                <a:latin typeface="Times New Roman" pitchFamily="18" charset="0"/>
                <a:ea typeface="宋体" charset="-122"/>
              </a:rPr>
              <a:t>设复合中心能级的电子占据概率为 </a:t>
            </a:r>
            <a:r>
              <a:rPr kumimoji="1" lang="en-US" altLang="zh-CN" sz="2400" b="1" i="1">
                <a:solidFill>
                  <a:srgbClr val="000000"/>
                </a:solidFill>
                <a:latin typeface="Times New Roman" pitchFamily="18" charset="0"/>
                <a:ea typeface="宋体" charset="-122"/>
              </a:rPr>
              <a:t>f</a:t>
            </a:r>
            <a:r>
              <a:rPr kumimoji="1" lang="en-US" altLang="zh-CN" sz="2400" b="1" i="1" baseline="-25000">
                <a:solidFill>
                  <a:srgbClr val="000000"/>
                </a:solidFill>
                <a:latin typeface="Times New Roman" pitchFamily="18" charset="0"/>
                <a:ea typeface="宋体" charset="-122"/>
              </a:rPr>
              <a:t>t </a:t>
            </a:r>
            <a:r>
              <a:rPr kumimoji="1" lang="zh-CN" altLang="en-US" sz="2400" b="1">
                <a:solidFill>
                  <a:srgbClr val="000000"/>
                </a:solidFill>
                <a:latin typeface="Times New Roman" pitchFamily="18" charset="0"/>
                <a:ea typeface="宋体" charset="-122"/>
              </a:rPr>
              <a:t>；假设在间接复合过程中系统处于热平衡，则电子在复合中心能级占据的概率满足费米分布函数：</a:t>
            </a:r>
          </a:p>
        </p:txBody>
      </p:sp>
      <p:graphicFrame>
        <p:nvGraphicFramePr>
          <p:cNvPr id="5" name="Object 0"/>
          <p:cNvGraphicFramePr>
            <a:graphicFrameLocks noChangeAspect="1"/>
          </p:cNvGraphicFramePr>
          <p:nvPr>
            <p:extLst>
              <p:ext uri="{D42A27DB-BD31-4B8C-83A1-F6EECF244321}">
                <p14:modId xmlns:p14="http://schemas.microsoft.com/office/powerpoint/2010/main" val="567479782"/>
              </p:ext>
            </p:extLst>
          </p:nvPr>
        </p:nvGraphicFramePr>
        <p:xfrm>
          <a:off x="3299030" y="1741846"/>
          <a:ext cx="2589213" cy="1036638"/>
        </p:xfrm>
        <a:graphic>
          <a:graphicData uri="http://schemas.openxmlformats.org/presentationml/2006/ole">
            <mc:AlternateContent xmlns:mc="http://schemas.openxmlformats.org/markup-compatibility/2006">
              <mc:Choice xmlns:v="urn:schemas-microsoft-com:vml" Requires="v">
                <p:oleObj spid="_x0000_s23647" name="Equation" r:id="rId5" imgW="1079032" imgH="431613" progId="Equation.DSMT4">
                  <p:embed/>
                </p:oleObj>
              </mc:Choice>
              <mc:Fallback>
                <p:oleObj name="Equation" r:id="rId5" imgW="1079032" imgH="431613" progId="Equation.DSMT4">
                  <p:embed/>
                  <p:pic>
                    <p:nvPicPr>
                      <p:cNvPr id="81930" name="Object 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9030" y="1741846"/>
                        <a:ext cx="2589213" cy="1036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15"/>
          <p:cNvSpPr>
            <a:spLocks noChangeArrowheads="1"/>
          </p:cNvSpPr>
          <p:nvPr/>
        </p:nvSpPr>
        <p:spPr bwMode="auto">
          <a:xfrm>
            <a:off x="343105" y="2851509"/>
            <a:ext cx="8280400" cy="871537"/>
          </a:xfrm>
          <a:prstGeom prst="rect">
            <a:avLst/>
          </a:prstGeom>
          <a:noFill/>
          <a:ln w="9525">
            <a:noFill/>
            <a:miter lim="800000"/>
            <a:headEnd/>
            <a:tailEnd/>
          </a:ln>
        </p:spPr>
        <p:txBody>
          <a:bodyPr>
            <a:spAutoFit/>
          </a:bodyPr>
          <a:lstStyle/>
          <a:p>
            <a:pPr defTabSz="914400" eaLnBrk="0" fontAlgn="base" hangingPunct="0">
              <a:lnSpc>
                <a:spcPct val="110000"/>
              </a:lnSpc>
              <a:spcBef>
                <a:spcPct val="50000"/>
              </a:spcBef>
              <a:spcAft>
                <a:spcPct val="0"/>
              </a:spcAft>
            </a:pPr>
            <a:r>
              <a:rPr kumimoji="1" lang="zh-CN" altLang="en-US" sz="2400" b="1" dirty="0">
                <a:solidFill>
                  <a:srgbClr val="000000"/>
                </a:solidFill>
                <a:latin typeface="Times New Roman" pitchFamily="18" charset="0"/>
                <a:ea typeface="宋体" charset="-122"/>
              </a:rPr>
              <a:t>电子和空穴俘获与发射的概率与电子在复合中心能级的占据分布函数及费米能级有关。在热平衡条件下：</a:t>
            </a:r>
          </a:p>
        </p:txBody>
      </p:sp>
      <p:sp>
        <p:nvSpPr>
          <p:cNvPr id="7" name="Rectangle 16"/>
          <p:cNvSpPr>
            <a:spLocks noChangeArrowheads="1"/>
          </p:cNvSpPr>
          <p:nvPr/>
        </p:nvSpPr>
        <p:spPr bwMode="auto">
          <a:xfrm>
            <a:off x="2741818" y="4756509"/>
            <a:ext cx="5881687" cy="1127125"/>
          </a:xfrm>
          <a:prstGeom prst="rect">
            <a:avLst/>
          </a:prstGeom>
          <a:noFill/>
          <a:ln w="9525">
            <a:noFill/>
            <a:miter lim="800000"/>
            <a:headEnd/>
            <a:tailEnd/>
          </a:ln>
        </p:spPr>
        <p:txBody>
          <a:bodyPr>
            <a:spAutoFit/>
          </a:bodyPr>
          <a:lstStyle/>
          <a:p>
            <a:pPr defTabSz="914400" eaLnBrk="0" fontAlgn="base" hangingPunct="0">
              <a:lnSpc>
                <a:spcPct val="140000"/>
              </a:lnSpc>
              <a:spcBef>
                <a:spcPct val="0"/>
              </a:spcBef>
              <a:spcAft>
                <a:spcPct val="0"/>
              </a:spcAft>
            </a:pPr>
            <a:r>
              <a:rPr kumimoji="1" lang="zh-CN" altLang="en-US" sz="2400" b="1">
                <a:solidFill>
                  <a:srgbClr val="000000"/>
                </a:solidFill>
                <a:latin typeface="Times New Roman" pitchFamily="18" charset="0"/>
                <a:ea typeface="宋体" charset="-122"/>
              </a:rPr>
              <a:t>为平衡时复合</a:t>
            </a:r>
            <a:r>
              <a:rPr kumimoji="1" lang="en-US" altLang="zh-CN" sz="2400" b="1">
                <a:solidFill>
                  <a:srgbClr val="000000"/>
                </a:solidFill>
                <a:latin typeface="Times New Roman" pitchFamily="18" charset="0"/>
                <a:ea typeface="宋体" charset="-122"/>
              </a:rPr>
              <a:t>/</a:t>
            </a:r>
            <a:r>
              <a:rPr kumimoji="1" lang="zh-CN" altLang="en-US" sz="2400" b="1">
                <a:solidFill>
                  <a:srgbClr val="000000"/>
                </a:solidFill>
                <a:latin typeface="Times New Roman" pitchFamily="18" charset="0"/>
                <a:ea typeface="宋体" charset="-122"/>
              </a:rPr>
              <a:t>陷阱中心的电子浓度</a:t>
            </a:r>
          </a:p>
          <a:p>
            <a:pPr defTabSz="914400" eaLnBrk="0" fontAlgn="base" hangingPunct="0">
              <a:lnSpc>
                <a:spcPct val="140000"/>
              </a:lnSpc>
              <a:spcBef>
                <a:spcPct val="0"/>
              </a:spcBef>
              <a:spcAft>
                <a:spcPct val="0"/>
              </a:spcAft>
            </a:pPr>
            <a:r>
              <a:rPr kumimoji="1" lang="zh-CN" altLang="en-US" sz="2400" b="1">
                <a:solidFill>
                  <a:srgbClr val="000000"/>
                </a:solidFill>
                <a:latin typeface="Times New Roman" pitchFamily="18" charset="0"/>
                <a:ea typeface="宋体" charset="-122"/>
              </a:rPr>
              <a:t>为平衡时复合</a:t>
            </a:r>
            <a:r>
              <a:rPr kumimoji="1" lang="en-US" altLang="zh-CN" sz="2400" b="1">
                <a:solidFill>
                  <a:srgbClr val="000000"/>
                </a:solidFill>
                <a:latin typeface="Times New Roman" pitchFamily="18" charset="0"/>
                <a:ea typeface="宋体" charset="-122"/>
              </a:rPr>
              <a:t>/</a:t>
            </a:r>
            <a:r>
              <a:rPr kumimoji="1" lang="zh-CN" altLang="en-US" sz="2400" b="1">
                <a:solidFill>
                  <a:srgbClr val="000000"/>
                </a:solidFill>
                <a:latin typeface="Times New Roman" pitchFamily="18" charset="0"/>
                <a:ea typeface="宋体" charset="-122"/>
              </a:rPr>
              <a:t>陷阱中心的空穴浓度</a:t>
            </a:r>
          </a:p>
        </p:txBody>
      </p:sp>
      <p:graphicFrame>
        <p:nvGraphicFramePr>
          <p:cNvPr id="8" name="Object 2"/>
          <p:cNvGraphicFramePr>
            <a:graphicFrameLocks noChangeAspect="1"/>
          </p:cNvGraphicFramePr>
          <p:nvPr>
            <p:extLst>
              <p:ext uri="{D42A27DB-BD31-4B8C-83A1-F6EECF244321}">
                <p14:modId xmlns:p14="http://schemas.microsoft.com/office/powerpoint/2010/main" val="3743184001"/>
              </p:ext>
            </p:extLst>
          </p:nvPr>
        </p:nvGraphicFramePr>
        <p:xfrm>
          <a:off x="1782968" y="4808896"/>
          <a:ext cx="762000" cy="549275"/>
        </p:xfrm>
        <a:graphic>
          <a:graphicData uri="http://schemas.openxmlformats.org/presentationml/2006/ole">
            <mc:AlternateContent xmlns:mc="http://schemas.openxmlformats.org/markup-compatibility/2006">
              <mc:Choice xmlns:v="urn:schemas-microsoft-com:vml" Requires="v">
                <p:oleObj spid="_x0000_s23648" name="Equation" r:id="rId7" imgW="317362" imgH="228501" progId="Equation.3">
                  <p:embed/>
                </p:oleObj>
              </mc:Choice>
              <mc:Fallback>
                <p:oleObj name="Equation" r:id="rId7" imgW="317362" imgH="228501" progId="Equation.3">
                  <p:embed/>
                  <p:pic>
                    <p:nvPicPr>
                      <p:cNvPr id="81933"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2968" y="4808896"/>
                        <a:ext cx="762000"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18"/>
          <p:cNvSpPr>
            <a:spLocks noChangeArrowheads="1"/>
          </p:cNvSpPr>
          <p:nvPr/>
        </p:nvSpPr>
        <p:spPr bwMode="auto">
          <a:xfrm>
            <a:off x="343105" y="4292959"/>
            <a:ext cx="2351088" cy="465137"/>
          </a:xfrm>
          <a:prstGeom prst="rect">
            <a:avLst/>
          </a:prstGeom>
          <a:noFill/>
          <a:ln w="9525">
            <a:noFill/>
            <a:miter lim="800000"/>
            <a:headEnd/>
            <a:tailEnd/>
          </a:ln>
        </p:spPr>
        <p:txBody>
          <a:bodyPr wrap="none">
            <a:spAutoFit/>
          </a:bodyPr>
          <a:lstStyle/>
          <a:p>
            <a:pPr defTabSz="914400" fontAlgn="base">
              <a:lnSpc>
                <a:spcPct val="110000"/>
              </a:lnSpc>
              <a:spcBef>
                <a:spcPct val="0"/>
              </a:spcBef>
              <a:spcAft>
                <a:spcPct val="0"/>
              </a:spcAft>
            </a:pPr>
            <a:r>
              <a:rPr kumimoji="1" lang="zh-CN" altLang="en-US" sz="2400" b="1">
                <a:solidFill>
                  <a:srgbClr val="000000"/>
                </a:solidFill>
                <a:latin typeface="Times New Roman" pitchFamily="18" charset="0"/>
                <a:ea typeface="宋体" charset="-122"/>
              </a:rPr>
              <a:t>考虑到这一点：</a:t>
            </a:r>
          </a:p>
        </p:txBody>
      </p:sp>
      <p:graphicFrame>
        <p:nvGraphicFramePr>
          <p:cNvPr id="10" name="Object 3"/>
          <p:cNvGraphicFramePr>
            <a:graphicFrameLocks noChangeAspect="1"/>
          </p:cNvGraphicFramePr>
          <p:nvPr>
            <p:extLst>
              <p:ext uri="{D42A27DB-BD31-4B8C-83A1-F6EECF244321}">
                <p14:modId xmlns:p14="http://schemas.microsoft.com/office/powerpoint/2010/main" val="2476476990"/>
              </p:ext>
            </p:extLst>
          </p:nvPr>
        </p:nvGraphicFramePr>
        <p:xfrm>
          <a:off x="1243218" y="5334359"/>
          <a:ext cx="1492250" cy="547687"/>
        </p:xfrm>
        <a:graphic>
          <a:graphicData uri="http://schemas.openxmlformats.org/presentationml/2006/ole">
            <mc:AlternateContent xmlns:mc="http://schemas.openxmlformats.org/markup-compatibility/2006">
              <mc:Choice xmlns:v="urn:schemas-microsoft-com:vml" Requires="v">
                <p:oleObj spid="_x0000_s23649" name="Equation" r:id="rId9" imgW="622030" imgH="228501" progId="Equation.3">
                  <p:embed/>
                </p:oleObj>
              </mc:Choice>
              <mc:Fallback>
                <p:oleObj name="Equation" r:id="rId9" imgW="622030" imgH="228501" progId="Equation.3">
                  <p:embed/>
                  <p:pic>
                    <p:nvPicPr>
                      <p:cNvPr id="81935"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3218" y="5334359"/>
                        <a:ext cx="1492250" cy="547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79730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26</a:t>
            </a:fld>
            <a:endParaRPr lang="zh-CN" altLang="en-US"/>
          </a:p>
        </p:txBody>
      </p:sp>
      <p:pic>
        <p:nvPicPr>
          <p:cNvPr id="3" name="Picture 28"/>
          <p:cNvPicPr>
            <a:picLocks noChangeAspect="1" noChangeArrowheads="1"/>
          </p:cNvPicPr>
          <p:nvPr/>
        </p:nvPicPr>
        <p:blipFill>
          <a:blip r:embed="rId3" cstate="print"/>
          <a:srcRect t="4465" r="48087"/>
          <a:stretch>
            <a:fillRect/>
          </a:stretch>
        </p:blipFill>
        <p:spPr bwMode="auto">
          <a:xfrm>
            <a:off x="5400470" y="3490144"/>
            <a:ext cx="3003550" cy="2552700"/>
          </a:xfrm>
          <a:prstGeom prst="rect">
            <a:avLst/>
          </a:prstGeom>
          <a:noFill/>
          <a:ln w="9525">
            <a:noFill/>
            <a:miter lim="800000"/>
            <a:headEnd/>
            <a:tailEnd/>
          </a:ln>
        </p:spPr>
      </p:pic>
      <p:graphicFrame>
        <p:nvGraphicFramePr>
          <p:cNvPr id="4" name="Object 26"/>
          <p:cNvGraphicFramePr>
            <a:graphicFrameLocks noChangeAspect="1"/>
          </p:cNvGraphicFramePr>
          <p:nvPr>
            <p:extLst>
              <p:ext uri="{D42A27DB-BD31-4B8C-83A1-F6EECF244321}">
                <p14:modId xmlns:p14="http://schemas.microsoft.com/office/powerpoint/2010/main" val="2171278557"/>
              </p:ext>
            </p:extLst>
          </p:nvPr>
        </p:nvGraphicFramePr>
        <p:xfrm>
          <a:off x="1166608" y="4960169"/>
          <a:ext cx="2528887" cy="579438"/>
        </p:xfrm>
        <a:graphic>
          <a:graphicData uri="http://schemas.openxmlformats.org/presentationml/2006/ole">
            <mc:AlternateContent xmlns:mc="http://schemas.openxmlformats.org/markup-compatibility/2006">
              <mc:Choice xmlns:v="urn:schemas-microsoft-com:vml" Requires="v">
                <p:oleObj spid="_x0000_s24716" name="Equation" r:id="rId4" imgW="1054100" imgH="241300" progId="Equation.DSMT4">
                  <p:embed/>
                </p:oleObj>
              </mc:Choice>
              <mc:Fallback>
                <p:oleObj name="Equation" r:id="rId4" imgW="1054100" imgH="241300" progId="Equation.DSMT4">
                  <p:embed/>
                  <p:pic>
                    <p:nvPicPr>
                      <p:cNvPr id="82947"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6608" y="4960169"/>
                        <a:ext cx="2528887"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27"/>
          <p:cNvGraphicFramePr>
            <a:graphicFrameLocks noChangeAspect="1"/>
          </p:cNvGraphicFramePr>
          <p:nvPr>
            <p:extLst>
              <p:ext uri="{D42A27DB-BD31-4B8C-83A1-F6EECF244321}">
                <p14:modId xmlns:p14="http://schemas.microsoft.com/office/powerpoint/2010/main" val="2227379354"/>
              </p:ext>
            </p:extLst>
          </p:nvPr>
        </p:nvGraphicFramePr>
        <p:xfrm>
          <a:off x="1152320" y="5517382"/>
          <a:ext cx="2560638" cy="579437"/>
        </p:xfrm>
        <a:graphic>
          <a:graphicData uri="http://schemas.openxmlformats.org/presentationml/2006/ole">
            <mc:AlternateContent xmlns:mc="http://schemas.openxmlformats.org/markup-compatibility/2006">
              <mc:Choice xmlns:v="urn:schemas-microsoft-com:vml" Requires="v">
                <p:oleObj spid="_x0000_s24717" name="Equation" r:id="rId6" imgW="1066800" imgH="241300" progId="Equation.3">
                  <p:embed/>
                </p:oleObj>
              </mc:Choice>
              <mc:Fallback>
                <p:oleObj name="Equation" r:id="rId6" imgW="1066800" imgH="241300" progId="Equation.3">
                  <p:embed/>
                  <p:pic>
                    <p:nvPicPr>
                      <p:cNvPr id="82948"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2320" y="5517382"/>
                        <a:ext cx="2560638"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17"/>
          <p:cNvGraphicFramePr>
            <a:graphicFrameLocks noChangeAspect="1"/>
          </p:cNvGraphicFramePr>
          <p:nvPr>
            <p:extLst>
              <p:ext uri="{D42A27DB-BD31-4B8C-83A1-F6EECF244321}">
                <p14:modId xmlns:p14="http://schemas.microsoft.com/office/powerpoint/2010/main" val="570209766"/>
              </p:ext>
            </p:extLst>
          </p:nvPr>
        </p:nvGraphicFramePr>
        <p:xfrm>
          <a:off x="2877933" y="2269612"/>
          <a:ext cx="3170237" cy="549275"/>
        </p:xfrm>
        <a:graphic>
          <a:graphicData uri="http://schemas.openxmlformats.org/presentationml/2006/ole">
            <mc:AlternateContent xmlns:mc="http://schemas.openxmlformats.org/markup-compatibility/2006">
              <mc:Choice xmlns:v="urn:schemas-microsoft-com:vml" Requires="v">
                <p:oleObj spid="_x0000_s24718" name="Equation" r:id="rId8" imgW="1320800" imgH="228600" progId="Equation.DSMT4">
                  <p:embed/>
                </p:oleObj>
              </mc:Choice>
              <mc:Fallback>
                <p:oleObj name="Equation" r:id="rId8" imgW="1320800" imgH="228600" progId="Equation.DSMT4">
                  <p:embed/>
                  <p:pic>
                    <p:nvPicPr>
                      <p:cNvPr id="82949"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7933" y="2269612"/>
                        <a:ext cx="3170237" cy="5492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21"/>
          <p:cNvGraphicFramePr>
            <a:graphicFrameLocks noChangeAspect="1"/>
          </p:cNvGraphicFramePr>
          <p:nvPr>
            <p:extLst>
              <p:ext uri="{D42A27DB-BD31-4B8C-83A1-F6EECF244321}">
                <p14:modId xmlns:p14="http://schemas.microsoft.com/office/powerpoint/2010/main" val="3860675101"/>
              </p:ext>
            </p:extLst>
          </p:nvPr>
        </p:nvGraphicFramePr>
        <p:xfrm>
          <a:off x="6559345" y="1088512"/>
          <a:ext cx="457200" cy="549275"/>
        </p:xfrm>
        <a:graphic>
          <a:graphicData uri="http://schemas.openxmlformats.org/presentationml/2006/ole">
            <mc:AlternateContent xmlns:mc="http://schemas.openxmlformats.org/markup-compatibility/2006">
              <mc:Choice xmlns:v="urn:schemas-microsoft-com:vml" Requires="v">
                <p:oleObj spid="_x0000_s24719" name="Equation" r:id="rId10" imgW="190500" imgH="228600" progId="Equation.DSMT4">
                  <p:embed/>
                </p:oleObj>
              </mc:Choice>
              <mc:Fallback>
                <p:oleObj name="Equation" r:id="rId10" imgW="190500" imgH="228600" progId="Equation.DSMT4">
                  <p:embed/>
                  <p:pic>
                    <p:nvPicPr>
                      <p:cNvPr id="8295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59345" y="1088512"/>
                        <a:ext cx="457200"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ChangeArrowheads="1"/>
          </p:cNvSpPr>
          <p:nvPr/>
        </p:nvSpPr>
        <p:spPr bwMode="auto">
          <a:xfrm>
            <a:off x="431595" y="2798250"/>
            <a:ext cx="6337300" cy="434975"/>
          </a:xfrm>
          <a:prstGeom prst="rect">
            <a:avLst/>
          </a:prstGeom>
          <a:noFill/>
          <a:ln w="12700" cap="sq">
            <a:noFill/>
            <a:miter lim="800000"/>
            <a:headEnd type="none" w="sm" len="sm"/>
            <a:tailEnd type="none" w="sm" len="sm"/>
          </a:ln>
        </p:spPr>
        <p:txBody>
          <a:bodyPr>
            <a:spAutoFit/>
          </a:bodyPr>
          <a:lstStyle/>
          <a:p>
            <a:pPr defTabSz="914400" fontAlgn="base">
              <a:lnSpc>
                <a:spcPct val="110000"/>
              </a:lnSpc>
              <a:spcBef>
                <a:spcPct val="0"/>
              </a:spcBef>
              <a:spcAft>
                <a:spcPct val="0"/>
              </a:spcAft>
            </a:pPr>
            <a:r>
              <a:rPr kumimoji="1" lang="zh-CN" altLang="en-US" sz="2200" b="1">
                <a:solidFill>
                  <a:srgbClr val="000000"/>
                </a:solidFill>
                <a:latin typeface="Times New Roman" pitchFamily="18" charset="0"/>
                <a:ea typeface="宋体" charset="-122"/>
              </a:rPr>
              <a:t>其中</a:t>
            </a:r>
            <a:r>
              <a:rPr kumimoji="1" lang="en-US" altLang="zh-CN" sz="2200" b="1" i="1">
                <a:solidFill>
                  <a:srgbClr val="000000"/>
                </a:solidFill>
                <a:latin typeface="Times New Roman" pitchFamily="18" charset="0"/>
                <a:ea typeface="宋体" charset="-122"/>
              </a:rPr>
              <a:t>V</a:t>
            </a:r>
            <a:r>
              <a:rPr kumimoji="1" lang="en-US" altLang="zh-CN" sz="2200" b="1" i="1" baseline="-25000">
                <a:solidFill>
                  <a:srgbClr val="000000"/>
                </a:solidFill>
                <a:latin typeface="Times New Roman" pitchFamily="18" charset="0"/>
                <a:ea typeface="宋体" charset="-122"/>
              </a:rPr>
              <a:t>thn</a:t>
            </a:r>
            <a:r>
              <a:rPr kumimoji="1" lang="zh-CN" altLang="en-US" sz="2200" b="1">
                <a:solidFill>
                  <a:srgbClr val="000000"/>
                </a:solidFill>
                <a:latin typeface="Times New Roman" pitchFamily="18" charset="0"/>
                <a:ea typeface="宋体" charset="-122"/>
              </a:rPr>
              <a:t>为电子热运动速度 </a:t>
            </a:r>
            <a:r>
              <a:rPr kumimoji="1" lang="en-US" altLang="zh-CN" sz="2200" b="1">
                <a:solidFill>
                  <a:srgbClr val="000000"/>
                </a:solidFill>
                <a:latin typeface="Times New Roman" pitchFamily="18" charset="0"/>
                <a:ea typeface="宋体" charset="-122"/>
              </a:rPr>
              <a:t>(10</a:t>
            </a:r>
            <a:r>
              <a:rPr kumimoji="1" lang="en-US" altLang="zh-CN" sz="2200" b="1" baseline="30000">
                <a:solidFill>
                  <a:srgbClr val="000000"/>
                </a:solidFill>
                <a:latin typeface="Times New Roman" pitchFamily="18" charset="0"/>
                <a:ea typeface="宋体" charset="-122"/>
              </a:rPr>
              <a:t>7</a:t>
            </a:r>
            <a:r>
              <a:rPr kumimoji="1" lang="en-US" altLang="zh-CN" sz="2200" b="1">
                <a:solidFill>
                  <a:srgbClr val="000000"/>
                </a:solidFill>
                <a:latin typeface="Times New Roman" pitchFamily="18" charset="0"/>
                <a:ea typeface="宋体" charset="-122"/>
              </a:rPr>
              <a:t> cm/s)</a:t>
            </a:r>
            <a:r>
              <a:rPr kumimoji="1" lang="zh-CN" altLang="en-US" sz="2200" b="1">
                <a:solidFill>
                  <a:srgbClr val="000000"/>
                </a:solidFill>
                <a:latin typeface="Times New Roman" pitchFamily="18" charset="0"/>
                <a:ea typeface="宋体" charset="-122"/>
              </a:rPr>
              <a:t>。</a:t>
            </a:r>
          </a:p>
        </p:txBody>
      </p:sp>
      <p:sp>
        <p:nvSpPr>
          <p:cNvPr id="9" name="Text Box 10"/>
          <p:cNvSpPr txBox="1">
            <a:spLocks noChangeArrowheads="1"/>
          </p:cNvSpPr>
          <p:nvPr/>
        </p:nvSpPr>
        <p:spPr bwMode="auto">
          <a:xfrm>
            <a:off x="431595" y="712275"/>
            <a:ext cx="4419600" cy="465137"/>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10000"/>
              </a:lnSpc>
              <a:spcBef>
                <a:spcPct val="0"/>
              </a:spcBef>
              <a:spcAft>
                <a:spcPct val="0"/>
              </a:spcAft>
            </a:pPr>
            <a:r>
              <a:rPr kumimoji="1" lang="en-US" altLang="zh-CN" sz="2400" b="1">
                <a:solidFill>
                  <a:srgbClr val="FF3300"/>
                </a:solidFill>
                <a:latin typeface="Times New Roman" pitchFamily="18" charset="0"/>
                <a:ea typeface="宋体" charset="-122"/>
              </a:rPr>
              <a:t>1</a:t>
            </a:r>
            <a:r>
              <a:rPr kumimoji="1" lang="zh-CN" altLang="en-US" sz="2400" b="1">
                <a:solidFill>
                  <a:srgbClr val="FF3300"/>
                </a:solidFill>
                <a:latin typeface="Times New Roman" pitchFamily="18" charset="0"/>
                <a:ea typeface="宋体" charset="-122"/>
              </a:rPr>
              <a:t>、电子俘获率 </a:t>
            </a:r>
            <a:r>
              <a:rPr kumimoji="1" lang="en-US" altLang="zh-CN" sz="2400" b="1" i="1">
                <a:solidFill>
                  <a:srgbClr val="FF3300"/>
                </a:solidFill>
                <a:latin typeface="Times New Roman" pitchFamily="18" charset="0"/>
                <a:ea typeface="宋体" charset="-122"/>
              </a:rPr>
              <a:t>R</a:t>
            </a:r>
            <a:r>
              <a:rPr kumimoji="1" lang="en-US" altLang="zh-CN" sz="2400" b="1" i="1" baseline="-25000">
                <a:solidFill>
                  <a:srgbClr val="FF3300"/>
                </a:solidFill>
                <a:latin typeface="Times New Roman" pitchFamily="18" charset="0"/>
                <a:ea typeface="宋体" charset="-122"/>
              </a:rPr>
              <a:t>1 </a:t>
            </a:r>
            <a:r>
              <a:rPr kumimoji="1" lang="zh-CN" altLang="en-US" sz="2400" b="1">
                <a:solidFill>
                  <a:srgbClr val="FF3300"/>
                </a:solidFill>
                <a:latin typeface="Times New Roman" pitchFamily="18" charset="0"/>
                <a:ea typeface="宋体" charset="-122"/>
              </a:rPr>
              <a:t>和发射率 </a:t>
            </a:r>
            <a:r>
              <a:rPr kumimoji="1" lang="en-US" altLang="zh-CN" sz="2400" b="1" i="1">
                <a:solidFill>
                  <a:srgbClr val="FF3300"/>
                </a:solidFill>
                <a:latin typeface="Times New Roman" pitchFamily="18" charset="0"/>
                <a:ea typeface="宋体" charset="-122"/>
              </a:rPr>
              <a:t>R</a:t>
            </a:r>
            <a:r>
              <a:rPr kumimoji="1" lang="en-US" altLang="zh-CN" sz="2400" b="1" i="1" baseline="-25000">
                <a:solidFill>
                  <a:srgbClr val="FF3300"/>
                </a:solidFill>
                <a:latin typeface="Times New Roman" pitchFamily="18" charset="0"/>
                <a:ea typeface="宋体" charset="-122"/>
              </a:rPr>
              <a:t>2</a:t>
            </a:r>
          </a:p>
        </p:txBody>
      </p:sp>
      <p:sp>
        <p:nvSpPr>
          <p:cNvPr id="10" name="Text Box 12"/>
          <p:cNvSpPr txBox="1">
            <a:spLocks noChangeArrowheads="1"/>
          </p:cNvSpPr>
          <p:nvPr/>
        </p:nvSpPr>
        <p:spPr bwMode="auto">
          <a:xfrm>
            <a:off x="431595" y="1136137"/>
            <a:ext cx="8064500" cy="1208088"/>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200" b="1">
                <a:solidFill>
                  <a:srgbClr val="000000"/>
                </a:solidFill>
                <a:latin typeface="Times New Roman" pitchFamily="18" charset="0"/>
                <a:ea typeface="宋体" charset="-122"/>
              </a:rPr>
              <a:t>电子的俘获概率 </a:t>
            </a:r>
            <a:r>
              <a:rPr kumimoji="1" lang="en-US" altLang="zh-CN" sz="2200" b="1" i="1">
                <a:solidFill>
                  <a:srgbClr val="000000"/>
                </a:solidFill>
                <a:latin typeface="Times New Roman" pitchFamily="18" charset="0"/>
                <a:ea typeface="宋体" charset="-122"/>
              </a:rPr>
              <a:t>R</a:t>
            </a:r>
            <a:r>
              <a:rPr kumimoji="1" lang="en-US" altLang="zh-CN" sz="2200" b="1" i="1" baseline="-25000">
                <a:solidFill>
                  <a:srgbClr val="000000"/>
                </a:solidFill>
                <a:latin typeface="Times New Roman" pitchFamily="18" charset="0"/>
                <a:ea typeface="宋体" charset="-122"/>
              </a:rPr>
              <a:t>1 </a:t>
            </a:r>
            <a:r>
              <a:rPr kumimoji="1" lang="zh-CN" altLang="en-US" sz="2200" b="1">
                <a:solidFill>
                  <a:srgbClr val="000000"/>
                </a:solidFill>
                <a:latin typeface="Times New Roman" pitchFamily="18" charset="0"/>
                <a:ea typeface="宋体" charset="-122"/>
              </a:rPr>
              <a:t>与复合中心对电子的俘获截面      有关。可以合理假设电子俘获率与导带中电子浓度和复合中心能级中未被电子占据的能级浓度的乘积成正比关系，则：</a:t>
            </a:r>
          </a:p>
        </p:txBody>
      </p:sp>
      <p:sp>
        <p:nvSpPr>
          <p:cNvPr id="11" name="Rectangle 20"/>
          <p:cNvSpPr>
            <a:spLocks noChangeArrowheads="1"/>
          </p:cNvSpPr>
          <p:nvPr/>
        </p:nvSpPr>
        <p:spPr bwMode="auto">
          <a:xfrm>
            <a:off x="3960608" y="3296725"/>
            <a:ext cx="1871662" cy="434975"/>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200" b="1">
                <a:solidFill>
                  <a:srgbClr val="000000"/>
                </a:solidFill>
                <a:latin typeface="Times New Roman" pitchFamily="18" charset="0"/>
                <a:ea typeface="宋体" charset="-122"/>
              </a:rPr>
              <a:t>为发射概率</a:t>
            </a:r>
          </a:p>
        </p:txBody>
      </p:sp>
      <p:graphicFrame>
        <p:nvGraphicFramePr>
          <p:cNvPr id="12" name="Object 22"/>
          <p:cNvGraphicFramePr>
            <a:graphicFrameLocks noChangeAspect="1"/>
          </p:cNvGraphicFramePr>
          <p:nvPr>
            <p:extLst>
              <p:ext uri="{D42A27DB-BD31-4B8C-83A1-F6EECF244321}">
                <p14:modId xmlns:p14="http://schemas.microsoft.com/office/powerpoint/2010/main" val="3768341303"/>
              </p:ext>
            </p:extLst>
          </p:nvPr>
        </p:nvGraphicFramePr>
        <p:xfrm>
          <a:off x="1628570" y="3233225"/>
          <a:ext cx="1768475" cy="547687"/>
        </p:xfrm>
        <a:graphic>
          <a:graphicData uri="http://schemas.openxmlformats.org/presentationml/2006/ole">
            <mc:AlternateContent xmlns:mc="http://schemas.openxmlformats.org/markup-compatibility/2006">
              <mc:Choice xmlns:v="urn:schemas-microsoft-com:vml" Requires="v">
                <p:oleObj spid="_x0000_s24720" name="Equation" r:id="rId12" imgW="736600" imgH="228600" progId="Equation.3">
                  <p:embed/>
                </p:oleObj>
              </mc:Choice>
              <mc:Fallback>
                <p:oleObj name="Equation" r:id="rId12" imgW="736600" imgH="228600" progId="Equation.3">
                  <p:embed/>
                  <p:pic>
                    <p:nvPicPr>
                      <p:cNvPr id="82958"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28570" y="3233225"/>
                        <a:ext cx="1768475" cy="547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23"/>
          <p:cNvSpPr>
            <a:spLocks noChangeArrowheads="1"/>
          </p:cNvSpPr>
          <p:nvPr/>
        </p:nvSpPr>
        <p:spPr bwMode="auto">
          <a:xfrm>
            <a:off x="431595" y="3271325"/>
            <a:ext cx="1130300" cy="433387"/>
          </a:xfrm>
          <a:prstGeom prst="rect">
            <a:avLst/>
          </a:prstGeom>
          <a:noFill/>
          <a:ln w="9525">
            <a:noFill/>
            <a:miter lim="800000"/>
            <a:headEnd/>
            <a:tailEnd/>
          </a:ln>
        </p:spPr>
        <p:txBody>
          <a:bodyPr wrap="none">
            <a:spAutoFit/>
          </a:bodyPr>
          <a:lstStyle/>
          <a:p>
            <a:pPr defTabSz="914400" fontAlgn="base">
              <a:lnSpc>
                <a:spcPct val="110000"/>
              </a:lnSpc>
              <a:spcBef>
                <a:spcPct val="0"/>
              </a:spcBef>
              <a:spcAft>
                <a:spcPct val="0"/>
              </a:spcAft>
            </a:pPr>
            <a:r>
              <a:rPr kumimoji="1" lang="zh-CN" altLang="en-US" sz="2200" b="1">
                <a:solidFill>
                  <a:srgbClr val="000000"/>
                </a:solidFill>
                <a:latin typeface="Times New Roman" pitchFamily="18" charset="0"/>
                <a:ea typeface="宋体" charset="-122"/>
              </a:rPr>
              <a:t>同理有</a:t>
            </a:r>
            <a:r>
              <a:rPr kumimoji="1" lang="en-US" altLang="zh-CN" sz="2200" b="1">
                <a:solidFill>
                  <a:srgbClr val="000000"/>
                </a:solidFill>
                <a:latin typeface="Times New Roman" pitchFamily="18" charset="0"/>
                <a:ea typeface="宋体" charset="-122"/>
              </a:rPr>
              <a:t>:</a:t>
            </a:r>
          </a:p>
        </p:txBody>
      </p:sp>
      <p:sp>
        <p:nvSpPr>
          <p:cNvPr id="14" name="Text Box 24"/>
          <p:cNvSpPr txBox="1">
            <a:spLocks noChangeArrowheads="1"/>
          </p:cNvSpPr>
          <p:nvPr/>
        </p:nvSpPr>
        <p:spPr bwMode="auto">
          <a:xfrm>
            <a:off x="431595" y="4026719"/>
            <a:ext cx="4464050" cy="466725"/>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en-US" altLang="zh-CN" sz="2400" b="1">
                <a:solidFill>
                  <a:srgbClr val="FF3300"/>
                </a:solidFill>
                <a:latin typeface="Times New Roman" pitchFamily="18" charset="0"/>
                <a:ea typeface="宋体" charset="-122"/>
              </a:rPr>
              <a:t>2</a:t>
            </a:r>
            <a:r>
              <a:rPr kumimoji="1" lang="zh-CN" altLang="en-US" sz="2400" b="1">
                <a:solidFill>
                  <a:srgbClr val="FF3300"/>
                </a:solidFill>
                <a:latin typeface="Times New Roman" pitchFamily="18" charset="0"/>
                <a:ea typeface="宋体" charset="-122"/>
              </a:rPr>
              <a:t>、空穴俘获率 </a:t>
            </a:r>
            <a:r>
              <a:rPr kumimoji="1" lang="en-US" altLang="zh-CN" sz="2400" b="1" i="1">
                <a:solidFill>
                  <a:srgbClr val="FF3300"/>
                </a:solidFill>
                <a:latin typeface="Times New Roman" pitchFamily="18" charset="0"/>
                <a:ea typeface="宋体" charset="-122"/>
              </a:rPr>
              <a:t>R</a:t>
            </a:r>
            <a:r>
              <a:rPr kumimoji="1" lang="en-US" altLang="zh-CN" sz="2400" b="1" i="1" baseline="-25000">
                <a:solidFill>
                  <a:srgbClr val="FF3300"/>
                </a:solidFill>
                <a:latin typeface="Times New Roman" pitchFamily="18" charset="0"/>
                <a:ea typeface="宋体" charset="-122"/>
              </a:rPr>
              <a:t>3 </a:t>
            </a:r>
            <a:r>
              <a:rPr kumimoji="1" lang="zh-CN" altLang="en-US" sz="2400" b="1">
                <a:solidFill>
                  <a:srgbClr val="FF3300"/>
                </a:solidFill>
                <a:latin typeface="Times New Roman" pitchFamily="18" charset="0"/>
                <a:ea typeface="宋体" charset="-122"/>
              </a:rPr>
              <a:t>和发射率 </a:t>
            </a:r>
            <a:r>
              <a:rPr kumimoji="1" lang="en-US" altLang="zh-CN" sz="2400" b="1" i="1">
                <a:solidFill>
                  <a:srgbClr val="FF3300"/>
                </a:solidFill>
                <a:latin typeface="Times New Roman" pitchFamily="18" charset="0"/>
                <a:ea typeface="宋体" charset="-122"/>
              </a:rPr>
              <a:t>R</a:t>
            </a:r>
            <a:r>
              <a:rPr kumimoji="1" lang="en-US" altLang="zh-CN" sz="2400" b="1" i="1" baseline="-25000">
                <a:solidFill>
                  <a:srgbClr val="FF3300"/>
                </a:solidFill>
                <a:latin typeface="Times New Roman" pitchFamily="18" charset="0"/>
                <a:ea typeface="宋体" charset="-122"/>
              </a:rPr>
              <a:t>4</a:t>
            </a:r>
          </a:p>
        </p:txBody>
      </p:sp>
      <p:sp>
        <p:nvSpPr>
          <p:cNvPr id="15" name="Text Box 25"/>
          <p:cNvSpPr txBox="1">
            <a:spLocks noChangeArrowheads="1"/>
          </p:cNvSpPr>
          <p:nvPr/>
        </p:nvSpPr>
        <p:spPr bwMode="auto">
          <a:xfrm>
            <a:off x="431595" y="4472807"/>
            <a:ext cx="3305175" cy="434975"/>
          </a:xfrm>
          <a:prstGeom prst="rect">
            <a:avLst/>
          </a:prstGeom>
          <a:noFill/>
          <a:ln w="9525">
            <a:noFill/>
            <a:miter lim="800000"/>
            <a:headEnd/>
            <a:tailEnd/>
          </a:ln>
        </p:spPr>
        <p:txBody>
          <a:bodyPr wrap="none">
            <a:spAutoFit/>
          </a:bodyPr>
          <a:lstStyle/>
          <a:p>
            <a:pPr defTabSz="914400" fontAlgn="base">
              <a:lnSpc>
                <a:spcPct val="110000"/>
              </a:lnSpc>
              <a:spcBef>
                <a:spcPct val="0"/>
              </a:spcBef>
              <a:spcAft>
                <a:spcPct val="0"/>
              </a:spcAft>
            </a:pPr>
            <a:r>
              <a:rPr kumimoji="1" lang="zh-CN" altLang="en-US" sz="2200" b="1">
                <a:solidFill>
                  <a:srgbClr val="000000"/>
                </a:solidFill>
                <a:latin typeface="Times New Roman" pitchFamily="18" charset="0"/>
                <a:ea typeface="宋体" charset="-122"/>
              </a:rPr>
              <a:t>对于空穴，同理可以有：</a:t>
            </a:r>
          </a:p>
        </p:txBody>
      </p:sp>
      <p:graphicFrame>
        <p:nvGraphicFramePr>
          <p:cNvPr id="16" name="Object 29"/>
          <p:cNvGraphicFramePr>
            <a:graphicFrameLocks noChangeAspect="1"/>
          </p:cNvGraphicFramePr>
          <p:nvPr>
            <p:extLst>
              <p:ext uri="{D42A27DB-BD31-4B8C-83A1-F6EECF244321}">
                <p14:modId xmlns:p14="http://schemas.microsoft.com/office/powerpoint/2010/main" val="984007557"/>
              </p:ext>
            </p:extLst>
          </p:nvPr>
        </p:nvGraphicFramePr>
        <p:xfrm>
          <a:off x="3671683" y="3225287"/>
          <a:ext cx="365125" cy="547688"/>
        </p:xfrm>
        <a:graphic>
          <a:graphicData uri="http://schemas.openxmlformats.org/presentationml/2006/ole">
            <mc:AlternateContent xmlns:mc="http://schemas.openxmlformats.org/markup-compatibility/2006">
              <mc:Choice xmlns:v="urn:schemas-microsoft-com:vml" Requires="v">
                <p:oleObj spid="_x0000_s24721" name="Equation" r:id="rId14" imgW="152334" imgH="228501" progId="Equation.DSMT4">
                  <p:embed/>
                </p:oleObj>
              </mc:Choice>
              <mc:Fallback>
                <p:oleObj name="Equation" r:id="rId14" imgW="152334" imgH="228501" progId="Equation.DSMT4">
                  <p:embed/>
                  <p:pic>
                    <p:nvPicPr>
                      <p:cNvPr id="82962" name="Object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71683" y="3225287"/>
                        <a:ext cx="365125"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43511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27</a:t>
            </a:fld>
            <a:endParaRPr lang="zh-CN" altLang="en-US"/>
          </a:p>
        </p:txBody>
      </p:sp>
      <p:graphicFrame>
        <p:nvGraphicFramePr>
          <p:cNvPr id="3" name="Object 28"/>
          <p:cNvGraphicFramePr>
            <a:graphicFrameLocks noChangeAspect="1"/>
          </p:cNvGraphicFramePr>
          <p:nvPr>
            <p:extLst>
              <p:ext uri="{D42A27DB-BD31-4B8C-83A1-F6EECF244321}">
                <p14:modId xmlns:p14="http://schemas.microsoft.com/office/powerpoint/2010/main" val="2628011478"/>
              </p:ext>
            </p:extLst>
          </p:nvPr>
        </p:nvGraphicFramePr>
        <p:xfrm>
          <a:off x="4682462" y="2819588"/>
          <a:ext cx="3079750" cy="792162"/>
        </p:xfrm>
        <a:graphic>
          <a:graphicData uri="http://schemas.openxmlformats.org/presentationml/2006/ole">
            <mc:AlternateContent xmlns:mc="http://schemas.openxmlformats.org/markup-compatibility/2006">
              <mc:Choice xmlns:v="urn:schemas-microsoft-com:vml" Requires="v">
                <p:oleObj spid="_x0000_s25734" name="Equation" r:id="rId3" imgW="1282700" imgH="330200" progId="Equation.DSMT4">
                  <p:embed/>
                </p:oleObj>
              </mc:Choice>
              <mc:Fallback>
                <p:oleObj name="Equation" r:id="rId3" imgW="1282700" imgH="330200" progId="Equation.DSMT4">
                  <p:embed/>
                  <p:pic>
                    <p:nvPicPr>
                      <p:cNvPr id="8397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2462" y="2819588"/>
                        <a:ext cx="3079750" cy="7921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5"/>
          <p:cNvSpPr txBox="1">
            <a:spLocks noChangeArrowheads="1"/>
          </p:cNvSpPr>
          <p:nvPr/>
        </p:nvSpPr>
        <p:spPr bwMode="auto">
          <a:xfrm>
            <a:off x="461092" y="982814"/>
            <a:ext cx="5256213" cy="493713"/>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400" b="1">
                <a:solidFill>
                  <a:srgbClr val="000000"/>
                </a:solidFill>
                <a:latin typeface="Times New Roman" pitchFamily="18" charset="0"/>
                <a:ea typeface="宋体" charset="-122"/>
                <a:cs typeface="Times New Roman" pitchFamily="18" charset="0"/>
              </a:rPr>
              <a:t>在热平衡条件下：</a:t>
            </a:r>
            <a:r>
              <a:rPr kumimoji="1" lang="en-US" altLang="zh-CN" sz="2400" b="1" i="1">
                <a:solidFill>
                  <a:srgbClr val="000000"/>
                </a:solidFill>
                <a:latin typeface="Times New Roman" pitchFamily="18" charset="0"/>
                <a:ea typeface="宋体" charset="-122"/>
                <a:cs typeface="Times New Roman" pitchFamily="18" charset="0"/>
              </a:rPr>
              <a:t>R</a:t>
            </a:r>
            <a:r>
              <a:rPr kumimoji="1" lang="en-US" altLang="zh-CN" sz="2400" b="1" i="1" baseline="-25000">
                <a:solidFill>
                  <a:srgbClr val="000000"/>
                </a:solidFill>
                <a:latin typeface="Times New Roman" pitchFamily="18" charset="0"/>
                <a:ea typeface="宋体" charset="-122"/>
                <a:cs typeface="Times New Roman" pitchFamily="18" charset="0"/>
              </a:rPr>
              <a:t>1</a:t>
            </a:r>
            <a:r>
              <a:rPr kumimoji="1" lang="en-US" altLang="zh-CN" sz="2400" b="1" i="1">
                <a:solidFill>
                  <a:srgbClr val="000000"/>
                </a:solidFill>
                <a:latin typeface="Times New Roman" pitchFamily="18" charset="0"/>
                <a:ea typeface="宋体" charset="-122"/>
                <a:cs typeface="Times New Roman" pitchFamily="18" charset="0"/>
              </a:rPr>
              <a:t>=R</a:t>
            </a:r>
            <a:r>
              <a:rPr kumimoji="1" lang="en-US" altLang="zh-CN" sz="2400" b="1" i="1" baseline="-25000">
                <a:solidFill>
                  <a:srgbClr val="000000"/>
                </a:solidFill>
                <a:latin typeface="Times New Roman" pitchFamily="18" charset="0"/>
                <a:ea typeface="宋体" charset="-122"/>
                <a:cs typeface="Times New Roman" pitchFamily="18" charset="0"/>
              </a:rPr>
              <a:t>2</a:t>
            </a:r>
            <a:r>
              <a:rPr kumimoji="1" lang="zh-CN" altLang="en-US" sz="2400" b="1" i="1">
                <a:solidFill>
                  <a:srgbClr val="000000"/>
                </a:solidFill>
                <a:latin typeface="Times New Roman" pitchFamily="18" charset="0"/>
                <a:ea typeface="宋体" charset="-122"/>
                <a:cs typeface="Times New Roman" pitchFamily="18" charset="0"/>
              </a:rPr>
              <a:t>，</a:t>
            </a:r>
            <a:r>
              <a:rPr kumimoji="1" lang="en-US" altLang="zh-CN" sz="2400" b="1" i="1">
                <a:solidFill>
                  <a:srgbClr val="000000"/>
                </a:solidFill>
                <a:latin typeface="Times New Roman" pitchFamily="18" charset="0"/>
                <a:ea typeface="宋体" charset="-122"/>
                <a:cs typeface="Times New Roman" pitchFamily="18" charset="0"/>
              </a:rPr>
              <a:t>R</a:t>
            </a:r>
            <a:r>
              <a:rPr kumimoji="1" lang="en-US" altLang="zh-CN" sz="2400" b="1" i="1" baseline="-25000">
                <a:solidFill>
                  <a:srgbClr val="000000"/>
                </a:solidFill>
                <a:latin typeface="Times New Roman" pitchFamily="18" charset="0"/>
                <a:ea typeface="宋体" charset="-122"/>
                <a:cs typeface="Times New Roman" pitchFamily="18" charset="0"/>
              </a:rPr>
              <a:t>3</a:t>
            </a:r>
            <a:r>
              <a:rPr kumimoji="1" lang="en-US" altLang="zh-CN" sz="2400" b="1" i="1">
                <a:solidFill>
                  <a:srgbClr val="000000"/>
                </a:solidFill>
                <a:latin typeface="Times New Roman" pitchFamily="18" charset="0"/>
                <a:ea typeface="宋体" charset="-122"/>
                <a:cs typeface="Times New Roman" pitchFamily="18" charset="0"/>
              </a:rPr>
              <a:t>=R</a:t>
            </a:r>
            <a:r>
              <a:rPr kumimoji="1" lang="en-US" altLang="zh-CN" sz="2400" b="1" i="1" baseline="-25000">
                <a:solidFill>
                  <a:srgbClr val="000000"/>
                </a:solidFill>
                <a:latin typeface="Times New Roman" pitchFamily="18" charset="0"/>
                <a:ea typeface="宋体" charset="-122"/>
                <a:cs typeface="Times New Roman" pitchFamily="18" charset="0"/>
              </a:rPr>
              <a:t>4</a:t>
            </a:r>
            <a:r>
              <a:rPr kumimoji="1" lang="zh-CN" altLang="en-US" sz="2400" b="1">
                <a:solidFill>
                  <a:srgbClr val="000000"/>
                </a:solidFill>
                <a:latin typeface="Times New Roman" pitchFamily="18" charset="0"/>
                <a:ea typeface="宋体" charset="-122"/>
                <a:cs typeface="Times New Roman" pitchFamily="18" charset="0"/>
              </a:rPr>
              <a:t>有</a:t>
            </a:r>
          </a:p>
        </p:txBody>
      </p:sp>
      <p:sp>
        <p:nvSpPr>
          <p:cNvPr id="6" name="Text Box 16"/>
          <p:cNvSpPr txBox="1">
            <a:spLocks noChangeArrowheads="1"/>
          </p:cNvSpPr>
          <p:nvPr/>
        </p:nvSpPr>
        <p:spPr bwMode="auto">
          <a:xfrm>
            <a:off x="461092" y="2337993"/>
            <a:ext cx="8442740" cy="498598"/>
          </a:xfrm>
          <a:prstGeom prst="rect">
            <a:avLst/>
          </a:prstGeom>
          <a:noFill/>
          <a:ln w="9525">
            <a:noFill/>
            <a:miter lim="800000"/>
            <a:headEnd/>
            <a:tailEnd/>
          </a:ln>
        </p:spPr>
        <p:txBody>
          <a:bodyPr wrap="square">
            <a:spAutoFit/>
          </a:bodyPr>
          <a:lstStyle/>
          <a:p>
            <a:pPr defTabSz="914400" fontAlgn="base">
              <a:lnSpc>
                <a:spcPct val="110000"/>
              </a:lnSpc>
              <a:spcBef>
                <a:spcPct val="0"/>
              </a:spcBef>
              <a:spcAft>
                <a:spcPct val="0"/>
              </a:spcAft>
            </a:pPr>
            <a:r>
              <a:rPr kumimoji="1" lang="zh-CN" altLang="en-US" sz="2400" b="1" dirty="0">
                <a:solidFill>
                  <a:srgbClr val="000000"/>
                </a:solidFill>
                <a:latin typeface="Times New Roman" pitchFamily="18" charset="0"/>
                <a:ea typeface="宋体" charset="-122"/>
                <a:cs typeface="Times New Roman" pitchFamily="18" charset="0"/>
              </a:rPr>
              <a:t>代入</a:t>
            </a:r>
            <a:r>
              <a:rPr kumimoji="1" lang="en-US" altLang="zh-CN" sz="2400" b="1" i="1" dirty="0">
                <a:solidFill>
                  <a:srgbClr val="000000"/>
                </a:solidFill>
                <a:latin typeface="Times New Roman" pitchFamily="18" charset="0"/>
                <a:ea typeface="宋体" charset="-122"/>
                <a:cs typeface="Times New Roman" pitchFamily="18" charset="0"/>
              </a:rPr>
              <a:t>n</a:t>
            </a:r>
            <a:r>
              <a:rPr kumimoji="1" lang="zh-CN" altLang="en-US" sz="2400" b="1" dirty="0">
                <a:solidFill>
                  <a:srgbClr val="000000"/>
                </a:solidFill>
                <a:latin typeface="Times New Roman" pitchFamily="18" charset="0"/>
                <a:ea typeface="宋体" charset="-122"/>
                <a:cs typeface="Times New Roman" pitchFamily="18" charset="0"/>
              </a:rPr>
              <a:t>，</a:t>
            </a:r>
            <a:r>
              <a:rPr kumimoji="1" lang="en-US" altLang="zh-CN" sz="2400" b="1" i="1" dirty="0" smtClean="0">
                <a:solidFill>
                  <a:srgbClr val="000000"/>
                </a:solidFill>
                <a:latin typeface="Times New Roman" pitchFamily="18" charset="0"/>
                <a:ea typeface="宋体" charset="-122"/>
                <a:cs typeface="Times New Roman" pitchFamily="18" charset="0"/>
              </a:rPr>
              <a:t>p</a:t>
            </a:r>
            <a:r>
              <a:rPr kumimoji="1" lang="zh-CN" altLang="en-US" sz="2400" b="1" dirty="0" smtClean="0">
                <a:solidFill>
                  <a:srgbClr val="000000"/>
                </a:solidFill>
                <a:latin typeface="Times New Roman" pitchFamily="18" charset="0"/>
                <a:ea typeface="宋体" charset="-122"/>
                <a:cs typeface="Times New Roman" pitchFamily="18" charset="0"/>
              </a:rPr>
              <a:t>的</a:t>
            </a:r>
            <a:r>
              <a:rPr kumimoji="1" lang="zh-CN" altLang="en-US" sz="2400" b="1" dirty="0">
                <a:solidFill>
                  <a:srgbClr val="000000"/>
                </a:solidFill>
                <a:latin typeface="Times New Roman" pitchFamily="18" charset="0"/>
                <a:ea typeface="宋体" charset="-122"/>
                <a:cs typeface="Times New Roman" pitchFamily="18" charset="0"/>
              </a:rPr>
              <a:t>值，即可算出发射概率与俘获截面的依赖关系：</a:t>
            </a:r>
          </a:p>
        </p:txBody>
      </p:sp>
      <p:graphicFrame>
        <p:nvGraphicFramePr>
          <p:cNvPr id="7" name="Object 21"/>
          <p:cNvGraphicFramePr>
            <a:graphicFrameLocks noChangeAspect="1"/>
          </p:cNvGraphicFramePr>
          <p:nvPr>
            <p:extLst>
              <p:ext uri="{D42A27DB-BD31-4B8C-83A1-F6EECF244321}">
                <p14:modId xmlns:p14="http://schemas.microsoft.com/office/powerpoint/2010/main" val="404772643"/>
              </p:ext>
            </p:extLst>
          </p:nvPr>
        </p:nvGraphicFramePr>
        <p:xfrm>
          <a:off x="1021479" y="2819588"/>
          <a:ext cx="3016250" cy="762000"/>
        </p:xfrm>
        <a:graphic>
          <a:graphicData uri="http://schemas.openxmlformats.org/presentationml/2006/ole">
            <mc:AlternateContent xmlns:mc="http://schemas.openxmlformats.org/markup-compatibility/2006">
              <mc:Choice xmlns:v="urn:schemas-microsoft-com:vml" Requires="v">
                <p:oleObj spid="_x0000_s25735" name="Equation" r:id="rId5" imgW="1256755" imgH="317362" progId="Equation.DSMT4">
                  <p:embed/>
                </p:oleObj>
              </mc:Choice>
              <mc:Fallback>
                <p:oleObj name="Equation" r:id="rId5" imgW="1256755" imgH="317362" progId="Equation.DSMT4">
                  <p:embed/>
                  <p:pic>
                    <p:nvPicPr>
                      <p:cNvPr id="8398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1479" y="2819588"/>
                        <a:ext cx="3016250" cy="762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25"/>
          <p:cNvGraphicFramePr>
            <a:graphicFrameLocks noChangeAspect="1"/>
          </p:cNvGraphicFramePr>
          <p:nvPr>
            <p:extLst>
              <p:ext uri="{D42A27DB-BD31-4B8C-83A1-F6EECF244321}">
                <p14:modId xmlns:p14="http://schemas.microsoft.com/office/powerpoint/2010/main" val="39093991"/>
              </p:ext>
            </p:extLst>
          </p:nvPr>
        </p:nvGraphicFramePr>
        <p:xfrm>
          <a:off x="654767" y="1656919"/>
          <a:ext cx="3749675" cy="547688"/>
        </p:xfrm>
        <a:graphic>
          <a:graphicData uri="http://schemas.openxmlformats.org/presentationml/2006/ole">
            <mc:AlternateContent xmlns:mc="http://schemas.openxmlformats.org/markup-compatibility/2006">
              <mc:Choice xmlns:v="urn:schemas-microsoft-com:vml" Requires="v">
                <p:oleObj spid="_x0000_s25736" name="Equation" r:id="rId7" imgW="1562100" imgH="228600" progId="Equation.DSMT4">
                  <p:embed/>
                </p:oleObj>
              </mc:Choice>
              <mc:Fallback>
                <p:oleObj name="Equation" r:id="rId7" imgW="1562100" imgH="228600" progId="Equation.DSMT4">
                  <p:embed/>
                  <p:pic>
                    <p:nvPicPr>
                      <p:cNvPr id="83981"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4767" y="1656919"/>
                        <a:ext cx="3749675"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26"/>
          <p:cNvGraphicFramePr>
            <a:graphicFrameLocks noChangeAspect="1"/>
          </p:cNvGraphicFramePr>
          <p:nvPr>
            <p:extLst>
              <p:ext uri="{D42A27DB-BD31-4B8C-83A1-F6EECF244321}">
                <p14:modId xmlns:p14="http://schemas.microsoft.com/office/powerpoint/2010/main" val="1115239843"/>
              </p:ext>
            </p:extLst>
          </p:nvPr>
        </p:nvGraphicFramePr>
        <p:xfrm>
          <a:off x="4867736" y="1609083"/>
          <a:ext cx="3871912" cy="579437"/>
        </p:xfrm>
        <a:graphic>
          <a:graphicData uri="http://schemas.openxmlformats.org/presentationml/2006/ole">
            <mc:AlternateContent xmlns:mc="http://schemas.openxmlformats.org/markup-compatibility/2006">
              <mc:Choice xmlns:v="urn:schemas-microsoft-com:vml" Requires="v">
                <p:oleObj spid="_x0000_s25737" name="Equation" r:id="rId9" imgW="1612900" imgH="241300" progId="Equation.DSMT4">
                  <p:embed/>
                </p:oleObj>
              </mc:Choice>
              <mc:Fallback>
                <p:oleObj name="Equation" r:id="rId9" imgW="1612900" imgH="241300" progId="Equation.DSMT4">
                  <p:embed/>
                  <p:pic>
                    <p:nvPicPr>
                      <p:cNvPr id="83982"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7736" y="1609083"/>
                        <a:ext cx="3871912"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17"/>
          <p:cNvSpPr txBox="1"/>
          <p:nvPr/>
        </p:nvSpPr>
        <p:spPr bwMode="auto">
          <a:xfrm>
            <a:off x="172862" y="130015"/>
            <a:ext cx="8730970" cy="830997"/>
          </a:xfrm>
          <a:prstGeom prst="rect">
            <a:avLst/>
          </a:prstGeom>
          <a:noFill/>
          <a:ln w="12700" cap="sq">
            <a:noFill/>
            <a:miter lim="800000"/>
            <a:headEnd type="none" w="sm" len="sm"/>
            <a:tailEnd type="none" w="sm" len="sm"/>
          </a:ln>
          <a:effectLst/>
        </p:spPr>
        <p:txBody>
          <a:bodyPr wrap="square" rtlCol="0">
            <a:spAutoFit/>
          </a:bodyPr>
          <a:lstStyle/>
          <a:p>
            <a:pPr defTabSz="914400" fontAlgn="base">
              <a:spcBef>
                <a:spcPct val="50000"/>
              </a:spcBef>
              <a:spcAft>
                <a:spcPct val="0"/>
              </a:spcAft>
            </a:pPr>
            <a:r>
              <a:rPr kumimoji="1" lang="zh-CN" altLang="en-US" sz="2400" b="1" dirty="0" smtClean="0">
                <a:solidFill>
                  <a:srgbClr val="000000"/>
                </a:solidFill>
                <a:effectLst>
                  <a:outerShdw blurRad="38100" dist="38100" dir="2700000" algn="tl">
                    <a:srgbClr val="C0C0C0"/>
                  </a:outerShdw>
                </a:effectLst>
                <a:latin typeface="Times New Roman" pitchFamily="18" charset="0"/>
                <a:ea typeface="宋体" charset="-122"/>
              </a:rPr>
              <a:t>为了了解</a:t>
            </a:r>
            <a:r>
              <a:rPr kumimoji="1" lang="en-US" altLang="zh-CN" sz="2400" b="1" dirty="0" smtClean="0">
                <a:solidFill>
                  <a:srgbClr val="000000"/>
                </a:solidFill>
                <a:effectLst>
                  <a:outerShdw blurRad="38100" dist="38100" dir="2700000" algn="tl">
                    <a:srgbClr val="C0C0C0"/>
                  </a:outerShdw>
                </a:effectLst>
                <a:latin typeface="Times New Roman" pitchFamily="18" charset="0"/>
                <a:ea typeface="宋体" charset="-122"/>
              </a:rPr>
              <a:t>4</a:t>
            </a:r>
            <a:r>
              <a:rPr kumimoji="1" lang="zh-CN" altLang="en-US" sz="2400" b="1" dirty="0" smtClean="0">
                <a:solidFill>
                  <a:srgbClr val="000000"/>
                </a:solidFill>
                <a:effectLst>
                  <a:outerShdw blurRad="38100" dist="38100" dir="2700000" algn="tl">
                    <a:srgbClr val="C0C0C0"/>
                  </a:outerShdw>
                </a:effectLst>
                <a:latin typeface="Times New Roman" pitchFamily="18" charset="0"/>
                <a:ea typeface="宋体" charset="-122"/>
              </a:rPr>
              <a:t>个微观过程关联的复合参数的依赖关系（与体系内部因素有关，与体系状态关联性不大，为此我们考虑热平衡情形。</a:t>
            </a:r>
            <a:endParaRPr kumimoji="1" lang="zh-CN" altLang="en-US" sz="2400" b="1" dirty="0">
              <a:solidFill>
                <a:srgbClr val="000000"/>
              </a:solidFill>
              <a:effectLst>
                <a:outerShdw blurRad="38100" dist="38100" dir="2700000" algn="tl">
                  <a:srgbClr val="C0C0C0"/>
                </a:outerShdw>
              </a:effectLst>
              <a:latin typeface="Times New Roman" pitchFamily="18" charset="0"/>
              <a:ea typeface="宋体" charset="-122"/>
            </a:endParaRPr>
          </a:p>
        </p:txBody>
      </p:sp>
      <p:graphicFrame>
        <p:nvGraphicFramePr>
          <p:cNvPr id="27" name="对象 1"/>
          <p:cNvGraphicFramePr>
            <a:graphicFrameLocks noChangeAspect="1"/>
          </p:cNvGraphicFramePr>
          <p:nvPr>
            <p:extLst>
              <p:ext uri="{D42A27DB-BD31-4B8C-83A1-F6EECF244321}">
                <p14:modId xmlns:p14="http://schemas.microsoft.com/office/powerpoint/2010/main" val="487746429"/>
              </p:ext>
            </p:extLst>
          </p:nvPr>
        </p:nvGraphicFramePr>
        <p:xfrm>
          <a:off x="921467" y="5061565"/>
          <a:ext cx="2635250" cy="819150"/>
        </p:xfrm>
        <a:graphic>
          <a:graphicData uri="http://schemas.openxmlformats.org/presentationml/2006/ole">
            <mc:AlternateContent xmlns:mc="http://schemas.openxmlformats.org/markup-compatibility/2006">
              <mc:Choice xmlns:v="urn:schemas-microsoft-com:vml" Requires="v">
                <p:oleObj spid="_x0000_s25738" name="Equation" r:id="rId11" imgW="774364" imgH="241195" progId="Equation.DSMT4">
                  <p:embed/>
                </p:oleObj>
              </mc:Choice>
              <mc:Fallback>
                <p:oleObj name="Equation" r:id="rId11" imgW="774364" imgH="241195" progId="Equation.DSMT4">
                  <p:embed/>
                  <p:pic>
                    <p:nvPicPr>
                      <p:cNvPr id="3" name="对象 1"/>
                      <p:cNvPicPr>
                        <a:picLocks noChangeAspect="1" noChangeArrowheads="1"/>
                      </p:cNvPicPr>
                      <p:nvPr/>
                    </p:nvPicPr>
                    <p:blipFill>
                      <a:blip r:embed="rId12">
                        <a:extLst>
                          <a:ext uri="{28A0092B-C50C-407E-A947-70E740481C1C}">
                            <a14:useLocalDpi xmlns:a14="http://schemas.microsoft.com/office/drawing/2010/main" val="0"/>
                          </a:ext>
                        </a:extLst>
                      </a:blip>
                      <a:srcRect t="9018"/>
                      <a:stretch>
                        <a:fillRect/>
                      </a:stretch>
                    </p:blipFill>
                    <p:spPr bwMode="auto">
                      <a:xfrm>
                        <a:off x="921467" y="5061565"/>
                        <a:ext cx="2635250" cy="8191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Text Box 12"/>
          <p:cNvSpPr txBox="1">
            <a:spLocks noChangeArrowheads="1"/>
          </p:cNvSpPr>
          <p:nvPr/>
        </p:nvSpPr>
        <p:spPr bwMode="auto">
          <a:xfrm>
            <a:off x="461092" y="3808165"/>
            <a:ext cx="3095625" cy="500063"/>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400" b="1">
                <a:solidFill>
                  <a:srgbClr val="000000"/>
                </a:solidFill>
                <a:latin typeface="宋体" charset="-122"/>
                <a:ea typeface="宋体" charset="-122"/>
              </a:rPr>
              <a:t>可以推测，当：</a:t>
            </a:r>
          </a:p>
        </p:txBody>
      </p:sp>
      <p:graphicFrame>
        <p:nvGraphicFramePr>
          <p:cNvPr id="29" name="Object 17"/>
          <p:cNvGraphicFramePr>
            <a:graphicFrameLocks noChangeAspect="1"/>
          </p:cNvGraphicFramePr>
          <p:nvPr>
            <p:extLst>
              <p:ext uri="{D42A27DB-BD31-4B8C-83A1-F6EECF244321}">
                <p14:modId xmlns:p14="http://schemas.microsoft.com/office/powerpoint/2010/main" val="3227666861"/>
              </p:ext>
            </p:extLst>
          </p:nvPr>
        </p:nvGraphicFramePr>
        <p:xfrm>
          <a:off x="892892" y="4230952"/>
          <a:ext cx="2589213" cy="777875"/>
        </p:xfrm>
        <a:graphic>
          <a:graphicData uri="http://schemas.openxmlformats.org/presentationml/2006/ole">
            <mc:AlternateContent xmlns:mc="http://schemas.openxmlformats.org/markup-compatibility/2006">
              <mc:Choice xmlns:v="urn:schemas-microsoft-com:vml" Requires="v">
                <p:oleObj spid="_x0000_s25739" name="Equation" r:id="rId13" imgW="761669" imgH="228501" progId="Equation.DSMT4">
                  <p:embed/>
                </p:oleObj>
              </mc:Choice>
              <mc:Fallback>
                <p:oleObj name="Equation" r:id="rId13" imgW="761669" imgH="228501" progId="Equation.DSMT4">
                  <p:embed/>
                  <p:pic>
                    <p:nvPicPr>
                      <p:cNvPr id="7" name="Object 17"/>
                      <p:cNvPicPr>
                        <a:picLocks noChangeAspect="1" noChangeArrowheads="1"/>
                      </p:cNvPicPr>
                      <p:nvPr/>
                    </p:nvPicPr>
                    <p:blipFill>
                      <a:blip r:embed="rId14">
                        <a:extLst>
                          <a:ext uri="{28A0092B-C50C-407E-A947-70E740481C1C}">
                            <a14:useLocalDpi xmlns:a14="http://schemas.microsoft.com/office/drawing/2010/main" val="0"/>
                          </a:ext>
                        </a:extLst>
                      </a:blip>
                      <a:srcRect t="9018"/>
                      <a:stretch>
                        <a:fillRect/>
                      </a:stretch>
                    </p:blipFill>
                    <p:spPr bwMode="auto">
                      <a:xfrm>
                        <a:off x="892892" y="4230952"/>
                        <a:ext cx="2589213" cy="777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 name="Text Box 21"/>
          <p:cNvSpPr txBox="1">
            <a:spLocks noChangeArrowheads="1"/>
          </p:cNvSpPr>
          <p:nvPr/>
        </p:nvSpPr>
        <p:spPr bwMode="auto">
          <a:xfrm>
            <a:off x="3829767" y="4086490"/>
            <a:ext cx="4752975" cy="904875"/>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400" b="1">
                <a:solidFill>
                  <a:srgbClr val="000000"/>
                </a:solidFill>
                <a:latin typeface="宋体" charset="-122"/>
                <a:ea typeface="宋体" charset="-122"/>
              </a:rPr>
              <a:t>复合中心俘获的电子很容易重新发射回导带，不利于复合的发生</a:t>
            </a:r>
          </a:p>
        </p:txBody>
      </p:sp>
      <p:sp>
        <p:nvSpPr>
          <p:cNvPr id="31" name="Text Box 22"/>
          <p:cNvSpPr txBox="1">
            <a:spLocks noChangeArrowheads="1"/>
          </p:cNvSpPr>
          <p:nvPr/>
        </p:nvSpPr>
        <p:spPr bwMode="auto">
          <a:xfrm>
            <a:off x="3829767" y="5023115"/>
            <a:ext cx="4608513" cy="904875"/>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400" b="1" dirty="0">
                <a:solidFill>
                  <a:srgbClr val="000000"/>
                </a:solidFill>
                <a:latin typeface="宋体" charset="-122"/>
                <a:ea typeface="宋体" charset="-122"/>
              </a:rPr>
              <a:t>复合中心俘获的空穴很容易重新发射回价带，不利于复合的发生</a:t>
            </a:r>
          </a:p>
        </p:txBody>
      </p:sp>
      <p:sp>
        <p:nvSpPr>
          <p:cNvPr id="32" name="Text Box 16"/>
          <p:cNvSpPr txBox="1">
            <a:spLocks noChangeArrowheads="1"/>
          </p:cNvSpPr>
          <p:nvPr/>
        </p:nvSpPr>
        <p:spPr bwMode="auto">
          <a:xfrm>
            <a:off x="569249" y="5919165"/>
            <a:ext cx="7869031" cy="904863"/>
          </a:xfrm>
          <a:prstGeom prst="rect">
            <a:avLst/>
          </a:prstGeom>
          <a:noFill/>
          <a:ln w="38100" cap="sq">
            <a:noFill/>
            <a:miter lim="800000"/>
            <a:headEnd type="none" w="sm" len="sm"/>
            <a:tailEnd type="none" w="sm" len="sm"/>
          </a:ln>
        </p:spPr>
        <p:txBody>
          <a:bodyPr wrap="square">
            <a:spAutoFit/>
          </a:bodyPr>
          <a:lstStyle/>
          <a:p>
            <a:pPr defTabSz="914400" eaLnBrk="0" fontAlgn="base" hangingPunct="0">
              <a:lnSpc>
                <a:spcPct val="110000"/>
              </a:lnSpc>
              <a:spcBef>
                <a:spcPct val="0"/>
              </a:spcBef>
              <a:spcAft>
                <a:spcPct val="0"/>
              </a:spcAft>
            </a:pPr>
            <a:r>
              <a:rPr kumimoji="1" lang="zh-CN" altLang="en-US" sz="2400" b="1" dirty="0" smtClean="0">
                <a:solidFill>
                  <a:srgbClr val="FF0000"/>
                </a:solidFill>
                <a:latin typeface="宋体" charset="-122"/>
                <a:ea typeface="宋体" charset="-122"/>
              </a:rPr>
              <a:t>这说明，复合</a:t>
            </a:r>
            <a:r>
              <a:rPr kumimoji="1" lang="zh-CN" altLang="en-US" sz="2400" b="1" dirty="0">
                <a:solidFill>
                  <a:srgbClr val="FF0000"/>
                </a:solidFill>
                <a:latin typeface="宋体" charset="-122"/>
                <a:ea typeface="宋体" charset="-122"/>
              </a:rPr>
              <a:t>中心能级在靠近导带或价带时，复合中心将不能起到有效的复合作用。</a:t>
            </a:r>
          </a:p>
        </p:txBody>
      </p:sp>
    </p:spTree>
    <p:extLst>
      <p:ext uri="{BB962C8B-B14F-4D97-AF65-F5344CB8AC3E}">
        <p14:creationId xmlns:p14="http://schemas.microsoft.com/office/powerpoint/2010/main" val="3532344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28</a:t>
            </a:fld>
            <a:endParaRPr lang="zh-CN" altLang="en-US"/>
          </a:p>
        </p:txBody>
      </p:sp>
      <p:sp>
        <p:nvSpPr>
          <p:cNvPr id="3" name="Text Box 11"/>
          <p:cNvSpPr txBox="1">
            <a:spLocks noChangeArrowheads="1"/>
          </p:cNvSpPr>
          <p:nvPr/>
        </p:nvSpPr>
        <p:spPr bwMode="auto">
          <a:xfrm>
            <a:off x="529917" y="4155256"/>
            <a:ext cx="5256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400" b="1" u="none">
                <a:latin typeface="华文中宋" panose="02010600040101010101" pitchFamily="2" charset="-122"/>
                <a:ea typeface="华文中宋" panose="02010600040101010101" pitchFamily="2" charset="-122"/>
              </a:rPr>
              <a:t>则净复合率的表达式可写为：</a:t>
            </a:r>
          </a:p>
        </p:txBody>
      </p:sp>
      <p:sp>
        <p:nvSpPr>
          <p:cNvPr id="4" name="Text Box 15"/>
          <p:cNvSpPr txBox="1">
            <a:spLocks noChangeArrowheads="1"/>
          </p:cNvSpPr>
          <p:nvPr/>
        </p:nvSpPr>
        <p:spPr bwMode="auto">
          <a:xfrm>
            <a:off x="125105" y="926281"/>
            <a:ext cx="88931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2400" b="1" u="none">
                <a:latin typeface="华文中宋" panose="02010600040101010101" pitchFamily="2" charset="-122"/>
                <a:ea typeface="华文中宋" panose="02010600040101010101" pitchFamily="2" charset="-122"/>
              </a:rPr>
              <a:t>因为讨论的重点是了解非平衡复合时的特点，为此，我们可假设电子和空穴的俘获系数相同（</a:t>
            </a:r>
            <a:r>
              <a:rPr lang="zh-CN" altLang="en-US" sz="2400" b="1" u="none">
                <a:solidFill>
                  <a:srgbClr val="0000FF"/>
                </a:solidFill>
                <a:latin typeface="华文中宋" panose="02010600040101010101" pitchFamily="2" charset="-122"/>
                <a:ea typeface="华文中宋" panose="02010600040101010101" pitchFamily="2" charset="-122"/>
              </a:rPr>
              <a:t>不影响定性结论</a:t>
            </a:r>
            <a:r>
              <a:rPr lang="zh-CN" altLang="en-US" sz="2400" b="1" u="none">
                <a:latin typeface="华文中宋" panose="02010600040101010101" pitchFamily="2" charset="-122"/>
                <a:ea typeface="华文中宋" panose="02010600040101010101" pitchFamily="2" charset="-122"/>
              </a:rPr>
              <a:t>），即：</a:t>
            </a:r>
          </a:p>
        </p:txBody>
      </p:sp>
      <p:sp>
        <p:nvSpPr>
          <p:cNvPr id="5" name="Rectangle 20"/>
          <p:cNvSpPr>
            <a:spLocks noChangeArrowheads="1"/>
          </p:cNvSpPr>
          <p:nvPr/>
        </p:nvSpPr>
        <p:spPr bwMode="auto">
          <a:xfrm>
            <a:off x="172730" y="2420119"/>
            <a:ext cx="8283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400" b="1" u="none">
                <a:latin typeface="华文中宋" panose="02010600040101010101" pitchFamily="2" charset="-122"/>
                <a:ea typeface="华文中宋" panose="02010600040101010101" pitchFamily="2" charset="-122"/>
              </a:rPr>
              <a:t>同时利用热平衡条件下推导的发射概率表达式代入，即可得</a:t>
            </a:r>
          </a:p>
        </p:txBody>
      </p:sp>
      <p:pic>
        <p:nvPicPr>
          <p:cNvPr id="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30205" y="1807344"/>
            <a:ext cx="29686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27005" y="2855094"/>
            <a:ext cx="4887912"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04780" y="4736281"/>
            <a:ext cx="456247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2205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29</a:t>
            </a:fld>
            <a:endParaRPr lang="zh-CN" altLang="en-US"/>
          </a:p>
        </p:txBody>
      </p:sp>
      <p:sp>
        <p:nvSpPr>
          <p:cNvPr id="3" name="Text Box 9"/>
          <p:cNvSpPr txBox="1">
            <a:spLocks noChangeArrowheads="1"/>
          </p:cNvSpPr>
          <p:nvPr/>
        </p:nvSpPr>
        <p:spPr bwMode="auto">
          <a:xfrm>
            <a:off x="275610" y="2217533"/>
            <a:ext cx="8064500"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marL="341313" indent="-341313">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10000"/>
              </a:lnSpc>
              <a:spcBef>
                <a:spcPct val="50000"/>
              </a:spcBef>
              <a:buFontTx/>
              <a:buNone/>
            </a:pP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1. </a:t>
            </a:r>
            <a:r>
              <a:rPr lang="zh-CN" altLang="en-US" sz="2200" b="1" u="none" dirty="0">
                <a:solidFill>
                  <a:srgbClr val="FF3300"/>
                </a:solidFill>
                <a:latin typeface="Arial" panose="020B0604020202020204" pitchFamily="34" charset="0"/>
                <a:ea typeface="华文中宋" panose="02010600040101010101" pitchFamily="2" charset="-122"/>
                <a:cs typeface="Times New Roman" panose="02020603050405020304" pitchFamily="18" charset="0"/>
              </a:rPr>
              <a:t>促进复合的“驱动力”或复合速率与 </a:t>
            </a:r>
            <a:r>
              <a:rPr lang="en-US" altLang="zh-CN" sz="2200" b="1" i="1" u="none" dirty="0" err="1">
                <a:solidFill>
                  <a:srgbClr val="FF3300"/>
                </a:solidFill>
                <a:latin typeface="Arial" panose="020B0604020202020204" pitchFamily="34" charset="0"/>
                <a:ea typeface="华文中宋" panose="02010600040101010101" pitchFamily="2" charset="-122"/>
                <a:cs typeface="Times New Roman" panose="02020603050405020304" pitchFamily="18" charset="0"/>
              </a:rPr>
              <a:t>pn</a:t>
            </a:r>
            <a:r>
              <a:rPr lang="zh-CN" altLang="en-US" sz="2200" b="1" i="1" u="none" dirty="0">
                <a:solidFill>
                  <a:srgbClr val="FF3300"/>
                </a:solidFill>
                <a:latin typeface="Arial" panose="020B0604020202020204" pitchFamily="34" charset="0"/>
                <a:ea typeface="华文中宋" panose="02010600040101010101" pitchFamily="2" charset="-122"/>
                <a:cs typeface="Times New Roman" panose="02020603050405020304" pitchFamily="18" charset="0"/>
              </a:rPr>
              <a:t>－</a:t>
            </a:r>
            <a:r>
              <a:rPr lang="en-US" altLang="zh-CN" sz="2200" b="1" i="1" u="none" dirty="0">
                <a:solidFill>
                  <a:srgbClr val="FF3300"/>
                </a:solidFill>
                <a:latin typeface="Arial" panose="020B0604020202020204" pitchFamily="34" charset="0"/>
                <a:ea typeface="华文中宋" panose="02010600040101010101" pitchFamily="2" charset="-122"/>
                <a:cs typeface="Times New Roman" panose="02020603050405020304" pitchFamily="18" charset="0"/>
              </a:rPr>
              <a:t>n</a:t>
            </a:r>
            <a:r>
              <a:rPr lang="en-US" altLang="zh-CN" sz="2200" b="1" i="1" u="none" baseline="-25000" dirty="0">
                <a:solidFill>
                  <a:srgbClr val="FF3300"/>
                </a:solidFill>
                <a:latin typeface="Arial" panose="020B0604020202020204" pitchFamily="34" charset="0"/>
                <a:ea typeface="华文中宋" panose="02010600040101010101" pitchFamily="2" charset="-122"/>
                <a:cs typeface="Times New Roman" panose="02020603050405020304" pitchFamily="18" charset="0"/>
              </a:rPr>
              <a:t>i</a:t>
            </a:r>
            <a:r>
              <a:rPr lang="en-US" altLang="zh-CN" sz="2200" b="1" i="1" u="none" baseline="30000" dirty="0">
                <a:solidFill>
                  <a:srgbClr val="FF3300"/>
                </a:solidFill>
                <a:latin typeface="Arial" panose="020B0604020202020204" pitchFamily="34" charset="0"/>
                <a:ea typeface="华文中宋" panose="02010600040101010101" pitchFamily="2" charset="-122"/>
                <a:cs typeface="Times New Roman" panose="02020603050405020304" pitchFamily="18" charset="0"/>
              </a:rPr>
              <a:t>2</a:t>
            </a:r>
            <a:r>
              <a:rPr lang="zh-CN" altLang="en-US" sz="2200" b="1" u="none" dirty="0">
                <a:solidFill>
                  <a:srgbClr val="FF3300"/>
                </a:solidFill>
                <a:latin typeface="Arial" panose="020B0604020202020204" pitchFamily="34" charset="0"/>
                <a:ea typeface="华文中宋" panose="02010600040101010101" pitchFamily="2" charset="-122"/>
                <a:cs typeface="Times New Roman" panose="02020603050405020304" pitchFamily="18" charset="0"/>
              </a:rPr>
              <a:t> 成正比</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sym typeface="Symbol" panose="05050102010706020507" pitchFamily="18" charset="2"/>
              </a:rPr>
              <a:t>，</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这与直接复合时的情形相同。在热平衡态时 </a:t>
            </a:r>
            <a:r>
              <a:rPr lang="en-US" altLang="zh-CN" sz="2200" b="1" i="1" u="none" dirty="0" err="1">
                <a:latin typeface="Arial" panose="020B0604020202020204" pitchFamily="34" charset="0"/>
                <a:ea typeface="华文中宋" panose="02010600040101010101" pitchFamily="2" charset="-122"/>
                <a:cs typeface="Times New Roman" panose="02020603050405020304" pitchFamily="18" charset="0"/>
              </a:rPr>
              <a:t>pn</a:t>
            </a:r>
            <a:r>
              <a:rPr lang="zh-CN" altLang="en-US" sz="2200" b="1" i="1" u="none" dirty="0">
                <a:latin typeface="Arial" panose="020B0604020202020204" pitchFamily="34" charset="0"/>
                <a:ea typeface="华文中宋" panose="02010600040101010101" pitchFamily="2" charset="-122"/>
                <a:cs typeface="Times New Roman" panose="02020603050405020304" pitchFamily="18" charset="0"/>
              </a:rPr>
              <a:t>＝</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n</a:t>
            </a:r>
            <a:r>
              <a:rPr lang="en-US" altLang="zh-CN" sz="2200" b="1" i="1" u="none" baseline="-25000" dirty="0">
                <a:latin typeface="Arial" panose="020B0604020202020204" pitchFamily="34" charset="0"/>
                <a:ea typeface="华文中宋" panose="02010600040101010101" pitchFamily="2" charset="-122"/>
                <a:cs typeface="Times New Roman" panose="02020603050405020304" pitchFamily="18" charset="0"/>
              </a:rPr>
              <a:t>i</a:t>
            </a:r>
            <a:r>
              <a:rPr lang="en-US" altLang="zh-CN" sz="2200" b="1" i="1" u="none" baseline="30000" dirty="0">
                <a:latin typeface="Arial" panose="020B0604020202020204" pitchFamily="34" charset="0"/>
                <a:ea typeface="华文中宋" panose="02010600040101010101" pitchFamily="2" charset="-122"/>
                <a:cs typeface="Times New Roman" panose="02020603050405020304" pitchFamily="18" charset="0"/>
              </a:rPr>
              <a:t>2</a:t>
            </a: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 </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，净复合率 </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U=0</a:t>
            </a:r>
            <a:endParaRPr lang="zh-CN" altLang="en-US" sz="2200" b="1" u="none" dirty="0">
              <a:latin typeface="Arial" panose="020B0604020202020204" pitchFamily="34" charset="0"/>
              <a:ea typeface="华文中宋" panose="02010600040101010101" pitchFamily="2" charset="-122"/>
              <a:cs typeface="Times New Roman" panose="02020603050405020304" pitchFamily="18" charset="0"/>
            </a:endParaRPr>
          </a:p>
          <a:p>
            <a:pPr>
              <a:lnSpc>
                <a:spcPct val="110000"/>
              </a:lnSpc>
              <a:spcBef>
                <a:spcPct val="50000"/>
              </a:spcBef>
              <a:buFontTx/>
              <a:buNone/>
            </a:pP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2. </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当 </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E</a:t>
            </a:r>
            <a:r>
              <a:rPr lang="en-US" altLang="zh-CN" sz="2200" b="1" i="1" u="none" baseline="-25000" dirty="0">
                <a:latin typeface="Arial" panose="020B0604020202020204" pitchFamily="34" charset="0"/>
                <a:ea typeface="华文中宋" panose="02010600040101010101" pitchFamily="2" charset="-122"/>
                <a:cs typeface="Times New Roman" panose="02020603050405020304" pitchFamily="18" charset="0"/>
              </a:rPr>
              <a:t>t</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a:t>
            </a:r>
            <a:r>
              <a:rPr lang="en-US" altLang="zh-CN" sz="2200" b="1" i="1" u="none" dirty="0" err="1">
                <a:latin typeface="Arial" panose="020B0604020202020204" pitchFamily="34" charset="0"/>
                <a:ea typeface="华文中宋" panose="02010600040101010101" pitchFamily="2" charset="-122"/>
                <a:cs typeface="Times New Roman" panose="02020603050405020304" pitchFamily="18" charset="0"/>
              </a:rPr>
              <a:t>E</a:t>
            </a:r>
            <a:r>
              <a:rPr lang="en-US" altLang="zh-CN" sz="2200" b="1" i="1" u="none" baseline="-25000" dirty="0" err="1">
                <a:latin typeface="Arial" panose="020B0604020202020204" pitchFamily="34" charset="0"/>
                <a:ea typeface="华文中宋" panose="02010600040101010101" pitchFamily="2" charset="-122"/>
                <a:cs typeface="Times New Roman" panose="02020603050405020304" pitchFamily="18" charset="0"/>
              </a:rPr>
              <a:t>i</a:t>
            </a:r>
            <a:r>
              <a:rPr lang="en-US" altLang="zh-CN" sz="2200" b="1" i="1" u="none" baseline="-25000" dirty="0">
                <a:latin typeface="Arial" panose="020B0604020202020204" pitchFamily="34" charset="0"/>
                <a:ea typeface="华文中宋" panose="02010600040101010101" pitchFamily="2" charset="-122"/>
                <a:cs typeface="Times New Roman" panose="02020603050405020304" pitchFamily="18" charset="0"/>
              </a:rPr>
              <a:t> </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时，净复合率 </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U </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取最大值，也就是说，</a:t>
            </a:r>
            <a:r>
              <a:rPr lang="zh-CN" altLang="en-US" sz="2200" b="1" u="none" dirty="0">
                <a:solidFill>
                  <a:srgbClr val="FF3300"/>
                </a:solidFill>
                <a:latin typeface="Arial" panose="020B0604020202020204" pitchFamily="34" charset="0"/>
                <a:ea typeface="华文中宋" panose="02010600040101010101" pitchFamily="2" charset="-122"/>
                <a:cs typeface="Times New Roman" panose="02020603050405020304" pitchFamily="18" charset="0"/>
              </a:rPr>
              <a:t>复合陷阱能级位于本征费米能级附近（室温时在禁带中央）时，是最有效的复合中心</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a:t>
            </a:r>
          </a:p>
          <a:p>
            <a:pPr>
              <a:lnSpc>
                <a:spcPct val="110000"/>
              </a:lnSpc>
              <a:spcBef>
                <a:spcPct val="50000"/>
              </a:spcBef>
              <a:buFontTx/>
              <a:buNone/>
            </a:pP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3. </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当 </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E</a:t>
            </a:r>
            <a:r>
              <a:rPr lang="en-US" altLang="zh-CN" sz="2200" b="1" i="1" u="none" baseline="-25000" dirty="0">
                <a:latin typeface="Arial" panose="020B0604020202020204" pitchFamily="34" charset="0"/>
                <a:ea typeface="华文中宋" panose="02010600040101010101" pitchFamily="2" charset="-122"/>
                <a:cs typeface="Times New Roman" panose="02020603050405020304" pitchFamily="18" charset="0"/>
              </a:rPr>
              <a:t>t</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 </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sym typeface="Wingdings" panose="05000000000000000000" pitchFamily="2" charset="2"/>
              </a:rPr>
              <a:t></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E</a:t>
            </a:r>
            <a:r>
              <a:rPr lang="en-US" altLang="zh-CN" sz="2200" b="1" i="1" u="none" baseline="-25000" dirty="0">
                <a:latin typeface="Arial" panose="020B0604020202020204" pitchFamily="34" charset="0"/>
                <a:ea typeface="华文中宋" panose="02010600040101010101" pitchFamily="2" charset="-122"/>
                <a:cs typeface="Times New Roman" panose="02020603050405020304" pitchFamily="18" charset="0"/>
              </a:rPr>
              <a:t>C </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时，电子俘获几率很大而空穴俘获几率很小；当 </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E</a:t>
            </a:r>
            <a:r>
              <a:rPr lang="en-US" altLang="zh-CN" sz="2200" b="1" i="1" u="none" baseline="-25000" dirty="0">
                <a:latin typeface="Arial" panose="020B0604020202020204" pitchFamily="34" charset="0"/>
                <a:ea typeface="华文中宋" panose="02010600040101010101" pitchFamily="2" charset="-122"/>
                <a:cs typeface="Times New Roman" panose="02020603050405020304" pitchFamily="18" charset="0"/>
              </a:rPr>
              <a:t>t</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 </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sym typeface="Wingdings" panose="05000000000000000000" pitchFamily="2" charset="2"/>
              </a:rPr>
              <a:t></a:t>
            </a:r>
            <a:r>
              <a:rPr lang="en-US" altLang="zh-CN" sz="2200" b="1" i="1" u="none" dirty="0">
                <a:latin typeface="Arial" panose="020B0604020202020204" pitchFamily="34" charset="0"/>
                <a:ea typeface="华文中宋" panose="02010600040101010101" pitchFamily="2" charset="-122"/>
                <a:cs typeface="Times New Roman" panose="02020603050405020304" pitchFamily="18" charset="0"/>
              </a:rPr>
              <a:t> E</a:t>
            </a:r>
            <a:r>
              <a:rPr lang="en-US" altLang="zh-CN" sz="2200" b="1" i="1" u="none" baseline="-25000" dirty="0">
                <a:latin typeface="Arial" panose="020B0604020202020204" pitchFamily="34" charset="0"/>
                <a:ea typeface="华文中宋" panose="02010600040101010101" pitchFamily="2" charset="-122"/>
                <a:cs typeface="Times New Roman" panose="02020603050405020304" pitchFamily="18" charset="0"/>
              </a:rPr>
              <a:t>V </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时，空穴俘获几率很大而电子俘获几率很小。</a:t>
            </a:r>
          </a:p>
          <a:p>
            <a:pPr>
              <a:lnSpc>
                <a:spcPct val="110000"/>
              </a:lnSpc>
              <a:spcBef>
                <a:spcPct val="50000"/>
              </a:spcBef>
              <a:buFontTx/>
              <a:buNone/>
            </a:pPr>
            <a:r>
              <a:rPr lang="zh-CN" altLang="en-US" sz="2200" b="1" dirty="0">
                <a:solidFill>
                  <a:srgbClr val="0000FF"/>
                </a:solidFill>
                <a:latin typeface="Arial" panose="020B0604020202020204" pitchFamily="34" charset="0"/>
                <a:ea typeface="华文中宋" panose="02010600040101010101" pitchFamily="2" charset="-122"/>
                <a:cs typeface="Times New Roman" panose="02020603050405020304" pitchFamily="18" charset="0"/>
              </a:rPr>
              <a:t>以上两种情况使得净复合率不大，复合中心对复合作用不大。</a:t>
            </a:r>
          </a:p>
        </p:txBody>
      </p:sp>
      <p:sp>
        <p:nvSpPr>
          <p:cNvPr id="4" name="Rectangle 12"/>
          <p:cNvSpPr>
            <a:spLocks noChangeArrowheads="1"/>
          </p:cNvSpPr>
          <p:nvPr/>
        </p:nvSpPr>
        <p:spPr bwMode="auto">
          <a:xfrm>
            <a:off x="275610" y="901495"/>
            <a:ext cx="8416925"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10000"/>
              </a:lnSpc>
              <a:spcBef>
                <a:spcPct val="0"/>
              </a:spcBef>
              <a:buFontTx/>
              <a:buNone/>
            </a:pP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以上结果是非常重要的，是讨论载流子复合规律的理论基础。该理论表达式由</a:t>
            </a: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Shockley</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a:t>
            </a: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Read</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和</a:t>
            </a: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Hall</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导出，称为</a:t>
            </a: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SRH</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复合理论。 基于</a:t>
            </a:r>
            <a:r>
              <a:rPr lang="en-US" altLang="zh-CN" sz="2200" b="1" u="none" dirty="0">
                <a:latin typeface="Arial" panose="020B0604020202020204" pitchFamily="34" charset="0"/>
                <a:ea typeface="华文中宋" panose="02010600040101010101" pitchFamily="2" charset="-122"/>
                <a:cs typeface="Times New Roman" panose="02020603050405020304" pitchFamily="18" charset="0"/>
              </a:rPr>
              <a:t>SRH</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复合理论可以导出一些重要的</a:t>
            </a:r>
            <a:r>
              <a:rPr lang="zh-CN" altLang="en-US" sz="2200" b="1" u="none" dirty="0">
                <a:solidFill>
                  <a:srgbClr val="0000FF"/>
                </a:solidFill>
                <a:latin typeface="Arial" panose="020B0604020202020204" pitchFamily="34" charset="0"/>
                <a:ea typeface="华文中宋" panose="02010600040101010101" pitchFamily="2" charset="-122"/>
                <a:cs typeface="Times New Roman" panose="02020603050405020304" pitchFamily="18" charset="0"/>
              </a:rPr>
              <a:t>指导性的结论</a:t>
            </a:r>
            <a:r>
              <a:rPr lang="zh-CN" altLang="en-US" sz="2200" b="1" u="none" dirty="0">
                <a:latin typeface="Arial" panose="020B0604020202020204" pitchFamily="34" charset="0"/>
                <a:ea typeface="华文中宋"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675222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5322" y="4325425"/>
            <a:ext cx="5235575"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fld id="{B6DE0A5B-1E35-4081-8D72-3B0687A5C65D}" type="slidenum">
              <a:rPr lang="zh-CN" altLang="en-US" smtClean="0"/>
              <a:t>30</a:t>
            </a:fld>
            <a:endParaRPr lang="zh-CN" altLang="en-US"/>
          </a:p>
        </p:txBody>
      </p:sp>
      <p:sp>
        <p:nvSpPr>
          <p:cNvPr id="3" name="Text Box 11"/>
          <p:cNvSpPr txBox="1">
            <a:spLocks noChangeArrowheads="1"/>
          </p:cNvSpPr>
          <p:nvPr/>
        </p:nvSpPr>
        <p:spPr bwMode="auto">
          <a:xfrm>
            <a:off x="2676525" y="2810103"/>
            <a:ext cx="2376487" cy="461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2400" b="1" u="none">
                <a:latin typeface="华文中宋" panose="02010600040101010101" pitchFamily="2" charset="-122"/>
                <a:ea typeface="华文中宋" panose="02010600040101010101" pitchFamily="2" charset="-122"/>
              </a:rPr>
              <a:t>平衡时</a:t>
            </a:r>
          </a:p>
        </p:txBody>
      </p:sp>
      <p:sp>
        <p:nvSpPr>
          <p:cNvPr id="4" name="Text Box 12"/>
          <p:cNvSpPr txBox="1">
            <a:spLocks noChangeArrowheads="1"/>
          </p:cNvSpPr>
          <p:nvPr/>
        </p:nvSpPr>
        <p:spPr bwMode="auto">
          <a:xfrm>
            <a:off x="6767513" y="2837091"/>
            <a:ext cx="2376487" cy="460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2400" b="1" u="none">
                <a:latin typeface="华文中宋" panose="02010600040101010101" pitchFamily="2" charset="-122"/>
                <a:ea typeface="华文中宋" panose="02010600040101010101" pitchFamily="2" charset="-122"/>
              </a:rPr>
              <a:t>小注入时</a:t>
            </a:r>
          </a:p>
        </p:txBody>
      </p:sp>
      <p:sp>
        <p:nvSpPr>
          <p:cNvPr id="5" name="Text Box 13"/>
          <p:cNvSpPr txBox="1">
            <a:spLocks noChangeArrowheads="1"/>
          </p:cNvSpPr>
          <p:nvPr/>
        </p:nvSpPr>
        <p:spPr bwMode="auto">
          <a:xfrm>
            <a:off x="447675" y="291176"/>
            <a:ext cx="1223963"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400" b="1" u="none">
                <a:latin typeface="华文中宋" panose="02010600040101010101" pitchFamily="2" charset="-122"/>
                <a:ea typeface="华文中宋" panose="02010600040101010101" pitchFamily="2" charset="-122"/>
              </a:rPr>
              <a:t>假设</a:t>
            </a:r>
          </a:p>
        </p:txBody>
      </p:sp>
      <p:sp>
        <p:nvSpPr>
          <p:cNvPr id="6" name="Text Box 20"/>
          <p:cNvSpPr txBox="1">
            <a:spLocks noChangeArrowheads="1"/>
          </p:cNvSpPr>
          <p:nvPr/>
        </p:nvSpPr>
        <p:spPr bwMode="auto">
          <a:xfrm>
            <a:off x="447675" y="1141972"/>
            <a:ext cx="785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400" b="1" u="none">
                <a:solidFill>
                  <a:srgbClr val="FF3300"/>
                </a:solidFill>
                <a:latin typeface="Arial" panose="020B0604020202020204" pitchFamily="34" charset="0"/>
                <a:ea typeface="华文中宋" panose="02010600040101010101" pitchFamily="2" charset="-122"/>
                <a:cs typeface="Times New Roman" panose="02020603050405020304" pitchFamily="18" charset="0"/>
              </a:rPr>
              <a:t>举例：</a:t>
            </a:r>
            <a:r>
              <a:rPr lang="zh-CN" altLang="en-US" sz="2400" b="1" u="none">
                <a:latin typeface="Arial" panose="020B0604020202020204" pitchFamily="34" charset="0"/>
                <a:ea typeface="华文中宋" panose="02010600040101010101" pitchFamily="2" charset="-122"/>
                <a:cs typeface="Times New Roman" panose="02020603050405020304" pitchFamily="18" charset="0"/>
              </a:rPr>
              <a:t>具体讨论 </a:t>
            </a:r>
            <a:r>
              <a:rPr lang="en-US" altLang="zh-CN" sz="2400" b="1" i="1" u="none">
                <a:latin typeface="Arial" panose="020B0604020202020204" pitchFamily="34" charset="0"/>
                <a:ea typeface="华文中宋" panose="02010600040101010101" pitchFamily="2" charset="-122"/>
                <a:cs typeface="Times New Roman" panose="02020603050405020304" pitchFamily="18" charset="0"/>
              </a:rPr>
              <a:t>N</a:t>
            </a:r>
            <a:r>
              <a:rPr lang="en-US" altLang="zh-CN" sz="2400" b="1" i="1" u="none" baseline="-25000">
                <a:latin typeface="Arial" panose="020B0604020202020204" pitchFamily="34" charset="0"/>
                <a:ea typeface="华文中宋" panose="02010600040101010101" pitchFamily="2" charset="-122"/>
                <a:cs typeface="Times New Roman" panose="02020603050405020304" pitchFamily="18" charset="0"/>
              </a:rPr>
              <a:t>d </a:t>
            </a:r>
            <a:r>
              <a:rPr lang="zh-CN" altLang="en-US" sz="2400" b="1" u="none">
                <a:latin typeface="Arial" panose="020B0604020202020204" pitchFamily="34" charset="0"/>
                <a:ea typeface="华文中宋" panose="02010600040101010101" pitchFamily="2" charset="-122"/>
                <a:cs typeface="Times New Roman" panose="02020603050405020304" pitchFamily="18" charset="0"/>
              </a:rPr>
              <a:t>掺杂情形：</a:t>
            </a:r>
            <a:r>
              <a:rPr lang="en-US" altLang="zh-CN" sz="2400" b="1" i="1" u="none">
                <a:latin typeface="Arial" panose="020B0604020202020204" pitchFamily="34" charset="0"/>
                <a:ea typeface="华文中宋" panose="02010600040101010101" pitchFamily="2" charset="-122"/>
                <a:cs typeface="Times New Roman" panose="02020603050405020304" pitchFamily="18" charset="0"/>
              </a:rPr>
              <a:t>n</a:t>
            </a:r>
            <a:r>
              <a:rPr lang="en-US" altLang="zh-CN" sz="2400" b="1" u="none">
                <a:latin typeface="Arial" panose="020B0604020202020204" pitchFamily="34" charset="0"/>
                <a:ea typeface="华文中宋" panose="02010600040101010101" pitchFamily="2" charset="-122"/>
                <a:cs typeface="Times New Roman" panose="02020603050405020304" pitchFamily="18" charset="0"/>
              </a:rPr>
              <a:t>&gt;&gt;</a:t>
            </a:r>
            <a:r>
              <a:rPr lang="en-US" altLang="zh-CN" sz="2400" b="1" i="1" u="none">
                <a:latin typeface="Arial" panose="020B0604020202020204" pitchFamily="34" charset="0"/>
                <a:ea typeface="华文中宋" panose="02010600040101010101" pitchFamily="2" charset="-122"/>
                <a:cs typeface="Times New Roman" panose="02020603050405020304" pitchFamily="18" charset="0"/>
              </a:rPr>
              <a:t>p, n</a:t>
            </a:r>
            <a:r>
              <a:rPr lang="en-US" altLang="zh-CN" sz="2400" b="1" u="none">
                <a:latin typeface="Arial" panose="020B0604020202020204" pitchFamily="34" charset="0"/>
                <a:ea typeface="华文中宋" panose="02010600040101010101" pitchFamily="2" charset="-122"/>
                <a:cs typeface="Times New Roman" panose="02020603050405020304" pitchFamily="18" charset="0"/>
              </a:rPr>
              <a:t>&gt;&gt;</a:t>
            </a:r>
            <a:r>
              <a:rPr lang="en-US" altLang="zh-CN" sz="2400" b="1" i="1" u="none">
                <a:latin typeface="Arial" panose="020B0604020202020204" pitchFamily="34" charset="0"/>
                <a:ea typeface="华文中宋" panose="02010600040101010101" pitchFamily="2" charset="-122"/>
                <a:cs typeface="Times New Roman" panose="02020603050405020304" pitchFamily="18" charset="0"/>
              </a:rPr>
              <a:t>n</a:t>
            </a:r>
            <a:r>
              <a:rPr lang="en-US" altLang="zh-CN" sz="2400" b="1" i="1" u="none" baseline="-25000">
                <a:latin typeface="Arial" panose="020B0604020202020204" pitchFamily="34" charset="0"/>
                <a:ea typeface="华文中宋" panose="02010600040101010101" pitchFamily="2" charset="-122"/>
                <a:cs typeface="Times New Roman" panose="02020603050405020304" pitchFamily="18" charset="0"/>
              </a:rPr>
              <a:t>i</a:t>
            </a:r>
          </a:p>
        </p:txBody>
      </p:sp>
      <p:pic>
        <p:nvPicPr>
          <p:cNvPr id="7" name="图片 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2413" y="99089"/>
            <a:ext cx="3935412"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62263" y="1672197"/>
            <a:ext cx="3462337"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12762" y="2681516"/>
            <a:ext cx="191611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03750" y="2857729"/>
            <a:ext cx="12525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9"/>
          <p:cNvSpPr txBox="1">
            <a:spLocks noChangeArrowheads="1"/>
          </p:cNvSpPr>
          <p:nvPr/>
        </p:nvSpPr>
        <p:spPr bwMode="auto">
          <a:xfrm>
            <a:off x="4905323" y="3673117"/>
            <a:ext cx="3671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400" b="1" u="none">
                <a:latin typeface="华文中宋" panose="02010600040101010101" pitchFamily="2" charset="-122"/>
                <a:ea typeface="华文中宋" panose="02010600040101010101" pitchFamily="2" charset="-122"/>
              </a:rPr>
              <a:t>复合率与少子的寿命相关</a:t>
            </a:r>
          </a:p>
        </p:txBody>
      </p:sp>
      <p:sp>
        <p:nvSpPr>
          <p:cNvPr id="13" name="Text Box 18"/>
          <p:cNvSpPr txBox="1">
            <a:spLocks noChangeArrowheads="1"/>
          </p:cNvSpPr>
          <p:nvPr/>
        </p:nvSpPr>
        <p:spPr bwMode="auto">
          <a:xfrm>
            <a:off x="269924" y="5348442"/>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400" b="1" u="none">
                <a:latin typeface="华文中宋" panose="02010600040101010101" pitchFamily="2" charset="-122"/>
                <a:ea typeface="华文中宋" panose="02010600040101010101" pitchFamily="2" charset="-122"/>
              </a:rPr>
              <a:t>其中，                  </a:t>
            </a:r>
          </a:p>
        </p:txBody>
      </p:sp>
      <p:sp>
        <p:nvSpPr>
          <p:cNvPr id="14" name="Text Box 19"/>
          <p:cNvSpPr txBox="1">
            <a:spLocks noChangeArrowheads="1"/>
          </p:cNvSpPr>
          <p:nvPr/>
        </p:nvSpPr>
        <p:spPr bwMode="auto">
          <a:xfrm>
            <a:off x="3119487" y="5348442"/>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400" b="1" u="none">
                <a:latin typeface="华文中宋" panose="02010600040101010101" pitchFamily="2" charset="-122"/>
                <a:ea typeface="华文中宋" panose="02010600040101010101" pitchFamily="2" charset="-122"/>
              </a:rPr>
              <a:t>是少数载流子（空穴）的寿命。                  </a:t>
            </a:r>
          </a:p>
        </p:txBody>
      </p:sp>
      <p:pic>
        <p:nvPicPr>
          <p:cNvPr id="15" name="图片 8"/>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74623" y="3479442"/>
            <a:ext cx="3957638"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10"/>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204962" y="5051579"/>
            <a:ext cx="190658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11"/>
          <p:cNvSpPr txBox="1">
            <a:spLocks noChangeArrowheads="1"/>
          </p:cNvSpPr>
          <p:nvPr/>
        </p:nvSpPr>
        <p:spPr bwMode="auto">
          <a:xfrm>
            <a:off x="309741" y="5892924"/>
            <a:ext cx="8445039"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130000"/>
              </a:lnSpc>
              <a:spcBef>
                <a:spcPct val="0"/>
              </a:spcBef>
              <a:buFontTx/>
              <a:buNone/>
            </a:pPr>
            <a:r>
              <a:rPr lang="zh-CN" altLang="en-US" sz="2000" b="1" u="none" dirty="0">
                <a:latin typeface="Arial" panose="020B0604020202020204" pitchFamily="34" charset="0"/>
                <a:ea typeface="华文中宋" panose="02010600040101010101" pitchFamily="2" charset="-122"/>
                <a:cs typeface="Times New Roman" panose="02020603050405020304" pitchFamily="18" charset="0"/>
              </a:rPr>
              <a:t>在</a:t>
            </a:r>
            <a:r>
              <a:rPr lang="en-US" altLang="zh-CN" sz="2000" b="1" u="none" dirty="0">
                <a:latin typeface="Arial" panose="020B0604020202020204" pitchFamily="34" charset="0"/>
                <a:ea typeface="华文中宋" panose="02010600040101010101" pitchFamily="2" charset="-122"/>
                <a:cs typeface="Times New Roman" panose="02020603050405020304" pitchFamily="18" charset="0"/>
              </a:rPr>
              <a:t>N</a:t>
            </a:r>
            <a:r>
              <a:rPr lang="zh-CN" altLang="en-US" sz="2000" b="1" u="none" dirty="0">
                <a:latin typeface="Arial" panose="020B0604020202020204" pitchFamily="34" charset="0"/>
                <a:ea typeface="华文中宋" panose="02010600040101010101" pitchFamily="2" charset="-122"/>
                <a:cs typeface="Times New Roman" panose="02020603050405020304" pitchFamily="18" charset="0"/>
              </a:rPr>
              <a:t>型半导体中，电子浓度很大，复合中心上空穴浓度稍微增加，则为数众多的电子就可以引起足够大的电子俘获速率与空穴俘获速率</a:t>
            </a:r>
            <a:r>
              <a:rPr lang="zh-CN" altLang="en-US" sz="2000" b="1" u="none" dirty="0" smtClean="0">
                <a:latin typeface="Arial" panose="020B0604020202020204" pitchFamily="34" charset="0"/>
                <a:ea typeface="华文中宋" panose="02010600040101010101" pitchFamily="2" charset="-122"/>
                <a:cs typeface="Times New Roman" panose="02020603050405020304" pitchFamily="18" charset="0"/>
              </a:rPr>
              <a:t>相平衡。</a:t>
            </a:r>
            <a:endParaRPr lang="zh-CN" altLang="en-US" sz="2000" b="1" u="none" dirty="0">
              <a:latin typeface="Arial" panose="020B0604020202020204" pitchFamily="34" charset="0"/>
              <a:ea typeface="华文中宋"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03038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31</a:t>
            </a:fld>
            <a:endParaRPr lang="zh-CN" altLang="en-US"/>
          </a:p>
        </p:txBody>
      </p:sp>
      <p:graphicFrame>
        <p:nvGraphicFramePr>
          <p:cNvPr id="3" name="Object 11"/>
          <p:cNvGraphicFramePr>
            <a:graphicFrameLocks noChangeAspect="1"/>
          </p:cNvGraphicFramePr>
          <p:nvPr>
            <p:extLst>
              <p:ext uri="{D42A27DB-BD31-4B8C-83A1-F6EECF244321}">
                <p14:modId xmlns:p14="http://schemas.microsoft.com/office/powerpoint/2010/main" val="597592848"/>
              </p:ext>
            </p:extLst>
          </p:nvPr>
        </p:nvGraphicFramePr>
        <p:xfrm>
          <a:off x="4864714" y="3034225"/>
          <a:ext cx="3040063" cy="2495550"/>
        </p:xfrm>
        <a:graphic>
          <a:graphicData uri="http://schemas.openxmlformats.org/presentationml/2006/ole">
            <mc:AlternateContent xmlns:mc="http://schemas.openxmlformats.org/markup-compatibility/2006">
              <mc:Choice xmlns:v="urn:schemas-microsoft-com:vml" Requires="v">
                <p:oleObj spid="_x0000_s27674" name="BMP 图象" r:id="rId3" imgW="4525007" imgH="1848108" progId="PBrush">
                  <p:embed/>
                </p:oleObj>
              </mc:Choice>
              <mc:Fallback>
                <p:oleObj name="BMP 图象" r:id="rId3" imgW="4525007" imgH="1848108" progId="PBrush">
                  <p:embed/>
                  <p:pic>
                    <p:nvPicPr>
                      <p:cNvPr id="86018" name="Object 11"/>
                      <p:cNvPicPr>
                        <a:picLocks noChangeAspect="1" noChangeArrowheads="1"/>
                      </p:cNvPicPr>
                      <p:nvPr/>
                    </p:nvPicPr>
                    <p:blipFill>
                      <a:blip r:embed="rId4">
                        <a:extLst>
                          <a:ext uri="{28A0092B-C50C-407E-A947-70E740481C1C}">
                            <a14:useLocalDpi xmlns:a14="http://schemas.microsoft.com/office/drawing/2010/main" val="0"/>
                          </a:ext>
                        </a:extLst>
                      </a:blip>
                      <a:srcRect l="58064" t="2634"/>
                      <a:stretch>
                        <a:fillRect/>
                      </a:stretch>
                    </p:blipFill>
                    <p:spPr bwMode="auto">
                      <a:xfrm>
                        <a:off x="4864714" y="3034225"/>
                        <a:ext cx="3040063" cy="2495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14"/>
          <p:cNvPicPr>
            <a:picLocks noChangeAspect="1" noChangeArrowheads="1"/>
          </p:cNvPicPr>
          <p:nvPr/>
        </p:nvPicPr>
        <p:blipFill>
          <a:blip r:embed="rId5" cstate="print"/>
          <a:srcRect/>
          <a:stretch>
            <a:fillRect/>
          </a:stretch>
        </p:blipFill>
        <p:spPr bwMode="auto">
          <a:xfrm>
            <a:off x="5104427" y="876812"/>
            <a:ext cx="2835275" cy="2800350"/>
          </a:xfrm>
          <a:prstGeom prst="rect">
            <a:avLst/>
          </a:prstGeom>
          <a:noFill/>
          <a:ln w="9525">
            <a:noFill/>
            <a:miter lim="800000"/>
            <a:headEnd/>
            <a:tailEnd/>
          </a:ln>
        </p:spPr>
      </p:pic>
      <p:pic>
        <p:nvPicPr>
          <p:cNvPr id="5" name="Picture 13"/>
          <p:cNvPicPr>
            <a:picLocks noChangeAspect="1" noChangeArrowheads="1"/>
          </p:cNvPicPr>
          <p:nvPr/>
        </p:nvPicPr>
        <p:blipFill>
          <a:blip r:embed="rId6" cstate="print"/>
          <a:srcRect/>
          <a:stretch>
            <a:fillRect/>
          </a:stretch>
        </p:blipFill>
        <p:spPr bwMode="auto">
          <a:xfrm>
            <a:off x="632439" y="3680337"/>
            <a:ext cx="3959225" cy="2497138"/>
          </a:xfrm>
          <a:prstGeom prst="rect">
            <a:avLst/>
          </a:prstGeom>
          <a:noFill/>
          <a:ln w="9525">
            <a:noFill/>
            <a:miter lim="800000"/>
            <a:headEnd/>
            <a:tailEnd/>
          </a:ln>
        </p:spPr>
      </p:pic>
      <p:sp>
        <p:nvSpPr>
          <p:cNvPr id="6" name="Text Box 9"/>
          <p:cNvSpPr txBox="1">
            <a:spLocks noChangeArrowheads="1"/>
          </p:cNvSpPr>
          <p:nvPr/>
        </p:nvSpPr>
        <p:spPr bwMode="auto">
          <a:xfrm>
            <a:off x="559414" y="948250"/>
            <a:ext cx="4319588" cy="2632516"/>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zh-CN" altLang="en-US" sz="2400" b="1" dirty="0">
                <a:solidFill>
                  <a:srgbClr val="000000"/>
                </a:solidFill>
                <a:latin typeface="华文中宋" pitchFamily="2" charset="-122"/>
                <a:ea typeface="华文中宋" pitchFamily="2" charset="-122"/>
              </a:rPr>
              <a:t>如果在半导体表面存在大量的复合中心，则在半导体表面发生显著的</a:t>
            </a:r>
            <a:r>
              <a:rPr kumimoji="1" lang="zh-CN" altLang="en-US" sz="2400" b="1" dirty="0">
                <a:solidFill>
                  <a:srgbClr val="0000FF"/>
                </a:solidFill>
                <a:latin typeface="华文中宋" pitchFamily="2" charset="-122"/>
                <a:ea typeface="华文中宋" pitchFamily="2" charset="-122"/>
              </a:rPr>
              <a:t>间接复合</a:t>
            </a:r>
            <a:r>
              <a:rPr kumimoji="1" lang="zh-CN" altLang="en-US" sz="2400" b="1" dirty="0">
                <a:solidFill>
                  <a:srgbClr val="000000"/>
                </a:solidFill>
                <a:latin typeface="华文中宋" pitchFamily="2" charset="-122"/>
                <a:ea typeface="华文中宋" pitchFamily="2" charset="-122"/>
              </a:rPr>
              <a:t>，称为</a:t>
            </a:r>
            <a:r>
              <a:rPr kumimoji="1" lang="zh-CN" altLang="en-US" sz="2400" b="1" dirty="0">
                <a:solidFill>
                  <a:srgbClr val="0000FF"/>
                </a:solidFill>
                <a:latin typeface="华文中宋" pitchFamily="2" charset="-122"/>
                <a:ea typeface="华文中宋" pitchFamily="2" charset="-122"/>
              </a:rPr>
              <a:t>表面复合</a:t>
            </a:r>
          </a:p>
          <a:p>
            <a:pPr marL="341313" indent="-341313" defTabSz="914400" eaLnBrk="0" fontAlgn="base" hangingPunct="0">
              <a:lnSpc>
                <a:spcPct val="110000"/>
              </a:lnSpc>
              <a:spcBef>
                <a:spcPts val="800"/>
              </a:spcBef>
              <a:spcAft>
                <a:spcPct val="0"/>
              </a:spcAft>
              <a:buFont typeface="Wingdings" pitchFamily="2" charset="2"/>
              <a:buChar char="q"/>
            </a:pPr>
            <a:r>
              <a:rPr kumimoji="1" lang="zh-CN" altLang="en-US" sz="2400" b="1" dirty="0">
                <a:solidFill>
                  <a:srgbClr val="000000"/>
                </a:solidFill>
                <a:latin typeface="华文中宋" pitchFamily="2" charset="-122"/>
                <a:ea typeface="华文中宋" pitchFamily="2" charset="-122"/>
              </a:rPr>
              <a:t>复合中心源于表面缺陷和</a:t>
            </a:r>
            <a:r>
              <a:rPr kumimoji="1" lang="zh-CN" altLang="en-US" sz="2400" b="1" dirty="0" smtClean="0">
                <a:solidFill>
                  <a:srgbClr val="000000"/>
                </a:solidFill>
                <a:latin typeface="华文中宋" pitchFamily="2" charset="-122"/>
                <a:ea typeface="华文中宋" pitchFamily="2" charset="-122"/>
              </a:rPr>
              <a:t>杂质等因素，</a:t>
            </a:r>
            <a:r>
              <a:rPr kumimoji="1" lang="zh-CN" altLang="en-US" sz="2400" b="1" dirty="0">
                <a:solidFill>
                  <a:srgbClr val="000000"/>
                </a:solidFill>
                <a:latin typeface="华文中宋" pitchFamily="2" charset="-122"/>
                <a:ea typeface="华文中宋" pitchFamily="2" charset="-122"/>
              </a:rPr>
              <a:t>如表面的悬挂</a:t>
            </a:r>
            <a:r>
              <a:rPr kumimoji="1" lang="zh-CN" altLang="en-US" sz="2400" b="1" dirty="0" smtClean="0">
                <a:solidFill>
                  <a:srgbClr val="000000"/>
                </a:solidFill>
                <a:latin typeface="华文中宋" pitchFamily="2" charset="-122"/>
                <a:ea typeface="华文中宋" pitchFamily="2" charset="-122"/>
              </a:rPr>
              <a:t>键</a:t>
            </a:r>
            <a:endParaRPr kumimoji="1" lang="zh-CN" altLang="en-US" sz="2400" b="1" dirty="0">
              <a:solidFill>
                <a:srgbClr val="000000"/>
              </a:solidFill>
              <a:latin typeface="华文中宋" pitchFamily="2" charset="-122"/>
              <a:ea typeface="华文中宋" pitchFamily="2" charset="-122"/>
            </a:endParaRPr>
          </a:p>
        </p:txBody>
      </p:sp>
      <p:sp>
        <p:nvSpPr>
          <p:cNvPr id="7" name="Text Box 12"/>
          <p:cNvSpPr txBox="1">
            <a:spLocks noChangeArrowheads="1"/>
          </p:cNvSpPr>
          <p:nvPr/>
        </p:nvSpPr>
        <p:spPr bwMode="auto">
          <a:xfrm>
            <a:off x="4663102" y="5494850"/>
            <a:ext cx="3827462" cy="708025"/>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000" b="1">
                <a:solidFill>
                  <a:srgbClr val="000000"/>
                </a:solidFill>
                <a:latin typeface="华文中宋" pitchFamily="2" charset="-122"/>
                <a:ea typeface="华文中宋" pitchFamily="2" charset="-122"/>
              </a:rPr>
              <a:t>实际上也存在对应于表面产生的过程，表面产生满足类似方程。</a:t>
            </a:r>
          </a:p>
        </p:txBody>
      </p:sp>
      <p:sp>
        <p:nvSpPr>
          <p:cNvPr id="8" name="Text Box 15"/>
          <p:cNvSpPr txBox="1">
            <a:spLocks noChangeArrowheads="1"/>
          </p:cNvSpPr>
          <p:nvPr/>
        </p:nvSpPr>
        <p:spPr bwMode="auto">
          <a:xfrm>
            <a:off x="6607789" y="5024950"/>
            <a:ext cx="1655763"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en-US" altLang="zh-CN" sz="2400" b="1">
                <a:solidFill>
                  <a:srgbClr val="000000"/>
                </a:solidFill>
                <a:latin typeface="华文中宋" pitchFamily="2" charset="-122"/>
                <a:ea typeface="华文中宋" pitchFamily="2" charset="-122"/>
              </a:rPr>
              <a:t>    </a:t>
            </a:r>
            <a:r>
              <a:rPr kumimoji="1" lang="zh-CN" altLang="en-US" sz="2000" b="1">
                <a:solidFill>
                  <a:srgbClr val="000000"/>
                </a:solidFill>
                <a:latin typeface="华文中宋" pitchFamily="2" charset="-122"/>
                <a:ea typeface="华文中宋" pitchFamily="2" charset="-122"/>
              </a:rPr>
              <a:t>允态</a:t>
            </a:r>
          </a:p>
        </p:txBody>
      </p:sp>
      <p:sp>
        <p:nvSpPr>
          <p:cNvPr id="9" name="Text Box 3"/>
          <p:cNvSpPr txBox="1">
            <a:spLocks noChangeArrowheads="1"/>
          </p:cNvSpPr>
          <p:nvPr/>
        </p:nvSpPr>
        <p:spPr bwMode="auto">
          <a:xfrm>
            <a:off x="632439" y="211659"/>
            <a:ext cx="3222161"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表面复合</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
        <p:nvSpPr>
          <p:cNvPr id="10" name="Text Box 12"/>
          <p:cNvSpPr txBox="1">
            <a:spLocks noChangeArrowheads="1"/>
          </p:cNvSpPr>
          <p:nvPr/>
        </p:nvSpPr>
        <p:spPr bwMode="auto">
          <a:xfrm>
            <a:off x="1068388" y="6276975"/>
            <a:ext cx="5330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000" b="1" u="none" dirty="0">
                <a:solidFill>
                  <a:srgbClr val="FF0000"/>
                </a:solidFill>
                <a:latin typeface="华文中宋" panose="02010600040101010101" pitchFamily="2" charset="-122"/>
                <a:ea typeface="华文中宋" panose="02010600040101010101" pitchFamily="2" charset="-122"/>
              </a:rPr>
              <a:t>问题：为什么</a:t>
            </a:r>
            <a:r>
              <a:rPr lang="en-US" altLang="zh-CN" sz="2000" b="1" u="none" dirty="0">
                <a:solidFill>
                  <a:srgbClr val="FF0000"/>
                </a:solidFill>
                <a:latin typeface="华文中宋" panose="02010600040101010101" pitchFamily="2" charset="-122"/>
                <a:ea typeface="华文中宋" panose="02010600040101010101" pitchFamily="2" charset="-122"/>
              </a:rPr>
              <a:t>Si/SiO</a:t>
            </a:r>
            <a:r>
              <a:rPr lang="en-US" altLang="zh-CN" sz="2000" b="1" u="none" baseline="-25000" dirty="0">
                <a:solidFill>
                  <a:srgbClr val="FF0000"/>
                </a:solidFill>
                <a:latin typeface="华文中宋" panose="02010600040101010101" pitchFamily="2" charset="-122"/>
                <a:ea typeface="华文中宋" panose="02010600040101010101" pitchFamily="2" charset="-122"/>
              </a:rPr>
              <a:t>2</a:t>
            </a:r>
            <a:r>
              <a:rPr lang="zh-CN" altLang="en-US" sz="2000" b="1" u="none" dirty="0">
                <a:solidFill>
                  <a:srgbClr val="FF0000"/>
                </a:solidFill>
                <a:latin typeface="华文中宋" panose="02010600040101010101" pitchFamily="2" charset="-122"/>
                <a:ea typeface="华文中宋" panose="02010600040101010101" pitchFamily="2" charset="-122"/>
              </a:rPr>
              <a:t>的界面很重要？</a:t>
            </a:r>
          </a:p>
        </p:txBody>
      </p:sp>
    </p:spTree>
    <p:extLst>
      <p:ext uri="{BB962C8B-B14F-4D97-AF65-F5344CB8AC3E}">
        <p14:creationId xmlns:p14="http://schemas.microsoft.com/office/powerpoint/2010/main" val="28619444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32</a:t>
            </a:fld>
            <a:endParaRPr lang="zh-CN" altLang="en-US"/>
          </a:p>
        </p:txBody>
      </p:sp>
      <p:sp>
        <p:nvSpPr>
          <p:cNvPr id="3" name="Text Box 1033"/>
          <p:cNvSpPr txBox="1">
            <a:spLocks noChangeArrowheads="1"/>
          </p:cNvSpPr>
          <p:nvPr/>
        </p:nvSpPr>
        <p:spPr bwMode="auto">
          <a:xfrm>
            <a:off x="386535" y="1509294"/>
            <a:ext cx="5607426" cy="4567404"/>
          </a:xfrm>
          <a:prstGeom prst="rect">
            <a:avLst/>
          </a:prstGeom>
          <a:noFill/>
          <a:ln w="12700" cap="sq">
            <a:noFill/>
            <a:miter lim="800000"/>
            <a:headEnd type="none" w="sm" len="sm"/>
            <a:tailEnd type="none" w="sm" len="sm"/>
          </a:ln>
        </p:spPr>
        <p:txBody>
          <a:bodyPr wrap="square">
            <a:spAutoFit/>
          </a:bodyPr>
          <a:lstStyle/>
          <a:p>
            <a:pPr marL="341313" indent="-341313" defTabSz="914400" eaLnBrk="0" fontAlgn="base" hangingPunct="0">
              <a:lnSpc>
                <a:spcPct val="130000"/>
              </a:lnSpc>
              <a:spcBef>
                <a:spcPct val="0"/>
              </a:spcBef>
              <a:spcAft>
                <a:spcPct val="0"/>
              </a:spcAft>
              <a:buFont typeface="Wingdings" pitchFamily="2" charset="2"/>
              <a:buChar char="q"/>
            </a:pPr>
            <a:r>
              <a:rPr kumimoji="1" lang="zh-CN" altLang="en-US" sz="2400" b="1" dirty="0">
                <a:solidFill>
                  <a:srgbClr val="000099"/>
                </a:solidFill>
                <a:latin typeface="Times New Roman" pitchFamily="18" charset="0"/>
                <a:ea typeface="华文中宋" pitchFamily="2" charset="-122"/>
                <a:cs typeface="Times New Roman" pitchFamily="18" charset="0"/>
              </a:rPr>
              <a:t>电子与空穴复合方式之一</a:t>
            </a:r>
            <a:r>
              <a:rPr kumimoji="1" lang="zh-CN" altLang="en-US" sz="2400" b="1" dirty="0">
                <a:solidFill>
                  <a:srgbClr val="000000"/>
                </a:solidFill>
                <a:latin typeface="Times New Roman" pitchFamily="18" charset="0"/>
                <a:ea typeface="华文中宋" pitchFamily="2" charset="-122"/>
                <a:cs typeface="Times New Roman" pitchFamily="18" charset="0"/>
              </a:rPr>
              <a:t>。导带电子与价带空穴发生复合时</a:t>
            </a:r>
            <a:r>
              <a:rPr kumimoji="1" lang="zh-CN" altLang="en-US" sz="2400" b="1" dirty="0" smtClean="0">
                <a:solidFill>
                  <a:srgbClr val="000000"/>
                </a:solidFill>
                <a:latin typeface="Times New Roman" pitchFamily="18" charset="0"/>
                <a:ea typeface="华文中宋" pitchFamily="2" charset="-122"/>
                <a:cs typeface="Times New Roman" pitchFamily="18" charset="0"/>
              </a:rPr>
              <a:t>，没有伴随光子的发射，而是通过载流子间的碰撞传递给导带中的其它电子的方式释放多余能量，获得</a:t>
            </a:r>
            <a:r>
              <a:rPr kumimoji="1" lang="zh-CN" altLang="en-US" sz="2400" b="1" dirty="0">
                <a:solidFill>
                  <a:srgbClr val="000000"/>
                </a:solidFill>
                <a:latin typeface="Times New Roman" pitchFamily="18" charset="0"/>
                <a:ea typeface="华文中宋" pitchFamily="2" charset="-122"/>
                <a:cs typeface="Times New Roman" pitchFamily="18" charset="0"/>
              </a:rPr>
              <a:t>能量的</a:t>
            </a:r>
            <a:r>
              <a:rPr kumimoji="1" lang="zh-CN" altLang="en-US" sz="2400" b="1" dirty="0" smtClean="0">
                <a:solidFill>
                  <a:srgbClr val="000000"/>
                </a:solidFill>
                <a:latin typeface="Times New Roman" pitchFamily="18" charset="0"/>
                <a:ea typeface="华文中宋" pitchFamily="2" charset="-122"/>
                <a:cs typeface="Times New Roman" pitchFamily="18" charset="0"/>
              </a:rPr>
              <a:t>电子然后再通</a:t>
            </a:r>
            <a:r>
              <a:rPr kumimoji="1" lang="zh-CN" altLang="en-US" sz="2400" b="1" dirty="0">
                <a:solidFill>
                  <a:srgbClr val="000000"/>
                </a:solidFill>
                <a:latin typeface="Times New Roman" pitchFamily="18" charset="0"/>
                <a:ea typeface="华文中宋" pitchFamily="2" charset="-122"/>
                <a:cs typeface="Times New Roman" pitchFamily="18" charset="0"/>
              </a:rPr>
              <a:t>过与</a:t>
            </a:r>
            <a:r>
              <a:rPr kumimoji="1" lang="zh-CN" altLang="en-US" sz="2400" b="1" dirty="0" smtClean="0">
                <a:solidFill>
                  <a:srgbClr val="000000"/>
                </a:solidFill>
                <a:latin typeface="Times New Roman" pitchFamily="18" charset="0"/>
                <a:ea typeface="华文中宋" pitchFamily="2" charset="-122"/>
                <a:cs typeface="Times New Roman" pitchFamily="18" charset="0"/>
              </a:rPr>
              <a:t>晶格散射不断放出声子的方式，逐渐</a:t>
            </a:r>
            <a:r>
              <a:rPr kumimoji="1" lang="zh-CN" altLang="en-US" sz="2400" b="1" dirty="0">
                <a:solidFill>
                  <a:srgbClr val="000000"/>
                </a:solidFill>
                <a:latin typeface="Times New Roman" pitchFamily="18" charset="0"/>
                <a:ea typeface="华文中宋" pitchFamily="2" charset="-122"/>
                <a:cs typeface="Times New Roman" pitchFamily="18" charset="0"/>
              </a:rPr>
              <a:t>释放其较高动能的过程；</a:t>
            </a:r>
          </a:p>
          <a:p>
            <a:pPr marL="341313" indent="-341313" defTabSz="914400" eaLnBrk="0" fontAlgn="base" hangingPunct="0">
              <a:lnSpc>
                <a:spcPct val="130000"/>
              </a:lnSpc>
              <a:spcBef>
                <a:spcPts val="1200"/>
              </a:spcBef>
              <a:spcAft>
                <a:spcPct val="0"/>
              </a:spcAft>
              <a:buFont typeface="Wingdings" pitchFamily="2" charset="2"/>
              <a:buChar char="q"/>
            </a:pPr>
            <a:r>
              <a:rPr kumimoji="1" lang="zh-CN" altLang="en-US" sz="2400" b="1" dirty="0">
                <a:solidFill>
                  <a:srgbClr val="000099"/>
                </a:solidFill>
                <a:latin typeface="Times New Roman" pitchFamily="18" charset="0"/>
                <a:ea typeface="华文中宋" pitchFamily="2" charset="-122"/>
                <a:cs typeface="Times New Roman" pitchFamily="18" charset="0"/>
              </a:rPr>
              <a:t>俄歇复合属非辐射复合</a:t>
            </a:r>
            <a:r>
              <a:rPr kumimoji="1" lang="zh-CN" altLang="en-US" sz="2400" b="1" dirty="0">
                <a:solidFill>
                  <a:srgbClr val="000000"/>
                </a:solidFill>
                <a:latin typeface="Times New Roman" pitchFamily="18" charset="0"/>
                <a:ea typeface="华文中宋" pitchFamily="2" charset="-122"/>
                <a:cs typeface="Times New Roman" pitchFamily="18" charset="0"/>
              </a:rPr>
              <a:t>，发生</a:t>
            </a:r>
            <a:r>
              <a:rPr kumimoji="1" lang="zh-CN" altLang="en-US" sz="2400" b="1" dirty="0">
                <a:solidFill>
                  <a:srgbClr val="000099"/>
                </a:solidFill>
                <a:latin typeface="Times New Roman" pitchFamily="18" charset="0"/>
                <a:ea typeface="华文中宋" pitchFamily="2" charset="-122"/>
                <a:cs typeface="Times New Roman" pitchFamily="18" charset="0"/>
              </a:rPr>
              <a:t>俄歇</a:t>
            </a:r>
            <a:r>
              <a:rPr kumimoji="1" lang="zh-CN" altLang="en-US" sz="2400" b="1" dirty="0">
                <a:solidFill>
                  <a:srgbClr val="000000"/>
                </a:solidFill>
                <a:latin typeface="Times New Roman" pitchFamily="18" charset="0"/>
                <a:ea typeface="华文中宋" pitchFamily="2" charset="-122"/>
                <a:cs typeface="Times New Roman" pitchFamily="18" charset="0"/>
              </a:rPr>
              <a:t>复合时，没有光子（</a:t>
            </a:r>
            <a:r>
              <a:rPr kumimoji="1" lang="en-US" altLang="zh-CN" sz="2400" b="1" dirty="0">
                <a:solidFill>
                  <a:srgbClr val="000000"/>
                </a:solidFill>
                <a:latin typeface="Times New Roman" pitchFamily="18" charset="0"/>
                <a:ea typeface="华文中宋" pitchFamily="2" charset="-122"/>
                <a:cs typeface="Times New Roman" pitchFamily="18" charset="0"/>
              </a:rPr>
              <a:t>Photon</a:t>
            </a:r>
            <a:r>
              <a:rPr kumimoji="1" lang="zh-CN" altLang="en-US" sz="2400" b="1" dirty="0">
                <a:solidFill>
                  <a:srgbClr val="000000"/>
                </a:solidFill>
                <a:latin typeface="Times New Roman" pitchFamily="18" charset="0"/>
                <a:ea typeface="华文中宋" pitchFamily="2" charset="-122"/>
                <a:cs typeface="Times New Roman" pitchFamily="18" charset="0"/>
              </a:rPr>
              <a:t>）的发射；</a:t>
            </a:r>
          </a:p>
        </p:txBody>
      </p:sp>
      <p:pic>
        <p:nvPicPr>
          <p:cNvPr id="4" name="Picture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5621" y="1868677"/>
            <a:ext cx="2776498" cy="2861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3"/>
          <p:cNvSpPr txBox="1">
            <a:spLocks noChangeArrowheads="1"/>
          </p:cNvSpPr>
          <p:nvPr/>
        </p:nvSpPr>
        <p:spPr bwMode="auto">
          <a:xfrm>
            <a:off x="619221" y="565620"/>
            <a:ext cx="3222161"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俄歇复合</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Tree>
    <p:extLst>
      <p:ext uri="{BB962C8B-B14F-4D97-AF65-F5344CB8AC3E}">
        <p14:creationId xmlns:p14="http://schemas.microsoft.com/office/powerpoint/2010/main" val="3570492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33</a:t>
            </a:fld>
            <a:endParaRPr lang="zh-CN" altLang="en-US"/>
          </a:p>
        </p:txBody>
      </p:sp>
      <p:sp>
        <p:nvSpPr>
          <p:cNvPr id="3" name="矩形 2"/>
          <p:cNvSpPr/>
          <p:nvPr/>
        </p:nvSpPr>
        <p:spPr>
          <a:xfrm>
            <a:off x="275303" y="955777"/>
            <a:ext cx="5122863" cy="5170488"/>
          </a:xfrm>
          <a:prstGeom prst="rect">
            <a:avLst/>
          </a:prstGeom>
        </p:spPr>
        <p:txBody>
          <a:bodyPr>
            <a:spAutoFit/>
          </a:bodyPr>
          <a:lstStyle>
            <a:lvl1pPr marL="342900" indent="-342900">
              <a:defRPr u="sng">
                <a:solidFill>
                  <a:schemeClr val="tx1"/>
                </a:solidFill>
                <a:latin typeface="Arial" panose="020B0604020202020204" pitchFamily="34" charset="0"/>
                <a:ea typeface="宋体" panose="02010600030101010101" pitchFamily="2" charset="-122"/>
              </a:defRPr>
            </a:lvl1pPr>
            <a:lvl2pPr marL="742950" indent="-285750">
              <a:defRPr u="sng">
                <a:solidFill>
                  <a:schemeClr val="tx1"/>
                </a:solidFill>
                <a:latin typeface="Arial" panose="020B0604020202020204" pitchFamily="34" charset="0"/>
                <a:ea typeface="宋体" panose="02010600030101010101" pitchFamily="2" charset="-122"/>
              </a:defRPr>
            </a:lvl2pPr>
            <a:lvl3pPr marL="1143000" indent="-228600">
              <a:defRPr u="sng">
                <a:solidFill>
                  <a:schemeClr val="tx1"/>
                </a:solidFill>
                <a:latin typeface="Arial" panose="020B0604020202020204" pitchFamily="34" charset="0"/>
                <a:ea typeface="宋体" panose="02010600030101010101" pitchFamily="2" charset="-122"/>
              </a:defRPr>
            </a:lvl3pPr>
            <a:lvl4pPr marL="1600200" indent="-228600">
              <a:defRPr u="sng">
                <a:solidFill>
                  <a:schemeClr val="tx1"/>
                </a:solidFill>
                <a:latin typeface="Arial" panose="020B0604020202020204" pitchFamily="34" charset="0"/>
                <a:ea typeface="宋体" panose="02010600030101010101" pitchFamily="2" charset="-122"/>
              </a:defRPr>
            </a:lvl4pPr>
            <a:lvl5pPr marL="2057400" indent="-22860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Char char="l"/>
            </a:pPr>
            <a:r>
              <a:rPr lang="zh-CN" altLang="en-US" sz="2200" b="1" u="none">
                <a:latin typeface="宋体" panose="02010600030101010101" pitchFamily="2" charset="-122"/>
              </a:rPr>
              <a:t>俄歇电子能谱（</a:t>
            </a:r>
            <a:r>
              <a:rPr lang="en-US" altLang="zh-CN" sz="2200" b="1" u="none">
                <a:latin typeface="宋体" panose="02010600030101010101" pitchFamily="2" charset="-122"/>
              </a:rPr>
              <a:t>Auger electron spectroscopy</a:t>
            </a:r>
            <a:r>
              <a:rPr lang="zh-CN" altLang="en-US" sz="2200" b="1" u="none">
                <a:latin typeface="宋体" panose="02010600030101010101" pitchFamily="2" charset="-122"/>
              </a:rPr>
              <a:t>，简称</a:t>
            </a:r>
            <a:r>
              <a:rPr lang="en-US" altLang="zh-CN" sz="2200" b="1" u="none">
                <a:latin typeface="宋体" panose="02010600030101010101" pitchFamily="2" charset="-122"/>
              </a:rPr>
              <a:t>AES</a:t>
            </a:r>
            <a:r>
              <a:rPr lang="zh-CN" altLang="en-US" sz="2200" b="1" u="none">
                <a:latin typeface="宋体" panose="02010600030101010101" pitchFamily="2" charset="-122"/>
              </a:rPr>
              <a:t>），是一种表面科学和材料科学的分析技术。</a:t>
            </a:r>
            <a:endParaRPr lang="en-US" altLang="zh-CN" sz="2200" b="1" u="none">
              <a:latin typeface="宋体" panose="02010600030101010101" pitchFamily="2" charset="-122"/>
            </a:endParaRPr>
          </a:p>
          <a:p>
            <a:pPr>
              <a:buFont typeface="Wingdings" panose="05000000000000000000" pitchFamily="2" charset="2"/>
              <a:buChar char="l"/>
            </a:pPr>
            <a:r>
              <a:rPr lang="zh-CN" altLang="en-US" sz="2200" b="1" u="none">
                <a:latin typeface="宋体" panose="02010600030101010101" pitchFamily="2" charset="-122"/>
              </a:rPr>
              <a:t>这种效应系产生于受激发的原子的外层电子跳至低能阶所放出的能量被其他外层电子吸收而使后者逃脱离开原子，这一连串事件称为俄歇效应，而逃脱出来的电子称为俄歇电子。</a:t>
            </a:r>
            <a:endParaRPr lang="en-US" altLang="zh-CN" sz="2200" b="1" u="none">
              <a:latin typeface="宋体" panose="02010600030101010101" pitchFamily="2" charset="-122"/>
            </a:endParaRPr>
          </a:p>
          <a:p>
            <a:pPr>
              <a:buFont typeface="Wingdings" panose="05000000000000000000" pitchFamily="2" charset="2"/>
              <a:buChar char="l"/>
            </a:pPr>
            <a:r>
              <a:rPr lang="zh-CN" altLang="en-US" sz="2200" b="1" u="none">
                <a:latin typeface="宋体" panose="02010600030101010101" pitchFamily="2" charset="-122"/>
              </a:rPr>
              <a:t>俄歇电子在固体中运行也同样要经历频繁的非弹性散射，能逸出固体表面的仅仅是表面几层原子所产生的俄歇电子，这些电子的能量大体上处于 </a:t>
            </a:r>
            <a:r>
              <a:rPr lang="en-US" altLang="zh-CN" sz="2200" b="1" u="none">
                <a:latin typeface="宋体" panose="02010600030101010101" pitchFamily="2" charset="-122"/>
              </a:rPr>
              <a:t>10</a:t>
            </a:r>
            <a:r>
              <a:rPr lang="zh-CN" altLang="en-US" sz="2200" b="1" u="none">
                <a:latin typeface="宋体" panose="02010600030101010101" pitchFamily="2" charset="-122"/>
              </a:rPr>
              <a:t>～</a:t>
            </a:r>
            <a:r>
              <a:rPr lang="en-US" altLang="zh-CN" sz="2200" b="1" u="none">
                <a:latin typeface="宋体" panose="02010600030101010101" pitchFamily="2" charset="-122"/>
              </a:rPr>
              <a:t>500</a:t>
            </a:r>
            <a:r>
              <a:rPr lang="zh-CN" altLang="en-US" sz="2200" b="1" u="none">
                <a:latin typeface="宋体" panose="02010600030101010101" pitchFamily="2" charset="-122"/>
              </a:rPr>
              <a:t>电子伏，它们的平均自由程很短，大约为</a:t>
            </a:r>
            <a:r>
              <a:rPr lang="en-US" altLang="zh-CN" sz="2200" b="1" u="none">
                <a:latin typeface="宋体" panose="02010600030101010101" pitchFamily="2" charset="-122"/>
              </a:rPr>
              <a:t>5</a:t>
            </a:r>
            <a:r>
              <a:rPr lang="zh-CN" altLang="en-US" sz="2200" b="1" u="none">
                <a:latin typeface="宋体" panose="02010600030101010101" pitchFamily="2" charset="-122"/>
              </a:rPr>
              <a:t>～</a:t>
            </a:r>
            <a:r>
              <a:rPr lang="en-US" altLang="zh-CN" sz="2200" b="1" u="none">
                <a:latin typeface="宋体" panose="02010600030101010101" pitchFamily="2" charset="-122"/>
              </a:rPr>
              <a:t>20</a:t>
            </a:r>
            <a:r>
              <a:rPr lang="zh-CN" altLang="en-US" sz="2200" b="1" u="none">
                <a:latin typeface="宋体" panose="02010600030101010101" pitchFamily="2" charset="-122"/>
              </a:rPr>
              <a:t>埃</a:t>
            </a:r>
            <a:r>
              <a:rPr lang="en-US" altLang="zh-CN" sz="2200" b="1" u="none">
                <a:latin typeface="宋体" panose="02010600030101010101" pitchFamily="2" charset="-122"/>
              </a:rPr>
              <a:t>,</a:t>
            </a:r>
            <a:r>
              <a:rPr lang="zh-CN" altLang="en-US" sz="2200" b="1" u="none">
                <a:latin typeface="宋体" panose="02010600030101010101" pitchFamily="2" charset="-122"/>
              </a:rPr>
              <a:t>因此俄歇电子能谱所考察的只是固体的表面层。</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8166" y="966890"/>
            <a:ext cx="3394075"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98166" y="3925990"/>
            <a:ext cx="2649537"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75230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34</a:t>
            </a:fld>
            <a:endParaRPr lang="zh-CN" altLang="en-US"/>
          </a:p>
        </p:txBody>
      </p:sp>
      <p:sp>
        <p:nvSpPr>
          <p:cNvPr id="3" name="Text Box 3"/>
          <p:cNvSpPr txBox="1">
            <a:spLocks noChangeArrowheads="1"/>
          </p:cNvSpPr>
          <p:nvPr/>
        </p:nvSpPr>
        <p:spPr bwMode="auto">
          <a:xfrm>
            <a:off x="619221" y="565620"/>
            <a:ext cx="3222161"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陷阱效应</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pic>
        <p:nvPicPr>
          <p:cNvPr id="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925" y="1493838"/>
            <a:ext cx="8737600"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1194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35</a:t>
            </a:fld>
            <a:endParaRPr lang="zh-CN" altLang="en-US"/>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4877" y="785334"/>
            <a:ext cx="8162925"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5990" y="5016021"/>
            <a:ext cx="82042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987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36</a:t>
            </a:fld>
            <a:endParaRPr lang="zh-CN" altLang="en-US"/>
          </a:p>
        </p:txBody>
      </p:sp>
      <p:pic>
        <p:nvPicPr>
          <p:cNvPr id="3"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3460" y="429524"/>
            <a:ext cx="5638800"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812" y="2657266"/>
            <a:ext cx="482600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61737" y="2677903"/>
            <a:ext cx="3182938"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p:nvSpPr>
        <p:spPr bwMode="auto">
          <a:xfrm>
            <a:off x="373812" y="5146466"/>
            <a:ext cx="81708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2400" b="1" u="none">
                <a:latin typeface="Libian SC"/>
                <a:ea typeface="Libian SC"/>
                <a:cs typeface="Libian SC"/>
              </a:rPr>
              <a:t>各种杂质、缺陷中心在半导体材料中到底可以 起着什么样的作用，主要还是要看它们在半导体材料中的浓度 、所处的能级位置、对不同载流子俘获截面的大小以及温度。 </a:t>
            </a:r>
          </a:p>
        </p:txBody>
      </p:sp>
    </p:spTree>
    <p:extLst>
      <p:ext uri="{BB962C8B-B14F-4D97-AF65-F5344CB8AC3E}">
        <p14:creationId xmlns:p14="http://schemas.microsoft.com/office/powerpoint/2010/main" val="3491367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 presetClass="entr" presetSubtype="1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 calcmode="lin" valueType="num">
                                      <p:cBhvr additive="base">
                                        <p:cTn id="1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37</a:t>
            </a:fld>
            <a:endParaRPr lang="zh-CN" altLang="en-US"/>
          </a:p>
        </p:txBody>
      </p:sp>
      <p:sp>
        <p:nvSpPr>
          <p:cNvPr id="3" name="Rectangle 4"/>
          <p:cNvSpPr>
            <a:spLocks noChangeArrowheads="1"/>
          </p:cNvSpPr>
          <p:nvPr/>
        </p:nvSpPr>
        <p:spPr bwMode="auto">
          <a:xfrm>
            <a:off x="2644877" y="295910"/>
            <a:ext cx="4338536"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三</a:t>
            </a:r>
            <a:r>
              <a:rPr kumimoji="1" lang="zh-CN" altLang="en-US" sz="3600" b="1" dirty="0" smtClean="0">
                <a:solidFill>
                  <a:srgbClr val="FF6600"/>
                </a:solidFill>
                <a:latin typeface="Times New Roman" pitchFamily="18" charset="0"/>
                <a:ea typeface="宋体" pitchFamily="2" charset="-122"/>
              </a:rPr>
              <a:t>、光电效应</a:t>
            </a:r>
            <a:endParaRPr kumimoji="1" lang="zh-CN" altLang="en-US" sz="3600" b="1" dirty="0">
              <a:solidFill>
                <a:srgbClr val="FF6600"/>
              </a:solidFill>
              <a:latin typeface="Times New Roman" pitchFamily="18" charset="0"/>
              <a:ea typeface="宋体" pitchFamily="2" charset="-122"/>
            </a:endParaRPr>
          </a:p>
        </p:txBody>
      </p:sp>
      <p:sp>
        <p:nvSpPr>
          <p:cNvPr id="4" name="Rectangle 15"/>
          <p:cNvSpPr>
            <a:spLocks noChangeArrowheads="1"/>
          </p:cNvSpPr>
          <p:nvPr/>
        </p:nvSpPr>
        <p:spPr bwMode="auto">
          <a:xfrm>
            <a:off x="323440" y="1160361"/>
            <a:ext cx="8280400" cy="1089529"/>
          </a:xfrm>
          <a:prstGeom prst="rect">
            <a:avLst/>
          </a:prstGeom>
          <a:noFill/>
          <a:ln w="9525">
            <a:noFill/>
            <a:miter lim="800000"/>
            <a:headEnd/>
            <a:tailEnd/>
          </a:ln>
        </p:spPr>
        <p:txBody>
          <a:bodyPr>
            <a:spAutoFit/>
          </a:bodyPr>
          <a:lstStyle/>
          <a:p>
            <a:pPr defTabSz="914400" eaLnBrk="0" fontAlgn="base" hangingPunct="0">
              <a:lnSpc>
                <a:spcPct val="110000"/>
              </a:lnSpc>
              <a:spcBef>
                <a:spcPct val="50000"/>
              </a:spcBef>
              <a:spcAft>
                <a:spcPct val="0"/>
              </a:spcAft>
            </a:pPr>
            <a:r>
              <a:rPr kumimoji="1" lang="zh-CN" altLang="en-US" sz="2400" b="1" dirty="0" smtClean="0">
                <a:solidFill>
                  <a:srgbClr val="000000"/>
                </a:solidFill>
                <a:latin typeface="Times New Roman" pitchFamily="18" charset="0"/>
                <a:ea typeface="宋体" charset="-122"/>
              </a:rPr>
              <a:t>半导体中的光电效应主要包括</a:t>
            </a:r>
            <a:r>
              <a:rPr kumimoji="1" lang="zh-CN" altLang="en-US" sz="2400" b="1" dirty="0">
                <a:solidFill>
                  <a:srgbClr val="FF3300"/>
                </a:solidFill>
                <a:latin typeface="Times New Roman" pitchFamily="18" charset="0"/>
                <a:ea typeface="宋体" charset="-122"/>
              </a:rPr>
              <a:t>光吸收</a:t>
            </a:r>
            <a:r>
              <a:rPr kumimoji="1" lang="zh-CN" altLang="en-US" sz="2400" b="1" dirty="0" smtClean="0">
                <a:solidFill>
                  <a:srgbClr val="000000"/>
                </a:solidFill>
                <a:latin typeface="Times New Roman" pitchFamily="18" charset="0"/>
                <a:ea typeface="宋体" charset="-122"/>
              </a:rPr>
              <a:t>和</a:t>
            </a:r>
            <a:r>
              <a:rPr kumimoji="1" lang="zh-CN" altLang="en-US" sz="2400" b="1" dirty="0">
                <a:solidFill>
                  <a:srgbClr val="FF3300"/>
                </a:solidFill>
                <a:latin typeface="Times New Roman" pitchFamily="18" charset="0"/>
                <a:ea typeface="宋体" charset="-122"/>
              </a:rPr>
              <a:t>光</a:t>
            </a:r>
            <a:r>
              <a:rPr kumimoji="1" lang="zh-CN" altLang="en-US" sz="2400" b="1" dirty="0" smtClean="0">
                <a:solidFill>
                  <a:srgbClr val="FF3300"/>
                </a:solidFill>
                <a:latin typeface="Times New Roman" pitchFamily="18" charset="0"/>
                <a:ea typeface="宋体" charset="-122"/>
              </a:rPr>
              <a:t>发射</a:t>
            </a:r>
            <a:endParaRPr kumimoji="1" lang="en-US" altLang="zh-CN" sz="2400" b="1" dirty="0" smtClean="0">
              <a:solidFill>
                <a:srgbClr val="FF3300"/>
              </a:solidFill>
              <a:latin typeface="Times New Roman" pitchFamily="18" charset="0"/>
              <a:ea typeface="宋体" charset="-122"/>
            </a:endParaRPr>
          </a:p>
          <a:p>
            <a:pPr defTabSz="914400" eaLnBrk="0" fontAlgn="base" hangingPunct="0">
              <a:lnSpc>
                <a:spcPct val="110000"/>
              </a:lnSpc>
              <a:spcBef>
                <a:spcPct val="50000"/>
              </a:spcBef>
              <a:spcAft>
                <a:spcPct val="0"/>
              </a:spcAft>
            </a:pPr>
            <a:r>
              <a:rPr kumimoji="1" lang="zh-CN" altLang="en-US" sz="2400" b="1" dirty="0" smtClean="0">
                <a:solidFill>
                  <a:srgbClr val="000000"/>
                </a:solidFill>
                <a:latin typeface="Times New Roman" pitchFamily="18" charset="0"/>
                <a:ea typeface="宋体" charset="-122"/>
              </a:rPr>
              <a:t>半导体材料的光电效应与能带结构和非平衡载流子直接相关</a:t>
            </a:r>
            <a:endParaRPr kumimoji="1" lang="zh-CN" altLang="en-US" sz="2400" b="1" dirty="0">
              <a:solidFill>
                <a:srgbClr val="000000"/>
              </a:solidFill>
              <a:latin typeface="Times New Roman" pitchFamily="18" charset="0"/>
              <a:ea typeface="宋体" charset="-122"/>
            </a:endParaRPr>
          </a:p>
        </p:txBody>
      </p:sp>
      <p:sp>
        <p:nvSpPr>
          <p:cNvPr id="5" name="Text Box 3"/>
          <p:cNvSpPr txBox="1">
            <a:spLocks noChangeArrowheads="1"/>
          </p:cNvSpPr>
          <p:nvPr/>
        </p:nvSpPr>
        <p:spPr bwMode="auto">
          <a:xfrm>
            <a:off x="323440" y="2364924"/>
            <a:ext cx="3222161"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en-US" altLang="zh-CN" sz="2800" b="1" dirty="0" smtClean="0">
                <a:solidFill>
                  <a:srgbClr val="FF6600"/>
                </a:solidFill>
                <a:effectLst>
                  <a:outerShdw blurRad="38100" dist="38100" dir="2700000" algn="tl">
                    <a:srgbClr val="C0C0C0"/>
                  </a:outerShdw>
                </a:effectLst>
                <a:latin typeface="Times New Roman" pitchFamily="18" charset="0"/>
                <a:ea typeface="宋体" pitchFamily="2" charset="-122"/>
              </a:rPr>
              <a:t>1. </a:t>
            </a: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光吸收</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
        <p:nvSpPr>
          <p:cNvPr id="6" name="内容占位符 2"/>
          <p:cNvSpPr txBox="1">
            <a:spLocks/>
          </p:cNvSpPr>
          <p:nvPr/>
        </p:nvSpPr>
        <p:spPr>
          <a:xfrm>
            <a:off x="191214" y="3090812"/>
            <a:ext cx="82296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u="sng" smtClean="0">
                <a:latin typeface="等线" panose="02010600030101010101" pitchFamily="2" charset="-122"/>
                <a:ea typeface="等线" panose="02010600030101010101" pitchFamily="2" charset="-122"/>
              </a:rPr>
              <a:t>本征吸收</a:t>
            </a:r>
            <a:r>
              <a:rPr lang="en-US" altLang="zh-CN" sz="2400" b="1" u="sng" smtClean="0">
                <a:latin typeface="等线" panose="02010600030101010101" pitchFamily="2" charset="-122"/>
                <a:ea typeface="等线" panose="02010600030101010101" pitchFamily="2" charset="-122"/>
              </a:rPr>
              <a:t>-</a:t>
            </a:r>
            <a:r>
              <a:rPr lang="zh-CN" altLang="en-US" sz="2000" b="1" u="sng" smtClean="0">
                <a:latin typeface="等线" panose="02010600030101010101" pitchFamily="2" charset="-122"/>
                <a:ea typeface="等线" panose="02010600030101010101" pitchFamily="2" charset="-122"/>
              </a:rPr>
              <a:t>本征吸收限</a:t>
            </a:r>
            <a:endParaRPr lang="en-US" altLang="zh-CN" sz="2000" b="1" u="sng" smtClean="0">
              <a:latin typeface="等线" panose="02010600030101010101" pitchFamily="2" charset="-122"/>
              <a:ea typeface="等线" panose="02010600030101010101" pitchFamily="2" charset="-122"/>
            </a:endParaRPr>
          </a:p>
        </p:txBody>
      </p:sp>
      <p:pic>
        <p:nvPicPr>
          <p:cNvPr id="7"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5064" y="3552885"/>
            <a:ext cx="3030537" cy="232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69451" y="3170397"/>
            <a:ext cx="5011738"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414" y="5987261"/>
            <a:ext cx="23241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4964" y="5852719"/>
            <a:ext cx="156210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5510" y="5786223"/>
            <a:ext cx="278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97872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38</a:t>
            </a:fld>
            <a:endParaRPr lang="zh-CN" altLang="en-US"/>
          </a:p>
        </p:txBody>
      </p:sp>
      <p:sp>
        <p:nvSpPr>
          <p:cNvPr id="3" name="内容占位符 2"/>
          <p:cNvSpPr txBox="1">
            <a:spLocks/>
          </p:cNvSpPr>
          <p:nvPr/>
        </p:nvSpPr>
        <p:spPr>
          <a:xfrm>
            <a:off x="279708" y="197438"/>
            <a:ext cx="8229600" cy="6243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smtClean="0">
                <a:latin typeface="隶书" panose="02010509060101010101" pitchFamily="49" charset="-122"/>
                <a:ea typeface="隶书" panose="02010509060101010101" pitchFamily="49" charset="-122"/>
              </a:rPr>
              <a:t>本征吸收</a:t>
            </a:r>
            <a:r>
              <a:rPr lang="en-US" altLang="zh-CN" sz="2400" dirty="0" smtClean="0">
                <a:solidFill>
                  <a:srgbClr val="000000"/>
                </a:solidFill>
                <a:latin typeface="隶书" panose="02010509060101010101" pitchFamily="49" charset="-122"/>
                <a:ea typeface="隶书" panose="02010509060101010101" pitchFamily="49" charset="-122"/>
              </a:rPr>
              <a:t>-</a:t>
            </a:r>
            <a:r>
              <a:rPr lang="zh-CN" altLang="en-US" sz="2000" dirty="0" smtClean="0">
                <a:solidFill>
                  <a:srgbClr val="000000"/>
                </a:solidFill>
                <a:latin typeface="隶书" panose="02010509060101010101" pitchFamily="49" charset="-122"/>
                <a:ea typeface="隶书" panose="02010509060101010101" pitchFamily="49" charset="-122"/>
              </a:rPr>
              <a:t>直接跃迁</a:t>
            </a:r>
            <a:endParaRPr lang="en-US" altLang="zh-CN" sz="2000" dirty="0" smtClean="0">
              <a:latin typeface="隶书" panose="02010509060101010101" pitchFamily="49" charset="-122"/>
              <a:ea typeface="隶书" panose="02010509060101010101" pitchFamily="49" charset="-122"/>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113" y="1599378"/>
            <a:ext cx="24098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6488" y="940566"/>
            <a:ext cx="29337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6113" y="2203898"/>
            <a:ext cx="10287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
          <p:cNvPicPr>
            <a:picLocks noChangeAspect="1"/>
          </p:cNvPicPr>
          <p:nvPr/>
        </p:nvPicPr>
        <p:blipFill rotWithShape="1">
          <a:blip r:embed="rId5">
            <a:extLst>
              <a:ext uri="{28A0092B-C50C-407E-A947-70E740481C1C}">
                <a14:useLocalDpi xmlns:a14="http://schemas.microsoft.com/office/drawing/2010/main" val="0"/>
              </a:ext>
            </a:extLst>
          </a:blip>
          <a:srcRect l="-1689" r="1799" b="17387"/>
          <a:stretch/>
        </p:blipFill>
        <p:spPr bwMode="auto">
          <a:xfrm>
            <a:off x="5619750" y="950092"/>
            <a:ext cx="2324715" cy="2619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7038" y="2732218"/>
            <a:ext cx="14668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p:cNvSpPr txBox="1">
            <a:spLocks/>
          </p:cNvSpPr>
          <p:nvPr/>
        </p:nvSpPr>
        <p:spPr>
          <a:xfrm>
            <a:off x="100705" y="3457190"/>
            <a:ext cx="8229600" cy="5895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smtClean="0">
                <a:latin typeface="隶书" panose="02010509060101010101" pitchFamily="49" charset="-122"/>
                <a:ea typeface="隶书" panose="02010509060101010101" pitchFamily="49" charset="-122"/>
              </a:rPr>
              <a:t>本征吸收</a:t>
            </a:r>
            <a:r>
              <a:rPr lang="en-US" altLang="zh-CN" sz="2400" dirty="0" smtClean="0">
                <a:solidFill>
                  <a:srgbClr val="000000"/>
                </a:solidFill>
                <a:latin typeface="隶书" panose="02010509060101010101" pitchFamily="49" charset="-122"/>
                <a:ea typeface="隶书" panose="02010509060101010101" pitchFamily="49" charset="-122"/>
              </a:rPr>
              <a:t>-</a:t>
            </a:r>
            <a:r>
              <a:rPr lang="zh-CN" altLang="en-US" sz="2000" dirty="0" smtClean="0">
                <a:solidFill>
                  <a:srgbClr val="000000"/>
                </a:solidFill>
                <a:latin typeface="隶书" panose="02010509060101010101" pitchFamily="49" charset="-122"/>
                <a:ea typeface="隶书" panose="02010509060101010101" pitchFamily="49" charset="-122"/>
              </a:rPr>
              <a:t>间接跃迁</a:t>
            </a:r>
            <a:endParaRPr lang="en-US" altLang="zh-CN" sz="2000" dirty="0" smtClean="0">
              <a:latin typeface="隶书" panose="02010509060101010101" pitchFamily="49" charset="-122"/>
              <a:ea typeface="隶书" panose="02010509060101010101" pitchFamily="49" charset="-122"/>
            </a:endParaRPr>
          </a:p>
        </p:txBody>
      </p:sp>
      <p:pic>
        <p:nvPicPr>
          <p:cNvPr id="1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9061" y="4162238"/>
            <a:ext cx="3743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348" y="4775013"/>
            <a:ext cx="26193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6036" y="5588448"/>
            <a:ext cx="2924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3348" y="6191698"/>
            <a:ext cx="21621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4"/>
          <p:cNvPicPr>
            <a:picLocks noChangeAspect="1"/>
          </p:cNvPicPr>
          <p:nvPr/>
        </p:nvPicPr>
        <p:blipFill rotWithShape="1">
          <a:blip r:embed="rId11">
            <a:extLst>
              <a:ext uri="{28A0092B-C50C-407E-A947-70E740481C1C}">
                <a14:useLocalDpi xmlns:a14="http://schemas.microsoft.com/office/drawing/2010/main" val="0"/>
              </a:ext>
            </a:extLst>
          </a:blip>
          <a:srcRect r="1396" b="17704"/>
          <a:stretch/>
        </p:blipFill>
        <p:spPr bwMode="auto">
          <a:xfrm>
            <a:off x="5226943" y="4046787"/>
            <a:ext cx="2831522" cy="2518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93346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39</a:t>
            </a:fld>
            <a:endParaRPr lang="zh-CN" altLang="en-US"/>
          </a:p>
        </p:txBody>
      </p:sp>
      <p:sp>
        <p:nvSpPr>
          <p:cNvPr id="3" name="内容占位符 2"/>
          <p:cNvSpPr txBox="1">
            <a:spLocks/>
          </p:cNvSpPr>
          <p:nvPr/>
        </p:nvSpPr>
        <p:spPr>
          <a:xfrm>
            <a:off x="392471" y="4068205"/>
            <a:ext cx="8229600" cy="739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smtClean="0">
                <a:latin typeface="隶书" panose="02010509060101010101" pitchFamily="49" charset="-122"/>
                <a:ea typeface="隶书" panose="02010509060101010101" pitchFamily="49" charset="-122"/>
              </a:rPr>
              <a:t>杂质吸收</a:t>
            </a:r>
            <a:r>
              <a:rPr lang="en-US" altLang="zh-CN" sz="2400" dirty="0" smtClean="0">
                <a:latin typeface="隶书" panose="02010509060101010101" pitchFamily="49" charset="-122"/>
                <a:ea typeface="隶书" panose="02010509060101010101" pitchFamily="49" charset="-122"/>
              </a:rPr>
              <a:t>-</a:t>
            </a:r>
            <a:r>
              <a:rPr lang="zh-CN" altLang="en-US" sz="2000" dirty="0" smtClean="0">
                <a:latin typeface="隶书" panose="02010509060101010101" pitchFamily="49" charset="-122"/>
                <a:ea typeface="隶书" panose="02010509060101010101" pitchFamily="49" charset="-122"/>
              </a:rPr>
              <a:t>电离杂质吸收</a:t>
            </a:r>
            <a:endParaRPr lang="en-US" altLang="zh-CN" sz="2000" dirty="0" smtClean="0">
              <a:latin typeface="隶书" panose="02010509060101010101" pitchFamily="49" charset="-122"/>
              <a:ea typeface="隶书" panose="02010509060101010101" pitchFamily="49" charset="-122"/>
            </a:endParaRPr>
          </a:p>
        </p:txBody>
      </p:sp>
      <p:pic>
        <p:nvPicPr>
          <p:cNvPr id="4" name="图片 1"/>
          <p:cNvPicPr>
            <a:picLocks noChangeAspect="1"/>
          </p:cNvPicPr>
          <p:nvPr/>
        </p:nvPicPr>
        <p:blipFill rotWithShape="1">
          <a:blip r:embed="rId2">
            <a:extLst>
              <a:ext uri="{28A0092B-C50C-407E-A947-70E740481C1C}">
                <a14:useLocalDpi xmlns:a14="http://schemas.microsoft.com/office/drawing/2010/main" val="0"/>
              </a:ext>
            </a:extLst>
          </a:blip>
          <a:srcRect r="22695" b="61735"/>
          <a:stretch/>
        </p:blipFill>
        <p:spPr bwMode="auto">
          <a:xfrm>
            <a:off x="514557" y="4600697"/>
            <a:ext cx="3444057" cy="2021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1"/>
          <p:cNvPicPr>
            <a:picLocks noChangeAspect="1"/>
          </p:cNvPicPr>
          <p:nvPr/>
        </p:nvPicPr>
        <p:blipFill rotWithShape="1">
          <a:blip r:embed="rId2">
            <a:extLst>
              <a:ext uri="{28A0092B-C50C-407E-A947-70E740481C1C}">
                <a14:useLocalDpi xmlns:a14="http://schemas.microsoft.com/office/drawing/2010/main" val="0"/>
              </a:ext>
            </a:extLst>
          </a:blip>
          <a:srcRect l="8030" t="40664" r="19850" b="19502"/>
          <a:stretch/>
        </p:blipFill>
        <p:spPr bwMode="auto">
          <a:xfrm>
            <a:off x="3958614" y="4593433"/>
            <a:ext cx="3097546" cy="2028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txBox="1">
            <a:spLocks/>
          </p:cNvSpPr>
          <p:nvPr/>
        </p:nvSpPr>
        <p:spPr>
          <a:xfrm>
            <a:off x="392471" y="310997"/>
            <a:ext cx="8229600" cy="5857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smtClean="0">
                <a:latin typeface="隶书" panose="02010509060101010101" pitchFamily="49" charset="-122"/>
                <a:ea typeface="隶书" panose="02010509060101010101" pitchFamily="49" charset="-122"/>
              </a:rPr>
              <a:t>杂质吸收</a:t>
            </a:r>
            <a:r>
              <a:rPr lang="en-US" altLang="zh-CN" sz="2400" smtClean="0">
                <a:latin typeface="隶书" panose="02010509060101010101" pitchFamily="49" charset="-122"/>
                <a:ea typeface="隶书" panose="02010509060101010101" pitchFamily="49" charset="-122"/>
              </a:rPr>
              <a:t>-</a:t>
            </a:r>
            <a:r>
              <a:rPr lang="zh-CN" altLang="en-US" sz="2000" smtClean="0">
                <a:latin typeface="隶书" panose="02010509060101010101" pitchFamily="49" charset="-122"/>
                <a:ea typeface="隶书" panose="02010509060101010101" pitchFamily="49" charset="-122"/>
              </a:rPr>
              <a:t>中性杂质吸收</a:t>
            </a:r>
            <a:endParaRPr lang="en-US" altLang="zh-CN" sz="2000" smtClean="0">
              <a:latin typeface="隶书" panose="02010509060101010101" pitchFamily="49" charset="-122"/>
              <a:ea typeface="隶书" panose="02010509060101010101" pitchFamily="49" charset="-122"/>
            </a:endParaRPr>
          </a:p>
        </p:txBody>
      </p:sp>
      <p:pic>
        <p:nvPicPr>
          <p:cNvPr id="7" name="图片 4"/>
          <p:cNvPicPr>
            <a:picLocks noChangeAspect="1"/>
          </p:cNvPicPr>
          <p:nvPr/>
        </p:nvPicPr>
        <p:blipFill rotWithShape="1">
          <a:blip r:embed="rId3">
            <a:extLst>
              <a:ext uri="{28A0092B-C50C-407E-A947-70E740481C1C}">
                <a14:useLocalDpi xmlns:a14="http://schemas.microsoft.com/office/drawing/2010/main" val="0"/>
              </a:ext>
            </a:extLst>
          </a:blip>
          <a:srcRect l="1" r="1397" b="28954"/>
          <a:stretch/>
        </p:blipFill>
        <p:spPr bwMode="auto">
          <a:xfrm>
            <a:off x="1507357" y="1570243"/>
            <a:ext cx="5548803" cy="2102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
          <p:cNvSpPr txBox="1">
            <a:spLocks noChangeArrowheads="1"/>
          </p:cNvSpPr>
          <p:nvPr/>
        </p:nvSpPr>
        <p:spPr bwMode="auto">
          <a:xfrm>
            <a:off x="617896" y="896784"/>
            <a:ext cx="6731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1" lang="zh-CN" altLang="en-US" sz="2200" b="1" u="none" dirty="0">
                <a:latin typeface="Arial" panose="020B0604020202020204" pitchFamily="34" charset="0"/>
              </a:rPr>
              <a:t>半导体中的杂质（主要是浅施主或者浅受主）吸收。</a:t>
            </a:r>
          </a:p>
        </p:txBody>
      </p:sp>
    </p:spTree>
    <p:extLst>
      <p:ext uri="{BB962C8B-B14F-4D97-AF65-F5344CB8AC3E}">
        <p14:creationId xmlns:p14="http://schemas.microsoft.com/office/powerpoint/2010/main" val="127661446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40</a:t>
            </a:fld>
            <a:endParaRPr lang="zh-CN" altLang="en-US"/>
          </a:p>
        </p:txBody>
      </p:sp>
      <p:sp>
        <p:nvSpPr>
          <p:cNvPr id="3" name="内容占位符 2"/>
          <p:cNvSpPr txBox="1">
            <a:spLocks/>
          </p:cNvSpPr>
          <p:nvPr/>
        </p:nvSpPr>
        <p:spPr>
          <a:xfrm>
            <a:off x="476250" y="337061"/>
            <a:ext cx="8229600" cy="495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smtClean="0">
                <a:latin typeface="隶书" panose="02010509060101010101" pitchFamily="49" charset="-122"/>
                <a:ea typeface="隶书" panose="02010509060101010101" pitchFamily="49" charset="-122"/>
              </a:rPr>
              <a:t>自由载流子吸收</a:t>
            </a:r>
            <a:endParaRPr lang="en-US" altLang="zh-CN" sz="2400" smtClean="0">
              <a:latin typeface="隶书" panose="02010509060101010101" pitchFamily="49" charset="-122"/>
              <a:ea typeface="隶书" panose="02010509060101010101" pitchFamily="49" charset="-122"/>
            </a:endParaRPr>
          </a:p>
        </p:txBody>
      </p:sp>
      <p:pic>
        <p:nvPicPr>
          <p:cNvPr id="4" name="图片 1"/>
          <p:cNvPicPr>
            <a:picLocks noChangeAspect="1"/>
          </p:cNvPicPr>
          <p:nvPr/>
        </p:nvPicPr>
        <p:blipFill rotWithShape="1">
          <a:blip r:embed="rId2">
            <a:extLst>
              <a:ext uri="{28A0092B-C50C-407E-A947-70E740481C1C}">
                <a14:useLocalDpi xmlns:a14="http://schemas.microsoft.com/office/drawing/2010/main" val="0"/>
              </a:ext>
            </a:extLst>
          </a:blip>
          <a:srcRect r="2587" b="21819"/>
          <a:stretch/>
        </p:blipFill>
        <p:spPr bwMode="auto">
          <a:xfrm>
            <a:off x="476250" y="872053"/>
            <a:ext cx="3717618" cy="2196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5"/>
          <p:cNvPicPr>
            <a:picLocks noChangeAspect="1"/>
          </p:cNvPicPr>
          <p:nvPr/>
        </p:nvPicPr>
        <p:blipFill rotWithShape="1">
          <a:blip r:embed="rId3" cstate="print">
            <a:extLst>
              <a:ext uri="{28A0092B-C50C-407E-A947-70E740481C1C}">
                <a14:useLocalDpi xmlns:a14="http://schemas.microsoft.com/office/drawing/2010/main" val="0"/>
              </a:ext>
            </a:extLst>
          </a:blip>
          <a:srcRect r="575" b="22301"/>
          <a:stretch/>
        </p:blipFill>
        <p:spPr bwMode="auto">
          <a:xfrm>
            <a:off x="4542625" y="337061"/>
            <a:ext cx="3176518" cy="265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p:cNvSpPr txBox="1">
            <a:spLocks/>
          </p:cNvSpPr>
          <p:nvPr/>
        </p:nvSpPr>
        <p:spPr>
          <a:xfrm>
            <a:off x="476250" y="3022149"/>
            <a:ext cx="8229600" cy="7842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smtClean="0">
                <a:latin typeface="隶书" panose="02010509060101010101" pitchFamily="49" charset="-122"/>
                <a:ea typeface="隶书" panose="02010509060101010101" pitchFamily="49" charset="-122"/>
              </a:rPr>
              <a:t>晶格吸收</a:t>
            </a:r>
            <a:endParaRPr lang="en-US" altLang="zh-CN" sz="2400" dirty="0" smtClean="0">
              <a:latin typeface="隶书" panose="02010509060101010101" pitchFamily="49" charset="-122"/>
              <a:ea typeface="隶书" panose="02010509060101010101" pitchFamily="49" charset="-122"/>
            </a:endParaRPr>
          </a:p>
        </p:txBody>
      </p:sp>
      <p:pic>
        <p:nvPicPr>
          <p:cNvPr id="10" name="图片 4"/>
          <p:cNvPicPr>
            <a:picLocks noChangeAspect="1"/>
          </p:cNvPicPr>
          <p:nvPr/>
        </p:nvPicPr>
        <p:blipFill rotWithShape="1">
          <a:blip r:embed="rId4" cstate="print">
            <a:extLst>
              <a:ext uri="{28A0092B-C50C-407E-A947-70E740481C1C}">
                <a14:useLocalDpi xmlns:a14="http://schemas.microsoft.com/office/drawing/2010/main" val="0"/>
              </a:ext>
            </a:extLst>
          </a:blip>
          <a:srcRect r="-1190" b="16173"/>
          <a:stretch/>
        </p:blipFill>
        <p:spPr bwMode="auto">
          <a:xfrm>
            <a:off x="1000390" y="4194424"/>
            <a:ext cx="7084470" cy="2516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3"/>
          <p:cNvSpPr txBox="1">
            <a:spLocks noChangeArrowheads="1"/>
          </p:cNvSpPr>
          <p:nvPr/>
        </p:nvSpPr>
        <p:spPr bwMode="auto">
          <a:xfrm>
            <a:off x="625650" y="3571321"/>
            <a:ext cx="6732587"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1" lang="zh-CN" altLang="en-US" sz="2200" b="1" u="none" dirty="0">
                <a:latin typeface="Arial" panose="020B0604020202020204" pitchFamily="34" charset="0"/>
              </a:rPr>
              <a:t>晶格吸收是光子和晶格振动相互作用所引起的吸收。这种吸收发生在红外波段。</a:t>
            </a:r>
          </a:p>
        </p:txBody>
      </p:sp>
    </p:spTree>
    <p:extLst>
      <p:ext uri="{BB962C8B-B14F-4D97-AF65-F5344CB8AC3E}">
        <p14:creationId xmlns:p14="http://schemas.microsoft.com/office/powerpoint/2010/main" val="34744997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2"/>
          <p:cNvSpPr>
            <a:spLocks noGrp="1"/>
          </p:cNvSpPr>
          <p:nvPr>
            <p:ph idx="4294967295"/>
          </p:nvPr>
        </p:nvSpPr>
        <p:spPr>
          <a:xfrm>
            <a:off x="476250" y="812800"/>
            <a:ext cx="8229600" cy="4525963"/>
          </a:xfrm>
        </p:spPr>
        <p:txBody>
          <a:bodyPr/>
          <a:lstStyle/>
          <a:p>
            <a:r>
              <a:rPr lang="zh-CN" altLang="en-US" sz="2400" smtClean="0">
                <a:latin typeface="隶书" panose="02010509060101010101" pitchFamily="49" charset="-122"/>
                <a:ea typeface="隶书" panose="02010509060101010101" pitchFamily="49" charset="-122"/>
              </a:rPr>
              <a:t>激子和激子吸收</a:t>
            </a:r>
            <a:endParaRPr lang="en-US" altLang="zh-CN" sz="2400" smtClean="0">
              <a:latin typeface="隶书" panose="02010509060101010101" pitchFamily="49" charset="-122"/>
              <a:ea typeface="隶书" panose="02010509060101010101" pitchFamily="49" charset="-122"/>
            </a:endParaRPr>
          </a:p>
          <a:p>
            <a:pPr>
              <a:buFont typeface="Arial" panose="020B0604020202020204" pitchFamily="34" charset="0"/>
              <a:buNone/>
            </a:pPr>
            <a:r>
              <a:rPr lang="zh-CN" altLang="en-US" sz="2400" smtClean="0">
                <a:latin typeface="隶书" panose="02010509060101010101" pitchFamily="49" charset="-122"/>
                <a:ea typeface="隶书" panose="02010509060101010101" pitchFamily="49" charset="-122"/>
              </a:rPr>
              <a:t>激子的吸收是价带中的电子吸收了一个能量小于</a:t>
            </a:r>
            <a:r>
              <a:rPr lang="en-US" altLang="zh-CN" sz="2400" smtClean="0">
                <a:latin typeface="隶书" panose="02010509060101010101" pitchFamily="49" charset="-122"/>
                <a:ea typeface="隶书" panose="02010509060101010101" pitchFamily="49" charset="-122"/>
              </a:rPr>
              <a:t>Eg</a:t>
            </a:r>
            <a:r>
              <a:rPr lang="zh-CN" altLang="en-US" sz="2400" smtClean="0">
                <a:latin typeface="隶书" panose="02010509060101010101" pitchFamily="49" charset="-122"/>
                <a:ea typeface="隶书" panose="02010509060101010101" pitchFamily="49" charset="-122"/>
              </a:rPr>
              <a:t>的光子后形成激子的光吸收。</a:t>
            </a:r>
            <a:endParaRPr lang="en-US" altLang="zh-CN" sz="2400" smtClean="0">
              <a:latin typeface="隶书" panose="02010509060101010101" pitchFamily="49" charset="-122"/>
              <a:ea typeface="隶书" panose="02010509060101010101" pitchFamily="49" charset="-122"/>
            </a:endParaRPr>
          </a:p>
        </p:txBody>
      </p:sp>
      <p:pic>
        <p:nvPicPr>
          <p:cNvPr id="34819"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02238" y="2414588"/>
            <a:ext cx="3095625" cy="329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1389" y="2414588"/>
            <a:ext cx="26638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75813" y="5388659"/>
            <a:ext cx="3154976" cy="646331"/>
          </a:xfrm>
          <a:prstGeom prst="rect">
            <a:avLst/>
          </a:prstGeom>
        </p:spPr>
        <p:txBody>
          <a:bodyPr wrap="square">
            <a:spAutoFit/>
          </a:bodyPr>
          <a:lstStyle/>
          <a:p>
            <a:r>
              <a:rPr kumimoji="1" lang="zh-CN" altLang="en-US" b="1" dirty="0"/>
              <a:t>受激后仍相互束缚着的电子</a:t>
            </a:r>
            <a:r>
              <a:rPr kumimoji="1" lang="en-US" altLang="zh-CN" b="1" dirty="0"/>
              <a:t>-</a:t>
            </a:r>
            <a:r>
              <a:rPr kumimoji="1" lang="zh-CN" altLang="en-US" b="1" dirty="0"/>
              <a:t>空穴对称为激子。</a:t>
            </a:r>
            <a:endParaRPr kumimoji="1" lang="en-US" altLang="zh-CN" b="1" dirty="0"/>
          </a:p>
        </p:txBody>
      </p:sp>
    </p:spTree>
    <p:extLst>
      <p:ext uri="{BB962C8B-B14F-4D97-AF65-F5344CB8AC3E}">
        <p14:creationId xmlns:p14="http://schemas.microsoft.com/office/powerpoint/2010/main" val="342263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42</a:t>
            </a:fld>
            <a:endParaRPr lang="zh-CN" altLang="en-US"/>
          </a:p>
        </p:txBody>
      </p:sp>
      <p:sp>
        <p:nvSpPr>
          <p:cNvPr id="3" name="Text Box 21"/>
          <p:cNvSpPr txBox="1">
            <a:spLocks noChangeArrowheads="1"/>
          </p:cNvSpPr>
          <p:nvPr/>
        </p:nvSpPr>
        <p:spPr bwMode="auto">
          <a:xfrm>
            <a:off x="446805" y="313608"/>
            <a:ext cx="4495800" cy="519113"/>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800" b="1" dirty="0" smtClean="0">
                <a:solidFill>
                  <a:srgbClr val="FF6600"/>
                </a:solidFill>
                <a:effectLst>
                  <a:outerShdw blurRad="38100" dist="38100" dir="2700000" algn="tl">
                    <a:srgbClr val="C0C0C0"/>
                  </a:outerShdw>
                </a:effectLst>
                <a:ea typeface="宋体" pitchFamily="2" charset="-122"/>
              </a:rPr>
              <a:t>非平衡载流子</a:t>
            </a:r>
            <a:r>
              <a:rPr lang="zh-CN" altLang="en-US" sz="2800" b="1" dirty="0">
                <a:solidFill>
                  <a:srgbClr val="FF6600"/>
                </a:solidFill>
                <a:effectLst>
                  <a:outerShdw blurRad="38100" dist="38100" dir="2700000" algn="tl">
                    <a:srgbClr val="C0C0C0"/>
                  </a:outerShdw>
                </a:effectLst>
                <a:ea typeface="宋体" pitchFamily="2" charset="-122"/>
              </a:rPr>
              <a:t>的扩散</a:t>
            </a:r>
          </a:p>
        </p:txBody>
      </p:sp>
      <p:sp>
        <p:nvSpPr>
          <p:cNvPr id="7" name="Text Box 9"/>
          <p:cNvSpPr txBox="1">
            <a:spLocks noChangeArrowheads="1"/>
          </p:cNvSpPr>
          <p:nvPr/>
        </p:nvSpPr>
        <p:spPr bwMode="auto">
          <a:xfrm>
            <a:off x="520086" y="1256666"/>
            <a:ext cx="8064500" cy="2428875"/>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zh-CN" altLang="en-US" sz="2200" b="1" dirty="0">
                <a:solidFill>
                  <a:srgbClr val="000000"/>
                </a:solidFill>
                <a:latin typeface="Times New Roman" pitchFamily="18" charset="0"/>
                <a:ea typeface="宋体" charset="-122"/>
              </a:rPr>
              <a:t>如果在表面产生并向体内注入过剩载流子，则发生过剩载流子由表面向体内的扩散，同时发生复合，在体内形成过剩载流子浓度梯度。复合与载流子寿命相关，在稳定情形，扩散和复合达到平衡，在体内形成稳定的过剩载流子浓度梯度。</a:t>
            </a:r>
          </a:p>
          <a:p>
            <a:pPr marL="341313" indent="-341313" defTabSz="914400" eaLnBrk="0" fontAlgn="base" hangingPunct="0">
              <a:lnSpc>
                <a:spcPct val="110000"/>
              </a:lnSpc>
              <a:spcBef>
                <a:spcPts val="1000"/>
              </a:spcBef>
              <a:spcAft>
                <a:spcPct val="0"/>
              </a:spcAft>
              <a:buFont typeface="Wingdings" pitchFamily="2" charset="2"/>
              <a:buChar char="q"/>
            </a:pPr>
            <a:r>
              <a:rPr kumimoji="1" lang="zh-CN" altLang="en-US" sz="2200" b="1" dirty="0">
                <a:solidFill>
                  <a:srgbClr val="000000"/>
                </a:solidFill>
                <a:latin typeface="Times New Roman" pitchFamily="18" charset="0"/>
                <a:ea typeface="宋体" charset="-122"/>
              </a:rPr>
              <a:t>例：光照</a:t>
            </a:r>
            <a:r>
              <a:rPr kumimoji="1" lang="en-US" altLang="zh-CN" sz="2200" b="1" dirty="0">
                <a:solidFill>
                  <a:srgbClr val="000000"/>
                </a:solidFill>
                <a:latin typeface="Times New Roman" pitchFamily="18" charset="0"/>
                <a:ea typeface="宋体" charset="-122"/>
              </a:rPr>
              <a:t>N</a:t>
            </a:r>
            <a:r>
              <a:rPr kumimoji="1" lang="zh-CN" altLang="en-US" sz="2200" b="1" dirty="0">
                <a:solidFill>
                  <a:srgbClr val="000000"/>
                </a:solidFill>
                <a:latin typeface="Times New Roman" pitchFamily="18" charset="0"/>
                <a:ea typeface="宋体" charset="-122"/>
              </a:rPr>
              <a:t>型</a:t>
            </a:r>
            <a:r>
              <a:rPr kumimoji="1" lang="en-US" altLang="zh-CN" sz="2200" b="1" dirty="0">
                <a:solidFill>
                  <a:srgbClr val="000000"/>
                </a:solidFill>
                <a:latin typeface="Times New Roman" pitchFamily="18" charset="0"/>
                <a:ea typeface="宋体" charset="-122"/>
              </a:rPr>
              <a:t>Si</a:t>
            </a:r>
            <a:r>
              <a:rPr kumimoji="1" lang="zh-CN" altLang="en-US" sz="2200" b="1" dirty="0">
                <a:solidFill>
                  <a:srgbClr val="000000"/>
                </a:solidFill>
                <a:latin typeface="Times New Roman" pitchFamily="18" charset="0"/>
                <a:ea typeface="宋体" charset="-122"/>
              </a:rPr>
              <a:t>表面，将</a:t>
            </a:r>
            <a:r>
              <a:rPr kumimoji="1" lang="zh-CN" altLang="en-US" sz="2200" b="1" dirty="0" smtClean="0">
                <a:solidFill>
                  <a:srgbClr val="000000"/>
                </a:solidFill>
                <a:latin typeface="Times New Roman" pitchFamily="18" charset="0"/>
                <a:ea typeface="宋体" charset="-122"/>
              </a:rPr>
              <a:t>产生过剩载流子</a:t>
            </a:r>
            <a:r>
              <a:rPr kumimoji="1" lang="zh-CN" altLang="en-US" sz="2200" b="1" dirty="0">
                <a:solidFill>
                  <a:srgbClr val="000000"/>
                </a:solidFill>
                <a:latin typeface="Times New Roman" pitchFamily="18" charset="0"/>
                <a:ea typeface="宋体" charset="-122"/>
              </a:rPr>
              <a:t>，少子为空穴，其浓度为</a:t>
            </a:r>
            <a:r>
              <a:rPr kumimoji="1" lang="zh-CN" altLang="en-US" sz="2200" b="1" dirty="0">
                <a:solidFill>
                  <a:srgbClr val="000000"/>
                </a:solidFill>
                <a:latin typeface="Times New Roman" pitchFamily="18" charset="0"/>
                <a:ea typeface="宋体" charset="-122"/>
                <a:sym typeface="Symbol" pitchFamily="18" charset="2"/>
              </a:rPr>
              <a:t></a:t>
            </a:r>
            <a:r>
              <a:rPr kumimoji="1" lang="en-US" altLang="zh-CN" sz="2200" b="1" i="1" dirty="0">
                <a:solidFill>
                  <a:srgbClr val="000000"/>
                </a:solidFill>
                <a:latin typeface="Times New Roman" pitchFamily="18" charset="0"/>
                <a:ea typeface="宋体" charset="-122"/>
              </a:rPr>
              <a:t>p</a:t>
            </a:r>
          </a:p>
        </p:txBody>
      </p:sp>
      <p:sp>
        <p:nvSpPr>
          <p:cNvPr id="8" name="Text Box 13"/>
          <p:cNvSpPr txBox="1">
            <a:spLocks noChangeArrowheads="1"/>
          </p:cNvSpPr>
          <p:nvPr/>
        </p:nvSpPr>
        <p:spPr bwMode="auto">
          <a:xfrm>
            <a:off x="1245574" y="3390266"/>
            <a:ext cx="936625" cy="457200"/>
          </a:xfrm>
          <a:prstGeom prst="rect">
            <a:avLst/>
          </a:prstGeom>
          <a:noFill/>
          <a:ln w="9525">
            <a:noFill/>
            <a:miter lim="800000"/>
            <a:headEnd/>
            <a:tailEnd/>
          </a:ln>
        </p:spPr>
        <p:txBody>
          <a:bodyPr>
            <a:spAutoFit/>
          </a:bodyPr>
          <a:lstStyle/>
          <a:p>
            <a:pPr defTabSz="914400" fontAlgn="base">
              <a:spcBef>
                <a:spcPct val="50000"/>
              </a:spcBef>
              <a:spcAft>
                <a:spcPct val="0"/>
              </a:spcAft>
            </a:pPr>
            <a:endParaRPr kumimoji="1" lang="zh-CN" altLang="zh-CN" sz="2400">
              <a:solidFill>
                <a:srgbClr val="000000"/>
              </a:solidFill>
              <a:latin typeface="Times New Roman" pitchFamily="18" charset="0"/>
              <a:ea typeface="宋体" charset="-122"/>
            </a:endParaRPr>
          </a:p>
        </p:txBody>
      </p:sp>
      <p:graphicFrame>
        <p:nvGraphicFramePr>
          <p:cNvPr id="9" name="Object 1024"/>
          <p:cNvGraphicFramePr>
            <a:graphicFrameLocks noChangeAspect="1"/>
          </p:cNvGraphicFramePr>
          <p:nvPr>
            <p:extLst>
              <p:ext uri="{D42A27DB-BD31-4B8C-83A1-F6EECF244321}">
                <p14:modId xmlns:p14="http://schemas.microsoft.com/office/powerpoint/2010/main" val="2875523147"/>
              </p:ext>
            </p:extLst>
          </p:nvPr>
        </p:nvGraphicFramePr>
        <p:xfrm>
          <a:off x="4623774" y="3750628"/>
          <a:ext cx="3810000" cy="2708275"/>
        </p:xfrm>
        <a:graphic>
          <a:graphicData uri="http://schemas.openxmlformats.org/presentationml/2006/ole">
            <mc:AlternateContent xmlns:mc="http://schemas.openxmlformats.org/markup-compatibility/2006">
              <mc:Choice xmlns:v="urn:schemas-microsoft-com:vml" Requires="v">
                <p:oleObj spid="_x0000_s28708" name="BMP 图象" r:id="rId3" imgW="3629532" imgH="1991003" progId="PBrush">
                  <p:embed/>
                </p:oleObj>
              </mc:Choice>
              <mc:Fallback>
                <p:oleObj name="BMP 图象" r:id="rId3" imgW="3629532" imgH="1991003" progId="PBrush">
                  <p:embed/>
                  <p:pic>
                    <p:nvPicPr>
                      <p:cNvPr id="73739"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3774" y="3750628"/>
                        <a:ext cx="3810000" cy="270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26"/>
          <p:cNvGrpSpPr>
            <a:grpSpLocks/>
          </p:cNvGrpSpPr>
          <p:nvPr/>
        </p:nvGrpSpPr>
        <p:grpSpPr bwMode="auto">
          <a:xfrm>
            <a:off x="598488" y="3643313"/>
            <a:ext cx="4191000" cy="2924175"/>
            <a:chOff x="368" y="2250"/>
            <a:chExt cx="2640" cy="1842"/>
          </a:xfrm>
        </p:grpSpPr>
        <p:grpSp>
          <p:nvGrpSpPr>
            <p:cNvPr id="11" name="Group 25"/>
            <p:cNvGrpSpPr>
              <a:grpSpLocks/>
            </p:cNvGrpSpPr>
            <p:nvPr/>
          </p:nvGrpSpPr>
          <p:grpSpPr bwMode="auto">
            <a:xfrm>
              <a:off x="368" y="2250"/>
              <a:ext cx="2640" cy="1842"/>
              <a:chOff x="368" y="2341"/>
              <a:chExt cx="2640" cy="1842"/>
            </a:xfrm>
          </p:grpSpPr>
          <p:pic>
            <p:nvPicPr>
              <p:cNvPr id="13" name="Picture 17"/>
              <p:cNvPicPr>
                <a:picLocks noChangeAspect="1" noChangeArrowheads="1"/>
              </p:cNvPicPr>
              <p:nvPr/>
            </p:nvPicPr>
            <p:blipFill>
              <a:blip r:embed="rId5" cstate="print"/>
              <a:srcRect/>
              <a:stretch>
                <a:fillRect/>
              </a:stretch>
            </p:blipFill>
            <p:spPr bwMode="auto">
              <a:xfrm>
                <a:off x="1795" y="3149"/>
                <a:ext cx="276" cy="145"/>
              </a:xfrm>
              <a:prstGeom prst="rect">
                <a:avLst/>
              </a:prstGeom>
              <a:noFill/>
              <a:ln w="9525">
                <a:noFill/>
                <a:miter lim="800000"/>
                <a:headEnd/>
                <a:tailEnd/>
              </a:ln>
            </p:spPr>
          </p:pic>
          <p:graphicFrame>
            <p:nvGraphicFramePr>
              <p:cNvPr id="14" name="Object 1025"/>
              <p:cNvGraphicFramePr>
                <a:graphicFrameLocks noChangeAspect="1"/>
              </p:cNvGraphicFramePr>
              <p:nvPr>
                <p:extLst>
                  <p:ext uri="{D42A27DB-BD31-4B8C-83A1-F6EECF244321}">
                    <p14:modId xmlns:p14="http://schemas.microsoft.com/office/powerpoint/2010/main" val="1347447213"/>
                  </p:ext>
                </p:extLst>
              </p:nvPr>
            </p:nvGraphicFramePr>
            <p:xfrm>
              <a:off x="368" y="2341"/>
              <a:ext cx="2640" cy="1842"/>
            </p:xfrm>
            <a:graphic>
              <a:graphicData uri="http://schemas.openxmlformats.org/presentationml/2006/ole">
                <mc:AlternateContent xmlns:mc="http://schemas.openxmlformats.org/markup-compatibility/2006">
                  <mc:Choice xmlns:v="urn:schemas-microsoft-com:vml" Requires="v">
                    <p:oleObj spid="_x0000_s28709" name="BMP 图象" r:id="rId6" imgW="3153215" imgH="2343477" progId="PBrush">
                      <p:embed/>
                    </p:oleObj>
                  </mc:Choice>
                  <mc:Fallback>
                    <p:oleObj name="BMP 图象" r:id="rId6" imgW="3153215" imgH="2343477" progId="PBrush">
                      <p:embed/>
                      <p:pic>
                        <p:nvPicPr>
                          <p:cNvPr id="73743" name="Object 1025"/>
                          <p:cNvPicPr>
                            <a:picLocks noChangeAspect="1" noChangeArrowheads="1"/>
                          </p:cNvPicPr>
                          <p:nvPr/>
                        </p:nvPicPr>
                        <p:blipFill>
                          <a:blip r:embed="rId7">
                            <a:extLst>
                              <a:ext uri="{28A0092B-C50C-407E-A947-70E740481C1C}">
                                <a14:useLocalDpi xmlns:a14="http://schemas.microsoft.com/office/drawing/2010/main" val="0"/>
                              </a:ext>
                            </a:extLst>
                          </a:blip>
                          <a:srcRect t="5344"/>
                          <a:stretch>
                            <a:fillRect/>
                          </a:stretch>
                        </p:blipFill>
                        <p:spPr bwMode="auto">
                          <a:xfrm>
                            <a:off x="368" y="2341"/>
                            <a:ext cx="2640" cy="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5" name="Picture 18"/>
              <p:cNvPicPr>
                <a:picLocks noChangeAspect="1" noChangeArrowheads="1"/>
              </p:cNvPicPr>
              <p:nvPr/>
            </p:nvPicPr>
            <p:blipFill>
              <a:blip r:embed="rId8" cstate="print"/>
              <a:srcRect/>
              <a:stretch>
                <a:fillRect/>
              </a:stretch>
            </p:blipFill>
            <p:spPr bwMode="auto">
              <a:xfrm>
                <a:off x="1841" y="3434"/>
                <a:ext cx="300" cy="144"/>
              </a:xfrm>
              <a:prstGeom prst="rect">
                <a:avLst/>
              </a:prstGeom>
              <a:noFill/>
              <a:ln w="9525">
                <a:noFill/>
                <a:miter lim="800000"/>
                <a:headEnd/>
                <a:tailEnd/>
              </a:ln>
            </p:spPr>
          </p:pic>
          <p:pic>
            <p:nvPicPr>
              <p:cNvPr id="16" name="Picture 19"/>
              <p:cNvPicPr>
                <a:picLocks noChangeAspect="1" noChangeArrowheads="1"/>
              </p:cNvPicPr>
              <p:nvPr/>
            </p:nvPicPr>
            <p:blipFill>
              <a:blip r:embed="rId9" cstate="print"/>
              <a:srcRect/>
              <a:stretch>
                <a:fillRect/>
              </a:stretch>
            </p:blipFill>
            <p:spPr bwMode="auto">
              <a:xfrm>
                <a:off x="1528" y="3851"/>
                <a:ext cx="222" cy="119"/>
              </a:xfrm>
              <a:prstGeom prst="rect">
                <a:avLst/>
              </a:prstGeom>
              <a:noFill/>
              <a:ln w="9525">
                <a:noFill/>
                <a:miter lim="800000"/>
                <a:headEnd/>
                <a:tailEnd/>
              </a:ln>
            </p:spPr>
          </p:pic>
        </p:grpSp>
        <p:sp>
          <p:nvSpPr>
            <p:cNvPr id="12" name="Text Box 22"/>
            <p:cNvSpPr txBox="1">
              <a:spLocks noChangeArrowheads="1"/>
            </p:cNvSpPr>
            <p:nvPr/>
          </p:nvSpPr>
          <p:spPr bwMode="auto">
            <a:xfrm>
              <a:off x="1853" y="2387"/>
              <a:ext cx="318" cy="288"/>
            </a:xfrm>
            <a:prstGeom prst="rect">
              <a:avLst/>
            </a:prstGeom>
            <a:noFill/>
            <a:ln w="9525">
              <a:noFill/>
              <a:miter lim="800000"/>
              <a:headEnd/>
              <a:tailEnd/>
            </a:ln>
          </p:spPr>
          <p:txBody>
            <a:bodyPr>
              <a:spAutoFit/>
            </a:bodyPr>
            <a:lstStyle/>
            <a:p>
              <a:pPr>
                <a:spcBef>
                  <a:spcPct val="50000"/>
                </a:spcBef>
              </a:pPr>
              <a:r>
                <a:rPr lang="en-US" altLang="zh-CN" sz="2400"/>
                <a:t>h</a:t>
              </a:r>
              <a:r>
                <a:rPr lang="en-US" altLang="zh-CN" sz="2400">
                  <a:sym typeface="Symbol" pitchFamily="18" charset="2"/>
                </a:rPr>
                <a:t></a:t>
              </a:r>
            </a:p>
          </p:txBody>
        </p:sp>
      </p:grpSp>
    </p:spTree>
    <p:extLst>
      <p:ext uri="{BB962C8B-B14F-4D97-AF65-F5344CB8AC3E}">
        <p14:creationId xmlns:p14="http://schemas.microsoft.com/office/powerpoint/2010/main" val="17854466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43</a:t>
            </a:fld>
            <a:endParaRPr lang="zh-CN" altLang="en-US"/>
          </a:p>
        </p:txBody>
      </p:sp>
      <p:graphicFrame>
        <p:nvGraphicFramePr>
          <p:cNvPr id="3" name="Object 0"/>
          <p:cNvGraphicFramePr>
            <a:graphicFrameLocks noChangeAspect="1"/>
          </p:cNvGraphicFramePr>
          <p:nvPr>
            <p:extLst>
              <p:ext uri="{D42A27DB-BD31-4B8C-83A1-F6EECF244321}">
                <p14:modId xmlns:p14="http://schemas.microsoft.com/office/powerpoint/2010/main" val="4186955708"/>
              </p:ext>
            </p:extLst>
          </p:nvPr>
        </p:nvGraphicFramePr>
        <p:xfrm>
          <a:off x="2582350" y="3112576"/>
          <a:ext cx="3352800" cy="1004887"/>
        </p:xfrm>
        <a:graphic>
          <a:graphicData uri="http://schemas.openxmlformats.org/presentationml/2006/ole">
            <mc:AlternateContent xmlns:mc="http://schemas.openxmlformats.org/markup-compatibility/2006">
              <mc:Choice xmlns:v="urn:schemas-microsoft-com:vml" Requires="v">
                <p:oleObj spid="_x0000_s29766" name="公式" r:id="rId3" imgW="1397000" imgH="419100" progId="Equation.3">
                  <p:embed/>
                </p:oleObj>
              </mc:Choice>
              <mc:Fallback>
                <p:oleObj name="公式" r:id="rId3" imgW="1397000" imgH="419100" progId="Equation.3">
                  <p:embed/>
                  <p:pic>
                    <p:nvPicPr>
                      <p:cNvPr id="74754"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2350" y="3112576"/>
                        <a:ext cx="3352800" cy="1004887"/>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1"/>
          <p:cNvGraphicFramePr>
            <a:graphicFrameLocks noChangeAspect="1"/>
          </p:cNvGraphicFramePr>
          <p:nvPr>
            <p:extLst>
              <p:ext uri="{D42A27DB-BD31-4B8C-83A1-F6EECF244321}">
                <p14:modId xmlns:p14="http://schemas.microsoft.com/office/powerpoint/2010/main" val="1838792322"/>
              </p:ext>
            </p:extLst>
          </p:nvPr>
        </p:nvGraphicFramePr>
        <p:xfrm>
          <a:off x="4284150" y="893251"/>
          <a:ext cx="2041525" cy="944562"/>
        </p:xfrm>
        <a:graphic>
          <a:graphicData uri="http://schemas.openxmlformats.org/presentationml/2006/ole">
            <mc:AlternateContent xmlns:mc="http://schemas.openxmlformats.org/markup-compatibility/2006">
              <mc:Choice xmlns:v="urn:schemas-microsoft-com:vml" Requires="v">
                <p:oleObj spid="_x0000_s29767" name="Equation" r:id="rId5" imgW="850531" imgH="393529" progId="Equation.DSMT4">
                  <p:embed/>
                </p:oleObj>
              </mc:Choice>
              <mc:Fallback>
                <p:oleObj name="Equation" r:id="rId5" imgW="850531" imgH="393529" progId="Equation.DSMT4">
                  <p:embed/>
                  <p:pic>
                    <p:nvPicPr>
                      <p:cNvPr id="74755"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4150" y="893251"/>
                        <a:ext cx="2041525" cy="944562"/>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2"/>
          <p:cNvGraphicFramePr>
            <a:graphicFrameLocks noChangeAspect="1"/>
          </p:cNvGraphicFramePr>
          <p:nvPr>
            <p:extLst>
              <p:ext uri="{D42A27DB-BD31-4B8C-83A1-F6EECF244321}">
                <p14:modId xmlns:p14="http://schemas.microsoft.com/office/powerpoint/2010/main" val="1465290407"/>
              </p:ext>
            </p:extLst>
          </p:nvPr>
        </p:nvGraphicFramePr>
        <p:xfrm>
          <a:off x="4636575" y="4026976"/>
          <a:ext cx="2803525" cy="882650"/>
        </p:xfrm>
        <a:graphic>
          <a:graphicData uri="http://schemas.openxmlformats.org/presentationml/2006/ole">
            <mc:AlternateContent xmlns:mc="http://schemas.openxmlformats.org/markup-compatibility/2006">
              <mc:Choice xmlns:v="urn:schemas-microsoft-com:vml" Requires="v">
                <p:oleObj spid="_x0000_s29768" name="Equation" r:id="rId7" imgW="1168400" imgH="368300" progId="Equation.DSMT4">
                  <p:embed/>
                </p:oleObj>
              </mc:Choice>
              <mc:Fallback>
                <p:oleObj name="Equation" r:id="rId7" imgW="1168400" imgH="368300" progId="Equation.DSMT4">
                  <p:embed/>
                  <p:pic>
                    <p:nvPicPr>
                      <p:cNvPr id="74756"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6575" y="4026976"/>
                        <a:ext cx="2803525" cy="882650"/>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1532626421"/>
              </p:ext>
            </p:extLst>
          </p:nvPr>
        </p:nvGraphicFramePr>
        <p:xfrm>
          <a:off x="5289037" y="5187438"/>
          <a:ext cx="1736725" cy="669925"/>
        </p:xfrm>
        <a:graphic>
          <a:graphicData uri="http://schemas.openxmlformats.org/presentationml/2006/ole">
            <mc:AlternateContent xmlns:mc="http://schemas.openxmlformats.org/markup-compatibility/2006">
              <mc:Choice xmlns:v="urn:schemas-microsoft-com:vml" Requires="v">
                <p:oleObj spid="_x0000_s29769" name="公式" r:id="rId9" imgW="723586" imgH="279279" progId="Equation.3">
                  <p:embed/>
                </p:oleObj>
              </mc:Choice>
              <mc:Fallback>
                <p:oleObj name="公式" r:id="rId9" imgW="723586" imgH="279279" progId="Equation.3">
                  <p:embed/>
                  <p:pic>
                    <p:nvPicPr>
                      <p:cNvPr id="74757"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9037" y="5187438"/>
                        <a:ext cx="1736725" cy="669925"/>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9"/>
          <p:cNvSpPr txBox="1">
            <a:spLocks noChangeArrowheads="1"/>
          </p:cNvSpPr>
          <p:nvPr/>
        </p:nvSpPr>
        <p:spPr bwMode="auto">
          <a:xfrm>
            <a:off x="421762" y="1088513"/>
            <a:ext cx="4032250" cy="493713"/>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zh-CN" altLang="en-US" sz="2400" b="1">
                <a:solidFill>
                  <a:srgbClr val="000000"/>
                </a:solidFill>
                <a:latin typeface="Times New Roman" pitchFamily="18" charset="0"/>
                <a:ea typeface="宋体" charset="-122"/>
              </a:rPr>
              <a:t>扩散流方程的表达式为：</a:t>
            </a:r>
          </a:p>
        </p:txBody>
      </p:sp>
      <p:sp>
        <p:nvSpPr>
          <p:cNvPr id="8" name="Text Box 12"/>
          <p:cNvSpPr txBox="1">
            <a:spLocks noChangeArrowheads="1"/>
          </p:cNvSpPr>
          <p:nvPr/>
        </p:nvSpPr>
        <p:spPr bwMode="auto">
          <a:xfrm>
            <a:off x="421762" y="1872738"/>
            <a:ext cx="8001000" cy="1296988"/>
          </a:xfrm>
          <a:prstGeom prst="rect">
            <a:avLst/>
          </a:prstGeom>
          <a:noFill/>
          <a:ln w="12700" cap="sq">
            <a:noFill/>
            <a:miter lim="800000"/>
            <a:headEnd type="none" w="sm" len="sm"/>
            <a:tailEnd type="none" w="sm" len="sm"/>
          </a:ln>
        </p:spPr>
        <p:txBody>
          <a:bodyPr>
            <a:spAutoFit/>
          </a:bodyPr>
          <a:lstStyle/>
          <a:p>
            <a:pPr marL="334963" indent="-334963" defTabSz="914400" eaLnBrk="0" fontAlgn="base" hangingPunct="0">
              <a:lnSpc>
                <a:spcPct val="110000"/>
              </a:lnSpc>
              <a:spcBef>
                <a:spcPct val="0"/>
              </a:spcBef>
              <a:spcAft>
                <a:spcPct val="0"/>
              </a:spcAft>
              <a:buFont typeface="Wingdings" pitchFamily="2" charset="2"/>
              <a:buChar char="q"/>
            </a:pPr>
            <a:r>
              <a:rPr kumimoji="1" lang="zh-CN" altLang="en-US" sz="2400" b="1">
                <a:solidFill>
                  <a:srgbClr val="000000"/>
                </a:solidFill>
                <a:latin typeface="Times New Roman" pitchFamily="18" charset="0"/>
                <a:ea typeface="宋体" charset="-122"/>
              </a:rPr>
              <a:t>稳定情形：单位时间、单位体积内扩散引起的空穴数的增加量（扩散流的散度）应该等于复合引起的空穴数的减少量，于是得到稳定扩散方程：</a:t>
            </a:r>
          </a:p>
        </p:txBody>
      </p:sp>
      <p:sp>
        <p:nvSpPr>
          <p:cNvPr id="9" name="Text Box 13"/>
          <p:cNvSpPr txBox="1">
            <a:spLocks noChangeArrowheads="1"/>
          </p:cNvSpPr>
          <p:nvPr/>
        </p:nvSpPr>
        <p:spPr bwMode="auto">
          <a:xfrm>
            <a:off x="421762" y="4412738"/>
            <a:ext cx="4246563" cy="493713"/>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zh-CN" altLang="en-US" sz="2400" b="1">
                <a:solidFill>
                  <a:srgbClr val="000000"/>
                </a:solidFill>
                <a:latin typeface="Times New Roman" pitchFamily="18" charset="0"/>
                <a:ea typeface="宋体" charset="-122"/>
              </a:rPr>
              <a:t>求解得稳定扩散时的通解：</a:t>
            </a:r>
          </a:p>
        </p:txBody>
      </p:sp>
      <p:sp>
        <p:nvSpPr>
          <p:cNvPr id="10" name="Text Box 15"/>
          <p:cNvSpPr txBox="1">
            <a:spLocks noChangeArrowheads="1"/>
          </p:cNvSpPr>
          <p:nvPr/>
        </p:nvSpPr>
        <p:spPr bwMode="auto">
          <a:xfrm>
            <a:off x="421762" y="5238238"/>
            <a:ext cx="4968875" cy="493713"/>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zh-CN" altLang="en-US" sz="2400" b="1">
                <a:solidFill>
                  <a:srgbClr val="000000"/>
                </a:solidFill>
                <a:latin typeface="Times New Roman" pitchFamily="18" charset="0"/>
                <a:ea typeface="宋体" charset="-122"/>
              </a:rPr>
              <a:t>扩散的特征长度</a:t>
            </a:r>
            <a:r>
              <a:rPr kumimoji="1" lang="en-US" altLang="zh-CN" sz="2400" b="1">
                <a:solidFill>
                  <a:srgbClr val="000000"/>
                </a:solidFill>
                <a:latin typeface="Times New Roman" pitchFamily="18" charset="0"/>
                <a:ea typeface="宋体" charset="-122"/>
              </a:rPr>
              <a:t>——</a:t>
            </a:r>
            <a:r>
              <a:rPr kumimoji="1" lang="zh-CN" altLang="en-US" sz="2400" b="1">
                <a:solidFill>
                  <a:srgbClr val="000000"/>
                </a:solidFill>
                <a:latin typeface="Times New Roman" pitchFamily="18" charset="0"/>
                <a:ea typeface="宋体" charset="-122"/>
              </a:rPr>
              <a:t>扩散长度：</a:t>
            </a:r>
          </a:p>
        </p:txBody>
      </p:sp>
    </p:spTree>
    <p:extLst>
      <p:ext uri="{BB962C8B-B14F-4D97-AF65-F5344CB8AC3E}">
        <p14:creationId xmlns:p14="http://schemas.microsoft.com/office/powerpoint/2010/main" val="2565463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44</a:t>
            </a:fld>
            <a:endParaRPr lang="zh-CN" altLang="en-US"/>
          </a:p>
        </p:txBody>
      </p:sp>
      <p:sp>
        <p:nvSpPr>
          <p:cNvPr id="3" name="Text Box 9"/>
          <p:cNvSpPr txBox="1">
            <a:spLocks noChangeArrowheads="1"/>
          </p:cNvSpPr>
          <p:nvPr/>
        </p:nvSpPr>
        <p:spPr bwMode="auto">
          <a:xfrm>
            <a:off x="549582" y="720163"/>
            <a:ext cx="3462338" cy="493712"/>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zh-CN" altLang="en-US" sz="2400" b="1">
                <a:solidFill>
                  <a:srgbClr val="000000"/>
                </a:solidFill>
                <a:latin typeface="Times New Roman" pitchFamily="18" charset="0"/>
                <a:ea typeface="宋体" charset="-122"/>
              </a:rPr>
              <a:t>在样品足够厚时：</a:t>
            </a:r>
          </a:p>
        </p:txBody>
      </p:sp>
      <p:graphicFrame>
        <p:nvGraphicFramePr>
          <p:cNvPr id="4" name="Object 10"/>
          <p:cNvGraphicFramePr>
            <a:graphicFrameLocks noChangeAspect="1"/>
          </p:cNvGraphicFramePr>
          <p:nvPr>
            <p:extLst>
              <p:ext uri="{D42A27DB-BD31-4B8C-83A1-F6EECF244321}">
                <p14:modId xmlns:p14="http://schemas.microsoft.com/office/powerpoint/2010/main" val="1288141520"/>
              </p:ext>
            </p:extLst>
          </p:nvPr>
        </p:nvGraphicFramePr>
        <p:xfrm>
          <a:off x="5508932" y="2590238"/>
          <a:ext cx="1736725" cy="669925"/>
        </p:xfrm>
        <a:graphic>
          <a:graphicData uri="http://schemas.openxmlformats.org/presentationml/2006/ole">
            <mc:AlternateContent xmlns:mc="http://schemas.openxmlformats.org/markup-compatibility/2006">
              <mc:Choice xmlns:v="urn:schemas-microsoft-com:vml" Requires="v">
                <p:oleObj spid="_x0000_s30824" name="公式" r:id="rId3" imgW="723586" imgH="279279" progId="Equation.3">
                  <p:embed/>
                </p:oleObj>
              </mc:Choice>
              <mc:Fallback>
                <p:oleObj name="公式" r:id="rId3" imgW="723586" imgH="279279" progId="Equation.3">
                  <p:embed/>
                  <p:pic>
                    <p:nvPicPr>
                      <p:cNvPr id="7578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932" y="2590238"/>
                        <a:ext cx="1736725" cy="669925"/>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11"/>
          <p:cNvGraphicFramePr>
            <a:graphicFrameLocks noChangeAspect="1"/>
          </p:cNvGraphicFramePr>
          <p:nvPr>
            <p:extLst>
              <p:ext uri="{D42A27DB-BD31-4B8C-83A1-F6EECF244321}">
                <p14:modId xmlns:p14="http://schemas.microsoft.com/office/powerpoint/2010/main" val="4226022594"/>
              </p:ext>
            </p:extLst>
          </p:nvPr>
        </p:nvGraphicFramePr>
        <p:xfrm>
          <a:off x="2119620" y="1147200"/>
          <a:ext cx="2284412" cy="914400"/>
        </p:xfrm>
        <a:graphic>
          <a:graphicData uri="http://schemas.openxmlformats.org/presentationml/2006/ole">
            <mc:AlternateContent xmlns:mc="http://schemas.openxmlformats.org/markup-compatibility/2006">
              <mc:Choice xmlns:v="urn:schemas-microsoft-com:vml" Requires="v">
                <p:oleObj spid="_x0000_s30825" name="公式" r:id="rId5" imgW="952087" imgH="380835" progId="Equation.3">
                  <p:embed/>
                </p:oleObj>
              </mc:Choice>
              <mc:Fallback>
                <p:oleObj name="公式" r:id="rId5" imgW="952087" imgH="380835" progId="Equation.3">
                  <p:embed/>
                  <p:pic>
                    <p:nvPicPr>
                      <p:cNvPr id="75786"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9620" y="1147200"/>
                        <a:ext cx="2284412" cy="914400"/>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2"/>
          <p:cNvGraphicFramePr>
            <a:graphicFrameLocks noChangeAspect="1"/>
          </p:cNvGraphicFramePr>
          <p:nvPr>
            <p:extLst>
              <p:ext uri="{D42A27DB-BD31-4B8C-83A1-F6EECF244321}">
                <p14:modId xmlns:p14="http://schemas.microsoft.com/office/powerpoint/2010/main" val="4272142814"/>
              </p:ext>
            </p:extLst>
          </p:nvPr>
        </p:nvGraphicFramePr>
        <p:xfrm>
          <a:off x="1563995" y="2163200"/>
          <a:ext cx="3228975" cy="1524000"/>
        </p:xfrm>
        <a:graphic>
          <a:graphicData uri="http://schemas.openxmlformats.org/presentationml/2006/ole">
            <mc:AlternateContent xmlns:mc="http://schemas.openxmlformats.org/markup-compatibility/2006">
              <mc:Choice xmlns:v="urn:schemas-microsoft-com:vml" Requires="v">
                <p:oleObj spid="_x0000_s30826" name="公式" r:id="rId7" imgW="1345616" imgH="634725" progId="Equation.3">
                  <p:embed/>
                </p:oleObj>
              </mc:Choice>
              <mc:Fallback>
                <p:oleObj name="公式" r:id="rId7" imgW="1345616" imgH="634725" progId="Equation.3">
                  <p:embed/>
                  <p:pic>
                    <p:nvPicPr>
                      <p:cNvPr id="75787"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3995" y="2163200"/>
                        <a:ext cx="3228975" cy="1524000"/>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13"/>
          <p:cNvSpPr txBox="1">
            <a:spLocks noChangeArrowheads="1"/>
          </p:cNvSpPr>
          <p:nvPr/>
        </p:nvSpPr>
        <p:spPr bwMode="auto">
          <a:xfrm>
            <a:off x="549582" y="3755463"/>
            <a:ext cx="7705725" cy="493712"/>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pPr>
            <a:r>
              <a:rPr kumimoji="1" lang="zh-CN" altLang="en-US" sz="2400" b="1">
                <a:solidFill>
                  <a:srgbClr val="000000"/>
                </a:solidFill>
                <a:latin typeface="Times New Roman" pitchFamily="18" charset="0"/>
                <a:ea typeface="宋体" charset="-122"/>
              </a:rPr>
              <a:t>表征非平衡载流子在半导体中扩散距离的特征长度</a:t>
            </a:r>
          </a:p>
        </p:txBody>
      </p:sp>
      <p:sp>
        <p:nvSpPr>
          <p:cNvPr id="8" name="Text Box 14"/>
          <p:cNvSpPr txBox="1">
            <a:spLocks noChangeArrowheads="1"/>
          </p:cNvSpPr>
          <p:nvPr/>
        </p:nvSpPr>
        <p:spPr bwMode="auto">
          <a:xfrm>
            <a:off x="549582" y="4365063"/>
            <a:ext cx="3148013" cy="493712"/>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zh-CN" altLang="en-US" sz="2400" b="1">
                <a:solidFill>
                  <a:srgbClr val="000000"/>
                </a:solidFill>
                <a:latin typeface="Times New Roman" pitchFamily="18" charset="0"/>
                <a:ea typeface="宋体" charset="-122"/>
              </a:rPr>
              <a:t>在样品足够薄时：</a:t>
            </a:r>
          </a:p>
        </p:txBody>
      </p:sp>
      <p:graphicFrame>
        <p:nvGraphicFramePr>
          <p:cNvPr id="9" name="Object 15"/>
          <p:cNvGraphicFramePr>
            <a:graphicFrameLocks noChangeAspect="1"/>
          </p:cNvGraphicFramePr>
          <p:nvPr>
            <p:extLst>
              <p:ext uri="{D42A27DB-BD31-4B8C-83A1-F6EECF244321}">
                <p14:modId xmlns:p14="http://schemas.microsoft.com/office/powerpoint/2010/main" val="3356006780"/>
              </p:ext>
            </p:extLst>
          </p:nvPr>
        </p:nvGraphicFramePr>
        <p:xfrm>
          <a:off x="3837295" y="4941325"/>
          <a:ext cx="3048000" cy="549275"/>
        </p:xfrm>
        <a:graphic>
          <a:graphicData uri="http://schemas.openxmlformats.org/presentationml/2006/ole">
            <mc:AlternateContent xmlns:mc="http://schemas.openxmlformats.org/markup-compatibility/2006">
              <mc:Choice xmlns:v="urn:schemas-microsoft-com:vml" Requires="v">
                <p:oleObj spid="_x0000_s30827" name="Equation" r:id="rId9" imgW="1270000" imgH="228600" progId="Equation.3">
                  <p:embed/>
                </p:oleObj>
              </mc:Choice>
              <mc:Fallback>
                <p:oleObj name="Equation" r:id="rId9" imgW="1270000" imgH="228600" progId="Equation.3">
                  <p:embed/>
                  <p:pic>
                    <p:nvPicPr>
                      <p:cNvPr id="7579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37295" y="4941325"/>
                        <a:ext cx="3048000" cy="549275"/>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6"/>
          <p:cNvGraphicFramePr>
            <a:graphicFrameLocks noChangeAspect="1"/>
          </p:cNvGraphicFramePr>
          <p:nvPr>
            <p:extLst>
              <p:ext uri="{D42A27DB-BD31-4B8C-83A1-F6EECF244321}">
                <p14:modId xmlns:p14="http://schemas.microsoft.com/office/powerpoint/2010/main" val="450213390"/>
              </p:ext>
            </p:extLst>
          </p:nvPr>
        </p:nvGraphicFramePr>
        <p:xfrm>
          <a:off x="3561070" y="705875"/>
          <a:ext cx="2163762" cy="487363"/>
        </p:xfrm>
        <a:graphic>
          <a:graphicData uri="http://schemas.openxmlformats.org/presentationml/2006/ole">
            <mc:AlternateContent xmlns:mc="http://schemas.openxmlformats.org/markup-compatibility/2006">
              <mc:Choice xmlns:v="urn:schemas-microsoft-com:vml" Requires="v">
                <p:oleObj spid="_x0000_s30828" name="Equation" r:id="rId11" imgW="901309" imgH="203112" progId="Equation.DSMT4">
                  <p:embed/>
                </p:oleObj>
              </mc:Choice>
              <mc:Fallback>
                <p:oleObj name="Equation" r:id="rId11" imgW="901309" imgH="203112" progId="Equation.DSMT4">
                  <p:embed/>
                  <p:pic>
                    <p:nvPicPr>
                      <p:cNvPr id="75791"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61070" y="705875"/>
                        <a:ext cx="2163762"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7"/>
          <p:cNvGraphicFramePr>
            <a:graphicFrameLocks noChangeAspect="1"/>
          </p:cNvGraphicFramePr>
          <p:nvPr>
            <p:extLst>
              <p:ext uri="{D42A27DB-BD31-4B8C-83A1-F6EECF244321}">
                <p14:modId xmlns:p14="http://schemas.microsoft.com/office/powerpoint/2010/main" val="222436237"/>
              </p:ext>
            </p:extLst>
          </p:nvPr>
        </p:nvGraphicFramePr>
        <p:xfrm>
          <a:off x="1486207" y="4973075"/>
          <a:ext cx="1981200" cy="487363"/>
        </p:xfrm>
        <a:graphic>
          <a:graphicData uri="http://schemas.openxmlformats.org/presentationml/2006/ole">
            <mc:AlternateContent xmlns:mc="http://schemas.openxmlformats.org/markup-compatibility/2006">
              <mc:Choice xmlns:v="urn:schemas-microsoft-com:vml" Requires="v">
                <p:oleObj spid="_x0000_s30829" name="Equation" r:id="rId13" imgW="825500" imgH="203200" progId="Equation.DSMT4">
                  <p:embed/>
                </p:oleObj>
              </mc:Choice>
              <mc:Fallback>
                <p:oleObj name="Equation" r:id="rId13" imgW="825500" imgH="203200" progId="Equation.DSMT4">
                  <p:embed/>
                  <p:pic>
                    <p:nvPicPr>
                      <p:cNvPr id="75792"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86207" y="4973075"/>
                        <a:ext cx="1981200"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12"/>
          <p:cNvSpPr txBox="1">
            <a:spLocks noChangeArrowheads="1"/>
          </p:cNvSpPr>
          <p:nvPr/>
        </p:nvSpPr>
        <p:spPr bwMode="auto">
          <a:xfrm>
            <a:off x="1102894" y="6018592"/>
            <a:ext cx="68506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r>
              <a:rPr lang="zh-CN" altLang="en-US" sz="2400" b="1" u="none" dirty="0">
                <a:solidFill>
                  <a:srgbClr val="FF0000"/>
                </a:solidFill>
                <a:latin typeface="华文中宋" panose="02010600040101010101" pitchFamily="2" charset="-122"/>
                <a:ea typeface="华文中宋" panose="02010600040101010101" pitchFamily="2" charset="-122"/>
              </a:rPr>
              <a:t>问题</a:t>
            </a:r>
            <a:r>
              <a:rPr lang="zh-CN" altLang="en-US" sz="2400" b="1" u="none" dirty="0" smtClean="0">
                <a:solidFill>
                  <a:srgbClr val="FF0000"/>
                </a:solidFill>
                <a:latin typeface="华文中宋" panose="02010600040101010101" pitchFamily="2" charset="-122"/>
                <a:ea typeface="华文中宋" panose="02010600040101010101" pitchFamily="2" charset="-122"/>
              </a:rPr>
              <a:t>：如何同时处理存在产生和复合的情况？</a:t>
            </a:r>
            <a:endParaRPr lang="zh-CN" altLang="en-US" sz="2400" b="1" u="none" dirty="0">
              <a:solidFill>
                <a:srgbClr val="FF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5218892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45</a:t>
            </a:fld>
            <a:endParaRPr lang="zh-CN" altLang="en-US"/>
          </a:p>
        </p:txBody>
      </p:sp>
      <p:sp>
        <p:nvSpPr>
          <p:cNvPr id="3" name="Text Box 3"/>
          <p:cNvSpPr txBox="1">
            <a:spLocks noChangeArrowheads="1"/>
          </p:cNvSpPr>
          <p:nvPr/>
        </p:nvSpPr>
        <p:spPr bwMode="auto">
          <a:xfrm>
            <a:off x="372602" y="280485"/>
            <a:ext cx="3222161"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en-US" altLang="zh-CN" sz="2800" b="1" dirty="0" smtClean="0">
                <a:solidFill>
                  <a:srgbClr val="FF6600"/>
                </a:solidFill>
                <a:effectLst>
                  <a:outerShdw blurRad="38100" dist="38100" dir="2700000" algn="tl">
                    <a:srgbClr val="C0C0C0"/>
                  </a:outerShdw>
                </a:effectLst>
                <a:latin typeface="Times New Roman" pitchFamily="18" charset="0"/>
                <a:ea typeface="宋体" pitchFamily="2" charset="-122"/>
              </a:rPr>
              <a:t>2. </a:t>
            </a: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光发射</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
        <p:nvSpPr>
          <p:cNvPr id="4" name="内容占位符 4"/>
          <p:cNvSpPr txBox="1">
            <a:spLocks/>
          </p:cNvSpPr>
          <p:nvPr/>
        </p:nvSpPr>
        <p:spPr>
          <a:xfrm>
            <a:off x="447368" y="1265903"/>
            <a:ext cx="82296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mtClean="0"/>
              <a:t>	</a:t>
            </a:r>
            <a:endParaRPr lang="zh-CN" altLang="en-US" smtClean="0"/>
          </a:p>
        </p:txBody>
      </p:sp>
      <p:pic>
        <p:nvPicPr>
          <p:cNvPr id="5"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7018" y="2970878"/>
            <a:ext cx="6076950"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4"/>
          <p:cNvSpPr txBox="1">
            <a:spLocks noChangeArrowheads="1"/>
          </p:cNvSpPr>
          <p:nvPr/>
        </p:nvSpPr>
        <p:spPr bwMode="auto">
          <a:xfrm>
            <a:off x="447368" y="1094453"/>
            <a:ext cx="839787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zh-CN" altLang="en-US" sz="2200" b="1" u="none" dirty="0">
                <a:latin typeface="Arial" panose="020B0604020202020204" pitchFamily="34" charset="0"/>
              </a:rPr>
              <a:t>光发射是光吸收的逆过程。</a:t>
            </a:r>
            <a:endParaRPr kumimoji="1" lang="en-US" altLang="zh-CN" sz="2200" b="1" u="none" dirty="0">
              <a:latin typeface="Arial" panose="020B0604020202020204" pitchFamily="34" charset="0"/>
            </a:endParaRPr>
          </a:p>
          <a:p>
            <a:pPr eaLnBrk="1" hangingPunct="1">
              <a:spcBef>
                <a:spcPct val="0"/>
              </a:spcBef>
              <a:buFont typeface="Wingdings" panose="05000000000000000000" pitchFamily="2" charset="2"/>
              <a:buChar char="Ø"/>
            </a:pPr>
            <a:r>
              <a:rPr kumimoji="1" lang="zh-CN" altLang="en-US" sz="2200" b="1" u="none" dirty="0">
                <a:latin typeface="Arial" panose="020B0604020202020204" pitchFamily="34" charset="0"/>
              </a:rPr>
              <a:t>在热平衡的半导体中，光发射和光吸收这两个过程保持平衡</a:t>
            </a:r>
            <a:r>
              <a:rPr kumimoji="1" lang="zh-CN" altLang="en-US" sz="2200" b="1" u="none" dirty="0">
                <a:latin typeface="Arial" panose="020B0604020202020204" pitchFamily="34" charset="0"/>
                <a:sym typeface="Wingdings" panose="05000000000000000000" pitchFamily="2" charset="2"/>
              </a:rPr>
              <a:t>探测不到发光现象。</a:t>
            </a:r>
            <a:endParaRPr kumimoji="1" lang="en-US" altLang="zh-CN" sz="2200" b="1" u="none" dirty="0">
              <a:latin typeface="Arial" panose="020B0604020202020204" pitchFamily="34" charset="0"/>
              <a:sym typeface="Wingdings" panose="05000000000000000000" pitchFamily="2" charset="2"/>
            </a:endParaRPr>
          </a:p>
          <a:p>
            <a:pPr eaLnBrk="1" hangingPunct="1">
              <a:spcBef>
                <a:spcPct val="0"/>
              </a:spcBef>
              <a:buFont typeface="Wingdings" panose="05000000000000000000" pitchFamily="2" charset="2"/>
              <a:buChar char="Ø"/>
            </a:pPr>
            <a:r>
              <a:rPr kumimoji="1" lang="zh-CN" altLang="en-US" sz="2200" b="1" u="none" dirty="0">
                <a:latin typeface="Arial" panose="020B0604020202020204" pitchFamily="34" charset="0"/>
              </a:rPr>
              <a:t>设法使半导体处于非平衡态，存在过剩的电子和空穴时，才能克服半导体中的再吸收，使实际上有光从半导体中发射出来。</a:t>
            </a:r>
          </a:p>
        </p:txBody>
      </p:sp>
    </p:spTree>
    <p:extLst>
      <p:ext uri="{BB962C8B-B14F-4D97-AF65-F5344CB8AC3E}">
        <p14:creationId xmlns:p14="http://schemas.microsoft.com/office/powerpoint/2010/main" val="292518904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46</a:t>
            </a:fld>
            <a:endParaRPr lang="zh-CN" altLang="en-US"/>
          </a:p>
        </p:txBody>
      </p:sp>
      <p:sp>
        <p:nvSpPr>
          <p:cNvPr id="7" name="内容占位符 2"/>
          <p:cNvSpPr txBox="1">
            <a:spLocks/>
          </p:cNvSpPr>
          <p:nvPr/>
        </p:nvSpPr>
        <p:spPr bwMode="auto">
          <a:xfrm>
            <a:off x="376238" y="368300"/>
            <a:ext cx="8229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r>
              <a:rPr lang="en-US" altLang="zh-CN" sz="2400" b="1" u="none">
                <a:solidFill>
                  <a:srgbClr val="0000CC"/>
                </a:solidFill>
                <a:latin typeface="等线" panose="02010600030101010101" pitchFamily="2" charset="-122"/>
                <a:ea typeface="等线" panose="02010600030101010101" pitchFamily="2" charset="-122"/>
              </a:rPr>
              <a:t>p-n</a:t>
            </a:r>
            <a:r>
              <a:rPr lang="zh-CN" altLang="en-US" sz="2400" b="1" u="none">
                <a:solidFill>
                  <a:srgbClr val="0000CC"/>
                </a:solidFill>
                <a:latin typeface="等线" panose="02010600030101010101" pitchFamily="2" charset="-122"/>
                <a:ea typeface="等线" panose="02010600030101010101" pitchFamily="2" charset="-122"/>
              </a:rPr>
              <a:t>结发光</a:t>
            </a:r>
            <a:endParaRPr lang="en-US" altLang="zh-CN" sz="2400" b="1" u="none">
              <a:solidFill>
                <a:srgbClr val="0000CC"/>
              </a:solidFill>
              <a:latin typeface="等线" panose="02010600030101010101" pitchFamily="2" charset="-122"/>
              <a:ea typeface="等线" panose="02010600030101010101" pitchFamily="2" charset="-122"/>
            </a:endParaRPr>
          </a:p>
        </p:txBody>
      </p:sp>
      <p:sp>
        <p:nvSpPr>
          <p:cNvPr id="8" name="文本框 4"/>
          <p:cNvSpPr txBox="1">
            <a:spLocks noChangeArrowheads="1"/>
          </p:cNvSpPr>
          <p:nvPr/>
        </p:nvSpPr>
        <p:spPr bwMode="auto">
          <a:xfrm>
            <a:off x="376238" y="882650"/>
            <a:ext cx="83962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zh-CN" altLang="en-US" sz="2200" b="1" u="none">
                <a:latin typeface="Arial" panose="020B0604020202020204" pitchFamily="34" charset="0"/>
              </a:rPr>
              <a:t>同质结发光</a:t>
            </a:r>
            <a:endParaRPr kumimoji="1" lang="en-US" altLang="zh-CN" sz="2200" b="1" u="none">
              <a:latin typeface="Arial" panose="020B0604020202020204" pitchFamily="34" charset="0"/>
            </a:endParaRPr>
          </a:p>
        </p:txBody>
      </p:sp>
      <p:pic>
        <p:nvPicPr>
          <p:cNvPr id="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500" y="2214563"/>
            <a:ext cx="4062413"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4"/>
          <p:cNvSpPr>
            <a:spLocks noChangeShapeType="1"/>
          </p:cNvSpPr>
          <p:nvPr/>
        </p:nvSpPr>
        <p:spPr bwMode="auto">
          <a:xfrm>
            <a:off x="4116388" y="3871913"/>
            <a:ext cx="1008062" cy="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 name="Group 5"/>
          <p:cNvGrpSpPr>
            <a:grpSpLocks/>
          </p:cNvGrpSpPr>
          <p:nvPr/>
        </p:nvGrpSpPr>
        <p:grpSpPr bwMode="auto">
          <a:xfrm>
            <a:off x="2136775" y="1639888"/>
            <a:ext cx="666750" cy="863600"/>
            <a:chOff x="1361" y="1525"/>
            <a:chExt cx="420" cy="544"/>
          </a:xfrm>
        </p:grpSpPr>
        <p:sp>
          <p:nvSpPr>
            <p:cNvPr id="12" name="Line 6"/>
            <p:cNvSpPr>
              <a:spLocks noChangeShapeType="1"/>
            </p:cNvSpPr>
            <p:nvPr/>
          </p:nvSpPr>
          <p:spPr bwMode="auto">
            <a:xfrm flipH="1">
              <a:off x="1554" y="2069"/>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7"/>
            <p:cNvSpPr>
              <a:spLocks noChangeShapeType="1"/>
            </p:cNvSpPr>
            <p:nvPr/>
          </p:nvSpPr>
          <p:spPr bwMode="auto">
            <a:xfrm flipV="1">
              <a:off x="1554" y="1797"/>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Oval 8"/>
            <p:cNvSpPr>
              <a:spLocks noChangeArrowheads="1"/>
            </p:cNvSpPr>
            <p:nvPr/>
          </p:nvSpPr>
          <p:spPr bwMode="auto">
            <a:xfrm>
              <a:off x="1508" y="1752"/>
              <a:ext cx="91" cy="91"/>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sp>
          <p:nvSpPr>
            <p:cNvPr id="15" name="Text Box 9"/>
            <p:cNvSpPr txBox="1">
              <a:spLocks noChangeArrowheads="1"/>
            </p:cNvSpPr>
            <p:nvPr/>
          </p:nvSpPr>
          <p:spPr bwMode="auto">
            <a:xfrm>
              <a:off x="1361" y="1525"/>
              <a:ext cx="4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a:latin typeface="Arial" panose="020B0604020202020204" pitchFamily="34" charset="0"/>
                </a:rPr>
                <a:t>VCC</a:t>
              </a:r>
            </a:p>
          </p:txBody>
        </p:sp>
      </p:grpSp>
      <p:grpSp>
        <p:nvGrpSpPr>
          <p:cNvPr id="16" name="Group 10"/>
          <p:cNvGrpSpPr>
            <a:grpSpLocks/>
          </p:cNvGrpSpPr>
          <p:nvPr/>
        </p:nvGrpSpPr>
        <p:grpSpPr bwMode="auto">
          <a:xfrm>
            <a:off x="6564313" y="3511550"/>
            <a:ext cx="384175" cy="574675"/>
            <a:chOff x="4150" y="2704"/>
            <a:chExt cx="242" cy="362"/>
          </a:xfrm>
        </p:grpSpPr>
        <p:sp>
          <p:nvSpPr>
            <p:cNvPr id="17" name="Line 11"/>
            <p:cNvSpPr>
              <a:spLocks noChangeShapeType="1"/>
            </p:cNvSpPr>
            <p:nvPr/>
          </p:nvSpPr>
          <p:spPr bwMode="auto">
            <a:xfrm rot="10800000" flipH="1">
              <a:off x="4150" y="2704"/>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2"/>
            <p:cNvSpPr>
              <a:spLocks noChangeShapeType="1"/>
            </p:cNvSpPr>
            <p:nvPr/>
          </p:nvSpPr>
          <p:spPr bwMode="auto">
            <a:xfrm rot="10800000" flipV="1">
              <a:off x="4286" y="2704"/>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3"/>
            <p:cNvSpPr>
              <a:spLocks noChangeShapeType="1"/>
            </p:cNvSpPr>
            <p:nvPr/>
          </p:nvSpPr>
          <p:spPr bwMode="auto">
            <a:xfrm>
              <a:off x="4165" y="2979"/>
              <a:ext cx="2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4"/>
            <p:cNvSpPr>
              <a:spLocks noChangeShapeType="1"/>
            </p:cNvSpPr>
            <p:nvPr/>
          </p:nvSpPr>
          <p:spPr bwMode="auto">
            <a:xfrm>
              <a:off x="4210" y="3021"/>
              <a:ext cx="1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5"/>
            <p:cNvSpPr>
              <a:spLocks noChangeShapeType="1"/>
            </p:cNvSpPr>
            <p:nvPr/>
          </p:nvSpPr>
          <p:spPr bwMode="auto">
            <a:xfrm>
              <a:off x="4237" y="3066"/>
              <a:ext cx="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 name="Line 16"/>
          <p:cNvSpPr>
            <a:spLocks noChangeShapeType="1"/>
          </p:cNvSpPr>
          <p:nvPr/>
        </p:nvSpPr>
        <p:spPr bwMode="auto">
          <a:xfrm>
            <a:off x="3252788" y="2647950"/>
            <a:ext cx="2951162" cy="0"/>
          </a:xfrm>
          <a:prstGeom prst="line">
            <a:avLst/>
          </a:prstGeom>
          <a:noFill/>
          <a:ln w="76200">
            <a:solidFill>
              <a:srgbClr val="FF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17"/>
          <p:cNvSpPr>
            <a:spLocks noChangeShapeType="1"/>
          </p:cNvSpPr>
          <p:nvPr/>
        </p:nvSpPr>
        <p:spPr bwMode="auto">
          <a:xfrm flipH="1">
            <a:off x="4403725" y="3008313"/>
            <a:ext cx="503238" cy="0"/>
          </a:xfrm>
          <a:prstGeom prst="line">
            <a:avLst/>
          </a:prstGeom>
          <a:noFill/>
          <a:ln w="76200">
            <a:solidFill>
              <a:srgbClr val="FFFF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18"/>
          <p:cNvSpPr>
            <a:spLocks noChangeShapeType="1"/>
          </p:cNvSpPr>
          <p:nvPr/>
        </p:nvSpPr>
        <p:spPr bwMode="auto">
          <a:xfrm flipV="1">
            <a:off x="4116388" y="3727450"/>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19"/>
          <p:cNvSpPr>
            <a:spLocks noChangeShapeType="1"/>
          </p:cNvSpPr>
          <p:nvPr/>
        </p:nvSpPr>
        <p:spPr bwMode="auto">
          <a:xfrm flipV="1">
            <a:off x="5124450" y="3727450"/>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Text Box 20"/>
          <p:cNvSpPr txBox="1">
            <a:spLocks noChangeArrowheads="1"/>
          </p:cNvSpPr>
          <p:nvPr/>
        </p:nvSpPr>
        <p:spPr bwMode="auto">
          <a:xfrm>
            <a:off x="371475" y="4448175"/>
            <a:ext cx="83534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200" u="none">
                <a:latin typeface="Arial" panose="020B0604020202020204" pitchFamily="34" charset="0"/>
              </a:rPr>
              <a:t>当</a:t>
            </a:r>
            <a:r>
              <a:rPr lang="en-US" altLang="zh-CN" sz="2200" u="none">
                <a:latin typeface="Arial" panose="020B0604020202020204" pitchFamily="34" charset="0"/>
              </a:rPr>
              <a:t>PN</a:t>
            </a:r>
            <a:r>
              <a:rPr lang="zh-CN" altLang="en-US" sz="2200" u="none">
                <a:latin typeface="Arial" panose="020B0604020202020204" pitchFamily="34" charset="0"/>
              </a:rPr>
              <a:t>结两端加上正向偏置电压时，</a:t>
            </a:r>
            <a:r>
              <a:rPr kumimoji="1" lang="zh-CN" altLang="en-US" sz="2200" u="none">
                <a:latin typeface="Arial" panose="020B0604020202020204" pitchFamily="34" charset="0"/>
              </a:rPr>
              <a:t>产生与内部电场相反方向的外加电场，</a:t>
            </a:r>
            <a:r>
              <a:rPr lang="zh-CN" altLang="en-US" sz="2200" u="none">
                <a:latin typeface="Arial" panose="020B0604020202020204" pitchFamily="34" charset="0"/>
              </a:rPr>
              <a:t>耗尽区变窄，势垒降低。</a:t>
            </a:r>
            <a:r>
              <a:rPr kumimoji="1" lang="zh-CN" altLang="en-US" sz="2200" u="none">
                <a:latin typeface="Arial" panose="020B0604020202020204" pitchFamily="34" charset="0"/>
              </a:rPr>
              <a:t>使</a:t>
            </a:r>
            <a:r>
              <a:rPr kumimoji="1" lang="en-US" altLang="zh-CN" sz="2200" u="none">
                <a:latin typeface="Arial" panose="020B0604020202020204" pitchFamily="34" charset="0"/>
              </a:rPr>
              <a:t>N</a:t>
            </a:r>
            <a:r>
              <a:rPr kumimoji="1" lang="zh-CN" altLang="en-US" sz="2200" u="none">
                <a:latin typeface="Arial" panose="020B0604020202020204" pitchFamily="34" charset="0"/>
              </a:rPr>
              <a:t>区的电子向</a:t>
            </a:r>
            <a:r>
              <a:rPr kumimoji="1" lang="en-US" altLang="zh-CN" sz="2200" u="none">
                <a:latin typeface="Arial" panose="020B0604020202020204" pitchFamily="34" charset="0"/>
              </a:rPr>
              <a:t>P</a:t>
            </a:r>
            <a:r>
              <a:rPr kumimoji="1" lang="zh-CN" altLang="en-US" sz="2200" u="none">
                <a:latin typeface="Arial" panose="020B0604020202020204" pitchFamily="34" charset="0"/>
              </a:rPr>
              <a:t>区运动，</a:t>
            </a:r>
            <a:r>
              <a:rPr kumimoji="1" lang="en-US" altLang="zh-CN" sz="2200" u="none">
                <a:latin typeface="Arial" panose="020B0604020202020204" pitchFamily="34" charset="0"/>
              </a:rPr>
              <a:t>P</a:t>
            </a:r>
            <a:r>
              <a:rPr kumimoji="1" lang="zh-CN" altLang="en-US" sz="2200" u="none">
                <a:latin typeface="Arial" panose="020B0604020202020204" pitchFamily="34" charset="0"/>
              </a:rPr>
              <a:t>区的空穴向</a:t>
            </a:r>
            <a:r>
              <a:rPr kumimoji="1" lang="en-US" altLang="zh-CN" sz="2200" u="none">
                <a:latin typeface="Arial" panose="020B0604020202020204" pitchFamily="34" charset="0"/>
              </a:rPr>
              <a:t>N</a:t>
            </a:r>
            <a:r>
              <a:rPr kumimoji="1" lang="zh-CN" altLang="en-US" sz="2200" u="none">
                <a:latin typeface="Arial" panose="020B0604020202020204" pitchFamily="34" charset="0"/>
              </a:rPr>
              <a:t>区运动。少数载流子与多数载流子复合，产生光辐射。</a:t>
            </a:r>
          </a:p>
        </p:txBody>
      </p:sp>
    </p:spTree>
    <p:extLst>
      <p:ext uri="{BB962C8B-B14F-4D97-AF65-F5344CB8AC3E}">
        <p14:creationId xmlns:p14="http://schemas.microsoft.com/office/powerpoint/2010/main" val="420792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1000" fill="hold"/>
                                        <p:tgtEl>
                                          <p:spTgt spid="10"/>
                                        </p:tgtEl>
                                      </p:cBhvr>
                                      <p:by x="25000" y="25000"/>
                                    </p:animScale>
                                  </p:childTnLst>
                                </p:cTn>
                              </p:par>
                              <p:par>
                                <p:cTn id="27" presetID="0" presetClass="path" presetSubtype="0" accel="50000" decel="50000" fill="hold" nodeType="withEffect">
                                  <p:stCondLst>
                                    <p:cond delay="0"/>
                                  </p:stCondLst>
                                  <p:childTnLst>
                                    <p:animMotion origin="layout" path="M 2.22222E-6 -0.00046 L 0.03941 -0.00046 " pathEditMode="relative" rAng="0" ptsTypes="AA">
                                      <p:cBhvr>
                                        <p:cTn id="28" dur="1000" fill="hold"/>
                                        <p:tgtEl>
                                          <p:spTgt spid="24"/>
                                        </p:tgtEl>
                                        <p:attrNameLst>
                                          <p:attrName>ppt_x</p:attrName>
                                          <p:attrName>ppt_y</p:attrName>
                                        </p:attrNameLst>
                                      </p:cBhvr>
                                      <p:rCtr x="1962" y="0"/>
                                    </p:animMotion>
                                  </p:childTnLst>
                                </p:cTn>
                              </p:par>
                              <p:par>
                                <p:cTn id="29" presetID="0" presetClass="path" presetSubtype="0" accel="50000" decel="50000" fill="hold" nodeType="withEffect">
                                  <p:stCondLst>
                                    <p:cond delay="0"/>
                                  </p:stCondLst>
                                  <p:childTnLst>
                                    <p:animMotion origin="layout" path="M -8.33333E-7 -1.20518E-6 L -0.04253 -0.00069 " pathEditMode="relative" rAng="0" ptsTypes="AA">
                                      <p:cBhvr>
                                        <p:cTn id="30" dur="1000" fill="hold"/>
                                        <p:tgtEl>
                                          <p:spTgt spid="25"/>
                                        </p:tgtEl>
                                        <p:attrNameLst>
                                          <p:attrName>ppt_x</p:attrName>
                                          <p:attrName>ppt_y</p:attrName>
                                        </p:attrNameLst>
                                      </p:cBhvr>
                                      <p:rCtr x="-2135" y="-46"/>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47</a:t>
            </a:fld>
            <a:endParaRPr lang="zh-CN" altLang="en-US"/>
          </a:p>
        </p:txBody>
      </p:sp>
      <p:sp>
        <p:nvSpPr>
          <p:cNvPr id="3" name="内容占位符 2"/>
          <p:cNvSpPr txBox="1">
            <a:spLocks/>
          </p:cNvSpPr>
          <p:nvPr/>
        </p:nvSpPr>
        <p:spPr bwMode="auto">
          <a:xfrm>
            <a:off x="376238" y="368300"/>
            <a:ext cx="8229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r>
              <a:rPr lang="en-US" altLang="zh-CN" sz="2400" b="1" u="none">
                <a:solidFill>
                  <a:srgbClr val="0000CC"/>
                </a:solidFill>
                <a:latin typeface="等线" panose="02010600030101010101" pitchFamily="2" charset="-122"/>
                <a:ea typeface="等线" panose="02010600030101010101" pitchFamily="2" charset="-122"/>
              </a:rPr>
              <a:t>LED</a:t>
            </a:r>
            <a:r>
              <a:rPr lang="zh-CN" altLang="en-US" sz="2400" b="1" u="none">
                <a:solidFill>
                  <a:srgbClr val="0000CC"/>
                </a:solidFill>
                <a:latin typeface="等线" panose="02010600030101010101" pitchFamily="2" charset="-122"/>
                <a:ea typeface="等线" panose="02010600030101010101" pitchFamily="2" charset="-122"/>
              </a:rPr>
              <a:t>光源的材料和工作波长</a:t>
            </a:r>
            <a:endParaRPr lang="en-US" altLang="zh-CN" sz="2400" b="1" u="none">
              <a:solidFill>
                <a:srgbClr val="0000CC"/>
              </a:solidFill>
              <a:latin typeface="等线" panose="02010600030101010101" pitchFamily="2" charset="-122"/>
              <a:ea typeface="等线" panose="02010600030101010101" pitchFamily="2" charset="-122"/>
            </a:endParaRPr>
          </a:p>
        </p:txBody>
      </p:sp>
      <p:sp>
        <p:nvSpPr>
          <p:cNvPr id="4" name="Rectangle 18"/>
          <p:cNvSpPr>
            <a:spLocks noChangeArrowheads="1"/>
          </p:cNvSpPr>
          <p:nvPr/>
        </p:nvSpPr>
        <p:spPr bwMode="auto">
          <a:xfrm>
            <a:off x="554038" y="1042988"/>
            <a:ext cx="8339137"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u="none">
                <a:latin typeface="Arial" panose="020B0604020202020204" pitchFamily="34" charset="0"/>
                <a:ea typeface="仿宋_GB2312"/>
                <a:cs typeface="仿宋_GB2312"/>
              </a:rPr>
              <a:t>        单质半导体材料都不是直接带隙材料，因此不适合做光源；很多化合物，尤其是</a:t>
            </a:r>
            <a:r>
              <a:rPr lang="en-US" altLang="zh-CN" sz="2400" u="none">
                <a:latin typeface="Arial" panose="020B0604020202020204" pitchFamily="34" charset="0"/>
                <a:ea typeface="仿宋_GB2312"/>
                <a:cs typeface="仿宋_GB2312"/>
              </a:rPr>
              <a:t>III-V</a:t>
            </a:r>
            <a:r>
              <a:rPr lang="zh-CN" altLang="en-US" sz="2400" u="none">
                <a:latin typeface="Arial" panose="020B0604020202020204" pitchFamily="34" charset="0"/>
                <a:ea typeface="仿宋_GB2312"/>
                <a:cs typeface="仿宋_GB2312"/>
              </a:rPr>
              <a:t>族化合物是直接带隙的，比如由</a:t>
            </a:r>
            <a:r>
              <a:rPr lang="en-US" altLang="zh-CN" sz="2400" u="none">
                <a:latin typeface="Arial" panose="020B0604020202020204" pitchFamily="34" charset="0"/>
                <a:ea typeface="仿宋_GB2312"/>
                <a:cs typeface="仿宋_GB2312"/>
              </a:rPr>
              <a:t>Al</a:t>
            </a:r>
            <a:r>
              <a:rPr lang="zh-CN" altLang="en-US" sz="2400" u="none">
                <a:latin typeface="Arial" panose="020B0604020202020204" pitchFamily="34" charset="0"/>
                <a:ea typeface="仿宋_GB2312"/>
                <a:cs typeface="仿宋_GB2312"/>
              </a:rPr>
              <a:t>、</a:t>
            </a:r>
            <a:r>
              <a:rPr lang="en-US" altLang="zh-CN" sz="2400" u="none">
                <a:latin typeface="Arial" panose="020B0604020202020204" pitchFamily="34" charset="0"/>
                <a:ea typeface="仿宋_GB2312"/>
                <a:cs typeface="仿宋_GB2312"/>
              </a:rPr>
              <a:t>Ga</a:t>
            </a:r>
            <a:r>
              <a:rPr lang="zh-CN" altLang="en-US" sz="2400" u="none">
                <a:latin typeface="Arial" panose="020B0604020202020204" pitchFamily="34" charset="0"/>
                <a:ea typeface="仿宋_GB2312"/>
                <a:cs typeface="仿宋_GB2312"/>
              </a:rPr>
              <a:t>、</a:t>
            </a:r>
            <a:r>
              <a:rPr lang="en-US" altLang="zh-CN" sz="2400" u="none">
                <a:latin typeface="Arial" panose="020B0604020202020204" pitchFamily="34" charset="0"/>
                <a:ea typeface="仿宋_GB2312"/>
                <a:cs typeface="仿宋_GB2312"/>
              </a:rPr>
              <a:t>In</a:t>
            </a:r>
            <a:r>
              <a:rPr lang="zh-CN" altLang="en-US" sz="2400" u="none">
                <a:latin typeface="Arial" panose="020B0604020202020204" pitchFamily="34" charset="0"/>
                <a:ea typeface="仿宋_GB2312"/>
                <a:cs typeface="仿宋_GB2312"/>
              </a:rPr>
              <a:t>和</a:t>
            </a:r>
            <a:r>
              <a:rPr lang="en-US" altLang="zh-CN" sz="2400" u="none">
                <a:latin typeface="Arial" panose="020B0604020202020204" pitchFamily="34" charset="0"/>
                <a:ea typeface="仿宋_GB2312"/>
                <a:cs typeface="仿宋_GB2312"/>
              </a:rPr>
              <a:t>P</a:t>
            </a:r>
            <a:r>
              <a:rPr lang="zh-CN" altLang="en-US" sz="2400" u="none">
                <a:latin typeface="Arial" panose="020B0604020202020204" pitchFamily="34" charset="0"/>
                <a:ea typeface="仿宋_GB2312"/>
                <a:cs typeface="仿宋_GB2312"/>
              </a:rPr>
              <a:t>、</a:t>
            </a:r>
            <a:r>
              <a:rPr lang="en-US" altLang="zh-CN" sz="2400" u="none">
                <a:latin typeface="Arial" panose="020B0604020202020204" pitchFamily="34" charset="0"/>
                <a:ea typeface="仿宋_GB2312"/>
                <a:cs typeface="仿宋_GB2312"/>
              </a:rPr>
              <a:t>As</a:t>
            </a:r>
            <a:r>
              <a:rPr lang="zh-CN" altLang="en-US" sz="2400" u="none">
                <a:latin typeface="Arial" panose="020B0604020202020204" pitchFamily="34" charset="0"/>
                <a:ea typeface="仿宋_GB2312"/>
                <a:cs typeface="仿宋_GB2312"/>
              </a:rPr>
              <a:t>、</a:t>
            </a:r>
            <a:r>
              <a:rPr lang="en-US" altLang="zh-CN" sz="2400" u="none">
                <a:latin typeface="Arial" panose="020B0604020202020204" pitchFamily="34" charset="0"/>
                <a:ea typeface="仿宋_GB2312"/>
                <a:cs typeface="仿宋_GB2312"/>
              </a:rPr>
              <a:t>Sb</a:t>
            </a:r>
            <a:r>
              <a:rPr lang="zh-CN" altLang="en-US" sz="2400" u="none">
                <a:latin typeface="Arial" panose="020B0604020202020204" pitchFamily="34" charset="0"/>
                <a:ea typeface="仿宋_GB2312"/>
                <a:cs typeface="仿宋_GB2312"/>
              </a:rPr>
              <a:t>构成的化合物。</a:t>
            </a:r>
            <a:endParaRPr lang="en-US" altLang="zh-CN" sz="2400" u="none">
              <a:latin typeface="Arial" panose="020B0604020202020204" pitchFamily="34" charset="0"/>
              <a:ea typeface="仿宋_GB2312"/>
              <a:cs typeface="仿宋_GB2312"/>
            </a:endParaRPr>
          </a:p>
          <a:p>
            <a:pPr eaLnBrk="1" hangingPunct="1">
              <a:spcBef>
                <a:spcPct val="0"/>
              </a:spcBef>
              <a:buFontTx/>
              <a:buNone/>
            </a:pPr>
            <a:endParaRPr lang="zh-CN" altLang="en-US" sz="2400" u="none">
              <a:latin typeface="Arial" panose="020B0604020202020204" pitchFamily="34" charset="0"/>
              <a:ea typeface="仿宋_GB2312"/>
              <a:cs typeface="仿宋_GB2312"/>
            </a:endParaRPr>
          </a:p>
          <a:p>
            <a:pPr eaLnBrk="1" hangingPunct="1">
              <a:spcBef>
                <a:spcPct val="0"/>
              </a:spcBef>
              <a:buFontTx/>
              <a:buNone/>
            </a:pPr>
            <a:r>
              <a:rPr lang="zh-CN" altLang="en-US" sz="2400" u="none">
                <a:latin typeface="Arial" panose="020B0604020202020204" pitchFamily="34" charset="0"/>
                <a:ea typeface="仿宋_GB2312"/>
                <a:cs typeface="仿宋_GB2312"/>
              </a:rPr>
              <a:t>        不同材料有不同的能级差和发光波长。不同波长光通信系统应选用不同材料光源。</a:t>
            </a:r>
          </a:p>
          <a:p>
            <a:pPr eaLnBrk="1" hangingPunct="1">
              <a:spcBef>
                <a:spcPct val="0"/>
              </a:spcBef>
              <a:buFontTx/>
              <a:buNone/>
            </a:pPr>
            <a:endParaRPr lang="zh-CN" altLang="en-US" sz="2400" u="none">
              <a:latin typeface="Arial" panose="020B0604020202020204" pitchFamily="34" charset="0"/>
              <a:ea typeface="仿宋_GB2312"/>
              <a:cs typeface="仿宋_GB2312"/>
            </a:endParaRPr>
          </a:p>
          <a:p>
            <a:pPr eaLnBrk="1" hangingPunct="1">
              <a:spcBef>
                <a:spcPct val="0"/>
              </a:spcBef>
              <a:buFontTx/>
              <a:buNone/>
            </a:pPr>
            <a:r>
              <a:rPr lang="en-US" altLang="zh-CN" sz="2400" u="none">
                <a:latin typeface="Arial" panose="020B0604020202020204" pitchFamily="34" charset="0"/>
                <a:ea typeface="仿宋_GB2312"/>
                <a:cs typeface="仿宋_GB2312"/>
              </a:rPr>
              <a:t>LED</a:t>
            </a:r>
            <a:r>
              <a:rPr lang="zh-CN" altLang="en-US" sz="2400" u="none">
                <a:latin typeface="Arial" panose="020B0604020202020204" pitchFamily="34" charset="0"/>
                <a:ea typeface="仿宋_GB2312"/>
                <a:cs typeface="仿宋_GB2312"/>
              </a:rPr>
              <a:t>基本材料：</a:t>
            </a:r>
          </a:p>
          <a:p>
            <a:pPr eaLnBrk="1" hangingPunct="1">
              <a:spcBef>
                <a:spcPct val="0"/>
              </a:spcBef>
              <a:buFontTx/>
              <a:buNone/>
            </a:pPr>
            <a:r>
              <a:rPr lang="en-US" altLang="zh-CN" sz="2400" u="none">
                <a:latin typeface="Arial" panose="020B0604020202020204" pitchFamily="34" charset="0"/>
                <a:ea typeface="仿宋_GB2312"/>
                <a:cs typeface="仿宋_GB2312"/>
              </a:rPr>
              <a:t>Ga</a:t>
            </a:r>
            <a:r>
              <a:rPr lang="en-US" altLang="zh-CN" sz="2400" u="none" baseline="-25000">
                <a:latin typeface="Arial" panose="020B0604020202020204" pitchFamily="34" charset="0"/>
                <a:ea typeface="仿宋_GB2312"/>
                <a:cs typeface="仿宋_GB2312"/>
              </a:rPr>
              <a:t>1-</a:t>
            </a:r>
            <a:r>
              <a:rPr lang="en-US" altLang="zh-CN" sz="2400" i="1" u="none" baseline="-25000">
                <a:latin typeface="Arial" panose="020B0604020202020204" pitchFamily="34" charset="0"/>
                <a:ea typeface="仿宋_GB2312"/>
                <a:cs typeface="仿宋_GB2312"/>
              </a:rPr>
              <a:t>x</a:t>
            </a:r>
            <a:r>
              <a:rPr lang="en-US" altLang="zh-CN" sz="2400" u="none">
                <a:latin typeface="Arial" panose="020B0604020202020204" pitchFamily="34" charset="0"/>
                <a:ea typeface="仿宋_GB2312"/>
                <a:cs typeface="仿宋_GB2312"/>
              </a:rPr>
              <a:t>Al</a:t>
            </a:r>
            <a:r>
              <a:rPr lang="en-US" altLang="zh-CN" sz="2400" i="1" u="none" baseline="-25000">
                <a:latin typeface="Arial" panose="020B0604020202020204" pitchFamily="34" charset="0"/>
                <a:ea typeface="仿宋_GB2312"/>
                <a:cs typeface="仿宋_GB2312"/>
              </a:rPr>
              <a:t>x</a:t>
            </a:r>
            <a:r>
              <a:rPr lang="en-US" altLang="zh-CN" sz="2400" u="none">
                <a:latin typeface="Arial" panose="020B0604020202020204" pitchFamily="34" charset="0"/>
                <a:ea typeface="仿宋_GB2312"/>
                <a:cs typeface="仿宋_GB2312"/>
              </a:rPr>
              <a:t>As (</a:t>
            </a:r>
            <a:r>
              <a:rPr lang="zh-CN" altLang="en-US" sz="2400" u="none">
                <a:latin typeface="Arial" panose="020B0604020202020204" pitchFamily="34" charset="0"/>
                <a:ea typeface="仿宋_GB2312"/>
                <a:cs typeface="仿宋_GB2312"/>
              </a:rPr>
              <a:t>砷化镓掺铝</a:t>
            </a:r>
            <a:r>
              <a:rPr lang="en-US" altLang="zh-CN" sz="2400" u="none">
                <a:latin typeface="Arial" panose="020B0604020202020204" pitchFamily="34" charset="0"/>
                <a:ea typeface="仿宋_GB2312"/>
                <a:cs typeface="仿宋_GB2312"/>
              </a:rPr>
              <a:t>) 800~850 nm</a:t>
            </a:r>
            <a:r>
              <a:rPr lang="zh-CN" altLang="en-US" sz="2400" u="none">
                <a:latin typeface="Arial" panose="020B0604020202020204" pitchFamily="34" charset="0"/>
                <a:ea typeface="仿宋_GB2312"/>
                <a:cs typeface="仿宋_GB2312"/>
              </a:rPr>
              <a:t>短波长光源</a:t>
            </a:r>
          </a:p>
          <a:p>
            <a:pPr eaLnBrk="1" hangingPunct="1">
              <a:spcBef>
                <a:spcPct val="0"/>
              </a:spcBef>
              <a:buFontTx/>
              <a:buNone/>
            </a:pPr>
            <a:r>
              <a:rPr lang="en-US" altLang="zh-CN" sz="2400" u="none">
                <a:latin typeface="Arial" panose="020B0604020202020204" pitchFamily="34" charset="0"/>
                <a:ea typeface="仿宋_GB2312"/>
                <a:cs typeface="仿宋_GB2312"/>
              </a:rPr>
              <a:t>In</a:t>
            </a:r>
            <a:r>
              <a:rPr lang="en-US" altLang="zh-CN" sz="2400" u="none" baseline="-25000">
                <a:latin typeface="Arial" panose="020B0604020202020204" pitchFamily="34" charset="0"/>
                <a:ea typeface="仿宋_GB2312"/>
                <a:cs typeface="仿宋_GB2312"/>
              </a:rPr>
              <a:t>1-</a:t>
            </a:r>
            <a:r>
              <a:rPr lang="en-US" altLang="zh-CN" sz="2400" i="1" u="none" baseline="-25000">
                <a:latin typeface="Arial" panose="020B0604020202020204" pitchFamily="34" charset="0"/>
                <a:ea typeface="仿宋_GB2312"/>
                <a:cs typeface="仿宋_GB2312"/>
              </a:rPr>
              <a:t>x</a:t>
            </a:r>
            <a:r>
              <a:rPr lang="en-US" altLang="zh-CN" sz="2400" u="none">
                <a:latin typeface="Arial" panose="020B0604020202020204" pitchFamily="34" charset="0"/>
                <a:ea typeface="仿宋_GB2312"/>
                <a:cs typeface="仿宋_GB2312"/>
              </a:rPr>
              <a:t>Ga</a:t>
            </a:r>
            <a:r>
              <a:rPr lang="en-US" altLang="zh-CN" sz="2400" i="1" u="none" baseline="-25000">
                <a:latin typeface="Arial" panose="020B0604020202020204" pitchFamily="34" charset="0"/>
                <a:ea typeface="仿宋_GB2312"/>
                <a:cs typeface="仿宋_GB2312"/>
              </a:rPr>
              <a:t>x</a:t>
            </a:r>
            <a:r>
              <a:rPr lang="en-US" altLang="zh-CN" sz="2400" u="none">
                <a:latin typeface="Arial" panose="020B0604020202020204" pitchFamily="34" charset="0"/>
                <a:ea typeface="仿宋_GB2312"/>
                <a:cs typeface="仿宋_GB2312"/>
              </a:rPr>
              <a:t>As</a:t>
            </a:r>
            <a:r>
              <a:rPr lang="en-US" altLang="zh-CN" sz="2400" i="1" u="none" baseline="-25000">
                <a:latin typeface="Arial" panose="020B0604020202020204" pitchFamily="34" charset="0"/>
                <a:ea typeface="仿宋_GB2312"/>
                <a:cs typeface="仿宋_GB2312"/>
              </a:rPr>
              <a:t>y</a:t>
            </a:r>
            <a:r>
              <a:rPr lang="en-US" altLang="zh-CN" sz="2400" u="none">
                <a:latin typeface="Arial" panose="020B0604020202020204" pitchFamily="34" charset="0"/>
                <a:ea typeface="仿宋_GB2312"/>
                <a:cs typeface="仿宋_GB2312"/>
              </a:rPr>
              <a:t>P</a:t>
            </a:r>
            <a:r>
              <a:rPr lang="en-US" altLang="zh-CN" sz="2400" u="none" baseline="-25000">
                <a:latin typeface="Arial" panose="020B0604020202020204" pitchFamily="34" charset="0"/>
                <a:ea typeface="仿宋_GB2312"/>
                <a:cs typeface="仿宋_GB2312"/>
              </a:rPr>
              <a:t>1-</a:t>
            </a:r>
            <a:r>
              <a:rPr lang="en-US" altLang="zh-CN" sz="2400" i="1" u="none" baseline="-25000">
                <a:latin typeface="Arial" panose="020B0604020202020204" pitchFamily="34" charset="0"/>
                <a:ea typeface="仿宋_GB2312"/>
                <a:cs typeface="仿宋_GB2312"/>
              </a:rPr>
              <a:t>y</a:t>
            </a:r>
            <a:r>
              <a:rPr lang="en-US" altLang="zh-CN" sz="2400" u="none">
                <a:latin typeface="Arial" panose="020B0604020202020204" pitchFamily="34" charset="0"/>
                <a:ea typeface="仿宋_GB2312"/>
                <a:cs typeface="仿宋_GB2312"/>
              </a:rPr>
              <a:t> (</a:t>
            </a:r>
            <a:r>
              <a:rPr lang="zh-CN" altLang="en-US" sz="2400" u="none">
                <a:latin typeface="Arial" panose="020B0604020202020204" pitchFamily="34" charset="0"/>
                <a:ea typeface="仿宋_GB2312"/>
                <a:cs typeface="仿宋_GB2312"/>
              </a:rPr>
              <a:t>磷化铟掺砷化镓</a:t>
            </a:r>
            <a:r>
              <a:rPr lang="en-US" altLang="zh-CN" sz="2400" u="none">
                <a:latin typeface="Arial" panose="020B0604020202020204" pitchFamily="34" charset="0"/>
                <a:ea typeface="仿宋_GB2312"/>
                <a:cs typeface="仿宋_GB2312"/>
              </a:rPr>
              <a:t>) 1000~1700 nm</a:t>
            </a:r>
            <a:r>
              <a:rPr lang="zh-CN" altLang="en-US" sz="2400" u="none">
                <a:latin typeface="Arial" panose="020B0604020202020204" pitchFamily="34" charset="0"/>
                <a:ea typeface="仿宋_GB2312"/>
                <a:cs typeface="仿宋_GB2312"/>
              </a:rPr>
              <a:t>长波长光源</a:t>
            </a:r>
          </a:p>
          <a:p>
            <a:pPr eaLnBrk="1" hangingPunct="1">
              <a:spcBef>
                <a:spcPct val="0"/>
              </a:spcBef>
              <a:buFontTx/>
              <a:buNone/>
            </a:pPr>
            <a:r>
              <a:rPr lang="en-US" altLang="zh-CN" sz="2400" i="1" u="none">
                <a:latin typeface="Arial" panose="020B0604020202020204" pitchFamily="34" charset="0"/>
                <a:ea typeface="仿宋_GB2312"/>
                <a:cs typeface="仿宋_GB2312"/>
              </a:rPr>
              <a:t>x</a:t>
            </a:r>
            <a:r>
              <a:rPr lang="zh-CN" altLang="en-US" sz="2400" u="none">
                <a:latin typeface="Arial" panose="020B0604020202020204" pitchFamily="34" charset="0"/>
                <a:ea typeface="仿宋_GB2312"/>
                <a:cs typeface="仿宋_GB2312"/>
              </a:rPr>
              <a:t>和</a:t>
            </a:r>
            <a:r>
              <a:rPr lang="en-US" altLang="zh-CN" sz="2400" i="1" u="none">
                <a:latin typeface="Arial" panose="020B0604020202020204" pitchFamily="34" charset="0"/>
                <a:ea typeface="仿宋_GB2312"/>
                <a:cs typeface="仿宋_GB2312"/>
              </a:rPr>
              <a:t>y</a:t>
            </a:r>
            <a:r>
              <a:rPr lang="zh-CN" altLang="en-US" sz="2400" u="none">
                <a:latin typeface="Arial" panose="020B0604020202020204" pitchFamily="34" charset="0"/>
                <a:ea typeface="仿宋_GB2312"/>
                <a:cs typeface="仿宋_GB2312"/>
              </a:rPr>
              <a:t>的值决定了材料的带隙，也就决定了发光波长</a:t>
            </a:r>
          </a:p>
        </p:txBody>
      </p:sp>
    </p:spTree>
    <p:extLst>
      <p:ext uri="{BB962C8B-B14F-4D97-AF65-F5344CB8AC3E}">
        <p14:creationId xmlns:p14="http://schemas.microsoft.com/office/powerpoint/2010/main" val="323335803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48</a:t>
            </a:fld>
            <a:endParaRPr lang="zh-CN" altLang="en-US"/>
          </a:p>
        </p:txBody>
      </p:sp>
      <p:sp>
        <p:nvSpPr>
          <p:cNvPr id="3" name="Rectangle 4"/>
          <p:cNvSpPr>
            <a:spLocks noChangeArrowheads="1"/>
          </p:cNvSpPr>
          <p:nvPr/>
        </p:nvSpPr>
        <p:spPr bwMode="auto">
          <a:xfrm>
            <a:off x="1632155" y="295910"/>
            <a:ext cx="6017342"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四、半导体物理的基本方程</a:t>
            </a:r>
            <a:endParaRPr kumimoji="1" lang="zh-CN" altLang="en-US" sz="3600" b="1" dirty="0">
              <a:solidFill>
                <a:srgbClr val="FF6600"/>
              </a:solidFill>
              <a:latin typeface="Times New Roman" pitchFamily="18" charset="0"/>
              <a:ea typeface="宋体" pitchFamily="2" charset="-122"/>
            </a:endParaRPr>
          </a:p>
        </p:txBody>
      </p:sp>
      <p:sp>
        <p:nvSpPr>
          <p:cNvPr id="4" name="Text Box 3"/>
          <p:cNvSpPr txBox="1">
            <a:spLocks noChangeArrowheads="1"/>
          </p:cNvSpPr>
          <p:nvPr/>
        </p:nvSpPr>
        <p:spPr bwMode="auto">
          <a:xfrm>
            <a:off x="361151" y="1528818"/>
            <a:ext cx="5015475" cy="566309"/>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en-US" altLang="zh-CN" sz="2800" b="1" dirty="0" smtClean="0">
                <a:solidFill>
                  <a:srgbClr val="FF6600"/>
                </a:solidFill>
                <a:effectLst>
                  <a:outerShdw blurRad="38100" dist="38100" dir="2700000" algn="tl">
                    <a:srgbClr val="C0C0C0"/>
                  </a:outerShdw>
                </a:effectLst>
                <a:latin typeface="Times New Roman" pitchFamily="18" charset="0"/>
                <a:ea typeface="宋体" pitchFamily="2" charset="-122"/>
              </a:rPr>
              <a:t>1. </a:t>
            </a: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准平衡态和准费米能级</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
        <p:nvSpPr>
          <p:cNvPr id="5" name="Text Box 3"/>
          <p:cNvSpPr txBox="1">
            <a:spLocks noChangeArrowheads="1"/>
          </p:cNvSpPr>
          <p:nvPr/>
        </p:nvSpPr>
        <p:spPr bwMode="auto">
          <a:xfrm>
            <a:off x="539750" y="2446338"/>
            <a:ext cx="8135938" cy="3378200"/>
          </a:xfrm>
          <a:prstGeom prst="rect">
            <a:avLst/>
          </a:prstGeom>
          <a:noFill/>
          <a:ln w="38100" cap="sq">
            <a:noFill/>
            <a:miter lim="800000"/>
            <a:headEnd type="none" w="sm" len="sm"/>
            <a:tailEnd type="none" w="sm" len="sm"/>
          </a:ln>
        </p:spPr>
        <p:txBody>
          <a:bodyPr>
            <a:spAutoFit/>
          </a:bodyPr>
          <a:lstStyle/>
          <a:p>
            <a:pPr defTabSz="914400" eaLnBrk="0" fontAlgn="base" hangingPunct="0">
              <a:lnSpc>
                <a:spcPct val="150000"/>
              </a:lnSpc>
              <a:spcBef>
                <a:spcPct val="50000"/>
              </a:spcBef>
              <a:spcAft>
                <a:spcPct val="0"/>
              </a:spcAft>
            </a:pPr>
            <a:r>
              <a:rPr kumimoji="1" lang="zh-CN" altLang="en-US" sz="2400" b="1" dirty="0">
                <a:solidFill>
                  <a:srgbClr val="000000"/>
                </a:solidFill>
                <a:latin typeface="华文中宋" pitchFamily="2" charset="-122"/>
                <a:ea typeface="华文中宋" pitchFamily="2" charset="-122"/>
              </a:rPr>
              <a:t>我们在讨论发生过剩载流子小注入现象时，过剩载流子的注入对多数载流子来说，影响不大，也就是说其所对应的载流子分布函数变化很小，费米能级变化可忽略，可近似看作平衡态处理；</a:t>
            </a:r>
            <a:r>
              <a:rPr kumimoji="1" lang="zh-CN" altLang="en-US" sz="2400" b="1" dirty="0">
                <a:solidFill>
                  <a:srgbClr val="FF3300"/>
                </a:solidFill>
                <a:latin typeface="Times New Roman" pitchFamily="18" charset="0"/>
                <a:ea typeface="华文中宋" pitchFamily="2" charset="-122"/>
                <a:cs typeface="Times New Roman" pitchFamily="18" charset="0"/>
              </a:rPr>
              <a:t>但对少数载流子来说，载流子的浓度变化很大，因此，其载流子分布函数远远偏离平衡态，费米能级变化很大，需要仔细处理</a:t>
            </a:r>
            <a:r>
              <a:rPr kumimoji="1" lang="zh-CN" altLang="en-US" sz="2400" b="1" dirty="0">
                <a:solidFill>
                  <a:srgbClr val="000000"/>
                </a:solidFill>
                <a:latin typeface="华文中宋" pitchFamily="2" charset="-122"/>
                <a:ea typeface="华文中宋" pitchFamily="2" charset="-122"/>
              </a:rPr>
              <a:t>。</a:t>
            </a:r>
          </a:p>
        </p:txBody>
      </p:sp>
    </p:spTree>
    <p:extLst>
      <p:ext uri="{BB962C8B-B14F-4D97-AF65-F5344CB8AC3E}">
        <p14:creationId xmlns:p14="http://schemas.microsoft.com/office/powerpoint/2010/main" val="422291545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49</a:t>
            </a:fld>
            <a:endParaRPr lang="zh-CN" altLang="en-US"/>
          </a:p>
        </p:txBody>
      </p:sp>
      <p:sp>
        <p:nvSpPr>
          <p:cNvPr id="3" name="Text Box 9"/>
          <p:cNvSpPr txBox="1">
            <a:spLocks noChangeArrowheads="1"/>
          </p:cNvSpPr>
          <p:nvPr/>
        </p:nvSpPr>
        <p:spPr bwMode="auto">
          <a:xfrm>
            <a:off x="528599" y="848848"/>
            <a:ext cx="8064500" cy="4814887"/>
          </a:xfrm>
          <a:prstGeom prst="rect">
            <a:avLst/>
          </a:prstGeom>
          <a:noFill/>
          <a:ln w="12700" cap="sq">
            <a:noFill/>
            <a:miter lim="800000"/>
            <a:headEnd type="none" w="sm" len="sm"/>
            <a:tailEnd type="none" w="sm" len="sm"/>
          </a:ln>
        </p:spPr>
        <p:txBody>
          <a:bodyPr>
            <a:spAutoFit/>
          </a:bodyPr>
          <a:lstStyle/>
          <a:p>
            <a:pPr marL="341313" indent="-341313" eaLnBrk="0" hangingPunct="0">
              <a:lnSpc>
                <a:spcPct val="110000"/>
              </a:lnSpc>
              <a:spcBef>
                <a:spcPts val="800"/>
              </a:spcBef>
              <a:buFont typeface="Wingdings" pitchFamily="2" charset="2"/>
              <a:buChar char="q"/>
            </a:pPr>
            <a:r>
              <a:rPr lang="zh-CN" altLang="en-US" sz="2400" b="1" dirty="0">
                <a:latin typeface="华文中宋" pitchFamily="2" charset="-122"/>
                <a:ea typeface="华文中宋" pitchFamily="2" charset="-122"/>
              </a:rPr>
              <a:t>平衡态时，整个系统包括各个子系统和子系统之间均达到热平衡，有</a:t>
            </a:r>
            <a:r>
              <a:rPr lang="zh-CN" altLang="en-US" sz="2400" b="1" dirty="0">
                <a:solidFill>
                  <a:srgbClr val="FF3300"/>
                </a:solidFill>
                <a:ea typeface="华文中宋" pitchFamily="2" charset="-122"/>
                <a:cs typeface="Times New Roman" pitchFamily="18" charset="0"/>
              </a:rPr>
              <a:t>统一的</a:t>
            </a:r>
            <a:r>
              <a:rPr lang="zh-CN" altLang="en-US" sz="2400" b="1" dirty="0">
                <a:latin typeface="华文中宋" pitchFamily="2" charset="-122"/>
                <a:ea typeface="华文中宋" pitchFamily="2" charset="-122"/>
              </a:rPr>
              <a:t>费米能级；</a:t>
            </a:r>
          </a:p>
          <a:p>
            <a:pPr marL="341313" indent="-341313" eaLnBrk="0" hangingPunct="0">
              <a:lnSpc>
                <a:spcPct val="110000"/>
              </a:lnSpc>
              <a:spcBef>
                <a:spcPts val="800"/>
              </a:spcBef>
              <a:buFont typeface="Wingdings" pitchFamily="2" charset="2"/>
              <a:buChar char="q"/>
            </a:pPr>
            <a:r>
              <a:rPr lang="zh-CN" altLang="en-US" sz="2400" b="1" dirty="0">
                <a:latin typeface="华文中宋" pitchFamily="2" charset="-122"/>
                <a:ea typeface="华文中宋" pitchFamily="2" charset="-122"/>
              </a:rPr>
              <a:t>掺杂半导体可划分为三个子系统：导带、价带、杂质能级；</a:t>
            </a:r>
          </a:p>
          <a:p>
            <a:pPr marL="341313" indent="-341313" eaLnBrk="0" hangingPunct="0">
              <a:lnSpc>
                <a:spcPct val="110000"/>
              </a:lnSpc>
              <a:spcBef>
                <a:spcPts val="800"/>
              </a:spcBef>
              <a:buFont typeface="Wingdings" pitchFamily="2" charset="2"/>
              <a:buChar char="q"/>
            </a:pPr>
            <a:r>
              <a:rPr lang="zh-CN" altLang="en-US" sz="2400" b="1" dirty="0">
                <a:latin typeface="华文中宋" pitchFamily="2" charset="-122"/>
                <a:ea typeface="华文中宋" pitchFamily="2" charset="-122"/>
              </a:rPr>
              <a:t>在小注入情形下，系统从非平衡向平衡态过渡的过程可近似为一个驰豫过程，通过载流子的碰撞和复合逐步达到热平衡；</a:t>
            </a:r>
          </a:p>
          <a:p>
            <a:pPr marL="341313" indent="-341313" eaLnBrk="0" hangingPunct="0">
              <a:lnSpc>
                <a:spcPct val="110000"/>
              </a:lnSpc>
              <a:spcBef>
                <a:spcPts val="800"/>
              </a:spcBef>
              <a:buFont typeface="Wingdings" pitchFamily="2" charset="2"/>
              <a:buChar char="q"/>
            </a:pPr>
            <a:r>
              <a:rPr lang="zh-CN" altLang="en-US" sz="2400" b="1" dirty="0">
                <a:latin typeface="华文中宋" pitchFamily="2" charset="-122"/>
                <a:ea typeface="华文中宋" pitchFamily="2" charset="-122"/>
              </a:rPr>
              <a:t>同一能带内的电子驰豫过程很快，但不同能带间的电子的驰豫过程较慢，所以，在由非平衡态向平衡态恢复的驰豫过程中，各子系统内部很快就能达到热平衡，但各子系统间达到热平衡所需的时间较长；</a:t>
            </a:r>
          </a:p>
        </p:txBody>
      </p:sp>
    </p:spTree>
    <p:extLst>
      <p:ext uri="{BB962C8B-B14F-4D97-AF65-F5344CB8AC3E}">
        <p14:creationId xmlns:p14="http://schemas.microsoft.com/office/powerpoint/2010/main" val="5395982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50</a:t>
            </a:fld>
            <a:endParaRPr lang="zh-CN" altLang="en-US"/>
          </a:p>
        </p:txBody>
      </p:sp>
      <p:graphicFrame>
        <p:nvGraphicFramePr>
          <p:cNvPr id="3" name="Object 11"/>
          <p:cNvGraphicFramePr>
            <a:graphicFrameLocks noChangeAspect="1"/>
          </p:cNvGraphicFramePr>
          <p:nvPr>
            <p:extLst>
              <p:ext uri="{D42A27DB-BD31-4B8C-83A1-F6EECF244321}">
                <p14:modId xmlns:p14="http://schemas.microsoft.com/office/powerpoint/2010/main" val="1098329359"/>
              </p:ext>
            </p:extLst>
          </p:nvPr>
        </p:nvGraphicFramePr>
        <p:xfrm>
          <a:off x="1592263" y="3016017"/>
          <a:ext cx="517525" cy="549275"/>
        </p:xfrm>
        <a:graphic>
          <a:graphicData uri="http://schemas.openxmlformats.org/presentationml/2006/ole">
            <mc:AlternateContent xmlns:mc="http://schemas.openxmlformats.org/markup-compatibility/2006">
              <mc:Choice xmlns:v="urn:schemas-microsoft-com:vml" Requires="v">
                <p:oleObj spid="_x0000_s31806" r:id="rId3" imgW="215806" imgH="228501" progId="Equation.3">
                  <p:embed/>
                </p:oleObj>
              </mc:Choice>
              <mc:Fallback>
                <p:oleObj r:id="rId3" imgW="215806" imgH="228501" progId="Equation.3">
                  <p:embed/>
                  <p:pic>
                    <p:nvPicPr>
                      <p:cNvPr id="101378"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2263" y="3016017"/>
                        <a:ext cx="517525" cy="549275"/>
                      </a:xfrm>
                      <a:prstGeom prst="rect">
                        <a:avLst/>
                      </a:prstGeom>
                      <a:solidFill>
                        <a:srgbClr val="FFFFFF"/>
                      </a:solidFill>
                    </p:spPr>
                  </p:pic>
                </p:oleObj>
              </mc:Fallback>
            </mc:AlternateContent>
          </a:graphicData>
        </a:graphic>
      </p:graphicFrame>
      <p:graphicFrame>
        <p:nvGraphicFramePr>
          <p:cNvPr id="4" name="Object 12"/>
          <p:cNvGraphicFramePr>
            <a:graphicFrameLocks noChangeAspect="1"/>
          </p:cNvGraphicFramePr>
          <p:nvPr>
            <p:extLst>
              <p:ext uri="{D42A27DB-BD31-4B8C-83A1-F6EECF244321}">
                <p14:modId xmlns:p14="http://schemas.microsoft.com/office/powerpoint/2010/main" val="3770035688"/>
              </p:ext>
            </p:extLst>
          </p:nvPr>
        </p:nvGraphicFramePr>
        <p:xfrm>
          <a:off x="2411413" y="3009667"/>
          <a:ext cx="517525" cy="547688"/>
        </p:xfrm>
        <a:graphic>
          <a:graphicData uri="http://schemas.openxmlformats.org/presentationml/2006/ole">
            <mc:AlternateContent xmlns:mc="http://schemas.openxmlformats.org/markup-compatibility/2006">
              <mc:Choice xmlns:v="urn:schemas-microsoft-com:vml" Requires="v">
                <p:oleObj spid="_x0000_s31807" name="Equation" r:id="rId5" imgW="215806" imgH="228501" progId="Equation.3">
                  <p:embed/>
                </p:oleObj>
              </mc:Choice>
              <mc:Fallback>
                <p:oleObj name="Equation" r:id="rId5" imgW="215806" imgH="228501" progId="Equation.3">
                  <p:embed/>
                  <p:pic>
                    <p:nvPicPr>
                      <p:cNvPr id="101379"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3009667"/>
                        <a:ext cx="517525" cy="547688"/>
                      </a:xfrm>
                      <a:prstGeom prst="rect">
                        <a:avLst/>
                      </a:prstGeom>
                      <a:solidFill>
                        <a:srgbClr val="FFFFFF"/>
                      </a:solidFill>
                    </p:spPr>
                  </p:pic>
                </p:oleObj>
              </mc:Fallback>
            </mc:AlternateContent>
          </a:graphicData>
        </a:graphic>
      </p:graphicFrame>
      <p:sp>
        <p:nvSpPr>
          <p:cNvPr id="5" name="Text Box 9"/>
          <p:cNvSpPr txBox="1">
            <a:spLocks noChangeArrowheads="1"/>
          </p:cNvSpPr>
          <p:nvPr/>
        </p:nvSpPr>
        <p:spPr bwMode="auto">
          <a:xfrm>
            <a:off x="539750" y="915755"/>
            <a:ext cx="7920038" cy="3141662"/>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ts val="800"/>
              </a:spcBef>
              <a:spcAft>
                <a:spcPct val="0"/>
              </a:spcAft>
              <a:buFont typeface="Wingdings" pitchFamily="2" charset="2"/>
              <a:buChar char="q"/>
            </a:pPr>
            <a:r>
              <a:rPr kumimoji="1" lang="zh-CN" altLang="en-US" sz="2400" b="1">
                <a:solidFill>
                  <a:srgbClr val="000000"/>
                </a:solidFill>
                <a:latin typeface="华文中宋" pitchFamily="2" charset="-122"/>
                <a:ea typeface="华文中宋" pitchFamily="2" charset="-122"/>
              </a:rPr>
              <a:t>将各子系统内部已达到热平衡，但子系统之间尚未达到热平衡的状态称为准平衡态；</a:t>
            </a:r>
          </a:p>
          <a:p>
            <a:pPr marL="341313" indent="-341313" defTabSz="914400" eaLnBrk="0" fontAlgn="base" hangingPunct="0">
              <a:lnSpc>
                <a:spcPct val="110000"/>
              </a:lnSpc>
              <a:spcBef>
                <a:spcPts val="800"/>
              </a:spcBef>
              <a:spcAft>
                <a:spcPct val="0"/>
              </a:spcAft>
              <a:buFont typeface="Wingdings" pitchFamily="2" charset="2"/>
              <a:buChar char="q"/>
            </a:pPr>
            <a:r>
              <a:rPr kumimoji="1" lang="zh-CN" altLang="en-US" sz="2400" b="1">
                <a:solidFill>
                  <a:srgbClr val="000000"/>
                </a:solidFill>
                <a:latin typeface="华文中宋" pitchFamily="2" charset="-122"/>
                <a:ea typeface="华文中宋" pitchFamily="2" charset="-122"/>
              </a:rPr>
              <a:t>准平衡态下，由于导带、价带等子系统分别达到各自的热平衡状态，因此，在导带、价带子系统中，可分别引入自己的费米能级，称为电子和空穴的准费米能级，分别用     和      表示；</a:t>
            </a:r>
          </a:p>
          <a:p>
            <a:pPr marL="341313" indent="-341313" defTabSz="914400" eaLnBrk="0" fontAlgn="base" hangingPunct="0">
              <a:lnSpc>
                <a:spcPct val="110000"/>
              </a:lnSpc>
              <a:spcBef>
                <a:spcPts val="800"/>
              </a:spcBef>
              <a:spcAft>
                <a:spcPct val="0"/>
              </a:spcAft>
              <a:buFont typeface="Wingdings" pitchFamily="2" charset="2"/>
              <a:buChar char="q"/>
            </a:pPr>
            <a:r>
              <a:rPr kumimoji="1" lang="zh-CN" altLang="en-US" sz="2400" b="1">
                <a:solidFill>
                  <a:srgbClr val="000000"/>
                </a:solidFill>
                <a:latin typeface="华文中宋" pitchFamily="2" charset="-122"/>
                <a:ea typeface="华文中宋" pitchFamily="2" charset="-122"/>
              </a:rPr>
              <a:t>导带电子浓度和价带空穴浓度分别为：</a:t>
            </a:r>
          </a:p>
        </p:txBody>
      </p:sp>
      <p:graphicFrame>
        <p:nvGraphicFramePr>
          <p:cNvPr id="6" name="Object 13"/>
          <p:cNvGraphicFramePr>
            <a:graphicFrameLocks noChangeAspect="1"/>
          </p:cNvGraphicFramePr>
          <p:nvPr>
            <p:extLst>
              <p:ext uri="{D42A27DB-BD31-4B8C-83A1-F6EECF244321}">
                <p14:modId xmlns:p14="http://schemas.microsoft.com/office/powerpoint/2010/main" val="3186978533"/>
              </p:ext>
            </p:extLst>
          </p:nvPr>
        </p:nvGraphicFramePr>
        <p:xfrm>
          <a:off x="1431925" y="4097105"/>
          <a:ext cx="2620963" cy="639762"/>
        </p:xfrm>
        <a:graphic>
          <a:graphicData uri="http://schemas.openxmlformats.org/presentationml/2006/ole">
            <mc:AlternateContent xmlns:mc="http://schemas.openxmlformats.org/markup-compatibility/2006">
              <mc:Choice xmlns:v="urn:schemas-microsoft-com:vml" Requires="v">
                <p:oleObj spid="_x0000_s31808" name="Equation" r:id="rId7" imgW="1091726" imgH="266584" progId="Equation.DSMT4">
                  <p:embed/>
                </p:oleObj>
              </mc:Choice>
              <mc:Fallback>
                <p:oleObj name="Equation" r:id="rId7" imgW="1091726" imgH="266584" progId="Equation.DSMT4">
                  <p:embed/>
                  <p:pic>
                    <p:nvPicPr>
                      <p:cNvPr id="101387"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1925" y="4097105"/>
                        <a:ext cx="2620963" cy="639762"/>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4"/>
          <p:cNvGraphicFramePr>
            <a:graphicFrameLocks noChangeAspect="1"/>
          </p:cNvGraphicFramePr>
          <p:nvPr>
            <p:extLst>
              <p:ext uri="{D42A27DB-BD31-4B8C-83A1-F6EECF244321}">
                <p14:modId xmlns:p14="http://schemas.microsoft.com/office/powerpoint/2010/main" val="3565571506"/>
              </p:ext>
            </p:extLst>
          </p:nvPr>
        </p:nvGraphicFramePr>
        <p:xfrm>
          <a:off x="5119688" y="4052655"/>
          <a:ext cx="2620962" cy="639762"/>
        </p:xfrm>
        <a:graphic>
          <a:graphicData uri="http://schemas.openxmlformats.org/presentationml/2006/ole">
            <mc:AlternateContent xmlns:mc="http://schemas.openxmlformats.org/markup-compatibility/2006">
              <mc:Choice xmlns:v="urn:schemas-microsoft-com:vml" Requires="v">
                <p:oleObj spid="_x0000_s31809" name="公式" r:id="rId9" imgW="1091726" imgH="266584" progId="Equation.3">
                  <p:embed/>
                </p:oleObj>
              </mc:Choice>
              <mc:Fallback>
                <p:oleObj name="公式" r:id="rId9" imgW="1091726" imgH="266584" progId="Equation.3">
                  <p:embed/>
                  <p:pic>
                    <p:nvPicPr>
                      <p:cNvPr id="101388"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19688" y="4052655"/>
                        <a:ext cx="2620962" cy="639762"/>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15"/>
          <p:cNvSpPr>
            <a:spLocks noChangeArrowheads="1"/>
          </p:cNvSpPr>
          <p:nvPr/>
        </p:nvSpPr>
        <p:spPr bwMode="auto">
          <a:xfrm>
            <a:off x="539750" y="4811480"/>
            <a:ext cx="7920038" cy="904875"/>
          </a:xfrm>
          <a:prstGeom prst="rect">
            <a:avLst/>
          </a:prstGeom>
          <a:noFill/>
          <a:ln w="9525">
            <a:noFill/>
            <a:miter lim="800000"/>
            <a:headEnd/>
            <a:tailEnd/>
          </a:ln>
        </p:spPr>
        <p:txBody>
          <a:bodyPr>
            <a:spAutoFit/>
          </a:bodyPr>
          <a:lstStyle/>
          <a:p>
            <a:pPr marL="341313" indent="-341313" defTabSz="914400" eaLnBrk="0" fontAlgn="base" hangingPunct="0">
              <a:lnSpc>
                <a:spcPct val="110000"/>
              </a:lnSpc>
              <a:spcBef>
                <a:spcPts val="800"/>
              </a:spcBef>
              <a:spcAft>
                <a:spcPct val="0"/>
              </a:spcAft>
              <a:buFont typeface="Wingdings" pitchFamily="2" charset="2"/>
              <a:buChar char="q"/>
            </a:pPr>
            <a:r>
              <a:rPr kumimoji="1" lang="zh-CN" altLang="en-US" sz="2400" b="1">
                <a:solidFill>
                  <a:srgbClr val="000000"/>
                </a:solidFill>
                <a:latin typeface="华文中宋" pitchFamily="2" charset="-122"/>
                <a:ea typeface="华文中宋" pitchFamily="2" charset="-122"/>
              </a:rPr>
              <a:t>导带和价带系统间未达到热平衡的表现是其准费米能级不同；</a:t>
            </a:r>
          </a:p>
        </p:txBody>
      </p:sp>
    </p:spTree>
    <p:extLst>
      <p:ext uri="{BB962C8B-B14F-4D97-AF65-F5344CB8AC3E}">
        <p14:creationId xmlns:p14="http://schemas.microsoft.com/office/powerpoint/2010/main" val="344643866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51</a:t>
            </a:fld>
            <a:endParaRPr lang="zh-CN" altLang="en-US"/>
          </a:p>
        </p:txBody>
      </p:sp>
      <p:sp>
        <p:nvSpPr>
          <p:cNvPr id="3" name="Text Box 9"/>
          <p:cNvSpPr txBox="1">
            <a:spLocks noChangeArrowheads="1"/>
          </p:cNvSpPr>
          <p:nvPr/>
        </p:nvSpPr>
        <p:spPr bwMode="auto">
          <a:xfrm>
            <a:off x="402098" y="561914"/>
            <a:ext cx="8070850" cy="1565275"/>
          </a:xfrm>
          <a:prstGeom prst="rect">
            <a:avLst/>
          </a:prstGeom>
          <a:noFill/>
          <a:ln w="12700" cap="sq">
            <a:noFill/>
            <a:miter lim="800000"/>
            <a:headEnd type="none" w="sm" len="sm"/>
            <a:tailEnd type="none" w="sm" len="sm"/>
          </a:ln>
        </p:spPr>
        <p:txBody>
          <a:bodyPr>
            <a:spAutoFit/>
          </a:bodyPr>
          <a:lstStyle/>
          <a:p>
            <a:pPr marL="341313" indent="-341313" defTabSz="914400" eaLnBrk="0" fontAlgn="base" hangingPunct="0">
              <a:lnSpc>
                <a:spcPct val="110000"/>
              </a:lnSpc>
              <a:spcBef>
                <a:spcPct val="0"/>
              </a:spcBef>
              <a:spcAft>
                <a:spcPct val="0"/>
              </a:spcAft>
              <a:buFont typeface="Wingdings" pitchFamily="2" charset="2"/>
              <a:buChar char="q"/>
            </a:pPr>
            <a:r>
              <a:rPr kumimoji="1" lang="zh-CN" altLang="en-US" sz="2200" b="1">
                <a:solidFill>
                  <a:srgbClr val="000000"/>
                </a:solidFill>
                <a:latin typeface="华文中宋" pitchFamily="2" charset="-122"/>
                <a:ea typeface="华文中宋" pitchFamily="2" charset="-122"/>
              </a:rPr>
              <a:t>在小注入条件下，非平衡载流子多子浓度与热平衡时接近，因此，其准费米能级与平衡费米能级偏离很小；但少子浓度远高于平衡时浓度，准费米能级与平衡费米能级偏离很大，</a:t>
            </a:r>
            <a:r>
              <a:rPr kumimoji="1" lang="zh-CN" altLang="en-US" sz="2200" b="1">
                <a:solidFill>
                  <a:srgbClr val="3333CC"/>
                </a:solidFill>
                <a:latin typeface="华文中宋" pitchFamily="2" charset="-122"/>
                <a:ea typeface="华文中宋" pitchFamily="2" charset="-122"/>
              </a:rPr>
              <a:t>因此在产生和复合过剩载流子时，少子的准费米能级变化很大</a:t>
            </a:r>
            <a:r>
              <a:rPr kumimoji="1" lang="zh-CN" altLang="en-US" sz="2200" b="1">
                <a:solidFill>
                  <a:srgbClr val="000000"/>
                </a:solidFill>
                <a:latin typeface="华文中宋" pitchFamily="2" charset="-122"/>
                <a:ea typeface="华文中宋" pitchFamily="2" charset="-122"/>
              </a:rPr>
              <a:t>。</a:t>
            </a:r>
          </a:p>
        </p:txBody>
      </p:sp>
      <p:sp>
        <p:nvSpPr>
          <p:cNvPr id="4" name="Text Box 12"/>
          <p:cNvSpPr txBox="1">
            <a:spLocks noChangeArrowheads="1"/>
          </p:cNvSpPr>
          <p:nvPr/>
        </p:nvSpPr>
        <p:spPr bwMode="auto">
          <a:xfrm>
            <a:off x="819611" y="5860222"/>
            <a:ext cx="6654800" cy="430213"/>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200" b="1">
                <a:solidFill>
                  <a:srgbClr val="000000"/>
                </a:solidFill>
                <a:latin typeface="华文中宋" pitchFamily="2" charset="-122"/>
                <a:ea typeface="华文中宋" pitchFamily="2" charset="-122"/>
              </a:rPr>
              <a:t>费米能级变化大的系统对载流子的输运性质影响较大</a:t>
            </a:r>
          </a:p>
        </p:txBody>
      </p:sp>
      <p:pic>
        <p:nvPicPr>
          <p:cNvPr id="5" name="Picture 15"/>
          <p:cNvPicPr>
            <a:picLocks noChangeAspect="1" noChangeArrowheads="1"/>
          </p:cNvPicPr>
          <p:nvPr/>
        </p:nvPicPr>
        <p:blipFill>
          <a:blip r:embed="rId2" cstate="print"/>
          <a:srcRect/>
          <a:stretch>
            <a:fillRect/>
          </a:stretch>
        </p:blipFill>
        <p:spPr bwMode="auto">
          <a:xfrm>
            <a:off x="1121236" y="2547529"/>
            <a:ext cx="6192837" cy="3024187"/>
          </a:xfrm>
          <a:prstGeom prst="rect">
            <a:avLst/>
          </a:prstGeom>
          <a:noFill/>
          <a:ln w="9525">
            <a:noFill/>
            <a:miter lim="800000"/>
            <a:headEnd/>
            <a:tailEnd/>
          </a:ln>
        </p:spPr>
      </p:pic>
      <p:sp>
        <p:nvSpPr>
          <p:cNvPr id="6" name="Text Box 16"/>
          <p:cNvSpPr txBox="1">
            <a:spLocks noChangeArrowheads="1"/>
          </p:cNvSpPr>
          <p:nvPr/>
        </p:nvSpPr>
        <p:spPr bwMode="auto">
          <a:xfrm>
            <a:off x="3131011" y="2906304"/>
            <a:ext cx="1016000" cy="822325"/>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smtClean="0">
                <a:ln>
                  <a:noFill/>
                </a:ln>
                <a:solidFill>
                  <a:srgbClr val="000000"/>
                </a:solidFill>
                <a:effectLst/>
                <a:uLnTx/>
                <a:uFillTx/>
                <a:latin typeface="Times New Roman" pitchFamily="18" charset="0"/>
                <a:ea typeface="华文中宋" pitchFamily="2" charset="-122"/>
                <a:cs typeface="Times New Roman" pitchFamily="18" charset="0"/>
              </a:rPr>
              <a:t>n ≈ n</a:t>
            </a:r>
            <a:r>
              <a:rPr kumimoji="1" lang="en-US" altLang="zh-CN" sz="2400" b="0" i="0" u="none" strike="noStrike" kern="0" cap="none" spc="0" normalizeH="0" baseline="-25000" noProof="0" smtClean="0">
                <a:ln>
                  <a:noFill/>
                </a:ln>
                <a:solidFill>
                  <a:srgbClr val="000000"/>
                </a:solidFill>
                <a:effectLst/>
                <a:uLnTx/>
                <a:uFillTx/>
                <a:latin typeface="Times New Roman" pitchFamily="18" charset="0"/>
                <a:ea typeface="华文中宋" pitchFamily="2" charset="-122"/>
                <a:cs typeface="Times New Roman" pitchFamily="18" charset="0"/>
              </a:rPr>
              <a:t>n0</a:t>
            </a:r>
          </a:p>
        </p:txBody>
      </p:sp>
      <p:sp>
        <p:nvSpPr>
          <p:cNvPr id="7" name="Text Box 17"/>
          <p:cNvSpPr txBox="1">
            <a:spLocks noChangeArrowheads="1"/>
          </p:cNvSpPr>
          <p:nvPr/>
        </p:nvSpPr>
        <p:spPr bwMode="auto">
          <a:xfrm>
            <a:off x="4505786" y="2906304"/>
            <a:ext cx="1189037" cy="457200"/>
          </a:xfrm>
          <a:prstGeom prst="rect">
            <a:avLst/>
          </a:prstGeom>
          <a:solidFill>
            <a:srgbClr val="FFFFFF"/>
          </a:solid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0" i="0" u="none" strike="noStrike" kern="0" cap="none" spc="0" normalizeH="0" baseline="0" noProof="0" smtClean="0">
                <a:ln>
                  <a:noFill/>
                </a:ln>
                <a:solidFill>
                  <a:srgbClr val="000000"/>
                </a:solidFill>
                <a:effectLst/>
                <a:uLnTx/>
                <a:uFillTx/>
                <a:latin typeface="Times New Roman" pitchFamily="18" charset="0"/>
                <a:ea typeface="华文中宋" pitchFamily="2" charset="-122"/>
                <a:cs typeface="Times New Roman" pitchFamily="18" charset="0"/>
              </a:rPr>
              <a:t>p &gt;&gt; p</a:t>
            </a:r>
            <a:r>
              <a:rPr kumimoji="1" lang="en-US" altLang="zh-CN" sz="2400" b="0" i="0" u="none" strike="noStrike" kern="0" cap="none" spc="0" normalizeH="0" baseline="-25000" noProof="0" smtClean="0">
                <a:ln>
                  <a:noFill/>
                </a:ln>
                <a:solidFill>
                  <a:srgbClr val="000000"/>
                </a:solidFill>
                <a:effectLst/>
                <a:uLnTx/>
                <a:uFillTx/>
                <a:latin typeface="Times New Roman" pitchFamily="18" charset="0"/>
                <a:ea typeface="华文中宋" pitchFamily="2" charset="-122"/>
                <a:cs typeface="Times New Roman" pitchFamily="18" charset="0"/>
              </a:rPr>
              <a:t>n0</a:t>
            </a:r>
          </a:p>
        </p:txBody>
      </p:sp>
      <p:sp>
        <p:nvSpPr>
          <p:cNvPr id="8" name="Text Box 18"/>
          <p:cNvSpPr txBox="1">
            <a:spLocks noChangeArrowheads="1"/>
          </p:cNvSpPr>
          <p:nvPr/>
        </p:nvSpPr>
        <p:spPr bwMode="auto">
          <a:xfrm>
            <a:off x="5963111" y="2322297"/>
            <a:ext cx="2432050" cy="1209675"/>
          </a:xfrm>
          <a:prstGeom prst="rect">
            <a:avLst/>
          </a:prstGeom>
          <a:noFill/>
          <a:ln w="9525">
            <a:noFill/>
            <a:miter lim="800000"/>
            <a:headEnd/>
            <a:tailEnd/>
          </a:ln>
        </p:spPr>
        <p:txBody>
          <a:bodyPr>
            <a:spAutoFit/>
          </a:bodyPr>
          <a:lstStyle/>
          <a:p>
            <a:pPr defTabSz="914400" fontAlgn="base">
              <a:lnSpc>
                <a:spcPct val="110000"/>
              </a:lnSpc>
              <a:spcBef>
                <a:spcPct val="0"/>
              </a:spcBef>
              <a:spcAft>
                <a:spcPct val="0"/>
              </a:spcAft>
            </a:pPr>
            <a:r>
              <a:rPr kumimoji="1" lang="zh-CN" altLang="en-US" sz="2200" b="1" dirty="0">
                <a:solidFill>
                  <a:srgbClr val="FF3300"/>
                </a:solidFill>
                <a:latin typeface="Times New Roman" pitchFamily="18" charset="0"/>
                <a:ea typeface="宋体" charset="-122"/>
              </a:rPr>
              <a:t>考虑准平衡到平衡态驰豫过程中准费米能级的变化？？</a:t>
            </a:r>
          </a:p>
        </p:txBody>
      </p:sp>
    </p:spTree>
    <p:extLst>
      <p:ext uri="{BB962C8B-B14F-4D97-AF65-F5344CB8AC3E}">
        <p14:creationId xmlns:p14="http://schemas.microsoft.com/office/powerpoint/2010/main" val="269852922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52</a:t>
            </a:fld>
            <a:endParaRPr lang="zh-CN" altLang="en-US"/>
          </a:p>
        </p:txBody>
      </p:sp>
      <p:sp>
        <p:nvSpPr>
          <p:cNvPr id="3" name="Text Box 3"/>
          <p:cNvSpPr txBox="1">
            <a:spLocks noChangeArrowheads="1"/>
          </p:cNvSpPr>
          <p:nvPr/>
        </p:nvSpPr>
        <p:spPr bwMode="auto">
          <a:xfrm>
            <a:off x="323441" y="427969"/>
            <a:ext cx="5015475" cy="566309"/>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en-US" altLang="zh-CN" sz="2800" b="1" dirty="0" smtClean="0">
                <a:solidFill>
                  <a:srgbClr val="FF6600"/>
                </a:solidFill>
                <a:effectLst>
                  <a:outerShdw blurRad="38100" dist="38100" dir="2700000" algn="tl">
                    <a:srgbClr val="C0C0C0"/>
                  </a:outerShdw>
                </a:effectLst>
                <a:latin typeface="Times New Roman" pitchFamily="18" charset="0"/>
                <a:ea typeface="宋体" pitchFamily="2" charset="-122"/>
              </a:rPr>
              <a:t>2. </a:t>
            </a: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静电势</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graphicFrame>
        <p:nvGraphicFramePr>
          <p:cNvPr id="4" name="对象 2"/>
          <p:cNvGraphicFramePr>
            <a:graphicFrameLocks noChangeAspect="1"/>
          </p:cNvGraphicFramePr>
          <p:nvPr>
            <p:extLst>
              <p:ext uri="{D42A27DB-BD31-4B8C-83A1-F6EECF244321}">
                <p14:modId xmlns:p14="http://schemas.microsoft.com/office/powerpoint/2010/main" val="1264088074"/>
              </p:ext>
            </p:extLst>
          </p:nvPr>
        </p:nvGraphicFramePr>
        <p:xfrm>
          <a:off x="2859856" y="3097725"/>
          <a:ext cx="1352550" cy="863600"/>
        </p:xfrm>
        <a:graphic>
          <a:graphicData uri="http://schemas.openxmlformats.org/presentationml/2006/ole">
            <mc:AlternateContent xmlns:mc="http://schemas.openxmlformats.org/markup-compatibility/2006">
              <mc:Choice xmlns:v="urn:schemas-microsoft-com:vml" Requires="v">
                <p:oleObj spid="_x0000_s32830" name="Equation" r:id="rId3" imgW="609600" imgH="419100" progId="Equation.DSMT4">
                  <p:embed/>
                </p:oleObj>
              </mc:Choice>
              <mc:Fallback>
                <p:oleObj name="Equation" r:id="rId3" imgW="609600" imgH="419100" progId="Equation.DSMT4">
                  <p:embed/>
                  <p:pic>
                    <p:nvPicPr>
                      <p:cNvPr id="35842"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9856" y="3097725"/>
                        <a:ext cx="1352550" cy="863600"/>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1"/>
          <p:cNvGraphicFramePr>
            <a:graphicFrameLocks noChangeAspect="1"/>
          </p:cNvGraphicFramePr>
          <p:nvPr>
            <p:extLst>
              <p:ext uri="{D42A27DB-BD31-4B8C-83A1-F6EECF244321}">
                <p14:modId xmlns:p14="http://schemas.microsoft.com/office/powerpoint/2010/main" val="423487039"/>
              </p:ext>
            </p:extLst>
          </p:nvPr>
        </p:nvGraphicFramePr>
        <p:xfrm>
          <a:off x="2291531" y="3775587"/>
          <a:ext cx="1504950" cy="908050"/>
        </p:xfrm>
        <a:graphic>
          <a:graphicData uri="http://schemas.openxmlformats.org/presentationml/2006/ole">
            <mc:AlternateContent xmlns:mc="http://schemas.openxmlformats.org/markup-compatibility/2006">
              <mc:Choice xmlns:v="urn:schemas-microsoft-com:vml" Requires="v">
                <p:oleObj spid="_x0000_s32831" name="Equation" r:id="rId5" imgW="685502" imgH="444307" progId="Equation.DSMT4">
                  <p:embed/>
                </p:oleObj>
              </mc:Choice>
              <mc:Fallback>
                <p:oleObj name="Equation" r:id="rId5" imgW="685502" imgH="444307" progId="Equation.DSMT4">
                  <p:embed/>
                  <p:pic>
                    <p:nvPicPr>
                      <p:cNvPr id="35843"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1531" y="3775587"/>
                        <a:ext cx="1504950" cy="908050"/>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3"/>
          <p:cNvSpPr txBox="1">
            <a:spLocks noChangeArrowheads="1"/>
          </p:cNvSpPr>
          <p:nvPr/>
        </p:nvSpPr>
        <p:spPr bwMode="auto">
          <a:xfrm>
            <a:off x="411931" y="1253050"/>
            <a:ext cx="8208963" cy="1311275"/>
          </a:xfrm>
          <a:prstGeom prst="rect">
            <a:avLst/>
          </a:prstGeom>
          <a:noFill/>
          <a:ln w="12700" cap="sq">
            <a:noFill/>
            <a:miter lim="800000"/>
            <a:headEnd type="none" w="sm" len="sm"/>
            <a:tailEnd type="none" w="sm" len="sm"/>
          </a:ln>
        </p:spPr>
        <p:txBody>
          <a:bodyPr>
            <a:spAutoFit/>
          </a:bodyPr>
          <a:lstStyle/>
          <a:p>
            <a:pPr defTabSz="914400" eaLnBrk="0" fontAlgn="base" hangingPunct="0">
              <a:lnSpc>
                <a:spcPct val="110000"/>
              </a:lnSpc>
              <a:spcBef>
                <a:spcPct val="50000"/>
              </a:spcBef>
              <a:spcAft>
                <a:spcPct val="0"/>
              </a:spcAft>
            </a:pPr>
            <a:r>
              <a:rPr kumimoji="1" lang="zh-CN" altLang="en-US" sz="2400" b="1">
                <a:solidFill>
                  <a:srgbClr val="000000"/>
                </a:solidFill>
                <a:latin typeface="Times New Roman" pitchFamily="18" charset="0"/>
                <a:ea typeface="宋体" charset="-122"/>
              </a:rPr>
              <a:t>半导体物理中，为了方便，各物理量或方程式，经常表示为电势的函数。半导体载流子的静电势定义为：能量除以电子电荷量</a:t>
            </a:r>
            <a:r>
              <a:rPr kumimoji="1" lang="en-US" altLang="zh-CN" sz="2400" b="1" i="1">
                <a:solidFill>
                  <a:srgbClr val="000000"/>
                </a:solidFill>
                <a:latin typeface="Times New Roman" pitchFamily="18" charset="0"/>
                <a:ea typeface="宋体" charset="-122"/>
              </a:rPr>
              <a:t>-q</a:t>
            </a:r>
            <a:r>
              <a:rPr kumimoji="1" lang="zh-CN" altLang="en-US" sz="2400" b="1">
                <a:solidFill>
                  <a:srgbClr val="000000"/>
                </a:solidFill>
                <a:latin typeface="Times New Roman" pitchFamily="18" charset="0"/>
                <a:ea typeface="宋体" charset="-122"/>
              </a:rPr>
              <a:t>。</a:t>
            </a:r>
          </a:p>
        </p:txBody>
      </p:sp>
      <p:sp>
        <p:nvSpPr>
          <p:cNvPr id="7" name="Text Box 4"/>
          <p:cNvSpPr txBox="1">
            <a:spLocks noChangeArrowheads="1"/>
          </p:cNvSpPr>
          <p:nvPr/>
        </p:nvSpPr>
        <p:spPr bwMode="auto">
          <a:xfrm>
            <a:off x="411931" y="3313625"/>
            <a:ext cx="2971800"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en-US" altLang="zh-CN" sz="2400" b="1">
                <a:solidFill>
                  <a:srgbClr val="000000"/>
                </a:solidFill>
                <a:latin typeface="Times New Roman" pitchFamily="18" charset="0"/>
                <a:ea typeface="宋体" charset="-122"/>
              </a:rPr>
              <a:t>2</a:t>
            </a:r>
            <a:r>
              <a:rPr kumimoji="1" lang="zh-CN" altLang="en-US" sz="2400" b="1">
                <a:solidFill>
                  <a:srgbClr val="000000"/>
                </a:solidFill>
                <a:latin typeface="Times New Roman" pitchFamily="18" charset="0"/>
                <a:ea typeface="宋体" charset="-122"/>
              </a:rPr>
              <a:t>、本征费米势：</a:t>
            </a:r>
          </a:p>
        </p:txBody>
      </p:sp>
      <p:sp>
        <p:nvSpPr>
          <p:cNvPr id="8" name="Text Box 5"/>
          <p:cNvSpPr txBox="1">
            <a:spLocks noChangeArrowheads="1"/>
          </p:cNvSpPr>
          <p:nvPr/>
        </p:nvSpPr>
        <p:spPr bwMode="auto">
          <a:xfrm>
            <a:off x="411931" y="4034350"/>
            <a:ext cx="2438400"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en-US" altLang="zh-CN" sz="2400" b="1">
                <a:solidFill>
                  <a:srgbClr val="000000"/>
                </a:solidFill>
                <a:latin typeface="Times New Roman" pitchFamily="18" charset="0"/>
                <a:ea typeface="宋体" charset="-122"/>
              </a:rPr>
              <a:t>3</a:t>
            </a:r>
            <a:r>
              <a:rPr kumimoji="1" lang="zh-CN" altLang="en-US" sz="2400" b="1">
                <a:solidFill>
                  <a:srgbClr val="000000"/>
                </a:solidFill>
                <a:latin typeface="Times New Roman" pitchFamily="18" charset="0"/>
                <a:ea typeface="宋体" charset="-122"/>
              </a:rPr>
              <a:t>、费米势：</a:t>
            </a:r>
          </a:p>
        </p:txBody>
      </p:sp>
      <p:sp>
        <p:nvSpPr>
          <p:cNvPr id="9" name="Text Box 6"/>
          <p:cNvSpPr txBox="1">
            <a:spLocks noChangeArrowheads="1"/>
          </p:cNvSpPr>
          <p:nvPr/>
        </p:nvSpPr>
        <p:spPr bwMode="auto">
          <a:xfrm>
            <a:off x="411931" y="2594487"/>
            <a:ext cx="2808288"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en-US" altLang="zh-CN" sz="2400" b="1">
                <a:solidFill>
                  <a:srgbClr val="000000"/>
                </a:solidFill>
                <a:latin typeface="Times New Roman" pitchFamily="18" charset="0"/>
                <a:ea typeface="宋体" charset="-122"/>
              </a:rPr>
              <a:t>1</a:t>
            </a:r>
            <a:r>
              <a:rPr kumimoji="1" lang="zh-CN" altLang="en-US" sz="2400" b="1">
                <a:solidFill>
                  <a:srgbClr val="000000"/>
                </a:solidFill>
                <a:latin typeface="Times New Roman" pitchFamily="18" charset="0"/>
                <a:ea typeface="宋体" charset="-122"/>
              </a:rPr>
              <a:t>、静电势：</a:t>
            </a:r>
          </a:p>
        </p:txBody>
      </p:sp>
      <p:sp>
        <p:nvSpPr>
          <p:cNvPr id="10" name="Text Box 7"/>
          <p:cNvSpPr txBox="1">
            <a:spLocks noChangeArrowheads="1"/>
          </p:cNvSpPr>
          <p:nvPr/>
        </p:nvSpPr>
        <p:spPr bwMode="auto">
          <a:xfrm>
            <a:off x="411931" y="4755075"/>
            <a:ext cx="7315200"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半导体中电场强度经常用本征费米势的负梯度来表示：</a:t>
            </a:r>
          </a:p>
        </p:txBody>
      </p:sp>
      <p:graphicFrame>
        <p:nvGraphicFramePr>
          <p:cNvPr id="11" name="Object 8"/>
          <p:cNvGraphicFramePr>
            <a:graphicFrameLocks noChangeAspect="1"/>
          </p:cNvGraphicFramePr>
          <p:nvPr>
            <p:extLst>
              <p:ext uri="{D42A27DB-BD31-4B8C-83A1-F6EECF244321}">
                <p14:modId xmlns:p14="http://schemas.microsoft.com/office/powerpoint/2010/main" val="2888774376"/>
              </p:ext>
            </p:extLst>
          </p:nvPr>
        </p:nvGraphicFramePr>
        <p:xfrm>
          <a:off x="2270894" y="2403987"/>
          <a:ext cx="1211262" cy="863600"/>
        </p:xfrm>
        <a:graphic>
          <a:graphicData uri="http://schemas.openxmlformats.org/presentationml/2006/ole">
            <mc:AlternateContent xmlns:mc="http://schemas.openxmlformats.org/markup-compatibility/2006">
              <mc:Choice xmlns:v="urn:schemas-microsoft-com:vml" Requires="v">
                <p:oleObj spid="_x0000_s32832" name="Equation" r:id="rId7" imgW="545863" imgH="418918" progId="Equation.DSMT4">
                  <p:embed/>
                </p:oleObj>
              </mc:Choice>
              <mc:Fallback>
                <p:oleObj name="Equation" r:id="rId7" imgW="545863" imgH="418918" progId="Equation.DSMT4">
                  <p:embed/>
                  <p:pic>
                    <p:nvPicPr>
                      <p:cNvPr id="3585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0894" y="2403987"/>
                        <a:ext cx="1211262" cy="863600"/>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0"/>
          <p:cNvGraphicFramePr>
            <a:graphicFrameLocks noChangeAspect="1"/>
          </p:cNvGraphicFramePr>
          <p:nvPr>
            <p:extLst>
              <p:ext uri="{D42A27DB-BD31-4B8C-83A1-F6EECF244321}">
                <p14:modId xmlns:p14="http://schemas.microsoft.com/office/powerpoint/2010/main" val="45467853"/>
              </p:ext>
            </p:extLst>
          </p:nvPr>
        </p:nvGraphicFramePr>
        <p:xfrm>
          <a:off x="1415231" y="5348800"/>
          <a:ext cx="5003800" cy="974725"/>
        </p:xfrm>
        <a:graphic>
          <a:graphicData uri="http://schemas.openxmlformats.org/presentationml/2006/ole">
            <mc:AlternateContent xmlns:mc="http://schemas.openxmlformats.org/markup-compatibility/2006">
              <mc:Choice xmlns:v="urn:schemas-microsoft-com:vml" Requires="v">
                <p:oleObj spid="_x0000_s32833" name="Equation" r:id="rId9" imgW="1701800" imgH="419100" progId="Equation.DSMT4">
                  <p:embed/>
                </p:oleObj>
              </mc:Choice>
              <mc:Fallback>
                <p:oleObj name="Equation" r:id="rId9" imgW="1701800" imgH="419100" progId="Equation.DSMT4">
                  <p:embed/>
                  <p:pic>
                    <p:nvPicPr>
                      <p:cNvPr id="35851"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5231" y="5348800"/>
                        <a:ext cx="5003800" cy="974725"/>
                      </a:xfrm>
                      <a:prstGeom prst="rect">
                        <a:avLst/>
                      </a:prstGeom>
                      <a:solidFill>
                        <a:srgbClr val="FF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Text Box 13"/>
          <p:cNvSpPr txBox="1">
            <a:spLocks noChangeArrowheads="1"/>
          </p:cNvSpPr>
          <p:nvPr/>
        </p:nvSpPr>
        <p:spPr bwMode="auto">
          <a:xfrm>
            <a:off x="4804544" y="2378587"/>
            <a:ext cx="3779837" cy="2176463"/>
          </a:xfrm>
          <a:prstGeom prst="rect">
            <a:avLst/>
          </a:prstGeom>
          <a:noFill/>
          <a:ln w="76200" cmpd="tri">
            <a:solidFill>
              <a:srgbClr val="FF3300"/>
            </a:solidFill>
            <a:miter lim="800000"/>
            <a:headEnd/>
            <a:tailEnd/>
          </a:ln>
        </p:spPr>
        <p:txBody>
          <a:bodyPr>
            <a:spAutoFit/>
          </a:bodyPr>
          <a:lstStyle/>
          <a:p>
            <a:pPr defTabSz="914400" fontAlgn="base">
              <a:lnSpc>
                <a:spcPct val="110000"/>
              </a:lnSpc>
              <a:spcBef>
                <a:spcPct val="0"/>
              </a:spcBef>
              <a:spcAft>
                <a:spcPct val="0"/>
              </a:spcAft>
            </a:pPr>
            <a:r>
              <a:rPr kumimoji="1" lang="zh-CN" altLang="en-US" sz="2400" b="1">
                <a:solidFill>
                  <a:srgbClr val="3333CC"/>
                </a:solidFill>
                <a:latin typeface="Times New Roman" pitchFamily="18" charset="0"/>
                <a:ea typeface="宋体" charset="-122"/>
              </a:rPr>
              <a:t>注意：能带图中的能量是电子的能量，电势是单位正电荷的能量，因此，在能带图中，能量高的位置，电势反而低。</a:t>
            </a:r>
          </a:p>
        </p:txBody>
      </p:sp>
    </p:spTree>
    <p:extLst>
      <p:ext uri="{BB962C8B-B14F-4D97-AF65-F5344CB8AC3E}">
        <p14:creationId xmlns:p14="http://schemas.microsoft.com/office/powerpoint/2010/main" val="403503380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53</a:t>
            </a:fld>
            <a:endParaRPr lang="zh-CN" altLang="en-US"/>
          </a:p>
        </p:txBody>
      </p:sp>
      <p:graphicFrame>
        <p:nvGraphicFramePr>
          <p:cNvPr id="3" name="Object 16"/>
          <p:cNvGraphicFramePr>
            <a:graphicFrameLocks noChangeAspect="1"/>
          </p:cNvGraphicFramePr>
          <p:nvPr>
            <p:extLst>
              <p:ext uri="{D42A27DB-BD31-4B8C-83A1-F6EECF244321}">
                <p14:modId xmlns:p14="http://schemas.microsoft.com/office/powerpoint/2010/main" val="3573291033"/>
              </p:ext>
            </p:extLst>
          </p:nvPr>
        </p:nvGraphicFramePr>
        <p:xfrm>
          <a:off x="2534419" y="2611540"/>
          <a:ext cx="3743325" cy="1411287"/>
        </p:xfrm>
        <a:graphic>
          <a:graphicData uri="http://schemas.openxmlformats.org/presentationml/2006/ole">
            <mc:AlternateContent xmlns:mc="http://schemas.openxmlformats.org/markup-compatibility/2006">
              <mc:Choice xmlns:v="urn:schemas-microsoft-com:vml" Requires="v">
                <p:oleObj spid="_x0000_s33854" name="Equation" r:id="rId3" imgW="1752600" imgH="660400" progId="Equation.DSMT4">
                  <p:embed/>
                </p:oleObj>
              </mc:Choice>
              <mc:Fallback>
                <p:oleObj name="Equation" r:id="rId3" imgW="1752600" imgH="660400" progId="Equation.DSMT4">
                  <p:embed/>
                  <p:pic>
                    <p:nvPicPr>
                      <p:cNvPr id="36866"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4419" y="2611540"/>
                        <a:ext cx="3743325" cy="1411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25"/>
          <p:cNvGraphicFramePr>
            <a:graphicFrameLocks noChangeAspect="1"/>
          </p:cNvGraphicFramePr>
          <p:nvPr>
            <p:extLst>
              <p:ext uri="{D42A27DB-BD31-4B8C-83A1-F6EECF244321}">
                <p14:modId xmlns:p14="http://schemas.microsoft.com/office/powerpoint/2010/main" val="3062210473"/>
              </p:ext>
            </p:extLst>
          </p:nvPr>
        </p:nvGraphicFramePr>
        <p:xfrm>
          <a:off x="2670269" y="1225652"/>
          <a:ext cx="4983162" cy="893763"/>
        </p:xfrm>
        <a:graphic>
          <a:graphicData uri="http://schemas.openxmlformats.org/presentationml/2006/ole">
            <mc:AlternateContent xmlns:mc="http://schemas.openxmlformats.org/markup-compatibility/2006">
              <mc:Choice xmlns:v="urn:schemas-microsoft-com:vml" Requires="v">
                <p:oleObj spid="_x0000_s33855" name="Equation" r:id="rId5" imgW="2527300" imgH="482600" progId="Equation.DSMT4">
                  <p:embed/>
                </p:oleObj>
              </mc:Choice>
              <mc:Fallback>
                <p:oleObj name="Equation" r:id="rId5" imgW="2527300" imgH="482600" progId="Equation.DSMT4">
                  <p:embed/>
                  <p:pic>
                    <p:nvPicPr>
                      <p:cNvPr id="36867"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0269" y="1225652"/>
                        <a:ext cx="4983162" cy="89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411930" y="731940"/>
            <a:ext cx="8172711" cy="830997"/>
          </a:xfrm>
          <a:prstGeom prst="rect">
            <a:avLst/>
          </a:prstGeom>
          <a:noFill/>
          <a:ln w="9525">
            <a:noFill/>
            <a:miter lim="800000"/>
            <a:headEnd/>
            <a:tailEnd/>
          </a:ln>
        </p:spPr>
        <p:txBody>
          <a:bodyPr wrap="square">
            <a:spAutoFit/>
          </a:bodyPr>
          <a:lstStyle/>
          <a:p>
            <a:pPr defTabSz="914400" fontAlgn="base">
              <a:spcBef>
                <a:spcPct val="50000"/>
              </a:spcBef>
              <a:spcAft>
                <a:spcPct val="0"/>
              </a:spcAft>
            </a:pPr>
            <a:r>
              <a:rPr kumimoji="1" lang="zh-CN" altLang="en-US" sz="2400" b="1" dirty="0" smtClean="0">
                <a:solidFill>
                  <a:srgbClr val="000000"/>
                </a:solidFill>
                <a:latin typeface="Times New Roman" pitchFamily="18" charset="0"/>
                <a:ea typeface="宋体" charset="-122"/>
              </a:rPr>
              <a:t>我们经常以</a:t>
            </a:r>
            <a:r>
              <a:rPr kumimoji="1" lang="zh-CN" altLang="en-US" sz="2400" b="1" dirty="0">
                <a:solidFill>
                  <a:srgbClr val="000000"/>
                </a:solidFill>
                <a:latin typeface="Times New Roman" pitchFamily="18" charset="0"/>
                <a:ea typeface="宋体" charset="-122"/>
              </a:rPr>
              <a:t>本征费米能级为能量</a:t>
            </a:r>
            <a:r>
              <a:rPr kumimoji="1" lang="zh-CN" altLang="en-US" sz="2400" b="1" dirty="0" smtClean="0">
                <a:solidFill>
                  <a:srgbClr val="000000"/>
                </a:solidFill>
                <a:latin typeface="Times New Roman" pitchFamily="18" charset="0"/>
                <a:ea typeface="宋体" charset="-122"/>
              </a:rPr>
              <a:t>参考点，以此</a:t>
            </a:r>
            <a:r>
              <a:rPr kumimoji="1" lang="zh-CN" altLang="en-US" sz="2400" b="1" dirty="0">
                <a:solidFill>
                  <a:srgbClr val="000000"/>
                </a:solidFill>
                <a:latin typeface="Times New Roman" pitchFamily="18" charset="0"/>
                <a:ea typeface="宋体" charset="-122"/>
              </a:rPr>
              <a:t>为基础定义的相对费米</a:t>
            </a:r>
            <a:r>
              <a:rPr kumimoji="1" lang="zh-CN" altLang="en-US" sz="2400" b="1" dirty="0" smtClean="0">
                <a:solidFill>
                  <a:srgbClr val="000000"/>
                </a:solidFill>
                <a:latin typeface="Times New Roman" pitchFamily="18" charset="0"/>
                <a:ea typeface="宋体" charset="-122"/>
              </a:rPr>
              <a:t>势为</a:t>
            </a:r>
            <a:r>
              <a:rPr kumimoji="1" lang="zh-CN" altLang="en-US" sz="2400" b="1" dirty="0">
                <a:solidFill>
                  <a:srgbClr val="000000"/>
                </a:solidFill>
                <a:latin typeface="Times New Roman" pitchFamily="18" charset="0"/>
                <a:ea typeface="宋体" charset="-122"/>
              </a:rPr>
              <a:t>：</a:t>
            </a:r>
          </a:p>
        </p:txBody>
      </p:sp>
      <p:sp>
        <p:nvSpPr>
          <p:cNvPr id="6" name="Text Box 20"/>
          <p:cNvSpPr txBox="1">
            <a:spLocks noChangeArrowheads="1"/>
          </p:cNvSpPr>
          <p:nvPr/>
        </p:nvSpPr>
        <p:spPr bwMode="auto">
          <a:xfrm>
            <a:off x="411931" y="2119415"/>
            <a:ext cx="3657600"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载流子的浓度可表示为：</a:t>
            </a:r>
          </a:p>
        </p:txBody>
      </p:sp>
      <p:graphicFrame>
        <p:nvGraphicFramePr>
          <p:cNvPr id="7" name="Object 22"/>
          <p:cNvGraphicFramePr>
            <a:graphicFrameLocks noChangeAspect="1"/>
          </p:cNvGraphicFramePr>
          <p:nvPr>
            <p:extLst>
              <p:ext uri="{D42A27DB-BD31-4B8C-83A1-F6EECF244321}">
                <p14:modId xmlns:p14="http://schemas.microsoft.com/office/powerpoint/2010/main" val="3387180045"/>
              </p:ext>
            </p:extLst>
          </p:nvPr>
        </p:nvGraphicFramePr>
        <p:xfrm>
          <a:off x="4200946" y="4066715"/>
          <a:ext cx="2428875" cy="904875"/>
        </p:xfrm>
        <a:graphic>
          <a:graphicData uri="http://schemas.openxmlformats.org/presentationml/2006/ole">
            <mc:AlternateContent xmlns:mc="http://schemas.openxmlformats.org/markup-compatibility/2006">
              <mc:Choice xmlns:v="urn:schemas-microsoft-com:vml" Requires="v">
                <p:oleObj spid="_x0000_s33856" name="Equation" r:id="rId7" imgW="1295400" imgH="482600" progId="Equation.DSMT4">
                  <p:embed/>
                </p:oleObj>
              </mc:Choice>
              <mc:Fallback>
                <p:oleObj name="Equation" r:id="rId7" imgW="1295400" imgH="482600" progId="Equation.DSMT4">
                  <p:embed/>
                  <p:pic>
                    <p:nvPicPr>
                      <p:cNvPr id="36873"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0946" y="4066715"/>
                        <a:ext cx="242887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23"/>
          <p:cNvGraphicFramePr>
            <a:graphicFrameLocks noChangeAspect="1"/>
          </p:cNvGraphicFramePr>
          <p:nvPr>
            <p:extLst>
              <p:ext uri="{D42A27DB-BD31-4B8C-83A1-F6EECF244321}">
                <p14:modId xmlns:p14="http://schemas.microsoft.com/office/powerpoint/2010/main" val="10609701"/>
              </p:ext>
            </p:extLst>
          </p:nvPr>
        </p:nvGraphicFramePr>
        <p:xfrm>
          <a:off x="3964756" y="4899127"/>
          <a:ext cx="2452688" cy="904875"/>
        </p:xfrm>
        <a:graphic>
          <a:graphicData uri="http://schemas.openxmlformats.org/presentationml/2006/ole">
            <mc:AlternateContent xmlns:mc="http://schemas.openxmlformats.org/markup-compatibility/2006">
              <mc:Choice xmlns:v="urn:schemas-microsoft-com:vml" Requires="v">
                <p:oleObj spid="_x0000_s33857" name="Equation" r:id="rId9" imgW="1307532" imgH="482391" progId="Equation.DSMT4">
                  <p:embed/>
                </p:oleObj>
              </mc:Choice>
              <mc:Fallback>
                <p:oleObj name="Equation" r:id="rId9" imgW="1307532" imgH="482391" progId="Equation.DSMT4">
                  <p:embed/>
                  <p:pic>
                    <p:nvPicPr>
                      <p:cNvPr id="36874"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4756" y="4899127"/>
                        <a:ext cx="2452688"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24"/>
          <p:cNvSpPr txBox="1">
            <a:spLocks noChangeArrowheads="1"/>
          </p:cNvSpPr>
          <p:nvPr/>
        </p:nvSpPr>
        <p:spPr bwMode="auto">
          <a:xfrm>
            <a:off x="411931" y="4351440"/>
            <a:ext cx="1600200"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400" b="1" dirty="0">
                <a:solidFill>
                  <a:srgbClr val="000000"/>
                </a:solidFill>
                <a:latin typeface="Times New Roman" pitchFamily="18" charset="0"/>
                <a:ea typeface="宋体" charset="-122"/>
              </a:rPr>
              <a:t>于是：</a:t>
            </a:r>
          </a:p>
        </p:txBody>
      </p:sp>
      <p:sp>
        <p:nvSpPr>
          <p:cNvPr id="10" name="Text Box 27"/>
          <p:cNvSpPr txBox="1">
            <a:spLocks noChangeArrowheads="1"/>
          </p:cNvSpPr>
          <p:nvPr/>
        </p:nvSpPr>
        <p:spPr bwMode="auto">
          <a:xfrm>
            <a:off x="1253082" y="4351440"/>
            <a:ext cx="2977835" cy="461665"/>
          </a:xfrm>
          <a:prstGeom prst="rect">
            <a:avLst/>
          </a:prstGeom>
          <a:noFill/>
          <a:ln w="9525">
            <a:noFill/>
            <a:miter lim="800000"/>
            <a:headEnd/>
            <a:tailEnd/>
          </a:ln>
        </p:spPr>
        <p:txBody>
          <a:bodyPr wrap="square">
            <a:spAutoFit/>
          </a:bodyPr>
          <a:lstStyle/>
          <a:p>
            <a:pPr defTabSz="914400" fontAlgn="base">
              <a:spcBef>
                <a:spcPct val="50000"/>
              </a:spcBef>
              <a:spcAft>
                <a:spcPct val="0"/>
              </a:spcAft>
            </a:pPr>
            <a:r>
              <a:rPr kumimoji="1" lang="zh-CN" altLang="en-US" sz="2400" b="1" dirty="0" smtClean="0">
                <a:solidFill>
                  <a:srgbClr val="000000"/>
                </a:solidFill>
                <a:latin typeface="Times New Roman" pitchFamily="18" charset="0"/>
                <a:ea typeface="宋体" charset="-122"/>
              </a:rPr>
              <a:t>电子体系的准费米势</a:t>
            </a:r>
            <a:endParaRPr kumimoji="1" lang="zh-CN" altLang="en-US" sz="2400" b="1" dirty="0">
              <a:solidFill>
                <a:srgbClr val="000000"/>
              </a:solidFill>
              <a:latin typeface="Times New Roman" pitchFamily="18" charset="0"/>
              <a:ea typeface="宋体" charset="-122"/>
            </a:endParaRPr>
          </a:p>
        </p:txBody>
      </p:sp>
      <p:sp>
        <p:nvSpPr>
          <p:cNvPr id="11" name="Text Box 28"/>
          <p:cNvSpPr txBox="1">
            <a:spLocks noChangeArrowheads="1"/>
          </p:cNvSpPr>
          <p:nvPr/>
        </p:nvSpPr>
        <p:spPr bwMode="auto">
          <a:xfrm>
            <a:off x="933791" y="5143602"/>
            <a:ext cx="2818588" cy="461665"/>
          </a:xfrm>
          <a:prstGeom prst="rect">
            <a:avLst/>
          </a:prstGeom>
          <a:noFill/>
          <a:ln w="9525">
            <a:noFill/>
            <a:miter lim="800000"/>
            <a:headEnd/>
            <a:tailEnd/>
          </a:ln>
        </p:spPr>
        <p:txBody>
          <a:bodyPr wrap="square">
            <a:spAutoFit/>
          </a:bodyPr>
          <a:lstStyle/>
          <a:p>
            <a:pPr defTabSz="914400" fontAlgn="base">
              <a:spcBef>
                <a:spcPct val="50000"/>
              </a:spcBef>
              <a:spcAft>
                <a:spcPct val="0"/>
              </a:spcAft>
            </a:pPr>
            <a:r>
              <a:rPr kumimoji="1" lang="zh-CN" altLang="en-US" sz="2400" b="1" dirty="0" smtClean="0">
                <a:solidFill>
                  <a:srgbClr val="000000"/>
                </a:solidFill>
                <a:latin typeface="Times New Roman" pitchFamily="18" charset="0"/>
                <a:ea typeface="宋体" charset="-122"/>
              </a:rPr>
              <a:t>空穴体系准费米势</a:t>
            </a:r>
            <a:endParaRPr kumimoji="1" lang="zh-CN" altLang="en-US" sz="2400" b="1" dirty="0">
              <a:solidFill>
                <a:srgbClr val="000000"/>
              </a:solidFill>
              <a:latin typeface="Times New Roman" pitchFamily="18" charset="0"/>
              <a:ea typeface="宋体" charset="-122"/>
            </a:endParaRPr>
          </a:p>
        </p:txBody>
      </p:sp>
      <p:sp>
        <p:nvSpPr>
          <p:cNvPr id="12" name="Text Box 30"/>
          <p:cNvSpPr txBox="1">
            <a:spLocks noChangeArrowheads="1"/>
          </p:cNvSpPr>
          <p:nvPr/>
        </p:nvSpPr>
        <p:spPr bwMode="auto">
          <a:xfrm>
            <a:off x="6728594" y="4229202"/>
            <a:ext cx="1676400" cy="701675"/>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000" b="1" dirty="0" smtClean="0">
                <a:solidFill>
                  <a:srgbClr val="000000"/>
                </a:solidFill>
                <a:latin typeface="Times New Roman" pitchFamily="18" charset="0"/>
                <a:ea typeface="宋体" charset="-122"/>
              </a:rPr>
              <a:t>低于</a:t>
            </a:r>
            <a:r>
              <a:rPr kumimoji="1" lang="zh-CN" altLang="en-US" sz="2000" b="1" dirty="0">
                <a:solidFill>
                  <a:srgbClr val="000000"/>
                </a:solidFill>
                <a:latin typeface="Times New Roman" pitchFamily="18" charset="0"/>
                <a:ea typeface="宋体" charset="-122"/>
              </a:rPr>
              <a:t>本征费米势</a:t>
            </a:r>
          </a:p>
        </p:txBody>
      </p:sp>
      <p:sp>
        <p:nvSpPr>
          <p:cNvPr id="13" name="Text Box 31"/>
          <p:cNvSpPr txBox="1">
            <a:spLocks noChangeArrowheads="1"/>
          </p:cNvSpPr>
          <p:nvPr/>
        </p:nvSpPr>
        <p:spPr bwMode="auto">
          <a:xfrm>
            <a:off x="6752406" y="5021365"/>
            <a:ext cx="1676400" cy="701675"/>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000" b="1" dirty="0" smtClean="0">
                <a:solidFill>
                  <a:srgbClr val="000000"/>
                </a:solidFill>
                <a:latin typeface="Times New Roman" pitchFamily="18" charset="0"/>
                <a:ea typeface="宋体" charset="-122"/>
              </a:rPr>
              <a:t>高于</a:t>
            </a:r>
            <a:r>
              <a:rPr kumimoji="1" lang="zh-CN" altLang="en-US" sz="2000" b="1" dirty="0">
                <a:solidFill>
                  <a:srgbClr val="000000"/>
                </a:solidFill>
                <a:latin typeface="Times New Roman" pitchFamily="18" charset="0"/>
                <a:ea typeface="宋体" charset="-122"/>
              </a:rPr>
              <a:t>本征费米势</a:t>
            </a:r>
          </a:p>
        </p:txBody>
      </p:sp>
    </p:spTree>
    <p:extLst>
      <p:ext uri="{BB962C8B-B14F-4D97-AF65-F5344CB8AC3E}">
        <p14:creationId xmlns:p14="http://schemas.microsoft.com/office/powerpoint/2010/main" val="388041577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54</a:t>
            </a:fld>
            <a:endParaRPr lang="zh-CN" altLang="en-US"/>
          </a:p>
        </p:txBody>
      </p:sp>
      <p:graphicFrame>
        <p:nvGraphicFramePr>
          <p:cNvPr id="3" name="Object 15"/>
          <p:cNvGraphicFramePr>
            <a:graphicFrameLocks noChangeAspect="1"/>
          </p:cNvGraphicFramePr>
          <p:nvPr>
            <p:extLst>
              <p:ext uri="{D42A27DB-BD31-4B8C-83A1-F6EECF244321}">
                <p14:modId xmlns:p14="http://schemas.microsoft.com/office/powerpoint/2010/main" val="4060789181"/>
              </p:ext>
            </p:extLst>
          </p:nvPr>
        </p:nvGraphicFramePr>
        <p:xfrm>
          <a:off x="513530" y="1321364"/>
          <a:ext cx="7948613" cy="2071687"/>
        </p:xfrm>
        <a:graphic>
          <a:graphicData uri="http://schemas.openxmlformats.org/presentationml/2006/ole">
            <mc:AlternateContent xmlns:mc="http://schemas.openxmlformats.org/markup-compatibility/2006">
              <mc:Choice xmlns:v="urn:schemas-microsoft-com:vml" Requires="v">
                <p:oleObj spid="_x0000_s34848" name="Equation" r:id="rId3" imgW="3708400" imgH="939800" progId="Equation.DSMT4">
                  <p:embed/>
                </p:oleObj>
              </mc:Choice>
              <mc:Fallback>
                <p:oleObj name="Equation" r:id="rId3" imgW="3708400" imgH="939800" progId="Equation.DSMT4">
                  <p:embed/>
                  <p:pic>
                    <p:nvPicPr>
                      <p:cNvPr id="3789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530" y="1321364"/>
                        <a:ext cx="7948613" cy="2071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1037"/>
          <p:cNvGraphicFramePr>
            <a:graphicFrameLocks noChangeAspect="1"/>
          </p:cNvGraphicFramePr>
          <p:nvPr>
            <p:extLst>
              <p:ext uri="{D42A27DB-BD31-4B8C-83A1-F6EECF244321}">
                <p14:modId xmlns:p14="http://schemas.microsoft.com/office/powerpoint/2010/main" val="3926990825"/>
              </p:ext>
            </p:extLst>
          </p:nvPr>
        </p:nvGraphicFramePr>
        <p:xfrm>
          <a:off x="1923230" y="3434326"/>
          <a:ext cx="5367338" cy="995363"/>
        </p:xfrm>
        <a:graphic>
          <a:graphicData uri="http://schemas.openxmlformats.org/presentationml/2006/ole">
            <mc:AlternateContent xmlns:mc="http://schemas.openxmlformats.org/markup-compatibility/2006">
              <mc:Choice xmlns:v="urn:schemas-microsoft-com:vml" Requires="v">
                <p:oleObj spid="_x0000_s34849" name="Equation" r:id="rId5" imgW="2603500" imgH="482600" progId="Equation.DSMT4">
                  <p:embed/>
                </p:oleObj>
              </mc:Choice>
              <mc:Fallback>
                <p:oleObj name="Equation" r:id="rId5" imgW="2603500" imgH="482600" progId="Equation.DSMT4">
                  <p:embed/>
                  <p:pic>
                    <p:nvPicPr>
                      <p:cNvPr id="37891" name="Object 10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3230" y="3434326"/>
                        <a:ext cx="5367338" cy="995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1039"/>
          <p:cNvSpPr txBox="1">
            <a:spLocks noChangeArrowheads="1"/>
          </p:cNvSpPr>
          <p:nvPr/>
        </p:nvSpPr>
        <p:spPr bwMode="auto">
          <a:xfrm>
            <a:off x="411930" y="3721664"/>
            <a:ext cx="1152525"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定义：</a:t>
            </a:r>
          </a:p>
        </p:txBody>
      </p:sp>
      <p:sp>
        <p:nvSpPr>
          <p:cNvPr id="6" name="Text Box 1040"/>
          <p:cNvSpPr txBox="1">
            <a:spLocks noChangeArrowheads="1"/>
          </p:cNvSpPr>
          <p:nvPr/>
        </p:nvSpPr>
        <p:spPr bwMode="auto">
          <a:xfrm>
            <a:off x="411930" y="4477314"/>
            <a:ext cx="4103688" cy="461665"/>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400" b="1" dirty="0" smtClean="0">
                <a:solidFill>
                  <a:srgbClr val="000000"/>
                </a:solidFill>
                <a:latin typeface="Times New Roman" pitchFamily="18" charset="0"/>
                <a:ea typeface="宋体" charset="-122"/>
              </a:rPr>
              <a:t>称为</a:t>
            </a:r>
            <a:r>
              <a:rPr kumimoji="1" lang="zh-CN" altLang="en-US" sz="2400" b="1" dirty="0">
                <a:solidFill>
                  <a:srgbClr val="000000"/>
                </a:solidFill>
                <a:latin typeface="Times New Roman" pitchFamily="18" charset="0"/>
                <a:ea typeface="宋体" charset="-122"/>
              </a:rPr>
              <a:t>电子和空穴的准费米势。</a:t>
            </a:r>
          </a:p>
        </p:txBody>
      </p:sp>
      <p:sp>
        <p:nvSpPr>
          <p:cNvPr id="7" name="Text Box 1041"/>
          <p:cNvSpPr txBox="1">
            <a:spLocks noChangeArrowheads="1"/>
          </p:cNvSpPr>
          <p:nvPr/>
        </p:nvSpPr>
        <p:spPr bwMode="auto">
          <a:xfrm>
            <a:off x="411930" y="4934514"/>
            <a:ext cx="7993063" cy="977900"/>
          </a:xfrm>
          <a:prstGeom prst="rect">
            <a:avLst/>
          </a:prstGeom>
          <a:noFill/>
          <a:ln w="9525">
            <a:noFill/>
            <a:miter lim="800000"/>
            <a:headEnd/>
            <a:tailEnd/>
          </a:ln>
        </p:spPr>
        <p:txBody>
          <a:bodyPr>
            <a:spAutoFit/>
          </a:bodyPr>
          <a:lstStyle/>
          <a:p>
            <a:pPr defTabSz="914400" fontAlgn="base">
              <a:lnSpc>
                <a:spcPct val="120000"/>
              </a:lnSpc>
              <a:spcBef>
                <a:spcPct val="50000"/>
              </a:spcBef>
              <a:spcAft>
                <a:spcPct val="0"/>
              </a:spcAft>
            </a:pPr>
            <a:r>
              <a:rPr kumimoji="1" lang="zh-CN" altLang="en-US" sz="2400" b="1">
                <a:solidFill>
                  <a:srgbClr val="0066FF"/>
                </a:solidFill>
                <a:latin typeface="Times New Roman" pitchFamily="18" charset="0"/>
                <a:ea typeface="宋体" charset="-122"/>
              </a:rPr>
              <a:t>基于以上结果，可以得到以下结论：电子或空穴的准费米势在空间的变化将引起电子或空穴电流。</a:t>
            </a:r>
          </a:p>
        </p:txBody>
      </p:sp>
      <p:sp>
        <p:nvSpPr>
          <p:cNvPr id="8" name="Rectangle 16"/>
          <p:cNvSpPr>
            <a:spLocks noChangeArrowheads="1"/>
          </p:cNvSpPr>
          <p:nvPr/>
        </p:nvSpPr>
        <p:spPr bwMode="auto">
          <a:xfrm>
            <a:off x="411930" y="899089"/>
            <a:ext cx="3673475" cy="461962"/>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电子和空穴的准费米势：</a:t>
            </a:r>
          </a:p>
        </p:txBody>
      </p:sp>
    </p:spTree>
    <p:extLst>
      <p:ext uri="{BB962C8B-B14F-4D97-AF65-F5344CB8AC3E}">
        <p14:creationId xmlns:p14="http://schemas.microsoft.com/office/powerpoint/2010/main" val="108850280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55</a:t>
            </a:fld>
            <a:endParaRPr lang="zh-CN" altLang="en-US"/>
          </a:p>
        </p:txBody>
      </p:sp>
      <p:sp>
        <p:nvSpPr>
          <p:cNvPr id="3" name="Text Box 3"/>
          <p:cNvSpPr txBox="1">
            <a:spLocks noChangeArrowheads="1"/>
          </p:cNvSpPr>
          <p:nvPr/>
        </p:nvSpPr>
        <p:spPr bwMode="auto">
          <a:xfrm>
            <a:off x="323441" y="427969"/>
            <a:ext cx="5015475" cy="566309"/>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en-US" altLang="zh-CN" sz="2800" b="1" dirty="0" smtClean="0">
                <a:solidFill>
                  <a:srgbClr val="FF6600"/>
                </a:solidFill>
                <a:effectLst>
                  <a:outerShdw blurRad="38100" dist="38100" dir="2700000" algn="tl">
                    <a:srgbClr val="C0C0C0"/>
                  </a:outerShdw>
                </a:effectLst>
                <a:latin typeface="Times New Roman" pitchFamily="18" charset="0"/>
                <a:ea typeface="宋体" pitchFamily="2" charset="-122"/>
              </a:rPr>
              <a:t>3. </a:t>
            </a: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基本方程</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
        <p:nvSpPr>
          <p:cNvPr id="4" name="AutoShape 9"/>
          <p:cNvSpPr>
            <a:spLocks noChangeArrowheads="1"/>
          </p:cNvSpPr>
          <p:nvPr/>
        </p:nvSpPr>
        <p:spPr bwMode="auto">
          <a:xfrm>
            <a:off x="1238250" y="1773238"/>
            <a:ext cx="2074863" cy="835025"/>
          </a:xfrm>
          <a:prstGeom prst="bevel">
            <a:avLst>
              <a:gd name="adj" fmla="val 12500"/>
            </a:avLst>
          </a:prstGeom>
          <a:solidFill>
            <a:srgbClr val="66FF66"/>
          </a:solidFill>
          <a:ln w="12700" cap="sq">
            <a:noFill/>
            <a:miter lim="800000"/>
            <a:headEnd type="none" w="sm" len="sm"/>
            <a:tailEnd type="none" w="sm" len="sm"/>
          </a:ln>
        </p:spPr>
        <p:txBody>
          <a:bodyPr>
            <a:spAutoFit/>
          </a:bodyPr>
          <a:lstStyle/>
          <a:p>
            <a:pPr defTabSz="914400" fontAlgn="base">
              <a:lnSpc>
                <a:spcPct val="130000"/>
              </a:lnSpc>
              <a:spcBef>
                <a:spcPct val="50000"/>
              </a:spcBef>
              <a:spcAft>
                <a:spcPct val="0"/>
              </a:spcAft>
            </a:pPr>
            <a:r>
              <a:rPr kumimoji="1" lang="en-US" altLang="zh-CN" sz="2800" b="1">
                <a:solidFill>
                  <a:srgbClr val="FFFFFF"/>
                </a:solidFill>
                <a:latin typeface="Times New Roman" pitchFamily="18" charset="0"/>
                <a:ea typeface="宋体" charset="-122"/>
              </a:rPr>
              <a:t> </a:t>
            </a:r>
            <a:r>
              <a:rPr kumimoji="1" lang="zh-CN" altLang="en-US" sz="2800" b="1">
                <a:solidFill>
                  <a:srgbClr val="FFFFFF"/>
                </a:solidFill>
                <a:latin typeface="Times New Roman" pitchFamily="18" charset="0"/>
                <a:ea typeface="宋体" charset="-122"/>
              </a:rPr>
              <a:t>泊松方程 </a:t>
            </a:r>
          </a:p>
        </p:txBody>
      </p:sp>
      <p:sp>
        <p:nvSpPr>
          <p:cNvPr id="5" name="AutoShape 10"/>
          <p:cNvSpPr>
            <a:spLocks noChangeArrowheads="1"/>
          </p:cNvSpPr>
          <p:nvPr/>
        </p:nvSpPr>
        <p:spPr bwMode="auto">
          <a:xfrm>
            <a:off x="3862388" y="2038350"/>
            <a:ext cx="1066800" cy="304800"/>
          </a:xfrm>
          <a:prstGeom prst="leftRightArrow">
            <a:avLst>
              <a:gd name="adj1" fmla="val 50000"/>
              <a:gd name="adj2" fmla="val 70000"/>
            </a:avLst>
          </a:prstGeom>
          <a:solidFill>
            <a:srgbClr val="00E4A8"/>
          </a:solidFill>
          <a:ln w="12700" cap="sq">
            <a:solidFill>
              <a:srgbClr val="000000"/>
            </a:solidFill>
            <a:miter lim="800000"/>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6" name="AutoShape 11"/>
          <p:cNvSpPr>
            <a:spLocks noChangeArrowheads="1"/>
          </p:cNvSpPr>
          <p:nvPr/>
        </p:nvSpPr>
        <p:spPr bwMode="auto">
          <a:xfrm>
            <a:off x="5462588" y="1858963"/>
            <a:ext cx="1933575" cy="661987"/>
          </a:xfrm>
          <a:prstGeom prst="roundRect">
            <a:avLst>
              <a:gd name="adj" fmla="val 16667"/>
            </a:avLst>
          </a:prstGeom>
          <a:solidFill>
            <a:srgbClr val="66FF66"/>
          </a:solidFill>
          <a:ln w="12700" cap="sq">
            <a:noFill/>
            <a:round/>
            <a:headEnd type="none" w="sm" len="sm"/>
            <a:tailEnd type="none" w="sm" len="sm"/>
          </a:ln>
          <a:effectLst>
            <a:outerShdw dist="107763" dir="18900000" algn="ctr" rotWithShape="0">
              <a:srgbClr val="1C1C1C"/>
            </a:outerShdw>
          </a:effectLst>
        </p:spPr>
        <p:txBody>
          <a:bodyPr>
            <a:spAutoFit/>
          </a:bodyPr>
          <a:lstStyle/>
          <a:p>
            <a:pPr marL="0" marR="0" lvl="0" indent="0" defTabSz="914400" eaLnBrk="1" fontAlgn="base" latinLnBrk="0" hangingPunct="1">
              <a:lnSpc>
                <a:spcPct val="120000"/>
              </a:lnSpc>
              <a:spcBef>
                <a:spcPct val="50000"/>
              </a:spcBef>
              <a:spcAft>
                <a:spcPct val="0"/>
              </a:spcAft>
              <a:buClrTx/>
              <a:buSzTx/>
              <a:buFontTx/>
              <a:buNone/>
              <a:tabLst/>
              <a:defRPr/>
            </a:pPr>
            <a:r>
              <a:rPr kumimoji="1" lang="en-US" altLang="zh-CN" sz="2800" b="1" i="0" u="none" strike="noStrike" kern="0" cap="none" spc="0" normalizeH="0" baseline="0" noProof="0" smtClean="0">
                <a:ln>
                  <a:noFill/>
                </a:ln>
                <a:solidFill>
                  <a:srgbClr val="FFFFFF"/>
                </a:solidFill>
                <a:effectLst/>
                <a:uLnTx/>
                <a:uFillTx/>
                <a:latin typeface="Times New Roman" pitchFamily="18" charset="0"/>
                <a:ea typeface="宋体" charset="-122"/>
              </a:rPr>
              <a:t> </a:t>
            </a:r>
            <a:r>
              <a:rPr kumimoji="1" lang="zh-CN" altLang="en-US" sz="2800" b="1" i="0" u="none" strike="noStrike" kern="0" cap="none" spc="0" normalizeH="0" baseline="0" noProof="0" smtClean="0">
                <a:ln>
                  <a:noFill/>
                </a:ln>
                <a:solidFill>
                  <a:srgbClr val="FFFFFF"/>
                </a:solidFill>
                <a:effectLst/>
                <a:uLnTx/>
                <a:uFillTx/>
                <a:latin typeface="Times New Roman" pitchFamily="18" charset="0"/>
                <a:ea typeface="宋体" charset="-122"/>
              </a:rPr>
              <a:t>高斯定律 </a:t>
            </a:r>
          </a:p>
        </p:txBody>
      </p:sp>
      <p:sp>
        <p:nvSpPr>
          <p:cNvPr id="7" name="Text Box 12"/>
          <p:cNvSpPr txBox="1">
            <a:spLocks noChangeArrowheads="1"/>
          </p:cNvSpPr>
          <p:nvPr/>
        </p:nvSpPr>
        <p:spPr bwMode="auto">
          <a:xfrm>
            <a:off x="2260600" y="3133725"/>
            <a:ext cx="4319588" cy="871538"/>
          </a:xfrm>
          <a:prstGeom prst="rect">
            <a:avLst/>
          </a:prstGeom>
          <a:noFill/>
          <a:ln w="12700" cap="sq">
            <a:solidFill>
              <a:srgbClr val="FFCF01"/>
            </a:solidFill>
            <a:miter lim="800000"/>
            <a:headEnd type="none" w="sm" len="sm"/>
            <a:tailEnd type="none" w="sm" len="sm"/>
          </a:ln>
        </p:spPr>
        <p:txBody>
          <a:bodyPr>
            <a:spAutoFit/>
          </a:bodyPr>
          <a:lstStyle/>
          <a:p>
            <a:pPr marL="0" marR="0" lvl="0" indent="0" algn="ctr" defTabSz="914400" eaLnBrk="1" fontAlgn="base" latinLnBrk="0" hangingPunct="1">
              <a:lnSpc>
                <a:spcPct val="110000"/>
              </a:lnSpc>
              <a:spcBef>
                <a:spcPct val="50000"/>
              </a:spcBef>
              <a:spcAft>
                <a:spcPct val="0"/>
              </a:spcAft>
              <a:buClrTx/>
              <a:buSzTx/>
              <a:buFontTx/>
              <a:buNone/>
              <a:tabLst/>
              <a:defRPr/>
            </a:pP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描述半导体中静电势的变化规律及其与电荷分布的依赖关系</a:t>
            </a:r>
          </a:p>
        </p:txBody>
      </p:sp>
      <p:sp>
        <p:nvSpPr>
          <p:cNvPr id="8" name="AutoShape 13"/>
          <p:cNvSpPr>
            <a:spLocks noChangeArrowheads="1"/>
          </p:cNvSpPr>
          <p:nvPr/>
        </p:nvSpPr>
        <p:spPr bwMode="auto">
          <a:xfrm>
            <a:off x="4305300" y="2343150"/>
            <a:ext cx="228600" cy="609600"/>
          </a:xfrm>
          <a:prstGeom prst="downArrow">
            <a:avLst>
              <a:gd name="adj1" fmla="val 50000"/>
              <a:gd name="adj2" fmla="val 66667"/>
            </a:avLst>
          </a:prstGeom>
          <a:solidFill>
            <a:srgbClr val="66FF66"/>
          </a:solidFill>
          <a:ln w="12700" cap="sq">
            <a:solidFill>
              <a:srgbClr val="000000"/>
            </a:solidFill>
            <a:miter lim="800000"/>
            <a:headEnd type="none" w="sm" len="sm"/>
            <a:tailEnd type="none" w="sm" len="sm"/>
          </a:ln>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9" name="Text Box 14"/>
          <p:cNvSpPr txBox="1">
            <a:spLocks noChangeArrowheads="1"/>
          </p:cNvSpPr>
          <p:nvPr/>
        </p:nvSpPr>
        <p:spPr bwMode="auto">
          <a:xfrm>
            <a:off x="927100" y="4406900"/>
            <a:ext cx="2667000" cy="822325"/>
          </a:xfrm>
          <a:prstGeom prst="rect">
            <a:avLst/>
          </a:prstGeom>
          <a:noFill/>
          <a:ln w="12700" cap="sq">
            <a:noFill/>
            <a:miter lim="800000"/>
            <a:headEnd type="none" w="sm" len="sm"/>
            <a:tailEnd type="none" w="sm" len="sm"/>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静电势由本征费米能级</a:t>
            </a:r>
            <a:r>
              <a:rPr kumimoji="1" lang="en-US" altLang="zh-CN" sz="2400" b="1" i="1">
                <a:solidFill>
                  <a:srgbClr val="000000"/>
                </a:solidFill>
                <a:latin typeface="Times New Roman" pitchFamily="18" charset="0"/>
                <a:ea typeface="宋体" charset="-122"/>
              </a:rPr>
              <a:t>E</a:t>
            </a:r>
            <a:r>
              <a:rPr kumimoji="1" lang="en-US" altLang="zh-CN" sz="2400" b="1" i="1" baseline="-25000">
                <a:solidFill>
                  <a:srgbClr val="000000"/>
                </a:solidFill>
                <a:latin typeface="Times New Roman" pitchFamily="18" charset="0"/>
                <a:ea typeface="宋体" charset="-122"/>
              </a:rPr>
              <a:t>i</a:t>
            </a:r>
            <a:r>
              <a:rPr kumimoji="1" lang="zh-CN" altLang="zh-CN" sz="2400" b="1">
                <a:solidFill>
                  <a:srgbClr val="000000"/>
                </a:solidFill>
                <a:latin typeface="Times New Roman" pitchFamily="18" charset="0"/>
                <a:ea typeface="宋体" charset="-122"/>
              </a:rPr>
              <a:t>的变化决定</a:t>
            </a:r>
            <a:endParaRPr kumimoji="1" lang="zh-CN" altLang="en-US" sz="2400" b="1">
              <a:solidFill>
                <a:srgbClr val="000000"/>
              </a:solidFill>
              <a:latin typeface="Times New Roman" pitchFamily="18" charset="0"/>
              <a:ea typeface="宋体" charset="-122"/>
            </a:endParaRPr>
          </a:p>
        </p:txBody>
      </p:sp>
      <p:graphicFrame>
        <p:nvGraphicFramePr>
          <p:cNvPr id="10" name="Object 15"/>
          <p:cNvGraphicFramePr>
            <a:graphicFrameLocks noChangeAspect="1"/>
          </p:cNvGraphicFramePr>
          <p:nvPr/>
        </p:nvGraphicFramePr>
        <p:xfrm>
          <a:off x="4643438" y="2066925"/>
          <a:ext cx="112712" cy="214313"/>
        </p:xfrm>
        <a:graphic>
          <a:graphicData uri="http://schemas.openxmlformats.org/presentationml/2006/ole">
            <mc:AlternateContent xmlns:mc="http://schemas.openxmlformats.org/markup-compatibility/2006">
              <mc:Choice xmlns:v="urn:schemas-microsoft-com:vml" Requires="v">
                <p:oleObj spid="_x0000_s35872" name="公式" r:id="rId3" imgW="114151" imgH="215619" progId="Equation.3">
                  <p:embed/>
                </p:oleObj>
              </mc:Choice>
              <mc:Fallback>
                <p:oleObj name="公式" r:id="rId3" imgW="114151" imgH="215619" progId="Equation.3">
                  <p:embed/>
                  <p:pic>
                    <p:nvPicPr>
                      <p:cNvPr id="10343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2066925"/>
                        <a:ext cx="112712"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6"/>
          <p:cNvGraphicFramePr>
            <a:graphicFrameLocks noChangeAspect="1"/>
          </p:cNvGraphicFramePr>
          <p:nvPr/>
        </p:nvGraphicFramePr>
        <p:xfrm>
          <a:off x="3692525" y="4337050"/>
          <a:ext cx="1670050" cy="1004888"/>
        </p:xfrm>
        <a:graphic>
          <a:graphicData uri="http://schemas.openxmlformats.org/presentationml/2006/ole">
            <mc:AlternateContent xmlns:mc="http://schemas.openxmlformats.org/markup-compatibility/2006">
              <mc:Choice xmlns:v="urn:schemas-microsoft-com:vml" Requires="v">
                <p:oleObj spid="_x0000_s35873" name="Equation" r:id="rId5" imgW="596900" imgH="419100" progId="Equation.3">
                  <p:embed/>
                </p:oleObj>
              </mc:Choice>
              <mc:Fallback>
                <p:oleObj name="Equation" r:id="rId5" imgW="596900" imgH="419100" progId="Equation.3">
                  <p:embed/>
                  <p:pic>
                    <p:nvPicPr>
                      <p:cNvPr id="103439"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2525" y="4337050"/>
                        <a:ext cx="1670050" cy="1004888"/>
                      </a:xfrm>
                      <a:prstGeom prst="rect">
                        <a:avLst/>
                      </a:prstGeom>
                      <a:solidFill>
                        <a:srgbClr val="CCFFCC"/>
                      </a:solidFill>
                    </p:spPr>
                  </p:pic>
                </p:oleObj>
              </mc:Fallback>
            </mc:AlternateContent>
          </a:graphicData>
        </a:graphic>
      </p:graphicFrame>
      <p:sp>
        <p:nvSpPr>
          <p:cNvPr id="12" name="AutoShape 17"/>
          <p:cNvSpPr>
            <a:spLocks noChangeArrowheads="1"/>
          </p:cNvSpPr>
          <p:nvPr/>
        </p:nvSpPr>
        <p:spPr bwMode="auto">
          <a:xfrm>
            <a:off x="6394450" y="4489450"/>
            <a:ext cx="2209800" cy="1066800"/>
          </a:xfrm>
          <a:prstGeom prst="wedgeRoundRectCallout">
            <a:avLst>
              <a:gd name="adj1" fmla="val -97056"/>
              <a:gd name="adj2" fmla="val -28870"/>
              <a:gd name="adj3" fmla="val 16667"/>
            </a:avLst>
          </a:prstGeom>
          <a:solidFill>
            <a:srgbClr val="CCFFCC"/>
          </a:solidFill>
          <a:ln w="12700" cap="sq">
            <a:solidFill>
              <a:srgbClr val="FFCF01"/>
            </a:solidFill>
            <a:miter lim="800000"/>
            <a:headEnd type="none" w="sm" len="sm"/>
            <a:tailEnd type="none" w="sm" len="sm"/>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zh-CN" sz="2400" b="1" i="0" u="none" strike="noStrike" kern="0" cap="none" spc="0" normalizeH="0" baseline="0" noProof="0" smtClean="0">
                <a:ln>
                  <a:noFill/>
                </a:ln>
                <a:solidFill>
                  <a:srgbClr val="000000"/>
                </a:solidFill>
                <a:effectLst/>
                <a:uLnTx/>
                <a:uFillTx/>
                <a:latin typeface="Times New Roman" pitchFamily="18" charset="0"/>
                <a:ea typeface="宋体" charset="-122"/>
              </a:rPr>
              <a:t>能带向下弯，</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zh-CN" sz="2400" b="1" i="0" u="none" strike="noStrike" kern="0" cap="none" spc="0" normalizeH="0" baseline="0" noProof="0" smtClean="0">
                <a:ln>
                  <a:noFill/>
                </a:ln>
                <a:solidFill>
                  <a:srgbClr val="000000"/>
                </a:solidFill>
                <a:effectLst/>
                <a:uLnTx/>
                <a:uFillTx/>
                <a:latin typeface="Times New Roman" pitchFamily="18" charset="0"/>
                <a:ea typeface="宋体" charset="-122"/>
              </a:rPr>
              <a:t>静电势增加</a:t>
            </a:r>
            <a:endPar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Tree>
    <p:extLst>
      <p:ext uri="{BB962C8B-B14F-4D97-AF65-F5344CB8AC3E}">
        <p14:creationId xmlns:p14="http://schemas.microsoft.com/office/powerpoint/2010/main" val="42579066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56</a:t>
            </a:fld>
            <a:endParaRPr lang="zh-CN" altLang="en-US"/>
          </a:p>
        </p:txBody>
      </p:sp>
      <p:grpSp>
        <p:nvGrpSpPr>
          <p:cNvPr id="3" name="Group 8"/>
          <p:cNvGrpSpPr>
            <a:grpSpLocks/>
          </p:cNvGrpSpPr>
          <p:nvPr/>
        </p:nvGrpSpPr>
        <p:grpSpPr bwMode="auto">
          <a:xfrm>
            <a:off x="685800" y="1412875"/>
            <a:ext cx="5416550" cy="1122363"/>
            <a:chOff x="476" y="288"/>
            <a:chExt cx="3226" cy="707"/>
          </a:xfrm>
        </p:grpSpPr>
        <p:sp>
          <p:nvSpPr>
            <p:cNvPr id="4" name="Text Box 9"/>
            <p:cNvSpPr txBox="1">
              <a:spLocks noChangeArrowheads="1"/>
            </p:cNvSpPr>
            <p:nvPr/>
          </p:nvSpPr>
          <p:spPr bwMode="auto">
            <a:xfrm>
              <a:off x="476" y="432"/>
              <a:ext cx="1178" cy="296"/>
            </a:xfrm>
            <a:prstGeom prst="rect">
              <a:avLst/>
            </a:prstGeom>
            <a:noFill/>
            <a:ln w="12700" cap="sq">
              <a:solidFill>
                <a:srgbClr val="FFCF01"/>
              </a:solidFill>
              <a:miter lim="800000"/>
              <a:headEnd type="none" w="sm" len="sm"/>
              <a:tailEnd type="none" w="sm" len="sm"/>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方程的形式</a:t>
              </a:r>
              <a:r>
                <a:rPr kumimoji="1" lang="en-US" altLang="zh-CN" sz="2400" b="1" i="0" u="none" strike="noStrike" kern="0" cap="none" spc="0" normalizeH="0" baseline="0" noProof="0" smtClean="0">
                  <a:ln>
                    <a:noFill/>
                  </a:ln>
                  <a:solidFill>
                    <a:srgbClr val="000000"/>
                  </a:solidFill>
                  <a:effectLst/>
                  <a:uLnTx/>
                  <a:uFillTx/>
                  <a:latin typeface="Times New Roman" pitchFamily="18" charset="0"/>
                  <a:ea typeface="宋体" charset="-122"/>
                </a:rPr>
                <a:t>1</a:t>
              </a:r>
            </a:p>
          </p:txBody>
        </p:sp>
        <p:graphicFrame>
          <p:nvGraphicFramePr>
            <p:cNvPr id="5" name="Object 10"/>
            <p:cNvGraphicFramePr>
              <a:graphicFrameLocks noChangeAspect="1"/>
            </p:cNvGraphicFramePr>
            <p:nvPr/>
          </p:nvGraphicFramePr>
          <p:xfrm>
            <a:off x="1872" y="288"/>
            <a:ext cx="1830" cy="707"/>
          </p:xfrm>
          <a:graphic>
            <a:graphicData uri="http://schemas.openxmlformats.org/presentationml/2006/ole">
              <mc:AlternateContent xmlns:mc="http://schemas.openxmlformats.org/markup-compatibility/2006">
                <mc:Choice xmlns:v="urn:schemas-microsoft-com:vml" Requires="v">
                  <p:oleObj spid="_x0000_s36911" name="Equation" r:id="rId3" imgW="1117600" imgH="431800" progId="Equation.3">
                    <p:embed/>
                  </p:oleObj>
                </mc:Choice>
                <mc:Fallback>
                  <p:oleObj name="Equation" r:id="rId3" imgW="1117600" imgH="431800" progId="Equation.3">
                    <p:embed/>
                    <p:pic>
                      <p:nvPicPr>
                        <p:cNvPr id="104469"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 y="288"/>
                          <a:ext cx="1830" cy="707"/>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11"/>
          <p:cNvGrpSpPr>
            <a:grpSpLocks/>
          </p:cNvGrpSpPr>
          <p:nvPr/>
        </p:nvGrpSpPr>
        <p:grpSpPr bwMode="auto">
          <a:xfrm>
            <a:off x="593725" y="2754313"/>
            <a:ext cx="5464175" cy="1155700"/>
            <a:chOff x="444" y="1296"/>
            <a:chExt cx="3300" cy="728"/>
          </a:xfrm>
        </p:grpSpPr>
        <p:sp>
          <p:nvSpPr>
            <p:cNvPr id="7" name="Text Box 12"/>
            <p:cNvSpPr txBox="1">
              <a:spLocks noChangeArrowheads="1"/>
            </p:cNvSpPr>
            <p:nvPr/>
          </p:nvSpPr>
          <p:spPr bwMode="auto">
            <a:xfrm>
              <a:off x="444" y="1456"/>
              <a:ext cx="1180" cy="296"/>
            </a:xfrm>
            <a:prstGeom prst="rect">
              <a:avLst/>
            </a:prstGeom>
            <a:noFill/>
            <a:ln w="12700" cap="sq">
              <a:solidFill>
                <a:srgbClr val="FFCF01"/>
              </a:solidFill>
              <a:miter lim="800000"/>
              <a:headEnd type="none" w="sm" len="sm"/>
              <a:tailEnd type="none" w="sm" len="sm"/>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方程的形式</a:t>
              </a:r>
              <a:r>
                <a:rPr kumimoji="1" lang="en-US" altLang="zh-CN" sz="2400" b="1" i="0" u="none" strike="noStrike" kern="0" cap="none" spc="0" normalizeH="0" baseline="0" noProof="0" smtClean="0">
                  <a:ln>
                    <a:noFill/>
                  </a:ln>
                  <a:solidFill>
                    <a:srgbClr val="000000"/>
                  </a:solidFill>
                  <a:effectLst/>
                  <a:uLnTx/>
                  <a:uFillTx/>
                  <a:latin typeface="Times New Roman" pitchFamily="18" charset="0"/>
                  <a:ea typeface="宋体" charset="-122"/>
                </a:rPr>
                <a:t>2</a:t>
              </a:r>
            </a:p>
          </p:txBody>
        </p:sp>
        <p:graphicFrame>
          <p:nvGraphicFramePr>
            <p:cNvPr id="8" name="Object 13"/>
            <p:cNvGraphicFramePr>
              <a:graphicFrameLocks noChangeAspect="1"/>
            </p:cNvGraphicFramePr>
            <p:nvPr/>
          </p:nvGraphicFramePr>
          <p:xfrm>
            <a:off x="1831" y="1296"/>
            <a:ext cx="1913" cy="728"/>
          </p:xfrm>
          <a:graphic>
            <a:graphicData uri="http://schemas.openxmlformats.org/presentationml/2006/ole">
              <mc:AlternateContent xmlns:mc="http://schemas.openxmlformats.org/markup-compatibility/2006">
                <mc:Choice xmlns:v="urn:schemas-microsoft-com:vml" Requires="v">
                  <p:oleObj spid="_x0000_s36912" name="Equation" r:id="rId5" imgW="1167893" imgH="444307" progId="Equation.DSMT4">
                    <p:embed/>
                  </p:oleObj>
                </mc:Choice>
                <mc:Fallback>
                  <p:oleObj name="Equation" r:id="rId5" imgW="1167893" imgH="444307" progId="Equation.DSMT4">
                    <p:embed/>
                    <p:pic>
                      <p:nvPicPr>
                        <p:cNvPr id="104467"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1" y="1296"/>
                          <a:ext cx="1913" cy="728"/>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 name="Group 14"/>
          <p:cNvGrpSpPr>
            <a:grpSpLocks/>
          </p:cNvGrpSpPr>
          <p:nvPr/>
        </p:nvGrpSpPr>
        <p:grpSpPr bwMode="auto">
          <a:xfrm>
            <a:off x="755650" y="4076700"/>
            <a:ext cx="5657850" cy="1414463"/>
            <a:chOff x="444" y="2315"/>
            <a:chExt cx="3564" cy="891"/>
          </a:xfrm>
        </p:grpSpPr>
        <p:sp>
          <p:nvSpPr>
            <p:cNvPr id="10" name="Text Box 15"/>
            <p:cNvSpPr txBox="1">
              <a:spLocks noChangeArrowheads="1"/>
            </p:cNvSpPr>
            <p:nvPr/>
          </p:nvSpPr>
          <p:spPr bwMode="auto">
            <a:xfrm>
              <a:off x="444" y="2359"/>
              <a:ext cx="508" cy="756"/>
            </a:xfrm>
            <a:prstGeom prst="rect">
              <a:avLst/>
            </a:prstGeom>
            <a:noFill/>
            <a:ln w="12700" cap="sq">
              <a:solidFill>
                <a:srgbClr val="FFCF01"/>
              </a:solidFill>
              <a:miter lim="800000"/>
              <a:headEnd type="none" w="sm" len="sm"/>
              <a:tailEnd type="none" w="sm" len="sm"/>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电荷密度</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1" u="none" strike="noStrike" kern="0" cap="none" spc="0" normalizeH="0" baseline="0" noProof="0" smtClean="0">
                  <a:ln>
                    <a:noFill/>
                  </a:ln>
                  <a:solidFill>
                    <a:srgbClr val="000000"/>
                  </a:solidFill>
                  <a:effectLst/>
                  <a:uLnTx/>
                  <a:uFillTx/>
                  <a:latin typeface="Times New Roman" pitchFamily="18" charset="0"/>
                  <a:ea typeface="宋体" charset="-122"/>
                  <a:cs typeface="Times New Roman" pitchFamily="18" charset="0"/>
                  <a:sym typeface="Symbol" pitchFamily="18" charset="2"/>
                </a:rPr>
                <a:t></a:t>
              </a:r>
              <a:r>
                <a:rPr kumimoji="1" lang="en-US" altLang="zh-CN" sz="2400" b="1" i="1" u="none" strike="noStrike" kern="0" cap="none" spc="0" normalizeH="0" baseline="0" noProof="0" smtClean="0">
                  <a:ln>
                    <a:noFill/>
                  </a:ln>
                  <a:solidFill>
                    <a:srgbClr val="000000"/>
                  </a:solidFill>
                  <a:effectLst/>
                  <a:uLnTx/>
                  <a:uFillTx/>
                  <a:latin typeface="Times New Roman" pitchFamily="18" charset="0"/>
                  <a:ea typeface="宋体" charset="-122"/>
                  <a:cs typeface="Times New Roman" pitchFamily="18" charset="0"/>
                  <a:sym typeface="Symbol" pitchFamily="18" charset="2"/>
                </a:rPr>
                <a:t>(x)</a:t>
              </a:r>
              <a:endParaRPr kumimoji="1" lang="en-US" altLang="zh-CN" sz="2400" b="1" i="1" u="none" strike="noStrike" kern="0" cap="none" spc="0" normalizeH="0" baseline="0" noProof="0" smtClean="0">
                <a:ln>
                  <a:noFill/>
                </a:ln>
                <a:solidFill>
                  <a:srgbClr val="000000"/>
                </a:solidFill>
                <a:effectLst/>
                <a:uLnTx/>
                <a:uFillTx/>
                <a:latin typeface="Times New Roman" pitchFamily="18" charset="0"/>
                <a:ea typeface="宋体" charset="-122"/>
                <a:cs typeface="Times New Roman" pitchFamily="18" charset="0"/>
              </a:endParaRPr>
            </a:p>
          </p:txBody>
        </p:sp>
        <p:sp>
          <p:nvSpPr>
            <p:cNvPr id="11" name="AutoShape 16"/>
            <p:cNvSpPr>
              <a:spLocks noChangeArrowheads="1"/>
            </p:cNvSpPr>
            <p:nvPr/>
          </p:nvSpPr>
          <p:spPr bwMode="auto">
            <a:xfrm>
              <a:off x="1008" y="2382"/>
              <a:ext cx="288" cy="144"/>
            </a:xfrm>
            <a:prstGeom prst="rightArrow">
              <a:avLst>
                <a:gd name="adj1" fmla="val 50000"/>
                <a:gd name="adj2" fmla="val 50000"/>
              </a:avLst>
            </a:prstGeom>
            <a:solidFill>
              <a:srgbClr val="00E4A8"/>
            </a:solidFill>
            <a:ln w="12700" cap="sq">
              <a:solidFill>
                <a:srgbClr val="000000"/>
              </a:solidFill>
              <a:miter lim="800000"/>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12" name="Text Box 17"/>
            <p:cNvSpPr txBox="1">
              <a:spLocks noChangeArrowheads="1"/>
            </p:cNvSpPr>
            <p:nvPr/>
          </p:nvSpPr>
          <p:spPr bwMode="auto">
            <a:xfrm>
              <a:off x="1505" y="2315"/>
              <a:ext cx="2080" cy="526"/>
            </a:xfrm>
            <a:prstGeom prst="rect">
              <a:avLst/>
            </a:prstGeom>
            <a:noFill/>
            <a:ln w="12700" cap="sq">
              <a:solidFill>
                <a:srgbClr val="FFCF01"/>
              </a:solidFill>
              <a:miter lim="800000"/>
              <a:headEnd type="none" w="sm" len="sm"/>
              <a:tailEnd type="none" w="sm" len="sm"/>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可动的 －载流子（</a:t>
              </a:r>
              <a:r>
                <a:rPr kumimoji="1" lang="en-US" altLang="zh-CN" sz="2400" b="1" i="1" u="none" strike="noStrike" kern="0" cap="none" spc="0" normalizeH="0" baseline="0" noProof="0" smtClean="0">
                  <a:ln>
                    <a:noFill/>
                  </a:ln>
                  <a:solidFill>
                    <a:srgbClr val="000000"/>
                  </a:solidFill>
                  <a:effectLst/>
                  <a:uLnTx/>
                  <a:uFillTx/>
                  <a:latin typeface="Times New Roman" pitchFamily="18" charset="0"/>
                  <a:ea typeface="宋体" charset="-122"/>
                  <a:cs typeface="Times New Roman" pitchFamily="18" charset="0"/>
                </a:rPr>
                <a:t>n</a:t>
              </a:r>
              <a:r>
                <a:rPr kumimoji="1" lang="en-US" altLang="zh-CN" sz="2400" b="1" i="0" u="none" strike="noStrike" kern="0" cap="none" spc="0" normalizeH="0" baseline="0" noProof="0" smtClean="0">
                  <a:ln>
                    <a:noFill/>
                  </a:ln>
                  <a:solidFill>
                    <a:srgbClr val="000000"/>
                  </a:solidFill>
                  <a:effectLst/>
                  <a:uLnTx/>
                  <a:uFillTx/>
                  <a:latin typeface="Times New Roman" pitchFamily="18" charset="0"/>
                  <a:ea typeface="宋体" charset="-122"/>
                  <a:cs typeface="Times New Roman" pitchFamily="18" charset="0"/>
                </a:rPr>
                <a:t>,</a:t>
              </a:r>
              <a:r>
                <a:rPr kumimoji="1" lang="en-US" altLang="zh-CN" sz="2400" b="1" i="1" u="none" strike="noStrike" kern="0" cap="none" spc="0" normalizeH="0" baseline="0" noProof="0" smtClean="0">
                  <a:ln>
                    <a:noFill/>
                  </a:ln>
                  <a:solidFill>
                    <a:srgbClr val="000000"/>
                  </a:solidFill>
                  <a:effectLst/>
                  <a:uLnTx/>
                  <a:uFillTx/>
                  <a:latin typeface="Times New Roman" pitchFamily="18" charset="0"/>
                  <a:ea typeface="宋体" charset="-122"/>
                  <a:cs typeface="Times New Roman" pitchFamily="18" charset="0"/>
                </a:rPr>
                <a:t>p</a:t>
              </a: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a:t>
              </a:r>
              <a:endParaRPr kumimoji="1" lang="en-US" altLang="zh-CN" sz="2400" b="1"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13" name="AutoShape 18"/>
            <p:cNvSpPr>
              <a:spLocks noChangeArrowheads="1"/>
            </p:cNvSpPr>
            <p:nvPr/>
          </p:nvSpPr>
          <p:spPr bwMode="auto">
            <a:xfrm>
              <a:off x="1008" y="2976"/>
              <a:ext cx="288" cy="144"/>
            </a:xfrm>
            <a:prstGeom prst="rightArrow">
              <a:avLst>
                <a:gd name="adj1" fmla="val 50000"/>
                <a:gd name="adj2" fmla="val 50000"/>
              </a:avLst>
            </a:prstGeom>
            <a:solidFill>
              <a:srgbClr val="00E4A8"/>
            </a:solidFill>
            <a:ln w="12700" cap="sq">
              <a:solidFill>
                <a:srgbClr val="000000"/>
              </a:solidFill>
              <a:miter lim="800000"/>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14" name="Text Box 19"/>
            <p:cNvSpPr txBox="1">
              <a:spLocks noChangeArrowheads="1"/>
            </p:cNvSpPr>
            <p:nvPr/>
          </p:nvSpPr>
          <p:spPr bwMode="auto">
            <a:xfrm>
              <a:off x="1514" y="2913"/>
              <a:ext cx="2494" cy="293"/>
            </a:xfrm>
            <a:prstGeom prst="rect">
              <a:avLst/>
            </a:prstGeom>
            <a:noFill/>
            <a:ln w="12700" cap="sq">
              <a:solidFill>
                <a:srgbClr val="FFCF01"/>
              </a:solidFill>
              <a:miter lim="800000"/>
              <a:headEnd type="none" w="sm" len="sm"/>
              <a:tailEnd type="none" w="sm" len="sm"/>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固定的 －电离的施主、受主</a:t>
              </a:r>
            </a:p>
          </p:txBody>
        </p:sp>
      </p:grpSp>
      <p:sp>
        <p:nvSpPr>
          <p:cNvPr id="15" name="Text Box 21"/>
          <p:cNvSpPr txBox="1">
            <a:spLocks noChangeArrowheads="1"/>
          </p:cNvSpPr>
          <p:nvPr/>
        </p:nvSpPr>
        <p:spPr bwMode="auto">
          <a:xfrm>
            <a:off x="6372225" y="1536700"/>
            <a:ext cx="2474913" cy="2311400"/>
          </a:xfrm>
          <a:prstGeom prst="rect">
            <a:avLst/>
          </a:prstGeom>
          <a:noFill/>
          <a:ln w="12700" cap="sq">
            <a:solidFill>
              <a:srgbClr val="FF0000"/>
            </a:solidFill>
            <a:miter lim="800000"/>
            <a:headEnd type="none" w="sm" len="sm"/>
            <a:tailEnd type="none" w="sm" len="sm"/>
          </a:ln>
        </p:spPr>
        <p:txBody>
          <a:bodyPr>
            <a:spAutoFit/>
          </a:bodyPr>
          <a:lstStyle/>
          <a:p>
            <a:pPr defTabSz="914400" fontAlgn="base">
              <a:spcBef>
                <a:spcPts val="1000"/>
              </a:spcBef>
              <a:spcAft>
                <a:spcPct val="0"/>
              </a:spcAft>
            </a:pPr>
            <a:r>
              <a:rPr kumimoji="1" lang="zh-CN" altLang="en-US" sz="2400" b="1">
                <a:solidFill>
                  <a:srgbClr val="000000"/>
                </a:solidFill>
                <a:latin typeface="Times New Roman" pitchFamily="18" charset="0"/>
                <a:ea typeface="宋体" charset="-122"/>
              </a:rPr>
              <a:t>特例：</a:t>
            </a:r>
          </a:p>
          <a:p>
            <a:pPr defTabSz="914400" fontAlgn="base">
              <a:spcBef>
                <a:spcPts val="1000"/>
              </a:spcBef>
              <a:spcAft>
                <a:spcPct val="0"/>
              </a:spcAft>
            </a:pPr>
            <a:r>
              <a:rPr kumimoji="1" lang="zh-CN" altLang="en-US" sz="2400" b="1">
                <a:solidFill>
                  <a:srgbClr val="000000"/>
                </a:solidFill>
                <a:latin typeface="Times New Roman" pitchFamily="18" charset="0"/>
                <a:ea typeface="宋体" charset="-122"/>
              </a:rPr>
              <a:t>均匀</a:t>
            </a:r>
            <a:r>
              <a:rPr kumimoji="1" lang="en-US" altLang="zh-CN" sz="2400" b="1">
                <a:solidFill>
                  <a:srgbClr val="000000"/>
                </a:solidFill>
                <a:latin typeface="Times New Roman" pitchFamily="18" charset="0"/>
                <a:ea typeface="宋体" charset="-122"/>
              </a:rPr>
              <a:t>Si</a:t>
            </a:r>
            <a:r>
              <a:rPr kumimoji="1" lang="zh-CN" altLang="zh-CN" sz="2400" b="1">
                <a:solidFill>
                  <a:srgbClr val="000000"/>
                </a:solidFill>
                <a:latin typeface="Times New Roman" pitchFamily="18" charset="0"/>
                <a:ea typeface="宋体" charset="-122"/>
              </a:rPr>
              <a:t>中，无外加偏压时，</a:t>
            </a:r>
          </a:p>
          <a:p>
            <a:pPr defTabSz="914400" fontAlgn="base">
              <a:spcBef>
                <a:spcPts val="1000"/>
              </a:spcBef>
              <a:spcAft>
                <a:spcPct val="0"/>
              </a:spcAft>
            </a:pPr>
            <a:r>
              <a:rPr kumimoji="1" lang="zh-CN" altLang="zh-CN" sz="2400" b="1">
                <a:solidFill>
                  <a:srgbClr val="000000"/>
                </a:solidFill>
                <a:latin typeface="Times New Roman" pitchFamily="18" charset="0"/>
                <a:ea typeface="宋体" charset="-122"/>
              </a:rPr>
              <a:t>方程</a:t>
            </a:r>
            <a:r>
              <a:rPr kumimoji="1" lang="en-US" altLang="zh-CN" sz="2400" b="1">
                <a:solidFill>
                  <a:srgbClr val="000000"/>
                </a:solidFill>
                <a:latin typeface="Times New Roman" pitchFamily="18" charset="0"/>
                <a:ea typeface="宋体" charset="-122"/>
              </a:rPr>
              <a:t> RHS</a:t>
            </a:r>
            <a:r>
              <a:rPr kumimoji="1" lang="zh-CN" altLang="en-US" sz="2400" b="1">
                <a:solidFill>
                  <a:srgbClr val="000000"/>
                </a:solidFill>
                <a:latin typeface="Times New Roman" pitchFamily="18" charset="0"/>
                <a:ea typeface="宋体" charset="-122"/>
              </a:rPr>
              <a:t>＝</a:t>
            </a:r>
            <a:r>
              <a:rPr kumimoji="1" lang="en-US" altLang="zh-CN" sz="2400" b="1">
                <a:solidFill>
                  <a:srgbClr val="000000"/>
                </a:solidFill>
                <a:latin typeface="Times New Roman" pitchFamily="18" charset="0"/>
                <a:ea typeface="宋体" charset="-122"/>
              </a:rPr>
              <a:t>0</a:t>
            </a:r>
            <a:r>
              <a:rPr kumimoji="1" lang="zh-CN" altLang="en-US" sz="2400" b="1">
                <a:solidFill>
                  <a:srgbClr val="000000"/>
                </a:solidFill>
                <a:latin typeface="Times New Roman" pitchFamily="18" charset="0"/>
                <a:ea typeface="宋体" charset="-122"/>
              </a:rPr>
              <a:t>，</a:t>
            </a:r>
          </a:p>
          <a:p>
            <a:pPr defTabSz="914400" fontAlgn="base">
              <a:spcBef>
                <a:spcPts val="1000"/>
              </a:spcBef>
              <a:spcAft>
                <a:spcPct val="0"/>
              </a:spcAft>
            </a:pPr>
            <a:r>
              <a:rPr kumimoji="1" lang="zh-CN" altLang="zh-CN" sz="2400" b="1">
                <a:solidFill>
                  <a:srgbClr val="000000"/>
                </a:solidFill>
                <a:latin typeface="Times New Roman" pitchFamily="18" charset="0"/>
                <a:ea typeface="宋体" charset="-122"/>
              </a:rPr>
              <a:t>静电势为常数</a:t>
            </a:r>
            <a:endParaRPr kumimoji="1" lang="zh-CN" altLang="en-US" sz="2400" b="1">
              <a:solidFill>
                <a:srgbClr val="000000"/>
              </a:solidFill>
              <a:latin typeface="Times New Roman" pitchFamily="18" charset="0"/>
              <a:ea typeface="宋体" charset="-122"/>
            </a:endParaRPr>
          </a:p>
        </p:txBody>
      </p:sp>
      <p:graphicFrame>
        <p:nvGraphicFramePr>
          <p:cNvPr id="16" name="Object 25"/>
          <p:cNvGraphicFramePr>
            <a:graphicFrameLocks noChangeAspect="1"/>
          </p:cNvGraphicFramePr>
          <p:nvPr/>
        </p:nvGraphicFramePr>
        <p:xfrm>
          <a:off x="2325688" y="5781675"/>
          <a:ext cx="3830637" cy="627063"/>
        </p:xfrm>
        <a:graphic>
          <a:graphicData uri="http://schemas.openxmlformats.org/presentationml/2006/ole">
            <mc:AlternateContent xmlns:mc="http://schemas.openxmlformats.org/markup-compatibility/2006">
              <mc:Choice xmlns:v="urn:schemas-microsoft-com:vml" Requires="v">
                <p:oleObj spid="_x0000_s36913" name="Equation" r:id="rId7" imgW="1473200" imgH="241300" progId="Equation.DSMT4">
                  <p:embed/>
                </p:oleObj>
              </mc:Choice>
              <mc:Fallback>
                <p:oleObj name="Equation" r:id="rId7" imgW="1473200" imgH="241300" progId="Equation.DSMT4">
                  <p:embed/>
                  <p:pic>
                    <p:nvPicPr>
                      <p:cNvPr id="77849"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5688" y="5781675"/>
                        <a:ext cx="3830637" cy="627063"/>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3"/>
          <p:cNvSpPr txBox="1">
            <a:spLocks noChangeArrowheads="1"/>
          </p:cNvSpPr>
          <p:nvPr/>
        </p:nvSpPr>
        <p:spPr bwMode="auto">
          <a:xfrm>
            <a:off x="323441" y="427969"/>
            <a:ext cx="5015475"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泊松方程</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Tree>
    <p:extLst>
      <p:ext uri="{BB962C8B-B14F-4D97-AF65-F5344CB8AC3E}">
        <p14:creationId xmlns:p14="http://schemas.microsoft.com/office/powerpoint/2010/main" val="113488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1+#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0-#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57</a:t>
            </a:fld>
            <a:endParaRPr lang="zh-CN" altLang="en-US"/>
          </a:p>
        </p:txBody>
      </p:sp>
      <p:sp>
        <p:nvSpPr>
          <p:cNvPr id="3" name="AutoShape 9"/>
          <p:cNvSpPr>
            <a:spLocks noChangeArrowheads="1"/>
          </p:cNvSpPr>
          <p:nvPr/>
        </p:nvSpPr>
        <p:spPr bwMode="auto">
          <a:xfrm>
            <a:off x="1060450" y="1543050"/>
            <a:ext cx="2908300" cy="949325"/>
          </a:xfrm>
          <a:prstGeom prst="bevel">
            <a:avLst>
              <a:gd name="adj" fmla="val 12500"/>
            </a:avLst>
          </a:prstGeom>
          <a:solidFill>
            <a:srgbClr val="66FF66"/>
          </a:solidFill>
          <a:ln w="12700" cap="sq">
            <a:noFill/>
            <a:miter lim="800000"/>
            <a:headEnd type="none" w="sm" len="sm"/>
            <a:tailEnd type="none" w="sm" len="sm"/>
          </a:ln>
        </p:spPr>
        <p:txBody>
          <a:bodyPr>
            <a:spAutoFit/>
          </a:bodyPr>
          <a:lstStyle/>
          <a:p>
            <a:pPr defTabSz="914400" fontAlgn="base">
              <a:lnSpc>
                <a:spcPct val="150000"/>
              </a:lnSpc>
              <a:spcBef>
                <a:spcPct val="50000"/>
              </a:spcBef>
              <a:spcAft>
                <a:spcPct val="0"/>
              </a:spcAft>
            </a:pPr>
            <a:r>
              <a:rPr kumimoji="1" lang="en-US" altLang="zh-CN" sz="2800" b="1">
                <a:solidFill>
                  <a:srgbClr val="FFFFFF"/>
                </a:solidFill>
                <a:latin typeface="Times New Roman" pitchFamily="18" charset="0"/>
                <a:ea typeface="宋体" charset="-122"/>
              </a:rPr>
              <a:t> </a:t>
            </a:r>
            <a:r>
              <a:rPr kumimoji="1" lang="zh-CN" altLang="en-US" sz="2800" b="1">
                <a:solidFill>
                  <a:srgbClr val="FFFFFF"/>
                </a:solidFill>
                <a:latin typeface="Times New Roman" pitchFamily="18" charset="0"/>
                <a:ea typeface="宋体" charset="-122"/>
              </a:rPr>
              <a:t>电流连续方程 </a:t>
            </a:r>
          </a:p>
        </p:txBody>
      </p:sp>
      <p:sp>
        <p:nvSpPr>
          <p:cNvPr id="4" name="AutoShape 10"/>
          <p:cNvSpPr>
            <a:spLocks noChangeArrowheads="1"/>
          </p:cNvSpPr>
          <p:nvPr/>
        </p:nvSpPr>
        <p:spPr bwMode="auto">
          <a:xfrm>
            <a:off x="4368800" y="1865313"/>
            <a:ext cx="1066800" cy="304800"/>
          </a:xfrm>
          <a:prstGeom prst="leftRightArrow">
            <a:avLst>
              <a:gd name="adj1" fmla="val 50000"/>
              <a:gd name="adj2" fmla="val 70000"/>
            </a:avLst>
          </a:prstGeom>
          <a:solidFill>
            <a:srgbClr val="00E4A8"/>
          </a:solidFill>
          <a:ln w="12700" cap="sq">
            <a:solidFill>
              <a:srgbClr val="000000"/>
            </a:solidFill>
            <a:miter lim="800000"/>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5" name="AutoShape 11"/>
          <p:cNvSpPr>
            <a:spLocks noChangeArrowheads="1"/>
          </p:cNvSpPr>
          <p:nvPr/>
        </p:nvSpPr>
        <p:spPr bwMode="auto">
          <a:xfrm>
            <a:off x="5746750" y="1403350"/>
            <a:ext cx="2201863" cy="1228725"/>
          </a:xfrm>
          <a:prstGeom prst="roundRect">
            <a:avLst>
              <a:gd name="adj" fmla="val 16667"/>
            </a:avLst>
          </a:prstGeom>
          <a:solidFill>
            <a:srgbClr val="66FF66"/>
          </a:solidFill>
          <a:ln w="12700" cap="sq">
            <a:noFill/>
            <a:round/>
            <a:headEnd type="none" w="sm" len="sm"/>
            <a:tailEnd type="none" w="sm" len="sm"/>
          </a:ln>
          <a:effectLst>
            <a:outerShdw dist="107763" dir="18900000" algn="ctr" rotWithShape="0">
              <a:srgbClr val="1C1C1C"/>
            </a:outerShdw>
          </a:effectLst>
        </p:spPr>
        <p:txBody>
          <a:bodyPr>
            <a:spAutoFit/>
          </a:bodyPr>
          <a:lstStyle/>
          <a:p>
            <a:pPr marL="0" marR="0" lvl="0" indent="0" defTabSz="914400" eaLnBrk="1" fontAlgn="base" latinLnBrk="0" hangingPunct="1">
              <a:lnSpc>
                <a:spcPct val="120000"/>
              </a:lnSpc>
              <a:spcBef>
                <a:spcPct val="50000"/>
              </a:spcBef>
              <a:spcAft>
                <a:spcPct val="0"/>
              </a:spcAft>
              <a:buClrTx/>
              <a:buSzTx/>
              <a:buFontTx/>
              <a:buNone/>
              <a:tabLst/>
              <a:defRPr/>
            </a:pPr>
            <a:r>
              <a:rPr kumimoji="1" lang="zh-CN" altLang="en-US" sz="2800" b="1" i="0" u="none" strike="noStrike" kern="0" cap="none" spc="0" normalizeH="0" baseline="0" noProof="0" smtClean="0">
                <a:ln>
                  <a:noFill/>
                </a:ln>
                <a:solidFill>
                  <a:srgbClr val="FFFFFF"/>
                </a:solidFill>
                <a:effectLst/>
                <a:uLnTx/>
                <a:uFillTx/>
                <a:latin typeface="Times New Roman" pitchFamily="18" charset="0"/>
                <a:ea typeface="宋体" charset="-122"/>
              </a:rPr>
              <a:t>可动载流子的电荷守恒</a:t>
            </a:r>
          </a:p>
        </p:txBody>
      </p:sp>
      <p:sp>
        <p:nvSpPr>
          <p:cNvPr id="6" name="AutoShape 12"/>
          <p:cNvSpPr>
            <a:spLocks noChangeArrowheads="1"/>
          </p:cNvSpPr>
          <p:nvPr/>
        </p:nvSpPr>
        <p:spPr bwMode="auto">
          <a:xfrm>
            <a:off x="2339975" y="2603500"/>
            <a:ext cx="228600" cy="609600"/>
          </a:xfrm>
          <a:prstGeom prst="downArrow">
            <a:avLst>
              <a:gd name="adj1" fmla="val 50000"/>
              <a:gd name="adj2" fmla="val 66667"/>
            </a:avLst>
          </a:prstGeom>
          <a:solidFill>
            <a:srgbClr val="66FF66"/>
          </a:solidFill>
          <a:ln w="12700" cap="sq">
            <a:solidFill>
              <a:srgbClr val="000000"/>
            </a:solidFill>
            <a:miter lim="800000"/>
            <a:headEnd type="none" w="sm" len="sm"/>
            <a:tailEnd type="none" w="sm" len="sm"/>
          </a:ln>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graphicFrame>
        <p:nvGraphicFramePr>
          <p:cNvPr id="7" name="Object 13"/>
          <p:cNvGraphicFramePr>
            <a:graphicFrameLocks noChangeAspect="1"/>
          </p:cNvGraphicFramePr>
          <p:nvPr/>
        </p:nvGraphicFramePr>
        <p:xfrm>
          <a:off x="4929188" y="2071688"/>
          <a:ext cx="112712" cy="214312"/>
        </p:xfrm>
        <a:graphic>
          <a:graphicData uri="http://schemas.openxmlformats.org/presentationml/2006/ole">
            <mc:AlternateContent xmlns:mc="http://schemas.openxmlformats.org/markup-compatibility/2006">
              <mc:Choice xmlns:v="urn:schemas-microsoft-com:vml" Requires="v">
                <p:oleObj spid="_x0000_s37935" name="公式" r:id="rId3" imgW="114151" imgH="215619" progId="Equation.3">
                  <p:embed/>
                </p:oleObj>
              </mc:Choice>
              <mc:Fallback>
                <p:oleObj name="公式" r:id="rId3" imgW="114151" imgH="215619" progId="Equation.3">
                  <p:embed/>
                  <p:pic>
                    <p:nvPicPr>
                      <p:cNvPr id="10548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9188" y="2071688"/>
                        <a:ext cx="112712" cy="214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4"/>
          <p:cNvGraphicFramePr>
            <a:graphicFrameLocks noChangeAspect="1"/>
          </p:cNvGraphicFramePr>
          <p:nvPr/>
        </p:nvGraphicFramePr>
        <p:xfrm>
          <a:off x="1511300" y="3376613"/>
          <a:ext cx="3402013" cy="1089025"/>
        </p:xfrm>
        <a:graphic>
          <a:graphicData uri="http://schemas.openxmlformats.org/presentationml/2006/ole">
            <mc:AlternateContent xmlns:mc="http://schemas.openxmlformats.org/markup-compatibility/2006">
              <mc:Choice xmlns:v="urn:schemas-microsoft-com:vml" Requires="v">
                <p:oleObj spid="_x0000_s37936" name="Equation" r:id="rId5" imgW="1308100" imgH="419100" progId="Equation.DSMT4">
                  <p:embed/>
                </p:oleObj>
              </mc:Choice>
              <mc:Fallback>
                <p:oleObj name="Equation" r:id="rId5" imgW="1308100" imgH="419100" progId="Equation.DSMT4">
                  <p:embed/>
                  <p:pic>
                    <p:nvPicPr>
                      <p:cNvPr id="105486"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1300" y="3376613"/>
                        <a:ext cx="3402013" cy="1089025"/>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15"/>
          <p:cNvGraphicFramePr>
            <a:graphicFrameLocks noChangeAspect="1"/>
          </p:cNvGraphicFramePr>
          <p:nvPr/>
        </p:nvGraphicFramePr>
        <p:xfrm>
          <a:off x="1511300" y="4806950"/>
          <a:ext cx="3697288" cy="1090613"/>
        </p:xfrm>
        <a:graphic>
          <a:graphicData uri="http://schemas.openxmlformats.org/presentationml/2006/ole">
            <mc:AlternateContent xmlns:mc="http://schemas.openxmlformats.org/markup-compatibility/2006">
              <mc:Choice xmlns:v="urn:schemas-microsoft-com:vml" Requires="v">
                <p:oleObj spid="_x0000_s37937" name="Equation" r:id="rId7" imgW="1422400" imgH="419100" progId="Equation.DSMT4">
                  <p:embed/>
                </p:oleObj>
              </mc:Choice>
              <mc:Fallback>
                <p:oleObj name="Equation" r:id="rId7" imgW="1422400" imgH="419100" progId="Equation.DSMT4">
                  <p:embed/>
                  <p:pic>
                    <p:nvPicPr>
                      <p:cNvPr id="105487"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1300" y="4806950"/>
                        <a:ext cx="3697288" cy="1090613"/>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16"/>
          <p:cNvSpPr txBox="1">
            <a:spLocks noChangeArrowheads="1"/>
          </p:cNvSpPr>
          <p:nvPr/>
        </p:nvSpPr>
        <p:spPr bwMode="auto">
          <a:xfrm>
            <a:off x="5651500" y="3660775"/>
            <a:ext cx="2895600" cy="1744663"/>
          </a:xfrm>
          <a:prstGeom prst="rect">
            <a:avLst/>
          </a:prstGeom>
          <a:noFill/>
          <a:ln w="12700" cap="sq">
            <a:solidFill>
              <a:srgbClr val="FF0000"/>
            </a:solidFill>
            <a:miter lim="800000"/>
            <a:headEnd type="none" w="sm" len="sm"/>
            <a:tailEnd type="none" w="sm" len="sm"/>
          </a:ln>
        </p:spPr>
        <p:txBody>
          <a:bodyPr>
            <a:spAutoFit/>
          </a:bodyPr>
          <a:lstStyle/>
          <a:p>
            <a:pPr algn="ctr" defTabSz="914400" fontAlgn="base">
              <a:spcBef>
                <a:spcPts val="1400"/>
              </a:spcBef>
              <a:spcAft>
                <a:spcPct val="0"/>
              </a:spcAft>
            </a:pPr>
            <a:r>
              <a:rPr kumimoji="1" lang="zh-CN" altLang="en-US" sz="2800" b="1">
                <a:solidFill>
                  <a:srgbClr val="000000"/>
                </a:solidFill>
                <a:latin typeface="Times New Roman" pitchFamily="18" charset="0"/>
                <a:ea typeface="宋体" charset="-122"/>
              </a:rPr>
              <a:t>热平衡时：</a:t>
            </a:r>
          </a:p>
          <a:p>
            <a:pPr algn="ctr" defTabSz="914400" fontAlgn="base">
              <a:spcBef>
                <a:spcPts val="1400"/>
              </a:spcBef>
              <a:spcAft>
                <a:spcPct val="0"/>
              </a:spcAft>
            </a:pPr>
            <a:r>
              <a:rPr kumimoji="1" lang="zh-CN" altLang="en-US" sz="2800" b="1">
                <a:solidFill>
                  <a:srgbClr val="000000"/>
                </a:solidFill>
                <a:latin typeface="Times New Roman" pitchFamily="18" charset="0"/>
                <a:ea typeface="宋体" charset="-122"/>
              </a:rPr>
              <a:t>产生率＝复合率</a:t>
            </a:r>
          </a:p>
          <a:p>
            <a:pPr algn="ctr" defTabSz="914400" fontAlgn="base">
              <a:spcBef>
                <a:spcPts val="1400"/>
              </a:spcBef>
              <a:spcAft>
                <a:spcPct val="0"/>
              </a:spcAft>
            </a:pPr>
            <a:r>
              <a:rPr kumimoji="1" lang="en-US" altLang="zh-CN" sz="2800" b="1" i="1">
                <a:solidFill>
                  <a:srgbClr val="000000"/>
                </a:solidFill>
                <a:latin typeface="Times New Roman" pitchFamily="18" charset="0"/>
                <a:ea typeface="宋体" charset="-122"/>
              </a:rPr>
              <a:t>np = n</a:t>
            </a:r>
            <a:r>
              <a:rPr kumimoji="1" lang="en-US" altLang="zh-CN" sz="2800" b="1" i="1" baseline="-25000">
                <a:solidFill>
                  <a:srgbClr val="000000"/>
                </a:solidFill>
                <a:latin typeface="Times New Roman" pitchFamily="18" charset="0"/>
                <a:ea typeface="宋体" charset="-122"/>
              </a:rPr>
              <a:t>i</a:t>
            </a:r>
            <a:r>
              <a:rPr kumimoji="1" lang="en-US" altLang="zh-CN" sz="2800" b="1" i="1" baseline="30000">
                <a:solidFill>
                  <a:srgbClr val="000000"/>
                </a:solidFill>
                <a:latin typeface="Times New Roman" pitchFamily="18" charset="0"/>
                <a:ea typeface="宋体" charset="-122"/>
              </a:rPr>
              <a:t>2</a:t>
            </a:r>
            <a:endParaRPr kumimoji="1" lang="en-US" altLang="zh-CN" sz="2800" b="1" i="1">
              <a:solidFill>
                <a:srgbClr val="000000"/>
              </a:solidFill>
              <a:latin typeface="Times New Roman" pitchFamily="18" charset="0"/>
              <a:ea typeface="宋体" charset="-122"/>
            </a:endParaRPr>
          </a:p>
        </p:txBody>
      </p:sp>
      <p:sp>
        <p:nvSpPr>
          <p:cNvPr id="11" name="Text Box 18"/>
          <p:cNvSpPr txBox="1">
            <a:spLocks noChangeArrowheads="1"/>
          </p:cNvSpPr>
          <p:nvPr/>
        </p:nvSpPr>
        <p:spPr bwMode="auto">
          <a:xfrm>
            <a:off x="585788" y="5111750"/>
            <a:ext cx="914400" cy="457200"/>
          </a:xfrm>
          <a:prstGeom prst="rect">
            <a:avLst/>
          </a:prstGeom>
          <a:noFill/>
          <a:ln w="12700" cap="sq">
            <a:noFill/>
            <a:miter lim="800000"/>
            <a:headEnd type="none" w="sm" len="sm"/>
            <a:tailEnd type="none" w="sm" len="sm"/>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空穴</a:t>
            </a:r>
          </a:p>
        </p:txBody>
      </p:sp>
      <p:sp>
        <p:nvSpPr>
          <p:cNvPr id="12" name="Text Box 21"/>
          <p:cNvSpPr txBox="1">
            <a:spLocks noChangeArrowheads="1"/>
          </p:cNvSpPr>
          <p:nvPr/>
        </p:nvSpPr>
        <p:spPr bwMode="auto">
          <a:xfrm>
            <a:off x="539750" y="3678238"/>
            <a:ext cx="1008063" cy="457200"/>
          </a:xfrm>
          <a:prstGeom prst="rect">
            <a:avLst/>
          </a:prstGeom>
          <a:noFill/>
          <a:ln w="9525">
            <a:noFill/>
            <a:miter lim="800000"/>
            <a:headEnd/>
            <a:tailEnd/>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电子</a:t>
            </a:r>
          </a:p>
        </p:txBody>
      </p:sp>
      <p:sp>
        <p:nvSpPr>
          <p:cNvPr id="13" name="Text Box 3"/>
          <p:cNvSpPr txBox="1">
            <a:spLocks noChangeArrowheads="1"/>
          </p:cNvSpPr>
          <p:nvPr/>
        </p:nvSpPr>
        <p:spPr bwMode="auto">
          <a:xfrm>
            <a:off x="323441" y="427969"/>
            <a:ext cx="5015475" cy="527580"/>
          </a:xfrm>
          <a:prstGeom prst="rect">
            <a:avLst/>
          </a:prstGeom>
          <a:noFill/>
          <a:ln w="12700" cap="sq">
            <a:noFill/>
            <a:miter lim="800000"/>
            <a:headEnd type="none" w="sm" len="sm"/>
            <a:tailEnd type="none" w="sm" len="sm"/>
          </a:ln>
          <a:effectLst/>
        </p:spPr>
        <p:txBody>
          <a:bodyPr wrap="square">
            <a:spAutoFit/>
          </a:bodyPr>
          <a:lstStyle/>
          <a:p>
            <a:pPr defTabSz="914400" fontAlgn="base">
              <a:lnSpc>
                <a:spcPct val="110000"/>
              </a:lnSpc>
              <a:spcBef>
                <a:spcPct val="50000"/>
              </a:spcBef>
              <a:spcAft>
                <a:spcPct val="0"/>
              </a:spcAft>
              <a:defRPr/>
            </a:pPr>
            <a:r>
              <a:rPr kumimoji="1" lang="zh-CN" altLang="en-US" sz="2800" b="1" dirty="0" smtClean="0">
                <a:solidFill>
                  <a:srgbClr val="FF6600"/>
                </a:solidFill>
                <a:effectLst>
                  <a:outerShdw blurRad="38100" dist="38100" dir="2700000" algn="tl">
                    <a:srgbClr val="C0C0C0"/>
                  </a:outerShdw>
                </a:effectLst>
                <a:latin typeface="Times New Roman" pitchFamily="18" charset="0"/>
                <a:ea typeface="宋体" pitchFamily="2" charset="-122"/>
              </a:rPr>
              <a:t>电流连续方程</a:t>
            </a:r>
            <a:endParaRPr kumimoji="1" lang="zh-CN" altLang="en-US" sz="2800" b="1" dirty="0">
              <a:solidFill>
                <a:srgbClr val="0000FF"/>
              </a:solidFill>
              <a:effectLst>
                <a:outerShdw blurRad="38100" dist="38100" dir="2700000" algn="tl">
                  <a:srgbClr val="C0C0C0"/>
                </a:outerShdw>
              </a:effectLst>
              <a:latin typeface="Times New Roman" pitchFamily="18" charset="0"/>
              <a:ea typeface="宋体" pitchFamily="2" charset="-122"/>
            </a:endParaRPr>
          </a:p>
        </p:txBody>
      </p:sp>
    </p:spTree>
    <p:extLst>
      <p:ext uri="{BB962C8B-B14F-4D97-AF65-F5344CB8AC3E}">
        <p14:creationId xmlns:p14="http://schemas.microsoft.com/office/powerpoint/2010/main" val="355838855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58</a:t>
            </a:fld>
            <a:endParaRPr lang="zh-CN" altLang="en-US"/>
          </a:p>
        </p:txBody>
      </p:sp>
      <p:sp>
        <p:nvSpPr>
          <p:cNvPr id="3" name="AutoShape 9"/>
          <p:cNvSpPr>
            <a:spLocks noChangeArrowheads="1"/>
          </p:cNvSpPr>
          <p:nvPr/>
        </p:nvSpPr>
        <p:spPr bwMode="auto">
          <a:xfrm>
            <a:off x="659939" y="947738"/>
            <a:ext cx="2908300" cy="949325"/>
          </a:xfrm>
          <a:prstGeom prst="bevel">
            <a:avLst>
              <a:gd name="adj" fmla="val 12500"/>
            </a:avLst>
          </a:prstGeom>
          <a:solidFill>
            <a:srgbClr val="66FF66"/>
          </a:solidFill>
          <a:ln w="12700" cap="sq">
            <a:noFill/>
            <a:miter lim="800000"/>
            <a:headEnd type="none" w="sm" len="sm"/>
            <a:tailEnd type="none" w="sm" len="sm"/>
          </a:ln>
        </p:spPr>
        <p:txBody>
          <a:bodyPr>
            <a:spAutoFit/>
          </a:bodyPr>
          <a:lstStyle/>
          <a:p>
            <a:pPr defTabSz="914400" fontAlgn="base">
              <a:lnSpc>
                <a:spcPct val="150000"/>
              </a:lnSpc>
              <a:spcBef>
                <a:spcPct val="50000"/>
              </a:spcBef>
              <a:spcAft>
                <a:spcPct val="0"/>
              </a:spcAft>
            </a:pPr>
            <a:r>
              <a:rPr kumimoji="1" lang="en-US" altLang="zh-CN" sz="2800" b="1">
                <a:solidFill>
                  <a:srgbClr val="FFFFFF"/>
                </a:solidFill>
                <a:latin typeface="Times New Roman" pitchFamily="18" charset="0"/>
                <a:ea typeface="宋体" charset="-122"/>
              </a:rPr>
              <a:t> </a:t>
            </a:r>
            <a:r>
              <a:rPr kumimoji="1" lang="zh-CN" altLang="en-US" sz="2800" b="1">
                <a:solidFill>
                  <a:srgbClr val="FFFFFF"/>
                </a:solidFill>
                <a:latin typeface="Times New Roman" pitchFamily="18" charset="0"/>
                <a:ea typeface="宋体" charset="-122"/>
              </a:rPr>
              <a:t>电流密度方程 </a:t>
            </a:r>
          </a:p>
        </p:txBody>
      </p:sp>
      <p:sp>
        <p:nvSpPr>
          <p:cNvPr id="4" name="AutoShape 10"/>
          <p:cNvSpPr>
            <a:spLocks noChangeArrowheads="1"/>
          </p:cNvSpPr>
          <p:nvPr/>
        </p:nvSpPr>
        <p:spPr bwMode="auto">
          <a:xfrm>
            <a:off x="3769851" y="1270000"/>
            <a:ext cx="1066800" cy="304800"/>
          </a:xfrm>
          <a:prstGeom prst="leftRightArrow">
            <a:avLst>
              <a:gd name="adj1" fmla="val 50000"/>
              <a:gd name="adj2" fmla="val 70000"/>
            </a:avLst>
          </a:prstGeom>
          <a:solidFill>
            <a:srgbClr val="00E4A8"/>
          </a:solidFill>
          <a:ln w="12700" cap="sq">
            <a:solidFill>
              <a:srgbClr val="000000"/>
            </a:solidFill>
            <a:miter lim="800000"/>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sp>
        <p:nvSpPr>
          <p:cNvPr id="5" name="AutoShape 11"/>
          <p:cNvSpPr>
            <a:spLocks noChangeArrowheads="1"/>
          </p:cNvSpPr>
          <p:nvPr/>
        </p:nvSpPr>
        <p:spPr bwMode="auto">
          <a:xfrm>
            <a:off x="5052551" y="1092200"/>
            <a:ext cx="3268663" cy="661988"/>
          </a:xfrm>
          <a:prstGeom prst="roundRect">
            <a:avLst>
              <a:gd name="adj" fmla="val 16667"/>
            </a:avLst>
          </a:prstGeom>
          <a:solidFill>
            <a:srgbClr val="66FF66"/>
          </a:solidFill>
          <a:ln w="12700" cap="sq">
            <a:noFill/>
            <a:round/>
            <a:headEnd type="none" w="sm" len="sm"/>
            <a:tailEnd type="none" w="sm" len="sm"/>
          </a:ln>
          <a:effectLst>
            <a:outerShdw dist="107763" dir="18900000" algn="ctr" rotWithShape="0">
              <a:srgbClr val="1C1C1C"/>
            </a:outerShdw>
          </a:effectLst>
        </p:spPr>
        <p:txBody>
          <a:bodyPr>
            <a:spAutoFit/>
          </a:bodyPr>
          <a:lstStyle/>
          <a:p>
            <a:pPr marL="0" marR="0" lvl="0" indent="0" defTabSz="914400" eaLnBrk="1" fontAlgn="base" latinLnBrk="0" hangingPunct="1">
              <a:lnSpc>
                <a:spcPct val="120000"/>
              </a:lnSpc>
              <a:spcBef>
                <a:spcPct val="50000"/>
              </a:spcBef>
              <a:spcAft>
                <a:spcPct val="0"/>
              </a:spcAft>
              <a:buClrTx/>
              <a:buSzTx/>
              <a:buFontTx/>
              <a:buNone/>
              <a:tabLst/>
              <a:defRPr/>
            </a:pPr>
            <a:r>
              <a:rPr kumimoji="1" lang="en-US" altLang="zh-CN" sz="2800" b="1" i="0" u="none" strike="noStrike" kern="0" cap="none" spc="0" normalizeH="0" baseline="0" noProof="0" smtClean="0">
                <a:ln>
                  <a:noFill/>
                </a:ln>
                <a:solidFill>
                  <a:srgbClr val="FFFFFF"/>
                </a:solidFill>
                <a:effectLst/>
                <a:uLnTx/>
                <a:uFillTx/>
                <a:latin typeface="Times New Roman" pitchFamily="18" charset="0"/>
                <a:ea typeface="宋体" charset="-122"/>
              </a:rPr>
              <a:t> </a:t>
            </a:r>
            <a:r>
              <a:rPr kumimoji="1" lang="zh-CN" altLang="en-US" sz="2800" b="1" i="0" u="none" strike="noStrike" kern="0" cap="none" spc="0" normalizeH="0" baseline="0" noProof="0" smtClean="0">
                <a:ln>
                  <a:noFill/>
                </a:ln>
                <a:solidFill>
                  <a:srgbClr val="FFFFFF"/>
                </a:solidFill>
                <a:effectLst/>
                <a:uLnTx/>
                <a:uFillTx/>
                <a:latin typeface="Times New Roman" pitchFamily="18" charset="0"/>
                <a:ea typeface="宋体" charset="-122"/>
              </a:rPr>
              <a:t>载流子的输运方程</a:t>
            </a:r>
          </a:p>
        </p:txBody>
      </p:sp>
      <p:sp>
        <p:nvSpPr>
          <p:cNvPr id="6" name="AutoShape 12"/>
          <p:cNvSpPr>
            <a:spLocks noChangeArrowheads="1"/>
          </p:cNvSpPr>
          <p:nvPr/>
        </p:nvSpPr>
        <p:spPr bwMode="auto">
          <a:xfrm>
            <a:off x="4198476" y="1611313"/>
            <a:ext cx="228600" cy="609600"/>
          </a:xfrm>
          <a:prstGeom prst="downArrow">
            <a:avLst>
              <a:gd name="adj1" fmla="val 50000"/>
              <a:gd name="adj2" fmla="val 66667"/>
            </a:avLst>
          </a:prstGeom>
          <a:solidFill>
            <a:srgbClr val="66FF66"/>
          </a:solidFill>
          <a:ln w="12700" cap="sq">
            <a:solidFill>
              <a:srgbClr val="000000"/>
            </a:solidFill>
            <a:miter lim="800000"/>
            <a:headEnd type="none" w="sm" len="sm"/>
            <a:tailEnd type="none" w="sm" len="sm"/>
          </a:ln>
        </p:spPr>
        <p:txBody>
          <a:bodyPr vert="eaVert"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3200" b="0" i="0" u="none" strike="noStrike" kern="0" cap="none" spc="0" normalizeH="0" baseline="0" noProof="0" smtClean="0">
              <a:ln>
                <a:noFill/>
              </a:ln>
              <a:solidFill>
                <a:srgbClr val="000000"/>
              </a:solidFill>
              <a:effectLst/>
              <a:uLnTx/>
              <a:uFillTx/>
              <a:latin typeface="Times New Roman" pitchFamily="18" charset="0"/>
              <a:ea typeface="宋体" charset="-122"/>
            </a:endParaRPr>
          </a:p>
        </p:txBody>
      </p:sp>
      <p:graphicFrame>
        <p:nvGraphicFramePr>
          <p:cNvPr id="7" name="Object 0"/>
          <p:cNvGraphicFramePr>
            <a:graphicFrameLocks noChangeAspect="1"/>
          </p:cNvGraphicFramePr>
          <p:nvPr>
            <p:extLst>
              <p:ext uri="{D42A27DB-BD31-4B8C-83A1-F6EECF244321}">
                <p14:modId xmlns:p14="http://schemas.microsoft.com/office/powerpoint/2010/main" val="3530863327"/>
              </p:ext>
            </p:extLst>
          </p:nvPr>
        </p:nvGraphicFramePr>
        <p:xfrm>
          <a:off x="4685839" y="1160463"/>
          <a:ext cx="112712" cy="214312"/>
        </p:xfrm>
        <a:graphic>
          <a:graphicData uri="http://schemas.openxmlformats.org/presentationml/2006/ole">
            <mc:AlternateContent xmlns:mc="http://schemas.openxmlformats.org/markup-compatibility/2006">
              <mc:Choice xmlns:v="urn:schemas-microsoft-com:vml" Requires="v">
                <p:oleObj spid="_x0000_s38959" name="公式" r:id="rId3" imgW="114151" imgH="215619" progId="Equation.3">
                  <p:embed/>
                </p:oleObj>
              </mc:Choice>
              <mc:Fallback>
                <p:oleObj name="公式" r:id="rId3" imgW="114151" imgH="215619" progId="Equation.3">
                  <p:embed/>
                  <p:pic>
                    <p:nvPicPr>
                      <p:cNvPr id="106508"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5839" y="1160463"/>
                        <a:ext cx="112712" cy="214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4"/>
          <p:cNvSpPr txBox="1">
            <a:spLocks noChangeArrowheads="1"/>
          </p:cNvSpPr>
          <p:nvPr/>
        </p:nvSpPr>
        <p:spPr bwMode="auto">
          <a:xfrm>
            <a:off x="2533189" y="2387600"/>
            <a:ext cx="3581400" cy="531813"/>
          </a:xfrm>
          <a:prstGeom prst="rect">
            <a:avLst/>
          </a:prstGeom>
          <a:solidFill>
            <a:srgbClr val="333399"/>
          </a:solidFill>
          <a:ln w="12700" cap="sq">
            <a:solidFill>
              <a:srgbClr val="FF0000"/>
            </a:solidFill>
            <a:miter lim="800000"/>
            <a:headEnd type="none" w="sm" len="sm"/>
            <a:tailEnd type="none" w="sm" len="sm"/>
          </a:ln>
          <a:effectLst>
            <a:outerShdw dist="107763" dir="18900000" algn="ctr" rotWithShape="0">
              <a:srgbClr val="1C1C1C"/>
            </a:outerShdw>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800" b="1" i="0" u="none" strike="noStrike" kern="0" cap="none" spc="0" normalizeH="0" baseline="0" noProof="0" smtClean="0">
                <a:ln>
                  <a:noFill/>
                </a:ln>
                <a:solidFill>
                  <a:srgbClr val="FFFFFF"/>
                </a:solidFill>
                <a:effectLst/>
                <a:uLnTx/>
                <a:uFillTx/>
                <a:latin typeface="Times New Roman" pitchFamily="18" charset="0"/>
                <a:ea typeface="宋体" charset="-122"/>
              </a:rPr>
              <a:t>在漂移－扩散模型中</a:t>
            </a:r>
          </a:p>
        </p:txBody>
      </p:sp>
      <p:grpSp>
        <p:nvGrpSpPr>
          <p:cNvPr id="9" name="Group 15"/>
          <p:cNvGrpSpPr>
            <a:grpSpLocks/>
          </p:cNvGrpSpPr>
          <p:nvPr/>
        </p:nvGrpSpPr>
        <p:grpSpPr bwMode="auto">
          <a:xfrm>
            <a:off x="2668126" y="3171825"/>
            <a:ext cx="3536950" cy="2743200"/>
            <a:chOff x="652" y="2256"/>
            <a:chExt cx="2228" cy="1728"/>
          </a:xfrm>
        </p:grpSpPr>
        <p:sp>
          <p:nvSpPr>
            <p:cNvPr id="10" name="AutoShape 16"/>
            <p:cNvSpPr>
              <a:spLocks noChangeArrowheads="1"/>
            </p:cNvSpPr>
            <p:nvPr/>
          </p:nvSpPr>
          <p:spPr bwMode="auto">
            <a:xfrm>
              <a:off x="2112" y="3552"/>
              <a:ext cx="768" cy="432"/>
            </a:xfrm>
            <a:prstGeom prst="wedgeRoundRectCallout">
              <a:avLst>
                <a:gd name="adj1" fmla="val -2083"/>
                <a:gd name="adj2" fmla="val -262037"/>
                <a:gd name="adj3" fmla="val 16667"/>
              </a:avLst>
            </a:prstGeom>
            <a:noFill/>
            <a:ln w="12700" cap="sq">
              <a:solidFill>
                <a:srgbClr val="000000"/>
              </a:solidFill>
              <a:miter lim="800000"/>
              <a:headEnd type="none" w="sm" len="sm"/>
              <a:tailEnd type="none" w="sm" len="sm"/>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扩散项</a:t>
              </a:r>
            </a:p>
          </p:txBody>
        </p:sp>
        <p:sp>
          <p:nvSpPr>
            <p:cNvPr id="11" name="AutoShape 17"/>
            <p:cNvSpPr>
              <a:spLocks noChangeArrowheads="1"/>
            </p:cNvSpPr>
            <p:nvPr/>
          </p:nvSpPr>
          <p:spPr bwMode="auto">
            <a:xfrm>
              <a:off x="960" y="3456"/>
              <a:ext cx="768" cy="432"/>
            </a:xfrm>
            <a:prstGeom prst="wedgeRoundRectCallout">
              <a:avLst>
                <a:gd name="adj1" fmla="val 15366"/>
                <a:gd name="adj2" fmla="val -233796"/>
                <a:gd name="adj3" fmla="val 16667"/>
              </a:avLst>
            </a:prstGeom>
            <a:noFill/>
            <a:ln w="12700" cap="sq">
              <a:solidFill>
                <a:srgbClr val="000000"/>
              </a:solidFill>
              <a:miter lim="800000"/>
              <a:headEnd type="none" w="sm" len="sm"/>
              <a:tailEnd type="none" w="sm" len="sm"/>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smtClean="0">
                  <a:ln>
                    <a:noFill/>
                  </a:ln>
                  <a:solidFill>
                    <a:srgbClr val="000000"/>
                  </a:solidFill>
                  <a:effectLst/>
                  <a:uLnTx/>
                  <a:uFillTx/>
                  <a:latin typeface="Times New Roman" pitchFamily="18" charset="0"/>
                  <a:ea typeface="宋体" charset="-122"/>
                </a:rPr>
                <a:t>漂移项</a:t>
              </a:r>
            </a:p>
          </p:txBody>
        </p:sp>
        <p:graphicFrame>
          <p:nvGraphicFramePr>
            <p:cNvPr id="12" name="Object 1"/>
            <p:cNvGraphicFramePr>
              <a:graphicFrameLocks noChangeAspect="1"/>
            </p:cNvGraphicFramePr>
            <p:nvPr/>
          </p:nvGraphicFramePr>
          <p:xfrm>
            <a:off x="652" y="2256"/>
            <a:ext cx="2121" cy="374"/>
          </p:xfrm>
          <a:graphic>
            <a:graphicData uri="http://schemas.openxmlformats.org/presentationml/2006/ole">
              <mc:AlternateContent xmlns:mc="http://schemas.openxmlformats.org/markup-compatibility/2006">
                <mc:Choice xmlns:v="urn:schemas-microsoft-com:vml" Requires="v">
                  <p:oleObj spid="_x0000_s38960" name="Equation" r:id="rId5" imgW="1295400" imgH="228600" progId="Equation.DSMT4">
                    <p:embed/>
                  </p:oleObj>
                </mc:Choice>
                <mc:Fallback>
                  <p:oleObj name="Equation" r:id="rId5" imgW="1295400" imgH="228600" progId="Equation.DSMT4">
                    <p:embed/>
                    <p:pic>
                      <p:nvPicPr>
                        <p:cNvPr id="106515"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 y="2256"/>
                          <a:ext cx="2121" cy="374"/>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2"/>
            <p:cNvGraphicFramePr>
              <a:graphicFrameLocks noChangeAspect="1"/>
            </p:cNvGraphicFramePr>
            <p:nvPr/>
          </p:nvGraphicFramePr>
          <p:xfrm>
            <a:off x="663" y="2880"/>
            <a:ext cx="2204" cy="395"/>
          </p:xfrm>
          <a:graphic>
            <a:graphicData uri="http://schemas.openxmlformats.org/presentationml/2006/ole">
              <mc:AlternateContent xmlns:mc="http://schemas.openxmlformats.org/markup-compatibility/2006">
                <mc:Choice xmlns:v="urn:schemas-microsoft-com:vml" Requires="v">
                  <p:oleObj spid="_x0000_s38961" name="Equation" r:id="rId7" imgW="1346200" imgH="241300" progId="Equation.DSMT4">
                    <p:embed/>
                  </p:oleObj>
                </mc:Choice>
                <mc:Fallback>
                  <p:oleObj name="Equation" r:id="rId7" imgW="1346200" imgH="241300" progId="Equation.DSMT4">
                    <p:embed/>
                    <p:pic>
                      <p:nvPicPr>
                        <p:cNvPr id="106516"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 y="2880"/>
                          <a:ext cx="2204" cy="395"/>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 name="Text Box 20"/>
          <p:cNvSpPr txBox="1">
            <a:spLocks noChangeArrowheads="1"/>
          </p:cNvSpPr>
          <p:nvPr/>
        </p:nvSpPr>
        <p:spPr bwMode="auto">
          <a:xfrm>
            <a:off x="669464" y="3683000"/>
            <a:ext cx="1574800" cy="469900"/>
          </a:xfrm>
          <a:prstGeom prst="rect">
            <a:avLst/>
          </a:prstGeom>
          <a:noFill/>
          <a:ln w="12700" cap="sq">
            <a:solidFill>
              <a:srgbClr val="FF0000"/>
            </a:solidFill>
            <a:miter lim="800000"/>
            <a:headEnd type="none" w="sm" len="sm"/>
            <a:tailEnd type="none" w="sm" len="sm"/>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方程形式</a:t>
            </a:r>
            <a:r>
              <a:rPr kumimoji="1" lang="en-US" altLang="zh-CN" sz="2400" b="1">
                <a:solidFill>
                  <a:srgbClr val="000000"/>
                </a:solidFill>
                <a:latin typeface="Times New Roman" pitchFamily="18" charset="0"/>
                <a:ea typeface="宋体" charset="-122"/>
              </a:rPr>
              <a:t>1</a:t>
            </a:r>
          </a:p>
        </p:txBody>
      </p:sp>
    </p:spTree>
    <p:extLst>
      <p:ext uri="{BB962C8B-B14F-4D97-AF65-F5344CB8AC3E}">
        <p14:creationId xmlns:p14="http://schemas.microsoft.com/office/powerpoint/2010/main" val="297341170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59</a:t>
            </a:fld>
            <a:endParaRPr lang="zh-CN" altLang="en-US"/>
          </a:p>
        </p:txBody>
      </p:sp>
      <p:grpSp>
        <p:nvGrpSpPr>
          <p:cNvPr id="3" name="Group 9"/>
          <p:cNvGrpSpPr>
            <a:grpSpLocks/>
          </p:cNvGrpSpPr>
          <p:nvPr/>
        </p:nvGrpSpPr>
        <p:grpSpPr bwMode="auto">
          <a:xfrm>
            <a:off x="918651" y="1351321"/>
            <a:ext cx="3206750" cy="838200"/>
            <a:chOff x="3464" y="1824"/>
            <a:chExt cx="2020" cy="528"/>
          </a:xfrm>
        </p:grpSpPr>
        <p:graphicFrame>
          <p:nvGraphicFramePr>
            <p:cNvPr id="4" name="Object 10"/>
            <p:cNvGraphicFramePr>
              <a:graphicFrameLocks noChangeAspect="1"/>
            </p:cNvGraphicFramePr>
            <p:nvPr/>
          </p:nvGraphicFramePr>
          <p:xfrm>
            <a:off x="3464" y="1824"/>
            <a:ext cx="992" cy="528"/>
          </p:xfrm>
          <a:graphic>
            <a:graphicData uri="http://schemas.openxmlformats.org/presentationml/2006/ole">
              <mc:AlternateContent xmlns:mc="http://schemas.openxmlformats.org/markup-compatibility/2006">
                <mc:Choice xmlns:v="urn:schemas-microsoft-com:vml" Requires="v">
                  <p:oleObj spid="_x0000_s40088" name="公式" r:id="rId3" imgW="787400" imgH="419100" progId="Equation.3">
                    <p:embed/>
                  </p:oleObj>
                </mc:Choice>
                <mc:Fallback>
                  <p:oleObj name="公式" r:id="rId3" imgW="787400" imgH="419100" progId="Equation.3">
                    <p:embed/>
                    <p:pic>
                      <p:nvPicPr>
                        <p:cNvPr id="107544"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4" y="1824"/>
                          <a:ext cx="992" cy="528"/>
                        </a:xfrm>
                        <a:prstGeom prst="rect">
                          <a:avLst/>
                        </a:prstGeom>
                        <a:solidFill>
                          <a:srgbClr val="FF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11"/>
            <p:cNvGraphicFramePr>
              <a:graphicFrameLocks noChangeAspect="1"/>
            </p:cNvGraphicFramePr>
            <p:nvPr/>
          </p:nvGraphicFramePr>
          <p:xfrm>
            <a:off x="4472" y="1824"/>
            <a:ext cx="1012" cy="522"/>
          </p:xfrm>
          <a:graphic>
            <a:graphicData uri="http://schemas.openxmlformats.org/presentationml/2006/ole">
              <mc:AlternateContent xmlns:mc="http://schemas.openxmlformats.org/markup-compatibility/2006">
                <mc:Choice xmlns:v="urn:schemas-microsoft-com:vml" Requires="v">
                  <p:oleObj spid="_x0000_s40089" name="公式" r:id="rId5" imgW="812447" imgH="418918" progId="Equation.3">
                    <p:embed/>
                  </p:oleObj>
                </mc:Choice>
                <mc:Fallback>
                  <p:oleObj name="公式" r:id="rId5" imgW="812447" imgH="418918" progId="Equation.3">
                    <p:embed/>
                    <p:pic>
                      <p:nvPicPr>
                        <p:cNvPr id="107545"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2" y="1824"/>
                          <a:ext cx="1012" cy="522"/>
                        </a:xfrm>
                        <a:prstGeom prst="rect">
                          <a:avLst/>
                        </a:prstGeom>
                        <a:solidFill>
                          <a:srgbClr val="FF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 name="Text Box 12"/>
          <p:cNvSpPr txBox="1">
            <a:spLocks noChangeArrowheads="1"/>
          </p:cNvSpPr>
          <p:nvPr/>
        </p:nvSpPr>
        <p:spPr bwMode="auto">
          <a:xfrm>
            <a:off x="982151" y="908409"/>
            <a:ext cx="2438400" cy="430212"/>
          </a:xfrm>
          <a:prstGeom prst="rect">
            <a:avLst/>
          </a:prstGeom>
          <a:noFill/>
          <a:ln w="12700" cap="sq">
            <a:noFill/>
            <a:miter lim="800000"/>
            <a:headEnd type="none" w="sm" len="sm"/>
            <a:tailEnd type="none" w="sm" len="sm"/>
          </a:ln>
        </p:spPr>
        <p:txBody>
          <a:bodyPr>
            <a:spAutoFit/>
          </a:bodyPr>
          <a:lstStyle/>
          <a:p>
            <a:pPr defTabSz="914400" fontAlgn="base">
              <a:spcBef>
                <a:spcPct val="50000"/>
              </a:spcBef>
              <a:spcAft>
                <a:spcPct val="0"/>
              </a:spcAft>
            </a:pPr>
            <a:r>
              <a:rPr kumimoji="1" lang="zh-CN" altLang="en-US" sz="2200" b="1">
                <a:solidFill>
                  <a:srgbClr val="000000"/>
                </a:solidFill>
                <a:latin typeface="Times New Roman" pitchFamily="18" charset="0"/>
                <a:ea typeface="宋体" charset="-122"/>
              </a:rPr>
              <a:t>爱因斯坦关系</a:t>
            </a:r>
          </a:p>
        </p:txBody>
      </p:sp>
      <p:sp>
        <p:nvSpPr>
          <p:cNvPr id="7" name="Text Box 13"/>
          <p:cNvSpPr txBox="1">
            <a:spLocks noChangeArrowheads="1"/>
          </p:cNvSpPr>
          <p:nvPr/>
        </p:nvSpPr>
        <p:spPr bwMode="auto">
          <a:xfrm>
            <a:off x="982151" y="2275246"/>
            <a:ext cx="2743200" cy="430213"/>
          </a:xfrm>
          <a:prstGeom prst="rect">
            <a:avLst/>
          </a:prstGeom>
          <a:noFill/>
          <a:ln w="12700" cap="sq">
            <a:noFill/>
            <a:miter lim="800000"/>
            <a:headEnd type="none" w="sm" len="sm"/>
            <a:tailEnd type="none" w="sm" len="sm"/>
          </a:ln>
        </p:spPr>
        <p:txBody>
          <a:bodyPr>
            <a:spAutoFit/>
          </a:bodyPr>
          <a:lstStyle/>
          <a:p>
            <a:pPr defTabSz="914400" fontAlgn="base">
              <a:spcBef>
                <a:spcPct val="50000"/>
              </a:spcBef>
              <a:spcAft>
                <a:spcPct val="0"/>
              </a:spcAft>
            </a:pPr>
            <a:r>
              <a:rPr kumimoji="1" lang="zh-CN" altLang="en-US" sz="2200" b="1">
                <a:solidFill>
                  <a:srgbClr val="000000"/>
                </a:solidFill>
                <a:latin typeface="Times New Roman" pitchFamily="18" charset="0"/>
                <a:ea typeface="宋体" charset="-122"/>
              </a:rPr>
              <a:t>波尔兹曼关系</a:t>
            </a:r>
          </a:p>
        </p:txBody>
      </p:sp>
      <p:graphicFrame>
        <p:nvGraphicFramePr>
          <p:cNvPr id="8" name="Object 14"/>
          <p:cNvGraphicFramePr>
            <a:graphicFrameLocks noChangeAspect="1"/>
          </p:cNvGraphicFramePr>
          <p:nvPr>
            <p:extLst>
              <p:ext uri="{D42A27DB-BD31-4B8C-83A1-F6EECF244321}">
                <p14:modId xmlns:p14="http://schemas.microsoft.com/office/powerpoint/2010/main" val="1572102631"/>
              </p:ext>
            </p:extLst>
          </p:nvPr>
        </p:nvGraphicFramePr>
        <p:xfrm>
          <a:off x="2215638" y="4323121"/>
          <a:ext cx="1712913" cy="750888"/>
        </p:xfrm>
        <a:graphic>
          <a:graphicData uri="http://schemas.openxmlformats.org/presentationml/2006/ole">
            <mc:AlternateContent xmlns:mc="http://schemas.openxmlformats.org/markup-compatibility/2006">
              <mc:Choice xmlns:v="urn:schemas-microsoft-com:vml" Requires="v">
                <p:oleObj spid="_x0000_s40090" name="公式" r:id="rId7" imgW="660113" imgH="431613" progId="Equation.3">
                  <p:embed/>
                </p:oleObj>
              </mc:Choice>
              <mc:Fallback>
                <p:oleObj name="公式" r:id="rId7" imgW="660113" imgH="431613" progId="Equation.3">
                  <p:embed/>
                  <p:pic>
                    <p:nvPicPr>
                      <p:cNvPr id="10753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5638" y="4323121"/>
                        <a:ext cx="1712913" cy="750888"/>
                      </a:xfrm>
                      <a:prstGeom prst="rect">
                        <a:avLst/>
                      </a:prstGeom>
                      <a:solidFill>
                        <a:srgbClr val="FF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15"/>
          <p:cNvSpPr>
            <a:spLocks noChangeArrowheads="1"/>
          </p:cNvSpPr>
          <p:nvPr/>
        </p:nvSpPr>
        <p:spPr bwMode="auto">
          <a:xfrm>
            <a:off x="747201" y="887771"/>
            <a:ext cx="3822700" cy="5099050"/>
          </a:xfrm>
          <a:prstGeom prst="rect">
            <a:avLst/>
          </a:prstGeom>
          <a:noFill/>
          <a:ln w="12700" cap="sq">
            <a:solidFill>
              <a:srgbClr val="FF0000"/>
            </a:solidFill>
            <a:miter lim="800000"/>
            <a:headEnd type="none" w="sm" len="sm"/>
            <a:tailEnd type="none" w="sm" len="sm"/>
          </a:ln>
        </p:spPr>
        <p:txBody>
          <a:bodyPr wrap="none" anchor="ctr"/>
          <a:lstStyle/>
          <a:p>
            <a:pPr defTabSz="914400" fontAlgn="base">
              <a:spcBef>
                <a:spcPct val="0"/>
              </a:spcBef>
              <a:spcAft>
                <a:spcPct val="0"/>
              </a:spcAft>
            </a:pPr>
            <a:endParaRPr kumimoji="1" lang="zh-CN" altLang="en-US" sz="3200">
              <a:solidFill>
                <a:srgbClr val="000000"/>
              </a:solidFill>
              <a:latin typeface="Times New Roman" pitchFamily="18" charset="0"/>
              <a:ea typeface="宋体" charset="-122"/>
            </a:endParaRPr>
          </a:p>
        </p:txBody>
      </p:sp>
      <p:sp>
        <p:nvSpPr>
          <p:cNvPr id="10" name="AutoShape 16"/>
          <p:cNvSpPr>
            <a:spLocks noChangeArrowheads="1"/>
          </p:cNvSpPr>
          <p:nvPr/>
        </p:nvSpPr>
        <p:spPr bwMode="auto">
          <a:xfrm>
            <a:off x="4723888" y="725846"/>
            <a:ext cx="990600" cy="6858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12700" cap="sq">
            <a:solidFill>
              <a:srgbClr val="FF0000"/>
            </a:solidFill>
            <a:miter lim="800000"/>
            <a:headEnd type="none" w="sm" len="sm"/>
            <a:tailEnd type="none" w="sm" len="sm"/>
          </a:ln>
        </p:spPr>
        <p:txBody>
          <a:bodyPr wrap="none" anchor="ctr"/>
          <a:lstStyle/>
          <a:p>
            <a:pPr defTabSz="914400" fontAlgn="base">
              <a:spcBef>
                <a:spcPct val="0"/>
              </a:spcBef>
              <a:spcAft>
                <a:spcPct val="0"/>
              </a:spcAft>
            </a:pPr>
            <a:endParaRPr kumimoji="1" lang="zh-CN" altLang="en-US" sz="3200">
              <a:solidFill>
                <a:srgbClr val="000000"/>
              </a:solidFill>
              <a:latin typeface="Times New Roman" pitchFamily="18" charset="0"/>
              <a:ea typeface="宋体" charset="-122"/>
            </a:endParaRPr>
          </a:p>
        </p:txBody>
      </p:sp>
      <p:sp>
        <p:nvSpPr>
          <p:cNvPr id="11" name="Text Box 17"/>
          <p:cNvSpPr txBox="1">
            <a:spLocks noChangeArrowheads="1"/>
          </p:cNvSpPr>
          <p:nvPr/>
        </p:nvSpPr>
        <p:spPr bwMode="auto">
          <a:xfrm>
            <a:off x="5997063" y="870309"/>
            <a:ext cx="1576388" cy="469900"/>
          </a:xfrm>
          <a:prstGeom prst="rect">
            <a:avLst/>
          </a:prstGeom>
          <a:noFill/>
          <a:ln w="12700" cap="sq">
            <a:solidFill>
              <a:srgbClr val="FF0000"/>
            </a:solidFill>
            <a:miter lim="800000"/>
            <a:headEnd type="none" w="sm" len="sm"/>
            <a:tailEnd type="none" w="sm" len="sm"/>
          </a:ln>
        </p:spPr>
        <p:txBody>
          <a:bodyPr>
            <a:spAutoFit/>
          </a:bodyPr>
          <a:lstStyle/>
          <a:p>
            <a:pPr defTabSz="914400" fontAlgn="base">
              <a:spcBef>
                <a:spcPct val="50000"/>
              </a:spcBef>
              <a:spcAft>
                <a:spcPct val="0"/>
              </a:spcAft>
            </a:pPr>
            <a:r>
              <a:rPr kumimoji="1" lang="zh-CN" altLang="en-US" sz="2400" b="1">
                <a:solidFill>
                  <a:srgbClr val="000000"/>
                </a:solidFill>
                <a:latin typeface="Times New Roman" pitchFamily="18" charset="0"/>
                <a:ea typeface="宋体" charset="-122"/>
              </a:rPr>
              <a:t>方程形式</a:t>
            </a:r>
            <a:r>
              <a:rPr kumimoji="1" lang="en-US" altLang="zh-CN" sz="2400" b="1">
                <a:solidFill>
                  <a:srgbClr val="000000"/>
                </a:solidFill>
                <a:latin typeface="Times New Roman" pitchFamily="18" charset="0"/>
                <a:ea typeface="宋体" charset="-122"/>
              </a:rPr>
              <a:t>2</a:t>
            </a:r>
          </a:p>
        </p:txBody>
      </p:sp>
      <p:graphicFrame>
        <p:nvGraphicFramePr>
          <p:cNvPr id="12" name="Object 18"/>
          <p:cNvGraphicFramePr>
            <a:graphicFrameLocks noChangeAspect="1"/>
          </p:cNvGraphicFramePr>
          <p:nvPr>
            <p:extLst>
              <p:ext uri="{D42A27DB-BD31-4B8C-83A1-F6EECF244321}">
                <p14:modId xmlns:p14="http://schemas.microsoft.com/office/powerpoint/2010/main" val="2320482651"/>
              </p:ext>
            </p:extLst>
          </p:nvPr>
        </p:nvGraphicFramePr>
        <p:xfrm>
          <a:off x="5655751" y="1568809"/>
          <a:ext cx="2317750" cy="549275"/>
        </p:xfrm>
        <a:graphic>
          <a:graphicData uri="http://schemas.openxmlformats.org/presentationml/2006/ole">
            <mc:AlternateContent xmlns:mc="http://schemas.openxmlformats.org/markup-compatibility/2006">
              <mc:Choice xmlns:v="urn:schemas-microsoft-com:vml" Requires="v">
                <p:oleObj spid="_x0000_s40091" name="公式" r:id="rId9" imgW="965200" imgH="228600" progId="Equation.3">
                  <p:embed/>
                </p:oleObj>
              </mc:Choice>
              <mc:Fallback>
                <p:oleObj name="公式" r:id="rId9" imgW="965200" imgH="228600" progId="Equation.3">
                  <p:embed/>
                  <p:pic>
                    <p:nvPicPr>
                      <p:cNvPr id="107534"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5751" y="1568809"/>
                        <a:ext cx="2317750" cy="549275"/>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9"/>
          <p:cNvGraphicFramePr>
            <a:graphicFrameLocks noChangeAspect="1"/>
          </p:cNvGraphicFramePr>
          <p:nvPr>
            <p:extLst>
              <p:ext uri="{D42A27DB-BD31-4B8C-83A1-F6EECF244321}">
                <p14:modId xmlns:p14="http://schemas.microsoft.com/office/powerpoint/2010/main" val="4043757752"/>
              </p:ext>
            </p:extLst>
          </p:nvPr>
        </p:nvGraphicFramePr>
        <p:xfrm>
          <a:off x="5636701" y="2289534"/>
          <a:ext cx="2438400" cy="579437"/>
        </p:xfrm>
        <a:graphic>
          <a:graphicData uri="http://schemas.openxmlformats.org/presentationml/2006/ole">
            <mc:AlternateContent xmlns:mc="http://schemas.openxmlformats.org/markup-compatibility/2006">
              <mc:Choice xmlns:v="urn:schemas-microsoft-com:vml" Requires="v">
                <p:oleObj spid="_x0000_s40092" name="Equation" r:id="rId11" imgW="1016000" imgH="241300" progId="Equation.3">
                  <p:embed/>
                </p:oleObj>
              </mc:Choice>
              <mc:Fallback>
                <p:oleObj name="Equation" r:id="rId11" imgW="1016000" imgH="241300" progId="Equation.3">
                  <p:embed/>
                  <p:pic>
                    <p:nvPicPr>
                      <p:cNvPr id="107535"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6701" y="2289534"/>
                        <a:ext cx="2438400" cy="579437"/>
                      </a:xfrm>
                      <a:prstGeom prst="rect">
                        <a:avLst/>
                      </a:prstGeom>
                      <a:solidFill>
                        <a:srgbClr val="CC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21"/>
          <p:cNvSpPr txBox="1">
            <a:spLocks noChangeArrowheads="1"/>
          </p:cNvSpPr>
          <p:nvPr/>
        </p:nvSpPr>
        <p:spPr bwMode="auto">
          <a:xfrm>
            <a:off x="982151" y="4724759"/>
            <a:ext cx="1219200" cy="430212"/>
          </a:xfrm>
          <a:prstGeom prst="rect">
            <a:avLst/>
          </a:prstGeom>
          <a:noFill/>
          <a:ln w="12700" cap="sq">
            <a:noFill/>
            <a:miter lim="800000"/>
            <a:headEnd type="none" w="sm" len="sm"/>
            <a:tailEnd type="none" w="sm" len="sm"/>
          </a:ln>
        </p:spPr>
        <p:txBody>
          <a:bodyPr>
            <a:spAutoFit/>
          </a:bodyPr>
          <a:lstStyle/>
          <a:p>
            <a:pPr defTabSz="914400" fontAlgn="base">
              <a:spcBef>
                <a:spcPct val="50000"/>
              </a:spcBef>
              <a:spcAft>
                <a:spcPct val="0"/>
              </a:spcAft>
            </a:pPr>
            <a:r>
              <a:rPr kumimoji="1" lang="zh-CN" altLang="en-US" sz="2200" b="1">
                <a:solidFill>
                  <a:srgbClr val="000000"/>
                </a:solidFill>
                <a:latin typeface="Times New Roman" pitchFamily="18" charset="0"/>
                <a:ea typeface="宋体" charset="-122"/>
              </a:rPr>
              <a:t>费米势</a:t>
            </a:r>
          </a:p>
        </p:txBody>
      </p:sp>
      <p:graphicFrame>
        <p:nvGraphicFramePr>
          <p:cNvPr id="15" name="Object 22"/>
          <p:cNvGraphicFramePr>
            <a:graphicFrameLocks noChangeAspect="1"/>
          </p:cNvGraphicFramePr>
          <p:nvPr>
            <p:extLst>
              <p:ext uri="{D42A27DB-BD31-4B8C-83A1-F6EECF244321}">
                <p14:modId xmlns:p14="http://schemas.microsoft.com/office/powerpoint/2010/main" val="1900983637"/>
              </p:ext>
            </p:extLst>
          </p:nvPr>
        </p:nvGraphicFramePr>
        <p:xfrm>
          <a:off x="1348863" y="2775309"/>
          <a:ext cx="2387600" cy="636587"/>
        </p:xfrm>
        <a:graphic>
          <a:graphicData uri="http://schemas.openxmlformats.org/presentationml/2006/ole">
            <mc:AlternateContent xmlns:mc="http://schemas.openxmlformats.org/markup-compatibility/2006">
              <mc:Choice xmlns:v="urn:schemas-microsoft-com:vml" Requires="v">
                <p:oleObj spid="_x0000_s40093" name="Equation" r:id="rId13" imgW="952200" imgH="253800" progId="Equation.DSMT4">
                  <p:embed/>
                </p:oleObj>
              </mc:Choice>
              <mc:Fallback>
                <p:oleObj name="Equation" r:id="rId13" imgW="952200" imgH="253800" progId="Equation.DSMT4">
                  <p:embed/>
                  <p:pic>
                    <p:nvPicPr>
                      <p:cNvPr id="107538"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48863" y="2775309"/>
                        <a:ext cx="2387600" cy="636587"/>
                      </a:xfrm>
                      <a:prstGeom prst="rect">
                        <a:avLst/>
                      </a:prstGeom>
                      <a:solidFill>
                        <a:srgbClr val="FFFFCC"/>
                      </a:solidFill>
                      <a:ln>
                        <a:noFill/>
                      </a:ln>
                      <a:effectLst/>
                      <a:extLst>
                        <a:ext uri="{91240B29-F687-4F45-9708-019B960494DF}">
                          <a14:hiddenLine xmlns:a14="http://schemas.microsoft.com/office/drawing/2010/main" w="12700" cap="sq">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00CC00"/>
                              </a:outerShdw>
                            </a:effectLst>
                          </a14:hiddenEffects>
                        </a:ext>
                      </a:extLst>
                    </p:spPr>
                  </p:pic>
                </p:oleObj>
              </mc:Fallback>
            </mc:AlternateContent>
          </a:graphicData>
        </a:graphic>
      </p:graphicFrame>
      <p:graphicFrame>
        <p:nvGraphicFramePr>
          <p:cNvPr id="16" name="Object 23"/>
          <p:cNvGraphicFramePr>
            <a:graphicFrameLocks noChangeAspect="1"/>
          </p:cNvGraphicFramePr>
          <p:nvPr>
            <p:extLst>
              <p:ext uri="{D42A27DB-BD31-4B8C-83A1-F6EECF244321}">
                <p14:modId xmlns:p14="http://schemas.microsoft.com/office/powerpoint/2010/main" val="2607517204"/>
              </p:ext>
            </p:extLst>
          </p:nvPr>
        </p:nvGraphicFramePr>
        <p:xfrm>
          <a:off x="1336163" y="3516671"/>
          <a:ext cx="2420938" cy="628650"/>
        </p:xfrm>
        <a:graphic>
          <a:graphicData uri="http://schemas.openxmlformats.org/presentationml/2006/ole">
            <mc:AlternateContent xmlns:mc="http://schemas.openxmlformats.org/markup-compatibility/2006">
              <mc:Choice xmlns:v="urn:schemas-microsoft-com:vml" Requires="v">
                <p:oleObj spid="_x0000_s40094" name="公式" r:id="rId15" imgW="977476" imgH="253890" progId="Equation.3">
                  <p:embed/>
                </p:oleObj>
              </mc:Choice>
              <mc:Fallback>
                <p:oleObj name="公式" r:id="rId15" imgW="977476" imgH="253890" progId="Equation.3">
                  <p:embed/>
                  <p:pic>
                    <p:nvPicPr>
                      <p:cNvPr id="107539"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6163" y="3516671"/>
                        <a:ext cx="2420938" cy="628650"/>
                      </a:xfrm>
                      <a:prstGeom prst="rect">
                        <a:avLst/>
                      </a:prstGeom>
                      <a:solidFill>
                        <a:srgbClr val="FFFFCC"/>
                      </a:solidFill>
                      <a:ln>
                        <a:noFill/>
                      </a:ln>
                      <a:effectLst/>
                      <a:extLst>
                        <a:ext uri="{91240B29-F687-4F45-9708-019B960494DF}">
                          <a14:hiddenLine xmlns:a14="http://schemas.microsoft.com/office/drawing/2010/main" w="12700" cap="sq">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00CC00"/>
                              </a:outerShdw>
                            </a:effectLst>
                          </a14:hiddenEffects>
                        </a:ext>
                      </a:extLst>
                    </p:spPr>
                  </p:pic>
                </p:oleObj>
              </mc:Fallback>
            </mc:AlternateContent>
          </a:graphicData>
        </a:graphic>
      </p:graphicFrame>
      <p:graphicFrame>
        <p:nvGraphicFramePr>
          <p:cNvPr id="17" name="Object 24"/>
          <p:cNvGraphicFramePr>
            <a:graphicFrameLocks noChangeAspect="1"/>
          </p:cNvGraphicFramePr>
          <p:nvPr>
            <p:extLst>
              <p:ext uri="{D42A27DB-BD31-4B8C-83A1-F6EECF244321}">
                <p14:modId xmlns:p14="http://schemas.microsoft.com/office/powerpoint/2010/main" val="3145808959"/>
              </p:ext>
            </p:extLst>
          </p:nvPr>
        </p:nvGraphicFramePr>
        <p:xfrm>
          <a:off x="2248976" y="5154971"/>
          <a:ext cx="1682750" cy="762000"/>
        </p:xfrm>
        <a:graphic>
          <a:graphicData uri="http://schemas.openxmlformats.org/presentationml/2006/ole">
            <mc:AlternateContent xmlns:mc="http://schemas.openxmlformats.org/markup-compatibility/2006">
              <mc:Choice xmlns:v="urn:schemas-microsoft-com:vml" Requires="v">
                <p:oleObj spid="_x0000_s40095" name="公式" r:id="rId17" imgW="583947" imgH="418918" progId="Equation.3">
                  <p:embed/>
                </p:oleObj>
              </mc:Choice>
              <mc:Fallback>
                <p:oleObj name="公式" r:id="rId17" imgW="583947" imgH="418918" progId="Equation.3">
                  <p:embed/>
                  <p:pic>
                    <p:nvPicPr>
                      <p:cNvPr id="10754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48976" y="5154971"/>
                        <a:ext cx="1682750" cy="762000"/>
                      </a:xfrm>
                      <a:prstGeom prst="rect">
                        <a:avLst/>
                      </a:prstGeom>
                      <a:solidFill>
                        <a:srgbClr val="FFFFCC"/>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25"/>
          <p:cNvGraphicFramePr>
            <a:graphicFrameLocks noChangeAspect="1"/>
          </p:cNvGraphicFramePr>
          <p:nvPr>
            <p:extLst>
              <p:ext uri="{D42A27DB-BD31-4B8C-83A1-F6EECF244321}">
                <p14:modId xmlns:p14="http://schemas.microsoft.com/office/powerpoint/2010/main" val="491613095"/>
              </p:ext>
            </p:extLst>
          </p:nvPr>
        </p:nvGraphicFramePr>
        <p:xfrm>
          <a:off x="5485888" y="3513496"/>
          <a:ext cx="2743200" cy="1036638"/>
        </p:xfrm>
        <a:graphic>
          <a:graphicData uri="http://schemas.openxmlformats.org/presentationml/2006/ole">
            <mc:AlternateContent xmlns:mc="http://schemas.openxmlformats.org/markup-compatibility/2006">
              <mc:Choice xmlns:v="urn:schemas-microsoft-com:vml" Requires="v">
                <p:oleObj spid="_x0000_s40096" name="Equation" r:id="rId19" imgW="1143000" imgH="431800" progId="Equation.3">
                  <p:embed/>
                </p:oleObj>
              </mc:Choice>
              <mc:Fallback>
                <p:oleObj name="Equation" r:id="rId19" imgW="1143000" imgH="431800" progId="Equation.3">
                  <p:embed/>
                  <p:pic>
                    <p:nvPicPr>
                      <p:cNvPr id="107541"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85888" y="3513496"/>
                        <a:ext cx="2743200" cy="1036638"/>
                      </a:xfrm>
                      <a:prstGeom prst="rect">
                        <a:avLst/>
                      </a:prstGeom>
                      <a:solidFill>
                        <a:srgbClr val="FFFFCC"/>
                      </a:solidFill>
                      <a:ln>
                        <a:noFill/>
                      </a:ln>
                      <a:effectLst/>
                      <a:extLst>
                        <a:ext uri="{91240B29-F687-4F45-9708-019B960494DF}">
                          <a14:hiddenLine xmlns:a14="http://schemas.microsoft.com/office/drawing/2010/main" w="12700" cap="sq">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00CC00"/>
                              </a:outerShdw>
                            </a:effectLst>
                          </a14:hiddenEffects>
                        </a:ext>
                      </a:extLst>
                    </p:spPr>
                  </p:pic>
                </p:oleObj>
              </mc:Fallback>
            </mc:AlternateContent>
          </a:graphicData>
        </a:graphic>
      </p:graphicFrame>
      <p:graphicFrame>
        <p:nvGraphicFramePr>
          <p:cNvPr id="19" name="Object 26"/>
          <p:cNvGraphicFramePr>
            <a:graphicFrameLocks noChangeAspect="1"/>
          </p:cNvGraphicFramePr>
          <p:nvPr>
            <p:extLst>
              <p:ext uri="{D42A27DB-BD31-4B8C-83A1-F6EECF244321}">
                <p14:modId xmlns:p14="http://schemas.microsoft.com/office/powerpoint/2010/main" val="2639048553"/>
              </p:ext>
            </p:extLst>
          </p:nvPr>
        </p:nvGraphicFramePr>
        <p:xfrm>
          <a:off x="5538276" y="4710471"/>
          <a:ext cx="2619375" cy="1035050"/>
        </p:xfrm>
        <a:graphic>
          <a:graphicData uri="http://schemas.openxmlformats.org/presentationml/2006/ole">
            <mc:AlternateContent xmlns:mc="http://schemas.openxmlformats.org/markup-compatibility/2006">
              <mc:Choice xmlns:v="urn:schemas-microsoft-com:vml" Requires="v">
                <p:oleObj spid="_x0000_s40097" name="公式" r:id="rId21" imgW="1091726" imgH="431613" progId="Equation.3">
                  <p:embed/>
                </p:oleObj>
              </mc:Choice>
              <mc:Fallback>
                <p:oleObj name="公式" r:id="rId21" imgW="1091726" imgH="431613" progId="Equation.3">
                  <p:embed/>
                  <p:pic>
                    <p:nvPicPr>
                      <p:cNvPr id="107542" name="Object 2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38276" y="4710471"/>
                        <a:ext cx="2619375" cy="1035050"/>
                      </a:xfrm>
                      <a:prstGeom prst="rect">
                        <a:avLst/>
                      </a:prstGeom>
                      <a:solidFill>
                        <a:srgbClr val="FFFFCC"/>
                      </a:solidFill>
                      <a:ln>
                        <a:noFill/>
                      </a:ln>
                      <a:effectLst/>
                      <a:extLst>
                        <a:ext uri="{91240B29-F687-4F45-9708-019B960494DF}">
                          <a14:hiddenLine xmlns:a14="http://schemas.microsoft.com/office/drawing/2010/main" w="12700" cap="sq">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00CC00"/>
                              </a:outerShdw>
                            </a:effectLst>
                          </a14:hiddenEffects>
                        </a:ext>
                      </a:extLst>
                    </p:spPr>
                  </p:pic>
                </p:oleObj>
              </mc:Fallback>
            </mc:AlternateContent>
          </a:graphicData>
        </a:graphic>
      </p:graphicFrame>
    </p:spTree>
    <p:extLst>
      <p:ext uri="{BB962C8B-B14F-4D97-AF65-F5344CB8AC3E}">
        <p14:creationId xmlns:p14="http://schemas.microsoft.com/office/powerpoint/2010/main" val="17241226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60</a:t>
            </a:fld>
            <a:endParaRPr lang="zh-CN" altLang="en-US"/>
          </a:p>
        </p:txBody>
      </p:sp>
      <p:sp>
        <p:nvSpPr>
          <p:cNvPr id="3" name="Rectangle 4"/>
          <p:cNvSpPr>
            <a:spLocks noChangeArrowheads="1"/>
          </p:cNvSpPr>
          <p:nvPr/>
        </p:nvSpPr>
        <p:spPr bwMode="auto">
          <a:xfrm>
            <a:off x="3383280" y="172541"/>
            <a:ext cx="3600132"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本章总结</a:t>
            </a:r>
            <a:endParaRPr kumimoji="1" lang="zh-CN" altLang="en-US" sz="3600" b="1" dirty="0">
              <a:solidFill>
                <a:srgbClr val="FF6600"/>
              </a:solidFill>
              <a:latin typeface="Times New Roman" pitchFamily="18" charset="0"/>
              <a:ea typeface="宋体" pitchFamily="2" charset="-122"/>
            </a:endParaRPr>
          </a:p>
        </p:txBody>
      </p:sp>
      <p:sp>
        <p:nvSpPr>
          <p:cNvPr id="6" name="Text Box 8"/>
          <p:cNvSpPr txBox="1">
            <a:spLocks noChangeArrowheads="1"/>
          </p:cNvSpPr>
          <p:nvPr/>
        </p:nvSpPr>
        <p:spPr bwMode="auto">
          <a:xfrm>
            <a:off x="295119" y="761651"/>
            <a:ext cx="8637015" cy="2529923"/>
          </a:xfrm>
          <a:prstGeom prst="rect">
            <a:avLst/>
          </a:prstGeom>
          <a:noFill/>
          <a:ln w="9525">
            <a:noFill/>
            <a:miter lim="800000"/>
            <a:headEnd/>
            <a:tailEnd/>
          </a:ln>
        </p:spPr>
        <p:txBody>
          <a:bodyPr wrap="square">
            <a:spAutoFit/>
          </a:bodyPr>
          <a:lstStyle/>
          <a:p>
            <a:pPr defTabSz="914400" fontAlgn="base">
              <a:lnSpc>
                <a:spcPct val="110000"/>
              </a:lnSpc>
              <a:spcBef>
                <a:spcPct val="0"/>
              </a:spcBef>
              <a:spcAft>
                <a:spcPct val="0"/>
              </a:spcAft>
            </a:pPr>
            <a:r>
              <a:rPr kumimoji="1" lang="zh-CN" altLang="en-US" sz="2400" b="1" dirty="0">
                <a:solidFill>
                  <a:srgbClr val="0000FF"/>
                </a:solidFill>
                <a:latin typeface="Times New Roman" pitchFamily="18" charset="0"/>
                <a:ea typeface="宋体" charset="-122"/>
              </a:rPr>
              <a:t>复习</a:t>
            </a:r>
            <a:r>
              <a:rPr kumimoji="1" lang="zh-CN" altLang="en-US" sz="2400" b="1" dirty="0" smtClean="0">
                <a:solidFill>
                  <a:srgbClr val="0000FF"/>
                </a:solidFill>
                <a:latin typeface="Times New Roman" pitchFamily="18" charset="0"/>
                <a:ea typeface="宋体" charset="-122"/>
              </a:rPr>
              <a:t>回顾</a:t>
            </a:r>
            <a:r>
              <a:rPr kumimoji="1" lang="en-US" altLang="zh-CN" sz="2400" b="1" dirty="0" smtClean="0">
                <a:solidFill>
                  <a:srgbClr val="0000FF"/>
                </a:solidFill>
                <a:latin typeface="Times New Roman" pitchFamily="18" charset="0"/>
                <a:ea typeface="宋体" charset="-122"/>
              </a:rPr>
              <a:t>+</a:t>
            </a:r>
            <a:r>
              <a:rPr kumimoji="1" lang="zh-CN" altLang="en-US" sz="2400" b="1" dirty="0" smtClean="0">
                <a:solidFill>
                  <a:srgbClr val="0000FF"/>
                </a:solidFill>
                <a:latin typeface="Times New Roman" pitchFamily="18" charset="0"/>
                <a:ea typeface="宋体" charset="-122"/>
              </a:rPr>
              <a:t>概念强化：</a:t>
            </a:r>
            <a:endParaRPr kumimoji="1" lang="en-US" altLang="zh-CN" sz="2400" b="1" dirty="0">
              <a:solidFill>
                <a:srgbClr val="0000FF"/>
              </a:solidFill>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smtClean="0">
                <a:solidFill>
                  <a:srgbClr val="FF3300"/>
                </a:solidFill>
                <a:latin typeface="Times New Roman" pitchFamily="18" charset="0"/>
                <a:ea typeface="宋体" charset="-122"/>
              </a:rPr>
              <a:t>载流子微观运动：</a:t>
            </a:r>
            <a:r>
              <a:rPr kumimoji="1" lang="zh-CN" altLang="en-US" sz="2400" b="1" dirty="0" smtClean="0">
                <a:solidFill>
                  <a:srgbClr val="000000"/>
                </a:solidFill>
                <a:latin typeface="Times New Roman" pitchFamily="18" charset="0"/>
                <a:ea typeface="宋体" charset="-122"/>
              </a:rPr>
              <a:t>热运动</a:t>
            </a:r>
            <a:r>
              <a:rPr kumimoji="1" lang="en-US" altLang="zh-CN" sz="2400" b="1" dirty="0" smtClean="0">
                <a:solidFill>
                  <a:srgbClr val="000000"/>
                </a:solidFill>
                <a:latin typeface="Times New Roman" pitchFamily="18" charset="0"/>
                <a:ea typeface="宋体" charset="-122"/>
              </a:rPr>
              <a:t>+</a:t>
            </a:r>
            <a:r>
              <a:rPr kumimoji="1" lang="zh-CN" altLang="en-US" sz="2400" b="1" dirty="0" smtClean="0">
                <a:solidFill>
                  <a:srgbClr val="000000"/>
                </a:solidFill>
                <a:latin typeface="Times New Roman" pitchFamily="18" charset="0"/>
                <a:ea typeface="宋体" charset="-122"/>
              </a:rPr>
              <a:t>散射，</a:t>
            </a:r>
            <a:r>
              <a:rPr kumimoji="1" lang="zh-CN" altLang="en-US" sz="2400" b="1" dirty="0" smtClean="0">
                <a:latin typeface="Times New Roman" pitchFamily="18" charset="0"/>
                <a:ea typeface="宋体" charset="-122"/>
              </a:rPr>
              <a:t>散射机制</a:t>
            </a:r>
            <a:endParaRPr kumimoji="1" lang="en-US" altLang="zh-CN" sz="2400" b="1" dirty="0" smtClean="0">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smtClean="0">
                <a:solidFill>
                  <a:srgbClr val="FF3300"/>
                </a:solidFill>
                <a:latin typeface="Times New Roman" pitchFamily="18" charset="0"/>
                <a:ea typeface="宋体" charset="-122"/>
              </a:rPr>
              <a:t>载流子宏观运动：</a:t>
            </a:r>
            <a:r>
              <a:rPr kumimoji="1" lang="zh-CN" altLang="en-US" sz="2400" b="1" dirty="0" smtClean="0">
                <a:latin typeface="Times New Roman" pitchFamily="18" charset="0"/>
                <a:ea typeface="宋体" charset="-122"/>
              </a:rPr>
              <a:t>漂移</a:t>
            </a:r>
            <a:r>
              <a:rPr kumimoji="1" lang="en-US" altLang="zh-CN" sz="2400" b="1" dirty="0" smtClean="0">
                <a:latin typeface="Times New Roman" pitchFamily="18" charset="0"/>
                <a:ea typeface="宋体" charset="-122"/>
              </a:rPr>
              <a:t>+</a:t>
            </a:r>
            <a:r>
              <a:rPr kumimoji="1" lang="zh-CN" altLang="en-US" sz="2400" b="1" dirty="0" smtClean="0">
                <a:latin typeface="Times New Roman" pitchFamily="18" charset="0"/>
                <a:ea typeface="宋体" charset="-122"/>
              </a:rPr>
              <a:t>扩散，迁移率建立了宏观与微观的桥梁</a:t>
            </a:r>
            <a:endParaRPr kumimoji="1" lang="en-US" altLang="zh-CN" sz="2400" b="1" dirty="0" smtClean="0">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smtClean="0">
                <a:latin typeface="Times New Roman" pitchFamily="18" charset="0"/>
                <a:ea typeface="宋体" charset="-122"/>
              </a:rPr>
              <a:t>平衡态、非平衡态、稳定态、非稳定态的区别</a:t>
            </a:r>
            <a:endParaRPr kumimoji="1" lang="en-US" altLang="zh-CN" sz="2400" b="1" dirty="0" smtClean="0">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a:solidFill>
                  <a:srgbClr val="000000"/>
                </a:solidFill>
                <a:latin typeface="Times New Roman" pitchFamily="18" charset="0"/>
                <a:ea typeface="宋体" charset="-122"/>
              </a:rPr>
              <a:t>过剩载流子的</a:t>
            </a:r>
            <a:r>
              <a:rPr kumimoji="1" lang="zh-CN" altLang="en-US" sz="2400" b="1" dirty="0">
                <a:solidFill>
                  <a:srgbClr val="FF3300"/>
                </a:solidFill>
                <a:latin typeface="Times New Roman" pitchFamily="18" charset="0"/>
                <a:ea typeface="宋体" charset="-122"/>
              </a:rPr>
              <a:t>产生（注入）、复合、</a:t>
            </a:r>
            <a:r>
              <a:rPr kumimoji="1" lang="zh-CN" altLang="en-US" sz="2400" b="1" dirty="0" smtClean="0">
                <a:solidFill>
                  <a:srgbClr val="FF3300"/>
                </a:solidFill>
                <a:latin typeface="Times New Roman" pitchFamily="18" charset="0"/>
                <a:ea typeface="宋体" charset="-122"/>
              </a:rPr>
              <a:t>寿命</a:t>
            </a:r>
            <a:r>
              <a:rPr kumimoji="1" lang="zh-CN" altLang="en-US" sz="2400" b="1" dirty="0" smtClean="0">
                <a:latin typeface="Times New Roman" pitchFamily="18" charset="0"/>
                <a:ea typeface="宋体" charset="-122"/>
              </a:rPr>
              <a:t>，小注入条件</a:t>
            </a:r>
            <a:endParaRPr kumimoji="1" lang="en-US" altLang="zh-CN" sz="2400" b="1" dirty="0" smtClean="0">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a:solidFill>
                  <a:srgbClr val="000000"/>
                </a:solidFill>
                <a:latin typeface="Times New Roman" pitchFamily="18" charset="0"/>
                <a:ea typeface="宋体" charset="-122"/>
              </a:rPr>
              <a:t>几种复合机制：直接复合，间接复合，俄歇复合，</a:t>
            </a:r>
            <a:r>
              <a:rPr kumimoji="1" lang="zh-CN" altLang="en-US" sz="2400" b="1" dirty="0" smtClean="0">
                <a:solidFill>
                  <a:srgbClr val="000000"/>
                </a:solidFill>
                <a:latin typeface="Times New Roman" pitchFamily="18" charset="0"/>
                <a:ea typeface="宋体" charset="-122"/>
              </a:rPr>
              <a:t>表面复合</a:t>
            </a:r>
            <a:endParaRPr kumimoji="1" lang="zh-CN" altLang="en-US" sz="2400" b="1" dirty="0">
              <a:latin typeface="Times New Roman" pitchFamily="18" charset="0"/>
              <a:ea typeface="宋体" charset="-122"/>
            </a:endParaRPr>
          </a:p>
        </p:txBody>
      </p:sp>
      <p:sp>
        <p:nvSpPr>
          <p:cNvPr id="12" name="Text Box 8"/>
          <p:cNvSpPr txBox="1">
            <a:spLocks noChangeArrowheads="1"/>
          </p:cNvSpPr>
          <p:nvPr/>
        </p:nvSpPr>
        <p:spPr bwMode="auto">
          <a:xfrm>
            <a:off x="295118" y="3303617"/>
            <a:ext cx="8818442" cy="2529923"/>
          </a:xfrm>
          <a:prstGeom prst="rect">
            <a:avLst/>
          </a:prstGeom>
          <a:noFill/>
          <a:ln w="9525">
            <a:noFill/>
            <a:miter lim="800000"/>
            <a:headEnd/>
            <a:tailEnd/>
          </a:ln>
        </p:spPr>
        <p:txBody>
          <a:bodyPr wrap="square">
            <a:spAutoFit/>
          </a:bodyPr>
          <a:lstStyle/>
          <a:p>
            <a:pPr defTabSz="914400" fontAlgn="base">
              <a:lnSpc>
                <a:spcPct val="110000"/>
              </a:lnSpc>
              <a:spcBef>
                <a:spcPct val="0"/>
              </a:spcBef>
              <a:spcAft>
                <a:spcPct val="0"/>
              </a:spcAft>
            </a:pPr>
            <a:r>
              <a:rPr kumimoji="1" lang="zh-CN" altLang="en-US" sz="2400" b="1" dirty="0" smtClean="0">
                <a:solidFill>
                  <a:srgbClr val="0000FF"/>
                </a:solidFill>
                <a:latin typeface="Times New Roman" pitchFamily="18" charset="0"/>
                <a:ea typeface="宋体" charset="-122"/>
              </a:rPr>
              <a:t>重点掌握：</a:t>
            </a:r>
            <a:endParaRPr kumimoji="1" lang="en-US" altLang="zh-CN" sz="2400" b="1" dirty="0">
              <a:solidFill>
                <a:srgbClr val="0000FF"/>
              </a:solidFill>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smtClean="0">
                <a:solidFill>
                  <a:srgbClr val="000000"/>
                </a:solidFill>
                <a:latin typeface="Times New Roman" pitchFamily="18" charset="0"/>
                <a:ea typeface="宋体" charset="-122"/>
              </a:rPr>
              <a:t>迁移率</a:t>
            </a:r>
            <a:r>
              <a:rPr kumimoji="1" lang="en-US" altLang="zh-CN" sz="2400" b="1" dirty="0" smtClean="0">
                <a:solidFill>
                  <a:srgbClr val="000000"/>
                </a:solidFill>
                <a:latin typeface="Times New Roman" pitchFamily="18" charset="0"/>
                <a:ea typeface="宋体" charset="-122"/>
              </a:rPr>
              <a:t>/</a:t>
            </a:r>
            <a:r>
              <a:rPr kumimoji="1" lang="zh-CN" altLang="en-US" sz="2400" b="1" dirty="0" smtClean="0">
                <a:solidFill>
                  <a:srgbClr val="000000"/>
                </a:solidFill>
                <a:latin typeface="Times New Roman" pitchFamily="18" charset="0"/>
                <a:ea typeface="宋体" charset="-122"/>
              </a:rPr>
              <a:t>电阻率与温度的关系</a:t>
            </a:r>
            <a:endParaRPr kumimoji="1" lang="en-US" altLang="zh-CN" sz="2400" b="1" dirty="0">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smtClean="0">
                <a:latin typeface="Times New Roman" pitchFamily="18" charset="0"/>
                <a:ea typeface="宋体" charset="-122"/>
              </a:rPr>
              <a:t>影响</a:t>
            </a:r>
            <a:r>
              <a:rPr kumimoji="1" lang="zh-CN" altLang="en-US" sz="2400" b="1" dirty="0">
                <a:solidFill>
                  <a:srgbClr val="FF3300"/>
                </a:solidFill>
                <a:latin typeface="Times New Roman" pitchFamily="18" charset="0"/>
                <a:ea typeface="宋体" charset="-122"/>
              </a:rPr>
              <a:t>复合率</a:t>
            </a:r>
            <a:r>
              <a:rPr kumimoji="1" lang="en-US" altLang="zh-CN" sz="2400" b="1" dirty="0" smtClean="0">
                <a:latin typeface="Times New Roman" pitchFamily="18" charset="0"/>
                <a:ea typeface="宋体" charset="-122"/>
              </a:rPr>
              <a:t>/</a:t>
            </a:r>
            <a:r>
              <a:rPr kumimoji="1" lang="zh-CN" altLang="en-US" sz="2400" b="1" dirty="0">
                <a:solidFill>
                  <a:srgbClr val="FF3300"/>
                </a:solidFill>
                <a:latin typeface="Times New Roman" pitchFamily="18" charset="0"/>
                <a:ea typeface="宋体" charset="-122"/>
              </a:rPr>
              <a:t>过剩载流子寿命</a:t>
            </a:r>
            <a:r>
              <a:rPr kumimoji="1" lang="zh-CN" altLang="en-US" sz="2400" b="1" dirty="0" smtClean="0">
                <a:latin typeface="Times New Roman" pitchFamily="18" charset="0"/>
                <a:ea typeface="宋体" charset="-122"/>
              </a:rPr>
              <a:t>的因素，俘获率和发射率</a:t>
            </a:r>
            <a:endParaRPr kumimoji="1" lang="en-US" altLang="zh-CN" sz="2400" b="1" dirty="0" smtClean="0">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smtClean="0">
                <a:latin typeface="Times New Roman" pitchFamily="18" charset="0"/>
                <a:ea typeface="宋体" charset="-122"/>
              </a:rPr>
              <a:t>非平衡载流子扩散的计算</a:t>
            </a:r>
            <a:endParaRPr kumimoji="1" lang="en-US" altLang="zh-CN" sz="2400" b="1" dirty="0" smtClean="0">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a:solidFill>
                  <a:srgbClr val="000000"/>
                </a:solidFill>
                <a:latin typeface="Times New Roman" pitchFamily="18" charset="0"/>
                <a:ea typeface="宋体" charset="-122"/>
              </a:rPr>
              <a:t>光吸收和光发射的几种</a:t>
            </a:r>
            <a:r>
              <a:rPr kumimoji="1" lang="zh-CN" altLang="en-US" sz="2400" b="1" dirty="0" smtClean="0">
                <a:solidFill>
                  <a:srgbClr val="000000"/>
                </a:solidFill>
                <a:latin typeface="Times New Roman" pitchFamily="18" charset="0"/>
                <a:ea typeface="宋体" charset="-122"/>
              </a:rPr>
              <a:t>机制</a:t>
            </a:r>
            <a:endParaRPr kumimoji="1" lang="en-US" altLang="zh-CN" sz="2400" b="1" dirty="0" smtClean="0">
              <a:solidFill>
                <a:srgbClr val="000000"/>
              </a:solidFill>
              <a:latin typeface="Times New Roman" pitchFamily="18" charset="0"/>
              <a:ea typeface="宋体" charset="-122"/>
            </a:endParaRPr>
          </a:p>
          <a:p>
            <a:pPr defTabSz="914400" fontAlgn="base">
              <a:lnSpc>
                <a:spcPct val="110000"/>
              </a:lnSpc>
              <a:spcBef>
                <a:spcPct val="0"/>
              </a:spcBef>
              <a:spcAft>
                <a:spcPct val="0"/>
              </a:spcAft>
            </a:pPr>
            <a:r>
              <a:rPr kumimoji="1" lang="zh-CN" altLang="en-US" sz="2400" b="1" dirty="0" smtClean="0">
                <a:solidFill>
                  <a:srgbClr val="FF3300"/>
                </a:solidFill>
                <a:latin typeface="Times New Roman" pitchFamily="18" charset="0"/>
                <a:ea typeface="宋体" charset="-122"/>
              </a:rPr>
              <a:t>准平衡态，准</a:t>
            </a:r>
            <a:r>
              <a:rPr kumimoji="1" lang="zh-CN" altLang="en-US" sz="2400" b="1" dirty="0">
                <a:solidFill>
                  <a:srgbClr val="FF3300"/>
                </a:solidFill>
                <a:latin typeface="Times New Roman" pitchFamily="18" charset="0"/>
                <a:ea typeface="宋体" charset="-122"/>
              </a:rPr>
              <a:t>费米能级</a:t>
            </a:r>
            <a:r>
              <a:rPr kumimoji="1" lang="zh-CN" altLang="en-US" sz="2400" b="1" dirty="0" smtClean="0">
                <a:solidFill>
                  <a:srgbClr val="FF3300"/>
                </a:solidFill>
                <a:latin typeface="Times New Roman" pitchFamily="18" charset="0"/>
                <a:ea typeface="宋体" charset="-122"/>
              </a:rPr>
              <a:t>，静电势，准费米势（计算），基本方程</a:t>
            </a:r>
            <a:endParaRPr kumimoji="1" lang="en-US" altLang="zh-CN" sz="2400" b="1" dirty="0">
              <a:solidFill>
                <a:srgbClr val="FF3300"/>
              </a:solidFill>
              <a:latin typeface="Times New Roman" pitchFamily="18" charset="0"/>
              <a:ea typeface="宋体" charset="-122"/>
            </a:endParaRPr>
          </a:p>
        </p:txBody>
      </p:sp>
      <p:sp>
        <p:nvSpPr>
          <p:cNvPr id="15" name="Text Box 8"/>
          <p:cNvSpPr txBox="1">
            <a:spLocks noChangeArrowheads="1"/>
          </p:cNvSpPr>
          <p:nvPr/>
        </p:nvSpPr>
        <p:spPr bwMode="auto">
          <a:xfrm>
            <a:off x="295117" y="5813722"/>
            <a:ext cx="8637015" cy="904863"/>
          </a:xfrm>
          <a:prstGeom prst="rect">
            <a:avLst/>
          </a:prstGeom>
          <a:noFill/>
          <a:ln w="9525">
            <a:noFill/>
            <a:miter lim="800000"/>
            <a:headEnd/>
            <a:tailEnd/>
          </a:ln>
        </p:spPr>
        <p:txBody>
          <a:bodyPr wrap="square">
            <a:spAutoFit/>
          </a:bodyPr>
          <a:lstStyle/>
          <a:p>
            <a:pPr defTabSz="914400" fontAlgn="base">
              <a:lnSpc>
                <a:spcPct val="110000"/>
              </a:lnSpc>
              <a:spcBef>
                <a:spcPct val="0"/>
              </a:spcBef>
              <a:spcAft>
                <a:spcPct val="0"/>
              </a:spcAft>
            </a:pPr>
            <a:r>
              <a:rPr kumimoji="1" lang="zh-CN" altLang="en-US" sz="2400" b="1" dirty="0">
                <a:solidFill>
                  <a:srgbClr val="0000FF"/>
                </a:solidFill>
                <a:latin typeface="Times New Roman" pitchFamily="18" charset="0"/>
                <a:ea typeface="宋体" charset="-122"/>
              </a:rPr>
              <a:t>了解</a:t>
            </a:r>
            <a:r>
              <a:rPr kumimoji="1" lang="zh-CN" altLang="en-US" sz="2400" b="1" dirty="0" smtClean="0">
                <a:solidFill>
                  <a:srgbClr val="0000FF"/>
                </a:solidFill>
                <a:latin typeface="Times New Roman" pitchFamily="18" charset="0"/>
                <a:ea typeface="宋体" charset="-122"/>
              </a:rPr>
              <a:t>：</a:t>
            </a:r>
            <a:endParaRPr kumimoji="1" lang="en-US" altLang="zh-CN" sz="2400" b="1" dirty="0">
              <a:solidFill>
                <a:srgbClr val="0000FF"/>
              </a:solidFill>
              <a:latin typeface="Times New Roman" pitchFamily="18" charset="0"/>
              <a:ea typeface="宋体" charset="-122"/>
            </a:endParaRPr>
          </a:p>
          <a:p>
            <a:pPr defTabSz="914400" fontAlgn="base">
              <a:lnSpc>
                <a:spcPct val="110000"/>
              </a:lnSpc>
              <a:spcBef>
                <a:spcPct val="0"/>
              </a:spcBef>
              <a:spcAft>
                <a:spcPct val="0"/>
              </a:spcAft>
            </a:pPr>
            <a:r>
              <a:rPr kumimoji="1" lang="en-US" altLang="zh-CN" sz="2400" b="1" dirty="0" smtClean="0">
                <a:solidFill>
                  <a:srgbClr val="000000"/>
                </a:solidFill>
                <a:latin typeface="Times New Roman" pitchFamily="18" charset="0"/>
                <a:ea typeface="宋体" charset="-122"/>
              </a:rPr>
              <a:t>SRH</a:t>
            </a:r>
            <a:r>
              <a:rPr kumimoji="1" lang="zh-CN" altLang="en-US" sz="2400" b="1" dirty="0" smtClean="0">
                <a:solidFill>
                  <a:srgbClr val="000000"/>
                </a:solidFill>
                <a:latin typeface="Times New Roman" pitchFamily="18" charset="0"/>
                <a:ea typeface="宋体" charset="-122"/>
              </a:rPr>
              <a:t>理论</a:t>
            </a:r>
            <a:r>
              <a:rPr kumimoji="1" lang="zh-CN" altLang="en-US" sz="2400" b="1" dirty="0">
                <a:solidFill>
                  <a:srgbClr val="000000"/>
                </a:solidFill>
                <a:latin typeface="Times New Roman" pitchFamily="18" charset="0"/>
                <a:ea typeface="宋体" charset="-122"/>
              </a:rPr>
              <a:t>计算过程，陷阱</a:t>
            </a:r>
            <a:r>
              <a:rPr kumimoji="1" lang="zh-CN" altLang="en-US" sz="2400" b="1" dirty="0" smtClean="0">
                <a:solidFill>
                  <a:srgbClr val="000000"/>
                </a:solidFill>
                <a:latin typeface="Times New Roman" pitchFamily="18" charset="0"/>
                <a:ea typeface="宋体" charset="-122"/>
              </a:rPr>
              <a:t>效应</a:t>
            </a:r>
            <a:r>
              <a:rPr kumimoji="1" lang="zh-CN" altLang="en-US" sz="2400" b="1" dirty="0" smtClean="0">
                <a:latin typeface="Times New Roman" pitchFamily="18" charset="0"/>
                <a:ea typeface="宋体" charset="-122"/>
              </a:rPr>
              <a:t>，</a:t>
            </a:r>
            <a:r>
              <a:rPr kumimoji="1" lang="en-US" altLang="zh-CN" sz="2400" b="1" dirty="0" smtClean="0">
                <a:latin typeface="Times New Roman" pitchFamily="18" charset="0"/>
                <a:ea typeface="宋体" charset="-122"/>
              </a:rPr>
              <a:t>PN</a:t>
            </a:r>
            <a:r>
              <a:rPr kumimoji="1" lang="zh-CN" altLang="en-US" sz="2400" b="1" dirty="0" smtClean="0">
                <a:latin typeface="Times New Roman" pitchFamily="18" charset="0"/>
                <a:ea typeface="宋体" charset="-122"/>
              </a:rPr>
              <a:t>结发光的原理</a:t>
            </a:r>
            <a:endParaRPr kumimoji="1" lang="en-US" altLang="zh-CN" sz="2400" b="1" dirty="0">
              <a:solidFill>
                <a:srgbClr val="000000"/>
              </a:solidFill>
              <a:latin typeface="Times New Roman" pitchFamily="18" charset="0"/>
              <a:ea typeface="宋体" charset="-122"/>
            </a:endParaRPr>
          </a:p>
        </p:txBody>
      </p:sp>
    </p:spTree>
    <p:extLst>
      <p:ext uri="{BB962C8B-B14F-4D97-AF65-F5344CB8AC3E}">
        <p14:creationId xmlns:p14="http://schemas.microsoft.com/office/powerpoint/2010/main" val="11963892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15705</TotalTime>
  <Words>4783</Words>
  <Application>Microsoft Office PowerPoint</Application>
  <PresentationFormat>全屏显示(4:3)</PresentationFormat>
  <Paragraphs>453</Paragraphs>
  <Slides>60</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60</vt:i4>
      </vt:variant>
    </vt:vector>
  </HeadingPairs>
  <TitlesOfParts>
    <vt:vector size="81" baseType="lpstr">
      <vt:lpstr>Libian SC</vt:lpstr>
      <vt:lpstr>Microsoft Yahei</vt:lpstr>
      <vt:lpstr>等线</vt:lpstr>
      <vt:lpstr>等线 Light</vt:lpstr>
      <vt:lpstr>仿宋_GB2312</vt:lpstr>
      <vt:lpstr>SimHei</vt:lpstr>
      <vt:lpstr>SimHei</vt:lpstr>
      <vt:lpstr>华文中宋</vt:lpstr>
      <vt:lpstr>隶书</vt:lpstr>
      <vt:lpstr>宋体</vt:lpstr>
      <vt:lpstr>Arial</vt:lpstr>
      <vt:lpstr>Calibri</vt:lpstr>
      <vt:lpstr>Calibri Light</vt:lpstr>
      <vt:lpstr>Symbol</vt:lpstr>
      <vt:lpstr>Times New Roman</vt:lpstr>
      <vt:lpstr>Wingdings</vt:lpstr>
      <vt:lpstr>Office 主题​​</vt:lpstr>
      <vt:lpstr>Equation</vt:lpstr>
      <vt:lpstr>公式</vt:lpstr>
      <vt:lpstr>BMP 图象</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gaobin</dc:creator>
  <cp:lastModifiedBy>gaobin</cp:lastModifiedBy>
  <cp:revision>195</cp:revision>
  <dcterms:created xsi:type="dcterms:W3CDTF">2018-11-20T07:03:35Z</dcterms:created>
  <dcterms:modified xsi:type="dcterms:W3CDTF">2021-10-13T02:26:40Z</dcterms:modified>
</cp:coreProperties>
</file>