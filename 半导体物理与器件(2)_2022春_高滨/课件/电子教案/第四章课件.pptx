
<file path=[Content_Types].xml><?xml version="1.0" encoding="utf-8"?>
<Types xmlns="http://schemas.openxmlformats.org/package/2006/content-types">
  <Default Extension="tmp" ContentType="image/png"/>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5" r:id="rId3"/>
  </p:sldMasterIdLst>
  <p:notesMasterIdLst>
    <p:notesMasterId r:id="rId93"/>
  </p:notesMasterIdLst>
  <p:sldIdLst>
    <p:sldId id="275" r:id="rId4"/>
    <p:sldId id="397" r:id="rId5"/>
    <p:sldId id="396" r:id="rId6"/>
    <p:sldId id="276" r:id="rId7"/>
    <p:sldId id="399" r:id="rId8"/>
    <p:sldId id="398" r:id="rId9"/>
    <p:sldId id="400" r:id="rId10"/>
    <p:sldId id="401" r:id="rId11"/>
    <p:sldId id="402" r:id="rId12"/>
    <p:sldId id="403" r:id="rId13"/>
    <p:sldId id="404" r:id="rId14"/>
    <p:sldId id="566" r:id="rId15"/>
    <p:sldId id="567" r:id="rId16"/>
    <p:sldId id="568" r:id="rId17"/>
    <p:sldId id="331" r:id="rId18"/>
    <p:sldId id="405" r:id="rId19"/>
    <p:sldId id="406" r:id="rId20"/>
    <p:sldId id="407" r:id="rId21"/>
    <p:sldId id="408" r:id="rId22"/>
    <p:sldId id="409" r:id="rId23"/>
    <p:sldId id="410" r:id="rId24"/>
    <p:sldId id="411" r:id="rId25"/>
    <p:sldId id="412" r:id="rId26"/>
    <p:sldId id="561" r:id="rId27"/>
    <p:sldId id="417" r:id="rId28"/>
    <p:sldId id="419" r:id="rId29"/>
    <p:sldId id="420" r:id="rId30"/>
    <p:sldId id="421" r:id="rId31"/>
    <p:sldId id="422" r:id="rId32"/>
    <p:sldId id="423" r:id="rId33"/>
    <p:sldId id="424" r:id="rId34"/>
    <p:sldId id="425" r:id="rId35"/>
    <p:sldId id="427" r:id="rId36"/>
    <p:sldId id="428" r:id="rId37"/>
    <p:sldId id="429" r:id="rId38"/>
    <p:sldId id="430" r:id="rId39"/>
    <p:sldId id="431" r:id="rId40"/>
    <p:sldId id="432" r:id="rId41"/>
    <p:sldId id="433" r:id="rId42"/>
    <p:sldId id="434" r:id="rId43"/>
    <p:sldId id="435" r:id="rId44"/>
    <p:sldId id="436" r:id="rId45"/>
    <p:sldId id="438" r:id="rId46"/>
    <p:sldId id="439" r:id="rId47"/>
    <p:sldId id="440" r:id="rId48"/>
    <p:sldId id="575" r:id="rId49"/>
    <p:sldId id="442" r:id="rId50"/>
    <p:sldId id="443" r:id="rId51"/>
    <p:sldId id="444" r:id="rId52"/>
    <p:sldId id="445" r:id="rId53"/>
    <p:sldId id="446" r:id="rId54"/>
    <p:sldId id="447" r:id="rId55"/>
    <p:sldId id="448" r:id="rId56"/>
    <p:sldId id="449" r:id="rId57"/>
    <p:sldId id="524" r:id="rId58"/>
    <p:sldId id="453" r:id="rId59"/>
    <p:sldId id="525" r:id="rId60"/>
    <p:sldId id="463" r:id="rId61"/>
    <p:sldId id="468" r:id="rId62"/>
    <p:sldId id="469" r:id="rId63"/>
    <p:sldId id="471" r:id="rId64"/>
    <p:sldId id="472" r:id="rId65"/>
    <p:sldId id="477" r:id="rId66"/>
    <p:sldId id="480" r:id="rId67"/>
    <p:sldId id="484" r:id="rId68"/>
    <p:sldId id="569" r:id="rId69"/>
    <p:sldId id="572" r:id="rId70"/>
    <p:sldId id="485" r:id="rId71"/>
    <p:sldId id="486" r:id="rId72"/>
    <p:sldId id="573" r:id="rId73"/>
    <p:sldId id="487" r:id="rId74"/>
    <p:sldId id="574" r:id="rId75"/>
    <p:sldId id="488" r:id="rId76"/>
    <p:sldId id="500" r:id="rId77"/>
    <p:sldId id="526" r:id="rId78"/>
    <p:sldId id="527" r:id="rId79"/>
    <p:sldId id="528" r:id="rId80"/>
    <p:sldId id="529" r:id="rId81"/>
    <p:sldId id="531" r:id="rId82"/>
    <p:sldId id="532" r:id="rId83"/>
    <p:sldId id="537" r:id="rId84"/>
    <p:sldId id="538" r:id="rId85"/>
    <p:sldId id="547" r:id="rId86"/>
    <p:sldId id="549" r:id="rId87"/>
    <p:sldId id="556" r:id="rId88"/>
    <p:sldId id="557" r:id="rId89"/>
    <p:sldId id="560" r:id="rId90"/>
    <p:sldId id="563" r:id="rId91"/>
    <p:sldId id="562" r:id="rId9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15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viewProps" Target="view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wmf"/><Relationship Id="rId4"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png"/></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4" Type="http://schemas.openxmlformats.org/officeDocument/2006/relationships/image" Target="../media/image70.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5" Type="http://schemas.openxmlformats.org/officeDocument/2006/relationships/image" Target="../media/image83.wmf"/><Relationship Id="rId4" Type="http://schemas.openxmlformats.org/officeDocument/2006/relationships/image" Target="../media/image8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4" Type="http://schemas.openxmlformats.org/officeDocument/2006/relationships/image" Target="../media/image9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20.wmf"/><Relationship Id="rId1" Type="http://schemas.openxmlformats.org/officeDocument/2006/relationships/image" Target="../media/image11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image" Target="../media/image127.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36.wmf"/><Relationship Id="rId13" Type="http://schemas.openxmlformats.org/officeDocument/2006/relationships/image" Target="../media/image141.wmf"/><Relationship Id="rId18" Type="http://schemas.openxmlformats.org/officeDocument/2006/relationships/image" Target="../media/image146.wmf"/><Relationship Id="rId26" Type="http://schemas.openxmlformats.org/officeDocument/2006/relationships/image" Target="../media/image154.wmf"/><Relationship Id="rId3" Type="http://schemas.openxmlformats.org/officeDocument/2006/relationships/image" Target="../media/image131.wmf"/><Relationship Id="rId21" Type="http://schemas.openxmlformats.org/officeDocument/2006/relationships/image" Target="../media/image149.wmf"/><Relationship Id="rId7" Type="http://schemas.openxmlformats.org/officeDocument/2006/relationships/image" Target="../media/image135.wmf"/><Relationship Id="rId12" Type="http://schemas.openxmlformats.org/officeDocument/2006/relationships/image" Target="../media/image140.wmf"/><Relationship Id="rId17" Type="http://schemas.openxmlformats.org/officeDocument/2006/relationships/image" Target="../media/image145.wmf"/><Relationship Id="rId25" Type="http://schemas.openxmlformats.org/officeDocument/2006/relationships/image" Target="../media/image153.wmf"/><Relationship Id="rId2" Type="http://schemas.openxmlformats.org/officeDocument/2006/relationships/image" Target="../media/image130.wmf"/><Relationship Id="rId16" Type="http://schemas.openxmlformats.org/officeDocument/2006/relationships/image" Target="../media/image144.wmf"/><Relationship Id="rId20" Type="http://schemas.openxmlformats.org/officeDocument/2006/relationships/image" Target="../media/image148.wmf"/><Relationship Id="rId1" Type="http://schemas.openxmlformats.org/officeDocument/2006/relationships/image" Target="../media/image129.wmf"/><Relationship Id="rId6" Type="http://schemas.openxmlformats.org/officeDocument/2006/relationships/image" Target="../media/image134.wmf"/><Relationship Id="rId11" Type="http://schemas.openxmlformats.org/officeDocument/2006/relationships/image" Target="../media/image139.wmf"/><Relationship Id="rId24" Type="http://schemas.openxmlformats.org/officeDocument/2006/relationships/image" Target="../media/image152.wmf"/><Relationship Id="rId5" Type="http://schemas.openxmlformats.org/officeDocument/2006/relationships/image" Target="../media/image133.wmf"/><Relationship Id="rId15" Type="http://schemas.openxmlformats.org/officeDocument/2006/relationships/image" Target="../media/image143.wmf"/><Relationship Id="rId23" Type="http://schemas.openxmlformats.org/officeDocument/2006/relationships/image" Target="../media/image151.wmf"/><Relationship Id="rId10" Type="http://schemas.openxmlformats.org/officeDocument/2006/relationships/image" Target="../media/image138.wmf"/><Relationship Id="rId19" Type="http://schemas.openxmlformats.org/officeDocument/2006/relationships/image" Target="../media/image147.wmf"/><Relationship Id="rId4" Type="http://schemas.openxmlformats.org/officeDocument/2006/relationships/image" Target="../media/image132.wmf"/><Relationship Id="rId9" Type="http://schemas.openxmlformats.org/officeDocument/2006/relationships/image" Target="../media/image137.wmf"/><Relationship Id="rId14" Type="http://schemas.openxmlformats.org/officeDocument/2006/relationships/image" Target="../media/image142.wmf"/><Relationship Id="rId22" Type="http://schemas.openxmlformats.org/officeDocument/2006/relationships/image" Target="../media/image150.wmf"/><Relationship Id="rId27" Type="http://schemas.openxmlformats.org/officeDocument/2006/relationships/image" Target="../media/image155.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image" Target="../media/image142.wmf"/><Relationship Id="rId18" Type="http://schemas.openxmlformats.org/officeDocument/2006/relationships/image" Target="../media/image147.wmf"/><Relationship Id="rId3" Type="http://schemas.openxmlformats.org/officeDocument/2006/relationships/image" Target="../media/image131.wmf"/><Relationship Id="rId21" Type="http://schemas.openxmlformats.org/officeDocument/2006/relationships/image" Target="../media/image157.wmf"/><Relationship Id="rId7" Type="http://schemas.openxmlformats.org/officeDocument/2006/relationships/image" Target="../media/image135.wmf"/><Relationship Id="rId12" Type="http://schemas.openxmlformats.org/officeDocument/2006/relationships/image" Target="../media/image141.wmf"/><Relationship Id="rId17" Type="http://schemas.openxmlformats.org/officeDocument/2006/relationships/image" Target="../media/image146.wmf"/><Relationship Id="rId25" Type="http://schemas.openxmlformats.org/officeDocument/2006/relationships/image" Target="../media/image155.wmf"/><Relationship Id="rId2" Type="http://schemas.openxmlformats.org/officeDocument/2006/relationships/image" Target="../media/image130.wmf"/><Relationship Id="rId16" Type="http://schemas.openxmlformats.org/officeDocument/2006/relationships/image" Target="../media/image145.wmf"/><Relationship Id="rId20" Type="http://schemas.openxmlformats.org/officeDocument/2006/relationships/image" Target="../media/image156.wmf"/><Relationship Id="rId1" Type="http://schemas.openxmlformats.org/officeDocument/2006/relationships/image" Target="../media/image129.wmf"/><Relationship Id="rId6" Type="http://schemas.openxmlformats.org/officeDocument/2006/relationships/image" Target="../media/image134.wmf"/><Relationship Id="rId11" Type="http://schemas.openxmlformats.org/officeDocument/2006/relationships/image" Target="../media/image140.wmf"/><Relationship Id="rId24" Type="http://schemas.openxmlformats.org/officeDocument/2006/relationships/image" Target="../media/image154.wmf"/><Relationship Id="rId5" Type="http://schemas.openxmlformats.org/officeDocument/2006/relationships/image" Target="../media/image133.wmf"/><Relationship Id="rId15" Type="http://schemas.openxmlformats.org/officeDocument/2006/relationships/image" Target="../media/image144.wmf"/><Relationship Id="rId23" Type="http://schemas.openxmlformats.org/officeDocument/2006/relationships/image" Target="../media/image153.wmf"/><Relationship Id="rId10" Type="http://schemas.openxmlformats.org/officeDocument/2006/relationships/image" Target="../media/image139.wmf"/><Relationship Id="rId19" Type="http://schemas.openxmlformats.org/officeDocument/2006/relationships/image" Target="../media/image151.wmf"/><Relationship Id="rId4" Type="http://schemas.openxmlformats.org/officeDocument/2006/relationships/image" Target="../media/image132.wmf"/><Relationship Id="rId9" Type="http://schemas.openxmlformats.org/officeDocument/2006/relationships/image" Target="../media/image138.wmf"/><Relationship Id="rId14" Type="http://schemas.openxmlformats.org/officeDocument/2006/relationships/image" Target="../media/image143.wmf"/><Relationship Id="rId22" Type="http://schemas.openxmlformats.org/officeDocument/2006/relationships/image" Target="../media/image158.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png"/><Relationship Id="rId1" Type="http://schemas.openxmlformats.org/officeDocument/2006/relationships/image" Target="../media/image161.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64.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65.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78.wmf"/><Relationship Id="rId1" Type="http://schemas.openxmlformats.org/officeDocument/2006/relationships/image" Target="../media/image177.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88.wmf"/><Relationship Id="rId1" Type="http://schemas.openxmlformats.org/officeDocument/2006/relationships/image" Target="../media/image187.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90.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92.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95.wmf"/><Relationship Id="rId1" Type="http://schemas.openxmlformats.org/officeDocument/2006/relationships/image" Target="../media/image194.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 Id="rId5" Type="http://schemas.openxmlformats.org/officeDocument/2006/relationships/image" Target="../media/image201.wmf"/><Relationship Id="rId4" Type="http://schemas.openxmlformats.org/officeDocument/2006/relationships/image" Target="../media/image200.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07.wmf"/><Relationship Id="rId1" Type="http://schemas.openxmlformats.org/officeDocument/2006/relationships/image" Target="../media/image206.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26.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 Id="rId5" Type="http://schemas.openxmlformats.org/officeDocument/2006/relationships/image" Target="../media/image232.wmf"/><Relationship Id="rId4" Type="http://schemas.openxmlformats.org/officeDocument/2006/relationships/image" Target="../media/image23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34.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38.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22DCA-151E-45C7-AC46-0D7506932EB0}" type="datetimeFigureOut">
              <a:rPr lang="zh-CN" altLang="en-US" smtClean="0"/>
              <a:t>2021/11/8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7C08E-78D7-42DB-AE45-AD872A517D50}" type="slidenum">
              <a:rPr lang="zh-CN" altLang="en-US" smtClean="0"/>
              <a:t>‹#›</a:t>
            </a:fld>
            <a:endParaRPr lang="zh-CN" altLang="en-US"/>
          </a:p>
        </p:txBody>
      </p:sp>
    </p:spTree>
    <p:extLst>
      <p:ext uri="{BB962C8B-B14F-4D97-AF65-F5344CB8AC3E}">
        <p14:creationId xmlns:p14="http://schemas.microsoft.com/office/powerpoint/2010/main" val="2734789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smtClean="0">
                <a:solidFill>
                  <a:schemeClr val="tx1"/>
                </a:solidFill>
                <a:latin typeface="Arial" charset="0"/>
                <a:ea typeface="宋体" pitchFamily="2" charset="-122"/>
                <a:cs typeface="+mn-cs"/>
              </a:rPr>
              <a:t>一般来说集电极电流严格符合指数关系，因此保持基极</a:t>
            </a:r>
            <a:r>
              <a:rPr lang="en-US" altLang="zh-CN" sz="1200" kern="1200" dirty="0" smtClean="0">
                <a:solidFill>
                  <a:schemeClr val="tx1"/>
                </a:solidFill>
                <a:latin typeface="Arial" charset="0"/>
                <a:ea typeface="宋体" pitchFamily="2" charset="-122"/>
                <a:cs typeface="+mn-cs"/>
              </a:rPr>
              <a:t>-</a:t>
            </a:r>
            <a:r>
              <a:rPr lang="zh-CN" altLang="zh-CN" sz="1200" kern="1200" dirty="0" smtClean="0">
                <a:solidFill>
                  <a:schemeClr val="tx1"/>
                </a:solidFill>
                <a:latin typeface="Arial" charset="0"/>
                <a:ea typeface="宋体" pitchFamily="2" charset="-122"/>
                <a:cs typeface="+mn-cs"/>
              </a:rPr>
              <a:t>发射极偏置不变，根据集电极电流与温度的关系可以制出精密的温度计。</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3C6E244-6CF4-43A3-90D8-53F3AE9E89D4}"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377918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smtClean="0">
                <a:solidFill>
                  <a:schemeClr val="tx1"/>
                </a:solidFill>
                <a:latin typeface="Arial" charset="0"/>
                <a:ea typeface="宋体" pitchFamily="2" charset="-122"/>
                <a:cs typeface="+mn-cs"/>
              </a:rPr>
              <a:t>高性能集成电路晶体管的基区宽度很窄，准中性基区内的少数载流子复合引起的电流损失也很小。</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3C6E244-6CF4-43A3-90D8-53F3AE9E89D4}"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22806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smtClean="0">
                <a:solidFill>
                  <a:schemeClr val="tx1"/>
                </a:solidFill>
                <a:latin typeface="Arial" charset="0"/>
                <a:ea typeface="宋体" pitchFamily="2" charset="-122"/>
                <a:cs typeface="+mn-cs"/>
              </a:rPr>
              <a:t>基区只有少量电子，由于势垒的存在，电子无法从其它两个区域注入</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3C6E244-6CF4-43A3-90D8-53F3AE9E89D4}"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417555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smtClean="0">
                <a:solidFill>
                  <a:schemeClr val="tx1"/>
                </a:solidFill>
                <a:latin typeface="Arial" charset="0"/>
                <a:ea typeface="宋体" pitchFamily="2" charset="-122"/>
                <a:cs typeface="+mn-cs"/>
              </a:rPr>
              <a:t>两个结上外加正向偏压时可以降低内建势垒，电子被注入到基区，导致基区电子浓度急剧升高，形成了两个结之间的电流</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3C6E244-6CF4-43A3-90D8-53F3AE9E89D4}"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59024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smtClean="0">
                <a:solidFill>
                  <a:schemeClr val="tx1"/>
                </a:solidFill>
                <a:latin typeface="Arial" charset="0"/>
                <a:ea typeface="宋体" pitchFamily="2" charset="-122"/>
                <a:cs typeface="+mn-cs"/>
              </a:rPr>
              <a:t>两个结外加反向偏压时势垒增高，导致基区内的电子被耗尽</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3C6E244-6CF4-43A3-90D8-53F3AE9E89D4}"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3298595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6E35CCDD-2586-464E-AFE0-B5A574D41AC4}" type="datetime1">
              <a:rPr lang="zh-CN" altLang="en-US" smtClean="0"/>
              <a:t>2021/11/8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310322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775D4D-DEDA-485F-A57B-0899DFCD11D9}" type="datetime1">
              <a:rPr lang="zh-CN" altLang="en-US" smtClean="0"/>
              <a:t>2021/11/8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330737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F038E4-5D4A-4CE4-93A0-5565DCCA047E}" type="datetime1">
              <a:rPr lang="zh-CN" altLang="en-US" smtClean="0"/>
              <a:t>2021/11/8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2303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E9C06B8-C690-46DC-8F1A-A6702CAA4F06}" type="datetime1">
              <a:rPr lang="zh-CN" altLang="en-US" smtClean="0"/>
              <a:t>2021/11/8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55887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C94268E-7B1F-4197-A7F4-178328DB0C0D}" type="datetime1">
              <a:rPr lang="zh-CN" altLang="en-US" smtClean="0"/>
              <a:t>2021/11/8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747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204D75C3-CD71-47A9-AE63-E90B96E31C6B}" type="datetime1">
              <a:rPr lang="zh-CN" altLang="en-US" smtClean="0"/>
              <a:t>2021/11/8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47915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43D92-FE98-4E68-85F1-648E03B26AE2}" type="datetime1">
              <a:rPr lang="zh-CN" altLang="en-US" smtClean="0"/>
              <a:t>2021/11/8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4218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6DDB5F5-E322-44A1-A27C-DBC8ABFD9C51}" type="datetime1">
              <a:rPr lang="zh-CN" altLang="en-US" smtClean="0"/>
              <a:t>2021/11/8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96307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81A8DBA-A096-4802-8971-4A136D274866}" type="datetime1">
              <a:rPr lang="zh-CN" altLang="en-US" smtClean="0"/>
              <a:t>2021/11/8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245099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D46DFE9-AA29-4D92-A503-2669F53D5B6D}" type="datetime1">
              <a:rPr lang="zh-CN" altLang="en-US" smtClean="0"/>
              <a:t>2021/11/8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6442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4586D88-1402-4B29-999F-F36CE83A6A00}" type="datetime1">
              <a:rPr lang="zh-CN" altLang="en-US" smtClean="0"/>
              <a:t>2021/11/8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540790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DE463B3-6E3A-4FA7-8F4F-BB44A2D70F8A}" type="slidenum">
              <a:rPr lang="en-US" altLang="zh-CN"/>
              <a:pPr/>
              <a:t>‹#›</a:t>
            </a:fld>
            <a:endParaRPr lang="en-US" altLang="zh-CN"/>
          </a:p>
        </p:txBody>
      </p:sp>
    </p:spTree>
    <p:extLst>
      <p:ext uri="{BB962C8B-B14F-4D97-AF65-F5344CB8AC3E}">
        <p14:creationId xmlns:p14="http://schemas.microsoft.com/office/powerpoint/2010/main" val="3697691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563562"/>
          </a:xfrm>
          <a:prstGeom prst="rect">
            <a:avLst/>
          </a:prstGeom>
        </p:spPr>
        <p:txBody>
          <a:bodyPr/>
          <a:lstStyle>
            <a:lvl1pPr algn="l">
              <a:defRPr lang="zh-CN" altLang="en-US" sz="2800" b="1" dirty="0" smtClean="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990600"/>
            <a:ext cx="8229600" cy="5135563"/>
          </a:xfrm>
          <a:prstGeom prst="rect">
            <a:avLst/>
          </a:prstGeom>
        </p:spPr>
        <p:txBody>
          <a:bodyPr/>
          <a:lstStyle>
            <a:lvl1pPr>
              <a:buClr>
                <a:schemeClr val="accent2"/>
              </a:buClr>
              <a:defRPr sz="2800" b="1">
                <a:latin typeface="Times New Roman" pitchFamily="18" charset="0"/>
                <a:ea typeface="楷体_GB2312" pitchFamily="49" charset="-122"/>
                <a:cs typeface="Times New Roman" pitchFamily="18" charset="0"/>
              </a:defRPr>
            </a:lvl1pPr>
            <a:lvl2pPr>
              <a:buClr>
                <a:srgbClr val="CC0099"/>
              </a:buClr>
              <a:defRPr sz="2800" b="1">
                <a:latin typeface="Times New Roman" pitchFamily="18" charset="0"/>
                <a:ea typeface="楷体_GB2312" pitchFamily="49" charset="-122"/>
                <a:cs typeface="Times New Roman" pitchFamily="18" charset="0"/>
              </a:defRPr>
            </a:lvl2pPr>
            <a:lvl3pPr>
              <a:defRPr sz="2800" b="1">
                <a:latin typeface="Times New Roman" pitchFamily="18" charset="0"/>
                <a:ea typeface="楷体_GB2312" pitchFamily="49" charset="-122"/>
                <a:cs typeface="Times New Roman" pitchFamily="18" charset="0"/>
              </a:defRPr>
            </a:lvl3pPr>
            <a:lvl4pPr>
              <a:defRPr sz="2800" b="1">
                <a:latin typeface="Times New Roman" pitchFamily="18" charset="0"/>
                <a:ea typeface="楷体_GB2312" pitchFamily="49" charset="-122"/>
                <a:cs typeface="Times New Roman" pitchFamily="18" charset="0"/>
              </a:defRPr>
            </a:lvl4pPr>
            <a:lvl5pPr>
              <a:defRPr sz="2800" b="1">
                <a:latin typeface="Times New Roman" pitchFamily="18" charset="0"/>
                <a:ea typeface="楷体_GB2312" pitchFamily="49" charset="-122"/>
                <a:cs typeface="Times New Roman"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340CE56-E0A0-46B7-8CFA-A0C34E567847}" type="slidenum">
              <a:rPr lang="en-US" altLang="zh-CN"/>
              <a:pPr/>
              <a:t>‹#›</a:t>
            </a:fld>
            <a:endParaRPr lang="en-US" altLang="zh-CN"/>
          </a:p>
        </p:txBody>
      </p:sp>
    </p:spTree>
    <p:extLst>
      <p:ext uri="{BB962C8B-B14F-4D97-AF65-F5344CB8AC3E}">
        <p14:creationId xmlns:p14="http://schemas.microsoft.com/office/powerpoint/2010/main" val="1842892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7F4CA04-D391-4DDB-83D7-DB4A4E5EDE04}" type="slidenum">
              <a:rPr lang="en-US" altLang="zh-CN"/>
              <a:pPr/>
              <a:t>‹#›</a:t>
            </a:fld>
            <a:endParaRPr lang="en-US" altLang="zh-CN"/>
          </a:p>
        </p:txBody>
      </p:sp>
    </p:spTree>
    <p:extLst>
      <p:ext uri="{BB962C8B-B14F-4D97-AF65-F5344CB8AC3E}">
        <p14:creationId xmlns:p14="http://schemas.microsoft.com/office/powerpoint/2010/main" val="2735762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4B03F47-0955-4FF7-AF55-3B55F2C378FF}" type="slidenum">
              <a:rPr lang="en-US" altLang="zh-CN"/>
              <a:pPr/>
              <a:t>‹#›</a:t>
            </a:fld>
            <a:endParaRPr lang="en-US" altLang="zh-CN"/>
          </a:p>
        </p:txBody>
      </p:sp>
    </p:spTree>
    <p:extLst>
      <p:ext uri="{BB962C8B-B14F-4D97-AF65-F5344CB8AC3E}">
        <p14:creationId xmlns:p14="http://schemas.microsoft.com/office/powerpoint/2010/main" val="2450539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8994E44-18D0-483C-BA30-A38156935D0F}" type="slidenum">
              <a:rPr lang="en-US" altLang="zh-CN"/>
              <a:pPr/>
              <a:t>‹#›</a:t>
            </a:fld>
            <a:endParaRPr lang="en-US" altLang="zh-CN"/>
          </a:p>
        </p:txBody>
      </p:sp>
    </p:spTree>
    <p:extLst>
      <p:ext uri="{BB962C8B-B14F-4D97-AF65-F5344CB8AC3E}">
        <p14:creationId xmlns:p14="http://schemas.microsoft.com/office/powerpoint/2010/main" val="282778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569CFAA-7DF8-4E5A-9C5B-04EA40C80552}" type="slidenum">
              <a:rPr lang="en-US" altLang="zh-CN"/>
              <a:pPr/>
              <a:t>‹#›</a:t>
            </a:fld>
            <a:endParaRPr lang="en-US" altLang="zh-CN"/>
          </a:p>
        </p:txBody>
      </p:sp>
    </p:spTree>
    <p:extLst>
      <p:ext uri="{BB962C8B-B14F-4D97-AF65-F5344CB8AC3E}">
        <p14:creationId xmlns:p14="http://schemas.microsoft.com/office/powerpoint/2010/main" val="1119942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A4610C3B-4895-48DE-B858-4974268A5404}" type="slidenum">
              <a:rPr lang="en-US" altLang="zh-CN"/>
              <a:pPr/>
              <a:t>‹#›</a:t>
            </a:fld>
            <a:endParaRPr lang="en-US" altLang="zh-CN"/>
          </a:p>
        </p:txBody>
      </p:sp>
    </p:spTree>
    <p:extLst>
      <p:ext uri="{BB962C8B-B14F-4D97-AF65-F5344CB8AC3E}">
        <p14:creationId xmlns:p14="http://schemas.microsoft.com/office/powerpoint/2010/main" val="529585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389E59E-87C0-4BC5-9156-F1B8F76CABA4}" type="slidenum">
              <a:rPr lang="en-US" altLang="zh-CN"/>
              <a:pPr/>
              <a:t>‹#›</a:t>
            </a:fld>
            <a:endParaRPr lang="en-US" altLang="zh-CN"/>
          </a:p>
        </p:txBody>
      </p:sp>
    </p:spTree>
    <p:extLst>
      <p:ext uri="{BB962C8B-B14F-4D97-AF65-F5344CB8AC3E}">
        <p14:creationId xmlns:p14="http://schemas.microsoft.com/office/powerpoint/2010/main" val="33241557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5BCA962-547F-407E-8F1F-186B0AB40DFB}" type="slidenum">
              <a:rPr lang="en-US" altLang="zh-CN"/>
              <a:pPr/>
              <a:t>‹#›</a:t>
            </a:fld>
            <a:endParaRPr lang="en-US" altLang="zh-CN"/>
          </a:p>
        </p:txBody>
      </p:sp>
    </p:spTree>
    <p:extLst>
      <p:ext uri="{BB962C8B-B14F-4D97-AF65-F5344CB8AC3E}">
        <p14:creationId xmlns:p14="http://schemas.microsoft.com/office/powerpoint/2010/main" val="42700381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4ACB50D-0A0D-46E0-B2EF-D634C30317AB}" type="slidenum">
              <a:rPr lang="en-US" altLang="zh-CN"/>
              <a:pPr/>
              <a:t>‹#›</a:t>
            </a:fld>
            <a:endParaRPr lang="en-US" altLang="zh-CN"/>
          </a:p>
        </p:txBody>
      </p:sp>
    </p:spTree>
    <p:extLst>
      <p:ext uri="{BB962C8B-B14F-4D97-AF65-F5344CB8AC3E}">
        <p14:creationId xmlns:p14="http://schemas.microsoft.com/office/powerpoint/2010/main" val="10177282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BD4C908-B659-4E1A-BA2E-DB174DF56BD4}" type="slidenum">
              <a:rPr lang="en-US" altLang="zh-CN"/>
              <a:pPr/>
              <a:t>‹#›</a:t>
            </a:fld>
            <a:endParaRPr lang="en-US" altLang="zh-CN"/>
          </a:p>
        </p:txBody>
      </p:sp>
    </p:spTree>
    <p:extLst>
      <p:ext uri="{BB962C8B-B14F-4D97-AF65-F5344CB8AC3E}">
        <p14:creationId xmlns:p14="http://schemas.microsoft.com/office/powerpoint/2010/main" val="2768360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938862ED-2A04-4296-804B-5AC73186A8B5}" type="slidenum">
              <a:rPr lang="en-US" altLang="zh-CN"/>
              <a:pPr/>
              <a:t>‹#›</a:t>
            </a:fld>
            <a:endParaRPr lang="en-US" altLang="zh-CN"/>
          </a:p>
        </p:txBody>
      </p:sp>
    </p:spTree>
    <p:extLst>
      <p:ext uri="{BB962C8B-B14F-4D97-AF65-F5344CB8AC3E}">
        <p14:creationId xmlns:p14="http://schemas.microsoft.com/office/powerpoint/2010/main" val="25531036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DE463B3-6E3A-4FA7-8F4F-BB44A2D70F8A}" type="slidenum">
              <a:rPr lang="en-US" altLang="zh-CN"/>
              <a:pPr/>
              <a:t>‹#›</a:t>
            </a:fld>
            <a:endParaRPr lang="en-US" altLang="zh-CN"/>
          </a:p>
        </p:txBody>
      </p:sp>
    </p:spTree>
    <p:extLst>
      <p:ext uri="{BB962C8B-B14F-4D97-AF65-F5344CB8AC3E}">
        <p14:creationId xmlns:p14="http://schemas.microsoft.com/office/powerpoint/2010/main" val="1614828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563562"/>
          </a:xfrm>
          <a:prstGeom prst="rect">
            <a:avLst/>
          </a:prstGeom>
        </p:spPr>
        <p:txBody>
          <a:bodyPr/>
          <a:lstStyle>
            <a:lvl1pPr algn="l">
              <a:defRPr lang="zh-CN" altLang="en-US" sz="2800" b="1" dirty="0" smtClean="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990600"/>
            <a:ext cx="8229600" cy="5135563"/>
          </a:xfrm>
          <a:prstGeom prst="rect">
            <a:avLst/>
          </a:prstGeom>
        </p:spPr>
        <p:txBody>
          <a:bodyPr/>
          <a:lstStyle>
            <a:lvl1pPr>
              <a:buClr>
                <a:schemeClr val="accent2"/>
              </a:buClr>
              <a:defRPr sz="2800" b="1">
                <a:latin typeface="Times New Roman" pitchFamily="18" charset="0"/>
                <a:ea typeface="楷体_GB2312" pitchFamily="49" charset="-122"/>
                <a:cs typeface="Times New Roman" pitchFamily="18" charset="0"/>
              </a:defRPr>
            </a:lvl1pPr>
            <a:lvl2pPr>
              <a:buClr>
                <a:srgbClr val="CC0099"/>
              </a:buClr>
              <a:defRPr sz="2800" b="1">
                <a:latin typeface="Times New Roman" pitchFamily="18" charset="0"/>
                <a:ea typeface="楷体_GB2312" pitchFamily="49" charset="-122"/>
                <a:cs typeface="Times New Roman" pitchFamily="18" charset="0"/>
              </a:defRPr>
            </a:lvl2pPr>
            <a:lvl3pPr>
              <a:defRPr sz="2800" b="1">
                <a:latin typeface="Times New Roman" pitchFamily="18" charset="0"/>
                <a:ea typeface="楷体_GB2312" pitchFamily="49" charset="-122"/>
                <a:cs typeface="Times New Roman" pitchFamily="18" charset="0"/>
              </a:defRPr>
            </a:lvl3pPr>
            <a:lvl4pPr>
              <a:defRPr sz="2800" b="1">
                <a:latin typeface="Times New Roman" pitchFamily="18" charset="0"/>
                <a:ea typeface="楷体_GB2312" pitchFamily="49" charset="-122"/>
                <a:cs typeface="Times New Roman" pitchFamily="18" charset="0"/>
              </a:defRPr>
            </a:lvl4pPr>
            <a:lvl5pPr>
              <a:defRPr sz="2800" b="1">
                <a:latin typeface="Times New Roman" pitchFamily="18" charset="0"/>
                <a:ea typeface="楷体_GB2312" pitchFamily="49" charset="-122"/>
                <a:cs typeface="Times New Roman"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340CE56-E0A0-46B7-8CFA-A0C34E567847}" type="slidenum">
              <a:rPr lang="en-US" altLang="zh-CN"/>
              <a:pPr/>
              <a:t>‹#›</a:t>
            </a:fld>
            <a:endParaRPr lang="en-US" altLang="zh-CN"/>
          </a:p>
        </p:txBody>
      </p:sp>
    </p:spTree>
    <p:extLst>
      <p:ext uri="{BB962C8B-B14F-4D97-AF65-F5344CB8AC3E}">
        <p14:creationId xmlns:p14="http://schemas.microsoft.com/office/powerpoint/2010/main" val="13364286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7F4CA04-D391-4DDB-83D7-DB4A4E5EDE04}" type="slidenum">
              <a:rPr lang="en-US" altLang="zh-CN"/>
              <a:pPr/>
              <a:t>‹#›</a:t>
            </a:fld>
            <a:endParaRPr lang="en-US" altLang="zh-CN"/>
          </a:p>
        </p:txBody>
      </p:sp>
    </p:spTree>
    <p:extLst>
      <p:ext uri="{BB962C8B-B14F-4D97-AF65-F5344CB8AC3E}">
        <p14:creationId xmlns:p14="http://schemas.microsoft.com/office/powerpoint/2010/main" val="10418675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4B03F47-0955-4FF7-AF55-3B55F2C378FF}" type="slidenum">
              <a:rPr lang="en-US" altLang="zh-CN"/>
              <a:pPr/>
              <a:t>‹#›</a:t>
            </a:fld>
            <a:endParaRPr lang="en-US" altLang="zh-CN"/>
          </a:p>
        </p:txBody>
      </p:sp>
    </p:spTree>
    <p:extLst>
      <p:ext uri="{BB962C8B-B14F-4D97-AF65-F5344CB8AC3E}">
        <p14:creationId xmlns:p14="http://schemas.microsoft.com/office/powerpoint/2010/main" val="42897441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8994E44-18D0-483C-BA30-A38156935D0F}" type="slidenum">
              <a:rPr lang="en-US" altLang="zh-CN"/>
              <a:pPr/>
              <a:t>‹#›</a:t>
            </a:fld>
            <a:endParaRPr lang="en-US" altLang="zh-CN"/>
          </a:p>
        </p:txBody>
      </p:sp>
    </p:spTree>
    <p:extLst>
      <p:ext uri="{BB962C8B-B14F-4D97-AF65-F5344CB8AC3E}">
        <p14:creationId xmlns:p14="http://schemas.microsoft.com/office/powerpoint/2010/main" val="31937228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569CFAA-7DF8-4E5A-9C5B-04EA40C80552}" type="slidenum">
              <a:rPr lang="en-US" altLang="zh-CN"/>
              <a:pPr/>
              <a:t>‹#›</a:t>
            </a:fld>
            <a:endParaRPr lang="en-US" altLang="zh-CN"/>
          </a:p>
        </p:txBody>
      </p:sp>
    </p:spTree>
    <p:extLst>
      <p:ext uri="{BB962C8B-B14F-4D97-AF65-F5344CB8AC3E}">
        <p14:creationId xmlns:p14="http://schemas.microsoft.com/office/powerpoint/2010/main" val="33234150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a:xfrm>
            <a:off x="7848600" y="6245225"/>
            <a:ext cx="838200" cy="476250"/>
          </a:xfrm>
        </p:spPr>
        <p:txBody>
          <a:bodyPr/>
          <a:lstStyle>
            <a:lvl1pPr>
              <a:defRPr/>
            </a:lvl1pPr>
          </a:lstStyle>
          <a:p>
            <a:fld id="{A4610C3B-4895-48DE-B858-4974268A5404}" type="slidenum">
              <a:rPr lang="en-US" altLang="zh-CN"/>
              <a:pPr/>
              <a:t>‹#›</a:t>
            </a:fld>
            <a:endParaRPr lang="en-US" altLang="zh-CN"/>
          </a:p>
        </p:txBody>
      </p:sp>
    </p:spTree>
    <p:extLst>
      <p:ext uri="{BB962C8B-B14F-4D97-AF65-F5344CB8AC3E}">
        <p14:creationId xmlns:p14="http://schemas.microsoft.com/office/powerpoint/2010/main" val="18463892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7772400" y="6245225"/>
            <a:ext cx="914400" cy="476250"/>
          </a:xfrm>
        </p:spPr>
        <p:txBody>
          <a:bodyPr/>
          <a:lstStyle>
            <a:lvl1pPr>
              <a:defRPr/>
            </a:lvl1pPr>
          </a:lstStyle>
          <a:p>
            <a:fld id="{3389E59E-87C0-4BC5-9156-F1B8F76CABA4}" type="slidenum">
              <a:rPr lang="en-US" altLang="zh-CN"/>
              <a:pPr/>
              <a:t>‹#›</a:t>
            </a:fld>
            <a:endParaRPr lang="en-US" altLang="zh-CN"/>
          </a:p>
        </p:txBody>
      </p:sp>
    </p:spTree>
    <p:extLst>
      <p:ext uri="{BB962C8B-B14F-4D97-AF65-F5344CB8AC3E}">
        <p14:creationId xmlns:p14="http://schemas.microsoft.com/office/powerpoint/2010/main" val="32126385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7772400" y="6245225"/>
            <a:ext cx="914400" cy="476250"/>
          </a:xfrm>
        </p:spPr>
        <p:txBody>
          <a:bodyPr/>
          <a:lstStyle>
            <a:lvl1pPr>
              <a:defRPr/>
            </a:lvl1pPr>
          </a:lstStyle>
          <a:p>
            <a:fld id="{F5BCA962-547F-407E-8F1F-186B0AB40DFB}" type="slidenum">
              <a:rPr lang="en-US" altLang="zh-CN"/>
              <a:pPr/>
              <a:t>‹#›</a:t>
            </a:fld>
            <a:endParaRPr lang="en-US" altLang="zh-CN"/>
          </a:p>
        </p:txBody>
      </p:sp>
    </p:spTree>
    <p:extLst>
      <p:ext uri="{BB962C8B-B14F-4D97-AF65-F5344CB8AC3E}">
        <p14:creationId xmlns:p14="http://schemas.microsoft.com/office/powerpoint/2010/main" val="199360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7772400" y="6245225"/>
            <a:ext cx="914400" cy="476250"/>
          </a:xfrm>
        </p:spPr>
        <p:txBody>
          <a:bodyPr/>
          <a:lstStyle>
            <a:lvl1pPr>
              <a:defRPr/>
            </a:lvl1pPr>
          </a:lstStyle>
          <a:p>
            <a:fld id="{84ACB50D-0A0D-46E0-B2EF-D634C30317AB}" type="slidenum">
              <a:rPr lang="en-US" altLang="zh-CN"/>
              <a:pPr/>
              <a:t>‹#›</a:t>
            </a:fld>
            <a:endParaRPr lang="en-US" altLang="zh-CN"/>
          </a:p>
        </p:txBody>
      </p:sp>
    </p:spTree>
    <p:extLst>
      <p:ext uri="{BB962C8B-B14F-4D97-AF65-F5344CB8AC3E}">
        <p14:creationId xmlns:p14="http://schemas.microsoft.com/office/powerpoint/2010/main" val="8135166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7620000" y="6245225"/>
            <a:ext cx="1066800" cy="476250"/>
          </a:xfrm>
        </p:spPr>
        <p:txBody>
          <a:bodyPr/>
          <a:lstStyle>
            <a:lvl1pPr>
              <a:defRPr/>
            </a:lvl1pPr>
          </a:lstStyle>
          <a:p>
            <a:fld id="{5BD4C908-B659-4E1A-BA2E-DB174DF56BD4}" type="slidenum">
              <a:rPr lang="en-US" altLang="zh-CN"/>
              <a:pPr/>
              <a:t>‹#›</a:t>
            </a:fld>
            <a:endParaRPr lang="en-US" altLang="zh-CN"/>
          </a:p>
        </p:txBody>
      </p:sp>
    </p:spTree>
    <p:extLst>
      <p:ext uri="{BB962C8B-B14F-4D97-AF65-F5344CB8AC3E}">
        <p14:creationId xmlns:p14="http://schemas.microsoft.com/office/powerpoint/2010/main" val="8150007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7696200" y="6245225"/>
            <a:ext cx="990600" cy="476250"/>
          </a:xfrm>
        </p:spPr>
        <p:txBody>
          <a:bodyPr/>
          <a:lstStyle>
            <a:lvl1pPr>
              <a:defRPr/>
            </a:lvl1pPr>
          </a:lstStyle>
          <a:p>
            <a:fld id="{938862ED-2A04-4296-804B-5AC73186A8B5}" type="slidenum">
              <a:rPr lang="en-US" altLang="zh-CN"/>
              <a:pPr/>
              <a:t>‹#›</a:t>
            </a:fld>
            <a:endParaRPr lang="en-US" altLang="zh-CN"/>
          </a:p>
        </p:txBody>
      </p:sp>
    </p:spTree>
    <p:extLst>
      <p:ext uri="{BB962C8B-B14F-4D97-AF65-F5344CB8AC3E}">
        <p14:creationId xmlns:p14="http://schemas.microsoft.com/office/powerpoint/2010/main" val="1609610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8C3F33-3C07-4C2F-83D0-1B65706079E4}" type="datetime1">
              <a:rPr lang="zh-CN" altLang="en-US" smtClean="0"/>
              <a:t>2021/11/8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7056160" y="645890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908555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ea typeface="+mn-ea"/>
              </a:defRPr>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mn-lt"/>
                <a:ea typeface="+mn-ea"/>
              </a:defRPr>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ea typeface="+mn-ea"/>
              </a:defRPr>
            </a:lvl1pPr>
          </a:lstStyle>
          <a:p>
            <a:fld id="{895126D7-17E2-4E60-9B59-BB61149A4144}" type="slidenum">
              <a:rPr lang="en-US" altLang="zh-CN"/>
              <a:pPr/>
              <a:t>‹#›</a:t>
            </a:fld>
            <a:endParaRPr lang="en-US" altLang="zh-CN"/>
          </a:p>
        </p:txBody>
      </p:sp>
      <p:sp>
        <p:nvSpPr>
          <p:cNvPr id="1031" name="Rectangle 7"/>
          <p:cNvSpPr>
            <a:spLocks noChangeArrowheads="1"/>
          </p:cNvSpPr>
          <p:nvPr/>
        </p:nvSpPr>
        <p:spPr bwMode="auto">
          <a:xfrm>
            <a:off x="457200" y="274638"/>
            <a:ext cx="8229600" cy="563562"/>
          </a:xfrm>
          <a:prstGeom prst="rect">
            <a:avLst/>
          </a:prstGeom>
          <a:noFill/>
          <a:ln w="9525">
            <a:noFill/>
            <a:miter lim="800000"/>
            <a:headEnd/>
            <a:tailEnd/>
          </a:ln>
          <a:effectLst/>
        </p:spPr>
        <p:txBody>
          <a:bodyPr/>
          <a:lstStyle/>
          <a:p>
            <a:pPr algn="ctr"/>
            <a:endParaRPr lang="zh-CN" altLang="zh-CN" sz="4400" b="0">
              <a:solidFill>
                <a:schemeClr val="tx2"/>
              </a:solidFill>
              <a:latin typeface="Arial" charset="0"/>
              <a:ea typeface="宋体" pitchFamily="2" charset="-122"/>
            </a:endParaRPr>
          </a:p>
        </p:txBody>
      </p:sp>
    </p:spTree>
    <p:extLst>
      <p:ext uri="{BB962C8B-B14F-4D97-AF65-F5344CB8AC3E}">
        <p14:creationId xmlns:p14="http://schemas.microsoft.com/office/powerpoint/2010/main" val="19578320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ea typeface="+mn-ea"/>
              </a:defRPr>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mn-lt"/>
                <a:ea typeface="+mn-ea"/>
              </a:defRPr>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ea typeface="+mn-ea"/>
              </a:defRPr>
            </a:lvl1pPr>
          </a:lstStyle>
          <a:p>
            <a:fld id="{895126D7-17E2-4E60-9B59-BB61149A4144}" type="slidenum">
              <a:rPr lang="en-US" altLang="zh-CN"/>
              <a:pPr/>
              <a:t>‹#›</a:t>
            </a:fld>
            <a:endParaRPr lang="en-US" altLang="zh-CN"/>
          </a:p>
        </p:txBody>
      </p:sp>
      <p:sp>
        <p:nvSpPr>
          <p:cNvPr id="1031" name="Rectangle 7"/>
          <p:cNvSpPr>
            <a:spLocks noChangeArrowheads="1"/>
          </p:cNvSpPr>
          <p:nvPr userDrawn="1"/>
        </p:nvSpPr>
        <p:spPr bwMode="auto">
          <a:xfrm>
            <a:off x="457200" y="274638"/>
            <a:ext cx="8229600" cy="563562"/>
          </a:xfrm>
          <a:prstGeom prst="rect">
            <a:avLst/>
          </a:prstGeom>
          <a:noFill/>
          <a:ln w="9525">
            <a:noFill/>
            <a:miter lim="800000"/>
            <a:headEnd/>
            <a:tailEnd/>
          </a:ln>
          <a:effectLst/>
        </p:spPr>
        <p:txBody>
          <a:bodyPr/>
          <a:lstStyle/>
          <a:p>
            <a:pPr algn="ctr"/>
            <a:endParaRPr lang="zh-CN" altLang="zh-CN" sz="4400" b="0">
              <a:solidFill>
                <a:schemeClr val="tx2"/>
              </a:solidFill>
              <a:latin typeface="Arial" charset="0"/>
              <a:ea typeface="宋体" pitchFamily="2" charset="-122"/>
            </a:endParaRPr>
          </a:p>
        </p:txBody>
      </p:sp>
    </p:spTree>
    <p:extLst>
      <p:ext uri="{BB962C8B-B14F-4D97-AF65-F5344CB8AC3E}">
        <p14:creationId xmlns:p14="http://schemas.microsoft.com/office/powerpoint/2010/main" val="159289650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5.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4.wmf"/><Relationship Id="rId2" Type="http://schemas.openxmlformats.org/officeDocument/2006/relationships/slideLayout" Target="../slideLayouts/slideLayout7.xml"/><Relationship Id="rId16" Type="http://schemas.openxmlformats.org/officeDocument/2006/relationships/image" Target="../media/image16.wmf"/><Relationship Id="rId1" Type="http://schemas.openxmlformats.org/officeDocument/2006/relationships/vmlDrawing" Target="../drawings/vmlDrawing4.vml"/><Relationship Id="rId6" Type="http://schemas.openxmlformats.org/officeDocument/2006/relationships/image" Target="../media/image11.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11.bin"/><Relationship Id="rId14" Type="http://schemas.openxmlformats.org/officeDocument/2006/relationships/image" Target="../media/image15.wmf"/></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8.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8.bin"/><Relationship Id="rId14" Type="http://schemas.openxmlformats.org/officeDocument/2006/relationships/image" Target="../media/image22.wmf"/></Relationships>
</file>

<file path=ppt/slides/_rels/slide10.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7.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4.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4.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2.png"/><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7.bin"/><Relationship Id="rId11" Type="http://schemas.openxmlformats.org/officeDocument/2006/relationships/image" Target="../media/image31.wmf"/><Relationship Id="rId5" Type="http://schemas.openxmlformats.org/officeDocument/2006/relationships/image" Target="../media/image28.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0.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4.wmf"/><Relationship Id="rId5" Type="http://schemas.openxmlformats.org/officeDocument/2006/relationships/oleObject" Target="../embeddings/oleObject31.bin"/><Relationship Id="rId4" Type="http://schemas.openxmlformats.org/officeDocument/2006/relationships/image" Target="../media/image3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7.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41.emf"/></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2.wmf"/><Relationship Id="rId5" Type="http://schemas.openxmlformats.org/officeDocument/2006/relationships/oleObject" Target="../embeddings/oleObject39.bin"/><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47.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53.png"/><Relationship Id="rId4" Type="http://schemas.openxmlformats.org/officeDocument/2006/relationships/image" Target="../media/image52.wmf"/></Relationships>
</file>

<file path=ppt/slides/_rels/slide2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oleObject" Target="../embeddings/oleObject42.bin"/><Relationship Id="rId7" Type="http://schemas.openxmlformats.org/officeDocument/2006/relationships/image" Target="../media/image56.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5.wmf"/><Relationship Id="rId5" Type="http://schemas.openxmlformats.org/officeDocument/2006/relationships/oleObject" Target="../embeddings/oleObject43.bin"/><Relationship Id="rId4" Type="http://schemas.openxmlformats.org/officeDocument/2006/relationships/image" Target="../media/image54.emf"/></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62.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5.bin"/><Relationship Id="rId5" Type="http://schemas.openxmlformats.org/officeDocument/2006/relationships/image" Target="../media/image63.png"/><Relationship Id="rId4" Type="http://schemas.openxmlformats.org/officeDocument/2006/relationships/image" Target="../media/image61.wmf"/></Relationships>
</file>

<file path=ppt/slides/_rels/slide2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oleObject" Target="../embeddings/oleObject46.bin"/><Relationship Id="rId7" Type="http://schemas.openxmlformats.org/officeDocument/2006/relationships/image" Target="../media/image65.png"/><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4.png"/><Relationship Id="rId5" Type="http://schemas.openxmlformats.org/officeDocument/2006/relationships/image" Target="../media/image60.png"/><Relationship Id="rId4" Type="http://schemas.openxmlformats.org/officeDocument/2006/relationships/image" Target="../media/image41.emf"/></Relationships>
</file>

<file path=ppt/slides/_rels/slide2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oleObject" Target="../embeddings/oleObject47.bin"/><Relationship Id="rId7" Type="http://schemas.openxmlformats.org/officeDocument/2006/relationships/image" Target="../media/image68.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48.bin"/><Relationship Id="rId11" Type="http://schemas.openxmlformats.org/officeDocument/2006/relationships/image" Target="../media/image70.wmf"/><Relationship Id="rId5" Type="http://schemas.openxmlformats.org/officeDocument/2006/relationships/image" Target="../media/image71.png"/><Relationship Id="rId10" Type="http://schemas.openxmlformats.org/officeDocument/2006/relationships/oleObject" Target="../embeddings/oleObject50.bin"/><Relationship Id="rId4" Type="http://schemas.openxmlformats.org/officeDocument/2006/relationships/image" Target="../media/image67.wmf"/><Relationship Id="rId9" Type="http://schemas.openxmlformats.org/officeDocument/2006/relationships/image" Target="../media/image69.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3.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52.bin"/><Relationship Id="rId5" Type="http://schemas.openxmlformats.org/officeDocument/2006/relationships/image" Target="../media/image72.wmf"/><Relationship Id="rId4" Type="http://schemas.openxmlformats.org/officeDocument/2006/relationships/oleObject" Target="../embeddings/oleObject51.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image" Target="../media/image78.png"/><Relationship Id="rId7" Type="http://schemas.openxmlformats.org/officeDocument/2006/relationships/image" Target="../media/image76.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54.bin"/><Relationship Id="rId5" Type="http://schemas.openxmlformats.org/officeDocument/2006/relationships/image" Target="../media/image75.wmf"/><Relationship Id="rId4" Type="http://schemas.openxmlformats.org/officeDocument/2006/relationships/oleObject" Target="../embeddings/oleObject53.bin"/><Relationship Id="rId9" Type="http://schemas.openxmlformats.org/officeDocument/2006/relationships/image" Target="../media/image77.wmf"/></Relationships>
</file>

<file path=ppt/slides/_rels/slide29.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83.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80.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59.bin"/></Relationships>
</file>

<file path=ppt/slides/_rels/slide3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88.wmf"/><Relationship Id="rId13" Type="http://schemas.openxmlformats.org/officeDocument/2006/relationships/image" Target="../media/image90.wmf"/><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oleObject" Target="../embeddings/oleObject65.bin"/><Relationship Id="rId17" Type="http://schemas.openxmlformats.org/officeDocument/2006/relationships/oleObject" Target="../embeddings/oleObject68.bin"/><Relationship Id="rId2" Type="http://schemas.openxmlformats.org/officeDocument/2006/relationships/slideLayout" Target="../slideLayouts/slideLayout7.xml"/><Relationship Id="rId16" Type="http://schemas.openxmlformats.org/officeDocument/2006/relationships/oleObject" Target="../embeddings/oleObject67.bin"/><Relationship Id="rId1" Type="http://schemas.openxmlformats.org/officeDocument/2006/relationships/vmlDrawing" Target="../drawings/vmlDrawing22.vml"/><Relationship Id="rId6" Type="http://schemas.openxmlformats.org/officeDocument/2006/relationships/image" Target="../media/image87.wmf"/><Relationship Id="rId11" Type="http://schemas.openxmlformats.org/officeDocument/2006/relationships/image" Target="../media/image92.png"/><Relationship Id="rId5" Type="http://schemas.openxmlformats.org/officeDocument/2006/relationships/oleObject" Target="../embeddings/oleObject62.bin"/><Relationship Id="rId15" Type="http://schemas.openxmlformats.org/officeDocument/2006/relationships/image" Target="../media/image91.wmf"/><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64.bin"/><Relationship Id="rId14" Type="http://schemas.openxmlformats.org/officeDocument/2006/relationships/oleObject" Target="../embeddings/oleObject66.bin"/></Relationships>
</file>

<file path=ppt/slides/_rels/slide33.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96.wmf"/><Relationship Id="rId3" Type="http://schemas.openxmlformats.org/officeDocument/2006/relationships/image" Target="../media/image97.png"/><Relationship Id="rId7" Type="http://schemas.openxmlformats.org/officeDocument/2006/relationships/image" Target="../media/image94.wmf"/><Relationship Id="rId12"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70.bin"/><Relationship Id="rId11" Type="http://schemas.openxmlformats.org/officeDocument/2006/relationships/image" Target="../media/image95.wmf"/><Relationship Id="rId5" Type="http://schemas.openxmlformats.org/officeDocument/2006/relationships/image" Target="../media/image93.wmf"/><Relationship Id="rId10" Type="http://schemas.openxmlformats.org/officeDocument/2006/relationships/oleObject" Target="../embeddings/oleObject71.bin"/><Relationship Id="rId4" Type="http://schemas.openxmlformats.org/officeDocument/2006/relationships/oleObject" Target="../embeddings/oleObject69.bin"/><Relationship Id="rId9" Type="http://schemas.openxmlformats.org/officeDocument/2006/relationships/image" Target="../media/image99.png"/></Relationships>
</file>

<file path=ppt/slides/_rels/slide34.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png"/><Relationship Id="rId1" Type="http://schemas.openxmlformats.org/officeDocument/2006/relationships/slideLayout" Target="../slideLayouts/slideLayout7.xml"/><Relationship Id="rId5" Type="http://schemas.openxmlformats.org/officeDocument/2006/relationships/image" Target="../media/image103.png"/><Relationship Id="rId4" Type="http://schemas.openxmlformats.org/officeDocument/2006/relationships/image" Target="../media/image102.wmf"/></Relationships>
</file>

<file path=ppt/slides/_rels/slide3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78.bin"/><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109.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06.wmf"/><Relationship Id="rId11" Type="http://schemas.openxmlformats.org/officeDocument/2006/relationships/oleObject" Target="../embeddings/oleObject77.bin"/><Relationship Id="rId5" Type="http://schemas.openxmlformats.org/officeDocument/2006/relationships/oleObject" Target="../embeddings/oleObject74.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76.bin"/><Relationship Id="rId14" Type="http://schemas.openxmlformats.org/officeDocument/2006/relationships/image" Target="../media/image110.wmf"/></Relationships>
</file>

<file path=ppt/slides/_rels/slide39.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84.bin"/><Relationship Id="rId18" Type="http://schemas.openxmlformats.org/officeDocument/2006/relationships/image" Target="../media/image118.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15.wmf"/><Relationship Id="rId17" Type="http://schemas.openxmlformats.org/officeDocument/2006/relationships/oleObject" Target="../embeddings/oleObject86.bin"/><Relationship Id="rId2" Type="http://schemas.openxmlformats.org/officeDocument/2006/relationships/slideLayout" Target="../slideLayouts/slideLayout7.xml"/><Relationship Id="rId16" Type="http://schemas.openxmlformats.org/officeDocument/2006/relationships/image" Target="../media/image117.wmf"/><Relationship Id="rId1" Type="http://schemas.openxmlformats.org/officeDocument/2006/relationships/vmlDrawing" Target="../drawings/vmlDrawing25.vml"/><Relationship Id="rId6" Type="http://schemas.openxmlformats.org/officeDocument/2006/relationships/image" Target="../media/image112.wmf"/><Relationship Id="rId11" Type="http://schemas.openxmlformats.org/officeDocument/2006/relationships/oleObject" Target="../embeddings/oleObject83.bin"/><Relationship Id="rId5" Type="http://schemas.openxmlformats.org/officeDocument/2006/relationships/oleObject" Target="../embeddings/oleObject80.bin"/><Relationship Id="rId15" Type="http://schemas.openxmlformats.org/officeDocument/2006/relationships/oleObject" Target="../embeddings/oleObject85.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82.bin"/><Relationship Id="rId14" Type="http://schemas.openxmlformats.org/officeDocument/2006/relationships/image" Target="../media/image116.wmf"/></Relationships>
</file>

<file path=ppt/slides/_rels/slide40.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21.png"/><Relationship Id="rId7" Type="http://schemas.openxmlformats.org/officeDocument/2006/relationships/image" Target="../media/image123.png"/><Relationship Id="rId12" Type="http://schemas.openxmlformats.org/officeDocument/2006/relationships/image" Target="../media/image120.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22.png"/><Relationship Id="rId11" Type="http://schemas.openxmlformats.org/officeDocument/2006/relationships/oleObject" Target="../embeddings/oleObject88.bin"/><Relationship Id="rId5" Type="http://schemas.openxmlformats.org/officeDocument/2006/relationships/image" Target="../media/image119.wmf"/><Relationship Id="rId10" Type="http://schemas.openxmlformats.org/officeDocument/2006/relationships/image" Target="../media/image126.png"/><Relationship Id="rId4" Type="http://schemas.openxmlformats.org/officeDocument/2006/relationships/oleObject" Target="../embeddings/oleObject87.bin"/><Relationship Id="rId9" Type="http://schemas.openxmlformats.org/officeDocument/2006/relationships/image" Target="../media/image125.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28.wmf"/><Relationship Id="rId5" Type="http://schemas.openxmlformats.org/officeDocument/2006/relationships/oleObject" Target="../embeddings/oleObject90.bin"/><Relationship Id="rId4" Type="http://schemas.openxmlformats.org/officeDocument/2006/relationships/image" Target="../media/image127.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6" Type="http://schemas.openxmlformats.org/officeDocument/2006/relationships/oleObject" Target="../embeddings/oleObject103.bin"/><Relationship Id="rId21" Type="http://schemas.openxmlformats.org/officeDocument/2006/relationships/oleObject" Target="../embeddings/oleObject100.bin"/><Relationship Id="rId34" Type="http://schemas.openxmlformats.org/officeDocument/2006/relationships/oleObject" Target="../embeddings/oleObject107.bin"/><Relationship Id="rId42" Type="http://schemas.openxmlformats.org/officeDocument/2006/relationships/oleObject" Target="../embeddings/oleObject114.bin"/><Relationship Id="rId47" Type="http://schemas.openxmlformats.org/officeDocument/2006/relationships/oleObject" Target="../embeddings/oleObject119.bin"/><Relationship Id="rId50" Type="http://schemas.openxmlformats.org/officeDocument/2006/relationships/image" Target="../media/image146.wmf"/><Relationship Id="rId55" Type="http://schemas.openxmlformats.org/officeDocument/2006/relationships/oleObject" Target="../embeddings/oleObject123.bin"/><Relationship Id="rId63" Type="http://schemas.openxmlformats.org/officeDocument/2006/relationships/oleObject" Target="../embeddings/oleObject127.bin"/><Relationship Id="rId68" Type="http://schemas.openxmlformats.org/officeDocument/2006/relationships/image" Target="../media/image155.wmf"/><Relationship Id="rId7" Type="http://schemas.openxmlformats.org/officeDocument/2006/relationships/oleObject" Target="../embeddings/oleObject93.bin"/><Relationship Id="rId2" Type="http://schemas.openxmlformats.org/officeDocument/2006/relationships/slideLayout" Target="../slideLayouts/slideLayout7.xml"/><Relationship Id="rId16" Type="http://schemas.openxmlformats.org/officeDocument/2006/relationships/image" Target="../media/image135.wmf"/><Relationship Id="rId29" Type="http://schemas.openxmlformats.org/officeDocument/2006/relationships/image" Target="../media/image141.wmf"/><Relationship Id="rId11" Type="http://schemas.openxmlformats.org/officeDocument/2006/relationships/oleObject" Target="../embeddings/oleObject95.bin"/><Relationship Id="rId24" Type="http://schemas.openxmlformats.org/officeDocument/2006/relationships/image" Target="../media/image139.wmf"/><Relationship Id="rId32" Type="http://schemas.openxmlformats.org/officeDocument/2006/relationships/oleObject" Target="../embeddings/oleObject106.bin"/><Relationship Id="rId37" Type="http://schemas.openxmlformats.org/officeDocument/2006/relationships/image" Target="../media/image144.wmf"/><Relationship Id="rId40" Type="http://schemas.openxmlformats.org/officeDocument/2006/relationships/oleObject" Target="../embeddings/oleObject112.bin"/><Relationship Id="rId45" Type="http://schemas.openxmlformats.org/officeDocument/2006/relationships/oleObject" Target="../embeddings/oleObject117.bin"/><Relationship Id="rId53" Type="http://schemas.openxmlformats.org/officeDocument/2006/relationships/oleObject" Target="../embeddings/oleObject122.bin"/><Relationship Id="rId58" Type="http://schemas.openxmlformats.org/officeDocument/2006/relationships/image" Target="../media/image150.wmf"/><Relationship Id="rId66" Type="http://schemas.openxmlformats.org/officeDocument/2006/relationships/image" Target="../media/image154.wmf"/><Relationship Id="rId5" Type="http://schemas.openxmlformats.org/officeDocument/2006/relationships/oleObject" Target="../embeddings/oleObject92.bin"/><Relationship Id="rId61" Type="http://schemas.openxmlformats.org/officeDocument/2006/relationships/oleObject" Target="../embeddings/oleObject126.bin"/><Relationship Id="rId19" Type="http://schemas.openxmlformats.org/officeDocument/2006/relationships/oleObject" Target="../embeddings/oleObject99.bin"/><Relationship Id="rId14" Type="http://schemas.openxmlformats.org/officeDocument/2006/relationships/image" Target="../media/image134.wmf"/><Relationship Id="rId22" Type="http://schemas.openxmlformats.org/officeDocument/2006/relationships/image" Target="../media/image138.wmf"/><Relationship Id="rId27" Type="http://schemas.openxmlformats.org/officeDocument/2006/relationships/image" Target="../media/image140.wmf"/><Relationship Id="rId30" Type="http://schemas.openxmlformats.org/officeDocument/2006/relationships/oleObject" Target="../embeddings/oleObject105.bin"/><Relationship Id="rId35" Type="http://schemas.openxmlformats.org/officeDocument/2006/relationships/oleObject" Target="../embeddings/oleObject108.bin"/><Relationship Id="rId43" Type="http://schemas.openxmlformats.org/officeDocument/2006/relationships/oleObject" Target="../embeddings/oleObject115.bin"/><Relationship Id="rId48" Type="http://schemas.openxmlformats.org/officeDocument/2006/relationships/image" Target="../media/image145.wmf"/><Relationship Id="rId56" Type="http://schemas.openxmlformats.org/officeDocument/2006/relationships/image" Target="../media/image149.wmf"/><Relationship Id="rId64" Type="http://schemas.openxmlformats.org/officeDocument/2006/relationships/image" Target="../media/image153.wmf"/><Relationship Id="rId8" Type="http://schemas.openxmlformats.org/officeDocument/2006/relationships/image" Target="../media/image131.wmf"/><Relationship Id="rId51" Type="http://schemas.openxmlformats.org/officeDocument/2006/relationships/oleObject" Target="../embeddings/oleObject121.bin"/><Relationship Id="rId3" Type="http://schemas.openxmlformats.org/officeDocument/2006/relationships/oleObject" Target="../embeddings/oleObject91.bin"/><Relationship Id="rId12" Type="http://schemas.openxmlformats.org/officeDocument/2006/relationships/image" Target="../media/image133.wmf"/><Relationship Id="rId17" Type="http://schemas.openxmlformats.org/officeDocument/2006/relationships/oleObject" Target="../embeddings/oleObject98.bin"/><Relationship Id="rId25" Type="http://schemas.openxmlformats.org/officeDocument/2006/relationships/oleObject" Target="../embeddings/oleObject102.bin"/><Relationship Id="rId33" Type="http://schemas.openxmlformats.org/officeDocument/2006/relationships/image" Target="../media/image143.wmf"/><Relationship Id="rId38" Type="http://schemas.openxmlformats.org/officeDocument/2006/relationships/oleObject" Target="../embeddings/oleObject110.bin"/><Relationship Id="rId46" Type="http://schemas.openxmlformats.org/officeDocument/2006/relationships/oleObject" Target="../embeddings/oleObject118.bin"/><Relationship Id="rId59" Type="http://schemas.openxmlformats.org/officeDocument/2006/relationships/oleObject" Target="../embeddings/oleObject125.bin"/><Relationship Id="rId67" Type="http://schemas.openxmlformats.org/officeDocument/2006/relationships/oleObject" Target="../embeddings/oleObject129.bin"/><Relationship Id="rId20" Type="http://schemas.openxmlformats.org/officeDocument/2006/relationships/image" Target="../media/image137.wmf"/><Relationship Id="rId41" Type="http://schemas.openxmlformats.org/officeDocument/2006/relationships/oleObject" Target="../embeddings/oleObject113.bin"/><Relationship Id="rId54" Type="http://schemas.openxmlformats.org/officeDocument/2006/relationships/image" Target="../media/image148.wmf"/><Relationship Id="rId62" Type="http://schemas.openxmlformats.org/officeDocument/2006/relationships/image" Target="../media/image152.wmf"/><Relationship Id="rId1" Type="http://schemas.openxmlformats.org/officeDocument/2006/relationships/vmlDrawing" Target="../drawings/vmlDrawing28.vml"/><Relationship Id="rId6" Type="http://schemas.openxmlformats.org/officeDocument/2006/relationships/image" Target="../media/image130.wmf"/><Relationship Id="rId15" Type="http://schemas.openxmlformats.org/officeDocument/2006/relationships/oleObject" Target="../embeddings/oleObject97.bin"/><Relationship Id="rId23" Type="http://schemas.openxmlformats.org/officeDocument/2006/relationships/oleObject" Target="../embeddings/oleObject101.bin"/><Relationship Id="rId28" Type="http://schemas.openxmlformats.org/officeDocument/2006/relationships/oleObject" Target="../embeddings/oleObject104.bin"/><Relationship Id="rId36" Type="http://schemas.openxmlformats.org/officeDocument/2006/relationships/oleObject" Target="../embeddings/oleObject109.bin"/><Relationship Id="rId49" Type="http://schemas.openxmlformats.org/officeDocument/2006/relationships/oleObject" Target="../embeddings/oleObject120.bin"/><Relationship Id="rId57" Type="http://schemas.openxmlformats.org/officeDocument/2006/relationships/oleObject" Target="../embeddings/oleObject124.bin"/><Relationship Id="rId10" Type="http://schemas.openxmlformats.org/officeDocument/2006/relationships/image" Target="../media/image132.wmf"/><Relationship Id="rId31" Type="http://schemas.openxmlformats.org/officeDocument/2006/relationships/image" Target="../media/image142.wmf"/><Relationship Id="rId44" Type="http://schemas.openxmlformats.org/officeDocument/2006/relationships/oleObject" Target="../embeddings/oleObject116.bin"/><Relationship Id="rId52" Type="http://schemas.openxmlformats.org/officeDocument/2006/relationships/image" Target="../media/image147.wmf"/><Relationship Id="rId60" Type="http://schemas.openxmlformats.org/officeDocument/2006/relationships/image" Target="../media/image151.wmf"/><Relationship Id="rId65" Type="http://schemas.openxmlformats.org/officeDocument/2006/relationships/oleObject" Target="../embeddings/oleObject128.bin"/><Relationship Id="rId4" Type="http://schemas.openxmlformats.org/officeDocument/2006/relationships/image" Target="../media/image129.wmf"/><Relationship Id="rId9" Type="http://schemas.openxmlformats.org/officeDocument/2006/relationships/oleObject" Target="../embeddings/oleObject94.bin"/><Relationship Id="rId13" Type="http://schemas.openxmlformats.org/officeDocument/2006/relationships/oleObject" Target="../embeddings/oleObject96.bin"/><Relationship Id="rId18" Type="http://schemas.openxmlformats.org/officeDocument/2006/relationships/image" Target="../media/image136.wmf"/><Relationship Id="rId39" Type="http://schemas.openxmlformats.org/officeDocument/2006/relationships/oleObject" Target="../embeddings/oleObject111.bin"/></Relationships>
</file>

<file path=ppt/slides/_rels/slide44.xml.rels><?xml version="1.0" encoding="UTF-8" standalone="yes"?>
<Relationships xmlns="http://schemas.openxmlformats.org/package/2006/relationships"><Relationship Id="rId13" Type="http://schemas.openxmlformats.org/officeDocument/2006/relationships/oleObject" Target="../embeddings/oleObject135.bin"/><Relationship Id="rId18" Type="http://schemas.openxmlformats.org/officeDocument/2006/relationships/image" Target="../media/image137.wmf"/><Relationship Id="rId26" Type="http://schemas.openxmlformats.org/officeDocument/2006/relationships/oleObject" Target="../embeddings/oleObject142.bin"/><Relationship Id="rId39" Type="http://schemas.openxmlformats.org/officeDocument/2006/relationships/oleObject" Target="../embeddings/oleObject151.bin"/><Relationship Id="rId21" Type="http://schemas.openxmlformats.org/officeDocument/2006/relationships/oleObject" Target="../embeddings/oleObject139.bin"/><Relationship Id="rId34" Type="http://schemas.openxmlformats.org/officeDocument/2006/relationships/oleObject" Target="../embeddings/oleObject147.bin"/><Relationship Id="rId42" Type="http://schemas.openxmlformats.org/officeDocument/2006/relationships/oleObject" Target="../embeddings/oleObject154.bin"/><Relationship Id="rId47" Type="http://schemas.openxmlformats.org/officeDocument/2006/relationships/oleObject" Target="../embeddings/oleObject158.bin"/><Relationship Id="rId50" Type="http://schemas.openxmlformats.org/officeDocument/2006/relationships/image" Target="../media/image147.wmf"/><Relationship Id="rId55" Type="http://schemas.openxmlformats.org/officeDocument/2006/relationships/oleObject" Target="../embeddings/oleObject162.bin"/><Relationship Id="rId63" Type="http://schemas.openxmlformats.org/officeDocument/2006/relationships/oleObject" Target="../embeddings/oleObject166.bin"/><Relationship Id="rId7" Type="http://schemas.openxmlformats.org/officeDocument/2006/relationships/oleObject" Target="../embeddings/oleObject132.bin"/><Relationship Id="rId2" Type="http://schemas.openxmlformats.org/officeDocument/2006/relationships/slideLayout" Target="../slideLayouts/slideLayout7.xml"/><Relationship Id="rId16" Type="http://schemas.openxmlformats.org/officeDocument/2006/relationships/image" Target="../media/image135.wmf"/><Relationship Id="rId29" Type="http://schemas.openxmlformats.org/officeDocument/2006/relationships/image" Target="../media/image142.wmf"/><Relationship Id="rId11" Type="http://schemas.openxmlformats.org/officeDocument/2006/relationships/oleObject" Target="../embeddings/oleObject134.bin"/><Relationship Id="rId24" Type="http://schemas.openxmlformats.org/officeDocument/2006/relationships/oleObject" Target="../embeddings/oleObject141.bin"/><Relationship Id="rId32" Type="http://schemas.openxmlformats.org/officeDocument/2006/relationships/oleObject" Target="../embeddings/oleObject145.bin"/><Relationship Id="rId37" Type="http://schemas.openxmlformats.org/officeDocument/2006/relationships/oleObject" Target="../embeddings/oleObject149.bin"/><Relationship Id="rId40" Type="http://schemas.openxmlformats.org/officeDocument/2006/relationships/oleObject" Target="../embeddings/oleObject152.bin"/><Relationship Id="rId45" Type="http://schemas.openxmlformats.org/officeDocument/2006/relationships/oleObject" Target="../embeddings/oleObject157.bin"/><Relationship Id="rId53" Type="http://schemas.openxmlformats.org/officeDocument/2006/relationships/oleObject" Target="../embeddings/oleObject161.bin"/><Relationship Id="rId58" Type="http://schemas.openxmlformats.org/officeDocument/2006/relationships/image" Target="../media/image158.wmf"/><Relationship Id="rId5" Type="http://schemas.openxmlformats.org/officeDocument/2006/relationships/oleObject" Target="../embeddings/oleObject131.bin"/><Relationship Id="rId61" Type="http://schemas.openxmlformats.org/officeDocument/2006/relationships/oleObject" Target="../embeddings/oleObject165.bin"/><Relationship Id="rId19" Type="http://schemas.openxmlformats.org/officeDocument/2006/relationships/oleObject" Target="../embeddings/oleObject138.bin"/><Relationship Id="rId14" Type="http://schemas.openxmlformats.org/officeDocument/2006/relationships/image" Target="../media/image134.wmf"/><Relationship Id="rId22" Type="http://schemas.openxmlformats.org/officeDocument/2006/relationships/image" Target="../media/image139.wmf"/><Relationship Id="rId27" Type="http://schemas.openxmlformats.org/officeDocument/2006/relationships/image" Target="../media/image141.wmf"/><Relationship Id="rId30" Type="http://schemas.openxmlformats.org/officeDocument/2006/relationships/oleObject" Target="../embeddings/oleObject144.bin"/><Relationship Id="rId35" Type="http://schemas.openxmlformats.org/officeDocument/2006/relationships/image" Target="../media/image144.wmf"/><Relationship Id="rId43" Type="http://schemas.openxmlformats.org/officeDocument/2006/relationships/oleObject" Target="../embeddings/oleObject155.bin"/><Relationship Id="rId48" Type="http://schemas.openxmlformats.org/officeDocument/2006/relationships/image" Target="../media/image146.wmf"/><Relationship Id="rId56" Type="http://schemas.openxmlformats.org/officeDocument/2006/relationships/image" Target="../media/image157.wmf"/><Relationship Id="rId64" Type="http://schemas.openxmlformats.org/officeDocument/2006/relationships/image" Target="../media/image155.wmf"/><Relationship Id="rId8" Type="http://schemas.openxmlformats.org/officeDocument/2006/relationships/image" Target="../media/image131.wmf"/><Relationship Id="rId51" Type="http://schemas.openxmlformats.org/officeDocument/2006/relationships/oleObject" Target="../embeddings/oleObject160.bin"/><Relationship Id="rId3" Type="http://schemas.openxmlformats.org/officeDocument/2006/relationships/oleObject" Target="../embeddings/oleObject130.bin"/><Relationship Id="rId12" Type="http://schemas.openxmlformats.org/officeDocument/2006/relationships/image" Target="../media/image133.wmf"/><Relationship Id="rId17" Type="http://schemas.openxmlformats.org/officeDocument/2006/relationships/oleObject" Target="../embeddings/oleObject137.bin"/><Relationship Id="rId25" Type="http://schemas.openxmlformats.org/officeDocument/2006/relationships/image" Target="../media/image140.wmf"/><Relationship Id="rId33" Type="http://schemas.openxmlformats.org/officeDocument/2006/relationships/oleObject" Target="../embeddings/oleObject146.bin"/><Relationship Id="rId38" Type="http://schemas.openxmlformats.org/officeDocument/2006/relationships/oleObject" Target="../embeddings/oleObject150.bin"/><Relationship Id="rId46" Type="http://schemas.openxmlformats.org/officeDocument/2006/relationships/image" Target="../media/image145.wmf"/><Relationship Id="rId59" Type="http://schemas.openxmlformats.org/officeDocument/2006/relationships/oleObject" Target="../embeddings/oleObject164.bin"/><Relationship Id="rId20" Type="http://schemas.openxmlformats.org/officeDocument/2006/relationships/image" Target="../media/image138.wmf"/><Relationship Id="rId41" Type="http://schemas.openxmlformats.org/officeDocument/2006/relationships/oleObject" Target="../embeddings/oleObject153.bin"/><Relationship Id="rId54" Type="http://schemas.openxmlformats.org/officeDocument/2006/relationships/image" Target="../media/image156.wmf"/><Relationship Id="rId62" Type="http://schemas.openxmlformats.org/officeDocument/2006/relationships/image" Target="../media/image154.wmf"/><Relationship Id="rId1" Type="http://schemas.openxmlformats.org/officeDocument/2006/relationships/vmlDrawing" Target="../drawings/vmlDrawing29.vml"/><Relationship Id="rId6" Type="http://schemas.openxmlformats.org/officeDocument/2006/relationships/image" Target="../media/image130.wmf"/><Relationship Id="rId15" Type="http://schemas.openxmlformats.org/officeDocument/2006/relationships/oleObject" Target="../embeddings/oleObject136.bin"/><Relationship Id="rId23" Type="http://schemas.openxmlformats.org/officeDocument/2006/relationships/oleObject" Target="../embeddings/oleObject140.bin"/><Relationship Id="rId28" Type="http://schemas.openxmlformats.org/officeDocument/2006/relationships/oleObject" Target="../embeddings/oleObject143.bin"/><Relationship Id="rId36" Type="http://schemas.openxmlformats.org/officeDocument/2006/relationships/oleObject" Target="../embeddings/oleObject148.bin"/><Relationship Id="rId49" Type="http://schemas.openxmlformats.org/officeDocument/2006/relationships/oleObject" Target="../embeddings/oleObject159.bin"/><Relationship Id="rId57" Type="http://schemas.openxmlformats.org/officeDocument/2006/relationships/oleObject" Target="../embeddings/oleObject163.bin"/><Relationship Id="rId10" Type="http://schemas.openxmlformats.org/officeDocument/2006/relationships/image" Target="../media/image132.wmf"/><Relationship Id="rId31" Type="http://schemas.openxmlformats.org/officeDocument/2006/relationships/image" Target="../media/image143.wmf"/><Relationship Id="rId44" Type="http://schemas.openxmlformats.org/officeDocument/2006/relationships/oleObject" Target="../embeddings/oleObject156.bin"/><Relationship Id="rId52" Type="http://schemas.openxmlformats.org/officeDocument/2006/relationships/image" Target="../media/image151.wmf"/><Relationship Id="rId60" Type="http://schemas.openxmlformats.org/officeDocument/2006/relationships/image" Target="../media/image153.wmf"/><Relationship Id="rId4" Type="http://schemas.openxmlformats.org/officeDocument/2006/relationships/image" Target="../media/image129.wmf"/><Relationship Id="rId9" Type="http://schemas.openxmlformats.org/officeDocument/2006/relationships/oleObject" Target="../embeddings/oleObject133.bin"/></Relationships>
</file>

<file path=ppt/slides/_rels/slide4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1.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47.xml.rels><?xml version="1.0" encoding="UTF-8" standalone="yes"?>
<Relationships xmlns="http://schemas.openxmlformats.org/package/2006/relationships"><Relationship Id="rId8" Type="http://schemas.openxmlformats.org/officeDocument/2006/relationships/image" Target="../media/image163.wmf"/><Relationship Id="rId3" Type="http://schemas.openxmlformats.org/officeDocument/2006/relationships/oleObject" Target="../embeddings/oleObject167.bin"/><Relationship Id="rId7" Type="http://schemas.openxmlformats.org/officeDocument/2006/relationships/oleObject" Target="../embeddings/oleObject169.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62.png"/><Relationship Id="rId5" Type="http://schemas.openxmlformats.org/officeDocument/2006/relationships/oleObject" Target="../embeddings/oleObject168.bin"/><Relationship Id="rId4" Type="http://schemas.openxmlformats.org/officeDocument/2006/relationships/image" Target="../media/image161.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70.bin"/><Relationship Id="rId2" Type="http://schemas.openxmlformats.org/officeDocument/2006/relationships/slideLayout" Target="../slideLayouts/slideLayout7.xml"/><Relationship Id="rId1" Type="http://schemas.openxmlformats.org/officeDocument/2006/relationships/vmlDrawing" Target="../drawings/vmlDrawing31.vml"/><Relationship Id="rId4" Type="http://schemas.openxmlformats.org/officeDocument/2006/relationships/image" Target="../media/image164.pn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65.png"/></Relationships>
</file>

<file path=ppt/slides/_rels/slide50.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slideLayout" Target="../slideLayouts/slideLayout13.xml"/><Relationship Id="rId1" Type="http://schemas.openxmlformats.org/officeDocument/2006/relationships/vmlDrawing" Target="../drawings/vmlDrawing33.vml"/><Relationship Id="rId6" Type="http://schemas.openxmlformats.org/officeDocument/2006/relationships/image" Target="../media/image170.wmf"/><Relationship Id="rId5" Type="http://schemas.openxmlformats.org/officeDocument/2006/relationships/oleObject" Target="../embeddings/oleObject172.bin"/><Relationship Id="rId4" Type="http://schemas.openxmlformats.org/officeDocument/2006/relationships/image" Target="../media/image172.wmf"/></Relationships>
</file>

<file path=ppt/slides/_rels/slide5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76.emf"/><Relationship Id="rId2" Type="http://schemas.openxmlformats.org/officeDocument/2006/relationships/image" Target="../media/image175.emf"/><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73.bin"/><Relationship Id="rId2" Type="http://schemas.openxmlformats.org/officeDocument/2006/relationships/slideLayout" Target="../slideLayouts/slideLayout13.xml"/><Relationship Id="rId1" Type="http://schemas.openxmlformats.org/officeDocument/2006/relationships/vmlDrawing" Target="../drawings/vmlDrawing34.vml"/><Relationship Id="rId6" Type="http://schemas.openxmlformats.org/officeDocument/2006/relationships/image" Target="../media/image178.wmf"/><Relationship Id="rId5" Type="http://schemas.openxmlformats.org/officeDocument/2006/relationships/oleObject" Target="../embeddings/oleObject174.bin"/><Relationship Id="rId4" Type="http://schemas.openxmlformats.org/officeDocument/2006/relationships/image" Target="../media/image177.wmf"/></Relationships>
</file>

<file path=ppt/slides/_rels/slide57.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8" Type="http://schemas.openxmlformats.org/officeDocument/2006/relationships/image" Target="../media/image183.jpeg"/><Relationship Id="rId3" Type="http://schemas.openxmlformats.org/officeDocument/2006/relationships/notesSlide" Target="../notesSlides/notesSlide1.xml"/><Relationship Id="rId7" Type="http://schemas.openxmlformats.org/officeDocument/2006/relationships/image" Target="../media/image181.wmf"/><Relationship Id="rId2" Type="http://schemas.openxmlformats.org/officeDocument/2006/relationships/slideLayout" Target="../slideLayouts/slideLayout17.xml"/><Relationship Id="rId1" Type="http://schemas.openxmlformats.org/officeDocument/2006/relationships/vmlDrawing" Target="../drawings/vmlDrawing35.vml"/><Relationship Id="rId6" Type="http://schemas.openxmlformats.org/officeDocument/2006/relationships/oleObject" Target="../embeddings/oleObject176.bin"/><Relationship Id="rId5" Type="http://schemas.openxmlformats.org/officeDocument/2006/relationships/image" Target="../media/image180.wmf"/><Relationship Id="rId10" Type="http://schemas.openxmlformats.org/officeDocument/2006/relationships/image" Target="../media/image182.wmf"/><Relationship Id="rId4" Type="http://schemas.openxmlformats.org/officeDocument/2006/relationships/oleObject" Target="../embeddings/oleObject175.bin"/><Relationship Id="rId9" Type="http://schemas.openxmlformats.org/officeDocument/2006/relationships/oleObject" Target="../embeddings/oleObject177.bin"/></Relationships>
</file>

<file path=ppt/slides/_rels/slide59.x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oleObject" Target="../embeddings/oleObject178.bin"/><Relationship Id="rId7" Type="http://schemas.openxmlformats.org/officeDocument/2006/relationships/oleObject" Target="../embeddings/oleObject180.bin"/><Relationship Id="rId2" Type="http://schemas.openxmlformats.org/officeDocument/2006/relationships/slideLayout" Target="../slideLayouts/slideLayout17.xml"/><Relationship Id="rId1" Type="http://schemas.openxmlformats.org/officeDocument/2006/relationships/vmlDrawing" Target="../drawings/vmlDrawing36.vml"/><Relationship Id="rId6" Type="http://schemas.openxmlformats.org/officeDocument/2006/relationships/image" Target="../media/image185.wmf"/><Relationship Id="rId5" Type="http://schemas.openxmlformats.org/officeDocument/2006/relationships/oleObject" Target="../embeddings/oleObject179.bin"/><Relationship Id="rId4" Type="http://schemas.openxmlformats.org/officeDocument/2006/relationships/image" Target="../media/image184.wmf"/></Relationships>
</file>

<file path=ppt/slides/_rels/slide60.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notesSlide" Target="../notesSlides/notesSlide2.xml"/><Relationship Id="rId7" Type="http://schemas.openxmlformats.org/officeDocument/2006/relationships/image" Target="../media/image188.wmf"/><Relationship Id="rId2" Type="http://schemas.openxmlformats.org/officeDocument/2006/relationships/slideLayout" Target="../slideLayouts/slideLayout18.xml"/><Relationship Id="rId1" Type="http://schemas.openxmlformats.org/officeDocument/2006/relationships/vmlDrawing" Target="../drawings/vmlDrawing37.vml"/><Relationship Id="rId6" Type="http://schemas.openxmlformats.org/officeDocument/2006/relationships/oleObject" Target="../embeddings/oleObject182.bin"/><Relationship Id="rId5" Type="http://schemas.openxmlformats.org/officeDocument/2006/relationships/image" Target="../media/image187.wmf"/><Relationship Id="rId4" Type="http://schemas.openxmlformats.org/officeDocument/2006/relationships/oleObject" Target="../embeddings/oleObject181.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83.bin"/><Relationship Id="rId2" Type="http://schemas.openxmlformats.org/officeDocument/2006/relationships/slideLayout" Target="../slideLayouts/slideLayout17.xml"/><Relationship Id="rId1" Type="http://schemas.openxmlformats.org/officeDocument/2006/relationships/vmlDrawing" Target="../drawings/vmlDrawing38.vml"/><Relationship Id="rId5" Type="http://schemas.openxmlformats.org/officeDocument/2006/relationships/image" Target="../media/image191.png"/><Relationship Id="rId4" Type="http://schemas.openxmlformats.org/officeDocument/2006/relationships/image" Target="../media/image190.wmf"/></Relationships>
</file>

<file path=ppt/slides/_rels/slide62.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slideLayout" Target="../slideLayouts/slideLayout18.xml"/><Relationship Id="rId1" Type="http://schemas.openxmlformats.org/officeDocument/2006/relationships/vmlDrawing" Target="../drawings/vmlDrawing39.vml"/><Relationship Id="rId5" Type="http://schemas.openxmlformats.org/officeDocument/2006/relationships/image" Target="../media/image192.wmf"/><Relationship Id="rId4" Type="http://schemas.openxmlformats.org/officeDocument/2006/relationships/oleObject" Target="../embeddings/oleObject184.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85.bin"/><Relationship Id="rId7" Type="http://schemas.openxmlformats.org/officeDocument/2006/relationships/image" Target="../media/image196.png"/><Relationship Id="rId2" Type="http://schemas.openxmlformats.org/officeDocument/2006/relationships/slideLayout" Target="../slideLayouts/slideLayout18.xml"/><Relationship Id="rId1" Type="http://schemas.openxmlformats.org/officeDocument/2006/relationships/vmlDrawing" Target="../drawings/vmlDrawing40.vml"/><Relationship Id="rId6" Type="http://schemas.openxmlformats.org/officeDocument/2006/relationships/image" Target="../media/image195.wmf"/><Relationship Id="rId5" Type="http://schemas.openxmlformats.org/officeDocument/2006/relationships/oleObject" Target="../embeddings/oleObject186.bin"/><Relationship Id="rId4" Type="http://schemas.openxmlformats.org/officeDocument/2006/relationships/image" Target="../media/image194.wmf"/></Relationships>
</file>

<file path=ppt/slides/_rels/slide64.xml.rels><?xml version="1.0" encoding="UTF-8" standalone="yes"?>
<Relationships xmlns="http://schemas.openxmlformats.org/package/2006/relationships"><Relationship Id="rId8" Type="http://schemas.openxmlformats.org/officeDocument/2006/relationships/image" Target="../media/image199.wmf"/><Relationship Id="rId3" Type="http://schemas.openxmlformats.org/officeDocument/2006/relationships/oleObject" Target="../embeddings/oleObject187.bin"/><Relationship Id="rId7" Type="http://schemas.openxmlformats.org/officeDocument/2006/relationships/oleObject" Target="../embeddings/oleObject189.bin"/><Relationship Id="rId12" Type="http://schemas.openxmlformats.org/officeDocument/2006/relationships/image" Target="../media/image201.wmf"/><Relationship Id="rId2" Type="http://schemas.openxmlformats.org/officeDocument/2006/relationships/slideLayout" Target="../slideLayouts/slideLayout18.xml"/><Relationship Id="rId1" Type="http://schemas.openxmlformats.org/officeDocument/2006/relationships/vmlDrawing" Target="../drawings/vmlDrawing41.vml"/><Relationship Id="rId6" Type="http://schemas.openxmlformats.org/officeDocument/2006/relationships/image" Target="../media/image198.wmf"/><Relationship Id="rId11" Type="http://schemas.openxmlformats.org/officeDocument/2006/relationships/oleObject" Target="../embeddings/oleObject191.bin"/><Relationship Id="rId5" Type="http://schemas.openxmlformats.org/officeDocument/2006/relationships/oleObject" Target="../embeddings/oleObject188.bin"/><Relationship Id="rId10" Type="http://schemas.openxmlformats.org/officeDocument/2006/relationships/image" Target="../media/image200.wmf"/><Relationship Id="rId4" Type="http://schemas.openxmlformats.org/officeDocument/2006/relationships/image" Target="../media/image197.wmf"/><Relationship Id="rId9" Type="http://schemas.openxmlformats.org/officeDocument/2006/relationships/oleObject" Target="../embeddings/oleObject190.bin"/></Relationships>
</file>

<file path=ppt/slides/_rels/slide65.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04.png"/></Relationships>
</file>

<file path=ppt/slides/_rels/slide67.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8" Type="http://schemas.openxmlformats.org/officeDocument/2006/relationships/image" Target="../media/image207.wmf"/><Relationship Id="rId3" Type="http://schemas.openxmlformats.org/officeDocument/2006/relationships/oleObject" Target="../embeddings/oleObject192.bin"/><Relationship Id="rId7" Type="http://schemas.openxmlformats.org/officeDocument/2006/relationships/oleObject" Target="../embeddings/oleObject193.bin"/><Relationship Id="rId2" Type="http://schemas.openxmlformats.org/officeDocument/2006/relationships/slideLayout" Target="../slideLayouts/slideLayout18.xml"/><Relationship Id="rId1" Type="http://schemas.openxmlformats.org/officeDocument/2006/relationships/vmlDrawing" Target="../drawings/vmlDrawing42.vml"/><Relationship Id="rId6" Type="http://schemas.openxmlformats.org/officeDocument/2006/relationships/image" Target="../media/image208.jpeg"/><Relationship Id="rId5" Type="http://schemas.openxmlformats.org/officeDocument/2006/relationships/image" Target="../media/image191.png"/><Relationship Id="rId4" Type="http://schemas.openxmlformats.org/officeDocument/2006/relationships/image" Target="../media/image206.wmf"/></Relationships>
</file>

<file path=ppt/slides/_rels/slide69.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11.png"/></Relationships>
</file>

<file path=ppt/slides/_rels/slide71.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18.xml"/><Relationship Id="rId4" Type="http://schemas.openxmlformats.org/officeDocument/2006/relationships/image" Target="../media/image214.png"/></Relationships>
</file>

<file path=ppt/slides/_rels/slide72.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16.png"/></Relationships>
</file>

<file path=ppt/slides/_rels/slide73.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jpeg"/><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slideLayout" Target="../slideLayouts/slideLayout17.xml"/><Relationship Id="rId1" Type="http://schemas.openxmlformats.org/officeDocument/2006/relationships/vmlDrawing" Target="../drawings/vmlDrawing43.vml"/><Relationship Id="rId6" Type="http://schemas.openxmlformats.org/officeDocument/2006/relationships/image" Target="../media/image221.png"/><Relationship Id="rId5" Type="http://schemas.openxmlformats.org/officeDocument/2006/relationships/image" Target="../media/image219.wmf"/><Relationship Id="rId4" Type="http://schemas.openxmlformats.org/officeDocument/2006/relationships/oleObject" Target="../embeddings/oleObject194.bin"/></Relationships>
</file>

<file path=ppt/slides/_rels/slide75.xml.rels><?xml version="1.0" encoding="UTF-8" standalone="yes"?>
<Relationships xmlns="http://schemas.openxmlformats.org/package/2006/relationships"><Relationship Id="rId2" Type="http://schemas.openxmlformats.org/officeDocument/2006/relationships/image" Target="../media/image222.png"/><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8" Type="http://schemas.openxmlformats.org/officeDocument/2006/relationships/image" Target="../media/image225.wmf"/><Relationship Id="rId3" Type="http://schemas.openxmlformats.org/officeDocument/2006/relationships/oleObject" Target="../embeddings/oleObject195.bin"/><Relationship Id="rId7" Type="http://schemas.openxmlformats.org/officeDocument/2006/relationships/oleObject" Target="../embeddings/oleObject197.bin"/><Relationship Id="rId2" Type="http://schemas.openxmlformats.org/officeDocument/2006/relationships/slideLayout" Target="../slideLayouts/slideLayout30.xml"/><Relationship Id="rId1" Type="http://schemas.openxmlformats.org/officeDocument/2006/relationships/vmlDrawing" Target="../drawings/vmlDrawing44.vml"/><Relationship Id="rId6" Type="http://schemas.openxmlformats.org/officeDocument/2006/relationships/image" Target="../media/image224.wmf"/><Relationship Id="rId5" Type="http://schemas.openxmlformats.org/officeDocument/2006/relationships/oleObject" Target="../embeddings/oleObject196.bin"/><Relationship Id="rId4" Type="http://schemas.openxmlformats.org/officeDocument/2006/relationships/image" Target="../media/image223.wmf"/></Relationships>
</file>

<file path=ppt/slides/_rels/slide7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slideLayout" Target="../slideLayouts/slideLayout30.xml"/><Relationship Id="rId1" Type="http://schemas.openxmlformats.org/officeDocument/2006/relationships/vmlDrawing" Target="../drawings/vmlDrawing45.vml"/><Relationship Id="rId5" Type="http://schemas.openxmlformats.org/officeDocument/2006/relationships/image" Target="../media/image226.wmf"/><Relationship Id="rId4" Type="http://schemas.openxmlformats.org/officeDocument/2006/relationships/oleObject" Target="../embeddings/oleObject198.bin"/></Relationships>
</file>

<file path=ppt/slides/_rels/slide78.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oleObject" Target="../embeddings/oleObject199.bin"/><Relationship Id="rId7" Type="http://schemas.openxmlformats.org/officeDocument/2006/relationships/oleObject" Target="../embeddings/oleObject201.bin"/><Relationship Id="rId12" Type="http://schemas.openxmlformats.org/officeDocument/2006/relationships/image" Target="../media/image232.wmf"/><Relationship Id="rId2" Type="http://schemas.openxmlformats.org/officeDocument/2006/relationships/slideLayout" Target="../slideLayouts/slideLayout30.xml"/><Relationship Id="rId1" Type="http://schemas.openxmlformats.org/officeDocument/2006/relationships/vmlDrawing" Target="../drawings/vmlDrawing46.vml"/><Relationship Id="rId6" Type="http://schemas.openxmlformats.org/officeDocument/2006/relationships/image" Target="../media/image229.wmf"/><Relationship Id="rId11" Type="http://schemas.openxmlformats.org/officeDocument/2006/relationships/oleObject" Target="../embeddings/oleObject203.bin"/><Relationship Id="rId5" Type="http://schemas.openxmlformats.org/officeDocument/2006/relationships/oleObject" Target="../embeddings/oleObject200.bin"/><Relationship Id="rId10" Type="http://schemas.openxmlformats.org/officeDocument/2006/relationships/image" Target="../media/image231.wmf"/><Relationship Id="rId4" Type="http://schemas.openxmlformats.org/officeDocument/2006/relationships/image" Target="../media/image228.wmf"/><Relationship Id="rId9" Type="http://schemas.openxmlformats.org/officeDocument/2006/relationships/oleObject" Target="../embeddings/oleObject202.bin"/></Relationships>
</file>

<file path=ppt/slides/_rels/slide79.xml.rels><?xml version="1.0" encoding="UTF-8" standalone="yes"?>
<Relationships xmlns="http://schemas.openxmlformats.org/package/2006/relationships"><Relationship Id="rId2" Type="http://schemas.openxmlformats.org/officeDocument/2006/relationships/image" Target="../media/image233.jpeg"/><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04.bin"/><Relationship Id="rId2" Type="http://schemas.openxmlformats.org/officeDocument/2006/relationships/slideLayout" Target="../slideLayouts/slideLayout25.xml"/><Relationship Id="rId1" Type="http://schemas.openxmlformats.org/officeDocument/2006/relationships/vmlDrawing" Target="../drawings/vmlDrawing47.vml"/><Relationship Id="rId4" Type="http://schemas.openxmlformats.org/officeDocument/2006/relationships/image" Target="../media/image234.wmf"/></Relationships>
</file>

<file path=ppt/slides/_rels/slide81.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30.xml"/></Relationships>
</file>

<file path=ppt/slides/_rels/slide82.xml.rels><?xml version="1.0" encoding="UTF-8" standalone="yes"?>
<Relationships xmlns="http://schemas.openxmlformats.org/package/2006/relationships"><Relationship Id="rId2" Type="http://schemas.openxmlformats.org/officeDocument/2006/relationships/image" Target="../media/image236.jpeg"/><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image" Target="../media/image237.jpeg"/><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3" Type="http://schemas.openxmlformats.org/officeDocument/2006/relationships/image" Target="../media/image239.jpeg"/><Relationship Id="rId2" Type="http://schemas.openxmlformats.org/officeDocument/2006/relationships/slideLayout" Target="../slideLayouts/slideLayout30.xml"/><Relationship Id="rId1" Type="http://schemas.openxmlformats.org/officeDocument/2006/relationships/vmlDrawing" Target="../drawings/vmlDrawing48.vml"/><Relationship Id="rId6" Type="http://schemas.openxmlformats.org/officeDocument/2006/relationships/image" Target="../media/image240.jpeg"/><Relationship Id="rId5" Type="http://schemas.openxmlformats.org/officeDocument/2006/relationships/image" Target="../media/image238.wmf"/><Relationship Id="rId4" Type="http://schemas.openxmlformats.org/officeDocument/2006/relationships/oleObject" Target="../embeddings/oleObject205.bin"/></Relationships>
</file>

<file path=ppt/slides/_rels/slide85.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2" Type="http://schemas.openxmlformats.org/officeDocument/2006/relationships/image" Target="../media/image242.png"/><Relationship Id="rId1" Type="http://schemas.openxmlformats.org/officeDocument/2006/relationships/slideLayout" Target="../slideLayouts/slideLayout30.xml"/></Relationships>
</file>

<file path=ppt/slides/_rels/slide87.x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slideLayout" Target="../slideLayouts/slideLayout30.xml"/><Relationship Id="rId1" Type="http://schemas.openxmlformats.org/officeDocument/2006/relationships/vmlDrawing" Target="../drawings/vmlDrawing49.vml"/><Relationship Id="rId5" Type="http://schemas.openxmlformats.org/officeDocument/2006/relationships/image" Target="../media/image243.wmf"/><Relationship Id="rId4" Type="http://schemas.openxmlformats.org/officeDocument/2006/relationships/oleObject" Target="../embeddings/oleObject206.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a:t>
            </a:fld>
            <a:endParaRPr lang="zh-CN" altLang="en-US"/>
          </a:p>
        </p:txBody>
      </p:sp>
      <p:sp>
        <p:nvSpPr>
          <p:cNvPr id="3" name="Text Box 2"/>
          <p:cNvSpPr txBox="1">
            <a:spLocks noChangeArrowheads="1"/>
          </p:cNvSpPr>
          <p:nvPr/>
        </p:nvSpPr>
        <p:spPr bwMode="auto">
          <a:xfrm>
            <a:off x="1992701" y="431800"/>
            <a:ext cx="5873361" cy="641350"/>
          </a:xfrm>
          <a:prstGeom prst="rect">
            <a:avLst/>
          </a:prstGeom>
          <a:noFill/>
          <a:ln>
            <a:noFill/>
          </a:ln>
          <a:effectLst>
            <a:outerShdw dist="35921" dir="2700000" algn="ctr" rotWithShape="0">
              <a:srgbClr val="1C1C1C"/>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itchFamily="18" charset="0"/>
                <a:ea typeface="宋体" pitchFamily="2" charset="-122"/>
              </a:rPr>
              <a:t>第四章   结型半导体器件</a:t>
            </a:r>
            <a:endParaRPr kumimoji="1" lang="zh-CN" altLang="en-US" sz="3600" b="1" i="0" u="none" strike="noStrike" kern="0" cap="none" spc="0" normalizeH="0" baseline="0" noProof="0" dirty="0">
              <a:ln>
                <a:noFill/>
              </a:ln>
              <a:solidFill>
                <a:srgbClr val="FF6600"/>
              </a:solidFill>
              <a:effectLst>
                <a:outerShdw blurRad="38100" dist="38100" dir="2700000" algn="tl">
                  <a:srgbClr val="C0C0C0"/>
                </a:outerShdw>
              </a:effectLst>
              <a:uLnTx/>
              <a:uFillTx/>
              <a:latin typeface="Times New Roman" pitchFamily="18" charset="0"/>
              <a:ea typeface="宋体" pitchFamily="2" charset="-122"/>
            </a:endParaRPr>
          </a:p>
        </p:txBody>
      </p:sp>
      <p:sp>
        <p:nvSpPr>
          <p:cNvPr id="5" name="Text Box 3"/>
          <p:cNvSpPr txBox="1">
            <a:spLocks noChangeArrowheads="1"/>
          </p:cNvSpPr>
          <p:nvPr/>
        </p:nvSpPr>
        <p:spPr bwMode="auto">
          <a:xfrm>
            <a:off x="622652" y="4330001"/>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pP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本章内容</a:t>
            </a:r>
          </a:p>
        </p:txBody>
      </p:sp>
      <p:sp>
        <p:nvSpPr>
          <p:cNvPr id="6" name="Text Box 4"/>
          <p:cNvSpPr txBox="1">
            <a:spLocks noChangeArrowheads="1"/>
          </p:cNvSpPr>
          <p:nvPr/>
        </p:nvSpPr>
        <p:spPr bwMode="auto">
          <a:xfrm>
            <a:off x="794184" y="4929439"/>
            <a:ext cx="6934200" cy="1762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4.1 PN</a:t>
            </a:r>
            <a:r>
              <a:rPr kumimoji="1" lang="zh-CN" altLang="en-US" sz="2400" b="1" dirty="0" smtClean="0">
                <a:solidFill>
                  <a:srgbClr val="000000"/>
                </a:solidFill>
                <a:latin typeface="Times New Roman" pitchFamily="18" charset="0"/>
                <a:ea typeface="宋体" pitchFamily="2" charset="-122"/>
              </a:rPr>
              <a:t>结二极管</a:t>
            </a:r>
            <a:endParaRPr kumimoji="1" lang="en-US" altLang="zh-CN" sz="2400" b="1" dirty="0" smtClean="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4.2 </a:t>
            </a:r>
            <a:r>
              <a:rPr kumimoji="1" lang="zh-CN" altLang="en-US" sz="2400" b="1" dirty="0">
                <a:solidFill>
                  <a:srgbClr val="000000"/>
                </a:solidFill>
                <a:latin typeface="Times New Roman" pitchFamily="18" charset="0"/>
                <a:ea typeface="宋体" pitchFamily="2" charset="-122"/>
              </a:rPr>
              <a:t>肖特</a:t>
            </a:r>
            <a:r>
              <a:rPr kumimoji="1" lang="zh-CN" altLang="en-US" sz="2400" b="1" dirty="0" smtClean="0">
                <a:solidFill>
                  <a:srgbClr val="000000"/>
                </a:solidFill>
                <a:latin typeface="Times New Roman" pitchFamily="18" charset="0"/>
                <a:ea typeface="宋体" pitchFamily="2" charset="-122"/>
              </a:rPr>
              <a:t>基二极管</a:t>
            </a:r>
            <a:endParaRPr kumimoji="1" lang="zh-CN" altLang="en-US" sz="2400" b="1" dirty="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4.3 </a:t>
            </a:r>
            <a:r>
              <a:rPr kumimoji="1" lang="zh-CN" altLang="en-US" sz="2400" b="1" dirty="0" smtClean="0">
                <a:solidFill>
                  <a:srgbClr val="000000"/>
                </a:solidFill>
                <a:latin typeface="Times New Roman" pitchFamily="18" charset="0"/>
                <a:ea typeface="宋体" pitchFamily="2" charset="-122"/>
              </a:rPr>
              <a:t>异质结</a:t>
            </a:r>
            <a:endParaRPr kumimoji="1" lang="zh-CN" altLang="en-US" sz="2400" b="1" dirty="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4.4 </a:t>
            </a:r>
            <a:r>
              <a:rPr kumimoji="1" lang="zh-CN" altLang="en-US" sz="2400" b="1" dirty="0" smtClean="0">
                <a:solidFill>
                  <a:srgbClr val="000000"/>
                </a:solidFill>
                <a:latin typeface="Times New Roman" pitchFamily="18" charset="0"/>
                <a:ea typeface="宋体" pitchFamily="2" charset="-122"/>
              </a:rPr>
              <a:t>双极型晶体管</a:t>
            </a:r>
            <a:endParaRPr kumimoji="1" lang="zh-CN" altLang="en-US" sz="2400" b="1" dirty="0">
              <a:solidFill>
                <a:srgbClr val="000000"/>
              </a:solidFill>
              <a:effectLst>
                <a:outerShdw blurRad="38100" dist="38100" dir="2700000" algn="tl">
                  <a:srgbClr val="C0C0C0"/>
                </a:outerShdw>
              </a:effectLst>
              <a:latin typeface="宋体" pitchFamily="2" charset="-122"/>
              <a:ea typeface="宋体" pitchFamily="2" charset="-122"/>
            </a:endParaRPr>
          </a:p>
        </p:txBody>
      </p:sp>
      <p:sp>
        <p:nvSpPr>
          <p:cNvPr id="7" name="Rectangle 4"/>
          <p:cNvSpPr>
            <a:spLocks noChangeArrowheads="1"/>
          </p:cNvSpPr>
          <p:nvPr/>
        </p:nvSpPr>
        <p:spPr bwMode="auto">
          <a:xfrm>
            <a:off x="411931" y="1265341"/>
            <a:ext cx="8208963" cy="1823576"/>
          </a:xfrm>
          <a:prstGeom prst="rect">
            <a:avLst/>
          </a:prstGeom>
          <a:noFill/>
          <a:ln w="12700" cap="sq">
            <a:noFill/>
            <a:miter lim="800000"/>
            <a:headEnd type="none" w="sm" len="sm"/>
            <a:tailEnd type="none" w="sm" len="sm"/>
          </a:ln>
        </p:spPr>
        <p:txBody>
          <a:bodyPr>
            <a:spAutoFit/>
          </a:bodyPr>
          <a:lstStyle/>
          <a:p>
            <a:pPr>
              <a:lnSpc>
                <a:spcPct val="110000"/>
              </a:lnSpc>
            </a:pPr>
            <a:r>
              <a:rPr kumimoji="1" lang="zh-CN" altLang="en-US" sz="2000" b="1" dirty="0">
                <a:latin typeface="Times New Roman" pitchFamily="18" charset="0"/>
                <a:ea typeface="宋体" pitchFamily="2" charset="-122"/>
              </a:rPr>
              <a:t>前几章我们主要</a:t>
            </a:r>
            <a:r>
              <a:rPr kumimoji="1" lang="zh-CN" altLang="en-US" sz="2000" b="1" dirty="0" smtClean="0">
                <a:latin typeface="Times New Roman" pitchFamily="18" charset="0"/>
                <a:ea typeface="宋体" pitchFamily="2" charset="-122"/>
              </a:rPr>
              <a:t>讨论了半导体材料</a:t>
            </a:r>
            <a:r>
              <a:rPr kumimoji="1" lang="zh-CN" altLang="en-US" sz="2000" b="1" dirty="0">
                <a:latin typeface="Times New Roman" pitchFamily="18" charset="0"/>
                <a:ea typeface="宋体" pitchFamily="2" charset="-122"/>
              </a:rPr>
              <a:t>所遵循的基本物理规律</a:t>
            </a:r>
            <a:r>
              <a:rPr kumimoji="1" lang="zh-CN" altLang="en-US" sz="2000" b="1" dirty="0" smtClean="0">
                <a:latin typeface="Times New Roman" pitchFamily="18" charset="0"/>
                <a:ea typeface="宋体" pitchFamily="2" charset="-122"/>
              </a:rPr>
              <a:t>，后面</a:t>
            </a:r>
            <a:r>
              <a:rPr kumimoji="1" lang="zh-CN" altLang="en-US" sz="2000" b="1" dirty="0">
                <a:latin typeface="Times New Roman" pitchFamily="18" charset="0"/>
                <a:ea typeface="宋体" pitchFamily="2" charset="-122"/>
              </a:rPr>
              <a:t>几章将针对基本的半导体器件结构，应用前面</a:t>
            </a:r>
            <a:r>
              <a:rPr kumimoji="1" lang="zh-CN" altLang="en-US" sz="2000" b="1" dirty="0" smtClean="0">
                <a:latin typeface="Times New Roman" pitchFamily="18" charset="0"/>
                <a:ea typeface="宋体" pitchFamily="2" charset="-122"/>
              </a:rPr>
              <a:t>所述的理论基础，</a:t>
            </a:r>
            <a:r>
              <a:rPr kumimoji="1" lang="zh-CN" altLang="en-US" sz="2000" b="1" dirty="0">
                <a:latin typeface="Times New Roman" pitchFamily="18" charset="0"/>
                <a:ea typeface="宋体" pitchFamily="2" charset="-122"/>
              </a:rPr>
              <a:t>分析</a:t>
            </a:r>
            <a:r>
              <a:rPr kumimoji="1" lang="zh-CN" altLang="en-US" sz="2000" b="1" dirty="0" smtClean="0">
                <a:latin typeface="Times New Roman" pitchFamily="18" charset="0"/>
                <a:ea typeface="宋体" pitchFamily="2" charset="-122"/>
              </a:rPr>
              <a:t>讨论它们的能带结构和电流输</a:t>
            </a:r>
            <a:r>
              <a:rPr kumimoji="1" lang="zh-CN" altLang="en-US" sz="2000" b="1" dirty="0">
                <a:latin typeface="Times New Roman" pitchFamily="18" charset="0"/>
                <a:ea typeface="宋体" pitchFamily="2" charset="-122"/>
              </a:rPr>
              <a:t>运</a:t>
            </a:r>
            <a:r>
              <a:rPr kumimoji="1" lang="zh-CN" altLang="en-US" sz="2000" b="1" dirty="0" smtClean="0">
                <a:latin typeface="Times New Roman" pitchFamily="18" charset="0"/>
                <a:ea typeface="宋体" pitchFamily="2" charset="-122"/>
              </a:rPr>
              <a:t>特征、相关</a:t>
            </a:r>
            <a:r>
              <a:rPr kumimoji="1" lang="zh-CN" altLang="en-US" sz="2000" b="1" dirty="0">
                <a:latin typeface="Times New Roman" pitchFamily="18" charset="0"/>
                <a:ea typeface="宋体" pitchFamily="2" charset="-122"/>
              </a:rPr>
              <a:t>的电学</a:t>
            </a:r>
            <a:r>
              <a:rPr kumimoji="1" lang="zh-CN" altLang="en-US" sz="2000" b="1" dirty="0" smtClean="0">
                <a:latin typeface="Times New Roman" pitchFamily="18" charset="0"/>
                <a:ea typeface="宋体" pitchFamily="2" charset="-122"/>
              </a:rPr>
              <a:t>性质、主要表征</a:t>
            </a:r>
            <a:r>
              <a:rPr kumimoji="1" lang="zh-CN" altLang="en-US" sz="2000" b="1" dirty="0">
                <a:latin typeface="Times New Roman" pitchFamily="18" charset="0"/>
                <a:ea typeface="宋体" pitchFamily="2" charset="-122"/>
              </a:rPr>
              <a:t>参数等问题。</a:t>
            </a:r>
          </a:p>
          <a:p>
            <a:pPr>
              <a:lnSpc>
                <a:spcPct val="110000"/>
              </a:lnSpc>
              <a:spcBef>
                <a:spcPts val="300"/>
              </a:spcBef>
            </a:pPr>
            <a:r>
              <a:rPr kumimoji="1" lang="zh-CN" altLang="en-US" sz="2000" b="1" dirty="0">
                <a:solidFill>
                  <a:srgbClr val="FF3300"/>
                </a:solidFill>
                <a:latin typeface="Times New Roman" pitchFamily="18" charset="0"/>
                <a:ea typeface="宋体" pitchFamily="2" charset="-122"/>
              </a:rPr>
              <a:t>重点</a:t>
            </a:r>
            <a:r>
              <a:rPr kumimoji="1" lang="zh-CN" altLang="en-US" sz="2000" b="1" dirty="0" smtClean="0">
                <a:solidFill>
                  <a:srgbClr val="FF3300"/>
                </a:solidFill>
                <a:latin typeface="Times New Roman" pitchFamily="18" charset="0"/>
                <a:ea typeface="宋体" pitchFamily="2" charset="-122"/>
              </a:rPr>
              <a:t>掌握：器件</a:t>
            </a:r>
            <a:r>
              <a:rPr kumimoji="1" lang="zh-CN" altLang="en-US" sz="2000" b="1" dirty="0">
                <a:solidFill>
                  <a:srgbClr val="FF3300"/>
                </a:solidFill>
                <a:latin typeface="Times New Roman" pitchFamily="18" charset="0"/>
                <a:ea typeface="宋体" pitchFamily="2" charset="-122"/>
              </a:rPr>
              <a:t>结构的能带特征及其与电学性质的依赖性；学会应用基本物理规律，讨论半导体器件</a:t>
            </a:r>
            <a:r>
              <a:rPr kumimoji="1" lang="zh-CN" altLang="en-US" sz="2000" b="1" dirty="0" smtClean="0">
                <a:solidFill>
                  <a:srgbClr val="FF3300"/>
                </a:solidFill>
                <a:latin typeface="Times New Roman" pitchFamily="18" charset="0"/>
                <a:ea typeface="宋体" pitchFamily="2" charset="-122"/>
              </a:rPr>
              <a:t>结构物理</a:t>
            </a:r>
            <a:r>
              <a:rPr kumimoji="1" lang="zh-CN" altLang="en-US" sz="2000" b="1" dirty="0">
                <a:solidFill>
                  <a:srgbClr val="FF3300"/>
                </a:solidFill>
                <a:latin typeface="Times New Roman" pitchFamily="18" charset="0"/>
                <a:ea typeface="宋体" pitchFamily="2" charset="-122"/>
              </a:rPr>
              <a:t>和电学</a:t>
            </a:r>
            <a:r>
              <a:rPr kumimoji="1" lang="zh-CN" altLang="en-US" sz="2000" b="1" dirty="0" smtClean="0">
                <a:solidFill>
                  <a:srgbClr val="FF3300"/>
                </a:solidFill>
                <a:latin typeface="Times New Roman" pitchFamily="18" charset="0"/>
                <a:ea typeface="宋体" pitchFamily="2" charset="-122"/>
              </a:rPr>
              <a:t>性质的基本方法和理论。</a:t>
            </a:r>
            <a:endParaRPr kumimoji="1" lang="zh-CN" altLang="en-US" sz="2000" b="1" dirty="0">
              <a:solidFill>
                <a:srgbClr val="FF3300"/>
              </a:solidFill>
              <a:latin typeface="Times New Roman" pitchFamily="18" charset="0"/>
              <a:ea typeface="宋体" pitchFamily="2" charset="-122"/>
            </a:endParaRPr>
          </a:p>
        </p:txBody>
      </p:sp>
      <p:sp>
        <p:nvSpPr>
          <p:cNvPr id="8" name="Text Box 2"/>
          <p:cNvSpPr txBox="1">
            <a:spLocks noChangeArrowheads="1"/>
          </p:cNvSpPr>
          <p:nvPr/>
        </p:nvSpPr>
        <p:spPr bwMode="auto">
          <a:xfrm>
            <a:off x="489384" y="3141680"/>
            <a:ext cx="8131510" cy="1107996"/>
          </a:xfrm>
          <a:prstGeom prst="rect">
            <a:avLst/>
          </a:prstGeom>
          <a:noFill/>
          <a:ln w="12700" cap="sq">
            <a:noFill/>
            <a:miter lim="800000"/>
            <a:headEnd type="none" w="sm" len="sm"/>
            <a:tailEnd type="none" w="sm" len="sm"/>
          </a:ln>
        </p:spPr>
        <p:txBody>
          <a:bodyPr wrap="square">
            <a:spAutoFit/>
          </a:bodyPr>
          <a:lstStyle/>
          <a:p>
            <a:pPr marL="341313" indent="-341313" eaLnBrk="1" hangingPunct="1">
              <a:lnSpc>
                <a:spcPct val="110000"/>
              </a:lnSpc>
              <a:buFont typeface="Wingdings" pitchFamily="2" charset="2"/>
              <a:buChar char="Ø"/>
            </a:pPr>
            <a:r>
              <a:rPr kumimoji="1" lang="zh-CN" altLang="en-US" sz="2000" b="1" dirty="0">
                <a:latin typeface="Times New Roman" pitchFamily="18" charset="0"/>
                <a:ea typeface="宋体" pitchFamily="2" charset="-122"/>
              </a:rPr>
              <a:t>据统计：半导体器件有</a:t>
            </a:r>
            <a:r>
              <a:rPr kumimoji="1" lang="en-US" altLang="zh-CN" sz="2000" b="1" dirty="0">
                <a:latin typeface="Times New Roman" pitchFamily="18" charset="0"/>
                <a:ea typeface="宋体" pitchFamily="2" charset="-122"/>
              </a:rPr>
              <a:t>67</a:t>
            </a:r>
            <a:r>
              <a:rPr kumimoji="1" lang="zh-CN" altLang="en-US" sz="2000" b="1" dirty="0" smtClean="0">
                <a:latin typeface="Times New Roman" pitchFamily="18" charset="0"/>
                <a:ea typeface="宋体" pitchFamily="2" charset="-122"/>
              </a:rPr>
              <a:t>种基本结构、</a:t>
            </a:r>
            <a:r>
              <a:rPr kumimoji="1" lang="en-US" altLang="zh-CN" sz="2000" b="1" dirty="0" smtClean="0">
                <a:latin typeface="Times New Roman" pitchFamily="18" charset="0"/>
                <a:ea typeface="宋体" pitchFamily="2" charset="-122"/>
              </a:rPr>
              <a:t>110</a:t>
            </a:r>
            <a:r>
              <a:rPr kumimoji="1" lang="zh-CN" altLang="en-US" sz="2000" b="1" dirty="0">
                <a:latin typeface="Times New Roman" pitchFamily="18" charset="0"/>
                <a:ea typeface="宋体" pitchFamily="2" charset="-122"/>
              </a:rPr>
              <a:t>个变种结构</a:t>
            </a:r>
          </a:p>
          <a:p>
            <a:pPr marL="341313" indent="-341313" eaLnBrk="1" hangingPunct="1">
              <a:lnSpc>
                <a:spcPct val="110000"/>
              </a:lnSpc>
              <a:buFont typeface="Wingdings" pitchFamily="2" charset="2"/>
              <a:buChar char="Ø"/>
            </a:pPr>
            <a:r>
              <a:rPr kumimoji="1" lang="zh-CN" altLang="en-US" sz="2000" b="1" dirty="0">
                <a:latin typeface="Times New Roman" pitchFamily="18" charset="0"/>
                <a:ea typeface="宋体" pitchFamily="2" charset="-122"/>
              </a:rPr>
              <a:t>所有这些器件都是</a:t>
            </a:r>
            <a:r>
              <a:rPr kumimoji="1" lang="zh-CN" altLang="en-US" sz="2000" b="1" dirty="0" smtClean="0">
                <a:latin typeface="Times New Roman" pitchFamily="18" charset="0"/>
                <a:ea typeface="宋体" pitchFamily="2" charset="-122"/>
              </a:rPr>
              <a:t>由如下少数的几个基本</a:t>
            </a:r>
            <a:r>
              <a:rPr kumimoji="1" lang="zh-CN" altLang="en-US" sz="2000" b="1" dirty="0">
                <a:latin typeface="Times New Roman" pitchFamily="18" charset="0"/>
                <a:ea typeface="宋体" pitchFamily="2" charset="-122"/>
              </a:rPr>
              <a:t>结构组成的</a:t>
            </a:r>
            <a:r>
              <a:rPr kumimoji="1" lang="zh-CN" altLang="en-US" sz="2000" b="1" dirty="0" smtClean="0">
                <a:latin typeface="Times New Roman" pitchFamily="18" charset="0"/>
                <a:ea typeface="宋体" pitchFamily="2" charset="-122"/>
              </a:rPr>
              <a:t>：</a:t>
            </a:r>
            <a:r>
              <a:rPr kumimoji="1" lang="en-US" altLang="zh-CN" sz="2000" b="1" dirty="0" smtClean="0">
                <a:latin typeface="Times New Roman" pitchFamily="18" charset="0"/>
                <a:ea typeface="宋体" pitchFamily="2" charset="-122"/>
              </a:rPr>
              <a:t>PN</a:t>
            </a:r>
            <a:r>
              <a:rPr kumimoji="1" lang="zh-CN" altLang="en-US" sz="2000" b="1" dirty="0" smtClean="0">
                <a:latin typeface="Times New Roman" pitchFamily="18" charset="0"/>
                <a:ea typeface="宋体" pitchFamily="2" charset="-122"/>
              </a:rPr>
              <a:t>结，金属</a:t>
            </a:r>
            <a:r>
              <a:rPr kumimoji="1" lang="en-US" altLang="zh-CN" sz="2000" b="1" dirty="0" smtClean="0">
                <a:latin typeface="Times New Roman" pitchFamily="18" charset="0"/>
                <a:ea typeface="宋体" pitchFamily="2" charset="-122"/>
              </a:rPr>
              <a:t>-</a:t>
            </a:r>
            <a:r>
              <a:rPr kumimoji="1" lang="zh-CN" altLang="en-US" sz="2000" b="1" dirty="0" smtClean="0">
                <a:latin typeface="Times New Roman" pitchFamily="18" charset="0"/>
                <a:ea typeface="宋体" pitchFamily="2" charset="-122"/>
              </a:rPr>
              <a:t>半导体接触，</a:t>
            </a:r>
            <a:r>
              <a:rPr kumimoji="1" lang="en-US" altLang="zh-CN" sz="2000" b="1" dirty="0" smtClean="0">
                <a:latin typeface="Times New Roman" pitchFamily="18" charset="0"/>
                <a:ea typeface="宋体" pitchFamily="2" charset="-122"/>
              </a:rPr>
              <a:t>MOS</a:t>
            </a:r>
            <a:r>
              <a:rPr kumimoji="1" lang="zh-CN" altLang="en-US" sz="2000" b="1" dirty="0" smtClean="0">
                <a:latin typeface="Times New Roman" pitchFamily="18" charset="0"/>
                <a:ea typeface="宋体" pitchFamily="2" charset="-122"/>
              </a:rPr>
              <a:t>结构，异质结等</a:t>
            </a:r>
            <a:endParaRPr kumimoji="1" lang="zh-CN" altLang="en-US" sz="2000" b="1" dirty="0">
              <a:latin typeface="Times New Roman" pitchFamily="18" charset="0"/>
              <a:ea typeface="宋体" pitchFamily="2" charset="-122"/>
            </a:endParaRPr>
          </a:p>
        </p:txBody>
      </p:sp>
    </p:spTree>
    <p:extLst>
      <p:ext uri="{BB962C8B-B14F-4D97-AF65-F5344CB8AC3E}">
        <p14:creationId xmlns:p14="http://schemas.microsoft.com/office/powerpoint/2010/main" val="26980346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结，以下说法正确的是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441935"/>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平衡状态的</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结扩散电流和漂移电流相等</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127735"/>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平衡时，耗尽区不存在任何电子和空穴</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3813535"/>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正偏下，耗尽区以外的</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型区存在过剩电子</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4499335"/>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结正向电流主要是少子的扩散电流</a:t>
            </a:r>
          </a:p>
        </p:txBody>
      </p:sp>
      <p:sp>
        <p:nvSpPr>
          <p:cNvPr id="9" name="矩形 8"/>
          <p:cNvSpPr>
            <a:spLocks noChangeAspect="1"/>
          </p:cNvSpPr>
          <p:nvPr>
            <p:custDataLst>
              <p:tags r:id="rId7"/>
            </p:custDataLst>
          </p:nvPr>
        </p:nvSpPr>
        <p:spPr>
          <a:xfrm>
            <a:off x="1114425" y="2506228"/>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3192028"/>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3877828"/>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4563628"/>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67944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a:t>
            </a:fld>
            <a:endParaRPr lang="zh-CN" altLang="en-US"/>
          </a:p>
        </p:txBody>
      </p:sp>
      <p:sp>
        <p:nvSpPr>
          <p:cNvPr id="3" name="Text Box 2"/>
          <p:cNvSpPr txBox="1">
            <a:spLocks noChangeArrowheads="1"/>
          </p:cNvSpPr>
          <p:nvPr/>
        </p:nvSpPr>
        <p:spPr bwMode="auto">
          <a:xfrm>
            <a:off x="711039" y="1049004"/>
            <a:ext cx="7903914" cy="1015663"/>
          </a:xfrm>
          <a:prstGeom prst="rect">
            <a:avLst/>
          </a:prstGeom>
          <a:noFill/>
          <a:ln w="12700" cap="sq">
            <a:noFill/>
            <a:miter lim="800000"/>
            <a:headEnd type="none" w="sm" len="sm"/>
            <a:tailEnd type="none" w="sm" len="sm"/>
          </a:ln>
        </p:spPr>
        <p:txBody>
          <a:bodyPr wrap="square">
            <a:spAutoFit/>
          </a:bodyPr>
          <a:lstStyle/>
          <a:p>
            <a:pPr>
              <a:spcBef>
                <a:spcPct val="50000"/>
              </a:spcBef>
            </a:pPr>
            <a:r>
              <a:rPr kumimoji="1" lang="zh-CN" altLang="en-US" sz="2400" b="1" dirty="0" smtClean="0">
                <a:latin typeface="Times New Roman" pitchFamily="18" charset="0"/>
                <a:ea typeface="宋体" pitchFamily="2" charset="-122"/>
              </a:rPr>
              <a:t>注意点：</a:t>
            </a:r>
            <a:r>
              <a:rPr kumimoji="1" lang="en-US" altLang="zh-CN" sz="2400" b="1" dirty="0">
                <a:latin typeface="Times New Roman" pitchFamily="18" charset="0"/>
                <a:ea typeface="宋体" pitchFamily="2" charset="-122"/>
              </a:rPr>
              <a:t>1. </a:t>
            </a:r>
            <a:r>
              <a:rPr kumimoji="1" lang="zh-CN" altLang="en-US" sz="2400" b="1" dirty="0">
                <a:latin typeface="Times New Roman" pitchFamily="18" charset="0"/>
                <a:ea typeface="宋体" pitchFamily="2" charset="-122"/>
              </a:rPr>
              <a:t>不变量；</a:t>
            </a:r>
            <a:r>
              <a:rPr kumimoji="1" lang="en-US" altLang="zh-CN" sz="2400" b="1" dirty="0">
                <a:latin typeface="Times New Roman" pitchFamily="18" charset="0"/>
                <a:ea typeface="宋体" pitchFamily="2" charset="-122"/>
              </a:rPr>
              <a:t>2. </a:t>
            </a:r>
            <a:r>
              <a:rPr kumimoji="1" lang="zh-CN" altLang="en-US" sz="2400" b="1" dirty="0">
                <a:latin typeface="Times New Roman" pitchFamily="18" charset="0"/>
                <a:ea typeface="宋体" pitchFamily="2" charset="-122"/>
              </a:rPr>
              <a:t>变化量；</a:t>
            </a:r>
            <a:r>
              <a:rPr kumimoji="1" lang="en-US" altLang="zh-CN" sz="2400" b="1" dirty="0">
                <a:latin typeface="Times New Roman" pitchFamily="18" charset="0"/>
                <a:ea typeface="宋体" pitchFamily="2" charset="-122"/>
              </a:rPr>
              <a:t>3. </a:t>
            </a:r>
            <a:r>
              <a:rPr kumimoji="1" lang="zh-CN" altLang="en-US" sz="2400" b="1" dirty="0">
                <a:latin typeface="Times New Roman" pitchFamily="18" charset="0"/>
                <a:ea typeface="宋体" pitchFamily="2" charset="-122"/>
              </a:rPr>
              <a:t>连续性；</a:t>
            </a:r>
            <a:r>
              <a:rPr kumimoji="1" lang="en-US" altLang="zh-CN" sz="2400" b="1" dirty="0">
                <a:latin typeface="Times New Roman" pitchFamily="18" charset="0"/>
                <a:ea typeface="宋体" pitchFamily="2" charset="-122"/>
              </a:rPr>
              <a:t>4. </a:t>
            </a:r>
            <a:r>
              <a:rPr kumimoji="1" lang="zh-CN" altLang="en-US" sz="2400" b="1" dirty="0" smtClean="0">
                <a:latin typeface="Times New Roman" pitchFamily="18" charset="0"/>
                <a:ea typeface="宋体" pitchFamily="2" charset="-122"/>
              </a:rPr>
              <a:t>费米能级</a:t>
            </a:r>
            <a:endParaRPr kumimoji="1" lang="en-US" altLang="zh-CN" sz="2400" b="1" dirty="0" smtClean="0">
              <a:latin typeface="Times New Roman" pitchFamily="18" charset="0"/>
              <a:ea typeface="宋体" pitchFamily="2" charset="-122"/>
            </a:endParaRPr>
          </a:p>
          <a:p>
            <a:pPr>
              <a:spcBef>
                <a:spcPct val="50000"/>
              </a:spcBef>
            </a:pPr>
            <a:r>
              <a:rPr kumimoji="1" lang="en-US" altLang="zh-CN" sz="2400" b="1" dirty="0" smtClean="0">
                <a:latin typeface="Times New Roman" pitchFamily="18" charset="0"/>
                <a:ea typeface="宋体" pitchFamily="2" charset="-122"/>
              </a:rPr>
              <a:t>5. </a:t>
            </a:r>
            <a:r>
              <a:rPr kumimoji="1" lang="zh-CN" altLang="en-US" sz="2400" b="1" dirty="0" smtClean="0">
                <a:latin typeface="Times New Roman" pitchFamily="18" charset="0"/>
                <a:ea typeface="宋体" pitchFamily="2" charset="-122"/>
              </a:rPr>
              <a:t>真空能级</a:t>
            </a:r>
            <a:endParaRPr kumimoji="1" lang="zh-CN" altLang="en-US" sz="2400" b="1" dirty="0">
              <a:latin typeface="Times New Roman" pitchFamily="18" charset="0"/>
              <a:ea typeface="宋体" pitchFamily="2" charset="-122"/>
            </a:endParaRPr>
          </a:p>
        </p:txBody>
      </p:sp>
      <p:sp>
        <p:nvSpPr>
          <p:cNvPr id="4" name="Text Box 4"/>
          <p:cNvSpPr txBox="1">
            <a:spLocks noChangeArrowheads="1"/>
          </p:cNvSpPr>
          <p:nvPr/>
        </p:nvSpPr>
        <p:spPr bwMode="auto">
          <a:xfrm>
            <a:off x="539750" y="2119723"/>
            <a:ext cx="2663825" cy="3546475"/>
          </a:xfrm>
          <a:prstGeom prst="rect">
            <a:avLst/>
          </a:prstGeom>
          <a:noFill/>
          <a:ln w="38100" cap="sq">
            <a:noFill/>
            <a:miter lim="800000"/>
            <a:headEnd type="none" w="sm" len="sm"/>
            <a:tailEnd type="none" w="sm" len="sm"/>
          </a:ln>
        </p:spPr>
        <p:txBody>
          <a:bodyPr>
            <a:spAutoFit/>
          </a:bodyPr>
          <a:lstStyle/>
          <a:p>
            <a:pPr>
              <a:lnSpc>
                <a:spcPct val="150000"/>
              </a:lnSpc>
              <a:spcBef>
                <a:spcPts val="1000"/>
              </a:spcBef>
            </a:pPr>
            <a:r>
              <a:rPr kumimoji="1" lang="en-US" altLang="zh-CN" sz="2000" b="1" i="1" dirty="0" smtClean="0">
                <a:solidFill>
                  <a:srgbClr val="FF3300"/>
                </a:solidFill>
                <a:latin typeface="Times New Roman" pitchFamily="18" charset="0"/>
                <a:ea typeface="宋体" pitchFamily="2" charset="-122"/>
                <a:cs typeface="Times New Roman" pitchFamily="18" charset="0"/>
                <a:sym typeface="Symbol" pitchFamily="18" charset="2"/>
              </a:rPr>
              <a:t>1</a:t>
            </a:r>
            <a:r>
              <a:rPr kumimoji="1" lang="zh-CN" altLang="en-US" sz="2000" b="1" i="1" dirty="0" smtClean="0">
                <a:solidFill>
                  <a:srgbClr val="FF3300"/>
                </a:solidFill>
                <a:latin typeface="Times New Roman" pitchFamily="18" charset="0"/>
                <a:ea typeface="宋体" pitchFamily="2" charset="-122"/>
                <a:cs typeface="Times New Roman" pitchFamily="18" charset="0"/>
                <a:sym typeface="Symbol" pitchFamily="18" charset="2"/>
              </a:rPr>
              <a:t>、 </a:t>
            </a:r>
            <a:r>
              <a:rPr kumimoji="1" lang="en-US" altLang="zh-CN" sz="2000" b="1" dirty="0">
                <a:solidFill>
                  <a:srgbClr val="FF3300"/>
                </a:solidFill>
                <a:latin typeface="Times New Roman" pitchFamily="18" charset="0"/>
                <a:ea typeface="宋体" pitchFamily="2" charset="-122"/>
                <a:cs typeface="Times New Roman" pitchFamily="18" charset="0"/>
                <a:sym typeface="Symbol" pitchFamily="18" charset="2"/>
              </a:rPr>
              <a:t>: </a:t>
            </a:r>
            <a:r>
              <a:rPr kumimoji="1" lang="zh-CN" altLang="en-US" sz="2000" b="1" dirty="0">
                <a:solidFill>
                  <a:srgbClr val="FF3300"/>
                </a:solidFill>
                <a:latin typeface="Times New Roman" pitchFamily="18" charset="0"/>
                <a:ea typeface="宋体" pitchFamily="2" charset="-122"/>
                <a:cs typeface="Times New Roman" pitchFamily="18" charset="0"/>
                <a:sym typeface="Symbol" pitchFamily="18" charset="2"/>
              </a:rPr>
              <a:t>电子亲和势（</a:t>
            </a:r>
            <a:r>
              <a:rPr kumimoji="1" lang="en-US" altLang="zh-CN" sz="2000" b="1" dirty="0">
                <a:solidFill>
                  <a:srgbClr val="FF3300"/>
                </a:solidFill>
                <a:latin typeface="Times New Roman" pitchFamily="18" charset="0"/>
                <a:ea typeface="宋体" pitchFamily="2" charset="-122"/>
                <a:cs typeface="Times New Roman" pitchFamily="18" charset="0"/>
                <a:sym typeface="Symbol" pitchFamily="18" charset="2"/>
              </a:rPr>
              <a:t>Electron Affinity</a:t>
            </a:r>
            <a:r>
              <a:rPr kumimoji="1" lang="zh-CN" altLang="en-US" sz="2000" b="1" dirty="0">
                <a:solidFill>
                  <a:srgbClr val="FF3300"/>
                </a:solidFill>
                <a:latin typeface="Times New Roman" pitchFamily="18" charset="0"/>
                <a:ea typeface="宋体" pitchFamily="2" charset="-122"/>
                <a:cs typeface="Times New Roman" pitchFamily="18" charset="0"/>
                <a:sym typeface="Symbol" pitchFamily="18" charset="2"/>
              </a:rPr>
              <a:t>）</a:t>
            </a:r>
            <a:r>
              <a:rPr kumimoji="1" lang="zh-CN" altLang="en-US" sz="2000" b="1" dirty="0">
                <a:latin typeface="Times New Roman" pitchFamily="18" charset="0"/>
                <a:ea typeface="宋体" pitchFamily="2" charset="-122"/>
                <a:cs typeface="Times New Roman" pitchFamily="18" charset="0"/>
                <a:sym typeface="Symbol" pitchFamily="18" charset="2"/>
              </a:rPr>
              <a:t>，是材料本征参数</a:t>
            </a:r>
          </a:p>
          <a:p>
            <a:pPr>
              <a:lnSpc>
                <a:spcPct val="150000"/>
              </a:lnSpc>
              <a:spcBef>
                <a:spcPts val="1000"/>
              </a:spcBef>
            </a:pPr>
            <a:r>
              <a:rPr lang="en-US" altLang="zh-CN" sz="2000" b="1" i="1" dirty="0" smtClean="0">
                <a:solidFill>
                  <a:srgbClr val="FF3300"/>
                </a:solidFill>
                <a:latin typeface="Times New Roman" pitchFamily="18" charset="0"/>
                <a:ea typeface="宋体" pitchFamily="2" charset="-122"/>
                <a:cs typeface="Times New Roman" pitchFamily="18" charset="0"/>
                <a:sym typeface="Symbol" pitchFamily="18" charset="2"/>
              </a:rPr>
              <a:t>2</a:t>
            </a:r>
            <a:r>
              <a:rPr lang="zh-CN" altLang="en-US" sz="2000" b="1" i="1" dirty="0" smtClean="0">
                <a:solidFill>
                  <a:srgbClr val="FF3300"/>
                </a:solidFill>
                <a:latin typeface="Times New Roman" pitchFamily="18" charset="0"/>
                <a:ea typeface="宋体" pitchFamily="2" charset="-122"/>
                <a:cs typeface="Times New Roman" pitchFamily="18" charset="0"/>
                <a:sym typeface="Symbol" pitchFamily="18" charset="2"/>
              </a:rPr>
              <a:t>、</a:t>
            </a:r>
            <a:r>
              <a:rPr kumimoji="1" lang="en-US" altLang="zh-CN" sz="2000" b="1" i="1" baseline="-25000" dirty="0">
                <a:solidFill>
                  <a:srgbClr val="FF3300"/>
                </a:solidFill>
                <a:latin typeface="Times New Roman" pitchFamily="18" charset="0"/>
                <a:ea typeface="宋体" pitchFamily="2" charset="-122"/>
                <a:cs typeface="Times New Roman" pitchFamily="18" charset="0"/>
                <a:sym typeface="Symbol" pitchFamily="18" charset="2"/>
              </a:rPr>
              <a:t>s</a:t>
            </a:r>
            <a:r>
              <a:rPr kumimoji="1" lang="en-US" altLang="zh-CN" sz="2000" b="1" dirty="0">
                <a:solidFill>
                  <a:srgbClr val="FF3300"/>
                </a:solidFill>
                <a:latin typeface="Times New Roman" pitchFamily="18" charset="0"/>
                <a:ea typeface="宋体" pitchFamily="2" charset="-122"/>
                <a:cs typeface="Times New Roman" pitchFamily="18" charset="0"/>
                <a:sym typeface="Symbol" pitchFamily="18" charset="2"/>
              </a:rPr>
              <a:t>: </a:t>
            </a:r>
            <a:r>
              <a:rPr kumimoji="1" lang="zh-CN" altLang="en-US" sz="2000" b="1" dirty="0">
                <a:solidFill>
                  <a:srgbClr val="FF3300"/>
                </a:solidFill>
                <a:latin typeface="Times New Roman" pitchFamily="18" charset="0"/>
                <a:ea typeface="宋体" pitchFamily="2" charset="-122"/>
                <a:cs typeface="Times New Roman" pitchFamily="18" charset="0"/>
                <a:sym typeface="Symbol" pitchFamily="18" charset="2"/>
              </a:rPr>
              <a:t>半导体功函数（</a:t>
            </a:r>
            <a:r>
              <a:rPr kumimoji="1" lang="en-US" altLang="zh-CN" sz="2000" b="1" dirty="0" err="1">
                <a:solidFill>
                  <a:srgbClr val="FF3300"/>
                </a:solidFill>
                <a:latin typeface="Times New Roman" pitchFamily="18" charset="0"/>
                <a:ea typeface="宋体" pitchFamily="2" charset="-122"/>
                <a:cs typeface="Times New Roman" pitchFamily="18" charset="0"/>
                <a:sym typeface="Symbol" pitchFamily="18" charset="2"/>
              </a:rPr>
              <a:t>Workfunction</a:t>
            </a:r>
            <a:r>
              <a:rPr kumimoji="1" lang="zh-CN" altLang="en-US" sz="2000" b="1" dirty="0">
                <a:solidFill>
                  <a:srgbClr val="FF3300"/>
                </a:solidFill>
                <a:latin typeface="Times New Roman" pitchFamily="18" charset="0"/>
                <a:ea typeface="宋体" pitchFamily="2" charset="-122"/>
                <a:cs typeface="Times New Roman" pitchFamily="18" charset="0"/>
                <a:sym typeface="Symbol" pitchFamily="18" charset="2"/>
              </a:rPr>
              <a:t>）</a:t>
            </a:r>
            <a:endParaRPr kumimoji="1" lang="en-US" altLang="zh-CN" sz="2000" b="1" dirty="0">
              <a:solidFill>
                <a:srgbClr val="FF3300"/>
              </a:solidFill>
              <a:latin typeface="Times New Roman" pitchFamily="18" charset="0"/>
              <a:ea typeface="宋体" pitchFamily="2" charset="-122"/>
              <a:cs typeface="Times New Roman" pitchFamily="18" charset="0"/>
              <a:sym typeface="Symbol" pitchFamily="18" charset="2"/>
            </a:endParaRPr>
          </a:p>
          <a:p>
            <a:pPr>
              <a:lnSpc>
                <a:spcPct val="150000"/>
              </a:lnSpc>
              <a:spcBef>
                <a:spcPts val="1000"/>
              </a:spcBef>
            </a:pPr>
            <a:r>
              <a:rPr kumimoji="1" lang="en-US" altLang="zh-CN" sz="2000" b="1" i="1" dirty="0">
                <a:solidFill>
                  <a:srgbClr val="FF3300"/>
                </a:solidFill>
                <a:latin typeface="Times New Roman" pitchFamily="18" charset="0"/>
                <a:ea typeface="宋体" pitchFamily="2" charset="-122"/>
                <a:cs typeface="Times New Roman" pitchFamily="18" charset="0"/>
                <a:sym typeface="Symbol" pitchFamily="18" charset="2"/>
              </a:rPr>
              <a:t></a:t>
            </a:r>
            <a:r>
              <a:rPr kumimoji="1" lang="en-US" altLang="zh-CN" sz="2000" b="1" i="1" baseline="-25000" dirty="0" err="1">
                <a:solidFill>
                  <a:srgbClr val="FF3300"/>
                </a:solidFill>
                <a:latin typeface="Times New Roman" pitchFamily="18" charset="0"/>
                <a:ea typeface="宋体" pitchFamily="2" charset="-122"/>
                <a:cs typeface="Times New Roman" pitchFamily="18" charset="0"/>
                <a:sym typeface="Symbol" pitchFamily="18" charset="2"/>
              </a:rPr>
              <a:t>sn</a:t>
            </a:r>
            <a:r>
              <a:rPr kumimoji="1" lang="zh-CN" altLang="en-US" sz="2000" b="1" i="1" dirty="0">
                <a:solidFill>
                  <a:srgbClr val="FF3300"/>
                </a:solidFill>
                <a:latin typeface="Times New Roman" pitchFamily="18" charset="0"/>
                <a:ea typeface="宋体" pitchFamily="2" charset="-122"/>
                <a:cs typeface="Times New Roman" pitchFamily="18" charset="0"/>
                <a:sym typeface="Symbol" pitchFamily="18" charset="2"/>
              </a:rPr>
              <a:t>、</a:t>
            </a:r>
            <a:r>
              <a:rPr kumimoji="1" lang="en-US" altLang="zh-CN" sz="2000" b="1" i="1" baseline="-25000" dirty="0">
                <a:solidFill>
                  <a:srgbClr val="FF3300"/>
                </a:solidFill>
                <a:latin typeface="Times New Roman" pitchFamily="18" charset="0"/>
                <a:ea typeface="宋体" pitchFamily="2" charset="-122"/>
                <a:cs typeface="Times New Roman" pitchFamily="18" charset="0"/>
                <a:sym typeface="Symbol" pitchFamily="18" charset="2"/>
              </a:rPr>
              <a:t>sp</a:t>
            </a:r>
            <a:r>
              <a:rPr kumimoji="1" lang="zh-CN" altLang="en-US" sz="2000" b="1" dirty="0">
                <a:latin typeface="Times New Roman" pitchFamily="18" charset="0"/>
                <a:ea typeface="宋体" pitchFamily="2" charset="-122"/>
                <a:cs typeface="Times New Roman" pitchFamily="18" charset="0"/>
                <a:sym typeface="Symbol" pitchFamily="18" charset="2"/>
              </a:rPr>
              <a:t>：</a:t>
            </a:r>
            <a:r>
              <a:rPr kumimoji="1" lang="zh-CN" altLang="en-US" sz="2000" b="1" dirty="0">
                <a:latin typeface="Times New Roman" pitchFamily="18" charset="0"/>
                <a:ea typeface="宋体" pitchFamily="2" charset="-122"/>
                <a:cs typeface="Times New Roman" pitchFamily="18" charset="0"/>
              </a:rPr>
              <a:t>与材料和掺杂有关</a:t>
            </a:r>
          </a:p>
        </p:txBody>
      </p:sp>
      <p:sp>
        <p:nvSpPr>
          <p:cNvPr id="5" name="Text Box 5"/>
          <p:cNvSpPr txBox="1">
            <a:spLocks noChangeArrowheads="1"/>
          </p:cNvSpPr>
          <p:nvPr/>
        </p:nvSpPr>
        <p:spPr bwMode="auto">
          <a:xfrm>
            <a:off x="539750" y="513473"/>
            <a:ext cx="6818332" cy="535531"/>
          </a:xfrm>
          <a:prstGeom prst="rect">
            <a:avLst/>
          </a:prstGeom>
          <a:noFill/>
          <a:ln w="38100" cap="sq">
            <a:noFill/>
            <a:miter lim="800000"/>
            <a:headEnd type="none" w="sm" len="sm"/>
            <a:tailEnd type="none" w="sm" len="sm"/>
          </a:ln>
        </p:spPr>
        <p:txBody>
          <a:bodyPr wrap="square">
            <a:spAutoFit/>
          </a:bodyPr>
          <a:lstStyle/>
          <a:p>
            <a:pPr>
              <a:lnSpc>
                <a:spcPct val="120000"/>
              </a:lnSpc>
              <a:spcBef>
                <a:spcPct val="50000"/>
              </a:spcBef>
            </a:pPr>
            <a:r>
              <a:rPr kumimoji="1" lang="zh-CN" altLang="en-US" sz="2400" b="1" dirty="0" smtClean="0">
                <a:solidFill>
                  <a:srgbClr val="0000FF"/>
                </a:solidFill>
                <a:latin typeface="Times New Roman" pitchFamily="18" charset="0"/>
                <a:ea typeface="宋体" pitchFamily="2" charset="-122"/>
              </a:rPr>
              <a:t>能带结构</a:t>
            </a:r>
            <a:r>
              <a:rPr kumimoji="1" lang="zh-CN" altLang="en-US" sz="2400" b="1" dirty="0">
                <a:solidFill>
                  <a:srgbClr val="0000FF"/>
                </a:solidFill>
                <a:latin typeface="Times New Roman" pitchFamily="18" charset="0"/>
                <a:ea typeface="宋体" pitchFamily="2" charset="-122"/>
              </a:rPr>
              <a:t>的表征参量</a:t>
            </a:r>
            <a:r>
              <a:rPr kumimoji="1" lang="zh-CN" altLang="en-US" sz="2400" b="1" dirty="0">
                <a:latin typeface="Times New Roman" pitchFamily="18" charset="0"/>
                <a:ea typeface="宋体" pitchFamily="2" charset="-122"/>
              </a:rPr>
              <a:t>：</a:t>
            </a:r>
          </a:p>
        </p:txBody>
      </p:sp>
      <p:pic>
        <p:nvPicPr>
          <p:cNvPr id="6" name="Picture 6"/>
          <p:cNvPicPr>
            <a:picLocks noChangeAspect="1" noChangeArrowheads="1"/>
          </p:cNvPicPr>
          <p:nvPr/>
        </p:nvPicPr>
        <p:blipFill>
          <a:blip r:embed="rId2" cstate="print"/>
          <a:srcRect/>
          <a:stretch>
            <a:fillRect/>
          </a:stretch>
        </p:blipFill>
        <p:spPr bwMode="auto">
          <a:xfrm>
            <a:off x="3071403" y="2119723"/>
            <a:ext cx="5543550" cy="3905250"/>
          </a:xfrm>
          <a:prstGeom prst="rect">
            <a:avLst/>
          </a:prstGeom>
          <a:noFill/>
          <a:ln w="9525">
            <a:noFill/>
            <a:miter lim="800000"/>
            <a:headEnd/>
            <a:tailEnd/>
          </a:ln>
        </p:spPr>
      </p:pic>
    </p:spTree>
    <p:extLst>
      <p:ext uri="{BB962C8B-B14F-4D97-AF65-F5344CB8AC3E}">
        <p14:creationId xmlns:p14="http://schemas.microsoft.com/office/powerpoint/2010/main" val="4249740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a:t>
            </a:fld>
            <a:endParaRPr lang="zh-CN" altLang="en-US"/>
          </a:p>
        </p:txBody>
      </p:sp>
      <p:sp>
        <p:nvSpPr>
          <p:cNvPr id="4" name="Rectangle 4"/>
          <p:cNvSpPr>
            <a:spLocks noChangeArrowheads="1"/>
          </p:cNvSpPr>
          <p:nvPr/>
        </p:nvSpPr>
        <p:spPr bwMode="auto">
          <a:xfrm>
            <a:off x="2448231" y="295910"/>
            <a:ext cx="4535181"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一</a:t>
            </a:r>
            <a:r>
              <a:rPr kumimoji="1" lang="zh-CN" altLang="en-US" sz="3600" b="1" dirty="0" smtClean="0">
                <a:solidFill>
                  <a:srgbClr val="FF6600"/>
                </a:solidFill>
                <a:latin typeface="Times New Roman" pitchFamily="18" charset="0"/>
                <a:ea typeface="宋体" pitchFamily="2" charset="-122"/>
              </a:rPr>
              <a:t>、</a:t>
            </a:r>
            <a:r>
              <a:rPr kumimoji="1" lang="en-US" altLang="zh-CN" sz="3600" b="1" dirty="0" smtClean="0">
                <a:solidFill>
                  <a:srgbClr val="FF6600"/>
                </a:solidFill>
                <a:latin typeface="Times New Roman" pitchFamily="18" charset="0"/>
                <a:ea typeface="宋体" pitchFamily="2" charset="-122"/>
              </a:rPr>
              <a:t>PN</a:t>
            </a:r>
            <a:r>
              <a:rPr kumimoji="1" lang="zh-CN" altLang="en-US" sz="3600" b="1" dirty="0" smtClean="0">
                <a:solidFill>
                  <a:srgbClr val="FF6600"/>
                </a:solidFill>
                <a:latin typeface="Times New Roman" pitchFamily="18" charset="0"/>
                <a:ea typeface="宋体" pitchFamily="2" charset="-122"/>
              </a:rPr>
              <a:t>结二极管</a:t>
            </a:r>
            <a:endParaRPr kumimoji="1" lang="zh-CN" altLang="en-US" sz="3600" b="1" dirty="0">
              <a:solidFill>
                <a:srgbClr val="FF6600"/>
              </a:solidFill>
              <a:latin typeface="Times New Roman" pitchFamily="18" charset="0"/>
              <a:ea typeface="宋体" pitchFamily="2" charset="-122"/>
            </a:endParaRPr>
          </a:p>
        </p:txBody>
      </p:sp>
      <p:sp>
        <p:nvSpPr>
          <p:cNvPr id="9" name="Text Box 7"/>
          <p:cNvSpPr txBox="1">
            <a:spLocks noChangeArrowheads="1"/>
          </p:cNvSpPr>
          <p:nvPr/>
        </p:nvSpPr>
        <p:spPr bwMode="auto">
          <a:xfrm>
            <a:off x="461092" y="2051508"/>
            <a:ext cx="8208963" cy="1379545"/>
          </a:xfrm>
          <a:prstGeom prst="rect">
            <a:avLst/>
          </a:prstGeom>
          <a:noFill/>
          <a:ln w="38100" cap="sq">
            <a:noFill/>
            <a:miter lim="800000"/>
            <a:headEnd type="none" w="sm" len="sm"/>
            <a:tailEnd type="none" w="sm" len="sm"/>
          </a:ln>
        </p:spPr>
        <p:txBody>
          <a:bodyPr>
            <a:spAutoFit/>
          </a:bodyPr>
          <a:lstStyle/>
          <a:p>
            <a:pPr>
              <a:lnSpc>
                <a:spcPct val="120000"/>
              </a:lnSpc>
              <a:spcBef>
                <a:spcPct val="50000"/>
              </a:spcBef>
            </a:pPr>
            <a:r>
              <a:rPr kumimoji="1" lang="zh-CN" altLang="en-US" sz="2400" b="1" dirty="0" smtClean="0">
                <a:latin typeface="Times New Roman" pitchFamily="18" charset="0"/>
                <a:ea typeface="宋体" pitchFamily="2" charset="-122"/>
              </a:rPr>
              <a:t>当外加</a:t>
            </a:r>
            <a:r>
              <a:rPr kumimoji="1" lang="zh-CN" altLang="en-US" sz="2400" b="1" dirty="0">
                <a:latin typeface="Times New Roman" pitchFamily="18" charset="0"/>
                <a:ea typeface="宋体" pitchFamily="2" charset="-122"/>
              </a:rPr>
              <a:t>偏置电压后，系统不再处于平衡态，将出现过剩载流子</a:t>
            </a:r>
            <a:r>
              <a:rPr kumimoji="1" lang="zh-CN" altLang="en-US" sz="2400" b="1" dirty="0" smtClean="0">
                <a:latin typeface="Times New Roman" pitchFamily="18" charset="0"/>
                <a:ea typeface="宋体" pitchFamily="2" charset="-122"/>
              </a:rPr>
              <a:t>。在</a:t>
            </a:r>
            <a:r>
              <a:rPr kumimoji="1" lang="zh-CN" altLang="en-US" sz="2400" b="1" dirty="0">
                <a:latin typeface="Times New Roman" pitchFamily="18" charset="0"/>
                <a:ea typeface="宋体" pitchFamily="2" charset="-122"/>
              </a:rPr>
              <a:t>小注入条件下，系统处于准平衡态，电子和空穴的准费米能级在空间将发生变化。</a:t>
            </a:r>
          </a:p>
        </p:txBody>
      </p:sp>
      <p:sp>
        <p:nvSpPr>
          <p:cNvPr id="11" name="Text Box 9"/>
          <p:cNvSpPr txBox="1">
            <a:spLocks noChangeArrowheads="1"/>
          </p:cNvSpPr>
          <p:nvPr/>
        </p:nvSpPr>
        <p:spPr bwMode="auto">
          <a:xfrm>
            <a:off x="461092" y="1072779"/>
            <a:ext cx="8208963" cy="978729"/>
          </a:xfrm>
          <a:prstGeom prst="rect">
            <a:avLst/>
          </a:prstGeom>
          <a:noFill/>
          <a:ln w="38100" cap="sq">
            <a:noFill/>
            <a:miter lim="800000"/>
            <a:headEnd type="none" w="sm" len="sm"/>
            <a:tailEnd type="none" w="sm" len="sm"/>
          </a:ln>
        </p:spPr>
        <p:txBody>
          <a:bodyPr>
            <a:spAutoFit/>
          </a:bodyPr>
          <a:lstStyle/>
          <a:p>
            <a:pPr>
              <a:lnSpc>
                <a:spcPct val="120000"/>
              </a:lnSpc>
              <a:spcBef>
                <a:spcPct val="50000"/>
              </a:spcBef>
            </a:pPr>
            <a:r>
              <a:rPr kumimoji="1" lang="zh-CN" altLang="en-US" sz="2400" b="1" dirty="0">
                <a:latin typeface="Times New Roman" pitchFamily="18" charset="0"/>
                <a:ea typeface="宋体" pitchFamily="2" charset="-122"/>
              </a:rPr>
              <a:t>热平衡时，净的电子和空穴电流均为</a:t>
            </a:r>
            <a:r>
              <a:rPr kumimoji="1" lang="en-US" altLang="zh-CN" sz="2400" b="1" dirty="0">
                <a:latin typeface="Times New Roman" pitchFamily="18" charset="0"/>
                <a:ea typeface="宋体" pitchFamily="2" charset="-122"/>
              </a:rPr>
              <a:t>0</a:t>
            </a:r>
            <a:r>
              <a:rPr kumimoji="1" lang="zh-CN" altLang="en-US" sz="2400" b="1" dirty="0">
                <a:latin typeface="Times New Roman" pitchFamily="18" charset="0"/>
                <a:ea typeface="宋体" pitchFamily="2" charset="-122"/>
              </a:rPr>
              <a:t>，电子和空穴的准费米能级相同并在整个区域保持平直</a:t>
            </a:r>
            <a:r>
              <a:rPr kumimoji="1" lang="zh-CN" altLang="en-US" sz="2400" b="1" dirty="0" smtClean="0">
                <a:latin typeface="Times New Roman" pitchFamily="18" charset="0"/>
                <a:ea typeface="宋体" pitchFamily="2" charset="-122"/>
              </a:rPr>
              <a:t>。</a:t>
            </a:r>
            <a:endParaRPr kumimoji="1" lang="zh-CN" altLang="en-US" sz="2400" b="1" dirty="0">
              <a:latin typeface="Times New Roman" pitchFamily="18" charset="0"/>
              <a:ea typeface="宋体" pitchFamily="2" charset="-122"/>
            </a:endParaRPr>
          </a:p>
        </p:txBody>
      </p:sp>
      <p:sp>
        <p:nvSpPr>
          <p:cNvPr id="18" name="Text Box 2"/>
          <p:cNvSpPr txBox="1">
            <a:spLocks noChangeArrowheads="1"/>
          </p:cNvSpPr>
          <p:nvPr/>
        </p:nvSpPr>
        <p:spPr bwMode="auto">
          <a:xfrm>
            <a:off x="461092" y="3431053"/>
            <a:ext cx="8208963" cy="3305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10000"/>
              </a:lnSpc>
              <a:buClr>
                <a:schemeClr val="tx1"/>
              </a:buClr>
              <a:buFont typeface="Wingdings" panose="05000000000000000000" pitchFamily="2" charset="2"/>
              <a:buNone/>
            </a:pPr>
            <a:r>
              <a:rPr kumimoji="1" lang="zh-CN" altLang="en-US" sz="2400" b="1" u="none" dirty="0">
                <a:solidFill>
                  <a:srgbClr val="990000"/>
                </a:solidFill>
                <a:latin typeface="Times New Roman" panose="02020603050405020304" pitchFamily="18" charset="0"/>
                <a:cs typeface="Times New Roman" panose="02020603050405020304" pitchFamily="18" charset="0"/>
              </a:rPr>
              <a:t>电子</a:t>
            </a:r>
            <a:r>
              <a:rPr kumimoji="1" lang="zh-CN" altLang="en-US" sz="2400" b="1" dirty="0">
                <a:solidFill>
                  <a:srgbClr val="990000"/>
                </a:solidFill>
                <a:latin typeface="Times New Roman" panose="02020603050405020304" pitchFamily="18" charset="0"/>
                <a:cs typeface="Times New Roman" panose="02020603050405020304" pitchFamily="18" charset="0"/>
              </a:rPr>
              <a:t>准费米能级</a:t>
            </a:r>
          </a:p>
          <a:p>
            <a:pPr>
              <a:lnSpc>
                <a:spcPct val="110000"/>
              </a:lnSpc>
              <a:buClr>
                <a:srgbClr val="990000"/>
              </a:buClr>
              <a:buFontTx/>
              <a:buChar char="•"/>
            </a:pPr>
            <a:r>
              <a:rPr kumimoji="1" lang="zh-CN" altLang="en-US" sz="2400" b="1" u="none" dirty="0">
                <a:solidFill>
                  <a:srgbClr val="000000"/>
                </a:solidFill>
                <a:latin typeface="Times New Roman" panose="02020603050405020304" pitchFamily="18" charset="0"/>
                <a:cs typeface="Times New Roman" panose="02020603050405020304" pitchFamily="18" charset="0"/>
              </a:rPr>
              <a:t> 在</a:t>
            </a:r>
            <a:r>
              <a:rPr kumimoji="1" lang="en-US" altLang="zh-CN" sz="2400" b="1" u="none" dirty="0">
                <a:solidFill>
                  <a:srgbClr val="990000"/>
                </a:solidFill>
                <a:latin typeface="Times New Roman" panose="02020603050405020304" pitchFamily="18" charset="0"/>
                <a:cs typeface="Times New Roman" panose="02020603050405020304" pitchFamily="18" charset="0"/>
              </a:rPr>
              <a:t>n</a:t>
            </a:r>
            <a:r>
              <a:rPr kumimoji="1" lang="zh-CN" altLang="en-US" sz="2400" b="1" u="none" dirty="0">
                <a:solidFill>
                  <a:srgbClr val="990000"/>
                </a:solidFill>
                <a:latin typeface="Times New Roman" panose="02020603050405020304" pitchFamily="18" charset="0"/>
                <a:cs typeface="Times New Roman" panose="02020603050405020304" pitchFamily="18" charset="0"/>
              </a:rPr>
              <a:t>型</a:t>
            </a:r>
            <a:r>
              <a:rPr kumimoji="1" lang="zh-CN" altLang="en-US" sz="2400" b="1" u="none" dirty="0">
                <a:solidFill>
                  <a:schemeClr val="tx2"/>
                </a:solidFill>
                <a:latin typeface="Times New Roman" panose="02020603050405020304" pitchFamily="18" charset="0"/>
                <a:cs typeface="Times New Roman" panose="02020603050405020304" pitchFamily="18" charset="0"/>
              </a:rPr>
              <a:t>区</a:t>
            </a:r>
            <a:r>
              <a:rPr kumimoji="1" lang="zh-CN" altLang="en-US" sz="2400" b="1" u="none" dirty="0">
                <a:solidFill>
                  <a:srgbClr val="000000"/>
                </a:solidFill>
                <a:latin typeface="Times New Roman" panose="02020603050405020304" pitchFamily="18" charset="0"/>
                <a:cs typeface="Times New Roman" panose="02020603050405020304" pitchFamily="18" charset="0"/>
              </a:rPr>
              <a:t>：电子为多子，</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L</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p</a:t>
            </a:r>
            <a:r>
              <a:rPr kumimoji="1" lang="zh-CN" altLang="en-US" sz="2400" b="1" u="none" dirty="0">
                <a:solidFill>
                  <a:srgbClr val="000000"/>
                </a:solidFill>
                <a:latin typeface="Times New Roman" panose="02020603050405020304" pitchFamily="18" charset="0"/>
                <a:cs typeface="Times New Roman" panose="02020603050405020304" pitchFamily="18" charset="0"/>
              </a:rPr>
              <a:t>范围内，可近似认为</a:t>
            </a:r>
          </a:p>
          <a:p>
            <a:pPr>
              <a:lnSpc>
                <a:spcPct val="110000"/>
              </a:lnSpc>
              <a:buFontTx/>
              <a:buNone/>
            </a:pPr>
            <a:r>
              <a:rPr kumimoji="1" lang="zh-CN" altLang="en-US" sz="2400" b="1" u="none" dirty="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a:solidFill>
                  <a:srgbClr val="000000"/>
                </a:solidFill>
                <a:latin typeface="Times New Roman" panose="02020603050405020304" pitchFamily="18" charset="0"/>
                <a:cs typeface="Times New Roman" panose="02020603050405020304" pitchFamily="18" charset="0"/>
              </a:rPr>
              <a:t>n</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a:solidFill>
                  <a:srgbClr val="000000"/>
                </a:solidFill>
                <a:latin typeface="Times New Roman" panose="02020603050405020304" pitchFamily="18" charset="0"/>
                <a:cs typeface="Times New Roman" panose="02020603050405020304" pitchFamily="18" charset="0"/>
              </a:rPr>
              <a:t>x</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a:solidFill>
                  <a:srgbClr val="000000"/>
                </a:solidFill>
                <a:latin typeface="Times New Roman" panose="02020603050405020304" pitchFamily="18" charset="0"/>
                <a:cs typeface="Times New Roman" panose="02020603050405020304" pitchFamily="18" charset="0"/>
              </a:rPr>
              <a:t>n</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0n</a:t>
            </a:r>
            <a:r>
              <a:rPr kumimoji="1" lang="zh-CN" altLang="en-US"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a:t>
            </a:r>
            <a:r>
              <a:rPr kumimoji="1" lang="en-US" altLang="zh-CN" sz="2400" b="1" u="none" baseline="30000" dirty="0" err="1">
                <a:solidFill>
                  <a:srgbClr val="000000"/>
                </a:solidFill>
                <a:latin typeface="Times New Roman" panose="02020603050405020304" pitchFamily="18" charset="0"/>
                <a:cs typeface="Times New Roman" panose="02020603050405020304" pitchFamily="18" charset="0"/>
              </a:rPr>
              <a:t>n</a:t>
            </a:r>
            <a:r>
              <a:rPr kumimoji="1" lang="en-US" altLang="zh-CN" sz="2400" b="1" u="none" baseline="30000" dirty="0">
                <a:solidFill>
                  <a:srgbClr val="000000"/>
                </a:solidFill>
                <a:latin typeface="Times New Roman" panose="02020603050405020304" pitchFamily="18" charset="0"/>
                <a:cs typeface="Times New Roman" panose="02020603050405020304" pitchFamily="18" charset="0"/>
              </a:rPr>
              <a:t> </a:t>
            </a: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Fn</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 </a:t>
            </a:r>
          </a:p>
          <a:p>
            <a:pPr>
              <a:lnSpc>
                <a:spcPct val="110000"/>
              </a:lnSpc>
              <a:buClr>
                <a:srgbClr val="990000"/>
              </a:buClr>
              <a:buFontTx/>
              <a:buChar char="•"/>
            </a:pP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a:solidFill>
                  <a:srgbClr val="000000"/>
                </a:solidFill>
                <a:latin typeface="Times New Roman" panose="02020603050405020304" pitchFamily="18" charset="0"/>
                <a:cs typeface="Times New Roman" panose="02020603050405020304" pitchFamily="18" charset="0"/>
              </a:rPr>
              <a:t>在</a:t>
            </a:r>
            <a:r>
              <a:rPr kumimoji="1" lang="zh-CN" altLang="en-US" sz="2400" b="1" u="none" dirty="0">
                <a:solidFill>
                  <a:srgbClr val="990000"/>
                </a:solidFill>
                <a:latin typeface="Times New Roman" panose="02020603050405020304" pitchFamily="18" charset="0"/>
                <a:cs typeface="Times New Roman" panose="02020603050405020304" pitchFamily="18" charset="0"/>
              </a:rPr>
              <a:t>势垒</a:t>
            </a:r>
            <a:r>
              <a:rPr kumimoji="1" lang="zh-CN" altLang="en-US" sz="2400" b="1" u="none" dirty="0">
                <a:solidFill>
                  <a:schemeClr val="tx2"/>
                </a:solidFill>
                <a:latin typeface="Times New Roman" panose="02020603050405020304" pitchFamily="18" charset="0"/>
                <a:cs typeface="Times New Roman" panose="02020603050405020304" pitchFamily="18" charset="0"/>
              </a:rPr>
              <a:t>区</a:t>
            </a:r>
            <a:r>
              <a:rPr kumimoji="1" lang="zh-CN" altLang="en-US" sz="2400" b="1" u="none" dirty="0">
                <a:solidFill>
                  <a:srgbClr val="000000"/>
                </a:solidFill>
                <a:latin typeface="Times New Roman" panose="02020603050405020304" pitchFamily="18" charset="0"/>
                <a:cs typeface="Times New Roman" panose="02020603050405020304" pitchFamily="18" charset="0"/>
              </a:rPr>
              <a:t>：忽略产生</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zh-CN" altLang="en-US" sz="2400" b="1" u="none" dirty="0">
                <a:solidFill>
                  <a:srgbClr val="000000"/>
                </a:solidFill>
                <a:latin typeface="Times New Roman" panose="02020603050405020304" pitchFamily="18" charset="0"/>
                <a:cs typeface="Times New Roman" panose="02020603050405020304" pitchFamily="18" charset="0"/>
              </a:rPr>
              <a:t>复合，近似认为 </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a:t>
            </a:r>
            <a:r>
              <a:rPr kumimoji="1" lang="en-US" altLang="zh-CN" sz="2400" b="1" u="none" baseline="30000" dirty="0" err="1">
                <a:solidFill>
                  <a:srgbClr val="000000"/>
                </a:solidFill>
                <a:latin typeface="Times New Roman" panose="02020603050405020304" pitchFamily="18" charset="0"/>
                <a:cs typeface="Times New Roman" panose="02020603050405020304" pitchFamily="18" charset="0"/>
              </a:rPr>
              <a:t>n</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 </a:t>
            </a: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Fn</a:t>
            </a:r>
            <a:endParaRPr kumimoji="1" lang="en-US" altLang="zh-CN" sz="2400" b="1" u="none" dirty="0">
              <a:solidFill>
                <a:srgbClr val="000000"/>
              </a:solidFill>
              <a:latin typeface="Times New Roman" panose="02020603050405020304" pitchFamily="18" charset="0"/>
              <a:cs typeface="Times New Roman" panose="02020603050405020304" pitchFamily="18" charset="0"/>
            </a:endParaRPr>
          </a:p>
          <a:p>
            <a:pPr>
              <a:lnSpc>
                <a:spcPct val="110000"/>
              </a:lnSpc>
              <a:buClr>
                <a:srgbClr val="990000"/>
              </a:buClr>
              <a:buFontTx/>
              <a:buChar char="•"/>
            </a:pP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a:solidFill>
                  <a:srgbClr val="000000"/>
                </a:solidFill>
                <a:latin typeface="Times New Roman" panose="02020603050405020304" pitchFamily="18" charset="0"/>
                <a:cs typeface="Times New Roman" panose="02020603050405020304" pitchFamily="18" charset="0"/>
              </a:rPr>
              <a:t>在</a:t>
            </a:r>
            <a:r>
              <a:rPr kumimoji="1" lang="en-US" altLang="zh-CN" sz="2400" b="1" u="none" dirty="0">
                <a:solidFill>
                  <a:srgbClr val="990000"/>
                </a:solidFill>
                <a:latin typeface="Times New Roman" panose="02020603050405020304" pitchFamily="18" charset="0"/>
                <a:cs typeface="Times New Roman" panose="02020603050405020304" pitchFamily="18" charset="0"/>
              </a:rPr>
              <a:t>p</a:t>
            </a:r>
            <a:r>
              <a:rPr kumimoji="1" lang="zh-CN" altLang="en-US" sz="2400" b="1" u="none" dirty="0">
                <a:solidFill>
                  <a:srgbClr val="990000"/>
                </a:solidFill>
                <a:latin typeface="Times New Roman" panose="02020603050405020304" pitchFamily="18" charset="0"/>
                <a:cs typeface="Times New Roman" panose="02020603050405020304" pitchFamily="18" charset="0"/>
              </a:rPr>
              <a:t>型</a:t>
            </a:r>
            <a:r>
              <a:rPr kumimoji="1" lang="zh-CN" altLang="en-US" sz="2400" b="1" u="none" dirty="0">
                <a:latin typeface="Times New Roman" panose="02020603050405020304" pitchFamily="18" charset="0"/>
                <a:cs typeface="Times New Roman" panose="02020603050405020304" pitchFamily="18" charset="0"/>
              </a:rPr>
              <a:t>区</a:t>
            </a:r>
            <a:r>
              <a:rPr kumimoji="1" lang="zh-CN" altLang="en-US" sz="2400" b="1" u="none" dirty="0">
                <a:solidFill>
                  <a:srgbClr val="000000"/>
                </a:solidFill>
                <a:latin typeface="Times New Roman" panose="02020603050405020304" pitchFamily="18" charset="0"/>
                <a:cs typeface="Times New Roman" panose="02020603050405020304" pitchFamily="18" charset="0"/>
              </a:rPr>
              <a:t>：电子为少子，小注入  </a:t>
            </a:r>
            <a:r>
              <a:rPr kumimoji="1" lang="en-US" altLang="zh-CN" sz="2400" b="1" i="1" u="none" dirty="0">
                <a:solidFill>
                  <a:srgbClr val="000000"/>
                </a:solidFill>
                <a:latin typeface="Times New Roman" panose="02020603050405020304" pitchFamily="18" charset="0"/>
                <a:cs typeface="Times New Roman" panose="02020603050405020304" pitchFamily="18" charset="0"/>
              </a:rPr>
              <a:t>n</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p</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a:solidFill>
                  <a:srgbClr val="000000"/>
                </a:solidFill>
                <a:latin typeface="Times New Roman" panose="02020603050405020304" pitchFamily="18" charset="0"/>
                <a:cs typeface="Times New Roman" panose="02020603050405020304" pitchFamily="18" charset="0"/>
              </a:rPr>
              <a:t>x</a:t>
            </a:r>
            <a:r>
              <a:rPr kumimoji="1" lang="en-US" altLang="zh-CN" sz="2400" b="1" u="none" dirty="0">
                <a:solidFill>
                  <a:srgbClr val="000000"/>
                </a:solidFill>
                <a:latin typeface="Times New Roman" panose="02020603050405020304" pitchFamily="18" charset="0"/>
                <a:cs typeface="Times New Roman" panose="02020603050405020304" pitchFamily="18" charset="0"/>
              </a:rPr>
              <a:t>) &lt;&lt; </a:t>
            </a:r>
            <a:r>
              <a:rPr kumimoji="1" lang="en-US" altLang="zh-CN" sz="2400" b="1" i="1" u="none" dirty="0">
                <a:solidFill>
                  <a:srgbClr val="000000"/>
                </a:solidFill>
                <a:latin typeface="Times New Roman" panose="02020603050405020304" pitchFamily="18" charset="0"/>
                <a:cs typeface="Times New Roman" panose="02020603050405020304" pitchFamily="18" charset="0"/>
              </a:rPr>
              <a:t>p</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0p</a:t>
            </a: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smtClean="0">
                <a:solidFill>
                  <a:srgbClr val="000000"/>
                </a:solidFill>
                <a:latin typeface="Times New Roman" panose="02020603050405020304" pitchFamily="18" charset="0"/>
                <a:cs typeface="Times New Roman" panose="02020603050405020304" pitchFamily="18" charset="0"/>
              </a:rPr>
              <a:t>，</a:t>
            </a:r>
          </a:p>
          <a:p>
            <a:pPr>
              <a:lnSpc>
                <a:spcPct val="110000"/>
              </a:lnSpc>
              <a:buFontTx/>
              <a:buNone/>
            </a:pPr>
            <a:r>
              <a:rPr kumimoji="1" lang="en-US" altLang="zh-CN" sz="2400" b="1" i="1" u="none" dirty="0" err="1" smtClean="0">
                <a:solidFill>
                  <a:srgbClr val="990000"/>
                </a:solidFill>
                <a:latin typeface="Times New Roman" panose="02020603050405020304" pitchFamily="18" charset="0"/>
                <a:cs typeface="Times New Roman" panose="02020603050405020304" pitchFamily="18" charset="0"/>
              </a:rPr>
              <a:t>E</a:t>
            </a:r>
            <a:r>
              <a:rPr kumimoji="1" lang="en-US" altLang="zh-CN" sz="2400" b="1" u="none" baseline="-25000" dirty="0" err="1" smtClean="0">
                <a:solidFill>
                  <a:srgbClr val="990000"/>
                </a:solidFill>
                <a:latin typeface="Times New Roman" panose="02020603050405020304" pitchFamily="18" charset="0"/>
                <a:cs typeface="Times New Roman" panose="02020603050405020304" pitchFamily="18" charset="0"/>
              </a:rPr>
              <a:t>F</a:t>
            </a:r>
            <a:r>
              <a:rPr kumimoji="1" lang="en-US" altLang="zh-CN" sz="2400" b="1" u="none" baseline="30000" dirty="0" err="1" smtClean="0">
                <a:solidFill>
                  <a:srgbClr val="990000"/>
                </a:solidFill>
                <a:latin typeface="Times New Roman" panose="02020603050405020304" pitchFamily="18" charset="0"/>
                <a:cs typeface="Times New Roman" panose="02020603050405020304" pitchFamily="18" charset="0"/>
              </a:rPr>
              <a:t>n</a:t>
            </a:r>
            <a:r>
              <a:rPr kumimoji="1" lang="en-US" altLang="zh-CN" sz="2400" b="1" u="none" baseline="30000" dirty="0" smtClean="0">
                <a:solidFill>
                  <a:srgbClr val="990000"/>
                </a:solidFill>
                <a:latin typeface="Times New Roman" panose="02020603050405020304" pitchFamily="18" charset="0"/>
                <a:cs typeface="Times New Roman" panose="02020603050405020304" pitchFamily="18" charset="0"/>
              </a:rPr>
              <a:t> </a:t>
            </a:r>
            <a:r>
              <a:rPr kumimoji="1" lang="zh-CN" altLang="en-US" sz="2400" b="1" u="none" dirty="0" smtClean="0">
                <a:solidFill>
                  <a:srgbClr val="990000"/>
                </a:solidFill>
                <a:latin typeface="Times New Roman" panose="02020603050405020304" pitchFamily="18" charset="0"/>
                <a:cs typeface="Times New Roman" panose="02020603050405020304" pitchFamily="18" charset="0"/>
              </a:rPr>
              <a:t>主要降在</a:t>
            </a:r>
            <a:r>
              <a:rPr kumimoji="1" lang="en-US" altLang="zh-CN" sz="2400" b="1" u="none" dirty="0" smtClean="0">
                <a:solidFill>
                  <a:srgbClr val="990000"/>
                </a:solidFill>
                <a:latin typeface="Times New Roman" panose="02020603050405020304" pitchFamily="18" charset="0"/>
                <a:cs typeface="Times New Roman" panose="02020603050405020304" pitchFamily="18" charset="0"/>
              </a:rPr>
              <a:t>p</a:t>
            </a:r>
            <a:r>
              <a:rPr kumimoji="1" lang="zh-CN" altLang="en-US" sz="2400" b="1" u="none" dirty="0" smtClean="0">
                <a:solidFill>
                  <a:srgbClr val="990000"/>
                </a:solidFill>
                <a:latin typeface="Times New Roman" panose="02020603050405020304" pitchFamily="18" charset="0"/>
                <a:cs typeface="Times New Roman" panose="02020603050405020304" pitchFamily="18" charset="0"/>
              </a:rPr>
              <a:t>型区一个扩散长度</a:t>
            </a:r>
            <a:r>
              <a:rPr kumimoji="1" lang="en-US" altLang="zh-CN" sz="2400" b="1" i="1" u="none" dirty="0" smtClean="0">
                <a:solidFill>
                  <a:srgbClr val="990000"/>
                </a:solidFill>
                <a:latin typeface="Times New Roman" panose="02020603050405020304" pitchFamily="18" charset="0"/>
                <a:cs typeface="Times New Roman" panose="02020603050405020304" pitchFamily="18" charset="0"/>
              </a:rPr>
              <a:t>L</a:t>
            </a:r>
            <a:r>
              <a:rPr kumimoji="1" lang="en-US" altLang="zh-CN" sz="2400" b="1" u="none" baseline="-25000" dirty="0" smtClean="0">
                <a:solidFill>
                  <a:srgbClr val="990000"/>
                </a:solidFill>
                <a:latin typeface="Times New Roman" panose="02020603050405020304" pitchFamily="18" charset="0"/>
                <a:cs typeface="Times New Roman" panose="02020603050405020304" pitchFamily="18" charset="0"/>
              </a:rPr>
              <a:t>n</a:t>
            </a:r>
            <a:r>
              <a:rPr kumimoji="1" lang="zh-CN" altLang="en-US" sz="2400" b="1" u="none" dirty="0" smtClean="0">
                <a:solidFill>
                  <a:srgbClr val="990000"/>
                </a:solidFill>
                <a:latin typeface="Times New Roman" panose="02020603050405020304" pitchFamily="18" charset="0"/>
                <a:cs typeface="Times New Roman" panose="02020603050405020304" pitchFamily="18" charset="0"/>
              </a:rPr>
              <a:t>内</a:t>
            </a:r>
            <a:r>
              <a:rPr kumimoji="1" lang="zh-CN" altLang="en-US" sz="2400" b="1" u="none" dirty="0" smtClean="0">
                <a:solidFill>
                  <a:srgbClr val="000000"/>
                </a:solidFill>
                <a:latin typeface="Times New Roman" panose="02020603050405020304" pitchFamily="18" charset="0"/>
                <a:cs typeface="Times New Roman" panose="02020603050405020304" pitchFamily="18" charset="0"/>
              </a:rPr>
              <a:t>。在</a:t>
            </a:r>
            <a:r>
              <a:rPr kumimoji="1" lang="en-US" altLang="zh-CN" sz="2400" b="1" i="1" u="none" dirty="0" smtClean="0">
                <a:solidFill>
                  <a:srgbClr val="000000"/>
                </a:solidFill>
                <a:latin typeface="Times New Roman" panose="02020603050405020304" pitchFamily="18" charset="0"/>
                <a:cs typeface="Times New Roman" panose="02020603050405020304" pitchFamily="18" charset="0"/>
              </a:rPr>
              <a:t>L</a:t>
            </a:r>
            <a:r>
              <a:rPr kumimoji="1" lang="en-US" altLang="zh-CN" sz="2400" b="1" u="none" baseline="-25000" dirty="0" smtClean="0">
                <a:solidFill>
                  <a:srgbClr val="000000"/>
                </a:solidFill>
                <a:latin typeface="Times New Roman" panose="02020603050405020304" pitchFamily="18" charset="0"/>
                <a:cs typeface="Times New Roman" panose="02020603050405020304" pitchFamily="18" charset="0"/>
              </a:rPr>
              <a:t>n</a:t>
            </a:r>
            <a:r>
              <a:rPr kumimoji="1" lang="zh-CN" altLang="en-US" sz="2400" b="1" u="none" dirty="0" smtClean="0">
                <a:solidFill>
                  <a:srgbClr val="000000"/>
                </a:solidFill>
                <a:latin typeface="Times New Roman" panose="02020603050405020304" pitchFamily="18" charset="0"/>
                <a:cs typeface="Times New Roman" panose="02020603050405020304" pitchFamily="18" charset="0"/>
              </a:rPr>
              <a:t>以外，</a:t>
            </a:r>
            <a:r>
              <a:rPr kumimoji="1" lang="en-US" altLang="zh-CN" sz="2400" b="1" u="none" dirty="0" err="1" smtClean="0">
                <a:solidFill>
                  <a:srgbClr val="000000"/>
                </a:solidFill>
                <a:latin typeface="Times New Roman" panose="02020603050405020304" pitchFamily="18" charset="0"/>
                <a:cs typeface="Times New Roman" panose="02020603050405020304" pitchFamily="18" charset="0"/>
              </a:rPr>
              <a:t>Δ</a:t>
            </a:r>
            <a:r>
              <a:rPr kumimoji="1" lang="en-US" altLang="zh-CN" sz="2400" b="1" i="1" u="none" dirty="0" err="1" smtClean="0">
                <a:solidFill>
                  <a:srgbClr val="000000"/>
                </a:solidFill>
                <a:latin typeface="Times New Roman" panose="02020603050405020304" pitchFamily="18" charset="0"/>
                <a:cs typeface="Times New Roman" panose="02020603050405020304" pitchFamily="18" charset="0"/>
              </a:rPr>
              <a:t>n</a:t>
            </a:r>
            <a:r>
              <a:rPr kumimoji="1" lang="en-US" altLang="zh-CN" sz="2400" b="1" u="none" dirty="0" smtClean="0">
                <a:solidFill>
                  <a:srgbClr val="000000"/>
                </a:solidFill>
                <a:latin typeface="Times New Roman" panose="02020603050405020304" pitchFamily="18" charset="0"/>
                <a:cs typeface="Times New Roman" panose="02020603050405020304" pitchFamily="18" charset="0"/>
              </a:rPr>
              <a:t>=0</a:t>
            </a:r>
            <a:r>
              <a:rPr kumimoji="1" lang="zh-CN" altLang="en-US" sz="2400" b="1" u="none" dirty="0" smtClean="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err="1" smtClean="0">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smtClean="0">
                <a:solidFill>
                  <a:srgbClr val="000000"/>
                </a:solidFill>
                <a:latin typeface="Times New Roman" panose="02020603050405020304" pitchFamily="18" charset="0"/>
                <a:cs typeface="Times New Roman" panose="02020603050405020304" pitchFamily="18" charset="0"/>
              </a:rPr>
              <a:t>F</a:t>
            </a:r>
            <a:r>
              <a:rPr kumimoji="1" lang="en-US" altLang="zh-CN" sz="2400" b="1" u="none" baseline="30000" dirty="0" err="1" smtClean="0">
                <a:solidFill>
                  <a:srgbClr val="000000"/>
                </a:solidFill>
                <a:latin typeface="Times New Roman" panose="02020603050405020304" pitchFamily="18" charset="0"/>
                <a:cs typeface="Times New Roman" panose="02020603050405020304" pitchFamily="18" charset="0"/>
              </a:rPr>
              <a:t>n</a:t>
            </a:r>
            <a:r>
              <a:rPr kumimoji="1" lang="en-US" altLang="zh-CN" sz="2400" b="1" u="none" baseline="30000"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u="none"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err="1" smtClean="0">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smtClean="0">
                <a:solidFill>
                  <a:srgbClr val="000000"/>
                </a:solidFill>
                <a:latin typeface="Times New Roman" panose="02020603050405020304" pitchFamily="18" charset="0"/>
                <a:cs typeface="Times New Roman" panose="02020603050405020304" pitchFamily="18" charset="0"/>
              </a:rPr>
              <a:t>Fp</a:t>
            </a:r>
            <a:endParaRPr kumimoji="1" lang="en-US" altLang="zh-CN" sz="2400" b="1" u="none"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985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a:t>
            </a:fld>
            <a:endParaRPr lang="zh-CN" altLang="en-US"/>
          </a:p>
        </p:txBody>
      </p:sp>
      <p:sp>
        <p:nvSpPr>
          <p:cNvPr id="3" name="Text Box 2"/>
          <p:cNvSpPr txBox="1">
            <a:spLocks noChangeArrowheads="1"/>
          </p:cNvSpPr>
          <p:nvPr/>
        </p:nvSpPr>
        <p:spPr bwMode="auto">
          <a:xfrm>
            <a:off x="583125" y="139598"/>
            <a:ext cx="835977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buClr>
                <a:schemeClr val="tx1"/>
              </a:buClr>
              <a:buFont typeface="Wingdings" panose="05000000000000000000" pitchFamily="2" charset="2"/>
              <a:buNone/>
            </a:pPr>
            <a:r>
              <a:rPr kumimoji="1" lang="zh-CN" altLang="en-US" sz="2400" b="1" dirty="0">
                <a:solidFill>
                  <a:srgbClr val="990000"/>
                </a:solidFill>
                <a:latin typeface="Times New Roman" panose="02020603050405020304" pitchFamily="18" charset="0"/>
                <a:cs typeface="Times New Roman" panose="02020603050405020304" pitchFamily="18" charset="0"/>
              </a:rPr>
              <a:t>空穴准费米能级</a:t>
            </a:r>
          </a:p>
          <a:p>
            <a:pPr>
              <a:buClr>
                <a:srgbClr val="990000"/>
              </a:buClr>
              <a:buFontTx/>
              <a:buChar char="•"/>
            </a:pPr>
            <a:r>
              <a:rPr kumimoji="1" lang="zh-CN" altLang="en-US" sz="2400" b="1" u="none" dirty="0">
                <a:solidFill>
                  <a:srgbClr val="000000"/>
                </a:solidFill>
                <a:latin typeface="Times New Roman" panose="02020603050405020304" pitchFamily="18" charset="0"/>
                <a:cs typeface="Times New Roman" panose="02020603050405020304" pitchFamily="18" charset="0"/>
              </a:rPr>
              <a:t> 在</a:t>
            </a:r>
            <a:r>
              <a:rPr kumimoji="1" lang="en-US" altLang="zh-CN" sz="2400" b="1" u="none" dirty="0">
                <a:solidFill>
                  <a:srgbClr val="990000"/>
                </a:solidFill>
                <a:latin typeface="Times New Roman" panose="02020603050405020304" pitchFamily="18" charset="0"/>
                <a:cs typeface="Times New Roman" panose="02020603050405020304" pitchFamily="18" charset="0"/>
              </a:rPr>
              <a:t>p</a:t>
            </a:r>
            <a:r>
              <a:rPr kumimoji="1" lang="zh-CN" altLang="en-US" sz="2400" b="1" u="none" dirty="0">
                <a:solidFill>
                  <a:srgbClr val="990000"/>
                </a:solidFill>
                <a:latin typeface="Times New Roman" panose="02020603050405020304" pitchFamily="18" charset="0"/>
                <a:cs typeface="Times New Roman" panose="02020603050405020304" pitchFamily="18" charset="0"/>
              </a:rPr>
              <a:t>型</a:t>
            </a:r>
            <a:r>
              <a:rPr kumimoji="1" lang="zh-CN" altLang="en-US" sz="2400" b="1" u="none" dirty="0">
                <a:latin typeface="Times New Roman" panose="02020603050405020304" pitchFamily="18" charset="0"/>
                <a:cs typeface="Times New Roman" panose="02020603050405020304" pitchFamily="18" charset="0"/>
              </a:rPr>
              <a:t>区</a:t>
            </a:r>
            <a:r>
              <a:rPr kumimoji="1" lang="zh-CN" altLang="en-US" sz="2400" b="1" u="none" dirty="0">
                <a:solidFill>
                  <a:srgbClr val="000000"/>
                </a:solidFill>
                <a:latin typeface="Times New Roman" panose="02020603050405020304" pitchFamily="18" charset="0"/>
                <a:cs typeface="Times New Roman" panose="02020603050405020304" pitchFamily="18" charset="0"/>
              </a:rPr>
              <a:t>：空穴为多子，</a:t>
            </a:r>
            <a:r>
              <a:rPr kumimoji="1" lang="en-US" altLang="zh-CN" sz="2400" b="1" i="1" u="none" dirty="0">
                <a:solidFill>
                  <a:srgbClr val="000000"/>
                </a:solidFill>
                <a:latin typeface="Times New Roman" panose="02020603050405020304" pitchFamily="18" charset="0"/>
                <a:cs typeface="Times New Roman" panose="02020603050405020304" pitchFamily="18" charset="0"/>
              </a:rPr>
              <a:t>L</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n</a:t>
            </a:r>
            <a:r>
              <a:rPr kumimoji="1" lang="zh-CN" altLang="en-US" sz="2400" b="1" u="none" dirty="0">
                <a:solidFill>
                  <a:srgbClr val="000000"/>
                </a:solidFill>
                <a:latin typeface="Times New Roman" panose="02020603050405020304" pitchFamily="18" charset="0"/>
                <a:cs typeface="Times New Roman" panose="02020603050405020304" pitchFamily="18" charset="0"/>
              </a:rPr>
              <a:t>范围内，可近似认为</a:t>
            </a:r>
          </a:p>
          <a:p>
            <a:pPr>
              <a:buFontTx/>
              <a:buNone/>
            </a:pPr>
            <a:r>
              <a:rPr kumimoji="1" lang="zh-CN" altLang="en-US" sz="2400" b="1" u="none" dirty="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a:solidFill>
                  <a:srgbClr val="000000"/>
                </a:solidFill>
                <a:latin typeface="Times New Roman" panose="02020603050405020304" pitchFamily="18" charset="0"/>
                <a:cs typeface="Times New Roman" panose="02020603050405020304" pitchFamily="18" charset="0"/>
              </a:rPr>
              <a:t>p</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a:solidFill>
                  <a:srgbClr val="000000"/>
                </a:solidFill>
                <a:latin typeface="Times New Roman" panose="02020603050405020304" pitchFamily="18" charset="0"/>
                <a:cs typeface="Times New Roman" panose="02020603050405020304" pitchFamily="18" charset="0"/>
              </a:rPr>
              <a:t>x</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a:solidFill>
                  <a:srgbClr val="000000"/>
                </a:solidFill>
                <a:latin typeface="Times New Roman" panose="02020603050405020304" pitchFamily="18" charset="0"/>
                <a:cs typeface="Times New Roman" panose="02020603050405020304" pitchFamily="18" charset="0"/>
              </a:rPr>
              <a:t>p</a:t>
            </a:r>
            <a:r>
              <a:rPr kumimoji="1" lang="en-US" altLang="zh-CN" sz="2400" b="1" u="none" baseline="-25000" dirty="0">
                <a:solidFill>
                  <a:srgbClr val="000000"/>
                </a:solidFill>
                <a:latin typeface="Times New Roman" panose="02020603050405020304" pitchFamily="18" charset="0"/>
                <a:cs typeface="Times New Roman" panose="02020603050405020304" pitchFamily="18" charset="0"/>
              </a:rPr>
              <a:t>0p</a:t>
            </a:r>
            <a:r>
              <a:rPr kumimoji="1" lang="zh-CN" altLang="en-US" sz="2400" b="1" u="none" dirty="0">
                <a:solidFill>
                  <a:srgbClr val="000000"/>
                </a:solidFill>
                <a:latin typeface="Times New Roman" panose="02020603050405020304" pitchFamily="18" charset="0"/>
                <a:cs typeface="Times New Roman" panose="02020603050405020304" pitchFamily="18" charset="0"/>
              </a:rPr>
              <a:t>，</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a:t>
            </a:r>
            <a:r>
              <a:rPr kumimoji="1" lang="en-US" altLang="zh-CN" sz="2400" b="1" u="none" baseline="30000" dirty="0" err="1">
                <a:solidFill>
                  <a:srgbClr val="000000"/>
                </a:solidFill>
                <a:latin typeface="Times New Roman" panose="02020603050405020304" pitchFamily="18" charset="0"/>
                <a:cs typeface="Times New Roman" panose="02020603050405020304" pitchFamily="18" charset="0"/>
              </a:rPr>
              <a:t>p</a:t>
            </a:r>
            <a:r>
              <a:rPr kumimoji="1" lang="en-US" altLang="zh-CN" sz="2400" b="1" u="none" baseline="30000" dirty="0">
                <a:solidFill>
                  <a:srgbClr val="000000"/>
                </a:solidFill>
                <a:latin typeface="Times New Roman" panose="02020603050405020304" pitchFamily="18" charset="0"/>
                <a:cs typeface="Times New Roman" panose="02020603050405020304" pitchFamily="18" charset="0"/>
              </a:rPr>
              <a:t> </a:t>
            </a: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Fp</a:t>
            </a:r>
            <a:endParaRPr kumimoji="1" lang="en-US" altLang="zh-CN" sz="2400" b="1" u="none" dirty="0">
              <a:solidFill>
                <a:srgbClr val="000000"/>
              </a:solidFill>
              <a:latin typeface="Times New Roman" panose="02020603050405020304" pitchFamily="18" charset="0"/>
              <a:cs typeface="Times New Roman" panose="02020603050405020304" pitchFamily="18" charset="0"/>
            </a:endParaRPr>
          </a:p>
          <a:p>
            <a:pPr>
              <a:buClr>
                <a:srgbClr val="990000"/>
              </a:buClr>
              <a:buFontTx/>
              <a:buChar char="•"/>
            </a:pP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a:solidFill>
                  <a:srgbClr val="000000"/>
                </a:solidFill>
                <a:latin typeface="Times New Roman" panose="02020603050405020304" pitchFamily="18" charset="0"/>
                <a:cs typeface="Times New Roman" panose="02020603050405020304" pitchFamily="18" charset="0"/>
              </a:rPr>
              <a:t>在</a:t>
            </a:r>
            <a:r>
              <a:rPr kumimoji="1" lang="zh-CN" altLang="en-US" sz="2400" b="1" u="none" dirty="0">
                <a:solidFill>
                  <a:srgbClr val="990000"/>
                </a:solidFill>
                <a:latin typeface="Times New Roman" panose="02020603050405020304" pitchFamily="18" charset="0"/>
                <a:cs typeface="Times New Roman" panose="02020603050405020304" pitchFamily="18" charset="0"/>
              </a:rPr>
              <a:t>势垒</a:t>
            </a:r>
            <a:r>
              <a:rPr kumimoji="1" lang="zh-CN" altLang="en-US" sz="2400" b="1" u="none" dirty="0">
                <a:solidFill>
                  <a:schemeClr val="tx2"/>
                </a:solidFill>
                <a:latin typeface="Times New Roman" panose="02020603050405020304" pitchFamily="18" charset="0"/>
                <a:cs typeface="Times New Roman" panose="02020603050405020304" pitchFamily="18" charset="0"/>
              </a:rPr>
              <a:t>区</a:t>
            </a:r>
            <a:r>
              <a:rPr kumimoji="1" lang="zh-CN" altLang="en-US" sz="2400" b="1" u="none" dirty="0">
                <a:solidFill>
                  <a:srgbClr val="000000"/>
                </a:solidFill>
                <a:latin typeface="Times New Roman" panose="02020603050405020304" pitchFamily="18" charset="0"/>
                <a:cs typeface="Times New Roman" panose="02020603050405020304" pitchFamily="18" charset="0"/>
              </a:rPr>
              <a:t>：忽略产生</a:t>
            </a:r>
            <a:r>
              <a:rPr kumimoji="1" lang="en-US" altLang="zh-CN" sz="2400" b="1" u="none" dirty="0">
                <a:solidFill>
                  <a:srgbClr val="000000"/>
                </a:solidFill>
                <a:latin typeface="Times New Roman" panose="02020603050405020304" pitchFamily="18" charset="0"/>
                <a:cs typeface="Times New Roman" panose="02020603050405020304" pitchFamily="18" charset="0"/>
              </a:rPr>
              <a:t>-</a:t>
            </a:r>
            <a:r>
              <a:rPr kumimoji="1" lang="zh-CN" altLang="en-US" sz="2400" b="1" u="none" dirty="0">
                <a:solidFill>
                  <a:srgbClr val="000000"/>
                </a:solidFill>
                <a:latin typeface="Times New Roman" panose="02020603050405020304" pitchFamily="18" charset="0"/>
                <a:cs typeface="Times New Roman" panose="02020603050405020304" pitchFamily="18" charset="0"/>
              </a:rPr>
              <a:t>复合，近似认为</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a:t>
            </a:r>
            <a:r>
              <a:rPr kumimoji="1" lang="en-US" altLang="zh-CN" sz="2400" b="1" u="none" baseline="30000" dirty="0" err="1">
                <a:solidFill>
                  <a:srgbClr val="000000"/>
                </a:solidFill>
                <a:latin typeface="Times New Roman" panose="02020603050405020304" pitchFamily="18" charset="0"/>
                <a:cs typeface="Times New Roman" panose="02020603050405020304" pitchFamily="18" charset="0"/>
              </a:rPr>
              <a:t>p</a:t>
            </a:r>
            <a:r>
              <a:rPr kumimoji="1" lang="en-US" altLang="zh-CN" sz="2400" b="1" u="none" baseline="30000" dirty="0">
                <a:solidFill>
                  <a:srgbClr val="000000"/>
                </a:solidFill>
                <a:latin typeface="Times New Roman" panose="02020603050405020304" pitchFamily="18" charset="0"/>
                <a:cs typeface="Times New Roman" panose="02020603050405020304" pitchFamily="18" charset="0"/>
              </a:rPr>
              <a:t> </a:t>
            </a: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Fp</a:t>
            </a:r>
            <a:endParaRPr kumimoji="1" lang="en-US" altLang="zh-CN" sz="2400" b="1" u="none" dirty="0">
              <a:solidFill>
                <a:srgbClr val="000000"/>
              </a:solidFill>
              <a:latin typeface="Times New Roman" panose="02020603050405020304" pitchFamily="18" charset="0"/>
              <a:cs typeface="Times New Roman" panose="02020603050405020304" pitchFamily="18" charset="0"/>
            </a:endParaRPr>
          </a:p>
          <a:p>
            <a:pPr>
              <a:buClr>
                <a:srgbClr val="990000"/>
              </a:buClr>
              <a:buFontTx/>
              <a:buChar char="•"/>
            </a:pP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a:solidFill>
                  <a:srgbClr val="000000"/>
                </a:solidFill>
                <a:latin typeface="Times New Roman" panose="02020603050405020304" pitchFamily="18" charset="0"/>
                <a:cs typeface="Times New Roman" panose="02020603050405020304" pitchFamily="18" charset="0"/>
              </a:rPr>
              <a:t>在</a:t>
            </a:r>
            <a:r>
              <a:rPr kumimoji="1" lang="en-US" altLang="zh-CN" sz="2400" b="1" u="none" dirty="0">
                <a:solidFill>
                  <a:srgbClr val="990000"/>
                </a:solidFill>
                <a:latin typeface="Times New Roman" panose="02020603050405020304" pitchFamily="18" charset="0"/>
                <a:cs typeface="Times New Roman" panose="02020603050405020304" pitchFamily="18" charset="0"/>
              </a:rPr>
              <a:t>n</a:t>
            </a:r>
            <a:r>
              <a:rPr kumimoji="1" lang="zh-CN" altLang="en-US" sz="2400" b="1" u="none" dirty="0">
                <a:solidFill>
                  <a:srgbClr val="990000"/>
                </a:solidFill>
                <a:latin typeface="Times New Roman" panose="02020603050405020304" pitchFamily="18" charset="0"/>
                <a:cs typeface="Times New Roman" panose="02020603050405020304" pitchFamily="18" charset="0"/>
              </a:rPr>
              <a:t>型</a:t>
            </a:r>
            <a:r>
              <a:rPr kumimoji="1" lang="zh-CN" altLang="en-US" sz="2400" b="1" u="none" dirty="0">
                <a:solidFill>
                  <a:schemeClr val="tx2"/>
                </a:solidFill>
                <a:latin typeface="Times New Roman" panose="02020603050405020304" pitchFamily="18" charset="0"/>
                <a:cs typeface="Times New Roman" panose="02020603050405020304" pitchFamily="18" charset="0"/>
              </a:rPr>
              <a:t>区</a:t>
            </a:r>
            <a:r>
              <a:rPr kumimoji="1" lang="zh-CN" altLang="en-US" sz="2400" b="1" u="none" dirty="0">
                <a:solidFill>
                  <a:srgbClr val="000000"/>
                </a:solidFill>
                <a:latin typeface="Times New Roman" panose="02020603050405020304" pitchFamily="18" charset="0"/>
                <a:cs typeface="Times New Roman" panose="02020603050405020304" pitchFamily="18" charset="0"/>
              </a:rPr>
              <a:t>：空穴为少子，</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E</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F</a:t>
            </a:r>
            <a:r>
              <a:rPr kumimoji="1" lang="en-US" altLang="zh-CN" sz="2400" b="1" u="none" baseline="30000" dirty="0" err="1">
                <a:solidFill>
                  <a:srgbClr val="000000"/>
                </a:solidFill>
                <a:latin typeface="Times New Roman" panose="02020603050405020304" pitchFamily="18" charset="0"/>
                <a:cs typeface="Times New Roman" panose="02020603050405020304" pitchFamily="18" charset="0"/>
              </a:rPr>
              <a:t>p</a:t>
            </a:r>
            <a:r>
              <a:rPr kumimoji="1" lang="en-US" altLang="zh-CN" sz="2400" b="1" u="none" baseline="30000"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a:solidFill>
                  <a:srgbClr val="000000"/>
                </a:solidFill>
                <a:latin typeface="Times New Roman" panose="02020603050405020304" pitchFamily="18" charset="0"/>
                <a:cs typeface="Times New Roman" panose="02020603050405020304" pitchFamily="18" charset="0"/>
              </a:rPr>
              <a:t>主要降在</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L</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p</a:t>
            </a:r>
            <a:r>
              <a:rPr kumimoji="1" lang="zh-CN" altLang="en-US" sz="2400" b="1" u="none" dirty="0">
                <a:solidFill>
                  <a:srgbClr val="000000"/>
                </a:solidFill>
                <a:latin typeface="Times New Roman" panose="02020603050405020304" pitchFamily="18" charset="0"/>
                <a:cs typeface="Times New Roman" panose="02020603050405020304" pitchFamily="18" charset="0"/>
              </a:rPr>
              <a:t>内。</a:t>
            </a:r>
            <a:endParaRPr kumimoji="1" lang="zh-CN" altLang="en-US" sz="2400" u="none" dirty="0">
              <a:latin typeface="Times New Roman" panose="02020603050405020304" pitchFamily="18" charset="0"/>
              <a:cs typeface="Times New Roman" panose="02020603050405020304" pitchFamily="18" charset="0"/>
            </a:endParaRPr>
          </a:p>
          <a:p>
            <a:pPr algn="just">
              <a:buClr>
                <a:schemeClr val="tx1"/>
              </a:buClr>
              <a:buFont typeface="Wingdings" panose="05000000000000000000" pitchFamily="2" charset="2"/>
              <a:buNone/>
            </a:pPr>
            <a:endParaRPr kumimoji="1" lang="en-US" altLang="zh-CN" sz="2400" b="1" u="none" dirty="0">
              <a:solidFill>
                <a:srgbClr val="000000"/>
              </a:solidFill>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2393590945"/>
              </p:ext>
            </p:extLst>
          </p:nvPr>
        </p:nvGraphicFramePr>
        <p:xfrm>
          <a:off x="1199536" y="2635096"/>
          <a:ext cx="6915868" cy="3379955"/>
        </p:xfrm>
        <a:graphic>
          <a:graphicData uri="http://schemas.openxmlformats.org/presentationml/2006/ole">
            <mc:AlternateContent xmlns:mc="http://schemas.openxmlformats.org/markup-compatibility/2006">
              <mc:Choice xmlns:v="urn:schemas-microsoft-com:vml" Requires="v">
                <p:oleObj spid="_x0000_s42029" name="BMP 图象" r:id="rId3" imgW="7602011" imgH="3715269" progId="PBrush">
                  <p:embed/>
                </p:oleObj>
              </mc:Choice>
              <mc:Fallback>
                <p:oleObj name="BMP 图象" r:id="rId3" imgW="7602011" imgH="3715269" progId="PBrush">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9536" y="2635096"/>
                        <a:ext cx="6915868" cy="3379955"/>
                      </a:xfrm>
                      <a:prstGeom prst="rect">
                        <a:avLst/>
                      </a:prstGeom>
                      <a:noFill/>
                      <a:ln>
                        <a:noFill/>
                      </a:ln>
                    </p:spPr>
                  </p:pic>
                </p:oleObj>
              </mc:Fallback>
            </mc:AlternateContent>
          </a:graphicData>
        </a:graphic>
      </p:graphicFrame>
      <p:sp>
        <p:nvSpPr>
          <p:cNvPr id="5" name="Text Box 8"/>
          <p:cNvSpPr txBox="1">
            <a:spLocks noChangeArrowheads="1"/>
          </p:cNvSpPr>
          <p:nvPr/>
        </p:nvSpPr>
        <p:spPr bwMode="auto">
          <a:xfrm>
            <a:off x="2650665" y="6182915"/>
            <a:ext cx="3671887" cy="457200"/>
          </a:xfrm>
          <a:prstGeom prst="rect">
            <a:avLst/>
          </a:prstGeom>
          <a:noFill/>
          <a:ln w="38100" cap="sq">
            <a:noFill/>
            <a:miter lim="800000"/>
            <a:headEnd type="none" w="sm" len="sm"/>
            <a:tailEnd type="none" w="sm" len="sm"/>
          </a:ln>
        </p:spPr>
        <p:txBody>
          <a:bodyPr>
            <a:spAutoFit/>
          </a:bodyPr>
          <a:lstStyle/>
          <a:p>
            <a:pPr algn="ctr"/>
            <a:r>
              <a:rPr kumimoji="1" lang="zh-CN" altLang="en-US" sz="2400" b="1" dirty="0">
                <a:latin typeface="Times New Roman" pitchFamily="18" charset="0"/>
                <a:ea typeface="宋体" pitchFamily="2" charset="-122"/>
              </a:rPr>
              <a:t>正向偏置情形</a:t>
            </a:r>
          </a:p>
        </p:txBody>
      </p:sp>
    </p:spTree>
    <p:extLst>
      <p:ext uri="{BB962C8B-B14F-4D97-AF65-F5344CB8AC3E}">
        <p14:creationId xmlns:p14="http://schemas.microsoft.com/office/powerpoint/2010/main" val="3842841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a:t>
            </a:fld>
            <a:endParaRPr lang="zh-CN" altLang="en-US"/>
          </a:p>
        </p:txBody>
      </p:sp>
      <p:graphicFrame>
        <p:nvGraphicFramePr>
          <p:cNvPr id="4" name="Object 2"/>
          <p:cNvGraphicFramePr>
            <a:graphicFrameLocks noChangeAspect="1"/>
          </p:cNvGraphicFramePr>
          <p:nvPr>
            <p:extLst>
              <p:ext uri="{D42A27DB-BD31-4B8C-83A1-F6EECF244321}">
                <p14:modId xmlns:p14="http://schemas.microsoft.com/office/powerpoint/2010/main" val="1413708455"/>
              </p:ext>
            </p:extLst>
          </p:nvPr>
        </p:nvGraphicFramePr>
        <p:xfrm>
          <a:off x="1296578" y="256386"/>
          <a:ext cx="6972350" cy="3641622"/>
        </p:xfrm>
        <a:graphic>
          <a:graphicData uri="http://schemas.openxmlformats.org/presentationml/2006/ole">
            <mc:AlternateContent xmlns:mc="http://schemas.openxmlformats.org/markup-compatibility/2006">
              <mc:Choice xmlns:v="urn:schemas-microsoft-com:vml" Requires="v">
                <p:oleObj spid="_x0000_s41048" name="BMP 图象" r:id="rId3" imgW="7314286" imgH="3820058" progId="PBrush">
                  <p:embed/>
                </p:oleObj>
              </mc:Choice>
              <mc:Fallback>
                <p:oleObj name="BMP 图象" r:id="rId3" imgW="7314286" imgH="3820058" progId="PBrush">
                  <p:embed/>
                  <p:pic>
                    <p:nvPicPr>
                      <p:cNvPr id="6246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578" y="256386"/>
                        <a:ext cx="6972350" cy="3641622"/>
                      </a:xfrm>
                      <a:prstGeom prst="rect">
                        <a:avLst/>
                      </a:prstGeom>
                      <a:noFill/>
                      <a:ln>
                        <a:noFill/>
                      </a:ln>
                    </p:spPr>
                  </p:pic>
                </p:oleObj>
              </mc:Fallback>
            </mc:AlternateContent>
          </a:graphicData>
        </a:graphic>
      </p:graphicFrame>
      <p:sp>
        <p:nvSpPr>
          <p:cNvPr id="5" name="Text Box 9"/>
          <p:cNvSpPr txBox="1">
            <a:spLocks noChangeArrowheads="1"/>
          </p:cNvSpPr>
          <p:nvPr/>
        </p:nvSpPr>
        <p:spPr bwMode="auto">
          <a:xfrm>
            <a:off x="3210898" y="4027641"/>
            <a:ext cx="2922587" cy="457200"/>
          </a:xfrm>
          <a:prstGeom prst="rect">
            <a:avLst/>
          </a:prstGeom>
          <a:noFill/>
          <a:ln w="38100" cap="sq">
            <a:noFill/>
            <a:miter lim="800000"/>
            <a:headEnd type="none" w="sm" len="sm"/>
            <a:tailEnd type="none" w="sm" len="sm"/>
          </a:ln>
        </p:spPr>
        <p:txBody>
          <a:bodyPr>
            <a:spAutoFit/>
          </a:bodyPr>
          <a:lstStyle/>
          <a:p>
            <a:pPr algn="ctr"/>
            <a:r>
              <a:rPr kumimoji="1" lang="zh-CN" altLang="en-US" sz="2400" b="1">
                <a:latin typeface="Times New Roman" pitchFamily="18" charset="0"/>
                <a:ea typeface="宋体" pitchFamily="2" charset="-122"/>
              </a:rPr>
              <a:t>反向偏置情形</a:t>
            </a:r>
          </a:p>
        </p:txBody>
      </p:sp>
      <p:graphicFrame>
        <p:nvGraphicFramePr>
          <p:cNvPr id="6" name="Object 13"/>
          <p:cNvGraphicFramePr>
            <a:graphicFrameLocks noChangeAspect="1"/>
          </p:cNvGraphicFramePr>
          <p:nvPr>
            <p:extLst>
              <p:ext uri="{D42A27DB-BD31-4B8C-83A1-F6EECF244321}">
                <p14:modId xmlns:p14="http://schemas.microsoft.com/office/powerpoint/2010/main" val="320629059"/>
              </p:ext>
            </p:extLst>
          </p:nvPr>
        </p:nvGraphicFramePr>
        <p:xfrm>
          <a:off x="2405241" y="4890883"/>
          <a:ext cx="4486275" cy="762000"/>
        </p:xfrm>
        <a:graphic>
          <a:graphicData uri="http://schemas.openxmlformats.org/presentationml/2006/ole">
            <mc:AlternateContent xmlns:mc="http://schemas.openxmlformats.org/markup-compatibility/2006">
              <mc:Choice xmlns:v="urn:schemas-microsoft-com:vml" Requires="v">
                <p:oleObj spid="_x0000_s41049" name="Equation" r:id="rId5" imgW="1790700" imgH="304800" progId="Equation.DSMT4">
                  <p:embed/>
                </p:oleObj>
              </mc:Choice>
              <mc:Fallback>
                <p:oleObj name="Equation" r:id="rId5" imgW="1790700" imgH="304800" progId="Equation.DSMT4">
                  <p:embed/>
                  <p:pic>
                    <p:nvPicPr>
                      <p:cNvPr id="37899"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241" y="4890883"/>
                        <a:ext cx="4486275" cy="762000"/>
                      </a:xfrm>
                      <a:prstGeom prst="rect">
                        <a:avLst/>
                      </a:prstGeom>
                      <a:solidFill>
                        <a:srgbClr val="FFFFFF"/>
                      </a:solidFill>
                    </p:spPr>
                  </p:pic>
                </p:oleObj>
              </mc:Fallback>
            </mc:AlternateContent>
          </a:graphicData>
        </a:graphic>
      </p:graphicFrame>
      <p:sp>
        <p:nvSpPr>
          <p:cNvPr id="7" name="Text Box 14"/>
          <p:cNvSpPr txBox="1">
            <a:spLocks noChangeArrowheads="1"/>
          </p:cNvSpPr>
          <p:nvPr/>
        </p:nvSpPr>
        <p:spPr bwMode="auto">
          <a:xfrm>
            <a:off x="1941691" y="5641770"/>
            <a:ext cx="5461000" cy="457200"/>
          </a:xfrm>
          <a:prstGeom prst="rect">
            <a:avLst/>
          </a:prstGeom>
          <a:noFill/>
          <a:ln w="38100" cap="sq">
            <a:noFill/>
            <a:miter lim="800000"/>
            <a:headEnd type="none" w="sm" len="sm"/>
            <a:tailEnd type="none" w="sm" len="sm"/>
          </a:ln>
        </p:spPr>
        <p:txBody>
          <a:bodyPr>
            <a:spAutoFit/>
          </a:bodyPr>
          <a:lstStyle/>
          <a:p>
            <a:pPr>
              <a:spcBef>
                <a:spcPct val="50000"/>
              </a:spcBef>
            </a:pPr>
            <a:r>
              <a:rPr kumimoji="1" lang="zh-CN" altLang="en-US" sz="2400" b="1">
                <a:latin typeface="Times New Roman" pitchFamily="18" charset="0"/>
                <a:ea typeface="宋体" pitchFamily="2" charset="-122"/>
              </a:rPr>
              <a:t>过剩载流子浓度与准费米能级的差相关</a:t>
            </a:r>
          </a:p>
        </p:txBody>
      </p:sp>
    </p:spTree>
    <p:extLst>
      <p:ext uri="{BB962C8B-B14F-4D97-AF65-F5344CB8AC3E}">
        <p14:creationId xmlns:p14="http://schemas.microsoft.com/office/powerpoint/2010/main" val="3605257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a:t>
            </a:fld>
            <a:endParaRPr lang="zh-CN" altLang="en-US"/>
          </a:p>
        </p:txBody>
      </p:sp>
      <p:graphicFrame>
        <p:nvGraphicFramePr>
          <p:cNvPr id="12" name="Object 5"/>
          <p:cNvGraphicFramePr>
            <a:graphicFrameLocks noChangeAspect="1"/>
          </p:cNvGraphicFramePr>
          <p:nvPr>
            <p:extLst>
              <p:ext uri="{D42A27DB-BD31-4B8C-83A1-F6EECF244321}">
                <p14:modId xmlns:p14="http://schemas.microsoft.com/office/powerpoint/2010/main" val="1849260728"/>
              </p:ext>
            </p:extLst>
          </p:nvPr>
        </p:nvGraphicFramePr>
        <p:xfrm>
          <a:off x="1825165" y="325336"/>
          <a:ext cx="1943100" cy="479425"/>
        </p:xfrm>
        <a:graphic>
          <a:graphicData uri="http://schemas.openxmlformats.org/presentationml/2006/ole">
            <mc:AlternateContent xmlns:mc="http://schemas.openxmlformats.org/markup-compatibility/2006">
              <mc:Choice xmlns:v="urn:schemas-microsoft-com:vml" Requires="v">
                <p:oleObj spid="_x0000_s43178" name="Equation" r:id="rId3" imgW="990170" imgH="241195" progId="Equation.DSMT4">
                  <p:embed/>
                </p:oleObj>
              </mc:Choice>
              <mc:Fallback>
                <p:oleObj name="Equation" r:id="rId3" imgW="990170" imgH="241195" progId="Equation.DSMT4">
                  <p:embed/>
                  <p:pic>
                    <p:nvPicPr>
                      <p:cNvPr id="4301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165" y="325336"/>
                        <a:ext cx="1943100" cy="479425"/>
                      </a:xfrm>
                      <a:prstGeom prst="rect">
                        <a:avLst/>
                      </a:prstGeom>
                      <a:solidFill>
                        <a:srgbClr val="FFFFFF"/>
                      </a:solidFill>
                    </p:spPr>
                  </p:pic>
                </p:oleObj>
              </mc:Fallback>
            </mc:AlternateContent>
          </a:graphicData>
        </a:graphic>
      </p:graphicFrame>
      <p:sp>
        <p:nvSpPr>
          <p:cNvPr id="13" name="Text Box 9"/>
          <p:cNvSpPr txBox="1">
            <a:spLocks noChangeArrowheads="1"/>
          </p:cNvSpPr>
          <p:nvPr/>
        </p:nvSpPr>
        <p:spPr bwMode="auto">
          <a:xfrm>
            <a:off x="372602" y="833336"/>
            <a:ext cx="6184900" cy="1000980"/>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由此获得过剩少子浓度与平衡少子浓度满足关系：</a:t>
            </a:r>
          </a:p>
        </p:txBody>
      </p:sp>
      <p:sp>
        <p:nvSpPr>
          <p:cNvPr id="14" name="Text Box 10"/>
          <p:cNvSpPr txBox="1">
            <a:spLocks noChangeArrowheads="1"/>
          </p:cNvSpPr>
          <p:nvPr/>
        </p:nvSpPr>
        <p:spPr bwMode="auto">
          <a:xfrm>
            <a:off x="372602" y="280886"/>
            <a:ext cx="1485900" cy="1000980"/>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满足关系：</a:t>
            </a:r>
          </a:p>
        </p:txBody>
      </p:sp>
      <p:graphicFrame>
        <p:nvGraphicFramePr>
          <p:cNvPr id="15" name="Object 11"/>
          <p:cNvGraphicFramePr>
            <a:graphicFrameLocks noChangeAspect="1"/>
          </p:cNvGraphicFramePr>
          <p:nvPr>
            <p:extLst>
              <p:ext uri="{D42A27DB-BD31-4B8C-83A1-F6EECF244321}">
                <p14:modId xmlns:p14="http://schemas.microsoft.com/office/powerpoint/2010/main" val="1047640082"/>
              </p:ext>
            </p:extLst>
          </p:nvPr>
        </p:nvGraphicFramePr>
        <p:xfrm>
          <a:off x="1312402" y="2906611"/>
          <a:ext cx="871538" cy="474662"/>
        </p:xfrm>
        <a:graphic>
          <a:graphicData uri="http://schemas.openxmlformats.org/presentationml/2006/ole">
            <mc:AlternateContent xmlns:mc="http://schemas.openxmlformats.org/markup-compatibility/2006">
              <mc:Choice xmlns:v="urn:schemas-microsoft-com:vml" Requires="v">
                <p:oleObj spid="_x0000_s43179" name="Equation" r:id="rId5" imgW="419100" imgH="228600" progId="Equation.DSMT4">
                  <p:embed/>
                </p:oleObj>
              </mc:Choice>
              <mc:Fallback>
                <p:oleObj name="Equation" r:id="rId5" imgW="419100" imgH="228600" progId="Equation.DSMT4">
                  <p:embed/>
                  <p:pic>
                    <p:nvPicPr>
                      <p:cNvPr id="4301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2402" y="2906611"/>
                        <a:ext cx="871538" cy="474662"/>
                      </a:xfrm>
                      <a:prstGeom prst="rect">
                        <a:avLst/>
                      </a:prstGeom>
                      <a:solidFill>
                        <a:srgbClr val="FFFFFF"/>
                      </a:solidFill>
                    </p:spPr>
                  </p:pic>
                </p:oleObj>
              </mc:Fallback>
            </mc:AlternateContent>
          </a:graphicData>
        </a:graphic>
      </p:graphicFrame>
      <p:sp>
        <p:nvSpPr>
          <p:cNvPr id="16" name="Text Box 12"/>
          <p:cNvSpPr txBox="1">
            <a:spLocks noChangeArrowheads="1"/>
          </p:cNvSpPr>
          <p:nvPr/>
        </p:nvSpPr>
        <p:spPr bwMode="auto">
          <a:xfrm>
            <a:off x="2363327" y="2930423"/>
            <a:ext cx="2690454" cy="461665"/>
          </a:xfrm>
          <a:prstGeom prst="rect">
            <a:avLst/>
          </a:prstGeom>
          <a:noFill/>
          <a:ln w="38100" cap="sq">
            <a:noFill/>
            <a:miter lim="800000"/>
            <a:headEnd type="none" w="sm" len="sm"/>
            <a:tailEnd type="none" w="sm" len="sm"/>
          </a:ln>
        </p:spPr>
        <p:txBody>
          <a:bodyPr wrap="square">
            <a:spAutoFit/>
          </a:bodyPr>
          <a:lstStyle/>
          <a:p>
            <a:pPr defTabSz="914400" eaLnBrk="0" fontAlgn="base" hangingPunct="0">
              <a:spcBef>
                <a:spcPct val="50000"/>
              </a:spcBef>
              <a:spcAft>
                <a:spcPct val="0"/>
              </a:spcAft>
            </a:pPr>
            <a:r>
              <a:rPr kumimoji="1" lang="zh-CN" altLang="en-US" sz="2400" b="1" dirty="0">
                <a:solidFill>
                  <a:srgbClr val="000000"/>
                </a:solidFill>
                <a:latin typeface="Times New Roman" pitchFamily="18" charset="0"/>
                <a:ea typeface="宋体" pitchFamily="2" charset="-122"/>
              </a:rPr>
              <a:t>过剩载流子注入</a:t>
            </a:r>
          </a:p>
        </p:txBody>
      </p:sp>
      <p:graphicFrame>
        <p:nvGraphicFramePr>
          <p:cNvPr id="17" name="Object 13"/>
          <p:cNvGraphicFramePr>
            <a:graphicFrameLocks noChangeAspect="1"/>
          </p:cNvGraphicFramePr>
          <p:nvPr>
            <p:extLst>
              <p:ext uri="{D42A27DB-BD31-4B8C-83A1-F6EECF244321}">
                <p14:modId xmlns:p14="http://schemas.microsoft.com/office/powerpoint/2010/main" val="1052168788"/>
              </p:ext>
            </p:extLst>
          </p:nvPr>
        </p:nvGraphicFramePr>
        <p:xfrm>
          <a:off x="1277477" y="3533673"/>
          <a:ext cx="873125" cy="476250"/>
        </p:xfrm>
        <a:graphic>
          <a:graphicData uri="http://schemas.openxmlformats.org/presentationml/2006/ole">
            <mc:AlternateContent xmlns:mc="http://schemas.openxmlformats.org/markup-compatibility/2006">
              <mc:Choice xmlns:v="urn:schemas-microsoft-com:vml" Requires="v">
                <p:oleObj spid="_x0000_s43180" name="Equation" r:id="rId7" imgW="419100" imgH="228600" progId="Equation.DSMT4">
                  <p:embed/>
                </p:oleObj>
              </mc:Choice>
              <mc:Fallback>
                <p:oleObj name="Equation" r:id="rId7" imgW="419100" imgH="228600" progId="Equation.DSMT4">
                  <p:embed/>
                  <p:pic>
                    <p:nvPicPr>
                      <p:cNvPr id="43019"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7477" y="3533673"/>
                        <a:ext cx="873125" cy="476250"/>
                      </a:xfrm>
                      <a:prstGeom prst="rect">
                        <a:avLst/>
                      </a:prstGeom>
                      <a:solidFill>
                        <a:srgbClr val="FFFFFF"/>
                      </a:solidFill>
                    </p:spPr>
                  </p:pic>
                </p:oleObj>
              </mc:Fallback>
            </mc:AlternateContent>
          </a:graphicData>
        </a:graphic>
      </p:graphicFrame>
      <p:sp>
        <p:nvSpPr>
          <p:cNvPr id="18" name="Text Box 14"/>
          <p:cNvSpPr txBox="1">
            <a:spLocks noChangeArrowheads="1"/>
          </p:cNvSpPr>
          <p:nvPr/>
        </p:nvSpPr>
        <p:spPr bwMode="auto">
          <a:xfrm>
            <a:off x="2342689" y="3555898"/>
            <a:ext cx="2937233" cy="461665"/>
          </a:xfrm>
          <a:prstGeom prst="rect">
            <a:avLst/>
          </a:prstGeom>
          <a:noFill/>
          <a:ln w="38100" cap="sq">
            <a:noFill/>
            <a:miter lim="800000"/>
            <a:headEnd type="none" w="sm" len="sm"/>
            <a:tailEnd type="none" w="sm" len="sm"/>
          </a:ln>
        </p:spPr>
        <p:txBody>
          <a:bodyPr wrap="square">
            <a:spAutoFit/>
          </a:bodyPr>
          <a:lstStyle/>
          <a:p>
            <a:pPr defTabSz="914400" eaLnBrk="0" fontAlgn="base" hangingPunct="0">
              <a:spcBef>
                <a:spcPct val="50000"/>
              </a:spcBef>
              <a:spcAft>
                <a:spcPct val="0"/>
              </a:spcAft>
            </a:pPr>
            <a:r>
              <a:rPr kumimoji="1" lang="zh-CN" altLang="en-US" sz="2400" b="1" dirty="0">
                <a:solidFill>
                  <a:srgbClr val="000000"/>
                </a:solidFill>
                <a:latin typeface="Times New Roman" pitchFamily="18" charset="0"/>
                <a:ea typeface="宋体" pitchFamily="2" charset="-122"/>
              </a:rPr>
              <a:t>过剩载流子抽取</a:t>
            </a:r>
          </a:p>
        </p:txBody>
      </p:sp>
      <p:sp>
        <p:nvSpPr>
          <p:cNvPr id="19" name="Text Box 15"/>
          <p:cNvSpPr txBox="1">
            <a:spLocks noChangeArrowheads="1"/>
          </p:cNvSpPr>
          <p:nvPr/>
        </p:nvSpPr>
        <p:spPr bwMode="auto">
          <a:xfrm>
            <a:off x="5844715" y="1465161"/>
            <a:ext cx="2801937" cy="3346237"/>
          </a:xfrm>
          <a:prstGeom prst="rect">
            <a:avLst/>
          </a:prstGeom>
          <a:noFill/>
          <a:ln w="57150" cap="sq" cmpd="thinThick">
            <a:solidFill>
              <a:srgbClr val="333399"/>
            </a:solidFill>
            <a:miter lim="800000"/>
            <a:headEnd type="none" w="sm" len="sm"/>
            <a:tailEnd type="none" w="sm" len="sm"/>
          </a:ln>
        </p:spPr>
        <p:txBody>
          <a:bodyPr>
            <a:spAutoFit/>
          </a:bodyPr>
          <a:lstStyle/>
          <a:p>
            <a:pPr marL="0" marR="0" lvl="0" indent="0" defTabSz="914400" eaLnBrk="0" fontAlgn="base" latinLnBrk="0" hangingPunct="0">
              <a:lnSpc>
                <a:spcPct val="150000"/>
              </a:lnSpc>
              <a:spcBef>
                <a:spcPct val="50000"/>
              </a:spcBef>
              <a:spcAft>
                <a:spcPct val="0"/>
              </a:spcAft>
              <a:buClrTx/>
              <a:buSzTx/>
              <a:buFontTx/>
              <a:buNone/>
              <a:tabLst/>
              <a:defRPr/>
            </a:pPr>
            <a:r>
              <a:rPr kumimoji="1" lang="zh-CN" altLang="en-US" sz="2400" b="1" i="0" u="none" strike="noStrike" kern="0" cap="none" spc="0" normalizeH="0" baseline="0" noProof="0" smtClean="0">
                <a:ln>
                  <a:noFill/>
                </a:ln>
                <a:solidFill>
                  <a:srgbClr val="FF0000"/>
                </a:solidFill>
                <a:effectLst/>
                <a:uLnTx/>
                <a:uFillTx/>
                <a:latin typeface="Times New Roman" pitchFamily="18" charset="0"/>
                <a:ea typeface="宋体" pitchFamily="2" charset="-122"/>
              </a:rPr>
              <a:t>这也是一个非常重要的</a:t>
            </a:r>
            <a:r>
              <a:rPr kumimoji="1" lang="en-US" altLang="zh-CN" sz="2400" b="1" i="0" u="none" strike="noStrike" kern="0" cap="none" spc="0" normalizeH="0" baseline="0" noProof="0" smtClean="0">
                <a:ln>
                  <a:noFill/>
                </a:ln>
                <a:solidFill>
                  <a:srgbClr val="FF0000"/>
                </a:solidFill>
                <a:effectLst/>
                <a:uLnTx/>
                <a:uFillTx/>
                <a:latin typeface="Times New Roman" pitchFamily="18" charset="0"/>
                <a:ea typeface="宋体" pitchFamily="2" charset="-122"/>
              </a:rPr>
              <a:t>PN</a:t>
            </a:r>
            <a:r>
              <a:rPr kumimoji="1" lang="zh-CN" altLang="en-US" sz="2400" b="1" i="0" u="none" strike="noStrike" kern="0" cap="none" spc="0" normalizeH="0" baseline="0" noProof="0" smtClean="0">
                <a:ln>
                  <a:noFill/>
                </a:ln>
                <a:solidFill>
                  <a:srgbClr val="FF0000"/>
                </a:solidFill>
                <a:effectLst/>
                <a:uLnTx/>
                <a:uFillTx/>
                <a:latin typeface="Times New Roman" pitchFamily="18" charset="0"/>
                <a:ea typeface="宋体" pitchFamily="2" charset="-122"/>
              </a:rPr>
              <a:t>结边界条件，把耗尽层边界注入少子的浓度与平衡少子浓度及结上所加偏压联系起来</a:t>
            </a:r>
          </a:p>
        </p:txBody>
      </p:sp>
      <p:graphicFrame>
        <p:nvGraphicFramePr>
          <p:cNvPr id="20" name="Object 17"/>
          <p:cNvGraphicFramePr>
            <a:graphicFrameLocks noChangeAspect="1"/>
          </p:cNvGraphicFramePr>
          <p:nvPr>
            <p:extLst>
              <p:ext uri="{D42A27DB-BD31-4B8C-83A1-F6EECF244321}">
                <p14:modId xmlns:p14="http://schemas.microsoft.com/office/powerpoint/2010/main" val="1016317715"/>
              </p:ext>
            </p:extLst>
          </p:nvPr>
        </p:nvGraphicFramePr>
        <p:xfrm>
          <a:off x="372602" y="1393723"/>
          <a:ext cx="5337175" cy="1092200"/>
        </p:xfrm>
        <a:graphic>
          <a:graphicData uri="http://schemas.openxmlformats.org/presentationml/2006/ole">
            <mc:AlternateContent xmlns:mc="http://schemas.openxmlformats.org/markup-compatibility/2006">
              <mc:Choice xmlns:v="urn:schemas-microsoft-com:vml" Requires="v">
                <p:oleObj spid="_x0000_s43181" name="Equation" r:id="rId9" imgW="2565400" imgH="508000" progId="Equation.DSMT4">
                  <p:embed/>
                </p:oleObj>
              </mc:Choice>
              <mc:Fallback>
                <p:oleObj name="Equation" r:id="rId9" imgW="2565400" imgH="508000" progId="Equation.DSMT4">
                  <p:embed/>
                  <p:pic>
                    <p:nvPicPr>
                      <p:cNvPr id="43022"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2602" y="1393723"/>
                        <a:ext cx="5337175" cy="1092200"/>
                      </a:xfrm>
                      <a:prstGeom prst="rect">
                        <a:avLst/>
                      </a:prstGeom>
                      <a:solidFill>
                        <a:srgbClr val="FFFFFF"/>
                      </a:solidFill>
                    </p:spPr>
                  </p:pic>
                </p:oleObj>
              </mc:Fallback>
            </mc:AlternateContent>
          </a:graphicData>
        </a:graphic>
      </p:graphicFrame>
      <p:sp>
        <p:nvSpPr>
          <p:cNvPr id="21" name="Text Box 10"/>
          <p:cNvSpPr txBox="1">
            <a:spLocks noChangeArrowheads="1"/>
          </p:cNvSpPr>
          <p:nvPr/>
        </p:nvSpPr>
        <p:spPr bwMode="auto">
          <a:xfrm>
            <a:off x="535372" y="5255898"/>
            <a:ext cx="8111280" cy="1311128"/>
          </a:xfrm>
          <a:prstGeom prst="rect">
            <a:avLst/>
          </a:prstGeom>
          <a:noFill/>
          <a:ln w="38100" cap="sq">
            <a:noFill/>
            <a:miter lim="800000"/>
            <a:headEnd type="none" w="sm" len="sm"/>
            <a:tailEnd type="none" w="sm" len="sm"/>
          </a:ln>
        </p:spPr>
        <p:txBody>
          <a:bodyPr wrap="square">
            <a:spAutoFit/>
          </a:bodyPr>
          <a:lstStyle/>
          <a:p>
            <a:pPr>
              <a:lnSpc>
                <a:spcPct val="110000"/>
              </a:lnSpc>
              <a:spcBef>
                <a:spcPct val="50000"/>
              </a:spcBef>
            </a:pPr>
            <a:r>
              <a:rPr kumimoji="1" lang="zh-CN" altLang="en-US" sz="2400" b="1" dirty="0">
                <a:solidFill>
                  <a:srgbClr val="000000"/>
                </a:solidFill>
                <a:latin typeface="Times New Roman" pitchFamily="18" charset="0"/>
                <a:ea typeface="宋体" pitchFamily="2" charset="-122"/>
              </a:rPr>
              <a:t>由于</a:t>
            </a:r>
            <a:r>
              <a:rPr kumimoji="1" lang="zh-CN" altLang="en-US" sz="2400" b="1" dirty="0" smtClean="0">
                <a:solidFill>
                  <a:srgbClr val="000000"/>
                </a:solidFill>
                <a:latin typeface="Times New Roman" pitchFamily="18" charset="0"/>
                <a:ea typeface="宋体" pitchFamily="2" charset="-122"/>
              </a:rPr>
              <a:t>外加正（负）偏压</a:t>
            </a:r>
            <a:r>
              <a:rPr kumimoji="1" lang="zh-CN" altLang="en-US" sz="2400" b="1" dirty="0">
                <a:solidFill>
                  <a:srgbClr val="000000"/>
                </a:solidFill>
                <a:latin typeface="Times New Roman" pitchFamily="18" charset="0"/>
                <a:ea typeface="宋体" pitchFamily="2" charset="-122"/>
              </a:rPr>
              <a:t>，通过 </a:t>
            </a: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a:t>
            </a:r>
            <a:r>
              <a:rPr kumimoji="1" lang="zh-CN" altLang="en-US" sz="2400" b="1" dirty="0" smtClean="0">
                <a:solidFill>
                  <a:srgbClr val="000000"/>
                </a:solidFill>
                <a:latin typeface="Times New Roman" pitchFamily="18" charset="0"/>
                <a:ea typeface="宋体" pitchFamily="2" charset="-122"/>
              </a:rPr>
              <a:t>注入（抽取）少</a:t>
            </a:r>
            <a:r>
              <a:rPr kumimoji="1" lang="zh-CN" altLang="en-US" sz="2400" b="1" dirty="0">
                <a:solidFill>
                  <a:srgbClr val="000000"/>
                </a:solidFill>
                <a:latin typeface="Times New Roman" pitchFamily="18" charset="0"/>
                <a:ea typeface="宋体" pitchFamily="2" charset="-122"/>
              </a:rPr>
              <a:t>子，使得过剩少子浓度</a:t>
            </a:r>
            <a:r>
              <a:rPr kumimoji="1" lang="zh-CN" altLang="en-US" sz="2400" b="1" dirty="0" smtClean="0">
                <a:solidFill>
                  <a:srgbClr val="000000"/>
                </a:solidFill>
                <a:latin typeface="Times New Roman" pitchFamily="18" charset="0"/>
                <a:ea typeface="宋体" pitchFamily="2" charset="-122"/>
              </a:rPr>
              <a:t>远大（小）于</a:t>
            </a:r>
            <a:r>
              <a:rPr kumimoji="1" lang="zh-CN" altLang="en-US" sz="2400" b="1" dirty="0">
                <a:solidFill>
                  <a:srgbClr val="000000"/>
                </a:solidFill>
                <a:latin typeface="Times New Roman" pitchFamily="18" charset="0"/>
                <a:ea typeface="宋体" pitchFamily="2" charset="-122"/>
              </a:rPr>
              <a:t>平衡少子浓度，</a:t>
            </a:r>
            <a:r>
              <a:rPr kumimoji="1" lang="zh-CN" altLang="en-US" sz="2400" b="1" dirty="0" smtClean="0">
                <a:solidFill>
                  <a:srgbClr val="000000"/>
                </a:solidFill>
                <a:latin typeface="Times New Roman" pitchFamily="18" charset="0"/>
                <a:ea typeface="宋体" pitchFamily="2" charset="-122"/>
              </a:rPr>
              <a:t>注入（抽取）的</a:t>
            </a:r>
            <a:r>
              <a:rPr kumimoji="1" lang="zh-CN" altLang="en-US" sz="2400" b="1" dirty="0">
                <a:solidFill>
                  <a:srgbClr val="000000"/>
                </a:solidFill>
                <a:latin typeface="Times New Roman" pitchFamily="18" charset="0"/>
                <a:ea typeface="宋体" pitchFamily="2" charset="-122"/>
              </a:rPr>
              <a:t>少子与</a:t>
            </a: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结上所加的偏压有关</a:t>
            </a:r>
          </a:p>
        </p:txBody>
      </p:sp>
    </p:spTree>
    <p:extLst>
      <p:ext uri="{BB962C8B-B14F-4D97-AF65-F5344CB8AC3E}">
        <p14:creationId xmlns:p14="http://schemas.microsoft.com/office/powerpoint/2010/main" val="475377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a:t>
            </a:fld>
            <a:endParaRPr lang="zh-CN" altLang="en-US"/>
          </a:p>
        </p:txBody>
      </p:sp>
      <p:sp>
        <p:nvSpPr>
          <p:cNvPr id="14" name="Text Box 5"/>
          <p:cNvSpPr txBox="1">
            <a:spLocks noChangeArrowheads="1"/>
          </p:cNvSpPr>
          <p:nvPr/>
        </p:nvSpPr>
        <p:spPr bwMode="auto">
          <a:xfrm>
            <a:off x="539750" y="208422"/>
            <a:ext cx="5588000"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电流输运方程的出发点是电流连续方程。</a:t>
            </a:r>
          </a:p>
        </p:txBody>
      </p:sp>
      <p:sp>
        <p:nvSpPr>
          <p:cNvPr id="15" name="Text Box 6"/>
          <p:cNvSpPr txBox="1">
            <a:spLocks noChangeArrowheads="1"/>
          </p:cNvSpPr>
          <p:nvPr/>
        </p:nvSpPr>
        <p:spPr bwMode="auto">
          <a:xfrm>
            <a:off x="539750" y="827547"/>
            <a:ext cx="3317875"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电子电流的连续性方程为：</a:t>
            </a:r>
          </a:p>
        </p:txBody>
      </p:sp>
      <p:graphicFrame>
        <p:nvGraphicFramePr>
          <p:cNvPr id="16" name="Object 7"/>
          <p:cNvGraphicFramePr>
            <a:graphicFrameLocks noChangeAspect="1"/>
          </p:cNvGraphicFramePr>
          <p:nvPr>
            <p:extLst>
              <p:ext uri="{D42A27DB-BD31-4B8C-83A1-F6EECF244321}">
                <p14:modId xmlns:p14="http://schemas.microsoft.com/office/powerpoint/2010/main" val="685369031"/>
              </p:ext>
            </p:extLst>
          </p:nvPr>
        </p:nvGraphicFramePr>
        <p:xfrm>
          <a:off x="2735263" y="4318460"/>
          <a:ext cx="3149600" cy="938212"/>
        </p:xfrm>
        <a:graphic>
          <a:graphicData uri="http://schemas.openxmlformats.org/presentationml/2006/ole">
            <mc:AlternateContent xmlns:mc="http://schemas.openxmlformats.org/markup-compatibility/2006">
              <mc:Choice xmlns:v="urn:schemas-microsoft-com:vml" Requires="v">
                <p:oleObj spid="_x0000_s44328" name="Equation" r:id="rId3" imgW="1574800" imgH="469900" progId="Equation.DSMT4">
                  <p:embed/>
                </p:oleObj>
              </mc:Choice>
              <mc:Fallback>
                <p:oleObj name="Equation" r:id="rId3" imgW="1574800" imgH="469900" progId="Equation.DSMT4">
                  <p:embed/>
                  <p:pic>
                    <p:nvPicPr>
                      <p:cNvPr id="4608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263" y="4318460"/>
                        <a:ext cx="3149600" cy="938212"/>
                      </a:xfrm>
                      <a:prstGeom prst="rect">
                        <a:avLst/>
                      </a:prstGeom>
                      <a:solidFill>
                        <a:srgbClr val="FFFFFF"/>
                      </a:solidFill>
                    </p:spPr>
                  </p:pic>
                </p:oleObj>
              </mc:Fallback>
            </mc:AlternateContent>
          </a:graphicData>
        </a:graphic>
      </p:graphicFrame>
      <p:graphicFrame>
        <p:nvGraphicFramePr>
          <p:cNvPr id="17" name="Object 8"/>
          <p:cNvGraphicFramePr>
            <a:graphicFrameLocks noChangeAspect="1"/>
          </p:cNvGraphicFramePr>
          <p:nvPr>
            <p:extLst>
              <p:ext uri="{D42A27DB-BD31-4B8C-83A1-F6EECF244321}">
                <p14:modId xmlns:p14="http://schemas.microsoft.com/office/powerpoint/2010/main" val="2538678535"/>
              </p:ext>
            </p:extLst>
          </p:nvPr>
        </p:nvGraphicFramePr>
        <p:xfrm>
          <a:off x="4387850" y="660860"/>
          <a:ext cx="2416175" cy="766762"/>
        </p:xfrm>
        <a:graphic>
          <a:graphicData uri="http://schemas.openxmlformats.org/presentationml/2006/ole">
            <mc:AlternateContent xmlns:mc="http://schemas.openxmlformats.org/markup-compatibility/2006">
              <mc:Choice xmlns:v="urn:schemas-microsoft-com:vml" Requires="v">
                <p:oleObj spid="_x0000_s44329" name="Equation" r:id="rId5" imgW="1320227" imgH="418918" progId="Equation.3">
                  <p:embed/>
                </p:oleObj>
              </mc:Choice>
              <mc:Fallback>
                <p:oleObj name="Equation" r:id="rId5" imgW="1320227" imgH="418918" progId="Equation.3">
                  <p:embed/>
                  <p:pic>
                    <p:nvPicPr>
                      <p:cNvPr id="4608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7850" y="660860"/>
                        <a:ext cx="2416175" cy="766762"/>
                      </a:xfrm>
                      <a:prstGeom prst="rect">
                        <a:avLst/>
                      </a:prstGeom>
                      <a:solidFill>
                        <a:srgbClr val="FFFFFF"/>
                      </a:solidFill>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1222617689"/>
              </p:ext>
            </p:extLst>
          </p:nvPr>
        </p:nvGraphicFramePr>
        <p:xfrm>
          <a:off x="3967163" y="2376947"/>
          <a:ext cx="2287587" cy="801688"/>
        </p:xfrm>
        <a:graphic>
          <a:graphicData uri="http://schemas.openxmlformats.org/presentationml/2006/ole">
            <mc:AlternateContent xmlns:mc="http://schemas.openxmlformats.org/markup-compatibility/2006">
              <mc:Choice xmlns:v="urn:schemas-microsoft-com:vml" Requires="v">
                <p:oleObj spid="_x0000_s44330" name="Equation" r:id="rId7" imgW="1231366" imgH="431613" progId="Equation.DSMT4">
                  <p:embed/>
                </p:oleObj>
              </mc:Choice>
              <mc:Fallback>
                <p:oleObj name="Equation" r:id="rId7" imgW="1231366" imgH="431613" progId="Equation.DSMT4">
                  <p:embed/>
                  <p:pic>
                    <p:nvPicPr>
                      <p:cNvPr id="46089"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7163" y="2376947"/>
                        <a:ext cx="2287587" cy="801688"/>
                      </a:xfrm>
                      <a:prstGeom prst="rect">
                        <a:avLst/>
                      </a:prstGeom>
                      <a:solidFill>
                        <a:srgbClr val="FFFFFF"/>
                      </a:solidFill>
                    </p:spPr>
                  </p:pic>
                </p:oleObj>
              </mc:Fallback>
            </mc:AlternateContent>
          </a:graphicData>
        </a:graphic>
      </p:graphicFrame>
      <p:sp>
        <p:nvSpPr>
          <p:cNvPr id="19" name="Text Box 10"/>
          <p:cNvSpPr txBox="1">
            <a:spLocks noChangeArrowheads="1"/>
          </p:cNvSpPr>
          <p:nvPr/>
        </p:nvSpPr>
        <p:spPr bwMode="auto">
          <a:xfrm>
            <a:off x="539750" y="1513347"/>
            <a:ext cx="3427413" cy="830997"/>
          </a:xfrm>
          <a:prstGeom prst="rect">
            <a:avLst/>
          </a:prstGeom>
          <a:noFill/>
          <a:ln w="38100" cap="sq">
            <a:noFill/>
            <a:miter lim="800000"/>
            <a:headEnd type="none" w="sm" len="sm"/>
            <a:tailEnd type="none" w="sm" len="sm"/>
          </a:ln>
        </p:spPr>
        <p:txBody>
          <a:bodyPr wrap="square">
            <a:spAutoFit/>
          </a:bodyPr>
          <a:lstStyle/>
          <a:p>
            <a:pPr defTabSz="914400" eaLnBrk="0" fontAlgn="base" hangingPunct="0">
              <a:lnSpc>
                <a:spcPct val="120000"/>
              </a:lnSpc>
              <a:spcBef>
                <a:spcPct val="50000"/>
              </a:spcBef>
              <a:spcAft>
                <a:spcPct val="0"/>
              </a:spcAft>
            </a:pPr>
            <a:r>
              <a:rPr kumimoji="1" lang="zh-CN" altLang="en-US" sz="2000" b="1" dirty="0">
                <a:solidFill>
                  <a:srgbClr val="000000"/>
                </a:solidFill>
                <a:latin typeface="Times New Roman" pitchFamily="18" charset="0"/>
                <a:ea typeface="宋体" pitchFamily="2" charset="-122"/>
              </a:rPr>
              <a:t>在小注入情形下</a:t>
            </a:r>
            <a:r>
              <a:rPr kumimoji="1" lang="zh-CN" altLang="en-US" sz="2000" b="1" dirty="0" smtClean="0">
                <a:solidFill>
                  <a:srgbClr val="000000"/>
                </a:solidFill>
                <a:latin typeface="Times New Roman" pitchFamily="18" charset="0"/>
                <a:ea typeface="宋体" pitchFamily="2" charset="-122"/>
              </a:rPr>
              <a:t>，则</a:t>
            </a:r>
            <a:r>
              <a:rPr kumimoji="1" lang="zh-CN" altLang="en-US" sz="2000" b="1" dirty="0">
                <a:solidFill>
                  <a:srgbClr val="000000"/>
                </a:solidFill>
                <a:latin typeface="Times New Roman" pitchFamily="18" charset="0"/>
                <a:ea typeface="宋体" pitchFamily="2" charset="-122"/>
              </a:rPr>
              <a:t>可定义电子的寿命为：</a:t>
            </a:r>
          </a:p>
        </p:txBody>
      </p:sp>
      <p:sp>
        <p:nvSpPr>
          <p:cNvPr id="20" name="Rectangle 11"/>
          <p:cNvSpPr>
            <a:spLocks noChangeArrowheads="1"/>
          </p:cNvSpPr>
          <p:nvPr/>
        </p:nvSpPr>
        <p:spPr bwMode="auto">
          <a:xfrm>
            <a:off x="539750" y="2427747"/>
            <a:ext cx="2619375" cy="7016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电子电流的连续性方程改写为：</a:t>
            </a:r>
          </a:p>
        </p:txBody>
      </p:sp>
      <p:graphicFrame>
        <p:nvGraphicFramePr>
          <p:cNvPr id="21" name="Object 12"/>
          <p:cNvGraphicFramePr>
            <a:graphicFrameLocks noChangeAspect="1"/>
          </p:cNvGraphicFramePr>
          <p:nvPr>
            <p:extLst>
              <p:ext uri="{D42A27DB-BD31-4B8C-83A1-F6EECF244321}">
                <p14:modId xmlns:p14="http://schemas.microsoft.com/office/powerpoint/2010/main" val="1644164961"/>
              </p:ext>
            </p:extLst>
          </p:nvPr>
        </p:nvGraphicFramePr>
        <p:xfrm>
          <a:off x="4906963" y="1492710"/>
          <a:ext cx="1524000" cy="823912"/>
        </p:xfrm>
        <a:graphic>
          <a:graphicData uri="http://schemas.openxmlformats.org/presentationml/2006/ole">
            <mc:AlternateContent xmlns:mc="http://schemas.openxmlformats.org/markup-compatibility/2006">
              <mc:Choice xmlns:v="urn:schemas-microsoft-com:vml" Requires="v">
                <p:oleObj spid="_x0000_s44331" name="Equation" r:id="rId9" imgW="799753" imgH="431613" progId="Equation.DSMT4">
                  <p:embed/>
                </p:oleObj>
              </mc:Choice>
              <mc:Fallback>
                <p:oleObj name="Equation" r:id="rId9" imgW="799753" imgH="431613" progId="Equation.DSMT4">
                  <p:embed/>
                  <p:pic>
                    <p:nvPicPr>
                      <p:cNvPr id="46092"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6963" y="1492710"/>
                        <a:ext cx="1524000" cy="823912"/>
                      </a:xfrm>
                      <a:prstGeom prst="rect">
                        <a:avLst/>
                      </a:prstGeom>
                      <a:solidFill>
                        <a:srgbClr val="FFFFFF"/>
                      </a:solidFill>
                    </p:spPr>
                  </p:pic>
                </p:oleObj>
              </mc:Fallback>
            </mc:AlternateContent>
          </a:graphicData>
        </a:graphic>
      </p:graphicFrame>
      <p:sp>
        <p:nvSpPr>
          <p:cNvPr id="22" name="Rectangle 13"/>
          <p:cNvSpPr>
            <a:spLocks noChangeArrowheads="1"/>
          </p:cNvSpPr>
          <p:nvPr/>
        </p:nvSpPr>
        <p:spPr bwMode="auto">
          <a:xfrm>
            <a:off x="1468438" y="4572460"/>
            <a:ext cx="1158875"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于是：</a:t>
            </a:r>
          </a:p>
        </p:txBody>
      </p:sp>
      <p:graphicFrame>
        <p:nvGraphicFramePr>
          <p:cNvPr id="23" name="Object 14"/>
          <p:cNvGraphicFramePr>
            <a:graphicFrameLocks noChangeAspect="1"/>
          </p:cNvGraphicFramePr>
          <p:nvPr>
            <p:extLst>
              <p:ext uri="{D42A27DB-BD31-4B8C-83A1-F6EECF244321}">
                <p14:modId xmlns:p14="http://schemas.microsoft.com/office/powerpoint/2010/main" val="2154567479"/>
              </p:ext>
            </p:extLst>
          </p:nvPr>
        </p:nvGraphicFramePr>
        <p:xfrm>
          <a:off x="3154363" y="3262772"/>
          <a:ext cx="4927600" cy="914400"/>
        </p:xfrm>
        <a:graphic>
          <a:graphicData uri="http://schemas.openxmlformats.org/presentationml/2006/ole">
            <mc:AlternateContent xmlns:mc="http://schemas.openxmlformats.org/markup-compatibility/2006">
              <mc:Choice xmlns:v="urn:schemas-microsoft-com:vml" Requires="v">
                <p:oleObj spid="_x0000_s44332" name="Equation" r:id="rId11" imgW="2463800" imgH="457200" progId="Equation.DSMT4">
                  <p:embed/>
                </p:oleObj>
              </mc:Choice>
              <mc:Fallback>
                <p:oleObj name="Equation" r:id="rId11" imgW="2463800" imgH="457200" progId="Equation.DSMT4">
                  <p:embed/>
                  <p:pic>
                    <p:nvPicPr>
                      <p:cNvPr id="46094"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54363" y="3262772"/>
                        <a:ext cx="4927600" cy="914400"/>
                      </a:xfrm>
                      <a:prstGeom prst="rect">
                        <a:avLst/>
                      </a:prstGeom>
                      <a:solidFill>
                        <a:srgbClr val="FFFFFF"/>
                      </a:solidFill>
                    </p:spPr>
                  </p:pic>
                </p:oleObj>
              </mc:Fallback>
            </mc:AlternateContent>
          </a:graphicData>
        </a:graphic>
      </p:graphicFrame>
      <p:sp>
        <p:nvSpPr>
          <p:cNvPr id="24" name="Text Box 15"/>
          <p:cNvSpPr txBox="1">
            <a:spLocks noChangeArrowheads="1"/>
          </p:cNvSpPr>
          <p:nvPr/>
        </p:nvSpPr>
        <p:spPr bwMode="auto">
          <a:xfrm>
            <a:off x="539750" y="3529472"/>
            <a:ext cx="2519363"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将电流表达式带入：</a:t>
            </a:r>
          </a:p>
        </p:txBody>
      </p:sp>
      <p:sp>
        <p:nvSpPr>
          <p:cNvPr id="28" name="Text Box 13"/>
          <p:cNvSpPr txBox="1">
            <a:spLocks noChangeArrowheads="1"/>
          </p:cNvSpPr>
          <p:nvPr/>
        </p:nvSpPr>
        <p:spPr bwMode="auto">
          <a:xfrm>
            <a:off x="657737" y="5379403"/>
            <a:ext cx="3654425"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在稳态（</a:t>
            </a:r>
            <a:r>
              <a:rPr kumimoji="1" lang="en-US" altLang="zh-CN" sz="2000" b="1">
                <a:solidFill>
                  <a:srgbClr val="000000"/>
                </a:solidFill>
                <a:latin typeface="Times New Roman" pitchFamily="18" charset="0"/>
                <a:ea typeface="宋体" pitchFamily="2" charset="-122"/>
              </a:rPr>
              <a:t>Steady State</a:t>
            </a:r>
            <a:r>
              <a:rPr kumimoji="1" lang="zh-CN" altLang="en-US" sz="2000" b="1">
                <a:solidFill>
                  <a:srgbClr val="000000"/>
                </a:solidFill>
                <a:latin typeface="Times New Roman" pitchFamily="18" charset="0"/>
                <a:ea typeface="宋体" pitchFamily="2" charset="-122"/>
              </a:rPr>
              <a:t>）下：</a:t>
            </a:r>
          </a:p>
        </p:txBody>
      </p:sp>
      <p:graphicFrame>
        <p:nvGraphicFramePr>
          <p:cNvPr id="29" name="Object 15"/>
          <p:cNvGraphicFramePr>
            <a:graphicFrameLocks noChangeAspect="1"/>
          </p:cNvGraphicFramePr>
          <p:nvPr>
            <p:extLst>
              <p:ext uri="{D42A27DB-BD31-4B8C-83A1-F6EECF244321}">
                <p14:modId xmlns:p14="http://schemas.microsoft.com/office/powerpoint/2010/main" val="469876288"/>
              </p:ext>
            </p:extLst>
          </p:nvPr>
        </p:nvGraphicFramePr>
        <p:xfrm>
          <a:off x="1395413" y="5896581"/>
          <a:ext cx="2462212" cy="939800"/>
        </p:xfrm>
        <a:graphic>
          <a:graphicData uri="http://schemas.openxmlformats.org/presentationml/2006/ole">
            <mc:AlternateContent xmlns:mc="http://schemas.openxmlformats.org/markup-compatibility/2006">
              <mc:Choice xmlns:v="urn:schemas-microsoft-com:vml" Requires="v">
                <p:oleObj spid="_x0000_s44333" name="Equation" r:id="rId13" imgW="1231366" imgH="469696" progId="Equation.DSMT4">
                  <p:embed/>
                </p:oleObj>
              </mc:Choice>
              <mc:Fallback>
                <p:oleObj name="Equation" r:id="rId13" imgW="1231366" imgH="469696" progId="Equation.DSMT4">
                  <p:embed/>
                  <p:pic>
                    <p:nvPicPr>
                      <p:cNvPr id="47118"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95413" y="5896581"/>
                        <a:ext cx="2462212" cy="939800"/>
                      </a:xfrm>
                      <a:prstGeom prst="rect">
                        <a:avLst/>
                      </a:prstGeom>
                      <a:solidFill>
                        <a:srgbClr val="FFFFFF"/>
                      </a:solidFill>
                    </p:spPr>
                  </p:pic>
                </p:oleObj>
              </mc:Fallback>
            </mc:AlternateContent>
          </a:graphicData>
        </a:graphic>
      </p:graphicFrame>
      <p:graphicFrame>
        <p:nvGraphicFramePr>
          <p:cNvPr id="30" name="Object 16"/>
          <p:cNvGraphicFramePr>
            <a:graphicFrameLocks noChangeAspect="1"/>
          </p:cNvGraphicFramePr>
          <p:nvPr>
            <p:extLst>
              <p:ext uri="{D42A27DB-BD31-4B8C-83A1-F6EECF244321}">
                <p14:modId xmlns:p14="http://schemas.microsoft.com/office/powerpoint/2010/main" val="3610810293"/>
              </p:ext>
            </p:extLst>
          </p:nvPr>
        </p:nvGraphicFramePr>
        <p:xfrm>
          <a:off x="5412915" y="5728653"/>
          <a:ext cx="2944813" cy="912812"/>
        </p:xfrm>
        <a:graphic>
          <a:graphicData uri="http://schemas.openxmlformats.org/presentationml/2006/ole">
            <mc:AlternateContent xmlns:mc="http://schemas.openxmlformats.org/markup-compatibility/2006">
              <mc:Choice xmlns:v="urn:schemas-microsoft-com:vml" Requires="v">
                <p:oleObj spid="_x0000_s44334" r:id="rId15" imgW="1524000" imgH="469900" progId="Equation.3">
                  <p:embed/>
                </p:oleObj>
              </mc:Choice>
              <mc:Fallback>
                <p:oleObj r:id="rId15" imgW="1524000" imgH="469900" progId="Equation.3">
                  <p:embed/>
                  <p:pic>
                    <p:nvPicPr>
                      <p:cNvPr id="47119"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12915" y="5728653"/>
                        <a:ext cx="2944813" cy="912812"/>
                      </a:xfrm>
                      <a:prstGeom prst="rect">
                        <a:avLst/>
                      </a:prstGeom>
                      <a:solidFill>
                        <a:srgbClr val="FFFFFF"/>
                      </a:solidFill>
                    </p:spPr>
                  </p:pic>
                </p:oleObj>
              </mc:Fallback>
            </mc:AlternateContent>
          </a:graphicData>
        </a:graphic>
      </p:graphicFrame>
      <p:sp>
        <p:nvSpPr>
          <p:cNvPr id="31" name="Text Box 17"/>
          <p:cNvSpPr txBox="1">
            <a:spLocks noChangeArrowheads="1"/>
          </p:cNvSpPr>
          <p:nvPr/>
        </p:nvSpPr>
        <p:spPr bwMode="auto">
          <a:xfrm>
            <a:off x="4549597" y="5559396"/>
            <a:ext cx="817562" cy="396875"/>
          </a:xfrm>
          <a:prstGeom prst="rect">
            <a:avLst/>
          </a:prstGeom>
          <a:noFill/>
          <a:ln w="38100" cap="sq">
            <a:noFill/>
            <a:miter lim="800000"/>
            <a:headEnd type="none" w="sm" len="sm"/>
            <a:tailEnd type="none" w="sm" len="sm"/>
          </a:ln>
        </p:spPr>
        <p:txBody>
          <a:bodyPr>
            <a:spAutoFit/>
          </a:bodyPr>
          <a:lstStyle/>
          <a:p>
            <a:pPr algn="ctr">
              <a:spcBef>
                <a:spcPct val="50000"/>
              </a:spcBef>
            </a:pPr>
            <a:r>
              <a:rPr kumimoji="1" lang="zh-CN" altLang="en-US" sz="2000" b="1">
                <a:latin typeface="Times New Roman" pitchFamily="18" charset="0"/>
                <a:ea typeface="宋体" pitchFamily="2" charset="-122"/>
              </a:rPr>
              <a:t>其中</a:t>
            </a:r>
          </a:p>
        </p:txBody>
      </p:sp>
    </p:spTree>
    <p:extLst>
      <p:ext uri="{BB962C8B-B14F-4D97-AF65-F5344CB8AC3E}">
        <p14:creationId xmlns:p14="http://schemas.microsoft.com/office/powerpoint/2010/main" val="1389688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a:t>
            </a:fld>
            <a:endParaRPr lang="zh-CN" altLang="en-US"/>
          </a:p>
        </p:txBody>
      </p:sp>
      <p:graphicFrame>
        <p:nvGraphicFramePr>
          <p:cNvPr id="3" name="Object 16"/>
          <p:cNvGraphicFramePr>
            <a:graphicFrameLocks noChangeAspect="1"/>
          </p:cNvGraphicFramePr>
          <p:nvPr>
            <p:extLst>
              <p:ext uri="{D42A27DB-BD31-4B8C-83A1-F6EECF244321}">
                <p14:modId xmlns:p14="http://schemas.microsoft.com/office/powerpoint/2010/main" val="4043111262"/>
              </p:ext>
            </p:extLst>
          </p:nvPr>
        </p:nvGraphicFramePr>
        <p:xfrm>
          <a:off x="1360180" y="3162300"/>
          <a:ext cx="6415087" cy="1065213"/>
        </p:xfrm>
        <a:graphic>
          <a:graphicData uri="http://schemas.openxmlformats.org/presentationml/2006/ole">
            <mc:AlternateContent xmlns:mc="http://schemas.openxmlformats.org/markup-compatibility/2006">
              <mc:Choice xmlns:v="urn:schemas-microsoft-com:vml" Requires="v">
                <p:oleObj spid="_x0000_s45304" name="Equation" r:id="rId3" imgW="2997200" imgH="495300" progId="Equation.DSMT4">
                  <p:embed/>
                </p:oleObj>
              </mc:Choice>
              <mc:Fallback>
                <p:oleObj name="Equation" r:id="rId3" imgW="2997200" imgH="495300" progId="Equation.DSMT4">
                  <p:embed/>
                  <p:pic>
                    <p:nvPicPr>
                      <p:cNvPr id="49167"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0180" y="3162300"/>
                        <a:ext cx="6415087" cy="1065213"/>
                      </a:xfrm>
                      <a:prstGeom prst="rect">
                        <a:avLst/>
                      </a:prstGeom>
                      <a:solidFill>
                        <a:srgbClr val="FFFFFF"/>
                      </a:solidFill>
                    </p:spPr>
                  </p:pic>
                </p:oleObj>
              </mc:Fallback>
            </mc:AlternateContent>
          </a:graphicData>
        </a:graphic>
      </p:graphicFrame>
      <p:sp>
        <p:nvSpPr>
          <p:cNvPr id="4" name="Text Box 17"/>
          <p:cNvSpPr txBox="1">
            <a:spLocks noChangeArrowheads="1"/>
          </p:cNvSpPr>
          <p:nvPr/>
        </p:nvSpPr>
        <p:spPr bwMode="auto">
          <a:xfrm>
            <a:off x="529917" y="2514600"/>
            <a:ext cx="5372100"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由以上边条件下，求解连续方程得：</a:t>
            </a:r>
          </a:p>
        </p:txBody>
      </p:sp>
      <p:sp>
        <p:nvSpPr>
          <p:cNvPr id="5" name="Text Box 18"/>
          <p:cNvSpPr txBox="1">
            <a:spLocks noChangeArrowheads="1"/>
          </p:cNvSpPr>
          <p:nvPr/>
        </p:nvSpPr>
        <p:spPr bwMode="auto">
          <a:xfrm>
            <a:off x="529917" y="346075"/>
            <a:ext cx="7923213"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假设</a:t>
            </a:r>
            <a:r>
              <a:rPr kumimoji="1" lang="en-US" altLang="zh-CN" sz="2000" b="1">
                <a:solidFill>
                  <a:srgbClr val="000000"/>
                </a:solidFill>
                <a:latin typeface="Times New Roman" pitchFamily="18" charset="0"/>
                <a:ea typeface="宋体" pitchFamily="2" charset="-122"/>
              </a:rPr>
              <a:t>PN</a:t>
            </a:r>
            <a:r>
              <a:rPr kumimoji="1" lang="zh-CN" altLang="en-US" sz="2000" b="1">
                <a:solidFill>
                  <a:srgbClr val="000000"/>
                </a:solidFill>
                <a:latin typeface="Times New Roman" pitchFamily="18" charset="0"/>
                <a:ea typeface="宋体" pitchFamily="2" charset="-122"/>
              </a:rPr>
              <a:t>结为 </a:t>
            </a:r>
            <a:r>
              <a:rPr kumimoji="1" lang="en-US" altLang="zh-CN" sz="2000" b="1" i="1">
                <a:solidFill>
                  <a:srgbClr val="000000"/>
                </a:solidFill>
                <a:latin typeface="Times New Roman" pitchFamily="18" charset="0"/>
                <a:ea typeface="宋体" pitchFamily="2" charset="-122"/>
              </a:rPr>
              <a:t>n</a:t>
            </a:r>
            <a:r>
              <a:rPr kumimoji="1" lang="en-US" altLang="zh-CN" sz="2000" b="1" i="1" baseline="30000">
                <a:solidFill>
                  <a:srgbClr val="000000"/>
                </a:solidFill>
                <a:latin typeface="Times New Roman" pitchFamily="18" charset="0"/>
                <a:ea typeface="宋体" pitchFamily="2" charset="-122"/>
              </a:rPr>
              <a:t>+</a:t>
            </a:r>
            <a:r>
              <a:rPr kumimoji="1" lang="en-US" altLang="zh-CN" sz="2000" b="1" i="1">
                <a:solidFill>
                  <a:srgbClr val="000000"/>
                </a:solidFill>
                <a:latin typeface="Times New Roman" pitchFamily="18" charset="0"/>
                <a:ea typeface="宋体" pitchFamily="2" charset="-122"/>
              </a:rPr>
              <a:t>-p</a:t>
            </a:r>
            <a:r>
              <a:rPr kumimoji="1" lang="zh-CN" altLang="en-US" sz="2000" b="1">
                <a:solidFill>
                  <a:srgbClr val="000000"/>
                </a:solidFill>
                <a:latin typeface="Times New Roman" pitchFamily="18" charset="0"/>
                <a:ea typeface="宋体" pitchFamily="2" charset="-122"/>
              </a:rPr>
              <a:t>结，</a:t>
            </a:r>
            <a:r>
              <a:rPr kumimoji="1" lang="en-US" altLang="zh-CN" sz="2000" b="1">
                <a:solidFill>
                  <a:srgbClr val="000000"/>
                </a:solidFill>
                <a:latin typeface="Times New Roman" pitchFamily="18" charset="0"/>
                <a:ea typeface="宋体" pitchFamily="2" charset="-122"/>
              </a:rPr>
              <a:t>p</a:t>
            </a:r>
            <a:r>
              <a:rPr kumimoji="1" lang="zh-CN" altLang="en-US" sz="2000" b="1">
                <a:solidFill>
                  <a:srgbClr val="000000"/>
                </a:solidFill>
                <a:latin typeface="Times New Roman" pitchFamily="18" charset="0"/>
                <a:ea typeface="宋体" pitchFamily="2" charset="-122"/>
              </a:rPr>
              <a:t>区厚度为 </a:t>
            </a:r>
            <a:r>
              <a:rPr kumimoji="1" lang="en-US" altLang="zh-CN" sz="2000" b="1" i="1">
                <a:solidFill>
                  <a:srgbClr val="000000"/>
                </a:solidFill>
                <a:latin typeface="Times New Roman" pitchFamily="18" charset="0"/>
                <a:ea typeface="宋体" pitchFamily="2" charset="-122"/>
              </a:rPr>
              <a:t>W</a:t>
            </a:r>
            <a:r>
              <a:rPr kumimoji="1" lang="zh-CN" altLang="en-US" sz="2000" b="1">
                <a:solidFill>
                  <a:srgbClr val="000000"/>
                </a:solidFill>
                <a:latin typeface="Times New Roman" pitchFamily="18" charset="0"/>
                <a:ea typeface="宋体" pitchFamily="2" charset="-122"/>
              </a:rPr>
              <a:t>，则扩散方程满足的边界条件为：</a:t>
            </a:r>
          </a:p>
        </p:txBody>
      </p:sp>
      <p:graphicFrame>
        <p:nvGraphicFramePr>
          <p:cNvPr id="6" name="Object 19"/>
          <p:cNvGraphicFramePr>
            <a:graphicFrameLocks noChangeAspect="1"/>
          </p:cNvGraphicFramePr>
          <p:nvPr>
            <p:extLst>
              <p:ext uri="{D42A27DB-BD31-4B8C-83A1-F6EECF244321}">
                <p14:modId xmlns:p14="http://schemas.microsoft.com/office/powerpoint/2010/main" val="991630734"/>
              </p:ext>
            </p:extLst>
          </p:nvPr>
        </p:nvGraphicFramePr>
        <p:xfrm>
          <a:off x="2114242" y="971550"/>
          <a:ext cx="4113213" cy="534988"/>
        </p:xfrm>
        <a:graphic>
          <a:graphicData uri="http://schemas.openxmlformats.org/presentationml/2006/ole">
            <mc:AlternateContent xmlns:mc="http://schemas.openxmlformats.org/markup-compatibility/2006">
              <mc:Choice xmlns:v="urn:schemas-microsoft-com:vml" Requires="v">
                <p:oleObj spid="_x0000_s45305" name="Equation" r:id="rId5" imgW="2070100" imgH="254000" progId="Equation.DSMT4">
                  <p:embed/>
                </p:oleObj>
              </mc:Choice>
              <mc:Fallback>
                <p:oleObj name="Equation" r:id="rId5" imgW="2070100" imgH="254000" progId="Equation.DSMT4">
                  <p:embed/>
                  <p:pic>
                    <p:nvPicPr>
                      <p:cNvPr id="4917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4242" y="971550"/>
                        <a:ext cx="4113213" cy="534988"/>
                      </a:xfrm>
                      <a:prstGeom prst="rect">
                        <a:avLst/>
                      </a:prstGeom>
                      <a:solidFill>
                        <a:srgbClr val="FFFFFF"/>
                      </a:solidFill>
                    </p:spPr>
                  </p:pic>
                </p:oleObj>
              </mc:Fallback>
            </mc:AlternateContent>
          </a:graphicData>
        </a:graphic>
      </p:graphicFrame>
      <p:graphicFrame>
        <p:nvGraphicFramePr>
          <p:cNvPr id="7" name="Object 20"/>
          <p:cNvGraphicFramePr>
            <a:graphicFrameLocks noChangeAspect="1"/>
          </p:cNvGraphicFramePr>
          <p:nvPr>
            <p:extLst>
              <p:ext uri="{D42A27DB-BD31-4B8C-83A1-F6EECF244321}">
                <p14:modId xmlns:p14="http://schemas.microsoft.com/office/powerpoint/2010/main" val="3812620979"/>
              </p:ext>
            </p:extLst>
          </p:nvPr>
        </p:nvGraphicFramePr>
        <p:xfrm>
          <a:off x="1537980" y="1793875"/>
          <a:ext cx="2498725" cy="508000"/>
        </p:xfrm>
        <a:graphic>
          <a:graphicData uri="http://schemas.openxmlformats.org/presentationml/2006/ole">
            <mc:AlternateContent xmlns:mc="http://schemas.openxmlformats.org/markup-compatibility/2006">
              <mc:Choice xmlns:v="urn:schemas-microsoft-com:vml" Requires="v">
                <p:oleObj spid="_x0000_s45306" name="Equation" r:id="rId7" imgW="1257300" imgH="241300" progId="Equation.DSMT4">
                  <p:embed/>
                </p:oleObj>
              </mc:Choice>
              <mc:Fallback>
                <p:oleObj name="Equation" r:id="rId7" imgW="1257300" imgH="241300" progId="Equation.DSMT4">
                  <p:embed/>
                  <p:pic>
                    <p:nvPicPr>
                      <p:cNvPr id="49171"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7980" y="1793875"/>
                        <a:ext cx="2498725" cy="508000"/>
                      </a:xfrm>
                      <a:prstGeom prst="rect">
                        <a:avLst/>
                      </a:prstGeom>
                      <a:solidFill>
                        <a:srgbClr val="FFFFFF"/>
                      </a:solidFill>
                    </p:spPr>
                  </p:pic>
                </p:oleObj>
              </mc:Fallback>
            </mc:AlternateContent>
          </a:graphicData>
        </a:graphic>
      </p:graphicFrame>
      <p:sp>
        <p:nvSpPr>
          <p:cNvPr id="8" name="Text Box 21"/>
          <p:cNvSpPr txBox="1">
            <a:spLocks noChangeArrowheads="1"/>
          </p:cNvSpPr>
          <p:nvPr/>
        </p:nvSpPr>
        <p:spPr bwMode="auto">
          <a:xfrm>
            <a:off x="4247842" y="1825625"/>
            <a:ext cx="3275013"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其中， </a:t>
            </a:r>
            <a:r>
              <a:rPr kumimoji="1" lang="en-US" altLang="zh-CN" sz="2000" b="1" i="1">
                <a:solidFill>
                  <a:srgbClr val="000000"/>
                </a:solidFill>
                <a:latin typeface="Times New Roman" pitchFamily="18" charset="0"/>
                <a:ea typeface="宋体" pitchFamily="2" charset="-122"/>
              </a:rPr>
              <a:t>W </a:t>
            </a:r>
            <a:r>
              <a:rPr kumimoji="1" lang="zh-CN" altLang="en-US" sz="2000" b="1">
                <a:solidFill>
                  <a:srgbClr val="000000"/>
                </a:solidFill>
                <a:latin typeface="Times New Roman" pitchFamily="18" charset="0"/>
                <a:ea typeface="宋体" pitchFamily="2" charset="-122"/>
              </a:rPr>
              <a:t>为 </a:t>
            </a:r>
            <a:r>
              <a:rPr kumimoji="1" lang="en-US" altLang="zh-CN" sz="2000" b="1">
                <a:solidFill>
                  <a:srgbClr val="000000"/>
                </a:solidFill>
                <a:latin typeface="Times New Roman" pitchFamily="18" charset="0"/>
                <a:ea typeface="宋体" pitchFamily="2" charset="-122"/>
              </a:rPr>
              <a:t>p</a:t>
            </a:r>
            <a:r>
              <a:rPr kumimoji="1" lang="zh-CN" altLang="en-US" sz="2000" b="1">
                <a:solidFill>
                  <a:srgbClr val="000000"/>
                </a:solidFill>
                <a:latin typeface="Times New Roman" pitchFamily="18" charset="0"/>
                <a:ea typeface="宋体" pitchFamily="2" charset="-122"/>
              </a:rPr>
              <a:t>区的厚度。</a:t>
            </a:r>
          </a:p>
        </p:txBody>
      </p:sp>
      <p:sp>
        <p:nvSpPr>
          <p:cNvPr id="15" name="Text Box 18"/>
          <p:cNvSpPr txBox="1">
            <a:spLocks noChangeArrowheads="1"/>
          </p:cNvSpPr>
          <p:nvPr/>
        </p:nvSpPr>
        <p:spPr bwMode="auto">
          <a:xfrm>
            <a:off x="585480" y="4284662"/>
            <a:ext cx="1716088" cy="396875"/>
          </a:xfrm>
          <a:prstGeom prst="rect">
            <a:avLst/>
          </a:prstGeom>
          <a:noFill/>
          <a:ln w="38100" cap="sq">
            <a:noFill/>
            <a:miter lim="800000"/>
            <a:headEnd type="none" w="sm" len="sm"/>
            <a:tailEnd type="none" w="sm" len="sm"/>
          </a:ln>
        </p:spPr>
        <p:txBody>
          <a:bodyPr>
            <a:spAutoFit/>
          </a:bodyPr>
          <a:lstStyle/>
          <a:p>
            <a:pPr>
              <a:spcBef>
                <a:spcPct val="50000"/>
              </a:spcBef>
            </a:pPr>
            <a:r>
              <a:rPr kumimoji="1" lang="zh-CN" altLang="en-US" sz="2000" b="1">
                <a:latin typeface="Times New Roman" pitchFamily="18" charset="0"/>
                <a:ea typeface="宋体" pitchFamily="2" charset="-122"/>
              </a:rPr>
              <a:t>在 </a:t>
            </a:r>
            <a:r>
              <a:rPr kumimoji="1" lang="en-US" altLang="zh-CN" sz="2000" b="1">
                <a:latin typeface="Times New Roman" pitchFamily="18" charset="0"/>
                <a:ea typeface="宋体" pitchFamily="2" charset="-122"/>
              </a:rPr>
              <a:t>p-</a:t>
            </a:r>
            <a:r>
              <a:rPr kumimoji="1" lang="zh-CN" altLang="en-US" sz="2000" b="1">
                <a:latin typeface="Times New Roman" pitchFamily="18" charset="0"/>
                <a:ea typeface="宋体" pitchFamily="2" charset="-122"/>
              </a:rPr>
              <a:t>区有：</a:t>
            </a:r>
          </a:p>
        </p:txBody>
      </p:sp>
      <p:sp>
        <p:nvSpPr>
          <p:cNvPr id="16" name="Text Box 19"/>
          <p:cNvSpPr txBox="1">
            <a:spLocks noChangeArrowheads="1"/>
          </p:cNvSpPr>
          <p:nvPr/>
        </p:nvSpPr>
        <p:spPr bwMode="auto">
          <a:xfrm>
            <a:off x="585480" y="6111875"/>
            <a:ext cx="1004888" cy="396875"/>
          </a:xfrm>
          <a:prstGeom prst="rect">
            <a:avLst/>
          </a:prstGeom>
          <a:noFill/>
          <a:ln w="38100" cap="sq">
            <a:noFill/>
            <a:miter lim="800000"/>
            <a:headEnd type="none" w="sm" len="sm"/>
            <a:tailEnd type="none" w="sm" len="sm"/>
          </a:ln>
        </p:spPr>
        <p:txBody>
          <a:bodyPr>
            <a:spAutoFit/>
          </a:bodyPr>
          <a:lstStyle/>
          <a:p>
            <a:pPr>
              <a:spcBef>
                <a:spcPct val="50000"/>
              </a:spcBef>
            </a:pPr>
            <a:r>
              <a:rPr kumimoji="1" lang="zh-CN" altLang="en-US" sz="2000" b="1">
                <a:latin typeface="Times New Roman" pitchFamily="18" charset="0"/>
                <a:ea typeface="宋体" pitchFamily="2" charset="-122"/>
              </a:rPr>
              <a:t>其中</a:t>
            </a:r>
            <a:endParaRPr kumimoji="1" lang="zh-CN" altLang="en-US" sz="2000" b="1" i="1">
              <a:solidFill>
                <a:srgbClr val="FFFFFF"/>
              </a:solidFill>
              <a:latin typeface="Times New Roman" pitchFamily="18" charset="0"/>
              <a:ea typeface="宋体" pitchFamily="2" charset="-122"/>
            </a:endParaRPr>
          </a:p>
        </p:txBody>
      </p:sp>
      <p:grpSp>
        <p:nvGrpSpPr>
          <p:cNvPr id="17" name="Group 23"/>
          <p:cNvGrpSpPr>
            <a:grpSpLocks/>
          </p:cNvGrpSpPr>
          <p:nvPr/>
        </p:nvGrpSpPr>
        <p:grpSpPr bwMode="auto">
          <a:xfrm>
            <a:off x="1360180" y="4683125"/>
            <a:ext cx="6807200" cy="1912937"/>
            <a:chOff x="1180" y="886"/>
            <a:chExt cx="4288" cy="1205"/>
          </a:xfrm>
        </p:grpSpPr>
        <p:graphicFrame>
          <p:nvGraphicFramePr>
            <p:cNvPr id="18" name="Object 24"/>
            <p:cNvGraphicFramePr>
              <a:graphicFrameLocks noChangeAspect="1"/>
            </p:cNvGraphicFramePr>
            <p:nvPr/>
          </p:nvGraphicFramePr>
          <p:xfrm>
            <a:off x="1180" y="886"/>
            <a:ext cx="4288" cy="608"/>
          </p:xfrm>
          <a:graphic>
            <a:graphicData uri="http://schemas.openxmlformats.org/presentationml/2006/ole">
              <mc:AlternateContent xmlns:mc="http://schemas.openxmlformats.org/markup-compatibility/2006">
                <mc:Choice xmlns:v="urn:schemas-microsoft-com:vml" Requires="v">
                  <p:oleObj spid="_x0000_s45307" name="Equation" r:id="rId9" imgW="3403600" imgH="482600" progId="Equation.DSMT4">
                    <p:embed/>
                  </p:oleObj>
                </mc:Choice>
                <mc:Fallback>
                  <p:oleObj name="Equation" r:id="rId9" imgW="3403600" imgH="482600" progId="Equation.DSMT4">
                    <p:embed/>
                    <p:pic>
                      <p:nvPicPr>
                        <p:cNvPr id="5020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0" y="886"/>
                          <a:ext cx="4288" cy="608"/>
                        </a:xfrm>
                        <a:prstGeom prst="rect">
                          <a:avLst/>
                        </a:prstGeom>
                        <a:solidFill>
                          <a:srgbClr val="FFFFFF"/>
                        </a:solidFill>
                      </p:spPr>
                    </p:pic>
                  </p:oleObj>
                </mc:Fallback>
              </mc:AlternateContent>
            </a:graphicData>
          </a:graphic>
        </p:graphicFrame>
        <p:graphicFrame>
          <p:nvGraphicFramePr>
            <p:cNvPr id="19" name="Object 25"/>
            <p:cNvGraphicFramePr>
              <a:graphicFrameLocks noChangeAspect="1"/>
            </p:cNvGraphicFramePr>
            <p:nvPr/>
          </p:nvGraphicFramePr>
          <p:xfrm>
            <a:off x="3209" y="1483"/>
            <a:ext cx="2240" cy="608"/>
          </p:xfrm>
          <a:graphic>
            <a:graphicData uri="http://schemas.openxmlformats.org/presentationml/2006/ole">
              <mc:AlternateContent xmlns:mc="http://schemas.openxmlformats.org/markup-compatibility/2006">
                <mc:Choice xmlns:v="urn:schemas-microsoft-com:vml" Requires="v">
                  <p:oleObj spid="_x0000_s45308" name="Equation" r:id="rId11" imgW="1777229" imgH="482391" progId="Equation.DSMT4">
                    <p:embed/>
                  </p:oleObj>
                </mc:Choice>
                <mc:Fallback>
                  <p:oleObj name="Equation" r:id="rId11" imgW="1777229" imgH="482391" progId="Equation.DSMT4">
                    <p:embed/>
                    <p:pic>
                      <p:nvPicPr>
                        <p:cNvPr id="50201"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9" y="1483"/>
                          <a:ext cx="2240" cy="608"/>
                        </a:xfrm>
                        <a:prstGeom prst="rect">
                          <a:avLst/>
                        </a:prstGeom>
                        <a:solidFill>
                          <a:srgbClr val="FFFFFF"/>
                        </a:solidFill>
                      </p:spPr>
                    </p:pic>
                  </p:oleObj>
                </mc:Fallback>
              </mc:AlternateContent>
            </a:graphicData>
          </a:graphic>
        </p:graphicFrame>
      </p:grpSp>
      <p:graphicFrame>
        <p:nvGraphicFramePr>
          <p:cNvPr id="20" name="Object 26"/>
          <p:cNvGraphicFramePr>
            <a:graphicFrameLocks noChangeAspect="1"/>
          </p:cNvGraphicFramePr>
          <p:nvPr>
            <p:extLst>
              <p:ext uri="{D42A27DB-BD31-4B8C-83A1-F6EECF244321}">
                <p14:modId xmlns:p14="http://schemas.microsoft.com/office/powerpoint/2010/main" val="1065478133"/>
              </p:ext>
            </p:extLst>
          </p:nvPr>
        </p:nvGraphicFramePr>
        <p:xfrm>
          <a:off x="1401455" y="5989637"/>
          <a:ext cx="1776413" cy="601663"/>
        </p:xfrm>
        <a:graphic>
          <a:graphicData uri="http://schemas.openxmlformats.org/presentationml/2006/ole">
            <mc:AlternateContent xmlns:mc="http://schemas.openxmlformats.org/markup-compatibility/2006">
              <mc:Choice xmlns:v="urn:schemas-microsoft-com:vml" Requires="v">
                <p:oleObj spid="_x0000_s45309" name="Equation" r:id="rId13" imgW="748975" imgH="253890" progId="Equation.3">
                  <p:embed/>
                </p:oleObj>
              </mc:Choice>
              <mc:Fallback>
                <p:oleObj name="Equation" r:id="rId13" imgW="748975" imgH="253890" progId="Equation.3">
                  <p:embed/>
                  <p:pic>
                    <p:nvPicPr>
                      <p:cNvPr id="50198"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1455" y="5989637"/>
                        <a:ext cx="1776413" cy="601663"/>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269061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10</a:t>
            </a:fld>
            <a:endParaRPr lang="zh-CN" altLang="en-US"/>
          </a:p>
        </p:txBody>
      </p:sp>
      <p:sp>
        <p:nvSpPr>
          <p:cNvPr id="6" name="Text Box 24"/>
          <p:cNvSpPr txBox="1">
            <a:spLocks noChangeArrowheads="1"/>
          </p:cNvSpPr>
          <p:nvPr/>
        </p:nvSpPr>
        <p:spPr bwMode="auto">
          <a:xfrm>
            <a:off x="392266" y="173703"/>
            <a:ext cx="3024188"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同理，可求得在 </a:t>
            </a:r>
            <a:r>
              <a:rPr kumimoji="1" lang="en-US" altLang="zh-CN" sz="2000" b="1">
                <a:solidFill>
                  <a:srgbClr val="000000"/>
                </a:solidFill>
                <a:latin typeface="Times New Roman" pitchFamily="18" charset="0"/>
                <a:ea typeface="宋体" pitchFamily="2" charset="-122"/>
              </a:rPr>
              <a:t>n</a:t>
            </a:r>
            <a:r>
              <a:rPr kumimoji="1" lang="zh-CN" altLang="en-US" sz="2000" b="1">
                <a:solidFill>
                  <a:srgbClr val="000000"/>
                </a:solidFill>
                <a:latin typeface="Times New Roman" pitchFamily="18" charset="0"/>
                <a:ea typeface="宋体" pitchFamily="2" charset="-122"/>
              </a:rPr>
              <a:t>区：</a:t>
            </a:r>
          </a:p>
        </p:txBody>
      </p:sp>
      <p:graphicFrame>
        <p:nvGraphicFramePr>
          <p:cNvPr id="7" name="Object 25"/>
          <p:cNvGraphicFramePr>
            <a:graphicFrameLocks noChangeAspect="1"/>
          </p:cNvGraphicFramePr>
          <p:nvPr>
            <p:extLst>
              <p:ext uri="{D42A27DB-BD31-4B8C-83A1-F6EECF244321}">
                <p14:modId xmlns:p14="http://schemas.microsoft.com/office/powerpoint/2010/main" val="2158156241"/>
              </p:ext>
            </p:extLst>
          </p:nvPr>
        </p:nvGraphicFramePr>
        <p:xfrm>
          <a:off x="970116" y="605503"/>
          <a:ext cx="5029200" cy="1041400"/>
        </p:xfrm>
        <a:graphic>
          <a:graphicData uri="http://schemas.openxmlformats.org/presentationml/2006/ole">
            <mc:AlternateContent xmlns:mc="http://schemas.openxmlformats.org/markup-compatibility/2006">
              <mc:Choice xmlns:v="urn:schemas-microsoft-com:vml" Requires="v">
                <p:oleObj spid="_x0000_s46289" name="Equation" r:id="rId3" imgW="2514600" imgH="520700" progId="Equation.DSMT4">
                  <p:embed/>
                </p:oleObj>
              </mc:Choice>
              <mc:Fallback>
                <p:oleObj name="Equation" r:id="rId3" imgW="2514600" imgH="520700" progId="Equation.DSMT4">
                  <p:embed/>
                  <p:pic>
                    <p:nvPicPr>
                      <p:cNvPr id="51223"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116" y="605503"/>
                        <a:ext cx="5029200" cy="1041400"/>
                      </a:xfrm>
                      <a:prstGeom prst="rect">
                        <a:avLst/>
                      </a:prstGeom>
                      <a:solidFill>
                        <a:srgbClr val="FFFFFF"/>
                      </a:solidFill>
                    </p:spPr>
                  </p:pic>
                </p:oleObj>
              </mc:Fallback>
            </mc:AlternateContent>
          </a:graphicData>
        </a:graphic>
      </p:graphicFrame>
      <p:graphicFrame>
        <p:nvGraphicFramePr>
          <p:cNvPr id="8" name="Object 26"/>
          <p:cNvGraphicFramePr>
            <a:graphicFrameLocks noChangeAspect="1"/>
          </p:cNvGraphicFramePr>
          <p:nvPr>
            <p:extLst>
              <p:ext uri="{D42A27DB-BD31-4B8C-83A1-F6EECF244321}">
                <p14:modId xmlns:p14="http://schemas.microsoft.com/office/powerpoint/2010/main" val="1331075309"/>
              </p:ext>
            </p:extLst>
          </p:nvPr>
        </p:nvGraphicFramePr>
        <p:xfrm>
          <a:off x="100166" y="1699291"/>
          <a:ext cx="8788400" cy="1012825"/>
        </p:xfrm>
        <a:graphic>
          <a:graphicData uri="http://schemas.openxmlformats.org/presentationml/2006/ole">
            <mc:AlternateContent xmlns:mc="http://schemas.openxmlformats.org/markup-compatibility/2006">
              <mc:Choice xmlns:v="urn:schemas-microsoft-com:vml" Requires="v">
                <p:oleObj spid="_x0000_s46290" name="Equation" r:id="rId5" imgW="4813300" imgH="558800" progId="Equation.DSMT4">
                  <p:embed/>
                </p:oleObj>
              </mc:Choice>
              <mc:Fallback>
                <p:oleObj name="Equation" r:id="rId5" imgW="4813300" imgH="558800" progId="Equation.DSMT4">
                  <p:embed/>
                  <p:pic>
                    <p:nvPicPr>
                      <p:cNvPr id="51224"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166" y="1699291"/>
                        <a:ext cx="8788400" cy="1012825"/>
                      </a:xfrm>
                      <a:prstGeom prst="rect">
                        <a:avLst/>
                      </a:prstGeom>
                      <a:solidFill>
                        <a:srgbClr val="FFFFFF"/>
                      </a:solidFill>
                    </p:spPr>
                  </p:pic>
                </p:oleObj>
              </mc:Fallback>
            </mc:AlternateContent>
          </a:graphicData>
        </a:graphic>
      </p:graphicFrame>
      <p:graphicFrame>
        <p:nvGraphicFramePr>
          <p:cNvPr id="9" name="Object 6"/>
          <p:cNvGraphicFramePr>
            <a:graphicFrameLocks noChangeAspect="1"/>
          </p:cNvGraphicFramePr>
          <p:nvPr/>
        </p:nvGraphicFramePr>
        <p:xfrm>
          <a:off x="2028825" y="3141663"/>
          <a:ext cx="3073400" cy="939800"/>
        </p:xfrm>
        <a:graphic>
          <a:graphicData uri="http://schemas.openxmlformats.org/presentationml/2006/ole">
            <mc:AlternateContent xmlns:mc="http://schemas.openxmlformats.org/markup-compatibility/2006">
              <mc:Choice xmlns:v="urn:schemas-microsoft-com:vml" Requires="v">
                <p:oleObj spid="_x0000_s46291" name="Equation" r:id="rId7" imgW="1536480" imgH="469800" progId="Equation.DSMT4">
                  <p:embed/>
                </p:oleObj>
              </mc:Choice>
              <mc:Fallback>
                <p:oleObj name="Equation" r:id="rId7" imgW="1536480" imgH="469800" progId="Equation.DSMT4">
                  <p:embed/>
                  <p:pic>
                    <p:nvPicPr>
                      <p:cNvPr id="5939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8825" y="3141663"/>
                        <a:ext cx="3073400" cy="939800"/>
                      </a:xfrm>
                      <a:prstGeom prst="rect">
                        <a:avLst/>
                      </a:prstGeom>
                      <a:solidFill>
                        <a:srgbClr val="FFFFFF"/>
                      </a:solidFill>
                    </p:spPr>
                  </p:pic>
                </p:oleObj>
              </mc:Fallback>
            </mc:AlternateContent>
          </a:graphicData>
        </a:graphic>
      </p:graphicFrame>
      <p:sp>
        <p:nvSpPr>
          <p:cNvPr id="10" name="Text Box 7"/>
          <p:cNvSpPr txBox="1">
            <a:spLocks noChangeArrowheads="1"/>
          </p:cNvSpPr>
          <p:nvPr/>
        </p:nvSpPr>
        <p:spPr bwMode="auto">
          <a:xfrm>
            <a:off x="539750" y="3397250"/>
            <a:ext cx="1136650"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dirty="0">
                <a:solidFill>
                  <a:srgbClr val="000000"/>
                </a:solidFill>
                <a:latin typeface="Times New Roman" pitchFamily="18" charset="0"/>
                <a:ea typeface="宋体" pitchFamily="2" charset="-122"/>
              </a:rPr>
              <a:t>令</a:t>
            </a:r>
          </a:p>
        </p:txBody>
      </p:sp>
      <p:sp>
        <p:nvSpPr>
          <p:cNvPr id="11" name="Text Box 8"/>
          <p:cNvSpPr txBox="1">
            <a:spLocks noChangeArrowheads="1"/>
          </p:cNvSpPr>
          <p:nvPr/>
        </p:nvSpPr>
        <p:spPr bwMode="auto">
          <a:xfrm>
            <a:off x="539750" y="4498975"/>
            <a:ext cx="1917700"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宽基区极限</a:t>
            </a:r>
          </a:p>
        </p:txBody>
      </p:sp>
      <p:sp>
        <p:nvSpPr>
          <p:cNvPr id="12" name="Text Box 9"/>
          <p:cNvSpPr txBox="1">
            <a:spLocks noChangeArrowheads="1"/>
          </p:cNvSpPr>
          <p:nvPr/>
        </p:nvSpPr>
        <p:spPr bwMode="auto">
          <a:xfrm>
            <a:off x="539750" y="5561013"/>
            <a:ext cx="1917700" cy="39687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000" b="1">
                <a:solidFill>
                  <a:srgbClr val="000000"/>
                </a:solidFill>
                <a:latin typeface="Times New Roman" pitchFamily="18" charset="0"/>
                <a:ea typeface="宋体" pitchFamily="2" charset="-122"/>
              </a:rPr>
              <a:t>窄基区极限</a:t>
            </a:r>
          </a:p>
        </p:txBody>
      </p:sp>
      <p:sp>
        <p:nvSpPr>
          <p:cNvPr id="14" name="Text Box 11"/>
          <p:cNvSpPr txBox="1">
            <a:spLocks noChangeArrowheads="1"/>
          </p:cNvSpPr>
          <p:nvPr/>
        </p:nvSpPr>
        <p:spPr bwMode="auto">
          <a:xfrm>
            <a:off x="5580063" y="4316413"/>
            <a:ext cx="3024187" cy="762000"/>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000" b="1">
                <a:solidFill>
                  <a:srgbClr val="000000"/>
                </a:solidFill>
                <a:latin typeface="Times New Roman" pitchFamily="18" charset="0"/>
                <a:ea typeface="宋体" pitchFamily="2" charset="-122"/>
              </a:rPr>
              <a:t>由平衡时的少子的浓度和其扩散长度决定</a:t>
            </a:r>
          </a:p>
        </p:txBody>
      </p:sp>
      <p:sp>
        <p:nvSpPr>
          <p:cNvPr id="15" name="Text Box 12"/>
          <p:cNvSpPr txBox="1">
            <a:spLocks noChangeArrowheads="1"/>
          </p:cNvSpPr>
          <p:nvPr/>
        </p:nvSpPr>
        <p:spPr bwMode="auto">
          <a:xfrm>
            <a:off x="5580063" y="5378450"/>
            <a:ext cx="3024187" cy="762000"/>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000" b="1">
                <a:solidFill>
                  <a:srgbClr val="000000"/>
                </a:solidFill>
                <a:latin typeface="Times New Roman" pitchFamily="18" charset="0"/>
                <a:ea typeface="宋体" pitchFamily="2" charset="-122"/>
              </a:rPr>
              <a:t>由平衡时的少子的浓度和其在基区输运的长度决定</a:t>
            </a:r>
          </a:p>
        </p:txBody>
      </p:sp>
      <p:graphicFrame>
        <p:nvGraphicFramePr>
          <p:cNvPr id="16" name="Object 14"/>
          <p:cNvGraphicFramePr>
            <a:graphicFrameLocks noChangeAspect="1"/>
          </p:cNvGraphicFramePr>
          <p:nvPr/>
        </p:nvGraphicFramePr>
        <p:xfrm>
          <a:off x="2295525" y="4262438"/>
          <a:ext cx="2819400" cy="939800"/>
        </p:xfrm>
        <a:graphic>
          <a:graphicData uri="http://schemas.openxmlformats.org/presentationml/2006/ole">
            <mc:AlternateContent xmlns:mc="http://schemas.openxmlformats.org/markup-compatibility/2006">
              <mc:Choice xmlns:v="urn:schemas-microsoft-com:vml" Requires="v">
                <p:oleObj spid="_x0000_s46292" name="Equation" r:id="rId9" imgW="1409400" imgH="469800" progId="Equation.DSMT4">
                  <p:embed/>
                </p:oleObj>
              </mc:Choice>
              <mc:Fallback>
                <p:oleObj name="Equation" r:id="rId9" imgW="1409400" imgH="469800" progId="Equation.DSMT4">
                  <p:embed/>
                  <p:pic>
                    <p:nvPicPr>
                      <p:cNvPr id="59405"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5525" y="4262438"/>
                        <a:ext cx="2819400" cy="939800"/>
                      </a:xfrm>
                      <a:prstGeom prst="rect">
                        <a:avLst/>
                      </a:prstGeom>
                      <a:solidFill>
                        <a:srgbClr val="FFFFFF"/>
                      </a:solidFill>
                    </p:spPr>
                  </p:pic>
                </p:oleObj>
              </mc:Fallback>
            </mc:AlternateContent>
          </a:graphicData>
        </a:graphic>
      </p:graphicFrame>
      <p:graphicFrame>
        <p:nvGraphicFramePr>
          <p:cNvPr id="17" name="Object 15"/>
          <p:cNvGraphicFramePr>
            <a:graphicFrameLocks noChangeAspect="1"/>
          </p:cNvGraphicFramePr>
          <p:nvPr/>
        </p:nvGraphicFramePr>
        <p:xfrm>
          <a:off x="2314575" y="5314950"/>
          <a:ext cx="2819400" cy="939800"/>
        </p:xfrm>
        <a:graphic>
          <a:graphicData uri="http://schemas.openxmlformats.org/presentationml/2006/ole">
            <mc:AlternateContent xmlns:mc="http://schemas.openxmlformats.org/markup-compatibility/2006">
              <mc:Choice xmlns:v="urn:schemas-microsoft-com:vml" Requires="v">
                <p:oleObj spid="_x0000_s46293" name="Equation" r:id="rId11" imgW="1409400" imgH="469800" progId="Equation.DSMT4">
                  <p:embed/>
                </p:oleObj>
              </mc:Choice>
              <mc:Fallback>
                <p:oleObj name="Equation" r:id="rId11" imgW="1409400" imgH="469800" progId="Equation.DSMT4">
                  <p:embed/>
                  <p:pic>
                    <p:nvPicPr>
                      <p:cNvPr id="59406"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14575" y="5314950"/>
                        <a:ext cx="2819400" cy="939800"/>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9061024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11</a:t>
            </a:fld>
            <a:endParaRPr lang="zh-CN" altLang="en-US"/>
          </a:p>
        </p:txBody>
      </p:sp>
      <p:pic>
        <p:nvPicPr>
          <p:cNvPr id="3" name="Picture 3"/>
          <p:cNvPicPr>
            <a:picLocks noChangeAspect="1" noChangeArrowheads="1"/>
          </p:cNvPicPr>
          <p:nvPr/>
        </p:nvPicPr>
        <p:blipFill>
          <a:blip r:embed="rId3" cstate="print"/>
          <a:srcRect t="55493"/>
          <a:stretch>
            <a:fillRect/>
          </a:stretch>
        </p:blipFill>
        <p:spPr bwMode="auto">
          <a:xfrm>
            <a:off x="98425" y="267468"/>
            <a:ext cx="4618038" cy="3071812"/>
          </a:xfrm>
          <a:prstGeom prst="rect">
            <a:avLst/>
          </a:prstGeom>
          <a:noFill/>
          <a:ln w="9525">
            <a:noFill/>
            <a:miter lim="800000"/>
            <a:headEnd/>
            <a:tailEnd/>
          </a:ln>
        </p:spPr>
      </p:pic>
      <p:graphicFrame>
        <p:nvGraphicFramePr>
          <p:cNvPr id="4" name="Object 4"/>
          <p:cNvGraphicFramePr>
            <a:graphicFrameLocks noChangeAspect="1"/>
          </p:cNvGraphicFramePr>
          <p:nvPr>
            <p:extLst>
              <p:ext uri="{D42A27DB-BD31-4B8C-83A1-F6EECF244321}">
                <p14:modId xmlns:p14="http://schemas.microsoft.com/office/powerpoint/2010/main" val="2466637101"/>
              </p:ext>
            </p:extLst>
          </p:nvPr>
        </p:nvGraphicFramePr>
        <p:xfrm>
          <a:off x="4356100" y="1683518"/>
          <a:ext cx="4495800" cy="558800"/>
        </p:xfrm>
        <a:graphic>
          <a:graphicData uri="http://schemas.openxmlformats.org/presentationml/2006/ole">
            <mc:AlternateContent xmlns:mc="http://schemas.openxmlformats.org/markup-compatibility/2006">
              <mc:Choice xmlns:v="urn:schemas-microsoft-com:vml" Requires="v">
                <p:oleObj spid="_x0000_s47270" name="Equation" r:id="rId4" imgW="2247900" imgH="279400" progId="Equation.DSMT4">
                  <p:embed/>
                </p:oleObj>
              </mc:Choice>
              <mc:Fallback>
                <p:oleObj name="Equation" r:id="rId4" imgW="2247900" imgH="279400" progId="Equation.DSMT4">
                  <p:embed/>
                  <p:pic>
                    <p:nvPicPr>
                      <p:cNvPr id="6041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6100" y="1683518"/>
                        <a:ext cx="4495800" cy="558800"/>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1692433122"/>
              </p:ext>
            </p:extLst>
          </p:nvPr>
        </p:nvGraphicFramePr>
        <p:xfrm>
          <a:off x="4341813" y="746893"/>
          <a:ext cx="4648200" cy="558800"/>
        </p:xfrm>
        <a:graphic>
          <a:graphicData uri="http://schemas.openxmlformats.org/presentationml/2006/ole">
            <mc:AlternateContent xmlns:mc="http://schemas.openxmlformats.org/markup-compatibility/2006">
              <mc:Choice xmlns:v="urn:schemas-microsoft-com:vml" Requires="v">
                <p:oleObj spid="_x0000_s47271" name="Equation" r:id="rId6" imgW="2324100" imgH="279400" progId="Equation.DSMT4">
                  <p:embed/>
                </p:oleObj>
              </mc:Choice>
              <mc:Fallback>
                <p:oleObj name="Equation" r:id="rId6" imgW="2324100" imgH="279400" progId="Equation.DSMT4">
                  <p:embed/>
                  <p:pic>
                    <p:nvPicPr>
                      <p:cNvPr id="6042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1813" y="746893"/>
                        <a:ext cx="4648200" cy="558800"/>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graphicFrame>
        <p:nvGraphicFramePr>
          <p:cNvPr id="6" name="Object 6"/>
          <p:cNvGraphicFramePr>
            <a:graphicFrameLocks noChangeAspect="1"/>
          </p:cNvGraphicFramePr>
          <p:nvPr>
            <p:extLst>
              <p:ext uri="{D42A27DB-BD31-4B8C-83A1-F6EECF244321}">
                <p14:modId xmlns:p14="http://schemas.microsoft.com/office/powerpoint/2010/main" val="255271296"/>
              </p:ext>
            </p:extLst>
          </p:nvPr>
        </p:nvGraphicFramePr>
        <p:xfrm>
          <a:off x="1116013" y="3986980"/>
          <a:ext cx="7188200" cy="558800"/>
        </p:xfrm>
        <a:graphic>
          <a:graphicData uri="http://schemas.openxmlformats.org/presentationml/2006/ole">
            <mc:AlternateContent xmlns:mc="http://schemas.openxmlformats.org/markup-compatibility/2006">
              <mc:Choice xmlns:v="urn:schemas-microsoft-com:vml" Requires="v">
                <p:oleObj spid="_x0000_s47272" name="Equation" r:id="rId8" imgW="3594100" imgH="279400" progId="Equation.DSMT4">
                  <p:embed/>
                </p:oleObj>
              </mc:Choice>
              <mc:Fallback>
                <p:oleObj name="Equation" r:id="rId8" imgW="3594100" imgH="279400" progId="Equation.DSMT4">
                  <p:embed/>
                  <p:pic>
                    <p:nvPicPr>
                      <p:cNvPr id="60421"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3986980"/>
                        <a:ext cx="7188200" cy="558800"/>
                      </a:xfrm>
                      <a:prstGeom prst="rect">
                        <a:avLst/>
                      </a:prstGeom>
                      <a:solidFill>
                        <a:srgbClr val="FFFFFF"/>
                      </a:solidFill>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453742713"/>
              </p:ext>
            </p:extLst>
          </p:nvPr>
        </p:nvGraphicFramePr>
        <p:xfrm>
          <a:off x="1703388" y="3339280"/>
          <a:ext cx="5892800" cy="482600"/>
        </p:xfrm>
        <a:graphic>
          <a:graphicData uri="http://schemas.openxmlformats.org/presentationml/2006/ole">
            <mc:AlternateContent xmlns:mc="http://schemas.openxmlformats.org/markup-compatibility/2006">
              <mc:Choice xmlns:v="urn:schemas-microsoft-com:vml" Requires="v">
                <p:oleObj spid="_x0000_s47273" name="Equation" r:id="rId10" imgW="2946400" imgH="241300" progId="Equation.DSMT4">
                  <p:embed/>
                </p:oleObj>
              </mc:Choice>
              <mc:Fallback>
                <p:oleObj name="Equation" r:id="rId10" imgW="2946400" imgH="241300" progId="Equation.DSMT4">
                  <p:embed/>
                  <p:pic>
                    <p:nvPicPr>
                      <p:cNvPr id="60422"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03388" y="3339280"/>
                        <a:ext cx="5892800" cy="482600"/>
                      </a:xfrm>
                      <a:prstGeom prst="rect">
                        <a:avLst/>
                      </a:prstGeom>
                      <a:solidFill>
                        <a:srgbClr val="FFFFFF"/>
                      </a:solidFill>
                    </p:spPr>
                  </p:pic>
                </p:oleObj>
              </mc:Fallback>
            </mc:AlternateContent>
          </a:graphicData>
        </a:graphic>
      </p:graphicFrame>
      <p:sp>
        <p:nvSpPr>
          <p:cNvPr id="8" name="Text Box 10"/>
          <p:cNvSpPr txBox="1">
            <a:spLocks noChangeArrowheads="1"/>
          </p:cNvSpPr>
          <p:nvPr/>
        </p:nvSpPr>
        <p:spPr bwMode="auto">
          <a:xfrm>
            <a:off x="468313" y="4707705"/>
            <a:ext cx="8353425" cy="752475"/>
          </a:xfrm>
          <a:prstGeom prst="rect">
            <a:avLst/>
          </a:prstGeom>
          <a:noFill/>
          <a:ln w="9525">
            <a:noFill/>
            <a:miter lim="800000"/>
            <a:headEnd/>
            <a:tailEnd/>
          </a:ln>
          <a:effectLst/>
        </p:spPr>
        <p:txBody>
          <a:bodyPr>
            <a:spAutoFit/>
          </a:bodyPr>
          <a:lstStyle/>
          <a:p>
            <a:pPr defTabSz="914400" eaLnBrk="0" fontAlgn="base" hangingPunct="0">
              <a:lnSpc>
                <a:spcPct val="120000"/>
              </a:lnSpc>
              <a:spcBef>
                <a:spcPct val="50000"/>
              </a:spcBef>
              <a:spcAft>
                <a:spcPct val="0"/>
              </a:spcAft>
            </a:pPr>
            <a:r>
              <a:rPr lang="zh-CN" altLang="en-US" b="1">
                <a:solidFill>
                  <a:srgbClr val="3333CC"/>
                </a:solidFill>
                <a:latin typeface="Tahoma" pitchFamily="34" charset="0"/>
                <a:ea typeface="宋体" pitchFamily="2" charset="-122"/>
              </a:rPr>
              <a:t>以上结论的获得，引入了几个关键的概念，应用了几个关键的假设：</a:t>
            </a:r>
            <a:r>
              <a:rPr lang="en-US" altLang="zh-CN" b="1">
                <a:solidFill>
                  <a:srgbClr val="3333CC"/>
                </a:solidFill>
                <a:latin typeface="Tahoma" pitchFamily="34" charset="0"/>
                <a:ea typeface="宋体" pitchFamily="2" charset="-122"/>
              </a:rPr>
              <a:t>1</a:t>
            </a:r>
            <a:r>
              <a:rPr lang="zh-CN" altLang="en-US" b="1">
                <a:solidFill>
                  <a:srgbClr val="3333CC"/>
                </a:solidFill>
                <a:latin typeface="Tahoma" pitchFamily="34" charset="0"/>
                <a:ea typeface="宋体" pitchFamily="2" charset="-122"/>
              </a:rPr>
              <a:t>）空间电荷区、复合区、准中性区</a:t>
            </a:r>
            <a:r>
              <a:rPr lang="en-US" altLang="zh-CN" b="1">
                <a:solidFill>
                  <a:srgbClr val="3333CC"/>
                </a:solidFill>
                <a:latin typeface="Tahoma" pitchFamily="34" charset="0"/>
                <a:ea typeface="宋体" pitchFamily="2" charset="-122"/>
              </a:rPr>
              <a:t>3</a:t>
            </a:r>
            <a:r>
              <a:rPr lang="zh-CN" altLang="en-US" b="1">
                <a:solidFill>
                  <a:srgbClr val="3333CC"/>
                </a:solidFill>
                <a:latin typeface="Tahoma" pitchFamily="34" charset="0"/>
                <a:ea typeface="宋体" pitchFamily="2" charset="-122"/>
              </a:rPr>
              <a:t>个区域的划分；</a:t>
            </a:r>
            <a:r>
              <a:rPr lang="en-US" altLang="zh-CN" b="1">
                <a:solidFill>
                  <a:srgbClr val="3333CC"/>
                </a:solidFill>
                <a:latin typeface="Tahoma" pitchFamily="34" charset="0"/>
                <a:ea typeface="宋体" pitchFamily="2" charset="-122"/>
              </a:rPr>
              <a:t>2</a:t>
            </a:r>
            <a:r>
              <a:rPr lang="zh-CN" altLang="en-US" b="1">
                <a:solidFill>
                  <a:srgbClr val="3333CC"/>
                </a:solidFill>
                <a:latin typeface="Tahoma" pitchFamily="34" charset="0"/>
                <a:ea typeface="宋体" pitchFamily="2" charset="-122"/>
              </a:rPr>
              <a:t>）准费米能级变化、电流输运特征</a:t>
            </a:r>
          </a:p>
        </p:txBody>
      </p:sp>
      <p:sp>
        <p:nvSpPr>
          <p:cNvPr id="10" name="TextBox 11"/>
          <p:cNvSpPr txBox="1"/>
          <p:nvPr/>
        </p:nvSpPr>
        <p:spPr>
          <a:xfrm>
            <a:off x="468312" y="5622105"/>
            <a:ext cx="8353425" cy="781945"/>
          </a:xfrm>
          <a:prstGeom prst="rect">
            <a:avLst/>
          </a:prstGeom>
          <a:noFill/>
        </p:spPr>
        <p:txBody>
          <a:bodyPr wrap="square" rtlCol="0">
            <a:spAutoFit/>
          </a:bodyPr>
          <a:lstStyle/>
          <a:p>
            <a:pPr defTabSz="914400" eaLnBrk="0" fontAlgn="base" hangingPunct="0">
              <a:lnSpc>
                <a:spcPct val="120000"/>
              </a:lnSpc>
              <a:spcBef>
                <a:spcPct val="0"/>
              </a:spcBef>
              <a:spcAft>
                <a:spcPct val="0"/>
              </a:spcAft>
            </a:pPr>
            <a:r>
              <a:rPr lang="zh-CN" altLang="en-US" sz="2000" b="1" dirty="0" smtClean="0">
                <a:solidFill>
                  <a:srgbClr val="000000"/>
                </a:solidFill>
                <a:latin typeface="宋体" panose="02010600030101010101" pitchFamily="2" charset="-122"/>
                <a:ea typeface="宋体" panose="02010600030101010101" pitchFamily="2" charset="-122"/>
              </a:rPr>
              <a:t>显然，偏置</a:t>
            </a:r>
            <a:r>
              <a:rPr lang="en-US" altLang="zh-CN" sz="2000" b="1" dirty="0" smtClean="0">
                <a:solidFill>
                  <a:srgbClr val="000000"/>
                </a:solidFill>
                <a:latin typeface="宋体" panose="02010600030101010101" pitchFamily="2" charset="-122"/>
                <a:ea typeface="宋体" panose="02010600030101010101" pitchFamily="2" charset="-122"/>
              </a:rPr>
              <a:t>PN</a:t>
            </a:r>
            <a:r>
              <a:rPr lang="zh-CN" altLang="en-US" sz="2000" b="1" dirty="0" smtClean="0">
                <a:solidFill>
                  <a:srgbClr val="000000"/>
                </a:solidFill>
                <a:latin typeface="宋体" panose="02010600030101010101" pitchFamily="2" charset="-122"/>
                <a:ea typeface="宋体" panose="02010600030101010101" pitchFamily="2" charset="-122"/>
              </a:rPr>
              <a:t>结的</a:t>
            </a:r>
            <a:r>
              <a:rPr lang="en-US" altLang="zh-CN" sz="2000" b="1" dirty="0" smtClean="0">
                <a:solidFill>
                  <a:srgbClr val="000000"/>
                </a:solidFill>
                <a:latin typeface="宋体" panose="02010600030101010101" pitchFamily="2" charset="-122"/>
                <a:ea typeface="宋体" panose="02010600030101010101" pitchFamily="2" charset="-122"/>
              </a:rPr>
              <a:t>IV</a:t>
            </a:r>
            <a:r>
              <a:rPr lang="zh-CN" altLang="en-US" sz="2000" b="1" dirty="0" smtClean="0">
                <a:solidFill>
                  <a:srgbClr val="000000"/>
                </a:solidFill>
                <a:latin typeface="宋体" panose="02010600030101010101" pitchFamily="2" charset="-122"/>
                <a:ea typeface="宋体" panose="02010600030101010101" pitchFamily="2" charset="-122"/>
              </a:rPr>
              <a:t>特性由</a:t>
            </a:r>
            <a:r>
              <a:rPr lang="en-US" altLang="zh-CN" sz="2000" b="1" i="1" dirty="0" smtClean="0">
                <a:solidFill>
                  <a:srgbClr val="000000"/>
                </a:solidFill>
                <a:latin typeface="宋体" panose="02010600030101010101" pitchFamily="2" charset="-122"/>
                <a:ea typeface="宋体" panose="02010600030101010101" pitchFamily="2" charset="-122"/>
              </a:rPr>
              <a:t>J</a:t>
            </a:r>
            <a:r>
              <a:rPr lang="en-US" altLang="zh-CN" sz="2000" b="1" i="1" baseline="-25000" dirty="0" smtClean="0">
                <a:solidFill>
                  <a:srgbClr val="000000"/>
                </a:solidFill>
                <a:latin typeface="宋体" panose="02010600030101010101" pitchFamily="2" charset="-122"/>
                <a:ea typeface="宋体" panose="02010600030101010101" pitchFamily="2" charset="-122"/>
              </a:rPr>
              <a:t>0</a:t>
            </a:r>
            <a:r>
              <a:rPr lang="zh-CN" altLang="en-US" sz="2000" b="1" dirty="0" smtClean="0">
                <a:solidFill>
                  <a:srgbClr val="000000"/>
                </a:solidFill>
                <a:latin typeface="宋体" panose="02010600030101010101" pitchFamily="2" charset="-122"/>
                <a:ea typeface="宋体" panose="02010600030101010101" pitchFamily="2" charset="-122"/>
              </a:rPr>
              <a:t>和偏置电压决定，而决定</a:t>
            </a:r>
            <a:r>
              <a:rPr lang="en-US" altLang="zh-CN" sz="2000" b="1" i="1" dirty="0" smtClean="0">
                <a:solidFill>
                  <a:srgbClr val="000000"/>
                </a:solidFill>
                <a:latin typeface="宋体" panose="02010600030101010101" pitchFamily="2" charset="-122"/>
                <a:ea typeface="宋体" panose="02010600030101010101" pitchFamily="2" charset="-122"/>
              </a:rPr>
              <a:t>J</a:t>
            </a:r>
            <a:r>
              <a:rPr lang="en-US" altLang="zh-CN" sz="2000" b="1" i="1" baseline="-25000" dirty="0" smtClean="0">
                <a:solidFill>
                  <a:srgbClr val="000000"/>
                </a:solidFill>
                <a:latin typeface="宋体" panose="02010600030101010101" pitchFamily="2" charset="-122"/>
                <a:ea typeface="宋体" panose="02010600030101010101" pitchFamily="2" charset="-122"/>
              </a:rPr>
              <a:t>0</a:t>
            </a:r>
            <a:r>
              <a:rPr lang="zh-CN" altLang="en-US" sz="2000" b="1" dirty="0" smtClean="0">
                <a:solidFill>
                  <a:srgbClr val="000000"/>
                </a:solidFill>
                <a:latin typeface="宋体" panose="02010600030101010101" pitchFamily="2" charset="-122"/>
                <a:ea typeface="宋体" panose="02010600030101010101" pitchFamily="2" charset="-122"/>
              </a:rPr>
              <a:t>的因素是少子参数。这意味着，在</a:t>
            </a:r>
            <a:r>
              <a:rPr lang="en-US" altLang="zh-CN" sz="2000" b="1" dirty="0" smtClean="0">
                <a:solidFill>
                  <a:srgbClr val="000000"/>
                </a:solidFill>
                <a:latin typeface="宋体" panose="02010600030101010101" pitchFamily="2" charset="-122"/>
                <a:ea typeface="宋体" panose="02010600030101010101" pitchFamily="2" charset="-122"/>
              </a:rPr>
              <a:t>PN</a:t>
            </a:r>
            <a:r>
              <a:rPr lang="zh-CN" altLang="en-US" sz="2000" b="1" dirty="0" smtClean="0">
                <a:solidFill>
                  <a:srgbClr val="000000"/>
                </a:solidFill>
                <a:latin typeface="宋体" panose="02010600030101010101" pitchFamily="2" charset="-122"/>
                <a:ea typeface="宋体" panose="02010600030101010101" pitchFamily="2" charset="-122"/>
              </a:rPr>
              <a:t>结中主导电流输运的因素是少子特性。</a:t>
            </a:r>
            <a:endParaRPr lang="zh-CN" altLang="en-US" sz="2000" b="1"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4848722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12</a:t>
            </a:fld>
            <a:endParaRPr lang="zh-CN" altLang="en-US"/>
          </a:p>
        </p:txBody>
      </p:sp>
      <p:sp>
        <p:nvSpPr>
          <p:cNvPr id="5" name="矩形 4"/>
          <p:cNvSpPr/>
          <p:nvPr/>
        </p:nvSpPr>
        <p:spPr>
          <a:xfrm>
            <a:off x="497785" y="347759"/>
            <a:ext cx="2828018"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PN</a:t>
            </a:r>
            <a:r>
              <a:rPr kumimoji="1" lang="zh-CN" altLang="en-US" sz="2800" b="1" dirty="0" smtClean="0">
                <a:solidFill>
                  <a:srgbClr val="D96227"/>
                </a:solidFill>
                <a:latin typeface="Times New Roman" pitchFamily="18" charset="0"/>
                <a:ea typeface="宋体" pitchFamily="2" charset="-122"/>
                <a:cs typeface="Times New Roman" pitchFamily="18" charset="0"/>
              </a:rPr>
              <a:t>结的电容效应</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6" name="Text Box 9"/>
          <p:cNvSpPr txBox="1">
            <a:spLocks noChangeArrowheads="1"/>
          </p:cNvSpPr>
          <p:nvPr/>
        </p:nvSpPr>
        <p:spPr bwMode="auto">
          <a:xfrm>
            <a:off x="333273" y="1568502"/>
            <a:ext cx="8361363" cy="2012950"/>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对</a:t>
            </a: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结施加电压，引起电荷量变化的因素包括：</a:t>
            </a:r>
            <a:r>
              <a:rPr kumimoji="1" lang="zh-CN" altLang="en-US" sz="2400" b="1" dirty="0">
                <a:solidFill>
                  <a:srgbClr val="FF0000"/>
                </a:solidFill>
                <a:latin typeface="Times New Roman" pitchFamily="18" charset="0"/>
                <a:ea typeface="宋体" pitchFamily="2" charset="-122"/>
              </a:rPr>
              <a:t>空间电荷耗尽区耗尽电荷</a:t>
            </a:r>
            <a:r>
              <a:rPr kumimoji="1" lang="zh-CN" altLang="en-US" sz="2400" b="1" dirty="0">
                <a:solidFill>
                  <a:srgbClr val="000000"/>
                </a:solidFill>
                <a:latin typeface="Times New Roman" pitchFamily="18" charset="0"/>
                <a:ea typeface="宋体" pitchFamily="2" charset="-122"/>
              </a:rPr>
              <a:t>和 </a:t>
            </a:r>
            <a:r>
              <a:rPr kumimoji="1" lang="en-US" altLang="zh-CN" sz="2400" b="1" dirty="0">
                <a:solidFill>
                  <a:srgbClr val="FF0000"/>
                </a:solidFill>
                <a:latin typeface="Times New Roman" pitchFamily="18" charset="0"/>
                <a:ea typeface="宋体" pitchFamily="2" charset="-122"/>
              </a:rPr>
              <a:t>PN</a:t>
            </a:r>
            <a:r>
              <a:rPr kumimoji="1" lang="zh-CN" altLang="en-US" sz="2400" b="1" dirty="0">
                <a:solidFill>
                  <a:srgbClr val="FF0000"/>
                </a:solidFill>
                <a:latin typeface="Times New Roman" pitchFamily="18" charset="0"/>
                <a:ea typeface="宋体" pitchFamily="2" charset="-122"/>
              </a:rPr>
              <a:t>结中注入的过剩少子</a:t>
            </a:r>
            <a:r>
              <a:rPr kumimoji="1" lang="zh-CN" altLang="en-US" sz="2400" b="1" dirty="0">
                <a:solidFill>
                  <a:srgbClr val="000000"/>
                </a:solidFill>
                <a:latin typeface="Times New Roman" pitchFamily="18" charset="0"/>
                <a:ea typeface="宋体" pitchFamily="2" charset="-122"/>
              </a:rPr>
              <a:t>。由于在 </a:t>
            </a: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结中，输运少子的行为显著影响 </a:t>
            </a: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结中电流的输运，因此，必须予以考虑。</a:t>
            </a:r>
          </a:p>
        </p:txBody>
      </p:sp>
      <p:sp>
        <p:nvSpPr>
          <p:cNvPr id="7" name="Rectangle 10"/>
          <p:cNvSpPr>
            <a:spLocks noChangeArrowheads="1"/>
          </p:cNvSpPr>
          <p:nvPr/>
        </p:nvSpPr>
        <p:spPr bwMode="auto">
          <a:xfrm>
            <a:off x="333273" y="1119239"/>
            <a:ext cx="8577263" cy="530225"/>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一个电系统的电荷量随外加电压变化，则该系统就存在电容。</a:t>
            </a:r>
          </a:p>
        </p:txBody>
      </p:sp>
      <p:sp>
        <p:nvSpPr>
          <p:cNvPr id="8" name="Text Box 11"/>
          <p:cNvSpPr txBox="1">
            <a:spLocks noChangeArrowheads="1"/>
          </p:cNvSpPr>
          <p:nvPr/>
        </p:nvSpPr>
        <p:spPr bwMode="auto">
          <a:xfrm>
            <a:off x="333273" y="3596983"/>
            <a:ext cx="8483600" cy="457200"/>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dirty="0">
                <a:solidFill>
                  <a:srgbClr val="FF3300"/>
                </a:solidFill>
                <a:latin typeface="Times New Roman" pitchFamily="18" charset="0"/>
                <a:ea typeface="宋体" pitchFamily="2" charset="-122"/>
              </a:rPr>
              <a:t>电容对器件和电路性能的影响主要体现在其瞬态响应特性方面</a:t>
            </a:r>
          </a:p>
        </p:txBody>
      </p:sp>
      <p:sp>
        <p:nvSpPr>
          <p:cNvPr id="10" name="Text Box 6"/>
          <p:cNvSpPr txBox="1">
            <a:spLocks noChangeArrowheads="1"/>
          </p:cNvSpPr>
          <p:nvPr/>
        </p:nvSpPr>
        <p:spPr bwMode="auto">
          <a:xfrm>
            <a:off x="392265" y="4145820"/>
            <a:ext cx="7769071" cy="2456057"/>
          </a:xfrm>
          <a:prstGeom prst="rect">
            <a:avLst/>
          </a:prstGeom>
          <a:noFill/>
          <a:ln w="38100" cap="sq">
            <a:noFill/>
            <a:miter lim="800000"/>
            <a:headEnd type="none" w="sm" len="sm"/>
            <a:tailEnd type="none" w="sm" len="sm"/>
          </a:ln>
        </p:spPr>
        <p:txBody>
          <a:bodyPr wrap="square">
            <a:spAutoFit/>
          </a:bodyPr>
          <a:lstStyle/>
          <a:p>
            <a:pPr defTabSz="914400" eaLnBrk="0" fontAlgn="base" hangingPunct="0">
              <a:lnSpc>
                <a:spcPct val="130000"/>
              </a:lnSpc>
              <a:spcBef>
                <a:spcPct val="50000"/>
              </a:spcBef>
              <a:spcAft>
                <a:spcPct val="0"/>
              </a:spcAft>
            </a:pP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结小信号耗尽层</a:t>
            </a:r>
            <a:r>
              <a:rPr kumimoji="1" lang="zh-CN" altLang="en-US" sz="2400" b="1" dirty="0">
                <a:solidFill>
                  <a:srgbClr val="0070C0"/>
                </a:solidFill>
                <a:latin typeface="Times New Roman" pitchFamily="18" charset="0"/>
                <a:ea typeface="宋体" pitchFamily="2" charset="-122"/>
              </a:rPr>
              <a:t>势垒电容</a:t>
            </a:r>
            <a:r>
              <a:rPr kumimoji="1" lang="zh-CN" altLang="en-US" sz="2400" b="1" dirty="0">
                <a:solidFill>
                  <a:srgbClr val="000000"/>
                </a:solidFill>
                <a:latin typeface="Times New Roman" pitchFamily="18" charset="0"/>
                <a:ea typeface="宋体" pitchFamily="2" charset="-122"/>
              </a:rPr>
              <a:t>如下</a:t>
            </a:r>
            <a:r>
              <a:rPr kumimoji="1" lang="zh-CN" altLang="en-US" sz="2400" b="1" dirty="0" smtClean="0">
                <a:solidFill>
                  <a:srgbClr val="000000"/>
                </a:solidFill>
                <a:latin typeface="Times New Roman" pitchFamily="18" charset="0"/>
                <a:ea typeface="宋体" pitchFamily="2" charset="-122"/>
              </a:rPr>
              <a:t>：</a:t>
            </a:r>
            <a:endParaRPr kumimoji="1" lang="zh-CN" altLang="en-US" sz="2400" b="1" dirty="0">
              <a:solidFill>
                <a:srgbClr val="000000"/>
              </a:solidFill>
              <a:latin typeface="Times New Roman" pitchFamily="18" charset="0"/>
              <a:ea typeface="宋体" pitchFamily="2" charset="-122"/>
            </a:endParaRPr>
          </a:p>
          <a:p>
            <a:pPr algn="ctr" defTabSz="914400" eaLnBrk="0" fontAlgn="base" hangingPunct="0">
              <a:lnSpc>
                <a:spcPct val="130000"/>
              </a:lnSpc>
              <a:spcBef>
                <a:spcPct val="50000"/>
              </a:spcBef>
              <a:spcAft>
                <a:spcPct val="0"/>
              </a:spcAft>
            </a:pPr>
            <a:endParaRPr kumimoji="1" lang="en-US" altLang="zh-CN" b="1" dirty="0" smtClean="0">
              <a:solidFill>
                <a:srgbClr val="000000"/>
              </a:solidFill>
              <a:latin typeface="Times New Roman" pitchFamily="18" charset="0"/>
              <a:ea typeface="宋体" pitchFamily="2" charset="-122"/>
            </a:endParaRPr>
          </a:p>
          <a:p>
            <a:pPr algn="ctr" defTabSz="914400" eaLnBrk="0" fontAlgn="base" hangingPunct="0">
              <a:lnSpc>
                <a:spcPct val="130000"/>
              </a:lnSpc>
              <a:spcBef>
                <a:spcPct val="50000"/>
              </a:spcBef>
              <a:spcAft>
                <a:spcPct val="0"/>
              </a:spcAft>
            </a:pPr>
            <a:endParaRPr kumimoji="1" lang="zh-CN" altLang="en-US" sz="2400" b="1" dirty="0">
              <a:solidFill>
                <a:srgbClr val="000000"/>
              </a:solidFill>
              <a:latin typeface="Times New Roman" pitchFamily="18" charset="0"/>
              <a:ea typeface="宋体" pitchFamily="2" charset="-122"/>
            </a:endParaRPr>
          </a:p>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其中</a:t>
            </a:r>
            <a:r>
              <a:rPr kumimoji="1" lang="en-US" altLang="zh-CN" sz="2400" b="1" dirty="0">
                <a:solidFill>
                  <a:srgbClr val="000000"/>
                </a:solidFill>
                <a:latin typeface="Times New Roman" pitchFamily="18" charset="0"/>
                <a:ea typeface="宋体" pitchFamily="2" charset="-122"/>
              </a:rPr>
              <a:t>A</a:t>
            </a:r>
            <a:r>
              <a:rPr kumimoji="1" lang="zh-CN" altLang="en-US" sz="2400" b="1" dirty="0">
                <a:solidFill>
                  <a:srgbClr val="000000"/>
                </a:solidFill>
                <a:latin typeface="Times New Roman" pitchFamily="18" charset="0"/>
                <a:ea typeface="宋体" pitchFamily="2" charset="-122"/>
              </a:rPr>
              <a:t>为</a:t>
            </a:r>
            <a:r>
              <a:rPr kumimoji="1" lang="en-US" altLang="zh-CN" sz="2400" b="1" dirty="0">
                <a:solidFill>
                  <a:srgbClr val="000000"/>
                </a:solidFill>
                <a:latin typeface="Times New Roman" pitchFamily="18" charset="0"/>
                <a:ea typeface="宋体" pitchFamily="2" charset="-122"/>
              </a:rPr>
              <a:t>PN</a:t>
            </a:r>
            <a:r>
              <a:rPr kumimoji="1" lang="zh-CN" altLang="en-US" sz="2400" b="1" dirty="0">
                <a:solidFill>
                  <a:srgbClr val="000000"/>
                </a:solidFill>
                <a:latin typeface="Times New Roman" pitchFamily="18" charset="0"/>
                <a:ea typeface="宋体" pitchFamily="2" charset="-122"/>
              </a:rPr>
              <a:t>结横截面积，</a:t>
            </a:r>
            <a:r>
              <a:rPr kumimoji="1" lang="en-US" altLang="zh-CN" sz="2400" b="1" dirty="0">
                <a:solidFill>
                  <a:srgbClr val="000000"/>
                </a:solidFill>
                <a:latin typeface="Times New Roman" pitchFamily="18" charset="0"/>
                <a:ea typeface="宋体" pitchFamily="2" charset="-122"/>
              </a:rPr>
              <a:t>W</a:t>
            </a:r>
            <a:r>
              <a:rPr kumimoji="1" lang="zh-CN" altLang="en-US" sz="2400" b="1" dirty="0">
                <a:solidFill>
                  <a:srgbClr val="000000"/>
                </a:solidFill>
                <a:latin typeface="Times New Roman" pitchFamily="18" charset="0"/>
                <a:ea typeface="宋体" pitchFamily="2" charset="-122"/>
              </a:rPr>
              <a:t>为耗尽层厚度</a:t>
            </a:r>
            <a:r>
              <a:rPr kumimoji="1" lang="zh-CN" altLang="en-US" sz="2400" b="1" dirty="0" smtClean="0">
                <a:solidFill>
                  <a:srgbClr val="000000"/>
                </a:solidFill>
                <a:latin typeface="Times New Roman" pitchFamily="18" charset="0"/>
                <a:ea typeface="宋体" pitchFamily="2" charset="-122"/>
              </a:rPr>
              <a:t>。</a:t>
            </a:r>
            <a:endParaRPr kumimoji="1" lang="zh-CN" altLang="en-US" sz="2400" b="1" dirty="0">
              <a:solidFill>
                <a:srgbClr val="000000"/>
              </a:solidFill>
              <a:latin typeface="Times New Roman" pitchFamily="18" charset="0"/>
              <a:ea typeface="宋体" pitchFamily="2" charset="-122"/>
            </a:endParaRPr>
          </a:p>
        </p:txBody>
      </p:sp>
      <p:graphicFrame>
        <p:nvGraphicFramePr>
          <p:cNvPr id="14" name="Object 7"/>
          <p:cNvGraphicFramePr>
            <a:graphicFrameLocks noChangeAspect="1"/>
          </p:cNvGraphicFramePr>
          <p:nvPr>
            <p:extLst/>
          </p:nvPr>
        </p:nvGraphicFramePr>
        <p:xfrm>
          <a:off x="3554873" y="4894416"/>
          <a:ext cx="1797050" cy="944563"/>
        </p:xfrm>
        <a:graphic>
          <a:graphicData uri="http://schemas.openxmlformats.org/presentationml/2006/ole">
            <mc:AlternateContent xmlns:mc="http://schemas.openxmlformats.org/markup-compatibility/2006">
              <mc:Choice xmlns:v="urn:schemas-microsoft-com:vml" Requires="v">
                <p:oleObj spid="_x0000_s169996" name="Equation" r:id="rId3" imgW="748975" imgH="393529" progId="Equation.3">
                  <p:embed/>
                </p:oleObj>
              </mc:Choice>
              <mc:Fallback>
                <p:oleObj name="Equation" r:id="rId3" imgW="748975" imgH="393529" progId="Equation.3">
                  <p:embed/>
                  <p:pic>
                    <p:nvPicPr>
                      <p:cNvPr id="1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4873" y="4894416"/>
                        <a:ext cx="1797050" cy="944563"/>
                      </a:xfrm>
                      <a:prstGeom prst="rect">
                        <a:avLst/>
                      </a:prstGeom>
                      <a:solidFill>
                        <a:srgbClr val="FFCF0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8"/>
          <p:cNvGraphicFramePr>
            <a:graphicFrameLocks noChangeAspect="1"/>
          </p:cNvGraphicFramePr>
          <p:nvPr>
            <p:extLst/>
          </p:nvPr>
        </p:nvGraphicFramePr>
        <p:xfrm>
          <a:off x="1043448" y="4894416"/>
          <a:ext cx="1431925" cy="944563"/>
        </p:xfrm>
        <a:graphic>
          <a:graphicData uri="http://schemas.openxmlformats.org/presentationml/2006/ole">
            <mc:AlternateContent xmlns:mc="http://schemas.openxmlformats.org/markup-compatibility/2006">
              <mc:Choice xmlns:v="urn:schemas-microsoft-com:vml" Requires="v">
                <p:oleObj spid="_x0000_s169997" name="公式" r:id="rId5" imgW="596641" imgH="393529" progId="Equation.3">
                  <p:embed/>
                </p:oleObj>
              </mc:Choice>
              <mc:Fallback>
                <p:oleObj name="公式" r:id="rId5" imgW="596641" imgH="393529" progId="Equation.3">
                  <p:embed/>
                  <p:pic>
                    <p:nvPicPr>
                      <p:cNvPr id="15"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448" y="4894416"/>
                        <a:ext cx="1431925" cy="944563"/>
                      </a:xfrm>
                      <a:prstGeom prst="rect">
                        <a:avLst/>
                      </a:prstGeom>
                      <a:solidFill>
                        <a:srgbClr val="FFCF0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AutoShape 9"/>
          <p:cNvSpPr>
            <a:spLocks noChangeArrowheads="1"/>
          </p:cNvSpPr>
          <p:nvPr/>
        </p:nvSpPr>
        <p:spPr bwMode="auto">
          <a:xfrm>
            <a:off x="2669048" y="5180166"/>
            <a:ext cx="520700" cy="406400"/>
          </a:xfrm>
          <a:prstGeom prst="rightArrow">
            <a:avLst>
              <a:gd name="adj1" fmla="val 50000"/>
              <a:gd name="adj2" fmla="val 32031"/>
            </a:avLst>
          </a:prstGeom>
          <a:solidFill>
            <a:srgbClr val="00E4A8"/>
          </a:solidFill>
          <a:ln w="38100" cap="sq">
            <a:solidFill>
              <a:srgbClr val="000000"/>
            </a:solidFill>
            <a:miter lim="800000"/>
            <a:headEnd type="none" w="sm" len="sm"/>
            <a:tailEnd type="none" w="sm" len="sm"/>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latin typeface="Tahoma" pitchFamily="34" charset="0"/>
              <a:ea typeface="宋体" pitchFamily="2" charset="-122"/>
            </a:endParaRPr>
          </a:p>
        </p:txBody>
      </p:sp>
    </p:spTree>
    <p:extLst>
      <p:ext uri="{BB962C8B-B14F-4D97-AF65-F5344CB8AC3E}">
        <p14:creationId xmlns:p14="http://schemas.microsoft.com/office/powerpoint/2010/main" val="292274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13</a:t>
            </a:fld>
            <a:endParaRPr lang="zh-CN" altLang="en-US"/>
          </a:p>
        </p:txBody>
      </p:sp>
      <p:sp>
        <p:nvSpPr>
          <p:cNvPr id="3" name="矩形 2"/>
          <p:cNvSpPr/>
          <p:nvPr/>
        </p:nvSpPr>
        <p:spPr>
          <a:xfrm>
            <a:off x="497785" y="347759"/>
            <a:ext cx="2828018"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PN</a:t>
            </a:r>
            <a:r>
              <a:rPr kumimoji="1" lang="zh-CN" altLang="en-US" sz="2800" b="1" dirty="0" smtClean="0">
                <a:solidFill>
                  <a:srgbClr val="D96227"/>
                </a:solidFill>
                <a:latin typeface="Times New Roman" pitchFamily="18" charset="0"/>
                <a:ea typeface="宋体" pitchFamily="2" charset="-122"/>
                <a:cs typeface="Times New Roman" pitchFamily="18" charset="0"/>
              </a:rPr>
              <a:t>结的扩散电容</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4" name="灯片编号占位符 3"/>
          <p:cNvSpPr txBox="1">
            <a:spLocks/>
          </p:cNvSpPr>
          <p:nvPr/>
        </p:nvSpPr>
        <p:spPr bwMode="auto">
          <a:xfrm>
            <a:off x="6528466" y="3559483"/>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457200" rtl="0" eaLnBrk="1" latinLnBrk="0" hangingPunct="1">
              <a:spcBef>
                <a:spcPct val="20000"/>
              </a:spcBef>
              <a:buFont typeface="Arial" panose="020B0604020202020204" pitchFamily="34" charset="0"/>
              <a:buChar char="•"/>
              <a:defRPr sz="3200" kern="1200">
                <a:solidFill>
                  <a:schemeClr val="tx1"/>
                </a:solidFill>
                <a:latin typeface="Calibri" panose="020F0502020204030204" pitchFamily="34" charset="0"/>
                <a:ea typeface="宋体" panose="02010600030101010101" pitchFamily="2" charset="-122"/>
                <a:cs typeface="+mn-cs"/>
              </a:defRPr>
            </a:lvl1pPr>
            <a:lvl2pPr marL="742950" indent="-285750" algn="l" defTabSz="457200" rtl="0" eaLnBrk="1" latinLnBrk="0" hangingPunct="1">
              <a:spcBef>
                <a:spcPct val="20000"/>
              </a:spcBef>
              <a:buFont typeface="Arial" panose="020B0604020202020204" pitchFamily="34" charset="0"/>
              <a:buChar char="–"/>
              <a:defRPr sz="2800" kern="1200">
                <a:solidFill>
                  <a:schemeClr val="tx1"/>
                </a:solidFill>
                <a:latin typeface="Calibri" panose="020F0502020204030204" pitchFamily="34" charset="0"/>
                <a:ea typeface="宋体" panose="02010600030101010101" pitchFamily="2" charset="-122"/>
                <a:cs typeface="+mn-cs"/>
              </a:defRPr>
            </a:lvl2pPr>
            <a:lvl3pPr marL="1143000" indent="-228600" algn="l" defTabSz="457200" rtl="0" eaLnBrk="1" latinLnBrk="0" hangingPunct="1">
              <a:spcBef>
                <a:spcPct val="20000"/>
              </a:spcBef>
              <a:buFont typeface="Arial" panose="020B0604020202020204" pitchFamily="34" charset="0"/>
              <a:buChar char="•"/>
              <a:defRPr sz="2400" kern="1200">
                <a:solidFill>
                  <a:schemeClr val="tx1"/>
                </a:solidFill>
                <a:latin typeface="Calibri" panose="020F0502020204030204" pitchFamily="34" charset="0"/>
                <a:ea typeface="宋体" panose="02010600030101010101" pitchFamily="2" charset="-122"/>
                <a:cs typeface="+mn-cs"/>
              </a:defRPr>
            </a:lvl3pPr>
            <a:lvl4pPr marL="1600200" indent="-228600" algn="l" defTabSz="457200" rtl="0" eaLnBrk="1" latinLnBrk="0" hangingPunct="1">
              <a:spcBef>
                <a:spcPct val="20000"/>
              </a:spcBef>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4pPr>
            <a:lvl5pPr marL="2057400" indent="-228600" algn="l" defTabSz="457200" rtl="0" eaLnBrk="1" latinLnBrk="0" hangingPunct="1">
              <a:spcBef>
                <a:spcPct val="20000"/>
              </a:spcBef>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5pPr>
            <a:lvl6pPr marL="2514600" indent="-228600" algn="l" defTabSz="4572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6pPr>
            <a:lvl7pPr marL="2971800" indent="-228600" algn="l" defTabSz="4572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7pPr>
            <a:lvl8pPr marL="3429000" indent="-228600" algn="l" defTabSz="4572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8pPr>
            <a:lvl9pPr marL="3886200" indent="-228600" algn="l" defTabSz="4572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9pPr>
          </a:lstStyle>
          <a:p>
            <a:pPr>
              <a:spcBef>
                <a:spcPct val="0"/>
              </a:spcBef>
              <a:buFontTx/>
              <a:buNone/>
            </a:pPr>
            <a:fld id="{A079D79C-F9EE-4E6E-A63E-97E01479028E}" type="slidenum">
              <a:rPr lang="en-US" altLang="zh-CN" sz="1200" smtClean="0">
                <a:solidFill>
                  <a:srgbClr val="000000"/>
                </a:solidFill>
                <a:latin typeface="Times New Roman" panose="02020603050405020304" pitchFamily="18" charset="0"/>
                <a:cs typeface="Times New Roman" panose="02020603050405020304" pitchFamily="18" charset="0"/>
              </a:rPr>
              <a:pPr>
                <a:spcBef>
                  <a:spcPct val="0"/>
                </a:spcBef>
                <a:buFontTx/>
                <a:buNone/>
              </a:pPr>
              <a:t>13</a:t>
            </a:fld>
            <a:endParaRPr lang="en-US" altLang="zh-CN" sz="1200" smtClean="0">
              <a:solidFill>
                <a:srgbClr val="000000"/>
              </a:solidFill>
              <a:latin typeface="Times New Roman" panose="02020603050405020304" pitchFamily="18" charset="0"/>
              <a:cs typeface="Times New Roman" panose="02020603050405020304" pitchFamily="18" charset="0"/>
            </a:endParaRPr>
          </a:p>
        </p:txBody>
      </p:sp>
      <p:sp>
        <p:nvSpPr>
          <p:cNvPr id="5" name="Text Box 7"/>
          <p:cNvSpPr txBox="1">
            <a:spLocks noChangeArrowheads="1"/>
          </p:cNvSpPr>
          <p:nvPr/>
        </p:nvSpPr>
        <p:spPr bwMode="auto">
          <a:xfrm>
            <a:off x="261016" y="2367271"/>
            <a:ext cx="53165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buFontTx/>
              <a:buNone/>
            </a:pPr>
            <a:r>
              <a:rPr kumimoji="1" lang="en-US" altLang="zh-CN" sz="2400" b="1" u="none">
                <a:solidFill>
                  <a:srgbClr val="0000CC"/>
                </a:solidFill>
                <a:latin typeface="Times New Roman" panose="02020603050405020304" pitchFamily="18" charset="0"/>
                <a:cs typeface="Times New Roman" panose="02020603050405020304" pitchFamily="18" charset="0"/>
              </a:rPr>
              <a:t>   </a:t>
            </a:r>
            <a:r>
              <a:rPr kumimoji="1" lang="zh-CN" altLang="en-US" sz="2400" b="1" u="none">
                <a:solidFill>
                  <a:srgbClr val="0000CC"/>
                </a:solidFill>
                <a:latin typeface="Times New Roman" panose="02020603050405020304" pitchFamily="18" charset="0"/>
                <a:cs typeface="Times New Roman" panose="02020603050405020304" pitchFamily="18" charset="0"/>
              </a:rPr>
              <a:t>正向偏压</a:t>
            </a:r>
            <a:r>
              <a:rPr kumimoji="1" lang="en-US" altLang="zh-CN" sz="2400" b="1" i="1" u="none">
                <a:solidFill>
                  <a:srgbClr val="0000CC"/>
                </a:solidFill>
                <a:latin typeface="Times New Roman" panose="02020603050405020304" pitchFamily="18" charset="0"/>
                <a:cs typeface="Times New Roman" panose="02020603050405020304" pitchFamily="18" charset="0"/>
              </a:rPr>
              <a:t>V</a:t>
            </a:r>
            <a:r>
              <a:rPr kumimoji="1" lang="en-US" altLang="zh-CN" sz="2400" b="1" u="none" baseline="-25000">
                <a:solidFill>
                  <a:srgbClr val="0000CC"/>
                </a:solidFill>
                <a:latin typeface="Times New Roman" panose="02020603050405020304" pitchFamily="18" charset="0"/>
                <a:cs typeface="Times New Roman" panose="02020603050405020304" pitchFamily="18" charset="0"/>
              </a:rPr>
              <a:t>F</a:t>
            </a:r>
            <a:r>
              <a:rPr kumimoji="1" lang="zh-CN" altLang="en-US" sz="2400" b="1" u="none">
                <a:solidFill>
                  <a:srgbClr val="0000CC"/>
                </a:solidFill>
                <a:latin typeface="Times New Roman" panose="02020603050405020304" pitchFamily="18" charset="0"/>
                <a:cs typeface="Times New Roman" panose="02020603050405020304" pitchFamily="18" charset="0"/>
              </a:rPr>
              <a:t>下</a:t>
            </a:r>
            <a:r>
              <a:rPr kumimoji="1" lang="zh-CN" altLang="en-US" sz="2400" b="1" u="none">
                <a:solidFill>
                  <a:srgbClr val="000000"/>
                </a:solidFill>
                <a:latin typeface="Times New Roman" panose="02020603050405020304" pitchFamily="18" charset="0"/>
                <a:cs typeface="Times New Roman" panose="02020603050405020304" pitchFamily="18" charset="0"/>
              </a:rPr>
              <a:t>，结两边各一个扩散长度内的过剩少子以及为保持电中性而积累的等量的过剩多子随</a:t>
            </a:r>
            <a:r>
              <a:rPr kumimoji="1" lang="en-US" altLang="zh-CN" sz="2400" b="1" i="1" u="none">
                <a:solidFill>
                  <a:srgbClr val="000000"/>
                </a:solidFill>
                <a:latin typeface="Times New Roman" panose="02020603050405020304" pitchFamily="18" charset="0"/>
                <a:cs typeface="Times New Roman" panose="02020603050405020304" pitchFamily="18" charset="0"/>
              </a:rPr>
              <a:t>V</a:t>
            </a:r>
            <a:r>
              <a:rPr kumimoji="1" lang="en-US" altLang="zh-CN" sz="2400" b="1" u="none" baseline="-25000">
                <a:solidFill>
                  <a:srgbClr val="000000"/>
                </a:solidFill>
                <a:latin typeface="Times New Roman" panose="02020603050405020304" pitchFamily="18" charset="0"/>
                <a:cs typeface="Times New Roman" panose="02020603050405020304" pitchFamily="18" charset="0"/>
              </a:rPr>
              <a:t>F</a:t>
            </a:r>
            <a:r>
              <a:rPr kumimoji="1" lang="zh-CN" altLang="en-US" sz="2400" b="1" u="none">
                <a:solidFill>
                  <a:srgbClr val="000000"/>
                </a:solidFill>
                <a:latin typeface="Times New Roman" panose="02020603050405020304" pitchFamily="18" charset="0"/>
                <a:cs typeface="Times New Roman" panose="02020603050405020304" pitchFamily="18" charset="0"/>
              </a:rPr>
              <a:t>变化形成扩散电容。</a:t>
            </a:r>
            <a:endParaRPr kumimoji="1" lang="en-US" altLang="zh-CN" sz="2400" b="1" u="none">
              <a:solidFill>
                <a:srgbClr val="000000"/>
              </a:solidFill>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nvPr>
        </p:nvGraphicFramePr>
        <p:xfrm>
          <a:off x="6056978" y="2005321"/>
          <a:ext cx="2732088" cy="2100262"/>
        </p:xfrm>
        <a:graphic>
          <a:graphicData uri="http://schemas.openxmlformats.org/presentationml/2006/ole">
            <mc:AlternateContent xmlns:mc="http://schemas.openxmlformats.org/markup-compatibility/2006">
              <mc:Choice xmlns:v="urn:schemas-microsoft-com:vml" Requires="v">
                <p:oleObj spid="_x0000_s171015" name="BMP 图象" r:id="rId3" imgW="5428571" imgH="3866667" progId="PBrush">
                  <p:embed/>
                </p:oleObj>
              </mc:Choice>
              <mc:Fallback>
                <p:oleObj name="BMP 图象" r:id="rId3" imgW="5428571" imgH="3866667" progId="PBrush">
                  <p:embed/>
                  <p:pic>
                    <p:nvPicPr>
                      <p:cNvPr id="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6978" y="2005321"/>
                        <a:ext cx="2732088"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2"/>
          <p:cNvSpPr>
            <a:spLocks noChangeArrowheads="1"/>
          </p:cNvSpPr>
          <p:nvPr/>
        </p:nvSpPr>
        <p:spPr bwMode="auto">
          <a:xfrm>
            <a:off x="261016" y="1121083"/>
            <a:ext cx="71342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2400" b="1" u="none" dirty="0">
                <a:latin typeface="Times New Roman" panose="02020603050405020304" pitchFamily="18" charset="0"/>
                <a:cs typeface="Times New Roman" panose="02020603050405020304" pitchFamily="18" charset="0"/>
              </a:rPr>
              <a:t>扩散电容（</a:t>
            </a:r>
            <a:r>
              <a:rPr lang="en-US" altLang="zh-CN" sz="2400" b="1" u="none" dirty="0">
                <a:latin typeface="Times New Roman" panose="02020603050405020304" pitchFamily="18" charset="0"/>
                <a:cs typeface="Times New Roman" panose="02020603050405020304" pitchFamily="18" charset="0"/>
              </a:rPr>
              <a:t>Diffusion</a:t>
            </a:r>
            <a:r>
              <a:rPr lang="zh-CN" altLang="en-US" sz="2400" b="1" u="none" dirty="0">
                <a:latin typeface="Times New Roman" panose="02020603050405020304" pitchFamily="18" charset="0"/>
                <a:cs typeface="Times New Roman" panose="02020603050405020304" pitchFamily="18" charset="0"/>
              </a:rPr>
              <a:t> </a:t>
            </a:r>
            <a:r>
              <a:rPr lang="en-US" altLang="zh-CN" sz="2400" b="1" u="none" dirty="0">
                <a:latin typeface="Times New Roman" panose="02020603050405020304" pitchFamily="18" charset="0"/>
                <a:cs typeface="Times New Roman" panose="02020603050405020304" pitchFamily="18" charset="0"/>
              </a:rPr>
              <a:t>Capacitance</a:t>
            </a:r>
            <a:r>
              <a:rPr lang="zh-CN" altLang="en-US" sz="2400" b="1" u="none" dirty="0">
                <a:latin typeface="Times New Roman" panose="02020603050405020304" pitchFamily="18" charset="0"/>
                <a:cs typeface="Times New Roman" panose="02020603050405020304" pitchFamily="18" charset="0"/>
              </a:rPr>
              <a:t>）源于正向偏置 </a:t>
            </a:r>
            <a:r>
              <a:rPr lang="en-US" altLang="zh-CN" sz="2400" b="1" u="none" dirty="0">
                <a:latin typeface="Times New Roman" panose="02020603050405020304" pitchFamily="18" charset="0"/>
                <a:cs typeface="Times New Roman" panose="02020603050405020304" pitchFamily="18" charset="0"/>
              </a:rPr>
              <a:t>PN</a:t>
            </a:r>
            <a:r>
              <a:rPr lang="zh-CN" altLang="en-US" sz="2400" b="1" u="none" dirty="0">
                <a:latin typeface="Times New Roman" panose="02020603050405020304" pitchFamily="18" charset="0"/>
                <a:cs typeface="Times New Roman" panose="02020603050405020304" pitchFamily="18" charset="0"/>
              </a:rPr>
              <a:t>结中注入的</a:t>
            </a:r>
            <a:r>
              <a:rPr lang="zh-CN" altLang="en-US" sz="2400" b="1" u="none" dirty="0" smtClean="0">
                <a:latin typeface="Times New Roman" panose="02020603050405020304" pitchFamily="18" charset="0"/>
                <a:cs typeface="Times New Roman" panose="02020603050405020304" pitchFamily="18" charset="0"/>
              </a:rPr>
              <a:t>过剩</a:t>
            </a:r>
            <a:r>
              <a:rPr lang="zh-CN" altLang="en-US" sz="2400" b="1" u="none" dirty="0">
                <a:latin typeface="Times New Roman" panose="02020603050405020304" pitchFamily="18" charset="0"/>
                <a:cs typeface="Times New Roman" panose="02020603050405020304" pitchFamily="18" charset="0"/>
              </a:rPr>
              <a:t>少子变化引起的电容效应。 </a:t>
            </a:r>
          </a:p>
        </p:txBody>
      </p:sp>
      <p:sp>
        <p:nvSpPr>
          <p:cNvPr id="8" name="矩形 3"/>
          <p:cNvSpPr>
            <a:spLocks noChangeArrowheads="1"/>
          </p:cNvSpPr>
          <p:nvPr/>
        </p:nvSpPr>
        <p:spPr bwMode="auto">
          <a:xfrm>
            <a:off x="446753" y="4172258"/>
            <a:ext cx="7797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 typeface="Wingdings" panose="05000000000000000000" pitchFamily="2" charset="2"/>
              <a:buChar char="Ø"/>
            </a:pPr>
            <a:r>
              <a:rPr kumimoji="1" lang="zh-CN" altLang="en-US" sz="2400" b="1" u="none" dirty="0" smtClean="0">
                <a:solidFill>
                  <a:srgbClr val="990000"/>
                </a:solidFill>
                <a:latin typeface="Times New Roman" panose="02020603050405020304" pitchFamily="18" charset="0"/>
                <a:cs typeface="Times New Roman" panose="02020603050405020304" pitchFamily="18" charset="0"/>
              </a:rPr>
              <a:t>扩散电容</a:t>
            </a:r>
            <a:r>
              <a:rPr kumimoji="1" lang="en-US" altLang="zh-CN" sz="2400" b="1" i="1" u="none" dirty="0">
                <a:solidFill>
                  <a:srgbClr val="990000"/>
                </a:solidFill>
                <a:latin typeface="Times New Roman" panose="02020603050405020304" pitchFamily="18" charset="0"/>
                <a:cs typeface="Times New Roman" panose="02020603050405020304" pitchFamily="18" charset="0"/>
              </a:rPr>
              <a:t>C</a:t>
            </a:r>
            <a:r>
              <a:rPr kumimoji="1" lang="en-US" altLang="zh-CN" sz="2400" b="1" u="none" baseline="-25000" dirty="0">
                <a:solidFill>
                  <a:srgbClr val="990000"/>
                </a:solidFill>
                <a:latin typeface="Times New Roman" panose="02020603050405020304" pitchFamily="18" charset="0"/>
                <a:cs typeface="Times New Roman" panose="02020603050405020304" pitchFamily="18" charset="0"/>
              </a:rPr>
              <a:t>D </a:t>
            </a:r>
            <a:r>
              <a:rPr kumimoji="1" lang="zh-CN" altLang="en-US" sz="2400" b="1" u="none" dirty="0">
                <a:solidFill>
                  <a:srgbClr val="990000"/>
                </a:solidFill>
                <a:latin typeface="Times New Roman" panose="02020603050405020304" pitchFamily="18" charset="0"/>
                <a:cs typeface="Times New Roman" panose="02020603050405020304" pitchFamily="18" charset="0"/>
              </a:rPr>
              <a:t>的正、负电荷是重叠在一起的！</a:t>
            </a:r>
            <a:endParaRPr kumimoji="1" lang="en-US" altLang="zh-CN" sz="2400" b="1" u="none" dirty="0">
              <a:solidFill>
                <a:srgbClr val="990000"/>
              </a:solidFill>
              <a:latin typeface="Times New Roman" panose="02020603050405020304" pitchFamily="18" charset="0"/>
              <a:cs typeface="Times New Roman" panose="02020603050405020304" pitchFamily="18" charset="0"/>
            </a:endParaRPr>
          </a:p>
          <a:p>
            <a:pPr algn="just">
              <a:spcBef>
                <a:spcPct val="0"/>
              </a:spcBef>
              <a:buFont typeface="Wingdings" panose="05000000000000000000" pitchFamily="2" charset="2"/>
              <a:buChar char="Ø"/>
            </a:pPr>
            <a:r>
              <a:rPr kumimoji="1" lang="en-US" altLang="zh-CN" sz="2400" b="1" u="none" dirty="0">
                <a:solidFill>
                  <a:srgbClr val="990000"/>
                </a:solidFill>
                <a:latin typeface="Times New Roman" panose="02020603050405020304" pitchFamily="18" charset="0"/>
                <a:cs typeface="Times New Roman" panose="02020603050405020304" pitchFamily="18" charset="0"/>
              </a:rPr>
              <a:t>P</a:t>
            </a:r>
            <a:r>
              <a:rPr kumimoji="1" lang="zh-CN" altLang="en-US" sz="2400" b="1" u="none" dirty="0">
                <a:solidFill>
                  <a:srgbClr val="990000"/>
                </a:solidFill>
                <a:latin typeface="Times New Roman" panose="02020603050405020304" pitchFamily="18" charset="0"/>
                <a:cs typeface="Times New Roman" panose="02020603050405020304" pitchFamily="18" charset="0"/>
              </a:rPr>
              <a:t>区有一个由于过剩电子（由</a:t>
            </a:r>
            <a:r>
              <a:rPr kumimoji="1" lang="en-US" altLang="zh-CN" sz="2400" b="1" u="none" dirty="0">
                <a:solidFill>
                  <a:srgbClr val="990000"/>
                </a:solidFill>
                <a:latin typeface="Times New Roman" panose="02020603050405020304" pitchFamily="18" charset="0"/>
                <a:cs typeface="Times New Roman" panose="02020603050405020304" pitchFamily="18" charset="0"/>
              </a:rPr>
              <a:t>n</a:t>
            </a:r>
            <a:r>
              <a:rPr kumimoji="1" lang="zh-CN" altLang="en-US" sz="2400" b="1" u="none" dirty="0">
                <a:solidFill>
                  <a:srgbClr val="990000"/>
                </a:solidFill>
                <a:latin typeface="Times New Roman" panose="02020603050405020304" pitchFamily="18" charset="0"/>
                <a:cs typeface="Times New Roman" panose="02020603050405020304" pitchFamily="18" charset="0"/>
              </a:rPr>
              <a:t>区注入）的变化引起的扩散电容；同样的在</a:t>
            </a:r>
            <a:r>
              <a:rPr kumimoji="1" lang="en-US" altLang="zh-CN" sz="2400" b="1" u="none" dirty="0">
                <a:solidFill>
                  <a:srgbClr val="990000"/>
                </a:solidFill>
                <a:latin typeface="Times New Roman" panose="02020603050405020304" pitchFamily="18" charset="0"/>
                <a:cs typeface="Times New Roman" panose="02020603050405020304" pitchFamily="18" charset="0"/>
              </a:rPr>
              <a:t>n</a:t>
            </a:r>
            <a:r>
              <a:rPr kumimoji="1" lang="zh-CN" altLang="en-US" sz="2400" b="1" u="none" dirty="0">
                <a:solidFill>
                  <a:srgbClr val="990000"/>
                </a:solidFill>
                <a:latin typeface="Times New Roman" panose="02020603050405020304" pitchFamily="18" charset="0"/>
                <a:cs typeface="Times New Roman" panose="02020603050405020304" pitchFamily="18" charset="0"/>
              </a:rPr>
              <a:t>区有一个由于过剩空穴（由</a:t>
            </a:r>
            <a:r>
              <a:rPr kumimoji="1" lang="en-US" altLang="zh-CN" sz="2400" b="1" u="none" dirty="0">
                <a:solidFill>
                  <a:srgbClr val="990000"/>
                </a:solidFill>
                <a:latin typeface="Times New Roman" panose="02020603050405020304" pitchFamily="18" charset="0"/>
                <a:cs typeface="Times New Roman" panose="02020603050405020304" pitchFamily="18" charset="0"/>
              </a:rPr>
              <a:t>p</a:t>
            </a:r>
            <a:r>
              <a:rPr kumimoji="1" lang="zh-CN" altLang="en-US" sz="2400" b="1" u="none" dirty="0">
                <a:solidFill>
                  <a:srgbClr val="990000"/>
                </a:solidFill>
                <a:latin typeface="Times New Roman" panose="02020603050405020304" pitchFamily="18" charset="0"/>
                <a:cs typeface="Times New Roman" panose="02020603050405020304" pitchFamily="18" charset="0"/>
              </a:rPr>
              <a:t>区注入）引起的扩散电容。</a:t>
            </a:r>
            <a:endParaRPr kumimoji="1" lang="en-US" altLang="zh-CN" sz="2400" b="1" u="none" dirty="0">
              <a:solidFill>
                <a:srgbClr val="990000"/>
              </a:solidFill>
              <a:latin typeface="Times New Roman" panose="02020603050405020304" pitchFamily="18" charset="0"/>
              <a:cs typeface="Times New Roman" panose="02020603050405020304" pitchFamily="18" charset="0"/>
            </a:endParaRPr>
          </a:p>
          <a:p>
            <a:pPr algn="just">
              <a:spcBef>
                <a:spcPct val="0"/>
              </a:spcBef>
              <a:buFont typeface="Wingdings" panose="05000000000000000000" pitchFamily="2" charset="2"/>
              <a:buChar char="Ø"/>
            </a:pPr>
            <a:r>
              <a:rPr kumimoji="1" lang="en-US" altLang="zh-CN" sz="2400" b="1" u="none" dirty="0">
                <a:solidFill>
                  <a:srgbClr val="990000"/>
                </a:solidFill>
                <a:latin typeface="Times New Roman" panose="02020603050405020304" pitchFamily="18" charset="0"/>
                <a:cs typeface="Times New Roman" panose="02020603050405020304" pitchFamily="18" charset="0"/>
              </a:rPr>
              <a:t>PN</a:t>
            </a:r>
            <a:r>
              <a:rPr kumimoji="1" lang="zh-CN" altLang="en-US" sz="2400" b="1" u="none" dirty="0">
                <a:solidFill>
                  <a:srgbClr val="990000"/>
                </a:solidFill>
                <a:latin typeface="Times New Roman" panose="02020603050405020304" pitchFamily="18" charset="0"/>
                <a:cs typeface="Times New Roman" panose="02020603050405020304" pitchFamily="18" charset="0"/>
              </a:rPr>
              <a:t>结中有两个不相等的扩散电容。</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9495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14</a:t>
            </a:fld>
            <a:endParaRPr lang="zh-CN" altLang="en-US"/>
          </a:p>
        </p:txBody>
      </p:sp>
      <p:sp>
        <p:nvSpPr>
          <p:cNvPr id="3" name="Text Box 5"/>
          <p:cNvSpPr txBox="1">
            <a:spLocks noChangeArrowheads="1"/>
          </p:cNvSpPr>
          <p:nvPr/>
        </p:nvSpPr>
        <p:spPr bwMode="auto">
          <a:xfrm>
            <a:off x="451260" y="295586"/>
            <a:ext cx="7878763" cy="1114425"/>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40000"/>
              </a:lnSpc>
              <a:spcBef>
                <a:spcPct val="0"/>
              </a:spcBef>
              <a:spcAft>
                <a:spcPct val="0"/>
              </a:spcAft>
            </a:pPr>
            <a:r>
              <a:rPr kumimoji="1" lang="zh-CN" altLang="en-US" sz="2400" b="1">
                <a:solidFill>
                  <a:srgbClr val="000000"/>
                </a:solidFill>
                <a:latin typeface="Times New Roman" pitchFamily="18" charset="0"/>
                <a:ea typeface="宋体" pitchFamily="2" charset="-122"/>
              </a:rPr>
              <a:t>在正向偏置下，</a:t>
            </a:r>
            <a:r>
              <a:rPr kumimoji="1" lang="en-US" altLang="zh-CN" sz="2400" b="1">
                <a:solidFill>
                  <a:srgbClr val="000000"/>
                </a:solidFill>
                <a:latin typeface="Times New Roman" pitchFamily="18" charset="0"/>
                <a:ea typeface="宋体" pitchFamily="2" charset="-122"/>
              </a:rPr>
              <a:t>PN</a:t>
            </a:r>
            <a:r>
              <a:rPr kumimoji="1" lang="zh-CN" altLang="en-US" sz="2400" b="1">
                <a:solidFill>
                  <a:srgbClr val="000000"/>
                </a:solidFill>
                <a:latin typeface="Times New Roman" pitchFamily="18" charset="0"/>
                <a:ea typeface="宋体" pitchFamily="2" charset="-122"/>
              </a:rPr>
              <a:t>结将发生过剩少子的注入。则在基区注入的电荷为：</a:t>
            </a:r>
          </a:p>
        </p:txBody>
      </p:sp>
      <p:graphicFrame>
        <p:nvGraphicFramePr>
          <p:cNvPr id="4" name="Object 7"/>
          <p:cNvGraphicFramePr>
            <a:graphicFrameLocks noChangeAspect="1"/>
          </p:cNvGraphicFramePr>
          <p:nvPr>
            <p:extLst/>
          </p:nvPr>
        </p:nvGraphicFramePr>
        <p:xfrm>
          <a:off x="2799173" y="762311"/>
          <a:ext cx="2971800" cy="660400"/>
        </p:xfrm>
        <a:graphic>
          <a:graphicData uri="http://schemas.openxmlformats.org/presentationml/2006/ole">
            <mc:AlternateContent xmlns:mc="http://schemas.openxmlformats.org/markup-compatibility/2006">
              <mc:Choice xmlns:v="urn:schemas-microsoft-com:vml" Requires="v">
                <p:oleObj spid="_x0000_s172059" name="Equation" r:id="rId3" imgW="1485720" imgH="330120" progId="Equation.DSMT4">
                  <p:embed/>
                </p:oleObj>
              </mc:Choice>
              <mc:Fallback>
                <p:oleObj name="Equation" r:id="rId3" imgW="1485720" imgH="330120" progId="Equation.DSMT4">
                  <p:embed/>
                  <p:pic>
                    <p:nvPicPr>
                      <p:cNvPr id="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9173" y="762311"/>
                        <a:ext cx="2971800" cy="660400"/>
                      </a:xfrm>
                      <a:prstGeom prst="rect">
                        <a:avLst/>
                      </a:prstGeom>
                      <a:solidFill>
                        <a:srgbClr val="FFFFFF"/>
                      </a:solidFill>
                    </p:spPr>
                  </p:pic>
                </p:oleObj>
              </mc:Fallback>
            </mc:AlternateContent>
          </a:graphicData>
        </a:graphic>
      </p:graphicFrame>
      <p:sp>
        <p:nvSpPr>
          <p:cNvPr id="5" name="Text Box 8"/>
          <p:cNvSpPr txBox="1">
            <a:spLocks noChangeArrowheads="1"/>
          </p:cNvSpPr>
          <p:nvPr/>
        </p:nvSpPr>
        <p:spPr bwMode="auto">
          <a:xfrm>
            <a:off x="451260" y="1483036"/>
            <a:ext cx="3995738" cy="457200"/>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a:solidFill>
                  <a:srgbClr val="000000"/>
                </a:solidFill>
                <a:latin typeface="Times New Roman" pitchFamily="18" charset="0"/>
                <a:ea typeface="宋体" pitchFamily="2" charset="-122"/>
              </a:rPr>
              <a:t>在准稳态长基区情形下：</a:t>
            </a:r>
          </a:p>
        </p:txBody>
      </p:sp>
      <p:graphicFrame>
        <p:nvGraphicFramePr>
          <p:cNvPr id="6" name="Object 9"/>
          <p:cNvGraphicFramePr>
            <a:graphicFrameLocks noChangeAspect="1"/>
          </p:cNvGraphicFramePr>
          <p:nvPr>
            <p:extLst/>
          </p:nvPr>
        </p:nvGraphicFramePr>
        <p:xfrm>
          <a:off x="840198" y="2994336"/>
          <a:ext cx="6019800" cy="914400"/>
        </p:xfrm>
        <a:graphic>
          <a:graphicData uri="http://schemas.openxmlformats.org/presentationml/2006/ole">
            <mc:AlternateContent xmlns:mc="http://schemas.openxmlformats.org/markup-compatibility/2006">
              <mc:Choice xmlns:v="urn:schemas-microsoft-com:vml" Requires="v">
                <p:oleObj spid="_x0000_s172060" name="Equation" r:id="rId5" imgW="3009900" imgH="457200" progId="Equation.DSMT4">
                  <p:embed/>
                </p:oleObj>
              </mc:Choice>
              <mc:Fallback>
                <p:oleObj name="Equation" r:id="rId5" imgW="3009900" imgH="457200" progId="Equation.DSMT4">
                  <p:embed/>
                  <p:pic>
                    <p:nvPicPr>
                      <p:cNvPr id="6"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0198" y="2994336"/>
                        <a:ext cx="6019800" cy="914400"/>
                      </a:xfrm>
                      <a:prstGeom prst="rect">
                        <a:avLst/>
                      </a:prstGeom>
                      <a:solidFill>
                        <a:srgbClr val="FFFFFF"/>
                      </a:solidFill>
                    </p:spPr>
                  </p:pic>
                </p:oleObj>
              </mc:Fallback>
            </mc:AlternateContent>
          </a:graphicData>
        </a:graphic>
      </p:graphicFrame>
      <p:graphicFrame>
        <p:nvGraphicFramePr>
          <p:cNvPr id="7" name="Object 10"/>
          <p:cNvGraphicFramePr>
            <a:graphicFrameLocks noChangeAspect="1"/>
          </p:cNvGraphicFramePr>
          <p:nvPr>
            <p:extLst/>
          </p:nvPr>
        </p:nvGraphicFramePr>
        <p:xfrm>
          <a:off x="1924460" y="1957699"/>
          <a:ext cx="5080000" cy="965200"/>
        </p:xfrm>
        <a:graphic>
          <a:graphicData uri="http://schemas.openxmlformats.org/presentationml/2006/ole">
            <mc:AlternateContent xmlns:mc="http://schemas.openxmlformats.org/markup-compatibility/2006">
              <mc:Choice xmlns:v="urn:schemas-microsoft-com:vml" Requires="v">
                <p:oleObj spid="_x0000_s172061" name="Equation" r:id="rId7" imgW="2540000" imgH="482600" progId="Equation.DSMT4">
                  <p:embed/>
                </p:oleObj>
              </mc:Choice>
              <mc:Fallback>
                <p:oleObj name="Equation" r:id="rId7" imgW="2540000" imgH="482600" progId="Equation.DSMT4">
                  <p:embed/>
                  <p:pic>
                    <p:nvPicPr>
                      <p:cNvPr id="7"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4460" y="1957699"/>
                        <a:ext cx="5080000" cy="965200"/>
                      </a:xfrm>
                      <a:prstGeom prst="rect">
                        <a:avLst/>
                      </a:prstGeom>
                      <a:solidFill>
                        <a:srgbClr val="FFFFFF"/>
                      </a:solidFill>
                    </p:spPr>
                  </p:pic>
                </p:oleObj>
              </mc:Fallback>
            </mc:AlternateContent>
          </a:graphicData>
        </a:graphic>
      </p:graphicFrame>
      <p:graphicFrame>
        <p:nvGraphicFramePr>
          <p:cNvPr id="8" name="Object 11"/>
          <p:cNvGraphicFramePr>
            <a:graphicFrameLocks noChangeAspect="1"/>
          </p:cNvGraphicFramePr>
          <p:nvPr>
            <p:extLst/>
          </p:nvPr>
        </p:nvGraphicFramePr>
        <p:xfrm>
          <a:off x="522698" y="3994461"/>
          <a:ext cx="4343400" cy="1016000"/>
        </p:xfrm>
        <a:graphic>
          <a:graphicData uri="http://schemas.openxmlformats.org/presentationml/2006/ole">
            <mc:AlternateContent xmlns:mc="http://schemas.openxmlformats.org/markup-compatibility/2006">
              <mc:Choice xmlns:v="urn:schemas-microsoft-com:vml" Requires="v">
                <p:oleObj spid="_x0000_s172062" name="Equation" r:id="rId9" imgW="2171700" imgH="508000" progId="Equation.DSMT4">
                  <p:embed/>
                </p:oleObj>
              </mc:Choice>
              <mc:Fallback>
                <p:oleObj name="Equation" r:id="rId9" imgW="2171700" imgH="508000" progId="Equation.DSMT4">
                  <p:embed/>
                  <p:pic>
                    <p:nvPicPr>
                      <p:cNvPr id="8"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2698" y="3994461"/>
                        <a:ext cx="4343400" cy="1016000"/>
                      </a:xfrm>
                      <a:prstGeom prst="rect">
                        <a:avLst/>
                      </a:prstGeom>
                      <a:solidFill>
                        <a:srgbClr val="FFFFFF"/>
                      </a:solidFill>
                    </p:spPr>
                  </p:pic>
                </p:oleObj>
              </mc:Fallback>
            </mc:AlternateContent>
          </a:graphicData>
        </a:graphic>
      </p:graphicFrame>
      <p:sp>
        <p:nvSpPr>
          <p:cNvPr id="9" name="Text Box 12"/>
          <p:cNvSpPr txBox="1">
            <a:spLocks noChangeArrowheads="1"/>
          </p:cNvSpPr>
          <p:nvPr/>
        </p:nvSpPr>
        <p:spPr bwMode="auto">
          <a:xfrm>
            <a:off x="5059773" y="4218299"/>
            <a:ext cx="3611562" cy="457200"/>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a:solidFill>
                  <a:srgbClr val="000000"/>
                </a:solidFill>
                <a:latin typeface="Times New Roman" pitchFamily="18" charset="0"/>
                <a:ea typeface="宋体" pitchFamily="2" charset="-122"/>
              </a:rPr>
              <a:t>扩散电容是偏压</a:t>
            </a:r>
            <a:r>
              <a:rPr kumimoji="1" lang="en-US" altLang="zh-CN" sz="2400" b="1" i="1">
                <a:solidFill>
                  <a:srgbClr val="000000"/>
                </a:solidFill>
                <a:latin typeface="Times New Roman" pitchFamily="18" charset="0"/>
                <a:ea typeface="宋体" pitchFamily="2" charset="-122"/>
              </a:rPr>
              <a:t>V</a:t>
            </a:r>
            <a:r>
              <a:rPr kumimoji="1" lang="en-US" altLang="zh-CN" sz="2400" b="1" i="1" baseline="-25000">
                <a:solidFill>
                  <a:srgbClr val="000000"/>
                </a:solidFill>
                <a:latin typeface="Times New Roman" pitchFamily="18" charset="0"/>
                <a:ea typeface="宋体" pitchFamily="2" charset="-122"/>
              </a:rPr>
              <a:t>A</a:t>
            </a:r>
            <a:r>
              <a:rPr kumimoji="1" lang="zh-CN" altLang="en-US" sz="2400" b="1">
                <a:solidFill>
                  <a:srgbClr val="000000"/>
                </a:solidFill>
                <a:latin typeface="Times New Roman" pitchFamily="18" charset="0"/>
                <a:ea typeface="宋体" pitchFamily="2" charset="-122"/>
              </a:rPr>
              <a:t>依赖的</a:t>
            </a:r>
          </a:p>
        </p:txBody>
      </p:sp>
      <p:sp>
        <p:nvSpPr>
          <p:cNvPr id="10" name="Text Box 8"/>
          <p:cNvSpPr txBox="1">
            <a:spLocks noChangeArrowheads="1"/>
          </p:cNvSpPr>
          <p:nvPr/>
        </p:nvSpPr>
        <p:spPr bwMode="auto">
          <a:xfrm>
            <a:off x="206888" y="5140394"/>
            <a:ext cx="8799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Clr>
                <a:srgbClr val="0000CC"/>
              </a:buClr>
              <a:buFont typeface="Wingdings" panose="05000000000000000000" pitchFamily="2" charset="2"/>
              <a:buNone/>
            </a:pPr>
            <a:r>
              <a:rPr kumimoji="1" lang="en-US" altLang="zh-CN" sz="2400" b="1" u="none" dirty="0">
                <a:solidFill>
                  <a:srgbClr val="000000"/>
                </a:solidFill>
                <a:latin typeface="Times New Roman" panose="02020603050405020304" pitchFamily="18" charset="0"/>
                <a:cs typeface="Times New Roman" panose="02020603050405020304" pitchFamily="18" charset="0"/>
              </a:rPr>
              <a:t>  </a:t>
            </a:r>
            <a:r>
              <a:rPr kumimoji="1" lang="zh-CN" altLang="en-US" sz="2400" b="1" u="none" dirty="0">
                <a:solidFill>
                  <a:srgbClr val="000000"/>
                </a:solidFill>
                <a:latin typeface="Times New Roman" panose="02020603050405020304" pitchFamily="18" charset="0"/>
                <a:cs typeface="Times New Roman" panose="02020603050405020304" pitchFamily="18" charset="0"/>
              </a:rPr>
              <a:t>由于结两边的电荷受同一电压控制，</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C</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Dp</a:t>
            </a:r>
            <a:r>
              <a:rPr kumimoji="1" lang="zh-CN" altLang="en-US" sz="2400" b="1" u="none" dirty="0">
                <a:solidFill>
                  <a:srgbClr val="000000"/>
                </a:solidFill>
                <a:latin typeface="Times New Roman" panose="02020603050405020304" pitchFamily="18" charset="0"/>
                <a:cs typeface="Times New Roman" panose="02020603050405020304" pitchFamily="18" charset="0"/>
              </a:rPr>
              <a:t>和</a:t>
            </a:r>
            <a:r>
              <a:rPr kumimoji="1" lang="en-US" altLang="zh-CN" sz="2400" b="1" i="1" u="none" dirty="0" err="1">
                <a:solidFill>
                  <a:srgbClr val="000000"/>
                </a:solidFill>
                <a:latin typeface="Times New Roman" panose="02020603050405020304" pitchFamily="18" charset="0"/>
                <a:cs typeface="Times New Roman" panose="02020603050405020304" pitchFamily="18" charset="0"/>
              </a:rPr>
              <a:t>C</a:t>
            </a:r>
            <a:r>
              <a:rPr kumimoji="1" lang="en-US" altLang="zh-CN" sz="2400" b="1" u="none" baseline="-25000" dirty="0" err="1">
                <a:solidFill>
                  <a:srgbClr val="000000"/>
                </a:solidFill>
                <a:latin typeface="Times New Roman" panose="02020603050405020304" pitchFamily="18" charset="0"/>
                <a:cs typeface="Times New Roman" panose="02020603050405020304" pitchFamily="18" charset="0"/>
              </a:rPr>
              <a:t>Dn</a:t>
            </a:r>
            <a:r>
              <a:rPr kumimoji="1" lang="zh-CN" altLang="en-US" sz="2400" b="1" u="none" dirty="0">
                <a:solidFill>
                  <a:srgbClr val="000000"/>
                </a:solidFill>
                <a:latin typeface="Times New Roman" panose="02020603050405020304" pitchFamily="18" charset="0"/>
                <a:cs typeface="Times New Roman" panose="02020603050405020304" pitchFamily="18" charset="0"/>
              </a:rPr>
              <a:t>是</a:t>
            </a:r>
            <a:r>
              <a:rPr kumimoji="1" lang="zh-CN" altLang="en-US" sz="2400" b="1" u="none" dirty="0">
                <a:solidFill>
                  <a:srgbClr val="990000"/>
                </a:solidFill>
                <a:latin typeface="Times New Roman" panose="02020603050405020304" pitchFamily="18" charset="0"/>
                <a:cs typeface="Times New Roman" panose="02020603050405020304" pitchFamily="18" charset="0"/>
              </a:rPr>
              <a:t>并联</a:t>
            </a:r>
            <a:r>
              <a:rPr kumimoji="1" lang="zh-CN" altLang="en-US" sz="2400" b="1" u="none" dirty="0">
                <a:solidFill>
                  <a:srgbClr val="000000"/>
                </a:solidFill>
                <a:latin typeface="Times New Roman" panose="02020603050405020304" pitchFamily="18" charset="0"/>
                <a:cs typeface="Times New Roman" panose="02020603050405020304" pitchFamily="18" charset="0"/>
              </a:rPr>
              <a:t>关系。</a:t>
            </a:r>
          </a:p>
        </p:txBody>
      </p:sp>
      <p:graphicFrame>
        <p:nvGraphicFramePr>
          <p:cNvPr id="11" name="Object 2"/>
          <p:cNvGraphicFramePr>
            <a:graphicFrameLocks noChangeAspect="1"/>
          </p:cNvGraphicFramePr>
          <p:nvPr>
            <p:extLst/>
          </p:nvPr>
        </p:nvGraphicFramePr>
        <p:xfrm>
          <a:off x="1123950" y="5654022"/>
          <a:ext cx="5601314" cy="1063002"/>
        </p:xfrm>
        <a:graphic>
          <a:graphicData uri="http://schemas.openxmlformats.org/presentationml/2006/ole">
            <mc:AlternateContent xmlns:mc="http://schemas.openxmlformats.org/markup-compatibility/2006">
              <mc:Choice xmlns:v="urn:schemas-microsoft-com:vml" Requires="v">
                <p:oleObj spid="_x0000_s172063" name="Equation" r:id="rId11" imgW="2667000" imgH="482600" progId="Equation.3">
                  <p:embed/>
                </p:oleObj>
              </mc:Choice>
              <mc:Fallback>
                <p:oleObj name="Equation" r:id="rId11" imgW="2667000" imgH="482600" progId="Equation.3">
                  <p:embed/>
                  <p:pic>
                    <p:nvPicPr>
                      <p:cNvPr id="11"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23950" y="5654022"/>
                        <a:ext cx="5601314" cy="106300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853846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15</a:t>
            </a:fld>
            <a:endParaRPr lang="zh-CN" altLang="en-US"/>
          </a:p>
        </p:txBody>
      </p:sp>
      <p:sp>
        <p:nvSpPr>
          <p:cNvPr id="7" name="矩形 6"/>
          <p:cNvSpPr/>
          <p:nvPr/>
        </p:nvSpPr>
        <p:spPr>
          <a:xfrm>
            <a:off x="517449" y="302855"/>
            <a:ext cx="1988045" cy="523220"/>
          </a:xfrm>
          <a:prstGeom prst="rect">
            <a:avLst/>
          </a:prstGeom>
        </p:spPr>
        <p:txBody>
          <a:bodyPr wrap="none">
            <a:spAutoFit/>
          </a:bodyPr>
          <a:lstStyle/>
          <a:p>
            <a:pPr lvl="0">
              <a:spcBef>
                <a:spcPct val="50000"/>
              </a:spcBef>
            </a:pPr>
            <a:r>
              <a:rPr kumimoji="1" lang="zh-CN" altLang="en-US" sz="2800" b="1" dirty="0" smtClean="0">
                <a:solidFill>
                  <a:srgbClr val="D96227"/>
                </a:solidFill>
                <a:latin typeface="Times New Roman" pitchFamily="18" charset="0"/>
                <a:ea typeface="宋体" pitchFamily="2" charset="-122"/>
                <a:cs typeface="Times New Roman" pitchFamily="18" charset="0"/>
              </a:rPr>
              <a:t>非理想效应</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8" name="Text Box 6"/>
          <p:cNvSpPr txBox="1">
            <a:spLocks noChangeArrowheads="1"/>
          </p:cNvSpPr>
          <p:nvPr/>
        </p:nvSpPr>
        <p:spPr bwMode="auto">
          <a:xfrm>
            <a:off x="4873369" y="2092566"/>
            <a:ext cx="2700337"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400" b="1" u="none" dirty="0">
                <a:latin typeface="宋体" panose="02010600030101010101" pitchFamily="2" charset="-122"/>
                <a:cs typeface="楷体_GB2312" pitchFamily="49" charset="-122"/>
              </a:rPr>
              <a:t>不同区域：</a:t>
            </a:r>
          </a:p>
          <a:p>
            <a:pPr eaLnBrk="1" hangingPunct="1">
              <a:spcBef>
                <a:spcPct val="50000"/>
              </a:spcBef>
              <a:buFontTx/>
              <a:buNone/>
            </a:pPr>
            <a:r>
              <a:rPr lang="en-US" altLang="zh-CN" sz="2400" b="1" u="none" dirty="0">
                <a:latin typeface="宋体" panose="02010600030101010101" pitchFamily="2" charset="-122"/>
                <a:cs typeface="Times New Roman" panose="02020603050405020304" pitchFamily="18" charset="0"/>
              </a:rPr>
              <a:t>1</a:t>
            </a:r>
            <a:r>
              <a:rPr lang="zh-CN" altLang="en-US" sz="2400" b="1" u="none" dirty="0">
                <a:latin typeface="宋体" panose="02010600030101010101" pitchFamily="2" charset="-122"/>
                <a:cs typeface="楷体_GB2312" pitchFamily="49" charset="-122"/>
              </a:rPr>
              <a:t>、正向小电流</a:t>
            </a:r>
          </a:p>
          <a:p>
            <a:pPr eaLnBrk="1" hangingPunct="1">
              <a:spcBef>
                <a:spcPct val="50000"/>
              </a:spcBef>
              <a:buFontTx/>
              <a:buNone/>
            </a:pPr>
            <a:r>
              <a:rPr lang="en-US" altLang="zh-CN" sz="2400" b="1" u="none" dirty="0">
                <a:latin typeface="宋体" panose="02010600030101010101" pitchFamily="2" charset="-122"/>
                <a:cs typeface="Times New Roman" panose="02020603050405020304" pitchFamily="18" charset="0"/>
              </a:rPr>
              <a:t>2</a:t>
            </a:r>
            <a:r>
              <a:rPr lang="zh-CN" altLang="en-US" sz="2400" b="1" u="none" dirty="0">
                <a:latin typeface="宋体" panose="02010600030101010101" pitchFamily="2" charset="-122"/>
                <a:cs typeface="楷体_GB2312" pitchFamily="49" charset="-122"/>
              </a:rPr>
              <a:t>、反向电流</a:t>
            </a:r>
          </a:p>
          <a:p>
            <a:pPr eaLnBrk="1" hangingPunct="1">
              <a:spcBef>
                <a:spcPct val="50000"/>
              </a:spcBef>
              <a:buFontTx/>
              <a:buNone/>
            </a:pPr>
            <a:r>
              <a:rPr lang="en-US" altLang="zh-CN" sz="2400" b="1" u="none" dirty="0">
                <a:latin typeface="宋体" panose="02010600030101010101" pitchFamily="2" charset="-122"/>
                <a:cs typeface="Times New Roman" panose="02020603050405020304" pitchFamily="18" charset="0"/>
              </a:rPr>
              <a:t>3</a:t>
            </a:r>
            <a:r>
              <a:rPr lang="zh-CN" altLang="en-US" sz="2400" b="1" u="none" dirty="0">
                <a:latin typeface="宋体" panose="02010600030101010101" pitchFamily="2" charset="-122"/>
                <a:cs typeface="楷体_GB2312" pitchFamily="49" charset="-122"/>
              </a:rPr>
              <a:t>、正向大电流</a:t>
            </a:r>
          </a:p>
        </p:txBody>
      </p:sp>
      <p:sp>
        <p:nvSpPr>
          <p:cNvPr id="9" name="Text Box 4"/>
          <p:cNvSpPr txBox="1">
            <a:spLocks noChangeArrowheads="1"/>
          </p:cNvSpPr>
          <p:nvPr/>
        </p:nvSpPr>
        <p:spPr bwMode="auto">
          <a:xfrm>
            <a:off x="4873369" y="4371433"/>
            <a:ext cx="3554412" cy="2234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400" b="1" u="none" dirty="0">
                <a:solidFill>
                  <a:srgbClr val="FF0000"/>
                </a:solidFill>
                <a:latin typeface="宋体" panose="02010600030101010101" pitchFamily="2" charset="-122"/>
                <a:cs typeface="楷体_GB2312" pitchFamily="49" charset="-122"/>
              </a:rPr>
              <a:t>非理想效应</a:t>
            </a:r>
          </a:p>
          <a:p>
            <a:pPr eaLnBrk="1" hangingPunct="1">
              <a:spcBef>
                <a:spcPct val="80000"/>
              </a:spcBef>
              <a:buFontTx/>
              <a:buChar char="•"/>
            </a:pPr>
            <a:r>
              <a:rPr lang="zh-CN" altLang="en-US" sz="2400" b="1" u="none" dirty="0">
                <a:solidFill>
                  <a:srgbClr val="0000CC"/>
                </a:solidFill>
                <a:latin typeface="宋体" panose="02010600030101010101" pitchFamily="2" charset="-122"/>
                <a:cs typeface="楷体_GB2312" pitchFamily="49" charset="-122"/>
              </a:rPr>
              <a:t> 势垒区的产生和复合；</a:t>
            </a:r>
          </a:p>
          <a:p>
            <a:pPr eaLnBrk="1" hangingPunct="1">
              <a:spcBef>
                <a:spcPct val="50000"/>
              </a:spcBef>
              <a:buFontTx/>
              <a:buChar char="•"/>
            </a:pPr>
            <a:r>
              <a:rPr lang="zh-CN" altLang="en-US" sz="2400" b="1" u="none" dirty="0">
                <a:solidFill>
                  <a:srgbClr val="0000CC"/>
                </a:solidFill>
                <a:latin typeface="宋体" panose="02010600030101010101" pitchFamily="2" charset="-122"/>
                <a:cs typeface="楷体_GB2312" pitchFamily="49" charset="-122"/>
              </a:rPr>
              <a:t> 大</a:t>
            </a:r>
            <a:r>
              <a:rPr lang="zh-CN" altLang="en-US" sz="2400" b="1" u="none" dirty="0" smtClean="0">
                <a:solidFill>
                  <a:srgbClr val="0000CC"/>
                </a:solidFill>
                <a:latin typeface="宋体" panose="02010600030101010101" pitchFamily="2" charset="-122"/>
                <a:cs typeface="楷体_GB2312" pitchFamily="49" charset="-122"/>
              </a:rPr>
              <a:t>注入</a:t>
            </a:r>
            <a:endParaRPr lang="en-US" altLang="zh-CN" sz="2400" b="1" u="none" dirty="0" smtClean="0">
              <a:solidFill>
                <a:srgbClr val="0000CC"/>
              </a:solidFill>
              <a:latin typeface="宋体" panose="02010600030101010101" pitchFamily="2" charset="-122"/>
              <a:cs typeface="楷体_GB2312" pitchFamily="49" charset="-122"/>
            </a:endParaRPr>
          </a:p>
          <a:p>
            <a:pPr eaLnBrk="1" hangingPunct="1">
              <a:spcBef>
                <a:spcPct val="50000"/>
              </a:spcBef>
              <a:buFontTx/>
              <a:buChar char="•"/>
            </a:pPr>
            <a:r>
              <a:rPr lang="en-US" altLang="zh-CN" sz="2400" b="1" dirty="0">
                <a:solidFill>
                  <a:srgbClr val="0000CC"/>
                </a:solidFill>
                <a:latin typeface="宋体" panose="02010600030101010101" pitchFamily="2" charset="-122"/>
                <a:cs typeface="楷体_GB2312" pitchFamily="49" charset="-122"/>
              </a:rPr>
              <a:t> </a:t>
            </a:r>
            <a:r>
              <a:rPr lang="zh-CN" altLang="en-US" sz="2400" b="1" dirty="0" smtClean="0">
                <a:solidFill>
                  <a:srgbClr val="0000CC"/>
                </a:solidFill>
                <a:latin typeface="宋体" panose="02010600030101010101" pitchFamily="2" charset="-122"/>
                <a:cs typeface="楷体_GB2312" pitchFamily="49" charset="-122"/>
              </a:rPr>
              <a:t>串联电阻影响</a:t>
            </a:r>
            <a:endParaRPr lang="zh-CN" altLang="en-US" sz="2400" b="1" u="none" dirty="0">
              <a:solidFill>
                <a:srgbClr val="0000CC"/>
              </a:solidFill>
              <a:latin typeface="宋体" panose="02010600030101010101" pitchFamily="2" charset="-122"/>
              <a:cs typeface="楷体_GB2312" pitchFamily="49" charset="-122"/>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3994194839"/>
              </p:ext>
            </p:extLst>
          </p:nvPr>
        </p:nvGraphicFramePr>
        <p:xfrm>
          <a:off x="409514" y="2023255"/>
          <a:ext cx="3771071" cy="4696356"/>
        </p:xfrm>
        <a:graphic>
          <a:graphicData uri="http://schemas.openxmlformats.org/presentationml/2006/ole">
            <mc:AlternateContent xmlns:mc="http://schemas.openxmlformats.org/markup-compatibility/2006">
              <mc:Choice xmlns:v="urn:schemas-microsoft-com:vml" Requires="v">
                <p:oleObj spid="_x0000_s48171" name="Image" r:id="rId3" imgW="10071100" imgH="12814300" progId="">
                  <p:embed/>
                </p:oleObj>
              </mc:Choice>
              <mc:Fallback>
                <p:oleObj name="Image" r:id="rId3" imgW="10071100" imgH="12814300" progId="">
                  <p:embed/>
                  <p:pic>
                    <p:nvPicPr>
                      <p:cNvPr id="7270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514" y="2023255"/>
                        <a:ext cx="3771071" cy="4696356"/>
                      </a:xfrm>
                      <a:prstGeom prst="rect">
                        <a:avLst/>
                      </a:prstGeom>
                      <a:noFill/>
                      <a:ln>
                        <a:noFill/>
                      </a:ln>
                      <a:effectLst/>
                    </p:spPr>
                  </p:pic>
                </p:oleObj>
              </mc:Fallback>
            </mc:AlternateContent>
          </a:graphicData>
        </a:graphic>
      </p:graphicFrame>
      <p:sp>
        <p:nvSpPr>
          <p:cNvPr id="11" name="Text Box 5"/>
          <p:cNvSpPr txBox="1">
            <a:spLocks noChangeArrowheads="1"/>
          </p:cNvSpPr>
          <p:nvPr/>
        </p:nvSpPr>
        <p:spPr bwMode="auto">
          <a:xfrm>
            <a:off x="517448" y="965201"/>
            <a:ext cx="8390577" cy="972574"/>
          </a:xfrm>
          <a:prstGeom prst="rect">
            <a:avLst/>
          </a:prstGeom>
          <a:noFill/>
          <a:ln w="38100" cap="sq">
            <a:noFill/>
            <a:miter lim="800000"/>
            <a:headEnd type="none" w="sm" len="sm"/>
            <a:tailEnd type="none" w="sm" len="sm"/>
          </a:ln>
        </p:spPr>
        <p:txBody>
          <a:bodyPr wrap="square">
            <a:spAutoFit/>
          </a:bodyPr>
          <a:lstStyle/>
          <a:p>
            <a:pPr>
              <a:lnSpc>
                <a:spcPct val="130000"/>
              </a:lnSpc>
              <a:spcBef>
                <a:spcPct val="50000"/>
              </a:spcBef>
            </a:pPr>
            <a:r>
              <a:rPr kumimoji="1" lang="zh-CN" altLang="en-US" sz="2200" b="1" dirty="0" smtClean="0">
                <a:latin typeface="Times New Roman" pitchFamily="18" charset="0"/>
                <a:ea typeface="宋体" pitchFamily="2" charset="-122"/>
              </a:rPr>
              <a:t>在实际</a:t>
            </a:r>
            <a:r>
              <a:rPr kumimoji="1" lang="en-US" altLang="zh-CN" sz="2200" b="1" dirty="0" smtClean="0">
                <a:latin typeface="Times New Roman" pitchFamily="18" charset="0"/>
                <a:ea typeface="宋体" pitchFamily="2" charset="-122"/>
              </a:rPr>
              <a:t>PN</a:t>
            </a:r>
            <a:r>
              <a:rPr kumimoji="1" lang="zh-CN" altLang="en-US" sz="2200" b="1" dirty="0" smtClean="0">
                <a:latin typeface="Times New Roman" pitchFamily="18" charset="0"/>
                <a:ea typeface="宋体" pitchFamily="2" charset="-122"/>
              </a:rPr>
              <a:t>结二极管的</a:t>
            </a:r>
            <a:r>
              <a:rPr kumimoji="1" lang="en-US" altLang="zh-CN" sz="2200" b="1" dirty="0" smtClean="0">
                <a:latin typeface="Times New Roman" pitchFamily="18" charset="0"/>
                <a:ea typeface="宋体" pitchFamily="2" charset="-122"/>
              </a:rPr>
              <a:t>IV</a:t>
            </a:r>
            <a:r>
              <a:rPr kumimoji="1" lang="zh-CN" altLang="en-US" sz="2200" b="1" dirty="0" smtClean="0">
                <a:latin typeface="Times New Roman" pitchFamily="18" charset="0"/>
                <a:ea typeface="宋体" pitchFamily="2" charset="-122"/>
              </a:rPr>
              <a:t>特性测量中，常常观测到了与理想</a:t>
            </a:r>
            <a:r>
              <a:rPr kumimoji="1" lang="en-US" altLang="zh-CN" sz="2200" b="1" dirty="0" smtClean="0">
                <a:latin typeface="Times New Roman" pitchFamily="18" charset="0"/>
                <a:ea typeface="宋体" pitchFamily="2" charset="-122"/>
              </a:rPr>
              <a:t>PN</a:t>
            </a:r>
            <a:r>
              <a:rPr kumimoji="1" lang="zh-CN" altLang="en-US" sz="2200" b="1" dirty="0" smtClean="0">
                <a:latin typeface="Times New Roman" pitchFamily="18" charset="0"/>
                <a:ea typeface="宋体" pitchFamily="2" charset="-122"/>
              </a:rPr>
              <a:t>二极管</a:t>
            </a:r>
            <a:r>
              <a:rPr kumimoji="1" lang="en-US" altLang="zh-CN" sz="2200" b="1" dirty="0" smtClean="0">
                <a:latin typeface="Times New Roman" pitchFamily="18" charset="0"/>
                <a:ea typeface="宋体" pitchFamily="2" charset="-122"/>
              </a:rPr>
              <a:t>IV</a:t>
            </a:r>
            <a:r>
              <a:rPr kumimoji="1" lang="zh-CN" altLang="en-US" sz="2200" b="1" dirty="0" smtClean="0">
                <a:latin typeface="Times New Roman" pitchFamily="18" charset="0"/>
                <a:ea typeface="宋体" pitchFamily="2" charset="-122"/>
              </a:rPr>
              <a:t>特性不符的情形，这与</a:t>
            </a:r>
            <a:r>
              <a:rPr kumimoji="1" lang="en-US" altLang="zh-CN" sz="2200" b="1" dirty="0" smtClean="0">
                <a:latin typeface="Times New Roman" pitchFamily="18" charset="0"/>
                <a:ea typeface="宋体" pitchFamily="2" charset="-122"/>
              </a:rPr>
              <a:t>PN</a:t>
            </a:r>
            <a:r>
              <a:rPr kumimoji="1" lang="zh-CN" altLang="en-US" sz="2200" b="1" dirty="0" smtClean="0">
                <a:latin typeface="Times New Roman" pitchFamily="18" charset="0"/>
                <a:ea typeface="宋体" pitchFamily="2" charset="-122"/>
              </a:rPr>
              <a:t>结二极管中存在的非理想因素有关。</a:t>
            </a:r>
            <a:endParaRPr kumimoji="1" lang="zh-CN" altLang="en-US" sz="2200" b="1" dirty="0">
              <a:solidFill>
                <a:srgbClr val="0000FF"/>
              </a:solidFill>
              <a:latin typeface="Times New Roman" pitchFamily="18" charset="0"/>
              <a:ea typeface="宋体" pitchFamily="2" charset="-122"/>
            </a:endParaRPr>
          </a:p>
        </p:txBody>
      </p:sp>
    </p:spTree>
    <p:extLst>
      <p:ext uri="{BB962C8B-B14F-4D97-AF65-F5344CB8AC3E}">
        <p14:creationId xmlns:p14="http://schemas.microsoft.com/office/powerpoint/2010/main" val="13071705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16</a:t>
            </a:fld>
            <a:endParaRPr lang="zh-CN" altLang="en-US"/>
          </a:p>
        </p:txBody>
      </p:sp>
      <p:sp>
        <p:nvSpPr>
          <p:cNvPr id="3" name="Text Box 5"/>
          <p:cNvSpPr txBox="1">
            <a:spLocks noChangeArrowheads="1"/>
          </p:cNvSpPr>
          <p:nvPr/>
        </p:nvSpPr>
        <p:spPr bwMode="auto">
          <a:xfrm>
            <a:off x="552566" y="1038361"/>
            <a:ext cx="7921625" cy="2012859"/>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前面假定少子无变化（无产生和复合）地通过耗尽区，由于耗尽区的载流子浓度较低，对纯净半导体情形，这通常是一个好的近似。但对于存在高</a:t>
            </a:r>
            <a:r>
              <a:rPr kumimoji="1" lang="zh-CN" altLang="en-US" sz="2400" b="1" dirty="0" smtClean="0">
                <a:solidFill>
                  <a:srgbClr val="000000"/>
                </a:solidFill>
                <a:latin typeface="Times New Roman" pitchFamily="18" charset="0"/>
                <a:ea typeface="宋体" pitchFamily="2" charset="-122"/>
              </a:rPr>
              <a:t>的复合</a:t>
            </a:r>
            <a:r>
              <a:rPr kumimoji="1" lang="zh-CN" altLang="en-US" sz="2400" b="1" dirty="0">
                <a:solidFill>
                  <a:srgbClr val="000000"/>
                </a:solidFill>
                <a:latin typeface="Times New Roman" pitchFamily="18" charset="0"/>
                <a:ea typeface="宋体" pitchFamily="2" charset="-122"/>
              </a:rPr>
              <a:t>中心时，将不再正确，产生或复合电流将起较大的作用。</a:t>
            </a:r>
          </a:p>
        </p:txBody>
      </p:sp>
      <p:sp>
        <p:nvSpPr>
          <p:cNvPr id="4" name="Text Box 6"/>
          <p:cNvSpPr txBox="1">
            <a:spLocks noChangeArrowheads="1"/>
          </p:cNvSpPr>
          <p:nvPr/>
        </p:nvSpPr>
        <p:spPr bwMode="auto">
          <a:xfrm>
            <a:off x="480558" y="454172"/>
            <a:ext cx="5186363" cy="457200"/>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en-US" altLang="zh-CN" sz="2400" b="1" dirty="0" smtClean="0">
                <a:solidFill>
                  <a:srgbClr val="FF3300"/>
                </a:solidFill>
                <a:latin typeface="Times New Roman" pitchFamily="18" charset="0"/>
                <a:ea typeface="宋体" pitchFamily="2" charset="-122"/>
              </a:rPr>
              <a:t>1</a:t>
            </a:r>
            <a:r>
              <a:rPr kumimoji="1" lang="zh-CN" altLang="en-US" sz="2400" b="1" dirty="0" smtClean="0">
                <a:solidFill>
                  <a:srgbClr val="FF3300"/>
                </a:solidFill>
                <a:latin typeface="Times New Roman" pitchFamily="18" charset="0"/>
                <a:ea typeface="宋体" pitchFamily="2" charset="-122"/>
              </a:rPr>
              <a:t>）</a:t>
            </a:r>
            <a:r>
              <a:rPr kumimoji="1" lang="en-US" altLang="zh-CN" sz="2400" b="1" dirty="0" smtClean="0">
                <a:solidFill>
                  <a:srgbClr val="FF3300"/>
                </a:solidFill>
                <a:latin typeface="Times New Roman" pitchFamily="18" charset="0"/>
                <a:ea typeface="宋体" pitchFamily="2" charset="-122"/>
              </a:rPr>
              <a:t> </a:t>
            </a:r>
            <a:r>
              <a:rPr kumimoji="1" lang="zh-CN" altLang="en-US" sz="2400" b="1" dirty="0">
                <a:solidFill>
                  <a:srgbClr val="FF3300"/>
                </a:solidFill>
                <a:latin typeface="Times New Roman" pitchFamily="18" charset="0"/>
                <a:ea typeface="宋体" pitchFamily="2" charset="-122"/>
              </a:rPr>
              <a:t>空间电荷区的复合</a:t>
            </a:r>
            <a:r>
              <a:rPr kumimoji="1" lang="en-US" altLang="zh-CN" sz="2400" b="1" dirty="0">
                <a:solidFill>
                  <a:srgbClr val="FF3300"/>
                </a:solidFill>
                <a:latin typeface="Times New Roman" pitchFamily="18" charset="0"/>
                <a:ea typeface="宋体" pitchFamily="2" charset="-122"/>
              </a:rPr>
              <a:t>/</a:t>
            </a:r>
            <a:r>
              <a:rPr kumimoji="1" lang="zh-CN" altLang="en-US" sz="2400" b="1" dirty="0">
                <a:solidFill>
                  <a:srgbClr val="FF3300"/>
                </a:solidFill>
                <a:latin typeface="Times New Roman" pitchFamily="18" charset="0"/>
                <a:ea typeface="宋体" pitchFamily="2" charset="-122"/>
              </a:rPr>
              <a:t>产生电流</a:t>
            </a:r>
          </a:p>
        </p:txBody>
      </p:sp>
      <p:grpSp>
        <p:nvGrpSpPr>
          <p:cNvPr id="5" name="Group 6"/>
          <p:cNvGrpSpPr>
            <a:grpSpLocks/>
          </p:cNvGrpSpPr>
          <p:nvPr/>
        </p:nvGrpSpPr>
        <p:grpSpPr bwMode="auto">
          <a:xfrm>
            <a:off x="213340" y="3370736"/>
            <a:ext cx="8555038" cy="3346450"/>
            <a:chOff x="249" y="1711"/>
            <a:chExt cx="5389" cy="2108"/>
          </a:xfrm>
        </p:grpSpPr>
        <p:pic>
          <p:nvPicPr>
            <p:cNvPr id="6" name="Picture 7"/>
            <p:cNvPicPr>
              <a:picLocks noChangeAspect="1" noChangeArrowheads="1"/>
            </p:cNvPicPr>
            <p:nvPr/>
          </p:nvPicPr>
          <p:blipFill>
            <a:blip r:embed="rId3" cstate="print"/>
            <a:srcRect l="7367" r="6854"/>
            <a:stretch>
              <a:fillRect/>
            </a:stretch>
          </p:blipFill>
          <p:spPr bwMode="auto">
            <a:xfrm>
              <a:off x="249" y="1717"/>
              <a:ext cx="2812" cy="2095"/>
            </a:xfrm>
            <a:prstGeom prst="rect">
              <a:avLst/>
            </a:prstGeom>
            <a:noFill/>
            <a:ln w="38100" cap="sq">
              <a:noFill/>
              <a:miter lim="800000"/>
              <a:headEnd type="none" w="sm" len="sm"/>
              <a:tailEnd type="none" w="sm" len="sm"/>
            </a:ln>
          </p:spPr>
        </p:pic>
        <p:sp>
          <p:nvSpPr>
            <p:cNvPr id="7" name="Text Box 8"/>
            <p:cNvSpPr txBox="1">
              <a:spLocks noChangeArrowheads="1"/>
            </p:cNvSpPr>
            <p:nvPr/>
          </p:nvSpPr>
          <p:spPr bwMode="auto">
            <a:xfrm>
              <a:off x="1902" y="1775"/>
              <a:ext cx="1106"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理想二极管电流</a:t>
              </a:r>
            </a:p>
          </p:txBody>
        </p:sp>
        <p:sp>
          <p:nvSpPr>
            <p:cNvPr id="8" name="Text Box 9"/>
            <p:cNvSpPr txBox="1">
              <a:spLocks noChangeArrowheads="1"/>
            </p:cNvSpPr>
            <p:nvPr/>
          </p:nvSpPr>
          <p:spPr bwMode="auto">
            <a:xfrm>
              <a:off x="267" y="3361"/>
              <a:ext cx="1106"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理想二极管电流</a:t>
              </a:r>
            </a:p>
          </p:txBody>
        </p:sp>
        <p:sp>
          <p:nvSpPr>
            <p:cNvPr id="9" name="Text Box 10"/>
            <p:cNvSpPr txBox="1">
              <a:spLocks noChangeArrowheads="1"/>
            </p:cNvSpPr>
            <p:nvPr/>
          </p:nvSpPr>
          <p:spPr bwMode="auto">
            <a:xfrm>
              <a:off x="266" y="3002"/>
              <a:ext cx="885"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产生电流</a:t>
              </a:r>
            </a:p>
          </p:txBody>
        </p:sp>
        <p:sp>
          <p:nvSpPr>
            <p:cNvPr id="10" name="Text Box 11"/>
            <p:cNvSpPr txBox="1">
              <a:spLocks noChangeArrowheads="1"/>
            </p:cNvSpPr>
            <p:nvPr/>
          </p:nvSpPr>
          <p:spPr bwMode="auto">
            <a:xfrm>
              <a:off x="2118" y="2132"/>
              <a:ext cx="895"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产生电流</a:t>
              </a:r>
            </a:p>
          </p:txBody>
        </p:sp>
        <p:pic>
          <p:nvPicPr>
            <p:cNvPr id="11" name="Picture 12"/>
            <p:cNvPicPr>
              <a:picLocks noChangeAspect="1" noChangeArrowheads="1"/>
            </p:cNvPicPr>
            <p:nvPr/>
          </p:nvPicPr>
          <p:blipFill>
            <a:blip r:embed="rId4" cstate="print"/>
            <a:srcRect/>
            <a:stretch>
              <a:fillRect/>
            </a:stretch>
          </p:blipFill>
          <p:spPr bwMode="auto">
            <a:xfrm>
              <a:off x="3094" y="1711"/>
              <a:ext cx="2544" cy="2089"/>
            </a:xfrm>
            <a:prstGeom prst="rect">
              <a:avLst/>
            </a:prstGeom>
            <a:noFill/>
            <a:ln w="9525">
              <a:noFill/>
              <a:miter lim="800000"/>
              <a:headEnd/>
              <a:tailEnd/>
            </a:ln>
          </p:spPr>
        </p:pic>
        <p:sp>
          <p:nvSpPr>
            <p:cNvPr id="12" name="Text Box 13"/>
            <p:cNvSpPr txBox="1">
              <a:spLocks noChangeArrowheads="1"/>
            </p:cNvSpPr>
            <p:nvPr/>
          </p:nvSpPr>
          <p:spPr bwMode="auto">
            <a:xfrm>
              <a:off x="3730" y="1716"/>
              <a:ext cx="1106"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理想二极管电流</a:t>
              </a:r>
            </a:p>
          </p:txBody>
        </p:sp>
        <p:sp>
          <p:nvSpPr>
            <p:cNvPr id="13" name="Text Box 14"/>
            <p:cNvSpPr txBox="1">
              <a:spLocks noChangeArrowheads="1"/>
            </p:cNvSpPr>
            <p:nvPr/>
          </p:nvSpPr>
          <p:spPr bwMode="auto">
            <a:xfrm>
              <a:off x="3603" y="3367"/>
              <a:ext cx="1105"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理想二极管电流</a:t>
              </a:r>
            </a:p>
          </p:txBody>
        </p:sp>
        <p:sp>
          <p:nvSpPr>
            <p:cNvPr id="14" name="Text Box 15"/>
            <p:cNvSpPr txBox="1">
              <a:spLocks noChangeArrowheads="1"/>
            </p:cNvSpPr>
            <p:nvPr/>
          </p:nvSpPr>
          <p:spPr bwMode="auto">
            <a:xfrm>
              <a:off x="3193" y="2322"/>
              <a:ext cx="645"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复合电流</a:t>
              </a:r>
            </a:p>
          </p:txBody>
        </p:sp>
        <p:sp>
          <p:nvSpPr>
            <p:cNvPr id="15" name="Text Box 16"/>
            <p:cNvSpPr txBox="1">
              <a:spLocks noChangeArrowheads="1"/>
            </p:cNvSpPr>
            <p:nvPr/>
          </p:nvSpPr>
          <p:spPr bwMode="auto">
            <a:xfrm>
              <a:off x="1222" y="3607"/>
              <a:ext cx="774"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反偏</a:t>
              </a:r>
            </a:p>
          </p:txBody>
        </p:sp>
        <p:sp>
          <p:nvSpPr>
            <p:cNvPr id="16" name="Text Box 17"/>
            <p:cNvSpPr txBox="1">
              <a:spLocks noChangeArrowheads="1"/>
            </p:cNvSpPr>
            <p:nvPr/>
          </p:nvSpPr>
          <p:spPr bwMode="auto">
            <a:xfrm>
              <a:off x="3715" y="3587"/>
              <a:ext cx="774" cy="212"/>
            </a:xfrm>
            <a:prstGeom prst="rect">
              <a:avLst/>
            </a:prstGeom>
            <a:solidFill>
              <a:srgbClr val="FFFFFF"/>
            </a:solidFill>
            <a:ln w="38100" cap="sq">
              <a:noFill/>
              <a:miter lim="800000"/>
              <a:headEnd type="none" w="sm" len="sm"/>
              <a:tailEnd type="none" w="sm" len="sm"/>
            </a:ln>
          </p:spPr>
          <p:txBody>
            <a:bodyPr>
              <a:spAutoFit/>
            </a:bodyPr>
            <a:lstStyle/>
            <a:p>
              <a:pPr algn="ctr">
                <a:spcBef>
                  <a:spcPct val="50000"/>
                </a:spcBef>
              </a:pPr>
              <a:r>
                <a:rPr kumimoji="1" lang="zh-CN" altLang="en-US" sz="1600" b="1">
                  <a:solidFill>
                    <a:srgbClr val="1C1C1C"/>
                  </a:solidFill>
                  <a:latin typeface="Times New Roman" pitchFamily="18" charset="0"/>
                  <a:ea typeface="宋体" pitchFamily="2" charset="-122"/>
                </a:rPr>
                <a:t>正偏</a:t>
              </a:r>
            </a:p>
          </p:txBody>
        </p:sp>
        <p:graphicFrame>
          <p:nvGraphicFramePr>
            <p:cNvPr id="17" name="Object 18"/>
            <p:cNvGraphicFramePr>
              <a:graphicFrameLocks noChangeAspect="1"/>
            </p:cNvGraphicFramePr>
            <p:nvPr/>
          </p:nvGraphicFramePr>
          <p:xfrm>
            <a:off x="1999" y="2979"/>
            <a:ext cx="594" cy="118"/>
          </p:xfrm>
          <a:graphic>
            <a:graphicData uri="http://schemas.openxmlformats.org/presentationml/2006/ole">
              <mc:AlternateContent xmlns:mc="http://schemas.openxmlformats.org/markup-compatibility/2006">
                <mc:Choice xmlns:v="urn:schemas-microsoft-com:vml" Requires="v">
                  <p:oleObj spid="_x0000_s49194" name="Equation" r:id="rId5" imgW="952087" imgH="228501" progId="Equation.3">
                    <p:embed/>
                  </p:oleObj>
                </mc:Choice>
                <mc:Fallback>
                  <p:oleObj name="Equation" r:id="rId5" imgW="952087" imgH="228501" progId="Equation.3">
                    <p:embed/>
                    <p:pic>
                      <p:nvPicPr>
                        <p:cNvPr id="62482"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9" y="2979"/>
                          <a:ext cx="594" cy="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5912523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17</a:t>
            </a:fld>
            <a:endParaRPr lang="zh-CN" altLang="en-US"/>
          </a:p>
        </p:txBody>
      </p:sp>
      <p:sp>
        <p:nvSpPr>
          <p:cNvPr id="3" name="Text Box 3"/>
          <p:cNvSpPr txBox="1">
            <a:spLocks noChangeArrowheads="1"/>
          </p:cNvSpPr>
          <p:nvPr/>
        </p:nvSpPr>
        <p:spPr bwMode="auto">
          <a:xfrm>
            <a:off x="321239" y="589936"/>
            <a:ext cx="213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spcBef>
                <a:spcPct val="50000"/>
              </a:spcBef>
              <a:spcAft>
                <a:spcPct val="0"/>
              </a:spcAft>
              <a:buFontTx/>
              <a:buNone/>
            </a:pPr>
            <a:r>
              <a:rPr kumimoji="1" lang="zh-CN" altLang="en-US" sz="2400" b="1" dirty="0" smtClean="0">
                <a:solidFill>
                  <a:srgbClr val="000000"/>
                </a:solidFill>
                <a:latin typeface="Times New Roman" panose="02020603050405020304" pitchFamily="18" charset="0"/>
                <a:cs typeface="Times New Roman" panose="02020603050405020304" pitchFamily="18" charset="0"/>
              </a:rPr>
              <a:t>势垒区中：</a:t>
            </a:r>
          </a:p>
        </p:txBody>
      </p:sp>
      <p:sp>
        <p:nvSpPr>
          <p:cNvPr id="4" name="Text Box 6"/>
          <p:cNvSpPr txBox="1">
            <a:spLocks noChangeArrowheads="1"/>
          </p:cNvSpPr>
          <p:nvPr/>
        </p:nvSpPr>
        <p:spPr bwMode="auto">
          <a:xfrm>
            <a:off x="397439" y="3971311"/>
            <a:ext cx="77724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lnSpc>
                <a:spcPct val="130000"/>
              </a:lnSpc>
              <a:spcBef>
                <a:spcPct val="0"/>
              </a:spcBef>
              <a:spcAft>
                <a:spcPct val="0"/>
              </a:spcAft>
              <a:buFontTx/>
              <a:buNone/>
            </a:pPr>
            <a:r>
              <a:rPr kumimoji="1" lang="zh-CN" altLang="en-US" sz="2400" b="1" smtClean="0">
                <a:solidFill>
                  <a:srgbClr val="000000"/>
                </a:solidFill>
                <a:latin typeface="Times New Roman" panose="02020603050405020304" pitchFamily="18" charset="0"/>
                <a:cs typeface="Times New Roman" panose="02020603050405020304" pitchFamily="18" charset="0"/>
              </a:rPr>
              <a:t>正偏：</a:t>
            </a:r>
            <a:r>
              <a:rPr kumimoji="1" lang="en-US" altLang="zh-CN" sz="2400" b="1" i="1" smtClean="0">
                <a:solidFill>
                  <a:srgbClr val="000000"/>
                </a:solidFill>
                <a:latin typeface="Times New Roman" panose="02020603050405020304" pitchFamily="18" charset="0"/>
                <a:cs typeface="Times New Roman" panose="02020603050405020304" pitchFamily="18" charset="0"/>
              </a:rPr>
              <a:t>V</a:t>
            </a:r>
            <a:r>
              <a:rPr kumimoji="1" lang="en-US" altLang="zh-CN" sz="2400" b="1" smtClean="0">
                <a:solidFill>
                  <a:srgbClr val="000000"/>
                </a:solidFill>
                <a:latin typeface="Times New Roman" panose="02020603050405020304" pitchFamily="18" charset="0"/>
                <a:cs typeface="Times New Roman" panose="02020603050405020304" pitchFamily="18" charset="0"/>
              </a:rPr>
              <a:t> = </a:t>
            </a:r>
            <a:r>
              <a:rPr kumimoji="1" lang="en-US" altLang="zh-CN" sz="2400" b="1" i="1" smtClean="0">
                <a:solidFill>
                  <a:srgbClr val="00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000000"/>
                </a:solidFill>
                <a:latin typeface="Times New Roman" panose="02020603050405020304" pitchFamily="18" charset="0"/>
                <a:cs typeface="Times New Roman" panose="02020603050405020304" pitchFamily="18" charset="0"/>
              </a:rPr>
              <a:t>F </a:t>
            </a:r>
            <a:r>
              <a:rPr kumimoji="1" lang="en-US" altLang="zh-CN" sz="2400" b="1" smtClean="0">
                <a:solidFill>
                  <a:srgbClr val="000000"/>
                </a:solidFill>
                <a:latin typeface="Times New Roman" panose="02020603050405020304" pitchFamily="18" charset="0"/>
                <a:cs typeface="Times New Roman" panose="02020603050405020304" pitchFamily="18" charset="0"/>
              </a:rPr>
              <a:t>&gt; 0</a:t>
            </a:r>
            <a:r>
              <a:rPr kumimoji="1" lang="zh-CN" altLang="en-US" sz="2400" b="1" smtClean="0">
                <a:solidFill>
                  <a:srgbClr val="000000"/>
                </a:solidFill>
                <a:latin typeface="Times New Roman" panose="02020603050405020304" pitchFamily="18" charset="0"/>
                <a:cs typeface="Times New Roman" panose="02020603050405020304" pitchFamily="18" charset="0"/>
              </a:rPr>
              <a:t>，势垒区中 </a:t>
            </a:r>
            <a:r>
              <a:rPr kumimoji="1" lang="en-US" altLang="zh-CN" sz="2400" b="1" i="1" smtClean="0">
                <a:solidFill>
                  <a:srgbClr val="000000"/>
                </a:solidFill>
                <a:latin typeface="Times New Roman" panose="02020603050405020304" pitchFamily="18" charset="0"/>
                <a:cs typeface="Times New Roman" panose="02020603050405020304" pitchFamily="18" charset="0"/>
              </a:rPr>
              <a:t>n</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x</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en-US" altLang="zh-CN" sz="2400" b="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p</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x</a:t>
            </a:r>
            <a:r>
              <a:rPr kumimoji="1" lang="en-US" altLang="zh-CN" sz="2400" b="1" smtClean="0">
                <a:solidFill>
                  <a:srgbClr val="000000"/>
                </a:solidFill>
                <a:latin typeface="Times New Roman" panose="02020603050405020304" pitchFamily="18" charset="0"/>
                <a:cs typeface="Times New Roman" panose="02020603050405020304" pitchFamily="18" charset="0"/>
              </a:rPr>
              <a:t>) &gt; </a:t>
            </a:r>
            <a:r>
              <a:rPr kumimoji="1" lang="en-US" altLang="zh-CN" sz="2400" b="1" i="1" smtClean="0">
                <a:solidFill>
                  <a:srgbClr val="000000"/>
                </a:solidFill>
                <a:latin typeface="Times New Roman" panose="02020603050405020304" pitchFamily="18" charset="0"/>
                <a:cs typeface="Times New Roman" panose="02020603050405020304" pitchFamily="18" charset="0"/>
              </a:rPr>
              <a:t>n</a:t>
            </a:r>
            <a:r>
              <a:rPr kumimoji="1" lang="en-US" altLang="zh-CN" sz="2400" b="1" baseline="-25000" smtClean="0">
                <a:solidFill>
                  <a:srgbClr val="000000"/>
                </a:solidFill>
                <a:latin typeface="Times New Roman" panose="02020603050405020304" pitchFamily="18" charset="0"/>
                <a:cs typeface="Times New Roman" panose="02020603050405020304" pitchFamily="18" charset="0"/>
              </a:rPr>
              <a:t>i</a:t>
            </a:r>
            <a:r>
              <a:rPr kumimoji="1" lang="en-US" altLang="zh-CN" sz="2400" b="1" baseline="30000" smtClean="0">
                <a:solidFill>
                  <a:srgbClr val="000000"/>
                </a:solidFill>
                <a:latin typeface="Times New Roman" panose="02020603050405020304" pitchFamily="18" charset="0"/>
                <a:cs typeface="Times New Roman" panose="02020603050405020304" pitchFamily="18" charset="0"/>
              </a:rPr>
              <a:t>2</a:t>
            </a:r>
            <a:endParaRPr kumimoji="1" lang="en-US" altLang="zh-CN" sz="2400" b="1" smtClean="0">
              <a:solidFill>
                <a:srgbClr val="000000"/>
              </a:solidFill>
              <a:latin typeface="Times New Roman" panose="02020603050405020304" pitchFamily="18" charset="0"/>
              <a:cs typeface="Times New Roman" panose="02020603050405020304" pitchFamily="18" charset="0"/>
            </a:endParaRPr>
          </a:p>
          <a:p>
            <a:pPr algn="just" defTabSz="914400" eaLnBrk="0" fontAlgn="base" hangingPunct="0">
              <a:lnSpc>
                <a:spcPct val="130000"/>
              </a:lnSpc>
              <a:spcBef>
                <a:spcPct val="0"/>
              </a:spcBef>
              <a:spcAft>
                <a:spcPct val="0"/>
              </a:spcAft>
              <a:buFontTx/>
              <a:buNone/>
            </a:pPr>
            <a:r>
              <a:rPr kumimoji="1" lang="en-US" altLang="zh-CN" sz="2400" b="1" smtClean="0">
                <a:solidFill>
                  <a:srgbClr val="000000"/>
                </a:solidFill>
                <a:latin typeface="Times New Roman" panose="02020603050405020304" pitchFamily="18" charset="0"/>
                <a:cs typeface="Times New Roman" panose="02020603050405020304" pitchFamily="18" charset="0"/>
              </a:rPr>
              <a:t>            </a:t>
            </a:r>
            <a:r>
              <a:rPr kumimoji="1" lang="zh-CN" altLang="en-US" sz="2400" b="1" smtClean="0">
                <a:solidFill>
                  <a:srgbClr val="000000"/>
                </a:solidFill>
                <a:latin typeface="Times New Roman" panose="02020603050405020304" pitchFamily="18" charset="0"/>
                <a:cs typeface="Times New Roman" panose="02020603050405020304" pitchFamily="18" charset="0"/>
              </a:rPr>
              <a:t>势垒区中存在</a:t>
            </a:r>
            <a:r>
              <a:rPr kumimoji="1" lang="zh-CN" altLang="en-US" sz="2400" b="1" smtClean="0">
                <a:solidFill>
                  <a:srgbClr val="990000"/>
                </a:solidFill>
                <a:latin typeface="Times New Roman" panose="02020603050405020304" pitchFamily="18" charset="0"/>
                <a:cs typeface="Times New Roman" panose="02020603050405020304" pitchFamily="18" charset="0"/>
              </a:rPr>
              <a:t>净复合</a:t>
            </a:r>
            <a:r>
              <a:rPr kumimoji="1" lang="zh-CN" altLang="en-US" sz="2400" b="1" smtClean="0">
                <a:solidFill>
                  <a:srgbClr val="1F497D"/>
                </a:solidFill>
                <a:latin typeface="Times New Roman" panose="02020603050405020304" pitchFamily="18" charset="0"/>
                <a:cs typeface="Times New Roman" panose="02020603050405020304" pitchFamily="18" charset="0"/>
              </a:rPr>
              <a:t>；</a:t>
            </a:r>
          </a:p>
        </p:txBody>
      </p:sp>
      <p:sp>
        <p:nvSpPr>
          <p:cNvPr id="5" name="Text Box 10"/>
          <p:cNvSpPr txBox="1">
            <a:spLocks noChangeArrowheads="1"/>
          </p:cNvSpPr>
          <p:nvPr/>
        </p:nvSpPr>
        <p:spPr bwMode="auto">
          <a:xfrm>
            <a:off x="4439214" y="2617174"/>
            <a:ext cx="8675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000" b="1" smtClean="0">
                <a:solidFill>
                  <a:prstClr val="black"/>
                </a:solidFill>
                <a:latin typeface="Times New Roman" panose="02020603050405020304" pitchFamily="18" charset="0"/>
                <a:cs typeface="Times New Roman" panose="02020603050405020304" pitchFamily="18" charset="0"/>
              </a:rPr>
              <a:t>(6.60) </a:t>
            </a:r>
          </a:p>
        </p:txBody>
      </p:sp>
      <p:sp>
        <p:nvSpPr>
          <p:cNvPr id="6" name="Text Box 12"/>
          <p:cNvSpPr txBox="1">
            <a:spLocks noChangeArrowheads="1"/>
          </p:cNvSpPr>
          <p:nvPr/>
        </p:nvSpPr>
        <p:spPr bwMode="auto">
          <a:xfrm>
            <a:off x="389501" y="3374411"/>
            <a:ext cx="2160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50000"/>
              </a:spcBef>
              <a:spcAft>
                <a:spcPct val="0"/>
              </a:spcAft>
              <a:buFontTx/>
              <a:buNone/>
            </a:pPr>
            <a:r>
              <a:rPr lang="zh-CN" altLang="en-US" sz="2400" b="1" smtClean="0">
                <a:solidFill>
                  <a:prstClr val="black"/>
                </a:solidFill>
                <a:latin typeface="Times New Roman" panose="02020603050405020304" pitchFamily="18" charset="0"/>
                <a:cs typeface="Times New Roman" panose="02020603050405020304" pitchFamily="18" charset="0"/>
              </a:rPr>
              <a:t>净复合率：</a:t>
            </a:r>
          </a:p>
        </p:txBody>
      </p:sp>
      <p:graphicFrame>
        <p:nvGraphicFramePr>
          <p:cNvPr id="7" name="Object 4"/>
          <p:cNvGraphicFramePr>
            <a:graphicFrameLocks noChangeAspect="1"/>
          </p:cNvGraphicFramePr>
          <p:nvPr>
            <p:extLst>
              <p:ext uri="{D42A27DB-BD31-4B8C-83A1-F6EECF244321}">
                <p14:modId xmlns:p14="http://schemas.microsoft.com/office/powerpoint/2010/main" val="2867167462"/>
              </p:ext>
            </p:extLst>
          </p:nvPr>
        </p:nvGraphicFramePr>
        <p:xfrm>
          <a:off x="5110726" y="1001099"/>
          <a:ext cx="3644900" cy="2079625"/>
        </p:xfrm>
        <a:graphic>
          <a:graphicData uri="http://schemas.openxmlformats.org/presentationml/2006/ole">
            <mc:AlternateContent xmlns:mc="http://schemas.openxmlformats.org/markup-compatibility/2006">
              <mc:Choice xmlns:v="urn:schemas-microsoft-com:vml" Requires="v">
                <p:oleObj spid="_x0000_s50218" name="BMP 图象" r:id="rId3" imgW="7602011" imgH="3715269" progId="PBrush">
                  <p:embed/>
                </p:oleObj>
              </mc:Choice>
              <mc:Fallback>
                <p:oleObj name="BMP 图象" r:id="rId3" imgW="7602011" imgH="3715269" progId="PBrush">
                  <p:embed/>
                  <p:pic>
                    <p:nvPicPr>
                      <p:cNvPr id="7373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0726" y="1001099"/>
                        <a:ext cx="3644900" cy="207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矩形 7"/>
          <p:cNvSpPr>
            <a:spLocks noChangeArrowheads="1"/>
          </p:cNvSpPr>
          <p:nvPr/>
        </p:nvSpPr>
        <p:spPr bwMode="auto">
          <a:xfrm>
            <a:off x="378389" y="5109549"/>
            <a:ext cx="792956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lnSpc>
                <a:spcPct val="130000"/>
              </a:lnSpc>
              <a:spcBef>
                <a:spcPct val="0"/>
              </a:spcBef>
              <a:spcAft>
                <a:spcPct val="0"/>
              </a:spcAft>
              <a:buFontTx/>
              <a:buNone/>
            </a:pPr>
            <a:r>
              <a:rPr kumimoji="1" lang="zh-CN" altLang="en-US" sz="2400" b="1" smtClean="0">
                <a:solidFill>
                  <a:srgbClr val="000000"/>
                </a:solidFill>
                <a:latin typeface="Times New Roman" panose="02020603050405020304" pitchFamily="18" charset="0"/>
                <a:cs typeface="Times New Roman" panose="02020603050405020304" pitchFamily="18" charset="0"/>
              </a:rPr>
              <a:t>反偏：</a:t>
            </a:r>
            <a:r>
              <a:rPr kumimoji="1" lang="en-US" altLang="zh-CN" sz="2400" b="1" i="1" smtClean="0">
                <a:solidFill>
                  <a:srgbClr val="000000"/>
                </a:solidFill>
                <a:latin typeface="Times New Roman" panose="02020603050405020304" pitchFamily="18" charset="0"/>
                <a:cs typeface="Times New Roman" panose="02020603050405020304" pitchFamily="18" charset="0"/>
              </a:rPr>
              <a:t>V</a:t>
            </a:r>
            <a:r>
              <a:rPr kumimoji="1" lang="en-US" altLang="zh-CN" sz="2400" b="1" smtClean="0">
                <a:solidFill>
                  <a:srgbClr val="000000"/>
                </a:solidFill>
                <a:latin typeface="Times New Roman" panose="02020603050405020304" pitchFamily="18" charset="0"/>
                <a:cs typeface="Times New Roman" panose="02020603050405020304" pitchFamily="18" charset="0"/>
              </a:rPr>
              <a:t> = </a:t>
            </a:r>
            <a:r>
              <a:rPr kumimoji="1" lang="en-US" altLang="zh-CN" sz="2400" b="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000000"/>
                </a:solidFill>
                <a:latin typeface="Times New Roman" panose="02020603050405020304" pitchFamily="18" charset="0"/>
                <a:cs typeface="Times New Roman" panose="02020603050405020304" pitchFamily="18" charset="0"/>
              </a:rPr>
              <a:t>R </a:t>
            </a:r>
            <a:r>
              <a:rPr kumimoji="1" lang="en-US" altLang="zh-CN" sz="2400" b="1" smtClean="0">
                <a:solidFill>
                  <a:srgbClr val="000000"/>
                </a:solidFill>
                <a:latin typeface="Times New Roman" panose="02020603050405020304" pitchFamily="18" charset="0"/>
                <a:cs typeface="Times New Roman" panose="02020603050405020304" pitchFamily="18" charset="0"/>
              </a:rPr>
              <a:t>&lt; 0</a:t>
            </a:r>
            <a:r>
              <a:rPr kumimoji="1" lang="zh-CN" altLang="en-US" sz="2400" b="1" smtClean="0">
                <a:solidFill>
                  <a:srgbClr val="000000"/>
                </a:solidFill>
                <a:latin typeface="Times New Roman" panose="02020603050405020304" pitchFamily="18" charset="0"/>
                <a:cs typeface="Times New Roman" panose="02020603050405020304" pitchFamily="18" charset="0"/>
              </a:rPr>
              <a:t>，势垒区中</a:t>
            </a:r>
            <a:r>
              <a:rPr kumimoji="1" lang="en-US" altLang="zh-CN" sz="2400" b="1" i="1" smtClean="0">
                <a:solidFill>
                  <a:srgbClr val="000000"/>
                </a:solidFill>
                <a:latin typeface="Times New Roman" panose="02020603050405020304" pitchFamily="18" charset="0"/>
                <a:cs typeface="Times New Roman" panose="02020603050405020304" pitchFamily="18" charset="0"/>
              </a:rPr>
              <a:t>n</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x</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en-US" altLang="zh-CN" sz="2400" b="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p</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en-US" altLang="zh-CN" sz="2400" b="1" i="1" smtClean="0">
                <a:solidFill>
                  <a:srgbClr val="000000"/>
                </a:solidFill>
                <a:latin typeface="Times New Roman" panose="02020603050405020304" pitchFamily="18" charset="0"/>
                <a:cs typeface="Times New Roman" panose="02020603050405020304" pitchFamily="18" charset="0"/>
              </a:rPr>
              <a:t>x</a:t>
            </a:r>
            <a:r>
              <a:rPr kumimoji="1" lang="en-US" altLang="zh-CN" sz="2400" b="1" smtClean="0">
                <a:solidFill>
                  <a:srgbClr val="000000"/>
                </a:solidFill>
                <a:latin typeface="Times New Roman" panose="02020603050405020304" pitchFamily="18" charset="0"/>
                <a:cs typeface="Times New Roman" panose="02020603050405020304" pitchFamily="18" charset="0"/>
              </a:rPr>
              <a:t>) &lt; </a:t>
            </a:r>
            <a:r>
              <a:rPr kumimoji="1" lang="en-US" altLang="zh-CN" sz="2400" b="1" i="1" smtClean="0">
                <a:solidFill>
                  <a:srgbClr val="000000"/>
                </a:solidFill>
                <a:latin typeface="Times New Roman" panose="02020603050405020304" pitchFamily="18" charset="0"/>
                <a:cs typeface="Times New Roman" panose="02020603050405020304" pitchFamily="18" charset="0"/>
              </a:rPr>
              <a:t>n</a:t>
            </a:r>
            <a:r>
              <a:rPr kumimoji="1" lang="en-US" altLang="zh-CN" sz="2400" b="1" baseline="-25000" smtClean="0">
                <a:solidFill>
                  <a:srgbClr val="000000"/>
                </a:solidFill>
                <a:latin typeface="Times New Roman" panose="02020603050405020304" pitchFamily="18" charset="0"/>
                <a:cs typeface="Times New Roman" panose="02020603050405020304" pitchFamily="18" charset="0"/>
              </a:rPr>
              <a:t>i</a:t>
            </a:r>
            <a:r>
              <a:rPr kumimoji="1" lang="en-US" altLang="zh-CN" sz="2400" b="1" baseline="30000" smtClean="0">
                <a:solidFill>
                  <a:srgbClr val="000000"/>
                </a:solidFill>
                <a:latin typeface="Times New Roman" panose="02020603050405020304" pitchFamily="18" charset="0"/>
                <a:cs typeface="Times New Roman" panose="02020603050405020304" pitchFamily="18" charset="0"/>
              </a:rPr>
              <a:t>2</a:t>
            </a:r>
            <a:endParaRPr kumimoji="1" lang="en-US" altLang="zh-CN" sz="2400" b="1" smtClean="0">
              <a:solidFill>
                <a:srgbClr val="000000"/>
              </a:solidFill>
              <a:latin typeface="Times New Roman" panose="02020603050405020304" pitchFamily="18" charset="0"/>
              <a:cs typeface="Times New Roman" panose="02020603050405020304" pitchFamily="18" charset="0"/>
            </a:endParaRPr>
          </a:p>
          <a:p>
            <a:pPr algn="just" defTabSz="914400" eaLnBrk="0" fontAlgn="base" hangingPunct="0">
              <a:lnSpc>
                <a:spcPct val="130000"/>
              </a:lnSpc>
              <a:spcBef>
                <a:spcPct val="0"/>
              </a:spcBef>
              <a:spcAft>
                <a:spcPct val="0"/>
              </a:spcAft>
              <a:buFontTx/>
              <a:buNone/>
            </a:pPr>
            <a:r>
              <a:rPr kumimoji="1" lang="en-US" altLang="zh-CN" sz="2400" b="1" smtClean="0">
                <a:solidFill>
                  <a:srgbClr val="000000"/>
                </a:solidFill>
                <a:latin typeface="Times New Roman" panose="02020603050405020304" pitchFamily="18" charset="0"/>
                <a:cs typeface="Times New Roman" panose="02020603050405020304" pitchFamily="18" charset="0"/>
              </a:rPr>
              <a:t>            </a:t>
            </a:r>
            <a:r>
              <a:rPr kumimoji="1" lang="zh-CN" altLang="en-US" sz="2400" b="1" smtClean="0">
                <a:solidFill>
                  <a:srgbClr val="000000"/>
                </a:solidFill>
                <a:latin typeface="Times New Roman" panose="02020603050405020304" pitchFamily="18" charset="0"/>
                <a:cs typeface="Times New Roman" panose="02020603050405020304" pitchFamily="18" charset="0"/>
              </a:rPr>
              <a:t>势垒区中存在</a:t>
            </a:r>
            <a:r>
              <a:rPr kumimoji="1" lang="zh-CN" altLang="en-US" sz="2400" b="1" smtClean="0">
                <a:solidFill>
                  <a:srgbClr val="990000"/>
                </a:solidFill>
                <a:latin typeface="Times New Roman" panose="02020603050405020304" pitchFamily="18" charset="0"/>
                <a:cs typeface="Times New Roman" panose="02020603050405020304" pitchFamily="18" charset="0"/>
              </a:rPr>
              <a:t>净产生</a:t>
            </a:r>
            <a:r>
              <a:rPr kumimoji="1" lang="zh-CN" altLang="en-US" sz="2400" b="1" smtClean="0">
                <a:solidFill>
                  <a:srgbClr val="1F497D"/>
                </a:solidFill>
                <a:latin typeface="Times New Roman" panose="02020603050405020304" pitchFamily="18" charset="0"/>
                <a:cs typeface="Times New Roman" panose="02020603050405020304" pitchFamily="18" charset="0"/>
              </a:rPr>
              <a:t>。</a:t>
            </a:r>
          </a:p>
        </p:txBody>
      </p:sp>
      <p:pic>
        <p:nvPicPr>
          <p:cNvPr id="9" name="图片 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976" y="1109049"/>
            <a:ext cx="418623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2"/>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80126" y="2159974"/>
            <a:ext cx="126047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550089" y="3236299"/>
            <a:ext cx="23590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81370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18</a:t>
            </a:fld>
            <a:endParaRPr lang="zh-CN" altLang="en-US"/>
          </a:p>
        </p:txBody>
      </p:sp>
      <p:sp>
        <p:nvSpPr>
          <p:cNvPr id="3" name="Text Box 2"/>
          <p:cNvSpPr txBox="1">
            <a:spLocks noChangeArrowheads="1"/>
          </p:cNvSpPr>
          <p:nvPr/>
        </p:nvSpPr>
        <p:spPr bwMode="auto">
          <a:xfrm>
            <a:off x="344128" y="1370268"/>
            <a:ext cx="8190271"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spcAft>
                <a:spcPct val="0"/>
              </a:spcAft>
              <a:buFontTx/>
              <a:buNone/>
            </a:pPr>
            <a:r>
              <a:rPr kumimoji="1" lang="zh-CN" altLang="en-US" sz="2400" b="1" dirty="0" smtClean="0">
                <a:solidFill>
                  <a:srgbClr val="A50021"/>
                </a:solidFill>
                <a:latin typeface="宋体" panose="02010600030101010101" pitchFamily="2" charset="-122"/>
                <a:cs typeface="楷体_GB2312" pitchFamily="49" charset="-122"/>
              </a:rPr>
              <a:t>势垒区中的复合、产生电流与扩散区中的复合、产生电流性质相同，只是地点不同。</a:t>
            </a:r>
          </a:p>
        </p:txBody>
      </p:sp>
      <p:sp>
        <p:nvSpPr>
          <p:cNvPr id="4" name="Rectangle 6"/>
          <p:cNvSpPr>
            <a:spLocks noChangeArrowheads="1"/>
          </p:cNvSpPr>
          <p:nvPr/>
        </p:nvSpPr>
        <p:spPr bwMode="auto">
          <a:xfrm>
            <a:off x="484187" y="413006"/>
            <a:ext cx="82296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eaLnBrk="0" fontAlgn="base" hangingPunct="0">
              <a:spcAft>
                <a:spcPct val="0"/>
              </a:spcAft>
              <a:buFontTx/>
              <a:buNone/>
            </a:pPr>
            <a:r>
              <a:rPr kumimoji="1" lang="en-US" altLang="zh-CN" sz="2400" b="1" dirty="0" err="1" smtClean="0">
                <a:solidFill>
                  <a:srgbClr val="000000"/>
                </a:solidFill>
                <a:latin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宋体" panose="02010600030101010101" pitchFamily="2" charset="-122"/>
                <a:cs typeface="楷体_GB2312" pitchFamily="49" charset="-122"/>
              </a:rPr>
              <a:t>结正向电流 </a:t>
            </a:r>
            <a:r>
              <a:rPr kumimoji="1" lang="en-US" altLang="zh-CN" sz="2400" b="1" dirty="0" smtClean="0">
                <a:solidFill>
                  <a:srgbClr val="000000"/>
                </a:solidFill>
                <a:latin typeface="宋体" panose="02010600030101010101" pitchFamily="2" charset="-122"/>
                <a:cs typeface="楷体_GB2312" pitchFamily="49" charset="-122"/>
              </a:rPr>
              <a:t>= </a:t>
            </a:r>
            <a:r>
              <a:rPr kumimoji="1" lang="zh-CN" altLang="en-US" sz="2400" b="1" dirty="0" smtClean="0">
                <a:solidFill>
                  <a:srgbClr val="000000"/>
                </a:solidFill>
                <a:latin typeface="宋体" panose="02010600030101010101" pitchFamily="2" charset="-122"/>
                <a:cs typeface="楷体_GB2312" pitchFamily="49" charset="-122"/>
              </a:rPr>
              <a:t>少子扩散流 </a:t>
            </a:r>
            <a:r>
              <a:rPr kumimoji="1" lang="en-US" altLang="zh-CN" sz="2400" b="1" dirty="0" smtClean="0">
                <a:solidFill>
                  <a:srgbClr val="000000"/>
                </a:solidFill>
                <a:latin typeface="宋体" panose="02010600030101010101" pitchFamily="2" charset="-122"/>
                <a:cs typeface="楷体_GB2312" pitchFamily="49" charset="-122"/>
              </a:rPr>
              <a:t>+ </a:t>
            </a:r>
            <a:r>
              <a:rPr kumimoji="1" lang="zh-CN" altLang="en-US" sz="2400" b="1" dirty="0" smtClean="0">
                <a:solidFill>
                  <a:srgbClr val="000000"/>
                </a:solidFill>
                <a:latin typeface="宋体" panose="02010600030101010101" pitchFamily="2" charset="-122"/>
                <a:cs typeface="楷体_GB2312" pitchFamily="49" charset="-122"/>
              </a:rPr>
              <a:t>势垒区复合电流。</a:t>
            </a:r>
          </a:p>
          <a:p>
            <a:pPr defTabSz="914400" eaLnBrk="0" fontAlgn="base" hangingPunct="0">
              <a:spcAft>
                <a:spcPct val="0"/>
              </a:spcAft>
              <a:buFontTx/>
              <a:buNone/>
            </a:pPr>
            <a:r>
              <a:rPr kumimoji="1" lang="en-US" altLang="zh-CN" sz="2400" b="1" dirty="0" err="1" smtClean="0">
                <a:solidFill>
                  <a:srgbClr val="000000"/>
                </a:solidFill>
                <a:latin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宋体" panose="02010600030101010101" pitchFamily="2" charset="-122"/>
                <a:cs typeface="楷体_GB2312" pitchFamily="49" charset="-122"/>
              </a:rPr>
              <a:t>结反向电流 </a:t>
            </a:r>
            <a:r>
              <a:rPr kumimoji="1" lang="en-US" altLang="zh-CN" sz="2400" b="1" dirty="0" smtClean="0">
                <a:solidFill>
                  <a:srgbClr val="000000"/>
                </a:solidFill>
                <a:latin typeface="宋体" panose="02010600030101010101" pitchFamily="2" charset="-122"/>
                <a:cs typeface="楷体_GB2312" pitchFamily="49" charset="-122"/>
              </a:rPr>
              <a:t>= </a:t>
            </a:r>
            <a:r>
              <a:rPr kumimoji="1" lang="zh-CN" altLang="en-US" sz="2400" b="1" dirty="0" smtClean="0">
                <a:solidFill>
                  <a:srgbClr val="000000"/>
                </a:solidFill>
                <a:latin typeface="宋体" panose="02010600030101010101" pitchFamily="2" charset="-122"/>
                <a:cs typeface="楷体_GB2312" pitchFamily="49" charset="-122"/>
              </a:rPr>
              <a:t>少子扩散流 </a:t>
            </a:r>
            <a:r>
              <a:rPr kumimoji="1" lang="en-US" altLang="zh-CN" sz="2400" b="1" dirty="0" smtClean="0">
                <a:solidFill>
                  <a:srgbClr val="000000"/>
                </a:solidFill>
                <a:latin typeface="宋体" panose="02010600030101010101" pitchFamily="2" charset="-122"/>
                <a:cs typeface="楷体_GB2312" pitchFamily="49" charset="-122"/>
              </a:rPr>
              <a:t>+ </a:t>
            </a:r>
            <a:r>
              <a:rPr kumimoji="1" lang="zh-CN" altLang="en-US" sz="2400" b="1" dirty="0" smtClean="0">
                <a:solidFill>
                  <a:srgbClr val="000000"/>
                </a:solidFill>
                <a:latin typeface="宋体" panose="02010600030101010101" pitchFamily="2" charset="-122"/>
                <a:cs typeface="楷体_GB2312" pitchFamily="49" charset="-122"/>
              </a:rPr>
              <a:t>势垒区产生电流。</a:t>
            </a:r>
          </a:p>
        </p:txBody>
      </p:sp>
      <p:pic>
        <p:nvPicPr>
          <p:cNvPr id="5"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59728" y="2437581"/>
            <a:ext cx="3175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413057" y="3175769"/>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Tx/>
              <a:buNone/>
            </a:pPr>
            <a:r>
              <a:rPr kumimoji="1" lang="en-US" altLang="zh-CN" sz="2400" b="1" u="none" dirty="0">
                <a:solidFill>
                  <a:srgbClr val="000000"/>
                </a:solidFill>
                <a:latin typeface="宋体" panose="02010600030101010101" pitchFamily="2" charset="-122"/>
                <a:cs typeface="Times New Roman" panose="02020603050405020304" pitchFamily="18" charset="0"/>
              </a:rPr>
              <a:t>U</a:t>
            </a:r>
            <a:r>
              <a:rPr kumimoji="1" lang="zh-CN" altLang="en-US" sz="2400" b="1" u="none" dirty="0">
                <a:solidFill>
                  <a:srgbClr val="000000"/>
                </a:solidFill>
                <a:latin typeface="宋体" panose="02010600030101010101" pitchFamily="2" charset="-122"/>
                <a:cs typeface="楷体_GB2312" pitchFamily="49" charset="-122"/>
              </a:rPr>
              <a:t>为净复合率：</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9728" y="3411513"/>
            <a:ext cx="292735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7472" y="4612970"/>
            <a:ext cx="6011862"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3357" y="5609387"/>
            <a:ext cx="5940092" cy="1032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51803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19</a:t>
            </a:fld>
            <a:endParaRPr lang="zh-CN" altLang="en-US"/>
          </a:p>
        </p:txBody>
      </p:sp>
      <p:sp>
        <p:nvSpPr>
          <p:cNvPr id="3" name="Text Box 8"/>
          <p:cNvSpPr txBox="1">
            <a:spLocks noChangeArrowheads="1"/>
          </p:cNvSpPr>
          <p:nvPr/>
        </p:nvSpPr>
        <p:spPr bwMode="auto">
          <a:xfrm>
            <a:off x="442964" y="1465313"/>
            <a:ext cx="2595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考虑</a:t>
            </a:r>
            <a:r>
              <a:rPr kumimoji="1" lang="en-US" altLang="zh-CN" sz="2400" b="1" smtClean="0">
                <a:solidFill>
                  <a:prstClr val="black"/>
                </a:solidFill>
                <a:latin typeface="Times New Roman" panose="02020603050405020304" pitchFamily="18" charset="0"/>
                <a:cs typeface="Times New Roman" panose="02020603050405020304" pitchFamily="18" charset="0"/>
              </a:rPr>
              <a:t>p</a:t>
            </a:r>
            <a:r>
              <a:rPr kumimoji="1" lang="en-US" altLang="zh-CN" sz="2400" b="1" baseline="30000" smtClean="0">
                <a:solidFill>
                  <a:prstClr val="black"/>
                </a:solidFill>
                <a:latin typeface="Times New Roman" panose="02020603050405020304" pitchFamily="18" charset="0"/>
                <a:cs typeface="Times New Roman" panose="02020603050405020304" pitchFamily="18" charset="0"/>
              </a:rPr>
              <a:t>+</a:t>
            </a:r>
            <a:r>
              <a:rPr kumimoji="1" lang="en-US" altLang="zh-CN" sz="2400" b="1" smtClean="0">
                <a:solidFill>
                  <a:prstClr val="black"/>
                </a:solidFill>
                <a:latin typeface="Times New Roman" panose="02020603050405020304" pitchFamily="18" charset="0"/>
                <a:cs typeface="Times New Roman" panose="02020603050405020304" pitchFamily="18" charset="0"/>
              </a:rPr>
              <a:t>n</a:t>
            </a:r>
            <a:r>
              <a:rPr kumimoji="1" lang="zh-CN" altLang="en-US" sz="2400" b="1" smtClean="0">
                <a:solidFill>
                  <a:prstClr val="black"/>
                </a:solidFill>
                <a:latin typeface="Times New Roman" panose="02020603050405020304" pitchFamily="18" charset="0"/>
                <a:cs typeface="Times New Roman" panose="02020603050405020304" pitchFamily="18" charset="0"/>
              </a:rPr>
              <a:t>结：</a:t>
            </a:r>
          </a:p>
        </p:txBody>
      </p:sp>
      <p:graphicFrame>
        <p:nvGraphicFramePr>
          <p:cNvPr id="4" name="Object 3"/>
          <p:cNvGraphicFramePr>
            <a:graphicFrameLocks noChangeAspect="1"/>
          </p:cNvGraphicFramePr>
          <p:nvPr>
            <p:extLst>
              <p:ext uri="{D42A27DB-BD31-4B8C-83A1-F6EECF244321}">
                <p14:modId xmlns:p14="http://schemas.microsoft.com/office/powerpoint/2010/main" val="1921150578"/>
              </p:ext>
            </p:extLst>
          </p:nvPr>
        </p:nvGraphicFramePr>
        <p:xfrm>
          <a:off x="2532114" y="1174801"/>
          <a:ext cx="5130800" cy="1062037"/>
        </p:xfrm>
        <a:graphic>
          <a:graphicData uri="http://schemas.openxmlformats.org/presentationml/2006/ole">
            <mc:AlternateContent xmlns:mc="http://schemas.openxmlformats.org/markup-compatibility/2006">
              <mc:Choice xmlns:v="urn:schemas-microsoft-com:vml" Requires="v">
                <p:oleObj spid="_x0000_s51243" name="公式" r:id="rId3" imgW="2641600" imgH="495300" progId="Equation.3">
                  <p:embed/>
                </p:oleObj>
              </mc:Choice>
              <mc:Fallback>
                <p:oleObj name="公式" r:id="rId3" imgW="2641600" imgH="495300" progId="Equation.3">
                  <p:embed/>
                  <p:pic>
                    <p:nvPicPr>
                      <p:cNvPr id="1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114" y="1174801"/>
                        <a:ext cx="5130800" cy="1062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 name="Text Box 10"/>
          <p:cNvSpPr txBox="1">
            <a:spLocks noChangeArrowheads="1"/>
          </p:cNvSpPr>
          <p:nvPr/>
        </p:nvSpPr>
        <p:spPr bwMode="auto">
          <a:xfrm>
            <a:off x="735063" y="4194226"/>
            <a:ext cx="7737475" cy="134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en-US" altLang="zh-CN" sz="2400" b="1" dirty="0" smtClean="0">
                <a:solidFill>
                  <a:srgbClr val="990000"/>
                </a:solidFill>
                <a:latin typeface="Times New Roman" panose="02020603050405020304" pitchFamily="18" charset="0"/>
                <a:cs typeface="Times New Roman" panose="02020603050405020304" pitchFamily="18" charset="0"/>
              </a:rPr>
              <a:t>Si </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F</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较</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小</a:t>
            </a:r>
            <a:r>
              <a:rPr kumimoji="1" lang="zh-CN" altLang="en-US" sz="2400" b="1" dirty="0" smtClean="0">
                <a:solidFill>
                  <a:prstClr val="black"/>
                </a:solidFill>
                <a:latin typeface="Times New Roman" panose="02020603050405020304" pitchFamily="18" charset="0"/>
                <a:cs typeface="Times New Roman" panose="02020603050405020304" pitchFamily="18" charset="0"/>
              </a:rPr>
              <a:t>时，通常</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N</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D </a:t>
            </a:r>
            <a:r>
              <a:rPr kumimoji="1" lang="en-US" altLang="zh-CN"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i</a:t>
            </a:r>
            <a:r>
              <a:rPr kumimoji="1" lang="zh-CN" altLang="en-US"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F</a:t>
            </a:r>
            <a:r>
              <a:rPr kumimoji="1" lang="zh-CN" altLang="en-US" sz="2400" b="1" dirty="0" smtClean="0">
                <a:solidFill>
                  <a:srgbClr val="990000"/>
                </a:solidFill>
                <a:latin typeface="Times New Roman" panose="02020603050405020304" pitchFamily="18" charset="0"/>
                <a:cs typeface="Times New Roman" panose="02020603050405020304" pitchFamily="18" charset="0"/>
              </a:rPr>
              <a:t>中 </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r</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占主要成分</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p>
          <a:p>
            <a:pPr defTabSz="914400" fontAlgn="base">
              <a:spcAft>
                <a:spcPct val="0"/>
              </a:spcAft>
              <a:buFontTx/>
              <a:buNone/>
            </a:pPr>
            <a:r>
              <a:rPr kumimoji="1" lang="zh-CN" altLang="en-US" sz="2400" b="1" i="1"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F </a:t>
            </a:r>
            <a:r>
              <a:rPr kumimoji="1" lang="zh-CN" altLang="en-US" sz="2400" b="1" dirty="0" smtClean="0">
                <a:solidFill>
                  <a:prstClr val="black"/>
                </a:solidFill>
                <a:latin typeface="Times New Roman" panose="02020603050405020304" pitchFamily="18" charset="0"/>
                <a:cs typeface="Times New Roman" panose="02020603050405020304" pitchFamily="18" charset="0"/>
              </a:rPr>
              <a:t>较</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大</a:t>
            </a:r>
            <a:r>
              <a:rPr kumimoji="1" lang="zh-CN" altLang="en-US" sz="2400" b="1" dirty="0" smtClean="0">
                <a:solidFill>
                  <a:prstClr val="black"/>
                </a:solidFill>
                <a:latin typeface="Times New Roman" panose="02020603050405020304" pitchFamily="18" charset="0"/>
                <a:cs typeface="Times New Roman" panose="02020603050405020304" pitchFamily="18" charset="0"/>
              </a:rPr>
              <a:t>时，</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可忽略 </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r</a:t>
            </a:r>
            <a:r>
              <a:rPr kumimoji="1" lang="en-US" altLang="zh-CN" sz="2400" b="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      </a:t>
            </a:r>
          </a:p>
          <a:p>
            <a:pPr defTabSz="914400" fontAlgn="base">
              <a:spcAft>
                <a:spcPct val="0"/>
              </a:spcAft>
              <a:buFontTx/>
              <a:buNone/>
            </a:pPr>
            <a:r>
              <a:rPr kumimoji="1" lang="en-US" altLang="zh-CN" sz="2400" b="1" dirty="0" smtClean="0">
                <a:solidFill>
                  <a:srgbClr val="990000"/>
                </a:solidFill>
                <a:latin typeface="Times New Roman" panose="02020603050405020304" pitchFamily="18" charset="0"/>
                <a:cs typeface="Times New Roman" panose="02020603050405020304" pitchFamily="18" charset="0"/>
              </a:rPr>
              <a:t>Ge</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n</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iGe</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iSi</a:t>
            </a:r>
            <a:r>
              <a:rPr kumimoji="1" lang="en-US" altLang="zh-CN"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dirty="0" smtClean="0">
                <a:solidFill>
                  <a:prstClr val="black"/>
                </a:solidFill>
                <a:latin typeface="Times New Roman" panose="02020603050405020304" pitchFamily="18" charset="0"/>
                <a:cs typeface="Times New Roman" panose="02020603050405020304" pitchFamily="18" charset="0"/>
              </a:rPr>
              <a:t>较小</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F </a:t>
            </a:r>
            <a:r>
              <a:rPr kumimoji="1" lang="zh-CN" altLang="en-US" sz="2400" b="1" dirty="0" smtClean="0">
                <a:solidFill>
                  <a:prstClr val="black"/>
                </a:solidFill>
                <a:latin typeface="Times New Roman" panose="02020603050405020304" pitchFamily="18" charset="0"/>
                <a:cs typeface="Times New Roman" panose="02020603050405020304" pitchFamily="18" charset="0"/>
              </a:rPr>
              <a:t>下，仍可忽略 </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r</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endParaRPr kumimoji="1" lang="zh-CN" altLang="en-US" sz="2400" b="1" baseline="-25000" dirty="0" smtClean="0">
              <a:solidFill>
                <a:prstClr val="black"/>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96319" y="2294919"/>
            <a:ext cx="4922837"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2"/>
          <p:cNvSpPr txBox="1">
            <a:spLocks noChangeArrowheads="1"/>
          </p:cNvSpPr>
          <p:nvPr/>
        </p:nvSpPr>
        <p:spPr bwMode="auto">
          <a:xfrm>
            <a:off x="242938" y="494458"/>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srgbClr val="990000"/>
                </a:solidFill>
                <a:latin typeface="Times New Roman" panose="02020603050405020304" pitchFamily="18" charset="0"/>
                <a:cs typeface="Times New Roman" panose="02020603050405020304" pitchFamily="18" charset="0"/>
              </a:rPr>
              <a:t>问题：</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r</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在什么情况下起主要作用？在什么情况下可忽略？  </a:t>
            </a:r>
          </a:p>
        </p:txBody>
      </p:sp>
    </p:spTree>
    <p:extLst>
      <p:ext uri="{BB962C8B-B14F-4D97-AF65-F5344CB8AC3E}">
        <p14:creationId xmlns:p14="http://schemas.microsoft.com/office/powerpoint/2010/main" val="1926357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20</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3865376809"/>
              </p:ext>
            </p:extLst>
          </p:nvPr>
        </p:nvGraphicFramePr>
        <p:xfrm>
          <a:off x="3922713" y="1416050"/>
          <a:ext cx="231775" cy="431800"/>
        </p:xfrm>
        <a:graphic>
          <a:graphicData uri="http://schemas.openxmlformats.org/presentationml/2006/ole">
            <mc:AlternateContent xmlns:mc="http://schemas.openxmlformats.org/markup-compatibility/2006">
              <mc:Choice xmlns:v="urn:schemas-microsoft-com:vml" Requires="v">
                <p:oleObj spid="_x0000_s52306" name="公式" r:id="rId3" imgW="152400" imgH="292100" progId="Equation.3">
                  <p:embed/>
                </p:oleObj>
              </mc:Choice>
              <mc:Fallback>
                <p:oleObj name="公式" r:id="rId3" imgW="152400" imgH="292100" progId="Equation.3">
                  <p:embed/>
                  <p:pic>
                    <p:nvPicPr>
                      <p:cNvPr id="798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2713" y="1416050"/>
                        <a:ext cx="2317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20"/>
          <p:cNvSpPr txBox="1">
            <a:spLocks noChangeArrowheads="1"/>
          </p:cNvSpPr>
          <p:nvPr/>
        </p:nvSpPr>
        <p:spPr bwMode="auto">
          <a:xfrm>
            <a:off x="217488" y="307976"/>
            <a:ext cx="3124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spcBef>
                <a:spcPct val="50000"/>
              </a:spcBef>
              <a:spcAft>
                <a:spcPct val="0"/>
              </a:spcAft>
              <a:buFontTx/>
              <a:buNone/>
            </a:pPr>
            <a:r>
              <a:rPr kumimoji="1" lang="zh-CN" altLang="en-US" sz="2400" b="1" dirty="0" smtClean="0">
                <a:solidFill>
                  <a:srgbClr val="1F497D"/>
                </a:solidFill>
                <a:latin typeface="Times New Roman" panose="02020603050405020304" pitchFamily="18" charset="0"/>
                <a:cs typeface="Times New Roman" panose="02020603050405020304" pitchFamily="18" charset="0"/>
              </a:rPr>
              <a:t>势垒区产生电流</a:t>
            </a:r>
            <a:r>
              <a:rPr kumimoji="1" lang="zh-CN" altLang="en-US" sz="2400" b="1" dirty="0" smtClean="0">
                <a:solidFill>
                  <a:srgbClr val="000000"/>
                </a:solidFill>
                <a:latin typeface="Times New Roman" panose="02020603050405020304" pitchFamily="18" charset="0"/>
                <a:cs typeface="Times New Roman" panose="02020603050405020304" pitchFamily="18" charset="0"/>
              </a:rPr>
              <a:t>：</a:t>
            </a:r>
          </a:p>
        </p:txBody>
      </p:sp>
      <p:sp>
        <p:nvSpPr>
          <p:cNvPr id="5" name="Text Box 22"/>
          <p:cNvSpPr txBox="1">
            <a:spLocks noChangeArrowheads="1"/>
          </p:cNvSpPr>
          <p:nvPr/>
        </p:nvSpPr>
        <p:spPr bwMode="auto">
          <a:xfrm>
            <a:off x="217488" y="1363662"/>
            <a:ext cx="594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spcBef>
                <a:spcPct val="0"/>
              </a:spcBef>
              <a:spcAft>
                <a:spcPct val="0"/>
              </a:spcAft>
              <a:buFontTx/>
              <a:buNone/>
            </a:pPr>
            <a:r>
              <a:rPr kumimoji="1" lang="zh-CN" altLang="en-US" sz="2400" b="1" smtClean="0">
                <a:solidFill>
                  <a:srgbClr val="000000"/>
                </a:solidFill>
                <a:latin typeface="Times New Roman" panose="02020603050405020304" pitchFamily="18" charset="0"/>
                <a:cs typeface="Times New Roman" panose="02020603050405020304" pitchFamily="18" charset="0"/>
              </a:rPr>
              <a:t>考虑势垒区产生后，总的反向电流：</a:t>
            </a:r>
          </a:p>
        </p:txBody>
      </p:sp>
      <p:graphicFrame>
        <p:nvGraphicFramePr>
          <p:cNvPr id="7" name="Object 4"/>
          <p:cNvGraphicFramePr>
            <a:graphicFrameLocks noChangeAspect="1"/>
          </p:cNvGraphicFramePr>
          <p:nvPr>
            <p:extLst>
              <p:ext uri="{D42A27DB-BD31-4B8C-83A1-F6EECF244321}">
                <p14:modId xmlns:p14="http://schemas.microsoft.com/office/powerpoint/2010/main" val="1141466724"/>
              </p:ext>
            </p:extLst>
          </p:nvPr>
        </p:nvGraphicFramePr>
        <p:xfrm>
          <a:off x="750888" y="1747837"/>
          <a:ext cx="6807200" cy="1066800"/>
        </p:xfrm>
        <a:graphic>
          <a:graphicData uri="http://schemas.openxmlformats.org/presentationml/2006/ole">
            <mc:AlternateContent xmlns:mc="http://schemas.openxmlformats.org/markup-compatibility/2006">
              <mc:Choice xmlns:v="urn:schemas-microsoft-com:vml" Requires="v">
                <p:oleObj spid="_x0000_s52307" name="公式" r:id="rId5" imgW="3149600" imgH="469900" progId="Equation.3">
                  <p:embed/>
                </p:oleObj>
              </mc:Choice>
              <mc:Fallback>
                <p:oleObj name="公式" r:id="rId5" imgW="3149600" imgH="469900" progId="Equation.3">
                  <p:embed/>
                  <p:pic>
                    <p:nvPicPr>
                      <p:cNvPr id="3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888" y="1747837"/>
                        <a:ext cx="6807200" cy="1066800"/>
                      </a:xfrm>
                      <a:prstGeom prst="rect">
                        <a:avLst/>
                      </a:prstGeom>
                      <a:noFill/>
                      <a:ln>
                        <a:noFill/>
                      </a:ln>
                      <a:effectLst/>
                      <a:extLst>
                        <a:ext uri="{909E8E84-426E-40DD-AFC4-6F175D3DCCD1}">
                          <a14:hiddenFill xmlns:a14="http://schemas.microsoft.com/office/drawing/2010/main">
                            <a:solidFill>
                              <a:srgbClr val="99FF33"/>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Text Box 32"/>
          <p:cNvSpPr txBox="1">
            <a:spLocks noChangeArrowheads="1"/>
          </p:cNvSpPr>
          <p:nvPr/>
        </p:nvSpPr>
        <p:spPr bwMode="auto">
          <a:xfrm>
            <a:off x="198160" y="4248439"/>
            <a:ext cx="89154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eaLnBrk="0" fontAlgn="base" hangingPunct="0">
              <a:lnSpc>
                <a:spcPct val="120000"/>
              </a:lnSpc>
              <a:spcBef>
                <a:spcPct val="10000"/>
              </a:spcBef>
              <a:spcAft>
                <a:spcPct val="0"/>
              </a:spcAft>
              <a:buClr>
                <a:srgbClr val="990000"/>
              </a:buClr>
              <a:buFont typeface="Wingdings" panose="05000000000000000000" pitchFamily="2" charset="2"/>
              <a:buNone/>
            </a:pPr>
            <a:r>
              <a:rPr kumimoji="1" lang="zh-CN" altLang="en-US" sz="2400" b="1" dirty="0" smtClean="0">
                <a:solidFill>
                  <a:srgbClr val="000000"/>
                </a:solidFill>
                <a:latin typeface="Times New Roman" panose="02020603050405020304" pitchFamily="18" charset="0"/>
                <a:cs typeface="Times New Roman" panose="02020603050405020304" pitchFamily="18" charset="0"/>
              </a:rPr>
              <a:t>讨论： </a:t>
            </a:r>
          </a:p>
          <a:p>
            <a:pPr defTabSz="914400" eaLnBrk="0" fontAlgn="base" hangingPunct="0">
              <a:lnSpc>
                <a:spcPct val="120000"/>
              </a:lnSpc>
              <a:spcBef>
                <a:spcPct val="10000"/>
              </a:spcBef>
              <a:spcAft>
                <a:spcPct val="0"/>
              </a:spcAft>
              <a:buClr>
                <a:srgbClr val="990000"/>
              </a:buClr>
              <a:buFont typeface="Wingdings" panose="05000000000000000000" pitchFamily="2" charset="2"/>
              <a:buChar char="§"/>
            </a:pPr>
            <a:r>
              <a:rPr kumimoji="1" lang="zh-CN" altLang="en-US"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V</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R</a:t>
            </a:r>
            <a:r>
              <a:rPr kumimoji="1" lang="en-US" altLang="zh-CN" sz="2400" b="1" dirty="0" smtClean="0">
                <a:solidFill>
                  <a:srgbClr val="99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x</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D</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g</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x</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D</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g</a:t>
            </a:r>
            <a:r>
              <a:rPr kumimoji="1" lang="zh-CN" altLang="en-US" sz="2400" b="1" dirty="0" smtClean="0">
                <a:solidFill>
                  <a:srgbClr val="000000"/>
                </a:solidFill>
                <a:latin typeface="Times New Roman" panose="02020603050405020304" pitchFamily="18" charset="0"/>
                <a:cs typeface="Times New Roman" panose="02020603050405020304" pitchFamily="18" charset="0"/>
              </a:rPr>
              <a:t>不饱和，而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DR</a:t>
            </a:r>
            <a:r>
              <a:rPr kumimoji="1" lang="zh-CN" altLang="en-US" sz="2400" b="1" dirty="0" smtClean="0">
                <a:solidFill>
                  <a:srgbClr val="000000"/>
                </a:solidFill>
                <a:latin typeface="Times New Roman" panose="02020603050405020304" pitchFamily="18" charset="0"/>
                <a:cs typeface="Times New Roman" panose="02020603050405020304" pitchFamily="18" charset="0"/>
              </a:rPr>
              <a:t>随</a:t>
            </a:r>
            <a:r>
              <a:rPr kumimoji="1" lang="en-US" altLang="zh-CN" sz="2400" b="1" i="1" dirty="0" smtClean="0">
                <a:solidFill>
                  <a:srgbClr val="000000"/>
                </a:solidFill>
                <a:latin typeface="Times New Roman" panose="02020603050405020304" pitchFamily="18" charset="0"/>
                <a:cs typeface="Times New Roman" panose="02020603050405020304" pitchFamily="18" charset="0"/>
              </a:rPr>
              <a:t>V</a:t>
            </a:r>
            <a:r>
              <a:rPr kumimoji="1" lang="en-US" altLang="zh-CN" sz="2400" b="1" baseline="-25000" dirty="0" smtClean="0">
                <a:solidFill>
                  <a:srgbClr val="000000"/>
                </a:solidFill>
                <a:latin typeface="Times New Roman" panose="02020603050405020304" pitchFamily="18" charset="0"/>
                <a:cs typeface="Times New Roman" panose="02020603050405020304" pitchFamily="18" charset="0"/>
              </a:rPr>
              <a:t>R</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饱和。因此</a:t>
            </a:r>
            <a:r>
              <a:rPr kumimoji="1" lang="en-US" altLang="zh-CN" sz="2400" b="1" i="1" dirty="0" smtClean="0">
                <a:solidFill>
                  <a:srgbClr val="000000"/>
                </a:solidFill>
                <a:latin typeface="Times New Roman" panose="02020603050405020304" pitchFamily="18" charset="0"/>
                <a:cs typeface="Times New Roman" panose="02020603050405020304" pitchFamily="18" charset="0"/>
              </a:rPr>
              <a:t>V</a:t>
            </a:r>
            <a:r>
              <a:rPr kumimoji="1" lang="en-US" altLang="zh-CN" sz="2400" b="1" baseline="-25000" dirty="0" smtClean="0">
                <a:solidFill>
                  <a:srgbClr val="000000"/>
                </a:solidFill>
                <a:latin typeface="Times New Roman" panose="02020603050405020304" pitchFamily="18" charset="0"/>
                <a:cs typeface="Times New Roman" panose="02020603050405020304" pitchFamily="18" charset="0"/>
              </a:rPr>
              <a:t>R</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R</a:t>
            </a:r>
            <a:r>
              <a:rPr kumimoji="1" lang="zh-CN" altLang="en-US" sz="2400" b="1" dirty="0" smtClean="0">
                <a:solidFill>
                  <a:srgbClr val="000000"/>
                </a:solidFill>
                <a:latin typeface="Times New Roman" panose="02020603050405020304" pitchFamily="18" charset="0"/>
                <a:cs typeface="Times New Roman" panose="02020603050405020304" pitchFamily="18" charset="0"/>
              </a:rPr>
              <a:t>中的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g</a:t>
            </a:r>
            <a:r>
              <a:rPr kumimoji="1" lang="en-US" altLang="zh-CN" sz="2400" b="1" baseline="-25000" dirty="0" smtClean="0">
                <a:solidFill>
                  <a:srgbClr val="000000"/>
                </a:solidFill>
                <a:latin typeface="Times New Roman" panose="02020603050405020304" pitchFamily="18" charset="0"/>
                <a:cs typeface="Times New Roman" panose="02020603050405020304" pitchFamily="18" charset="0"/>
              </a:rPr>
              <a:t> </a:t>
            </a:r>
            <a:r>
              <a:rPr kumimoji="1" lang="zh-CN" altLang="en-US" sz="2400" b="1" dirty="0" smtClean="0">
                <a:solidFill>
                  <a:srgbClr val="000000"/>
                </a:solidFill>
                <a:latin typeface="Times New Roman" panose="02020603050405020304" pitchFamily="18" charset="0"/>
                <a:cs typeface="Times New Roman" panose="02020603050405020304" pitchFamily="18" charset="0"/>
              </a:rPr>
              <a:t>成分增大。</a:t>
            </a:r>
          </a:p>
          <a:p>
            <a:pPr defTabSz="914400" eaLnBrk="0" fontAlgn="base" hangingPunct="0">
              <a:lnSpc>
                <a:spcPct val="120000"/>
              </a:lnSpc>
              <a:spcBef>
                <a:spcPct val="10000"/>
              </a:spcBef>
              <a:spcAft>
                <a:spcPct val="0"/>
              </a:spcAft>
              <a:buClr>
                <a:srgbClr val="990000"/>
              </a:buClr>
              <a:buFont typeface="Wingdings" panose="05000000000000000000" pitchFamily="2" charset="2"/>
              <a:buChar char="§"/>
            </a:pPr>
            <a:r>
              <a:rPr kumimoji="1" lang="zh-CN" altLang="en-US" sz="2400" b="1" i="1" dirty="0" smtClean="0">
                <a:solidFill>
                  <a:srgbClr val="990000"/>
                </a:solidFill>
                <a:latin typeface="Times New Roman" panose="02020603050405020304" pitchFamily="18" charset="0"/>
                <a:cs typeface="Times New Roman" panose="02020603050405020304" pitchFamily="18" charset="0"/>
              </a:rPr>
              <a:t>  </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T</a:t>
            </a:r>
            <a:r>
              <a:rPr kumimoji="1" lang="en-US" altLang="zh-CN" sz="2400" b="1" dirty="0" smtClean="0">
                <a:solidFill>
                  <a:srgbClr val="99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n</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i</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DR</a:t>
            </a:r>
            <a:r>
              <a:rPr kumimoji="1" lang="en-US" altLang="zh-CN" sz="2400" b="1" baseline="-25000"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g</a:t>
            </a:r>
            <a:r>
              <a:rPr kumimoji="1" lang="en-US" altLang="zh-CN"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n</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i</a:t>
            </a:r>
            <a:r>
              <a:rPr kumimoji="1" lang="zh-CN" altLang="en-US"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DR</a:t>
            </a:r>
            <a:r>
              <a:rPr kumimoji="1" lang="en-US" altLang="zh-CN" sz="2400" b="1" baseline="-25000"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err="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000000"/>
                </a:solidFill>
                <a:latin typeface="Times New Roman" panose="02020603050405020304" pitchFamily="18" charset="0"/>
                <a:cs typeface="Times New Roman" panose="02020603050405020304" pitchFamily="18" charset="0"/>
              </a:rPr>
              <a:t>g</a:t>
            </a:r>
            <a:r>
              <a:rPr kumimoji="1" lang="en-US" altLang="zh-CN" sz="2400" b="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dirty="0" smtClean="0">
                <a:solidFill>
                  <a:srgbClr val="000000"/>
                </a:solidFill>
                <a:latin typeface="Times New Roman" panose="02020603050405020304" pitchFamily="18" charset="0"/>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cs typeface="Times New Roman" panose="02020603050405020304" pitchFamily="18" charset="0"/>
              </a:rPr>
              <a:t>， </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j</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g</a:t>
            </a:r>
            <a:r>
              <a:rPr kumimoji="1" lang="zh-CN" altLang="en-US" sz="2400" b="1" dirty="0" smtClean="0">
                <a:solidFill>
                  <a:srgbClr val="990000"/>
                </a:solidFill>
                <a:latin typeface="Times New Roman" panose="02020603050405020304" pitchFamily="18" charset="0"/>
                <a:cs typeface="Times New Roman" panose="02020603050405020304" pitchFamily="18" charset="0"/>
              </a:rPr>
              <a:t>的影响减弱</a:t>
            </a:r>
            <a:r>
              <a:rPr kumimoji="1" lang="zh-CN" altLang="en-US" sz="2400" b="1" dirty="0" smtClean="0">
                <a:solidFill>
                  <a:srgbClr val="000000"/>
                </a:solidFill>
                <a:latin typeface="Times New Roman" panose="02020603050405020304" pitchFamily="18" charset="0"/>
                <a:cs typeface="Times New Roman" panose="02020603050405020304" pitchFamily="18" charset="0"/>
              </a:rPr>
              <a:t>。</a:t>
            </a:r>
          </a:p>
        </p:txBody>
      </p:sp>
      <p:sp>
        <p:nvSpPr>
          <p:cNvPr id="9" name="Text Box 37"/>
          <p:cNvSpPr txBox="1">
            <a:spLocks noChangeArrowheads="1"/>
          </p:cNvSpPr>
          <p:nvPr/>
        </p:nvSpPr>
        <p:spPr bwMode="auto">
          <a:xfrm>
            <a:off x="263525" y="2709069"/>
            <a:ext cx="2044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smtClean="0">
                <a:solidFill>
                  <a:srgbClr val="000000"/>
                </a:solidFill>
                <a:latin typeface="Times New Roman" panose="02020603050405020304" pitchFamily="18" charset="0"/>
                <a:cs typeface="Times New Roman" panose="02020603050405020304" pitchFamily="18" charset="0"/>
              </a:rPr>
              <a:t>p</a:t>
            </a:r>
            <a:r>
              <a:rPr kumimoji="1" lang="en-US" altLang="zh-CN" sz="2400" b="1" baseline="30000" smtClean="0">
                <a:solidFill>
                  <a:srgbClr val="000000"/>
                </a:solidFill>
                <a:latin typeface="Times New Roman" panose="02020603050405020304" pitchFamily="18" charset="0"/>
                <a:cs typeface="Times New Roman" panose="02020603050405020304" pitchFamily="18" charset="0"/>
              </a:rPr>
              <a:t>+</a:t>
            </a:r>
            <a:r>
              <a:rPr kumimoji="1" lang="en-US" altLang="zh-CN" sz="2400" b="1" smtClean="0">
                <a:solidFill>
                  <a:srgbClr val="000000"/>
                </a:solidFill>
                <a:latin typeface="Times New Roman" panose="02020603050405020304" pitchFamily="18" charset="0"/>
                <a:cs typeface="Times New Roman" panose="02020603050405020304" pitchFamily="18" charset="0"/>
              </a:rPr>
              <a:t>n</a:t>
            </a:r>
            <a:r>
              <a:rPr kumimoji="1" lang="zh-CN" altLang="en-US" sz="2400" b="1" smtClean="0">
                <a:solidFill>
                  <a:srgbClr val="000000"/>
                </a:solidFill>
                <a:latin typeface="Times New Roman" panose="02020603050405020304" pitchFamily="18" charset="0"/>
                <a:cs typeface="Times New Roman" panose="02020603050405020304" pitchFamily="18" charset="0"/>
              </a:rPr>
              <a:t>结：</a:t>
            </a:r>
          </a:p>
        </p:txBody>
      </p:sp>
      <p:pic>
        <p:nvPicPr>
          <p:cNvPr id="10" name="图片 9"/>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873375" y="484188"/>
            <a:ext cx="34972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85875" y="3047258"/>
            <a:ext cx="6040438"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86883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21</a:t>
            </a:fld>
            <a:endParaRPr lang="zh-CN" altLang="en-US"/>
          </a:p>
        </p:txBody>
      </p:sp>
      <p:sp>
        <p:nvSpPr>
          <p:cNvPr id="3" name="Text Box 6"/>
          <p:cNvSpPr txBox="1">
            <a:spLocks noChangeArrowheads="1"/>
          </p:cNvSpPr>
          <p:nvPr/>
        </p:nvSpPr>
        <p:spPr bwMode="auto">
          <a:xfrm>
            <a:off x="480558" y="454172"/>
            <a:ext cx="5186363" cy="457200"/>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en-US" altLang="zh-CN" sz="2400" b="1" dirty="0" smtClean="0">
                <a:solidFill>
                  <a:srgbClr val="FF3300"/>
                </a:solidFill>
                <a:latin typeface="Times New Roman" pitchFamily="18" charset="0"/>
                <a:ea typeface="宋体" pitchFamily="2" charset="-122"/>
              </a:rPr>
              <a:t>2</a:t>
            </a:r>
            <a:r>
              <a:rPr kumimoji="1" lang="zh-CN" altLang="en-US" sz="2400" b="1" dirty="0" smtClean="0">
                <a:solidFill>
                  <a:srgbClr val="FF3300"/>
                </a:solidFill>
                <a:latin typeface="Times New Roman" pitchFamily="18" charset="0"/>
                <a:ea typeface="宋体" pitchFamily="2" charset="-122"/>
              </a:rPr>
              <a:t>）</a:t>
            </a:r>
            <a:r>
              <a:rPr kumimoji="1" lang="en-US" altLang="zh-CN" sz="2400" b="1" dirty="0" smtClean="0">
                <a:solidFill>
                  <a:srgbClr val="FF3300"/>
                </a:solidFill>
                <a:latin typeface="Times New Roman" pitchFamily="18" charset="0"/>
                <a:ea typeface="宋体" pitchFamily="2" charset="-122"/>
              </a:rPr>
              <a:t> </a:t>
            </a:r>
            <a:r>
              <a:rPr kumimoji="1" lang="zh-CN" altLang="en-US" sz="2400" b="1" dirty="0" smtClean="0">
                <a:solidFill>
                  <a:srgbClr val="FF3300"/>
                </a:solidFill>
                <a:latin typeface="Times New Roman" pitchFamily="18" charset="0"/>
                <a:ea typeface="宋体" pitchFamily="2" charset="-122"/>
              </a:rPr>
              <a:t>大注入</a:t>
            </a:r>
            <a:endParaRPr kumimoji="1" lang="zh-CN" altLang="en-US" sz="2400" b="1" dirty="0">
              <a:solidFill>
                <a:srgbClr val="FF3300"/>
              </a:solidFill>
              <a:latin typeface="Times New Roman" pitchFamily="18" charset="0"/>
              <a:ea typeface="宋体" pitchFamily="2" charset="-122"/>
            </a:endParaRPr>
          </a:p>
        </p:txBody>
      </p:sp>
      <p:sp>
        <p:nvSpPr>
          <p:cNvPr id="4" name="Text Box 4"/>
          <p:cNvSpPr txBox="1">
            <a:spLocks noChangeArrowheads="1"/>
          </p:cNvSpPr>
          <p:nvPr/>
        </p:nvSpPr>
        <p:spPr bwMode="auto">
          <a:xfrm>
            <a:off x="142875" y="1205221"/>
            <a:ext cx="12153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990000"/>
                </a:solidFill>
                <a:latin typeface="Times New Roman" panose="02020603050405020304" pitchFamily="18" charset="0"/>
                <a:cs typeface="Times New Roman" panose="02020603050405020304" pitchFamily="18" charset="0"/>
              </a:rPr>
              <a:t>大注入</a:t>
            </a:r>
            <a:r>
              <a:rPr kumimoji="1" lang="en-US" altLang="zh-CN" sz="2400" b="1" smtClean="0">
                <a:solidFill>
                  <a:srgbClr val="990000"/>
                </a:solidFill>
                <a:latin typeface="Times New Roman" panose="02020603050405020304" pitchFamily="18" charset="0"/>
                <a:cs typeface="Times New Roman" panose="02020603050405020304" pitchFamily="18" charset="0"/>
              </a:rPr>
              <a:t>:</a:t>
            </a:r>
          </a:p>
        </p:txBody>
      </p:sp>
      <p:sp>
        <p:nvSpPr>
          <p:cNvPr id="5" name="Text Box 5"/>
          <p:cNvSpPr txBox="1">
            <a:spLocks noChangeArrowheads="1"/>
          </p:cNvSpPr>
          <p:nvPr/>
        </p:nvSpPr>
        <p:spPr bwMode="auto">
          <a:xfrm>
            <a:off x="184150" y="2875209"/>
            <a:ext cx="2214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srgbClr val="990000"/>
                </a:solidFill>
                <a:latin typeface="Times New Roman" panose="02020603050405020304" pitchFamily="18" charset="0"/>
                <a:cs typeface="Times New Roman" panose="02020603050405020304" pitchFamily="18" charset="0"/>
              </a:rPr>
              <a:t>小注入：</a:t>
            </a:r>
          </a:p>
        </p:txBody>
      </p:sp>
      <p:sp>
        <p:nvSpPr>
          <p:cNvPr id="8" name="Text Box 9"/>
          <p:cNvSpPr txBox="1">
            <a:spLocks noChangeArrowheads="1"/>
          </p:cNvSpPr>
          <p:nvPr/>
        </p:nvSpPr>
        <p:spPr bwMode="auto">
          <a:xfrm>
            <a:off x="184150" y="4048281"/>
            <a:ext cx="2722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正向电流</a:t>
            </a:r>
          </a:p>
        </p:txBody>
      </p:sp>
      <p:sp>
        <p:nvSpPr>
          <p:cNvPr id="10" name="Text Box 13"/>
          <p:cNvSpPr txBox="1">
            <a:spLocks noChangeArrowheads="1"/>
          </p:cNvSpPr>
          <p:nvPr/>
        </p:nvSpPr>
        <p:spPr bwMode="auto">
          <a:xfrm>
            <a:off x="5367854" y="4254793"/>
            <a:ext cx="33766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i="1" smtClean="0">
                <a:solidFill>
                  <a:prstClr val="black"/>
                </a:solidFill>
                <a:latin typeface="Times New Roman" panose="02020603050405020304" pitchFamily="18" charset="0"/>
                <a:cs typeface="Times New Roman" panose="02020603050405020304" pitchFamily="18" charset="0"/>
              </a:rPr>
              <a:t>n </a:t>
            </a:r>
            <a:r>
              <a:rPr kumimoji="1" lang="zh-CN" altLang="en-US" sz="2400" b="1" smtClean="0">
                <a:solidFill>
                  <a:prstClr val="black"/>
                </a:solidFill>
                <a:latin typeface="Times New Roman" panose="02020603050405020304" pitchFamily="18" charset="0"/>
                <a:cs typeface="Times New Roman" panose="02020603050405020304" pitchFamily="18" charset="0"/>
              </a:rPr>
              <a:t>通常称为理想因子   </a:t>
            </a:r>
          </a:p>
        </p:txBody>
      </p:sp>
      <p:pic>
        <p:nvPicPr>
          <p:cNvPr id="11"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7437" y="1205221"/>
            <a:ext cx="4240520" cy="103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7437" y="2525907"/>
            <a:ext cx="4024620" cy="849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24074" y="3841768"/>
            <a:ext cx="2153623" cy="87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70577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22</a:t>
            </a:fld>
            <a:endParaRPr lang="zh-CN" altLang="en-US"/>
          </a:p>
        </p:txBody>
      </p:sp>
      <p:graphicFrame>
        <p:nvGraphicFramePr>
          <p:cNvPr id="3" name="Object 7"/>
          <p:cNvGraphicFramePr>
            <a:graphicFrameLocks noChangeAspect="1"/>
          </p:cNvGraphicFramePr>
          <p:nvPr/>
        </p:nvGraphicFramePr>
        <p:xfrm>
          <a:off x="6227763" y="4365104"/>
          <a:ext cx="1871662" cy="701675"/>
        </p:xfrm>
        <a:graphic>
          <a:graphicData uri="http://schemas.openxmlformats.org/presentationml/2006/ole">
            <mc:AlternateContent xmlns:mc="http://schemas.openxmlformats.org/markup-compatibility/2006">
              <mc:Choice xmlns:v="urn:schemas-microsoft-com:vml" Requires="v">
                <p:oleObj spid="_x0000_s53328" name="Equation" r:id="rId3" imgW="609600" imgH="228600" progId="Equation.DSMT4">
                  <p:embed/>
                </p:oleObj>
              </mc:Choice>
              <mc:Fallback>
                <p:oleObj name="Equation" r:id="rId3" imgW="609600" imgH="228600" progId="Equation.DSMT4">
                  <p:embed/>
                  <p:pic>
                    <p:nvPicPr>
                      <p:cNvPr id="6451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4365104"/>
                        <a:ext cx="1871662" cy="701675"/>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4"/>
          <p:cNvSpPr txBox="1">
            <a:spLocks noChangeArrowheads="1"/>
          </p:cNvSpPr>
          <p:nvPr/>
        </p:nvSpPr>
        <p:spPr bwMode="auto">
          <a:xfrm>
            <a:off x="539552" y="519063"/>
            <a:ext cx="2876550" cy="46166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en-US" altLang="zh-CN" sz="2400" b="1" dirty="0" smtClean="0">
                <a:solidFill>
                  <a:srgbClr val="FF3300"/>
                </a:solidFill>
                <a:latin typeface="Times New Roman" pitchFamily="18" charset="0"/>
                <a:ea typeface="宋体" pitchFamily="2" charset="-122"/>
              </a:rPr>
              <a:t>3</a:t>
            </a:r>
            <a:r>
              <a:rPr kumimoji="1" lang="zh-CN" altLang="en-US" sz="2400" b="1" dirty="0" smtClean="0">
                <a:solidFill>
                  <a:srgbClr val="FF3300"/>
                </a:solidFill>
                <a:latin typeface="Times New Roman" pitchFamily="18" charset="0"/>
                <a:ea typeface="宋体" pitchFamily="2" charset="-122"/>
              </a:rPr>
              <a:t>）</a:t>
            </a:r>
            <a:r>
              <a:rPr kumimoji="1" lang="en-US" altLang="zh-CN" sz="2400" b="1" dirty="0" smtClean="0">
                <a:solidFill>
                  <a:srgbClr val="FF3300"/>
                </a:solidFill>
                <a:latin typeface="Times New Roman" pitchFamily="18" charset="0"/>
                <a:ea typeface="宋体" pitchFamily="2" charset="-122"/>
              </a:rPr>
              <a:t> </a:t>
            </a:r>
            <a:r>
              <a:rPr kumimoji="1" lang="zh-CN" altLang="en-US" sz="2400" b="1" dirty="0">
                <a:solidFill>
                  <a:srgbClr val="FF3300"/>
                </a:solidFill>
                <a:latin typeface="Times New Roman" pitchFamily="18" charset="0"/>
                <a:ea typeface="宋体" pitchFamily="2" charset="-122"/>
              </a:rPr>
              <a:t>串连电阻的影响</a:t>
            </a:r>
          </a:p>
        </p:txBody>
      </p:sp>
      <p:pic>
        <p:nvPicPr>
          <p:cNvPr id="5" name="Picture 5"/>
          <p:cNvPicPr>
            <a:picLocks noChangeAspect="1" noChangeArrowheads="1"/>
          </p:cNvPicPr>
          <p:nvPr/>
        </p:nvPicPr>
        <p:blipFill>
          <a:blip r:embed="rId5" cstate="print"/>
          <a:srcRect l="3308" t="-2588" r="3345" b="2846"/>
          <a:stretch>
            <a:fillRect/>
          </a:stretch>
        </p:blipFill>
        <p:spPr bwMode="auto">
          <a:xfrm>
            <a:off x="3851920" y="980728"/>
            <a:ext cx="4032250" cy="2447925"/>
          </a:xfrm>
          <a:prstGeom prst="rect">
            <a:avLst/>
          </a:prstGeom>
          <a:noFill/>
          <a:ln w="9525">
            <a:noFill/>
            <a:miter lim="800000"/>
            <a:headEnd/>
            <a:tailEnd/>
          </a:ln>
        </p:spPr>
      </p:pic>
      <p:sp>
        <p:nvSpPr>
          <p:cNvPr id="6" name="Text Box 6"/>
          <p:cNvSpPr txBox="1">
            <a:spLocks noChangeArrowheads="1"/>
          </p:cNvSpPr>
          <p:nvPr/>
        </p:nvSpPr>
        <p:spPr bwMode="auto">
          <a:xfrm>
            <a:off x="539552" y="3284984"/>
            <a:ext cx="8280400" cy="1735137"/>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50000"/>
              </a:lnSpc>
              <a:spcBef>
                <a:spcPct val="50000"/>
              </a:spcBef>
              <a:spcAft>
                <a:spcPct val="0"/>
              </a:spcAft>
            </a:pPr>
            <a:r>
              <a:rPr kumimoji="1" lang="zh-CN" altLang="en-US" sz="2400" b="1" dirty="0">
                <a:solidFill>
                  <a:srgbClr val="000000"/>
                </a:solidFill>
                <a:latin typeface="Times New Roman" pitchFamily="18" charset="0"/>
                <a:ea typeface="宋体" pitchFamily="2" charset="-122"/>
              </a:rPr>
              <a:t>在推导理想二极管 </a:t>
            </a:r>
            <a:r>
              <a:rPr kumimoji="1" lang="en-US" altLang="zh-CN" sz="2400" b="1" dirty="0">
                <a:solidFill>
                  <a:srgbClr val="000000"/>
                </a:solidFill>
                <a:latin typeface="Times New Roman" pitchFamily="18" charset="0"/>
                <a:ea typeface="宋体" pitchFamily="2" charset="-122"/>
              </a:rPr>
              <a:t>IV</a:t>
            </a:r>
            <a:r>
              <a:rPr kumimoji="1" lang="zh-CN" altLang="en-US" sz="2400" b="1" dirty="0">
                <a:solidFill>
                  <a:srgbClr val="000000"/>
                </a:solidFill>
                <a:latin typeface="Times New Roman" pitchFamily="18" charset="0"/>
                <a:ea typeface="宋体" pitchFamily="2" charset="-122"/>
              </a:rPr>
              <a:t>特性时没有考虑中性区串联电阻影响，所有的外加偏压均认为降在耗尽区。如果考虑中性区的串联电阻效应，则降在耗尽区的有效电压为：</a:t>
            </a:r>
          </a:p>
        </p:txBody>
      </p:sp>
      <p:graphicFrame>
        <p:nvGraphicFramePr>
          <p:cNvPr id="7" name="Object 8"/>
          <p:cNvGraphicFramePr>
            <a:graphicFrameLocks noChangeAspect="1"/>
          </p:cNvGraphicFramePr>
          <p:nvPr/>
        </p:nvGraphicFramePr>
        <p:xfrm>
          <a:off x="3575000" y="5085184"/>
          <a:ext cx="4597400" cy="863600"/>
        </p:xfrm>
        <a:graphic>
          <a:graphicData uri="http://schemas.openxmlformats.org/presentationml/2006/ole">
            <mc:AlternateContent xmlns:mc="http://schemas.openxmlformats.org/markup-compatibility/2006">
              <mc:Choice xmlns:v="urn:schemas-microsoft-com:vml" Requires="v">
                <p:oleObj spid="_x0000_s53329" name="Equation" r:id="rId6" imgW="2298700" imgH="431800" progId="Equation.3">
                  <p:embed/>
                </p:oleObj>
              </mc:Choice>
              <mc:Fallback>
                <p:oleObj name="Equation" r:id="rId6" imgW="2298700" imgH="431800" progId="Equation.3">
                  <p:embed/>
                  <p:pic>
                    <p:nvPicPr>
                      <p:cNvPr id="64519"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5000" y="5085184"/>
                        <a:ext cx="4597400" cy="863600"/>
                      </a:xfrm>
                      <a:prstGeom prst="rect">
                        <a:avLst/>
                      </a:prstGeom>
                      <a:solidFill>
                        <a:srgbClr val="FFFFFF"/>
                      </a:solidFill>
                    </p:spPr>
                  </p:pic>
                </p:oleObj>
              </mc:Fallback>
            </mc:AlternateContent>
          </a:graphicData>
        </a:graphic>
      </p:graphicFrame>
      <p:sp>
        <p:nvSpPr>
          <p:cNvPr id="8" name="Rectangle 9"/>
          <p:cNvSpPr>
            <a:spLocks noChangeArrowheads="1"/>
          </p:cNvSpPr>
          <p:nvPr/>
        </p:nvSpPr>
        <p:spPr bwMode="auto">
          <a:xfrm>
            <a:off x="611560" y="5276056"/>
            <a:ext cx="3003550" cy="457200"/>
          </a:xfrm>
          <a:prstGeom prst="rect">
            <a:avLst/>
          </a:prstGeom>
          <a:noFill/>
          <a:ln w="38100" cap="sq">
            <a:noFill/>
            <a:miter lim="800000"/>
            <a:headEnd type="none" w="sm" len="sm"/>
            <a:tailEnd type="none" w="sm" len="sm"/>
          </a:ln>
        </p:spPr>
        <p:txBody>
          <a:bodyPr wrap="none">
            <a:spAutoFit/>
          </a:bodyPr>
          <a:lstStyle/>
          <a:p>
            <a:pPr defTabSz="914400" eaLnBrk="0" fontAlgn="base" hangingPunct="0">
              <a:spcBef>
                <a:spcPct val="0"/>
              </a:spcBef>
              <a:spcAft>
                <a:spcPct val="0"/>
              </a:spcAft>
            </a:pPr>
            <a:r>
              <a:rPr kumimoji="1" lang="zh-CN" altLang="en-US" sz="2400" b="1" dirty="0">
                <a:solidFill>
                  <a:srgbClr val="000000"/>
                </a:solidFill>
                <a:latin typeface="Times New Roman" pitchFamily="18" charset="0"/>
                <a:ea typeface="宋体" pitchFamily="2" charset="-122"/>
              </a:rPr>
              <a:t>二极管电流修正为：</a:t>
            </a:r>
          </a:p>
        </p:txBody>
      </p:sp>
      <p:sp>
        <p:nvSpPr>
          <p:cNvPr id="9" name="Text Box 10"/>
          <p:cNvSpPr txBox="1">
            <a:spLocks noChangeArrowheads="1"/>
          </p:cNvSpPr>
          <p:nvPr/>
        </p:nvSpPr>
        <p:spPr bwMode="auto">
          <a:xfrm>
            <a:off x="709613" y="2101850"/>
            <a:ext cx="2349500" cy="82232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dirty="0">
                <a:solidFill>
                  <a:srgbClr val="3333CC"/>
                </a:solidFill>
                <a:latin typeface="Times New Roman" pitchFamily="18" charset="0"/>
                <a:ea typeface="宋体" pitchFamily="2" charset="-122"/>
              </a:rPr>
              <a:t>画出考虑串联电阻影响的能带图</a:t>
            </a:r>
          </a:p>
        </p:txBody>
      </p:sp>
    </p:spTree>
    <p:extLst>
      <p:ext uri="{BB962C8B-B14F-4D97-AF65-F5344CB8AC3E}">
        <p14:creationId xmlns:p14="http://schemas.microsoft.com/office/powerpoint/2010/main" val="20869452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23</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2114173392"/>
              </p:ext>
            </p:extLst>
          </p:nvPr>
        </p:nvGraphicFramePr>
        <p:xfrm>
          <a:off x="5102840" y="1192673"/>
          <a:ext cx="3454400" cy="4303713"/>
        </p:xfrm>
        <a:graphic>
          <a:graphicData uri="http://schemas.openxmlformats.org/presentationml/2006/ole">
            <mc:AlternateContent xmlns:mc="http://schemas.openxmlformats.org/markup-compatibility/2006">
              <mc:Choice xmlns:v="urn:schemas-microsoft-com:vml" Requires="v">
                <p:oleObj spid="_x0000_s54313" name="Image" r:id="rId3" imgW="10071100" imgH="12814300" progId="">
                  <p:embed/>
                </p:oleObj>
              </mc:Choice>
              <mc:Fallback>
                <p:oleObj name="Image" r:id="rId3" imgW="10071100" imgH="12814300" progId="">
                  <p:embed/>
                  <p:pic>
                    <p:nvPicPr>
                      <p:cNvPr id="839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2840" y="1192673"/>
                        <a:ext cx="3454400"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4"/>
          <p:cNvSpPr txBox="1">
            <a:spLocks noChangeArrowheads="1"/>
          </p:cNvSpPr>
          <p:nvPr/>
        </p:nvSpPr>
        <p:spPr bwMode="auto">
          <a:xfrm>
            <a:off x="208578" y="5586873"/>
            <a:ext cx="7553325"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lnSpc>
                <a:spcPct val="120000"/>
              </a:lnSpc>
              <a:spcBef>
                <a:spcPct val="0"/>
              </a:spcBef>
              <a:spcAft>
                <a:spcPct val="0"/>
              </a:spcAft>
              <a:buFontTx/>
              <a:buNone/>
            </a:pPr>
            <a:r>
              <a:rPr kumimoji="1" lang="en-US" altLang="zh-CN" sz="2400" b="1" i="1" smtClean="0">
                <a:solidFill>
                  <a:srgbClr val="000000"/>
                </a:solidFill>
                <a:latin typeface="Times New Roman" panose="02020603050405020304" pitchFamily="18" charset="0"/>
                <a:cs typeface="Times New Roman" panose="02020603050405020304" pitchFamily="18" charset="0"/>
              </a:rPr>
              <a:t>d</a:t>
            </a:r>
            <a:r>
              <a:rPr kumimoji="1" lang="zh-CN" altLang="en-US" sz="2400" b="1" smtClean="0">
                <a:solidFill>
                  <a:srgbClr val="000000"/>
                </a:solidFill>
                <a:latin typeface="Times New Roman" panose="02020603050405020304" pitchFamily="18" charset="0"/>
                <a:cs typeface="Times New Roman" panose="02020603050405020304" pitchFamily="18" charset="0"/>
              </a:rPr>
              <a:t>段</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极大注入</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：半导体中的体电阻不能忽略，</a:t>
            </a:r>
            <a:r>
              <a:rPr kumimoji="1" lang="en-US" altLang="zh-CN" sz="2400" b="1" i="1" smtClean="0">
                <a:solidFill>
                  <a:srgbClr val="00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000000"/>
                </a:solidFill>
                <a:latin typeface="Times New Roman" panose="02020603050405020304" pitchFamily="18" charset="0"/>
                <a:cs typeface="Times New Roman" panose="02020603050405020304" pitchFamily="18" charset="0"/>
              </a:rPr>
              <a:t>F</a:t>
            </a:r>
            <a:r>
              <a:rPr kumimoji="1" lang="zh-CN" altLang="en-US" sz="2400" b="1" smtClean="0">
                <a:solidFill>
                  <a:srgbClr val="000000"/>
                </a:solidFill>
                <a:latin typeface="Times New Roman" panose="02020603050405020304" pitchFamily="18" charset="0"/>
                <a:cs typeface="Times New Roman" panose="02020603050405020304" pitchFamily="18" charset="0"/>
              </a:rPr>
              <a:t>中有一部分降落在体区上，因此</a:t>
            </a:r>
            <a:r>
              <a:rPr kumimoji="1" lang="en-US" altLang="zh-CN" sz="2400" b="1" i="1" smtClean="0">
                <a:solidFill>
                  <a:srgbClr val="000000"/>
                </a:solidFill>
                <a:latin typeface="Times New Roman" panose="02020603050405020304" pitchFamily="18" charset="0"/>
                <a:cs typeface="Times New Roman" panose="02020603050405020304" pitchFamily="18" charset="0"/>
              </a:rPr>
              <a:t>j</a:t>
            </a:r>
            <a:r>
              <a:rPr kumimoji="1" lang="en-US" altLang="zh-CN" sz="2400" b="1" baseline="-25000" smtClean="0">
                <a:solidFill>
                  <a:srgbClr val="000000"/>
                </a:solidFill>
                <a:latin typeface="Times New Roman" panose="02020603050405020304" pitchFamily="18" charset="0"/>
                <a:cs typeface="Times New Roman" panose="02020603050405020304" pitchFamily="18" charset="0"/>
              </a:rPr>
              <a:t>D</a:t>
            </a:r>
            <a:r>
              <a:rPr kumimoji="1" lang="zh-CN" altLang="en-US" sz="2400" b="1" smtClean="0">
                <a:solidFill>
                  <a:srgbClr val="000000"/>
                </a:solidFill>
                <a:latin typeface="Times New Roman" panose="02020603050405020304" pitchFamily="18" charset="0"/>
                <a:cs typeface="Times New Roman" panose="02020603050405020304" pitchFamily="18" charset="0"/>
              </a:rPr>
              <a:t>的变化更慢。</a:t>
            </a:r>
          </a:p>
        </p:txBody>
      </p:sp>
      <p:sp>
        <p:nvSpPr>
          <p:cNvPr id="5" name="Text Box 8"/>
          <p:cNvSpPr txBox="1">
            <a:spLocks noChangeArrowheads="1"/>
          </p:cNvSpPr>
          <p:nvPr/>
        </p:nvSpPr>
        <p:spPr bwMode="auto">
          <a:xfrm>
            <a:off x="322878" y="2788111"/>
            <a:ext cx="2819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spcBef>
                <a:spcPct val="50000"/>
              </a:spcBef>
              <a:spcAft>
                <a:spcPct val="0"/>
              </a:spcAft>
              <a:buFontTx/>
              <a:buNone/>
            </a:pPr>
            <a:r>
              <a:rPr kumimoji="1" lang="en-US" altLang="zh-CN" sz="2400" b="1" i="1" smtClean="0">
                <a:solidFill>
                  <a:srgbClr val="000000"/>
                </a:solidFill>
                <a:latin typeface="Times New Roman" panose="02020603050405020304" pitchFamily="18" charset="0"/>
                <a:cs typeface="Times New Roman" panose="02020603050405020304" pitchFamily="18" charset="0"/>
              </a:rPr>
              <a:t>a</a:t>
            </a:r>
            <a:r>
              <a:rPr kumimoji="1" lang="zh-CN" altLang="en-US" sz="2400" b="1" smtClean="0">
                <a:solidFill>
                  <a:srgbClr val="000000"/>
                </a:solidFill>
                <a:latin typeface="Times New Roman" panose="02020603050405020304" pitchFamily="18" charset="0"/>
                <a:cs typeface="Times New Roman" panose="02020603050405020304" pitchFamily="18" charset="0"/>
              </a:rPr>
              <a:t>段</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很小注入</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a:t>
            </a:r>
          </a:p>
        </p:txBody>
      </p:sp>
      <p:sp>
        <p:nvSpPr>
          <p:cNvPr id="6" name="Text Box 9"/>
          <p:cNvSpPr txBox="1">
            <a:spLocks noChangeArrowheads="1"/>
          </p:cNvSpPr>
          <p:nvPr/>
        </p:nvSpPr>
        <p:spPr bwMode="auto">
          <a:xfrm>
            <a:off x="322878" y="3913648"/>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eaLnBrk="0" fontAlgn="base" hangingPunct="0">
              <a:spcBef>
                <a:spcPct val="50000"/>
              </a:spcBef>
              <a:spcAft>
                <a:spcPct val="0"/>
              </a:spcAft>
              <a:buFontTx/>
              <a:buNone/>
            </a:pPr>
            <a:r>
              <a:rPr kumimoji="1" lang="en-US" altLang="zh-CN" sz="2400" b="1" i="1" smtClean="0">
                <a:solidFill>
                  <a:srgbClr val="000000"/>
                </a:solidFill>
                <a:latin typeface="Times New Roman" panose="02020603050405020304" pitchFamily="18" charset="0"/>
                <a:cs typeface="Times New Roman" panose="02020603050405020304" pitchFamily="18" charset="0"/>
              </a:rPr>
              <a:t>b</a:t>
            </a:r>
            <a:r>
              <a:rPr kumimoji="1" lang="zh-CN" altLang="en-US" sz="2400" b="1" smtClean="0">
                <a:solidFill>
                  <a:srgbClr val="000000"/>
                </a:solidFill>
                <a:latin typeface="Times New Roman" panose="02020603050405020304" pitchFamily="18" charset="0"/>
                <a:cs typeface="Times New Roman" panose="02020603050405020304" pitchFamily="18" charset="0"/>
              </a:rPr>
              <a:t>段</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小注入</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a:t>
            </a:r>
          </a:p>
        </p:txBody>
      </p:sp>
      <p:sp>
        <p:nvSpPr>
          <p:cNvPr id="7" name="Text Box 10"/>
          <p:cNvSpPr txBox="1">
            <a:spLocks noChangeArrowheads="1"/>
          </p:cNvSpPr>
          <p:nvPr/>
        </p:nvSpPr>
        <p:spPr bwMode="auto">
          <a:xfrm>
            <a:off x="289540" y="4915361"/>
            <a:ext cx="2286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eaLnBrk="0" fontAlgn="base" hangingPunct="0">
              <a:spcBef>
                <a:spcPct val="50000"/>
              </a:spcBef>
              <a:spcAft>
                <a:spcPct val="0"/>
              </a:spcAft>
              <a:buFontTx/>
              <a:buNone/>
            </a:pPr>
            <a:r>
              <a:rPr kumimoji="1" lang="en-US" altLang="zh-CN" sz="2400" b="1" smtClean="0">
                <a:solidFill>
                  <a:srgbClr val="000000"/>
                </a:solidFill>
                <a:latin typeface="Times New Roman" panose="02020603050405020304" pitchFamily="18" charset="0"/>
                <a:cs typeface="Times New Roman" panose="02020603050405020304" pitchFamily="18" charset="0"/>
              </a:rPr>
              <a:t>c</a:t>
            </a:r>
            <a:r>
              <a:rPr kumimoji="1" lang="zh-CN" altLang="en-US" sz="2400" b="1" smtClean="0">
                <a:solidFill>
                  <a:srgbClr val="000000"/>
                </a:solidFill>
                <a:latin typeface="Times New Roman" panose="02020603050405020304" pitchFamily="18" charset="0"/>
                <a:cs typeface="Times New Roman" panose="02020603050405020304" pitchFamily="18" charset="0"/>
              </a:rPr>
              <a:t>段</a:t>
            </a:r>
            <a:r>
              <a:rPr kumimoji="1" lang="en-US" altLang="zh-CN" sz="2400" b="1" smtClean="0">
                <a:solidFill>
                  <a:srgbClr val="000000"/>
                </a:solidFill>
                <a:latin typeface="Times New Roman" panose="02020603050405020304" pitchFamily="18" charset="0"/>
                <a:cs typeface="Times New Roman" panose="02020603050405020304" pitchFamily="18" charset="0"/>
              </a:rPr>
              <a:t>(</a:t>
            </a:r>
            <a:r>
              <a:rPr kumimoji="1" lang="zh-CN" altLang="en-US" sz="2400" b="1" smtClean="0">
                <a:solidFill>
                  <a:srgbClr val="000000"/>
                </a:solidFill>
                <a:latin typeface="Times New Roman" panose="02020603050405020304" pitchFamily="18" charset="0"/>
                <a:cs typeface="Times New Roman" panose="02020603050405020304" pitchFamily="18" charset="0"/>
              </a:rPr>
              <a:t>大注入</a:t>
            </a:r>
            <a:r>
              <a:rPr kumimoji="1" lang="en-US" altLang="zh-CN" sz="2400" b="1" smtClean="0">
                <a:solidFill>
                  <a:srgbClr val="000000"/>
                </a:solidFill>
                <a:latin typeface="Times New Roman" panose="02020603050405020304" pitchFamily="18" charset="0"/>
                <a:cs typeface="Times New Roman" panose="02020603050405020304" pitchFamily="18" charset="0"/>
              </a:rPr>
              <a:t>):</a:t>
            </a:r>
            <a:endParaRPr kumimoji="1" lang="en-US" altLang="zh-CN" sz="2400" b="1" baseline="-25000" smtClean="0">
              <a:solidFill>
                <a:srgbClr val="000000"/>
              </a:solidFill>
              <a:latin typeface="Times New Roman" panose="02020603050405020304" pitchFamily="18" charset="0"/>
              <a:cs typeface="Times New Roman" panose="02020603050405020304" pitchFamily="18" charset="0"/>
            </a:endParaRPr>
          </a:p>
        </p:txBody>
      </p:sp>
      <p:sp>
        <p:nvSpPr>
          <p:cNvPr id="8" name="Text Box 15"/>
          <p:cNvSpPr txBox="1">
            <a:spLocks noChangeArrowheads="1"/>
          </p:cNvSpPr>
          <p:nvPr/>
        </p:nvSpPr>
        <p:spPr bwMode="auto">
          <a:xfrm>
            <a:off x="322878" y="2062623"/>
            <a:ext cx="5580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990000"/>
                </a:solidFill>
                <a:latin typeface="Times New Roman" panose="02020603050405020304" pitchFamily="18" charset="0"/>
                <a:cs typeface="Times New Roman" panose="02020603050405020304" pitchFamily="18" charset="0"/>
              </a:rPr>
              <a:t>实际的硅</a:t>
            </a:r>
            <a:r>
              <a:rPr kumimoji="1" lang="en-US" altLang="zh-CN" sz="2400" b="1" smtClean="0">
                <a:solidFill>
                  <a:srgbClr val="990000"/>
                </a:solidFill>
                <a:latin typeface="Times New Roman" panose="02020603050405020304" pitchFamily="18" charset="0"/>
                <a:cs typeface="Times New Roman" panose="02020603050405020304" pitchFamily="18" charset="0"/>
              </a:rPr>
              <a:t>pn</a:t>
            </a:r>
            <a:r>
              <a:rPr kumimoji="1" lang="zh-CN" altLang="en-US" sz="2400" b="1" smtClean="0">
                <a:solidFill>
                  <a:srgbClr val="990000"/>
                </a:solidFill>
                <a:latin typeface="Times New Roman" panose="02020603050405020304" pitchFamily="18" charset="0"/>
                <a:cs typeface="Times New Roman" panose="02020603050405020304" pitchFamily="18" charset="0"/>
              </a:rPr>
              <a:t>结伏安特性如图</a:t>
            </a:r>
            <a:r>
              <a:rPr kumimoji="1" lang="zh-CN" altLang="en-US" sz="2400" b="1" smtClean="0">
                <a:solidFill>
                  <a:srgbClr val="1F497D"/>
                </a:solidFill>
                <a:latin typeface="Times New Roman" panose="02020603050405020304" pitchFamily="18" charset="0"/>
                <a:cs typeface="Times New Roman" panose="02020603050405020304" pitchFamily="18" charset="0"/>
              </a:rPr>
              <a:t>：</a:t>
            </a:r>
          </a:p>
        </p:txBody>
      </p:sp>
      <p:sp>
        <p:nvSpPr>
          <p:cNvPr id="9" name="Text Box 16"/>
          <p:cNvSpPr txBox="1">
            <a:spLocks noChangeArrowheads="1"/>
          </p:cNvSpPr>
          <p:nvPr/>
        </p:nvSpPr>
        <p:spPr bwMode="auto">
          <a:xfrm>
            <a:off x="270490" y="1132348"/>
            <a:ext cx="2484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正向电流</a:t>
            </a:r>
          </a:p>
        </p:txBody>
      </p:sp>
      <p:pic>
        <p:nvPicPr>
          <p:cNvPr id="10" name="图片 2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32640" y="1122823"/>
            <a:ext cx="21082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5"/>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77178" y="2589673"/>
            <a:ext cx="1509712"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6"/>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47015" y="3481848"/>
            <a:ext cx="1571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7"/>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812078" y="4639136"/>
            <a:ext cx="179546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
          <p:cNvSpPr txBox="1">
            <a:spLocks noChangeArrowheads="1"/>
          </p:cNvSpPr>
          <p:nvPr/>
        </p:nvSpPr>
        <p:spPr bwMode="auto">
          <a:xfrm>
            <a:off x="410190" y="352240"/>
            <a:ext cx="2876550" cy="461665"/>
          </a:xfrm>
          <a:prstGeom prst="rect">
            <a:avLst/>
          </a:prstGeom>
          <a:noFill/>
          <a:ln w="381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dirty="0" smtClean="0">
                <a:solidFill>
                  <a:srgbClr val="FF3300"/>
                </a:solidFill>
                <a:latin typeface="Times New Roman" pitchFamily="18" charset="0"/>
                <a:ea typeface="宋体" pitchFamily="2" charset="-122"/>
              </a:rPr>
              <a:t>实际</a:t>
            </a:r>
            <a:r>
              <a:rPr kumimoji="1" lang="en-US" altLang="zh-CN" sz="2400" b="1" dirty="0" smtClean="0">
                <a:solidFill>
                  <a:srgbClr val="FF3300"/>
                </a:solidFill>
                <a:latin typeface="Times New Roman" pitchFamily="18" charset="0"/>
                <a:ea typeface="宋体" pitchFamily="2" charset="-122"/>
              </a:rPr>
              <a:t>PN</a:t>
            </a:r>
            <a:r>
              <a:rPr kumimoji="1" lang="zh-CN" altLang="en-US" sz="2400" b="1" dirty="0" smtClean="0">
                <a:solidFill>
                  <a:srgbClr val="FF3300"/>
                </a:solidFill>
                <a:latin typeface="Times New Roman" pitchFamily="18" charset="0"/>
                <a:ea typeface="宋体" pitchFamily="2" charset="-122"/>
              </a:rPr>
              <a:t>结的</a:t>
            </a:r>
            <a:r>
              <a:rPr kumimoji="1" lang="en-US" altLang="zh-CN" sz="2400" b="1" dirty="0" smtClean="0">
                <a:solidFill>
                  <a:srgbClr val="FF3300"/>
                </a:solidFill>
                <a:latin typeface="Times New Roman" pitchFamily="18" charset="0"/>
                <a:ea typeface="宋体" pitchFamily="2" charset="-122"/>
              </a:rPr>
              <a:t>IV</a:t>
            </a:r>
            <a:r>
              <a:rPr kumimoji="1" lang="zh-CN" altLang="en-US" sz="2400" b="1" dirty="0" smtClean="0">
                <a:solidFill>
                  <a:srgbClr val="FF3300"/>
                </a:solidFill>
                <a:latin typeface="Times New Roman" pitchFamily="18" charset="0"/>
                <a:ea typeface="宋体" pitchFamily="2" charset="-122"/>
              </a:rPr>
              <a:t>特性</a:t>
            </a:r>
            <a:endParaRPr kumimoji="1" lang="zh-CN" altLang="en-US" sz="2400" b="1" dirty="0">
              <a:solidFill>
                <a:srgbClr val="FF3300"/>
              </a:solidFill>
              <a:latin typeface="Times New Roman" pitchFamily="18" charset="0"/>
              <a:ea typeface="宋体" pitchFamily="2" charset="-122"/>
            </a:endParaRPr>
          </a:p>
        </p:txBody>
      </p:sp>
    </p:spTree>
    <p:extLst>
      <p:ext uri="{BB962C8B-B14F-4D97-AF65-F5344CB8AC3E}">
        <p14:creationId xmlns:p14="http://schemas.microsoft.com/office/powerpoint/2010/main" val="34434189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24</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关于肖</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特</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基二极管以下说法正确的是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406106" y="2596289"/>
            <a:ext cx="71882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电子从金属注入到</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型半导体，形成空间电荷区</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406106" y="3453539"/>
            <a:ext cx="688848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能带弯曲的方向主要由两种材料的功函数决定</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406106" y="4310789"/>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型肖特基正偏时，电子准费米能级是平的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406106" y="5168039"/>
            <a:ext cx="7040880" cy="659765"/>
          </a:xfrm>
          <a:prstGeom prst="rect">
            <a:avLst/>
          </a:prstGeom>
          <a:noFill/>
        </p:spPr>
        <p:txBody>
          <a:bodyPr vert="horz"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结二极管是少子电流，而肖特基是多子电流</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a:xfrm>
            <a:off x="691731" y="2660582"/>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691731" y="351783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691731" y="4375082"/>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691731" y="523233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920153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25</a:t>
            </a:fld>
            <a:endParaRPr lang="zh-CN" altLang="en-US"/>
          </a:p>
        </p:txBody>
      </p:sp>
      <p:sp>
        <p:nvSpPr>
          <p:cNvPr id="3" name="Rectangle 4"/>
          <p:cNvSpPr>
            <a:spLocks noChangeArrowheads="1"/>
          </p:cNvSpPr>
          <p:nvPr/>
        </p:nvSpPr>
        <p:spPr bwMode="auto">
          <a:xfrm>
            <a:off x="2448231" y="295910"/>
            <a:ext cx="4535181"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二、肖特基二极管</a:t>
            </a:r>
            <a:endParaRPr kumimoji="1" lang="zh-CN" altLang="en-US" sz="3600" b="1" dirty="0">
              <a:solidFill>
                <a:srgbClr val="FF6600"/>
              </a:solidFill>
              <a:latin typeface="Times New Roman" pitchFamily="18" charset="0"/>
              <a:ea typeface="宋体" pitchFamily="2" charset="-122"/>
            </a:endParaRPr>
          </a:p>
        </p:txBody>
      </p:sp>
      <p:graphicFrame>
        <p:nvGraphicFramePr>
          <p:cNvPr id="14" name="Object 7"/>
          <p:cNvGraphicFramePr>
            <a:graphicFrameLocks noChangeAspect="1"/>
          </p:cNvGraphicFramePr>
          <p:nvPr>
            <p:extLst>
              <p:ext uri="{D42A27DB-BD31-4B8C-83A1-F6EECF244321}">
                <p14:modId xmlns:p14="http://schemas.microsoft.com/office/powerpoint/2010/main" val="4153246318"/>
              </p:ext>
            </p:extLst>
          </p:nvPr>
        </p:nvGraphicFramePr>
        <p:xfrm>
          <a:off x="4834040" y="5150803"/>
          <a:ext cx="2714625" cy="1066800"/>
        </p:xfrm>
        <a:graphic>
          <a:graphicData uri="http://schemas.openxmlformats.org/presentationml/2006/ole">
            <mc:AlternateContent xmlns:mc="http://schemas.openxmlformats.org/markup-compatibility/2006">
              <mc:Choice xmlns:v="urn:schemas-microsoft-com:vml" Requires="v">
                <p:oleObj spid="_x0000_s60570" name="Equation" r:id="rId3" imgW="1129810" imgH="444307" progId="Equation.DSMT4">
                  <p:embed/>
                </p:oleObj>
              </mc:Choice>
              <mc:Fallback>
                <p:oleObj name="Equation" r:id="rId3" imgW="1129810" imgH="444307" progId="Equation.DSMT4">
                  <p:embed/>
                  <p:pic>
                    <p:nvPicPr>
                      <p:cNvPr id="1126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4040" y="5150803"/>
                        <a:ext cx="2714625" cy="10668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Group 10"/>
          <p:cNvGrpSpPr>
            <a:grpSpLocks/>
          </p:cNvGrpSpPr>
          <p:nvPr/>
        </p:nvGrpSpPr>
        <p:grpSpPr bwMode="auto">
          <a:xfrm>
            <a:off x="1736827" y="3495041"/>
            <a:ext cx="6172200" cy="1755775"/>
            <a:chOff x="1111" y="2460"/>
            <a:chExt cx="3888" cy="1106"/>
          </a:xfrm>
        </p:grpSpPr>
        <p:pic>
          <p:nvPicPr>
            <p:cNvPr id="16" name="Picture 4"/>
            <p:cNvPicPr>
              <a:picLocks noChangeAspect="1" noChangeArrowheads="1"/>
            </p:cNvPicPr>
            <p:nvPr/>
          </p:nvPicPr>
          <p:blipFill>
            <a:blip r:embed="rId5">
              <a:extLst>
                <a:ext uri="{28A0092B-C50C-407E-A947-70E740481C1C}">
                  <a14:useLocalDpi xmlns:a14="http://schemas.microsoft.com/office/drawing/2010/main" val="0"/>
                </a:ext>
              </a:extLst>
            </a:blip>
            <a:srcRect l="3165" t="12425" r="9274" b="28496"/>
            <a:stretch>
              <a:fillRect/>
            </a:stretch>
          </p:blipFill>
          <p:spPr bwMode="auto">
            <a:xfrm>
              <a:off x="1111" y="2460"/>
              <a:ext cx="3888" cy="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8"/>
            <p:cNvSpPr txBox="1">
              <a:spLocks noChangeArrowheads="1"/>
            </p:cNvSpPr>
            <p:nvPr/>
          </p:nvSpPr>
          <p:spPr bwMode="auto">
            <a:xfrm>
              <a:off x="1634" y="2479"/>
              <a:ext cx="9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lang="zh-CN" altLang="en-US" b="1" dirty="0" smtClean="0">
                  <a:solidFill>
                    <a:srgbClr val="000000"/>
                  </a:solidFill>
                  <a:ea typeface="宋体" panose="02010600030101010101" pitchFamily="2" charset="-122"/>
                </a:rPr>
                <a:t>电子势垒</a:t>
              </a:r>
              <a:endParaRPr lang="en-US" altLang="zh-CN" b="1" dirty="0" smtClean="0">
                <a:solidFill>
                  <a:srgbClr val="000000"/>
                </a:solidFill>
                <a:ea typeface="宋体" panose="02010600030101010101" pitchFamily="2" charset="-122"/>
              </a:endParaRPr>
            </a:p>
          </p:txBody>
        </p:sp>
        <p:sp>
          <p:nvSpPr>
            <p:cNvPr id="18" name="Text Box 9"/>
            <p:cNvSpPr txBox="1">
              <a:spLocks noChangeArrowheads="1"/>
            </p:cNvSpPr>
            <p:nvPr/>
          </p:nvSpPr>
          <p:spPr bwMode="auto">
            <a:xfrm>
              <a:off x="3742" y="3249"/>
              <a:ext cx="9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lang="zh-CN" altLang="en-US" b="1" smtClean="0">
                  <a:solidFill>
                    <a:srgbClr val="000000"/>
                  </a:solidFill>
                  <a:ea typeface="宋体" panose="02010600030101010101" pitchFamily="2" charset="-122"/>
                </a:rPr>
                <a:t>空穴势垒</a:t>
              </a:r>
              <a:endParaRPr lang="en-US" altLang="zh-CN" b="1" smtClean="0">
                <a:solidFill>
                  <a:srgbClr val="000000"/>
                </a:solidFill>
                <a:ea typeface="宋体" panose="02010600030101010101" pitchFamily="2" charset="-122"/>
              </a:endParaRPr>
            </a:p>
          </p:txBody>
        </p:sp>
      </p:grpSp>
      <p:sp>
        <p:nvSpPr>
          <p:cNvPr id="19" name="Text Box 3"/>
          <p:cNvSpPr txBox="1">
            <a:spLocks noChangeArrowheads="1"/>
          </p:cNvSpPr>
          <p:nvPr/>
        </p:nvSpPr>
        <p:spPr bwMode="auto">
          <a:xfrm>
            <a:off x="330302" y="1093153"/>
            <a:ext cx="8358188"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lnSpc>
                <a:spcPct val="90000"/>
              </a:lnSpc>
              <a:spcBef>
                <a:spcPct val="50000"/>
              </a:spcBef>
              <a:spcAft>
                <a:spcPct val="0"/>
              </a:spcAft>
            </a:pPr>
            <a:r>
              <a:rPr kumimoji="1" lang="zh-CN" altLang="en-US" sz="2400" b="1" dirty="0" smtClean="0">
                <a:solidFill>
                  <a:srgbClr val="FF0000"/>
                </a:solidFill>
                <a:latin typeface="Times New Roman" panose="02020603050405020304" pitchFamily="18" charset="0"/>
                <a:ea typeface="宋体" panose="02010600030101010101" pitchFamily="2" charset="-122"/>
              </a:rPr>
              <a:t>理想肖特基（</a:t>
            </a:r>
            <a:r>
              <a:rPr kumimoji="1" lang="en-US" altLang="zh-CN" sz="2400" b="1" dirty="0" err="1" smtClean="0">
                <a:solidFill>
                  <a:srgbClr val="FF0000"/>
                </a:solidFill>
                <a:latin typeface="Times New Roman" panose="02020603050405020304" pitchFamily="18" charset="0"/>
                <a:ea typeface="宋体" panose="02010600030101010101" pitchFamily="2" charset="-122"/>
              </a:rPr>
              <a:t>Schottky</a:t>
            </a:r>
            <a:r>
              <a:rPr kumimoji="1" lang="zh-CN" altLang="en-US" sz="2400" b="1" dirty="0" smtClean="0">
                <a:solidFill>
                  <a:srgbClr val="FF0000"/>
                </a:solidFill>
                <a:latin typeface="Times New Roman" panose="02020603050405020304" pitchFamily="18" charset="0"/>
                <a:ea typeface="宋体" panose="02010600030101010101" pitchFamily="2" charset="-122"/>
              </a:rPr>
              <a:t>）势垒</a:t>
            </a:r>
          </a:p>
        </p:txBody>
      </p:sp>
      <p:sp>
        <p:nvSpPr>
          <p:cNvPr id="20" name="Text Box 5"/>
          <p:cNvSpPr txBox="1">
            <a:spLocks noChangeArrowheads="1"/>
          </p:cNvSpPr>
          <p:nvPr/>
        </p:nvSpPr>
        <p:spPr bwMode="auto">
          <a:xfrm>
            <a:off x="187427" y="1681321"/>
            <a:ext cx="8643938"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rPr>
              <a:t>对理想</a:t>
            </a:r>
            <a:r>
              <a:rPr kumimoji="1" lang="en-US" altLang="zh-CN" sz="2400" b="1" dirty="0" smtClean="0">
                <a:solidFill>
                  <a:srgbClr val="000000"/>
                </a:solidFill>
                <a:latin typeface="Times New Roman" panose="02020603050405020304" pitchFamily="18" charset="0"/>
                <a:ea typeface="宋体" panose="02010600030101010101" pitchFamily="2" charset="-122"/>
              </a:rPr>
              <a:t>M/S</a:t>
            </a:r>
            <a:r>
              <a:rPr kumimoji="1" lang="zh-CN" altLang="en-US" sz="2400" b="1" dirty="0" smtClean="0">
                <a:solidFill>
                  <a:srgbClr val="000000"/>
                </a:solidFill>
                <a:latin typeface="Times New Roman" panose="02020603050405020304" pitchFamily="18" charset="0"/>
                <a:ea typeface="宋体" panose="02010600030101010101" pitchFamily="2" charset="-122"/>
              </a:rPr>
              <a:t>接触，半导体表面电子的再分布和表面势的形成，与金属的功函数相关。</a:t>
            </a:r>
            <a:r>
              <a:rPr kumimoji="1" lang="en-US" altLang="zh-CN" sz="2400" b="1" dirty="0" smtClean="0">
                <a:solidFill>
                  <a:srgbClr val="000000"/>
                </a:solidFill>
                <a:latin typeface="Times New Roman" panose="02020603050405020304" pitchFamily="18" charset="0"/>
                <a:ea typeface="宋体" panose="02010600030101010101" pitchFamily="2" charset="-122"/>
              </a:rPr>
              <a:t>M/S</a:t>
            </a:r>
            <a:r>
              <a:rPr kumimoji="1" lang="zh-CN" altLang="en-US" sz="2400" b="1" dirty="0" smtClean="0">
                <a:solidFill>
                  <a:srgbClr val="000000"/>
                </a:solidFill>
                <a:latin typeface="Times New Roman" panose="02020603050405020304" pitchFamily="18" charset="0"/>
                <a:ea typeface="宋体" panose="02010600030101010101" pitchFamily="2" charset="-122"/>
              </a:rPr>
              <a:t>之间形成的肖特基势垒通常会形成如下图所示的特征。</a:t>
            </a:r>
            <a:r>
              <a:rPr kumimoji="1" lang="zh-CN" altLang="en-US" sz="2400" b="1" dirty="0" smtClean="0">
                <a:solidFill>
                  <a:srgbClr val="3333CC"/>
                </a:solidFill>
                <a:latin typeface="Times New Roman" panose="02020603050405020304" pitchFamily="18" charset="0"/>
                <a:ea typeface="宋体" panose="02010600030101010101" pitchFamily="2" charset="-122"/>
              </a:rPr>
              <a:t>（对于</a:t>
            </a:r>
            <a:r>
              <a:rPr kumimoji="1" lang="en-US" altLang="zh-CN" sz="2400" b="1" dirty="0" smtClean="0">
                <a:solidFill>
                  <a:srgbClr val="3333CC"/>
                </a:solidFill>
                <a:latin typeface="Times New Roman" panose="02020603050405020304" pitchFamily="18" charset="0"/>
                <a:ea typeface="宋体" panose="02010600030101010101" pitchFamily="2" charset="-122"/>
              </a:rPr>
              <a:t>M/S</a:t>
            </a:r>
            <a:r>
              <a:rPr kumimoji="1" lang="zh-CN" altLang="en-US" sz="2400" b="1" dirty="0" smtClean="0">
                <a:solidFill>
                  <a:srgbClr val="3333CC"/>
                </a:solidFill>
                <a:latin typeface="Times New Roman" panose="02020603050405020304" pitchFamily="18" charset="0"/>
                <a:ea typeface="宋体" panose="02010600030101010101" pitchFamily="2" charset="-122"/>
              </a:rPr>
              <a:t>接触，需要分别考虑和讨论电子和空穴的势垒，以及电子从</a:t>
            </a:r>
            <a:r>
              <a:rPr kumimoji="1" lang="en-US" altLang="zh-CN" sz="2400" b="1" dirty="0" smtClean="0">
                <a:solidFill>
                  <a:srgbClr val="3333CC"/>
                </a:solidFill>
                <a:latin typeface="Times New Roman" panose="02020603050405020304" pitchFamily="18" charset="0"/>
                <a:ea typeface="宋体" panose="02010600030101010101" pitchFamily="2" charset="-122"/>
              </a:rPr>
              <a:t>M</a:t>
            </a:r>
            <a:r>
              <a:rPr kumimoji="1" lang="zh-CN" altLang="en-US" sz="2400" b="1" dirty="0" smtClean="0">
                <a:solidFill>
                  <a:srgbClr val="3333CC"/>
                </a:solidFill>
                <a:latin typeface="Times New Roman" panose="02020603050405020304" pitchFamily="18" charset="0"/>
                <a:ea typeface="宋体" panose="02010600030101010101" pitchFamily="2" charset="-122"/>
              </a:rPr>
              <a:t>到</a:t>
            </a:r>
            <a:r>
              <a:rPr kumimoji="1" lang="en-US" altLang="zh-CN" sz="2400" b="1" dirty="0" smtClean="0">
                <a:solidFill>
                  <a:srgbClr val="3333CC"/>
                </a:solidFill>
                <a:latin typeface="Times New Roman" panose="02020603050405020304" pitchFamily="18" charset="0"/>
                <a:ea typeface="宋体" panose="02010600030101010101" pitchFamily="2" charset="-122"/>
              </a:rPr>
              <a:t>S</a:t>
            </a:r>
            <a:r>
              <a:rPr kumimoji="1" lang="zh-CN" altLang="en-US" sz="2400" b="1" dirty="0" smtClean="0">
                <a:solidFill>
                  <a:srgbClr val="3333CC"/>
                </a:solidFill>
                <a:latin typeface="Times New Roman" panose="02020603050405020304" pitchFamily="18" charset="0"/>
                <a:ea typeface="宋体" panose="02010600030101010101" pitchFamily="2" charset="-122"/>
              </a:rPr>
              <a:t>和从</a:t>
            </a:r>
            <a:r>
              <a:rPr kumimoji="1" lang="en-US" altLang="zh-CN" sz="2400" b="1" dirty="0" smtClean="0">
                <a:solidFill>
                  <a:srgbClr val="3333CC"/>
                </a:solidFill>
                <a:latin typeface="Times New Roman" panose="02020603050405020304" pitchFamily="18" charset="0"/>
                <a:ea typeface="宋体" panose="02010600030101010101" pitchFamily="2" charset="-122"/>
              </a:rPr>
              <a:t>S</a:t>
            </a:r>
            <a:r>
              <a:rPr kumimoji="1" lang="zh-CN" altLang="en-US" sz="2400" b="1" dirty="0" smtClean="0">
                <a:solidFill>
                  <a:srgbClr val="3333CC"/>
                </a:solidFill>
                <a:latin typeface="Times New Roman" panose="02020603050405020304" pitchFamily="18" charset="0"/>
                <a:ea typeface="宋体" panose="02010600030101010101" pitchFamily="2" charset="-122"/>
              </a:rPr>
              <a:t>到</a:t>
            </a:r>
            <a:r>
              <a:rPr kumimoji="1" lang="en-US" altLang="zh-CN" sz="2400" b="1" dirty="0" smtClean="0">
                <a:solidFill>
                  <a:srgbClr val="3333CC"/>
                </a:solidFill>
                <a:latin typeface="Times New Roman" panose="02020603050405020304" pitchFamily="18" charset="0"/>
                <a:ea typeface="宋体" panose="02010600030101010101" pitchFamily="2" charset="-122"/>
              </a:rPr>
              <a:t>M</a:t>
            </a:r>
            <a:r>
              <a:rPr kumimoji="1" lang="zh-CN" altLang="en-US" sz="2400" b="1" dirty="0" smtClean="0">
                <a:solidFill>
                  <a:srgbClr val="3333CC"/>
                </a:solidFill>
                <a:latin typeface="Times New Roman" panose="02020603050405020304" pitchFamily="18" charset="0"/>
                <a:ea typeface="宋体" panose="02010600030101010101" pitchFamily="2" charset="-122"/>
              </a:rPr>
              <a:t>的输运特征）。</a:t>
            </a:r>
          </a:p>
        </p:txBody>
      </p:sp>
      <p:graphicFrame>
        <p:nvGraphicFramePr>
          <p:cNvPr id="21" name="Object 6"/>
          <p:cNvGraphicFramePr>
            <a:graphicFrameLocks noChangeAspect="1"/>
          </p:cNvGraphicFramePr>
          <p:nvPr>
            <p:extLst>
              <p:ext uri="{D42A27DB-BD31-4B8C-83A1-F6EECF244321}">
                <p14:modId xmlns:p14="http://schemas.microsoft.com/office/powerpoint/2010/main" val="896540694"/>
              </p:ext>
            </p:extLst>
          </p:nvPr>
        </p:nvGraphicFramePr>
        <p:xfrm>
          <a:off x="2025752" y="5079366"/>
          <a:ext cx="1981200" cy="547687"/>
        </p:xfrm>
        <a:graphic>
          <a:graphicData uri="http://schemas.openxmlformats.org/presentationml/2006/ole">
            <mc:AlternateContent xmlns:mc="http://schemas.openxmlformats.org/markup-compatibility/2006">
              <mc:Choice xmlns:v="urn:schemas-microsoft-com:vml" Requires="v">
                <p:oleObj spid="_x0000_s60571" name="Equation" r:id="rId6" imgW="825500" imgH="228600" progId="Equation.DSMT4">
                  <p:embed/>
                </p:oleObj>
              </mc:Choice>
              <mc:Fallback>
                <p:oleObj name="Equation" r:id="rId6" imgW="825500" imgH="228600" progId="Equation.DSMT4">
                  <p:embed/>
                  <p:pic>
                    <p:nvPicPr>
                      <p:cNvPr id="1127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5752" y="5079366"/>
                        <a:ext cx="1981200" cy="54768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2"/>
          <p:cNvGraphicFramePr>
            <a:graphicFrameLocks noChangeAspect="1"/>
          </p:cNvGraphicFramePr>
          <p:nvPr>
            <p:extLst>
              <p:ext uri="{D42A27DB-BD31-4B8C-83A1-F6EECF244321}">
                <p14:modId xmlns:p14="http://schemas.microsoft.com/office/powerpoint/2010/main" val="3192332678"/>
              </p:ext>
            </p:extLst>
          </p:nvPr>
        </p:nvGraphicFramePr>
        <p:xfrm>
          <a:off x="1881290" y="5871528"/>
          <a:ext cx="2443162" cy="587375"/>
        </p:xfrm>
        <a:graphic>
          <a:graphicData uri="http://schemas.openxmlformats.org/presentationml/2006/ole">
            <mc:AlternateContent xmlns:mc="http://schemas.openxmlformats.org/markup-compatibility/2006">
              <mc:Choice xmlns:v="urn:schemas-microsoft-com:vml" Requires="v">
                <p:oleObj spid="_x0000_s60572" name="Equation" r:id="rId8" imgW="1054100" imgH="254000" progId="Equation.DSMT4">
                  <p:embed/>
                </p:oleObj>
              </mc:Choice>
              <mc:Fallback>
                <p:oleObj name="Equation" r:id="rId8" imgW="1054100" imgH="254000" progId="Equation.DSMT4">
                  <p:embed/>
                  <p:pic>
                    <p:nvPicPr>
                      <p:cNvPr id="11273"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1290" y="5871528"/>
                        <a:ext cx="2443162" cy="58737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4"/>
          <p:cNvGraphicFramePr>
            <a:graphicFrameLocks noChangeAspect="1"/>
          </p:cNvGraphicFramePr>
          <p:nvPr>
            <p:extLst>
              <p:ext uri="{D42A27DB-BD31-4B8C-83A1-F6EECF244321}">
                <p14:modId xmlns:p14="http://schemas.microsoft.com/office/powerpoint/2010/main" val="1169094025"/>
              </p:ext>
            </p:extLst>
          </p:nvPr>
        </p:nvGraphicFramePr>
        <p:xfrm>
          <a:off x="2817915" y="3782378"/>
          <a:ext cx="322262" cy="530225"/>
        </p:xfrm>
        <a:graphic>
          <a:graphicData uri="http://schemas.openxmlformats.org/presentationml/2006/ole">
            <mc:AlternateContent xmlns:mc="http://schemas.openxmlformats.org/markup-compatibility/2006">
              <mc:Choice xmlns:v="urn:schemas-microsoft-com:vml" Requires="v">
                <p:oleObj spid="_x0000_s60573" name="Equation" r:id="rId10" imgW="139700" imgH="228600" progId="Equation.DSMT4">
                  <p:embed/>
                </p:oleObj>
              </mc:Choice>
              <mc:Fallback>
                <p:oleObj name="Equation" r:id="rId10" imgW="139700" imgH="228600" progId="Equation.DSMT4">
                  <p:embed/>
                  <p:pic>
                    <p:nvPicPr>
                      <p:cNvPr id="11274"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7915" y="3782378"/>
                        <a:ext cx="32226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7656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26</a:t>
            </a:fld>
            <a:endParaRPr lang="zh-CN" altLang="en-US"/>
          </a:p>
        </p:txBody>
      </p:sp>
      <p:sp>
        <p:nvSpPr>
          <p:cNvPr id="3" name="Text Box 4"/>
          <p:cNvSpPr txBox="1">
            <a:spLocks noChangeArrowheads="1"/>
          </p:cNvSpPr>
          <p:nvPr/>
        </p:nvSpPr>
        <p:spPr bwMode="auto">
          <a:xfrm>
            <a:off x="451259" y="3525324"/>
            <a:ext cx="8147050" cy="307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50000"/>
              </a:lnSpc>
              <a:spcBef>
                <a:spcPct val="50000"/>
              </a:spcBef>
              <a:spcAft>
                <a:spcPct val="0"/>
              </a:spcAft>
            </a:pPr>
            <a:r>
              <a:rPr kumimoji="1" lang="zh-CN" altLang="en-US" sz="2200" b="1" dirty="0" smtClean="0">
                <a:solidFill>
                  <a:srgbClr val="000000"/>
                </a:solidFill>
                <a:latin typeface="Times New Roman" panose="02020603050405020304" pitchFamily="18" charset="0"/>
                <a:ea typeface="宋体" panose="02010600030101010101" pitchFamily="2" charset="-122"/>
              </a:rPr>
              <a:t>研究显示，实际肖特基势垒高度低于理论值，为此，提出了镜像力引起的势垒降低效应。功函数不同的金属和半导体接触，在达到热平衡过程中，会发生载流子的再分布，并在半导体表面区域产生净电荷。该净电荷将在金属中感应出镜像电荷，并产生相互吸引的镜像力和镜像势，这种由相互吸引的镜像力引起的镜像势会引起肖特基势垒高度的降低。</a:t>
            </a:r>
          </a:p>
        </p:txBody>
      </p:sp>
      <p:sp>
        <p:nvSpPr>
          <p:cNvPr id="4" name="Text Box 5"/>
          <p:cNvSpPr txBox="1">
            <a:spLocks noChangeArrowheads="1"/>
          </p:cNvSpPr>
          <p:nvPr/>
        </p:nvSpPr>
        <p:spPr bwMode="auto">
          <a:xfrm>
            <a:off x="451259" y="796261"/>
            <a:ext cx="814705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800100" indent="-34290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200" b="1" dirty="0" smtClean="0">
                <a:solidFill>
                  <a:srgbClr val="000000"/>
                </a:solidFill>
                <a:latin typeface="Times New Roman" panose="02020603050405020304" pitchFamily="18" charset="0"/>
                <a:ea typeface="宋体" panose="02010600030101010101" pitchFamily="2" charset="-122"/>
              </a:rPr>
              <a:t>实际测量的</a:t>
            </a:r>
            <a:r>
              <a:rPr kumimoji="1" lang="en-US" altLang="zh-CN" sz="2200" b="1" dirty="0" smtClean="0">
                <a:solidFill>
                  <a:srgbClr val="000000"/>
                </a:solidFill>
                <a:latin typeface="Times New Roman" panose="02020603050405020304" pitchFamily="18" charset="0"/>
                <a:ea typeface="宋体" panose="02010600030101010101" pitchFamily="2" charset="-122"/>
              </a:rPr>
              <a:t>M/S</a:t>
            </a:r>
            <a:r>
              <a:rPr kumimoji="1" lang="zh-CN" altLang="en-US" sz="2200" b="1" dirty="0" smtClean="0">
                <a:solidFill>
                  <a:srgbClr val="000000"/>
                </a:solidFill>
                <a:latin typeface="Times New Roman" panose="02020603050405020304" pitchFamily="18" charset="0"/>
                <a:ea typeface="宋体" panose="02010600030101010101" pitchFamily="2" charset="-122"/>
              </a:rPr>
              <a:t>肖特基势垒参数往往与理论结果不一致，为了解释实验结果，人们探讨了各种可能的物理起源，建立了相应的理论。主要讨论如下两个因素的影响：</a:t>
            </a:r>
          </a:p>
          <a:p>
            <a:pPr lvl="1" defTabSz="914400" eaLnBrk="0" fontAlgn="base" hangingPunct="0">
              <a:spcBef>
                <a:spcPct val="50000"/>
              </a:spcBef>
              <a:spcAft>
                <a:spcPct val="0"/>
              </a:spcAft>
              <a:buFont typeface="Arial" panose="020B0604020202020204" pitchFamily="34" charset="0"/>
              <a:buChar char="•"/>
            </a:pPr>
            <a:r>
              <a:rPr kumimoji="1" lang="zh-CN" altLang="en-US" sz="2200" b="1" dirty="0" smtClean="0">
                <a:solidFill>
                  <a:srgbClr val="000000"/>
                </a:solidFill>
                <a:latin typeface="Times New Roman" panose="02020603050405020304" pitchFamily="18" charset="0"/>
                <a:ea typeface="宋体" panose="02010600030101010101" pitchFamily="2" charset="-122"/>
              </a:rPr>
              <a:t>镜像力</a:t>
            </a:r>
          </a:p>
          <a:p>
            <a:pPr lvl="1" defTabSz="914400" eaLnBrk="0" fontAlgn="base" hangingPunct="0">
              <a:spcBef>
                <a:spcPct val="50000"/>
              </a:spcBef>
              <a:spcAft>
                <a:spcPct val="0"/>
              </a:spcAft>
              <a:buFont typeface="Arial" panose="020B0604020202020204" pitchFamily="34" charset="0"/>
              <a:buChar char="•"/>
            </a:pPr>
            <a:r>
              <a:rPr kumimoji="1" lang="zh-CN" altLang="en-US" sz="2200" b="1" dirty="0" smtClean="0">
                <a:solidFill>
                  <a:srgbClr val="000000"/>
                </a:solidFill>
                <a:latin typeface="Times New Roman" panose="02020603050405020304" pitchFamily="18" charset="0"/>
                <a:ea typeface="宋体" panose="02010600030101010101" pitchFamily="2" charset="-122"/>
              </a:rPr>
              <a:t>界面态</a:t>
            </a:r>
          </a:p>
        </p:txBody>
      </p:sp>
      <p:sp>
        <p:nvSpPr>
          <p:cNvPr id="5" name="Text Box 3"/>
          <p:cNvSpPr txBox="1">
            <a:spLocks noChangeArrowheads="1"/>
          </p:cNvSpPr>
          <p:nvPr/>
        </p:nvSpPr>
        <p:spPr bwMode="auto">
          <a:xfrm>
            <a:off x="451259" y="3069711"/>
            <a:ext cx="6816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spcBef>
                <a:spcPct val="50000"/>
              </a:spcBef>
              <a:spcAft>
                <a:spcPct val="0"/>
              </a:spcAft>
            </a:pPr>
            <a:r>
              <a:rPr kumimoji="1" lang="en-US" altLang="zh-CN" sz="2400" b="1" dirty="0" smtClean="0">
                <a:solidFill>
                  <a:srgbClr val="FF0000"/>
                </a:solidFill>
                <a:latin typeface="Times New Roman" panose="02020603050405020304" pitchFamily="18" charset="0"/>
                <a:ea typeface="宋体" panose="02010600030101010101" pitchFamily="2" charset="-122"/>
              </a:rPr>
              <a:t>1</a:t>
            </a:r>
            <a:r>
              <a:rPr kumimoji="1" lang="zh-CN" altLang="en-US" sz="2400" b="1" dirty="0" smtClean="0">
                <a:solidFill>
                  <a:srgbClr val="FF0000"/>
                </a:solidFill>
                <a:latin typeface="Times New Roman" panose="02020603050405020304" pitchFamily="18" charset="0"/>
                <a:ea typeface="宋体" panose="02010600030101010101" pitchFamily="2" charset="-122"/>
              </a:rPr>
              <a:t>）</a:t>
            </a:r>
            <a:r>
              <a:rPr kumimoji="1" lang="en-US" altLang="zh-CN" sz="2400" b="1" dirty="0" smtClean="0">
                <a:solidFill>
                  <a:srgbClr val="FF0000"/>
                </a:solidFill>
                <a:latin typeface="Times New Roman" panose="02020603050405020304" pitchFamily="18" charset="0"/>
                <a:ea typeface="宋体" panose="02010600030101010101" pitchFamily="2" charset="-122"/>
              </a:rPr>
              <a:t> M/S</a:t>
            </a:r>
            <a:r>
              <a:rPr kumimoji="1" lang="zh-CN" altLang="en-US" sz="2400" b="1" dirty="0" smtClean="0">
                <a:solidFill>
                  <a:srgbClr val="FF0000"/>
                </a:solidFill>
                <a:latin typeface="Times New Roman" panose="02020603050405020304" pitchFamily="18" charset="0"/>
                <a:ea typeface="宋体" panose="02010600030101010101" pitchFamily="2" charset="-122"/>
              </a:rPr>
              <a:t>中的镜像力和镜像力引起的势垒降低</a:t>
            </a:r>
          </a:p>
        </p:txBody>
      </p:sp>
      <p:sp>
        <p:nvSpPr>
          <p:cNvPr id="6" name="Text Box 3"/>
          <p:cNvSpPr txBox="1">
            <a:spLocks noChangeArrowheads="1"/>
          </p:cNvSpPr>
          <p:nvPr/>
        </p:nvSpPr>
        <p:spPr bwMode="auto">
          <a:xfrm>
            <a:off x="387809" y="230613"/>
            <a:ext cx="8358188"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lnSpc>
                <a:spcPct val="90000"/>
              </a:lnSpc>
              <a:spcBef>
                <a:spcPct val="50000"/>
              </a:spcBef>
              <a:spcAft>
                <a:spcPct val="0"/>
              </a:spcAft>
            </a:pPr>
            <a:r>
              <a:rPr kumimoji="1" lang="zh-CN" altLang="en-US" sz="2400" b="1" dirty="0">
                <a:solidFill>
                  <a:srgbClr val="FF0000"/>
                </a:solidFill>
                <a:latin typeface="Times New Roman" panose="02020603050405020304" pitchFamily="18" charset="0"/>
                <a:ea typeface="宋体" panose="02010600030101010101" pitchFamily="2" charset="-122"/>
              </a:rPr>
              <a:t>实际</a:t>
            </a:r>
            <a:r>
              <a:rPr kumimoji="1" lang="zh-CN" altLang="en-US" sz="2400" b="1" dirty="0" smtClean="0">
                <a:solidFill>
                  <a:srgbClr val="FF0000"/>
                </a:solidFill>
                <a:latin typeface="Times New Roman" panose="02020603050405020304" pitchFamily="18" charset="0"/>
                <a:ea typeface="宋体" panose="02010600030101010101" pitchFamily="2" charset="-122"/>
              </a:rPr>
              <a:t>肖特基势垒</a:t>
            </a:r>
          </a:p>
        </p:txBody>
      </p:sp>
    </p:spTree>
    <p:extLst>
      <p:ext uri="{BB962C8B-B14F-4D97-AF65-F5344CB8AC3E}">
        <p14:creationId xmlns:p14="http://schemas.microsoft.com/office/powerpoint/2010/main" val="477081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27</a:t>
            </a:fld>
            <a:endParaRPr lang="zh-CN" altLang="en-US"/>
          </a:p>
        </p:txBody>
      </p:sp>
      <p:pic>
        <p:nvPicPr>
          <p:cNvPr id="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335" y="2572109"/>
            <a:ext cx="2884488"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pic>
      <p:sp>
        <p:nvSpPr>
          <p:cNvPr id="4" name="Text Box 5"/>
          <p:cNvSpPr txBox="1">
            <a:spLocks noChangeArrowheads="1"/>
          </p:cNvSpPr>
          <p:nvPr/>
        </p:nvSpPr>
        <p:spPr bwMode="auto">
          <a:xfrm>
            <a:off x="544235" y="1411646"/>
            <a:ext cx="26098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50000"/>
              </a:spcBef>
              <a:spcAft>
                <a:spcPct val="0"/>
              </a:spcAft>
            </a:pPr>
            <a:r>
              <a:rPr kumimoji="1" lang="zh-CN" altLang="en-US" sz="2400" b="1" smtClean="0">
                <a:solidFill>
                  <a:srgbClr val="3333CC"/>
                </a:solidFill>
                <a:latin typeface="Times New Roman" panose="02020603050405020304" pitchFamily="18" charset="0"/>
                <a:ea typeface="宋体" panose="02010600030101010101" pitchFamily="2" charset="-122"/>
              </a:rPr>
              <a:t>镜像电荷和镜像力模型示意图</a:t>
            </a:r>
            <a:endParaRPr kumimoji="1" lang="en-US" altLang="zh-CN" sz="2400" b="1" smtClean="0">
              <a:solidFill>
                <a:srgbClr val="3333CC"/>
              </a:solidFill>
              <a:latin typeface="Times New Roman" panose="02020603050405020304" pitchFamily="18" charset="0"/>
              <a:ea typeface="宋体" panose="02010600030101010101" pitchFamily="2" charset="-122"/>
            </a:endParaRPr>
          </a:p>
        </p:txBody>
      </p:sp>
      <p:sp>
        <p:nvSpPr>
          <p:cNvPr id="5" name="Text Box 6"/>
          <p:cNvSpPr txBox="1">
            <a:spLocks noChangeArrowheads="1"/>
          </p:cNvSpPr>
          <p:nvPr/>
        </p:nvSpPr>
        <p:spPr bwMode="auto">
          <a:xfrm>
            <a:off x="3423960" y="1267184"/>
            <a:ext cx="5295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defTabSz="914400" eaLnBrk="0" fontAlgn="base" hangingPunct="0">
              <a:spcBef>
                <a:spcPct val="50000"/>
              </a:spcBef>
              <a:spcAft>
                <a:spcPct val="0"/>
              </a:spcAft>
            </a:pPr>
            <a:r>
              <a:rPr kumimoji="1" lang="zh-CN" altLang="en-US" sz="2400" b="1" smtClean="0">
                <a:solidFill>
                  <a:srgbClr val="3333CC"/>
                </a:solidFill>
                <a:latin typeface="Times New Roman" panose="02020603050405020304" pitchFamily="18" charset="0"/>
                <a:ea typeface="宋体" panose="02010600030101010101" pitchFamily="2" charset="-122"/>
              </a:rPr>
              <a:t>镜像力和镜像势的表达式</a:t>
            </a:r>
          </a:p>
        </p:txBody>
      </p:sp>
      <p:sp>
        <p:nvSpPr>
          <p:cNvPr id="6" name="Text Box 7"/>
          <p:cNvSpPr txBox="1">
            <a:spLocks noChangeArrowheads="1"/>
          </p:cNvSpPr>
          <p:nvPr/>
        </p:nvSpPr>
        <p:spPr bwMode="auto">
          <a:xfrm>
            <a:off x="3309660" y="1772009"/>
            <a:ext cx="5803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镜像力是库仑引力的一种，表达式如下：</a:t>
            </a:r>
          </a:p>
        </p:txBody>
      </p:sp>
      <p:sp>
        <p:nvSpPr>
          <p:cNvPr id="7" name="Text Box 8"/>
          <p:cNvSpPr txBox="1">
            <a:spLocks noChangeArrowheads="1"/>
          </p:cNvSpPr>
          <p:nvPr/>
        </p:nvSpPr>
        <p:spPr bwMode="auto">
          <a:xfrm>
            <a:off x="3281085" y="3427771"/>
            <a:ext cx="5688013"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2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假设由镜像力引起得镜像势能（静电能）是指将电荷从 </a:t>
            </a:r>
            <a:r>
              <a:rPr kumimoji="1" lang="en-US" altLang="zh-CN" sz="2400" b="1" i="1" smtClean="0">
                <a:solidFill>
                  <a:srgbClr val="000000"/>
                </a:solidFill>
                <a:latin typeface="Times New Roman" panose="02020603050405020304" pitchFamily="18" charset="0"/>
                <a:ea typeface="宋体" panose="02010600030101010101" pitchFamily="2" charset="-122"/>
              </a:rPr>
              <a:t>x </a:t>
            </a:r>
            <a:r>
              <a:rPr kumimoji="1" lang="zh-CN" altLang="en-US" sz="2400" b="1" smtClean="0">
                <a:solidFill>
                  <a:srgbClr val="000000"/>
                </a:solidFill>
                <a:latin typeface="Times New Roman" panose="02020603050405020304" pitchFamily="18" charset="0"/>
                <a:ea typeface="宋体" panose="02010600030101010101" pitchFamily="2" charset="-122"/>
              </a:rPr>
              <a:t>处移动到</a:t>
            </a:r>
            <a:r>
              <a:rPr kumimoji="1" lang="en-US" altLang="zh-CN" sz="2400" b="1" smtClean="0">
                <a:solidFill>
                  <a:srgbClr val="000000"/>
                </a:solidFill>
                <a:latin typeface="Times New Roman" panose="02020603050405020304" pitchFamily="18" charset="0"/>
                <a:ea typeface="宋体" panose="02010600030101010101" pitchFamily="2" charset="-122"/>
              </a:rPr>
              <a:t>+</a:t>
            </a:r>
            <a:r>
              <a:rPr kumimoji="1" lang="zh-CN" altLang="en-US" sz="2400" b="1" smtClean="0">
                <a:solidFill>
                  <a:srgbClr val="000000"/>
                </a:solidFill>
                <a:latin typeface="Times New Roman" panose="02020603050405020304" pitchFamily="18" charset="0"/>
                <a:ea typeface="宋体" panose="02010600030101010101" pitchFamily="2" charset="-122"/>
              </a:rPr>
              <a:t>∞处所需要的能量，则镜像势能的表达式如下：</a:t>
            </a:r>
          </a:p>
        </p:txBody>
      </p:sp>
      <p:graphicFrame>
        <p:nvGraphicFramePr>
          <p:cNvPr id="8" name="Object 9"/>
          <p:cNvGraphicFramePr>
            <a:graphicFrameLocks noChangeAspect="1"/>
          </p:cNvGraphicFramePr>
          <p:nvPr>
            <p:extLst>
              <p:ext uri="{D42A27DB-BD31-4B8C-83A1-F6EECF244321}">
                <p14:modId xmlns:p14="http://schemas.microsoft.com/office/powerpoint/2010/main" val="3852837345"/>
              </p:ext>
            </p:extLst>
          </p:nvPr>
        </p:nvGraphicFramePr>
        <p:xfrm>
          <a:off x="3352523" y="2203809"/>
          <a:ext cx="5426075" cy="1096962"/>
        </p:xfrm>
        <a:graphic>
          <a:graphicData uri="http://schemas.openxmlformats.org/presentationml/2006/ole">
            <mc:AlternateContent xmlns:mc="http://schemas.openxmlformats.org/markup-compatibility/2006">
              <mc:Choice xmlns:v="urn:schemas-microsoft-com:vml" Requires="v">
                <p:oleObj spid="_x0000_s62536" name="Equation" r:id="rId4" imgW="2260600" imgH="457200" progId="Equation.DSMT4">
                  <p:embed/>
                </p:oleObj>
              </mc:Choice>
              <mc:Fallback>
                <p:oleObj name="Equation" r:id="rId4" imgW="2260600" imgH="457200" progId="Equation.DSMT4">
                  <p:embed/>
                  <p:pic>
                    <p:nvPicPr>
                      <p:cNvPr id="21512"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523" y="2203809"/>
                        <a:ext cx="5426075" cy="109696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0"/>
          <p:cNvGraphicFramePr>
            <a:graphicFrameLocks noChangeAspect="1"/>
          </p:cNvGraphicFramePr>
          <p:nvPr>
            <p:extLst>
              <p:ext uri="{D42A27DB-BD31-4B8C-83A1-F6EECF244321}">
                <p14:modId xmlns:p14="http://schemas.microsoft.com/office/powerpoint/2010/main" val="3829144174"/>
              </p:ext>
            </p:extLst>
          </p:nvPr>
        </p:nvGraphicFramePr>
        <p:xfrm>
          <a:off x="4420910" y="4893034"/>
          <a:ext cx="3565525" cy="1127125"/>
        </p:xfrm>
        <a:graphic>
          <a:graphicData uri="http://schemas.openxmlformats.org/presentationml/2006/ole">
            <mc:AlternateContent xmlns:mc="http://schemas.openxmlformats.org/markup-compatibility/2006">
              <mc:Choice xmlns:v="urn:schemas-microsoft-com:vml" Requires="v">
                <p:oleObj spid="_x0000_s62537" name="Equation" r:id="rId6" imgW="1485900" imgH="469900" progId="Equation.DSMT4">
                  <p:embed/>
                </p:oleObj>
              </mc:Choice>
              <mc:Fallback>
                <p:oleObj name="Equation" r:id="rId6" imgW="1485900" imgH="469900" progId="Equation.DSMT4">
                  <p:embed/>
                  <p:pic>
                    <p:nvPicPr>
                      <p:cNvPr id="21513"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0910" y="4893034"/>
                        <a:ext cx="3565525" cy="112712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12"/>
          <p:cNvSpPr>
            <a:spLocks noChangeArrowheads="1"/>
          </p:cNvSpPr>
          <p:nvPr/>
        </p:nvSpPr>
        <p:spPr bwMode="auto">
          <a:xfrm>
            <a:off x="544235" y="433746"/>
            <a:ext cx="820896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20000"/>
              </a:lnSpc>
              <a:spcBef>
                <a:spcPct val="5000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理论分析显示，镜像力引起的势垒降低值约为</a:t>
            </a: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10~20 mV</a:t>
            </a:r>
            <a:endPar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88043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28</a:t>
            </a:fld>
            <a:endParaRPr lang="zh-CN" altLang="en-US"/>
          </a:p>
        </p:txBody>
      </p:sp>
      <p:sp>
        <p:nvSpPr>
          <p:cNvPr id="3" name="Text Box 4"/>
          <p:cNvSpPr txBox="1">
            <a:spLocks noChangeArrowheads="1"/>
          </p:cNvSpPr>
          <p:nvPr/>
        </p:nvSpPr>
        <p:spPr bwMode="auto">
          <a:xfrm>
            <a:off x="539750" y="1260475"/>
            <a:ext cx="792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假设在不考虑镜像力作用时，表面势关联的电子能量为：</a:t>
            </a:r>
          </a:p>
        </p:txBody>
      </p:sp>
      <p:sp>
        <p:nvSpPr>
          <p:cNvPr id="4" name="Text Box 5"/>
          <p:cNvSpPr txBox="1">
            <a:spLocks noChangeArrowheads="1"/>
          </p:cNvSpPr>
          <p:nvPr/>
        </p:nvSpPr>
        <p:spPr bwMode="auto">
          <a:xfrm>
            <a:off x="539750" y="2709863"/>
            <a:ext cx="4608513"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其中</a:t>
            </a:r>
            <a:r>
              <a:rPr kumimoji="1" lang="en-US" altLang="zh-CN" sz="2400" b="1" i="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C</a:t>
            </a:r>
            <a:r>
              <a:rPr kumimoji="1" lang="en-US" altLang="zh-CN" sz="2400" b="1" i="1" smtClean="0">
                <a:solidFill>
                  <a:srgbClr val="000000"/>
                </a:solidFill>
                <a:latin typeface="Times New Roman" panose="02020603050405020304" pitchFamily="18" charset="0"/>
                <a:ea typeface="宋体" panose="02010600030101010101" pitchFamily="2" charset="-122"/>
              </a:rPr>
              <a:t>(x)</a:t>
            </a:r>
            <a:r>
              <a:rPr kumimoji="1" lang="zh-CN" altLang="en-US" sz="2400" b="1" smtClean="0">
                <a:solidFill>
                  <a:srgbClr val="000000"/>
                </a:solidFill>
                <a:latin typeface="Times New Roman" panose="02020603050405020304" pitchFamily="18" charset="0"/>
                <a:ea typeface="宋体" panose="02010600030101010101" pitchFamily="2" charset="-122"/>
              </a:rPr>
              <a:t>是在坐标点</a:t>
            </a:r>
            <a:r>
              <a:rPr kumimoji="1" lang="en-US" altLang="zh-CN" sz="2400" b="1" i="1" smtClean="0">
                <a:solidFill>
                  <a:srgbClr val="000000"/>
                </a:solidFill>
                <a:latin typeface="Times New Roman" panose="02020603050405020304" pitchFamily="18" charset="0"/>
                <a:ea typeface="宋体" panose="02010600030101010101" pitchFamily="2" charset="-122"/>
              </a:rPr>
              <a:t>x</a:t>
            </a:r>
            <a:r>
              <a:rPr kumimoji="1" lang="zh-CN" altLang="en-US" sz="2400" b="1" smtClean="0">
                <a:solidFill>
                  <a:srgbClr val="000000"/>
                </a:solidFill>
                <a:latin typeface="Times New Roman" panose="02020603050405020304" pitchFamily="18" charset="0"/>
                <a:ea typeface="宋体" panose="02010600030101010101" pitchFamily="2" charset="-122"/>
              </a:rPr>
              <a:t>的导带底能量（势能）。根据电势叠加原理，考虑镜像势的导带电子总能量为：</a:t>
            </a:r>
          </a:p>
        </p:txBody>
      </p:sp>
      <p:grpSp>
        <p:nvGrpSpPr>
          <p:cNvPr id="5" name="Group 6"/>
          <p:cNvGrpSpPr>
            <a:grpSpLocks/>
          </p:cNvGrpSpPr>
          <p:nvPr/>
        </p:nvGrpSpPr>
        <p:grpSpPr bwMode="auto">
          <a:xfrm>
            <a:off x="5003800" y="1773238"/>
            <a:ext cx="3787775" cy="3624262"/>
            <a:chOff x="3079" y="1219"/>
            <a:chExt cx="2386" cy="2283"/>
          </a:xfrm>
        </p:grpSpPr>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l="1878" t="29257" r="6194"/>
            <a:stretch>
              <a:fillRect/>
            </a:stretch>
          </p:blipFill>
          <p:spPr bwMode="auto">
            <a:xfrm>
              <a:off x="3118" y="1219"/>
              <a:ext cx="2330" cy="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pic>
        <p:sp>
          <p:nvSpPr>
            <p:cNvPr id="7" name="Text Box 8"/>
            <p:cNvSpPr txBox="1">
              <a:spLocks noChangeArrowheads="1"/>
            </p:cNvSpPr>
            <p:nvPr/>
          </p:nvSpPr>
          <p:spPr bwMode="auto">
            <a:xfrm>
              <a:off x="3079" y="3214"/>
              <a:ext cx="5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金属</a:t>
              </a:r>
            </a:p>
          </p:txBody>
        </p:sp>
        <p:sp>
          <p:nvSpPr>
            <p:cNvPr id="8" name="Text Box 9"/>
            <p:cNvSpPr txBox="1">
              <a:spLocks noChangeArrowheads="1"/>
            </p:cNvSpPr>
            <p:nvPr/>
          </p:nvSpPr>
          <p:spPr bwMode="auto">
            <a:xfrm>
              <a:off x="4123" y="2854"/>
              <a:ext cx="912" cy="288"/>
            </a:xfrm>
            <a:prstGeom prst="rect">
              <a:avLst/>
            </a:prstGeom>
            <a:solidFill>
              <a:srgbClr val="FFFFFF"/>
            </a:solidFill>
            <a:ln>
              <a:noFill/>
            </a:ln>
            <a:extLs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半导体</a:t>
              </a:r>
            </a:p>
          </p:txBody>
        </p:sp>
        <p:sp>
          <p:nvSpPr>
            <p:cNvPr id="9" name="Text Box 10"/>
            <p:cNvSpPr txBox="1">
              <a:spLocks noChangeArrowheads="1"/>
            </p:cNvSpPr>
            <p:nvPr/>
          </p:nvSpPr>
          <p:spPr bwMode="auto">
            <a:xfrm>
              <a:off x="4901" y="1968"/>
              <a:ext cx="564" cy="231"/>
            </a:xfrm>
            <a:prstGeom prst="rect">
              <a:avLst/>
            </a:prstGeom>
            <a:solidFill>
              <a:srgbClr val="FFFFFF"/>
            </a:solidFill>
            <a:ln>
              <a:noFill/>
            </a:ln>
            <a:extLs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b="1" smtClean="0">
                  <a:solidFill>
                    <a:srgbClr val="000000"/>
                  </a:solidFill>
                  <a:latin typeface="Times New Roman" panose="02020603050405020304" pitchFamily="18" charset="0"/>
                  <a:ea typeface="宋体" panose="02010600030101010101" pitchFamily="2" charset="-122"/>
                </a:rPr>
                <a:t>镜像势</a:t>
              </a:r>
            </a:p>
          </p:txBody>
        </p:sp>
      </p:grpSp>
      <p:graphicFrame>
        <p:nvGraphicFramePr>
          <p:cNvPr id="10" name="Object 11"/>
          <p:cNvGraphicFramePr>
            <a:graphicFrameLocks noChangeAspect="1"/>
          </p:cNvGraphicFramePr>
          <p:nvPr/>
        </p:nvGraphicFramePr>
        <p:xfrm>
          <a:off x="571500" y="1928813"/>
          <a:ext cx="4540250" cy="549275"/>
        </p:xfrm>
        <a:graphic>
          <a:graphicData uri="http://schemas.openxmlformats.org/presentationml/2006/ole">
            <mc:AlternateContent xmlns:mc="http://schemas.openxmlformats.org/markup-compatibility/2006">
              <mc:Choice xmlns:v="urn:schemas-microsoft-com:vml" Requires="v">
                <p:oleObj spid="_x0000_s63595" name="Equation" r:id="rId4" imgW="1892300" imgH="228600" progId="Equation.DSMT4">
                  <p:embed/>
                </p:oleObj>
              </mc:Choice>
              <mc:Fallback>
                <p:oleObj name="Equation" r:id="rId4" imgW="1892300" imgH="228600" progId="Equation.DSMT4">
                  <p:embed/>
                  <p:pic>
                    <p:nvPicPr>
                      <p:cNvPr id="22533"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1928813"/>
                        <a:ext cx="4540250" cy="54927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2"/>
          <p:cNvGraphicFramePr>
            <a:graphicFrameLocks noChangeAspect="1"/>
          </p:cNvGraphicFramePr>
          <p:nvPr/>
        </p:nvGraphicFramePr>
        <p:xfrm>
          <a:off x="1890713" y="4510088"/>
          <a:ext cx="1889125" cy="547687"/>
        </p:xfrm>
        <a:graphic>
          <a:graphicData uri="http://schemas.openxmlformats.org/presentationml/2006/ole">
            <mc:AlternateContent xmlns:mc="http://schemas.openxmlformats.org/markup-compatibility/2006">
              <mc:Choice xmlns:v="urn:schemas-microsoft-com:vml" Requires="v">
                <p:oleObj spid="_x0000_s63596" name="Equation" r:id="rId6" imgW="787400" imgH="228600" progId="Equation.3">
                  <p:embed/>
                </p:oleObj>
              </mc:Choice>
              <mc:Fallback>
                <p:oleObj name="Equation" r:id="rId6" imgW="787400" imgH="228600" progId="Equation.3">
                  <p:embed/>
                  <p:pic>
                    <p:nvPicPr>
                      <p:cNvPr id="22534"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0713" y="4510088"/>
                        <a:ext cx="1889125" cy="54768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3"/>
          <p:cNvGraphicFramePr>
            <a:graphicFrameLocks noChangeAspect="1"/>
          </p:cNvGraphicFramePr>
          <p:nvPr/>
        </p:nvGraphicFramePr>
        <p:xfrm>
          <a:off x="900113" y="5049838"/>
          <a:ext cx="3932237" cy="1096962"/>
        </p:xfrm>
        <a:graphic>
          <a:graphicData uri="http://schemas.openxmlformats.org/presentationml/2006/ole">
            <mc:AlternateContent xmlns:mc="http://schemas.openxmlformats.org/markup-compatibility/2006">
              <mc:Choice xmlns:v="urn:schemas-microsoft-com:vml" Requires="v">
                <p:oleObj spid="_x0000_s63597" name="Equation" r:id="rId8" imgW="1638300" imgH="457200" progId="Equation.DSMT4">
                  <p:embed/>
                </p:oleObj>
              </mc:Choice>
              <mc:Fallback>
                <p:oleObj name="Equation" r:id="rId8" imgW="1638300" imgH="457200" progId="Equation.DSMT4">
                  <p:embed/>
                  <p:pic>
                    <p:nvPicPr>
                      <p:cNvPr id="22535"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5049838"/>
                        <a:ext cx="3932237" cy="109696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6"/>
          <p:cNvGrpSpPr>
            <a:grpSpLocks/>
          </p:cNvGrpSpPr>
          <p:nvPr/>
        </p:nvGrpSpPr>
        <p:grpSpPr bwMode="auto">
          <a:xfrm>
            <a:off x="5000625" y="1714500"/>
            <a:ext cx="3787775" cy="3624263"/>
            <a:chOff x="3079" y="1219"/>
            <a:chExt cx="2386" cy="2283"/>
          </a:xfrm>
        </p:grpSpPr>
        <p:pic>
          <p:nvPicPr>
            <p:cNvPr id="14" name="Picture 7"/>
            <p:cNvPicPr>
              <a:picLocks noChangeAspect="1" noChangeArrowheads="1"/>
            </p:cNvPicPr>
            <p:nvPr/>
          </p:nvPicPr>
          <p:blipFill>
            <a:blip r:embed="rId3">
              <a:extLst>
                <a:ext uri="{28A0092B-C50C-407E-A947-70E740481C1C}">
                  <a14:useLocalDpi xmlns:a14="http://schemas.microsoft.com/office/drawing/2010/main" val="0"/>
                </a:ext>
              </a:extLst>
            </a:blip>
            <a:srcRect l="1878" t="29257" r="6194"/>
            <a:stretch>
              <a:fillRect/>
            </a:stretch>
          </p:blipFill>
          <p:spPr bwMode="auto">
            <a:xfrm>
              <a:off x="3118" y="1219"/>
              <a:ext cx="2330" cy="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pic>
        <p:sp>
          <p:nvSpPr>
            <p:cNvPr id="15" name="Text Box 8"/>
            <p:cNvSpPr txBox="1">
              <a:spLocks noChangeArrowheads="1"/>
            </p:cNvSpPr>
            <p:nvPr/>
          </p:nvSpPr>
          <p:spPr bwMode="auto">
            <a:xfrm>
              <a:off x="3079" y="3214"/>
              <a:ext cx="5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金属</a:t>
              </a:r>
            </a:p>
          </p:txBody>
        </p:sp>
        <p:sp>
          <p:nvSpPr>
            <p:cNvPr id="16" name="Text Box 9"/>
            <p:cNvSpPr txBox="1">
              <a:spLocks noChangeArrowheads="1"/>
            </p:cNvSpPr>
            <p:nvPr/>
          </p:nvSpPr>
          <p:spPr bwMode="auto">
            <a:xfrm>
              <a:off x="4123" y="2854"/>
              <a:ext cx="912" cy="288"/>
            </a:xfrm>
            <a:prstGeom prst="rect">
              <a:avLst/>
            </a:prstGeom>
            <a:solidFill>
              <a:srgbClr val="FFFFFF"/>
            </a:solidFill>
            <a:ln>
              <a:noFill/>
            </a:ln>
            <a:extLs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半导体</a:t>
              </a:r>
            </a:p>
          </p:txBody>
        </p:sp>
        <p:sp>
          <p:nvSpPr>
            <p:cNvPr id="17" name="Text Box 10"/>
            <p:cNvSpPr txBox="1">
              <a:spLocks noChangeArrowheads="1"/>
            </p:cNvSpPr>
            <p:nvPr/>
          </p:nvSpPr>
          <p:spPr bwMode="auto">
            <a:xfrm>
              <a:off x="4901" y="1968"/>
              <a:ext cx="564" cy="231"/>
            </a:xfrm>
            <a:prstGeom prst="rect">
              <a:avLst/>
            </a:prstGeom>
            <a:solidFill>
              <a:srgbClr val="FFFFFF"/>
            </a:solidFill>
            <a:ln>
              <a:noFill/>
            </a:ln>
            <a:extLs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b="1" smtClean="0">
                  <a:solidFill>
                    <a:srgbClr val="000000"/>
                  </a:solidFill>
                  <a:latin typeface="Times New Roman" panose="02020603050405020304" pitchFamily="18" charset="0"/>
                  <a:ea typeface="宋体" panose="02010600030101010101" pitchFamily="2" charset="-122"/>
                </a:rPr>
                <a:t>镜像势</a:t>
              </a:r>
            </a:p>
          </p:txBody>
        </p:sp>
      </p:grpSp>
    </p:spTree>
    <p:extLst>
      <p:ext uri="{BB962C8B-B14F-4D97-AF65-F5344CB8AC3E}">
        <p14:creationId xmlns:p14="http://schemas.microsoft.com/office/powerpoint/2010/main" val="1645445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29</a:t>
            </a:fld>
            <a:endParaRPr lang="zh-CN" altLang="en-US"/>
          </a:p>
        </p:txBody>
      </p:sp>
      <p:sp>
        <p:nvSpPr>
          <p:cNvPr id="3" name="Text Box 6"/>
          <p:cNvSpPr txBox="1">
            <a:spLocks noChangeArrowheads="1"/>
          </p:cNvSpPr>
          <p:nvPr/>
        </p:nvSpPr>
        <p:spPr bwMode="auto">
          <a:xfrm>
            <a:off x="343105" y="926179"/>
            <a:ext cx="85963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50000"/>
              </a:spcBef>
              <a:spcAft>
                <a:spcPct val="0"/>
              </a:spcAft>
            </a:pPr>
            <a:r>
              <a:rPr kumimoji="1" lang="zh-CN" altLang="en-US" sz="2400" b="1" smtClean="0">
                <a:solidFill>
                  <a:srgbClr val="3333CC"/>
                </a:solidFill>
                <a:latin typeface="Times New Roman" panose="02020603050405020304" pitchFamily="18" charset="0"/>
                <a:ea typeface="宋体" panose="02010600030101010101" pitchFamily="2" charset="-122"/>
              </a:rPr>
              <a:t>镜像势极大点 </a:t>
            </a:r>
            <a:r>
              <a:rPr kumimoji="1" lang="en-US" altLang="zh-CN" sz="2400" b="1" i="1" smtClean="0">
                <a:solidFill>
                  <a:srgbClr val="3333CC"/>
                </a:solidFill>
                <a:latin typeface="Times New Roman" panose="02020603050405020304" pitchFamily="18" charset="0"/>
                <a:ea typeface="宋体" panose="02010600030101010101" pitchFamily="2" charset="-122"/>
              </a:rPr>
              <a:t>x</a:t>
            </a:r>
            <a:r>
              <a:rPr kumimoji="1" lang="en-US" altLang="zh-CN" sz="2400" b="1" i="1" baseline="-25000" smtClean="0">
                <a:solidFill>
                  <a:srgbClr val="3333CC"/>
                </a:solidFill>
                <a:latin typeface="Times New Roman" panose="02020603050405020304" pitchFamily="18" charset="0"/>
                <a:ea typeface="宋体" panose="02010600030101010101" pitchFamily="2" charset="-122"/>
              </a:rPr>
              <a:t>m</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 </a:t>
            </a:r>
            <a:r>
              <a:rPr kumimoji="1" lang="zh-CN" altLang="en-US" sz="2400" b="1" smtClean="0">
                <a:solidFill>
                  <a:srgbClr val="000000"/>
                </a:solidFill>
                <a:latin typeface="Times New Roman" panose="02020603050405020304" pitchFamily="18" charset="0"/>
                <a:ea typeface="宋体" panose="02010600030101010101" pitchFamily="2" charset="-122"/>
              </a:rPr>
              <a:t>处在半导体内部，其位置和大小由下式决定：</a:t>
            </a:r>
          </a:p>
        </p:txBody>
      </p:sp>
      <p:sp>
        <p:nvSpPr>
          <p:cNvPr id="4" name="Text Box 7"/>
          <p:cNvSpPr txBox="1">
            <a:spLocks noChangeArrowheads="1"/>
          </p:cNvSpPr>
          <p:nvPr/>
        </p:nvSpPr>
        <p:spPr bwMode="auto">
          <a:xfrm>
            <a:off x="343105" y="2394617"/>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其中 </a:t>
            </a:r>
            <a:r>
              <a:rPr kumimoji="1" lang="zh-CN" altLang="en-US" sz="2400" b="1" i="1"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b="1" smtClean="0">
                <a:solidFill>
                  <a:srgbClr val="000000"/>
                </a:solidFill>
                <a:latin typeface="Times New Roman" panose="02020603050405020304" pitchFamily="18" charset="0"/>
                <a:ea typeface="宋体" panose="02010600030101010101" pitchFamily="2" charset="-122"/>
              </a:rPr>
              <a:t>表示电场</a:t>
            </a:r>
          </a:p>
        </p:txBody>
      </p:sp>
      <p:sp>
        <p:nvSpPr>
          <p:cNvPr id="5" name="Text Box 8"/>
          <p:cNvSpPr txBox="1">
            <a:spLocks noChangeArrowheads="1"/>
          </p:cNvSpPr>
          <p:nvPr/>
        </p:nvSpPr>
        <p:spPr bwMode="auto">
          <a:xfrm>
            <a:off x="343105" y="4382167"/>
            <a:ext cx="8116888"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2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上面的结果导致在反向偏置下势垒有所降低而在正向偏置下略有增大，通常</a:t>
            </a:r>
            <a:r>
              <a:rPr kumimoji="1" lang="zh-CN" altLang="en-US" sz="2400" b="1" i="1"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smtClean="0">
                <a:solidFill>
                  <a:srgbClr val="000000"/>
                </a:solidFill>
                <a:latin typeface="Times New Roman" panose="02020603050405020304" pitchFamily="18" charset="0"/>
                <a:ea typeface="宋体" panose="02010600030101010101" pitchFamily="2" charset="-122"/>
              </a:rPr>
              <a:t> 很小，                           </a:t>
            </a:r>
            <a:r>
              <a:rPr kumimoji="1" lang="en-US" altLang="zh-CN" sz="2400" b="1" smtClean="0">
                <a:solidFill>
                  <a:srgbClr val="000000"/>
                </a:solidFill>
                <a:latin typeface="Times New Roman" panose="02020603050405020304" pitchFamily="18" charset="0"/>
                <a:ea typeface="宋体" panose="02010600030101010101" pitchFamily="2" charset="-122"/>
              </a:rPr>
              <a:t>,</a:t>
            </a:r>
            <a:r>
              <a:rPr kumimoji="1" lang="zh-CN" altLang="en-US" sz="2400" b="1" smtClean="0">
                <a:solidFill>
                  <a:srgbClr val="000000"/>
                </a:solidFill>
                <a:latin typeface="Times New Roman" panose="02020603050405020304" pitchFamily="18" charset="0"/>
                <a:ea typeface="宋体" panose="02010600030101010101" pitchFamily="2" charset="-122"/>
              </a:rPr>
              <a:t> 但它和</a:t>
            </a:r>
            <a:r>
              <a:rPr kumimoji="1" lang="zh-CN" altLang="en-US" sz="2400" b="1" i="1"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1" baseline="-25000"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B</a:t>
            </a:r>
            <a:r>
              <a:rPr kumimoji="1" lang="en-US" altLang="zh-CN" sz="2400" b="1" i="1"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b="1" smtClean="0">
                <a:solidFill>
                  <a:srgbClr val="000000"/>
                </a:solidFill>
                <a:latin typeface="Times New Roman" panose="02020603050405020304" pitchFamily="18" charset="0"/>
                <a:ea typeface="宋体" panose="02010600030101010101" pitchFamily="2" charset="-122"/>
              </a:rPr>
              <a:t>成指数关系，因而在一些特定情形不可忽略。</a:t>
            </a:r>
          </a:p>
        </p:txBody>
      </p:sp>
      <p:sp>
        <p:nvSpPr>
          <p:cNvPr id="6" name="Text Box 9"/>
          <p:cNvSpPr txBox="1">
            <a:spLocks noChangeArrowheads="1"/>
          </p:cNvSpPr>
          <p:nvPr/>
        </p:nvSpPr>
        <p:spPr bwMode="auto">
          <a:xfrm>
            <a:off x="343105" y="2985167"/>
            <a:ext cx="694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3333CC"/>
                </a:solidFill>
                <a:latin typeface="Times New Roman" panose="02020603050405020304" pitchFamily="18" charset="0"/>
                <a:ea typeface="宋体" panose="02010600030101010101" pitchFamily="2" charset="-122"/>
              </a:rPr>
              <a:t>镜像势引起的势垒降低</a:t>
            </a:r>
            <a:r>
              <a:rPr kumimoji="1" lang="zh-CN" altLang="en-US" sz="2400" b="1" smtClean="0">
                <a:solidFill>
                  <a:srgbClr val="000000"/>
                </a:solidFill>
                <a:latin typeface="Times New Roman" panose="02020603050405020304" pitchFamily="18" charset="0"/>
                <a:ea typeface="宋体" panose="02010600030101010101" pitchFamily="2" charset="-122"/>
              </a:rPr>
              <a:t>量由下式决定：</a:t>
            </a:r>
          </a:p>
        </p:txBody>
      </p:sp>
      <p:graphicFrame>
        <p:nvGraphicFramePr>
          <p:cNvPr id="7" name="Object 10"/>
          <p:cNvGraphicFramePr>
            <a:graphicFrameLocks noChangeAspect="1"/>
          </p:cNvGraphicFramePr>
          <p:nvPr>
            <p:extLst>
              <p:ext uri="{D42A27DB-BD31-4B8C-83A1-F6EECF244321}">
                <p14:modId xmlns:p14="http://schemas.microsoft.com/office/powerpoint/2010/main" val="3415131238"/>
              </p:ext>
            </p:extLst>
          </p:nvPr>
        </p:nvGraphicFramePr>
        <p:xfrm>
          <a:off x="4688093" y="1357979"/>
          <a:ext cx="2030412" cy="965200"/>
        </p:xfrm>
        <a:graphic>
          <a:graphicData uri="http://schemas.openxmlformats.org/presentationml/2006/ole">
            <mc:AlternateContent xmlns:mc="http://schemas.openxmlformats.org/markup-compatibility/2006">
              <mc:Choice xmlns:v="urn:schemas-microsoft-com:vml" Requires="v">
                <p:oleObj spid="_x0000_s64689" name="Equation" r:id="rId3" imgW="1016000" imgH="482600" progId="Equation.DSMT4">
                  <p:embed/>
                </p:oleObj>
              </mc:Choice>
              <mc:Fallback>
                <p:oleObj name="Equation" r:id="rId3" imgW="1016000" imgH="482600" progId="Equation.DSMT4">
                  <p:embed/>
                  <p:pic>
                    <p:nvPicPr>
                      <p:cNvPr id="23559"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8093" y="1357979"/>
                        <a:ext cx="2030412"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69285297"/>
              </p:ext>
            </p:extLst>
          </p:nvPr>
        </p:nvGraphicFramePr>
        <p:xfrm>
          <a:off x="1352755" y="1605629"/>
          <a:ext cx="2260600" cy="558800"/>
        </p:xfrm>
        <a:graphic>
          <a:graphicData uri="http://schemas.openxmlformats.org/presentationml/2006/ole">
            <mc:AlternateContent xmlns:mc="http://schemas.openxmlformats.org/markup-compatibility/2006">
              <mc:Choice xmlns:v="urn:schemas-microsoft-com:vml" Requires="v">
                <p:oleObj spid="_x0000_s64690" name="Equation" r:id="rId5" imgW="1130300" imgH="279400" progId="Equation.DSMT4">
                  <p:embed/>
                </p:oleObj>
              </mc:Choice>
              <mc:Fallback>
                <p:oleObj name="Equation" r:id="rId5" imgW="1130300" imgH="279400" progId="Equation.DSMT4">
                  <p:embed/>
                  <p:pic>
                    <p:nvPicPr>
                      <p:cNvPr id="2356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2755" y="1605629"/>
                        <a:ext cx="2260600" cy="5588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2"/>
          <p:cNvGraphicFramePr>
            <a:graphicFrameLocks noChangeAspect="1"/>
          </p:cNvGraphicFramePr>
          <p:nvPr>
            <p:extLst>
              <p:ext uri="{D42A27DB-BD31-4B8C-83A1-F6EECF244321}">
                <p14:modId xmlns:p14="http://schemas.microsoft.com/office/powerpoint/2010/main" val="1832576348"/>
              </p:ext>
            </p:extLst>
          </p:nvPr>
        </p:nvGraphicFramePr>
        <p:xfrm>
          <a:off x="4180093" y="4901279"/>
          <a:ext cx="2081212" cy="406400"/>
        </p:xfrm>
        <a:graphic>
          <a:graphicData uri="http://schemas.openxmlformats.org/presentationml/2006/ole">
            <mc:AlternateContent xmlns:mc="http://schemas.openxmlformats.org/markup-compatibility/2006">
              <mc:Choice xmlns:v="urn:schemas-microsoft-com:vml" Requires="v">
                <p:oleObj spid="_x0000_s64691" name="Equation" r:id="rId7" imgW="1040948" imgH="203112" progId="Equation.DSMT4">
                  <p:embed/>
                </p:oleObj>
              </mc:Choice>
              <mc:Fallback>
                <p:oleObj name="Equation" r:id="rId7" imgW="1040948" imgH="203112" progId="Equation.DSMT4">
                  <p:embed/>
                  <p:pic>
                    <p:nvPicPr>
                      <p:cNvPr id="23561"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0093" y="4901279"/>
                        <a:ext cx="2081212" cy="4064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4"/>
          <p:cNvGraphicFramePr>
            <a:graphicFrameLocks noChangeAspect="1"/>
          </p:cNvGraphicFramePr>
          <p:nvPr>
            <p:extLst>
              <p:ext uri="{D42A27DB-BD31-4B8C-83A1-F6EECF244321}">
                <p14:modId xmlns:p14="http://schemas.microsoft.com/office/powerpoint/2010/main" val="2375403658"/>
              </p:ext>
            </p:extLst>
          </p:nvPr>
        </p:nvGraphicFramePr>
        <p:xfrm>
          <a:off x="2875168" y="2223167"/>
          <a:ext cx="2184400" cy="787400"/>
        </p:xfrm>
        <a:graphic>
          <a:graphicData uri="http://schemas.openxmlformats.org/presentationml/2006/ole">
            <mc:AlternateContent xmlns:mc="http://schemas.openxmlformats.org/markup-compatibility/2006">
              <mc:Choice xmlns:v="urn:schemas-microsoft-com:vml" Requires="v">
                <p:oleObj spid="_x0000_s64692" name="Equation" r:id="rId9" imgW="1091726" imgH="393529" progId="Equation.DSMT4">
                  <p:embed/>
                </p:oleObj>
              </mc:Choice>
              <mc:Fallback>
                <p:oleObj name="Equation" r:id="rId9" imgW="1091726" imgH="393529" progId="Equation.DSMT4">
                  <p:embed/>
                  <p:pic>
                    <p:nvPicPr>
                      <p:cNvPr id="23562"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5168" y="2223167"/>
                        <a:ext cx="21844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883363071"/>
              </p:ext>
            </p:extLst>
          </p:nvPr>
        </p:nvGraphicFramePr>
        <p:xfrm>
          <a:off x="3287918" y="3412204"/>
          <a:ext cx="2743200" cy="965200"/>
        </p:xfrm>
        <a:graphic>
          <a:graphicData uri="http://schemas.openxmlformats.org/presentationml/2006/ole">
            <mc:AlternateContent xmlns:mc="http://schemas.openxmlformats.org/markup-compatibility/2006">
              <mc:Choice xmlns:v="urn:schemas-microsoft-com:vml" Requires="v">
                <p:oleObj spid="_x0000_s64693" name="公式" r:id="rId11" imgW="1371600" imgH="482600" progId="Equation.3">
                  <p:embed/>
                </p:oleObj>
              </mc:Choice>
              <mc:Fallback>
                <p:oleObj name="公式" r:id="rId11" imgW="1371600" imgH="482600" progId="Equation.3">
                  <p:embed/>
                  <p:pic>
                    <p:nvPicPr>
                      <p:cNvPr id="23563"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7918" y="3412204"/>
                        <a:ext cx="2743200" cy="9652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22455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30</a:t>
            </a:fld>
            <a:endParaRPr lang="zh-CN" altLang="en-US"/>
          </a:p>
        </p:txBody>
      </p:sp>
      <p:sp>
        <p:nvSpPr>
          <p:cNvPr id="3" name="Text Box 3"/>
          <p:cNvSpPr txBox="1">
            <a:spLocks noChangeArrowheads="1"/>
          </p:cNvSpPr>
          <p:nvPr/>
        </p:nvSpPr>
        <p:spPr bwMode="auto">
          <a:xfrm>
            <a:off x="510253" y="622505"/>
            <a:ext cx="8188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spcBef>
                <a:spcPct val="0"/>
              </a:spcBef>
              <a:spcAft>
                <a:spcPct val="0"/>
              </a:spcAft>
            </a:pPr>
            <a:r>
              <a:rPr kumimoji="1" lang="en-US" altLang="zh-CN" sz="2400" b="1" dirty="0" smtClean="0">
                <a:solidFill>
                  <a:srgbClr val="FF3300"/>
                </a:solidFill>
                <a:latin typeface="Times New Roman" panose="02020603050405020304" pitchFamily="18" charset="0"/>
                <a:ea typeface="宋体" panose="02010600030101010101" pitchFamily="2" charset="-122"/>
              </a:rPr>
              <a:t>2</a:t>
            </a:r>
            <a:r>
              <a:rPr kumimoji="1" lang="zh-CN" altLang="en-US" sz="2400" b="1" dirty="0" smtClean="0">
                <a:solidFill>
                  <a:srgbClr val="FF3300"/>
                </a:solidFill>
                <a:latin typeface="Times New Roman" panose="02020603050405020304" pitchFamily="18" charset="0"/>
                <a:ea typeface="宋体" panose="02010600030101010101" pitchFamily="2" charset="-122"/>
              </a:rPr>
              <a:t>）</a:t>
            </a:r>
            <a:r>
              <a:rPr kumimoji="1" lang="en-US" altLang="zh-CN" sz="2400" b="1" dirty="0" smtClean="0">
                <a:solidFill>
                  <a:srgbClr val="FF3300"/>
                </a:solidFill>
                <a:latin typeface="Times New Roman" panose="02020603050405020304" pitchFamily="18" charset="0"/>
                <a:ea typeface="宋体" panose="02010600030101010101" pitchFamily="2" charset="-122"/>
              </a:rPr>
              <a:t> M/S</a:t>
            </a:r>
            <a:r>
              <a:rPr kumimoji="1" lang="zh-CN" altLang="en-US" sz="2400" b="1" dirty="0" smtClean="0">
                <a:solidFill>
                  <a:srgbClr val="FF3300"/>
                </a:solidFill>
                <a:latin typeface="宋体" panose="02010600030101010101" pitchFamily="2" charset="-122"/>
                <a:ea typeface="宋体" panose="02010600030101010101" pitchFamily="2" charset="-122"/>
              </a:rPr>
              <a:t>接触中的界面（表面）态及其对势垒高度的调制</a:t>
            </a:r>
          </a:p>
          <a:p>
            <a:pPr algn="just" defTabSz="914400" eaLnBrk="0" fontAlgn="base" hangingPunct="0">
              <a:spcBef>
                <a:spcPct val="0"/>
              </a:spcBef>
              <a:spcAft>
                <a:spcPct val="0"/>
              </a:spcAft>
            </a:pPr>
            <a:r>
              <a:rPr kumimoji="1" lang="zh-CN" altLang="en-US" sz="2400" b="1" dirty="0" smtClean="0">
                <a:solidFill>
                  <a:srgbClr val="FF3300"/>
                </a:solidFill>
                <a:latin typeface="宋体" panose="02010600030101010101" pitchFamily="2" charset="-122"/>
                <a:ea typeface="宋体" panose="02010600030101010101" pitchFamily="2" charset="-122"/>
              </a:rPr>
              <a:t>   </a:t>
            </a:r>
            <a:r>
              <a:rPr kumimoji="1" lang="zh-CN" altLang="en-US" sz="2400" b="1" dirty="0" smtClean="0">
                <a:solidFill>
                  <a:srgbClr val="333399"/>
                </a:solidFill>
                <a:ea typeface="宋体" panose="02010600030101010101" pitchFamily="2" charset="-122"/>
              </a:rPr>
              <a:t>（重点讨论界面态作用）</a:t>
            </a:r>
            <a:endParaRPr kumimoji="1" lang="zh-CN" altLang="en-US" sz="2400" b="1" dirty="0" smtClean="0">
              <a:solidFill>
                <a:srgbClr val="FF3300"/>
              </a:solidFill>
              <a:latin typeface="Times New Roman" panose="02020603050405020304" pitchFamily="18" charset="0"/>
              <a:ea typeface="宋体" panose="02010600030101010101" pitchFamily="2" charset="-122"/>
            </a:endParaRPr>
          </a:p>
        </p:txBody>
      </p:sp>
      <p:sp>
        <p:nvSpPr>
          <p:cNvPr id="4" name="Text Box 4"/>
          <p:cNvSpPr txBox="1">
            <a:spLocks noChangeArrowheads="1"/>
          </p:cNvSpPr>
          <p:nvPr/>
        </p:nvSpPr>
        <p:spPr bwMode="auto">
          <a:xfrm>
            <a:off x="510253" y="1444830"/>
            <a:ext cx="8188325"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2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如果</a:t>
            </a:r>
            <a:r>
              <a:rPr kumimoji="1" lang="en-US" altLang="zh-CN" sz="2400" b="1" smtClean="0">
                <a:solidFill>
                  <a:srgbClr val="000000"/>
                </a:solidFill>
                <a:latin typeface="Times New Roman" panose="02020603050405020304" pitchFamily="18" charset="0"/>
                <a:ea typeface="宋体" panose="02010600030101010101" pitchFamily="2" charset="-122"/>
              </a:rPr>
              <a:t>M/S</a:t>
            </a:r>
            <a:r>
              <a:rPr kumimoji="1" lang="zh-CN" altLang="en-US" sz="2400" b="1" smtClean="0">
                <a:solidFill>
                  <a:srgbClr val="000000"/>
                </a:solidFill>
                <a:latin typeface="Times New Roman" panose="02020603050405020304" pitchFamily="18" charset="0"/>
                <a:ea typeface="宋体" panose="02010600030101010101" pitchFamily="2" charset="-122"/>
              </a:rPr>
              <a:t>界面存在界面态（如</a:t>
            </a:r>
            <a:r>
              <a:rPr kumimoji="1" lang="en-US" altLang="zh-CN" sz="2400" b="1" smtClean="0">
                <a:solidFill>
                  <a:srgbClr val="000000"/>
                </a:solidFill>
                <a:latin typeface="Times New Roman" panose="02020603050405020304" pitchFamily="18" charset="0"/>
                <a:ea typeface="宋体" panose="02010600030101010101" pitchFamily="2" charset="-122"/>
              </a:rPr>
              <a:t>Si</a:t>
            </a:r>
            <a:r>
              <a:rPr kumimoji="1" lang="zh-CN" altLang="en-US" sz="2400" b="1" smtClean="0">
                <a:solidFill>
                  <a:srgbClr val="000000"/>
                </a:solidFill>
                <a:latin typeface="Times New Roman" panose="02020603050405020304" pitchFamily="18" charset="0"/>
                <a:ea typeface="宋体" panose="02010600030101010101" pitchFamily="2" charset="-122"/>
              </a:rPr>
              <a:t>表面态），则会对肖特基势垒产生显著的影响。</a:t>
            </a:r>
            <a:r>
              <a:rPr kumimoji="1" lang="zh-CN" altLang="en-US" sz="2400" b="1" smtClean="0">
                <a:solidFill>
                  <a:srgbClr val="0000FF"/>
                </a:solidFill>
                <a:latin typeface="Times New Roman" panose="02020603050405020304" pitchFamily="18" charset="0"/>
                <a:ea typeface="宋体" panose="02010600030101010101" pitchFamily="2" charset="-122"/>
              </a:rPr>
              <a:t>多种因素会产生界面态</a:t>
            </a:r>
            <a:r>
              <a:rPr kumimoji="1" lang="zh-CN" altLang="en-US" sz="2400" b="1" smtClean="0">
                <a:solidFill>
                  <a:srgbClr val="000000"/>
                </a:solidFill>
                <a:latin typeface="Times New Roman" panose="02020603050405020304" pitchFamily="18" charset="0"/>
                <a:ea typeface="宋体" panose="02010600030101010101" pitchFamily="2" charset="-122"/>
              </a:rPr>
              <a:t>。</a:t>
            </a: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b="5672"/>
          <a:stretch>
            <a:fillRect/>
          </a:stretch>
        </p:blipFill>
        <p:spPr bwMode="auto">
          <a:xfrm>
            <a:off x="221328" y="2475118"/>
            <a:ext cx="3889375"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4182141" y="2510419"/>
            <a:ext cx="4679950" cy="3139321"/>
          </a:xfrm>
          <a:prstGeom prst="rect">
            <a:avLst/>
          </a:prstGeom>
          <a:noFill/>
          <a:ln>
            <a:noFill/>
          </a:ln>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defTabSz="914400" eaLnBrk="0" fontAlgn="base" hangingPunct="0">
              <a:spcBef>
                <a:spcPct val="50000"/>
              </a:spcBef>
              <a:spcAft>
                <a:spcPct val="0"/>
              </a:spcAft>
              <a:defRPr/>
            </a:pPr>
            <a:r>
              <a:rPr kumimoji="1" lang="zh-CN" altLang="en-US" sz="2200" b="1" dirty="0" smtClean="0">
                <a:solidFill>
                  <a:srgbClr val="000000"/>
                </a:solidFill>
                <a:latin typeface="Times New Roman" pitchFamily="18" charset="0"/>
                <a:ea typeface="宋体" pitchFamily="2" charset="-122"/>
              </a:rPr>
              <a:t>表面态的存在使得接触界面产生界面电荷陷阱作用，影响表面势和势垒高度及表面费米能级。</a:t>
            </a:r>
            <a:r>
              <a:rPr kumimoji="1" lang="zh-CN" altLang="en-US" sz="2200" b="1" dirty="0" smtClean="0">
                <a:solidFill>
                  <a:srgbClr val="FF0000"/>
                </a:solidFill>
                <a:latin typeface="Times New Roman" pitchFamily="18" charset="0"/>
                <a:ea typeface="宋体" pitchFamily="2" charset="-122"/>
              </a:rPr>
              <a:t>界面态</a:t>
            </a:r>
            <a:r>
              <a:rPr kumimoji="1" lang="zh-CN" altLang="en-US" sz="2200" b="1" dirty="0" smtClean="0">
                <a:solidFill>
                  <a:srgbClr val="000000"/>
                </a:solidFill>
                <a:latin typeface="Times New Roman" pitchFamily="18" charset="0"/>
                <a:ea typeface="宋体" pitchFamily="2" charset="-122"/>
              </a:rPr>
              <a:t>陷阱可区分为施主、受主两种类型：</a:t>
            </a:r>
          </a:p>
          <a:p>
            <a:pPr marL="342900" indent="-342900" defTabSz="914400" eaLnBrk="0" fontAlgn="base" hangingPunct="0">
              <a:spcBef>
                <a:spcPct val="50000"/>
              </a:spcBef>
              <a:spcAft>
                <a:spcPct val="0"/>
              </a:spcAft>
              <a:buFont typeface="Arial" pitchFamily="34" charset="0"/>
              <a:buChar char="•"/>
              <a:defRPr/>
            </a:pPr>
            <a:r>
              <a:rPr kumimoji="1" lang="zh-CN" altLang="en-US" sz="2200" b="1" dirty="0" smtClean="0">
                <a:solidFill>
                  <a:srgbClr val="000000"/>
                </a:solidFill>
                <a:latin typeface="Times New Roman" pitchFamily="18" charset="0"/>
                <a:ea typeface="宋体" pitchFamily="2" charset="-122"/>
              </a:rPr>
              <a:t>施主型：界面态有电子填充时为电中性，无电子填充时带正电；</a:t>
            </a:r>
          </a:p>
          <a:p>
            <a:pPr marL="342900" indent="-342900" defTabSz="914400" eaLnBrk="0" fontAlgn="base" hangingPunct="0">
              <a:spcBef>
                <a:spcPct val="50000"/>
              </a:spcBef>
              <a:spcAft>
                <a:spcPct val="0"/>
              </a:spcAft>
              <a:buFont typeface="Arial" pitchFamily="34" charset="0"/>
              <a:buChar char="•"/>
              <a:defRPr/>
            </a:pPr>
            <a:r>
              <a:rPr kumimoji="1" lang="zh-CN" altLang="en-US" sz="2200" b="1" dirty="0" smtClean="0">
                <a:solidFill>
                  <a:srgbClr val="000000"/>
                </a:solidFill>
                <a:latin typeface="Times New Roman" pitchFamily="18" charset="0"/>
                <a:ea typeface="宋体" pitchFamily="2" charset="-122"/>
              </a:rPr>
              <a:t>受主型：界面态无电子填充时为电中性，有电子填充时带负电；</a:t>
            </a:r>
          </a:p>
        </p:txBody>
      </p:sp>
    </p:spTree>
    <p:extLst>
      <p:ext uri="{BB962C8B-B14F-4D97-AF65-F5344CB8AC3E}">
        <p14:creationId xmlns:p14="http://schemas.microsoft.com/office/powerpoint/2010/main" val="257423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31</a:t>
            </a:fld>
            <a:endParaRPr lang="zh-CN" altLang="en-US"/>
          </a:p>
        </p:txBody>
      </p:sp>
      <p:pic>
        <p:nvPicPr>
          <p:cNvPr id="7" name="Picture 7"/>
          <p:cNvPicPr>
            <a:picLocks noChangeAspect="1" noChangeArrowheads="1"/>
          </p:cNvPicPr>
          <p:nvPr/>
        </p:nvPicPr>
        <p:blipFill>
          <a:blip r:embed="rId2">
            <a:extLst>
              <a:ext uri="{28A0092B-C50C-407E-A947-70E740481C1C}">
                <a14:useLocalDpi xmlns:a14="http://schemas.microsoft.com/office/drawing/2010/main" val="0"/>
              </a:ext>
            </a:extLst>
          </a:blip>
          <a:srcRect l="3816" t="5984"/>
          <a:stretch>
            <a:fillRect/>
          </a:stretch>
        </p:blipFill>
        <p:spPr bwMode="auto">
          <a:xfrm>
            <a:off x="4841517" y="2866975"/>
            <a:ext cx="36576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p:cNvSpPr txBox="1">
            <a:spLocks noChangeArrowheads="1"/>
          </p:cNvSpPr>
          <p:nvPr/>
        </p:nvSpPr>
        <p:spPr bwMode="auto">
          <a:xfrm>
            <a:off x="579079" y="4094112"/>
            <a:ext cx="799465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marL="341313" indent="-3413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0"/>
              </a:spcBef>
              <a:spcAft>
                <a:spcPct val="0"/>
              </a:spcAft>
              <a:buFont typeface="Wingdings" panose="05000000000000000000" pitchFamily="2" charset="2"/>
              <a:buChar char="u"/>
            </a:pPr>
            <a:r>
              <a:rPr kumimoji="1" lang="zh-CN" altLang="en-US" sz="2400" b="1" smtClean="0">
                <a:solidFill>
                  <a:srgbClr val="000000"/>
                </a:solidFill>
                <a:latin typeface="Times New Roman" panose="02020603050405020304" pitchFamily="18" charset="0"/>
                <a:ea typeface="宋体" panose="02010600030101010101" pitchFamily="2" charset="-122"/>
              </a:rPr>
              <a:t>如果费米能级 </a:t>
            </a:r>
            <a:r>
              <a:rPr kumimoji="1" lang="en-US" altLang="zh-CN" sz="2400" b="1" i="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f</a:t>
            </a:r>
            <a:r>
              <a:rPr kumimoji="1" lang="en-US" altLang="zh-CN" sz="2400" b="1" baseline="-25000" smtClean="0">
                <a:solidFill>
                  <a:srgbClr val="000000"/>
                </a:solidFill>
                <a:latin typeface="Times New Roman" panose="02020603050405020304" pitchFamily="18" charset="0"/>
                <a:ea typeface="宋体" panose="02010600030101010101" pitchFamily="2" charset="-122"/>
              </a:rPr>
              <a:t> </a:t>
            </a:r>
            <a:r>
              <a:rPr kumimoji="1" lang="zh-CN" altLang="en-US" sz="2400" b="1" smtClean="0">
                <a:solidFill>
                  <a:srgbClr val="000000"/>
                </a:solidFill>
                <a:latin typeface="Times New Roman" panose="02020603050405020304" pitchFamily="18" charset="0"/>
                <a:ea typeface="宋体" panose="02010600030101010101" pitchFamily="2" charset="-122"/>
              </a:rPr>
              <a:t>比界面陷阱能级 </a:t>
            </a:r>
            <a:r>
              <a:rPr kumimoji="1" lang="en-US" altLang="zh-CN" sz="2400" b="1" i="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t</a:t>
            </a:r>
            <a:r>
              <a:rPr kumimoji="1" lang="en-US" altLang="zh-CN" sz="2400" b="1" baseline="-25000" smtClean="0">
                <a:solidFill>
                  <a:srgbClr val="000000"/>
                </a:solidFill>
                <a:latin typeface="Times New Roman" panose="02020603050405020304" pitchFamily="18" charset="0"/>
                <a:ea typeface="宋体" panose="02010600030101010101" pitchFamily="2" charset="-122"/>
              </a:rPr>
              <a:t> </a:t>
            </a:r>
            <a:r>
              <a:rPr kumimoji="1" lang="zh-CN" altLang="en-US" sz="2400" b="1" smtClean="0">
                <a:solidFill>
                  <a:srgbClr val="000000"/>
                </a:solidFill>
                <a:latin typeface="Times New Roman" panose="02020603050405020304" pitchFamily="18" charset="0"/>
                <a:ea typeface="宋体" panose="02010600030101010101" pitchFamily="2" charset="-122"/>
              </a:rPr>
              <a:t>低，界面陷阱将像施主杂质一样，可以提供电子而带正电荷。因此在趋于平衡过程中，界面态可以贡献电子和固定正电荷，使系统达到平衡。</a:t>
            </a:r>
            <a:r>
              <a:rPr kumimoji="1" lang="zh-CN" altLang="en-US" sz="2400" b="1" i="1"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1" baseline="-25000" smtClean="0">
                <a:solidFill>
                  <a:srgbClr val="000000"/>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2400" b="1" smtClean="0">
                <a:solidFill>
                  <a:srgbClr val="000000"/>
                </a:solidFill>
                <a:latin typeface="Times New Roman" panose="02020603050405020304" pitchFamily="18" charset="0"/>
                <a:ea typeface="宋体" panose="02010600030101010101" pitchFamily="2" charset="-122"/>
              </a:rPr>
              <a:t>  </a:t>
            </a:r>
            <a:r>
              <a:rPr kumimoji="1" lang="zh-CN" altLang="en-US" sz="2400" b="1" smtClean="0">
                <a:solidFill>
                  <a:srgbClr val="000000"/>
                </a:solidFill>
                <a:latin typeface="Times New Roman" panose="02020603050405020304" pitchFamily="18" charset="0"/>
                <a:ea typeface="宋体" panose="02010600030101010101" pitchFamily="2" charset="-122"/>
              </a:rPr>
              <a:t>和 </a:t>
            </a:r>
            <a:r>
              <a:rPr kumimoji="1" lang="en-US" altLang="zh-CN" sz="2400" b="1" i="1" smtClean="0">
                <a:solidFill>
                  <a:srgbClr val="000000"/>
                </a:solidFill>
                <a:latin typeface="Times New Roman" panose="02020603050405020304" pitchFamily="18" charset="0"/>
                <a:ea typeface="宋体" panose="02010600030101010101" pitchFamily="2" charset="-122"/>
              </a:rPr>
              <a:t>x</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d</a:t>
            </a:r>
            <a:r>
              <a:rPr kumimoji="1" lang="en-US" altLang="zh-CN" sz="2400" b="1" smtClean="0">
                <a:solidFill>
                  <a:srgbClr val="000000"/>
                </a:solidFill>
                <a:latin typeface="Times New Roman" panose="02020603050405020304" pitchFamily="18" charset="0"/>
                <a:ea typeface="宋体" panose="02010600030101010101" pitchFamily="2" charset="-122"/>
              </a:rPr>
              <a:t> </a:t>
            </a:r>
            <a:r>
              <a:rPr kumimoji="1" lang="zh-CN" altLang="en-US" sz="2400" b="1" smtClean="0">
                <a:solidFill>
                  <a:srgbClr val="000000"/>
                </a:solidFill>
                <a:latin typeface="Times New Roman" panose="02020603050405020304" pitchFamily="18" charset="0"/>
                <a:ea typeface="宋体" panose="02010600030101010101" pitchFamily="2" charset="-122"/>
              </a:rPr>
              <a:t>都会相应减小。</a:t>
            </a:r>
          </a:p>
        </p:txBody>
      </p:sp>
      <p:sp>
        <p:nvSpPr>
          <p:cNvPr id="9" name="Rectangle 5"/>
          <p:cNvSpPr>
            <a:spLocks noChangeArrowheads="1"/>
          </p:cNvSpPr>
          <p:nvPr/>
        </p:nvSpPr>
        <p:spPr bwMode="auto">
          <a:xfrm>
            <a:off x="579079" y="2920950"/>
            <a:ext cx="433546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fontAlgn="base">
              <a:lnSpc>
                <a:spcPct val="110000"/>
              </a:lnSpc>
              <a:spcBef>
                <a:spcPct val="0"/>
              </a:spcBef>
              <a:spcAft>
                <a:spcPct val="0"/>
              </a:spcAft>
              <a:buFont typeface="Wingdings" panose="05000000000000000000" pitchFamily="2" charset="2"/>
              <a:buChar char="u"/>
            </a:pPr>
            <a:r>
              <a:rPr kumimoji="1" lang="zh-CN" altLang="en-US" sz="2400" b="1" smtClean="0">
                <a:solidFill>
                  <a:srgbClr val="000000"/>
                </a:solidFill>
                <a:latin typeface="Times New Roman" panose="02020603050405020304" pitchFamily="18" charset="0"/>
                <a:ea typeface="宋体" panose="02010600030101010101" pitchFamily="2" charset="-122"/>
              </a:rPr>
              <a:t>假设类施主型界面态存在，陷阱能级为 </a:t>
            </a:r>
            <a:r>
              <a:rPr kumimoji="1" lang="en-US" altLang="zh-CN" sz="2400" b="1" i="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t </a:t>
            </a:r>
            <a:r>
              <a:rPr kumimoji="1" lang="zh-CN" altLang="en-US" sz="2400" b="1" smtClean="0">
                <a:solidFill>
                  <a:srgbClr val="000000"/>
                </a:solidFill>
                <a:latin typeface="Times New Roman" panose="02020603050405020304" pitchFamily="18" charset="0"/>
                <a:ea typeface="宋体" panose="02010600030101010101" pitchFamily="2" charset="-122"/>
              </a:rPr>
              <a:t>如右图所示：</a:t>
            </a:r>
          </a:p>
        </p:txBody>
      </p:sp>
      <p:sp>
        <p:nvSpPr>
          <p:cNvPr id="10" name="Rectangle 6"/>
          <p:cNvSpPr>
            <a:spLocks noChangeArrowheads="1"/>
          </p:cNvSpPr>
          <p:nvPr/>
        </p:nvSpPr>
        <p:spPr bwMode="auto">
          <a:xfrm>
            <a:off x="579079" y="725437"/>
            <a:ext cx="792003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0"/>
              </a:spcBef>
              <a:spcAft>
                <a:spcPct val="0"/>
              </a:spcAft>
              <a:buFont typeface="Wingdings" panose="05000000000000000000" pitchFamily="2" charset="2"/>
              <a:buChar char="u"/>
            </a:pPr>
            <a:r>
              <a:rPr kumimoji="1" lang="zh-CN" altLang="en-US" sz="2400" b="1" dirty="0" smtClean="0">
                <a:solidFill>
                  <a:srgbClr val="000000"/>
                </a:solidFill>
                <a:latin typeface="Times New Roman" panose="02020603050405020304" pitchFamily="18" charset="0"/>
                <a:ea typeface="宋体" panose="02010600030101010101" pitchFamily="2" charset="-122"/>
              </a:rPr>
              <a:t>如果界面态足够大，则系统要达到平衡所需的电荷再分布要考虑界面态的影响。表面电子和固定正电荷都由界面陷阱来提供，在表面的费米能级 </a:t>
            </a:r>
            <a:r>
              <a:rPr kumimoji="1" lang="en-US" altLang="zh-CN" sz="2400" b="1" i="1" dirty="0" err="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err="1" smtClean="0">
                <a:solidFill>
                  <a:srgbClr val="000000"/>
                </a:solidFill>
                <a:latin typeface="Times New Roman" panose="02020603050405020304" pitchFamily="18" charset="0"/>
                <a:ea typeface="宋体" panose="02010600030101010101" pitchFamily="2" charset="-122"/>
              </a:rPr>
              <a:t>f</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 </a:t>
            </a:r>
            <a:r>
              <a:rPr kumimoji="1" lang="zh-CN" altLang="en-US" sz="2400" b="1" dirty="0" smtClean="0">
                <a:solidFill>
                  <a:srgbClr val="000000"/>
                </a:solidFill>
                <a:latin typeface="Times New Roman" panose="02020603050405020304" pitchFamily="18" charset="0"/>
                <a:ea typeface="宋体" panose="02010600030101010101" pitchFamily="2" charset="-122"/>
              </a:rPr>
              <a:t>将被钉扎在</a:t>
            </a:r>
            <a:r>
              <a:rPr kumimoji="1" lang="en-US" altLang="zh-CN" sz="2400" b="1" i="1" dirty="0"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t</a:t>
            </a:r>
            <a:r>
              <a:rPr kumimoji="1" lang="en-US" altLang="zh-CN" sz="2400" b="1" baseline="-25000" dirty="0" smtClean="0">
                <a:solidFill>
                  <a:srgbClr val="000000"/>
                </a:solidFill>
                <a:latin typeface="Times New Roman" panose="02020603050405020304" pitchFamily="18" charset="0"/>
                <a:ea typeface="宋体" panose="02010600030101010101" pitchFamily="2" charset="-122"/>
              </a:rPr>
              <a:t> </a:t>
            </a:r>
            <a:r>
              <a:rPr kumimoji="1" lang="zh-CN" altLang="en-US" sz="2400" b="1" dirty="0" smtClean="0">
                <a:solidFill>
                  <a:srgbClr val="000000"/>
                </a:solidFill>
                <a:latin typeface="Times New Roman" panose="02020603050405020304" pitchFamily="18" charset="0"/>
                <a:ea typeface="宋体" panose="02010600030101010101" pitchFamily="2" charset="-122"/>
              </a:rPr>
              <a:t>附近。（因为费米能级 </a:t>
            </a:r>
            <a:r>
              <a:rPr kumimoji="1" lang="en-US" altLang="zh-CN" sz="2400" b="1" i="1" dirty="0" err="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err="1" smtClean="0">
                <a:solidFill>
                  <a:srgbClr val="000000"/>
                </a:solidFill>
                <a:latin typeface="Times New Roman" panose="02020603050405020304" pitchFamily="18" charset="0"/>
                <a:ea typeface="宋体" panose="02010600030101010101" pitchFamily="2" charset="-122"/>
              </a:rPr>
              <a:t>f</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 </a:t>
            </a:r>
            <a:r>
              <a:rPr kumimoji="1" lang="zh-CN" altLang="en-US" sz="2400" b="1" dirty="0" smtClean="0">
                <a:solidFill>
                  <a:srgbClr val="000000"/>
                </a:solidFill>
                <a:latin typeface="Times New Roman" panose="02020603050405020304" pitchFamily="18" charset="0"/>
                <a:ea typeface="宋体" panose="02010600030101010101" pitchFamily="2" charset="-122"/>
              </a:rPr>
              <a:t>在界面陷阱能级 </a:t>
            </a:r>
            <a:r>
              <a:rPr kumimoji="1" lang="en-US" altLang="zh-CN" sz="2400" b="1" i="1" dirty="0"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t</a:t>
            </a:r>
            <a:r>
              <a:rPr kumimoji="1" lang="en-US" altLang="zh-CN" sz="2400" b="1" baseline="-25000" dirty="0" smtClean="0">
                <a:solidFill>
                  <a:srgbClr val="000000"/>
                </a:solidFill>
                <a:latin typeface="Times New Roman" panose="02020603050405020304" pitchFamily="18" charset="0"/>
                <a:ea typeface="宋体" panose="02010600030101010101" pitchFamily="2" charset="-122"/>
              </a:rPr>
              <a:t> </a:t>
            </a:r>
            <a:r>
              <a:rPr kumimoji="1" lang="zh-CN" altLang="en-US" sz="2400" b="1" dirty="0" smtClean="0">
                <a:solidFill>
                  <a:srgbClr val="000000"/>
                </a:solidFill>
                <a:latin typeface="Times New Roman" panose="02020603050405020304" pitchFamily="18" charset="0"/>
                <a:ea typeface="宋体" panose="02010600030101010101" pitchFamily="2" charset="-122"/>
              </a:rPr>
              <a:t>附近很小的变化将使得电子和正电荷浓度有很大变化）</a:t>
            </a:r>
          </a:p>
        </p:txBody>
      </p:sp>
    </p:spTree>
    <p:extLst>
      <p:ext uri="{BB962C8B-B14F-4D97-AF65-F5344CB8AC3E}">
        <p14:creationId xmlns:p14="http://schemas.microsoft.com/office/powerpoint/2010/main" val="19820979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32</a:t>
            </a:fld>
            <a:endParaRPr lang="zh-CN" altLang="en-US"/>
          </a:p>
        </p:txBody>
      </p:sp>
      <p:sp>
        <p:nvSpPr>
          <p:cNvPr id="3" name="Text Box 4"/>
          <p:cNvSpPr txBox="1">
            <a:spLocks noChangeArrowheads="1"/>
          </p:cNvSpPr>
          <p:nvPr/>
        </p:nvSpPr>
        <p:spPr bwMode="auto">
          <a:xfrm>
            <a:off x="431596" y="255690"/>
            <a:ext cx="792480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20000"/>
              </a:lnSpc>
              <a:spcBef>
                <a:spcPct val="5000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rPr>
              <a:t>                         和内置电势不仅由材料特性（功函数和亲和势）决定，而且和工艺技术问题有关。实验发现，界面态经常在 </a:t>
            </a:r>
            <a:r>
              <a:rPr kumimoji="1" lang="en-US" altLang="zh-CN" sz="2400" b="1" i="1" dirty="0"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t</a:t>
            </a:r>
            <a:r>
              <a:rPr kumimoji="1" lang="zh-CN" altLang="en-US" sz="2400" b="1" dirty="0" smtClean="0">
                <a:solidFill>
                  <a:srgbClr val="000000"/>
                </a:solidFill>
                <a:latin typeface="Times New Roman" panose="02020603050405020304" pitchFamily="18" charset="0"/>
                <a:ea typeface="宋体" panose="02010600030101010101" pitchFamily="2" charset="-122"/>
              </a:rPr>
              <a:t>＝</a:t>
            </a:r>
            <a:r>
              <a:rPr kumimoji="1" lang="en-US" altLang="zh-CN" sz="2400" b="1" i="1" dirty="0"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V</a:t>
            </a:r>
            <a:r>
              <a:rPr kumimoji="1" lang="zh-CN" altLang="en-US" sz="2400" b="1" dirty="0" smtClean="0">
                <a:solidFill>
                  <a:srgbClr val="000000"/>
                </a:solidFill>
                <a:latin typeface="Times New Roman" panose="02020603050405020304" pitchFamily="18" charset="0"/>
                <a:ea typeface="宋体" panose="02010600030101010101" pitchFamily="2" charset="-122"/>
              </a:rPr>
              <a:t>＋</a:t>
            </a:r>
            <a:r>
              <a:rPr kumimoji="1" lang="en-US" altLang="zh-CN" sz="2400" b="1" i="1" dirty="0" err="1" smtClean="0">
                <a:solidFill>
                  <a:srgbClr val="000000"/>
                </a:solidFill>
                <a:latin typeface="Times New Roman" panose="02020603050405020304" pitchFamily="18" charset="0"/>
                <a:ea typeface="宋体" panose="02010600030101010101" pitchFamily="2" charset="-122"/>
              </a:rPr>
              <a:t>E</a:t>
            </a:r>
            <a:r>
              <a:rPr kumimoji="1" lang="en-US" altLang="zh-CN" sz="2400" b="1" i="1" baseline="-25000" dirty="0" err="1" smtClean="0">
                <a:solidFill>
                  <a:srgbClr val="000000"/>
                </a:solidFill>
                <a:latin typeface="Times New Roman" panose="02020603050405020304" pitchFamily="18" charset="0"/>
                <a:ea typeface="宋体" panose="02010600030101010101" pitchFamily="2" charset="-122"/>
              </a:rPr>
              <a:t>g</a:t>
            </a:r>
            <a:r>
              <a:rPr kumimoji="1" lang="en-US" altLang="zh-CN" sz="2400" b="1" i="1" baseline="-25000" dirty="0" smtClean="0">
                <a:solidFill>
                  <a:srgbClr val="000000"/>
                </a:solidFill>
                <a:latin typeface="Times New Roman" panose="02020603050405020304" pitchFamily="18" charset="0"/>
                <a:ea typeface="宋体" panose="02010600030101010101" pitchFamily="2" charset="-122"/>
              </a:rPr>
              <a:t> </a:t>
            </a:r>
            <a:r>
              <a:rPr kumimoji="1" lang="en-US" altLang="zh-CN" sz="2400" b="1" i="1" dirty="0" smtClean="0">
                <a:solidFill>
                  <a:srgbClr val="000000"/>
                </a:solidFill>
                <a:latin typeface="Times New Roman" panose="02020603050405020304" pitchFamily="18" charset="0"/>
                <a:ea typeface="宋体" panose="02010600030101010101" pitchFamily="2" charset="-122"/>
              </a:rPr>
              <a:t>/3</a:t>
            </a:r>
            <a:r>
              <a:rPr kumimoji="1" lang="zh-CN" altLang="en-US" sz="2400" b="1" dirty="0" smtClean="0">
                <a:solidFill>
                  <a:srgbClr val="000000"/>
                </a:solidFill>
                <a:latin typeface="Times New Roman" panose="02020603050405020304" pitchFamily="18" charset="0"/>
                <a:ea typeface="宋体" panose="02010600030101010101" pitchFamily="2" charset="-122"/>
              </a:rPr>
              <a:t>处有一个显著的峰。</a:t>
            </a:r>
          </a:p>
        </p:txBody>
      </p:sp>
      <p:graphicFrame>
        <p:nvGraphicFramePr>
          <p:cNvPr id="5" name="Object 6"/>
          <p:cNvGraphicFramePr>
            <a:graphicFrameLocks noChangeAspect="1"/>
          </p:cNvGraphicFramePr>
          <p:nvPr>
            <p:extLst>
              <p:ext uri="{D42A27DB-BD31-4B8C-83A1-F6EECF244321}">
                <p14:modId xmlns:p14="http://schemas.microsoft.com/office/powerpoint/2010/main" val="1122878812"/>
              </p:ext>
            </p:extLst>
          </p:nvPr>
        </p:nvGraphicFramePr>
        <p:xfrm>
          <a:off x="747509" y="220765"/>
          <a:ext cx="1727200" cy="584200"/>
        </p:xfrm>
        <a:graphic>
          <a:graphicData uri="http://schemas.openxmlformats.org/presentationml/2006/ole">
            <mc:AlternateContent xmlns:mc="http://schemas.openxmlformats.org/markup-compatibility/2006">
              <mc:Choice xmlns:v="urn:schemas-microsoft-com:vml" Requires="v">
                <p:oleObj spid="_x0000_s65819" name="公式" r:id="rId3" imgW="863225" imgH="291973" progId="Equation.3">
                  <p:embed/>
                </p:oleObj>
              </mc:Choice>
              <mc:Fallback>
                <p:oleObj name="公式" r:id="rId3" imgW="863225" imgH="291973" progId="Equation.3">
                  <p:embed/>
                  <p:pic>
                    <p:nvPicPr>
                      <p:cNvPr id="2662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509" y="220765"/>
                        <a:ext cx="172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4"/>
          <p:cNvSpPr txBox="1">
            <a:spLocks noChangeArrowheads="1"/>
          </p:cNvSpPr>
          <p:nvPr/>
        </p:nvSpPr>
        <p:spPr bwMode="auto">
          <a:xfrm>
            <a:off x="431596" y="1662215"/>
            <a:ext cx="819785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rPr>
              <a:t>如果界面态密度很高，费米能级被界面态完全钉扎（</a:t>
            </a:r>
            <a:r>
              <a:rPr kumimoji="1" lang="zh-CN" altLang="en-US" sz="2400" b="1" dirty="0" smtClean="0">
                <a:solidFill>
                  <a:srgbClr val="FF0000"/>
                </a:solidFill>
                <a:latin typeface="Times New Roman" panose="02020603050405020304" pitchFamily="18" charset="0"/>
                <a:ea typeface="宋体" panose="02010600030101010101" pitchFamily="2" charset="-122"/>
              </a:rPr>
              <a:t>费米钉扎</a:t>
            </a:r>
            <a:r>
              <a:rPr kumimoji="1" lang="zh-CN" altLang="en-US" sz="2400" b="1" dirty="0" smtClean="0">
                <a:solidFill>
                  <a:srgbClr val="000000"/>
                </a:solidFill>
                <a:latin typeface="Times New Roman" panose="02020603050405020304" pitchFamily="18" charset="0"/>
                <a:ea typeface="宋体" panose="02010600030101010101" pitchFamily="2" charset="-122"/>
              </a:rPr>
              <a:t>），则</a:t>
            </a:r>
            <a:r>
              <a:rPr kumimoji="1" lang="en-US" altLang="zh-CN" sz="2400" b="1" dirty="0" smtClean="0">
                <a:solidFill>
                  <a:srgbClr val="000000"/>
                </a:solidFill>
                <a:latin typeface="Times New Roman" panose="02020603050405020304" pitchFamily="18" charset="0"/>
                <a:ea typeface="宋体" panose="02010600030101010101" pitchFamily="2" charset="-122"/>
              </a:rPr>
              <a:t>N</a:t>
            </a:r>
            <a:r>
              <a:rPr kumimoji="1" lang="zh-CN" altLang="en-US" sz="2400" b="1" dirty="0" smtClean="0">
                <a:solidFill>
                  <a:srgbClr val="000000"/>
                </a:solidFill>
                <a:latin typeface="Times New Roman" panose="02020603050405020304" pitchFamily="18" charset="0"/>
                <a:ea typeface="宋体" panose="02010600030101010101" pitchFamily="2" charset="-122"/>
              </a:rPr>
              <a:t>型和</a:t>
            </a:r>
            <a:r>
              <a:rPr kumimoji="1" lang="en-US" altLang="zh-CN" sz="2400" b="1" dirty="0" smtClean="0">
                <a:solidFill>
                  <a:srgbClr val="000000"/>
                </a:solidFill>
                <a:latin typeface="Times New Roman" panose="02020603050405020304" pitchFamily="18" charset="0"/>
                <a:ea typeface="宋体" panose="02010600030101010101" pitchFamily="2" charset="-122"/>
              </a:rPr>
              <a:t>P</a:t>
            </a:r>
            <a:r>
              <a:rPr kumimoji="1" lang="zh-CN" altLang="en-US" sz="2400" b="1" dirty="0" smtClean="0">
                <a:solidFill>
                  <a:srgbClr val="000000"/>
                </a:solidFill>
                <a:latin typeface="Times New Roman" panose="02020603050405020304" pitchFamily="18" charset="0"/>
                <a:ea typeface="宋体" panose="02010600030101010101" pitchFamily="2" charset="-122"/>
              </a:rPr>
              <a:t>型材料所对应的势垒高度分别为：</a:t>
            </a:r>
          </a:p>
          <a:p>
            <a:pPr defTabSz="914400" eaLnBrk="0" fontAlgn="base" hangingPunct="0">
              <a:lnSpc>
                <a:spcPct val="110000"/>
              </a:lnSpc>
              <a:spcBef>
                <a:spcPct val="0"/>
              </a:spcBef>
              <a:spcAft>
                <a:spcPct val="0"/>
              </a:spcAft>
            </a:pPr>
            <a:endParaRPr kumimoji="1" lang="zh-CN" altLang="en-US" sz="2400" b="1" dirty="0" smtClean="0">
              <a:solidFill>
                <a:srgbClr val="000000"/>
              </a:solidFill>
              <a:latin typeface="Times New Roman" panose="02020603050405020304" pitchFamily="18" charset="0"/>
              <a:ea typeface="宋体" panose="02010600030101010101" pitchFamily="2" charset="-122"/>
            </a:endParaRPr>
          </a:p>
          <a:p>
            <a:pPr defTabSz="914400" eaLnBrk="0" fontAlgn="base" hangingPunct="0">
              <a:lnSpc>
                <a:spcPct val="110000"/>
              </a:lnSpc>
              <a:spcBef>
                <a:spcPct val="0"/>
              </a:spcBef>
              <a:spcAft>
                <a:spcPct val="0"/>
              </a:spcAft>
            </a:pPr>
            <a:endParaRPr kumimoji="1" lang="zh-CN" altLang="en-US" sz="2400" b="1" dirty="0" smtClean="0">
              <a:solidFill>
                <a:srgbClr val="000000"/>
              </a:solidFill>
              <a:latin typeface="Times New Roman" panose="02020603050405020304" pitchFamily="18" charset="0"/>
              <a:ea typeface="宋体" panose="02010600030101010101" pitchFamily="2" charset="-122"/>
            </a:endParaRPr>
          </a:p>
          <a:p>
            <a:pPr defTabSz="914400" eaLnBrk="0" fontAlgn="base" hangingPunct="0">
              <a:lnSpc>
                <a:spcPct val="110000"/>
              </a:lnSpc>
              <a:spcBef>
                <a:spcPct val="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rPr>
              <a:t>实际上，由于很难对 </a:t>
            </a:r>
            <a:r>
              <a:rPr kumimoji="1" lang="en-US" altLang="zh-CN" sz="2400" b="1" dirty="0" smtClean="0">
                <a:solidFill>
                  <a:srgbClr val="000000"/>
                </a:solidFill>
                <a:latin typeface="Times New Roman" panose="02020603050405020304" pitchFamily="18" charset="0"/>
                <a:ea typeface="宋体" panose="02010600030101010101" pitchFamily="2" charset="-122"/>
              </a:rPr>
              <a:t>E</a:t>
            </a:r>
            <a:r>
              <a:rPr kumimoji="1" lang="en-US" altLang="zh-CN" sz="2400" b="1" baseline="-25000" dirty="0" smtClean="0">
                <a:solidFill>
                  <a:srgbClr val="000000"/>
                </a:solidFill>
                <a:latin typeface="Times New Roman" panose="02020603050405020304" pitchFamily="18" charset="0"/>
                <a:ea typeface="宋体" panose="02010600030101010101" pitchFamily="2" charset="-122"/>
              </a:rPr>
              <a:t>t </a:t>
            </a:r>
            <a:r>
              <a:rPr kumimoji="1" lang="zh-CN" altLang="en-US" sz="2400" b="1" dirty="0" smtClean="0">
                <a:solidFill>
                  <a:srgbClr val="000000"/>
                </a:solidFill>
                <a:latin typeface="Times New Roman" panose="02020603050405020304" pitchFamily="18" charset="0"/>
                <a:ea typeface="宋体" panose="02010600030101010101" pitchFamily="2" charset="-122"/>
              </a:rPr>
              <a:t>进行理论预测 </a:t>
            </a:r>
            <a:r>
              <a:rPr kumimoji="1" lang="en-US" altLang="zh-CN" sz="2400" b="1" dirty="0" smtClean="0">
                <a:solidFill>
                  <a:srgbClr val="000000"/>
                </a:solidFill>
                <a:latin typeface="Times New Roman" panose="02020603050405020304" pitchFamily="18" charset="0"/>
                <a:ea typeface="宋体" panose="02010600030101010101" pitchFamily="2" charset="-122"/>
              </a:rPr>
              <a:t>(</a:t>
            </a:r>
            <a:r>
              <a:rPr kumimoji="1" lang="zh-CN" altLang="en-US" sz="2400" b="1" dirty="0" smtClean="0">
                <a:solidFill>
                  <a:srgbClr val="000000"/>
                </a:solidFill>
                <a:latin typeface="Times New Roman" panose="02020603050405020304" pitchFamily="18" charset="0"/>
                <a:ea typeface="宋体" panose="02010600030101010101" pitchFamily="2" charset="-122"/>
              </a:rPr>
              <a:t>依赖于工艺</a:t>
            </a:r>
            <a:r>
              <a:rPr kumimoji="1" lang="en-US" altLang="zh-CN" sz="2400" b="1" dirty="0" smtClean="0">
                <a:solidFill>
                  <a:srgbClr val="000000"/>
                </a:solidFill>
                <a:latin typeface="Times New Roman" panose="02020603050405020304" pitchFamily="18" charset="0"/>
                <a:ea typeface="宋体" panose="02010600030101010101" pitchFamily="2" charset="-122"/>
              </a:rPr>
              <a:t>)</a:t>
            </a:r>
            <a:r>
              <a:rPr kumimoji="1" lang="zh-CN" altLang="en-US" sz="2400" b="1" dirty="0" smtClean="0">
                <a:solidFill>
                  <a:srgbClr val="000000"/>
                </a:solidFill>
                <a:latin typeface="Times New Roman" panose="02020603050405020304" pitchFamily="18" charset="0"/>
                <a:ea typeface="宋体" panose="02010600030101010101" pitchFamily="2" charset="-122"/>
              </a:rPr>
              <a:t>，    和        通常需要通过实验进行测量 。</a:t>
            </a:r>
          </a:p>
        </p:txBody>
      </p:sp>
      <p:graphicFrame>
        <p:nvGraphicFramePr>
          <p:cNvPr id="9" name="Object 5"/>
          <p:cNvGraphicFramePr>
            <a:graphicFrameLocks noChangeAspect="1"/>
          </p:cNvGraphicFramePr>
          <p:nvPr>
            <p:extLst>
              <p:ext uri="{D42A27DB-BD31-4B8C-83A1-F6EECF244321}">
                <p14:modId xmlns:p14="http://schemas.microsoft.com/office/powerpoint/2010/main" val="1603984273"/>
              </p:ext>
            </p:extLst>
          </p:nvPr>
        </p:nvGraphicFramePr>
        <p:xfrm>
          <a:off x="7488034" y="3198915"/>
          <a:ext cx="411162" cy="525462"/>
        </p:xfrm>
        <a:graphic>
          <a:graphicData uri="http://schemas.openxmlformats.org/presentationml/2006/ole">
            <mc:AlternateContent xmlns:mc="http://schemas.openxmlformats.org/markup-compatibility/2006">
              <mc:Choice xmlns:v="urn:schemas-microsoft-com:vml" Requires="v">
                <p:oleObj spid="_x0000_s65820" name="公式" r:id="rId5" imgW="228501" imgH="291973" progId="Equation.3">
                  <p:embed/>
                </p:oleObj>
              </mc:Choice>
              <mc:Fallback>
                <p:oleObj name="公式" r:id="rId5" imgW="228501" imgH="291973" progId="Equation.3">
                  <p:embed/>
                  <p:pic>
                    <p:nvPicPr>
                      <p:cNvPr id="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8034" y="3198915"/>
                        <a:ext cx="411162" cy="52546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6"/>
          <p:cNvGraphicFramePr>
            <a:graphicFrameLocks noChangeAspect="1"/>
          </p:cNvGraphicFramePr>
          <p:nvPr>
            <p:extLst>
              <p:ext uri="{D42A27DB-BD31-4B8C-83A1-F6EECF244321}">
                <p14:modId xmlns:p14="http://schemas.microsoft.com/office/powerpoint/2010/main" val="2012769835"/>
              </p:ext>
            </p:extLst>
          </p:nvPr>
        </p:nvGraphicFramePr>
        <p:xfrm>
          <a:off x="8259559" y="3221140"/>
          <a:ext cx="342900" cy="525462"/>
        </p:xfrm>
        <a:graphic>
          <a:graphicData uri="http://schemas.openxmlformats.org/presentationml/2006/ole">
            <mc:AlternateContent xmlns:mc="http://schemas.openxmlformats.org/markup-compatibility/2006">
              <mc:Choice xmlns:v="urn:schemas-microsoft-com:vml" Requires="v">
                <p:oleObj spid="_x0000_s65821" name="公式" r:id="rId7" imgW="190417" imgH="291973" progId="Equation.3">
                  <p:embed/>
                </p:oleObj>
              </mc:Choice>
              <mc:Fallback>
                <p:oleObj name="公式" r:id="rId7" imgW="190417" imgH="291973" progId="Equation.3">
                  <p:embed/>
                  <p:pic>
                    <p:nvPicPr>
                      <p:cNvPr id="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9559" y="3221140"/>
                        <a:ext cx="342900" cy="52546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7"/>
          <p:cNvGraphicFramePr>
            <a:graphicFrameLocks noChangeAspect="1"/>
          </p:cNvGraphicFramePr>
          <p:nvPr>
            <p:extLst>
              <p:ext uri="{D42A27DB-BD31-4B8C-83A1-F6EECF244321}">
                <p14:modId xmlns:p14="http://schemas.microsoft.com/office/powerpoint/2010/main" val="1921805572"/>
              </p:ext>
            </p:extLst>
          </p:nvPr>
        </p:nvGraphicFramePr>
        <p:xfrm>
          <a:off x="4794046" y="2594077"/>
          <a:ext cx="3595688" cy="579438"/>
        </p:xfrm>
        <a:graphic>
          <a:graphicData uri="http://schemas.openxmlformats.org/presentationml/2006/ole">
            <mc:AlternateContent xmlns:mc="http://schemas.openxmlformats.org/markup-compatibility/2006">
              <mc:Choice xmlns:v="urn:schemas-microsoft-com:vml" Requires="v">
                <p:oleObj spid="_x0000_s65822" name="Equation" r:id="rId9" imgW="1497950" imgH="241195" progId="Equation.DSMT4">
                  <p:embed/>
                </p:oleObj>
              </mc:Choice>
              <mc:Fallback>
                <p:oleObj name="Equation" r:id="rId9" imgW="1497950" imgH="241195" progId="Equation.DSMT4">
                  <p:embed/>
                  <p:pic>
                    <p:nvPicPr>
                      <p:cNvPr id="6"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94046" y="2594077"/>
                        <a:ext cx="3595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Group 8"/>
          <p:cNvGrpSpPr>
            <a:grpSpLocks/>
          </p:cNvGrpSpPr>
          <p:nvPr/>
        </p:nvGrpSpPr>
        <p:grpSpPr bwMode="auto">
          <a:xfrm>
            <a:off x="1534909" y="4194277"/>
            <a:ext cx="5808662" cy="2520950"/>
            <a:chOff x="839" y="2434"/>
            <a:chExt cx="3659" cy="1813"/>
          </a:xfrm>
        </p:grpSpPr>
        <p:pic>
          <p:nvPicPr>
            <p:cNvPr id="13"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9" y="2434"/>
              <a:ext cx="3659" cy="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Object 10"/>
            <p:cNvGraphicFramePr>
              <a:graphicFrameLocks noChangeAspect="1"/>
            </p:cNvGraphicFramePr>
            <p:nvPr/>
          </p:nvGraphicFramePr>
          <p:xfrm>
            <a:off x="1485" y="2518"/>
            <a:ext cx="987" cy="365"/>
          </p:xfrm>
          <a:graphic>
            <a:graphicData uri="http://schemas.openxmlformats.org/presentationml/2006/ole">
              <mc:AlternateContent xmlns:mc="http://schemas.openxmlformats.org/markup-compatibility/2006">
                <mc:Choice xmlns:v="urn:schemas-microsoft-com:vml" Requires="v">
                  <p:oleObj spid="_x0000_s65823" name="Equation" r:id="rId12" imgW="825142" imgH="304668" progId="Equation.DSMT4">
                    <p:embed/>
                  </p:oleObj>
                </mc:Choice>
                <mc:Fallback>
                  <p:oleObj name="Equation" r:id="rId12" imgW="825142" imgH="304668" progId="Equation.DSMT4">
                    <p:embed/>
                    <p:pic>
                      <p:nvPicPr>
                        <p:cNvPr id="9"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85" y="2518"/>
                          <a:ext cx="987" cy="365"/>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1"/>
            <p:cNvGraphicFramePr>
              <a:graphicFrameLocks noChangeAspect="1"/>
            </p:cNvGraphicFramePr>
            <p:nvPr/>
          </p:nvGraphicFramePr>
          <p:xfrm>
            <a:off x="1383" y="3750"/>
            <a:ext cx="987" cy="365"/>
          </p:xfrm>
          <a:graphic>
            <a:graphicData uri="http://schemas.openxmlformats.org/presentationml/2006/ole">
              <mc:AlternateContent xmlns:mc="http://schemas.openxmlformats.org/markup-compatibility/2006">
                <mc:Choice xmlns:v="urn:schemas-microsoft-com:vml" Requires="v">
                  <p:oleObj spid="_x0000_s65824" name="Equation" r:id="rId14" imgW="825142" imgH="304668" progId="Equation.DSMT4">
                    <p:embed/>
                  </p:oleObj>
                </mc:Choice>
                <mc:Fallback>
                  <p:oleObj name="Equation" r:id="rId14" imgW="825142" imgH="304668" progId="Equation.DSMT4">
                    <p:embed/>
                    <p:pic>
                      <p:nvPicPr>
                        <p:cNvPr id="1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83" y="3750"/>
                          <a:ext cx="987" cy="365"/>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6" name="Object 12"/>
          <p:cNvGraphicFramePr>
            <a:graphicFrameLocks noChangeAspect="1"/>
          </p:cNvGraphicFramePr>
          <p:nvPr>
            <p:extLst>
              <p:ext uri="{D42A27DB-BD31-4B8C-83A1-F6EECF244321}">
                <p14:modId xmlns:p14="http://schemas.microsoft.com/office/powerpoint/2010/main" val="1585142848"/>
              </p:ext>
            </p:extLst>
          </p:nvPr>
        </p:nvGraphicFramePr>
        <p:xfrm>
          <a:off x="761796" y="2522640"/>
          <a:ext cx="1979613" cy="730250"/>
        </p:xfrm>
        <a:graphic>
          <a:graphicData uri="http://schemas.openxmlformats.org/presentationml/2006/ole">
            <mc:AlternateContent xmlns:mc="http://schemas.openxmlformats.org/markup-compatibility/2006">
              <mc:Choice xmlns:v="urn:schemas-microsoft-com:vml" Requires="v">
                <p:oleObj spid="_x0000_s65825" name="Equation" r:id="rId16" imgW="825142" imgH="304668" progId="Equation.DSMT4">
                  <p:embed/>
                </p:oleObj>
              </mc:Choice>
              <mc:Fallback>
                <p:oleObj name="Equation" r:id="rId16" imgW="825142" imgH="304668" progId="Equation.DSMT4">
                  <p:embed/>
                  <p:pic>
                    <p:nvPicPr>
                      <p:cNvPr id="11"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1796" y="2522640"/>
                        <a:ext cx="19796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3"/>
          <p:cNvGraphicFramePr>
            <a:graphicFrameLocks noChangeAspect="1"/>
          </p:cNvGraphicFramePr>
          <p:nvPr>
            <p:extLst>
              <p:ext uri="{D42A27DB-BD31-4B8C-83A1-F6EECF244321}">
                <p14:modId xmlns:p14="http://schemas.microsoft.com/office/powerpoint/2010/main" val="1894444657"/>
              </p:ext>
            </p:extLst>
          </p:nvPr>
        </p:nvGraphicFramePr>
        <p:xfrm>
          <a:off x="2777921" y="2522640"/>
          <a:ext cx="1979613" cy="730250"/>
        </p:xfrm>
        <a:graphic>
          <a:graphicData uri="http://schemas.openxmlformats.org/presentationml/2006/ole">
            <mc:AlternateContent xmlns:mc="http://schemas.openxmlformats.org/markup-compatibility/2006">
              <mc:Choice xmlns:v="urn:schemas-microsoft-com:vml" Requires="v">
                <p:oleObj spid="_x0000_s65826" name="Equation" r:id="rId17" imgW="825142" imgH="304668" progId="Equation.DSMT4">
                  <p:embed/>
                </p:oleObj>
              </mc:Choice>
              <mc:Fallback>
                <p:oleObj name="Equation" r:id="rId17" imgW="825142" imgH="304668" progId="Equation.DSMT4">
                  <p:embed/>
                  <p:pic>
                    <p:nvPicPr>
                      <p:cNvPr id="12"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77921" y="2522640"/>
                        <a:ext cx="19796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16838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33</a:t>
            </a:fld>
            <a:endParaRPr lang="zh-CN" altLang="en-US"/>
          </a:p>
        </p:txBody>
      </p:sp>
      <p:pic>
        <p:nvPicPr>
          <p:cNvPr id="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540000">
            <a:off x="506105" y="1148633"/>
            <a:ext cx="4818062"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Object 10"/>
          <p:cNvGraphicFramePr>
            <a:graphicFrameLocks noChangeAspect="1"/>
          </p:cNvGraphicFramePr>
          <p:nvPr>
            <p:extLst>
              <p:ext uri="{D42A27DB-BD31-4B8C-83A1-F6EECF244321}">
                <p14:modId xmlns:p14="http://schemas.microsoft.com/office/powerpoint/2010/main" val="3214140017"/>
              </p:ext>
            </p:extLst>
          </p:nvPr>
        </p:nvGraphicFramePr>
        <p:xfrm>
          <a:off x="1537980" y="2464671"/>
          <a:ext cx="620712" cy="647700"/>
        </p:xfrm>
        <a:graphic>
          <a:graphicData uri="http://schemas.openxmlformats.org/presentationml/2006/ole">
            <mc:AlternateContent xmlns:mc="http://schemas.openxmlformats.org/markup-compatibility/2006">
              <mc:Choice xmlns:v="urn:schemas-microsoft-com:vml" Requires="v">
                <p:oleObj spid="_x0000_s67726" name="公式" r:id="rId4" imgW="266469" imgH="291847" progId="Equation.3">
                  <p:embed/>
                </p:oleObj>
              </mc:Choice>
              <mc:Fallback>
                <p:oleObj name="公式" r:id="rId4" imgW="266469" imgH="291847" progId="Equation.3">
                  <p:embed/>
                  <p:pic>
                    <p:nvPicPr>
                      <p:cNvPr id="28675"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7980" y="2464671"/>
                        <a:ext cx="620712" cy="6477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1"/>
          <p:cNvGraphicFramePr>
            <a:graphicFrameLocks noChangeAspect="1"/>
          </p:cNvGraphicFramePr>
          <p:nvPr>
            <p:extLst>
              <p:ext uri="{D42A27DB-BD31-4B8C-83A1-F6EECF244321}">
                <p14:modId xmlns:p14="http://schemas.microsoft.com/office/powerpoint/2010/main" val="4193932640"/>
              </p:ext>
            </p:extLst>
          </p:nvPr>
        </p:nvGraphicFramePr>
        <p:xfrm>
          <a:off x="1466542" y="3906121"/>
          <a:ext cx="620713" cy="674687"/>
        </p:xfrm>
        <a:graphic>
          <a:graphicData uri="http://schemas.openxmlformats.org/presentationml/2006/ole">
            <mc:AlternateContent xmlns:mc="http://schemas.openxmlformats.org/markup-compatibility/2006">
              <mc:Choice xmlns:v="urn:schemas-microsoft-com:vml" Requires="v">
                <p:oleObj spid="_x0000_s67727" name="公式" r:id="rId6" imgW="266469" imgH="304536" progId="Equation.3">
                  <p:embed/>
                </p:oleObj>
              </mc:Choice>
              <mc:Fallback>
                <p:oleObj name="公式" r:id="rId6" imgW="266469" imgH="304536" progId="Equation.3">
                  <p:embed/>
                  <p:pic>
                    <p:nvPicPr>
                      <p:cNvPr id="28676"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66542" y="3906121"/>
                        <a:ext cx="620713" cy="67468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380" y="2788521"/>
            <a:ext cx="333375"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30" y="2261471"/>
            <a:ext cx="2952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7"/>
          <p:cNvSpPr txBox="1">
            <a:spLocks noChangeArrowheads="1"/>
          </p:cNvSpPr>
          <p:nvPr/>
        </p:nvSpPr>
        <p:spPr bwMode="auto">
          <a:xfrm>
            <a:off x="5282892" y="1075608"/>
            <a:ext cx="3554413"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可以看出，由于表面态的钉扎效应，     和       的关联性常常不大。</a:t>
            </a:r>
          </a:p>
        </p:txBody>
      </p:sp>
      <p:sp>
        <p:nvSpPr>
          <p:cNvPr id="9" name="Text Box 8"/>
          <p:cNvSpPr txBox="1">
            <a:spLocks noChangeArrowheads="1"/>
          </p:cNvSpPr>
          <p:nvPr/>
        </p:nvSpPr>
        <p:spPr bwMode="auto">
          <a:xfrm>
            <a:off x="5282892" y="2331321"/>
            <a:ext cx="3473450" cy="34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3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金属和</a:t>
            </a:r>
            <a:r>
              <a:rPr kumimoji="1" lang="en-US" altLang="zh-CN" sz="2400" b="1" smtClean="0">
                <a:solidFill>
                  <a:srgbClr val="000000"/>
                </a:solidFill>
                <a:latin typeface="Times New Roman" panose="02020603050405020304" pitchFamily="18" charset="0"/>
                <a:ea typeface="宋体" panose="02010600030101010101" pitchFamily="2" charset="-122"/>
              </a:rPr>
              <a:t>N</a:t>
            </a:r>
            <a:r>
              <a:rPr kumimoji="1" lang="zh-CN" altLang="en-US" sz="2400" b="1" smtClean="0">
                <a:solidFill>
                  <a:srgbClr val="000000"/>
                </a:solidFill>
                <a:latin typeface="Times New Roman" panose="02020603050405020304" pitchFamily="18" charset="0"/>
                <a:ea typeface="宋体" panose="02010600030101010101" pitchFamily="2" charset="-122"/>
              </a:rPr>
              <a:t>型与</a:t>
            </a:r>
            <a:r>
              <a:rPr kumimoji="1" lang="en-US" altLang="zh-CN" sz="2400" b="1" smtClean="0">
                <a:solidFill>
                  <a:srgbClr val="000000"/>
                </a:solidFill>
                <a:latin typeface="Times New Roman" panose="02020603050405020304" pitchFamily="18" charset="0"/>
                <a:ea typeface="宋体" panose="02010600030101010101" pitchFamily="2" charset="-122"/>
              </a:rPr>
              <a:t>P</a:t>
            </a:r>
            <a:r>
              <a:rPr kumimoji="1" lang="zh-CN" altLang="en-US" sz="2400" b="1" smtClean="0">
                <a:solidFill>
                  <a:srgbClr val="000000"/>
                </a:solidFill>
                <a:latin typeface="Times New Roman" panose="02020603050405020304" pitchFamily="18" charset="0"/>
                <a:ea typeface="宋体" panose="02010600030101010101" pitchFamily="2" charset="-122"/>
              </a:rPr>
              <a:t>型半导体分别组成的金属半导体接触的势垒高度与金属功函数的关系如左图，每根线段上面点表示</a:t>
            </a:r>
            <a:r>
              <a:rPr kumimoji="1" lang="en-US" altLang="zh-CN" sz="2400" b="1" smtClean="0">
                <a:solidFill>
                  <a:srgbClr val="000000"/>
                </a:solidFill>
                <a:latin typeface="Times New Roman" panose="02020603050405020304" pitchFamily="18" charset="0"/>
                <a:ea typeface="宋体" panose="02010600030101010101" pitchFamily="2" charset="-122"/>
              </a:rPr>
              <a:t>N</a:t>
            </a:r>
            <a:r>
              <a:rPr kumimoji="1" lang="zh-CN" altLang="en-US" sz="2400" b="1" smtClean="0">
                <a:solidFill>
                  <a:srgbClr val="000000"/>
                </a:solidFill>
                <a:latin typeface="Times New Roman" panose="02020603050405020304" pitchFamily="18" charset="0"/>
                <a:ea typeface="宋体" panose="02010600030101010101" pitchFamily="2" charset="-122"/>
              </a:rPr>
              <a:t>型势垒高度，下面点表示</a:t>
            </a:r>
            <a:r>
              <a:rPr kumimoji="1" lang="en-US" altLang="zh-CN" sz="2400" b="1" smtClean="0">
                <a:solidFill>
                  <a:srgbClr val="000000"/>
                </a:solidFill>
                <a:latin typeface="Times New Roman" panose="02020603050405020304" pitchFamily="18" charset="0"/>
                <a:ea typeface="宋体" panose="02010600030101010101" pitchFamily="2" charset="-122"/>
              </a:rPr>
              <a:t>P</a:t>
            </a:r>
            <a:r>
              <a:rPr kumimoji="1" lang="zh-CN" altLang="en-US" sz="2400" b="1" smtClean="0">
                <a:solidFill>
                  <a:srgbClr val="000000"/>
                </a:solidFill>
                <a:latin typeface="Times New Roman" panose="02020603050405020304" pitchFamily="18" charset="0"/>
                <a:ea typeface="宋体" panose="02010600030101010101" pitchFamily="2" charset="-122"/>
              </a:rPr>
              <a:t>型势垒高度。</a:t>
            </a:r>
          </a:p>
        </p:txBody>
      </p:sp>
      <p:sp>
        <p:nvSpPr>
          <p:cNvPr id="10" name="Text Box 9"/>
          <p:cNvSpPr txBox="1">
            <a:spLocks noChangeArrowheads="1"/>
          </p:cNvSpPr>
          <p:nvPr/>
        </p:nvSpPr>
        <p:spPr bwMode="auto">
          <a:xfrm>
            <a:off x="745817" y="5571408"/>
            <a:ext cx="5575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en-US" altLang="zh-CN" sz="200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(Ref</a:t>
            </a:r>
            <a:r>
              <a:rPr kumimoji="1" lang="zh-CN" altLang="en-US" sz="200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S.Swirhun.PhD.Stanford Univ.1987)</a:t>
            </a:r>
          </a:p>
        </p:txBody>
      </p:sp>
      <p:graphicFrame>
        <p:nvGraphicFramePr>
          <p:cNvPr id="11" name="Object 12"/>
          <p:cNvGraphicFramePr>
            <a:graphicFrameLocks noChangeAspect="1"/>
          </p:cNvGraphicFramePr>
          <p:nvPr>
            <p:extLst>
              <p:ext uri="{D42A27DB-BD31-4B8C-83A1-F6EECF244321}">
                <p14:modId xmlns:p14="http://schemas.microsoft.com/office/powerpoint/2010/main" val="3894228840"/>
              </p:ext>
            </p:extLst>
          </p:nvPr>
        </p:nvGraphicFramePr>
        <p:xfrm>
          <a:off x="6881505" y="1466133"/>
          <a:ext cx="341312" cy="438150"/>
        </p:xfrm>
        <a:graphic>
          <a:graphicData uri="http://schemas.openxmlformats.org/presentationml/2006/ole">
            <mc:AlternateContent xmlns:mc="http://schemas.openxmlformats.org/markup-compatibility/2006">
              <mc:Choice xmlns:v="urn:schemas-microsoft-com:vml" Requires="v">
                <p:oleObj spid="_x0000_s67728" name="公式" r:id="rId10" imgW="228501" imgH="291973" progId="Equation.3">
                  <p:embed/>
                </p:oleObj>
              </mc:Choice>
              <mc:Fallback>
                <p:oleObj name="公式" r:id="rId10" imgW="228501" imgH="291973" progId="Equation.3">
                  <p:embed/>
                  <p:pic>
                    <p:nvPicPr>
                      <p:cNvPr id="28682"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81505" y="1466133"/>
                        <a:ext cx="3413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3"/>
          <p:cNvGraphicFramePr>
            <a:graphicFrameLocks noChangeAspect="1"/>
          </p:cNvGraphicFramePr>
          <p:nvPr>
            <p:extLst>
              <p:ext uri="{D42A27DB-BD31-4B8C-83A1-F6EECF244321}">
                <p14:modId xmlns:p14="http://schemas.microsoft.com/office/powerpoint/2010/main" val="3040015027"/>
              </p:ext>
            </p:extLst>
          </p:nvPr>
        </p:nvGraphicFramePr>
        <p:xfrm>
          <a:off x="7700655" y="1480421"/>
          <a:ext cx="381000" cy="438150"/>
        </p:xfrm>
        <a:graphic>
          <a:graphicData uri="http://schemas.openxmlformats.org/presentationml/2006/ole">
            <mc:AlternateContent xmlns:mc="http://schemas.openxmlformats.org/markup-compatibility/2006">
              <mc:Choice xmlns:v="urn:schemas-microsoft-com:vml" Requires="v">
                <p:oleObj spid="_x0000_s67729" name="公式" r:id="rId12" imgW="253890" imgH="291973" progId="Equation.3">
                  <p:embed/>
                </p:oleObj>
              </mc:Choice>
              <mc:Fallback>
                <p:oleObj name="公式" r:id="rId12" imgW="253890" imgH="291973" progId="Equation.3">
                  <p:embed/>
                  <p:pic>
                    <p:nvPicPr>
                      <p:cNvPr id="28683"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00655" y="1480421"/>
                        <a:ext cx="381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37754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34</a:t>
            </a:fld>
            <a:endParaRPr lang="zh-CN" altLang="en-US"/>
          </a:p>
        </p:txBody>
      </p:sp>
      <p:sp>
        <p:nvSpPr>
          <p:cNvPr id="3" name="Text Box 3"/>
          <p:cNvSpPr txBox="1">
            <a:spLocks noChangeArrowheads="1"/>
          </p:cNvSpPr>
          <p:nvPr/>
        </p:nvSpPr>
        <p:spPr bwMode="auto">
          <a:xfrm>
            <a:off x="310638" y="424559"/>
            <a:ext cx="8358188"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lnSpc>
                <a:spcPct val="90000"/>
              </a:lnSpc>
              <a:spcBef>
                <a:spcPct val="50000"/>
              </a:spcBef>
              <a:spcAft>
                <a:spcPct val="0"/>
              </a:spcAft>
            </a:pPr>
            <a:r>
              <a:rPr kumimoji="1" lang="zh-CN" altLang="en-US" sz="2400" b="1" dirty="0" smtClean="0">
                <a:solidFill>
                  <a:srgbClr val="FF0000"/>
                </a:solidFill>
                <a:latin typeface="Times New Roman" panose="02020603050405020304" pitchFamily="18" charset="0"/>
                <a:ea typeface="宋体" panose="02010600030101010101" pitchFamily="2" charset="-122"/>
              </a:rPr>
              <a:t>肖特基</a:t>
            </a:r>
            <a:r>
              <a:rPr kumimoji="1" lang="en-US" altLang="zh-CN" sz="2400" b="1" dirty="0" smtClean="0">
                <a:solidFill>
                  <a:srgbClr val="FF0000"/>
                </a:solidFill>
                <a:latin typeface="Times New Roman" panose="02020603050405020304" pitchFamily="18" charset="0"/>
                <a:ea typeface="宋体" panose="02010600030101010101" pitchFamily="2" charset="-122"/>
              </a:rPr>
              <a:t>IV</a:t>
            </a:r>
            <a:r>
              <a:rPr kumimoji="1" lang="zh-CN" altLang="en-US" sz="2400" b="1" dirty="0" smtClean="0">
                <a:solidFill>
                  <a:srgbClr val="FF0000"/>
                </a:solidFill>
                <a:latin typeface="Times New Roman" panose="02020603050405020304" pitchFamily="18" charset="0"/>
                <a:ea typeface="宋体" panose="02010600030101010101" pitchFamily="2" charset="-122"/>
              </a:rPr>
              <a:t>特性</a:t>
            </a: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744" y="1807528"/>
            <a:ext cx="7248525"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3432" y="4809491"/>
            <a:ext cx="172720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03632" y="4734878"/>
            <a:ext cx="17272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761744" y="1148716"/>
            <a:ext cx="3878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eaLnBrk="1" hangingPunct="1">
              <a:buFontTx/>
              <a:buNone/>
            </a:pPr>
            <a:r>
              <a:rPr lang="zh-CN" altLang="en-US" sz="2400" u="none" dirty="0">
                <a:solidFill>
                  <a:srgbClr val="A50021"/>
                </a:solidFill>
                <a:latin typeface="宋体" panose="02010600030101010101" pitchFamily="2" charset="-122"/>
                <a:cs typeface="楷体_GB2312"/>
              </a:rPr>
              <a:t>热电子发射模型</a:t>
            </a:r>
            <a:r>
              <a:rPr lang="zh-CN" altLang="en-US" sz="2400" u="none" dirty="0">
                <a:solidFill>
                  <a:srgbClr val="000000"/>
                </a:solidFill>
                <a:latin typeface="宋体" panose="02010600030101010101" pitchFamily="2" charset="-122"/>
                <a:cs typeface="楷体_GB2312"/>
              </a:rPr>
              <a:t>和</a:t>
            </a:r>
            <a:r>
              <a:rPr lang="zh-CN" altLang="en-US" sz="2400" u="none" dirty="0">
                <a:solidFill>
                  <a:srgbClr val="A50021"/>
                </a:solidFill>
                <a:latin typeface="宋体" panose="02010600030101010101" pitchFamily="2" charset="-122"/>
                <a:cs typeface="楷体_GB2312"/>
              </a:rPr>
              <a:t>扩散模型</a:t>
            </a:r>
            <a:endParaRPr lang="zh-CN" altLang="en-US" sz="2400" u="none" dirty="0">
              <a:solidFill>
                <a:srgbClr val="000000"/>
              </a:solidFill>
              <a:latin typeface="宋体" panose="02010600030101010101" pitchFamily="2" charset="-122"/>
              <a:cs typeface="楷体_GB2312"/>
            </a:endParaRPr>
          </a:p>
        </p:txBody>
      </p:sp>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0757" y="5634991"/>
            <a:ext cx="35274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7085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35</a:t>
            </a:fld>
            <a:endParaRPr lang="zh-CN" altLang="en-US"/>
          </a:p>
        </p:txBody>
      </p:sp>
      <p:pic>
        <p:nvPicPr>
          <p:cNvPr id="3"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250950"/>
            <a:ext cx="3155950"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1029"/>
          <p:cNvSpPr txBox="1">
            <a:spLocks noChangeArrowheads="1"/>
          </p:cNvSpPr>
          <p:nvPr/>
        </p:nvSpPr>
        <p:spPr bwMode="auto">
          <a:xfrm>
            <a:off x="485775" y="1970087"/>
            <a:ext cx="492442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eaLnBrk="1" hangingPunct="1">
              <a:lnSpc>
                <a:spcPct val="110000"/>
              </a:lnSpc>
              <a:buFontTx/>
              <a:buNone/>
            </a:pPr>
            <a:r>
              <a:rPr kumimoji="1" lang="en-US" altLang="zh-CN" sz="2400" b="1" u="none">
                <a:latin typeface="Times New Roman" panose="02020603050405020304" pitchFamily="18" charset="0"/>
                <a:cs typeface="Times New Roman" panose="02020603050405020304" pitchFamily="18" charset="0"/>
              </a:rPr>
              <a:t>    </a:t>
            </a:r>
            <a:r>
              <a:rPr kumimoji="1" lang="zh-CN" altLang="en-US" sz="2400" b="1" u="none">
                <a:latin typeface="Times New Roman" panose="02020603050405020304" pitchFamily="18" charset="0"/>
                <a:cs typeface="Times New Roman" panose="02020603050405020304" pitchFamily="18" charset="0"/>
              </a:rPr>
              <a:t>正偏压使</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u="none">
                <a:latin typeface="Times New Roman" panose="02020603050405020304" pitchFamily="18" charset="0"/>
                <a:cs typeface="Times New Roman" panose="02020603050405020304" pitchFamily="18" charset="0"/>
              </a:rPr>
              <a:t>比</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Fm</a:t>
            </a:r>
            <a:r>
              <a:rPr kumimoji="1" lang="zh-CN" altLang="en-US" sz="2400" b="1" u="none">
                <a:latin typeface="Times New Roman" panose="02020603050405020304" pitchFamily="18" charset="0"/>
                <a:cs typeface="Times New Roman" panose="02020603050405020304" pitchFamily="18" charset="0"/>
              </a:rPr>
              <a:t>高出</a:t>
            </a:r>
            <a:r>
              <a:rPr kumimoji="1" lang="en-US" altLang="zh-CN" sz="2400" b="1" i="1" u="none">
                <a:latin typeface="Times New Roman" panose="02020603050405020304" pitchFamily="18" charset="0"/>
                <a:cs typeface="Times New Roman" panose="02020603050405020304" pitchFamily="18" charset="0"/>
              </a:rPr>
              <a:t>q</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u="none">
                <a:latin typeface="Times New Roman" panose="02020603050405020304" pitchFamily="18" charset="0"/>
                <a:cs typeface="Times New Roman" panose="02020603050405020304" pitchFamily="18" charset="0"/>
              </a:rPr>
              <a:t>，费米能级之差驱动电子由半导体流向金属。一般情况下，电子扩散通过势垒区，再从界面处向金属发射。</a:t>
            </a:r>
          </a:p>
        </p:txBody>
      </p:sp>
      <p:sp>
        <p:nvSpPr>
          <p:cNvPr id="5" name="Text Box 1032"/>
          <p:cNvSpPr txBox="1">
            <a:spLocks noChangeArrowheads="1"/>
          </p:cNvSpPr>
          <p:nvPr/>
        </p:nvSpPr>
        <p:spPr bwMode="auto">
          <a:xfrm>
            <a:off x="546100" y="793750"/>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buFontTx/>
              <a:buNone/>
            </a:pPr>
            <a:r>
              <a:rPr kumimoji="1" lang="zh-CN" altLang="en-US" sz="2400" b="1" dirty="0">
                <a:solidFill>
                  <a:srgbClr val="FF0000"/>
                </a:solidFill>
                <a:latin typeface="Times New Roman" panose="02020603050405020304" pitchFamily="18" charset="0"/>
              </a:rPr>
              <a:t>金属</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半导体接触的电荷输运（肖特基势垒情况）</a:t>
            </a:r>
          </a:p>
        </p:txBody>
      </p:sp>
      <p:sp>
        <p:nvSpPr>
          <p:cNvPr id="6" name="TextBox 1"/>
          <p:cNvSpPr txBox="1">
            <a:spLocks noChangeArrowheads="1"/>
          </p:cNvSpPr>
          <p:nvPr/>
        </p:nvSpPr>
        <p:spPr bwMode="auto">
          <a:xfrm>
            <a:off x="735012" y="1354137"/>
            <a:ext cx="2592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lang="zh-CN" altLang="en-US" sz="2400" u="none">
                <a:latin typeface="Times New Roman" panose="02020603050405020304" pitchFamily="18" charset="0"/>
                <a:cs typeface="Times New Roman" panose="02020603050405020304" pitchFamily="18" charset="0"/>
              </a:rPr>
              <a:t>一般情形：</a:t>
            </a:r>
          </a:p>
        </p:txBody>
      </p:sp>
      <p:sp>
        <p:nvSpPr>
          <p:cNvPr id="7" name="Text Box 4"/>
          <p:cNvSpPr txBox="1">
            <a:spLocks noChangeArrowheads="1"/>
          </p:cNvSpPr>
          <p:nvPr/>
        </p:nvSpPr>
        <p:spPr bwMode="auto">
          <a:xfrm>
            <a:off x="571500" y="3941762"/>
            <a:ext cx="8086725"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eaLnBrk="1" hangingPunct="1">
              <a:lnSpc>
                <a:spcPct val="110000"/>
              </a:lnSpc>
              <a:buFontTx/>
              <a:buNone/>
            </a:pPr>
            <a:r>
              <a:rPr kumimoji="1" lang="en-US" altLang="zh-CN" sz="2400" b="1" u="none">
                <a:latin typeface="Times New Roman" panose="02020603050405020304" pitchFamily="18" charset="0"/>
                <a:cs typeface="Times New Roman" panose="02020603050405020304" pitchFamily="18" charset="0"/>
              </a:rPr>
              <a:t>    </a:t>
            </a:r>
            <a:r>
              <a:rPr kumimoji="1" lang="zh-CN" altLang="en-US" sz="2400" b="1" u="none">
                <a:latin typeface="Times New Roman" panose="02020603050405020304" pitchFamily="18" charset="0"/>
                <a:cs typeface="Times New Roman" panose="02020603050405020304" pitchFamily="18" charset="0"/>
              </a:rPr>
              <a:t>一般地，准费米能级</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u="none">
                <a:latin typeface="Times New Roman" panose="02020603050405020304" pitchFamily="18" charset="0"/>
                <a:cs typeface="Times New Roman" panose="02020603050405020304" pitchFamily="18" charset="0"/>
              </a:rPr>
              <a:t>在界面处亦应有适当的降落，以提高界面处半导体中的电子浓度，使电子浓度</a:t>
            </a:r>
            <a:r>
              <a:rPr kumimoji="1" lang="en-US" altLang="zh-CN" sz="2400" b="1" i="1" u="none">
                <a:latin typeface="Times New Roman" panose="02020603050405020304" pitchFamily="18" charset="0"/>
                <a:cs typeface="Times New Roman" panose="02020603050405020304" pitchFamily="18" charset="0"/>
              </a:rPr>
              <a:t>n</a:t>
            </a:r>
            <a:r>
              <a:rPr kumimoji="1" lang="en-US" altLang="zh-CN" sz="2400" b="1" u="none" baseline="-25000">
                <a:latin typeface="Times New Roman" panose="02020603050405020304" pitchFamily="18" charset="0"/>
                <a:cs typeface="Times New Roman" panose="02020603050405020304" pitchFamily="18" charset="0"/>
              </a:rPr>
              <a:t>s→m</a:t>
            </a:r>
            <a:r>
              <a:rPr kumimoji="1" lang="zh-CN" altLang="en-US" sz="2400" b="1" u="none">
                <a:latin typeface="Times New Roman" panose="02020603050405020304" pitchFamily="18" charset="0"/>
                <a:cs typeface="Times New Roman" panose="02020603050405020304" pitchFamily="18" charset="0"/>
              </a:rPr>
              <a:t>超过</a:t>
            </a:r>
            <a:r>
              <a:rPr kumimoji="1" lang="en-US" altLang="zh-CN" sz="2400" b="1" i="1" u="none">
                <a:latin typeface="Times New Roman" panose="02020603050405020304" pitchFamily="18" charset="0"/>
                <a:cs typeface="Times New Roman" panose="02020603050405020304" pitchFamily="18" charset="0"/>
              </a:rPr>
              <a:t>n</a:t>
            </a:r>
            <a:r>
              <a:rPr kumimoji="1" lang="en-US" altLang="zh-CN" sz="2400" b="1" u="none" baseline="-25000">
                <a:latin typeface="Times New Roman" panose="02020603050405020304" pitchFamily="18" charset="0"/>
                <a:cs typeface="Times New Roman" panose="02020603050405020304" pitchFamily="18" charset="0"/>
              </a:rPr>
              <a:t>m→s</a:t>
            </a:r>
            <a:r>
              <a:rPr kumimoji="1" lang="zh-CN" altLang="en-US" sz="2400" b="1" u="none">
                <a:latin typeface="Times New Roman" panose="02020603050405020304" pitchFamily="18" charset="0"/>
                <a:cs typeface="Times New Roman" panose="02020603050405020304" pitchFamily="18" charset="0"/>
              </a:rPr>
              <a:t>，形成</a:t>
            </a:r>
            <a:r>
              <a:rPr kumimoji="1" lang="en-US" altLang="zh-CN" sz="2400" b="1" u="none">
                <a:latin typeface="Times New Roman" panose="02020603050405020304" pitchFamily="18" charset="0"/>
                <a:cs typeface="Times New Roman" panose="02020603050405020304" pitchFamily="18" charset="0"/>
              </a:rPr>
              <a:t>s→m</a:t>
            </a:r>
            <a:r>
              <a:rPr kumimoji="1" lang="zh-CN" altLang="en-US" sz="2400" b="1" u="none">
                <a:latin typeface="Times New Roman" panose="02020603050405020304" pitchFamily="18" charset="0"/>
                <a:cs typeface="Times New Roman" panose="02020603050405020304" pitchFamily="18" charset="0"/>
              </a:rPr>
              <a:t>的净电子流。界面处准</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u="none">
                <a:latin typeface="Times New Roman" panose="02020603050405020304" pitchFamily="18" charset="0"/>
                <a:cs typeface="Times New Roman" panose="02020603050405020304" pitchFamily="18" charset="0"/>
              </a:rPr>
              <a:t>降落的大小应正好使由内部传输来的电子都能发射到金属中而不造成积累。即准</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u="none">
                <a:latin typeface="Times New Roman" panose="02020603050405020304" pitchFamily="18" charset="0"/>
                <a:cs typeface="Times New Roman" panose="02020603050405020304" pitchFamily="18" charset="0"/>
                <a:sym typeface="Symbol" panose="05050102010706020507" pitchFamily="18" charset="2"/>
              </a:rPr>
              <a:t>在界面和体内</a:t>
            </a:r>
            <a:r>
              <a:rPr kumimoji="1" lang="zh-CN" altLang="en-US" sz="2400" b="1" u="none">
                <a:latin typeface="Times New Roman" panose="02020603050405020304" pitchFamily="18" charset="0"/>
                <a:cs typeface="Times New Roman" panose="02020603050405020304" pitchFamily="18" charset="0"/>
              </a:rPr>
              <a:t>降落的大小受电流连续来调节。</a:t>
            </a:r>
          </a:p>
        </p:txBody>
      </p:sp>
    </p:spTree>
    <p:extLst>
      <p:ext uri="{BB962C8B-B14F-4D97-AF65-F5344CB8AC3E}">
        <p14:creationId xmlns:p14="http://schemas.microsoft.com/office/powerpoint/2010/main" val="1532719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36</a:t>
            </a:fld>
            <a:endParaRPr lang="zh-CN" altLang="en-US"/>
          </a:p>
        </p:txBody>
      </p:sp>
      <p:pic>
        <p:nvPicPr>
          <p:cNvPr id="3"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322" y="604044"/>
            <a:ext cx="5867400" cy="22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pic>
        <p:nvPicPr>
          <p:cNvPr id="4"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4435" y="604044"/>
            <a:ext cx="2819400"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5" name="Text Box 3076"/>
          <p:cNvSpPr txBox="1">
            <a:spLocks noChangeArrowheads="1"/>
          </p:cNvSpPr>
          <p:nvPr/>
        </p:nvSpPr>
        <p:spPr bwMode="auto">
          <a:xfrm>
            <a:off x="170835" y="3077830"/>
            <a:ext cx="8763000"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两种极端情况：</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一种是忽略准</a:t>
            </a:r>
            <a:r>
              <a:rPr kumimoji="1" lang="en-US" altLang="zh-CN" sz="2400" b="1" i="1"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i="0" u="none" strike="noStrike" kern="1200" cap="none" spc="0" normalizeH="0" baseline="-25000" noProof="0" dirty="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在势垒区的</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降落。即可以</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忽略电子在势垒区中遭到的散射。</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认为</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能够到达势垒区半导体一侧边界的电子都能到（</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不被散射地</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）达金属</a:t>
            </a:r>
            <a:r>
              <a:rPr kumimoji="1" lang="en-US" altLang="zh-CN"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半导体界面。</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这时</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外加电压完全用于</a:t>
            </a:r>
            <a:r>
              <a:rPr kumimoji="1" lang="zh-CN" altLang="en-US" sz="2400" b="1"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提高</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半导体中能向金属发射的</a:t>
            </a:r>
            <a:r>
              <a:rPr kumimoji="1" lang="zh-CN" altLang="en-US" sz="2400" b="1"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电子浓度</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a:t>
            </a:r>
            <a:endParaRPr kumimoji="1" lang="en-US" altLang="zh-CN"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电子迁移率</a:t>
            </a:r>
            <a:r>
              <a:rPr kumimoji="1" lang="zh-CN" altLang="en-US" sz="2400" b="1"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足够高</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、势垒区宽度</a:t>
            </a:r>
            <a:r>
              <a:rPr kumimoji="1" lang="en-US" altLang="zh-CN" sz="2400" b="1" i="1" u="none" strike="noStrike" kern="1200" cap="none" spc="0" normalizeH="0" baseline="0" noProof="0" dirty="0" err="1">
                <a:ln>
                  <a:noFill/>
                </a:ln>
                <a:solidFill>
                  <a:srgbClr val="A50021"/>
                </a:solidFill>
                <a:effectLst/>
                <a:uLnTx/>
                <a:uFillTx/>
                <a:latin typeface="Times New Roman" panose="02020603050405020304" pitchFamily="18" charset="0"/>
                <a:cs typeface="Times New Roman" panose="02020603050405020304" pitchFamily="18" charset="0"/>
              </a:rPr>
              <a:t>x</a:t>
            </a:r>
            <a:r>
              <a:rPr kumimoji="1" lang="en-US" altLang="zh-CN" sz="2400" b="1" i="0" u="none" strike="noStrike" kern="1200" cap="none" spc="0" normalizeH="0" baseline="-25000" noProof="0" dirty="0" err="1">
                <a:ln>
                  <a:noFill/>
                </a:ln>
                <a:solidFill>
                  <a:srgbClr val="A50021"/>
                </a:solidFill>
                <a:effectLst/>
                <a:uLnTx/>
                <a:uFillTx/>
                <a:latin typeface="Times New Roman" panose="02020603050405020304" pitchFamily="18" charset="0"/>
                <a:cs typeface="Times New Roman" panose="02020603050405020304" pitchFamily="18" charset="0"/>
              </a:rPr>
              <a:t>D</a:t>
            </a:r>
            <a:r>
              <a:rPr kumimoji="1" lang="en-US" altLang="zh-CN" sz="2400" b="1"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&lt;&lt;</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电子平均自由程 </a:t>
            </a:r>
            <a:r>
              <a:rPr kumimoji="1" lang="en-US" altLang="zh-CN" sz="2400" b="1" i="1"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l</a:t>
            </a:r>
            <a:r>
              <a:rPr kumimoji="1" lang="en-US" altLang="zh-CN" sz="2400" b="1" i="1"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属于这种情形。</a:t>
            </a:r>
            <a:endParaRPr kumimoji="1" lang="en-US" altLang="zh-CN"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这就是</a:t>
            </a:r>
            <a:r>
              <a:rPr kumimoji="1" lang="zh-CN" altLang="en-US" sz="2400" b="1"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热电子发射理论</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a:t>
            </a:r>
            <a:r>
              <a:rPr kumimoji="1" lang="en-US" altLang="zh-CN"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Ge</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a:t>
            </a:r>
            <a:r>
              <a:rPr kumimoji="1" lang="en-US" altLang="zh-CN"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Si</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a:t>
            </a:r>
            <a:r>
              <a:rPr kumimoji="1" lang="en-US" altLang="zh-CN"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GaAs</a:t>
            </a:r>
            <a:r>
              <a:rPr kumimoji="1" lang="zh-CN" altLang="en-US" sz="2400" b="1" i="0" u="none" strike="noStrike" kern="1200" cap="none" spc="0" normalizeH="0" baseline="0" noProof="0" dirty="0">
                <a:ln>
                  <a:noFill/>
                </a:ln>
                <a:solidFill>
                  <a:srgbClr val="1F497D"/>
                </a:solidFill>
                <a:effectLst/>
                <a:uLnTx/>
                <a:uFillTx/>
                <a:latin typeface="Times New Roman" panose="02020603050405020304" pitchFamily="18" charset="0"/>
                <a:cs typeface="Times New Roman" panose="02020603050405020304" pitchFamily="18" charset="0"/>
              </a:rPr>
              <a:t>等</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较大、</a:t>
            </a:r>
            <a:r>
              <a:rPr kumimoji="1" lang="en-US" altLang="zh-CN" sz="2400" b="1" i="1"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 </a:t>
            </a:r>
            <a:r>
              <a:rPr kumimoji="1" lang="zh-CN" alt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较长的半导体适用。</a:t>
            </a:r>
          </a:p>
        </p:txBody>
      </p:sp>
    </p:spTree>
    <p:extLst>
      <p:ext uri="{BB962C8B-B14F-4D97-AF65-F5344CB8AC3E}">
        <p14:creationId xmlns:p14="http://schemas.microsoft.com/office/powerpoint/2010/main" val="3642561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37</a:t>
            </a:fld>
            <a:endParaRPr lang="zh-CN" altLang="en-US"/>
          </a:p>
        </p:txBody>
      </p:sp>
      <p:pic>
        <p:nvPicPr>
          <p:cNvPr id="3"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18" y="433286"/>
            <a:ext cx="5867400" cy="22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pic>
        <p:nvPicPr>
          <p:cNvPr id="4"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218" y="433286"/>
            <a:ext cx="2819400"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5" name="Text Box 3076"/>
          <p:cNvSpPr txBox="1">
            <a:spLocks noChangeArrowheads="1"/>
          </p:cNvSpPr>
          <p:nvPr/>
        </p:nvSpPr>
        <p:spPr bwMode="auto">
          <a:xfrm>
            <a:off x="248931" y="2936774"/>
            <a:ext cx="8610600" cy="330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u="sng"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另一种极端情况是电子通过势垒区发生多次碰撞，</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rPr>
              <a:t>电流受电子在势垒区的扩散的限制。这时</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sym typeface="Symbol" panose="05050102010706020507" pitchFamily="18" charset="2"/>
              </a:rPr>
              <a:t>忽略界面处的费米能级降落，</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rPr>
              <a:t>准</a:t>
            </a:r>
            <a:r>
              <a:rPr kumimoji="1" lang="en-US" altLang="zh-CN" sz="2400" b="1" i="1"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i="0" u="none" strike="noStrike" kern="1200" cap="none" spc="0" normalizeH="0" baseline="-25000" noProof="0">
                <a:ln>
                  <a:noFill/>
                </a:ln>
                <a:solidFill>
                  <a:srgbClr val="1F497D"/>
                </a:solidFill>
                <a:effectLst/>
                <a:uLnTx/>
                <a:uFillTx/>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sym typeface="Symbol" panose="05050102010706020507" pitchFamily="18" charset="2"/>
              </a:rPr>
              <a:t>主要降落在势</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垒区内，即</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sym typeface="Symbol" panose="05050102010706020507" pitchFamily="18" charset="2"/>
              </a:rPr>
              <a:t>外加电压完全用于提高</a:t>
            </a:r>
            <a:r>
              <a:rPr kumimoji="1" lang="zh-CN" altLang="en-US" sz="2400" b="1" i="0"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sym typeface="Symbol" panose="05050102010706020507" pitchFamily="18" charset="2"/>
              </a:rPr>
              <a:t>电子浓度梯度</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a:t>
            </a:r>
            <a:endParaRPr kumimoji="1" lang="en-US" altLang="zh-CN"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    电子迁移率</a:t>
            </a:r>
            <a:r>
              <a:rPr kumimoji="1" lang="zh-CN" altLang="en-US" sz="2400" b="1" i="1"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i="0"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rPr>
              <a:t>低</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、电子平均自由程 </a:t>
            </a:r>
            <a:r>
              <a:rPr kumimoji="1" lang="en-US" altLang="zh-CN" sz="2400" b="1" i="1"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rPr>
              <a:t>l </a:t>
            </a:r>
            <a:r>
              <a:rPr kumimoji="1" lang="en-US" altLang="zh-CN" sz="2400" b="1" i="0"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rPr>
              <a:t>&lt;&lt;</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势垒区宽度</a:t>
            </a:r>
            <a:r>
              <a:rPr kumimoji="1" lang="en-US" altLang="zh-CN" sz="2400" b="1" i="1"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rPr>
              <a:t>x</a:t>
            </a:r>
            <a:r>
              <a:rPr kumimoji="1" lang="en-US" altLang="zh-CN" sz="2400" b="1" i="0" u="none" strike="noStrike" kern="1200" cap="none" spc="0" normalizeH="0" baseline="-25000" noProof="0">
                <a:ln>
                  <a:noFill/>
                </a:ln>
                <a:solidFill>
                  <a:srgbClr val="A50021"/>
                </a:solidFill>
                <a:effectLst/>
                <a:uLnTx/>
                <a:uFillTx/>
                <a:latin typeface="Times New Roman" panose="02020603050405020304" pitchFamily="18" charset="0"/>
                <a:cs typeface="Times New Roman" panose="02020603050405020304" pitchFamily="18" charset="0"/>
              </a:rPr>
              <a:t>D</a:t>
            </a:r>
            <a:r>
              <a:rPr kumimoji="1" lang="en-US" altLang="zh-CN"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属于这种情形。</a:t>
            </a:r>
            <a:endParaRPr kumimoji="1" lang="en-US" altLang="zh-CN"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    电流的计算归结于</a:t>
            </a:r>
            <a:r>
              <a:rPr kumimoji="1" lang="en-US" altLang="zh-CN" sz="2400" b="1" i="1"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i="0" u="none" strike="noStrike" kern="1200" cap="none" spc="0" normalizeH="0" baseline="-2500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F</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降落能引起多大的扩散电流。</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rPr>
              <a:t>这就是</a:t>
            </a:r>
            <a:r>
              <a:rPr kumimoji="1" lang="zh-CN" altLang="en-US" sz="2400" b="1" i="0" u="none" strike="noStrike" kern="1200" cap="none" spc="0" normalizeH="0" baseline="0" noProof="0">
                <a:ln>
                  <a:noFill/>
                </a:ln>
                <a:solidFill>
                  <a:srgbClr val="A50021"/>
                </a:solidFill>
                <a:effectLst/>
                <a:uLnTx/>
                <a:uFillTx/>
                <a:latin typeface="Times New Roman" panose="02020603050405020304" pitchFamily="18" charset="0"/>
                <a:cs typeface="Times New Roman" panose="02020603050405020304" pitchFamily="18" charset="0"/>
              </a:rPr>
              <a:t>扩散理论</a:t>
            </a:r>
            <a:r>
              <a:rPr kumimoji="1" lang="zh-CN" altLang="en-US" sz="2400" b="1" i="0" u="none" strike="noStrike" kern="1200" cap="none" spc="0" normalizeH="0" baseline="0" noProof="0">
                <a:ln>
                  <a:noFill/>
                </a:ln>
                <a:solidFill>
                  <a:srgbClr val="1F497D"/>
                </a:solidFill>
                <a:effectLst/>
                <a:uLnTx/>
                <a:uFillTx/>
                <a:latin typeface="Times New Roman" panose="02020603050405020304" pitchFamily="18" charset="0"/>
                <a:cs typeface="Times New Roman" panose="02020603050405020304" pitchFamily="18" charset="0"/>
              </a:rPr>
              <a:t>。 </a:t>
            </a:r>
            <a:r>
              <a:rPr kumimoji="1" lang="en-US" altLang="zh-CN"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CuO</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rPr>
              <a:t>、</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-Si</a:t>
            </a:r>
            <a:r>
              <a:rPr kumimoji="1" lang="zh-CN" altLang="en-US" sz="2400" b="1" i="0" u="none" strike="noStrike" kern="1200" cap="none" spc="0" normalizeH="0" baseline="0" noProof="0">
                <a:ln>
                  <a:noFill/>
                </a:ln>
                <a:solidFill>
                  <a:sysClr val="windowText" lastClr="000000"/>
                </a:solidFill>
                <a:effectLst/>
                <a:uLnTx/>
                <a:uFillTx/>
                <a:latin typeface="Times New Roman" panose="02020603050405020304" pitchFamily="18" charset="0"/>
                <a:cs typeface="Times New Roman" panose="02020603050405020304" pitchFamily="18" charset="0"/>
                <a:sym typeface="Symbol" panose="05050102010706020507" pitchFamily="18" charset="2"/>
              </a:rPr>
              <a:t>等迁移率较低的材料适用。</a:t>
            </a:r>
          </a:p>
        </p:txBody>
      </p:sp>
    </p:spTree>
    <p:extLst>
      <p:ext uri="{BB962C8B-B14F-4D97-AF65-F5344CB8AC3E}">
        <p14:creationId xmlns:p14="http://schemas.microsoft.com/office/powerpoint/2010/main" val="14692570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38</a:t>
            </a:fld>
            <a:endParaRPr lang="zh-CN" altLang="en-US"/>
          </a:p>
        </p:txBody>
      </p:sp>
      <p:sp>
        <p:nvSpPr>
          <p:cNvPr id="3" name="Text Box 4"/>
          <p:cNvSpPr txBox="1">
            <a:spLocks noChangeArrowheads="1"/>
          </p:cNvSpPr>
          <p:nvPr/>
        </p:nvSpPr>
        <p:spPr bwMode="auto">
          <a:xfrm>
            <a:off x="723133" y="2165094"/>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其中</a:t>
            </a:r>
          </a:p>
        </p:txBody>
      </p:sp>
      <p:graphicFrame>
        <p:nvGraphicFramePr>
          <p:cNvPr id="4" name="Object 9"/>
          <p:cNvGraphicFramePr>
            <a:graphicFrameLocks noChangeAspect="1"/>
          </p:cNvGraphicFramePr>
          <p:nvPr>
            <p:extLst>
              <p:ext uri="{D42A27DB-BD31-4B8C-83A1-F6EECF244321}">
                <p14:modId xmlns:p14="http://schemas.microsoft.com/office/powerpoint/2010/main" val="1345170936"/>
              </p:ext>
            </p:extLst>
          </p:nvPr>
        </p:nvGraphicFramePr>
        <p:xfrm>
          <a:off x="894583" y="907794"/>
          <a:ext cx="7035800" cy="914400"/>
        </p:xfrm>
        <a:graphic>
          <a:graphicData uri="http://schemas.openxmlformats.org/presentationml/2006/ole">
            <mc:AlternateContent xmlns:mc="http://schemas.openxmlformats.org/markup-compatibility/2006">
              <mc:Choice xmlns:v="urn:schemas-microsoft-com:vml" Requires="v">
                <p:oleObj spid="_x0000_s68808" name="Equation" r:id="rId3" imgW="3517900" imgH="457200" progId="Equation.DSMT4">
                  <p:embed/>
                </p:oleObj>
              </mc:Choice>
              <mc:Fallback>
                <p:oleObj name="Equation" r:id="rId3" imgW="3517900" imgH="457200" progId="Equation.DSMT4">
                  <p:embed/>
                  <p:pic>
                    <p:nvPicPr>
                      <p:cNvPr id="37892"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583" y="907794"/>
                        <a:ext cx="7035800" cy="914400"/>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0"/>
          <p:cNvGraphicFramePr>
            <a:graphicFrameLocks noChangeAspect="1"/>
          </p:cNvGraphicFramePr>
          <p:nvPr>
            <p:extLst>
              <p:ext uri="{D42A27DB-BD31-4B8C-83A1-F6EECF244321}">
                <p14:modId xmlns:p14="http://schemas.microsoft.com/office/powerpoint/2010/main" val="3404373989"/>
              </p:ext>
            </p:extLst>
          </p:nvPr>
        </p:nvGraphicFramePr>
        <p:xfrm>
          <a:off x="4598220" y="1958719"/>
          <a:ext cx="1879600" cy="838200"/>
        </p:xfrm>
        <a:graphic>
          <a:graphicData uri="http://schemas.openxmlformats.org/presentationml/2006/ole">
            <mc:AlternateContent xmlns:mc="http://schemas.openxmlformats.org/markup-compatibility/2006">
              <mc:Choice xmlns:v="urn:schemas-microsoft-com:vml" Requires="v">
                <p:oleObj spid="_x0000_s68809" name="Equation" r:id="rId5" imgW="939800" imgH="419100" progId="Equation.DSMT4">
                  <p:embed/>
                </p:oleObj>
              </mc:Choice>
              <mc:Fallback>
                <p:oleObj name="Equation" r:id="rId5" imgW="939800" imgH="419100" progId="Equation.DSMT4">
                  <p:embed/>
                  <p:pic>
                    <p:nvPicPr>
                      <p:cNvPr id="37893"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8220" y="1958719"/>
                        <a:ext cx="1879600" cy="838200"/>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11"/>
          <p:cNvSpPr>
            <a:spLocks noChangeArrowheads="1"/>
          </p:cNvSpPr>
          <p:nvPr/>
        </p:nvSpPr>
        <p:spPr bwMode="auto">
          <a:xfrm>
            <a:off x="6479408" y="2160331"/>
            <a:ext cx="1731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fontAlgn="base">
              <a:spcBef>
                <a:spcPct val="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里查孙常数</a:t>
            </a:r>
            <a:endParaRPr kumimoji="1" lang="en-US" altLang="zh-CN" sz="2400" b="1" smtClean="0">
              <a:solidFill>
                <a:srgbClr val="000000"/>
              </a:solidFill>
              <a:latin typeface="Times New Roman" panose="02020603050405020304" pitchFamily="18" charset="0"/>
              <a:ea typeface="宋体" panose="02010600030101010101" pitchFamily="2" charset="-122"/>
            </a:endParaRPr>
          </a:p>
        </p:txBody>
      </p:sp>
      <p:graphicFrame>
        <p:nvGraphicFramePr>
          <p:cNvPr id="7" name="Object 12"/>
          <p:cNvGraphicFramePr>
            <a:graphicFrameLocks noChangeAspect="1"/>
          </p:cNvGraphicFramePr>
          <p:nvPr>
            <p:extLst>
              <p:ext uri="{D42A27DB-BD31-4B8C-83A1-F6EECF244321}">
                <p14:modId xmlns:p14="http://schemas.microsoft.com/office/powerpoint/2010/main" val="3770175505"/>
              </p:ext>
            </p:extLst>
          </p:nvPr>
        </p:nvGraphicFramePr>
        <p:xfrm>
          <a:off x="1515295" y="1973006"/>
          <a:ext cx="2792413" cy="863600"/>
        </p:xfrm>
        <a:graphic>
          <a:graphicData uri="http://schemas.openxmlformats.org/presentationml/2006/ole">
            <mc:AlternateContent xmlns:mc="http://schemas.openxmlformats.org/markup-compatibility/2006">
              <mc:Choice xmlns:v="urn:schemas-microsoft-com:vml" Requires="v">
                <p:oleObj spid="_x0000_s68810" name="Equation" r:id="rId7" imgW="1397000" imgH="431800" progId="Equation.DSMT4">
                  <p:embed/>
                </p:oleObj>
              </mc:Choice>
              <mc:Fallback>
                <p:oleObj name="Equation" r:id="rId7" imgW="1397000" imgH="431800" progId="Equation.DSMT4">
                  <p:embed/>
                  <p:pic>
                    <p:nvPicPr>
                      <p:cNvPr id="37895"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5295" y="1973006"/>
                        <a:ext cx="27924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3"/>
          <p:cNvSpPr txBox="1">
            <a:spLocks noChangeArrowheads="1"/>
          </p:cNvSpPr>
          <p:nvPr/>
        </p:nvSpPr>
        <p:spPr bwMode="auto">
          <a:xfrm>
            <a:off x="390525" y="278376"/>
            <a:ext cx="8188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spcBef>
                <a:spcPct val="0"/>
              </a:spcBef>
              <a:spcAft>
                <a:spcPct val="0"/>
              </a:spcAft>
            </a:pPr>
            <a:r>
              <a:rPr kumimoji="1" lang="en-US" altLang="zh-CN" sz="2400" b="1" dirty="0" smtClean="0">
                <a:solidFill>
                  <a:srgbClr val="FF3300"/>
                </a:solidFill>
                <a:latin typeface="Times New Roman" panose="02020603050405020304" pitchFamily="18" charset="0"/>
                <a:ea typeface="宋体" panose="02010600030101010101" pitchFamily="2" charset="-122"/>
              </a:rPr>
              <a:t>1</a:t>
            </a:r>
            <a:r>
              <a:rPr kumimoji="1" lang="zh-CN" altLang="en-US" sz="2400" b="1" dirty="0" smtClean="0">
                <a:solidFill>
                  <a:srgbClr val="FF3300"/>
                </a:solidFill>
                <a:latin typeface="Times New Roman" panose="02020603050405020304" pitchFamily="18" charset="0"/>
                <a:ea typeface="宋体" panose="02010600030101010101" pitchFamily="2" charset="-122"/>
              </a:rPr>
              <a:t>）</a:t>
            </a:r>
            <a:r>
              <a:rPr kumimoji="1" lang="en-US" altLang="zh-CN" sz="2400" b="1" dirty="0" smtClean="0">
                <a:solidFill>
                  <a:srgbClr val="FF3300"/>
                </a:solidFill>
                <a:latin typeface="Times New Roman" panose="02020603050405020304" pitchFamily="18" charset="0"/>
                <a:ea typeface="宋体" panose="02010600030101010101" pitchFamily="2" charset="-122"/>
              </a:rPr>
              <a:t> </a:t>
            </a:r>
            <a:r>
              <a:rPr kumimoji="1" lang="zh-CN" altLang="en-US" sz="2400" b="1" dirty="0" smtClean="0">
                <a:solidFill>
                  <a:srgbClr val="FF3300"/>
                </a:solidFill>
                <a:latin typeface="Times New Roman" panose="02020603050405020304" pitchFamily="18" charset="0"/>
                <a:ea typeface="宋体" panose="02010600030101010101" pitchFamily="2" charset="-122"/>
              </a:rPr>
              <a:t>热发射模型</a:t>
            </a:r>
            <a:endParaRPr kumimoji="1" lang="zh-CN" altLang="en-US" sz="2400" b="1" dirty="0" smtClean="0">
              <a:solidFill>
                <a:srgbClr val="FF3300"/>
              </a:solidFill>
              <a:latin typeface="宋体" panose="02010600030101010101" pitchFamily="2" charset="-122"/>
              <a:ea typeface="宋体" panose="02010600030101010101" pitchFamily="2" charset="-122"/>
            </a:endParaRPr>
          </a:p>
        </p:txBody>
      </p:sp>
      <p:sp>
        <p:nvSpPr>
          <p:cNvPr id="9" name="Text Box 3"/>
          <p:cNvSpPr txBox="1">
            <a:spLocks noChangeArrowheads="1"/>
          </p:cNvSpPr>
          <p:nvPr/>
        </p:nvSpPr>
        <p:spPr bwMode="auto">
          <a:xfrm>
            <a:off x="318320" y="3061060"/>
            <a:ext cx="8188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defTabSz="914400" eaLnBrk="0" fontAlgn="base" hangingPunct="0">
              <a:spcBef>
                <a:spcPct val="0"/>
              </a:spcBef>
              <a:spcAft>
                <a:spcPct val="0"/>
              </a:spcAft>
            </a:pPr>
            <a:r>
              <a:rPr kumimoji="1" lang="en-US" altLang="zh-CN" sz="2400" b="1" dirty="0" smtClean="0">
                <a:solidFill>
                  <a:srgbClr val="FF3300"/>
                </a:solidFill>
                <a:latin typeface="Times New Roman" panose="02020603050405020304" pitchFamily="18" charset="0"/>
                <a:ea typeface="宋体" panose="02010600030101010101" pitchFamily="2" charset="-122"/>
              </a:rPr>
              <a:t>2</a:t>
            </a:r>
            <a:r>
              <a:rPr kumimoji="1" lang="zh-CN" altLang="en-US" sz="2400" b="1" dirty="0" smtClean="0">
                <a:solidFill>
                  <a:srgbClr val="FF3300"/>
                </a:solidFill>
                <a:latin typeface="Times New Roman" panose="02020603050405020304" pitchFamily="18" charset="0"/>
                <a:ea typeface="宋体" panose="02010600030101010101" pitchFamily="2" charset="-122"/>
              </a:rPr>
              <a:t>）</a:t>
            </a:r>
            <a:r>
              <a:rPr kumimoji="1" lang="en-US" altLang="zh-CN" sz="2400" b="1" dirty="0" smtClean="0">
                <a:solidFill>
                  <a:srgbClr val="FF3300"/>
                </a:solidFill>
                <a:latin typeface="Times New Roman" panose="02020603050405020304" pitchFamily="18" charset="0"/>
                <a:ea typeface="宋体" panose="02010600030101010101" pitchFamily="2" charset="-122"/>
              </a:rPr>
              <a:t> </a:t>
            </a:r>
            <a:r>
              <a:rPr kumimoji="1" lang="zh-CN" altLang="en-US" sz="2400" b="1" dirty="0" smtClean="0">
                <a:solidFill>
                  <a:srgbClr val="FF3300"/>
                </a:solidFill>
                <a:latin typeface="Times New Roman" panose="02020603050405020304" pitchFamily="18" charset="0"/>
                <a:ea typeface="宋体" panose="02010600030101010101" pitchFamily="2" charset="-122"/>
              </a:rPr>
              <a:t>扩散模型</a:t>
            </a:r>
            <a:endParaRPr kumimoji="1" lang="zh-CN" altLang="en-US" sz="2400" b="1" dirty="0" smtClean="0">
              <a:solidFill>
                <a:srgbClr val="FF3300"/>
              </a:solidFill>
              <a:latin typeface="宋体" panose="02010600030101010101" pitchFamily="2" charset="-122"/>
              <a:ea typeface="宋体" panose="02010600030101010101" pitchFamily="2" charset="-122"/>
            </a:endParaRPr>
          </a:p>
        </p:txBody>
      </p:sp>
      <p:sp>
        <p:nvSpPr>
          <p:cNvPr id="10" name="Text Box 4"/>
          <p:cNvSpPr txBox="1">
            <a:spLocks noChangeArrowheads="1"/>
          </p:cNvSpPr>
          <p:nvPr/>
        </p:nvSpPr>
        <p:spPr bwMode="auto">
          <a:xfrm>
            <a:off x="390525" y="3671304"/>
            <a:ext cx="8348612" cy="2735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ts val="80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rPr>
              <a:t>平衡时，漂移和扩散电流达到平衡。假设偏置条件下扩散电流为产生肖特基电流的主要因素，正向偏置时，电场强度减小，漂移项减小，扩散项超过漂移电流，产生净电流。</a:t>
            </a:r>
            <a:endParaRPr kumimoji="1" lang="en-US" altLang="zh-CN" sz="2400" b="1" dirty="0" smtClean="0">
              <a:solidFill>
                <a:srgbClr val="000000"/>
              </a:solidFill>
              <a:latin typeface="Times New Roman" panose="02020603050405020304" pitchFamily="18" charset="0"/>
              <a:ea typeface="宋体" panose="02010600030101010101" pitchFamily="2" charset="-122"/>
            </a:endParaRPr>
          </a:p>
          <a:p>
            <a:pPr defTabSz="914400" eaLnBrk="0" fontAlgn="base" hangingPunct="0">
              <a:lnSpc>
                <a:spcPct val="110000"/>
              </a:lnSpc>
              <a:spcBef>
                <a:spcPts val="800"/>
              </a:spcBef>
              <a:spcAft>
                <a:spcPct val="0"/>
              </a:spcAft>
            </a:pPr>
            <a:endParaRPr kumimoji="1" lang="zh-CN" altLang="en-US" sz="2400" b="1" dirty="0" smtClean="0">
              <a:solidFill>
                <a:srgbClr val="000000"/>
              </a:solidFill>
              <a:latin typeface="Times New Roman" panose="02020603050405020304" pitchFamily="18" charset="0"/>
              <a:ea typeface="宋体" panose="02010600030101010101" pitchFamily="2" charset="-122"/>
            </a:endParaRPr>
          </a:p>
          <a:p>
            <a:pPr defTabSz="914400" eaLnBrk="0" fontAlgn="base" hangingPunct="0">
              <a:lnSpc>
                <a:spcPct val="110000"/>
              </a:lnSpc>
              <a:spcBef>
                <a:spcPts val="800"/>
              </a:spcBef>
              <a:spcAft>
                <a:spcPct val="0"/>
              </a:spcAft>
            </a:pPr>
            <a:r>
              <a:rPr kumimoji="1" lang="zh-CN" altLang="en-US" sz="2400" b="1" dirty="0" smtClean="0">
                <a:solidFill>
                  <a:srgbClr val="000000"/>
                </a:solidFill>
                <a:latin typeface="Times New Roman" panose="02020603050405020304" pitchFamily="18" charset="0"/>
                <a:ea typeface="宋体" panose="02010600030101010101" pitchFamily="2" charset="-122"/>
              </a:rPr>
              <a:t>能够越过势垒的电子数目分别由势垒高度     和     代入费米狄拉克统计分布（或波尔兹曼分布）得到：</a:t>
            </a:r>
          </a:p>
        </p:txBody>
      </p:sp>
      <p:graphicFrame>
        <p:nvGraphicFramePr>
          <p:cNvPr id="11" name="Object 6"/>
          <p:cNvGraphicFramePr>
            <a:graphicFrameLocks noChangeAspect="1"/>
          </p:cNvGraphicFramePr>
          <p:nvPr>
            <p:extLst>
              <p:ext uri="{D42A27DB-BD31-4B8C-83A1-F6EECF244321}">
                <p14:modId xmlns:p14="http://schemas.microsoft.com/office/powerpoint/2010/main" val="2492008576"/>
              </p:ext>
            </p:extLst>
          </p:nvPr>
        </p:nvGraphicFramePr>
        <p:xfrm>
          <a:off x="6061382" y="5456872"/>
          <a:ext cx="279400" cy="457200"/>
        </p:xfrm>
        <a:graphic>
          <a:graphicData uri="http://schemas.openxmlformats.org/presentationml/2006/ole">
            <mc:AlternateContent xmlns:mc="http://schemas.openxmlformats.org/markup-compatibility/2006">
              <mc:Choice xmlns:v="urn:schemas-microsoft-com:vml" Requires="v">
                <p:oleObj spid="_x0000_s68811" name="Equation" r:id="rId9" imgW="139700" imgH="228600" progId="Equation.DSMT4">
                  <p:embed/>
                </p:oleObj>
              </mc:Choice>
              <mc:Fallback>
                <p:oleObj name="Equation" r:id="rId9" imgW="139700" imgH="228600" progId="Equation.DSMT4">
                  <p:embed/>
                  <p:pic>
                    <p:nvPicPr>
                      <p:cNvPr id="38916"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61382" y="5456872"/>
                        <a:ext cx="27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8"/>
          <p:cNvGraphicFramePr>
            <a:graphicFrameLocks noChangeAspect="1"/>
          </p:cNvGraphicFramePr>
          <p:nvPr>
            <p:extLst>
              <p:ext uri="{D42A27DB-BD31-4B8C-83A1-F6EECF244321}">
                <p14:modId xmlns:p14="http://schemas.microsoft.com/office/powerpoint/2010/main" val="1841488323"/>
              </p:ext>
            </p:extLst>
          </p:nvPr>
        </p:nvGraphicFramePr>
        <p:xfrm>
          <a:off x="6723370" y="5455284"/>
          <a:ext cx="355600" cy="457200"/>
        </p:xfrm>
        <a:graphic>
          <a:graphicData uri="http://schemas.openxmlformats.org/presentationml/2006/ole">
            <mc:AlternateContent xmlns:mc="http://schemas.openxmlformats.org/markup-compatibility/2006">
              <mc:Choice xmlns:v="urn:schemas-microsoft-com:vml" Requires="v">
                <p:oleObj spid="_x0000_s68812" name="Equation" r:id="rId11" imgW="177646" imgH="228402" progId="Equation.DSMT4">
                  <p:embed/>
                </p:oleObj>
              </mc:Choice>
              <mc:Fallback>
                <p:oleObj name="Equation" r:id="rId11" imgW="177646" imgH="228402" progId="Equation.DSMT4">
                  <p:embed/>
                  <p:pic>
                    <p:nvPicPr>
                      <p:cNvPr id="38918"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23370" y="5455284"/>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0"/>
          <p:cNvGraphicFramePr>
            <a:graphicFrameLocks noChangeAspect="1"/>
          </p:cNvGraphicFramePr>
          <p:nvPr>
            <p:extLst>
              <p:ext uri="{D42A27DB-BD31-4B8C-83A1-F6EECF244321}">
                <p14:modId xmlns:p14="http://schemas.microsoft.com/office/powerpoint/2010/main" val="4004734873"/>
              </p:ext>
            </p:extLst>
          </p:nvPr>
        </p:nvGraphicFramePr>
        <p:xfrm>
          <a:off x="642014" y="5026978"/>
          <a:ext cx="3021013" cy="457200"/>
        </p:xfrm>
        <a:graphic>
          <a:graphicData uri="http://schemas.openxmlformats.org/presentationml/2006/ole">
            <mc:AlternateContent xmlns:mc="http://schemas.openxmlformats.org/markup-compatibility/2006">
              <mc:Choice xmlns:v="urn:schemas-microsoft-com:vml" Requires="v">
                <p:oleObj spid="_x0000_s68813" name="Equation" r:id="rId13" imgW="1511300" imgH="228600" progId="Equation.DSMT4">
                  <p:embed/>
                </p:oleObj>
              </mc:Choice>
              <mc:Fallback>
                <p:oleObj name="Equation" r:id="rId13" imgW="1511300" imgH="228600" progId="Equation.DSMT4">
                  <p:embed/>
                  <p:pic>
                    <p:nvPicPr>
                      <p:cNvPr id="3892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2014" y="5026978"/>
                        <a:ext cx="302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326105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39</a:t>
            </a:fld>
            <a:endParaRPr lang="zh-CN" altLang="en-US"/>
          </a:p>
        </p:txBody>
      </p:sp>
      <p:graphicFrame>
        <p:nvGraphicFramePr>
          <p:cNvPr id="3" name="Object 11"/>
          <p:cNvGraphicFramePr>
            <a:graphicFrameLocks noChangeAspect="1"/>
          </p:cNvGraphicFramePr>
          <p:nvPr>
            <p:extLst>
              <p:ext uri="{D42A27DB-BD31-4B8C-83A1-F6EECF244321}">
                <p14:modId xmlns:p14="http://schemas.microsoft.com/office/powerpoint/2010/main" val="2985275271"/>
              </p:ext>
            </p:extLst>
          </p:nvPr>
        </p:nvGraphicFramePr>
        <p:xfrm>
          <a:off x="1042016" y="422224"/>
          <a:ext cx="3198813" cy="944562"/>
        </p:xfrm>
        <a:graphic>
          <a:graphicData uri="http://schemas.openxmlformats.org/presentationml/2006/ole">
            <mc:AlternateContent xmlns:mc="http://schemas.openxmlformats.org/markup-compatibility/2006">
              <mc:Choice xmlns:v="urn:schemas-microsoft-com:vml" Requires="v">
                <p:oleObj spid="_x0000_s69898" name="Equation" r:id="rId3" imgW="1333500" imgH="393700" progId="Equation.DSMT4">
                  <p:embed/>
                </p:oleObj>
              </mc:Choice>
              <mc:Fallback>
                <p:oleObj name="Equation" r:id="rId3" imgW="1333500" imgH="393700" progId="Equation.DSMT4">
                  <p:embed/>
                  <p:pic>
                    <p:nvPicPr>
                      <p:cNvPr id="38921"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016" y="422224"/>
                        <a:ext cx="3198813" cy="944562"/>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12"/>
          <p:cNvGraphicFramePr>
            <a:graphicFrameLocks noChangeAspect="1"/>
          </p:cNvGraphicFramePr>
          <p:nvPr>
            <p:extLst>
              <p:ext uri="{D42A27DB-BD31-4B8C-83A1-F6EECF244321}">
                <p14:modId xmlns:p14="http://schemas.microsoft.com/office/powerpoint/2010/main" val="693490352"/>
              </p:ext>
            </p:extLst>
          </p:nvPr>
        </p:nvGraphicFramePr>
        <p:xfrm>
          <a:off x="4434349" y="422224"/>
          <a:ext cx="3351213" cy="944562"/>
        </p:xfrm>
        <a:graphic>
          <a:graphicData uri="http://schemas.openxmlformats.org/presentationml/2006/ole">
            <mc:AlternateContent xmlns:mc="http://schemas.openxmlformats.org/markup-compatibility/2006">
              <mc:Choice xmlns:v="urn:schemas-microsoft-com:vml" Requires="v">
                <p:oleObj spid="_x0000_s69899" name="Equation" r:id="rId5" imgW="1396394" imgH="393529" progId="Equation.DSMT4">
                  <p:embed/>
                </p:oleObj>
              </mc:Choice>
              <mc:Fallback>
                <p:oleObj name="Equation" r:id="rId5" imgW="1396394" imgH="393529" progId="Equation.DSMT4">
                  <p:embed/>
                  <p:pic>
                    <p:nvPicPr>
                      <p:cNvPr id="3892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4349" y="422224"/>
                        <a:ext cx="3351213" cy="944562"/>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4"/>
          <p:cNvSpPr txBox="1">
            <a:spLocks noChangeArrowheads="1"/>
          </p:cNvSpPr>
          <p:nvPr/>
        </p:nvSpPr>
        <p:spPr bwMode="auto">
          <a:xfrm>
            <a:off x="539750" y="2359230"/>
            <a:ext cx="353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在有外加偏置</a:t>
            </a:r>
            <a:r>
              <a:rPr kumimoji="1" lang="en-US" altLang="zh-CN" sz="2400" b="1" i="1" smtClean="0">
                <a:solidFill>
                  <a:srgbClr val="000000"/>
                </a:solidFill>
                <a:latin typeface="Times New Roman" panose="02020603050405020304" pitchFamily="18" charset="0"/>
                <a:ea typeface="宋体" panose="02010600030101010101" pitchFamily="2" charset="-122"/>
              </a:rPr>
              <a:t>V</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A</a:t>
            </a:r>
            <a:r>
              <a:rPr kumimoji="1" lang="zh-CN" altLang="en-US" sz="2400" b="1" smtClean="0">
                <a:solidFill>
                  <a:srgbClr val="000000"/>
                </a:solidFill>
                <a:latin typeface="Times New Roman" panose="02020603050405020304" pitchFamily="18" charset="0"/>
                <a:ea typeface="宋体" panose="02010600030101010101" pitchFamily="2" charset="-122"/>
              </a:rPr>
              <a:t>时，</a:t>
            </a:r>
            <a:endParaRPr kumimoji="1" lang="zh-CN" altLang="en-US" sz="2400" b="1" baseline="-25000" smtClean="0">
              <a:solidFill>
                <a:srgbClr val="000000"/>
              </a:solidFill>
              <a:latin typeface="Times New Roman" panose="02020603050405020304" pitchFamily="18" charset="0"/>
              <a:ea typeface="宋体" panose="02010600030101010101" pitchFamily="2" charset="-122"/>
            </a:endParaRPr>
          </a:p>
        </p:txBody>
      </p:sp>
      <p:sp>
        <p:nvSpPr>
          <p:cNvPr id="6" name="Text Box 5"/>
          <p:cNvSpPr txBox="1">
            <a:spLocks noChangeArrowheads="1"/>
          </p:cNvSpPr>
          <p:nvPr/>
        </p:nvSpPr>
        <p:spPr bwMode="auto">
          <a:xfrm>
            <a:off x="539750" y="3511755"/>
            <a:ext cx="788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从金属到半导体的电子流大小不受 </a:t>
            </a:r>
            <a:r>
              <a:rPr kumimoji="1" lang="en-US" altLang="zh-CN" sz="2400" b="1" i="1" smtClean="0">
                <a:solidFill>
                  <a:srgbClr val="000000"/>
                </a:solidFill>
                <a:latin typeface="Times New Roman" panose="02020603050405020304" pitchFamily="18" charset="0"/>
                <a:ea typeface="宋体" panose="02010600030101010101" pitchFamily="2" charset="-122"/>
              </a:rPr>
              <a:t>V</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A</a:t>
            </a:r>
            <a:r>
              <a:rPr kumimoji="1" lang="zh-CN" altLang="en-US" sz="2400" b="1" smtClean="0">
                <a:solidFill>
                  <a:srgbClr val="000000"/>
                </a:solidFill>
                <a:latin typeface="Times New Roman" panose="02020603050405020304" pitchFamily="18" charset="0"/>
                <a:ea typeface="宋体" panose="02010600030101010101" pitchFamily="2" charset="-122"/>
              </a:rPr>
              <a:t>的影响，有：</a:t>
            </a:r>
            <a:endParaRPr kumimoji="1" lang="zh-CN" altLang="en-US" sz="2400" b="1" baseline="-25000" smtClean="0">
              <a:solidFill>
                <a:srgbClr val="000000"/>
              </a:solidFill>
              <a:latin typeface="Times New Roman" panose="02020603050405020304" pitchFamily="18" charset="0"/>
              <a:ea typeface="宋体" panose="02010600030101010101" pitchFamily="2" charset="-122"/>
            </a:endParaRPr>
          </a:p>
        </p:txBody>
      </p:sp>
      <p:sp>
        <p:nvSpPr>
          <p:cNvPr id="7" name="Text Box 6"/>
          <p:cNvSpPr txBox="1">
            <a:spLocks noChangeArrowheads="1"/>
          </p:cNvSpPr>
          <p:nvPr/>
        </p:nvSpPr>
        <p:spPr bwMode="auto">
          <a:xfrm>
            <a:off x="1931988" y="6058105"/>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其中                            为反向饱和电流。</a:t>
            </a:r>
          </a:p>
        </p:txBody>
      </p:sp>
      <p:graphicFrame>
        <p:nvGraphicFramePr>
          <p:cNvPr id="8" name="Object 7"/>
          <p:cNvGraphicFramePr>
            <a:graphicFrameLocks noChangeAspect="1"/>
          </p:cNvGraphicFramePr>
          <p:nvPr>
            <p:extLst>
              <p:ext uri="{D42A27DB-BD31-4B8C-83A1-F6EECF244321}">
                <p14:modId xmlns:p14="http://schemas.microsoft.com/office/powerpoint/2010/main" val="3076069112"/>
              </p:ext>
            </p:extLst>
          </p:nvPr>
        </p:nvGraphicFramePr>
        <p:xfrm>
          <a:off x="2862263" y="1319523"/>
          <a:ext cx="3687762" cy="852487"/>
        </p:xfrm>
        <a:graphic>
          <a:graphicData uri="http://schemas.openxmlformats.org/presentationml/2006/ole">
            <mc:AlternateContent xmlns:mc="http://schemas.openxmlformats.org/markup-compatibility/2006">
              <mc:Choice xmlns:v="urn:schemas-microsoft-com:vml" Requires="v">
                <p:oleObj spid="_x0000_s69900" name="Equation" r:id="rId7" imgW="1536033" imgH="355446" progId="Equation.3">
                  <p:embed/>
                </p:oleObj>
              </mc:Choice>
              <mc:Fallback>
                <p:oleObj name="Equation" r:id="rId7" imgW="1536033" imgH="355446" progId="Equation.3">
                  <p:embed/>
                  <p:pic>
                    <p:nvPicPr>
                      <p:cNvPr id="39941"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2263" y="1319523"/>
                        <a:ext cx="3687762" cy="852487"/>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535650187"/>
              </p:ext>
            </p:extLst>
          </p:nvPr>
        </p:nvGraphicFramePr>
        <p:xfrm>
          <a:off x="3465513" y="2346530"/>
          <a:ext cx="1727200" cy="457200"/>
        </p:xfrm>
        <a:graphic>
          <a:graphicData uri="http://schemas.openxmlformats.org/presentationml/2006/ole">
            <mc:AlternateContent xmlns:mc="http://schemas.openxmlformats.org/markup-compatibility/2006">
              <mc:Choice xmlns:v="urn:schemas-microsoft-com:vml" Requires="v">
                <p:oleObj spid="_x0000_s69901" name="Equation" r:id="rId9" imgW="863225" imgH="228501" progId="Equation.DSMT4">
                  <p:embed/>
                </p:oleObj>
              </mc:Choice>
              <mc:Fallback>
                <p:oleObj name="Equation" r:id="rId9" imgW="863225" imgH="228501" progId="Equation.DSMT4">
                  <p:embed/>
                  <p:pic>
                    <p:nvPicPr>
                      <p:cNvPr id="39942"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65513" y="2346530"/>
                        <a:ext cx="1727200" cy="457200"/>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69628379"/>
              </p:ext>
            </p:extLst>
          </p:nvPr>
        </p:nvGraphicFramePr>
        <p:xfrm>
          <a:off x="2743200" y="2845005"/>
          <a:ext cx="3200400" cy="577850"/>
        </p:xfrm>
        <a:graphic>
          <a:graphicData uri="http://schemas.openxmlformats.org/presentationml/2006/ole">
            <mc:AlternateContent xmlns:mc="http://schemas.openxmlformats.org/markup-compatibility/2006">
              <mc:Choice xmlns:v="urn:schemas-microsoft-com:vml" Requires="v">
                <p:oleObj spid="_x0000_s69902" name="Equation" r:id="rId11" imgW="1333500" imgH="241300" progId="Equation.DSMT4">
                  <p:embed/>
                </p:oleObj>
              </mc:Choice>
              <mc:Fallback>
                <p:oleObj name="Equation" r:id="rId11" imgW="1333500" imgH="241300" progId="Equation.DSMT4">
                  <p:embed/>
                  <p:pic>
                    <p:nvPicPr>
                      <p:cNvPr id="39943"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3200" y="2845005"/>
                        <a:ext cx="3200400" cy="577850"/>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030302045"/>
              </p:ext>
            </p:extLst>
          </p:nvPr>
        </p:nvGraphicFramePr>
        <p:xfrm>
          <a:off x="2573338" y="4041980"/>
          <a:ext cx="4662487" cy="1889125"/>
        </p:xfrm>
        <a:graphic>
          <a:graphicData uri="http://schemas.openxmlformats.org/presentationml/2006/ole">
            <mc:AlternateContent xmlns:mc="http://schemas.openxmlformats.org/markup-compatibility/2006">
              <mc:Choice xmlns:v="urn:schemas-microsoft-com:vml" Requires="v">
                <p:oleObj spid="_x0000_s69903" name="Equation" r:id="rId13" imgW="1943100" imgH="787400" progId="Equation.DSMT4">
                  <p:embed/>
                </p:oleObj>
              </mc:Choice>
              <mc:Fallback>
                <p:oleObj name="Equation" r:id="rId13" imgW="1943100" imgH="787400" progId="Equation.DSMT4">
                  <p:embed/>
                  <p:pic>
                    <p:nvPicPr>
                      <p:cNvPr id="39944"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3338" y="4041980"/>
                        <a:ext cx="4662487" cy="1889125"/>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3"/>
          <p:cNvGraphicFramePr>
            <a:graphicFrameLocks noChangeAspect="1"/>
          </p:cNvGraphicFramePr>
          <p:nvPr>
            <p:extLst>
              <p:ext uri="{D42A27DB-BD31-4B8C-83A1-F6EECF244321}">
                <p14:modId xmlns:p14="http://schemas.microsoft.com/office/powerpoint/2010/main" val="96344394"/>
              </p:ext>
            </p:extLst>
          </p:nvPr>
        </p:nvGraphicFramePr>
        <p:xfrm>
          <a:off x="2778125" y="6062868"/>
          <a:ext cx="1954213" cy="482600"/>
        </p:xfrm>
        <a:graphic>
          <a:graphicData uri="http://schemas.openxmlformats.org/presentationml/2006/ole">
            <mc:AlternateContent xmlns:mc="http://schemas.openxmlformats.org/markup-compatibility/2006">
              <mc:Choice xmlns:v="urn:schemas-microsoft-com:vml" Requires="v">
                <p:oleObj spid="_x0000_s69904" name="Equation" r:id="rId15" imgW="977900" imgH="241300" progId="Equation.DSMT4">
                  <p:embed/>
                </p:oleObj>
              </mc:Choice>
              <mc:Fallback>
                <p:oleObj name="Equation" r:id="rId15" imgW="977900" imgH="241300" progId="Equation.DSMT4">
                  <p:embed/>
                  <p:pic>
                    <p:nvPicPr>
                      <p:cNvPr id="39945"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8125" y="6062868"/>
                        <a:ext cx="1954213" cy="482600"/>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5"/>
          <p:cNvGraphicFramePr>
            <a:graphicFrameLocks noChangeAspect="1"/>
          </p:cNvGraphicFramePr>
          <p:nvPr>
            <p:extLst>
              <p:ext uri="{D42A27DB-BD31-4B8C-83A1-F6EECF244321}">
                <p14:modId xmlns:p14="http://schemas.microsoft.com/office/powerpoint/2010/main" val="425079376"/>
              </p:ext>
            </p:extLst>
          </p:nvPr>
        </p:nvGraphicFramePr>
        <p:xfrm>
          <a:off x="4514850" y="3429205"/>
          <a:ext cx="114300" cy="215900"/>
        </p:xfrm>
        <a:graphic>
          <a:graphicData uri="http://schemas.openxmlformats.org/presentationml/2006/ole">
            <mc:AlternateContent xmlns:mc="http://schemas.openxmlformats.org/markup-compatibility/2006">
              <mc:Choice xmlns:v="urn:schemas-microsoft-com:vml" Requires="v">
                <p:oleObj spid="_x0000_s69905" name="公式" r:id="rId17" imgW="114151" imgH="215619" progId="Equation.3">
                  <p:embed/>
                </p:oleObj>
              </mc:Choice>
              <mc:Fallback>
                <p:oleObj name="公式" r:id="rId17" imgW="114151" imgH="215619" progId="Equation.3">
                  <p:embed/>
                  <p:pic>
                    <p:nvPicPr>
                      <p:cNvPr id="39946"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14850" y="3429205"/>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Box 14"/>
          <p:cNvSpPr txBox="1">
            <a:spLocks noChangeArrowheads="1"/>
          </p:cNvSpPr>
          <p:nvPr/>
        </p:nvSpPr>
        <p:spPr bwMode="auto">
          <a:xfrm>
            <a:off x="785813" y="1652898"/>
            <a:ext cx="1928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0"/>
              </a:spcBef>
              <a:spcAft>
                <a:spcPct val="0"/>
              </a:spcAft>
            </a:pPr>
            <a:r>
              <a:rPr lang="zh-CN" altLang="en-US" sz="2400" b="1" smtClean="0">
                <a:solidFill>
                  <a:srgbClr val="000000"/>
                </a:solidFill>
                <a:ea typeface="宋体" panose="02010600030101010101" pitchFamily="2" charset="-122"/>
              </a:rPr>
              <a:t>热平衡时：</a:t>
            </a:r>
          </a:p>
        </p:txBody>
      </p:sp>
    </p:spTree>
    <p:extLst>
      <p:ext uri="{BB962C8B-B14F-4D97-AF65-F5344CB8AC3E}">
        <p14:creationId xmlns:p14="http://schemas.microsoft.com/office/powerpoint/2010/main" val="1138723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40</a:t>
            </a:fld>
            <a:endParaRPr lang="zh-CN" altLang="en-US"/>
          </a:p>
        </p:txBody>
      </p: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l="11777" t="8717" r="15910" b="4117"/>
          <a:stretch>
            <a:fillRect/>
          </a:stretch>
        </p:blipFill>
        <p:spPr bwMode="auto">
          <a:xfrm>
            <a:off x="5665532" y="862678"/>
            <a:ext cx="2830513"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5"/>
          <p:cNvSpPr txBox="1">
            <a:spLocks noChangeArrowheads="1"/>
          </p:cNvSpPr>
          <p:nvPr/>
        </p:nvSpPr>
        <p:spPr bwMode="auto">
          <a:xfrm>
            <a:off x="480757" y="1227803"/>
            <a:ext cx="79930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200" b="1" smtClean="0">
                <a:solidFill>
                  <a:srgbClr val="000000"/>
                </a:solidFill>
                <a:latin typeface="Times New Roman" panose="02020603050405020304" pitchFamily="18" charset="0"/>
                <a:ea typeface="宋体" panose="02010600030101010101" pitchFamily="2" charset="-122"/>
              </a:rPr>
              <a:t>无论采用何种理论推导出的</a:t>
            </a:r>
            <a:r>
              <a:rPr kumimoji="1" lang="en-US" altLang="zh-CN" sz="2200" b="1" smtClean="0">
                <a:solidFill>
                  <a:srgbClr val="000000"/>
                </a:solidFill>
                <a:latin typeface="Times New Roman" panose="02020603050405020304" pitchFamily="18" charset="0"/>
                <a:ea typeface="宋体" panose="02010600030101010101" pitchFamily="2" charset="-122"/>
              </a:rPr>
              <a:t>I-V</a:t>
            </a:r>
            <a:r>
              <a:rPr kumimoji="1" lang="zh-CN" altLang="en-US" sz="2200" b="1" smtClean="0">
                <a:solidFill>
                  <a:srgbClr val="000000"/>
                </a:solidFill>
                <a:latin typeface="Times New Roman" panose="02020603050405020304" pitchFamily="18" charset="0"/>
                <a:ea typeface="宋体" panose="02010600030101010101" pitchFamily="2" charset="-122"/>
              </a:rPr>
              <a:t>特性曲线满足：</a:t>
            </a:r>
          </a:p>
        </p:txBody>
      </p:sp>
      <p:graphicFrame>
        <p:nvGraphicFramePr>
          <p:cNvPr id="18" name="Object 6"/>
          <p:cNvGraphicFramePr>
            <a:graphicFrameLocks noChangeAspect="1"/>
          </p:cNvGraphicFramePr>
          <p:nvPr>
            <p:extLst>
              <p:ext uri="{D42A27DB-BD31-4B8C-83A1-F6EECF244321}">
                <p14:modId xmlns:p14="http://schemas.microsoft.com/office/powerpoint/2010/main" val="1707537030"/>
              </p:ext>
            </p:extLst>
          </p:nvPr>
        </p:nvGraphicFramePr>
        <p:xfrm>
          <a:off x="1384045" y="1654841"/>
          <a:ext cx="2768600" cy="914400"/>
        </p:xfrm>
        <a:graphic>
          <a:graphicData uri="http://schemas.openxmlformats.org/presentationml/2006/ole">
            <mc:AlternateContent xmlns:mc="http://schemas.openxmlformats.org/markup-compatibility/2006">
              <mc:Choice xmlns:v="urn:schemas-microsoft-com:vml" Requires="v">
                <p:oleObj spid="_x0000_s70724" name="Equation" r:id="rId4" imgW="1384300" imgH="457200" progId="Equation.DSMT4">
                  <p:embed/>
                </p:oleObj>
              </mc:Choice>
              <mc:Fallback>
                <p:oleObj name="Equation" r:id="rId4" imgW="1384300" imgH="457200" progId="Equation.DSMT4">
                  <p:embed/>
                  <p:pic>
                    <p:nvPicPr>
                      <p:cNvPr id="4096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4045" y="1654841"/>
                        <a:ext cx="2768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 Box 7"/>
          <p:cNvSpPr txBox="1">
            <a:spLocks noChangeArrowheads="1"/>
          </p:cNvSpPr>
          <p:nvPr/>
        </p:nvSpPr>
        <p:spPr bwMode="auto">
          <a:xfrm>
            <a:off x="480757" y="2589878"/>
            <a:ext cx="43434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200" b="1" smtClean="0">
                <a:solidFill>
                  <a:srgbClr val="000000"/>
                </a:solidFill>
                <a:latin typeface="Times New Roman" panose="02020603050405020304" pitchFamily="18" charset="0"/>
                <a:ea typeface="宋体" panose="02010600030101010101" pitchFamily="2" charset="-122"/>
              </a:rPr>
              <a:t>不同理论推出的结果的差别主要在于 </a:t>
            </a:r>
            <a:r>
              <a:rPr kumimoji="1" lang="en-US" altLang="zh-CN" sz="2200" b="1" i="1" smtClean="0">
                <a:solidFill>
                  <a:srgbClr val="000000"/>
                </a:solidFill>
                <a:latin typeface="Times New Roman" panose="02020603050405020304" pitchFamily="18" charset="0"/>
                <a:ea typeface="宋体" panose="02010600030101010101" pitchFamily="2" charset="-122"/>
              </a:rPr>
              <a:t>I</a:t>
            </a:r>
            <a:r>
              <a:rPr kumimoji="1" lang="en-US" altLang="zh-CN" sz="2200" b="1" i="1" baseline="-25000" smtClean="0">
                <a:solidFill>
                  <a:srgbClr val="000000"/>
                </a:solidFill>
                <a:latin typeface="Times New Roman" panose="02020603050405020304" pitchFamily="18" charset="0"/>
                <a:ea typeface="宋体" panose="02010600030101010101" pitchFamily="2" charset="-122"/>
              </a:rPr>
              <a:t>0 </a:t>
            </a:r>
            <a:r>
              <a:rPr kumimoji="1" lang="zh-CN" altLang="en-US" sz="2200" b="1" smtClean="0">
                <a:solidFill>
                  <a:srgbClr val="000000"/>
                </a:solidFill>
                <a:latin typeface="Times New Roman" panose="02020603050405020304" pitchFamily="18" charset="0"/>
                <a:ea typeface="宋体" panose="02010600030101010101" pitchFamily="2" charset="-122"/>
              </a:rPr>
              <a:t>的表达式不同。</a:t>
            </a:r>
          </a:p>
        </p:txBody>
      </p:sp>
      <p:sp>
        <p:nvSpPr>
          <p:cNvPr id="20" name="Rectangle 8"/>
          <p:cNvSpPr>
            <a:spLocks noChangeArrowheads="1"/>
          </p:cNvSpPr>
          <p:nvPr/>
        </p:nvSpPr>
        <p:spPr bwMode="auto">
          <a:xfrm>
            <a:off x="480757" y="5558503"/>
            <a:ext cx="801528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200" b="1" smtClean="0">
                <a:solidFill>
                  <a:srgbClr val="000000"/>
                </a:solidFill>
                <a:latin typeface="Times New Roman" panose="02020603050405020304" pitchFamily="18" charset="0"/>
                <a:ea typeface="宋体" panose="02010600030101010101" pitchFamily="2" charset="-122"/>
              </a:rPr>
              <a:t>其中，基于热载流子发射的肖特基理论，</a:t>
            </a:r>
            <a:r>
              <a:rPr kumimoji="1" lang="en-US" altLang="zh-CN" sz="2200" b="1" i="1" smtClean="0">
                <a:solidFill>
                  <a:srgbClr val="000000"/>
                </a:solidFill>
                <a:latin typeface="Times New Roman" panose="02020603050405020304" pitchFamily="18" charset="0"/>
                <a:ea typeface="宋体" panose="02010600030101010101" pitchFamily="2" charset="-122"/>
              </a:rPr>
              <a:t>I</a:t>
            </a:r>
            <a:r>
              <a:rPr kumimoji="1" lang="en-US" altLang="zh-CN" sz="2200" b="1" i="1" baseline="-25000" smtClean="0">
                <a:solidFill>
                  <a:srgbClr val="000000"/>
                </a:solidFill>
                <a:latin typeface="Times New Roman" panose="02020603050405020304" pitchFamily="18" charset="0"/>
                <a:ea typeface="宋体" panose="02010600030101010101" pitchFamily="2" charset="-122"/>
              </a:rPr>
              <a:t>0</a:t>
            </a:r>
            <a:r>
              <a:rPr kumimoji="1" lang="zh-CN" altLang="en-US" sz="2200" b="1" smtClean="0">
                <a:solidFill>
                  <a:srgbClr val="000000"/>
                </a:solidFill>
                <a:latin typeface="Times New Roman" panose="02020603050405020304" pitchFamily="18" charset="0"/>
                <a:ea typeface="宋体" panose="02010600030101010101" pitchFamily="2" charset="-122"/>
              </a:rPr>
              <a:t>取决于肖特基势垒高度；基于多子扩散理论， </a:t>
            </a:r>
            <a:r>
              <a:rPr kumimoji="1" lang="en-US" altLang="zh-CN" sz="2200" b="1" i="1" smtClean="0">
                <a:solidFill>
                  <a:srgbClr val="000000"/>
                </a:solidFill>
                <a:latin typeface="Times New Roman" panose="02020603050405020304" pitchFamily="18" charset="0"/>
                <a:ea typeface="宋体" panose="02010600030101010101" pitchFamily="2" charset="-122"/>
              </a:rPr>
              <a:t>I</a:t>
            </a:r>
            <a:r>
              <a:rPr kumimoji="1" lang="en-US" altLang="zh-CN" sz="2200" b="1" i="1" baseline="-25000" smtClean="0">
                <a:solidFill>
                  <a:srgbClr val="000000"/>
                </a:solidFill>
                <a:latin typeface="Times New Roman" panose="02020603050405020304" pitchFamily="18" charset="0"/>
                <a:ea typeface="宋体" panose="02010600030101010101" pitchFamily="2" charset="-122"/>
              </a:rPr>
              <a:t>0</a:t>
            </a:r>
            <a:r>
              <a:rPr kumimoji="1" lang="zh-CN" altLang="en-US" sz="2200" b="1" smtClean="0">
                <a:solidFill>
                  <a:srgbClr val="000000"/>
                </a:solidFill>
                <a:latin typeface="Times New Roman" panose="02020603050405020304" pitchFamily="18" charset="0"/>
                <a:ea typeface="宋体" panose="02010600030101010101" pitchFamily="2" charset="-122"/>
              </a:rPr>
              <a:t>取决于半导体的自建势大小。</a:t>
            </a:r>
          </a:p>
        </p:txBody>
      </p:sp>
      <p:pic>
        <p:nvPicPr>
          <p:cNvPr id="2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557" y="3348703"/>
            <a:ext cx="7162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08407" y="3475703"/>
            <a:ext cx="3111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94207" y="3475703"/>
            <a:ext cx="2841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9870" y="4058316"/>
            <a:ext cx="2841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3"/>
          <p:cNvSpPr txBox="1">
            <a:spLocks noChangeArrowheads="1"/>
          </p:cNvSpPr>
          <p:nvPr/>
        </p:nvSpPr>
        <p:spPr bwMode="auto">
          <a:xfrm>
            <a:off x="6633907" y="4812378"/>
            <a:ext cx="671513" cy="274638"/>
          </a:xfrm>
          <a:prstGeom prst="rect">
            <a:avLst/>
          </a:prstGeom>
          <a:solidFill>
            <a:srgbClr val="FFFFFF"/>
          </a:solidFill>
          <a:ln>
            <a:noFill/>
          </a:ln>
          <a:extLs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en-US" altLang="zh-CN" sz="1200" b="1" smtClean="0">
                <a:solidFill>
                  <a:srgbClr val="000000"/>
                </a:solidFill>
                <a:latin typeface="Times New Roman" panose="02020603050405020304" pitchFamily="18" charset="0"/>
                <a:ea typeface="宋体" panose="02010600030101010101" pitchFamily="2" charset="-122"/>
              </a:rPr>
              <a:t>V</a:t>
            </a:r>
            <a:r>
              <a:rPr kumimoji="1" lang="en-US" altLang="zh-CN" sz="1200" b="1" baseline="-25000" smtClean="0">
                <a:solidFill>
                  <a:srgbClr val="000000"/>
                </a:solidFill>
                <a:latin typeface="Times New Roman" panose="02020603050405020304" pitchFamily="18" charset="0"/>
                <a:ea typeface="宋体" panose="02010600030101010101" pitchFamily="2" charset="-122"/>
              </a:rPr>
              <a:t>A</a:t>
            </a:r>
            <a:r>
              <a:rPr kumimoji="1" lang="en-US" altLang="zh-CN" sz="1200" b="1" smtClean="0">
                <a:solidFill>
                  <a:srgbClr val="000000"/>
                </a:solidFill>
                <a:latin typeface="Times New Roman" panose="02020603050405020304" pitchFamily="18" charset="0"/>
                <a:ea typeface="宋体" panose="02010600030101010101" pitchFamily="2" charset="-122"/>
              </a:rPr>
              <a:t>(V)</a:t>
            </a:r>
            <a:endParaRPr kumimoji="1" lang="en-US" altLang="zh-CN" sz="1200" b="1" baseline="-25000" smtClean="0">
              <a:solidFill>
                <a:srgbClr val="000000"/>
              </a:solidFill>
              <a:latin typeface="Times New Roman" panose="02020603050405020304" pitchFamily="18" charset="0"/>
              <a:ea typeface="宋体" panose="02010600030101010101" pitchFamily="2" charset="-122"/>
            </a:endParaRPr>
          </a:p>
        </p:txBody>
      </p:sp>
      <p:pic>
        <p:nvPicPr>
          <p:cNvPr id="26"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86082" y="3339178"/>
            <a:ext cx="311150"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15"/>
          <p:cNvGraphicFramePr>
            <a:graphicFrameLocks noChangeAspect="1"/>
          </p:cNvGraphicFramePr>
          <p:nvPr>
            <p:extLst>
              <p:ext uri="{D42A27DB-BD31-4B8C-83A1-F6EECF244321}">
                <p14:modId xmlns:p14="http://schemas.microsoft.com/office/powerpoint/2010/main" val="1857175922"/>
              </p:ext>
            </p:extLst>
          </p:nvPr>
        </p:nvGraphicFramePr>
        <p:xfrm>
          <a:off x="3327145" y="3853528"/>
          <a:ext cx="1028700" cy="342900"/>
        </p:xfrm>
        <a:graphic>
          <a:graphicData uri="http://schemas.openxmlformats.org/presentationml/2006/ole">
            <mc:AlternateContent xmlns:mc="http://schemas.openxmlformats.org/markup-compatibility/2006">
              <mc:Choice xmlns:v="urn:schemas-microsoft-com:vml" Requires="v">
                <p:oleObj spid="_x0000_s70725" name="Equation" r:id="rId11" imgW="685800" imgH="228600" progId="Equation.DSMT4">
                  <p:embed/>
                </p:oleObj>
              </mc:Choice>
              <mc:Fallback>
                <p:oleObj name="Equation" r:id="rId11" imgW="685800" imgH="228600" progId="Equation.DSMT4">
                  <p:embed/>
                  <p:pic>
                    <p:nvPicPr>
                      <p:cNvPr id="40973"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7145" y="3853528"/>
                        <a:ext cx="1028700" cy="342900"/>
                      </a:xfrm>
                      <a:prstGeom prst="rect">
                        <a:avLst/>
                      </a:prstGeom>
                      <a:solidFill>
                        <a:srgbClr val="FFFFFF"/>
                      </a:solidFill>
                      <a:ln>
                        <a:noFill/>
                      </a:ln>
                      <a:effectLst/>
                      <a:extLs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5450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41</a:t>
            </a:fld>
            <a:endParaRPr lang="zh-CN" altLang="en-US"/>
          </a:p>
        </p:txBody>
      </p:sp>
      <p:sp>
        <p:nvSpPr>
          <p:cNvPr id="3" name="Text Box 4"/>
          <p:cNvSpPr txBox="1">
            <a:spLocks noChangeArrowheads="1"/>
          </p:cNvSpPr>
          <p:nvPr/>
        </p:nvSpPr>
        <p:spPr bwMode="auto">
          <a:xfrm>
            <a:off x="510253" y="342214"/>
            <a:ext cx="77597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10000"/>
              </a:lnSpc>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更精确的分析由</a:t>
            </a:r>
            <a:r>
              <a:rPr kumimoji="1" lang="en-US" altLang="zh-CN" sz="2400" b="1" smtClean="0">
                <a:solidFill>
                  <a:srgbClr val="000000"/>
                </a:solidFill>
                <a:latin typeface="Times New Roman" panose="02020603050405020304" pitchFamily="18" charset="0"/>
                <a:ea typeface="宋体" panose="02010600030101010101" pitchFamily="2" charset="-122"/>
              </a:rPr>
              <a:t>Muller</a:t>
            </a:r>
            <a:r>
              <a:rPr kumimoji="1" lang="zh-CN" altLang="en-US" sz="2400" b="1" smtClean="0">
                <a:solidFill>
                  <a:srgbClr val="000000"/>
                </a:solidFill>
                <a:latin typeface="Times New Roman" panose="02020603050405020304" pitchFamily="18" charset="0"/>
                <a:ea typeface="宋体" panose="02010600030101010101" pitchFamily="2" charset="-122"/>
              </a:rPr>
              <a:t>和</a:t>
            </a:r>
            <a:r>
              <a:rPr kumimoji="1" lang="en-US" altLang="zh-CN" sz="2400" b="1" smtClean="0">
                <a:solidFill>
                  <a:srgbClr val="000000"/>
                </a:solidFill>
                <a:latin typeface="Times New Roman" panose="02020603050405020304" pitchFamily="18" charset="0"/>
                <a:ea typeface="宋体" panose="02010600030101010101" pitchFamily="2" charset="-122"/>
              </a:rPr>
              <a:t>Kamins</a:t>
            </a:r>
            <a:r>
              <a:rPr kumimoji="1" lang="zh-CN" altLang="en-US" sz="2400" b="1" smtClean="0">
                <a:solidFill>
                  <a:srgbClr val="000000"/>
                </a:solidFill>
                <a:latin typeface="Times New Roman" panose="02020603050405020304" pitchFamily="18" charset="0"/>
                <a:ea typeface="宋体" panose="02010600030101010101" pitchFamily="2" charset="-122"/>
              </a:rPr>
              <a:t>完成，其中的 </a:t>
            </a:r>
            <a:r>
              <a:rPr kumimoji="1" lang="en-US" altLang="zh-CN" sz="2400" b="1" i="1" smtClean="0">
                <a:solidFill>
                  <a:srgbClr val="000000"/>
                </a:solidFill>
                <a:latin typeface="Times New Roman" panose="02020603050405020304" pitchFamily="18" charset="0"/>
                <a:ea typeface="宋体" panose="02010600030101010101" pitchFamily="2" charset="-122"/>
              </a:rPr>
              <a:t>I</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0</a:t>
            </a:r>
            <a:r>
              <a:rPr kumimoji="1" lang="zh-CN" altLang="en-US" sz="2400" b="1" smtClean="0">
                <a:solidFill>
                  <a:srgbClr val="000000"/>
                </a:solidFill>
                <a:latin typeface="Times New Roman" panose="02020603050405020304" pitchFamily="18" charset="0"/>
                <a:ea typeface="宋体" panose="02010600030101010101" pitchFamily="2" charset="-122"/>
              </a:rPr>
              <a:t>实际是与电压相关的，具体表达式如下：</a:t>
            </a:r>
          </a:p>
        </p:txBody>
      </p:sp>
      <p:sp>
        <p:nvSpPr>
          <p:cNvPr id="4" name="Text Box 5"/>
          <p:cNvSpPr txBox="1">
            <a:spLocks noChangeArrowheads="1"/>
          </p:cNvSpPr>
          <p:nvPr/>
        </p:nvSpPr>
        <p:spPr bwMode="auto">
          <a:xfrm>
            <a:off x="754728" y="2579001"/>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为了方便，通常将上式改写为：</a:t>
            </a:r>
          </a:p>
        </p:txBody>
      </p:sp>
      <p:graphicFrame>
        <p:nvGraphicFramePr>
          <p:cNvPr id="5" name="Object 6"/>
          <p:cNvGraphicFramePr>
            <a:graphicFrameLocks noChangeAspect="1"/>
          </p:cNvGraphicFramePr>
          <p:nvPr>
            <p:extLst>
              <p:ext uri="{D42A27DB-BD31-4B8C-83A1-F6EECF244321}">
                <p14:modId xmlns:p14="http://schemas.microsoft.com/office/powerpoint/2010/main" val="2311503342"/>
              </p:ext>
            </p:extLst>
          </p:nvPr>
        </p:nvGraphicFramePr>
        <p:xfrm>
          <a:off x="2847053" y="3188601"/>
          <a:ext cx="3351213" cy="1096963"/>
        </p:xfrm>
        <a:graphic>
          <a:graphicData uri="http://schemas.openxmlformats.org/presentationml/2006/ole">
            <mc:AlternateContent xmlns:mc="http://schemas.openxmlformats.org/markup-compatibility/2006">
              <mc:Choice xmlns:v="urn:schemas-microsoft-com:vml" Requires="v">
                <p:oleObj spid="_x0000_s71748" name="Equation" r:id="rId3" imgW="1397000" imgH="457200" progId="Equation.DSMT4">
                  <p:embed/>
                </p:oleObj>
              </mc:Choice>
              <mc:Fallback>
                <p:oleObj name="Equation" r:id="rId3" imgW="1397000" imgH="457200" progId="Equation.DSMT4">
                  <p:embed/>
                  <p:pic>
                    <p:nvPicPr>
                      <p:cNvPr id="4198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7053" y="3188601"/>
                        <a:ext cx="3351213" cy="1096963"/>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3884360723"/>
              </p:ext>
            </p:extLst>
          </p:nvPr>
        </p:nvGraphicFramePr>
        <p:xfrm>
          <a:off x="870616" y="1247089"/>
          <a:ext cx="7224712" cy="1279525"/>
        </p:xfrm>
        <a:graphic>
          <a:graphicData uri="http://schemas.openxmlformats.org/presentationml/2006/ole">
            <mc:AlternateContent xmlns:mc="http://schemas.openxmlformats.org/markup-compatibility/2006">
              <mc:Choice xmlns:v="urn:schemas-microsoft-com:vml" Requires="v">
                <p:oleObj spid="_x0000_s71749" name="Equation" r:id="rId5" imgW="3009900" imgH="533400" progId="Equation.DSMT4">
                  <p:embed/>
                </p:oleObj>
              </mc:Choice>
              <mc:Fallback>
                <p:oleObj name="Equation" r:id="rId5" imgW="3009900" imgH="533400" progId="Equation.DSMT4">
                  <p:embed/>
                  <p:pic>
                    <p:nvPicPr>
                      <p:cNvPr id="4198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0616" y="1247089"/>
                        <a:ext cx="7224712" cy="127952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8"/>
          <p:cNvSpPr txBox="1">
            <a:spLocks noChangeArrowheads="1"/>
          </p:cNvSpPr>
          <p:nvPr/>
        </p:nvSpPr>
        <p:spPr bwMode="auto">
          <a:xfrm>
            <a:off x="732503" y="4404626"/>
            <a:ext cx="762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fontAlgn="base">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其中，</a:t>
            </a:r>
            <a:r>
              <a:rPr kumimoji="1" lang="en-US" altLang="zh-CN" sz="2400" b="1" i="1" smtClean="0">
                <a:solidFill>
                  <a:srgbClr val="000000"/>
                </a:solidFill>
                <a:latin typeface="Times New Roman" panose="02020603050405020304" pitchFamily="18" charset="0"/>
                <a:ea typeface="宋体" panose="02010600030101010101" pitchFamily="2" charset="-122"/>
              </a:rPr>
              <a:t>I</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0</a:t>
            </a:r>
            <a:r>
              <a:rPr kumimoji="1" lang="zh-CN" altLang="en-US" sz="2400" b="1" smtClean="0">
                <a:solidFill>
                  <a:srgbClr val="000000"/>
                </a:solidFill>
                <a:latin typeface="Times New Roman" panose="02020603050405020304" pitchFamily="18" charset="0"/>
                <a:ea typeface="宋体" panose="02010600030101010101" pitchFamily="2" charset="-122"/>
              </a:rPr>
              <a:t>与外加偏压</a:t>
            </a:r>
            <a:r>
              <a:rPr kumimoji="1" lang="en-US" altLang="zh-CN" sz="2400" b="1" i="1" smtClean="0">
                <a:solidFill>
                  <a:srgbClr val="000000"/>
                </a:solidFill>
                <a:latin typeface="Times New Roman" panose="02020603050405020304" pitchFamily="18" charset="0"/>
                <a:ea typeface="宋体" panose="02010600030101010101" pitchFamily="2" charset="-122"/>
              </a:rPr>
              <a:t>V</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A</a:t>
            </a:r>
            <a:r>
              <a:rPr kumimoji="1" lang="zh-CN" altLang="en-US" sz="2400" b="1" smtClean="0">
                <a:solidFill>
                  <a:srgbClr val="000000"/>
                </a:solidFill>
                <a:latin typeface="Times New Roman" panose="02020603050405020304" pitchFamily="18" charset="0"/>
                <a:ea typeface="宋体" panose="02010600030101010101" pitchFamily="2" charset="-122"/>
              </a:rPr>
              <a:t>无关，具体值由实验结果提取。</a:t>
            </a:r>
          </a:p>
        </p:txBody>
      </p:sp>
      <p:sp>
        <p:nvSpPr>
          <p:cNvPr id="9" name="Text Box 5"/>
          <p:cNvSpPr txBox="1">
            <a:spLocks noChangeArrowheads="1"/>
          </p:cNvSpPr>
          <p:nvPr/>
        </p:nvSpPr>
        <p:spPr bwMode="auto">
          <a:xfrm>
            <a:off x="787272" y="5016025"/>
            <a:ext cx="739140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lnSpc>
                <a:spcPct val="130000"/>
              </a:lnSpc>
              <a:spcBef>
                <a:spcPct val="50000"/>
              </a:spcBef>
              <a:spcAft>
                <a:spcPct val="0"/>
              </a:spcAft>
            </a:pPr>
            <a:r>
              <a:rPr kumimoji="1" lang="en-US" altLang="zh-CN" sz="2400" b="1" i="1" smtClean="0">
                <a:solidFill>
                  <a:srgbClr val="000000"/>
                </a:solidFill>
                <a:latin typeface="Times New Roman" panose="02020603050405020304" pitchFamily="18" charset="0"/>
                <a:ea typeface="宋体" panose="02010600030101010101" pitchFamily="2" charset="-122"/>
              </a:rPr>
              <a:t>n</a:t>
            </a:r>
            <a:r>
              <a:rPr kumimoji="1" lang="zh-CN" altLang="en-US" sz="2400" b="1" smtClean="0">
                <a:solidFill>
                  <a:srgbClr val="000000"/>
                </a:solidFill>
                <a:latin typeface="Times New Roman" panose="02020603050405020304" pitchFamily="18" charset="0"/>
                <a:ea typeface="宋体" panose="02010600030101010101" pitchFamily="2" charset="-122"/>
              </a:rPr>
              <a:t>为理想因子，</a:t>
            </a:r>
            <a:r>
              <a:rPr kumimoji="1" lang="en-US" altLang="zh-CN" sz="2400" b="1" i="1" smtClean="0">
                <a:solidFill>
                  <a:srgbClr val="000000"/>
                </a:solidFill>
                <a:latin typeface="Times New Roman" panose="02020603050405020304" pitchFamily="18" charset="0"/>
                <a:ea typeface="宋体" panose="02010600030101010101" pitchFamily="2" charset="-122"/>
              </a:rPr>
              <a:t>I</a:t>
            </a:r>
            <a:r>
              <a:rPr kumimoji="1" lang="en-US" altLang="zh-CN" sz="2400" b="1" i="1" baseline="-25000" smtClean="0">
                <a:solidFill>
                  <a:srgbClr val="000000"/>
                </a:solidFill>
                <a:latin typeface="Times New Roman" panose="02020603050405020304" pitchFamily="18" charset="0"/>
                <a:ea typeface="宋体" panose="02010600030101010101" pitchFamily="2" charset="-122"/>
              </a:rPr>
              <a:t>0</a:t>
            </a:r>
            <a:r>
              <a:rPr kumimoji="1" lang="zh-CN" altLang="en-US" sz="2400" b="1" smtClean="0">
                <a:solidFill>
                  <a:srgbClr val="000000"/>
                </a:solidFill>
                <a:latin typeface="Times New Roman" panose="02020603050405020304" pitchFamily="18" charset="0"/>
                <a:ea typeface="宋体" panose="02010600030101010101" pitchFamily="2" charset="-122"/>
              </a:rPr>
              <a:t>是不依赖电压的部分，非理想效应用</a:t>
            </a:r>
            <a:r>
              <a:rPr kumimoji="1" lang="en-US" altLang="zh-CN" sz="2400" b="1" i="1" smtClean="0">
                <a:solidFill>
                  <a:srgbClr val="000000"/>
                </a:solidFill>
                <a:latin typeface="Times New Roman" panose="02020603050405020304" pitchFamily="18" charset="0"/>
                <a:ea typeface="宋体" panose="02010600030101010101" pitchFamily="2" charset="-122"/>
              </a:rPr>
              <a:t>n</a:t>
            </a:r>
            <a:r>
              <a:rPr kumimoji="1" lang="zh-CN" altLang="en-US" sz="2400" b="1" smtClean="0">
                <a:solidFill>
                  <a:srgbClr val="000000"/>
                </a:solidFill>
                <a:latin typeface="Times New Roman" panose="02020603050405020304" pitchFamily="18" charset="0"/>
                <a:ea typeface="宋体" panose="02010600030101010101" pitchFamily="2" charset="-122"/>
              </a:rPr>
              <a:t>的取值来反映，</a:t>
            </a:r>
            <a:r>
              <a:rPr kumimoji="1" lang="en-US" altLang="zh-CN" sz="2400" b="1" i="1" smtClean="0">
                <a:solidFill>
                  <a:srgbClr val="000000"/>
                </a:solidFill>
                <a:latin typeface="Times New Roman" panose="02020603050405020304" pitchFamily="18" charset="0"/>
                <a:ea typeface="宋体" panose="02010600030101010101" pitchFamily="2" charset="-122"/>
              </a:rPr>
              <a:t>n </a:t>
            </a:r>
            <a:r>
              <a:rPr kumimoji="1" lang="zh-CN" altLang="en-US" sz="2400" b="1" smtClean="0">
                <a:solidFill>
                  <a:srgbClr val="000000"/>
                </a:solidFill>
                <a:latin typeface="Times New Roman" panose="02020603050405020304" pitchFamily="18" charset="0"/>
                <a:ea typeface="宋体" panose="02010600030101010101" pitchFamily="2" charset="-122"/>
              </a:rPr>
              <a:t>通常取 </a:t>
            </a:r>
            <a:r>
              <a:rPr kumimoji="1" lang="en-US" altLang="zh-CN" sz="2400" b="1" smtClean="0">
                <a:solidFill>
                  <a:srgbClr val="000000"/>
                </a:solidFill>
                <a:latin typeface="Times New Roman" panose="02020603050405020304" pitchFamily="18" charset="0"/>
                <a:ea typeface="宋体" panose="02010600030101010101" pitchFamily="2" charset="-122"/>
              </a:rPr>
              <a:t>1.0~1.2</a:t>
            </a:r>
            <a:r>
              <a:rPr kumimoji="1" lang="zh-CN" altLang="en-US" sz="2400" b="1" smtClean="0">
                <a:solidFill>
                  <a:srgbClr val="000000"/>
                </a:solidFill>
                <a:latin typeface="Times New Roman" panose="02020603050405020304" pitchFamily="18" charset="0"/>
                <a:ea typeface="宋体" panose="02010600030101010101" pitchFamily="2" charset="-122"/>
              </a:rPr>
              <a:t>。</a:t>
            </a:r>
            <a:endParaRPr kumimoji="1" lang="en-US" altLang="zh-CN" sz="2400" b="1" baseline="-25000" smtClean="0">
              <a:solidFill>
                <a:srgbClr val="000000"/>
              </a:solidFill>
              <a:latin typeface="Times New Roman" panose="02020603050405020304" pitchFamily="18" charset="0"/>
              <a:ea typeface="宋体" panose="02010600030101010101" pitchFamily="2" charset="-122"/>
            </a:endParaRPr>
          </a:p>
        </p:txBody>
      </p:sp>
      <p:sp>
        <p:nvSpPr>
          <p:cNvPr id="10" name="文本框 7"/>
          <p:cNvSpPr txBox="1"/>
          <p:nvPr/>
        </p:nvSpPr>
        <p:spPr>
          <a:xfrm>
            <a:off x="2435942" y="6171936"/>
            <a:ext cx="5034116"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2800" b="1" dirty="0" smtClean="0">
                <a:solidFill>
                  <a:srgbClr val="FF0000"/>
                </a:solidFill>
                <a:latin typeface="宋体" panose="02010600030101010101" pitchFamily="2" charset="-122"/>
                <a:ea typeface="宋体" panose="02010600030101010101" pitchFamily="2" charset="-122"/>
              </a:rPr>
              <a:t>为什么不考虑空穴电流？</a:t>
            </a:r>
            <a:endParaRPr lang="zh-CN" altLang="en-US" sz="2800"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973781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42</a:t>
            </a:fld>
            <a:endParaRPr lang="zh-CN" altLang="en-US"/>
          </a:p>
        </p:txBody>
      </p:sp>
      <p:sp>
        <p:nvSpPr>
          <p:cNvPr id="3" name="Rectangle 4"/>
          <p:cNvSpPr>
            <a:spLocks noChangeArrowheads="1"/>
          </p:cNvSpPr>
          <p:nvPr/>
        </p:nvSpPr>
        <p:spPr bwMode="auto">
          <a:xfrm>
            <a:off x="2959510" y="295910"/>
            <a:ext cx="402390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三、异质结</a:t>
            </a:r>
            <a:endParaRPr kumimoji="1" lang="zh-CN" altLang="en-US" sz="3600" b="1" dirty="0">
              <a:solidFill>
                <a:srgbClr val="FF6600"/>
              </a:solidFill>
              <a:latin typeface="Times New Roman" pitchFamily="18" charset="0"/>
              <a:ea typeface="宋体" pitchFamily="2" charset="-122"/>
            </a:endParaRPr>
          </a:p>
        </p:txBody>
      </p:sp>
      <p:sp>
        <p:nvSpPr>
          <p:cNvPr id="4" name="Text Box 107"/>
          <p:cNvSpPr txBox="1">
            <a:spLocks noChangeArrowheads="1"/>
          </p:cNvSpPr>
          <p:nvPr/>
        </p:nvSpPr>
        <p:spPr bwMode="auto">
          <a:xfrm>
            <a:off x="301933" y="1174494"/>
            <a:ext cx="58340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同质结－由同种半导体单晶材料组成的结</a:t>
            </a:r>
          </a:p>
        </p:txBody>
      </p:sp>
      <p:sp>
        <p:nvSpPr>
          <p:cNvPr id="5" name="Text Box 108"/>
          <p:cNvSpPr txBox="1">
            <a:spLocks noChangeArrowheads="1"/>
          </p:cNvSpPr>
          <p:nvPr/>
        </p:nvSpPr>
        <p:spPr bwMode="auto">
          <a:xfrm>
            <a:off x="301933" y="1679319"/>
            <a:ext cx="58340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异质结－由不同种半导体单晶材料组成的结</a:t>
            </a:r>
          </a:p>
        </p:txBody>
      </p:sp>
      <p:sp>
        <p:nvSpPr>
          <p:cNvPr id="6" name="Text Box 109"/>
          <p:cNvSpPr txBox="1">
            <a:spLocks noChangeArrowheads="1"/>
          </p:cNvSpPr>
          <p:nvPr/>
        </p:nvSpPr>
        <p:spPr bwMode="auto">
          <a:xfrm>
            <a:off x="6567796" y="1606294"/>
            <a:ext cx="16144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eaLnBrk="0" hangingPunct="0">
              <a:defRPr kumimoji="1" sz="2400">
                <a:solidFill>
                  <a:srgbClr val="0000FF"/>
                </a:solidFill>
                <a:latin typeface="Arial" charset="0"/>
                <a:ea typeface="黑体" charset="-122"/>
                <a:sym typeface="Symbol" charset="2"/>
              </a:defRPr>
            </a:lvl1pPr>
            <a:lvl2pPr marL="742950" indent="-285750" eaLnBrk="0" hangingPunct="0">
              <a:defRPr kumimoji="1" sz="2400">
                <a:solidFill>
                  <a:srgbClr val="0000FF"/>
                </a:solidFill>
                <a:latin typeface="Arial" charset="0"/>
                <a:ea typeface="黑体" charset="-122"/>
                <a:sym typeface="Symbol" charset="2"/>
              </a:defRPr>
            </a:lvl2pPr>
            <a:lvl3pPr marL="1143000" indent="-228600" eaLnBrk="0" hangingPunct="0">
              <a:defRPr kumimoji="1" sz="2400">
                <a:solidFill>
                  <a:srgbClr val="0000FF"/>
                </a:solidFill>
                <a:latin typeface="Arial" charset="0"/>
                <a:ea typeface="黑体" charset="-122"/>
                <a:sym typeface="Symbol" charset="2"/>
              </a:defRPr>
            </a:lvl3pPr>
            <a:lvl4pPr marL="1600200" indent="-228600" eaLnBrk="0" hangingPunct="0">
              <a:defRPr kumimoji="1" sz="2400">
                <a:solidFill>
                  <a:srgbClr val="0000FF"/>
                </a:solidFill>
                <a:latin typeface="Arial" charset="0"/>
                <a:ea typeface="黑体" charset="-122"/>
                <a:sym typeface="Symbol" charset="2"/>
              </a:defRPr>
            </a:lvl4pPr>
            <a:lvl5pPr marL="2057400" indent="-228600" eaLnBrk="0" hangingPunct="0">
              <a:defRPr kumimoji="1" sz="2400">
                <a:solidFill>
                  <a:srgbClr val="0000FF"/>
                </a:solidFill>
                <a:latin typeface="Arial" charset="0"/>
                <a:ea typeface="黑体" charset="-122"/>
                <a:sym typeface="Symbol" charset="2"/>
              </a:defRPr>
            </a:lvl5pPr>
            <a:lvl6pPr marL="2514600" indent="-228600" algn="ctr" eaLnBrk="0" fontAlgn="base" hangingPunct="0">
              <a:lnSpc>
                <a:spcPct val="90000"/>
              </a:lnSpc>
              <a:spcBef>
                <a:spcPct val="20000"/>
              </a:spcBef>
              <a:spcAft>
                <a:spcPct val="0"/>
              </a:spcAft>
              <a:defRPr kumimoji="1" sz="2400">
                <a:solidFill>
                  <a:srgbClr val="0000FF"/>
                </a:solidFill>
                <a:latin typeface="Arial" charset="0"/>
                <a:ea typeface="黑体" charset="-122"/>
                <a:sym typeface="Symbol" charset="2"/>
              </a:defRPr>
            </a:lvl6pPr>
            <a:lvl7pPr marL="2971800" indent="-228600" algn="ctr" eaLnBrk="0" fontAlgn="base" hangingPunct="0">
              <a:lnSpc>
                <a:spcPct val="90000"/>
              </a:lnSpc>
              <a:spcBef>
                <a:spcPct val="20000"/>
              </a:spcBef>
              <a:spcAft>
                <a:spcPct val="0"/>
              </a:spcAft>
              <a:defRPr kumimoji="1" sz="2400">
                <a:solidFill>
                  <a:srgbClr val="0000FF"/>
                </a:solidFill>
                <a:latin typeface="Arial" charset="0"/>
                <a:ea typeface="黑体" charset="-122"/>
                <a:sym typeface="Symbol" charset="2"/>
              </a:defRPr>
            </a:lvl7pPr>
            <a:lvl8pPr marL="3429000" indent="-228600" algn="ctr" eaLnBrk="0" fontAlgn="base" hangingPunct="0">
              <a:lnSpc>
                <a:spcPct val="90000"/>
              </a:lnSpc>
              <a:spcBef>
                <a:spcPct val="20000"/>
              </a:spcBef>
              <a:spcAft>
                <a:spcPct val="0"/>
              </a:spcAft>
              <a:defRPr kumimoji="1" sz="2400">
                <a:solidFill>
                  <a:srgbClr val="0000FF"/>
                </a:solidFill>
                <a:latin typeface="Arial" charset="0"/>
                <a:ea typeface="黑体" charset="-122"/>
                <a:sym typeface="Symbol" charset="2"/>
              </a:defRPr>
            </a:lvl8pPr>
            <a:lvl9pPr marL="3886200" indent="-228600" algn="ctr" eaLnBrk="0" fontAlgn="base" hangingPunct="0">
              <a:lnSpc>
                <a:spcPct val="90000"/>
              </a:lnSpc>
              <a:spcBef>
                <a:spcPct val="20000"/>
              </a:spcBef>
              <a:spcAft>
                <a:spcPct val="0"/>
              </a:spcAft>
              <a:defRPr kumimoji="1" sz="2400">
                <a:solidFill>
                  <a:srgbClr val="0000FF"/>
                </a:solidFill>
                <a:latin typeface="Arial" charset="0"/>
                <a:ea typeface="黑体" charset="-122"/>
                <a:sym typeface="Symbol" charset="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charset="2"/>
              </a:rPr>
              <a:t>p-</a:t>
            </a:r>
            <a:r>
              <a:rPr kumimoji="1" lang="en-US" altLang="zh-CN" sz="2400" b="1" i="0" u="none" strike="noStrike" kern="0" cap="none" spc="0" normalizeH="0" baseline="0" noProof="0" dirty="0" err="1"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charset="2"/>
              </a:rPr>
              <a:t>nGe</a:t>
            </a:r>
            <a:r>
              <a:rPr kumimoji="1" lang="en-US" altLang="zh-CN" sz="2400" b="1" i="0" u="none" strike="noStrike" kern="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charset="2"/>
              </a:rPr>
              <a:t>-Si</a:t>
            </a:r>
          </a:p>
        </p:txBody>
      </p:sp>
      <p:grpSp>
        <p:nvGrpSpPr>
          <p:cNvPr id="7" name="Group 121"/>
          <p:cNvGrpSpPr>
            <a:grpSpLocks/>
          </p:cNvGrpSpPr>
          <p:nvPr/>
        </p:nvGrpSpPr>
        <p:grpSpPr bwMode="auto">
          <a:xfrm>
            <a:off x="441633" y="2307969"/>
            <a:ext cx="8501063" cy="1130300"/>
            <a:chOff x="246" y="1726"/>
            <a:chExt cx="5355" cy="712"/>
          </a:xfrm>
        </p:grpSpPr>
        <p:sp>
          <p:nvSpPr>
            <p:cNvPr id="8" name="Text Box 110"/>
            <p:cNvSpPr txBox="1">
              <a:spLocks noChangeArrowheads="1"/>
            </p:cNvSpPr>
            <p:nvPr/>
          </p:nvSpPr>
          <p:spPr bwMode="auto">
            <a:xfrm>
              <a:off x="4422" y="1842"/>
              <a:ext cx="1179" cy="46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区分两种材料的导电类型</a:t>
              </a:r>
            </a:p>
          </p:txBody>
        </p:sp>
        <p:sp>
          <p:nvSpPr>
            <p:cNvPr id="9" name="Rectangle 111"/>
            <p:cNvSpPr>
              <a:spLocks noChangeArrowheads="1"/>
            </p:cNvSpPr>
            <p:nvPr/>
          </p:nvSpPr>
          <p:spPr bwMode="auto">
            <a:xfrm>
              <a:off x="246" y="1998"/>
              <a:ext cx="582" cy="23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异质结</a:t>
              </a:r>
            </a:p>
          </p:txBody>
        </p:sp>
        <p:sp>
          <p:nvSpPr>
            <p:cNvPr id="10" name="Rectangle 112"/>
            <p:cNvSpPr>
              <a:spLocks noChangeArrowheads="1"/>
            </p:cNvSpPr>
            <p:nvPr/>
          </p:nvSpPr>
          <p:spPr bwMode="auto">
            <a:xfrm>
              <a:off x="1017" y="1731"/>
              <a:ext cx="969" cy="23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反型异质结</a:t>
              </a:r>
            </a:p>
          </p:txBody>
        </p:sp>
        <p:sp>
          <p:nvSpPr>
            <p:cNvPr id="11" name="Rectangle 113"/>
            <p:cNvSpPr>
              <a:spLocks noChangeArrowheads="1"/>
            </p:cNvSpPr>
            <p:nvPr/>
          </p:nvSpPr>
          <p:spPr bwMode="auto">
            <a:xfrm>
              <a:off x="1017" y="2205"/>
              <a:ext cx="969" cy="23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同型异质结</a:t>
              </a:r>
            </a:p>
          </p:txBody>
        </p:sp>
        <p:sp>
          <p:nvSpPr>
            <p:cNvPr id="12" name="Text Box 114"/>
            <p:cNvSpPr txBox="1">
              <a:spLocks noChangeArrowheads="1"/>
            </p:cNvSpPr>
            <p:nvPr/>
          </p:nvSpPr>
          <p:spPr bwMode="auto">
            <a:xfrm>
              <a:off x="2109" y="1726"/>
              <a:ext cx="204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p-nGe-Si</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n-pGe-GaAs</a:t>
              </a:r>
            </a:p>
          </p:txBody>
        </p:sp>
        <p:sp>
          <p:nvSpPr>
            <p:cNvPr id="13" name="Text Box 115"/>
            <p:cNvSpPr txBox="1">
              <a:spLocks noChangeArrowheads="1"/>
            </p:cNvSpPr>
            <p:nvPr/>
          </p:nvSpPr>
          <p:spPr bwMode="auto">
            <a:xfrm>
              <a:off x="2109" y="2205"/>
              <a:ext cx="204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n-nGe-Si</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p-pGe-GaAs</a:t>
              </a:r>
            </a:p>
          </p:txBody>
        </p:sp>
        <p:cxnSp>
          <p:nvCxnSpPr>
            <p:cNvPr id="14" name="AutoShape 116"/>
            <p:cNvCxnSpPr>
              <a:cxnSpLocks noChangeShapeType="1"/>
            </p:cNvCxnSpPr>
            <p:nvPr/>
          </p:nvCxnSpPr>
          <p:spPr bwMode="auto">
            <a:xfrm flipV="1">
              <a:off x="828" y="1838"/>
              <a:ext cx="189" cy="267"/>
            </a:xfrm>
            <a:prstGeom prst="bentConnector3">
              <a:avLst>
                <a:gd name="adj1" fmla="val 49736"/>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cxnSp>
          <p:nvCxnSpPr>
            <p:cNvPr id="15" name="AutoShape 117"/>
            <p:cNvCxnSpPr>
              <a:cxnSpLocks noChangeShapeType="1"/>
            </p:cNvCxnSpPr>
            <p:nvPr/>
          </p:nvCxnSpPr>
          <p:spPr bwMode="auto">
            <a:xfrm>
              <a:off x="828" y="2105"/>
              <a:ext cx="189" cy="207"/>
            </a:xfrm>
            <a:prstGeom prst="bentConnector3">
              <a:avLst>
                <a:gd name="adj1" fmla="val 49736"/>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cxnSp>
          <p:nvCxnSpPr>
            <p:cNvPr id="16" name="AutoShape 118"/>
            <p:cNvCxnSpPr>
              <a:cxnSpLocks noChangeShapeType="1"/>
            </p:cNvCxnSpPr>
            <p:nvPr/>
          </p:nvCxnSpPr>
          <p:spPr bwMode="auto">
            <a:xfrm rot="10800000">
              <a:off x="4150" y="1830"/>
              <a:ext cx="272" cy="222"/>
            </a:xfrm>
            <a:prstGeom prst="bentConnector3">
              <a:avLst>
                <a:gd name="adj1" fmla="val 50000"/>
              </a:avLst>
            </a:prstGeom>
            <a:noFill/>
            <a:ln w="9525">
              <a:solidFill>
                <a:srgbClr val="0000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cxnSp>
          <p:nvCxnSpPr>
            <p:cNvPr id="17" name="AutoShape 119"/>
            <p:cNvCxnSpPr>
              <a:cxnSpLocks noChangeShapeType="1"/>
            </p:cNvCxnSpPr>
            <p:nvPr/>
          </p:nvCxnSpPr>
          <p:spPr bwMode="auto">
            <a:xfrm rot="10800000" flipV="1">
              <a:off x="4150" y="2052"/>
              <a:ext cx="272" cy="257"/>
            </a:xfrm>
            <a:prstGeom prst="bentConnector3">
              <a:avLst>
                <a:gd name="adj1" fmla="val 50000"/>
              </a:avLst>
            </a:prstGeom>
            <a:noFill/>
            <a:ln w="9525">
              <a:solidFill>
                <a:srgbClr val="0000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sp>
          <p:nvSpPr>
            <p:cNvPr id="18" name="Text Box 120"/>
            <p:cNvSpPr txBox="1">
              <a:spLocks noChangeArrowheads="1"/>
            </p:cNvSpPr>
            <p:nvPr/>
          </p:nvSpPr>
          <p:spPr bwMode="auto">
            <a:xfrm>
              <a:off x="2381" y="1987"/>
              <a:ext cx="140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50000"/>
                </a:spcBef>
                <a:spcAft>
                  <a:spcPct val="0"/>
                </a:spcAft>
                <a:buFontTx/>
                <a:buNone/>
              </a:pPr>
              <a:r>
                <a:rPr kumimoji="1" lang="zh-CN" altLang="en-US" sz="20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禁带窄的写在前面</a:t>
              </a:r>
            </a:p>
          </p:txBody>
        </p:sp>
      </p:grpSp>
      <p:sp>
        <p:nvSpPr>
          <p:cNvPr id="19" name="Text Box 123"/>
          <p:cNvSpPr txBox="1">
            <a:spLocks noChangeArrowheads="1"/>
          </p:cNvSpPr>
          <p:nvPr/>
        </p:nvSpPr>
        <p:spPr bwMode="auto">
          <a:xfrm>
            <a:off x="3688071" y="4054219"/>
            <a:ext cx="1871662" cy="11080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区分两种材料结界面处的过渡层厚度</a:t>
            </a:r>
          </a:p>
        </p:txBody>
      </p:sp>
      <p:sp>
        <p:nvSpPr>
          <p:cNvPr id="20" name="Rectangle 124"/>
          <p:cNvSpPr>
            <a:spLocks noChangeArrowheads="1"/>
          </p:cNvSpPr>
          <p:nvPr/>
        </p:nvSpPr>
        <p:spPr bwMode="auto">
          <a:xfrm>
            <a:off x="446396" y="4414581"/>
            <a:ext cx="922337" cy="3698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异质结</a:t>
            </a:r>
          </a:p>
        </p:txBody>
      </p:sp>
      <p:sp>
        <p:nvSpPr>
          <p:cNvPr id="21" name="Rectangle 125"/>
          <p:cNvSpPr>
            <a:spLocks noChangeArrowheads="1"/>
          </p:cNvSpPr>
          <p:nvPr/>
        </p:nvSpPr>
        <p:spPr bwMode="auto">
          <a:xfrm>
            <a:off x="1670358" y="3990719"/>
            <a:ext cx="1538288" cy="3698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突变异质结</a:t>
            </a:r>
          </a:p>
        </p:txBody>
      </p:sp>
      <p:sp>
        <p:nvSpPr>
          <p:cNvPr id="22" name="Rectangle 126"/>
          <p:cNvSpPr>
            <a:spLocks noChangeArrowheads="1"/>
          </p:cNvSpPr>
          <p:nvPr/>
        </p:nvSpPr>
        <p:spPr bwMode="auto">
          <a:xfrm>
            <a:off x="1670358" y="4743194"/>
            <a:ext cx="1538288" cy="3698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缓变异质结</a:t>
            </a:r>
          </a:p>
        </p:txBody>
      </p:sp>
      <p:cxnSp>
        <p:nvCxnSpPr>
          <p:cNvPr id="23" name="AutoShape 129"/>
          <p:cNvCxnSpPr>
            <a:cxnSpLocks noChangeShapeType="1"/>
          </p:cNvCxnSpPr>
          <p:nvPr/>
        </p:nvCxnSpPr>
        <p:spPr bwMode="auto">
          <a:xfrm flipV="1">
            <a:off x="1370321" y="4160581"/>
            <a:ext cx="300037" cy="423863"/>
          </a:xfrm>
          <a:prstGeom prst="bentConnector3">
            <a:avLst>
              <a:gd name="adj1" fmla="val 49736"/>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cxnSp>
        <p:nvCxnSpPr>
          <p:cNvPr id="24" name="AutoShape 130"/>
          <p:cNvCxnSpPr>
            <a:cxnSpLocks noChangeShapeType="1"/>
          </p:cNvCxnSpPr>
          <p:nvPr/>
        </p:nvCxnSpPr>
        <p:spPr bwMode="auto">
          <a:xfrm>
            <a:off x="1370321" y="4584444"/>
            <a:ext cx="300037" cy="328612"/>
          </a:xfrm>
          <a:prstGeom prst="bentConnector3">
            <a:avLst>
              <a:gd name="adj1" fmla="val 49736"/>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cxnSp>
        <p:nvCxnSpPr>
          <p:cNvPr id="25" name="AutoShape 131"/>
          <p:cNvCxnSpPr>
            <a:cxnSpLocks noChangeShapeType="1"/>
          </p:cNvCxnSpPr>
          <p:nvPr/>
        </p:nvCxnSpPr>
        <p:spPr bwMode="auto">
          <a:xfrm rot="10800000">
            <a:off x="3256271" y="4200269"/>
            <a:ext cx="431800" cy="352425"/>
          </a:xfrm>
          <a:prstGeom prst="bentConnector3">
            <a:avLst>
              <a:gd name="adj1" fmla="val 50000"/>
            </a:avLst>
          </a:prstGeom>
          <a:noFill/>
          <a:ln w="9525">
            <a:solidFill>
              <a:srgbClr val="0000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cxnSp>
        <p:nvCxnSpPr>
          <p:cNvPr id="26" name="AutoShape 132"/>
          <p:cNvCxnSpPr>
            <a:cxnSpLocks noChangeShapeType="1"/>
          </p:cNvCxnSpPr>
          <p:nvPr/>
        </p:nvCxnSpPr>
        <p:spPr bwMode="auto">
          <a:xfrm rot="10800000" flipV="1">
            <a:off x="3256271" y="4552694"/>
            <a:ext cx="431800" cy="407987"/>
          </a:xfrm>
          <a:prstGeom prst="bentConnector3">
            <a:avLst>
              <a:gd name="adj1" fmla="val 50000"/>
            </a:avLst>
          </a:prstGeom>
          <a:noFill/>
          <a:ln w="9525">
            <a:solidFill>
              <a:srgbClr val="0000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sp>
        <p:nvSpPr>
          <p:cNvPr id="27" name="Text Box 134"/>
          <p:cNvSpPr txBox="1">
            <a:spLocks noChangeArrowheads="1"/>
          </p:cNvSpPr>
          <p:nvPr/>
        </p:nvSpPr>
        <p:spPr bwMode="auto">
          <a:xfrm>
            <a:off x="1598921" y="5279769"/>
            <a:ext cx="2195512" cy="3698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突变反型异质结</a:t>
            </a:r>
          </a:p>
        </p:txBody>
      </p:sp>
      <p:sp>
        <p:nvSpPr>
          <p:cNvPr id="28" name="Line 135"/>
          <p:cNvSpPr>
            <a:spLocks noChangeShapeType="1"/>
          </p:cNvSpPr>
          <p:nvPr/>
        </p:nvSpPr>
        <p:spPr bwMode="auto">
          <a:xfrm>
            <a:off x="878196" y="3190619"/>
            <a:ext cx="0" cy="1152525"/>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defTabSz="914400" eaLnBrk="0" fontAlgn="base" hangingPunct="0">
              <a:spcBef>
                <a:spcPct val="0"/>
              </a:spcBef>
              <a:spcAft>
                <a:spcPct val="0"/>
              </a:spcAft>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Freeform 136"/>
          <p:cNvSpPr>
            <a:spLocks/>
          </p:cNvSpPr>
          <p:nvPr/>
        </p:nvSpPr>
        <p:spPr bwMode="auto">
          <a:xfrm>
            <a:off x="878196" y="5141656"/>
            <a:ext cx="504825" cy="276225"/>
          </a:xfrm>
          <a:custGeom>
            <a:avLst/>
            <a:gdLst>
              <a:gd name="T0" fmla="*/ 0 w 363"/>
              <a:gd name="T1" fmla="*/ 0 h 545"/>
              <a:gd name="T2" fmla="*/ 0 w 363"/>
              <a:gd name="T3" fmla="*/ 2147483646 h 545"/>
              <a:gd name="T4" fmla="*/ 2147483646 w 363"/>
              <a:gd name="T5" fmla="*/ 2147483646 h 545"/>
              <a:gd name="T6" fmla="*/ 0 60000 65536"/>
              <a:gd name="T7" fmla="*/ 0 60000 65536"/>
              <a:gd name="T8" fmla="*/ 0 60000 65536"/>
            </a:gdLst>
            <a:ahLst/>
            <a:cxnLst>
              <a:cxn ang="T6">
                <a:pos x="T0" y="T1"/>
              </a:cxn>
              <a:cxn ang="T7">
                <a:pos x="T2" y="T3"/>
              </a:cxn>
              <a:cxn ang="T8">
                <a:pos x="T4" y="T5"/>
              </a:cxn>
            </a:cxnLst>
            <a:rect l="0" t="0" r="r" b="b"/>
            <a:pathLst>
              <a:path w="363" h="545">
                <a:moveTo>
                  <a:pt x="0" y="0"/>
                </a:moveTo>
                <a:lnTo>
                  <a:pt x="0" y="545"/>
                </a:lnTo>
                <a:lnTo>
                  <a:pt x="363" y="545"/>
                </a:lnTo>
              </a:path>
            </a:pathLst>
          </a:custGeom>
          <a:noFill/>
          <a:ln w="9525" cap="flat" cmpd="sng">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defTabSz="914400" eaLnBrk="0" fontAlgn="base" hangingPunct="0">
              <a:spcBef>
                <a:spcPct val="0"/>
              </a:spcBef>
              <a:spcAft>
                <a:spcPct val="0"/>
              </a:spcAft>
            </a:pPr>
            <a:endParaRPr lang="zh-CN" altLang="en-US" b="1" u="sng"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Text Box 137"/>
          <p:cNvSpPr txBox="1">
            <a:spLocks noChangeArrowheads="1"/>
          </p:cNvSpPr>
          <p:nvPr/>
        </p:nvSpPr>
        <p:spPr bwMode="auto">
          <a:xfrm>
            <a:off x="1598921" y="5783006"/>
            <a:ext cx="2195512" cy="3698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突变同型异质结</a:t>
            </a:r>
          </a:p>
        </p:txBody>
      </p:sp>
      <p:cxnSp>
        <p:nvCxnSpPr>
          <p:cNvPr id="31" name="AutoShape 138"/>
          <p:cNvCxnSpPr>
            <a:cxnSpLocks noChangeShapeType="1"/>
          </p:cNvCxnSpPr>
          <p:nvPr/>
        </p:nvCxnSpPr>
        <p:spPr bwMode="auto">
          <a:xfrm rot="10800000" flipH="1">
            <a:off x="1598921" y="5449631"/>
            <a:ext cx="1587" cy="503238"/>
          </a:xfrm>
          <a:prstGeom prst="bentConnector3">
            <a:avLst>
              <a:gd name="adj1" fmla="val -14400000"/>
            </a:avLst>
          </a:prstGeom>
          <a:noFill/>
          <a:ln w="9525">
            <a:solidFill>
              <a:srgbClr val="0000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spTree>
    <p:extLst>
      <p:ext uri="{BB962C8B-B14F-4D97-AF65-F5344CB8AC3E}">
        <p14:creationId xmlns:p14="http://schemas.microsoft.com/office/powerpoint/2010/main" val="1197476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b="1" smtClean="0"/>
              <a:t>43</a:t>
            </a:fld>
            <a:endParaRPr lang="zh-CN" altLang="en-US" b="1"/>
          </a:p>
        </p:txBody>
      </p:sp>
      <p:sp>
        <p:nvSpPr>
          <p:cNvPr id="3" name="Text Box 6"/>
          <p:cNvSpPr txBox="1">
            <a:spLocks noChangeArrowheads="1"/>
          </p:cNvSpPr>
          <p:nvPr/>
        </p:nvSpPr>
        <p:spPr bwMode="auto">
          <a:xfrm>
            <a:off x="228550" y="390221"/>
            <a:ext cx="30972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不考虑界面态情况，</a:t>
            </a:r>
          </a:p>
        </p:txBody>
      </p:sp>
      <p:sp>
        <p:nvSpPr>
          <p:cNvPr id="4" name="Text Box 7"/>
          <p:cNvSpPr txBox="1">
            <a:spLocks noChangeArrowheads="1"/>
          </p:cNvSpPr>
          <p:nvPr/>
        </p:nvSpPr>
        <p:spPr bwMode="auto">
          <a:xfrm>
            <a:off x="2965400" y="390221"/>
            <a:ext cx="3457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突变反型异质结的能带图</a:t>
            </a:r>
          </a:p>
        </p:txBody>
      </p:sp>
      <p:grpSp>
        <p:nvGrpSpPr>
          <p:cNvPr id="5" name="Group 46"/>
          <p:cNvGrpSpPr>
            <a:grpSpLocks/>
          </p:cNvGrpSpPr>
          <p:nvPr/>
        </p:nvGrpSpPr>
        <p:grpSpPr bwMode="auto">
          <a:xfrm>
            <a:off x="149175" y="1018002"/>
            <a:ext cx="4184650" cy="2651125"/>
            <a:chOff x="295" y="1409"/>
            <a:chExt cx="2636" cy="1670"/>
          </a:xfrm>
        </p:grpSpPr>
        <p:sp>
          <p:nvSpPr>
            <p:cNvPr id="6" name="Line 8"/>
            <p:cNvSpPr>
              <a:spLocks noChangeShapeType="1"/>
            </p:cNvSpPr>
            <p:nvPr/>
          </p:nvSpPr>
          <p:spPr bwMode="auto">
            <a:xfrm>
              <a:off x="567" y="2432"/>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Line 9"/>
            <p:cNvSpPr>
              <a:spLocks noChangeShapeType="1"/>
            </p:cNvSpPr>
            <p:nvPr/>
          </p:nvSpPr>
          <p:spPr bwMode="auto">
            <a:xfrm>
              <a:off x="567" y="2795"/>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Line 10"/>
            <p:cNvSpPr>
              <a:spLocks noChangeShapeType="1"/>
            </p:cNvSpPr>
            <p:nvPr/>
          </p:nvSpPr>
          <p:spPr bwMode="auto">
            <a:xfrm>
              <a:off x="1701" y="2205"/>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Line 11"/>
            <p:cNvSpPr>
              <a:spLocks noChangeShapeType="1"/>
            </p:cNvSpPr>
            <p:nvPr/>
          </p:nvSpPr>
          <p:spPr bwMode="auto">
            <a:xfrm>
              <a:off x="1746" y="2976"/>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Line 12"/>
            <p:cNvSpPr>
              <a:spLocks noChangeShapeType="1"/>
            </p:cNvSpPr>
            <p:nvPr/>
          </p:nvSpPr>
          <p:spPr bwMode="auto">
            <a:xfrm>
              <a:off x="567" y="2704"/>
              <a:ext cx="907" cy="0"/>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Line 13"/>
            <p:cNvSpPr>
              <a:spLocks noChangeShapeType="1"/>
            </p:cNvSpPr>
            <p:nvPr/>
          </p:nvSpPr>
          <p:spPr bwMode="auto">
            <a:xfrm>
              <a:off x="1701" y="2341"/>
              <a:ext cx="907" cy="0"/>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Line 14"/>
            <p:cNvSpPr>
              <a:spLocks noChangeShapeType="1"/>
            </p:cNvSpPr>
            <p:nvPr/>
          </p:nvSpPr>
          <p:spPr bwMode="auto">
            <a:xfrm>
              <a:off x="567" y="1661"/>
              <a:ext cx="2041" cy="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Line 15"/>
            <p:cNvSpPr>
              <a:spLocks noChangeShapeType="1"/>
            </p:cNvSpPr>
            <p:nvPr/>
          </p:nvSpPr>
          <p:spPr bwMode="auto">
            <a:xfrm>
              <a:off x="703" y="1661"/>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4" name="Object 16"/>
            <p:cNvGraphicFramePr>
              <a:graphicFrameLocks noChangeAspect="1"/>
            </p:cNvGraphicFramePr>
            <p:nvPr/>
          </p:nvGraphicFramePr>
          <p:xfrm>
            <a:off x="612" y="1933"/>
            <a:ext cx="186" cy="226"/>
          </p:xfrm>
          <a:graphic>
            <a:graphicData uri="http://schemas.openxmlformats.org/presentationml/2006/ole">
              <mc:AlternateContent xmlns:mc="http://schemas.openxmlformats.org/markup-compatibility/2006">
                <mc:Choice xmlns:v="urn:schemas-microsoft-com:vml" Requires="v">
                  <p:oleObj spid="_x0000_s168240" name="公式" r:id="rId3" imgW="177569" imgH="215619" progId="Equation.3">
                    <p:embed/>
                  </p:oleObj>
                </mc:Choice>
                <mc:Fallback>
                  <p:oleObj name="公式" r:id="rId3" imgW="177569" imgH="215619" progId="Equation.3">
                    <p:embed/>
                    <p:pic>
                      <p:nvPicPr>
                        <p:cNvPr id="31819"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 y="1933"/>
                          <a:ext cx="186"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 name="Line 17"/>
            <p:cNvSpPr>
              <a:spLocks noChangeShapeType="1"/>
            </p:cNvSpPr>
            <p:nvPr/>
          </p:nvSpPr>
          <p:spPr bwMode="auto">
            <a:xfrm flipV="1">
              <a:off x="975" y="1661"/>
              <a:ext cx="0" cy="1043"/>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6" name="Object 18"/>
            <p:cNvGraphicFramePr>
              <a:graphicFrameLocks noChangeAspect="1"/>
            </p:cNvGraphicFramePr>
            <p:nvPr/>
          </p:nvGraphicFramePr>
          <p:xfrm>
            <a:off x="884" y="1979"/>
            <a:ext cx="199" cy="226"/>
          </p:xfrm>
          <a:graphic>
            <a:graphicData uri="http://schemas.openxmlformats.org/presentationml/2006/ole">
              <mc:AlternateContent xmlns:mc="http://schemas.openxmlformats.org/markup-compatibility/2006">
                <mc:Choice xmlns:v="urn:schemas-microsoft-com:vml" Requires="v">
                  <p:oleObj spid="_x0000_s168241" name="公式" r:id="rId5" imgW="190335" imgH="215713" progId="Equation.3">
                    <p:embed/>
                  </p:oleObj>
                </mc:Choice>
                <mc:Fallback>
                  <p:oleObj name="公式" r:id="rId5" imgW="190335" imgH="215713" progId="Equation.3">
                    <p:embed/>
                    <p:pic>
                      <p:nvPicPr>
                        <p:cNvPr id="31821"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4" y="1979"/>
                          <a:ext cx="199"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7" name="Line 19"/>
            <p:cNvSpPr>
              <a:spLocks noChangeShapeType="1"/>
            </p:cNvSpPr>
            <p:nvPr/>
          </p:nvSpPr>
          <p:spPr bwMode="auto">
            <a:xfrm>
              <a:off x="884" y="2432"/>
              <a:ext cx="0" cy="363"/>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8" name="Object 20"/>
            <p:cNvGraphicFramePr>
              <a:graphicFrameLocks noChangeAspect="1"/>
            </p:cNvGraphicFramePr>
            <p:nvPr/>
          </p:nvGraphicFramePr>
          <p:xfrm>
            <a:off x="632" y="2478"/>
            <a:ext cx="252" cy="252"/>
          </p:xfrm>
          <a:graphic>
            <a:graphicData uri="http://schemas.openxmlformats.org/presentationml/2006/ole">
              <mc:AlternateContent xmlns:mc="http://schemas.openxmlformats.org/markup-compatibility/2006">
                <mc:Choice xmlns:v="urn:schemas-microsoft-com:vml" Requires="v">
                  <p:oleObj spid="_x0000_s168242" name="公式" r:id="rId7" imgW="241195" imgH="241195" progId="Equation.3">
                    <p:embed/>
                  </p:oleObj>
                </mc:Choice>
                <mc:Fallback>
                  <p:oleObj name="公式" r:id="rId7" imgW="241195" imgH="241195" progId="Equation.3">
                    <p:embed/>
                    <p:pic>
                      <p:nvPicPr>
                        <p:cNvPr id="31823"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 y="2478"/>
                          <a:ext cx="252"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 name="Object 21"/>
            <p:cNvGraphicFramePr>
              <a:graphicFrameLocks noChangeAspect="1"/>
            </p:cNvGraphicFramePr>
            <p:nvPr/>
          </p:nvGraphicFramePr>
          <p:xfrm>
            <a:off x="328" y="2692"/>
            <a:ext cx="239" cy="239"/>
          </p:xfrm>
          <a:graphic>
            <a:graphicData uri="http://schemas.openxmlformats.org/presentationml/2006/ole">
              <mc:AlternateContent xmlns:mc="http://schemas.openxmlformats.org/markup-compatibility/2006">
                <mc:Choice xmlns:v="urn:schemas-microsoft-com:vml" Requires="v">
                  <p:oleObj spid="_x0000_s168243" name="公式" r:id="rId9" imgW="228600" imgH="228600" progId="Equation.3">
                    <p:embed/>
                  </p:oleObj>
                </mc:Choice>
                <mc:Fallback>
                  <p:oleObj name="公式" r:id="rId9" imgW="228600" imgH="228600" progId="Equation.3">
                    <p:embed/>
                    <p:pic>
                      <p:nvPicPr>
                        <p:cNvPr id="31824"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 y="2692"/>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0" name="Object 22"/>
            <p:cNvGraphicFramePr>
              <a:graphicFrameLocks noChangeAspect="1"/>
            </p:cNvGraphicFramePr>
            <p:nvPr/>
          </p:nvGraphicFramePr>
          <p:xfrm>
            <a:off x="328" y="2296"/>
            <a:ext cx="239" cy="239"/>
          </p:xfrm>
          <a:graphic>
            <a:graphicData uri="http://schemas.openxmlformats.org/presentationml/2006/ole">
              <mc:AlternateContent xmlns:mc="http://schemas.openxmlformats.org/markup-compatibility/2006">
                <mc:Choice xmlns:v="urn:schemas-microsoft-com:vml" Requires="v">
                  <p:oleObj spid="_x0000_s168244" name="公式" r:id="rId11" imgW="228600" imgH="228600" progId="Equation.3">
                    <p:embed/>
                  </p:oleObj>
                </mc:Choice>
                <mc:Fallback>
                  <p:oleObj name="公式" r:id="rId11" imgW="228600" imgH="228600" progId="Equation.3">
                    <p:embed/>
                    <p:pic>
                      <p:nvPicPr>
                        <p:cNvPr id="31825"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 y="2296"/>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 name="Object 23"/>
            <p:cNvGraphicFramePr>
              <a:graphicFrameLocks noChangeAspect="1"/>
            </p:cNvGraphicFramePr>
            <p:nvPr/>
          </p:nvGraphicFramePr>
          <p:xfrm>
            <a:off x="295" y="2523"/>
            <a:ext cx="265" cy="226"/>
          </p:xfrm>
          <a:graphic>
            <a:graphicData uri="http://schemas.openxmlformats.org/presentationml/2006/ole">
              <mc:AlternateContent xmlns:mc="http://schemas.openxmlformats.org/markup-compatibility/2006">
                <mc:Choice xmlns:v="urn:schemas-microsoft-com:vml" Requires="v">
                  <p:oleObj spid="_x0000_s168245" name="公式" r:id="rId13" imgW="253780" imgH="215713" progId="Equation.3">
                    <p:embed/>
                  </p:oleObj>
                </mc:Choice>
                <mc:Fallback>
                  <p:oleObj name="公式" r:id="rId13" imgW="253780" imgH="215713" progId="Equation.3">
                    <p:embed/>
                    <p:pic>
                      <p:nvPicPr>
                        <p:cNvPr id="31826"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 y="2523"/>
                          <a:ext cx="265"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 name="Line 24"/>
            <p:cNvSpPr>
              <a:spLocks noChangeShapeType="1"/>
            </p:cNvSpPr>
            <p:nvPr/>
          </p:nvSpPr>
          <p:spPr bwMode="auto">
            <a:xfrm>
              <a:off x="1338" y="2976"/>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Line 25"/>
            <p:cNvSpPr>
              <a:spLocks noChangeShapeType="1"/>
            </p:cNvSpPr>
            <p:nvPr/>
          </p:nvSpPr>
          <p:spPr bwMode="auto">
            <a:xfrm>
              <a:off x="1429" y="2795"/>
              <a:ext cx="0" cy="18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4" name="Object 26"/>
            <p:cNvGraphicFramePr>
              <a:graphicFrameLocks noChangeAspect="1"/>
            </p:cNvGraphicFramePr>
            <p:nvPr/>
          </p:nvGraphicFramePr>
          <p:xfrm>
            <a:off x="1474" y="2783"/>
            <a:ext cx="292" cy="239"/>
          </p:xfrm>
          <a:graphic>
            <a:graphicData uri="http://schemas.openxmlformats.org/presentationml/2006/ole">
              <mc:AlternateContent xmlns:mc="http://schemas.openxmlformats.org/markup-compatibility/2006">
                <mc:Choice xmlns:v="urn:schemas-microsoft-com:vml" Requires="v">
                  <p:oleObj spid="_x0000_s168246" name="公式" r:id="rId15" imgW="279400" imgH="228600" progId="Equation.3">
                    <p:embed/>
                  </p:oleObj>
                </mc:Choice>
                <mc:Fallback>
                  <p:oleObj name="公式" r:id="rId15" imgW="279400" imgH="228600" progId="Equation.3">
                    <p:embed/>
                    <p:pic>
                      <p:nvPicPr>
                        <p:cNvPr id="31829"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74" y="2783"/>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5" name="Line 27"/>
            <p:cNvSpPr>
              <a:spLocks noChangeShapeType="1"/>
            </p:cNvSpPr>
            <p:nvPr/>
          </p:nvSpPr>
          <p:spPr bwMode="auto">
            <a:xfrm>
              <a:off x="1202" y="2614"/>
              <a:ext cx="0" cy="9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Line 28"/>
            <p:cNvSpPr>
              <a:spLocks noChangeShapeType="1"/>
            </p:cNvSpPr>
            <p:nvPr/>
          </p:nvSpPr>
          <p:spPr bwMode="auto">
            <a:xfrm flipV="1">
              <a:off x="1202" y="2795"/>
              <a:ext cx="0" cy="91"/>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7" name="Object 29"/>
            <p:cNvGraphicFramePr>
              <a:graphicFrameLocks noChangeAspect="1"/>
            </p:cNvGraphicFramePr>
            <p:nvPr/>
          </p:nvGraphicFramePr>
          <p:xfrm>
            <a:off x="1202" y="2478"/>
            <a:ext cx="176" cy="249"/>
          </p:xfrm>
          <a:graphic>
            <a:graphicData uri="http://schemas.openxmlformats.org/presentationml/2006/ole">
              <mc:AlternateContent xmlns:mc="http://schemas.openxmlformats.org/markup-compatibility/2006">
                <mc:Choice xmlns:v="urn:schemas-microsoft-com:vml" Requires="v">
                  <p:oleObj spid="_x0000_s168247" name="公式" r:id="rId17" imgW="152268" imgH="215713" progId="Equation.3">
                    <p:embed/>
                  </p:oleObj>
                </mc:Choice>
                <mc:Fallback>
                  <p:oleObj name="公式" r:id="rId17" imgW="152268" imgH="215713" progId="Equation.3">
                    <p:embed/>
                    <p:pic>
                      <p:nvPicPr>
                        <p:cNvPr id="31832"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02" y="2478"/>
                          <a:ext cx="176"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8" name="Line 30"/>
            <p:cNvSpPr>
              <a:spLocks noChangeShapeType="1"/>
            </p:cNvSpPr>
            <p:nvPr/>
          </p:nvSpPr>
          <p:spPr bwMode="auto">
            <a:xfrm>
              <a:off x="1338" y="2205"/>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Line 31"/>
            <p:cNvSpPr>
              <a:spLocks noChangeShapeType="1"/>
            </p:cNvSpPr>
            <p:nvPr/>
          </p:nvSpPr>
          <p:spPr bwMode="auto">
            <a:xfrm flipV="1">
              <a:off x="1429" y="2205"/>
              <a:ext cx="0" cy="227"/>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0" name="Object 32"/>
            <p:cNvGraphicFramePr>
              <a:graphicFrameLocks noChangeAspect="1"/>
            </p:cNvGraphicFramePr>
            <p:nvPr/>
          </p:nvGraphicFramePr>
          <p:xfrm>
            <a:off x="1429" y="2205"/>
            <a:ext cx="292" cy="239"/>
          </p:xfrm>
          <a:graphic>
            <a:graphicData uri="http://schemas.openxmlformats.org/presentationml/2006/ole">
              <mc:AlternateContent xmlns:mc="http://schemas.openxmlformats.org/markup-compatibility/2006">
                <mc:Choice xmlns:v="urn:schemas-microsoft-com:vml" Requires="v">
                  <p:oleObj spid="_x0000_s168248" name="公式" r:id="rId19" imgW="279400" imgH="228600" progId="Equation.3">
                    <p:embed/>
                  </p:oleObj>
                </mc:Choice>
                <mc:Fallback>
                  <p:oleObj name="公式" r:id="rId19" imgW="279400" imgH="228600" progId="Equation.3">
                    <p:embed/>
                    <p:pic>
                      <p:nvPicPr>
                        <p:cNvPr id="31835" name="Object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29" y="2205"/>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 name="Object 33"/>
            <p:cNvGraphicFramePr>
              <a:graphicFrameLocks noChangeAspect="1"/>
            </p:cNvGraphicFramePr>
            <p:nvPr/>
          </p:nvGraphicFramePr>
          <p:xfrm>
            <a:off x="2646" y="2840"/>
            <a:ext cx="253" cy="239"/>
          </p:xfrm>
          <a:graphic>
            <a:graphicData uri="http://schemas.openxmlformats.org/presentationml/2006/ole">
              <mc:AlternateContent xmlns:mc="http://schemas.openxmlformats.org/markup-compatibility/2006">
                <mc:Choice xmlns:v="urn:schemas-microsoft-com:vml" Requires="v">
                  <p:oleObj spid="_x0000_s168249" name="公式" r:id="rId21" imgW="241300" imgH="228600" progId="Equation.3">
                    <p:embed/>
                  </p:oleObj>
                </mc:Choice>
                <mc:Fallback>
                  <p:oleObj name="公式" r:id="rId21" imgW="241300" imgH="228600" progId="Equation.3">
                    <p:embed/>
                    <p:pic>
                      <p:nvPicPr>
                        <p:cNvPr id="31836" name="Object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46" y="2840"/>
                          <a:ext cx="253"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2" name="Object 34"/>
            <p:cNvGraphicFramePr>
              <a:graphicFrameLocks noChangeAspect="1"/>
            </p:cNvGraphicFramePr>
            <p:nvPr/>
          </p:nvGraphicFramePr>
          <p:xfrm>
            <a:off x="2653" y="2252"/>
            <a:ext cx="278" cy="226"/>
          </p:xfrm>
          <a:graphic>
            <a:graphicData uri="http://schemas.openxmlformats.org/presentationml/2006/ole">
              <mc:AlternateContent xmlns:mc="http://schemas.openxmlformats.org/markup-compatibility/2006">
                <mc:Choice xmlns:v="urn:schemas-microsoft-com:vml" Requires="v">
                  <p:oleObj spid="_x0000_s168250" name="公式" r:id="rId23" imgW="266353" imgH="215619" progId="Equation.3">
                    <p:embed/>
                  </p:oleObj>
                </mc:Choice>
                <mc:Fallback>
                  <p:oleObj name="公式" r:id="rId23" imgW="266353" imgH="215619" progId="Equation.3">
                    <p:embed/>
                    <p:pic>
                      <p:nvPicPr>
                        <p:cNvPr id="31837" name="Object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53" y="2252"/>
                          <a:ext cx="278"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 name="Object 35"/>
            <p:cNvGraphicFramePr>
              <a:graphicFrameLocks noChangeAspect="1"/>
            </p:cNvGraphicFramePr>
            <p:nvPr/>
          </p:nvGraphicFramePr>
          <p:xfrm>
            <a:off x="2653" y="2057"/>
            <a:ext cx="239" cy="239"/>
          </p:xfrm>
          <a:graphic>
            <a:graphicData uri="http://schemas.openxmlformats.org/presentationml/2006/ole">
              <mc:AlternateContent xmlns:mc="http://schemas.openxmlformats.org/markup-compatibility/2006">
                <mc:Choice xmlns:v="urn:schemas-microsoft-com:vml" Requires="v">
                  <p:oleObj spid="_x0000_s168251" name="公式" r:id="rId25" imgW="228600" imgH="228600" progId="Equation.3">
                    <p:embed/>
                  </p:oleObj>
                </mc:Choice>
                <mc:Fallback>
                  <p:oleObj name="公式" r:id="rId25" imgW="228600" imgH="228600" progId="Equation.3">
                    <p:embed/>
                    <p:pic>
                      <p:nvPicPr>
                        <p:cNvPr id="31838" name="Object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53" y="2057"/>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 name="Line 36"/>
            <p:cNvSpPr>
              <a:spLocks noChangeShapeType="1"/>
            </p:cNvSpPr>
            <p:nvPr/>
          </p:nvSpPr>
          <p:spPr bwMode="auto">
            <a:xfrm flipV="1">
              <a:off x="2051" y="1661"/>
              <a:ext cx="0" cy="680"/>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5" name="Object 37"/>
            <p:cNvGraphicFramePr>
              <a:graphicFrameLocks noChangeAspect="1"/>
            </p:cNvGraphicFramePr>
            <p:nvPr/>
          </p:nvGraphicFramePr>
          <p:xfrm>
            <a:off x="1961" y="1889"/>
            <a:ext cx="213" cy="226"/>
          </p:xfrm>
          <a:graphic>
            <a:graphicData uri="http://schemas.openxmlformats.org/presentationml/2006/ole">
              <mc:AlternateContent xmlns:mc="http://schemas.openxmlformats.org/markup-compatibility/2006">
                <mc:Choice xmlns:v="urn:schemas-microsoft-com:vml" Requires="v">
                  <p:oleObj spid="_x0000_s168252" name="公式" r:id="rId26" imgW="203024" imgH="215713" progId="Equation.3">
                    <p:embed/>
                  </p:oleObj>
                </mc:Choice>
                <mc:Fallback>
                  <p:oleObj name="公式" r:id="rId26" imgW="203024" imgH="215713" progId="Equation.3">
                    <p:embed/>
                    <p:pic>
                      <p:nvPicPr>
                        <p:cNvPr id="31840" name="Object 3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961" y="1889"/>
                          <a:ext cx="213"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 name="Line 38"/>
            <p:cNvSpPr>
              <a:spLocks noChangeShapeType="1"/>
            </p:cNvSpPr>
            <p:nvPr/>
          </p:nvSpPr>
          <p:spPr bwMode="auto">
            <a:xfrm flipV="1">
              <a:off x="2278" y="1661"/>
              <a:ext cx="0" cy="544"/>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7" name="Object 39"/>
            <p:cNvGraphicFramePr>
              <a:graphicFrameLocks noChangeAspect="1"/>
            </p:cNvGraphicFramePr>
            <p:nvPr/>
          </p:nvGraphicFramePr>
          <p:xfrm>
            <a:off x="2181" y="1842"/>
            <a:ext cx="200" cy="226"/>
          </p:xfrm>
          <a:graphic>
            <a:graphicData uri="http://schemas.openxmlformats.org/presentationml/2006/ole">
              <mc:AlternateContent xmlns:mc="http://schemas.openxmlformats.org/markup-compatibility/2006">
                <mc:Choice xmlns:v="urn:schemas-microsoft-com:vml" Requires="v">
                  <p:oleObj spid="_x0000_s168253" name="公式" r:id="rId28" imgW="190335" imgH="215713" progId="Equation.3">
                    <p:embed/>
                  </p:oleObj>
                </mc:Choice>
                <mc:Fallback>
                  <p:oleObj name="公式" r:id="rId28" imgW="190335" imgH="215713" progId="Equation.3">
                    <p:embed/>
                    <p:pic>
                      <p:nvPicPr>
                        <p:cNvPr id="31842" name="Object 3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81" y="1842"/>
                          <a:ext cx="200"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8" name="Line 40"/>
            <p:cNvSpPr>
              <a:spLocks noChangeShapeType="1"/>
            </p:cNvSpPr>
            <p:nvPr/>
          </p:nvSpPr>
          <p:spPr bwMode="auto">
            <a:xfrm>
              <a:off x="2381" y="2205"/>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9" name="Object 41"/>
            <p:cNvGraphicFramePr>
              <a:graphicFrameLocks noChangeAspect="1"/>
            </p:cNvGraphicFramePr>
            <p:nvPr/>
          </p:nvGraphicFramePr>
          <p:xfrm>
            <a:off x="2388" y="2478"/>
            <a:ext cx="265" cy="252"/>
          </p:xfrm>
          <a:graphic>
            <a:graphicData uri="http://schemas.openxmlformats.org/presentationml/2006/ole">
              <mc:AlternateContent xmlns:mc="http://schemas.openxmlformats.org/markup-compatibility/2006">
                <mc:Choice xmlns:v="urn:schemas-microsoft-com:vml" Requires="v">
                  <p:oleObj spid="_x0000_s168254" name="公式" r:id="rId30" imgW="253890" imgH="241195" progId="Equation.3">
                    <p:embed/>
                  </p:oleObj>
                </mc:Choice>
                <mc:Fallback>
                  <p:oleObj name="公式" r:id="rId30" imgW="253890" imgH="241195" progId="Equation.3">
                    <p:embed/>
                    <p:pic>
                      <p:nvPicPr>
                        <p:cNvPr id="31844" name="Object 4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388" y="2478"/>
                          <a:ext cx="265"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0" name="Line 42"/>
            <p:cNvSpPr>
              <a:spLocks noChangeShapeType="1"/>
            </p:cNvSpPr>
            <p:nvPr/>
          </p:nvSpPr>
          <p:spPr bwMode="auto">
            <a:xfrm>
              <a:off x="1837" y="2069"/>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Line 43"/>
            <p:cNvSpPr>
              <a:spLocks noChangeShapeType="1"/>
            </p:cNvSpPr>
            <p:nvPr/>
          </p:nvSpPr>
          <p:spPr bwMode="auto">
            <a:xfrm flipV="1">
              <a:off x="1837" y="2341"/>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2" name="Object 44"/>
            <p:cNvGraphicFramePr>
              <a:graphicFrameLocks noChangeAspect="1"/>
            </p:cNvGraphicFramePr>
            <p:nvPr/>
          </p:nvGraphicFramePr>
          <p:xfrm>
            <a:off x="1868" y="2387"/>
            <a:ext cx="205" cy="249"/>
          </p:xfrm>
          <a:graphic>
            <a:graphicData uri="http://schemas.openxmlformats.org/presentationml/2006/ole">
              <mc:AlternateContent xmlns:mc="http://schemas.openxmlformats.org/markup-compatibility/2006">
                <mc:Choice xmlns:v="urn:schemas-microsoft-com:vml" Requires="v">
                  <p:oleObj spid="_x0000_s168255" name="公式" r:id="rId32" imgW="177569" imgH="215619" progId="Equation.3">
                    <p:embed/>
                  </p:oleObj>
                </mc:Choice>
                <mc:Fallback>
                  <p:oleObj name="公式" r:id="rId32" imgW="177569" imgH="215619" progId="Equation.3">
                    <p:embed/>
                    <p:pic>
                      <p:nvPicPr>
                        <p:cNvPr id="31847" name="Object 4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868" y="2387"/>
                          <a:ext cx="205"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 name="Text Box 45"/>
            <p:cNvSpPr txBox="1">
              <a:spLocks noChangeArrowheads="1"/>
            </p:cNvSpPr>
            <p:nvPr/>
          </p:nvSpPr>
          <p:spPr bwMode="auto">
            <a:xfrm>
              <a:off x="1202" y="1409"/>
              <a:ext cx="7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sym typeface="Symbol" panose="05050102010706020507" pitchFamily="18" charset="2"/>
                </a:rPr>
                <a:t>真空能级</a:t>
              </a:r>
            </a:p>
          </p:txBody>
        </p:sp>
      </p:grpSp>
      <p:grpSp>
        <p:nvGrpSpPr>
          <p:cNvPr id="44" name="Group 119"/>
          <p:cNvGrpSpPr>
            <a:grpSpLocks/>
          </p:cNvGrpSpPr>
          <p:nvPr/>
        </p:nvGrpSpPr>
        <p:grpSpPr bwMode="auto">
          <a:xfrm>
            <a:off x="4938662" y="987839"/>
            <a:ext cx="4075113" cy="3630613"/>
            <a:chOff x="3035" y="1415"/>
            <a:chExt cx="2567" cy="2287"/>
          </a:xfrm>
        </p:grpSpPr>
        <p:sp>
          <p:nvSpPr>
            <p:cNvPr id="45" name="Freeform 48"/>
            <p:cNvSpPr>
              <a:spLocks/>
            </p:cNvSpPr>
            <p:nvPr/>
          </p:nvSpPr>
          <p:spPr bwMode="auto">
            <a:xfrm>
              <a:off x="3307" y="2414"/>
              <a:ext cx="942" cy="174"/>
            </a:xfrm>
            <a:custGeom>
              <a:avLst/>
              <a:gdLst>
                <a:gd name="T0" fmla="*/ 0 w 942"/>
                <a:gd name="T1" fmla="*/ 11 h 92"/>
                <a:gd name="T2" fmla="*/ 750 w 942"/>
                <a:gd name="T3" fmla="*/ 0 h 92"/>
                <a:gd name="T4" fmla="*/ 853 w 942"/>
                <a:gd name="T5" fmla="*/ 28 h 92"/>
                <a:gd name="T6" fmla="*/ 897 w 942"/>
                <a:gd name="T7" fmla="*/ 161 h 92"/>
                <a:gd name="T8" fmla="*/ 942 w 942"/>
                <a:gd name="T9" fmla="*/ 329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2" h="92">
                  <a:moveTo>
                    <a:pt x="0" y="3"/>
                  </a:moveTo>
                  <a:lnTo>
                    <a:pt x="750" y="0"/>
                  </a:lnTo>
                  <a:lnTo>
                    <a:pt x="853" y="8"/>
                  </a:lnTo>
                  <a:lnTo>
                    <a:pt x="897" y="45"/>
                  </a:lnTo>
                  <a:lnTo>
                    <a:pt x="942" y="92"/>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Line 52"/>
            <p:cNvSpPr>
              <a:spLocks noChangeShapeType="1"/>
            </p:cNvSpPr>
            <p:nvPr/>
          </p:nvSpPr>
          <p:spPr bwMode="auto">
            <a:xfrm>
              <a:off x="3307" y="2704"/>
              <a:ext cx="907" cy="0"/>
            </a:xfrm>
            <a:prstGeom prst="line">
              <a:avLst/>
            </a:prstGeom>
            <a:noFill/>
            <a:ln w="9525">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Line 55"/>
            <p:cNvSpPr>
              <a:spLocks noChangeShapeType="1"/>
            </p:cNvSpPr>
            <p:nvPr/>
          </p:nvSpPr>
          <p:spPr bwMode="auto">
            <a:xfrm>
              <a:off x="3443" y="1634"/>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8" name="Object 56"/>
            <p:cNvGraphicFramePr>
              <a:graphicFrameLocks noChangeAspect="1"/>
            </p:cNvGraphicFramePr>
            <p:nvPr/>
          </p:nvGraphicFramePr>
          <p:xfrm>
            <a:off x="3352" y="1959"/>
            <a:ext cx="186" cy="226"/>
          </p:xfrm>
          <a:graphic>
            <a:graphicData uri="http://schemas.openxmlformats.org/presentationml/2006/ole">
              <mc:AlternateContent xmlns:mc="http://schemas.openxmlformats.org/markup-compatibility/2006">
                <mc:Choice xmlns:v="urn:schemas-microsoft-com:vml" Requires="v">
                  <p:oleObj spid="_x0000_s168256" name="公式" r:id="rId34" imgW="177569" imgH="215619" progId="Equation.3">
                    <p:embed/>
                  </p:oleObj>
                </mc:Choice>
                <mc:Fallback>
                  <p:oleObj name="公式" r:id="rId34" imgW="177569" imgH="215619" progId="Equation.3">
                    <p:embed/>
                    <p:pic>
                      <p:nvPicPr>
                        <p:cNvPr id="31759"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 y="1959"/>
                          <a:ext cx="186"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9" name="Line 57"/>
            <p:cNvSpPr>
              <a:spLocks noChangeShapeType="1"/>
            </p:cNvSpPr>
            <p:nvPr/>
          </p:nvSpPr>
          <p:spPr bwMode="auto">
            <a:xfrm flipV="1">
              <a:off x="3715" y="1634"/>
              <a:ext cx="0" cy="1043"/>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0" name="Object 58"/>
            <p:cNvGraphicFramePr>
              <a:graphicFrameLocks noChangeAspect="1"/>
            </p:cNvGraphicFramePr>
            <p:nvPr/>
          </p:nvGraphicFramePr>
          <p:xfrm>
            <a:off x="3624" y="2005"/>
            <a:ext cx="199" cy="226"/>
          </p:xfrm>
          <a:graphic>
            <a:graphicData uri="http://schemas.openxmlformats.org/presentationml/2006/ole">
              <mc:AlternateContent xmlns:mc="http://schemas.openxmlformats.org/markup-compatibility/2006">
                <mc:Choice xmlns:v="urn:schemas-microsoft-com:vml" Requires="v">
                  <p:oleObj spid="_x0000_s168257" name="公式" r:id="rId35" imgW="190335" imgH="215713" progId="Equation.3">
                    <p:embed/>
                  </p:oleObj>
                </mc:Choice>
                <mc:Fallback>
                  <p:oleObj name="公式" r:id="rId35" imgW="190335" imgH="215713" progId="Equation.3">
                    <p:embed/>
                    <p:pic>
                      <p:nvPicPr>
                        <p:cNvPr id="31761"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4" y="2005"/>
                          <a:ext cx="199"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1" name="Line 59"/>
            <p:cNvSpPr>
              <a:spLocks noChangeShapeType="1"/>
            </p:cNvSpPr>
            <p:nvPr/>
          </p:nvSpPr>
          <p:spPr bwMode="auto">
            <a:xfrm>
              <a:off x="3624" y="2428"/>
              <a:ext cx="0" cy="363"/>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2" name="Object 60"/>
            <p:cNvGraphicFramePr>
              <a:graphicFrameLocks noChangeAspect="1"/>
            </p:cNvGraphicFramePr>
            <p:nvPr/>
          </p:nvGraphicFramePr>
          <p:xfrm>
            <a:off x="3372" y="2478"/>
            <a:ext cx="252" cy="252"/>
          </p:xfrm>
          <a:graphic>
            <a:graphicData uri="http://schemas.openxmlformats.org/presentationml/2006/ole">
              <mc:AlternateContent xmlns:mc="http://schemas.openxmlformats.org/markup-compatibility/2006">
                <mc:Choice xmlns:v="urn:schemas-microsoft-com:vml" Requires="v">
                  <p:oleObj spid="_x0000_s168258" name="公式" r:id="rId36" imgW="241195" imgH="241195" progId="Equation.3">
                    <p:embed/>
                  </p:oleObj>
                </mc:Choice>
                <mc:Fallback>
                  <p:oleObj name="公式" r:id="rId36" imgW="241195" imgH="241195" progId="Equation.3">
                    <p:embed/>
                    <p:pic>
                      <p:nvPicPr>
                        <p:cNvPr id="31763" name="Object 6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372" y="2478"/>
                          <a:ext cx="252"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3" name="Object 61"/>
            <p:cNvGraphicFramePr>
              <a:graphicFrameLocks noChangeAspect="1"/>
            </p:cNvGraphicFramePr>
            <p:nvPr/>
          </p:nvGraphicFramePr>
          <p:xfrm>
            <a:off x="3068" y="2718"/>
            <a:ext cx="239" cy="239"/>
          </p:xfrm>
          <a:graphic>
            <a:graphicData uri="http://schemas.openxmlformats.org/presentationml/2006/ole">
              <mc:AlternateContent xmlns:mc="http://schemas.openxmlformats.org/markup-compatibility/2006">
                <mc:Choice xmlns:v="urn:schemas-microsoft-com:vml" Requires="v">
                  <p:oleObj spid="_x0000_s168259" name="公式" r:id="rId38" imgW="228600" imgH="228600" progId="Equation.3">
                    <p:embed/>
                  </p:oleObj>
                </mc:Choice>
                <mc:Fallback>
                  <p:oleObj name="公式" r:id="rId38" imgW="228600" imgH="228600" progId="Equation.3">
                    <p:embed/>
                    <p:pic>
                      <p:nvPicPr>
                        <p:cNvPr id="31764" name="Object 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8" y="2718"/>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4" name="Object 62"/>
            <p:cNvGraphicFramePr>
              <a:graphicFrameLocks noChangeAspect="1"/>
            </p:cNvGraphicFramePr>
            <p:nvPr/>
          </p:nvGraphicFramePr>
          <p:xfrm>
            <a:off x="3068" y="2322"/>
            <a:ext cx="239" cy="239"/>
          </p:xfrm>
          <a:graphic>
            <a:graphicData uri="http://schemas.openxmlformats.org/presentationml/2006/ole">
              <mc:AlternateContent xmlns:mc="http://schemas.openxmlformats.org/markup-compatibility/2006">
                <mc:Choice xmlns:v="urn:schemas-microsoft-com:vml" Requires="v">
                  <p:oleObj spid="_x0000_s168260" name="公式" r:id="rId39" imgW="228600" imgH="228600" progId="Equation.3">
                    <p:embed/>
                  </p:oleObj>
                </mc:Choice>
                <mc:Fallback>
                  <p:oleObj name="公式" r:id="rId39" imgW="228600" imgH="228600" progId="Equation.3">
                    <p:embed/>
                    <p:pic>
                      <p:nvPicPr>
                        <p:cNvPr id="31765" name="Object 6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68" y="2322"/>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5" name="Object 63"/>
            <p:cNvGraphicFramePr>
              <a:graphicFrameLocks noChangeAspect="1"/>
            </p:cNvGraphicFramePr>
            <p:nvPr/>
          </p:nvGraphicFramePr>
          <p:xfrm>
            <a:off x="3035" y="2549"/>
            <a:ext cx="265" cy="226"/>
          </p:xfrm>
          <a:graphic>
            <a:graphicData uri="http://schemas.openxmlformats.org/presentationml/2006/ole">
              <mc:AlternateContent xmlns:mc="http://schemas.openxmlformats.org/markup-compatibility/2006">
                <mc:Choice xmlns:v="urn:schemas-microsoft-com:vml" Requires="v">
                  <p:oleObj spid="_x0000_s168261" name="公式" r:id="rId40" imgW="253780" imgH="215713" progId="Equation.3">
                    <p:embed/>
                  </p:oleObj>
                </mc:Choice>
                <mc:Fallback>
                  <p:oleObj name="公式" r:id="rId40" imgW="253780" imgH="215713" progId="Equation.3">
                    <p:embed/>
                    <p:pic>
                      <p:nvPicPr>
                        <p:cNvPr id="31766" name="Object 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35" y="2549"/>
                          <a:ext cx="265"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6" name="Text Box 85"/>
            <p:cNvSpPr txBox="1">
              <a:spLocks noChangeArrowheads="1"/>
            </p:cNvSpPr>
            <p:nvPr/>
          </p:nvSpPr>
          <p:spPr bwMode="auto">
            <a:xfrm>
              <a:off x="3312" y="1415"/>
              <a:ext cx="7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sym typeface="Symbol" panose="05050102010706020507" pitchFamily="18" charset="2"/>
                </a:rPr>
                <a:t>真空能级</a:t>
              </a:r>
            </a:p>
          </p:txBody>
        </p:sp>
        <p:sp>
          <p:nvSpPr>
            <p:cNvPr id="57" name="Freeform 89"/>
            <p:cNvSpPr>
              <a:spLocks/>
            </p:cNvSpPr>
            <p:nvPr/>
          </p:nvSpPr>
          <p:spPr bwMode="auto">
            <a:xfrm>
              <a:off x="3312" y="2779"/>
              <a:ext cx="942" cy="174"/>
            </a:xfrm>
            <a:custGeom>
              <a:avLst/>
              <a:gdLst>
                <a:gd name="T0" fmla="*/ 0 w 942"/>
                <a:gd name="T1" fmla="*/ 11 h 92"/>
                <a:gd name="T2" fmla="*/ 750 w 942"/>
                <a:gd name="T3" fmla="*/ 0 h 92"/>
                <a:gd name="T4" fmla="*/ 853 w 942"/>
                <a:gd name="T5" fmla="*/ 28 h 92"/>
                <a:gd name="T6" fmla="*/ 897 w 942"/>
                <a:gd name="T7" fmla="*/ 161 h 92"/>
                <a:gd name="T8" fmla="*/ 942 w 942"/>
                <a:gd name="T9" fmla="*/ 329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2" h="92">
                  <a:moveTo>
                    <a:pt x="0" y="3"/>
                  </a:moveTo>
                  <a:lnTo>
                    <a:pt x="750" y="0"/>
                  </a:lnTo>
                  <a:lnTo>
                    <a:pt x="853" y="8"/>
                  </a:lnTo>
                  <a:lnTo>
                    <a:pt x="897" y="45"/>
                  </a:lnTo>
                  <a:lnTo>
                    <a:pt x="942" y="92"/>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Freeform 92"/>
            <p:cNvSpPr>
              <a:spLocks/>
            </p:cNvSpPr>
            <p:nvPr/>
          </p:nvSpPr>
          <p:spPr bwMode="auto">
            <a:xfrm>
              <a:off x="3312" y="1646"/>
              <a:ext cx="942" cy="174"/>
            </a:xfrm>
            <a:custGeom>
              <a:avLst/>
              <a:gdLst>
                <a:gd name="T0" fmla="*/ 0 w 942"/>
                <a:gd name="T1" fmla="*/ 11 h 92"/>
                <a:gd name="T2" fmla="*/ 750 w 942"/>
                <a:gd name="T3" fmla="*/ 0 h 92"/>
                <a:gd name="T4" fmla="*/ 853 w 942"/>
                <a:gd name="T5" fmla="*/ 28 h 92"/>
                <a:gd name="T6" fmla="*/ 897 w 942"/>
                <a:gd name="T7" fmla="*/ 161 h 92"/>
                <a:gd name="T8" fmla="*/ 942 w 942"/>
                <a:gd name="T9" fmla="*/ 329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2" h="92">
                  <a:moveTo>
                    <a:pt x="0" y="3"/>
                  </a:moveTo>
                  <a:lnTo>
                    <a:pt x="750" y="0"/>
                  </a:lnTo>
                  <a:lnTo>
                    <a:pt x="853" y="8"/>
                  </a:lnTo>
                  <a:lnTo>
                    <a:pt x="897" y="45"/>
                  </a:lnTo>
                  <a:lnTo>
                    <a:pt x="942" y="92"/>
                  </a:lnTo>
                </a:path>
              </a:pathLst>
            </a:custGeom>
            <a:noFill/>
            <a:ln w="9525" cap="flat" cmpd="sng">
              <a:solidFill>
                <a:srgbClr val="0000FF"/>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Freeform 50"/>
            <p:cNvSpPr>
              <a:spLocks/>
            </p:cNvSpPr>
            <p:nvPr/>
          </p:nvSpPr>
          <p:spPr bwMode="auto">
            <a:xfrm>
              <a:off x="4246" y="2376"/>
              <a:ext cx="1033" cy="174"/>
            </a:xfrm>
            <a:custGeom>
              <a:avLst/>
              <a:gdLst>
                <a:gd name="T0" fmla="*/ 0 w 1033"/>
                <a:gd name="T1" fmla="*/ 0 h 244"/>
                <a:gd name="T2" fmla="*/ 81 w 1033"/>
                <a:gd name="T3" fmla="*/ 76 h 244"/>
                <a:gd name="T4" fmla="*/ 118 w 1033"/>
                <a:gd name="T5" fmla="*/ 101 h 244"/>
                <a:gd name="T6" fmla="*/ 192 w 1033"/>
                <a:gd name="T7" fmla="*/ 120 h 244"/>
                <a:gd name="T8" fmla="*/ 266 w 1033"/>
                <a:gd name="T9" fmla="*/ 124 h 244"/>
                <a:gd name="T10" fmla="*/ 1033 w 1033"/>
                <a:gd name="T11" fmla="*/ 123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3" h="244">
                  <a:moveTo>
                    <a:pt x="0" y="0"/>
                  </a:moveTo>
                  <a:lnTo>
                    <a:pt x="81" y="148"/>
                  </a:lnTo>
                  <a:lnTo>
                    <a:pt x="118" y="199"/>
                  </a:lnTo>
                  <a:lnTo>
                    <a:pt x="192" y="236"/>
                  </a:lnTo>
                  <a:lnTo>
                    <a:pt x="266" y="244"/>
                  </a:lnTo>
                  <a:lnTo>
                    <a:pt x="1033" y="242"/>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Line 53"/>
            <p:cNvSpPr>
              <a:spLocks noChangeShapeType="1"/>
            </p:cNvSpPr>
            <p:nvPr/>
          </p:nvSpPr>
          <p:spPr bwMode="auto">
            <a:xfrm>
              <a:off x="4241" y="2704"/>
              <a:ext cx="1038" cy="14"/>
            </a:xfrm>
            <a:prstGeom prst="line">
              <a:avLst/>
            </a:prstGeom>
            <a:noFill/>
            <a:ln w="9525">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Line 64"/>
            <p:cNvSpPr>
              <a:spLocks noChangeShapeType="1"/>
            </p:cNvSpPr>
            <p:nvPr/>
          </p:nvSpPr>
          <p:spPr bwMode="auto">
            <a:xfrm>
              <a:off x="4266" y="3113"/>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Line 65"/>
            <p:cNvSpPr>
              <a:spLocks noChangeShapeType="1"/>
            </p:cNvSpPr>
            <p:nvPr/>
          </p:nvSpPr>
          <p:spPr bwMode="auto">
            <a:xfrm>
              <a:off x="4332" y="2932"/>
              <a:ext cx="0" cy="18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3" name="Object 66"/>
            <p:cNvGraphicFramePr>
              <a:graphicFrameLocks noChangeAspect="1"/>
            </p:cNvGraphicFramePr>
            <p:nvPr/>
          </p:nvGraphicFramePr>
          <p:xfrm>
            <a:off x="4402" y="2920"/>
            <a:ext cx="292" cy="239"/>
          </p:xfrm>
          <a:graphic>
            <a:graphicData uri="http://schemas.openxmlformats.org/presentationml/2006/ole">
              <mc:AlternateContent xmlns:mc="http://schemas.openxmlformats.org/markup-compatibility/2006">
                <mc:Choice xmlns:v="urn:schemas-microsoft-com:vml" Requires="v">
                  <p:oleObj spid="_x0000_s168262" name="公式" r:id="rId41" imgW="279400" imgH="228600" progId="Equation.3">
                    <p:embed/>
                  </p:oleObj>
                </mc:Choice>
                <mc:Fallback>
                  <p:oleObj name="公式" r:id="rId41" imgW="279400" imgH="228600" progId="Equation.3">
                    <p:embed/>
                    <p:pic>
                      <p:nvPicPr>
                        <p:cNvPr id="31774" name="Object 6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02" y="2920"/>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4" name="Line 70"/>
            <p:cNvSpPr>
              <a:spLocks noChangeShapeType="1"/>
            </p:cNvSpPr>
            <p:nvPr/>
          </p:nvSpPr>
          <p:spPr bwMode="auto">
            <a:xfrm>
              <a:off x="4355" y="2322"/>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Line 71"/>
            <p:cNvSpPr>
              <a:spLocks noChangeShapeType="1"/>
            </p:cNvSpPr>
            <p:nvPr/>
          </p:nvSpPr>
          <p:spPr bwMode="auto">
            <a:xfrm flipV="1">
              <a:off x="4446" y="2330"/>
              <a:ext cx="0" cy="227"/>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6" name="Object 72"/>
            <p:cNvGraphicFramePr>
              <a:graphicFrameLocks noChangeAspect="1"/>
            </p:cNvGraphicFramePr>
            <p:nvPr/>
          </p:nvGraphicFramePr>
          <p:xfrm>
            <a:off x="4426" y="2310"/>
            <a:ext cx="292" cy="239"/>
          </p:xfrm>
          <a:graphic>
            <a:graphicData uri="http://schemas.openxmlformats.org/presentationml/2006/ole">
              <mc:AlternateContent xmlns:mc="http://schemas.openxmlformats.org/markup-compatibility/2006">
                <mc:Choice xmlns:v="urn:schemas-microsoft-com:vml" Requires="v">
                  <p:oleObj spid="_x0000_s168263" name="公式" r:id="rId42" imgW="279400" imgH="228600" progId="Equation.3">
                    <p:embed/>
                  </p:oleObj>
                </mc:Choice>
                <mc:Fallback>
                  <p:oleObj name="公式" r:id="rId42" imgW="279400" imgH="228600" progId="Equation.3">
                    <p:embed/>
                    <p:pic>
                      <p:nvPicPr>
                        <p:cNvPr id="31777" name="Object 7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26" y="2310"/>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 name="Object 73"/>
            <p:cNvGraphicFramePr>
              <a:graphicFrameLocks noChangeAspect="1"/>
            </p:cNvGraphicFramePr>
            <p:nvPr/>
          </p:nvGraphicFramePr>
          <p:xfrm>
            <a:off x="5317" y="3217"/>
            <a:ext cx="253" cy="239"/>
          </p:xfrm>
          <a:graphic>
            <a:graphicData uri="http://schemas.openxmlformats.org/presentationml/2006/ole">
              <mc:AlternateContent xmlns:mc="http://schemas.openxmlformats.org/markup-compatibility/2006">
                <mc:Choice xmlns:v="urn:schemas-microsoft-com:vml" Requires="v">
                  <p:oleObj spid="_x0000_s168264" name="公式" r:id="rId43" imgW="241300" imgH="228600" progId="Equation.3">
                    <p:embed/>
                  </p:oleObj>
                </mc:Choice>
                <mc:Fallback>
                  <p:oleObj name="公式" r:id="rId43" imgW="241300" imgH="228600" progId="Equation.3">
                    <p:embed/>
                    <p:pic>
                      <p:nvPicPr>
                        <p:cNvPr id="31778" name="Object 7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17" y="3217"/>
                          <a:ext cx="253"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 name="Object 74"/>
            <p:cNvGraphicFramePr>
              <a:graphicFrameLocks noChangeAspect="1"/>
            </p:cNvGraphicFramePr>
            <p:nvPr/>
          </p:nvGraphicFramePr>
          <p:xfrm>
            <a:off x="5324" y="2629"/>
            <a:ext cx="278" cy="226"/>
          </p:xfrm>
          <a:graphic>
            <a:graphicData uri="http://schemas.openxmlformats.org/presentationml/2006/ole">
              <mc:AlternateContent xmlns:mc="http://schemas.openxmlformats.org/markup-compatibility/2006">
                <mc:Choice xmlns:v="urn:schemas-microsoft-com:vml" Requires="v">
                  <p:oleObj spid="_x0000_s168265" name="公式" r:id="rId44" imgW="266353" imgH="215619" progId="Equation.3">
                    <p:embed/>
                  </p:oleObj>
                </mc:Choice>
                <mc:Fallback>
                  <p:oleObj name="公式" r:id="rId44" imgW="266353" imgH="215619" progId="Equation.3">
                    <p:embed/>
                    <p:pic>
                      <p:nvPicPr>
                        <p:cNvPr id="31779" name="Object 7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24" y="2629"/>
                          <a:ext cx="278"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 name="Object 75"/>
            <p:cNvGraphicFramePr>
              <a:graphicFrameLocks noChangeAspect="1"/>
            </p:cNvGraphicFramePr>
            <p:nvPr/>
          </p:nvGraphicFramePr>
          <p:xfrm>
            <a:off x="5324" y="2434"/>
            <a:ext cx="239" cy="239"/>
          </p:xfrm>
          <a:graphic>
            <a:graphicData uri="http://schemas.openxmlformats.org/presentationml/2006/ole">
              <mc:AlternateContent xmlns:mc="http://schemas.openxmlformats.org/markup-compatibility/2006">
                <mc:Choice xmlns:v="urn:schemas-microsoft-com:vml" Requires="v">
                  <p:oleObj spid="_x0000_s168266" name="公式" r:id="rId45" imgW="228600" imgH="228600" progId="Equation.3">
                    <p:embed/>
                  </p:oleObj>
                </mc:Choice>
                <mc:Fallback>
                  <p:oleObj name="公式" r:id="rId45" imgW="228600" imgH="228600" progId="Equation.3">
                    <p:embed/>
                    <p:pic>
                      <p:nvPicPr>
                        <p:cNvPr id="31780" name="Object 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24" y="2434"/>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0" name="Line 76"/>
            <p:cNvSpPr>
              <a:spLocks noChangeShapeType="1"/>
            </p:cNvSpPr>
            <p:nvPr/>
          </p:nvSpPr>
          <p:spPr bwMode="auto">
            <a:xfrm flipV="1">
              <a:off x="5126" y="2003"/>
              <a:ext cx="0" cy="680"/>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1" name="Object 77"/>
            <p:cNvGraphicFramePr>
              <a:graphicFrameLocks noChangeAspect="1"/>
            </p:cNvGraphicFramePr>
            <p:nvPr/>
          </p:nvGraphicFramePr>
          <p:xfrm>
            <a:off x="4945" y="2161"/>
            <a:ext cx="213" cy="226"/>
          </p:xfrm>
          <a:graphic>
            <a:graphicData uri="http://schemas.openxmlformats.org/presentationml/2006/ole">
              <mc:AlternateContent xmlns:mc="http://schemas.openxmlformats.org/markup-compatibility/2006">
                <mc:Choice xmlns:v="urn:schemas-microsoft-com:vml" Requires="v">
                  <p:oleObj spid="_x0000_s168267" name="公式" r:id="rId46" imgW="203024" imgH="215713" progId="Equation.3">
                    <p:embed/>
                  </p:oleObj>
                </mc:Choice>
                <mc:Fallback>
                  <p:oleObj name="公式" r:id="rId46" imgW="203024" imgH="215713" progId="Equation.3">
                    <p:embed/>
                    <p:pic>
                      <p:nvPicPr>
                        <p:cNvPr id="31782" name="Object 7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45" y="2161"/>
                          <a:ext cx="213"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2" name="Line 78"/>
            <p:cNvSpPr>
              <a:spLocks noChangeShapeType="1"/>
            </p:cNvSpPr>
            <p:nvPr/>
          </p:nvSpPr>
          <p:spPr bwMode="auto">
            <a:xfrm flipV="1">
              <a:off x="5223" y="2003"/>
              <a:ext cx="0" cy="544"/>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3" name="Object 79"/>
            <p:cNvGraphicFramePr>
              <a:graphicFrameLocks noChangeAspect="1"/>
            </p:cNvGraphicFramePr>
            <p:nvPr/>
          </p:nvGraphicFramePr>
          <p:xfrm>
            <a:off x="5126" y="2161"/>
            <a:ext cx="200" cy="226"/>
          </p:xfrm>
          <a:graphic>
            <a:graphicData uri="http://schemas.openxmlformats.org/presentationml/2006/ole">
              <mc:AlternateContent xmlns:mc="http://schemas.openxmlformats.org/markup-compatibility/2006">
                <mc:Choice xmlns:v="urn:schemas-microsoft-com:vml" Requires="v">
                  <p:oleObj spid="_x0000_s168268" name="公式" r:id="rId47" imgW="190335" imgH="215713" progId="Equation.3">
                    <p:embed/>
                  </p:oleObj>
                </mc:Choice>
                <mc:Fallback>
                  <p:oleObj name="公式" r:id="rId47" imgW="190335" imgH="215713" progId="Equation.3">
                    <p:embed/>
                    <p:pic>
                      <p:nvPicPr>
                        <p:cNvPr id="31784" name="Object 79"/>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5126" y="2161"/>
                          <a:ext cx="200"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4" name="Line 80"/>
            <p:cNvSpPr>
              <a:spLocks noChangeShapeType="1"/>
            </p:cNvSpPr>
            <p:nvPr/>
          </p:nvSpPr>
          <p:spPr bwMode="auto">
            <a:xfrm>
              <a:off x="4899" y="2564"/>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5" name="Object 81"/>
            <p:cNvGraphicFramePr>
              <a:graphicFrameLocks noChangeAspect="1"/>
            </p:cNvGraphicFramePr>
            <p:nvPr/>
          </p:nvGraphicFramePr>
          <p:xfrm>
            <a:off x="4899" y="2855"/>
            <a:ext cx="265" cy="252"/>
          </p:xfrm>
          <a:graphic>
            <a:graphicData uri="http://schemas.openxmlformats.org/presentationml/2006/ole">
              <mc:AlternateContent xmlns:mc="http://schemas.openxmlformats.org/markup-compatibility/2006">
                <mc:Choice xmlns:v="urn:schemas-microsoft-com:vml" Requires="v">
                  <p:oleObj spid="_x0000_s168269" name="公式" r:id="rId49" imgW="253890" imgH="241195" progId="Equation.3">
                    <p:embed/>
                  </p:oleObj>
                </mc:Choice>
                <mc:Fallback>
                  <p:oleObj name="公式" r:id="rId49" imgW="253890" imgH="241195" progId="Equation.3">
                    <p:embed/>
                    <p:pic>
                      <p:nvPicPr>
                        <p:cNvPr id="31786" name="Object 81"/>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4899" y="2855"/>
                          <a:ext cx="265"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6" name="Freeform 88"/>
            <p:cNvSpPr>
              <a:spLocks/>
            </p:cNvSpPr>
            <p:nvPr/>
          </p:nvSpPr>
          <p:spPr bwMode="auto">
            <a:xfrm>
              <a:off x="4251" y="3164"/>
              <a:ext cx="1033" cy="174"/>
            </a:xfrm>
            <a:custGeom>
              <a:avLst/>
              <a:gdLst>
                <a:gd name="T0" fmla="*/ 0 w 1033"/>
                <a:gd name="T1" fmla="*/ 0 h 244"/>
                <a:gd name="T2" fmla="*/ 81 w 1033"/>
                <a:gd name="T3" fmla="*/ 76 h 244"/>
                <a:gd name="T4" fmla="*/ 118 w 1033"/>
                <a:gd name="T5" fmla="*/ 101 h 244"/>
                <a:gd name="T6" fmla="*/ 192 w 1033"/>
                <a:gd name="T7" fmla="*/ 120 h 244"/>
                <a:gd name="T8" fmla="*/ 266 w 1033"/>
                <a:gd name="T9" fmla="*/ 124 h 244"/>
                <a:gd name="T10" fmla="*/ 1033 w 1033"/>
                <a:gd name="T11" fmla="*/ 123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3" h="244">
                  <a:moveTo>
                    <a:pt x="0" y="0"/>
                  </a:moveTo>
                  <a:lnTo>
                    <a:pt x="81" y="148"/>
                  </a:lnTo>
                  <a:lnTo>
                    <a:pt x="118" y="199"/>
                  </a:lnTo>
                  <a:lnTo>
                    <a:pt x="192" y="236"/>
                  </a:lnTo>
                  <a:lnTo>
                    <a:pt x="266" y="244"/>
                  </a:lnTo>
                  <a:lnTo>
                    <a:pt x="1033" y="242"/>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Line 90"/>
            <p:cNvSpPr>
              <a:spLocks noChangeShapeType="1"/>
            </p:cNvSpPr>
            <p:nvPr/>
          </p:nvSpPr>
          <p:spPr bwMode="auto">
            <a:xfrm>
              <a:off x="4240" y="2920"/>
              <a:ext cx="137"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Line 91"/>
            <p:cNvSpPr>
              <a:spLocks noChangeShapeType="1"/>
            </p:cNvSpPr>
            <p:nvPr/>
          </p:nvSpPr>
          <p:spPr bwMode="auto">
            <a:xfrm>
              <a:off x="4375" y="2557"/>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Freeform 93"/>
            <p:cNvSpPr>
              <a:spLocks/>
            </p:cNvSpPr>
            <p:nvPr/>
          </p:nvSpPr>
          <p:spPr bwMode="auto">
            <a:xfrm>
              <a:off x="4252" y="1821"/>
              <a:ext cx="1033" cy="174"/>
            </a:xfrm>
            <a:custGeom>
              <a:avLst/>
              <a:gdLst>
                <a:gd name="T0" fmla="*/ 0 w 1033"/>
                <a:gd name="T1" fmla="*/ 0 h 244"/>
                <a:gd name="T2" fmla="*/ 81 w 1033"/>
                <a:gd name="T3" fmla="*/ 76 h 244"/>
                <a:gd name="T4" fmla="*/ 118 w 1033"/>
                <a:gd name="T5" fmla="*/ 101 h 244"/>
                <a:gd name="T6" fmla="*/ 192 w 1033"/>
                <a:gd name="T7" fmla="*/ 120 h 244"/>
                <a:gd name="T8" fmla="*/ 266 w 1033"/>
                <a:gd name="T9" fmla="*/ 124 h 244"/>
                <a:gd name="T10" fmla="*/ 1033 w 1033"/>
                <a:gd name="T11" fmla="*/ 123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3" h="244">
                  <a:moveTo>
                    <a:pt x="0" y="0"/>
                  </a:moveTo>
                  <a:lnTo>
                    <a:pt x="81" y="148"/>
                  </a:lnTo>
                  <a:lnTo>
                    <a:pt x="118" y="199"/>
                  </a:lnTo>
                  <a:lnTo>
                    <a:pt x="192" y="236"/>
                  </a:lnTo>
                  <a:lnTo>
                    <a:pt x="266" y="244"/>
                  </a:lnTo>
                  <a:lnTo>
                    <a:pt x="1033" y="242"/>
                  </a:lnTo>
                </a:path>
              </a:pathLst>
            </a:custGeom>
            <a:noFill/>
            <a:ln w="9525" cap="flat" cmpd="sng">
              <a:solidFill>
                <a:srgbClr val="0000FF"/>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Line 95"/>
            <p:cNvSpPr>
              <a:spLocks noChangeShapeType="1"/>
            </p:cNvSpPr>
            <p:nvPr/>
          </p:nvSpPr>
          <p:spPr bwMode="auto">
            <a:xfrm flipV="1">
              <a:off x="4240" y="1596"/>
              <a:ext cx="0" cy="186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Line 96"/>
            <p:cNvSpPr>
              <a:spLocks noChangeShapeType="1"/>
            </p:cNvSpPr>
            <p:nvPr/>
          </p:nvSpPr>
          <p:spPr bwMode="auto">
            <a:xfrm>
              <a:off x="4491" y="2322"/>
              <a:ext cx="363"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Line 97"/>
            <p:cNvSpPr>
              <a:spLocks noChangeShapeType="1"/>
            </p:cNvSpPr>
            <p:nvPr/>
          </p:nvSpPr>
          <p:spPr bwMode="auto">
            <a:xfrm>
              <a:off x="4718" y="2322"/>
              <a:ext cx="0" cy="272"/>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3" name="Object 98"/>
            <p:cNvGraphicFramePr>
              <a:graphicFrameLocks noChangeAspect="1"/>
            </p:cNvGraphicFramePr>
            <p:nvPr/>
          </p:nvGraphicFramePr>
          <p:xfrm>
            <a:off x="4718" y="2367"/>
            <a:ext cx="359" cy="226"/>
          </p:xfrm>
          <a:graphic>
            <a:graphicData uri="http://schemas.openxmlformats.org/presentationml/2006/ole">
              <mc:AlternateContent xmlns:mc="http://schemas.openxmlformats.org/markup-compatibility/2006">
                <mc:Choice xmlns:v="urn:schemas-microsoft-com:vml" Requires="v">
                  <p:oleObj spid="_x0000_s168270" name="公式" r:id="rId51" imgW="342603" imgH="215713" progId="Equation.3">
                    <p:embed/>
                  </p:oleObj>
                </mc:Choice>
                <mc:Fallback>
                  <p:oleObj name="公式" r:id="rId51" imgW="342603" imgH="215713" progId="Equation.3">
                    <p:embed/>
                    <p:pic>
                      <p:nvPicPr>
                        <p:cNvPr id="31794" name="Object 98"/>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4718" y="2367"/>
                          <a:ext cx="359"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4" name="Line 99"/>
            <p:cNvSpPr>
              <a:spLocks noChangeShapeType="1"/>
            </p:cNvSpPr>
            <p:nvPr/>
          </p:nvSpPr>
          <p:spPr bwMode="auto">
            <a:xfrm flipH="1">
              <a:off x="4038" y="2568"/>
              <a:ext cx="181"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Line 100"/>
            <p:cNvSpPr>
              <a:spLocks noChangeShapeType="1"/>
            </p:cNvSpPr>
            <p:nvPr/>
          </p:nvSpPr>
          <p:spPr bwMode="auto">
            <a:xfrm>
              <a:off x="4128" y="2302"/>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Line 101"/>
            <p:cNvSpPr>
              <a:spLocks noChangeShapeType="1"/>
            </p:cNvSpPr>
            <p:nvPr/>
          </p:nvSpPr>
          <p:spPr bwMode="auto">
            <a:xfrm flipV="1">
              <a:off x="4128" y="2568"/>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7" name="Object 102"/>
            <p:cNvGraphicFramePr>
              <a:graphicFrameLocks noChangeAspect="1"/>
            </p:cNvGraphicFramePr>
            <p:nvPr/>
          </p:nvGraphicFramePr>
          <p:xfrm>
            <a:off x="3726" y="2433"/>
            <a:ext cx="333" cy="226"/>
          </p:xfrm>
          <a:graphic>
            <a:graphicData uri="http://schemas.openxmlformats.org/presentationml/2006/ole">
              <mc:AlternateContent xmlns:mc="http://schemas.openxmlformats.org/markup-compatibility/2006">
                <mc:Choice xmlns:v="urn:schemas-microsoft-com:vml" Requires="v">
                  <p:oleObj spid="_x0000_s168271" name="公式" r:id="rId53" imgW="317087" imgH="215619" progId="Equation.3">
                    <p:embed/>
                  </p:oleObj>
                </mc:Choice>
                <mc:Fallback>
                  <p:oleObj name="公式" r:id="rId53" imgW="317087" imgH="215619" progId="Equation.3">
                    <p:embed/>
                    <p:pic>
                      <p:nvPicPr>
                        <p:cNvPr id="31798" name="Object 102"/>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3726" y="2433"/>
                          <a:ext cx="333"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8" name="Line 103"/>
            <p:cNvSpPr>
              <a:spLocks noChangeShapeType="1"/>
            </p:cNvSpPr>
            <p:nvPr/>
          </p:nvSpPr>
          <p:spPr bwMode="auto">
            <a:xfrm flipV="1">
              <a:off x="4174" y="2458"/>
              <a:ext cx="0" cy="998"/>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Line 104"/>
            <p:cNvSpPr>
              <a:spLocks noChangeShapeType="1"/>
            </p:cNvSpPr>
            <p:nvPr/>
          </p:nvSpPr>
          <p:spPr bwMode="auto">
            <a:xfrm flipV="1">
              <a:off x="4491" y="2594"/>
              <a:ext cx="0" cy="862"/>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90" name="Object 106"/>
            <p:cNvGraphicFramePr>
              <a:graphicFrameLocks noChangeAspect="1"/>
            </p:cNvGraphicFramePr>
            <p:nvPr/>
          </p:nvGraphicFramePr>
          <p:xfrm>
            <a:off x="4158" y="3365"/>
            <a:ext cx="243" cy="337"/>
          </p:xfrm>
          <a:graphic>
            <a:graphicData uri="http://schemas.openxmlformats.org/presentationml/2006/ole">
              <mc:AlternateContent xmlns:mc="http://schemas.openxmlformats.org/markup-compatibility/2006">
                <mc:Choice xmlns:v="urn:schemas-microsoft-com:vml" Requires="v">
                  <p:oleObj spid="_x0000_s168272" name="公式" r:id="rId55" imgW="165028" imgH="228501" progId="Equation.3">
                    <p:embed/>
                  </p:oleObj>
                </mc:Choice>
                <mc:Fallback>
                  <p:oleObj name="公式" r:id="rId55" imgW="165028" imgH="228501" progId="Equation.3">
                    <p:embed/>
                    <p:pic>
                      <p:nvPicPr>
                        <p:cNvPr id="31801" name="Object 106"/>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4158" y="3365"/>
                          <a:ext cx="243"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1" name="Object 107"/>
            <p:cNvGraphicFramePr>
              <a:graphicFrameLocks noChangeAspect="1"/>
            </p:cNvGraphicFramePr>
            <p:nvPr/>
          </p:nvGraphicFramePr>
          <p:xfrm>
            <a:off x="4392" y="3365"/>
            <a:ext cx="262" cy="318"/>
          </p:xfrm>
          <a:graphic>
            <a:graphicData uri="http://schemas.openxmlformats.org/presentationml/2006/ole">
              <mc:AlternateContent xmlns:mc="http://schemas.openxmlformats.org/markup-compatibility/2006">
                <mc:Choice xmlns:v="urn:schemas-microsoft-com:vml" Requires="v">
                  <p:oleObj spid="_x0000_s168273" name="公式" r:id="rId57" imgW="177569" imgH="215619" progId="Equation.3">
                    <p:embed/>
                  </p:oleObj>
                </mc:Choice>
                <mc:Fallback>
                  <p:oleObj name="公式" r:id="rId57" imgW="177569" imgH="215619" progId="Equation.3">
                    <p:embed/>
                    <p:pic>
                      <p:nvPicPr>
                        <p:cNvPr id="31802" name="Object 107"/>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4392" y="3365"/>
                          <a:ext cx="262"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2" name="Line 108"/>
            <p:cNvSpPr>
              <a:spLocks noChangeShapeType="1"/>
            </p:cNvSpPr>
            <p:nvPr/>
          </p:nvSpPr>
          <p:spPr bwMode="auto">
            <a:xfrm>
              <a:off x="4264" y="1687"/>
              <a:ext cx="273"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Line 109"/>
            <p:cNvSpPr>
              <a:spLocks noChangeShapeType="1"/>
            </p:cNvSpPr>
            <p:nvPr/>
          </p:nvSpPr>
          <p:spPr bwMode="auto">
            <a:xfrm flipV="1">
              <a:off x="4491" y="1687"/>
              <a:ext cx="0" cy="317"/>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94" name="Object 110"/>
            <p:cNvGraphicFramePr>
              <a:graphicFrameLocks noChangeAspect="1"/>
            </p:cNvGraphicFramePr>
            <p:nvPr/>
          </p:nvGraphicFramePr>
          <p:xfrm>
            <a:off x="4503" y="1732"/>
            <a:ext cx="306" cy="226"/>
          </p:xfrm>
          <a:graphic>
            <a:graphicData uri="http://schemas.openxmlformats.org/presentationml/2006/ole">
              <mc:AlternateContent xmlns:mc="http://schemas.openxmlformats.org/markup-compatibility/2006">
                <mc:Choice xmlns:v="urn:schemas-microsoft-com:vml" Requires="v">
                  <p:oleObj spid="_x0000_s168274" name="公式" r:id="rId59" imgW="291847" imgH="215713" progId="Equation.3">
                    <p:embed/>
                  </p:oleObj>
                </mc:Choice>
                <mc:Fallback>
                  <p:oleObj name="公式" r:id="rId59" imgW="291847" imgH="215713" progId="Equation.3">
                    <p:embed/>
                    <p:pic>
                      <p:nvPicPr>
                        <p:cNvPr id="31805" name="Object 110"/>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4503" y="1732"/>
                          <a:ext cx="306"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5" name="Text Box 111"/>
            <p:cNvSpPr txBox="1">
              <a:spLocks noChangeArrowheads="1"/>
            </p:cNvSpPr>
            <p:nvPr/>
          </p:nvSpPr>
          <p:spPr bwMode="auto">
            <a:xfrm>
              <a:off x="3811" y="2004"/>
              <a:ext cx="3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sym typeface="Symbol" panose="05050102010706020507" pitchFamily="18" charset="2"/>
                </a:rPr>
                <a:t>凹口</a:t>
              </a:r>
            </a:p>
          </p:txBody>
        </p:sp>
        <p:sp>
          <p:nvSpPr>
            <p:cNvPr id="96" name="Freeform 112"/>
            <p:cNvSpPr>
              <a:spLocks/>
            </p:cNvSpPr>
            <p:nvPr/>
          </p:nvSpPr>
          <p:spPr bwMode="auto">
            <a:xfrm>
              <a:off x="4084" y="2232"/>
              <a:ext cx="113" cy="174"/>
            </a:xfrm>
            <a:custGeom>
              <a:avLst/>
              <a:gdLst>
                <a:gd name="T0" fmla="*/ 0 w 113"/>
                <a:gd name="T1" fmla="*/ 0 h 253"/>
                <a:gd name="T2" fmla="*/ 61 w 113"/>
                <a:gd name="T3" fmla="*/ 36 h 253"/>
                <a:gd name="T4" fmla="*/ 113 w 113"/>
                <a:gd name="T5" fmla="*/ 120 h 253"/>
                <a:gd name="T6" fmla="*/ 0 60000 65536"/>
                <a:gd name="T7" fmla="*/ 0 60000 65536"/>
                <a:gd name="T8" fmla="*/ 0 60000 65536"/>
              </a:gdLst>
              <a:ahLst/>
              <a:cxnLst>
                <a:cxn ang="T6">
                  <a:pos x="T0" y="T1"/>
                </a:cxn>
                <a:cxn ang="T7">
                  <a:pos x="T2" y="T3"/>
                </a:cxn>
                <a:cxn ang="T8">
                  <a:pos x="T4" y="T5"/>
                </a:cxn>
              </a:cxnLst>
              <a:rect l="0" t="0" r="r" b="b"/>
              <a:pathLst>
                <a:path w="113" h="253">
                  <a:moveTo>
                    <a:pt x="0" y="0"/>
                  </a:moveTo>
                  <a:cubicBezTo>
                    <a:pt x="11" y="13"/>
                    <a:pt x="42" y="34"/>
                    <a:pt x="61" y="76"/>
                  </a:cubicBezTo>
                  <a:cubicBezTo>
                    <a:pt x="80" y="118"/>
                    <a:pt x="102" y="216"/>
                    <a:pt x="113" y="253"/>
                  </a:cubicBezTo>
                </a:path>
              </a:pathLst>
            </a:custGeom>
            <a:noFill/>
            <a:ln w="9525" cap="flat" cmpd="sng">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Text Box 113"/>
            <p:cNvSpPr txBox="1">
              <a:spLocks noChangeArrowheads="1"/>
            </p:cNvSpPr>
            <p:nvPr/>
          </p:nvSpPr>
          <p:spPr bwMode="auto">
            <a:xfrm>
              <a:off x="4401" y="2050"/>
              <a:ext cx="4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sym typeface="Symbol" panose="05050102010706020507" pitchFamily="18" charset="2"/>
                </a:rPr>
                <a:t>尖峰</a:t>
              </a:r>
            </a:p>
          </p:txBody>
        </p:sp>
        <p:sp>
          <p:nvSpPr>
            <p:cNvPr id="98" name="Freeform 114"/>
            <p:cNvSpPr>
              <a:spLocks/>
            </p:cNvSpPr>
            <p:nvPr/>
          </p:nvSpPr>
          <p:spPr bwMode="auto">
            <a:xfrm>
              <a:off x="4271" y="2165"/>
              <a:ext cx="130" cy="174"/>
            </a:xfrm>
            <a:custGeom>
              <a:avLst/>
              <a:gdLst>
                <a:gd name="T0" fmla="*/ 130 w 130"/>
                <a:gd name="T1" fmla="*/ 0 h 132"/>
                <a:gd name="T2" fmla="*/ 39 w 130"/>
                <a:gd name="T3" fmla="*/ 78 h 132"/>
                <a:gd name="T4" fmla="*/ 0 w 130"/>
                <a:gd name="T5" fmla="*/ 229 h 132"/>
                <a:gd name="T6" fmla="*/ 0 60000 65536"/>
                <a:gd name="T7" fmla="*/ 0 60000 65536"/>
                <a:gd name="T8" fmla="*/ 0 60000 65536"/>
              </a:gdLst>
              <a:ahLst/>
              <a:cxnLst>
                <a:cxn ang="T6">
                  <a:pos x="T0" y="T1"/>
                </a:cxn>
                <a:cxn ang="T7">
                  <a:pos x="T2" y="T3"/>
                </a:cxn>
                <a:cxn ang="T8">
                  <a:pos x="T4" y="T5"/>
                </a:cxn>
              </a:cxnLst>
              <a:rect l="0" t="0" r="r" b="b"/>
              <a:pathLst>
                <a:path w="130" h="132">
                  <a:moveTo>
                    <a:pt x="130" y="0"/>
                  </a:moveTo>
                  <a:cubicBezTo>
                    <a:pt x="92" y="11"/>
                    <a:pt x="61" y="23"/>
                    <a:pt x="39" y="45"/>
                  </a:cubicBezTo>
                  <a:cubicBezTo>
                    <a:pt x="17" y="67"/>
                    <a:pt x="8" y="114"/>
                    <a:pt x="0" y="132"/>
                  </a:cubicBezTo>
                </a:path>
              </a:pathLst>
            </a:custGeom>
            <a:noFill/>
            <a:ln w="9525" cap="flat" cmpd="sng">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99" name="Object 118"/>
            <p:cNvGraphicFramePr>
              <a:graphicFrameLocks noChangeAspect="1"/>
            </p:cNvGraphicFramePr>
            <p:nvPr/>
          </p:nvGraphicFramePr>
          <p:xfrm>
            <a:off x="3978" y="3374"/>
            <a:ext cx="224" cy="318"/>
          </p:xfrm>
          <a:graphic>
            <a:graphicData uri="http://schemas.openxmlformats.org/presentationml/2006/ole">
              <mc:AlternateContent xmlns:mc="http://schemas.openxmlformats.org/markup-compatibility/2006">
                <mc:Choice xmlns:v="urn:schemas-microsoft-com:vml" Requires="v">
                  <p:oleObj spid="_x0000_s168275" name="公式" r:id="rId61" imgW="152268" imgH="215713" progId="Equation.3">
                    <p:embed/>
                  </p:oleObj>
                </mc:Choice>
                <mc:Fallback>
                  <p:oleObj name="公式" r:id="rId61" imgW="152268" imgH="215713" progId="Equation.3">
                    <p:embed/>
                    <p:pic>
                      <p:nvPicPr>
                        <p:cNvPr id="31810" name="Object 118"/>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3978" y="3374"/>
                          <a:ext cx="224"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100" name="Line 120"/>
          <p:cNvSpPr>
            <a:spLocks noChangeShapeType="1"/>
          </p:cNvSpPr>
          <p:nvPr/>
        </p:nvSpPr>
        <p:spPr bwMode="auto">
          <a:xfrm>
            <a:off x="4405262" y="2818227"/>
            <a:ext cx="504825" cy="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defTabSz="914400" eaLnBrk="0" fontAlgn="base" hangingPunct="0">
              <a:spcBef>
                <a:spcPct val="0"/>
              </a:spcBef>
              <a:spcAft>
                <a:spcPct val="0"/>
              </a:spcAft>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1" name="Object 121"/>
          <p:cNvGraphicFramePr>
            <a:graphicFrameLocks noChangeAspect="1"/>
          </p:cNvGraphicFramePr>
          <p:nvPr>
            <p:extLst>
              <p:ext uri="{D42A27DB-BD31-4B8C-83A1-F6EECF244321}">
                <p14:modId xmlns:p14="http://schemas.microsoft.com/office/powerpoint/2010/main" val="1068554903"/>
              </p:ext>
            </p:extLst>
          </p:nvPr>
        </p:nvGraphicFramePr>
        <p:xfrm>
          <a:off x="5413325" y="4969387"/>
          <a:ext cx="1728787" cy="419100"/>
        </p:xfrm>
        <a:graphic>
          <a:graphicData uri="http://schemas.openxmlformats.org/presentationml/2006/ole">
            <mc:AlternateContent xmlns:mc="http://schemas.openxmlformats.org/markup-compatibility/2006">
              <mc:Choice xmlns:v="urn:schemas-microsoft-com:vml" Requires="v">
                <p:oleObj spid="_x0000_s168276" name="公式" r:id="rId63" imgW="888614" imgH="215806" progId="Equation.3">
                  <p:embed/>
                </p:oleObj>
              </mc:Choice>
              <mc:Fallback>
                <p:oleObj name="公式" r:id="rId63" imgW="888614" imgH="215806" progId="Equation.3">
                  <p:embed/>
                  <p:pic>
                    <p:nvPicPr>
                      <p:cNvPr id="31752" name="Object 121"/>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5413325" y="4969387"/>
                        <a:ext cx="1728787" cy="4191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 name="Object 122"/>
          <p:cNvGraphicFramePr>
            <a:graphicFrameLocks noChangeAspect="1"/>
          </p:cNvGraphicFramePr>
          <p:nvPr>
            <p:extLst>
              <p:ext uri="{D42A27DB-BD31-4B8C-83A1-F6EECF244321}">
                <p14:modId xmlns:p14="http://schemas.microsoft.com/office/powerpoint/2010/main" val="1046932072"/>
              </p:ext>
            </p:extLst>
          </p:nvPr>
        </p:nvGraphicFramePr>
        <p:xfrm>
          <a:off x="7286575" y="4969387"/>
          <a:ext cx="1555750" cy="444500"/>
        </p:xfrm>
        <a:graphic>
          <a:graphicData uri="http://schemas.openxmlformats.org/presentationml/2006/ole">
            <mc:AlternateContent xmlns:mc="http://schemas.openxmlformats.org/markup-compatibility/2006">
              <mc:Choice xmlns:v="urn:schemas-microsoft-com:vml" Requires="v">
                <p:oleObj spid="_x0000_s168277" name="公式" r:id="rId65" imgW="800100" imgH="228600" progId="Equation.3">
                  <p:embed/>
                </p:oleObj>
              </mc:Choice>
              <mc:Fallback>
                <p:oleObj name="公式" r:id="rId65" imgW="800100" imgH="228600" progId="Equation.3">
                  <p:embed/>
                  <p:pic>
                    <p:nvPicPr>
                      <p:cNvPr id="31753" name="Object 122"/>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7286575" y="4969387"/>
                        <a:ext cx="1555750" cy="4445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3" name="Object 123"/>
          <p:cNvGraphicFramePr>
            <a:graphicFrameLocks noChangeAspect="1"/>
          </p:cNvGraphicFramePr>
          <p:nvPr>
            <p:extLst>
              <p:ext uri="{D42A27DB-BD31-4B8C-83A1-F6EECF244321}">
                <p14:modId xmlns:p14="http://schemas.microsoft.com/office/powerpoint/2010/main" val="3864787873"/>
              </p:ext>
            </p:extLst>
          </p:nvPr>
        </p:nvGraphicFramePr>
        <p:xfrm>
          <a:off x="5413325" y="5507550"/>
          <a:ext cx="2690812" cy="469900"/>
        </p:xfrm>
        <a:graphic>
          <a:graphicData uri="http://schemas.openxmlformats.org/presentationml/2006/ole">
            <mc:AlternateContent xmlns:mc="http://schemas.openxmlformats.org/markup-compatibility/2006">
              <mc:Choice xmlns:v="urn:schemas-microsoft-com:vml" Requires="v">
                <p:oleObj spid="_x0000_s168278" name="公式" r:id="rId67" imgW="1384300" imgH="241300" progId="Equation.3">
                  <p:embed/>
                </p:oleObj>
              </mc:Choice>
              <mc:Fallback>
                <p:oleObj name="公式" r:id="rId67" imgW="1384300" imgH="241300" progId="Equation.3">
                  <p:embed/>
                  <p:pic>
                    <p:nvPicPr>
                      <p:cNvPr id="31754" name="Object 123"/>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5413325" y="5507550"/>
                        <a:ext cx="2690812" cy="4699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4" name="Text Box 124"/>
          <p:cNvSpPr txBox="1">
            <a:spLocks noChangeArrowheads="1"/>
          </p:cNvSpPr>
          <p:nvPr/>
        </p:nvSpPr>
        <p:spPr bwMode="auto">
          <a:xfrm>
            <a:off x="228550" y="3858137"/>
            <a:ext cx="4824412"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5000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－能带弯曲，形成尖峰和凹口</a:t>
            </a:r>
          </a:p>
          <a:p>
            <a:pPr defTabSz="914400" fontAlgn="base">
              <a:spcBef>
                <a:spcPct val="5000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－能带在界面处不连续</a:t>
            </a:r>
          </a:p>
          <a:p>
            <a:pPr defTabSz="914400" fontAlgn="base">
              <a:spcBef>
                <a:spcPct val="5000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－界面处内建电场不连续，要考虑材料介电常数的不同</a:t>
            </a:r>
          </a:p>
          <a:p>
            <a:pPr defTabSz="914400" fontAlgn="base">
              <a:spcBef>
                <a:spcPct val="5000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－结两边都是耗尽层</a:t>
            </a:r>
          </a:p>
        </p:txBody>
      </p:sp>
    </p:spTree>
    <p:extLst>
      <p:ext uri="{BB962C8B-B14F-4D97-AF65-F5344CB8AC3E}">
        <p14:creationId xmlns:p14="http://schemas.microsoft.com/office/powerpoint/2010/main" val="1249026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b="1" smtClean="0"/>
              <a:t>44</a:t>
            </a:fld>
            <a:endParaRPr lang="zh-CN" altLang="en-US" b="1"/>
          </a:p>
        </p:txBody>
      </p:sp>
      <p:sp>
        <p:nvSpPr>
          <p:cNvPr id="3" name="Text Box 6"/>
          <p:cNvSpPr txBox="1">
            <a:spLocks noChangeArrowheads="1"/>
          </p:cNvSpPr>
          <p:nvPr/>
        </p:nvSpPr>
        <p:spPr bwMode="auto">
          <a:xfrm>
            <a:off x="255310" y="663728"/>
            <a:ext cx="30972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不考虑界面态情况，</a:t>
            </a:r>
          </a:p>
        </p:txBody>
      </p:sp>
      <p:sp>
        <p:nvSpPr>
          <p:cNvPr id="4" name="Text Box 7"/>
          <p:cNvSpPr txBox="1">
            <a:spLocks noChangeArrowheads="1"/>
          </p:cNvSpPr>
          <p:nvPr/>
        </p:nvSpPr>
        <p:spPr bwMode="auto">
          <a:xfrm>
            <a:off x="2992160" y="663728"/>
            <a:ext cx="34575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突变同型异质结的能带图</a:t>
            </a:r>
          </a:p>
        </p:txBody>
      </p:sp>
      <p:grpSp>
        <p:nvGrpSpPr>
          <p:cNvPr id="5" name="Group 47"/>
          <p:cNvGrpSpPr>
            <a:grpSpLocks/>
          </p:cNvGrpSpPr>
          <p:nvPr/>
        </p:nvGrpSpPr>
        <p:grpSpPr bwMode="auto">
          <a:xfrm>
            <a:off x="175935" y="1330837"/>
            <a:ext cx="4184650" cy="2651125"/>
            <a:chOff x="108" y="1253"/>
            <a:chExt cx="2636" cy="1670"/>
          </a:xfrm>
        </p:grpSpPr>
        <p:sp>
          <p:nvSpPr>
            <p:cNvPr id="6" name="Line 9"/>
            <p:cNvSpPr>
              <a:spLocks noChangeShapeType="1"/>
            </p:cNvSpPr>
            <p:nvPr/>
          </p:nvSpPr>
          <p:spPr bwMode="auto">
            <a:xfrm>
              <a:off x="380" y="2276"/>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Line 10"/>
            <p:cNvSpPr>
              <a:spLocks noChangeShapeType="1"/>
            </p:cNvSpPr>
            <p:nvPr/>
          </p:nvSpPr>
          <p:spPr bwMode="auto">
            <a:xfrm>
              <a:off x="380" y="2639"/>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Line 11"/>
            <p:cNvSpPr>
              <a:spLocks noChangeShapeType="1"/>
            </p:cNvSpPr>
            <p:nvPr/>
          </p:nvSpPr>
          <p:spPr bwMode="auto">
            <a:xfrm>
              <a:off x="1514" y="2049"/>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Line 12"/>
            <p:cNvSpPr>
              <a:spLocks noChangeShapeType="1"/>
            </p:cNvSpPr>
            <p:nvPr/>
          </p:nvSpPr>
          <p:spPr bwMode="auto">
            <a:xfrm>
              <a:off x="1559" y="2820"/>
              <a:ext cx="907"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Line 13"/>
            <p:cNvSpPr>
              <a:spLocks noChangeShapeType="1"/>
            </p:cNvSpPr>
            <p:nvPr/>
          </p:nvSpPr>
          <p:spPr bwMode="auto">
            <a:xfrm>
              <a:off x="380" y="2387"/>
              <a:ext cx="907" cy="0"/>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Line 14"/>
            <p:cNvSpPr>
              <a:spLocks noChangeShapeType="1"/>
            </p:cNvSpPr>
            <p:nvPr/>
          </p:nvSpPr>
          <p:spPr bwMode="auto">
            <a:xfrm>
              <a:off x="1514" y="2185"/>
              <a:ext cx="907" cy="0"/>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Line 15"/>
            <p:cNvSpPr>
              <a:spLocks noChangeShapeType="1"/>
            </p:cNvSpPr>
            <p:nvPr/>
          </p:nvSpPr>
          <p:spPr bwMode="auto">
            <a:xfrm>
              <a:off x="380" y="1505"/>
              <a:ext cx="2041" cy="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Line 16"/>
            <p:cNvSpPr>
              <a:spLocks noChangeShapeType="1"/>
            </p:cNvSpPr>
            <p:nvPr/>
          </p:nvSpPr>
          <p:spPr bwMode="auto">
            <a:xfrm>
              <a:off x="516" y="1505"/>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4" name="Object 17"/>
            <p:cNvGraphicFramePr>
              <a:graphicFrameLocks noChangeAspect="1"/>
            </p:cNvGraphicFramePr>
            <p:nvPr/>
          </p:nvGraphicFramePr>
          <p:xfrm>
            <a:off x="425" y="1777"/>
            <a:ext cx="186" cy="226"/>
          </p:xfrm>
          <a:graphic>
            <a:graphicData uri="http://schemas.openxmlformats.org/presentationml/2006/ole">
              <mc:AlternateContent xmlns:mc="http://schemas.openxmlformats.org/markup-compatibility/2006">
                <mc:Choice xmlns:v="urn:schemas-microsoft-com:vml" Requires="v">
                  <p:oleObj spid="_x0000_s169196" name="公式" r:id="rId3" imgW="177569" imgH="215619" progId="Equation.3">
                    <p:embed/>
                  </p:oleObj>
                </mc:Choice>
                <mc:Fallback>
                  <p:oleObj name="公式" r:id="rId3" imgW="177569" imgH="215619" progId="Equation.3">
                    <p:embed/>
                    <p:pic>
                      <p:nvPicPr>
                        <p:cNvPr id="32841"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 y="1777"/>
                          <a:ext cx="186"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 name="Line 18"/>
            <p:cNvSpPr>
              <a:spLocks noChangeShapeType="1"/>
            </p:cNvSpPr>
            <p:nvPr/>
          </p:nvSpPr>
          <p:spPr bwMode="auto">
            <a:xfrm flipH="1" flipV="1">
              <a:off x="788" y="1505"/>
              <a:ext cx="5" cy="882"/>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6" name="Object 19"/>
            <p:cNvGraphicFramePr>
              <a:graphicFrameLocks noChangeAspect="1"/>
            </p:cNvGraphicFramePr>
            <p:nvPr/>
          </p:nvGraphicFramePr>
          <p:xfrm>
            <a:off x="697" y="1823"/>
            <a:ext cx="199" cy="226"/>
          </p:xfrm>
          <a:graphic>
            <a:graphicData uri="http://schemas.openxmlformats.org/presentationml/2006/ole">
              <mc:AlternateContent xmlns:mc="http://schemas.openxmlformats.org/markup-compatibility/2006">
                <mc:Choice xmlns:v="urn:schemas-microsoft-com:vml" Requires="v">
                  <p:oleObj spid="_x0000_s169197" name="公式" r:id="rId5" imgW="190335" imgH="215713" progId="Equation.3">
                    <p:embed/>
                  </p:oleObj>
                </mc:Choice>
                <mc:Fallback>
                  <p:oleObj name="公式" r:id="rId5" imgW="190335" imgH="215713" progId="Equation.3">
                    <p:embed/>
                    <p:pic>
                      <p:nvPicPr>
                        <p:cNvPr id="32843"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 y="1823"/>
                          <a:ext cx="199"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7" name="Line 20"/>
            <p:cNvSpPr>
              <a:spLocks noChangeShapeType="1"/>
            </p:cNvSpPr>
            <p:nvPr/>
          </p:nvSpPr>
          <p:spPr bwMode="auto">
            <a:xfrm>
              <a:off x="697" y="2276"/>
              <a:ext cx="0" cy="363"/>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8" name="Object 21"/>
            <p:cNvGraphicFramePr>
              <a:graphicFrameLocks noChangeAspect="1"/>
            </p:cNvGraphicFramePr>
            <p:nvPr/>
          </p:nvGraphicFramePr>
          <p:xfrm>
            <a:off x="451" y="2362"/>
            <a:ext cx="252" cy="252"/>
          </p:xfrm>
          <a:graphic>
            <a:graphicData uri="http://schemas.openxmlformats.org/presentationml/2006/ole">
              <mc:AlternateContent xmlns:mc="http://schemas.openxmlformats.org/markup-compatibility/2006">
                <mc:Choice xmlns:v="urn:schemas-microsoft-com:vml" Requires="v">
                  <p:oleObj spid="_x0000_s169198" name="公式" r:id="rId7" imgW="241195" imgH="241195" progId="Equation.3">
                    <p:embed/>
                  </p:oleObj>
                </mc:Choice>
                <mc:Fallback>
                  <p:oleObj name="公式" r:id="rId7" imgW="241195" imgH="241195" progId="Equation.3">
                    <p:embed/>
                    <p:pic>
                      <p:nvPicPr>
                        <p:cNvPr id="32845"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 y="2362"/>
                          <a:ext cx="252"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 name="Object 22"/>
            <p:cNvGraphicFramePr>
              <a:graphicFrameLocks noChangeAspect="1"/>
            </p:cNvGraphicFramePr>
            <p:nvPr/>
          </p:nvGraphicFramePr>
          <p:xfrm>
            <a:off x="141" y="2478"/>
            <a:ext cx="239" cy="239"/>
          </p:xfrm>
          <a:graphic>
            <a:graphicData uri="http://schemas.openxmlformats.org/presentationml/2006/ole">
              <mc:AlternateContent xmlns:mc="http://schemas.openxmlformats.org/markup-compatibility/2006">
                <mc:Choice xmlns:v="urn:schemas-microsoft-com:vml" Requires="v">
                  <p:oleObj spid="_x0000_s169199" name="公式" r:id="rId9" imgW="228600" imgH="228600" progId="Equation.3">
                    <p:embed/>
                  </p:oleObj>
                </mc:Choice>
                <mc:Fallback>
                  <p:oleObj name="公式" r:id="rId9" imgW="228600" imgH="228600" progId="Equation.3">
                    <p:embed/>
                    <p:pic>
                      <p:nvPicPr>
                        <p:cNvPr id="32846"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 y="2478"/>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0" name="Object 23"/>
            <p:cNvGraphicFramePr>
              <a:graphicFrameLocks noChangeAspect="1"/>
            </p:cNvGraphicFramePr>
            <p:nvPr/>
          </p:nvGraphicFramePr>
          <p:xfrm>
            <a:off x="141" y="2069"/>
            <a:ext cx="239" cy="239"/>
          </p:xfrm>
          <a:graphic>
            <a:graphicData uri="http://schemas.openxmlformats.org/presentationml/2006/ole">
              <mc:AlternateContent xmlns:mc="http://schemas.openxmlformats.org/markup-compatibility/2006">
                <mc:Choice xmlns:v="urn:schemas-microsoft-com:vml" Requires="v">
                  <p:oleObj spid="_x0000_s169200" name="公式" r:id="rId11" imgW="228600" imgH="228600" progId="Equation.3">
                    <p:embed/>
                  </p:oleObj>
                </mc:Choice>
                <mc:Fallback>
                  <p:oleObj name="公式" r:id="rId11" imgW="228600" imgH="228600" progId="Equation.3">
                    <p:embed/>
                    <p:pic>
                      <p:nvPicPr>
                        <p:cNvPr id="32847"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1" y="2069"/>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 name="Object 24"/>
            <p:cNvGraphicFramePr>
              <a:graphicFrameLocks noChangeAspect="1"/>
            </p:cNvGraphicFramePr>
            <p:nvPr/>
          </p:nvGraphicFramePr>
          <p:xfrm>
            <a:off x="108" y="2251"/>
            <a:ext cx="265" cy="226"/>
          </p:xfrm>
          <a:graphic>
            <a:graphicData uri="http://schemas.openxmlformats.org/presentationml/2006/ole">
              <mc:AlternateContent xmlns:mc="http://schemas.openxmlformats.org/markup-compatibility/2006">
                <mc:Choice xmlns:v="urn:schemas-microsoft-com:vml" Requires="v">
                  <p:oleObj spid="_x0000_s169201" name="公式" r:id="rId13" imgW="253780" imgH="215713" progId="Equation.3">
                    <p:embed/>
                  </p:oleObj>
                </mc:Choice>
                <mc:Fallback>
                  <p:oleObj name="公式" r:id="rId13" imgW="253780" imgH="215713" progId="Equation.3">
                    <p:embed/>
                    <p:pic>
                      <p:nvPicPr>
                        <p:cNvPr id="32848"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 y="2251"/>
                          <a:ext cx="265"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 name="Line 25"/>
            <p:cNvSpPr>
              <a:spLocks noChangeShapeType="1"/>
            </p:cNvSpPr>
            <p:nvPr/>
          </p:nvSpPr>
          <p:spPr bwMode="auto">
            <a:xfrm>
              <a:off x="1151" y="2820"/>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Line 26"/>
            <p:cNvSpPr>
              <a:spLocks noChangeShapeType="1"/>
            </p:cNvSpPr>
            <p:nvPr/>
          </p:nvSpPr>
          <p:spPr bwMode="auto">
            <a:xfrm>
              <a:off x="1242" y="2639"/>
              <a:ext cx="0" cy="18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4" name="Object 27"/>
            <p:cNvGraphicFramePr>
              <a:graphicFrameLocks noChangeAspect="1"/>
            </p:cNvGraphicFramePr>
            <p:nvPr/>
          </p:nvGraphicFramePr>
          <p:xfrm>
            <a:off x="1287" y="2627"/>
            <a:ext cx="292" cy="239"/>
          </p:xfrm>
          <a:graphic>
            <a:graphicData uri="http://schemas.openxmlformats.org/presentationml/2006/ole">
              <mc:AlternateContent xmlns:mc="http://schemas.openxmlformats.org/markup-compatibility/2006">
                <mc:Choice xmlns:v="urn:schemas-microsoft-com:vml" Requires="v">
                  <p:oleObj spid="_x0000_s169202" name="公式" r:id="rId15" imgW="279400" imgH="228600" progId="Equation.3">
                    <p:embed/>
                  </p:oleObj>
                </mc:Choice>
                <mc:Fallback>
                  <p:oleObj name="公式" r:id="rId15" imgW="279400" imgH="228600" progId="Equation.3">
                    <p:embed/>
                    <p:pic>
                      <p:nvPicPr>
                        <p:cNvPr id="32851"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87" y="2627"/>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5" name="Line 31"/>
            <p:cNvSpPr>
              <a:spLocks noChangeShapeType="1"/>
            </p:cNvSpPr>
            <p:nvPr/>
          </p:nvSpPr>
          <p:spPr bwMode="auto">
            <a:xfrm>
              <a:off x="1151" y="2049"/>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Line 32"/>
            <p:cNvSpPr>
              <a:spLocks noChangeShapeType="1"/>
            </p:cNvSpPr>
            <p:nvPr/>
          </p:nvSpPr>
          <p:spPr bwMode="auto">
            <a:xfrm flipV="1">
              <a:off x="1242" y="2049"/>
              <a:ext cx="0" cy="227"/>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7" name="Object 33"/>
            <p:cNvGraphicFramePr>
              <a:graphicFrameLocks noChangeAspect="1"/>
            </p:cNvGraphicFramePr>
            <p:nvPr/>
          </p:nvGraphicFramePr>
          <p:xfrm>
            <a:off x="1242" y="2049"/>
            <a:ext cx="292" cy="239"/>
          </p:xfrm>
          <a:graphic>
            <a:graphicData uri="http://schemas.openxmlformats.org/presentationml/2006/ole">
              <mc:AlternateContent xmlns:mc="http://schemas.openxmlformats.org/markup-compatibility/2006">
                <mc:Choice xmlns:v="urn:schemas-microsoft-com:vml" Requires="v">
                  <p:oleObj spid="_x0000_s169203" name="公式" r:id="rId17" imgW="279400" imgH="228600" progId="Equation.3">
                    <p:embed/>
                  </p:oleObj>
                </mc:Choice>
                <mc:Fallback>
                  <p:oleObj name="公式" r:id="rId17" imgW="279400" imgH="228600" progId="Equation.3">
                    <p:embed/>
                    <p:pic>
                      <p:nvPicPr>
                        <p:cNvPr id="32854"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42" y="2049"/>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8" name="Object 34"/>
            <p:cNvGraphicFramePr>
              <a:graphicFrameLocks noChangeAspect="1"/>
            </p:cNvGraphicFramePr>
            <p:nvPr/>
          </p:nvGraphicFramePr>
          <p:xfrm>
            <a:off x="2459" y="2684"/>
            <a:ext cx="253" cy="239"/>
          </p:xfrm>
          <a:graphic>
            <a:graphicData uri="http://schemas.openxmlformats.org/presentationml/2006/ole">
              <mc:AlternateContent xmlns:mc="http://schemas.openxmlformats.org/markup-compatibility/2006">
                <mc:Choice xmlns:v="urn:schemas-microsoft-com:vml" Requires="v">
                  <p:oleObj spid="_x0000_s169204" name="公式" r:id="rId19" imgW="241300" imgH="228600" progId="Equation.3">
                    <p:embed/>
                  </p:oleObj>
                </mc:Choice>
                <mc:Fallback>
                  <p:oleObj name="公式" r:id="rId19" imgW="241300" imgH="228600" progId="Equation.3">
                    <p:embed/>
                    <p:pic>
                      <p:nvPicPr>
                        <p:cNvPr id="32855"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59" y="2684"/>
                          <a:ext cx="253"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9" name="Object 35"/>
            <p:cNvGraphicFramePr>
              <a:graphicFrameLocks noChangeAspect="1"/>
            </p:cNvGraphicFramePr>
            <p:nvPr/>
          </p:nvGraphicFramePr>
          <p:xfrm>
            <a:off x="2466" y="2096"/>
            <a:ext cx="278" cy="226"/>
          </p:xfrm>
          <a:graphic>
            <a:graphicData uri="http://schemas.openxmlformats.org/presentationml/2006/ole">
              <mc:AlternateContent xmlns:mc="http://schemas.openxmlformats.org/markup-compatibility/2006">
                <mc:Choice xmlns:v="urn:schemas-microsoft-com:vml" Requires="v">
                  <p:oleObj spid="_x0000_s169205" name="公式" r:id="rId21" imgW="266353" imgH="215619" progId="Equation.3">
                    <p:embed/>
                  </p:oleObj>
                </mc:Choice>
                <mc:Fallback>
                  <p:oleObj name="公式" r:id="rId21" imgW="266353" imgH="215619" progId="Equation.3">
                    <p:embed/>
                    <p:pic>
                      <p:nvPicPr>
                        <p:cNvPr id="32856"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66" y="2096"/>
                          <a:ext cx="278"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0" name="Object 36"/>
            <p:cNvGraphicFramePr>
              <a:graphicFrameLocks noChangeAspect="1"/>
            </p:cNvGraphicFramePr>
            <p:nvPr/>
          </p:nvGraphicFramePr>
          <p:xfrm>
            <a:off x="2466" y="1901"/>
            <a:ext cx="239" cy="239"/>
          </p:xfrm>
          <a:graphic>
            <a:graphicData uri="http://schemas.openxmlformats.org/presentationml/2006/ole">
              <mc:AlternateContent xmlns:mc="http://schemas.openxmlformats.org/markup-compatibility/2006">
                <mc:Choice xmlns:v="urn:schemas-microsoft-com:vml" Requires="v">
                  <p:oleObj spid="_x0000_s169206" name="公式" r:id="rId23" imgW="228600" imgH="228600" progId="Equation.3">
                    <p:embed/>
                  </p:oleObj>
                </mc:Choice>
                <mc:Fallback>
                  <p:oleObj name="公式" r:id="rId23" imgW="228600" imgH="228600" progId="Equation.3">
                    <p:embed/>
                    <p:pic>
                      <p:nvPicPr>
                        <p:cNvPr id="32857"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66" y="1901"/>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 name="Line 37"/>
            <p:cNvSpPr>
              <a:spLocks noChangeShapeType="1"/>
            </p:cNvSpPr>
            <p:nvPr/>
          </p:nvSpPr>
          <p:spPr bwMode="auto">
            <a:xfrm flipV="1">
              <a:off x="1864" y="1505"/>
              <a:ext cx="0" cy="680"/>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2" name="Object 38"/>
            <p:cNvGraphicFramePr>
              <a:graphicFrameLocks noChangeAspect="1"/>
            </p:cNvGraphicFramePr>
            <p:nvPr/>
          </p:nvGraphicFramePr>
          <p:xfrm>
            <a:off x="1774" y="1733"/>
            <a:ext cx="213" cy="226"/>
          </p:xfrm>
          <a:graphic>
            <a:graphicData uri="http://schemas.openxmlformats.org/presentationml/2006/ole">
              <mc:AlternateContent xmlns:mc="http://schemas.openxmlformats.org/markup-compatibility/2006">
                <mc:Choice xmlns:v="urn:schemas-microsoft-com:vml" Requires="v">
                  <p:oleObj spid="_x0000_s169207" name="公式" r:id="rId24" imgW="203024" imgH="215713" progId="Equation.3">
                    <p:embed/>
                  </p:oleObj>
                </mc:Choice>
                <mc:Fallback>
                  <p:oleObj name="公式" r:id="rId24" imgW="203024" imgH="215713" progId="Equation.3">
                    <p:embed/>
                    <p:pic>
                      <p:nvPicPr>
                        <p:cNvPr id="32859" name="Object 3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74" y="1733"/>
                          <a:ext cx="213"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3" name="Line 39"/>
            <p:cNvSpPr>
              <a:spLocks noChangeShapeType="1"/>
            </p:cNvSpPr>
            <p:nvPr/>
          </p:nvSpPr>
          <p:spPr bwMode="auto">
            <a:xfrm flipV="1">
              <a:off x="2091" y="1505"/>
              <a:ext cx="0" cy="544"/>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4" name="Object 40"/>
            <p:cNvGraphicFramePr>
              <a:graphicFrameLocks noChangeAspect="1"/>
            </p:cNvGraphicFramePr>
            <p:nvPr/>
          </p:nvGraphicFramePr>
          <p:xfrm>
            <a:off x="1994" y="1686"/>
            <a:ext cx="200" cy="226"/>
          </p:xfrm>
          <a:graphic>
            <a:graphicData uri="http://schemas.openxmlformats.org/presentationml/2006/ole">
              <mc:AlternateContent xmlns:mc="http://schemas.openxmlformats.org/markup-compatibility/2006">
                <mc:Choice xmlns:v="urn:schemas-microsoft-com:vml" Requires="v">
                  <p:oleObj spid="_x0000_s169208" name="公式" r:id="rId26" imgW="190335" imgH="215713" progId="Equation.3">
                    <p:embed/>
                  </p:oleObj>
                </mc:Choice>
                <mc:Fallback>
                  <p:oleObj name="公式" r:id="rId26" imgW="190335" imgH="215713" progId="Equation.3">
                    <p:embed/>
                    <p:pic>
                      <p:nvPicPr>
                        <p:cNvPr id="32861" name="Object 4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994" y="1686"/>
                          <a:ext cx="200"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5" name="Line 41"/>
            <p:cNvSpPr>
              <a:spLocks noChangeShapeType="1"/>
            </p:cNvSpPr>
            <p:nvPr/>
          </p:nvSpPr>
          <p:spPr bwMode="auto">
            <a:xfrm>
              <a:off x="2194" y="2049"/>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6" name="Object 42"/>
            <p:cNvGraphicFramePr>
              <a:graphicFrameLocks noChangeAspect="1"/>
            </p:cNvGraphicFramePr>
            <p:nvPr/>
          </p:nvGraphicFramePr>
          <p:xfrm>
            <a:off x="2201" y="2322"/>
            <a:ext cx="265" cy="252"/>
          </p:xfrm>
          <a:graphic>
            <a:graphicData uri="http://schemas.openxmlformats.org/presentationml/2006/ole">
              <mc:AlternateContent xmlns:mc="http://schemas.openxmlformats.org/markup-compatibility/2006">
                <mc:Choice xmlns:v="urn:schemas-microsoft-com:vml" Requires="v">
                  <p:oleObj spid="_x0000_s169209" name="公式" r:id="rId28" imgW="253890" imgH="241195" progId="Equation.3">
                    <p:embed/>
                  </p:oleObj>
                </mc:Choice>
                <mc:Fallback>
                  <p:oleObj name="公式" r:id="rId28" imgW="253890" imgH="241195" progId="Equation.3">
                    <p:embed/>
                    <p:pic>
                      <p:nvPicPr>
                        <p:cNvPr id="32863" name="Object 4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01" y="2322"/>
                          <a:ext cx="265"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 name="Line 43"/>
            <p:cNvSpPr>
              <a:spLocks noChangeShapeType="1"/>
            </p:cNvSpPr>
            <p:nvPr/>
          </p:nvSpPr>
          <p:spPr bwMode="auto">
            <a:xfrm>
              <a:off x="1650" y="1913"/>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Line 44"/>
            <p:cNvSpPr>
              <a:spLocks noChangeShapeType="1"/>
            </p:cNvSpPr>
            <p:nvPr/>
          </p:nvSpPr>
          <p:spPr bwMode="auto">
            <a:xfrm flipV="1">
              <a:off x="1650" y="2185"/>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9" name="Object 45"/>
            <p:cNvGraphicFramePr>
              <a:graphicFrameLocks noChangeAspect="1"/>
            </p:cNvGraphicFramePr>
            <p:nvPr/>
          </p:nvGraphicFramePr>
          <p:xfrm>
            <a:off x="1681" y="2231"/>
            <a:ext cx="205" cy="249"/>
          </p:xfrm>
          <a:graphic>
            <a:graphicData uri="http://schemas.openxmlformats.org/presentationml/2006/ole">
              <mc:AlternateContent xmlns:mc="http://schemas.openxmlformats.org/markup-compatibility/2006">
                <mc:Choice xmlns:v="urn:schemas-microsoft-com:vml" Requires="v">
                  <p:oleObj spid="_x0000_s169210" name="公式" r:id="rId30" imgW="177569" imgH="215619" progId="Equation.3">
                    <p:embed/>
                  </p:oleObj>
                </mc:Choice>
                <mc:Fallback>
                  <p:oleObj name="公式" r:id="rId30" imgW="177569" imgH="215619" progId="Equation.3">
                    <p:embed/>
                    <p:pic>
                      <p:nvPicPr>
                        <p:cNvPr id="32866" name="Object 4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681" y="2231"/>
                          <a:ext cx="205"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0" name="Text Box 46"/>
            <p:cNvSpPr txBox="1">
              <a:spLocks noChangeArrowheads="1"/>
            </p:cNvSpPr>
            <p:nvPr/>
          </p:nvSpPr>
          <p:spPr bwMode="auto">
            <a:xfrm>
              <a:off x="1015" y="1253"/>
              <a:ext cx="7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effectLst/>
                  <a:uLnTx/>
                  <a:uFillTx/>
                  <a:latin typeface="Times New Roman" panose="02020603050405020304" pitchFamily="18" charset="0"/>
                  <a:cs typeface="Times New Roman" panose="02020603050405020304" pitchFamily="18" charset="0"/>
                  <a:sym typeface="Symbol" panose="05050102010706020507" pitchFamily="18" charset="2"/>
                </a:rPr>
                <a:t>真空能级</a:t>
              </a:r>
            </a:p>
          </p:txBody>
        </p:sp>
      </p:grpSp>
      <p:grpSp>
        <p:nvGrpSpPr>
          <p:cNvPr id="41" name="Group 124"/>
          <p:cNvGrpSpPr>
            <a:grpSpLocks/>
          </p:cNvGrpSpPr>
          <p:nvPr/>
        </p:nvGrpSpPr>
        <p:grpSpPr bwMode="auto">
          <a:xfrm>
            <a:off x="4965423" y="1300675"/>
            <a:ext cx="4005262" cy="3594100"/>
            <a:chOff x="3125" y="1234"/>
            <a:chExt cx="2523" cy="2264"/>
          </a:xfrm>
        </p:grpSpPr>
        <p:sp>
          <p:nvSpPr>
            <p:cNvPr id="42" name="Freeform 49"/>
            <p:cNvSpPr>
              <a:spLocks/>
            </p:cNvSpPr>
            <p:nvPr/>
          </p:nvSpPr>
          <p:spPr bwMode="auto">
            <a:xfrm>
              <a:off x="3397" y="2233"/>
              <a:ext cx="942" cy="174"/>
            </a:xfrm>
            <a:custGeom>
              <a:avLst/>
              <a:gdLst>
                <a:gd name="T0" fmla="*/ 0 w 942"/>
                <a:gd name="T1" fmla="*/ 11 h 92"/>
                <a:gd name="T2" fmla="*/ 750 w 942"/>
                <a:gd name="T3" fmla="*/ 0 h 92"/>
                <a:gd name="T4" fmla="*/ 853 w 942"/>
                <a:gd name="T5" fmla="*/ 28 h 92"/>
                <a:gd name="T6" fmla="*/ 897 w 942"/>
                <a:gd name="T7" fmla="*/ 161 h 92"/>
                <a:gd name="T8" fmla="*/ 942 w 942"/>
                <a:gd name="T9" fmla="*/ 329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2" h="92">
                  <a:moveTo>
                    <a:pt x="0" y="3"/>
                  </a:moveTo>
                  <a:lnTo>
                    <a:pt x="750" y="0"/>
                  </a:lnTo>
                  <a:lnTo>
                    <a:pt x="853" y="8"/>
                  </a:lnTo>
                  <a:lnTo>
                    <a:pt x="897" y="45"/>
                  </a:lnTo>
                  <a:lnTo>
                    <a:pt x="942" y="92"/>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Line 50"/>
            <p:cNvSpPr>
              <a:spLocks noChangeShapeType="1"/>
            </p:cNvSpPr>
            <p:nvPr/>
          </p:nvSpPr>
          <p:spPr bwMode="auto">
            <a:xfrm>
              <a:off x="3397" y="2387"/>
              <a:ext cx="907" cy="0"/>
            </a:xfrm>
            <a:prstGeom prst="line">
              <a:avLst/>
            </a:prstGeom>
            <a:noFill/>
            <a:ln w="9525">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Line 51"/>
            <p:cNvSpPr>
              <a:spLocks noChangeShapeType="1"/>
            </p:cNvSpPr>
            <p:nvPr/>
          </p:nvSpPr>
          <p:spPr bwMode="auto">
            <a:xfrm>
              <a:off x="3533" y="1506"/>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5" name="Object 52"/>
            <p:cNvGraphicFramePr>
              <a:graphicFrameLocks noChangeAspect="1"/>
            </p:cNvGraphicFramePr>
            <p:nvPr/>
          </p:nvGraphicFramePr>
          <p:xfrm>
            <a:off x="3442" y="1778"/>
            <a:ext cx="186" cy="226"/>
          </p:xfrm>
          <a:graphic>
            <a:graphicData uri="http://schemas.openxmlformats.org/presentationml/2006/ole">
              <mc:AlternateContent xmlns:mc="http://schemas.openxmlformats.org/markup-compatibility/2006">
                <mc:Choice xmlns:v="urn:schemas-microsoft-com:vml" Requires="v">
                  <p:oleObj spid="_x0000_s169211" name="公式" r:id="rId32" imgW="177569" imgH="215619" progId="Equation.3">
                    <p:embed/>
                  </p:oleObj>
                </mc:Choice>
                <mc:Fallback>
                  <p:oleObj name="公式" r:id="rId32" imgW="177569" imgH="215619" progId="Equation.3">
                    <p:embed/>
                    <p:pic>
                      <p:nvPicPr>
                        <p:cNvPr id="32782"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2" y="1778"/>
                          <a:ext cx="186"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 name="Line 53"/>
            <p:cNvSpPr>
              <a:spLocks noChangeShapeType="1"/>
            </p:cNvSpPr>
            <p:nvPr/>
          </p:nvSpPr>
          <p:spPr bwMode="auto">
            <a:xfrm flipV="1">
              <a:off x="3787" y="1525"/>
              <a:ext cx="0" cy="862"/>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7" name="Object 54"/>
            <p:cNvGraphicFramePr>
              <a:graphicFrameLocks noChangeAspect="1"/>
            </p:cNvGraphicFramePr>
            <p:nvPr/>
          </p:nvGraphicFramePr>
          <p:xfrm>
            <a:off x="3714" y="1824"/>
            <a:ext cx="199" cy="226"/>
          </p:xfrm>
          <a:graphic>
            <a:graphicData uri="http://schemas.openxmlformats.org/presentationml/2006/ole">
              <mc:AlternateContent xmlns:mc="http://schemas.openxmlformats.org/markup-compatibility/2006">
                <mc:Choice xmlns:v="urn:schemas-microsoft-com:vml" Requires="v">
                  <p:oleObj spid="_x0000_s169212" name="公式" r:id="rId33" imgW="190335" imgH="215713" progId="Equation.3">
                    <p:embed/>
                  </p:oleObj>
                </mc:Choice>
                <mc:Fallback>
                  <p:oleObj name="公式" r:id="rId33" imgW="190335" imgH="215713" progId="Equation.3">
                    <p:embed/>
                    <p:pic>
                      <p:nvPicPr>
                        <p:cNvPr id="32784" name="Object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 y="1824"/>
                          <a:ext cx="199"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8" name="Line 55"/>
            <p:cNvSpPr>
              <a:spLocks noChangeShapeType="1"/>
            </p:cNvSpPr>
            <p:nvPr/>
          </p:nvSpPr>
          <p:spPr bwMode="auto">
            <a:xfrm>
              <a:off x="3714" y="2277"/>
              <a:ext cx="0" cy="363"/>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9" name="Object 56"/>
            <p:cNvGraphicFramePr>
              <a:graphicFrameLocks noChangeAspect="1"/>
            </p:cNvGraphicFramePr>
            <p:nvPr/>
          </p:nvGraphicFramePr>
          <p:xfrm>
            <a:off x="3462" y="2362"/>
            <a:ext cx="252" cy="252"/>
          </p:xfrm>
          <a:graphic>
            <a:graphicData uri="http://schemas.openxmlformats.org/presentationml/2006/ole">
              <mc:AlternateContent xmlns:mc="http://schemas.openxmlformats.org/markup-compatibility/2006">
                <mc:Choice xmlns:v="urn:schemas-microsoft-com:vml" Requires="v">
                  <p:oleObj spid="_x0000_s169213" name="公式" r:id="rId34" imgW="241195" imgH="241195" progId="Equation.3">
                    <p:embed/>
                  </p:oleObj>
                </mc:Choice>
                <mc:Fallback>
                  <p:oleObj name="公式" r:id="rId34" imgW="241195" imgH="241195" progId="Equation.3">
                    <p:embed/>
                    <p:pic>
                      <p:nvPicPr>
                        <p:cNvPr id="32786" name="Object 56"/>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462" y="2362"/>
                          <a:ext cx="252"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0" name="Object 57"/>
            <p:cNvGraphicFramePr>
              <a:graphicFrameLocks noChangeAspect="1"/>
            </p:cNvGraphicFramePr>
            <p:nvPr/>
          </p:nvGraphicFramePr>
          <p:xfrm>
            <a:off x="3158" y="2537"/>
            <a:ext cx="239" cy="239"/>
          </p:xfrm>
          <a:graphic>
            <a:graphicData uri="http://schemas.openxmlformats.org/presentationml/2006/ole">
              <mc:AlternateContent xmlns:mc="http://schemas.openxmlformats.org/markup-compatibility/2006">
                <mc:Choice xmlns:v="urn:schemas-microsoft-com:vml" Requires="v">
                  <p:oleObj spid="_x0000_s169214" name="公式" r:id="rId36" imgW="228600" imgH="228600" progId="Equation.3">
                    <p:embed/>
                  </p:oleObj>
                </mc:Choice>
                <mc:Fallback>
                  <p:oleObj name="公式" r:id="rId36" imgW="228600" imgH="228600" progId="Equation.3">
                    <p:embed/>
                    <p:pic>
                      <p:nvPicPr>
                        <p:cNvPr id="32787"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8" y="2537"/>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1" name="Object 58"/>
            <p:cNvGraphicFramePr>
              <a:graphicFrameLocks noChangeAspect="1"/>
            </p:cNvGraphicFramePr>
            <p:nvPr/>
          </p:nvGraphicFramePr>
          <p:xfrm>
            <a:off x="3158" y="2141"/>
            <a:ext cx="239" cy="239"/>
          </p:xfrm>
          <a:graphic>
            <a:graphicData uri="http://schemas.openxmlformats.org/presentationml/2006/ole">
              <mc:AlternateContent xmlns:mc="http://schemas.openxmlformats.org/markup-compatibility/2006">
                <mc:Choice xmlns:v="urn:schemas-microsoft-com:vml" Requires="v">
                  <p:oleObj spid="_x0000_s169215" name="公式" r:id="rId37" imgW="228600" imgH="228600" progId="Equation.3">
                    <p:embed/>
                  </p:oleObj>
                </mc:Choice>
                <mc:Fallback>
                  <p:oleObj name="公式" r:id="rId37" imgW="228600" imgH="228600" progId="Equation.3">
                    <p:embed/>
                    <p:pic>
                      <p:nvPicPr>
                        <p:cNvPr id="32788"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58" y="2141"/>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2" name="Object 59"/>
            <p:cNvGraphicFramePr>
              <a:graphicFrameLocks noChangeAspect="1"/>
            </p:cNvGraphicFramePr>
            <p:nvPr/>
          </p:nvGraphicFramePr>
          <p:xfrm>
            <a:off x="3125" y="2368"/>
            <a:ext cx="265" cy="226"/>
          </p:xfrm>
          <a:graphic>
            <a:graphicData uri="http://schemas.openxmlformats.org/presentationml/2006/ole">
              <mc:AlternateContent xmlns:mc="http://schemas.openxmlformats.org/markup-compatibility/2006">
                <mc:Choice xmlns:v="urn:schemas-microsoft-com:vml" Requires="v">
                  <p:oleObj spid="_x0000_s169216" name="公式" r:id="rId38" imgW="253780" imgH="215713" progId="Equation.3">
                    <p:embed/>
                  </p:oleObj>
                </mc:Choice>
                <mc:Fallback>
                  <p:oleObj name="公式" r:id="rId38" imgW="253780" imgH="215713" progId="Equation.3">
                    <p:embed/>
                    <p:pic>
                      <p:nvPicPr>
                        <p:cNvPr id="32789" name="Object 5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5" y="2368"/>
                          <a:ext cx="265"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3" name="Text Box 60"/>
            <p:cNvSpPr txBox="1">
              <a:spLocks noChangeArrowheads="1"/>
            </p:cNvSpPr>
            <p:nvPr/>
          </p:nvSpPr>
          <p:spPr bwMode="auto">
            <a:xfrm>
              <a:off x="3402" y="1234"/>
              <a:ext cx="7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effectLst/>
                  <a:uLnTx/>
                  <a:uFillTx/>
                  <a:latin typeface="Times New Roman" panose="02020603050405020304" pitchFamily="18" charset="0"/>
                  <a:cs typeface="Times New Roman" panose="02020603050405020304" pitchFamily="18" charset="0"/>
                  <a:sym typeface="Symbol" panose="05050102010706020507" pitchFamily="18" charset="2"/>
                </a:rPr>
                <a:t>真空能级</a:t>
              </a:r>
            </a:p>
          </p:txBody>
        </p:sp>
        <p:sp>
          <p:nvSpPr>
            <p:cNvPr id="54" name="Freeform 61"/>
            <p:cNvSpPr>
              <a:spLocks/>
            </p:cNvSpPr>
            <p:nvPr/>
          </p:nvSpPr>
          <p:spPr bwMode="auto">
            <a:xfrm>
              <a:off x="3402" y="2598"/>
              <a:ext cx="942" cy="174"/>
            </a:xfrm>
            <a:custGeom>
              <a:avLst/>
              <a:gdLst>
                <a:gd name="T0" fmla="*/ 0 w 942"/>
                <a:gd name="T1" fmla="*/ 11 h 92"/>
                <a:gd name="T2" fmla="*/ 750 w 942"/>
                <a:gd name="T3" fmla="*/ 0 h 92"/>
                <a:gd name="T4" fmla="*/ 853 w 942"/>
                <a:gd name="T5" fmla="*/ 28 h 92"/>
                <a:gd name="T6" fmla="*/ 897 w 942"/>
                <a:gd name="T7" fmla="*/ 161 h 92"/>
                <a:gd name="T8" fmla="*/ 942 w 942"/>
                <a:gd name="T9" fmla="*/ 329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2" h="92">
                  <a:moveTo>
                    <a:pt x="0" y="3"/>
                  </a:moveTo>
                  <a:lnTo>
                    <a:pt x="750" y="0"/>
                  </a:lnTo>
                  <a:lnTo>
                    <a:pt x="853" y="8"/>
                  </a:lnTo>
                  <a:lnTo>
                    <a:pt x="897" y="45"/>
                  </a:lnTo>
                  <a:lnTo>
                    <a:pt x="942" y="92"/>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Freeform 62"/>
            <p:cNvSpPr>
              <a:spLocks/>
            </p:cNvSpPr>
            <p:nvPr/>
          </p:nvSpPr>
          <p:spPr bwMode="auto">
            <a:xfrm>
              <a:off x="3402" y="1465"/>
              <a:ext cx="942" cy="174"/>
            </a:xfrm>
            <a:custGeom>
              <a:avLst/>
              <a:gdLst>
                <a:gd name="T0" fmla="*/ 0 w 942"/>
                <a:gd name="T1" fmla="*/ 11 h 92"/>
                <a:gd name="T2" fmla="*/ 750 w 942"/>
                <a:gd name="T3" fmla="*/ 0 h 92"/>
                <a:gd name="T4" fmla="*/ 853 w 942"/>
                <a:gd name="T5" fmla="*/ 28 h 92"/>
                <a:gd name="T6" fmla="*/ 897 w 942"/>
                <a:gd name="T7" fmla="*/ 161 h 92"/>
                <a:gd name="T8" fmla="*/ 942 w 942"/>
                <a:gd name="T9" fmla="*/ 329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2" h="92">
                  <a:moveTo>
                    <a:pt x="0" y="3"/>
                  </a:moveTo>
                  <a:lnTo>
                    <a:pt x="750" y="0"/>
                  </a:lnTo>
                  <a:lnTo>
                    <a:pt x="853" y="8"/>
                  </a:lnTo>
                  <a:lnTo>
                    <a:pt x="897" y="45"/>
                  </a:lnTo>
                  <a:lnTo>
                    <a:pt x="942" y="92"/>
                  </a:lnTo>
                </a:path>
              </a:pathLst>
            </a:custGeom>
            <a:noFill/>
            <a:ln w="9525" cap="flat" cmpd="sng">
              <a:solidFill>
                <a:srgbClr val="0000FF"/>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Line 84"/>
            <p:cNvSpPr>
              <a:spLocks noChangeShapeType="1"/>
            </p:cNvSpPr>
            <p:nvPr/>
          </p:nvSpPr>
          <p:spPr bwMode="auto">
            <a:xfrm flipV="1">
              <a:off x="4330" y="1389"/>
              <a:ext cx="0" cy="186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Line 88"/>
            <p:cNvSpPr>
              <a:spLocks noChangeShapeType="1"/>
            </p:cNvSpPr>
            <p:nvPr/>
          </p:nvSpPr>
          <p:spPr bwMode="auto">
            <a:xfrm flipH="1">
              <a:off x="4128" y="2387"/>
              <a:ext cx="181"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Line 89"/>
            <p:cNvSpPr>
              <a:spLocks noChangeShapeType="1"/>
            </p:cNvSpPr>
            <p:nvPr/>
          </p:nvSpPr>
          <p:spPr bwMode="auto">
            <a:xfrm>
              <a:off x="4195" y="1979"/>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Line 90"/>
            <p:cNvSpPr>
              <a:spLocks noChangeShapeType="1"/>
            </p:cNvSpPr>
            <p:nvPr/>
          </p:nvSpPr>
          <p:spPr bwMode="auto">
            <a:xfrm flipV="1">
              <a:off x="4195" y="2357"/>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Line 92"/>
            <p:cNvSpPr>
              <a:spLocks noChangeShapeType="1"/>
            </p:cNvSpPr>
            <p:nvPr/>
          </p:nvSpPr>
          <p:spPr bwMode="auto">
            <a:xfrm flipH="1" flipV="1">
              <a:off x="4241" y="2659"/>
              <a:ext cx="0" cy="59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Freeform 63"/>
            <p:cNvSpPr>
              <a:spLocks/>
            </p:cNvSpPr>
            <p:nvPr/>
          </p:nvSpPr>
          <p:spPr bwMode="auto">
            <a:xfrm>
              <a:off x="4342" y="2102"/>
              <a:ext cx="983" cy="174"/>
            </a:xfrm>
            <a:custGeom>
              <a:avLst/>
              <a:gdLst>
                <a:gd name="T0" fmla="*/ 0 w 983"/>
                <a:gd name="T1" fmla="*/ 0 h 159"/>
                <a:gd name="T2" fmla="*/ 31 w 983"/>
                <a:gd name="T3" fmla="*/ 76 h 159"/>
                <a:gd name="T4" fmla="*/ 68 w 983"/>
                <a:gd name="T5" fmla="*/ 137 h 159"/>
                <a:gd name="T6" fmla="*/ 142 w 983"/>
                <a:gd name="T7" fmla="*/ 181 h 159"/>
                <a:gd name="T8" fmla="*/ 216 w 983"/>
                <a:gd name="T9" fmla="*/ 190 h 159"/>
                <a:gd name="T10" fmla="*/ 983 w 983"/>
                <a:gd name="T11" fmla="*/ 188 h 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83" h="159">
                  <a:moveTo>
                    <a:pt x="0" y="0"/>
                  </a:moveTo>
                  <a:lnTo>
                    <a:pt x="31" y="63"/>
                  </a:lnTo>
                  <a:lnTo>
                    <a:pt x="68" y="114"/>
                  </a:lnTo>
                  <a:lnTo>
                    <a:pt x="142" y="151"/>
                  </a:lnTo>
                  <a:lnTo>
                    <a:pt x="216" y="159"/>
                  </a:lnTo>
                  <a:lnTo>
                    <a:pt x="983" y="157"/>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Line 64"/>
            <p:cNvSpPr>
              <a:spLocks noChangeShapeType="1"/>
            </p:cNvSpPr>
            <p:nvPr/>
          </p:nvSpPr>
          <p:spPr bwMode="auto">
            <a:xfrm>
              <a:off x="4287" y="2388"/>
              <a:ext cx="1038" cy="14"/>
            </a:xfrm>
            <a:prstGeom prst="line">
              <a:avLst/>
            </a:prstGeom>
            <a:noFill/>
            <a:ln w="9525">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Line 65"/>
            <p:cNvSpPr>
              <a:spLocks noChangeShapeType="1"/>
            </p:cNvSpPr>
            <p:nvPr/>
          </p:nvSpPr>
          <p:spPr bwMode="auto">
            <a:xfrm>
              <a:off x="4312" y="2886"/>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4" name="Line 66"/>
            <p:cNvSpPr>
              <a:spLocks noChangeShapeType="1"/>
            </p:cNvSpPr>
            <p:nvPr/>
          </p:nvSpPr>
          <p:spPr bwMode="auto">
            <a:xfrm flipH="1">
              <a:off x="4377" y="2750"/>
              <a:ext cx="1" cy="136"/>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5" name="Object 67"/>
            <p:cNvGraphicFramePr>
              <a:graphicFrameLocks noChangeAspect="1"/>
            </p:cNvGraphicFramePr>
            <p:nvPr/>
          </p:nvGraphicFramePr>
          <p:xfrm>
            <a:off x="4422" y="2692"/>
            <a:ext cx="292" cy="239"/>
          </p:xfrm>
          <a:graphic>
            <a:graphicData uri="http://schemas.openxmlformats.org/presentationml/2006/ole">
              <mc:AlternateContent xmlns:mc="http://schemas.openxmlformats.org/markup-compatibility/2006">
                <mc:Choice xmlns:v="urn:schemas-microsoft-com:vml" Requires="v">
                  <p:oleObj spid="_x0000_s169217" name="公式" r:id="rId39" imgW="279400" imgH="228600" progId="Equation.3">
                    <p:embed/>
                  </p:oleObj>
                </mc:Choice>
                <mc:Fallback>
                  <p:oleObj name="公式" r:id="rId39" imgW="279400" imgH="228600" progId="Equation.3">
                    <p:embed/>
                    <p:pic>
                      <p:nvPicPr>
                        <p:cNvPr id="32802" name="Object 6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22" y="2692"/>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6" name="Object 70"/>
            <p:cNvGraphicFramePr>
              <a:graphicFrameLocks noChangeAspect="1"/>
            </p:cNvGraphicFramePr>
            <p:nvPr/>
          </p:nvGraphicFramePr>
          <p:xfrm>
            <a:off x="3878" y="2069"/>
            <a:ext cx="292" cy="239"/>
          </p:xfrm>
          <a:graphic>
            <a:graphicData uri="http://schemas.openxmlformats.org/presentationml/2006/ole">
              <mc:AlternateContent xmlns:mc="http://schemas.openxmlformats.org/markup-compatibility/2006">
                <mc:Choice xmlns:v="urn:schemas-microsoft-com:vml" Requires="v">
                  <p:oleObj spid="_x0000_s169218" name="公式" r:id="rId40" imgW="279400" imgH="228600" progId="Equation.3">
                    <p:embed/>
                  </p:oleObj>
                </mc:Choice>
                <mc:Fallback>
                  <p:oleObj name="公式" r:id="rId40" imgW="279400" imgH="228600" progId="Equation.3">
                    <p:embed/>
                    <p:pic>
                      <p:nvPicPr>
                        <p:cNvPr id="32803" name="Object 7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78" y="2069"/>
                          <a:ext cx="292"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 name="Object 71"/>
            <p:cNvGraphicFramePr>
              <a:graphicFrameLocks noChangeAspect="1"/>
            </p:cNvGraphicFramePr>
            <p:nvPr/>
          </p:nvGraphicFramePr>
          <p:xfrm>
            <a:off x="5363" y="2901"/>
            <a:ext cx="253" cy="239"/>
          </p:xfrm>
          <a:graphic>
            <a:graphicData uri="http://schemas.openxmlformats.org/presentationml/2006/ole">
              <mc:AlternateContent xmlns:mc="http://schemas.openxmlformats.org/markup-compatibility/2006">
                <mc:Choice xmlns:v="urn:schemas-microsoft-com:vml" Requires="v">
                  <p:oleObj spid="_x0000_s169219" name="公式" r:id="rId41" imgW="241300" imgH="228600" progId="Equation.3">
                    <p:embed/>
                  </p:oleObj>
                </mc:Choice>
                <mc:Fallback>
                  <p:oleObj name="公式" r:id="rId41" imgW="241300" imgH="228600" progId="Equation.3">
                    <p:embed/>
                    <p:pic>
                      <p:nvPicPr>
                        <p:cNvPr id="32804" name="Object 7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63" y="2901"/>
                          <a:ext cx="253"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 name="Object 72"/>
            <p:cNvGraphicFramePr>
              <a:graphicFrameLocks noChangeAspect="1"/>
            </p:cNvGraphicFramePr>
            <p:nvPr/>
          </p:nvGraphicFramePr>
          <p:xfrm>
            <a:off x="5370" y="2313"/>
            <a:ext cx="278" cy="226"/>
          </p:xfrm>
          <a:graphic>
            <a:graphicData uri="http://schemas.openxmlformats.org/presentationml/2006/ole">
              <mc:AlternateContent xmlns:mc="http://schemas.openxmlformats.org/markup-compatibility/2006">
                <mc:Choice xmlns:v="urn:schemas-microsoft-com:vml" Requires="v">
                  <p:oleObj spid="_x0000_s169220" name="公式" r:id="rId42" imgW="266353" imgH="215619" progId="Equation.3">
                    <p:embed/>
                  </p:oleObj>
                </mc:Choice>
                <mc:Fallback>
                  <p:oleObj name="公式" r:id="rId42" imgW="266353" imgH="215619" progId="Equation.3">
                    <p:embed/>
                    <p:pic>
                      <p:nvPicPr>
                        <p:cNvPr id="32805" name="Object 7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70" y="2313"/>
                          <a:ext cx="278"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 name="Object 73"/>
            <p:cNvGraphicFramePr>
              <a:graphicFrameLocks noChangeAspect="1"/>
            </p:cNvGraphicFramePr>
            <p:nvPr/>
          </p:nvGraphicFramePr>
          <p:xfrm>
            <a:off x="5370" y="2118"/>
            <a:ext cx="239" cy="239"/>
          </p:xfrm>
          <a:graphic>
            <a:graphicData uri="http://schemas.openxmlformats.org/presentationml/2006/ole">
              <mc:AlternateContent xmlns:mc="http://schemas.openxmlformats.org/markup-compatibility/2006">
                <mc:Choice xmlns:v="urn:schemas-microsoft-com:vml" Requires="v">
                  <p:oleObj spid="_x0000_s169221" name="公式" r:id="rId43" imgW="228600" imgH="228600" progId="Equation.3">
                    <p:embed/>
                  </p:oleObj>
                </mc:Choice>
                <mc:Fallback>
                  <p:oleObj name="公式" r:id="rId43" imgW="228600" imgH="228600" progId="Equation.3">
                    <p:embed/>
                    <p:pic>
                      <p:nvPicPr>
                        <p:cNvPr id="32806" name="Object 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0" y="2118"/>
                          <a:ext cx="239" cy="2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0" name="Line 74"/>
            <p:cNvSpPr>
              <a:spLocks noChangeShapeType="1"/>
            </p:cNvSpPr>
            <p:nvPr/>
          </p:nvSpPr>
          <p:spPr bwMode="auto">
            <a:xfrm flipV="1">
              <a:off x="4694" y="1722"/>
              <a:ext cx="0" cy="680"/>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1" name="Object 75"/>
            <p:cNvGraphicFramePr>
              <a:graphicFrameLocks noChangeAspect="1"/>
            </p:cNvGraphicFramePr>
            <p:nvPr/>
          </p:nvGraphicFramePr>
          <p:xfrm>
            <a:off x="4586" y="1934"/>
            <a:ext cx="213" cy="226"/>
          </p:xfrm>
          <a:graphic>
            <a:graphicData uri="http://schemas.openxmlformats.org/presentationml/2006/ole">
              <mc:AlternateContent xmlns:mc="http://schemas.openxmlformats.org/markup-compatibility/2006">
                <mc:Choice xmlns:v="urn:schemas-microsoft-com:vml" Requires="v">
                  <p:oleObj spid="_x0000_s169222" name="公式" r:id="rId44" imgW="203024" imgH="215713" progId="Equation.3">
                    <p:embed/>
                  </p:oleObj>
                </mc:Choice>
                <mc:Fallback>
                  <p:oleObj name="公式" r:id="rId44" imgW="203024" imgH="215713" progId="Equation.3">
                    <p:embed/>
                    <p:pic>
                      <p:nvPicPr>
                        <p:cNvPr id="32808" name="Object 7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86" y="1934"/>
                          <a:ext cx="213"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2" name="Line 76"/>
            <p:cNvSpPr>
              <a:spLocks noChangeShapeType="1"/>
            </p:cNvSpPr>
            <p:nvPr/>
          </p:nvSpPr>
          <p:spPr bwMode="auto">
            <a:xfrm flipV="1">
              <a:off x="4954" y="1722"/>
              <a:ext cx="0" cy="544"/>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3" name="Object 77"/>
            <p:cNvGraphicFramePr>
              <a:graphicFrameLocks noChangeAspect="1"/>
            </p:cNvGraphicFramePr>
            <p:nvPr/>
          </p:nvGraphicFramePr>
          <p:xfrm>
            <a:off x="4857" y="1845"/>
            <a:ext cx="200" cy="226"/>
          </p:xfrm>
          <a:graphic>
            <a:graphicData uri="http://schemas.openxmlformats.org/presentationml/2006/ole">
              <mc:AlternateContent xmlns:mc="http://schemas.openxmlformats.org/markup-compatibility/2006">
                <mc:Choice xmlns:v="urn:schemas-microsoft-com:vml" Requires="v">
                  <p:oleObj spid="_x0000_s169223" name="公式" r:id="rId45" imgW="190335" imgH="215713" progId="Equation.3">
                    <p:embed/>
                  </p:oleObj>
                </mc:Choice>
                <mc:Fallback>
                  <p:oleObj name="公式" r:id="rId45" imgW="190335" imgH="215713" progId="Equation.3">
                    <p:embed/>
                    <p:pic>
                      <p:nvPicPr>
                        <p:cNvPr id="32810" name="Object 77"/>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857" y="1845"/>
                          <a:ext cx="200" cy="226"/>
                        </a:xfrm>
                        <a:prstGeom prst="rect">
                          <a:avLst/>
                        </a:prstGeom>
                        <a:solidFill>
                          <a:sysClr val="window" lastClr="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4" name="Line 78"/>
            <p:cNvSpPr>
              <a:spLocks noChangeShapeType="1"/>
            </p:cNvSpPr>
            <p:nvPr/>
          </p:nvSpPr>
          <p:spPr bwMode="auto">
            <a:xfrm>
              <a:off x="5239" y="2266"/>
              <a:ext cx="0" cy="77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5" name="Object 79"/>
            <p:cNvGraphicFramePr>
              <a:graphicFrameLocks noChangeAspect="1"/>
            </p:cNvGraphicFramePr>
            <p:nvPr/>
          </p:nvGraphicFramePr>
          <p:xfrm>
            <a:off x="4967" y="2523"/>
            <a:ext cx="265" cy="252"/>
          </p:xfrm>
          <a:graphic>
            <a:graphicData uri="http://schemas.openxmlformats.org/presentationml/2006/ole">
              <mc:AlternateContent xmlns:mc="http://schemas.openxmlformats.org/markup-compatibility/2006">
                <mc:Choice xmlns:v="urn:schemas-microsoft-com:vml" Requires="v">
                  <p:oleObj spid="_x0000_s169224" name="公式" r:id="rId47" imgW="253890" imgH="241195" progId="Equation.3">
                    <p:embed/>
                  </p:oleObj>
                </mc:Choice>
                <mc:Fallback>
                  <p:oleObj name="公式" r:id="rId47" imgW="253890" imgH="241195" progId="Equation.3">
                    <p:embed/>
                    <p:pic>
                      <p:nvPicPr>
                        <p:cNvPr id="32812" name="Object 79"/>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967" y="2523"/>
                          <a:ext cx="265"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6" name="Line 81"/>
            <p:cNvSpPr>
              <a:spLocks noChangeShapeType="1"/>
            </p:cNvSpPr>
            <p:nvPr/>
          </p:nvSpPr>
          <p:spPr bwMode="auto">
            <a:xfrm>
              <a:off x="4286" y="2738"/>
              <a:ext cx="137"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Line 86"/>
            <p:cNvSpPr>
              <a:spLocks noChangeShapeType="1"/>
            </p:cNvSpPr>
            <p:nvPr/>
          </p:nvSpPr>
          <p:spPr bwMode="auto">
            <a:xfrm>
              <a:off x="4785" y="2886"/>
              <a:ext cx="0" cy="136"/>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8" name="Object 87"/>
            <p:cNvGraphicFramePr>
              <a:graphicFrameLocks noChangeAspect="1"/>
            </p:cNvGraphicFramePr>
            <p:nvPr/>
          </p:nvGraphicFramePr>
          <p:xfrm>
            <a:off x="4880" y="2795"/>
            <a:ext cx="359" cy="226"/>
          </p:xfrm>
          <a:graphic>
            <a:graphicData uri="http://schemas.openxmlformats.org/presentationml/2006/ole">
              <mc:AlternateContent xmlns:mc="http://schemas.openxmlformats.org/markup-compatibility/2006">
                <mc:Choice xmlns:v="urn:schemas-microsoft-com:vml" Requires="v">
                  <p:oleObj spid="_x0000_s169225" name="公式" r:id="rId49" imgW="342603" imgH="215713" progId="Equation.3">
                    <p:embed/>
                  </p:oleObj>
                </mc:Choice>
                <mc:Fallback>
                  <p:oleObj name="公式" r:id="rId49" imgW="342603" imgH="215713" progId="Equation.3">
                    <p:embed/>
                    <p:pic>
                      <p:nvPicPr>
                        <p:cNvPr id="32815" name="Object 87"/>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4880" y="2795"/>
                          <a:ext cx="359"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9" name="Line 93"/>
            <p:cNvSpPr>
              <a:spLocks noChangeShapeType="1"/>
            </p:cNvSpPr>
            <p:nvPr/>
          </p:nvSpPr>
          <p:spPr bwMode="auto">
            <a:xfrm flipH="1" flipV="1">
              <a:off x="4513" y="3067"/>
              <a:ext cx="0" cy="182"/>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Line 96"/>
            <p:cNvSpPr>
              <a:spLocks noChangeShapeType="1"/>
            </p:cNvSpPr>
            <p:nvPr/>
          </p:nvSpPr>
          <p:spPr bwMode="auto">
            <a:xfrm>
              <a:off x="4332" y="1503"/>
              <a:ext cx="273"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Line 97"/>
            <p:cNvSpPr>
              <a:spLocks noChangeShapeType="1"/>
            </p:cNvSpPr>
            <p:nvPr/>
          </p:nvSpPr>
          <p:spPr bwMode="auto">
            <a:xfrm flipH="1" flipV="1">
              <a:off x="4513" y="1525"/>
              <a:ext cx="0" cy="181"/>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2" name="Object 98"/>
            <p:cNvGraphicFramePr>
              <a:graphicFrameLocks noChangeAspect="1"/>
            </p:cNvGraphicFramePr>
            <p:nvPr/>
          </p:nvGraphicFramePr>
          <p:xfrm>
            <a:off x="4558" y="1480"/>
            <a:ext cx="306" cy="226"/>
          </p:xfrm>
          <a:graphic>
            <a:graphicData uri="http://schemas.openxmlformats.org/presentationml/2006/ole">
              <mc:AlternateContent xmlns:mc="http://schemas.openxmlformats.org/markup-compatibility/2006">
                <mc:Choice xmlns:v="urn:schemas-microsoft-com:vml" Requires="v">
                  <p:oleObj spid="_x0000_s169226" name="公式" r:id="rId51" imgW="291847" imgH="215713" progId="Equation.3">
                    <p:embed/>
                  </p:oleObj>
                </mc:Choice>
                <mc:Fallback>
                  <p:oleObj name="公式" r:id="rId51" imgW="291847" imgH="215713" progId="Equation.3">
                    <p:embed/>
                    <p:pic>
                      <p:nvPicPr>
                        <p:cNvPr id="32819" name="Object 98"/>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4558" y="1480"/>
                          <a:ext cx="306"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3" name="Freeform 104"/>
            <p:cNvSpPr>
              <a:spLocks/>
            </p:cNvSpPr>
            <p:nvPr/>
          </p:nvSpPr>
          <p:spPr bwMode="auto">
            <a:xfrm>
              <a:off x="4333" y="2879"/>
              <a:ext cx="983" cy="174"/>
            </a:xfrm>
            <a:custGeom>
              <a:avLst/>
              <a:gdLst>
                <a:gd name="T0" fmla="*/ 0 w 983"/>
                <a:gd name="T1" fmla="*/ 0 h 159"/>
                <a:gd name="T2" fmla="*/ 31 w 983"/>
                <a:gd name="T3" fmla="*/ 76 h 159"/>
                <a:gd name="T4" fmla="*/ 68 w 983"/>
                <a:gd name="T5" fmla="*/ 137 h 159"/>
                <a:gd name="T6" fmla="*/ 142 w 983"/>
                <a:gd name="T7" fmla="*/ 181 h 159"/>
                <a:gd name="T8" fmla="*/ 216 w 983"/>
                <a:gd name="T9" fmla="*/ 190 h 159"/>
                <a:gd name="T10" fmla="*/ 983 w 983"/>
                <a:gd name="T11" fmla="*/ 188 h 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83" h="159">
                  <a:moveTo>
                    <a:pt x="0" y="0"/>
                  </a:moveTo>
                  <a:lnTo>
                    <a:pt x="31" y="63"/>
                  </a:lnTo>
                  <a:lnTo>
                    <a:pt x="68" y="114"/>
                  </a:lnTo>
                  <a:lnTo>
                    <a:pt x="142" y="151"/>
                  </a:lnTo>
                  <a:lnTo>
                    <a:pt x="216" y="159"/>
                  </a:lnTo>
                  <a:lnTo>
                    <a:pt x="983" y="157"/>
                  </a:lnTo>
                </a:path>
              </a:pathLst>
            </a:custGeom>
            <a:noFill/>
            <a:ln w="28575"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Line 106"/>
            <p:cNvSpPr>
              <a:spLocks noChangeShapeType="1"/>
            </p:cNvSpPr>
            <p:nvPr/>
          </p:nvSpPr>
          <p:spPr bwMode="auto">
            <a:xfrm flipH="1">
              <a:off x="4150" y="2115"/>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5" name="Object 107"/>
            <p:cNvGraphicFramePr>
              <a:graphicFrameLocks noChangeAspect="1"/>
            </p:cNvGraphicFramePr>
            <p:nvPr/>
          </p:nvGraphicFramePr>
          <p:xfrm>
            <a:off x="3696" y="2614"/>
            <a:ext cx="332" cy="226"/>
          </p:xfrm>
          <a:graphic>
            <a:graphicData uri="http://schemas.openxmlformats.org/presentationml/2006/ole">
              <mc:AlternateContent xmlns:mc="http://schemas.openxmlformats.org/markup-compatibility/2006">
                <mc:Choice xmlns:v="urn:schemas-microsoft-com:vml" Requires="v">
                  <p:oleObj spid="_x0000_s169227" name="公式" r:id="rId53" imgW="317087" imgH="215619" progId="Equation.3">
                    <p:embed/>
                  </p:oleObj>
                </mc:Choice>
                <mc:Fallback>
                  <p:oleObj name="公式" r:id="rId53" imgW="317087" imgH="215619" progId="Equation.3">
                    <p:embed/>
                    <p:pic>
                      <p:nvPicPr>
                        <p:cNvPr id="32822" name="Object 107"/>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3696" y="2614"/>
                          <a:ext cx="332" cy="2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6" name="Line 108"/>
            <p:cNvSpPr>
              <a:spLocks noChangeShapeType="1"/>
            </p:cNvSpPr>
            <p:nvPr/>
          </p:nvSpPr>
          <p:spPr bwMode="auto">
            <a:xfrm>
              <a:off x="4150" y="2364"/>
              <a:ext cx="91"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Line 109"/>
            <p:cNvSpPr>
              <a:spLocks noChangeShapeType="1"/>
            </p:cNvSpPr>
            <p:nvPr/>
          </p:nvSpPr>
          <p:spPr bwMode="auto">
            <a:xfrm>
              <a:off x="4332" y="3203"/>
              <a:ext cx="181" cy="0"/>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Line 110"/>
            <p:cNvSpPr>
              <a:spLocks noChangeShapeType="1"/>
            </p:cNvSpPr>
            <p:nvPr/>
          </p:nvSpPr>
          <p:spPr bwMode="auto">
            <a:xfrm>
              <a:off x="4241" y="3203"/>
              <a:ext cx="91" cy="0"/>
            </a:xfrm>
            <a:prstGeom prst="line">
              <a:avLst/>
            </a:prstGeom>
            <a:noFill/>
            <a:ln w="952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9" name="Object 111"/>
            <p:cNvGraphicFramePr>
              <a:graphicFrameLocks noChangeAspect="1"/>
            </p:cNvGraphicFramePr>
            <p:nvPr/>
          </p:nvGraphicFramePr>
          <p:xfrm>
            <a:off x="4187" y="3249"/>
            <a:ext cx="190" cy="249"/>
          </p:xfrm>
          <a:graphic>
            <a:graphicData uri="http://schemas.openxmlformats.org/presentationml/2006/ole">
              <mc:AlternateContent xmlns:mc="http://schemas.openxmlformats.org/markup-compatibility/2006">
                <mc:Choice xmlns:v="urn:schemas-microsoft-com:vml" Requires="v">
                  <p:oleObj spid="_x0000_s169228" name="公式" r:id="rId55" imgW="164885" imgH="215619" progId="Equation.3">
                    <p:embed/>
                  </p:oleObj>
                </mc:Choice>
                <mc:Fallback>
                  <p:oleObj name="公式" r:id="rId55" imgW="164885" imgH="215619" progId="Equation.3">
                    <p:embed/>
                    <p:pic>
                      <p:nvPicPr>
                        <p:cNvPr id="32826" name="Object 111"/>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4187" y="3249"/>
                          <a:ext cx="190"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0" name="Object 112"/>
            <p:cNvGraphicFramePr>
              <a:graphicFrameLocks noChangeAspect="1"/>
            </p:cNvGraphicFramePr>
            <p:nvPr/>
          </p:nvGraphicFramePr>
          <p:xfrm>
            <a:off x="4353" y="3249"/>
            <a:ext cx="205" cy="249"/>
          </p:xfrm>
          <a:graphic>
            <a:graphicData uri="http://schemas.openxmlformats.org/presentationml/2006/ole">
              <mc:AlternateContent xmlns:mc="http://schemas.openxmlformats.org/markup-compatibility/2006">
                <mc:Choice xmlns:v="urn:schemas-microsoft-com:vml" Requires="v">
                  <p:oleObj spid="_x0000_s169229" name="公式" r:id="rId57" imgW="177569" imgH="215619" progId="Equation.3">
                    <p:embed/>
                  </p:oleObj>
                </mc:Choice>
                <mc:Fallback>
                  <p:oleObj name="公式" r:id="rId57" imgW="177569" imgH="215619" progId="Equation.3">
                    <p:embed/>
                    <p:pic>
                      <p:nvPicPr>
                        <p:cNvPr id="32827" name="Object 112"/>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4353" y="3249"/>
                          <a:ext cx="205"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1" name="Line 113"/>
            <p:cNvSpPr>
              <a:spLocks noChangeShapeType="1"/>
            </p:cNvSpPr>
            <p:nvPr/>
          </p:nvSpPr>
          <p:spPr bwMode="auto">
            <a:xfrm flipH="1">
              <a:off x="4014" y="2750"/>
              <a:ext cx="136"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 name="Line 114"/>
            <p:cNvSpPr>
              <a:spLocks noChangeShapeType="1"/>
            </p:cNvSpPr>
            <p:nvPr/>
          </p:nvSpPr>
          <p:spPr bwMode="auto">
            <a:xfrm flipV="1">
              <a:off x="4059" y="2750"/>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Line 115"/>
            <p:cNvSpPr>
              <a:spLocks noChangeShapeType="1"/>
            </p:cNvSpPr>
            <p:nvPr/>
          </p:nvSpPr>
          <p:spPr bwMode="auto">
            <a:xfrm>
              <a:off x="4059" y="2505"/>
              <a:ext cx="0" cy="13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4" name="Line 116"/>
            <p:cNvSpPr>
              <a:spLocks noChangeShapeType="1"/>
            </p:cNvSpPr>
            <p:nvPr/>
          </p:nvSpPr>
          <p:spPr bwMode="auto">
            <a:xfrm>
              <a:off x="4694" y="2886"/>
              <a:ext cx="181" cy="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 name="Freeform 117"/>
            <p:cNvSpPr>
              <a:spLocks/>
            </p:cNvSpPr>
            <p:nvPr/>
          </p:nvSpPr>
          <p:spPr bwMode="auto">
            <a:xfrm>
              <a:off x="4332" y="1562"/>
              <a:ext cx="983" cy="174"/>
            </a:xfrm>
            <a:custGeom>
              <a:avLst/>
              <a:gdLst>
                <a:gd name="T0" fmla="*/ 0 w 983"/>
                <a:gd name="T1" fmla="*/ 0 h 159"/>
                <a:gd name="T2" fmla="*/ 31 w 983"/>
                <a:gd name="T3" fmla="*/ 76 h 159"/>
                <a:gd name="T4" fmla="*/ 68 w 983"/>
                <a:gd name="T5" fmla="*/ 137 h 159"/>
                <a:gd name="T6" fmla="*/ 142 w 983"/>
                <a:gd name="T7" fmla="*/ 181 h 159"/>
                <a:gd name="T8" fmla="*/ 216 w 983"/>
                <a:gd name="T9" fmla="*/ 190 h 159"/>
                <a:gd name="T10" fmla="*/ 983 w 983"/>
                <a:gd name="T11" fmla="*/ 188 h 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83" h="159">
                  <a:moveTo>
                    <a:pt x="0" y="0"/>
                  </a:moveTo>
                  <a:lnTo>
                    <a:pt x="31" y="63"/>
                  </a:lnTo>
                  <a:lnTo>
                    <a:pt x="68" y="114"/>
                  </a:lnTo>
                  <a:lnTo>
                    <a:pt x="142" y="151"/>
                  </a:lnTo>
                  <a:lnTo>
                    <a:pt x="216" y="159"/>
                  </a:lnTo>
                  <a:lnTo>
                    <a:pt x="983" y="157"/>
                  </a:lnTo>
                </a:path>
              </a:pathLst>
            </a:custGeom>
            <a:noFill/>
            <a:ln w="9525" cap="flat" cmpd="sng">
              <a:solidFill>
                <a:srgbClr val="0000FF"/>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1" i="0" u="sng" strike="noStrike" kern="0" cap="none" spc="0" normalizeH="0" baseline="0" noProof="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96" name="Rectangle 120"/>
          <p:cNvSpPr>
            <a:spLocks noChangeArrowheads="1"/>
          </p:cNvSpPr>
          <p:nvPr/>
        </p:nvSpPr>
        <p:spPr bwMode="auto">
          <a:xfrm>
            <a:off x="148948" y="5537712"/>
            <a:ext cx="8964612"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latin typeface="Times New Roman" panose="02020603050405020304" pitchFamily="18" charset="0"/>
                <a:cs typeface="Times New Roman" panose="02020603050405020304" pitchFamily="18" charset="0"/>
                <a:sym typeface="Symbol" panose="05050102010706020507" pitchFamily="18" charset="2"/>
              </a:rPr>
              <a:t>－同型异质结中，一般必有一边成为积累层，而另一边形成耗尽层</a:t>
            </a:r>
          </a:p>
        </p:txBody>
      </p:sp>
      <p:graphicFrame>
        <p:nvGraphicFramePr>
          <p:cNvPr id="97" name="Object 121"/>
          <p:cNvGraphicFramePr>
            <a:graphicFrameLocks noChangeAspect="1"/>
          </p:cNvGraphicFramePr>
          <p:nvPr>
            <p:extLst>
              <p:ext uri="{D42A27DB-BD31-4B8C-83A1-F6EECF244321}">
                <p14:modId xmlns:p14="http://schemas.microsoft.com/office/powerpoint/2010/main" val="3059445346"/>
              </p:ext>
            </p:extLst>
          </p:nvPr>
        </p:nvGraphicFramePr>
        <p:xfrm>
          <a:off x="688698" y="4210562"/>
          <a:ext cx="1728787" cy="419100"/>
        </p:xfrm>
        <a:graphic>
          <a:graphicData uri="http://schemas.openxmlformats.org/presentationml/2006/ole">
            <mc:AlternateContent xmlns:mc="http://schemas.openxmlformats.org/markup-compatibility/2006">
              <mc:Choice xmlns:v="urn:schemas-microsoft-com:vml" Requires="v">
                <p:oleObj spid="_x0000_s169230" name="公式" r:id="rId59" imgW="888614" imgH="215806" progId="Equation.3">
                  <p:embed/>
                </p:oleObj>
              </mc:Choice>
              <mc:Fallback>
                <p:oleObj name="公式" r:id="rId59" imgW="888614" imgH="215806" progId="Equation.3">
                  <p:embed/>
                  <p:pic>
                    <p:nvPicPr>
                      <p:cNvPr id="32776" name="Object 121"/>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688698" y="4210562"/>
                        <a:ext cx="1728787" cy="4191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8" name="Object 122"/>
          <p:cNvGraphicFramePr>
            <a:graphicFrameLocks noChangeAspect="1"/>
          </p:cNvGraphicFramePr>
          <p:nvPr>
            <p:extLst>
              <p:ext uri="{D42A27DB-BD31-4B8C-83A1-F6EECF244321}">
                <p14:modId xmlns:p14="http://schemas.microsoft.com/office/powerpoint/2010/main" val="3779669868"/>
              </p:ext>
            </p:extLst>
          </p:nvPr>
        </p:nvGraphicFramePr>
        <p:xfrm>
          <a:off x="2561948" y="4210562"/>
          <a:ext cx="1555750" cy="444500"/>
        </p:xfrm>
        <a:graphic>
          <a:graphicData uri="http://schemas.openxmlformats.org/presentationml/2006/ole">
            <mc:AlternateContent xmlns:mc="http://schemas.openxmlformats.org/markup-compatibility/2006">
              <mc:Choice xmlns:v="urn:schemas-microsoft-com:vml" Requires="v">
                <p:oleObj spid="_x0000_s169231" name="公式" r:id="rId61" imgW="800100" imgH="228600" progId="Equation.3">
                  <p:embed/>
                </p:oleObj>
              </mc:Choice>
              <mc:Fallback>
                <p:oleObj name="公式" r:id="rId61" imgW="800100" imgH="228600" progId="Equation.3">
                  <p:embed/>
                  <p:pic>
                    <p:nvPicPr>
                      <p:cNvPr id="32777" name="Object 122"/>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561948" y="4210562"/>
                        <a:ext cx="1555750" cy="4445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9" name="Object 123"/>
          <p:cNvGraphicFramePr>
            <a:graphicFrameLocks noChangeAspect="1"/>
          </p:cNvGraphicFramePr>
          <p:nvPr>
            <p:extLst>
              <p:ext uri="{D42A27DB-BD31-4B8C-83A1-F6EECF244321}">
                <p14:modId xmlns:p14="http://schemas.microsoft.com/office/powerpoint/2010/main" val="3968020832"/>
              </p:ext>
            </p:extLst>
          </p:nvPr>
        </p:nvGraphicFramePr>
        <p:xfrm>
          <a:off x="688698" y="4748725"/>
          <a:ext cx="2690812" cy="469900"/>
        </p:xfrm>
        <a:graphic>
          <a:graphicData uri="http://schemas.openxmlformats.org/presentationml/2006/ole">
            <mc:AlternateContent xmlns:mc="http://schemas.openxmlformats.org/markup-compatibility/2006">
              <mc:Choice xmlns:v="urn:schemas-microsoft-com:vml" Requires="v">
                <p:oleObj spid="_x0000_s169232" name="公式" r:id="rId63" imgW="1384300" imgH="241300" progId="Equation.3">
                  <p:embed/>
                </p:oleObj>
              </mc:Choice>
              <mc:Fallback>
                <p:oleObj name="公式" r:id="rId63" imgW="1384300" imgH="241300" progId="Equation.3">
                  <p:embed/>
                  <p:pic>
                    <p:nvPicPr>
                      <p:cNvPr id="32778" name="Object 123"/>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688698" y="4748725"/>
                        <a:ext cx="2690812" cy="4699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4007263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45</a:t>
            </a:fld>
            <a:endParaRPr lang="zh-CN" altLang="en-US"/>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487" y="3887153"/>
            <a:ext cx="409892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pic>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974" y="2258378"/>
            <a:ext cx="4810125"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
          <p:cNvSpPr txBox="1">
            <a:spLocks noChangeArrowheads="1"/>
          </p:cNvSpPr>
          <p:nvPr/>
        </p:nvSpPr>
        <p:spPr bwMode="auto">
          <a:xfrm>
            <a:off x="399487" y="582254"/>
            <a:ext cx="82073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正确画出异质结的能带结构，需要给出禁带宽度差、导带或价带差，才能获得。这些值的取得，需要利用能带计算和实验的对比，才能获得。</a:t>
            </a:r>
          </a:p>
        </p:txBody>
      </p:sp>
      <p:sp>
        <p:nvSpPr>
          <p:cNvPr id="6" name="Rectangle 4"/>
          <p:cNvSpPr>
            <a:spLocks noChangeArrowheads="1"/>
          </p:cNvSpPr>
          <p:nvPr/>
        </p:nvSpPr>
        <p:spPr bwMode="auto">
          <a:xfrm>
            <a:off x="399487" y="1706204"/>
            <a:ext cx="403225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defTabSz="914400" eaLnBrk="0" fontAlgn="base" hangingPunct="0">
              <a:spcBef>
                <a:spcPct val="50000"/>
              </a:spcBef>
              <a:spcAft>
                <a:spcPct val="0"/>
              </a:spcAft>
            </a:pPr>
            <a:r>
              <a:rPr kumimoji="1" lang="zh-CN" altLang="en-US" sz="2400" b="1" smtClean="0">
                <a:solidFill>
                  <a:srgbClr val="000000"/>
                </a:solidFill>
                <a:latin typeface="Times New Roman" panose="02020603050405020304" pitchFamily="18" charset="0"/>
                <a:ea typeface="宋体" panose="02010600030101010101" pitchFamily="2" charset="-122"/>
              </a:rPr>
              <a:t>可以假定：</a:t>
            </a:r>
            <a:r>
              <a:rPr kumimoji="1" lang="zh-CN" altLang="en-US" sz="2400" b="1" smtClean="0">
                <a:solidFill>
                  <a:srgbClr val="3333CC"/>
                </a:solidFill>
                <a:latin typeface="Times New Roman" panose="02020603050405020304" pitchFamily="18" charset="0"/>
                <a:ea typeface="宋体" panose="02010600030101010101" pitchFamily="2" charset="-122"/>
              </a:rPr>
              <a:t>导带的失调由材料的性质如亲和势或功函数的差决定，</a:t>
            </a:r>
            <a:r>
              <a:rPr kumimoji="1" lang="zh-CN" altLang="en-US" sz="2400" b="1" smtClean="0">
                <a:solidFill>
                  <a:srgbClr val="000000"/>
                </a:solidFill>
                <a:latin typeface="Times New Roman" panose="02020603050405020304" pitchFamily="18" charset="0"/>
                <a:ea typeface="宋体" panose="02010600030101010101" pitchFamily="2" charset="-122"/>
              </a:rPr>
              <a:t>由此，在获得禁带宽度差的条件下，即可获得正确的能带结构。</a:t>
            </a:r>
          </a:p>
        </p:txBody>
      </p:sp>
    </p:spTree>
    <p:extLst>
      <p:ext uri="{BB962C8B-B14F-4D97-AF65-F5344CB8AC3E}">
        <p14:creationId xmlns:p14="http://schemas.microsoft.com/office/powerpoint/2010/main" val="3082520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46</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如果两种不同禁带宽度的半导体电子亲和能相同，那么它们形成的异质结导带底会出现什么情况？</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可能出现尖峰</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可能出现凹槽</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平滑的弯曲</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以上情况都有可能</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343286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47</a:t>
            </a:fld>
            <a:endParaRPr lang="zh-CN" altLang="en-US"/>
          </a:p>
        </p:txBody>
      </p:sp>
      <p:sp>
        <p:nvSpPr>
          <p:cNvPr id="3" name="Text Box 2"/>
          <p:cNvSpPr txBox="1">
            <a:spLocks noChangeArrowheads="1"/>
          </p:cNvSpPr>
          <p:nvPr/>
        </p:nvSpPr>
        <p:spPr bwMode="auto">
          <a:xfrm>
            <a:off x="250108" y="700343"/>
            <a:ext cx="6319838"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smtClean="0">
                <a:solidFill>
                  <a:srgbClr val="A50021"/>
                </a:solidFill>
                <a:latin typeface="Times New Roman" panose="02020603050405020304" pitchFamily="18" charset="0"/>
                <a:cs typeface="Times New Roman" panose="02020603050405020304" pitchFamily="18" charset="0"/>
              </a:rPr>
              <a:t>量子阱</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zh-CN" altLang="en-US" sz="2400" b="1" smtClean="0">
                <a:solidFill>
                  <a:prstClr val="black"/>
                </a:solidFill>
                <a:latin typeface="Times New Roman" panose="02020603050405020304" pitchFamily="18" charset="0"/>
                <a:cs typeface="Times New Roman" panose="02020603050405020304" pitchFamily="18" charset="0"/>
              </a:rPr>
              <a:t>电子能量量子化的势阱。</a:t>
            </a: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    以 </a:t>
            </a:r>
            <a:r>
              <a:rPr kumimoji="1" lang="en-US" altLang="zh-CN" sz="2400" b="1" smtClean="0">
                <a:solidFill>
                  <a:prstClr val="black"/>
                </a:solidFill>
                <a:latin typeface="Times New Roman" panose="02020603050405020304" pitchFamily="18" charset="0"/>
                <a:cs typeface="Times New Roman" panose="02020603050405020304" pitchFamily="18" charset="0"/>
              </a:rPr>
              <a:t>N-AlAs </a:t>
            </a:r>
            <a:r>
              <a:rPr kumimoji="1" lang="zh-CN" altLang="en-US" sz="2400" b="1" smtClean="0">
                <a:solidFill>
                  <a:prstClr val="black"/>
                </a:solidFill>
                <a:latin typeface="Times New Roman" panose="02020603050405020304" pitchFamily="18" charset="0"/>
                <a:cs typeface="Times New Roman" panose="02020603050405020304" pitchFamily="18" charset="0"/>
              </a:rPr>
              <a:t>和 </a:t>
            </a:r>
            <a:r>
              <a:rPr kumimoji="1" lang="en-US" altLang="zh-CN" sz="2400" b="1" smtClean="0">
                <a:solidFill>
                  <a:prstClr val="black"/>
                </a:solidFill>
                <a:latin typeface="Times New Roman" panose="02020603050405020304" pitchFamily="18" charset="0"/>
                <a:cs typeface="Times New Roman" panose="02020603050405020304" pitchFamily="18" charset="0"/>
              </a:rPr>
              <a:t>p-GaAs </a:t>
            </a:r>
            <a:r>
              <a:rPr kumimoji="1" lang="zh-CN" altLang="en-US" sz="2400" b="1" smtClean="0">
                <a:solidFill>
                  <a:prstClr val="black"/>
                </a:solidFill>
                <a:latin typeface="Times New Roman" panose="02020603050405020304" pitchFamily="18" charset="0"/>
                <a:cs typeface="Times New Roman" panose="02020603050405020304" pitchFamily="18" charset="0"/>
              </a:rPr>
              <a:t>异质结为例，结的</a:t>
            </a:r>
            <a:r>
              <a:rPr kumimoji="1" lang="en-US" altLang="zh-CN" sz="2400" b="1" smtClean="0">
                <a:solidFill>
                  <a:prstClr val="black"/>
                </a:solidFill>
                <a:latin typeface="Times New Roman" panose="02020603050405020304" pitchFamily="18" charset="0"/>
                <a:cs typeface="Times New Roman" panose="02020603050405020304" pitchFamily="18" charset="0"/>
              </a:rPr>
              <a:t>GaAs</a:t>
            </a:r>
            <a:r>
              <a:rPr kumimoji="1" lang="zh-CN" altLang="en-US" sz="2400" b="1" smtClean="0">
                <a:solidFill>
                  <a:prstClr val="black"/>
                </a:solidFill>
                <a:latin typeface="Times New Roman" panose="02020603050405020304" pitchFamily="18" charset="0"/>
                <a:cs typeface="Times New Roman" panose="02020603050405020304" pitchFamily="18" charset="0"/>
              </a:rPr>
              <a:t>一边为电子势阱，当阱宽与电子波长相当时，电子在 </a:t>
            </a:r>
            <a:r>
              <a:rPr kumimoji="1" lang="en-US" altLang="zh-CN" sz="2400" b="1" i="1" smtClean="0">
                <a:solidFill>
                  <a:prstClr val="black"/>
                </a:solidFill>
                <a:latin typeface="Times New Roman" panose="02020603050405020304" pitchFamily="18" charset="0"/>
                <a:cs typeface="Times New Roman" panose="02020603050405020304" pitchFamily="18" charset="0"/>
              </a:rPr>
              <a:t>z </a:t>
            </a:r>
            <a:r>
              <a:rPr kumimoji="1" lang="zh-CN" altLang="en-US" sz="2400" b="1" smtClean="0">
                <a:solidFill>
                  <a:prstClr val="black"/>
                </a:solidFill>
                <a:latin typeface="Times New Roman" panose="02020603050405020304" pitchFamily="18" charset="0"/>
                <a:cs typeface="Times New Roman" panose="02020603050405020304" pitchFamily="18" charset="0"/>
              </a:rPr>
              <a:t>方向的运动量子化。</a:t>
            </a: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    解一维（</a:t>
            </a:r>
            <a:r>
              <a:rPr kumimoji="1" lang="en-US" altLang="zh-CN" sz="2400" b="1" i="1" smtClean="0">
                <a:solidFill>
                  <a:prstClr val="black"/>
                </a:solidFill>
                <a:latin typeface="Times New Roman" panose="02020603050405020304" pitchFamily="18" charset="0"/>
                <a:cs typeface="Times New Roman" panose="02020603050405020304" pitchFamily="18" charset="0"/>
              </a:rPr>
              <a:t>z</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方向）薛定谔方程，可得波函数和量子化能级。</a:t>
            </a:r>
          </a:p>
        </p:txBody>
      </p:sp>
      <p:graphicFrame>
        <p:nvGraphicFramePr>
          <p:cNvPr id="4" name="Object 2"/>
          <p:cNvGraphicFramePr>
            <a:graphicFrameLocks noChangeAspect="1"/>
          </p:cNvGraphicFramePr>
          <p:nvPr>
            <p:extLst>
              <p:ext uri="{D42A27DB-BD31-4B8C-83A1-F6EECF244321}">
                <p14:modId xmlns:p14="http://schemas.microsoft.com/office/powerpoint/2010/main" val="1939079946"/>
              </p:ext>
            </p:extLst>
          </p:nvPr>
        </p:nvGraphicFramePr>
        <p:xfrm>
          <a:off x="7036671" y="854331"/>
          <a:ext cx="1733550" cy="2209800"/>
        </p:xfrm>
        <a:graphic>
          <a:graphicData uri="http://schemas.openxmlformats.org/presentationml/2006/ole">
            <mc:AlternateContent xmlns:mc="http://schemas.openxmlformats.org/markup-compatibility/2006">
              <mc:Choice xmlns:v="urn:schemas-microsoft-com:vml" Requires="v">
                <p:oleObj spid="_x0000_s74853" name="位图图像" r:id="rId3" imgW="3400900" imgH="4334480" progId="PBrush">
                  <p:embed/>
                </p:oleObj>
              </mc:Choice>
              <mc:Fallback>
                <p:oleObj name="位图图像" r:id="rId3" imgW="3400900" imgH="4334480" progId="PBrush">
                  <p:embed/>
                  <p:pic>
                    <p:nvPicPr>
                      <p:cNvPr id="3686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6671" y="854331"/>
                        <a:ext cx="17335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13"/>
          <p:cNvSpPr txBox="1">
            <a:spLocks noChangeArrowheads="1"/>
          </p:cNvSpPr>
          <p:nvPr/>
        </p:nvSpPr>
        <p:spPr bwMode="auto">
          <a:xfrm>
            <a:off x="250108" y="4478593"/>
            <a:ext cx="632460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10000"/>
              </a:lnSpc>
              <a:spcBef>
                <a:spcPct val="0"/>
              </a:spcBef>
              <a:spcAft>
                <a:spcPct val="0"/>
              </a:spcAft>
              <a:buFontTx/>
              <a:buNone/>
            </a:pPr>
            <a:r>
              <a:rPr kumimoji="1" lang="en-US" altLang="zh-CN" sz="2400" b="1" i="1" smtClean="0">
                <a:solidFill>
                  <a:prstClr val="black"/>
                </a:solidFill>
                <a:latin typeface="Times New Roman" panose="02020603050405020304" pitchFamily="18" charset="0"/>
                <a:cs typeface="Times New Roman" panose="02020603050405020304" pitchFamily="18" charset="0"/>
              </a:rPr>
              <a:t>    xy</a:t>
            </a:r>
            <a:r>
              <a:rPr kumimoji="1" lang="zh-CN" altLang="en-US" sz="2400" b="1" smtClean="0">
                <a:solidFill>
                  <a:prstClr val="black"/>
                </a:solidFill>
                <a:latin typeface="Times New Roman" panose="02020603050405020304" pitchFamily="18" charset="0"/>
                <a:cs typeface="Times New Roman" panose="02020603050405020304" pitchFamily="18" charset="0"/>
              </a:rPr>
              <a:t>平面仍存在平移对称性，因此与每一个分立能值</a:t>
            </a:r>
            <a:r>
              <a:rPr kumimoji="1" lang="en-US" altLang="zh-CN" sz="2400" b="1" i="1" smtClean="0">
                <a:solidFill>
                  <a:prstClr val="black"/>
                </a:solidFill>
                <a:latin typeface="Times New Roman" panose="02020603050405020304" pitchFamily="18" charset="0"/>
                <a:cs typeface="Times New Roman" panose="02020603050405020304" pitchFamily="18" charset="0"/>
              </a:rPr>
              <a:t>E</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z,n</a:t>
            </a:r>
            <a:r>
              <a:rPr kumimoji="1" lang="zh-CN" altLang="en-US" sz="2400" b="1" smtClean="0">
                <a:solidFill>
                  <a:prstClr val="black"/>
                </a:solidFill>
                <a:latin typeface="Times New Roman" panose="02020603050405020304" pitchFamily="18" charset="0"/>
                <a:cs typeface="Times New Roman" panose="02020603050405020304" pitchFamily="18" charset="0"/>
              </a:rPr>
              <a:t>相对应，形成一个子带，称为二维子带。</a:t>
            </a:r>
          </a:p>
        </p:txBody>
      </p:sp>
      <p:graphicFrame>
        <p:nvGraphicFramePr>
          <p:cNvPr id="6" name="Object 3"/>
          <p:cNvGraphicFramePr>
            <a:graphicFrameLocks noChangeAspect="1"/>
          </p:cNvGraphicFramePr>
          <p:nvPr>
            <p:extLst>
              <p:ext uri="{D42A27DB-BD31-4B8C-83A1-F6EECF244321}">
                <p14:modId xmlns:p14="http://schemas.microsoft.com/office/powerpoint/2010/main" val="3691080988"/>
              </p:ext>
            </p:extLst>
          </p:nvPr>
        </p:nvGraphicFramePr>
        <p:xfrm>
          <a:off x="7006508" y="3145093"/>
          <a:ext cx="1970088" cy="2895600"/>
        </p:xfrm>
        <a:graphic>
          <a:graphicData uri="http://schemas.openxmlformats.org/presentationml/2006/ole">
            <mc:AlternateContent xmlns:mc="http://schemas.openxmlformats.org/markup-compatibility/2006">
              <mc:Choice xmlns:v="urn:schemas-microsoft-com:vml" Requires="v">
                <p:oleObj spid="_x0000_s74854" name="位图图像" r:id="rId5" imgW="2838846" imgH="4277322" progId="PBrush">
                  <p:embed/>
                </p:oleObj>
              </mc:Choice>
              <mc:Fallback>
                <p:oleObj name="位图图像" r:id="rId5" imgW="2838846" imgH="4277322" progId="PBrush">
                  <p:embed/>
                  <p:pic>
                    <p:nvPicPr>
                      <p:cNvPr id="3687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6508" y="3145093"/>
                        <a:ext cx="197008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27302014"/>
              </p:ext>
            </p:extLst>
          </p:nvPr>
        </p:nvGraphicFramePr>
        <p:xfrm>
          <a:off x="1672508" y="3100643"/>
          <a:ext cx="3744913" cy="1287463"/>
        </p:xfrm>
        <a:graphic>
          <a:graphicData uri="http://schemas.openxmlformats.org/presentationml/2006/ole">
            <mc:AlternateContent xmlns:mc="http://schemas.openxmlformats.org/markup-compatibility/2006">
              <mc:Choice xmlns:v="urn:schemas-microsoft-com:vml" Requires="v">
                <p:oleObj spid="_x0000_s74855" name="Equation" r:id="rId7" imgW="1180588" imgH="406224" progId="Equation.3">
                  <p:embed/>
                </p:oleObj>
              </mc:Choice>
              <mc:Fallback>
                <p:oleObj name="Equation" r:id="rId7" imgW="1180588" imgH="406224" progId="Equation.3">
                  <p:embed/>
                  <p:pic>
                    <p:nvPicPr>
                      <p:cNvPr id="36871"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2508" y="3100643"/>
                        <a:ext cx="3744913"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43438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48</a:t>
            </a:fld>
            <a:endParaRPr lang="zh-CN" altLang="en-US"/>
          </a:p>
        </p:txBody>
      </p:sp>
      <p:sp>
        <p:nvSpPr>
          <p:cNvPr id="3" name="Text Box 2"/>
          <p:cNvSpPr txBox="1">
            <a:spLocks noChangeArrowheads="1"/>
          </p:cNvSpPr>
          <p:nvPr/>
        </p:nvSpPr>
        <p:spPr bwMode="auto">
          <a:xfrm>
            <a:off x="155217" y="754011"/>
            <a:ext cx="8839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Clr>
                <a:srgbClr val="A50021"/>
              </a:buClr>
              <a:buFont typeface="Wingdings" panose="05000000000000000000" pitchFamily="2" charset="2"/>
              <a:buChar char="§"/>
            </a:pP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srgbClr val="A50021"/>
                </a:solidFill>
                <a:latin typeface="Times New Roman" panose="02020603050405020304" pitchFamily="18" charset="0"/>
                <a:cs typeface="Times New Roman" panose="02020603050405020304" pitchFamily="18" charset="0"/>
              </a:rPr>
              <a:t>超晶格</a:t>
            </a:r>
          </a:p>
          <a:p>
            <a:pPr defTabSz="914400" fontAlgn="base">
              <a:spcBef>
                <a:spcPct val="0"/>
              </a:spcBef>
              <a:spcAft>
                <a:spcPct val="0"/>
              </a:spcAft>
              <a:buClr>
                <a:srgbClr val="A50021"/>
              </a:buClr>
              <a:buFont typeface="Wingdings" panose="05000000000000000000" pitchFamily="2" charset="2"/>
              <a:buNone/>
            </a:pPr>
            <a:r>
              <a:rPr kumimoji="1" lang="zh-CN" altLang="en-US" sz="2400" b="1" smtClean="0">
                <a:solidFill>
                  <a:prstClr val="black"/>
                </a:solidFill>
                <a:latin typeface="Times New Roman" panose="02020603050405020304" pitchFamily="18" charset="0"/>
                <a:cs typeface="Times New Roman" panose="02020603050405020304" pitchFamily="18" charset="0"/>
              </a:rPr>
              <a:t>    如图所示，</a:t>
            </a:r>
            <a:r>
              <a:rPr kumimoji="1" lang="zh-CN" altLang="en-US" sz="2400" b="1" smtClean="0">
                <a:solidFill>
                  <a:srgbClr val="A50021"/>
                </a:solidFill>
                <a:latin typeface="Times New Roman" panose="02020603050405020304" pitchFamily="18" charset="0"/>
                <a:cs typeface="Times New Roman" panose="02020603050405020304" pitchFamily="18" charset="0"/>
              </a:rPr>
              <a:t>周期性</a:t>
            </a:r>
            <a:r>
              <a:rPr kumimoji="1" lang="zh-CN" altLang="en-US" sz="2400" b="1" smtClean="0">
                <a:solidFill>
                  <a:prstClr val="black"/>
                </a:solidFill>
                <a:latin typeface="Times New Roman" panose="02020603050405020304" pitchFamily="18" charset="0"/>
                <a:cs typeface="Times New Roman" panose="02020603050405020304" pitchFamily="18" charset="0"/>
              </a:rPr>
              <a:t>地交替生长两种半导体材料，形成</a:t>
            </a:r>
            <a:r>
              <a:rPr kumimoji="1" lang="zh-CN" altLang="en-US" sz="2400" b="1" smtClean="0">
                <a:solidFill>
                  <a:srgbClr val="A50021"/>
                </a:solidFill>
                <a:latin typeface="Times New Roman" panose="02020603050405020304" pitchFamily="18" charset="0"/>
                <a:cs typeface="Times New Roman" panose="02020603050405020304" pitchFamily="18" charset="0"/>
              </a:rPr>
              <a:t>一维</a:t>
            </a:r>
            <a:r>
              <a:rPr kumimoji="1" lang="zh-CN" altLang="en-US" sz="2400" b="1" smtClean="0">
                <a:solidFill>
                  <a:prstClr val="black"/>
                </a:solidFill>
                <a:latin typeface="Times New Roman" panose="02020603050405020304" pitchFamily="18" charset="0"/>
                <a:cs typeface="Times New Roman" panose="02020603050405020304" pitchFamily="18" charset="0"/>
              </a:rPr>
              <a:t>的</a:t>
            </a:r>
            <a:r>
              <a:rPr kumimoji="1" lang="zh-CN" altLang="en-US" sz="2400" b="1" smtClean="0">
                <a:solidFill>
                  <a:srgbClr val="A50021"/>
                </a:solidFill>
                <a:latin typeface="Times New Roman" panose="02020603050405020304" pitchFamily="18" charset="0"/>
                <a:cs typeface="Times New Roman" panose="02020603050405020304" pitchFamily="18" charset="0"/>
              </a:rPr>
              <a:t>多个量子阱</a:t>
            </a:r>
            <a:r>
              <a:rPr kumimoji="1" lang="zh-CN" altLang="en-US" sz="2400" b="1" smtClean="0">
                <a:solidFill>
                  <a:prstClr val="black"/>
                </a:solidFill>
                <a:latin typeface="Times New Roman" panose="02020603050405020304" pitchFamily="18" charset="0"/>
                <a:cs typeface="Times New Roman" panose="02020603050405020304" pitchFamily="18" charset="0"/>
              </a:rPr>
              <a:t>结构。</a:t>
            </a:r>
          </a:p>
        </p:txBody>
      </p:sp>
      <p:sp>
        <p:nvSpPr>
          <p:cNvPr id="4" name="Text Box 4"/>
          <p:cNvSpPr txBox="1">
            <a:spLocks noChangeArrowheads="1"/>
          </p:cNvSpPr>
          <p:nvPr/>
        </p:nvSpPr>
        <p:spPr bwMode="auto">
          <a:xfrm>
            <a:off x="515579" y="2003374"/>
            <a:ext cx="3392488"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阱宽：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z</a:t>
            </a:r>
            <a:endParaRPr kumimoji="1" lang="en-US" altLang="zh-CN" sz="2400" b="1" smtClean="0">
              <a:solidFill>
                <a:prstClr val="black"/>
              </a:solidFill>
              <a:latin typeface="Times New Roman" panose="02020603050405020304" pitchFamily="18" charset="0"/>
              <a:cs typeface="Times New Roman" panose="02020603050405020304" pitchFamily="18" charset="0"/>
            </a:endParaRP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势垒宽：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a:t>
            </a: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周期：</a:t>
            </a:r>
            <a:r>
              <a:rPr kumimoji="1" lang="en-US" altLang="zh-CN" sz="2400" b="1" i="1" smtClean="0">
                <a:solidFill>
                  <a:prstClr val="black"/>
                </a:solidFill>
                <a:latin typeface="Times New Roman" panose="02020603050405020304" pitchFamily="18" charset="0"/>
                <a:cs typeface="Times New Roman" panose="02020603050405020304" pitchFamily="18" charset="0"/>
              </a:rPr>
              <a:t>b</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z</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a:t>
            </a:r>
          </a:p>
        </p:txBody>
      </p:sp>
      <p:graphicFrame>
        <p:nvGraphicFramePr>
          <p:cNvPr id="5" name="Object 2"/>
          <p:cNvGraphicFramePr>
            <a:graphicFrameLocks noChangeAspect="1"/>
          </p:cNvGraphicFramePr>
          <p:nvPr>
            <p:extLst>
              <p:ext uri="{D42A27DB-BD31-4B8C-83A1-F6EECF244321}">
                <p14:modId xmlns:p14="http://schemas.microsoft.com/office/powerpoint/2010/main" val="3780021716"/>
              </p:ext>
            </p:extLst>
          </p:nvPr>
        </p:nvGraphicFramePr>
        <p:xfrm>
          <a:off x="4925654" y="1603324"/>
          <a:ext cx="3763963" cy="2370137"/>
        </p:xfrm>
        <a:graphic>
          <a:graphicData uri="http://schemas.openxmlformats.org/presentationml/2006/ole">
            <mc:AlternateContent xmlns:mc="http://schemas.openxmlformats.org/markup-compatibility/2006">
              <mc:Choice xmlns:v="urn:schemas-microsoft-com:vml" Requires="v">
                <p:oleObj spid="_x0000_s75811" name="位图图像" r:id="rId3" imgW="5210902" imgH="3200000" progId="PBrush">
                  <p:embed/>
                </p:oleObj>
              </mc:Choice>
              <mc:Fallback>
                <p:oleObj name="位图图像" r:id="rId3" imgW="5210902" imgH="3200000" progId="PBrush">
                  <p:embed/>
                  <p:pic>
                    <p:nvPicPr>
                      <p:cNvPr id="3789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5654" y="1603324"/>
                        <a:ext cx="3763963"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7"/>
          <p:cNvSpPr txBox="1">
            <a:spLocks noChangeArrowheads="1"/>
          </p:cNvSpPr>
          <p:nvPr/>
        </p:nvSpPr>
        <p:spPr bwMode="auto">
          <a:xfrm>
            <a:off x="496529" y="3881386"/>
            <a:ext cx="82296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Clr>
                <a:srgbClr val="A50021"/>
              </a:buClr>
              <a:buFontTx/>
              <a:buChar char="•"/>
            </a:pPr>
            <a:r>
              <a:rPr kumimoji="1" lang="en-US" altLang="zh-CN" sz="2400"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两种材料有相同类型的能带结构；</a:t>
            </a:r>
          </a:p>
          <a:p>
            <a:pPr defTabSz="914400" fontAlgn="base">
              <a:spcAft>
                <a:spcPct val="0"/>
              </a:spcAft>
              <a:buClr>
                <a:srgbClr val="A50021"/>
              </a:buClr>
              <a:buFontTx/>
              <a:buChar char="•"/>
            </a:pPr>
            <a:r>
              <a:rPr kumimoji="1" lang="zh-CN" altLang="en-US" sz="2400" b="1" smtClean="0">
                <a:solidFill>
                  <a:prstClr val="black"/>
                </a:solidFill>
                <a:latin typeface="Times New Roman" panose="02020603050405020304" pitchFamily="18" charset="0"/>
                <a:cs typeface="Times New Roman" panose="02020603050405020304" pitchFamily="18" charset="0"/>
              </a:rPr>
              <a:t> 两种材料的厚度一般为晶格常数 </a:t>
            </a:r>
            <a:r>
              <a:rPr kumimoji="1" lang="en-US" altLang="zh-CN" sz="2400" b="1" i="1" smtClean="0">
                <a:solidFill>
                  <a:prstClr val="black"/>
                </a:solidFill>
                <a:latin typeface="Times New Roman" panose="02020603050405020304" pitchFamily="18" charset="0"/>
                <a:cs typeface="Times New Roman" panose="02020603050405020304" pitchFamily="18" charset="0"/>
              </a:rPr>
              <a:t>a </a:t>
            </a:r>
            <a:r>
              <a:rPr kumimoji="1" lang="zh-CN" altLang="en-US" sz="2400" b="1" smtClean="0">
                <a:solidFill>
                  <a:prstClr val="black"/>
                </a:solidFill>
                <a:latin typeface="Times New Roman" panose="02020603050405020304" pitchFamily="18" charset="0"/>
                <a:cs typeface="Times New Roman" panose="02020603050405020304" pitchFamily="18" charset="0"/>
              </a:rPr>
              <a:t>的 </a:t>
            </a:r>
            <a:r>
              <a:rPr kumimoji="1" lang="en-US" altLang="zh-CN" sz="2400" b="1" smtClean="0">
                <a:solidFill>
                  <a:prstClr val="black"/>
                </a:solidFill>
                <a:latin typeface="Times New Roman" panose="02020603050405020304" pitchFamily="18" charset="0"/>
                <a:cs typeface="Times New Roman" panose="02020603050405020304" pitchFamily="18" charset="0"/>
              </a:rPr>
              <a:t>2~20 </a:t>
            </a:r>
            <a:r>
              <a:rPr kumimoji="1" lang="zh-CN" altLang="en-US" sz="2400" b="1" smtClean="0">
                <a:solidFill>
                  <a:prstClr val="black"/>
                </a:solidFill>
                <a:latin typeface="Times New Roman" panose="02020603050405020304" pitchFamily="18" charset="0"/>
                <a:cs typeface="Times New Roman" panose="02020603050405020304" pitchFamily="18" charset="0"/>
              </a:rPr>
              <a:t>倍；</a:t>
            </a:r>
          </a:p>
          <a:p>
            <a:pPr defTabSz="914400" fontAlgn="base">
              <a:spcAft>
                <a:spcPct val="0"/>
              </a:spcAft>
              <a:buClr>
                <a:srgbClr val="A50021"/>
              </a:buClr>
              <a:buFontTx/>
              <a:buChar char="•"/>
            </a:pPr>
            <a:r>
              <a:rPr kumimoji="1" lang="zh-CN" altLang="en-US"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z</a:t>
            </a:r>
            <a:r>
              <a:rPr kumimoji="1" lang="zh-CN" altLang="en-US" sz="2400" b="1" smtClean="0">
                <a:solidFill>
                  <a:prstClr val="black"/>
                </a:solidFill>
                <a:latin typeface="Times New Roman" panose="02020603050405020304" pitchFamily="18" charset="0"/>
                <a:cs typeface="Times New Roman" panose="02020603050405020304" pitchFamily="18" charset="0"/>
              </a:rPr>
              <a:t>方向上结构周期性变化，且 </a:t>
            </a:r>
            <a:r>
              <a:rPr kumimoji="1" lang="en-US" altLang="zh-CN" sz="2400" b="1" i="1" smtClean="0">
                <a:solidFill>
                  <a:prstClr val="black"/>
                </a:solidFill>
                <a:latin typeface="Times New Roman" panose="02020603050405020304" pitchFamily="18" charset="0"/>
                <a:cs typeface="Times New Roman" panose="02020603050405020304" pitchFamily="18" charset="0"/>
              </a:rPr>
              <a:t>a </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b </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a:p>
            <a:pPr defTabSz="914400" fontAlgn="base">
              <a:spcAft>
                <a:spcPct val="0"/>
              </a:spcAft>
              <a:buClr>
                <a:srgbClr val="A50021"/>
              </a:buClr>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   （ </a:t>
            </a:r>
            <a:r>
              <a:rPr kumimoji="1" lang="en-US" altLang="zh-CN" sz="2400" b="1" i="1" smtClean="0">
                <a:solidFill>
                  <a:prstClr val="black"/>
                </a:solidFill>
                <a:latin typeface="Times New Roman" panose="02020603050405020304" pitchFamily="18" charset="0"/>
                <a:cs typeface="Times New Roman" panose="02020603050405020304" pitchFamily="18" charset="0"/>
              </a:rPr>
              <a:t>a </a:t>
            </a:r>
            <a:r>
              <a:rPr kumimoji="1" lang="zh-CN" altLang="en-US"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a</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1</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zh-CN" altLang="en-US" sz="2400" b="1" i="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a</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2</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srgbClr val="1F497D"/>
                </a:solidFill>
                <a:latin typeface="Times New Roman" panose="02020603050405020304" pitchFamily="18" charset="0"/>
                <a:cs typeface="Times New Roman" panose="02020603050405020304" pitchFamily="18" charset="0"/>
              </a:rPr>
              <a:t>l</a:t>
            </a:r>
            <a:r>
              <a:rPr kumimoji="1" lang="en-US" altLang="zh-CN" sz="2400" b="1" smtClean="0">
                <a:solidFill>
                  <a:srgbClr val="1F497D"/>
                </a:solidFill>
                <a:latin typeface="Times New Roman" panose="02020603050405020304" pitchFamily="18" charset="0"/>
                <a:cs typeface="Times New Roman" panose="02020603050405020304" pitchFamily="18" charset="0"/>
              </a:rPr>
              <a:t> </a:t>
            </a:r>
            <a:r>
              <a:rPr kumimoji="1" lang="zh-CN" altLang="en-US" sz="2400" b="1" smtClean="0">
                <a:solidFill>
                  <a:srgbClr val="1F497D"/>
                </a:solidFill>
                <a:latin typeface="Times New Roman" panose="02020603050405020304" pitchFamily="18" charset="0"/>
                <a:cs typeface="Times New Roman" panose="02020603050405020304" pitchFamily="18" charset="0"/>
              </a:rPr>
              <a:t>为电子平均自由程）</a:t>
            </a:r>
            <a:r>
              <a:rPr kumimoji="1" lang="zh-CN" altLang="en-US" sz="2400" b="1" i="1" smtClean="0">
                <a:solidFill>
                  <a:prstClr val="black"/>
                </a:solidFill>
                <a:latin typeface="Times New Roman" panose="02020603050405020304" pitchFamily="18" charset="0"/>
                <a:cs typeface="Times New Roman" panose="02020603050405020304" pitchFamily="18" charset="0"/>
              </a:rPr>
              <a:t> </a:t>
            </a:r>
          </a:p>
        </p:txBody>
      </p:sp>
      <p:sp>
        <p:nvSpPr>
          <p:cNvPr id="7" name="Text Box 8"/>
          <p:cNvSpPr txBox="1">
            <a:spLocks noChangeArrowheads="1"/>
          </p:cNvSpPr>
          <p:nvPr/>
        </p:nvSpPr>
        <p:spPr bwMode="auto">
          <a:xfrm>
            <a:off x="231417" y="3351161"/>
            <a:ext cx="396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如果该结构满足：</a:t>
            </a:r>
          </a:p>
        </p:txBody>
      </p:sp>
      <p:sp>
        <p:nvSpPr>
          <p:cNvPr id="8" name="Text Box 9"/>
          <p:cNvSpPr txBox="1">
            <a:spLocks noChangeArrowheads="1"/>
          </p:cNvSpPr>
          <p:nvPr/>
        </p:nvSpPr>
        <p:spPr bwMode="auto">
          <a:xfrm>
            <a:off x="496529" y="5672086"/>
            <a:ext cx="4559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则为</a:t>
            </a:r>
            <a:r>
              <a:rPr kumimoji="1" lang="zh-CN" altLang="en-US" sz="2400" b="1" smtClean="0">
                <a:solidFill>
                  <a:srgbClr val="A50021"/>
                </a:solidFill>
                <a:latin typeface="Times New Roman" panose="02020603050405020304" pitchFamily="18" charset="0"/>
                <a:cs typeface="Times New Roman" panose="02020603050405020304" pitchFamily="18" charset="0"/>
              </a:rPr>
              <a:t>超晶格</a:t>
            </a:r>
            <a:r>
              <a:rPr kumimoji="1" lang="zh-CN" altLang="en-US" sz="2400" b="1" smtClean="0">
                <a:solidFill>
                  <a:prstClr val="black"/>
                </a:solidFill>
                <a:latin typeface="Times New Roman" panose="02020603050405020304" pitchFamily="18" charset="0"/>
                <a:cs typeface="Times New Roman" panose="02020603050405020304" pitchFamily="18" charset="0"/>
              </a:rPr>
              <a:t>结构。</a:t>
            </a:r>
          </a:p>
        </p:txBody>
      </p:sp>
    </p:spTree>
    <p:extLst>
      <p:ext uri="{BB962C8B-B14F-4D97-AF65-F5344CB8AC3E}">
        <p14:creationId xmlns:p14="http://schemas.microsoft.com/office/powerpoint/2010/main" val="1243479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49</a:t>
            </a:fld>
            <a:endParaRPr lang="zh-CN" altLang="en-US"/>
          </a:p>
        </p:txBody>
      </p:sp>
      <p:sp>
        <p:nvSpPr>
          <p:cNvPr id="3" name="Text Box 2"/>
          <p:cNvSpPr txBox="1">
            <a:spLocks noChangeArrowheads="1"/>
          </p:cNvSpPr>
          <p:nvPr/>
        </p:nvSpPr>
        <p:spPr bwMode="auto">
          <a:xfrm>
            <a:off x="152400" y="619074"/>
            <a:ext cx="899160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smtClean="0">
                <a:solidFill>
                  <a:srgbClr val="A50021"/>
                </a:solidFill>
                <a:latin typeface="Times New Roman" panose="02020603050405020304" pitchFamily="18" charset="0"/>
                <a:cs typeface="Times New Roman" panose="02020603050405020304" pitchFamily="18" charset="0"/>
              </a:rPr>
              <a:t>超晶格</a:t>
            </a:r>
            <a:endParaRPr kumimoji="1" lang="zh-CN" altLang="en-US" sz="2400" b="1" smtClean="0">
              <a:solidFill>
                <a:prstClr val="black"/>
              </a:solidFill>
              <a:latin typeface="Times New Roman" panose="02020603050405020304" pitchFamily="18" charset="0"/>
              <a:cs typeface="Times New Roman" panose="02020603050405020304" pitchFamily="18" charset="0"/>
            </a:endParaRP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        周期性地交替生长两种半导体材料形成的人造的、周期远大于自然晶格的一维晶格（ 要求 </a:t>
            </a:r>
            <a:r>
              <a:rPr kumimoji="1" lang="en-US" altLang="zh-CN" sz="2400" b="1" i="1" smtClean="0">
                <a:solidFill>
                  <a:prstClr val="black"/>
                </a:solidFill>
                <a:latin typeface="Times New Roman" panose="02020603050405020304" pitchFamily="18" charset="0"/>
                <a:cs typeface="Times New Roman" panose="02020603050405020304" pitchFamily="18" charset="0"/>
              </a:rPr>
              <a:t>a </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b </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sp>
        <p:nvSpPr>
          <p:cNvPr id="4" name="Text Box 3"/>
          <p:cNvSpPr txBox="1">
            <a:spLocks noChangeArrowheads="1"/>
          </p:cNvSpPr>
          <p:nvPr/>
        </p:nvSpPr>
        <p:spPr bwMode="auto">
          <a:xfrm>
            <a:off x="152400" y="1984324"/>
            <a:ext cx="838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讨论：为什么要求 </a:t>
            </a:r>
            <a:r>
              <a:rPr kumimoji="1" lang="en-US" altLang="zh-CN" sz="2400" b="1" i="1" smtClean="0">
                <a:solidFill>
                  <a:prstClr val="black"/>
                </a:solidFill>
                <a:latin typeface="Times New Roman" panose="02020603050405020304" pitchFamily="18" charset="0"/>
                <a:cs typeface="Times New Roman" panose="02020603050405020304" pitchFamily="18" charset="0"/>
              </a:rPr>
              <a:t>b </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（即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z</a:t>
            </a:r>
            <a:r>
              <a:rPr kumimoji="1" lang="en-US" altLang="zh-CN" sz="2400" b="1" smtClean="0">
                <a:solidFill>
                  <a:prstClr val="black"/>
                </a:solidFill>
                <a:latin typeface="Times New Roman" panose="02020603050405020304" pitchFamily="18" charset="0"/>
                <a:cs typeface="Times New Roman" panose="02020603050405020304" pitchFamily="18" charset="0"/>
              </a:rPr>
              <a:t> &lt;&lt; </a:t>
            </a:r>
            <a:r>
              <a:rPr kumimoji="1" lang="en-US" altLang="zh-CN" sz="2400" b="1" i="1" smtClean="0">
                <a:solidFill>
                  <a:prstClr val="black"/>
                </a:solidFill>
                <a:latin typeface="Times New Roman" panose="02020603050405020304" pitchFamily="18" charset="0"/>
                <a:cs typeface="Times New Roman" panose="02020603050405020304" pitchFamily="18" charset="0"/>
              </a:rPr>
              <a:t> l</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a:t>
            </a:r>
            <a:r>
              <a:rPr kumimoji="1" lang="en-US" altLang="zh-CN" sz="2400" b="1" smtClean="0">
                <a:solidFill>
                  <a:prstClr val="black"/>
                </a:solidFill>
                <a:latin typeface="Times New Roman" panose="02020603050405020304" pitchFamily="18" charset="0"/>
                <a:cs typeface="Times New Roman" panose="02020603050405020304" pitchFamily="18" charset="0"/>
              </a:rPr>
              <a:t> &lt;&lt;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sp>
        <p:nvSpPr>
          <p:cNvPr id="5" name="Text Box 4"/>
          <p:cNvSpPr txBox="1">
            <a:spLocks noChangeArrowheads="1"/>
          </p:cNvSpPr>
          <p:nvPr/>
        </p:nvSpPr>
        <p:spPr bwMode="auto">
          <a:xfrm>
            <a:off x="228600" y="2560586"/>
            <a:ext cx="5410200"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Clr>
                <a:srgbClr val="A50021"/>
              </a:buClr>
              <a:buFont typeface="Wingdings" panose="05000000000000000000" pitchFamily="2" charset="2"/>
              <a:buChar char="§"/>
            </a:pP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若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z</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 </a:t>
            </a:r>
            <a:r>
              <a:rPr kumimoji="1" lang="en-US" altLang="zh-CN" sz="2400" b="1" smtClean="0">
                <a:solidFill>
                  <a:prstClr val="black"/>
                </a:solidFill>
                <a:latin typeface="Times New Roman" panose="02020603050405020304" pitchFamily="18" charset="0"/>
                <a:cs typeface="Times New Roman" panose="02020603050405020304" pitchFamily="18" charset="0"/>
              </a:rPr>
              <a:t>&gt;&gt; </a:t>
            </a:r>
            <a:r>
              <a:rPr kumimoji="1" lang="en-US" altLang="zh-CN" sz="2400" b="1" i="1" smtClean="0">
                <a:solidFill>
                  <a:prstClr val="black"/>
                </a:solidFill>
                <a:latin typeface="Times New Roman" panose="02020603050405020304" pitchFamily="18" charset="0"/>
                <a:cs typeface="Times New Roman" panose="02020603050405020304" pitchFamily="18" charset="0"/>
              </a:rPr>
              <a:t>l </a:t>
            </a:r>
            <a:endParaRPr kumimoji="1" lang="en-US" altLang="zh-CN" sz="2400" b="1" smtClean="0">
              <a:solidFill>
                <a:prstClr val="black"/>
              </a:solidFill>
              <a:latin typeface="Times New Roman" panose="02020603050405020304" pitchFamily="18" charset="0"/>
              <a:cs typeface="Times New Roman" panose="02020603050405020304" pitchFamily="18" charset="0"/>
            </a:endParaRPr>
          </a:p>
          <a:p>
            <a:pPr defTabSz="914400" fontAlgn="base">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则电子仍然属于各层半导体，各层仍保持原来的能带结构；</a:t>
            </a:r>
          </a:p>
          <a:p>
            <a:pPr defTabSz="914400" fontAlgn="base">
              <a:spcAft>
                <a:spcPct val="0"/>
              </a:spcAft>
              <a:buClr>
                <a:srgbClr val="A50021"/>
              </a:buClr>
              <a:buFont typeface="Wingdings" panose="05000000000000000000" pitchFamily="2" charset="2"/>
              <a:buChar char="§"/>
            </a:pPr>
            <a:r>
              <a:rPr kumimoji="1" lang="zh-CN" altLang="en-US" sz="2400" b="1" smtClean="0">
                <a:solidFill>
                  <a:prstClr val="black"/>
                </a:solidFill>
                <a:latin typeface="Times New Roman" panose="02020603050405020304" pitchFamily="18" charset="0"/>
                <a:cs typeface="Times New Roman" panose="02020603050405020304" pitchFamily="18" charset="0"/>
              </a:rPr>
              <a:t> 若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z</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 </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l</a:t>
            </a:r>
            <a:endParaRPr kumimoji="1" lang="en-US" altLang="zh-CN" sz="2400" b="1" smtClean="0">
              <a:solidFill>
                <a:prstClr val="black"/>
              </a:solidFill>
              <a:latin typeface="Times New Roman" panose="02020603050405020304" pitchFamily="18" charset="0"/>
              <a:cs typeface="Times New Roman" panose="02020603050405020304" pitchFamily="18" charset="0"/>
            </a:endParaRPr>
          </a:p>
          <a:p>
            <a:pPr defTabSz="914400" fontAlgn="base">
              <a:spcAft>
                <a:spcPct val="0"/>
              </a:spcAft>
              <a:buClr>
                <a:srgbClr val="0000CC"/>
              </a:buClr>
              <a:buFont typeface="Wingdings" panose="05000000000000000000" pitchFamily="2" charset="2"/>
              <a:buNone/>
            </a:pPr>
            <a:r>
              <a:rPr kumimoji="1" lang="en-US" altLang="zh-CN" sz="2400"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则电子属于整个超晶格结构，电子在</a:t>
            </a:r>
            <a:r>
              <a:rPr kumimoji="1" lang="en-US" altLang="zh-CN" sz="2400" b="1" i="1" smtClean="0">
                <a:solidFill>
                  <a:prstClr val="black"/>
                </a:solidFill>
                <a:latin typeface="Times New Roman" panose="02020603050405020304" pitchFamily="18" charset="0"/>
                <a:cs typeface="Times New Roman" panose="02020603050405020304" pitchFamily="18" charset="0"/>
              </a:rPr>
              <a:t>z</a:t>
            </a:r>
            <a:r>
              <a:rPr kumimoji="1" lang="zh-CN" altLang="en-US" sz="2400" b="1" smtClean="0">
                <a:solidFill>
                  <a:prstClr val="black"/>
                </a:solidFill>
                <a:latin typeface="Times New Roman" panose="02020603050405020304" pitchFamily="18" charset="0"/>
                <a:cs typeface="Times New Roman" panose="02020603050405020304" pitchFamily="18" charset="0"/>
              </a:rPr>
              <a:t>方向的运动受到超晶格所附加的周期势的影响。其结果是</a:t>
            </a:r>
            <a:r>
              <a:rPr kumimoji="1" lang="zh-CN" altLang="en-US" sz="2400" b="1" smtClean="0">
                <a:solidFill>
                  <a:srgbClr val="A50021"/>
                </a:solidFill>
                <a:latin typeface="Times New Roman" panose="02020603050405020304" pitchFamily="18" charset="0"/>
                <a:cs typeface="Times New Roman" panose="02020603050405020304" pitchFamily="18" charset="0"/>
              </a:rPr>
              <a:t>原来的</a:t>
            </a:r>
            <a:r>
              <a:rPr kumimoji="1" lang="en-US" altLang="zh-CN" sz="2400" b="1" i="1" smtClean="0">
                <a:solidFill>
                  <a:srgbClr val="A50021"/>
                </a:solidFill>
                <a:latin typeface="Times New Roman" panose="02020603050405020304" pitchFamily="18" charset="0"/>
                <a:cs typeface="Times New Roman" panose="02020603050405020304" pitchFamily="18" charset="0"/>
              </a:rPr>
              <a:t>E</a:t>
            </a:r>
            <a:r>
              <a:rPr kumimoji="1" lang="en-US" altLang="zh-CN" sz="2400" b="1" smtClean="0">
                <a:solidFill>
                  <a:srgbClr val="A50021"/>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srgbClr val="A50021"/>
                </a:solidFill>
                <a:latin typeface="Times New Roman" panose="02020603050405020304" pitchFamily="18" charset="0"/>
                <a:cs typeface="Times New Roman" panose="02020603050405020304" pitchFamily="18" charset="0"/>
                <a:sym typeface="Symbol" panose="05050102010706020507" pitchFamily="18" charset="2"/>
              </a:rPr>
              <a:t>k</a:t>
            </a:r>
            <a:r>
              <a:rPr kumimoji="1" lang="zh-CN" altLang="en-US" sz="2400" b="1" smtClean="0">
                <a:solidFill>
                  <a:srgbClr val="A50021"/>
                </a:solidFill>
                <a:latin typeface="Times New Roman" panose="02020603050405020304" pitchFamily="18" charset="0"/>
                <a:cs typeface="Times New Roman" panose="02020603050405020304" pitchFamily="18" charset="0"/>
                <a:sym typeface="Symbol" panose="05050102010706020507" pitchFamily="18" charset="2"/>
              </a:rPr>
              <a:t>关系分成若干子带。</a:t>
            </a:r>
            <a:endParaRPr kumimoji="1" lang="zh-CN" altLang="en-US" sz="2400" b="1" i="1" smtClean="0">
              <a:solidFill>
                <a:srgbClr val="A50021"/>
              </a:solidFill>
              <a:latin typeface="Times New Roman" panose="02020603050405020304" pitchFamily="18" charset="0"/>
              <a:cs typeface="Times New Roman" panose="02020603050405020304" pitchFamily="18" charset="0"/>
            </a:endParaRPr>
          </a:p>
        </p:txBody>
      </p:sp>
      <p:sp>
        <p:nvSpPr>
          <p:cNvPr id="6" name="Line 6"/>
          <p:cNvSpPr>
            <a:spLocks noChangeShapeType="1"/>
          </p:cNvSpPr>
          <p:nvPr/>
        </p:nvSpPr>
        <p:spPr bwMode="auto">
          <a:xfrm>
            <a:off x="1371600" y="2503436"/>
            <a:ext cx="7010400" cy="0"/>
          </a:xfrm>
          <a:prstGeom prst="line">
            <a:avLst/>
          </a:prstGeom>
          <a:noFill/>
          <a:ln w="28575">
            <a:solidFill>
              <a:srgbClr val="A50021"/>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u="sng"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559149939"/>
              </p:ext>
            </p:extLst>
          </p:nvPr>
        </p:nvGraphicFramePr>
        <p:xfrm>
          <a:off x="6032500" y="2733624"/>
          <a:ext cx="2362200" cy="2716212"/>
        </p:xfrm>
        <a:graphic>
          <a:graphicData uri="http://schemas.openxmlformats.org/presentationml/2006/ole">
            <mc:AlternateContent xmlns:mc="http://schemas.openxmlformats.org/markup-compatibility/2006">
              <mc:Choice xmlns:v="urn:schemas-microsoft-com:vml" Requires="v">
                <p:oleObj spid="_x0000_s76834" name="位图图像" r:id="rId3" imgW="2266667" imgH="3000000" progId="PBrush">
                  <p:embed/>
                </p:oleObj>
              </mc:Choice>
              <mc:Fallback>
                <p:oleObj name="位图图像" r:id="rId3" imgW="2266667" imgH="3000000" progId="PBrush">
                  <p:embed/>
                  <p:pic>
                    <p:nvPicPr>
                      <p:cNvPr id="3891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00" y="2733624"/>
                        <a:ext cx="2362200"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91784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50</a:t>
            </a:fld>
            <a:endParaRPr lang="zh-CN" altLang="en-US"/>
          </a:p>
        </p:txBody>
      </p:sp>
      <p:sp>
        <p:nvSpPr>
          <p:cNvPr id="3" name="Rectangle 4"/>
          <p:cNvSpPr>
            <a:spLocks noChangeArrowheads="1"/>
          </p:cNvSpPr>
          <p:nvPr/>
        </p:nvSpPr>
        <p:spPr bwMode="auto">
          <a:xfrm>
            <a:off x="2615381" y="295910"/>
            <a:ext cx="4368031"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四、双极晶体管</a:t>
            </a:r>
            <a:endParaRPr kumimoji="1" lang="zh-CN" altLang="en-US" sz="3600" b="1" dirty="0">
              <a:solidFill>
                <a:srgbClr val="FF6600"/>
              </a:solidFill>
              <a:latin typeface="Times New Roman" pitchFamily="18" charset="0"/>
              <a:ea typeface="宋体" pitchFamily="2" charset="-122"/>
            </a:endParaRPr>
          </a:p>
        </p:txBody>
      </p:sp>
      <p:sp>
        <p:nvSpPr>
          <p:cNvPr id="4" name="矩形 3"/>
          <p:cNvSpPr/>
          <p:nvPr/>
        </p:nvSpPr>
        <p:spPr>
          <a:xfrm>
            <a:off x="438791" y="1099557"/>
            <a:ext cx="1986441"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1. </a:t>
            </a:r>
            <a:r>
              <a:rPr kumimoji="1" lang="zh-CN" altLang="en-US" sz="2800" b="1" dirty="0" smtClean="0">
                <a:solidFill>
                  <a:srgbClr val="D96227"/>
                </a:solidFill>
                <a:latin typeface="Times New Roman" pitchFamily="18" charset="0"/>
                <a:ea typeface="宋体" pitchFamily="2" charset="-122"/>
                <a:cs typeface="Times New Roman" pitchFamily="18" charset="0"/>
              </a:rPr>
              <a:t>基本原理</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9" name="Rectangle 3"/>
          <p:cNvSpPr txBox="1">
            <a:spLocks noChangeArrowheads="1"/>
          </p:cNvSpPr>
          <p:nvPr/>
        </p:nvSpPr>
        <p:spPr>
          <a:xfrm>
            <a:off x="572729" y="2057400"/>
            <a:ext cx="8458200" cy="533400"/>
          </a:xfrm>
          <a:prstGeom prst="rect">
            <a:avLst/>
          </a:prstGeom>
        </p:spPr>
        <p:txBody>
          <a:bodyPr/>
          <a:lstStyle/>
          <a:p>
            <a:pPr marL="342900" indent="-342900" defTabSz="914400" fontAlgn="base">
              <a:spcBef>
                <a:spcPct val="20000"/>
              </a:spcBef>
              <a:spcAft>
                <a:spcPct val="0"/>
              </a:spcAft>
              <a:buFontTx/>
              <a:buChar char="•"/>
              <a:defRPr/>
            </a:pPr>
            <a:endParaRPr lang="zh-CN" altLang="en-US" sz="2400"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Rectangle 9"/>
          <p:cNvSpPr>
            <a:spLocks noChangeArrowheads="1"/>
          </p:cNvSpPr>
          <p:nvPr/>
        </p:nvSpPr>
        <p:spPr bwMode="auto">
          <a:xfrm>
            <a:off x="572729" y="4358833"/>
            <a:ext cx="8153400" cy="2169825"/>
          </a:xfrm>
          <a:prstGeom prst="rect">
            <a:avLst/>
          </a:prstGeom>
          <a:noFill/>
          <a:ln w="9525">
            <a:noFill/>
            <a:miter lim="800000"/>
            <a:headEnd/>
            <a:tailEnd/>
          </a:ln>
          <a:effectLst/>
        </p:spPr>
        <p:txBody>
          <a:bodyPr wrap="square">
            <a:spAutoFit/>
          </a:bodyPr>
          <a:lstStyle/>
          <a:p>
            <a:pPr defTabSz="914400" fontAlgn="base">
              <a:spcBef>
                <a:spcPct val="0"/>
              </a:spcBef>
              <a:spcAft>
                <a:spcPct val="0"/>
              </a:spcAft>
              <a:buClr>
                <a:srgbClr val="2D2D8A"/>
              </a:buClr>
            </a:pPr>
            <a:r>
              <a:rPr lang="zh-CN" altLang="en-US" sz="2400" b="1" dirty="0" smtClean="0">
                <a:solidFill>
                  <a:srgbClr val="2D2D8A"/>
                </a:solidFill>
                <a:latin typeface="Times New Roman" panose="02020603050405020304" pitchFamily="18" charset="0"/>
                <a:ea typeface="宋体" panose="02010600030101010101" pitchFamily="2" charset="-122"/>
                <a:cs typeface="Times New Roman" panose="02020603050405020304" pitchFamily="18" charset="0"/>
              </a:rPr>
              <a:t>点接触</a:t>
            </a:r>
            <a:r>
              <a:rPr lang="zh-CN" altLang="en-US" sz="2400" b="1" dirty="0">
                <a:solidFill>
                  <a:srgbClr val="2D2D8A"/>
                </a:solidFill>
                <a:latin typeface="Times New Roman" panose="02020603050405020304" pitchFamily="18" charset="0"/>
                <a:ea typeface="宋体" panose="02010600030101010101" pitchFamily="2" charset="-122"/>
                <a:cs typeface="Times New Roman" panose="02020603050405020304" pitchFamily="18" charset="0"/>
              </a:rPr>
              <a:t>晶体管</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：基片</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型</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锗，发射极和集电极是两根金属丝。这两根金属丝尖端很细，</a:t>
            </a:r>
            <a:r>
              <a:rPr lang="zh-CN" altLang="en-US" sz="24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靠得很近</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地压在基片上。金属丝间的距离：</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200~250</a:t>
            </a:r>
            <a:r>
              <a:rPr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m </a:t>
            </a:r>
            <a:endPar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fontAlgn="base">
              <a:spcBef>
                <a:spcPts val="1200"/>
              </a:spcBef>
              <a:spcAft>
                <a:spcPct val="0"/>
              </a:spcAft>
            </a:pP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电流增益</a:t>
            </a:r>
            <a:r>
              <a:rPr lang="en-US" altLang="zh-CN" sz="2400" b="1" i="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i="1" baseline="-30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1~2</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；功率增益</a:t>
            </a:r>
            <a:r>
              <a:rPr lang="en-US" altLang="zh-CN" sz="2400" b="1" i="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i="1" baseline="-30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20dB</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fontAlgn="base">
              <a:spcBef>
                <a:spcPts val="600"/>
              </a:spcBef>
              <a:spcAft>
                <a:spcPct val="0"/>
              </a:spcAft>
            </a:pP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最高工作频率</a:t>
            </a:r>
            <a:r>
              <a:rPr lang="zh-CN" altLang="en-US" sz="2400" b="1" i="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i="1" baseline="-30000"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10MHz </a:t>
            </a:r>
            <a:endPar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 name="Picture 10" descr="图1-7"/>
          <p:cNvPicPr>
            <a:picLocks noChangeAspect="1" noChangeArrowheads="1"/>
          </p:cNvPicPr>
          <p:nvPr/>
        </p:nvPicPr>
        <p:blipFill>
          <a:blip r:embed="rId2" cstate="print"/>
          <a:srcRect/>
          <a:stretch>
            <a:fillRect/>
          </a:stretch>
        </p:blipFill>
        <p:spPr bwMode="auto">
          <a:xfrm>
            <a:off x="4535129" y="1295400"/>
            <a:ext cx="4191000" cy="2660650"/>
          </a:xfrm>
          <a:prstGeom prst="rect">
            <a:avLst/>
          </a:prstGeom>
          <a:noFill/>
        </p:spPr>
      </p:pic>
      <p:sp>
        <p:nvSpPr>
          <p:cNvPr id="12" name="矩形 11"/>
          <p:cNvSpPr/>
          <p:nvPr/>
        </p:nvSpPr>
        <p:spPr>
          <a:xfrm>
            <a:off x="648929" y="2025560"/>
            <a:ext cx="3886200" cy="1200329"/>
          </a:xfrm>
          <a:prstGeom prst="rect">
            <a:avLst/>
          </a:prstGeom>
        </p:spPr>
        <p:txBody>
          <a:bodyPr wrap="square">
            <a:spAutoFit/>
          </a:bodyPr>
          <a:lstStyle/>
          <a:p>
            <a:pPr defTabSz="914400" fontAlgn="base">
              <a:spcBef>
                <a:spcPct val="0"/>
              </a:spcBef>
              <a:spcAft>
                <a:spcPct val="0"/>
              </a:spcAft>
            </a:pPr>
            <a:r>
              <a:rPr lang="zh-CN" altLang="en-US"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第一个晶体管</a:t>
            </a:r>
            <a:r>
              <a:rPr lang="en-US" altLang="zh-CN"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pPr defTabSz="914400" fontAlgn="base">
              <a:spcBef>
                <a:spcPct val="0"/>
              </a:spcBef>
              <a:spcAft>
                <a:spcPct val="0"/>
              </a:spcAft>
            </a:pPr>
            <a:r>
              <a:rPr lang="zh-CN" altLang="en-US"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点接触晶体管</a:t>
            </a:r>
            <a:endParaRPr lang="en-US" altLang="zh-CN"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fontAlgn="base">
              <a:spcBef>
                <a:spcPct val="0"/>
              </a:spcBef>
              <a:spcAft>
                <a:spcPct val="0"/>
              </a:spcAft>
            </a:pPr>
            <a:r>
              <a:rPr lang="en-US" altLang="zh-CN"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(1947</a:t>
            </a:r>
            <a:r>
              <a:rPr lang="zh-CN" altLang="en-US"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年</a:t>
            </a:r>
            <a:r>
              <a:rPr lang="en-US" altLang="zh-CN"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月</a:t>
            </a:r>
            <a:r>
              <a:rPr lang="en-US" altLang="zh-CN"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23</a:t>
            </a:r>
            <a:r>
              <a:rPr lang="zh-CN" altLang="en-US"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日</a:t>
            </a:r>
            <a:r>
              <a:rPr lang="en-US" altLang="zh-CN" sz="2400" b="1"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03035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51</a:t>
            </a:fld>
            <a:endParaRPr lang="zh-CN" altLang="en-US"/>
          </a:p>
        </p:txBody>
      </p:sp>
      <p:sp>
        <p:nvSpPr>
          <p:cNvPr id="3" name="Text Box 12"/>
          <p:cNvSpPr txBox="1">
            <a:spLocks noChangeArrowheads="1"/>
          </p:cNvSpPr>
          <p:nvPr/>
        </p:nvSpPr>
        <p:spPr bwMode="auto">
          <a:xfrm>
            <a:off x="533400" y="2057400"/>
            <a:ext cx="8453438" cy="954107"/>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双极晶体管</a:t>
            </a:r>
            <a:r>
              <a:rPr lang="zh-CN" altLang="en-US" sz="2800" b="1" dirty="0" smtClean="0">
                <a:solidFill>
                  <a:srgbClr val="3333CC"/>
                </a:solidFill>
                <a:latin typeface="Times New Roman" panose="02020603050405020304" pitchFamily="18" charset="0"/>
                <a:ea typeface="宋体" panose="02010600030101010101" pitchFamily="2" charset="-122"/>
                <a:cs typeface="Times New Roman" panose="02020603050405020304" pitchFamily="18" charset="0"/>
              </a:rPr>
              <a:t>效应 </a:t>
            </a:r>
            <a:r>
              <a:rPr lang="en-US" altLang="zh-CN" sz="2800" b="1" dirty="0" smtClean="0">
                <a:solidFill>
                  <a:srgbClr val="3333CC"/>
                </a:solidFill>
                <a:latin typeface="Times New Roman" panose="02020603050405020304" pitchFamily="18" charset="0"/>
                <a:ea typeface="宋体" panose="02010600030101010101" pitchFamily="2" charset="-122"/>
                <a:cs typeface="Times New Roman" panose="02020603050405020304" pitchFamily="18" charset="0"/>
              </a:rPr>
              <a:t>(Transistor action) </a:t>
            </a:r>
            <a:r>
              <a:rPr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fontAlgn="base">
              <a:spcBef>
                <a:spcPct val="0"/>
              </a:spcBef>
              <a:spcAft>
                <a:spcPct val="0"/>
              </a:spcAft>
            </a:pP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通过改变一个</a:t>
            </a:r>
            <a:r>
              <a:rPr lang="en-US" altLang="zh-CN" sz="2800" b="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结的偏压调制另一个</a:t>
            </a:r>
            <a:r>
              <a:rPr lang="en-US" altLang="zh-CN" sz="2800" b="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结的</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电流</a:t>
            </a:r>
            <a:endParaRPr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Rectangle 9"/>
          <p:cNvSpPr>
            <a:spLocks noChangeArrowheads="1"/>
          </p:cNvSpPr>
          <p:nvPr/>
        </p:nvSpPr>
        <p:spPr bwMode="auto">
          <a:xfrm>
            <a:off x="533400" y="381000"/>
            <a:ext cx="8153400" cy="1384995"/>
          </a:xfrm>
          <a:prstGeom prst="rect">
            <a:avLst/>
          </a:prstGeom>
          <a:noFill/>
          <a:ln w="9525">
            <a:noFill/>
            <a:miter lim="800000"/>
            <a:headEnd/>
            <a:tailEnd/>
          </a:ln>
          <a:effectLst/>
        </p:spPr>
        <p:txBody>
          <a:bodyPr wrap="square">
            <a:spAutoFit/>
          </a:bodyPr>
          <a:lstStyle/>
          <a:p>
            <a:pPr defTabSz="914400" fontAlgn="base">
              <a:spcBef>
                <a:spcPct val="0"/>
              </a:spcBef>
              <a:spcAft>
                <a:spcPct val="0"/>
              </a:spcAft>
              <a:buClr>
                <a:srgbClr val="2D2D8A"/>
              </a:buClr>
            </a:pPr>
            <a:r>
              <a:rPr lang="zh-CN" altLang="en-US" sz="2800" b="1" dirty="0" smtClean="0">
                <a:solidFill>
                  <a:srgbClr val="3333CC"/>
                </a:solidFill>
                <a:latin typeface="Times New Roman" panose="02020603050405020304" pitchFamily="18" charset="0"/>
                <a:ea typeface="宋体" panose="02010600030101010101" pitchFamily="2" charset="-122"/>
                <a:cs typeface="Times New Roman" panose="02020603050405020304" pitchFamily="18" charset="0"/>
              </a:rPr>
              <a:t>结型晶体管</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1949</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年，</a:t>
            </a:r>
            <a:r>
              <a:rPr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Shockley</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发表了关于结型二极管和结型晶体管的经典论文，提出了结型晶体管的概念。</a:t>
            </a:r>
            <a:r>
              <a:rPr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1951</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年，结型晶体管问世。 </a:t>
            </a:r>
          </a:p>
        </p:txBody>
      </p:sp>
      <p:sp>
        <p:nvSpPr>
          <p:cNvPr id="5" name="Text Box 6"/>
          <p:cNvSpPr txBox="1">
            <a:spLocks noChangeArrowheads="1"/>
          </p:cNvSpPr>
          <p:nvPr/>
        </p:nvSpPr>
        <p:spPr bwMode="auto">
          <a:xfrm>
            <a:off x="7086600" y="4191000"/>
            <a:ext cx="1371600" cy="1569660"/>
          </a:xfrm>
          <a:prstGeom prst="rect">
            <a:avLst/>
          </a:prstGeom>
          <a:noFill/>
          <a:ln w="9525">
            <a:noFill/>
            <a:miter lim="800000"/>
            <a:headEnd/>
            <a:tailEnd/>
          </a:ln>
          <a:effectLst/>
        </p:spPr>
        <p:txBody>
          <a:bodyPr wrap="square">
            <a:spAutoFit/>
          </a:bodyPr>
          <a:lstStyle/>
          <a:p>
            <a:pPr defTabSz="914400" fontAlgn="base">
              <a:spcBef>
                <a:spcPct val="50000"/>
              </a:spcBef>
              <a:spcAft>
                <a:spcPct val="0"/>
              </a:spcAft>
            </a:pPr>
            <a:r>
              <a:rPr lang="zh-CN" altLang="en-US" sz="2400" b="1" dirty="0" smtClean="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左图</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fontAlgn="base">
              <a:spcAft>
                <a:spcPct val="0"/>
              </a:spcAft>
            </a:pP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现代</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IC</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中的高速</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BJT</a:t>
            </a:r>
            <a:endPar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Picture 217"/>
          <p:cNvPicPr>
            <a:picLocks noChangeAspect="1" noChangeArrowheads="1"/>
          </p:cNvPicPr>
          <p:nvPr/>
        </p:nvPicPr>
        <p:blipFill>
          <a:blip r:embed="rId2" cstate="print"/>
          <a:srcRect/>
          <a:stretch>
            <a:fillRect/>
          </a:stretch>
        </p:blipFill>
        <p:spPr bwMode="auto">
          <a:xfrm>
            <a:off x="457200" y="3124200"/>
            <a:ext cx="6248400" cy="3466100"/>
          </a:xfrm>
          <a:prstGeom prst="rect">
            <a:avLst/>
          </a:prstGeom>
          <a:noFill/>
          <a:ln w="9525">
            <a:noFill/>
            <a:miter lim="800000"/>
            <a:headEnd/>
            <a:tailEnd/>
          </a:ln>
          <a:effectLst/>
        </p:spPr>
      </p:pic>
    </p:spTree>
    <p:extLst>
      <p:ext uri="{BB962C8B-B14F-4D97-AF65-F5344CB8AC3E}">
        <p14:creationId xmlns:p14="http://schemas.microsoft.com/office/powerpoint/2010/main" val="12420778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52</a:t>
            </a:fld>
            <a:endParaRPr lang="zh-CN" altLang="en-US"/>
          </a:p>
        </p:txBody>
      </p:sp>
      <p:sp>
        <p:nvSpPr>
          <p:cNvPr id="3" name="标题 1"/>
          <p:cNvSpPr txBox="1">
            <a:spLocks/>
          </p:cNvSpPr>
          <p:nvPr/>
        </p:nvSpPr>
        <p:spPr>
          <a:xfrm>
            <a:off x="252000" y="252000"/>
            <a:ext cx="8229600" cy="487362"/>
          </a:xfrm>
          <a:prstGeom prst="rect">
            <a:avLst/>
          </a:prstGeom>
        </p:spPr>
        <p:txBody>
          <a:bodyPr/>
          <a:lstStyle>
            <a:lvl1pPr algn="l" rtl="0" fontAlgn="base">
              <a:spcBef>
                <a:spcPct val="0"/>
              </a:spcBef>
              <a:spcAft>
                <a:spcPct val="0"/>
              </a:spcAft>
              <a:defRPr lang="zh-CN" altLang="en-US" sz="2800" b="1" dirty="0">
                <a:solidFill>
                  <a:schemeClr val="tx2"/>
                </a:solidFill>
                <a:latin typeface="Times New Roman" pitchFamily="18" charset="0"/>
                <a:ea typeface="楷体_GB2312" pitchFamily="49" charset="-122"/>
                <a:cs typeface="Times New Roman" pitchFamily="18" charset="0"/>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dirty="0">
                <a:solidFill>
                  <a:srgbClr val="D96227"/>
                </a:solidFill>
                <a:ea typeface="宋体" pitchFamily="2" charset="-122"/>
              </a:rPr>
              <a:t>工作原理</a:t>
            </a:r>
          </a:p>
        </p:txBody>
      </p:sp>
      <p:pic>
        <p:nvPicPr>
          <p:cNvPr id="4" name="Picture 4"/>
          <p:cNvPicPr preferRelativeResize="0">
            <a:picLocks noChangeAspect="1" noChangeArrowheads="1"/>
          </p:cNvPicPr>
          <p:nvPr/>
        </p:nvPicPr>
        <p:blipFill>
          <a:blip r:embed="rId2" cstate="print"/>
          <a:srcRect/>
          <a:stretch>
            <a:fillRect/>
          </a:stretch>
        </p:blipFill>
        <p:spPr bwMode="auto">
          <a:xfrm>
            <a:off x="901700" y="4205288"/>
            <a:ext cx="5803900" cy="2408237"/>
          </a:xfrm>
          <a:prstGeom prst="rect">
            <a:avLst/>
          </a:prstGeom>
          <a:noFill/>
          <a:ln w="9525" algn="ctr">
            <a:noFill/>
            <a:miter lim="800000"/>
            <a:headEnd/>
            <a:tailEnd/>
          </a:ln>
          <a:effectLst/>
        </p:spPr>
      </p:pic>
      <p:grpSp>
        <p:nvGrpSpPr>
          <p:cNvPr id="5" name="Group 5"/>
          <p:cNvGrpSpPr>
            <a:grpSpLocks/>
          </p:cNvGrpSpPr>
          <p:nvPr/>
        </p:nvGrpSpPr>
        <p:grpSpPr bwMode="auto">
          <a:xfrm>
            <a:off x="684213" y="1828800"/>
            <a:ext cx="7272337" cy="2279650"/>
            <a:chOff x="703" y="845"/>
            <a:chExt cx="4581" cy="1596"/>
          </a:xfrm>
        </p:grpSpPr>
        <p:pic>
          <p:nvPicPr>
            <p:cNvPr id="6" name="Picture 6"/>
            <p:cNvPicPr preferRelativeResize="0">
              <a:picLocks noChangeAspect="1" noChangeArrowheads="1"/>
            </p:cNvPicPr>
            <p:nvPr/>
          </p:nvPicPr>
          <p:blipFill>
            <a:blip r:embed="rId3" cstate="print"/>
            <a:srcRect/>
            <a:stretch>
              <a:fillRect/>
            </a:stretch>
          </p:blipFill>
          <p:spPr bwMode="auto">
            <a:xfrm>
              <a:off x="793" y="845"/>
              <a:ext cx="3584" cy="1596"/>
            </a:xfrm>
            <a:prstGeom prst="rect">
              <a:avLst/>
            </a:prstGeom>
            <a:noFill/>
            <a:ln w="9525" algn="ctr">
              <a:noFill/>
              <a:miter lim="800000"/>
              <a:headEnd/>
              <a:tailEnd/>
            </a:ln>
            <a:effectLst/>
          </p:spPr>
        </p:pic>
        <p:sp>
          <p:nvSpPr>
            <p:cNvPr id="7" name="Rectangle 7"/>
            <p:cNvSpPr>
              <a:spLocks noChangeArrowheads="1"/>
            </p:cNvSpPr>
            <p:nvPr/>
          </p:nvSpPr>
          <p:spPr bwMode="auto">
            <a:xfrm>
              <a:off x="1791" y="1918"/>
              <a:ext cx="680" cy="323"/>
            </a:xfrm>
            <a:prstGeom prst="rect">
              <a:avLst/>
            </a:prstGeom>
            <a:noFill/>
            <a:ln w="9525">
              <a:noFill/>
              <a:miter lim="800000"/>
              <a:headEnd/>
              <a:tailEnd/>
            </a:ln>
            <a:effectLst/>
          </p:spPr>
          <p:txBody>
            <a:bodyPr>
              <a:spAutoFit/>
            </a:bodyPr>
            <a:lstStyle/>
            <a:p>
              <a:pPr marL="342900" indent="-342900" defTabSz="914400" fontAlgn="base">
                <a:spcBef>
                  <a:spcPct val="20000"/>
                </a:spcBef>
                <a:spcAft>
                  <a:spcPct val="0"/>
                </a:spcAft>
                <a:buClr>
                  <a:srgbClr val="000000"/>
                </a:buClr>
                <a:buSzPct val="60000"/>
                <a:buFont typeface="Wingdings" pitchFamily="2" charset="2"/>
                <a:buNone/>
              </a:pPr>
              <a:r>
                <a:rPr kumimoji="1"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基极</a:t>
              </a:r>
            </a:p>
          </p:txBody>
        </p:sp>
        <p:sp>
          <p:nvSpPr>
            <p:cNvPr id="8" name="Rectangle 8"/>
            <p:cNvSpPr>
              <a:spLocks noChangeArrowheads="1"/>
            </p:cNvSpPr>
            <p:nvPr/>
          </p:nvSpPr>
          <p:spPr bwMode="auto">
            <a:xfrm>
              <a:off x="4286" y="893"/>
              <a:ext cx="998" cy="551"/>
            </a:xfrm>
            <a:prstGeom prst="rect">
              <a:avLst/>
            </a:prstGeom>
            <a:noFill/>
            <a:ln w="9525">
              <a:noFill/>
              <a:miter lim="800000"/>
              <a:headEnd/>
              <a:tailEnd/>
            </a:ln>
            <a:effectLst/>
          </p:spPr>
          <p:txBody>
            <a:bodyPr>
              <a:spAutoFit/>
            </a:bodyPr>
            <a:lstStyle/>
            <a:p>
              <a:pPr marL="342900" indent="-342900" defTabSz="914400" fontAlgn="base">
                <a:lnSpc>
                  <a:spcPct val="95000"/>
                </a:lnSpc>
                <a:spcBef>
                  <a:spcPct val="0"/>
                </a:spcBef>
                <a:spcAft>
                  <a:spcPct val="0"/>
                </a:spcAft>
                <a:buClr>
                  <a:srgbClr val="000000"/>
                </a:buClr>
                <a:buSzPct val="60000"/>
                <a:buFont typeface="Wingdings" pitchFamily="2" charset="2"/>
                <a:buNone/>
              </a:pPr>
              <a:r>
                <a:rPr kumimoji="1" lang="en-US" altLang="zh-CN"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集电极</a:t>
              </a:r>
            </a:p>
            <a:p>
              <a:pPr marL="342900" indent="-342900" defTabSz="914400" fontAlgn="base">
                <a:lnSpc>
                  <a:spcPct val="95000"/>
                </a:lnSpc>
                <a:spcBef>
                  <a:spcPct val="0"/>
                </a:spcBef>
                <a:spcAft>
                  <a:spcPct val="0"/>
                </a:spcAft>
                <a:buClr>
                  <a:srgbClr val="000000"/>
                </a:buClr>
                <a:buSzPct val="60000"/>
                <a:buFont typeface="Wingdings" pitchFamily="2" charset="2"/>
                <a:buNone/>
              </a:pPr>
              <a:r>
                <a:rPr kumimoji="1" lang="en-US" altLang="zh-CN"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收集极</a:t>
              </a:r>
              <a:r>
                <a:rPr kumimoji="1" lang="en-US" altLang="zh-CN"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9" name="Rectangle 9"/>
            <p:cNvSpPr>
              <a:spLocks noChangeArrowheads="1"/>
            </p:cNvSpPr>
            <p:nvPr/>
          </p:nvSpPr>
          <p:spPr bwMode="auto">
            <a:xfrm>
              <a:off x="703" y="1207"/>
              <a:ext cx="882" cy="323"/>
            </a:xfrm>
            <a:prstGeom prst="rect">
              <a:avLst/>
            </a:prstGeom>
            <a:noFill/>
            <a:ln w="9525">
              <a:noFill/>
              <a:miter lim="800000"/>
              <a:headEnd/>
              <a:tailEnd/>
            </a:ln>
            <a:effectLst/>
          </p:spPr>
          <p:txBody>
            <a:bodyPr>
              <a:spAutoFit/>
            </a:bodyPr>
            <a:lstStyle/>
            <a:p>
              <a:pPr marL="342900" indent="-342900" defTabSz="914400" fontAlgn="base">
                <a:spcBef>
                  <a:spcPct val="20000"/>
                </a:spcBef>
                <a:spcAft>
                  <a:spcPct val="0"/>
                </a:spcAft>
                <a:buClr>
                  <a:srgbClr val="000000"/>
                </a:buClr>
                <a:buSzPct val="60000"/>
                <a:buFont typeface="Wingdings" pitchFamily="2" charset="2"/>
                <a:buNone/>
              </a:pPr>
              <a:r>
                <a:rPr kumimoji="1"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发射极</a:t>
              </a:r>
            </a:p>
          </p:txBody>
        </p:sp>
      </p:grpSp>
      <p:sp>
        <p:nvSpPr>
          <p:cNvPr id="10" name="Rectangle 10"/>
          <p:cNvSpPr>
            <a:spLocks noChangeArrowheads="1"/>
          </p:cNvSpPr>
          <p:nvPr/>
        </p:nvSpPr>
        <p:spPr bwMode="auto">
          <a:xfrm>
            <a:off x="6804025" y="3132138"/>
            <a:ext cx="2162772" cy="523220"/>
          </a:xfrm>
          <a:prstGeom prst="rect">
            <a:avLst/>
          </a:prstGeom>
          <a:noFill/>
          <a:ln w="9525" algn="ctr">
            <a:noFill/>
            <a:miter lim="800000"/>
            <a:headEnd/>
            <a:tailEnd/>
          </a:ln>
          <a:effectLst/>
        </p:spPr>
        <p:txBody>
          <a:bodyPr wrap="none">
            <a:spAutoFit/>
          </a:bodyPr>
          <a:lstStyle/>
          <a:p>
            <a:pPr defTabSz="914400" fontAlgn="base">
              <a:spcBef>
                <a:spcPct val="0"/>
              </a:spcBef>
              <a:spcAft>
                <a:spcPct val="0"/>
              </a:spcAft>
            </a:pPr>
            <a:r>
              <a:rPr lang="en-US" altLang="zh-CN" sz="28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  npn-BJT</a:t>
            </a:r>
          </a:p>
        </p:txBody>
      </p:sp>
      <p:sp>
        <p:nvSpPr>
          <p:cNvPr id="11" name="Rectangle 11"/>
          <p:cNvSpPr>
            <a:spLocks noChangeArrowheads="1"/>
          </p:cNvSpPr>
          <p:nvPr/>
        </p:nvSpPr>
        <p:spPr bwMode="auto">
          <a:xfrm>
            <a:off x="6804025" y="5430838"/>
            <a:ext cx="2183611" cy="523220"/>
          </a:xfrm>
          <a:prstGeom prst="rect">
            <a:avLst/>
          </a:prstGeom>
          <a:noFill/>
          <a:ln w="9525" algn="ctr">
            <a:noFill/>
            <a:miter lim="800000"/>
            <a:headEnd/>
            <a:tailEnd/>
          </a:ln>
          <a:effectLst/>
        </p:spPr>
        <p:txBody>
          <a:bodyPr wrap="none">
            <a:spAutoFit/>
          </a:bodyPr>
          <a:lstStyle/>
          <a:p>
            <a:pPr defTabSz="914400" fontAlgn="base">
              <a:spcBef>
                <a:spcPct val="0"/>
              </a:spcBef>
              <a:spcAft>
                <a:spcPct val="0"/>
              </a:spcAft>
            </a:pPr>
            <a:r>
              <a:rPr lang="en-US" altLang="zh-CN" sz="28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pnp-BJT</a:t>
            </a:r>
          </a:p>
        </p:txBody>
      </p:sp>
      <p:sp>
        <p:nvSpPr>
          <p:cNvPr id="12" name="Text Box 12"/>
          <p:cNvSpPr txBox="1">
            <a:spLocks noChangeArrowheads="1"/>
          </p:cNvSpPr>
          <p:nvPr/>
        </p:nvSpPr>
        <p:spPr bwMode="auto">
          <a:xfrm>
            <a:off x="457200" y="5715000"/>
            <a:ext cx="4648200" cy="954107"/>
          </a:xfrm>
          <a:prstGeom prst="rect">
            <a:avLst/>
          </a:prstGeom>
          <a:noFill/>
          <a:ln w="9525">
            <a:noFill/>
            <a:miter lim="800000"/>
            <a:headEnd/>
            <a:tailEnd/>
          </a:ln>
          <a:effectLst/>
        </p:spPr>
        <p:txBody>
          <a:bodyPr wrap="square">
            <a:spAutoFit/>
          </a:bodyPr>
          <a:lstStyle/>
          <a:p>
            <a:pPr defTabSz="914400" fontAlgn="base">
              <a:spcBef>
                <a:spcPct val="0"/>
              </a:spcBef>
              <a:spcAft>
                <a:spcPct val="0"/>
              </a:spcAft>
            </a:pPr>
            <a:r>
              <a:rPr lang="en-US" altLang="zh-CN" sz="2800" b="1" dirty="0" smtClean="0">
                <a:solidFill>
                  <a:srgbClr val="3333CC"/>
                </a:solidFill>
                <a:latin typeface="Times New Roman" panose="02020603050405020304" pitchFamily="18" charset="0"/>
                <a:ea typeface="宋体" panose="02010600030101010101" pitchFamily="2" charset="-122"/>
                <a:cs typeface="Times New Roman" panose="02020603050405020304" pitchFamily="18" charset="0"/>
              </a:rPr>
              <a:t>BJT——</a:t>
            </a:r>
          </a:p>
          <a:p>
            <a:pPr defTabSz="914400" fontAlgn="base">
              <a:spcBef>
                <a:spcPct val="0"/>
              </a:spcBef>
              <a:spcAft>
                <a:spcPct val="0"/>
              </a:spcAft>
            </a:pPr>
            <a:r>
              <a:rPr lang="en-US" altLang="zh-CN" sz="2800" b="1" dirty="0" smtClean="0">
                <a:solidFill>
                  <a:srgbClr val="3333CC"/>
                </a:solidFill>
                <a:latin typeface="Times New Roman" panose="02020603050405020304" pitchFamily="18" charset="0"/>
                <a:ea typeface="宋体" panose="02010600030101010101" pitchFamily="2" charset="-122"/>
                <a:cs typeface="Times New Roman" panose="02020603050405020304" pitchFamily="18" charset="0"/>
              </a:rPr>
              <a:t>Bipolar Junction Transistor</a:t>
            </a:r>
            <a:endPar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38200" y="762000"/>
            <a:ext cx="7924800" cy="954107"/>
          </a:xfrm>
          <a:prstGeom prst="rect">
            <a:avLst/>
          </a:prstGeom>
        </p:spPr>
        <p:txBody>
          <a:bodyPr wrap="square">
            <a:spAutoFit/>
          </a:bodyPr>
          <a:lstStyle/>
          <a:p>
            <a:pPr defTabSz="914400" fontAlgn="base">
              <a:spcBef>
                <a:spcPct val="0"/>
              </a:spcBef>
              <a:spcAft>
                <a:spcPct val="0"/>
              </a:spcAft>
            </a:pP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双极晶体管是由</a:t>
            </a:r>
            <a:r>
              <a:rPr lang="zh-CN" altLang="en-US" sz="2800" b="1" dirty="0" smtClean="0">
                <a:solidFill>
                  <a:srgbClr val="CC0099"/>
                </a:solidFill>
                <a:latin typeface="Times New Roman" panose="02020603050405020304" pitchFamily="18" charset="0"/>
                <a:ea typeface="宋体" panose="02010600030101010101" pitchFamily="2" charset="-122"/>
                <a:cs typeface="Times New Roman" panose="02020603050405020304" pitchFamily="18" charset="0"/>
              </a:rPr>
              <a:t>靠得很近</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的两个</a:t>
            </a:r>
            <a:r>
              <a:rPr lang="en-US" altLang="zh-CN" sz="2800" b="1"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结构成的半导体器件（基区宽度</a:t>
            </a:r>
            <a:r>
              <a:rPr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a:t>
            </a:r>
            <a:r>
              <a:rPr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基区少子扩散长度）</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229985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rPr>
              <a:t>理想</a:t>
            </a:r>
            <a:r>
              <a:rPr lang="en-US" altLang="zh-CN" dirty="0" err="1">
                <a:ea typeface="宋体" panose="02010600030101010101" pitchFamily="2" charset="-122"/>
              </a:rPr>
              <a:t>npn</a:t>
            </a:r>
            <a:r>
              <a:rPr lang="en-US" altLang="zh-CN" dirty="0">
                <a:ea typeface="宋体" panose="02010600030101010101" pitchFamily="2" charset="-122"/>
              </a:rPr>
              <a:t>-BJT</a:t>
            </a:r>
            <a:endParaRPr lang="zh-CN" altLang="en-US" dirty="0">
              <a:ea typeface="宋体" panose="02010600030101010101" pitchFamily="2" charset="-122"/>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Picture 4"/>
          <p:cNvPicPr>
            <a:picLocks noChangeAspect="1" noChangeArrowheads="1"/>
          </p:cNvPicPr>
          <p:nvPr/>
        </p:nvPicPr>
        <p:blipFill>
          <a:blip r:embed="rId3" cstate="print"/>
          <a:srcRect/>
          <a:stretch>
            <a:fillRect/>
          </a:stretch>
        </p:blipFill>
        <p:spPr bwMode="auto">
          <a:xfrm>
            <a:off x="5029200" y="152400"/>
            <a:ext cx="3512639" cy="2971800"/>
          </a:xfrm>
          <a:prstGeom prst="rect">
            <a:avLst/>
          </a:prstGeom>
          <a:noFill/>
          <a:ln w="9525" algn="ctr">
            <a:noFill/>
            <a:miter lim="800000"/>
            <a:headEnd/>
            <a:tailEnd/>
          </a:ln>
          <a:effectLst/>
        </p:spPr>
      </p:pic>
      <p:pic>
        <p:nvPicPr>
          <p:cNvPr id="6" name="Picture 5"/>
          <p:cNvPicPr>
            <a:picLocks noChangeAspect="1" noChangeArrowheads="1"/>
          </p:cNvPicPr>
          <p:nvPr/>
        </p:nvPicPr>
        <p:blipFill>
          <a:blip r:embed="rId4" cstate="print"/>
          <a:srcRect/>
          <a:stretch>
            <a:fillRect/>
          </a:stretch>
        </p:blipFill>
        <p:spPr bwMode="auto">
          <a:xfrm>
            <a:off x="250825" y="990600"/>
            <a:ext cx="4392613" cy="1763713"/>
          </a:xfrm>
          <a:prstGeom prst="rect">
            <a:avLst/>
          </a:prstGeom>
          <a:noFill/>
          <a:ln w="9525" algn="ctr">
            <a:noFill/>
            <a:miter lim="800000"/>
            <a:headEnd/>
            <a:tailEnd/>
          </a:ln>
          <a:effectLst/>
        </p:spPr>
      </p:pic>
      <p:graphicFrame>
        <p:nvGraphicFramePr>
          <p:cNvPr id="7" name="Object 1"/>
          <p:cNvGraphicFramePr>
            <a:graphicFrameLocks noChangeAspect="1"/>
          </p:cNvGraphicFramePr>
          <p:nvPr>
            <p:extLst>
              <p:ext uri="{D42A27DB-BD31-4B8C-83A1-F6EECF244321}">
                <p14:modId xmlns:p14="http://schemas.microsoft.com/office/powerpoint/2010/main" val="1595990336"/>
              </p:ext>
            </p:extLst>
          </p:nvPr>
        </p:nvGraphicFramePr>
        <p:xfrm>
          <a:off x="838200" y="2895600"/>
          <a:ext cx="7239000" cy="2668588"/>
        </p:xfrm>
        <a:graphic>
          <a:graphicData uri="http://schemas.openxmlformats.org/presentationml/2006/ole">
            <mc:AlternateContent xmlns:mc="http://schemas.openxmlformats.org/markup-compatibility/2006">
              <mc:Choice xmlns:v="urn:schemas-microsoft-com:vml" Requires="v">
                <p:oleObj spid="_x0000_s77856" name="图片" r:id="rId5" imgW="3409920" imgH="1257480" progId="Word.Picture.8">
                  <p:embed/>
                </p:oleObj>
              </mc:Choice>
              <mc:Fallback>
                <p:oleObj name="图片" r:id="rId5" imgW="3409920" imgH="1257480" progId="Word.Picture.8">
                  <p:embed/>
                  <p:pic>
                    <p:nvPicPr>
                      <p:cNvPr id="7"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895600"/>
                        <a:ext cx="7239000" cy="2668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533399" y="5638800"/>
            <a:ext cx="8008439" cy="911019"/>
          </a:xfrm>
          <a:prstGeom prst="rect">
            <a:avLst/>
          </a:prstGeom>
        </p:spPr>
        <p:txBody>
          <a:bodyPr wrap="square">
            <a:spAutoFit/>
          </a:bodyPr>
          <a:lstStyle/>
          <a:p>
            <a:pPr marL="0" marR="0" lvl="0" indent="0" algn="l" defTabSz="914400" rtl="0" eaLnBrk="1" fontAlgn="base" latinLnBrk="0" hangingPunct="1">
              <a:lnSpc>
                <a:spcPct val="95000"/>
              </a:lnSpc>
              <a:spcBef>
                <a:spcPct val="20000"/>
              </a:spcBef>
              <a:spcAft>
                <a:spcPct val="0"/>
              </a:spcAft>
              <a:buClrTx/>
              <a:buSzTx/>
              <a:buFontTx/>
              <a:buNone/>
              <a:tabLst/>
              <a:defRPr/>
            </a:pPr>
            <a:r>
              <a:rPr kumimoji="0" lang="zh-CN" altLang="en-US" sz="2800" b="1" i="0" u="none" strike="noStrike" kern="1200" cap="none" spc="0" normalizeH="0" baseline="0" noProof="0" dirty="0" smtClean="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靠得很近</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：电中性基区宽度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&lt;&lt;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基区少子扩散长度</a:t>
            </a:r>
          </a:p>
          <a:p>
            <a:pPr marL="0" marR="0" lvl="0" indent="0" algn="l" defTabSz="914400" rtl="0" eaLnBrk="1" fontAlgn="base" latinLnBrk="0" hangingPunct="1">
              <a:lnSpc>
                <a:spcPct val="95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即 </a:t>
            </a:r>
            <a:r>
              <a:rPr kumimoji="0" lang="en-US" altLang="zh-CN" sz="28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800" b="1" i="1" u="none" strike="noStrike" kern="1200" cap="none" spc="0" normalizeH="0" baseline="-2500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&lt;&lt; L</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8505105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ea typeface="宋体" panose="02010600030101010101" pitchFamily="2" charset="-122"/>
              </a:rPr>
              <a:t>集成电路中的</a:t>
            </a:r>
            <a:r>
              <a:rPr kumimoji="1" lang="en-US" altLang="zh-CN" dirty="0" err="1">
                <a:ea typeface="宋体" panose="02010600030101010101" pitchFamily="2" charset="-122"/>
              </a:rPr>
              <a:t>npn</a:t>
            </a:r>
            <a:r>
              <a:rPr kumimoji="1" lang="en-US" altLang="zh-CN" dirty="0">
                <a:ea typeface="宋体" panose="02010600030101010101" pitchFamily="2" charset="-122"/>
              </a:rPr>
              <a:t>-BJT</a:t>
            </a:r>
            <a:endParaRPr lang="zh-CN" altLang="en-US" dirty="0">
              <a:ea typeface="宋体" panose="02010600030101010101" pitchFamily="2" charset="-122"/>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Rectangle 6"/>
          <p:cNvSpPr>
            <a:spLocks noChangeArrowheads="1"/>
          </p:cNvSpPr>
          <p:nvPr/>
        </p:nvSpPr>
        <p:spPr bwMode="auto">
          <a:xfrm>
            <a:off x="5724525" y="3933825"/>
            <a:ext cx="3059113" cy="180022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杂质分布特点：</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两头大，中间小</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发射区掺杂浓度</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比基区高很多</a:t>
            </a:r>
          </a:p>
        </p:txBody>
      </p:sp>
      <p:pic>
        <p:nvPicPr>
          <p:cNvPr id="6" name="Picture 7"/>
          <p:cNvPicPr>
            <a:picLocks noChangeAspect="1" noChangeArrowheads="1"/>
          </p:cNvPicPr>
          <p:nvPr/>
        </p:nvPicPr>
        <p:blipFill>
          <a:blip r:embed="rId2" cstate="print"/>
          <a:srcRect/>
          <a:stretch>
            <a:fillRect/>
          </a:stretch>
        </p:blipFill>
        <p:spPr bwMode="auto">
          <a:xfrm>
            <a:off x="250825" y="3048000"/>
            <a:ext cx="5472113" cy="3749675"/>
          </a:xfrm>
          <a:prstGeom prst="rect">
            <a:avLst/>
          </a:prstGeom>
          <a:noFill/>
          <a:ln w="9525">
            <a:noFill/>
            <a:miter lim="800000"/>
            <a:headEnd/>
            <a:tailEnd/>
          </a:ln>
          <a:effectLst/>
        </p:spPr>
      </p:pic>
      <p:sp>
        <p:nvSpPr>
          <p:cNvPr id="7" name="Rectangle 8"/>
          <p:cNvSpPr>
            <a:spLocks noChangeArrowheads="1"/>
          </p:cNvSpPr>
          <p:nvPr/>
        </p:nvSpPr>
        <p:spPr bwMode="auto">
          <a:xfrm>
            <a:off x="5940425" y="696913"/>
            <a:ext cx="3132138" cy="26543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四层结构</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&lt; A</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本征晶体管</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  非本征晶体管</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埋层</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隔离：采用</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a:t>
            </a:r>
          </a:p>
        </p:txBody>
      </p:sp>
      <p:pic>
        <p:nvPicPr>
          <p:cNvPr id="8" name="Picture 9"/>
          <p:cNvPicPr>
            <a:picLocks noChangeAspect="1" noChangeArrowheads="1"/>
          </p:cNvPicPr>
          <p:nvPr/>
        </p:nvPicPr>
        <p:blipFill>
          <a:blip r:embed="rId3" cstate="print"/>
          <a:srcRect/>
          <a:stretch>
            <a:fillRect/>
          </a:stretch>
        </p:blipFill>
        <p:spPr bwMode="auto">
          <a:xfrm>
            <a:off x="395288" y="838200"/>
            <a:ext cx="5472112" cy="2181225"/>
          </a:xfrm>
          <a:prstGeom prst="rect">
            <a:avLst/>
          </a:prstGeom>
          <a:noFill/>
          <a:ln w="9525">
            <a:noFill/>
            <a:miter lim="800000"/>
            <a:headEnd/>
            <a:tailEnd/>
          </a:ln>
          <a:effectLst/>
        </p:spPr>
      </p:pic>
    </p:spTree>
    <p:extLst>
      <p:ext uri="{BB962C8B-B14F-4D97-AF65-F5344CB8AC3E}">
        <p14:creationId xmlns:p14="http://schemas.microsoft.com/office/powerpoint/2010/main" val="301542234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6340CE56-E0A0-46B7-8CFA-A0C34E567847}" type="slidenum">
              <a:rPr lang="en-US" altLang="zh-CN" smtClean="0"/>
              <a:pPr/>
              <a:t>55</a:t>
            </a:fld>
            <a:endParaRPr lang="en-US" altLang="zh-CN" dirty="0"/>
          </a:p>
        </p:txBody>
      </p:sp>
      <p:pic>
        <p:nvPicPr>
          <p:cNvPr id="5" name="图片 4"/>
          <p:cNvPicPr>
            <a:picLocks noChangeAspect="1"/>
          </p:cNvPicPr>
          <p:nvPr/>
        </p:nvPicPr>
        <p:blipFill>
          <a:blip r:embed="rId2"/>
          <a:stretch>
            <a:fillRect/>
          </a:stretch>
        </p:blipFill>
        <p:spPr>
          <a:xfrm>
            <a:off x="3475192" y="153659"/>
            <a:ext cx="5459060" cy="2805201"/>
          </a:xfrm>
          <a:prstGeom prst="rect">
            <a:avLst/>
          </a:prstGeom>
        </p:spPr>
      </p:pic>
      <p:pic>
        <p:nvPicPr>
          <p:cNvPr id="6" name="图片 5"/>
          <p:cNvPicPr>
            <a:picLocks noChangeAspect="1"/>
          </p:cNvPicPr>
          <p:nvPr/>
        </p:nvPicPr>
        <p:blipFill>
          <a:blip r:embed="rId3"/>
          <a:stretch>
            <a:fillRect/>
          </a:stretch>
        </p:blipFill>
        <p:spPr>
          <a:xfrm>
            <a:off x="3026292" y="3392457"/>
            <a:ext cx="6117708" cy="2689165"/>
          </a:xfrm>
          <a:prstGeom prst="rect">
            <a:avLst/>
          </a:prstGeom>
        </p:spPr>
      </p:pic>
      <p:sp>
        <p:nvSpPr>
          <p:cNvPr id="7" name="Rectangle 6"/>
          <p:cNvSpPr>
            <a:spLocks noChangeArrowheads="1"/>
          </p:cNvSpPr>
          <p:nvPr/>
        </p:nvSpPr>
        <p:spPr bwMode="auto">
          <a:xfrm>
            <a:off x="353685" y="310132"/>
            <a:ext cx="3185094" cy="6370975"/>
          </a:xfrm>
          <a:prstGeom prst="rect">
            <a:avLst/>
          </a:prstGeom>
          <a:noFill/>
          <a:ln w="9525">
            <a:noFill/>
            <a:miter lim="800000"/>
            <a:headEnd/>
            <a:tailEnd/>
          </a:ln>
          <a:effectLst/>
        </p:spPr>
        <p:txBody>
          <a:bodyPr wrap="square">
            <a:spAutoFit/>
          </a:bodyPr>
          <a:lstStyle/>
          <a:p>
            <a:pPr marL="180975" marR="0" lvl="0" indent="-180975" algn="l" defTabSz="914400" rtl="0" eaLnBrk="1" fontAlgn="base" latinLnBrk="0" hangingPunct="1">
              <a:lnSpc>
                <a:spcPct val="100000"/>
              </a:lnSpc>
              <a:spcBef>
                <a:spcPct val="0"/>
              </a:spcBef>
              <a:spcAft>
                <a:spcPct val="0"/>
              </a:spcAft>
              <a:buClrTx/>
              <a:buSzTx/>
              <a:buFontTx/>
              <a:buChar char="•"/>
              <a:tabLst/>
              <a:defRPr/>
            </a:pP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结正偏，电子从发射区注入到基区，在基区形成过剩少子。</a:t>
            </a:r>
          </a:p>
          <a:p>
            <a:pPr marL="180975" marR="0" lvl="0" indent="-180975" algn="l" defTabSz="914400" rtl="0" eaLnBrk="1" fontAlgn="base" latinLnBrk="0" hangingPunct="1">
              <a:lnSpc>
                <a:spcPct val="100000"/>
              </a:lnSpc>
              <a:spcBef>
                <a:spcPct val="0"/>
              </a:spcBef>
              <a:spcAft>
                <a:spcPct val="0"/>
              </a:spcAft>
              <a:buClrTx/>
              <a:buSzTx/>
              <a:buFontTx/>
              <a:buChar char="•"/>
              <a:tabLst/>
              <a:defRPr/>
            </a:pP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基区过剩电子向集电区扩散，并同时与空穴复合。</a:t>
            </a:r>
            <a:endPar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180975" marR="0" lvl="0" indent="-180975" algn="l" defTabSz="914400" rtl="0" eaLnBrk="1" fontAlgn="base" latinLnBrk="0" hangingPunct="1">
              <a:lnSpc>
                <a:spcPct val="100000"/>
              </a:lnSpc>
              <a:spcBef>
                <a:spcPct val="0"/>
              </a:spcBef>
              <a:spcAft>
                <a:spcPct val="0"/>
              </a:spcAft>
              <a:buClrTx/>
              <a:buSzTx/>
              <a:buFontTx/>
              <a:buChar char="•"/>
              <a:tabLst/>
              <a:defRPr/>
            </a:pP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结反偏，电场将基区过剩电子拉入集电区，进入集电区的电子数与注入基区的电子数相关。</a:t>
            </a:r>
            <a:endPar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80975" marR="0" lvl="0" indent="-180975" algn="l" defTabSz="914400" rtl="0" eaLnBrk="1" fontAlgn="base" latinLnBrk="0" hangingPunct="1">
              <a:lnSpc>
                <a:spcPct val="100000"/>
              </a:lnSpc>
              <a:spcBef>
                <a:spcPct val="0"/>
              </a:spcBef>
              <a:spcAft>
                <a:spcPct val="0"/>
              </a:spcAft>
              <a:buClrTx/>
              <a:buSzTx/>
              <a:buFontTx/>
              <a:buChar char="•"/>
              <a:tabLst/>
              <a:defRPr/>
            </a:pP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基区电流主要是空穴电流。</a:t>
            </a:r>
            <a:endPar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80975" marR="0" lvl="0" indent="-180975" algn="l" defTabSz="914400" rtl="0" eaLnBrk="1" fontAlgn="base" latinLnBrk="0" hangingPunct="1">
              <a:lnSpc>
                <a:spcPct val="100000"/>
              </a:lnSpc>
              <a:spcBef>
                <a:spcPct val="0"/>
              </a:spcBef>
              <a:spcAft>
                <a:spcPct val="0"/>
              </a:spcAft>
              <a:buClrTx/>
              <a:buSzTx/>
              <a:buFontTx/>
              <a:buChar char="•"/>
              <a:tabLst/>
              <a:defRPr/>
            </a:pP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集电区电流与</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a:t>
            </a:r>
            <a:r>
              <a:rPr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结电压有关，或者说与基区电流有关。</a:t>
            </a:r>
            <a:endPar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80975" marR="0" lvl="0" indent="-180975" algn="l" defTabSz="914400" rtl="0" eaLnBrk="1" fontAlgn="base" latinLnBrk="0" hangingPunct="1">
              <a:lnSpc>
                <a:spcPct val="100000"/>
              </a:lnSpc>
              <a:spcBef>
                <a:spcPct val="0"/>
              </a:spcBef>
              <a:spcAft>
                <a:spcPct val="0"/>
              </a:spcAft>
              <a:buClrTx/>
              <a:buSzTx/>
              <a:buFontTx/>
              <a:buChar char="•"/>
              <a:tabLst/>
              <a:defRPr/>
            </a:pP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发射区为电子电流。</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6184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CA02E30-B6BD-433C-BD05-4055870F5208}"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9682" name="Text Box 2"/>
          <p:cNvSpPr txBox="1">
            <a:spLocks noChangeArrowheads="1"/>
          </p:cNvSpPr>
          <p:nvPr/>
        </p:nvSpPr>
        <p:spPr bwMode="auto">
          <a:xfrm>
            <a:off x="533399" y="1185167"/>
            <a:ext cx="79406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假设基区的电子复合电流很小</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类似短二极管</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，此时基区内少子浓度</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线性变化 </a:t>
            </a:r>
          </a:p>
        </p:txBody>
      </p:sp>
      <p:graphicFrame>
        <p:nvGraphicFramePr>
          <p:cNvPr id="199683" name="Object 3"/>
          <p:cNvGraphicFramePr>
            <a:graphicFrameLocks noChangeAspect="1"/>
          </p:cNvGraphicFramePr>
          <p:nvPr>
            <p:extLst>
              <p:ext uri="{D42A27DB-BD31-4B8C-83A1-F6EECF244321}">
                <p14:modId xmlns:p14="http://schemas.microsoft.com/office/powerpoint/2010/main" val="3661527059"/>
              </p:ext>
            </p:extLst>
          </p:nvPr>
        </p:nvGraphicFramePr>
        <p:xfrm>
          <a:off x="1204686" y="2398483"/>
          <a:ext cx="2763838" cy="977900"/>
        </p:xfrm>
        <a:graphic>
          <a:graphicData uri="http://schemas.openxmlformats.org/presentationml/2006/ole">
            <mc:AlternateContent xmlns:mc="http://schemas.openxmlformats.org/markup-compatibility/2006">
              <mc:Choice xmlns:v="urn:schemas-microsoft-com:vml" Requires="v">
                <p:oleObj spid="_x0000_s80960" name="公式" r:id="rId3" imgW="1256755" imgH="444307" progId="Equation.3">
                  <p:embed/>
                </p:oleObj>
              </mc:Choice>
              <mc:Fallback>
                <p:oleObj name="公式" r:id="rId3" imgW="1256755" imgH="444307" progId="Equation.3">
                  <p:embed/>
                  <p:pic>
                    <p:nvPicPr>
                      <p:cNvPr id="19968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4686" y="2398483"/>
                        <a:ext cx="2763838" cy="97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9685" name="Object 5"/>
          <p:cNvGraphicFramePr>
            <a:graphicFrameLocks noChangeAspect="1"/>
          </p:cNvGraphicFramePr>
          <p:nvPr>
            <p:extLst>
              <p:ext uri="{D42A27DB-BD31-4B8C-83A1-F6EECF244321}">
                <p14:modId xmlns:p14="http://schemas.microsoft.com/office/powerpoint/2010/main" val="2410968265"/>
              </p:ext>
            </p:extLst>
          </p:nvPr>
        </p:nvGraphicFramePr>
        <p:xfrm>
          <a:off x="1719148" y="4037565"/>
          <a:ext cx="5335588" cy="2065337"/>
        </p:xfrm>
        <a:graphic>
          <a:graphicData uri="http://schemas.openxmlformats.org/presentationml/2006/ole">
            <mc:AlternateContent xmlns:mc="http://schemas.openxmlformats.org/markup-compatibility/2006">
              <mc:Choice xmlns:v="urn:schemas-microsoft-com:vml" Requires="v">
                <p:oleObj spid="_x0000_s80961" name="公式" r:id="rId5" imgW="2425680" imgH="939600" progId="Equation.3">
                  <p:embed/>
                </p:oleObj>
              </mc:Choice>
              <mc:Fallback>
                <p:oleObj name="公式" r:id="rId5" imgW="2425680" imgH="939600" progId="Equation.3">
                  <p:embed/>
                  <p:pic>
                    <p:nvPicPr>
                      <p:cNvPr id="19968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9148" y="4037565"/>
                        <a:ext cx="5335588" cy="2065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9687" name="Text Box 7"/>
          <p:cNvSpPr txBox="1">
            <a:spLocks noChangeArrowheads="1"/>
          </p:cNvSpPr>
          <p:nvPr/>
        </p:nvSpPr>
        <p:spPr bwMode="auto">
          <a:xfrm>
            <a:off x="1349828" y="6202363"/>
            <a:ext cx="6188075" cy="51911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通过改变结电压，可以控制电流</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99688" name="Text Box 8"/>
          <p:cNvSpPr txBox="1">
            <a:spLocks noChangeArrowheads="1"/>
          </p:cNvSpPr>
          <p:nvPr/>
        </p:nvSpPr>
        <p:spPr bwMode="auto">
          <a:xfrm>
            <a:off x="541337" y="3414884"/>
            <a:ext cx="3962400" cy="523220"/>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原型晶体管</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的连接</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电流：</a:t>
            </a:r>
          </a:p>
        </p:txBody>
      </p:sp>
      <p:sp>
        <p:nvSpPr>
          <p:cNvPr id="8" name="TextBox 7"/>
          <p:cNvSpPr txBox="1"/>
          <p:nvPr/>
        </p:nvSpPr>
        <p:spPr>
          <a:xfrm>
            <a:off x="4938486" y="2625823"/>
            <a:ext cx="3657600"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800" b="1" i="1" u="none" strike="noStrike" kern="1200" cap="none" spc="0" normalizeH="0" baseline="-2500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电中性基区宽度</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Text Box 8"/>
          <p:cNvSpPr txBox="1">
            <a:spLocks noChangeArrowheads="1"/>
          </p:cNvSpPr>
          <p:nvPr/>
        </p:nvSpPr>
        <p:spPr bwMode="auto">
          <a:xfrm>
            <a:off x="541337" y="175783"/>
            <a:ext cx="80930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考虑原型晶体管结构</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结是突变结，基区由一种材料组成且掺杂均匀。 </a:t>
            </a:r>
          </a:p>
        </p:txBody>
      </p:sp>
    </p:spTree>
    <p:extLst>
      <p:ext uri="{BB962C8B-B14F-4D97-AF65-F5344CB8AC3E}">
        <p14:creationId xmlns:p14="http://schemas.microsoft.com/office/powerpoint/2010/main" val="38344812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200" dirty="0">
                <a:solidFill>
                  <a:schemeClr val="tx1"/>
                </a:solidFill>
                <a:ea typeface="宋体" panose="02010600030101010101" pitchFamily="2" charset="-122"/>
              </a:rPr>
              <a:t>电流增益（考虑放大偏置）</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Picture 4"/>
          <p:cNvPicPr>
            <a:picLocks noChangeAspect="1" noChangeArrowheads="1"/>
          </p:cNvPicPr>
          <p:nvPr/>
        </p:nvPicPr>
        <p:blipFill>
          <a:blip r:embed="rId2" cstate="print"/>
          <a:srcRect/>
          <a:stretch>
            <a:fillRect/>
          </a:stretch>
        </p:blipFill>
        <p:spPr bwMode="auto">
          <a:xfrm>
            <a:off x="1169900" y="685800"/>
            <a:ext cx="7440700" cy="6105214"/>
          </a:xfrm>
          <a:prstGeom prst="rect">
            <a:avLst/>
          </a:prstGeom>
          <a:noFill/>
          <a:ln w="9525" algn="ctr">
            <a:noFill/>
            <a:miter lim="800000"/>
            <a:headEnd/>
            <a:tailEnd/>
          </a:ln>
          <a:effectLst/>
        </p:spPr>
      </p:pic>
      <p:sp>
        <p:nvSpPr>
          <p:cNvPr id="5" name="Rectangle 5"/>
          <p:cNvSpPr>
            <a:spLocks noChangeArrowheads="1"/>
          </p:cNvSpPr>
          <p:nvPr/>
        </p:nvSpPr>
        <p:spPr bwMode="auto">
          <a:xfrm>
            <a:off x="4760068" y="5996869"/>
            <a:ext cx="4307732" cy="480131"/>
          </a:xfrm>
          <a:prstGeom prst="rect">
            <a:avLst/>
          </a:prstGeom>
          <a:noFill/>
          <a:ln w="9525" algn="ctr">
            <a:noFill/>
            <a:miter lim="800000"/>
            <a:headEnd/>
            <a:tailEnd/>
          </a:ln>
          <a:effectLst/>
        </p:spPr>
        <p:txBody>
          <a:bodyPr wrap="square">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少数载流子的浓度分布图</a:t>
            </a:r>
          </a:p>
        </p:txBody>
      </p:sp>
    </p:spTree>
    <p:extLst>
      <p:ext uri="{BB962C8B-B14F-4D97-AF65-F5344CB8AC3E}">
        <p14:creationId xmlns:p14="http://schemas.microsoft.com/office/powerpoint/2010/main" val="198830381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kern="1200" dirty="0" smtClean="0">
                <a:solidFill>
                  <a:srgbClr val="D96227"/>
                </a:solidFill>
                <a:ea typeface="宋体" panose="02010600030101010101" pitchFamily="2" charset="-122"/>
              </a:rPr>
              <a:t>2</a:t>
            </a:r>
            <a:r>
              <a:rPr kumimoji="1" lang="en-US" altLang="zh-CN" kern="1200" dirty="0">
                <a:solidFill>
                  <a:srgbClr val="D96227"/>
                </a:solidFill>
                <a:ea typeface="宋体" panose="02010600030101010101" pitchFamily="2" charset="-122"/>
              </a:rPr>
              <a:t>.</a:t>
            </a:r>
            <a:r>
              <a:rPr kumimoji="1" lang="en-US" altLang="zh-CN" kern="1200" dirty="0" smtClean="0">
                <a:solidFill>
                  <a:srgbClr val="D96227"/>
                </a:solidFill>
                <a:ea typeface="宋体" panose="02010600030101010101" pitchFamily="2" charset="-122"/>
              </a:rPr>
              <a:t> </a:t>
            </a:r>
            <a:r>
              <a:rPr kumimoji="1" lang="zh-CN" altLang="en-US" kern="1200" dirty="0">
                <a:solidFill>
                  <a:srgbClr val="D96227"/>
                </a:solidFill>
                <a:ea typeface="宋体" panose="02010600030101010101" pitchFamily="2" charset="-122"/>
              </a:rPr>
              <a:t>放大偏置</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Text Box 5"/>
          <p:cNvSpPr txBox="1">
            <a:spLocks noChangeArrowheads="1"/>
          </p:cNvSpPr>
          <p:nvPr/>
        </p:nvSpPr>
        <p:spPr bwMode="auto">
          <a:xfrm>
            <a:off x="381000" y="1965325"/>
            <a:ext cx="4206875" cy="109568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15000"/>
              </a:lnSpc>
              <a:spcBef>
                <a:spcPct val="0"/>
              </a:spcBef>
              <a:spcAft>
                <a:spcPct val="0"/>
              </a:spcAft>
              <a:buClrTx/>
              <a:buSzTx/>
              <a:buFontTx/>
              <a:buNone/>
              <a:tabLst/>
              <a:defRPr/>
            </a:pP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npn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晶体管的放大偏置</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&gt;&gt; </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kT</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q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0</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 name="Object 6"/>
          <p:cNvGraphicFramePr>
            <a:graphicFrameLocks noChangeAspect="1"/>
          </p:cNvGraphicFramePr>
          <p:nvPr>
            <p:extLst>
              <p:ext uri="{D42A27DB-BD31-4B8C-83A1-F6EECF244321}">
                <p14:modId xmlns:p14="http://schemas.microsoft.com/office/powerpoint/2010/main" val="2373810398"/>
              </p:ext>
            </p:extLst>
          </p:nvPr>
        </p:nvGraphicFramePr>
        <p:xfrm>
          <a:off x="1143000" y="3160713"/>
          <a:ext cx="2882900" cy="954087"/>
        </p:xfrm>
        <a:graphic>
          <a:graphicData uri="http://schemas.openxmlformats.org/presentationml/2006/ole">
            <mc:AlternateContent xmlns:mc="http://schemas.openxmlformats.org/markup-compatibility/2006">
              <mc:Choice xmlns:v="urn:schemas-microsoft-com:vml" Requires="v">
                <p:oleObj spid="_x0000_s85090" name="公式" r:id="rId4" imgW="1295400" imgH="431800" progId="Equation.3">
                  <p:embed/>
                </p:oleObj>
              </mc:Choice>
              <mc:Fallback>
                <p:oleObj name="公式" r:id="rId4" imgW="1295400" imgH="431800" progId="Equation.3">
                  <p:embed/>
                  <p:pic>
                    <p:nvPicPr>
                      <p:cNvPr id="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3160713"/>
                        <a:ext cx="2882900"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8"/>
          <p:cNvGraphicFramePr>
            <a:graphicFrameLocks noChangeAspect="1"/>
          </p:cNvGraphicFramePr>
          <p:nvPr>
            <p:extLst>
              <p:ext uri="{D42A27DB-BD31-4B8C-83A1-F6EECF244321}">
                <p14:modId xmlns:p14="http://schemas.microsoft.com/office/powerpoint/2010/main" val="2830627751"/>
              </p:ext>
            </p:extLst>
          </p:nvPr>
        </p:nvGraphicFramePr>
        <p:xfrm>
          <a:off x="2743200" y="4141787"/>
          <a:ext cx="1328738" cy="506413"/>
        </p:xfrm>
        <a:graphic>
          <a:graphicData uri="http://schemas.openxmlformats.org/presentationml/2006/ole">
            <mc:AlternateContent xmlns:mc="http://schemas.openxmlformats.org/markup-compatibility/2006">
              <mc:Choice xmlns:v="urn:schemas-microsoft-com:vml" Requires="v">
                <p:oleObj spid="_x0000_s85091" name="公式" r:id="rId6" imgW="596880" imgH="228600" progId="Equation.3">
                  <p:embed/>
                </p:oleObj>
              </mc:Choice>
              <mc:Fallback>
                <p:oleObj name="公式" r:id="rId6" imgW="596880" imgH="228600" progId="Equation.3">
                  <p:embed/>
                  <p:pic>
                    <p:nvPicPr>
                      <p:cNvPr id="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4141787"/>
                        <a:ext cx="1328738"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9"/>
          <p:cNvSpPr txBox="1">
            <a:spLocks noChangeArrowheads="1"/>
          </p:cNvSpPr>
          <p:nvPr/>
        </p:nvSpPr>
        <p:spPr bwMode="auto">
          <a:xfrm>
            <a:off x="381000" y="4648200"/>
            <a:ext cx="5121276" cy="1985159"/>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6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6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随</a:t>
            </a:r>
            <a:r>
              <a:rPr kumimoji="0" lang="en-US" altLang="zh-CN" sz="26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6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指数</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增大</a:t>
            </a:r>
            <a:endPar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右图纵轴上的截距：</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6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endPar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=300K</a:t>
            </a:r>
            <a:r>
              <a:rPr kumimoji="0" lang="zh-CN"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时</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斜率</a:t>
            </a: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60mV/</a:t>
            </a:r>
            <a:r>
              <a:rPr kumimoji="0" lang="zh-CN"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分贝</a:t>
            </a:r>
            <a:endPar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6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思考：</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低偏置区偏离的可能因素 </a:t>
            </a:r>
            <a:endPar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9" name="Group 15"/>
          <p:cNvGrpSpPr>
            <a:grpSpLocks/>
          </p:cNvGrpSpPr>
          <p:nvPr/>
        </p:nvGrpSpPr>
        <p:grpSpPr bwMode="auto">
          <a:xfrm>
            <a:off x="5257800" y="76200"/>
            <a:ext cx="3602038" cy="6781800"/>
            <a:chOff x="3312" y="48"/>
            <a:chExt cx="2269" cy="4272"/>
          </a:xfrm>
        </p:grpSpPr>
        <p:pic>
          <p:nvPicPr>
            <p:cNvPr id="10" name="Picture 11" descr="w0170-n"/>
            <p:cNvPicPr>
              <a:picLocks noChangeAspect="1" noChangeArrowheads="1"/>
            </p:cNvPicPr>
            <p:nvPr/>
          </p:nvPicPr>
          <p:blipFill>
            <a:blip r:embed="rId8" cstate="print"/>
            <a:srcRect/>
            <a:stretch>
              <a:fillRect/>
            </a:stretch>
          </p:blipFill>
          <p:spPr bwMode="auto">
            <a:xfrm>
              <a:off x="3312" y="48"/>
              <a:ext cx="2269" cy="4272"/>
            </a:xfrm>
            <a:prstGeom prst="rect">
              <a:avLst/>
            </a:prstGeom>
            <a:noFill/>
            <a:ln w="9525">
              <a:noFill/>
              <a:miter lim="800000"/>
              <a:headEnd/>
              <a:tailEnd/>
            </a:ln>
          </p:spPr>
        </p:pic>
        <p:sp>
          <p:nvSpPr>
            <p:cNvPr id="11" name="Text Box 13"/>
            <p:cNvSpPr txBox="1">
              <a:spLocks noChangeArrowheads="1"/>
            </p:cNvSpPr>
            <p:nvPr/>
          </p:nvSpPr>
          <p:spPr bwMode="auto">
            <a:xfrm>
              <a:off x="4080" y="3552"/>
              <a:ext cx="346" cy="288"/>
            </a:xfrm>
            <a:prstGeom prst="rect">
              <a:avLst/>
            </a:prstGeom>
            <a:solidFill>
              <a:schemeClr val="bg1"/>
            </a:solid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400" b="1" i="1" u="none" strike="noStrike" kern="120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endParaRPr kumimoji="0" lang="en-US" altLang="zh-CN" sz="2400" b="1" i="1"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Text Box 14"/>
            <p:cNvSpPr txBox="1">
              <a:spLocks noChangeArrowheads="1"/>
            </p:cNvSpPr>
            <p:nvPr/>
          </p:nvSpPr>
          <p:spPr bwMode="auto">
            <a:xfrm>
              <a:off x="4128" y="3120"/>
              <a:ext cx="346" cy="288"/>
            </a:xfrm>
            <a:prstGeom prst="rect">
              <a:avLst/>
            </a:prstGeom>
            <a:solidFill>
              <a:schemeClr val="bg1"/>
            </a:solid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4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T Extra" pitchFamily="18" charset="2"/>
                </a:rPr>
                <a:t></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grpSp>
      <p:graphicFrame>
        <p:nvGraphicFramePr>
          <p:cNvPr id="112644" name="Object 4"/>
          <p:cNvGraphicFramePr>
            <a:graphicFrameLocks noChangeAspect="1"/>
          </p:cNvGraphicFramePr>
          <p:nvPr>
            <p:extLst>
              <p:ext uri="{D42A27DB-BD31-4B8C-83A1-F6EECF244321}">
                <p14:modId xmlns:p14="http://schemas.microsoft.com/office/powerpoint/2010/main" val="3522310283"/>
              </p:ext>
            </p:extLst>
          </p:nvPr>
        </p:nvGraphicFramePr>
        <p:xfrm>
          <a:off x="381000" y="838200"/>
          <a:ext cx="4719638" cy="1004888"/>
        </p:xfrm>
        <a:graphic>
          <a:graphicData uri="http://schemas.openxmlformats.org/presentationml/2006/ole">
            <mc:AlternateContent xmlns:mc="http://schemas.openxmlformats.org/markup-compatibility/2006">
              <mc:Choice xmlns:v="urn:schemas-microsoft-com:vml" Requires="v">
                <p:oleObj spid="_x0000_s85092" name="公式" r:id="rId9" imgW="2146300" imgH="457200" progId="Equation.3">
                  <p:embed/>
                </p:oleObj>
              </mc:Choice>
              <mc:Fallback>
                <p:oleObj name="公式" r:id="rId9" imgW="2146300" imgH="457200" progId="Equation.3">
                  <p:embed/>
                  <p:pic>
                    <p:nvPicPr>
                      <p:cNvPr id="112644"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838200"/>
                        <a:ext cx="4719638" cy="1004888"/>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14" name="TextBox 13"/>
          <p:cNvSpPr txBox="1"/>
          <p:nvPr/>
        </p:nvSpPr>
        <p:spPr>
          <a:xfrm>
            <a:off x="381000" y="4114800"/>
            <a:ext cx="2348720"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集电极电流：</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524247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宋体" panose="02010600030101010101" pitchFamily="2" charset="-122"/>
              </a:rPr>
              <a:t>(1) </a:t>
            </a:r>
            <a:r>
              <a:rPr lang="zh-CN" altLang="en-US" dirty="0" smtClean="0">
                <a:ea typeface="宋体" panose="02010600030101010101" pitchFamily="2" charset="-122"/>
              </a:rPr>
              <a:t>基区总复合电流</a:t>
            </a:r>
            <a:endParaRPr lang="zh-CN" altLang="en-US" dirty="0">
              <a:ea typeface="宋体" panose="02010600030101010101" pitchFamily="2"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804970368"/>
              </p:ext>
            </p:extLst>
          </p:nvPr>
        </p:nvGraphicFramePr>
        <p:xfrm>
          <a:off x="2743200" y="2819400"/>
          <a:ext cx="2468563" cy="949325"/>
        </p:xfrm>
        <a:graphic>
          <a:graphicData uri="http://schemas.openxmlformats.org/presentationml/2006/ole">
            <mc:AlternateContent xmlns:mc="http://schemas.openxmlformats.org/markup-compatibility/2006">
              <mc:Choice xmlns:v="urn:schemas-microsoft-com:vml" Requires="v">
                <p:oleObj spid="_x0000_s88159" name="公式" r:id="rId3" imgW="1117600" imgH="431800" progId="Equation.3">
                  <p:embed/>
                </p:oleObj>
              </mc:Choice>
              <mc:Fallback>
                <p:oleObj name="公式" r:id="rId3" imgW="1117600" imgH="431800" progId="Equation.3">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819400"/>
                        <a:ext cx="2468563"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4147226794"/>
              </p:ext>
            </p:extLst>
          </p:nvPr>
        </p:nvGraphicFramePr>
        <p:xfrm>
          <a:off x="1371600" y="758825"/>
          <a:ext cx="6072188" cy="1146175"/>
        </p:xfrm>
        <a:graphic>
          <a:graphicData uri="http://schemas.openxmlformats.org/presentationml/2006/ole">
            <mc:AlternateContent xmlns:mc="http://schemas.openxmlformats.org/markup-compatibility/2006">
              <mc:Choice xmlns:v="urn:schemas-microsoft-com:vml" Requires="v">
                <p:oleObj spid="_x0000_s88160" name="Equation" r:id="rId5" imgW="2755800" imgH="520560" progId="Equation.DSMT4">
                  <p:embed/>
                </p:oleObj>
              </mc:Choice>
              <mc:Fallback>
                <p:oleObj name="Equation" r:id="rId5" imgW="2755800" imgH="520560" progId="Equation.DSMT4">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758825"/>
                        <a:ext cx="6072188" cy="1146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7"/>
          <p:cNvSpPr txBox="1">
            <a:spLocks noChangeArrowheads="1"/>
          </p:cNvSpPr>
          <p:nvPr/>
        </p:nvSpPr>
        <p:spPr bwMode="auto">
          <a:xfrm>
            <a:off x="609600" y="1873250"/>
            <a:ext cx="80930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简化：放大偏置下大部分基区中</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远大于平衡态电子浓度；寿命与</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关系不大 </a:t>
            </a:r>
          </a:p>
        </p:txBody>
      </p:sp>
      <p:sp>
        <p:nvSpPr>
          <p:cNvPr id="7" name="Text Box 8"/>
          <p:cNvSpPr txBox="1">
            <a:spLocks noChangeArrowheads="1"/>
          </p:cNvSpPr>
          <p:nvPr/>
        </p:nvSpPr>
        <p:spPr bwMode="auto">
          <a:xfrm>
            <a:off x="609600" y="3748087"/>
            <a:ext cx="61880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原型晶体管，</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随</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近似线性变化 </a:t>
            </a:r>
          </a:p>
        </p:txBody>
      </p:sp>
      <p:graphicFrame>
        <p:nvGraphicFramePr>
          <p:cNvPr id="8" name="Object 9"/>
          <p:cNvGraphicFramePr>
            <a:graphicFrameLocks noChangeAspect="1"/>
          </p:cNvGraphicFramePr>
          <p:nvPr>
            <p:extLst>
              <p:ext uri="{D42A27DB-BD31-4B8C-83A1-F6EECF244321}">
                <p14:modId xmlns:p14="http://schemas.microsoft.com/office/powerpoint/2010/main" val="1204462381"/>
              </p:ext>
            </p:extLst>
          </p:nvPr>
        </p:nvGraphicFramePr>
        <p:xfrm>
          <a:off x="2209800" y="4478337"/>
          <a:ext cx="4221163" cy="1008063"/>
        </p:xfrm>
        <a:graphic>
          <a:graphicData uri="http://schemas.openxmlformats.org/presentationml/2006/ole">
            <mc:AlternateContent xmlns:mc="http://schemas.openxmlformats.org/markup-compatibility/2006">
              <mc:Choice xmlns:v="urn:schemas-microsoft-com:vml" Requires="v">
                <p:oleObj spid="_x0000_s88161" name="公式" r:id="rId7" imgW="1917700" imgH="457200" progId="Equation.3">
                  <p:embed/>
                </p:oleObj>
              </mc:Choice>
              <mc:Fallback>
                <p:oleObj name="公式" r:id="rId7" imgW="1917700" imgH="457200" progId="Equation.3">
                  <p:embed/>
                  <p:pic>
                    <p:nvPicPr>
                      <p:cNvPr id="8"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4478337"/>
                        <a:ext cx="4221163"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1"/>
          <p:cNvSpPr txBox="1">
            <a:spLocks noChangeArrowheads="1"/>
          </p:cNvSpPr>
          <p:nvPr/>
        </p:nvSpPr>
        <p:spPr bwMode="auto">
          <a:xfrm>
            <a:off x="609600" y="5562600"/>
            <a:ext cx="77882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通常情况下，</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rB</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[exp(</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qV</a:t>
            </a:r>
            <a:r>
              <a:rPr kumimoji="0"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kT</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a:rPr>
              <a:t></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的比例关系依然成立 </a:t>
            </a:r>
          </a:p>
        </p:txBody>
      </p:sp>
    </p:spTree>
    <p:extLst>
      <p:ext uri="{BB962C8B-B14F-4D97-AF65-F5344CB8AC3E}">
        <p14:creationId xmlns:p14="http://schemas.microsoft.com/office/powerpoint/2010/main" val="200038662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40E561A-7920-43A4-857C-DAF8E8CE99B5}"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8114" name="Text Box 2"/>
          <p:cNvSpPr txBox="1">
            <a:spLocks noChangeArrowheads="1"/>
          </p:cNvSpPr>
          <p:nvPr/>
        </p:nvSpPr>
        <p:spPr bwMode="auto">
          <a:xfrm>
            <a:off x="441325" y="381000"/>
            <a:ext cx="8016875" cy="997196"/>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基区输运系数</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 </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表征载流子在基区内复合所引起的损失</a:t>
            </a:r>
          </a:p>
        </p:txBody>
      </p:sp>
      <p:graphicFrame>
        <p:nvGraphicFramePr>
          <p:cNvPr id="218115" name="Object 3"/>
          <p:cNvGraphicFramePr>
            <a:graphicFrameLocks noChangeAspect="1"/>
          </p:cNvGraphicFramePr>
          <p:nvPr>
            <p:extLst>
              <p:ext uri="{D42A27DB-BD31-4B8C-83A1-F6EECF244321}">
                <p14:modId xmlns:p14="http://schemas.microsoft.com/office/powerpoint/2010/main" val="2099660265"/>
              </p:ext>
            </p:extLst>
          </p:nvPr>
        </p:nvGraphicFramePr>
        <p:xfrm>
          <a:off x="990600" y="1447800"/>
          <a:ext cx="3435350" cy="1033463"/>
        </p:xfrm>
        <a:graphic>
          <a:graphicData uri="http://schemas.openxmlformats.org/presentationml/2006/ole">
            <mc:AlternateContent xmlns:mc="http://schemas.openxmlformats.org/markup-compatibility/2006">
              <mc:Choice xmlns:v="urn:schemas-microsoft-com:vml" Requires="v">
                <p:oleObj spid="_x0000_s89152" name="公式" r:id="rId4" imgW="1562040" imgH="469800" progId="Equation.3">
                  <p:embed/>
                </p:oleObj>
              </mc:Choice>
              <mc:Fallback>
                <p:oleObj name="公式" r:id="rId4" imgW="1562040" imgH="469800" progId="Equation.3">
                  <p:embed/>
                  <p:pic>
                    <p:nvPicPr>
                      <p:cNvPr id="21811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447800"/>
                        <a:ext cx="3435350" cy="10334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218117" name="Text Box 5"/>
          <p:cNvSpPr txBox="1">
            <a:spLocks noChangeArrowheads="1"/>
          </p:cNvSpPr>
          <p:nvPr/>
        </p:nvSpPr>
        <p:spPr bwMode="auto">
          <a:xfrm>
            <a:off x="441325" y="2681287"/>
            <a:ext cx="51974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对于基区均匀掺杂的晶体管 </a:t>
            </a:r>
          </a:p>
        </p:txBody>
      </p:sp>
      <p:graphicFrame>
        <p:nvGraphicFramePr>
          <p:cNvPr id="218118" name="Object 6"/>
          <p:cNvGraphicFramePr>
            <a:graphicFrameLocks noChangeAspect="1"/>
          </p:cNvGraphicFramePr>
          <p:nvPr>
            <p:extLst>
              <p:ext uri="{D42A27DB-BD31-4B8C-83A1-F6EECF244321}">
                <p14:modId xmlns:p14="http://schemas.microsoft.com/office/powerpoint/2010/main" val="2948196544"/>
              </p:ext>
            </p:extLst>
          </p:nvPr>
        </p:nvGraphicFramePr>
        <p:xfrm>
          <a:off x="990600" y="3429000"/>
          <a:ext cx="3351213" cy="1004888"/>
        </p:xfrm>
        <a:graphic>
          <a:graphicData uri="http://schemas.openxmlformats.org/presentationml/2006/ole">
            <mc:AlternateContent xmlns:mc="http://schemas.openxmlformats.org/markup-compatibility/2006">
              <mc:Choice xmlns:v="urn:schemas-microsoft-com:vml" Requires="v">
                <p:oleObj spid="_x0000_s89153" name="公式" r:id="rId6" imgW="1524000" imgH="457200" progId="Equation.3">
                  <p:embed/>
                </p:oleObj>
              </mc:Choice>
              <mc:Fallback>
                <p:oleObj name="公式" r:id="rId6" imgW="1524000" imgH="457200" progId="Equation.3">
                  <p:embed/>
                  <p:pic>
                    <p:nvPicPr>
                      <p:cNvPr id="21811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429000"/>
                        <a:ext cx="3351213" cy="1004888"/>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218120" name="Text Box 8"/>
          <p:cNvSpPr txBox="1">
            <a:spLocks noChangeArrowheads="1"/>
          </p:cNvSpPr>
          <p:nvPr/>
        </p:nvSpPr>
        <p:spPr bwMode="auto">
          <a:xfrm>
            <a:off x="441325" y="4724400"/>
            <a:ext cx="82454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缓变基区可以提高</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，优化输运系数。上式计算出的</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可以被认为是</a:t>
            </a:r>
            <a:r>
              <a:rPr kumimoji="0"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“最坏情况”</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下的值。 </a:t>
            </a:r>
          </a:p>
        </p:txBody>
      </p:sp>
      <p:pic>
        <p:nvPicPr>
          <p:cNvPr id="218122" name="Picture 10"/>
          <p:cNvPicPr>
            <a:picLocks noChangeAspect="1" noChangeArrowheads="1"/>
          </p:cNvPicPr>
          <p:nvPr/>
        </p:nvPicPr>
        <p:blipFill>
          <a:blip r:embed="rId8" cstate="print"/>
          <a:srcRect/>
          <a:stretch>
            <a:fillRect/>
          </a:stretch>
        </p:blipFill>
        <p:spPr bwMode="auto">
          <a:xfrm>
            <a:off x="5257800" y="1447800"/>
            <a:ext cx="3657600" cy="3078163"/>
          </a:xfrm>
          <a:prstGeom prst="rect">
            <a:avLst/>
          </a:prstGeom>
          <a:noFill/>
          <a:ln w="9525">
            <a:solidFill>
              <a:srgbClr val="0000FF"/>
            </a:solidFill>
            <a:miter lim="800000"/>
            <a:headEnd/>
            <a:tailEnd/>
          </a:ln>
        </p:spPr>
      </p:pic>
      <p:sp>
        <p:nvSpPr>
          <p:cNvPr id="9" name="矩形 8"/>
          <p:cNvSpPr/>
          <p:nvPr/>
        </p:nvSpPr>
        <p:spPr>
          <a:xfrm>
            <a:off x="441325" y="5791200"/>
            <a:ext cx="7848600"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分析如何提高基区输运系数？</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478240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宋体" panose="02010600030101010101" pitchFamily="2" charset="-122"/>
              </a:rPr>
              <a:t>(2) </a:t>
            </a:r>
            <a:r>
              <a:rPr lang="zh-CN" altLang="en-US" kern="1200" dirty="0">
                <a:solidFill>
                  <a:schemeClr val="tx1"/>
                </a:solidFill>
                <a:ea typeface="宋体" panose="02010600030101010101" pitchFamily="2" charset="-122"/>
              </a:rPr>
              <a:t>基区向发射区注入的空穴电流</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Object 5"/>
          <p:cNvGraphicFramePr>
            <a:graphicFrameLocks noChangeAspect="1"/>
          </p:cNvGraphicFramePr>
          <p:nvPr>
            <p:extLst>
              <p:ext uri="{D42A27DB-BD31-4B8C-83A1-F6EECF244321}">
                <p14:modId xmlns:p14="http://schemas.microsoft.com/office/powerpoint/2010/main" val="2152194756"/>
              </p:ext>
            </p:extLst>
          </p:nvPr>
        </p:nvGraphicFramePr>
        <p:xfrm>
          <a:off x="2460625" y="1606550"/>
          <a:ext cx="4016375" cy="1060450"/>
        </p:xfrm>
        <a:graphic>
          <a:graphicData uri="http://schemas.openxmlformats.org/presentationml/2006/ole">
            <mc:AlternateContent xmlns:mc="http://schemas.openxmlformats.org/markup-compatibility/2006">
              <mc:Choice xmlns:v="urn:schemas-microsoft-com:vml" Requires="v">
                <p:oleObj spid="_x0000_s90145" name="公式" r:id="rId3" imgW="1841500" imgH="482600" progId="Equation.3">
                  <p:embed/>
                </p:oleObj>
              </mc:Choice>
              <mc:Fallback>
                <p:oleObj name="公式" r:id="rId3" imgW="1841500" imgH="482600" progId="Equation.3">
                  <p:embed/>
                  <p:pic>
                    <p:nvPicPr>
                      <p:cNvPr id="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25" y="1606550"/>
                        <a:ext cx="4016375"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7"/>
          <p:cNvSpPr txBox="1">
            <a:spLocks noChangeArrowheads="1"/>
          </p:cNvSpPr>
          <p:nvPr/>
        </p:nvSpPr>
        <p:spPr bwMode="auto">
          <a:xfrm>
            <a:off x="914400" y="914400"/>
            <a:ext cx="5054589" cy="52322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发射结相当于一个正偏二极管 </a:t>
            </a:r>
          </a:p>
        </p:txBody>
      </p:sp>
      <p:pic>
        <p:nvPicPr>
          <p:cNvPr id="6" name="Picture 11"/>
          <p:cNvPicPr>
            <a:picLocks noChangeAspect="1" noChangeArrowheads="1"/>
          </p:cNvPicPr>
          <p:nvPr/>
        </p:nvPicPr>
        <p:blipFill>
          <a:blip r:embed="rId5" cstate="print"/>
          <a:srcRect/>
          <a:stretch>
            <a:fillRect/>
          </a:stretch>
        </p:blipFill>
        <p:spPr bwMode="auto">
          <a:xfrm>
            <a:off x="974725" y="3087688"/>
            <a:ext cx="7254875" cy="3465512"/>
          </a:xfrm>
          <a:prstGeom prst="rect">
            <a:avLst/>
          </a:prstGeom>
          <a:noFill/>
        </p:spPr>
      </p:pic>
    </p:spTree>
    <p:extLst>
      <p:ext uri="{BB962C8B-B14F-4D97-AF65-F5344CB8AC3E}">
        <p14:creationId xmlns:p14="http://schemas.microsoft.com/office/powerpoint/2010/main" val="2486341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E7E9BF3-F31B-4858-9FB0-38E6CE216AAA}"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27332" name="Picture 4"/>
          <p:cNvPicPr>
            <a:picLocks noChangeAspect="1" noChangeArrowheads="1"/>
          </p:cNvPicPr>
          <p:nvPr/>
        </p:nvPicPr>
        <p:blipFill>
          <a:blip r:embed="rId3" cstate="print"/>
          <a:srcRect/>
          <a:stretch>
            <a:fillRect/>
          </a:stretch>
        </p:blipFill>
        <p:spPr bwMode="auto">
          <a:xfrm>
            <a:off x="1143000" y="2438400"/>
            <a:ext cx="6467475" cy="4037013"/>
          </a:xfrm>
          <a:prstGeom prst="rect">
            <a:avLst/>
          </a:prstGeom>
          <a:noFill/>
        </p:spPr>
      </p:pic>
      <p:sp>
        <p:nvSpPr>
          <p:cNvPr id="227330" name="Text Box 2"/>
          <p:cNvSpPr txBox="1">
            <a:spLocks noChangeArrowheads="1"/>
          </p:cNvSpPr>
          <p:nvPr/>
        </p:nvSpPr>
        <p:spPr bwMode="auto">
          <a:xfrm>
            <a:off x="822325" y="471488"/>
            <a:ext cx="7178675" cy="51911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如果发射极离基区很近（类比短二极管）</a:t>
            </a:r>
          </a:p>
        </p:txBody>
      </p:sp>
      <p:graphicFrame>
        <p:nvGraphicFramePr>
          <p:cNvPr id="227331" name="Object 3"/>
          <p:cNvGraphicFramePr>
            <a:graphicFrameLocks noChangeAspect="1"/>
          </p:cNvGraphicFramePr>
          <p:nvPr>
            <p:extLst>
              <p:ext uri="{D42A27DB-BD31-4B8C-83A1-F6EECF244321}">
                <p14:modId xmlns:p14="http://schemas.microsoft.com/office/powerpoint/2010/main" val="890967217"/>
              </p:ext>
            </p:extLst>
          </p:nvPr>
        </p:nvGraphicFramePr>
        <p:xfrm>
          <a:off x="2257425" y="1177925"/>
          <a:ext cx="4067175" cy="1031875"/>
        </p:xfrm>
        <a:graphic>
          <a:graphicData uri="http://schemas.openxmlformats.org/presentationml/2006/ole">
            <mc:AlternateContent xmlns:mc="http://schemas.openxmlformats.org/markup-compatibility/2006">
              <mc:Choice xmlns:v="urn:schemas-microsoft-com:vml" Requires="v">
                <p:oleObj spid="_x0000_s91169" name="公式" r:id="rId4" imgW="1841500" imgH="469900" progId="Equation.3">
                  <p:embed/>
                </p:oleObj>
              </mc:Choice>
              <mc:Fallback>
                <p:oleObj name="公式" r:id="rId4" imgW="1841500" imgH="469900" progId="Equation.3">
                  <p:embed/>
                  <p:pic>
                    <p:nvPicPr>
                      <p:cNvPr id="22733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7425" y="1177925"/>
                        <a:ext cx="4067175"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792062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A9F145A-12F9-4461-974E-E1E6B0D6DF84}"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0402" name="Text Box 2"/>
          <p:cNvSpPr txBox="1">
            <a:spLocks noChangeArrowheads="1"/>
          </p:cNvSpPr>
          <p:nvPr/>
        </p:nvSpPr>
        <p:spPr bwMode="auto">
          <a:xfrm>
            <a:off x="533400" y="381000"/>
            <a:ext cx="75596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发射效率</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发射区向基区注入电子的效率</a:t>
            </a:r>
          </a:p>
        </p:txBody>
      </p:sp>
      <p:sp>
        <p:nvSpPr>
          <p:cNvPr id="230404" name="Rectangle 4"/>
          <p:cNvSpPr>
            <a:spLocks noChangeArrowheads="1"/>
          </p:cNvSpPr>
          <p:nvPr/>
        </p:nvSpPr>
        <p:spPr bwMode="auto">
          <a:xfrm>
            <a:off x="0" y="2919740"/>
            <a:ext cx="184731" cy="523220"/>
          </a:xfrm>
          <a:prstGeom prst="rect">
            <a:avLst/>
          </a:prstGeom>
          <a:noFill/>
          <a:ln w="9525">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30403" name="Object 3"/>
          <p:cNvGraphicFramePr>
            <a:graphicFrameLocks noChangeAspect="1"/>
          </p:cNvGraphicFramePr>
          <p:nvPr>
            <p:extLst>
              <p:ext uri="{D42A27DB-BD31-4B8C-83A1-F6EECF244321}">
                <p14:modId xmlns:p14="http://schemas.microsoft.com/office/powerpoint/2010/main" val="2137040823"/>
              </p:ext>
            </p:extLst>
          </p:nvPr>
        </p:nvGraphicFramePr>
        <p:xfrm>
          <a:off x="1981200" y="892175"/>
          <a:ext cx="3908425" cy="1089025"/>
        </p:xfrm>
        <a:graphic>
          <a:graphicData uri="http://schemas.openxmlformats.org/presentationml/2006/ole">
            <mc:AlternateContent xmlns:mc="http://schemas.openxmlformats.org/markup-compatibility/2006">
              <mc:Choice xmlns:v="urn:schemas-microsoft-com:vml" Requires="v">
                <p:oleObj spid="_x0000_s96351" name="公式" r:id="rId3" imgW="1777229" imgH="495085" progId="Equation.3">
                  <p:embed/>
                </p:oleObj>
              </mc:Choice>
              <mc:Fallback>
                <p:oleObj name="公式" r:id="rId3" imgW="1777229" imgH="495085" progId="Equation.3">
                  <p:embed/>
                  <p:pic>
                    <p:nvPicPr>
                      <p:cNvPr id="23040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892175"/>
                        <a:ext cx="3908425" cy="108902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0406" name="Rectangle 6"/>
          <p:cNvSpPr>
            <a:spLocks noChangeArrowheads="1"/>
          </p:cNvSpPr>
          <p:nvPr/>
        </p:nvSpPr>
        <p:spPr bwMode="auto">
          <a:xfrm>
            <a:off x="0" y="2838778"/>
            <a:ext cx="184731" cy="523220"/>
          </a:xfrm>
          <a:prstGeom prst="rect">
            <a:avLst/>
          </a:prstGeom>
          <a:noFill/>
          <a:ln w="9525">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30405" name="Object 5"/>
          <p:cNvGraphicFramePr>
            <a:graphicFrameLocks noChangeAspect="1"/>
          </p:cNvGraphicFramePr>
          <p:nvPr>
            <p:extLst>
              <p:ext uri="{D42A27DB-BD31-4B8C-83A1-F6EECF244321}">
                <p14:modId xmlns:p14="http://schemas.microsoft.com/office/powerpoint/2010/main" val="1845840900"/>
              </p:ext>
            </p:extLst>
          </p:nvPr>
        </p:nvGraphicFramePr>
        <p:xfrm>
          <a:off x="5943600" y="3305628"/>
          <a:ext cx="2486025" cy="1479550"/>
        </p:xfrm>
        <a:graphic>
          <a:graphicData uri="http://schemas.openxmlformats.org/presentationml/2006/ole">
            <mc:AlternateContent xmlns:mc="http://schemas.openxmlformats.org/markup-compatibility/2006">
              <mc:Choice xmlns:v="urn:schemas-microsoft-com:vml" Requires="v">
                <p:oleObj spid="_x0000_s96352" name="公式" r:id="rId5" imgW="1130040" imgH="672840" progId="Equation.3">
                  <p:embed/>
                </p:oleObj>
              </mc:Choice>
              <mc:Fallback>
                <p:oleObj name="公式" r:id="rId5" imgW="1130040" imgH="672840" progId="Equation.3">
                  <p:embed/>
                  <p:pic>
                    <p:nvPicPr>
                      <p:cNvPr id="23040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3305628"/>
                        <a:ext cx="2486025" cy="147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0408" name="Text Box 8"/>
          <p:cNvSpPr txBox="1">
            <a:spLocks noChangeArrowheads="1"/>
          </p:cNvSpPr>
          <p:nvPr/>
        </p:nvSpPr>
        <p:spPr bwMode="auto">
          <a:xfrm>
            <a:off x="5318125" y="2772228"/>
            <a:ext cx="25304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原型晶体管</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pic>
        <p:nvPicPr>
          <p:cNvPr id="230410" name="Picture 10"/>
          <p:cNvPicPr>
            <a:picLocks noChangeAspect="1" noChangeArrowheads="1"/>
          </p:cNvPicPr>
          <p:nvPr/>
        </p:nvPicPr>
        <p:blipFill>
          <a:blip r:embed="rId7" cstate="print"/>
          <a:srcRect/>
          <a:stretch>
            <a:fillRect/>
          </a:stretch>
        </p:blipFill>
        <p:spPr bwMode="auto">
          <a:xfrm>
            <a:off x="304800" y="2339975"/>
            <a:ext cx="4495800" cy="3375025"/>
          </a:xfrm>
          <a:prstGeom prst="rect">
            <a:avLst/>
          </a:prstGeom>
          <a:noFill/>
        </p:spPr>
      </p:pic>
      <p:sp>
        <p:nvSpPr>
          <p:cNvPr id="12" name="矩形 11"/>
          <p:cNvSpPr/>
          <p:nvPr/>
        </p:nvSpPr>
        <p:spPr>
          <a:xfrm>
            <a:off x="533400" y="5953780"/>
            <a:ext cx="4648200"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分析如何提高发射效率？</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857709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FFEE2CC-983D-4447-802E-41DCE9B6931C}"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8361" name="Text Box 9"/>
          <p:cNvSpPr txBox="1">
            <a:spLocks noChangeArrowheads="1"/>
          </p:cNvSpPr>
          <p:nvPr/>
        </p:nvSpPr>
        <p:spPr bwMode="auto">
          <a:xfrm>
            <a:off x="533400" y="304800"/>
            <a:ext cx="7924800" cy="946150"/>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定义：正向放大偏置下共基极电流增益</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F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和正向共发射极电流增益</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F</a:t>
            </a:r>
            <a:endPar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endParaRPr>
          </a:p>
        </p:txBody>
      </p:sp>
      <p:graphicFrame>
        <p:nvGraphicFramePr>
          <p:cNvPr id="228362" name="Object 10"/>
          <p:cNvGraphicFramePr>
            <a:graphicFrameLocks noChangeAspect="1"/>
          </p:cNvGraphicFramePr>
          <p:nvPr>
            <p:extLst>
              <p:ext uri="{D42A27DB-BD31-4B8C-83A1-F6EECF244321}">
                <p14:modId xmlns:p14="http://schemas.microsoft.com/office/powerpoint/2010/main" val="186203066"/>
              </p:ext>
            </p:extLst>
          </p:nvPr>
        </p:nvGraphicFramePr>
        <p:xfrm>
          <a:off x="685800" y="1295400"/>
          <a:ext cx="3016250" cy="949325"/>
        </p:xfrm>
        <a:graphic>
          <a:graphicData uri="http://schemas.openxmlformats.org/presentationml/2006/ole">
            <mc:AlternateContent xmlns:mc="http://schemas.openxmlformats.org/markup-compatibility/2006">
              <mc:Choice xmlns:v="urn:schemas-microsoft-com:vml" Requires="v">
                <p:oleObj spid="_x0000_s98461" name="公式" r:id="rId3" imgW="1371600" imgH="431640" progId="Equation.3">
                  <p:embed/>
                </p:oleObj>
              </mc:Choice>
              <mc:Fallback>
                <p:oleObj name="公式" r:id="rId3" imgW="1371600" imgH="431640" progId="Equation.3">
                  <p:embed/>
                  <p:pic>
                    <p:nvPicPr>
                      <p:cNvPr id="228362"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95400"/>
                        <a:ext cx="3016250" cy="94932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228363" name="Text Box 11"/>
          <p:cNvSpPr txBox="1">
            <a:spLocks noChangeArrowheads="1"/>
          </p:cNvSpPr>
          <p:nvPr/>
        </p:nvSpPr>
        <p:spPr bwMode="auto">
          <a:xfrm>
            <a:off x="365125" y="6064250"/>
            <a:ext cx="184150" cy="519113"/>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28364" name="Object 12"/>
          <p:cNvGraphicFramePr>
            <a:graphicFrameLocks noChangeAspect="1"/>
          </p:cNvGraphicFramePr>
          <p:nvPr>
            <p:extLst>
              <p:ext uri="{D42A27DB-BD31-4B8C-83A1-F6EECF244321}">
                <p14:modId xmlns:p14="http://schemas.microsoft.com/office/powerpoint/2010/main" val="702251926"/>
              </p:ext>
            </p:extLst>
          </p:nvPr>
        </p:nvGraphicFramePr>
        <p:xfrm>
          <a:off x="4481513" y="1531143"/>
          <a:ext cx="1309687" cy="477838"/>
        </p:xfrm>
        <a:graphic>
          <a:graphicData uri="http://schemas.openxmlformats.org/presentationml/2006/ole">
            <mc:AlternateContent xmlns:mc="http://schemas.openxmlformats.org/markup-compatibility/2006">
              <mc:Choice xmlns:v="urn:schemas-microsoft-com:vml" Requires="v">
                <p:oleObj spid="_x0000_s98462" name="公式" r:id="rId5" imgW="596641" imgH="215806" progId="Equation.3">
                  <p:embed/>
                </p:oleObj>
              </mc:Choice>
              <mc:Fallback>
                <p:oleObj name="公式" r:id="rId5" imgW="596641" imgH="215806" progId="Equation.3">
                  <p:embed/>
                  <p:pic>
                    <p:nvPicPr>
                      <p:cNvPr id="228364"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1513" y="1531143"/>
                        <a:ext cx="1309687" cy="477838"/>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8366" name="Object 14"/>
          <p:cNvGraphicFramePr>
            <a:graphicFrameLocks noChangeAspect="1"/>
          </p:cNvGraphicFramePr>
          <p:nvPr>
            <p:extLst>
              <p:ext uri="{D42A27DB-BD31-4B8C-83A1-F6EECF244321}">
                <p14:modId xmlns:p14="http://schemas.microsoft.com/office/powerpoint/2010/main" val="2330993194"/>
              </p:ext>
            </p:extLst>
          </p:nvPr>
        </p:nvGraphicFramePr>
        <p:xfrm>
          <a:off x="6400800" y="1295400"/>
          <a:ext cx="1885950" cy="949325"/>
        </p:xfrm>
        <a:graphic>
          <a:graphicData uri="http://schemas.openxmlformats.org/presentationml/2006/ole">
            <mc:AlternateContent xmlns:mc="http://schemas.openxmlformats.org/markup-compatibility/2006">
              <mc:Choice xmlns:v="urn:schemas-microsoft-com:vml" Requires="v">
                <p:oleObj spid="_x0000_s98463" name="公式" r:id="rId7" imgW="850680" imgH="431640" progId="Equation.3">
                  <p:embed/>
                </p:oleObj>
              </mc:Choice>
              <mc:Fallback>
                <p:oleObj name="公式" r:id="rId7" imgW="850680" imgH="431640" progId="Equation.3">
                  <p:embed/>
                  <p:pic>
                    <p:nvPicPr>
                      <p:cNvPr id="228366"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0800" y="1295400"/>
                        <a:ext cx="1885950" cy="94932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8368" name="Text Box 16"/>
          <p:cNvSpPr txBox="1">
            <a:spLocks noChangeArrowheads="1"/>
          </p:cNvSpPr>
          <p:nvPr/>
        </p:nvSpPr>
        <p:spPr bwMode="auto">
          <a:xfrm>
            <a:off x="533400" y="3655621"/>
            <a:ext cx="8229600" cy="992579"/>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2500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接近于</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，所以</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的值很大</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一般为</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左右</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ts val="3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制造工艺的波动，使得</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F</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很难被精确控制。</a:t>
            </a:r>
          </a:p>
        </p:txBody>
      </p:sp>
      <p:sp>
        <p:nvSpPr>
          <p:cNvPr id="228369" name="Text Box 17"/>
          <p:cNvSpPr txBox="1">
            <a:spLocks noChangeArrowheads="1"/>
          </p:cNvSpPr>
          <p:nvPr/>
        </p:nvSpPr>
        <p:spPr bwMode="auto">
          <a:xfrm>
            <a:off x="533400" y="4800600"/>
            <a:ext cx="7924800" cy="1940531"/>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例题： </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0.9996</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0.9947</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出   </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0.9943</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174</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IC-BJT</a:t>
            </a:r>
            <a:r>
              <a:rPr kumimoji="0" lang="zh-CN"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比</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zh-CN"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更接近于</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向发射区注入空穴限制了晶体管的电流</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增益。</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0181" name="Object 5"/>
          <p:cNvGraphicFramePr>
            <a:graphicFrameLocks noChangeAspect="1"/>
          </p:cNvGraphicFramePr>
          <p:nvPr>
            <p:extLst>
              <p:ext uri="{D42A27DB-BD31-4B8C-83A1-F6EECF244321}">
                <p14:modId xmlns:p14="http://schemas.microsoft.com/office/powerpoint/2010/main" val="2828778338"/>
              </p:ext>
            </p:extLst>
          </p:nvPr>
        </p:nvGraphicFramePr>
        <p:xfrm>
          <a:off x="4992688" y="2438400"/>
          <a:ext cx="2932112" cy="1089025"/>
        </p:xfrm>
        <a:graphic>
          <a:graphicData uri="http://schemas.openxmlformats.org/presentationml/2006/ole">
            <mc:AlternateContent xmlns:mc="http://schemas.openxmlformats.org/markup-compatibility/2006">
              <mc:Choice xmlns:v="urn:schemas-microsoft-com:vml" Requires="v">
                <p:oleObj spid="_x0000_s98464" name="Equation" r:id="rId9" imgW="1333440" imgH="495000" progId="Equation.DSMT4">
                  <p:embed/>
                </p:oleObj>
              </mc:Choice>
              <mc:Fallback>
                <p:oleObj name="Equation" r:id="rId9" imgW="1333440" imgH="495000" progId="Equation.DSMT4">
                  <p:embed/>
                  <p:pic>
                    <p:nvPicPr>
                      <p:cNvPr id="5018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2688" y="2438400"/>
                        <a:ext cx="2932112" cy="1089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extLst>
              <p:ext uri="{D42A27DB-BD31-4B8C-83A1-F6EECF244321}">
                <p14:modId xmlns:p14="http://schemas.microsoft.com/office/powerpoint/2010/main" val="2112870757"/>
              </p:ext>
            </p:extLst>
          </p:nvPr>
        </p:nvGraphicFramePr>
        <p:xfrm>
          <a:off x="990600" y="2466181"/>
          <a:ext cx="3073400" cy="1033463"/>
        </p:xfrm>
        <a:graphic>
          <a:graphicData uri="http://schemas.openxmlformats.org/presentationml/2006/ole">
            <mc:AlternateContent xmlns:mc="http://schemas.openxmlformats.org/markup-compatibility/2006">
              <mc:Choice xmlns:v="urn:schemas-microsoft-com:vml" Requires="v">
                <p:oleObj spid="_x0000_s98465" name="Equation" r:id="rId11" imgW="1396800" imgH="469800" progId="Equation.DSMT4">
                  <p:embed/>
                </p:oleObj>
              </mc:Choice>
              <mc:Fallback>
                <p:oleObj name="Equation" r:id="rId11" imgW="1396800" imgH="469800" progId="Equation.DSMT4">
                  <p:embed/>
                  <p:pic>
                    <p:nvPicPr>
                      <p:cNvPr id="5018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0600" y="2466181"/>
                        <a:ext cx="3073400" cy="1033463"/>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234434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150870" y="533400"/>
            <a:ext cx="5612130" cy="4560570"/>
            <a:chOff x="2617470" y="914400"/>
            <a:chExt cx="5612130" cy="4560570"/>
          </a:xfrm>
        </p:grpSpPr>
        <p:pic>
          <p:nvPicPr>
            <p:cNvPr id="193537" name="Picture 1"/>
            <p:cNvPicPr>
              <a:picLocks noChangeAspect="1" noChangeArrowheads="1"/>
            </p:cNvPicPr>
            <p:nvPr/>
          </p:nvPicPr>
          <p:blipFill>
            <a:blip r:embed="rId2" cstate="print"/>
            <a:srcRect/>
            <a:stretch>
              <a:fillRect/>
            </a:stretch>
          </p:blipFill>
          <p:spPr bwMode="auto">
            <a:xfrm>
              <a:off x="2617470" y="914400"/>
              <a:ext cx="5612130" cy="4560570"/>
            </a:xfrm>
            <a:prstGeom prst="rect">
              <a:avLst/>
            </a:prstGeom>
            <a:noFill/>
            <a:ln w="9525">
              <a:noFill/>
              <a:miter lim="800000"/>
              <a:headEnd/>
              <a:tailEnd/>
            </a:ln>
          </p:spPr>
        </p:pic>
        <p:sp>
          <p:nvSpPr>
            <p:cNvPr id="7" name="Text Box 7"/>
            <p:cNvSpPr txBox="1">
              <a:spLocks noChangeArrowheads="1"/>
            </p:cNvSpPr>
            <p:nvPr/>
          </p:nvSpPr>
          <p:spPr bwMode="auto">
            <a:xfrm>
              <a:off x="2895600" y="2438400"/>
              <a:ext cx="1600200"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反向放大</a:t>
              </a:r>
            </a:p>
          </p:txBody>
        </p:sp>
        <p:sp>
          <p:nvSpPr>
            <p:cNvPr id="8" name="Text Box 8"/>
            <p:cNvSpPr txBox="1">
              <a:spLocks noChangeArrowheads="1"/>
            </p:cNvSpPr>
            <p:nvPr/>
          </p:nvSpPr>
          <p:spPr bwMode="auto">
            <a:xfrm>
              <a:off x="6096000" y="3810000"/>
              <a:ext cx="1600200"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正向放大</a:t>
              </a:r>
            </a:p>
          </p:txBody>
        </p:sp>
        <p:sp>
          <p:nvSpPr>
            <p:cNvPr id="9" name="Text Box 9"/>
            <p:cNvSpPr txBox="1">
              <a:spLocks noChangeArrowheads="1"/>
            </p:cNvSpPr>
            <p:nvPr/>
          </p:nvSpPr>
          <p:spPr bwMode="auto">
            <a:xfrm>
              <a:off x="6324600" y="2438400"/>
              <a:ext cx="1295400"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饱和</a:t>
              </a:r>
            </a:p>
          </p:txBody>
        </p:sp>
        <p:sp>
          <p:nvSpPr>
            <p:cNvPr id="10" name="Text Box 10"/>
            <p:cNvSpPr txBox="1">
              <a:spLocks noChangeArrowheads="1"/>
            </p:cNvSpPr>
            <p:nvPr/>
          </p:nvSpPr>
          <p:spPr bwMode="auto">
            <a:xfrm>
              <a:off x="3200400" y="3810000"/>
              <a:ext cx="1295400"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截止</a:t>
              </a:r>
            </a:p>
          </p:txBody>
        </p:sp>
      </p:grpSp>
      <p:sp>
        <p:nvSpPr>
          <p:cNvPr id="2" name="标题 1"/>
          <p:cNvSpPr>
            <a:spLocks noGrp="1"/>
          </p:cNvSpPr>
          <p:nvPr>
            <p:ph type="title"/>
          </p:nvPr>
        </p:nvSpPr>
        <p:spPr/>
        <p:txBody>
          <a:bodyPr/>
          <a:lstStyle/>
          <a:p>
            <a:r>
              <a:rPr kumimoji="1" lang="en-US" altLang="zh-CN" kern="1200" dirty="0" smtClean="0">
                <a:solidFill>
                  <a:srgbClr val="D96227"/>
                </a:solidFill>
                <a:ea typeface="宋体" panose="02010600030101010101" pitchFamily="2" charset="-122"/>
              </a:rPr>
              <a:t>3. </a:t>
            </a:r>
            <a:r>
              <a:rPr kumimoji="1" lang="zh-CN" altLang="en-US" kern="1200" dirty="0">
                <a:solidFill>
                  <a:srgbClr val="D96227"/>
                </a:solidFill>
                <a:ea typeface="宋体" panose="02010600030101010101" pitchFamily="2" charset="-122"/>
              </a:rPr>
              <a:t>晶体管开关工作</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txBox="1">
            <a:spLocks/>
          </p:cNvSpPr>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0450850-5BA7-46B8-AC53-5CC9A5C9B1CF}"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5"/>
          <p:cNvSpPr>
            <a:spLocks noChangeArrowheads="1"/>
          </p:cNvSpPr>
          <p:nvPr/>
        </p:nvSpPr>
        <p:spPr bwMode="auto">
          <a:xfrm>
            <a:off x="685800" y="5486400"/>
            <a:ext cx="3657600" cy="519113"/>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npn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晶体管工作区域 </a:t>
            </a:r>
          </a:p>
        </p:txBody>
      </p:sp>
    </p:spTree>
    <p:extLst>
      <p:ext uri="{BB962C8B-B14F-4D97-AF65-F5344CB8AC3E}">
        <p14:creationId xmlns:p14="http://schemas.microsoft.com/office/powerpoint/2010/main" val="31206208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1E0C25-C4B8-4542-A82A-BE9CBE3074A5}"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4130" name="Rectangle 2"/>
          <p:cNvSpPr>
            <a:spLocks noGrp="1" noChangeArrowheads="1"/>
          </p:cNvSpPr>
          <p:nvPr>
            <p:ph type="title"/>
          </p:nvPr>
        </p:nvSpPr>
        <p:spPr bwMode="auto">
          <a:xfrm>
            <a:off x="252000" y="252000"/>
            <a:ext cx="8229600" cy="563562"/>
          </a:xfrm>
          <a:noFill/>
          <a:ln>
            <a:miter lim="800000"/>
            <a:headEnd/>
            <a:tailEnd/>
          </a:ln>
        </p:spPr>
        <p:txBody>
          <a:bodyPr vert="horz" wrap="square" lIns="91440" tIns="45720" rIns="91440" bIns="45720" numCol="1" anchor="t" anchorCtr="0" compatLnSpc="1">
            <a:prstTxWarp prst="textNoShape">
              <a:avLst/>
            </a:prstTxWarp>
          </a:bodyPr>
          <a:lstStyle/>
          <a:p>
            <a:pPr algn="l"/>
            <a:r>
              <a:rPr kumimoji="1" lang="zh-CN" altLang="en-US" kern="1200" dirty="0" smtClean="0">
                <a:solidFill>
                  <a:srgbClr val="D96227"/>
                </a:solidFill>
                <a:ea typeface="宋体" panose="02010600030101010101" pitchFamily="2" charset="-122"/>
              </a:rPr>
              <a:t>原型晶体管</a:t>
            </a:r>
            <a:endParaRPr kumimoji="1" lang="zh-CN" altLang="en-US" kern="1200" dirty="0">
              <a:solidFill>
                <a:srgbClr val="D96227"/>
              </a:solidFill>
              <a:ea typeface="宋体" panose="02010600030101010101" pitchFamily="2" charset="-122"/>
            </a:endParaRPr>
          </a:p>
        </p:txBody>
      </p:sp>
      <p:pic>
        <p:nvPicPr>
          <p:cNvPr id="304140" name="Picture 12"/>
          <p:cNvPicPr>
            <a:picLocks noChangeAspect="1" noChangeArrowheads="1"/>
          </p:cNvPicPr>
          <p:nvPr/>
        </p:nvPicPr>
        <p:blipFill>
          <a:blip r:embed="rId3" cstate="print"/>
          <a:srcRect/>
          <a:stretch>
            <a:fillRect/>
          </a:stretch>
        </p:blipFill>
        <p:spPr bwMode="auto">
          <a:xfrm>
            <a:off x="304800" y="2038350"/>
            <a:ext cx="4391025" cy="2686050"/>
          </a:xfrm>
          <a:prstGeom prst="rect">
            <a:avLst/>
          </a:prstGeom>
          <a:noFill/>
        </p:spPr>
      </p:pic>
      <p:pic>
        <p:nvPicPr>
          <p:cNvPr id="304141" name="Picture 13"/>
          <p:cNvPicPr>
            <a:picLocks noChangeAspect="1" noChangeArrowheads="1"/>
          </p:cNvPicPr>
          <p:nvPr/>
        </p:nvPicPr>
        <p:blipFill>
          <a:blip r:embed="rId4" cstate="print"/>
          <a:srcRect/>
          <a:stretch>
            <a:fillRect/>
          </a:stretch>
        </p:blipFill>
        <p:spPr bwMode="auto">
          <a:xfrm>
            <a:off x="4210050" y="4314825"/>
            <a:ext cx="4781550" cy="2238375"/>
          </a:xfrm>
          <a:prstGeom prst="rect">
            <a:avLst/>
          </a:prstGeom>
          <a:noFill/>
        </p:spPr>
      </p:pic>
      <p:sp>
        <p:nvSpPr>
          <p:cNvPr id="304142" name="Text Box 14"/>
          <p:cNvSpPr txBox="1">
            <a:spLocks noChangeArrowheads="1"/>
          </p:cNvSpPr>
          <p:nvPr/>
        </p:nvSpPr>
        <p:spPr bwMode="auto">
          <a:xfrm>
            <a:off x="5257800" y="2360612"/>
            <a:ext cx="3429000" cy="137318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平衡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零偏压</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条件下的晶体管能带图和电子浓度分布 </a:t>
            </a:r>
          </a:p>
        </p:txBody>
      </p:sp>
      <p:sp>
        <p:nvSpPr>
          <p:cNvPr id="7" name="矩形 6"/>
          <p:cNvSpPr/>
          <p:nvPr/>
        </p:nvSpPr>
        <p:spPr>
          <a:xfrm>
            <a:off x="381000" y="798493"/>
            <a:ext cx="8305800"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定性分析</a:t>
            </a:r>
            <a:r>
              <a:rPr kumimoji="0" lang="zh-CN"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原型晶体管在平衡和不同偏压条件下的能带图和电子</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基区少数载流子</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的浓度分布</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p:cNvSpPr/>
          <p:nvPr/>
        </p:nvSpPr>
        <p:spPr>
          <a:xfrm>
            <a:off x="381000" y="5029200"/>
            <a:ext cx="3733800" cy="129266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基区只有少量电子，由于势垒的存在，电子无法从其它两个区域注入。</a:t>
            </a:r>
            <a:endPar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8613263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B95E92-6607-426F-8E81-D6E86898C743}"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6850" name="Text Box 2"/>
          <p:cNvSpPr txBox="1">
            <a:spLocks noChangeArrowheads="1"/>
          </p:cNvSpPr>
          <p:nvPr/>
        </p:nvSpPr>
        <p:spPr bwMode="auto">
          <a:xfrm>
            <a:off x="441325" y="447675"/>
            <a:ext cx="5426075" cy="523220"/>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放大偏置，</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&gt; 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&lt; 0</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06852" name="Picture 4"/>
          <p:cNvPicPr>
            <a:picLocks noChangeAspect="1" noChangeArrowheads="1"/>
          </p:cNvPicPr>
          <p:nvPr/>
        </p:nvPicPr>
        <p:blipFill>
          <a:blip r:embed="rId2" cstate="print"/>
          <a:srcRect/>
          <a:stretch>
            <a:fillRect/>
          </a:stretch>
        </p:blipFill>
        <p:spPr bwMode="auto">
          <a:xfrm>
            <a:off x="533400" y="1371600"/>
            <a:ext cx="4895850" cy="4229100"/>
          </a:xfrm>
          <a:prstGeom prst="rect">
            <a:avLst/>
          </a:prstGeom>
          <a:noFill/>
        </p:spPr>
      </p:pic>
      <p:sp>
        <p:nvSpPr>
          <p:cNvPr id="206853" name="Text Box 5"/>
          <p:cNvSpPr txBox="1">
            <a:spLocks noChangeArrowheads="1"/>
          </p:cNvSpPr>
          <p:nvPr/>
        </p:nvSpPr>
        <p:spPr bwMode="auto">
          <a:xfrm>
            <a:off x="4648200" y="1219200"/>
            <a:ext cx="4114800" cy="190658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2500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正偏时结势垒降低，正偏结向基区注入电子</a:t>
            </a:r>
          </a:p>
          <a:p>
            <a:pPr marL="0" marR="0" lvl="0" indent="0" algn="l" defTabSz="914400" rtl="0" eaLnBrk="1" fontAlgn="base" latinLnBrk="0" hangingPunct="1">
              <a:lnSpc>
                <a:spcPct val="100000"/>
              </a:lnSpc>
              <a:spcBef>
                <a:spcPct val="25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基区中的电子一旦靠近反偏结，就会被拉入</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区 </a:t>
            </a:r>
          </a:p>
        </p:txBody>
      </p:sp>
      <p:sp>
        <p:nvSpPr>
          <p:cNvPr id="206854" name="Text Box 6"/>
          <p:cNvSpPr txBox="1">
            <a:spLocks noChangeArrowheads="1"/>
          </p:cNvSpPr>
          <p:nvPr/>
        </p:nvSpPr>
        <p:spPr bwMode="auto">
          <a:xfrm>
            <a:off x="954088" y="5638800"/>
            <a:ext cx="1408112"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发射结</a:t>
            </a:r>
          </a:p>
        </p:txBody>
      </p:sp>
      <p:sp>
        <p:nvSpPr>
          <p:cNvPr id="206855" name="Text Box 7"/>
          <p:cNvSpPr txBox="1">
            <a:spLocks noChangeArrowheads="1"/>
          </p:cNvSpPr>
          <p:nvPr/>
        </p:nvSpPr>
        <p:spPr bwMode="auto">
          <a:xfrm>
            <a:off x="3032125" y="5638800"/>
            <a:ext cx="15398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集电结</a:t>
            </a:r>
          </a:p>
        </p:txBody>
      </p:sp>
      <p:sp>
        <p:nvSpPr>
          <p:cNvPr id="10" name="椭圆 9"/>
          <p:cNvSpPr/>
          <p:nvPr/>
        </p:nvSpPr>
        <p:spPr bwMode="auto">
          <a:xfrm>
            <a:off x="1828800" y="1752600"/>
            <a:ext cx="180000" cy="180000"/>
          </a:xfrm>
          <a:prstGeom prst="ellipse">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椭圆 10"/>
          <p:cNvSpPr/>
          <p:nvPr/>
        </p:nvSpPr>
        <p:spPr bwMode="auto">
          <a:xfrm>
            <a:off x="3581400" y="2514600"/>
            <a:ext cx="180000" cy="180000"/>
          </a:xfrm>
          <a:prstGeom prst="ellipse">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椭圆 11"/>
          <p:cNvSpPr/>
          <p:nvPr/>
        </p:nvSpPr>
        <p:spPr bwMode="auto">
          <a:xfrm>
            <a:off x="1143000" y="2209800"/>
            <a:ext cx="180000" cy="180000"/>
          </a:xfrm>
          <a:prstGeom prst="ellipse">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 name="直接箭头连接符 22"/>
          <p:cNvCxnSpPr>
            <a:stCxn id="12" idx="7"/>
            <a:endCxn id="10" idx="2"/>
          </p:cNvCxnSpPr>
          <p:nvPr/>
        </p:nvCxnSpPr>
        <p:spPr bwMode="auto">
          <a:xfrm flipV="1">
            <a:off x="1296640" y="1842600"/>
            <a:ext cx="532160" cy="393560"/>
          </a:xfrm>
          <a:prstGeom prst="straightConnector1">
            <a:avLst/>
          </a:prstGeom>
          <a:solidFill>
            <a:schemeClr val="accent1"/>
          </a:solidFill>
          <a:ln w="38100" cap="flat" cmpd="sng" algn="ctr">
            <a:solidFill>
              <a:srgbClr val="3333CC"/>
            </a:solidFill>
            <a:prstDash val="solid"/>
            <a:round/>
            <a:headEnd type="none" w="med" len="med"/>
            <a:tailEnd type="triangle" w="med" len="lg"/>
          </a:ln>
          <a:effectLst/>
        </p:spPr>
      </p:cxnSp>
      <p:cxnSp>
        <p:nvCxnSpPr>
          <p:cNvPr id="26" name="直接连接符 25"/>
          <p:cNvCxnSpPr>
            <a:stCxn id="10" idx="6"/>
          </p:cNvCxnSpPr>
          <p:nvPr/>
        </p:nvCxnSpPr>
        <p:spPr bwMode="auto">
          <a:xfrm flipV="1">
            <a:off x="2008800" y="1828800"/>
            <a:ext cx="1344000" cy="0"/>
          </a:xfrm>
          <a:prstGeom prst="line">
            <a:avLst/>
          </a:prstGeom>
          <a:solidFill>
            <a:schemeClr val="accent1"/>
          </a:solidFill>
          <a:ln w="38100" cap="flat" cmpd="sng" algn="ctr">
            <a:solidFill>
              <a:srgbClr val="3333CC"/>
            </a:solidFill>
            <a:prstDash val="solid"/>
            <a:round/>
            <a:headEnd type="none" w="med" len="med"/>
            <a:tailEnd type="none" w="med" len="med"/>
          </a:ln>
          <a:effectLst/>
        </p:spPr>
      </p:cxnSp>
      <p:cxnSp>
        <p:nvCxnSpPr>
          <p:cNvPr id="28" name="直接箭头连接符 27"/>
          <p:cNvCxnSpPr/>
          <p:nvPr/>
        </p:nvCxnSpPr>
        <p:spPr bwMode="auto">
          <a:xfrm>
            <a:off x="3352800" y="1828800"/>
            <a:ext cx="304800" cy="685800"/>
          </a:xfrm>
          <a:prstGeom prst="straightConnector1">
            <a:avLst/>
          </a:prstGeom>
          <a:solidFill>
            <a:schemeClr val="accent1"/>
          </a:solidFill>
          <a:ln w="38100" cap="flat" cmpd="sng" algn="ctr">
            <a:solidFill>
              <a:srgbClr val="3333CC"/>
            </a:solidFill>
            <a:prstDash val="solid"/>
            <a:round/>
            <a:headEnd type="none" w="med" len="med"/>
            <a:tailEnd type="triangle" w="med" len="lg"/>
          </a:ln>
          <a:effectLst/>
        </p:spPr>
      </p:cxnSp>
    </p:spTree>
    <p:extLst>
      <p:ext uri="{BB962C8B-B14F-4D97-AF65-F5344CB8AC3E}">
        <p14:creationId xmlns:p14="http://schemas.microsoft.com/office/powerpoint/2010/main" val="218457519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62062E4-03A7-418A-A77E-EE5E2C8B4662}"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3474" name="Text Box 2"/>
          <p:cNvSpPr txBox="1">
            <a:spLocks noChangeArrowheads="1"/>
          </p:cNvSpPr>
          <p:nvPr/>
        </p:nvSpPr>
        <p:spPr bwMode="auto">
          <a:xfrm>
            <a:off x="381000" y="304800"/>
            <a:ext cx="3733800"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ü"/>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反向放大偏置 </a:t>
            </a:r>
          </a:p>
        </p:txBody>
      </p:sp>
      <p:graphicFrame>
        <p:nvGraphicFramePr>
          <p:cNvPr id="233476" name="Object 4"/>
          <p:cNvGraphicFramePr>
            <a:graphicFrameLocks noChangeAspect="1"/>
          </p:cNvGraphicFramePr>
          <p:nvPr>
            <p:extLst>
              <p:ext uri="{D42A27DB-BD31-4B8C-83A1-F6EECF244321}">
                <p14:modId xmlns:p14="http://schemas.microsoft.com/office/powerpoint/2010/main" val="1710093334"/>
              </p:ext>
            </p:extLst>
          </p:nvPr>
        </p:nvGraphicFramePr>
        <p:xfrm>
          <a:off x="7239000" y="1676400"/>
          <a:ext cx="1214438" cy="952500"/>
        </p:xfrm>
        <a:graphic>
          <a:graphicData uri="http://schemas.openxmlformats.org/presentationml/2006/ole">
            <mc:AlternateContent xmlns:mc="http://schemas.openxmlformats.org/markup-compatibility/2006">
              <mc:Choice xmlns:v="urn:schemas-microsoft-com:vml" Requires="v">
                <p:oleObj spid="_x0000_s99392" name="公式" r:id="rId3" imgW="545760" imgH="431640" progId="Equation.3">
                  <p:embed/>
                </p:oleObj>
              </mc:Choice>
              <mc:Fallback>
                <p:oleObj name="公式" r:id="rId3" imgW="545760" imgH="431640" progId="Equation.3">
                  <p:embed/>
                  <p:pic>
                    <p:nvPicPr>
                      <p:cNvPr id="2334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1676400"/>
                        <a:ext cx="1214438"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33478" name="Picture 6"/>
          <p:cNvPicPr>
            <a:picLocks noChangeAspect="1" noChangeArrowheads="1"/>
          </p:cNvPicPr>
          <p:nvPr/>
        </p:nvPicPr>
        <p:blipFill>
          <a:blip r:embed="rId5" cstate="print"/>
          <a:srcRect/>
          <a:stretch>
            <a:fillRect/>
          </a:stretch>
        </p:blipFill>
        <p:spPr bwMode="auto">
          <a:xfrm>
            <a:off x="762000" y="3657600"/>
            <a:ext cx="5943600" cy="2838450"/>
          </a:xfrm>
          <a:prstGeom prst="rect">
            <a:avLst/>
          </a:prstGeom>
          <a:noFill/>
        </p:spPr>
      </p:pic>
      <p:pic>
        <p:nvPicPr>
          <p:cNvPr id="233479" name="Picture 7" descr="w0174-n"/>
          <p:cNvPicPr>
            <a:picLocks noChangeAspect="1" noChangeArrowheads="1"/>
          </p:cNvPicPr>
          <p:nvPr/>
        </p:nvPicPr>
        <p:blipFill>
          <a:blip r:embed="rId6" cstate="print"/>
          <a:srcRect/>
          <a:stretch>
            <a:fillRect/>
          </a:stretch>
        </p:blipFill>
        <p:spPr bwMode="auto">
          <a:xfrm>
            <a:off x="762000" y="1143000"/>
            <a:ext cx="5943600" cy="1952625"/>
          </a:xfrm>
          <a:prstGeom prst="rect">
            <a:avLst/>
          </a:prstGeom>
          <a:noFill/>
          <a:ln w="9525">
            <a:noFill/>
            <a:miter lim="800000"/>
            <a:headEnd/>
            <a:tailEnd/>
          </a:ln>
        </p:spPr>
      </p:pic>
      <p:graphicFrame>
        <p:nvGraphicFramePr>
          <p:cNvPr id="233480" name="Object 8"/>
          <p:cNvGraphicFramePr>
            <a:graphicFrameLocks noChangeAspect="1"/>
          </p:cNvGraphicFramePr>
          <p:nvPr>
            <p:extLst>
              <p:ext uri="{D42A27DB-BD31-4B8C-83A1-F6EECF244321}">
                <p14:modId xmlns:p14="http://schemas.microsoft.com/office/powerpoint/2010/main" val="163062328"/>
              </p:ext>
            </p:extLst>
          </p:nvPr>
        </p:nvGraphicFramePr>
        <p:xfrm>
          <a:off x="7239000" y="4648200"/>
          <a:ext cx="1214438" cy="952500"/>
        </p:xfrm>
        <a:graphic>
          <a:graphicData uri="http://schemas.openxmlformats.org/presentationml/2006/ole">
            <mc:AlternateContent xmlns:mc="http://schemas.openxmlformats.org/markup-compatibility/2006">
              <mc:Choice xmlns:v="urn:schemas-microsoft-com:vml" Requires="v">
                <p:oleObj spid="_x0000_s99393" name="公式" r:id="rId7" imgW="545760" imgH="431640" progId="Equation.3">
                  <p:embed/>
                </p:oleObj>
              </mc:Choice>
              <mc:Fallback>
                <p:oleObj name="公式" r:id="rId7" imgW="545760" imgH="431640" progId="Equation.3">
                  <p:embed/>
                  <p:pic>
                    <p:nvPicPr>
                      <p:cNvPr id="23348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9000" y="4648200"/>
                        <a:ext cx="1214438"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183271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99BB348-DA5A-4CB1-8588-6EC0D89A5FC7}"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32450" name="Picture 2"/>
          <p:cNvPicPr>
            <a:picLocks noChangeAspect="1" noChangeArrowheads="1"/>
          </p:cNvPicPr>
          <p:nvPr/>
        </p:nvPicPr>
        <p:blipFill>
          <a:blip r:embed="rId2" cstate="print"/>
          <a:srcRect/>
          <a:stretch>
            <a:fillRect/>
          </a:stretch>
        </p:blipFill>
        <p:spPr bwMode="auto">
          <a:xfrm>
            <a:off x="1219200" y="304800"/>
            <a:ext cx="6646863" cy="1905000"/>
          </a:xfrm>
          <a:prstGeom prst="rect">
            <a:avLst/>
          </a:prstGeom>
          <a:noFill/>
        </p:spPr>
      </p:pic>
      <p:sp>
        <p:nvSpPr>
          <p:cNvPr id="232451" name="Text Box 3"/>
          <p:cNvSpPr txBox="1">
            <a:spLocks noChangeArrowheads="1"/>
          </p:cNvSpPr>
          <p:nvPr/>
        </p:nvSpPr>
        <p:spPr bwMode="auto">
          <a:xfrm>
            <a:off x="381000" y="2611438"/>
            <a:ext cx="8610600" cy="388721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15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IC</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晶体管的几何结构和掺杂浓度都不对称，反向放大偏置下与正向放大偏置有明显不同：</a:t>
            </a:r>
          </a:p>
          <a:p>
            <a:pPr marL="0" marR="0" lvl="0" indent="0" algn="l" defTabSz="914400" rtl="0" eaLnBrk="1" fontAlgn="base" latinLnBrk="0" hangingPunct="1">
              <a:lnSpc>
                <a:spcPct val="100000"/>
              </a:lnSpc>
              <a:spcBef>
                <a:spcPct val="15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注入效率远低于正向放大区；</a:t>
            </a:r>
          </a:p>
          <a:p>
            <a:pPr marL="0" marR="0" lvl="0" indent="0" algn="l" defTabSz="914400" rtl="0" eaLnBrk="1" fontAlgn="base" latinLnBrk="0" hangingPunct="1">
              <a:lnSpc>
                <a:spcPct val="100000"/>
              </a:lnSpc>
              <a:spcBef>
                <a:spcPct val="15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基区内建电场的方向阻碍从集电结注入的电子向发射结方向移动；</a:t>
            </a:r>
          </a:p>
          <a:p>
            <a:pPr marL="0" marR="0" lvl="0" indent="0" algn="l" defTabSz="914400" rtl="0" eaLnBrk="1" fontAlgn="base" latinLnBrk="0" hangingPunct="1">
              <a:lnSpc>
                <a:spcPct val="100000"/>
              </a:lnSpc>
              <a:spcBef>
                <a:spcPct val="15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注入结面积远大于收集结面积，从集电结注入的电子在基极电极和钝化氧化层界面处有大量的损失。</a:t>
            </a:r>
          </a:p>
          <a:p>
            <a:pPr marL="0" marR="0" lvl="0" indent="0" algn="l" defTabSz="914400" rtl="0" eaLnBrk="1" fontAlgn="base" latinLnBrk="0" hangingPunct="1">
              <a:lnSpc>
                <a:spcPct val="100000"/>
              </a:lnSpc>
              <a:spcBef>
                <a:spcPts val="12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反向放大偏置下的增益低于正向放大偏置</a:t>
            </a:r>
          </a:p>
        </p:txBody>
      </p:sp>
    </p:spTree>
    <p:extLst>
      <p:ext uri="{BB962C8B-B14F-4D97-AF65-F5344CB8AC3E}">
        <p14:creationId xmlns:p14="http://schemas.microsoft.com/office/powerpoint/2010/main" val="41384779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B31C8A-A49F-456B-8B24-F41578DEA6F6}"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6066" name="Text Box 2"/>
          <p:cNvSpPr txBox="1">
            <a:spLocks noChangeArrowheads="1"/>
          </p:cNvSpPr>
          <p:nvPr/>
        </p:nvSpPr>
        <p:spPr bwMode="auto">
          <a:xfrm>
            <a:off x="5181600" y="1143000"/>
            <a:ext cx="3657600" cy="1031051"/>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两个结外加正向偏压</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&gt; 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&gt; 0</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16067" name="Picture 3"/>
          <p:cNvPicPr>
            <a:picLocks noChangeAspect="1" noChangeArrowheads="1"/>
          </p:cNvPicPr>
          <p:nvPr/>
        </p:nvPicPr>
        <p:blipFill>
          <a:blip r:embed="rId3" cstate="print"/>
          <a:srcRect/>
          <a:stretch>
            <a:fillRect/>
          </a:stretch>
        </p:blipFill>
        <p:spPr bwMode="auto">
          <a:xfrm>
            <a:off x="228600" y="152400"/>
            <a:ext cx="4371975" cy="2667000"/>
          </a:xfrm>
          <a:prstGeom prst="rect">
            <a:avLst/>
          </a:prstGeom>
          <a:noFill/>
        </p:spPr>
      </p:pic>
      <p:pic>
        <p:nvPicPr>
          <p:cNvPr id="216068" name="Picture 4"/>
          <p:cNvPicPr>
            <a:picLocks noChangeAspect="1" noChangeArrowheads="1"/>
          </p:cNvPicPr>
          <p:nvPr/>
        </p:nvPicPr>
        <p:blipFill>
          <a:blip r:embed="rId4" cstate="print"/>
          <a:srcRect/>
          <a:stretch>
            <a:fillRect/>
          </a:stretch>
        </p:blipFill>
        <p:spPr bwMode="auto">
          <a:xfrm>
            <a:off x="4038600" y="2819400"/>
            <a:ext cx="4657725" cy="3667125"/>
          </a:xfrm>
          <a:prstGeom prst="rect">
            <a:avLst/>
          </a:prstGeom>
          <a:noFill/>
        </p:spPr>
      </p:pic>
      <p:sp>
        <p:nvSpPr>
          <p:cNvPr id="8" name="矩形 7"/>
          <p:cNvSpPr/>
          <p:nvPr/>
        </p:nvSpPr>
        <p:spPr>
          <a:xfrm>
            <a:off x="228600" y="4174629"/>
            <a:ext cx="3962400" cy="181588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内建势垒降低，电子被注入到基区，导致基区电子浓度急剧升高，形成了两个结之间的电流</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2623377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879E101-4881-4F0A-A00D-08B7DF2A3BCB}"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1426" name="Text Box 2"/>
          <p:cNvSpPr txBox="1">
            <a:spLocks noChangeArrowheads="1"/>
          </p:cNvSpPr>
          <p:nvPr/>
        </p:nvSpPr>
        <p:spPr bwMode="auto">
          <a:xfrm>
            <a:off x="381000" y="304800"/>
            <a:ext cx="3733800"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ü"/>
              <a:tabLst/>
              <a:defRPr/>
            </a:pP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饱和偏置 </a:t>
            </a:r>
          </a:p>
        </p:txBody>
      </p:sp>
      <p:pic>
        <p:nvPicPr>
          <p:cNvPr id="231428" name="Picture 4"/>
          <p:cNvPicPr>
            <a:picLocks noChangeAspect="1" noChangeArrowheads="1"/>
          </p:cNvPicPr>
          <p:nvPr/>
        </p:nvPicPr>
        <p:blipFill>
          <a:blip r:embed="rId2" cstate="print"/>
          <a:srcRect/>
          <a:stretch>
            <a:fillRect/>
          </a:stretch>
        </p:blipFill>
        <p:spPr bwMode="auto">
          <a:xfrm>
            <a:off x="152400" y="990600"/>
            <a:ext cx="4311650" cy="1485900"/>
          </a:xfrm>
          <a:prstGeom prst="rect">
            <a:avLst/>
          </a:prstGeom>
          <a:noFill/>
        </p:spPr>
      </p:pic>
      <p:pic>
        <p:nvPicPr>
          <p:cNvPr id="231429" name="Picture 5"/>
          <p:cNvPicPr>
            <a:picLocks noChangeAspect="1" noChangeArrowheads="1"/>
          </p:cNvPicPr>
          <p:nvPr/>
        </p:nvPicPr>
        <p:blipFill>
          <a:blip r:embed="rId3" cstate="print"/>
          <a:srcRect/>
          <a:stretch>
            <a:fillRect/>
          </a:stretch>
        </p:blipFill>
        <p:spPr bwMode="auto">
          <a:xfrm>
            <a:off x="4495800" y="990600"/>
            <a:ext cx="4495800" cy="1487488"/>
          </a:xfrm>
          <a:prstGeom prst="rect">
            <a:avLst/>
          </a:prstGeom>
          <a:noFill/>
        </p:spPr>
      </p:pic>
      <p:sp>
        <p:nvSpPr>
          <p:cNvPr id="231430" name="Text Box 6"/>
          <p:cNvSpPr txBox="1">
            <a:spLocks noChangeArrowheads="1"/>
          </p:cNvSpPr>
          <p:nvPr/>
        </p:nvSpPr>
        <p:spPr bwMode="auto">
          <a:xfrm>
            <a:off x="381000" y="2667000"/>
            <a:ext cx="8458200" cy="147117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7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饱和区可以看作是正向放大区和反向放大区的叠加：</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zh-CN" altLang="en-US" sz="27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两个结同时注入和收集</a:t>
            </a:r>
            <a:r>
              <a:rPr kumimoji="0" lang="zh-CN" altLang="en-US"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电子</a:t>
            </a:r>
            <a:endParaRPr kumimoji="0" lang="en-US" altLang="zh-CN"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zh-CN" altLang="zh-CN"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饱和</a:t>
            </a:r>
            <a:r>
              <a:rPr kumimoji="0" lang="en-US" altLang="zh-CN"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电压饱和，</a:t>
            </a:r>
            <a:r>
              <a:rPr kumimoji="0" lang="en-US" altLang="zh-CN" sz="27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7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zh-CN" altLang="zh-CN"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主要决定于外部电路条件</a:t>
            </a:r>
            <a:endParaRPr kumimoji="0" lang="zh-CN" altLang="en-US"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1431" name="Text Box 7"/>
          <p:cNvSpPr txBox="1">
            <a:spLocks noChangeArrowheads="1"/>
          </p:cNvSpPr>
          <p:nvPr/>
        </p:nvSpPr>
        <p:spPr bwMode="auto">
          <a:xfrm>
            <a:off x="381000" y="4267200"/>
            <a:ext cx="6248400" cy="2246769"/>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7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晶体管关断：存储在饱和晶体管基区的大量电荷必须在晶体管“关闭”前被抽走，这将降低开关速度</a:t>
            </a:r>
            <a:r>
              <a:rPr kumimoji="0" lang="zh-CN" altLang="en-US"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7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Schottky</a:t>
            </a:r>
            <a:r>
              <a:rPr kumimoji="0" lang="zh-CN" altLang="en-US"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二极管的箝位效应可以防止晶体管进入饱和区，提高开关速度。 </a:t>
            </a:r>
            <a:endParaRPr kumimoji="0" lang="zh-CN" altLang="en-US" sz="2700" b="0"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31436" name="Picture 12"/>
          <p:cNvPicPr>
            <a:picLocks noChangeAspect="1" noChangeArrowheads="1"/>
          </p:cNvPicPr>
          <p:nvPr/>
        </p:nvPicPr>
        <p:blipFill>
          <a:blip r:embed="rId4" cstate="print"/>
          <a:srcRect/>
          <a:stretch>
            <a:fillRect/>
          </a:stretch>
        </p:blipFill>
        <p:spPr bwMode="auto">
          <a:xfrm>
            <a:off x="6781800" y="4235600"/>
            <a:ext cx="1574702" cy="2470000"/>
          </a:xfrm>
          <a:prstGeom prst="rect">
            <a:avLst/>
          </a:prstGeom>
          <a:noFill/>
        </p:spPr>
      </p:pic>
    </p:spTree>
    <p:extLst>
      <p:ext uri="{BB962C8B-B14F-4D97-AF65-F5344CB8AC3E}">
        <p14:creationId xmlns:p14="http://schemas.microsoft.com/office/powerpoint/2010/main" val="42247543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DDBCD27-E489-42F2-BE4D-26DDAEC0AAD1}"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7874" name="Text Box 2"/>
          <p:cNvSpPr txBox="1">
            <a:spLocks noChangeArrowheads="1"/>
          </p:cNvSpPr>
          <p:nvPr/>
        </p:nvSpPr>
        <p:spPr bwMode="auto">
          <a:xfrm>
            <a:off x="5181600" y="685800"/>
            <a:ext cx="3581400" cy="1031051"/>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两个结外加反向偏压</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&lt; 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&lt; 0</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07876" name="Picture 4"/>
          <p:cNvPicPr>
            <a:picLocks noChangeAspect="1" noChangeArrowheads="1"/>
          </p:cNvPicPr>
          <p:nvPr/>
        </p:nvPicPr>
        <p:blipFill>
          <a:blip r:embed="rId3" cstate="print"/>
          <a:srcRect/>
          <a:stretch>
            <a:fillRect/>
          </a:stretch>
        </p:blipFill>
        <p:spPr bwMode="auto">
          <a:xfrm>
            <a:off x="3978275" y="3267075"/>
            <a:ext cx="5013325" cy="3411538"/>
          </a:xfrm>
          <a:prstGeom prst="rect">
            <a:avLst/>
          </a:prstGeom>
          <a:noFill/>
        </p:spPr>
      </p:pic>
      <p:pic>
        <p:nvPicPr>
          <p:cNvPr id="207877" name="Picture 5"/>
          <p:cNvPicPr>
            <a:picLocks noChangeAspect="1" noChangeArrowheads="1"/>
          </p:cNvPicPr>
          <p:nvPr/>
        </p:nvPicPr>
        <p:blipFill>
          <a:blip r:embed="rId4" cstate="print"/>
          <a:srcRect/>
          <a:stretch>
            <a:fillRect/>
          </a:stretch>
        </p:blipFill>
        <p:spPr bwMode="auto">
          <a:xfrm>
            <a:off x="136525" y="99202"/>
            <a:ext cx="4587875" cy="3519487"/>
          </a:xfrm>
          <a:prstGeom prst="rect">
            <a:avLst/>
          </a:prstGeom>
          <a:noFill/>
        </p:spPr>
      </p:pic>
      <p:sp>
        <p:nvSpPr>
          <p:cNvPr id="6" name="矩形 5"/>
          <p:cNvSpPr/>
          <p:nvPr/>
        </p:nvSpPr>
        <p:spPr>
          <a:xfrm>
            <a:off x="609600" y="4800600"/>
            <a:ext cx="3505200"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势垒增高，导致基区内的电子被耗尽</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17394807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D852C6C-84AE-4BB6-9CDD-30289BD1515F}"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41666" name="Picture 2" descr="w0176-n"/>
          <p:cNvPicPr>
            <a:picLocks noChangeAspect="1" noChangeArrowheads="1"/>
          </p:cNvPicPr>
          <p:nvPr/>
        </p:nvPicPr>
        <p:blipFill>
          <a:blip r:embed="rId2" cstate="print"/>
          <a:srcRect/>
          <a:stretch>
            <a:fillRect/>
          </a:stretch>
        </p:blipFill>
        <p:spPr bwMode="auto">
          <a:xfrm>
            <a:off x="1676400" y="990600"/>
            <a:ext cx="5715000" cy="1925638"/>
          </a:xfrm>
          <a:prstGeom prst="rect">
            <a:avLst/>
          </a:prstGeom>
          <a:noFill/>
          <a:ln w="9525">
            <a:noFill/>
            <a:miter lim="800000"/>
            <a:headEnd/>
            <a:tailEnd/>
          </a:ln>
        </p:spPr>
      </p:pic>
      <p:sp>
        <p:nvSpPr>
          <p:cNvPr id="241667" name="Text Box 3"/>
          <p:cNvSpPr txBox="1">
            <a:spLocks noChangeArrowheads="1"/>
          </p:cNvSpPr>
          <p:nvPr/>
        </p:nvSpPr>
        <p:spPr bwMode="auto">
          <a:xfrm>
            <a:off x="381000" y="304800"/>
            <a:ext cx="3733800"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ü"/>
              <a:tabLst/>
              <a:defRPr/>
            </a:pP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截止偏置 </a:t>
            </a:r>
          </a:p>
        </p:txBody>
      </p:sp>
      <p:sp>
        <p:nvSpPr>
          <p:cNvPr id="241668" name="Text Box 4"/>
          <p:cNvSpPr txBox="1">
            <a:spLocks noChangeArrowheads="1"/>
          </p:cNvSpPr>
          <p:nvPr/>
        </p:nvSpPr>
        <p:spPr bwMode="auto">
          <a:xfrm>
            <a:off x="4572000" y="3581400"/>
            <a:ext cx="4038600" cy="276066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少数载流子大部分被耗尽，晶体管的直流行为接近于开路，类似反偏</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a:t>
            </a:r>
          </a:p>
          <a:p>
            <a:pPr marL="0" marR="0" lvl="0" indent="0" algn="l" defTabSz="914400" rtl="0" eaLnBrk="1" fontAlgn="base" latinLnBrk="0" hangingPunct="1">
              <a:lnSpc>
                <a:spcPct val="100000"/>
              </a:lnSpc>
              <a:spcBef>
                <a:spcPct val="25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左图：存储在结中的电荷</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随电压变化</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pic>
        <p:nvPicPr>
          <p:cNvPr id="241670" name="Picture 6"/>
          <p:cNvPicPr>
            <a:picLocks noChangeAspect="1" noChangeArrowheads="1"/>
          </p:cNvPicPr>
          <p:nvPr/>
        </p:nvPicPr>
        <p:blipFill>
          <a:blip r:embed="rId3" cstate="print"/>
          <a:srcRect/>
          <a:stretch>
            <a:fillRect/>
          </a:stretch>
        </p:blipFill>
        <p:spPr bwMode="auto">
          <a:xfrm>
            <a:off x="1065213" y="3429000"/>
            <a:ext cx="3049587" cy="3124200"/>
          </a:xfrm>
          <a:prstGeom prst="rect">
            <a:avLst/>
          </a:prstGeom>
          <a:noFill/>
        </p:spPr>
      </p:pic>
    </p:spTree>
    <p:extLst>
      <p:ext uri="{BB962C8B-B14F-4D97-AF65-F5344CB8AC3E}">
        <p14:creationId xmlns:p14="http://schemas.microsoft.com/office/powerpoint/2010/main" val="5830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5"/>
          <p:cNvSpPr txBox="1">
            <a:spLocks/>
          </p:cNvSpPr>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8ED73F2-A150-41C4-98CF-152616DEF0D7}"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3"/>
          <p:cNvSpPr>
            <a:spLocks noChangeArrowheads="1"/>
          </p:cNvSpPr>
          <p:nvPr/>
        </p:nvSpPr>
        <p:spPr bwMode="auto">
          <a:xfrm>
            <a:off x="1258888" y="4415632"/>
            <a:ext cx="1970087" cy="519113"/>
          </a:xfrm>
          <a:prstGeom prst="rect">
            <a:avLst/>
          </a:prstGeom>
          <a:noFill/>
          <a:ln w="63500">
            <a:noFill/>
            <a:miter lim="800000"/>
            <a:headEnd/>
            <a:tailEnd/>
          </a:ln>
          <a:effectLst/>
        </p:spPr>
        <p:txBody>
          <a:bodyPr wrap="none">
            <a:spAutoFit/>
          </a:bodyPr>
          <a:lstStyle/>
          <a:p>
            <a:pPr marL="342900" marR="0" lvl="0" indent="-342900" algn="ctr" defTabSz="914400" rtl="0" eaLnBrk="1" fontAlgn="base" latinLnBrk="0" hangingPunct="1">
              <a:lnSpc>
                <a:spcPct val="100000"/>
              </a:lnSpc>
              <a:spcBef>
                <a:spcPct val="20000"/>
              </a:spcBef>
              <a:spcAft>
                <a:spcPct val="0"/>
              </a:spcAft>
              <a:buClr>
                <a:srgbClr val="000000"/>
              </a:buClr>
              <a:buSzPct val="60000"/>
              <a:buFont typeface="Wingdings" pitchFamily="2" charset="2"/>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理想晶体管</a:t>
            </a:r>
          </a:p>
        </p:txBody>
      </p:sp>
      <p:sp>
        <p:nvSpPr>
          <p:cNvPr id="7" name="Rectangle 4"/>
          <p:cNvSpPr>
            <a:spLocks noChangeArrowheads="1"/>
          </p:cNvSpPr>
          <p:nvPr/>
        </p:nvSpPr>
        <p:spPr bwMode="auto">
          <a:xfrm>
            <a:off x="5219700" y="4415632"/>
            <a:ext cx="1970088" cy="519112"/>
          </a:xfrm>
          <a:prstGeom prst="rect">
            <a:avLst/>
          </a:prstGeom>
          <a:noFill/>
          <a:ln w="63500">
            <a:noFill/>
            <a:miter lim="800000"/>
            <a:headEnd/>
            <a:tailEnd/>
          </a:ln>
          <a:effectLst/>
        </p:spPr>
        <p:txBody>
          <a:bodyPr wrap="none">
            <a:spAutoFit/>
          </a:bodyPr>
          <a:lstStyle/>
          <a:p>
            <a:pPr marL="342900" marR="0" lvl="0" indent="-342900" algn="ctr" defTabSz="914400" rtl="0" eaLnBrk="1" fontAlgn="base" latinLnBrk="0" hangingPunct="1">
              <a:lnSpc>
                <a:spcPct val="100000"/>
              </a:lnSpc>
              <a:spcBef>
                <a:spcPct val="20000"/>
              </a:spcBef>
              <a:spcAft>
                <a:spcPct val="0"/>
              </a:spcAft>
              <a:buClr>
                <a:srgbClr val="000000"/>
              </a:buClr>
              <a:buSzPct val="60000"/>
              <a:buFont typeface="Wingdings" pitchFamily="2" charset="2"/>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实际晶体管</a:t>
            </a:r>
          </a:p>
        </p:txBody>
      </p:sp>
      <p:pic>
        <p:nvPicPr>
          <p:cNvPr id="8" name="Picture 5"/>
          <p:cNvPicPr>
            <a:picLocks noChangeAspect="1" noChangeArrowheads="1"/>
          </p:cNvPicPr>
          <p:nvPr/>
        </p:nvPicPr>
        <p:blipFill>
          <a:blip r:embed="rId3" cstate="print"/>
          <a:srcRect/>
          <a:stretch>
            <a:fillRect/>
          </a:stretch>
        </p:blipFill>
        <p:spPr bwMode="auto">
          <a:xfrm>
            <a:off x="228600" y="1182688"/>
            <a:ext cx="3340100" cy="3116262"/>
          </a:xfrm>
          <a:prstGeom prst="rect">
            <a:avLst/>
          </a:prstGeom>
          <a:noFill/>
        </p:spPr>
      </p:pic>
      <p:sp>
        <p:nvSpPr>
          <p:cNvPr id="9" name="Text Box 6"/>
          <p:cNvSpPr txBox="1">
            <a:spLocks noChangeArrowheads="1"/>
          </p:cNvSpPr>
          <p:nvPr/>
        </p:nvSpPr>
        <p:spPr bwMode="auto">
          <a:xfrm>
            <a:off x="539750" y="333375"/>
            <a:ext cx="4627563"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共发射极输出特性曲线：</a:t>
            </a:r>
          </a:p>
        </p:txBody>
      </p:sp>
      <p:graphicFrame>
        <p:nvGraphicFramePr>
          <p:cNvPr id="10" name="Object 9"/>
          <p:cNvGraphicFramePr>
            <a:graphicFrameLocks noChangeAspect="1"/>
          </p:cNvGraphicFramePr>
          <p:nvPr>
            <p:extLst>
              <p:ext uri="{D42A27DB-BD31-4B8C-83A1-F6EECF244321}">
                <p14:modId xmlns:p14="http://schemas.microsoft.com/office/powerpoint/2010/main" val="1613168301"/>
              </p:ext>
            </p:extLst>
          </p:nvPr>
        </p:nvGraphicFramePr>
        <p:xfrm>
          <a:off x="827088" y="5193506"/>
          <a:ext cx="2835275" cy="1036638"/>
        </p:xfrm>
        <a:graphic>
          <a:graphicData uri="http://schemas.openxmlformats.org/presentationml/2006/ole">
            <mc:AlternateContent xmlns:mc="http://schemas.openxmlformats.org/markup-compatibility/2006">
              <mc:Choice xmlns:v="urn:schemas-microsoft-com:vml" Requires="v">
                <p:oleObj spid="_x0000_s109601" name="Equation" r:id="rId4" imgW="1180800" imgH="431640" progId="Equation.DSMT4">
                  <p:embed/>
                </p:oleObj>
              </mc:Choice>
              <mc:Fallback>
                <p:oleObj name="Equation" r:id="rId4" imgW="1180800" imgH="431640" progId="Equation.DSMT4">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5193506"/>
                        <a:ext cx="2835275" cy="1036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1"/>
          <p:cNvSpPr>
            <a:spLocks noChangeArrowheads="1"/>
          </p:cNvSpPr>
          <p:nvPr/>
        </p:nvSpPr>
        <p:spPr bwMode="auto">
          <a:xfrm>
            <a:off x="4953000" y="5234772"/>
            <a:ext cx="3794125" cy="954107"/>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20000"/>
              </a:spcBef>
              <a:spcAft>
                <a:spcPct val="0"/>
              </a:spcAft>
              <a:buClr>
                <a:srgbClr val="000000"/>
              </a:buClr>
              <a:buSzPct val="60000"/>
              <a:buFont typeface="Wingdings" pitchFamily="2" charset="2"/>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Early</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效应导致输出电流不完全</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饱和</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 name="组合 11"/>
          <p:cNvGrpSpPr/>
          <p:nvPr/>
        </p:nvGrpSpPr>
        <p:grpSpPr>
          <a:xfrm>
            <a:off x="3624263" y="1817687"/>
            <a:ext cx="5367337" cy="2376032"/>
            <a:chOff x="646113" y="3752850"/>
            <a:chExt cx="5367337" cy="2376032"/>
          </a:xfrm>
        </p:grpSpPr>
        <p:sp>
          <p:nvSpPr>
            <p:cNvPr id="13" name="Rectangle 234"/>
            <p:cNvSpPr>
              <a:spLocks noChangeArrowheads="1"/>
            </p:cNvSpPr>
            <p:nvPr/>
          </p:nvSpPr>
          <p:spPr bwMode="auto">
            <a:xfrm>
              <a:off x="2657475" y="5403850"/>
              <a:ext cx="1588" cy="1270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Rectangle 235"/>
            <p:cNvSpPr>
              <a:spLocks noChangeArrowheads="1"/>
            </p:cNvSpPr>
            <p:nvPr/>
          </p:nvSpPr>
          <p:spPr bwMode="auto">
            <a:xfrm>
              <a:off x="3532188" y="5403850"/>
              <a:ext cx="1587" cy="1270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Rectangle 241"/>
            <p:cNvSpPr>
              <a:spLocks noChangeArrowheads="1"/>
            </p:cNvSpPr>
            <p:nvPr/>
          </p:nvSpPr>
          <p:spPr bwMode="auto">
            <a:xfrm>
              <a:off x="3875088" y="5403850"/>
              <a:ext cx="1587" cy="1270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Rectangle 242"/>
            <p:cNvSpPr>
              <a:spLocks noChangeArrowheads="1"/>
            </p:cNvSpPr>
            <p:nvPr/>
          </p:nvSpPr>
          <p:spPr bwMode="auto">
            <a:xfrm>
              <a:off x="4864100" y="5403850"/>
              <a:ext cx="1588" cy="12700"/>
            </a:xfrm>
            <a:prstGeom prst="rect">
              <a:avLst/>
            </a:prstGeom>
            <a:solidFill>
              <a:schemeClr val="bg1"/>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Rectangle 262"/>
            <p:cNvSpPr>
              <a:spLocks noChangeArrowheads="1"/>
            </p:cNvSpPr>
            <p:nvPr/>
          </p:nvSpPr>
          <p:spPr bwMode="auto">
            <a:xfrm>
              <a:off x="5851525" y="5718175"/>
              <a:ext cx="33338"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Freeform 263"/>
            <p:cNvSpPr>
              <a:spLocks/>
            </p:cNvSpPr>
            <p:nvPr/>
          </p:nvSpPr>
          <p:spPr bwMode="auto">
            <a:xfrm>
              <a:off x="5868988" y="5670550"/>
              <a:ext cx="144462" cy="112713"/>
            </a:xfrm>
            <a:custGeom>
              <a:avLst/>
              <a:gdLst>
                <a:gd name="T0" fmla="*/ 2147483647 w 91"/>
                <a:gd name="T1" fmla="*/ 2147483647 h 71"/>
                <a:gd name="T2" fmla="*/ 0 w 91"/>
                <a:gd name="T3" fmla="*/ 0 h 71"/>
                <a:gd name="T4" fmla="*/ 0 w 91"/>
                <a:gd name="T5" fmla="*/ 0 h 71"/>
                <a:gd name="T6" fmla="*/ 0 w 91"/>
                <a:gd name="T7" fmla="*/ 0 h 71"/>
                <a:gd name="T8" fmla="*/ 2147483647 w 91"/>
                <a:gd name="T9" fmla="*/ 2147483647 h 71"/>
                <a:gd name="T10" fmla="*/ 2147483647 w 91"/>
                <a:gd name="T11" fmla="*/ 2147483647 h 71"/>
                <a:gd name="T12" fmla="*/ 0 w 91"/>
                <a:gd name="T13" fmla="*/ 2147483647 h 71"/>
                <a:gd name="T14" fmla="*/ 0 w 91"/>
                <a:gd name="T15" fmla="*/ 2147483647 h 71"/>
                <a:gd name="T16" fmla="*/ 0 w 91"/>
                <a:gd name="T17" fmla="*/ 2147483647 h 71"/>
                <a:gd name="T18" fmla="*/ 0 w 91"/>
                <a:gd name="T19" fmla="*/ 2147483647 h 71"/>
                <a:gd name="T20" fmla="*/ 2147483647 w 91"/>
                <a:gd name="T21" fmla="*/ 2147483647 h 71"/>
                <a:gd name="T22" fmla="*/ 2147483647 w 91"/>
                <a:gd name="T23" fmla="*/ 2147483647 h 71"/>
                <a:gd name="T24" fmla="*/ 2147483647 w 91"/>
                <a:gd name="T25" fmla="*/ 2147483647 h 71"/>
                <a:gd name="T26" fmla="*/ 0 w 91"/>
                <a:gd name="T27" fmla="*/ 2147483647 h 71"/>
                <a:gd name="T28" fmla="*/ 0 w 91"/>
                <a:gd name="T29" fmla="*/ 0 h 71"/>
                <a:gd name="T30" fmla="*/ 2147483647 w 91"/>
                <a:gd name="T31" fmla="*/ 0 h 71"/>
                <a:gd name="T32" fmla="*/ 2147483647 w 91"/>
                <a:gd name="T33" fmla="*/ 2147483647 h 71"/>
                <a:gd name="T34" fmla="*/ 2147483647 w 91"/>
                <a:gd name="T35" fmla="*/ 2147483647 h 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1"/>
                <a:gd name="T55" fmla="*/ 0 h 71"/>
                <a:gd name="T56" fmla="*/ 91 w 91"/>
                <a:gd name="T57" fmla="*/ 71 h 7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1" h="71">
                  <a:moveTo>
                    <a:pt x="10" y="30"/>
                  </a:moveTo>
                  <a:cubicBezTo>
                    <a:pt x="7" y="20"/>
                    <a:pt x="3" y="10"/>
                    <a:pt x="0" y="0"/>
                  </a:cubicBezTo>
                  <a:lnTo>
                    <a:pt x="91" y="30"/>
                  </a:lnTo>
                  <a:lnTo>
                    <a:pt x="91" y="41"/>
                  </a:lnTo>
                  <a:lnTo>
                    <a:pt x="0" y="71"/>
                  </a:lnTo>
                  <a:lnTo>
                    <a:pt x="0" y="61"/>
                  </a:lnTo>
                  <a:lnTo>
                    <a:pt x="91" y="30"/>
                  </a:lnTo>
                  <a:lnTo>
                    <a:pt x="91" y="41"/>
                  </a:lnTo>
                  <a:lnTo>
                    <a:pt x="0" y="10"/>
                  </a:lnTo>
                  <a:lnTo>
                    <a:pt x="0" y="0"/>
                  </a:lnTo>
                  <a:lnTo>
                    <a:pt x="10" y="0"/>
                  </a:lnTo>
                  <a:cubicBezTo>
                    <a:pt x="13" y="10"/>
                    <a:pt x="17" y="20"/>
                    <a:pt x="20" y="30"/>
                  </a:cubicBezTo>
                  <a:lnTo>
                    <a:pt x="10" y="3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Freeform 264"/>
            <p:cNvSpPr>
              <a:spLocks/>
            </p:cNvSpPr>
            <p:nvPr/>
          </p:nvSpPr>
          <p:spPr bwMode="auto">
            <a:xfrm>
              <a:off x="5868988" y="5718175"/>
              <a:ext cx="31750" cy="49213"/>
            </a:xfrm>
            <a:custGeom>
              <a:avLst/>
              <a:gdLst>
                <a:gd name="T0" fmla="*/ 0 w 20"/>
                <a:gd name="T1" fmla="*/ 2147483647 h 31"/>
                <a:gd name="T2" fmla="*/ 2147483647 w 20"/>
                <a:gd name="T3" fmla="*/ 0 h 31"/>
                <a:gd name="T4" fmla="*/ 2147483647 w 20"/>
                <a:gd name="T5" fmla="*/ 0 h 31"/>
                <a:gd name="T6" fmla="*/ 2147483647 w 20"/>
                <a:gd name="T7" fmla="*/ 0 h 31"/>
                <a:gd name="T8" fmla="*/ 2147483647 w 20"/>
                <a:gd name="T9" fmla="*/ 0 h 31"/>
                <a:gd name="T10" fmla="*/ 2147483647 w 20"/>
                <a:gd name="T11" fmla="*/ 2147483647 h 31"/>
                <a:gd name="T12" fmla="*/ 0 w 20"/>
                <a:gd name="T13" fmla="*/ 2147483647 h 31"/>
                <a:gd name="T14" fmla="*/ 0 60000 65536"/>
                <a:gd name="T15" fmla="*/ 0 60000 65536"/>
                <a:gd name="T16" fmla="*/ 0 60000 65536"/>
                <a:gd name="T17" fmla="*/ 0 60000 65536"/>
                <a:gd name="T18" fmla="*/ 0 60000 65536"/>
                <a:gd name="T19" fmla="*/ 0 60000 65536"/>
                <a:gd name="T20" fmla="*/ 0 60000 65536"/>
                <a:gd name="T21" fmla="*/ 0 w 20"/>
                <a:gd name="T22" fmla="*/ 0 h 31"/>
                <a:gd name="T23" fmla="*/ 20 w 20"/>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31">
                  <a:moveTo>
                    <a:pt x="0" y="31"/>
                  </a:moveTo>
                  <a:lnTo>
                    <a:pt x="10" y="0"/>
                  </a:lnTo>
                  <a:lnTo>
                    <a:pt x="20" y="0"/>
                  </a:lnTo>
                  <a:lnTo>
                    <a:pt x="10" y="31"/>
                  </a:lnTo>
                  <a:lnTo>
                    <a:pt x="0" y="3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Freeform 265"/>
            <p:cNvSpPr>
              <a:spLocks/>
            </p:cNvSpPr>
            <p:nvPr/>
          </p:nvSpPr>
          <p:spPr bwMode="auto">
            <a:xfrm>
              <a:off x="5868988" y="5670550"/>
              <a:ext cx="144462" cy="96838"/>
            </a:xfrm>
            <a:custGeom>
              <a:avLst/>
              <a:gdLst>
                <a:gd name="T0" fmla="*/ 2147483647 w 91"/>
                <a:gd name="T1" fmla="*/ 2147483647 h 61"/>
                <a:gd name="T2" fmla="*/ 0 w 91"/>
                <a:gd name="T3" fmla="*/ 0 h 61"/>
                <a:gd name="T4" fmla="*/ 2147483647 w 91"/>
                <a:gd name="T5" fmla="*/ 2147483647 h 61"/>
                <a:gd name="T6" fmla="*/ 0 w 91"/>
                <a:gd name="T7" fmla="*/ 2147483647 h 61"/>
                <a:gd name="T8" fmla="*/ 2147483647 w 91"/>
                <a:gd name="T9" fmla="*/ 2147483647 h 61"/>
                <a:gd name="T10" fmla="*/ 0 60000 65536"/>
                <a:gd name="T11" fmla="*/ 0 60000 65536"/>
                <a:gd name="T12" fmla="*/ 0 60000 65536"/>
                <a:gd name="T13" fmla="*/ 0 60000 65536"/>
                <a:gd name="T14" fmla="*/ 0 60000 65536"/>
                <a:gd name="T15" fmla="*/ 0 w 91"/>
                <a:gd name="T16" fmla="*/ 0 h 61"/>
                <a:gd name="T17" fmla="*/ 91 w 91"/>
                <a:gd name="T18" fmla="*/ 61 h 61"/>
              </a:gdLst>
              <a:ahLst/>
              <a:cxnLst>
                <a:cxn ang="T10">
                  <a:pos x="T0" y="T1"/>
                </a:cxn>
                <a:cxn ang="T11">
                  <a:pos x="T2" y="T3"/>
                </a:cxn>
                <a:cxn ang="T12">
                  <a:pos x="T4" y="T5"/>
                </a:cxn>
                <a:cxn ang="T13">
                  <a:pos x="T6" y="T7"/>
                </a:cxn>
                <a:cxn ang="T14">
                  <a:pos x="T8" y="T9"/>
                </a:cxn>
              </a:cxnLst>
              <a:rect l="T15" t="T16" r="T17" b="T18"/>
              <a:pathLst>
                <a:path w="91" h="61">
                  <a:moveTo>
                    <a:pt x="10" y="30"/>
                  </a:moveTo>
                  <a:lnTo>
                    <a:pt x="0" y="0"/>
                  </a:lnTo>
                  <a:lnTo>
                    <a:pt x="91" y="30"/>
                  </a:lnTo>
                  <a:lnTo>
                    <a:pt x="0" y="61"/>
                  </a:lnTo>
                  <a:lnTo>
                    <a:pt x="10" y="3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Rectangle 266"/>
            <p:cNvSpPr>
              <a:spLocks noChangeArrowheads="1"/>
            </p:cNvSpPr>
            <p:nvPr/>
          </p:nvSpPr>
          <p:spPr bwMode="auto">
            <a:xfrm>
              <a:off x="811213"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Rectangle 267"/>
            <p:cNvSpPr>
              <a:spLocks noChangeArrowheads="1"/>
            </p:cNvSpPr>
            <p:nvPr/>
          </p:nvSpPr>
          <p:spPr bwMode="auto">
            <a:xfrm>
              <a:off x="5851525"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Rectangle 268"/>
            <p:cNvSpPr>
              <a:spLocks noChangeArrowheads="1"/>
            </p:cNvSpPr>
            <p:nvPr/>
          </p:nvSpPr>
          <p:spPr bwMode="auto">
            <a:xfrm>
              <a:off x="811213" y="5718175"/>
              <a:ext cx="5040312"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Rectangle 269"/>
            <p:cNvSpPr>
              <a:spLocks noChangeArrowheads="1"/>
            </p:cNvSpPr>
            <p:nvPr/>
          </p:nvSpPr>
          <p:spPr bwMode="auto">
            <a:xfrm>
              <a:off x="811213"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Rectangle 270"/>
            <p:cNvSpPr>
              <a:spLocks noChangeArrowheads="1"/>
            </p:cNvSpPr>
            <p:nvPr/>
          </p:nvSpPr>
          <p:spPr bwMode="auto">
            <a:xfrm>
              <a:off x="827088"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Rectangle 271"/>
            <p:cNvSpPr>
              <a:spLocks noChangeArrowheads="1"/>
            </p:cNvSpPr>
            <p:nvPr/>
          </p:nvSpPr>
          <p:spPr bwMode="auto">
            <a:xfrm>
              <a:off x="811213" y="5718175"/>
              <a:ext cx="15875"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Line 272"/>
            <p:cNvSpPr>
              <a:spLocks noChangeShapeType="1"/>
            </p:cNvSpPr>
            <p:nvPr/>
          </p:nvSpPr>
          <p:spPr bwMode="auto">
            <a:xfrm>
              <a:off x="892175" y="570230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Line 273"/>
            <p:cNvSpPr>
              <a:spLocks noChangeShapeType="1"/>
            </p:cNvSpPr>
            <p:nvPr/>
          </p:nvSpPr>
          <p:spPr bwMode="auto">
            <a:xfrm flipV="1">
              <a:off x="989013" y="5686425"/>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Line 274"/>
            <p:cNvSpPr>
              <a:spLocks noChangeShapeType="1"/>
            </p:cNvSpPr>
            <p:nvPr/>
          </p:nvSpPr>
          <p:spPr bwMode="auto">
            <a:xfrm>
              <a:off x="1085850" y="5686425"/>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Line 275"/>
            <p:cNvSpPr>
              <a:spLocks noChangeShapeType="1"/>
            </p:cNvSpPr>
            <p:nvPr/>
          </p:nvSpPr>
          <p:spPr bwMode="auto">
            <a:xfrm>
              <a:off x="1182688" y="567055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Line 276"/>
            <p:cNvSpPr>
              <a:spLocks noChangeShapeType="1"/>
            </p:cNvSpPr>
            <p:nvPr/>
          </p:nvSpPr>
          <p:spPr bwMode="auto">
            <a:xfrm>
              <a:off x="1279525" y="565467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Line 277"/>
            <p:cNvSpPr>
              <a:spLocks noChangeShapeType="1"/>
            </p:cNvSpPr>
            <p:nvPr/>
          </p:nvSpPr>
          <p:spPr bwMode="auto">
            <a:xfrm>
              <a:off x="1376363" y="565467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Line 278"/>
            <p:cNvSpPr>
              <a:spLocks noChangeShapeType="1"/>
            </p:cNvSpPr>
            <p:nvPr/>
          </p:nvSpPr>
          <p:spPr bwMode="auto">
            <a:xfrm>
              <a:off x="1473200" y="5637213"/>
              <a:ext cx="17463"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Line 279"/>
            <p:cNvSpPr>
              <a:spLocks noChangeShapeType="1"/>
            </p:cNvSpPr>
            <p:nvPr/>
          </p:nvSpPr>
          <p:spPr bwMode="auto">
            <a:xfrm>
              <a:off x="1570038" y="5621338"/>
              <a:ext cx="17462"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Line 280"/>
            <p:cNvSpPr>
              <a:spLocks noChangeShapeType="1"/>
            </p:cNvSpPr>
            <p:nvPr/>
          </p:nvSpPr>
          <p:spPr bwMode="auto">
            <a:xfrm flipV="1">
              <a:off x="1666875" y="5605463"/>
              <a:ext cx="17463"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Line 281"/>
            <p:cNvSpPr>
              <a:spLocks noChangeShapeType="1"/>
            </p:cNvSpPr>
            <p:nvPr/>
          </p:nvSpPr>
          <p:spPr bwMode="auto">
            <a:xfrm>
              <a:off x="1765300" y="560546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Line 282"/>
            <p:cNvSpPr>
              <a:spLocks noChangeShapeType="1"/>
            </p:cNvSpPr>
            <p:nvPr/>
          </p:nvSpPr>
          <p:spPr bwMode="auto">
            <a:xfrm>
              <a:off x="1862138" y="558958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Line 283"/>
            <p:cNvSpPr>
              <a:spLocks noChangeShapeType="1"/>
            </p:cNvSpPr>
            <p:nvPr/>
          </p:nvSpPr>
          <p:spPr bwMode="auto">
            <a:xfrm flipV="1">
              <a:off x="1941513" y="5573713"/>
              <a:ext cx="33337"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Line 284"/>
            <p:cNvSpPr>
              <a:spLocks noChangeShapeType="1"/>
            </p:cNvSpPr>
            <p:nvPr/>
          </p:nvSpPr>
          <p:spPr bwMode="auto">
            <a:xfrm>
              <a:off x="2039938" y="5573713"/>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Line 285"/>
            <p:cNvSpPr>
              <a:spLocks noChangeShapeType="1"/>
            </p:cNvSpPr>
            <p:nvPr/>
          </p:nvSpPr>
          <p:spPr bwMode="auto">
            <a:xfrm>
              <a:off x="2136775" y="555625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Line 286"/>
            <p:cNvSpPr>
              <a:spLocks noChangeShapeType="1"/>
            </p:cNvSpPr>
            <p:nvPr/>
          </p:nvSpPr>
          <p:spPr bwMode="auto">
            <a:xfrm>
              <a:off x="2233613" y="5540375"/>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Line 287"/>
            <p:cNvSpPr>
              <a:spLocks noChangeShapeType="1"/>
            </p:cNvSpPr>
            <p:nvPr/>
          </p:nvSpPr>
          <p:spPr bwMode="auto">
            <a:xfrm>
              <a:off x="2330450" y="5540375"/>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Line 288"/>
            <p:cNvSpPr>
              <a:spLocks noChangeShapeType="1"/>
            </p:cNvSpPr>
            <p:nvPr/>
          </p:nvSpPr>
          <p:spPr bwMode="auto">
            <a:xfrm>
              <a:off x="2427288" y="552450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Line 289"/>
            <p:cNvSpPr>
              <a:spLocks noChangeShapeType="1"/>
            </p:cNvSpPr>
            <p:nvPr/>
          </p:nvSpPr>
          <p:spPr bwMode="auto">
            <a:xfrm>
              <a:off x="2524125" y="5508625"/>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Line 290"/>
            <p:cNvSpPr>
              <a:spLocks noChangeShapeType="1"/>
            </p:cNvSpPr>
            <p:nvPr/>
          </p:nvSpPr>
          <p:spPr bwMode="auto">
            <a:xfrm flipV="1">
              <a:off x="2620963" y="5491163"/>
              <a:ext cx="15875" cy="17462"/>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Line 291"/>
            <p:cNvSpPr>
              <a:spLocks noChangeShapeType="1"/>
            </p:cNvSpPr>
            <p:nvPr/>
          </p:nvSpPr>
          <p:spPr bwMode="auto">
            <a:xfrm>
              <a:off x="2717800" y="549116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Line 292"/>
            <p:cNvSpPr>
              <a:spLocks noChangeShapeType="1"/>
            </p:cNvSpPr>
            <p:nvPr/>
          </p:nvSpPr>
          <p:spPr bwMode="auto">
            <a:xfrm>
              <a:off x="2814638" y="547528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Line 293"/>
            <p:cNvSpPr>
              <a:spLocks noChangeShapeType="1"/>
            </p:cNvSpPr>
            <p:nvPr/>
          </p:nvSpPr>
          <p:spPr bwMode="auto">
            <a:xfrm>
              <a:off x="2911475" y="545941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Line 294"/>
            <p:cNvSpPr>
              <a:spLocks noChangeShapeType="1"/>
            </p:cNvSpPr>
            <p:nvPr/>
          </p:nvSpPr>
          <p:spPr bwMode="auto">
            <a:xfrm>
              <a:off x="3008313" y="545941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Line 295"/>
            <p:cNvSpPr>
              <a:spLocks noChangeShapeType="1"/>
            </p:cNvSpPr>
            <p:nvPr/>
          </p:nvSpPr>
          <p:spPr bwMode="auto">
            <a:xfrm>
              <a:off x="3105150" y="544353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Line 296"/>
            <p:cNvSpPr>
              <a:spLocks noChangeShapeType="1"/>
            </p:cNvSpPr>
            <p:nvPr/>
          </p:nvSpPr>
          <p:spPr bwMode="auto">
            <a:xfrm>
              <a:off x="3201988" y="5427663"/>
              <a:ext cx="17462"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Line 297"/>
            <p:cNvSpPr>
              <a:spLocks noChangeShapeType="1"/>
            </p:cNvSpPr>
            <p:nvPr/>
          </p:nvSpPr>
          <p:spPr bwMode="auto">
            <a:xfrm flipV="1">
              <a:off x="3282950" y="5410200"/>
              <a:ext cx="33338" cy="17463"/>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Line 298"/>
            <p:cNvSpPr>
              <a:spLocks noChangeShapeType="1"/>
            </p:cNvSpPr>
            <p:nvPr/>
          </p:nvSpPr>
          <p:spPr bwMode="auto">
            <a:xfrm>
              <a:off x="3379788" y="5410200"/>
              <a:ext cx="33337"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Line 299"/>
            <p:cNvSpPr>
              <a:spLocks noChangeShapeType="1"/>
            </p:cNvSpPr>
            <p:nvPr/>
          </p:nvSpPr>
          <p:spPr bwMode="auto">
            <a:xfrm>
              <a:off x="3476625" y="5394325"/>
              <a:ext cx="33338"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Line 300"/>
            <p:cNvSpPr>
              <a:spLocks noChangeShapeType="1"/>
            </p:cNvSpPr>
            <p:nvPr/>
          </p:nvSpPr>
          <p:spPr bwMode="auto">
            <a:xfrm flipV="1">
              <a:off x="3573463" y="5378450"/>
              <a:ext cx="33337"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Line 301"/>
            <p:cNvSpPr>
              <a:spLocks noChangeShapeType="1"/>
            </p:cNvSpPr>
            <p:nvPr/>
          </p:nvSpPr>
          <p:spPr bwMode="auto">
            <a:xfrm>
              <a:off x="3670300" y="5378450"/>
              <a:ext cx="33338"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Line 302"/>
            <p:cNvSpPr>
              <a:spLocks noChangeShapeType="1"/>
            </p:cNvSpPr>
            <p:nvPr/>
          </p:nvSpPr>
          <p:spPr bwMode="auto">
            <a:xfrm>
              <a:off x="3768725" y="5362575"/>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Line 303"/>
            <p:cNvSpPr>
              <a:spLocks noChangeShapeType="1"/>
            </p:cNvSpPr>
            <p:nvPr/>
          </p:nvSpPr>
          <p:spPr bwMode="auto">
            <a:xfrm>
              <a:off x="3865563" y="534670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Line 304"/>
            <p:cNvSpPr>
              <a:spLocks noChangeShapeType="1"/>
            </p:cNvSpPr>
            <p:nvPr/>
          </p:nvSpPr>
          <p:spPr bwMode="auto">
            <a:xfrm>
              <a:off x="3962400" y="534670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Line 305"/>
            <p:cNvSpPr>
              <a:spLocks noChangeShapeType="1"/>
            </p:cNvSpPr>
            <p:nvPr/>
          </p:nvSpPr>
          <p:spPr bwMode="auto">
            <a:xfrm>
              <a:off x="4059238" y="532923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Line 306"/>
            <p:cNvSpPr>
              <a:spLocks noChangeShapeType="1"/>
            </p:cNvSpPr>
            <p:nvPr/>
          </p:nvSpPr>
          <p:spPr bwMode="auto">
            <a:xfrm>
              <a:off x="4156075" y="5313363"/>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Line 307"/>
            <p:cNvSpPr>
              <a:spLocks noChangeShapeType="1"/>
            </p:cNvSpPr>
            <p:nvPr/>
          </p:nvSpPr>
          <p:spPr bwMode="auto">
            <a:xfrm flipV="1">
              <a:off x="4252913" y="5297488"/>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Line 308"/>
            <p:cNvSpPr>
              <a:spLocks noChangeShapeType="1"/>
            </p:cNvSpPr>
            <p:nvPr/>
          </p:nvSpPr>
          <p:spPr bwMode="auto">
            <a:xfrm>
              <a:off x="4349750" y="529748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4" name="Line 309"/>
            <p:cNvSpPr>
              <a:spLocks noChangeShapeType="1"/>
            </p:cNvSpPr>
            <p:nvPr/>
          </p:nvSpPr>
          <p:spPr bwMode="auto">
            <a:xfrm>
              <a:off x="4446588" y="5281613"/>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Line 310"/>
            <p:cNvSpPr>
              <a:spLocks noChangeShapeType="1"/>
            </p:cNvSpPr>
            <p:nvPr/>
          </p:nvSpPr>
          <p:spPr bwMode="auto">
            <a:xfrm>
              <a:off x="4543425" y="526573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Line 311"/>
            <p:cNvSpPr>
              <a:spLocks noChangeShapeType="1"/>
            </p:cNvSpPr>
            <p:nvPr/>
          </p:nvSpPr>
          <p:spPr bwMode="auto">
            <a:xfrm>
              <a:off x="4640263" y="526573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Line 312"/>
            <p:cNvSpPr>
              <a:spLocks noChangeShapeType="1"/>
            </p:cNvSpPr>
            <p:nvPr/>
          </p:nvSpPr>
          <p:spPr bwMode="auto">
            <a:xfrm>
              <a:off x="4721225" y="5248275"/>
              <a:ext cx="31750"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 name="Line 313"/>
            <p:cNvSpPr>
              <a:spLocks noChangeShapeType="1"/>
            </p:cNvSpPr>
            <p:nvPr/>
          </p:nvSpPr>
          <p:spPr bwMode="auto">
            <a:xfrm>
              <a:off x="4818063" y="5232400"/>
              <a:ext cx="31750"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Line 314"/>
            <p:cNvSpPr>
              <a:spLocks noChangeShapeType="1"/>
            </p:cNvSpPr>
            <p:nvPr/>
          </p:nvSpPr>
          <p:spPr bwMode="auto">
            <a:xfrm flipV="1">
              <a:off x="4914900" y="5216525"/>
              <a:ext cx="33338"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Line 315"/>
            <p:cNvSpPr>
              <a:spLocks noChangeShapeType="1"/>
            </p:cNvSpPr>
            <p:nvPr/>
          </p:nvSpPr>
          <p:spPr bwMode="auto">
            <a:xfrm>
              <a:off x="5011738" y="5216525"/>
              <a:ext cx="33337"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Line 316"/>
            <p:cNvSpPr>
              <a:spLocks noChangeShapeType="1"/>
            </p:cNvSpPr>
            <p:nvPr/>
          </p:nvSpPr>
          <p:spPr bwMode="auto">
            <a:xfrm>
              <a:off x="5108575" y="5200650"/>
              <a:ext cx="33338"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Line 317"/>
            <p:cNvSpPr>
              <a:spLocks noChangeShapeType="1"/>
            </p:cNvSpPr>
            <p:nvPr/>
          </p:nvSpPr>
          <p:spPr bwMode="auto">
            <a:xfrm flipV="1">
              <a:off x="5205413" y="5184775"/>
              <a:ext cx="33337"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Line 318"/>
            <p:cNvSpPr>
              <a:spLocks noChangeShapeType="1"/>
            </p:cNvSpPr>
            <p:nvPr/>
          </p:nvSpPr>
          <p:spPr bwMode="auto">
            <a:xfrm>
              <a:off x="5302250" y="5184775"/>
              <a:ext cx="33338"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Line 319"/>
            <p:cNvSpPr>
              <a:spLocks noChangeShapeType="1"/>
            </p:cNvSpPr>
            <p:nvPr/>
          </p:nvSpPr>
          <p:spPr bwMode="auto">
            <a:xfrm>
              <a:off x="5399088" y="5167313"/>
              <a:ext cx="17462"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Line 320"/>
            <p:cNvSpPr>
              <a:spLocks noChangeShapeType="1"/>
            </p:cNvSpPr>
            <p:nvPr/>
          </p:nvSpPr>
          <p:spPr bwMode="auto">
            <a:xfrm>
              <a:off x="5497513" y="515143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Line 321"/>
            <p:cNvSpPr>
              <a:spLocks noChangeShapeType="1"/>
            </p:cNvSpPr>
            <p:nvPr/>
          </p:nvSpPr>
          <p:spPr bwMode="auto">
            <a:xfrm>
              <a:off x="5594350" y="515143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Rectangle 322"/>
            <p:cNvSpPr>
              <a:spLocks noChangeArrowheads="1"/>
            </p:cNvSpPr>
            <p:nvPr/>
          </p:nvSpPr>
          <p:spPr bwMode="auto">
            <a:xfrm>
              <a:off x="5691188" y="5135563"/>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Rectangle 323"/>
            <p:cNvSpPr>
              <a:spLocks noChangeArrowheads="1"/>
            </p:cNvSpPr>
            <p:nvPr/>
          </p:nvSpPr>
          <p:spPr bwMode="auto">
            <a:xfrm>
              <a:off x="5707063" y="5135563"/>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Rectangle 324"/>
            <p:cNvSpPr>
              <a:spLocks noChangeArrowheads="1"/>
            </p:cNvSpPr>
            <p:nvPr/>
          </p:nvSpPr>
          <p:spPr bwMode="auto">
            <a:xfrm>
              <a:off x="5691188" y="5135563"/>
              <a:ext cx="15875"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Rectangle 325"/>
            <p:cNvSpPr>
              <a:spLocks noChangeArrowheads="1"/>
            </p:cNvSpPr>
            <p:nvPr/>
          </p:nvSpPr>
          <p:spPr bwMode="auto">
            <a:xfrm>
              <a:off x="811213"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Rectangle 326"/>
            <p:cNvSpPr>
              <a:spLocks noChangeArrowheads="1"/>
            </p:cNvSpPr>
            <p:nvPr/>
          </p:nvSpPr>
          <p:spPr bwMode="auto">
            <a:xfrm>
              <a:off x="827088"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Rectangle 327"/>
            <p:cNvSpPr>
              <a:spLocks noChangeArrowheads="1"/>
            </p:cNvSpPr>
            <p:nvPr/>
          </p:nvSpPr>
          <p:spPr bwMode="auto">
            <a:xfrm>
              <a:off x="811213" y="5718175"/>
              <a:ext cx="15875"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Line 328"/>
            <p:cNvSpPr>
              <a:spLocks noChangeShapeType="1"/>
            </p:cNvSpPr>
            <p:nvPr/>
          </p:nvSpPr>
          <p:spPr bwMode="auto">
            <a:xfrm flipV="1">
              <a:off x="892175" y="5686425"/>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Line 329"/>
            <p:cNvSpPr>
              <a:spLocks noChangeShapeType="1"/>
            </p:cNvSpPr>
            <p:nvPr/>
          </p:nvSpPr>
          <p:spPr bwMode="auto">
            <a:xfrm>
              <a:off x="989013" y="567055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Line 330"/>
            <p:cNvSpPr>
              <a:spLocks noChangeShapeType="1"/>
            </p:cNvSpPr>
            <p:nvPr/>
          </p:nvSpPr>
          <p:spPr bwMode="auto">
            <a:xfrm flipV="1">
              <a:off x="1085850" y="5637213"/>
              <a:ext cx="15875" cy="17462"/>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Line 331"/>
            <p:cNvSpPr>
              <a:spLocks noChangeShapeType="1"/>
            </p:cNvSpPr>
            <p:nvPr/>
          </p:nvSpPr>
          <p:spPr bwMode="auto">
            <a:xfrm>
              <a:off x="1182688" y="562133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Line 332"/>
            <p:cNvSpPr>
              <a:spLocks noChangeShapeType="1"/>
            </p:cNvSpPr>
            <p:nvPr/>
          </p:nvSpPr>
          <p:spPr bwMode="auto">
            <a:xfrm>
              <a:off x="1279525" y="560546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Line 333"/>
            <p:cNvSpPr>
              <a:spLocks noChangeShapeType="1"/>
            </p:cNvSpPr>
            <p:nvPr/>
          </p:nvSpPr>
          <p:spPr bwMode="auto">
            <a:xfrm flipV="1">
              <a:off x="1360488" y="5573713"/>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Line 334"/>
            <p:cNvSpPr>
              <a:spLocks noChangeShapeType="1"/>
            </p:cNvSpPr>
            <p:nvPr/>
          </p:nvSpPr>
          <p:spPr bwMode="auto">
            <a:xfrm>
              <a:off x="1457325" y="5556250"/>
              <a:ext cx="33338"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Line 335"/>
            <p:cNvSpPr>
              <a:spLocks noChangeShapeType="1"/>
            </p:cNvSpPr>
            <p:nvPr/>
          </p:nvSpPr>
          <p:spPr bwMode="auto">
            <a:xfrm flipV="1">
              <a:off x="1554163" y="5524500"/>
              <a:ext cx="33337"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Line 336"/>
            <p:cNvSpPr>
              <a:spLocks noChangeShapeType="1"/>
            </p:cNvSpPr>
            <p:nvPr/>
          </p:nvSpPr>
          <p:spPr bwMode="auto">
            <a:xfrm>
              <a:off x="1651000" y="550862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 name="Line 337"/>
            <p:cNvSpPr>
              <a:spLocks noChangeShapeType="1"/>
            </p:cNvSpPr>
            <p:nvPr/>
          </p:nvSpPr>
          <p:spPr bwMode="auto">
            <a:xfrm>
              <a:off x="1747838" y="5491163"/>
              <a:ext cx="17462"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Line 338"/>
            <p:cNvSpPr>
              <a:spLocks noChangeShapeType="1"/>
            </p:cNvSpPr>
            <p:nvPr/>
          </p:nvSpPr>
          <p:spPr bwMode="auto">
            <a:xfrm flipV="1">
              <a:off x="1844675" y="5459413"/>
              <a:ext cx="17463"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4" name="Line 339"/>
            <p:cNvSpPr>
              <a:spLocks noChangeShapeType="1"/>
            </p:cNvSpPr>
            <p:nvPr/>
          </p:nvSpPr>
          <p:spPr bwMode="auto">
            <a:xfrm>
              <a:off x="1925638" y="5443538"/>
              <a:ext cx="33337"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 name="Line 340"/>
            <p:cNvSpPr>
              <a:spLocks noChangeShapeType="1"/>
            </p:cNvSpPr>
            <p:nvPr/>
          </p:nvSpPr>
          <p:spPr bwMode="auto">
            <a:xfrm flipV="1">
              <a:off x="2022475" y="5410200"/>
              <a:ext cx="33338" cy="17463"/>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6" name="Line 341"/>
            <p:cNvSpPr>
              <a:spLocks noChangeShapeType="1"/>
            </p:cNvSpPr>
            <p:nvPr/>
          </p:nvSpPr>
          <p:spPr bwMode="auto">
            <a:xfrm>
              <a:off x="2119313" y="5394325"/>
              <a:ext cx="33337"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Line 342"/>
            <p:cNvSpPr>
              <a:spLocks noChangeShapeType="1"/>
            </p:cNvSpPr>
            <p:nvPr/>
          </p:nvSpPr>
          <p:spPr bwMode="auto">
            <a:xfrm>
              <a:off x="2217738" y="537845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8" name="Line 343"/>
            <p:cNvSpPr>
              <a:spLocks noChangeShapeType="1"/>
            </p:cNvSpPr>
            <p:nvPr/>
          </p:nvSpPr>
          <p:spPr bwMode="auto">
            <a:xfrm flipV="1">
              <a:off x="2314575" y="5346700"/>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9" name="Line 344"/>
            <p:cNvSpPr>
              <a:spLocks noChangeShapeType="1"/>
            </p:cNvSpPr>
            <p:nvPr/>
          </p:nvSpPr>
          <p:spPr bwMode="auto">
            <a:xfrm>
              <a:off x="2411413" y="532923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Line 345"/>
            <p:cNvSpPr>
              <a:spLocks noChangeShapeType="1"/>
            </p:cNvSpPr>
            <p:nvPr/>
          </p:nvSpPr>
          <p:spPr bwMode="auto">
            <a:xfrm flipV="1">
              <a:off x="2508250" y="5297488"/>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Line 346"/>
            <p:cNvSpPr>
              <a:spLocks noChangeShapeType="1"/>
            </p:cNvSpPr>
            <p:nvPr/>
          </p:nvSpPr>
          <p:spPr bwMode="auto">
            <a:xfrm>
              <a:off x="2589213" y="5281613"/>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Line 347"/>
            <p:cNvSpPr>
              <a:spLocks noChangeShapeType="1"/>
            </p:cNvSpPr>
            <p:nvPr/>
          </p:nvSpPr>
          <p:spPr bwMode="auto">
            <a:xfrm>
              <a:off x="2686050" y="5265738"/>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3" name="Line 348"/>
            <p:cNvSpPr>
              <a:spLocks noChangeShapeType="1"/>
            </p:cNvSpPr>
            <p:nvPr/>
          </p:nvSpPr>
          <p:spPr bwMode="auto">
            <a:xfrm>
              <a:off x="2782888" y="523240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4" name="Line 349"/>
            <p:cNvSpPr>
              <a:spLocks noChangeShapeType="1"/>
            </p:cNvSpPr>
            <p:nvPr/>
          </p:nvSpPr>
          <p:spPr bwMode="auto">
            <a:xfrm>
              <a:off x="2879725" y="521652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5" name="Line 350"/>
            <p:cNvSpPr>
              <a:spLocks noChangeShapeType="1"/>
            </p:cNvSpPr>
            <p:nvPr/>
          </p:nvSpPr>
          <p:spPr bwMode="auto">
            <a:xfrm flipV="1">
              <a:off x="2976563" y="5184775"/>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Line 351"/>
            <p:cNvSpPr>
              <a:spLocks noChangeShapeType="1"/>
            </p:cNvSpPr>
            <p:nvPr/>
          </p:nvSpPr>
          <p:spPr bwMode="auto">
            <a:xfrm>
              <a:off x="3073400" y="516731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7" name="Line 352"/>
            <p:cNvSpPr>
              <a:spLocks noChangeShapeType="1"/>
            </p:cNvSpPr>
            <p:nvPr/>
          </p:nvSpPr>
          <p:spPr bwMode="auto">
            <a:xfrm flipV="1">
              <a:off x="3170238" y="5135563"/>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8" name="Line 353"/>
            <p:cNvSpPr>
              <a:spLocks noChangeShapeType="1"/>
            </p:cNvSpPr>
            <p:nvPr/>
          </p:nvSpPr>
          <p:spPr bwMode="auto">
            <a:xfrm>
              <a:off x="3251200" y="5119688"/>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9" name="Line 354"/>
            <p:cNvSpPr>
              <a:spLocks noChangeShapeType="1"/>
            </p:cNvSpPr>
            <p:nvPr/>
          </p:nvSpPr>
          <p:spPr bwMode="auto">
            <a:xfrm>
              <a:off x="3348038" y="5103813"/>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0" name="Line 355"/>
            <p:cNvSpPr>
              <a:spLocks noChangeShapeType="1"/>
            </p:cNvSpPr>
            <p:nvPr/>
          </p:nvSpPr>
          <p:spPr bwMode="auto">
            <a:xfrm flipV="1">
              <a:off x="3444875" y="5070475"/>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1" name="Line 356"/>
            <p:cNvSpPr>
              <a:spLocks noChangeShapeType="1"/>
            </p:cNvSpPr>
            <p:nvPr/>
          </p:nvSpPr>
          <p:spPr bwMode="auto">
            <a:xfrm>
              <a:off x="3541713" y="505460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 name="Line 357"/>
            <p:cNvSpPr>
              <a:spLocks noChangeShapeType="1"/>
            </p:cNvSpPr>
            <p:nvPr/>
          </p:nvSpPr>
          <p:spPr bwMode="auto">
            <a:xfrm flipV="1">
              <a:off x="3638550" y="5022850"/>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 name="Line 358"/>
            <p:cNvSpPr>
              <a:spLocks noChangeShapeType="1"/>
            </p:cNvSpPr>
            <p:nvPr/>
          </p:nvSpPr>
          <p:spPr bwMode="auto">
            <a:xfrm>
              <a:off x="3735388" y="500538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4" name="Line 359"/>
            <p:cNvSpPr>
              <a:spLocks noChangeShapeType="1"/>
            </p:cNvSpPr>
            <p:nvPr/>
          </p:nvSpPr>
          <p:spPr bwMode="auto">
            <a:xfrm>
              <a:off x="3816350" y="4989513"/>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 name="Line 360"/>
            <p:cNvSpPr>
              <a:spLocks noChangeShapeType="1"/>
            </p:cNvSpPr>
            <p:nvPr/>
          </p:nvSpPr>
          <p:spPr bwMode="auto">
            <a:xfrm flipV="1">
              <a:off x="3913188" y="4957763"/>
              <a:ext cx="33337"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6" name="Line 361"/>
            <p:cNvSpPr>
              <a:spLocks noChangeShapeType="1"/>
            </p:cNvSpPr>
            <p:nvPr/>
          </p:nvSpPr>
          <p:spPr bwMode="auto">
            <a:xfrm>
              <a:off x="4010025" y="4941888"/>
              <a:ext cx="33338"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Line 362"/>
            <p:cNvSpPr>
              <a:spLocks noChangeShapeType="1"/>
            </p:cNvSpPr>
            <p:nvPr/>
          </p:nvSpPr>
          <p:spPr bwMode="auto">
            <a:xfrm flipV="1">
              <a:off x="4106863" y="4908550"/>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8" name="Line 363"/>
            <p:cNvSpPr>
              <a:spLocks noChangeShapeType="1"/>
            </p:cNvSpPr>
            <p:nvPr/>
          </p:nvSpPr>
          <p:spPr bwMode="auto">
            <a:xfrm>
              <a:off x="4203700" y="4892675"/>
              <a:ext cx="17463"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9" name="Line 364"/>
            <p:cNvSpPr>
              <a:spLocks noChangeShapeType="1"/>
            </p:cNvSpPr>
            <p:nvPr/>
          </p:nvSpPr>
          <p:spPr bwMode="auto">
            <a:xfrm>
              <a:off x="4300538" y="4876800"/>
              <a:ext cx="17462"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0" name="Line 365"/>
            <p:cNvSpPr>
              <a:spLocks noChangeShapeType="1"/>
            </p:cNvSpPr>
            <p:nvPr/>
          </p:nvSpPr>
          <p:spPr bwMode="auto">
            <a:xfrm>
              <a:off x="4397375" y="4843463"/>
              <a:ext cx="17463"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1" name="Line 366"/>
            <p:cNvSpPr>
              <a:spLocks noChangeShapeType="1"/>
            </p:cNvSpPr>
            <p:nvPr/>
          </p:nvSpPr>
          <p:spPr bwMode="auto">
            <a:xfrm>
              <a:off x="4478338" y="4827588"/>
              <a:ext cx="33337"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2" name="Line 367"/>
            <p:cNvSpPr>
              <a:spLocks noChangeShapeType="1"/>
            </p:cNvSpPr>
            <p:nvPr/>
          </p:nvSpPr>
          <p:spPr bwMode="auto">
            <a:xfrm flipV="1">
              <a:off x="4575175" y="4795838"/>
              <a:ext cx="33338"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3" name="Line 368"/>
            <p:cNvSpPr>
              <a:spLocks noChangeShapeType="1"/>
            </p:cNvSpPr>
            <p:nvPr/>
          </p:nvSpPr>
          <p:spPr bwMode="auto">
            <a:xfrm>
              <a:off x="4672013" y="4779963"/>
              <a:ext cx="33337"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4" name="Line 369"/>
            <p:cNvSpPr>
              <a:spLocks noChangeShapeType="1"/>
            </p:cNvSpPr>
            <p:nvPr/>
          </p:nvSpPr>
          <p:spPr bwMode="auto">
            <a:xfrm flipV="1">
              <a:off x="4770438" y="4746625"/>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5" name="Line 370"/>
            <p:cNvSpPr>
              <a:spLocks noChangeShapeType="1"/>
            </p:cNvSpPr>
            <p:nvPr/>
          </p:nvSpPr>
          <p:spPr bwMode="auto">
            <a:xfrm>
              <a:off x="4867275" y="4730750"/>
              <a:ext cx="15875"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6" name="Line 371"/>
            <p:cNvSpPr>
              <a:spLocks noChangeShapeType="1"/>
            </p:cNvSpPr>
            <p:nvPr/>
          </p:nvSpPr>
          <p:spPr bwMode="auto">
            <a:xfrm>
              <a:off x="4964113" y="4714875"/>
              <a:ext cx="15875"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7" name="Line 372"/>
            <p:cNvSpPr>
              <a:spLocks noChangeShapeType="1"/>
            </p:cNvSpPr>
            <p:nvPr/>
          </p:nvSpPr>
          <p:spPr bwMode="auto">
            <a:xfrm flipV="1">
              <a:off x="5060950" y="4681538"/>
              <a:ext cx="15875" cy="17462"/>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8" name="Line 373"/>
            <p:cNvSpPr>
              <a:spLocks noChangeShapeType="1"/>
            </p:cNvSpPr>
            <p:nvPr/>
          </p:nvSpPr>
          <p:spPr bwMode="auto">
            <a:xfrm>
              <a:off x="5141913" y="4665663"/>
              <a:ext cx="31750"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9" name="Line 374"/>
            <p:cNvSpPr>
              <a:spLocks noChangeShapeType="1"/>
            </p:cNvSpPr>
            <p:nvPr/>
          </p:nvSpPr>
          <p:spPr bwMode="auto">
            <a:xfrm flipV="1">
              <a:off x="5238750" y="4633913"/>
              <a:ext cx="31750"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0" name="Line 375"/>
            <p:cNvSpPr>
              <a:spLocks noChangeShapeType="1"/>
            </p:cNvSpPr>
            <p:nvPr/>
          </p:nvSpPr>
          <p:spPr bwMode="auto">
            <a:xfrm>
              <a:off x="5335588" y="4618038"/>
              <a:ext cx="31750"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1" name="Line 376"/>
            <p:cNvSpPr>
              <a:spLocks noChangeShapeType="1"/>
            </p:cNvSpPr>
            <p:nvPr/>
          </p:nvSpPr>
          <p:spPr bwMode="auto">
            <a:xfrm>
              <a:off x="5432425" y="4600575"/>
              <a:ext cx="15875"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2" name="Line 377"/>
            <p:cNvSpPr>
              <a:spLocks noChangeShapeType="1"/>
            </p:cNvSpPr>
            <p:nvPr/>
          </p:nvSpPr>
          <p:spPr bwMode="auto">
            <a:xfrm flipV="1">
              <a:off x="5529263" y="4568825"/>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3" name="Rectangle 378"/>
            <p:cNvSpPr>
              <a:spLocks noChangeArrowheads="1"/>
            </p:cNvSpPr>
            <p:nvPr/>
          </p:nvSpPr>
          <p:spPr bwMode="auto">
            <a:xfrm>
              <a:off x="5626100" y="4552950"/>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4" name="Rectangle 379"/>
            <p:cNvSpPr>
              <a:spLocks noChangeArrowheads="1"/>
            </p:cNvSpPr>
            <p:nvPr/>
          </p:nvSpPr>
          <p:spPr bwMode="auto">
            <a:xfrm>
              <a:off x="5626100" y="4552950"/>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5" name="Rectangle 380"/>
            <p:cNvSpPr>
              <a:spLocks noChangeArrowheads="1"/>
            </p:cNvSpPr>
            <p:nvPr/>
          </p:nvSpPr>
          <p:spPr bwMode="auto">
            <a:xfrm>
              <a:off x="5626100" y="4552950"/>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6" name="Rectangle 381"/>
            <p:cNvSpPr>
              <a:spLocks noChangeArrowheads="1"/>
            </p:cNvSpPr>
            <p:nvPr/>
          </p:nvSpPr>
          <p:spPr bwMode="auto">
            <a:xfrm>
              <a:off x="811213"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7" name="Rectangle 382"/>
            <p:cNvSpPr>
              <a:spLocks noChangeArrowheads="1"/>
            </p:cNvSpPr>
            <p:nvPr/>
          </p:nvSpPr>
          <p:spPr bwMode="auto">
            <a:xfrm>
              <a:off x="827088" y="5718175"/>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8" name="Rectangle 383"/>
            <p:cNvSpPr>
              <a:spLocks noChangeArrowheads="1"/>
            </p:cNvSpPr>
            <p:nvPr/>
          </p:nvSpPr>
          <p:spPr bwMode="auto">
            <a:xfrm>
              <a:off x="811213" y="5718175"/>
              <a:ext cx="15875"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 name="Line 384"/>
            <p:cNvSpPr>
              <a:spLocks noChangeShapeType="1"/>
            </p:cNvSpPr>
            <p:nvPr/>
          </p:nvSpPr>
          <p:spPr bwMode="auto">
            <a:xfrm>
              <a:off x="892175" y="568642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0" name="Line 385"/>
            <p:cNvSpPr>
              <a:spLocks noChangeShapeType="1"/>
            </p:cNvSpPr>
            <p:nvPr/>
          </p:nvSpPr>
          <p:spPr bwMode="auto">
            <a:xfrm>
              <a:off x="989013" y="565467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1" name="Line 386"/>
            <p:cNvSpPr>
              <a:spLocks noChangeShapeType="1"/>
            </p:cNvSpPr>
            <p:nvPr/>
          </p:nvSpPr>
          <p:spPr bwMode="auto">
            <a:xfrm>
              <a:off x="1069975" y="5621338"/>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2" name="Line 387"/>
            <p:cNvSpPr>
              <a:spLocks noChangeShapeType="1"/>
            </p:cNvSpPr>
            <p:nvPr/>
          </p:nvSpPr>
          <p:spPr bwMode="auto">
            <a:xfrm>
              <a:off x="1166813" y="558958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 name="Line 388"/>
            <p:cNvSpPr>
              <a:spLocks noChangeShapeType="1"/>
            </p:cNvSpPr>
            <p:nvPr/>
          </p:nvSpPr>
          <p:spPr bwMode="auto">
            <a:xfrm flipV="1">
              <a:off x="1247775" y="5540375"/>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4" name="Line 389"/>
            <p:cNvSpPr>
              <a:spLocks noChangeShapeType="1"/>
            </p:cNvSpPr>
            <p:nvPr/>
          </p:nvSpPr>
          <p:spPr bwMode="auto">
            <a:xfrm flipV="1">
              <a:off x="1344613" y="5508625"/>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5" name="Line 390"/>
            <p:cNvSpPr>
              <a:spLocks noChangeShapeType="1"/>
            </p:cNvSpPr>
            <p:nvPr/>
          </p:nvSpPr>
          <p:spPr bwMode="auto">
            <a:xfrm flipV="1">
              <a:off x="1441450" y="5475288"/>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6" name="Line 391"/>
            <p:cNvSpPr>
              <a:spLocks noChangeShapeType="1"/>
            </p:cNvSpPr>
            <p:nvPr/>
          </p:nvSpPr>
          <p:spPr bwMode="auto">
            <a:xfrm flipV="1">
              <a:off x="1522413" y="5443538"/>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7" name="Line 392"/>
            <p:cNvSpPr>
              <a:spLocks noChangeShapeType="1"/>
            </p:cNvSpPr>
            <p:nvPr/>
          </p:nvSpPr>
          <p:spPr bwMode="auto">
            <a:xfrm flipV="1">
              <a:off x="1619250" y="5410200"/>
              <a:ext cx="15875" cy="17463"/>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8" name="Line 393"/>
            <p:cNvSpPr>
              <a:spLocks noChangeShapeType="1"/>
            </p:cNvSpPr>
            <p:nvPr/>
          </p:nvSpPr>
          <p:spPr bwMode="auto">
            <a:xfrm flipV="1">
              <a:off x="1716088" y="5378450"/>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9" name="Line 394"/>
            <p:cNvSpPr>
              <a:spLocks noChangeShapeType="1"/>
            </p:cNvSpPr>
            <p:nvPr/>
          </p:nvSpPr>
          <p:spPr bwMode="auto">
            <a:xfrm flipV="1">
              <a:off x="1797050" y="5346700"/>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0" name="Line 395"/>
            <p:cNvSpPr>
              <a:spLocks noChangeShapeType="1"/>
            </p:cNvSpPr>
            <p:nvPr/>
          </p:nvSpPr>
          <p:spPr bwMode="auto">
            <a:xfrm flipV="1">
              <a:off x="1893888" y="5313363"/>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1" name="Line 396"/>
            <p:cNvSpPr>
              <a:spLocks noChangeShapeType="1"/>
            </p:cNvSpPr>
            <p:nvPr/>
          </p:nvSpPr>
          <p:spPr bwMode="auto">
            <a:xfrm flipV="1">
              <a:off x="1990725" y="5281613"/>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2" name="Line 397"/>
            <p:cNvSpPr>
              <a:spLocks noChangeShapeType="1"/>
            </p:cNvSpPr>
            <p:nvPr/>
          </p:nvSpPr>
          <p:spPr bwMode="auto">
            <a:xfrm flipV="1">
              <a:off x="2071688" y="5248275"/>
              <a:ext cx="31750" cy="17463"/>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 name="Line 398"/>
            <p:cNvSpPr>
              <a:spLocks noChangeShapeType="1"/>
            </p:cNvSpPr>
            <p:nvPr/>
          </p:nvSpPr>
          <p:spPr bwMode="auto">
            <a:xfrm flipV="1">
              <a:off x="2168525" y="5216525"/>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4" name="Line 399"/>
            <p:cNvSpPr>
              <a:spLocks noChangeShapeType="1"/>
            </p:cNvSpPr>
            <p:nvPr/>
          </p:nvSpPr>
          <p:spPr bwMode="auto">
            <a:xfrm flipV="1">
              <a:off x="2249488" y="5184775"/>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5" name="Line 400"/>
            <p:cNvSpPr>
              <a:spLocks noChangeShapeType="1"/>
            </p:cNvSpPr>
            <p:nvPr/>
          </p:nvSpPr>
          <p:spPr bwMode="auto">
            <a:xfrm flipV="1">
              <a:off x="2346325" y="5151438"/>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6" name="Line 401"/>
            <p:cNvSpPr>
              <a:spLocks noChangeShapeType="1"/>
            </p:cNvSpPr>
            <p:nvPr/>
          </p:nvSpPr>
          <p:spPr bwMode="auto">
            <a:xfrm>
              <a:off x="2443163" y="511968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7" name="Line 402"/>
            <p:cNvSpPr>
              <a:spLocks noChangeShapeType="1"/>
            </p:cNvSpPr>
            <p:nvPr/>
          </p:nvSpPr>
          <p:spPr bwMode="auto">
            <a:xfrm>
              <a:off x="2524125" y="508635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8" name="Line 403"/>
            <p:cNvSpPr>
              <a:spLocks noChangeShapeType="1"/>
            </p:cNvSpPr>
            <p:nvPr/>
          </p:nvSpPr>
          <p:spPr bwMode="auto">
            <a:xfrm>
              <a:off x="2620963" y="505460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9" name="Line 404"/>
            <p:cNvSpPr>
              <a:spLocks noChangeShapeType="1"/>
            </p:cNvSpPr>
            <p:nvPr/>
          </p:nvSpPr>
          <p:spPr bwMode="auto">
            <a:xfrm>
              <a:off x="2717800" y="502285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0" name="Line 405"/>
            <p:cNvSpPr>
              <a:spLocks noChangeShapeType="1"/>
            </p:cNvSpPr>
            <p:nvPr/>
          </p:nvSpPr>
          <p:spPr bwMode="auto">
            <a:xfrm>
              <a:off x="2798763" y="4989513"/>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1" name="Line 406"/>
            <p:cNvSpPr>
              <a:spLocks noChangeShapeType="1"/>
            </p:cNvSpPr>
            <p:nvPr/>
          </p:nvSpPr>
          <p:spPr bwMode="auto">
            <a:xfrm>
              <a:off x="2895600" y="4957763"/>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 name="Line 407"/>
            <p:cNvSpPr>
              <a:spLocks noChangeShapeType="1"/>
            </p:cNvSpPr>
            <p:nvPr/>
          </p:nvSpPr>
          <p:spPr bwMode="auto">
            <a:xfrm>
              <a:off x="2992438" y="492442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3" name="Line 408"/>
            <p:cNvSpPr>
              <a:spLocks noChangeShapeType="1"/>
            </p:cNvSpPr>
            <p:nvPr/>
          </p:nvSpPr>
          <p:spPr bwMode="auto">
            <a:xfrm>
              <a:off x="3073400" y="4892675"/>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Line 409"/>
            <p:cNvSpPr>
              <a:spLocks noChangeShapeType="1"/>
            </p:cNvSpPr>
            <p:nvPr/>
          </p:nvSpPr>
          <p:spPr bwMode="auto">
            <a:xfrm>
              <a:off x="3170238" y="4860925"/>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5" name="Line 410"/>
            <p:cNvSpPr>
              <a:spLocks noChangeShapeType="1"/>
            </p:cNvSpPr>
            <p:nvPr/>
          </p:nvSpPr>
          <p:spPr bwMode="auto">
            <a:xfrm>
              <a:off x="3251200" y="4827588"/>
              <a:ext cx="31750"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 name="Line 411"/>
            <p:cNvSpPr>
              <a:spLocks noChangeShapeType="1"/>
            </p:cNvSpPr>
            <p:nvPr/>
          </p:nvSpPr>
          <p:spPr bwMode="auto">
            <a:xfrm>
              <a:off x="3348038" y="4795838"/>
              <a:ext cx="15875" cy="1587"/>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7" name="Line 412"/>
            <p:cNvSpPr>
              <a:spLocks noChangeShapeType="1"/>
            </p:cNvSpPr>
            <p:nvPr/>
          </p:nvSpPr>
          <p:spPr bwMode="auto">
            <a:xfrm>
              <a:off x="3444875" y="4762500"/>
              <a:ext cx="15875"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8" name="Line 413"/>
            <p:cNvSpPr>
              <a:spLocks noChangeShapeType="1"/>
            </p:cNvSpPr>
            <p:nvPr/>
          </p:nvSpPr>
          <p:spPr bwMode="auto">
            <a:xfrm>
              <a:off x="3525838" y="4730750"/>
              <a:ext cx="31750" cy="1588"/>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9" name="Line 414"/>
            <p:cNvSpPr>
              <a:spLocks noChangeShapeType="1"/>
            </p:cNvSpPr>
            <p:nvPr/>
          </p:nvSpPr>
          <p:spPr bwMode="auto">
            <a:xfrm flipV="1">
              <a:off x="3622675" y="4681538"/>
              <a:ext cx="15875" cy="17462"/>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0" name="Line 415"/>
            <p:cNvSpPr>
              <a:spLocks noChangeShapeType="1"/>
            </p:cNvSpPr>
            <p:nvPr/>
          </p:nvSpPr>
          <p:spPr bwMode="auto">
            <a:xfrm flipV="1">
              <a:off x="3719513" y="4649788"/>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1" name="Line 416"/>
            <p:cNvSpPr>
              <a:spLocks noChangeShapeType="1"/>
            </p:cNvSpPr>
            <p:nvPr/>
          </p:nvSpPr>
          <p:spPr bwMode="auto">
            <a:xfrm flipV="1">
              <a:off x="3800475" y="4618038"/>
              <a:ext cx="31750"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2" name="Line 417"/>
            <p:cNvSpPr>
              <a:spLocks noChangeShapeType="1"/>
            </p:cNvSpPr>
            <p:nvPr/>
          </p:nvSpPr>
          <p:spPr bwMode="auto">
            <a:xfrm flipV="1">
              <a:off x="3897313" y="4584700"/>
              <a:ext cx="15875" cy="15875"/>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 name="Line 418"/>
            <p:cNvSpPr>
              <a:spLocks noChangeShapeType="1"/>
            </p:cNvSpPr>
            <p:nvPr/>
          </p:nvSpPr>
          <p:spPr bwMode="auto">
            <a:xfrm flipV="1">
              <a:off x="3978275" y="4552950"/>
              <a:ext cx="31750"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 name="Line 419"/>
            <p:cNvSpPr>
              <a:spLocks noChangeShapeType="1"/>
            </p:cNvSpPr>
            <p:nvPr/>
          </p:nvSpPr>
          <p:spPr bwMode="auto">
            <a:xfrm flipV="1">
              <a:off x="4075113" y="4519613"/>
              <a:ext cx="31750" cy="17462"/>
            </a:xfrm>
            <a:prstGeom prst="line">
              <a:avLst/>
            </a:prstGeom>
            <a:noFill/>
            <a:ln w="952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5" name="Line 420"/>
            <p:cNvSpPr>
              <a:spLocks noChangeShapeType="1"/>
            </p:cNvSpPr>
            <p:nvPr/>
          </p:nvSpPr>
          <p:spPr bwMode="auto">
            <a:xfrm flipV="1">
              <a:off x="4171950" y="4487863"/>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6" name="Line 421"/>
            <p:cNvSpPr>
              <a:spLocks noChangeShapeType="1"/>
            </p:cNvSpPr>
            <p:nvPr/>
          </p:nvSpPr>
          <p:spPr bwMode="auto">
            <a:xfrm flipV="1">
              <a:off x="4252913" y="4456113"/>
              <a:ext cx="31750"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7" name="Line 422"/>
            <p:cNvSpPr>
              <a:spLocks noChangeShapeType="1"/>
            </p:cNvSpPr>
            <p:nvPr/>
          </p:nvSpPr>
          <p:spPr bwMode="auto">
            <a:xfrm flipV="1">
              <a:off x="4349750" y="4422775"/>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8" name="Line 423"/>
            <p:cNvSpPr>
              <a:spLocks noChangeShapeType="1"/>
            </p:cNvSpPr>
            <p:nvPr/>
          </p:nvSpPr>
          <p:spPr bwMode="auto">
            <a:xfrm flipV="1">
              <a:off x="4446588" y="4391025"/>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9" name="Line 424"/>
            <p:cNvSpPr>
              <a:spLocks noChangeShapeType="1"/>
            </p:cNvSpPr>
            <p:nvPr/>
          </p:nvSpPr>
          <p:spPr bwMode="auto">
            <a:xfrm flipV="1">
              <a:off x="4527550" y="4357688"/>
              <a:ext cx="31750" cy="17462"/>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0" name="Line 425"/>
            <p:cNvSpPr>
              <a:spLocks noChangeShapeType="1"/>
            </p:cNvSpPr>
            <p:nvPr/>
          </p:nvSpPr>
          <p:spPr bwMode="auto">
            <a:xfrm flipV="1">
              <a:off x="4624388" y="4325938"/>
              <a:ext cx="15875"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1" name="Line 426"/>
            <p:cNvSpPr>
              <a:spLocks noChangeShapeType="1"/>
            </p:cNvSpPr>
            <p:nvPr/>
          </p:nvSpPr>
          <p:spPr bwMode="auto">
            <a:xfrm flipV="1">
              <a:off x="4721225" y="4292600"/>
              <a:ext cx="15875" cy="17463"/>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2" name="Line 427"/>
            <p:cNvSpPr>
              <a:spLocks noChangeShapeType="1"/>
            </p:cNvSpPr>
            <p:nvPr/>
          </p:nvSpPr>
          <p:spPr bwMode="auto">
            <a:xfrm flipV="1">
              <a:off x="4802188" y="4260850"/>
              <a:ext cx="31750" cy="15875"/>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3" name="Line 428"/>
            <p:cNvSpPr>
              <a:spLocks noChangeShapeType="1"/>
            </p:cNvSpPr>
            <p:nvPr/>
          </p:nvSpPr>
          <p:spPr bwMode="auto">
            <a:xfrm>
              <a:off x="4899025" y="4229100"/>
              <a:ext cx="15875"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4" name="Line 429"/>
            <p:cNvSpPr>
              <a:spLocks noChangeShapeType="1"/>
            </p:cNvSpPr>
            <p:nvPr/>
          </p:nvSpPr>
          <p:spPr bwMode="auto">
            <a:xfrm>
              <a:off x="4979988" y="4195763"/>
              <a:ext cx="31750"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Line 430"/>
            <p:cNvSpPr>
              <a:spLocks noChangeShapeType="1"/>
            </p:cNvSpPr>
            <p:nvPr/>
          </p:nvSpPr>
          <p:spPr bwMode="auto">
            <a:xfrm>
              <a:off x="5076825" y="4164013"/>
              <a:ext cx="31750"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6" name="Line 431"/>
            <p:cNvSpPr>
              <a:spLocks noChangeShapeType="1"/>
            </p:cNvSpPr>
            <p:nvPr/>
          </p:nvSpPr>
          <p:spPr bwMode="auto">
            <a:xfrm>
              <a:off x="5173663" y="4130675"/>
              <a:ext cx="15875"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7" name="Line 432"/>
            <p:cNvSpPr>
              <a:spLocks noChangeShapeType="1"/>
            </p:cNvSpPr>
            <p:nvPr/>
          </p:nvSpPr>
          <p:spPr bwMode="auto">
            <a:xfrm>
              <a:off x="5254625" y="4098925"/>
              <a:ext cx="31750"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8" name="Line 433"/>
            <p:cNvSpPr>
              <a:spLocks noChangeShapeType="1"/>
            </p:cNvSpPr>
            <p:nvPr/>
          </p:nvSpPr>
          <p:spPr bwMode="auto">
            <a:xfrm>
              <a:off x="5351463" y="4067175"/>
              <a:ext cx="15875" cy="1588"/>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9" name="Line 434"/>
            <p:cNvSpPr>
              <a:spLocks noChangeShapeType="1"/>
            </p:cNvSpPr>
            <p:nvPr/>
          </p:nvSpPr>
          <p:spPr bwMode="auto">
            <a:xfrm>
              <a:off x="5448300" y="4033838"/>
              <a:ext cx="15875"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0" name="Line 435"/>
            <p:cNvSpPr>
              <a:spLocks noChangeShapeType="1"/>
            </p:cNvSpPr>
            <p:nvPr/>
          </p:nvSpPr>
          <p:spPr bwMode="auto">
            <a:xfrm>
              <a:off x="5529263" y="4002088"/>
              <a:ext cx="31750" cy="1587"/>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1" name="Rectangle 436"/>
            <p:cNvSpPr>
              <a:spLocks noChangeArrowheads="1"/>
            </p:cNvSpPr>
            <p:nvPr/>
          </p:nvSpPr>
          <p:spPr bwMode="auto">
            <a:xfrm>
              <a:off x="5626100" y="3968750"/>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2" name="Rectangle 437"/>
            <p:cNvSpPr>
              <a:spLocks noChangeArrowheads="1"/>
            </p:cNvSpPr>
            <p:nvPr/>
          </p:nvSpPr>
          <p:spPr bwMode="auto">
            <a:xfrm>
              <a:off x="5641975" y="3968750"/>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3" name="Rectangle 438"/>
            <p:cNvSpPr>
              <a:spLocks noChangeArrowheads="1"/>
            </p:cNvSpPr>
            <p:nvPr/>
          </p:nvSpPr>
          <p:spPr bwMode="auto">
            <a:xfrm>
              <a:off x="5626100" y="3968750"/>
              <a:ext cx="15875"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 name="Rectangle 439"/>
            <p:cNvSpPr>
              <a:spLocks noChangeArrowheads="1"/>
            </p:cNvSpPr>
            <p:nvPr/>
          </p:nvSpPr>
          <p:spPr bwMode="auto">
            <a:xfrm>
              <a:off x="4010025" y="3952875"/>
              <a:ext cx="15875"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5" name="Freeform 440"/>
            <p:cNvSpPr>
              <a:spLocks/>
            </p:cNvSpPr>
            <p:nvPr/>
          </p:nvSpPr>
          <p:spPr bwMode="auto">
            <a:xfrm>
              <a:off x="3962400" y="3824288"/>
              <a:ext cx="112713" cy="144462"/>
            </a:xfrm>
            <a:custGeom>
              <a:avLst/>
              <a:gdLst>
                <a:gd name="T0" fmla="*/ 2147483647 w 71"/>
                <a:gd name="T1" fmla="*/ 2147483647 h 91"/>
                <a:gd name="T2" fmla="*/ 0 w 71"/>
                <a:gd name="T3" fmla="*/ 2147483647 h 91"/>
                <a:gd name="T4" fmla="*/ 0 w 71"/>
                <a:gd name="T5" fmla="*/ 2147483647 h 91"/>
                <a:gd name="T6" fmla="*/ 0 w 71"/>
                <a:gd name="T7" fmla="*/ 2147483647 h 91"/>
                <a:gd name="T8" fmla="*/ 2147483647 w 71"/>
                <a:gd name="T9" fmla="*/ 0 h 91"/>
                <a:gd name="T10" fmla="*/ 2147483647 w 71"/>
                <a:gd name="T11" fmla="*/ 0 h 91"/>
                <a:gd name="T12" fmla="*/ 2147483647 w 71"/>
                <a:gd name="T13" fmla="*/ 2147483647 h 91"/>
                <a:gd name="T14" fmla="*/ 2147483647 w 71"/>
                <a:gd name="T15" fmla="*/ 2147483647 h 91"/>
                <a:gd name="T16" fmla="*/ 2147483647 w 71"/>
                <a:gd name="T17" fmla="*/ 2147483647 h 91"/>
                <a:gd name="T18" fmla="*/ 2147483647 w 71"/>
                <a:gd name="T19" fmla="*/ 2147483647 h 91"/>
                <a:gd name="T20" fmla="*/ 2147483647 w 71"/>
                <a:gd name="T21" fmla="*/ 0 h 91"/>
                <a:gd name="T22" fmla="*/ 2147483647 w 71"/>
                <a:gd name="T23" fmla="*/ 0 h 91"/>
                <a:gd name="T24" fmla="*/ 2147483647 w 71"/>
                <a:gd name="T25" fmla="*/ 0 h 91"/>
                <a:gd name="T26" fmla="*/ 2147483647 w 71"/>
                <a:gd name="T27" fmla="*/ 2147483647 h 91"/>
                <a:gd name="T28" fmla="*/ 0 w 71"/>
                <a:gd name="T29" fmla="*/ 2147483647 h 91"/>
                <a:gd name="T30" fmla="*/ 0 w 71"/>
                <a:gd name="T31" fmla="*/ 2147483647 h 91"/>
                <a:gd name="T32" fmla="*/ 2147483647 w 71"/>
                <a:gd name="T33" fmla="*/ 2147483647 h 91"/>
                <a:gd name="T34" fmla="*/ 2147483647 w 71"/>
                <a:gd name="T35" fmla="*/ 2147483647 h 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1"/>
                <a:gd name="T55" fmla="*/ 0 h 91"/>
                <a:gd name="T56" fmla="*/ 71 w 71"/>
                <a:gd name="T57" fmla="*/ 91 h 9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1" h="91">
                  <a:moveTo>
                    <a:pt x="30" y="81"/>
                  </a:moveTo>
                  <a:cubicBezTo>
                    <a:pt x="20" y="84"/>
                    <a:pt x="10" y="88"/>
                    <a:pt x="0" y="91"/>
                  </a:cubicBezTo>
                  <a:cubicBezTo>
                    <a:pt x="10" y="61"/>
                    <a:pt x="20" y="30"/>
                    <a:pt x="30" y="0"/>
                  </a:cubicBezTo>
                  <a:lnTo>
                    <a:pt x="40" y="0"/>
                  </a:lnTo>
                  <a:cubicBezTo>
                    <a:pt x="50" y="30"/>
                    <a:pt x="61" y="61"/>
                    <a:pt x="71" y="91"/>
                  </a:cubicBezTo>
                  <a:lnTo>
                    <a:pt x="61" y="91"/>
                  </a:lnTo>
                  <a:cubicBezTo>
                    <a:pt x="51" y="61"/>
                    <a:pt x="40" y="30"/>
                    <a:pt x="30" y="0"/>
                  </a:cubicBezTo>
                  <a:lnTo>
                    <a:pt x="40" y="0"/>
                  </a:lnTo>
                  <a:cubicBezTo>
                    <a:pt x="30" y="30"/>
                    <a:pt x="20" y="61"/>
                    <a:pt x="10" y="91"/>
                  </a:cubicBezTo>
                  <a:lnTo>
                    <a:pt x="0" y="91"/>
                  </a:lnTo>
                  <a:lnTo>
                    <a:pt x="0" y="81"/>
                  </a:lnTo>
                  <a:cubicBezTo>
                    <a:pt x="10" y="78"/>
                    <a:pt x="20" y="74"/>
                    <a:pt x="30" y="71"/>
                  </a:cubicBezTo>
                  <a:lnTo>
                    <a:pt x="30" y="8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6" name="Freeform 441"/>
            <p:cNvSpPr>
              <a:spLocks/>
            </p:cNvSpPr>
            <p:nvPr/>
          </p:nvSpPr>
          <p:spPr bwMode="auto">
            <a:xfrm>
              <a:off x="4010025" y="3937000"/>
              <a:ext cx="49213" cy="31750"/>
            </a:xfrm>
            <a:custGeom>
              <a:avLst/>
              <a:gdLst>
                <a:gd name="T0" fmla="*/ 2147483647 w 31"/>
                <a:gd name="T1" fmla="*/ 2147483647 h 20"/>
                <a:gd name="T2" fmla="*/ 0 w 31"/>
                <a:gd name="T3" fmla="*/ 2147483647 h 20"/>
                <a:gd name="T4" fmla="*/ 0 w 31"/>
                <a:gd name="T5" fmla="*/ 0 h 20"/>
                <a:gd name="T6" fmla="*/ 0 w 31"/>
                <a:gd name="T7" fmla="*/ 0 h 20"/>
                <a:gd name="T8" fmla="*/ 0 w 31"/>
                <a:gd name="T9" fmla="*/ 0 h 20"/>
                <a:gd name="T10" fmla="*/ 2147483647 w 31"/>
                <a:gd name="T11" fmla="*/ 2147483647 h 20"/>
                <a:gd name="T12" fmla="*/ 2147483647 w 31"/>
                <a:gd name="T13" fmla="*/ 2147483647 h 20"/>
                <a:gd name="T14" fmla="*/ 0 60000 65536"/>
                <a:gd name="T15" fmla="*/ 0 60000 65536"/>
                <a:gd name="T16" fmla="*/ 0 60000 65536"/>
                <a:gd name="T17" fmla="*/ 0 60000 65536"/>
                <a:gd name="T18" fmla="*/ 0 60000 65536"/>
                <a:gd name="T19" fmla="*/ 0 60000 65536"/>
                <a:gd name="T20" fmla="*/ 0 60000 65536"/>
                <a:gd name="T21" fmla="*/ 0 w 31"/>
                <a:gd name="T22" fmla="*/ 0 h 20"/>
                <a:gd name="T23" fmla="*/ 31 w 3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0">
                  <a:moveTo>
                    <a:pt x="31" y="20"/>
                  </a:moveTo>
                  <a:lnTo>
                    <a:pt x="0" y="10"/>
                  </a:lnTo>
                  <a:lnTo>
                    <a:pt x="0" y="0"/>
                  </a:lnTo>
                  <a:lnTo>
                    <a:pt x="31" y="10"/>
                  </a:lnTo>
                  <a:lnTo>
                    <a:pt x="31" y="2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7" name="Freeform 442"/>
            <p:cNvSpPr>
              <a:spLocks/>
            </p:cNvSpPr>
            <p:nvPr/>
          </p:nvSpPr>
          <p:spPr bwMode="auto">
            <a:xfrm>
              <a:off x="3962400" y="3824288"/>
              <a:ext cx="96838" cy="144462"/>
            </a:xfrm>
            <a:custGeom>
              <a:avLst/>
              <a:gdLst>
                <a:gd name="T0" fmla="*/ 2147483647 w 61"/>
                <a:gd name="T1" fmla="*/ 2147483647 h 91"/>
                <a:gd name="T2" fmla="*/ 0 w 61"/>
                <a:gd name="T3" fmla="*/ 2147483647 h 91"/>
                <a:gd name="T4" fmla="*/ 2147483647 w 61"/>
                <a:gd name="T5" fmla="*/ 0 h 91"/>
                <a:gd name="T6" fmla="*/ 2147483647 w 61"/>
                <a:gd name="T7" fmla="*/ 2147483647 h 91"/>
                <a:gd name="T8" fmla="*/ 2147483647 w 61"/>
                <a:gd name="T9" fmla="*/ 2147483647 h 91"/>
                <a:gd name="T10" fmla="*/ 0 60000 65536"/>
                <a:gd name="T11" fmla="*/ 0 60000 65536"/>
                <a:gd name="T12" fmla="*/ 0 60000 65536"/>
                <a:gd name="T13" fmla="*/ 0 60000 65536"/>
                <a:gd name="T14" fmla="*/ 0 60000 65536"/>
                <a:gd name="T15" fmla="*/ 0 w 61"/>
                <a:gd name="T16" fmla="*/ 0 h 91"/>
                <a:gd name="T17" fmla="*/ 61 w 61"/>
                <a:gd name="T18" fmla="*/ 91 h 91"/>
              </a:gdLst>
              <a:ahLst/>
              <a:cxnLst>
                <a:cxn ang="T10">
                  <a:pos x="T0" y="T1"/>
                </a:cxn>
                <a:cxn ang="T11">
                  <a:pos x="T2" y="T3"/>
                </a:cxn>
                <a:cxn ang="T12">
                  <a:pos x="T4" y="T5"/>
                </a:cxn>
                <a:cxn ang="T13">
                  <a:pos x="T6" y="T7"/>
                </a:cxn>
                <a:cxn ang="T14">
                  <a:pos x="T8" y="T9"/>
                </a:cxn>
              </a:cxnLst>
              <a:rect l="T15" t="T16" r="T17" b="T18"/>
              <a:pathLst>
                <a:path w="61" h="91">
                  <a:moveTo>
                    <a:pt x="30" y="81"/>
                  </a:moveTo>
                  <a:lnTo>
                    <a:pt x="0" y="91"/>
                  </a:lnTo>
                  <a:lnTo>
                    <a:pt x="30" y="0"/>
                  </a:lnTo>
                  <a:lnTo>
                    <a:pt x="61" y="91"/>
                  </a:lnTo>
                  <a:lnTo>
                    <a:pt x="30" y="8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8" name="Rectangle 443"/>
            <p:cNvSpPr>
              <a:spLocks noChangeArrowheads="1"/>
            </p:cNvSpPr>
            <p:nvPr/>
          </p:nvSpPr>
          <p:spPr bwMode="auto">
            <a:xfrm>
              <a:off x="4010025" y="5718175"/>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9" name="Rectangle 444"/>
            <p:cNvSpPr>
              <a:spLocks noChangeArrowheads="1"/>
            </p:cNvSpPr>
            <p:nvPr/>
          </p:nvSpPr>
          <p:spPr bwMode="auto">
            <a:xfrm>
              <a:off x="4010025" y="3968750"/>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0" name="Rectangle 445"/>
            <p:cNvSpPr>
              <a:spLocks noChangeArrowheads="1"/>
            </p:cNvSpPr>
            <p:nvPr/>
          </p:nvSpPr>
          <p:spPr bwMode="auto">
            <a:xfrm>
              <a:off x="4010025" y="3968750"/>
              <a:ext cx="15875" cy="174942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1" name="Rectangle 446"/>
            <p:cNvSpPr>
              <a:spLocks noChangeArrowheads="1"/>
            </p:cNvSpPr>
            <p:nvPr/>
          </p:nvSpPr>
          <p:spPr bwMode="auto">
            <a:xfrm>
              <a:off x="4140200" y="5313363"/>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2" name="Rectangle 447"/>
            <p:cNvSpPr>
              <a:spLocks noChangeArrowheads="1"/>
            </p:cNvSpPr>
            <p:nvPr/>
          </p:nvSpPr>
          <p:spPr bwMode="auto">
            <a:xfrm>
              <a:off x="5707063" y="5135563"/>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3" name="Freeform 448"/>
            <p:cNvSpPr>
              <a:spLocks/>
            </p:cNvSpPr>
            <p:nvPr/>
          </p:nvSpPr>
          <p:spPr bwMode="auto">
            <a:xfrm>
              <a:off x="4140200" y="5135563"/>
              <a:ext cx="1566863" cy="193675"/>
            </a:xfrm>
            <a:custGeom>
              <a:avLst/>
              <a:gdLst>
                <a:gd name="T0" fmla="*/ 0 w 987"/>
                <a:gd name="T1" fmla="*/ 2147483647 h 122"/>
                <a:gd name="T2" fmla="*/ 0 w 987"/>
                <a:gd name="T3" fmla="*/ 2147483647 h 122"/>
                <a:gd name="T4" fmla="*/ 2147483647 w 987"/>
                <a:gd name="T5" fmla="*/ 2147483647 h 122"/>
                <a:gd name="T6" fmla="*/ 2147483647 w 987"/>
                <a:gd name="T7" fmla="*/ 0 h 122"/>
                <a:gd name="T8" fmla="*/ 0 w 987"/>
                <a:gd name="T9" fmla="*/ 2147483647 h 122"/>
                <a:gd name="T10" fmla="*/ 0 60000 65536"/>
                <a:gd name="T11" fmla="*/ 0 60000 65536"/>
                <a:gd name="T12" fmla="*/ 0 60000 65536"/>
                <a:gd name="T13" fmla="*/ 0 60000 65536"/>
                <a:gd name="T14" fmla="*/ 0 60000 65536"/>
                <a:gd name="T15" fmla="*/ 0 w 987"/>
                <a:gd name="T16" fmla="*/ 0 h 122"/>
                <a:gd name="T17" fmla="*/ 987 w 987"/>
                <a:gd name="T18" fmla="*/ 122 h 122"/>
              </a:gdLst>
              <a:ahLst/>
              <a:cxnLst>
                <a:cxn ang="T10">
                  <a:pos x="T0" y="T1"/>
                </a:cxn>
                <a:cxn ang="T11">
                  <a:pos x="T2" y="T3"/>
                </a:cxn>
                <a:cxn ang="T12">
                  <a:pos x="T4" y="T5"/>
                </a:cxn>
                <a:cxn ang="T13">
                  <a:pos x="T6" y="T7"/>
                </a:cxn>
                <a:cxn ang="T14">
                  <a:pos x="T8" y="T9"/>
                </a:cxn>
              </a:cxnLst>
              <a:rect l="T15" t="T16" r="T17" b="T18"/>
              <a:pathLst>
                <a:path w="987" h="122">
                  <a:moveTo>
                    <a:pt x="0" y="112"/>
                  </a:moveTo>
                  <a:lnTo>
                    <a:pt x="0" y="122"/>
                  </a:lnTo>
                  <a:lnTo>
                    <a:pt x="987" y="10"/>
                  </a:lnTo>
                  <a:lnTo>
                    <a:pt x="987" y="0"/>
                  </a:lnTo>
                  <a:lnTo>
                    <a:pt x="0" y="112"/>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4" name="Rectangle 449"/>
            <p:cNvSpPr>
              <a:spLocks noChangeArrowheads="1"/>
            </p:cNvSpPr>
            <p:nvPr/>
          </p:nvSpPr>
          <p:spPr bwMode="auto">
            <a:xfrm>
              <a:off x="4203700" y="4892675"/>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5" name="Rectangle 450"/>
            <p:cNvSpPr>
              <a:spLocks noChangeArrowheads="1"/>
            </p:cNvSpPr>
            <p:nvPr/>
          </p:nvSpPr>
          <p:spPr bwMode="auto">
            <a:xfrm>
              <a:off x="5626100" y="4552950"/>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6" name="Freeform 451"/>
            <p:cNvSpPr>
              <a:spLocks/>
            </p:cNvSpPr>
            <p:nvPr/>
          </p:nvSpPr>
          <p:spPr bwMode="auto">
            <a:xfrm>
              <a:off x="4203700" y="4552950"/>
              <a:ext cx="1422400" cy="355600"/>
            </a:xfrm>
            <a:custGeom>
              <a:avLst/>
              <a:gdLst>
                <a:gd name="T0" fmla="*/ 0 w 896"/>
                <a:gd name="T1" fmla="*/ 2147483647 h 224"/>
                <a:gd name="T2" fmla="*/ 0 w 896"/>
                <a:gd name="T3" fmla="*/ 2147483647 h 224"/>
                <a:gd name="T4" fmla="*/ 2147483647 w 896"/>
                <a:gd name="T5" fmla="*/ 2147483647 h 224"/>
                <a:gd name="T6" fmla="*/ 2147483647 w 896"/>
                <a:gd name="T7" fmla="*/ 0 h 224"/>
                <a:gd name="T8" fmla="*/ 0 w 896"/>
                <a:gd name="T9" fmla="*/ 2147483647 h 224"/>
                <a:gd name="T10" fmla="*/ 0 60000 65536"/>
                <a:gd name="T11" fmla="*/ 0 60000 65536"/>
                <a:gd name="T12" fmla="*/ 0 60000 65536"/>
                <a:gd name="T13" fmla="*/ 0 60000 65536"/>
                <a:gd name="T14" fmla="*/ 0 60000 65536"/>
                <a:gd name="T15" fmla="*/ 0 w 896"/>
                <a:gd name="T16" fmla="*/ 0 h 224"/>
                <a:gd name="T17" fmla="*/ 896 w 896"/>
                <a:gd name="T18" fmla="*/ 224 h 224"/>
              </a:gdLst>
              <a:ahLst/>
              <a:cxnLst>
                <a:cxn ang="T10">
                  <a:pos x="T0" y="T1"/>
                </a:cxn>
                <a:cxn ang="T11">
                  <a:pos x="T2" y="T3"/>
                </a:cxn>
                <a:cxn ang="T12">
                  <a:pos x="T4" y="T5"/>
                </a:cxn>
                <a:cxn ang="T13">
                  <a:pos x="T6" y="T7"/>
                </a:cxn>
                <a:cxn ang="T14">
                  <a:pos x="T8" y="T9"/>
                </a:cxn>
              </a:cxnLst>
              <a:rect l="T15" t="T16" r="T17" b="T18"/>
              <a:pathLst>
                <a:path w="896" h="224">
                  <a:moveTo>
                    <a:pt x="0" y="214"/>
                  </a:moveTo>
                  <a:lnTo>
                    <a:pt x="0" y="224"/>
                  </a:lnTo>
                  <a:lnTo>
                    <a:pt x="896" y="10"/>
                  </a:lnTo>
                  <a:lnTo>
                    <a:pt x="896" y="0"/>
                  </a:lnTo>
                  <a:lnTo>
                    <a:pt x="0" y="214"/>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7" name="Rectangle 452"/>
            <p:cNvSpPr>
              <a:spLocks noChangeArrowheads="1"/>
            </p:cNvSpPr>
            <p:nvPr/>
          </p:nvSpPr>
          <p:spPr bwMode="auto">
            <a:xfrm>
              <a:off x="4252913" y="4471988"/>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8" name="Rectangle 453"/>
            <p:cNvSpPr>
              <a:spLocks noChangeArrowheads="1"/>
            </p:cNvSpPr>
            <p:nvPr/>
          </p:nvSpPr>
          <p:spPr bwMode="auto">
            <a:xfrm>
              <a:off x="5641975" y="3968750"/>
              <a:ext cx="0" cy="17463"/>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9" name="Freeform 454"/>
            <p:cNvSpPr>
              <a:spLocks/>
            </p:cNvSpPr>
            <p:nvPr/>
          </p:nvSpPr>
          <p:spPr bwMode="auto">
            <a:xfrm>
              <a:off x="4252913" y="3968750"/>
              <a:ext cx="1389062" cy="519113"/>
            </a:xfrm>
            <a:custGeom>
              <a:avLst/>
              <a:gdLst>
                <a:gd name="T0" fmla="*/ 0 w 875"/>
                <a:gd name="T1" fmla="*/ 2147483647 h 327"/>
                <a:gd name="T2" fmla="*/ 0 w 875"/>
                <a:gd name="T3" fmla="*/ 2147483647 h 327"/>
                <a:gd name="T4" fmla="*/ 2147483647 w 875"/>
                <a:gd name="T5" fmla="*/ 2147483647 h 327"/>
                <a:gd name="T6" fmla="*/ 2147483647 w 875"/>
                <a:gd name="T7" fmla="*/ 0 h 327"/>
                <a:gd name="T8" fmla="*/ 0 w 875"/>
                <a:gd name="T9" fmla="*/ 2147483647 h 327"/>
                <a:gd name="T10" fmla="*/ 0 60000 65536"/>
                <a:gd name="T11" fmla="*/ 0 60000 65536"/>
                <a:gd name="T12" fmla="*/ 0 60000 65536"/>
                <a:gd name="T13" fmla="*/ 0 60000 65536"/>
                <a:gd name="T14" fmla="*/ 0 60000 65536"/>
                <a:gd name="T15" fmla="*/ 0 w 875"/>
                <a:gd name="T16" fmla="*/ 0 h 327"/>
                <a:gd name="T17" fmla="*/ 875 w 875"/>
                <a:gd name="T18" fmla="*/ 327 h 327"/>
              </a:gdLst>
              <a:ahLst/>
              <a:cxnLst>
                <a:cxn ang="T10">
                  <a:pos x="T0" y="T1"/>
                </a:cxn>
                <a:cxn ang="T11">
                  <a:pos x="T2" y="T3"/>
                </a:cxn>
                <a:cxn ang="T12">
                  <a:pos x="T4" y="T5"/>
                </a:cxn>
                <a:cxn ang="T13">
                  <a:pos x="T6" y="T7"/>
                </a:cxn>
                <a:cxn ang="T14">
                  <a:pos x="T8" y="T9"/>
                </a:cxn>
              </a:cxnLst>
              <a:rect l="T15" t="T16" r="T17" b="T18"/>
              <a:pathLst>
                <a:path w="875" h="327">
                  <a:moveTo>
                    <a:pt x="0" y="317"/>
                  </a:moveTo>
                  <a:lnTo>
                    <a:pt x="0" y="327"/>
                  </a:lnTo>
                  <a:lnTo>
                    <a:pt x="875" y="11"/>
                  </a:lnTo>
                  <a:lnTo>
                    <a:pt x="875" y="0"/>
                  </a:lnTo>
                  <a:lnTo>
                    <a:pt x="0" y="317"/>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0" name="Freeform 455"/>
            <p:cNvSpPr>
              <a:spLocks/>
            </p:cNvSpPr>
            <p:nvPr/>
          </p:nvSpPr>
          <p:spPr bwMode="auto">
            <a:xfrm>
              <a:off x="4252913" y="4471988"/>
              <a:ext cx="15875" cy="15875"/>
            </a:xfrm>
            <a:custGeom>
              <a:avLst/>
              <a:gdLst>
                <a:gd name="T0" fmla="*/ 2147483647 w 10"/>
                <a:gd name="T1" fmla="*/ 2147483647 h 10"/>
                <a:gd name="T2" fmla="*/ 2147483647 w 10"/>
                <a:gd name="T3" fmla="*/ 2147483647 h 10"/>
                <a:gd name="T4" fmla="*/ 0 w 10"/>
                <a:gd name="T5" fmla="*/ 0 h 10"/>
                <a:gd name="T6" fmla="*/ 0 w 10"/>
                <a:gd name="T7" fmla="*/ 0 h 10"/>
                <a:gd name="T8" fmla="*/ 2147483647 w 10"/>
                <a:gd name="T9" fmla="*/ 2147483647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10" y="10"/>
                  </a:moveTo>
                  <a:lnTo>
                    <a:pt x="10" y="10"/>
                  </a:lnTo>
                  <a:lnTo>
                    <a:pt x="0" y="0"/>
                  </a:lnTo>
                  <a:lnTo>
                    <a:pt x="10" y="1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1" name="Freeform 456"/>
            <p:cNvSpPr>
              <a:spLocks/>
            </p:cNvSpPr>
            <p:nvPr/>
          </p:nvSpPr>
          <p:spPr bwMode="auto">
            <a:xfrm>
              <a:off x="4059238" y="4471988"/>
              <a:ext cx="209550" cy="857250"/>
            </a:xfrm>
            <a:custGeom>
              <a:avLst/>
              <a:gdLst>
                <a:gd name="T0" fmla="*/ 2147483647 w 132"/>
                <a:gd name="T1" fmla="*/ 2147483647 h 540"/>
                <a:gd name="T2" fmla="*/ 2147483647 w 132"/>
                <a:gd name="T3" fmla="*/ 2147483647 h 540"/>
                <a:gd name="T4" fmla="*/ 2147483647 w 132"/>
                <a:gd name="T5" fmla="*/ 2147483647 h 540"/>
                <a:gd name="T6" fmla="*/ 2147483647 w 132"/>
                <a:gd name="T7" fmla="*/ 2147483647 h 540"/>
                <a:gd name="T8" fmla="*/ 2147483647 w 132"/>
                <a:gd name="T9" fmla="*/ 2147483647 h 540"/>
                <a:gd name="T10" fmla="*/ 2147483647 w 132"/>
                <a:gd name="T11" fmla="*/ 2147483647 h 540"/>
                <a:gd name="T12" fmla="*/ 2147483647 w 132"/>
                <a:gd name="T13" fmla="*/ 2147483647 h 540"/>
                <a:gd name="T14" fmla="*/ 2147483647 w 132"/>
                <a:gd name="T15" fmla="*/ 2147483647 h 540"/>
                <a:gd name="T16" fmla="*/ 2147483647 w 132"/>
                <a:gd name="T17" fmla="*/ 2147483647 h 540"/>
                <a:gd name="T18" fmla="*/ 2147483647 w 132"/>
                <a:gd name="T19" fmla="*/ 2147483647 h 540"/>
                <a:gd name="T20" fmla="*/ 2147483647 w 132"/>
                <a:gd name="T21" fmla="*/ 2147483647 h 540"/>
                <a:gd name="T22" fmla="*/ 2147483647 w 132"/>
                <a:gd name="T23" fmla="*/ 2147483647 h 540"/>
                <a:gd name="T24" fmla="*/ 0 w 132"/>
                <a:gd name="T25" fmla="*/ 2147483647 h 540"/>
                <a:gd name="T26" fmla="*/ 0 w 132"/>
                <a:gd name="T27" fmla="*/ 2147483647 h 540"/>
                <a:gd name="T28" fmla="*/ 2147483647 w 132"/>
                <a:gd name="T29" fmla="*/ 2147483647 h 540"/>
                <a:gd name="T30" fmla="*/ 2147483647 w 132"/>
                <a:gd name="T31" fmla="*/ 2147483647 h 540"/>
                <a:gd name="T32" fmla="*/ 2147483647 w 132"/>
                <a:gd name="T33" fmla="*/ 2147483647 h 540"/>
                <a:gd name="T34" fmla="*/ 2147483647 w 132"/>
                <a:gd name="T35" fmla="*/ 2147483647 h 540"/>
                <a:gd name="T36" fmla="*/ 2147483647 w 132"/>
                <a:gd name="T37" fmla="*/ 2147483647 h 540"/>
                <a:gd name="T38" fmla="*/ 2147483647 w 132"/>
                <a:gd name="T39" fmla="*/ 2147483647 h 540"/>
                <a:gd name="T40" fmla="*/ 2147483647 w 132"/>
                <a:gd name="T41" fmla="*/ 2147483647 h 540"/>
                <a:gd name="T42" fmla="*/ 2147483647 w 132"/>
                <a:gd name="T43" fmla="*/ 2147483647 h 540"/>
                <a:gd name="T44" fmla="*/ 2147483647 w 132"/>
                <a:gd name="T45" fmla="*/ 2147483647 h 540"/>
                <a:gd name="T46" fmla="*/ 2147483647 w 132"/>
                <a:gd name="T47" fmla="*/ 0 h 540"/>
                <a:gd name="T48" fmla="*/ 2147483647 w 132"/>
                <a:gd name="T49" fmla="*/ 2147483647 h 5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2"/>
                <a:gd name="T76" fmla="*/ 0 h 540"/>
                <a:gd name="T77" fmla="*/ 132 w 132"/>
                <a:gd name="T78" fmla="*/ 540 h 54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2" h="540">
                  <a:moveTo>
                    <a:pt x="132" y="10"/>
                  </a:moveTo>
                  <a:lnTo>
                    <a:pt x="102" y="30"/>
                  </a:lnTo>
                  <a:lnTo>
                    <a:pt x="102" y="20"/>
                  </a:lnTo>
                  <a:lnTo>
                    <a:pt x="81" y="61"/>
                  </a:lnTo>
                  <a:lnTo>
                    <a:pt x="51" y="183"/>
                  </a:lnTo>
                  <a:lnTo>
                    <a:pt x="10" y="540"/>
                  </a:lnTo>
                  <a:lnTo>
                    <a:pt x="0" y="540"/>
                  </a:lnTo>
                  <a:lnTo>
                    <a:pt x="40" y="183"/>
                  </a:lnTo>
                  <a:lnTo>
                    <a:pt x="71" y="61"/>
                  </a:lnTo>
                  <a:lnTo>
                    <a:pt x="91" y="20"/>
                  </a:lnTo>
                  <a:lnTo>
                    <a:pt x="122" y="0"/>
                  </a:lnTo>
                  <a:lnTo>
                    <a:pt x="132" y="1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2" name="Freeform 457"/>
            <p:cNvSpPr>
              <a:spLocks/>
            </p:cNvSpPr>
            <p:nvPr/>
          </p:nvSpPr>
          <p:spPr bwMode="auto">
            <a:xfrm>
              <a:off x="4025900" y="5329238"/>
              <a:ext cx="49213" cy="244475"/>
            </a:xfrm>
            <a:custGeom>
              <a:avLst/>
              <a:gdLst>
                <a:gd name="T0" fmla="*/ 2147483647 w 31"/>
                <a:gd name="T1" fmla="*/ 0 h 154"/>
                <a:gd name="T2" fmla="*/ 2147483647 w 31"/>
                <a:gd name="T3" fmla="*/ 2147483647 h 154"/>
                <a:gd name="T4" fmla="*/ 2147483647 w 31"/>
                <a:gd name="T5" fmla="*/ 2147483647 h 154"/>
                <a:gd name="T6" fmla="*/ 0 w 31"/>
                <a:gd name="T7" fmla="*/ 2147483647 h 154"/>
                <a:gd name="T8" fmla="*/ 0 w 31"/>
                <a:gd name="T9" fmla="*/ 2147483647 h 154"/>
                <a:gd name="T10" fmla="*/ 2147483647 w 31"/>
                <a:gd name="T11" fmla="*/ 0 h 154"/>
                <a:gd name="T12" fmla="*/ 2147483647 w 31"/>
                <a:gd name="T13" fmla="*/ 0 h 154"/>
                <a:gd name="T14" fmla="*/ 0 60000 65536"/>
                <a:gd name="T15" fmla="*/ 0 60000 65536"/>
                <a:gd name="T16" fmla="*/ 0 60000 65536"/>
                <a:gd name="T17" fmla="*/ 0 60000 65536"/>
                <a:gd name="T18" fmla="*/ 0 60000 65536"/>
                <a:gd name="T19" fmla="*/ 0 60000 65536"/>
                <a:gd name="T20" fmla="*/ 0 60000 65536"/>
                <a:gd name="T21" fmla="*/ 0 w 31"/>
                <a:gd name="T22" fmla="*/ 0 h 154"/>
                <a:gd name="T23" fmla="*/ 31 w 31"/>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154">
                  <a:moveTo>
                    <a:pt x="31" y="0"/>
                  </a:moveTo>
                  <a:lnTo>
                    <a:pt x="11" y="154"/>
                  </a:lnTo>
                  <a:lnTo>
                    <a:pt x="0" y="154"/>
                  </a:lnTo>
                  <a:lnTo>
                    <a:pt x="21" y="0"/>
                  </a:lnTo>
                  <a:lnTo>
                    <a:pt x="31"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3" name="Rectangle 458"/>
            <p:cNvSpPr>
              <a:spLocks noChangeArrowheads="1"/>
            </p:cNvSpPr>
            <p:nvPr/>
          </p:nvSpPr>
          <p:spPr bwMode="auto">
            <a:xfrm>
              <a:off x="4010025" y="5718175"/>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4" name="Freeform 459"/>
            <p:cNvSpPr>
              <a:spLocks/>
            </p:cNvSpPr>
            <p:nvPr/>
          </p:nvSpPr>
          <p:spPr bwMode="auto">
            <a:xfrm>
              <a:off x="4010025" y="5573713"/>
              <a:ext cx="33338" cy="144462"/>
            </a:xfrm>
            <a:custGeom>
              <a:avLst/>
              <a:gdLst>
                <a:gd name="T0" fmla="*/ 2147483647 w 21"/>
                <a:gd name="T1" fmla="*/ 0 h 91"/>
                <a:gd name="T2" fmla="*/ 2147483647 w 21"/>
                <a:gd name="T3" fmla="*/ 0 h 91"/>
                <a:gd name="T4" fmla="*/ 0 w 21"/>
                <a:gd name="T5" fmla="*/ 2147483647 h 91"/>
                <a:gd name="T6" fmla="*/ 2147483647 w 21"/>
                <a:gd name="T7" fmla="*/ 2147483647 h 91"/>
                <a:gd name="T8" fmla="*/ 2147483647 w 21"/>
                <a:gd name="T9" fmla="*/ 0 h 91"/>
                <a:gd name="T10" fmla="*/ 0 60000 65536"/>
                <a:gd name="T11" fmla="*/ 0 60000 65536"/>
                <a:gd name="T12" fmla="*/ 0 60000 65536"/>
                <a:gd name="T13" fmla="*/ 0 60000 65536"/>
                <a:gd name="T14" fmla="*/ 0 60000 65536"/>
                <a:gd name="T15" fmla="*/ 0 w 21"/>
                <a:gd name="T16" fmla="*/ 0 h 91"/>
                <a:gd name="T17" fmla="*/ 21 w 21"/>
                <a:gd name="T18" fmla="*/ 91 h 91"/>
              </a:gdLst>
              <a:ahLst/>
              <a:cxnLst>
                <a:cxn ang="T10">
                  <a:pos x="T0" y="T1"/>
                </a:cxn>
                <a:cxn ang="T11">
                  <a:pos x="T2" y="T3"/>
                </a:cxn>
                <a:cxn ang="T12">
                  <a:pos x="T4" y="T5"/>
                </a:cxn>
                <a:cxn ang="T13">
                  <a:pos x="T6" y="T7"/>
                </a:cxn>
                <a:cxn ang="T14">
                  <a:pos x="T8" y="T9"/>
                </a:cxn>
              </a:cxnLst>
              <a:rect l="T15" t="T16" r="T17" b="T18"/>
              <a:pathLst>
                <a:path w="21" h="91">
                  <a:moveTo>
                    <a:pt x="21" y="0"/>
                  </a:moveTo>
                  <a:lnTo>
                    <a:pt x="10" y="0"/>
                  </a:lnTo>
                  <a:lnTo>
                    <a:pt x="0" y="91"/>
                  </a:lnTo>
                  <a:lnTo>
                    <a:pt x="10" y="91"/>
                  </a:lnTo>
                  <a:lnTo>
                    <a:pt x="21"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5" name="Freeform 460"/>
            <p:cNvSpPr>
              <a:spLocks/>
            </p:cNvSpPr>
            <p:nvPr/>
          </p:nvSpPr>
          <p:spPr bwMode="auto">
            <a:xfrm>
              <a:off x="4203700" y="4892675"/>
              <a:ext cx="17463" cy="15875"/>
            </a:xfrm>
            <a:custGeom>
              <a:avLst/>
              <a:gdLst>
                <a:gd name="T0" fmla="*/ 2147483647 w 11"/>
                <a:gd name="T1" fmla="*/ 2147483647 h 10"/>
                <a:gd name="T2" fmla="*/ 2147483647 w 11"/>
                <a:gd name="T3" fmla="*/ 2147483647 h 10"/>
                <a:gd name="T4" fmla="*/ 0 w 11"/>
                <a:gd name="T5" fmla="*/ 0 h 10"/>
                <a:gd name="T6" fmla="*/ 0 w 11"/>
                <a:gd name="T7" fmla="*/ 0 h 10"/>
                <a:gd name="T8" fmla="*/ 2147483647 w 11"/>
                <a:gd name="T9" fmla="*/ 2147483647 h 10"/>
                <a:gd name="T10" fmla="*/ 0 60000 65536"/>
                <a:gd name="T11" fmla="*/ 0 60000 65536"/>
                <a:gd name="T12" fmla="*/ 0 60000 65536"/>
                <a:gd name="T13" fmla="*/ 0 60000 65536"/>
                <a:gd name="T14" fmla="*/ 0 60000 65536"/>
                <a:gd name="T15" fmla="*/ 0 w 11"/>
                <a:gd name="T16" fmla="*/ 0 h 10"/>
                <a:gd name="T17" fmla="*/ 11 w 11"/>
                <a:gd name="T18" fmla="*/ 10 h 10"/>
              </a:gdLst>
              <a:ahLst/>
              <a:cxnLst>
                <a:cxn ang="T10">
                  <a:pos x="T0" y="T1"/>
                </a:cxn>
                <a:cxn ang="T11">
                  <a:pos x="T2" y="T3"/>
                </a:cxn>
                <a:cxn ang="T12">
                  <a:pos x="T4" y="T5"/>
                </a:cxn>
                <a:cxn ang="T13">
                  <a:pos x="T6" y="T7"/>
                </a:cxn>
                <a:cxn ang="T14">
                  <a:pos x="T8" y="T9"/>
                </a:cxn>
              </a:cxnLst>
              <a:rect l="T15" t="T16" r="T17" b="T18"/>
              <a:pathLst>
                <a:path w="11" h="10">
                  <a:moveTo>
                    <a:pt x="11" y="10"/>
                  </a:moveTo>
                  <a:lnTo>
                    <a:pt x="11" y="10"/>
                  </a:lnTo>
                  <a:lnTo>
                    <a:pt x="0" y="0"/>
                  </a:lnTo>
                  <a:lnTo>
                    <a:pt x="11" y="1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6" name="Freeform 461"/>
            <p:cNvSpPr>
              <a:spLocks/>
            </p:cNvSpPr>
            <p:nvPr/>
          </p:nvSpPr>
          <p:spPr bwMode="auto">
            <a:xfrm>
              <a:off x="4059238" y="4892675"/>
              <a:ext cx="161925" cy="454025"/>
            </a:xfrm>
            <a:custGeom>
              <a:avLst/>
              <a:gdLst>
                <a:gd name="T0" fmla="*/ 2147483647 w 102"/>
                <a:gd name="T1" fmla="*/ 2147483647 h 286"/>
                <a:gd name="T2" fmla="*/ 2147483647 w 102"/>
                <a:gd name="T3" fmla="*/ 2147483647 h 286"/>
                <a:gd name="T4" fmla="*/ 2147483647 w 102"/>
                <a:gd name="T5" fmla="*/ 2147483647 h 286"/>
                <a:gd name="T6" fmla="*/ 2147483647 w 102"/>
                <a:gd name="T7" fmla="*/ 2147483647 h 286"/>
                <a:gd name="T8" fmla="*/ 2147483647 w 102"/>
                <a:gd name="T9" fmla="*/ 2147483647 h 286"/>
                <a:gd name="T10" fmla="*/ 2147483647 w 102"/>
                <a:gd name="T11" fmla="*/ 2147483647 h 286"/>
                <a:gd name="T12" fmla="*/ 2147483647 w 102"/>
                <a:gd name="T13" fmla="*/ 2147483647 h 286"/>
                <a:gd name="T14" fmla="*/ 2147483647 w 102"/>
                <a:gd name="T15" fmla="*/ 2147483647 h 286"/>
                <a:gd name="T16" fmla="*/ 2147483647 w 102"/>
                <a:gd name="T17" fmla="*/ 2147483647 h 286"/>
                <a:gd name="T18" fmla="*/ 0 w 102"/>
                <a:gd name="T19" fmla="*/ 2147483647 h 286"/>
                <a:gd name="T20" fmla="*/ 0 w 102"/>
                <a:gd name="T21" fmla="*/ 2147483647 h 286"/>
                <a:gd name="T22" fmla="*/ 2147483647 w 102"/>
                <a:gd name="T23" fmla="*/ 2147483647 h 286"/>
                <a:gd name="T24" fmla="*/ 2147483647 w 102"/>
                <a:gd name="T25" fmla="*/ 2147483647 h 286"/>
                <a:gd name="T26" fmla="*/ 2147483647 w 102"/>
                <a:gd name="T27" fmla="*/ 2147483647 h 286"/>
                <a:gd name="T28" fmla="*/ 2147483647 w 102"/>
                <a:gd name="T29" fmla="*/ 2147483647 h 286"/>
                <a:gd name="T30" fmla="*/ 2147483647 w 102"/>
                <a:gd name="T31" fmla="*/ 2147483647 h 286"/>
                <a:gd name="T32" fmla="*/ 2147483647 w 102"/>
                <a:gd name="T33" fmla="*/ 2147483647 h 286"/>
                <a:gd name="T34" fmla="*/ 2147483647 w 102"/>
                <a:gd name="T35" fmla="*/ 0 h 286"/>
                <a:gd name="T36" fmla="*/ 2147483647 w 102"/>
                <a:gd name="T37" fmla="*/ 2147483647 h 2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286"/>
                <a:gd name="T59" fmla="*/ 102 w 102"/>
                <a:gd name="T60" fmla="*/ 286 h 2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286">
                  <a:moveTo>
                    <a:pt x="102" y="10"/>
                  </a:moveTo>
                  <a:lnTo>
                    <a:pt x="51" y="61"/>
                  </a:lnTo>
                  <a:lnTo>
                    <a:pt x="51" y="51"/>
                  </a:lnTo>
                  <a:lnTo>
                    <a:pt x="30" y="133"/>
                  </a:lnTo>
                  <a:lnTo>
                    <a:pt x="10" y="286"/>
                  </a:lnTo>
                  <a:lnTo>
                    <a:pt x="0" y="286"/>
                  </a:lnTo>
                  <a:lnTo>
                    <a:pt x="20" y="133"/>
                  </a:lnTo>
                  <a:lnTo>
                    <a:pt x="40" y="51"/>
                  </a:lnTo>
                  <a:lnTo>
                    <a:pt x="91" y="0"/>
                  </a:lnTo>
                  <a:lnTo>
                    <a:pt x="102" y="1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7" name="Freeform 463"/>
            <p:cNvSpPr>
              <a:spLocks/>
            </p:cNvSpPr>
            <p:nvPr/>
          </p:nvSpPr>
          <p:spPr bwMode="auto">
            <a:xfrm>
              <a:off x="4043363" y="5346700"/>
              <a:ext cx="31750" cy="193675"/>
            </a:xfrm>
            <a:custGeom>
              <a:avLst/>
              <a:gdLst>
                <a:gd name="T0" fmla="*/ 2147483647 w 20"/>
                <a:gd name="T1" fmla="*/ 0 h 122"/>
                <a:gd name="T2" fmla="*/ 2147483647 w 20"/>
                <a:gd name="T3" fmla="*/ 2147483647 h 122"/>
                <a:gd name="T4" fmla="*/ 2147483647 w 20"/>
                <a:gd name="T5" fmla="*/ 2147483647 h 122"/>
                <a:gd name="T6" fmla="*/ 0 w 20"/>
                <a:gd name="T7" fmla="*/ 2147483647 h 122"/>
                <a:gd name="T8" fmla="*/ 0 w 20"/>
                <a:gd name="T9" fmla="*/ 2147483647 h 122"/>
                <a:gd name="T10" fmla="*/ 2147483647 w 20"/>
                <a:gd name="T11" fmla="*/ 0 h 122"/>
                <a:gd name="T12" fmla="*/ 2147483647 w 20"/>
                <a:gd name="T13" fmla="*/ 0 h 122"/>
                <a:gd name="T14" fmla="*/ 0 60000 65536"/>
                <a:gd name="T15" fmla="*/ 0 60000 65536"/>
                <a:gd name="T16" fmla="*/ 0 60000 65536"/>
                <a:gd name="T17" fmla="*/ 0 60000 65536"/>
                <a:gd name="T18" fmla="*/ 0 60000 65536"/>
                <a:gd name="T19" fmla="*/ 0 60000 65536"/>
                <a:gd name="T20" fmla="*/ 0 60000 65536"/>
                <a:gd name="T21" fmla="*/ 0 w 20"/>
                <a:gd name="T22" fmla="*/ 0 h 122"/>
                <a:gd name="T23" fmla="*/ 20 w 20"/>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122">
                  <a:moveTo>
                    <a:pt x="20" y="0"/>
                  </a:moveTo>
                  <a:lnTo>
                    <a:pt x="10" y="122"/>
                  </a:lnTo>
                  <a:lnTo>
                    <a:pt x="0" y="122"/>
                  </a:lnTo>
                  <a:lnTo>
                    <a:pt x="10" y="0"/>
                  </a:lnTo>
                  <a:lnTo>
                    <a:pt x="20"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8" name="Rectangle 464"/>
            <p:cNvSpPr>
              <a:spLocks noChangeArrowheads="1"/>
            </p:cNvSpPr>
            <p:nvPr/>
          </p:nvSpPr>
          <p:spPr bwMode="auto">
            <a:xfrm>
              <a:off x="4010025" y="5718175"/>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9" name="Freeform 465"/>
            <p:cNvSpPr>
              <a:spLocks/>
            </p:cNvSpPr>
            <p:nvPr/>
          </p:nvSpPr>
          <p:spPr bwMode="auto">
            <a:xfrm>
              <a:off x="4010025" y="5540375"/>
              <a:ext cx="49213" cy="177800"/>
            </a:xfrm>
            <a:custGeom>
              <a:avLst/>
              <a:gdLst>
                <a:gd name="T0" fmla="*/ 2147483647 w 31"/>
                <a:gd name="T1" fmla="*/ 0 h 112"/>
                <a:gd name="T2" fmla="*/ 2147483647 w 31"/>
                <a:gd name="T3" fmla="*/ 0 h 112"/>
                <a:gd name="T4" fmla="*/ 0 w 31"/>
                <a:gd name="T5" fmla="*/ 2147483647 h 112"/>
                <a:gd name="T6" fmla="*/ 2147483647 w 31"/>
                <a:gd name="T7" fmla="*/ 2147483647 h 112"/>
                <a:gd name="T8" fmla="*/ 2147483647 w 31"/>
                <a:gd name="T9" fmla="*/ 0 h 112"/>
                <a:gd name="T10" fmla="*/ 0 60000 65536"/>
                <a:gd name="T11" fmla="*/ 0 60000 65536"/>
                <a:gd name="T12" fmla="*/ 0 60000 65536"/>
                <a:gd name="T13" fmla="*/ 0 60000 65536"/>
                <a:gd name="T14" fmla="*/ 0 60000 65536"/>
                <a:gd name="T15" fmla="*/ 0 w 31"/>
                <a:gd name="T16" fmla="*/ 0 h 112"/>
                <a:gd name="T17" fmla="*/ 31 w 31"/>
                <a:gd name="T18" fmla="*/ 112 h 112"/>
              </a:gdLst>
              <a:ahLst/>
              <a:cxnLst>
                <a:cxn ang="T10">
                  <a:pos x="T0" y="T1"/>
                </a:cxn>
                <a:cxn ang="T11">
                  <a:pos x="T2" y="T3"/>
                </a:cxn>
                <a:cxn ang="T12">
                  <a:pos x="T4" y="T5"/>
                </a:cxn>
                <a:cxn ang="T13">
                  <a:pos x="T6" y="T7"/>
                </a:cxn>
                <a:cxn ang="T14">
                  <a:pos x="T8" y="T9"/>
                </a:cxn>
              </a:cxnLst>
              <a:rect l="T15" t="T16" r="T17" b="T18"/>
              <a:pathLst>
                <a:path w="31" h="112">
                  <a:moveTo>
                    <a:pt x="31" y="0"/>
                  </a:moveTo>
                  <a:lnTo>
                    <a:pt x="21" y="0"/>
                  </a:lnTo>
                  <a:lnTo>
                    <a:pt x="0" y="112"/>
                  </a:lnTo>
                  <a:lnTo>
                    <a:pt x="10" y="112"/>
                  </a:lnTo>
                  <a:lnTo>
                    <a:pt x="31"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0" name="Freeform 466"/>
            <p:cNvSpPr>
              <a:spLocks/>
            </p:cNvSpPr>
            <p:nvPr/>
          </p:nvSpPr>
          <p:spPr bwMode="auto">
            <a:xfrm>
              <a:off x="4140200" y="5313363"/>
              <a:ext cx="15875" cy="15875"/>
            </a:xfrm>
            <a:custGeom>
              <a:avLst/>
              <a:gdLst>
                <a:gd name="T0" fmla="*/ 2147483647 w 10"/>
                <a:gd name="T1" fmla="*/ 2147483647 h 10"/>
                <a:gd name="T2" fmla="*/ 2147483647 w 10"/>
                <a:gd name="T3" fmla="*/ 2147483647 h 10"/>
                <a:gd name="T4" fmla="*/ 0 w 10"/>
                <a:gd name="T5" fmla="*/ 0 h 10"/>
                <a:gd name="T6" fmla="*/ 0 w 10"/>
                <a:gd name="T7" fmla="*/ 0 h 10"/>
                <a:gd name="T8" fmla="*/ 2147483647 w 10"/>
                <a:gd name="T9" fmla="*/ 2147483647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10" y="10"/>
                  </a:moveTo>
                  <a:lnTo>
                    <a:pt x="10" y="10"/>
                  </a:lnTo>
                  <a:lnTo>
                    <a:pt x="0" y="0"/>
                  </a:lnTo>
                  <a:lnTo>
                    <a:pt x="10" y="1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1" name="Freeform 467"/>
            <p:cNvSpPr>
              <a:spLocks/>
            </p:cNvSpPr>
            <p:nvPr/>
          </p:nvSpPr>
          <p:spPr bwMode="auto">
            <a:xfrm>
              <a:off x="4075113" y="5313363"/>
              <a:ext cx="80962" cy="65087"/>
            </a:xfrm>
            <a:custGeom>
              <a:avLst/>
              <a:gdLst>
                <a:gd name="T0" fmla="*/ 2147483647 w 51"/>
                <a:gd name="T1" fmla="*/ 2147483647 h 41"/>
                <a:gd name="T2" fmla="*/ 2147483647 w 51"/>
                <a:gd name="T3" fmla="*/ 2147483647 h 41"/>
                <a:gd name="T4" fmla="*/ 2147483647 w 51"/>
                <a:gd name="T5" fmla="*/ 2147483647 h 41"/>
                <a:gd name="T6" fmla="*/ 0 w 51"/>
                <a:gd name="T7" fmla="*/ 2147483647 h 41"/>
                <a:gd name="T8" fmla="*/ 0 w 51"/>
                <a:gd name="T9" fmla="*/ 2147483647 h 41"/>
                <a:gd name="T10" fmla="*/ 2147483647 w 51"/>
                <a:gd name="T11" fmla="*/ 0 h 41"/>
                <a:gd name="T12" fmla="*/ 2147483647 w 51"/>
                <a:gd name="T13" fmla="*/ 2147483647 h 41"/>
                <a:gd name="T14" fmla="*/ 0 60000 65536"/>
                <a:gd name="T15" fmla="*/ 0 60000 65536"/>
                <a:gd name="T16" fmla="*/ 0 60000 65536"/>
                <a:gd name="T17" fmla="*/ 0 60000 65536"/>
                <a:gd name="T18" fmla="*/ 0 60000 65536"/>
                <a:gd name="T19" fmla="*/ 0 60000 65536"/>
                <a:gd name="T20" fmla="*/ 0 60000 65536"/>
                <a:gd name="T21" fmla="*/ 0 w 51"/>
                <a:gd name="T22" fmla="*/ 0 h 41"/>
                <a:gd name="T23" fmla="*/ 51 w 51"/>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41">
                  <a:moveTo>
                    <a:pt x="51" y="10"/>
                  </a:moveTo>
                  <a:lnTo>
                    <a:pt x="10" y="41"/>
                  </a:lnTo>
                  <a:lnTo>
                    <a:pt x="10" y="31"/>
                  </a:lnTo>
                  <a:lnTo>
                    <a:pt x="0" y="31"/>
                  </a:lnTo>
                  <a:lnTo>
                    <a:pt x="41" y="0"/>
                  </a:lnTo>
                  <a:lnTo>
                    <a:pt x="51" y="1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2" name="Freeform 468"/>
            <p:cNvSpPr>
              <a:spLocks/>
            </p:cNvSpPr>
            <p:nvPr/>
          </p:nvSpPr>
          <p:spPr bwMode="auto">
            <a:xfrm>
              <a:off x="4059238" y="5362575"/>
              <a:ext cx="31750" cy="96838"/>
            </a:xfrm>
            <a:custGeom>
              <a:avLst/>
              <a:gdLst>
                <a:gd name="T0" fmla="*/ 2147483647 w 20"/>
                <a:gd name="T1" fmla="*/ 0 h 61"/>
                <a:gd name="T2" fmla="*/ 2147483647 w 20"/>
                <a:gd name="T3" fmla="*/ 2147483647 h 61"/>
                <a:gd name="T4" fmla="*/ 2147483647 w 20"/>
                <a:gd name="T5" fmla="*/ 2147483647 h 61"/>
                <a:gd name="T6" fmla="*/ 0 w 20"/>
                <a:gd name="T7" fmla="*/ 2147483647 h 61"/>
                <a:gd name="T8" fmla="*/ 0 w 20"/>
                <a:gd name="T9" fmla="*/ 2147483647 h 61"/>
                <a:gd name="T10" fmla="*/ 2147483647 w 20"/>
                <a:gd name="T11" fmla="*/ 0 h 61"/>
                <a:gd name="T12" fmla="*/ 2147483647 w 20"/>
                <a:gd name="T13" fmla="*/ 0 h 61"/>
                <a:gd name="T14" fmla="*/ 0 60000 65536"/>
                <a:gd name="T15" fmla="*/ 0 60000 65536"/>
                <a:gd name="T16" fmla="*/ 0 60000 65536"/>
                <a:gd name="T17" fmla="*/ 0 60000 65536"/>
                <a:gd name="T18" fmla="*/ 0 60000 65536"/>
                <a:gd name="T19" fmla="*/ 0 60000 65536"/>
                <a:gd name="T20" fmla="*/ 0 60000 65536"/>
                <a:gd name="T21" fmla="*/ 0 w 20"/>
                <a:gd name="T22" fmla="*/ 0 h 61"/>
                <a:gd name="T23" fmla="*/ 20 w 20"/>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61">
                  <a:moveTo>
                    <a:pt x="20" y="0"/>
                  </a:moveTo>
                  <a:lnTo>
                    <a:pt x="10" y="61"/>
                  </a:lnTo>
                  <a:lnTo>
                    <a:pt x="0" y="61"/>
                  </a:lnTo>
                  <a:lnTo>
                    <a:pt x="10" y="0"/>
                  </a:lnTo>
                  <a:lnTo>
                    <a:pt x="20"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3" name="Rectangle 469"/>
            <p:cNvSpPr>
              <a:spLocks noChangeArrowheads="1"/>
            </p:cNvSpPr>
            <p:nvPr/>
          </p:nvSpPr>
          <p:spPr bwMode="auto">
            <a:xfrm>
              <a:off x="4010025" y="5686425"/>
              <a:ext cx="15875" cy="0"/>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4" name="Freeform 470"/>
            <p:cNvSpPr>
              <a:spLocks/>
            </p:cNvSpPr>
            <p:nvPr/>
          </p:nvSpPr>
          <p:spPr bwMode="auto">
            <a:xfrm>
              <a:off x="4010025" y="5459413"/>
              <a:ext cx="65088" cy="227012"/>
            </a:xfrm>
            <a:custGeom>
              <a:avLst/>
              <a:gdLst>
                <a:gd name="T0" fmla="*/ 2147483647 w 41"/>
                <a:gd name="T1" fmla="*/ 0 h 143"/>
                <a:gd name="T2" fmla="*/ 2147483647 w 41"/>
                <a:gd name="T3" fmla="*/ 0 h 143"/>
                <a:gd name="T4" fmla="*/ 0 w 41"/>
                <a:gd name="T5" fmla="*/ 2147483647 h 143"/>
                <a:gd name="T6" fmla="*/ 2147483647 w 41"/>
                <a:gd name="T7" fmla="*/ 2147483647 h 143"/>
                <a:gd name="T8" fmla="*/ 2147483647 w 41"/>
                <a:gd name="T9" fmla="*/ 0 h 143"/>
                <a:gd name="T10" fmla="*/ 0 60000 65536"/>
                <a:gd name="T11" fmla="*/ 0 60000 65536"/>
                <a:gd name="T12" fmla="*/ 0 60000 65536"/>
                <a:gd name="T13" fmla="*/ 0 60000 65536"/>
                <a:gd name="T14" fmla="*/ 0 60000 65536"/>
                <a:gd name="T15" fmla="*/ 0 w 41"/>
                <a:gd name="T16" fmla="*/ 0 h 143"/>
                <a:gd name="T17" fmla="*/ 41 w 41"/>
                <a:gd name="T18" fmla="*/ 143 h 143"/>
              </a:gdLst>
              <a:ahLst/>
              <a:cxnLst>
                <a:cxn ang="T10">
                  <a:pos x="T0" y="T1"/>
                </a:cxn>
                <a:cxn ang="T11">
                  <a:pos x="T2" y="T3"/>
                </a:cxn>
                <a:cxn ang="T12">
                  <a:pos x="T4" y="T5"/>
                </a:cxn>
                <a:cxn ang="T13">
                  <a:pos x="T6" y="T7"/>
                </a:cxn>
                <a:cxn ang="T14">
                  <a:pos x="T8" y="T9"/>
                </a:cxn>
              </a:cxnLst>
              <a:rect l="T15" t="T16" r="T17" b="T18"/>
              <a:pathLst>
                <a:path w="41" h="143">
                  <a:moveTo>
                    <a:pt x="41" y="0"/>
                  </a:moveTo>
                  <a:lnTo>
                    <a:pt x="31" y="0"/>
                  </a:lnTo>
                  <a:lnTo>
                    <a:pt x="0" y="143"/>
                  </a:lnTo>
                  <a:lnTo>
                    <a:pt x="10" y="143"/>
                  </a:lnTo>
                  <a:lnTo>
                    <a:pt x="41"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 name="Rectangle 477"/>
            <p:cNvSpPr>
              <a:spLocks noChangeArrowheads="1"/>
            </p:cNvSpPr>
            <p:nvPr/>
          </p:nvSpPr>
          <p:spPr bwMode="auto">
            <a:xfrm>
              <a:off x="5286375" y="3752850"/>
              <a:ext cx="240450"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TW"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TW" sz="16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TW"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6" name="Rectangle 480"/>
            <p:cNvSpPr>
              <a:spLocks noChangeArrowheads="1"/>
            </p:cNvSpPr>
            <p:nvPr/>
          </p:nvSpPr>
          <p:spPr bwMode="auto">
            <a:xfrm>
              <a:off x="3719513" y="3759200"/>
              <a:ext cx="171522"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TW"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TW"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7" name="Rectangle 482"/>
            <p:cNvSpPr>
              <a:spLocks noChangeArrowheads="1"/>
            </p:cNvSpPr>
            <p:nvPr/>
          </p:nvSpPr>
          <p:spPr bwMode="auto">
            <a:xfrm>
              <a:off x="4883150" y="5702300"/>
              <a:ext cx="136256"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endParaRPr kumimoji="0" lang="en-US" altLang="zh-TW"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8" name="Rectangle 483"/>
            <p:cNvSpPr>
              <a:spLocks noChangeArrowheads="1"/>
            </p:cNvSpPr>
            <p:nvPr/>
          </p:nvSpPr>
          <p:spPr bwMode="auto">
            <a:xfrm>
              <a:off x="4995863" y="5816600"/>
              <a:ext cx="189154" cy="169277"/>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1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CE</a:t>
              </a:r>
              <a:endParaRPr kumimoji="0" lang="en-US" altLang="zh-TW"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9" name="Rectangle 484"/>
            <p:cNvSpPr>
              <a:spLocks noChangeArrowheads="1"/>
            </p:cNvSpPr>
            <p:nvPr/>
          </p:nvSpPr>
          <p:spPr bwMode="auto">
            <a:xfrm>
              <a:off x="4010025" y="5751513"/>
              <a:ext cx="89768" cy="21544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230" name="Rectangle 485"/>
            <p:cNvSpPr>
              <a:spLocks noChangeArrowheads="1"/>
            </p:cNvSpPr>
            <p:nvPr/>
          </p:nvSpPr>
          <p:spPr bwMode="auto">
            <a:xfrm>
              <a:off x="973138" y="5976938"/>
              <a:ext cx="31750" cy="17462"/>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1" name="Freeform 486"/>
            <p:cNvSpPr>
              <a:spLocks/>
            </p:cNvSpPr>
            <p:nvPr/>
          </p:nvSpPr>
          <p:spPr bwMode="auto">
            <a:xfrm>
              <a:off x="842963" y="5929313"/>
              <a:ext cx="146050" cy="96837"/>
            </a:xfrm>
            <a:custGeom>
              <a:avLst/>
              <a:gdLst>
                <a:gd name="T0" fmla="*/ 2147483647 w 92"/>
                <a:gd name="T1" fmla="*/ 2147483647 h 61"/>
                <a:gd name="T2" fmla="*/ 2147483647 w 92"/>
                <a:gd name="T3" fmla="*/ 2147483647 h 61"/>
                <a:gd name="T4" fmla="*/ 2147483647 w 92"/>
                <a:gd name="T5" fmla="*/ 2147483647 h 61"/>
                <a:gd name="T6" fmla="*/ 2147483647 w 92"/>
                <a:gd name="T7" fmla="*/ 2147483647 h 61"/>
                <a:gd name="T8" fmla="*/ 0 w 92"/>
                <a:gd name="T9" fmla="*/ 2147483647 h 61"/>
                <a:gd name="T10" fmla="*/ 0 w 92"/>
                <a:gd name="T11" fmla="*/ 2147483647 h 61"/>
                <a:gd name="T12" fmla="*/ 2147483647 w 92"/>
                <a:gd name="T13" fmla="*/ 0 h 61"/>
                <a:gd name="T14" fmla="*/ 2147483647 w 92"/>
                <a:gd name="T15" fmla="*/ 0 h 61"/>
                <a:gd name="T16" fmla="*/ 2147483647 w 92"/>
                <a:gd name="T17" fmla="*/ 2147483647 h 61"/>
                <a:gd name="T18" fmla="*/ 2147483647 w 92"/>
                <a:gd name="T19" fmla="*/ 2147483647 h 61"/>
                <a:gd name="T20" fmla="*/ 0 w 92"/>
                <a:gd name="T21" fmla="*/ 2147483647 h 61"/>
                <a:gd name="T22" fmla="*/ 0 w 92"/>
                <a:gd name="T23" fmla="*/ 2147483647 h 61"/>
                <a:gd name="T24" fmla="*/ 0 w 92"/>
                <a:gd name="T25" fmla="*/ 2147483647 h 61"/>
                <a:gd name="T26" fmla="*/ 2147483647 w 92"/>
                <a:gd name="T27" fmla="*/ 2147483647 h 61"/>
                <a:gd name="T28" fmla="*/ 2147483647 w 92"/>
                <a:gd name="T29" fmla="*/ 2147483647 h 61"/>
                <a:gd name="T30" fmla="*/ 2147483647 w 92"/>
                <a:gd name="T31" fmla="*/ 2147483647 h 61"/>
                <a:gd name="T32" fmla="*/ 2147483647 w 92"/>
                <a:gd name="T33" fmla="*/ 2147483647 h 61"/>
                <a:gd name="T34" fmla="*/ 2147483647 w 92"/>
                <a:gd name="T35" fmla="*/ 2147483647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1"/>
                <a:gd name="T56" fmla="*/ 92 w 92"/>
                <a:gd name="T57" fmla="*/ 61 h 6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1">
                  <a:moveTo>
                    <a:pt x="82" y="41"/>
                  </a:moveTo>
                  <a:cubicBezTo>
                    <a:pt x="85" y="48"/>
                    <a:pt x="89" y="54"/>
                    <a:pt x="92" y="61"/>
                  </a:cubicBezTo>
                  <a:lnTo>
                    <a:pt x="0" y="41"/>
                  </a:lnTo>
                  <a:lnTo>
                    <a:pt x="0" y="30"/>
                  </a:lnTo>
                  <a:lnTo>
                    <a:pt x="92" y="0"/>
                  </a:lnTo>
                  <a:lnTo>
                    <a:pt x="92" y="10"/>
                  </a:lnTo>
                  <a:cubicBezTo>
                    <a:pt x="61" y="20"/>
                    <a:pt x="31" y="31"/>
                    <a:pt x="0" y="41"/>
                  </a:cubicBezTo>
                  <a:lnTo>
                    <a:pt x="0" y="30"/>
                  </a:lnTo>
                  <a:lnTo>
                    <a:pt x="92" y="51"/>
                  </a:lnTo>
                  <a:lnTo>
                    <a:pt x="92" y="61"/>
                  </a:lnTo>
                  <a:lnTo>
                    <a:pt x="82" y="61"/>
                  </a:lnTo>
                  <a:cubicBezTo>
                    <a:pt x="79" y="54"/>
                    <a:pt x="75" y="48"/>
                    <a:pt x="72" y="41"/>
                  </a:cubicBezTo>
                  <a:lnTo>
                    <a:pt x="82" y="4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2" name="Freeform 487"/>
            <p:cNvSpPr>
              <a:spLocks/>
            </p:cNvSpPr>
            <p:nvPr/>
          </p:nvSpPr>
          <p:spPr bwMode="auto">
            <a:xfrm>
              <a:off x="957263" y="5945188"/>
              <a:ext cx="31750" cy="49212"/>
            </a:xfrm>
            <a:custGeom>
              <a:avLst/>
              <a:gdLst>
                <a:gd name="T0" fmla="*/ 2147483647 w 20"/>
                <a:gd name="T1" fmla="*/ 0 h 31"/>
                <a:gd name="T2" fmla="*/ 2147483647 w 20"/>
                <a:gd name="T3" fmla="*/ 2147483647 h 31"/>
                <a:gd name="T4" fmla="*/ 0 w 20"/>
                <a:gd name="T5" fmla="*/ 2147483647 h 31"/>
                <a:gd name="T6" fmla="*/ 0 w 20"/>
                <a:gd name="T7" fmla="*/ 2147483647 h 31"/>
                <a:gd name="T8" fmla="*/ 0 w 20"/>
                <a:gd name="T9" fmla="*/ 2147483647 h 31"/>
                <a:gd name="T10" fmla="*/ 2147483647 w 20"/>
                <a:gd name="T11" fmla="*/ 0 h 31"/>
                <a:gd name="T12" fmla="*/ 2147483647 w 20"/>
                <a:gd name="T13" fmla="*/ 0 h 31"/>
                <a:gd name="T14" fmla="*/ 0 60000 65536"/>
                <a:gd name="T15" fmla="*/ 0 60000 65536"/>
                <a:gd name="T16" fmla="*/ 0 60000 65536"/>
                <a:gd name="T17" fmla="*/ 0 60000 65536"/>
                <a:gd name="T18" fmla="*/ 0 60000 65536"/>
                <a:gd name="T19" fmla="*/ 0 60000 65536"/>
                <a:gd name="T20" fmla="*/ 0 60000 65536"/>
                <a:gd name="T21" fmla="*/ 0 w 20"/>
                <a:gd name="T22" fmla="*/ 0 h 31"/>
                <a:gd name="T23" fmla="*/ 20 w 20"/>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31">
                  <a:moveTo>
                    <a:pt x="20" y="0"/>
                  </a:moveTo>
                  <a:lnTo>
                    <a:pt x="10" y="31"/>
                  </a:lnTo>
                  <a:lnTo>
                    <a:pt x="0" y="31"/>
                  </a:lnTo>
                  <a:lnTo>
                    <a:pt x="10" y="0"/>
                  </a:lnTo>
                  <a:lnTo>
                    <a:pt x="20" y="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3" name="Freeform 488"/>
            <p:cNvSpPr>
              <a:spLocks/>
            </p:cNvSpPr>
            <p:nvPr/>
          </p:nvSpPr>
          <p:spPr bwMode="auto">
            <a:xfrm>
              <a:off x="842963" y="5945188"/>
              <a:ext cx="146050" cy="80962"/>
            </a:xfrm>
            <a:custGeom>
              <a:avLst/>
              <a:gdLst>
                <a:gd name="T0" fmla="*/ 2147483647 w 92"/>
                <a:gd name="T1" fmla="*/ 2147483647 h 51"/>
                <a:gd name="T2" fmla="*/ 2147483647 w 92"/>
                <a:gd name="T3" fmla="*/ 2147483647 h 51"/>
                <a:gd name="T4" fmla="*/ 0 w 92"/>
                <a:gd name="T5" fmla="*/ 2147483647 h 51"/>
                <a:gd name="T6" fmla="*/ 2147483647 w 92"/>
                <a:gd name="T7" fmla="*/ 0 h 51"/>
                <a:gd name="T8" fmla="*/ 2147483647 w 92"/>
                <a:gd name="T9" fmla="*/ 2147483647 h 51"/>
                <a:gd name="T10" fmla="*/ 0 60000 65536"/>
                <a:gd name="T11" fmla="*/ 0 60000 65536"/>
                <a:gd name="T12" fmla="*/ 0 60000 65536"/>
                <a:gd name="T13" fmla="*/ 0 60000 65536"/>
                <a:gd name="T14" fmla="*/ 0 60000 65536"/>
                <a:gd name="T15" fmla="*/ 0 w 92"/>
                <a:gd name="T16" fmla="*/ 0 h 51"/>
                <a:gd name="T17" fmla="*/ 92 w 92"/>
                <a:gd name="T18" fmla="*/ 51 h 51"/>
              </a:gdLst>
              <a:ahLst/>
              <a:cxnLst>
                <a:cxn ang="T10">
                  <a:pos x="T0" y="T1"/>
                </a:cxn>
                <a:cxn ang="T11">
                  <a:pos x="T2" y="T3"/>
                </a:cxn>
                <a:cxn ang="T12">
                  <a:pos x="T4" y="T5"/>
                </a:cxn>
                <a:cxn ang="T13">
                  <a:pos x="T6" y="T7"/>
                </a:cxn>
                <a:cxn ang="T14">
                  <a:pos x="T8" y="T9"/>
                </a:cxn>
              </a:cxnLst>
              <a:rect l="T15" t="T16" r="T17" b="T18"/>
              <a:pathLst>
                <a:path w="92" h="51">
                  <a:moveTo>
                    <a:pt x="82" y="31"/>
                  </a:moveTo>
                  <a:lnTo>
                    <a:pt x="92" y="51"/>
                  </a:lnTo>
                  <a:lnTo>
                    <a:pt x="0" y="31"/>
                  </a:lnTo>
                  <a:lnTo>
                    <a:pt x="92" y="0"/>
                  </a:lnTo>
                  <a:lnTo>
                    <a:pt x="82" y="3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 name="Rectangle 489"/>
            <p:cNvSpPr>
              <a:spLocks noChangeArrowheads="1"/>
            </p:cNvSpPr>
            <p:nvPr/>
          </p:nvSpPr>
          <p:spPr bwMode="auto">
            <a:xfrm>
              <a:off x="1004888" y="5994400"/>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 name="Rectangle 490"/>
            <p:cNvSpPr>
              <a:spLocks noChangeArrowheads="1"/>
            </p:cNvSpPr>
            <p:nvPr/>
          </p:nvSpPr>
          <p:spPr bwMode="auto">
            <a:xfrm>
              <a:off x="2119313" y="5978525"/>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 name="Rectangle 491"/>
            <p:cNvSpPr>
              <a:spLocks noChangeArrowheads="1"/>
            </p:cNvSpPr>
            <p:nvPr/>
          </p:nvSpPr>
          <p:spPr bwMode="auto">
            <a:xfrm>
              <a:off x="1004888" y="5978525"/>
              <a:ext cx="1114425"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7" name="Rectangle 492"/>
            <p:cNvSpPr>
              <a:spLocks noChangeArrowheads="1"/>
            </p:cNvSpPr>
            <p:nvPr/>
          </p:nvSpPr>
          <p:spPr bwMode="auto">
            <a:xfrm>
              <a:off x="3816350" y="5978525"/>
              <a:ext cx="3175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8" name="Freeform 493"/>
            <p:cNvSpPr>
              <a:spLocks/>
            </p:cNvSpPr>
            <p:nvPr/>
          </p:nvSpPr>
          <p:spPr bwMode="auto">
            <a:xfrm>
              <a:off x="3816350" y="5929313"/>
              <a:ext cx="161925" cy="96837"/>
            </a:xfrm>
            <a:custGeom>
              <a:avLst/>
              <a:gdLst>
                <a:gd name="T0" fmla="*/ 2147483647 w 102"/>
                <a:gd name="T1" fmla="*/ 2147483647 h 61"/>
                <a:gd name="T2" fmla="*/ 2147483647 w 102"/>
                <a:gd name="T3" fmla="*/ 0 h 61"/>
                <a:gd name="T4" fmla="*/ 2147483647 w 102"/>
                <a:gd name="T5" fmla="*/ 0 h 61"/>
                <a:gd name="T6" fmla="*/ 2147483647 w 102"/>
                <a:gd name="T7" fmla="*/ 0 h 61"/>
                <a:gd name="T8" fmla="*/ 2147483647 w 102"/>
                <a:gd name="T9" fmla="*/ 2147483647 h 61"/>
                <a:gd name="T10" fmla="*/ 2147483647 w 102"/>
                <a:gd name="T11" fmla="*/ 2147483647 h 61"/>
                <a:gd name="T12" fmla="*/ 2147483647 w 102"/>
                <a:gd name="T13" fmla="*/ 2147483647 h 61"/>
                <a:gd name="T14" fmla="*/ 2147483647 w 102"/>
                <a:gd name="T15" fmla="*/ 2147483647 h 61"/>
                <a:gd name="T16" fmla="*/ 0 w 102"/>
                <a:gd name="T17" fmla="*/ 2147483647 h 61"/>
                <a:gd name="T18" fmla="*/ 2147483647 w 102"/>
                <a:gd name="T19" fmla="*/ 2147483647 h 61"/>
                <a:gd name="T20" fmla="*/ 2147483647 w 102"/>
                <a:gd name="T21" fmla="*/ 2147483647 h 61"/>
                <a:gd name="T22" fmla="*/ 2147483647 w 102"/>
                <a:gd name="T23" fmla="*/ 2147483647 h 61"/>
                <a:gd name="T24" fmla="*/ 2147483647 w 102"/>
                <a:gd name="T25" fmla="*/ 2147483647 h 61"/>
                <a:gd name="T26" fmla="*/ 2147483647 w 102"/>
                <a:gd name="T27" fmla="*/ 2147483647 h 61"/>
                <a:gd name="T28" fmla="*/ 2147483647 w 102"/>
                <a:gd name="T29" fmla="*/ 2147483647 h 61"/>
                <a:gd name="T30" fmla="*/ 2147483647 w 102"/>
                <a:gd name="T31" fmla="*/ 0 h 61"/>
                <a:gd name="T32" fmla="*/ 2147483647 w 102"/>
                <a:gd name="T33" fmla="*/ 0 h 61"/>
                <a:gd name="T34" fmla="*/ 2147483647 w 102"/>
                <a:gd name="T35" fmla="*/ 2147483647 h 61"/>
                <a:gd name="T36" fmla="*/ 2147483647 w 102"/>
                <a:gd name="T37" fmla="*/ 2147483647 h 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61"/>
                <a:gd name="T59" fmla="*/ 102 w 102"/>
                <a:gd name="T60" fmla="*/ 61 h 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61">
                  <a:moveTo>
                    <a:pt x="20" y="31"/>
                  </a:moveTo>
                  <a:lnTo>
                    <a:pt x="10" y="0"/>
                  </a:lnTo>
                  <a:lnTo>
                    <a:pt x="102" y="31"/>
                  </a:lnTo>
                  <a:lnTo>
                    <a:pt x="102" y="41"/>
                  </a:lnTo>
                  <a:lnTo>
                    <a:pt x="10" y="61"/>
                  </a:lnTo>
                  <a:lnTo>
                    <a:pt x="0" y="61"/>
                  </a:lnTo>
                  <a:lnTo>
                    <a:pt x="10" y="51"/>
                  </a:lnTo>
                  <a:lnTo>
                    <a:pt x="102" y="31"/>
                  </a:lnTo>
                  <a:lnTo>
                    <a:pt x="102" y="41"/>
                  </a:lnTo>
                  <a:lnTo>
                    <a:pt x="10" y="10"/>
                  </a:lnTo>
                  <a:lnTo>
                    <a:pt x="10" y="0"/>
                  </a:lnTo>
                  <a:lnTo>
                    <a:pt x="20" y="0"/>
                  </a:lnTo>
                  <a:lnTo>
                    <a:pt x="31" y="31"/>
                  </a:lnTo>
                  <a:lnTo>
                    <a:pt x="20" y="3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9" name="Freeform 494"/>
            <p:cNvSpPr>
              <a:spLocks/>
            </p:cNvSpPr>
            <p:nvPr/>
          </p:nvSpPr>
          <p:spPr bwMode="auto">
            <a:xfrm>
              <a:off x="3832225" y="5978525"/>
              <a:ext cx="33338" cy="31750"/>
            </a:xfrm>
            <a:custGeom>
              <a:avLst/>
              <a:gdLst>
                <a:gd name="T0" fmla="*/ 0 w 21"/>
                <a:gd name="T1" fmla="*/ 2147483647 h 20"/>
                <a:gd name="T2" fmla="*/ 2147483647 w 21"/>
                <a:gd name="T3" fmla="*/ 0 h 20"/>
                <a:gd name="T4" fmla="*/ 2147483647 w 21"/>
                <a:gd name="T5" fmla="*/ 0 h 20"/>
                <a:gd name="T6" fmla="*/ 2147483647 w 21"/>
                <a:gd name="T7" fmla="*/ 0 h 20"/>
                <a:gd name="T8" fmla="*/ 2147483647 w 21"/>
                <a:gd name="T9" fmla="*/ 0 h 20"/>
                <a:gd name="T10" fmla="*/ 2147483647 w 21"/>
                <a:gd name="T11" fmla="*/ 2147483647 h 20"/>
                <a:gd name="T12" fmla="*/ 0 w 21"/>
                <a:gd name="T13" fmla="*/ 2147483647 h 20"/>
                <a:gd name="T14" fmla="*/ 0 60000 65536"/>
                <a:gd name="T15" fmla="*/ 0 60000 65536"/>
                <a:gd name="T16" fmla="*/ 0 60000 65536"/>
                <a:gd name="T17" fmla="*/ 0 60000 65536"/>
                <a:gd name="T18" fmla="*/ 0 60000 65536"/>
                <a:gd name="T19" fmla="*/ 0 60000 65536"/>
                <a:gd name="T20" fmla="*/ 0 60000 65536"/>
                <a:gd name="T21" fmla="*/ 0 w 21"/>
                <a:gd name="T22" fmla="*/ 0 h 20"/>
                <a:gd name="T23" fmla="*/ 21 w 2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0">
                  <a:moveTo>
                    <a:pt x="0" y="20"/>
                  </a:moveTo>
                  <a:lnTo>
                    <a:pt x="10" y="0"/>
                  </a:lnTo>
                  <a:lnTo>
                    <a:pt x="21" y="0"/>
                  </a:lnTo>
                  <a:lnTo>
                    <a:pt x="10" y="20"/>
                  </a:lnTo>
                  <a:lnTo>
                    <a:pt x="0" y="20"/>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0" name="Freeform 495"/>
            <p:cNvSpPr>
              <a:spLocks/>
            </p:cNvSpPr>
            <p:nvPr/>
          </p:nvSpPr>
          <p:spPr bwMode="auto">
            <a:xfrm>
              <a:off x="3832225" y="5929313"/>
              <a:ext cx="146050" cy="80962"/>
            </a:xfrm>
            <a:custGeom>
              <a:avLst/>
              <a:gdLst>
                <a:gd name="T0" fmla="*/ 2147483647 w 92"/>
                <a:gd name="T1" fmla="*/ 2147483647 h 51"/>
                <a:gd name="T2" fmla="*/ 0 w 92"/>
                <a:gd name="T3" fmla="*/ 0 h 51"/>
                <a:gd name="T4" fmla="*/ 2147483647 w 92"/>
                <a:gd name="T5" fmla="*/ 2147483647 h 51"/>
                <a:gd name="T6" fmla="*/ 0 w 92"/>
                <a:gd name="T7" fmla="*/ 2147483647 h 51"/>
                <a:gd name="T8" fmla="*/ 2147483647 w 92"/>
                <a:gd name="T9" fmla="*/ 2147483647 h 51"/>
                <a:gd name="T10" fmla="*/ 0 60000 65536"/>
                <a:gd name="T11" fmla="*/ 0 60000 65536"/>
                <a:gd name="T12" fmla="*/ 0 60000 65536"/>
                <a:gd name="T13" fmla="*/ 0 60000 65536"/>
                <a:gd name="T14" fmla="*/ 0 60000 65536"/>
                <a:gd name="T15" fmla="*/ 0 w 92"/>
                <a:gd name="T16" fmla="*/ 0 h 51"/>
                <a:gd name="T17" fmla="*/ 92 w 92"/>
                <a:gd name="T18" fmla="*/ 51 h 51"/>
              </a:gdLst>
              <a:ahLst/>
              <a:cxnLst>
                <a:cxn ang="T10">
                  <a:pos x="T0" y="T1"/>
                </a:cxn>
                <a:cxn ang="T11">
                  <a:pos x="T2" y="T3"/>
                </a:cxn>
                <a:cxn ang="T12">
                  <a:pos x="T4" y="T5"/>
                </a:cxn>
                <a:cxn ang="T13">
                  <a:pos x="T6" y="T7"/>
                </a:cxn>
                <a:cxn ang="T14">
                  <a:pos x="T8" y="T9"/>
                </a:cxn>
              </a:cxnLst>
              <a:rect l="T15" t="T16" r="T17" b="T18"/>
              <a:pathLst>
                <a:path w="92" h="51">
                  <a:moveTo>
                    <a:pt x="10" y="31"/>
                  </a:moveTo>
                  <a:lnTo>
                    <a:pt x="0" y="0"/>
                  </a:lnTo>
                  <a:lnTo>
                    <a:pt x="92" y="31"/>
                  </a:lnTo>
                  <a:lnTo>
                    <a:pt x="0" y="51"/>
                  </a:lnTo>
                  <a:lnTo>
                    <a:pt x="10" y="31"/>
                  </a:lnTo>
                  <a:close/>
                </a:path>
              </a:pathLst>
            </a:custGeom>
            <a:blipFill dpi="0" rotWithShape="0">
              <a:blip r:embed="rId6" cstate="print"/>
              <a:srcRect/>
              <a:tile tx="0" ty="0" sx="100000" sy="100000" flip="none" algn="tl"/>
            </a:blip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1" name="Rectangle 496"/>
            <p:cNvSpPr>
              <a:spLocks noChangeArrowheads="1"/>
            </p:cNvSpPr>
            <p:nvPr/>
          </p:nvSpPr>
          <p:spPr bwMode="auto">
            <a:xfrm>
              <a:off x="2555875" y="5978525"/>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2" name="Rectangle 497"/>
            <p:cNvSpPr>
              <a:spLocks noChangeArrowheads="1"/>
            </p:cNvSpPr>
            <p:nvPr/>
          </p:nvSpPr>
          <p:spPr bwMode="auto">
            <a:xfrm>
              <a:off x="3816350" y="5978525"/>
              <a:ext cx="0"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3" name="Rectangle 498"/>
            <p:cNvSpPr>
              <a:spLocks noChangeArrowheads="1"/>
            </p:cNvSpPr>
            <p:nvPr/>
          </p:nvSpPr>
          <p:spPr bwMode="auto">
            <a:xfrm>
              <a:off x="2555875" y="5978525"/>
              <a:ext cx="1260475" cy="15875"/>
            </a:xfrm>
            <a:prstGeom prst="rect">
              <a:avLst/>
            </a:prstGeom>
            <a:blipFill dpi="0" rotWithShape="0">
              <a:blip r:embed="rId6" cstate="print"/>
              <a:srcRect/>
              <a:tile tx="0" ty="0" sx="100000" sy="100000" flip="none" algn="tl"/>
            </a:blip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4" name="Rectangle 499"/>
            <p:cNvSpPr>
              <a:spLocks noChangeArrowheads="1"/>
            </p:cNvSpPr>
            <p:nvPr/>
          </p:nvSpPr>
          <p:spPr bwMode="auto">
            <a:xfrm>
              <a:off x="2265363" y="5799138"/>
              <a:ext cx="171522" cy="307777"/>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1" i="1" u="none" strike="noStrike" kern="120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endParaRPr kumimoji="0" lang="en-US" altLang="zh-TW" sz="2000" b="1" i="0" u="none" strike="noStrike" kern="120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5" name="Rectangle 500"/>
            <p:cNvSpPr>
              <a:spLocks noChangeArrowheads="1"/>
            </p:cNvSpPr>
            <p:nvPr/>
          </p:nvSpPr>
          <p:spPr bwMode="auto">
            <a:xfrm>
              <a:off x="2362200" y="5913438"/>
              <a:ext cx="120226" cy="21544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400" b="1" i="1" u="none" strike="noStrike" kern="120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TW" sz="1400" b="1" i="0" u="none" strike="noStrike" kern="120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6" name="Text Box 252"/>
            <p:cNvSpPr txBox="1">
              <a:spLocks noChangeArrowheads="1"/>
            </p:cNvSpPr>
            <p:nvPr/>
          </p:nvSpPr>
          <p:spPr bwMode="auto">
            <a:xfrm>
              <a:off x="646113" y="4606925"/>
              <a:ext cx="2349682" cy="430887"/>
            </a:xfrm>
            <a:prstGeom prst="rect">
              <a:avLst/>
            </a:prstGeom>
            <a:solidFill>
              <a:schemeClr val="bg1"/>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200" b="1" i="1"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TW" sz="2200" b="1" i="1" u="none" strike="noStrike" kern="120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TW" sz="2200"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 : Early Voltage</a:t>
              </a:r>
              <a:endParaRPr kumimoji="0" lang="en-US" altLang="zh-TW" sz="2800"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7" name="Rectangle 502"/>
            <p:cNvSpPr>
              <a:spLocks noChangeArrowheads="1"/>
            </p:cNvSpPr>
            <p:nvPr/>
          </p:nvSpPr>
          <p:spPr bwMode="auto">
            <a:xfrm>
              <a:off x="5334000" y="4286250"/>
              <a:ext cx="240450"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TW"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TW" sz="16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TW"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8" name="Rectangle 503"/>
            <p:cNvSpPr>
              <a:spLocks noChangeArrowheads="1"/>
            </p:cNvSpPr>
            <p:nvPr/>
          </p:nvSpPr>
          <p:spPr bwMode="auto">
            <a:xfrm>
              <a:off x="5419725" y="4857750"/>
              <a:ext cx="240450"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TW"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TW" sz="16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TW"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1822205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FB5BFE9-18C2-4E95-85C6-A7368934E47F}"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3790" name="Text Box 14"/>
          <p:cNvSpPr txBox="1">
            <a:spLocks noChangeArrowheads="1"/>
          </p:cNvSpPr>
          <p:nvPr/>
        </p:nvSpPr>
        <p:spPr bwMode="auto">
          <a:xfrm>
            <a:off x="457200" y="762000"/>
            <a:ext cx="8382000" cy="9048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5000"/>
              </a:lnSpc>
              <a:spcBef>
                <a:spcPct val="25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放大偏置晶体管：集电结反偏电压增大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itchFamily="2" charset="2"/>
              </a:rPr>
              <a:t>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空间电荷区展宽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itchFamily="2" charset="2"/>
              </a:rPr>
              <a:t> </a:t>
            </a: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减小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itchFamily="2" charset="2"/>
              </a:rPr>
              <a:t> </a:t>
            </a: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增大。</a:t>
            </a:r>
          </a:p>
        </p:txBody>
      </p:sp>
      <p:pic>
        <p:nvPicPr>
          <p:cNvPr id="203791" name="Picture 15"/>
          <p:cNvPicPr>
            <a:picLocks noChangeAspect="1" noChangeArrowheads="1"/>
          </p:cNvPicPr>
          <p:nvPr/>
        </p:nvPicPr>
        <p:blipFill>
          <a:blip r:embed="rId2" cstate="print"/>
          <a:srcRect/>
          <a:stretch>
            <a:fillRect/>
          </a:stretch>
        </p:blipFill>
        <p:spPr bwMode="auto">
          <a:xfrm>
            <a:off x="715963" y="2060575"/>
            <a:ext cx="7056437" cy="4730750"/>
          </a:xfrm>
          <a:prstGeom prst="rect">
            <a:avLst/>
          </a:prstGeom>
          <a:noFill/>
          <a:ln w="9525" algn="ctr">
            <a:noFill/>
            <a:miter lim="800000"/>
            <a:headEnd/>
            <a:tailEnd/>
          </a:ln>
          <a:effectLst/>
        </p:spPr>
      </p:pic>
      <p:sp>
        <p:nvSpPr>
          <p:cNvPr id="203792" name="Rectangle 16"/>
          <p:cNvSpPr>
            <a:spLocks noChangeArrowheads="1"/>
          </p:cNvSpPr>
          <p:nvPr/>
        </p:nvSpPr>
        <p:spPr bwMode="auto">
          <a:xfrm>
            <a:off x="6400800" y="4572000"/>
            <a:ext cx="2370138" cy="904875"/>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95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基区中少子浓度梯度增加</a:t>
            </a:r>
          </a:p>
        </p:txBody>
      </p:sp>
      <p:sp>
        <p:nvSpPr>
          <p:cNvPr id="203793" name="Rectangle 17"/>
          <p:cNvSpPr>
            <a:spLocks noGrp="1" noChangeArrowheads="1"/>
          </p:cNvSpPr>
          <p:nvPr>
            <p:ph type="title"/>
          </p:nvPr>
        </p:nvSpPr>
        <p:spPr bwMode="auto">
          <a:xfrm>
            <a:off x="252000" y="252000"/>
            <a:ext cx="8229600" cy="563562"/>
          </a:xfrm>
          <a:noFill/>
          <a:ln/>
        </p:spPr>
        <p:txBody>
          <a:bodyPr vert="horz" wrap="square" lIns="91440" tIns="45720" rIns="91440" bIns="45720" numCol="1" anchor="t" anchorCtr="0" compatLnSpc="1">
            <a:prstTxWarp prst="textNoShape">
              <a:avLst/>
            </a:prstTxWarp>
          </a:bodyPr>
          <a:lstStyle/>
          <a:p>
            <a:pPr algn="l"/>
            <a:r>
              <a:rPr kumimoji="1" lang="en-US" altLang="zh-CN" kern="1200" dirty="0" smtClean="0">
                <a:solidFill>
                  <a:srgbClr val="D96227"/>
                </a:solidFill>
                <a:ea typeface="宋体" panose="02010600030101010101" pitchFamily="2" charset="-122"/>
              </a:rPr>
              <a:t>4. </a:t>
            </a:r>
            <a:r>
              <a:rPr kumimoji="1" lang="zh-CN" altLang="en-US" kern="1200" dirty="0" smtClean="0">
                <a:solidFill>
                  <a:srgbClr val="D96227"/>
                </a:solidFill>
                <a:ea typeface="宋体" panose="02010600030101010101" pitchFamily="2" charset="-122"/>
              </a:rPr>
              <a:t>非理想效应</a:t>
            </a:r>
            <a:r>
              <a:rPr kumimoji="1" lang="en-US" altLang="zh-CN" kern="1200" dirty="0" smtClean="0">
                <a:solidFill>
                  <a:srgbClr val="D96227"/>
                </a:solidFill>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）基区宽度</a:t>
            </a:r>
            <a:r>
              <a:rPr lang="zh-CN" altLang="en-US" sz="2800" b="1" dirty="0">
                <a:ea typeface="宋体" panose="02010600030101010101" pitchFamily="2" charset="-122"/>
              </a:rPr>
              <a:t>调变效应</a:t>
            </a:r>
            <a:r>
              <a:rPr lang="en-US" altLang="zh-CN" sz="2800" b="1" dirty="0">
                <a:ea typeface="宋体" panose="02010600030101010101" pitchFamily="2" charset="-122"/>
              </a:rPr>
              <a:t>(Early</a:t>
            </a:r>
            <a:r>
              <a:rPr lang="zh-CN" altLang="en-US" sz="2800" b="1" dirty="0">
                <a:ea typeface="宋体" panose="02010600030101010101" pitchFamily="2" charset="-122"/>
              </a:rPr>
              <a:t>效应</a:t>
            </a:r>
            <a:r>
              <a:rPr lang="en-US" altLang="zh-CN" sz="2800" b="1" dirty="0">
                <a:ea typeface="宋体" panose="02010600030101010101" pitchFamily="2" charset="-122"/>
              </a:rPr>
              <a:t>)</a:t>
            </a:r>
          </a:p>
        </p:txBody>
      </p:sp>
    </p:spTree>
    <p:extLst>
      <p:ext uri="{BB962C8B-B14F-4D97-AF65-F5344CB8AC3E}">
        <p14:creationId xmlns:p14="http://schemas.microsoft.com/office/powerpoint/2010/main" val="4870139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7DAB373-AD52-4875-9CCC-0332C551FC04}"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6418" name="Text Box 2"/>
          <p:cNvSpPr txBox="1">
            <a:spLocks noChangeArrowheads="1"/>
          </p:cNvSpPr>
          <p:nvPr/>
        </p:nvSpPr>
        <p:spPr bwMode="auto">
          <a:xfrm>
            <a:off x="669925" y="447675"/>
            <a:ext cx="71786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放大偏置</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npn</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晶体管的集电极电流公式： </a:t>
            </a:r>
          </a:p>
        </p:txBody>
      </p:sp>
      <p:graphicFrame>
        <p:nvGraphicFramePr>
          <p:cNvPr id="316419" name="Object 3"/>
          <p:cNvGraphicFramePr>
            <a:graphicFrameLocks noChangeAspect="1"/>
          </p:cNvGraphicFramePr>
          <p:nvPr>
            <p:extLst>
              <p:ext uri="{D42A27DB-BD31-4B8C-83A1-F6EECF244321}">
                <p14:modId xmlns:p14="http://schemas.microsoft.com/office/powerpoint/2010/main" val="2336825679"/>
              </p:ext>
            </p:extLst>
          </p:nvPr>
        </p:nvGraphicFramePr>
        <p:xfrm>
          <a:off x="669925" y="1066800"/>
          <a:ext cx="3965575" cy="1209675"/>
        </p:xfrm>
        <a:graphic>
          <a:graphicData uri="http://schemas.openxmlformats.org/presentationml/2006/ole">
            <mc:AlternateContent xmlns:mc="http://schemas.openxmlformats.org/markup-compatibility/2006">
              <mc:Choice xmlns:v="urn:schemas-microsoft-com:vml" Requires="v">
                <p:oleObj spid="_x0000_s115798" name="公式" r:id="rId3" imgW="1777229" imgH="545863" progId="Equation.3">
                  <p:embed/>
                </p:oleObj>
              </mc:Choice>
              <mc:Fallback>
                <p:oleObj name="公式" r:id="rId3" imgW="1777229" imgH="545863" progId="Equation.3">
                  <p:embed/>
                  <p:pic>
                    <p:nvPicPr>
                      <p:cNvPr id="3164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925" y="1066800"/>
                        <a:ext cx="3965575"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6421" name="Object 5"/>
          <p:cNvGraphicFramePr>
            <a:graphicFrameLocks noChangeAspect="1"/>
          </p:cNvGraphicFramePr>
          <p:nvPr>
            <p:extLst>
              <p:ext uri="{D42A27DB-BD31-4B8C-83A1-F6EECF244321}">
                <p14:modId xmlns:p14="http://schemas.microsoft.com/office/powerpoint/2010/main" val="3759096795"/>
              </p:ext>
            </p:extLst>
          </p:nvPr>
        </p:nvGraphicFramePr>
        <p:xfrm>
          <a:off x="669925" y="2544762"/>
          <a:ext cx="6080125" cy="2560638"/>
        </p:xfrm>
        <a:graphic>
          <a:graphicData uri="http://schemas.openxmlformats.org/presentationml/2006/ole">
            <mc:AlternateContent xmlns:mc="http://schemas.openxmlformats.org/markup-compatibility/2006">
              <mc:Choice xmlns:v="urn:schemas-microsoft-com:vml" Requires="v">
                <p:oleObj spid="_x0000_s115799" name="公式" r:id="rId5" imgW="2755800" imgH="1168200" progId="Equation.3">
                  <p:embed/>
                </p:oleObj>
              </mc:Choice>
              <mc:Fallback>
                <p:oleObj name="公式" r:id="rId5" imgW="2755800" imgH="1168200" progId="Equation.3">
                  <p:embed/>
                  <p:pic>
                    <p:nvPicPr>
                      <p:cNvPr id="31642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925" y="2544762"/>
                        <a:ext cx="6080125" cy="2560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6424" name="Rectangle 8"/>
          <p:cNvSpPr>
            <a:spLocks noChangeArrowheads="1"/>
          </p:cNvSpPr>
          <p:nvPr/>
        </p:nvSpPr>
        <p:spPr bwMode="auto">
          <a:xfrm>
            <a:off x="5715000" y="3998893"/>
            <a:ext cx="3352800" cy="954107"/>
          </a:xfrm>
          <a:prstGeom prst="rect">
            <a:avLst/>
          </a:prstGeom>
          <a:noFill/>
          <a:ln w="9525">
            <a:solidFill>
              <a:schemeClr val="accent1"/>
            </a:solidFill>
            <a:miter lim="800000"/>
            <a:headEnd/>
            <a:tailEnd/>
          </a:ln>
          <a:effectLst/>
        </p:spPr>
        <p:txBody>
          <a:bodyPr wrap="square">
            <a:spAutoFit/>
          </a:bodyPr>
          <a:lstStyle/>
          <a:p>
            <a:pPr marL="0" marR="0" lvl="0" indent="0" algn="just" defTabSz="914400" rtl="0" eaLnBrk="1" fontAlgn="base" latinLnBrk="0" hangingPunct="1">
              <a:lnSpc>
                <a:spcPct val="100000"/>
              </a:lnSpc>
              <a:spcBef>
                <a:spcPct val="50000"/>
              </a:spcBef>
              <a:spcAft>
                <a:spcPct val="0"/>
              </a:spcAft>
              <a:buClr>
                <a:srgbClr val="660033"/>
              </a:buClr>
              <a:buSzPct val="55000"/>
              <a:buFont typeface="Wingdings" pitchFamily="2" charset="2"/>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只是</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CB</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的函数，与</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无关</a:t>
            </a:r>
          </a:p>
        </p:txBody>
      </p:sp>
      <p:graphicFrame>
        <p:nvGraphicFramePr>
          <p:cNvPr id="1028" name="Object 4"/>
          <p:cNvGraphicFramePr>
            <a:graphicFrameLocks noChangeAspect="1"/>
          </p:cNvGraphicFramePr>
          <p:nvPr>
            <p:extLst>
              <p:ext uri="{D42A27DB-BD31-4B8C-83A1-F6EECF244321}">
                <p14:modId xmlns:p14="http://schemas.microsoft.com/office/powerpoint/2010/main" val="3886672932"/>
              </p:ext>
            </p:extLst>
          </p:nvPr>
        </p:nvGraphicFramePr>
        <p:xfrm>
          <a:off x="2819400" y="5340816"/>
          <a:ext cx="2630488" cy="1119188"/>
        </p:xfrm>
        <a:graphic>
          <a:graphicData uri="http://schemas.openxmlformats.org/presentationml/2006/ole">
            <mc:AlternateContent xmlns:mc="http://schemas.openxmlformats.org/markup-compatibility/2006">
              <mc:Choice xmlns:v="urn:schemas-microsoft-com:vml" Requires="v">
                <p:oleObj spid="_x0000_s115800" name="Equation" r:id="rId7" imgW="1193760" imgH="507960" progId="Equation.DSMT4">
                  <p:embed/>
                </p:oleObj>
              </mc:Choice>
              <mc:Fallback>
                <p:oleObj name="Equation" r:id="rId7" imgW="1193760" imgH="507960" progId="Equation.DSMT4">
                  <p:embed/>
                  <p:pic>
                    <p:nvPicPr>
                      <p:cNvPr id="102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5340816"/>
                        <a:ext cx="2630488" cy="111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Box 9"/>
          <p:cNvSpPr txBox="1"/>
          <p:nvPr/>
        </p:nvSpPr>
        <p:spPr>
          <a:xfrm>
            <a:off x="669925" y="5638800"/>
            <a:ext cx="2149475"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输出电阻：</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4508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39D53D7-BAE1-4213-A601-E731A8149E33}"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17443" name="Picture 3"/>
          <p:cNvPicPr>
            <a:picLocks noChangeAspect="1" noChangeArrowheads="1"/>
          </p:cNvPicPr>
          <p:nvPr/>
        </p:nvPicPr>
        <p:blipFill>
          <a:blip r:embed="rId3" cstate="print"/>
          <a:srcRect/>
          <a:stretch>
            <a:fillRect/>
          </a:stretch>
        </p:blipFill>
        <p:spPr bwMode="auto">
          <a:xfrm>
            <a:off x="1066800" y="1808163"/>
            <a:ext cx="7848600" cy="2916237"/>
          </a:xfrm>
          <a:prstGeom prst="rect">
            <a:avLst/>
          </a:prstGeom>
          <a:noFill/>
          <a:ln w="9525">
            <a:noFill/>
            <a:miter lim="800000"/>
            <a:headEnd/>
            <a:tailEnd/>
          </a:ln>
          <a:effectLst/>
        </p:spPr>
      </p:pic>
      <p:sp>
        <p:nvSpPr>
          <p:cNvPr id="317444" name="Rectangle 4"/>
          <p:cNvSpPr>
            <a:spLocks noChangeArrowheads="1"/>
          </p:cNvSpPr>
          <p:nvPr/>
        </p:nvSpPr>
        <p:spPr bwMode="auto">
          <a:xfrm>
            <a:off x="533400" y="381000"/>
            <a:ext cx="8229600" cy="1040285"/>
          </a:xfrm>
          <a:prstGeom prst="rect">
            <a:avLst/>
          </a:prstGeom>
          <a:noFill/>
          <a:ln w="9525">
            <a:noFill/>
            <a:miter lim="800000"/>
            <a:headEnd/>
            <a:tailEnd/>
          </a:ln>
          <a:effectLst/>
        </p:spPr>
        <p:txBody>
          <a:bodyPr>
            <a:spAutoFit/>
          </a:bodyPr>
          <a:lstStyle/>
          <a:p>
            <a:pPr marL="0" marR="0" lvl="0" indent="0" algn="just" defTabSz="914400" rtl="0" eaLnBrk="1" fontAlgn="base" latinLnBrk="0" hangingPunct="1">
              <a:lnSpc>
                <a:spcPct val="100000"/>
              </a:lnSpc>
              <a:spcBef>
                <a:spcPct val="20000"/>
              </a:spcBef>
              <a:spcAft>
                <a:spcPct val="0"/>
              </a:spcAft>
              <a:buClr>
                <a:srgbClr val="660033"/>
              </a:buClr>
              <a:buSzPct val="55000"/>
              <a:buFont typeface="Wingdings" pitchFamily="2" charset="2"/>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只是</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CB</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的函数，与</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无关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itchFamily="2" charset="2"/>
              </a:rPr>
              <a:t> </a:t>
            </a:r>
          </a:p>
          <a:p>
            <a:pPr marL="0" marR="0" lvl="0" indent="0" algn="just" defTabSz="914400" rtl="0" eaLnBrk="1" fontAlgn="base" latinLnBrk="0" hangingPunct="1">
              <a:lnSpc>
                <a:spcPct val="100000"/>
              </a:lnSpc>
              <a:spcBef>
                <a:spcPct val="20000"/>
              </a:spcBef>
              <a:spcAft>
                <a:spcPct val="0"/>
              </a:spcAft>
              <a:buClr>
                <a:srgbClr val="660033"/>
              </a:buClr>
              <a:buSzPct val="55000"/>
              <a:buFont typeface="Wingdings" pitchFamily="2" charset="2"/>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输出特性曲线中不同</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的曲线的切线交于同一点</a:t>
            </a:r>
          </a:p>
        </p:txBody>
      </p:sp>
      <p:graphicFrame>
        <p:nvGraphicFramePr>
          <p:cNvPr id="317445" name="Object 5"/>
          <p:cNvGraphicFramePr>
            <a:graphicFrameLocks noChangeAspect="1"/>
          </p:cNvGraphicFramePr>
          <p:nvPr>
            <p:extLst>
              <p:ext uri="{D42A27DB-BD31-4B8C-83A1-F6EECF244321}">
                <p14:modId xmlns:p14="http://schemas.microsoft.com/office/powerpoint/2010/main" val="462332899"/>
              </p:ext>
            </p:extLst>
          </p:nvPr>
        </p:nvGraphicFramePr>
        <p:xfrm>
          <a:off x="974725" y="5029200"/>
          <a:ext cx="2925763" cy="1204913"/>
        </p:xfrm>
        <a:graphic>
          <a:graphicData uri="http://schemas.openxmlformats.org/presentationml/2006/ole">
            <mc:AlternateContent xmlns:mc="http://schemas.openxmlformats.org/markup-compatibility/2006">
              <mc:Choice xmlns:v="urn:schemas-microsoft-com:vml" Requires="v">
                <p:oleObj spid="_x0000_s116766" name="公式" r:id="rId4" imgW="1320480" imgH="545760" progId="Equation.3">
                  <p:embed/>
                </p:oleObj>
              </mc:Choice>
              <mc:Fallback>
                <p:oleObj name="公式" r:id="rId4" imgW="1320480" imgH="545760" progId="Equation.3">
                  <p:embed/>
                  <p:pic>
                    <p:nvPicPr>
                      <p:cNvPr id="31744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4725" y="5029200"/>
                        <a:ext cx="2925763" cy="1204913"/>
                      </a:xfrm>
                      <a:prstGeom prst="rect">
                        <a:avLst/>
                      </a:prstGeom>
                      <a:solidFill>
                        <a:srgbClr val="FFFFCC"/>
                      </a:solidFill>
                      <a:ln w="9525">
                        <a:solidFill>
                          <a:schemeClr val="tx1"/>
                        </a:solidFill>
                        <a:miter lim="800000"/>
                        <a:headEnd/>
                        <a:tailEnd/>
                      </a:ln>
                    </p:spPr>
                  </p:pic>
                </p:oleObj>
              </mc:Fallback>
            </mc:AlternateContent>
          </a:graphicData>
        </a:graphic>
      </p:graphicFrame>
      <p:sp>
        <p:nvSpPr>
          <p:cNvPr id="317447" name="Text Box 7"/>
          <p:cNvSpPr txBox="1">
            <a:spLocks noChangeArrowheads="1"/>
          </p:cNvSpPr>
          <p:nvPr/>
        </p:nvSpPr>
        <p:spPr bwMode="auto">
          <a:xfrm>
            <a:off x="533400" y="1981200"/>
            <a:ext cx="3733800" cy="946150"/>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Early</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电压</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的值通常在</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100~300V</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之间</a:t>
            </a:r>
          </a:p>
        </p:txBody>
      </p:sp>
      <p:sp>
        <p:nvSpPr>
          <p:cNvPr id="317450" name="Text Box 10"/>
          <p:cNvSpPr txBox="1">
            <a:spLocks noChangeArrowheads="1"/>
          </p:cNvSpPr>
          <p:nvPr/>
        </p:nvSpPr>
        <p:spPr bwMode="auto">
          <a:xfrm>
            <a:off x="4419600" y="5257800"/>
            <a:ext cx="4419600" cy="1031051"/>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影响</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值的因素：</a:t>
            </a: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CB</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和晶体管的制造工艺</a:t>
            </a:r>
          </a:p>
        </p:txBody>
      </p:sp>
    </p:spTree>
    <p:extLst>
      <p:ext uri="{BB962C8B-B14F-4D97-AF65-F5344CB8AC3E}">
        <p14:creationId xmlns:p14="http://schemas.microsoft.com/office/powerpoint/2010/main" val="8339802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01BD9E-4907-47B8-836D-F0B364868BF2}"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5394" name="Text Box 2"/>
          <p:cNvSpPr txBox="1">
            <a:spLocks noChangeArrowheads="1"/>
          </p:cNvSpPr>
          <p:nvPr/>
        </p:nvSpPr>
        <p:spPr bwMode="auto">
          <a:xfrm>
            <a:off x="609600" y="623888"/>
            <a:ext cx="6492875" cy="51911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进一步推导</a:t>
            </a: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的表达式： </a:t>
            </a:r>
          </a:p>
        </p:txBody>
      </p:sp>
      <p:graphicFrame>
        <p:nvGraphicFramePr>
          <p:cNvPr id="315395" name="Object 3"/>
          <p:cNvGraphicFramePr>
            <a:graphicFrameLocks noChangeAspect="1"/>
          </p:cNvGraphicFramePr>
          <p:nvPr>
            <p:extLst>
              <p:ext uri="{D42A27DB-BD31-4B8C-83A1-F6EECF244321}">
                <p14:modId xmlns:p14="http://schemas.microsoft.com/office/powerpoint/2010/main" val="1358506972"/>
              </p:ext>
            </p:extLst>
          </p:nvPr>
        </p:nvGraphicFramePr>
        <p:xfrm>
          <a:off x="1371600" y="1943100"/>
          <a:ext cx="1843088" cy="922338"/>
        </p:xfrm>
        <a:graphic>
          <a:graphicData uri="http://schemas.openxmlformats.org/presentationml/2006/ole">
            <mc:AlternateContent xmlns:mc="http://schemas.openxmlformats.org/markup-compatibility/2006">
              <mc:Choice xmlns:v="urn:schemas-microsoft-com:vml" Requires="v">
                <p:oleObj spid="_x0000_s117902" name="公式" r:id="rId3" imgW="838200" imgH="419100" progId="Equation.3">
                  <p:embed/>
                </p:oleObj>
              </mc:Choice>
              <mc:Fallback>
                <p:oleObj name="公式" r:id="rId3" imgW="838200" imgH="419100" progId="Equation.3">
                  <p:embed/>
                  <p:pic>
                    <p:nvPicPr>
                      <p:cNvPr id="31539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943100"/>
                        <a:ext cx="1843088"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5397" name="Object 5"/>
          <p:cNvGraphicFramePr>
            <a:graphicFrameLocks noChangeAspect="1"/>
          </p:cNvGraphicFramePr>
          <p:nvPr>
            <p:extLst>
              <p:ext uri="{D42A27DB-BD31-4B8C-83A1-F6EECF244321}">
                <p14:modId xmlns:p14="http://schemas.microsoft.com/office/powerpoint/2010/main" val="3544062609"/>
              </p:ext>
            </p:extLst>
          </p:nvPr>
        </p:nvGraphicFramePr>
        <p:xfrm>
          <a:off x="4495800" y="1943100"/>
          <a:ext cx="3021013" cy="952500"/>
        </p:xfrm>
        <a:graphic>
          <a:graphicData uri="http://schemas.openxmlformats.org/presentationml/2006/ole">
            <mc:AlternateContent xmlns:mc="http://schemas.openxmlformats.org/markup-compatibility/2006">
              <mc:Choice xmlns:v="urn:schemas-microsoft-com:vml" Requires="v">
                <p:oleObj spid="_x0000_s117903" name="公式" r:id="rId5" imgW="1358640" imgH="431640" progId="Equation.3">
                  <p:embed/>
                </p:oleObj>
              </mc:Choice>
              <mc:Fallback>
                <p:oleObj name="公式" r:id="rId5" imgW="1358640" imgH="431640" progId="Equation.3">
                  <p:embed/>
                  <p:pic>
                    <p:nvPicPr>
                      <p:cNvPr id="31539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943100"/>
                        <a:ext cx="3021013"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5399" name="Object 7"/>
          <p:cNvGraphicFramePr>
            <a:graphicFrameLocks noChangeAspect="1"/>
          </p:cNvGraphicFramePr>
          <p:nvPr>
            <p:extLst>
              <p:ext uri="{D42A27DB-BD31-4B8C-83A1-F6EECF244321}">
                <p14:modId xmlns:p14="http://schemas.microsoft.com/office/powerpoint/2010/main" val="2158343506"/>
              </p:ext>
            </p:extLst>
          </p:nvPr>
        </p:nvGraphicFramePr>
        <p:xfrm>
          <a:off x="4953000" y="242888"/>
          <a:ext cx="2925763" cy="1204912"/>
        </p:xfrm>
        <a:graphic>
          <a:graphicData uri="http://schemas.openxmlformats.org/presentationml/2006/ole">
            <mc:AlternateContent xmlns:mc="http://schemas.openxmlformats.org/markup-compatibility/2006">
              <mc:Choice xmlns:v="urn:schemas-microsoft-com:vml" Requires="v">
                <p:oleObj spid="_x0000_s117904" name="公式" r:id="rId7" imgW="1320480" imgH="545760" progId="Equation.3">
                  <p:embed/>
                </p:oleObj>
              </mc:Choice>
              <mc:Fallback>
                <p:oleObj name="公式" r:id="rId7" imgW="1320480" imgH="545760" progId="Equation.3">
                  <p:embed/>
                  <p:pic>
                    <p:nvPicPr>
                      <p:cNvPr id="315399"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242888"/>
                        <a:ext cx="2925763" cy="1204912"/>
                      </a:xfrm>
                      <a:prstGeom prst="rect">
                        <a:avLst/>
                      </a:prstGeom>
                      <a:solidFill>
                        <a:srgbClr val="FFFFCC"/>
                      </a:solidFill>
                      <a:ln w="9525">
                        <a:solidFill>
                          <a:schemeClr val="tx1"/>
                        </a:solidFill>
                        <a:miter lim="800000"/>
                        <a:headEnd/>
                        <a:tailEnd/>
                      </a:ln>
                    </p:spPr>
                  </p:pic>
                </p:oleObj>
              </mc:Fallback>
            </mc:AlternateContent>
          </a:graphicData>
        </a:graphic>
      </p:graphicFrame>
      <p:graphicFrame>
        <p:nvGraphicFramePr>
          <p:cNvPr id="315404" name="Object 12"/>
          <p:cNvGraphicFramePr>
            <a:graphicFrameLocks noChangeAspect="1"/>
          </p:cNvGraphicFramePr>
          <p:nvPr>
            <p:extLst>
              <p:ext uri="{D42A27DB-BD31-4B8C-83A1-F6EECF244321}">
                <p14:modId xmlns:p14="http://schemas.microsoft.com/office/powerpoint/2010/main" val="94525798"/>
              </p:ext>
            </p:extLst>
          </p:nvPr>
        </p:nvGraphicFramePr>
        <p:xfrm>
          <a:off x="1371600" y="3360738"/>
          <a:ext cx="1598613" cy="1058862"/>
        </p:xfrm>
        <a:graphic>
          <a:graphicData uri="http://schemas.openxmlformats.org/presentationml/2006/ole">
            <mc:AlternateContent xmlns:mc="http://schemas.openxmlformats.org/markup-compatibility/2006">
              <mc:Choice xmlns:v="urn:schemas-microsoft-com:vml" Requires="v">
                <p:oleObj spid="_x0000_s117905" name="公式" r:id="rId9" imgW="736600" imgH="482600" progId="Equation.3">
                  <p:embed/>
                </p:oleObj>
              </mc:Choice>
              <mc:Fallback>
                <p:oleObj name="公式" r:id="rId9" imgW="736600" imgH="482600" progId="Equation.3">
                  <p:embed/>
                  <p:pic>
                    <p:nvPicPr>
                      <p:cNvPr id="315404"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3360738"/>
                        <a:ext cx="1598613" cy="1058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5406" name="Text Box 14"/>
          <p:cNvSpPr txBox="1">
            <a:spLocks noChangeArrowheads="1"/>
          </p:cNvSpPr>
          <p:nvPr/>
        </p:nvSpPr>
        <p:spPr bwMode="auto">
          <a:xfrm>
            <a:off x="4191000" y="3436938"/>
            <a:ext cx="3581400"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jc</a:t>
            </a: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单位面积集</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电结小信号电容</a:t>
            </a:r>
          </a:p>
        </p:txBody>
      </p:sp>
      <p:graphicFrame>
        <p:nvGraphicFramePr>
          <p:cNvPr id="315407" name="Object 15"/>
          <p:cNvGraphicFramePr>
            <a:graphicFrameLocks noChangeAspect="1"/>
          </p:cNvGraphicFramePr>
          <p:nvPr>
            <p:extLst>
              <p:ext uri="{D42A27DB-BD31-4B8C-83A1-F6EECF244321}">
                <p14:modId xmlns:p14="http://schemas.microsoft.com/office/powerpoint/2010/main" val="2220642472"/>
              </p:ext>
            </p:extLst>
          </p:nvPr>
        </p:nvGraphicFramePr>
        <p:xfrm>
          <a:off x="1371600" y="4876800"/>
          <a:ext cx="1331913" cy="977900"/>
        </p:xfrm>
        <a:graphic>
          <a:graphicData uri="http://schemas.openxmlformats.org/presentationml/2006/ole">
            <mc:AlternateContent xmlns:mc="http://schemas.openxmlformats.org/markup-compatibility/2006">
              <mc:Choice xmlns:v="urn:schemas-microsoft-com:vml" Requires="v">
                <p:oleObj spid="_x0000_s117906" name="公式" r:id="rId11" imgW="609336" imgH="444307" progId="Equation.3">
                  <p:embed/>
                </p:oleObj>
              </mc:Choice>
              <mc:Fallback>
                <p:oleObj name="公式" r:id="rId11" imgW="609336" imgH="444307" progId="Equation.3">
                  <p:embed/>
                  <p:pic>
                    <p:nvPicPr>
                      <p:cNvPr id="315407"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4876800"/>
                        <a:ext cx="1331913" cy="977900"/>
                      </a:xfrm>
                      <a:prstGeom prst="rect">
                        <a:avLst/>
                      </a:prstGeom>
                      <a:solidFill>
                        <a:srgbClr val="FFFFCC"/>
                      </a:solidFill>
                      <a:ln w="9525">
                        <a:solidFill>
                          <a:schemeClr val="tx1"/>
                        </a:solidFill>
                        <a:miter lim="800000"/>
                        <a:headEnd/>
                        <a:tailEnd/>
                      </a:ln>
                    </p:spPr>
                  </p:pic>
                </p:oleObj>
              </mc:Fallback>
            </mc:AlternateContent>
          </a:graphicData>
        </a:graphic>
      </p:graphicFrame>
      <p:sp>
        <p:nvSpPr>
          <p:cNvPr id="315409" name="Text Box 17"/>
          <p:cNvSpPr txBox="1">
            <a:spLocks noChangeArrowheads="1"/>
          </p:cNvSpPr>
          <p:nvPr/>
        </p:nvSpPr>
        <p:spPr bwMode="auto">
          <a:xfrm>
            <a:off x="3352800" y="4876800"/>
            <a:ext cx="4679950" cy="153888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思考：</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如何提高</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Early</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电压</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120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基区宽度？基区掺杂浓度？集电区掺杂浓度？</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6449711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3310DE3-D3BA-49CA-9A4F-BB10800087FD}"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5986" name="Rectangle 2"/>
          <p:cNvSpPr>
            <a:spLocks noGrp="1" noChangeArrowheads="1"/>
          </p:cNvSpPr>
          <p:nvPr>
            <p:ph type="title"/>
          </p:nvPr>
        </p:nvSpPr>
        <p:spPr bwMode="auto">
          <a:xfrm>
            <a:off x="457200" y="274638"/>
            <a:ext cx="3581400" cy="1096962"/>
          </a:xfrm>
          <a:noFill/>
          <a:ln>
            <a:miter lim="800000"/>
            <a:headEnd/>
            <a:tailEnd/>
          </a:ln>
        </p:spPr>
        <p:txBody>
          <a:bodyPr vert="horz" wrap="square" lIns="91440" tIns="45720" rIns="91440" bIns="45720" numCol="1" anchor="t" anchorCtr="0" compatLnSpc="1">
            <a:prstTxWarp prst="textNoShape">
              <a:avLst/>
            </a:prstTxWarp>
          </a:bodyPr>
          <a:lstStyle/>
          <a:p>
            <a:pPr algn="l"/>
            <a:r>
              <a:rPr kumimoji="1" lang="en-US" altLang="zh-CN" kern="1200" dirty="0">
                <a:solidFill>
                  <a:srgbClr val="D96227"/>
                </a:solidFill>
                <a:ea typeface="宋体" pitchFamily="2" charset="-122"/>
              </a:rPr>
              <a:t>2</a:t>
            </a:r>
            <a:r>
              <a:rPr kumimoji="1" lang="zh-CN" altLang="en-US" kern="1200" dirty="0">
                <a:solidFill>
                  <a:srgbClr val="D96227"/>
                </a:solidFill>
                <a:ea typeface="宋体" pitchFamily="2" charset="-122"/>
              </a:rPr>
              <a:t>）</a:t>
            </a:r>
            <a:r>
              <a:rPr kumimoji="1" lang="en-US" altLang="zh-CN" kern="1200" dirty="0">
                <a:solidFill>
                  <a:srgbClr val="D96227"/>
                </a:solidFill>
                <a:ea typeface="宋体" pitchFamily="2" charset="-122"/>
              </a:rPr>
              <a:t> </a:t>
            </a:r>
            <a:r>
              <a:rPr kumimoji="1" lang="zh-CN" altLang="en-US" kern="1200" dirty="0">
                <a:solidFill>
                  <a:srgbClr val="D96227"/>
                </a:solidFill>
                <a:ea typeface="宋体" pitchFamily="2" charset="-122"/>
              </a:rPr>
              <a:t>发射结低偏置效应和高偏置效应</a:t>
            </a:r>
          </a:p>
        </p:txBody>
      </p:sp>
      <p:pic>
        <p:nvPicPr>
          <p:cNvPr id="425988" name="Picture 4" descr="w0197-n"/>
          <p:cNvPicPr>
            <a:picLocks noChangeAspect="1" noChangeArrowheads="1"/>
          </p:cNvPicPr>
          <p:nvPr/>
        </p:nvPicPr>
        <p:blipFill>
          <a:blip r:embed="rId2" cstate="print"/>
          <a:srcRect/>
          <a:stretch>
            <a:fillRect/>
          </a:stretch>
        </p:blipFill>
        <p:spPr bwMode="auto">
          <a:xfrm>
            <a:off x="4419600" y="152400"/>
            <a:ext cx="4489450" cy="6553200"/>
          </a:xfrm>
          <a:prstGeom prst="rect">
            <a:avLst/>
          </a:prstGeom>
          <a:noFill/>
          <a:ln w="9525">
            <a:noFill/>
            <a:miter lim="800000"/>
            <a:headEnd/>
            <a:tailEnd/>
          </a:ln>
        </p:spPr>
      </p:pic>
      <p:sp>
        <p:nvSpPr>
          <p:cNvPr id="425989" name="Text Box 5"/>
          <p:cNvSpPr txBox="1">
            <a:spLocks noChangeArrowheads="1"/>
          </p:cNvSpPr>
          <p:nvPr/>
        </p:nvSpPr>
        <p:spPr bwMode="auto">
          <a:xfrm>
            <a:off x="609600" y="3429000"/>
            <a:ext cx="3292475" cy="163036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30000"/>
              </a:spcBef>
              <a:spcAft>
                <a:spcPct val="0"/>
              </a:spcAft>
              <a:buClrTx/>
              <a:buSzTx/>
              <a:buFontTx/>
              <a:buChar char="•"/>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中等</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电流区</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30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发射结低偏置区</a:t>
            </a:r>
          </a:p>
          <a:p>
            <a:pPr marL="0" marR="0" lvl="0" indent="0" algn="l" defTabSz="914400" rtl="0" eaLnBrk="1" fontAlgn="base" latinLnBrk="0" hangingPunct="1">
              <a:lnSpc>
                <a:spcPct val="100000"/>
              </a:lnSpc>
              <a:spcBef>
                <a:spcPct val="30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发射结高偏置区</a:t>
            </a:r>
          </a:p>
        </p:txBody>
      </p:sp>
      <p:sp>
        <p:nvSpPr>
          <p:cNvPr id="425990" name="Rectangle 6"/>
          <p:cNvSpPr>
            <a:spLocks noChangeArrowheads="1"/>
          </p:cNvSpPr>
          <p:nvPr/>
        </p:nvSpPr>
        <p:spPr bwMode="auto">
          <a:xfrm>
            <a:off x="914400" y="2133600"/>
            <a:ext cx="2286000"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Gummel</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图</a:t>
            </a:r>
          </a:p>
        </p:txBody>
      </p:sp>
    </p:spTree>
    <p:extLst>
      <p:ext uri="{BB962C8B-B14F-4D97-AF65-F5344CB8AC3E}">
        <p14:creationId xmlns:p14="http://schemas.microsoft.com/office/powerpoint/2010/main" val="172687351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BA9AFC-701A-47BA-9239-33BA7E64DDC6}"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1346" name="Rectangle 2"/>
          <p:cNvSpPr>
            <a:spLocks noGrp="1" noChangeArrowheads="1"/>
          </p:cNvSpPr>
          <p:nvPr>
            <p:ph type="title"/>
          </p:nvPr>
        </p:nvSpPr>
        <p:spPr bwMode="auto">
          <a:xfrm>
            <a:off x="252000" y="252000"/>
            <a:ext cx="8229600" cy="586200"/>
          </a:xfrm>
          <a:noFill/>
          <a:ln>
            <a:miter lim="800000"/>
            <a:headEnd/>
            <a:tailEnd/>
          </a:ln>
        </p:spPr>
        <p:txBody>
          <a:bodyPr vert="horz" wrap="square" lIns="91440" tIns="45720" rIns="91440" bIns="45720" numCol="1" anchor="t" anchorCtr="0" compatLnSpc="1">
            <a:prstTxWarp prst="textNoShape">
              <a:avLst/>
            </a:prstTxWarp>
          </a:bodyPr>
          <a:lstStyle/>
          <a:p>
            <a:pPr algn="l"/>
            <a:r>
              <a:rPr kumimoji="1" lang="zh-CN" altLang="en-US" kern="1200" dirty="0">
                <a:solidFill>
                  <a:srgbClr val="D96227"/>
                </a:solidFill>
                <a:ea typeface="宋体" panose="02010600030101010101" pitchFamily="2" charset="-122"/>
              </a:rPr>
              <a:t>发射结低偏置电流</a:t>
            </a:r>
          </a:p>
        </p:txBody>
      </p:sp>
      <p:graphicFrame>
        <p:nvGraphicFramePr>
          <p:cNvPr id="441348" name="Object 4"/>
          <p:cNvGraphicFramePr>
            <a:graphicFrameLocks noChangeAspect="1"/>
          </p:cNvGraphicFramePr>
          <p:nvPr>
            <p:extLst>
              <p:ext uri="{D42A27DB-BD31-4B8C-83A1-F6EECF244321}">
                <p14:modId xmlns:p14="http://schemas.microsoft.com/office/powerpoint/2010/main" val="2341663914"/>
              </p:ext>
            </p:extLst>
          </p:nvPr>
        </p:nvGraphicFramePr>
        <p:xfrm>
          <a:off x="1447800" y="990600"/>
          <a:ext cx="2555875" cy="950913"/>
        </p:xfrm>
        <a:graphic>
          <a:graphicData uri="http://schemas.openxmlformats.org/presentationml/2006/ole">
            <mc:AlternateContent xmlns:mc="http://schemas.openxmlformats.org/markup-compatibility/2006">
              <mc:Choice xmlns:v="urn:schemas-microsoft-com:vml" Requires="v">
                <p:oleObj spid="_x0000_s118815" name="公式" r:id="rId3" imgW="1155700" imgH="431800" progId="Equation.3">
                  <p:embed/>
                </p:oleObj>
              </mc:Choice>
              <mc:Fallback>
                <p:oleObj name="公式" r:id="rId3" imgW="1155700" imgH="431800" progId="Equation.3">
                  <p:embed/>
                  <p:pic>
                    <p:nvPicPr>
                      <p:cNvPr id="4413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990600"/>
                        <a:ext cx="2555875" cy="950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1349" name="Text Box 5"/>
          <p:cNvSpPr txBox="1">
            <a:spLocks noChangeArrowheads="1"/>
          </p:cNvSpPr>
          <p:nvPr/>
        </p:nvSpPr>
        <p:spPr bwMode="auto">
          <a:xfrm>
            <a:off x="4784725" y="1143000"/>
            <a:ext cx="39020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通常取</a:t>
            </a: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之间的值 </a:t>
            </a:r>
          </a:p>
        </p:txBody>
      </p:sp>
      <p:sp>
        <p:nvSpPr>
          <p:cNvPr id="441350" name="Text Box 6"/>
          <p:cNvSpPr txBox="1">
            <a:spLocks noChangeArrowheads="1"/>
          </p:cNvSpPr>
          <p:nvPr/>
        </p:nvSpPr>
        <p:spPr bwMode="auto">
          <a:xfrm>
            <a:off x="762000" y="2209800"/>
            <a:ext cx="8001000" cy="41052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35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偏离理想特性的原因：</a:t>
            </a:r>
          </a:p>
          <a:p>
            <a:pPr marL="0" marR="0" lvl="0" indent="0" algn="l" defTabSz="914400" rtl="0" eaLnBrk="1" fontAlgn="base" latinLnBrk="0" hangingPunct="1">
              <a:lnSpc>
                <a:spcPct val="100000"/>
              </a:lnSpc>
              <a:spcBef>
                <a:spcPct val="35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发射结空间电荷区复合</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电流</a:t>
            </a:r>
          </a:p>
          <a:p>
            <a:pPr marL="0" marR="0" lvl="0" indent="0" algn="l" defTabSz="914400" rtl="0" eaLnBrk="1" fontAlgn="base" latinLnBrk="0" hangingPunct="1">
              <a:lnSpc>
                <a:spcPct val="100000"/>
              </a:lnSpc>
              <a:spcBef>
                <a:spcPct val="35000"/>
              </a:spcBef>
              <a:spcAft>
                <a:spcPct val="0"/>
              </a:spcAft>
              <a:buClrTx/>
              <a:buSzTx/>
              <a:buFontTx/>
              <a:buChar char="•"/>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的取值在</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之间改变反映了空间电荷区复合电流对基极电流影响的程度。</a:t>
            </a:r>
          </a:p>
          <a:p>
            <a:pPr marL="0" marR="0" lvl="0" indent="0" algn="l" defTabSz="914400" rtl="0" eaLnBrk="1" fontAlgn="base" latinLnBrk="0" hangingPunct="1">
              <a:lnSpc>
                <a:spcPct val="100000"/>
              </a:lnSpc>
              <a:spcBef>
                <a:spcPct val="35000"/>
              </a:spcBef>
              <a:spcAft>
                <a:spcPct val="0"/>
              </a:spcAft>
              <a:buClrTx/>
              <a:buSzTx/>
              <a:buFontTx/>
              <a:buChar char="•"/>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随着偏置电压的减小，复合电流与注入到准中性区的电流相比，其重要性增加。</a:t>
            </a:r>
          </a:p>
          <a:p>
            <a:pPr marL="0" marR="0" lvl="0" indent="0" algn="l" defTabSz="914400" rtl="0" eaLnBrk="1" fontAlgn="base" latinLnBrk="0" hangingPunct="1">
              <a:lnSpc>
                <a:spcPct val="100000"/>
              </a:lnSpc>
              <a:spcBef>
                <a:spcPct val="35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发射结空间电荷区复合电流：影响</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，不会影响</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p>
        </p:txBody>
      </p:sp>
    </p:spTree>
    <p:extLst>
      <p:ext uri="{BB962C8B-B14F-4D97-AF65-F5344CB8AC3E}">
        <p14:creationId xmlns:p14="http://schemas.microsoft.com/office/powerpoint/2010/main" val="334759492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1EF8D26-EAD9-4004-B618-4BAE81F9EBFC}"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09250" name="Picture 2"/>
          <p:cNvPicPr>
            <a:picLocks noChangeAspect="1" noChangeArrowheads="1"/>
          </p:cNvPicPr>
          <p:nvPr/>
        </p:nvPicPr>
        <p:blipFill>
          <a:blip r:embed="rId2" cstate="print"/>
          <a:srcRect/>
          <a:stretch>
            <a:fillRect/>
          </a:stretch>
        </p:blipFill>
        <p:spPr bwMode="auto">
          <a:xfrm>
            <a:off x="100013" y="981075"/>
            <a:ext cx="5192712" cy="5732463"/>
          </a:xfrm>
          <a:prstGeom prst="rect">
            <a:avLst/>
          </a:prstGeom>
          <a:noFill/>
          <a:ln w="9525">
            <a:noFill/>
            <a:miter lim="800000"/>
            <a:headEnd/>
            <a:tailEnd/>
          </a:ln>
          <a:effectLst/>
        </p:spPr>
      </p:pic>
      <p:sp>
        <p:nvSpPr>
          <p:cNvPr id="309252" name="Rectangle 4"/>
          <p:cNvSpPr>
            <a:spLocks noChangeArrowheads="1"/>
          </p:cNvSpPr>
          <p:nvPr/>
        </p:nvSpPr>
        <p:spPr bwMode="auto">
          <a:xfrm>
            <a:off x="5364163" y="1412875"/>
            <a:ext cx="2736850" cy="1800225"/>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大注入时的集电极电流也趋于与</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exp</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qV</a:t>
            </a:r>
            <a:r>
              <a:rPr kumimoji="0"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BE</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成正比 </a:t>
            </a:r>
          </a:p>
        </p:txBody>
      </p:sp>
      <p:sp>
        <p:nvSpPr>
          <p:cNvPr id="309253" name="Rectangle 5"/>
          <p:cNvSpPr>
            <a:spLocks noChangeArrowheads="1"/>
          </p:cNvSpPr>
          <p:nvPr/>
        </p:nvSpPr>
        <p:spPr bwMode="auto">
          <a:xfrm>
            <a:off x="5364163" y="3573463"/>
            <a:ext cx="3600450" cy="265906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5000"/>
              </a:lnSpc>
              <a:spcBef>
                <a:spcPct val="3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大注入和小注入这两条直线的沿长线将交于一点。</a:t>
            </a:r>
          </a:p>
          <a:p>
            <a:pPr marL="0" marR="0" lvl="0" indent="0" algn="l" defTabSz="914400" rtl="0" eaLnBrk="1" fontAlgn="base" latinLnBrk="0" hangingPunct="1">
              <a:lnSpc>
                <a:spcPct val="95000"/>
              </a:lnSpc>
              <a:spcBef>
                <a:spcPct val="3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交点电流</a:t>
            </a:r>
            <a:r>
              <a:rPr kumimoji="1" lang="en-US" altLang="zh-CN" sz="2800" b="1" i="1" u="none" strike="noStrike" kern="120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800" b="1" i="1" u="none" strike="noStrike" kern="1200" cap="none" spc="0" normalizeH="0" baseline="-25000" noProof="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称为大注入临界电流</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膝点电流，</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knee current)</a:t>
            </a:r>
          </a:p>
        </p:txBody>
      </p:sp>
      <p:sp>
        <p:nvSpPr>
          <p:cNvPr id="7" name="Rectangle 2"/>
          <p:cNvSpPr txBox="1">
            <a:spLocks noChangeArrowheads="1"/>
          </p:cNvSpPr>
          <p:nvPr/>
        </p:nvSpPr>
        <p:spPr bwMode="auto">
          <a:xfrm>
            <a:off x="252000" y="252000"/>
            <a:ext cx="8229600" cy="563562"/>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defTabSz="914400"/>
            <a:r>
              <a:rPr kumimoji="1" lang="zh-CN" altLang="en-US" kern="1200" smtClean="0">
                <a:solidFill>
                  <a:srgbClr val="D96227"/>
                </a:solidFill>
                <a:ea typeface="宋体" panose="02010600030101010101" pitchFamily="2" charset="-122"/>
              </a:rPr>
              <a:t>大注入</a:t>
            </a:r>
            <a:endParaRPr kumimoji="1" lang="zh-CN" altLang="en-US" kern="1200" dirty="0">
              <a:solidFill>
                <a:srgbClr val="D96227"/>
              </a:solidFill>
              <a:ea typeface="宋体" panose="02010600030101010101" pitchFamily="2" charset="-122"/>
            </a:endParaRPr>
          </a:p>
        </p:txBody>
      </p:sp>
    </p:spTree>
    <p:extLst>
      <p:ext uri="{BB962C8B-B14F-4D97-AF65-F5344CB8AC3E}">
        <p14:creationId xmlns:p14="http://schemas.microsoft.com/office/powerpoint/2010/main" val="289983276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6353FF7-E416-4B23-900A-FA72CCF7CFED}"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07206" name="Picture 6" descr="w0198-n"/>
          <p:cNvPicPr>
            <a:picLocks noChangeAspect="1" noChangeArrowheads="1"/>
          </p:cNvPicPr>
          <p:nvPr/>
        </p:nvPicPr>
        <p:blipFill>
          <a:blip r:embed="rId2" cstate="print"/>
          <a:srcRect/>
          <a:stretch>
            <a:fillRect/>
          </a:stretch>
        </p:blipFill>
        <p:spPr bwMode="auto">
          <a:xfrm>
            <a:off x="1173192" y="2347912"/>
            <a:ext cx="6096000" cy="3897313"/>
          </a:xfrm>
          <a:prstGeom prst="rect">
            <a:avLst/>
          </a:prstGeom>
          <a:noFill/>
          <a:ln w="9525">
            <a:noFill/>
            <a:miter lim="800000"/>
            <a:headEnd/>
            <a:tailEnd/>
          </a:ln>
        </p:spPr>
      </p:pic>
      <p:sp>
        <p:nvSpPr>
          <p:cNvPr id="307205" name="Text Box 5"/>
          <p:cNvSpPr txBox="1">
            <a:spLocks noChangeArrowheads="1"/>
          </p:cNvSpPr>
          <p:nvPr/>
        </p:nvSpPr>
        <p:spPr bwMode="auto">
          <a:xfrm>
            <a:off x="685800" y="1193321"/>
            <a:ext cx="3728049" cy="523220"/>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大注入电流增益下降</a:t>
            </a:r>
          </a:p>
        </p:txBody>
      </p:sp>
      <p:sp>
        <p:nvSpPr>
          <p:cNvPr id="8" name="Text Box 3"/>
          <p:cNvSpPr txBox="1">
            <a:spLocks noChangeArrowheads="1"/>
          </p:cNvSpPr>
          <p:nvPr/>
        </p:nvSpPr>
        <p:spPr bwMode="auto">
          <a:xfrm>
            <a:off x="685800" y="457200"/>
            <a:ext cx="329247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低偏置区</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下降</a:t>
            </a:r>
          </a:p>
        </p:txBody>
      </p:sp>
    </p:spTree>
    <p:extLst>
      <p:ext uri="{BB962C8B-B14F-4D97-AF65-F5344CB8AC3E}">
        <p14:creationId xmlns:p14="http://schemas.microsoft.com/office/powerpoint/2010/main" val="246997245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B8CD26-97C6-4E4F-92A4-82E6F6EBC270}"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3154" name="Rectangle 2"/>
          <p:cNvSpPr>
            <a:spLocks noGrp="1" noChangeArrowheads="1"/>
          </p:cNvSpPr>
          <p:nvPr>
            <p:ph type="title"/>
          </p:nvPr>
        </p:nvSpPr>
        <p:spPr bwMode="auto">
          <a:xfrm>
            <a:off x="457200" y="274638"/>
            <a:ext cx="8229600" cy="639762"/>
          </a:xfrm>
          <a:noFill/>
          <a:ln>
            <a:miter lim="800000"/>
            <a:headEnd/>
            <a:tailEnd/>
          </a:ln>
        </p:spPr>
        <p:txBody>
          <a:bodyPr vert="horz" wrap="square" lIns="91440" tIns="45720" rIns="91440" bIns="45720" numCol="1" anchor="t" anchorCtr="0" compatLnSpc="1">
            <a:prstTxWarp prst="textNoShape">
              <a:avLst/>
            </a:prstTxWarp>
          </a:bodyPr>
          <a:lstStyle/>
          <a:p>
            <a:pPr algn="l"/>
            <a:r>
              <a:rPr kumimoji="1" lang="zh-CN" altLang="en-US" kern="1200" dirty="0">
                <a:solidFill>
                  <a:srgbClr val="D96227"/>
                </a:solidFill>
                <a:ea typeface="宋体" panose="02010600030101010101" pitchFamily="2" charset="-122"/>
              </a:rPr>
              <a:t>基区电阻</a:t>
            </a:r>
          </a:p>
        </p:txBody>
      </p:sp>
      <p:pic>
        <p:nvPicPr>
          <p:cNvPr id="433156" name="Picture 4" descr="w0203-n"/>
          <p:cNvPicPr>
            <a:picLocks noChangeAspect="1" noChangeArrowheads="1"/>
          </p:cNvPicPr>
          <p:nvPr/>
        </p:nvPicPr>
        <p:blipFill>
          <a:blip r:embed="rId2" cstate="print"/>
          <a:srcRect/>
          <a:stretch>
            <a:fillRect/>
          </a:stretch>
        </p:blipFill>
        <p:spPr bwMode="auto">
          <a:xfrm>
            <a:off x="304800" y="1143000"/>
            <a:ext cx="8686800" cy="3271838"/>
          </a:xfrm>
          <a:prstGeom prst="rect">
            <a:avLst/>
          </a:prstGeom>
          <a:noFill/>
          <a:ln w="9525">
            <a:noFill/>
            <a:miter lim="800000"/>
            <a:headEnd/>
            <a:tailEnd/>
          </a:ln>
        </p:spPr>
      </p:pic>
      <p:sp>
        <p:nvSpPr>
          <p:cNvPr id="433157" name="Text Box 5"/>
          <p:cNvSpPr txBox="1">
            <a:spLocks noChangeArrowheads="1"/>
          </p:cNvSpPr>
          <p:nvPr/>
        </p:nvSpPr>
        <p:spPr bwMode="auto">
          <a:xfrm>
            <a:off x="517525" y="5172075"/>
            <a:ext cx="82454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晶体管的基区很薄，典型值不到一微米，因此从基极电极到发射结的电阻是相当大的 </a:t>
            </a:r>
          </a:p>
        </p:txBody>
      </p:sp>
    </p:spTree>
    <p:extLst>
      <p:ext uri="{BB962C8B-B14F-4D97-AF65-F5344CB8AC3E}">
        <p14:creationId xmlns:p14="http://schemas.microsoft.com/office/powerpoint/2010/main" val="197903651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ABE253-5784-448A-A3E8-6C95206EC468}"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06178" name="Picture 2" descr="w0204-n"/>
          <p:cNvPicPr>
            <a:picLocks noChangeAspect="1" noChangeArrowheads="1"/>
          </p:cNvPicPr>
          <p:nvPr/>
        </p:nvPicPr>
        <p:blipFill>
          <a:blip r:embed="rId3" cstate="print"/>
          <a:srcRect/>
          <a:stretch>
            <a:fillRect/>
          </a:stretch>
        </p:blipFill>
        <p:spPr bwMode="auto">
          <a:xfrm>
            <a:off x="228600" y="450850"/>
            <a:ext cx="4578350" cy="6178550"/>
          </a:xfrm>
          <a:prstGeom prst="rect">
            <a:avLst/>
          </a:prstGeom>
          <a:noFill/>
          <a:ln w="9525">
            <a:noFill/>
            <a:miter lim="800000"/>
            <a:headEnd/>
            <a:tailEnd/>
          </a:ln>
        </p:spPr>
      </p:pic>
      <p:graphicFrame>
        <p:nvGraphicFramePr>
          <p:cNvPr id="306179" name="Object 3"/>
          <p:cNvGraphicFramePr>
            <a:graphicFrameLocks noChangeAspect="1"/>
          </p:cNvGraphicFramePr>
          <p:nvPr>
            <p:extLst>
              <p:ext uri="{D42A27DB-BD31-4B8C-83A1-F6EECF244321}">
                <p14:modId xmlns:p14="http://schemas.microsoft.com/office/powerpoint/2010/main" val="3551533376"/>
              </p:ext>
            </p:extLst>
          </p:nvPr>
        </p:nvGraphicFramePr>
        <p:xfrm>
          <a:off x="5029200" y="304800"/>
          <a:ext cx="3778250" cy="949325"/>
        </p:xfrm>
        <a:graphic>
          <a:graphicData uri="http://schemas.openxmlformats.org/presentationml/2006/ole">
            <mc:AlternateContent xmlns:mc="http://schemas.openxmlformats.org/markup-compatibility/2006">
              <mc:Choice xmlns:v="urn:schemas-microsoft-com:vml" Requires="v">
                <p:oleObj spid="_x0000_s128030" name="公式" r:id="rId4" imgW="1701800" imgH="431800" progId="Equation.3">
                  <p:embed/>
                </p:oleObj>
              </mc:Choice>
              <mc:Fallback>
                <p:oleObj name="公式" r:id="rId4" imgW="1701800" imgH="431800" progId="Equation.3">
                  <p:embed/>
                  <p:pic>
                    <p:nvPicPr>
                      <p:cNvPr id="30617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04800"/>
                        <a:ext cx="3778250"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6181" name="Text Box 5"/>
          <p:cNvSpPr txBox="1">
            <a:spLocks noChangeArrowheads="1"/>
          </p:cNvSpPr>
          <p:nvPr/>
        </p:nvSpPr>
        <p:spPr bwMode="auto">
          <a:xfrm>
            <a:off x="5293683" y="1745220"/>
            <a:ext cx="3597275" cy="104028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基区分布电阻</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增大，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将</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减小</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06182" name="Picture 6" descr="w0205-n"/>
          <p:cNvPicPr>
            <a:picLocks noChangeAspect="1" noChangeArrowheads="1"/>
          </p:cNvPicPr>
          <p:nvPr/>
        </p:nvPicPr>
        <p:blipFill>
          <a:blip r:embed="rId6" cstate="print"/>
          <a:srcRect/>
          <a:stretch>
            <a:fillRect/>
          </a:stretch>
        </p:blipFill>
        <p:spPr bwMode="auto">
          <a:xfrm>
            <a:off x="5029200" y="3276600"/>
            <a:ext cx="3581400" cy="3432175"/>
          </a:xfrm>
          <a:prstGeom prst="rect">
            <a:avLst/>
          </a:prstGeom>
          <a:noFill/>
          <a:ln w="9525">
            <a:noFill/>
            <a:miter lim="800000"/>
            <a:headEnd/>
            <a:tailEnd/>
          </a:ln>
        </p:spPr>
      </p:pic>
    </p:spTree>
    <p:extLst>
      <p:ext uri="{BB962C8B-B14F-4D97-AF65-F5344CB8AC3E}">
        <p14:creationId xmlns:p14="http://schemas.microsoft.com/office/powerpoint/2010/main" val="396729533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82" name="Picture 2"/>
          <p:cNvPicPr>
            <a:picLocks noChangeAspect="1" noChangeArrowheads="1"/>
          </p:cNvPicPr>
          <p:nvPr/>
        </p:nvPicPr>
        <p:blipFill>
          <a:blip r:embed="rId2" cstate="print"/>
          <a:srcRect/>
          <a:stretch>
            <a:fillRect/>
          </a:stretch>
        </p:blipFill>
        <p:spPr bwMode="auto">
          <a:xfrm>
            <a:off x="2152650" y="133350"/>
            <a:ext cx="6838950" cy="4972050"/>
          </a:xfrm>
          <a:prstGeom prst="rect">
            <a:avLst/>
          </a:prstGeom>
          <a:noFill/>
          <a:ln w="9525">
            <a:noFill/>
            <a:miter lim="800000"/>
            <a:headEnd/>
            <a:tailEnd/>
          </a:ln>
        </p:spPr>
      </p:pic>
      <p:sp>
        <p:nvSpPr>
          <p:cNvPr id="2" name="标题 1"/>
          <p:cNvSpPr>
            <a:spLocks noGrp="1"/>
          </p:cNvSpPr>
          <p:nvPr>
            <p:ph type="title"/>
          </p:nvPr>
        </p:nvSpPr>
        <p:spPr/>
        <p:txBody>
          <a:bodyPr/>
          <a:lstStyle/>
          <a:p>
            <a:r>
              <a:rPr kumimoji="1" lang="en-US" altLang="zh-CN" kern="1200" dirty="0" smtClean="0">
                <a:solidFill>
                  <a:srgbClr val="D96227"/>
                </a:solidFill>
                <a:ea typeface="宋体" panose="02010600030101010101" pitchFamily="2" charset="-122"/>
              </a:rPr>
              <a:t>3</a:t>
            </a:r>
            <a:r>
              <a:rPr kumimoji="1" lang="zh-CN" altLang="en-US" kern="1200" dirty="0" smtClean="0">
                <a:solidFill>
                  <a:srgbClr val="D96227"/>
                </a:solidFill>
                <a:ea typeface="宋体" panose="02010600030101010101" pitchFamily="2" charset="-122"/>
              </a:rPr>
              <a:t>）</a:t>
            </a:r>
            <a:r>
              <a:rPr kumimoji="1" lang="en-US" altLang="zh-CN" kern="1200" dirty="0" smtClean="0">
                <a:solidFill>
                  <a:srgbClr val="D96227"/>
                </a:solidFill>
                <a:ea typeface="宋体" panose="02010600030101010101" pitchFamily="2" charset="-122"/>
              </a:rPr>
              <a:t> </a:t>
            </a:r>
            <a:r>
              <a:rPr kumimoji="1" lang="zh-CN" altLang="en-US" kern="1200" dirty="0" smtClean="0">
                <a:solidFill>
                  <a:srgbClr val="D96227"/>
                </a:solidFill>
                <a:ea typeface="宋体" panose="02010600030101010101" pitchFamily="2" charset="-122"/>
              </a:rPr>
              <a:t>击穿</a:t>
            </a:r>
            <a:r>
              <a:rPr kumimoji="1" lang="zh-CN" altLang="en-US" kern="1200" dirty="0">
                <a:solidFill>
                  <a:srgbClr val="D96227"/>
                </a:solidFill>
                <a:ea typeface="宋体" panose="02010600030101010101" pitchFamily="2" charset="-122"/>
              </a:rPr>
              <a:t>特性</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69CFAA-7DF8-4E5A-9C5B-04EA40C80552}"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Text Box 4"/>
          <p:cNvSpPr txBox="1">
            <a:spLocks noChangeArrowheads="1"/>
          </p:cNvSpPr>
          <p:nvPr/>
        </p:nvSpPr>
        <p:spPr bwMode="auto">
          <a:xfrm>
            <a:off x="381000" y="2743200"/>
            <a:ext cx="4114800" cy="3668697"/>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1500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① 基区穿通</a:t>
            </a:r>
            <a:endPar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15000"/>
              </a:spcBef>
              <a:spcAft>
                <a:spcPct val="0"/>
              </a:spcAft>
              <a:buClrTx/>
              <a:buSzTx/>
              <a:buFont typeface="Arial" pitchFamily="34" charset="0"/>
              <a:buChar char="•"/>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实线</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：正常放大偏置下的导带边能带</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图</a:t>
            </a:r>
            <a:endPar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1500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虚线</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：集电结偏压很高，整个基区中的可动载流子全部耗尽，导致基区穿通，并导致发射结电子势垒下降了</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305694910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655EDF0-4165-40FC-B70A-0C00A1F6B0BC}"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99010" name="Picture 2"/>
          <p:cNvPicPr>
            <a:picLocks noChangeAspect="1" noChangeArrowheads="1"/>
          </p:cNvPicPr>
          <p:nvPr/>
        </p:nvPicPr>
        <p:blipFill>
          <a:blip r:embed="rId2" cstate="print"/>
          <a:srcRect/>
          <a:stretch>
            <a:fillRect/>
          </a:stretch>
        </p:blipFill>
        <p:spPr bwMode="auto">
          <a:xfrm>
            <a:off x="762000" y="228600"/>
            <a:ext cx="5562600" cy="4133850"/>
          </a:xfrm>
          <a:prstGeom prst="rect">
            <a:avLst/>
          </a:prstGeom>
          <a:noFill/>
          <a:ln w="9525">
            <a:noFill/>
            <a:miter lim="800000"/>
            <a:headEnd/>
            <a:tailEnd/>
          </a:ln>
          <a:effectLst/>
        </p:spPr>
      </p:pic>
      <p:sp>
        <p:nvSpPr>
          <p:cNvPr id="299011" name="Text Box 3"/>
          <p:cNvSpPr txBox="1">
            <a:spLocks noChangeArrowheads="1"/>
          </p:cNvSpPr>
          <p:nvPr/>
        </p:nvSpPr>
        <p:spPr bwMode="auto">
          <a:xfrm>
            <a:off x="3352800" y="4953000"/>
            <a:ext cx="4545013" cy="10318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穿通之前：基区扩散流限制</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穿通之后：电流限制机制？</a:t>
            </a:r>
          </a:p>
        </p:txBody>
      </p:sp>
    </p:spTree>
    <p:extLst>
      <p:ext uri="{BB962C8B-B14F-4D97-AF65-F5344CB8AC3E}">
        <p14:creationId xmlns:p14="http://schemas.microsoft.com/office/powerpoint/2010/main" val="97341337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4610C3B-4895-48DE-B858-4974268A5404}" type="slidenum">
              <a:rPr kumimoji="0"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Rectangle 6"/>
          <p:cNvSpPr>
            <a:spLocks noChangeArrowheads="1"/>
          </p:cNvSpPr>
          <p:nvPr/>
        </p:nvSpPr>
        <p:spPr bwMode="auto">
          <a:xfrm>
            <a:off x="457200" y="206375"/>
            <a:ext cx="8166100" cy="3375025"/>
          </a:xfrm>
          <a:prstGeom prst="rect">
            <a:avLst/>
          </a:prstGeom>
          <a:noFill/>
          <a:ln w="9525">
            <a:noFill/>
            <a:miter lim="800000"/>
            <a:headEnd/>
            <a:tailEnd/>
          </a:ln>
          <a:effectLst/>
        </p:spPr>
        <p:txBody>
          <a:bodyPr/>
          <a:lstStyle/>
          <a:p>
            <a:pPr marL="342900" marR="0" lvl="0" indent="-342900" algn="l" defTabSz="914400" rtl="0" eaLnBrk="1" fontAlgn="base" latinLnBrk="0" hangingPunct="1">
              <a:lnSpc>
                <a:spcPct val="100000"/>
              </a:lnSpc>
              <a:spcBef>
                <a:spcPct val="20000"/>
              </a:spcBef>
              <a:spcAft>
                <a:spcPct val="0"/>
              </a:spcAft>
              <a:buClr>
                <a:srgbClr val="3333CC"/>
              </a:buClr>
              <a:buSzTx/>
              <a:buFontTx/>
              <a:buNone/>
              <a:tabLst/>
              <a:defRPr/>
            </a:pPr>
            <a:r>
              <a:rPr kumimoji="1" lang="en-US" altLang="zh-CN" sz="2800" b="1" dirty="0" smtClean="0">
                <a:solidFill>
                  <a:srgbClr val="D96227"/>
                </a:solidFill>
                <a:latin typeface="Times New Roman" pitchFamily="18" charset="0"/>
                <a:ea typeface="宋体" panose="02010600030101010101" pitchFamily="2" charset="-122"/>
                <a:cs typeface="Times New Roman" pitchFamily="18" charset="0"/>
              </a:rPr>
              <a:t>4</a:t>
            </a:r>
            <a:r>
              <a:rPr kumimoji="1" lang="zh-CN" altLang="en-US" sz="2800" b="1" dirty="0" smtClean="0">
                <a:solidFill>
                  <a:srgbClr val="D96227"/>
                </a:solidFill>
                <a:latin typeface="Times New Roman" pitchFamily="18" charset="0"/>
                <a:ea typeface="宋体" panose="02010600030101010101" pitchFamily="2" charset="-122"/>
                <a:cs typeface="Times New Roman" pitchFamily="18" charset="0"/>
              </a:rPr>
              <a:t>）</a:t>
            </a:r>
            <a:r>
              <a:rPr kumimoji="1" lang="zh-CN" altLang="en-US" sz="2800" b="1" dirty="0">
                <a:solidFill>
                  <a:srgbClr val="D96227"/>
                </a:solidFill>
                <a:latin typeface="Times New Roman" pitchFamily="18" charset="0"/>
                <a:ea typeface="宋体" panose="02010600030101010101" pitchFamily="2" charset="-122"/>
                <a:cs typeface="Times New Roman" pitchFamily="18" charset="0"/>
              </a:rPr>
              <a:t>禁带变窄</a:t>
            </a:r>
          </a:p>
          <a:p>
            <a:pPr marL="324000" marR="0" lvl="0" indent="-342900" algn="l" defTabSz="914400" rtl="0" eaLnBrk="1" fontAlgn="base" latinLnBrk="0" hangingPunct="1">
              <a:lnSpc>
                <a:spcPct val="90000"/>
              </a:lnSpc>
              <a:spcBef>
                <a:spcPts val="0"/>
              </a:spcBef>
              <a:spcAft>
                <a:spcPct val="0"/>
              </a:spcAft>
              <a:buClr>
                <a:srgbClr val="3333CC"/>
              </a:buClr>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重掺杂会导致电子在杂质原子之间进行共有化运动。由于间距缩小，相互作用加强，使孤立的杂质能级展宽成杂质能带</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24000" marR="0" lvl="0" indent="-342900" algn="l" defTabSz="914400" rtl="0" eaLnBrk="1" fontAlgn="base" latinLnBrk="0" hangingPunct="1">
              <a:lnSpc>
                <a:spcPct val="90000"/>
              </a:lnSpc>
              <a:spcBef>
                <a:spcPts val="200"/>
              </a:spcBef>
              <a:spcAft>
                <a:spcPct val="0"/>
              </a:spcAft>
              <a:buClr>
                <a:srgbClr val="3333CC"/>
              </a:buClr>
              <a:buSzTx/>
              <a:buFontTx/>
              <a:buChar char="•"/>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随着</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掺杂浓度的增加，杂质带扩展，导致主能带与杂质带合并，禁带变窄</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90000"/>
              </a:lnSpc>
              <a:spcBef>
                <a:spcPts val="200"/>
              </a:spcBef>
              <a:spcAft>
                <a:spcPct val="0"/>
              </a:spcAft>
              <a:buClr>
                <a:srgbClr val="3333CC"/>
              </a:buClr>
              <a:buSzTx/>
              <a:buFontTx/>
              <a:buChar char="•"/>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关于</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禁带变窄量</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a:t>
            </a:r>
            <a:r>
              <a:rPr kumimoji="0"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g</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，文献报道的数值有很大的差异，也可以用经验公式描述</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a:t>
            </a:r>
            <a:r>
              <a:rPr kumimoji="0"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g</a:t>
            </a:r>
            <a:endPar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endParaRPr>
          </a:p>
        </p:txBody>
      </p:sp>
      <p:pic>
        <p:nvPicPr>
          <p:cNvPr id="4" name="Picture 7"/>
          <p:cNvPicPr>
            <a:picLocks noChangeAspect="1" noChangeArrowheads="1"/>
          </p:cNvPicPr>
          <p:nvPr/>
        </p:nvPicPr>
        <p:blipFill>
          <a:blip r:embed="rId3" cstate="print"/>
          <a:srcRect/>
          <a:stretch>
            <a:fillRect/>
          </a:stretch>
        </p:blipFill>
        <p:spPr bwMode="auto">
          <a:xfrm>
            <a:off x="228600" y="3581400"/>
            <a:ext cx="5881970" cy="3220517"/>
          </a:xfrm>
          <a:prstGeom prst="rect">
            <a:avLst/>
          </a:prstGeom>
          <a:noFill/>
          <a:ln w="9525">
            <a:noFill/>
            <a:miter lim="800000"/>
            <a:headEnd/>
            <a:tailEnd/>
          </a:ln>
          <a:effectLst/>
        </p:spPr>
      </p:pic>
      <p:graphicFrame>
        <p:nvGraphicFramePr>
          <p:cNvPr id="216066" name="Object 2"/>
          <p:cNvGraphicFramePr>
            <a:graphicFrameLocks noChangeAspect="1"/>
          </p:cNvGraphicFramePr>
          <p:nvPr>
            <p:extLst>
              <p:ext uri="{D42A27DB-BD31-4B8C-83A1-F6EECF244321}">
                <p14:modId xmlns:p14="http://schemas.microsoft.com/office/powerpoint/2010/main" val="1139605412"/>
              </p:ext>
            </p:extLst>
          </p:nvPr>
        </p:nvGraphicFramePr>
        <p:xfrm>
          <a:off x="6365875" y="4665662"/>
          <a:ext cx="2625725" cy="1735138"/>
        </p:xfrm>
        <a:graphic>
          <a:graphicData uri="http://schemas.openxmlformats.org/presentationml/2006/ole">
            <mc:AlternateContent xmlns:mc="http://schemas.openxmlformats.org/markup-compatibility/2006">
              <mc:Choice xmlns:v="urn:schemas-microsoft-com:vml" Requires="v">
                <p:oleObj spid="_x0000_s166939" name="Equation" r:id="rId4" imgW="1193760" imgH="787320" progId="Equation.DSMT4">
                  <p:embed/>
                </p:oleObj>
              </mc:Choice>
              <mc:Fallback>
                <p:oleObj name="Equation" r:id="rId4" imgW="1193760" imgH="787320" progId="Equation.DSMT4">
                  <p:embed/>
                  <p:pic>
                    <p:nvPicPr>
                      <p:cNvPr id="21606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5875" y="4665662"/>
                        <a:ext cx="2625725" cy="173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6248400" y="3617893"/>
            <a:ext cx="2592547"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有效本征载流子浓度：</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237137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88</a:t>
            </a:fld>
            <a:endParaRPr lang="zh-CN" altLang="en-US"/>
          </a:p>
        </p:txBody>
      </p:sp>
      <p:sp>
        <p:nvSpPr>
          <p:cNvPr id="4" name="Rectangle 4"/>
          <p:cNvSpPr>
            <a:spLocks noChangeArrowheads="1"/>
          </p:cNvSpPr>
          <p:nvPr/>
        </p:nvSpPr>
        <p:spPr bwMode="auto">
          <a:xfrm>
            <a:off x="2498375" y="274907"/>
            <a:ext cx="4571017"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本章总结：重点掌握</a:t>
            </a:r>
            <a:endParaRPr kumimoji="1" lang="zh-CN" altLang="en-US" sz="3600" b="1" dirty="0">
              <a:solidFill>
                <a:srgbClr val="FF6600"/>
              </a:solidFill>
              <a:latin typeface="Times New Roman" pitchFamily="18" charset="0"/>
              <a:ea typeface="宋体" pitchFamily="2" charset="-122"/>
            </a:endParaRPr>
          </a:p>
        </p:txBody>
      </p:sp>
      <p:sp>
        <p:nvSpPr>
          <p:cNvPr id="5" name="Text Box 1029"/>
          <p:cNvSpPr txBox="1">
            <a:spLocks noChangeArrowheads="1"/>
          </p:cNvSpPr>
          <p:nvPr/>
        </p:nvSpPr>
        <p:spPr bwMode="auto">
          <a:xfrm>
            <a:off x="402006" y="1005201"/>
            <a:ext cx="8302041" cy="4893647"/>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结的正反偏时的能带及准费米能级</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结中过剩少子的扩散行为</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结的扩散电容</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肖特基的能带特点：</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热发射模型、扩散模型，一般情况</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异质结的能带特点</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双极型晶体管的工作原理</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基区、发射区、集电区的电流计算</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影响电流增益的因素</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理想的输出特性曲线与</a:t>
            </a: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Early</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效应</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1737348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4610C3B-4895-48DE-B858-4974268A5404}" type="slidenum">
              <a:rPr lang="en-US" altLang="zh-CN" smtClean="0"/>
              <a:pPr/>
              <a:t>89</a:t>
            </a:fld>
            <a:endParaRPr lang="en-US" altLang="zh-CN"/>
          </a:p>
        </p:txBody>
      </p:sp>
      <p:sp>
        <p:nvSpPr>
          <p:cNvPr id="3" name="Rectangle 4"/>
          <p:cNvSpPr>
            <a:spLocks noChangeArrowheads="1"/>
          </p:cNvSpPr>
          <p:nvPr/>
        </p:nvSpPr>
        <p:spPr bwMode="auto">
          <a:xfrm>
            <a:off x="2498375" y="274907"/>
            <a:ext cx="4571017"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本章总结：了解</a:t>
            </a:r>
            <a:endParaRPr kumimoji="1" lang="zh-CN" altLang="en-US" sz="3600" b="1" dirty="0">
              <a:solidFill>
                <a:srgbClr val="FF6600"/>
              </a:solidFill>
              <a:latin typeface="Times New Roman" pitchFamily="18" charset="0"/>
              <a:ea typeface="宋体" pitchFamily="2" charset="-122"/>
            </a:endParaRPr>
          </a:p>
        </p:txBody>
      </p:sp>
      <p:sp>
        <p:nvSpPr>
          <p:cNvPr id="4" name="Text Box 1029"/>
          <p:cNvSpPr txBox="1">
            <a:spLocks noChangeArrowheads="1"/>
          </p:cNvSpPr>
          <p:nvPr/>
        </p:nvSpPr>
        <p:spPr bwMode="auto">
          <a:xfrm>
            <a:off x="402006" y="1005201"/>
            <a:ext cx="8302041" cy="3231654"/>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None/>
            </a:pP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结的非理想效应：空间电荷区的产生</a:t>
            </a: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复合，大注入，中性区串联电阻</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肖特基二极管的非理想效应：镜像力，表面态对势垒的调制（费米钉扎</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肖特基电流的推导</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buNone/>
            </a:pP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双极晶体管的非理想效应：</a:t>
            </a:r>
            <a:r>
              <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kumimoji="1" lang="zh-CN" altLang="en-US"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结相关的效应、击穿、禁带变窄</a:t>
            </a:r>
            <a:endParaRPr kumimoji="1"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9118132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PROBLEMSCORE" val="1.0"/>
  <p:tag name="PROBLEMSCORE_HALF" val="0.0"/>
  <p:tag name="RAINPROBLEMTYPE" val="MultipleChoice"/>
  <p:tag name="RAINPROBLEM"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17830</TotalTime>
  <Words>5865</Words>
  <Application>Microsoft Office PowerPoint</Application>
  <PresentationFormat>全屏显示(4:3)</PresentationFormat>
  <Paragraphs>604</Paragraphs>
  <Slides>89</Slides>
  <Notes>5</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7</vt:i4>
      </vt:variant>
      <vt:variant>
        <vt:lpstr>幻灯片标题</vt:lpstr>
      </vt:variant>
      <vt:variant>
        <vt:i4>89</vt:i4>
      </vt:variant>
    </vt:vector>
  </HeadingPairs>
  <TitlesOfParts>
    <vt:vector size="113" baseType="lpstr">
      <vt:lpstr>Microsoft Yahei</vt:lpstr>
      <vt:lpstr>等线</vt:lpstr>
      <vt:lpstr>等线 Light</vt:lpstr>
      <vt:lpstr>华文楷体</vt:lpstr>
      <vt:lpstr>楷体_GB2312</vt:lpstr>
      <vt:lpstr>宋体</vt:lpstr>
      <vt:lpstr>Arial</vt:lpstr>
      <vt:lpstr>Calibri</vt:lpstr>
      <vt:lpstr>Calibri Light</vt:lpstr>
      <vt:lpstr>MT Extra</vt:lpstr>
      <vt:lpstr>Symbol</vt:lpstr>
      <vt:lpstr>Tahoma</vt:lpstr>
      <vt:lpstr>Times New Roman</vt:lpstr>
      <vt:lpstr>Wingdings</vt:lpstr>
      <vt:lpstr>Office 主题​​</vt:lpstr>
      <vt:lpstr>默认设计模板</vt:lpstr>
      <vt:lpstr>1_默认设计模板</vt:lpstr>
      <vt:lpstr>BMP 图象</vt:lpstr>
      <vt:lpstr>Equation</vt:lpstr>
      <vt:lpstr>Equation.3</vt:lpstr>
      <vt:lpstr>公式</vt:lpstr>
      <vt:lpstr>Image</vt:lpstr>
      <vt:lpstr>位图图像</vt:lpstr>
      <vt:lpstr>图片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理想npn-BJT</vt:lpstr>
      <vt:lpstr>集成电路中的npn-BJT</vt:lpstr>
      <vt:lpstr>PowerPoint 演示文稿</vt:lpstr>
      <vt:lpstr>PowerPoint 演示文稿</vt:lpstr>
      <vt:lpstr>电流增益（考虑放大偏置）</vt:lpstr>
      <vt:lpstr>2. 放大偏置</vt:lpstr>
      <vt:lpstr>(1) 基区总复合电流</vt:lpstr>
      <vt:lpstr>PowerPoint 演示文稿</vt:lpstr>
      <vt:lpstr>(2) 基区向发射区注入的空穴电流</vt:lpstr>
      <vt:lpstr>PowerPoint 演示文稿</vt:lpstr>
      <vt:lpstr>PowerPoint 演示文稿</vt:lpstr>
      <vt:lpstr>PowerPoint 演示文稿</vt:lpstr>
      <vt:lpstr>3. 晶体管开关工作</vt:lpstr>
      <vt:lpstr>原型晶体管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非理想效应   1）基区宽度调变效应(Early效应)</vt:lpstr>
      <vt:lpstr>PowerPoint 演示文稿</vt:lpstr>
      <vt:lpstr>PowerPoint 演示文稿</vt:lpstr>
      <vt:lpstr>PowerPoint 演示文稿</vt:lpstr>
      <vt:lpstr>2） 发射结低偏置效应和高偏置效应</vt:lpstr>
      <vt:lpstr>发射结低偏置电流</vt:lpstr>
      <vt:lpstr>PowerPoint 演示文稿</vt:lpstr>
      <vt:lpstr>PowerPoint 演示文稿</vt:lpstr>
      <vt:lpstr>基区电阻</vt:lpstr>
      <vt:lpstr>PowerPoint 演示文稿</vt:lpstr>
      <vt:lpstr>3） 击穿特性</vt:lpstr>
      <vt:lpstr>PowerPoint 演示文稿</vt:lpstr>
      <vt:lpstr>PowerPoint 演示文稿</vt:lpstr>
      <vt:lpstr>PowerPoint 演示文稿</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gaobin</dc:creator>
  <cp:lastModifiedBy>gaobin</cp:lastModifiedBy>
  <cp:revision>272</cp:revision>
  <dcterms:created xsi:type="dcterms:W3CDTF">2018-11-20T07:03:35Z</dcterms:created>
  <dcterms:modified xsi:type="dcterms:W3CDTF">2021-11-08T10:26:31Z</dcterms:modified>
</cp:coreProperties>
</file>