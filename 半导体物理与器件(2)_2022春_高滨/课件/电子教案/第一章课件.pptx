
<file path=[Content_Types].xml><?xml version="1.0" encoding="utf-8"?>
<Types xmlns="http://schemas.openxmlformats.org/package/2006/content-types">
  <Default Extension="png" ContentType="image/png"/>
  <Default Extension="tmp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274" r:id="rId3"/>
    <p:sldId id="275" r:id="rId4"/>
    <p:sldId id="276" r:id="rId5"/>
    <p:sldId id="277" r:id="rId6"/>
    <p:sldId id="279" r:id="rId7"/>
    <p:sldId id="280" r:id="rId8"/>
    <p:sldId id="308" r:id="rId9"/>
    <p:sldId id="281" r:id="rId10"/>
    <p:sldId id="282" r:id="rId11"/>
    <p:sldId id="285" r:id="rId12"/>
    <p:sldId id="283" r:id="rId13"/>
    <p:sldId id="286" r:id="rId14"/>
    <p:sldId id="305" r:id="rId15"/>
    <p:sldId id="287" r:id="rId16"/>
    <p:sldId id="288" r:id="rId17"/>
    <p:sldId id="289" r:id="rId18"/>
    <p:sldId id="290" r:id="rId19"/>
    <p:sldId id="295" r:id="rId20"/>
    <p:sldId id="296" r:id="rId21"/>
    <p:sldId id="291" r:id="rId22"/>
    <p:sldId id="294" r:id="rId23"/>
    <p:sldId id="297" r:id="rId24"/>
    <p:sldId id="298" r:id="rId25"/>
    <p:sldId id="302" r:id="rId26"/>
    <p:sldId id="303" r:id="rId27"/>
    <p:sldId id="299" r:id="rId28"/>
    <p:sldId id="304" r:id="rId29"/>
    <p:sldId id="310" r:id="rId30"/>
    <p:sldId id="293" r:id="rId31"/>
    <p:sldId id="306" r:id="rId32"/>
    <p:sldId id="307" r:id="rId33"/>
    <p:sldId id="309" r:id="rId34"/>
    <p:sldId id="292" r:id="rId35"/>
    <p:sldId id="301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83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C792C-111F-4E8F-90ED-A227640BA86A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73C6D-2231-48A4-96DD-B22752A16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815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066B5-3900-4E69-AC63-E08D9529DCB2}" type="datetime1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322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37C18-80A1-4EE9-A044-624DBEDCE751}" type="datetime1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737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6B63-AE03-44CE-80A3-7BBAC1B55F36}" type="datetime1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038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5B58C-5F2D-42D0-BF22-6877EE4169FA}" type="datetime1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887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948F-173C-4B97-8C13-9260365D7016}" type="datetime1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77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DEBF5-2A95-4AAC-9832-86A77768D124}" type="datetime1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15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1B035-15FB-45CA-9F77-E0FE510F543D}" type="datetime1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8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E0AEA-D69D-47B6-BB8B-EEE38E32873A}" type="datetime1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307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A5B2-E38D-4244-8A6B-5C0E80022A63}" type="datetime1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099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840F-DBFF-4A17-A892-21695A6A918F}" type="datetime1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424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296DA-F8F2-457E-9C59-89B31F6583E5}" type="datetime1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790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B749A-EAE5-4E87-8283-536461AEC78E}" type="datetime1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070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E0A5B-1E35-4081-8D72-3B0687A5C65D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855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8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emf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jpe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image" Target="../media/image8.tmp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470604" y="513872"/>
            <a:ext cx="423499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3600" b="1" dirty="0">
                <a:solidFill>
                  <a:srgbClr val="FF6600"/>
                </a:solidFill>
                <a:latin typeface="Times New Roman" pitchFamily="18" charset="0"/>
                <a:ea typeface="宋体" pitchFamily="2" charset="-122"/>
              </a:rPr>
              <a:t>半导体物理与器件</a:t>
            </a:r>
            <a:r>
              <a:rPr kumimoji="1" lang="en-US" altLang="zh-CN" sz="3600" b="1" dirty="0">
                <a:solidFill>
                  <a:srgbClr val="FF6600"/>
                </a:solidFill>
                <a:latin typeface="Times New Roman" pitchFamily="18" charset="0"/>
                <a:ea typeface="宋体" pitchFamily="2" charset="-122"/>
              </a:rPr>
              <a:t>2</a:t>
            </a:r>
            <a:endParaRPr kumimoji="1" lang="zh-CN" altLang="en-US" sz="3600" b="1" dirty="0">
              <a:solidFill>
                <a:srgbClr val="FF66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63641" y="1922493"/>
            <a:ext cx="7848922" cy="228985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任课教师：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高滨  东主楼</a:t>
            </a:r>
            <a:r>
              <a:rPr kumimoji="1" lang="en-US" altLang="zh-CN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9</a:t>
            </a:r>
            <a:r>
              <a:rPr kumimoji="1" lang="zh-CN" altLang="en-US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区一楼</a:t>
            </a:r>
            <a:r>
              <a:rPr kumimoji="1" lang="en-US" altLang="zh-CN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-121</a:t>
            </a:r>
            <a:r>
              <a:rPr kumimoji="1" lang="zh-CN" altLang="en-US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室</a:t>
            </a:r>
            <a:endParaRPr kumimoji="1" lang="en-US" altLang="zh-CN" sz="28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电话</a:t>
            </a:r>
            <a:r>
              <a:rPr kumimoji="1"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kumimoji="1" lang="en-US" altLang="zh-CN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62771394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Email</a:t>
            </a:r>
            <a:r>
              <a:rPr kumimoji="1" lang="zh-CN" altLang="en-US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kumimoji="1" lang="en-US" altLang="zh-CN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gaob1@tsinghua.edu.cn</a:t>
            </a:r>
            <a:endParaRPr kumimoji="1" lang="en-US" altLang="zh-CN" sz="2800" b="1" dirty="0">
              <a:solidFill>
                <a:srgbClr val="FFFF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56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57404" y="1232560"/>
            <a:ext cx="8229600" cy="306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1" lang="zh-CN" altLang="en-US" sz="2800" b="1" dirty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、教材</a:t>
            </a:r>
            <a:r>
              <a:rPr kumimoji="1" lang="en-US" altLang="zh-CN" sz="2800" b="1" dirty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/</a:t>
            </a:r>
            <a:r>
              <a:rPr kumimoji="1" lang="zh-CN" altLang="en-US" sz="2800" b="1" dirty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参考书：</a:t>
            </a:r>
            <a:endParaRPr kumimoji="1" lang="en-US" altLang="zh-CN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）讲义</a:t>
            </a:r>
            <a:endParaRPr kumimoji="1" lang="en-US" altLang="zh-CN" sz="22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）固体物理学 黄昆、韩汝琦著</a:t>
            </a:r>
            <a:endParaRPr kumimoji="1" lang="en-US" altLang="zh-CN" sz="22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）半导体</a:t>
            </a:r>
            <a:r>
              <a:rPr kumimoji="1" lang="zh-CN" altLang="en-US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物理（上册，新版）叶良修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编著</a:t>
            </a:r>
            <a:endParaRPr kumimoji="1" lang="en-US" altLang="zh-CN" sz="22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）半导体物理与器件 尼曼著</a:t>
            </a:r>
            <a:endParaRPr kumimoji="1" lang="en-US" altLang="zh-CN" sz="22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</a:t>
            </a: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Fundamentals of Modern VLSI Devices  Yuan </a:t>
            </a:r>
            <a:r>
              <a:rPr kumimoji="1" lang="en-US" altLang="zh-CN" sz="2200" b="1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Taur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著</a:t>
            </a:r>
            <a:endParaRPr kumimoji="1" lang="en-US" altLang="zh-CN" sz="22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03463" y="295910"/>
            <a:ext cx="46799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3600" b="1" dirty="0">
                <a:solidFill>
                  <a:srgbClr val="FF6600"/>
                </a:solidFill>
                <a:latin typeface="Times New Roman" pitchFamily="18" charset="0"/>
                <a:ea typeface="宋体" pitchFamily="2" charset="-122"/>
              </a:rPr>
              <a:t>一、课程信息简介</a:t>
            </a:r>
          </a:p>
        </p:txBody>
      </p:sp>
      <p:sp>
        <p:nvSpPr>
          <p:cNvPr id="7" name="矩形 6"/>
          <p:cNvSpPr/>
          <p:nvPr/>
        </p:nvSpPr>
        <p:spPr>
          <a:xfrm>
            <a:off x="557404" y="4486723"/>
            <a:ext cx="7189117" cy="1461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、交流平台：网络学堂、微信群、雨课堂、腾讯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会议</a:t>
            </a:r>
            <a:endParaRPr kumimoji="1" lang="en-US" altLang="zh-CN" sz="2800" b="1" dirty="0" smtClean="0">
              <a:solidFill>
                <a:srgbClr val="D96227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lvl="0">
              <a:spcBef>
                <a:spcPct val="50000"/>
              </a:spcBef>
            </a:pPr>
            <a:r>
              <a:rPr kumimoji="1" lang="zh-CN" altLang="en-US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腾</a:t>
            </a:r>
            <a:r>
              <a:rPr kumimoji="1" lang="zh-CN" altLang="en-US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讯会议号：</a:t>
            </a:r>
            <a:r>
              <a:rPr kumimoji="1" lang="en-US" altLang="zh-CN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692 7585 5170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465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03463" y="295910"/>
            <a:ext cx="46799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3600" b="1" dirty="0">
                <a:solidFill>
                  <a:srgbClr val="FF6600"/>
                </a:solidFill>
                <a:latin typeface="Times New Roman" pitchFamily="18" charset="0"/>
                <a:ea typeface="宋体" pitchFamily="2" charset="-122"/>
              </a:rPr>
              <a:t>一、课程信息简介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23726" y="1168936"/>
            <a:ext cx="8496746" cy="488133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1" lang="zh-CN" altLang="en-US" sz="2800" b="1" dirty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要求与建议：</a:t>
            </a:r>
          </a:p>
          <a:p>
            <a:pPr marL="358775" lvl="1">
              <a:spcBef>
                <a:spcPct val="50000"/>
              </a:spcBef>
            </a:pPr>
            <a:r>
              <a:rPr kumimoji="1" lang="en-US" altLang="zh-CN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）成绩评定：</a:t>
            </a:r>
            <a:endParaRPr kumimoji="1" lang="en-US" altLang="zh-CN" sz="22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58775" lvl="1">
              <a:spcBef>
                <a:spcPct val="50000"/>
              </a:spcBef>
            </a:pPr>
            <a:r>
              <a:rPr kumimoji="1" lang="en-US" altLang="zh-CN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平时</a:t>
            </a: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15%</a:t>
            </a:r>
            <a:r>
              <a:rPr kumimoji="1"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或</a:t>
            </a:r>
            <a:r>
              <a:rPr kumimoji="1" lang="en-US" altLang="zh-CN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0%</a:t>
            </a: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（课后作业，雨课堂答题）</a:t>
            </a:r>
            <a:endParaRPr kumimoji="1" lang="en-US" altLang="zh-CN" sz="22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15975" lvl="2">
              <a:spcBef>
                <a:spcPct val="50000"/>
              </a:spcBef>
            </a:pP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大作业</a:t>
            </a: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25%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（每人抽一道题）</a:t>
            </a:r>
            <a:endParaRPr kumimoji="1" lang="en-US" altLang="zh-CN" sz="22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15975" lvl="2">
              <a:spcBef>
                <a:spcPct val="50000"/>
              </a:spcBef>
            </a:pP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期末考试</a:t>
            </a: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60%</a:t>
            </a:r>
            <a:r>
              <a:rPr kumimoji="1"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或</a:t>
            </a:r>
            <a:r>
              <a:rPr kumimoji="1" lang="en-US" altLang="zh-CN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75%</a:t>
            </a:r>
            <a:endParaRPr kumimoji="1" lang="zh-CN" altLang="en-US" sz="22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58775" lvl="1">
              <a:spcBef>
                <a:spcPct val="50000"/>
              </a:spcBef>
            </a:pPr>
            <a:r>
              <a:rPr kumimoji="1" lang="en-US" altLang="zh-CN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1" lang="zh-CN" altLang="en-US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出勤：每堂课有一两个随堂答题（选择题），</a:t>
            </a:r>
            <a:r>
              <a:rPr kumimoji="1"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一定要带手机！</a:t>
            </a:r>
            <a:endParaRPr kumimoji="1" lang="zh-CN" altLang="en-US" sz="22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01688" lvl="1" indent="-442913">
              <a:spcBef>
                <a:spcPct val="50000"/>
              </a:spcBef>
            </a:pPr>
            <a:r>
              <a:rPr kumimoji="1" lang="en-US" altLang="zh-CN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）考试</a:t>
            </a:r>
            <a:r>
              <a:rPr kumimoji="1" lang="zh-CN" altLang="en-US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内容：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基础理论和</a:t>
            </a:r>
            <a:r>
              <a:rPr kumimoji="1" lang="zh-CN" altLang="en-US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基本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技能 </a:t>
            </a: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(~70%)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r>
              <a:rPr kumimoji="1" lang="zh-CN" altLang="en-US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运用基础理论分析解决实际问题的能力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~</a:t>
            </a:r>
            <a:r>
              <a:rPr kumimoji="1" lang="en-US" altLang="zh-CN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1" lang="en-US" altLang="zh-CN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%</a:t>
            </a:r>
            <a:r>
              <a:rPr kumimoji="1" lang="zh-CN" altLang="en-US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）；创新能力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~10</a:t>
            </a:r>
            <a:r>
              <a:rPr kumimoji="1" lang="en-US" altLang="zh-CN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%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</a:t>
            </a:r>
            <a:endParaRPr kumimoji="1" lang="en-US" altLang="zh-CN" sz="22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01688" lvl="1" indent="-442913">
              <a:spcBef>
                <a:spcPct val="50000"/>
              </a:spcBef>
            </a:pP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）作业：</a:t>
            </a:r>
            <a:r>
              <a:rPr kumimoji="1"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每章结束后一周交</a:t>
            </a:r>
            <a:endParaRPr kumimoji="1" lang="zh-CN" altLang="en-US" sz="22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58775" lvl="1">
              <a:spcBef>
                <a:spcPct val="50000"/>
              </a:spcBef>
            </a:pP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）采取多种方式，加强教学互动。</a:t>
            </a:r>
            <a:endParaRPr kumimoji="1" lang="en-US" altLang="zh-CN" sz="22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834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03463" y="295910"/>
            <a:ext cx="46799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3600" b="1" dirty="0">
                <a:solidFill>
                  <a:srgbClr val="FF6600"/>
                </a:solidFill>
                <a:latin typeface="Times New Roman" pitchFamily="18" charset="0"/>
                <a:ea typeface="宋体" pitchFamily="2" charset="-122"/>
              </a:rPr>
              <a:t>一、课程信息简介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95065" y="1189217"/>
            <a:ext cx="8496746" cy="468128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、先修课程：</a:t>
            </a:r>
          </a:p>
          <a:p>
            <a:pPr marL="358775" lvl="1">
              <a:spcBef>
                <a:spcPct val="50000"/>
              </a:spcBef>
            </a:pP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半导体物理与器件</a:t>
            </a:r>
            <a:r>
              <a:rPr kumimoji="1" lang="en-US" altLang="zh-CN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endParaRPr kumimoji="1" lang="zh-CN" altLang="en-US" sz="22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01688" lvl="1" indent="-442913">
              <a:spcBef>
                <a:spcPct val="50000"/>
              </a:spcBef>
            </a:pPr>
            <a:endParaRPr kumimoji="1" lang="en-US" altLang="zh-CN" sz="2200" b="1" dirty="0" smtClean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4488" indent="-442913"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、课程目的：</a:t>
            </a:r>
            <a:endParaRPr kumimoji="1" lang="en-US" altLang="zh-CN" sz="2800" b="1" dirty="0" smtClean="0">
              <a:solidFill>
                <a:srgbClr val="D96227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01688" indent="-439738">
              <a:spcBef>
                <a:spcPct val="50000"/>
              </a:spcBef>
            </a:pP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）建立半导体器件物理的</a:t>
            </a:r>
            <a:r>
              <a:rPr kumimoji="1" lang="zh-CN" altLang="en-US" sz="2200" b="1" dirty="0" smtClean="0">
                <a:solidFill>
                  <a:srgbClr val="0070C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完整理论体系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1" lang="zh-CN" altLang="en-US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以能带论为基础，了解相关理论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</a:t>
            </a:r>
            <a:r>
              <a:rPr kumimoji="1"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适用范围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和</a:t>
            </a:r>
            <a:r>
              <a:rPr kumimoji="1"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局限性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1" lang="zh-CN" altLang="en-US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启发</a:t>
            </a:r>
            <a:r>
              <a:rPr kumimoji="1" lang="zh-CN" altLang="en-US" sz="2200" b="1" dirty="0">
                <a:solidFill>
                  <a:srgbClr val="0070C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创新</a:t>
            </a:r>
            <a:r>
              <a:rPr kumimoji="1" lang="zh-CN" altLang="en-US" sz="2200" b="1" dirty="0" smtClean="0">
                <a:solidFill>
                  <a:srgbClr val="0070C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思维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endParaRPr kumimoji="1" lang="en-US" altLang="zh-CN" sz="22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01688" indent="-439738">
              <a:spcBef>
                <a:spcPct val="50000"/>
              </a:spcBef>
            </a:pP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）提升灵活运用数理工具解决器件</a:t>
            </a:r>
            <a:r>
              <a:rPr kumimoji="1" lang="zh-CN" altLang="en-US" sz="2200" b="1" dirty="0" smtClean="0">
                <a:solidFill>
                  <a:srgbClr val="0070C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实际问题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的能力，为未来从事集成电路领域的相关研发提升综合素质；</a:t>
            </a:r>
            <a:endParaRPr kumimoji="1" lang="en-US" altLang="zh-CN" sz="22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01688" indent="-439738">
              <a:spcBef>
                <a:spcPct val="50000"/>
              </a:spcBef>
            </a:pPr>
            <a:r>
              <a:rPr kumimoji="1" lang="en-US" altLang="zh-CN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1" lang="zh-CN" altLang="en-US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）结合微电子器件</a:t>
            </a:r>
            <a:r>
              <a:rPr kumimoji="1" lang="zh-CN" altLang="en-US" sz="2200" b="1" dirty="0">
                <a:solidFill>
                  <a:srgbClr val="0070C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最新发展现状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，从更全面深入的角度理解半导体器件，</a:t>
            </a:r>
            <a:r>
              <a:rPr kumimoji="1" lang="zh-CN" altLang="en-US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为后续专业课程和研究生阶段</a:t>
            </a:r>
            <a:r>
              <a:rPr kumimoji="1" lang="zh-CN" altLang="en-US" sz="22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打下基础。</a:t>
            </a:r>
            <a:endParaRPr kumimoji="1" lang="en-US" altLang="zh-CN" sz="22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536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03463" y="295910"/>
            <a:ext cx="467995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3600" b="1" dirty="0" smtClean="0">
                <a:solidFill>
                  <a:srgbClr val="FF6600"/>
                </a:solidFill>
                <a:latin typeface="Times New Roman" pitchFamily="18" charset="0"/>
                <a:ea typeface="宋体" pitchFamily="2" charset="-122"/>
              </a:rPr>
              <a:t>二、课程内容概述</a:t>
            </a:r>
            <a:endParaRPr kumimoji="1" lang="zh-CN" altLang="en-US" sz="3600" b="1" dirty="0">
              <a:solidFill>
                <a:srgbClr val="FF66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85814" y="1192847"/>
            <a:ext cx="36102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、本课程的学科地位</a:t>
            </a:r>
            <a:endParaRPr kumimoji="1" lang="en-US" altLang="zh-CN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534058" y="1858450"/>
            <a:ext cx="7923212" cy="22659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</a:rPr>
              <a:t>微电子学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科（集成电路学科）包括</a:t>
            </a: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</a:rPr>
              <a:t>：</a:t>
            </a:r>
          </a:p>
          <a:p>
            <a:pPr marL="358775" lvl="1" indent="-341313" eaLnBrk="1" hangingPunct="1">
              <a:lnSpc>
                <a:spcPct val="120000"/>
              </a:lnSpc>
              <a:buFontTx/>
              <a:buChar char="•"/>
            </a:pP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</a:rPr>
              <a:t>半导体材料和器件物理（半导体物理和器件物理）</a:t>
            </a:r>
          </a:p>
          <a:p>
            <a:pPr marL="358775" lvl="1" indent="-341313" eaLnBrk="1" hangingPunct="1">
              <a:lnSpc>
                <a:spcPct val="120000"/>
              </a:lnSpc>
              <a:buFontTx/>
              <a:buChar char="•"/>
            </a:pP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</a:rPr>
              <a:t>集成电路工艺</a:t>
            </a:r>
          </a:p>
          <a:p>
            <a:pPr marL="358775" lvl="1" indent="-341313" eaLnBrk="1" hangingPunct="1">
              <a:lnSpc>
                <a:spcPct val="120000"/>
              </a:lnSpc>
              <a:buFontTx/>
              <a:buChar char="•"/>
            </a:pP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</a:rPr>
              <a:t>集成电路设计原理和技术</a:t>
            </a:r>
          </a:p>
          <a:p>
            <a:pPr marL="358775" lvl="1" indent="-341313" eaLnBrk="1" hangingPunct="1">
              <a:lnSpc>
                <a:spcPct val="120000"/>
              </a:lnSpc>
              <a:buFontTx/>
              <a:buChar char="•"/>
            </a:pP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</a:rPr>
              <a:t>集成电路功能和特性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测试、封装</a:t>
            </a:r>
            <a:endParaRPr kumimoji="1" lang="zh-CN" altLang="en-US" sz="2400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534058" y="4302190"/>
            <a:ext cx="8137525" cy="230832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zh-CN" altLang="en-US" sz="2400" b="1" dirty="0">
                <a:latin typeface="宋体" pitchFamily="2" charset="-122"/>
                <a:ea typeface="宋体" pitchFamily="2" charset="-122"/>
              </a:rPr>
              <a:t>微电子学科的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诞生</a:t>
            </a:r>
            <a:r>
              <a:rPr kumimoji="1" lang="zh-CN" altLang="en-US" sz="2400" b="1" dirty="0">
                <a:latin typeface="宋体" pitchFamily="2" charset="-122"/>
                <a:ea typeface="宋体" pitchFamily="2" charset="-122"/>
              </a:rPr>
              <a:t>是以半导体</a:t>
            </a:r>
            <a:r>
              <a:rPr kumimoji="1" lang="zh-CN" altLang="en-US" sz="2400" b="1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</a:rPr>
              <a:t>晶体管的发明和晶体管理论的建立</a:t>
            </a:r>
            <a:r>
              <a:rPr kumimoji="1" lang="zh-CN" altLang="en-US" sz="2400" b="1" dirty="0">
                <a:latin typeface="宋体" pitchFamily="2" charset="-122"/>
                <a:ea typeface="宋体" pitchFamily="2" charset="-122"/>
              </a:rPr>
              <a:t>为标志</a:t>
            </a: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。微电子学</a:t>
            </a:r>
            <a:r>
              <a:rPr kumimoji="1" lang="zh-CN" altLang="en-US" sz="2400" b="1" dirty="0">
                <a:latin typeface="宋体" pitchFamily="2" charset="-122"/>
                <a:ea typeface="宋体" pitchFamily="2" charset="-122"/>
              </a:rPr>
              <a:t>科</a:t>
            </a: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的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建立和发展</a:t>
            </a: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，是基础理论突破、材料和技术发展以及应用需求共同推动的结果。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半导体物理与器件</a:t>
            </a: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</a:rPr>
              <a:t>是微电子技术学科的</a:t>
            </a:r>
            <a:r>
              <a:rPr kumimoji="1" lang="zh-CN" altLang="en-US" sz="2400" b="1" dirty="0">
                <a:solidFill>
                  <a:srgbClr val="0070C0"/>
                </a:solidFill>
                <a:latin typeface="Times New Roman" pitchFamily="18" charset="0"/>
                <a:ea typeface="宋体" pitchFamily="2" charset="-122"/>
              </a:rPr>
              <a:t>理论基础</a:t>
            </a: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</a:rPr>
              <a:t>，是联系微电子学科与数理基础的桥梁，具有</a:t>
            </a:r>
            <a:r>
              <a:rPr kumimoji="1" lang="zh-CN" altLang="en-US" sz="2400" b="1" dirty="0">
                <a:solidFill>
                  <a:srgbClr val="0070C0"/>
                </a:solidFill>
                <a:latin typeface="Times New Roman" pitchFamily="18" charset="0"/>
                <a:ea typeface="宋体" pitchFamily="2" charset="-122"/>
              </a:rPr>
              <a:t>承上启下</a:t>
            </a: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</a:rPr>
              <a:t>的作用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。</a:t>
            </a:r>
            <a:endParaRPr kumimoji="1" lang="zh-CN" altLang="en-US" sz="2400" b="1" dirty="0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889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56418" y="356083"/>
            <a:ext cx="5052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、本课程内容的知识体系框架</a:t>
            </a:r>
            <a:endParaRPr kumimoji="1" lang="en-US" altLang="zh-CN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60717" y="1219950"/>
            <a:ext cx="811092" cy="58477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紧束缚近似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560717" y="2051800"/>
            <a:ext cx="811092" cy="58477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近自由近似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1371809" y="1488524"/>
            <a:ext cx="247650" cy="879475"/>
          </a:xfrm>
          <a:prstGeom prst="rightBrace">
            <a:avLst>
              <a:gd name="adj1" fmla="val 31961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zh-CN" altLang="en-US" sz="1600" b="1" u="sng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1635334" y="1631399"/>
            <a:ext cx="746125" cy="58578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能带结构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652672" y="2832056"/>
            <a:ext cx="719137" cy="58477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晶格振动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1371809" y="3141112"/>
            <a:ext cx="274638" cy="0"/>
          </a:xfrm>
          <a:prstGeom prst="line">
            <a:avLst/>
          </a:prstGeom>
          <a:noFill/>
          <a:ln w="476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b="1" u="sng">
              <a:solidFill>
                <a:prstClr val="black"/>
              </a:solidFill>
              <a:latin typeface="Arial" charset="0"/>
              <a:ea typeface="宋体" charset="-122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1635334" y="2971041"/>
            <a:ext cx="727075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声子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AutoShape 10"/>
          <p:cNvSpPr>
            <a:spLocks/>
          </p:cNvSpPr>
          <p:nvPr/>
        </p:nvSpPr>
        <p:spPr bwMode="auto">
          <a:xfrm>
            <a:off x="2387809" y="1898099"/>
            <a:ext cx="217488" cy="1935164"/>
          </a:xfrm>
          <a:prstGeom prst="rightBrace">
            <a:avLst>
              <a:gd name="adj1" fmla="val 42400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zh-CN" altLang="en-US" sz="1600" b="1" u="sng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640910" y="2590474"/>
            <a:ext cx="1023249" cy="58477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实际半导体能带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1230219" y="4302082"/>
            <a:ext cx="1057275" cy="58477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非平衡态载流子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1230219" y="5065212"/>
            <a:ext cx="1077912" cy="33972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输运机制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4010627" y="3611761"/>
            <a:ext cx="1216025" cy="58477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半导体器件基本原理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4010627" y="1371043"/>
            <a:ext cx="1228332" cy="58477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半导体物理基本方程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AutoShape 10"/>
          <p:cNvSpPr>
            <a:spLocks/>
          </p:cNvSpPr>
          <p:nvPr/>
        </p:nvSpPr>
        <p:spPr bwMode="auto">
          <a:xfrm>
            <a:off x="2343055" y="4435177"/>
            <a:ext cx="233363" cy="837254"/>
          </a:xfrm>
          <a:prstGeom prst="rightBrace">
            <a:avLst>
              <a:gd name="adj1" fmla="val 42400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zh-CN" altLang="en-US" sz="1600" b="1" u="sng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2" name="AutoShape 10"/>
          <p:cNvSpPr>
            <a:spLocks/>
          </p:cNvSpPr>
          <p:nvPr/>
        </p:nvSpPr>
        <p:spPr bwMode="auto">
          <a:xfrm>
            <a:off x="3690458" y="2944262"/>
            <a:ext cx="288925" cy="1960562"/>
          </a:xfrm>
          <a:prstGeom prst="rightBrace">
            <a:avLst>
              <a:gd name="adj1" fmla="val 42400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zh-CN" altLang="en-US" sz="1600" b="1" u="sng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6" name="AutoShape 7"/>
          <p:cNvSpPr>
            <a:spLocks/>
          </p:cNvSpPr>
          <p:nvPr/>
        </p:nvSpPr>
        <p:spPr bwMode="auto">
          <a:xfrm flipH="1">
            <a:off x="5293240" y="2215700"/>
            <a:ext cx="233363" cy="3413823"/>
          </a:xfrm>
          <a:prstGeom prst="rightBrace">
            <a:avLst>
              <a:gd name="adj1" fmla="val 91192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zh-CN" altLang="en-US" sz="1800" u="sng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5536773" y="2038895"/>
            <a:ext cx="1122363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结型器件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778084" y="3612312"/>
            <a:ext cx="1544638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晶体缺陷理论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2640910" y="4438305"/>
            <a:ext cx="1023249" cy="830997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实际半导体载流子输运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上下箭头 33"/>
          <p:cNvSpPr/>
          <p:nvPr/>
        </p:nvSpPr>
        <p:spPr>
          <a:xfrm>
            <a:off x="4485736" y="2441273"/>
            <a:ext cx="276045" cy="727636"/>
          </a:xfrm>
          <a:prstGeom prst="up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上下箭头 34"/>
          <p:cNvSpPr/>
          <p:nvPr/>
        </p:nvSpPr>
        <p:spPr>
          <a:xfrm>
            <a:off x="4502154" y="4662872"/>
            <a:ext cx="276045" cy="727636"/>
          </a:xfrm>
          <a:prstGeom prst="up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 Box 10"/>
          <p:cNvSpPr txBox="1">
            <a:spLocks noChangeArrowheads="1"/>
          </p:cNvSpPr>
          <p:nvPr/>
        </p:nvSpPr>
        <p:spPr bwMode="auto">
          <a:xfrm>
            <a:off x="4057879" y="5769634"/>
            <a:ext cx="1185640" cy="58477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能带调制方法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AutoShape 7"/>
          <p:cNvSpPr>
            <a:spLocks/>
          </p:cNvSpPr>
          <p:nvPr/>
        </p:nvSpPr>
        <p:spPr bwMode="auto">
          <a:xfrm flipH="1">
            <a:off x="6706928" y="1644288"/>
            <a:ext cx="233363" cy="1102465"/>
          </a:xfrm>
          <a:prstGeom prst="rightBrace">
            <a:avLst>
              <a:gd name="adj1" fmla="val 91192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 smtClean="0">
              <a:latin typeface="Arial" charset="0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6988085" y="1397453"/>
            <a:ext cx="1586571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1600" b="1" u="none" dirty="0" smtClean="0">
                <a:solidFill>
                  <a:prstClr val="black"/>
                </a:solidFill>
                <a:latin typeface="Calibri"/>
              </a:rPr>
              <a:t>PN</a:t>
            </a: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结、异质结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6988085" y="1987470"/>
            <a:ext cx="1586571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金</a:t>
            </a:r>
            <a:r>
              <a:rPr lang="en-US" altLang="zh-CN" sz="1600" b="1" u="none" dirty="0" smtClean="0">
                <a:solidFill>
                  <a:prstClr val="black"/>
                </a:solidFill>
                <a:latin typeface="Calibri"/>
              </a:rPr>
              <a:t>-</a:t>
            </a: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半接触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6988084" y="2593179"/>
            <a:ext cx="1707342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双极结型晶体管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5591290" y="3765157"/>
            <a:ext cx="1039954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1600" b="1" u="none" dirty="0" smtClean="0">
                <a:solidFill>
                  <a:prstClr val="black"/>
                </a:solidFill>
                <a:latin typeface="Calibri"/>
              </a:rPr>
              <a:t>MOSFET</a:t>
            </a:r>
          </a:p>
        </p:txBody>
      </p:sp>
      <p:sp>
        <p:nvSpPr>
          <p:cNvPr id="43" name="AutoShape 7"/>
          <p:cNvSpPr>
            <a:spLocks/>
          </p:cNvSpPr>
          <p:nvPr/>
        </p:nvSpPr>
        <p:spPr bwMode="auto">
          <a:xfrm flipH="1">
            <a:off x="6669362" y="3378605"/>
            <a:ext cx="233363" cy="1151460"/>
          </a:xfrm>
          <a:prstGeom prst="rightBrace">
            <a:avLst>
              <a:gd name="adj1" fmla="val 91192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 smtClean="0">
              <a:latin typeface="Arial" charset="0"/>
            </a:endParaRPr>
          </a:p>
        </p:txBody>
      </p:sp>
      <p:sp>
        <p:nvSpPr>
          <p:cNvPr id="44" name="Text Box 7"/>
          <p:cNvSpPr txBox="1">
            <a:spLocks noChangeArrowheads="1"/>
          </p:cNvSpPr>
          <p:nvPr/>
        </p:nvSpPr>
        <p:spPr bwMode="auto">
          <a:xfrm>
            <a:off x="6967413" y="3197795"/>
            <a:ext cx="1063782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栅</a:t>
            </a:r>
            <a:r>
              <a:rPr lang="zh-CN" altLang="en-US" sz="1600" b="1" u="none" smtClean="0">
                <a:solidFill>
                  <a:prstClr val="black"/>
                </a:solidFill>
                <a:latin typeface="Calibri"/>
              </a:rPr>
              <a:t>控能力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Text Box 7"/>
          <p:cNvSpPr txBox="1">
            <a:spLocks noChangeArrowheads="1"/>
          </p:cNvSpPr>
          <p:nvPr/>
        </p:nvSpPr>
        <p:spPr bwMode="auto">
          <a:xfrm>
            <a:off x="6967412" y="3781589"/>
            <a:ext cx="1241179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迁移率改善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Text Box 7"/>
          <p:cNvSpPr txBox="1">
            <a:spLocks noChangeArrowheads="1"/>
          </p:cNvSpPr>
          <p:nvPr/>
        </p:nvSpPr>
        <p:spPr bwMode="auto">
          <a:xfrm>
            <a:off x="6976039" y="4345212"/>
            <a:ext cx="1232553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小尺寸效应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0" name="Text Box 11"/>
          <p:cNvSpPr txBox="1">
            <a:spLocks noChangeArrowheads="1"/>
          </p:cNvSpPr>
          <p:nvPr/>
        </p:nvSpPr>
        <p:spPr bwMode="auto">
          <a:xfrm>
            <a:off x="5591290" y="5439441"/>
            <a:ext cx="1271743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新原理器件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86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Box 9"/>
          <p:cNvSpPr txBox="1">
            <a:spLocks noChangeArrowheads="1"/>
          </p:cNvSpPr>
          <p:nvPr/>
        </p:nvSpPr>
        <p:spPr bwMode="auto">
          <a:xfrm>
            <a:off x="7776552" y="5922097"/>
            <a:ext cx="1251548" cy="33855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49" name="Text Box 9"/>
          <p:cNvSpPr txBox="1">
            <a:spLocks noChangeArrowheads="1"/>
          </p:cNvSpPr>
          <p:nvPr/>
        </p:nvSpPr>
        <p:spPr bwMode="auto">
          <a:xfrm>
            <a:off x="7780235" y="3932007"/>
            <a:ext cx="1111340" cy="33855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48" name="Text Box 9"/>
          <p:cNvSpPr txBox="1">
            <a:spLocks noChangeArrowheads="1"/>
          </p:cNvSpPr>
          <p:nvPr/>
        </p:nvSpPr>
        <p:spPr bwMode="auto">
          <a:xfrm>
            <a:off x="2032491" y="4812898"/>
            <a:ext cx="903600" cy="33855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2055202" y="5896760"/>
            <a:ext cx="903600" cy="33855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45" name="Text Box 9"/>
          <p:cNvSpPr txBox="1">
            <a:spLocks noChangeArrowheads="1"/>
          </p:cNvSpPr>
          <p:nvPr/>
        </p:nvSpPr>
        <p:spPr bwMode="auto">
          <a:xfrm>
            <a:off x="2058159" y="5778947"/>
            <a:ext cx="903600" cy="33855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42" name="Text Box 9"/>
          <p:cNvSpPr txBox="1">
            <a:spLocks noChangeArrowheads="1"/>
          </p:cNvSpPr>
          <p:nvPr/>
        </p:nvSpPr>
        <p:spPr bwMode="auto">
          <a:xfrm>
            <a:off x="3260712" y="4270561"/>
            <a:ext cx="1055687" cy="33855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39" name="Text Box 9"/>
          <p:cNvSpPr txBox="1">
            <a:spLocks noChangeArrowheads="1"/>
          </p:cNvSpPr>
          <p:nvPr/>
        </p:nvSpPr>
        <p:spPr bwMode="auto">
          <a:xfrm>
            <a:off x="3225787" y="5149473"/>
            <a:ext cx="1092200" cy="33855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36" name="Text Box 3"/>
          <p:cNvSpPr txBox="1">
            <a:spLocks noChangeArrowheads="1"/>
          </p:cNvSpPr>
          <p:nvPr/>
        </p:nvSpPr>
        <p:spPr bwMode="auto">
          <a:xfrm>
            <a:off x="6780906" y="2616281"/>
            <a:ext cx="1928989" cy="33855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56418" y="356083"/>
            <a:ext cx="6135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、本课程知识体系与相关课程的关系</a:t>
            </a:r>
            <a:endParaRPr kumimoji="1" lang="en-US" altLang="zh-CN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23812" y="1299444"/>
            <a:ext cx="692150" cy="584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量子力学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23812" y="2131294"/>
            <a:ext cx="692150" cy="584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固体物理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8" name="AutoShape 5"/>
          <p:cNvSpPr>
            <a:spLocks/>
          </p:cNvSpPr>
          <p:nvPr/>
        </p:nvSpPr>
        <p:spPr bwMode="auto">
          <a:xfrm>
            <a:off x="815962" y="1567731"/>
            <a:ext cx="247650" cy="879475"/>
          </a:xfrm>
          <a:prstGeom prst="rightBrace">
            <a:avLst>
              <a:gd name="adj1" fmla="val 31961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600" b="1" smtClean="0">
              <a:latin typeface="Arial" charset="0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079487" y="1711113"/>
            <a:ext cx="746125" cy="584775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能带</a:t>
            </a:r>
            <a:r>
              <a:rPr lang="zh-CN" altLang="en-US" sz="1600" b="1" u="none" dirty="0">
                <a:latin typeface="+mj-lt"/>
              </a:rPr>
              <a:t>基础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96825" y="2910756"/>
            <a:ext cx="719137" cy="58578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统计力学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815962" y="3220319"/>
            <a:ext cx="274638" cy="0"/>
          </a:xfrm>
          <a:prstGeom prst="line">
            <a:avLst/>
          </a:prstGeom>
          <a:noFill/>
          <a:ln w="476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zh-CN" altLang="en-US" sz="1600" b="1"/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1079487" y="2926631"/>
            <a:ext cx="727075" cy="585788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分布函数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13" name="AutoShape 10"/>
          <p:cNvSpPr>
            <a:spLocks/>
          </p:cNvSpPr>
          <p:nvPr/>
        </p:nvSpPr>
        <p:spPr bwMode="auto">
          <a:xfrm>
            <a:off x="1831962" y="1977306"/>
            <a:ext cx="217488" cy="1309688"/>
          </a:xfrm>
          <a:prstGeom prst="rightBrace">
            <a:avLst>
              <a:gd name="adj1" fmla="val 42400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600" b="1" smtClean="0">
              <a:latin typeface="Arial" charset="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076437" y="2261469"/>
            <a:ext cx="874713" cy="83185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平衡态载流子浓度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2049450" y="3539406"/>
            <a:ext cx="895350" cy="830263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产生与复合理论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3260712" y="2926631"/>
            <a:ext cx="1057275" cy="83185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非平衡态载</a:t>
            </a:r>
            <a:r>
              <a:rPr lang="zh-CN" altLang="en-US" sz="1600" b="1" u="none" smtClean="0">
                <a:latin typeface="+mj-lt"/>
              </a:rPr>
              <a:t>流子浓度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3240075" y="4167965"/>
            <a:ext cx="1077912" cy="33972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输运机制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4695812" y="3794180"/>
            <a:ext cx="1216025" cy="83026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指定位置和时间下的载流子浓度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3225787" y="5057204"/>
            <a:ext cx="1092200" cy="338137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散射理论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20" name="AutoShape 10"/>
          <p:cNvSpPr>
            <a:spLocks/>
          </p:cNvSpPr>
          <p:nvPr/>
        </p:nvSpPr>
        <p:spPr bwMode="auto">
          <a:xfrm>
            <a:off x="2968612" y="2677394"/>
            <a:ext cx="233363" cy="1311275"/>
          </a:xfrm>
          <a:prstGeom prst="rightBrace">
            <a:avLst>
              <a:gd name="adj1" fmla="val 42400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600" b="1" smtClean="0">
              <a:latin typeface="Arial" charset="0"/>
            </a:endParaRPr>
          </a:p>
        </p:txBody>
      </p:sp>
      <p:sp>
        <p:nvSpPr>
          <p:cNvPr id="21" name="AutoShape 10"/>
          <p:cNvSpPr>
            <a:spLocks/>
          </p:cNvSpPr>
          <p:nvPr/>
        </p:nvSpPr>
        <p:spPr bwMode="auto">
          <a:xfrm>
            <a:off x="4341800" y="3286994"/>
            <a:ext cx="288925" cy="1916112"/>
          </a:xfrm>
          <a:prstGeom prst="rightBrace">
            <a:avLst>
              <a:gd name="adj1" fmla="val 42400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600" b="1" smtClean="0">
              <a:latin typeface="Arial" charset="0"/>
            </a:endParaRPr>
          </a:p>
        </p:txBody>
      </p:sp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4660887" y="5151437"/>
            <a:ext cx="1203325" cy="830997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半导体物理基本方程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25" name="AutoShape 7"/>
          <p:cNvSpPr>
            <a:spLocks/>
          </p:cNvSpPr>
          <p:nvPr/>
        </p:nvSpPr>
        <p:spPr bwMode="auto">
          <a:xfrm flipH="1">
            <a:off x="7512037" y="3825156"/>
            <a:ext cx="233363" cy="2060575"/>
          </a:xfrm>
          <a:prstGeom prst="rightBrace">
            <a:avLst>
              <a:gd name="adj1" fmla="val 91192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 smtClean="0">
              <a:latin typeface="Arial" charset="0"/>
            </a:endParaRPr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6262675" y="4591919"/>
            <a:ext cx="1214437" cy="585787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buFontTx/>
              <a:buNone/>
              <a:defRPr/>
            </a:pPr>
            <a:r>
              <a:rPr lang="zh-CN" altLang="en-US" sz="1600" b="1" u="none" dirty="0" smtClean="0"/>
              <a:t>指定地点和时间的电流</a:t>
            </a:r>
            <a:endParaRPr lang="en-US" altLang="zh-CN" sz="1600" b="1" u="none" dirty="0" smtClean="0"/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7769212" y="3575919"/>
            <a:ext cx="1122363" cy="585787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1600" b="1" u="none" dirty="0" smtClean="0">
                <a:latin typeface="+mj-lt"/>
              </a:rPr>
              <a:t>PN</a:t>
            </a:r>
            <a:r>
              <a:rPr lang="zh-CN" altLang="en-US" sz="1600" b="1" u="none" dirty="0" smtClean="0">
                <a:latin typeface="+mj-lt"/>
              </a:rPr>
              <a:t>结合二极管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7769212" y="4610969"/>
            <a:ext cx="1122363" cy="585787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1600" b="1" u="none" dirty="0" smtClean="0">
                <a:latin typeface="+mj-lt"/>
              </a:rPr>
              <a:t>BJT</a:t>
            </a:r>
            <a:r>
              <a:rPr lang="zh-CN" altLang="en-US" sz="1600" b="1" u="none" dirty="0" smtClean="0">
                <a:latin typeface="+mj-lt"/>
              </a:rPr>
              <a:t>双极结型晶体管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7770800" y="5566644"/>
            <a:ext cx="1257300" cy="5842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1600" b="1" u="none" dirty="0" smtClean="0">
                <a:latin typeface="+mj-lt"/>
              </a:rPr>
              <a:t>MOSFET</a:t>
            </a:r>
            <a:r>
              <a:rPr lang="zh-CN" altLang="en-US" sz="1600" b="1" u="none" dirty="0" smtClean="0">
                <a:latin typeface="+mj-lt"/>
              </a:rPr>
              <a:t>场效应晶体管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30" name="AutoShape 10"/>
          <p:cNvSpPr>
            <a:spLocks/>
          </p:cNvSpPr>
          <p:nvPr/>
        </p:nvSpPr>
        <p:spPr bwMode="auto">
          <a:xfrm>
            <a:off x="5910250" y="4182437"/>
            <a:ext cx="288925" cy="1384208"/>
          </a:xfrm>
          <a:prstGeom prst="rightBrace">
            <a:avLst>
              <a:gd name="adj1" fmla="val 42400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600" b="1" smtClean="0">
              <a:latin typeface="Arial" charset="0"/>
            </a:endParaRPr>
          </a:p>
        </p:txBody>
      </p:sp>
      <p:sp>
        <p:nvSpPr>
          <p:cNvPr id="31" name="Text Box 3"/>
          <p:cNvSpPr txBox="1">
            <a:spLocks noChangeArrowheads="1"/>
          </p:cNvSpPr>
          <p:nvPr/>
        </p:nvSpPr>
        <p:spPr bwMode="auto">
          <a:xfrm>
            <a:off x="6780905" y="1077078"/>
            <a:ext cx="1928989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本课程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6780907" y="1571665"/>
            <a:ext cx="1928988" cy="33855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半导体物理与器件</a:t>
            </a:r>
            <a:r>
              <a:rPr lang="en-US" altLang="zh-CN" sz="1600" b="1" u="none" dirty="0" smtClean="0">
                <a:latin typeface="+mj-lt"/>
              </a:rPr>
              <a:t>1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6780905" y="2059158"/>
            <a:ext cx="1928989" cy="33855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其他课程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34" name="Text Box 3"/>
          <p:cNvSpPr txBox="1">
            <a:spLocks noChangeArrowheads="1"/>
          </p:cNvSpPr>
          <p:nvPr/>
        </p:nvSpPr>
        <p:spPr bwMode="auto">
          <a:xfrm>
            <a:off x="6780905" y="2520232"/>
            <a:ext cx="1928989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其他课程的交叉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41" name="Text Box 6"/>
          <p:cNvSpPr txBox="1">
            <a:spLocks noChangeArrowheads="1"/>
          </p:cNvSpPr>
          <p:nvPr/>
        </p:nvSpPr>
        <p:spPr bwMode="auto">
          <a:xfrm>
            <a:off x="2033051" y="4691089"/>
            <a:ext cx="905492" cy="33972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声子</a:t>
            </a:r>
            <a:endParaRPr lang="en-US" altLang="zh-CN" sz="1600" b="1" u="none" dirty="0" smtClean="0">
              <a:latin typeface="+mj-lt"/>
            </a:endParaRPr>
          </a:p>
        </p:txBody>
      </p:sp>
      <p:sp>
        <p:nvSpPr>
          <p:cNvPr id="43" name="AutoShape 10"/>
          <p:cNvSpPr>
            <a:spLocks/>
          </p:cNvSpPr>
          <p:nvPr/>
        </p:nvSpPr>
        <p:spPr bwMode="auto">
          <a:xfrm>
            <a:off x="2950449" y="4866863"/>
            <a:ext cx="233363" cy="822471"/>
          </a:xfrm>
          <a:prstGeom prst="rightBrace">
            <a:avLst>
              <a:gd name="adj1" fmla="val 42400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600" b="1" smtClean="0">
              <a:latin typeface="Arial" charset="0"/>
            </a:endParaRPr>
          </a:p>
        </p:txBody>
      </p:sp>
      <p:sp>
        <p:nvSpPr>
          <p:cNvPr id="44" name="Text Box 6"/>
          <p:cNvSpPr txBox="1">
            <a:spLocks noChangeArrowheads="1"/>
          </p:cNvSpPr>
          <p:nvPr/>
        </p:nvSpPr>
        <p:spPr bwMode="auto">
          <a:xfrm>
            <a:off x="2054494" y="5415506"/>
            <a:ext cx="905492" cy="58477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zh-CN" altLang="en-US" sz="1600" b="1" u="none" dirty="0" smtClean="0">
                <a:latin typeface="+mj-lt"/>
              </a:rPr>
              <a:t>晶体缺陷理论</a:t>
            </a:r>
            <a:endParaRPr lang="en-US" altLang="zh-CN" sz="1600" b="1" u="none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3488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6112222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4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、与半导体物理与器件</a:t>
            </a: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的传承关系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08461" y="1042327"/>
            <a:ext cx="7923212" cy="470898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本课程默认以学过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《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半导体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1》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，期末考试也无法完全回避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《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半导体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1》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课程的内容。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但是本课程的思想与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《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半导体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1》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有一些区别：</a:t>
            </a:r>
            <a:endParaRPr kumimoji="1" lang="zh-CN" altLang="en-US" sz="2400" b="1" dirty="0">
              <a:latin typeface="Times New Roman" pitchFamily="18" charset="0"/>
              <a:ea typeface="宋体" pitchFamily="2" charset="-122"/>
            </a:endParaRPr>
          </a:p>
          <a:p>
            <a:pPr marL="358775" lvl="1" indent="-341313"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注重知识体系的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完整性</a:t>
            </a:r>
            <a:endParaRPr kumimoji="1" lang="zh-CN" altLang="en-US" sz="24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</a:endParaRPr>
          </a:p>
          <a:p>
            <a:pPr marL="358775" lvl="1" indent="-341313"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注重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非理想特性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的分析，更结合实际情况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474662" lvl="2">
              <a:spcBef>
                <a:spcPct val="50000"/>
              </a:spcBef>
            </a:pP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《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半导体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1》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考虑的主要是理想情况，而本课程则有两种情况：一是对于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《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半导体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1》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已讲授的内容，这里重点分析相关的非理想因素；二是对于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《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半导体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1》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未讲授的部分，这里进行补充，构建完整的知识体系。</a:t>
            </a:r>
            <a:endParaRPr kumimoji="1" lang="zh-CN" altLang="en-US" sz="2400" b="1" dirty="0">
              <a:latin typeface="Times New Roman" pitchFamily="18" charset="0"/>
              <a:ea typeface="宋体" pitchFamily="2" charset="-122"/>
            </a:endParaRPr>
          </a:p>
          <a:p>
            <a:pPr marL="358775" lvl="1" indent="-341313"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注重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数学推导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能力，物理图像与公式推导并重</a:t>
            </a:r>
            <a:endParaRPr kumimoji="1" lang="zh-CN" altLang="en-US" sz="2400" b="1" dirty="0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276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5256212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5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、内容选择与安排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86901" y="1168251"/>
            <a:ext cx="8353425" cy="404418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与</a:t>
            </a:r>
            <a:r>
              <a:rPr kumimoji="1"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VLSI</a:t>
            </a: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技术相关的半导体材料和基本器件结构中的物理问题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第一章：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引言</a:t>
            </a:r>
            <a:endParaRPr kumimoji="1" lang="zh-CN" altLang="en-US" sz="24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第二章：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半导体能带</a:t>
            </a:r>
            <a:endParaRPr kumimoji="1" lang="zh-CN" altLang="en-US" sz="24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第三章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：载流子输运</a:t>
            </a:r>
            <a:endParaRPr kumimoji="1" lang="zh-CN" altLang="en-US" sz="24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第四章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：结型半导体器件</a:t>
            </a:r>
            <a:endParaRPr kumimoji="1" lang="zh-CN" altLang="en-US" sz="24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第五章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：纳米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MOSFET</a:t>
            </a:r>
            <a:endParaRPr kumimoji="1" lang="zh-CN" altLang="en-US" sz="24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第六章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新型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半导体器件</a:t>
            </a:r>
            <a:endParaRPr kumimoji="1" lang="zh-CN" altLang="en-US" sz="24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课程汇报、总结与复习</a:t>
            </a:r>
            <a:endParaRPr kumimoji="1" lang="zh-CN" altLang="en-US" sz="24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13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689460" y="295910"/>
            <a:ext cx="5695406" cy="6463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3600" b="1" dirty="0">
                <a:solidFill>
                  <a:srgbClr val="FF6600"/>
                </a:solidFill>
                <a:latin typeface="Times New Roman" pitchFamily="18" charset="0"/>
                <a:ea typeface="宋体" pitchFamily="2" charset="-122"/>
              </a:rPr>
              <a:t>三</a:t>
            </a:r>
            <a:r>
              <a:rPr kumimoji="1" lang="zh-CN" altLang="en-US" sz="3600" b="1" dirty="0" smtClean="0">
                <a:solidFill>
                  <a:srgbClr val="FF6600"/>
                </a:solidFill>
                <a:latin typeface="Times New Roman" pitchFamily="18" charset="0"/>
                <a:ea typeface="宋体" pitchFamily="2" charset="-122"/>
              </a:rPr>
              <a:t>、半导体器件的核心问题</a:t>
            </a:r>
            <a:endParaRPr kumimoji="1" lang="zh-CN" altLang="en-US" sz="3600" b="1" dirty="0">
              <a:solidFill>
                <a:srgbClr val="FF6600"/>
              </a:solidFill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70" y="1201805"/>
            <a:ext cx="4241028" cy="372721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268" y="2395498"/>
            <a:ext cx="2747191" cy="65086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/>
          <a:srcRect l="3442" t="-36"/>
          <a:stretch/>
        </p:blipFill>
        <p:spPr>
          <a:xfrm>
            <a:off x="4659086" y="3351978"/>
            <a:ext cx="4315157" cy="1116425"/>
          </a:xfrm>
          <a:prstGeom prst="rect">
            <a:avLst/>
          </a:prstGeom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97758" y="5028744"/>
            <a:ext cx="8322656" cy="171739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源漏两端施加一定电压（</a:t>
            </a:r>
            <a:r>
              <a:rPr kumimoji="1" lang="en-US" altLang="zh-CN" sz="2400" b="1" dirty="0" smtClean="0">
                <a:latin typeface="宋体" pitchFamily="2" charset="-122"/>
                <a:ea typeface="宋体" pitchFamily="2" charset="-122"/>
              </a:rPr>
              <a:t>V</a:t>
            </a:r>
            <a:r>
              <a:rPr kumimoji="1" lang="en-US" altLang="zh-CN" sz="2400" b="1" baseline="-25000" dirty="0" smtClean="0">
                <a:latin typeface="宋体" pitchFamily="2" charset="-122"/>
                <a:ea typeface="宋体" pitchFamily="2" charset="-122"/>
              </a:rPr>
              <a:t>D</a:t>
            </a: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）以后，有电流从源漏之间的沟道通过，电流大小与</a:t>
            </a:r>
            <a:r>
              <a:rPr kumimoji="1" lang="en-US" altLang="zh-CN" sz="2400" b="1" dirty="0" smtClean="0">
                <a:latin typeface="宋体" pitchFamily="2" charset="-122"/>
                <a:ea typeface="宋体" pitchFamily="2" charset="-122"/>
              </a:rPr>
              <a:t>V</a:t>
            </a:r>
            <a:r>
              <a:rPr kumimoji="1" lang="en-US" altLang="zh-CN" sz="2400" b="1" baseline="-25000" dirty="0" smtClean="0">
                <a:latin typeface="宋体" pitchFamily="2" charset="-122"/>
                <a:ea typeface="宋体" pitchFamily="2" charset="-122"/>
              </a:rPr>
              <a:t>D</a:t>
            </a: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和透过系数</a:t>
            </a:r>
            <a:r>
              <a:rPr kumimoji="1" lang="en-US" altLang="zh-CN" sz="2400" b="1" dirty="0" smtClean="0">
                <a:latin typeface="宋体" pitchFamily="2" charset="-122"/>
                <a:ea typeface="宋体" pitchFamily="2" charset="-122"/>
              </a:rPr>
              <a:t>T</a:t>
            </a: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有关</a:t>
            </a:r>
            <a:endParaRPr kumimoji="1" lang="en-US" altLang="zh-CN" sz="2400" b="1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半导体器件就是研究</a:t>
            </a:r>
            <a:r>
              <a:rPr kumimoji="1" lang="en-US" altLang="zh-CN" sz="2400" b="1" dirty="0" smtClean="0">
                <a:latin typeface="宋体" pitchFamily="2" charset="-122"/>
                <a:ea typeface="宋体" pitchFamily="2" charset="-122"/>
              </a:rPr>
              <a:t>T</a:t>
            </a: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与哪些因素有关，为什么有关</a:t>
            </a:r>
            <a:endParaRPr kumimoji="1" lang="zh-CN" altLang="en-US" sz="24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08844" y="1311937"/>
            <a:ext cx="3215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什么是半导体器件？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1159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07" y="1278098"/>
            <a:ext cx="4173446" cy="2766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2"/>
          <p:cNvPicPr>
            <a:picLocks noChangeAspect="1" noChangeArrowheads="1"/>
          </p:cNvPicPr>
          <p:nvPr/>
        </p:nvPicPr>
        <p:blipFill rotWithShape="1">
          <a:blip r:embed="rId3" cstate="print"/>
          <a:srcRect r="9620" b="12489"/>
          <a:stretch/>
        </p:blipFill>
        <p:spPr bwMode="auto">
          <a:xfrm>
            <a:off x="5058455" y="1142273"/>
            <a:ext cx="3650116" cy="2902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5256212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PN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结二极管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62925" y="4336584"/>
            <a:ext cx="8322656" cy="238219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400" b="1" dirty="0" smtClean="0">
                <a:latin typeface="宋体" pitchFamily="2" charset="-122"/>
                <a:ea typeface="宋体" pitchFamily="2" charset="-122"/>
              </a:rPr>
              <a:t>PN</a:t>
            </a: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结正向偏置时，</a:t>
            </a:r>
            <a:r>
              <a:rPr kumimoji="1" lang="en-US" altLang="zh-CN" sz="2400" b="1" dirty="0" smtClean="0">
                <a:latin typeface="宋体" pitchFamily="2" charset="-122"/>
                <a:ea typeface="宋体" pitchFamily="2" charset="-122"/>
              </a:rPr>
              <a:t>n</a:t>
            </a: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型区域是电子的“源”，</a:t>
            </a:r>
            <a:r>
              <a:rPr kumimoji="1" lang="en-US" altLang="zh-CN" sz="2400" b="1" dirty="0" smtClean="0">
                <a:latin typeface="宋体" pitchFamily="2" charset="-122"/>
                <a:ea typeface="宋体" pitchFamily="2" charset="-122"/>
              </a:rPr>
              <a:t>p</a:t>
            </a: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型区域是电子的“漏”，空间电荷区（耗尽区）是“沟道”</a:t>
            </a:r>
            <a:endParaRPr kumimoji="1" lang="en-US" altLang="zh-CN" sz="2400" b="1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透过系数</a:t>
            </a:r>
            <a:r>
              <a:rPr kumimoji="1" lang="en-US" altLang="zh-CN" sz="2400" b="1" dirty="0" smtClean="0">
                <a:latin typeface="宋体" pitchFamily="2" charset="-122"/>
                <a:ea typeface="宋体" pitchFamily="2" charset="-122"/>
              </a:rPr>
              <a:t>T</a:t>
            </a: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是非线性函数</a:t>
            </a:r>
            <a:endParaRPr kumimoji="1" lang="en-US" altLang="zh-CN" sz="2400" b="1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对于空穴呢？</a:t>
            </a:r>
            <a:endParaRPr kumimoji="1" lang="zh-CN" altLang="en-US" sz="24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129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12</a:t>
            </a:fld>
            <a:endParaRPr lang="zh-CN" altLang="en-US"/>
          </a:p>
        </p:txBody>
      </p:sp>
      <p:grpSp>
        <p:nvGrpSpPr>
          <p:cNvPr id="7" name="组合 6"/>
          <p:cNvGrpSpPr>
            <a:grpSpLocks noChangeAspect="1"/>
          </p:cNvGrpSpPr>
          <p:nvPr/>
        </p:nvGrpSpPr>
        <p:grpSpPr>
          <a:xfrm>
            <a:off x="4131121" y="585503"/>
            <a:ext cx="4811213" cy="3287012"/>
            <a:chOff x="353662" y="445066"/>
            <a:chExt cx="8436676" cy="596786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3662" y="445066"/>
              <a:ext cx="8436676" cy="5967867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7875938" y="583474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58949" y="4132071"/>
            <a:ext cx="8322656" cy="21975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为了加强对沟道电流的调控能力，引入第三个控制端“栅极”，栅极不通过电流，但是栅极电压</a:t>
            </a:r>
            <a:r>
              <a:rPr kumimoji="1" lang="en-US" altLang="zh-CN" sz="2400" b="1" dirty="0" smtClean="0">
                <a:latin typeface="宋体" pitchFamily="2" charset="-122"/>
                <a:ea typeface="宋体" pitchFamily="2" charset="-122"/>
              </a:rPr>
              <a:t>V</a:t>
            </a:r>
            <a:r>
              <a:rPr kumimoji="1" lang="en-US" altLang="zh-CN" sz="2400" b="1" baseline="-25000" dirty="0" smtClean="0">
                <a:latin typeface="宋体" pitchFamily="2" charset="-122"/>
                <a:ea typeface="宋体" pitchFamily="2" charset="-122"/>
              </a:rPr>
              <a:t>G</a:t>
            </a: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对电流有影响，也就是说，透过系数</a:t>
            </a:r>
            <a:r>
              <a:rPr kumimoji="1" lang="en-US" altLang="zh-CN" sz="2400" b="1" dirty="0" smtClean="0">
                <a:latin typeface="宋体" pitchFamily="2" charset="-122"/>
                <a:ea typeface="宋体" pitchFamily="2" charset="-122"/>
              </a:rPr>
              <a:t>T</a:t>
            </a: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也是</a:t>
            </a:r>
            <a:r>
              <a:rPr kumimoji="1" lang="en-US" altLang="zh-CN" sz="2400" b="1" dirty="0" smtClean="0">
                <a:latin typeface="宋体" pitchFamily="2" charset="-122"/>
                <a:ea typeface="宋体" pitchFamily="2" charset="-122"/>
              </a:rPr>
              <a:t>V</a:t>
            </a:r>
            <a:r>
              <a:rPr kumimoji="1" lang="en-US" altLang="zh-CN" sz="2400" b="1" baseline="-25000" dirty="0" smtClean="0">
                <a:latin typeface="宋体" pitchFamily="2" charset="-122"/>
                <a:ea typeface="宋体" pitchFamily="2" charset="-122"/>
              </a:rPr>
              <a:t>G</a:t>
            </a: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的函数。</a:t>
            </a:r>
            <a:endParaRPr kumimoji="1" lang="en-US" altLang="zh-CN" sz="2400" b="1" dirty="0" smtClean="0">
              <a:latin typeface="宋体" pitchFamily="2" charset="-122"/>
              <a:ea typeface="宋体" pitchFamily="2" charset="-122"/>
            </a:endParaRP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400" b="1" dirty="0" smtClean="0">
                <a:latin typeface="宋体" pitchFamily="2" charset="-122"/>
                <a:ea typeface="宋体" pitchFamily="2" charset="-122"/>
              </a:rPr>
              <a:t>通过栅极的控制，可以改变器件的开关状态</a:t>
            </a:r>
            <a:endParaRPr kumimoji="1" lang="zh-CN" altLang="en-US" sz="24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r="16939" b="1229"/>
          <a:stretch/>
        </p:blipFill>
        <p:spPr>
          <a:xfrm>
            <a:off x="386901" y="1291484"/>
            <a:ext cx="3209739" cy="2538697"/>
          </a:xfrm>
          <a:prstGeom prst="rect">
            <a:avLst/>
          </a:prstGeom>
        </p:spPr>
      </p:pic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5256212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MOSFET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场效应晶体管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200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850455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影响电流的两个因素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86901" y="1149813"/>
            <a:ext cx="8280722" cy="512448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本系列课程仅以几种主流的半导体器件为例展开讨论，然而万变不离其宗，所有半导体器件都是遵循同样的原则。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半导体器件中的两个关键问题：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457200" indent="-457200">
              <a:lnSpc>
                <a:spcPct val="150000"/>
              </a:lnSpc>
              <a:spcAft>
                <a:spcPts val="1800"/>
              </a:spcAft>
              <a:buFont typeface="+mj-lt"/>
              <a:buAutoNum type="arabicPeriod"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如何分析栅极对沟道电流的调制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——</a:t>
            </a:r>
            <a:r>
              <a:rPr kumimoji="1" lang="zh-CN" altLang="en-US" sz="2400" b="1" dirty="0" smtClean="0">
                <a:solidFill>
                  <a:srgbClr val="0070C0"/>
                </a:solidFill>
                <a:latin typeface="Times New Roman" pitchFamily="18" charset="0"/>
                <a:ea typeface="宋体" pitchFamily="2" charset="-122"/>
              </a:rPr>
              <a:t>能带理论</a:t>
            </a:r>
            <a:endParaRPr kumimoji="1" lang="en-US" altLang="zh-CN" sz="2400" b="1" dirty="0" smtClean="0">
              <a:solidFill>
                <a:srgbClr val="0070C0"/>
              </a:solidFill>
              <a:latin typeface="Times New Roman" pitchFamily="18" charset="0"/>
              <a:ea typeface="宋体" pitchFamily="2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沟道的能带是如何随栅电压变化的？</a:t>
            </a:r>
            <a:endParaRPr kumimoji="1" lang="en-US" altLang="zh-CN" sz="2400" b="1" dirty="0" smtClean="0">
              <a:solidFill>
                <a:srgbClr val="0070C0"/>
              </a:solidFill>
              <a:latin typeface="Times New Roman" pitchFamily="18" charset="0"/>
              <a:ea typeface="宋体" pitchFamily="2" charset="-122"/>
            </a:endParaRPr>
          </a:p>
          <a:p>
            <a:pPr marL="457200" indent="-457200">
              <a:lnSpc>
                <a:spcPct val="150000"/>
              </a:lnSpc>
              <a:spcAft>
                <a:spcPts val="1800"/>
              </a:spcAft>
              <a:buFont typeface="+mj-lt"/>
              <a:buAutoNum type="arabicPeriod"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如何计算沟道的电流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——</a:t>
            </a:r>
            <a:r>
              <a:rPr kumimoji="1" lang="zh-CN" altLang="en-US" sz="2400" b="1" dirty="0" smtClean="0">
                <a:solidFill>
                  <a:srgbClr val="0070C0"/>
                </a:solidFill>
                <a:latin typeface="Times New Roman" pitchFamily="18" charset="0"/>
                <a:ea typeface="宋体" pitchFamily="2" charset="-122"/>
              </a:rPr>
              <a:t>输运机制</a:t>
            </a:r>
            <a:endParaRPr kumimoji="1" lang="en-US" altLang="zh-CN" sz="2400" b="1" dirty="0" smtClean="0">
              <a:solidFill>
                <a:srgbClr val="0070C0"/>
              </a:solidFill>
              <a:latin typeface="Times New Roman" pitchFamily="18" charset="0"/>
              <a:ea typeface="宋体" pitchFamily="2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在已知能带结构的情况下，如何计算载流子的输运？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4122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850455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半导体器件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86901" y="1149813"/>
            <a:ext cx="8280722" cy="521681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所有的半导体器件都是通过调控沟道的能带或者输运机制，来实现对沟道电流大小的有效控制。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经典逻辑器件：通过栅极信号控制沟道的能带，从而改变沟道电流。常见的逻辑器件有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MOSFET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、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BJT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等。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存储器件：通过可保持的机制取代栅极信号，来实现对能带或者输运机制的调控。比如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Flash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、忆阻器等。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传感器件：通过外界环境的变化实现对能带或输运机制的调控。比如光电探测器、气敏传感器等。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626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850455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课堂思考题：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86901" y="1788168"/>
            <a:ext cx="8280722" cy="364715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行业里经常把“微电子”</a:t>
            </a: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</a:rPr>
              <a:t>、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“半导体”、“集成电路”等词认为是同一个意思，比如“半导体工艺”与“集成电路制造”，“半导体产业”与“微电子产业”是一个意思。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那么“半导体”在“器件”中到底扮演者什么样的角色？为什么器件的沟道都是以半导体为主的？有没有可能设计出基于“非半导体”的器件？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6020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14400" y="1064260"/>
            <a:ext cx="7315200" cy="171386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你认为现在集成电路中的主流器件有没有基于“非半导体”的？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不用想了，不可能的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有可能，但是没有意义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我相信，未来一定会有的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老师孤陋寡闻了，现在芯片里就已经有了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2" name="组合 31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31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dirty="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dirty="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dirty="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9051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526214" y="295910"/>
            <a:ext cx="8100204" cy="6463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3600" b="1" dirty="0" smtClean="0">
                <a:solidFill>
                  <a:srgbClr val="FF6600"/>
                </a:solidFill>
                <a:latin typeface="Times New Roman" pitchFamily="18" charset="0"/>
                <a:ea typeface="宋体" pitchFamily="2" charset="-122"/>
              </a:rPr>
              <a:t>四、半导体器件的发展历史与未来趋势</a:t>
            </a:r>
            <a:endParaRPr kumimoji="1" lang="zh-CN" altLang="en-US" sz="3600" b="1" dirty="0">
              <a:solidFill>
                <a:srgbClr val="FF66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86901" y="1361113"/>
            <a:ext cx="850455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十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大历史事件：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35955" y="2124600"/>
            <a:ext cx="8280722" cy="352096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20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世纪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30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年代，量子力学和能带论的提出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457200" indent="-45720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20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世纪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40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年代，晶体管的发明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457200" indent="-45720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kumimoji="1" lang="en-US" altLang="zh-CN" sz="2400" b="1" dirty="0">
                <a:latin typeface="Times New Roman" pitchFamily="18" charset="0"/>
                <a:ea typeface="宋体" pitchFamily="2" charset="-122"/>
              </a:rPr>
              <a:t>20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世纪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50</a:t>
            </a: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</a:rPr>
              <a:t>年代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，平面集成电路的发明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457200" indent="-45720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20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世纪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60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年代，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MOSFET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的发明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457200" indent="-45720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20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世纪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60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年代，摩尔定律的提出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457200" indent="-45720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0395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00637" y="360448"/>
            <a:ext cx="850455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十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大历史事件：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12551" y="1201573"/>
            <a:ext cx="8280722" cy="524759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eriod" startAt="6"/>
            </a:pP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65nm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节点（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~2008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年），应变硅的引入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开始尝试改变沟道材料以调控输运机制（提升迁移率）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</a:endParaRP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kumimoji="1" lang="en-US" altLang="zh-CN" sz="2000" b="1" dirty="0" err="1" smtClean="0">
                <a:latin typeface="Times New Roman" pitchFamily="18" charset="0"/>
                <a:ea typeface="宋体" pitchFamily="2" charset="-122"/>
              </a:rPr>
              <a:t>GeSi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en-US" altLang="zh-CN" sz="2000" b="1" dirty="0" err="1" smtClean="0">
                <a:latin typeface="Times New Roman" pitchFamily="18" charset="0"/>
                <a:ea typeface="宋体" pitchFamily="2" charset="-122"/>
              </a:rPr>
              <a:t>GeSn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en-US" altLang="zh-CN" sz="2000" b="1" dirty="0" err="1" smtClean="0">
                <a:latin typeface="Times New Roman" pitchFamily="18" charset="0"/>
                <a:ea typeface="宋体" pitchFamily="2" charset="-122"/>
              </a:rPr>
              <a:t>GaN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en-US" altLang="zh-CN" sz="2000" b="1" dirty="0" err="1" smtClean="0">
                <a:latin typeface="Times New Roman" pitchFamily="18" charset="0"/>
                <a:ea typeface="宋体" pitchFamily="2" charset="-122"/>
              </a:rPr>
              <a:t>SiC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</a:rPr>
              <a:t>III-V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</a:rPr>
              <a:t>CNT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，石墨烯，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</a:rPr>
              <a:t>IGZO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等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 startAt="6"/>
            </a:pP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45nm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节点（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~2010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年），高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K/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金属栅的引入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开始尝试改变栅材料以提升栅控能力</a:t>
            </a:r>
            <a:endParaRPr kumimoji="1" lang="en-US" altLang="zh-CN" sz="2000" b="1" dirty="0">
              <a:latin typeface="Times New Roman" pitchFamily="18" charset="0"/>
              <a:ea typeface="宋体" pitchFamily="2" charset="-122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 startAt="6"/>
            </a:pP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22nm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节点（</a:t>
            </a: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~2014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年），</a:t>
            </a:r>
            <a:r>
              <a:rPr kumimoji="1" lang="en-US" altLang="zh-CN" sz="2400" b="1" dirty="0" err="1" smtClean="0">
                <a:latin typeface="Times New Roman" pitchFamily="18" charset="0"/>
                <a:ea typeface="宋体" pitchFamily="2" charset="-122"/>
              </a:rPr>
              <a:t>FinFET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的引入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开始尝试改变器件结构以提升栅控能力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</a:endParaRP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</a:rPr>
              <a:t>Nanowire FET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en-US" altLang="zh-CN" sz="2000" b="1" dirty="0" err="1" smtClean="0">
                <a:latin typeface="Times New Roman" pitchFamily="18" charset="0"/>
                <a:ea typeface="宋体" pitchFamily="2" charset="-122"/>
              </a:rPr>
              <a:t>Nanosheet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</a:rPr>
              <a:t> FET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等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 startAt="6"/>
            </a:pP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~2015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年存算一体器件的提出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开始开发新原理器件，从纵向变为横向发展（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</a:rPr>
              <a:t>more than Moore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）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 startAt="6"/>
            </a:pP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~2018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年三维堆叠晶体管技术的提出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晶体管开始从二维集成走向三维集成</a:t>
            </a:r>
            <a:endParaRPr kumimoji="1" lang="en-US" altLang="zh-CN" sz="2000" b="1" dirty="0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5821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18" y="991956"/>
            <a:ext cx="8752522" cy="5546957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00637" y="360448"/>
            <a:ext cx="850455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应力硅：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2005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92" y="1370647"/>
            <a:ext cx="7572872" cy="378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07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21</a:t>
            </a:fld>
            <a:endParaRPr lang="zh-CN" altLang="en-US"/>
          </a:p>
        </p:txBody>
      </p:sp>
      <p:graphicFrame>
        <p:nvGraphicFramePr>
          <p:cNvPr id="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913646"/>
              </p:ext>
            </p:extLst>
          </p:nvPr>
        </p:nvGraphicFramePr>
        <p:xfrm>
          <a:off x="1569720" y="2309528"/>
          <a:ext cx="6172200" cy="356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name="BMP 图象" r:id="rId3" imgW="6400000" imgH="4019048" progId="Paint.Picture">
                  <p:embed/>
                </p:oleObj>
              </mc:Choice>
              <mc:Fallback>
                <p:oleObj name="BMP 图象" r:id="rId3" imgW="6400000" imgH="4019048" progId="Paint.Picture">
                  <p:embed/>
                  <p:pic>
                    <p:nvPicPr>
                      <p:cNvPr id="5325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720" y="2309528"/>
                        <a:ext cx="6172200" cy="356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262" y="1368140"/>
            <a:ext cx="2385434" cy="1916956"/>
          </a:xfrm>
          <a:prstGeom prst="rect">
            <a:avLst/>
          </a:prstGeom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300637" y="360448"/>
            <a:ext cx="850455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高</a:t>
            </a: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K/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金属栅：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929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3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500" y="868680"/>
            <a:ext cx="4648200" cy="524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8116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3" y="1383982"/>
            <a:ext cx="8369618" cy="4271443"/>
          </a:xfrm>
          <a:prstGeom prst="rect">
            <a:avLst/>
          </a:prstGeom>
        </p:spPr>
      </p:pic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00637" y="360448"/>
            <a:ext cx="850455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err="1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FinFET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：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1448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97" y="1086802"/>
            <a:ext cx="6586979" cy="508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64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61" y="1370013"/>
            <a:ext cx="7843113" cy="4876800"/>
          </a:xfrm>
          <a:prstGeom prst="rect">
            <a:avLst/>
          </a:prstGeom>
        </p:spPr>
      </p:pic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00637" y="360448"/>
            <a:ext cx="850455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Flash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：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2098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45721" y="893410"/>
            <a:ext cx="6495691" cy="5212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16531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00637" y="360448"/>
            <a:ext cx="850455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忆阻器：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04" y="1270858"/>
            <a:ext cx="4047808" cy="23293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547" y="1137141"/>
            <a:ext cx="3168352" cy="2596742"/>
          </a:xfrm>
          <a:prstGeom prst="rect">
            <a:avLst/>
          </a:prstGeom>
        </p:spPr>
      </p:pic>
      <p:grpSp>
        <p:nvGrpSpPr>
          <p:cNvPr id="50" name="组合 49"/>
          <p:cNvGrpSpPr/>
          <p:nvPr/>
        </p:nvGrpSpPr>
        <p:grpSpPr>
          <a:xfrm>
            <a:off x="378296" y="4140711"/>
            <a:ext cx="4437691" cy="2398202"/>
            <a:chOff x="421428" y="4199539"/>
            <a:chExt cx="4437691" cy="2398202"/>
          </a:xfrm>
        </p:grpSpPr>
        <p:cxnSp>
          <p:nvCxnSpPr>
            <p:cNvPr id="6" name="Straight Connector 2"/>
            <p:cNvCxnSpPr/>
            <p:nvPr/>
          </p:nvCxnSpPr>
          <p:spPr>
            <a:xfrm>
              <a:off x="421428" y="4749526"/>
              <a:ext cx="1156607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7" name="Straight Connector 110"/>
            <p:cNvCxnSpPr/>
            <p:nvPr/>
          </p:nvCxnSpPr>
          <p:spPr>
            <a:xfrm rot="5400000">
              <a:off x="873404" y="5061311"/>
              <a:ext cx="1440000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8" name="Straight Connector 111"/>
            <p:cNvCxnSpPr/>
            <p:nvPr/>
          </p:nvCxnSpPr>
          <p:spPr>
            <a:xfrm>
              <a:off x="1593405" y="4341312"/>
              <a:ext cx="2109107" cy="816429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9" name="Straight Connector 112"/>
            <p:cNvCxnSpPr/>
            <p:nvPr/>
          </p:nvCxnSpPr>
          <p:spPr>
            <a:xfrm rot="5400000" flipH="1" flipV="1">
              <a:off x="2982512" y="5877741"/>
              <a:ext cx="1440000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10" name="Straight Connector 113"/>
            <p:cNvCxnSpPr/>
            <p:nvPr/>
          </p:nvCxnSpPr>
          <p:spPr>
            <a:xfrm>
              <a:off x="1600148" y="5765507"/>
              <a:ext cx="2109107" cy="816429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11" name="Straight Connector 114"/>
            <p:cNvCxnSpPr/>
            <p:nvPr/>
          </p:nvCxnSpPr>
          <p:spPr>
            <a:xfrm>
              <a:off x="3702512" y="6063172"/>
              <a:ext cx="1156607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sp>
          <p:nvSpPr>
            <p:cNvPr id="14" name="Freeform 117"/>
            <p:cNvSpPr/>
            <p:nvPr/>
          </p:nvSpPr>
          <p:spPr>
            <a:xfrm>
              <a:off x="1253226" y="4199539"/>
              <a:ext cx="872511" cy="315073"/>
            </a:xfrm>
            <a:custGeom>
              <a:avLst/>
              <a:gdLst>
                <a:gd name="connsiteX0" fmla="*/ 0 w 923453"/>
                <a:gd name="connsiteY0" fmla="*/ 333469 h 333469"/>
                <a:gd name="connsiteX1" fmla="*/ 262550 w 923453"/>
                <a:gd name="connsiteY1" fmla="*/ 34705 h 333469"/>
                <a:gd name="connsiteX2" fmla="*/ 923453 w 923453"/>
                <a:gd name="connsiteY2" fmla="*/ 125240 h 333469"/>
                <a:gd name="connsiteX3" fmla="*/ 923453 w 923453"/>
                <a:gd name="connsiteY3" fmla="*/ 125240 h 333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453" h="333469">
                  <a:moveTo>
                    <a:pt x="0" y="333469"/>
                  </a:moveTo>
                  <a:cubicBezTo>
                    <a:pt x="54320" y="201439"/>
                    <a:pt x="108641" y="69410"/>
                    <a:pt x="262550" y="34705"/>
                  </a:cubicBezTo>
                  <a:cubicBezTo>
                    <a:pt x="416459" y="0"/>
                    <a:pt x="923453" y="125240"/>
                    <a:pt x="923453" y="125240"/>
                  </a:cubicBezTo>
                  <a:lnTo>
                    <a:pt x="923453" y="125240"/>
                  </a:ln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  <a:tailEnd type="arrow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/>
                <a:cs typeface="Arial"/>
              </a:endParaRPr>
            </a:p>
          </p:txBody>
        </p:sp>
        <p:cxnSp>
          <p:nvCxnSpPr>
            <p:cNvPr id="15" name="Straight Connector 118"/>
            <p:cNvCxnSpPr/>
            <p:nvPr/>
          </p:nvCxnSpPr>
          <p:spPr>
            <a:xfrm>
              <a:off x="2137690" y="5157740"/>
              <a:ext cx="204107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16" name="Straight Connector 119"/>
            <p:cNvCxnSpPr/>
            <p:nvPr/>
          </p:nvCxnSpPr>
          <p:spPr>
            <a:xfrm>
              <a:off x="2477869" y="5293812"/>
              <a:ext cx="204107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17" name="Straight Connector 120"/>
            <p:cNvCxnSpPr/>
            <p:nvPr/>
          </p:nvCxnSpPr>
          <p:spPr>
            <a:xfrm>
              <a:off x="2818048" y="5445726"/>
              <a:ext cx="204107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18" name="Straight Connector 121"/>
            <p:cNvCxnSpPr/>
            <p:nvPr/>
          </p:nvCxnSpPr>
          <p:spPr>
            <a:xfrm>
              <a:off x="3158226" y="5589719"/>
              <a:ext cx="204107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19" name="Straight Connector 122"/>
            <p:cNvCxnSpPr/>
            <p:nvPr/>
          </p:nvCxnSpPr>
          <p:spPr>
            <a:xfrm>
              <a:off x="3430369" y="5733712"/>
              <a:ext cx="204107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20" name="Straight Arrow Connector 123"/>
            <p:cNvCxnSpPr/>
            <p:nvPr/>
          </p:nvCxnSpPr>
          <p:spPr>
            <a:xfrm flipV="1">
              <a:off x="1297332" y="4924447"/>
              <a:ext cx="571980" cy="867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tailEnd type="arrow"/>
            </a:ln>
            <a:effectLst/>
          </p:spPr>
        </p:cxnSp>
        <p:sp>
          <p:nvSpPr>
            <p:cNvPr id="23" name="Freeform 128"/>
            <p:cNvSpPr/>
            <p:nvPr/>
          </p:nvSpPr>
          <p:spPr>
            <a:xfrm flipV="1">
              <a:off x="2273762" y="5284548"/>
              <a:ext cx="272143" cy="153257"/>
            </a:xfrm>
            <a:custGeom>
              <a:avLst/>
              <a:gdLst>
                <a:gd name="connsiteX0" fmla="*/ 0 w 923453"/>
                <a:gd name="connsiteY0" fmla="*/ 333469 h 333469"/>
                <a:gd name="connsiteX1" fmla="*/ 262550 w 923453"/>
                <a:gd name="connsiteY1" fmla="*/ 34705 h 333469"/>
                <a:gd name="connsiteX2" fmla="*/ 923453 w 923453"/>
                <a:gd name="connsiteY2" fmla="*/ 125240 h 333469"/>
                <a:gd name="connsiteX3" fmla="*/ 923453 w 923453"/>
                <a:gd name="connsiteY3" fmla="*/ 125240 h 333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453" h="333469">
                  <a:moveTo>
                    <a:pt x="0" y="333469"/>
                  </a:moveTo>
                  <a:cubicBezTo>
                    <a:pt x="54320" y="201439"/>
                    <a:pt x="108641" y="69410"/>
                    <a:pt x="262550" y="34705"/>
                  </a:cubicBezTo>
                  <a:cubicBezTo>
                    <a:pt x="416459" y="0"/>
                    <a:pt x="923453" y="125240"/>
                    <a:pt x="923453" y="125240"/>
                  </a:cubicBezTo>
                  <a:lnTo>
                    <a:pt x="923453" y="125240"/>
                  </a:ln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  <a:tailEnd type="arrow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/>
                <a:cs typeface="Arial"/>
              </a:endParaRPr>
            </a:p>
          </p:txBody>
        </p:sp>
        <p:sp>
          <p:nvSpPr>
            <p:cNvPr id="24" name="Freeform 129"/>
            <p:cNvSpPr/>
            <p:nvPr/>
          </p:nvSpPr>
          <p:spPr>
            <a:xfrm flipV="1">
              <a:off x="2613940" y="5428541"/>
              <a:ext cx="272143" cy="153257"/>
            </a:xfrm>
            <a:custGeom>
              <a:avLst/>
              <a:gdLst>
                <a:gd name="connsiteX0" fmla="*/ 0 w 923453"/>
                <a:gd name="connsiteY0" fmla="*/ 333469 h 333469"/>
                <a:gd name="connsiteX1" fmla="*/ 262550 w 923453"/>
                <a:gd name="connsiteY1" fmla="*/ 34705 h 333469"/>
                <a:gd name="connsiteX2" fmla="*/ 923453 w 923453"/>
                <a:gd name="connsiteY2" fmla="*/ 125240 h 333469"/>
                <a:gd name="connsiteX3" fmla="*/ 923453 w 923453"/>
                <a:gd name="connsiteY3" fmla="*/ 125240 h 333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453" h="333469">
                  <a:moveTo>
                    <a:pt x="0" y="333469"/>
                  </a:moveTo>
                  <a:cubicBezTo>
                    <a:pt x="54320" y="201439"/>
                    <a:pt x="108641" y="69410"/>
                    <a:pt x="262550" y="34705"/>
                  </a:cubicBezTo>
                  <a:cubicBezTo>
                    <a:pt x="416459" y="0"/>
                    <a:pt x="923453" y="125240"/>
                    <a:pt x="923453" y="125240"/>
                  </a:cubicBezTo>
                  <a:lnTo>
                    <a:pt x="923453" y="125240"/>
                  </a:ln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  <a:tailEnd type="arrow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/>
                <a:cs typeface="Arial"/>
              </a:endParaRPr>
            </a:p>
          </p:txBody>
        </p:sp>
        <p:sp>
          <p:nvSpPr>
            <p:cNvPr id="25" name="Freeform 130"/>
            <p:cNvSpPr/>
            <p:nvPr/>
          </p:nvSpPr>
          <p:spPr>
            <a:xfrm flipV="1">
              <a:off x="2954119" y="5572534"/>
              <a:ext cx="272143" cy="153257"/>
            </a:xfrm>
            <a:custGeom>
              <a:avLst/>
              <a:gdLst>
                <a:gd name="connsiteX0" fmla="*/ 0 w 923453"/>
                <a:gd name="connsiteY0" fmla="*/ 333469 h 333469"/>
                <a:gd name="connsiteX1" fmla="*/ 262550 w 923453"/>
                <a:gd name="connsiteY1" fmla="*/ 34705 h 333469"/>
                <a:gd name="connsiteX2" fmla="*/ 923453 w 923453"/>
                <a:gd name="connsiteY2" fmla="*/ 125240 h 333469"/>
                <a:gd name="connsiteX3" fmla="*/ 923453 w 923453"/>
                <a:gd name="connsiteY3" fmla="*/ 125240 h 333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453" h="333469">
                  <a:moveTo>
                    <a:pt x="0" y="333469"/>
                  </a:moveTo>
                  <a:cubicBezTo>
                    <a:pt x="54320" y="201439"/>
                    <a:pt x="108641" y="69410"/>
                    <a:pt x="262550" y="34705"/>
                  </a:cubicBezTo>
                  <a:cubicBezTo>
                    <a:pt x="416459" y="0"/>
                    <a:pt x="923453" y="125240"/>
                    <a:pt x="923453" y="125240"/>
                  </a:cubicBezTo>
                  <a:lnTo>
                    <a:pt x="923453" y="125240"/>
                  </a:ln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  <a:tailEnd type="arrow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/>
                <a:cs typeface="Arial"/>
              </a:endParaRPr>
            </a:p>
          </p:txBody>
        </p:sp>
        <p:sp>
          <p:nvSpPr>
            <p:cNvPr id="26" name="Freeform 131"/>
            <p:cNvSpPr/>
            <p:nvPr/>
          </p:nvSpPr>
          <p:spPr>
            <a:xfrm flipV="1">
              <a:off x="3294298" y="5716527"/>
              <a:ext cx="272143" cy="153257"/>
            </a:xfrm>
            <a:custGeom>
              <a:avLst/>
              <a:gdLst>
                <a:gd name="connsiteX0" fmla="*/ 0 w 923453"/>
                <a:gd name="connsiteY0" fmla="*/ 333469 h 333469"/>
                <a:gd name="connsiteX1" fmla="*/ 262550 w 923453"/>
                <a:gd name="connsiteY1" fmla="*/ 34705 h 333469"/>
                <a:gd name="connsiteX2" fmla="*/ 923453 w 923453"/>
                <a:gd name="connsiteY2" fmla="*/ 125240 h 333469"/>
                <a:gd name="connsiteX3" fmla="*/ 923453 w 923453"/>
                <a:gd name="connsiteY3" fmla="*/ 125240 h 333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453" h="333469">
                  <a:moveTo>
                    <a:pt x="0" y="333469"/>
                  </a:moveTo>
                  <a:cubicBezTo>
                    <a:pt x="54320" y="201439"/>
                    <a:pt x="108641" y="69410"/>
                    <a:pt x="262550" y="34705"/>
                  </a:cubicBezTo>
                  <a:cubicBezTo>
                    <a:pt x="416459" y="0"/>
                    <a:pt x="923453" y="125240"/>
                    <a:pt x="923453" y="125240"/>
                  </a:cubicBezTo>
                  <a:lnTo>
                    <a:pt x="923453" y="125240"/>
                  </a:ln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  <a:tailEnd type="arrow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/>
                <a:cs typeface="Arial"/>
              </a:endParaRPr>
            </a:p>
          </p:txBody>
        </p:sp>
        <p:cxnSp>
          <p:nvCxnSpPr>
            <p:cNvPr id="40" name="Straight Arrow Connector 145"/>
            <p:cNvCxnSpPr/>
            <p:nvPr/>
          </p:nvCxnSpPr>
          <p:spPr>
            <a:xfrm>
              <a:off x="3634476" y="5693400"/>
              <a:ext cx="476250" cy="1500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tailEnd type="arrow"/>
            </a:ln>
            <a:effectLst/>
          </p:spPr>
        </p:cxnSp>
        <p:cxnSp>
          <p:nvCxnSpPr>
            <p:cNvPr id="47" name="Straight Connector 118"/>
            <p:cNvCxnSpPr/>
            <p:nvPr/>
          </p:nvCxnSpPr>
          <p:spPr>
            <a:xfrm>
              <a:off x="1763880" y="5008221"/>
              <a:ext cx="204107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sp>
          <p:nvSpPr>
            <p:cNvPr id="48" name="Freeform 128"/>
            <p:cNvSpPr/>
            <p:nvPr/>
          </p:nvSpPr>
          <p:spPr>
            <a:xfrm flipV="1">
              <a:off x="1899953" y="5091898"/>
              <a:ext cx="272143" cy="153257"/>
            </a:xfrm>
            <a:custGeom>
              <a:avLst/>
              <a:gdLst>
                <a:gd name="connsiteX0" fmla="*/ 0 w 923453"/>
                <a:gd name="connsiteY0" fmla="*/ 333469 h 333469"/>
                <a:gd name="connsiteX1" fmla="*/ 262550 w 923453"/>
                <a:gd name="connsiteY1" fmla="*/ 34705 h 333469"/>
                <a:gd name="connsiteX2" fmla="*/ 923453 w 923453"/>
                <a:gd name="connsiteY2" fmla="*/ 125240 h 333469"/>
                <a:gd name="connsiteX3" fmla="*/ 923453 w 923453"/>
                <a:gd name="connsiteY3" fmla="*/ 125240 h 333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453" h="333469">
                  <a:moveTo>
                    <a:pt x="0" y="333469"/>
                  </a:moveTo>
                  <a:cubicBezTo>
                    <a:pt x="54320" y="201439"/>
                    <a:pt x="108641" y="69410"/>
                    <a:pt x="262550" y="34705"/>
                  </a:cubicBezTo>
                  <a:cubicBezTo>
                    <a:pt x="416459" y="0"/>
                    <a:pt x="923453" y="125240"/>
                    <a:pt x="923453" y="125240"/>
                  </a:cubicBezTo>
                  <a:lnTo>
                    <a:pt x="923453" y="125240"/>
                  </a:ln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  <a:tailEnd type="arrow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/>
                <a:cs typeface="Arial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4348593" y="4124906"/>
            <a:ext cx="4437691" cy="2398202"/>
            <a:chOff x="421428" y="4199539"/>
            <a:chExt cx="4437691" cy="2398202"/>
          </a:xfrm>
        </p:grpSpPr>
        <p:cxnSp>
          <p:nvCxnSpPr>
            <p:cNvPr id="52" name="Straight Connector 2"/>
            <p:cNvCxnSpPr/>
            <p:nvPr/>
          </p:nvCxnSpPr>
          <p:spPr>
            <a:xfrm>
              <a:off x="421428" y="4749526"/>
              <a:ext cx="1156607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53" name="Straight Connector 110"/>
            <p:cNvCxnSpPr/>
            <p:nvPr/>
          </p:nvCxnSpPr>
          <p:spPr>
            <a:xfrm rot="5400000">
              <a:off x="873404" y="5061311"/>
              <a:ext cx="1440000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54" name="Straight Connector 111"/>
            <p:cNvCxnSpPr/>
            <p:nvPr/>
          </p:nvCxnSpPr>
          <p:spPr>
            <a:xfrm>
              <a:off x="1593405" y="4341312"/>
              <a:ext cx="2109107" cy="816429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55" name="Straight Connector 112"/>
            <p:cNvCxnSpPr/>
            <p:nvPr/>
          </p:nvCxnSpPr>
          <p:spPr>
            <a:xfrm rot="5400000" flipH="1" flipV="1">
              <a:off x="2982512" y="5877741"/>
              <a:ext cx="1440000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56" name="Straight Connector 113"/>
            <p:cNvCxnSpPr/>
            <p:nvPr/>
          </p:nvCxnSpPr>
          <p:spPr>
            <a:xfrm>
              <a:off x="1600148" y="5765507"/>
              <a:ext cx="2109107" cy="816429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57" name="Straight Connector 114"/>
            <p:cNvCxnSpPr/>
            <p:nvPr/>
          </p:nvCxnSpPr>
          <p:spPr>
            <a:xfrm>
              <a:off x="3702512" y="6063172"/>
              <a:ext cx="1156607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sp>
          <p:nvSpPr>
            <p:cNvPr id="58" name="Freeform 117"/>
            <p:cNvSpPr/>
            <p:nvPr/>
          </p:nvSpPr>
          <p:spPr>
            <a:xfrm>
              <a:off x="1253226" y="4199539"/>
              <a:ext cx="872511" cy="315073"/>
            </a:xfrm>
            <a:custGeom>
              <a:avLst/>
              <a:gdLst>
                <a:gd name="connsiteX0" fmla="*/ 0 w 923453"/>
                <a:gd name="connsiteY0" fmla="*/ 333469 h 333469"/>
                <a:gd name="connsiteX1" fmla="*/ 262550 w 923453"/>
                <a:gd name="connsiteY1" fmla="*/ 34705 h 333469"/>
                <a:gd name="connsiteX2" fmla="*/ 923453 w 923453"/>
                <a:gd name="connsiteY2" fmla="*/ 125240 h 333469"/>
                <a:gd name="connsiteX3" fmla="*/ 923453 w 923453"/>
                <a:gd name="connsiteY3" fmla="*/ 125240 h 333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453" h="333469">
                  <a:moveTo>
                    <a:pt x="0" y="333469"/>
                  </a:moveTo>
                  <a:cubicBezTo>
                    <a:pt x="54320" y="201439"/>
                    <a:pt x="108641" y="69410"/>
                    <a:pt x="262550" y="34705"/>
                  </a:cubicBezTo>
                  <a:cubicBezTo>
                    <a:pt x="416459" y="0"/>
                    <a:pt x="923453" y="125240"/>
                    <a:pt x="923453" y="125240"/>
                  </a:cubicBezTo>
                  <a:lnTo>
                    <a:pt x="923453" y="125240"/>
                  </a:ln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  <a:tailEnd type="arrow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/>
                <a:cs typeface="Arial"/>
              </a:endParaRPr>
            </a:p>
          </p:txBody>
        </p:sp>
        <p:cxnSp>
          <p:nvCxnSpPr>
            <p:cNvPr id="60" name="Straight Connector 119"/>
            <p:cNvCxnSpPr/>
            <p:nvPr/>
          </p:nvCxnSpPr>
          <p:spPr>
            <a:xfrm>
              <a:off x="2477869" y="5293812"/>
              <a:ext cx="204107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61" name="Straight Connector 120"/>
            <p:cNvCxnSpPr/>
            <p:nvPr/>
          </p:nvCxnSpPr>
          <p:spPr>
            <a:xfrm>
              <a:off x="2818048" y="5445726"/>
              <a:ext cx="204107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62" name="Straight Connector 121"/>
            <p:cNvCxnSpPr/>
            <p:nvPr/>
          </p:nvCxnSpPr>
          <p:spPr>
            <a:xfrm>
              <a:off x="3158226" y="5589719"/>
              <a:ext cx="204107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  <p:cxnSp>
          <p:nvCxnSpPr>
            <p:cNvPr id="63" name="Straight Connector 122"/>
            <p:cNvCxnSpPr/>
            <p:nvPr/>
          </p:nvCxnSpPr>
          <p:spPr>
            <a:xfrm>
              <a:off x="3430369" y="5733712"/>
              <a:ext cx="204107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</p:cxnSp>
      </p:grpSp>
      <p:cxnSp>
        <p:nvCxnSpPr>
          <p:cNvPr id="72" name="Straight Arrow Connector 123"/>
          <p:cNvCxnSpPr/>
          <p:nvPr/>
        </p:nvCxnSpPr>
        <p:spPr>
          <a:xfrm flipV="1">
            <a:off x="5249950" y="5157756"/>
            <a:ext cx="1004202" cy="1"/>
          </a:xfrm>
          <a:prstGeom prst="straightConnector1">
            <a:avLst/>
          </a:prstGeom>
          <a:noFill/>
          <a:ln w="25400" cap="flat" cmpd="sng" algn="ctr">
            <a:solidFill>
              <a:srgbClr val="00B050"/>
            </a:solidFill>
            <a:prstDash val="solid"/>
            <a:tailEnd type="arrow"/>
          </a:ln>
          <a:effectLst/>
        </p:spPr>
      </p:cxnSp>
      <p:cxnSp>
        <p:nvCxnSpPr>
          <p:cNvPr id="75" name="直接连接符 74"/>
          <p:cNvCxnSpPr/>
          <p:nvPr/>
        </p:nvCxnSpPr>
        <p:spPr>
          <a:xfrm flipH="1">
            <a:off x="5685658" y="5021866"/>
            <a:ext cx="250713" cy="295298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rot="5400000" flipH="1">
            <a:off x="5700037" y="5027617"/>
            <a:ext cx="250713" cy="295298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192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28</a:t>
            </a:fld>
            <a:endParaRPr lang="zh-CN" altLang="en-US"/>
          </a:p>
        </p:txBody>
      </p:sp>
      <p:grpSp>
        <p:nvGrpSpPr>
          <p:cNvPr id="4" name="Group 20"/>
          <p:cNvGrpSpPr/>
          <p:nvPr/>
        </p:nvGrpSpPr>
        <p:grpSpPr>
          <a:xfrm>
            <a:off x="441961" y="538811"/>
            <a:ext cx="2762250" cy="3714751"/>
            <a:chOff x="5410200" y="1828800"/>
            <a:chExt cx="2762250" cy="3714751"/>
          </a:xfrm>
        </p:grpSpPr>
        <p:pic>
          <p:nvPicPr>
            <p:cNvPr id="6" name="Picture 5" descr="https://encrypted-tbn2.gstatic.com/images?q=tbn:ANd9GcQCjCGY57r9p3VPw9ksojqRNnCAA9ct6H2_H7e75s5wIFFbEh5-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6400" y="1828800"/>
              <a:ext cx="2466975" cy="1847851"/>
            </a:xfrm>
            <a:prstGeom prst="rect">
              <a:avLst/>
            </a:prstGeom>
            <a:noFill/>
          </p:spPr>
        </p:pic>
        <p:pic>
          <p:nvPicPr>
            <p:cNvPr id="7" name="Picture 7" descr="https://encrypted-tbn0.gstatic.com/images?q=tbn:ANd9GcQT8ozbAdQw2Pcle6QjBG7SGhcxCDqJD0MfPg2pavg6Hg2BPlfJ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0200" y="3886200"/>
              <a:ext cx="2762250" cy="1657351"/>
            </a:xfrm>
            <a:prstGeom prst="rect">
              <a:avLst/>
            </a:prstGeom>
            <a:noFill/>
          </p:spPr>
        </p:pic>
        <p:sp>
          <p:nvSpPr>
            <p:cNvPr id="8" name="Down Arrow 12"/>
            <p:cNvSpPr/>
            <p:nvPr/>
          </p:nvSpPr>
          <p:spPr bwMode="auto">
            <a:xfrm>
              <a:off x="7391400" y="3810000"/>
              <a:ext cx="457200" cy="533400"/>
            </a:xfrm>
            <a:prstGeom prst="down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Wingdings" pitchFamily="2" charset="2"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148431"/>
              </p:ext>
            </p:extLst>
          </p:nvPr>
        </p:nvGraphicFramePr>
        <p:xfrm>
          <a:off x="3677297" y="794909"/>
          <a:ext cx="5015914" cy="3183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BMP 图像" r:id="rId5" imgW="6530906" imgH="4129524" progId="Paint.Picture">
                  <p:embed/>
                </p:oleObj>
              </mc:Choice>
              <mc:Fallback>
                <p:oleObj name="BMP 图像" r:id="rId5" imgW="6530906" imgH="4129524" progId="Paint.Picture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7297" y="794909"/>
                        <a:ext cx="5015914" cy="31835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/>
          <p:cNvGrpSpPr/>
          <p:nvPr/>
        </p:nvGrpSpPr>
        <p:grpSpPr>
          <a:xfrm>
            <a:off x="531124" y="4383265"/>
            <a:ext cx="8124911" cy="1802769"/>
            <a:chOff x="534424" y="1525493"/>
            <a:chExt cx="8124911" cy="1802769"/>
          </a:xfrm>
        </p:grpSpPr>
        <p:grpSp>
          <p:nvGrpSpPr>
            <p:cNvPr id="40" name="组合 39"/>
            <p:cNvGrpSpPr/>
            <p:nvPr/>
          </p:nvGrpSpPr>
          <p:grpSpPr>
            <a:xfrm>
              <a:off x="2016324" y="1525493"/>
              <a:ext cx="864094" cy="1802769"/>
              <a:chOff x="3995936" y="3326580"/>
              <a:chExt cx="854070" cy="1802769"/>
            </a:xfrm>
          </p:grpSpPr>
          <p:sp>
            <p:nvSpPr>
              <p:cNvPr id="65" name="TextBox 92"/>
              <p:cNvSpPr txBox="1"/>
              <p:nvPr/>
            </p:nvSpPr>
            <p:spPr>
              <a:xfrm>
                <a:off x="3995936" y="3326580"/>
                <a:ext cx="82809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~</a:t>
                </a:r>
              </a:p>
            </p:txBody>
          </p:sp>
          <p:sp>
            <p:nvSpPr>
              <p:cNvPr id="66" name="TextBox 96"/>
              <p:cNvSpPr txBox="1"/>
              <p:nvPr/>
            </p:nvSpPr>
            <p:spPr>
              <a:xfrm>
                <a:off x="4021914" y="3559689"/>
                <a:ext cx="82809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~</a:t>
                </a: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534424" y="1758602"/>
              <a:ext cx="1717402" cy="1484819"/>
              <a:chOff x="534423" y="1872173"/>
              <a:chExt cx="1584176" cy="1484819"/>
            </a:xfrm>
          </p:grpSpPr>
          <p:pic>
            <p:nvPicPr>
              <p:cNvPr id="63" name="Picture 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0547" y="1872173"/>
                <a:ext cx="581025" cy="876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4" name="TextBox 95"/>
              <p:cNvSpPr txBox="1"/>
              <p:nvPr/>
            </p:nvSpPr>
            <p:spPr>
              <a:xfrm>
                <a:off x="534423" y="2710661"/>
                <a:ext cx="15841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个忆阻器</a:t>
                </a:r>
                <a:endParaRPr kumimoji="0" lang="en-US" altLang="zh-CN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（</a:t>
                </a:r>
                <a:r>
                  <a:rPr kumimoji="0" lang="en-US" altLang="zh-C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64</a:t>
                </a:r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kumimoji="0" lang="en-US" altLang="zh-C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levels</a:t>
                </a:r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）</a:t>
                </a: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3776556" y="1712223"/>
              <a:ext cx="4882779" cy="1283203"/>
              <a:chOff x="3776556" y="1712223"/>
              <a:chExt cx="4882779" cy="1283203"/>
            </a:xfrm>
          </p:grpSpPr>
          <p:sp>
            <p:nvSpPr>
              <p:cNvPr id="43" name="TextBox 111"/>
              <p:cNvSpPr txBox="1"/>
              <p:nvPr/>
            </p:nvSpPr>
            <p:spPr>
              <a:xfrm>
                <a:off x="3776556" y="2626094"/>
                <a:ext cx="48827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6-bit</a:t>
                </a:r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乘法器</a:t>
                </a: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kumimoji="0" lang="en-US" sz="1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+</a:t>
                </a: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kumimoji="0" lang="en-US" altLang="zh-C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6</a:t>
                </a: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-bit</a:t>
                </a:r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加法强</a:t>
                </a: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kumimoji="0" lang="en-US" sz="1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+</a:t>
                </a: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kumimoji="0" lang="en-US" altLang="zh-C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6</a:t>
                </a: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-bit </a:t>
                </a:r>
                <a:r>
                  <a:rPr kumimoji="0" lang="en-US" altLang="zh-C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SRAM</a:t>
                </a:r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存储器</a:t>
                </a: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4" name="组合 43"/>
              <p:cNvGrpSpPr/>
              <p:nvPr/>
            </p:nvGrpSpPr>
            <p:grpSpPr>
              <a:xfrm>
                <a:off x="4292005" y="1712223"/>
                <a:ext cx="3033978" cy="771240"/>
                <a:chOff x="3706165" y="1712223"/>
                <a:chExt cx="3033978" cy="771240"/>
              </a:xfrm>
            </p:grpSpPr>
            <p:grpSp>
              <p:nvGrpSpPr>
                <p:cNvPr id="45" name="组合 44"/>
                <p:cNvGrpSpPr/>
                <p:nvPr/>
              </p:nvGrpSpPr>
              <p:grpSpPr>
                <a:xfrm>
                  <a:off x="4811082" y="1876195"/>
                  <a:ext cx="534436" cy="534436"/>
                  <a:chOff x="5602264" y="2939257"/>
                  <a:chExt cx="534436" cy="534436"/>
                </a:xfrm>
              </p:grpSpPr>
              <p:sp>
                <p:nvSpPr>
                  <p:cNvPr id="59" name="矩形 58"/>
                  <p:cNvSpPr/>
                  <p:nvPr/>
                </p:nvSpPr>
                <p:spPr>
                  <a:xfrm>
                    <a:off x="5602264" y="2939257"/>
                    <a:ext cx="534436" cy="534436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rgbClr val="4F81BD">
                        <a:shade val="50000"/>
                      </a:srgbClr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/>
                      <a:ea typeface="宋体"/>
                      <a:cs typeface="+mn-cs"/>
                    </a:endParaRPr>
                  </a:p>
                </p:txBody>
              </p:sp>
              <p:grpSp>
                <p:nvGrpSpPr>
                  <p:cNvPr id="60" name="组合 59"/>
                  <p:cNvGrpSpPr/>
                  <p:nvPr/>
                </p:nvGrpSpPr>
                <p:grpSpPr>
                  <a:xfrm rot="2700000">
                    <a:off x="5748019" y="3085012"/>
                    <a:ext cx="242925" cy="242925"/>
                    <a:chOff x="5748019" y="3085012"/>
                    <a:chExt cx="242925" cy="242925"/>
                  </a:xfrm>
                </p:grpSpPr>
                <p:cxnSp>
                  <p:nvCxnSpPr>
                    <p:cNvPr id="61" name="直接连接符 60"/>
                    <p:cNvCxnSpPr/>
                    <p:nvPr/>
                  </p:nvCxnSpPr>
                  <p:spPr>
                    <a:xfrm>
                      <a:off x="5748019" y="3085012"/>
                      <a:ext cx="242925" cy="242925"/>
                    </a:xfrm>
                    <a:prstGeom prst="line">
                      <a:avLst/>
                    </a:prstGeom>
                    <a:noFill/>
                    <a:ln w="2540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62" name="直接连接符 61"/>
                    <p:cNvCxnSpPr/>
                    <p:nvPr/>
                  </p:nvCxnSpPr>
                  <p:spPr>
                    <a:xfrm flipV="1">
                      <a:off x="5748019" y="3085012"/>
                      <a:ext cx="242925" cy="242925"/>
                    </a:xfrm>
                    <a:prstGeom prst="line">
                      <a:avLst/>
                    </a:prstGeom>
                    <a:noFill/>
                    <a:ln w="2540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</p:cxnSp>
              </p:grpSp>
            </p:grpSp>
            <p:grpSp>
              <p:nvGrpSpPr>
                <p:cNvPr id="46" name="组合 45"/>
                <p:cNvGrpSpPr/>
                <p:nvPr/>
              </p:nvGrpSpPr>
              <p:grpSpPr>
                <a:xfrm>
                  <a:off x="3706165" y="1892443"/>
                  <a:ext cx="534436" cy="534436"/>
                  <a:chOff x="4644008" y="980728"/>
                  <a:chExt cx="792088" cy="792088"/>
                </a:xfrm>
              </p:grpSpPr>
              <p:sp>
                <p:nvSpPr>
                  <p:cNvPr id="56" name="矩形 55"/>
                  <p:cNvSpPr/>
                  <p:nvPr/>
                </p:nvSpPr>
                <p:spPr>
                  <a:xfrm>
                    <a:off x="4644008" y="980728"/>
                    <a:ext cx="792088" cy="792088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rgbClr val="4F81BD">
                        <a:shade val="50000"/>
                      </a:srgbClr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/>
                      <a:ea typeface="宋体"/>
                      <a:cs typeface="+mn-cs"/>
                    </a:endParaRPr>
                  </a:p>
                </p:txBody>
              </p:sp>
              <p:cxnSp>
                <p:nvCxnSpPr>
                  <p:cNvPr id="57" name="直接连接符 56"/>
                  <p:cNvCxnSpPr/>
                  <p:nvPr/>
                </p:nvCxnSpPr>
                <p:spPr>
                  <a:xfrm>
                    <a:off x="4860032" y="1196752"/>
                    <a:ext cx="360040" cy="36004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直接连接符 57"/>
                  <p:cNvCxnSpPr/>
                  <p:nvPr/>
                </p:nvCxnSpPr>
                <p:spPr>
                  <a:xfrm flipV="1">
                    <a:off x="4860032" y="1196752"/>
                    <a:ext cx="360040" cy="36004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47" name="组合 46"/>
                <p:cNvGrpSpPr/>
                <p:nvPr/>
              </p:nvGrpSpPr>
              <p:grpSpPr>
                <a:xfrm>
                  <a:off x="6087555" y="1712223"/>
                  <a:ext cx="652588" cy="771240"/>
                  <a:chOff x="6804248" y="980728"/>
                  <a:chExt cx="792088" cy="936104"/>
                </a:xfrm>
              </p:grpSpPr>
              <p:sp>
                <p:nvSpPr>
                  <p:cNvPr id="54" name="矩形 53"/>
                  <p:cNvSpPr/>
                  <p:nvPr/>
                </p:nvSpPr>
                <p:spPr>
                  <a:xfrm>
                    <a:off x="6804248" y="980728"/>
                    <a:ext cx="792088" cy="936104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rgbClr val="4F81BD">
                        <a:shade val="50000"/>
                      </a:srgbClr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/>
                      <a:ea typeface="宋体"/>
                      <a:cs typeface="+mn-cs"/>
                    </a:endParaRPr>
                  </a:p>
                </p:txBody>
              </p:sp>
              <p:pic>
                <p:nvPicPr>
                  <p:cNvPr id="55" name="Picture 3"/>
                  <p:cNvPicPr>
                    <a:picLocks noChangeAspect="1" noChangeArrowheads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841526" y="1031001"/>
                    <a:ext cx="717532" cy="8228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48" name="组合 47"/>
                <p:cNvGrpSpPr/>
                <p:nvPr/>
              </p:nvGrpSpPr>
              <p:grpSpPr>
                <a:xfrm>
                  <a:off x="4436674" y="2100163"/>
                  <a:ext cx="154377" cy="154377"/>
                  <a:chOff x="5950647" y="4018215"/>
                  <a:chExt cx="242925" cy="242925"/>
                </a:xfrm>
              </p:grpSpPr>
              <p:cxnSp>
                <p:nvCxnSpPr>
                  <p:cNvPr id="52" name="直接连接符 51"/>
                  <p:cNvCxnSpPr/>
                  <p:nvPr/>
                </p:nvCxnSpPr>
                <p:spPr>
                  <a:xfrm rot="2700000">
                    <a:off x="5950647" y="4018215"/>
                    <a:ext cx="242925" cy="242925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FF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直接连接符 52"/>
                  <p:cNvCxnSpPr/>
                  <p:nvPr/>
                </p:nvCxnSpPr>
                <p:spPr>
                  <a:xfrm rot="2700000" flipV="1">
                    <a:off x="5950647" y="4018215"/>
                    <a:ext cx="242925" cy="242925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FF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49" name="组合 48"/>
                <p:cNvGrpSpPr/>
                <p:nvPr/>
              </p:nvGrpSpPr>
              <p:grpSpPr>
                <a:xfrm>
                  <a:off x="5589377" y="2100162"/>
                  <a:ext cx="154377" cy="154377"/>
                  <a:chOff x="5950647" y="4018215"/>
                  <a:chExt cx="242925" cy="242925"/>
                </a:xfrm>
              </p:grpSpPr>
              <p:cxnSp>
                <p:nvCxnSpPr>
                  <p:cNvPr id="50" name="直接连接符 49"/>
                  <p:cNvCxnSpPr/>
                  <p:nvPr/>
                </p:nvCxnSpPr>
                <p:spPr>
                  <a:xfrm rot="2700000">
                    <a:off x="5950647" y="4018215"/>
                    <a:ext cx="242925" cy="242925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FF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1" name="直接连接符 50"/>
                  <p:cNvCxnSpPr/>
                  <p:nvPr/>
                </p:nvCxnSpPr>
                <p:spPr>
                  <a:xfrm rot="2700000" flipV="1">
                    <a:off x="5950647" y="4018215"/>
                    <a:ext cx="242925" cy="242925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rgbClr val="FF0000"/>
                    </a:solidFill>
                    <a:prstDash val="solid"/>
                  </a:ln>
                  <a:effectLst/>
                </p:spPr>
              </p:cxnSp>
            </p:grpSp>
          </p:grpSp>
        </p:grpSp>
      </p:grpSp>
      <p:sp>
        <p:nvSpPr>
          <p:cNvPr id="67" name="矩形 66"/>
          <p:cNvSpPr/>
          <p:nvPr/>
        </p:nvSpPr>
        <p:spPr>
          <a:xfrm>
            <a:off x="395536" y="4430388"/>
            <a:ext cx="8420832" cy="1717929"/>
          </a:xfrm>
          <a:prstGeom prst="rect">
            <a:avLst/>
          </a:prstGeom>
          <a:noFill/>
          <a:ln w="50800" cap="flat" cmpd="sng" algn="ctr">
            <a:solidFill>
              <a:srgbClr val="4F81BD">
                <a:shade val="5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95414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10242" name="Picture 2" descr="https://gimg2.baidu.com/image_search/src=http%3A%2F%2Fnimg.ws.126.net%2F%3Furl%3Dhttp%253A%252F%252Fdingyue.ws.126.net%252F2021%252F0511%252Fe299ce62j00qswjv0000xc000jg008vc.jpg%26thumbnail%3D650x2147483647%26quality%3D80%26type%3Djpg&amp;refer=http%3A%2F%2Fnimg.ws.126.net&amp;app=2002&amp;size=f9999,10000&amp;q=a80&amp;n=0&amp;g=0n&amp;fmt=jpeg?sec=1633852258&amp;t=ea681c34fb2cd0e3018fd467aa8db3f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08" b="38964"/>
          <a:stretch/>
        </p:blipFill>
        <p:spPr bwMode="auto">
          <a:xfrm>
            <a:off x="543763" y="757747"/>
            <a:ext cx="8059747" cy="232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r="545" b="19341"/>
          <a:stretch/>
        </p:blipFill>
        <p:spPr>
          <a:xfrm>
            <a:off x="444394" y="3501008"/>
            <a:ext cx="8408955" cy="249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5509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850455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半导体器件未来的发展方向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86901" y="1149813"/>
            <a:ext cx="8280722" cy="498598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More Moore: 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继续沿着摩尔定律纵向发展，尺寸缩小到几个纳米时，面临新物理效应带来的挑战，需要通过新材料、新器件结构解决栅控和沟道输运的问题。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More than Moore</a:t>
            </a: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</a:rPr>
              <a:t>：变为横向发展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</a:rPr>
              <a:t>面向不同的应用需求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zh-CN" altLang="en-US" sz="2400" b="1" dirty="0">
                <a:latin typeface="Times New Roman" pitchFamily="18" charset="0"/>
                <a:ea typeface="宋体" pitchFamily="2" charset="-122"/>
              </a:rPr>
              <a:t>开发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新原理（新控制机理，新输运机理）的器件。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kumimoji="1" lang="en-US" altLang="zh-CN" sz="2400" b="1" dirty="0" smtClean="0">
                <a:latin typeface="Times New Roman" pitchFamily="18" charset="0"/>
                <a:ea typeface="宋体" pitchFamily="2" charset="-122"/>
              </a:rPr>
              <a:t>Beyond Moore</a:t>
            </a:r>
            <a:r>
              <a:rPr kumimoji="1" lang="zh-CN" altLang="en-US" sz="2400" b="1" dirty="0" smtClean="0">
                <a:latin typeface="Times New Roman" pitchFamily="18" charset="0"/>
                <a:ea typeface="宋体" pitchFamily="2" charset="-122"/>
              </a:rPr>
              <a:t>：颠覆传统计算机的理论和基石，利用全新的计算范式来提升计算能力。然而，从器件层面来看，万变不离其宗。</a:t>
            </a:r>
            <a:endParaRPr kumimoji="1" lang="en-US" altLang="zh-CN" sz="2400" b="1" dirty="0" smtClean="0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388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850455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传统计算机系统的基石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39230" y="1176864"/>
            <a:ext cx="8758422" cy="5403504"/>
            <a:chOff x="998154" y="1230760"/>
            <a:chExt cx="9501190" cy="5403504"/>
          </a:xfrm>
        </p:grpSpPr>
        <p:sp>
          <p:nvSpPr>
            <p:cNvPr id="5" name="矩形 10">
              <a:extLst>
                <a:ext uri="{FF2B5EF4-FFF2-40B4-BE49-F238E27FC236}">
                  <a16:creationId xmlns:a16="http://schemas.microsoft.com/office/drawing/2014/main" id="{6037EE22-C30E-AA4A-A7AD-DCB224E318D2}"/>
                </a:ext>
              </a:extLst>
            </p:cNvPr>
            <p:cNvSpPr/>
            <p:nvPr/>
          </p:nvSpPr>
          <p:spPr>
            <a:xfrm>
              <a:off x="2191919" y="4033548"/>
              <a:ext cx="8307422" cy="2600716"/>
            </a:xfrm>
            <a:prstGeom prst="rect">
              <a:avLst/>
            </a:prstGeom>
            <a:solidFill>
              <a:srgbClr val="00B050">
                <a:alpha val="10196"/>
              </a:srgb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图</a:t>
              </a:r>
              <a:endPara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灵</a:t>
              </a:r>
              <a:endPara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机</a:t>
              </a:r>
            </a:p>
          </p:txBody>
        </p:sp>
        <p:sp>
          <p:nvSpPr>
            <p:cNvPr id="6" name="梯形 5">
              <a:extLst>
                <a:ext uri="{FF2B5EF4-FFF2-40B4-BE49-F238E27FC236}">
                  <a16:creationId xmlns:a16="http://schemas.microsoft.com/office/drawing/2014/main" id="{D829BA2B-C51C-B941-8C59-E8621240DA04}"/>
                </a:ext>
              </a:extLst>
            </p:cNvPr>
            <p:cNvSpPr/>
            <p:nvPr/>
          </p:nvSpPr>
          <p:spPr>
            <a:xfrm>
              <a:off x="7322840" y="5077841"/>
              <a:ext cx="1926091" cy="1443279"/>
            </a:xfrm>
            <a:prstGeom prst="trapezoid">
              <a:avLst/>
            </a:prstGeom>
            <a:solidFill>
              <a:srgbClr val="043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冯诺依曼架构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037EE22-C30E-AA4A-A7AD-DCB224E318D2}"/>
                </a:ext>
              </a:extLst>
            </p:cNvPr>
            <p:cNvSpPr/>
            <p:nvPr/>
          </p:nvSpPr>
          <p:spPr>
            <a:xfrm>
              <a:off x="2159541" y="3393299"/>
              <a:ext cx="8307422" cy="517688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汇编语言（指令集）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E32D4B3-9BF0-2043-9EBB-CD61730DC825}"/>
                </a:ext>
              </a:extLst>
            </p:cNvPr>
            <p:cNvSpPr/>
            <p:nvPr/>
          </p:nvSpPr>
          <p:spPr>
            <a:xfrm>
              <a:off x="2159541" y="2658667"/>
              <a:ext cx="8307419" cy="511008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编译器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4B19FFA-1139-E346-81D3-D8347B047BE4}"/>
                </a:ext>
              </a:extLst>
            </p:cNvPr>
            <p:cNvSpPr/>
            <p:nvPr/>
          </p:nvSpPr>
          <p:spPr>
            <a:xfrm>
              <a:off x="2159540" y="1959476"/>
              <a:ext cx="8307425" cy="5110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编程语言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22D2EF5-D4A5-4242-B12A-4A43491E25C6}"/>
                </a:ext>
              </a:extLst>
            </p:cNvPr>
            <p:cNvSpPr/>
            <p:nvPr/>
          </p:nvSpPr>
          <p:spPr>
            <a:xfrm>
              <a:off x="2191919" y="1256613"/>
              <a:ext cx="8307425" cy="5110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应用软件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BE26C3C-00A5-8E47-B519-D0041F42001D}"/>
                </a:ext>
              </a:extLst>
            </p:cNvPr>
            <p:cNvSpPr/>
            <p:nvPr/>
          </p:nvSpPr>
          <p:spPr>
            <a:xfrm>
              <a:off x="998154" y="1230760"/>
              <a:ext cx="812231" cy="5403504"/>
            </a:xfrm>
            <a:prstGeom prst="rect">
              <a:avLst/>
            </a:prstGeom>
            <a:solidFill>
              <a:srgbClr val="0432FF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eaVert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经典计算机</a:t>
              </a:r>
            </a:p>
          </p:txBody>
        </p:sp>
        <p:sp>
          <p:nvSpPr>
            <p:cNvPr id="12" name="梯形 11">
              <a:extLst>
                <a:ext uri="{FF2B5EF4-FFF2-40B4-BE49-F238E27FC236}">
                  <a16:creationId xmlns:a16="http://schemas.microsoft.com/office/drawing/2014/main" id="{F65B7A23-3045-464E-A787-D52419F405AE}"/>
                </a:ext>
              </a:extLst>
            </p:cNvPr>
            <p:cNvSpPr/>
            <p:nvPr/>
          </p:nvSpPr>
          <p:spPr>
            <a:xfrm>
              <a:off x="2922607" y="5073079"/>
              <a:ext cx="1903829" cy="1420155"/>
            </a:xfrm>
            <a:prstGeom prst="trapezoid">
              <a:avLst/>
            </a:prstGeom>
            <a:solidFill>
              <a:srgbClr val="043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晶体管</a:t>
              </a:r>
            </a:p>
          </p:txBody>
        </p:sp>
        <p:sp>
          <p:nvSpPr>
            <p:cNvPr id="13" name="梯形 12">
              <a:extLst>
                <a:ext uri="{FF2B5EF4-FFF2-40B4-BE49-F238E27FC236}">
                  <a16:creationId xmlns:a16="http://schemas.microsoft.com/office/drawing/2014/main" id="{8578BB6F-DA32-D841-9255-AF970D141FF1}"/>
                </a:ext>
              </a:extLst>
            </p:cNvPr>
            <p:cNvSpPr/>
            <p:nvPr/>
          </p:nvSpPr>
          <p:spPr>
            <a:xfrm>
              <a:off x="5055174" y="5077841"/>
              <a:ext cx="1956152" cy="1443279"/>
            </a:xfrm>
            <a:prstGeom prst="trapezoid">
              <a:avLst/>
            </a:prstGeom>
            <a:solidFill>
              <a:srgbClr val="043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布尔逻辑计算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F20ED2C-C4FA-3A48-BA78-AE018F50299C}"/>
                </a:ext>
              </a:extLst>
            </p:cNvPr>
            <p:cNvSpPr/>
            <p:nvPr/>
          </p:nvSpPr>
          <p:spPr>
            <a:xfrm>
              <a:off x="9307824" y="4419387"/>
              <a:ext cx="880003" cy="20738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存储芯片</a:t>
              </a: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46A94829-94C6-C944-8E3E-02CF246C8426}"/>
                </a:ext>
              </a:extLst>
            </p:cNvPr>
            <p:cNvSpPr/>
            <p:nvPr/>
          </p:nvSpPr>
          <p:spPr>
            <a:xfrm>
              <a:off x="3166441" y="4126068"/>
              <a:ext cx="6058601" cy="80499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通用处理器芯片（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GPU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、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CPU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）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5893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32</a:t>
            </a:fld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51520" y="1176868"/>
            <a:ext cx="8640960" cy="5293496"/>
            <a:chOff x="998154" y="1230760"/>
            <a:chExt cx="9501190" cy="5403504"/>
          </a:xfrm>
        </p:grpSpPr>
        <p:sp>
          <p:nvSpPr>
            <p:cNvPr id="4" name="矩形 10">
              <a:extLst>
                <a:ext uri="{FF2B5EF4-FFF2-40B4-BE49-F238E27FC236}">
                  <a16:creationId xmlns:a16="http://schemas.microsoft.com/office/drawing/2014/main" id="{6037EE22-C30E-AA4A-A7AD-DCB224E318D2}"/>
                </a:ext>
              </a:extLst>
            </p:cNvPr>
            <p:cNvSpPr/>
            <p:nvPr/>
          </p:nvSpPr>
          <p:spPr>
            <a:xfrm>
              <a:off x="2191919" y="4033548"/>
              <a:ext cx="8307422" cy="2600716"/>
            </a:xfrm>
            <a:prstGeom prst="rect">
              <a:avLst/>
            </a:prstGeom>
            <a:solidFill>
              <a:srgbClr val="00B050">
                <a:alpha val="10196"/>
              </a:srgb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图</a:t>
              </a:r>
              <a:endPara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灵</a:t>
              </a:r>
              <a:endPara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机</a:t>
              </a:r>
            </a:p>
          </p:txBody>
        </p:sp>
        <p:sp>
          <p:nvSpPr>
            <p:cNvPr id="5" name="梯形 4">
              <a:extLst>
                <a:ext uri="{FF2B5EF4-FFF2-40B4-BE49-F238E27FC236}">
                  <a16:creationId xmlns:a16="http://schemas.microsoft.com/office/drawing/2014/main" id="{D829BA2B-C51C-B941-8C59-E8621240DA04}"/>
                </a:ext>
              </a:extLst>
            </p:cNvPr>
            <p:cNvSpPr/>
            <p:nvPr/>
          </p:nvSpPr>
          <p:spPr>
            <a:xfrm>
              <a:off x="7718723" y="5077841"/>
              <a:ext cx="2226385" cy="1443279"/>
            </a:xfrm>
            <a:prstGeom prst="trapezoid">
              <a:avLst/>
            </a:prstGeom>
            <a:solidFill>
              <a:srgbClr val="043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非冯</a:t>
              </a:r>
              <a:endPara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架构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037EE22-C30E-AA4A-A7AD-DCB224E318D2}"/>
                </a:ext>
              </a:extLst>
            </p:cNvPr>
            <p:cNvSpPr/>
            <p:nvPr/>
          </p:nvSpPr>
          <p:spPr>
            <a:xfrm>
              <a:off x="2159541" y="3393299"/>
              <a:ext cx="8307422" cy="517688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新型计算指令集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E32D4B3-9BF0-2043-9EBB-CD61730DC825}"/>
                </a:ext>
              </a:extLst>
            </p:cNvPr>
            <p:cNvSpPr/>
            <p:nvPr/>
          </p:nvSpPr>
          <p:spPr>
            <a:xfrm>
              <a:off x="2159541" y="2658667"/>
              <a:ext cx="8307419" cy="511008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新型计算编译器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4B19FFA-1139-E346-81D3-D8347B047BE4}"/>
                </a:ext>
              </a:extLst>
            </p:cNvPr>
            <p:cNvSpPr/>
            <p:nvPr/>
          </p:nvSpPr>
          <p:spPr>
            <a:xfrm>
              <a:off x="2159540" y="1959476"/>
              <a:ext cx="8307425" cy="5110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编程语言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22D2EF5-D4A5-4242-B12A-4A43491E25C6}"/>
                </a:ext>
              </a:extLst>
            </p:cNvPr>
            <p:cNvSpPr/>
            <p:nvPr/>
          </p:nvSpPr>
          <p:spPr>
            <a:xfrm>
              <a:off x="2191919" y="1256613"/>
              <a:ext cx="8307425" cy="5110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应用软件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BE26C3C-00A5-8E47-B519-D0041F42001D}"/>
                </a:ext>
              </a:extLst>
            </p:cNvPr>
            <p:cNvSpPr/>
            <p:nvPr/>
          </p:nvSpPr>
          <p:spPr>
            <a:xfrm>
              <a:off x="998154" y="1230760"/>
              <a:ext cx="812231" cy="5403504"/>
            </a:xfrm>
            <a:prstGeom prst="rect">
              <a:avLst/>
            </a:prstGeom>
            <a:solidFill>
              <a:srgbClr val="0432FF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eaVert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dirty="0" smtClean="0">
                  <a:solidFill>
                    <a:prstClr val="whit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未来计算机</a:t>
              </a:r>
              <a:endPara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" name="梯形 10">
              <a:extLst>
                <a:ext uri="{FF2B5EF4-FFF2-40B4-BE49-F238E27FC236}">
                  <a16:creationId xmlns:a16="http://schemas.microsoft.com/office/drawing/2014/main" id="{F65B7A23-3045-464E-A787-D52419F405AE}"/>
                </a:ext>
              </a:extLst>
            </p:cNvPr>
            <p:cNvSpPr/>
            <p:nvPr/>
          </p:nvSpPr>
          <p:spPr>
            <a:xfrm>
              <a:off x="2922609" y="5073079"/>
              <a:ext cx="2151332" cy="1420155"/>
            </a:xfrm>
            <a:prstGeom prst="trapezoid">
              <a:avLst/>
            </a:prstGeom>
            <a:solidFill>
              <a:srgbClr val="043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dirty="0" smtClean="0">
                  <a:solidFill>
                    <a:prstClr val="white"/>
                  </a:solidFill>
                  <a:latin typeface="SimHei" panose="02010609060101010101" pitchFamily="49" charset="-122"/>
                  <a:ea typeface="SimHei" panose="02010609060101010101" pitchFamily="49" charset="-122"/>
                </a:rPr>
                <a:t>新原理半导体器件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2" name="梯形 11">
              <a:extLst>
                <a:ext uri="{FF2B5EF4-FFF2-40B4-BE49-F238E27FC236}">
                  <a16:creationId xmlns:a16="http://schemas.microsoft.com/office/drawing/2014/main" id="{8578BB6F-DA32-D841-9255-AF970D141FF1}"/>
                </a:ext>
              </a:extLst>
            </p:cNvPr>
            <p:cNvSpPr/>
            <p:nvPr/>
          </p:nvSpPr>
          <p:spPr>
            <a:xfrm>
              <a:off x="5208090" y="5077841"/>
              <a:ext cx="2329967" cy="1443279"/>
            </a:xfrm>
            <a:prstGeom prst="trapezoid">
              <a:avLst/>
            </a:prstGeom>
            <a:solidFill>
              <a:srgbClr val="0432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物理定律</a:t>
              </a:r>
              <a:r>
                <a:rPr kumimoji="1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/</a:t>
              </a:r>
              <a:r>
                <a:rPr kumimoji="1" lang="zh-CN" altLang="en-US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生物规律计算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6A94829-94C6-C944-8E3E-02CF246C8426}"/>
                </a:ext>
              </a:extLst>
            </p:cNvPr>
            <p:cNvSpPr/>
            <p:nvPr/>
          </p:nvSpPr>
          <p:spPr>
            <a:xfrm>
              <a:off x="3166440" y="4126068"/>
              <a:ext cx="6627548" cy="80499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新型处理芯片（例如类脑芯片）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</p:txBody>
        </p:sp>
      </p:grp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850455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Beyond Moore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将颠覆三大基石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5265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8" y="2058351"/>
            <a:ext cx="8534400" cy="369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8986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143630" y="1355864"/>
            <a:ext cx="746125" cy="58477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能带理论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157822" y="2455128"/>
            <a:ext cx="727075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声子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AutoShape 10"/>
          <p:cNvSpPr>
            <a:spLocks/>
          </p:cNvSpPr>
          <p:nvPr/>
        </p:nvSpPr>
        <p:spPr bwMode="auto">
          <a:xfrm>
            <a:off x="1896105" y="1622057"/>
            <a:ext cx="217488" cy="1935164"/>
          </a:xfrm>
          <a:prstGeom prst="rightBrace">
            <a:avLst>
              <a:gd name="adj1" fmla="val 42400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zh-CN" altLang="en-US" sz="1600" b="1" u="sng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149206" y="2314432"/>
            <a:ext cx="1023249" cy="58477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实际半导体能带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798897" y="4026040"/>
            <a:ext cx="1057275" cy="58477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非平衡态载流子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790272" y="4789170"/>
            <a:ext cx="1077912" cy="33972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输运机制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3518923" y="3335719"/>
            <a:ext cx="1216025" cy="58477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半导体器件基本原理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3518923" y="1095001"/>
            <a:ext cx="1228332" cy="58477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半导体物理基本方程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AutoShape 10"/>
          <p:cNvSpPr>
            <a:spLocks/>
          </p:cNvSpPr>
          <p:nvPr/>
        </p:nvSpPr>
        <p:spPr bwMode="auto">
          <a:xfrm>
            <a:off x="1851351" y="4159135"/>
            <a:ext cx="233363" cy="837254"/>
          </a:xfrm>
          <a:prstGeom prst="rightBrace">
            <a:avLst>
              <a:gd name="adj1" fmla="val 42400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zh-CN" altLang="en-US" sz="1600" b="1" u="sng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7" name="AutoShape 10"/>
          <p:cNvSpPr>
            <a:spLocks/>
          </p:cNvSpPr>
          <p:nvPr/>
        </p:nvSpPr>
        <p:spPr bwMode="auto">
          <a:xfrm>
            <a:off x="3198754" y="2668220"/>
            <a:ext cx="288925" cy="1960562"/>
          </a:xfrm>
          <a:prstGeom prst="rightBrace">
            <a:avLst>
              <a:gd name="adj1" fmla="val 42400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zh-CN" altLang="en-US" sz="1600" b="1" u="sng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8" name="AutoShape 7"/>
          <p:cNvSpPr>
            <a:spLocks/>
          </p:cNvSpPr>
          <p:nvPr/>
        </p:nvSpPr>
        <p:spPr bwMode="auto">
          <a:xfrm flipH="1">
            <a:off x="4801536" y="1939658"/>
            <a:ext cx="233363" cy="3413823"/>
          </a:xfrm>
          <a:prstGeom prst="rightBrace">
            <a:avLst>
              <a:gd name="adj1" fmla="val 91192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zh-CN" altLang="en-US" sz="1800" u="sng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5045069" y="1762853"/>
            <a:ext cx="1122363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结型器件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1124278" y="3189624"/>
            <a:ext cx="775750" cy="58477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smtClean="0">
                <a:solidFill>
                  <a:prstClr val="black"/>
                </a:solidFill>
                <a:latin typeface="Calibri"/>
              </a:rPr>
              <a:t>缺陷</a:t>
            </a: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理论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49206" y="4162263"/>
            <a:ext cx="1023249" cy="830997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实际半导体载流子输运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上下箭头 23"/>
          <p:cNvSpPr/>
          <p:nvPr/>
        </p:nvSpPr>
        <p:spPr>
          <a:xfrm>
            <a:off x="3994032" y="2165231"/>
            <a:ext cx="276045" cy="727636"/>
          </a:xfrm>
          <a:prstGeom prst="up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上下箭头 24"/>
          <p:cNvSpPr/>
          <p:nvPr/>
        </p:nvSpPr>
        <p:spPr>
          <a:xfrm>
            <a:off x="4010450" y="4386830"/>
            <a:ext cx="276045" cy="727636"/>
          </a:xfrm>
          <a:prstGeom prst="up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3566175" y="5493592"/>
            <a:ext cx="1185640" cy="58477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能带调制方法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AutoShape 7"/>
          <p:cNvSpPr>
            <a:spLocks/>
          </p:cNvSpPr>
          <p:nvPr/>
        </p:nvSpPr>
        <p:spPr bwMode="auto">
          <a:xfrm flipH="1">
            <a:off x="6215224" y="1368246"/>
            <a:ext cx="233363" cy="1102465"/>
          </a:xfrm>
          <a:prstGeom prst="rightBrace">
            <a:avLst>
              <a:gd name="adj1" fmla="val 91192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 smtClean="0">
              <a:latin typeface="Arial" charset="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496381" y="1121411"/>
            <a:ext cx="1586571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1600" b="1" u="none" dirty="0" smtClean="0">
                <a:solidFill>
                  <a:prstClr val="black"/>
                </a:solidFill>
                <a:latin typeface="Calibri"/>
              </a:rPr>
              <a:t>PN</a:t>
            </a: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结、异质结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6496381" y="1711428"/>
            <a:ext cx="1586571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金</a:t>
            </a:r>
            <a:r>
              <a:rPr lang="en-US" altLang="zh-CN" sz="1600" b="1" u="none" dirty="0" smtClean="0">
                <a:solidFill>
                  <a:prstClr val="black"/>
                </a:solidFill>
                <a:latin typeface="Calibri"/>
              </a:rPr>
              <a:t>-</a:t>
            </a: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半接触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496380" y="2317137"/>
            <a:ext cx="1707342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双极结型晶体管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5087910" y="3489115"/>
            <a:ext cx="1112012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1600" b="1" u="none" dirty="0" smtClean="0">
                <a:solidFill>
                  <a:prstClr val="black"/>
                </a:solidFill>
                <a:latin typeface="Calibri"/>
              </a:rPr>
              <a:t>MOSFET</a:t>
            </a:r>
          </a:p>
        </p:txBody>
      </p:sp>
      <p:sp>
        <p:nvSpPr>
          <p:cNvPr id="33" name="AutoShape 7"/>
          <p:cNvSpPr>
            <a:spLocks/>
          </p:cNvSpPr>
          <p:nvPr/>
        </p:nvSpPr>
        <p:spPr bwMode="auto">
          <a:xfrm flipH="1">
            <a:off x="6238040" y="3102563"/>
            <a:ext cx="233363" cy="1151460"/>
          </a:xfrm>
          <a:prstGeom prst="rightBrace">
            <a:avLst>
              <a:gd name="adj1" fmla="val 91192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 smtClean="0">
              <a:latin typeface="Arial" charset="0"/>
            </a:endParaRP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6536091" y="2921753"/>
            <a:ext cx="1063782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栅</a:t>
            </a:r>
            <a:r>
              <a:rPr lang="zh-CN" altLang="en-US" sz="1600" b="1" u="none" smtClean="0">
                <a:solidFill>
                  <a:prstClr val="black"/>
                </a:solidFill>
                <a:latin typeface="Calibri"/>
              </a:rPr>
              <a:t>控能力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auto">
          <a:xfrm>
            <a:off x="6536090" y="3505547"/>
            <a:ext cx="1241179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迁移率改善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6544717" y="4069170"/>
            <a:ext cx="1232553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小尺寸效应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5117199" y="5184204"/>
            <a:ext cx="1271743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新原理器件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1709285" y="1557261"/>
            <a:ext cx="3160721" cy="4076693"/>
          </a:xfrm>
          <a:prstGeom prst="ellipse">
            <a:avLst/>
          </a:prstGeom>
          <a:noFill/>
          <a:ln w="1905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/>
          <p:cNvCxnSpPr/>
          <p:nvPr/>
        </p:nvCxnSpPr>
        <p:spPr>
          <a:xfrm flipH="1" flipV="1">
            <a:off x="2449903" y="810886"/>
            <a:ext cx="267419" cy="9005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4167940" y="198541"/>
            <a:ext cx="18985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传统器件物理课程的内容</a:t>
            </a:r>
            <a:endParaRPr lang="zh-CN" altLang="en-US" sz="2000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椭圆 43"/>
          <p:cNvSpPr/>
          <p:nvPr/>
        </p:nvSpPr>
        <p:spPr>
          <a:xfrm rot="2479746">
            <a:off x="5611365" y="510300"/>
            <a:ext cx="1921017" cy="4188011"/>
          </a:xfrm>
          <a:prstGeom prst="ellipse">
            <a:avLst/>
          </a:prstGeom>
          <a:noFill/>
          <a:ln w="1905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箭头连接符 44"/>
          <p:cNvCxnSpPr>
            <a:stCxn id="44" idx="1"/>
          </p:cNvCxnSpPr>
          <p:nvPr/>
        </p:nvCxnSpPr>
        <p:spPr>
          <a:xfrm flipH="1" flipV="1">
            <a:off x="5498640" y="721767"/>
            <a:ext cx="1541036" cy="3221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406660" y="155441"/>
            <a:ext cx="1617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课程的核心和基础</a:t>
            </a:r>
            <a:endParaRPr lang="zh-CN" altLang="en-US" sz="2000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椭圆 49"/>
          <p:cNvSpPr/>
          <p:nvPr/>
        </p:nvSpPr>
        <p:spPr>
          <a:xfrm rot="2266165">
            <a:off x="5516982" y="2790445"/>
            <a:ext cx="1985408" cy="3667156"/>
          </a:xfrm>
          <a:prstGeom prst="ellipse">
            <a:avLst/>
          </a:prstGeom>
          <a:noFill/>
          <a:ln w="1905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/>
          <p:nvPr/>
        </p:nvCxnSpPr>
        <p:spPr>
          <a:xfrm>
            <a:off x="7522790" y="4945842"/>
            <a:ext cx="337311" cy="5477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7331331" y="5534800"/>
            <a:ext cx="1062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新增的内容</a:t>
            </a:r>
            <a:endParaRPr lang="zh-CN" altLang="en-US" sz="2000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5170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defTabSz="914400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b="1" kern="0" dirty="0">
                <a:ea typeface="宋体" pitchFamily="2" charset="-122"/>
              </a:rPr>
              <a:t>思考题：一个空白</a:t>
            </a:r>
            <a:r>
              <a:rPr kumimoji="1" lang="en-US" altLang="zh-CN" sz="2800" b="1" kern="0" dirty="0">
                <a:ea typeface="宋体" pitchFamily="2" charset="-122"/>
              </a:rPr>
              <a:t>U</a:t>
            </a:r>
            <a:r>
              <a:rPr kumimoji="1" lang="zh-CN" altLang="en-US" sz="2800" b="1" kern="0" dirty="0">
                <a:ea typeface="宋体" pitchFamily="2" charset="-122"/>
              </a:rPr>
              <a:t>盘与存满数据的</a:t>
            </a:r>
            <a:r>
              <a:rPr kumimoji="1" lang="en-US" altLang="zh-CN" sz="2800" b="1" kern="0" dirty="0">
                <a:ea typeface="宋体" pitchFamily="2" charset="-122"/>
              </a:rPr>
              <a:t>U</a:t>
            </a:r>
            <a:r>
              <a:rPr kumimoji="1" lang="zh-CN" altLang="en-US" sz="2800" b="1" kern="0" dirty="0">
                <a:ea typeface="宋体" pitchFamily="2" charset="-122"/>
              </a:rPr>
              <a:t>盘在质量上是否相同？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相同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不相同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7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480722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_HALF" val="0.0"/>
  <p:tag name="ANONYMOUSPOLLING" val="False"/>
  <p:tag name="RAINPROBLEMTYPE" val="Polling"/>
  <p:tag name="RAINPROBLEM" val="Polling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2892</TotalTime>
  <Words>1787</Words>
  <Application>Microsoft Office PowerPoint</Application>
  <PresentationFormat>全屏显示(4:3)</PresentationFormat>
  <Paragraphs>267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9" baseType="lpstr">
      <vt:lpstr>Microsoft Yahei</vt:lpstr>
      <vt:lpstr>等线</vt:lpstr>
      <vt:lpstr>等线 Light</vt:lpstr>
      <vt:lpstr>黑体</vt:lpstr>
      <vt:lpstr>黑体</vt:lpstr>
      <vt:lpstr>宋体</vt:lpstr>
      <vt:lpstr>Arial</vt:lpstr>
      <vt:lpstr>Calibri</vt:lpstr>
      <vt:lpstr>Calibri Light</vt:lpstr>
      <vt:lpstr>Times New Roman</vt:lpstr>
      <vt:lpstr>Wingdings</vt:lpstr>
      <vt:lpstr>Office 主题​​</vt:lpstr>
      <vt:lpstr>BMP 图象</vt:lpstr>
      <vt:lpstr>BMP 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Tsinghua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gaobin</dc:creator>
  <cp:lastModifiedBy>Bin Gao</cp:lastModifiedBy>
  <cp:revision>99</cp:revision>
  <dcterms:created xsi:type="dcterms:W3CDTF">2018-11-20T07:03:35Z</dcterms:created>
  <dcterms:modified xsi:type="dcterms:W3CDTF">2021-09-15T01:16:14Z</dcterms:modified>
</cp:coreProperties>
</file>