
<file path=[Content_Types].xml><?xml version="1.0" encoding="utf-8"?>
<Types xmlns="http://schemas.openxmlformats.org/package/2006/content-types">
  <Default Extension="tmp" ContentType="image/png"/>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1.xml" ContentType="application/vnd.openxmlformats-officedocument.themeOverr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133"/>
  </p:notesMasterIdLst>
  <p:sldIdLst>
    <p:sldId id="275" r:id="rId4"/>
    <p:sldId id="718" r:id="rId5"/>
    <p:sldId id="731" r:id="rId6"/>
    <p:sldId id="276" r:id="rId7"/>
    <p:sldId id="565" r:id="rId8"/>
    <p:sldId id="566" r:id="rId9"/>
    <p:sldId id="567" r:id="rId10"/>
    <p:sldId id="568" r:id="rId11"/>
    <p:sldId id="569" r:id="rId12"/>
    <p:sldId id="719" r:id="rId13"/>
    <p:sldId id="570" r:id="rId14"/>
    <p:sldId id="571" r:id="rId15"/>
    <p:sldId id="572" r:id="rId16"/>
    <p:sldId id="573" r:id="rId17"/>
    <p:sldId id="574" r:id="rId18"/>
    <p:sldId id="575" r:id="rId19"/>
    <p:sldId id="576" r:id="rId20"/>
    <p:sldId id="577" r:id="rId21"/>
    <p:sldId id="578" r:id="rId22"/>
    <p:sldId id="580" r:id="rId23"/>
    <p:sldId id="581" r:id="rId24"/>
    <p:sldId id="582" r:id="rId25"/>
    <p:sldId id="583" r:id="rId26"/>
    <p:sldId id="584" r:id="rId27"/>
    <p:sldId id="585" r:id="rId28"/>
    <p:sldId id="586" r:id="rId29"/>
    <p:sldId id="587" r:id="rId30"/>
    <p:sldId id="588" r:id="rId31"/>
    <p:sldId id="589" r:id="rId32"/>
    <p:sldId id="590" r:id="rId33"/>
    <p:sldId id="591" r:id="rId34"/>
    <p:sldId id="592" r:id="rId35"/>
    <p:sldId id="732" r:id="rId36"/>
    <p:sldId id="726" r:id="rId37"/>
    <p:sldId id="593" r:id="rId38"/>
    <p:sldId id="594" r:id="rId39"/>
    <p:sldId id="595" r:id="rId40"/>
    <p:sldId id="596" r:id="rId41"/>
    <p:sldId id="597" r:id="rId42"/>
    <p:sldId id="598" r:id="rId43"/>
    <p:sldId id="599" r:id="rId44"/>
    <p:sldId id="601" r:id="rId45"/>
    <p:sldId id="600" r:id="rId46"/>
    <p:sldId id="602" r:id="rId47"/>
    <p:sldId id="603" r:id="rId48"/>
    <p:sldId id="604" r:id="rId49"/>
    <p:sldId id="605" r:id="rId50"/>
    <p:sldId id="606" r:id="rId51"/>
    <p:sldId id="608" r:id="rId52"/>
    <p:sldId id="610" r:id="rId53"/>
    <p:sldId id="625" r:id="rId54"/>
    <p:sldId id="611" r:id="rId55"/>
    <p:sldId id="612" r:id="rId56"/>
    <p:sldId id="613" r:id="rId57"/>
    <p:sldId id="614" r:id="rId58"/>
    <p:sldId id="615" r:id="rId59"/>
    <p:sldId id="616" r:id="rId60"/>
    <p:sldId id="636" r:id="rId61"/>
    <p:sldId id="637" r:id="rId62"/>
    <p:sldId id="617" r:id="rId63"/>
    <p:sldId id="618" r:id="rId64"/>
    <p:sldId id="619" r:id="rId65"/>
    <p:sldId id="622" r:id="rId66"/>
    <p:sldId id="624" r:id="rId67"/>
    <p:sldId id="626" r:id="rId68"/>
    <p:sldId id="627" r:id="rId69"/>
    <p:sldId id="631" r:id="rId70"/>
    <p:sldId id="628" r:id="rId71"/>
    <p:sldId id="629" r:id="rId72"/>
    <p:sldId id="632" r:id="rId73"/>
    <p:sldId id="713" r:id="rId74"/>
    <p:sldId id="630" r:id="rId75"/>
    <p:sldId id="638" r:id="rId76"/>
    <p:sldId id="640" r:id="rId77"/>
    <p:sldId id="641" r:id="rId78"/>
    <p:sldId id="642" r:id="rId79"/>
    <p:sldId id="643" r:id="rId80"/>
    <p:sldId id="644" r:id="rId81"/>
    <p:sldId id="645" r:id="rId82"/>
    <p:sldId id="648" r:id="rId83"/>
    <p:sldId id="649" r:id="rId84"/>
    <p:sldId id="650" r:id="rId85"/>
    <p:sldId id="651" r:id="rId86"/>
    <p:sldId id="653" r:id="rId87"/>
    <p:sldId id="654" r:id="rId88"/>
    <p:sldId id="655" r:id="rId89"/>
    <p:sldId id="709" r:id="rId90"/>
    <p:sldId id="710" r:id="rId91"/>
    <p:sldId id="711" r:id="rId92"/>
    <p:sldId id="712" r:id="rId93"/>
    <p:sldId id="662" r:id="rId94"/>
    <p:sldId id="666" r:id="rId95"/>
    <p:sldId id="668" r:id="rId96"/>
    <p:sldId id="720" r:id="rId97"/>
    <p:sldId id="669" r:id="rId98"/>
    <p:sldId id="672" r:id="rId99"/>
    <p:sldId id="714" r:id="rId100"/>
    <p:sldId id="721" r:id="rId101"/>
    <p:sldId id="715" r:id="rId102"/>
    <p:sldId id="729" r:id="rId103"/>
    <p:sldId id="676" r:id="rId104"/>
    <p:sldId id="677" r:id="rId105"/>
    <p:sldId id="678" r:id="rId106"/>
    <p:sldId id="679" r:id="rId107"/>
    <p:sldId id="682" r:id="rId108"/>
    <p:sldId id="716" r:id="rId109"/>
    <p:sldId id="683" r:id="rId110"/>
    <p:sldId id="684" r:id="rId111"/>
    <p:sldId id="725" r:id="rId112"/>
    <p:sldId id="685" r:id="rId113"/>
    <p:sldId id="686" r:id="rId114"/>
    <p:sldId id="687" r:id="rId115"/>
    <p:sldId id="691" r:id="rId116"/>
    <p:sldId id="692" r:id="rId117"/>
    <p:sldId id="693" r:id="rId118"/>
    <p:sldId id="694" r:id="rId119"/>
    <p:sldId id="695" r:id="rId120"/>
    <p:sldId id="696" r:id="rId121"/>
    <p:sldId id="697" r:id="rId122"/>
    <p:sldId id="698" r:id="rId123"/>
    <p:sldId id="699" r:id="rId124"/>
    <p:sldId id="700" r:id="rId125"/>
    <p:sldId id="701" r:id="rId126"/>
    <p:sldId id="703" r:id="rId127"/>
    <p:sldId id="704" r:id="rId128"/>
    <p:sldId id="705" r:id="rId129"/>
    <p:sldId id="706" r:id="rId130"/>
    <p:sldId id="717" r:id="rId131"/>
    <p:sldId id="724" r:id="rId1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15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presProps" Target="pres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viewProps" Target="view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5" Type="http://schemas.openxmlformats.org/officeDocument/2006/relationships/image" Target="../media/image20.png"/><Relationship Id="rId4" Type="http://schemas.openxmlformats.org/officeDocument/2006/relationships/image" Target="../media/image19.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5.png"/><Relationship Id="rId4"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49.wmf"/><Relationship Id="rId4"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emf"/><Relationship Id="rId4" Type="http://schemas.openxmlformats.org/officeDocument/2006/relationships/image" Target="../media/image7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7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5" Type="http://schemas.openxmlformats.org/officeDocument/2006/relationships/image" Target="../media/image86.wmf"/><Relationship Id="rId4" Type="http://schemas.openxmlformats.org/officeDocument/2006/relationships/image" Target="../media/image8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8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4" Type="http://schemas.openxmlformats.org/officeDocument/2006/relationships/image" Target="../media/image9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9.wmf"/><Relationship Id="rId1"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100.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png"/><Relationship Id="rId4" Type="http://schemas.openxmlformats.org/officeDocument/2006/relationships/image" Target="../media/image104.png"/></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99.wmf"/><Relationship Id="rId5" Type="http://schemas.openxmlformats.org/officeDocument/2006/relationships/image" Target="../media/image109.wmf"/><Relationship Id="rId4" Type="http://schemas.openxmlformats.org/officeDocument/2006/relationships/image" Target="../media/image10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wmf"/><Relationship Id="rId1" Type="http://schemas.openxmlformats.org/officeDocument/2006/relationships/image" Target="../media/image11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 Id="rId4" Type="http://schemas.openxmlformats.org/officeDocument/2006/relationships/image" Target="../media/image11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 Id="rId5" Type="http://schemas.openxmlformats.org/officeDocument/2006/relationships/image" Target="../media/image113.wmf"/><Relationship Id="rId4" Type="http://schemas.openxmlformats.org/officeDocument/2006/relationships/image" Target="../media/image120.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image" Target="../media/image121.png"/></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image" Target="../media/image125.png"/></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image" Target="../media/image133.png"/></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png"/><Relationship Id="rId5" Type="http://schemas.openxmlformats.org/officeDocument/2006/relationships/image" Target="../media/image141.png"/><Relationship Id="rId4" Type="http://schemas.openxmlformats.org/officeDocument/2006/relationships/image" Target="../media/image140.png"/></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5" Type="http://schemas.openxmlformats.org/officeDocument/2006/relationships/image" Target="../media/image156.wmf"/><Relationship Id="rId4" Type="http://schemas.openxmlformats.org/officeDocument/2006/relationships/image" Target="../media/image155.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4" Type="http://schemas.openxmlformats.org/officeDocument/2006/relationships/image" Target="../media/image160.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63.wmf"/><Relationship Id="rId1" Type="http://schemas.openxmlformats.org/officeDocument/2006/relationships/image" Target="../media/image162.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4" Type="http://schemas.openxmlformats.org/officeDocument/2006/relationships/image" Target="../media/image168.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35.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45.wmf"/><Relationship Id="rId1" Type="http://schemas.openxmlformats.org/officeDocument/2006/relationships/image" Target="../media/image244.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46.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 Id="rId4" Type="http://schemas.openxmlformats.org/officeDocument/2006/relationships/image" Target="../media/image255.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59.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61.wmf"/><Relationship Id="rId1" Type="http://schemas.openxmlformats.org/officeDocument/2006/relationships/image" Target="../media/image260.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263.wmf"/><Relationship Id="rId1" Type="http://schemas.openxmlformats.org/officeDocument/2006/relationships/image" Target="../media/image262.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87.emf"/><Relationship Id="rId1" Type="http://schemas.openxmlformats.org/officeDocument/2006/relationships/image" Target="../media/image286.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8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122DCA-151E-45C7-AC46-0D7506932EB0}" type="datetimeFigureOut">
              <a:rPr lang="zh-CN" altLang="en-US" smtClean="0"/>
              <a:t>2021/11/29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7C08E-78D7-42DB-AE45-AD872A517D50}" type="slidenum">
              <a:rPr lang="zh-CN" altLang="en-US" smtClean="0"/>
              <a:t>‹#›</a:t>
            </a:fld>
            <a:endParaRPr lang="zh-CN" altLang="en-US"/>
          </a:p>
        </p:txBody>
      </p:sp>
    </p:spTree>
    <p:extLst>
      <p:ext uri="{BB962C8B-B14F-4D97-AF65-F5344CB8AC3E}">
        <p14:creationId xmlns:p14="http://schemas.microsoft.com/office/powerpoint/2010/main" val="2734789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smtClean="0"/>
              <a:t>继续探讨</a:t>
            </a:r>
            <a:r>
              <a:rPr lang="zh-CN" altLang="zh-CN" dirty="0" smtClean="0"/>
              <a:t>减小纵向的尺寸（</a:t>
            </a:r>
            <a:r>
              <a:rPr lang="en-US" altLang="zh-CN" i="1" dirty="0" err="1" smtClean="0"/>
              <a:t>T</a:t>
            </a:r>
            <a:r>
              <a:rPr lang="en-US" altLang="zh-CN" baseline="-25000" dirty="0" err="1" smtClean="0"/>
              <a:t>ox</a:t>
            </a:r>
            <a:r>
              <a:rPr lang="zh-CN" altLang="zh-CN" dirty="0" smtClean="0"/>
              <a:t>、</a:t>
            </a:r>
            <a:r>
              <a:rPr lang="en-US" altLang="zh-CN" i="1" dirty="0" err="1" smtClean="0"/>
              <a:t>W</a:t>
            </a:r>
            <a:r>
              <a:rPr lang="en-US" altLang="zh-CN" baseline="-25000" dirty="0" err="1" smtClean="0"/>
              <a:t>dep</a:t>
            </a:r>
            <a:r>
              <a:rPr lang="zh-CN" altLang="zh-CN" dirty="0" smtClean="0"/>
              <a:t>、</a:t>
            </a:r>
            <a:r>
              <a:rPr lang="en-US" altLang="zh-CN" i="1" dirty="0" err="1" smtClean="0"/>
              <a:t>X</a:t>
            </a:r>
            <a:r>
              <a:rPr lang="en-US" altLang="zh-CN" baseline="-25000" dirty="0" err="1" smtClean="0"/>
              <a:t>j</a:t>
            </a:r>
            <a:r>
              <a:rPr lang="zh-CN" altLang="zh-CN" dirty="0" smtClean="0"/>
              <a:t>）</a:t>
            </a:r>
            <a:r>
              <a:rPr lang="zh-CN" altLang="en-US" dirty="0" smtClean="0"/>
              <a:t>的方法</a:t>
            </a:r>
            <a:r>
              <a:rPr lang="zh-CN" altLang="zh-CN" dirty="0" smtClean="0"/>
              <a:t>。</a:t>
            </a:r>
            <a:endParaRPr lang="zh-CN" altLang="en-US" dirty="0" smtClean="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113</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3564835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smtClean="0"/>
              <a:t>继续探讨</a:t>
            </a:r>
            <a:r>
              <a:rPr lang="zh-CN" altLang="zh-CN" dirty="0" smtClean="0"/>
              <a:t>减小纵向的尺寸（</a:t>
            </a:r>
            <a:r>
              <a:rPr lang="en-US" altLang="zh-CN" i="1" dirty="0" err="1" smtClean="0"/>
              <a:t>T</a:t>
            </a:r>
            <a:r>
              <a:rPr lang="en-US" altLang="zh-CN" baseline="-25000" dirty="0" err="1" smtClean="0"/>
              <a:t>ox</a:t>
            </a:r>
            <a:r>
              <a:rPr lang="zh-CN" altLang="zh-CN" dirty="0" smtClean="0"/>
              <a:t>、</a:t>
            </a:r>
            <a:r>
              <a:rPr lang="en-US" altLang="zh-CN" i="1" dirty="0" err="1" smtClean="0"/>
              <a:t>W</a:t>
            </a:r>
            <a:r>
              <a:rPr lang="en-US" altLang="zh-CN" baseline="-25000" dirty="0" err="1" smtClean="0"/>
              <a:t>dep</a:t>
            </a:r>
            <a:r>
              <a:rPr lang="zh-CN" altLang="zh-CN" dirty="0" smtClean="0"/>
              <a:t>、</a:t>
            </a:r>
            <a:r>
              <a:rPr lang="en-US" altLang="zh-CN" i="1" dirty="0" err="1" smtClean="0"/>
              <a:t>X</a:t>
            </a:r>
            <a:r>
              <a:rPr lang="en-US" altLang="zh-CN" baseline="-25000" dirty="0" err="1" smtClean="0"/>
              <a:t>j</a:t>
            </a:r>
            <a:r>
              <a:rPr lang="zh-CN" altLang="zh-CN" dirty="0" smtClean="0"/>
              <a:t>）</a:t>
            </a:r>
            <a:r>
              <a:rPr lang="zh-CN" altLang="en-US" dirty="0" smtClean="0"/>
              <a:t>的方法</a:t>
            </a:r>
            <a:r>
              <a:rPr lang="zh-CN" altLang="zh-CN" dirty="0" smtClean="0"/>
              <a:t>。</a:t>
            </a:r>
            <a:endParaRPr lang="zh-CN" altLang="en-US" dirty="0" smtClean="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117</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2468883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smtClean="0"/>
              <a:t>对于某些应用，只需要用到</a:t>
            </a:r>
            <a:r>
              <a:rPr lang="en-US" altLang="zh-CN" dirty="0" smtClean="0"/>
              <a:t>N</a:t>
            </a:r>
            <a:r>
              <a:rPr lang="zh-CN" altLang="zh-CN" dirty="0" smtClean="0"/>
              <a:t>沟道的</a:t>
            </a:r>
            <a:r>
              <a:rPr lang="en-US" altLang="zh-CN" dirty="0" smtClean="0"/>
              <a:t>FET</a:t>
            </a:r>
            <a:r>
              <a:rPr lang="zh-CN" altLang="zh-CN" dirty="0" smtClean="0"/>
              <a:t>，因而空穴迁移率并不重要。</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2872584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err="1" smtClean="0"/>
              <a:t>GaAs</a:t>
            </a:r>
            <a:r>
              <a:rPr lang="zh-CN" altLang="zh-CN" dirty="0" smtClean="0"/>
              <a:t>具有很大的</a:t>
            </a:r>
            <a:r>
              <a:rPr lang="en-US" altLang="zh-CN" i="1" dirty="0" err="1" smtClean="0"/>
              <a:t>E</a:t>
            </a:r>
            <a:r>
              <a:rPr lang="en-US" altLang="zh-CN" baseline="-25000" dirty="0" err="1" smtClean="0"/>
              <a:t>g</a:t>
            </a:r>
            <a:r>
              <a:rPr lang="zh-CN" altLang="zh-CN" dirty="0" smtClean="0"/>
              <a:t>和很小的</a:t>
            </a:r>
            <a:r>
              <a:rPr lang="en-US" altLang="zh-CN" i="1" dirty="0" err="1" smtClean="0"/>
              <a:t>n</a:t>
            </a:r>
            <a:r>
              <a:rPr lang="en-US" altLang="zh-CN" baseline="-25000" dirty="0" err="1" smtClean="0"/>
              <a:t>i</a:t>
            </a:r>
            <a:r>
              <a:rPr lang="zh-CN" altLang="zh-CN" dirty="0" smtClean="0"/>
              <a:t>，因此无掺杂的</a:t>
            </a:r>
            <a:r>
              <a:rPr lang="en-US" altLang="zh-CN" dirty="0" err="1" smtClean="0"/>
              <a:t>GaAs</a:t>
            </a:r>
            <a:r>
              <a:rPr lang="zh-CN" altLang="zh-CN" dirty="0" smtClean="0"/>
              <a:t>具有很高的电阻，可以视为绝缘体。</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1538851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smtClean="0">
                <a:solidFill>
                  <a:schemeClr val="tx1"/>
                </a:solidFill>
                <a:latin typeface="Arial" charset="0"/>
                <a:ea typeface="宋体" charset="-122"/>
                <a:cs typeface="+mn-cs"/>
              </a:rPr>
              <a:t>可以在无掺杂的</a:t>
            </a:r>
            <a:r>
              <a:rPr lang="en-US" altLang="zh-CN" sz="1200" kern="1200" dirty="0" err="1" smtClean="0">
                <a:solidFill>
                  <a:schemeClr val="tx1"/>
                </a:solidFill>
                <a:latin typeface="Arial" charset="0"/>
                <a:ea typeface="宋体" charset="-122"/>
                <a:cs typeface="+mn-cs"/>
              </a:rPr>
              <a:t>GaAs</a:t>
            </a:r>
            <a:r>
              <a:rPr lang="zh-CN" altLang="zh-CN" sz="1200" kern="1200" dirty="0" smtClean="0">
                <a:solidFill>
                  <a:schemeClr val="tx1"/>
                </a:solidFill>
                <a:latin typeface="Arial" charset="0"/>
                <a:ea typeface="宋体" charset="-122"/>
                <a:cs typeface="+mn-cs"/>
              </a:rPr>
              <a:t>上通过外延生长一层</a:t>
            </a:r>
            <a:r>
              <a:rPr lang="en-US" altLang="zh-CN" sz="1200" kern="1200" dirty="0" err="1" smtClean="0">
                <a:solidFill>
                  <a:schemeClr val="tx1"/>
                </a:solidFill>
                <a:latin typeface="Arial" charset="0"/>
                <a:ea typeface="宋体" charset="-122"/>
                <a:cs typeface="+mn-cs"/>
              </a:rPr>
              <a:t>GaAlAs</a:t>
            </a:r>
            <a:r>
              <a:rPr lang="zh-CN" altLang="zh-CN" sz="1200" kern="1200" dirty="0" smtClean="0">
                <a:solidFill>
                  <a:schemeClr val="tx1"/>
                </a:solidFill>
                <a:latin typeface="Arial" charset="0"/>
                <a:ea typeface="宋体" charset="-122"/>
                <a:cs typeface="+mn-cs"/>
              </a:rPr>
              <a:t>薄膜，得到一个类似</a:t>
            </a:r>
            <a:r>
              <a:rPr lang="en-US" altLang="zh-CN" sz="1200" kern="1200" dirty="0" smtClean="0">
                <a:solidFill>
                  <a:schemeClr val="tx1"/>
                </a:solidFill>
                <a:latin typeface="Arial" charset="0"/>
                <a:ea typeface="宋体" charset="-122"/>
                <a:cs typeface="+mn-cs"/>
              </a:rPr>
              <a:t>MOS</a:t>
            </a:r>
            <a:r>
              <a:rPr lang="zh-CN" altLang="zh-CN" sz="1200" kern="1200" dirty="0" smtClean="0">
                <a:solidFill>
                  <a:schemeClr val="tx1"/>
                </a:solidFill>
                <a:latin typeface="Arial" charset="0"/>
                <a:ea typeface="宋体" charset="-122"/>
                <a:cs typeface="+mn-cs"/>
              </a:rPr>
              <a:t>的结构，如图</a:t>
            </a:r>
            <a:r>
              <a:rPr lang="en-US" altLang="zh-CN" sz="1200" kern="1200" dirty="0" smtClean="0">
                <a:solidFill>
                  <a:schemeClr val="tx1"/>
                </a:solidFill>
                <a:latin typeface="Arial" charset="0"/>
                <a:ea typeface="宋体" charset="-122"/>
                <a:cs typeface="+mn-cs"/>
              </a:rPr>
              <a:t>6-11a</a:t>
            </a:r>
            <a:r>
              <a:rPr lang="zh-CN" altLang="zh-CN" sz="1200" kern="1200" dirty="0" smtClean="0">
                <a:solidFill>
                  <a:schemeClr val="tx1"/>
                </a:solidFill>
                <a:latin typeface="Arial" charset="0"/>
                <a:ea typeface="宋体" charset="-122"/>
                <a:cs typeface="+mn-cs"/>
              </a:rPr>
              <a:t>所示。</a:t>
            </a:r>
            <a:endParaRPr lang="en-US" altLang="zh-CN" sz="1200" kern="1200" dirty="0" smtClean="0">
              <a:solidFill>
                <a:schemeClr val="tx1"/>
              </a:solidFill>
              <a:latin typeface="Arial" charset="0"/>
              <a:ea typeface="宋体" charset="-122"/>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596022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05C03D-0D82-4E00-86BC-1D786CEBD162}"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US" altLang="zh-CN" sz="12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1192743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6E35CCDD-2586-464E-AFE0-B5A574D41AC4}" type="datetime1">
              <a:rPr lang="zh-CN" altLang="en-US" smtClean="0"/>
              <a:t>2021/11/29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31032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775D4D-DEDA-485F-A57B-0899DFCD11D9}" type="datetime1">
              <a:rPr lang="zh-CN" altLang="en-US" smtClean="0"/>
              <a:t>2021/11/29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33073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A1F038E4-5D4A-4CE4-93A0-5565DCCA047E}" type="datetime1">
              <a:rPr lang="zh-CN" altLang="en-US" smtClean="0"/>
              <a:t>2021/11/29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230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E9C06B8-C690-46DC-8F1A-A6702CAA4F06}" type="datetime1">
              <a:rPr lang="zh-CN" altLang="en-US" smtClean="0"/>
              <a:t>2021/11/29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2755887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C94268E-7B1F-4197-A7F4-178328DB0C0D}" type="datetime1">
              <a:rPr lang="zh-CN" altLang="en-US" smtClean="0"/>
              <a:t>2021/11/29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747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204D75C3-CD71-47A9-AE63-E90B96E31C6B}" type="datetime1">
              <a:rPr lang="zh-CN" altLang="en-US" smtClean="0"/>
              <a:t>2021/11/29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47915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43D92-FE98-4E68-85F1-648E03B26AE2}" type="datetime1">
              <a:rPr lang="zh-CN" altLang="en-US" smtClean="0"/>
              <a:t>2021/11/29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44218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26DDB5F5-E322-44A1-A27C-DBC8ABFD9C51}" type="datetime1">
              <a:rPr lang="zh-CN" altLang="en-US" smtClean="0"/>
              <a:t>2021/11/29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96307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A81A8DBA-A096-4802-8971-4A136D274866}" type="datetime1">
              <a:rPr lang="zh-CN" altLang="en-US" smtClean="0"/>
              <a:t>2021/11/29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1245099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D46DFE9-AA29-4D92-A503-2669F53D5B6D}" type="datetime1">
              <a:rPr lang="zh-CN" altLang="en-US" smtClean="0"/>
              <a:t>2021/11/29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306442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4586D88-1402-4B29-999F-F36CE83A6A00}" type="datetime1">
              <a:rPr lang="zh-CN" altLang="en-US" smtClean="0"/>
              <a:t>2021/11/29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540790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DE463B3-6E3A-4FA7-8F4F-BB44A2D70F8A}" type="slidenum">
              <a:rPr lang="en-US" altLang="zh-CN"/>
              <a:pPr/>
              <a:t>‹#›</a:t>
            </a:fld>
            <a:endParaRPr lang="en-US" altLang="zh-CN"/>
          </a:p>
        </p:txBody>
      </p:sp>
    </p:spTree>
    <p:extLst>
      <p:ext uri="{BB962C8B-B14F-4D97-AF65-F5344CB8AC3E}">
        <p14:creationId xmlns:p14="http://schemas.microsoft.com/office/powerpoint/2010/main" val="1435149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563562"/>
          </a:xfrm>
          <a:prstGeom prst="rect">
            <a:avLst/>
          </a:prstGeom>
        </p:spPr>
        <p:txBody>
          <a:bodyPr/>
          <a:lstStyle>
            <a:lvl1pPr algn="l">
              <a:defRPr lang="zh-CN" altLang="en-US" sz="2800" b="1" dirty="0" smtClean="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990600"/>
            <a:ext cx="8229600" cy="5135563"/>
          </a:xfrm>
          <a:prstGeom prst="rect">
            <a:avLst/>
          </a:prstGeom>
        </p:spPr>
        <p:txBody>
          <a:bodyPr/>
          <a:lstStyle>
            <a:lvl1pPr>
              <a:buClr>
                <a:schemeClr val="accent2"/>
              </a:buClr>
              <a:defRPr sz="2800" b="1">
                <a:latin typeface="Times New Roman" pitchFamily="18" charset="0"/>
                <a:ea typeface="楷体_GB2312" pitchFamily="49" charset="-122"/>
                <a:cs typeface="Times New Roman" pitchFamily="18" charset="0"/>
              </a:defRPr>
            </a:lvl1pPr>
            <a:lvl2pPr>
              <a:buClr>
                <a:srgbClr val="CC0099"/>
              </a:buClr>
              <a:defRPr sz="2800" b="1">
                <a:latin typeface="Times New Roman" pitchFamily="18" charset="0"/>
                <a:ea typeface="楷体_GB2312" pitchFamily="49" charset="-122"/>
                <a:cs typeface="Times New Roman" pitchFamily="18" charset="0"/>
              </a:defRPr>
            </a:lvl2pPr>
            <a:lvl3pPr>
              <a:defRPr sz="2800" b="1">
                <a:latin typeface="Times New Roman" pitchFamily="18" charset="0"/>
                <a:ea typeface="楷体_GB2312" pitchFamily="49" charset="-122"/>
                <a:cs typeface="Times New Roman" pitchFamily="18" charset="0"/>
              </a:defRPr>
            </a:lvl3pPr>
            <a:lvl4pPr>
              <a:defRPr sz="2800" b="1">
                <a:latin typeface="Times New Roman" pitchFamily="18" charset="0"/>
                <a:ea typeface="楷体_GB2312" pitchFamily="49" charset="-122"/>
                <a:cs typeface="Times New Roman" pitchFamily="18" charset="0"/>
              </a:defRPr>
            </a:lvl4pPr>
            <a:lvl5pPr>
              <a:defRPr sz="2800" b="1">
                <a:latin typeface="Times New Roman" pitchFamily="18" charset="0"/>
                <a:ea typeface="楷体_GB2312" pitchFamily="49" charset="-122"/>
                <a:cs typeface="Times New Roman"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340CE56-E0A0-46B7-8CFA-A0C34E567847}" type="slidenum">
              <a:rPr lang="en-US" altLang="zh-CN"/>
              <a:pPr/>
              <a:t>‹#›</a:t>
            </a:fld>
            <a:endParaRPr lang="en-US" altLang="zh-CN"/>
          </a:p>
        </p:txBody>
      </p:sp>
    </p:spTree>
    <p:extLst>
      <p:ext uri="{BB962C8B-B14F-4D97-AF65-F5344CB8AC3E}">
        <p14:creationId xmlns:p14="http://schemas.microsoft.com/office/powerpoint/2010/main" val="287616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7F4CA04-D391-4DDB-83D7-DB4A4E5EDE04}" type="slidenum">
              <a:rPr lang="en-US" altLang="zh-CN"/>
              <a:pPr/>
              <a:t>‹#›</a:t>
            </a:fld>
            <a:endParaRPr lang="en-US" altLang="zh-CN"/>
          </a:p>
        </p:txBody>
      </p:sp>
    </p:spTree>
    <p:extLst>
      <p:ext uri="{BB962C8B-B14F-4D97-AF65-F5344CB8AC3E}">
        <p14:creationId xmlns:p14="http://schemas.microsoft.com/office/powerpoint/2010/main" val="210258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4B03F47-0955-4FF7-AF55-3B55F2C378FF}" type="slidenum">
              <a:rPr lang="en-US" altLang="zh-CN"/>
              <a:pPr/>
              <a:t>‹#›</a:t>
            </a:fld>
            <a:endParaRPr lang="en-US" altLang="zh-CN"/>
          </a:p>
        </p:txBody>
      </p:sp>
    </p:spTree>
    <p:extLst>
      <p:ext uri="{BB962C8B-B14F-4D97-AF65-F5344CB8AC3E}">
        <p14:creationId xmlns:p14="http://schemas.microsoft.com/office/powerpoint/2010/main" val="2013123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8994E44-18D0-483C-BA30-A38156935D0F}" type="slidenum">
              <a:rPr lang="en-US" altLang="zh-CN"/>
              <a:pPr/>
              <a:t>‹#›</a:t>
            </a:fld>
            <a:endParaRPr lang="en-US" altLang="zh-CN"/>
          </a:p>
        </p:txBody>
      </p:sp>
    </p:spTree>
    <p:extLst>
      <p:ext uri="{BB962C8B-B14F-4D97-AF65-F5344CB8AC3E}">
        <p14:creationId xmlns:p14="http://schemas.microsoft.com/office/powerpoint/2010/main" val="2690765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52000" y="252000"/>
            <a:ext cx="8229600" cy="487362"/>
          </a:xfrm>
          <a:prstGeom prst="rect">
            <a:avLst/>
          </a:prstGeom>
        </p:spPr>
        <p:txBody>
          <a:bodyPr/>
          <a:lstStyle>
            <a:lvl1pPr algn="l">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569CFAA-7DF8-4E5A-9C5B-04EA40C80552}" type="slidenum">
              <a:rPr lang="en-US" altLang="zh-CN"/>
              <a:pPr/>
              <a:t>‹#›</a:t>
            </a:fld>
            <a:endParaRPr lang="en-US" altLang="zh-CN"/>
          </a:p>
        </p:txBody>
      </p:sp>
    </p:spTree>
    <p:extLst>
      <p:ext uri="{BB962C8B-B14F-4D97-AF65-F5344CB8AC3E}">
        <p14:creationId xmlns:p14="http://schemas.microsoft.com/office/powerpoint/2010/main" val="36895042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A4610C3B-4895-48DE-B858-4974268A5404}" type="slidenum">
              <a:rPr lang="en-US" altLang="zh-CN"/>
              <a:pPr/>
              <a:t>‹#›</a:t>
            </a:fld>
            <a:endParaRPr lang="en-US" altLang="zh-CN"/>
          </a:p>
        </p:txBody>
      </p:sp>
    </p:spTree>
    <p:extLst>
      <p:ext uri="{BB962C8B-B14F-4D97-AF65-F5344CB8AC3E}">
        <p14:creationId xmlns:p14="http://schemas.microsoft.com/office/powerpoint/2010/main" val="1385270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389E59E-87C0-4BC5-9156-F1B8F76CABA4}" type="slidenum">
              <a:rPr lang="en-US" altLang="zh-CN"/>
              <a:pPr/>
              <a:t>‹#›</a:t>
            </a:fld>
            <a:endParaRPr lang="en-US" altLang="zh-CN"/>
          </a:p>
        </p:txBody>
      </p:sp>
    </p:spTree>
    <p:extLst>
      <p:ext uri="{BB962C8B-B14F-4D97-AF65-F5344CB8AC3E}">
        <p14:creationId xmlns:p14="http://schemas.microsoft.com/office/powerpoint/2010/main" val="25125247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5BCA962-547F-407E-8F1F-186B0AB40DFB}" type="slidenum">
              <a:rPr lang="en-US" altLang="zh-CN"/>
              <a:pPr/>
              <a:t>‹#›</a:t>
            </a:fld>
            <a:endParaRPr lang="en-US" altLang="zh-CN"/>
          </a:p>
        </p:txBody>
      </p:sp>
    </p:spTree>
    <p:extLst>
      <p:ext uri="{BB962C8B-B14F-4D97-AF65-F5344CB8AC3E}">
        <p14:creationId xmlns:p14="http://schemas.microsoft.com/office/powerpoint/2010/main" val="1160465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lang="zh-CN" altLang="en-US" sz="2800" b="1" dirty="0">
                <a:solidFill>
                  <a:schemeClr val="tx2"/>
                </a:solidFill>
                <a:latin typeface="Times New Roman" pitchFamily="18" charset="0"/>
                <a:ea typeface="楷体_GB2312" pitchFamily="49" charset="-122"/>
                <a:cs typeface="Times New Roman" pitchFamily="18" charset="0"/>
              </a:defRPr>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4ACB50D-0A0D-46E0-B2EF-D634C30317AB}" type="slidenum">
              <a:rPr lang="en-US" altLang="zh-CN"/>
              <a:pPr/>
              <a:t>‹#›</a:t>
            </a:fld>
            <a:endParaRPr lang="en-US" altLang="zh-CN"/>
          </a:p>
        </p:txBody>
      </p:sp>
    </p:spTree>
    <p:extLst>
      <p:ext uri="{BB962C8B-B14F-4D97-AF65-F5344CB8AC3E}">
        <p14:creationId xmlns:p14="http://schemas.microsoft.com/office/powerpoint/2010/main" val="13737874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BD4C908-B659-4E1A-BA2E-DB174DF56BD4}" type="slidenum">
              <a:rPr lang="en-US" altLang="zh-CN"/>
              <a:pPr/>
              <a:t>‹#›</a:t>
            </a:fld>
            <a:endParaRPr lang="en-US" altLang="zh-CN"/>
          </a:p>
        </p:txBody>
      </p:sp>
    </p:spTree>
    <p:extLst>
      <p:ext uri="{BB962C8B-B14F-4D97-AF65-F5344CB8AC3E}">
        <p14:creationId xmlns:p14="http://schemas.microsoft.com/office/powerpoint/2010/main" val="2037397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938862ED-2A04-4296-804B-5AC73186A8B5}" type="slidenum">
              <a:rPr lang="en-US" altLang="zh-CN"/>
              <a:pPr/>
              <a:t>‹#›</a:t>
            </a:fld>
            <a:endParaRPr lang="en-US" altLang="zh-CN"/>
          </a:p>
        </p:txBody>
      </p:sp>
    </p:spTree>
    <p:extLst>
      <p:ext uri="{BB962C8B-B14F-4D97-AF65-F5344CB8AC3E}">
        <p14:creationId xmlns:p14="http://schemas.microsoft.com/office/powerpoint/2010/main" val="2335611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92113" y="233363"/>
            <a:ext cx="8229600" cy="585787"/>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998538"/>
            <a:ext cx="4038600" cy="486886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998538"/>
            <a:ext cx="4038600" cy="2357437"/>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508375"/>
            <a:ext cx="4038600" cy="23590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1"/>
          </p:nvPr>
        </p:nvSpPr>
        <p:spPr>
          <a:xfrm>
            <a:off x="6553200" y="6248400"/>
            <a:ext cx="2133600" cy="457200"/>
          </a:xfrm>
        </p:spPr>
        <p:txBody>
          <a:bodyPr/>
          <a:lstStyle>
            <a:lvl1pPr>
              <a:defRPr/>
            </a:lvl1pPr>
          </a:lstStyle>
          <a:p>
            <a:fld id="{99C1A240-B6A3-4BD0-ADB4-17F2E6882768}" type="slidenum">
              <a:rPr lang="en-US" altLang="zh-CN"/>
              <a:pPr/>
              <a:t>‹#›</a:t>
            </a:fld>
            <a:endParaRPr lang="en-US" altLang="zh-CN"/>
          </a:p>
        </p:txBody>
      </p:sp>
      <p:sp>
        <p:nvSpPr>
          <p:cNvPr id="8" name="日期占位符 7"/>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29901179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92113" y="233363"/>
            <a:ext cx="8229600" cy="5857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98538"/>
            <a:ext cx="4038600" cy="486886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998538"/>
            <a:ext cx="4038600" cy="2357437"/>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508375"/>
            <a:ext cx="4038600" cy="23590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1"/>
          </p:nvPr>
        </p:nvSpPr>
        <p:spPr>
          <a:xfrm>
            <a:off x="6553200" y="6248400"/>
            <a:ext cx="2133600" cy="457200"/>
          </a:xfrm>
        </p:spPr>
        <p:txBody>
          <a:bodyPr/>
          <a:lstStyle>
            <a:lvl1pPr>
              <a:defRPr/>
            </a:lvl1pPr>
          </a:lstStyle>
          <a:p>
            <a:fld id="{ADF7765D-4A2D-4E58-A2EA-02B45D906595}" type="slidenum">
              <a:rPr lang="en-US" altLang="zh-CN"/>
              <a:pPr/>
              <a:t>‹#›</a:t>
            </a:fld>
            <a:endParaRPr lang="en-US" altLang="zh-CN"/>
          </a:p>
        </p:txBody>
      </p:sp>
      <p:sp>
        <p:nvSpPr>
          <p:cNvPr id="8" name="日期占位符 7"/>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1736652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CC06AA4-097A-4EE2-9454-775DDDDDAB0C}" type="slidenum">
              <a:rPr lang="en-US" altLang="zh-CN"/>
              <a:pPr/>
              <a:t>‹#›</a:t>
            </a:fld>
            <a:endParaRPr lang="en-US" altLang="zh-CN"/>
          </a:p>
        </p:txBody>
      </p:sp>
    </p:spTree>
    <p:extLst>
      <p:ext uri="{BB962C8B-B14F-4D97-AF65-F5344CB8AC3E}">
        <p14:creationId xmlns:p14="http://schemas.microsoft.com/office/powerpoint/2010/main" val="3975644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39B7E29-1F64-4065-864E-D9E66712B4A1}" type="slidenum">
              <a:rPr lang="en-US" altLang="zh-CN"/>
              <a:pPr/>
              <a:t>‹#›</a:t>
            </a:fld>
            <a:endParaRPr lang="en-US" altLang="zh-CN"/>
          </a:p>
        </p:txBody>
      </p:sp>
    </p:spTree>
    <p:extLst>
      <p:ext uri="{BB962C8B-B14F-4D97-AF65-F5344CB8AC3E}">
        <p14:creationId xmlns:p14="http://schemas.microsoft.com/office/powerpoint/2010/main" val="22641794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E1BF3B-AAFE-487F-A940-A69DA062A9ED}" type="slidenum">
              <a:rPr lang="en-US" altLang="zh-CN"/>
              <a:pPr/>
              <a:t>‹#›</a:t>
            </a:fld>
            <a:endParaRPr lang="en-US" altLang="zh-CN"/>
          </a:p>
        </p:txBody>
      </p:sp>
    </p:spTree>
    <p:extLst>
      <p:ext uri="{BB962C8B-B14F-4D97-AF65-F5344CB8AC3E}">
        <p14:creationId xmlns:p14="http://schemas.microsoft.com/office/powerpoint/2010/main" val="1232592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3FBEDD0-DF25-43DB-AD8A-9C0AB6998071}" type="slidenum">
              <a:rPr lang="en-US" altLang="zh-CN"/>
              <a:pPr/>
              <a:t>‹#›</a:t>
            </a:fld>
            <a:endParaRPr lang="en-US" altLang="zh-CN"/>
          </a:p>
        </p:txBody>
      </p:sp>
    </p:spTree>
    <p:extLst>
      <p:ext uri="{BB962C8B-B14F-4D97-AF65-F5344CB8AC3E}">
        <p14:creationId xmlns:p14="http://schemas.microsoft.com/office/powerpoint/2010/main" val="35778291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D78BDDC6-68FE-4E2A-BE36-B88E6D06CD23}" type="slidenum">
              <a:rPr lang="en-US" altLang="zh-CN"/>
              <a:pPr/>
              <a:t>‹#›</a:t>
            </a:fld>
            <a:endParaRPr lang="en-US" altLang="zh-CN"/>
          </a:p>
        </p:txBody>
      </p:sp>
    </p:spTree>
    <p:extLst>
      <p:ext uri="{BB962C8B-B14F-4D97-AF65-F5344CB8AC3E}">
        <p14:creationId xmlns:p14="http://schemas.microsoft.com/office/powerpoint/2010/main" val="22129040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51E6B1A7-E1B7-49AF-A813-BD50BC4BC9AD}" type="slidenum">
              <a:rPr lang="en-US" altLang="zh-CN"/>
              <a:pPr/>
              <a:t>‹#›</a:t>
            </a:fld>
            <a:endParaRPr lang="en-US" altLang="zh-CN"/>
          </a:p>
        </p:txBody>
      </p:sp>
    </p:spTree>
    <p:extLst>
      <p:ext uri="{BB962C8B-B14F-4D97-AF65-F5344CB8AC3E}">
        <p14:creationId xmlns:p14="http://schemas.microsoft.com/office/powerpoint/2010/main" val="37872014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11AE0FC-8917-453E-A43C-7C3EA8BAA811}" type="slidenum">
              <a:rPr lang="en-US" altLang="zh-CN"/>
              <a:pPr/>
              <a:t>‹#›</a:t>
            </a:fld>
            <a:endParaRPr lang="en-US" altLang="zh-CN"/>
          </a:p>
        </p:txBody>
      </p:sp>
    </p:spTree>
    <p:extLst>
      <p:ext uri="{BB962C8B-B14F-4D97-AF65-F5344CB8AC3E}">
        <p14:creationId xmlns:p14="http://schemas.microsoft.com/office/powerpoint/2010/main" val="22444678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7DA6628-64CE-433F-AD03-981899928437}" type="slidenum">
              <a:rPr lang="en-US" altLang="zh-CN"/>
              <a:pPr/>
              <a:t>‹#›</a:t>
            </a:fld>
            <a:endParaRPr lang="en-US" altLang="zh-CN"/>
          </a:p>
        </p:txBody>
      </p:sp>
    </p:spTree>
    <p:extLst>
      <p:ext uri="{BB962C8B-B14F-4D97-AF65-F5344CB8AC3E}">
        <p14:creationId xmlns:p14="http://schemas.microsoft.com/office/powerpoint/2010/main" val="20085001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7747075-6876-45E5-9425-B9059EF26678}" type="slidenum">
              <a:rPr lang="en-US" altLang="zh-CN"/>
              <a:pPr/>
              <a:t>‹#›</a:t>
            </a:fld>
            <a:endParaRPr lang="en-US" altLang="zh-CN"/>
          </a:p>
        </p:txBody>
      </p:sp>
    </p:spTree>
    <p:extLst>
      <p:ext uri="{BB962C8B-B14F-4D97-AF65-F5344CB8AC3E}">
        <p14:creationId xmlns:p14="http://schemas.microsoft.com/office/powerpoint/2010/main" val="25781544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B2191E5-F119-43F9-B8AD-A3111EF9FF7C}" type="slidenum">
              <a:rPr lang="en-US" altLang="zh-CN"/>
              <a:pPr/>
              <a:t>‹#›</a:t>
            </a:fld>
            <a:endParaRPr lang="en-US" altLang="zh-CN"/>
          </a:p>
        </p:txBody>
      </p:sp>
    </p:spTree>
    <p:extLst>
      <p:ext uri="{BB962C8B-B14F-4D97-AF65-F5344CB8AC3E}">
        <p14:creationId xmlns:p14="http://schemas.microsoft.com/office/powerpoint/2010/main" val="357174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8600" y="260350"/>
            <a:ext cx="2108200" cy="58658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0825" y="260350"/>
            <a:ext cx="6175375" cy="586581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F72F44-B1A0-4A7B-B2FE-7D67A0C442B4}" type="slidenum">
              <a:rPr lang="en-US" altLang="zh-CN"/>
              <a:pPr/>
              <a:t>‹#›</a:t>
            </a:fld>
            <a:endParaRPr lang="en-US" altLang="zh-CN"/>
          </a:p>
        </p:txBody>
      </p:sp>
    </p:spTree>
    <p:extLst>
      <p:ext uri="{BB962C8B-B14F-4D97-AF65-F5344CB8AC3E}">
        <p14:creationId xmlns:p14="http://schemas.microsoft.com/office/powerpoint/2010/main" val="304035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50825" y="260350"/>
            <a:ext cx="8435975" cy="586581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5990C81B-8030-4B8C-B794-2BE2AE9BC7B9}" type="slidenum">
              <a:rPr lang="en-US" altLang="zh-CN"/>
              <a:pPr/>
              <a:t>‹#›</a:t>
            </a:fld>
            <a:endParaRPr lang="en-US" altLang="zh-CN"/>
          </a:p>
        </p:txBody>
      </p:sp>
    </p:spTree>
    <p:extLst>
      <p:ext uri="{BB962C8B-B14F-4D97-AF65-F5344CB8AC3E}">
        <p14:creationId xmlns:p14="http://schemas.microsoft.com/office/powerpoint/2010/main" val="41680747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250825" y="260350"/>
            <a:ext cx="8229600" cy="561975"/>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8" name="页脚占位符 7"/>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133600" cy="476250"/>
          </a:xfrm>
        </p:spPr>
        <p:txBody>
          <a:bodyPr/>
          <a:lstStyle>
            <a:lvl1pPr>
              <a:defRPr/>
            </a:lvl1pPr>
          </a:lstStyle>
          <a:p>
            <a:fld id="{27CD3615-63F4-4A0D-ADD2-009F53F93DD5}" type="slidenum">
              <a:rPr lang="en-US" altLang="zh-CN"/>
              <a:pPr/>
              <a:t>‹#›</a:t>
            </a:fld>
            <a:endParaRPr lang="en-US" altLang="zh-CN"/>
          </a:p>
        </p:txBody>
      </p:sp>
    </p:spTree>
    <p:extLst>
      <p:ext uri="{BB962C8B-B14F-4D97-AF65-F5344CB8AC3E}">
        <p14:creationId xmlns:p14="http://schemas.microsoft.com/office/powerpoint/2010/main" val="36722322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0825" y="260350"/>
            <a:ext cx="8229600" cy="5619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002FC42E-CA3D-4C72-BD5E-41D12A4BD0C3}" type="slidenum">
              <a:rPr lang="en-US" altLang="zh-CN"/>
              <a:pPr/>
              <a:t>‹#›</a:t>
            </a:fld>
            <a:endParaRPr lang="en-US" altLang="zh-CN"/>
          </a:p>
        </p:txBody>
      </p:sp>
    </p:spTree>
    <p:extLst>
      <p:ext uri="{BB962C8B-B14F-4D97-AF65-F5344CB8AC3E}">
        <p14:creationId xmlns:p14="http://schemas.microsoft.com/office/powerpoint/2010/main" val="341170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8C3F33-3C07-4C2F-83D0-1B65706079E4}" type="datetime1">
              <a:rPr lang="zh-CN" altLang="en-US" smtClean="0"/>
              <a:t>2021/11/29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7056160" y="645890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DE0A5B-1E35-4081-8D72-3B0687A5C65D}" type="slidenum">
              <a:rPr lang="zh-CN" altLang="en-US" smtClean="0"/>
              <a:t>‹#›</a:t>
            </a:fld>
            <a:endParaRPr lang="zh-CN" altLang="en-US"/>
          </a:p>
        </p:txBody>
      </p:sp>
    </p:spTree>
    <p:extLst>
      <p:ext uri="{BB962C8B-B14F-4D97-AF65-F5344CB8AC3E}">
        <p14:creationId xmlns:p14="http://schemas.microsoft.com/office/powerpoint/2010/main" val="908555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ea typeface="+mn-ea"/>
              </a:defRPr>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ea typeface="+mn-ea"/>
              </a:defRPr>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ea typeface="+mn-ea"/>
              </a:defRPr>
            </a:lvl1pPr>
          </a:lstStyle>
          <a:p>
            <a:fld id="{895126D7-17E2-4E60-9B59-BB61149A4144}" type="slidenum">
              <a:rPr lang="en-US" altLang="zh-CN"/>
              <a:pPr/>
              <a:t>‹#›</a:t>
            </a:fld>
            <a:endParaRPr lang="en-US" altLang="zh-CN"/>
          </a:p>
        </p:txBody>
      </p:sp>
      <p:sp>
        <p:nvSpPr>
          <p:cNvPr id="1031" name="Rectangle 7"/>
          <p:cNvSpPr>
            <a:spLocks noChangeArrowheads="1"/>
          </p:cNvSpPr>
          <p:nvPr userDrawn="1"/>
        </p:nvSpPr>
        <p:spPr bwMode="auto">
          <a:xfrm>
            <a:off x="457200" y="274638"/>
            <a:ext cx="8229600" cy="563562"/>
          </a:xfrm>
          <a:prstGeom prst="rect">
            <a:avLst/>
          </a:prstGeom>
          <a:noFill/>
          <a:ln w="9525">
            <a:noFill/>
            <a:miter lim="800000"/>
            <a:headEnd/>
            <a:tailEnd/>
          </a:ln>
          <a:effectLst/>
        </p:spPr>
        <p:txBody>
          <a:bodyPr/>
          <a:lstStyle/>
          <a:p>
            <a:pPr algn="ctr"/>
            <a:endParaRPr lang="zh-CN" altLang="zh-CN" sz="4400" b="0">
              <a:solidFill>
                <a:schemeClr val="tx2"/>
              </a:solidFill>
              <a:latin typeface="Arial" charset="0"/>
              <a:ea typeface="宋体" pitchFamily="2" charset="-122"/>
            </a:endParaRPr>
          </a:p>
        </p:txBody>
      </p:sp>
    </p:spTree>
    <p:extLst>
      <p:ext uri="{BB962C8B-B14F-4D97-AF65-F5344CB8AC3E}">
        <p14:creationId xmlns:p14="http://schemas.microsoft.com/office/powerpoint/2010/main" val="25055084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ea typeface="+mn-ea"/>
              </a:defRPr>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ea typeface="+mn-ea"/>
              </a:defRPr>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ea typeface="+mn-ea"/>
              </a:defRPr>
            </a:lvl1pPr>
          </a:lstStyle>
          <a:p>
            <a:fld id="{9F19E1F8-E4AF-4651-AA22-D52510BD5DA0}" type="slidenum">
              <a:rPr lang="en-US" altLang="zh-CN"/>
              <a:pPr/>
              <a:t>‹#›</a:t>
            </a:fld>
            <a:endParaRPr lang="en-US" altLang="zh-CN"/>
          </a:p>
        </p:txBody>
      </p:sp>
    </p:spTree>
    <p:extLst>
      <p:ext uri="{BB962C8B-B14F-4D97-AF65-F5344CB8AC3E}">
        <p14:creationId xmlns:p14="http://schemas.microsoft.com/office/powerpoint/2010/main" val="34790084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ftr="0" dt="0"/>
  <p:txStyles>
    <p:title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1.tmp"/><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emf"/><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19.png"/><Relationship Id="rId4" Type="http://schemas.openxmlformats.org/officeDocument/2006/relationships/image" Target="../media/image16.wmf"/><Relationship Id="rId9" Type="http://schemas.openxmlformats.org/officeDocument/2006/relationships/oleObject" Target="../embeddings/oleObject16.bin"/></Relationships>
</file>

<file path=ppt/slides/_rels/slide8.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2.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21.bin"/></Relationships>
</file>

<file path=ppt/slides/_rels/slide9.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oleObject" Target="../embeddings/oleObject23.bin"/><Relationship Id="rId7" Type="http://schemas.openxmlformats.org/officeDocument/2006/relationships/image" Target="../media/image28.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7.wmf"/><Relationship Id="rId5" Type="http://schemas.openxmlformats.org/officeDocument/2006/relationships/oleObject" Target="../embeddings/oleObject24.bin"/><Relationship Id="rId4" Type="http://schemas.openxmlformats.org/officeDocument/2006/relationships/image" Target="../media/image26.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16.wmf"/></Relationships>
</file>

<file path=ppt/slides/_rels/slide11.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33.png"/><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1.wmf"/><Relationship Id="rId5" Type="http://schemas.openxmlformats.org/officeDocument/2006/relationships/oleObject" Target="../embeddings/oleObject29.bin"/><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6.bin"/><Relationship Id="rId18" Type="http://schemas.openxmlformats.org/officeDocument/2006/relationships/image" Target="../media/image42.wmf"/><Relationship Id="rId3" Type="http://schemas.openxmlformats.org/officeDocument/2006/relationships/oleObject" Target="../embeddings/oleObject31.bin"/><Relationship Id="rId21" Type="http://schemas.openxmlformats.org/officeDocument/2006/relationships/oleObject" Target="../embeddings/oleObject40.bin"/><Relationship Id="rId7" Type="http://schemas.openxmlformats.org/officeDocument/2006/relationships/oleObject" Target="../embeddings/oleObject33.bin"/><Relationship Id="rId12" Type="http://schemas.openxmlformats.org/officeDocument/2006/relationships/image" Target="../media/image39.wmf"/><Relationship Id="rId17" Type="http://schemas.openxmlformats.org/officeDocument/2006/relationships/oleObject" Target="../embeddings/oleObject38.bin"/><Relationship Id="rId2" Type="http://schemas.openxmlformats.org/officeDocument/2006/relationships/slideLayout" Target="../slideLayouts/slideLayout7.xml"/><Relationship Id="rId16" Type="http://schemas.openxmlformats.org/officeDocument/2006/relationships/image" Target="../media/image41.wmf"/><Relationship Id="rId20" Type="http://schemas.openxmlformats.org/officeDocument/2006/relationships/image" Target="../media/image43.wmf"/><Relationship Id="rId1" Type="http://schemas.openxmlformats.org/officeDocument/2006/relationships/vmlDrawing" Target="../drawings/vmlDrawing10.vml"/><Relationship Id="rId6" Type="http://schemas.openxmlformats.org/officeDocument/2006/relationships/image" Target="../media/image36.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38.wmf"/><Relationship Id="rId19" Type="http://schemas.openxmlformats.org/officeDocument/2006/relationships/oleObject" Target="../embeddings/oleObject39.bin"/><Relationship Id="rId4" Type="http://schemas.openxmlformats.org/officeDocument/2006/relationships/image" Target="../media/image35.wmf"/><Relationship Id="rId9" Type="http://schemas.openxmlformats.org/officeDocument/2006/relationships/oleObject" Target="../embeddings/oleObject34.bin"/><Relationship Id="rId14" Type="http://schemas.openxmlformats.org/officeDocument/2006/relationships/image" Target="../media/image40.wmf"/><Relationship Id="rId22" Type="http://schemas.openxmlformats.org/officeDocument/2006/relationships/image" Target="../media/image44.wmf"/></Relationships>
</file>

<file path=ppt/slides/_rels/slide13.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49.wmf"/><Relationship Id="rId3" Type="http://schemas.openxmlformats.org/officeDocument/2006/relationships/oleObject" Target="../embeddings/oleObject41.bin"/><Relationship Id="rId7" Type="http://schemas.openxmlformats.org/officeDocument/2006/relationships/oleObject" Target="../embeddings/oleObject43.bin"/><Relationship Id="rId12"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6.wmf"/><Relationship Id="rId11" Type="http://schemas.openxmlformats.org/officeDocument/2006/relationships/image" Target="../media/image33.png"/><Relationship Id="rId5" Type="http://schemas.openxmlformats.org/officeDocument/2006/relationships/oleObject" Target="../embeddings/oleObject42.bin"/><Relationship Id="rId15" Type="http://schemas.openxmlformats.org/officeDocument/2006/relationships/image" Target="../media/image50.png"/><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4.bin"/><Relationship Id="rId14"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2.wmf"/><Relationship Id="rId5" Type="http://schemas.openxmlformats.org/officeDocument/2006/relationships/oleObject" Target="../embeddings/oleObject47.bin"/><Relationship Id="rId4" Type="http://schemas.openxmlformats.org/officeDocument/2006/relationships/image" Target="../media/image51.wmf"/></Relationships>
</file>

<file path=ppt/slides/_rels/slide15.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8.wmf"/><Relationship Id="rId2" Type="http://schemas.openxmlformats.org/officeDocument/2006/relationships/slideLayout" Target="../slideLayouts/slideLayout7.xml"/><Relationship Id="rId16" Type="http://schemas.openxmlformats.org/officeDocument/2006/relationships/image" Target="../media/image60.wmf"/><Relationship Id="rId1" Type="http://schemas.openxmlformats.org/officeDocument/2006/relationships/vmlDrawing" Target="../drawings/vmlDrawing13.vml"/><Relationship Id="rId6" Type="http://schemas.openxmlformats.org/officeDocument/2006/relationships/image" Target="../media/image55.wmf"/><Relationship Id="rId11" Type="http://schemas.openxmlformats.org/officeDocument/2006/relationships/oleObject" Target="../embeddings/oleObject53.bin"/><Relationship Id="rId5" Type="http://schemas.openxmlformats.org/officeDocument/2006/relationships/oleObject" Target="../embeddings/oleObject50.bin"/><Relationship Id="rId15" Type="http://schemas.openxmlformats.org/officeDocument/2006/relationships/oleObject" Target="../embeddings/oleObject55.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52.bin"/><Relationship Id="rId14" Type="http://schemas.openxmlformats.org/officeDocument/2006/relationships/image" Target="../media/image59.wmf"/></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4.wmf"/><Relationship Id="rId5" Type="http://schemas.openxmlformats.org/officeDocument/2006/relationships/oleObject" Target="../embeddings/oleObject57.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59.bin"/></Relationships>
</file>

<file path=ppt/slides/_rels/slide18.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8.wmf"/><Relationship Id="rId5" Type="http://schemas.openxmlformats.org/officeDocument/2006/relationships/oleObject" Target="../embeddings/oleObject61.bin"/><Relationship Id="rId10" Type="http://schemas.openxmlformats.org/officeDocument/2006/relationships/image" Target="../media/image70.emf"/><Relationship Id="rId4" Type="http://schemas.openxmlformats.org/officeDocument/2006/relationships/image" Target="../media/image67.emf"/><Relationship Id="rId9" Type="http://schemas.openxmlformats.org/officeDocument/2006/relationships/oleObject" Target="../embeddings/oleObject63.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71.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slideLayout" Target="../slideLayouts/slideLayout7.xml"/><Relationship Id="rId7" Type="http://schemas.openxmlformats.org/officeDocument/2006/relationships/image" Target="../media/image73.wmf"/><Relationship Id="rId2" Type="http://schemas.openxmlformats.org/officeDocument/2006/relationships/vmlDrawing" Target="../drawings/vmlDrawing17.vml"/><Relationship Id="rId1" Type="http://schemas.openxmlformats.org/officeDocument/2006/relationships/themeOverride" Target="../theme/themeOverride1.xml"/><Relationship Id="rId6" Type="http://schemas.openxmlformats.org/officeDocument/2006/relationships/oleObject" Target="../embeddings/oleObject66.bin"/><Relationship Id="rId11" Type="http://schemas.openxmlformats.org/officeDocument/2006/relationships/image" Target="../media/image75.wmf"/><Relationship Id="rId5" Type="http://schemas.openxmlformats.org/officeDocument/2006/relationships/image" Target="../media/image72.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74.wmf"/></Relationships>
</file>

<file path=ppt/slides/_rels/slide21.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74.bin"/><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80.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7.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72.bin"/><Relationship Id="rId14" Type="http://schemas.openxmlformats.org/officeDocument/2006/relationships/image" Target="../media/image81.wmf"/></Relationships>
</file>

<file path=ppt/slides/_rels/slide22.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86.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83.wmf"/><Relationship Id="rId11" Type="http://schemas.openxmlformats.org/officeDocument/2006/relationships/oleObject" Target="../embeddings/oleObject79.bin"/><Relationship Id="rId5" Type="http://schemas.openxmlformats.org/officeDocument/2006/relationships/oleObject" Target="../embeddings/oleObject76.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78.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71.wmf"/><Relationship Id="rId5" Type="http://schemas.openxmlformats.org/officeDocument/2006/relationships/oleObject" Target="../embeddings/oleObject81.bin"/><Relationship Id="rId4" Type="http://schemas.openxmlformats.org/officeDocument/2006/relationships/image" Target="../media/image87.wmf"/></Relationships>
</file>

<file path=ppt/slides/_rels/slide24.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89.wmf"/><Relationship Id="rId5" Type="http://schemas.openxmlformats.org/officeDocument/2006/relationships/oleObject" Target="../embeddings/oleObject83.bin"/><Relationship Id="rId4" Type="http://schemas.openxmlformats.org/officeDocument/2006/relationships/image" Target="../media/image88.wmf"/></Relationships>
</file>

<file path=ppt/slides/_rels/slide25.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92.wmf"/><Relationship Id="rId5" Type="http://schemas.openxmlformats.org/officeDocument/2006/relationships/oleObject" Target="../embeddings/oleObject86.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88.bin"/></Relationships>
</file>

<file path=ppt/slides/_rels/slide26.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96.wmf"/><Relationship Id="rId5" Type="http://schemas.openxmlformats.org/officeDocument/2006/relationships/oleObject" Target="../embeddings/oleObject90.bin"/><Relationship Id="rId4" Type="http://schemas.openxmlformats.org/officeDocument/2006/relationships/image" Target="../media/image95.wmf"/></Relationships>
</file>

<file path=ppt/slides/_rels/slide2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92.bin"/><Relationship Id="rId7" Type="http://schemas.openxmlformats.org/officeDocument/2006/relationships/oleObject" Target="../embeddings/oleObject2.bin"/><Relationship Id="rId12" Type="http://schemas.openxmlformats.org/officeDocument/2006/relationships/image" Target="../media/image97.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99.wmf"/><Relationship Id="rId11" Type="http://schemas.openxmlformats.org/officeDocument/2006/relationships/oleObject" Target="../embeddings/oleObject95.bin"/><Relationship Id="rId5" Type="http://schemas.openxmlformats.org/officeDocument/2006/relationships/oleObject" Target="../embeddings/oleObject93.bin"/><Relationship Id="rId10" Type="http://schemas.openxmlformats.org/officeDocument/2006/relationships/image" Target="../media/image100.wmf"/><Relationship Id="rId4" Type="http://schemas.openxmlformats.org/officeDocument/2006/relationships/image" Target="../media/image98.wmf"/><Relationship Id="rId9" Type="http://schemas.openxmlformats.org/officeDocument/2006/relationships/oleObject" Target="../embeddings/oleObject94.bin"/></Relationships>
</file>

<file path=ppt/slides/_rels/slide28.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96.bin"/><Relationship Id="rId7" Type="http://schemas.openxmlformats.org/officeDocument/2006/relationships/oleObject" Target="../embeddings/oleObject9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02.wmf"/><Relationship Id="rId5" Type="http://schemas.openxmlformats.org/officeDocument/2006/relationships/oleObject" Target="../embeddings/oleObject97.bin"/><Relationship Id="rId10" Type="http://schemas.openxmlformats.org/officeDocument/2006/relationships/image" Target="../media/image104.png"/><Relationship Id="rId4" Type="http://schemas.openxmlformats.org/officeDocument/2006/relationships/image" Target="../media/image101.png"/><Relationship Id="rId9" Type="http://schemas.openxmlformats.org/officeDocument/2006/relationships/oleObject" Target="../embeddings/oleObject99.bin"/></Relationships>
</file>

<file path=ppt/slides/_rels/slide29.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93.bin"/><Relationship Id="rId3" Type="http://schemas.openxmlformats.org/officeDocument/2006/relationships/oleObject" Target="../embeddings/oleObject100.bin"/><Relationship Id="rId7" Type="http://schemas.openxmlformats.org/officeDocument/2006/relationships/oleObject" Target="../embeddings/oleObject102.bin"/><Relationship Id="rId12" Type="http://schemas.openxmlformats.org/officeDocument/2006/relationships/image" Target="../media/image109.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06.wmf"/><Relationship Id="rId11" Type="http://schemas.openxmlformats.org/officeDocument/2006/relationships/oleObject" Target="../embeddings/oleObject104.bin"/><Relationship Id="rId5" Type="http://schemas.openxmlformats.org/officeDocument/2006/relationships/oleObject" Target="../embeddings/oleObject101.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03.bin"/><Relationship Id="rId14" Type="http://schemas.openxmlformats.org/officeDocument/2006/relationships/image" Target="../media/image99.wmf"/></Relationships>
</file>

<file path=ppt/slides/_rels/slide3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oleObject" Target="../embeddings/oleObject105.bin"/><Relationship Id="rId7"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11.wmf"/><Relationship Id="rId5" Type="http://schemas.openxmlformats.org/officeDocument/2006/relationships/oleObject" Target="../embeddings/oleObject106.bin"/><Relationship Id="rId4" Type="http://schemas.openxmlformats.org/officeDocument/2006/relationships/image" Target="../media/image110.wmf"/></Relationships>
</file>

<file path=ppt/slides/_rels/slide31.xml.rels><?xml version="1.0" encoding="UTF-8" standalone="yes"?>
<Relationships xmlns="http://schemas.openxmlformats.org/package/2006/relationships"><Relationship Id="rId8" Type="http://schemas.openxmlformats.org/officeDocument/2006/relationships/image" Target="../media/image115.w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14.wmf"/><Relationship Id="rId5" Type="http://schemas.openxmlformats.org/officeDocument/2006/relationships/oleObject" Target="../embeddings/oleObject109.bin"/><Relationship Id="rId10" Type="http://schemas.openxmlformats.org/officeDocument/2006/relationships/image" Target="../media/image116.wmf"/><Relationship Id="rId4" Type="http://schemas.openxmlformats.org/officeDocument/2006/relationships/image" Target="../media/image113.wmf"/><Relationship Id="rId9" Type="http://schemas.openxmlformats.org/officeDocument/2006/relationships/oleObject" Target="../embeddings/oleObject111.bin"/></Relationships>
</file>

<file path=ppt/slides/_rels/slide32.x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oleObject" Target="../embeddings/oleObject112.bin"/><Relationship Id="rId7" Type="http://schemas.openxmlformats.org/officeDocument/2006/relationships/oleObject" Target="../embeddings/oleObject114.bin"/><Relationship Id="rId12" Type="http://schemas.openxmlformats.org/officeDocument/2006/relationships/image" Target="../media/image113.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18.wmf"/><Relationship Id="rId11" Type="http://schemas.openxmlformats.org/officeDocument/2006/relationships/oleObject" Target="../embeddings/oleObject116.bin"/><Relationship Id="rId5" Type="http://schemas.openxmlformats.org/officeDocument/2006/relationships/oleObject" Target="../embeddings/oleObject113.bin"/><Relationship Id="rId10" Type="http://schemas.openxmlformats.org/officeDocument/2006/relationships/image" Target="../media/image120.wmf"/><Relationship Id="rId4" Type="http://schemas.openxmlformats.org/officeDocument/2006/relationships/image" Target="../media/image117.wmf"/><Relationship Id="rId9" Type="http://schemas.openxmlformats.org/officeDocument/2006/relationships/oleObject" Target="../embeddings/oleObject115.bin"/></Relationships>
</file>

<file path=ppt/slides/_rels/slide33.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image" Target="../media/image1.tmp"/><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7.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7.bin"/><Relationship Id="rId7" Type="http://schemas.openxmlformats.org/officeDocument/2006/relationships/image" Target="../media/image123.png"/><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22.png"/><Relationship Id="rId5" Type="http://schemas.openxmlformats.org/officeDocument/2006/relationships/oleObject" Target="../embeddings/oleObject118.bin"/><Relationship Id="rId4" Type="http://schemas.openxmlformats.org/officeDocument/2006/relationships/image" Target="../media/image121.png"/></Relationships>
</file>

<file path=ppt/slides/_rels/slide3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26.png"/><Relationship Id="rId5" Type="http://schemas.openxmlformats.org/officeDocument/2006/relationships/oleObject" Target="../embeddings/oleObject120.bin"/><Relationship Id="rId4" Type="http://schemas.openxmlformats.org/officeDocument/2006/relationships/image" Target="../media/image125.png"/></Relationships>
</file>

<file path=ppt/slides/_rels/slide38.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121.bin"/><Relationship Id="rId7" Type="http://schemas.openxmlformats.org/officeDocument/2006/relationships/oleObject" Target="../embeddings/oleObject123.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28.wmf"/><Relationship Id="rId5" Type="http://schemas.openxmlformats.org/officeDocument/2006/relationships/oleObject" Target="../embeddings/oleObject122.bin"/><Relationship Id="rId4" Type="http://schemas.openxmlformats.org/officeDocument/2006/relationships/image" Target="../media/image127.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image" Target="../media/image130.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32.wmf"/><Relationship Id="rId5" Type="http://schemas.openxmlformats.org/officeDocument/2006/relationships/oleObject" Target="../embeddings/oleObject126.bin"/><Relationship Id="rId4" Type="http://schemas.openxmlformats.org/officeDocument/2006/relationships/image" Target="../media/image131.wmf"/></Relationships>
</file>

<file path=ppt/slides/_rels/slide41.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oleObject" Target="../embeddings/oleObject127.bin"/><Relationship Id="rId7" Type="http://schemas.openxmlformats.org/officeDocument/2006/relationships/image" Target="../media/image135.png"/><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34.png"/><Relationship Id="rId5" Type="http://schemas.openxmlformats.org/officeDocument/2006/relationships/oleObject" Target="../embeddings/oleObject128.bin"/><Relationship Id="rId4" Type="http://schemas.openxmlformats.org/officeDocument/2006/relationships/image" Target="../media/image133.png"/></Relationships>
</file>

<file path=ppt/slides/_rels/slide42.x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oleObject" Target="../embeddings/oleObject129.bin"/><Relationship Id="rId7" Type="http://schemas.openxmlformats.org/officeDocument/2006/relationships/oleObject" Target="../embeddings/oleObject131.bin"/><Relationship Id="rId12" Type="http://schemas.openxmlformats.org/officeDocument/2006/relationships/image" Target="../media/image141.png"/><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38.wmf"/><Relationship Id="rId11" Type="http://schemas.openxmlformats.org/officeDocument/2006/relationships/oleObject" Target="../embeddings/oleObject133.bin"/><Relationship Id="rId5" Type="http://schemas.openxmlformats.org/officeDocument/2006/relationships/oleObject" Target="../embeddings/oleObject130.bin"/><Relationship Id="rId10" Type="http://schemas.openxmlformats.org/officeDocument/2006/relationships/image" Target="../media/image140.png"/><Relationship Id="rId4" Type="http://schemas.openxmlformats.org/officeDocument/2006/relationships/image" Target="../media/image137.png"/><Relationship Id="rId9" Type="http://schemas.openxmlformats.org/officeDocument/2006/relationships/oleObject" Target="../embeddings/oleObject132.bin"/></Relationships>
</file>

<file path=ppt/slides/_rels/slide43.x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oleObject" Target="../embeddings/oleObject139.bin"/><Relationship Id="rId3" Type="http://schemas.openxmlformats.org/officeDocument/2006/relationships/oleObject" Target="../embeddings/oleObject134.bin"/><Relationship Id="rId7" Type="http://schemas.openxmlformats.org/officeDocument/2006/relationships/oleObject" Target="../embeddings/oleObject136.bin"/><Relationship Id="rId12" Type="http://schemas.openxmlformats.org/officeDocument/2006/relationships/image" Target="../media/image146.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43.wmf"/><Relationship Id="rId11" Type="http://schemas.openxmlformats.org/officeDocument/2006/relationships/oleObject" Target="../embeddings/oleObject138.bin"/><Relationship Id="rId5" Type="http://schemas.openxmlformats.org/officeDocument/2006/relationships/oleObject" Target="../embeddings/oleObject135.bin"/><Relationship Id="rId10" Type="http://schemas.openxmlformats.org/officeDocument/2006/relationships/image" Target="../media/image145.wmf"/><Relationship Id="rId4" Type="http://schemas.openxmlformats.org/officeDocument/2006/relationships/image" Target="../media/image142.wmf"/><Relationship Id="rId9" Type="http://schemas.openxmlformats.org/officeDocument/2006/relationships/oleObject" Target="../embeddings/oleObject137.bin"/><Relationship Id="rId14" Type="http://schemas.openxmlformats.org/officeDocument/2006/relationships/image" Target="../media/image147.wmf"/></Relationships>
</file>

<file path=ppt/slides/_rels/slide4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50.wmf"/><Relationship Id="rId5" Type="http://schemas.openxmlformats.org/officeDocument/2006/relationships/oleObject" Target="../embeddings/oleObject141.bin"/><Relationship Id="rId4" Type="http://schemas.openxmlformats.org/officeDocument/2006/relationships/image" Target="../media/image149.wmf"/></Relationships>
</file>

<file path=ppt/slides/_rels/slide4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142.bin"/><Relationship Id="rId7" Type="http://schemas.openxmlformats.org/officeDocument/2006/relationships/oleObject" Target="../embeddings/oleObject144.bin"/><Relationship Id="rId12" Type="http://schemas.openxmlformats.org/officeDocument/2006/relationships/image" Target="../media/image156.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53.wmf"/><Relationship Id="rId11" Type="http://schemas.openxmlformats.org/officeDocument/2006/relationships/oleObject" Target="../embeddings/oleObject146.bin"/><Relationship Id="rId5" Type="http://schemas.openxmlformats.org/officeDocument/2006/relationships/oleObject" Target="../embeddings/oleObject143.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45.bin"/></Relationships>
</file>

<file path=ppt/slides/_rels/slide48.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oleObject" Target="../embeddings/oleObject147.bin"/><Relationship Id="rId7" Type="http://schemas.openxmlformats.org/officeDocument/2006/relationships/oleObject" Target="../embeddings/oleObject149.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58.wmf"/><Relationship Id="rId11" Type="http://schemas.openxmlformats.org/officeDocument/2006/relationships/image" Target="../media/image160.wmf"/><Relationship Id="rId5" Type="http://schemas.openxmlformats.org/officeDocument/2006/relationships/oleObject" Target="../embeddings/oleObject148.bin"/><Relationship Id="rId10" Type="http://schemas.openxmlformats.org/officeDocument/2006/relationships/oleObject" Target="../embeddings/oleObject150.bin"/><Relationship Id="rId4" Type="http://schemas.openxmlformats.org/officeDocument/2006/relationships/image" Target="../media/image157.wmf"/><Relationship Id="rId9" Type="http://schemas.openxmlformats.org/officeDocument/2006/relationships/image" Target="../media/image161.png"/></Relationships>
</file>

<file path=ppt/slides/_rels/slide49.xml.rels><?xml version="1.0" encoding="UTF-8" standalone="yes"?>
<Relationships xmlns="http://schemas.openxmlformats.org/package/2006/relationships"><Relationship Id="rId3" Type="http://schemas.openxmlformats.org/officeDocument/2006/relationships/image" Target="../media/image164.jpeg"/><Relationship Id="rId7" Type="http://schemas.openxmlformats.org/officeDocument/2006/relationships/image" Target="../media/image163.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152.bin"/><Relationship Id="rId5" Type="http://schemas.openxmlformats.org/officeDocument/2006/relationships/image" Target="../media/image162.wmf"/><Relationship Id="rId4" Type="http://schemas.openxmlformats.org/officeDocument/2006/relationships/oleObject" Target="../embeddings/oleObject151.bin"/></Relationships>
</file>

<file path=ppt/slides/_rels/slide50.x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oleObject" Target="../embeddings/oleObject153.bin"/><Relationship Id="rId7" Type="http://schemas.openxmlformats.org/officeDocument/2006/relationships/oleObject" Target="../embeddings/oleObject155.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66.wmf"/><Relationship Id="rId5" Type="http://schemas.openxmlformats.org/officeDocument/2006/relationships/oleObject" Target="../embeddings/oleObject154.bin"/><Relationship Id="rId10" Type="http://schemas.openxmlformats.org/officeDocument/2006/relationships/image" Target="../media/image168.wmf"/><Relationship Id="rId4" Type="http://schemas.openxmlformats.org/officeDocument/2006/relationships/image" Target="../media/image165.wmf"/><Relationship Id="rId9" Type="http://schemas.openxmlformats.org/officeDocument/2006/relationships/oleObject" Target="../embeddings/oleObject156.bin"/></Relationships>
</file>

<file path=ppt/slides/_rels/slide51.xml.rels><?xml version="1.0" encoding="UTF-8" standalone="yes"?>
<Relationships xmlns="http://schemas.openxmlformats.org/package/2006/relationships"><Relationship Id="rId3" Type="http://schemas.openxmlformats.org/officeDocument/2006/relationships/image" Target="../media/image170.gif"/><Relationship Id="rId2" Type="http://schemas.openxmlformats.org/officeDocument/2006/relationships/image" Target="../media/image169.gif"/><Relationship Id="rId1" Type="http://schemas.openxmlformats.org/officeDocument/2006/relationships/slideLayout" Target="../slideLayouts/slideLayout7.xml"/><Relationship Id="rId4" Type="http://schemas.openxmlformats.org/officeDocument/2006/relationships/image" Target="../media/image171.gif"/></Relationships>
</file>

<file path=ppt/slides/_rels/slide52.xml.rels><?xml version="1.0" encoding="UTF-8" standalone="yes"?>
<Relationships xmlns="http://schemas.openxmlformats.org/package/2006/relationships"><Relationship Id="rId2" Type="http://schemas.openxmlformats.org/officeDocument/2006/relationships/image" Target="../media/image172.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750.png"/><Relationship Id="rId1" Type="http://schemas.openxmlformats.org/officeDocument/2006/relationships/slideLayout" Target="../slideLayouts/slideLayout7.xml"/><Relationship Id="rId4" Type="http://schemas.openxmlformats.org/officeDocument/2006/relationships/image" Target="../media/image173.emf"/></Relationships>
</file>

<file path=ppt/slides/_rels/slide54.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173.emf"/><Relationship Id="rId5" Type="http://schemas.openxmlformats.org/officeDocument/2006/relationships/image" Target="../media/image183.png"/><Relationship Id="rId4" Type="http://schemas.openxmlformats.org/officeDocument/2006/relationships/image" Target="../media/image182.png"/></Relationships>
</file>

<file path=ppt/slides/_rels/slide55.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7.xml"/><Relationship Id="rId5" Type="http://schemas.openxmlformats.org/officeDocument/2006/relationships/image" Target="../media/image173.emf"/><Relationship Id="rId4" Type="http://schemas.openxmlformats.org/officeDocument/2006/relationships/image" Target="../media/image1810.png"/></Relationships>
</file>

<file path=ppt/slides/_rels/slide56.xml.rels><?xml version="1.0" encoding="UTF-8" standalone="yes"?>
<Relationships xmlns="http://schemas.openxmlformats.org/package/2006/relationships"><Relationship Id="rId3" Type="http://schemas.openxmlformats.org/officeDocument/2006/relationships/image" Target="../media/image1830.png"/><Relationship Id="rId1" Type="http://schemas.openxmlformats.org/officeDocument/2006/relationships/slideLayout" Target="../slideLayouts/slideLayout7.xml"/><Relationship Id="rId5" Type="http://schemas.openxmlformats.org/officeDocument/2006/relationships/image" Target="../media/image174.emf"/><Relationship Id="rId4" Type="http://schemas.openxmlformats.org/officeDocument/2006/relationships/image" Target="../media/image1840.png"/></Relationships>
</file>

<file path=ppt/slides/_rels/slide5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76.png"/></Relationships>
</file>

<file path=ppt/slides/_rels/slide58.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7.xml"/><Relationship Id="rId5" Type="http://schemas.openxmlformats.org/officeDocument/2006/relationships/image" Target="../media/image185.png"/><Relationship Id="rId4" Type="http://schemas.openxmlformats.org/officeDocument/2006/relationships/image" Target="../media/image179.png"/></Relationships>
</file>

<file path=ppt/slides/_rels/slide59.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7.xml"/><Relationship Id="rId4" Type="http://schemas.openxmlformats.org/officeDocument/2006/relationships/image" Target="../media/image188.png"/></Relationships>
</file>

<file path=ppt/slides/_rels/slide60.xml.rels><?xml version="1.0" encoding="UTF-8" standalone="yes"?>
<Relationships xmlns="http://schemas.openxmlformats.org/package/2006/relationships"><Relationship Id="rId3" Type="http://schemas.openxmlformats.org/officeDocument/2006/relationships/image" Target="../media/image1941.png"/><Relationship Id="rId2" Type="http://schemas.openxmlformats.org/officeDocument/2006/relationships/image" Target="../media/image1942.png"/><Relationship Id="rId1" Type="http://schemas.openxmlformats.org/officeDocument/2006/relationships/slideLayout" Target="../slideLayouts/slideLayout7.xml"/><Relationship Id="rId6" Type="http://schemas.openxmlformats.org/officeDocument/2006/relationships/image" Target="../media/image196.png"/><Relationship Id="rId5" Type="http://schemas.openxmlformats.org/officeDocument/2006/relationships/image" Target="../media/image1951.png"/><Relationship Id="rId4" Type="http://schemas.openxmlformats.org/officeDocument/2006/relationships/image" Target="../media/image1900.png"/></Relationships>
</file>

<file path=ppt/slides/_rels/slide61.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194.png"/><Relationship Id="rId2" Type="http://schemas.openxmlformats.org/officeDocument/2006/relationships/image" Target="../media/image189.png"/><Relationship Id="rId1" Type="http://schemas.openxmlformats.org/officeDocument/2006/relationships/slideLayout" Target="../slideLayouts/slideLayout7.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62.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63.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1.png"/><Relationship Id="rId1" Type="http://schemas.openxmlformats.org/officeDocument/2006/relationships/slideLayout" Target="../slideLayouts/slideLayout7.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6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7.xml"/><Relationship Id="rId5" Type="http://schemas.openxmlformats.org/officeDocument/2006/relationships/image" Target="../media/image216.png"/><Relationship Id="rId4" Type="http://schemas.openxmlformats.org/officeDocument/2006/relationships/image" Target="../media/image215.png"/></Relationships>
</file>

<file path=ppt/slides/_rels/slide65.xml.rels><?xml version="1.0" encoding="UTF-8" standalone="yes"?>
<Relationships xmlns="http://schemas.openxmlformats.org/package/2006/relationships"><Relationship Id="rId3" Type="http://schemas.openxmlformats.org/officeDocument/2006/relationships/image" Target="../media/image169.gif"/><Relationship Id="rId2" Type="http://schemas.openxmlformats.org/officeDocument/2006/relationships/image" Target="../media/image217.png"/><Relationship Id="rId1" Type="http://schemas.openxmlformats.org/officeDocument/2006/relationships/slideLayout" Target="../slideLayouts/slideLayout7.xml"/><Relationship Id="rId4" Type="http://schemas.openxmlformats.org/officeDocument/2006/relationships/image" Target="../media/image170.gif"/></Relationships>
</file>

<file path=ppt/slides/_rels/slide66.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06.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image" Target="../media/image22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2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0.png"/><Relationship Id="rId1" Type="http://schemas.openxmlformats.org/officeDocument/2006/relationships/slideLayout" Target="../slideLayouts/slideLayout7.xml"/><Relationship Id="rId4" Type="http://schemas.openxmlformats.org/officeDocument/2006/relationships/image" Target="../media/image225.png"/></Relationships>
</file>

<file path=ppt/slides/_rels/slide72.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image" Target="../media/image208.png"/><Relationship Id="rId1" Type="http://schemas.openxmlformats.org/officeDocument/2006/relationships/slideLayout" Target="../slideLayouts/slideLayout7.xml"/><Relationship Id="rId4" Type="http://schemas.openxmlformats.org/officeDocument/2006/relationships/image" Target="../media/image210.jpeg"/></Relationships>
</file>

<file path=ppt/slides/_rels/slide74.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13.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2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28.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230.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31.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34.jpeg"/><Relationship Id="rId2" Type="http://schemas.openxmlformats.org/officeDocument/2006/relationships/slideLayout" Target="../slideLayouts/slideLayout7.xml"/><Relationship Id="rId1" Type="http://schemas.openxmlformats.org/officeDocument/2006/relationships/vmlDrawing" Target="../drawings/vmlDrawing43.vml"/><Relationship Id="rId5" Type="http://schemas.openxmlformats.org/officeDocument/2006/relationships/image" Target="../media/image233.wmf"/><Relationship Id="rId4" Type="http://schemas.openxmlformats.org/officeDocument/2006/relationships/oleObject" Target="../embeddings/oleObject157.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235.wmf"/><Relationship Id="rId5" Type="http://schemas.openxmlformats.org/officeDocument/2006/relationships/oleObject" Target="../embeddings/oleObject158.bin"/><Relationship Id="rId4" Type="http://schemas.openxmlformats.org/officeDocument/2006/relationships/image" Target="../media/image237.wmf"/></Relationships>
</file>

<file path=ppt/slides/_rels/slide91.xml.rels><?xml version="1.0" encoding="UTF-8" standalone="yes"?>
<Relationships xmlns="http://schemas.openxmlformats.org/package/2006/relationships"><Relationship Id="rId2" Type="http://schemas.openxmlformats.org/officeDocument/2006/relationships/image" Target="../media/image238.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39.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241.jpeg"/><Relationship Id="rId2" Type="http://schemas.openxmlformats.org/officeDocument/2006/relationships/image" Target="../media/image240.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42.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43.jpe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59.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245.wmf"/><Relationship Id="rId5" Type="http://schemas.openxmlformats.org/officeDocument/2006/relationships/oleObject" Target="../embeddings/oleObject160.bin"/><Relationship Id="rId4" Type="http://schemas.openxmlformats.org/officeDocument/2006/relationships/image" Target="../media/image244.wmf"/></Relationships>
</file>

<file path=ppt/slides/_rels/slide97.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47.png"/><Relationship Id="rId7" Type="http://schemas.openxmlformats.org/officeDocument/2006/relationships/image" Target="../media/image249.png"/><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248.png"/><Relationship Id="rId5" Type="http://schemas.openxmlformats.org/officeDocument/2006/relationships/image" Target="../media/image246.wmf"/><Relationship Id="rId4" Type="http://schemas.openxmlformats.org/officeDocument/2006/relationships/oleObject" Target="../embeddings/oleObject161.bin"/></Relationships>
</file>

<file path=ppt/slides/_rels/slide98.xml.rels><?xml version="1.0" encoding="UTF-8" standalone="yes"?>
<Relationships xmlns="http://schemas.openxmlformats.org/package/2006/relationships"><Relationship Id="rId2" Type="http://schemas.openxmlformats.org/officeDocument/2006/relationships/image" Target="../media/image251.wmf"/><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8" Type="http://schemas.openxmlformats.org/officeDocument/2006/relationships/image" Target="../media/image253.wmf"/><Relationship Id="rId3" Type="http://schemas.openxmlformats.org/officeDocument/2006/relationships/oleObject" Target="../embeddings/oleObject162.bin"/><Relationship Id="rId7" Type="http://schemas.openxmlformats.org/officeDocument/2006/relationships/oleObject" Target="../embeddings/oleObject163.bin"/><Relationship Id="rId12" Type="http://schemas.openxmlformats.org/officeDocument/2006/relationships/image" Target="../media/image255.wmf"/><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57.wmf"/><Relationship Id="rId11" Type="http://schemas.openxmlformats.org/officeDocument/2006/relationships/oleObject" Target="../embeddings/oleObject165.bin"/><Relationship Id="rId5" Type="http://schemas.openxmlformats.org/officeDocument/2006/relationships/image" Target="../media/image256.wmf"/><Relationship Id="rId10" Type="http://schemas.openxmlformats.org/officeDocument/2006/relationships/image" Target="../media/image254.wmf"/><Relationship Id="rId4" Type="http://schemas.openxmlformats.org/officeDocument/2006/relationships/image" Target="../media/image252.wmf"/><Relationship Id="rId9" Type="http://schemas.openxmlformats.org/officeDocument/2006/relationships/oleObject" Target="../embeddings/oleObject164.bin"/></Relationships>
</file>

<file path=ppt/slides/_rels/slide100.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tags" Target="../tags/tag56.xml"/><Relationship Id="rId3" Type="http://schemas.openxmlformats.org/officeDocument/2006/relationships/tags" Target="../tags/tag41.xml"/><Relationship Id="rId21" Type="http://schemas.openxmlformats.org/officeDocument/2006/relationships/tags" Target="../tags/tag59.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tags" Target="../tags/tag58.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23" Type="http://schemas.openxmlformats.org/officeDocument/2006/relationships/image" Target="../media/image1.tmp"/><Relationship Id="rId10" Type="http://schemas.openxmlformats.org/officeDocument/2006/relationships/tags" Target="../tags/tag48.xml"/><Relationship Id="rId19" Type="http://schemas.openxmlformats.org/officeDocument/2006/relationships/tags" Target="../tags/tag57.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 Id="rId22"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58.jpe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23.xml"/><Relationship Id="rId1" Type="http://schemas.openxmlformats.org/officeDocument/2006/relationships/vmlDrawing" Target="../drawings/vmlDrawing48.vml"/><Relationship Id="rId4" Type="http://schemas.openxmlformats.org/officeDocument/2006/relationships/image" Target="../media/image259.w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18.xml"/><Relationship Id="rId1" Type="http://schemas.openxmlformats.org/officeDocument/2006/relationships/vmlDrawing" Target="../drawings/vmlDrawing49.vml"/><Relationship Id="rId6" Type="http://schemas.openxmlformats.org/officeDocument/2006/relationships/image" Target="../media/image261.wmf"/><Relationship Id="rId5" Type="http://schemas.openxmlformats.org/officeDocument/2006/relationships/oleObject" Target="../embeddings/oleObject168.bin"/><Relationship Id="rId4" Type="http://schemas.openxmlformats.org/officeDocument/2006/relationships/image" Target="../media/image260.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oleObject" Target="../embeddings/oleObject169.bin"/><Relationship Id="rId7" Type="http://schemas.openxmlformats.org/officeDocument/2006/relationships/image" Target="../media/image266.wmf"/><Relationship Id="rId12" Type="http://schemas.openxmlformats.org/officeDocument/2006/relationships/image" Target="../media/image263.wmf"/><Relationship Id="rId2" Type="http://schemas.openxmlformats.org/officeDocument/2006/relationships/slideLayout" Target="../slideLayouts/slideLayout13.xml"/><Relationship Id="rId1" Type="http://schemas.openxmlformats.org/officeDocument/2006/relationships/vmlDrawing" Target="../drawings/vmlDrawing50.vml"/><Relationship Id="rId6" Type="http://schemas.openxmlformats.org/officeDocument/2006/relationships/image" Target="../media/image265.wmf"/><Relationship Id="rId11" Type="http://schemas.openxmlformats.org/officeDocument/2006/relationships/oleObject" Target="../embeddings/oleObject170.bin"/><Relationship Id="rId5" Type="http://schemas.openxmlformats.org/officeDocument/2006/relationships/image" Target="../media/image264.wmf"/><Relationship Id="rId10" Type="http://schemas.openxmlformats.org/officeDocument/2006/relationships/image" Target="../media/image269.wmf"/><Relationship Id="rId4" Type="http://schemas.openxmlformats.org/officeDocument/2006/relationships/image" Target="../media/image262.emf"/><Relationship Id="rId9" Type="http://schemas.openxmlformats.org/officeDocument/2006/relationships/image" Target="../media/image268.wmf"/></Relationships>
</file>

<file path=ppt/slides/_rels/slide107.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32.xml"/></Relationships>
</file>

<file path=ppt/slides/_rels/slide108.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32.xml"/></Relationships>
</file>

<file path=ppt/slides/_rels/slide109.xml.rels><?xml version="1.0" encoding="UTF-8" standalone="yes"?>
<Relationships xmlns="http://schemas.openxmlformats.org/package/2006/relationships"><Relationship Id="rId3" Type="http://schemas.openxmlformats.org/officeDocument/2006/relationships/image" Target="../media/image273.emf"/><Relationship Id="rId2" Type="http://schemas.openxmlformats.org/officeDocument/2006/relationships/image" Target="../media/image272.emf"/><Relationship Id="rId1" Type="http://schemas.openxmlformats.org/officeDocument/2006/relationships/slideLayout" Target="../slideLayouts/slideLayout3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2.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27.xml"/></Relationships>
</file>

<file path=ppt/slides/_rels/slide113.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276.png"/></Relationships>
</file>

<file path=ppt/slides/_rels/slide114.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32.xml"/></Relationships>
</file>

<file path=ppt/slides/_rels/slide115.xml.rels><?xml version="1.0" encoding="UTF-8" standalone="yes"?>
<Relationships xmlns="http://schemas.openxmlformats.org/package/2006/relationships"><Relationship Id="rId2" Type="http://schemas.openxmlformats.org/officeDocument/2006/relationships/image" Target="../media/image278.png"/><Relationship Id="rId1" Type="http://schemas.openxmlformats.org/officeDocument/2006/relationships/slideLayout" Target="../slideLayouts/slideLayout32.xml"/></Relationships>
</file>

<file path=ppt/slides/_rels/slide116.xml.rels><?xml version="1.0" encoding="UTF-8" standalone="yes"?>
<Relationships xmlns="http://schemas.openxmlformats.org/package/2006/relationships"><Relationship Id="rId3" Type="http://schemas.openxmlformats.org/officeDocument/2006/relationships/image" Target="../media/image277.png"/><Relationship Id="rId2" Type="http://schemas.openxmlformats.org/officeDocument/2006/relationships/image" Target="../media/image279.png"/><Relationship Id="rId1" Type="http://schemas.openxmlformats.org/officeDocument/2006/relationships/slideLayout" Target="../slideLayouts/slideLayout32.xml"/></Relationships>
</file>

<file path=ppt/slides/_rels/slide1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11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32.xml"/></Relationships>
</file>

<file path=ppt/slides/_rels/slide119.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7.xml"/></Relationships>
</file>

<file path=ppt/slides/_rels/slide120.xml.rels><?xml version="1.0" encoding="UTF-8" standalone="yes"?>
<Relationships xmlns="http://schemas.openxmlformats.org/package/2006/relationships"><Relationship Id="rId2" Type="http://schemas.openxmlformats.org/officeDocument/2006/relationships/image" Target="../media/image282.png"/><Relationship Id="rId1" Type="http://schemas.openxmlformats.org/officeDocument/2006/relationships/slideLayout" Target="../slideLayouts/slideLayout27.xml"/></Relationships>
</file>

<file path=ppt/slides/_rels/slide121.xml.rels><?xml version="1.0" encoding="UTF-8" standalone="yes"?>
<Relationships xmlns="http://schemas.openxmlformats.org/package/2006/relationships"><Relationship Id="rId2" Type="http://schemas.openxmlformats.org/officeDocument/2006/relationships/image" Target="../media/image282.png"/><Relationship Id="rId1" Type="http://schemas.openxmlformats.org/officeDocument/2006/relationships/slideLayout" Target="../slideLayouts/slideLayout2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23.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24.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285.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Layout" Target="../slideLayouts/slideLayout27.xml"/><Relationship Id="rId1" Type="http://schemas.openxmlformats.org/officeDocument/2006/relationships/vmlDrawing" Target="../drawings/vmlDrawing51.vml"/><Relationship Id="rId6" Type="http://schemas.openxmlformats.org/officeDocument/2006/relationships/image" Target="../media/image287.emf"/><Relationship Id="rId5" Type="http://schemas.openxmlformats.org/officeDocument/2006/relationships/oleObject" Target="../embeddings/oleObject172.bin"/><Relationship Id="rId4" Type="http://schemas.openxmlformats.org/officeDocument/2006/relationships/image" Target="../media/image286.emf"/></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173.bin"/><Relationship Id="rId2" Type="http://schemas.openxmlformats.org/officeDocument/2006/relationships/slideLayout" Target="../slideLayouts/slideLayout27.xml"/><Relationship Id="rId1" Type="http://schemas.openxmlformats.org/officeDocument/2006/relationships/vmlDrawing" Target="../drawings/vmlDrawing52.vml"/><Relationship Id="rId4" Type="http://schemas.openxmlformats.org/officeDocument/2006/relationships/image" Target="../media/image288.em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a:t>
            </a:fld>
            <a:endParaRPr lang="zh-CN" altLang="en-US"/>
          </a:p>
        </p:txBody>
      </p:sp>
      <p:sp>
        <p:nvSpPr>
          <p:cNvPr id="3" name="Text Box 2"/>
          <p:cNvSpPr txBox="1">
            <a:spLocks noChangeArrowheads="1"/>
          </p:cNvSpPr>
          <p:nvPr/>
        </p:nvSpPr>
        <p:spPr bwMode="auto">
          <a:xfrm>
            <a:off x="1682150" y="431800"/>
            <a:ext cx="5873361" cy="641350"/>
          </a:xfrm>
          <a:prstGeom prst="rect">
            <a:avLst/>
          </a:prstGeom>
          <a:noFill/>
          <a:ln>
            <a:noFill/>
          </a:ln>
          <a:effectLst>
            <a:outerShdw dist="35921" dir="2700000" algn="ctr" rotWithShape="0">
              <a:srgbClr val="1C1C1C"/>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第五章   </a:t>
            </a:r>
            <a:r>
              <a:rPr kumimoji="1"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MOS</a:t>
            </a:r>
            <a:r>
              <a:rPr kumimoji="1" lang="zh-CN" altLang="en-US"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Times New Roman" pitchFamily="18" charset="0"/>
                <a:ea typeface="宋体" pitchFamily="2" charset="-122"/>
              </a:rPr>
              <a:t>场效应晶体管</a:t>
            </a:r>
            <a:endParaRPr kumimoji="1" lang="zh-CN" altLang="en-US" sz="3600" b="1" i="0" u="none" strike="noStrike" kern="0" cap="none" spc="0" normalizeH="0" baseline="0" noProof="0" dirty="0">
              <a:ln>
                <a:noFill/>
              </a:ln>
              <a:solidFill>
                <a:srgbClr val="FF6600"/>
              </a:solidFill>
              <a:effectLst>
                <a:outerShdw blurRad="38100" dist="38100" dir="2700000" algn="tl">
                  <a:srgbClr val="C0C0C0"/>
                </a:outerShdw>
              </a:effectLst>
              <a:uLnTx/>
              <a:uFillTx/>
              <a:latin typeface="Times New Roman" pitchFamily="18" charset="0"/>
              <a:ea typeface="宋体" pitchFamily="2" charset="-122"/>
            </a:endParaRPr>
          </a:p>
        </p:txBody>
      </p:sp>
      <p:sp>
        <p:nvSpPr>
          <p:cNvPr id="5" name="Text Box 3"/>
          <p:cNvSpPr txBox="1">
            <a:spLocks noChangeArrowheads="1"/>
          </p:cNvSpPr>
          <p:nvPr/>
        </p:nvSpPr>
        <p:spPr bwMode="auto">
          <a:xfrm>
            <a:off x="688754" y="3126927"/>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fontAlgn="base">
              <a:spcBef>
                <a:spcPct val="50000"/>
              </a:spcBef>
              <a:spcAft>
                <a:spcPct val="0"/>
              </a:spcAft>
            </a:pPr>
            <a:r>
              <a:rPr kumimoji="1" lang="zh-CN" altLang="en-US" sz="2800" b="1" dirty="0">
                <a:solidFill>
                  <a:srgbClr val="FF6600"/>
                </a:solidFill>
                <a:effectLst>
                  <a:outerShdw blurRad="38100" dist="38100" dir="2700000" algn="tl">
                    <a:srgbClr val="C0C0C0"/>
                  </a:outerShdw>
                </a:effectLst>
                <a:latin typeface="Times New Roman" pitchFamily="18" charset="0"/>
                <a:ea typeface="宋体" pitchFamily="2" charset="-122"/>
              </a:rPr>
              <a:t>本章内容</a:t>
            </a:r>
          </a:p>
        </p:txBody>
      </p:sp>
      <p:sp>
        <p:nvSpPr>
          <p:cNvPr id="6" name="Text Box 4"/>
          <p:cNvSpPr txBox="1">
            <a:spLocks noChangeArrowheads="1"/>
          </p:cNvSpPr>
          <p:nvPr/>
        </p:nvSpPr>
        <p:spPr bwMode="auto">
          <a:xfrm>
            <a:off x="969484" y="3726365"/>
            <a:ext cx="6825002" cy="176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5.1 MOSCAP</a:t>
            </a:r>
            <a:r>
              <a:rPr kumimoji="1" lang="zh-CN" altLang="en-US" sz="2400" b="1" dirty="0" smtClean="0">
                <a:solidFill>
                  <a:srgbClr val="000000"/>
                </a:solidFill>
                <a:latin typeface="Times New Roman" pitchFamily="18" charset="0"/>
                <a:ea typeface="宋体" pitchFamily="2" charset="-122"/>
              </a:rPr>
              <a:t>结构</a:t>
            </a:r>
            <a:endParaRPr kumimoji="1" lang="en-US" altLang="zh-CN" sz="2400" b="1" dirty="0" smtClean="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5.2 MOSFET</a:t>
            </a:r>
            <a:r>
              <a:rPr kumimoji="1" lang="zh-CN" altLang="en-US" sz="2400" b="1" dirty="0" smtClean="0">
                <a:solidFill>
                  <a:srgbClr val="000000"/>
                </a:solidFill>
                <a:latin typeface="Times New Roman" pitchFamily="18" charset="0"/>
                <a:ea typeface="宋体" pitchFamily="2" charset="-122"/>
              </a:rPr>
              <a:t>器件</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5.3 MOSFET</a:t>
            </a:r>
            <a:r>
              <a:rPr kumimoji="1" lang="zh-CN" altLang="en-US" sz="2400" b="1" dirty="0" smtClean="0">
                <a:solidFill>
                  <a:srgbClr val="000000"/>
                </a:solidFill>
                <a:latin typeface="Times New Roman" pitchFamily="18" charset="0"/>
                <a:ea typeface="宋体" pitchFamily="2" charset="-122"/>
              </a:rPr>
              <a:t>的小尺寸效应</a:t>
            </a:r>
            <a:endParaRPr kumimoji="1" lang="zh-CN" altLang="en-US" sz="2400" b="1" dirty="0">
              <a:solidFill>
                <a:srgbClr val="000000"/>
              </a:solidFill>
              <a:latin typeface="Times New Roman" pitchFamily="18" charset="0"/>
              <a:ea typeface="宋体" pitchFamily="2" charset="-122"/>
            </a:endParaRPr>
          </a:p>
          <a:p>
            <a:pPr defTabSz="914400" eaLnBrk="0" fontAlgn="base" hangingPunct="0">
              <a:spcBef>
                <a:spcPts val="500"/>
              </a:spcBef>
              <a:spcAft>
                <a:spcPct val="0"/>
              </a:spcAft>
            </a:pPr>
            <a:r>
              <a:rPr kumimoji="1" lang="en-US" altLang="zh-CN" sz="2400" b="1" dirty="0" smtClean="0">
                <a:solidFill>
                  <a:srgbClr val="000000"/>
                </a:solidFill>
                <a:effectLst>
                  <a:outerShdw blurRad="38100" dist="38100" dir="2700000" algn="tl">
                    <a:srgbClr val="C0C0C0"/>
                  </a:outerShdw>
                </a:effectLst>
                <a:latin typeface="宋体" pitchFamily="2" charset="-122"/>
                <a:ea typeface="宋体" pitchFamily="2" charset="-122"/>
              </a:rPr>
              <a:t>§</a:t>
            </a:r>
            <a:r>
              <a:rPr kumimoji="1" lang="en-US" altLang="zh-CN" sz="2400" b="1" dirty="0" smtClean="0">
                <a:solidFill>
                  <a:srgbClr val="000000"/>
                </a:solidFill>
                <a:latin typeface="Times New Roman" pitchFamily="18" charset="0"/>
                <a:ea typeface="宋体" pitchFamily="2" charset="-122"/>
              </a:rPr>
              <a:t>5.4 </a:t>
            </a:r>
            <a:r>
              <a:rPr kumimoji="1" lang="zh-CN" altLang="en-US" sz="2400" b="1" dirty="0" smtClean="0">
                <a:solidFill>
                  <a:srgbClr val="000000"/>
                </a:solidFill>
                <a:latin typeface="Times New Roman" pitchFamily="18" charset="0"/>
                <a:ea typeface="宋体" pitchFamily="2" charset="-122"/>
              </a:rPr>
              <a:t>现代</a:t>
            </a:r>
            <a:r>
              <a:rPr kumimoji="1" lang="en-US" altLang="zh-CN" sz="2400" b="1" dirty="0" smtClean="0">
                <a:solidFill>
                  <a:srgbClr val="000000"/>
                </a:solidFill>
                <a:latin typeface="Times New Roman" pitchFamily="18" charset="0"/>
                <a:ea typeface="宋体" pitchFamily="2" charset="-122"/>
              </a:rPr>
              <a:t>MOSFET</a:t>
            </a:r>
            <a:endParaRPr kumimoji="1" lang="zh-CN" altLang="en-US" sz="2400" b="1" dirty="0">
              <a:solidFill>
                <a:srgbClr val="000000"/>
              </a:solidFill>
              <a:effectLst>
                <a:outerShdw blurRad="38100" dist="38100" dir="2700000" algn="tl">
                  <a:srgbClr val="C0C0C0"/>
                </a:outerShdw>
              </a:effectLst>
              <a:latin typeface="宋体" pitchFamily="2" charset="-122"/>
              <a:ea typeface="宋体" pitchFamily="2" charset="-122"/>
            </a:endParaRPr>
          </a:p>
        </p:txBody>
      </p:sp>
      <p:sp>
        <p:nvSpPr>
          <p:cNvPr id="7" name="Rectangle 4"/>
          <p:cNvSpPr>
            <a:spLocks noChangeArrowheads="1"/>
          </p:cNvSpPr>
          <p:nvPr/>
        </p:nvSpPr>
        <p:spPr bwMode="auto">
          <a:xfrm>
            <a:off x="433965" y="1397545"/>
            <a:ext cx="8208963" cy="1277979"/>
          </a:xfrm>
          <a:prstGeom prst="rect">
            <a:avLst/>
          </a:prstGeom>
          <a:noFill/>
          <a:ln w="12700" cap="sq">
            <a:noFill/>
            <a:miter lim="800000"/>
            <a:headEnd type="none" w="sm" len="sm"/>
            <a:tailEnd type="none" w="sm" len="sm"/>
          </a:ln>
        </p:spPr>
        <p:txBody>
          <a:bodyPr>
            <a:spAutoFit/>
          </a:bodyPr>
          <a:lstStyle/>
          <a:p>
            <a:pPr>
              <a:lnSpc>
                <a:spcPct val="110000"/>
              </a:lnSpc>
            </a:pPr>
            <a:r>
              <a:rPr kumimoji="1" lang="en-US" altLang="zh-CN" sz="2400" b="1" dirty="0" smtClean="0">
                <a:latin typeface="Times New Roman" pitchFamily="18" charset="0"/>
                <a:ea typeface="宋体" pitchFamily="2" charset="-122"/>
              </a:rPr>
              <a:t>MOSFET</a:t>
            </a:r>
            <a:r>
              <a:rPr kumimoji="1" lang="zh-CN" altLang="en-US" sz="2400" b="1" dirty="0" smtClean="0">
                <a:latin typeface="Times New Roman" pitchFamily="18" charset="0"/>
                <a:ea typeface="宋体" pitchFamily="2" charset="-122"/>
              </a:rPr>
              <a:t>是集成电路中最常见的器件，本章将进一步深入讨论</a:t>
            </a:r>
            <a:r>
              <a:rPr kumimoji="1" lang="en-US" altLang="zh-CN" sz="2400" b="1" dirty="0" smtClean="0">
                <a:latin typeface="Times New Roman" pitchFamily="18" charset="0"/>
                <a:ea typeface="宋体" pitchFamily="2" charset="-122"/>
              </a:rPr>
              <a:t>MOSFET</a:t>
            </a:r>
            <a:r>
              <a:rPr kumimoji="1" lang="zh-CN" altLang="en-US" sz="2400" b="1" dirty="0" smtClean="0">
                <a:latin typeface="Times New Roman" pitchFamily="18" charset="0"/>
                <a:ea typeface="宋体" pitchFamily="2" charset="-122"/>
              </a:rPr>
              <a:t>的工作原理，影响参数，小尺寸效应，优化方法等</a:t>
            </a:r>
            <a:endParaRPr kumimoji="1" lang="zh-CN" altLang="en-US" sz="2400" b="1" dirty="0">
              <a:solidFill>
                <a:srgbClr val="FF3300"/>
              </a:solidFill>
              <a:latin typeface="Times New Roman" pitchFamily="18" charset="0"/>
              <a:ea typeface="宋体" pitchFamily="2" charset="-122"/>
            </a:endParaRPr>
          </a:p>
        </p:txBody>
      </p:sp>
    </p:spTree>
    <p:extLst>
      <p:ext uri="{BB962C8B-B14F-4D97-AF65-F5344CB8AC3E}">
        <p14:creationId xmlns:p14="http://schemas.microsoft.com/office/powerpoint/2010/main" val="26980346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7070092" y="6192996"/>
            <a:ext cx="2057400" cy="365125"/>
          </a:xfrm>
        </p:spPr>
        <p:txBody>
          <a:bodyPr/>
          <a:lstStyle/>
          <a:p>
            <a:fld id="{B6DE0A5B-1E35-4081-8D72-3B0687A5C65D}" type="slidenum">
              <a:rPr lang="zh-CN" altLang="en-US" smtClean="0"/>
              <a:t>2</a:t>
            </a:fld>
            <a:endParaRPr lang="zh-CN" altLang="en-US"/>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MOS</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193800" y="2520156"/>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存在积累、平带、耗尽、反</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型等情形</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193799" y="3205956"/>
            <a:ext cx="7570839"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栅压稳定后，垂直栅平面方向的准费米能级是平的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193800" y="3891756"/>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nMOS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的多</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子一定是电子</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193800" y="4577556"/>
            <a:ext cx="7570838"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强反型的条件是表面势达到体内相对费米势的</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479425" y="2584449"/>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479425" y="3270249"/>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479425" y="3956049"/>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479425" y="4641849"/>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215629" y="614664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文本框 19"/>
          <p:cNvSpPr txBox="1"/>
          <p:nvPr>
            <p:custDataLst>
              <p:tags r:id="rId12"/>
            </p:custDataLst>
          </p:nvPr>
        </p:nvSpPr>
        <p:spPr>
          <a:xfrm>
            <a:off x="1193799" y="5263356"/>
            <a:ext cx="7049733"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半导体掺杂浓度增加，阈值电压减小</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矩形 20"/>
          <p:cNvSpPr>
            <a:spLocks noChangeAspect="1"/>
          </p:cNvSpPr>
          <p:nvPr>
            <p:custDataLst>
              <p:tags r:id="rId13"/>
            </p:custDataLst>
          </p:nvPr>
        </p:nvSpPr>
        <p:spPr>
          <a:xfrm>
            <a:off x="479425" y="5327649"/>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4"/>
            </p:custDataLst>
          </p:nvPr>
        </p:nvGrpSpPr>
        <p:grpSpPr>
          <a:xfrm>
            <a:off x="0" y="0"/>
            <a:ext cx="9144000" cy="635000"/>
            <a:chOff x="0" y="0"/>
            <a:chExt cx="9144000" cy="635000"/>
          </a:xfrm>
        </p:grpSpPr>
        <p:sp>
          <p:nvSpPr>
            <p:cNvPr id="14" name="TitleBackground"/>
            <p:cNvSpPr/>
            <p:nvPr>
              <p:custDataLst>
                <p:tags r:id="rId1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78854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4214912241"/>
              </p:ext>
            </p:extLst>
          </p:nvPr>
        </p:nvGraphicFramePr>
        <p:xfrm>
          <a:off x="446597" y="1065478"/>
          <a:ext cx="4333115" cy="2117700"/>
        </p:xfrm>
        <a:graphic>
          <a:graphicData uri="http://schemas.openxmlformats.org/presentationml/2006/ole">
            <mc:AlternateContent xmlns:mc="http://schemas.openxmlformats.org/markup-compatibility/2006">
              <mc:Choice xmlns:v="urn:schemas-microsoft-com:vml" Requires="v">
                <p:oleObj spid="_x0000_s244752" name="BMP 图象" r:id="rId3" imgW="7602011" imgH="3715269" progId="PBrush">
                  <p:embed/>
                </p:oleObj>
              </mc:Choice>
              <mc:Fallback>
                <p:oleObj name="BMP 图象" r:id="rId3" imgW="7602011" imgH="3715269" progId="PBrush">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597" y="1065478"/>
                        <a:ext cx="4333115" cy="2117700"/>
                      </a:xfrm>
                      <a:prstGeom prst="rect">
                        <a:avLst/>
                      </a:prstGeom>
                      <a:noFill/>
                      <a:ln>
                        <a:noFill/>
                      </a:ln>
                    </p:spPr>
                  </p:pic>
                </p:oleObj>
              </mc:Fallback>
            </mc:AlternateContent>
          </a:graphicData>
        </a:graphic>
      </p:graphicFrame>
      <p:pic>
        <p:nvPicPr>
          <p:cNvPr id="6" name="图片 5"/>
          <p:cNvPicPr>
            <a:picLocks noChangeAspect="1"/>
          </p:cNvPicPr>
          <p:nvPr/>
        </p:nvPicPr>
        <p:blipFill rotWithShape="1">
          <a:blip r:embed="rId5"/>
          <a:srcRect r="32791" b="-1968"/>
          <a:stretch/>
        </p:blipFill>
        <p:spPr>
          <a:xfrm>
            <a:off x="905247" y="3292322"/>
            <a:ext cx="2765503" cy="547005"/>
          </a:xfrm>
          <a:prstGeom prst="rect">
            <a:avLst/>
          </a:prstGeom>
        </p:spPr>
      </p:pic>
      <p:graphicFrame>
        <p:nvGraphicFramePr>
          <p:cNvPr id="7" name="Object 2"/>
          <p:cNvGraphicFramePr>
            <a:graphicFrameLocks noChangeAspect="1"/>
          </p:cNvGraphicFramePr>
          <p:nvPr>
            <p:extLst>
              <p:ext uri="{D42A27DB-BD31-4B8C-83A1-F6EECF244321}">
                <p14:modId xmlns:p14="http://schemas.microsoft.com/office/powerpoint/2010/main" val="288571304"/>
              </p:ext>
            </p:extLst>
          </p:nvPr>
        </p:nvGraphicFramePr>
        <p:xfrm>
          <a:off x="5341660" y="782602"/>
          <a:ext cx="3429000" cy="3252788"/>
        </p:xfrm>
        <a:graphic>
          <a:graphicData uri="http://schemas.openxmlformats.org/presentationml/2006/ole">
            <mc:AlternateContent xmlns:mc="http://schemas.openxmlformats.org/markup-compatibility/2006">
              <mc:Choice xmlns:v="urn:schemas-microsoft-com:vml" Requires="v">
                <p:oleObj spid="_x0000_s244753" name="BMP 图象" r:id="rId6" imgW="4266667" imgH="4048690" progId="PBrush">
                  <p:embed/>
                </p:oleObj>
              </mc:Choice>
              <mc:Fallback>
                <p:oleObj name="BMP 图象" r:id="rId6" imgW="4266667" imgH="4048690" progId="PBrush">
                  <p:embed/>
                  <p:pic>
                    <p:nvPicPr>
                      <p:cNvPr id="7"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41660" y="782602"/>
                        <a:ext cx="3429000"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矩形 7"/>
          <p:cNvSpPr/>
          <p:nvPr/>
        </p:nvSpPr>
        <p:spPr>
          <a:xfrm>
            <a:off x="7220415" y="2997613"/>
            <a:ext cx="763858" cy="34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smtClean="0">
                <a:solidFill>
                  <a:schemeClr val="tx1"/>
                </a:solidFill>
                <a:latin typeface="Arial" panose="020B0604020202020204" pitchFamily="34" charset="0"/>
                <a:cs typeface="Arial" panose="020B0604020202020204" pitchFamily="34" charset="0"/>
              </a:rPr>
              <a:t>q</a:t>
            </a:r>
            <a:r>
              <a:rPr lang="el-GR" altLang="zh-CN" b="1" i="1" dirty="0" smtClean="0">
                <a:solidFill>
                  <a:schemeClr val="tx1"/>
                </a:solidFill>
                <a:latin typeface="Arial" panose="020B0604020202020204" pitchFamily="34" charset="0"/>
                <a:cs typeface="Arial" panose="020B0604020202020204" pitchFamily="34" charset="0"/>
              </a:rPr>
              <a:t>ψ</a:t>
            </a:r>
            <a:r>
              <a:rPr lang="en-US" altLang="zh-CN" b="1" i="1" baseline="-25000" dirty="0" smtClean="0">
                <a:solidFill>
                  <a:schemeClr val="tx1"/>
                </a:solidFill>
                <a:latin typeface="Arial" panose="020B0604020202020204" pitchFamily="34" charset="0"/>
                <a:cs typeface="Arial" panose="020B0604020202020204" pitchFamily="34" charset="0"/>
              </a:rPr>
              <a:t>B</a:t>
            </a:r>
            <a:endParaRPr lang="zh-CN" altLang="en-US" b="1" i="1" baseline="-25000" dirty="0">
              <a:solidFill>
                <a:schemeClr val="tx1"/>
              </a:solidFill>
              <a:latin typeface="Arial" panose="020B0604020202020204" pitchFamily="34" charset="0"/>
              <a:cs typeface="Arial" panose="020B0604020202020204" pitchFamily="34" charset="0"/>
            </a:endParaRPr>
          </a:p>
        </p:txBody>
      </p:sp>
      <p:sp>
        <p:nvSpPr>
          <p:cNvPr id="9" name="矩形 8"/>
          <p:cNvSpPr/>
          <p:nvPr/>
        </p:nvSpPr>
        <p:spPr>
          <a:xfrm>
            <a:off x="5135133" y="3228072"/>
            <a:ext cx="735981" cy="34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smtClean="0">
                <a:solidFill>
                  <a:schemeClr val="tx1"/>
                </a:solidFill>
                <a:latin typeface="Arial" panose="020B0604020202020204" pitchFamily="34" charset="0"/>
                <a:cs typeface="Arial" panose="020B0604020202020204" pitchFamily="34" charset="0"/>
              </a:rPr>
              <a:t>2q</a:t>
            </a:r>
            <a:r>
              <a:rPr lang="el-GR" altLang="zh-CN" b="1" i="1" dirty="0" smtClean="0">
                <a:solidFill>
                  <a:schemeClr val="tx1"/>
                </a:solidFill>
                <a:latin typeface="Arial" panose="020B0604020202020204" pitchFamily="34" charset="0"/>
                <a:cs typeface="Arial" panose="020B0604020202020204" pitchFamily="34" charset="0"/>
              </a:rPr>
              <a:t>ψ</a:t>
            </a:r>
            <a:r>
              <a:rPr lang="en-US" altLang="zh-CN" b="1" i="1" baseline="-25000" dirty="0" smtClean="0">
                <a:solidFill>
                  <a:schemeClr val="tx1"/>
                </a:solidFill>
                <a:latin typeface="Arial" panose="020B0604020202020204" pitchFamily="34" charset="0"/>
                <a:cs typeface="Arial" panose="020B0604020202020204" pitchFamily="34" charset="0"/>
              </a:rPr>
              <a:t>B</a:t>
            </a:r>
            <a:endParaRPr lang="zh-CN" altLang="en-US" b="1" i="1" baseline="-25000" dirty="0">
              <a:solidFill>
                <a:schemeClr val="tx1"/>
              </a:solidFill>
              <a:latin typeface="Arial" panose="020B0604020202020204" pitchFamily="34" charset="0"/>
              <a:cs typeface="Arial" panose="020B0604020202020204" pitchFamily="34" charset="0"/>
            </a:endParaRPr>
          </a:p>
        </p:txBody>
      </p:sp>
      <p:sp>
        <p:nvSpPr>
          <p:cNvPr id="10" name="Text Box 54"/>
          <p:cNvSpPr txBox="1">
            <a:spLocks noChangeArrowheads="1"/>
          </p:cNvSpPr>
          <p:nvPr/>
        </p:nvSpPr>
        <p:spPr bwMode="auto">
          <a:xfrm>
            <a:off x="1504225" y="168924"/>
            <a:ext cx="2166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PN</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结能带图</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11" name="Text Box 54"/>
          <p:cNvSpPr txBox="1">
            <a:spLocks noChangeArrowheads="1"/>
          </p:cNvSpPr>
          <p:nvPr/>
        </p:nvSpPr>
        <p:spPr bwMode="auto">
          <a:xfrm>
            <a:off x="6137152" y="168924"/>
            <a:ext cx="2166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en-US" altLang="zh-CN" b="1" kern="0" dirty="0" err="1" smtClean="0">
                <a:solidFill>
                  <a:srgbClr val="000000"/>
                </a:solidFill>
              </a:rPr>
              <a:t>pMOS</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能带图</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pic>
        <p:nvPicPr>
          <p:cNvPr id="12" name="Picture 3"/>
          <p:cNvPicPr>
            <a:picLocks noChangeAspect="1" noChangeArrowheads="1"/>
          </p:cNvPicPr>
          <p:nvPr/>
        </p:nvPicPr>
        <p:blipFill>
          <a:blip r:embed="rId8" cstate="print"/>
          <a:srcRect/>
          <a:stretch>
            <a:fillRect/>
          </a:stretch>
        </p:blipFill>
        <p:spPr bwMode="auto">
          <a:xfrm>
            <a:off x="836236" y="4315354"/>
            <a:ext cx="7658100" cy="2492375"/>
          </a:xfrm>
          <a:prstGeom prst="rect">
            <a:avLst/>
          </a:prstGeom>
          <a:noFill/>
        </p:spPr>
      </p:pic>
    </p:spTree>
    <p:extLst>
      <p:ext uri="{BB962C8B-B14F-4D97-AF65-F5344CB8AC3E}">
        <p14:creationId xmlns:p14="http://schemas.microsoft.com/office/powerpoint/2010/main" val="130488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a:t>
            </a:fld>
            <a:endParaRPr lang="zh-CN" altLang="en-US"/>
          </a:p>
        </p:txBody>
      </p:sp>
      <p:sp>
        <p:nvSpPr>
          <p:cNvPr id="4" name="Rectangle 4"/>
          <p:cNvSpPr>
            <a:spLocks noChangeArrowheads="1"/>
          </p:cNvSpPr>
          <p:nvPr/>
        </p:nvSpPr>
        <p:spPr bwMode="auto">
          <a:xfrm>
            <a:off x="2448231" y="295910"/>
            <a:ext cx="4535181"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a:solidFill>
                  <a:srgbClr val="FF6600"/>
                </a:solidFill>
                <a:latin typeface="Times New Roman" pitchFamily="18" charset="0"/>
                <a:ea typeface="宋体" pitchFamily="2" charset="-122"/>
              </a:rPr>
              <a:t>一</a:t>
            </a:r>
            <a:r>
              <a:rPr kumimoji="1" lang="zh-CN" altLang="en-US" sz="3600" b="1" dirty="0" smtClean="0">
                <a:solidFill>
                  <a:srgbClr val="FF6600"/>
                </a:solidFill>
                <a:latin typeface="Times New Roman" pitchFamily="18" charset="0"/>
                <a:ea typeface="宋体" pitchFamily="2" charset="-122"/>
              </a:rPr>
              <a:t>、</a:t>
            </a:r>
            <a:r>
              <a:rPr kumimoji="1" lang="en-US" altLang="zh-CN" sz="3600" b="1" dirty="0" smtClean="0">
                <a:solidFill>
                  <a:srgbClr val="FF6600"/>
                </a:solidFill>
                <a:latin typeface="Times New Roman" pitchFamily="18" charset="0"/>
                <a:ea typeface="宋体" pitchFamily="2" charset="-122"/>
              </a:rPr>
              <a:t>MOSCAP</a:t>
            </a:r>
            <a:r>
              <a:rPr kumimoji="1" lang="zh-CN" altLang="en-US" sz="3600" b="1" dirty="0" smtClean="0">
                <a:solidFill>
                  <a:srgbClr val="FF6600"/>
                </a:solidFill>
                <a:latin typeface="Times New Roman" pitchFamily="18" charset="0"/>
                <a:ea typeface="宋体" pitchFamily="2" charset="-122"/>
              </a:rPr>
              <a:t>结构</a:t>
            </a:r>
            <a:endParaRPr kumimoji="1" lang="zh-CN" altLang="en-US" sz="3600" b="1" dirty="0">
              <a:solidFill>
                <a:srgbClr val="FF6600"/>
              </a:solidFill>
              <a:latin typeface="Times New Roman" pitchFamily="18" charset="0"/>
              <a:ea typeface="宋体" pitchFamily="2" charset="-122"/>
            </a:endParaRPr>
          </a:p>
        </p:txBody>
      </p:sp>
      <p:sp>
        <p:nvSpPr>
          <p:cNvPr id="7" name="矩形 6"/>
          <p:cNvSpPr/>
          <p:nvPr/>
        </p:nvSpPr>
        <p:spPr>
          <a:xfrm>
            <a:off x="461092" y="973654"/>
            <a:ext cx="4607352"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1. </a:t>
            </a:r>
            <a:r>
              <a:rPr kumimoji="1" lang="zh-CN" altLang="en-US" sz="2800" b="1" dirty="0" smtClean="0">
                <a:solidFill>
                  <a:srgbClr val="D96227"/>
                </a:solidFill>
                <a:latin typeface="Times New Roman" pitchFamily="18" charset="0"/>
                <a:ea typeface="宋体" pitchFamily="2" charset="-122"/>
                <a:cs typeface="Times New Roman" pitchFamily="18" charset="0"/>
              </a:rPr>
              <a:t>理想</a:t>
            </a:r>
            <a:r>
              <a:rPr kumimoji="1" lang="en-US" altLang="zh-CN" sz="2800" b="1" dirty="0" smtClean="0">
                <a:solidFill>
                  <a:srgbClr val="D96227"/>
                </a:solidFill>
                <a:latin typeface="Times New Roman" pitchFamily="18" charset="0"/>
                <a:ea typeface="宋体" pitchFamily="2" charset="-122"/>
                <a:cs typeface="Times New Roman" pitchFamily="18" charset="0"/>
              </a:rPr>
              <a:t>MOS</a:t>
            </a:r>
            <a:r>
              <a:rPr kumimoji="1" lang="zh-CN" altLang="en-US" sz="2800" b="1" dirty="0" smtClean="0">
                <a:solidFill>
                  <a:srgbClr val="D96227"/>
                </a:solidFill>
                <a:latin typeface="Times New Roman" pitchFamily="18" charset="0"/>
                <a:ea typeface="宋体" pitchFamily="2" charset="-122"/>
                <a:cs typeface="Times New Roman" pitchFamily="18" charset="0"/>
              </a:rPr>
              <a:t>结构的理论推导</a:t>
            </a:r>
            <a:endParaRPr kumimoji="1" lang="zh-CN" altLang="en-US" sz="2800" b="1" dirty="0">
              <a:solidFill>
                <a:srgbClr val="D96227"/>
              </a:solidFill>
              <a:latin typeface="Times New Roman" pitchFamily="18" charset="0"/>
              <a:ea typeface="宋体" pitchFamily="2" charset="-122"/>
              <a:cs typeface="Times New Roman" pitchFamily="18" charset="0"/>
            </a:endParaRPr>
          </a:p>
        </p:txBody>
      </p:sp>
      <p:sp>
        <p:nvSpPr>
          <p:cNvPr id="10" name="Text Box 4"/>
          <p:cNvSpPr txBox="1">
            <a:spLocks noChangeArrowheads="1"/>
          </p:cNvSpPr>
          <p:nvPr/>
        </p:nvSpPr>
        <p:spPr bwMode="auto">
          <a:xfrm>
            <a:off x="461093" y="1714155"/>
            <a:ext cx="7189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en-US" altLang="zh-CN" sz="2400" b="1" dirty="0" smtClean="0">
                <a:solidFill>
                  <a:srgbClr val="990000"/>
                </a:solidFill>
                <a:latin typeface="Times New Roman" panose="02020603050405020304" pitchFamily="18" charset="0"/>
                <a:cs typeface="Times New Roman" panose="02020603050405020304" pitchFamily="18" charset="0"/>
              </a:rPr>
              <a:t>1</a:t>
            </a:r>
            <a:r>
              <a:rPr kumimoji="1" lang="zh-CN" altLang="en-US" sz="2400" b="1" dirty="0" smtClean="0">
                <a:solidFill>
                  <a:srgbClr val="990000"/>
                </a:solidFill>
                <a:latin typeface="Times New Roman" panose="02020603050405020304" pitchFamily="18" charset="0"/>
                <a:cs typeface="Times New Roman" panose="02020603050405020304" pitchFamily="18" charset="0"/>
              </a:rPr>
              <a:t>）</a:t>
            </a:r>
            <a:r>
              <a:rPr kumimoji="1" lang="en-US" altLang="zh-CN" sz="2400" b="1"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表面空间电荷层电荷密度</a:t>
            </a:r>
            <a:r>
              <a:rPr kumimoji="1" lang="en-US" altLang="zh-CN" sz="2400" b="1" i="1" dirty="0" err="1" smtClean="0">
                <a:solidFill>
                  <a:srgbClr val="0000CC"/>
                </a:solidFill>
                <a:latin typeface="Times New Roman" panose="02020603050405020304" pitchFamily="18" charset="0"/>
                <a:cs typeface="Times New Roman" panose="02020603050405020304" pitchFamily="18" charset="0"/>
              </a:rPr>
              <a:t>Q</a:t>
            </a:r>
            <a:r>
              <a:rPr kumimoji="1" lang="en-US" altLang="zh-CN" sz="2400" b="1" baseline="-25000" dirty="0" err="1" smtClean="0">
                <a:solidFill>
                  <a:srgbClr val="0000CC"/>
                </a:solidFill>
                <a:latin typeface="Times New Roman" panose="02020603050405020304" pitchFamily="18" charset="0"/>
                <a:cs typeface="Times New Roman" panose="02020603050405020304" pitchFamily="18" charset="0"/>
              </a:rPr>
              <a:t>sc</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和表面势</a:t>
            </a:r>
            <a:r>
              <a:rPr kumimoji="1" lang="en-US" altLang="zh-CN" sz="2400" b="1" i="1" dirty="0" smtClean="0">
                <a:solidFill>
                  <a:srgbClr val="0000CC"/>
                </a:solidFill>
                <a:latin typeface="Times New Roman" panose="02020603050405020304" pitchFamily="18" charset="0"/>
                <a:cs typeface="Times New Roman" panose="02020603050405020304" pitchFamily="18" charset="0"/>
              </a:rPr>
              <a:t>V</a:t>
            </a:r>
            <a:r>
              <a:rPr kumimoji="1" lang="en-US" altLang="zh-CN" sz="2400" b="1" baseline="-25000" dirty="0" smtClean="0">
                <a:solidFill>
                  <a:srgbClr val="0000CC"/>
                </a:solidFill>
                <a:latin typeface="Times New Roman" panose="02020603050405020304" pitchFamily="18" charset="0"/>
                <a:cs typeface="Times New Roman" panose="02020603050405020304" pitchFamily="18" charset="0"/>
              </a:rPr>
              <a:t>s</a:t>
            </a:r>
            <a:r>
              <a:rPr kumimoji="1" lang="zh-CN" altLang="en-US" sz="2400" b="1" dirty="0" smtClean="0">
                <a:solidFill>
                  <a:srgbClr val="990000"/>
                </a:solidFill>
                <a:latin typeface="Times New Roman" panose="02020603050405020304" pitchFamily="18" charset="0"/>
                <a:cs typeface="Times New Roman" panose="02020603050405020304" pitchFamily="18" charset="0"/>
              </a:rPr>
              <a:t>关系</a:t>
            </a:r>
            <a:endParaRPr kumimoji="1" lang="zh-CN" altLang="en-US" sz="2400" b="1" baseline="-25000" dirty="0" smtClean="0">
              <a:solidFill>
                <a:prstClr val="black"/>
              </a:solidFill>
              <a:latin typeface="Times New Roman" panose="02020603050405020304" pitchFamily="18" charset="0"/>
              <a:cs typeface="Times New Roman" panose="02020603050405020304" pitchFamily="18" charset="0"/>
            </a:endParaRPr>
          </a:p>
        </p:txBody>
      </p:sp>
      <p:sp>
        <p:nvSpPr>
          <p:cNvPr id="12" name="Text Box 5"/>
          <p:cNvSpPr txBox="1">
            <a:spLocks noChangeArrowheads="1"/>
          </p:cNvSpPr>
          <p:nvPr/>
        </p:nvSpPr>
        <p:spPr bwMode="auto">
          <a:xfrm>
            <a:off x="148903" y="2222155"/>
            <a:ext cx="8937625"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10000"/>
              </a:lnSpc>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对</a:t>
            </a:r>
            <a:r>
              <a:rPr kumimoji="1" lang="en-US" altLang="zh-CN" sz="2400" b="1" dirty="0" smtClean="0">
                <a:solidFill>
                  <a:prstClr val="black"/>
                </a:solidFill>
                <a:latin typeface="Times New Roman" panose="02020603050405020304" pitchFamily="18" charset="0"/>
                <a:cs typeface="Times New Roman" panose="02020603050405020304" pitchFamily="18" charset="0"/>
              </a:rPr>
              <a:t>p</a:t>
            </a:r>
            <a:r>
              <a:rPr kumimoji="1" lang="zh-CN" altLang="en-US" sz="2400" b="1" dirty="0" smtClean="0">
                <a:solidFill>
                  <a:prstClr val="black"/>
                </a:solidFill>
                <a:latin typeface="Times New Roman" panose="02020603050405020304" pitchFamily="18" charset="0"/>
                <a:cs typeface="Times New Roman" panose="02020603050405020304" pitchFamily="18" charset="0"/>
              </a:rPr>
              <a:t>型</a:t>
            </a:r>
            <a:r>
              <a:rPr kumimoji="1" lang="en-US" altLang="zh-CN" sz="2400" b="1" dirty="0" smtClean="0">
                <a:solidFill>
                  <a:prstClr val="black"/>
                </a:solidFill>
                <a:latin typeface="Times New Roman" panose="02020603050405020304" pitchFamily="18" charset="0"/>
                <a:cs typeface="Times New Roman" panose="02020603050405020304" pitchFamily="18" charset="0"/>
              </a:rPr>
              <a:t>Si</a:t>
            </a:r>
            <a:r>
              <a:rPr kumimoji="1" lang="zh-CN" altLang="en-US" sz="2400" b="1" dirty="0" smtClean="0">
                <a:solidFill>
                  <a:prstClr val="black"/>
                </a:solidFill>
                <a:latin typeface="Times New Roman" panose="02020603050405020304" pitchFamily="18" charset="0"/>
                <a:cs typeface="Times New Roman" panose="02020603050405020304" pitchFamily="18" charset="0"/>
              </a:rPr>
              <a:t>研究一维模型，设垂直表面方向为</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x</a:t>
            </a:r>
            <a:r>
              <a:rPr kumimoji="1" lang="zh-CN" altLang="en-US" sz="2400" b="1" dirty="0" smtClean="0">
                <a:solidFill>
                  <a:prstClr val="black"/>
                </a:solidFill>
                <a:latin typeface="Times New Roman" panose="02020603050405020304" pitchFamily="18" charset="0"/>
                <a:cs typeface="Times New Roman" panose="02020603050405020304" pitchFamily="18" charset="0"/>
              </a:rPr>
              <a:t>方向，</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x</a:t>
            </a:r>
            <a:r>
              <a:rPr kumimoji="1" lang="en-US" altLang="zh-CN" sz="2400" b="1" dirty="0" smtClean="0">
                <a:solidFill>
                  <a:prstClr val="black"/>
                </a:solidFill>
                <a:latin typeface="Times New Roman" panose="02020603050405020304" pitchFamily="18" charset="0"/>
                <a:cs typeface="Times New Roman" panose="02020603050405020304" pitchFamily="18" charset="0"/>
              </a:rPr>
              <a:t>=0</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为</a:t>
            </a:r>
            <a:r>
              <a:rPr kumimoji="1" lang="en-US" altLang="zh-CN" sz="2400" b="1" dirty="0" smtClean="0">
                <a:solidFill>
                  <a:prstClr val="black"/>
                </a:solidFill>
                <a:latin typeface="Times New Roman" panose="02020603050405020304" pitchFamily="18" charset="0"/>
                <a:cs typeface="Times New Roman" panose="02020603050405020304" pitchFamily="18" charset="0"/>
              </a:rPr>
              <a:t>Si-SiO</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2</a:t>
            </a:r>
            <a:r>
              <a:rPr kumimoji="1" lang="zh-CN" altLang="en-US" sz="2400" b="1" dirty="0" smtClean="0">
                <a:solidFill>
                  <a:prstClr val="black"/>
                </a:solidFill>
                <a:latin typeface="Times New Roman" panose="02020603050405020304" pitchFamily="18" charset="0"/>
                <a:cs typeface="Times New Roman" panose="02020603050405020304" pitchFamily="18" charset="0"/>
              </a:rPr>
              <a:t>界面，</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sc</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为表面空间电荷层宽度，</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为表面电场强度，</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为表面势。</a:t>
            </a:r>
            <a:endParaRPr kumimoji="1" lang="zh-CN" altLang="en-US" sz="2400" b="1" dirty="0" smtClean="0">
              <a:solidFill>
                <a:srgbClr val="0000CC"/>
              </a:solidFill>
              <a:latin typeface="Times New Roman" panose="02020603050405020304" pitchFamily="18" charset="0"/>
              <a:cs typeface="Times New Roman" panose="02020603050405020304" pitchFamily="18" charset="0"/>
            </a:endParaRPr>
          </a:p>
        </p:txBody>
      </p:sp>
      <p:graphicFrame>
        <p:nvGraphicFramePr>
          <p:cNvPr id="13" name="Object 2"/>
          <p:cNvGraphicFramePr>
            <a:graphicFrameLocks noChangeAspect="1"/>
          </p:cNvGraphicFramePr>
          <p:nvPr>
            <p:extLst>
              <p:ext uri="{D42A27DB-BD31-4B8C-83A1-F6EECF244321}">
                <p14:modId xmlns:p14="http://schemas.microsoft.com/office/powerpoint/2010/main" val="3151239970"/>
              </p:ext>
            </p:extLst>
          </p:nvPr>
        </p:nvGraphicFramePr>
        <p:xfrm>
          <a:off x="4979032" y="3204818"/>
          <a:ext cx="3001962" cy="812800"/>
        </p:xfrm>
        <a:graphic>
          <a:graphicData uri="http://schemas.openxmlformats.org/presentationml/2006/ole">
            <mc:AlternateContent xmlns:mc="http://schemas.openxmlformats.org/markup-compatibility/2006">
              <mc:Choice xmlns:v="urn:schemas-microsoft-com:vml" Requires="v">
                <p:oleObj spid="_x0000_s168080" name="公式" r:id="rId3" imgW="1079500" imgH="330200" progId="Equation.3">
                  <p:embed/>
                </p:oleObj>
              </mc:Choice>
              <mc:Fallback>
                <p:oleObj name="公式" r:id="rId3" imgW="1079500" imgH="330200" progId="Equation.3">
                  <p:embed/>
                  <p:pic>
                    <p:nvPicPr>
                      <p:cNvPr id="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9032" y="3204818"/>
                        <a:ext cx="3001962"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4" name="Object 3"/>
          <p:cNvGraphicFramePr>
            <a:graphicFrameLocks noChangeAspect="1"/>
          </p:cNvGraphicFramePr>
          <p:nvPr>
            <p:extLst>
              <p:ext uri="{D42A27DB-BD31-4B8C-83A1-F6EECF244321}">
                <p14:modId xmlns:p14="http://schemas.microsoft.com/office/powerpoint/2010/main" val="3602861087"/>
              </p:ext>
            </p:extLst>
          </p:nvPr>
        </p:nvGraphicFramePr>
        <p:xfrm>
          <a:off x="5025069" y="4195418"/>
          <a:ext cx="3667125" cy="1477962"/>
        </p:xfrm>
        <a:graphic>
          <a:graphicData uri="http://schemas.openxmlformats.org/presentationml/2006/ole">
            <mc:AlternateContent xmlns:mc="http://schemas.openxmlformats.org/markup-compatibility/2006">
              <mc:Choice xmlns:v="urn:schemas-microsoft-com:vml" Requires="v">
                <p:oleObj spid="_x0000_s168081" name="公式" r:id="rId5" imgW="1282700" imgH="584200" progId="Equation.3">
                  <p:embed/>
                </p:oleObj>
              </mc:Choice>
              <mc:Fallback>
                <p:oleObj name="公式" r:id="rId5" imgW="1282700" imgH="584200" progId="Equation.3">
                  <p:embed/>
                  <p:pic>
                    <p:nvPicPr>
                      <p:cNvPr id="2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5069" y="4195418"/>
                        <a:ext cx="3667125"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 name="圆角矩形 14"/>
          <p:cNvSpPr/>
          <p:nvPr/>
        </p:nvSpPr>
        <p:spPr>
          <a:xfrm>
            <a:off x="284794" y="3196880"/>
            <a:ext cx="4529138" cy="3154363"/>
          </a:xfrm>
          <a:prstGeom prst="roundRect">
            <a:avLst/>
          </a:prstGeom>
          <a:solidFill>
            <a:srgbClr val="4F81BD"/>
          </a:solidFill>
          <a:ln w="25400" cap="flat" cmpd="sng" algn="ctr">
            <a:solidFill>
              <a:srgbClr val="4F81BD">
                <a:shade val="50000"/>
              </a:srgbClr>
            </a:solidFill>
            <a:prstDash val="solid"/>
          </a:ln>
          <a:effectLst/>
        </p:spPr>
        <p:txBody>
          <a:bodyPr anchor="ctr"/>
          <a:lstStyle>
            <a:lvl1pPr>
              <a:defRPr u="sng">
                <a:solidFill>
                  <a:schemeClr val="tx1"/>
                </a:solidFill>
                <a:latin typeface="Arial" panose="020B0604020202020204" pitchFamily="34" charset="0"/>
                <a:ea typeface="宋体" panose="02010600030101010101" pitchFamily="2" charset="-122"/>
              </a:defRPr>
            </a:lvl1pPr>
            <a:lvl2pPr marL="742950" indent="-285750">
              <a:defRPr u="sng">
                <a:solidFill>
                  <a:schemeClr val="tx1"/>
                </a:solidFill>
                <a:latin typeface="Arial" panose="020B0604020202020204" pitchFamily="34" charset="0"/>
                <a:ea typeface="宋体" panose="02010600030101010101" pitchFamily="2" charset="-122"/>
              </a:defRPr>
            </a:lvl2pPr>
            <a:lvl3pPr marL="1143000" indent="-228600">
              <a:defRPr u="sng">
                <a:solidFill>
                  <a:schemeClr val="tx1"/>
                </a:solidFill>
                <a:latin typeface="Arial" panose="020B0604020202020204" pitchFamily="34" charset="0"/>
                <a:ea typeface="宋体" panose="02010600030101010101" pitchFamily="2" charset="-122"/>
              </a:defRPr>
            </a:lvl3pPr>
            <a:lvl4pPr marL="1600200" indent="-228600">
              <a:defRPr u="sng">
                <a:solidFill>
                  <a:schemeClr val="tx1"/>
                </a:solidFill>
                <a:latin typeface="Arial" panose="020B0604020202020204" pitchFamily="34" charset="0"/>
                <a:ea typeface="宋体" panose="02010600030101010101" pitchFamily="2" charset="-122"/>
              </a:defRPr>
            </a:lvl4pPr>
            <a:lvl5pPr marL="2057400" indent="-22860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整体思路：由泊松方程出发，推导出表面空间电荷层电荷</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Q</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SC</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、电容</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C</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和表面势</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V</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的关系，然后针对表面积累、平带、耗尽、反型的具体情况做相应的近似，从而得出各个区的</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Q</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SC</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 </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C</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和</a:t>
            </a:r>
            <a:r>
              <a:rPr kumimoji="1" lang="en-US" altLang="zh-CN"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V</a:t>
            </a:r>
            <a:r>
              <a:rPr kumimoji="1" lang="en-US" altLang="zh-CN" sz="2400" b="0" i="0" u="none" strike="noStrike" kern="0" cap="none" spc="0" normalizeH="0" baseline="-25000" noProof="0" dirty="0" smtClean="0">
                <a:ln>
                  <a:noFill/>
                </a:ln>
                <a:solidFill>
                  <a:srgbClr val="FFFFFF"/>
                </a:solidFill>
                <a:effectLst/>
                <a:uLnTx/>
                <a:uFillTx/>
                <a:latin typeface="Times New Roman" panose="02020603050405020304" pitchFamily="18" charset="0"/>
                <a:cs typeface="Times New Roman" panose="02020603050405020304" pitchFamily="18" charset="0"/>
              </a:rPr>
              <a:t>S</a:t>
            </a:r>
            <a:r>
              <a:rPr kumimoji="1" lang="zh-CN" altLang="en-US" sz="2400" b="0" i="0" u="none" strike="noStrike" kern="0" cap="none" spc="0" normalizeH="0" baseline="0" noProof="0" dirty="0" smtClean="0">
                <a:ln>
                  <a:noFill/>
                </a:ln>
                <a:solidFill>
                  <a:srgbClr val="FFFFFF"/>
                </a:solidFill>
                <a:effectLst/>
                <a:uLnTx/>
                <a:uFillTx/>
                <a:latin typeface="Times New Roman" panose="02020603050405020304" pitchFamily="18" charset="0"/>
                <a:cs typeface="Times New Roman" panose="02020603050405020304" pitchFamily="18" charset="0"/>
              </a:rPr>
              <a:t>的物理图像更为清楚、形式更为简单的关系。</a:t>
            </a:r>
          </a:p>
        </p:txBody>
      </p:sp>
    </p:spTree>
    <p:extLst>
      <p:ext uri="{BB962C8B-B14F-4D97-AF65-F5344CB8AC3E}">
        <p14:creationId xmlns:p14="http://schemas.microsoft.com/office/powerpoint/2010/main" val="27829850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a:t>
            </a:fld>
            <a:endParaRPr lang="zh-CN" altLang="en-US"/>
          </a:p>
        </p:txBody>
      </p:sp>
      <p:sp>
        <p:nvSpPr>
          <p:cNvPr id="3" name="Text Box 2"/>
          <p:cNvSpPr txBox="1">
            <a:spLocks noChangeArrowheads="1"/>
          </p:cNvSpPr>
          <p:nvPr/>
        </p:nvSpPr>
        <p:spPr bwMode="auto">
          <a:xfrm>
            <a:off x="451291" y="3282608"/>
            <a:ext cx="831908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Clr>
                <a:srgbClr val="990000"/>
              </a:buClr>
              <a:buFontTx/>
              <a:buNone/>
            </a:pPr>
            <a:r>
              <a:rPr kumimoji="1" lang="en-US" altLang="zh-CN" sz="2400" b="1" i="1" smtClean="0">
                <a:solidFill>
                  <a:prstClr val="black"/>
                </a:solidFill>
                <a:latin typeface="Times New Roman" panose="02020603050405020304" pitchFamily="18" charset="0"/>
                <a:ea typeface="楷体_GB2312"/>
                <a:cs typeface="楷体_GB2312"/>
              </a:rPr>
              <a:t>p</a:t>
            </a:r>
            <a:r>
              <a:rPr kumimoji="1" lang="en-US" altLang="zh-CN" sz="2400" b="1" smtClean="0">
                <a:solidFill>
                  <a:prstClr val="black"/>
                </a:solidFill>
                <a:latin typeface="Times New Roman" panose="02020603050405020304" pitchFamily="18" charset="0"/>
                <a:ea typeface="楷体_GB2312"/>
                <a:cs typeface="楷体_GB2312"/>
              </a:rPr>
              <a:t>(</a:t>
            </a:r>
            <a:r>
              <a:rPr kumimoji="1" lang="en-US" altLang="zh-CN" sz="2400" b="1" i="1" smtClean="0">
                <a:solidFill>
                  <a:prstClr val="black"/>
                </a:solidFill>
                <a:latin typeface="Times New Roman" panose="02020603050405020304" pitchFamily="18" charset="0"/>
                <a:ea typeface="楷体_GB2312"/>
                <a:cs typeface="楷体_GB2312"/>
              </a:rPr>
              <a:t>x</a:t>
            </a:r>
            <a:r>
              <a:rPr kumimoji="1" lang="en-US" altLang="zh-CN" sz="2400" b="1" smtClean="0">
                <a:solidFill>
                  <a:prstClr val="black"/>
                </a:solidFill>
                <a:latin typeface="Times New Roman" panose="02020603050405020304" pitchFamily="18" charset="0"/>
                <a:ea typeface="楷体_GB2312"/>
                <a:cs typeface="楷体_GB2312"/>
              </a:rPr>
              <a:t>)</a:t>
            </a:r>
            <a:r>
              <a:rPr kumimoji="1" lang="en-US" altLang="zh-CN" sz="2400" b="1" i="1" smtClean="0">
                <a:solidFill>
                  <a:prstClr val="black"/>
                </a:solidFill>
                <a:latin typeface="Times New Roman" panose="02020603050405020304" pitchFamily="18" charset="0"/>
                <a:ea typeface="楷体_GB2312"/>
                <a:cs typeface="楷体_GB2312"/>
              </a:rPr>
              <a:t> </a:t>
            </a:r>
            <a:r>
              <a:rPr kumimoji="1" lang="zh-CN" altLang="en-US" sz="2400" b="1" smtClean="0">
                <a:solidFill>
                  <a:prstClr val="black"/>
                </a:solidFill>
                <a:latin typeface="Times New Roman" panose="02020603050405020304" pitchFamily="18" charset="0"/>
                <a:ea typeface="楷体_GB2312"/>
                <a:cs typeface="楷体_GB2312"/>
              </a:rPr>
              <a:t>、</a:t>
            </a:r>
            <a:r>
              <a:rPr kumimoji="1" lang="en-US" altLang="zh-CN" sz="2400" b="1" i="1" smtClean="0">
                <a:solidFill>
                  <a:prstClr val="black"/>
                </a:solidFill>
                <a:latin typeface="Times New Roman" panose="02020603050405020304" pitchFamily="18" charset="0"/>
                <a:ea typeface="楷体_GB2312"/>
                <a:cs typeface="楷体_GB2312"/>
              </a:rPr>
              <a:t>n </a:t>
            </a:r>
            <a:r>
              <a:rPr kumimoji="1" lang="en-US" altLang="zh-CN" sz="2400" b="1" smtClean="0">
                <a:solidFill>
                  <a:prstClr val="black"/>
                </a:solidFill>
                <a:latin typeface="Times New Roman" panose="02020603050405020304" pitchFamily="18" charset="0"/>
                <a:ea typeface="楷体_GB2312"/>
                <a:cs typeface="楷体_GB2312"/>
              </a:rPr>
              <a:t>(</a:t>
            </a:r>
            <a:r>
              <a:rPr kumimoji="1" lang="en-US" altLang="zh-CN" sz="2400" b="1" i="1" smtClean="0">
                <a:solidFill>
                  <a:prstClr val="black"/>
                </a:solidFill>
                <a:latin typeface="Times New Roman" panose="02020603050405020304" pitchFamily="18" charset="0"/>
                <a:ea typeface="楷体_GB2312"/>
                <a:cs typeface="楷体_GB2312"/>
              </a:rPr>
              <a:t>x</a:t>
            </a:r>
            <a:r>
              <a:rPr kumimoji="1" lang="en-US" altLang="zh-CN" sz="2400" b="1" smtClean="0">
                <a:solidFill>
                  <a:prstClr val="black"/>
                </a:solidFill>
                <a:latin typeface="Times New Roman" panose="02020603050405020304" pitchFamily="18" charset="0"/>
                <a:ea typeface="楷体_GB2312"/>
                <a:cs typeface="楷体_GB2312"/>
              </a:rPr>
              <a:t>) </a:t>
            </a:r>
            <a:r>
              <a:rPr kumimoji="1" lang="zh-CN" altLang="en-US" sz="2400" b="1" smtClean="0">
                <a:solidFill>
                  <a:prstClr val="black"/>
                </a:solidFill>
                <a:latin typeface="Times New Roman" panose="02020603050405020304" pitchFamily="18" charset="0"/>
                <a:ea typeface="楷体_GB2312"/>
                <a:cs typeface="楷体_GB2312"/>
              </a:rPr>
              <a:t>：</a:t>
            </a:r>
          </a:p>
        </p:txBody>
      </p:sp>
      <p:graphicFrame>
        <p:nvGraphicFramePr>
          <p:cNvPr id="4" name="Object 2"/>
          <p:cNvGraphicFramePr>
            <a:graphicFrameLocks noChangeAspect="1"/>
          </p:cNvGraphicFramePr>
          <p:nvPr>
            <p:extLst>
              <p:ext uri="{D42A27DB-BD31-4B8C-83A1-F6EECF244321}">
                <p14:modId xmlns:p14="http://schemas.microsoft.com/office/powerpoint/2010/main" val="2836969388"/>
              </p:ext>
            </p:extLst>
          </p:nvPr>
        </p:nvGraphicFramePr>
        <p:xfrm>
          <a:off x="2672203" y="3909279"/>
          <a:ext cx="4338723" cy="1421508"/>
        </p:xfrm>
        <a:graphic>
          <a:graphicData uri="http://schemas.openxmlformats.org/presentationml/2006/ole">
            <mc:AlternateContent xmlns:mc="http://schemas.openxmlformats.org/markup-compatibility/2006">
              <mc:Choice xmlns:v="urn:schemas-microsoft-com:vml" Requires="v">
                <p:oleObj spid="_x0000_s169213" name="公式" r:id="rId3" imgW="1473200" imgH="482600" progId="Equation.3">
                  <p:embed/>
                </p:oleObj>
              </mc:Choice>
              <mc:Fallback>
                <p:oleObj name="公式" r:id="rId3" imgW="1473200" imgH="482600" progId="Equation.3">
                  <p:embed/>
                  <p:pic>
                    <p:nvPicPr>
                      <p:cNvPr id="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2203" y="3909279"/>
                        <a:ext cx="4338723" cy="1421508"/>
                      </a:xfrm>
                      <a:prstGeom prst="rect">
                        <a:avLst/>
                      </a:prstGeom>
                      <a:noFill/>
                      <a:ln>
                        <a:noFill/>
                      </a:ln>
                    </p:spPr>
                  </p:pic>
                </p:oleObj>
              </mc:Fallback>
            </mc:AlternateContent>
          </a:graphicData>
        </a:graphic>
      </p:graphicFrame>
      <p:graphicFrame>
        <p:nvGraphicFramePr>
          <p:cNvPr id="14" name="Object 7"/>
          <p:cNvGraphicFramePr>
            <a:graphicFrameLocks noChangeAspect="1"/>
          </p:cNvGraphicFramePr>
          <p:nvPr>
            <p:extLst>
              <p:ext uri="{D42A27DB-BD31-4B8C-83A1-F6EECF244321}">
                <p14:modId xmlns:p14="http://schemas.microsoft.com/office/powerpoint/2010/main" val="648654256"/>
              </p:ext>
            </p:extLst>
          </p:nvPr>
        </p:nvGraphicFramePr>
        <p:xfrm>
          <a:off x="688368" y="5662751"/>
          <a:ext cx="7321550" cy="736600"/>
        </p:xfrm>
        <a:graphic>
          <a:graphicData uri="http://schemas.openxmlformats.org/presentationml/2006/ole">
            <mc:AlternateContent xmlns:mc="http://schemas.openxmlformats.org/markup-compatibility/2006">
              <mc:Choice xmlns:v="urn:schemas-microsoft-com:vml" Requires="v">
                <p:oleObj spid="_x0000_s169214" name="公式" r:id="rId5" imgW="2806700" imgH="241300" progId="Equation.3">
                  <p:embed/>
                </p:oleObj>
              </mc:Choice>
              <mc:Fallback>
                <p:oleObj name="公式" r:id="rId5" imgW="2806700" imgH="241300" progId="Equation.3">
                  <p:embed/>
                  <p:pic>
                    <p:nvPicPr>
                      <p:cNvPr id="24"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368" y="5662751"/>
                        <a:ext cx="73215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a:spLocks noChangeArrowheads="1"/>
          </p:cNvSpPr>
          <p:nvPr/>
        </p:nvSpPr>
        <p:spPr bwMode="auto">
          <a:xfrm>
            <a:off x="2326698" y="3282608"/>
            <a:ext cx="5444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Clr>
                <a:srgbClr val="990000"/>
              </a:buClr>
              <a:buFontTx/>
              <a:buNone/>
            </a:pPr>
            <a:r>
              <a:rPr kumimoji="1" lang="zh-CN" altLang="en-US" sz="2400" b="1" dirty="0">
                <a:solidFill>
                  <a:prstClr val="black"/>
                </a:solidFill>
                <a:latin typeface="宋体" panose="02010600030101010101" pitchFamily="2" charset="-122"/>
                <a:cs typeface="楷体_GB2312"/>
              </a:rPr>
              <a:t>平衡</a:t>
            </a:r>
            <a:r>
              <a:rPr kumimoji="1" lang="zh-CN" altLang="en-US" sz="2400" b="1" dirty="0" smtClean="0">
                <a:solidFill>
                  <a:prstClr val="black"/>
                </a:solidFill>
                <a:latin typeface="宋体" panose="02010600030101010101" pitchFamily="2" charset="-122"/>
                <a:cs typeface="楷体_GB2312"/>
              </a:rPr>
              <a:t>时，半导体中有统一的费米能级。</a:t>
            </a:r>
          </a:p>
        </p:txBody>
      </p:sp>
      <p:graphicFrame>
        <p:nvGraphicFramePr>
          <p:cNvPr id="19" name="Object 4"/>
          <p:cNvGraphicFramePr>
            <a:graphicFrameLocks noChangeAspect="1"/>
          </p:cNvGraphicFramePr>
          <p:nvPr>
            <p:extLst>
              <p:ext uri="{D42A27DB-BD31-4B8C-83A1-F6EECF244321}">
                <p14:modId xmlns:p14="http://schemas.microsoft.com/office/powerpoint/2010/main" val="4062235489"/>
              </p:ext>
            </p:extLst>
          </p:nvPr>
        </p:nvGraphicFramePr>
        <p:xfrm>
          <a:off x="595460" y="228068"/>
          <a:ext cx="7876337" cy="1156244"/>
        </p:xfrm>
        <a:graphic>
          <a:graphicData uri="http://schemas.openxmlformats.org/presentationml/2006/ole">
            <mc:AlternateContent xmlns:mc="http://schemas.openxmlformats.org/markup-compatibility/2006">
              <mc:Choice xmlns:v="urn:schemas-microsoft-com:vml" Requires="v">
                <p:oleObj spid="_x0000_s169215" name="Equation" r:id="rId7" imgW="3111500" imgH="457200" progId="Equation.DSMT4">
                  <p:embed/>
                </p:oleObj>
              </mc:Choice>
              <mc:Fallback>
                <p:oleObj name="Equation" r:id="rId7" imgW="3111500" imgH="457200" progId="Equation.DSMT4">
                  <p:embed/>
                  <p:pic>
                    <p:nvPicPr>
                      <p:cNvPr id="12291"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460" y="228068"/>
                        <a:ext cx="7876337" cy="1156244"/>
                      </a:xfrm>
                      <a:prstGeom prst="rect">
                        <a:avLst/>
                      </a:prstGeom>
                      <a:solidFill>
                        <a:srgbClr val="FFFFFF"/>
                      </a:solidFill>
                      <a:ln>
                        <a:noFill/>
                      </a:ln>
                      <a:extLst/>
                    </p:spPr>
                  </p:pic>
                </p:oleObj>
              </mc:Fallback>
            </mc:AlternateContent>
          </a:graphicData>
        </a:graphic>
      </p:graphicFrame>
      <p:sp>
        <p:nvSpPr>
          <p:cNvPr id="23" name="Text Box 11"/>
          <p:cNvSpPr txBox="1">
            <a:spLocks noChangeArrowheads="1"/>
          </p:cNvSpPr>
          <p:nvPr/>
        </p:nvSpPr>
        <p:spPr bwMode="auto">
          <a:xfrm>
            <a:off x="367945" y="1549020"/>
            <a:ext cx="864393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考虑到半导体中电离杂质浓度与电势无关及体内电中性关系，可获得：</a:t>
            </a:r>
          </a:p>
        </p:txBody>
      </p:sp>
      <mc:AlternateContent xmlns:mc="http://schemas.openxmlformats.org/markup-compatibility/2006" xmlns:a14="http://schemas.microsoft.com/office/drawing/2010/main">
        <mc:Choice Requires="a14">
          <p:sp>
            <p:nvSpPr>
              <p:cNvPr id="5" name="文本框 4"/>
              <p:cNvSpPr txBox="1"/>
              <p:nvPr/>
            </p:nvSpPr>
            <p:spPr>
              <a:xfrm>
                <a:off x="1654089" y="2166165"/>
                <a:ext cx="6374950" cy="951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i="1" smtClean="0">
                              <a:latin typeface="Cambria Math" panose="02040503050406030204" pitchFamily="18" charset="0"/>
                            </a:rPr>
                          </m:ctrlPr>
                        </m:sSubSupPr>
                        <m:e>
                          <m:r>
                            <a:rPr lang="en-US" altLang="zh-CN" sz="2800" b="0" i="1" smtClean="0">
                              <a:latin typeface="Cambria Math" panose="02040503050406030204" pitchFamily="18" charset="0"/>
                            </a:rPr>
                            <m:t>𝑁</m:t>
                          </m:r>
                        </m:e>
                        <m:sub>
                          <m:r>
                            <a:rPr lang="en-US" altLang="zh-CN" sz="2800" b="0" i="1" smtClean="0">
                              <a:latin typeface="Cambria Math" panose="02040503050406030204" pitchFamily="18" charset="0"/>
                            </a:rPr>
                            <m:t>𝑑</m:t>
                          </m:r>
                        </m:sub>
                        <m:sup>
                          <m:r>
                            <a:rPr lang="en-US" altLang="zh-CN" sz="2800" b="0" i="1" smtClean="0">
                              <a:latin typeface="Cambria Math" panose="02040503050406030204" pitchFamily="18" charset="0"/>
                            </a:rPr>
                            <m:t>+</m:t>
                          </m:r>
                        </m:sup>
                      </m:sSubSup>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𝑁</m:t>
                          </m:r>
                        </m:e>
                        <m:sub>
                          <m:r>
                            <a:rPr lang="en-US" altLang="zh-CN" sz="2800" b="0" i="1" smtClean="0">
                              <a:latin typeface="Cambria Math" panose="02040503050406030204" pitchFamily="18" charset="0"/>
                            </a:rPr>
                            <m:t>𝑎</m:t>
                          </m:r>
                        </m:sub>
                        <m:sup>
                          <m:r>
                            <a:rPr lang="en-US" altLang="zh-CN" sz="2800" b="0" i="1" smtClean="0">
                              <a:latin typeface="Cambria Math" panose="02040503050406030204" pitchFamily="18" charset="0"/>
                            </a:rPr>
                            <m:t>−</m:t>
                          </m:r>
                        </m:sup>
                      </m:sSubSup>
                      <m:d>
                        <m:dPr>
                          <m:ctrlPr>
                            <a:rPr lang="en-US" altLang="zh-CN" sz="2800" i="1">
                              <a:latin typeface="Cambria Math" panose="02040503050406030204" pitchFamily="18" charset="0"/>
                            </a:rPr>
                          </m:ctrlPr>
                        </m:dPr>
                        <m:e>
                          <m:r>
                            <a:rPr lang="en-US" altLang="zh-CN" sz="2800" i="1">
                              <a:latin typeface="Cambria Math" panose="02040503050406030204" pitchFamily="18" charset="0"/>
                            </a:rPr>
                            <m:t>𝑥</m:t>
                          </m:r>
                        </m:e>
                      </m:d>
                      <m:r>
                        <a:rPr lang="en-US" altLang="zh-CN" sz="2800" i="1" smtClean="0">
                          <a:latin typeface="Cambria Math" panose="02040503050406030204" pitchFamily="18" charset="0"/>
                        </a:rPr>
                        <m:t>=</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𝑝</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0</m:t>
                          </m:r>
                        </m:sub>
                      </m:sSub>
                      <m:r>
                        <a:rPr lang="en-US" altLang="zh-CN" sz="2800" i="1" smtClean="0">
                          <a:latin typeface="Cambria Math" panose="02040503050406030204" pitchFamily="18" charset="0"/>
                        </a:rPr>
                        <m:t>=</m:t>
                      </m:r>
                      <m:r>
                        <a:rPr lang="en-US" altLang="zh-CN" sz="2800" i="1">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𝑁</m:t>
                          </m:r>
                        </m:e>
                        <m:sub>
                          <m:r>
                            <a:rPr lang="en-US" altLang="zh-CN" sz="2800" b="0" i="1" smtClean="0">
                              <a:latin typeface="Cambria Math" panose="02040503050406030204" pitchFamily="18" charset="0"/>
                            </a:rPr>
                            <m:t>𝑎</m:t>
                          </m:r>
                        </m:sub>
                      </m:sSub>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𝑛</m:t>
                              </m:r>
                            </m:e>
                            <m:sub>
                              <m:r>
                                <a:rPr lang="en-US" altLang="zh-CN" sz="2800" b="0" i="1" smtClean="0">
                                  <a:latin typeface="Cambria Math" panose="02040503050406030204" pitchFamily="18" charset="0"/>
                                </a:rPr>
                                <m:t>𝑖</m:t>
                              </m:r>
                            </m:sub>
                            <m:sup>
                              <m:r>
                                <a:rPr lang="en-US" altLang="zh-CN" sz="2800" b="0" i="1" smtClean="0">
                                  <a:latin typeface="Cambria Math" panose="02040503050406030204" pitchFamily="18" charset="0"/>
                                </a:rPr>
                                <m:t>2</m:t>
                              </m:r>
                            </m:sup>
                          </m:sSubSup>
                        </m:num>
                        <m:den>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𝑁</m:t>
                              </m:r>
                            </m:e>
                            <m:sub>
                              <m:r>
                                <a:rPr lang="en-US" altLang="zh-CN" sz="2800" b="0" i="1" smtClean="0">
                                  <a:latin typeface="Cambria Math" panose="02040503050406030204" pitchFamily="18" charset="0"/>
                                </a:rPr>
                                <m:t>𝑎</m:t>
                              </m:r>
                            </m:sub>
                          </m:sSub>
                        </m:den>
                      </m:f>
                    </m:oMath>
                  </m:oMathPara>
                </a14:m>
                <a:endParaRPr lang="zh-CN" altLang="en-US" sz="28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654089" y="2166165"/>
                <a:ext cx="6374950" cy="951735"/>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329000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2651670120"/>
              </p:ext>
            </p:extLst>
          </p:nvPr>
        </p:nvGraphicFramePr>
        <p:xfrm>
          <a:off x="2311495" y="1661531"/>
          <a:ext cx="2355396" cy="941000"/>
        </p:xfrm>
        <a:graphic>
          <a:graphicData uri="http://schemas.openxmlformats.org/presentationml/2006/ole">
            <mc:AlternateContent xmlns:mc="http://schemas.openxmlformats.org/markup-compatibility/2006">
              <mc:Choice xmlns:v="urn:schemas-microsoft-com:vml" Requires="v">
                <p:oleObj spid="_x0000_s170299" name="公式" r:id="rId3" imgW="990170" imgH="431613" progId="Equation.3">
                  <p:embed/>
                </p:oleObj>
              </mc:Choice>
              <mc:Fallback>
                <p:oleObj name="公式" r:id="rId3" imgW="990170" imgH="431613" progId="Equation.3">
                  <p:embed/>
                  <p:pic>
                    <p:nvPicPr>
                      <p:cNvPr id="1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495" y="1661531"/>
                        <a:ext cx="2355396" cy="941000"/>
                      </a:xfrm>
                      <a:prstGeom prst="rect">
                        <a:avLst/>
                      </a:prstGeom>
                      <a:noFill/>
                      <a:ln>
                        <a:noFill/>
                      </a:ln>
                    </p:spPr>
                  </p:pic>
                </p:oleObj>
              </mc:Fallback>
            </mc:AlternateContent>
          </a:graphicData>
        </a:graphic>
      </p:graphicFrame>
      <p:sp>
        <p:nvSpPr>
          <p:cNvPr id="4" name="Text Box 15"/>
          <p:cNvSpPr txBox="1">
            <a:spLocks noChangeArrowheads="1"/>
          </p:cNvSpPr>
          <p:nvPr/>
        </p:nvSpPr>
        <p:spPr bwMode="auto">
          <a:xfrm>
            <a:off x="374746" y="150863"/>
            <a:ext cx="3278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那么泊松方程表示为：</a:t>
            </a:r>
          </a:p>
        </p:txBody>
      </p:sp>
      <p:sp>
        <p:nvSpPr>
          <p:cNvPr id="6" name="Text Box 22"/>
          <p:cNvSpPr txBox="1">
            <a:spLocks noChangeArrowheads="1"/>
          </p:cNvSpPr>
          <p:nvPr/>
        </p:nvSpPr>
        <p:spPr bwMode="auto">
          <a:xfrm>
            <a:off x="1411383" y="1826631"/>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令：</a:t>
            </a:r>
          </a:p>
        </p:txBody>
      </p:sp>
      <p:graphicFrame>
        <p:nvGraphicFramePr>
          <p:cNvPr id="7" name="Object 3"/>
          <p:cNvGraphicFramePr>
            <a:graphicFrameLocks noChangeAspect="1"/>
          </p:cNvGraphicFramePr>
          <p:nvPr>
            <p:extLst>
              <p:ext uri="{D42A27DB-BD31-4B8C-83A1-F6EECF244321}">
                <p14:modId xmlns:p14="http://schemas.microsoft.com/office/powerpoint/2010/main" val="1780043849"/>
              </p:ext>
            </p:extLst>
          </p:nvPr>
        </p:nvGraphicFramePr>
        <p:xfrm>
          <a:off x="1225646" y="664581"/>
          <a:ext cx="6518275" cy="1062038"/>
        </p:xfrm>
        <a:graphic>
          <a:graphicData uri="http://schemas.openxmlformats.org/presentationml/2006/ole">
            <mc:AlternateContent xmlns:mc="http://schemas.openxmlformats.org/markup-compatibility/2006">
              <mc:Choice xmlns:v="urn:schemas-microsoft-com:vml" Requires="v">
                <p:oleObj spid="_x0000_s170300" name="公式" r:id="rId5" imgW="3098800" imgH="431800" progId="Equation.3">
                  <p:embed/>
                </p:oleObj>
              </mc:Choice>
              <mc:Fallback>
                <p:oleObj name="公式" r:id="rId5" imgW="3098800" imgH="431800" progId="Equation.3">
                  <p:embed/>
                  <p:pic>
                    <p:nvPicPr>
                      <p:cNvPr id="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5646" y="664581"/>
                        <a:ext cx="6518275"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extLst>
              <p:ext uri="{D42A27DB-BD31-4B8C-83A1-F6EECF244321}">
                <p14:modId xmlns:p14="http://schemas.microsoft.com/office/powerpoint/2010/main" val="2524185578"/>
              </p:ext>
            </p:extLst>
          </p:nvPr>
        </p:nvGraphicFramePr>
        <p:xfrm>
          <a:off x="1236758" y="2695712"/>
          <a:ext cx="5791200" cy="962025"/>
        </p:xfrm>
        <a:graphic>
          <a:graphicData uri="http://schemas.openxmlformats.org/presentationml/2006/ole">
            <mc:AlternateContent xmlns:mc="http://schemas.openxmlformats.org/markup-compatibility/2006">
              <mc:Choice xmlns:v="urn:schemas-microsoft-com:vml" Requires="v">
                <p:oleObj spid="_x0000_s170301" name="公式" r:id="rId7" imgW="2311400" imgH="431800" progId="Equation.3">
                  <p:embed/>
                </p:oleObj>
              </mc:Choice>
              <mc:Fallback>
                <p:oleObj name="公式" r:id="rId7" imgW="2311400" imgH="431800" progId="Equation.3">
                  <p:embed/>
                  <p:pic>
                    <p:nvPicPr>
                      <p:cNvPr id="3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6758" y="2695712"/>
                        <a:ext cx="57912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7"/>
          <p:cNvGraphicFramePr>
            <a:graphicFrameLocks noChangeAspect="1"/>
          </p:cNvGraphicFramePr>
          <p:nvPr>
            <p:extLst>
              <p:ext uri="{D42A27DB-BD31-4B8C-83A1-F6EECF244321}">
                <p14:modId xmlns:p14="http://schemas.microsoft.com/office/powerpoint/2010/main" val="2524141353"/>
              </p:ext>
            </p:extLst>
          </p:nvPr>
        </p:nvGraphicFramePr>
        <p:xfrm>
          <a:off x="1426016" y="4309191"/>
          <a:ext cx="6173788" cy="1060450"/>
        </p:xfrm>
        <a:graphic>
          <a:graphicData uri="http://schemas.openxmlformats.org/presentationml/2006/ole">
            <mc:AlternateContent xmlns:mc="http://schemas.openxmlformats.org/markup-compatibility/2006">
              <mc:Choice xmlns:v="urn:schemas-microsoft-com:vml" Requires="v">
                <p:oleObj spid="_x0000_s170302" name="Equation" r:id="rId9" imgW="2806700" imgH="482600" progId="Equation.DSMT4">
                  <p:embed/>
                </p:oleObj>
              </mc:Choice>
              <mc:Fallback>
                <p:oleObj name="Equation" r:id="rId9" imgW="2806700" imgH="482600" progId="Equation.DSMT4">
                  <p:embed/>
                  <p:pic>
                    <p:nvPicPr>
                      <p:cNvPr id="13314"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6016" y="4309191"/>
                        <a:ext cx="6173788"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9"/>
          <p:cNvGraphicFramePr>
            <a:graphicFrameLocks noChangeAspect="1"/>
          </p:cNvGraphicFramePr>
          <p:nvPr>
            <p:extLst>
              <p:ext uri="{D42A27DB-BD31-4B8C-83A1-F6EECF244321}">
                <p14:modId xmlns:p14="http://schemas.microsoft.com/office/powerpoint/2010/main" val="1226198668"/>
              </p:ext>
            </p:extLst>
          </p:nvPr>
        </p:nvGraphicFramePr>
        <p:xfrm>
          <a:off x="140935" y="5658653"/>
          <a:ext cx="8743950" cy="1060450"/>
        </p:xfrm>
        <a:graphic>
          <a:graphicData uri="http://schemas.openxmlformats.org/presentationml/2006/ole">
            <mc:AlternateContent xmlns:mc="http://schemas.openxmlformats.org/markup-compatibility/2006">
              <mc:Choice xmlns:v="urn:schemas-microsoft-com:vml" Requires="v">
                <p:oleObj spid="_x0000_s170303" name="Equation" r:id="rId11" imgW="3975100" imgH="482600" progId="Equation.DSMT4">
                  <p:embed/>
                </p:oleObj>
              </mc:Choice>
              <mc:Fallback>
                <p:oleObj name="Equation" r:id="rId11" imgW="3975100" imgH="482600" progId="Equation.DSMT4">
                  <p:embed/>
                  <p:pic>
                    <p:nvPicPr>
                      <p:cNvPr id="13315"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935" y="5658653"/>
                        <a:ext cx="874395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AutoShape 14"/>
          <p:cNvSpPr>
            <a:spLocks noChangeArrowheads="1"/>
          </p:cNvSpPr>
          <p:nvPr/>
        </p:nvSpPr>
        <p:spPr bwMode="auto">
          <a:xfrm>
            <a:off x="4132358" y="5264953"/>
            <a:ext cx="495300" cy="393700"/>
          </a:xfrm>
          <a:prstGeom prst="downArrow">
            <a:avLst>
              <a:gd name="adj1" fmla="val 50000"/>
              <a:gd name="adj2" fmla="val 25000"/>
            </a:avLst>
          </a:prstGeom>
          <a:solidFill>
            <a:srgbClr val="00E4A8"/>
          </a:solidFill>
          <a:ln w="381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itchFamily="18" charset="0"/>
              <a:ea typeface="宋体" pitchFamily="2" charset="-122"/>
            </a:endParaRPr>
          </a:p>
        </p:txBody>
      </p:sp>
      <p:sp>
        <p:nvSpPr>
          <p:cNvPr id="20" name="Text Box 13"/>
          <p:cNvSpPr txBox="1">
            <a:spLocks noChangeArrowheads="1"/>
          </p:cNvSpPr>
          <p:nvPr/>
        </p:nvSpPr>
        <p:spPr bwMode="auto">
          <a:xfrm>
            <a:off x="186066" y="3755364"/>
            <a:ext cx="4365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Poisson</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方程</a:t>
            </a:r>
            <a:r>
              <a:rPr lang="zh-CN" altLang="en-US" b="1" kern="0" dirty="0" smtClean="0">
                <a:solidFill>
                  <a:srgbClr val="000000"/>
                </a:solidFill>
              </a:rPr>
              <a:t>也可以</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改写</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为：</a:t>
            </a:r>
          </a:p>
        </p:txBody>
      </p:sp>
    </p:spTree>
    <p:extLst>
      <p:ext uri="{BB962C8B-B14F-4D97-AF65-F5344CB8AC3E}">
        <p14:creationId xmlns:p14="http://schemas.microsoft.com/office/powerpoint/2010/main" val="35800743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a:t>
            </a:fld>
            <a:endParaRPr lang="zh-CN" altLang="en-US"/>
          </a:p>
        </p:txBody>
      </p:sp>
      <p:sp>
        <p:nvSpPr>
          <p:cNvPr id="3" name="Text Box 18"/>
          <p:cNvSpPr txBox="1">
            <a:spLocks noChangeArrowheads="1"/>
          </p:cNvSpPr>
          <p:nvPr/>
        </p:nvSpPr>
        <p:spPr bwMode="auto">
          <a:xfrm>
            <a:off x="547538" y="242710"/>
            <a:ext cx="7137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10000"/>
              </a:spcBef>
              <a:spcAft>
                <a:spcPct val="0"/>
              </a:spcAft>
              <a:buClr>
                <a:srgbClr val="990000"/>
              </a:buClr>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其边界条件：</a:t>
            </a:r>
          </a:p>
        </p:txBody>
      </p:sp>
      <p:sp>
        <p:nvSpPr>
          <p:cNvPr id="4" name="矩形 3"/>
          <p:cNvSpPr>
            <a:spLocks noChangeArrowheads="1"/>
          </p:cNvSpPr>
          <p:nvPr/>
        </p:nvSpPr>
        <p:spPr bwMode="auto">
          <a:xfrm>
            <a:off x="1514326" y="711022"/>
            <a:ext cx="61366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10000"/>
              </a:spcBef>
              <a:spcAft>
                <a:spcPct val="0"/>
              </a:spcAft>
              <a:buClr>
                <a:srgbClr val="990000"/>
              </a:buClr>
              <a:buFont typeface="Wingdings" panose="05000000000000000000" pitchFamily="2" charset="2"/>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x</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d</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sc </a:t>
            </a:r>
            <a:r>
              <a:rPr kumimoji="1" lang="zh-CN" altLang="en-US" sz="2400" b="1" smtClean="0">
                <a:solidFill>
                  <a:prstClr val="black"/>
                </a:solidFill>
                <a:latin typeface="Times New Roman" panose="02020603050405020304" pitchFamily="18" charset="0"/>
                <a:cs typeface="Times New Roman" panose="02020603050405020304" pitchFamily="18" charset="0"/>
              </a:rPr>
              <a:t>处 </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smtClean="0">
                <a:solidFill>
                  <a:prstClr val="black"/>
                </a:solidFill>
                <a:latin typeface="Times New Roman" panose="02020603050405020304" pitchFamily="18" charset="0"/>
                <a:cs typeface="Times New Roman" panose="02020603050405020304" pitchFamily="18" charset="0"/>
              </a:rPr>
              <a:t>= 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u</a:t>
            </a:r>
            <a:r>
              <a:rPr kumimoji="1" lang="en-US" altLang="zh-CN" sz="2400" b="1" smtClean="0">
                <a:solidFill>
                  <a:prstClr val="black"/>
                </a:solidFill>
                <a:latin typeface="Times New Roman" panose="02020603050405020304" pitchFamily="18" charset="0"/>
                <a:cs typeface="Times New Roman" panose="02020603050405020304" pitchFamily="18" charset="0"/>
              </a:rPr>
              <a:t>= 0</a:t>
            </a:r>
            <a:r>
              <a:rPr kumimoji="1" lang="zh-CN" altLang="en-US" sz="2400" b="1" smtClean="0">
                <a:solidFill>
                  <a:prstClr val="black"/>
                </a:solidFill>
                <a:latin typeface="Times New Roman" panose="02020603050405020304" pitchFamily="18" charset="0"/>
                <a:cs typeface="Times New Roman" panose="02020603050405020304" pitchFamily="18" charset="0"/>
              </a:rPr>
              <a:t>，电场 </a:t>
            </a:r>
            <a:r>
              <a:rPr kumimoji="1" lang="en-US" altLang="zh-CN" sz="2400" b="1" i="1" smtClean="0">
                <a:solidFill>
                  <a:prstClr val="black"/>
                </a:solidFill>
                <a:latin typeface="Times New Roman" panose="02020603050405020304" pitchFamily="18" charset="0"/>
                <a:cs typeface="Times New Roman" panose="02020603050405020304" pitchFamily="18" charset="0"/>
              </a:rPr>
              <a:t>E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 d</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/dx = 0</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en-US" sz="2400" b="1" smtClean="0">
              <a:solidFill>
                <a:prstClr val="black"/>
              </a:solidFill>
              <a:latin typeface="Times New Roman" panose="02020603050405020304" pitchFamily="18" charset="0"/>
              <a:cs typeface="Times New Roman" panose="02020603050405020304" pitchFamily="18" charset="0"/>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1044364988"/>
              </p:ext>
            </p:extLst>
          </p:nvPr>
        </p:nvGraphicFramePr>
        <p:xfrm>
          <a:off x="2803405" y="2928159"/>
          <a:ext cx="4384675" cy="546100"/>
        </p:xfrm>
        <a:graphic>
          <a:graphicData uri="http://schemas.openxmlformats.org/presentationml/2006/ole">
            <mc:AlternateContent xmlns:mc="http://schemas.openxmlformats.org/markup-compatibility/2006">
              <mc:Choice xmlns:v="urn:schemas-microsoft-com:vml" Requires="v">
                <p:oleObj spid="_x0000_s171320" name="公式" r:id="rId3" imgW="2260600" imgH="241300" progId="Equation.3">
                  <p:embed/>
                </p:oleObj>
              </mc:Choice>
              <mc:Fallback>
                <p:oleObj name="公式" r:id="rId3" imgW="2260600" imgH="241300" progId="Equation.3">
                  <p:embed/>
                  <p:pic>
                    <p:nvPicPr>
                      <p:cNvPr id="819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405" y="2928159"/>
                        <a:ext cx="43846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9"/>
          <p:cNvSpPr txBox="1">
            <a:spLocks noChangeArrowheads="1"/>
          </p:cNvSpPr>
          <p:nvPr/>
        </p:nvSpPr>
        <p:spPr bwMode="auto">
          <a:xfrm>
            <a:off x="1509593" y="2974196"/>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令：</a:t>
            </a:r>
          </a:p>
        </p:txBody>
      </p:sp>
      <p:graphicFrame>
        <p:nvGraphicFramePr>
          <p:cNvPr id="7" name="Object 3"/>
          <p:cNvGraphicFramePr>
            <a:graphicFrameLocks noChangeAspect="1"/>
          </p:cNvGraphicFramePr>
          <p:nvPr>
            <p:extLst>
              <p:ext uri="{D42A27DB-BD31-4B8C-83A1-F6EECF244321}">
                <p14:modId xmlns:p14="http://schemas.microsoft.com/office/powerpoint/2010/main" val="3985171171"/>
              </p:ext>
            </p:extLst>
          </p:nvPr>
        </p:nvGraphicFramePr>
        <p:xfrm>
          <a:off x="2237522" y="3698876"/>
          <a:ext cx="3719512" cy="1011237"/>
        </p:xfrm>
        <a:graphic>
          <a:graphicData uri="http://schemas.openxmlformats.org/presentationml/2006/ole">
            <mc:AlternateContent xmlns:mc="http://schemas.openxmlformats.org/markup-compatibility/2006">
              <mc:Choice xmlns:v="urn:schemas-microsoft-com:vml" Requires="v">
                <p:oleObj spid="_x0000_s171321" name="公式" r:id="rId5" imgW="1358310" imgH="482391" progId="Equation.3">
                  <p:embed/>
                </p:oleObj>
              </mc:Choice>
              <mc:Fallback>
                <p:oleObj name="公式" r:id="rId5" imgW="1358310" imgH="482391" progId="Equation.3">
                  <p:embed/>
                  <p:pic>
                    <p:nvPicPr>
                      <p:cNvPr id="8192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7522" y="3698876"/>
                        <a:ext cx="3719512"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23"/>
          <p:cNvSpPr txBox="1">
            <a:spLocks noChangeArrowheads="1"/>
          </p:cNvSpPr>
          <p:nvPr/>
        </p:nvSpPr>
        <p:spPr bwMode="auto">
          <a:xfrm>
            <a:off x="455493" y="3698876"/>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上式写成</a:t>
            </a:r>
          </a:p>
        </p:txBody>
      </p:sp>
      <p:graphicFrame>
        <p:nvGraphicFramePr>
          <p:cNvPr id="9" name="Object 6"/>
          <p:cNvGraphicFramePr>
            <a:graphicFrameLocks noChangeAspect="1"/>
          </p:cNvGraphicFramePr>
          <p:nvPr>
            <p:extLst>
              <p:ext uri="{D42A27DB-BD31-4B8C-83A1-F6EECF244321}">
                <p14:modId xmlns:p14="http://schemas.microsoft.com/office/powerpoint/2010/main" val="3738908775"/>
              </p:ext>
            </p:extLst>
          </p:nvPr>
        </p:nvGraphicFramePr>
        <p:xfrm>
          <a:off x="801568" y="1780396"/>
          <a:ext cx="6386512" cy="1068388"/>
        </p:xfrm>
        <a:graphic>
          <a:graphicData uri="http://schemas.openxmlformats.org/presentationml/2006/ole">
            <mc:AlternateContent xmlns:mc="http://schemas.openxmlformats.org/markup-compatibility/2006">
              <mc:Choice xmlns:v="urn:schemas-microsoft-com:vml" Requires="v">
                <p:oleObj spid="_x0000_s171322" name="公式" r:id="rId7" imgW="2794000" imgH="482600" progId="Equation.3">
                  <p:embed/>
                </p:oleObj>
              </mc:Choice>
              <mc:Fallback>
                <p:oleObj name="公式" r:id="rId7" imgW="2794000" imgH="482600" progId="Equation.3">
                  <p:embed/>
                  <p:pic>
                    <p:nvPicPr>
                      <p:cNvPr id="8193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1568" y="1780396"/>
                        <a:ext cx="6386512" cy="10683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16"/>
          <p:cNvSpPr txBox="1">
            <a:spLocks noChangeArrowheads="1"/>
          </p:cNvSpPr>
          <p:nvPr/>
        </p:nvSpPr>
        <p:spPr bwMode="auto">
          <a:xfrm>
            <a:off x="609480" y="1308909"/>
            <a:ext cx="2319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lang="zh-CN" altLang="en-US" sz="2400" b="1" smtClean="0">
                <a:solidFill>
                  <a:prstClr val="black"/>
                </a:solidFill>
                <a:latin typeface="Times New Roman" panose="02020603050405020304" pitchFamily="18" charset="0"/>
                <a:cs typeface="Times New Roman" panose="02020603050405020304" pitchFamily="18" charset="0"/>
              </a:rPr>
              <a:t>解泊松方程得：</a:t>
            </a:r>
          </a:p>
        </p:txBody>
      </p:sp>
      <p:sp>
        <p:nvSpPr>
          <p:cNvPr id="11" name="Text Box 12"/>
          <p:cNvSpPr txBox="1">
            <a:spLocks noChangeArrowheads="1"/>
          </p:cNvSpPr>
          <p:nvPr/>
        </p:nvSpPr>
        <p:spPr bwMode="auto">
          <a:xfrm>
            <a:off x="215900" y="5297488"/>
            <a:ext cx="61214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Tx/>
              <a:buNone/>
            </a:pPr>
            <a:r>
              <a:rPr kumimoji="1" lang="en-US" altLang="zh-CN" sz="2400" b="1" i="1" u="none">
                <a:latin typeface="Times New Roman" panose="02020603050405020304" pitchFamily="18" charset="0"/>
                <a:cs typeface="Times New Roman" panose="02020603050405020304" pitchFamily="18" charset="0"/>
              </a:rPr>
              <a:t>V</a:t>
            </a:r>
            <a:r>
              <a:rPr kumimoji="1" lang="en-US" altLang="zh-CN" sz="2400" b="1" u="none" baseline="-25000">
                <a:latin typeface="Times New Roman" panose="02020603050405020304" pitchFamily="18" charset="0"/>
                <a:cs typeface="Times New Roman" panose="02020603050405020304" pitchFamily="18" charset="0"/>
              </a:rPr>
              <a:t> </a:t>
            </a:r>
            <a:r>
              <a:rPr kumimoji="1" lang="en-US" altLang="zh-CN" sz="2400" b="1" u="none">
                <a:latin typeface="Times New Roman" panose="02020603050405020304" pitchFamily="18" charset="0"/>
                <a:cs typeface="Times New Roman" panose="02020603050405020304" pitchFamily="18" charset="0"/>
              </a:rPr>
              <a:t>(x)</a:t>
            </a:r>
            <a:r>
              <a:rPr kumimoji="1" lang="en-US" altLang="zh-CN" sz="2400" b="1" u="none" baseline="-25000">
                <a:latin typeface="Times New Roman" panose="02020603050405020304" pitchFamily="18" charset="0"/>
                <a:cs typeface="Times New Roman" panose="02020603050405020304" pitchFamily="18" charset="0"/>
              </a:rPr>
              <a:t> </a:t>
            </a:r>
            <a:r>
              <a:rPr kumimoji="1" lang="en-US" altLang="zh-CN" sz="2400" b="1" u="none">
                <a:latin typeface="Times New Roman" panose="02020603050405020304" pitchFamily="18" charset="0"/>
                <a:cs typeface="Times New Roman" panose="02020603050405020304" pitchFamily="18" charset="0"/>
              </a:rPr>
              <a:t>&gt; 0</a:t>
            </a:r>
            <a:r>
              <a:rPr kumimoji="1" lang="zh-CN" altLang="en-US" sz="2400" b="1" u="none">
                <a:latin typeface="Times New Roman" panose="02020603050405020304" pitchFamily="18" charset="0"/>
                <a:cs typeface="Times New Roman" panose="02020603050405020304" pitchFamily="18" charset="0"/>
              </a:rPr>
              <a:t>，</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电场为</a:t>
            </a:r>
            <a:r>
              <a:rPr kumimoji="1" lang="en-US" altLang="zh-CN" sz="2400" b="1" u="none">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x</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方向，取 “</a:t>
            </a:r>
            <a:r>
              <a:rPr kumimoji="1" lang="en-US" altLang="zh-CN" sz="2400" b="1" u="none">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”号</a:t>
            </a:r>
          </a:p>
          <a:p>
            <a:pPr eaLnBrk="1" hangingPunct="1">
              <a:buFontTx/>
              <a:buNone/>
            </a:pPr>
            <a:r>
              <a:rPr kumimoji="1" lang="en-US" altLang="zh-CN" sz="2400" b="1" i="1" u="none">
                <a:latin typeface="Times New Roman" panose="02020603050405020304" pitchFamily="18" charset="0"/>
                <a:cs typeface="Times New Roman" panose="02020603050405020304" pitchFamily="18" charset="0"/>
              </a:rPr>
              <a:t>V</a:t>
            </a:r>
            <a:r>
              <a:rPr kumimoji="1" lang="en-US" altLang="zh-CN" sz="2400" b="1" u="none" baseline="-25000">
                <a:latin typeface="Times New Roman" panose="02020603050405020304" pitchFamily="18" charset="0"/>
                <a:cs typeface="Times New Roman" panose="02020603050405020304" pitchFamily="18" charset="0"/>
              </a:rPr>
              <a:t> </a:t>
            </a:r>
            <a:r>
              <a:rPr kumimoji="1" lang="en-US" altLang="zh-CN" sz="2400" b="1" u="none">
                <a:latin typeface="Times New Roman" panose="02020603050405020304" pitchFamily="18" charset="0"/>
                <a:cs typeface="Times New Roman" panose="02020603050405020304" pitchFamily="18" charset="0"/>
              </a:rPr>
              <a:t>(x) &lt; 0</a:t>
            </a:r>
            <a:r>
              <a:rPr kumimoji="1" lang="zh-CN" altLang="en-US" sz="2400" b="1" u="none">
                <a:latin typeface="Times New Roman" panose="02020603050405020304" pitchFamily="18" charset="0"/>
                <a:cs typeface="Times New Roman" panose="02020603050405020304" pitchFamily="18" charset="0"/>
              </a:rPr>
              <a:t>，</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电场为</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x</a:t>
            </a:r>
            <a:r>
              <a:rPr kumimoji="1" lang="zh-CN" altLang="en-US" sz="2400" b="1" u="none">
                <a:latin typeface="Times New Roman" panose="02020603050405020304" pitchFamily="18" charset="0"/>
                <a:cs typeface="Times New Roman" panose="02020603050405020304" pitchFamily="18" charset="0"/>
                <a:sym typeface="Symbol" panose="05050102010706020507" pitchFamily="18" charset="2"/>
              </a:rPr>
              <a:t>方向，取 “”号</a:t>
            </a:r>
          </a:p>
        </p:txBody>
      </p:sp>
      <p:graphicFrame>
        <p:nvGraphicFramePr>
          <p:cNvPr id="12" name="Object 4"/>
          <p:cNvGraphicFramePr>
            <a:graphicFrameLocks noChangeAspect="1"/>
          </p:cNvGraphicFramePr>
          <p:nvPr/>
        </p:nvGraphicFramePr>
        <p:xfrm>
          <a:off x="6316663" y="3889375"/>
          <a:ext cx="1981200" cy="1320800"/>
        </p:xfrm>
        <a:graphic>
          <a:graphicData uri="http://schemas.openxmlformats.org/presentationml/2006/ole">
            <mc:AlternateContent xmlns:mc="http://schemas.openxmlformats.org/markup-compatibility/2006">
              <mc:Choice xmlns:v="urn:schemas-microsoft-com:vml" Requires="v">
                <p:oleObj spid="_x0000_s171323" name="BMP 图象" r:id="rId9" imgW="2314286" imgH="1542857" progId="PBrush">
                  <p:embed/>
                </p:oleObj>
              </mc:Choice>
              <mc:Fallback>
                <p:oleObj name="BMP 图象" r:id="rId9" imgW="2314286" imgH="1542857" progId="PBrush">
                  <p:embed/>
                  <p:pic>
                    <p:nvPicPr>
                      <p:cNvPr id="81927"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6663" y="3889375"/>
                        <a:ext cx="1981200"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 name="Object 5"/>
          <p:cNvGraphicFramePr>
            <a:graphicFrameLocks noChangeAspect="1"/>
          </p:cNvGraphicFramePr>
          <p:nvPr/>
        </p:nvGraphicFramePr>
        <p:xfrm>
          <a:off x="6316663" y="5291138"/>
          <a:ext cx="1981200" cy="1317625"/>
        </p:xfrm>
        <a:graphic>
          <a:graphicData uri="http://schemas.openxmlformats.org/presentationml/2006/ole">
            <mc:AlternateContent xmlns:mc="http://schemas.openxmlformats.org/markup-compatibility/2006">
              <mc:Choice xmlns:v="urn:schemas-microsoft-com:vml" Requires="v">
                <p:oleObj spid="_x0000_s171324" name="BMP 图象" r:id="rId11" imgW="2305372" imgH="1533739" progId="PBrush">
                  <p:embed/>
                </p:oleObj>
              </mc:Choice>
              <mc:Fallback>
                <p:oleObj name="BMP 图象" r:id="rId11" imgW="2305372" imgH="1533739" progId="PBrush">
                  <p:embed/>
                  <p:pic>
                    <p:nvPicPr>
                      <p:cNvPr id="81928"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16663" y="5291138"/>
                        <a:ext cx="1981200" cy="131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9170377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a:t>
            </a:fld>
            <a:endParaRPr lang="zh-CN" altLang="en-US"/>
          </a:p>
        </p:txBody>
      </p:sp>
      <p:sp>
        <p:nvSpPr>
          <p:cNvPr id="8" name="Text Box 2"/>
          <p:cNvSpPr txBox="1">
            <a:spLocks noChangeArrowheads="1"/>
          </p:cNvSpPr>
          <p:nvPr/>
        </p:nvSpPr>
        <p:spPr bwMode="auto">
          <a:xfrm>
            <a:off x="336880" y="101529"/>
            <a:ext cx="3848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Clr>
                <a:srgbClr val="990000"/>
              </a:buClr>
              <a:buFont typeface="Wingdings" panose="05000000000000000000" pitchFamily="2" charset="2"/>
              <a:buChar char="§"/>
            </a:pP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表面电场</a:t>
            </a:r>
            <a:endParaRPr kumimoji="1" lang="zh-CN" altLang="en-US" sz="2400" b="1" dirty="0" smtClean="0">
              <a:solidFill>
                <a:srgbClr val="0000CC"/>
              </a:solidFill>
              <a:latin typeface="Times New Roman" panose="02020603050405020304" pitchFamily="18" charset="0"/>
              <a:cs typeface="Times New Roman" panose="02020603050405020304" pitchFamily="18" charset="0"/>
            </a:endParaRPr>
          </a:p>
        </p:txBody>
      </p:sp>
      <p:graphicFrame>
        <p:nvGraphicFramePr>
          <p:cNvPr id="9" name="Object 2"/>
          <p:cNvGraphicFramePr>
            <a:graphicFrameLocks noChangeAspect="1"/>
          </p:cNvGraphicFramePr>
          <p:nvPr>
            <p:extLst>
              <p:ext uri="{D42A27DB-BD31-4B8C-83A1-F6EECF244321}">
                <p14:modId xmlns:p14="http://schemas.microsoft.com/office/powerpoint/2010/main" val="3637829925"/>
              </p:ext>
            </p:extLst>
          </p:nvPr>
        </p:nvGraphicFramePr>
        <p:xfrm>
          <a:off x="2046843" y="1174472"/>
          <a:ext cx="4207308" cy="966544"/>
        </p:xfrm>
        <a:graphic>
          <a:graphicData uri="http://schemas.openxmlformats.org/presentationml/2006/ole">
            <mc:AlternateContent xmlns:mc="http://schemas.openxmlformats.org/markup-compatibility/2006">
              <mc:Choice xmlns:v="urn:schemas-microsoft-com:vml" Requires="v">
                <p:oleObj spid="_x0000_s172339" name="公式" r:id="rId3" imgW="1562100" imgH="482600" progId="Equation.3">
                  <p:embed/>
                </p:oleObj>
              </mc:Choice>
              <mc:Fallback>
                <p:oleObj name="公式" r:id="rId3" imgW="1562100" imgH="482600" progId="Equation.3">
                  <p:embed/>
                  <p:pic>
                    <p:nvPicPr>
                      <p:cNvPr id="8294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6843" y="1174472"/>
                        <a:ext cx="4207308" cy="966544"/>
                      </a:xfrm>
                      <a:prstGeom prst="rect">
                        <a:avLst/>
                      </a:prstGeom>
                      <a:noFill/>
                      <a:ln>
                        <a:noFill/>
                      </a:ln>
                      <a:effectLst/>
                    </p:spPr>
                  </p:pic>
                </p:oleObj>
              </mc:Fallback>
            </mc:AlternateContent>
          </a:graphicData>
        </a:graphic>
      </p:graphicFrame>
      <p:sp>
        <p:nvSpPr>
          <p:cNvPr id="10" name="Text Box 5"/>
          <p:cNvSpPr txBox="1">
            <a:spLocks noChangeArrowheads="1"/>
          </p:cNvSpPr>
          <p:nvPr/>
        </p:nvSpPr>
        <p:spPr bwMode="auto">
          <a:xfrm>
            <a:off x="249567" y="631830"/>
            <a:ext cx="8150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表面</a:t>
            </a:r>
            <a:r>
              <a:rPr kumimoji="1" lang="en-US" altLang="zh-CN"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x</a:t>
            </a:r>
            <a:r>
              <a:rPr kumimoji="1" lang="en-US" altLang="zh-CN" sz="2400" b="1" dirty="0" smtClean="0">
                <a:solidFill>
                  <a:prstClr val="black"/>
                </a:solidFill>
                <a:latin typeface="Times New Roman" panose="02020603050405020304" pitchFamily="18" charset="0"/>
                <a:cs typeface="Times New Roman" panose="02020603050405020304" pitchFamily="18" charset="0"/>
              </a:rPr>
              <a:t>=0)</a:t>
            </a:r>
            <a:r>
              <a:rPr kumimoji="1" lang="zh-CN" altLang="en-US" sz="2400" b="1" dirty="0" smtClean="0">
                <a:solidFill>
                  <a:prstClr val="black"/>
                </a:solidFill>
                <a:latin typeface="Times New Roman" panose="02020603050405020304" pitchFamily="18" charset="0"/>
                <a:cs typeface="Times New Roman" panose="02020603050405020304" pitchFamily="18" charset="0"/>
              </a:rPr>
              <a:t>处，</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，代入上式得</a:t>
            </a:r>
            <a:r>
              <a:rPr kumimoji="1" lang="zh-CN" altLang="en-US" sz="2400" b="1" dirty="0" smtClean="0">
                <a:solidFill>
                  <a:srgbClr val="990000"/>
                </a:solidFill>
                <a:latin typeface="Times New Roman" panose="02020603050405020304" pitchFamily="18" charset="0"/>
                <a:cs typeface="Times New Roman" panose="02020603050405020304" pitchFamily="18" charset="0"/>
              </a:rPr>
              <a:t>表面电场</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E</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s</a:t>
            </a:r>
            <a:endParaRPr kumimoji="1" lang="en-US" altLang="zh-CN" sz="2400" b="1" dirty="0" smtClean="0">
              <a:solidFill>
                <a:prstClr val="black"/>
              </a:solidFill>
              <a:latin typeface="Times New Roman" panose="02020603050405020304" pitchFamily="18" charset="0"/>
              <a:cs typeface="Times New Roman" panose="02020603050405020304" pitchFamily="18" charset="0"/>
            </a:endParaRPr>
          </a:p>
        </p:txBody>
      </p:sp>
      <p:sp>
        <p:nvSpPr>
          <p:cNvPr id="11" name="Text Box 7"/>
          <p:cNvSpPr txBox="1">
            <a:spLocks noChangeArrowheads="1"/>
          </p:cNvSpPr>
          <p:nvPr/>
        </p:nvSpPr>
        <p:spPr bwMode="auto">
          <a:xfrm>
            <a:off x="249567" y="2096240"/>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式中</a:t>
            </a:r>
          </a:p>
        </p:txBody>
      </p:sp>
      <p:graphicFrame>
        <p:nvGraphicFramePr>
          <p:cNvPr id="12" name="Object 3"/>
          <p:cNvGraphicFramePr>
            <a:graphicFrameLocks noChangeAspect="1"/>
          </p:cNvGraphicFramePr>
          <p:nvPr>
            <p:extLst>
              <p:ext uri="{D42A27DB-BD31-4B8C-83A1-F6EECF244321}">
                <p14:modId xmlns:p14="http://schemas.microsoft.com/office/powerpoint/2010/main" val="3692457696"/>
              </p:ext>
            </p:extLst>
          </p:nvPr>
        </p:nvGraphicFramePr>
        <p:xfrm>
          <a:off x="1240167" y="2037503"/>
          <a:ext cx="4703762" cy="544512"/>
        </p:xfrm>
        <a:graphic>
          <a:graphicData uri="http://schemas.openxmlformats.org/presentationml/2006/ole">
            <mc:AlternateContent xmlns:mc="http://schemas.openxmlformats.org/markup-compatibility/2006">
              <mc:Choice xmlns:v="urn:schemas-microsoft-com:vml" Requires="v">
                <p:oleObj spid="_x0000_s172340" name="公式" r:id="rId5" imgW="2514600" imgH="241300" progId="Equation.3">
                  <p:embed/>
                </p:oleObj>
              </mc:Choice>
              <mc:Fallback>
                <p:oleObj name="公式" r:id="rId5" imgW="2514600" imgH="241300" progId="Equation.3">
                  <p:embed/>
                  <p:pic>
                    <p:nvPicPr>
                      <p:cNvPr id="829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0167" y="2037503"/>
                        <a:ext cx="470376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3252009432"/>
              </p:ext>
            </p:extLst>
          </p:nvPr>
        </p:nvGraphicFramePr>
        <p:xfrm>
          <a:off x="6517017" y="2096240"/>
          <a:ext cx="2075334" cy="461963"/>
        </p:xfrm>
        <a:graphic>
          <a:graphicData uri="http://schemas.openxmlformats.org/presentationml/2006/ole">
            <mc:AlternateContent xmlns:mc="http://schemas.openxmlformats.org/markup-compatibility/2006">
              <mc:Choice xmlns:v="urn:schemas-microsoft-com:vml" Requires="v">
                <p:oleObj spid="_x0000_s172341" name="公式" r:id="rId7" imgW="1079032" imgH="203112" progId="Equation.3">
                  <p:embed/>
                </p:oleObj>
              </mc:Choice>
              <mc:Fallback>
                <p:oleObj name="公式" r:id="rId7" imgW="1079032" imgH="203112" progId="Equation.3">
                  <p:embed/>
                  <p:pic>
                    <p:nvPicPr>
                      <p:cNvPr id="8295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7017" y="2096240"/>
                        <a:ext cx="2075334" cy="461963"/>
                      </a:xfrm>
                      <a:prstGeom prst="rect">
                        <a:avLst/>
                      </a:prstGeom>
                      <a:noFill/>
                      <a:ln>
                        <a:noFill/>
                      </a:ln>
                    </p:spPr>
                  </p:pic>
                </p:oleObj>
              </mc:Fallback>
            </mc:AlternateContent>
          </a:graphicData>
        </a:graphic>
      </p:graphicFrame>
      <p:sp>
        <p:nvSpPr>
          <p:cNvPr id="18" name="Text Box 3"/>
          <p:cNvSpPr txBox="1">
            <a:spLocks noChangeArrowheads="1"/>
          </p:cNvSpPr>
          <p:nvPr/>
        </p:nvSpPr>
        <p:spPr bwMode="auto">
          <a:xfrm>
            <a:off x="249567" y="2668579"/>
            <a:ext cx="63786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Clr>
                <a:srgbClr val="990000"/>
              </a:buClr>
              <a:buFont typeface="Wingdings" panose="05000000000000000000" pitchFamily="2" charset="2"/>
              <a:buChar char="§"/>
            </a:pP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空间电荷层电荷 </a:t>
            </a:r>
            <a:r>
              <a:rPr kumimoji="1" lang="en-US" altLang="zh-CN" sz="2400" b="1" dirty="0" smtClean="0">
                <a:solidFill>
                  <a:srgbClr val="990000"/>
                </a:solidFill>
                <a:latin typeface="Times New Roman" panose="02020603050405020304" pitchFamily="18" charset="0"/>
                <a:cs typeface="Times New Roman" panose="02020603050405020304" pitchFamily="18" charset="0"/>
              </a:rPr>
              <a:t>(</a:t>
            </a:r>
            <a:r>
              <a:rPr kumimoji="1" lang="zh-CN" altLang="en-US" sz="2400" b="1" dirty="0" smtClean="0">
                <a:solidFill>
                  <a:srgbClr val="990000"/>
                </a:solidFill>
                <a:latin typeface="Times New Roman" panose="02020603050405020304" pitchFamily="18" charset="0"/>
                <a:cs typeface="Times New Roman" panose="02020603050405020304" pitchFamily="18" charset="0"/>
              </a:rPr>
              <a:t>电荷面密度</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Q</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sc</a:t>
            </a:r>
            <a:r>
              <a:rPr kumimoji="1" lang="en-US" altLang="zh-CN" sz="2400" b="1" dirty="0" smtClean="0">
                <a:solidFill>
                  <a:srgbClr val="990000"/>
                </a:solidFill>
                <a:latin typeface="Times New Roman" panose="02020603050405020304" pitchFamily="18" charset="0"/>
                <a:cs typeface="Times New Roman" panose="02020603050405020304" pitchFamily="18" charset="0"/>
              </a:rPr>
              <a:t> </a:t>
            </a:r>
            <a:r>
              <a:rPr kumimoji="1" lang="en-US" altLang="zh-CN"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关系）</a:t>
            </a:r>
            <a:r>
              <a:rPr kumimoji="1" lang="zh-CN" altLang="en-US" sz="2400" b="1" dirty="0" smtClean="0">
                <a:solidFill>
                  <a:srgbClr val="0000CC"/>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 </a:t>
            </a:r>
          </a:p>
        </p:txBody>
      </p:sp>
      <p:graphicFrame>
        <p:nvGraphicFramePr>
          <p:cNvPr id="19" name="Object 3"/>
          <p:cNvGraphicFramePr>
            <a:graphicFrameLocks noChangeAspect="1"/>
          </p:cNvGraphicFramePr>
          <p:nvPr>
            <p:extLst>
              <p:ext uri="{D42A27DB-BD31-4B8C-83A1-F6EECF244321}">
                <p14:modId xmlns:p14="http://schemas.microsoft.com/office/powerpoint/2010/main" val="3887787002"/>
              </p:ext>
            </p:extLst>
          </p:nvPr>
        </p:nvGraphicFramePr>
        <p:xfrm>
          <a:off x="622960" y="4153200"/>
          <a:ext cx="3814762" cy="1106487"/>
        </p:xfrm>
        <a:graphic>
          <a:graphicData uri="http://schemas.openxmlformats.org/presentationml/2006/ole">
            <mc:AlternateContent xmlns:mc="http://schemas.openxmlformats.org/markup-compatibility/2006">
              <mc:Choice xmlns:v="urn:schemas-microsoft-com:vml" Requires="v">
                <p:oleObj spid="_x0000_s172342" name="公式" r:id="rId9" imgW="1549400" imgH="508000" progId="Equation.3">
                  <p:embed/>
                </p:oleObj>
              </mc:Choice>
              <mc:Fallback>
                <p:oleObj name="公式" r:id="rId9" imgW="1549400" imgH="508000" progId="Equation.3">
                  <p:embed/>
                  <p:pic>
                    <p:nvPicPr>
                      <p:cNvPr id="83972"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960" y="4153200"/>
                        <a:ext cx="3814762"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10"/>
          <p:cNvSpPr txBox="1">
            <a:spLocks noChangeArrowheads="1"/>
          </p:cNvSpPr>
          <p:nvPr/>
        </p:nvSpPr>
        <p:spPr bwMode="auto">
          <a:xfrm>
            <a:off x="487842" y="3445046"/>
            <a:ext cx="3951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单位面积空间电荷层电荷</a:t>
            </a:r>
            <a:r>
              <a:rPr kumimoji="1" lang="en-US" altLang="zh-CN" sz="2400" b="1" i="1" smtClean="0">
                <a:solidFill>
                  <a:prstClr val="black"/>
                </a:solidFill>
                <a:latin typeface="Times New Roman" panose="02020603050405020304" pitchFamily="18" charset="0"/>
                <a:cs typeface="Times New Roman" panose="02020603050405020304" pitchFamily="18" charset="0"/>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sc</a:t>
            </a:r>
            <a:endParaRPr kumimoji="1" lang="en-US" altLang="zh-CN" sz="2400" b="1" smtClean="0">
              <a:solidFill>
                <a:prstClr val="black"/>
              </a:solidFill>
              <a:latin typeface="Times New Roman" panose="02020603050405020304" pitchFamily="18" charset="0"/>
              <a:cs typeface="Times New Roman" panose="02020603050405020304" pitchFamily="18" charset="0"/>
            </a:endParaRPr>
          </a:p>
        </p:txBody>
      </p:sp>
      <p:graphicFrame>
        <p:nvGraphicFramePr>
          <p:cNvPr id="22" name="Object 2"/>
          <p:cNvGraphicFramePr>
            <a:graphicFrameLocks noChangeAspect="1"/>
          </p:cNvGraphicFramePr>
          <p:nvPr>
            <p:extLst>
              <p:ext uri="{D42A27DB-BD31-4B8C-83A1-F6EECF244321}">
                <p14:modId xmlns:p14="http://schemas.microsoft.com/office/powerpoint/2010/main" val="4020519064"/>
              </p:ext>
            </p:extLst>
          </p:nvPr>
        </p:nvGraphicFramePr>
        <p:xfrm>
          <a:off x="4999142" y="3126530"/>
          <a:ext cx="3879850" cy="3714750"/>
        </p:xfrm>
        <a:graphic>
          <a:graphicData uri="http://schemas.openxmlformats.org/presentationml/2006/ole">
            <mc:AlternateContent xmlns:mc="http://schemas.openxmlformats.org/markup-compatibility/2006">
              <mc:Choice xmlns:v="urn:schemas-microsoft-com:vml" Requires="v">
                <p:oleObj spid="_x0000_s172343" name="BMP 图象" r:id="rId11" imgW="5514286" imgH="5619048" progId="PBrush">
                  <p:embed/>
                </p:oleObj>
              </mc:Choice>
              <mc:Fallback>
                <p:oleObj name="BMP 图象" r:id="rId11" imgW="5514286" imgH="5619048" progId="PBrush">
                  <p:embed/>
                  <p:pic>
                    <p:nvPicPr>
                      <p:cNvPr id="8397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99142" y="3126530"/>
                        <a:ext cx="3879850"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3" name="AutoShape 11"/>
          <p:cNvSpPr>
            <a:spLocks noChangeArrowheads="1"/>
          </p:cNvSpPr>
          <p:nvPr/>
        </p:nvSpPr>
        <p:spPr bwMode="auto">
          <a:xfrm>
            <a:off x="6754917" y="4765041"/>
            <a:ext cx="854075" cy="539750"/>
          </a:xfrm>
          <a:prstGeom prst="irregularSeal1">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endParaRPr lang="zh-CN" altLang="en-US" sz="1800" u="sng" smtClean="0">
              <a:solidFill>
                <a:prstClr val="black"/>
              </a:solidFill>
              <a:latin typeface="Arial" panose="020B0604020202020204" pitchFamily="34" charset="0"/>
            </a:endParaRPr>
          </a:p>
        </p:txBody>
      </p:sp>
      <p:sp>
        <p:nvSpPr>
          <p:cNvPr id="24" name="Text Box 6"/>
          <p:cNvSpPr txBox="1">
            <a:spLocks noChangeArrowheads="1"/>
          </p:cNvSpPr>
          <p:nvPr/>
        </p:nvSpPr>
        <p:spPr bwMode="auto">
          <a:xfrm>
            <a:off x="250361" y="5300739"/>
            <a:ext cx="2989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符号的选取：</a:t>
            </a:r>
          </a:p>
        </p:txBody>
      </p:sp>
      <p:sp>
        <p:nvSpPr>
          <p:cNvPr id="25" name="Text Box 7"/>
          <p:cNvSpPr txBox="1">
            <a:spLocks noChangeArrowheads="1"/>
          </p:cNvSpPr>
          <p:nvPr/>
        </p:nvSpPr>
        <p:spPr bwMode="auto">
          <a:xfrm>
            <a:off x="824242" y="5762702"/>
            <a:ext cx="4830762"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20000"/>
              </a:lnSpc>
              <a:spcBef>
                <a:spcPct val="0"/>
              </a:spcBef>
              <a:spcAft>
                <a:spcPct val="0"/>
              </a:spcAft>
              <a:buFontTx/>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 </a:t>
            </a:r>
            <a:r>
              <a:rPr kumimoji="1" lang="en-US" altLang="zh-CN" sz="2400" b="1" smtClean="0">
                <a:solidFill>
                  <a:prstClr val="black"/>
                </a:solidFill>
                <a:latin typeface="Times New Roman" panose="02020603050405020304" pitchFamily="18" charset="0"/>
                <a:cs typeface="Times New Roman" panose="02020603050405020304" pitchFamily="18" charset="0"/>
              </a:rPr>
              <a:t>&gt; 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sc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&lt; 0</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，取 “”号</a:t>
            </a:r>
          </a:p>
          <a:p>
            <a:pPr defTabSz="914400" fontAlgn="base">
              <a:lnSpc>
                <a:spcPct val="120000"/>
              </a:lnSpc>
              <a:spcBef>
                <a:spcPct val="0"/>
              </a:spcBef>
              <a:spcAft>
                <a:spcPct val="0"/>
              </a:spcAft>
              <a:buFontTx/>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 </a:t>
            </a:r>
            <a:r>
              <a:rPr kumimoji="1" lang="en-US" altLang="zh-CN" sz="2400" b="1" smtClean="0">
                <a:solidFill>
                  <a:prstClr val="black"/>
                </a:solidFill>
                <a:latin typeface="Times New Roman" panose="02020603050405020304" pitchFamily="18" charset="0"/>
                <a:cs typeface="Times New Roman" panose="02020603050405020304" pitchFamily="18" charset="0"/>
              </a:rPr>
              <a:t>&lt; 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sc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&gt; 0</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，取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号</a:t>
            </a:r>
          </a:p>
        </p:txBody>
      </p:sp>
    </p:spTree>
    <p:extLst>
      <p:ext uri="{BB962C8B-B14F-4D97-AF65-F5344CB8AC3E}">
        <p14:creationId xmlns:p14="http://schemas.microsoft.com/office/powerpoint/2010/main" val="6284277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a:t>
            </a:fld>
            <a:endParaRPr lang="zh-CN" altLang="en-US"/>
          </a:p>
        </p:txBody>
      </p:sp>
      <p:graphicFrame>
        <p:nvGraphicFramePr>
          <p:cNvPr id="3" name="Object 12"/>
          <p:cNvGraphicFramePr>
            <a:graphicFrameLocks noChangeAspect="1"/>
          </p:cNvGraphicFramePr>
          <p:nvPr>
            <p:extLst>
              <p:ext uri="{D42A27DB-BD31-4B8C-83A1-F6EECF244321}">
                <p14:modId xmlns:p14="http://schemas.microsoft.com/office/powerpoint/2010/main" val="132386786"/>
              </p:ext>
            </p:extLst>
          </p:nvPr>
        </p:nvGraphicFramePr>
        <p:xfrm>
          <a:off x="220718" y="3579373"/>
          <a:ext cx="4626915" cy="2592288"/>
        </p:xfrm>
        <a:graphic>
          <a:graphicData uri="http://schemas.openxmlformats.org/presentationml/2006/ole">
            <mc:AlternateContent xmlns:mc="http://schemas.openxmlformats.org/markup-compatibility/2006">
              <mc:Choice xmlns:v="urn:schemas-microsoft-com:vml" Requires="v">
                <p:oleObj spid="_x0000_s177276" name="Equation" r:id="rId3" imgW="2197100" imgH="1231900" progId="Equation.DSMT4">
                  <p:embed/>
                </p:oleObj>
              </mc:Choice>
              <mc:Fallback>
                <p:oleObj name="Equation" r:id="rId3" imgW="2197100" imgH="1231900" progId="Equation.DSMT4">
                  <p:embed/>
                  <p:pic>
                    <p:nvPicPr>
                      <p:cNvPr id="14338"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718" y="3579373"/>
                        <a:ext cx="4626915" cy="2592288"/>
                      </a:xfrm>
                      <a:prstGeom prst="rect">
                        <a:avLst/>
                      </a:prstGeom>
                      <a:noFill/>
                      <a:ln>
                        <a:noFill/>
                      </a:ln>
                      <a:extLst/>
                    </p:spPr>
                  </p:pic>
                </p:oleObj>
              </mc:Fallback>
            </mc:AlternateContent>
          </a:graphicData>
        </a:graphic>
      </p:graphicFrame>
      <p:graphicFrame>
        <p:nvGraphicFramePr>
          <p:cNvPr id="4" name="Object 17"/>
          <p:cNvGraphicFramePr>
            <a:graphicFrameLocks noChangeAspect="1"/>
          </p:cNvGraphicFramePr>
          <p:nvPr>
            <p:extLst>
              <p:ext uri="{D42A27DB-BD31-4B8C-83A1-F6EECF244321}">
                <p14:modId xmlns:p14="http://schemas.microsoft.com/office/powerpoint/2010/main" val="1820474992"/>
              </p:ext>
            </p:extLst>
          </p:nvPr>
        </p:nvGraphicFramePr>
        <p:xfrm>
          <a:off x="8132047" y="3861130"/>
          <a:ext cx="928687" cy="465137"/>
        </p:xfrm>
        <a:graphic>
          <a:graphicData uri="http://schemas.openxmlformats.org/presentationml/2006/ole">
            <mc:AlternateContent xmlns:mc="http://schemas.openxmlformats.org/markup-compatibility/2006">
              <mc:Choice xmlns:v="urn:schemas-microsoft-com:vml" Requires="v">
                <p:oleObj spid="_x0000_s177277" r:id="rId5" imgW="457200" imgH="228600" progId="Equation.3">
                  <p:embed/>
                </p:oleObj>
              </mc:Choice>
              <mc:Fallback>
                <p:oleObj r:id="rId5" imgW="457200" imgH="228600" progId="Equation.3">
                  <p:embed/>
                  <p:pic>
                    <p:nvPicPr>
                      <p:cNvPr id="1435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32047" y="3861130"/>
                        <a:ext cx="928687" cy="465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7633" y="2285261"/>
            <a:ext cx="4140200" cy="3814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1"/>
          <p:cNvSpPr txBox="1"/>
          <p:nvPr/>
        </p:nvSpPr>
        <p:spPr bwMode="auto">
          <a:xfrm>
            <a:off x="167113" y="1131100"/>
            <a:ext cx="4680520" cy="2308324"/>
          </a:xfrm>
          <a:prstGeom prst="rect">
            <a:avLst/>
          </a:prstGeom>
          <a:noFill/>
          <a:ln w="12700" cap="sq">
            <a:noFill/>
            <a:miter lim="800000"/>
            <a:headEnd type="none" w="sm" len="sm"/>
            <a:tailEnd type="none" w="sm" len="sm"/>
          </a:ln>
          <a:effectLst/>
        </p:spPr>
        <p:txBody>
          <a:bodyPr wrap="square" rtlCol="0">
            <a:spAutoFit/>
          </a:bodyPr>
          <a:lstStyle/>
          <a:p>
            <a:pPr defTabSz="914400" eaLnBrk="0" fontAlgn="base" hangingPunct="0">
              <a:lnSpc>
                <a:spcPct val="120000"/>
              </a:lnSpc>
              <a:spcAft>
                <a:spcPct val="0"/>
              </a:spcAft>
            </a:pPr>
            <a:r>
              <a:rPr kumimoji="1" lang="en-US" altLang="zh-CN" sz="2400" b="1" dirty="0" smtClean="0">
                <a:solidFill>
                  <a:srgbClr val="000000"/>
                </a:solidFill>
                <a:effectLst>
                  <a:outerShdw blurRad="38100" dist="38100" dir="2700000" algn="tl">
                    <a:srgbClr val="C0C0C0"/>
                  </a:outerShdw>
                </a:effectLst>
                <a:latin typeface="Times New Roman" pitchFamily="18" charset="0"/>
                <a:ea typeface="宋体" charset="-122"/>
                <a:cs typeface="Times New Roman" pitchFamily="18" charset="0"/>
              </a:rPr>
              <a:t>MOS</a:t>
            </a:r>
            <a:r>
              <a:rPr kumimoji="1" lang="zh-CN" altLang="en-US" sz="2400" b="1" dirty="0" smtClean="0">
                <a:solidFill>
                  <a:srgbClr val="000000"/>
                </a:solidFill>
                <a:effectLst>
                  <a:outerShdw blurRad="38100" dist="38100" dir="2700000" algn="tl">
                    <a:srgbClr val="C0C0C0"/>
                  </a:outerShdw>
                </a:effectLst>
                <a:latin typeface="Times New Roman" pitchFamily="18" charset="0"/>
                <a:ea typeface="宋体" charset="-122"/>
                <a:cs typeface="Times New Roman" pitchFamily="18" charset="0"/>
              </a:rPr>
              <a:t>结构在不同栅压下，存在：</a:t>
            </a:r>
            <a:endParaRPr kumimoji="1" lang="en-US" altLang="zh-CN" sz="2400" b="1" dirty="0" smtClean="0">
              <a:solidFill>
                <a:srgbClr val="000000"/>
              </a:solidFill>
              <a:effectLst>
                <a:outerShdw blurRad="38100" dist="38100" dir="2700000" algn="tl">
                  <a:srgbClr val="C0C0C0"/>
                </a:outerShdw>
              </a:effectLst>
              <a:latin typeface="Times New Roman" pitchFamily="18" charset="0"/>
              <a:ea typeface="宋体" charset="-122"/>
              <a:cs typeface="Times New Roman" pitchFamily="18" charset="0"/>
            </a:endParaRPr>
          </a:p>
          <a:p>
            <a:pPr marL="342900" indent="-342900" defTabSz="914400" eaLnBrk="0" fontAlgn="base" hangingPunct="0">
              <a:lnSpc>
                <a:spcPct val="120000"/>
              </a:lnSpc>
              <a:spcAft>
                <a:spcPct val="0"/>
              </a:spcAft>
              <a:buFont typeface="Arial" pitchFamily="34" charset="0"/>
              <a:buChar char="•"/>
            </a:pPr>
            <a:r>
              <a:rPr kumimoji="1" lang="zh-CN" altLang="en-US" sz="2400" b="1" dirty="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平带、</a:t>
            </a:r>
            <a:r>
              <a:rPr kumimoji="1" lang="zh-CN" altLang="en-US"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积累、耗尽、反型（弱反型、强反型）状态</a:t>
            </a:r>
            <a:endParaRPr kumimoji="1" lang="en-US" altLang="zh-CN"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endParaRPr>
          </a:p>
          <a:p>
            <a:pPr marL="342900" indent="-342900" defTabSz="914400" eaLnBrk="0" fontAlgn="base" hangingPunct="0">
              <a:lnSpc>
                <a:spcPct val="120000"/>
              </a:lnSpc>
              <a:spcAft>
                <a:spcPct val="0"/>
              </a:spcAft>
              <a:buFont typeface="Arial" pitchFamily="34" charset="0"/>
              <a:buChar char="•"/>
            </a:pPr>
            <a:r>
              <a:rPr kumimoji="1" lang="zh-CN" altLang="en-US"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不同状态下半导体表面势不同</a:t>
            </a:r>
            <a:endParaRPr kumimoji="1" lang="en-US" altLang="zh-CN"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endParaRPr>
          </a:p>
          <a:p>
            <a:pPr defTabSz="914400" eaLnBrk="0" fontAlgn="base" hangingPunct="0">
              <a:lnSpc>
                <a:spcPct val="120000"/>
              </a:lnSpc>
              <a:spcAft>
                <a:spcPct val="0"/>
              </a:spcAft>
            </a:pPr>
            <a:r>
              <a:rPr kumimoji="1" lang="zh-CN" altLang="en-US" sz="2400" b="1" dirty="0" smtClean="0">
                <a:solidFill>
                  <a:srgbClr val="000000"/>
                </a:solidFill>
                <a:effectLst>
                  <a:outerShdw blurRad="38100" dist="38100" dir="2700000" algn="tl">
                    <a:srgbClr val="C0C0C0"/>
                  </a:outerShdw>
                </a:effectLst>
                <a:latin typeface="Times New Roman" pitchFamily="18" charset="0"/>
                <a:ea typeface="宋体" charset="-122"/>
                <a:cs typeface="Times New Roman" pitchFamily="18" charset="0"/>
              </a:rPr>
              <a:t>电荷与表面势满足：</a:t>
            </a:r>
            <a:endParaRPr kumimoji="1" lang="zh-CN" altLang="en-US" sz="2400" b="1" dirty="0">
              <a:solidFill>
                <a:srgbClr val="000000"/>
              </a:solidFill>
              <a:effectLst>
                <a:outerShdw blurRad="38100" dist="38100" dir="2700000" algn="tl">
                  <a:srgbClr val="C0C0C0"/>
                </a:outerShdw>
              </a:effectLst>
              <a:latin typeface="Times New Roman" pitchFamily="18" charset="0"/>
              <a:ea typeface="宋体" charset="-122"/>
              <a:cs typeface="Times New Roman" pitchFamily="18" charset="0"/>
            </a:endParaRPr>
          </a:p>
        </p:txBody>
      </p:sp>
      <p:pic>
        <p:nvPicPr>
          <p:cNvPr id="7"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1609" y="627045"/>
            <a:ext cx="4481951" cy="165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44427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b="1" smtClean="0">
                <a:latin typeface="Times New Roman" panose="02020603050405020304" pitchFamily="18" charset="0"/>
                <a:ea typeface="宋体" panose="02010600030101010101" pitchFamily="2" charset="-122"/>
                <a:cs typeface="Times New Roman" panose="02020603050405020304" pitchFamily="18" charset="0"/>
              </a:rPr>
              <a:t>10</a:t>
            </a:fld>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 name="Object 2"/>
          <p:cNvGraphicFramePr>
            <a:graphicFrameLocks noChangeAspect="1"/>
          </p:cNvGraphicFramePr>
          <p:nvPr>
            <p:extLst/>
          </p:nvPr>
        </p:nvGraphicFramePr>
        <p:xfrm>
          <a:off x="611188" y="1314450"/>
          <a:ext cx="7291387" cy="908050"/>
        </p:xfrm>
        <a:graphic>
          <a:graphicData uri="http://schemas.openxmlformats.org/presentationml/2006/ole">
            <mc:AlternateContent xmlns:mc="http://schemas.openxmlformats.org/markup-compatibility/2006">
              <mc:Choice xmlns:v="urn:schemas-microsoft-com:vml" Requires="v">
                <p:oleObj spid="_x0000_s242814" name="公式" r:id="rId3" imgW="2260600" imgH="241300" progId="Equation.3">
                  <p:embed/>
                </p:oleObj>
              </mc:Choice>
              <mc:Fallback>
                <p:oleObj name="公式" r:id="rId3" imgW="2260600" imgH="241300" progId="Equation.3">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314450"/>
                        <a:ext cx="7291387"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2"/>
          <p:cNvSpPr txBox="1">
            <a:spLocks noChangeArrowheads="1"/>
          </p:cNvSpPr>
          <p:nvPr/>
        </p:nvSpPr>
        <p:spPr bwMode="auto">
          <a:xfrm>
            <a:off x="476250" y="2844800"/>
            <a:ext cx="7470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lang="en-US" altLang="zh-CN" sz="2400" b="1" smtClean="0">
                <a:solidFill>
                  <a:prstClr val="black"/>
                </a:solidFill>
                <a:latin typeface="Times New Roman" panose="02020603050405020304" pitchFamily="18" charset="0"/>
                <a:cs typeface="Times New Roman" panose="02020603050405020304" pitchFamily="18" charset="0"/>
              </a:rPr>
              <a:t>P</a:t>
            </a:r>
            <a:r>
              <a:rPr lang="zh-CN" altLang="en-US" sz="2400" b="1" smtClean="0">
                <a:solidFill>
                  <a:prstClr val="black"/>
                </a:solidFill>
                <a:latin typeface="Times New Roman" panose="02020603050405020304" pitchFamily="18" charset="0"/>
                <a:cs typeface="Times New Roman" panose="02020603050405020304" pitchFamily="18" charset="0"/>
              </a:rPr>
              <a:t>型半导体：       </a:t>
            </a:r>
            <a:r>
              <a:rPr lang="en-US" altLang="zh-CN" sz="2400" b="1" smtClean="0">
                <a:solidFill>
                  <a:prstClr val="black"/>
                </a:solidFill>
                <a:latin typeface="Times New Roman" panose="02020603050405020304" pitchFamily="18" charset="0"/>
                <a:cs typeface="Times New Roman" panose="02020603050405020304" pitchFamily="18" charset="0"/>
              </a:rPr>
              <a:t> p</a:t>
            </a:r>
            <a:r>
              <a:rPr lang="en-US" altLang="zh-CN" sz="2400" b="1" baseline="-25000" smtClean="0">
                <a:solidFill>
                  <a:prstClr val="black"/>
                </a:solidFill>
                <a:latin typeface="Times New Roman" panose="02020603050405020304" pitchFamily="18" charset="0"/>
                <a:cs typeface="Times New Roman" panose="02020603050405020304" pitchFamily="18" charset="0"/>
              </a:rPr>
              <a:t>0</a:t>
            </a:r>
            <a:r>
              <a:rPr lang="en-US" altLang="zh-CN" sz="2400" b="1" smtClean="0">
                <a:solidFill>
                  <a:prstClr val="black"/>
                </a:solidFill>
                <a:latin typeface="Times New Roman" panose="02020603050405020304" pitchFamily="18" charset="0"/>
                <a:cs typeface="Times New Roman" panose="02020603050405020304" pitchFamily="18" charset="0"/>
              </a:rPr>
              <a:t>&gt;&gt;n</a:t>
            </a:r>
            <a:r>
              <a:rPr lang="en-US" altLang="zh-CN" sz="2400" b="1" baseline="-25000" smtClean="0">
                <a:solidFill>
                  <a:prstClr val="black"/>
                </a:solidFill>
                <a:latin typeface="Times New Roman" panose="02020603050405020304" pitchFamily="18" charset="0"/>
                <a:cs typeface="Times New Roman" panose="02020603050405020304" pitchFamily="18" charset="0"/>
              </a:rPr>
              <a:t>0</a:t>
            </a:r>
          </a:p>
        </p:txBody>
      </p:sp>
      <p:graphicFrame>
        <p:nvGraphicFramePr>
          <p:cNvPr id="5" name="Object 3"/>
          <p:cNvGraphicFramePr>
            <a:graphicFrameLocks noChangeAspect="1"/>
          </p:cNvGraphicFramePr>
          <p:nvPr>
            <p:extLst/>
          </p:nvPr>
        </p:nvGraphicFramePr>
        <p:xfrm>
          <a:off x="3311525" y="3609975"/>
          <a:ext cx="5291138" cy="658813"/>
        </p:xfrm>
        <a:graphic>
          <a:graphicData uri="http://schemas.openxmlformats.org/presentationml/2006/ole">
            <mc:AlternateContent xmlns:mc="http://schemas.openxmlformats.org/markup-compatibility/2006">
              <mc:Choice xmlns:v="urn:schemas-microsoft-com:vml" Requires="v">
                <p:oleObj spid="_x0000_s242815" name="公式" r:id="rId5" imgW="2260600" imgH="241300" progId="Equation.3">
                  <p:embed/>
                </p:oleObj>
              </mc:Choice>
              <mc:Fallback>
                <p:oleObj name="公式" r:id="rId5" imgW="2260600" imgH="241300" progId="Equation.3">
                  <p:embed/>
                  <p:pic>
                    <p:nvPicPr>
                      <p:cNvPr id="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1525" y="3609975"/>
                        <a:ext cx="5291138"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直接连接符 8"/>
          <p:cNvCxnSpPr/>
          <p:nvPr/>
        </p:nvCxnSpPr>
        <p:spPr>
          <a:xfrm>
            <a:off x="6056313" y="4914900"/>
            <a:ext cx="2339975" cy="0"/>
          </a:xfrm>
          <a:prstGeom prst="line">
            <a:avLst/>
          </a:prstGeom>
          <a:noFill/>
          <a:ln w="57150" cap="flat" cmpd="sng" algn="ctr">
            <a:solidFill>
              <a:srgbClr val="FF0000"/>
            </a:solidFill>
            <a:prstDash val="solid"/>
          </a:ln>
          <a:effectLst/>
        </p:spPr>
      </p:cxnSp>
      <p:graphicFrame>
        <p:nvGraphicFramePr>
          <p:cNvPr id="7" name="Object 4"/>
          <p:cNvGraphicFramePr>
            <a:graphicFrameLocks noChangeAspect="1"/>
          </p:cNvGraphicFramePr>
          <p:nvPr>
            <p:extLst/>
          </p:nvPr>
        </p:nvGraphicFramePr>
        <p:xfrm>
          <a:off x="3267075" y="4554538"/>
          <a:ext cx="5289550" cy="660400"/>
        </p:xfrm>
        <a:graphic>
          <a:graphicData uri="http://schemas.openxmlformats.org/presentationml/2006/ole">
            <mc:AlternateContent xmlns:mc="http://schemas.openxmlformats.org/markup-compatibility/2006">
              <mc:Choice xmlns:v="urn:schemas-microsoft-com:vml" Requires="v">
                <p:oleObj spid="_x0000_s242816" name="公式" r:id="rId7" imgW="2260600" imgH="241300" progId="Equation.3">
                  <p:embed/>
                </p:oleObj>
              </mc:Choice>
              <mc:Fallback>
                <p:oleObj name="公式" r:id="rId7" imgW="2260600" imgH="241300" progId="Equation.3">
                  <p:embed/>
                  <p:pic>
                    <p:nvPicPr>
                      <p:cNvPr id="7"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4554538"/>
                        <a:ext cx="52895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extLst/>
          </p:nvPr>
        </p:nvGraphicFramePr>
        <p:xfrm>
          <a:off x="3267075" y="5454650"/>
          <a:ext cx="5289550" cy="660400"/>
        </p:xfrm>
        <a:graphic>
          <a:graphicData uri="http://schemas.openxmlformats.org/presentationml/2006/ole">
            <mc:AlternateContent xmlns:mc="http://schemas.openxmlformats.org/markup-compatibility/2006">
              <mc:Choice xmlns:v="urn:schemas-microsoft-com:vml" Requires="v">
                <p:oleObj spid="_x0000_s242817" name="公式" r:id="rId8" imgW="2260600" imgH="241300" progId="Equation.3">
                  <p:embed/>
                </p:oleObj>
              </mc:Choice>
              <mc:Fallback>
                <p:oleObj name="公式" r:id="rId8" imgW="2260600" imgH="241300" progId="Equation.3">
                  <p:embed/>
                  <p:pic>
                    <p:nvPicPr>
                      <p:cNvPr id="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5454650"/>
                        <a:ext cx="52895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9" name="直接连接符 14"/>
          <p:cNvCxnSpPr/>
          <p:nvPr/>
        </p:nvCxnSpPr>
        <p:spPr>
          <a:xfrm>
            <a:off x="5695950" y="3970338"/>
            <a:ext cx="2700338" cy="0"/>
          </a:xfrm>
          <a:prstGeom prst="line">
            <a:avLst/>
          </a:prstGeom>
          <a:noFill/>
          <a:ln w="57150" cap="flat" cmpd="sng" algn="ctr">
            <a:solidFill>
              <a:srgbClr val="FF0000"/>
            </a:solidFill>
            <a:prstDash val="solid"/>
          </a:ln>
          <a:effectLst/>
        </p:spPr>
      </p:cxnSp>
      <p:cxnSp>
        <p:nvCxnSpPr>
          <p:cNvPr id="10" name="直接连接符 16"/>
          <p:cNvCxnSpPr/>
          <p:nvPr/>
        </p:nvCxnSpPr>
        <p:spPr>
          <a:xfrm>
            <a:off x="4886325" y="4914900"/>
            <a:ext cx="495300" cy="0"/>
          </a:xfrm>
          <a:prstGeom prst="line">
            <a:avLst/>
          </a:prstGeom>
          <a:noFill/>
          <a:ln w="57150" cap="flat" cmpd="sng" algn="ctr">
            <a:solidFill>
              <a:srgbClr val="FF0000"/>
            </a:solidFill>
            <a:prstDash val="solid"/>
          </a:ln>
          <a:effectLst/>
        </p:spPr>
      </p:cxnSp>
      <p:cxnSp>
        <p:nvCxnSpPr>
          <p:cNvPr id="11" name="直接连接符 10"/>
          <p:cNvCxnSpPr/>
          <p:nvPr/>
        </p:nvCxnSpPr>
        <p:spPr>
          <a:xfrm>
            <a:off x="4437063" y="5815013"/>
            <a:ext cx="1979612" cy="0"/>
          </a:xfrm>
          <a:prstGeom prst="line">
            <a:avLst/>
          </a:prstGeom>
          <a:noFill/>
          <a:ln w="57150" cap="flat" cmpd="sng" algn="ctr">
            <a:solidFill>
              <a:srgbClr val="FF0000"/>
            </a:solidFill>
            <a:prstDash val="solid"/>
          </a:ln>
          <a:effectLst/>
        </p:spPr>
      </p:cxnSp>
      <p:cxnSp>
        <p:nvCxnSpPr>
          <p:cNvPr id="12" name="直接连接符 20"/>
          <p:cNvCxnSpPr/>
          <p:nvPr/>
        </p:nvCxnSpPr>
        <p:spPr>
          <a:xfrm>
            <a:off x="7407275" y="5811838"/>
            <a:ext cx="989013" cy="3175"/>
          </a:xfrm>
          <a:prstGeom prst="line">
            <a:avLst/>
          </a:prstGeom>
          <a:noFill/>
          <a:ln w="57150" cap="flat" cmpd="sng" algn="ctr">
            <a:solidFill>
              <a:srgbClr val="FF0000"/>
            </a:solidFill>
            <a:prstDash val="solid"/>
          </a:ln>
          <a:effectLst/>
        </p:spPr>
      </p:cxnSp>
      <p:cxnSp>
        <p:nvCxnSpPr>
          <p:cNvPr id="13" name="直接连接符 22"/>
          <p:cNvCxnSpPr/>
          <p:nvPr/>
        </p:nvCxnSpPr>
        <p:spPr>
          <a:xfrm>
            <a:off x="4930775" y="4240213"/>
            <a:ext cx="450850" cy="0"/>
          </a:xfrm>
          <a:prstGeom prst="line">
            <a:avLst/>
          </a:prstGeom>
          <a:noFill/>
          <a:ln w="57150" cap="flat" cmpd="sng" algn="ctr">
            <a:solidFill>
              <a:srgbClr val="92D050"/>
            </a:solidFill>
            <a:prstDash val="solid"/>
          </a:ln>
          <a:effectLst/>
        </p:spPr>
      </p:cxnSp>
      <p:cxnSp>
        <p:nvCxnSpPr>
          <p:cNvPr id="14" name="直接连接符 24"/>
          <p:cNvCxnSpPr/>
          <p:nvPr/>
        </p:nvCxnSpPr>
        <p:spPr>
          <a:xfrm>
            <a:off x="5472113" y="5230813"/>
            <a:ext cx="449262" cy="0"/>
          </a:xfrm>
          <a:prstGeom prst="line">
            <a:avLst/>
          </a:prstGeom>
          <a:noFill/>
          <a:ln w="57150" cap="flat" cmpd="sng" algn="ctr">
            <a:solidFill>
              <a:srgbClr val="92D050"/>
            </a:solidFill>
            <a:prstDash val="solid"/>
          </a:ln>
          <a:effectLst/>
        </p:spPr>
      </p:cxnSp>
      <p:cxnSp>
        <p:nvCxnSpPr>
          <p:cNvPr id="15" name="直接连接符 25"/>
          <p:cNvCxnSpPr/>
          <p:nvPr/>
        </p:nvCxnSpPr>
        <p:spPr>
          <a:xfrm>
            <a:off x="7002463" y="6175375"/>
            <a:ext cx="449262" cy="0"/>
          </a:xfrm>
          <a:prstGeom prst="line">
            <a:avLst/>
          </a:prstGeom>
          <a:noFill/>
          <a:ln w="57150" cap="flat" cmpd="sng" algn="ctr">
            <a:solidFill>
              <a:srgbClr val="92D050"/>
            </a:solidFill>
            <a:prstDash val="solid"/>
          </a:ln>
          <a:effectLst/>
        </p:spPr>
      </p:cxnSp>
      <p:sp>
        <p:nvSpPr>
          <p:cNvPr id="16" name="TextBox 15"/>
          <p:cNvSpPr txBox="1">
            <a:spLocks noChangeArrowheads="1"/>
          </p:cNvSpPr>
          <p:nvPr/>
        </p:nvSpPr>
        <p:spPr bwMode="auto">
          <a:xfrm>
            <a:off x="495300" y="3654425"/>
            <a:ext cx="7470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lang="zh-CN" altLang="en-US" sz="2400" b="1" smtClean="0">
                <a:solidFill>
                  <a:prstClr val="black"/>
                </a:solidFill>
                <a:latin typeface="Times New Roman" panose="02020603050405020304" pitchFamily="18" charset="0"/>
                <a:cs typeface="Times New Roman" panose="02020603050405020304" pitchFamily="18" charset="0"/>
              </a:rPr>
              <a:t>积累区：</a:t>
            </a:r>
            <a:r>
              <a:rPr lang="en-US" altLang="zh-CN" sz="2400" b="1" i="1" smtClean="0">
                <a:solidFill>
                  <a:prstClr val="black"/>
                </a:solidFill>
                <a:latin typeface="Times New Roman" panose="02020603050405020304" pitchFamily="18" charset="0"/>
                <a:cs typeface="Times New Roman" panose="02020603050405020304" pitchFamily="18" charset="0"/>
              </a:rPr>
              <a:t>u&lt;</a:t>
            </a:r>
            <a:r>
              <a:rPr lang="en-US" altLang="zh-CN" sz="2400" b="1" smtClean="0">
                <a:solidFill>
                  <a:prstClr val="black"/>
                </a:solidFill>
                <a:latin typeface="Times New Roman" panose="02020603050405020304" pitchFamily="18" charset="0"/>
                <a:cs typeface="Times New Roman" panose="02020603050405020304" pitchFamily="18" charset="0"/>
              </a:rPr>
              <a:t>&lt;0   </a:t>
            </a:r>
          </a:p>
        </p:txBody>
      </p:sp>
      <p:sp>
        <p:nvSpPr>
          <p:cNvPr id="17" name="TextBox 17"/>
          <p:cNvSpPr txBox="1">
            <a:spLocks noChangeArrowheads="1"/>
          </p:cNvSpPr>
          <p:nvPr/>
        </p:nvSpPr>
        <p:spPr bwMode="auto">
          <a:xfrm>
            <a:off x="520700" y="4616450"/>
            <a:ext cx="7470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lang="zh-CN" altLang="en-US" sz="2400" b="1" smtClean="0">
                <a:solidFill>
                  <a:prstClr val="black"/>
                </a:solidFill>
                <a:latin typeface="Times New Roman" panose="02020603050405020304" pitchFamily="18" charset="0"/>
                <a:cs typeface="Times New Roman" panose="02020603050405020304" pitchFamily="18" charset="0"/>
              </a:rPr>
              <a:t>耗尽区：</a:t>
            </a:r>
            <a:r>
              <a:rPr lang="en-US" altLang="zh-CN" sz="2400" b="1" i="1" smtClean="0">
                <a:solidFill>
                  <a:prstClr val="black"/>
                </a:solidFill>
                <a:latin typeface="Times New Roman" panose="02020603050405020304" pitchFamily="18" charset="0"/>
                <a:cs typeface="Times New Roman" panose="02020603050405020304" pitchFamily="18" charset="0"/>
              </a:rPr>
              <a:t>u</a:t>
            </a:r>
            <a:r>
              <a:rPr lang="en-US" altLang="zh-CN" sz="2400" b="1" smtClean="0">
                <a:solidFill>
                  <a:prstClr val="black"/>
                </a:solidFill>
                <a:latin typeface="Times New Roman" panose="02020603050405020304" pitchFamily="18" charset="0"/>
                <a:cs typeface="Times New Roman" panose="02020603050405020304" pitchFamily="18" charset="0"/>
              </a:rPr>
              <a:t>&gt;0</a:t>
            </a:r>
          </a:p>
        </p:txBody>
      </p:sp>
      <p:sp>
        <p:nvSpPr>
          <p:cNvPr id="18" name="TextBox 19"/>
          <p:cNvSpPr txBox="1">
            <a:spLocks noChangeArrowheads="1"/>
          </p:cNvSpPr>
          <p:nvPr/>
        </p:nvSpPr>
        <p:spPr bwMode="auto">
          <a:xfrm>
            <a:off x="520700" y="5472113"/>
            <a:ext cx="7470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lang="zh-CN" altLang="en-US" sz="2400" b="1" smtClean="0">
                <a:solidFill>
                  <a:prstClr val="black"/>
                </a:solidFill>
                <a:latin typeface="Times New Roman" panose="02020603050405020304" pitchFamily="18" charset="0"/>
                <a:cs typeface="Times New Roman" panose="02020603050405020304" pitchFamily="18" charset="0"/>
              </a:rPr>
              <a:t>强反型：</a:t>
            </a:r>
            <a:r>
              <a:rPr lang="en-US" altLang="zh-CN" sz="2400" b="1" smtClean="0">
                <a:solidFill>
                  <a:prstClr val="black"/>
                </a:solidFill>
                <a:latin typeface="Times New Roman" panose="02020603050405020304" pitchFamily="18" charset="0"/>
                <a:cs typeface="Times New Roman" panose="02020603050405020304" pitchFamily="18" charset="0"/>
              </a:rPr>
              <a:t>u&gt;&gt;0</a:t>
            </a:r>
            <a:endParaRPr lang="zh-CN" altLang="en-US" sz="2400" b="1" smtClean="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1504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11</a:t>
            </a:fld>
            <a:endParaRPr lang="zh-CN" altLang="en-US"/>
          </a:p>
        </p:txBody>
      </p:sp>
      <p:grpSp>
        <p:nvGrpSpPr>
          <p:cNvPr id="3" name="Group 43"/>
          <p:cNvGrpSpPr>
            <a:grpSpLocks/>
          </p:cNvGrpSpPr>
          <p:nvPr/>
        </p:nvGrpSpPr>
        <p:grpSpPr bwMode="auto">
          <a:xfrm>
            <a:off x="4549117" y="2932049"/>
            <a:ext cx="4321175" cy="2897188"/>
            <a:chOff x="192" y="939"/>
            <a:chExt cx="2892" cy="1992"/>
          </a:xfrm>
        </p:grpSpPr>
        <p:pic>
          <p:nvPicPr>
            <p:cNvPr id="4" name="Picture 44"/>
            <p:cNvPicPr>
              <a:picLocks noChangeAspect="1" noChangeArrowheads="1"/>
            </p:cNvPicPr>
            <p:nvPr/>
          </p:nvPicPr>
          <p:blipFill>
            <a:blip r:embed="rId3">
              <a:extLst>
                <a:ext uri="{28A0092B-C50C-407E-A947-70E740481C1C}">
                  <a14:useLocalDpi xmlns:a14="http://schemas.microsoft.com/office/drawing/2010/main" val="0"/>
                </a:ext>
              </a:extLst>
            </a:blip>
            <a:srcRect b="41618"/>
            <a:stretch>
              <a:fillRect/>
            </a:stretch>
          </p:blipFill>
          <p:spPr bwMode="auto">
            <a:xfrm>
              <a:off x="192" y="939"/>
              <a:ext cx="2892" cy="1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 y="2750"/>
              <a:ext cx="1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Text Box 15"/>
          <p:cNvSpPr txBox="1">
            <a:spLocks noChangeArrowheads="1"/>
          </p:cNvSpPr>
          <p:nvPr/>
        </p:nvSpPr>
        <p:spPr bwMode="auto">
          <a:xfrm>
            <a:off x="444859" y="1523986"/>
            <a:ext cx="6351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、积累</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情形，硅中的费米能级依然是常数</a:t>
            </a:r>
          </a:p>
        </p:txBody>
      </p:sp>
      <p:grpSp>
        <p:nvGrpSpPr>
          <p:cNvPr id="7" name="Group 25"/>
          <p:cNvGrpSpPr>
            <a:grpSpLocks/>
          </p:cNvGrpSpPr>
          <p:nvPr/>
        </p:nvGrpSpPr>
        <p:grpSpPr bwMode="auto">
          <a:xfrm>
            <a:off x="286109" y="1935149"/>
            <a:ext cx="7439025" cy="508000"/>
            <a:chOff x="298" y="2102"/>
            <a:chExt cx="4686" cy="320"/>
          </a:xfrm>
        </p:grpSpPr>
        <p:graphicFrame>
          <p:nvGraphicFramePr>
            <p:cNvPr id="8" name="Object 26"/>
            <p:cNvGraphicFramePr>
              <a:graphicFrameLocks noChangeAspect="1"/>
            </p:cNvGraphicFramePr>
            <p:nvPr/>
          </p:nvGraphicFramePr>
          <p:xfrm>
            <a:off x="683" y="2127"/>
            <a:ext cx="1040" cy="288"/>
          </p:xfrm>
          <a:graphic>
            <a:graphicData uri="http://schemas.openxmlformats.org/presentationml/2006/ole">
              <mc:AlternateContent xmlns:mc="http://schemas.openxmlformats.org/markup-compatibility/2006">
                <mc:Choice xmlns:v="urn:schemas-microsoft-com:vml" Requires="v">
                  <p:oleObj spid="_x0000_s178298" name="Equation" r:id="rId5" imgW="825500" imgH="228600" progId="Equation.DSMT4">
                    <p:embed/>
                  </p:oleObj>
                </mc:Choice>
                <mc:Fallback>
                  <p:oleObj name="Equation" r:id="rId5" imgW="825500" imgH="228600" progId="Equation.DSMT4">
                    <p:embed/>
                    <p:pic>
                      <p:nvPicPr>
                        <p:cNvPr id="15368"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 y="2127"/>
                          <a:ext cx="10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27"/>
            <p:cNvSpPr txBox="1">
              <a:spLocks noChangeArrowheads="1"/>
            </p:cNvSpPr>
            <p:nvPr/>
          </p:nvSpPr>
          <p:spPr bwMode="auto">
            <a:xfrm>
              <a:off x="298" y="2113"/>
              <a:ext cx="4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当</a:t>
              </a:r>
            </a:p>
          </p:txBody>
        </p:sp>
        <p:sp>
          <p:nvSpPr>
            <p:cNvPr id="10" name="Text Box 28"/>
            <p:cNvSpPr txBox="1">
              <a:spLocks noChangeArrowheads="1"/>
            </p:cNvSpPr>
            <p:nvPr/>
          </p:nvSpPr>
          <p:spPr bwMode="auto">
            <a:xfrm>
              <a:off x="1783" y="2106"/>
              <a:ext cx="21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积累电荷密度正比于</a:t>
              </a:r>
            </a:p>
          </p:txBody>
        </p:sp>
        <p:graphicFrame>
          <p:nvGraphicFramePr>
            <p:cNvPr id="11" name="Object 29"/>
            <p:cNvGraphicFramePr>
              <a:graphicFrameLocks noChangeAspect="1"/>
            </p:cNvGraphicFramePr>
            <p:nvPr/>
          </p:nvGraphicFramePr>
          <p:xfrm>
            <a:off x="3640" y="2102"/>
            <a:ext cx="1344" cy="320"/>
          </p:xfrm>
          <a:graphic>
            <a:graphicData uri="http://schemas.openxmlformats.org/presentationml/2006/ole">
              <mc:AlternateContent xmlns:mc="http://schemas.openxmlformats.org/markup-compatibility/2006">
                <mc:Choice xmlns:v="urn:schemas-microsoft-com:vml" Requires="v">
                  <p:oleObj spid="_x0000_s178299" name="Equation" r:id="rId7" imgW="1066337" imgH="253890" progId="Equation.DSMT4">
                    <p:embed/>
                  </p:oleObj>
                </mc:Choice>
                <mc:Fallback>
                  <p:oleObj name="Equation" r:id="rId7" imgW="1066337" imgH="253890" progId="Equation.DSMT4">
                    <p:embed/>
                    <p:pic>
                      <p:nvPicPr>
                        <p:cNvPr id="15371"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0" y="2102"/>
                          <a:ext cx="1344" cy="3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 name="Text Box 42"/>
          <p:cNvSpPr txBox="1">
            <a:spLocks noChangeArrowheads="1"/>
          </p:cNvSpPr>
          <p:nvPr/>
        </p:nvSpPr>
        <p:spPr bwMode="auto">
          <a:xfrm>
            <a:off x="286109" y="2942269"/>
            <a:ext cx="4252913"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marL="342900" indent="-342900"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342900" marR="0" lvl="0" indent="-342900" defTabSz="914400" eaLnBrk="0" fontAlgn="base" latinLnBrk="0" hangingPunct="0">
              <a:lnSpc>
                <a:spcPct val="100000"/>
              </a:lnSpc>
              <a:spcBef>
                <a:spcPts val="500"/>
              </a:spcBef>
              <a:spcAft>
                <a:spcPct val="0"/>
              </a:spcAft>
              <a:buClrTx/>
              <a:buSzTx/>
              <a:buFont typeface="Wingdings" pitchFamily="2" charset="2"/>
              <a:buChar char="ü"/>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空穴积累时，空穴表面浓度大于体内浓度</a:t>
            </a:r>
          </a:p>
          <a:p>
            <a:pPr marL="342900" marR="0" lvl="0" indent="-342900" defTabSz="914400" eaLnBrk="0" fontAlgn="base" latinLnBrk="0" hangingPunct="0">
              <a:lnSpc>
                <a:spcPct val="100000"/>
              </a:lnSpc>
              <a:spcBef>
                <a:spcPts val="500"/>
              </a:spcBef>
              <a:spcAft>
                <a:spcPct val="0"/>
              </a:spcAft>
              <a:buClrTx/>
              <a:buSzTx/>
              <a:buFont typeface="Wingdings" pitchFamily="2" charset="2"/>
              <a:buChar char="ü"/>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硅表面处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V</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靠近 </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f</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，能带向上弯曲</a:t>
            </a:r>
          </a:p>
          <a:p>
            <a:pPr marL="342900" marR="0" lvl="0" indent="-342900" defTabSz="914400" eaLnBrk="0" fontAlgn="base" latinLnBrk="0" hangingPunct="0">
              <a:lnSpc>
                <a:spcPct val="100000"/>
              </a:lnSpc>
              <a:spcBef>
                <a:spcPts val="500"/>
              </a:spcBef>
              <a:spcAft>
                <a:spcPct val="0"/>
              </a:spcAft>
              <a:buClrTx/>
              <a:buSzTx/>
              <a:buFont typeface="Wingdings" pitchFamily="2" charset="2"/>
              <a:buChar char="ü"/>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空穴分布在硅表面很窄的德拜长度内，可近似看成薄层电荷，这一情形和平行板电容相似 </a:t>
            </a:r>
          </a:p>
        </p:txBody>
      </p:sp>
      <p:sp>
        <p:nvSpPr>
          <p:cNvPr id="13" name="TextBox 1"/>
          <p:cNvSpPr txBox="1"/>
          <p:nvPr/>
        </p:nvSpPr>
        <p:spPr bwMode="auto">
          <a:xfrm>
            <a:off x="444859" y="2415244"/>
            <a:ext cx="4896346" cy="461665"/>
          </a:xfrm>
          <a:prstGeom prst="rect">
            <a:avLst/>
          </a:prstGeom>
          <a:noFill/>
          <a:ln w="12700" cap="sq">
            <a:noFill/>
            <a:miter lim="800000"/>
            <a:headEnd type="none" w="sm" len="sm"/>
            <a:tailEnd type="none" w="sm" len="sm"/>
          </a:ln>
          <a:effectLst/>
        </p:spPr>
        <p:txBody>
          <a:bodyPr wrap="square" rtlCol="0">
            <a:spAutoFit/>
          </a:bodyPr>
          <a:lstStyle/>
          <a:p>
            <a:pPr defTabSz="914400" eaLnBrk="0" fontAlgn="base" hangingPunct="0">
              <a:spcAft>
                <a:spcPct val="0"/>
              </a:spcAft>
            </a:pPr>
            <a:r>
              <a:rPr kumimoji="1" lang="zh-CN" altLang="en-US" sz="2400" b="1" dirty="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电荷分布在</a:t>
            </a:r>
            <a:r>
              <a:rPr kumimoji="1" lang="en-US" altLang="zh-CN"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Si</a:t>
            </a:r>
            <a:r>
              <a:rPr kumimoji="1" lang="zh-CN" altLang="en-US"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表面很薄的范围内</a:t>
            </a:r>
            <a:endParaRPr kumimoji="1" lang="zh-CN" altLang="en-US" sz="2400" b="1" dirty="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endParaRPr>
          </a:p>
        </p:txBody>
      </p:sp>
      <p:sp>
        <p:nvSpPr>
          <p:cNvPr id="14" name="Text Box 15"/>
          <p:cNvSpPr txBox="1">
            <a:spLocks noChangeArrowheads="1"/>
          </p:cNvSpPr>
          <p:nvPr/>
        </p:nvSpPr>
        <p:spPr bwMode="auto">
          <a:xfrm>
            <a:off x="444859" y="903076"/>
            <a:ext cx="67685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1</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、平带情形，表面势为</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0</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，表面电荷密度也为</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0</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Tree>
    <p:extLst>
      <p:ext uri="{BB962C8B-B14F-4D97-AF65-F5344CB8AC3E}">
        <p14:creationId xmlns:p14="http://schemas.microsoft.com/office/powerpoint/2010/main" val="290082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12</a:t>
            </a:fld>
            <a:endParaRPr lang="zh-CN" altLang="en-US"/>
          </a:p>
        </p:txBody>
      </p:sp>
      <p:graphicFrame>
        <p:nvGraphicFramePr>
          <p:cNvPr id="3" name="Object 18"/>
          <p:cNvGraphicFramePr>
            <a:graphicFrameLocks noChangeAspect="1"/>
          </p:cNvGraphicFramePr>
          <p:nvPr>
            <p:extLst>
              <p:ext uri="{D42A27DB-BD31-4B8C-83A1-F6EECF244321}">
                <p14:modId xmlns:p14="http://schemas.microsoft.com/office/powerpoint/2010/main" val="17395820"/>
              </p:ext>
            </p:extLst>
          </p:nvPr>
        </p:nvGraphicFramePr>
        <p:xfrm>
          <a:off x="2087564" y="359539"/>
          <a:ext cx="889000" cy="457200"/>
        </p:xfrm>
        <a:graphic>
          <a:graphicData uri="http://schemas.openxmlformats.org/presentationml/2006/ole">
            <mc:AlternateContent xmlns:mc="http://schemas.openxmlformats.org/markup-compatibility/2006">
              <mc:Choice xmlns:v="urn:schemas-microsoft-com:vml" Requires="v">
                <p:oleObj spid="_x0000_s179812" name="Equation" r:id="rId3" imgW="444307" imgH="228501" progId="Equation.DSMT4">
                  <p:embed/>
                </p:oleObj>
              </mc:Choice>
              <mc:Fallback>
                <p:oleObj name="Equation" r:id="rId3" imgW="444307" imgH="228501" progId="Equation.DSMT4">
                  <p:embed/>
                  <p:pic>
                    <p:nvPicPr>
                      <p:cNvPr id="16386"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4" y="359539"/>
                        <a:ext cx="88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22"/>
          <p:cNvGraphicFramePr>
            <a:graphicFrameLocks noChangeAspect="1"/>
          </p:cNvGraphicFramePr>
          <p:nvPr>
            <p:extLst>
              <p:ext uri="{D42A27DB-BD31-4B8C-83A1-F6EECF244321}">
                <p14:modId xmlns:p14="http://schemas.microsoft.com/office/powerpoint/2010/main" val="4042468478"/>
              </p:ext>
            </p:extLst>
          </p:nvPr>
        </p:nvGraphicFramePr>
        <p:xfrm>
          <a:off x="2179457" y="1347642"/>
          <a:ext cx="558800" cy="482600"/>
        </p:xfrm>
        <a:graphic>
          <a:graphicData uri="http://schemas.openxmlformats.org/presentationml/2006/ole">
            <mc:AlternateContent xmlns:mc="http://schemas.openxmlformats.org/markup-compatibility/2006">
              <mc:Choice xmlns:v="urn:schemas-microsoft-com:vml" Requires="v">
                <p:oleObj spid="_x0000_s179813" name="Equation" r:id="rId5" imgW="279279" imgH="241195" progId="Equation.DSMT4">
                  <p:embed/>
                </p:oleObj>
              </mc:Choice>
              <mc:Fallback>
                <p:oleObj name="Equation" r:id="rId5" imgW="279279" imgH="241195" progId="Equation.DSMT4">
                  <p:embed/>
                  <p:pic>
                    <p:nvPicPr>
                      <p:cNvPr id="16387"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9457" y="1347642"/>
                        <a:ext cx="5588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31"/>
          <p:cNvSpPr txBox="1">
            <a:spLocks noChangeArrowheads="1"/>
          </p:cNvSpPr>
          <p:nvPr/>
        </p:nvSpPr>
        <p:spPr bwMode="auto">
          <a:xfrm>
            <a:off x="384474" y="351601"/>
            <a:ext cx="8352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3</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 耗尽</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时              </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                        表面势较小，                      </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graphicFrame>
        <p:nvGraphicFramePr>
          <p:cNvPr id="6" name="Object 33"/>
          <p:cNvGraphicFramePr>
            <a:graphicFrameLocks noChangeAspect="1"/>
          </p:cNvGraphicFramePr>
          <p:nvPr>
            <p:extLst>
              <p:ext uri="{D42A27DB-BD31-4B8C-83A1-F6EECF244321}">
                <p14:modId xmlns:p14="http://schemas.microsoft.com/office/powerpoint/2010/main" val="3085448143"/>
              </p:ext>
            </p:extLst>
          </p:nvPr>
        </p:nvGraphicFramePr>
        <p:xfrm>
          <a:off x="6861474" y="285645"/>
          <a:ext cx="1803400" cy="506413"/>
        </p:xfrm>
        <a:graphic>
          <a:graphicData uri="http://schemas.openxmlformats.org/presentationml/2006/ole">
            <mc:AlternateContent xmlns:mc="http://schemas.openxmlformats.org/markup-compatibility/2006">
              <mc:Choice xmlns:v="urn:schemas-microsoft-com:vml" Requires="v">
                <p:oleObj spid="_x0000_s179814" name="Equation" r:id="rId7" imgW="901309" imgH="253890" progId="Equation.DSMT4">
                  <p:embed/>
                </p:oleObj>
              </mc:Choice>
              <mc:Fallback>
                <p:oleObj name="Equation" r:id="rId7" imgW="901309" imgH="253890" progId="Equation.DSMT4">
                  <p:embed/>
                  <p:pic>
                    <p:nvPicPr>
                      <p:cNvPr id="16389"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61474" y="285645"/>
                        <a:ext cx="1803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34"/>
          <p:cNvSpPr txBox="1">
            <a:spLocks noChangeArrowheads="1"/>
          </p:cNvSpPr>
          <p:nvPr/>
        </p:nvSpPr>
        <p:spPr bwMode="auto">
          <a:xfrm>
            <a:off x="384474" y="835789"/>
            <a:ext cx="8352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足够小，使得</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其与               </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乘积</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与                 </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相比较</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小，</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电荷</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graphicFrame>
        <p:nvGraphicFramePr>
          <p:cNvPr id="8" name="Object 35"/>
          <p:cNvGraphicFramePr>
            <a:graphicFrameLocks noChangeAspect="1"/>
          </p:cNvGraphicFramePr>
          <p:nvPr>
            <p:extLst>
              <p:ext uri="{D42A27DB-BD31-4B8C-83A1-F6EECF244321}">
                <p14:modId xmlns:p14="http://schemas.microsoft.com/office/powerpoint/2010/main" val="3006544170"/>
              </p:ext>
            </p:extLst>
          </p:nvPr>
        </p:nvGraphicFramePr>
        <p:xfrm>
          <a:off x="3120580" y="813266"/>
          <a:ext cx="914400" cy="481012"/>
        </p:xfrm>
        <a:graphic>
          <a:graphicData uri="http://schemas.openxmlformats.org/presentationml/2006/ole">
            <mc:AlternateContent xmlns:mc="http://schemas.openxmlformats.org/markup-compatibility/2006">
              <mc:Choice xmlns:v="urn:schemas-microsoft-com:vml" Requires="v">
                <p:oleObj spid="_x0000_s179815" name="Equation" r:id="rId9" imgW="457200" imgH="241300" progId="Equation.DSMT4">
                  <p:embed/>
                </p:oleObj>
              </mc:Choice>
              <mc:Fallback>
                <p:oleObj name="Equation" r:id="rId9" imgW="457200" imgH="241300" progId="Equation.DSMT4">
                  <p:embed/>
                  <p:pic>
                    <p:nvPicPr>
                      <p:cNvPr id="16391"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0580" y="813266"/>
                        <a:ext cx="9144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36"/>
          <p:cNvSpPr txBox="1">
            <a:spLocks noChangeArrowheads="1"/>
          </p:cNvSpPr>
          <p:nvPr/>
        </p:nvSpPr>
        <p:spPr bwMode="auto">
          <a:xfrm>
            <a:off x="454324" y="1343334"/>
            <a:ext cx="173015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密度正比</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于</a:t>
            </a:r>
          </a:p>
        </p:txBody>
      </p:sp>
      <p:graphicFrame>
        <p:nvGraphicFramePr>
          <p:cNvPr id="10" name="Object 37"/>
          <p:cNvGraphicFramePr>
            <a:graphicFrameLocks noChangeAspect="1"/>
          </p:cNvGraphicFramePr>
          <p:nvPr>
            <p:extLst>
              <p:ext uri="{D42A27DB-BD31-4B8C-83A1-F6EECF244321}">
                <p14:modId xmlns:p14="http://schemas.microsoft.com/office/powerpoint/2010/main" val="265650653"/>
              </p:ext>
            </p:extLst>
          </p:nvPr>
        </p:nvGraphicFramePr>
        <p:xfrm>
          <a:off x="5124724" y="838021"/>
          <a:ext cx="1092200" cy="457200"/>
        </p:xfrm>
        <a:graphic>
          <a:graphicData uri="http://schemas.openxmlformats.org/presentationml/2006/ole">
            <mc:AlternateContent xmlns:mc="http://schemas.openxmlformats.org/markup-compatibility/2006">
              <mc:Choice xmlns:v="urn:schemas-microsoft-com:vml" Requires="v">
                <p:oleObj spid="_x0000_s179816" name="Equation" r:id="rId11" imgW="545863" imgH="228501" progId="Equation.DSMT4">
                  <p:embed/>
                </p:oleObj>
              </mc:Choice>
              <mc:Fallback>
                <p:oleObj name="Equation" r:id="rId11" imgW="545863" imgH="228501" progId="Equation.DSMT4">
                  <p:embed/>
                  <p:pic>
                    <p:nvPicPr>
                      <p:cNvPr id="16393"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24724" y="838021"/>
                        <a:ext cx="109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8"/>
          <p:cNvGraphicFramePr>
            <a:graphicFrameLocks noChangeAspect="1"/>
          </p:cNvGraphicFramePr>
          <p:nvPr>
            <p:extLst>
              <p:ext uri="{D42A27DB-BD31-4B8C-83A1-F6EECF244321}">
                <p14:modId xmlns:p14="http://schemas.microsoft.com/office/powerpoint/2010/main" val="77917968"/>
              </p:ext>
            </p:extLst>
          </p:nvPr>
        </p:nvGraphicFramePr>
        <p:xfrm>
          <a:off x="3408612" y="359539"/>
          <a:ext cx="1473200" cy="457200"/>
        </p:xfrm>
        <a:graphic>
          <a:graphicData uri="http://schemas.openxmlformats.org/presentationml/2006/ole">
            <mc:AlternateContent xmlns:mc="http://schemas.openxmlformats.org/markup-compatibility/2006">
              <mc:Choice xmlns:v="urn:schemas-microsoft-com:vml" Requires="v">
                <p:oleObj spid="_x0000_s179817" name="Equation" r:id="rId13" imgW="736600" imgH="228600" progId="Equation.DSMT4">
                  <p:embed/>
                </p:oleObj>
              </mc:Choice>
              <mc:Fallback>
                <p:oleObj name="Equation" r:id="rId13" imgW="736600" imgH="228600" progId="Equation.DSMT4">
                  <p:embed/>
                  <p:pic>
                    <p:nvPicPr>
                      <p:cNvPr id="16394"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8612" y="359539"/>
                        <a:ext cx="147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49"/>
          <p:cNvSpPr txBox="1">
            <a:spLocks noChangeArrowheads="1"/>
          </p:cNvSpPr>
          <p:nvPr/>
        </p:nvSpPr>
        <p:spPr bwMode="auto">
          <a:xfrm>
            <a:off x="441624" y="2887472"/>
            <a:ext cx="828040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3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在耗尽情形下， </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表面出现载流子耗尽， 能带向下</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弯曲。</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利用耗尽近似，则</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可精确求解</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Poisson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方程：</a:t>
            </a:r>
          </a:p>
        </p:txBody>
      </p:sp>
      <p:grpSp>
        <p:nvGrpSpPr>
          <p:cNvPr id="13" name="Group 50"/>
          <p:cNvGrpSpPr>
            <a:grpSpLocks/>
          </p:cNvGrpSpPr>
          <p:nvPr/>
        </p:nvGrpSpPr>
        <p:grpSpPr bwMode="auto">
          <a:xfrm>
            <a:off x="1486199" y="4046339"/>
            <a:ext cx="6230938" cy="1008063"/>
            <a:chOff x="841" y="1179"/>
            <a:chExt cx="3925" cy="635"/>
          </a:xfrm>
        </p:grpSpPr>
        <p:graphicFrame>
          <p:nvGraphicFramePr>
            <p:cNvPr id="14" name="Object 51"/>
            <p:cNvGraphicFramePr>
              <a:graphicFrameLocks noChangeAspect="1"/>
            </p:cNvGraphicFramePr>
            <p:nvPr/>
          </p:nvGraphicFramePr>
          <p:xfrm>
            <a:off x="841" y="1206"/>
            <a:ext cx="1392" cy="608"/>
          </p:xfrm>
          <a:graphic>
            <a:graphicData uri="http://schemas.openxmlformats.org/presentationml/2006/ole">
              <mc:AlternateContent xmlns:mc="http://schemas.openxmlformats.org/markup-compatibility/2006">
                <mc:Choice xmlns:v="urn:schemas-microsoft-com:vml" Requires="v">
                  <p:oleObj spid="_x0000_s179818" name="Equation" r:id="rId15" imgW="1104900" imgH="482600" progId="Equation.DSMT4">
                    <p:embed/>
                  </p:oleObj>
                </mc:Choice>
                <mc:Fallback>
                  <p:oleObj name="Equation" r:id="rId15" imgW="1104900" imgH="482600" progId="Equation.DSMT4">
                    <p:embed/>
                    <p:pic>
                      <p:nvPicPr>
                        <p:cNvPr id="16403" name="Object 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1" y="1206"/>
                          <a:ext cx="1392"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52"/>
            <p:cNvGraphicFramePr>
              <a:graphicFrameLocks noChangeAspect="1"/>
            </p:cNvGraphicFramePr>
            <p:nvPr/>
          </p:nvGraphicFramePr>
          <p:xfrm>
            <a:off x="2910" y="1179"/>
            <a:ext cx="1856" cy="608"/>
          </p:xfrm>
          <a:graphic>
            <a:graphicData uri="http://schemas.openxmlformats.org/presentationml/2006/ole">
              <mc:AlternateContent xmlns:mc="http://schemas.openxmlformats.org/markup-compatibility/2006">
                <mc:Choice xmlns:v="urn:schemas-microsoft-com:vml" Requires="v">
                  <p:oleObj spid="_x0000_s179819" name="Equation" r:id="rId17" imgW="1473200" imgH="482600" progId="Equation.DSMT4">
                    <p:embed/>
                  </p:oleObj>
                </mc:Choice>
                <mc:Fallback>
                  <p:oleObj name="Equation" r:id="rId17" imgW="1473200" imgH="482600" progId="Equation.DSMT4">
                    <p:embed/>
                    <p:pic>
                      <p:nvPicPr>
                        <p:cNvPr id="16404" name="Object 5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10" y="1179"/>
                          <a:ext cx="1856"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AutoShape 53"/>
            <p:cNvSpPr>
              <a:spLocks noChangeArrowheads="1"/>
            </p:cNvSpPr>
            <p:nvPr/>
          </p:nvSpPr>
          <p:spPr bwMode="auto">
            <a:xfrm>
              <a:off x="2375" y="1378"/>
              <a:ext cx="416" cy="232"/>
            </a:xfrm>
            <a:prstGeom prst="rightArrow">
              <a:avLst>
                <a:gd name="adj1" fmla="val 50000"/>
                <a:gd name="adj2" fmla="val 44828"/>
              </a:avLst>
            </a:prstGeom>
            <a:solidFill>
              <a:srgbClr val="00E4A8"/>
            </a:solidFill>
            <a:ln w="38100" cap="sq">
              <a:solidFill>
                <a:srgbClr val="000000"/>
              </a:solidFill>
              <a:miter lim="800000"/>
              <a:headEnd type="none" w="sm" len="sm"/>
              <a:tailEnd type="none" w="sm" len="sm"/>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itchFamily="18" charset="0"/>
                <a:ea typeface="宋体" pitchFamily="2" charset="-122"/>
              </a:endParaRPr>
            </a:p>
          </p:txBody>
        </p:sp>
      </p:grpSp>
      <p:graphicFrame>
        <p:nvGraphicFramePr>
          <p:cNvPr id="17" name="Object 55"/>
          <p:cNvGraphicFramePr>
            <a:graphicFrameLocks noChangeAspect="1"/>
          </p:cNvGraphicFramePr>
          <p:nvPr>
            <p:extLst>
              <p:ext uri="{D42A27DB-BD31-4B8C-83A1-F6EECF244321}">
                <p14:modId xmlns:p14="http://schemas.microsoft.com/office/powerpoint/2010/main" val="1717751548"/>
              </p:ext>
            </p:extLst>
          </p:nvPr>
        </p:nvGraphicFramePr>
        <p:xfrm>
          <a:off x="1321099" y="5067722"/>
          <a:ext cx="2971800" cy="1066800"/>
        </p:xfrm>
        <a:graphic>
          <a:graphicData uri="http://schemas.openxmlformats.org/presentationml/2006/ole">
            <mc:AlternateContent xmlns:mc="http://schemas.openxmlformats.org/markup-compatibility/2006">
              <mc:Choice xmlns:v="urn:schemas-microsoft-com:vml" Requires="v">
                <p:oleObj spid="_x0000_s179820" name="Equation" r:id="rId19" imgW="1485900" imgH="533400" progId="Equation.3">
                  <p:embed/>
                </p:oleObj>
              </mc:Choice>
              <mc:Fallback>
                <p:oleObj name="Equation" r:id="rId19" imgW="1485900" imgH="533400" progId="Equation.3">
                  <p:embed/>
                  <p:pic>
                    <p:nvPicPr>
                      <p:cNvPr id="16397" name="Object 5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21099" y="5067722"/>
                        <a:ext cx="297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56"/>
          <p:cNvGraphicFramePr>
            <a:graphicFrameLocks noChangeAspect="1"/>
          </p:cNvGraphicFramePr>
          <p:nvPr>
            <p:extLst>
              <p:ext uri="{D42A27DB-BD31-4B8C-83A1-F6EECF244321}">
                <p14:modId xmlns:p14="http://schemas.microsoft.com/office/powerpoint/2010/main" val="3512382513"/>
              </p:ext>
            </p:extLst>
          </p:nvPr>
        </p:nvGraphicFramePr>
        <p:xfrm>
          <a:off x="5640687" y="5107410"/>
          <a:ext cx="2209800" cy="1016000"/>
        </p:xfrm>
        <a:graphic>
          <a:graphicData uri="http://schemas.openxmlformats.org/presentationml/2006/ole">
            <mc:AlternateContent xmlns:mc="http://schemas.openxmlformats.org/markup-compatibility/2006">
              <mc:Choice xmlns:v="urn:schemas-microsoft-com:vml" Requires="v">
                <p:oleObj spid="_x0000_s179821" r:id="rId21" imgW="1104900" imgH="508000" progId="Equation.3">
                  <p:embed/>
                </p:oleObj>
              </mc:Choice>
              <mc:Fallback>
                <p:oleObj r:id="rId21" imgW="1104900" imgH="508000" progId="Equation.3">
                  <p:embed/>
                  <p:pic>
                    <p:nvPicPr>
                      <p:cNvPr id="16398" name="Object 5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40687" y="5107410"/>
                        <a:ext cx="2209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57"/>
          <p:cNvSpPr txBox="1">
            <a:spLocks noChangeArrowheads="1"/>
          </p:cNvSpPr>
          <p:nvPr/>
        </p:nvSpPr>
        <p:spPr bwMode="auto">
          <a:xfrm>
            <a:off x="4453237" y="5397922"/>
            <a:ext cx="1239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重写为</a:t>
            </a:r>
          </a:p>
        </p:txBody>
      </p:sp>
      <p:sp>
        <p:nvSpPr>
          <p:cNvPr id="20" name="Text Box 58"/>
          <p:cNvSpPr txBox="1">
            <a:spLocks noChangeArrowheads="1"/>
          </p:cNvSpPr>
          <p:nvPr/>
        </p:nvSpPr>
        <p:spPr bwMode="auto">
          <a:xfrm>
            <a:off x="384474" y="5397922"/>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求得</a:t>
            </a:r>
          </a:p>
        </p:txBody>
      </p:sp>
      <p:sp>
        <p:nvSpPr>
          <p:cNvPr id="21" name="TextBox 1"/>
          <p:cNvSpPr txBox="1"/>
          <p:nvPr/>
        </p:nvSpPr>
        <p:spPr bwMode="auto">
          <a:xfrm>
            <a:off x="384475" y="1907341"/>
            <a:ext cx="8352729" cy="830997"/>
          </a:xfrm>
          <a:prstGeom prst="rect">
            <a:avLst/>
          </a:prstGeom>
          <a:noFill/>
          <a:ln w="12700" cap="sq">
            <a:noFill/>
            <a:miter lim="800000"/>
            <a:headEnd type="none" w="sm" len="sm"/>
            <a:tailEnd type="none" w="sm" len="sm"/>
          </a:ln>
          <a:effectLst/>
        </p:spPr>
        <p:txBody>
          <a:bodyPr wrap="square" rtlCol="0">
            <a:spAutoFit/>
          </a:bodyPr>
          <a:lstStyle/>
          <a:p>
            <a:pPr defTabSz="914400" eaLnBrk="0" fontAlgn="base" hangingPunct="0">
              <a:spcAft>
                <a:spcPct val="0"/>
              </a:spcAft>
            </a:pPr>
            <a:r>
              <a:rPr kumimoji="1" lang="zh-CN" altLang="en-US"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电荷分布主要由多子耗尽产生的空间电荷区杂质电离电荷决定，分布在较宽范围</a:t>
            </a:r>
            <a:endParaRPr kumimoji="1" lang="zh-CN" altLang="en-US" sz="2400" b="1" dirty="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endParaRPr>
          </a:p>
        </p:txBody>
      </p:sp>
    </p:spTree>
    <p:extLst>
      <p:ext uri="{BB962C8B-B14F-4D97-AF65-F5344CB8AC3E}">
        <p14:creationId xmlns:p14="http://schemas.microsoft.com/office/powerpoint/2010/main" val="22966003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13</a:t>
            </a:fld>
            <a:endParaRPr lang="zh-CN" altLang="en-US"/>
          </a:p>
        </p:txBody>
      </p:sp>
      <p:graphicFrame>
        <p:nvGraphicFramePr>
          <p:cNvPr id="3" name="Object 34"/>
          <p:cNvGraphicFramePr>
            <a:graphicFrameLocks noChangeAspect="1"/>
          </p:cNvGraphicFramePr>
          <p:nvPr>
            <p:extLst>
              <p:ext uri="{D42A27DB-BD31-4B8C-83A1-F6EECF244321}">
                <p14:modId xmlns:p14="http://schemas.microsoft.com/office/powerpoint/2010/main" val="232230344"/>
              </p:ext>
            </p:extLst>
          </p:nvPr>
        </p:nvGraphicFramePr>
        <p:xfrm>
          <a:off x="1574261" y="927460"/>
          <a:ext cx="2284413" cy="1157288"/>
        </p:xfrm>
        <a:graphic>
          <a:graphicData uri="http://schemas.openxmlformats.org/presentationml/2006/ole">
            <mc:AlternateContent xmlns:mc="http://schemas.openxmlformats.org/markup-compatibility/2006">
              <mc:Choice xmlns:v="urn:schemas-microsoft-com:vml" Requires="v">
                <p:oleObj spid="_x0000_s180526" r:id="rId3" imgW="952087" imgH="482391" progId="Equation.3">
                  <p:embed/>
                </p:oleObj>
              </mc:Choice>
              <mc:Fallback>
                <p:oleObj r:id="rId3" imgW="952087" imgH="482391" progId="Equation.3">
                  <p:embed/>
                  <p:pic>
                    <p:nvPicPr>
                      <p:cNvPr id="17435"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4261" y="927460"/>
                        <a:ext cx="2284413" cy="1157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6"/>
          <p:cNvGraphicFramePr>
            <a:graphicFrameLocks noChangeAspect="1"/>
          </p:cNvGraphicFramePr>
          <p:nvPr>
            <p:extLst>
              <p:ext uri="{D42A27DB-BD31-4B8C-83A1-F6EECF244321}">
                <p14:modId xmlns:p14="http://schemas.microsoft.com/office/powerpoint/2010/main" val="1926757783"/>
              </p:ext>
            </p:extLst>
          </p:nvPr>
        </p:nvGraphicFramePr>
        <p:xfrm>
          <a:off x="3980911" y="2057760"/>
          <a:ext cx="4511675" cy="641350"/>
        </p:xfrm>
        <a:graphic>
          <a:graphicData uri="http://schemas.openxmlformats.org/presentationml/2006/ole">
            <mc:AlternateContent xmlns:mc="http://schemas.openxmlformats.org/markup-compatibility/2006">
              <mc:Choice xmlns:v="urn:schemas-microsoft-com:vml" Requires="v">
                <p:oleObj spid="_x0000_s180527" name="公式" r:id="rId5" imgW="1879600" imgH="266700" progId="Equation.3">
                  <p:embed/>
                </p:oleObj>
              </mc:Choice>
              <mc:Fallback>
                <p:oleObj name="公式" r:id="rId5" imgW="1879600" imgH="266700" progId="Equation.3">
                  <p:embed/>
                  <p:pic>
                    <p:nvPicPr>
                      <p:cNvPr id="17437"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0911" y="2057760"/>
                        <a:ext cx="4511675" cy="641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37"/>
          <p:cNvSpPr txBox="1">
            <a:spLocks noChangeArrowheads="1"/>
          </p:cNvSpPr>
          <p:nvPr/>
        </p:nvSpPr>
        <p:spPr bwMode="auto">
          <a:xfrm>
            <a:off x="669386" y="1248135"/>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其中</a:t>
            </a:r>
          </a:p>
        </p:txBody>
      </p:sp>
      <p:sp>
        <p:nvSpPr>
          <p:cNvPr id="6" name="Text Box 38"/>
          <p:cNvSpPr txBox="1">
            <a:spLocks noChangeArrowheads="1"/>
          </p:cNvSpPr>
          <p:nvPr/>
        </p:nvSpPr>
        <p:spPr bwMode="auto">
          <a:xfrm>
            <a:off x="669386" y="2153010"/>
            <a:ext cx="329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总的耗尽层电荷密度为</a:t>
            </a:r>
          </a:p>
        </p:txBody>
      </p:sp>
      <p:sp>
        <p:nvSpPr>
          <p:cNvPr id="7" name="Text Box 42"/>
          <p:cNvSpPr txBox="1">
            <a:spLocks noChangeArrowheads="1"/>
          </p:cNvSpPr>
          <p:nvPr/>
        </p:nvSpPr>
        <p:spPr bwMode="auto">
          <a:xfrm>
            <a:off x="3877724" y="1248135"/>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为半导体耗尽层厚度</a:t>
            </a:r>
          </a:p>
        </p:txBody>
      </p:sp>
      <p:graphicFrame>
        <p:nvGraphicFramePr>
          <p:cNvPr id="8" name="Object 46"/>
          <p:cNvGraphicFramePr>
            <a:graphicFrameLocks noChangeAspect="1"/>
          </p:cNvGraphicFramePr>
          <p:nvPr>
            <p:extLst>
              <p:ext uri="{D42A27DB-BD31-4B8C-83A1-F6EECF244321}">
                <p14:modId xmlns:p14="http://schemas.microsoft.com/office/powerpoint/2010/main" val="3861377630"/>
              </p:ext>
            </p:extLst>
          </p:nvPr>
        </p:nvGraphicFramePr>
        <p:xfrm>
          <a:off x="5465224" y="3159485"/>
          <a:ext cx="2892425" cy="1157288"/>
        </p:xfrm>
        <a:graphic>
          <a:graphicData uri="http://schemas.openxmlformats.org/presentationml/2006/ole">
            <mc:AlternateContent xmlns:mc="http://schemas.openxmlformats.org/markup-compatibility/2006">
              <mc:Choice xmlns:v="urn:schemas-microsoft-com:vml" Requires="v">
                <p:oleObj spid="_x0000_s180528" name="Equation" r:id="rId7" imgW="1206500" imgH="482600" progId="Equation.DSMT4">
                  <p:embed/>
                </p:oleObj>
              </mc:Choice>
              <mc:Fallback>
                <p:oleObj name="Equation" r:id="rId7" imgW="1206500" imgH="482600" progId="Equation.DSMT4">
                  <p:embed/>
                  <p:pic>
                    <p:nvPicPr>
                      <p:cNvPr id="17441"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5224" y="3159485"/>
                        <a:ext cx="2892425" cy="115728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7"/>
          <p:cNvGraphicFramePr>
            <a:graphicFrameLocks noChangeAspect="1"/>
          </p:cNvGraphicFramePr>
          <p:nvPr>
            <p:extLst>
              <p:ext uri="{D42A27DB-BD31-4B8C-83A1-F6EECF244321}">
                <p14:modId xmlns:p14="http://schemas.microsoft.com/office/powerpoint/2010/main" val="1100993203"/>
              </p:ext>
            </p:extLst>
          </p:nvPr>
        </p:nvGraphicFramePr>
        <p:xfrm>
          <a:off x="5411249" y="4389798"/>
          <a:ext cx="3078162" cy="1219200"/>
        </p:xfrm>
        <a:graphic>
          <a:graphicData uri="http://schemas.openxmlformats.org/presentationml/2006/ole">
            <mc:AlternateContent xmlns:mc="http://schemas.openxmlformats.org/markup-compatibility/2006">
              <mc:Choice xmlns:v="urn:schemas-microsoft-com:vml" Requires="v">
                <p:oleObj spid="_x0000_s180529" name="Equation" r:id="rId9" imgW="1282700" imgH="508000" progId="Equation.DSMT4">
                  <p:embed/>
                </p:oleObj>
              </mc:Choice>
              <mc:Fallback>
                <p:oleObj name="Equation" r:id="rId9" imgW="1282700" imgH="508000" progId="Equation.DSMT4">
                  <p:embed/>
                  <p:pic>
                    <p:nvPicPr>
                      <p:cNvPr id="17442"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1249" y="4389798"/>
                        <a:ext cx="3078162" cy="12192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48"/>
          <p:cNvGrpSpPr>
            <a:grpSpLocks/>
          </p:cNvGrpSpPr>
          <p:nvPr/>
        </p:nvGrpSpPr>
        <p:grpSpPr bwMode="auto">
          <a:xfrm>
            <a:off x="399511" y="3092810"/>
            <a:ext cx="4591050" cy="2325688"/>
            <a:chOff x="192" y="2523"/>
            <a:chExt cx="2892" cy="1465"/>
          </a:xfrm>
        </p:grpSpPr>
        <p:pic>
          <p:nvPicPr>
            <p:cNvPr id="11" name="Picture 49"/>
            <p:cNvPicPr>
              <a:picLocks noChangeAspect="1" noChangeArrowheads="1"/>
            </p:cNvPicPr>
            <p:nvPr/>
          </p:nvPicPr>
          <p:blipFill>
            <a:blip r:embed="rId11">
              <a:extLst>
                <a:ext uri="{28A0092B-C50C-407E-A947-70E740481C1C}">
                  <a14:useLocalDpi xmlns:a14="http://schemas.microsoft.com/office/drawing/2010/main" val="0"/>
                </a:ext>
              </a:extLst>
            </a:blip>
            <a:srcRect t="57063"/>
            <a:stretch>
              <a:fillRect/>
            </a:stretch>
          </p:blipFill>
          <p:spPr bwMode="auto">
            <a:xfrm>
              <a:off x="192" y="2523"/>
              <a:ext cx="2892" cy="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50"/>
            <p:cNvGraphicFramePr>
              <a:graphicFrameLocks noChangeAspect="1"/>
            </p:cNvGraphicFramePr>
            <p:nvPr/>
          </p:nvGraphicFramePr>
          <p:xfrm>
            <a:off x="1927" y="3884"/>
            <a:ext cx="96" cy="104"/>
          </p:xfrm>
          <a:graphic>
            <a:graphicData uri="http://schemas.openxmlformats.org/presentationml/2006/ole">
              <mc:AlternateContent xmlns:mc="http://schemas.openxmlformats.org/markup-compatibility/2006">
                <mc:Choice xmlns:v="urn:schemas-microsoft-com:vml" Requires="v">
                  <p:oleObj spid="_x0000_s180530" name="Equation" r:id="rId12" imgW="152268" imgH="164957" progId="Equation.DSMT4">
                    <p:embed/>
                  </p:oleObj>
                </mc:Choice>
                <mc:Fallback>
                  <p:oleObj name="Equation" r:id="rId12" imgW="152268" imgH="164957" progId="Equation.DSMT4">
                    <p:embed/>
                    <p:pic>
                      <p:nvPicPr>
                        <p:cNvPr id="17447" name="Object 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7" y="3884"/>
                          <a:ext cx="96" cy="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 name="Picture 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0" y="3793"/>
              <a:ext cx="136"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7" y="3793"/>
              <a:ext cx="13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3431496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14</a:t>
            </a:fld>
            <a:endParaRPr lang="zh-CN" altLang="en-US"/>
          </a:p>
        </p:txBody>
      </p:sp>
      <p:sp>
        <p:nvSpPr>
          <p:cNvPr id="3" name="Text Box 24"/>
          <p:cNvSpPr txBox="1">
            <a:spLocks noChangeArrowheads="1"/>
          </p:cNvSpPr>
          <p:nvPr/>
        </p:nvSpPr>
        <p:spPr bwMode="auto">
          <a:xfrm>
            <a:off x="444860" y="2975887"/>
            <a:ext cx="5986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在强反型条件下的 </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Poisson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方程满足：</a:t>
            </a:r>
          </a:p>
        </p:txBody>
      </p:sp>
      <p:graphicFrame>
        <p:nvGraphicFramePr>
          <p:cNvPr id="4" name="Object 33"/>
          <p:cNvGraphicFramePr>
            <a:graphicFrameLocks noChangeAspect="1"/>
          </p:cNvGraphicFramePr>
          <p:nvPr>
            <p:extLst>
              <p:ext uri="{D42A27DB-BD31-4B8C-83A1-F6EECF244321}">
                <p14:modId xmlns:p14="http://schemas.microsoft.com/office/powerpoint/2010/main" val="4163503599"/>
              </p:ext>
            </p:extLst>
          </p:nvPr>
        </p:nvGraphicFramePr>
        <p:xfrm>
          <a:off x="2313348" y="3484061"/>
          <a:ext cx="4692650" cy="1173162"/>
        </p:xfrm>
        <a:graphic>
          <a:graphicData uri="http://schemas.openxmlformats.org/presentationml/2006/ole">
            <mc:AlternateContent xmlns:mc="http://schemas.openxmlformats.org/markup-compatibility/2006">
              <mc:Choice xmlns:v="urn:schemas-microsoft-com:vml" Requires="v">
                <p:oleObj spid="_x0000_s181430" name="Equation" r:id="rId3" imgW="2133600" imgH="533400" progId="Equation.DSMT4">
                  <p:embed/>
                </p:oleObj>
              </mc:Choice>
              <mc:Fallback>
                <p:oleObj name="Equation" r:id="rId3" imgW="2133600" imgH="533400" progId="Equation.DSMT4">
                  <p:embed/>
                  <p:pic>
                    <p:nvPicPr>
                      <p:cNvPr id="18464"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3348" y="3484061"/>
                        <a:ext cx="469265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7"/>
          <p:cNvGraphicFramePr>
            <a:graphicFrameLocks noChangeAspect="1"/>
          </p:cNvGraphicFramePr>
          <p:nvPr>
            <p:extLst>
              <p:ext uri="{D42A27DB-BD31-4B8C-83A1-F6EECF244321}">
                <p14:modId xmlns:p14="http://schemas.microsoft.com/office/powerpoint/2010/main" val="937452936"/>
              </p:ext>
            </p:extLst>
          </p:nvPr>
        </p:nvGraphicFramePr>
        <p:xfrm>
          <a:off x="2676885" y="1883439"/>
          <a:ext cx="3632200" cy="1117600"/>
        </p:xfrm>
        <a:graphic>
          <a:graphicData uri="http://schemas.openxmlformats.org/presentationml/2006/ole">
            <mc:AlternateContent xmlns:mc="http://schemas.openxmlformats.org/markup-compatibility/2006">
              <mc:Choice xmlns:v="urn:schemas-microsoft-com:vml" Requires="v">
                <p:oleObj spid="_x0000_s181431" name="Equation" r:id="rId5" imgW="1651000" imgH="508000" progId="Equation.DSMT4">
                  <p:embed/>
                </p:oleObj>
              </mc:Choice>
              <mc:Fallback>
                <p:oleObj name="Equation" r:id="rId5" imgW="1651000" imgH="508000" progId="Equation.DSMT4">
                  <p:embed/>
                  <p:pic>
                    <p:nvPicPr>
                      <p:cNvPr id="18467"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885" y="1883439"/>
                        <a:ext cx="3632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38"/>
          <p:cNvSpPr txBox="1">
            <a:spLocks noChangeArrowheads="1"/>
          </p:cNvSpPr>
          <p:nvPr/>
        </p:nvSpPr>
        <p:spPr bwMode="auto">
          <a:xfrm>
            <a:off x="228638" y="624775"/>
            <a:ext cx="861092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en-US" altLang="zh-CN" sz="2400" b="1" i="0" u="none" strike="noStrike" kern="0" cap="none" spc="0" normalizeH="0" baseline="0" noProof="0" dirty="0" smtClean="0">
                <a:ln>
                  <a:noFill/>
                </a:ln>
                <a:solidFill>
                  <a:srgbClr val="0000FF"/>
                </a:solidFill>
                <a:effectLst/>
                <a:uLnTx/>
                <a:uFillTx/>
                <a:latin typeface="Times New Roman" pitchFamily="18" charset="0"/>
                <a:ea typeface="宋体" pitchFamily="2" charset="-122"/>
              </a:rPr>
              <a:t>4</a:t>
            </a:r>
            <a:r>
              <a:rPr kumimoji="1" lang="zh-CN" altLang="en-US" sz="2400" b="1" i="0" u="none" strike="noStrike" kern="0" cap="none" spc="0" normalizeH="0" baseline="0" noProof="0" dirty="0" smtClean="0">
                <a:ln>
                  <a:noFill/>
                </a:ln>
                <a:solidFill>
                  <a:srgbClr val="0000FF"/>
                </a:solidFill>
                <a:effectLst/>
                <a:uLnTx/>
                <a:uFillTx/>
                <a:latin typeface="Times New Roman" pitchFamily="18" charset="0"/>
                <a:ea typeface="宋体" pitchFamily="2" charset="-122"/>
              </a:rPr>
              <a:t>、在反型情形下，表面电荷的构成由反型电荷和耗尽电荷两部分构成。在到达强反型时，耗尽层厚度将达到</a:t>
            </a:r>
            <a:r>
              <a:rPr kumimoji="1" lang="zh-CN" altLang="en-US" sz="2400" b="1" i="0" u="none" strike="noStrike" kern="0" cap="none" spc="0" normalizeH="0" baseline="0" noProof="0" dirty="0">
                <a:ln>
                  <a:noFill/>
                </a:ln>
                <a:solidFill>
                  <a:srgbClr val="0000FF"/>
                </a:solidFill>
                <a:effectLst/>
                <a:uLnTx/>
                <a:uFillTx/>
                <a:latin typeface="Times New Roman" pitchFamily="18" charset="0"/>
                <a:ea typeface="宋体" pitchFamily="2" charset="-122"/>
              </a:rPr>
              <a:t>极</a:t>
            </a:r>
            <a:r>
              <a:rPr kumimoji="1" lang="zh-CN" altLang="en-US" sz="2400" b="1" i="0" u="none" strike="noStrike" kern="0" cap="none" spc="0" normalizeH="0" baseline="0" noProof="0" dirty="0" smtClean="0">
                <a:ln>
                  <a:noFill/>
                </a:ln>
                <a:solidFill>
                  <a:srgbClr val="0000FF"/>
                </a:solidFill>
                <a:effectLst/>
                <a:uLnTx/>
                <a:uFillTx/>
                <a:latin typeface="Times New Roman" pitchFamily="18" charset="0"/>
                <a:ea typeface="宋体" pitchFamily="2" charset="-122"/>
              </a:rPr>
              <a:t>大。</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带入</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强反型时表面势的表达式，可获得最大耗尽层厚度表达式为：</a:t>
            </a:r>
          </a:p>
        </p:txBody>
      </p:sp>
      <p:sp>
        <p:nvSpPr>
          <p:cNvPr id="7" name="Text Box 39"/>
          <p:cNvSpPr txBox="1">
            <a:spLocks noChangeArrowheads="1"/>
          </p:cNvSpPr>
          <p:nvPr/>
        </p:nvSpPr>
        <p:spPr bwMode="auto">
          <a:xfrm>
            <a:off x="444860" y="4632071"/>
            <a:ext cx="762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该方程只能数值求解。其边界条件是：</a:t>
            </a:r>
          </a:p>
        </p:txBody>
      </p:sp>
      <p:graphicFrame>
        <p:nvGraphicFramePr>
          <p:cNvPr id="8" name="Object 40"/>
          <p:cNvGraphicFramePr>
            <a:graphicFrameLocks noChangeAspect="1"/>
          </p:cNvGraphicFramePr>
          <p:nvPr>
            <p:extLst>
              <p:ext uri="{D42A27DB-BD31-4B8C-83A1-F6EECF244321}">
                <p14:modId xmlns:p14="http://schemas.microsoft.com/office/powerpoint/2010/main" val="1589020539"/>
              </p:ext>
            </p:extLst>
          </p:nvPr>
        </p:nvGraphicFramePr>
        <p:xfrm>
          <a:off x="5816960" y="4632071"/>
          <a:ext cx="1701800" cy="457200"/>
        </p:xfrm>
        <a:graphic>
          <a:graphicData uri="http://schemas.openxmlformats.org/presentationml/2006/ole">
            <mc:AlternateContent xmlns:mc="http://schemas.openxmlformats.org/markup-compatibility/2006">
              <mc:Choice xmlns:v="urn:schemas-microsoft-com:vml" Requires="v">
                <p:oleObj spid="_x0000_s181432" r:id="rId7" imgW="850900" imgH="228600" progId="Equation.3">
                  <p:embed/>
                </p:oleObj>
              </mc:Choice>
              <mc:Fallback>
                <p:oleObj r:id="rId7" imgW="850900" imgH="228600" progId="Equation.3">
                  <p:embed/>
                  <p:pic>
                    <p:nvPicPr>
                      <p:cNvPr id="1847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16960" y="4632071"/>
                        <a:ext cx="170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41"/>
          <p:cNvSpPr txBox="1">
            <a:spLocks noChangeArrowheads="1"/>
          </p:cNvSpPr>
          <p:nvPr/>
        </p:nvSpPr>
        <p:spPr bwMode="auto">
          <a:xfrm>
            <a:off x="479288" y="5129008"/>
            <a:ext cx="7742238"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2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求解结果显示，反型电子主要集中分布在靠近表面厚度小于</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5nm</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的反型层内</a:t>
            </a:r>
          </a:p>
        </p:txBody>
      </p:sp>
    </p:spTree>
    <p:extLst>
      <p:ext uri="{BB962C8B-B14F-4D97-AF65-F5344CB8AC3E}">
        <p14:creationId xmlns:p14="http://schemas.microsoft.com/office/powerpoint/2010/main" val="7803277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15</a:t>
            </a:fld>
            <a:endParaRPr lang="zh-CN" altLang="en-US"/>
          </a:p>
        </p:txBody>
      </p:sp>
      <p:sp>
        <p:nvSpPr>
          <p:cNvPr id="3" name="Text Box 23"/>
          <p:cNvSpPr txBox="1">
            <a:spLocks noChangeArrowheads="1"/>
          </p:cNvSpPr>
          <p:nvPr/>
        </p:nvSpPr>
        <p:spPr bwMode="auto">
          <a:xfrm>
            <a:off x="453486" y="879735"/>
            <a:ext cx="828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随      增加                                       最终会大于                ，此时</a:t>
            </a:r>
          </a:p>
        </p:txBody>
      </p:sp>
      <p:graphicFrame>
        <p:nvGraphicFramePr>
          <p:cNvPr id="4" name="Object 24"/>
          <p:cNvGraphicFramePr>
            <a:graphicFrameLocks noChangeAspect="1"/>
          </p:cNvGraphicFramePr>
          <p:nvPr>
            <p:extLst>
              <p:ext uri="{D42A27DB-BD31-4B8C-83A1-F6EECF244321}">
                <p14:modId xmlns:p14="http://schemas.microsoft.com/office/powerpoint/2010/main" val="1331541582"/>
              </p:ext>
            </p:extLst>
          </p:nvPr>
        </p:nvGraphicFramePr>
        <p:xfrm>
          <a:off x="899574" y="890848"/>
          <a:ext cx="406400" cy="457200"/>
        </p:xfrm>
        <a:graphic>
          <a:graphicData uri="http://schemas.openxmlformats.org/presentationml/2006/ole">
            <mc:AlternateContent xmlns:mc="http://schemas.openxmlformats.org/markup-compatibility/2006">
              <mc:Choice xmlns:v="urn:schemas-microsoft-com:vml" Requires="v">
                <p:oleObj spid="_x0000_s182694" name="公式" r:id="rId3" imgW="203112" imgH="228501" progId="Equation.3">
                  <p:embed/>
                </p:oleObj>
              </mc:Choice>
              <mc:Fallback>
                <p:oleObj name="公式" r:id="rId3" imgW="203112" imgH="228501" progId="Equation.3">
                  <p:embed/>
                  <p:pic>
                    <p:nvPicPr>
                      <p:cNvPr id="19459"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74" y="890848"/>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5"/>
          <p:cNvGraphicFramePr>
            <a:graphicFrameLocks noChangeAspect="1"/>
          </p:cNvGraphicFramePr>
          <p:nvPr>
            <p:extLst>
              <p:ext uri="{D42A27DB-BD31-4B8C-83A1-F6EECF244321}">
                <p14:modId xmlns:p14="http://schemas.microsoft.com/office/powerpoint/2010/main" val="3816267993"/>
              </p:ext>
            </p:extLst>
          </p:nvPr>
        </p:nvGraphicFramePr>
        <p:xfrm>
          <a:off x="1964786" y="860685"/>
          <a:ext cx="2895600" cy="558800"/>
        </p:xfrm>
        <a:graphic>
          <a:graphicData uri="http://schemas.openxmlformats.org/presentationml/2006/ole">
            <mc:AlternateContent xmlns:mc="http://schemas.openxmlformats.org/markup-compatibility/2006">
              <mc:Choice xmlns:v="urn:schemas-microsoft-com:vml" Requires="v">
                <p:oleObj spid="_x0000_s182695" name="Equation" r:id="rId5" imgW="1447800" imgH="279400" progId="Equation.DSMT4">
                  <p:embed/>
                </p:oleObj>
              </mc:Choice>
              <mc:Fallback>
                <p:oleObj name="Equation" r:id="rId5" imgW="1447800" imgH="279400" progId="Equation.DSMT4">
                  <p:embed/>
                  <p:pic>
                    <p:nvPicPr>
                      <p:cNvPr id="1946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4786" y="860685"/>
                        <a:ext cx="2895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27"/>
          <p:cNvGraphicFramePr>
            <a:graphicFrameLocks noChangeAspect="1"/>
          </p:cNvGraphicFramePr>
          <p:nvPr>
            <p:extLst>
              <p:ext uri="{D42A27DB-BD31-4B8C-83A1-F6EECF244321}">
                <p14:modId xmlns:p14="http://schemas.microsoft.com/office/powerpoint/2010/main" val="3286267448"/>
              </p:ext>
            </p:extLst>
          </p:nvPr>
        </p:nvGraphicFramePr>
        <p:xfrm>
          <a:off x="3466561" y="1429010"/>
          <a:ext cx="1955800" cy="508000"/>
        </p:xfrm>
        <a:graphic>
          <a:graphicData uri="http://schemas.openxmlformats.org/presentationml/2006/ole">
            <mc:AlternateContent xmlns:mc="http://schemas.openxmlformats.org/markup-compatibility/2006">
              <mc:Choice xmlns:v="urn:schemas-microsoft-com:vml" Requires="v">
                <p:oleObj spid="_x0000_s182696" name="Equation" r:id="rId7" imgW="977476" imgH="253890" progId="Equation.DSMT4">
                  <p:embed/>
                </p:oleObj>
              </mc:Choice>
              <mc:Fallback>
                <p:oleObj name="Equation" r:id="rId7" imgW="977476" imgH="253890" progId="Equation.DSMT4">
                  <p:embed/>
                  <p:pic>
                    <p:nvPicPr>
                      <p:cNvPr id="19461"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6561" y="1429010"/>
                        <a:ext cx="19558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8"/>
          <p:cNvGraphicFramePr>
            <a:graphicFrameLocks noChangeAspect="1"/>
          </p:cNvGraphicFramePr>
          <p:nvPr>
            <p:extLst>
              <p:ext uri="{D42A27DB-BD31-4B8C-83A1-F6EECF244321}">
                <p14:modId xmlns:p14="http://schemas.microsoft.com/office/powerpoint/2010/main" val="3765449977"/>
              </p:ext>
            </p:extLst>
          </p:nvPr>
        </p:nvGraphicFramePr>
        <p:xfrm>
          <a:off x="6530436" y="886085"/>
          <a:ext cx="1092200" cy="457200"/>
        </p:xfrm>
        <a:graphic>
          <a:graphicData uri="http://schemas.openxmlformats.org/presentationml/2006/ole">
            <mc:AlternateContent xmlns:mc="http://schemas.openxmlformats.org/markup-compatibility/2006">
              <mc:Choice xmlns:v="urn:schemas-microsoft-com:vml" Requires="v">
                <p:oleObj spid="_x0000_s182697" name="Equation" r:id="rId9" imgW="545863" imgH="228501" progId="Equation.DSMT4">
                  <p:embed/>
                </p:oleObj>
              </mc:Choice>
              <mc:Fallback>
                <p:oleObj name="Equation" r:id="rId9" imgW="545863" imgH="228501" progId="Equation.DSMT4">
                  <p:embed/>
                  <p:pic>
                    <p:nvPicPr>
                      <p:cNvPr id="19462"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0436" y="886085"/>
                        <a:ext cx="109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29"/>
          <p:cNvSpPr txBox="1">
            <a:spLocks noChangeArrowheads="1"/>
          </p:cNvSpPr>
          <p:nvPr/>
        </p:nvSpPr>
        <p:spPr bwMode="auto">
          <a:xfrm>
            <a:off x="453486" y="1451235"/>
            <a:ext cx="611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反型电荷密度正比于                            。</a:t>
            </a:r>
            <a:endPar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sym typeface="Symbol" pitchFamily="18" charset="2"/>
            </a:endParaRPr>
          </a:p>
        </p:txBody>
      </p:sp>
      <p:graphicFrame>
        <p:nvGraphicFramePr>
          <p:cNvPr id="9" name="Object 31"/>
          <p:cNvGraphicFramePr>
            <a:graphicFrameLocks noChangeAspect="1"/>
          </p:cNvGraphicFramePr>
          <p:nvPr>
            <p:extLst>
              <p:ext uri="{D42A27DB-BD31-4B8C-83A1-F6EECF244321}">
                <p14:modId xmlns:p14="http://schemas.microsoft.com/office/powerpoint/2010/main" val="3148548918"/>
              </p:ext>
            </p:extLst>
          </p:nvPr>
        </p:nvGraphicFramePr>
        <p:xfrm>
          <a:off x="2382299" y="3092933"/>
          <a:ext cx="4217987" cy="1062038"/>
        </p:xfrm>
        <a:graphic>
          <a:graphicData uri="http://schemas.openxmlformats.org/presentationml/2006/ole">
            <mc:AlternateContent xmlns:mc="http://schemas.openxmlformats.org/markup-compatibility/2006">
              <mc:Choice xmlns:v="urn:schemas-microsoft-com:vml" Requires="v">
                <p:oleObj spid="_x0000_s182698" name="Equation" r:id="rId11" imgW="1916868" imgH="482391" progId="Equation.DSMT4">
                  <p:embed/>
                </p:oleObj>
              </mc:Choice>
              <mc:Fallback>
                <p:oleObj name="Equation" r:id="rId11" imgW="1916868" imgH="482391" progId="Equation.DSMT4">
                  <p:embed/>
                  <p:pic>
                    <p:nvPicPr>
                      <p:cNvPr id="19464"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82299" y="3092933"/>
                        <a:ext cx="4217987"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33"/>
          <p:cNvSpPr txBox="1">
            <a:spLocks noChangeArrowheads="1"/>
          </p:cNvSpPr>
          <p:nvPr/>
        </p:nvSpPr>
        <p:spPr bwMode="auto">
          <a:xfrm>
            <a:off x="453486" y="2660885"/>
            <a:ext cx="73446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因为此时</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，表面势是体内相对费米势</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倍，即：</a:t>
            </a:r>
          </a:p>
        </p:txBody>
      </p:sp>
      <p:sp>
        <p:nvSpPr>
          <p:cNvPr id="11" name="Text Box 34"/>
          <p:cNvSpPr txBox="1">
            <a:spLocks noChangeArrowheads="1"/>
          </p:cNvSpPr>
          <p:nvPr/>
        </p:nvSpPr>
        <p:spPr bwMode="auto">
          <a:xfrm>
            <a:off x="453486" y="4071428"/>
            <a:ext cx="36723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电子</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浓度满足：</a:t>
            </a:r>
          </a:p>
        </p:txBody>
      </p:sp>
      <p:graphicFrame>
        <p:nvGraphicFramePr>
          <p:cNvPr id="12" name="Object 35"/>
          <p:cNvGraphicFramePr>
            <a:graphicFrameLocks noChangeAspect="1"/>
          </p:cNvGraphicFramePr>
          <p:nvPr>
            <p:extLst>
              <p:ext uri="{D42A27DB-BD31-4B8C-83A1-F6EECF244321}">
                <p14:modId xmlns:p14="http://schemas.microsoft.com/office/powerpoint/2010/main" val="3464799064"/>
              </p:ext>
            </p:extLst>
          </p:nvPr>
        </p:nvGraphicFramePr>
        <p:xfrm>
          <a:off x="2829552" y="4071428"/>
          <a:ext cx="4384675" cy="1509713"/>
        </p:xfrm>
        <a:graphic>
          <a:graphicData uri="http://schemas.openxmlformats.org/presentationml/2006/ole">
            <mc:AlternateContent xmlns:mc="http://schemas.openxmlformats.org/markup-compatibility/2006">
              <mc:Choice xmlns:v="urn:schemas-microsoft-com:vml" Requires="v">
                <p:oleObj spid="_x0000_s182699" name="Equation" r:id="rId13" imgW="1993900" imgH="685800" progId="Equation.DSMT4">
                  <p:embed/>
                </p:oleObj>
              </mc:Choice>
              <mc:Fallback>
                <p:oleObj name="Equation" r:id="rId13" imgW="1993900" imgH="685800" progId="Equation.DSMT4">
                  <p:embed/>
                  <p:pic>
                    <p:nvPicPr>
                      <p:cNvPr id="19467"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29552" y="4071428"/>
                        <a:ext cx="4384675" cy="1509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6"/>
          <p:cNvSpPr>
            <a:spLocks noChangeArrowheads="1"/>
          </p:cNvSpPr>
          <p:nvPr/>
        </p:nvSpPr>
        <p:spPr bwMode="auto">
          <a:xfrm>
            <a:off x="453486" y="2049325"/>
            <a:ext cx="792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914400" fontAlgn="base">
              <a:spcBef>
                <a:spcPct val="0"/>
              </a:spcBef>
              <a:spcAft>
                <a:spcPct val="0"/>
              </a:spcAft>
            </a:pPr>
            <a:r>
              <a:rPr kumimoji="1" lang="zh-CN" altLang="en-US" sz="2400" b="1" dirty="0">
                <a:solidFill>
                  <a:srgbClr val="000000"/>
                </a:solidFill>
                <a:latin typeface="Times New Roman" pitchFamily="18" charset="0"/>
                <a:ea typeface="宋体" pitchFamily="2" charset="-122"/>
              </a:rPr>
              <a:t>通常将                                             作为强反型判据</a:t>
            </a:r>
          </a:p>
        </p:txBody>
      </p:sp>
      <p:graphicFrame>
        <p:nvGraphicFramePr>
          <p:cNvPr id="14" name="Object 8"/>
          <p:cNvGraphicFramePr>
            <a:graphicFrameLocks noChangeAspect="1"/>
          </p:cNvGraphicFramePr>
          <p:nvPr>
            <p:extLst>
              <p:ext uri="{D42A27DB-BD31-4B8C-83A1-F6EECF244321}">
                <p14:modId xmlns:p14="http://schemas.microsoft.com/office/powerpoint/2010/main" val="2614697635"/>
              </p:ext>
            </p:extLst>
          </p:nvPr>
        </p:nvGraphicFramePr>
        <p:xfrm>
          <a:off x="1540924" y="2012813"/>
          <a:ext cx="3276600" cy="558800"/>
        </p:xfrm>
        <a:graphic>
          <a:graphicData uri="http://schemas.openxmlformats.org/presentationml/2006/ole">
            <mc:AlternateContent xmlns:mc="http://schemas.openxmlformats.org/markup-compatibility/2006">
              <mc:Choice xmlns:v="urn:schemas-microsoft-com:vml" Requires="v">
                <p:oleObj spid="_x0000_s182700" name="Equation" r:id="rId15" imgW="1638300" imgH="279400" progId="Equation.DSMT4">
                  <p:embed/>
                </p:oleObj>
              </mc:Choice>
              <mc:Fallback>
                <p:oleObj name="Equation" r:id="rId15" imgW="1638300" imgH="279400" progId="Equation.DSMT4">
                  <p:embed/>
                  <p:pic>
                    <p:nvPicPr>
                      <p:cNvPr id="1947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0924" y="2012813"/>
                        <a:ext cx="3276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
          <p:cNvSpPr txBox="1"/>
          <p:nvPr/>
        </p:nvSpPr>
        <p:spPr bwMode="auto">
          <a:xfrm>
            <a:off x="381281" y="5583596"/>
            <a:ext cx="8280919" cy="461665"/>
          </a:xfrm>
          <a:prstGeom prst="rect">
            <a:avLst/>
          </a:prstGeom>
          <a:noFill/>
          <a:ln w="12700" cap="sq">
            <a:noFill/>
            <a:miter lim="800000"/>
            <a:headEnd type="none" w="sm" len="sm"/>
            <a:tailEnd type="none" w="sm" len="sm"/>
          </a:ln>
          <a:effectLst/>
        </p:spPr>
        <p:txBody>
          <a:bodyPr wrap="square" rtlCol="0">
            <a:spAutoFit/>
          </a:bodyPr>
          <a:lstStyle/>
          <a:p>
            <a:pPr defTabSz="914400" eaLnBrk="0" fontAlgn="base" hangingPunct="0">
              <a:spcAft>
                <a:spcPct val="0"/>
              </a:spcAft>
            </a:pPr>
            <a:r>
              <a:rPr kumimoji="1" lang="zh-CN" altLang="en-US" sz="2400" b="1" dirty="0" smtClean="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rPr>
              <a:t>因此，强反型对应于表面电荷大于等于体内多子浓度情形。</a:t>
            </a:r>
            <a:endParaRPr kumimoji="1" lang="zh-CN" altLang="en-US" sz="2400" b="1" dirty="0">
              <a:solidFill>
                <a:srgbClr val="FF3300"/>
              </a:solidFill>
              <a:effectLst>
                <a:outerShdw blurRad="38100" dist="38100" dir="2700000" algn="tl">
                  <a:srgbClr val="C0C0C0"/>
                </a:outerShdw>
              </a:effectLst>
              <a:latin typeface="Times New Roman" pitchFamily="18" charset="0"/>
              <a:ea typeface="宋体" charset="-122"/>
              <a:cs typeface="Times New Roman" pitchFamily="18" charset="0"/>
            </a:endParaRPr>
          </a:p>
        </p:txBody>
      </p:sp>
    </p:spTree>
    <p:extLst>
      <p:ext uri="{BB962C8B-B14F-4D97-AF65-F5344CB8AC3E}">
        <p14:creationId xmlns:p14="http://schemas.microsoft.com/office/powerpoint/2010/main" val="13819843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16</a:t>
            </a:fld>
            <a:endParaRPr lang="zh-CN" altLang="en-US"/>
          </a:p>
        </p:txBody>
      </p:sp>
      <p:sp>
        <p:nvSpPr>
          <p:cNvPr id="3" name="Text Box 3"/>
          <p:cNvSpPr txBox="1">
            <a:spLocks noChangeArrowheads="1"/>
          </p:cNvSpPr>
          <p:nvPr/>
        </p:nvSpPr>
        <p:spPr bwMode="auto">
          <a:xfrm>
            <a:off x="1334968" y="694936"/>
            <a:ext cx="238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FF3300"/>
                </a:solidFill>
                <a:effectLst/>
                <a:uLnTx/>
                <a:uFillTx/>
                <a:latin typeface="Times New Roman" pitchFamily="18" charset="0"/>
                <a:ea typeface="宋体" pitchFamily="2" charset="-122"/>
              </a:rPr>
              <a:t>反型时</a:t>
            </a:r>
          </a:p>
        </p:txBody>
      </p:sp>
      <p:sp>
        <p:nvSpPr>
          <p:cNvPr id="4" name="Text Box 4"/>
          <p:cNvSpPr txBox="1">
            <a:spLocks noChangeArrowheads="1"/>
          </p:cNvSpPr>
          <p:nvPr/>
        </p:nvSpPr>
        <p:spPr bwMode="auto">
          <a:xfrm>
            <a:off x="274518" y="1110861"/>
            <a:ext cx="3276600"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3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达到反型后，随栅压增加，在半导体表面区域的电荷将包括耗尽电荷和反型的载流子电荷两部分；而且随栅压的增加将只有很小的电势降在半导体上，因为半导体表面很小的电势增量将使电子浓度增加很多 </a:t>
            </a:r>
          </a:p>
        </p:txBody>
      </p:sp>
      <p:sp>
        <p:nvSpPr>
          <p:cNvPr id="5" name="Text Box 5"/>
          <p:cNvSpPr txBox="1">
            <a:spLocks noChangeArrowheads="1"/>
          </p:cNvSpPr>
          <p:nvPr/>
        </p:nvSpPr>
        <p:spPr bwMode="auto">
          <a:xfrm>
            <a:off x="5448180" y="621911"/>
            <a:ext cx="2171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1" lang="zh-CN" altLang="en-US" sz="2200" b="1" i="0" u="none" strike="noStrike" kern="0" cap="none" spc="0" normalizeH="0" baseline="0" noProof="0">
                <a:ln>
                  <a:noFill/>
                </a:ln>
                <a:solidFill>
                  <a:srgbClr val="000000"/>
                </a:solidFill>
                <a:effectLst/>
                <a:uLnTx/>
                <a:uFillTx/>
                <a:latin typeface="Times New Roman" pitchFamily="18" charset="0"/>
                <a:ea typeface="宋体" pitchFamily="2" charset="-122"/>
              </a:rPr>
              <a:t>电荷分布和电势</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4605" y="1118798"/>
            <a:ext cx="5310188"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5930" y="2750748"/>
            <a:ext cx="288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405" y="5800336"/>
            <a:ext cx="288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4768" y="2811073"/>
            <a:ext cx="119062"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4405" y="5871773"/>
            <a:ext cx="119063"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25188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17</a:t>
            </a:fld>
            <a:endParaRPr lang="zh-CN" altLang="en-US"/>
          </a:p>
        </p:txBody>
      </p:sp>
      <p:graphicFrame>
        <p:nvGraphicFramePr>
          <p:cNvPr id="3" name="Object 33"/>
          <p:cNvGraphicFramePr>
            <a:graphicFrameLocks noChangeAspect="1"/>
          </p:cNvGraphicFramePr>
          <p:nvPr>
            <p:extLst>
              <p:ext uri="{D42A27DB-BD31-4B8C-83A1-F6EECF244321}">
                <p14:modId xmlns:p14="http://schemas.microsoft.com/office/powerpoint/2010/main" val="1943707096"/>
              </p:ext>
            </p:extLst>
          </p:nvPr>
        </p:nvGraphicFramePr>
        <p:xfrm>
          <a:off x="2585708" y="3135942"/>
          <a:ext cx="4089400" cy="990600"/>
        </p:xfrm>
        <a:graphic>
          <a:graphicData uri="http://schemas.openxmlformats.org/presentationml/2006/ole">
            <mc:AlternateContent xmlns:mc="http://schemas.openxmlformats.org/markup-compatibility/2006">
              <mc:Choice xmlns:v="urn:schemas-microsoft-com:vml" Requires="v">
                <p:oleObj spid="_x0000_s183538" name="Equation" r:id="rId3" imgW="2043813" imgH="495085" progId="Equation.DSMT4">
                  <p:embed/>
                </p:oleObj>
              </mc:Choice>
              <mc:Fallback>
                <p:oleObj name="Equation" r:id="rId3" imgW="2043813" imgH="495085" progId="Equation.DSMT4">
                  <p:embed/>
                  <p:pic>
                    <p:nvPicPr>
                      <p:cNvPr id="21535"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708" y="3135942"/>
                        <a:ext cx="4089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4"/>
          <p:cNvGraphicFramePr>
            <a:graphicFrameLocks noChangeAspect="1"/>
          </p:cNvGraphicFramePr>
          <p:nvPr>
            <p:extLst>
              <p:ext uri="{D42A27DB-BD31-4B8C-83A1-F6EECF244321}">
                <p14:modId xmlns:p14="http://schemas.microsoft.com/office/powerpoint/2010/main" val="2601486896"/>
              </p:ext>
            </p:extLst>
          </p:nvPr>
        </p:nvGraphicFramePr>
        <p:xfrm>
          <a:off x="4100183" y="4072567"/>
          <a:ext cx="2082800" cy="914400"/>
        </p:xfrm>
        <a:graphic>
          <a:graphicData uri="http://schemas.openxmlformats.org/presentationml/2006/ole">
            <mc:AlternateContent xmlns:mc="http://schemas.openxmlformats.org/markup-compatibility/2006">
              <mc:Choice xmlns:v="urn:schemas-microsoft-com:vml" Requires="v">
                <p:oleObj spid="_x0000_s183539" name="Equation" r:id="rId5" imgW="1041400" imgH="457200" progId="Equation.DSMT4">
                  <p:embed/>
                </p:oleObj>
              </mc:Choice>
              <mc:Fallback>
                <p:oleObj name="Equation" r:id="rId5" imgW="1041400" imgH="457200" progId="Equation.DSMT4">
                  <p:embed/>
                  <p:pic>
                    <p:nvPicPr>
                      <p:cNvPr id="21536"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0183" y="4072567"/>
                        <a:ext cx="2082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6"/>
          <p:cNvGraphicFramePr>
            <a:graphicFrameLocks noChangeAspect="1"/>
          </p:cNvGraphicFramePr>
          <p:nvPr>
            <p:extLst>
              <p:ext uri="{D42A27DB-BD31-4B8C-83A1-F6EECF244321}">
                <p14:modId xmlns:p14="http://schemas.microsoft.com/office/powerpoint/2010/main" val="2515461348"/>
              </p:ext>
            </p:extLst>
          </p:nvPr>
        </p:nvGraphicFramePr>
        <p:xfrm>
          <a:off x="2334883" y="4950455"/>
          <a:ext cx="2335213" cy="533400"/>
        </p:xfrm>
        <a:graphic>
          <a:graphicData uri="http://schemas.openxmlformats.org/presentationml/2006/ole">
            <mc:AlternateContent xmlns:mc="http://schemas.openxmlformats.org/markup-compatibility/2006">
              <mc:Choice xmlns:v="urn:schemas-microsoft-com:vml" Requires="v">
                <p:oleObj spid="_x0000_s183540" r:id="rId7" imgW="1167893" imgH="266584" progId="Equation.3">
                  <p:embed/>
                </p:oleObj>
              </mc:Choice>
              <mc:Fallback>
                <p:oleObj r:id="rId7" imgW="1167893" imgH="266584" progId="Equation.3">
                  <p:embed/>
                  <p:pic>
                    <p:nvPicPr>
                      <p:cNvPr id="21538"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4883" y="4950455"/>
                        <a:ext cx="23352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37"/>
          <p:cNvSpPr txBox="1">
            <a:spLocks noChangeArrowheads="1"/>
          </p:cNvSpPr>
          <p:nvPr/>
        </p:nvSpPr>
        <p:spPr bwMode="auto">
          <a:xfrm>
            <a:off x="436233" y="967417"/>
            <a:ext cx="82296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高的表面势下，反型电子将局域在靠近表面的窄区域内，发生量子化效应。通常将局域在反型层表面的电子处理成二维电子气。此时，量子效应对载流子的浓度分布产生影响。</a:t>
            </a:r>
          </a:p>
        </p:txBody>
      </p:sp>
      <p:sp>
        <p:nvSpPr>
          <p:cNvPr id="7" name="Text Box 38"/>
          <p:cNvSpPr txBox="1">
            <a:spLocks noChangeArrowheads="1"/>
          </p:cNvSpPr>
          <p:nvPr/>
        </p:nvSpPr>
        <p:spPr bwMode="auto">
          <a:xfrm>
            <a:off x="436233" y="2272342"/>
            <a:ext cx="688816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当反型层电荷密度远大于耗尽层电荷时，反型层电荷密度可表示为：</a:t>
            </a:r>
          </a:p>
        </p:txBody>
      </p:sp>
      <p:sp>
        <p:nvSpPr>
          <p:cNvPr id="8" name="Text Box 39"/>
          <p:cNvSpPr txBox="1">
            <a:spLocks noChangeArrowheads="1"/>
          </p:cNvSpPr>
          <p:nvPr/>
        </p:nvSpPr>
        <p:spPr bwMode="auto">
          <a:xfrm>
            <a:off x="436233" y="4302755"/>
            <a:ext cx="3779838"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由于表面电子浓度满足：</a:t>
            </a:r>
          </a:p>
        </p:txBody>
      </p:sp>
      <p:sp>
        <p:nvSpPr>
          <p:cNvPr id="9" name="Text Box 40"/>
          <p:cNvSpPr txBox="1">
            <a:spLocks noChangeArrowheads="1"/>
          </p:cNvSpPr>
          <p:nvPr/>
        </p:nvSpPr>
        <p:spPr bwMode="auto">
          <a:xfrm>
            <a:off x="1112508" y="4993317"/>
            <a:ext cx="108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则</a:t>
            </a:r>
          </a:p>
        </p:txBody>
      </p:sp>
      <p:sp>
        <p:nvSpPr>
          <p:cNvPr id="10" name="Text Box 41"/>
          <p:cNvSpPr txBox="1">
            <a:spLocks noChangeArrowheads="1"/>
          </p:cNvSpPr>
          <p:nvPr/>
        </p:nvSpPr>
        <p:spPr bwMode="auto">
          <a:xfrm>
            <a:off x="436233" y="5558467"/>
            <a:ext cx="5973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利用经典模型可估算等效反型层厚度：</a:t>
            </a:r>
          </a:p>
        </p:txBody>
      </p:sp>
      <p:graphicFrame>
        <p:nvGraphicFramePr>
          <p:cNvPr id="11" name="Object 43"/>
          <p:cNvGraphicFramePr>
            <a:graphicFrameLocks noChangeAspect="1"/>
          </p:cNvGraphicFramePr>
          <p:nvPr>
            <p:extLst>
              <p:ext uri="{D42A27DB-BD31-4B8C-83A1-F6EECF244321}">
                <p14:modId xmlns:p14="http://schemas.microsoft.com/office/powerpoint/2010/main" val="3091359809"/>
              </p:ext>
            </p:extLst>
          </p:nvPr>
        </p:nvGraphicFramePr>
        <p:xfrm>
          <a:off x="5621008" y="5541005"/>
          <a:ext cx="2971800" cy="508000"/>
        </p:xfrm>
        <a:graphic>
          <a:graphicData uri="http://schemas.openxmlformats.org/presentationml/2006/ole">
            <mc:AlternateContent xmlns:mc="http://schemas.openxmlformats.org/markup-compatibility/2006">
              <mc:Choice xmlns:v="urn:schemas-microsoft-com:vml" Requires="v">
                <p:oleObj spid="_x0000_s183541" name="Equation" r:id="rId9" imgW="1485255" imgH="253890" progId="Equation.DSMT4">
                  <p:embed/>
                </p:oleObj>
              </mc:Choice>
              <mc:Fallback>
                <p:oleObj name="Equation" r:id="rId9" imgW="1485255" imgH="253890" progId="Equation.DSMT4">
                  <p:embed/>
                  <p:pic>
                    <p:nvPicPr>
                      <p:cNvPr id="21545"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21008" y="5541005"/>
                        <a:ext cx="29718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891566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18</a:t>
            </a:fld>
            <a:endParaRPr lang="zh-CN" altLang="en-US"/>
          </a:p>
        </p:txBody>
      </p:sp>
      <p:sp>
        <p:nvSpPr>
          <p:cNvPr id="3" name="Text Box 3"/>
          <p:cNvSpPr txBox="1">
            <a:spLocks noChangeArrowheads="1"/>
          </p:cNvSpPr>
          <p:nvPr/>
        </p:nvSpPr>
        <p:spPr bwMode="auto">
          <a:xfrm>
            <a:off x="427606" y="812141"/>
            <a:ext cx="8390999"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FF3300"/>
                </a:solidFill>
                <a:effectLst/>
                <a:uLnTx/>
                <a:uFillTx/>
                <a:latin typeface="Times New Roman" pitchFamily="18" charset="0"/>
                <a:ea typeface="宋体" pitchFamily="2" charset="-122"/>
              </a:rPr>
              <a:t>反型时</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和肖特基接触不同，</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MOS</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结构由于绝缘层</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SiO</a:t>
            </a:r>
            <a:r>
              <a:rPr kumimoji="1" lang="en-US" altLang="zh-CN" sz="2400" b="1" i="0" u="none" strike="noStrike" kern="0" cap="none" spc="0" normalizeH="0" baseline="-25000" noProof="0" dirty="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的作用不能形成电流，因此，即使有偏置，</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体内的费米能级 </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f</a:t>
            </a:r>
            <a:r>
              <a:rPr kumimoji="1" lang="en-US" altLang="zh-CN" sz="2400" b="1" i="0" u="none" strike="noStrike" kern="0" cap="none" spc="0" normalizeH="0" baseline="-25000" noProof="0" dirty="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也处处相等</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a:t>
            </a:r>
            <a:endPar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endParaRPr>
          </a:p>
          <a:p>
            <a:pPr marL="0" marR="0" lvl="0" indent="0" defTabSz="914400" eaLnBrk="0" fontAlgn="base" latinLnBrk="0" hangingPunct="0">
              <a:lnSpc>
                <a:spcPct val="110000"/>
              </a:lnSpc>
              <a:spcBef>
                <a:spcPct val="0"/>
              </a:spcBef>
              <a:spcAft>
                <a:spcPct val="0"/>
              </a:spcAft>
              <a:buClrTx/>
              <a:buSzTx/>
              <a:buFontTx/>
              <a:buNone/>
              <a:tabLst/>
              <a:defRPr/>
            </a:pPr>
            <a:endParaRPr lang="en-US" altLang="zh-CN" b="1" kern="0" dirty="0">
              <a:solidFill>
                <a:srgbClr val="000000"/>
              </a:solidFill>
            </a:endParaRPr>
          </a:p>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当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时，硅表面处于弱反型；当                   时，表面少子电子浓度将比体内空穴浓度还高，达到强反型。</a:t>
            </a:r>
          </a:p>
        </p:txBody>
      </p:sp>
      <p:graphicFrame>
        <p:nvGraphicFramePr>
          <p:cNvPr id="5" name="Object 5"/>
          <p:cNvGraphicFramePr>
            <a:graphicFrameLocks noChangeAspect="1"/>
          </p:cNvGraphicFramePr>
          <p:nvPr>
            <p:extLst>
              <p:ext uri="{D42A27DB-BD31-4B8C-83A1-F6EECF244321}">
                <p14:modId xmlns:p14="http://schemas.microsoft.com/office/powerpoint/2010/main" val="2483682269"/>
              </p:ext>
            </p:extLst>
          </p:nvPr>
        </p:nvGraphicFramePr>
        <p:xfrm>
          <a:off x="862581" y="2423454"/>
          <a:ext cx="2057400" cy="482600"/>
        </p:xfrm>
        <a:graphic>
          <a:graphicData uri="http://schemas.openxmlformats.org/presentationml/2006/ole">
            <mc:AlternateContent xmlns:mc="http://schemas.openxmlformats.org/markup-compatibility/2006">
              <mc:Choice xmlns:v="urn:schemas-microsoft-com:vml" Requires="v">
                <p:oleObj spid="_x0000_s184622" name="Equation" r:id="rId3" imgW="990600" imgH="200025" progId="Equation.DSMT4">
                  <p:embed/>
                </p:oleObj>
              </mc:Choice>
              <mc:Fallback>
                <p:oleObj name="Equation" r:id="rId3" imgW="990600" imgH="200025" progId="Equation.DSMT4">
                  <p:embed/>
                  <p:pic>
                    <p:nvPicPr>
                      <p:cNvPr id="2253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581" y="2423454"/>
                        <a:ext cx="2057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3150864928"/>
              </p:ext>
            </p:extLst>
          </p:nvPr>
        </p:nvGraphicFramePr>
        <p:xfrm>
          <a:off x="3762944" y="4086170"/>
          <a:ext cx="4724400" cy="2011363"/>
        </p:xfrm>
        <a:graphic>
          <a:graphicData uri="http://schemas.openxmlformats.org/presentationml/2006/ole">
            <mc:AlternateContent xmlns:mc="http://schemas.openxmlformats.org/markup-compatibility/2006">
              <mc:Choice xmlns:v="urn:schemas-microsoft-com:vml" Requires="v">
                <p:oleObj spid="_x0000_s184623" name="Equation" r:id="rId5" imgW="1968500" imgH="838200" progId="Equation.DSMT4">
                  <p:embed/>
                </p:oleObj>
              </mc:Choice>
              <mc:Fallback>
                <p:oleObj name="Equation" r:id="rId5" imgW="1968500" imgH="838200" progId="Equation.DSMT4">
                  <p:embed/>
                  <p:pic>
                    <p:nvPicPr>
                      <p:cNvPr id="2253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2944" y="4086170"/>
                        <a:ext cx="47244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8"/>
          <p:cNvSpPr txBox="1">
            <a:spLocks noChangeArrowheads="1"/>
          </p:cNvSpPr>
          <p:nvPr/>
        </p:nvSpPr>
        <p:spPr bwMode="auto">
          <a:xfrm>
            <a:off x="427606" y="4621158"/>
            <a:ext cx="31115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定义发生强反型时的栅压为阈值电压</a:t>
            </a:r>
            <a:r>
              <a:rPr kumimoji="1" lang="en-US" altLang="zh-CN" sz="2400" b="1" i="1" u="none" strike="noStrike" kern="0" cap="none" spc="0" normalizeH="0" baseline="0" noProof="0">
                <a:ln>
                  <a:noFill/>
                </a:ln>
                <a:solidFill>
                  <a:srgbClr val="000000"/>
                </a:solidFill>
                <a:effectLst/>
                <a:uLnTx/>
                <a:uFillTx/>
                <a:latin typeface="Times New Roman" pitchFamily="18" charset="0"/>
                <a:ea typeface="宋体" pitchFamily="2" charset="-122"/>
              </a:rPr>
              <a:t>V</a:t>
            </a:r>
            <a:r>
              <a:rPr kumimoji="1" lang="en-US" altLang="zh-CN" sz="2400" b="1" i="1" u="none" strike="noStrike" kern="0" cap="none" spc="0" normalizeH="0" baseline="-25000" noProof="0">
                <a:ln>
                  <a:noFill/>
                </a:ln>
                <a:solidFill>
                  <a:srgbClr val="000000"/>
                </a:solidFill>
                <a:effectLst/>
                <a:uLnTx/>
                <a:uFillTx/>
                <a:latin typeface="Times New Roman" pitchFamily="18" charset="0"/>
                <a:ea typeface="宋体" pitchFamily="2" charset="-122"/>
              </a:rPr>
              <a:t>T</a:t>
            </a:r>
            <a:r>
              <a:rPr kumimoji="1" lang="zh-CN" altLang="en-US" sz="2400" b="1" i="1" u="none" strike="noStrike" kern="0" cap="none" spc="0" normalizeH="0" baseline="0" noProof="0">
                <a:ln>
                  <a:noFill/>
                </a:ln>
                <a:solidFill>
                  <a:srgbClr val="000000"/>
                </a:solidFill>
                <a:effectLst/>
                <a:uLnTx/>
                <a:uFillTx/>
                <a:latin typeface="Times New Roman" pitchFamily="18" charset="0"/>
                <a:ea typeface="宋体" pitchFamily="2" charset="-122"/>
              </a:rPr>
              <a:t>：</a:t>
            </a:r>
            <a:endParaRPr kumimoji="1" lang="en-US" altLang="zh-CN" sz="2400" b="1" i="1"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aphicFrame>
        <p:nvGraphicFramePr>
          <p:cNvPr id="8" name="Object 9"/>
          <p:cNvGraphicFramePr>
            <a:graphicFrameLocks noChangeAspect="1"/>
          </p:cNvGraphicFramePr>
          <p:nvPr>
            <p:extLst>
              <p:ext uri="{D42A27DB-BD31-4B8C-83A1-F6EECF244321}">
                <p14:modId xmlns:p14="http://schemas.microsoft.com/office/powerpoint/2010/main" val="2691715097"/>
              </p:ext>
            </p:extLst>
          </p:nvPr>
        </p:nvGraphicFramePr>
        <p:xfrm>
          <a:off x="1338831" y="3394020"/>
          <a:ext cx="3382963" cy="1098550"/>
        </p:xfrm>
        <a:graphic>
          <a:graphicData uri="http://schemas.openxmlformats.org/presentationml/2006/ole">
            <mc:AlternateContent xmlns:mc="http://schemas.openxmlformats.org/markup-compatibility/2006">
              <mc:Choice xmlns:v="urn:schemas-microsoft-com:vml" Requires="v">
                <p:oleObj spid="_x0000_s184624" name="Equation" r:id="rId7" imgW="1409700" imgH="457200" progId="Equation.DSMT4">
                  <p:embed/>
                </p:oleObj>
              </mc:Choice>
              <mc:Fallback>
                <p:oleObj name="Equation" r:id="rId7" imgW="1409700" imgH="457200" progId="Equation.DSMT4">
                  <p:embed/>
                  <p:pic>
                    <p:nvPicPr>
                      <p:cNvPr id="22535"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8831" y="3394020"/>
                        <a:ext cx="3382963"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10"/>
          <p:cNvSpPr>
            <a:spLocks noChangeArrowheads="1"/>
          </p:cNvSpPr>
          <p:nvPr/>
        </p:nvSpPr>
        <p:spPr bwMode="auto">
          <a:xfrm>
            <a:off x="427606" y="370834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ctr" defTabSz="914400" eaLnBrk="0" fontAlgn="base" hangingPunct="0">
              <a:spcBef>
                <a:spcPct val="0"/>
              </a:spcBef>
              <a:spcAft>
                <a:spcPct val="0"/>
              </a:spcAft>
            </a:pPr>
            <a:r>
              <a:rPr kumimoji="1" lang="zh-CN" altLang="en-US" sz="2400" b="1">
                <a:solidFill>
                  <a:srgbClr val="000000"/>
                </a:solidFill>
                <a:latin typeface="Times New Roman" pitchFamily="18" charset="0"/>
                <a:ea typeface="宋体" pitchFamily="2" charset="-122"/>
              </a:rPr>
              <a:t>根据</a:t>
            </a:r>
          </a:p>
        </p:txBody>
      </p:sp>
      <p:graphicFrame>
        <p:nvGraphicFramePr>
          <p:cNvPr id="10" name="对象 1"/>
          <p:cNvGraphicFramePr>
            <a:graphicFrameLocks noChangeAspect="1"/>
          </p:cNvGraphicFramePr>
          <p:nvPr>
            <p:extLst>
              <p:ext uri="{D42A27DB-BD31-4B8C-83A1-F6EECF244321}">
                <p14:modId xmlns:p14="http://schemas.microsoft.com/office/powerpoint/2010/main" val="290492443"/>
              </p:ext>
            </p:extLst>
          </p:nvPr>
        </p:nvGraphicFramePr>
        <p:xfrm>
          <a:off x="6714106" y="2418691"/>
          <a:ext cx="1320800" cy="482600"/>
        </p:xfrm>
        <a:graphic>
          <a:graphicData uri="http://schemas.openxmlformats.org/presentationml/2006/ole">
            <mc:AlternateContent xmlns:mc="http://schemas.openxmlformats.org/markup-compatibility/2006">
              <mc:Choice xmlns:v="urn:schemas-microsoft-com:vml" Requires="v">
                <p:oleObj spid="_x0000_s184625" name="Equation" r:id="rId9" imgW="619057" imgH="200025" progId="Equation.DSMT4">
                  <p:embed/>
                </p:oleObj>
              </mc:Choice>
              <mc:Fallback>
                <p:oleObj name="Equation" r:id="rId9" imgW="619057" imgH="200025" progId="Equation.DSMT4">
                  <p:embed/>
                  <p:pic>
                    <p:nvPicPr>
                      <p:cNvPr id="22538"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14106" y="2418691"/>
                        <a:ext cx="13208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431154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19</a:t>
            </a:fld>
            <a:endParaRPr lang="zh-CN" altLang="en-US"/>
          </a:p>
        </p:txBody>
      </p:sp>
      <p:sp>
        <p:nvSpPr>
          <p:cNvPr id="4" name="Text Box 4"/>
          <p:cNvSpPr txBox="1">
            <a:spLocks noChangeArrowheads="1"/>
          </p:cNvSpPr>
          <p:nvPr/>
        </p:nvSpPr>
        <p:spPr bwMode="auto">
          <a:xfrm>
            <a:off x="369653" y="281595"/>
            <a:ext cx="71893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lvl="0" defTabSz="914400" fontAlgn="base">
              <a:spcBef>
                <a:spcPct val="0"/>
              </a:spcBef>
              <a:spcAft>
                <a:spcPct val="0"/>
              </a:spcAft>
              <a:buClr>
                <a:srgbClr val="990000"/>
              </a:buClr>
              <a:buNone/>
            </a:pPr>
            <a:r>
              <a:rPr kumimoji="1" lang="en-US" altLang="zh-CN" sz="2400" b="1" dirty="0" smtClean="0">
                <a:solidFill>
                  <a:srgbClr val="990000"/>
                </a:solidFill>
                <a:latin typeface="Times New Roman" panose="02020603050405020304" pitchFamily="18" charset="0"/>
                <a:cs typeface="Times New Roman" panose="02020603050405020304" pitchFamily="18" charset="0"/>
              </a:rPr>
              <a:t>2</a:t>
            </a:r>
            <a:r>
              <a:rPr kumimoji="1" lang="zh-CN" altLang="en-US" sz="2400" b="1" dirty="0" smtClean="0">
                <a:solidFill>
                  <a:srgbClr val="990000"/>
                </a:solidFill>
                <a:latin typeface="Times New Roman" panose="02020603050405020304" pitchFamily="18" charset="0"/>
                <a:cs typeface="Times New Roman" panose="02020603050405020304" pitchFamily="18" charset="0"/>
              </a:rPr>
              <a:t>）</a:t>
            </a:r>
            <a:r>
              <a:rPr kumimoji="1" lang="zh-CN" altLang="en-US" sz="2400" b="1" dirty="0">
                <a:solidFill>
                  <a:srgbClr val="990000"/>
                </a:solidFill>
                <a:latin typeface="Times New Roman" panose="02020603050405020304" pitchFamily="18" charset="0"/>
                <a:cs typeface="Times New Roman" panose="02020603050405020304" pitchFamily="18" charset="0"/>
              </a:rPr>
              <a:t>表面空间电荷层电容（</a:t>
            </a:r>
            <a:r>
              <a:rPr kumimoji="1" lang="en-US" altLang="zh-CN" sz="2400" b="1" i="1" dirty="0">
                <a:solidFill>
                  <a:srgbClr val="990000"/>
                </a:solidFill>
                <a:latin typeface="Times New Roman" panose="02020603050405020304" pitchFamily="18" charset="0"/>
                <a:cs typeface="Times New Roman" panose="02020603050405020304" pitchFamily="18" charset="0"/>
              </a:rPr>
              <a:t>C</a:t>
            </a:r>
            <a:r>
              <a:rPr kumimoji="1" lang="en-US" altLang="zh-CN" sz="2400" b="1" baseline="-25000" dirty="0">
                <a:solidFill>
                  <a:srgbClr val="990000"/>
                </a:solidFill>
                <a:latin typeface="Times New Roman" panose="02020603050405020304" pitchFamily="18" charset="0"/>
                <a:cs typeface="Times New Roman" panose="02020603050405020304" pitchFamily="18" charset="0"/>
                <a:sym typeface="Symbol" panose="05050102010706020507" pitchFamily="18" charset="2"/>
              </a:rPr>
              <a:t>s </a:t>
            </a:r>
            <a:r>
              <a:rPr kumimoji="1" lang="en-US" altLang="zh-CN" sz="2400" b="1" dirty="0">
                <a:solidFill>
                  <a:srgbClr val="99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a:solidFill>
                  <a:srgbClr val="99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dirty="0">
                <a:solidFill>
                  <a:srgbClr val="990000"/>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a:solidFill>
                  <a:srgbClr val="990000"/>
                </a:solidFill>
                <a:latin typeface="Times New Roman" panose="02020603050405020304" pitchFamily="18" charset="0"/>
                <a:cs typeface="Times New Roman" panose="02020603050405020304" pitchFamily="18" charset="0"/>
                <a:sym typeface="Symbol" panose="05050102010706020507" pitchFamily="18" charset="2"/>
              </a:rPr>
              <a:t>关系）</a:t>
            </a:r>
            <a:r>
              <a:rPr kumimoji="1" lang="zh-CN" altLang="en-US" sz="2400" b="1" dirty="0">
                <a:solidFill>
                  <a:srgbClr val="0000CC"/>
                </a:solidFill>
                <a:latin typeface="Times New Roman" panose="02020603050405020304" pitchFamily="18" charset="0"/>
                <a:cs typeface="Times New Roman" panose="02020603050405020304" pitchFamily="18" charset="0"/>
              </a:rPr>
              <a:t> </a:t>
            </a:r>
            <a:r>
              <a:rPr kumimoji="1" lang="zh-CN" altLang="en-US" sz="2400" b="1" dirty="0">
                <a:solidFill>
                  <a:prstClr val="black"/>
                </a:solidFill>
                <a:latin typeface="Times New Roman" panose="02020603050405020304" pitchFamily="18" charset="0"/>
                <a:cs typeface="Times New Roman" panose="02020603050405020304" pitchFamily="18" charset="0"/>
              </a:rPr>
              <a:t> </a:t>
            </a:r>
          </a:p>
        </p:txBody>
      </p:sp>
      <p:graphicFrame>
        <p:nvGraphicFramePr>
          <p:cNvPr id="5" name="Object 2"/>
          <p:cNvGraphicFramePr>
            <a:graphicFrameLocks noChangeAspect="1"/>
          </p:cNvGraphicFramePr>
          <p:nvPr>
            <p:extLst>
              <p:ext uri="{D42A27DB-BD31-4B8C-83A1-F6EECF244321}">
                <p14:modId xmlns:p14="http://schemas.microsoft.com/office/powerpoint/2010/main" val="3922839452"/>
              </p:ext>
            </p:extLst>
          </p:nvPr>
        </p:nvGraphicFramePr>
        <p:xfrm>
          <a:off x="522687" y="1715280"/>
          <a:ext cx="7210425" cy="1200150"/>
        </p:xfrm>
        <a:graphic>
          <a:graphicData uri="http://schemas.openxmlformats.org/presentationml/2006/ole">
            <mc:AlternateContent xmlns:mc="http://schemas.openxmlformats.org/markup-compatibility/2006">
              <mc:Choice xmlns:v="urn:schemas-microsoft-com:vml" Requires="v">
                <p:oleObj spid="_x0000_s185406" name="公式" r:id="rId3" imgW="3009900" imgH="495300" progId="Equation.3">
                  <p:embed/>
                </p:oleObj>
              </mc:Choice>
              <mc:Fallback>
                <p:oleObj name="公式" r:id="rId3" imgW="3009900" imgH="495300" progId="Equation.3">
                  <p:embed/>
                  <p:pic>
                    <p:nvPicPr>
                      <p:cNvPr id="8499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687" y="1715280"/>
                        <a:ext cx="72104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Text Box 5"/>
          <p:cNvSpPr txBox="1">
            <a:spLocks noChangeArrowheads="1"/>
          </p:cNvSpPr>
          <p:nvPr/>
        </p:nvSpPr>
        <p:spPr bwMode="auto">
          <a:xfrm>
            <a:off x="154387" y="3117042"/>
            <a:ext cx="8991600"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给定</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，可以计算出</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en-US" sz="2400" b="1" dirty="0" smtClean="0">
              <a:solidFill>
                <a:prstClr val="black"/>
              </a:solidFill>
              <a:latin typeface="Times New Roman" panose="02020603050405020304" pitchFamily="18" charset="0"/>
              <a:cs typeface="Times New Roman" panose="02020603050405020304" pitchFamily="18" charset="0"/>
            </a:endParaRPr>
          </a:p>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说明：上述是假设了</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Q</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sc</a:t>
            </a:r>
            <a:r>
              <a:rPr kumimoji="1" lang="zh-CN" altLang="en-US" sz="2400" b="1" dirty="0" smtClean="0">
                <a:solidFill>
                  <a:prstClr val="black"/>
                </a:solidFill>
                <a:latin typeface="Times New Roman" panose="02020603050405020304" pitchFamily="18" charset="0"/>
                <a:cs typeface="Times New Roman" panose="02020603050405020304" pitchFamily="18" charset="0"/>
              </a:rPr>
              <a:t>完全跟得上</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变化的</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 </a:t>
            </a:r>
            <a:r>
              <a:rPr kumimoji="1" lang="en-US" altLang="zh-CN"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关系式。因此它</a:t>
            </a:r>
            <a:r>
              <a:rPr kumimoji="1" lang="zh-CN" altLang="en-US"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不适用于高频</a:t>
            </a:r>
            <a:r>
              <a:rPr kumimoji="1" lang="en-US" altLang="zh-CN"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C</a:t>
            </a:r>
            <a:r>
              <a:rPr kumimoji="1" lang="zh-CN" altLang="en-US"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zh-CN" altLang="en-US"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特性的反型区</a:t>
            </a:r>
            <a:r>
              <a:rPr kumimoji="1" lang="zh-CN" altLang="en-US" sz="2400" b="1" dirty="0" smtClean="0">
                <a:solidFill>
                  <a:srgbClr val="1F497D"/>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7" name="Text Box 7"/>
          <p:cNvSpPr txBox="1">
            <a:spLocks noChangeArrowheads="1"/>
          </p:cNvSpPr>
          <p:nvPr/>
        </p:nvSpPr>
        <p:spPr bwMode="auto">
          <a:xfrm>
            <a:off x="154387" y="4796617"/>
            <a:ext cx="8763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下面我们分别对</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MOS</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结构的积累、平带、耗尽、反型和强反型区进行简化，以明确物理图象。</a:t>
            </a:r>
          </a:p>
        </p:txBody>
      </p:sp>
      <p:sp>
        <p:nvSpPr>
          <p:cNvPr id="8" name="Text Box 8"/>
          <p:cNvSpPr txBox="1">
            <a:spLocks noChangeArrowheads="1"/>
          </p:cNvSpPr>
          <p:nvPr/>
        </p:nvSpPr>
        <p:spPr bwMode="auto">
          <a:xfrm>
            <a:off x="348062" y="1113617"/>
            <a:ext cx="4465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单位面积表面空间电荷层电容</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p>
        </p:txBody>
      </p:sp>
    </p:spTree>
    <p:extLst>
      <p:ext uri="{BB962C8B-B14F-4D97-AF65-F5344CB8AC3E}">
        <p14:creationId xmlns:p14="http://schemas.microsoft.com/office/powerpoint/2010/main" val="26102876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20</a:t>
            </a:fld>
            <a:endParaRPr lang="zh-CN" altLang="en-US"/>
          </a:p>
        </p:txBody>
      </p:sp>
      <p:sp>
        <p:nvSpPr>
          <p:cNvPr id="3" name="Text Box 2"/>
          <p:cNvSpPr txBox="1">
            <a:spLocks noChangeArrowheads="1"/>
          </p:cNvSpPr>
          <p:nvPr/>
        </p:nvSpPr>
        <p:spPr bwMode="auto">
          <a:xfrm>
            <a:off x="303689" y="371496"/>
            <a:ext cx="8286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800" b="1" dirty="0" smtClean="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积累区</a:t>
            </a:r>
            <a:r>
              <a:rPr kumimoji="1" lang="zh-CN" altLang="en-US"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表面空间电荷层电容和德拜长度</a:t>
            </a:r>
          </a:p>
        </p:txBody>
      </p:sp>
      <p:sp>
        <p:nvSpPr>
          <p:cNvPr id="4" name="Text Box 7"/>
          <p:cNvSpPr txBox="1">
            <a:spLocks noChangeArrowheads="1"/>
          </p:cNvSpPr>
          <p:nvPr/>
        </p:nvSpPr>
        <p:spPr bwMode="auto">
          <a:xfrm>
            <a:off x="248920" y="3402965"/>
            <a:ext cx="8450263" cy="103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35000"/>
              </a:lnSpc>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对于 </a:t>
            </a:r>
            <a:r>
              <a:rPr kumimoji="1" lang="zh-CN" altLang="en-US" sz="2400" b="1" smtClean="0">
                <a:solidFill>
                  <a:srgbClr val="0000CC"/>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srgbClr val="0000CC"/>
                </a:solidFill>
                <a:latin typeface="Times New Roman" panose="02020603050405020304" pitchFamily="18" charset="0"/>
                <a:cs typeface="Times New Roman" panose="02020603050405020304" pitchFamily="18" charset="0"/>
              </a:rPr>
              <a:t>u</a:t>
            </a:r>
            <a:r>
              <a:rPr kumimoji="1" lang="en-US" altLang="zh-CN" sz="2400" b="1" smtClean="0">
                <a:solidFill>
                  <a:srgbClr val="0000CC"/>
                </a:solidFill>
                <a:latin typeface="Times New Roman" panose="02020603050405020304" pitchFamily="18" charset="0"/>
                <a:cs typeface="Times New Roman" panose="02020603050405020304" pitchFamily="18" charset="0"/>
              </a:rPr>
              <a:t>(</a:t>
            </a:r>
            <a:r>
              <a:rPr kumimoji="1" lang="en-US" altLang="zh-CN" sz="2400" b="1" i="1" smtClean="0">
                <a:solidFill>
                  <a:srgbClr val="0000CC"/>
                </a:solidFill>
                <a:latin typeface="Times New Roman" panose="02020603050405020304" pitchFamily="18" charset="0"/>
                <a:cs typeface="Times New Roman" panose="02020603050405020304" pitchFamily="18" charset="0"/>
              </a:rPr>
              <a:t>x</a:t>
            </a:r>
            <a:r>
              <a:rPr kumimoji="1" lang="en-US" altLang="zh-CN" sz="2400" b="1" smtClean="0">
                <a:solidFill>
                  <a:srgbClr val="0000CC"/>
                </a:solidFill>
                <a:latin typeface="Times New Roman" panose="02020603050405020304" pitchFamily="18" charset="0"/>
                <a:cs typeface="Times New Roman" panose="02020603050405020304" pitchFamily="18" charset="0"/>
              </a:rPr>
              <a:t>) &lt;&lt;1</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的情形，</a:t>
            </a:r>
          </a:p>
          <a:p>
            <a:pPr defTabSz="914400" fontAlgn="base">
              <a:lnSpc>
                <a:spcPct val="135000"/>
              </a:lnSpc>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（即</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qV</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x</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K</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r>
              <a:rPr kumimoji="1" lang="en-US" altLang="zh-CN" sz="2400" b="1" i="1" smtClean="0">
                <a:solidFill>
                  <a:prstClr val="black"/>
                </a:solidFill>
                <a:latin typeface="Times New Roman" panose="02020603050405020304" pitchFamily="18" charset="0"/>
                <a:cs typeface="Times New Roman" panose="02020603050405020304" pitchFamily="18" charset="0"/>
              </a:rPr>
              <a:t>T</a:t>
            </a:r>
            <a:r>
              <a:rPr kumimoji="1" lang="en-US" altLang="zh-CN" sz="2400" b="1" smtClean="0">
                <a:solidFill>
                  <a:prstClr val="black"/>
                </a:solidFill>
                <a:latin typeface="Times New Roman" panose="02020603050405020304" pitchFamily="18" charset="0"/>
                <a:cs typeface="Times New Roman" panose="02020603050405020304" pitchFamily="18" charset="0"/>
              </a:rPr>
              <a:t> &lt;&lt;1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x</a:t>
            </a:r>
            <a:r>
              <a:rPr kumimoji="1" lang="en-US" altLang="zh-CN" sz="2400" b="1" smtClean="0">
                <a:solidFill>
                  <a:prstClr val="black"/>
                </a:solidFill>
                <a:latin typeface="Times New Roman" panose="02020603050405020304" pitchFamily="18" charset="0"/>
                <a:cs typeface="Times New Roman" panose="02020603050405020304" pitchFamily="18" charset="0"/>
              </a:rPr>
              <a:t>)&lt;&lt; </a:t>
            </a:r>
            <a:r>
              <a:rPr kumimoji="1" lang="en-US" altLang="zh-CN" sz="2400" b="1" i="1" smtClean="0">
                <a:solidFill>
                  <a:prstClr val="black"/>
                </a:solidFill>
                <a:latin typeface="Times New Roman" panose="02020603050405020304" pitchFamily="18" charset="0"/>
                <a:cs typeface="Times New Roman" panose="02020603050405020304" pitchFamily="18" charset="0"/>
              </a:rPr>
              <a:t>K</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r>
              <a:rPr kumimoji="1" lang="en-US" altLang="zh-CN" sz="2400" b="1" i="1" smtClean="0">
                <a:solidFill>
                  <a:prstClr val="black"/>
                </a:solidFill>
                <a:latin typeface="Times New Roman" panose="02020603050405020304" pitchFamily="18" charset="0"/>
                <a:cs typeface="Times New Roman" panose="02020603050405020304" pitchFamily="18" charset="0"/>
              </a:rPr>
              <a:t>T</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q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srgbClr val="0000CC"/>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0000CC"/>
                </a:solidFill>
                <a:latin typeface="Times New Roman" panose="02020603050405020304" pitchFamily="18" charset="0"/>
                <a:cs typeface="Times New Roman" panose="02020603050405020304" pitchFamily="18" charset="0"/>
              </a:rPr>
              <a:t>s</a:t>
            </a:r>
            <a:r>
              <a:rPr kumimoji="1" lang="en-US" altLang="zh-CN" sz="2400" b="1" smtClean="0">
                <a:solidFill>
                  <a:srgbClr val="0000CC"/>
                </a:solidFill>
                <a:latin typeface="Times New Roman" panose="02020603050405020304" pitchFamily="18" charset="0"/>
                <a:cs typeface="Times New Roman" panose="02020603050405020304" pitchFamily="18" charset="0"/>
              </a:rPr>
              <a:t>&lt; </a:t>
            </a:r>
            <a:r>
              <a:rPr kumimoji="1" lang="en-US" altLang="zh-CN" sz="2400" b="1" smtClean="0">
                <a:solidFill>
                  <a:srgbClr val="0000CC"/>
                </a:solidFill>
                <a:latin typeface="Times New Roman" panose="02020603050405020304" pitchFamily="18" charset="0"/>
                <a:cs typeface="Times New Roman" panose="02020603050405020304" pitchFamily="18" charset="0"/>
                <a:sym typeface="Symbol" panose="05050102010706020507" pitchFamily="18" charset="2"/>
              </a:rPr>
              <a:t> 0</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的情形</a:t>
            </a:r>
            <a:r>
              <a:rPr kumimoji="1" lang="zh-CN" altLang="en-US" sz="2400" b="1" smtClean="0">
                <a:solidFill>
                  <a:prstClr val="black"/>
                </a:solidFill>
                <a:latin typeface="Times New Roman" panose="02020603050405020304" pitchFamily="18" charset="0"/>
                <a:cs typeface="Times New Roman" panose="02020603050405020304" pitchFamily="18" charset="0"/>
              </a:rPr>
              <a:t>） 有：</a:t>
            </a:r>
          </a:p>
        </p:txBody>
      </p:sp>
      <p:sp>
        <p:nvSpPr>
          <p:cNvPr id="5" name="Text Box 8"/>
          <p:cNvSpPr txBox="1">
            <a:spLocks noChangeArrowheads="1"/>
          </p:cNvSpPr>
          <p:nvPr/>
        </p:nvSpPr>
        <p:spPr bwMode="auto">
          <a:xfrm>
            <a:off x="327026" y="1112203"/>
            <a:ext cx="5444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由表面空间电荷层的电荷密度表达式：</a:t>
            </a:r>
          </a:p>
        </p:txBody>
      </p:sp>
      <p:sp>
        <p:nvSpPr>
          <p:cNvPr id="6" name="Text Box 9"/>
          <p:cNvSpPr txBox="1">
            <a:spLocks noChangeArrowheads="1"/>
          </p:cNvSpPr>
          <p:nvPr/>
        </p:nvSpPr>
        <p:spPr bwMode="auto">
          <a:xfrm>
            <a:off x="310833" y="2339340"/>
            <a:ext cx="4868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积累区 </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 </a:t>
            </a:r>
            <a:r>
              <a:rPr kumimoji="1" lang="en-US" altLang="zh-CN" sz="2400" b="1" dirty="0" smtClean="0">
                <a:solidFill>
                  <a:prstClr val="black"/>
                </a:solidFill>
                <a:latin typeface="Times New Roman" panose="02020603050405020304" pitchFamily="18" charset="0"/>
                <a:cs typeface="Times New Roman" panose="02020603050405020304" pitchFamily="18" charset="0"/>
              </a:rPr>
              <a:t>&lt; 0</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 </a:t>
            </a:r>
            <a:r>
              <a:rPr kumimoji="1" lang="en-US" altLang="zh-CN" sz="2400" b="1" dirty="0" smtClean="0">
                <a:solidFill>
                  <a:prstClr val="black"/>
                </a:solidFill>
                <a:latin typeface="Times New Roman" panose="02020603050405020304" pitchFamily="18" charset="0"/>
                <a:cs typeface="Times New Roman" panose="02020603050405020304" pitchFamily="18" charset="0"/>
              </a:rPr>
              <a:t>&lt; 0</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p>
        </p:txBody>
      </p:sp>
      <p:graphicFrame>
        <p:nvGraphicFramePr>
          <p:cNvPr id="7" name="Object 2"/>
          <p:cNvGraphicFramePr>
            <a:graphicFrameLocks noChangeAspect="1"/>
          </p:cNvGraphicFramePr>
          <p:nvPr>
            <p:extLst>
              <p:ext uri="{D42A27DB-BD31-4B8C-83A1-F6EECF244321}">
                <p14:modId xmlns:p14="http://schemas.microsoft.com/office/powerpoint/2010/main" val="1332276304"/>
              </p:ext>
            </p:extLst>
          </p:nvPr>
        </p:nvGraphicFramePr>
        <p:xfrm>
          <a:off x="1364933" y="1648778"/>
          <a:ext cx="5534025" cy="641350"/>
        </p:xfrm>
        <a:graphic>
          <a:graphicData uri="http://schemas.openxmlformats.org/presentationml/2006/ole">
            <mc:AlternateContent xmlns:mc="http://schemas.openxmlformats.org/markup-compatibility/2006">
              <mc:Choice xmlns:v="urn:schemas-microsoft-com:vml" Requires="v">
                <p:oleObj spid="_x0000_s187630" name="公式" r:id="rId4" imgW="2552700" imgH="241300" progId="Equation.3">
                  <p:embed/>
                </p:oleObj>
              </mc:Choice>
              <mc:Fallback>
                <p:oleObj name="公式" r:id="rId4" imgW="2552700" imgH="241300" progId="Equation.3">
                  <p:embed/>
                  <p:pic>
                    <p:nvPicPr>
                      <p:cNvPr id="8807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4933" y="1648778"/>
                        <a:ext cx="5534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
          <p:cNvGraphicFramePr>
            <a:graphicFrameLocks noChangeAspect="1"/>
          </p:cNvGraphicFramePr>
          <p:nvPr>
            <p:extLst>
              <p:ext uri="{D42A27DB-BD31-4B8C-83A1-F6EECF244321}">
                <p14:modId xmlns:p14="http://schemas.microsoft.com/office/powerpoint/2010/main" val="2083260116"/>
              </p:ext>
            </p:extLst>
          </p:nvPr>
        </p:nvGraphicFramePr>
        <p:xfrm>
          <a:off x="2520633" y="2796540"/>
          <a:ext cx="3852862" cy="644525"/>
        </p:xfrm>
        <a:graphic>
          <a:graphicData uri="http://schemas.openxmlformats.org/presentationml/2006/ole">
            <mc:AlternateContent xmlns:mc="http://schemas.openxmlformats.org/markup-compatibility/2006">
              <mc:Choice xmlns:v="urn:schemas-microsoft-com:vml" Requires="v">
                <p:oleObj spid="_x0000_s187631" name="公式" r:id="rId6" imgW="1511300" imgH="241300" progId="Equation.3">
                  <p:embed/>
                </p:oleObj>
              </mc:Choice>
              <mc:Fallback>
                <p:oleObj name="公式" r:id="rId6" imgW="1511300" imgH="241300" progId="Equation.3">
                  <p:embed/>
                  <p:pic>
                    <p:nvPicPr>
                      <p:cNvPr id="88072"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0633" y="2796540"/>
                        <a:ext cx="385286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
          <p:cNvGraphicFramePr>
            <a:graphicFrameLocks noChangeAspect="1"/>
          </p:cNvGraphicFramePr>
          <p:nvPr>
            <p:extLst>
              <p:ext uri="{D42A27DB-BD31-4B8C-83A1-F6EECF244321}">
                <p14:modId xmlns:p14="http://schemas.microsoft.com/office/powerpoint/2010/main" val="957584852"/>
              </p:ext>
            </p:extLst>
          </p:nvPr>
        </p:nvGraphicFramePr>
        <p:xfrm>
          <a:off x="2444433" y="4511040"/>
          <a:ext cx="2387600" cy="585788"/>
        </p:xfrm>
        <a:graphic>
          <a:graphicData uri="http://schemas.openxmlformats.org/presentationml/2006/ole">
            <mc:AlternateContent xmlns:mc="http://schemas.openxmlformats.org/markup-compatibility/2006">
              <mc:Choice xmlns:v="urn:schemas-microsoft-com:vml" Requires="v">
                <p:oleObj spid="_x0000_s187632" name="公式" r:id="rId8" imgW="1028700" imgH="228600" progId="Equation.3">
                  <p:embed/>
                </p:oleObj>
              </mc:Choice>
              <mc:Fallback>
                <p:oleObj name="公式" r:id="rId8" imgW="1028700" imgH="228600" progId="Equation.3">
                  <p:embed/>
                  <p:pic>
                    <p:nvPicPr>
                      <p:cNvPr id="25"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4433" y="4511040"/>
                        <a:ext cx="23876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1335176771"/>
              </p:ext>
            </p:extLst>
          </p:nvPr>
        </p:nvGraphicFramePr>
        <p:xfrm>
          <a:off x="1364933" y="5101121"/>
          <a:ext cx="4800600" cy="1011238"/>
        </p:xfrm>
        <a:graphic>
          <a:graphicData uri="http://schemas.openxmlformats.org/presentationml/2006/ole">
            <mc:AlternateContent xmlns:mc="http://schemas.openxmlformats.org/markup-compatibility/2006">
              <mc:Choice xmlns:v="urn:schemas-microsoft-com:vml" Requires="v">
                <p:oleObj spid="_x0000_s187633" name="公式" r:id="rId10" imgW="2273300" imgH="457200" progId="Equation.3">
                  <p:embed/>
                </p:oleObj>
              </mc:Choice>
              <mc:Fallback>
                <p:oleObj name="公式" r:id="rId10" imgW="2273300" imgH="457200" progId="Equation.3">
                  <p:embed/>
                  <p:pic>
                    <p:nvPicPr>
                      <p:cNvPr id="26"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64933" y="5101121"/>
                        <a:ext cx="480060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655247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21</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3069888181"/>
              </p:ext>
            </p:extLst>
          </p:nvPr>
        </p:nvGraphicFramePr>
        <p:xfrm>
          <a:off x="537250" y="4396740"/>
          <a:ext cx="2717800" cy="704850"/>
        </p:xfrm>
        <a:graphic>
          <a:graphicData uri="http://schemas.openxmlformats.org/presentationml/2006/ole">
            <mc:AlternateContent xmlns:mc="http://schemas.openxmlformats.org/markup-compatibility/2006">
              <mc:Choice xmlns:v="urn:schemas-microsoft-com:vml" Requires="v">
                <p:oleObj spid="_x0000_s188766" name="公式" r:id="rId3" imgW="1016000" imgH="228600" progId="Equation.3">
                  <p:embed/>
                </p:oleObj>
              </mc:Choice>
              <mc:Fallback>
                <p:oleObj name="公式" r:id="rId3" imgW="1016000" imgH="228600" progId="Equation.3">
                  <p:embed/>
                  <p:pic>
                    <p:nvPicPr>
                      <p:cNvPr id="1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250" y="4396740"/>
                        <a:ext cx="27178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Text Box 1028"/>
          <p:cNvSpPr txBox="1">
            <a:spLocks noChangeArrowheads="1"/>
          </p:cNvSpPr>
          <p:nvPr/>
        </p:nvSpPr>
        <p:spPr bwMode="auto">
          <a:xfrm>
            <a:off x="3777337" y="4552315"/>
            <a:ext cx="497042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i="1" smtClean="0">
                <a:solidFill>
                  <a:srgbClr val="0000CC"/>
                </a:solidFill>
                <a:latin typeface="Times New Roman" panose="02020603050405020304" pitchFamily="18" charset="0"/>
                <a:cs typeface="Times New Roman" panose="02020603050405020304" pitchFamily="18" charset="0"/>
              </a:rPr>
              <a:t>L</a:t>
            </a:r>
            <a:r>
              <a:rPr kumimoji="1" lang="en-US" altLang="zh-CN" sz="2400" b="1" baseline="-25000" smtClean="0">
                <a:solidFill>
                  <a:srgbClr val="0000CC"/>
                </a:solidFill>
                <a:latin typeface="Times New Roman" panose="02020603050405020304" pitchFamily="18" charset="0"/>
                <a:cs typeface="Times New Roman" panose="02020603050405020304" pitchFamily="18" charset="0"/>
              </a:rPr>
              <a:t>D</a:t>
            </a:r>
            <a:r>
              <a:rPr kumimoji="1" lang="zh-CN" altLang="en-US" sz="2400" b="1" smtClean="0">
                <a:solidFill>
                  <a:srgbClr val="0000CC"/>
                </a:solidFill>
                <a:latin typeface="Times New Roman" panose="02020603050405020304" pitchFamily="18" charset="0"/>
                <a:cs typeface="Times New Roman" panose="02020603050405020304" pitchFamily="18" charset="0"/>
              </a:rPr>
              <a:t>代表外电场透入半导体的深度</a:t>
            </a:r>
            <a:endParaRPr kumimoji="1" lang="zh-CN" altLang="en-US" sz="2400" b="1" baseline="-25000" smtClean="0">
              <a:solidFill>
                <a:srgbClr val="0000CC"/>
              </a:solidFill>
              <a:latin typeface="Times New Roman" panose="02020603050405020304" pitchFamily="18" charset="0"/>
              <a:cs typeface="Times New Roman" panose="02020603050405020304" pitchFamily="18" charset="0"/>
            </a:endParaRPr>
          </a:p>
        </p:txBody>
      </p:sp>
      <p:sp>
        <p:nvSpPr>
          <p:cNvPr id="5" name="Text Box 1033"/>
          <p:cNvSpPr txBox="1">
            <a:spLocks noChangeArrowheads="1"/>
          </p:cNvSpPr>
          <p:nvPr/>
        </p:nvSpPr>
        <p:spPr bwMode="auto">
          <a:xfrm>
            <a:off x="365800" y="3707765"/>
            <a:ext cx="6954837"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30000"/>
              </a:lnSpc>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边界条件，即</a:t>
            </a:r>
            <a:r>
              <a:rPr kumimoji="1" lang="en-US" altLang="zh-CN" sz="2400" b="1" i="1" smtClean="0">
                <a:solidFill>
                  <a:prstClr val="black"/>
                </a:solidFill>
                <a:latin typeface="Times New Roman" panose="02020603050405020304" pitchFamily="18" charset="0"/>
                <a:cs typeface="Times New Roman" panose="02020603050405020304" pitchFamily="18" charset="0"/>
              </a:rPr>
              <a:t>x</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smtClean="0">
                <a:solidFill>
                  <a:prstClr val="black"/>
                </a:solidFill>
                <a:latin typeface="Times New Roman" panose="02020603050405020304" pitchFamily="18" charset="0"/>
                <a:cs typeface="Times New Roman" panose="02020603050405020304" pitchFamily="18" charset="0"/>
              </a:rPr>
              <a:t>=0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x</a:t>
            </a:r>
            <a:r>
              <a:rPr kumimoji="1" lang="en-US" altLang="zh-CN" sz="2400" b="1" smtClean="0">
                <a:solidFill>
                  <a:prstClr val="black"/>
                </a:solidFill>
                <a:latin typeface="Times New Roman" panose="02020603050405020304" pitchFamily="18" charset="0"/>
                <a:cs typeface="Times New Roman" panose="02020603050405020304" pitchFamily="18" charset="0"/>
              </a:rPr>
              <a:t>=0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zh-CN" altLang="en-US" sz="2400" b="1" smtClean="0">
                <a:solidFill>
                  <a:prstClr val="black"/>
                </a:solidFill>
                <a:latin typeface="Times New Roman" panose="02020603050405020304" pitchFamily="18" charset="0"/>
                <a:cs typeface="Times New Roman" panose="02020603050405020304" pitchFamily="18" charset="0"/>
              </a:rPr>
              <a:t>，得：</a:t>
            </a:r>
          </a:p>
        </p:txBody>
      </p:sp>
      <p:graphicFrame>
        <p:nvGraphicFramePr>
          <p:cNvPr id="6" name="Object 3"/>
          <p:cNvGraphicFramePr>
            <a:graphicFrameLocks noChangeAspect="1"/>
          </p:cNvGraphicFramePr>
          <p:nvPr>
            <p:extLst>
              <p:ext uri="{D42A27DB-BD31-4B8C-83A1-F6EECF244321}">
                <p14:modId xmlns:p14="http://schemas.microsoft.com/office/powerpoint/2010/main" val="426586823"/>
              </p:ext>
            </p:extLst>
          </p:nvPr>
        </p:nvGraphicFramePr>
        <p:xfrm>
          <a:off x="2451775" y="426403"/>
          <a:ext cx="3659187" cy="1050925"/>
        </p:xfrm>
        <a:graphic>
          <a:graphicData uri="http://schemas.openxmlformats.org/presentationml/2006/ole">
            <mc:AlternateContent xmlns:mc="http://schemas.openxmlformats.org/markup-compatibility/2006">
              <mc:Choice xmlns:v="urn:schemas-microsoft-com:vml" Requires="v">
                <p:oleObj spid="_x0000_s188767" name="公式" r:id="rId5" imgW="1574800" imgH="457200" progId="Equation.3">
                  <p:embed/>
                </p:oleObj>
              </mc:Choice>
              <mc:Fallback>
                <p:oleObj name="公式" r:id="rId5" imgW="1574800" imgH="457200" progId="Equation.3">
                  <p:embed/>
                  <p:pic>
                    <p:nvPicPr>
                      <p:cNvPr id="8909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1775" y="426403"/>
                        <a:ext cx="3659187"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Text Box 1035"/>
          <p:cNvSpPr txBox="1">
            <a:spLocks noChangeArrowheads="1"/>
          </p:cNvSpPr>
          <p:nvPr/>
        </p:nvSpPr>
        <p:spPr bwMode="auto">
          <a:xfrm>
            <a:off x="1426250" y="3225165"/>
            <a:ext cx="1731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其通解为：</a:t>
            </a:r>
          </a:p>
        </p:txBody>
      </p:sp>
      <p:graphicFrame>
        <p:nvGraphicFramePr>
          <p:cNvPr id="8" name="Object 4"/>
          <p:cNvGraphicFramePr>
            <a:graphicFrameLocks noChangeAspect="1"/>
          </p:cNvGraphicFramePr>
          <p:nvPr>
            <p:extLst>
              <p:ext uri="{D42A27DB-BD31-4B8C-83A1-F6EECF244321}">
                <p14:modId xmlns:p14="http://schemas.microsoft.com/office/powerpoint/2010/main" val="2525732290"/>
              </p:ext>
            </p:extLst>
          </p:nvPr>
        </p:nvGraphicFramePr>
        <p:xfrm>
          <a:off x="3591600" y="3142615"/>
          <a:ext cx="3817937" cy="582613"/>
        </p:xfrm>
        <a:graphic>
          <a:graphicData uri="http://schemas.openxmlformats.org/presentationml/2006/ole">
            <mc:AlternateContent xmlns:mc="http://schemas.openxmlformats.org/markup-compatibility/2006">
              <mc:Choice xmlns:v="urn:schemas-microsoft-com:vml" Requires="v">
                <p:oleObj spid="_x0000_s188768" name="公式" r:id="rId7" imgW="1536700" imgH="228600" progId="Equation.3">
                  <p:embed/>
                </p:oleObj>
              </mc:Choice>
              <mc:Fallback>
                <p:oleObj name="公式" r:id="rId7" imgW="1536700" imgH="228600" progId="Equation.3">
                  <p:embed/>
                  <p:pic>
                    <p:nvPicPr>
                      <p:cNvPr id="17"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91600" y="3142615"/>
                        <a:ext cx="3817937"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11229758"/>
              </p:ext>
            </p:extLst>
          </p:nvPr>
        </p:nvGraphicFramePr>
        <p:xfrm>
          <a:off x="1423075" y="1561465"/>
          <a:ext cx="2351087" cy="1087438"/>
        </p:xfrm>
        <a:graphic>
          <a:graphicData uri="http://schemas.openxmlformats.org/presentationml/2006/ole">
            <mc:AlternateContent xmlns:mc="http://schemas.openxmlformats.org/markup-compatibility/2006">
              <mc:Choice xmlns:v="urn:schemas-microsoft-com:vml" Requires="v">
                <p:oleObj spid="_x0000_s188769" name="公式" r:id="rId9" imgW="977900" imgH="457200" progId="Equation.3">
                  <p:embed/>
                </p:oleObj>
              </mc:Choice>
              <mc:Fallback>
                <p:oleObj name="公式" r:id="rId9" imgW="977900" imgH="457200" progId="Equation.3">
                  <p:embed/>
                  <p:pic>
                    <p:nvPicPr>
                      <p:cNvPr id="18"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3075" y="1561465"/>
                        <a:ext cx="2351087"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843480954"/>
              </p:ext>
            </p:extLst>
          </p:nvPr>
        </p:nvGraphicFramePr>
        <p:xfrm>
          <a:off x="6288762" y="1612265"/>
          <a:ext cx="2065338" cy="911225"/>
        </p:xfrm>
        <a:graphic>
          <a:graphicData uri="http://schemas.openxmlformats.org/presentationml/2006/ole">
            <mc:AlternateContent xmlns:mc="http://schemas.openxmlformats.org/markup-compatibility/2006">
              <mc:Choice xmlns:v="urn:schemas-microsoft-com:vml" Requires="v">
                <p:oleObj spid="_x0000_s188770" name="公式" r:id="rId11" imgW="1167893" imgH="482391" progId="Equation.3">
                  <p:embed/>
                </p:oleObj>
              </mc:Choice>
              <mc:Fallback>
                <p:oleObj name="公式" r:id="rId11" imgW="1167893" imgH="482391" progId="Equation.3">
                  <p:embed/>
                  <p:pic>
                    <p:nvPicPr>
                      <p:cNvPr id="27"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88762" y="1612265"/>
                        <a:ext cx="2065338"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1035"/>
          <p:cNvSpPr txBox="1">
            <a:spLocks noChangeArrowheads="1"/>
          </p:cNvSpPr>
          <p:nvPr/>
        </p:nvSpPr>
        <p:spPr bwMode="auto">
          <a:xfrm>
            <a:off x="5112425" y="1805940"/>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其中：</a:t>
            </a:r>
          </a:p>
        </p:txBody>
      </p:sp>
      <p:sp>
        <p:nvSpPr>
          <p:cNvPr id="12" name="Text Box 1035"/>
          <p:cNvSpPr txBox="1">
            <a:spLocks noChangeArrowheads="1"/>
          </p:cNvSpPr>
          <p:nvPr/>
        </p:nvSpPr>
        <p:spPr bwMode="auto">
          <a:xfrm>
            <a:off x="235625" y="369253"/>
            <a:ext cx="173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泊松方程：</a:t>
            </a:r>
          </a:p>
        </p:txBody>
      </p:sp>
      <p:sp>
        <p:nvSpPr>
          <p:cNvPr id="13" name="Text Box 1035"/>
          <p:cNvSpPr txBox="1">
            <a:spLocks noChangeArrowheads="1"/>
          </p:cNvSpPr>
          <p:nvPr/>
        </p:nvSpPr>
        <p:spPr bwMode="auto">
          <a:xfrm>
            <a:off x="243562" y="1896428"/>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即：</a:t>
            </a:r>
          </a:p>
        </p:txBody>
      </p:sp>
      <p:sp>
        <p:nvSpPr>
          <p:cNvPr id="14" name="矩形 13"/>
          <p:cNvSpPr/>
          <p:nvPr/>
        </p:nvSpPr>
        <p:spPr>
          <a:xfrm>
            <a:off x="6225262" y="1445578"/>
            <a:ext cx="2262188" cy="1169987"/>
          </a:xfrm>
          <a:prstGeom prst="rect">
            <a:avLst/>
          </a:prstGeom>
          <a:noFill/>
          <a:ln w="25400" cap="flat" cmpd="sng" algn="ctr">
            <a:solidFill>
              <a:srgbClr val="00B050"/>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sng" strike="noStrike" kern="0" cap="none" spc="0" normalizeH="0" baseline="0" noProof="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Text Box 20"/>
          <p:cNvSpPr txBox="1">
            <a:spLocks noChangeArrowheads="1"/>
          </p:cNvSpPr>
          <p:nvPr/>
        </p:nvSpPr>
        <p:spPr bwMode="auto">
          <a:xfrm>
            <a:off x="6491962" y="2706053"/>
            <a:ext cx="2085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990000"/>
                </a:solidFill>
                <a:latin typeface="Times New Roman" panose="02020603050405020304" pitchFamily="18" charset="0"/>
                <a:cs typeface="Times New Roman" panose="02020603050405020304" pitchFamily="18" charset="0"/>
              </a:rPr>
              <a:t>德拜屏蔽长度</a:t>
            </a:r>
            <a:endParaRPr kumimoji="1" lang="zh-CN" altLang="en-US" sz="2400" b="1" smtClean="0">
              <a:solidFill>
                <a:srgbClr val="0000CC"/>
              </a:solidFill>
              <a:latin typeface="Times New Roman" panose="02020603050405020304" pitchFamily="18" charset="0"/>
              <a:cs typeface="Times New Roman" panose="02020603050405020304" pitchFamily="18" charset="0"/>
            </a:endParaRPr>
          </a:p>
        </p:txBody>
      </p:sp>
      <p:sp>
        <p:nvSpPr>
          <p:cNvPr id="16" name="文本框 2"/>
          <p:cNvSpPr txBox="1">
            <a:spLocks noChangeArrowheads="1"/>
          </p:cNvSpPr>
          <p:nvPr/>
        </p:nvSpPr>
        <p:spPr bwMode="auto">
          <a:xfrm>
            <a:off x="3340775" y="2198053"/>
            <a:ext cx="2698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u="sng">
                <a:solidFill>
                  <a:schemeClr val="tx1"/>
                </a:solidFill>
                <a:latin typeface="Arial" panose="020B0604020202020204" pitchFamily="34" charset="0"/>
                <a:ea typeface="宋体" panose="02010600030101010101" pitchFamily="2" charset="-122"/>
              </a:defRPr>
            </a:lvl1pPr>
            <a:lvl2pPr marL="742950" indent="-285750">
              <a:defRPr u="sng">
                <a:solidFill>
                  <a:schemeClr val="tx1"/>
                </a:solidFill>
                <a:latin typeface="Arial" panose="020B0604020202020204" pitchFamily="34" charset="0"/>
                <a:ea typeface="宋体" panose="02010600030101010101" pitchFamily="2" charset="-122"/>
              </a:defRPr>
            </a:lvl2pPr>
            <a:lvl3pPr marL="1143000" indent="-228600">
              <a:defRPr u="sng">
                <a:solidFill>
                  <a:schemeClr val="tx1"/>
                </a:solidFill>
                <a:latin typeface="Arial" panose="020B0604020202020204" pitchFamily="34" charset="0"/>
                <a:ea typeface="宋体" panose="02010600030101010101" pitchFamily="2" charset="-122"/>
              </a:defRPr>
            </a:lvl3pPr>
            <a:lvl4pPr marL="1600200" indent="-228600">
              <a:defRPr u="sng">
                <a:solidFill>
                  <a:schemeClr val="tx1"/>
                </a:solidFill>
                <a:latin typeface="Arial" panose="020B0604020202020204" pitchFamily="34" charset="0"/>
                <a:ea typeface="宋体" panose="02010600030101010101" pitchFamily="2" charset="-122"/>
              </a:defRPr>
            </a:lvl4pPr>
            <a:lvl5pPr marL="2057400" indent="-228600">
              <a:defRPr u="sng">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u="sng">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zh-CN" sz="1800" b="0" i="0" u="none" strike="noStrike" kern="0" cap="none" spc="0" normalizeH="0" baseline="30000" noProof="0" smtClean="0">
                <a:ln>
                  <a:noFill/>
                </a:ln>
                <a:solidFill>
                  <a:prstClr val="black"/>
                </a:solidFill>
                <a:effectLst/>
                <a:uLnTx/>
                <a:uFillTx/>
                <a:latin typeface="Times New Roman" panose="02020603050405020304" pitchFamily="18" charset="0"/>
                <a:cs typeface="Times New Roman" panose="02020603050405020304" pitchFamily="18" charset="0"/>
              </a:rPr>
              <a:t>2</a:t>
            </a:r>
            <a:endParaRPr kumimoji="1" lang="zh-CN" altLang="en-US" sz="1800" b="0" i="0" u="none" strike="noStrike" kern="0" cap="none" spc="0" normalizeH="0" baseline="30000" noProof="0" smtClean="0">
              <a:ln>
                <a:noFill/>
              </a:ln>
              <a:solidFill>
                <a:prstClr val="black"/>
              </a:solidFill>
              <a:effectLst/>
              <a:uLnTx/>
              <a:uFillTx/>
              <a:latin typeface="Times New Roman" panose="02020603050405020304" pitchFamily="18" charset="0"/>
              <a:cs typeface="Times New Roman" panose="02020603050405020304" pitchFamily="18" charset="0"/>
            </a:endParaRPr>
          </a:p>
        </p:txBody>
      </p:sp>
      <p:graphicFrame>
        <p:nvGraphicFramePr>
          <p:cNvPr id="17" name="Object 2"/>
          <p:cNvGraphicFramePr>
            <a:graphicFrameLocks noChangeAspect="1"/>
          </p:cNvGraphicFramePr>
          <p:nvPr>
            <p:extLst>
              <p:ext uri="{D42A27DB-BD31-4B8C-83A1-F6EECF244321}">
                <p14:modId xmlns:p14="http://schemas.microsoft.com/office/powerpoint/2010/main" val="3547720335"/>
              </p:ext>
            </p:extLst>
          </p:nvPr>
        </p:nvGraphicFramePr>
        <p:xfrm>
          <a:off x="243562" y="5156359"/>
          <a:ext cx="4572000" cy="1349375"/>
        </p:xfrm>
        <a:graphic>
          <a:graphicData uri="http://schemas.openxmlformats.org/presentationml/2006/ole">
            <mc:AlternateContent xmlns:mc="http://schemas.openxmlformats.org/markup-compatibility/2006">
              <mc:Choice xmlns:v="urn:schemas-microsoft-com:vml" Requires="v">
                <p:oleObj spid="_x0000_s188771" name="公式" r:id="rId13" imgW="1574800" imgH="457200" progId="Equation.3">
                  <p:embed/>
                </p:oleObj>
              </mc:Choice>
              <mc:Fallback>
                <p:oleObj name="公式" r:id="rId13" imgW="1574800" imgH="457200" progId="Equation.3">
                  <p:embed/>
                  <p:pic>
                    <p:nvPicPr>
                      <p:cNvPr id="19"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3562" y="5156359"/>
                        <a:ext cx="45720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8" name="Text Box 1029"/>
          <p:cNvSpPr txBox="1">
            <a:spLocks noChangeArrowheads="1"/>
          </p:cNvSpPr>
          <p:nvPr/>
        </p:nvSpPr>
        <p:spPr bwMode="auto">
          <a:xfrm>
            <a:off x="5060037" y="5426234"/>
            <a:ext cx="37973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en-US" altLang="zh-CN" sz="2400" b="1" i="1" u="none" dirty="0">
                <a:solidFill>
                  <a:srgbClr val="0000CC"/>
                </a:solidFill>
                <a:latin typeface="Times New Roman" panose="02020603050405020304" pitchFamily="18" charset="0"/>
                <a:cs typeface="Times New Roman" panose="02020603050405020304" pitchFamily="18" charset="0"/>
              </a:rPr>
              <a:t>L</a:t>
            </a:r>
            <a:r>
              <a:rPr kumimoji="1" lang="en-US" altLang="zh-CN" sz="2400" b="1" u="none" baseline="-25000" dirty="0">
                <a:solidFill>
                  <a:srgbClr val="0000CC"/>
                </a:solidFill>
                <a:latin typeface="Times New Roman" panose="02020603050405020304" pitchFamily="18" charset="0"/>
                <a:cs typeface="Times New Roman" panose="02020603050405020304" pitchFamily="18" charset="0"/>
              </a:rPr>
              <a:t>D</a:t>
            </a:r>
            <a:r>
              <a:rPr kumimoji="1" lang="zh-CN" altLang="en-US" sz="2400" b="1" u="none" dirty="0">
                <a:solidFill>
                  <a:srgbClr val="0000CC"/>
                </a:solidFill>
                <a:latin typeface="Times New Roman" panose="02020603050405020304" pitchFamily="18" charset="0"/>
                <a:cs typeface="Times New Roman" panose="02020603050405020304" pitchFamily="18" charset="0"/>
              </a:rPr>
              <a:t>也代表积累层（即屏蔽电荷）的厚度</a:t>
            </a:r>
          </a:p>
        </p:txBody>
      </p:sp>
    </p:spTree>
    <p:extLst>
      <p:ext uri="{BB962C8B-B14F-4D97-AF65-F5344CB8AC3E}">
        <p14:creationId xmlns:p14="http://schemas.microsoft.com/office/powerpoint/2010/main" val="18753647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22</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3106690090"/>
              </p:ext>
            </p:extLst>
          </p:nvPr>
        </p:nvGraphicFramePr>
        <p:xfrm>
          <a:off x="1936473" y="775653"/>
          <a:ext cx="4724400" cy="623887"/>
        </p:xfrm>
        <a:graphic>
          <a:graphicData uri="http://schemas.openxmlformats.org/presentationml/2006/ole">
            <mc:AlternateContent xmlns:mc="http://schemas.openxmlformats.org/markup-compatibility/2006">
              <mc:Choice xmlns:v="urn:schemas-microsoft-com:vml" Requires="v">
                <p:oleObj spid="_x0000_s189735" name="公式" r:id="rId3" imgW="1727200" imgH="241300" progId="Equation.3">
                  <p:embed/>
                </p:oleObj>
              </mc:Choice>
              <mc:Fallback>
                <p:oleObj name="公式" r:id="rId3" imgW="1727200" imgH="241300" progId="Equation.3">
                  <p:embed/>
                  <p:pic>
                    <p:nvPicPr>
                      <p:cNvPr id="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473" y="775653"/>
                        <a:ext cx="47244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5"/>
          <p:cNvSpPr txBox="1">
            <a:spLocks noChangeArrowheads="1"/>
          </p:cNvSpPr>
          <p:nvPr/>
        </p:nvSpPr>
        <p:spPr bwMode="auto">
          <a:xfrm>
            <a:off x="309285" y="269240"/>
            <a:ext cx="5337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积累区：</a:t>
            </a:r>
            <a:r>
              <a:rPr kumimoji="1" lang="en-US" altLang="zh-CN" sz="2400" b="1" i="1" smtClean="0">
                <a:solidFill>
                  <a:srgbClr val="99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990000"/>
                </a:solidFill>
                <a:latin typeface="Times New Roman" panose="02020603050405020304" pitchFamily="18" charset="0"/>
                <a:cs typeface="Times New Roman" panose="02020603050405020304" pitchFamily="18" charset="0"/>
              </a:rPr>
              <a:t>s </a:t>
            </a:r>
            <a:r>
              <a:rPr kumimoji="1" lang="en-US" altLang="zh-CN" sz="2400" b="1" smtClean="0">
                <a:solidFill>
                  <a:srgbClr val="990000"/>
                </a:solidFill>
                <a:latin typeface="Times New Roman" panose="02020603050405020304" pitchFamily="18" charset="0"/>
                <a:cs typeface="Times New Roman" panose="02020603050405020304" pitchFamily="18" charset="0"/>
              </a:rPr>
              <a:t>&lt; 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srgbClr val="990000"/>
                </a:solidFill>
                <a:latin typeface="Times New Roman" panose="02020603050405020304" pitchFamily="18" charset="0"/>
                <a:cs typeface="Times New Roman" panose="02020603050405020304" pitchFamily="18" charset="0"/>
              </a:rPr>
              <a:t>u</a:t>
            </a:r>
            <a:r>
              <a:rPr kumimoji="1" lang="en-US" altLang="zh-CN" sz="2400" b="1" baseline="-25000" smtClean="0">
                <a:solidFill>
                  <a:srgbClr val="990000"/>
                </a:solidFill>
                <a:latin typeface="Times New Roman" panose="02020603050405020304" pitchFamily="18" charset="0"/>
                <a:cs typeface="Times New Roman" panose="02020603050405020304" pitchFamily="18" charset="0"/>
              </a:rPr>
              <a:t>s </a:t>
            </a:r>
            <a:r>
              <a:rPr kumimoji="1" lang="en-US" altLang="zh-CN" sz="2400" b="1" smtClean="0">
                <a:solidFill>
                  <a:srgbClr val="990000"/>
                </a:solidFill>
                <a:latin typeface="Times New Roman" panose="02020603050405020304" pitchFamily="18" charset="0"/>
                <a:cs typeface="Times New Roman" panose="02020603050405020304" pitchFamily="18" charset="0"/>
              </a:rPr>
              <a:t>&lt; 0</a:t>
            </a:r>
            <a:endParaRPr kumimoji="1" lang="en-US" altLang="zh-CN" sz="2400" b="1" smtClean="0">
              <a:solidFill>
                <a:srgbClr val="0000CC"/>
              </a:solidFill>
              <a:latin typeface="Times New Roman" panose="02020603050405020304" pitchFamily="18" charset="0"/>
              <a:cs typeface="Times New Roman" panose="02020603050405020304" pitchFamily="18" charset="0"/>
            </a:endParaRPr>
          </a:p>
        </p:txBody>
      </p:sp>
      <p:graphicFrame>
        <p:nvGraphicFramePr>
          <p:cNvPr id="12" name="Object 4"/>
          <p:cNvGraphicFramePr>
            <a:graphicFrameLocks noChangeAspect="1"/>
          </p:cNvGraphicFramePr>
          <p:nvPr>
            <p:extLst>
              <p:ext uri="{D42A27DB-BD31-4B8C-83A1-F6EECF244321}">
                <p14:modId xmlns:p14="http://schemas.microsoft.com/office/powerpoint/2010/main" val="595100972"/>
              </p:ext>
            </p:extLst>
          </p:nvPr>
        </p:nvGraphicFramePr>
        <p:xfrm>
          <a:off x="1936473" y="1431290"/>
          <a:ext cx="4686300" cy="627063"/>
        </p:xfrm>
        <a:graphic>
          <a:graphicData uri="http://schemas.openxmlformats.org/presentationml/2006/ole">
            <mc:AlternateContent xmlns:mc="http://schemas.openxmlformats.org/markup-compatibility/2006">
              <mc:Choice xmlns:v="urn:schemas-microsoft-com:vml" Requires="v">
                <p:oleObj spid="_x0000_s189736" name="公式" r:id="rId5" imgW="2005729" imgH="266584" progId="Equation.3">
                  <p:embed/>
                </p:oleObj>
              </mc:Choice>
              <mc:Fallback>
                <p:oleObj name="公式" r:id="rId5" imgW="2005729" imgH="266584" progId="Equation.3">
                  <p:embed/>
                  <p:pic>
                    <p:nvPicPr>
                      <p:cNvPr id="1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6473" y="1431290"/>
                        <a:ext cx="4686300"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 name="Object 6"/>
          <p:cNvGraphicFramePr>
            <a:graphicFrameLocks noChangeAspect="1"/>
          </p:cNvGraphicFramePr>
          <p:nvPr>
            <p:extLst>
              <p:ext uri="{D42A27DB-BD31-4B8C-83A1-F6EECF244321}">
                <p14:modId xmlns:p14="http://schemas.microsoft.com/office/powerpoint/2010/main" val="3576834496"/>
              </p:ext>
            </p:extLst>
          </p:nvPr>
        </p:nvGraphicFramePr>
        <p:xfrm>
          <a:off x="872848" y="2275840"/>
          <a:ext cx="6183312" cy="1030288"/>
        </p:xfrm>
        <a:graphic>
          <a:graphicData uri="http://schemas.openxmlformats.org/presentationml/2006/ole">
            <mc:AlternateContent xmlns:mc="http://schemas.openxmlformats.org/markup-compatibility/2006">
              <mc:Choice xmlns:v="urn:schemas-microsoft-com:vml" Requires="v">
                <p:oleObj spid="_x0000_s189737" name="公式" r:id="rId7" imgW="2857500" imgH="495300" progId="Equation.3">
                  <p:embed/>
                </p:oleObj>
              </mc:Choice>
              <mc:Fallback>
                <p:oleObj name="公式" r:id="rId7" imgW="2857500" imgH="495300" progId="Equation.3">
                  <p:embed/>
                  <p:pic>
                    <p:nvPicPr>
                      <p:cNvPr id="1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2848" y="2275840"/>
                        <a:ext cx="6183312" cy="10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4" name="Text Box 17"/>
          <p:cNvSpPr txBox="1">
            <a:spLocks noChangeArrowheads="1"/>
          </p:cNvSpPr>
          <p:nvPr/>
        </p:nvSpPr>
        <p:spPr bwMode="auto">
          <a:xfrm>
            <a:off x="5519460" y="2620328"/>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endParaRPr kumimoji="1" lang="zh-CN" altLang="zh-CN" sz="2800" b="1" u="sng" smtClean="0">
              <a:solidFill>
                <a:prstClr val="black"/>
              </a:solidFill>
              <a:latin typeface="Times New Roman" panose="02020603050405020304" pitchFamily="18" charset="0"/>
              <a:cs typeface="Times New Roman" panose="02020603050405020304" pitchFamily="18" charset="0"/>
            </a:endParaRPr>
          </a:p>
        </p:txBody>
      </p:sp>
      <p:sp>
        <p:nvSpPr>
          <p:cNvPr id="15" name="Text Box 2"/>
          <p:cNvSpPr txBox="1">
            <a:spLocks noChangeArrowheads="1"/>
          </p:cNvSpPr>
          <p:nvPr/>
        </p:nvSpPr>
        <p:spPr bwMode="auto">
          <a:xfrm>
            <a:off x="511235" y="3523615"/>
            <a:ext cx="26050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rPr>
              <a:t>MOS</a:t>
            </a:r>
            <a:r>
              <a:rPr kumimoji="1" lang="zh-CN" altLang="en-US" sz="2400" b="1" smtClean="0">
                <a:solidFill>
                  <a:prstClr val="black"/>
                </a:solidFill>
                <a:latin typeface="Times New Roman" panose="02020603050405020304" pitchFamily="18" charset="0"/>
                <a:cs typeface="Times New Roman" panose="02020603050405020304" pitchFamily="18" charset="0"/>
              </a:rPr>
              <a:t>电容</a:t>
            </a:r>
          </a:p>
        </p:txBody>
      </p:sp>
      <p:graphicFrame>
        <p:nvGraphicFramePr>
          <p:cNvPr id="16" name="Object 2"/>
          <p:cNvGraphicFramePr>
            <a:graphicFrameLocks noChangeAspect="1"/>
          </p:cNvGraphicFramePr>
          <p:nvPr>
            <p:extLst>
              <p:ext uri="{D42A27DB-BD31-4B8C-83A1-F6EECF244321}">
                <p14:modId xmlns:p14="http://schemas.microsoft.com/office/powerpoint/2010/main" val="927441603"/>
              </p:ext>
            </p:extLst>
          </p:nvPr>
        </p:nvGraphicFramePr>
        <p:xfrm>
          <a:off x="2830453" y="3333116"/>
          <a:ext cx="1905628" cy="974939"/>
        </p:xfrm>
        <a:graphic>
          <a:graphicData uri="http://schemas.openxmlformats.org/presentationml/2006/ole">
            <mc:AlternateContent xmlns:mc="http://schemas.openxmlformats.org/markup-compatibility/2006">
              <mc:Choice xmlns:v="urn:schemas-microsoft-com:vml" Requires="v">
                <p:oleObj spid="_x0000_s189738" name="公式" r:id="rId9" imgW="863225" imgH="431613" progId="Equation.3">
                  <p:embed/>
                </p:oleObj>
              </mc:Choice>
              <mc:Fallback>
                <p:oleObj name="公式" r:id="rId9" imgW="863225" imgH="431613" progId="Equation.3">
                  <p:embed/>
                  <p:pic>
                    <p:nvPicPr>
                      <p:cNvPr id="92163"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0453" y="3333116"/>
                        <a:ext cx="1905628" cy="974939"/>
                      </a:xfrm>
                      <a:prstGeom prst="rect">
                        <a:avLst/>
                      </a:prstGeom>
                      <a:noFill/>
                      <a:ln>
                        <a:noFill/>
                      </a:ln>
                      <a:effectLst/>
                    </p:spPr>
                  </p:pic>
                </p:oleObj>
              </mc:Fallback>
            </mc:AlternateContent>
          </a:graphicData>
        </a:graphic>
      </p:graphicFrame>
      <p:sp>
        <p:nvSpPr>
          <p:cNvPr id="17" name="Text Box 4"/>
          <p:cNvSpPr txBox="1">
            <a:spLocks noChangeArrowheads="1"/>
          </p:cNvSpPr>
          <p:nvPr/>
        </p:nvSpPr>
        <p:spPr bwMode="auto">
          <a:xfrm>
            <a:off x="363260" y="4479821"/>
            <a:ext cx="3146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归一化</a:t>
            </a:r>
            <a:r>
              <a:rPr kumimoji="1" lang="en-US" altLang="zh-CN" sz="2400" b="1" dirty="0" smtClean="0">
                <a:solidFill>
                  <a:prstClr val="black"/>
                </a:solidFill>
                <a:latin typeface="Times New Roman" panose="02020603050405020304" pitchFamily="18" charset="0"/>
                <a:cs typeface="Times New Roman" panose="02020603050405020304" pitchFamily="18" charset="0"/>
              </a:rPr>
              <a:t>MOS</a:t>
            </a:r>
            <a:r>
              <a:rPr kumimoji="1" lang="zh-CN" altLang="en-US" sz="2400" b="1" dirty="0" smtClean="0">
                <a:solidFill>
                  <a:prstClr val="black"/>
                </a:solidFill>
                <a:latin typeface="Times New Roman" panose="02020603050405020304" pitchFamily="18" charset="0"/>
                <a:cs typeface="Times New Roman" panose="02020603050405020304" pitchFamily="18" charset="0"/>
              </a:rPr>
              <a:t>电容</a:t>
            </a:r>
          </a:p>
        </p:txBody>
      </p:sp>
      <p:graphicFrame>
        <p:nvGraphicFramePr>
          <p:cNvPr id="18" name="Object 3"/>
          <p:cNvGraphicFramePr>
            <a:graphicFrameLocks noChangeAspect="1"/>
          </p:cNvGraphicFramePr>
          <p:nvPr>
            <p:extLst>
              <p:ext uri="{D42A27DB-BD31-4B8C-83A1-F6EECF244321}">
                <p14:modId xmlns:p14="http://schemas.microsoft.com/office/powerpoint/2010/main" val="1647873077"/>
              </p:ext>
            </p:extLst>
          </p:nvPr>
        </p:nvGraphicFramePr>
        <p:xfrm>
          <a:off x="3116322" y="4328028"/>
          <a:ext cx="4730750" cy="1590675"/>
        </p:xfrm>
        <a:graphic>
          <a:graphicData uri="http://schemas.openxmlformats.org/presentationml/2006/ole">
            <mc:AlternateContent xmlns:mc="http://schemas.openxmlformats.org/markup-compatibility/2006">
              <mc:Choice xmlns:v="urn:schemas-microsoft-com:vml" Requires="v">
                <p:oleObj spid="_x0000_s189739" name="公式" r:id="rId11" imgW="1955800" imgH="673100" progId="Equation.3">
                  <p:embed/>
                </p:oleObj>
              </mc:Choice>
              <mc:Fallback>
                <p:oleObj name="公式" r:id="rId11" imgW="1955800" imgH="673100" progId="Equation.3">
                  <p:embed/>
                  <p:pic>
                    <p:nvPicPr>
                      <p:cNvPr id="22"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16322" y="4328028"/>
                        <a:ext cx="473075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9" name="Text Box 7"/>
          <p:cNvSpPr txBox="1">
            <a:spLocks noChangeArrowheads="1"/>
          </p:cNvSpPr>
          <p:nvPr/>
        </p:nvSpPr>
        <p:spPr bwMode="auto">
          <a:xfrm>
            <a:off x="363260" y="5931852"/>
            <a:ext cx="5826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800" b="1" dirty="0" smtClean="0">
                <a:solidFill>
                  <a:srgbClr val="990000"/>
                </a:solidFill>
                <a:latin typeface="Times New Roman" panose="02020603050405020304" pitchFamily="18" charset="0"/>
                <a:cs typeface="Times New Roman" panose="02020603050405020304" pitchFamily="18" charset="0"/>
              </a:rPr>
              <a:t>|</a:t>
            </a:r>
            <a:r>
              <a:rPr kumimoji="1" lang="en-US" altLang="zh-CN" sz="2800" b="1" i="1" dirty="0" smtClean="0">
                <a:solidFill>
                  <a:srgbClr val="990000"/>
                </a:solidFill>
                <a:latin typeface="Times New Roman" panose="02020603050405020304" pitchFamily="18" charset="0"/>
                <a:cs typeface="Times New Roman" panose="02020603050405020304" pitchFamily="18" charset="0"/>
              </a:rPr>
              <a:t>V</a:t>
            </a:r>
            <a:r>
              <a:rPr kumimoji="1" lang="en-US" altLang="zh-CN" sz="2800" b="1" baseline="-25000" dirty="0" smtClean="0">
                <a:solidFill>
                  <a:srgbClr val="990000"/>
                </a:solidFill>
                <a:latin typeface="Times New Roman" panose="02020603050405020304" pitchFamily="18" charset="0"/>
                <a:cs typeface="Times New Roman" panose="02020603050405020304" pitchFamily="18" charset="0"/>
              </a:rPr>
              <a:t>s</a:t>
            </a:r>
            <a:r>
              <a:rPr kumimoji="1" lang="en-US" altLang="zh-CN" sz="2800" b="1" dirty="0" smtClean="0">
                <a:solidFill>
                  <a:srgbClr val="990000"/>
                </a:solidFill>
                <a:latin typeface="Times New Roman" panose="02020603050405020304" pitchFamily="18" charset="0"/>
                <a:cs typeface="Times New Roman" panose="02020603050405020304" pitchFamily="18" charset="0"/>
              </a:rPr>
              <a:t>|↑</a:t>
            </a:r>
            <a:r>
              <a:rPr kumimoji="1" lang="zh-CN" altLang="en-US" sz="2800" b="1" dirty="0" smtClean="0">
                <a:solidFill>
                  <a:srgbClr val="990000"/>
                </a:solidFill>
                <a:latin typeface="Times New Roman" panose="02020603050405020304" pitchFamily="18" charset="0"/>
                <a:cs typeface="Times New Roman" panose="02020603050405020304" pitchFamily="18" charset="0"/>
              </a:rPr>
              <a:t>（</a:t>
            </a:r>
            <a:r>
              <a:rPr kumimoji="1" lang="en-US" altLang="zh-CN" sz="2800" b="1" i="1" dirty="0" smtClean="0">
                <a:solidFill>
                  <a:srgbClr val="990000"/>
                </a:solidFill>
                <a:latin typeface="Times New Roman" panose="02020603050405020304" pitchFamily="18" charset="0"/>
                <a:cs typeface="Times New Roman" panose="02020603050405020304" pitchFamily="18" charset="0"/>
              </a:rPr>
              <a:t>V</a:t>
            </a:r>
            <a:r>
              <a:rPr kumimoji="1" lang="en-US" altLang="zh-CN" sz="2800" b="1" i="1" baseline="-25000" dirty="0" smtClean="0">
                <a:solidFill>
                  <a:srgbClr val="990000"/>
                </a:solidFill>
                <a:latin typeface="Times New Roman" panose="02020603050405020304" pitchFamily="18" charset="0"/>
                <a:cs typeface="Times New Roman" panose="02020603050405020304" pitchFamily="18" charset="0"/>
              </a:rPr>
              <a:t>s</a:t>
            </a:r>
            <a:r>
              <a:rPr kumimoji="1" lang="en-US" altLang="zh-CN" sz="2800" b="1" dirty="0" smtClean="0">
                <a:solidFill>
                  <a:srgbClr val="990000"/>
                </a:solidFill>
                <a:latin typeface="Times New Roman" panose="02020603050405020304" pitchFamily="18" charset="0"/>
                <a:cs typeface="Times New Roman" panose="02020603050405020304" pitchFamily="18" charset="0"/>
              </a:rPr>
              <a:t>&lt;0</a:t>
            </a:r>
            <a:r>
              <a:rPr kumimoji="1" lang="zh-CN" altLang="en-US" sz="2800" b="1" dirty="0" smtClean="0">
                <a:solidFill>
                  <a:srgbClr val="990000"/>
                </a:solidFill>
                <a:latin typeface="Times New Roman" panose="02020603050405020304" pitchFamily="18" charset="0"/>
                <a:cs typeface="Times New Roman" panose="02020603050405020304" pitchFamily="18" charset="0"/>
              </a:rPr>
              <a:t>）</a:t>
            </a:r>
            <a:r>
              <a:rPr kumimoji="1" lang="zh-CN" altLang="en-US" sz="2800" b="1" dirty="0" smtClean="0">
                <a:solidFill>
                  <a:srgbClr val="0000CC"/>
                </a:solidFill>
                <a:latin typeface="Times New Roman" panose="02020603050405020304" pitchFamily="18" charset="0"/>
                <a:cs typeface="Times New Roman" panose="02020603050405020304" pitchFamily="18" charset="0"/>
              </a:rPr>
              <a:t> </a:t>
            </a:r>
            <a:r>
              <a:rPr kumimoji="1" lang="zh-CN" altLang="en-US" sz="2800" b="1" dirty="0" smtClean="0">
                <a:solidFill>
                  <a:srgbClr val="1F497D"/>
                </a:solidFill>
                <a:latin typeface="Times New Roman" panose="02020603050405020304" pitchFamily="18" charset="0"/>
                <a:cs typeface="Times New Roman" panose="02020603050405020304" pitchFamily="18" charset="0"/>
              </a:rPr>
              <a:t>，</a:t>
            </a:r>
            <a:r>
              <a:rPr kumimoji="1" lang="en-US" altLang="zh-CN" sz="2800" b="1" i="1" dirty="0" smtClean="0">
                <a:solidFill>
                  <a:srgbClr val="990000"/>
                </a:solidFill>
                <a:latin typeface="Times New Roman" panose="02020603050405020304" pitchFamily="18" charset="0"/>
                <a:cs typeface="Times New Roman" panose="02020603050405020304" pitchFamily="18" charset="0"/>
              </a:rPr>
              <a:t>C</a:t>
            </a:r>
            <a:r>
              <a:rPr kumimoji="1" lang="en-US" altLang="zh-CN" sz="2800" b="1" dirty="0" smtClean="0">
                <a:solidFill>
                  <a:srgbClr val="990000"/>
                </a:solidFill>
                <a:latin typeface="Times New Roman" panose="02020603050405020304" pitchFamily="18" charset="0"/>
                <a:cs typeface="Times New Roman" panose="02020603050405020304" pitchFamily="18" charset="0"/>
              </a:rPr>
              <a:t>/</a:t>
            </a:r>
            <a:r>
              <a:rPr kumimoji="1" lang="en-US" altLang="zh-CN" sz="2800" b="1" i="1" dirty="0" smtClean="0">
                <a:solidFill>
                  <a:srgbClr val="990000"/>
                </a:solidFill>
                <a:latin typeface="Times New Roman" panose="02020603050405020304" pitchFamily="18" charset="0"/>
                <a:cs typeface="Times New Roman" panose="02020603050405020304" pitchFamily="18" charset="0"/>
              </a:rPr>
              <a:t>C</a:t>
            </a:r>
            <a:r>
              <a:rPr kumimoji="1" lang="en-US" altLang="zh-CN" sz="2800" b="1" baseline="-25000" dirty="0" smtClean="0">
                <a:solidFill>
                  <a:srgbClr val="990000"/>
                </a:solidFill>
                <a:latin typeface="Times New Roman" panose="02020603050405020304" pitchFamily="18" charset="0"/>
                <a:cs typeface="Times New Roman" panose="02020603050405020304" pitchFamily="18" charset="0"/>
              </a:rPr>
              <a:t>i</a:t>
            </a:r>
            <a:r>
              <a:rPr kumimoji="1" lang="en-US" altLang="zh-CN" sz="2800" b="1" dirty="0" smtClean="0">
                <a:solidFill>
                  <a:srgbClr val="990000"/>
                </a:solidFill>
                <a:latin typeface="Times New Roman" panose="02020603050405020304" pitchFamily="18" charset="0"/>
                <a:cs typeface="Times New Roman" panose="02020603050405020304" pitchFamily="18" charset="0"/>
              </a:rPr>
              <a:t> → 1</a:t>
            </a:r>
            <a:endParaRPr kumimoji="1" lang="en-US" altLang="zh-CN" sz="2800" b="1" dirty="0" smtClean="0">
              <a:solidFill>
                <a:srgbClr val="0000CC"/>
              </a:solidFill>
              <a:latin typeface="Times New Roman" panose="02020603050405020304" pitchFamily="18" charset="0"/>
              <a:cs typeface="Times New Roman" panose="02020603050405020304" pitchFamily="18" charset="0"/>
            </a:endParaRPr>
          </a:p>
        </p:txBody>
      </p:sp>
      <p:sp>
        <p:nvSpPr>
          <p:cNvPr id="20" name="Text Box 23"/>
          <p:cNvSpPr txBox="1">
            <a:spLocks noChangeArrowheads="1"/>
          </p:cNvSpPr>
          <p:nvPr/>
        </p:nvSpPr>
        <p:spPr bwMode="auto">
          <a:xfrm>
            <a:off x="4736081" y="5989001"/>
            <a:ext cx="3597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此即积累区的情况。</a:t>
            </a:r>
          </a:p>
        </p:txBody>
      </p:sp>
    </p:spTree>
    <p:extLst>
      <p:ext uri="{BB962C8B-B14F-4D97-AF65-F5344CB8AC3E}">
        <p14:creationId xmlns:p14="http://schemas.microsoft.com/office/powerpoint/2010/main" val="34040979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23</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2"/>
          <p:cNvSpPr txBox="1">
            <a:spLocks noChangeArrowheads="1"/>
          </p:cNvSpPr>
          <p:nvPr/>
        </p:nvSpPr>
        <p:spPr bwMode="auto">
          <a:xfrm>
            <a:off x="506562" y="420389"/>
            <a:ext cx="3368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平带电容</a:t>
            </a:r>
            <a:r>
              <a:rPr kumimoji="1" lang="en-US" altLang="zh-CN" sz="2800" b="1" i="1" dirty="0" smtClean="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a:t>
            </a:r>
            <a:r>
              <a:rPr kumimoji="1" lang="en-US" altLang="zh-CN" sz="2800" b="1" i="1" baseline="-25000" dirty="0" smtClean="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FB</a:t>
            </a:r>
            <a:endParaRPr kumimoji="1" lang="en-US" altLang="zh-CN" sz="2800" b="1" i="1" baseline="-25000"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 name="Text Box 7"/>
          <p:cNvSpPr txBox="1">
            <a:spLocks noChangeArrowheads="1"/>
          </p:cNvSpPr>
          <p:nvPr/>
        </p:nvSpPr>
        <p:spPr bwMode="auto">
          <a:xfrm>
            <a:off x="331788" y="3226753"/>
            <a:ext cx="8207824"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为此，求极限，将</a:t>
            </a:r>
            <a:r>
              <a:rPr kumimoji="1" lang="zh-CN" altLang="en-US" sz="2400" b="1" i="1"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rPr>
              <a:t>us</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和 </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us</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级数展开：</a:t>
            </a:r>
          </a:p>
          <a:p>
            <a:pPr defTabSz="914400" fontAlgn="base">
              <a:lnSpc>
                <a:spcPct val="120000"/>
              </a:lnSpc>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分子保留到一次项：</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rPr>
              <a:t>us</a:t>
            </a:r>
            <a:r>
              <a:rPr kumimoji="1" lang="en-US" altLang="zh-CN" sz="2400" b="1" i="1" baseline="30000"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dirty="0" smtClean="0">
                <a:solidFill>
                  <a:prstClr val="black"/>
                </a:solidFill>
                <a:latin typeface="Times New Roman" panose="02020603050405020304" pitchFamily="18" charset="0"/>
                <a:cs typeface="Times New Roman" panose="02020603050405020304" pitchFamily="18" charset="0"/>
              </a:rPr>
              <a:t>=1+</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us</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p>
          <a:p>
            <a:pPr defTabSz="914400" fontAlgn="base">
              <a:lnSpc>
                <a:spcPct val="120000"/>
              </a:lnSpc>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分母保留到二次项：</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rPr>
              <a:t>us</a:t>
            </a:r>
            <a:r>
              <a:rPr kumimoji="1" lang="en-US" altLang="zh-CN" sz="2400" b="1" i="1" baseline="30000"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dirty="0" smtClean="0">
                <a:solidFill>
                  <a:prstClr val="black"/>
                </a:solidFill>
                <a:latin typeface="Times New Roman" panose="02020603050405020304" pitchFamily="18" charset="0"/>
                <a:cs typeface="Times New Roman" panose="02020603050405020304" pitchFamily="18" charset="0"/>
              </a:rPr>
              <a:t>=1+</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dirty="0" smtClean="0">
                <a:solidFill>
                  <a:prstClr val="black"/>
                </a:solidFill>
                <a:latin typeface="Times New Roman" panose="02020603050405020304" pitchFamily="18" charset="0"/>
                <a:cs typeface="Times New Roman" panose="02020603050405020304" pitchFamily="18" charset="0"/>
              </a:rPr>
              <a:t>(½)</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baseline="30000" dirty="0" smtClean="0">
                <a:solidFill>
                  <a:prstClr val="black"/>
                </a:solidFill>
                <a:latin typeface="Times New Roman" panose="02020603050405020304" pitchFamily="18" charset="0"/>
                <a:cs typeface="Times New Roman" panose="02020603050405020304" pitchFamily="18" charset="0"/>
              </a:rPr>
              <a:t>2</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e</a:t>
            </a:r>
            <a:r>
              <a:rPr kumimoji="1" lang="en-US" altLang="zh-CN" sz="2400" b="1" i="1" baseline="30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us</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dirty="0" smtClean="0">
                <a:solidFill>
                  <a:prstClr val="black"/>
                </a:solidFill>
                <a:latin typeface="Times New Roman" panose="02020603050405020304" pitchFamily="18" charset="0"/>
                <a:cs typeface="Times New Roman" panose="02020603050405020304" pitchFamily="18" charset="0"/>
              </a:rPr>
              <a:t>+(½)</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u</a:t>
            </a:r>
            <a:r>
              <a:rPr kumimoji="1" lang="en-US" altLang="zh-CN" sz="2400" b="1" i="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baseline="30000" dirty="0" smtClean="0">
                <a:solidFill>
                  <a:prstClr val="black"/>
                </a:solidFill>
                <a:latin typeface="Times New Roman" panose="02020603050405020304" pitchFamily="18" charset="0"/>
                <a:cs typeface="Times New Roman" panose="02020603050405020304" pitchFamily="18" charset="0"/>
              </a:rPr>
              <a:t>2</a:t>
            </a:r>
          </a:p>
        </p:txBody>
      </p:sp>
      <p:graphicFrame>
        <p:nvGraphicFramePr>
          <p:cNvPr id="5" name="Object 2"/>
          <p:cNvGraphicFramePr>
            <a:graphicFrameLocks noChangeAspect="1"/>
          </p:cNvGraphicFramePr>
          <p:nvPr>
            <p:extLst>
              <p:ext uri="{D42A27DB-BD31-4B8C-83A1-F6EECF244321}">
                <p14:modId xmlns:p14="http://schemas.microsoft.com/office/powerpoint/2010/main" val="3864789284"/>
              </p:ext>
            </p:extLst>
          </p:nvPr>
        </p:nvGraphicFramePr>
        <p:xfrm>
          <a:off x="484667" y="4893628"/>
          <a:ext cx="7575550" cy="1144587"/>
        </p:xfrm>
        <a:graphic>
          <a:graphicData uri="http://schemas.openxmlformats.org/presentationml/2006/ole">
            <mc:AlternateContent xmlns:mc="http://schemas.openxmlformats.org/markup-compatibility/2006">
              <mc:Choice xmlns:v="urn:schemas-microsoft-com:vml" Requires="v">
                <p:oleObj spid="_x0000_s190580" name="公式" r:id="rId3" imgW="3365500" imgH="508000" progId="Equation.3">
                  <p:embed/>
                </p:oleObj>
              </mc:Choice>
              <mc:Fallback>
                <p:oleObj name="公式" r:id="rId3" imgW="3365500" imgH="508000" progId="Equation.3">
                  <p:embed/>
                  <p:pic>
                    <p:nvPicPr>
                      <p:cNvPr id="1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667" y="4893628"/>
                        <a:ext cx="7575550" cy="114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Line 10"/>
          <p:cNvSpPr>
            <a:spLocks noChangeShapeType="1"/>
          </p:cNvSpPr>
          <p:nvPr/>
        </p:nvSpPr>
        <p:spPr bwMode="auto">
          <a:xfrm>
            <a:off x="573567" y="5915978"/>
            <a:ext cx="1143000" cy="0"/>
          </a:xfrm>
          <a:prstGeom prst="line">
            <a:avLst/>
          </a:prstGeom>
          <a:noFill/>
          <a:ln w="28575">
            <a:solidFill>
              <a:srgbClr val="990000"/>
            </a:solidFill>
            <a:miter lim="800000"/>
            <a:headEnd/>
            <a:tailEnd/>
          </a:ln>
          <a:extLst>
            <a:ext uri="{909E8E84-426E-40DD-AFC4-6F175D3DCCD1}">
              <a14:hiddenFill xmlns:a14="http://schemas.microsoft.com/office/drawing/2010/main">
                <a:noFill/>
              </a14:hiddenFill>
            </a:ext>
          </a:extLst>
        </p:spPr>
        <p:txBody>
          <a:bodyPr wrap="none"/>
          <a:lstStyle/>
          <a:p>
            <a:pPr defTabSz="914400" eaLnBrk="0" fontAlgn="base" hangingPunct="0">
              <a:spcBef>
                <a:spcPct val="0"/>
              </a:spcBef>
              <a:spcAft>
                <a:spcPct val="0"/>
              </a:spcAft>
            </a:pPr>
            <a:endParaRPr lang="zh-CN" altLang="en-US" u="sng"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Line 11"/>
          <p:cNvSpPr>
            <a:spLocks noChangeShapeType="1"/>
          </p:cNvSpPr>
          <p:nvPr/>
        </p:nvSpPr>
        <p:spPr bwMode="auto">
          <a:xfrm>
            <a:off x="7329967" y="6004878"/>
            <a:ext cx="609600" cy="0"/>
          </a:xfrm>
          <a:prstGeom prst="line">
            <a:avLst/>
          </a:prstGeom>
          <a:noFill/>
          <a:ln w="28575">
            <a:solidFill>
              <a:srgbClr val="990000"/>
            </a:solidFill>
            <a:miter lim="800000"/>
            <a:headEnd/>
            <a:tailEnd/>
          </a:ln>
          <a:extLst>
            <a:ext uri="{909E8E84-426E-40DD-AFC4-6F175D3DCCD1}">
              <a14:hiddenFill xmlns:a14="http://schemas.microsoft.com/office/drawing/2010/main">
                <a:noFill/>
              </a14:hiddenFill>
            </a:ext>
          </a:extLst>
        </p:spPr>
        <p:txBody>
          <a:bodyPr wrap="none"/>
          <a:lstStyle/>
          <a:p>
            <a:pPr defTabSz="914400" eaLnBrk="0" fontAlgn="base" hangingPunct="0">
              <a:spcBef>
                <a:spcPct val="0"/>
              </a:spcBef>
              <a:spcAft>
                <a:spcPct val="0"/>
              </a:spcAft>
            </a:pPr>
            <a:endParaRPr lang="zh-CN" altLang="en-US" u="sng" smtClean="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4135558495"/>
              </p:ext>
            </p:extLst>
          </p:nvPr>
        </p:nvGraphicFramePr>
        <p:xfrm>
          <a:off x="877888" y="1343024"/>
          <a:ext cx="6311900" cy="1050925"/>
        </p:xfrm>
        <a:graphic>
          <a:graphicData uri="http://schemas.openxmlformats.org/presentationml/2006/ole">
            <mc:AlternateContent xmlns:mc="http://schemas.openxmlformats.org/markup-compatibility/2006">
              <mc:Choice xmlns:v="urn:schemas-microsoft-com:vml" Requires="v">
                <p:oleObj spid="_x0000_s190581" name="公式" r:id="rId5" imgW="3009900" imgH="495300" progId="Equation.3">
                  <p:embed/>
                </p:oleObj>
              </mc:Choice>
              <mc:Fallback>
                <p:oleObj name="公式" r:id="rId5" imgW="3009900" imgH="495300" progId="Equation.3">
                  <p:embed/>
                  <p:pic>
                    <p:nvPicPr>
                      <p:cNvPr id="9319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7888" y="1343024"/>
                        <a:ext cx="6311900"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2"/>
          <p:cNvSpPr>
            <a:spLocks noChangeArrowheads="1"/>
          </p:cNvSpPr>
          <p:nvPr/>
        </p:nvSpPr>
        <p:spPr bwMode="auto">
          <a:xfrm>
            <a:off x="331788" y="2687637"/>
            <a:ext cx="685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srgbClr val="000000"/>
                </a:solidFill>
                <a:latin typeface="Times New Roman" panose="02020603050405020304" pitchFamily="18" charset="0"/>
                <a:cs typeface="Times New Roman" panose="02020603050405020304" pitchFamily="18" charset="0"/>
              </a:rPr>
              <a:t>可知平带时分子分母都为</a:t>
            </a:r>
            <a:r>
              <a:rPr kumimoji="1" lang="en-US" altLang="zh-CN" sz="2400" b="1" dirty="0" smtClean="0">
                <a:solidFill>
                  <a:srgbClr val="000000"/>
                </a:solidFill>
                <a:latin typeface="Times New Roman" panose="02020603050405020304" pitchFamily="18" charset="0"/>
                <a:cs typeface="Times New Roman" panose="02020603050405020304" pitchFamily="18" charset="0"/>
              </a:rPr>
              <a:t>0</a:t>
            </a:r>
            <a:r>
              <a:rPr kumimoji="1" lang="zh-CN" altLang="en-US" sz="2400" b="1" dirty="0" smtClean="0">
                <a:solidFill>
                  <a:srgbClr val="000000"/>
                </a:solidFill>
                <a:latin typeface="Times New Roman" panose="02020603050405020304" pitchFamily="18" charset="0"/>
                <a:cs typeface="Times New Roman" panose="02020603050405020304" pitchFamily="18" charset="0"/>
              </a:rPr>
              <a:t>，则</a:t>
            </a:r>
            <a:r>
              <a:rPr kumimoji="1" lang="en-US" altLang="zh-CN" sz="2400" b="1" i="1" dirty="0" smtClean="0">
                <a:solidFill>
                  <a:srgbClr val="000000"/>
                </a:solidFill>
                <a:latin typeface="Times New Roman" panose="02020603050405020304" pitchFamily="18" charset="0"/>
                <a:cs typeface="Times New Roman" panose="02020603050405020304" pitchFamily="18" charset="0"/>
              </a:rPr>
              <a:t>C</a:t>
            </a:r>
            <a:r>
              <a:rPr kumimoji="1" lang="en-US" altLang="zh-CN" sz="2400" b="1" baseline="-25000" dirty="0" smtClean="0">
                <a:solidFill>
                  <a:srgbClr val="000000"/>
                </a:solidFill>
                <a:latin typeface="Times New Roman" panose="02020603050405020304" pitchFamily="18" charset="0"/>
                <a:cs typeface="Times New Roman" panose="02020603050405020304" pitchFamily="18" charset="0"/>
              </a:rPr>
              <a:t>s</a:t>
            </a:r>
            <a:r>
              <a:rPr kumimoji="1" lang="zh-CN" altLang="en-US" sz="2400" b="1" dirty="0" smtClean="0">
                <a:solidFill>
                  <a:srgbClr val="000000"/>
                </a:solidFill>
                <a:latin typeface="Times New Roman" panose="02020603050405020304" pitchFamily="18" charset="0"/>
                <a:cs typeface="Times New Roman" panose="02020603050405020304" pitchFamily="18" charset="0"/>
              </a:rPr>
              <a:t>不确定。</a:t>
            </a:r>
          </a:p>
        </p:txBody>
      </p:sp>
    </p:spTree>
    <p:extLst>
      <p:ext uri="{BB962C8B-B14F-4D97-AF65-F5344CB8AC3E}">
        <p14:creationId xmlns:p14="http://schemas.microsoft.com/office/powerpoint/2010/main" val="41144564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24</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4163162548"/>
              </p:ext>
            </p:extLst>
          </p:nvPr>
        </p:nvGraphicFramePr>
        <p:xfrm>
          <a:off x="3382064" y="196251"/>
          <a:ext cx="2892425" cy="1298575"/>
        </p:xfrm>
        <a:graphic>
          <a:graphicData uri="http://schemas.openxmlformats.org/presentationml/2006/ole">
            <mc:AlternateContent xmlns:mc="http://schemas.openxmlformats.org/markup-compatibility/2006">
              <mc:Choice xmlns:v="urn:schemas-microsoft-com:vml" Requires="v">
                <p:oleObj spid="_x0000_s191661" name="公式" r:id="rId3" imgW="1701800" imgH="635000" progId="Equation.3">
                  <p:embed/>
                </p:oleObj>
              </mc:Choice>
              <mc:Fallback>
                <p:oleObj name="公式" r:id="rId3" imgW="1701800" imgH="635000" progId="Equation.3">
                  <p:embed/>
                  <p:pic>
                    <p:nvPicPr>
                      <p:cNvPr id="2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2064" y="196251"/>
                        <a:ext cx="289242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11"/>
          <p:cNvSpPr txBox="1">
            <a:spLocks noChangeArrowheads="1"/>
          </p:cNvSpPr>
          <p:nvPr/>
        </p:nvSpPr>
        <p:spPr bwMode="auto">
          <a:xfrm>
            <a:off x="318189" y="196251"/>
            <a:ext cx="465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归一化</a:t>
            </a:r>
            <a:r>
              <a:rPr kumimoji="1" lang="en-US" altLang="zh-CN" sz="2400" b="1" smtClean="0">
                <a:solidFill>
                  <a:prstClr val="black"/>
                </a:solidFill>
                <a:latin typeface="Times New Roman" panose="02020603050405020304" pitchFamily="18" charset="0"/>
                <a:cs typeface="Times New Roman" panose="02020603050405020304" pitchFamily="18" charset="0"/>
              </a:rPr>
              <a:t>MOS</a:t>
            </a:r>
            <a:r>
              <a:rPr kumimoji="1" lang="zh-CN" altLang="en-US" sz="2400" b="1" smtClean="0">
                <a:solidFill>
                  <a:prstClr val="black"/>
                </a:solidFill>
                <a:latin typeface="Times New Roman" panose="02020603050405020304" pitchFamily="18" charset="0"/>
                <a:cs typeface="Times New Roman" panose="02020603050405020304" pitchFamily="18" charset="0"/>
              </a:rPr>
              <a:t>电容：</a:t>
            </a:r>
          </a:p>
        </p:txBody>
      </p:sp>
      <p:graphicFrame>
        <p:nvGraphicFramePr>
          <p:cNvPr id="6" name="Object 4"/>
          <p:cNvGraphicFramePr>
            <a:graphicFrameLocks noChangeAspect="1"/>
          </p:cNvGraphicFramePr>
          <p:nvPr>
            <p:extLst>
              <p:ext uri="{D42A27DB-BD31-4B8C-83A1-F6EECF244321}">
                <p14:modId xmlns:p14="http://schemas.microsoft.com/office/powerpoint/2010/main" val="1408913785"/>
              </p:ext>
            </p:extLst>
          </p:nvPr>
        </p:nvGraphicFramePr>
        <p:xfrm>
          <a:off x="1464364" y="1498001"/>
          <a:ext cx="2705100" cy="1116013"/>
        </p:xfrm>
        <a:graphic>
          <a:graphicData uri="http://schemas.openxmlformats.org/presentationml/2006/ole">
            <mc:AlternateContent xmlns:mc="http://schemas.openxmlformats.org/markup-compatibility/2006">
              <mc:Choice xmlns:v="urn:schemas-microsoft-com:vml" Requires="v">
                <p:oleObj spid="_x0000_s191662" name="公式" r:id="rId5" imgW="1167893" imgH="482391" progId="Equation.3">
                  <p:embed/>
                </p:oleObj>
              </mc:Choice>
              <mc:Fallback>
                <p:oleObj name="公式" r:id="rId5" imgW="1167893" imgH="482391" progId="Equation.3">
                  <p:embed/>
                  <p:pic>
                    <p:nvPicPr>
                      <p:cNvPr id="2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4364" y="1498001"/>
                        <a:ext cx="27051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Text Box 27"/>
          <p:cNvSpPr txBox="1">
            <a:spLocks noChangeArrowheads="1"/>
          </p:cNvSpPr>
          <p:nvPr/>
        </p:nvSpPr>
        <p:spPr bwMode="auto">
          <a:xfrm>
            <a:off x="324539" y="1698026"/>
            <a:ext cx="1112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其中：</a:t>
            </a:r>
          </a:p>
        </p:txBody>
      </p:sp>
      <p:sp>
        <p:nvSpPr>
          <p:cNvPr id="8" name="Text Box 28"/>
          <p:cNvSpPr txBox="1">
            <a:spLocks noChangeArrowheads="1"/>
          </p:cNvSpPr>
          <p:nvPr/>
        </p:nvSpPr>
        <p:spPr bwMode="auto">
          <a:xfrm>
            <a:off x="4480614" y="1491384"/>
            <a:ext cx="40608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990000"/>
                </a:solidFill>
                <a:latin typeface="Times New Roman" panose="02020603050405020304" pitchFamily="18" charset="0"/>
                <a:cs typeface="Times New Roman" panose="02020603050405020304" pitchFamily="18" charset="0"/>
              </a:rPr>
              <a:t>可见归一化的平带电容</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C</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FB</a:t>
            </a:r>
            <a:r>
              <a:rPr kumimoji="1" lang="zh-CN" altLang="en-US" sz="2400" b="1" dirty="0" smtClean="0">
                <a:solidFill>
                  <a:srgbClr val="990000"/>
                </a:solidFill>
                <a:latin typeface="Times New Roman" panose="02020603050405020304" pitchFamily="18" charset="0"/>
                <a:cs typeface="Times New Roman" panose="02020603050405020304" pitchFamily="18" charset="0"/>
              </a:rPr>
              <a:t>与衬底掺杂浓度</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N</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A</a:t>
            </a:r>
            <a:r>
              <a:rPr kumimoji="1" lang="zh-CN" altLang="en-US" sz="2400" b="1" dirty="0" smtClean="0">
                <a:solidFill>
                  <a:srgbClr val="990000"/>
                </a:solidFill>
                <a:latin typeface="Times New Roman" panose="02020603050405020304" pitchFamily="18" charset="0"/>
                <a:cs typeface="Times New Roman" panose="02020603050405020304" pitchFamily="18" charset="0"/>
              </a:rPr>
              <a:t>或</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N</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D</a:t>
            </a:r>
            <a:r>
              <a:rPr kumimoji="1" lang="zh-CN" altLang="en-US" sz="2400" b="1" dirty="0" smtClean="0">
                <a:solidFill>
                  <a:srgbClr val="990000"/>
                </a:solidFill>
                <a:latin typeface="Times New Roman" panose="02020603050405020304" pitchFamily="18" charset="0"/>
                <a:cs typeface="Times New Roman" panose="02020603050405020304" pitchFamily="18" charset="0"/>
              </a:rPr>
              <a:t>以及氧化层厚度</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d</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i</a:t>
            </a:r>
            <a:r>
              <a:rPr kumimoji="1" lang="zh-CN" altLang="en-US" sz="2400" b="1" dirty="0" smtClean="0">
                <a:solidFill>
                  <a:srgbClr val="990000"/>
                </a:solidFill>
                <a:latin typeface="Times New Roman" panose="02020603050405020304" pitchFamily="18" charset="0"/>
                <a:cs typeface="Times New Roman" panose="02020603050405020304" pitchFamily="18" charset="0"/>
              </a:rPr>
              <a:t>有关。</a:t>
            </a:r>
          </a:p>
        </p:txBody>
      </p:sp>
      <p:sp>
        <p:nvSpPr>
          <p:cNvPr id="9" name="Text Box 2"/>
          <p:cNvSpPr txBox="1">
            <a:spLocks noChangeArrowheads="1"/>
          </p:cNvSpPr>
          <p:nvPr/>
        </p:nvSpPr>
        <p:spPr bwMode="auto">
          <a:xfrm>
            <a:off x="332476" y="2804406"/>
            <a:ext cx="8991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buFontTx/>
              <a:buNone/>
            </a:pPr>
            <a:r>
              <a:rPr kumimoji="1" lang="zh-CN" altLang="en-US" sz="2400" b="1" u="none">
                <a:latin typeface="Times New Roman" panose="02020603050405020304" pitchFamily="18" charset="0"/>
                <a:cs typeface="Times New Roman" panose="02020603050405020304" pitchFamily="18" charset="0"/>
              </a:rPr>
              <a:t>已知衬底掺杂浓度</a:t>
            </a:r>
            <a:r>
              <a:rPr kumimoji="1" lang="en-US" altLang="zh-CN" sz="2400" b="1" i="1" u="none">
                <a:solidFill>
                  <a:srgbClr val="0000CC"/>
                </a:solidFill>
                <a:latin typeface="Times New Roman" panose="02020603050405020304" pitchFamily="18" charset="0"/>
                <a:cs typeface="Times New Roman" panose="02020603050405020304" pitchFamily="18" charset="0"/>
              </a:rPr>
              <a:t>N</a:t>
            </a:r>
            <a:r>
              <a:rPr kumimoji="1" lang="zh-CN" altLang="en-US" sz="2400" b="1" u="none">
                <a:latin typeface="Times New Roman" panose="02020603050405020304" pitchFamily="18" charset="0"/>
                <a:cs typeface="Times New Roman" panose="02020603050405020304" pitchFamily="18" charset="0"/>
              </a:rPr>
              <a:t>和氧化层厚度</a:t>
            </a:r>
            <a:r>
              <a:rPr kumimoji="1" lang="en-US" altLang="zh-CN" sz="2400" b="1" i="1" u="none">
                <a:solidFill>
                  <a:srgbClr val="0000CC"/>
                </a:solidFill>
                <a:latin typeface="Times New Roman" panose="02020603050405020304" pitchFamily="18" charset="0"/>
                <a:cs typeface="Times New Roman" panose="02020603050405020304" pitchFamily="18" charset="0"/>
              </a:rPr>
              <a:t>d</a:t>
            </a:r>
            <a:r>
              <a:rPr kumimoji="1" lang="en-US" altLang="zh-CN" sz="2400" b="1" u="none" baseline="-25000">
                <a:solidFill>
                  <a:srgbClr val="0000CC"/>
                </a:solidFill>
                <a:latin typeface="Times New Roman" panose="02020603050405020304" pitchFamily="18" charset="0"/>
                <a:cs typeface="Times New Roman" panose="02020603050405020304" pitchFamily="18" charset="0"/>
              </a:rPr>
              <a:t>i</a:t>
            </a:r>
            <a:r>
              <a:rPr kumimoji="1" lang="zh-CN" altLang="en-US" sz="2400" b="1" u="none">
                <a:latin typeface="Times New Roman" panose="02020603050405020304" pitchFamily="18" charset="0"/>
                <a:cs typeface="Times New Roman" panose="02020603050405020304" pitchFamily="18" charset="0"/>
              </a:rPr>
              <a:t>，</a:t>
            </a:r>
            <a:r>
              <a:rPr kumimoji="1" lang="zh-CN" altLang="en-US" sz="2400" b="1" u="none">
                <a:solidFill>
                  <a:srgbClr val="0000CC"/>
                </a:solidFill>
                <a:latin typeface="Times New Roman" panose="02020603050405020304" pitchFamily="18" charset="0"/>
                <a:cs typeface="Times New Roman" panose="02020603050405020304" pitchFamily="18" charset="0"/>
              </a:rPr>
              <a:t>可计算</a:t>
            </a:r>
            <a:r>
              <a:rPr kumimoji="1" lang="en-US" altLang="zh-CN" sz="2400" b="1" i="1" u="none">
                <a:solidFill>
                  <a:srgbClr val="0000CC"/>
                </a:solidFill>
                <a:latin typeface="Times New Roman" panose="02020603050405020304" pitchFamily="18" charset="0"/>
                <a:cs typeface="Times New Roman" panose="02020603050405020304" pitchFamily="18" charset="0"/>
              </a:rPr>
              <a:t>C</a:t>
            </a:r>
            <a:r>
              <a:rPr kumimoji="1" lang="en-US" altLang="zh-CN" sz="2400" b="1" u="none" baseline="-25000">
                <a:solidFill>
                  <a:srgbClr val="0000CC"/>
                </a:solidFill>
                <a:latin typeface="Times New Roman" panose="02020603050405020304" pitchFamily="18" charset="0"/>
                <a:cs typeface="Times New Roman" panose="02020603050405020304" pitchFamily="18" charset="0"/>
              </a:rPr>
              <a:t>FB</a:t>
            </a:r>
            <a:r>
              <a:rPr kumimoji="1" lang="zh-CN" altLang="en-US" sz="2400" b="1" u="none">
                <a:latin typeface="Times New Roman" panose="02020603050405020304" pitchFamily="18" charset="0"/>
                <a:cs typeface="Times New Roman" panose="02020603050405020304" pitchFamily="18" charset="0"/>
              </a:rPr>
              <a:t>。</a:t>
            </a:r>
            <a:endParaRPr kumimoji="1" lang="zh-CN" altLang="en-US" sz="2400" b="1" u="none" baseline="-25000">
              <a:latin typeface="Times New Roman" panose="02020603050405020304" pitchFamily="18" charset="0"/>
              <a:cs typeface="Times New Roman" panose="02020603050405020304" pitchFamily="18" charset="0"/>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3020761804"/>
              </p:ext>
            </p:extLst>
          </p:nvPr>
        </p:nvGraphicFramePr>
        <p:xfrm>
          <a:off x="2376785" y="3453801"/>
          <a:ext cx="4679375" cy="3258273"/>
        </p:xfrm>
        <a:graphic>
          <a:graphicData uri="http://schemas.openxmlformats.org/presentationml/2006/ole">
            <mc:AlternateContent xmlns:mc="http://schemas.openxmlformats.org/markup-compatibility/2006">
              <mc:Choice xmlns:v="urn:schemas-microsoft-com:vml" Requires="v">
                <p:oleObj spid="_x0000_s191663" name="BMP 图象" r:id="rId7" imgW="8333333" imgH="5800000" progId="PBrush">
                  <p:embed/>
                </p:oleObj>
              </mc:Choice>
              <mc:Fallback>
                <p:oleObj name="BMP 图象" r:id="rId7" imgW="8333333" imgH="5800000" progId="PBrush">
                  <p:embed/>
                  <p:pic>
                    <p:nvPicPr>
                      <p:cNvPr id="95235"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6785" y="3453801"/>
                        <a:ext cx="4679375" cy="325827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114887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25</a:t>
            </a:fld>
            <a:endParaRPr lang="zh-CN" altLang="en-US"/>
          </a:p>
        </p:txBody>
      </p:sp>
      <p:sp>
        <p:nvSpPr>
          <p:cNvPr id="3" name="Text Box 2"/>
          <p:cNvSpPr txBox="1">
            <a:spLocks noChangeArrowheads="1"/>
          </p:cNvSpPr>
          <p:nvPr/>
        </p:nvSpPr>
        <p:spPr bwMode="auto">
          <a:xfrm>
            <a:off x="310551" y="361321"/>
            <a:ext cx="88030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800" b="1" dirty="0" smtClean="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耗尽层</a:t>
            </a:r>
            <a:r>
              <a:rPr kumimoji="1" lang="zh-CN" altLang="en-US"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宽度和耗尽时半导体表面空间电荷层电容</a:t>
            </a:r>
          </a:p>
        </p:txBody>
      </p:sp>
      <p:graphicFrame>
        <p:nvGraphicFramePr>
          <p:cNvPr id="4" name="Object 2"/>
          <p:cNvGraphicFramePr>
            <a:graphicFrameLocks noChangeAspect="1"/>
          </p:cNvGraphicFramePr>
          <p:nvPr>
            <p:extLst>
              <p:ext uri="{D42A27DB-BD31-4B8C-83A1-F6EECF244321}">
                <p14:modId xmlns:p14="http://schemas.microsoft.com/office/powerpoint/2010/main" val="100059390"/>
              </p:ext>
            </p:extLst>
          </p:nvPr>
        </p:nvGraphicFramePr>
        <p:xfrm>
          <a:off x="1536101" y="1722647"/>
          <a:ext cx="5826125" cy="617538"/>
        </p:xfrm>
        <a:graphic>
          <a:graphicData uri="http://schemas.openxmlformats.org/presentationml/2006/ole">
            <mc:AlternateContent xmlns:mc="http://schemas.openxmlformats.org/markup-compatibility/2006">
              <mc:Choice xmlns:v="urn:schemas-microsoft-com:vml" Requires="v">
                <p:oleObj spid="_x0000_s192746" name="公式" r:id="rId3" imgW="2514600" imgH="241300" progId="Equation.3">
                  <p:embed/>
                </p:oleObj>
              </mc:Choice>
              <mc:Fallback>
                <p:oleObj name="公式" r:id="rId3" imgW="2514600" imgH="241300" progId="Equation.3">
                  <p:embed/>
                  <p:pic>
                    <p:nvPicPr>
                      <p:cNvPr id="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101" y="1722647"/>
                        <a:ext cx="5826125"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 name="Text Box 7"/>
          <p:cNvSpPr txBox="1">
            <a:spLocks noChangeArrowheads="1"/>
          </p:cNvSpPr>
          <p:nvPr/>
        </p:nvSpPr>
        <p:spPr bwMode="auto">
          <a:xfrm>
            <a:off x="375638" y="1268622"/>
            <a:ext cx="6075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隶书" panose="02010509060101010101" pitchFamily="49" charset="-122"/>
                <a:ea typeface="隶书" panose="02010509060101010101" pitchFamily="49" charset="-122"/>
                <a:cs typeface="楷体_GB2312"/>
              </a:rPr>
              <a:t>耗尽区</a:t>
            </a:r>
            <a:r>
              <a:rPr kumimoji="1" lang="zh-CN" altLang="en-US" sz="2400" b="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 </a:t>
            </a:r>
            <a:r>
              <a:rPr kumimoji="1" lang="en-US" altLang="zh-CN" sz="2400" b="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0 &lt;</a:t>
            </a:r>
            <a:r>
              <a:rPr kumimoji="1" lang="en-US" altLang="zh-CN" sz="2400" b="1" i="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s </a:t>
            </a:r>
            <a:r>
              <a:rPr kumimoji="1" lang="en-US" altLang="zh-CN" sz="2400" b="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&lt; </a:t>
            </a:r>
            <a:r>
              <a:rPr kumimoji="1" lang="en-US" altLang="zh-CN" sz="2400" b="1" i="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F</a:t>
            </a:r>
            <a:r>
              <a:rPr kumimoji="1" lang="zh-CN" altLang="en-US" sz="2400" b="1" dirty="0" smtClean="0">
                <a:solidFill>
                  <a:prstClr val="black"/>
                </a:solidFill>
                <a:latin typeface="隶书" panose="02010509060101010101" pitchFamily="49" charset="-122"/>
                <a:ea typeface="隶书" panose="02010509060101010101" pitchFamily="49" charset="-122"/>
                <a:cs typeface="楷体_GB2312"/>
              </a:rPr>
              <a:t>，</a:t>
            </a:r>
          </a:p>
        </p:txBody>
      </p:sp>
      <p:graphicFrame>
        <p:nvGraphicFramePr>
          <p:cNvPr id="6" name="Object 3"/>
          <p:cNvGraphicFramePr>
            <a:graphicFrameLocks noChangeAspect="1"/>
          </p:cNvGraphicFramePr>
          <p:nvPr>
            <p:extLst>
              <p:ext uri="{D42A27DB-BD31-4B8C-83A1-F6EECF244321}">
                <p14:modId xmlns:p14="http://schemas.microsoft.com/office/powerpoint/2010/main" val="388567280"/>
              </p:ext>
            </p:extLst>
          </p:nvPr>
        </p:nvGraphicFramePr>
        <p:xfrm>
          <a:off x="2725138" y="2265572"/>
          <a:ext cx="2911475" cy="884238"/>
        </p:xfrm>
        <a:graphic>
          <a:graphicData uri="http://schemas.openxmlformats.org/presentationml/2006/ole">
            <mc:AlternateContent xmlns:mc="http://schemas.openxmlformats.org/markup-compatibility/2006">
              <mc:Choice xmlns:v="urn:schemas-microsoft-com:vml" Requires="v">
                <p:oleObj spid="_x0000_s192747" name="公式" r:id="rId5" imgW="1497950" imgH="431613" progId="Equation.3">
                  <p:embed/>
                </p:oleObj>
              </mc:Choice>
              <mc:Fallback>
                <p:oleObj name="公式" r:id="rId5" imgW="1497950" imgH="431613" progId="Equation.3">
                  <p:embed/>
                  <p:pic>
                    <p:nvPicPr>
                      <p:cNvPr id="1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5138" y="2265572"/>
                        <a:ext cx="2911475"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2726257042"/>
              </p:ext>
            </p:extLst>
          </p:nvPr>
        </p:nvGraphicFramePr>
        <p:xfrm>
          <a:off x="2104426" y="3202197"/>
          <a:ext cx="5400675" cy="973138"/>
        </p:xfrm>
        <a:graphic>
          <a:graphicData uri="http://schemas.openxmlformats.org/presentationml/2006/ole">
            <mc:AlternateContent xmlns:mc="http://schemas.openxmlformats.org/markup-compatibility/2006">
              <mc:Choice xmlns:v="urn:schemas-microsoft-com:vml" Requires="v">
                <p:oleObj spid="_x0000_s192748" name="公式" r:id="rId7" imgW="2324100" imgH="482600" progId="Equation.3">
                  <p:embed/>
                </p:oleObj>
              </mc:Choice>
              <mc:Fallback>
                <p:oleObj name="公式" r:id="rId7" imgW="2324100" imgH="482600" progId="Equation.3">
                  <p:embed/>
                  <p:pic>
                    <p:nvPicPr>
                      <p:cNvPr id="1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4426" y="3202197"/>
                        <a:ext cx="5400675"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2278737407"/>
              </p:ext>
            </p:extLst>
          </p:nvPr>
        </p:nvGraphicFramePr>
        <p:xfrm>
          <a:off x="2164751" y="4357897"/>
          <a:ext cx="5353050" cy="647700"/>
        </p:xfrm>
        <a:graphic>
          <a:graphicData uri="http://schemas.openxmlformats.org/presentationml/2006/ole">
            <mc:AlternateContent xmlns:mc="http://schemas.openxmlformats.org/markup-compatibility/2006">
              <mc:Choice xmlns:v="urn:schemas-microsoft-com:vml" Requires="v">
                <p:oleObj spid="_x0000_s192749" name="公式" r:id="rId9" imgW="2616200" imgH="266700" progId="Equation.3">
                  <p:embed/>
                </p:oleObj>
              </mc:Choice>
              <mc:Fallback>
                <p:oleObj name="公式" r:id="rId9" imgW="2616200" imgH="266700" progId="Equation.3">
                  <p:embed/>
                  <p:pic>
                    <p:nvPicPr>
                      <p:cNvPr id="16"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4751" y="4357897"/>
                        <a:ext cx="53530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9" name="Text Box 12"/>
          <p:cNvSpPr txBox="1">
            <a:spLocks noChangeArrowheads="1"/>
          </p:cNvSpPr>
          <p:nvPr/>
        </p:nvSpPr>
        <p:spPr bwMode="auto">
          <a:xfrm>
            <a:off x="310551" y="3010110"/>
            <a:ext cx="213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隶书" panose="02010509060101010101" pitchFamily="49" charset="-122"/>
                <a:ea typeface="隶书" panose="02010509060101010101" pitchFamily="49" charset="-122"/>
                <a:cs typeface="楷体_GB2312"/>
              </a:rPr>
              <a:t>表面电场：</a:t>
            </a:r>
          </a:p>
        </p:txBody>
      </p:sp>
      <p:sp>
        <p:nvSpPr>
          <p:cNvPr id="10" name="Text Box 15"/>
          <p:cNvSpPr txBox="1">
            <a:spLocks noChangeArrowheads="1"/>
          </p:cNvSpPr>
          <p:nvPr/>
        </p:nvSpPr>
        <p:spPr bwMode="auto">
          <a:xfrm>
            <a:off x="375638" y="5335797"/>
            <a:ext cx="3478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i="1" dirty="0" err="1"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E</a:t>
            </a:r>
            <a:r>
              <a:rPr kumimoji="1" lang="en-US" altLang="zh-CN" sz="2400" b="1" baseline="-25000" dirty="0" err="1"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s</a:t>
            </a:r>
            <a:r>
              <a:rPr kumimoji="1" lang="en-US" altLang="zh-CN" sz="2400" b="1" baseline="-25000" dirty="0" smtClean="0">
                <a:solidFill>
                  <a:prstClr val="black"/>
                </a:solidFill>
                <a:latin typeface="隶书" panose="02010509060101010101" pitchFamily="49" charset="-122"/>
                <a:ea typeface="隶书" panose="02010509060101010101" pitchFamily="49" charset="-122"/>
                <a:cs typeface="楷体_GB2312"/>
              </a:rPr>
              <a:t> </a:t>
            </a:r>
            <a:r>
              <a:rPr kumimoji="1" lang="zh-CN" altLang="en-US" sz="2400" b="1" dirty="0" smtClean="0">
                <a:solidFill>
                  <a:prstClr val="black"/>
                </a:solidFill>
                <a:latin typeface="隶书" panose="02010509060101010101" pitchFamily="49" charset="-122"/>
                <a:ea typeface="隶书" panose="02010509060101010101" pitchFamily="49" charset="-122"/>
                <a:cs typeface="楷体_GB2312"/>
              </a:rPr>
              <a:t>和 </a:t>
            </a:r>
            <a:r>
              <a:rPr kumimoji="1" lang="en-US" altLang="zh-CN" sz="2400" b="1" i="1" dirty="0" err="1"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Q</a:t>
            </a:r>
            <a:r>
              <a:rPr kumimoji="1" lang="en-US" altLang="zh-CN" sz="2400" b="1" baseline="-25000" dirty="0" err="1"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sc</a:t>
            </a:r>
            <a:r>
              <a:rPr kumimoji="1" lang="en-US" altLang="zh-CN" sz="2400" b="1" baseline="-25000" dirty="0" smtClean="0">
                <a:solidFill>
                  <a:prstClr val="black"/>
                </a:solidFill>
                <a:latin typeface="隶书" panose="02010509060101010101" pitchFamily="49" charset="-122"/>
                <a:ea typeface="隶书" panose="02010509060101010101" pitchFamily="49" charset="-122"/>
                <a:cs typeface="楷体_GB2312"/>
              </a:rPr>
              <a:t> </a:t>
            </a:r>
            <a:r>
              <a:rPr kumimoji="1" lang="zh-CN" altLang="en-US" sz="2400" b="1" dirty="0" smtClean="0">
                <a:solidFill>
                  <a:prstClr val="black"/>
                </a:solidFill>
                <a:latin typeface="隶书" panose="02010509060101010101" pitchFamily="49" charset="-122"/>
                <a:ea typeface="隶书" panose="02010509060101010101" pitchFamily="49" charset="-122"/>
                <a:cs typeface="楷体_GB2312"/>
              </a:rPr>
              <a:t>均正比于 </a:t>
            </a:r>
            <a:r>
              <a:rPr kumimoji="1" lang="en-US" altLang="zh-CN" sz="2400" b="1" i="1"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s</a:t>
            </a:r>
            <a:r>
              <a:rPr kumimoji="1" lang="en-US" altLang="zh-CN" sz="2400" b="1" baseline="30000" dirty="0"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1/2</a:t>
            </a:r>
            <a:endParaRPr kumimoji="1" lang="zh-CN" altLang="en-US" sz="2400" b="1" dirty="0" smtClean="0">
              <a:solidFill>
                <a:prstClr val="black"/>
              </a:solidFill>
              <a:latin typeface="隶书" panose="02010509060101010101" pitchFamily="49" charset="-122"/>
              <a:ea typeface="隶书" panose="02010509060101010101" pitchFamily="49" charset="-122"/>
              <a:cs typeface="楷体_GB2312"/>
            </a:endParaRPr>
          </a:p>
        </p:txBody>
      </p:sp>
      <p:sp>
        <p:nvSpPr>
          <p:cNvPr id="11" name="Text Box 20"/>
          <p:cNvSpPr txBox="1">
            <a:spLocks noChangeArrowheads="1"/>
          </p:cNvSpPr>
          <p:nvPr/>
        </p:nvSpPr>
        <p:spPr bwMode="auto">
          <a:xfrm>
            <a:off x="315313" y="4318210"/>
            <a:ext cx="213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隶书" panose="02010509060101010101" pitchFamily="49" charset="-122"/>
                <a:ea typeface="隶书" panose="02010509060101010101" pitchFamily="49" charset="-122"/>
                <a:cs typeface="楷体_GB2312"/>
              </a:rPr>
              <a:t>空间电荷：</a:t>
            </a:r>
          </a:p>
        </p:txBody>
      </p:sp>
    </p:spTree>
    <p:extLst>
      <p:ext uri="{BB962C8B-B14F-4D97-AF65-F5344CB8AC3E}">
        <p14:creationId xmlns:p14="http://schemas.microsoft.com/office/powerpoint/2010/main" val="23281084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26</a:t>
            </a:fld>
            <a:endParaRPr lang="zh-CN" altLang="en-US"/>
          </a:p>
        </p:txBody>
      </p:sp>
      <p:sp>
        <p:nvSpPr>
          <p:cNvPr id="3" name="Text Box 4"/>
          <p:cNvSpPr txBox="1">
            <a:spLocks noChangeArrowheads="1"/>
          </p:cNvSpPr>
          <p:nvPr/>
        </p:nvSpPr>
        <p:spPr bwMode="auto">
          <a:xfrm>
            <a:off x="574675" y="4919663"/>
            <a:ext cx="4003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隶书" panose="02010509060101010101" pitchFamily="49" charset="-122"/>
                <a:ea typeface="隶书" panose="02010509060101010101" pitchFamily="49" charset="-122"/>
                <a:cs typeface="楷体_GB2312"/>
              </a:rPr>
              <a:t>归一化</a:t>
            </a:r>
            <a:r>
              <a:rPr kumimoji="1" lang="en-US" altLang="zh-CN" sz="2400" b="1" smtClean="0">
                <a:solidFill>
                  <a:prstClr val="black"/>
                </a:solidFill>
                <a:latin typeface="Times New Roman" panose="02020603050405020304" pitchFamily="18" charset="0"/>
                <a:ea typeface="隶书" panose="02010509060101010101" pitchFamily="49" charset="-122"/>
                <a:cs typeface="Times New Roman" panose="02020603050405020304" pitchFamily="18" charset="0"/>
              </a:rPr>
              <a:t>MOS</a:t>
            </a:r>
            <a:r>
              <a:rPr kumimoji="1" lang="zh-CN" altLang="en-US" sz="2400" b="1" smtClean="0">
                <a:solidFill>
                  <a:prstClr val="black"/>
                </a:solidFill>
                <a:latin typeface="隶书" panose="02010509060101010101" pitchFamily="49" charset="-122"/>
                <a:ea typeface="隶书" panose="02010509060101010101" pitchFamily="49" charset="-122"/>
                <a:cs typeface="楷体_GB2312"/>
              </a:rPr>
              <a:t>电容：</a:t>
            </a:r>
          </a:p>
        </p:txBody>
      </p:sp>
      <p:graphicFrame>
        <p:nvGraphicFramePr>
          <p:cNvPr id="4" name="Object 2"/>
          <p:cNvGraphicFramePr>
            <a:graphicFrameLocks noChangeAspect="1"/>
          </p:cNvGraphicFramePr>
          <p:nvPr/>
        </p:nvGraphicFramePr>
        <p:xfrm>
          <a:off x="3851275" y="4695825"/>
          <a:ext cx="2328863" cy="1503363"/>
        </p:xfrm>
        <a:graphic>
          <a:graphicData uri="http://schemas.openxmlformats.org/presentationml/2006/ole">
            <mc:AlternateContent xmlns:mc="http://schemas.openxmlformats.org/markup-compatibility/2006">
              <mc:Choice xmlns:v="urn:schemas-microsoft-com:vml" Requires="v">
                <p:oleObj spid="_x0000_s193709" name="公式" r:id="rId3" imgW="1002865" imgH="634725" progId="Equation.3">
                  <p:embed/>
                </p:oleObj>
              </mc:Choice>
              <mc:Fallback>
                <p:oleObj name="公式" r:id="rId3" imgW="1002865" imgH="634725" progId="Equation.3">
                  <p:embed/>
                  <p:pic>
                    <p:nvPicPr>
                      <p:cNvPr id="2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4695825"/>
                        <a:ext cx="2328863"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nvGraphicFramePr>
        <p:xfrm>
          <a:off x="1422400" y="1735138"/>
          <a:ext cx="4291013" cy="914400"/>
        </p:xfrm>
        <a:graphic>
          <a:graphicData uri="http://schemas.openxmlformats.org/presentationml/2006/ole">
            <mc:AlternateContent xmlns:mc="http://schemas.openxmlformats.org/markup-compatibility/2006">
              <mc:Choice xmlns:v="urn:schemas-microsoft-com:vml" Requires="v">
                <p:oleObj spid="_x0000_s193710" name="Equation" r:id="rId5" imgW="1955800" imgH="482600" progId="Equation.3">
                  <p:embed/>
                </p:oleObj>
              </mc:Choice>
              <mc:Fallback>
                <p:oleObj name="Equation" r:id="rId5" imgW="1955800" imgH="482600" progId="Equation.3">
                  <p:embed/>
                  <p:pic>
                    <p:nvPicPr>
                      <p:cNvPr id="9728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2400" y="1735138"/>
                        <a:ext cx="42910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nvGraphicFramePr>
        <p:xfrm>
          <a:off x="2062163" y="2771775"/>
          <a:ext cx="2195512" cy="1014413"/>
        </p:xfrm>
        <a:graphic>
          <a:graphicData uri="http://schemas.openxmlformats.org/presentationml/2006/ole">
            <mc:AlternateContent xmlns:mc="http://schemas.openxmlformats.org/markup-compatibility/2006">
              <mc:Choice xmlns:v="urn:schemas-microsoft-com:vml" Requires="v">
                <p:oleObj spid="_x0000_s193711" name="公式" r:id="rId7" imgW="1066800" imgH="482600" progId="Equation.3">
                  <p:embed/>
                </p:oleObj>
              </mc:Choice>
              <mc:Fallback>
                <p:oleObj name="公式" r:id="rId7" imgW="1066800" imgH="482600" progId="Equation.3">
                  <p:embed/>
                  <p:pic>
                    <p:nvPicPr>
                      <p:cNvPr id="9728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2163" y="2771775"/>
                        <a:ext cx="2195512" cy="10144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Text Box 10"/>
          <p:cNvSpPr txBox="1">
            <a:spLocks noChangeArrowheads="1"/>
          </p:cNvSpPr>
          <p:nvPr/>
        </p:nvSpPr>
        <p:spPr bwMode="auto">
          <a:xfrm>
            <a:off x="420688" y="3914775"/>
            <a:ext cx="838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i="1" smtClean="0">
                <a:solidFill>
                  <a:srgbClr val="990000"/>
                </a:solidFill>
                <a:latin typeface="Times New Roman" panose="02020603050405020304" pitchFamily="18" charset="0"/>
                <a:ea typeface="隶书" panose="02010509060101010101" pitchFamily="49" charset="-122"/>
                <a:cs typeface="Times New Roman" panose="02020603050405020304" pitchFamily="18" charset="0"/>
              </a:rPr>
              <a:t>d</a:t>
            </a:r>
            <a:r>
              <a:rPr kumimoji="1" lang="en-US" altLang="zh-CN" sz="2400" b="1" baseline="-25000" smtClean="0">
                <a:solidFill>
                  <a:srgbClr val="990000"/>
                </a:solidFill>
                <a:latin typeface="Times New Roman" panose="02020603050405020304" pitchFamily="18" charset="0"/>
                <a:ea typeface="隶书" panose="02010509060101010101" pitchFamily="49" charset="-122"/>
                <a:cs typeface="Times New Roman" panose="02020603050405020304" pitchFamily="18" charset="0"/>
              </a:rPr>
              <a:t>sc</a:t>
            </a:r>
            <a:r>
              <a:rPr kumimoji="1" lang="en-US" altLang="zh-CN" sz="2400" b="1" smtClean="0">
                <a:solidFill>
                  <a:srgbClr val="990000"/>
                </a:solidFill>
                <a:latin typeface="隶书" panose="02010509060101010101" pitchFamily="49" charset="-122"/>
                <a:ea typeface="隶书" panose="02010509060101010101" pitchFamily="49" charset="-122"/>
                <a:cs typeface="楷体_GB2312"/>
              </a:rPr>
              <a:t> </a:t>
            </a:r>
            <a:r>
              <a:rPr kumimoji="1" lang="zh-CN" altLang="en-US" sz="2400" b="1" smtClean="0">
                <a:solidFill>
                  <a:srgbClr val="990000"/>
                </a:solidFill>
                <a:latin typeface="隶书" panose="02010509060101010101" pitchFamily="49" charset="-122"/>
                <a:ea typeface="隶书" panose="02010509060101010101" pitchFamily="49" charset="-122"/>
                <a:cs typeface="楷体_GB2312"/>
              </a:rPr>
              <a:t>就是半导体表面空间电荷层宽度</a:t>
            </a:r>
            <a:r>
              <a:rPr kumimoji="1" lang="zh-CN" altLang="en-US" sz="2400" b="1" smtClean="0">
                <a:solidFill>
                  <a:prstClr val="black"/>
                </a:solidFill>
                <a:latin typeface="隶书" panose="02010509060101010101" pitchFamily="49" charset="-122"/>
                <a:ea typeface="隶书" panose="02010509060101010101" pitchFamily="49" charset="-122"/>
                <a:cs typeface="楷体_GB2312"/>
              </a:rPr>
              <a:t>。</a:t>
            </a:r>
          </a:p>
        </p:txBody>
      </p:sp>
      <p:sp>
        <p:nvSpPr>
          <p:cNvPr id="8" name="Text Box 11"/>
          <p:cNvSpPr txBox="1">
            <a:spLocks noChangeArrowheads="1"/>
          </p:cNvSpPr>
          <p:nvPr/>
        </p:nvSpPr>
        <p:spPr bwMode="auto">
          <a:xfrm>
            <a:off x="739775" y="2982913"/>
            <a:ext cx="1066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隶书" panose="02010509060101010101" pitchFamily="49" charset="-122"/>
                <a:ea typeface="隶书" panose="02010509060101010101" pitchFamily="49" charset="-122"/>
                <a:cs typeface="楷体_GB2312"/>
              </a:rPr>
              <a:t>式中</a:t>
            </a:r>
          </a:p>
        </p:txBody>
      </p:sp>
      <p:sp>
        <p:nvSpPr>
          <p:cNvPr id="9" name="Text Box 12"/>
          <p:cNvSpPr txBox="1">
            <a:spLocks noChangeArrowheads="1"/>
          </p:cNvSpPr>
          <p:nvPr/>
        </p:nvSpPr>
        <p:spPr bwMode="auto">
          <a:xfrm>
            <a:off x="139700" y="1268413"/>
            <a:ext cx="60404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prstClr val="black"/>
                </a:solidFill>
                <a:latin typeface="隶书" panose="02010509060101010101" pitchFamily="49" charset="-122"/>
                <a:ea typeface="隶书" panose="02010509060101010101" pitchFamily="49" charset="-122"/>
                <a:cs typeface="楷体_GB2312"/>
              </a:rPr>
              <a:t>半导体表面空间电荷层电容：</a:t>
            </a:r>
          </a:p>
        </p:txBody>
      </p:sp>
      <p:sp>
        <p:nvSpPr>
          <p:cNvPr id="10" name="Text Box 13"/>
          <p:cNvSpPr txBox="1">
            <a:spLocks noChangeArrowheads="1"/>
          </p:cNvSpPr>
          <p:nvPr/>
        </p:nvSpPr>
        <p:spPr bwMode="auto">
          <a:xfrm>
            <a:off x="4987925" y="3013075"/>
            <a:ext cx="4005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50000"/>
              </a:spcBef>
              <a:spcAft>
                <a:spcPct val="0"/>
              </a:spcAft>
              <a:buFontTx/>
              <a:buNone/>
            </a:pPr>
            <a:r>
              <a:rPr lang="zh-CN" altLang="en-US" sz="2400" b="1" smtClean="0">
                <a:solidFill>
                  <a:prstClr val="black"/>
                </a:solidFill>
                <a:latin typeface="隶书" panose="02010509060101010101" pitchFamily="49" charset="-122"/>
                <a:ea typeface="隶书" panose="02010509060101010101" pitchFamily="49" charset="-122"/>
                <a:cs typeface="楷体_GB2312"/>
              </a:rPr>
              <a:t>单边结空间电荷区宽度 </a:t>
            </a:r>
          </a:p>
        </p:txBody>
      </p:sp>
    </p:spTree>
    <p:extLst>
      <p:ext uri="{BB962C8B-B14F-4D97-AF65-F5344CB8AC3E}">
        <p14:creationId xmlns:p14="http://schemas.microsoft.com/office/powerpoint/2010/main" val="9339774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27</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Rectangle 9"/>
          <p:cNvSpPr>
            <a:spLocks noChangeArrowheads="1"/>
          </p:cNvSpPr>
          <p:nvPr/>
        </p:nvSpPr>
        <p:spPr bwMode="auto">
          <a:xfrm>
            <a:off x="220723" y="308245"/>
            <a:ext cx="73231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800" b="1" dirty="0" smtClean="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最大</a:t>
            </a:r>
            <a:r>
              <a:rPr kumimoji="1" lang="zh-CN" altLang="en-US"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耗尽层宽度及强反型后的</a:t>
            </a:r>
            <a:r>
              <a:rPr kumimoji="1" lang="en-US" altLang="zh-CN"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MOS</a:t>
            </a:r>
            <a:r>
              <a:rPr kumimoji="1" lang="zh-CN" altLang="en-US" sz="2800" b="1" dirty="0">
                <a:solidFill>
                  <a:srgbClr val="FF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电容</a:t>
            </a:r>
          </a:p>
        </p:txBody>
      </p:sp>
      <p:graphicFrame>
        <p:nvGraphicFramePr>
          <p:cNvPr id="4" name="Object 8"/>
          <p:cNvGraphicFramePr>
            <a:graphicFrameLocks noChangeAspect="1"/>
          </p:cNvGraphicFramePr>
          <p:nvPr>
            <p:extLst>
              <p:ext uri="{D42A27DB-BD31-4B8C-83A1-F6EECF244321}">
                <p14:modId xmlns:p14="http://schemas.microsoft.com/office/powerpoint/2010/main" val="727926634"/>
              </p:ext>
            </p:extLst>
          </p:nvPr>
        </p:nvGraphicFramePr>
        <p:xfrm>
          <a:off x="1516363" y="1024866"/>
          <a:ext cx="2187575" cy="827088"/>
        </p:xfrm>
        <a:graphic>
          <a:graphicData uri="http://schemas.openxmlformats.org/presentationml/2006/ole">
            <mc:AlternateContent xmlns:mc="http://schemas.openxmlformats.org/markup-compatibility/2006">
              <mc:Choice xmlns:v="urn:schemas-microsoft-com:vml" Requires="v">
                <p:oleObj spid="_x0000_s194847" name="公式" r:id="rId3" imgW="1155700" imgH="431800" progId="Equation.3">
                  <p:embed/>
                </p:oleObj>
              </mc:Choice>
              <mc:Fallback>
                <p:oleObj name="公式" r:id="rId3" imgW="1155700" imgH="431800" progId="Equation.3">
                  <p:embed/>
                  <p:pic>
                    <p:nvPicPr>
                      <p:cNvPr id="3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6363" y="1024866"/>
                        <a:ext cx="2187575"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9"/>
          <p:cNvGraphicFramePr>
            <a:graphicFrameLocks noChangeAspect="1"/>
          </p:cNvGraphicFramePr>
          <p:nvPr>
            <p:extLst>
              <p:ext uri="{D42A27DB-BD31-4B8C-83A1-F6EECF244321}">
                <p14:modId xmlns:p14="http://schemas.microsoft.com/office/powerpoint/2010/main" val="1781583752"/>
              </p:ext>
            </p:extLst>
          </p:nvPr>
        </p:nvGraphicFramePr>
        <p:xfrm>
          <a:off x="6240763" y="1024866"/>
          <a:ext cx="2135187" cy="785813"/>
        </p:xfrm>
        <a:graphic>
          <a:graphicData uri="http://schemas.openxmlformats.org/presentationml/2006/ole">
            <mc:AlternateContent xmlns:mc="http://schemas.openxmlformats.org/markup-compatibility/2006">
              <mc:Choice xmlns:v="urn:schemas-microsoft-com:vml" Requires="v">
                <p:oleObj spid="_x0000_s194848" name="公式" r:id="rId5" imgW="1244600" imgH="431800" progId="Equation.3">
                  <p:embed/>
                </p:oleObj>
              </mc:Choice>
              <mc:Fallback>
                <p:oleObj name="公式" r:id="rId5" imgW="1244600" imgH="431800" progId="Equation.3">
                  <p:embed/>
                  <p:pic>
                    <p:nvPicPr>
                      <p:cNvPr id="3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0763" y="1024866"/>
                        <a:ext cx="2135187"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18"/>
          <p:cNvSpPr txBox="1">
            <a:spLocks noChangeArrowheads="1"/>
          </p:cNvSpPr>
          <p:nvPr/>
        </p:nvSpPr>
        <p:spPr bwMode="auto">
          <a:xfrm>
            <a:off x="408288" y="1191554"/>
            <a:ext cx="2346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0000CC"/>
                </a:solidFill>
                <a:latin typeface="Times New Roman" panose="02020603050405020304" pitchFamily="18" charset="0"/>
                <a:cs typeface="Times New Roman" panose="02020603050405020304" pitchFamily="18" charset="0"/>
              </a:rPr>
              <a:t>反型</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sp>
        <p:nvSpPr>
          <p:cNvPr id="7" name="Text Box 19"/>
          <p:cNvSpPr txBox="1">
            <a:spLocks noChangeArrowheads="1"/>
          </p:cNvSpPr>
          <p:nvPr/>
        </p:nvSpPr>
        <p:spPr bwMode="auto">
          <a:xfrm>
            <a:off x="4792963" y="1177266"/>
            <a:ext cx="1676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0000CC"/>
                </a:solidFill>
                <a:latin typeface="Times New Roman" panose="02020603050405020304" pitchFamily="18" charset="0"/>
                <a:cs typeface="Times New Roman" panose="02020603050405020304" pitchFamily="18" charset="0"/>
              </a:rPr>
              <a:t>强反型</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graphicFrame>
        <p:nvGraphicFramePr>
          <p:cNvPr id="10" name="Object 2"/>
          <p:cNvGraphicFramePr>
            <a:graphicFrameLocks noChangeAspect="1"/>
          </p:cNvGraphicFramePr>
          <p:nvPr>
            <p:extLst>
              <p:ext uri="{D42A27DB-BD31-4B8C-83A1-F6EECF244321}">
                <p14:modId xmlns:p14="http://schemas.microsoft.com/office/powerpoint/2010/main" val="809834738"/>
              </p:ext>
            </p:extLst>
          </p:nvPr>
        </p:nvGraphicFramePr>
        <p:xfrm>
          <a:off x="5119411" y="3460572"/>
          <a:ext cx="3429000" cy="3252788"/>
        </p:xfrm>
        <a:graphic>
          <a:graphicData uri="http://schemas.openxmlformats.org/presentationml/2006/ole">
            <mc:AlternateContent xmlns:mc="http://schemas.openxmlformats.org/markup-compatibility/2006">
              <mc:Choice xmlns:v="urn:schemas-microsoft-com:vml" Requires="v">
                <p:oleObj spid="_x0000_s194849" name="BMP 图象" r:id="rId7" imgW="4266667" imgH="4048690" progId="PBrush">
                  <p:embed/>
                </p:oleObj>
              </mc:Choice>
              <mc:Fallback>
                <p:oleObj name="BMP 图象" r:id="rId7" imgW="4266667" imgH="4048690" progId="PBrush">
                  <p:embed/>
                  <p:pic>
                    <p:nvPicPr>
                      <p:cNvPr id="99331"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19411" y="3460572"/>
                        <a:ext cx="3429000"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 name="Text Box 4"/>
          <p:cNvSpPr txBox="1">
            <a:spLocks noChangeArrowheads="1"/>
          </p:cNvSpPr>
          <p:nvPr/>
        </p:nvSpPr>
        <p:spPr bwMode="auto">
          <a:xfrm>
            <a:off x="130587" y="1873469"/>
            <a:ext cx="883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强反型后，</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基本不变，</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sc</a:t>
            </a:r>
            <a:r>
              <a:rPr kumimoji="1" lang="zh-CN" altLang="en-US" sz="2400" b="1" dirty="0" smtClean="0">
                <a:solidFill>
                  <a:prstClr val="black"/>
                </a:solidFill>
                <a:latin typeface="Times New Roman" panose="02020603050405020304" pitchFamily="18" charset="0"/>
                <a:cs typeface="Times New Roman" panose="02020603050405020304" pitchFamily="18" charset="0"/>
              </a:rPr>
              <a:t>也基本不变，即</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sc</a:t>
            </a:r>
            <a:r>
              <a:rPr kumimoji="1" lang="zh-CN" altLang="en-US" sz="2400" b="1" dirty="0" smtClean="0">
                <a:solidFill>
                  <a:prstClr val="black"/>
                </a:solidFill>
                <a:latin typeface="Times New Roman" panose="02020603050405020304" pitchFamily="18" charset="0"/>
                <a:cs typeface="Times New Roman" panose="02020603050405020304" pitchFamily="18" charset="0"/>
              </a:rPr>
              <a:t>达到最大值。此时：</a:t>
            </a:r>
          </a:p>
        </p:txBody>
      </p:sp>
      <p:sp>
        <p:nvSpPr>
          <p:cNvPr id="12" name="Text Box 5"/>
          <p:cNvSpPr txBox="1">
            <a:spLocks noChangeArrowheads="1"/>
          </p:cNvSpPr>
          <p:nvPr/>
        </p:nvSpPr>
        <p:spPr bwMode="auto">
          <a:xfrm>
            <a:off x="159162" y="2884767"/>
            <a:ext cx="8686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en-US" altLang="zh-CN" sz="2400" b="1" i="1" dirty="0" smtClean="0">
                <a:solidFill>
                  <a:srgbClr val="990000"/>
                </a:solidFill>
                <a:latin typeface="Times New Roman" panose="02020603050405020304" pitchFamily="18" charset="0"/>
                <a:cs typeface="Times New Roman" panose="02020603050405020304" pitchFamily="18" charset="0"/>
              </a:rPr>
              <a:t>V</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s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主要降在耗尽层。</a:t>
            </a:r>
            <a:r>
              <a:rPr kumimoji="1" lang="zh-CN" altLang="en-US" sz="2400" b="1" dirty="0" smtClean="0">
                <a:solidFill>
                  <a:prstClr val="black"/>
                </a:solidFill>
                <a:latin typeface="Times New Roman" panose="02020603050405020304" pitchFamily="18" charset="0"/>
                <a:cs typeface="Times New Roman" panose="02020603050405020304" pitchFamily="18" charset="0"/>
              </a:rPr>
              <a:t>因此，最大耗尽层宽度的计算</a:t>
            </a:r>
            <a:r>
              <a:rPr kumimoji="1" lang="zh-CN" altLang="en-US" sz="2400" b="1" dirty="0" smtClean="0">
                <a:solidFill>
                  <a:srgbClr val="1F497D"/>
                </a:solidFill>
                <a:latin typeface="Times New Roman" panose="02020603050405020304" pitchFamily="18" charset="0"/>
                <a:cs typeface="Times New Roman" panose="02020603050405020304" pitchFamily="18" charset="0"/>
              </a:rPr>
              <a:t>仍可采用</a:t>
            </a:r>
            <a:r>
              <a:rPr kumimoji="1" lang="zh-CN" altLang="en-US" sz="2400" b="1" dirty="0" smtClean="0">
                <a:solidFill>
                  <a:srgbClr val="990000"/>
                </a:solidFill>
                <a:latin typeface="Times New Roman" panose="02020603050405020304" pitchFamily="18" charset="0"/>
                <a:cs typeface="Times New Roman" panose="02020603050405020304" pitchFamily="18" charset="0"/>
              </a:rPr>
              <a:t>耗尽区</a:t>
            </a:r>
            <a:r>
              <a:rPr kumimoji="1" lang="zh-CN" altLang="en-US" sz="2400" b="1" dirty="0" smtClean="0">
                <a:solidFill>
                  <a:srgbClr val="1F497D"/>
                </a:solidFill>
                <a:latin typeface="Times New Roman" panose="02020603050405020304" pitchFamily="18" charset="0"/>
                <a:cs typeface="Times New Roman" panose="02020603050405020304" pitchFamily="18" charset="0"/>
              </a:rPr>
              <a:t>的公式：</a:t>
            </a:r>
          </a:p>
        </p:txBody>
      </p:sp>
      <p:sp>
        <p:nvSpPr>
          <p:cNvPr id="13" name="Text Box 6"/>
          <p:cNvSpPr txBox="1">
            <a:spLocks noChangeArrowheads="1"/>
          </p:cNvSpPr>
          <p:nvPr/>
        </p:nvSpPr>
        <p:spPr bwMode="auto">
          <a:xfrm>
            <a:off x="82962" y="2421866"/>
            <a:ext cx="891540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20000"/>
              </a:lnSpc>
              <a:spcBef>
                <a:spcPct val="0"/>
              </a:spcBef>
              <a:spcAft>
                <a:spcPct val="0"/>
              </a:spcAft>
              <a:buFontTx/>
              <a:buNone/>
            </a:pPr>
            <a:r>
              <a:rPr kumimoji="1" lang="zh-CN" altLang="en-US" sz="2400" b="1" dirty="0" smtClean="0">
                <a:solidFill>
                  <a:srgbClr val="990000"/>
                </a:solidFill>
                <a:latin typeface="Times New Roman" panose="02020603050405020304" pitchFamily="18" charset="0"/>
                <a:cs typeface="Times New Roman" panose="02020603050405020304" pitchFamily="18" charset="0"/>
              </a:rPr>
              <a:t>空间电荷区宽度</a:t>
            </a:r>
            <a:r>
              <a:rPr kumimoji="1" lang="en-US" altLang="zh-CN" sz="2400" b="1" dirty="0" smtClean="0">
                <a:solidFill>
                  <a:prstClr val="black"/>
                </a:solidFill>
                <a:latin typeface="Times New Roman" panose="02020603050405020304" pitchFamily="18" charset="0"/>
                <a:cs typeface="Times New Roman" panose="02020603050405020304" pitchFamily="18" charset="0"/>
              </a:rPr>
              <a:t>=</a:t>
            </a:r>
            <a:r>
              <a:rPr kumimoji="1" lang="zh-CN" altLang="en-US" sz="2400" b="1" dirty="0" smtClean="0">
                <a:solidFill>
                  <a:prstClr val="black"/>
                </a:solidFill>
                <a:latin typeface="Times New Roman" panose="02020603050405020304" pitchFamily="18" charset="0"/>
                <a:cs typeface="Times New Roman" panose="02020603050405020304" pitchFamily="18" charset="0"/>
              </a:rPr>
              <a:t>耗尽层宽度</a:t>
            </a:r>
            <a:r>
              <a:rPr kumimoji="1" lang="en-US" altLang="zh-CN" sz="2400" b="1" dirty="0" smtClean="0">
                <a:solidFill>
                  <a:prstClr val="black"/>
                </a:solidFill>
                <a:latin typeface="Times New Roman" panose="02020603050405020304" pitchFamily="18" charset="0"/>
                <a:cs typeface="Times New Roman" panose="02020603050405020304" pitchFamily="18" charset="0"/>
              </a:rPr>
              <a:t>+</a:t>
            </a:r>
            <a:r>
              <a:rPr kumimoji="1" lang="zh-CN" altLang="en-US" sz="2400" b="1" dirty="0" smtClean="0">
                <a:solidFill>
                  <a:prstClr val="black"/>
                </a:solidFill>
                <a:latin typeface="Times New Roman" panose="02020603050405020304" pitchFamily="18" charset="0"/>
                <a:cs typeface="Times New Roman" panose="02020603050405020304" pitchFamily="18" charset="0"/>
              </a:rPr>
              <a:t>反型层宽度 </a:t>
            </a:r>
            <a:r>
              <a:rPr kumimoji="1" lang="zh-CN" altLang="en-US" sz="2400" b="1" dirty="0" smtClean="0">
                <a:solidFill>
                  <a:srgbClr val="99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dirty="0" smtClean="0">
                <a:solidFill>
                  <a:srgbClr val="990000"/>
                </a:solidFill>
                <a:latin typeface="Times New Roman" panose="02020603050405020304" pitchFamily="18" charset="0"/>
                <a:cs typeface="Times New Roman" panose="02020603050405020304" pitchFamily="18" charset="0"/>
              </a:rPr>
              <a:t>耗尽层宽度</a:t>
            </a:r>
          </a:p>
        </p:txBody>
      </p:sp>
      <p:graphicFrame>
        <p:nvGraphicFramePr>
          <p:cNvPr id="14" name="Object 3"/>
          <p:cNvGraphicFramePr>
            <a:graphicFrameLocks noChangeAspect="1"/>
          </p:cNvGraphicFramePr>
          <p:nvPr>
            <p:extLst>
              <p:ext uri="{D42A27DB-BD31-4B8C-83A1-F6EECF244321}">
                <p14:modId xmlns:p14="http://schemas.microsoft.com/office/powerpoint/2010/main" val="1095746871"/>
              </p:ext>
            </p:extLst>
          </p:nvPr>
        </p:nvGraphicFramePr>
        <p:xfrm>
          <a:off x="311562" y="5296119"/>
          <a:ext cx="3778250" cy="1157288"/>
        </p:xfrm>
        <a:graphic>
          <a:graphicData uri="http://schemas.openxmlformats.org/presentationml/2006/ole">
            <mc:AlternateContent xmlns:mc="http://schemas.openxmlformats.org/markup-compatibility/2006">
              <mc:Choice xmlns:v="urn:schemas-microsoft-com:vml" Requires="v">
                <p:oleObj spid="_x0000_s194850" name="公式" r:id="rId9" imgW="1752600" imgH="482600" progId="Equation.3">
                  <p:embed/>
                </p:oleObj>
              </mc:Choice>
              <mc:Fallback>
                <p:oleObj name="公式" r:id="rId9" imgW="1752600" imgH="482600" progId="Equation.3">
                  <p:embed/>
                  <p:pic>
                    <p:nvPicPr>
                      <p:cNvPr id="26"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562" y="5296119"/>
                        <a:ext cx="3778250" cy="1157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 name="Text Box 8"/>
          <p:cNvSpPr txBox="1">
            <a:spLocks noChangeArrowheads="1"/>
          </p:cNvSpPr>
          <p:nvPr/>
        </p:nvSpPr>
        <p:spPr bwMode="auto">
          <a:xfrm>
            <a:off x="159162" y="4603969"/>
            <a:ext cx="44640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20000"/>
              </a:lnSpc>
              <a:spcBef>
                <a:spcPct val="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代入强反型条件，得：</a:t>
            </a:r>
          </a:p>
        </p:txBody>
      </p:sp>
      <p:graphicFrame>
        <p:nvGraphicFramePr>
          <p:cNvPr id="16" name="Object 4"/>
          <p:cNvGraphicFramePr>
            <a:graphicFrameLocks noChangeAspect="1"/>
          </p:cNvGraphicFramePr>
          <p:nvPr>
            <p:extLst>
              <p:ext uri="{D42A27DB-BD31-4B8C-83A1-F6EECF244321}">
                <p14:modId xmlns:p14="http://schemas.microsoft.com/office/powerpoint/2010/main" val="4266084524"/>
              </p:ext>
            </p:extLst>
          </p:nvPr>
        </p:nvGraphicFramePr>
        <p:xfrm>
          <a:off x="1095787" y="3738782"/>
          <a:ext cx="1971675" cy="901700"/>
        </p:xfrm>
        <a:graphic>
          <a:graphicData uri="http://schemas.openxmlformats.org/presentationml/2006/ole">
            <mc:AlternateContent xmlns:mc="http://schemas.openxmlformats.org/markup-compatibility/2006">
              <mc:Choice xmlns:v="urn:schemas-microsoft-com:vml" Requires="v">
                <p:oleObj spid="_x0000_s194851" name="公式" r:id="rId11" imgW="1066800" imgH="482600" progId="Equation.3">
                  <p:embed/>
                </p:oleObj>
              </mc:Choice>
              <mc:Fallback>
                <p:oleObj name="公式" r:id="rId11" imgW="1066800" imgH="482600" progId="Equation.3">
                  <p:embed/>
                  <p:pic>
                    <p:nvPicPr>
                      <p:cNvPr id="28"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5787" y="3738782"/>
                        <a:ext cx="1971675"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362504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28</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1383260169"/>
              </p:ext>
            </p:extLst>
          </p:nvPr>
        </p:nvGraphicFramePr>
        <p:xfrm>
          <a:off x="5370573" y="3163828"/>
          <a:ext cx="3249612" cy="2824162"/>
        </p:xfrm>
        <a:graphic>
          <a:graphicData uri="http://schemas.openxmlformats.org/presentationml/2006/ole">
            <mc:AlternateContent xmlns:mc="http://schemas.openxmlformats.org/markup-compatibility/2006">
              <mc:Choice xmlns:v="urn:schemas-microsoft-com:vml" Requires="v">
                <p:oleObj spid="_x0000_s195814" name="BMP 图象" r:id="rId3" imgW="6819048" imgH="5923810" progId="PBrush">
                  <p:embed/>
                </p:oleObj>
              </mc:Choice>
              <mc:Fallback>
                <p:oleObj name="BMP 图象" r:id="rId3" imgW="6819048" imgH="5923810" progId="PBrush">
                  <p:embed/>
                  <p:pic>
                    <p:nvPicPr>
                      <p:cNvPr id="10035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0573" y="3163828"/>
                        <a:ext cx="3249612" cy="282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2"/>
          <p:cNvSpPr txBox="1">
            <a:spLocks noChangeArrowheads="1"/>
          </p:cNvSpPr>
          <p:nvPr/>
        </p:nvSpPr>
        <p:spPr bwMode="auto">
          <a:xfrm>
            <a:off x="209610" y="706378"/>
            <a:ext cx="653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dirty="0" smtClean="0">
                <a:solidFill>
                  <a:srgbClr val="990000"/>
                </a:solidFill>
                <a:latin typeface="Times New Roman" panose="02020603050405020304" pitchFamily="18" charset="0"/>
                <a:cs typeface="Times New Roman" panose="02020603050405020304" pitchFamily="18" charset="0"/>
              </a:rPr>
              <a:t>强反型以后的</a:t>
            </a:r>
            <a:r>
              <a:rPr kumimoji="1" lang="en-US" altLang="zh-CN" sz="2400" b="1" dirty="0" smtClean="0">
                <a:solidFill>
                  <a:srgbClr val="990000"/>
                </a:solidFill>
                <a:latin typeface="Times New Roman" panose="02020603050405020304" pitchFamily="18" charset="0"/>
                <a:cs typeface="Times New Roman" panose="02020603050405020304" pitchFamily="18" charset="0"/>
              </a:rPr>
              <a:t>MOS</a:t>
            </a:r>
            <a:r>
              <a:rPr kumimoji="1" lang="zh-CN" altLang="en-US" sz="2400" b="1" dirty="0" smtClean="0">
                <a:solidFill>
                  <a:srgbClr val="990000"/>
                </a:solidFill>
                <a:latin typeface="Times New Roman" panose="02020603050405020304" pitchFamily="18" charset="0"/>
                <a:cs typeface="Times New Roman" panose="02020603050405020304" pitchFamily="18" charset="0"/>
              </a:rPr>
              <a:t>电容</a:t>
            </a:r>
          </a:p>
        </p:txBody>
      </p:sp>
      <p:sp>
        <p:nvSpPr>
          <p:cNvPr id="5" name="Text Box 3"/>
          <p:cNvSpPr txBox="1">
            <a:spLocks noChangeArrowheads="1"/>
          </p:cNvSpPr>
          <p:nvPr/>
        </p:nvSpPr>
        <p:spPr bwMode="auto">
          <a:xfrm>
            <a:off x="209610" y="1219140"/>
            <a:ext cx="5334000"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05000"/>
              </a:lnSpc>
              <a:spcAft>
                <a:spcPct val="0"/>
              </a:spcAft>
              <a:buClr>
                <a:srgbClr val="990000"/>
              </a:buClr>
              <a:buFont typeface="Wingdings" panose="05000000000000000000" pitchFamily="2" charset="2"/>
              <a:buChar char="§"/>
            </a:pP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高频</a:t>
            </a:r>
          </a:p>
          <a:p>
            <a:pPr defTabSz="914400" fontAlgn="base">
              <a:lnSpc>
                <a:spcPct val="105000"/>
              </a:lnSpc>
              <a:spcAft>
                <a:spcPct val="0"/>
              </a:spcAft>
              <a:buClr>
                <a:srgbClr val="0000CC"/>
              </a:buClr>
              <a:buFont typeface="Wingdings" panose="05000000000000000000" pitchFamily="2" charset="2"/>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反型层电荷对电容没有贡献，</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D</a:t>
            </a:r>
            <a:r>
              <a:rPr kumimoji="1" lang="zh-CN" altLang="en-US" sz="2400" b="1" smtClean="0">
                <a:solidFill>
                  <a:prstClr val="black"/>
                </a:solidFill>
                <a:latin typeface="Times New Roman" panose="02020603050405020304" pitchFamily="18" charset="0"/>
                <a:cs typeface="Times New Roman" panose="02020603050405020304" pitchFamily="18" charset="0"/>
              </a:rPr>
              <a:t>达到最小：</a:t>
            </a:r>
          </a:p>
        </p:txBody>
      </p:sp>
      <p:graphicFrame>
        <p:nvGraphicFramePr>
          <p:cNvPr id="6" name="Object 3"/>
          <p:cNvGraphicFramePr>
            <a:graphicFrameLocks noChangeAspect="1"/>
          </p:cNvGraphicFramePr>
          <p:nvPr>
            <p:extLst>
              <p:ext uri="{D42A27DB-BD31-4B8C-83A1-F6EECF244321}">
                <p14:modId xmlns:p14="http://schemas.microsoft.com/office/powerpoint/2010/main" val="353148645"/>
              </p:ext>
            </p:extLst>
          </p:nvPr>
        </p:nvGraphicFramePr>
        <p:xfrm>
          <a:off x="492185" y="2458978"/>
          <a:ext cx="2479675" cy="823912"/>
        </p:xfrm>
        <a:graphic>
          <a:graphicData uri="http://schemas.openxmlformats.org/presentationml/2006/ole">
            <mc:AlternateContent xmlns:mc="http://schemas.openxmlformats.org/markup-compatibility/2006">
              <mc:Choice xmlns:v="urn:schemas-microsoft-com:vml" Requires="v">
                <p:oleObj spid="_x0000_s195815" name="公式" r:id="rId5" imgW="1282700" imgH="431800" progId="Equation.3">
                  <p:embed/>
                </p:oleObj>
              </mc:Choice>
              <mc:Fallback>
                <p:oleObj name="公式" r:id="rId5" imgW="1282700" imgH="431800" progId="Equation.3">
                  <p:embed/>
                  <p:pic>
                    <p:nvPicPr>
                      <p:cNvPr id="10035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185" y="2458978"/>
                        <a:ext cx="247967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6"/>
          <p:cNvSpPr txBox="1">
            <a:spLocks noChangeArrowheads="1"/>
          </p:cNvSpPr>
          <p:nvPr/>
        </p:nvSpPr>
        <p:spPr bwMode="auto">
          <a:xfrm>
            <a:off x="308035" y="3341628"/>
            <a:ext cx="532923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rPr>
              <a:t>MOS</a:t>
            </a:r>
            <a:r>
              <a:rPr kumimoji="1" lang="zh-CN" altLang="en-US" sz="2400" b="1" smtClean="0">
                <a:solidFill>
                  <a:prstClr val="black"/>
                </a:solidFill>
                <a:latin typeface="Times New Roman" panose="02020603050405020304" pitchFamily="18" charset="0"/>
                <a:cs typeface="Times New Roman" panose="02020603050405020304" pitchFamily="18" charset="0"/>
              </a:rPr>
              <a:t>电容达到最小，为</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m</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归一化最小电容：</a:t>
            </a:r>
          </a:p>
        </p:txBody>
      </p:sp>
      <p:graphicFrame>
        <p:nvGraphicFramePr>
          <p:cNvPr id="9" name="Object 4"/>
          <p:cNvGraphicFramePr>
            <a:graphicFrameLocks noChangeAspect="1"/>
          </p:cNvGraphicFramePr>
          <p:nvPr>
            <p:extLst>
              <p:ext uri="{D42A27DB-BD31-4B8C-83A1-F6EECF244321}">
                <p14:modId xmlns:p14="http://schemas.microsoft.com/office/powerpoint/2010/main" val="4009114744"/>
              </p:ext>
            </p:extLst>
          </p:nvPr>
        </p:nvGraphicFramePr>
        <p:xfrm>
          <a:off x="398523" y="4538603"/>
          <a:ext cx="3475037" cy="1449387"/>
        </p:xfrm>
        <a:graphic>
          <a:graphicData uri="http://schemas.openxmlformats.org/presentationml/2006/ole">
            <mc:AlternateContent xmlns:mc="http://schemas.openxmlformats.org/markup-compatibility/2006">
              <mc:Choice xmlns:v="urn:schemas-microsoft-com:vml" Requires="v">
                <p:oleObj spid="_x0000_s195816" name="公式" r:id="rId7" imgW="1943100" imgH="635000" progId="Equation.3">
                  <p:embed/>
                </p:oleObj>
              </mc:Choice>
              <mc:Fallback>
                <p:oleObj name="公式" r:id="rId7" imgW="1943100" imgH="635000" progId="Equation.3">
                  <p:embed/>
                  <p:pic>
                    <p:nvPicPr>
                      <p:cNvPr id="1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523" y="4538603"/>
                        <a:ext cx="3475037" cy="144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779170518"/>
              </p:ext>
            </p:extLst>
          </p:nvPr>
        </p:nvGraphicFramePr>
        <p:xfrm>
          <a:off x="5543610" y="755590"/>
          <a:ext cx="2824163" cy="2338388"/>
        </p:xfrm>
        <a:graphic>
          <a:graphicData uri="http://schemas.openxmlformats.org/presentationml/2006/ole">
            <mc:AlternateContent xmlns:mc="http://schemas.openxmlformats.org/markup-compatibility/2006">
              <mc:Choice xmlns:v="urn:schemas-microsoft-com:vml" Requires="v">
                <p:oleObj spid="_x0000_s195817" name="BMP 图象" r:id="rId9" imgW="5047619" imgH="4161905" progId="PBrush">
                  <p:embed/>
                </p:oleObj>
              </mc:Choice>
              <mc:Fallback>
                <p:oleObj name="BMP 图象" r:id="rId9" imgW="5047619" imgH="4161905" progId="PBrush">
                  <p:embed/>
                  <p:pic>
                    <p:nvPicPr>
                      <p:cNvPr id="100362"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3610" y="755590"/>
                        <a:ext cx="2824163"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2057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29</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2"/>
          <p:cNvSpPr txBox="1">
            <a:spLocks noChangeArrowheads="1"/>
          </p:cNvSpPr>
          <p:nvPr/>
        </p:nvSpPr>
        <p:spPr bwMode="auto">
          <a:xfrm>
            <a:off x="196012" y="300415"/>
            <a:ext cx="692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Clr>
                <a:srgbClr val="990000"/>
              </a:buClr>
              <a:buFont typeface="Wingdings" panose="05000000000000000000" pitchFamily="2" charset="2"/>
              <a:buChar char="§"/>
            </a:pP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低频</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zh-CN" altLang="en-US" sz="2400" b="1" smtClean="0">
                <a:solidFill>
                  <a:prstClr val="black"/>
                </a:solidFill>
                <a:latin typeface="Times New Roman" panose="02020603050405020304" pitchFamily="18" charset="0"/>
                <a:cs typeface="Times New Roman" panose="02020603050405020304" pitchFamily="18" charset="0"/>
              </a:rPr>
              <a:t>反型层电荷对电容有贡献</a:t>
            </a:r>
          </a:p>
        </p:txBody>
      </p:sp>
      <p:graphicFrame>
        <p:nvGraphicFramePr>
          <p:cNvPr id="4" name="Object 2"/>
          <p:cNvGraphicFramePr>
            <a:graphicFrameLocks noChangeAspect="1"/>
          </p:cNvGraphicFramePr>
          <p:nvPr>
            <p:extLst>
              <p:ext uri="{D42A27DB-BD31-4B8C-83A1-F6EECF244321}">
                <p14:modId xmlns:p14="http://schemas.microsoft.com/office/powerpoint/2010/main" val="890642022"/>
              </p:ext>
            </p:extLst>
          </p:nvPr>
        </p:nvGraphicFramePr>
        <p:xfrm>
          <a:off x="1988300" y="833815"/>
          <a:ext cx="5133975" cy="587375"/>
        </p:xfrm>
        <a:graphic>
          <a:graphicData uri="http://schemas.openxmlformats.org/presentationml/2006/ole">
            <mc:AlternateContent xmlns:mc="http://schemas.openxmlformats.org/markup-compatibility/2006">
              <mc:Choice xmlns:v="urn:schemas-microsoft-com:vml" Requires="v">
                <p:oleObj spid="_x0000_s196952" name="公式" r:id="rId3" imgW="2527300" imgH="241300" progId="Equation.3">
                  <p:embed/>
                </p:oleObj>
              </mc:Choice>
              <mc:Fallback>
                <p:oleObj name="公式" r:id="rId3" imgW="2527300" imgH="241300" progId="Equation.3">
                  <p:embed/>
                  <p:pic>
                    <p:nvPicPr>
                      <p:cNvPr id="101379"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8300" y="833815"/>
                        <a:ext cx="51339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3646411897"/>
              </p:ext>
            </p:extLst>
          </p:nvPr>
        </p:nvGraphicFramePr>
        <p:xfrm>
          <a:off x="2322513" y="3036888"/>
          <a:ext cx="3765550" cy="1098550"/>
        </p:xfrm>
        <a:graphic>
          <a:graphicData uri="http://schemas.openxmlformats.org/presentationml/2006/ole">
            <mc:AlternateContent xmlns:mc="http://schemas.openxmlformats.org/markup-compatibility/2006">
              <mc:Choice xmlns:v="urn:schemas-microsoft-com:vml" Requires="v">
                <p:oleObj spid="_x0000_s196953" name="公式" r:id="rId5" imgW="1638300" imgH="469900" progId="Equation.3">
                  <p:embed/>
                </p:oleObj>
              </mc:Choice>
              <mc:Fallback>
                <p:oleObj name="公式" r:id="rId5" imgW="1638300" imgH="469900" progId="Equation.3">
                  <p:embed/>
                  <p:pic>
                    <p:nvPicPr>
                      <p:cNvPr id="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2513" y="3036888"/>
                        <a:ext cx="376555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108800430"/>
              </p:ext>
            </p:extLst>
          </p:nvPr>
        </p:nvGraphicFramePr>
        <p:xfrm>
          <a:off x="1952625" y="4195763"/>
          <a:ext cx="4210050" cy="1095375"/>
        </p:xfrm>
        <a:graphic>
          <a:graphicData uri="http://schemas.openxmlformats.org/presentationml/2006/ole">
            <mc:AlternateContent xmlns:mc="http://schemas.openxmlformats.org/markup-compatibility/2006">
              <mc:Choice xmlns:v="urn:schemas-microsoft-com:vml" Requires="v">
                <p:oleObj spid="_x0000_s196954" name="公式" r:id="rId7" imgW="2094591" imgH="495085" progId="Equation.3">
                  <p:embed/>
                </p:oleObj>
              </mc:Choice>
              <mc:Fallback>
                <p:oleObj name="公式" r:id="rId7" imgW="2094591" imgH="495085" progId="Equation.3">
                  <p:embed/>
                  <p:pic>
                    <p:nvPicPr>
                      <p:cNvPr id="2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625" y="4195763"/>
                        <a:ext cx="421005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886110107"/>
              </p:ext>
            </p:extLst>
          </p:nvPr>
        </p:nvGraphicFramePr>
        <p:xfrm>
          <a:off x="2648700" y="1519615"/>
          <a:ext cx="3206750" cy="593725"/>
        </p:xfrm>
        <a:graphic>
          <a:graphicData uri="http://schemas.openxmlformats.org/presentationml/2006/ole">
            <mc:AlternateContent xmlns:mc="http://schemas.openxmlformats.org/markup-compatibility/2006">
              <mc:Choice xmlns:v="urn:schemas-microsoft-com:vml" Requires="v">
                <p:oleObj spid="_x0000_s196955" name="公式" r:id="rId9" imgW="1548728" imgH="266584" progId="Equation.3">
                  <p:embed/>
                </p:oleObj>
              </mc:Choice>
              <mc:Fallback>
                <p:oleObj name="公式" r:id="rId9" imgW="1548728" imgH="266584" progId="Equation.3">
                  <p:embed/>
                  <p:pic>
                    <p:nvPicPr>
                      <p:cNvPr id="10138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8700" y="1519615"/>
                        <a:ext cx="32067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1169768890"/>
              </p:ext>
            </p:extLst>
          </p:nvPr>
        </p:nvGraphicFramePr>
        <p:xfrm>
          <a:off x="501650" y="5360988"/>
          <a:ext cx="7361238" cy="1085850"/>
        </p:xfrm>
        <a:graphic>
          <a:graphicData uri="http://schemas.openxmlformats.org/presentationml/2006/ole">
            <mc:AlternateContent xmlns:mc="http://schemas.openxmlformats.org/markup-compatibility/2006">
              <mc:Choice xmlns:v="urn:schemas-microsoft-com:vml" Requires="v">
                <p:oleObj spid="_x0000_s196956" name="公式" r:id="rId11" imgW="3365500" imgH="495300" progId="Equation.3">
                  <p:embed/>
                </p:oleObj>
              </mc:Choice>
              <mc:Fallback>
                <p:oleObj name="公式" r:id="rId11" imgW="3365500" imgH="495300" progId="Equation.3">
                  <p:embed/>
                  <p:pic>
                    <p:nvPicPr>
                      <p:cNvPr id="2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650" y="5360988"/>
                        <a:ext cx="7361238"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94082239"/>
              </p:ext>
            </p:extLst>
          </p:nvPr>
        </p:nvGraphicFramePr>
        <p:xfrm>
          <a:off x="2798823" y="2269923"/>
          <a:ext cx="2282135" cy="839894"/>
        </p:xfrm>
        <a:graphic>
          <a:graphicData uri="http://schemas.openxmlformats.org/presentationml/2006/ole">
            <mc:AlternateContent xmlns:mc="http://schemas.openxmlformats.org/markup-compatibility/2006">
              <mc:Choice xmlns:v="urn:schemas-microsoft-com:vml" Requires="v">
                <p:oleObj spid="_x0000_s196957" name="公式" r:id="rId13" imgW="1244600" imgH="431800" progId="Equation.3">
                  <p:embed/>
                </p:oleObj>
              </mc:Choice>
              <mc:Fallback>
                <p:oleObj name="公式" r:id="rId13" imgW="1244600" imgH="431800" progId="Equation.3">
                  <p:embed/>
                  <p:pic>
                    <p:nvPicPr>
                      <p:cNvPr id="5"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8823" y="2269923"/>
                        <a:ext cx="2282135" cy="83989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8271654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30</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Object 2"/>
          <p:cNvGraphicFramePr>
            <a:graphicFrameLocks noChangeAspect="1"/>
          </p:cNvGraphicFramePr>
          <p:nvPr>
            <p:extLst>
              <p:ext uri="{D42A27DB-BD31-4B8C-83A1-F6EECF244321}">
                <p14:modId xmlns:p14="http://schemas.microsoft.com/office/powerpoint/2010/main" val="657903258"/>
              </p:ext>
            </p:extLst>
          </p:nvPr>
        </p:nvGraphicFramePr>
        <p:xfrm>
          <a:off x="2050362" y="2950804"/>
          <a:ext cx="3187700" cy="973137"/>
        </p:xfrm>
        <a:graphic>
          <a:graphicData uri="http://schemas.openxmlformats.org/presentationml/2006/ole">
            <mc:AlternateContent xmlns:mc="http://schemas.openxmlformats.org/markup-compatibility/2006">
              <mc:Choice xmlns:v="urn:schemas-microsoft-com:vml" Requires="v">
                <p:oleObj spid="_x0000_s197805" name="公式" r:id="rId3" imgW="1396394" imgH="444307" progId="Equation.3">
                  <p:embed/>
                </p:oleObj>
              </mc:Choice>
              <mc:Fallback>
                <p:oleObj name="公式" r:id="rId3" imgW="1396394" imgH="444307" progId="Equation.3">
                  <p:embed/>
                  <p:pic>
                    <p:nvPicPr>
                      <p:cNvPr id="10240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0362" y="2950804"/>
                        <a:ext cx="31877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1703200881"/>
              </p:ext>
            </p:extLst>
          </p:nvPr>
        </p:nvGraphicFramePr>
        <p:xfrm>
          <a:off x="2413899" y="982304"/>
          <a:ext cx="3454400" cy="960437"/>
        </p:xfrm>
        <a:graphic>
          <a:graphicData uri="http://schemas.openxmlformats.org/presentationml/2006/ole">
            <mc:AlternateContent xmlns:mc="http://schemas.openxmlformats.org/markup-compatibility/2006">
              <mc:Choice xmlns:v="urn:schemas-microsoft-com:vml" Requires="v">
                <p:oleObj spid="_x0000_s197806" name="公式" r:id="rId5" imgW="1739900" imgH="482600" progId="Equation.3">
                  <p:embed/>
                </p:oleObj>
              </mc:Choice>
              <mc:Fallback>
                <p:oleObj name="公式" r:id="rId5" imgW="1739900" imgH="482600" progId="Equation.3">
                  <p:embed/>
                  <p:pic>
                    <p:nvPicPr>
                      <p:cNvPr id="10240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3899" y="982304"/>
                        <a:ext cx="34544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7"/>
          <p:cNvSpPr txBox="1">
            <a:spLocks noChangeArrowheads="1"/>
          </p:cNvSpPr>
          <p:nvPr/>
        </p:nvSpPr>
        <p:spPr bwMode="auto">
          <a:xfrm>
            <a:off x="127899" y="906104"/>
            <a:ext cx="3803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强反型区</a:t>
            </a:r>
          </a:p>
        </p:txBody>
      </p:sp>
      <p:graphicFrame>
        <p:nvGraphicFramePr>
          <p:cNvPr id="8" name="Object 4"/>
          <p:cNvGraphicFramePr>
            <a:graphicFrameLocks noChangeAspect="1"/>
          </p:cNvGraphicFramePr>
          <p:nvPr>
            <p:extLst>
              <p:ext uri="{D42A27DB-BD31-4B8C-83A1-F6EECF244321}">
                <p14:modId xmlns:p14="http://schemas.microsoft.com/office/powerpoint/2010/main" val="3227880625"/>
              </p:ext>
            </p:extLst>
          </p:nvPr>
        </p:nvGraphicFramePr>
        <p:xfrm>
          <a:off x="5238062" y="3855679"/>
          <a:ext cx="3162300" cy="2224087"/>
        </p:xfrm>
        <a:graphic>
          <a:graphicData uri="http://schemas.openxmlformats.org/presentationml/2006/ole">
            <mc:AlternateContent xmlns:mc="http://schemas.openxmlformats.org/markup-compatibility/2006">
              <mc:Choice xmlns:v="urn:schemas-microsoft-com:vml" Requires="v">
                <p:oleObj spid="_x0000_s197807" name="BMP 图象" r:id="rId7" imgW="5714286" imgH="4019048" progId="PBrush">
                  <p:embed/>
                </p:oleObj>
              </mc:Choice>
              <mc:Fallback>
                <p:oleObj name="BMP 图象" r:id="rId7" imgW="5714286" imgH="4019048" progId="PBrush">
                  <p:embed/>
                  <p:pic>
                    <p:nvPicPr>
                      <p:cNvPr id="102407"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8062" y="3855679"/>
                        <a:ext cx="3162300" cy="222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9" name="Rectangle 9"/>
          <p:cNvSpPr>
            <a:spLocks noChangeArrowheads="1"/>
          </p:cNvSpPr>
          <p:nvPr/>
        </p:nvSpPr>
        <p:spPr bwMode="auto">
          <a:xfrm>
            <a:off x="154887" y="1979254"/>
            <a:ext cx="880586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20000"/>
              </a:lnSpc>
              <a:spcBef>
                <a:spcPct val="0"/>
              </a:spcBef>
              <a:spcAft>
                <a:spcPct val="0"/>
              </a:spcAft>
              <a:buFontTx/>
              <a:buNone/>
            </a:pPr>
            <a:r>
              <a:rPr kumimoji="1" lang="en-US" altLang="zh-CN" sz="2400" b="1" i="1" smtClean="0">
                <a:solidFill>
                  <a:prstClr val="black"/>
                </a:solidFill>
                <a:latin typeface="Times New Roman" panose="02020603050405020304" pitchFamily="18" charset="0"/>
                <a:cs typeface="Times New Roman" panose="02020603050405020304" pitchFamily="18" charset="0"/>
              </a:rPr>
              <a:t>qV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&gt;&gt;</a:t>
            </a:r>
            <a:r>
              <a:rPr kumimoji="1" lang="en-US" altLang="zh-CN" sz="2400" b="1" smtClean="0">
                <a:solidFill>
                  <a:prstClr val="black"/>
                </a:solidFill>
                <a:latin typeface="Times New Roman" panose="02020603050405020304" pitchFamily="18" charset="0"/>
                <a:cs typeface="Times New Roman" panose="02020603050405020304" pitchFamily="18" charset="0"/>
              </a:rPr>
              <a:t> 2</a:t>
            </a:r>
            <a:r>
              <a:rPr kumimoji="1" lang="en-US" altLang="zh-CN" sz="2400" b="1" i="1" smtClean="0">
                <a:solidFill>
                  <a:prstClr val="black"/>
                </a:solidFill>
                <a:latin typeface="Times New Roman" panose="02020603050405020304" pitchFamily="18" charset="0"/>
                <a:cs typeface="Times New Roman" panose="02020603050405020304" pitchFamily="18" charset="0"/>
              </a:rPr>
              <a:t>K</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B</a:t>
            </a:r>
            <a:r>
              <a:rPr kumimoji="1" lang="en-US" altLang="zh-CN" sz="2400" b="1" i="1" smtClean="0">
                <a:solidFill>
                  <a:prstClr val="black"/>
                </a:solidFill>
                <a:latin typeface="Times New Roman" panose="02020603050405020304" pitchFamily="18" charset="0"/>
                <a:cs typeface="Times New Roman" panose="02020603050405020304" pitchFamily="18" charset="0"/>
              </a:rPr>
              <a:t>T</a:t>
            </a:r>
            <a:r>
              <a:rPr kumimoji="1" lang="zh-CN" altLang="en-US" sz="2400" b="1" smtClean="0">
                <a:solidFill>
                  <a:prstClr val="black"/>
                </a:solidFill>
                <a:latin typeface="Times New Roman" panose="02020603050405020304" pitchFamily="18" charset="0"/>
                <a:cs typeface="Times New Roman" panose="02020603050405020304" pitchFamily="18" charset="0"/>
              </a:rPr>
              <a:t>时，</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zh-CN" altLang="en-US" sz="2400" b="1" smtClean="0">
                <a:solidFill>
                  <a:prstClr val="black"/>
                </a:solidFill>
                <a:latin typeface="Times New Roman" panose="02020603050405020304" pitchFamily="18" charset="0"/>
                <a:cs typeface="Times New Roman" panose="02020603050405020304" pitchFamily="18" charset="0"/>
              </a:rPr>
              <a:t>很大， </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 </a:t>
            </a:r>
            <a:r>
              <a:rPr kumimoji="1" lang="en-US" altLang="zh-CN" sz="2400" b="1" smtClean="0">
                <a:solidFill>
                  <a:prstClr val="black"/>
                </a:solidFill>
                <a:latin typeface="Times New Roman" panose="02020603050405020304" pitchFamily="18" charset="0"/>
                <a:cs typeface="Times New Roman" panose="02020603050405020304" pitchFamily="18" charset="0"/>
              </a:rPr>
              <a:t>&gt;&gt;</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i</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i</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i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1</a:t>
            </a:r>
            <a:endParaRPr kumimoji="1" lang="en-US" altLang="zh-CN" sz="2400" b="1" smtClean="0">
              <a:solidFill>
                <a:prstClr val="black"/>
              </a:solidFill>
              <a:latin typeface="Times New Roman" panose="02020603050405020304" pitchFamily="18" charset="0"/>
              <a:cs typeface="Times New Roman" panose="02020603050405020304" pitchFamily="18" charset="0"/>
            </a:endParaRPr>
          </a:p>
        </p:txBody>
      </p:sp>
      <p:sp>
        <p:nvSpPr>
          <p:cNvPr id="10" name="Text Box 10"/>
          <p:cNvSpPr txBox="1">
            <a:spLocks noChangeArrowheads="1"/>
          </p:cNvSpPr>
          <p:nvPr/>
        </p:nvSpPr>
        <p:spPr bwMode="auto">
          <a:xfrm>
            <a:off x="189812" y="2517416"/>
            <a:ext cx="8034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强反型和强积累相似，对比积累区：</a:t>
            </a:r>
          </a:p>
        </p:txBody>
      </p:sp>
      <p:sp>
        <p:nvSpPr>
          <p:cNvPr id="11" name="Text Box 11"/>
          <p:cNvSpPr txBox="1">
            <a:spLocks noChangeArrowheads="1"/>
          </p:cNvSpPr>
          <p:nvPr/>
        </p:nvSpPr>
        <p:spPr bwMode="auto">
          <a:xfrm>
            <a:off x="189812" y="4249379"/>
            <a:ext cx="457200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smtClean="0">
                <a:solidFill>
                  <a:srgbClr val="FF0000"/>
                </a:solidFill>
                <a:latin typeface="Times New Roman" panose="02020603050405020304" pitchFamily="18" charset="0"/>
                <a:cs typeface="Times New Roman" panose="02020603050405020304" pitchFamily="18" charset="0"/>
              </a:rPr>
              <a:t>二者不同之处</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a:p>
            <a:pPr defTabSz="914400" fontAlgn="base">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        强反型时，表面反型层和体内之间还存在耗尽层。</a:t>
            </a:r>
          </a:p>
        </p:txBody>
      </p:sp>
    </p:spTree>
    <p:extLst>
      <p:ext uri="{BB962C8B-B14F-4D97-AF65-F5344CB8AC3E}">
        <p14:creationId xmlns:p14="http://schemas.microsoft.com/office/powerpoint/2010/main" val="20316651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31</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Text Box 3"/>
          <p:cNvSpPr txBox="1">
            <a:spLocks noChangeArrowheads="1"/>
          </p:cNvSpPr>
          <p:nvPr/>
        </p:nvSpPr>
        <p:spPr bwMode="auto">
          <a:xfrm>
            <a:off x="190970" y="952949"/>
            <a:ext cx="85663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前面分析了 </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C</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rPr>
              <a:t>的关系。如果知道</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 </a:t>
            </a:r>
            <a:r>
              <a:rPr kumimoji="1" lang="zh-CN" altLang="en-US" sz="2400" b="1" dirty="0" smtClean="0">
                <a:solidFill>
                  <a:prstClr val="black"/>
                </a:solidFill>
                <a:latin typeface="Times New Roman" panose="02020603050405020304" pitchFamily="18" charset="0"/>
                <a:cs typeface="Times New Roman" panose="02020603050405020304" pitchFamily="18" charset="0"/>
              </a:rPr>
              <a:t>和 </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g</a:t>
            </a: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的关系，就可以计算任何</a:t>
            </a:r>
            <a:r>
              <a:rPr kumimoji="1" lang="zh-CN" altLang="en-US" sz="2400" b="1" i="1" dirty="0" smtClean="0">
                <a:solidFill>
                  <a:prstClr val="black"/>
                </a:solidFill>
                <a:latin typeface="Times New Roman" panose="02020603050405020304" pitchFamily="18" charset="0"/>
                <a:cs typeface="Times New Roman" panose="02020603050405020304" pitchFamily="18" charset="0"/>
              </a:rPr>
              <a:t> </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g </a:t>
            </a:r>
            <a:r>
              <a:rPr kumimoji="1" lang="zh-CN" altLang="en-US" sz="2400" b="1" dirty="0" smtClean="0">
                <a:solidFill>
                  <a:prstClr val="black"/>
                </a:solidFill>
                <a:latin typeface="Times New Roman" panose="02020603050405020304" pitchFamily="18" charset="0"/>
                <a:cs typeface="Times New Roman" panose="02020603050405020304" pitchFamily="18" charset="0"/>
              </a:rPr>
              <a:t>下的 </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C</a:t>
            </a:r>
            <a:r>
              <a:rPr kumimoji="1" lang="en-US" altLang="zh-CN"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特性了。</a:t>
            </a:r>
          </a:p>
        </p:txBody>
      </p:sp>
      <p:graphicFrame>
        <p:nvGraphicFramePr>
          <p:cNvPr id="4" name="Object 2"/>
          <p:cNvGraphicFramePr>
            <a:graphicFrameLocks noChangeAspect="1"/>
          </p:cNvGraphicFramePr>
          <p:nvPr>
            <p:extLst>
              <p:ext uri="{D42A27DB-BD31-4B8C-83A1-F6EECF244321}">
                <p14:modId xmlns:p14="http://schemas.microsoft.com/office/powerpoint/2010/main" val="516205215"/>
              </p:ext>
            </p:extLst>
          </p:nvPr>
        </p:nvGraphicFramePr>
        <p:xfrm>
          <a:off x="3936723" y="1793303"/>
          <a:ext cx="1981200" cy="569912"/>
        </p:xfrm>
        <a:graphic>
          <a:graphicData uri="http://schemas.openxmlformats.org/presentationml/2006/ole">
            <mc:AlternateContent xmlns:mc="http://schemas.openxmlformats.org/markup-compatibility/2006">
              <mc:Choice xmlns:v="urn:schemas-microsoft-com:vml" Requires="v">
                <p:oleObj spid="_x0000_s198886" name="公式" r:id="rId3" imgW="812447" imgH="228501" progId="Equation.3">
                  <p:embed/>
                </p:oleObj>
              </mc:Choice>
              <mc:Fallback>
                <p:oleObj name="公式" r:id="rId3" imgW="812447" imgH="228501" progId="Equation.3">
                  <p:embed/>
                  <p:pic>
                    <p:nvPicPr>
                      <p:cNvPr id="10342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6723" y="1793303"/>
                        <a:ext cx="198120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4029846083"/>
              </p:ext>
            </p:extLst>
          </p:nvPr>
        </p:nvGraphicFramePr>
        <p:xfrm>
          <a:off x="3357285" y="2377503"/>
          <a:ext cx="3187700" cy="1071562"/>
        </p:xfrm>
        <a:graphic>
          <a:graphicData uri="http://schemas.openxmlformats.org/presentationml/2006/ole">
            <mc:AlternateContent xmlns:mc="http://schemas.openxmlformats.org/markup-compatibility/2006">
              <mc:Choice xmlns:v="urn:schemas-microsoft-com:vml" Requires="v">
                <p:oleObj spid="_x0000_s198887" name="公式" r:id="rId5" imgW="1612900" imgH="431800" progId="Equation.3">
                  <p:embed/>
                </p:oleObj>
              </mc:Choice>
              <mc:Fallback>
                <p:oleObj name="公式" r:id="rId5" imgW="1612900" imgH="431800" progId="Equation.3">
                  <p:embed/>
                  <p:pic>
                    <p:nvPicPr>
                      <p:cNvPr id="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7285" y="2377503"/>
                        <a:ext cx="3187700"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318127829"/>
              </p:ext>
            </p:extLst>
          </p:nvPr>
        </p:nvGraphicFramePr>
        <p:xfrm>
          <a:off x="2514323" y="3463353"/>
          <a:ext cx="3773487" cy="711200"/>
        </p:xfrm>
        <a:graphic>
          <a:graphicData uri="http://schemas.openxmlformats.org/presentationml/2006/ole">
            <mc:AlternateContent xmlns:mc="http://schemas.openxmlformats.org/markup-compatibility/2006">
              <mc:Choice xmlns:v="urn:schemas-microsoft-com:vml" Requires="v">
                <p:oleObj spid="_x0000_s198888" name="公式" r:id="rId7" imgW="1548728" imgH="266584" progId="Equation.3">
                  <p:embed/>
                </p:oleObj>
              </mc:Choice>
              <mc:Fallback>
                <p:oleObj name="公式" r:id="rId7" imgW="1548728" imgH="266584" progId="Equation.3">
                  <p:embed/>
                  <p:pic>
                    <p:nvPicPr>
                      <p:cNvPr id="2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323" y="3463353"/>
                        <a:ext cx="3773487"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Text Box 8"/>
          <p:cNvSpPr txBox="1">
            <a:spLocks noChangeArrowheads="1"/>
          </p:cNvSpPr>
          <p:nvPr/>
        </p:nvSpPr>
        <p:spPr bwMode="auto">
          <a:xfrm>
            <a:off x="210860" y="4453953"/>
            <a:ext cx="914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得：</a:t>
            </a:r>
          </a:p>
        </p:txBody>
      </p:sp>
      <p:sp>
        <p:nvSpPr>
          <p:cNvPr id="8" name="Text Box 10"/>
          <p:cNvSpPr txBox="1">
            <a:spLocks noChangeArrowheads="1"/>
          </p:cNvSpPr>
          <p:nvPr/>
        </p:nvSpPr>
        <p:spPr bwMode="auto">
          <a:xfrm>
            <a:off x="210860" y="3498278"/>
            <a:ext cx="21605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代入：</a:t>
            </a:r>
          </a:p>
        </p:txBody>
      </p:sp>
      <p:graphicFrame>
        <p:nvGraphicFramePr>
          <p:cNvPr id="9" name="Object 5"/>
          <p:cNvGraphicFramePr>
            <a:graphicFrameLocks noChangeAspect="1"/>
          </p:cNvGraphicFramePr>
          <p:nvPr>
            <p:extLst>
              <p:ext uri="{D42A27DB-BD31-4B8C-83A1-F6EECF244321}">
                <p14:modId xmlns:p14="http://schemas.microsoft.com/office/powerpoint/2010/main" val="1838403099"/>
              </p:ext>
            </p:extLst>
          </p:nvPr>
        </p:nvGraphicFramePr>
        <p:xfrm>
          <a:off x="2427010" y="4301553"/>
          <a:ext cx="4405313" cy="1219200"/>
        </p:xfrm>
        <a:graphic>
          <a:graphicData uri="http://schemas.openxmlformats.org/presentationml/2006/ole">
            <mc:AlternateContent xmlns:mc="http://schemas.openxmlformats.org/markup-compatibility/2006">
              <mc:Choice xmlns:v="urn:schemas-microsoft-com:vml" Requires="v">
                <p:oleObj spid="_x0000_s198889" name="公式" r:id="rId9" imgW="1777229" imgH="431613" progId="Equation.3">
                  <p:embed/>
                </p:oleObj>
              </mc:Choice>
              <mc:Fallback>
                <p:oleObj name="公式" r:id="rId9" imgW="1777229" imgH="431613" progId="Equation.3">
                  <p:embed/>
                  <p:pic>
                    <p:nvPicPr>
                      <p:cNvPr id="27"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7010" y="4301553"/>
                        <a:ext cx="4405313"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Text Box 12"/>
          <p:cNvSpPr txBox="1">
            <a:spLocks noChangeArrowheads="1"/>
          </p:cNvSpPr>
          <p:nvPr/>
        </p:nvSpPr>
        <p:spPr bwMode="auto">
          <a:xfrm>
            <a:off x="172760" y="5552503"/>
            <a:ext cx="8904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符号选取：</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en-US" altLang="zh-CN" sz="2400" b="1" smtClean="0">
                <a:solidFill>
                  <a:prstClr val="black"/>
                </a:solidFill>
                <a:latin typeface="Times New Roman" panose="02020603050405020304" pitchFamily="18" charset="0"/>
                <a:cs typeface="Times New Roman" panose="02020603050405020304" pitchFamily="18" charset="0"/>
              </a:rPr>
              <a:t>&gt;0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sc</a:t>
            </a:r>
            <a:r>
              <a:rPr kumimoji="1" lang="en-US" altLang="zh-CN" sz="2400" b="1" smtClean="0">
                <a:solidFill>
                  <a:prstClr val="black"/>
                </a:solidFill>
                <a:latin typeface="Times New Roman" panose="02020603050405020304" pitchFamily="18" charset="0"/>
                <a:cs typeface="Times New Roman" panose="02020603050405020304" pitchFamily="18" charset="0"/>
              </a:rPr>
              <a:t>&lt;0</a:t>
            </a:r>
            <a:r>
              <a:rPr kumimoji="1" lang="zh-CN" altLang="en-US" sz="2400" b="1" smtClean="0">
                <a:solidFill>
                  <a:prstClr val="black"/>
                </a:solidFill>
                <a:latin typeface="Times New Roman" panose="02020603050405020304" pitchFamily="18" charset="0"/>
                <a:cs typeface="Times New Roman" panose="02020603050405020304" pitchFamily="18" charset="0"/>
              </a:rPr>
              <a:t>，取“</a:t>
            </a:r>
            <a:r>
              <a:rPr kumimoji="1" lang="en-US" altLang="zh-CN" sz="2400" b="1" smtClean="0">
                <a:solidFill>
                  <a:prstClr val="black"/>
                </a:solidFill>
                <a:latin typeface="Times New Roman" panose="02020603050405020304" pitchFamily="18" charset="0"/>
                <a:cs typeface="Times New Roman" panose="02020603050405020304" pitchFamily="18" charset="0"/>
              </a:rPr>
              <a:t>+”</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en-US" altLang="zh-CN" sz="2400" b="1" smtClean="0">
                <a:solidFill>
                  <a:prstClr val="black"/>
                </a:solidFill>
                <a:latin typeface="Times New Roman" panose="02020603050405020304" pitchFamily="18" charset="0"/>
                <a:cs typeface="Times New Roman" panose="02020603050405020304" pitchFamily="18" charset="0"/>
              </a:rPr>
              <a:t>&lt;0</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sc</a:t>
            </a:r>
            <a:r>
              <a:rPr kumimoji="1" lang="en-US" altLang="zh-CN" sz="2400" b="1" smtClean="0">
                <a:solidFill>
                  <a:prstClr val="black"/>
                </a:solidFill>
                <a:latin typeface="Times New Roman" panose="02020603050405020304" pitchFamily="18" charset="0"/>
                <a:cs typeface="Times New Roman" panose="02020603050405020304" pitchFamily="18" charset="0"/>
              </a:rPr>
              <a:t>&gt;0</a:t>
            </a:r>
            <a:r>
              <a:rPr kumimoji="1" lang="zh-CN" altLang="en-US" sz="2400" b="1" smtClean="0">
                <a:solidFill>
                  <a:prstClr val="black"/>
                </a:solidFill>
                <a:latin typeface="Times New Roman" panose="02020603050405020304" pitchFamily="18" charset="0"/>
                <a:cs typeface="Times New Roman" panose="02020603050405020304" pitchFamily="18" charset="0"/>
              </a:rPr>
              <a:t>，取“</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sp>
        <p:nvSpPr>
          <p:cNvPr id="12" name="AutoShape 19"/>
          <p:cNvSpPr>
            <a:spLocks noChangeArrowheads="1"/>
          </p:cNvSpPr>
          <p:nvPr/>
        </p:nvSpPr>
        <p:spPr bwMode="auto">
          <a:xfrm>
            <a:off x="4263748" y="2548953"/>
            <a:ext cx="360362" cy="134937"/>
          </a:xfrm>
          <a:prstGeom prst="leftRightArrow">
            <a:avLst>
              <a:gd name="adj1" fmla="val 50000"/>
              <a:gd name="adj2" fmla="val 53412"/>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endParaRPr lang="zh-CN" altLang="en-US" sz="1800" u="sng" smtClean="0">
              <a:solidFill>
                <a:prstClr val="black"/>
              </a:solidFill>
              <a:latin typeface="Times New Roman" panose="02020603050405020304" pitchFamily="18" charset="0"/>
              <a:cs typeface="Times New Roman" panose="02020603050405020304" pitchFamily="18" charset="0"/>
            </a:endParaRPr>
          </a:p>
        </p:txBody>
      </p:sp>
      <p:sp>
        <p:nvSpPr>
          <p:cNvPr id="13" name="Rectangle 2"/>
          <p:cNvSpPr>
            <a:spLocks noChangeArrowheads="1"/>
          </p:cNvSpPr>
          <p:nvPr/>
        </p:nvSpPr>
        <p:spPr bwMode="auto">
          <a:xfrm>
            <a:off x="121960" y="318491"/>
            <a:ext cx="792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kumimoji="1" lang="en-US" altLang="zh-CN" sz="2400" b="1" dirty="0" smtClean="0">
                <a:solidFill>
                  <a:srgbClr val="990000"/>
                </a:solidFill>
                <a:latin typeface="Times New Roman" panose="02020603050405020304" pitchFamily="18" charset="0"/>
                <a:cs typeface="Times New Roman" panose="02020603050405020304" pitchFamily="18" charset="0"/>
              </a:rPr>
              <a:t>3</a:t>
            </a:r>
            <a:r>
              <a:rPr kumimoji="1" lang="zh-CN" altLang="en-US" sz="2400" b="1" dirty="0" smtClean="0">
                <a:solidFill>
                  <a:srgbClr val="990000"/>
                </a:solidFill>
                <a:latin typeface="Times New Roman" panose="02020603050405020304" pitchFamily="18" charset="0"/>
                <a:cs typeface="Times New Roman" panose="02020603050405020304" pitchFamily="18" charset="0"/>
              </a:rPr>
              <a:t>）</a:t>
            </a:r>
            <a:r>
              <a:rPr kumimoji="1" lang="en-US" altLang="zh-CN" sz="2400" b="1" dirty="0" smtClean="0">
                <a:solidFill>
                  <a:srgbClr val="990000"/>
                </a:solidFill>
                <a:latin typeface="Times New Roman" panose="02020603050405020304" pitchFamily="18" charset="0"/>
                <a:cs typeface="Times New Roman" panose="02020603050405020304" pitchFamily="18" charset="0"/>
              </a:rPr>
              <a:t> </a:t>
            </a:r>
            <a:r>
              <a:rPr kumimoji="1" lang="zh-CN" altLang="en-US" sz="2400" b="1" dirty="0">
                <a:solidFill>
                  <a:srgbClr val="990000"/>
                </a:solidFill>
                <a:latin typeface="Times New Roman" panose="02020603050405020304" pitchFamily="18" charset="0"/>
                <a:cs typeface="Times New Roman" panose="02020603050405020304" pitchFamily="18" charset="0"/>
              </a:rPr>
              <a:t>栅压</a:t>
            </a:r>
            <a:r>
              <a:rPr kumimoji="1" lang="en-US" altLang="zh-CN" sz="2400" b="1" dirty="0">
                <a:solidFill>
                  <a:srgbClr val="990000"/>
                </a:solidFill>
                <a:latin typeface="Times New Roman" panose="02020603050405020304" pitchFamily="18" charset="0"/>
                <a:cs typeface="Times New Roman" panose="02020603050405020304" pitchFamily="18" charset="0"/>
              </a:rPr>
              <a:t>Vg</a:t>
            </a:r>
            <a:r>
              <a:rPr kumimoji="1" lang="zh-CN" altLang="en-US" sz="2400" b="1" dirty="0">
                <a:solidFill>
                  <a:srgbClr val="990000"/>
                </a:solidFill>
                <a:latin typeface="Times New Roman" panose="02020603050405020304" pitchFamily="18" charset="0"/>
                <a:cs typeface="Times New Roman" panose="02020603050405020304" pitchFamily="18" charset="0"/>
              </a:rPr>
              <a:t>和表面势</a:t>
            </a:r>
            <a:r>
              <a:rPr kumimoji="1" lang="en-US" altLang="zh-CN" sz="2400" b="1" dirty="0">
                <a:solidFill>
                  <a:srgbClr val="990000"/>
                </a:solidFill>
                <a:latin typeface="Times New Roman" panose="02020603050405020304" pitchFamily="18" charset="0"/>
                <a:cs typeface="Times New Roman" panose="02020603050405020304" pitchFamily="18" charset="0"/>
              </a:rPr>
              <a:t>Vs</a:t>
            </a:r>
            <a:r>
              <a:rPr kumimoji="1" lang="zh-CN" altLang="en-US" sz="2400" b="1" dirty="0">
                <a:solidFill>
                  <a:srgbClr val="990000"/>
                </a:solidFill>
                <a:latin typeface="Times New Roman" panose="02020603050405020304" pitchFamily="18" charset="0"/>
                <a:cs typeface="Times New Roman" panose="02020603050405020304" pitchFamily="18" charset="0"/>
              </a:rPr>
              <a:t>的关系</a:t>
            </a:r>
          </a:p>
        </p:txBody>
      </p:sp>
    </p:spTree>
    <p:extLst>
      <p:ext uri="{BB962C8B-B14F-4D97-AF65-F5344CB8AC3E}">
        <p14:creationId xmlns:p14="http://schemas.microsoft.com/office/powerpoint/2010/main" val="39866327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32</a:t>
            </a:fld>
            <a:endParaRPr lang="zh-CN" altLang="en-US"/>
          </a:p>
        </p:txBody>
      </p:sp>
      <p:graphicFrame>
        <p:nvGraphicFramePr>
          <p:cNvPr id="3" name="Object 2"/>
          <p:cNvGraphicFramePr>
            <a:graphicFrameLocks noChangeAspect="1"/>
          </p:cNvGraphicFramePr>
          <p:nvPr>
            <p:extLst>
              <p:ext uri="{D42A27DB-BD31-4B8C-83A1-F6EECF244321}">
                <p14:modId xmlns:p14="http://schemas.microsoft.com/office/powerpoint/2010/main" val="803285327"/>
              </p:ext>
            </p:extLst>
          </p:nvPr>
        </p:nvGraphicFramePr>
        <p:xfrm>
          <a:off x="3216934" y="1196107"/>
          <a:ext cx="3665538" cy="874712"/>
        </p:xfrm>
        <a:graphic>
          <a:graphicData uri="http://schemas.openxmlformats.org/presentationml/2006/ole">
            <mc:AlternateContent xmlns:mc="http://schemas.openxmlformats.org/markup-compatibility/2006">
              <mc:Choice xmlns:v="urn:schemas-microsoft-com:vml" Requires="v">
                <p:oleObj spid="_x0000_s199967" name="公式" r:id="rId3" imgW="2057400" imgH="431800" progId="Equation.3">
                  <p:embed/>
                </p:oleObj>
              </mc:Choice>
              <mc:Fallback>
                <p:oleObj name="公式" r:id="rId3" imgW="2057400" imgH="431800" progId="Equation.3">
                  <p:embed/>
                  <p:pic>
                    <p:nvPicPr>
                      <p:cNvPr id="1044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934" y="1196107"/>
                        <a:ext cx="3665538"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4"/>
          <p:cNvSpPr txBox="1">
            <a:spLocks noChangeArrowheads="1"/>
          </p:cNvSpPr>
          <p:nvPr/>
        </p:nvSpPr>
        <p:spPr bwMode="auto">
          <a:xfrm>
            <a:off x="435634" y="2053357"/>
            <a:ext cx="891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FF0000"/>
                </a:solidFill>
                <a:latin typeface="Times New Roman" panose="02020603050405020304" pitchFamily="18" charset="0"/>
                <a:cs typeface="Times New Roman" panose="02020603050405020304" pitchFamily="18" charset="0"/>
              </a:rPr>
              <a:t>阈值电压：</a:t>
            </a:r>
            <a:r>
              <a:rPr kumimoji="1" lang="en-US" altLang="zh-CN" sz="2400" b="1" i="1" smtClean="0">
                <a:solidFill>
                  <a:srgbClr val="FF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FF0000"/>
                </a:solidFill>
                <a:latin typeface="Times New Roman" panose="02020603050405020304" pitchFamily="18" charset="0"/>
                <a:cs typeface="Times New Roman" panose="02020603050405020304" pitchFamily="18" charset="0"/>
              </a:rPr>
              <a:t>s</a:t>
            </a:r>
            <a:r>
              <a:rPr kumimoji="1" lang="en-US" altLang="zh-CN" sz="2400" b="1" smtClean="0">
                <a:solidFill>
                  <a:srgbClr val="FF0000"/>
                </a:solidFill>
                <a:latin typeface="Times New Roman" panose="02020603050405020304" pitchFamily="18" charset="0"/>
                <a:cs typeface="Times New Roman" panose="02020603050405020304" pitchFamily="18" charset="0"/>
              </a:rPr>
              <a:t> = 2</a:t>
            </a:r>
            <a:r>
              <a:rPr kumimoji="1" lang="en-US" altLang="zh-CN" sz="2400" b="1" i="1" smtClean="0">
                <a:solidFill>
                  <a:srgbClr val="FF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FF0000"/>
                </a:solidFill>
                <a:latin typeface="Times New Roman" panose="02020603050405020304" pitchFamily="18" charset="0"/>
                <a:cs typeface="Times New Roman" panose="02020603050405020304" pitchFamily="18" charset="0"/>
              </a:rPr>
              <a:t>F</a:t>
            </a:r>
            <a:r>
              <a:rPr kumimoji="1" lang="en-US" altLang="zh-CN" sz="2400" b="1" smtClean="0">
                <a:solidFill>
                  <a:srgbClr val="FF0000"/>
                </a:solidFill>
                <a:latin typeface="Times New Roman" panose="02020603050405020304" pitchFamily="18" charset="0"/>
                <a:cs typeface="Times New Roman" panose="02020603050405020304" pitchFamily="18" charset="0"/>
              </a:rPr>
              <a:t> </a:t>
            </a:r>
            <a:r>
              <a:rPr kumimoji="1" lang="zh-CN" altLang="en-US" sz="2400" b="1" smtClean="0">
                <a:solidFill>
                  <a:srgbClr val="FF0000"/>
                </a:solidFill>
                <a:latin typeface="Times New Roman" panose="02020603050405020304" pitchFamily="18" charset="0"/>
                <a:cs typeface="Times New Roman" panose="02020603050405020304" pitchFamily="18" charset="0"/>
              </a:rPr>
              <a:t>时的栅压称为阈值电压，记做 </a:t>
            </a:r>
            <a:r>
              <a:rPr kumimoji="1" lang="en-US" altLang="zh-CN" sz="2400" b="1" i="1" smtClean="0">
                <a:solidFill>
                  <a:srgbClr val="FF0000"/>
                </a:solidFill>
                <a:latin typeface="Times New Roman" panose="02020603050405020304" pitchFamily="18" charset="0"/>
                <a:cs typeface="Times New Roman" panose="02020603050405020304" pitchFamily="18" charset="0"/>
              </a:rPr>
              <a:t>V</a:t>
            </a:r>
            <a:r>
              <a:rPr kumimoji="1" lang="en-US" altLang="zh-CN" sz="2400" b="1" baseline="-25000" smtClean="0">
                <a:solidFill>
                  <a:srgbClr val="FF0000"/>
                </a:solidFill>
                <a:latin typeface="Times New Roman" panose="02020603050405020304" pitchFamily="18" charset="0"/>
                <a:cs typeface="Times New Roman" panose="02020603050405020304" pitchFamily="18" charset="0"/>
              </a:rPr>
              <a:t>T </a:t>
            </a:r>
            <a:r>
              <a:rPr kumimoji="1" lang="zh-CN" altLang="en-US" sz="2400" b="1" smtClean="0">
                <a:solidFill>
                  <a:srgbClr val="FF0000"/>
                </a:solidFill>
                <a:latin typeface="Times New Roman" panose="02020603050405020304" pitchFamily="18" charset="0"/>
                <a:cs typeface="Times New Roman" panose="02020603050405020304" pitchFamily="18" charset="0"/>
              </a:rPr>
              <a:t>。</a:t>
            </a:r>
            <a:endParaRPr kumimoji="1" lang="zh-CN" altLang="en-US" sz="2400" b="1" baseline="-25000" smtClean="0">
              <a:solidFill>
                <a:srgbClr val="FF0000"/>
              </a:solidFill>
              <a:latin typeface="Times New Roman" panose="02020603050405020304" pitchFamily="18" charset="0"/>
              <a:cs typeface="Times New Roman" panose="02020603050405020304" pitchFamily="18" charset="0"/>
            </a:endParaRPr>
          </a:p>
        </p:txBody>
      </p:sp>
      <p:sp>
        <p:nvSpPr>
          <p:cNvPr id="5" name="Text Box 5"/>
          <p:cNvSpPr txBox="1">
            <a:spLocks noChangeArrowheads="1"/>
          </p:cNvSpPr>
          <p:nvPr/>
        </p:nvSpPr>
        <p:spPr bwMode="auto">
          <a:xfrm>
            <a:off x="472147" y="2523257"/>
            <a:ext cx="8677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s</a:t>
            </a:r>
            <a:r>
              <a:rPr kumimoji="1" lang="en-US" altLang="zh-CN" sz="2400" b="1" dirty="0" smtClean="0">
                <a:solidFill>
                  <a:prstClr val="black"/>
                </a:solidFill>
                <a:latin typeface="Times New Roman" panose="02020603050405020304" pitchFamily="18" charset="0"/>
                <a:cs typeface="Times New Roman" panose="02020603050405020304" pitchFamily="18" charset="0"/>
              </a:rPr>
              <a:t> = 2</a:t>
            </a:r>
            <a:r>
              <a:rPr kumimoji="1" lang="en-US" altLang="zh-CN" sz="2400" b="1" i="1" dirty="0"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rPr>
              <a:t>F</a:t>
            </a:r>
            <a:r>
              <a:rPr kumimoji="1" lang="zh-CN" altLang="en-US" sz="2400" b="1" dirty="0" smtClean="0">
                <a:solidFill>
                  <a:prstClr val="black"/>
                </a:solidFill>
                <a:latin typeface="Times New Roman" panose="02020603050405020304" pitchFamily="18" charset="0"/>
                <a:cs typeface="Times New Roman" panose="02020603050405020304" pitchFamily="18" charset="0"/>
              </a:rPr>
              <a:t>时仍采用耗尽层近似，</a:t>
            </a:r>
            <a:endParaRPr kumimoji="1" lang="en-US" altLang="zh-CN" sz="2400" b="1" dirty="0" smtClean="0">
              <a:solidFill>
                <a:prstClr val="black"/>
              </a:solidFill>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279705098"/>
              </p:ext>
            </p:extLst>
          </p:nvPr>
        </p:nvGraphicFramePr>
        <p:xfrm>
          <a:off x="2981984" y="3046500"/>
          <a:ext cx="3316288" cy="558800"/>
        </p:xfrm>
        <a:graphic>
          <a:graphicData uri="http://schemas.openxmlformats.org/presentationml/2006/ole">
            <mc:AlternateContent xmlns:mc="http://schemas.openxmlformats.org/markup-compatibility/2006">
              <mc:Choice xmlns:v="urn:schemas-microsoft-com:vml" Requires="v">
                <p:oleObj spid="_x0000_s199968" name="公式" r:id="rId5" imgW="1320227" imgH="266584" progId="Equation.3">
                  <p:embed/>
                </p:oleObj>
              </mc:Choice>
              <mc:Fallback>
                <p:oleObj name="公式" r:id="rId5" imgW="1320227" imgH="266584" progId="Equation.3">
                  <p:embed/>
                  <p:pic>
                    <p:nvPicPr>
                      <p:cNvPr id="10445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1984" y="3046500"/>
                        <a:ext cx="33162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1473428667"/>
              </p:ext>
            </p:extLst>
          </p:nvPr>
        </p:nvGraphicFramePr>
        <p:xfrm>
          <a:off x="3110572" y="3766269"/>
          <a:ext cx="4152900" cy="995363"/>
        </p:xfrm>
        <a:graphic>
          <a:graphicData uri="http://schemas.openxmlformats.org/presentationml/2006/ole">
            <mc:AlternateContent xmlns:mc="http://schemas.openxmlformats.org/markup-compatibility/2006">
              <mc:Choice xmlns:v="urn:schemas-microsoft-com:vml" Requires="v">
                <p:oleObj spid="_x0000_s199969" name="公式" r:id="rId7" imgW="1917700" imgH="431800" progId="Equation.3">
                  <p:embed/>
                </p:oleObj>
              </mc:Choice>
              <mc:Fallback>
                <p:oleObj name="公式" r:id="rId7" imgW="1917700" imgH="431800" progId="Equation.3">
                  <p:embed/>
                  <p:pic>
                    <p:nvPicPr>
                      <p:cNvPr id="104455"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0572" y="3766269"/>
                        <a:ext cx="4152900" cy="99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3851247324"/>
              </p:ext>
            </p:extLst>
          </p:nvPr>
        </p:nvGraphicFramePr>
        <p:xfrm>
          <a:off x="3013734" y="4837832"/>
          <a:ext cx="4071938" cy="1089025"/>
        </p:xfrm>
        <a:graphic>
          <a:graphicData uri="http://schemas.openxmlformats.org/presentationml/2006/ole">
            <mc:AlternateContent xmlns:mc="http://schemas.openxmlformats.org/markup-compatibility/2006">
              <mc:Choice xmlns:v="urn:schemas-microsoft-com:vml" Requires="v">
                <p:oleObj spid="_x0000_s199970" name="公式" r:id="rId9" imgW="2108200" imgH="431800" progId="Equation.3">
                  <p:embed/>
                </p:oleObj>
              </mc:Choice>
              <mc:Fallback>
                <p:oleObj name="公式" r:id="rId9" imgW="2108200" imgH="431800" progId="Equation.3">
                  <p:embed/>
                  <p:pic>
                    <p:nvPicPr>
                      <p:cNvPr id="104456"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3734" y="4837832"/>
                        <a:ext cx="4071938" cy="108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9" name="Text Box 9"/>
          <p:cNvSpPr txBox="1">
            <a:spLocks noChangeArrowheads="1"/>
          </p:cNvSpPr>
          <p:nvPr/>
        </p:nvSpPr>
        <p:spPr bwMode="auto">
          <a:xfrm>
            <a:off x="672172" y="3994869"/>
            <a:ext cx="338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rPr>
              <a:t>p</a:t>
            </a:r>
            <a:r>
              <a:rPr kumimoji="1" lang="zh-CN" altLang="en-US" sz="2400" b="1" smtClean="0">
                <a:solidFill>
                  <a:prstClr val="black"/>
                </a:solidFill>
                <a:latin typeface="Times New Roman" panose="02020603050405020304" pitchFamily="18" charset="0"/>
                <a:cs typeface="Times New Roman" panose="02020603050405020304" pitchFamily="18" charset="0"/>
              </a:rPr>
              <a:t>型半导体</a:t>
            </a:r>
          </a:p>
        </p:txBody>
      </p:sp>
      <p:sp>
        <p:nvSpPr>
          <p:cNvPr id="10" name="Text Box 10"/>
          <p:cNvSpPr txBox="1">
            <a:spLocks noChangeArrowheads="1"/>
          </p:cNvSpPr>
          <p:nvPr/>
        </p:nvSpPr>
        <p:spPr bwMode="auto">
          <a:xfrm>
            <a:off x="672172" y="5126757"/>
            <a:ext cx="4776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rPr>
              <a:t>n</a:t>
            </a:r>
            <a:r>
              <a:rPr kumimoji="1" lang="zh-CN" altLang="en-US" sz="2400" b="1" smtClean="0">
                <a:solidFill>
                  <a:prstClr val="black"/>
                </a:solidFill>
                <a:latin typeface="Times New Roman" panose="02020603050405020304" pitchFamily="18" charset="0"/>
                <a:cs typeface="Times New Roman" panose="02020603050405020304" pitchFamily="18" charset="0"/>
              </a:rPr>
              <a:t>型半导体</a:t>
            </a:r>
          </a:p>
        </p:txBody>
      </p:sp>
      <p:sp>
        <p:nvSpPr>
          <p:cNvPr id="11" name="Text Box 12"/>
          <p:cNvSpPr txBox="1">
            <a:spLocks noChangeArrowheads="1"/>
          </p:cNvSpPr>
          <p:nvPr/>
        </p:nvSpPr>
        <p:spPr bwMode="auto">
          <a:xfrm>
            <a:off x="472147" y="576982"/>
            <a:ext cx="15986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由</a:t>
            </a:r>
            <a:r>
              <a:rPr kumimoji="1" lang="en-US" altLang="zh-CN" sz="2400" b="1" smtClean="0">
                <a:solidFill>
                  <a:prstClr val="black"/>
                </a:solidFill>
                <a:latin typeface="Times New Roman" panose="02020603050405020304" pitchFamily="18" charset="0"/>
                <a:cs typeface="Times New Roman" panose="02020603050405020304" pitchFamily="18" charset="0"/>
              </a:rPr>
              <a:t>:</a:t>
            </a:r>
          </a:p>
        </p:txBody>
      </p:sp>
      <p:graphicFrame>
        <p:nvGraphicFramePr>
          <p:cNvPr id="12" name="Object 6"/>
          <p:cNvGraphicFramePr>
            <a:graphicFrameLocks noChangeAspect="1"/>
          </p:cNvGraphicFramePr>
          <p:nvPr>
            <p:extLst>
              <p:ext uri="{D42A27DB-BD31-4B8C-83A1-F6EECF244321}">
                <p14:modId xmlns:p14="http://schemas.microsoft.com/office/powerpoint/2010/main" val="1992596757"/>
              </p:ext>
            </p:extLst>
          </p:nvPr>
        </p:nvGraphicFramePr>
        <p:xfrm>
          <a:off x="3650322" y="635719"/>
          <a:ext cx="1981200" cy="569913"/>
        </p:xfrm>
        <a:graphic>
          <a:graphicData uri="http://schemas.openxmlformats.org/presentationml/2006/ole">
            <mc:AlternateContent xmlns:mc="http://schemas.openxmlformats.org/markup-compatibility/2006">
              <mc:Choice xmlns:v="urn:schemas-microsoft-com:vml" Requires="v">
                <p:oleObj spid="_x0000_s199971" name="公式" r:id="rId11" imgW="812447" imgH="228501" progId="Equation.3">
                  <p:embed/>
                </p:oleObj>
              </mc:Choice>
              <mc:Fallback>
                <p:oleObj name="公式" r:id="rId11" imgW="812447" imgH="228501" progId="Equation.3">
                  <p:embed/>
                  <p:pic>
                    <p:nvPicPr>
                      <p:cNvPr id="10446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0322" y="635719"/>
                        <a:ext cx="19812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4"/>
          <p:cNvSpPr txBox="1">
            <a:spLocks noChangeArrowheads="1"/>
          </p:cNvSpPr>
          <p:nvPr/>
        </p:nvSpPr>
        <p:spPr bwMode="auto">
          <a:xfrm>
            <a:off x="449922" y="1448519"/>
            <a:ext cx="2903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得</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s</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g</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关系：</a:t>
            </a:r>
          </a:p>
        </p:txBody>
      </p:sp>
    </p:spTree>
    <p:extLst>
      <p:ext uri="{BB962C8B-B14F-4D97-AF65-F5344CB8AC3E}">
        <p14:creationId xmlns:p14="http://schemas.microsoft.com/office/powerpoint/2010/main" val="6602097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33</a:t>
            </a:fld>
            <a:endParaRPr lang="zh-CN" altLang="en-US"/>
          </a:p>
        </p:txBody>
      </p:sp>
      <p:sp>
        <p:nvSpPr>
          <p:cNvPr id="4" name="文本框 3"/>
          <p:cNvSpPr txBox="1"/>
          <p:nvPr>
            <p:custDataLst>
              <p:tags r:id="rId2"/>
            </p:custDataLst>
          </p:nvPr>
        </p:nvSpPr>
        <p:spPr>
          <a:xfrm>
            <a:off x="692526" y="635001"/>
            <a:ext cx="8021170" cy="1437322"/>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MOS</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电容、表面势和表面电荷下面说法错误的是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398491" y="1992682"/>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反型电荷密度与表面势呈指数关系</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398491" y="2849932"/>
            <a:ext cx="71882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发生反型时的表面电荷由两种不同的负电荷构成</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398491" y="3707182"/>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从弱反型开始，耗尽区宽度达到最大值</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398491" y="4564432"/>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氧化层电容和半导体表面电容是并联关系</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684116" y="2056975"/>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684116" y="2914225"/>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684116" y="377147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684116" y="462872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279778" y="619489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8" name="文本框 27"/>
          <p:cNvSpPr txBox="1"/>
          <p:nvPr>
            <p:custDataLst>
              <p:tags r:id="rId12"/>
            </p:custDataLst>
          </p:nvPr>
        </p:nvSpPr>
        <p:spPr>
          <a:xfrm>
            <a:off x="1404878" y="5421682"/>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平带电容对应了</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MOS</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电容的最小值</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9" name="矩形 28"/>
          <p:cNvSpPr>
            <a:spLocks noChangeAspect="1"/>
          </p:cNvSpPr>
          <p:nvPr>
            <p:custDataLst>
              <p:tags r:id="rId13"/>
            </p:custDataLst>
          </p:nvPr>
        </p:nvSpPr>
        <p:spPr>
          <a:xfrm>
            <a:off x="690503" y="548597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4"/>
            </p:custDataLst>
          </p:nvPr>
        </p:nvGrpSpPr>
        <p:grpSpPr>
          <a:xfrm>
            <a:off x="0" y="0"/>
            <a:ext cx="9144000" cy="635000"/>
            <a:chOff x="0" y="0"/>
            <a:chExt cx="9144000" cy="635000"/>
          </a:xfrm>
        </p:grpSpPr>
        <p:sp>
          <p:nvSpPr>
            <p:cNvPr id="14" name="TitleBackground"/>
            <p:cNvSpPr/>
            <p:nvPr>
              <p:custDataLst>
                <p:tags r:id="rId16"/>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71284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34</a:t>
            </a:fld>
            <a:endParaRPr lang="zh-CN" altLang="en-US"/>
          </a:p>
        </p:txBody>
      </p:sp>
      <p:sp>
        <p:nvSpPr>
          <p:cNvPr id="3" name="Text Box 1029"/>
          <p:cNvSpPr txBox="1">
            <a:spLocks noChangeArrowheads="1"/>
          </p:cNvSpPr>
          <p:nvPr/>
        </p:nvSpPr>
        <p:spPr bwMode="auto">
          <a:xfrm>
            <a:off x="384759" y="1133020"/>
            <a:ext cx="8302041" cy="2677656"/>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342900" indent="-342900">
              <a:spcBef>
                <a:spcPct val="50000"/>
              </a:spcBef>
              <a:buClrTx/>
              <a:buFont typeface="Wingdings" panose="05000000000000000000" pitchFamily="2" charset="2"/>
              <a:buChar char="ü"/>
            </a:pP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MOS</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表面空间电荷层电荷</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密度和表面势关系</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四种状态下的电荷分布特点</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C~V</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关系推导</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高低频的</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C~V</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曲线</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表面势与栅压的关系，阈值电压的表达式</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63375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35</a:t>
            </a:fld>
            <a:endParaRPr lang="zh-CN" altLang="en-US"/>
          </a:p>
        </p:txBody>
      </p:sp>
      <p:sp>
        <p:nvSpPr>
          <p:cNvPr id="3" name="矩形 2"/>
          <p:cNvSpPr/>
          <p:nvPr/>
        </p:nvSpPr>
        <p:spPr>
          <a:xfrm>
            <a:off x="435212" y="309422"/>
            <a:ext cx="4604146"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2. MOS</a:t>
            </a:r>
            <a:r>
              <a:rPr kumimoji="1" lang="zh-CN" altLang="en-US" sz="2800" b="1" dirty="0" smtClean="0">
                <a:solidFill>
                  <a:srgbClr val="D96227"/>
                </a:solidFill>
                <a:latin typeface="Times New Roman" pitchFamily="18" charset="0"/>
                <a:ea typeface="宋体" pitchFamily="2" charset="-122"/>
                <a:cs typeface="Times New Roman" pitchFamily="18" charset="0"/>
              </a:rPr>
              <a:t>结构中的非理想因素</a:t>
            </a:r>
            <a:endParaRPr kumimoji="1" lang="zh-CN" altLang="en-US" sz="2800" b="1" dirty="0">
              <a:solidFill>
                <a:srgbClr val="D96227"/>
              </a:solidFill>
              <a:latin typeface="Times New Roman" pitchFamily="18" charset="0"/>
              <a:ea typeface="宋体" pitchFamily="2" charset="-122"/>
              <a:cs typeface="Times New Roman" pitchFamily="18" charset="0"/>
            </a:endParaRPr>
          </a:p>
        </p:txBody>
      </p:sp>
      <p:sp>
        <p:nvSpPr>
          <p:cNvPr id="5" name="Text Box 3"/>
          <p:cNvSpPr txBox="1">
            <a:spLocks noChangeArrowheads="1"/>
          </p:cNvSpPr>
          <p:nvPr/>
        </p:nvSpPr>
        <p:spPr bwMode="auto">
          <a:xfrm>
            <a:off x="435212" y="959809"/>
            <a:ext cx="8087686" cy="465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非</a:t>
            </a:r>
            <a:r>
              <a:rPr kumimoji="1" lang="zh-CN" altLang="en-US" sz="2400" b="1" i="0" u="none" strike="noStrike" kern="0" cap="none" spc="0" normalizeH="0" baseline="0" noProof="0" dirty="0">
                <a:ln>
                  <a:noFill/>
                </a:ln>
                <a:solidFill>
                  <a:srgbClr val="FF3300"/>
                </a:solidFill>
                <a:effectLst/>
                <a:uLnTx/>
                <a:uFillTx/>
                <a:latin typeface="Times New Roman" pitchFamily="18" charset="0"/>
                <a:ea typeface="宋体" pitchFamily="2" charset="-122"/>
              </a:rPr>
              <a:t>理想因素一：金属半导体功函数</a:t>
            </a: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不同</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sp>
        <p:nvSpPr>
          <p:cNvPr id="9" name="Text Box 1027"/>
          <p:cNvSpPr txBox="1">
            <a:spLocks noChangeArrowheads="1"/>
          </p:cNvSpPr>
          <p:nvPr/>
        </p:nvSpPr>
        <p:spPr bwMode="auto">
          <a:xfrm>
            <a:off x="308574" y="1531082"/>
            <a:ext cx="8645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10000"/>
              </a:spcBef>
              <a:spcAft>
                <a:spcPct val="0"/>
              </a:spcAft>
              <a:buFontTx/>
              <a:buNone/>
            </a:pPr>
            <a:r>
              <a:rPr kumimoji="1" lang="zh-CN" altLang="en-US" sz="2400" b="1" dirty="0" smtClean="0">
                <a:solidFill>
                  <a:prstClr val="black"/>
                </a:solidFill>
                <a:latin typeface="Times New Roman" panose="02020603050405020304" pitchFamily="18" charset="0"/>
                <a:cs typeface="Times New Roman" panose="02020603050405020304" pitchFamily="18" charset="0"/>
              </a:rPr>
              <a:t>达到</a:t>
            </a:r>
            <a:r>
              <a:rPr kumimoji="1" lang="zh-CN" altLang="en-US" sz="2400" b="1" dirty="0" smtClean="0">
                <a:solidFill>
                  <a:srgbClr val="990000"/>
                </a:solidFill>
                <a:latin typeface="Times New Roman" panose="02020603050405020304" pitchFamily="18" charset="0"/>
                <a:cs typeface="Times New Roman" panose="02020603050405020304" pitchFamily="18" charset="0"/>
              </a:rPr>
              <a:t>热平衡</a:t>
            </a:r>
            <a:r>
              <a:rPr kumimoji="1" lang="zh-CN" altLang="en-US" sz="2400" b="1" dirty="0" smtClean="0">
                <a:solidFill>
                  <a:prstClr val="black"/>
                </a:solidFill>
                <a:latin typeface="Times New Roman" panose="02020603050405020304" pitchFamily="18" charset="0"/>
                <a:cs typeface="Times New Roman" panose="02020603050405020304" pitchFamily="18" charset="0"/>
              </a:rPr>
              <a:t>，</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E</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Fm</a:t>
            </a:r>
            <a:r>
              <a:rPr kumimoji="1" lang="en-US" altLang="zh-CN" sz="2400" b="1" dirty="0" smtClean="0">
                <a:solidFill>
                  <a:srgbClr val="990000"/>
                </a:solidFill>
                <a:latin typeface="Times New Roman" panose="02020603050405020304" pitchFamily="18" charset="0"/>
                <a:cs typeface="Times New Roman" panose="02020603050405020304" pitchFamily="18" charset="0"/>
              </a:rPr>
              <a:t>= </a:t>
            </a:r>
            <a:r>
              <a:rPr kumimoji="1" lang="en-US" altLang="zh-CN" sz="2400" b="1" i="1" dirty="0" smtClean="0">
                <a:solidFill>
                  <a:srgbClr val="990000"/>
                </a:solidFill>
                <a:latin typeface="Times New Roman" panose="02020603050405020304" pitchFamily="18" charset="0"/>
                <a:cs typeface="Times New Roman" panose="02020603050405020304" pitchFamily="18" charset="0"/>
              </a:rPr>
              <a:t>E</a:t>
            </a:r>
            <a:r>
              <a:rPr kumimoji="1" lang="en-US" altLang="zh-CN" sz="2400" b="1" baseline="-25000" dirty="0" smtClean="0">
                <a:solidFill>
                  <a:srgbClr val="990000"/>
                </a:solidFill>
                <a:latin typeface="Times New Roman" panose="02020603050405020304" pitchFamily="18" charset="0"/>
                <a:cs typeface="Times New Roman" panose="02020603050405020304" pitchFamily="18" charset="0"/>
              </a:rPr>
              <a:t>F</a:t>
            </a:r>
            <a:r>
              <a:rPr kumimoji="1" lang="en-US" altLang="zh-CN" sz="2400" b="1" dirty="0" smtClean="0">
                <a:solidFill>
                  <a:srgbClr val="0000CC"/>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。金属－半导体之间存在</a:t>
            </a:r>
            <a:r>
              <a:rPr kumimoji="1" lang="zh-CN" altLang="en-US" sz="2400" b="1" dirty="0" smtClean="0">
                <a:solidFill>
                  <a:srgbClr val="990000"/>
                </a:solidFill>
                <a:latin typeface="Times New Roman" panose="02020603050405020304" pitchFamily="18" charset="0"/>
                <a:cs typeface="Times New Roman" panose="02020603050405020304" pitchFamily="18" charset="0"/>
              </a:rPr>
              <a:t>接触电势差</a:t>
            </a:r>
            <a:r>
              <a:rPr kumimoji="1" lang="en-US" altLang="zh-CN" sz="2400" b="1" i="1" dirty="0" err="1" smtClean="0">
                <a:solidFill>
                  <a:srgbClr val="990000"/>
                </a:solidFill>
                <a:latin typeface="Times New Roman" panose="02020603050405020304" pitchFamily="18" charset="0"/>
                <a:cs typeface="Times New Roman" panose="02020603050405020304" pitchFamily="18" charset="0"/>
              </a:rPr>
              <a:t>V</a:t>
            </a:r>
            <a:r>
              <a:rPr kumimoji="1" lang="en-US" altLang="zh-CN" sz="2400" b="1" baseline="-25000" dirty="0" err="1" smtClean="0">
                <a:solidFill>
                  <a:srgbClr val="990000"/>
                </a:solidFill>
                <a:latin typeface="Times New Roman" panose="02020603050405020304" pitchFamily="18" charset="0"/>
                <a:cs typeface="Times New Roman" panose="02020603050405020304" pitchFamily="18" charset="0"/>
              </a:rPr>
              <a:t>ms</a:t>
            </a:r>
            <a:endParaRPr kumimoji="1" lang="en-US" altLang="zh-CN" sz="2400" b="1" baseline="-25000" dirty="0" smtClean="0">
              <a:solidFill>
                <a:srgbClr val="990000"/>
              </a:solidFill>
              <a:latin typeface="Times New Roman" panose="02020603050405020304" pitchFamily="18" charset="0"/>
              <a:cs typeface="Times New Roman" panose="02020603050405020304" pitchFamily="18" charset="0"/>
            </a:endParaRPr>
          </a:p>
        </p:txBody>
      </p:sp>
      <p:sp>
        <p:nvSpPr>
          <p:cNvPr id="11" name="Text Box 1040"/>
          <p:cNvSpPr txBox="1">
            <a:spLocks noChangeArrowheads="1"/>
          </p:cNvSpPr>
          <p:nvPr/>
        </p:nvSpPr>
        <p:spPr bwMode="auto">
          <a:xfrm>
            <a:off x="5858534" y="5188370"/>
            <a:ext cx="280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热平衡</a:t>
            </a:r>
          </a:p>
        </p:txBody>
      </p:sp>
      <p:graphicFrame>
        <p:nvGraphicFramePr>
          <p:cNvPr id="12" name="Object 3"/>
          <p:cNvGraphicFramePr>
            <a:graphicFrameLocks noChangeAspect="1"/>
          </p:cNvGraphicFramePr>
          <p:nvPr>
            <p:extLst>
              <p:ext uri="{D42A27DB-BD31-4B8C-83A1-F6EECF244321}">
                <p14:modId xmlns:p14="http://schemas.microsoft.com/office/powerpoint/2010/main" val="575766400"/>
              </p:ext>
            </p:extLst>
          </p:nvPr>
        </p:nvGraphicFramePr>
        <p:xfrm>
          <a:off x="5296559" y="3002382"/>
          <a:ext cx="2674938" cy="1938338"/>
        </p:xfrm>
        <a:graphic>
          <a:graphicData uri="http://schemas.openxmlformats.org/presentationml/2006/ole">
            <mc:AlternateContent xmlns:mc="http://schemas.openxmlformats.org/markup-compatibility/2006">
              <mc:Choice xmlns:v="urn:schemas-microsoft-com:vml" Requires="v">
                <p:oleObj spid="_x0000_s202870" name="BMP 图象" r:id="rId3" imgW="3428571" imgH="2486372" progId="PBrush">
                  <p:embed/>
                </p:oleObj>
              </mc:Choice>
              <mc:Fallback>
                <p:oleObj name="BMP 图象" r:id="rId3" imgW="3428571" imgH="2486372" progId="PBrush">
                  <p:embed/>
                  <p:pic>
                    <p:nvPicPr>
                      <p:cNvPr id="5018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6559" y="3002382"/>
                        <a:ext cx="267493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val="369112066"/>
              </p:ext>
            </p:extLst>
          </p:nvPr>
        </p:nvGraphicFramePr>
        <p:xfrm>
          <a:off x="1096034" y="3081757"/>
          <a:ext cx="2533650" cy="2046288"/>
        </p:xfrm>
        <a:graphic>
          <a:graphicData uri="http://schemas.openxmlformats.org/presentationml/2006/ole">
            <mc:AlternateContent xmlns:mc="http://schemas.openxmlformats.org/markup-compatibility/2006">
              <mc:Choice xmlns:v="urn:schemas-microsoft-com:vml" Requires="v">
                <p:oleObj spid="_x0000_s202871" name="位图图像" r:id="rId5" imgW="3600000" imgH="3067478" progId="PBrush">
                  <p:embed/>
                </p:oleObj>
              </mc:Choice>
              <mc:Fallback>
                <p:oleObj name="位图图像" r:id="rId5" imgW="3600000" imgH="3067478" progId="PBrush">
                  <p:embed/>
                  <p:pic>
                    <p:nvPicPr>
                      <p:cNvPr id="5018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6034" y="3081757"/>
                        <a:ext cx="253365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Box 1043"/>
          <p:cNvSpPr txBox="1">
            <a:spLocks noChangeArrowheads="1"/>
          </p:cNvSpPr>
          <p:nvPr/>
        </p:nvSpPr>
        <p:spPr bwMode="auto">
          <a:xfrm>
            <a:off x="1600859" y="5277270"/>
            <a:ext cx="152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接触前</a:t>
            </a:r>
          </a:p>
        </p:txBody>
      </p:sp>
      <p:pic>
        <p:nvPicPr>
          <p:cNvPr id="15" name="图片 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58973" y="2057819"/>
            <a:ext cx="313055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027"/>
          <p:cNvSpPr txBox="1">
            <a:spLocks noChangeArrowheads="1"/>
          </p:cNvSpPr>
          <p:nvPr/>
        </p:nvSpPr>
        <p:spPr bwMode="auto">
          <a:xfrm>
            <a:off x="308574" y="5967172"/>
            <a:ext cx="86456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10000"/>
              </a:spcBef>
              <a:spcAft>
                <a:spcPct val="0"/>
              </a:spcAft>
              <a:buFontTx/>
              <a:buNone/>
            </a:pPr>
            <a:r>
              <a:rPr kumimoji="1" lang="zh-CN" altLang="en-US" sz="2400" b="1" dirty="0" smtClean="0">
                <a:solidFill>
                  <a:srgbClr val="FF0000"/>
                </a:solidFill>
                <a:latin typeface="Times New Roman" panose="02020603050405020304" pitchFamily="18" charset="0"/>
                <a:cs typeface="Times New Roman" panose="02020603050405020304" pitchFamily="18" charset="0"/>
              </a:rPr>
              <a:t>调金属功函数已成为当前</a:t>
            </a:r>
            <a:r>
              <a:rPr kumimoji="1" lang="en-US" altLang="zh-CN" sz="2400" b="1" dirty="0" smtClean="0">
                <a:solidFill>
                  <a:srgbClr val="FF0000"/>
                </a:solidFill>
                <a:latin typeface="Times New Roman" panose="02020603050405020304" pitchFamily="18" charset="0"/>
                <a:cs typeface="Times New Roman" panose="02020603050405020304" pitchFamily="18" charset="0"/>
              </a:rPr>
              <a:t>CMOS</a:t>
            </a:r>
            <a:r>
              <a:rPr kumimoji="1" lang="zh-CN" altLang="en-US" sz="2400" b="1" dirty="0" smtClean="0">
                <a:solidFill>
                  <a:srgbClr val="FF0000"/>
                </a:solidFill>
                <a:latin typeface="Times New Roman" panose="02020603050405020304" pitchFamily="18" charset="0"/>
                <a:cs typeface="Times New Roman" panose="02020603050405020304" pitchFamily="18" charset="0"/>
              </a:rPr>
              <a:t>工艺调器件阈值的关键手段</a:t>
            </a:r>
            <a:endParaRPr kumimoji="1" lang="en-US" altLang="zh-CN" sz="2400" b="1" baseline="-25000" dirty="0" smtClean="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28308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36</a:t>
            </a:fld>
            <a:endParaRPr lang="zh-CN" altLang="en-US"/>
          </a:p>
        </p:txBody>
      </p:sp>
      <p:sp>
        <p:nvSpPr>
          <p:cNvPr id="3" name="Text Box 4"/>
          <p:cNvSpPr txBox="1">
            <a:spLocks noChangeArrowheads="1"/>
          </p:cNvSpPr>
          <p:nvPr/>
        </p:nvSpPr>
        <p:spPr bwMode="auto">
          <a:xfrm>
            <a:off x="4191711" y="902912"/>
            <a:ext cx="4681537" cy="315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marL="444500" indent="-444500"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444500" marR="0" lvl="0" indent="-444500" defTabSz="914400" eaLnBrk="0" fontAlgn="base" latinLnBrk="0" hangingPunct="0">
              <a:lnSpc>
                <a:spcPct val="9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氧化层和界面电荷包括：</a:t>
            </a:r>
          </a:p>
          <a:p>
            <a:pPr marL="444500" marR="0" lvl="0" indent="-444500" defTabSz="914400" eaLnBrk="0" fontAlgn="base" latinLnBrk="0" hangingPunct="0">
              <a:lnSpc>
                <a:spcPct val="100000"/>
              </a:lnSpc>
              <a:spcBef>
                <a:spcPts val="100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）氧化层固定电荷</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f</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a:p>
            <a:pPr marL="444500" marR="0" lvl="0" indent="-444500" defTabSz="914400" eaLnBrk="0" fontAlgn="base" latinLnBrk="0" hangingPunct="0">
              <a:lnSpc>
                <a:spcPct val="100000"/>
              </a:lnSpc>
              <a:spcBef>
                <a:spcPts val="100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）氧化层中的可动离子电荷</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m</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a:p>
            <a:pPr marL="444500" marR="0" lvl="0" indent="-444500" defTabSz="914400" eaLnBrk="0" fontAlgn="base" latinLnBrk="0" hangingPunct="0">
              <a:lnSpc>
                <a:spcPct val="100000"/>
              </a:lnSpc>
              <a:spcBef>
                <a:spcPts val="100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3</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）氧化层中的陷阱电荷（电子或空穴）</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ot</a:t>
            </a:r>
            <a:endParaRPr kumimoji="1" lang="zh-CN" altLang="en-US" sz="2400" b="1" i="1" u="none" strike="noStrike" kern="0" cap="none" spc="0" normalizeH="0" baseline="-25000" noProof="0" dirty="0">
              <a:ln>
                <a:noFill/>
              </a:ln>
              <a:solidFill>
                <a:srgbClr val="000000"/>
              </a:solidFill>
              <a:effectLst/>
              <a:uLnTx/>
              <a:uFillTx/>
              <a:latin typeface="Times New Roman" pitchFamily="18" charset="0"/>
              <a:ea typeface="宋体" pitchFamily="2" charset="-122"/>
            </a:endParaRPr>
          </a:p>
          <a:p>
            <a:pPr marL="444500" marR="0" lvl="0" indent="-444500" defTabSz="914400" eaLnBrk="0" fontAlgn="base" latinLnBrk="0" hangingPunct="0">
              <a:lnSpc>
                <a:spcPct val="100000"/>
              </a:lnSpc>
              <a:spcBef>
                <a:spcPts val="100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4</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zh-CN" altLang="en-US" sz="2400" b="1" i="0" u="none" strike="noStrike" kern="0" cap="none" spc="0" normalizeH="0" baseline="0" noProof="0" dirty="0">
                <a:ln>
                  <a:noFill/>
                </a:ln>
                <a:effectLst/>
                <a:uLnTx/>
                <a:uFillTx/>
                <a:latin typeface="Times New Roman" pitchFamily="18" charset="0"/>
                <a:ea typeface="宋体" pitchFamily="2" charset="-122"/>
              </a:rPr>
              <a:t>氧化层</a:t>
            </a:r>
            <a:r>
              <a:rPr kumimoji="1" lang="en-US" altLang="zh-CN" sz="2400" b="1" i="0" u="none" strike="noStrike" kern="0" cap="none" spc="0" normalizeH="0" baseline="0" noProof="0" dirty="0">
                <a:ln>
                  <a:noFill/>
                </a:ln>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effectLst/>
                <a:uLnTx/>
                <a:uFillTx/>
                <a:latin typeface="Times New Roman" pitchFamily="18" charset="0"/>
                <a:ea typeface="宋体" pitchFamily="2" charset="-122"/>
              </a:rPr>
              <a:t>界面的界面态和相关界面陷阱电荷</a:t>
            </a:r>
            <a:r>
              <a:rPr kumimoji="1" lang="en-US" altLang="zh-CN" sz="2400" b="1" i="1" u="none" strike="noStrike" kern="0" cap="none" spc="0" normalizeH="0" baseline="0" noProof="0" dirty="0" err="1">
                <a:ln>
                  <a:noFill/>
                </a:ln>
                <a:effectLst/>
                <a:uLnTx/>
                <a:uFillTx/>
                <a:latin typeface="Times New Roman" pitchFamily="18" charset="0"/>
                <a:ea typeface="宋体" pitchFamily="2" charset="-122"/>
              </a:rPr>
              <a:t>Q</a:t>
            </a:r>
            <a:r>
              <a:rPr kumimoji="1" lang="en-US" altLang="zh-CN" sz="2400" b="1" i="1" u="none" strike="noStrike" kern="0" cap="none" spc="0" normalizeH="0" baseline="-25000" noProof="0" dirty="0" err="1">
                <a:ln>
                  <a:noFill/>
                </a:ln>
                <a:effectLst/>
                <a:uLnTx/>
                <a:uFillTx/>
                <a:latin typeface="Times New Roman" pitchFamily="18" charset="0"/>
                <a:ea typeface="宋体" pitchFamily="2" charset="-122"/>
              </a:rPr>
              <a:t>it</a:t>
            </a:r>
            <a:endParaRPr kumimoji="1" lang="en-US" altLang="zh-CN" sz="2400" b="1" i="0" u="none" strike="noStrike" kern="0" cap="none" spc="0" normalizeH="0" baseline="0" noProof="0" dirty="0">
              <a:ln>
                <a:noFill/>
              </a:ln>
              <a:effectLst/>
              <a:uLnTx/>
              <a:uFillTx/>
              <a:latin typeface="Times New Roman" pitchFamily="18" charset="0"/>
              <a:ea typeface="宋体" pitchFamily="2" charset="-122"/>
            </a:endParaRP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l="6122" t="16386" r="8163"/>
          <a:stretch>
            <a:fillRect/>
          </a:stretch>
        </p:blipFill>
        <p:spPr bwMode="auto">
          <a:xfrm>
            <a:off x="375361" y="831474"/>
            <a:ext cx="3671887"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7"/>
          <p:cNvSpPr txBox="1">
            <a:spLocks noChangeArrowheads="1"/>
          </p:cNvSpPr>
          <p:nvPr/>
        </p:nvSpPr>
        <p:spPr bwMode="auto">
          <a:xfrm>
            <a:off x="315491" y="4240808"/>
            <a:ext cx="8569325"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非理想因素的存在使得：</a:t>
            </a:r>
            <a:r>
              <a:rPr kumimoji="1" lang="en-US" altLang="zh-CN"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1</a:t>
            </a: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）热平衡条件，产生自建势；</a:t>
            </a:r>
            <a:r>
              <a:rPr kumimoji="1" lang="en-US" altLang="zh-CN"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2</a:t>
            </a: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）需要外加电压（平带电压），达到平带条件；</a:t>
            </a:r>
            <a:r>
              <a:rPr kumimoji="1" lang="en-US" altLang="zh-CN"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3</a:t>
            </a: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）相对于理想情形，栅方程的表达式发生改变；</a:t>
            </a:r>
            <a:r>
              <a:rPr kumimoji="1" lang="en-US" altLang="zh-CN"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4</a:t>
            </a: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）以平带为基准，</a:t>
            </a:r>
            <a:r>
              <a:rPr kumimoji="1" lang="en-US" altLang="zh-CN"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MOS</a:t>
            </a:r>
            <a:r>
              <a:rPr kumimoji="1" lang="zh-CN" altLang="en-US" sz="2000" b="1" i="0" u="none" strike="noStrike" kern="0" cap="none" spc="0" normalizeH="0" baseline="0" noProof="0" dirty="0">
                <a:ln>
                  <a:noFill/>
                </a:ln>
                <a:solidFill>
                  <a:srgbClr val="000099"/>
                </a:solidFill>
                <a:effectLst/>
                <a:uLnTx/>
                <a:uFillTx/>
                <a:latin typeface="Times New Roman" pitchFamily="18" charset="0"/>
                <a:ea typeface="宋体" pitchFamily="2" charset="-122"/>
              </a:rPr>
              <a:t>结构呈现积累、耗尽、反型（包括弱发型和强反型）</a:t>
            </a:r>
            <a:r>
              <a:rPr kumimoji="1" lang="en-US" altLang="zh-CN" sz="2000" b="1" i="0" u="none" strike="noStrike" kern="0" cap="none" spc="0" normalizeH="0" baseline="0" noProof="0" dirty="0" smtClean="0">
                <a:ln>
                  <a:noFill/>
                </a:ln>
                <a:solidFill>
                  <a:srgbClr val="000099"/>
                </a:solidFill>
                <a:effectLst/>
                <a:uLnTx/>
                <a:uFillTx/>
                <a:latin typeface="Times New Roman" pitchFamily="18" charset="0"/>
                <a:ea typeface="宋体" pitchFamily="2" charset="-122"/>
              </a:rPr>
              <a:t>;</a:t>
            </a:r>
          </a:p>
          <a:p>
            <a:pPr lvl="0" defTabSz="914400" eaLnBrk="1" fontAlgn="base" hangingPunct="1">
              <a:spcBef>
                <a:spcPct val="50000"/>
              </a:spcBef>
              <a:spcAft>
                <a:spcPct val="0"/>
              </a:spcAft>
            </a:pPr>
            <a:r>
              <a:rPr lang="zh-CN" altLang="en-US" sz="2000" b="1" kern="0" dirty="0">
                <a:solidFill>
                  <a:srgbClr val="000099"/>
                </a:solidFill>
              </a:rPr>
              <a:t>此外，体和界面陷阱电荷作为散射中心，会影响</a:t>
            </a:r>
            <a:r>
              <a:rPr lang="en-US" altLang="zh-CN" sz="2000" b="1" kern="0" dirty="0">
                <a:solidFill>
                  <a:srgbClr val="000099"/>
                </a:solidFill>
              </a:rPr>
              <a:t>Si</a:t>
            </a:r>
            <a:r>
              <a:rPr lang="zh-CN" altLang="en-US" sz="2000" b="1" kern="0" dirty="0">
                <a:solidFill>
                  <a:srgbClr val="000099"/>
                </a:solidFill>
              </a:rPr>
              <a:t>表面载流子的输运（引起沟道载流子迁移率下降）；同时作为复合中心，会影响氧化层电流的输运特征，如带－带隧穿等</a:t>
            </a:r>
            <a:r>
              <a:rPr lang="zh-CN" altLang="en-US" sz="2000" b="1" kern="0" dirty="0" smtClean="0">
                <a:solidFill>
                  <a:srgbClr val="000099"/>
                </a:solidFill>
              </a:rPr>
              <a:t>。</a:t>
            </a:r>
            <a:endParaRPr lang="zh-CN" altLang="en-US" sz="2000" b="1" kern="0" dirty="0">
              <a:solidFill>
                <a:srgbClr val="000099"/>
              </a:solidFill>
            </a:endParaRPr>
          </a:p>
        </p:txBody>
      </p:sp>
      <p:sp>
        <p:nvSpPr>
          <p:cNvPr id="8" name="矩形 7"/>
          <p:cNvSpPr/>
          <p:nvPr/>
        </p:nvSpPr>
        <p:spPr>
          <a:xfrm>
            <a:off x="512544" y="268376"/>
            <a:ext cx="7358333" cy="465448"/>
          </a:xfrm>
          <a:prstGeom prst="rect">
            <a:avLst/>
          </a:prstGeom>
        </p:spPr>
        <p:txBody>
          <a:bodyPr wrap="square">
            <a:spAutoFit/>
          </a:bodyPr>
          <a:lstStyle/>
          <a:p>
            <a:pPr lvl="0" defTabSz="914400" fontAlgn="base">
              <a:lnSpc>
                <a:spcPct val="110000"/>
              </a:lnSpc>
              <a:spcBef>
                <a:spcPct val="0"/>
              </a:spcBef>
              <a:spcAft>
                <a:spcPct val="0"/>
              </a:spcAft>
            </a:pPr>
            <a:r>
              <a:rPr kumimoji="1" lang="zh-CN" altLang="en-US" sz="2400" b="1" kern="0" dirty="0">
                <a:solidFill>
                  <a:srgbClr val="FF3300"/>
                </a:solidFill>
                <a:latin typeface="Times New Roman" pitchFamily="18" charset="0"/>
                <a:ea typeface="宋体" pitchFamily="2" charset="-122"/>
              </a:rPr>
              <a:t>非理想因素二：在氧化层和氧化层</a:t>
            </a:r>
            <a:r>
              <a:rPr kumimoji="1" lang="en-US" altLang="zh-CN" sz="2400" b="1" kern="0" dirty="0">
                <a:solidFill>
                  <a:srgbClr val="FF3300"/>
                </a:solidFill>
                <a:latin typeface="Times New Roman" pitchFamily="18" charset="0"/>
                <a:ea typeface="宋体" pitchFamily="2" charset="-122"/>
              </a:rPr>
              <a:t>/Si</a:t>
            </a:r>
            <a:r>
              <a:rPr kumimoji="1" lang="zh-CN" altLang="en-US" sz="2400" b="1" kern="0" dirty="0">
                <a:solidFill>
                  <a:srgbClr val="FF3300"/>
                </a:solidFill>
                <a:latin typeface="Times New Roman" pitchFamily="18" charset="0"/>
                <a:ea typeface="宋体" pitchFamily="2" charset="-122"/>
              </a:rPr>
              <a:t>界面的各种</a:t>
            </a:r>
            <a:r>
              <a:rPr kumimoji="1" lang="zh-CN" altLang="en-US" sz="2400" b="1" kern="0" dirty="0" smtClean="0">
                <a:solidFill>
                  <a:srgbClr val="FF3300"/>
                </a:solidFill>
                <a:latin typeface="Times New Roman" pitchFamily="18" charset="0"/>
                <a:ea typeface="宋体" pitchFamily="2" charset="-122"/>
              </a:rPr>
              <a:t>电荷</a:t>
            </a:r>
            <a:endParaRPr kumimoji="1" lang="zh-CN" altLang="en-US" sz="2400" b="1" kern="0" dirty="0">
              <a:solidFill>
                <a:srgbClr val="FF3300"/>
              </a:solidFill>
              <a:latin typeface="Times New Roman" pitchFamily="18" charset="0"/>
              <a:ea typeface="宋体" pitchFamily="2" charset="-122"/>
            </a:endParaRPr>
          </a:p>
        </p:txBody>
      </p:sp>
    </p:spTree>
    <p:extLst>
      <p:ext uri="{BB962C8B-B14F-4D97-AF65-F5344CB8AC3E}">
        <p14:creationId xmlns:p14="http://schemas.microsoft.com/office/powerpoint/2010/main" val="42106036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37</a:t>
            </a:fld>
            <a:endParaRPr lang="zh-CN" altLang="en-US"/>
          </a:p>
        </p:txBody>
      </p:sp>
      <p:sp>
        <p:nvSpPr>
          <p:cNvPr id="3" name="Text Box 55"/>
          <p:cNvSpPr txBox="1">
            <a:spLocks noChangeArrowheads="1"/>
          </p:cNvSpPr>
          <p:nvPr/>
        </p:nvSpPr>
        <p:spPr bwMode="auto">
          <a:xfrm>
            <a:off x="289585" y="326916"/>
            <a:ext cx="5455608" cy="6314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1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假设氧化层厚度为 </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t</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ox</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，氧化层栅电极界面为坐标原点，即</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x=</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。如果在氧化层中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x</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处，存在固定电荷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Q</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。该电荷的作用将在栅电极和</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中感应电荷，</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中形成表面势。</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a:p>
            <a:pPr marL="0" marR="0" lvl="0" indent="0" defTabSz="914400" eaLnBrk="1" fontAlgn="base" latinLnBrk="0" hangingPunct="1">
              <a:lnSpc>
                <a:spcPct val="110000"/>
              </a:lnSpc>
              <a:spcBef>
                <a:spcPts val="5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设想在栅电极施加栅电压</a:t>
            </a:r>
            <a:r>
              <a:rPr kumimoji="1" lang="zh-CN" altLang="en-US" sz="2400" b="1" i="1"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g</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时，使得</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恢复平带状态，则在</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中净电荷和电场为</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，在氧化层的 </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x~t</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ox</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区域和</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中没有净电荷和电场存在。</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a:p>
            <a:pPr marL="0" marR="0" lvl="0" indent="0" defTabSz="914400" eaLnBrk="1" fontAlgn="base" latinLnBrk="0" hangingPunct="1">
              <a:lnSpc>
                <a:spcPct val="110000"/>
              </a:lnSpc>
              <a:spcBef>
                <a:spcPts val="5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根据</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Gauss</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定律，外加栅压</a:t>
            </a:r>
            <a:r>
              <a:rPr kumimoji="1" lang="zh-CN" altLang="en-US" sz="2400" b="1" i="1"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g</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后，将在栅电极产生感应电荷 </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Q</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，形成电场 </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xQ</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l-GR"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ε</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ox</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，在氧化层的</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 x</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区域产生的电势降为</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xQ</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l-GR"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ε</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ox</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；该电压正好等于恢复平带所加的栅压，即平带电压改变量满足：</a:t>
            </a:r>
            <a:r>
              <a:rPr kumimoji="1" lang="zh-CN" altLang="en-US" sz="2400" b="1" i="1"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 </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V</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g</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 </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xQ</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el-GR"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ε</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ox</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 ；与</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的表面势无关。</a:t>
            </a:r>
          </a:p>
        </p:txBody>
      </p:sp>
      <p:graphicFrame>
        <p:nvGraphicFramePr>
          <p:cNvPr id="4" name="Object 2"/>
          <p:cNvGraphicFramePr>
            <a:graphicFrameLocks noChangeAspect="1"/>
          </p:cNvGraphicFramePr>
          <p:nvPr>
            <p:extLst>
              <p:ext uri="{D42A27DB-BD31-4B8C-83A1-F6EECF244321}">
                <p14:modId xmlns:p14="http://schemas.microsoft.com/office/powerpoint/2010/main" val="2443695258"/>
              </p:ext>
            </p:extLst>
          </p:nvPr>
        </p:nvGraphicFramePr>
        <p:xfrm>
          <a:off x="5822830" y="505752"/>
          <a:ext cx="3028681" cy="2599241"/>
        </p:xfrm>
        <a:graphic>
          <a:graphicData uri="http://schemas.openxmlformats.org/presentationml/2006/ole">
            <mc:AlternateContent xmlns:mc="http://schemas.openxmlformats.org/markup-compatibility/2006">
              <mc:Choice xmlns:v="urn:schemas-microsoft-com:vml" Requires="v">
                <p:oleObj spid="_x0000_s203888" name="BMP 图象" r:id="rId3" imgW="4439270" imgH="3809524" progId="PBrush">
                  <p:embed/>
                </p:oleObj>
              </mc:Choice>
              <mc:Fallback>
                <p:oleObj name="BMP 图象" r:id="rId3" imgW="4439270" imgH="3809524" progId="PBrush">
                  <p:embed/>
                  <p:pic>
                    <p:nvPicPr>
                      <p:cNvPr id="5325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830" y="505752"/>
                        <a:ext cx="3028681" cy="2599241"/>
                      </a:xfrm>
                      <a:prstGeom prst="rect">
                        <a:avLst/>
                      </a:prstGeom>
                      <a:noFill/>
                      <a:ln>
                        <a:noFill/>
                      </a:ln>
                      <a:effec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4238061646"/>
              </p:ext>
            </p:extLst>
          </p:nvPr>
        </p:nvGraphicFramePr>
        <p:xfrm>
          <a:off x="5854241" y="3481836"/>
          <a:ext cx="3059872" cy="2651545"/>
        </p:xfrm>
        <a:graphic>
          <a:graphicData uri="http://schemas.openxmlformats.org/presentationml/2006/ole">
            <mc:AlternateContent xmlns:mc="http://schemas.openxmlformats.org/markup-compatibility/2006">
              <mc:Choice xmlns:v="urn:schemas-microsoft-com:vml" Requires="v">
                <p:oleObj spid="_x0000_s203889" name="BMP 图象" r:id="rId5" imgW="4428571" imgH="3839111" progId="PBrush">
                  <p:embed/>
                </p:oleObj>
              </mc:Choice>
              <mc:Fallback>
                <p:oleObj name="BMP 图象" r:id="rId5" imgW="4428571" imgH="3839111" progId="PBrush">
                  <p:embed/>
                  <p:pic>
                    <p:nvPicPr>
                      <p:cNvPr id="5325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4241" y="3481836"/>
                        <a:ext cx="3059872" cy="265154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478833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6DE0A5B-1E35-4081-8D72-3B0687A5C65D}"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Rectangle 4"/>
          <p:cNvSpPr>
            <a:spLocks noChangeArrowheads="1"/>
          </p:cNvSpPr>
          <p:nvPr/>
        </p:nvSpPr>
        <p:spPr bwMode="auto">
          <a:xfrm>
            <a:off x="453486" y="2399791"/>
            <a:ext cx="77724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914400" eaLnBrk="0" fontAlgn="base" hangingPunct="0">
              <a:lnSpc>
                <a:spcPct val="120000"/>
              </a:lnSpc>
              <a:spcBef>
                <a:spcPct val="0"/>
              </a:spcBef>
              <a:spcAft>
                <a:spcPct val="0"/>
              </a:spcAft>
            </a:pPr>
            <a:r>
              <a:rPr kumimoji="1" lang="zh-CN" altLang="en-US" sz="2400" b="1" dirty="0">
                <a:solidFill>
                  <a:srgbClr val="000000"/>
                </a:solidFill>
                <a:latin typeface="Times New Roman" pitchFamily="18" charset="0"/>
                <a:ea typeface="宋体" pitchFamily="2" charset="-122"/>
              </a:rPr>
              <a:t>对于在二氧化硅层内存在的氧化层固定电荷，电荷密度为</a:t>
            </a:r>
            <a:r>
              <a:rPr kumimoji="1" lang="zh-CN" altLang="en-US" sz="2400" b="1" i="1" dirty="0">
                <a:solidFill>
                  <a:srgbClr val="000000"/>
                </a:solidFill>
                <a:latin typeface="Times New Roman" pitchFamily="18" charset="0"/>
                <a:ea typeface="宋体" pitchFamily="2" charset="-122"/>
                <a:sym typeface="Symbol" pitchFamily="18" charset="2"/>
              </a:rPr>
              <a:t></a:t>
            </a:r>
            <a:r>
              <a:rPr kumimoji="1" lang="en-US" altLang="zh-CN" sz="2400" b="1" i="1" dirty="0">
                <a:solidFill>
                  <a:srgbClr val="000000"/>
                </a:solidFill>
                <a:latin typeface="Times New Roman" pitchFamily="18" charset="0"/>
                <a:ea typeface="宋体" pitchFamily="2" charset="-122"/>
                <a:sym typeface="Symbol" pitchFamily="18" charset="2"/>
              </a:rPr>
              <a:t>(x)</a:t>
            </a:r>
            <a:r>
              <a:rPr kumimoji="1" lang="zh-CN" altLang="en-US" sz="2400" b="1" dirty="0">
                <a:solidFill>
                  <a:srgbClr val="000000"/>
                </a:solidFill>
                <a:latin typeface="Times New Roman" pitchFamily="18" charset="0"/>
                <a:ea typeface="宋体" pitchFamily="2" charset="-122"/>
                <a:sym typeface="Symbol" pitchFamily="18" charset="2"/>
              </a:rPr>
              <a:t>，</a:t>
            </a:r>
            <a:r>
              <a:rPr kumimoji="1" lang="zh-CN" altLang="en-US" sz="2400" b="1" dirty="0">
                <a:solidFill>
                  <a:srgbClr val="000000"/>
                </a:solidFill>
                <a:latin typeface="Times New Roman" pitchFamily="18" charset="0"/>
                <a:ea typeface="宋体" pitchFamily="2" charset="-122"/>
              </a:rPr>
              <a:t>其对平带电压的影响表示为： </a:t>
            </a:r>
          </a:p>
        </p:txBody>
      </p:sp>
      <p:graphicFrame>
        <p:nvGraphicFramePr>
          <p:cNvPr id="4" name="Object 11"/>
          <p:cNvGraphicFramePr>
            <a:graphicFrameLocks noChangeAspect="1"/>
          </p:cNvGraphicFramePr>
          <p:nvPr>
            <p:extLst>
              <p:ext uri="{D42A27DB-BD31-4B8C-83A1-F6EECF244321}">
                <p14:modId xmlns:p14="http://schemas.microsoft.com/office/powerpoint/2010/main" val="3369089096"/>
              </p:ext>
            </p:extLst>
          </p:nvPr>
        </p:nvGraphicFramePr>
        <p:xfrm>
          <a:off x="1390111" y="3334828"/>
          <a:ext cx="6578600" cy="939800"/>
        </p:xfrm>
        <a:graphic>
          <a:graphicData uri="http://schemas.openxmlformats.org/presentationml/2006/ole">
            <mc:AlternateContent xmlns:mc="http://schemas.openxmlformats.org/markup-compatibility/2006">
              <mc:Choice xmlns:v="urn:schemas-microsoft-com:vml" Requires="v">
                <p:oleObj spid="_x0000_s204967" name="Equation" r:id="rId3" imgW="3289300" imgH="469900" progId="Equation.DSMT4">
                  <p:embed/>
                </p:oleObj>
              </mc:Choice>
              <mc:Fallback>
                <p:oleObj name="Equation" r:id="rId3" imgW="3289300" imgH="469900" progId="Equation.DSMT4">
                  <p:embed/>
                  <p:pic>
                    <p:nvPicPr>
                      <p:cNvPr id="55299"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0111" y="3334828"/>
                        <a:ext cx="65786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16"/>
          <p:cNvSpPr txBox="1">
            <a:spLocks noChangeArrowheads="1"/>
          </p:cNvSpPr>
          <p:nvPr/>
        </p:nvSpPr>
        <p:spPr bwMode="auto">
          <a:xfrm>
            <a:off x="453486" y="4271453"/>
            <a:ext cx="76327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1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因此，氧化层固定电荷对</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能带和电容的影响可等效为</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界面集中分布的固定电荷</a:t>
            </a:r>
            <a:r>
              <a:rPr kumimoji="1" lang="en-US" altLang="zh-CN" sz="2400" b="1" i="1" u="none" strike="noStrike" kern="0" cap="none" spc="0" normalizeH="0" baseline="0" noProof="0">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a:ln>
                  <a:noFill/>
                </a:ln>
                <a:solidFill>
                  <a:srgbClr val="000000"/>
                </a:solidFill>
                <a:effectLst/>
                <a:uLnTx/>
                <a:uFillTx/>
                <a:latin typeface="Times New Roman" pitchFamily="18" charset="0"/>
                <a:ea typeface="宋体" pitchFamily="2" charset="-122"/>
              </a:rPr>
              <a:t>f </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的影响，其中等效电荷：</a:t>
            </a:r>
            <a:endParaRPr kumimoji="1" lang="zh-CN" altLang="en-US" sz="2400" b="1" i="0" u="none" strike="noStrike" kern="0" cap="none" spc="0" normalizeH="0" baseline="-25000" noProof="0">
              <a:ln>
                <a:noFill/>
              </a:ln>
              <a:solidFill>
                <a:srgbClr val="000000"/>
              </a:solidFill>
              <a:effectLst/>
              <a:uLnTx/>
              <a:uFillTx/>
              <a:latin typeface="Times New Roman" pitchFamily="18" charset="0"/>
              <a:ea typeface="宋体" pitchFamily="2" charset="-122"/>
            </a:endParaRPr>
          </a:p>
        </p:txBody>
      </p:sp>
      <p:graphicFrame>
        <p:nvGraphicFramePr>
          <p:cNvPr id="6" name="Object 17"/>
          <p:cNvGraphicFramePr>
            <a:graphicFrameLocks noChangeAspect="1"/>
          </p:cNvGraphicFramePr>
          <p:nvPr>
            <p:extLst>
              <p:ext uri="{D42A27DB-BD31-4B8C-83A1-F6EECF244321}">
                <p14:modId xmlns:p14="http://schemas.microsoft.com/office/powerpoint/2010/main" val="942937390"/>
              </p:ext>
            </p:extLst>
          </p:nvPr>
        </p:nvGraphicFramePr>
        <p:xfrm>
          <a:off x="3190336" y="5135053"/>
          <a:ext cx="2436813" cy="863600"/>
        </p:xfrm>
        <a:graphic>
          <a:graphicData uri="http://schemas.openxmlformats.org/presentationml/2006/ole">
            <mc:AlternateContent xmlns:mc="http://schemas.openxmlformats.org/markup-compatibility/2006">
              <mc:Choice xmlns:v="urn:schemas-microsoft-com:vml" Requires="v">
                <p:oleObj spid="_x0000_s204968" name="Equation" r:id="rId5" imgW="1218671" imgH="431613" progId="Equation.DSMT4">
                  <p:embed/>
                </p:oleObj>
              </mc:Choice>
              <mc:Fallback>
                <p:oleObj name="Equation" r:id="rId5" imgW="1218671" imgH="431613" progId="Equation.DSMT4">
                  <p:embed/>
                  <p:pic>
                    <p:nvPicPr>
                      <p:cNvPr id="55301"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0336" y="5135053"/>
                        <a:ext cx="24368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18"/>
          <p:cNvSpPr>
            <a:spLocks noChangeArrowheads="1"/>
          </p:cNvSpPr>
          <p:nvPr/>
        </p:nvSpPr>
        <p:spPr bwMode="auto">
          <a:xfrm>
            <a:off x="453486" y="656716"/>
            <a:ext cx="81407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lnSpc>
                <a:spcPct val="120000"/>
              </a:lnSpc>
              <a:spcBef>
                <a:spcPct val="0"/>
              </a:spcBef>
              <a:spcAft>
                <a:spcPct val="0"/>
              </a:spcAft>
            </a:pPr>
            <a:r>
              <a:rPr kumimoji="1" lang="zh-CN" altLang="en-US" sz="2400" b="1">
                <a:solidFill>
                  <a:srgbClr val="000000"/>
                </a:solidFill>
                <a:latin typeface="Times New Roman" pitchFamily="18" charset="0"/>
                <a:ea typeface="宋体" pitchFamily="2" charset="-122"/>
              </a:rPr>
              <a:t>如果电荷</a:t>
            </a:r>
            <a:r>
              <a:rPr kumimoji="1" lang="en-US" altLang="zh-CN" sz="2400" b="1" i="1">
                <a:solidFill>
                  <a:srgbClr val="000000"/>
                </a:solidFill>
                <a:latin typeface="Times New Roman" pitchFamily="18" charset="0"/>
                <a:ea typeface="宋体" pitchFamily="2" charset="-122"/>
              </a:rPr>
              <a:t>Q</a:t>
            </a:r>
            <a:r>
              <a:rPr kumimoji="1" lang="zh-CN" altLang="en-US" sz="2400" b="1">
                <a:solidFill>
                  <a:srgbClr val="000000"/>
                </a:solidFill>
                <a:latin typeface="Times New Roman" pitchFamily="18" charset="0"/>
                <a:ea typeface="宋体" pitchFamily="2" charset="-122"/>
              </a:rPr>
              <a:t>位于靠近电极界面处，则对平带电压没有影响； </a:t>
            </a:r>
            <a:endParaRPr kumimoji="1" lang="zh-CN" altLang="en-US" sz="2400" b="1">
              <a:solidFill>
                <a:srgbClr val="000000"/>
              </a:solidFill>
              <a:latin typeface="Times New Roman" pitchFamily="18" charset="0"/>
              <a:ea typeface="宋体" pitchFamily="2" charset="-122"/>
              <a:sym typeface="Symbol" pitchFamily="18" charset="2"/>
            </a:endParaRPr>
          </a:p>
          <a:p>
            <a:pPr defTabSz="914400" fontAlgn="base">
              <a:lnSpc>
                <a:spcPct val="120000"/>
              </a:lnSpc>
              <a:spcBef>
                <a:spcPct val="0"/>
              </a:spcBef>
              <a:spcAft>
                <a:spcPct val="0"/>
              </a:spcAft>
            </a:pPr>
            <a:r>
              <a:rPr kumimoji="1" lang="zh-CN" altLang="en-US" sz="2400" b="1">
                <a:solidFill>
                  <a:srgbClr val="000000"/>
                </a:solidFill>
                <a:latin typeface="Times New Roman" pitchFamily="18" charset="0"/>
                <a:ea typeface="宋体" pitchFamily="2" charset="-122"/>
              </a:rPr>
              <a:t>如果电荷</a:t>
            </a:r>
            <a:r>
              <a:rPr kumimoji="1" lang="en-US" altLang="zh-CN" sz="2400" b="1" i="1">
                <a:solidFill>
                  <a:srgbClr val="000000"/>
                </a:solidFill>
                <a:latin typeface="Times New Roman" pitchFamily="18" charset="0"/>
                <a:ea typeface="宋体" pitchFamily="2" charset="-122"/>
              </a:rPr>
              <a:t>Q</a:t>
            </a:r>
            <a:r>
              <a:rPr kumimoji="1" lang="zh-CN" altLang="en-US" sz="2400" b="1">
                <a:solidFill>
                  <a:srgbClr val="000000"/>
                </a:solidFill>
                <a:latin typeface="Times New Roman" pitchFamily="18" charset="0"/>
                <a:ea typeface="宋体" pitchFamily="2" charset="-122"/>
              </a:rPr>
              <a:t>位于靠近</a:t>
            </a:r>
            <a:r>
              <a:rPr kumimoji="1" lang="en-US" altLang="zh-CN" sz="2400" b="1">
                <a:solidFill>
                  <a:srgbClr val="000000"/>
                </a:solidFill>
                <a:latin typeface="Times New Roman" pitchFamily="18" charset="0"/>
                <a:ea typeface="宋体" pitchFamily="2" charset="-122"/>
              </a:rPr>
              <a:t>Si </a:t>
            </a:r>
            <a:r>
              <a:rPr kumimoji="1" lang="zh-CN" altLang="en-US" sz="2400" b="1">
                <a:solidFill>
                  <a:srgbClr val="000000"/>
                </a:solidFill>
                <a:latin typeface="Times New Roman" pitchFamily="18" charset="0"/>
                <a:ea typeface="宋体" pitchFamily="2" charset="-122"/>
              </a:rPr>
              <a:t>界面处，则：</a:t>
            </a:r>
          </a:p>
        </p:txBody>
      </p:sp>
      <p:graphicFrame>
        <p:nvGraphicFramePr>
          <p:cNvPr id="8" name="Object 19"/>
          <p:cNvGraphicFramePr>
            <a:graphicFrameLocks noChangeAspect="1"/>
          </p:cNvGraphicFramePr>
          <p:nvPr>
            <p:extLst>
              <p:ext uri="{D42A27DB-BD31-4B8C-83A1-F6EECF244321}">
                <p14:modId xmlns:p14="http://schemas.microsoft.com/office/powerpoint/2010/main" val="1195353592"/>
              </p:ext>
            </p:extLst>
          </p:nvPr>
        </p:nvGraphicFramePr>
        <p:xfrm>
          <a:off x="2901411" y="1547303"/>
          <a:ext cx="2743200" cy="889000"/>
        </p:xfrm>
        <a:graphic>
          <a:graphicData uri="http://schemas.openxmlformats.org/presentationml/2006/ole">
            <mc:AlternateContent xmlns:mc="http://schemas.openxmlformats.org/markup-compatibility/2006">
              <mc:Choice xmlns:v="urn:schemas-microsoft-com:vml" Requires="v">
                <p:oleObj spid="_x0000_s204969" name="Equation" r:id="rId7" imgW="1371600" imgH="444500" progId="Equation.DSMT4">
                  <p:embed/>
                </p:oleObj>
              </mc:Choice>
              <mc:Fallback>
                <p:oleObj name="Equation" r:id="rId7" imgW="1371600" imgH="444500" progId="Equation.DSMT4">
                  <p:embed/>
                  <p:pic>
                    <p:nvPicPr>
                      <p:cNvPr id="55303"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1411" y="1547303"/>
                        <a:ext cx="2743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408323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39</a:t>
            </a:fld>
            <a:endParaRPr lang="zh-CN" altLang="en-US"/>
          </a:p>
        </p:txBody>
      </p:sp>
      <p:sp>
        <p:nvSpPr>
          <p:cNvPr id="3" name="Rectangle 4"/>
          <p:cNvSpPr>
            <a:spLocks noChangeArrowheads="1"/>
          </p:cNvSpPr>
          <p:nvPr/>
        </p:nvSpPr>
        <p:spPr bwMode="auto">
          <a:xfrm>
            <a:off x="367462" y="1372169"/>
            <a:ext cx="77724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914400" eaLnBrk="0" fontAlgn="base" hangingPunct="0">
              <a:lnSpc>
                <a:spcPct val="120000"/>
              </a:lnSpc>
              <a:spcBef>
                <a:spcPct val="0"/>
              </a:spcBef>
              <a:spcAft>
                <a:spcPct val="0"/>
              </a:spcAft>
            </a:pPr>
            <a:r>
              <a:rPr kumimoji="1" lang="zh-CN" altLang="en-US" sz="2400" b="1">
                <a:solidFill>
                  <a:srgbClr val="000000"/>
                </a:solidFill>
                <a:latin typeface="Times New Roman" pitchFamily="18" charset="0"/>
                <a:ea typeface="宋体" pitchFamily="2" charset="-122"/>
              </a:rPr>
              <a:t>对于在氧化层中存在可动电荷</a:t>
            </a:r>
            <a:r>
              <a:rPr kumimoji="1" lang="en-US" altLang="zh-CN" sz="2400" b="1" i="1">
                <a:solidFill>
                  <a:srgbClr val="000000"/>
                </a:solidFill>
                <a:latin typeface="Times New Roman" pitchFamily="18" charset="0"/>
                <a:ea typeface="宋体" pitchFamily="2" charset="-122"/>
              </a:rPr>
              <a:t>Q</a:t>
            </a:r>
            <a:r>
              <a:rPr kumimoji="1" lang="en-US" altLang="zh-CN" sz="2400" b="1" i="1" baseline="-25000">
                <a:solidFill>
                  <a:srgbClr val="000000"/>
                </a:solidFill>
                <a:latin typeface="Times New Roman" pitchFamily="18" charset="0"/>
                <a:ea typeface="宋体" pitchFamily="2" charset="-122"/>
              </a:rPr>
              <a:t>m</a:t>
            </a:r>
            <a:r>
              <a:rPr kumimoji="1" lang="zh-CN" altLang="en-US" sz="2400" b="1">
                <a:solidFill>
                  <a:srgbClr val="000000"/>
                </a:solidFill>
                <a:latin typeface="Times New Roman" pitchFamily="18" charset="0"/>
                <a:ea typeface="宋体" pitchFamily="2" charset="-122"/>
              </a:rPr>
              <a:t>，电荷密度为</a:t>
            </a:r>
            <a:r>
              <a:rPr kumimoji="1" lang="zh-CN" altLang="en-US" sz="2400" b="1" i="1">
                <a:solidFill>
                  <a:srgbClr val="000000"/>
                </a:solidFill>
                <a:latin typeface="Times New Roman" pitchFamily="18" charset="0"/>
                <a:ea typeface="宋体" pitchFamily="2" charset="-122"/>
                <a:sym typeface="Symbol" pitchFamily="18" charset="2"/>
              </a:rPr>
              <a:t></a:t>
            </a:r>
            <a:r>
              <a:rPr kumimoji="1" lang="en-US" altLang="zh-CN" sz="2400" b="1" i="1" baseline="-25000">
                <a:solidFill>
                  <a:srgbClr val="000000"/>
                </a:solidFill>
                <a:latin typeface="Times New Roman" pitchFamily="18" charset="0"/>
                <a:ea typeface="宋体" pitchFamily="2" charset="-122"/>
                <a:sym typeface="Symbol" pitchFamily="18" charset="2"/>
              </a:rPr>
              <a:t>m</a:t>
            </a:r>
            <a:r>
              <a:rPr kumimoji="1" lang="en-US" altLang="zh-CN" sz="2400" b="1" i="1">
                <a:solidFill>
                  <a:srgbClr val="000000"/>
                </a:solidFill>
                <a:latin typeface="Times New Roman" pitchFamily="18" charset="0"/>
                <a:ea typeface="宋体" pitchFamily="2" charset="-122"/>
                <a:sym typeface="Symbol" pitchFamily="18" charset="2"/>
              </a:rPr>
              <a:t>(x)</a:t>
            </a:r>
            <a:r>
              <a:rPr kumimoji="1" lang="zh-CN" altLang="en-US" sz="2400" b="1">
                <a:solidFill>
                  <a:srgbClr val="000000"/>
                </a:solidFill>
                <a:latin typeface="Times New Roman" pitchFamily="18" charset="0"/>
                <a:ea typeface="宋体" pitchFamily="2" charset="-122"/>
                <a:sym typeface="Symbol" pitchFamily="18" charset="2"/>
              </a:rPr>
              <a:t>，</a:t>
            </a:r>
            <a:r>
              <a:rPr kumimoji="1" lang="zh-CN" altLang="en-US" sz="2400" b="1">
                <a:solidFill>
                  <a:srgbClr val="000000"/>
                </a:solidFill>
                <a:latin typeface="Times New Roman" pitchFamily="18" charset="0"/>
                <a:ea typeface="宋体" pitchFamily="2" charset="-122"/>
              </a:rPr>
              <a:t>其对平带电压的影响表示为： </a:t>
            </a:r>
          </a:p>
        </p:txBody>
      </p:sp>
      <p:graphicFrame>
        <p:nvGraphicFramePr>
          <p:cNvPr id="4" name="Object 11"/>
          <p:cNvGraphicFramePr>
            <a:graphicFrameLocks noChangeAspect="1"/>
          </p:cNvGraphicFramePr>
          <p:nvPr>
            <p:extLst>
              <p:ext uri="{D42A27DB-BD31-4B8C-83A1-F6EECF244321}">
                <p14:modId xmlns:p14="http://schemas.microsoft.com/office/powerpoint/2010/main" val="2066293924"/>
              </p:ext>
            </p:extLst>
          </p:nvPr>
        </p:nvGraphicFramePr>
        <p:xfrm>
          <a:off x="367462" y="2453256"/>
          <a:ext cx="7812088" cy="1041400"/>
        </p:xfrm>
        <a:graphic>
          <a:graphicData uri="http://schemas.openxmlformats.org/presentationml/2006/ole">
            <mc:AlternateContent xmlns:mc="http://schemas.openxmlformats.org/markup-compatibility/2006">
              <mc:Choice xmlns:v="urn:schemas-microsoft-com:vml" Requires="v">
                <p:oleObj spid="_x0000_s205881" name="Equation" r:id="rId3" imgW="3429000" imgH="457200" progId="Equation.DSMT4">
                  <p:embed/>
                </p:oleObj>
              </mc:Choice>
              <mc:Fallback>
                <p:oleObj name="Equation" r:id="rId3" imgW="3429000" imgH="457200" progId="Equation.DSMT4">
                  <p:embed/>
                  <p:pic>
                    <p:nvPicPr>
                      <p:cNvPr id="5636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462" y="2453256"/>
                        <a:ext cx="7812088"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16"/>
          <p:cNvSpPr txBox="1">
            <a:spLocks noChangeArrowheads="1"/>
          </p:cNvSpPr>
          <p:nvPr/>
        </p:nvSpPr>
        <p:spPr bwMode="auto">
          <a:xfrm>
            <a:off x="367462" y="3821681"/>
            <a:ext cx="78486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1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由于氧化层可动电荷可在氧化层中移动，可动电荷密度分布在不断变化，因此，可动电荷对平带电压的作用随分布变化而变化。通常，可动电荷在电场作用下可定向移动，但移动速度与温度、偏压极性有关，而且移动速度较慢。为此，可通过偏温应力结合平带电压测量实验，评估测量总的可动电荷量。</a:t>
            </a:r>
            <a:endParaRPr kumimoji="1" lang="zh-CN" altLang="en-US" sz="2400" b="1" i="0" u="none" strike="noStrike" kern="0" cap="none" spc="0" normalizeH="0" baseline="-25000" noProof="0">
              <a:ln>
                <a:noFill/>
              </a:ln>
              <a:solidFill>
                <a:srgbClr val="000000"/>
              </a:solidFill>
              <a:effectLst/>
              <a:uLnTx/>
              <a:uFillTx/>
              <a:latin typeface="Times New Roman" pitchFamily="18" charset="0"/>
              <a:ea typeface="宋体" pitchFamily="2" charset="-122"/>
            </a:endParaRPr>
          </a:p>
        </p:txBody>
      </p:sp>
      <p:sp>
        <p:nvSpPr>
          <p:cNvPr id="6" name="矩形 5"/>
          <p:cNvSpPr/>
          <p:nvPr/>
        </p:nvSpPr>
        <p:spPr>
          <a:xfrm>
            <a:off x="512544" y="432277"/>
            <a:ext cx="7358333" cy="465448"/>
          </a:xfrm>
          <a:prstGeom prst="rect">
            <a:avLst/>
          </a:prstGeom>
        </p:spPr>
        <p:txBody>
          <a:bodyPr wrap="square">
            <a:spAutoFit/>
          </a:bodyPr>
          <a:lstStyle/>
          <a:p>
            <a:pPr lvl="0" defTabSz="914400" fontAlgn="base">
              <a:lnSpc>
                <a:spcPct val="110000"/>
              </a:lnSpc>
              <a:spcBef>
                <a:spcPct val="0"/>
              </a:spcBef>
              <a:spcAft>
                <a:spcPct val="0"/>
              </a:spcAft>
            </a:pPr>
            <a:r>
              <a:rPr kumimoji="1" lang="zh-CN" altLang="en-US" sz="2400" b="1" kern="0" dirty="0" smtClean="0">
                <a:solidFill>
                  <a:srgbClr val="FF3300"/>
                </a:solidFill>
                <a:latin typeface="Times New Roman" pitchFamily="18" charset="0"/>
                <a:ea typeface="宋体" pitchFamily="2" charset="-122"/>
              </a:rPr>
              <a:t>可动电荷</a:t>
            </a:r>
            <a:endParaRPr kumimoji="1" lang="zh-CN" altLang="en-US" sz="2400" b="1" kern="0" dirty="0">
              <a:solidFill>
                <a:srgbClr val="FF3300"/>
              </a:solidFill>
              <a:latin typeface="Times New Roman" pitchFamily="18" charset="0"/>
              <a:ea typeface="宋体" pitchFamily="2" charset="-122"/>
            </a:endParaRPr>
          </a:p>
        </p:txBody>
      </p:sp>
    </p:spTree>
    <p:extLst>
      <p:ext uri="{BB962C8B-B14F-4D97-AF65-F5344CB8AC3E}">
        <p14:creationId xmlns:p14="http://schemas.microsoft.com/office/powerpoint/2010/main" val="24740271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40</a:t>
            </a:fld>
            <a:endParaRPr lang="zh-CN" altLang="en-US"/>
          </a:p>
        </p:txBody>
      </p:sp>
      <p:sp>
        <p:nvSpPr>
          <p:cNvPr id="3" name="矩形 2"/>
          <p:cNvSpPr/>
          <p:nvPr/>
        </p:nvSpPr>
        <p:spPr>
          <a:xfrm>
            <a:off x="512544" y="432277"/>
            <a:ext cx="7358333" cy="465448"/>
          </a:xfrm>
          <a:prstGeom prst="rect">
            <a:avLst/>
          </a:prstGeom>
        </p:spPr>
        <p:txBody>
          <a:bodyPr wrap="square">
            <a:spAutoFit/>
          </a:bodyPr>
          <a:lstStyle/>
          <a:p>
            <a:pPr lvl="0" defTabSz="914400" fontAlgn="base">
              <a:lnSpc>
                <a:spcPct val="110000"/>
              </a:lnSpc>
              <a:spcBef>
                <a:spcPct val="0"/>
              </a:spcBef>
              <a:spcAft>
                <a:spcPct val="0"/>
              </a:spcAft>
            </a:pPr>
            <a:r>
              <a:rPr kumimoji="1" lang="zh-CN" altLang="en-US" sz="2400" b="1" kern="0" dirty="0" smtClean="0">
                <a:solidFill>
                  <a:srgbClr val="FF3300"/>
                </a:solidFill>
                <a:latin typeface="Times New Roman" pitchFamily="18" charset="0"/>
                <a:ea typeface="宋体" pitchFamily="2" charset="-122"/>
              </a:rPr>
              <a:t>陷阱电荷</a:t>
            </a:r>
            <a:endParaRPr kumimoji="1" lang="zh-CN" altLang="en-US" sz="2400" b="1" kern="0" dirty="0">
              <a:solidFill>
                <a:srgbClr val="FF3300"/>
              </a:solidFill>
              <a:latin typeface="Times New Roman" pitchFamily="18" charset="0"/>
              <a:ea typeface="宋体" pitchFamily="2" charset="-122"/>
            </a:endParaRPr>
          </a:p>
        </p:txBody>
      </p:sp>
      <p:sp>
        <p:nvSpPr>
          <p:cNvPr id="4" name="Rectangle 41"/>
          <p:cNvSpPr>
            <a:spLocks noChangeArrowheads="1"/>
          </p:cNvSpPr>
          <p:nvPr/>
        </p:nvSpPr>
        <p:spPr bwMode="auto">
          <a:xfrm>
            <a:off x="0" y="306705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graphicFrame>
        <p:nvGraphicFramePr>
          <p:cNvPr id="5" name="Object 63"/>
          <p:cNvGraphicFramePr>
            <a:graphicFrameLocks noChangeAspect="1"/>
          </p:cNvGraphicFramePr>
          <p:nvPr>
            <p:extLst>
              <p:ext uri="{D42A27DB-BD31-4B8C-83A1-F6EECF244321}">
                <p14:modId xmlns:p14="http://schemas.microsoft.com/office/powerpoint/2010/main" val="844618343"/>
              </p:ext>
            </p:extLst>
          </p:nvPr>
        </p:nvGraphicFramePr>
        <p:xfrm>
          <a:off x="746125" y="1090213"/>
          <a:ext cx="7578725" cy="2025650"/>
        </p:xfrm>
        <a:graphic>
          <a:graphicData uri="http://schemas.openxmlformats.org/presentationml/2006/ole">
            <mc:AlternateContent xmlns:mc="http://schemas.openxmlformats.org/markup-compatibility/2006">
              <mc:Choice xmlns:v="urn:schemas-microsoft-com:vml" Requires="v">
                <p:oleObj spid="_x0000_s206960" name="Equation" r:id="rId3" imgW="3327400" imgH="889000" progId="Equation.DSMT4">
                  <p:embed/>
                </p:oleObj>
              </mc:Choice>
              <mc:Fallback>
                <p:oleObj name="Equation" r:id="rId3" imgW="3327400" imgH="889000" progId="Equation.DSMT4">
                  <p:embed/>
                  <p:pic>
                    <p:nvPicPr>
                      <p:cNvPr id="57391" name="Object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125" y="1090213"/>
                        <a:ext cx="7578725" cy="202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64"/>
          <p:cNvSpPr txBox="1">
            <a:spLocks noChangeArrowheads="1"/>
          </p:cNvSpPr>
          <p:nvPr/>
        </p:nvSpPr>
        <p:spPr bwMode="auto">
          <a:xfrm>
            <a:off x="936677" y="314325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等效为在氧化层与</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界面存在集中的陷阱电荷</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ot</a:t>
            </a:r>
            <a:endPar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endParaRPr>
          </a:p>
        </p:txBody>
      </p:sp>
      <p:graphicFrame>
        <p:nvGraphicFramePr>
          <p:cNvPr id="7" name="Object 65"/>
          <p:cNvGraphicFramePr>
            <a:graphicFrameLocks noChangeAspect="1"/>
          </p:cNvGraphicFramePr>
          <p:nvPr/>
        </p:nvGraphicFramePr>
        <p:xfrm>
          <a:off x="3132138" y="3525838"/>
          <a:ext cx="2806700" cy="984250"/>
        </p:xfrm>
        <a:graphic>
          <a:graphicData uri="http://schemas.openxmlformats.org/presentationml/2006/ole">
            <mc:AlternateContent xmlns:mc="http://schemas.openxmlformats.org/markup-compatibility/2006">
              <mc:Choice xmlns:v="urn:schemas-microsoft-com:vml" Requires="v">
                <p:oleObj spid="_x0000_s206961" name="Equation" r:id="rId5" imgW="1231366" imgH="431613" progId="Equation.DSMT4">
                  <p:embed/>
                </p:oleObj>
              </mc:Choice>
              <mc:Fallback>
                <p:oleObj name="Equation" r:id="rId5" imgW="1231366" imgH="431613" progId="Equation.DSMT4">
                  <p:embed/>
                  <p:pic>
                    <p:nvPicPr>
                      <p:cNvPr id="57393" name="Object 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3525838"/>
                        <a:ext cx="2806700"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6"/>
          <p:cNvSpPr txBox="1">
            <a:spLocks noChangeArrowheads="1"/>
          </p:cNvSpPr>
          <p:nvPr/>
        </p:nvSpPr>
        <p:spPr bwMode="auto">
          <a:xfrm>
            <a:off x="395288" y="4437063"/>
            <a:ext cx="84963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2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由于不同的偏压条件导致氧化层陷阱电荷不同的充放电行为，而氧化层陷阱电荷的充放电行为将影响</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的平带电压。研究显示，采用正反向扫描模式，可导致氧化层陷阱电荷分别发生充放电，因此，测量正反向扫描模式的</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C-V</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曲线获得的回滞特征，可以表征氧化层陷阱电荷的信息。</a:t>
            </a:r>
          </a:p>
        </p:txBody>
      </p:sp>
    </p:spTree>
    <p:extLst>
      <p:ext uri="{BB962C8B-B14F-4D97-AF65-F5344CB8AC3E}">
        <p14:creationId xmlns:p14="http://schemas.microsoft.com/office/powerpoint/2010/main" val="3417458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latin typeface="Times New Roman" panose="02020603050405020304" pitchFamily="18" charset="0"/>
                <a:ea typeface="宋体" panose="02010600030101010101" pitchFamily="2" charset="-122"/>
                <a:cs typeface="Times New Roman" panose="02020603050405020304" pitchFamily="18" charset="0"/>
              </a:rPr>
              <a:t>41</a:t>
            </a:fld>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497172" y="267617"/>
            <a:ext cx="7358333" cy="498598"/>
          </a:xfrm>
          <a:prstGeom prst="rect">
            <a:avLst/>
          </a:prstGeom>
        </p:spPr>
        <p:txBody>
          <a:bodyPr wrap="square">
            <a:spAutoFit/>
          </a:bodyPr>
          <a:lstStyle/>
          <a:p>
            <a:pPr lvl="0" defTabSz="914400" fontAlgn="base">
              <a:lnSpc>
                <a:spcPct val="110000"/>
              </a:lnSpc>
              <a:spcBef>
                <a:spcPct val="0"/>
              </a:spcBef>
              <a:spcAft>
                <a:spcPct val="0"/>
              </a:spcAft>
            </a:pPr>
            <a:r>
              <a:rPr kumimoji="1" lang="zh-CN" altLang="en-US" sz="2400" b="1" kern="0" dirty="0" smtClean="0">
                <a:solidFill>
                  <a:srgbClr val="FF3300"/>
                </a:solidFill>
                <a:latin typeface="Times New Roman" panose="02020603050405020304" pitchFamily="18" charset="0"/>
                <a:ea typeface="宋体" panose="02010600030101010101" pitchFamily="2" charset="-122"/>
                <a:cs typeface="Times New Roman" panose="02020603050405020304" pitchFamily="18" charset="0"/>
              </a:rPr>
              <a:t>界面态陷阱电荷</a:t>
            </a:r>
            <a:endParaRPr kumimoji="1" lang="zh-CN" altLang="en-US" sz="2400" b="1" kern="0" dirty="0">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 Box 10"/>
          <p:cNvSpPr txBox="1">
            <a:spLocks noChangeArrowheads="1"/>
          </p:cNvSpPr>
          <p:nvPr/>
        </p:nvSpPr>
        <p:spPr bwMode="auto">
          <a:xfrm>
            <a:off x="2210639" y="3726070"/>
            <a:ext cx="8691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000" b="1" i="1" smtClean="0">
                <a:solidFill>
                  <a:srgbClr val="990000"/>
                </a:solidFill>
                <a:latin typeface="Times New Roman" panose="02020603050405020304" pitchFamily="18" charset="0"/>
                <a:cs typeface="Times New Roman" panose="02020603050405020304" pitchFamily="18" charset="0"/>
              </a:rPr>
              <a:t>V</a:t>
            </a:r>
            <a:r>
              <a:rPr kumimoji="1" lang="en-US" altLang="zh-CN" sz="2000" b="1" baseline="-25000" smtClean="0">
                <a:solidFill>
                  <a:srgbClr val="990000"/>
                </a:solidFill>
                <a:latin typeface="Times New Roman" panose="02020603050405020304" pitchFamily="18" charset="0"/>
                <a:cs typeface="Times New Roman" panose="02020603050405020304" pitchFamily="18" charset="0"/>
              </a:rPr>
              <a:t>s </a:t>
            </a:r>
            <a:r>
              <a:rPr kumimoji="1" lang="en-US" altLang="zh-CN" sz="2000" b="1" smtClean="0">
                <a:solidFill>
                  <a:srgbClr val="990000"/>
                </a:solidFill>
                <a:latin typeface="Times New Roman" panose="02020603050405020304" pitchFamily="18" charset="0"/>
                <a:cs typeface="Times New Roman" panose="02020603050405020304" pitchFamily="18" charset="0"/>
              </a:rPr>
              <a:t>&gt; 0 </a:t>
            </a:r>
          </a:p>
        </p:txBody>
      </p:sp>
      <p:sp>
        <p:nvSpPr>
          <p:cNvPr id="11" name="Text Box 11"/>
          <p:cNvSpPr txBox="1">
            <a:spLocks noChangeArrowheads="1"/>
          </p:cNvSpPr>
          <p:nvPr/>
        </p:nvSpPr>
        <p:spPr bwMode="auto">
          <a:xfrm>
            <a:off x="6061914" y="3681620"/>
            <a:ext cx="8691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en-US" altLang="zh-CN" sz="2000" b="1" i="1" smtClean="0">
                <a:solidFill>
                  <a:srgbClr val="990000"/>
                </a:solidFill>
                <a:latin typeface="Times New Roman" panose="02020603050405020304" pitchFamily="18" charset="0"/>
                <a:cs typeface="Times New Roman" panose="02020603050405020304" pitchFamily="18" charset="0"/>
              </a:rPr>
              <a:t>V</a:t>
            </a:r>
            <a:r>
              <a:rPr kumimoji="1" lang="en-US" altLang="zh-CN" sz="2000" b="1" baseline="-25000" smtClean="0">
                <a:solidFill>
                  <a:srgbClr val="990000"/>
                </a:solidFill>
                <a:latin typeface="Times New Roman" panose="02020603050405020304" pitchFamily="18" charset="0"/>
                <a:cs typeface="Times New Roman" panose="02020603050405020304" pitchFamily="18" charset="0"/>
              </a:rPr>
              <a:t>s </a:t>
            </a:r>
            <a:r>
              <a:rPr kumimoji="1" lang="en-US" altLang="zh-CN" sz="2000" b="1" smtClean="0">
                <a:solidFill>
                  <a:srgbClr val="990000"/>
                </a:solidFill>
                <a:latin typeface="Times New Roman" panose="02020603050405020304" pitchFamily="18" charset="0"/>
                <a:cs typeface="Times New Roman" panose="02020603050405020304" pitchFamily="18" charset="0"/>
              </a:rPr>
              <a:t>&gt; 0 </a:t>
            </a:r>
          </a:p>
        </p:txBody>
      </p:sp>
      <p:graphicFrame>
        <p:nvGraphicFramePr>
          <p:cNvPr id="12" name="Object 2"/>
          <p:cNvGraphicFramePr>
            <a:graphicFrameLocks noChangeAspect="1"/>
          </p:cNvGraphicFramePr>
          <p:nvPr>
            <p:extLst>
              <p:ext uri="{D42A27DB-BD31-4B8C-83A1-F6EECF244321}">
                <p14:modId xmlns:p14="http://schemas.microsoft.com/office/powerpoint/2010/main" val="346395205"/>
              </p:ext>
            </p:extLst>
          </p:nvPr>
        </p:nvGraphicFramePr>
        <p:xfrm>
          <a:off x="1888377" y="1147970"/>
          <a:ext cx="2082800" cy="2493963"/>
        </p:xfrm>
        <a:graphic>
          <a:graphicData uri="http://schemas.openxmlformats.org/presentationml/2006/ole">
            <mc:AlternateContent xmlns:mc="http://schemas.openxmlformats.org/markup-compatibility/2006">
              <mc:Choice xmlns:v="urn:schemas-microsoft-com:vml" Requires="v">
                <p:oleObj spid="_x0000_s207985" name="BMP 图象" r:id="rId3" imgW="2800741" imgH="3352381" progId="PBrush">
                  <p:embed/>
                </p:oleObj>
              </mc:Choice>
              <mc:Fallback>
                <p:oleObj name="BMP 图象" r:id="rId3" imgW="2800741" imgH="3352381" progId="PBrush">
                  <p:embed/>
                  <p:pic>
                    <p:nvPicPr>
                      <p:cNvPr id="5939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8377" y="1147970"/>
                        <a:ext cx="2082800"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3"/>
          <p:cNvSpPr txBox="1">
            <a:spLocks noChangeArrowheads="1"/>
          </p:cNvSpPr>
          <p:nvPr/>
        </p:nvSpPr>
        <p:spPr bwMode="auto">
          <a:xfrm>
            <a:off x="2245564" y="393879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endParaRPr kumimoji="1" lang="zh-CN" altLang="zh-CN" sz="2400" u="sng" smtClean="0">
              <a:solidFill>
                <a:prstClr val="black"/>
              </a:solidFill>
              <a:latin typeface="Times New Roman" panose="02020603050405020304" pitchFamily="18" charset="0"/>
              <a:cs typeface="Times New Roman" panose="02020603050405020304" pitchFamily="18" charset="0"/>
            </a:endParaRPr>
          </a:p>
        </p:txBody>
      </p:sp>
      <p:graphicFrame>
        <p:nvGraphicFramePr>
          <p:cNvPr id="14" name="Object 3"/>
          <p:cNvGraphicFramePr>
            <a:graphicFrameLocks noChangeAspect="1"/>
          </p:cNvGraphicFramePr>
          <p:nvPr>
            <p:extLst>
              <p:ext uri="{D42A27DB-BD31-4B8C-83A1-F6EECF244321}">
                <p14:modId xmlns:p14="http://schemas.microsoft.com/office/powerpoint/2010/main" val="4089006947"/>
              </p:ext>
            </p:extLst>
          </p:nvPr>
        </p:nvGraphicFramePr>
        <p:xfrm>
          <a:off x="5625352" y="1228933"/>
          <a:ext cx="2073275" cy="2363787"/>
        </p:xfrm>
        <a:graphic>
          <a:graphicData uri="http://schemas.openxmlformats.org/presentationml/2006/ole">
            <mc:AlternateContent xmlns:mc="http://schemas.openxmlformats.org/markup-compatibility/2006">
              <mc:Choice xmlns:v="urn:schemas-microsoft-com:vml" Requires="v">
                <p:oleObj spid="_x0000_s207986" name="BMP 图象" r:id="rId5" imgW="2933333" imgH="3343742" progId="PBrush">
                  <p:embed/>
                </p:oleObj>
              </mc:Choice>
              <mc:Fallback>
                <p:oleObj name="BMP 图象" r:id="rId5" imgW="2933333" imgH="3343742" progId="PBrush">
                  <p:embed/>
                  <p:pic>
                    <p:nvPicPr>
                      <p:cNvPr id="59398"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5352" y="1228933"/>
                        <a:ext cx="2073275"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7"/>
          <p:cNvSpPr txBox="1">
            <a:spLocks noChangeArrowheads="1"/>
          </p:cNvSpPr>
          <p:nvPr/>
        </p:nvSpPr>
        <p:spPr bwMode="auto">
          <a:xfrm>
            <a:off x="743789" y="5816477"/>
            <a:ext cx="286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000" b="1" smtClean="0">
                <a:solidFill>
                  <a:prstClr val="black"/>
                </a:solidFill>
                <a:latin typeface="Times New Roman" panose="02020603050405020304" pitchFamily="18" charset="0"/>
                <a:cs typeface="Times New Roman" panose="02020603050405020304" pitchFamily="18" charset="0"/>
              </a:rPr>
              <a:t>屏蔽</a:t>
            </a:r>
            <a:r>
              <a:rPr kumimoji="1" lang="en-US" altLang="zh-CN" sz="2000" b="1" i="1" smtClean="0">
                <a:solidFill>
                  <a:prstClr val="black"/>
                </a:solidFill>
                <a:latin typeface="Times New Roman" panose="02020603050405020304" pitchFamily="18" charset="0"/>
                <a:cs typeface="Times New Roman" panose="02020603050405020304" pitchFamily="18" charset="0"/>
              </a:rPr>
              <a:t>Q</a:t>
            </a:r>
            <a:r>
              <a:rPr kumimoji="1" lang="en-US" altLang="zh-CN" sz="2000" b="1" baseline="-25000" smtClean="0">
                <a:solidFill>
                  <a:prstClr val="black"/>
                </a:solidFill>
                <a:latin typeface="Times New Roman" panose="02020603050405020304" pitchFamily="18" charset="0"/>
                <a:cs typeface="Times New Roman" panose="02020603050405020304" pitchFamily="18" charset="0"/>
              </a:rPr>
              <a:t>it </a:t>
            </a:r>
            <a:r>
              <a:rPr kumimoji="1" lang="zh-CN" altLang="en-US" sz="20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的栅压</a:t>
            </a:r>
            <a:r>
              <a:rPr kumimoji="1" lang="en-US" altLang="zh-CN" sz="2000" b="1" i="1" smtClean="0">
                <a:solidFill>
                  <a:prstClr val="black"/>
                </a:solidFill>
                <a:latin typeface="Times New Roman" panose="02020603050405020304" pitchFamily="18" charset="0"/>
                <a:cs typeface="Times New Roman" panose="02020603050405020304" pitchFamily="18" charset="0"/>
              </a:rPr>
              <a:t>V</a:t>
            </a:r>
            <a:r>
              <a:rPr kumimoji="1" lang="en-US" altLang="zh-CN" sz="2000" b="1" baseline="-25000" smtClean="0">
                <a:solidFill>
                  <a:prstClr val="black"/>
                </a:solidFill>
                <a:latin typeface="Times New Roman" panose="02020603050405020304" pitchFamily="18" charset="0"/>
                <a:cs typeface="Times New Roman" panose="02020603050405020304" pitchFamily="18" charset="0"/>
              </a:rPr>
              <a:t>git</a:t>
            </a:r>
            <a:r>
              <a:rPr kumimoji="1" lang="zh-CN" altLang="en-US" sz="2000" b="1" smtClean="0">
                <a:solidFill>
                  <a:prstClr val="black"/>
                </a:solidFill>
                <a:latin typeface="Times New Roman" panose="02020603050405020304" pitchFamily="18" charset="0"/>
                <a:cs typeface="Times New Roman" panose="02020603050405020304" pitchFamily="18" charset="0"/>
              </a:rPr>
              <a:t>为：</a:t>
            </a:r>
          </a:p>
        </p:txBody>
      </p:sp>
      <p:sp>
        <p:nvSpPr>
          <p:cNvPr id="16" name="Text Box 19"/>
          <p:cNvSpPr txBox="1">
            <a:spLocks noChangeArrowheads="1"/>
          </p:cNvSpPr>
          <p:nvPr/>
        </p:nvSpPr>
        <p:spPr bwMode="auto">
          <a:xfrm>
            <a:off x="721564" y="4334083"/>
            <a:ext cx="1898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000" b="1" smtClean="0">
                <a:solidFill>
                  <a:prstClr val="black"/>
                </a:solidFill>
                <a:latin typeface="Times New Roman" panose="02020603050405020304" pitchFamily="18" charset="0"/>
                <a:cs typeface="Times New Roman" panose="02020603050405020304" pitchFamily="18" charset="0"/>
              </a:rPr>
              <a:t>界面态电荷：</a:t>
            </a:r>
          </a:p>
        </p:txBody>
      </p:sp>
      <p:sp>
        <p:nvSpPr>
          <p:cNvPr id="17" name="文本框 16"/>
          <p:cNvSpPr txBox="1">
            <a:spLocks noRot="1" noChangeAspect="1" noMove="1" noResize="1" noEditPoints="1" noAdjustHandles="1" noChangeArrowheads="1" noChangeShapeType="1" noTextEdit="1"/>
          </p:cNvSpPr>
          <p:nvPr/>
        </p:nvSpPr>
        <p:spPr>
          <a:xfrm>
            <a:off x="3005555" y="4391363"/>
            <a:ext cx="2964594" cy="786626"/>
          </a:xfrm>
          <a:prstGeom prst="rect">
            <a:avLst/>
          </a:prstGeom>
          <a:blipFill rotWithShape="0">
            <a:blip r:embed="rId7"/>
            <a:stretch>
              <a:fillRect/>
            </a:stretch>
          </a:blipFill>
        </p:spPr>
        <p:txBody>
          <a:bodyPr/>
          <a:lstStyle/>
          <a:p>
            <a:pPr defTabSz="914400" eaLnBrk="0" fontAlgn="base" hangingPunct="0">
              <a:spcBef>
                <a:spcPct val="0"/>
              </a:spcBef>
              <a:spcAft>
                <a:spcPct val="0"/>
              </a:spcAft>
              <a:defRPr/>
            </a:pPr>
            <a:r>
              <a:rPr lang="zh-CN" altLang="en-US" u="sng">
                <a:noFill/>
                <a:latin typeface="Times New Roman" panose="02020603050405020304" pitchFamily="18" charset="0"/>
                <a:ea typeface="宋体" panose="02010600030101010101" pitchFamily="2" charset="-122"/>
                <a:cs typeface="Times New Roman" panose="02020603050405020304" pitchFamily="18" charset="0"/>
              </a:rPr>
              <a:t> </a:t>
            </a:r>
          </a:p>
        </p:txBody>
      </p:sp>
      <p:pic>
        <p:nvPicPr>
          <p:cNvPr id="18" name="图片 2"/>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31514" y="5603752"/>
            <a:ext cx="25209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9202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42</a:t>
            </a:fld>
            <a:endParaRPr lang="zh-CN" altLang="en-US"/>
          </a:p>
        </p:txBody>
      </p:sp>
      <p:graphicFrame>
        <p:nvGraphicFramePr>
          <p:cNvPr id="4" name="Object 2"/>
          <p:cNvGraphicFramePr>
            <a:graphicFrameLocks noChangeAspect="1"/>
          </p:cNvGraphicFramePr>
          <p:nvPr>
            <p:extLst>
              <p:ext uri="{D42A27DB-BD31-4B8C-83A1-F6EECF244321}">
                <p14:modId xmlns:p14="http://schemas.microsoft.com/office/powerpoint/2010/main" val="1190083256"/>
              </p:ext>
            </p:extLst>
          </p:nvPr>
        </p:nvGraphicFramePr>
        <p:xfrm>
          <a:off x="6497427" y="307706"/>
          <a:ext cx="2292350" cy="2198688"/>
        </p:xfrm>
        <a:graphic>
          <a:graphicData uri="http://schemas.openxmlformats.org/presentationml/2006/ole">
            <mc:AlternateContent xmlns:mc="http://schemas.openxmlformats.org/markup-compatibility/2006">
              <mc:Choice xmlns:v="urn:schemas-microsoft-com:vml" Requires="v">
                <p:oleObj spid="_x0000_s209173" name="BMP 图象" r:id="rId3" imgW="3790476" imgH="3638095" progId="PBrush">
                  <p:embed/>
                </p:oleObj>
              </mc:Choice>
              <mc:Fallback>
                <p:oleObj name="BMP 图象" r:id="rId3" imgW="3790476" imgH="3638095" progId="PBrush">
                  <p:embed/>
                  <p:pic>
                    <p:nvPicPr>
                      <p:cNvPr id="6144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7427" y="307706"/>
                        <a:ext cx="2292350" cy="219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1954620057"/>
              </p:ext>
            </p:extLst>
          </p:nvPr>
        </p:nvGraphicFramePr>
        <p:xfrm>
          <a:off x="2711239" y="1303068"/>
          <a:ext cx="2071688" cy="1012825"/>
        </p:xfrm>
        <a:graphic>
          <a:graphicData uri="http://schemas.openxmlformats.org/presentationml/2006/ole">
            <mc:AlternateContent xmlns:mc="http://schemas.openxmlformats.org/markup-compatibility/2006">
              <mc:Choice xmlns:v="urn:schemas-microsoft-com:vml" Requires="v">
                <p:oleObj spid="_x0000_s209174" name="公式" r:id="rId5" imgW="685800" imgH="482600" progId="Equation.3">
                  <p:embed/>
                </p:oleObj>
              </mc:Choice>
              <mc:Fallback>
                <p:oleObj name="公式" r:id="rId5" imgW="685800" imgH="482600" progId="Equation.3">
                  <p:embed/>
                  <p:pic>
                    <p:nvPicPr>
                      <p:cNvPr id="6144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1239" y="1303068"/>
                        <a:ext cx="2071688"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Text Box 5"/>
          <p:cNvSpPr txBox="1">
            <a:spLocks noChangeArrowheads="1"/>
          </p:cNvSpPr>
          <p:nvPr/>
        </p:nvSpPr>
        <p:spPr bwMode="auto">
          <a:xfrm>
            <a:off x="241090" y="307706"/>
            <a:ext cx="64357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10000"/>
              </a:lnSpc>
              <a:spcBef>
                <a:spcPct val="0"/>
              </a:spcBef>
              <a:spcAft>
                <a:spcPct val="0"/>
              </a:spcAft>
              <a:buFontTx/>
              <a:buNone/>
            </a:pP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界面态电荷对交流小信号</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g</a:t>
            </a:r>
            <a:r>
              <a:rPr kumimoji="1" lang="zh-CN" altLang="en-US"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的响应</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g</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E</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it</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graphicFrame>
        <p:nvGraphicFramePr>
          <p:cNvPr id="7" name="Object 4"/>
          <p:cNvGraphicFramePr>
            <a:graphicFrameLocks noChangeAspect="1"/>
          </p:cNvGraphicFramePr>
          <p:nvPr>
            <p:extLst>
              <p:ext uri="{D42A27DB-BD31-4B8C-83A1-F6EECF244321}">
                <p14:modId xmlns:p14="http://schemas.microsoft.com/office/powerpoint/2010/main" val="1570087604"/>
              </p:ext>
            </p:extLst>
          </p:nvPr>
        </p:nvGraphicFramePr>
        <p:xfrm>
          <a:off x="2250865" y="3031856"/>
          <a:ext cx="2803525" cy="908050"/>
        </p:xfrm>
        <a:graphic>
          <a:graphicData uri="http://schemas.openxmlformats.org/presentationml/2006/ole">
            <mc:AlternateContent xmlns:mc="http://schemas.openxmlformats.org/markup-compatibility/2006">
              <mc:Choice xmlns:v="urn:schemas-microsoft-com:vml" Requires="v">
                <p:oleObj spid="_x0000_s209175" name="公式" r:id="rId7" imgW="1155700" imgH="482600" progId="Equation.3">
                  <p:embed/>
                </p:oleObj>
              </mc:Choice>
              <mc:Fallback>
                <p:oleObj name="公式" r:id="rId7" imgW="1155700" imgH="482600" progId="Equation.3">
                  <p:embed/>
                  <p:pic>
                    <p:nvPicPr>
                      <p:cNvPr id="61447"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0865" y="3031856"/>
                        <a:ext cx="280352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7"/>
          <p:cNvSpPr txBox="1">
            <a:spLocks noChangeArrowheads="1"/>
          </p:cNvSpPr>
          <p:nvPr/>
        </p:nvSpPr>
        <p:spPr bwMode="auto">
          <a:xfrm>
            <a:off x="318877" y="1334818"/>
            <a:ext cx="3429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srgbClr val="990000"/>
                </a:solidFill>
                <a:latin typeface="Times New Roman" panose="02020603050405020304" pitchFamily="18" charset="0"/>
                <a:cs typeface="Times New Roman" panose="02020603050405020304" pitchFamily="18" charset="0"/>
              </a:rPr>
              <a:t>界面态电容：</a:t>
            </a:r>
          </a:p>
        </p:txBody>
      </p:sp>
      <p:sp>
        <p:nvSpPr>
          <p:cNvPr id="9" name="Text Box 8"/>
          <p:cNvSpPr txBox="1">
            <a:spLocks noChangeArrowheads="1"/>
          </p:cNvSpPr>
          <p:nvPr/>
        </p:nvSpPr>
        <p:spPr bwMode="auto">
          <a:xfrm>
            <a:off x="241090" y="2406380"/>
            <a:ext cx="8020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spcBef>
                <a:spcPct val="0"/>
              </a:spcBef>
              <a:spcAft>
                <a:spcPct val="0"/>
              </a:spcAft>
              <a:buFontTx/>
              <a:buNone/>
            </a:pPr>
            <a:r>
              <a:rPr kumimoji="1" lang="zh-CN" altLang="en-US" sz="2400" b="1" smtClean="0">
                <a:solidFill>
                  <a:prstClr val="black"/>
                </a:solidFill>
                <a:latin typeface="Times New Roman" panose="02020603050405020304" pitchFamily="18" charset="0"/>
                <a:cs typeface="Times New Roman" panose="02020603050405020304" pitchFamily="18" charset="0"/>
              </a:rPr>
              <a:t>考虑到 </a:t>
            </a:r>
            <a:r>
              <a:rPr kumimoji="1" lang="en-US" altLang="zh-CN" sz="2400" b="1" smtClean="0">
                <a:solidFill>
                  <a:prstClr val="black"/>
                </a:solidFill>
                <a:latin typeface="Times New Roman" panose="02020603050405020304" pitchFamily="18" charset="0"/>
                <a:cs typeface="Times New Roman" panose="02020603050405020304" pitchFamily="18" charset="0"/>
              </a:rPr>
              <a:t>d</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it</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i="1" smtClean="0">
                <a:solidFill>
                  <a:prstClr val="black"/>
                </a:solidFill>
                <a:latin typeface="Times New Roman" panose="02020603050405020304" pitchFamily="18" charset="0"/>
                <a:cs typeface="Times New Roman" panose="02020603050405020304" pitchFamily="18" charset="0"/>
              </a:rPr>
              <a:t>N</a:t>
            </a:r>
            <a:r>
              <a:rPr kumimoji="1" lang="en-US" altLang="zh-CN" sz="2400" b="1" baseline="-25000" smtClean="0">
                <a:solidFill>
                  <a:prstClr val="black"/>
                </a:solidFill>
                <a:latin typeface="Times New Roman" panose="02020603050405020304" pitchFamily="18" charset="0"/>
                <a:cs typeface="Times New Roman" panose="02020603050405020304" pitchFamily="18" charset="0"/>
              </a:rPr>
              <a:t>it</a:t>
            </a:r>
            <a:r>
              <a:rPr kumimoji="1" lang="en-US" altLang="zh-CN" sz="2400" b="1" smtClean="0">
                <a:solidFill>
                  <a:prstClr val="black"/>
                </a:solidFill>
                <a:latin typeface="Times New Roman" panose="02020603050405020304" pitchFamily="18" charset="0"/>
                <a:cs typeface="Times New Roman" panose="02020603050405020304" pitchFamily="18" charset="0"/>
              </a:rPr>
              <a:t>d</a:t>
            </a:r>
            <a:r>
              <a:rPr kumimoji="1" lang="en-US" altLang="zh-CN" sz="2400" b="1" i="1" smtClean="0">
                <a:solidFill>
                  <a:prstClr val="black"/>
                </a:solidFill>
                <a:latin typeface="Times New Roman" panose="02020603050405020304" pitchFamily="18" charset="0"/>
                <a:cs typeface="Times New Roman" panose="02020603050405020304" pitchFamily="18" charset="0"/>
              </a:rPr>
              <a:t>E</a:t>
            </a:r>
            <a:r>
              <a:rPr kumimoji="1" lang="zh-CN" altLang="en-US" sz="2400" b="1" smtClean="0">
                <a:solidFill>
                  <a:prstClr val="black"/>
                </a:solidFill>
                <a:latin typeface="Times New Roman" panose="02020603050405020304" pitchFamily="18" charset="0"/>
                <a:cs typeface="Times New Roman" panose="02020603050405020304" pitchFamily="18" charset="0"/>
              </a:rPr>
              <a:t>，</a:t>
            </a:r>
            <a:r>
              <a:rPr kumimoji="1" lang="en-US" altLang="zh-CN" sz="2400" b="1" smtClean="0">
                <a:solidFill>
                  <a:prstClr val="black"/>
                </a:solidFill>
                <a:latin typeface="Times New Roman" panose="02020603050405020304" pitchFamily="18" charset="0"/>
                <a:cs typeface="Times New Roman" panose="02020603050405020304" pitchFamily="18" charset="0"/>
              </a:rPr>
              <a:t>d</a:t>
            </a:r>
            <a:r>
              <a:rPr kumimoji="1" lang="en-US" altLang="zh-CN" sz="2400" b="1" i="1" smtClean="0">
                <a:solidFill>
                  <a:prstClr val="black"/>
                </a:solidFill>
                <a:latin typeface="Times New Roman" panose="02020603050405020304" pitchFamily="18" charset="0"/>
                <a:cs typeface="Times New Roman" panose="02020603050405020304" pitchFamily="18" charset="0"/>
              </a:rPr>
              <a:t>E</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en-US" altLang="zh-CN" sz="2400" b="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smtClean="0">
                <a:solidFill>
                  <a:prstClr val="black"/>
                </a:solidFill>
                <a:latin typeface="Times New Roman" panose="02020603050405020304" pitchFamily="18" charset="0"/>
                <a:cs typeface="Times New Roman" panose="02020603050405020304" pitchFamily="18" charset="0"/>
              </a:rPr>
              <a:t>d</a:t>
            </a:r>
            <a:r>
              <a:rPr kumimoji="1" lang="en-US" altLang="zh-CN" sz="2400" b="1" i="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sz="2400" b="1" baseline="-2500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en-US" altLang="zh-CN" sz="2400" b="1" smtClean="0">
                <a:solidFill>
                  <a:prstClr val="black"/>
                </a:solidFill>
                <a:latin typeface="Times New Roman" panose="02020603050405020304" pitchFamily="18" charset="0"/>
                <a:cs typeface="Times New Roman" panose="02020603050405020304" pitchFamily="18" charset="0"/>
              </a:rPr>
              <a:t> </a:t>
            </a:r>
            <a:r>
              <a:rPr kumimoji="1" lang="zh-CN" altLang="en-US" sz="2400" b="1" smtClean="0">
                <a:solidFill>
                  <a:prstClr val="black"/>
                </a:solidFill>
                <a:latin typeface="Times New Roman" panose="02020603050405020304" pitchFamily="18" charset="0"/>
                <a:cs typeface="Times New Roman" panose="02020603050405020304" pitchFamily="18" charset="0"/>
              </a:rPr>
              <a:t>，</a:t>
            </a:r>
          </a:p>
        </p:txBody>
      </p:sp>
      <p:graphicFrame>
        <p:nvGraphicFramePr>
          <p:cNvPr id="10" name="Object 5"/>
          <p:cNvGraphicFramePr>
            <a:graphicFrameLocks noChangeAspect="1"/>
          </p:cNvGraphicFramePr>
          <p:nvPr>
            <p:extLst>
              <p:ext uri="{D42A27DB-BD31-4B8C-83A1-F6EECF244321}">
                <p14:modId xmlns:p14="http://schemas.microsoft.com/office/powerpoint/2010/main" val="3605727707"/>
              </p:ext>
            </p:extLst>
          </p:nvPr>
        </p:nvGraphicFramePr>
        <p:xfrm>
          <a:off x="6719677" y="2302264"/>
          <a:ext cx="2009775" cy="2246313"/>
        </p:xfrm>
        <a:graphic>
          <a:graphicData uri="http://schemas.openxmlformats.org/presentationml/2006/ole">
            <mc:AlternateContent xmlns:mc="http://schemas.openxmlformats.org/markup-compatibility/2006">
              <mc:Choice xmlns:v="urn:schemas-microsoft-com:vml" Requires="v">
                <p:oleObj spid="_x0000_s209176" name="BMP 图象" r:id="rId9" imgW="2895238" imgH="3238952" progId="PBrush">
                  <p:embed/>
                </p:oleObj>
              </mc:Choice>
              <mc:Fallback>
                <p:oleObj name="BMP 图象" r:id="rId9" imgW="2895238" imgH="3238952" progId="PBrush">
                  <p:embed/>
                  <p:pic>
                    <p:nvPicPr>
                      <p:cNvPr id="6145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19677" y="2302264"/>
                        <a:ext cx="200977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10"/>
          <p:cNvSpPr txBox="1">
            <a:spLocks noChangeArrowheads="1"/>
          </p:cNvSpPr>
          <p:nvPr/>
        </p:nvSpPr>
        <p:spPr bwMode="auto">
          <a:xfrm>
            <a:off x="241090" y="4042590"/>
            <a:ext cx="60960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defTabSz="914400" fontAlgn="base">
              <a:lnSpc>
                <a:spcPct val="120000"/>
              </a:lnSpc>
              <a:spcBef>
                <a:spcPct val="0"/>
              </a:spcBef>
              <a:spcAft>
                <a:spcPct val="0"/>
              </a:spcAft>
              <a:buFontTx/>
              <a:buNone/>
            </a:pPr>
            <a:r>
              <a:rPr kumimoji="1" lang="en-US" altLang="zh-CN" sz="2400" b="1" dirty="0" smtClean="0">
                <a:solidFill>
                  <a:prstClr val="black"/>
                </a:solidFill>
                <a:latin typeface="Times New Roman" panose="02020603050405020304" pitchFamily="18" charset="0"/>
                <a:cs typeface="Times New Roman" panose="02020603050405020304" pitchFamily="18" charset="0"/>
              </a:rPr>
              <a:t>    </a:t>
            </a:r>
            <a:r>
              <a:rPr kumimoji="1" lang="zh-CN" altLang="en-US" sz="2400" b="1" dirty="0" smtClean="0">
                <a:solidFill>
                  <a:prstClr val="black"/>
                </a:solidFill>
                <a:latin typeface="Times New Roman" panose="02020603050405020304" pitchFamily="18" charset="0"/>
                <a:cs typeface="Times New Roman" panose="02020603050405020304" pitchFamily="18" charset="0"/>
              </a:rPr>
              <a:t>因为</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it</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和</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Q</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sc</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是由同一个</a:t>
            </a:r>
            <a:r>
              <a:rPr kumimoji="1" lang="en-US" altLang="zh-CN" sz="2400" b="1" dirty="0" err="1" smtClean="0">
                <a:solidFill>
                  <a:prstClr val="black"/>
                </a:solidFill>
                <a:latin typeface="Times New Roman" panose="02020603050405020304" pitchFamily="18" charset="0"/>
                <a:cs typeface="Times New Roman" panose="02020603050405020304" pitchFamily="18" charset="0"/>
              </a:rPr>
              <a:t>d</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rPr>
              <a:t>V</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引起的， 所以</a:t>
            </a:r>
            <a:r>
              <a:rPr kumimoji="1" lang="en-US" altLang="zh-CN" sz="2400" b="1" i="1"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baseline="-25000" dirty="0" err="1"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it</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和</a:t>
            </a:r>
            <a:r>
              <a:rPr kumimoji="1" lang="en-US" altLang="zh-CN" sz="2400" b="1" i="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baseline="-25000"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dirty="0" smtClean="0">
                <a:solidFill>
                  <a:prstClr val="black"/>
                </a:solidFill>
                <a:latin typeface="Times New Roman" panose="02020603050405020304" pitchFamily="18" charset="0"/>
                <a:cs typeface="Times New Roman" panose="02020603050405020304" pitchFamily="18" charset="0"/>
                <a:sym typeface="Symbol" panose="05050102010706020507" pitchFamily="18" charset="2"/>
              </a:rPr>
              <a:t>是并联关系。 </a:t>
            </a:r>
          </a:p>
        </p:txBody>
      </p:sp>
      <p:graphicFrame>
        <p:nvGraphicFramePr>
          <p:cNvPr id="12" name="Object 2"/>
          <p:cNvGraphicFramePr>
            <a:graphicFrameLocks noChangeAspect="1"/>
          </p:cNvGraphicFramePr>
          <p:nvPr>
            <p:extLst>
              <p:ext uri="{D42A27DB-BD31-4B8C-83A1-F6EECF244321}">
                <p14:modId xmlns:p14="http://schemas.microsoft.com/office/powerpoint/2010/main" val="2035764289"/>
              </p:ext>
            </p:extLst>
          </p:nvPr>
        </p:nvGraphicFramePr>
        <p:xfrm>
          <a:off x="6215078" y="4739026"/>
          <a:ext cx="2574699" cy="1904957"/>
        </p:xfrm>
        <a:graphic>
          <a:graphicData uri="http://schemas.openxmlformats.org/presentationml/2006/ole">
            <mc:AlternateContent xmlns:mc="http://schemas.openxmlformats.org/markup-compatibility/2006">
              <mc:Choice xmlns:v="urn:schemas-microsoft-com:vml" Requires="v">
                <p:oleObj spid="_x0000_s209177" name="BMP 图象" r:id="rId11" imgW="5342857" imgH="3952381" progId="PBrush">
                  <p:embed/>
                </p:oleObj>
              </mc:Choice>
              <mc:Fallback>
                <p:oleObj name="BMP 图象" r:id="rId11" imgW="5342857" imgH="3952381" progId="PBrush">
                  <p:embed/>
                  <p:pic>
                    <p:nvPicPr>
                      <p:cNvPr id="6247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15078" y="4739026"/>
                        <a:ext cx="2574699" cy="1904957"/>
                      </a:xfrm>
                      <a:prstGeom prst="rect">
                        <a:avLst/>
                      </a:prstGeom>
                      <a:noFill/>
                      <a:ln>
                        <a:noFill/>
                      </a:ln>
                    </p:spPr>
                  </p:pic>
                </p:oleObj>
              </mc:Fallback>
            </mc:AlternateContent>
          </a:graphicData>
        </a:graphic>
      </p:graphicFrame>
      <p:sp>
        <p:nvSpPr>
          <p:cNvPr id="13" name="Text Box 3"/>
          <p:cNvSpPr txBox="1">
            <a:spLocks noChangeArrowheads="1"/>
          </p:cNvSpPr>
          <p:nvPr/>
        </p:nvSpPr>
        <p:spPr bwMode="auto">
          <a:xfrm>
            <a:off x="318877" y="5132762"/>
            <a:ext cx="64579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40000"/>
              </a:spcBef>
              <a:buFontTx/>
              <a:buNone/>
            </a:pP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it</a:t>
            </a:r>
            <a:r>
              <a:rPr kumimoji="1" lang="zh-CN" altLang="en-US" sz="2400" b="1" u="none">
                <a:latin typeface="Times New Roman" panose="02020603050405020304" pitchFamily="18" charset="0"/>
                <a:cs typeface="Times New Roman" panose="02020603050405020304" pitchFamily="18" charset="0"/>
              </a:rPr>
              <a:t>取决于测试频率：</a:t>
            </a:r>
          </a:p>
          <a:p>
            <a:pPr eaLnBrk="1" hangingPunct="1">
              <a:spcBef>
                <a:spcPct val="40000"/>
              </a:spcBef>
              <a:buFontTx/>
              <a:buNone/>
            </a:pPr>
            <a:r>
              <a:rPr kumimoji="1" lang="zh-CN" altLang="en-US" sz="2400" b="1" u="none">
                <a:latin typeface="Times New Roman" panose="02020603050405020304" pitchFamily="18" charset="0"/>
                <a:cs typeface="Times New Roman" panose="02020603050405020304" pitchFamily="18" charset="0"/>
              </a:rPr>
              <a:t>    高频，</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it</a:t>
            </a:r>
            <a:r>
              <a:rPr kumimoji="1" lang="en-US" altLang="zh-CN" sz="2400" b="1" u="none">
                <a:latin typeface="Times New Roman" panose="02020603050405020304" pitchFamily="18" charset="0"/>
                <a:cs typeface="Times New Roman" panose="02020603050405020304" pitchFamily="18" charset="0"/>
              </a:rPr>
              <a:t>=0</a:t>
            </a:r>
            <a:r>
              <a:rPr kumimoji="1" lang="zh-CN" altLang="en-US" sz="2400" b="1" u="none">
                <a:latin typeface="Times New Roman" panose="02020603050405020304" pitchFamily="18" charset="0"/>
                <a:cs typeface="Times New Roman" panose="02020603050405020304" pitchFamily="18" charset="0"/>
              </a:rPr>
              <a:t>；</a:t>
            </a:r>
          </a:p>
          <a:p>
            <a:pPr eaLnBrk="1" hangingPunct="1">
              <a:spcBef>
                <a:spcPct val="40000"/>
              </a:spcBef>
              <a:buFontTx/>
              <a:buNone/>
            </a:pPr>
            <a:r>
              <a:rPr kumimoji="1" lang="zh-CN" altLang="en-US" sz="2400" b="1" u="none">
                <a:latin typeface="Times New Roman" panose="02020603050405020304" pitchFamily="18" charset="0"/>
                <a:cs typeface="Times New Roman" panose="02020603050405020304" pitchFamily="18" charset="0"/>
              </a:rPr>
              <a:t>    低频，</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it</a:t>
            </a:r>
            <a:r>
              <a:rPr kumimoji="1" lang="zh-CN" altLang="en-US" sz="2400" b="1" u="none">
                <a:latin typeface="Times New Roman" panose="02020603050405020304" pitchFamily="18" charset="0"/>
                <a:cs typeface="Times New Roman" panose="02020603050405020304" pitchFamily="18" charset="0"/>
              </a:rPr>
              <a:t>和</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C</a:t>
            </a:r>
            <a:r>
              <a:rPr kumimoji="1" lang="en-US" altLang="zh-CN" sz="2400" b="1" u="none" baseline="-25000">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sz="2400" b="1" u="none">
                <a:latin typeface="Times New Roman" panose="02020603050405020304" pitchFamily="18" charset="0"/>
                <a:cs typeface="Times New Roman" panose="02020603050405020304" pitchFamily="18" charset="0"/>
              </a:rPr>
              <a:t>并联，</a:t>
            </a:r>
            <a:r>
              <a:rPr kumimoji="1" lang="en-US" altLang="zh-CN" sz="2400" b="1" i="1" u="none">
                <a:latin typeface="Times New Roman" panose="02020603050405020304" pitchFamily="18" charset="0"/>
                <a:cs typeface="Times New Roman" panose="02020603050405020304" pitchFamily="18" charset="0"/>
                <a:sym typeface="Symbol" panose="05050102010706020507" pitchFamily="18" charset="2"/>
              </a:rPr>
              <a:t>C</a:t>
            </a:r>
            <a:r>
              <a:rPr kumimoji="1" lang="zh-CN" altLang="en-US" sz="2400" b="1" u="none">
                <a:latin typeface="Times New Roman" panose="02020603050405020304" pitchFamily="18" charset="0"/>
                <a:cs typeface="Times New Roman" panose="02020603050405020304" pitchFamily="18" charset="0"/>
              </a:rPr>
              <a:t>将增大。</a:t>
            </a:r>
          </a:p>
        </p:txBody>
      </p:sp>
    </p:spTree>
    <p:extLst>
      <p:ext uri="{BB962C8B-B14F-4D97-AF65-F5344CB8AC3E}">
        <p14:creationId xmlns:p14="http://schemas.microsoft.com/office/powerpoint/2010/main" val="10713237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43</a:t>
            </a:fld>
            <a:endParaRPr lang="zh-CN" altLang="en-US"/>
          </a:p>
        </p:txBody>
      </p:sp>
      <p:graphicFrame>
        <p:nvGraphicFramePr>
          <p:cNvPr id="3" name="Object 52"/>
          <p:cNvGraphicFramePr>
            <a:graphicFrameLocks noChangeAspect="1"/>
          </p:cNvGraphicFramePr>
          <p:nvPr>
            <p:extLst>
              <p:ext uri="{D42A27DB-BD31-4B8C-83A1-F6EECF244321}">
                <p14:modId xmlns:p14="http://schemas.microsoft.com/office/powerpoint/2010/main" val="3710003252"/>
              </p:ext>
            </p:extLst>
          </p:nvPr>
        </p:nvGraphicFramePr>
        <p:xfrm>
          <a:off x="941808" y="1701768"/>
          <a:ext cx="7051675" cy="977900"/>
        </p:xfrm>
        <a:graphic>
          <a:graphicData uri="http://schemas.openxmlformats.org/presentationml/2006/ole">
            <mc:AlternateContent xmlns:mc="http://schemas.openxmlformats.org/markup-compatibility/2006">
              <mc:Choice xmlns:v="urn:schemas-microsoft-com:vml" Requires="v">
                <p:oleObj spid="_x0000_s210254" name="Equation" r:id="rId3" imgW="3479800" imgH="482600" progId="Equation.DSMT4">
                  <p:embed/>
                </p:oleObj>
              </mc:Choice>
              <mc:Fallback>
                <p:oleObj name="Equation" r:id="rId3" imgW="3479800" imgH="482600" progId="Equation.DSMT4">
                  <p:embed/>
                  <p:pic>
                    <p:nvPicPr>
                      <p:cNvPr id="5"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808" y="1701768"/>
                        <a:ext cx="7051675" cy="977900"/>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5"/>
          <p:cNvGraphicFramePr>
            <a:graphicFrameLocks noChangeAspect="1"/>
          </p:cNvGraphicFramePr>
          <p:nvPr>
            <p:extLst>
              <p:ext uri="{D42A27DB-BD31-4B8C-83A1-F6EECF244321}">
                <p14:modId xmlns:p14="http://schemas.microsoft.com/office/powerpoint/2010/main" val="1062062091"/>
              </p:ext>
            </p:extLst>
          </p:nvPr>
        </p:nvGraphicFramePr>
        <p:xfrm>
          <a:off x="1254545" y="1023905"/>
          <a:ext cx="5119688" cy="554038"/>
        </p:xfrm>
        <a:graphic>
          <a:graphicData uri="http://schemas.openxmlformats.org/presentationml/2006/ole">
            <mc:AlternateContent xmlns:mc="http://schemas.openxmlformats.org/markup-compatibility/2006">
              <mc:Choice xmlns:v="urn:schemas-microsoft-com:vml" Requires="v">
                <p:oleObj spid="_x0000_s210255" name="Equation" r:id="rId5" imgW="2108200" imgH="228600" progId="Equation.DSMT4">
                  <p:embed/>
                </p:oleObj>
              </mc:Choice>
              <mc:Fallback>
                <p:oleObj name="Equation" r:id="rId5" imgW="2108200" imgH="228600" progId="Equation.DSMT4">
                  <p:embed/>
                  <p:pic>
                    <p:nvPicPr>
                      <p:cNvPr id="6"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4545" y="1023905"/>
                        <a:ext cx="5119688"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57"/>
          <p:cNvSpPr txBox="1">
            <a:spLocks noChangeArrowheads="1"/>
          </p:cNvSpPr>
          <p:nvPr/>
        </p:nvSpPr>
        <p:spPr bwMode="auto">
          <a:xfrm>
            <a:off x="792583" y="374618"/>
            <a:ext cx="571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假设在氧化层和</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界面存在的电荷分布为</a:t>
            </a:r>
          </a:p>
        </p:txBody>
      </p:sp>
      <p:sp>
        <p:nvSpPr>
          <p:cNvPr id="8" name="Rectangle 40"/>
          <p:cNvSpPr>
            <a:spLocks noChangeArrowheads="1"/>
          </p:cNvSpPr>
          <p:nvPr/>
        </p:nvSpPr>
        <p:spPr bwMode="auto">
          <a:xfrm>
            <a:off x="0" y="373694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9" name="Rectangle 42"/>
          <p:cNvSpPr>
            <a:spLocks noChangeArrowheads="1"/>
          </p:cNvSpPr>
          <p:nvPr/>
        </p:nvSpPr>
        <p:spPr bwMode="auto">
          <a:xfrm>
            <a:off x="0" y="3736943"/>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graphicFrame>
        <p:nvGraphicFramePr>
          <p:cNvPr id="10" name="Object 49"/>
          <p:cNvGraphicFramePr>
            <a:graphicFrameLocks noChangeAspect="1"/>
          </p:cNvGraphicFramePr>
          <p:nvPr>
            <p:extLst>
              <p:ext uri="{D42A27DB-BD31-4B8C-83A1-F6EECF244321}">
                <p14:modId xmlns:p14="http://schemas.microsoft.com/office/powerpoint/2010/main" val="3751096393"/>
              </p:ext>
            </p:extLst>
          </p:nvPr>
        </p:nvGraphicFramePr>
        <p:xfrm>
          <a:off x="1160104" y="3501907"/>
          <a:ext cx="6477000" cy="869950"/>
        </p:xfrm>
        <a:graphic>
          <a:graphicData uri="http://schemas.openxmlformats.org/presentationml/2006/ole">
            <mc:AlternateContent xmlns:mc="http://schemas.openxmlformats.org/markup-compatibility/2006">
              <mc:Choice xmlns:v="urn:schemas-microsoft-com:vml" Requires="v">
                <p:oleObj spid="_x0000_s210256" name="Equation" r:id="rId7" imgW="3238500" imgH="431800" progId="Equation.DSMT4">
                  <p:embed/>
                </p:oleObj>
              </mc:Choice>
              <mc:Fallback>
                <p:oleObj name="Equation" r:id="rId7" imgW="3238500" imgH="431800" progId="Equation.DSMT4">
                  <p:embed/>
                  <p:pic>
                    <p:nvPicPr>
                      <p:cNvPr id="62509"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0104" y="3501907"/>
                        <a:ext cx="64770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1"/>
          <p:cNvGraphicFramePr>
            <a:graphicFrameLocks noChangeAspect="1"/>
          </p:cNvGraphicFramePr>
          <p:nvPr>
            <p:extLst>
              <p:ext uri="{D42A27DB-BD31-4B8C-83A1-F6EECF244321}">
                <p14:modId xmlns:p14="http://schemas.microsoft.com/office/powerpoint/2010/main" val="2684733058"/>
              </p:ext>
            </p:extLst>
          </p:nvPr>
        </p:nvGraphicFramePr>
        <p:xfrm>
          <a:off x="3331025" y="4539960"/>
          <a:ext cx="2382837" cy="877887"/>
        </p:xfrm>
        <a:graphic>
          <a:graphicData uri="http://schemas.openxmlformats.org/presentationml/2006/ole">
            <mc:AlternateContent xmlns:mc="http://schemas.openxmlformats.org/markup-compatibility/2006">
              <mc:Choice xmlns:v="urn:schemas-microsoft-com:vml" Requires="v">
                <p:oleObj spid="_x0000_s210257" r:id="rId9" imgW="1193800" imgH="444500" progId="Equation.3">
                  <p:embed/>
                </p:oleObj>
              </mc:Choice>
              <mc:Fallback>
                <p:oleObj r:id="rId9" imgW="1193800" imgH="444500" progId="Equation.3">
                  <p:embed/>
                  <p:pic>
                    <p:nvPicPr>
                      <p:cNvPr id="62511" name="Object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1025" y="4539960"/>
                        <a:ext cx="2382837"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3"/>
          <p:cNvGraphicFramePr>
            <a:graphicFrameLocks noChangeAspect="1"/>
          </p:cNvGraphicFramePr>
          <p:nvPr>
            <p:extLst>
              <p:ext uri="{D42A27DB-BD31-4B8C-83A1-F6EECF244321}">
                <p14:modId xmlns:p14="http://schemas.microsoft.com/office/powerpoint/2010/main" val="2477168468"/>
              </p:ext>
            </p:extLst>
          </p:nvPr>
        </p:nvGraphicFramePr>
        <p:xfrm>
          <a:off x="5858325" y="4481222"/>
          <a:ext cx="2657475" cy="908050"/>
        </p:xfrm>
        <a:graphic>
          <a:graphicData uri="http://schemas.openxmlformats.org/presentationml/2006/ole">
            <mc:AlternateContent xmlns:mc="http://schemas.openxmlformats.org/markup-compatibility/2006">
              <mc:Choice xmlns:v="urn:schemas-microsoft-com:vml" Requires="v">
                <p:oleObj spid="_x0000_s210258" r:id="rId11" imgW="1269449" imgH="431613" progId="Equation.3">
                  <p:embed/>
                </p:oleObj>
              </mc:Choice>
              <mc:Fallback>
                <p:oleObj r:id="rId11" imgW="1269449" imgH="431613" progId="Equation.3">
                  <p:embed/>
                  <p:pic>
                    <p:nvPicPr>
                      <p:cNvPr id="62512" name="Object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8325" y="4481222"/>
                        <a:ext cx="265747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5"/>
          <p:cNvGraphicFramePr>
            <a:graphicFrameLocks noChangeAspect="1"/>
          </p:cNvGraphicFramePr>
          <p:nvPr>
            <p:extLst>
              <p:ext uri="{D42A27DB-BD31-4B8C-83A1-F6EECF244321}">
                <p14:modId xmlns:p14="http://schemas.microsoft.com/office/powerpoint/2010/main" val="1116338014"/>
              </p:ext>
            </p:extLst>
          </p:nvPr>
        </p:nvGraphicFramePr>
        <p:xfrm>
          <a:off x="2837680" y="5585950"/>
          <a:ext cx="5678120" cy="934952"/>
        </p:xfrm>
        <a:graphic>
          <a:graphicData uri="http://schemas.openxmlformats.org/presentationml/2006/ole">
            <mc:AlternateContent xmlns:mc="http://schemas.openxmlformats.org/markup-compatibility/2006">
              <mc:Choice xmlns:v="urn:schemas-microsoft-com:vml" Requires="v">
                <p:oleObj spid="_x0000_s210259" name="Equation" r:id="rId13" imgW="2641600" imgH="431800" progId="Equation.DSMT4">
                  <p:embed/>
                </p:oleObj>
              </mc:Choice>
              <mc:Fallback>
                <p:oleObj name="Equation" r:id="rId13" imgW="2641600" imgH="431800" progId="Equation.DSMT4">
                  <p:embed/>
                  <p:pic>
                    <p:nvPicPr>
                      <p:cNvPr id="62513"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37680" y="5585950"/>
                        <a:ext cx="5678120" cy="934952"/>
                      </a:xfrm>
                      <a:prstGeom prst="rect">
                        <a:avLst/>
                      </a:prstGeom>
                      <a:noFill/>
                      <a:ln>
                        <a:noFill/>
                      </a:ln>
                      <a:extLst/>
                    </p:spPr>
                  </p:pic>
                </p:oleObj>
              </mc:Fallback>
            </mc:AlternateContent>
          </a:graphicData>
        </a:graphic>
      </p:graphicFrame>
      <p:sp>
        <p:nvSpPr>
          <p:cNvPr id="14" name="Text Box 60"/>
          <p:cNvSpPr txBox="1">
            <a:spLocks noChangeArrowheads="1"/>
          </p:cNvSpPr>
          <p:nvPr/>
        </p:nvSpPr>
        <p:spPr bwMode="auto">
          <a:xfrm>
            <a:off x="539750" y="2803493"/>
            <a:ext cx="843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存在界面和氧化层电荷等非理想因素时，栅方程改写为：</a:t>
            </a:r>
          </a:p>
        </p:txBody>
      </p:sp>
      <p:sp>
        <p:nvSpPr>
          <p:cNvPr id="15" name="Text Box 61"/>
          <p:cNvSpPr txBox="1">
            <a:spLocks noChangeArrowheads="1"/>
          </p:cNvSpPr>
          <p:nvPr/>
        </p:nvSpPr>
        <p:spPr bwMode="auto">
          <a:xfrm>
            <a:off x="222700" y="4946360"/>
            <a:ext cx="29638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同时考虑功函数影响的平带条件为：</a:t>
            </a:r>
          </a:p>
        </p:txBody>
      </p:sp>
    </p:spTree>
    <p:extLst>
      <p:ext uri="{BB962C8B-B14F-4D97-AF65-F5344CB8AC3E}">
        <p14:creationId xmlns:p14="http://schemas.microsoft.com/office/powerpoint/2010/main" val="33820984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44</a:t>
            </a:fld>
            <a:endParaRPr lang="zh-CN" altLang="en-US"/>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839" y="869351"/>
            <a:ext cx="7686675"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91029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45</a:t>
            </a:fld>
            <a:endParaRPr lang="zh-CN" altLang="en-US"/>
          </a:p>
        </p:txBody>
      </p:sp>
      <p:sp>
        <p:nvSpPr>
          <p:cNvPr id="3" name="Text Box 3"/>
          <p:cNvSpPr txBox="1">
            <a:spLocks noChangeArrowheads="1"/>
          </p:cNvSpPr>
          <p:nvPr/>
        </p:nvSpPr>
        <p:spPr bwMode="auto">
          <a:xfrm>
            <a:off x="340322" y="338707"/>
            <a:ext cx="808768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非</a:t>
            </a:r>
            <a:r>
              <a:rPr kumimoji="1" lang="zh-CN" altLang="en-US" sz="2400" b="1" i="0" u="none" strike="noStrike" kern="0" cap="none" spc="0" normalizeH="0" baseline="0" noProof="0" dirty="0">
                <a:ln>
                  <a:noFill/>
                </a:ln>
                <a:solidFill>
                  <a:srgbClr val="FF3300"/>
                </a:solidFill>
                <a:effectLst/>
                <a:uLnTx/>
                <a:uFillTx/>
                <a:latin typeface="Times New Roman" pitchFamily="18" charset="0"/>
                <a:ea typeface="宋体" pitchFamily="2" charset="-122"/>
              </a:rPr>
              <a:t>理想</a:t>
            </a: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因素三：多晶硅耗尽效应</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sp>
        <p:nvSpPr>
          <p:cNvPr id="4" name="Rectangle 39"/>
          <p:cNvSpPr>
            <a:spLocks noChangeArrowheads="1"/>
          </p:cNvSpPr>
          <p:nvPr/>
        </p:nvSpPr>
        <p:spPr bwMode="auto">
          <a:xfrm>
            <a:off x="-54966" y="2428695"/>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graphicFrame>
        <p:nvGraphicFramePr>
          <p:cNvPr id="5" name="Object 40"/>
          <p:cNvGraphicFramePr>
            <a:graphicFrameLocks noChangeAspect="1"/>
          </p:cNvGraphicFramePr>
          <p:nvPr>
            <p:extLst>
              <p:ext uri="{D42A27DB-BD31-4B8C-83A1-F6EECF244321}">
                <p14:modId xmlns:p14="http://schemas.microsoft.com/office/powerpoint/2010/main" val="504498911"/>
              </p:ext>
            </p:extLst>
          </p:nvPr>
        </p:nvGraphicFramePr>
        <p:xfrm>
          <a:off x="1276947" y="3654245"/>
          <a:ext cx="4895850" cy="989013"/>
        </p:xfrm>
        <a:graphic>
          <a:graphicData uri="http://schemas.openxmlformats.org/presentationml/2006/ole">
            <mc:AlternateContent xmlns:mc="http://schemas.openxmlformats.org/markup-compatibility/2006">
              <mc:Choice xmlns:v="urn:schemas-microsoft-com:vml" Requires="v">
                <p:oleObj spid="_x0000_s211056" name="Equation" r:id="rId3" imgW="2374900" imgH="482600" progId="Equation.DSMT4">
                  <p:embed/>
                </p:oleObj>
              </mc:Choice>
              <mc:Fallback>
                <p:oleObj name="Equation" r:id="rId3" imgW="2374900" imgH="482600" progId="Equation.DSMT4">
                  <p:embed/>
                  <p:pic>
                    <p:nvPicPr>
                      <p:cNvPr id="64552"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6947" y="3654245"/>
                        <a:ext cx="4895850" cy="989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42"/>
          <p:cNvSpPr txBox="1">
            <a:spLocks noChangeArrowheads="1"/>
          </p:cNvSpPr>
          <p:nvPr/>
        </p:nvSpPr>
        <p:spPr bwMode="auto">
          <a:xfrm>
            <a:off x="340322" y="1134883"/>
            <a:ext cx="8497887"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4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在集成电路技术中，传统的栅电极为重掺杂多晶硅栅。重掺杂多晶硅作为栅电极的好处是：</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1</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）易于实现自对准工艺；</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）易于通过掺杂实现功函数的调制。通常，将</a:t>
            </a:r>
            <a:r>
              <a:rPr kumimoji="1" lang="en-US" altLang="zh-CN" sz="2400" b="1" i="0" u="none" strike="noStrike" kern="0" cap="none" spc="0" normalizeH="0" baseline="0" noProof="0" dirty="0" err="1">
                <a:ln>
                  <a:noFill/>
                </a:ln>
                <a:solidFill>
                  <a:srgbClr val="000000"/>
                </a:solidFill>
                <a:effectLst/>
                <a:uLnTx/>
                <a:uFillTx/>
                <a:latin typeface="Times New Roman" pitchFamily="18" charset="0"/>
                <a:ea typeface="宋体" pitchFamily="2" charset="-122"/>
              </a:rPr>
              <a:t>nMOS</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和</a:t>
            </a:r>
            <a:r>
              <a:rPr kumimoji="1" lang="en-US" altLang="zh-CN" sz="2400" b="1" i="0" u="none" strike="noStrike" kern="0" cap="none" spc="0" normalizeH="0" baseline="0" noProof="0" dirty="0" err="1">
                <a:ln>
                  <a:noFill/>
                </a:ln>
                <a:solidFill>
                  <a:srgbClr val="000000"/>
                </a:solidFill>
                <a:effectLst/>
                <a:uLnTx/>
                <a:uFillTx/>
                <a:latin typeface="Times New Roman" pitchFamily="18" charset="0"/>
                <a:ea typeface="宋体" pitchFamily="2" charset="-122"/>
              </a:rPr>
              <a:t>pMOS</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的多晶硅栅电极的费米能级分别调至导带和价带附近，即</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f</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C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或</a:t>
            </a:r>
            <a:r>
              <a:rPr kumimoji="1" lang="en-US" altLang="zh-CN" sz="2400" b="1" i="1" u="none" strike="noStrike" kern="0" cap="none" spc="0" normalizeH="0" baseline="0" noProof="0" dirty="0" err="1">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err="1">
                <a:ln>
                  <a:noFill/>
                </a:ln>
                <a:solidFill>
                  <a:srgbClr val="000000"/>
                </a:solidFill>
                <a:effectLst/>
                <a:uLnTx/>
                <a:uFillTx/>
                <a:latin typeface="Times New Roman" pitchFamily="18" charset="0"/>
                <a:ea typeface="宋体" pitchFamily="2" charset="-122"/>
              </a:rPr>
              <a:t>f</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=E</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V</a:t>
            </a:r>
            <a:r>
              <a:rPr kumimoji="1" lang="zh-CN" altLang="en-US"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功函数差分别为：</a:t>
            </a:r>
          </a:p>
        </p:txBody>
      </p:sp>
      <p:sp>
        <p:nvSpPr>
          <p:cNvPr id="7" name="Text Box 43"/>
          <p:cNvSpPr txBox="1">
            <a:spLocks noChangeArrowheads="1"/>
          </p:cNvSpPr>
          <p:nvPr/>
        </p:nvSpPr>
        <p:spPr bwMode="auto">
          <a:xfrm>
            <a:off x="6461722" y="394317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nMOS</a:t>
            </a:r>
          </a:p>
        </p:txBody>
      </p:sp>
      <p:sp>
        <p:nvSpPr>
          <p:cNvPr id="8" name="Text Box 44"/>
          <p:cNvSpPr txBox="1">
            <a:spLocks noChangeArrowheads="1"/>
          </p:cNvSpPr>
          <p:nvPr/>
        </p:nvSpPr>
        <p:spPr bwMode="auto">
          <a:xfrm>
            <a:off x="6461722" y="502267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pMOS</a:t>
            </a:r>
          </a:p>
        </p:txBody>
      </p:sp>
      <p:graphicFrame>
        <p:nvGraphicFramePr>
          <p:cNvPr id="9" name="Object 83"/>
          <p:cNvGraphicFramePr>
            <a:graphicFrameLocks noChangeAspect="1"/>
          </p:cNvGraphicFramePr>
          <p:nvPr>
            <p:extLst>
              <p:ext uri="{D42A27DB-BD31-4B8C-83A1-F6EECF244321}">
                <p14:modId xmlns:p14="http://schemas.microsoft.com/office/powerpoint/2010/main" val="932311022"/>
              </p:ext>
            </p:extLst>
          </p:nvPr>
        </p:nvGraphicFramePr>
        <p:xfrm>
          <a:off x="1276947" y="4816295"/>
          <a:ext cx="4679950" cy="998538"/>
        </p:xfrm>
        <a:graphic>
          <a:graphicData uri="http://schemas.openxmlformats.org/presentationml/2006/ole">
            <mc:AlternateContent xmlns:mc="http://schemas.openxmlformats.org/markup-compatibility/2006">
              <mc:Choice xmlns:v="urn:schemas-microsoft-com:vml" Requires="v">
                <p:oleObj spid="_x0000_s211057" name="Equation" r:id="rId5" imgW="2247900" imgH="482600" progId="Equation.DSMT4">
                  <p:embed/>
                </p:oleObj>
              </mc:Choice>
              <mc:Fallback>
                <p:oleObj name="Equation" r:id="rId5" imgW="2247900" imgH="482600" progId="Equation.DSMT4">
                  <p:embed/>
                  <p:pic>
                    <p:nvPicPr>
                      <p:cNvPr id="64557" name="Object 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6947" y="4816295"/>
                        <a:ext cx="4679950" cy="9985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1981412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46</a:t>
            </a:fld>
            <a:endParaRPr lang="zh-CN" altLang="en-US"/>
          </a:p>
        </p:txBody>
      </p:sp>
      <p:sp>
        <p:nvSpPr>
          <p:cNvPr id="3" name="Rectangle 39"/>
          <p:cNvSpPr>
            <a:spLocks noChangeArrowheads="1"/>
          </p:cNvSpPr>
          <p:nvPr/>
        </p:nvSpPr>
        <p:spPr bwMode="auto">
          <a:xfrm>
            <a:off x="-129396" y="248908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4" name="Text Box 42"/>
          <p:cNvSpPr txBox="1">
            <a:spLocks noChangeArrowheads="1"/>
          </p:cNvSpPr>
          <p:nvPr/>
        </p:nvSpPr>
        <p:spPr bwMode="auto">
          <a:xfrm>
            <a:off x="303992" y="440188"/>
            <a:ext cx="8343900" cy="147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50000"/>
              </a:spcBef>
              <a:spcAft>
                <a:spcPct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pitchFamily="2" charset="-122"/>
              </a:rPr>
              <a:t>当</a:t>
            </a:r>
            <a:r>
              <a:rPr kumimoji="1" lang="en-US" altLang="zh-CN" sz="2800" b="1" i="0" u="none" strike="noStrike" kern="0" cap="none" spc="0" normalizeH="0" baseline="0" noProof="0" dirty="0">
                <a:ln>
                  <a:noFill/>
                </a:ln>
                <a:solidFill>
                  <a:srgbClr val="000000"/>
                </a:solidFill>
                <a:effectLst/>
                <a:uLnTx/>
                <a:uFillTx/>
                <a:latin typeface="Times New Roman" pitchFamily="18" charset="0"/>
                <a:ea typeface="宋体" pitchFamily="2" charset="-122"/>
              </a:rPr>
              <a:t>MOS</a:t>
            </a: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pitchFamily="2" charset="-122"/>
              </a:rPr>
              <a:t>器件按摩尔定律规律缩小到超深亚微米尺度，在多晶硅栅</a:t>
            </a:r>
            <a:r>
              <a:rPr kumimoji="1" lang="en-US" altLang="zh-CN" sz="2800" b="1" i="0" u="none" strike="noStrike" kern="0" cap="none" spc="0" normalizeH="0" baseline="0" noProof="0" dirty="0">
                <a:ln>
                  <a:noFill/>
                </a:ln>
                <a:solidFill>
                  <a:srgbClr val="000000"/>
                </a:solidFill>
                <a:effectLst/>
                <a:uLnTx/>
                <a:uFillTx/>
                <a:latin typeface="Times New Roman" pitchFamily="18" charset="0"/>
                <a:ea typeface="宋体" pitchFamily="2" charset="-122"/>
              </a:rPr>
              <a:t>MOS</a:t>
            </a:r>
            <a:r>
              <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pitchFamily="2" charset="-122"/>
              </a:rPr>
              <a:t>结构器件中，观察到了反型电容下降的现象</a:t>
            </a:r>
            <a:r>
              <a:rPr kumimoji="1" lang="zh-CN" altLang="en-US" sz="28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a:t>
            </a:r>
            <a:endParaRPr kumimoji="1" lang="zh-CN" altLang="en-US" sz="28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pic>
        <p:nvPicPr>
          <p:cNvPr id="5" name="Picture 1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817" y="2130950"/>
            <a:ext cx="50482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p:nvPr/>
        </p:nvSpPr>
        <p:spPr bwMode="auto">
          <a:xfrm>
            <a:off x="532170" y="4651230"/>
            <a:ext cx="8156327" cy="1514261"/>
          </a:xfrm>
          <a:prstGeom prst="rect">
            <a:avLst/>
          </a:prstGeom>
          <a:noFill/>
          <a:ln w="12700" cap="sq">
            <a:noFill/>
            <a:miter lim="800000"/>
            <a:headEnd type="none" w="sm" len="sm"/>
            <a:tailEnd type="none" w="sm" len="sm"/>
          </a:ln>
          <a:effectLst/>
        </p:spPr>
        <p:txBody>
          <a:bodyPr wrap="square" rtlCol="0">
            <a:spAutoFit/>
          </a:bodyPr>
          <a:lstStyle/>
          <a:p>
            <a:pPr defTabSz="914400" fontAlgn="base">
              <a:lnSpc>
                <a:spcPct val="110000"/>
              </a:lnSpc>
              <a:spcBef>
                <a:spcPct val="50000"/>
              </a:spcBef>
              <a:spcAft>
                <a:spcPct val="0"/>
              </a:spcAft>
            </a:pPr>
            <a:r>
              <a:rPr kumimoji="1" lang="zh-CN" altLang="en-US" sz="2800" b="1" dirty="0">
                <a:solidFill>
                  <a:srgbClr val="000000"/>
                </a:solidFill>
                <a:latin typeface="Times New Roman" pitchFamily="18" charset="0"/>
                <a:ea typeface="宋体" pitchFamily="2" charset="-122"/>
              </a:rPr>
              <a:t>研究分析后，该现象与多晶硅栅中发生的载流子耗尽现象有关，称为多晶硅栅耗尽效应 </a:t>
            </a:r>
            <a:r>
              <a:rPr kumimoji="1" lang="en-US" altLang="zh-CN" sz="2800" b="1" dirty="0">
                <a:solidFill>
                  <a:srgbClr val="000000"/>
                </a:solidFill>
                <a:latin typeface="Times New Roman" pitchFamily="18" charset="0"/>
                <a:ea typeface="宋体" pitchFamily="2" charset="-122"/>
              </a:rPr>
              <a:t>(</a:t>
            </a:r>
            <a:r>
              <a:rPr kumimoji="1" lang="en-US" altLang="zh-CN" sz="2800" b="1" dirty="0" err="1">
                <a:solidFill>
                  <a:srgbClr val="000000"/>
                </a:solidFill>
                <a:latin typeface="Times New Roman" pitchFamily="18" charset="0"/>
                <a:ea typeface="宋体" pitchFamily="2" charset="-122"/>
              </a:rPr>
              <a:t>Polysilicon</a:t>
            </a:r>
            <a:r>
              <a:rPr kumimoji="1" lang="en-US" altLang="zh-CN" sz="2800" b="1" dirty="0">
                <a:solidFill>
                  <a:srgbClr val="000000"/>
                </a:solidFill>
                <a:latin typeface="Times New Roman" pitchFamily="18" charset="0"/>
                <a:ea typeface="宋体" pitchFamily="2" charset="-122"/>
              </a:rPr>
              <a:t>-gate Depletion Effects)</a:t>
            </a:r>
            <a:r>
              <a:rPr kumimoji="1" lang="zh-CN" altLang="en-US" sz="2800" b="1" dirty="0">
                <a:solidFill>
                  <a:srgbClr val="000000"/>
                </a:solidFill>
                <a:latin typeface="Times New Roman" pitchFamily="18" charset="0"/>
                <a:ea typeface="宋体" pitchFamily="2" charset="-122"/>
              </a:rPr>
              <a:t>。</a:t>
            </a:r>
          </a:p>
        </p:txBody>
      </p:sp>
    </p:spTree>
    <p:extLst>
      <p:ext uri="{BB962C8B-B14F-4D97-AF65-F5344CB8AC3E}">
        <p14:creationId xmlns:p14="http://schemas.microsoft.com/office/powerpoint/2010/main" val="737004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47</a:t>
            </a:fld>
            <a:endParaRPr lang="zh-CN" altLang="en-US"/>
          </a:p>
        </p:txBody>
      </p:sp>
      <p:graphicFrame>
        <p:nvGraphicFramePr>
          <p:cNvPr id="3" name="Object 40"/>
          <p:cNvGraphicFramePr>
            <a:graphicFrameLocks noChangeAspect="1"/>
          </p:cNvGraphicFramePr>
          <p:nvPr>
            <p:extLst>
              <p:ext uri="{D42A27DB-BD31-4B8C-83A1-F6EECF244321}">
                <p14:modId xmlns:p14="http://schemas.microsoft.com/office/powerpoint/2010/main" val="4271975904"/>
              </p:ext>
            </p:extLst>
          </p:nvPr>
        </p:nvGraphicFramePr>
        <p:xfrm>
          <a:off x="2343150" y="2368310"/>
          <a:ext cx="1979612" cy="863600"/>
        </p:xfrm>
        <a:graphic>
          <a:graphicData uri="http://schemas.openxmlformats.org/presentationml/2006/ole">
            <mc:AlternateContent xmlns:mc="http://schemas.openxmlformats.org/markup-compatibility/2006">
              <mc:Choice xmlns:v="urn:schemas-microsoft-com:vml" Requires="v">
                <p:oleObj spid="_x0000_s212245" name="Equation" r:id="rId3" imgW="990170" imgH="431613" progId="Equation.DSMT4">
                  <p:embed/>
                </p:oleObj>
              </mc:Choice>
              <mc:Fallback>
                <p:oleObj name="Equation" r:id="rId3" imgW="990170" imgH="431613" progId="Equation.DSMT4">
                  <p:embed/>
                  <p:pic>
                    <p:nvPicPr>
                      <p:cNvPr id="65575"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150" y="2368310"/>
                        <a:ext cx="19796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41"/>
          <p:cNvGraphicFramePr>
            <a:graphicFrameLocks noChangeAspect="1"/>
          </p:cNvGraphicFramePr>
          <p:nvPr>
            <p:extLst>
              <p:ext uri="{D42A27DB-BD31-4B8C-83A1-F6EECF244321}">
                <p14:modId xmlns:p14="http://schemas.microsoft.com/office/powerpoint/2010/main" val="700883797"/>
              </p:ext>
            </p:extLst>
          </p:nvPr>
        </p:nvGraphicFramePr>
        <p:xfrm>
          <a:off x="1819540" y="1504710"/>
          <a:ext cx="3175000" cy="863600"/>
        </p:xfrm>
        <a:graphic>
          <a:graphicData uri="http://schemas.openxmlformats.org/presentationml/2006/ole">
            <mc:AlternateContent xmlns:mc="http://schemas.openxmlformats.org/markup-compatibility/2006">
              <mc:Choice xmlns:v="urn:schemas-microsoft-com:vml" Requires="v">
                <p:oleObj spid="_x0000_s212246" name="Equation" r:id="rId5" imgW="1587500" imgH="431800" progId="Equation.DSMT4">
                  <p:embed/>
                </p:oleObj>
              </mc:Choice>
              <mc:Fallback>
                <p:oleObj name="Equation" r:id="rId5" imgW="1587500" imgH="431800" progId="Equation.DSMT4">
                  <p:embed/>
                  <p:pic>
                    <p:nvPicPr>
                      <p:cNvPr id="65576"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540" y="1504710"/>
                        <a:ext cx="3175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43"/>
          <p:cNvSpPr txBox="1">
            <a:spLocks noChangeArrowheads="1"/>
          </p:cNvSpPr>
          <p:nvPr/>
        </p:nvSpPr>
        <p:spPr bwMode="auto">
          <a:xfrm>
            <a:off x="531019" y="3268423"/>
            <a:ext cx="4957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其中，</a:t>
            </a: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Q</a:t>
            </a:r>
            <a:r>
              <a:rPr kumimoji="1" lang="en-US" altLang="zh-CN" sz="2400" b="1" i="1" u="none" strike="noStrike" kern="0" cap="none" spc="0" normalizeH="0" baseline="-25000" noProof="0" dirty="0">
                <a:ln>
                  <a:noFill/>
                </a:ln>
                <a:solidFill>
                  <a:srgbClr val="000000"/>
                </a:solidFill>
                <a:effectLst/>
                <a:uLnTx/>
                <a:uFillTx/>
                <a:latin typeface="Times New Roman" pitchFamily="18" charset="0"/>
                <a:ea typeface="宋体" pitchFamily="2" charset="-122"/>
              </a:rPr>
              <a:t>S </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是多晶硅中的耗尽电荷</a:t>
            </a:r>
          </a:p>
        </p:txBody>
      </p:sp>
      <p:graphicFrame>
        <p:nvGraphicFramePr>
          <p:cNvPr id="6" name="Object 44"/>
          <p:cNvGraphicFramePr>
            <a:graphicFrameLocks noChangeAspect="1"/>
          </p:cNvGraphicFramePr>
          <p:nvPr>
            <p:extLst>
              <p:ext uri="{D42A27DB-BD31-4B8C-83A1-F6EECF244321}">
                <p14:modId xmlns:p14="http://schemas.microsoft.com/office/powerpoint/2010/main" val="3549829657"/>
              </p:ext>
            </p:extLst>
          </p:nvPr>
        </p:nvGraphicFramePr>
        <p:xfrm>
          <a:off x="3635375" y="3810380"/>
          <a:ext cx="2640013" cy="889000"/>
        </p:xfrm>
        <a:graphic>
          <a:graphicData uri="http://schemas.openxmlformats.org/presentationml/2006/ole">
            <mc:AlternateContent xmlns:mc="http://schemas.openxmlformats.org/markup-compatibility/2006">
              <mc:Choice xmlns:v="urn:schemas-microsoft-com:vml" Requires="v">
                <p:oleObj spid="_x0000_s212247" r:id="rId7" imgW="1320227" imgH="444307" progId="Equation.3">
                  <p:embed/>
                </p:oleObj>
              </mc:Choice>
              <mc:Fallback>
                <p:oleObj r:id="rId7" imgW="1320227" imgH="444307" progId="Equation.3">
                  <p:embed/>
                  <p:pic>
                    <p:nvPicPr>
                      <p:cNvPr id="65579"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375" y="3810380"/>
                        <a:ext cx="2640013"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5"/>
          <p:cNvGraphicFramePr>
            <a:graphicFrameLocks noChangeAspect="1"/>
          </p:cNvGraphicFramePr>
          <p:nvPr>
            <p:extLst>
              <p:ext uri="{D42A27DB-BD31-4B8C-83A1-F6EECF244321}">
                <p14:modId xmlns:p14="http://schemas.microsoft.com/office/powerpoint/2010/main" val="2009603738"/>
              </p:ext>
            </p:extLst>
          </p:nvPr>
        </p:nvGraphicFramePr>
        <p:xfrm>
          <a:off x="1476375" y="4746385"/>
          <a:ext cx="3784600" cy="482600"/>
        </p:xfrm>
        <a:graphic>
          <a:graphicData uri="http://schemas.openxmlformats.org/presentationml/2006/ole">
            <mc:AlternateContent xmlns:mc="http://schemas.openxmlformats.org/markup-compatibility/2006">
              <mc:Choice xmlns:v="urn:schemas-microsoft-com:vml" Requires="v">
                <p:oleObj spid="_x0000_s212248" r:id="rId9" imgW="1892300" imgH="241300" progId="Equation.3">
                  <p:embed/>
                </p:oleObj>
              </mc:Choice>
              <mc:Fallback>
                <p:oleObj r:id="rId9" imgW="1892300" imgH="241300" progId="Equation.3">
                  <p:embed/>
                  <p:pic>
                    <p:nvPicPr>
                      <p:cNvPr id="6558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4746385"/>
                        <a:ext cx="3784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46"/>
          <p:cNvSpPr txBox="1">
            <a:spLocks noChangeArrowheads="1"/>
          </p:cNvSpPr>
          <p:nvPr/>
        </p:nvSpPr>
        <p:spPr bwMode="auto">
          <a:xfrm>
            <a:off x="827088" y="398818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总电容可表示为：</a:t>
            </a:r>
          </a:p>
        </p:txBody>
      </p:sp>
      <p:sp>
        <p:nvSpPr>
          <p:cNvPr id="9" name="Text Box 47"/>
          <p:cNvSpPr txBox="1">
            <a:spLocks noChangeArrowheads="1"/>
          </p:cNvSpPr>
          <p:nvPr/>
        </p:nvSpPr>
        <p:spPr bwMode="auto">
          <a:xfrm>
            <a:off x="433388" y="471781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其中：</a:t>
            </a:r>
          </a:p>
        </p:txBody>
      </p:sp>
      <p:sp>
        <p:nvSpPr>
          <p:cNvPr id="10" name="Text Box 48"/>
          <p:cNvSpPr txBox="1">
            <a:spLocks noChangeArrowheads="1"/>
          </p:cNvSpPr>
          <p:nvPr/>
        </p:nvSpPr>
        <p:spPr bwMode="auto">
          <a:xfrm>
            <a:off x="5219700" y="4743210"/>
            <a:ext cx="295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是多晶硅耗尽层电容</a:t>
            </a:r>
          </a:p>
        </p:txBody>
      </p:sp>
      <p:graphicFrame>
        <p:nvGraphicFramePr>
          <p:cNvPr id="11" name="Object 50"/>
          <p:cNvGraphicFramePr>
            <a:graphicFrameLocks noChangeAspect="1"/>
          </p:cNvGraphicFramePr>
          <p:nvPr>
            <p:extLst>
              <p:ext uri="{D42A27DB-BD31-4B8C-83A1-F6EECF244321}">
                <p14:modId xmlns:p14="http://schemas.microsoft.com/office/powerpoint/2010/main" val="1010153758"/>
              </p:ext>
            </p:extLst>
          </p:nvPr>
        </p:nvGraphicFramePr>
        <p:xfrm>
          <a:off x="1450975" y="5251210"/>
          <a:ext cx="430213" cy="457200"/>
        </p:xfrm>
        <a:graphic>
          <a:graphicData uri="http://schemas.openxmlformats.org/presentationml/2006/ole">
            <mc:AlternateContent xmlns:mc="http://schemas.openxmlformats.org/markup-compatibility/2006">
              <mc:Choice xmlns:v="urn:schemas-microsoft-com:vml" Requires="v">
                <p:oleObj spid="_x0000_s212249" name="Equation" r:id="rId11" imgW="215806" imgH="228501" progId="Equation.DSMT4">
                  <p:embed/>
                </p:oleObj>
              </mc:Choice>
              <mc:Fallback>
                <p:oleObj name="Equation" r:id="rId11" imgW="215806" imgH="228501" progId="Equation.DSMT4">
                  <p:embed/>
                  <p:pic>
                    <p:nvPicPr>
                      <p:cNvPr id="65584"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50975" y="5251210"/>
                        <a:ext cx="430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51"/>
          <p:cNvSpPr txBox="1">
            <a:spLocks noChangeArrowheads="1"/>
          </p:cNvSpPr>
          <p:nvPr/>
        </p:nvSpPr>
        <p:spPr bwMode="auto">
          <a:xfrm>
            <a:off x="1836738" y="5276610"/>
            <a:ext cx="453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是由于多晶硅耗尽形成的表面势</a:t>
            </a:r>
          </a:p>
        </p:txBody>
      </p:sp>
      <p:sp>
        <p:nvSpPr>
          <p:cNvPr id="13" name="Rectangle 52"/>
          <p:cNvSpPr>
            <a:spLocks noChangeArrowheads="1"/>
          </p:cNvSpPr>
          <p:nvPr/>
        </p:nvSpPr>
        <p:spPr bwMode="auto">
          <a:xfrm>
            <a:off x="686594" y="786044"/>
            <a:ext cx="52341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kumimoji="1" lang="zh-CN" altLang="en-US" sz="2800" b="1" dirty="0">
                <a:solidFill>
                  <a:srgbClr val="FF3300"/>
                </a:solidFill>
                <a:latin typeface="Times New Roman" pitchFamily="18" charset="0"/>
                <a:ea typeface="宋体" pitchFamily="2" charset="-122"/>
              </a:rPr>
              <a:t>采用多晶硅栅时的栅方程写为：</a:t>
            </a:r>
          </a:p>
        </p:txBody>
      </p:sp>
    </p:spTree>
    <p:extLst>
      <p:ext uri="{BB962C8B-B14F-4D97-AF65-F5344CB8AC3E}">
        <p14:creationId xmlns:p14="http://schemas.microsoft.com/office/powerpoint/2010/main" val="21103034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48</a:t>
            </a:fld>
            <a:endParaRPr lang="zh-CN" altLang="en-US"/>
          </a:p>
        </p:txBody>
      </p:sp>
      <p:graphicFrame>
        <p:nvGraphicFramePr>
          <p:cNvPr id="3" name="Object 41"/>
          <p:cNvGraphicFramePr>
            <a:graphicFrameLocks noChangeAspect="1"/>
          </p:cNvGraphicFramePr>
          <p:nvPr>
            <p:extLst>
              <p:ext uri="{D42A27DB-BD31-4B8C-83A1-F6EECF244321}">
                <p14:modId xmlns:p14="http://schemas.microsoft.com/office/powerpoint/2010/main" val="2955985957"/>
              </p:ext>
            </p:extLst>
          </p:nvPr>
        </p:nvGraphicFramePr>
        <p:xfrm>
          <a:off x="611188" y="5027642"/>
          <a:ext cx="3606800" cy="939800"/>
        </p:xfrm>
        <a:graphic>
          <a:graphicData uri="http://schemas.openxmlformats.org/presentationml/2006/ole">
            <mc:AlternateContent xmlns:mc="http://schemas.openxmlformats.org/markup-compatibility/2006">
              <mc:Choice xmlns:v="urn:schemas-microsoft-com:vml" Requires="v">
                <p:oleObj spid="_x0000_s213218" r:id="rId3" imgW="1803400" imgH="469900" progId="Equation.3">
                  <p:embed/>
                </p:oleObj>
              </mc:Choice>
              <mc:Fallback>
                <p:oleObj r:id="rId3" imgW="1803400" imgH="469900" progId="Equation.3">
                  <p:embed/>
                  <p:pic>
                    <p:nvPicPr>
                      <p:cNvPr id="66599"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5027642"/>
                        <a:ext cx="36068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43"/>
          <p:cNvGraphicFramePr>
            <a:graphicFrameLocks noChangeAspect="1"/>
          </p:cNvGraphicFramePr>
          <p:nvPr>
            <p:extLst>
              <p:ext uri="{D42A27DB-BD31-4B8C-83A1-F6EECF244321}">
                <p14:modId xmlns:p14="http://schemas.microsoft.com/office/powerpoint/2010/main" val="3653359188"/>
              </p:ext>
            </p:extLst>
          </p:nvPr>
        </p:nvGraphicFramePr>
        <p:xfrm>
          <a:off x="4157663" y="392538"/>
          <a:ext cx="2717800" cy="914400"/>
        </p:xfrm>
        <a:graphic>
          <a:graphicData uri="http://schemas.openxmlformats.org/presentationml/2006/ole">
            <mc:AlternateContent xmlns:mc="http://schemas.openxmlformats.org/markup-compatibility/2006">
              <mc:Choice xmlns:v="urn:schemas-microsoft-com:vml" Requires="v">
                <p:oleObj spid="_x0000_s213219" name="Equation" r:id="rId5" imgW="1358900" imgH="457200" progId="Equation.DSMT4">
                  <p:embed/>
                </p:oleObj>
              </mc:Choice>
              <mc:Fallback>
                <p:oleObj name="Equation" r:id="rId5" imgW="1358900" imgH="457200" progId="Equation.DSMT4">
                  <p:embed/>
                  <p:pic>
                    <p:nvPicPr>
                      <p:cNvPr id="66601"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7663" y="392538"/>
                        <a:ext cx="2717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44"/>
          <p:cNvSpPr txBox="1">
            <a:spLocks noChangeArrowheads="1"/>
          </p:cNvSpPr>
          <p:nvPr/>
        </p:nvSpPr>
        <p:spPr bwMode="auto">
          <a:xfrm>
            <a:off x="539750" y="629075"/>
            <a:ext cx="5673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当</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p-Si</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衬底处于强反型时，</a:t>
            </a:r>
          </a:p>
        </p:txBody>
      </p:sp>
      <p:sp>
        <p:nvSpPr>
          <p:cNvPr id="6" name="Text Box 45"/>
          <p:cNvSpPr txBox="1">
            <a:spLocks noChangeArrowheads="1"/>
          </p:cNvSpPr>
          <p:nvPr/>
        </p:nvSpPr>
        <p:spPr bwMode="auto">
          <a:xfrm>
            <a:off x="539750" y="1541527"/>
            <a:ext cx="273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利用耗尽近似：</a:t>
            </a:r>
          </a:p>
        </p:txBody>
      </p:sp>
      <p:graphicFrame>
        <p:nvGraphicFramePr>
          <p:cNvPr id="7" name="Object 47"/>
          <p:cNvGraphicFramePr>
            <a:graphicFrameLocks noChangeAspect="1"/>
          </p:cNvGraphicFramePr>
          <p:nvPr>
            <p:extLst>
              <p:ext uri="{D42A27DB-BD31-4B8C-83A1-F6EECF244321}">
                <p14:modId xmlns:p14="http://schemas.microsoft.com/office/powerpoint/2010/main" val="1856942687"/>
              </p:ext>
            </p:extLst>
          </p:nvPr>
        </p:nvGraphicFramePr>
        <p:xfrm>
          <a:off x="1622425" y="2886735"/>
          <a:ext cx="2157413" cy="482600"/>
        </p:xfrm>
        <a:graphic>
          <a:graphicData uri="http://schemas.openxmlformats.org/presentationml/2006/ole">
            <mc:AlternateContent xmlns:mc="http://schemas.openxmlformats.org/markup-compatibility/2006">
              <mc:Choice xmlns:v="urn:schemas-microsoft-com:vml" Requires="v">
                <p:oleObj spid="_x0000_s213220" r:id="rId7" imgW="1079032" imgH="241195" progId="Equation.3">
                  <p:embed/>
                </p:oleObj>
              </mc:Choice>
              <mc:Fallback>
                <p:oleObj r:id="rId7" imgW="1079032" imgH="241195" progId="Equation.3">
                  <p:embed/>
                  <p:pic>
                    <p:nvPicPr>
                      <p:cNvPr id="66605"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2425" y="2886735"/>
                        <a:ext cx="21574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48"/>
          <p:cNvSpPr txBox="1">
            <a:spLocks noChangeArrowheads="1"/>
          </p:cNvSpPr>
          <p:nvPr/>
        </p:nvSpPr>
        <p:spPr bwMode="auto">
          <a:xfrm>
            <a:off x="755650" y="3727511"/>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algn="ctr" defTabSz="914400" eaLnBrk="0" fontAlgn="base" latinLnBrk="0" hangingPunct="0">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itchFamily="18" charset="0"/>
                <a:ea typeface="宋体" pitchFamily="2" charset="-122"/>
              </a:rPr>
              <a:t>N</a:t>
            </a:r>
            <a:r>
              <a:rPr kumimoji="1" lang="en-US" altLang="zh-CN" sz="2400" b="1" i="1" u="none" strike="noStrike" kern="0" cap="none" spc="0" normalizeH="0" baseline="-25000" noProof="0">
                <a:ln>
                  <a:noFill/>
                </a:ln>
                <a:solidFill>
                  <a:srgbClr val="000000"/>
                </a:solidFill>
                <a:effectLst/>
                <a:uLnTx/>
                <a:uFillTx/>
                <a:latin typeface="Times New Roman" pitchFamily="18" charset="0"/>
                <a:ea typeface="宋体" pitchFamily="2" charset="-122"/>
              </a:rPr>
              <a:t>P</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是多晶硅栅掺杂浓度</a:t>
            </a:r>
          </a:p>
        </p:txBody>
      </p:sp>
      <p:sp>
        <p:nvSpPr>
          <p:cNvPr id="9" name="Text Box 49"/>
          <p:cNvSpPr txBox="1">
            <a:spLocks noChangeArrowheads="1"/>
          </p:cNvSpPr>
          <p:nvPr/>
        </p:nvSpPr>
        <p:spPr bwMode="auto">
          <a:xfrm>
            <a:off x="539750" y="4299489"/>
            <a:ext cx="416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于是，总的电容表达式为：</a:t>
            </a:r>
          </a:p>
        </p:txBody>
      </p:sp>
      <p:pic>
        <p:nvPicPr>
          <p:cNvPr id="10" name="Picture 51"/>
          <p:cNvPicPr>
            <a:picLocks noChangeAspect="1" noChangeArrowheads="1"/>
          </p:cNvPicPr>
          <p:nvPr/>
        </p:nvPicPr>
        <p:blipFill>
          <a:blip r:embed="rId9">
            <a:extLst>
              <a:ext uri="{28A0092B-C50C-407E-A947-70E740481C1C}">
                <a14:useLocalDpi xmlns:a14="http://schemas.microsoft.com/office/drawing/2010/main" val="0"/>
              </a:ext>
            </a:extLst>
          </a:blip>
          <a:srcRect l="3377"/>
          <a:stretch>
            <a:fillRect/>
          </a:stretch>
        </p:blipFill>
        <p:spPr bwMode="auto">
          <a:xfrm>
            <a:off x="4284663" y="3368675"/>
            <a:ext cx="4608512"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3"/>
          <p:cNvSpPr>
            <a:spLocks noChangeArrowheads="1"/>
          </p:cNvSpPr>
          <p:nvPr/>
        </p:nvSpPr>
        <p:spPr bwMode="auto">
          <a:xfrm>
            <a:off x="539750" y="2335395"/>
            <a:ext cx="475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pPr>
            <a:r>
              <a:rPr kumimoji="1" lang="zh-CN" altLang="en-US" sz="2400" b="1" dirty="0">
                <a:solidFill>
                  <a:srgbClr val="000000"/>
                </a:solidFill>
                <a:latin typeface="Times New Roman" pitchFamily="18" charset="0"/>
                <a:ea typeface="宋体" pitchFamily="2" charset="-122"/>
              </a:rPr>
              <a:t>多晶硅栅中形成耗尽电容可表示为</a:t>
            </a:r>
          </a:p>
        </p:txBody>
      </p:sp>
      <p:graphicFrame>
        <p:nvGraphicFramePr>
          <p:cNvPr id="12" name="Object 36"/>
          <p:cNvGraphicFramePr>
            <a:graphicFrameLocks noChangeAspect="1"/>
          </p:cNvGraphicFramePr>
          <p:nvPr>
            <p:extLst>
              <p:ext uri="{D42A27DB-BD31-4B8C-83A1-F6EECF244321}">
                <p14:modId xmlns:p14="http://schemas.microsoft.com/office/powerpoint/2010/main" val="2485270554"/>
              </p:ext>
            </p:extLst>
          </p:nvPr>
        </p:nvGraphicFramePr>
        <p:xfrm>
          <a:off x="2843213" y="1495489"/>
          <a:ext cx="3810000" cy="558800"/>
        </p:xfrm>
        <a:graphic>
          <a:graphicData uri="http://schemas.openxmlformats.org/presentationml/2006/ole">
            <mc:AlternateContent xmlns:mc="http://schemas.openxmlformats.org/markup-compatibility/2006">
              <mc:Choice xmlns:v="urn:schemas-microsoft-com:vml" Requires="v">
                <p:oleObj spid="_x0000_s213221" name="公式" r:id="rId10" imgW="1905000" imgH="279400" progId="Equation.3">
                  <p:embed/>
                </p:oleObj>
              </mc:Choice>
              <mc:Fallback>
                <p:oleObj name="公式" r:id="rId10" imgW="1905000" imgH="279400" progId="Equation.3">
                  <p:embed/>
                  <p:pic>
                    <p:nvPicPr>
                      <p:cNvPr id="66610"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3213" y="1495489"/>
                        <a:ext cx="3810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8915578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49</a:t>
            </a:fld>
            <a:endParaRPr lang="zh-CN" altLang="en-US"/>
          </a:p>
        </p:txBody>
      </p:sp>
      <p:sp>
        <p:nvSpPr>
          <p:cNvPr id="3" name="Text Box 3"/>
          <p:cNvSpPr txBox="1">
            <a:spLocks noChangeArrowheads="1"/>
          </p:cNvSpPr>
          <p:nvPr/>
        </p:nvSpPr>
        <p:spPr bwMode="auto">
          <a:xfrm>
            <a:off x="340322" y="338707"/>
            <a:ext cx="808768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非</a:t>
            </a:r>
            <a:r>
              <a:rPr kumimoji="1" lang="zh-CN" altLang="en-US" sz="2400" b="1" i="0" u="none" strike="noStrike" kern="0" cap="none" spc="0" normalizeH="0" baseline="0" noProof="0" dirty="0">
                <a:ln>
                  <a:noFill/>
                </a:ln>
                <a:solidFill>
                  <a:srgbClr val="FF3300"/>
                </a:solidFill>
                <a:effectLst/>
                <a:uLnTx/>
                <a:uFillTx/>
                <a:latin typeface="Times New Roman" pitchFamily="18" charset="0"/>
                <a:ea typeface="宋体" pitchFamily="2" charset="-122"/>
              </a:rPr>
              <a:t>理想</a:t>
            </a: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因素四：隧穿</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pic>
        <p:nvPicPr>
          <p:cNvPr id="8" name="Picture 62" descr="fig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4742" y="1502468"/>
            <a:ext cx="3819525" cy="317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40"/>
          <p:cNvSpPr>
            <a:spLocks noChangeArrowheads="1"/>
          </p:cNvSpPr>
          <p:nvPr/>
        </p:nvSpPr>
        <p:spPr bwMode="auto">
          <a:xfrm>
            <a:off x="-204808" y="236448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10" name="Rectangle 42"/>
          <p:cNvSpPr>
            <a:spLocks noChangeArrowheads="1"/>
          </p:cNvSpPr>
          <p:nvPr/>
        </p:nvSpPr>
        <p:spPr bwMode="auto">
          <a:xfrm>
            <a:off x="-204808" y="236448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graphicFrame>
        <p:nvGraphicFramePr>
          <p:cNvPr id="11" name="Object 53"/>
          <p:cNvGraphicFramePr>
            <a:graphicFrameLocks noChangeAspect="1"/>
          </p:cNvGraphicFramePr>
          <p:nvPr>
            <p:extLst>
              <p:ext uri="{D42A27DB-BD31-4B8C-83A1-F6EECF244321}">
                <p14:modId xmlns:p14="http://schemas.microsoft.com/office/powerpoint/2010/main" val="899728974"/>
              </p:ext>
            </p:extLst>
          </p:nvPr>
        </p:nvGraphicFramePr>
        <p:xfrm>
          <a:off x="550842" y="4078980"/>
          <a:ext cx="5656263" cy="1239838"/>
        </p:xfrm>
        <a:graphic>
          <a:graphicData uri="http://schemas.openxmlformats.org/presentationml/2006/ole">
            <mc:AlternateContent xmlns:mc="http://schemas.openxmlformats.org/markup-compatibility/2006">
              <mc:Choice xmlns:v="urn:schemas-microsoft-com:vml" Requires="v">
                <p:oleObj spid="_x0000_s215152" name="Equation" r:id="rId4" imgW="2197100" imgH="533400" progId="Equation.DSMT4">
                  <p:embed/>
                </p:oleObj>
              </mc:Choice>
              <mc:Fallback>
                <p:oleObj name="Equation" r:id="rId4" imgW="2197100" imgH="533400" progId="Equation.DSMT4">
                  <p:embed/>
                  <p:pic>
                    <p:nvPicPr>
                      <p:cNvPr id="6"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42" y="4078980"/>
                        <a:ext cx="5656263" cy="1239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55"/>
          <p:cNvSpPr>
            <a:spLocks noChangeArrowheads="1"/>
          </p:cNvSpPr>
          <p:nvPr/>
        </p:nvSpPr>
        <p:spPr bwMode="auto">
          <a:xfrm>
            <a:off x="528617" y="837305"/>
            <a:ext cx="47752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defTabSz="914400" eaLnBrk="0" fontAlgn="base" hangingPunct="0">
              <a:lnSpc>
                <a:spcPct val="130000"/>
              </a:lnSpc>
              <a:spcBef>
                <a:spcPct val="0"/>
              </a:spcBef>
              <a:spcAft>
                <a:spcPct val="0"/>
              </a:spcAft>
            </a:pPr>
            <a:r>
              <a:rPr kumimoji="1" lang="zh-CN" altLang="en-US" sz="2400" b="1">
                <a:solidFill>
                  <a:srgbClr val="000000"/>
                </a:solidFill>
                <a:latin typeface="Times New Roman" pitchFamily="18" charset="0"/>
                <a:ea typeface="宋体" pitchFamily="2" charset="-122"/>
              </a:rPr>
              <a:t>电子可以通过隧穿方式穿越栅介质</a:t>
            </a:r>
            <a:r>
              <a:rPr kumimoji="1" lang="en-US" altLang="zh-CN" sz="2400" b="1">
                <a:solidFill>
                  <a:srgbClr val="000000"/>
                </a:solidFill>
                <a:latin typeface="Times New Roman" pitchFamily="18" charset="0"/>
                <a:ea typeface="宋体" pitchFamily="2" charset="-122"/>
              </a:rPr>
              <a:t>SiO</a:t>
            </a:r>
            <a:r>
              <a:rPr kumimoji="1" lang="en-US" altLang="zh-CN" sz="2400" b="1" baseline="-25000">
                <a:solidFill>
                  <a:srgbClr val="000000"/>
                </a:solidFill>
                <a:latin typeface="Times New Roman" pitchFamily="18" charset="0"/>
                <a:ea typeface="宋体" pitchFamily="2" charset="-122"/>
              </a:rPr>
              <a:t>2</a:t>
            </a:r>
            <a:r>
              <a:rPr kumimoji="1" lang="zh-CN" altLang="en-US" sz="2400" b="1">
                <a:solidFill>
                  <a:srgbClr val="000000"/>
                </a:solidFill>
                <a:latin typeface="Times New Roman" pitchFamily="18" charset="0"/>
                <a:ea typeface="宋体" pitchFamily="2" charset="-122"/>
              </a:rPr>
              <a:t>层，相关的隧穿机制包括：</a:t>
            </a:r>
          </a:p>
          <a:p>
            <a:pPr marL="800100" lvl="1" indent="-342900" defTabSz="914400" eaLnBrk="0" fontAlgn="base" hangingPunct="0">
              <a:lnSpc>
                <a:spcPct val="130000"/>
              </a:lnSpc>
              <a:spcBef>
                <a:spcPct val="0"/>
              </a:spcBef>
              <a:spcAft>
                <a:spcPct val="0"/>
              </a:spcAft>
              <a:buFont typeface="Arial" charset="0"/>
              <a:buChar char="•"/>
            </a:pPr>
            <a:r>
              <a:rPr kumimoji="1" lang="en-US" altLang="zh-CN" sz="2400" b="1">
                <a:solidFill>
                  <a:srgbClr val="000000"/>
                </a:solidFill>
                <a:latin typeface="Times New Roman" pitchFamily="18" charset="0"/>
                <a:ea typeface="宋体" pitchFamily="2" charset="-122"/>
              </a:rPr>
              <a:t>FN</a:t>
            </a:r>
            <a:r>
              <a:rPr kumimoji="1" lang="zh-CN" altLang="en-US" sz="2400" b="1">
                <a:solidFill>
                  <a:srgbClr val="000000"/>
                </a:solidFill>
                <a:latin typeface="Times New Roman" pitchFamily="18" charset="0"/>
                <a:ea typeface="宋体" pitchFamily="2" charset="-122"/>
              </a:rPr>
              <a:t>隧穿   </a:t>
            </a:r>
          </a:p>
          <a:p>
            <a:pPr marL="800100" lvl="1" indent="-342900" defTabSz="914400" eaLnBrk="0" fontAlgn="base" hangingPunct="0">
              <a:lnSpc>
                <a:spcPct val="130000"/>
              </a:lnSpc>
              <a:spcBef>
                <a:spcPct val="0"/>
              </a:spcBef>
              <a:spcAft>
                <a:spcPct val="0"/>
              </a:spcAft>
              <a:buFont typeface="Arial" charset="0"/>
              <a:buChar char="•"/>
            </a:pPr>
            <a:r>
              <a:rPr kumimoji="1" lang="zh-CN" altLang="en-US" sz="2400" b="1">
                <a:solidFill>
                  <a:srgbClr val="000000"/>
                </a:solidFill>
                <a:latin typeface="Times New Roman" pitchFamily="18" charset="0"/>
                <a:ea typeface="宋体" pitchFamily="2" charset="-122"/>
              </a:rPr>
              <a:t>直接隧穿</a:t>
            </a:r>
          </a:p>
          <a:p>
            <a:pPr marL="800100" lvl="1" indent="-342900" defTabSz="914400" eaLnBrk="0" fontAlgn="base" hangingPunct="0">
              <a:lnSpc>
                <a:spcPct val="130000"/>
              </a:lnSpc>
              <a:spcBef>
                <a:spcPct val="0"/>
              </a:spcBef>
              <a:spcAft>
                <a:spcPct val="0"/>
              </a:spcAft>
              <a:buFont typeface="Arial" charset="0"/>
              <a:buChar char="•"/>
            </a:pPr>
            <a:r>
              <a:rPr kumimoji="1" lang="zh-CN" altLang="en-US" sz="2400" b="1">
                <a:solidFill>
                  <a:srgbClr val="000000"/>
                </a:solidFill>
                <a:latin typeface="Times New Roman" pitchFamily="18" charset="0"/>
                <a:ea typeface="宋体" pitchFamily="2" charset="-122"/>
              </a:rPr>
              <a:t>陷阱辅助的直接隧穿</a:t>
            </a:r>
          </a:p>
        </p:txBody>
      </p:sp>
      <p:sp>
        <p:nvSpPr>
          <p:cNvPr id="13" name="Text Box 61"/>
          <p:cNvSpPr txBox="1">
            <a:spLocks noChangeArrowheads="1"/>
          </p:cNvSpPr>
          <p:nvPr/>
        </p:nvSpPr>
        <p:spPr bwMode="auto">
          <a:xfrm>
            <a:off x="6275367" y="900805"/>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FN</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隧穿</a:t>
            </a:r>
          </a:p>
        </p:txBody>
      </p:sp>
      <p:sp>
        <p:nvSpPr>
          <p:cNvPr id="14" name="Text Box 64"/>
          <p:cNvSpPr txBox="1">
            <a:spLocks noChangeArrowheads="1"/>
          </p:cNvSpPr>
          <p:nvPr/>
        </p:nvSpPr>
        <p:spPr bwMode="auto">
          <a:xfrm>
            <a:off x="658792" y="3564630"/>
            <a:ext cx="2135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FN</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隧穿电流：</a:t>
            </a:r>
          </a:p>
        </p:txBody>
      </p:sp>
      <p:sp>
        <p:nvSpPr>
          <p:cNvPr id="15" name="Text Box 61"/>
          <p:cNvSpPr txBox="1">
            <a:spLocks noChangeArrowheads="1"/>
          </p:cNvSpPr>
          <p:nvPr/>
        </p:nvSpPr>
        <p:spPr bwMode="auto">
          <a:xfrm>
            <a:off x="635653" y="5591209"/>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pPr>
            <a:r>
              <a:rPr lang="zh-CN" altLang="en-US" b="1"/>
              <a:t>直接隧穿</a:t>
            </a:r>
          </a:p>
        </p:txBody>
      </p:sp>
      <p:graphicFrame>
        <p:nvGraphicFramePr>
          <p:cNvPr id="16" name="Object 60"/>
          <p:cNvGraphicFramePr>
            <a:graphicFrameLocks noChangeAspect="1"/>
          </p:cNvGraphicFramePr>
          <p:nvPr>
            <p:extLst>
              <p:ext uri="{D42A27DB-BD31-4B8C-83A1-F6EECF244321}">
                <p14:modId xmlns:p14="http://schemas.microsoft.com/office/powerpoint/2010/main" val="2191434441"/>
              </p:ext>
            </p:extLst>
          </p:nvPr>
        </p:nvGraphicFramePr>
        <p:xfrm>
          <a:off x="2399845" y="5622823"/>
          <a:ext cx="5180013" cy="1173163"/>
        </p:xfrm>
        <a:graphic>
          <a:graphicData uri="http://schemas.openxmlformats.org/presentationml/2006/ole">
            <mc:AlternateContent xmlns:mc="http://schemas.openxmlformats.org/markup-compatibility/2006">
              <mc:Choice xmlns:v="urn:schemas-microsoft-com:vml" Requires="v">
                <p:oleObj spid="_x0000_s215153" name="Equation" r:id="rId6" imgW="2349500" imgH="533400" progId="Equation.DSMT4">
                  <p:embed/>
                </p:oleObj>
              </mc:Choice>
              <mc:Fallback>
                <p:oleObj name="Equation" r:id="rId6" imgW="2349500" imgH="533400" progId="Equation.DSMT4">
                  <p:embed/>
                  <p:pic>
                    <p:nvPicPr>
                      <p:cNvPr id="11"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9845" y="5622823"/>
                        <a:ext cx="5180013" cy="11731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4257990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50</a:t>
            </a:fld>
            <a:endParaRPr lang="zh-CN" altLang="en-US"/>
          </a:p>
        </p:txBody>
      </p:sp>
      <p:sp>
        <p:nvSpPr>
          <p:cNvPr id="3" name="Text Box 3"/>
          <p:cNvSpPr txBox="1">
            <a:spLocks noChangeArrowheads="1"/>
          </p:cNvSpPr>
          <p:nvPr/>
        </p:nvSpPr>
        <p:spPr bwMode="auto">
          <a:xfrm>
            <a:off x="340322" y="338707"/>
            <a:ext cx="808768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非</a:t>
            </a:r>
            <a:r>
              <a:rPr kumimoji="1" lang="zh-CN" altLang="en-US" sz="2400" b="1" i="0" u="none" strike="noStrike" kern="0" cap="none" spc="0" normalizeH="0" baseline="0" noProof="0" dirty="0">
                <a:ln>
                  <a:noFill/>
                </a:ln>
                <a:solidFill>
                  <a:srgbClr val="FF3300"/>
                </a:solidFill>
                <a:effectLst/>
                <a:uLnTx/>
                <a:uFillTx/>
                <a:latin typeface="Times New Roman" pitchFamily="18" charset="0"/>
                <a:ea typeface="宋体" pitchFamily="2" charset="-122"/>
              </a:rPr>
              <a:t>理想</a:t>
            </a: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因素五：热载流子注入</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sp>
        <p:nvSpPr>
          <p:cNvPr id="4" name="Rectangle 40"/>
          <p:cNvSpPr>
            <a:spLocks noChangeArrowheads="1"/>
          </p:cNvSpPr>
          <p:nvPr/>
        </p:nvSpPr>
        <p:spPr bwMode="auto">
          <a:xfrm>
            <a:off x="-30440" y="2896422"/>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5" name="Rectangle 42"/>
          <p:cNvSpPr>
            <a:spLocks noChangeArrowheads="1"/>
          </p:cNvSpPr>
          <p:nvPr/>
        </p:nvSpPr>
        <p:spPr bwMode="auto">
          <a:xfrm>
            <a:off x="-30440" y="2896422"/>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p>
            <a:pPr algn="just" defTabSz="914400" eaLnBrk="0" fontAlgn="base" hangingPunct="0">
              <a:spcBef>
                <a:spcPct val="0"/>
              </a:spcBef>
              <a:spcAft>
                <a:spcPct val="0"/>
              </a:spcAft>
            </a:pPr>
            <a:r>
              <a:rPr kumimoji="1" lang="en-US" altLang="zh-CN" sz="1000">
                <a:solidFill>
                  <a:srgbClr val="000000"/>
                </a:solidFill>
                <a:latin typeface="Times New Roman" pitchFamily="18" charset="0"/>
                <a:ea typeface="宋体" pitchFamily="2" charset="-122"/>
              </a:rPr>
              <a:t>  </a:t>
            </a:r>
          </a:p>
          <a:p>
            <a:pPr defTabSz="914400" eaLnBrk="0" fontAlgn="base" hangingPunct="0">
              <a:spcBef>
                <a:spcPct val="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6" name="Text Box 54"/>
          <p:cNvSpPr txBox="1">
            <a:spLocks noChangeArrowheads="1"/>
          </p:cNvSpPr>
          <p:nvPr/>
        </p:nvSpPr>
        <p:spPr bwMode="auto">
          <a:xfrm>
            <a:off x="1939648" y="1158110"/>
            <a:ext cx="4905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幸运电子（</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Lucky-electron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）模型</a:t>
            </a:r>
          </a:p>
        </p:txBody>
      </p:sp>
      <p:graphicFrame>
        <p:nvGraphicFramePr>
          <p:cNvPr id="7" name="Object 56"/>
          <p:cNvGraphicFramePr>
            <a:graphicFrameLocks noChangeAspect="1"/>
          </p:cNvGraphicFramePr>
          <p:nvPr>
            <p:extLst>
              <p:ext uri="{D42A27DB-BD31-4B8C-83A1-F6EECF244321}">
                <p14:modId xmlns:p14="http://schemas.microsoft.com/office/powerpoint/2010/main" val="2092125970"/>
              </p:ext>
            </p:extLst>
          </p:nvPr>
        </p:nvGraphicFramePr>
        <p:xfrm>
          <a:off x="4136748" y="2164585"/>
          <a:ext cx="2849562" cy="474662"/>
        </p:xfrm>
        <a:graphic>
          <a:graphicData uri="http://schemas.openxmlformats.org/presentationml/2006/ole">
            <mc:AlternateContent xmlns:mc="http://schemas.openxmlformats.org/markup-compatibility/2006">
              <mc:Choice xmlns:v="urn:schemas-microsoft-com:vml" Requires="v">
                <p:oleObj spid="_x0000_s217318" name="Equation" r:id="rId3" imgW="1294838" imgH="215806" progId="Equation.DSMT4">
                  <p:embed/>
                </p:oleObj>
              </mc:Choice>
              <mc:Fallback>
                <p:oleObj name="Equation" r:id="rId3" imgW="1294838" imgH="215806" progId="Equation.DSMT4">
                  <p:embed/>
                  <p:pic>
                    <p:nvPicPr>
                      <p:cNvPr id="71711"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6748" y="2164585"/>
                        <a:ext cx="284956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8"/>
          <p:cNvGraphicFramePr>
            <a:graphicFrameLocks noChangeAspect="1"/>
          </p:cNvGraphicFramePr>
          <p:nvPr>
            <p:extLst>
              <p:ext uri="{D42A27DB-BD31-4B8C-83A1-F6EECF244321}">
                <p14:modId xmlns:p14="http://schemas.microsoft.com/office/powerpoint/2010/main" val="1692322986"/>
              </p:ext>
            </p:extLst>
          </p:nvPr>
        </p:nvGraphicFramePr>
        <p:xfrm>
          <a:off x="4446310" y="5511035"/>
          <a:ext cx="3408363" cy="558800"/>
        </p:xfrm>
        <a:graphic>
          <a:graphicData uri="http://schemas.openxmlformats.org/presentationml/2006/ole">
            <mc:AlternateContent xmlns:mc="http://schemas.openxmlformats.org/markup-compatibility/2006">
              <mc:Choice xmlns:v="urn:schemas-microsoft-com:vml" Requires="v">
                <p:oleObj spid="_x0000_s217319" name="Equation" r:id="rId5" imgW="1548728" imgH="253890" progId="Equation.DSMT4">
                  <p:embed/>
                </p:oleObj>
              </mc:Choice>
              <mc:Fallback>
                <p:oleObj name="Equation" r:id="rId5" imgW="1548728" imgH="253890" progId="Equation.DSMT4">
                  <p:embed/>
                  <p:pic>
                    <p:nvPicPr>
                      <p:cNvPr id="71712"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6310" y="5511035"/>
                        <a:ext cx="3408363"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59"/>
          <p:cNvSpPr txBox="1">
            <a:spLocks noChangeArrowheads="1"/>
          </p:cNvSpPr>
          <p:nvPr/>
        </p:nvSpPr>
        <p:spPr bwMode="auto">
          <a:xfrm>
            <a:off x="977623" y="1588322"/>
            <a:ext cx="709295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4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在</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中距离</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Si-SiO</a:t>
            </a:r>
            <a:r>
              <a:rPr kumimoji="1" lang="en-US" altLang="zh-CN" sz="2400" b="1" i="0" u="none" strike="noStrike" kern="0" cap="none" spc="0" normalizeH="0" baseline="-25000" noProof="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界面距离为</a:t>
            </a:r>
            <a:r>
              <a:rPr kumimoji="1" lang="en-US" altLang="zh-CN" sz="2400" b="1" i="1" u="none" strike="noStrike" kern="0" cap="none" spc="0" normalizeH="0" baseline="0" noProof="0">
                <a:ln>
                  <a:noFill/>
                </a:ln>
                <a:solidFill>
                  <a:srgbClr val="000000"/>
                </a:solidFill>
                <a:effectLst/>
                <a:uLnTx/>
                <a:uFillTx/>
                <a:latin typeface="Times New Roman" pitchFamily="18" charset="0"/>
                <a:ea typeface="宋体" pitchFamily="2" charset="-122"/>
              </a:rPr>
              <a:t>d</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处导带电子发射进入</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SiO</a:t>
            </a:r>
            <a:r>
              <a:rPr kumimoji="1" lang="en-US" altLang="zh-CN" sz="2400" b="1" i="0" u="none" strike="noStrike" kern="0" cap="none" spc="0" normalizeH="0" baseline="-25000" noProof="0">
                <a:ln>
                  <a:noFill/>
                </a:ln>
                <a:solidFill>
                  <a:srgbClr val="000000"/>
                </a:solidFill>
                <a:effectLst/>
                <a:uLnTx/>
                <a:uFillTx/>
                <a:latin typeface="Times New Roman" pitchFamily="18" charset="0"/>
                <a:ea typeface="宋体" pitchFamily="2" charset="-122"/>
              </a:rPr>
              <a:t>2</a:t>
            </a: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的概率可表示为：</a:t>
            </a:r>
          </a:p>
        </p:txBody>
      </p:sp>
      <p:sp>
        <p:nvSpPr>
          <p:cNvPr id="10" name="Text Box 60"/>
          <p:cNvSpPr txBox="1">
            <a:spLocks noChangeArrowheads="1"/>
          </p:cNvSpPr>
          <p:nvPr/>
        </p:nvSpPr>
        <p:spPr bwMode="auto">
          <a:xfrm>
            <a:off x="977623" y="2883722"/>
            <a:ext cx="636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其中</a:t>
            </a:r>
            <a:r>
              <a:rPr kumimoji="1" lang="zh-CN" altLang="en-US" sz="2400" b="1" i="1"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为热电子能量损失的有效平均自由程</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11" name="Text Box 61"/>
          <p:cNvSpPr txBox="1">
            <a:spLocks noChangeArrowheads="1"/>
          </p:cNvSpPr>
          <p:nvPr/>
        </p:nvSpPr>
        <p:spPr bwMode="auto">
          <a:xfrm>
            <a:off x="977623" y="3506022"/>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发射相关的有效势垒为：</a:t>
            </a:r>
          </a:p>
        </p:txBody>
      </p:sp>
      <p:sp>
        <p:nvSpPr>
          <p:cNvPr id="12" name="Text Box 62"/>
          <p:cNvSpPr txBox="1">
            <a:spLocks noChangeArrowheads="1"/>
          </p:cNvSpPr>
          <p:nvPr/>
        </p:nvSpPr>
        <p:spPr bwMode="auto">
          <a:xfrm>
            <a:off x="977623" y="5315772"/>
            <a:ext cx="3276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有效平均自由程的温度依赖关系可表示为：</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
        <p:nvSpPr>
          <p:cNvPr id="13" name="Text Box 63"/>
          <p:cNvSpPr txBox="1">
            <a:spLocks noChangeArrowheads="1"/>
          </p:cNvSpPr>
          <p:nvPr/>
        </p:nvSpPr>
        <p:spPr bwMode="auto">
          <a:xfrm>
            <a:off x="3779560" y="4401372"/>
            <a:ext cx="341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Times New Roman" pitchFamily="18" charset="0"/>
                <a:ea typeface="宋体" pitchFamily="2" charset="-122"/>
              </a:rPr>
              <a:t>镜像力感应的势垒降低</a:t>
            </a:r>
          </a:p>
        </p:txBody>
      </p:sp>
      <p:graphicFrame>
        <p:nvGraphicFramePr>
          <p:cNvPr id="14" name="Object 65"/>
          <p:cNvGraphicFramePr>
            <a:graphicFrameLocks noChangeAspect="1"/>
          </p:cNvGraphicFramePr>
          <p:nvPr>
            <p:extLst>
              <p:ext uri="{D42A27DB-BD31-4B8C-83A1-F6EECF244321}">
                <p14:modId xmlns:p14="http://schemas.microsoft.com/office/powerpoint/2010/main" val="1005575079"/>
              </p:ext>
            </p:extLst>
          </p:nvPr>
        </p:nvGraphicFramePr>
        <p:xfrm>
          <a:off x="4522510" y="3458397"/>
          <a:ext cx="3378200" cy="482600"/>
        </p:xfrm>
        <a:graphic>
          <a:graphicData uri="http://schemas.openxmlformats.org/presentationml/2006/ole">
            <mc:AlternateContent xmlns:mc="http://schemas.openxmlformats.org/markup-compatibility/2006">
              <mc:Choice xmlns:v="urn:schemas-microsoft-com:vml" Requires="v">
                <p:oleObj spid="_x0000_s217320" name="Equation" r:id="rId7" imgW="1688367" imgH="241195" progId="Equation.DSMT4">
                  <p:embed/>
                </p:oleObj>
              </mc:Choice>
              <mc:Fallback>
                <p:oleObj name="Equation" r:id="rId7" imgW="1688367" imgH="241195" progId="Equation.DSMT4">
                  <p:embed/>
                  <p:pic>
                    <p:nvPicPr>
                      <p:cNvPr id="71718" name="Object 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2510" y="3458397"/>
                        <a:ext cx="3378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66"/>
          <p:cNvGraphicFramePr>
            <a:graphicFrameLocks noChangeAspect="1"/>
          </p:cNvGraphicFramePr>
          <p:nvPr>
            <p:extLst>
              <p:ext uri="{D42A27DB-BD31-4B8C-83A1-F6EECF244321}">
                <p14:modId xmlns:p14="http://schemas.microsoft.com/office/powerpoint/2010/main" val="4076483561"/>
              </p:ext>
            </p:extLst>
          </p:nvPr>
        </p:nvGraphicFramePr>
        <p:xfrm>
          <a:off x="1798360" y="4134672"/>
          <a:ext cx="1879600" cy="990600"/>
        </p:xfrm>
        <a:graphic>
          <a:graphicData uri="http://schemas.openxmlformats.org/presentationml/2006/ole">
            <mc:AlternateContent xmlns:mc="http://schemas.openxmlformats.org/markup-compatibility/2006">
              <mc:Choice xmlns:v="urn:schemas-microsoft-com:vml" Requires="v">
                <p:oleObj spid="_x0000_s217321" name="Equation" r:id="rId9" imgW="939392" imgH="495085" progId="Equation.DSMT4">
                  <p:embed/>
                </p:oleObj>
              </mc:Choice>
              <mc:Fallback>
                <p:oleObj name="Equation" r:id="rId9" imgW="939392" imgH="495085" progId="Equation.DSMT4">
                  <p:embed/>
                  <p:pic>
                    <p:nvPicPr>
                      <p:cNvPr id="71719" name="Object 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8360" y="4134672"/>
                        <a:ext cx="1879600" cy="990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145992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51</a:t>
            </a:fld>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221" y="967634"/>
            <a:ext cx="4128998" cy="2740153"/>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2858" y="959007"/>
            <a:ext cx="4128998" cy="274015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7921" y="3931233"/>
            <a:ext cx="4068596" cy="2700068"/>
          </a:xfrm>
          <a:prstGeom prst="rect">
            <a:avLst/>
          </a:prstGeom>
        </p:spPr>
      </p:pic>
      <p:sp>
        <p:nvSpPr>
          <p:cNvPr id="7" name="Rectangle 4"/>
          <p:cNvSpPr>
            <a:spLocks noChangeArrowheads="1"/>
          </p:cNvSpPr>
          <p:nvPr/>
        </p:nvSpPr>
        <p:spPr bwMode="auto">
          <a:xfrm>
            <a:off x="2936718" y="161730"/>
            <a:ext cx="4119442"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二、</a:t>
            </a:r>
            <a:r>
              <a:rPr kumimoji="1" lang="en-US" altLang="zh-CN" sz="3600" b="1" dirty="0" smtClean="0">
                <a:solidFill>
                  <a:srgbClr val="FF6600"/>
                </a:solidFill>
                <a:latin typeface="Times New Roman" pitchFamily="18" charset="0"/>
                <a:ea typeface="宋体" pitchFamily="2" charset="-122"/>
              </a:rPr>
              <a:t>MOSFET</a:t>
            </a:r>
            <a:endParaRPr kumimoji="1" lang="zh-CN" altLang="en-US" sz="3600" b="1" dirty="0">
              <a:solidFill>
                <a:srgbClr val="FF6600"/>
              </a:solidFill>
              <a:latin typeface="Times New Roman" pitchFamily="18" charset="0"/>
              <a:ea typeface="宋体" pitchFamily="2" charset="-122"/>
            </a:endParaRPr>
          </a:p>
        </p:txBody>
      </p:sp>
      <p:sp>
        <p:nvSpPr>
          <p:cNvPr id="8" name="文本框 7"/>
          <p:cNvSpPr txBox="1"/>
          <p:nvPr/>
        </p:nvSpPr>
        <p:spPr>
          <a:xfrm>
            <a:off x="1009291" y="1621766"/>
            <a:ext cx="1725283" cy="646331"/>
          </a:xfrm>
          <a:prstGeom prst="rect">
            <a:avLst/>
          </a:prstGeom>
          <a:noFill/>
        </p:spPr>
        <p:txBody>
          <a:bodyPr wrap="square" rtlCol="0">
            <a:spAutoFit/>
          </a:bodyPr>
          <a:lstStyle/>
          <a:p>
            <a:r>
              <a:rPr lang="zh-CN" altLang="en-US" dirty="0" smtClean="0"/>
              <a:t>转移特性曲线</a:t>
            </a:r>
            <a:r>
              <a:rPr lang="en-US" altLang="zh-CN" dirty="0" smtClean="0"/>
              <a:t>Id-Vg</a:t>
            </a:r>
            <a:endParaRPr lang="zh-CN" altLang="en-US" dirty="0"/>
          </a:p>
        </p:txBody>
      </p:sp>
      <p:sp>
        <p:nvSpPr>
          <p:cNvPr id="9" name="文本框 8"/>
          <p:cNvSpPr txBox="1"/>
          <p:nvPr/>
        </p:nvSpPr>
        <p:spPr>
          <a:xfrm>
            <a:off x="484509" y="5058418"/>
            <a:ext cx="1725283" cy="646331"/>
          </a:xfrm>
          <a:prstGeom prst="rect">
            <a:avLst/>
          </a:prstGeom>
          <a:noFill/>
        </p:spPr>
        <p:txBody>
          <a:bodyPr wrap="square" rtlCol="0">
            <a:spAutoFit/>
          </a:bodyPr>
          <a:lstStyle/>
          <a:p>
            <a:r>
              <a:rPr lang="zh-CN" altLang="en-US" dirty="0"/>
              <a:t>输出</a:t>
            </a:r>
            <a:r>
              <a:rPr lang="zh-CN" altLang="en-US" dirty="0" smtClean="0"/>
              <a:t>特性曲线</a:t>
            </a:r>
            <a:r>
              <a:rPr lang="en-US" altLang="zh-CN" dirty="0" smtClean="0"/>
              <a:t>Id-</a:t>
            </a:r>
            <a:r>
              <a:rPr lang="en-US" altLang="zh-CN" dirty="0" err="1" smtClean="0"/>
              <a:t>Vd</a:t>
            </a:r>
            <a:endParaRPr lang="zh-CN" altLang="en-US" dirty="0"/>
          </a:p>
        </p:txBody>
      </p:sp>
      <p:sp>
        <p:nvSpPr>
          <p:cNvPr id="10" name="Text Box 62"/>
          <p:cNvSpPr txBox="1">
            <a:spLocks noChangeArrowheads="1"/>
          </p:cNvSpPr>
          <p:nvPr/>
        </p:nvSpPr>
        <p:spPr bwMode="auto">
          <a:xfrm>
            <a:off x="6967357" y="4496437"/>
            <a:ext cx="17459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sym typeface="Symbol" pitchFamily="18" charset="2"/>
              </a:rPr>
              <a:t>线性区</a:t>
            </a:r>
            <a:endPar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sym typeface="Symbol" pitchFamily="18" charset="2"/>
            </a:endParaRPr>
          </a:p>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sym typeface="Symbol" pitchFamily="18" charset="2"/>
              </a:rPr>
              <a:t>饱和区</a:t>
            </a:r>
            <a:endParaRPr lang="en-US" altLang="zh-CN" b="1" kern="0" dirty="0" smtClean="0">
              <a:solidFill>
                <a:srgbClr val="000000"/>
              </a:solidFill>
              <a:sym typeface="Symbol" pitchFamily="18" charset="2"/>
            </a:endParaRPr>
          </a:p>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sym typeface="Symbol" pitchFamily="18" charset="2"/>
              </a:rPr>
              <a:t>亚</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sym typeface="Symbol" pitchFamily="18" charset="2"/>
              </a:rPr>
              <a:t>阈值区</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spTree>
    <p:extLst>
      <p:ext uri="{BB962C8B-B14F-4D97-AF65-F5344CB8AC3E}">
        <p14:creationId xmlns:p14="http://schemas.microsoft.com/office/powerpoint/2010/main" val="22471106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52</a:t>
            </a:fld>
            <a:endParaRPr lang="zh-CN" altLang="en-US"/>
          </a:p>
        </p:txBody>
      </p:sp>
      <p:sp>
        <p:nvSpPr>
          <p:cNvPr id="5" name="矩形 4"/>
          <p:cNvSpPr/>
          <p:nvPr/>
        </p:nvSpPr>
        <p:spPr>
          <a:xfrm>
            <a:off x="423744" y="422718"/>
            <a:ext cx="2122697"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1. </a:t>
            </a:r>
            <a:r>
              <a:rPr kumimoji="1" lang="zh-CN" altLang="en-US" sz="2800" b="1" dirty="0" smtClean="0">
                <a:solidFill>
                  <a:srgbClr val="D96227"/>
                </a:solidFill>
                <a:latin typeface="Times New Roman" pitchFamily="18" charset="0"/>
                <a:ea typeface="宋体" pitchFamily="2" charset="-122"/>
                <a:cs typeface="Times New Roman" pitchFamily="18" charset="0"/>
              </a:rPr>
              <a:t>栅控</a:t>
            </a:r>
            <a:r>
              <a:rPr kumimoji="1" lang="en-US" altLang="zh-CN" sz="2800" b="1" dirty="0" smtClean="0">
                <a:solidFill>
                  <a:srgbClr val="D96227"/>
                </a:solidFill>
                <a:latin typeface="Times New Roman" pitchFamily="18" charset="0"/>
                <a:ea typeface="宋体" pitchFamily="2" charset="-122"/>
                <a:cs typeface="Times New Roman" pitchFamily="18" charset="0"/>
              </a:rPr>
              <a:t>PN</a:t>
            </a:r>
            <a:r>
              <a:rPr kumimoji="1" lang="zh-CN" altLang="en-US" sz="2800" b="1" dirty="0" smtClean="0">
                <a:solidFill>
                  <a:srgbClr val="D96227"/>
                </a:solidFill>
                <a:latin typeface="Times New Roman" pitchFamily="18" charset="0"/>
                <a:ea typeface="宋体" pitchFamily="2" charset="-122"/>
                <a:cs typeface="Times New Roman" pitchFamily="18" charset="0"/>
              </a:rPr>
              <a:t>结</a:t>
            </a:r>
            <a:endParaRPr kumimoji="1" lang="zh-CN" altLang="en-US" sz="2800" b="1" dirty="0">
              <a:solidFill>
                <a:srgbClr val="D96227"/>
              </a:solidFill>
              <a:latin typeface="Times New Roman" pitchFamily="18" charset="0"/>
              <a:ea typeface="宋体" pitchFamily="2" charset="-122"/>
              <a:cs typeface="Times New Roman" pitchFamily="18" charset="0"/>
            </a:endParaRPr>
          </a:p>
        </p:txBody>
      </p:sp>
      <p:sp>
        <p:nvSpPr>
          <p:cNvPr id="6" name="Text Box 61"/>
          <p:cNvSpPr txBox="1">
            <a:spLocks noChangeArrowheads="1"/>
          </p:cNvSpPr>
          <p:nvPr/>
        </p:nvSpPr>
        <p:spPr bwMode="auto">
          <a:xfrm>
            <a:off x="423742" y="1182268"/>
            <a:ext cx="855179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MOSFET</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的漏与沟道构成一个</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N</a:t>
            </a:r>
            <a:r>
              <a:rPr kumimoji="1" lang="en-US" altLang="zh-CN" sz="2400" b="1" i="0" u="none" strike="noStrike" kern="0" cap="none" spc="0" normalizeH="0" baseline="30000" noProof="0" dirty="0" smtClean="0">
                <a:ln>
                  <a:noFill/>
                </a:ln>
                <a:solidFill>
                  <a:srgbClr val="000000"/>
                </a:solidFill>
                <a:effectLst/>
                <a:uLnTx/>
                <a:uFillTx/>
                <a:latin typeface="Times New Roman" pitchFamily="18" charset="0"/>
                <a:ea typeface="宋体" pitchFamily="2" charset="-122"/>
              </a:rPr>
              <a:t>+</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P</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二极管。</a:t>
            </a:r>
            <a:endPar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endParaRPr>
          </a:p>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当栅压达到反型时，</a:t>
            </a:r>
            <a:r>
              <a:rPr lang="en-US" altLang="zh-CN" b="1" kern="0" dirty="0" smtClean="0">
                <a:solidFill>
                  <a:srgbClr val="000000"/>
                </a:solidFill>
              </a:rPr>
              <a:t>P</a:t>
            </a:r>
            <a:r>
              <a:rPr lang="zh-CN" altLang="en-US" b="1" kern="0" dirty="0" smtClean="0">
                <a:solidFill>
                  <a:srgbClr val="000000"/>
                </a:solidFill>
              </a:rPr>
              <a:t>型区出现反型沟道，这时沟道区的准费米能级与</a:t>
            </a:r>
            <a:r>
              <a:rPr lang="en-US" altLang="zh-CN" b="1" kern="0" dirty="0" smtClean="0">
                <a:solidFill>
                  <a:srgbClr val="000000"/>
                </a:solidFill>
              </a:rPr>
              <a:t>N+</a:t>
            </a:r>
            <a:r>
              <a:rPr lang="zh-CN" altLang="en-US" b="1" kern="0" dirty="0" smtClean="0">
                <a:solidFill>
                  <a:srgbClr val="000000"/>
                </a:solidFill>
              </a:rPr>
              <a:t>区的费米能级相同，也与</a:t>
            </a:r>
            <a:r>
              <a:rPr lang="en-US" altLang="zh-CN" b="1" kern="0" dirty="0" smtClean="0">
                <a:solidFill>
                  <a:srgbClr val="000000"/>
                </a:solidFill>
              </a:rPr>
              <a:t>P</a:t>
            </a:r>
            <a:r>
              <a:rPr lang="zh-CN" altLang="en-US" b="1" kern="0" dirty="0" smtClean="0">
                <a:solidFill>
                  <a:srgbClr val="000000"/>
                </a:solidFill>
              </a:rPr>
              <a:t>衬底的费米能级相同。耗尽区由</a:t>
            </a:r>
            <a:r>
              <a:rPr lang="en-US" altLang="zh-CN" b="1" kern="0" dirty="0" smtClean="0">
                <a:solidFill>
                  <a:srgbClr val="000000"/>
                </a:solidFill>
              </a:rPr>
              <a:t>PN</a:t>
            </a:r>
            <a:r>
              <a:rPr lang="zh-CN" altLang="en-US" b="1" kern="0" dirty="0" smtClean="0">
                <a:solidFill>
                  <a:srgbClr val="000000"/>
                </a:solidFill>
              </a:rPr>
              <a:t>结向</a:t>
            </a:r>
            <a:r>
              <a:rPr lang="en-US" altLang="zh-CN" b="1" kern="0" dirty="0" smtClean="0">
                <a:solidFill>
                  <a:srgbClr val="000000"/>
                </a:solidFill>
              </a:rPr>
              <a:t>P</a:t>
            </a:r>
            <a:r>
              <a:rPr lang="zh-CN" altLang="en-US" b="1" kern="0" dirty="0" smtClean="0">
                <a:solidFill>
                  <a:srgbClr val="000000"/>
                </a:solidFill>
              </a:rPr>
              <a:t>型区内部延伸。</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pic>
        <p:nvPicPr>
          <p:cNvPr id="3" name="图片 2"/>
          <p:cNvPicPr>
            <a:picLocks noChangeAspect="1"/>
          </p:cNvPicPr>
          <p:nvPr/>
        </p:nvPicPr>
        <p:blipFill>
          <a:blip r:embed="rId2"/>
          <a:stretch>
            <a:fillRect/>
          </a:stretch>
        </p:blipFill>
        <p:spPr>
          <a:xfrm>
            <a:off x="1828686" y="2936594"/>
            <a:ext cx="5444147" cy="3611690"/>
          </a:xfrm>
          <a:prstGeom prst="rect">
            <a:avLst/>
          </a:prstGeom>
        </p:spPr>
      </p:pic>
    </p:spTree>
    <p:extLst>
      <p:ext uri="{BB962C8B-B14F-4D97-AF65-F5344CB8AC3E}">
        <p14:creationId xmlns:p14="http://schemas.microsoft.com/office/powerpoint/2010/main" val="13474186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53</a:t>
            </a:fld>
            <a:endParaRPr lang="zh-CN" altLang="en-US"/>
          </a:p>
        </p:txBody>
      </p:sp>
      <p:sp>
        <p:nvSpPr>
          <p:cNvPr id="5" name="Text Box 61"/>
          <p:cNvSpPr txBox="1">
            <a:spLocks noChangeArrowheads="1"/>
          </p:cNvSpPr>
          <p:nvPr/>
        </p:nvSpPr>
        <p:spPr bwMode="auto">
          <a:xfrm>
            <a:off x="328854" y="336874"/>
            <a:ext cx="8551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noProof="0" dirty="0" smtClean="0">
                <a:solidFill>
                  <a:srgbClr val="000000"/>
                </a:solidFill>
              </a:rPr>
              <a:t>当</a:t>
            </a:r>
            <a:r>
              <a:rPr lang="en-US" altLang="zh-CN" b="1" kern="0" noProof="0" dirty="0" smtClean="0">
                <a:solidFill>
                  <a:srgbClr val="000000"/>
                </a:solidFill>
              </a:rPr>
              <a:t>PN</a:t>
            </a:r>
            <a:r>
              <a:rPr lang="zh-CN" altLang="en-US" b="1" kern="0" noProof="0" dirty="0" smtClean="0">
                <a:solidFill>
                  <a:srgbClr val="000000"/>
                </a:solidFill>
              </a:rPr>
              <a:t>结施加反向电压</a:t>
            </a:r>
            <a:r>
              <a:rPr lang="en-US" altLang="zh-CN" b="1" kern="0" noProof="0" dirty="0" smtClean="0">
                <a:solidFill>
                  <a:srgbClr val="000000"/>
                </a:solidFill>
              </a:rPr>
              <a:t>V</a:t>
            </a:r>
            <a:r>
              <a:rPr lang="en-US" altLang="zh-CN" b="1" kern="0" baseline="-25000" noProof="0" dirty="0" smtClean="0">
                <a:solidFill>
                  <a:srgbClr val="000000"/>
                </a:solidFill>
              </a:rPr>
              <a:t>R</a:t>
            </a:r>
            <a:r>
              <a:rPr lang="zh-CN" altLang="en-US" b="1" kern="0" dirty="0" smtClean="0">
                <a:solidFill>
                  <a:srgbClr val="000000"/>
                </a:solidFill>
              </a:rPr>
              <a:t>，</a:t>
            </a:r>
            <a:r>
              <a:rPr lang="en-US" altLang="zh-CN" b="1" kern="0" dirty="0" smtClean="0">
                <a:solidFill>
                  <a:srgbClr val="000000"/>
                </a:solidFill>
              </a:rPr>
              <a:t>P</a:t>
            </a:r>
            <a:r>
              <a:rPr lang="zh-CN" altLang="en-US" b="1" kern="0" dirty="0" smtClean="0">
                <a:solidFill>
                  <a:srgbClr val="000000"/>
                </a:solidFill>
              </a:rPr>
              <a:t>型区边界处的非平衡电子浓度</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2315936" y="902322"/>
                <a:ext cx="4260333" cy="815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𝑛</m:t>
                      </m:r>
                      <m:r>
                        <a:rPr lang="en-US" altLang="zh-CN" sz="240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𝑛</m:t>
                          </m:r>
                        </m:e>
                        <m:sub>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𝑝</m:t>
                          </m:r>
                        </m:sub>
                      </m:sSub>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𝑅</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𝑘𝑇</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𝑛</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den>
                      </m:f>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a:rPr lang="en-US" altLang="zh-CN" sz="2400" i="1">
                              <a:latin typeface="Cambria Math" panose="02040503050406030204" pitchFamily="18" charset="0"/>
                            </a:rPr>
                            <m:t>/</m:t>
                          </m:r>
                          <m:r>
                            <a:rPr lang="en-US" altLang="zh-CN" sz="2400" i="1">
                              <a:latin typeface="Cambria Math" panose="02040503050406030204" pitchFamily="18" charset="0"/>
                            </a:rPr>
                            <m:t>𝑘𝑇</m:t>
                          </m:r>
                        </m:sup>
                      </m:sSup>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315936" y="902322"/>
                <a:ext cx="4260333" cy="815864"/>
              </a:xfrm>
              <a:prstGeom prst="rect">
                <a:avLst/>
              </a:prstGeom>
              <a:blipFill>
                <a:blip r:embed="rId3"/>
                <a:stretch>
                  <a:fillRect/>
                </a:stretch>
              </a:blipFill>
            </p:spPr>
            <p:txBody>
              <a:bodyPr/>
              <a:lstStyle/>
              <a:p>
                <a:r>
                  <a:rPr lang="zh-CN" altLang="en-US">
                    <a:noFill/>
                  </a:rPr>
                  <a:t> </a:t>
                </a:r>
              </a:p>
            </p:txBody>
          </p:sp>
        </mc:Fallback>
      </mc:AlternateContent>
      <p:sp>
        <p:nvSpPr>
          <p:cNvPr id="7" name="Text Box 61"/>
          <p:cNvSpPr txBox="1">
            <a:spLocks noChangeArrowheads="1"/>
          </p:cNvSpPr>
          <p:nvPr/>
        </p:nvSpPr>
        <p:spPr bwMode="auto">
          <a:xfrm>
            <a:off x="328854" y="1821969"/>
            <a:ext cx="8551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en-US" altLang="zh-CN" b="1" kern="0" dirty="0" smtClean="0">
                <a:solidFill>
                  <a:srgbClr val="000000"/>
                </a:solidFill>
              </a:rPr>
              <a:t>N</a:t>
            </a:r>
            <a:r>
              <a:rPr lang="zh-CN" altLang="en-US" b="1" kern="0" dirty="0" smtClean="0">
                <a:solidFill>
                  <a:srgbClr val="000000"/>
                </a:solidFill>
              </a:rPr>
              <a:t>区电子准费米能级比</a:t>
            </a:r>
            <a:r>
              <a:rPr lang="en-US" altLang="zh-CN" b="1" kern="0" dirty="0" smtClean="0">
                <a:solidFill>
                  <a:srgbClr val="000000"/>
                </a:solidFill>
              </a:rPr>
              <a:t>P</a:t>
            </a:r>
            <a:r>
              <a:rPr lang="zh-CN" altLang="en-US" b="1" kern="0" dirty="0" smtClean="0">
                <a:solidFill>
                  <a:srgbClr val="000000"/>
                </a:solidFill>
              </a:rPr>
              <a:t>区低</a:t>
            </a:r>
            <a:r>
              <a:rPr lang="en-US" altLang="zh-CN" b="1" kern="0" dirty="0" smtClean="0">
                <a:solidFill>
                  <a:srgbClr val="000000"/>
                </a:solidFill>
              </a:rPr>
              <a:t>V</a:t>
            </a:r>
            <a:r>
              <a:rPr lang="en-US" altLang="zh-CN" b="1" kern="0" baseline="-25000" dirty="0" smtClean="0">
                <a:solidFill>
                  <a:srgbClr val="000000"/>
                </a:solidFill>
              </a:rPr>
              <a:t>R</a:t>
            </a:r>
            <a:r>
              <a:rPr lang="zh-CN" altLang="en-US" b="1" kern="0" dirty="0" smtClean="0">
                <a:solidFill>
                  <a:srgbClr val="000000"/>
                </a:solidFill>
              </a:rPr>
              <a:t>。</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pic>
        <p:nvPicPr>
          <p:cNvPr id="3" name="图片 2"/>
          <p:cNvPicPr>
            <a:picLocks noChangeAspect="1"/>
          </p:cNvPicPr>
          <p:nvPr/>
        </p:nvPicPr>
        <p:blipFill>
          <a:blip r:embed="rId4"/>
          <a:stretch>
            <a:fillRect/>
          </a:stretch>
        </p:blipFill>
        <p:spPr>
          <a:xfrm>
            <a:off x="967899" y="2450020"/>
            <a:ext cx="7273704" cy="4191445"/>
          </a:xfrm>
          <a:prstGeom prst="rect">
            <a:avLst/>
          </a:prstGeom>
        </p:spPr>
      </p:pic>
    </p:spTree>
    <p:extLst>
      <p:ext uri="{BB962C8B-B14F-4D97-AF65-F5344CB8AC3E}">
        <p14:creationId xmlns:p14="http://schemas.microsoft.com/office/powerpoint/2010/main" val="1274477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54</a:t>
            </a:fld>
            <a:endParaRPr lang="zh-CN" altLang="en-US"/>
          </a:p>
        </p:txBody>
      </p:sp>
      <p:sp>
        <p:nvSpPr>
          <p:cNvPr id="4" name="Text Box 61"/>
          <p:cNvSpPr txBox="1">
            <a:spLocks noChangeArrowheads="1"/>
          </p:cNvSpPr>
          <p:nvPr/>
        </p:nvSpPr>
        <p:spPr bwMode="auto">
          <a:xfrm>
            <a:off x="328854" y="147092"/>
            <a:ext cx="855179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noProof="0" dirty="0" smtClean="0">
                <a:solidFill>
                  <a:srgbClr val="000000"/>
                </a:solidFill>
              </a:rPr>
              <a:t>此时施加栅压导致表面势变化         ，</a:t>
            </a:r>
            <a:r>
              <a:rPr lang="zh-CN" altLang="en-US" b="1" kern="0" dirty="0" smtClean="0">
                <a:solidFill>
                  <a:srgbClr val="000000"/>
                </a:solidFill>
              </a:rPr>
              <a:t>将使导带距离准费米能级的位置减小</a:t>
            </a:r>
            <a:endParaRPr lang="en-US" altLang="zh-CN" b="1" kern="0" dirty="0" smtClean="0">
              <a:solidFill>
                <a:srgbClr val="000000"/>
              </a:solidFill>
            </a:endParaRPr>
          </a:p>
          <a:p>
            <a:pPr marL="0" marR="0" lvl="0" indent="0" defTabSz="914400" eaLnBrk="0" fontAlgn="base" latinLnBrk="0" hangingPunct="0">
              <a:lnSpc>
                <a:spcPct val="100000"/>
              </a:lnSpc>
              <a:spcBef>
                <a:spcPct val="50000"/>
              </a:spcBef>
              <a:spcAft>
                <a:spcPct val="0"/>
              </a:spcAft>
              <a:buClrTx/>
              <a:buSzTx/>
              <a:buFontTx/>
              <a:buNone/>
              <a:tabLst/>
              <a:defRPr/>
            </a:pP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则此时</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5" name="文本框 4"/>
              <p:cNvSpPr txBox="1"/>
              <p:nvPr/>
            </p:nvSpPr>
            <p:spPr>
              <a:xfrm>
                <a:off x="4471169" y="203757"/>
                <a:ext cx="6263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2</m:t>
                      </m:r>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b="0" i="1" smtClean="0">
                              <a:latin typeface="Cambria Math" panose="02040503050406030204" pitchFamily="18" charset="0"/>
                            </a:rPr>
                            <m:t>𝐵</m:t>
                          </m:r>
                        </m:sub>
                      </m:sSub>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471169" y="203757"/>
                <a:ext cx="626325" cy="369332"/>
              </a:xfrm>
              <a:prstGeom prst="rect">
                <a:avLst/>
              </a:prstGeom>
              <a:blipFill>
                <a:blip r:embed="rId2"/>
                <a:stretch>
                  <a:fillRect l="-10680" r="-2913" b="-32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989760" y="559582"/>
                <a:ext cx="6263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2</m:t>
                      </m:r>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b="0" i="1" smtClean="0">
                              <a:latin typeface="Cambria Math" panose="02040503050406030204" pitchFamily="18" charset="0"/>
                            </a:rPr>
                            <m:t>𝐵</m:t>
                          </m:r>
                        </m:sub>
                      </m:sSub>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1989760" y="559582"/>
                <a:ext cx="626325" cy="369332"/>
              </a:xfrm>
              <a:prstGeom prst="rect">
                <a:avLst/>
              </a:prstGeom>
              <a:blipFill>
                <a:blip r:embed="rId3"/>
                <a:stretch>
                  <a:fillRect l="-10680" r="-2913" b="-3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989760" y="907018"/>
                <a:ext cx="5328382" cy="815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𝑛</m:t>
                      </m:r>
                      <m:r>
                        <a:rPr lang="en-US" altLang="zh-CN" sz="2400" i="1" smtClean="0">
                          <a:latin typeface="Cambria Math" panose="02040503050406030204" pitchFamily="18" charset="0"/>
                        </a:rPr>
                        <m:t>=</m:t>
                      </m:r>
                      <m:f>
                        <m:fPr>
                          <m:ctrlPr>
                            <a:rPr lang="en-US" altLang="zh-CN" sz="2400" b="0" i="1" smtClean="0">
                              <a:latin typeface="Cambria Math" panose="02040503050406030204" pitchFamily="18" charset="0"/>
                            </a:rPr>
                          </m:ctrlPr>
                        </m:fPr>
                        <m:num>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𝑛</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den>
                      </m:f>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𝑞</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𝑘𝑇</m:t>
                          </m:r>
                        </m:sup>
                      </m:s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a:rPr lang="en-US" altLang="zh-CN" sz="2400" i="1">
                              <a:latin typeface="Cambria Math" panose="02040503050406030204" pitchFamily="18" charset="0"/>
                            </a:rPr>
                            <m:t>/</m:t>
                          </m:r>
                          <m:r>
                            <a:rPr lang="en-US" altLang="zh-CN" sz="2400" i="1">
                              <a:latin typeface="Cambria Math" panose="02040503050406030204" pitchFamily="18" charset="0"/>
                            </a:rPr>
                            <m:t>𝑘𝑇</m:t>
                          </m:r>
                        </m:sup>
                      </m:sSup>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a:rPr lang="en-US" altLang="zh-CN" sz="2400" i="1">
                              <a:latin typeface="Cambria Math" panose="02040503050406030204" pitchFamily="18" charset="0"/>
                            </a:rPr>
                            <m:t>/</m:t>
                          </m:r>
                          <m:r>
                            <a:rPr lang="en-US" altLang="zh-CN" sz="2400" i="1">
                              <a:latin typeface="Cambria Math" panose="02040503050406030204" pitchFamily="18" charset="0"/>
                            </a:rPr>
                            <m:t>𝑘𝑇</m:t>
                          </m:r>
                        </m:sup>
                      </m:sSup>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1989760" y="907018"/>
                <a:ext cx="5328382" cy="81586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 Box 61"/>
              <p:cNvSpPr txBox="1">
                <a:spLocks noChangeArrowheads="1"/>
              </p:cNvSpPr>
              <p:nvPr/>
            </p:nvSpPr>
            <p:spPr bwMode="auto">
              <a:xfrm>
                <a:off x="328853" y="1772406"/>
                <a:ext cx="8551795" cy="1200329"/>
              </a:xfrm>
              <a:prstGeom prst="rect">
                <a:avLst/>
              </a:prstGeom>
              <a:noFill/>
              <a:ln>
                <a:noFill/>
              </a:ln>
              <a:extLst>
                <a:ext uri="{909E8E84-426E-40DD-AFC4-6F175D3DCCD1}">
                  <a14:hiddenFill>
                    <a:solidFill>
                      <a:srgbClr val="FFFFFF"/>
                    </a:solidFill>
                  </a14:hiddenFill>
                </a:ext>
                <a:ext uri="{91240B29-F687-4F45-9708-019B960494DF}">
                  <a14:hiddenLine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可见，电子浓度仍远低于</a:t>
                </a:r>
                <a:r>
                  <a:rPr lang="en-US" altLang="zh-CN" b="1" i="1" kern="0" dirty="0" smtClean="0">
                    <a:solidFill>
                      <a:srgbClr val="000000"/>
                    </a:solidFill>
                  </a:rPr>
                  <a:t>N</a:t>
                </a:r>
                <a:r>
                  <a:rPr lang="en-US" altLang="zh-CN" b="1" i="1" kern="0" baseline="-25000" dirty="0" smtClean="0">
                    <a:solidFill>
                      <a:srgbClr val="000000"/>
                    </a:solidFill>
                  </a:rPr>
                  <a:t>a</a:t>
                </a:r>
                <a:r>
                  <a:rPr lang="zh-CN" altLang="en-US" b="1" kern="0" dirty="0" smtClean="0">
                    <a:solidFill>
                      <a:srgbClr val="000000"/>
                    </a:solidFill>
                  </a:rPr>
                  <a:t>，</a:t>
                </a:r>
                <a:r>
                  <a:rPr lang="en-US" altLang="zh-CN" b="1" kern="0" dirty="0" smtClean="0">
                    <a:solidFill>
                      <a:srgbClr val="000000"/>
                    </a:solidFill>
                  </a:rPr>
                  <a:t>P</a:t>
                </a:r>
                <a:r>
                  <a:rPr lang="zh-CN" altLang="en-US" b="1" kern="0" dirty="0" smtClean="0">
                    <a:solidFill>
                      <a:srgbClr val="000000"/>
                    </a:solidFill>
                  </a:rPr>
                  <a:t>型区表面仍然处于耗尽状态。</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因此，平衡时的强反型电压</a:t>
                </a:r>
                <a14:m>
                  <m:oMath xmlns:m="http://schemas.openxmlformats.org/officeDocument/2006/math">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zh-CN" altLang="en-US" i="1">
                            <a:latin typeface="Cambria Math" panose="02040503050406030204" pitchFamily="18" charset="0"/>
                          </a:rPr>
                          <m:t>𝜓</m:t>
                        </m:r>
                      </m:e>
                      <m:sub>
                        <m:r>
                          <a:rPr lang="en-US" altLang="zh-CN" i="1">
                            <a:latin typeface="Cambria Math" panose="02040503050406030204" pitchFamily="18" charset="0"/>
                          </a:rPr>
                          <m:t>𝐵</m:t>
                        </m:r>
                      </m:sub>
                    </m:sSub>
                  </m:oMath>
                </a14:m>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不足以在非平衡时造成反型。这是由于漏极电压造成了</a:t>
                </a:r>
                <a:r>
                  <a:rPr kumimoji="1" lang="en-US" altLang="zh-CN"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P</a:t>
                </a:r>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区电子准费米能级的下降</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mc:Choice>
        <mc:Fallback xmlns="">
          <p:sp>
            <p:nvSpPr>
              <p:cNvPr id="8" name="Text Box 61"/>
              <p:cNvSpPr txBox="1">
                <a:spLocks noRot="1" noChangeAspect="1" noMove="1" noResize="1" noEditPoints="1" noAdjustHandles="1" noChangeArrowheads="1" noChangeShapeType="1" noTextEdit="1"/>
              </p:cNvSpPr>
              <p:nvPr/>
            </p:nvSpPr>
            <p:spPr bwMode="auto">
              <a:xfrm>
                <a:off x="328853" y="1772406"/>
                <a:ext cx="8551795" cy="1200329"/>
              </a:xfrm>
              <a:prstGeom prst="rect">
                <a:avLst/>
              </a:prstGeom>
              <a:blipFill>
                <a:blip r:embed="rId5"/>
                <a:stretch>
                  <a:fillRect l="-1140" t="-5584" b="-111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lstStyle/>
              <a:p>
                <a:r>
                  <a:rPr lang="zh-CN" altLang="en-US">
                    <a:noFill/>
                  </a:rPr>
                  <a:t> </a:t>
                </a:r>
              </a:p>
            </p:txBody>
          </p:sp>
        </mc:Fallback>
      </mc:AlternateContent>
      <p:pic>
        <p:nvPicPr>
          <p:cNvPr id="9" name="图片 8"/>
          <p:cNvPicPr>
            <a:picLocks noChangeAspect="1"/>
          </p:cNvPicPr>
          <p:nvPr/>
        </p:nvPicPr>
        <p:blipFill>
          <a:blip r:embed="rId6"/>
          <a:stretch>
            <a:fillRect/>
          </a:stretch>
        </p:blipFill>
        <p:spPr>
          <a:xfrm>
            <a:off x="1403845" y="2979244"/>
            <a:ext cx="6434625" cy="3707929"/>
          </a:xfrm>
          <a:prstGeom prst="rect">
            <a:avLst/>
          </a:prstGeom>
        </p:spPr>
      </p:pic>
    </p:spTree>
    <p:extLst>
      <p:ext uri="{BB962C8B-B14F-4D97-AF65-F5344CB8AC3E}">
        <p14:creationId xmlns:p14="http://schemas.microsoft.com/office/powerpoint/2010/main" val="4141750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55</a:t>
            </a:fld>
            <a:endParaRPr lang="zh-CN" altLang="en-US"/>
          </a:p>
        </p:txBody>
      </p:sp>
      <mc:AlternateContent xmlns:mc="http://schemas.openxmlformats.org/markup-compatibility/2006" xmlns:a14="http://schemas.microsoft.com/office/drawing/2010/main">
        <mc:Choice Requires="a14">
          <p:sp>
            <p:nvSpPr>
              <p:cNvPr id="4" name="Text Box 61"/>
              <p:cNvSpPr txBox="1">
                <a:spLocks noChangeArrowheads="1"/>
              </p:cNvSpPr>
              <p:nvPr/>
            </p:nvSpPr>
            <p:spPr bwMode="auto">
              <a:xfrm>
                <a:off x="328852" y="389048"/>
                <a:ext cx="8551795" cy="461665"/>
              </a:xfrm>
              <a:prstGeom prst="rect">
                <a:avLst/>
              </a:prstGeom>
              <a:noFill/>
              <a:ln>
                <a:noFill/>
              </a:ln>
              <a:extLst>
                <a:ext uri="{909E8E84-426E-40DD-AFC4-6F175D3DCCD1}">
                  <a14:hiddenFill>
                    <a:solidFill>
                      <a:srgbClr val="FFFFFF"/>
                    </a:solidFill>
                  </a14:hiddenFill>
                </a:ext>
                <a:ext uri="{91240B29-F687-4F45-9708-019B960494DF}">
                  <a14:hiddenLine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当栅压导致表面势变化超过</a:t>
                </a:r>
                <a14:m>
                  <m:oMath xmlns:m="http://schemas.openxmlformats.org/officeDocument/2006/math">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zh-CN" altLang="en-US" i="1">
                            <a:latin typeface="Cambria Math" panose="02040503050406030204" pitchFamily="18" charset="0"/>
                          </a:rPr>
                          <m:t>𝜓</m:t>
                        </m:r>
                      </m:e>
                      <m:sub>
                        <m:r>
                          <a:rPr lang="en-US" altLang="zh-CN" i="1">
                            <a:latin typeface="Cambria Math" panose="02040503050406030204" pitchFamily="18" charset="0"/>
                          </a:rPr>
                          <m:t>𝐵</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𝑅</m:t>
                        </m:r>
                      </m:sub>
                    </m:sSub>
                  </m:oMath>
                </a14:m>
                <a:r>
                  <a:rPr kumimoji="1" lang="zh-CN" altLang="en-US" sz="2400" b="1" i="0" u="none" strike="noStrike" kern="0" cap="none" spc="0" normalizeH="0" baseline="0" noProof="0" dirty="0" smtClean="0">
                    <a:ln>
                      <a:noFill/>
                    </a:ln>
                    <a:solidFill>
                      <a:srgbClr val="000000"/>
                    </a:solidFill>
                    <a:effectLst/>
                    <a:uLnTx/>
                    <a:uFillTx/>
                    <a:latin typeface="Times New Roman" pitchFamily="18" charset="0"/>
                    <a:ea typeface="宋体" pitchFamily="2" charset="-122"/>
                  </a:rPr>
                  <a:t>时，</a:t>
                </a:r>
                <a:r>
                  <a:rPr lang="zh-CN" altLang="en-US" b="1" kern="0" dirty="0" smtClean="0">
                    <a:solidFill>
                      <a:srgbClr val="000000"/>
                    </a:solidFill>
                  </a:rPr>
                  <a:t>才出现强反型</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mc:Choice>
        <mc:Fallback xmlns="">
          <p:sp>
            <p:nvSpPr>
              <p:cNvPr id="4" name="Text Box 61"/>
              <p:cNvSpPr txBox="1">
                <a:spLocks noRot="1" noChangeAspect="1" noMove="1" noResize="1" noEditPoints="1" noAdjustHandles="1" noChangeArrowheads="1" noChangeShapeType="1" noTextEdit="1"/>
              </p:cNvSpPr>
              <p:nvPr/>
            </p:nvSpPr>
            <p:spPr bwMode="auto">
              <a:xfrm>
                <a:off x="328852" y="389048"/>
                <a:ext cx="8551795" cy="461665"/>
              </a:xfrm>
              <a:prstGeom prst="rect">
                <a:avLst/>
              </a:prstGeom>
              <a:blipFill>
                <a:blip r:embed="rId2"/>
                <a:stretch>
                  <a:fillRect l="-1140"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818419" y="929251"/>
                <a:ext cx="4799840" cy="815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𝑛</m:t>
                      </m:r>
                      <m:r>
                        <a:rPr lang="en-US" altLang="zh-CN" sz="2400" i="1" smtClean="0">
                          <a:latin typeface="Cambria Math" panose="02040503050406030204" pitchFamily="18" charset="0"/>
                        </a:rPr>
                        <m:t>=</m:t>
                      </m:r>
                      <m:f>
                        <m:fPr>
                          <m:ctrlPr>
                            <a:rPr lang="en-US" altLang="zh-CN" sz="2400" b="0" i="1" smtClean="0">
                              <a:latin typeface="Cambria Math" panose="02040503050406030204" pitchFamily="18" charset="0"/>
                            </a:rPr>
                          </m:ctrlPr>
                        </m:fPr>
                        <m:num>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𝑛</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den>
                      </m:f>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𝑞</m:t>
                          </m:r>
                          <m:r>
                            <a:rPr lang="en-US" altLang="zh-CN" sz="2400" b="0" i="1" smtClean="0">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𝑘𝑇</m:t>
                          </m:r>
                        </m:sup>
                      </m:s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a:rPr lang="en-US" altLang="zh-CN" sz="2400" i="1">
                              <a:latin typeface="Cambria Math" panose="02040503050406030204" pitchFamily="18" charset="0"/>
                            </a:rPr>
                            <m:t>/</m:t>
                          </m:r>
                          <m:r>
                            <a:rPr lang="en-US" altLang="zh-CN" sz="2400" i="1">
                              <a:latin typeface="Cambria Math" panose="02040503050406030204" pitchFamily="18" charset="0"/>
                            </a:rPr>
                            <m:t>𝑘𝑇</m:t>
                          </m:r>
                        </m:sup>
                      </m:sSup>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818419" y="929251"/>
                <a:ext cx="4799840" cy="815864"/>
              </a:xfrm>
              <a:prstGeom prst="rect">
                <a:avLst/>
              </a:prstGeom>
              <a:blipFill>
                <a:blip r:embed="rId4"/>
                <a:stretch>
                  <a:fillRect/>
                </a:stretch>
              </a:blipFill>
            </p:spPr>
            <p:txBody>
              <a:bodyPr/>
              <a:lstStyle/>
              <a:p>
                <a:r>
                  <a:rPr lang="zh-CN" altLang="en-US">
                    <a:noFill/>
                  </a:rPr>
                  <a:t> </a:t>
                </a:r>
              </a:p>
            </p:txBody>
          </p:sp>
        </mc:Fallback>
      </mc:AlternateContent>
      <p:sp>
        <p:nvSpPr>
          <p:cNvPr id="6" name="Text Box 61"/>
          <p:cNvSpPr txBox="1">
            <a:spLocks noChangeArrowheads="1"/>
          </p:cNvSpPr>
          <p:nvPr/>
        </p:nvSpPr>
        <p:spPr bwMode="auto">
          <a:xfrm>
            <a:off x="328852" y="2001361"/>
            <a:ext cx="8551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此时耗尽区宽度远比平衡的时候大</a:t>
            </a:r>
            <a:endPar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pitchFamily="2" charset="-122"/>
            </a:endParaRPr>
          </a:p>
        </p:txBody>
      </p:sp>
      <p:pic>
        <p:nvPicPr>
          <p:cNvPr id="7" name="图片 6"/>
          <p:cNvPicPr>
            <a:picLocks noChangeAspect="1"/>
          </p:cNvPicPr>
          <p:nvPr/>
        </p:nvPicPr>
        <p:blipFill>
          <a:blip r:embed="rId5"/>
          <a:stretch>
            <a:fillRect/>
          </a:stretch>
        </p:blipFill>
        <p:spPr>
          <a:xfrm>
            <a:off x="967899" y="2450020"/>
            <a:ext cx="7273704" cy="4191445"/>
          </a:xfrm>
          <a:prstGeom prst="rect">
            <a:avLst/>
          </a:prstGeom>
        </p:spPr>
      </p:pic>
    </p:spTree>
    <p:extLst>
      <p:ext uri="{BB962C8B-B14F-4D97-AF65-F5344CB8AC3E}">
        <p14:creationId xmlns:p14="http://schemas.microsoft.com/office/powerpoint/2010/main" val="10278421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56</a:t>
            </a:fld>
            <a:endParaRPr lang="zh-CN" altLang="en-US"/>
          </a:p>
        </p:txBody>
      </p:sp>
      <p:sp>
        <p:nvSpPr>
          <p:cNvPr id="5" name="Text Box 61"/>
          <p:cNvSpPr txBox="1">
            <a:spLocks noChangeArrowheads="1"/>
          </p:cNvSpPr>
          <p:nvPr/>
        </p:nvSpPr>
        <p:spPr bwMode="auto">
          <a:xfrm>
            <a:off x="216708" y="345090"/>
            <a:ext cx="867081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此时</a:t>
            </a:r>
            <a:r>
              <a:rPr lang="en-US" altLang="zh-CN" b="1" kern="0" dirty="0" smtClean="0">
                <a:solidFill>
                  <a:srgbClr val="000000"/>
                </a:solidFill>
              </a:rPr>
              <a:t>P</a:t>
            </a:r>
            <a:r>
              <a:rPr lang="zh-CN" altLang="en-US" b="1" kern="0" dirty="0" smtClean="0">
                <a:solidFill>
                  <a:srgbClr val="000000"/>
                </a:solidFill>
              </a:rPr>
              <a:t>区表面的空穴准费米能级与衬底相同（为什么是平的？），但是电子准费米能级受到漏极电压的影响，比</a:t>
            </a:r>
            <a:r>
              <a:rPr lang="en-US" altLang="zh-CN" b="1" kern="0" dirty="0" smtClean="0">
                <a:solidFill>
                  <a:srgbClr val="000000"/>
                </a:solidFill>
              </a:rPr>
              <a:t>P</a:t>
            </a:r>
            <a:r>
              <a:rPr lang="zh-CN" altLang="en-US" b="1" kern="0" dirty="0" smtClean="0">
                <a:solidFill>
                  <a:srgbClr val="000000"/>
                </a:solidFill>
              </a:rPr>
              <a:t>型半导体中的电子费米能级低</a:t>
            </a:r>
            <a:r>
              <a:rPr lang="en-US" altLang="zh-CN" b="1" i="1" kern="0" dirty="0" smtClean="0">
                <a:solidFill>
                  <a:srgbClr val="000000"/>
                </a:solidFill>
              </a:rPr>
              <a:t>V</a:t>
            </a:r>
            <a:r>
              <a:rPr lang="en-US" altLang="zh-CN" b="1" i="1" kern="0" baseline="-25000" dirty="0" smtClean="0">
                <a:solidFill>
                  <a:srgbClr val="000000"/>
                </a:solidFill>
              </a:rPr>
              <a:t>R</a:t>
            </a:r>
          </a:p>
        </p:txBody>
      </p:sp>
      <mc:AlternateContent xmlns:mc="http://schemas.openxmlformats.org/markup-compatibility/2006" xmlns:a14="http://schemas.microsoft.com/office/drawing/2010/main">
        <mc:Choice Requires="a14">
          <p:sp>
            <p:nvSpPr>
              <p:cNvPr id="6" name="文本框 5"/>
              <p:cNvSpPr txBox="1"/>
              <p:nvPr/>
            </p:nvSpPr>
            <p:spPr>
              <a:xfrm>
                <a:off x="715927" y="1631378"/>
                <a:ext cx="2421817" cy="369332"/>
              </a:xfrm>
              <a:prstGeom prst="rect">
                <a:avLst/>
              </a:prstGeom>
              <a:noFill/>
            </p:spPr>
            <p:txBody>
              <a:bodyPr wrap="none" lIns="0" tIns="0" rIns="0" bIns="0" rtlCol="0">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b="0" i="1" smtClean="0">
                            <a:latin typeface="Cambria Math" panose="02040503050406030204" pitchFamily="18" charset="0"/>
                          </a:rPr>
                          <m:t>𝑠</m:t>
                        </m:r>
                      </m:sub>
                    </m:sSub>
                    <m:d>
                      <m:dPr>
                        <m:ctrlPr>
                          <a:rPr lang="en-US" altLang="zh-CN" sz="2400" b="0" i="1" smtClean="0">
                            <a:latin typeface="Cambria Math" panose="02040503050406030204" pitchFamily="18" charset="0"/>
                          </a:rPr>
                        </m:ctrlPr>
                      </m:dPr>
                      <m:e>
                        <m:r>
                          <m:rPr>
                            <m:sty m:val="p"/>
                          </m:rPr>
                          <a:rPr lang="en-US" altLang="zh-CN" sz="2400" i="1">
                            <a:latin typeface="Cambria Math" panose="02040503050406030204" pitchFamily="18" charset="0"/>
                          </a:rPr>
                          <m:t>inv</m:t>
                        </m:r>
                      </m:e>
                    </m:d>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oMath>
                </a14:m>
                <a:r>
                  <a:rPr lang="en-US" altLang="zh-CN" sz="2400" dirty="0" smtClean="0"/>
                  <a:t>+</a:t>
                </a:r>
                <a14:m>
                  <m:oMath xmlns:m="http://schemas.openxmlformats.org/officeDocument/2006/math">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oMath>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715927" y="1631378"/>
                <a:ext cx="2421817" cy="369332"/>
              </a:xfrm>
              <a:prstGeom prst="rect">
                <a:avLst/>
              </a:prstGeom>
              <a:blipFill>
                <a:blip r:embed="rId3"/>
                <a:stretch>
                  <a:fillRect l="-5779" t="-26667" r="-1256" b="-50000"/>
                </a:stretch>
              </a:blipFill>
            </p:spPr>
            <p:txBody>
              <a:bodyPr/>
              <a:lstStyle/>
              <a:p>
                <a:r>
                  <a:rPr lang="zh-CN" altLang="en-US">
                    <a:noFill/>
                  </a:rPr>
                  <a:t> </a:t>
                </a:r>
              </a:p>
            </p:txBody>
          </p:sp>
        </mc:Fallback>
      </mc:AlternateContent>
      <p:sp>
        <p:nvSpPr>
          <p:cNvPr id="7" name="Text Box 61"/>
          <p:cNvSpPr txBox="1">
            <a:spLocks noChangeArrowheads="1"/>
          </p:cNvSpPr>
          <p:nvPr/>
        </p:nvSpPr>
        <p:spPr bwMode="auto">
          <a:xfrm>
            <a:off x="59160" y="2153967"/>
            <a:ext cx="3958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defTabSz="914400" fontAlgn="base">
              <a:spcBef>
                <a:spcPct val="50000"/>
              </a:spcBef>
              <a:spcAft>
                <a:spcPct val="0"/>
              </a:spcAft>
              <a:defRPr/>
            </a:pPr>
            <a:r>
              <a:rPr lang="zh-CN" altLang="en-US" b="1" kern="0" dirty="0" smtClean="0">
                <a:solidFill>
                  <a:srgbClr val="000000"/>
                </a:solidFill>
              </a:rPr>
              <a:t>最大耗尽区宽度是</a:t>
            </a:r>
            <a:r>
              <a:rPr lang="en-US" altLang="zh-CN" b="1" i="1" kern="0" dirty="0" smtClean="0">
                <a:solidFill>
                  <a:srgbClr val="000000"/>
                </a:solidFill>
              </a:rPr>
              <a:t>V</a:t>
            </a:r>
            <a:r>
              <a:rPr lang="en-US" altLang="zh-CN" b="1" i="1" kern="0" baseline="-25000" dirty="0" smtClean="0">
                <a:solidFill>
                  <a:srgbClr val="000000"/>
                </a:solidFill>
              </a:rPr>
              <a:t>R</a:t>
            </a:r>
            <a:r>
              <a:rPr lang="zh-CN" altLang="en-US" b="1" kern="0" dirty="0" smtClean="0">
                <a:solidFill>
                  <a:srgbClr val="000000"/>
                </a:solidFill>
              </a:rPr>
              <a:t>的函数</a:t>
            </a:r>
            <a:endParaRPr lang="en-US" altLang="zh-CN" b="1" i="1" kern="0" baseline="-25000" dirty="0" smtClean="0">
              <a:solidFill>
                <a:srgbClr val="000000"/>
              </a:solidFill>
            </a:endParaRPr>
          </a:p>
        </p:txBody>
      </p:sp>
      <mc:AlternateContent xmlns:mc="http://schemas.openxmlformats.org/markup-compatibility/2006" xmlns:a14="http://schemas.microsoft.com/office/drawing/2010/main">
        <mc:Choice Requires="a14">
          <p:sp>
            <p:nvSpPr>
              <p:cNvPr id="8" name="文本框 7"/>
              <p:cNvSpPr txBox="1"/>
              <p:nvPr/>
            </p:nvSpPr>
            <p:spPr>
              <a:xfrm>
                <a:off x="473323" y="2768889"/>
                <a:ext cx="3130152" cy="1091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𝑑𝑚</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𝜀</m:t>
                                  </m:r>
                                </m:e>
                                <m:sub>
                                  <m:r>
                                    <a:rPr lang="en-US" altLang="zh-CN" sz="2400" b="0" i="1" smtClean="0">
                                      <a:latin typeface="Cambria Math" panose="02040503050406030204" pitchFamily="18" charset="0"/>
                                    </a:rPr>
                                    <m:t>𝑆𝑖</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𝑅</m:t>
                                  </m:r>
                                </m:sub>
                              </m:sSub>
                              <m:r>
                                <m:rPr>
                                  <m:nor/>
                                </m:rPr>
                                <a:rPr lang="en-US" altLang="zh-CN" sz="2400" dirty="0"/>
                                <m:t>+</m:t>
                              </m:r>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num>
                            <m:den>
                              <m:r>
                                <a:rPr lang="en-US" altLang="zh-CN" sz="2400" b="0" i="1" smtClean="0">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r>
                                <m:rPr>
                                  <m:nor/>
                                </m:rPr>
                                <a:rPr lang="zh-CN" altLang="en-US" sz="2400" dirty="0"/>
                                <m:t> </m:t>
                              </m:r>
                            </m:den>
                          </m:f>
                        </m:e>
                      </m:rad>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473323" y="2768889"/>
                <a:ext cx="3130152" cy="1091196"/>
              </a:xfrm>
              <a:prstGeom prst="rect">
                <a:avLst/>
              </a:prstGeom>
              <a:blipFill>
                <a:blip r:embed="rId4"/>
                <a:stretch>
                  <a:fillRect/>
                </a:stretch>
              </a:blipFill>
            </p:spPr>
            <p:txBody>
              <a:bodyPr/>
              <a:lstStyle/>
              <a:p>
                <a:r>
                  <a:rPr lang="zh-CN" altLang="en-US">
                    <a:noFill/>
                  </a:rPr>
                  <a:t> </a:t>
                </a:r>
              </a:p>
            </p:txBody>
          </p:sp>
        </mc:Fallback>
      </mc:AlternateContent>
      <p:sp>
        <p:nvSpPr>
          <p:cNvPr id="9" name="Text Box 61"/>
          <p:cNvSpPr txBox="1">
            <a:spLocks noChangeArrowheads="1"/>
          </p:cNvSpPr>
          <p:nvPr/>
        </p:nvSpPr>
        <p:spPr bwMode="auto">
          <a:xfrm>
            <a:off x="216708" y="4475085"/>
            <a:ext cx="376234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表面耗尽情况相当于</a:t>
            </a:r>
            <a:r>
              <a:rPr lang="en-US" altLang="zh-CN" b="1" kern="0" dirty="0" smtClean="0">
                <a:solidFill>
                  <a:srgbClr val="000000"/>
                </a:solidFill>
              </a:rPr>
              <a:t>PN</a:t>
            </a:r>
            <a:r>
              <a:rPr lang="zh-CN" altLang="en-US" b="1" kern="0" dirty="0" smtClean="0">
                <a:solidFill>
                  <a:srgbClr val="000000"/>
                </a:solidFill>
              </a:rPr>
              <a:t>结的耗尽区向栅极下面延伸，表面反型情况相当于</a:t>
            </a:r>
            <a:r>
              <a:rPr lang="en-US" altLang="zh-CN" b="1" kern="0" dirty="0" smtClean="0">
                <a:solidFill>
                  <a:srgbClr val="000000"/>
                </a:solidFill>
              </a:rPr>
              <a:t>PN</a:t>
            </a:r>
            <a:r>
              <a:rPr lang="zh-CN" altLang="en-US" b="1" kern="0" dirty="0" smtClean="0">
                <a:solidFill>
                  <a:srgbClr val="000000"/>
                </a:solidFill>
              </a:rPr>
              <a:t>结耗尽区和</a:t>
            </a:r>
            <a:r>
              <a:rPr lang="en-US" altLang="zh-CN" b="1" kern="0" dirty="0" smtClean="0">
                <a:solidFill>
                  <a:srgbClr val="000000"/>
                </a:solidFill>
              </a:rPr>
              <a:t>N+</a:t>
            </a:r>
            <a:r>
              <a:rPr lang="zh-CN" altLang="en-US" b="1" kern="0" dirty="0" smtClean="0">
                <a:solidFill>
                  <a:srgbClr val="000000"/>
                </a:solidFill>
              </a:rPr>
              <a:t>区都向栅极下面延伸</a:t>
            </a:r>
            <a:endParaRPr lang="en-US" altLang="zh-CN" b="1" i="1" kern="0" baseline="-25000" dirty="0" smtClean="0">
              <a:solidFill>
                <a:srgbClr val="000000"/>
              </a:solidFill>
            </a:endParaRPr>
          </a:p>
        </p:txBody>
      </p:sp>
      <p:pic>
        <p:nvPicPr>
          <p:cNvPr id="3" name="图片 2"/>
          <p:cNvPicPr>
            <a:picLocks noChangeAspect="1"/>
          </p:cNvPicPr>
          <p:nvPr/>
        </p:nvPicPr>
        <p:blipFill>
          <a:blip r:embed="rId5"/>
          <a:stretch>
            <a:fillRect/>
          </a:stretch>
        </p:blipFill>
        <p:spPr>
          <a:xfrm>
            <a:off x="3979050" y="1631378"/>
            <a:ext cx="4841227" cy="4501387"/>
          </a:xfrm>
          <a:prstGeom prst="rect">
            <a:avLst/>
          </a:prstGeom>
        </p:spPr>
      </p:pic>
    </p:spTree>
    <p:extLst>
      <p:ext uri="{BB962C8B-B14F-4D97-AF65-F5344CB8AC3E}">
        <p14:creationId xmlns:p14="http://schemas.microsoft.com/office/powerpoint/2010/main" val="2101277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57</a:t>
            </a:fld>
            <a:endParaRPr lang="zh-CN" altLang="en-US"/>
          </a:p>
        </p:txBody>
      </p:sp>
      <p:sp>
        <p:nvSpPr>
          <p:cNvPr id="3" name="矩形 2"/>
          <p:cNvSpPr/>
          <p:nvPr/>
        </p:nvSpPr>
        <p:spPr>
          <a:xfrm>
            <a:off x="318579" y="241564"/>
            <a:ext cx="2058577" cy="523220"/>
          </a:xfrm>
          <a:prstGeom prst="rect">
            <a:avLst/>
          </a:prstGeom>
        </p:spPr>
        <p:txBody>
          <a:bodyPr wrap="none">
            <a:spAutoFit/>
          </a:bodyPr>
          <a:lstStyle/>
          <a:p>
            <a:pPr lvl="0">
              <a:spcBef>
                <a:spcPct val="50000"/>
              </a:spcBef>
            </a:pPr>
            <a:r>
              <a:rPr kumimoji="1" lang="en-US" altLang="zh-CN" sz="2800" b="1" dirty="0" smtClean="0">
                <a:solidFill>
                  <a:srgbClr val="D96227"/>
                </a:solidFill>
                <a:latin typeface="Times New Roman" pitchFamily="18" charset="0"/>
                <a:ea typeface="宋体" pitchFamily="2" charset="-122"/>
                <a:cs typeface="Times New Roman" pitchFamily="18" charset="0"/>
              </a:rPr>
              <a:t>2. MOSFET</a:t>
            </a:r>
            <a:endParaRPr kumimoji="1" lang="zh-CN" altLang="en-US" sz="2800" b="1" dirty="0">
              <a:solidFill>
                <a:srgbClr val="D96227"/>
              </a:solidFill>
              <a:latin typeface="Times New Roman" pitchFamily="18" charset="0"/>
              <a:ea typeface="宋体" pitchFamily="2" charset="-122"/>
              <a:cs typeface="Times New Roman" pitchFamily="18" charset="0"/>
            </a:endParaRPr>
          </a:p>
        </p:txBody>
      </p:sp>
      <p:sp>
        <p:nvSpPr>
          <p:cNvPr id="9" name="Text Box 2"/>
          <p:cNvSpPr txBox="1">
            <a:spLocks noChangeArrowheads="1"/>
          </p:cNvSpPr>
          <p:nvPr/>
        </p:nvSpPr>
        <p:spPr bwMode="auto">
          <a:xfrm>
            <a:off x="769938" y="3931758"/>
            <a:ext cx="2506662" cy="519112"/>
          </a:xfrm>
          <a:prstGeom prst="rect">
            <a:avLst/>
          </a:prstGeom>
          <a:noFill/>
          <a:ln w="9525">
            <a:noFill/>
            <a:miter lim="800000"/>
            <a:headEnd/>
            <a:tailEnd/>
          </a:ln>
          <a:effectLst/>
        </p:spPr>
        <p:txBody>
          <a:bodyPr wrap="none">
            <a:spAutoFit/>
          </a:bodyPr>
          <a:lstStyle/>
          <a:p>
            <a:pPr defTabSz="914400" fontAlgn="base">
              <a:spcBef>
                <a:spcPct val="0"/>
              </a:spcBef>
              <a:spcAft>
                <a:spcPct val="0"/>
              </a:spcAft>
            </a:pPr>
            <a:r>
              <a:rPr lang="en-US" altLang="zh-CN" sz="2800" b="1" i="1">
                <a:solidFill>
                  <a:srgbClr val="0000FF"/>
                </a:solidFill>
                <a:latin typeface="Times New Roman" pitchFamily="18" charset="0"/>
                <a:ea typeface="楷体_GB2312" pitchFamily="49" charset="-122"/>
              </a:rPr>
              <a:t>V</a:t>
            </a:r>
            <a:r>
              <a:rPr lang="en-US" altLang="zh-CN" sz="2800" b="1" i="1" baseline="-25000">
                <a:solidFill>
                  <a:srgbClr val="0000FF"/>
                </a:solidFill>
                <a:latin typeface="Times New Roman" pitchFamily="18" charset="0"/>
                <a:ea typeface="楷体_GB2312" pitchFamily="49" charset="-122"/>
              </a:rPr>
              <a:t>B</a:t>
            </a:r>
            <a:r>
              <a:rPr lang="en-US" altLang="zh-CN" sz="2800" b="1">
                <a:solidFill>
                  <a:srgbClr val="0000FF"/>
                </a:solidFill>
                <a:latin typeface="Times New Roman" pitchFamily="18" charset="0"/>
                <a:ea typeface="楷体_GB2312" pitchFamily="49" charset="-122"/>
              </a:rPr>
              <a:t>=0, </a:t>
            </a:r>
            <a:r>
              <a:rPr lang="en-US" altLang="zh-CN" sz="2800" b="1" i="1">
                <a:solidFill>
                  <a:srgbClr val="0000FF"/>
                </a:solidFill>
                <a:latin typeface="Times New Roman" pitchFamily="18" charset="0"/>
                <a:ea typeface="楷体_GB2312" pitchFamily="49" charset="-122"/>
              </a:rPr>
              <a:t>V</a:t>
            </a:r>
            <a:r>
              <a:rPr lang="en-US" altLang="zh-CN" sz="2800" b="1" i="1" baseline="-25000">
                <a:solidFill>
                  <a:srgbClr val="0000FF"/>
                </a:solidFill>
                <a:latin typeface="Times New Roman" pitchFamily="18" charset="0"/>
                <a:ea typeface="楷体_GB2312" pitchFamily="49" charset="-122"/>
              </a:rPr>
              <a:t>S</a:t>
            </a:r>
            <a:r>
              <a:rPr lang="en-US" altLang="zh-CN" sz="2800" b="1">
                <a:solidFill>
                  <a:srgbClr val="0000FF"/>
                </a:solidFill>
                <a:latin typeface="Times New Roman" pitchFamily="18" charset="0"/>
                <a:ea typeface="楷体_GB2312" pitchFamily="49" charset="-122"/>
              </a:rPr>
              <a:t>=</a:t>
            </a:r>
            <a:r>
              <a:rPr lang="en-US" altLang="zh-CN" sz="2800" b="1" i="1">
                <a:solidFill>
                  <a:srgbClr val="0000FF"/>
                </a:solidFill>
                <a:latin typeface="Times New Roman" pitchFamily="18" charset="0"/>
                <a:ea typeface="楷体_GB2312" pitchFamily="49" charset="-122"/>
              </a:rPr>
              <a:t>V</a:t>
            </a:r>
            <a:r>
              <a:rPr lang="en-US" altLang="zh-CN" sz="2800" b="1" i="1" baseline="-25000">
                <a:solidFill>
                  <a:srgbClr val="0000FF"/>
                </a:solidFill>
                <a:latin typeface="Times New Roman" pitchFamily="18" charset="0"/>
                <a:ea typeface="楷体_GB2312" pitchFamily="49" charset="-122"/>
              </a:rPr>
              <a:t>D</a:t>
            </a:r>
            <a:r>
              <a:rPr lang="en-US" altLang="zh-CN" sz="2800" b="1">
                <a:solidFill>
                  <a:srgbClr val="0000FF"/>
                </a:solidFill>
                <a:latin typeface="Times New Roman" pitchFamily="18" charset="0"/>
                <a:ea typeface="楷体_GB2312" pitchFamily="49" charset="-122"/>
              </a:rPr>
              <a:t>=0</a:t>
            </a:r>
          </a:p>
        </p:txBody>
      </p:sp>
      <p:pic>
        <p:nvPicPr>
          <p:cNvPr id="10" name="Picture 3"/>
          <p:cNvPicPr>
            <a:picLocks noChangeAspect="1" noChangeArrowheads="1"/>
          </p:cNvPicPr>
          <p:nvPr/>
        </p:nvPicPr>
        <p:blipFill>
          <a:blip r:embed="rId2" cstate="print"/>
          <a:srcRect/>
          <a:stretch>
            <a:fillRect/>
          </a:stretch>
        </p:blipFill>
        <p:spPr bwMode="auto">
          <a:xfrm>
            <a:off x="863600" y="1052033"/>
            <a:ext cx="7658100" cy="2492375"/>
          </a:xfrm>
          <a:prstGeom prst="rect">
            <a:avLst/>
          </a:prstGeom>
          <a:noFill/>
        </p:spPr>
      </p:pic>
      <p:sp>
        <p:nvSpPr>
          <p:cNvPr id="11" name="Text Box 4"/>
          <p:cNvSpPr txBox="1">
            <a:spLocks noChangeArrowheads="1"/>
          </p:cNvSpPr>
          <p:nvPr/>
        </p:nvSpPr>
        <p:spPr bwMode="auto">
          <a:xfrm>
            <a:off x="250825" y="944083"/>
            <a:ext cx="1970088" cy="519112"/>
          </a:xfrm>
          <a:prstGeom prst="rect">
            <a:avLst/>
          </a:prstGeom>
          <a:noFill/>
          <a:ln w="9525">
            <a:noFill/>
            <a:miter lim="800000"/>
            <a:headEnd/>
            <a:tailEnd/>
          </a:ln>
          <a:effectLst/>
        </p:spPr>
        <p:txBody>
          <a:bodyPr wrap="none">
            <a:spAutoFit/>
          </a:bodyPr>
          <a:lstStyle/>
          <a:p>
            <a:pPr defTabSz="914400" fontAlgn="base">
              <a:spcBef>
                <a:spcPct val="0"/>
              </a:spcBef>
              <a:spcAft>
                <a:spcPct val="0"/>
              </a:spcAft>
            </a:pPr>
            <a:r>
              <a:rPr lang="zh-CN" altLang="en-US" sz="2800" b="1">
                <a:solidFill>
                  <a:srgbClr val="0000FF"/>
                </a:solidFill>
                <a:latin typeface="Times New Roman" pitchFamily="18" charset="0"/>
                <a:ea typeface="楷体_GB2312" pitchFamily="49" charset="-122"/>
              </a:rPr>
              <a:t>三维能带图</a:t>
            </a:r>
          </a:p>
        </p:txBody>
      </p:sp>
      <p:pic>
        <p:nvPicPr>
          <p:cNvPr id="12" name="Picture 5"/>
          <p:cNvPicPr>
            <a:picLocks noChangeAspect="1" noChangeArrowheads="1"/>
          </p:cNvPicPr>
          <p:nvPr/>
        </p:nvPicPr>
        <p:blipFill>
          <a:blip r:embed="rId3" cstate="print"/>
          <a:srcRect/>
          <a:stretch>
            <a:fillRect/>
          </a:stretch>
        </p:blipFill>
        <p:spPr bwMode="auto">
          <a:xfrm>
            <a:off x="827088" y="4796945"/>
            <a:ext cx="3970337" cy="1774825"/>
          </a:xfrm>
          <a:prstGeom prst="rect">
            <a:avLst/>
          </a:prstGeom>
          <a:noFill/>
        </p:spPr>
      </p:pic>
      <p:pic>
        <p:nvPicPr>
          <p:cNvPr id="13" name="Picture 6"/>
          <p:cNvPicPr>
            <a:picLocks noChangeAspect="1" noChangeArrowheads="1"/>
          </p:cNvPicPr>
          <p:nvPr/>
        </p:nvPicPr>
        <p:blipFill>
          <a:blip r:embed="rId4" cstate="print"/>
          <a:srcRect/>
          <a:stretch>
            <a:fillRect/>
          </a:stretch>
        </p:blipFill>
        <p:spPr bwMode="auto">
          <a:xfrm>
            <a:off x="5292725" y="4796945"/>
            <a:ext cx="3300413" cy="1714500"/>
          </a:xfrm>
          <a:prstGeom prst="rect">
            <a:avLst/>
          </a:prstGeom>
          <a:noFill/>
        </p:spPr>
      </p:pic>
      <p:sp>
        <p:nvSpPr>
          <p:cNvPr id="14" name="Text Box 61"/>
          <p:cNvSpPr txBox="1">
            <a:spLocks noChangeArrowheads="1"/>
          </p:cNvSpPr>
          <p:nvPr/>
        </p:nvSpPr>
        <p:spPr bwMode="auto">
          <a:xfrm>
            <a:off x="4288377" y="3416158"/>
            <a:ext cx="403611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用</a:t>
            </a:r>
            <a:r>
              <a:rPr lang="en-US" altLang="zh-CN" b="1" i="1" kern="0" dirty="0" smtClean="0">
                <a:solidFill>
                  <a:srgbClr val="000000"/>
                </a:solidFill>
              </a:rPr>
              <a:t>V</a:t>
            </a:r>
            <a:r>
              <a:rPr lang="en-US" altLang="zh-CN" b="1" kern="0" dirty="0" smtClean="0">
                <a:solidFill>
                  <a:srgbClr val="000000"/>
                </a:solidFill>
              </a:rPr>
              <a:t>(</a:t>
            </a:r>
            <a:r>
              <a:rPr lang="en-US" altLang="zh-CN" b="1" i="1" kern="0" dirty="0" smtClean="0">
                <a:solidFill>
                  <a:srgbClr val="000000"/>
                </a:solidFill>
              </a:rPr>
              <a:t>y</a:t>
            </a:r>
            <a:r>
              <a:rPr lang="en-US" altLang="zh-CN" b="1" kern="0" dirty="0" smtClean="0">
                <a:solidFill>
                  <a:srgbClr val="000000"/>
                </a:solidFill>
              </a:rPr>
              <a:t>)</a:t>
            </a:r>
            <a:r>
              <a:rPr lang="zh-CN" altLang="en-US" b="1" kern="0" dirty="0" smtClean="0">
                <a:solidFill>
                  <a:srgbClr val="000000"/>
                </a:solidFill>
              </a:rPr>
              <a:t>表示电子的准费米势相对</a:t>
            </a:r>
            <a:r>
              <a:rPr lang="en-US" altLang="zh-CN" b="1" kern="0" dirty="0" smtClean="0">
                <a:solidFill>
                  <a:srgbClr val="000000"/>
                </a:solidFill>
              </a:rPr>
              <a:t>N</a:t>
            </a:r>
            <a:r>
              <a:rPr lang="en-US" altLang="zh-CN" b="1" kern="0" baseline="30000" dirty="0" smtClean="0">
                <a:solidFill>
                  <a:srgbClr val="000000"/>
                </a:solidFill>
              </a:rPr>
              <a:t>+</a:t>
            </a:r>
            <a:r>
              <a:rPr lang="zh-CN" altLang="en-US" b="1" kern="0" dirty="0" smtClean="0">
                <a:solidFill>
                  <a:srgbClr val="000000"/>
                </a:solidFill>
              </a:rPr>
              <a:t>源区费米势的位置  （</a:t>
            </a:r>
            <a:r>
              <a:rPr lang="zh-CN" altLang="en-US" b="1" kern="0" dirty="0" smtClean="0">
                <a:solidFill>
                  <a:srgbClr val="FF0000"/>
                </a:solidFill>
              </a:rPr>
              <a:t>为什么只是</a:t>
            </a:r>
            <a:r>
              <a:rPr lang="en-US" altLang="zh-CN" b="1" i="1" kern="0" dirty="0" smtClean="0">
                <a:solidFill>
                  <a:srgbClr val="FF0000"/>
                </a:solidFill>
              </a:rPr>
              <a:t>y</a:t>
            </a:r>
            <a:r>
              <a:rPr lang="zh-CN" altLang="en-US" b="1" kern="0" dirty="0" smtClean="0">
                <a:solidFill>
                  <a:srgbClr val="FF0000"/>
                </a:solidFill>
              </a:rPr>
              <a:t>的函数？</a:t>
            </a:r>
            <a:r>
              <a:rPr lang="zh-CN" altLang="en-US" b="1" kern="0" dirty="0" smtClean="0">
                <a:solidFill>
                  <a:srgbClr val="000000"/>
                </a:solidFill>
              </a:rPr>
              <a:t>）</a:t>
            </a:r>
            <a:endParaRPr lang="en-US" altLang="zh-CN" b="1" kern="0" dirty="0" smtClean="0">
              <a:solidFill>
                <a:srgbClr val="000000"/>
              </a:solidFill>
            </a:endParaRPr>
          </a:p>
        </p:txBody>
      </p:sp>
    </p:spTree>
    <p:extLst>
      <p:ext uri="{BB962C8B-B14F-4D97-AF65-F5344CB8AC3E}">
        <p14:creationId xmlns:p14="http://schemas.microsoft.com/office/powerpoint/2010/main" val="2061116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58</a:t>
            </a:fld>
            <a:endParaRPr lang="zh-CN" altLang="en-US"/>
          </a:p>
        </p:txBody>
      </p:sp>
      <p:grpSp>
        <p:nvGrpSpPr>
          <p:cNvPr id="3" name="Group 3"/>
          <p:cNvGrpSpPr>
            <a:grpSpLocks/>
          </p:cNvGrpSpPr>
          <p:nvPr/>
        </p:nvGrpSpPr>
        <p:grpSpPr bwMode="auto">
          <a:xfrm>
            <a:off x="250825" y="2565400"/>
            <a:ext cx="4086225" cy="2752725"/>
            <a:chOff x="1671" y="1689"/>
            <a:chExt cx="2574" cy="1734"/>
          </a:xfrm>
        </p:grpSpPr>
        <p:pic>
          <p:nvPicPr>
            <p:cNvPr id="4" name="Picture 4" descr="mos 结构-能带4-3"/>
            <p:cNvPicPr>
              <a:picLocks noChangeAspect="1" noChangeArrowheads="1"/>
            </p:cNvPicPr>
            <p:nvPr/>
          </p:nvPicPr>
          <p:blipFill>
            <a:blip r:embed="rId2" cstate="print"/>
            <a:srcRect/>
            <a:stretch>
              <a:fillRect/>
            </a:stretch>
          </p:blipFill>
          <p:spPr bwMode="auto">
            <a:xfrm>
              <a:off x="1671" y="1689"/>
              <a:ext cx="2574" cy="1734"/>
            </a:xfrm>
            <a:prstGeom prst="rect">
              <a:avLst/>
            </a:prstGeom>
            <a:noFill/>
          </p:spPr>
        </p:pic>
        <p:pic>
          <p:nvPicPr>
            <p:cNvPr id="5" name="Picture 5" descr="Efn 标记"/>
            <p:cNvPicPr>
              <a:picLocks noChangeAspect="1" noChangeArrowheads="1"/>
            </p:cNvPicPr>
            <p:nvPr/>
          </p:nvPicPr>
          <p:blipFill>
            <a:blip r:embed="rId3" cstate="print"/>
            <a:srcRect/>
            <a:stretch>
              <a:fillRect/>
            </a:stretch>
          </p:blipFill>
          <p:spPr bwMode="auto">
            <a:xfrm>
              <a:off x="2844" y="2688"/>
              <a:ext cx="324" cy="234"/>
            </a:xfrm>
            <a:prstGeom prst="rect">
              <a:avLst/>
            </a:prstGeom>
            <a:noFill/>
          </p:spPr>
        </p:pic>
        <p:pic>
          <p:nvPicPr>
            <p:cNvPr id="6" name="Picture 6" descr="EFp 标记"/>
            <p:cNvPicPr>
              <a:picLocks noChangeAspect="1" noChangeArrowheads="1"/>
            </p:cNvPicPr>
            <p:nvPr/>
          </p:nvPicPr>
          <p:blipFill>
            <a:blip r:embed="rId4" cstate="print"/>
            <a:srcRect/>
            <a:stretch>
              <a:fillRect/>
            </a:stretch>
          </p:blipFill>
          <p:spPr bwMode="auto">
            <a:xfrm>
              <a:off x="3789" y="1920"/>
              <a:ext cx="324" cy="234"/>
            </a:xfrm>
            <a:prstGeom prst="rect">
              <a:avLst/>
            </a:prstGeom>
            <a:noFill/>
          </p:spPr>
        </p:pic>
      </p:grpSp>
      <p:sp>
        <p:nvSpPr>
          <p:cNvPr id="7" name="Rectangle 7"/>
          <p:cNvSpPr>
            <a:spLocks noChangeArrowheads="1"/>
          </p:cNvSpPr>
          <p:nvPr/>
        </p:nvSpPr>
        <p:spPr bwMode="auto">
          <a:xfrm>
            <a:off x="1116013" y="1506538"/>
            <a:ext cx="2735262" cy="519112"/>
          </a:xfrm>
          <a:prstGeom prst="rect">
            <a:avLst/>
          </a:prstGeom>
          <a:noFill/>
          <a:ln w="9525">
            <a:noFill/>
            <a:miter lim="800000"/>
            <a:headEnd/>
            <a:tailEnd/>
          </a:ln>
          <a:effectLst/>
        </p:spPr>
        <p:txBody>
          <a:bodyPr>
            <a:spAutoFit/>
          </a:bodyPr>
          <a:lstStyle/>
          <a:p>
            <a:pPr marL="342900" indent="-342900" defTabSz="914400" fontAlgn="base">
              <a:spcBef>
                <a:spcPct val="20000"/>
              </a:spcBef>
              <a:spcAft>
                <a:spcPct val="0"/>
              </a:spcAft>
              <a:buClr>
                <a:srgbClr val="000000"/>
              </a:buClr>
              <a:buSzPct val="60000"/>
              <a:buFont typeface="Wingdings" pitchFamily="2" charset="2"/>
              <a:buNone/>
            </a:pPr>
            <a:r>
              <a:rPr kumimoji="1" lang="zh-CN" altLang="en-US" sz="2800" b="1">
                <a:solidFill>
                  <a:srgbClr val="000000"/>
                </a:solidFill>
                <a:latin typeface="Times New Roman" pitchFamily="18" charset="0"/>
                <a:ea typeface="楷体_GB2312" pitchFamily="49" charset="-122"/>
              </a:rPr>
              <a:t>平带，</a:t>
            </a:r>
            <a:r>
              <a:rPr kumimoji="1" lang="en-US" altLang="zh-CN" sz="2800" b="1" i="1">
                <a:solidFill>
                  <a:srgbClr val="000000"/>
                </a:solidFill>
                <a:latin typeface="Times New Roman" pitchFamily="18" charset="0"/>
                <a:ea typeface="楷体_GB2312" pitchFamily="49" charset="-122"/>
              </a:rPr>
              <a:t>V</a:t>
            </a:r>
            <a:r>
              <a:rPr kumimoji="1" lang="en-US" altLang="zh-CN" sz="2800" b="1" i="1" baseline="-25000">
                <a:solidFill>
                  <a:srgbClr val="000000"/>
                </a:solidFill>
                <a:latin typeface="Times New Roman" pitchFamily="18" charset="0"/>
                <a:ea typeface="楷体_GB2312" pitchFamily="49" charset="-122"/>
              </a:rPr>
              <a:t>DS</a:t>
            </a:r>
            <a:r>
              <a:rPr kumimoji="1" lang="en-US" altLang="zh-CN" sz="2800" b="1">
                <a:solidFill>
                  <a:srgbClr val="000000"/>
                </a:solidFill>
                <a:latin typeface="Times New Roman" pitchFamily="18" charset="0"/>
                <a:ea typeface="楷体_GB2312" pitchFamily="49" charset="-122"/>
              </a:rPr>
              <a:t> &gt; 0</a:t>
            </a:r>
          </a:p>
        </p:txBody>
      </p:sp>
      <p:pic>
        <p:nvPicPr>
          <p:cNvPr id="8" name="Picture 8" descr="mos 结构-能带5-3－对"/>
          <p:cNvPicPr>
            <a:picLocks noChangeAspect="1" noChangeArrowheads="1"/>
          </p:cNvPicPr>
          <p:nvPr/>
        </p:nvPicPr>
        <p:blipFill>
          <a:blip r:embed="rId5" cstate="print"/>
          <a:srcRect/>
          <a:stretch>
            <a:fillRect/>
          </a:stretch>
        </p:blipFill>
        <p:spPr>
          <a:xfrm>
            <a:off x="4427538" y="2349500"/>
            <a:ext cx="4600575" cy="3790950"/>
          </a:xfrm>
          <a:prstGeom prst="rect">
            <a:avLst/>
          </a:prstGeom>
          <a:noFill/>
          <a:ln/>
        </p:spPr>
      </p:pic>
      <p:sp>
        <p:nvSpPr>
          <p:cNvPr id="9" name="Rectangle 9"/>
          <p:cNvSpPr>
            <a:spLocks noChangeArrowheads="1"/>
          </p:cNvSpPr>
          <p:nvPr/>
        </p:nvSpPr>
        <p:spPr bwMode="auto">
          <a:xfrm>
            <a:off x="5364163" y="1484313"/>
            <a:ext cx="3168650" cy="557212"/>
          </a:xfrm>
          <a:prstGeom prst="rect">
            <a:avLst/>
          </a:prstGeom>
          <a:noFill/>
          <a:ln w="9525">
            <a:noFill/>
            <a:miter lim="800000"/>
            <a:headEnd/>
            <a:tailEnd/>
          </a:ln>
          <a:effectLst/>
        </p:spPr>
        <p:txBody>
          <a:bodyPr/>
          <a:lstStyle/>
          <a:p>
            <a:pPr marL="342900" indent="-342900" defTabSz="914400" fontAlgn="base">
              <a:spcBef>
                <a:spcPct val="20000"/>
              </a:spcBef>
              <a:spcAft>
                <a:spcPct val="0"/>
              </a:spcAft>
              <a:buClr>
                <a:srgbClr val="808080"/>
              </a:buClr>
              <a:buFont typeface="Wingdings" pitchFamily="2" charset="2"/>
              <a:buNone/>
            </a:pP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GS</a:t>
            </a:r>
            <a:r>
              <a:rPr lang="en-US" altLang="zh-CN" sz="2800" b="1" i="1">
                <a:solidFill>
                  <a:srgbClr val="000000"/>
                </a:solidFill>
                <a:latin typeface="Times New Roman" pitchFamily="18" charset="0"/>
                <a:ea typeface="楷体_GB2312" pitchFamily="49" charset="-122"/>
              </a:rPr>
              <a:t> </a:t>
            </a:r>
            <a:r>
              <a:rPr lang="en-US" altLang="zh-CN" sz="2800" b="1">
                <a:solidFill>
                  <a:srgbClr val="000000"/>
                </a:solidFill>
                <a:latin typeface="Times New Roman" pitchFamily="18" charset="0"/>
                <a:ea typeface="楷体_GB2312" pitchFamily="49" charset="-122"/>
              </a:rPr>
              <a:t>&gt; </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T</a:t>
            </a:r>
            <a:r>
              <a:rPr lang="zh-CN" altLang="en-US"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DS</a:t>
            </a:r>
            <a:r>
              <a:rPr lang="en-US" altLang="zh-CN" sz="2800" b="1" i="1">
                <a:solidFill>
                  <a:srgbClr val="000000"/>
                </a:solidFill>
                <a:latin typeface="Times New Roman" pitchFamily="18" charset="0"/>
                <a:ea typeface="楷体_GB2312" pitchFamily="49" charset="-122"/>
              </a:rPr>
              <a:t> </a:t>
            </a:r>
            <a:r>
              <a:rPr lang="en-US" altLang="zh-CN" sz="2800" b="1">
                <a:solidFill>
                  <a:srgbClr val="000000"/>
                </a:solidFill>
                <a:latin typeface="Times New Roman" pitchFamily="18" charset="0"/>
                <a:ea typeface="楷体_GB2312" pitchFamily="49" charset="-122"/>
              </a:rPr>
              <a:t>&gt; 0</a:t>
            </a:r>
          </a:p>
        </p:txBody>
      </p:sp>
    </p:spTree>
    <p:extLst>
      <p:ext uri="{BB962C8B-B14F-4D97-AF65-F5344CB8AC3E}">
        <p14:creationId xmlns:p14="http://schemas.microsoft.com/office/powerpoint/2010/main" val="31302306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59</a:t>
            </a:fld>
            <a:endParaRPr lang="zh-CN" altLang="en-US"/>
          </a:p>
        </p:txBody>
      </p:sp>
      <p:sp>
        <p:nvSpPr>
          <p:cNvPr id="3" name="Rectangle 3"/>
          <p:cNvSpPr txBox="1">
            <a:spLocks noChangeArrowheads="1"/>
          </p:cNvSpPr>
          <p:nvPr/>
        </p:nvSpPr>
        <p:spPr>
          <a:xfrm>
            <a:off x="2840038" y="1050925"/>
            <a:ext cx="3313112" cy="544513"/>
          </a:xfrm>
          <a:prstGeom prst="rect">
            <a:avLst/>
          </a:prstGeom>
        </p:spPr>
        <p:txBody>
          <a:bodyPr/>
          <a:lstStyle>
            <a:lvl1pPr marL="342900" indent="-342900" algn="l" rtl="0" fontAlgn="base">
              <a:spcBef>
                <a:spcPct val="20000"/>
              </a:spcBef>
              <a:spcAft>
                <a:spcPct val="0"/>
              </a:spcAft>
              <a:buClr>
                <a:schemeClr val="accent2"/>
              </a:buClr>
              <a:buChar char="•"/>
              <a:defRPr sz="2800" b="1">
                <a:solidFill>
                  <a:schemeClr val="tx1"/>
                </a:solidFill>
                <a:latin typeface="Times New Roman" pitchFamily="18" charset="0"/>
                <a:ea typeface="楷体_GB2312" pitchFamily="49" charset="-122"/>
                <a:cs typeface="Times New Roman" pitchFamily="18" charset="0"/>
              </a:defRPr>
            </a:lvl1pPr>
            <a:lvl2pPr marL="742950" indent="-285750" algn="l" rtl="0" fontAlgn="base">
              <a:spcBef>
                <a:spcPct val="20000"/>
              </a:spcBef>
              <a:spcAft>
                <a:spcPct val="0"/>
              </a:spcAft>
              <a:buClr>
                <a:srgbClr val="CC0099"/>
              </a:buClr>
              <a:buChar char="–"/>
              <a:defRPr sz="2800" b="1">
                <a:solidFill>
                  <a:schemeClr val="tx1"/>
                </a:solidFill>
                <a:latin typeface="Times New Roman" pitchFamily="18" charset="0"/>
                <a:ea typeface="楷体_GB2312" pitchFamily="49" charset="-122"/>
                <a:cs typeface="Times New Roman" pitchFamily="18" charset="0"/>
              </a:defRPr>
            </a:lvl2pPr>
            <a:lvl3pPr marL="1143000" indent="-228600" algn="l" rtl="0" fontAlgn="base">
              <a:spcBef>
                <a:spcPct val="20000"/>
              </a:spcBef>
              <a:spcAft>
                <a:spcPct val="0"/>
              </a:spcAft>
              <a:buChar char="•"/>
              <a:defRPr sz="2800" b="1">
                <a:solidFill>
                  <a:schemeClr val="tx1"/>
                </a:solidFill>
                <a:latin typeface="Times New Roman" pitchFamily="18" charset="0"/>
                <a:ea typeface="楷体_GB2312" pitchFamily="49" charset="-122"/>
                <a:cs typeface="Times New Roman" pitchFamily="18" charset="0"/>
              </a:defRPr>
            </a:lvl3pPr>
            <a:lvl4pPr marL="1600200" indent="-228600" algn="l" rtl="0" fontAlgn="base">
              <a:spcBef>
                <a:spcPct val="20000"/>
              </a:spcBef>
              <a:spcAft>
                <a:spcPct val="0"/>
              </a:spcAft>
              <a:buChar char="–"/>
              <a:defRPr sz="2800" b="1">
                <a:solidFill>
                  <a:schemeClr val="tx1"/>
                </a:solidFill>
                <a:latin typeface="Times New Roman" pitchFamily="18" charset="0"/>
                <a:ea typeface="楷体_GB2312" pitchFamily="49" charset="-122"/>
                <a:cs typeface="Times New Roman" pitchFamily="18" charset="0"/>
              </a:defRPr>
            </a:lvl4pPr>
            <a:lvl5pPr marL="2057400" indent="-228600" algn="l" rtl="0" fontAlgn="base">
              <a:spcBef>
                <a:spcPct val="20000"/>
              </a:spcBef>
              <a:spcAft>
                <a:spcPct val="0"/>
              </a:spcAft>
              <a:buChar char="»"/>
              <a:defRPr sz="2800" b="1">
                <a:solidFill>
                  <a:schemeClr val="tx1"/>
                </a:solidFill>
                <a:latin typeface="Times New Roman" pitchFamily="18" charset="0"/>
                <a:ea typeface="楷体_GB2312" pitchFamily="49" charset="-122"/>
                <a:cs typeface="Times New Roman" pitchFamily="18" charset="0"/>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333399"/>
              </a:buClr>
              <a:buSzTx/>
              <a:buFont typeface="Wingdings" pitchFamily="2" charset="2"/>
              <a:buNone/>
              <a:tabLst/>
              <a:defRPr/>
            </a:pPr>
            <a:r>
              <a:rPr kumimoji="0" lang="en-US" altLang="zh-CN" sz="2800" b="1" i="1"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V</a:t>
            </a:r>
            <a:r>
              <a:rPr kumimoji="0" lang="en-US" altLang="zh-CN" sz="2800" b="1" i="1" u="none" strike="noStrike" kern="0" cap="none" spc="0" normalizeH="0" baseline="-25000" noProof="0" smtClean="0">
                <a:ln>
                  <a:noFill/>
                </a:ln>
                <a:solidFill>
                  <a:srgbClr val="000000"/>
                </a:solidFill>
                <a:effectLst/>
                <a:uLnTx/>
                <a:uFillTx/>
                <a:latin typeface="Times New Roman" pitchFamily="18" charset="0"/>
                <a:ea typeface="楷体_GB2312" pitchFamily="49" charset="-122"/>
                <a:cs typeface="Times New Roman" pitchFamily="18" charset="0"/>
              </a:rPr>
              <a:t>GS</a:t>
            </a:r>
            <a:r>
              <a:rPr kumimoji="0" lang="en-US" altLang="zh-CN" sz="2800" b="1" i="1"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 </a:t>
            </a:r>
            <a:r>
              <a:rPr kumimoji="0" lang="en-US" altLang="zh-CN" sz="2800" b="1" i="0"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&gt; 0</a:t>
            </a:r>
            <a:r>
              <a:rPr kumimoji="0" lang="zh-CN" altLang="en-US" sz="2800" b="1" i="0"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a:t>
            </a:r>
            <a:r>
              <a:rPr kumimoji="0" lang="en-US" altLang="zh-CN" sz="2800" b="1" i="1"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V</a:t>
            </a:r>
            <a:r>
              <a:rPr kumimoji="0" lang="en-US" altLang="zh-CN" sz="2800" b="1" i="1" u="none" strike="noStrike" kern="0" cap="none" spc="0" normalizeH="0" baseline="-25000" noProof="0" smtClean="0">
                <a:ln>
                  <a:noFill/>
                </a:ln>
                <a:solidFill>
                  <a:srgbClr val="000000"/>
                </a:solidFill>
                <a:effectLst/>
                <a:uLnTx/>
                <a:uFillTx/>
                <a:latin typeface="Times New Roman" pitchFamily="18" charset="0"/>
                <a:ea typeface="楷体_GB2312" pitchFamily="49" charset="-122"/>
                <a:cs typeface="Times New Roman" pitchFamily="18" charset="0"/>
              </a:rPr>
              <a:t>DS</a:t>
            </a:r>
            <a:r>
              <a:rPr kumimoji="0" lang="en-US" altLang="zh-CN" sz="2800" b="1" i="1"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 </a:t>
            </a:r>
            <a:r>
              <a:rPr kumimoji="0" lang="en-US" altLang="zh-CN" sz="2800" b="1" i="0" u="none" strike="noStrike" kern="0" cap="none" spc="0" normalizeH="0" baseline="0" noProof="0" smtClean="0">
                <a:ln>
                  <a:noFill/>
                </a:ln>
                <a:solidFill>
                  <a:srgbClr val="000000"/>
                </a:solidFill>
                <a:effectLst/>
                <a:uLnTx/>
                <a:uFillTx/>
                <a:latin typeface="Times New Roman" pitchFamily="18" charset="0"/>
                <a:ea typeface="楷体_GB2312" pitchFamily="49" charset="-122"/>
                <a:cs typeface="Times New Roman" pitchFamily="18" charset="0"/>
              </a:rPr>
              <a:t>&gt; 0</a:t>
            </a:r>
            <a:endParaRPr kumimoji="0" lang="en-US" altLang="zh-CN" sz="2800" b="1" i="0" u="none" strike="noStrike" kern="0" cap="none" spc="0" normalizeH="0" baseline="0" noProof="0">
              <a:ln>
                <a:noFill/>
              </a:ln>
              <a:solidFill>
                <a:srgbClr val="000000"/>
              </a:solidFill>
              <a:effectLst/>
              <a:uLnTx/>
              <a:uFillTx/>
              <a:latin typeface="Times New Roman" pitchFamily="18" charset="0"/>
              <a:ea typeface="楷体_GB2312" pitchFamily="49" charset="-122"/>
              <a:cs typeface="Times New Roman" pitchFamily="18" charset="0"/>
            </a:endParaRPr>
          </a:p>
        </p:txBody>
      </p:sp>
      <p:pic>
        <p:nvPicPr>
          <p:cNvPr id="4" name="Picture 4" descr="mos 结构-能带8－1"/>
          <p:cNvPicPr>
            <a:picLocks noChangeAspect="1" noChangeArrowheads="1"/>
          </p:cNvPicPr>
          <p:nvPr/>
        </p:nvPicPr>
        <p:blipFill>
          <a:blip r:embed="rId2" cstate="print"/>
          <a:srcRect/>
          <a:stretch>
            <a:fillRect/>
          </a:stretch>
        </p:blipFill>
        <p:spPr bwMode="auto">
          <a:xfrm>
            <a:off x="152400" y="2133600"/>
            <a:ext cx="1847850" cy="3476625"/>
          </a:xfrm>
          <a:prstGeom prst="rect">
            <a:avLst/>
          </a:prstGeom>
          <a:noFill/>
        </p:spPr>
      </p:pic>
      <p:pic>
        <p:nvPicPr>
          <p:cNvPr id="5" name="Picture 5" descr="mos 结构-能带4-6-2"/>
          <p:cNvPicPr>
            <a:picLocks noChangeAspect="1" noChangeArrowheads="1"/>
          </p:cNvPicPr>
          <p:nvPr/>
        </p:nvPicPr>
        <p:blipFill>
          <a:blip r:embed="rId3" cstate="print"/>
          <a:srcRect/>
          <a:stretch>
            <a:fillRect/>
          </a:stretch>
        </p:blipFill>
        <p:spPr bwMode="auto">
          <a:xfrm>
            <a:off x="2014538" y="2076450"/>
            <a:ext cx="5248275" cy="3457575"/>
          </a:xfrm>
          <a:prstGeom prst="rect">
            <a:avLst/>
          </a:prstGeom>
          <a:noFill/>
        </p:spPr>
      </p:pic>
      <p:pic>
        <p:nvPicPr>
          <p:cNvPr id="6" name="Picture 6" descr="mos 结构-能带8－2"/>
          <p:cNvPicPr>
            <a:picLocks noChangeAspect="1" noChangeArrowheads="1"/>
          </p:cNvPicPr>
          <p:nvPr/>
        </p:nvPicPr>
        <p:blipFill>
          <a:blip r:embed="rId4" cstate="print"/>
          <a:srcRect/>
          <a:stretch>
            <a:fillRect/>
          </a:stretch>
        </p:blipFill>
        <p:spPr bwMode="auto">
          <a:xfrm>
            <a:off x="6186488" y="2162175"/>
            <a:ext cx="2838450" cy="3476625"/>
          </a:xfrm>
          <a:prstGeom prst="rect">
            <a:avLst/>
          </a:prstGeom>
          <a:noFill/>
        </p:spPr>
      </p:pic>
    </p:spTree>
    <p:extLst>
      <p:ext uri="{BB962C8B-B14F-4D97-AF65-F5344CB8AC3E}">
        <p14:creationId xmlns:p14="http://schemas.microsoft.com/office/powerpoint/2010/main" val="13446295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60</a:t>
            </a:fld>
            <a:endParaRPr lang="zh-CN" altLang="en-US"/>
          </a:p>
        </p:txBody>
      </p:sp>
      <mc:AlternateContent xmlns:mc="http://schemas.openxmlformats.org/markup-compatibility/2006" xmlns:a14="http://schemas.microsoft.com/office/drawing/2010/main">
        <mc:Choice Requires="a14">
          <p:sp>
            <p:nvSpPr>
              <p:cNvPr id="3" name="文本框 2"/>
              <p:cNvSpPr txBox="1"/>
              <p:nvPr/>
            </p:nvSpPr>
            <p:spPr>
              <a:xfrm>
                <a:off x="830248" y="236472"/>
                <a:ext cx="3179460" cy="815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𝑛</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2</m:t>
                              </m:r>
                            </m:sup>
                          </m:sSubSup>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𝑎</m:t>
                              </m:r>
                            </m:sub>
                          </m:sSub>
                        </m:den>
                      </m:f>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𝑞</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r>
                            <a:rPr lang="en-US" altLang="zh-CN" sz="2400" b="0" i="1" smtClean="0">
                              <a:latin typeface="Cambria Math" panose="02040503050406030204" pitchFamily="18" charset="0"/>
                            </a:rPr>
                            <m:t>)/</m:t>
                          </m:r>
                          <m:r>
                            <a:rPr lang="en-US" altLang="zh-CN" sz="2400" i="1">
                              <a:latin typeface="Cambria Math" panose="02040503050406030204" pitchFamily="18" charset="0"/>
                            </a:rPr>
                            <m:t>𝑘𝑇</m:t>
                          </m:r>
                        </m:sup>
                      </m:sSup>
                    </m:oMath>
                  </m:oMathPara>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830248" y="236472"/>
                <a:ext cx="3179460" cy="815864"/>
              </a:xfrm>
              <a:prstGeom prst="rect">
                <a:avLst/>
              </a:prstGeom>
              <a:blipFill>
                <a:blip r:embed="rId2"/>
                <a:stretch>
                  <a:fillRect/>
                </a:stretch>
              </a:blipFill>
            </p:spPr>
            <p:txBody>
              <a:bodyPr/>
              <a:lstStyle/>
              <a:p>
                <a:r>
                  <a:rPr lang="zh-CN" altLang="en-US">
                    <a:noFill/>
                  </a:rPr>
                  <a:t> </a:t>
                </a:r>
              </a:p>
            </p:txBody>
          </p:sp>
        </mc:Fallback>
      </mc:AlternateContent>
      <p:sp>
        <p:nvSpPr>
          <p:cNvPr id="4" name="Text Box 61"/>
          <p:cNvSpPr txBox="1">
            <a:spLocks noChangeArrowheads="1"/>
          </p:cNvSpPr>
          <p:nvPr/>
        </p:nvSpPr>
        <p:spPr bwMode="auto">
          <a:xfrm>
            <a:off x="346105" y="1250928"/>
            <a:ext cx="40361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同理可以计算出</a:t>
            </a:r>
            <a:endParaRPr lang="en-US" altLang="zh-CN" b="1" kern="0" dirty="0" smtClean="0">
              <a:solidFill>
                <a:srgbClr val="000000"/>
              </a:solidFill>
            </a:endParaRPr>
          </a:p>
        </p:txBody>
      </p:sp>
      <mc:AlternateContent xmlns:mc="http://schemas.openxmlformats.org/markup-compatibility/2006" xmlns:a14="http://schemas.microsoft.com/office/drawing/2010/main">
        <mc:Choice Requires="a14">
          <p:sp>
            <p:nvSpPr>
              <p:cNvPr id="5" name="文本框 4"/>
              <p:cNvSpPr txBox="1"/>
              <p:nvPr/>
            </p:nvSpPr>
            <p:spPr>
              <a:xfrm>
                <a:off x="256965" y="2008221"/>
                <a:ext cx="8609215" cy="1000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𝐸</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𝑥</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𝑦</m:t>
                      </m:r>
                      <m:r>
                        <a:rPr lang="en-US" altLang="zh-CN" sz="2200" b="0" i="1" smtClean="0">
                          <a:latin typeface="Cambria Math" panose="02040503050406030204" pitchFamily="18" charset="0"/>
                        </a:rPr>
                        <m:t>)=</m:t>
                      </m:r>
                      <m:rad>
                        <m:radPr>
                          <m:degHide m:val="on"/>
                          <m:ctrlPr>
                            <a:rPr lang="en-US" altLang="zh-CN" sz="2200" i="1" smtClean="0">
                              <a:latin typeface="Cambria Math" panose="02040503050406030204" pitchFamily="18" charset="0"/>
                            </a:rPr>
                          </m:ctrlPr>
                        </m:radPr>
                        <m:deg/>
                        <m:e>
                          <m:f>
                            <m:fPr>
                              <m:ctrlPr>
                                <a:rPr lang="en-US" altLang="zh-CN" sz="2200" i="1" smtClean="0">
                                  <a:latin typeface="Cambria Math" panose="02040503050406030204" pitchFamily="18" charset="0"/>
                                </a:rPr>
                              </m:ctrlPr>
                            </m:fPr>
                            <m:num>
                              <m:r>
                                <a:rPr lang="en-US" altLang="zh-CN" sz="2200" b="0" i="1" smtClean="0">
                                  <a:latin typeface="Cambria Math" panose="02040503050406030204" pitchFamily="18" charset="0"/>
                                </a:rPr>
                                <m:t>2</m:t>
                              </m:r>
                              <m:r>
                                <a:rPr lang="en-US" altLang="zh-CN" sz="2200" b="0" i="1" smtClean="0">
                                  <a:latin typeface="Cambria Math" panose="02040503050406030204" pitchFamily="18" charset="0"/>
                                </a:rPr>
                                <m:t>𝑘𝑇</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𝑁</m:t>
                                  </m:r>
                                </m:e>
                                <m:sub>
                                  <m:r>
                                    <a:rPr lang="en-US" altLang="zh-CN" sz="2200" b="0" i="1" smtClean="0">
                                      <a:latin typeface="Cambria Math" panose="02040503050406030204" pitchFamily="18" charset="0"/>
                                    </a:rPr>
                                    <m:t>𝑎</m:t>
                                  </m:r>
                                </m:sub>
                              </m:sSub>
                            </m:num>
                            <m:den>
                              <m:sSub>
                                <m:sSubPr>
                                  <m:ctrlPr>
                                    <a:rPr lang="en-US" altLang="zh-CN" sz="2200" i="1" smtClean="0">
                                      <a:latin typeface="Cambria Math" panose="02040503050406030204" pitchFamily="18" charset="0"/>
                                    </a:rPr>
                                  </m:ctrlPr>
                                </m:sSubPr>
                                <m:e>
                                  <m:r>
                                    <a:rPr lang="zh-CN" altLang="en-US" sz="2200" i="1" smtClean="0">
                                      <a:latin typeface="Cambria Math" panose="02040503050406030204" pitchFamily="18" charset="0"/>
                                    </a:rPr>
                                    <m:t>𝜀</m:t>
                                  </m:r>
                                </m:e>
                                <m:sub>
                                  <m:r>
                                    <a:rPr lang="en-US" altLang="zh-CN" sz="2200" b="0" i="1" smtClean="0">
                                      <a:latin typeface="Cambria Math" panose="02040503050406030204" pitchFamily="18" charset="0"/>
                                    </a:rPr>
                                    <m:t>𝑆𝑖</m:t>
                                  </m:r>
                                </m:sub>
                              </m:sSub>
                            </m:den>
                          </m:f>
                          <m:d>
                            <m:dPr>
                              <m:begChr m:val="["/>
                              <m:endChr m:val="]"/>
                              <m:ctrlPr>
                                <a:rPr lang="en-US" altLang="zh-CN" sz="2200" b="0" i="1" smtClean="0">
                                  <a:latin typeface="Cambria Math" panose="02040503050406030204" pitchFamily="18" charset="0"/>
                                </a:rPr>
                              </m:ctrlPr>
                            </m:dPr>
                            <m:e>
                              <m:d>
                                <m:dPr>
                                  <m:ctrlPr>
                                    <a:rPr lang="en-US" altLang="zh-CN" sz="2200" b="0" i="1" smtClean="0">
                                      <a:latin typeface="Cambria Math" panose="02040503050406030204" pitchFamily="18" charset="0"/>
                                    </a:rPr>
                                  </m:ctrlPr>
                                </m:dPr>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𝑒</m:t>
                                      </m:r>
                                    </m:e>
                                    <m:sup>
                                      <m:r>
                                        <a:rPr lang="en-US" altLang="zh-CN" sz="2200" b="0" i="1" smtClean="0">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𝑞</m:t>
                                          </m:r>
                                          <m:r>
                                            <a:rPr lang="zh-CN" altLang="en-US" sz="2200" i="1">
                                              <a:latin typeface="Cambria Math" panose="02040503050406030204" pitchFamily="18" charset="0"/>
                                            </a:rPr>
                                            <m:t>𝜓</m:t>
                                          </m:r>
                                        </m:num>
                                        <m:den>
                                          <m:r>
                                            <a:rPr lang="en-US" altLang="zh-CN" sz="2200" i="1">
                                              <a:latin typeface="Cambria Math" panose="02040503050406030204" pitchFamily="18" charset="0"/>
                                            </a:rPr>
                                            <m:t>𝑘𝑇</m:t>
                                          </m:r>
                                        </m:den>
                                      </m:f>
                                    </m:sup>
                                  </m:sSup>
                                  <m:r>
                                    <a:rPr lang="en-US" altLang="zh-CN" sz="2200" b="0" i="1" smtClean="0">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𝑞</m:t>
                                      </m:r>
                                      <m:r>
                                        <a:rPr lang="zh-CN" altLang="en-US" sz="2200" i="1">
                                          <a:latin typeface="Cambria Math" panose="02040503050406030204" pitchFamily="18" charset="0"/>
                                        </a:rPr>
                                        <m:t>𝜓</m:t>
                                      </m:r>
                                    </m:num>
                                    <m:den>
                                      <m:r>
                                        <a:rPr lang="en-US" altLang="zh-CN" sz="2200" i="1">
                                          <a:latin typeface="Cambria Math" panose="02040503050406030204" pitchFamily="18" charset="0"/>
                                        </a:rPr>
                                        <m:t>𝑘𝑇</m:t>
                                      </m:r>
                                    </m:den>
                                  </m:f>
                                  <m:r>
                                    <a:rPr lang="en-US" altLang="zh-CN" sz="2200" b="0" i="1" smtClean="0">
                                      <a:latin typeface="Cambria Math" panose="02040503050406030204" pitchFamily="18" charset="0"/>
                                    </a:rPr>
                                    <m:t>−1</m:t>
                                  </m:r>
                                </m:e>
                              </m:d>
                              <m:r>
                                <a:rPr lang="en-US" altLang="zh-CN" sz="2200" b="0" i="1" smtClean="0">
                                  <a:latin typeface="Cambria Math" panose="02040503050406030204" pitchFamily="18" charset="0"/>
                                </a:rPr>
                                <m:t>+</m:t>
                              </m:r>
                              <m:f>
                                <m:fPr>
                                  <m:ctrlPr>
                                    <a:rPr lang="en-US" altLang="zh-CN" sz="2200" i="1">
                                      <a:latin typeface="Cambria Math" panose="02040503050406030204" pitchFamily="18" charset="0"/>
                                    </a:rPr>
                                  </m:ctrlPr>
                                </m:fPr>
                                <m:num>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𝑛</m:t>
                                      </m:r>
                                    </m:e>
                                    <m:sub>
                                      <m:r>
                                        <a:rPr lang="en-US" altLang="zh-CN" sz="2200" i="1">
                                          <a:latin typeface="Cambria Math" panose="02040503050406030204" pitchFamily="18" charset="0"/>
                                        </a:rPr>
                                        <m:t>𝑖</m:t>
                                      </m:r>
                                    </m:sub>
                                    <m:sup>
                                      <m:r>
                                        <a:rPr lang="en-US" altLang="zh-CN" sz="2200" i="1">
                                          <a:latin typeface="Cambria Math" panose="02040503050406030204" pitchFamily="18" charset="0"/>
                                        </a:rPr>
                                        <m:t>2</m:t>
                                      </m:r>
                                    </m:sup>
                                  </m:sSubSup>
                                </m:num>
                                <m:den>
                                  <m:sSubSup>
                                    <m:sSubSupPr>
                                      <m:ctrlPr>
                                        <a:rPr lang="en-US" altLang="zh-CN" sz="2200" i="1" smtClean="0">
                                          <a:latin typeface="Cambria Math" panose="02040503050406030204" pitchFamily="18" charset="0"/>
                                        </a:rPr>
                                      </m:ctrlPr>
                                    </m:sSubSupPr>
                                    <m:e>
                                      <m:r>
                                        <a:rPr lang="en-US" altLang="zh-CN" sz="2200" b="0" i="1" smtClean="0">
                                          <a:latin typeface="Cambria Math" panose="02040503050406030204" pitchFamily="18" charset="0"/>
                                        </a:rPr>
                                        <m:t>𝑁</m:t>
                                      </m:r>
                                    </m:e>
                                    <m:sub>
                                      <m:r>
                                        <a:rPr lang="en-US" altLang="zh-CN" sz="2200" b="0" i="1" smtClean="0">
                                          <a:latin typeface="Cambria Math" panose="02040503050406030204" pitchFamily="18" charset="0"/>
                                        </a:rPr>
                                        <m:t>𝑎</m:t>
                                      </m:r>
                                    </m:sub>
                                    <m:sup>
                                      <m:r>
                                        <a:rPr lang="en-US" altLang="zh-CN" sz="2200" b="0" i="1" smtClean="0">
                                          <a:latin typeface="Cambria Math" panose="02040503050406030204" pitchFamily="18" charset="0"/>
                                        </a:rPr>
                                        <m:t>2</m:t>
                                      </m:r>
                                    </m:sup>
                                  </m:sSubSup>
                                </m:den>
                              </m:f>
                              <m:d>
                                <m:dPr>
                                  <m:ctrlPr>
                                    <a:rPr lang="en-US" altLang="zh-CN" sz="2200" b="0" i="1" smtClean="0">
                                      <a:latin typeface="Cambria Math" panose="02040503050406030204" pitchFamily="18" charset="0"/>
                                    </a:rPr>
                                  </m:ctrlPr>
                                </m:dPr>
                                <m:e>
                                  <m:sSup>
                                    <m:sSupPr>
                                      <m:ctrlPr>
                                        <a:rPr lang="en-US" altLang="zh-CN" sz="2200" i="1" smtClean="0">
                                          <a:latin typeface="Cambria Math" panose="02040503050406030204" pitchFamily="18" charset="0"/>
                                        </a:rPr>
                                      </m:ctrlPr>
                                    </m:sSupPr>
                                    <m:e>
                                      <m:r>
                                        <a:rPr lang="en-US" altLang="zh-CN" sz="2200" i="1">
                                          <a:latin typeface="Cambria Math" panose="02040503050406030204" pitchFamily="18" charset="0"/>
                                        </a:rPr>
                                        <m:t>𝑒</m:t>
                                      </m:r>
                                    </m:e>
                                    <m:sup>
                                      <m:r>
                                        <a:rPr lang="en-US" altLang="zh-CN" sz="2200" i="1">
                                          <a:latin typeface="Cambria Math" panose="02040503050406030204" pitchFamily="18" charset="0"/>
                                        </a:rPr>
                                        <m:t>−</m:t>
                                      </m:r>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𝑞</m:t>
                                          </m:r>
                                          <m:r>
                                            <a:rPr lang="en-US" altLang="zh-CN" sz="2200" i="1">
                                              <a:latin typeface="Cambria Math" panose="02040503050406030204" pitchFamily="18" charset="0"/>
                                            </a:rPr>
                                            <m:t>𝑉</m:t>
                                          </m:r>
                                        </m:num>
                                        <m:den>
                                          <m:r>
                                            <a:rPr lang="en-US" altLang="zh-CN" sz="2200" i="1">
                                              <a:latin typeface="Cambria Math" panose="02040503050406030204" pitchFamily="18" charset="0"/>
                                            </a:rPr>
                                            <m:t>𝑘𝑇</m:t>
                                          </m:r>
                                        </m:den>
                                      </m:f>
                                    </m:sup>
                                  </m:sSup>
                                  <m:d>
                                    <m:dPr>
                                      <m:ctrlPr>
                                        <a:rPr lang="en-US" altLang="zh-CN" sz="2200" i="1" smtClean="0">
                                          <a:latin typeface="Cambria Math" panose="02040503050406030204" pitchFamily="18" charset="0"/>
                                        </a:rPr>
                                      </m:ctrlPr>
                                    </m:dPr>
                                    <m:e>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𝑞</m:t>
                                          </m:r>
                                          <m:r>
                                            <a:rPr lang="zh-CN" altLang="en-US" sz="2200" b="0" i="1" smtClean="0">
                                              <a:latin typeface="Cambria Math" panose="02040503050406030204" pitchFamily="18" charset="0"/>
                                            </a:rPr>
                                            <m:t>𝜓</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𝑘𝑇</m:t>
                                          </m:r>
                                        </m:sup>
                                      </m:sSup>
                                      <m:r>
                                        <a:rPr lang="en-US" altLang="zh-CN" sz="2200" i="1">
                                          <a:latin typeface="Cambria Math" panose="02040503050406030204" pitchFamily="18" charset="0"/>
                                        </a:rPr>
                                        <m:t>−1</m:t>
                                      </m:r>
                                    </m:e>
                                  </m:d>
                                  <m:r>
                                    <a:rPr lang="en-US" altLang="zh-CN" sz="2200" b="0" i="1" smtClean="0">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𝑞</m:t>
                                      </m:r>
                                      <m:r>
                                        <a:rPr lang="zh-CN" altLang="en-US" sz="2200" i="1">
                                          <a:latin typeface="Cambria Math" panose="02040503050406030204" pitchFamily="18" charset="0"/>
                                        </a:rPr>
                                        <m:t>𝜓</m:t>
                                      </m:r>
                                    </m:num>
                                    <m:den>
                                      <m:r>
                                        <a:rPr lang="en-US" altLang="zh-CN" sz="2200" i="1">
                                          <a:latin typeface="Cambria Math" panose="02040503050406030204" pitchFamily="18" charset="0"/>
                                        </a:rPr>
                                        <m:t>𝑘𝑇</m:t>
                                      </m:r>
                                    </m:den>
                                  </m:f>
                                </m:e>
                              </m:d>
                            </m:e>
                          </m:d>
                        </m:e>
                      </m:rad>
                    </m:oMath>
                  </m:oMathPara>
                </a14:m>
                <a:endParaRPr lang="zh-CN" altLang="en-US" sz="2200" dirty="0"/>
              </a:p>
            </p:txBody>
          </p:sp>
        </mc:Choice>
        <mc:Fallback xmlns="">
          <p:sp>
            <p:nvSpPr>
              <p:cNvPr id="5" name="文本框 4"/>
              <p:cNvSpPr txBox="1">
                <a:spLocks noRot="1" noChangeAspect="1" noMove="1" noResize="1" noEditPoints="1" noAdjustHandles="1" noChangeArrowheads="1" noChangeShapeType="1" noTextEdit="1"/>
              </p:cNvSpPr>
              <p:nvPr/>
            </p:nvSpPr>
            <p:spPr>
              <a:xfrm>
                <a:off x="256965" y="2008221"/>
                <a:ext cx="8609215" cy="1000338"/>
              </a:xfrm>
              <a:prstGeom prst="rect">
                <a:avLst/>
              </a:prstGeom>
              <a:blipFill>
                <a:blip r:embed="rId3"/>
                <a:stretch>
                  <a:fillRect/>
                </a:stretch>
              </a:blipFill>
            </p:spPr>
            <p:txBody>
              <a:bodyPr/>
              <a:lstStyle/>
              <a:p>
                <a:r>
                  <a:rPr lang="zh-CN" altLang="en-US">
                    <a:noFill/>
                  </a:rPr>
                  <a:t> </a:t>
                </a:r>
              </a:p>
            </p:txBody>
          </p:sp>
        </mc:Fallback>
      </mc:AlternateContent>
      <p:sp>
        <p:nvSpPr>
          <p:cNvPr id="7" name="Text Box 61"/>
          <p:cNvSpPr txBox="1">
            <a:spLocks noChangeArrowheads="1"/>
          </p:cNvSpPr>
          <p:nvPr/>
        </p:nvSpPr>
        <p:spPr bwMode="auto">
          <a:xfrm>
            <a:off x="256965" y="3277895"/>
            <a:ext cx="40361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a:solidFill>
                  <a:srgbClr val="000000"/>
                </a:solidFill>
              </a:rPr>
              <a:t>反</a:t>
            </a:r>
            <a:r>
              <a:rPr lang="zh-CN" altLang="en-US" b="1" kern="0" dirty="0" smtClean="0">
                <a:solidFill>
                  <a:srgbClr val="000000"/>
                </a:solidFill>
              </a:rPr>
              <a:t>型条件为（是</a:t>
            </a:r>
            <a:r>
              <a:rPr lang="en-US" altLang="zh-CN" b="1" kern="0" dirty="0" smtClean="0">
                <a:solidFill>
                  <a:srgbClr val="000000"/>
                </a:solidFill>
              </a:rPr>
              <a:t>y</a:t>
            </a:r>
            <a:r>
              <a:rPr lang="zh-CN" altLang="en-US" b="1" kern="0" dirty="0" smtClean="0">
                <a:solidFill>
                  <a:srgbClr val="000000"/>
                </a:solidFill>
              </a:rPr>
              <a:t>的函数）</a:t>
            </a:r>
            <a:endParaRPr lang="en-US" altLang="zh-CN" b="1" kern="0" dirty="0" smtClean="0">
              <a:solidFill>
                <a:srgbClr val="000000"/>
              </a:solidFill>
            </a:endParaRPr>
          </a:p>
        </p:txBody>
      </p:sp>
      <mc:AlternateContent xmlns:mc="http://schemas.openxmlformats.org/markup-compatibility/2006" xmlns:a14="http://schemas.microsoft.com/office/drawing/2010/main">
        <mc:Choice Requires="a14">
          <p:sp>
            <p:nvSpPr>
              <p:cNvPr id="9" name="矩形 8"/>
              <p:cNvSpPr/>
              <p:nvPr/>
            </p:nvSpPr>
            <p:spPr>
              <a:xfrm>
                <a:off x="2662568" y="3901393"/>
                <a:ext cx="32610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𝜓</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𝜓</m:t>
                          </m:r>
                        </m:e>
                        <m:sub>
                          <m:r>
                            <a:rPr lang="en-US" altLang="zh-CN" sz="2400" b="0" i="1" smtClean="0">
                              <a:latin typeface="Cambria Math" panose="02040503050406030204" pitchFamily="18" charset="0"/>
                            </a:rPr>
                            <m:t>𝐵</m:t>
                          </m:r>
                        </m:sub>
                      </m:sSub>
                    </m:oMath>
                  </m:oMathPara>
                </a14:m>
                <a:endParaRPr lang="zh-CN" altLang="en-US" sz="2400" i="1" dirty="0">
                  <a:latin typeface="Cambria Math" panose="020405030504060302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2662568" y="3901393"/>
                <a:ext cx="3261021" cy="461665"/>
              </a:xfrm>
              <a:prstGeom prst="rect">
                <a:avLst/>
              </a:prstGeom>
              <a:blipFill>
                <a:blip r:embed="rId4"/>
                <a:stretch>
                  <a:fillRect b="-18421"/>
                </a:stretch>
              </a:blipFill>
            </p:spPr>
            <p:txBody>
              <a:bodyPr/>
              <a:lstStyle/>
              <a:p>
                <a:r>
                  <a:rPr lang="zh-CN" altLang="en-US">
                    <a:noFill/>
                  </a:rPr>
                  <a:t> </a:t>
                </a:r>
              </a:p>
            </p:txBody>
          </p:sp>
        </mc:Fallback>
      </mc:AlternateContent>
      <p:sp>
        <p:nvSpPr>
          <p:cNvPr id="10" name="Text Box 61"/>
          <p:cNvSpPr txBox="1">
            <a:spLocks noChangeArrowheads="1"/>
          </p:cNvSpPr>
          <p:nvPr/>
        </p:nvSpPr>
        <p:spPr bwMode="auto">
          <a:xfrm>
            <a:off x="256963" y="4632394"/>
            <a:ext cx="50051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最大耗尽层厚度为（也是</a:t>
            </a:r>
            <a:r>
              <a:rPr lang="en-US" altLang="zh-CN" b="1" kern="0" dirty="0" smtClean="0">
                <a:solidFill>
                  <a:srgbClr val="000000"/>
                </a:solidFill>
              </a:rPr>
              <a:t>y</a:t>
            </a:r>
            <a:r>
              <a:rPr lang="zh-CN" altLang="en-US" b="1" kern="0" dirty="0" smtClean="0">
                <a:solidFill>
                  <a:srgbClr val="000000"/>
                </a:solidFill>
              </a:rPr>
              <a:t>的函数）</a:t>
            </a:r>
            <a:endParaRPr lang="en-US" altLang="zh-CN" b="1" kern="0" dirty="0" smtClean="0">
              <a:solidFill>
                <a:srgbClr val="000000"/>
              </a:solidFill>
            </a:endParaRPr>
          </a:p>
        </p:txBody>
      </p:sp>
      <mc:AlternateContent xmlns:mc="http://schemas.openxmlformats.org/markup-compatibility/2006" xmlns:a14="http://schemas.microsoft.com/office/drawing/2010/main">
        <mc:Choice Requires="a14">
          <p:sp>
            <p:nvSpPr>
              <p:cNvPr id="11" name="文本框 10"/>
              <p:cNvSpPr txBox="1"/>
              <p:nvPr/>
            </p:nvSpPr>
            <p:spPr>
              <a:xfrm>
                <a:off x="2419978" y="5292651"/>
                <a:ext cx="3952942" cy="10911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𝑊</m:t>
                          </m:r>
                        </m:e>
                        <m:sub>
                          <m:r>
                            <a:rPr lang="en-US" altLang="zh-CN" sz="2400" i="1">
                              <a:latin typeface="Cambria Math" panose="02040503050406030204" pitchFamily="18" charset="0"/>
                            </a:rPr>
                            <m:t>𝑑𝑚</m:t>
                          </m:r>
                        </m:sub>
                      </m:sSub>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rad>
                        <m:radPr>
                          <m:degHide m:val="on"/>
                          <m:ctrlPr>
                            <a:rPr lang="en-US" altLang="zh-CN" sz="2400" i="1">
                              <a:latin typeface="Cambria Math" panose="02040503050406030204" pitchFamily="18" charset="0"/>
                            </a:rPr>
                          </m:ctrlPr>
                        </m:radPr>
                        <m:deg/>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m:t>
                              </m:r>
                              <m:r>
                                <a:rPr lang="en-US" altLang="zh-CN" sz="2400" i="1">
                                  <a:latin typeface="Cambria Math" panose="02040503050406030204" pitchFamily="18" charset="0"/>
                                </a:rPr>
                                <m:t>𝑉</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r>
                                <m:rPr>
                                  <m:nor/>
                                </m:rPr>
                                <a:rPr lang="en-US" altLang="zh-CN" sz="2400" b="0" smtClean="0">
                                  <a:latin typeface="Cambria Math" panose="02040503050406030204" pitchFamily="18" charset="0"/>
                                </a:rPr>
                                <m:t>+</m:t>
                              </m:r>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num>
                            <m:den>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r>
                                <m:rPr>
                                  <m:nor/>
                                </m:rPr>
                                <a:rPr lang="zh-CN" altLang="en-US" sz="2400" i="1" dirty="0">
                                  <a:latin typeface="Cambria Math" panose="02040503050406030204" pitchFamily="18" charset="0"/>
                                </a:rPr>
                                <m:t> </m:t>
                              </m:r>
                            </m:den>
                          </m:f>
                        </m:e>
                      </m:rad>
                    </m:oMath>
                  </m:oMathPara>
                </a14:m>
                <a:endParaRPr lang="zh-CN" altLang="en-US" sz="2400" i="1" dirty="0">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2419978" y="5292651"/>
                <a:ext cx="3952942" cy="109119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4561572" y="296929"/>
                <a:ext cx="3241593" cy="830997"/>
              </a:xfrm>
              <a:prstGeom prst="rect">
                <a:avLst/>
              </a:prstGeom>
            </p:spPr>
            <p:txBody>
              <a:bodyPr wrap="none">
                <a:spAutoFit/>
              </a:bodyPr>
              <a:lstStyle/>
              <a:p>
                <a14:m>
                  <m:oMath xmlns:m="http://schemas.openxmlformats.org/officeDocument/2006/math">
                    <m:r>
                      <a:rPr lang="zh-CN" altLang="en-US" sz="2400" i="1" smtClean="0">
                        <a:solidFill>
                          <a:prstClr val="black"/>
                        </a:solidFill>
                        <a:latin typeface="Cambria Math" panose="02040503050406030204" pitchFamily="18" charset="0"/>
                      </a:rPr>
                      <m:t>𝜓</m:t>
                    </m:r>
                    <m:d>
                      <m:dPr>
                        <m:ctrlPr>
                          <a:rPr lang="en-US" altLang="zh-CN" sz="2400" b="0" i="1" smtClean="0">
                            <a:solidFill>
                              <a:prstClr val="black"/>
                            </a:solidFill>
                            <a:latin typeface="Cambria Math" panose="02040503050406030204" pitchFamily="18" charset="0"/>
                          </a:rPr>
                        </m:ctrlPr>
                      </m:dPr>
                      <m:e>
                        <m:r>
                          <a:rPr lang="en-US" altLang="zh-CN" sz="2400" b="0" i="1" smtClean="0">
                            <a:solidFill>
                              <a:prstClr val="black"/>
                            </a:solidFill>
                            <a:latin typeface="Cambria Math" panose="02040503050406030204" pitchFamily="18" charset="0"/>
                          </a:rPr>
                          <m:t>𝑥</m:t>
                        </m:r>
                        <m:r>
                          <a:rPr lang="en-US" altLang="zh-CN" sz="2400" b="0" i="1" smtClean="0">
                            <a:solidFill>
                              <a:prstClr val="black"/>
                            </a:solidFill>
                            <a:latin typeface="Cambria Math" panose="02040503050406030204" pitchFamily="18" charset="0"/>
                          </a:rPr>
                          <m:t>,</m:t>
                        </m:r>
                        <m:r>
                          <a:rPr lang="en-US" altLang="zh-CN" sz="2400" b="0" i="1" smtClean="0">
                            <a:solidFill>
                              <a:prstClr val="black"/>
                            </a:solidFill>
                            <a:latin typeface="Cambria Math" panose="02040503050406030204" pitchFamily="18" charset="0"/>
                          </a:rPr>
                          <m:t>𝑦</m:t>
                        </m:r>
                      </m:e>
                    </m:d>
                  </m:oMath>
                </a14:m>
                <a:r>
                  <a:rPr kumimoji="1" lang="zh-CN" altLang="en-US" sz="2400" b="1" kern="0" dirty="0" smtClean="0">
                    <a:solidFill>
                      <a:srgbClr val="000000"/>
                    </a:solidFill>
                    <a:latin typeface="Times New Roman" pitchFamily="18" charset="0"/>
                    <a:ea typeface="宋体" pitchFamily="2" charset="-122"/>
                  </a:rPr>
                  <a:t>是本征费米势</a:t>
                </a:r>
                <a:endParaRPr kumimoji="1" lang="en-US" altLang="zh-CN" sz="2400" b="1" kern="0" dirty="0" smtClean="0">
                  <a:solidFill>
                    <a:srgbClr val="000000"/>
                  </a:solidFill>
                  <a:latin typeface="Times New Roman" pitchFamily="18" charset="0"/>
                  <a:ea typeface="宋体" pitchFamily="2" charset="-122"/>
                </a:endParaRPr>
              </a:p>
              <a:p>
                <a:r>
                  <a:rPr kumimoji="1" lang="en-US" altLang="zh-CN" sz="2400" b="1" kern="0" dirty="0" smtClean="0">
                    <a:solidFill>
                      <a:srgbClr val="000000"/>
                    </a:solidFill>
                    <a:latin typeface="Times New Roman" pitchFamily="18" charset="0"/>
                    <a:ea typeface="宋体" pitchFamily="2" charset="-122"/>
                  </a:rPr>
                  <a:t>V(y)</a:t>
                </a:r>
                <a:r>
                  <a:rPr kumimoji="1" lang="zh-CN" altLang="en-US" sz="2400" b="1" kern="0" dirty="0" smtClean="0">
                    <a:solidFill>
                      <a:srgbClr val="000000"/>
                    </a:solidFill>
                    <a:latin typeface="Times New Roman" pitchFamily="18" charset="0"/>
                    <a:ea typeface="宋体" pitchFamily="2" charset="-122"/>
                  </a:rPr>
                  <a:t>是电子准费米能级</a:t>
                </a:r>
                <a:endParaRPr kumimoji="1" lang="zh-CN" altLang="en-US" sz="2400" b="1" kern="0" dirty="0">
                  <a:solidFill>
                    <a:srgbClr val="000000"/>
                  </a:solidFill>
                  <a:latin typeface="Times New Roman" pitchFamily="18" charset="0"/>
                  <a:ea typeface="宋体" pitchFamily="2"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4561572" y="296929"/>
                <a:ext cx="3241593" cy="830997"/>
              </a:xfrm>
              <a:prstGeom prst="rect">
                <a:avLst/>
              </a:prstGeom>
              <a:blipFill>
                <a:blip r:embed="rId6"/>
                <a:stretch>
                  <a:fillRect l="-2820" t="-8088" r="-2632" b="-169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79761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61</a:t>
            </a:fld>
            <a:endParaRPr lang="zh-CN" altLang="en-US"/>
          </a:p>
        </p:txBody>
      </p:sp>
      <p:sp>
        <p:nvSpPr>
          <p:cNvPr id="3" name="Text Box 61"/>
          <p:cNvSpPr txBox="1">
            <a:spLocks noChangeArrowheads="1"/>
          </p:cNvSpPr>
          <p:nvPr/>
        </p:nvSpPr>
        <p:spPr bwMode="auto">
          <a:xfrm>
            <a:off x="354732" y="310648"/>
            <a:ext cx="82112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00000"/>
              </a:lnSpc>
              <a:spcBef>
                <a:spcPct val="50000"/>
              </a:spcBef>
              <a:spcAft>
                <a:spcPct val="0"/>
              </a:spcAft>
              <a:buClrTx/>
              <a:buSzTx/>
              <a:buFontTx/>
              <a:buNone/>
              <a:tabLst/>
              <a:defRPr/>
            </a:pPr>
            <a:r>
              <a:rPr lang="zh-CN" altLang="en-US" b="1" kern="0" dirty="0" smtClean="0">
                <a:solidFill>
                  <a:srgbClr val="000000"/>
                </a:solidFill>
              </a:rPr>
              <a:t>忽略</a:t>
            </a:r>
            <a:r>
              <a:rPr lang="zh-CN" altLang="en-US" b="1" kern="0" dirty="0" smtClean="0">
                <a:solidFill>
                  <a:srgbClr val="000000"/>
                </a:solidFill>
              </a:rPr>
              <a:t>沟道内载流子的生成与复合，则电子电流</a:t>
            </a:r>
            <a:endParaRPr lang="en-US" altLang="zh-CN" b="1" kern="0" dirty="0" smtClean="0">
              <a:solidFill>
                <a:srgbClr val="000000"/>
              </a:solidFill>
            </a:endParaRPr>
          </a:p>
        </p:txBody>
      </p:sp>
      <mc:AlternateContent xmlns:mc="http://schemas.openxmlformats.org/markup-compatibility/2006">
        <mc:Choice xmlns:a14="http://schemas.microsoft.com/office/drawing/2010/main" Requires="a14">
          <p:sp>
            <p:nvSpPr>
              <p:cNvPr id="4" name="文本框 3"/>
              <p:cNvSpPr txBox="1"/>
              <p:nvPr/>
            </p:nvSpPr>
            <p:spPr>
              <a:xfrm>
                <a:off x="2626485" y="868585"/>
                <a:ext cx="4189737" cy="7666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𝐽</m:t>
                          </m:r>
                        </m:e>
                        <m:sub>
                          <m:r>
                            <a:rPr lang="en-US" altLang="zh-CN" sz="2400" b="0" i="1" smtClean="0">
                              <a:latin typeface="Cambria Math" panose="02040503050406030204" pitchFamily="18" charset="0"/>
                            </a:rPr>
                            <m:t>𝑛</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d>
                      <m:r>
                        <a:rPr lang="en-US" altLang="zh-CN" sz="2400" i="1" smtClean="0">
                          <a:latin typeface="Cambria Math" panose="02040503050406030204" pitchFamily="18" charset="0"/>
                        </a:rPr>
                        <m:t>=</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𝜇</m:t>
                          </m:r>
                        </m:e>
                        <m:sub>
                          <m:r>
                            <m:rPr>
                              <m:sty m:val="p"/>
                            </m:rPr>
                            <a:rPr lang="en-US" altLang="zh-CN" sz="2400" i="1">
                              <a:latin typeface="Cambria Math" panose="02040503050406030204" pitchFamily="18" charset="0"/>
                            </a:rPr>
                            <m:t>eff</m:t>
                          </m:r>
                        </m:sub>
                      </m:s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𝑑𝑉</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num>
                        <m:den>
                          <m:r>
                            <a:rPr lang="en-US" altLang="zh-CN" sz="2400" b="0" i="1" smtClean="0">
                              <a:latin typeface="Cambria Math" panose="02040503050406030204" pitchFamily="18" charset="0"/>
                            </a:rPr>
                            <m:t>𝑑𝑦</m:t>
                          </m:r>
                        </m:den>
                      </m:f>
                    </m:oMath>
                  </m:oMathPara>
                </a14:m>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2626485" y="868585"/>
                <a:ext cx="4189737" cy="76662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 Box 61"/>
              <p:cNvSpPr txBox="1">
                <a:spLocks noChangeArrowheads="1"/>
              </p:cNvSpPr>
              <p:nvPr/>
            </p:nvSpPr>
            <p:spPr bwMode="auto">
              <a:xfrm>
                <a:off x="354732" y="1761158"/>
                <a:ext cx="8418332" cy="461665"/>
              </a:xfrm>
              <a:prstGeom prst="rect">
                <a:avLst/>
              </a:prstGeom>
              <a:noFill/>
              <a:ln>
                <a:noFill/>
              </a:ln>
              <a:extLst>
                <a:ext uri="{909E8E84-426E-40DD-AFC4-6F175D3DCCD1}">
                  <a14:hiddenFill>
                    <a:solidFill>
                      <a:srgbClr val="FFFFFF"/>
                    </a:solidFill>
                  </a14:hiddenFill>
                </a:ext>
                <a:ext uri="{91240B29-F687-4F45-9708-019B960494DF}">
                  <a14:hiddenLine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spcBef>
                    <a:spcPct val="50000"/>
                  </a:spcBef>
                  <a:spcAft>
                    <a:spcPct val="0"/>
                  </a:spcAft>
                  <a:defRPr/>
                </a:pPr>
                <a:r>
                  <a:rPr lang="zh-CN" altLang="en-US" b="1" kern="0" dirty="0" smtClean="0">
                    <a:solidFill>
                      <a:srgbClr val="000000"/>
                    </a:solidFill>
                  </a:rPr>
                  <a:t>其中</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𝜇</m:t>
                        </m:r>
                      </m:e>
                      <m:sub>
                        <m:r>
                          <m:rPr>
                            <m:sty m:val="p"/>
                          </m:rPr>
                          <a:rPr lang="en-US" altLang="zh-CN" b="0" i="1" smtClean="0">
                            <a:latin typeface="Cambria Math" panose="02040503050406030204" pitchFamily="18" charset="0"/>
                          </a:rPr>
                          <m:t>eff</m:t>
                        </m:r>
                      </m:sub>
                    </m:sSub>
                  </m:oMath>
                </a14:m>
                <a:r>
                  <a:rPr lang="zh-CN" altLang="en-US" b="1" kern="0" dirty="0" smtClean="0">
                    <a:solidFill>
                      <a:srgbClr val="000000"/>
                    </a:solidFill>
                  </a:rPr>
                  <a:t>为沟道表面的电子迁移率，通常远小于体内迁移率</a:t>
                </a:r>
                <a:r>
                  <a:rPr lang="zh-CN" altLang="en-US" b="1" kern="0" dirty="0">
                    <a:solidFill>
                      <a:srgbClr val="000000"/>
                    </a:solidFill>
                  </a:rPr>
                  <a:t>。</a:t>
                </a:r>
                <a:endParaRPr lang="en-US" altLang="zh-CN" b="1" kern="0" dirty="0" smtClean="0">
                  <a:solidFill>
                    <a:srgbClr val="000000"/>
                  </a:solidFill>
                </a:endParaRPr>
              </a:p>
            </p:txBody>
          </p:sp>
        </mc:Choice>
        <mc:Fallback>
          <p:sp>
            <p:nvSpPr>
              <p:cNvPr id="5" name="Text Box 61"/>
              <p:cNvSpPr txBox="1">
                <a:spLocks noRot="1" noChangeAspect="1" noMove="1" noResize="1" noEditPoints="1" noAdjustHandles="1" noChangeArrowheads="1" noChangeShapeType="1" noTextEdit="1"/>
              </p:cNvSpPr>
              <p:nvPr/>
            </p:nvSpPr>
            <p:spPr bwMode="auto">
              <a:xfrm>
                <a:off x="354732" y="1761158"/>
                <a:ext cx="8418332" cy="461665"/>
              </a:xfrm>
              <a:prstGeom prst="rect">
                <a:avLst/>
              </a:prstGeom>
              <a:blipFill>
                <a:blip r:embed="rId3"/>
                <a:stretch>
                  <a:fillRect l="-1086" t="-14474" r="-72"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200983" y="2426898"/>
                <a:ext cx="5040739" cy="8003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𝑑𝑠</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𝑦</m:t>
                          </m:r>
                        </m:e>
                      </m:d>
                      <m:r>
                        <a:rPr lang="en-US" altLang="zh-CN" sz="2400" i="1" smtClean="0">
                          <a:latin typeface="Cambria Math" panose="02040503050406030204" pitchFamily="18" charset="0"/>
                        </a:rPr>
                        <m:t>=</m:t>
                      </m:r>
                      <m:r>
                        <a:rPr lang="en-US" altLang="zh-CN" sz="2400" b="0" i="1" smtClean="0">
                          <a:latin typeface="Cambria Math" panose="02040503050406030204" pitchFamily="18" charset="0"/>
                        </a:rPr>
                        <m:t>𝑞𝑊</m:t>
                      </m:r>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sup>
                        <m:e>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smtClean="0">
                                  <a:latin typeface="Cambria Math" panose="02040503050406030204" pitchFamily="18" charset="0"/>
                                </a:rPr>
                                <m:t>eff</m:t>
                              </m:r>
                            </m:sub>
                          </m:sSub>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𝑑𝑉</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num>
                            <m:den>
                              <m:r>
                                <a:rPr lang="en-US" altLang="zh-CN" sz="2400" i="1">
                                  <a:latin typeface="Cambria Math" panose="02040503050406030204" pitchFamily="18" charset="0"/>
                                </a:rPr>
                                <m:t>𝑑𝑦</m:t>
                              </m:r>
                            </m:den>
                          </m:f>
                          <m:r>
                            <a:rPr lang="en-US" altLang="zh-CN" sz="2400" b="0" i="1" smtClean="0">
                              <a:latin typeface="Cambria Math" panose="02040503050406030204" pitchFamily="18" charset="0"/>
                            </a:rPr>
                            <m:t>𝑑𝑥</m:t>
                          </m:r>
                        </m:e>
                      </m:nary>
                    </m:oMath>
                  </m:oMathPara>
                </a14:m>
                <a:endParaRPr lang="zh-CN" altLang="en-US" sz="2400" dirty="0"/>
              </a:p>
            </p:txBody>
          </p:sp>
        </mc:Choice>
        <mc:Fallback>
          <p:sp>
            <p:nvSpPr>
              <p:cNvPr id="6" name="文本框 5"/>
              <p:cNvSpPr txBox="1">
                <a:spLocks noRot="1" noChangeAspect="1" noMove="1" noResize="1" noEditPoints="1" noAdjustHandles="1" noChangeArrowheads="1" noChangeShapeType="1" noTextEdit="1"/>
              </p:cNvSpPr>
              <p:nvPr/>
            </p:nvSpPr>
            <p:spPr>
              <a:xfrm>
                <a:off x="2200983" y="2426898"/>
                <a:ext cx="5040739" cy="80034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 Box 61"/>
              <p:cNvSpPr txBox="1">
                <a:spLocks noChangeArrowheads="1"/>
              </p:cNvSpPr>
              <p:nvPr/>
            </p:nvSpPr>
            <p:spPr bwMode="auto">
              <a:xfrm>
                <a:off x="354732" y="3429216"/>
                <a:ext cx="8211298" cy="461665"/>
              </a:xfrm>
              <a:prstGeom prst="rect">
                <a:avLst/>
              </a:prstGeom>
              <a:noFill/>
              <a:ln>
                <a:noFill/>
              </a:ln>
              <a:extLst>
                <a:ext uri="{909E8E84-426E-40DD-AFC4-6F175D3DCCD1}">
                  <a14:hiddenFill>
                    <a:solidFill>
                      <a:srgbClr val="FFFFFF"/>
                    </a:solidFill>
                  </a14:hiddenFill>
                </a:ext>
                <a:ext uri="{91240B29-F687-4F45-9708-019B960494DF}">
                  <a14:hiddenLine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spcBef>
                    <a:spcPct val="50000"/>
                  </a:spcBef>
                  <a:spcAft>
                    <a:spcPct val="0"/>
                  </a:spcAft>
                  <a:defRPr/>
                </a:pPr>
                <a:r>
                  <a:rPr lang="zh-CN" altLang="en-US" b="1" kern="0" dirty="0" smtClean="0">
                    <a:solidFill>
                      <a:srgbClr val="000000"/>
                    </a:solidFill>
                  </a:rPr>
                  <a:t>其中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oMath>
                </a14:m>
                <a:r>
                  <a:rPr lang="zh-CN" altLang="en-US" b="1" kern="0" dirty="0" smtClean="0">
                    <a:solidFill>
                      <a:srgbClr val="000000"/>
                    </a:solidFill>
                  </a:rPr>
                  <a:t>为反型层厚度，即</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𝜓</m:t>
                        </m:r>
                        <m:r>
                          <a:rPr lang="en-US" altLang="zh-CN" b="0" i="1" smtClean="0">
                            <a:latin typeface="Cambria Math" panose="02040503050406030204" pitchFamily="18" charset="0"/>
                          </a:rPr>
                          <m:t>=</m:t>
                        </m:r>
                        <m:r>
                          <a:rPr lang="zh-CN" altLang="en-US" i="1">
                            <a:latin typeface="Cambria Math" panose="02040503050406030204" pitchFamily="18" charset="0"/>
                          </a:rPr>
                          <m:t>𝜓</m:t>
                        </m:r>
                      </m:e>
                      <m:sub>
                        <m:r>
                          <a:rPr lang="en-US" altLang="zh-CN" i="1" smtClean="0">
                            <a:latin typeface="Cambria Math" panose="02040503050406030204" pitchFamily="18" charset="0"/>
                          </a:rPr>
                          <m:t>𝐵</m:t>
                        </m:r>
                      </m:sub>
                    </m:sSub>
                  </m:oMath>
                </a14:m>
                <a:r>
                  <a:rPr lang="zh-CN" altLang="en-US" b="1" kern="0" dirty="0" smtClean="0">
                    <a:solidFill>
                      <a:srgbClr val="000000"/>
                    </a:solidFill>
                  </a:rPr>
                  <a:t>的位置。</a:t>
                </a:r>
                <a:endParaRPr lang="en-US" altLang="zh-CN" b="1" kern="0" dirty="0" smtClean="0">
                  <a:solidFill>
                    <a:srgbClr val="000000"/>
                  </a:solidFill>
                </a:endParaRPr>
              </a:p>
            </p:txBody>
          </p:sp>
        </mc:Choice>
        <mc:Fallback>
          <p:sp>
            <p:nvSpPr>
              <p:cNvPr id="7" name="Text Box 61"/>
              <p:cNvSpPr txBox="1">
                <a:spLocks noRot="1" noChangeAspect="1" noMove="1" noResize="1" noEditPoints="1" noAdjustHandles="1" noChangeArrowheads="1" noChangeShapeType="1" noTextEdit="1"/>
              </p:cNvSpPr>
              <p:nvPr/>
            </p:nvSpPr>
            <p:spPr bwMode="auto">
              <a:xfrm>
                <a:off x="354732" y="3429216"/>
                <a:ext cx="8211298" cy="461665"/>
              </a:xfrm>
              <a:prstGeom prst="rect">
                <a:avLst/>
              </a:prstGeom>
              <a:blipFill>
                <a:blip r:embed="rId5"/>
                <a:stretch>
                  <a:fillRect l="-1114" t="-1466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8" name="Text Box 61"/>
          <p:cNvSpPr txBox="1">
            <a:spLocks noChangeArrowheads="1"/>
          </p:cNvSpPr>
          <p:nvPr/>
        </p:nvSpPr>
        <p:spPr bwMode="auto">
          <a:xfrm>
            <a:off x="354732" y="3982583"/>
            <a:ext cx="82112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spcBef>
                <a:spcPct val="50000"/>
              </a:spcBef>
              <a:spcAft>
                <a:spcPct val="0"/>
              </a:spcAft>
              <a:defRPr/>
            </a:pPr>
            <a:r>
              <a:rPr lang="zh-CN" altLang="en-US" b="1" kern="0" dirty="0" smtClean="0">
                <a:solidFill>
                  <a:srgbClr val="000000"/>
                </a:solidFill>
              </a:rPr>
              <a:t>单位栅面积下的反型电荷数</a:t>
            </a:r>
            <a:r>
              <a:rPr lang="en-US" altLang="zh-CN" b="1" i="1" kern="0" dirty="0" smtClean="0">
                <a:solidFill>
                  <a:srgbClr val="000000"/>
                </a:solidFill>
              </a:rPr>
              <a:t>Q</a:t>
            </a:r>
            <a:r>
              <a:rPr lang="en-US" altLang="zh-CN" b="1" i="1" kern="0" baseline="-25000" dirty="0" smtClean="0">
                <a:solidFill>
                  <a:srgbClr val="000000"/>
                </a:solidFill>
              </a:rPr>
              <a:t>i</a:t>
            </a:r>
          </a:p>
        </p:txBody>
      </p:sp>
      <mc:AlternateContent xmlns:mc="http://schemas.openxmlformats.org/markup-compatibility/2006">
        <mc:Choice xmlns:a14="http://schemas.microsoft.com/office/drawing/2010/main" Requires="a14">
          <p:sp>
            <p:nvSpPr>
              <p:cNvPr id="9" name="文本框 8"/>
              <p:cNvSpPr txBox="1"/>
              <p:nvPr/>
            </p:nvSpPr>
            <p:spPr>
              <a:xfrm>
                <a:off x="2369501" y="4639538"/>
                <a:ext cx="3432991" cy="8003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𝑖</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𝑦</m:t>
                          </m:r>
                        </m:e>
                      </m:d>
                      <m:r>
                        <a:rPr lang="en-US" altLang="zh-CN" sz="2400" i="1" smtClean="0">
                          <a:latin typeface="Cambria Math" panose="02040503050406030204" pitchFamily="18" charset="0"/>
                        </a:rPr>
                        <m:t>=</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sup>
                        <m:e>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 </m:t>
                          </m:r>
                          <m:r>
                            <a:rPr lang="en-US" altLang="zh-CN" sz="2400" b="0" i="1" smtClean="0">
                              <a:latin typeface="Cambria Math" panose="02040503050406030204" pitchFamily="18" charset="0"/>
                            </a:rPr>
                            <m:t>𝑑𝑥</m:t>
                          </m:r>
                        </m:e>
                      </m:nary>
                    </m:oMath>
                  </m:oMathPara>
                </a14:m>
                <a:endParaRPr lang="zh-CN" altLang="en-US" sz="2400" dirty="0"/>
              </a:p>
            </p:txBody>
          </p:sp>
        </mc:Choice>
        <mc:Fallback>
          <p:sp>
            <p:nvSpPr>
              <p:cNvPr id="9" name="文本框 8"/>
              <p:cNvSpPr txBox="1">
                <a:spLocks noRot="1" noChangeAspect="1" noMove="1" noResize="1" noEditPoints="1" noAdjustHandles="1" noChangeArrowheads="1" noChangeShapeType="1" noTextEdit="1"/>
              </p:cNvSpPr>
              <p:nvPr/>
            </p:nvSpPr>
            <p:spPr>
              <a:xfrm>
                <a:off x="2369501" y="4639538"/>
                <a:ext cx="3432991" cy="80034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708616" y="5635175"/>
                <a:ext cx="6958380" cy="7666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𝑑𝑠</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𝑦</m:t>
                          </m:r>
                        </m:e>
                      </m:d>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m:t>
                          </m:r>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r>
                        <a:rPr lang="en-US" altLang="zh-CN" sz="2400" b="0" i="1" smtClean="0">
                          <a:latin typeface="Cambria Math" panose="02040503050406030204" pitchFamily="18" charset="0"/>
                        </a:rPr>
                        <m:t>𝑊</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𝑑𝑉</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num>
                        <m:den>
                          <m:r>
                            <a:rPr lang="en-US" altLang="zh-CN" sz="2400" i="1">
                              <a:latin typeface="Cambria Math" panose="02040503050406030204" pitchFamily="18" charset="0"/>
                            </a:rPr>
                            <m:t>𝑑𝑦</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r>
                        <a:rPr lang="en-US" altLang="zh-CN" sz="2400" i="1">
                          <a:latin typeface="Cambria Math" panose="02040503050406030204" pitchFamily="18" charset="0"/>
                        </a:rPr>
                        <m:t>𝑊</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𝑑𝑉</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num>
                        <m:den>
                          <m:r>
                            <a:rPr lang="en-US" altLang="zh-CN" sz="2400" i="1">
                              <a:latin typeface="Cambria Math" panose="02040503050406030204" pitchFamily="18" charset="0"/>
                            </a:rPr>
                            <m:t>𝑑𝑦</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𝑉</m:t>
                          </m:r>
                        </m:e>
                      </m:d>
                    </m:oMath>
                  </m:oMathPara>
                </a14:m>
                <a:endParaRPr lang="zh-CN" alt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708616" y="5635175"/>
                <a:ext cx="6958380" cy="76662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2392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62</a:t>
            </a:fld>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2028457" y="180872"/>
                <a:ext cx="4807663" cy="83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rPr>
                            <m:t>𝐿</m:t>
                          </m:r>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𝑦</m:t>
                              </m:r>
                            </m:e>
                          </m:d>
                          <m:r>
                            <a:rPr lang="en-US" altLang="zh-CN" sz="2400" b="0" i="1" smtClean="0">
                              <a:latin typeface="Cambria Math" panose="02040503050406030204" pitchFamily="18" charset="0"/>
                            </a:rPr>
                            <m:t>𝑑𝑦</m:t>
                          </m:r>
                        </m:e>
                      </m:nary>
                      <m:r>
                        <a:rPr lang="en-US" altLang="zh-CN" sz="2400" i="1" smtClean="0">
                          <a:latin typeface="Cambria Math" panose="02040503050406030204" pitchFamily="18" charset="0"/>
                        </a:rPr>
                        <m:t>=</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r>
                        <a:rPr lang="en-US" altLang="zh-CN" sz="2400" b="0" i="1" smtClean="0">
                          <a:latin typeface="Cambria Math" panose="02040503050406030204" pitchFamily="18" charset="0"/>
                        </a:rPr>
                        <m:t>𝑊</m:t>
                      </m:r>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𝑑𝑠</m:t>
                              </m:r>
                            </m:sub>
                          </m:sSub>
                        </m:sup>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𝑉</m:t>
                              </m:r>
                            </m:e>
                          </m:d>
                          <m:r>
                            <a:rPr lang="en-US" altLang="zh-CN" sz="2400" b="0" i="1" smtClean="0">
                              <a:latin typeface="Cambria Math" panose="02040503050406030204" pitchFamily="18" charset="0"/>
                            </a:rPr>
                            <m:t>𝑑𝑉</m:t>
                          </m:r>
                        </m:e>
                      </m:nary>
                    </m:oMath>
                  </m:oMathPara>
                </a14:m>
                <a:endParaRPr lang="zh-CN" altLang="en-US" sz="2400" dirty="0"/>
              </a:p>
            </p:txBody>
          </p:sp>
        </mc:Choice>
        <mc:Fallback>
          <p:sp>
            <p:nvSpPr>
              <p:cNvPr id="5" name="文本框 4"/>
              <p:cNvSpPr txBox="1">
                <a:spLocks noRot="1" noChangeAspect="1" noMove="1" noResize="1" noEditPoints="1" noAdjustHandles="1" noChangeArrowheads="1" noChangeShapeType="1" noTextEdit="1"/>
              </p:cNvSpPr>
              <p:nvPr/>
            </p:nvSpPr>
            <p:spPr>
              <a:xfrm>
                <a:off x="2028457" y="180872"/>
                <a:ext cx="4807663" cy="830612"/>
              </a:xfrm>
              <a:prstGeom prst="rect">
                <a:avLst/>
              </a:prstGeom>
              <a:blipFill>
                <a:blip r:embed="rId2"/>
                <a:stretch>
                  <a:fillRect/>
                </a:stretch>
              </a:blipFill>
            </p:spPr>
            <p:txBody>
              <a:bodyPr/>
              <a:lstStyle/>
              <a:p>
                <a:r>
                  <a:rPr lang="zh-CN" altLang="en-US">
                    <a:noFill/>
                  </a:rPr>
                  <a:t> </a:t>
                </a:r>
              </a:p>
            </p:txBody>
          </p:sp>
        </mc:Fallback>
      </mc:AlternateContent>
      <p:sp>
        <p:nvSpPr>
          <p:cNvPr id="6" name="Text Box 61"/>
          <p:cNvSpPr txBox="1">
            <a:spLocks noChangeArrowheads="1"/>
          </p:cNvSpPr>
          <p:nvPr/>
        </p:nvSpPr>
        <p:spPr bwMode="auto">
          <a:xfrm>
            <a:off x="409960" y="1132341"/>
            <a:ext cx="82112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spcBef>
                <a:spcPct val="50000"/>
              </a:spcBef>
              <a:spcAft>
                <a:spcPct val="0"/>
              </a:spcAft>
              <a:defRPr/>
            </a:pPr>
            <a:r>
              <a:rPr lang="zh-CN" altLang="en-US" b="1" kern="0" dirty="0" smtClean="0">
                <a:solidFill>
                  <a:srgbClr val="000000"/>
                </a:solidFill>
              </a:rPr>
              <a:t>因为</a:t>
            </a:r>
            <a:r>
              <a:rPr lang="en-US" altLang="zh-CN" b="1" kern="0" dirty="0" smtClean="0">
                <a:solidFill>
                  <a:srgbClr val="000000"/>
                </a:solidFill>
              </a:rPr>
              <a:t>I</a:t>
            </a:r>
            <a:r>
              <a:rPr lang="en-US" altLang="zh-CN" b="1" kern="0" baseline="-25000" dirty="0" smtClean="0">
                <a:solidFill>
                  <a:srgbClr val="000000"/>
                </a:solidFill>
              </a:rPr>
              <a:t>ds</a:t>
            </a:r>
            <a:r>
              <a:rPr lang="zh-CN" altLang="en-US" b="1" kern="0" dirty="0" smtClean="0">
                <a:solidFill>
                  <a:srgbClr val="000000"/>
                </a:solidFill>
              </a:rPr>
              <a:t>在沟道不同位置都相同，所以</a:t>
            </a:r>
            <a:endParaRPr lang="en-US" altLang="zh-CN" b="1" i="1" kern="0" baseline="-25000" dirty="0" smtClean="0">
              <a:solidFill>
                <a:srgbClr val="000000"/>
              </a:solidFill>
            </a:endParaRPr>
          </a:p>
        </p:txBody>
      </p:sp>
      <mc:AlternateContent xmlns:mc="http://schemas.openxmlformats.org/markup-compatibility/2006">
        <mc:Choice xmlns:a14="http://schemas.microsoft.com/office/drawing/2010/main" Requires="a14">
          <p:sp>
            <p:nvSpPr>
              <p:cNvPr id="7" name="文本框 6"/>
              <p:cNvSpPr txBox="1"/>
              <p:nvPr/>
            </p:nvSpPr>
            <p:spPr>
              <a:xfrm>
                <a:off x="2366278" y="1915728"/>
                <a:ext cx="3694280" cy="83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𝑑𝑠</m:t>
                              </m:r>
                            </m:sub>
                          </m:sSub>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i="1">
                                  <a:latin typeface="Cambria Math" panose="02040503050406030204" pitchFamily="18" charset="0"/>
                                </a:rPr>
                                <m:t>𝑄</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𝑉</m:t>
                              </m:r>
                            </m:e>
                          </m:d>
                          <m:r>
                            <a:rPr lang="en-US" altLang="zh-CN" sz="2400" b="0" i="1" smtClean="0">
                              <a:latin typeface="Cambria Math" panose="02040503050406030204" pitchFamily="18" charset="0"/>
                            </a:rPr>
                            <m:t>𝑑𝑉</m:t>
                          </m:r>
                        </m:e>
                      </m:nary>
                    </m:oMath>
                  </m:oMathPara>
                </a14:m>
                <a:endParaRPr lang="zh-CN" altLang="en-US" sz="2400" dirty="0"/>
              </a:p>
            </p:txBody>
          </p:sp>
        </mc:Choice>
        <mc:Fallback>
          <p:sp>
            <p:nvSpPr>
              <p:cNvPr id="7" name="文本框 6"/>
              <p:cNvSpPr txBox="1">
                <a:spLocks noRot="1" noChangeAspect="1" noMove="1" noResize="1" noEditPoints="1" noAdjustHandles="1" noChangeArrowheads="1" noChangeShapeType="1" noTextEdit="1"/>
              </p:cNvSpPr>
              <p:nvPr/>
            </p:nvSpPr>
            <p:spPr>
              <a:xfrm>
                <a:off x="2366278" y="1915728"/>
                <a:ext cx="3694280" cy="830612"/>
              </a:xfrm>
              <a:prstGeom prst="rect">
                <a:avLst/>
              </a:prstGeom>
              <a:blipFill>
                <a:blip r:embed="rId3"/>
                <a:stretch>
                  <a:fillRect/>
                </a:stretch>
              </a:blipFill>
            </p:spPr>
            <p:txBody>
              <a:bodyPr/>
              <a:lstStyle/>
              <a:p>
                <a:r>
                  <a:rPr lang="zh-CN" altLang="en-US">
                    <a:noFill/>
                  </a:rPr>
                  <a:t> </a:t>
                </a:r>
              </a:p>
            </p:txBody>
          </p:sp>
        </mc:Fallback>
      </mc:AlternateContent>
      <p:sp>
        <p:nvSpPr>
          <p:cNvPr id="10" name="Text Box 61"/>
          <p:cNvSpPr txBox="1">
            <a:spLocks noChangeArrowheads="1"/>
          </p:cNvSpPr>
          <p:nvPr/>
        </p:nvSpPr>
        <p:spPr bwMode="auto">
          <a:xfrm>
            <a:off x="409960" y="3068062"/>
            <a:ext cx="831654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spcBef>
                <a:spcPct val="50000"/>
              </a:spcBef>
              <a:spcAft>
                <a:spcPct val="0"/>
              </a:spcAft>
              <a:defRPr/>
            </a:pPr>
            <a:r>
              <a:rPr lang="zh-CN" altLang="en-US" b="1" kern="0" dirty="0">
                <a:solidFill>
                  <a:srgbClr val="000000"/>
                </a:solidFill>
              </a:rPr>
              <a:t>薄层</a:t>
            </a:r>
            <a:r>
              <a:rPr lang="zh-CN" altLang="en-US" b="1" kern="0" dirty="0" smtClean="0">
                <a:solidFill>
                  <a:srgbClr val="000000"/>
                </a:solidFill>
              </a:rPr>
              <a:t>电荷近似（</a:t>
            </a:r>
            <a:r>
              <a:rPr lang="en-US" altLang="zh-CN" b="1" kern="0" dirty="0" smtClean="0">
                <a:solidFill>
                  <a:srgbClr val="000000"/>
                </a:solidFill>
              </a:rPr>
              <a:t>Charge-Sheet Approximation</a:t>
            </a:r>
            <a:r>
              <a:rPr lang="zh-CN" altLang="en-US" b="1" kern="0" dirty="0" smtClean="0">
                <a:solidFill>
                  <a:srgbClr val="000000"/>
                </a:solidFill>
              </a:rPr>
              <a:t>）：假设反型电荷全部在表面，也就是说</a:t>
            </a:r>
            <a:r>
              <a:rPr lang="en-US" altLang="zh-CN" b="1" kern="0" dirty="0" smtClean="0">
                <a:solidFill>
                  <a:srgbClr val="000000"/>
                </a:solidFill>
              </a:rPr>
              <a:t>x</a:t>
            </a:r>
            <a:r>
              <a:rPr lang="zh-CN" altLang="en-US" b="1" kern="0" dirty="0" smtClean="0">
                <a:solidFill>
                  <a:srgbClr val="000000"/>
                </a:solidFill>
              </a:rPr>
              <a:t>方向没有电势变化或能带弯曲。</a:t>
            </a:r>
            <a:endParaRPr lang="en-US" altLang="zh-CN" b="1" kern="0" dirty="0" smtClean="0">
              <a:solidFill>
                <a:srgbClr val="000000"/>
              </a:solidFill>
            </a:endParaRPr>
          </a:p>
          <a:p>
            <a:pPr lvl="0" defTabSz="914400" fontAlgn="base">
              <a:spcBef>
                <a:spcPct val="50000"/>
              </a:spcBef>
              <a:spcAft>
                <a:spcPct val="0"/>
              </a:spcAft>
              <a:defRPr/>
            </a:pPr>
            <a:r>
              <a:rPr lang="zh-CN" altLang="en-US" b="1" kern="0" dirty="0" smtClean="0">
                <a:solidFill>
                  <a:srgbClr val="000000"/>
                </a:solidFill>
              </a:rPr>
              <a:t>反型之后，表面势被钉扎在</a:t>
            </a:r>
            <a:endParaRPr lang="en-US" altLang="zh-CN" b="1" kern="0" dirty="0" smtClean="0">
              <a:solidFill>
                <a:srgbClr val="000000"/>
              </a:solidFill>
            </a:endParaRPr>
          </a:p>
          <a:p>
            <a:pPr lvl="0" defTabSz="914400" fontAlgn="base">
              <a:spcBef>
                <a:spcPct val="50000"/>
              </a:spcBef>
              <a:spcAft>
                <a:spcPct val="0"/>
              </a:spcAft>
              <a:defRPr/>
            </a:pPr>
            <a:r>
              <a:rPr lang="zh-CN" altLang="en-US" b="1" kern="0" dirty="0" smtClean="0">
                <a:solidFill>
                  <a:srgbClr val="000000"/>
                </a:solidFill>
              </a:rPr>
              <a:t>体内的耗尽层电荷密度</a:t>
            </a:r>
            <a:endParaRPr lang="en-US" altLang="zh-CN" b="1" kern="0" dirty="0" smtClean="0">
              <a:solidFill>
                <a:srgbClr val="000000"/>
              </a:solidFill>
            </a:endParaRPr>
          </a:p>
        </p:txBody>
      </p:sp>
      <mc:AlternateContent xmlns:mc="http://schemas.openxmlformats.org/markup-compatibility/2006">
        <mc:Choice xmlns:a14="http://schemas.microsoft.com/office/drawing/2010/main" Requires="a14">
          <p:sp>
            <p:nvSpPr>
              <p:cNvPr id="11" name="矩形 10"/>
              <p:cNvSpPr/>
              <p:nvPr/>
            </p:nvSpPr>
            <p:spPr>
              <a:xfrm>
                <a:off x="4278108" y="3949181"/>
                <a:ext cx="25407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𝜓</m:t>
                          </m:r>
                        </m:e>
                        <m:sub>
                          <m:r>
                            <a:rPr lang="en-US" altLang="zh-CN" sz="2400" b="0" i="1" smtClean="0">
                              <a:latin typeface="Cambria Math" panose="02040503050406030204" pitchFamily="18" charset="0"/>
                            </a:rPr>
                            <m:t>𝐵</m:t>
                          </m:r>
                        </m:sub>
                      </m:sSub>
                    </m:oMath>
                  </m:oMathPara>
                </a14:m>
                <a:endParaRPr lang="zh-CN" altLang="en-US" sz="2400" i="1" dirty="0">
                  <a:latin typeface="Cambria Math" panose="020405030504060302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4278108" y="3949181"/>
                <a:ext cx="2540760" cy="461665"/>
              </a:xfrm>
              <a:prstGeom prst="rect">
                <a:avLst/>
              </a:prstGeom>
              <a:blipFill>
                <a:blip r:embed="rId4"/>
                <a:stretch>
                  <a:fillRect l="-240" b="-184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952587" y="5081539"/>
                <a:ext cx="5508944"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𝑑</m:t>
                          </m:r>
                        </m:sub>
                      </m:sSub>
                      <m:r>
                        <a:rPr lang="en-US" altLang="zh-CN" sz="2400" i="1" smtClean="0">
                          <a:latin typeface="Cambria Math" panose="02040503050406030204" pitchFamily="18" charset="0"/>
                        </a:rPr>
                        <m:t>=</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𝑑𝑚</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b="0" i="1" smtClean="0">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r>
                            <a:rPr lang="en-US" altLang="zh-CN" sz="2400" i="1" smtClean="0">
                              <a:latin typeface="Cambria Math" panose="02040503050406030204" pitchFamily="18" charset="0"/>
                            </a:rPr>
                            <m:t>(</m:t>
                          </m:r>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r>
                            <a:rPr lang="en-US" altLang="zh-CN" sz="2400" i="1">
                              <a:latin typeface="Cambria Math" panose="02040503050406030204" pitchFamily="18" charset="0"/>
                            </a:rPr>
                            <m:t>)</m:t>
                          </m:r>
                        </m:e>
                      </m:rad>
                    </m:oMath>
                  </m:oMathPara>
                </a14:m>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1952587" y="5081539"/>
                <a:ext cx="5508944" cy="447238"/>
              </a:xfrm>
              <a:prstGeom prst="rect">
                <a:avLst/>
              </a:prstGeom>
              <a:blipFill>
                <a:blip r:embed="rId5"/>
                <a:stretch>
                  <a:fillRect b="-1370"/>
                </a:stretch>
              </a:blipFill>
            </p:spPr>
            <p:txBody>
              <a:bodyPr/>
              <a:lstStyle/>
              <a:p>
                <a:r>
                  <a:rPr lang="zh-CN" altLang="en-US">
                    <a:noFill/>
                  </a:rPr>
                  <a:t> </a:t>
                </a:r>
              </a:p>
            </p:txBody>
          </p:sp>
        </mc:Fallback>
      </mc:AlternateContent>
      <p:sp>
        <p:nvSpPr>
          <p:cNvPr id="13" name="矩形 12"/>
          <p:cNvSpPr/>
          <p:nvPr/>
        </p:nvSpPr>
        <p:spPr>
          <a:xfrm>
            <a:off x="409960" y="5622170"/>
            <a:ext cx="1731564"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总电荷密度</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mc:Choice xmlns:a14="http://schemas.microsoft.com/office/drawing/2010/main" Requires="a14">
          <p:sp>
            <p:nvSpPr>
              <p:cNvPr id="14" name="文本框 13"/>
              <p:cNvSpPr txBox="1"/>
              <p:nvPr/>
            </p:nvSpPr>
            <p:spPr>
              <a:xfrm>
                <a:off x="972149" y="6177229"/>
                <a:ext cx="7416197" cy="4258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𝑠</m:t>
                          </m:r>
                        </m:sub>
                      </m:sSub>
                      <m:r>
                        <a:rPr lang="en-US" altLang="zh-CN" sz="2400" i="1" smtClean="0">
                          <a:latin typeface="Cambria Math" panose="02040503050406030204" pitchFamily="18" charset="0"/>
                        </a:rPr>
                        <m:t>=</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𝑜𝑥</m:t>
                          </m:r>
                        </m:sub>
                      </m:sSub>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𝑔</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𝑓𝑏</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𝑠</m:t>
                              </m:r>
                            </m:sub>
                          </m:sSub>
                        </m:e>
                      </m:d>
                      <m:r>
                        <a:rPr lang="en-US" altLang="zh-CN" sz="2400" b="0" i="1" smtClean="0">
                          <a:latin typeface="Cambria Math" panose="02040503050406030204" pitchFamily="18" charset="0"/>
                        </a:rPr>
                        <m:t>=</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𝑓𝑏</m:t>
                              </m:r>
                            </m:sub>
                          </m:sSub>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e>
                      </m:d>
                    </m:oMath>
                  </m:oMathPara>
                </a14:m>
                <a:endParaRPr lang="zh-CN" altLang="en-US" sz="2400" dirty="0"/>
              </a:p>
            </p:txBody>
          </p:sp>
        </mc:Choice>
        <mc:Fallback>
          <p:sp>
            <p:nvSpPr>
              <p:cNvPr id="14" name="文本框 13"/>
              <p:cNvSpPr txBox="1">
                <a:spLocks noRot="1" noChangeAspect="1" noMove="1" noResize="1" noEditPoints="1" noAdjustHandles="1" noChangeArrowheads="1" noChangeShapeType="1" noTextEdit="1"/>
              </p:cNvSpPr>
              <p:nvPr/>
            </p:nvSpPr>
            <p:spPr>
              <a:xfrm>
                <a:off x="972149" y="6177229"/>
                <a:ext cx="7416197" cy="42582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80422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63</a:t>
            </a:fld>
            <a:endParaRPr lang="zh-CN" altLang="en-US"/>
          </a:p>
        </p:txBody>
      </p:sp>
      <p:sp>
        <p:nvSpPr>
          <p:cNvPr id="11" name="矩形 10"/>
          <p:cNvSpPr/>
          <p:nvPr/>
        </p:nvSpPr>
        <p:spPr>
          <a:xfrm>
            <a:off x="335481" y="28254"/>
            <a:ext cx="1731564"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反型层电荷</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mc:Choice xmlns:a14="http://schemas.microsoft.com/office/drawing/2010/main" Requires="a14">
          <p:sp>
            <p:nvSpPr>
              <p:cNvPr id="12" name="文本框 11"/>
              <p:cNvSpPr txBox="1"/>
              <p:nvPr/>
            </p:nvSpPr>
            <p:spPr>
              <a:xfrm>
                <a:off x="441216" y="474715"/>
                <a:ext cx="8476551" cy="447238"/>
              </a:xfrm>
              <a:prstGeom prst="rect">
                <a:avLst/>
              </a:prstGeom>
              <a:noFill/>
            </p:spPr>
            <p:txBody>
              <a:bodyPr wrap="none" lIns="0" tIns="0" rIns="0" bIns="0" rtlCol="0">
                <a:spAutoFit/>
              </a:bodyPr>
              <a:lstStyle/>
              <a:p>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𝑖</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i="1">
                            <a:latin typeface="Cambria Math" panose="02040503050406030204" pitchFamily="18" charset="0"/>
                          </a:rPr>
                          <m:t>𝑠</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b="0" i="1" smtClean="0">
                            <a:latin typeface="Cambria Math" panose="02040503050406030204" pitchFamily="18" charset="0"/>
                          </a:rPr>
                          <m:t>𝑑</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𝑓𝑏</m:t>
                            </m:r>
                          </m:sub>
                        </m:sSub>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𝑉</m:t>
                        </m:r>
                      </m:e>
                    </m:d>
                  </m:oMath>
                </a14:m>
                <a:r>
                  <a:rPr lang="en-US" altLang="zh-CN" sz="2400" dirty="0" smtClean="0"/>
                  <a:t>+</a:t>
                </a:r>
                <a14:m>
                  <m:oMath xmlns:m="http://schemas.openxmlformats.org/officeDocument/2006/math">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r>
                          <a:rPr lang="en-US" altLang="zh-CN" sz="2400" i="1">
                            <a:latin typeface="Cambria Math" panose="02040503050406030204" pitchFamily="18" charset="0"/>
                          </a:rPr>
                          <m:t>𝑉</m:t>
                        </m:r>
                        <m:r>
                          <a:rPr lang="en-US" altLang="zh-CN" sz="2400" i="1">
                            <a:latin typeface="Cambria Math" panose="02040503050406030204" pitchFamily="18" charset="0"/>
                          </a:rPr>
                          <m:t>)</m:t>
                        </m:r>
                      </m:e>
                    </m:rad>
                  </m:oMath>
                </a14:m>
                <a:endParaRPr lang="zh-CN" altLang="en-US" sz="2400" dirty="0"/>
              </a:p>
            </p:txBody>
          </p:sp>
        </mc:Choice>
        <mc:Fallback>
          <p:sp>
            <p:nvSpPr>
              <p:cNvPr id="12" name="文本框 11"/>
              <p:cNvSpPr txBox="1">
                <a:spLocks noRot="1" noChangeAspect="1" noMove="1" noResize="1" noEditPoints="1" noAdjustHandles="1" noChangeArrowheads="1" noChangeShapeType="1" noTextEdit="1"/>
              </p:cNvSpPr>
              <p:nvPr/>
            </p:nvSpPr>
            <p:spPr>
              <a:xfrm>
                <a:off x="441216" y="474715"/>
                <a:ext cx="8476551" cy="447238"/>
              </a:xfrm>
              <a:prstGeom prst="rect">
                <a:avLst/>
              </a:prstGeom>
              <a:blipFill>
                <a:blip r:embed="rId2"/>
                <a:stretch>
                  <a:fillRect t="-9589" b="-356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2452543" y="1027513"/>
                <a:ext cx="3694280" cy="8306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nary>
                        <m:naryPr>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0</m:t>
                          </m:r>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𝑑𝑠</m:t>
                              </m:r>
                            </m:sub>
                          </m:sSub>
                        </m:sup>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i="1">
                                  <a:latin typeface="Cambria Math" panose="02040503050406030204" pitchFamily="18" charset="0"/>
                                </a:rPr>
                                <m:t>𝑄</m:t>
                              </m:r>
                            </m:e>
                            <m:sub>
                              <m:r>
                                <a:rPr lang="en-US" altLang="zh-CN" sz="2400" i="1">
                                  <a:latin typeface="Cambria Math" panose="02040503050406030204" pitchFamily="18" charset="0"/>
                                </a:rPr>
                                <m:t>𝑖</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𝑉</m:t>
                              </m:r>
                            </m:e>
                          </m:d>
                          <m:r>
                            <a:rPr lang="en-US" altLang="zh-CN" sz="2400" b="0" i="1" smtClean="0">
                              <a:latin typeface="Cambria Math" panose="02040503050406030204" pitchFamily="18" charset="0"/>
                            </a:rPr>
                            <m:t>𝑑𝑉</m:t>
                          </m:r>
                        </m:e>
                      </m:nary>
                    </m:oMath>
                  </m:oMathPara>
                </a14:m>
                <a:endParaRPr lang="zh-CN" alt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2452543" y="1027513"/>
                <a:ext cx="3694280" cy="830612"/>
              </a:xfrm>
              <a:prstGeom prst="rect">
                <a:avLst/>
              </a:prstGeom>
              <a:blipFill>
                <a:blip r:embed="rId3"/>
                <a:stretch>
                  <a:fillRect/>
                </a:stretch>
              </a:blipFill>
            </p:spPr>
            <p:txBody>
              <a:bodyPr/>
              <a:lstStyle/>
              <a:p>
                <a:r>
                  <a:rPr lang="zh-CN" altLang="en-US">
                    <a:noFill/>
                  </a:rPr>
                  <a:t> </a:t>
                </a:r>
              </a:p>
            </p:txBody>
          </p:sp>
        </mc:Fallback>
      </mc:AlternateContent>
      <p:sp>
        <p:nvSpPr>
          <p:cNvPr id="14" name="矩形 13"/>
          <p:cNvSpPr/>
          <p:nvPr/>
        </p:nvSpPr>
        <p:spPr>
          <a:xfrm>
            <a:off x="335481" y="1218494"/>
            <a:ext cx="816249"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代入</a:t>
            </a:r>
            <a:endParaRPr kumimoji="1" lang="en-US" altLang="zh-CN" sz="2400" b="1" kern="0" dirty="0">
              <a:solidFill>
                <a:srgbClr val="000000"/>
              </a:solidFill>
              <a:latin typeface="Times New Roman" pitchFamily="18" charset="0"/>
              <a:ea typeface="宋体" pitchFamily="2" charset="-122"/>
            </a:endParaRPr>
          </a:p>
        </p:txBody>
      </p:sp>
      <p:sp>
        <p:nvSpPr>
          <p:cNvPr id="15" name="矩形 14"/>
          <p:cNvSpPr/>
          <p:nvPr/>
        </p:nvSpPr>
        <p:spPr>
          <a:xfrm>
            <a:off x="335481" y="2182428"/>
            <a:ext cx="803425"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得到</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mc:Choice xmlns:a14="http://schemas.microsoft.com/office/drawing/2010/main" Requires="a14">
          <p:sp>
            <p:nvSpPr>
              <p:cNvPr id="16" name="文本框 15"/>
              <p:cNvSpPr txBox="1"/>
              <p:nvPr/>
            </p:nvSpPr>
            <p:spPr>
              <a:xfrm>
                <a:off x="818832" y="2068406"/>
                <a:ext cx="7721317" cy="15542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𝑓𝑏</m:t>
                              </m:r>
                            </m:sub>
                          </m:sSub>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num>
                            <m:den>
                              <m:r>
                                <a:rPr lang="en-US" altLang="zh-CN" sz="2400" i="1">
                                  <a:latin typeface="Cambria Math" panose="02040503050406030204" pitchFamily="18" charset="0"/>
                                </a:rPr>
                                <m:t>2</m:t>
                              </m:r>
                            </m:den>
                          </m:f>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oMath>
                  </m:oMathPara>
                </a14:m>
                <a:endParaRPr lang="en-US" altLang="zh-CN" sz="24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𝑊</m:t>
                          </m:r>
                        </m:num>
                        <m:den>
                          <m:r>
                            <a:rPr lang="en-US" altLang="zh-CN" sz="2400" i="1">
                              <a:latin typeface="Cambria Math" panose="02040503050406030204" pitchFamily="18" charset="0"/>
                            </a:rPr>
                            <m:t>𝐿</m:t>
                          </m:r>
                        </m:den>
                      </m:f>
                      <m:f>
                        <m:fPr>
                          <m:ctrlPr>
                            <a:rPr lang="en-US" altLang="zh-CN" sz="2400" i="1">
                              <a:latin typeface="Cambria Math" panose="02040503050406030204" pitchFamily="18" charset="0"/>
                            </a:rPr>
                          </m:ctrlPr>
                        </m:fPr>
                        <m:num>
                          <m:r>
                            <a:rPr lang="en-US" altLang="zh-CN" sz="2400" i="1">
                              <a:latin typeface="Cambria Math" panose="02040503050406030204" pitchFamily="18" charset="0"/>
                            </a:rPr>
                            <m:t>2</m:t>
                          </m:r>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e>
                          </m:rad>
                        </m:num>
                        <m:den>
                          <m:r>
                            <a:rPr lang="en-US" altLang="zh-CN" sz="2400" i="1">
                              <a:latin typeface="Cambria Math" panose="02040503050406030204" pitchFamily="18" charset="0"/>
                            </a:rPr>
                            <m:t>3</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d>
                        <m:dPr>
                          <m:begChr m:val="["/>
                          <m:endChr m:val="]"/>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e>
                              </m:d>
                            </m:e>
                            <m:sup>
                              <m:f>
                                <m:fPr>
                                  <m:ctrlPr>
                                    <a:rPr lang="en-US" altLang="zh-CN" sz="2400" i="1">
                                      <a:latin typeface="Cambria Math" panose="02040503050406030204" pitchFamily="18" charset="0"/>
                                    </a:rPr>
                                  </m:ctrlPr>
                                </m:fPr>
                                <m:num>
                                  <m:r>
                                    <a:rPr lang="en-US" altLang="zh-CN" sz="2400" i="1">
                                      <a:latin typeface="Cambria Math" panose="02040503050406030204" pitchFamily="18" charset="0"/>
                                    </a:rPr>
                                    <m:t>3</m:t>
                                  </m:r>
                                </m:num>
                                <m:den>
                                  <m:r>
                                    <a:rPr lang="en-US" altLang="zh-CN" sz="2400" i="1">
                                      <a:latin typeface="Cambria Math" panose="02040503050406030204" pitchFamily="18" charset="0"/>
                                    </a:rPr>
                                    <m:t>2</m:t>
                                  </m:r>
                                </m:den>
                              </m:f>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e>
                              </m:d>
                            </m:e>
                            <m:sup>
                              <m:f>
                                <m:fPr>
                                  <m:ctrlPr>
                                    <a:rPr lang="en-US" altLang="zh-CN" sz="2400" i="1">
                                      <a:latin typeface="Cambria Math" panose="02040503050406030204" pitchFamily="18" charset="0"/>
                                    </a:rPr>
                                  </m:ctrlPr>
                                </m:fPr>
                                <m:num>
                                  <m:r>
                                    <a:rPr lang="en-US" altLang="zh-CN" sz="2400" i="1">
                                      <a:latin typeface="Cambria Math" panose="02040503050406030204" pitchFamily="18" charset="0"/>
                                    </a:rPr>
                                    <m:t>3</m:t>
                                  </m:r>
                                </m:num>
                                <m:den>
                                  <m:r>
                                    <a:rPr lang="en-US" altLang="zh-CN" sz="2400" i="1">
                                      <a:latin typeface="Cambria Math" panose="02040503050406030204" pitchFamily="18" charset="0"/>
                                    </a:rPr>
                                    <m:t>2</m:t>
                                  </m:r>
                                </m:den>
                              </m:f>
                            </m:sup>
                          </m:sSup>
                        </m:e>
                      </m:d>
                    </m:oMath>
                  </m:oMathPara>
                </a14:m>
                <a:endParaRPr lang="zh-CN" altLang="en-US" sz="2400" dirty="0"/>
              </a:p>
            </p:txBody>
          </p:sp>
        </mc:Choice>
        <mc:Fallback>
          <p:sp>
            <p:nvSpPr>
              <p:cNvPr id="16" name="文本框 15"/>
              <p:cNvSpPr txBox="1">
                <a:spLocks noRot="1" noChangeAspect="1" noMove="1" noResize="1" noEditPoints="1" noAdjustHandles="1" noChangeArrowheads="1" noChangeShapeType="1" noTextEdit="1"/>
              </p:cNvSpPr>
              <p:nvPr/>
            </p:nvSpPr>
            <p:spPr>
              <a:xfrm>
                <a:off x="818832" y="2068406"/>
                <a:ext cx="7721317" cy="1554208"/>
              </a:xfrm>
              <a:prstGeom prst="rect">
                <a:avLst/>
              </a:prstGeom>
              <a:blipFill>
                <a:blip r:embed="rId4"/>
                <a:stretch>
                  <a:fillRect/>
                </a:stretch>
              </a:blipFill>
            </p:spPr>
            <p:txBody>
              <a:bodyPr/>
              <a:lstStyle/>
              <a:p>
                <a:r>
                  <a:rPr lang="zh-CN" altLang="en-US">
                    <a:noFill/>
                  </a:rPr>
                  <a:t> </a:t>
                </a:r>
              </a:p>
            </p:txBody>
          </p:sp>
        </mc:Fallback>
      </mc:AlternateContent>
      <p:sp>
        <p:nvSpPr>
          <p:cNvPr id="20" name="矩形 19"/>
          <p:cNvSpPr/>
          <p:nvPr/>
        </p:nvSpPr>
        <p:spPr>
          <a:xfrm>
            <a:off x="257844" y="3848000"/>
            <a:ext cx="3047629"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a:solidFill>
                  <a:srgbClr val="FF3300"/>
                </a:solidFill>
                <a:latin typeface="Times New Roman" pitchFamily="18" charset="0"/>
                <a:ea typeface="宋体" pitchFamily="2" charset="-122"/>
              </a:rPr>
              <a:t>线性区</a:t>
            </a:r>
            <a:r>
              <a:rPr kumimoji="1" lang="zh-CN" altLang="en-US" sz="2400" b="1" kern="0" dirty="0" smtClean="0">
                <a:solidFill>
                  <a:srgbClr val="000000"/>
                </a:solidFill>
                <a:latin typeface="Times New Roman" pitchFamily="18" charset="0"/>
                <a:ea typeface="宋体" pitchFamily="2" charset="-122"/>
              </a:rPr>
              <a:t>：</a:t>
            </a:r>
            <a:r>
              <a:rPr kumimoji="1" lang="en-US" altLang="zh-CN" sz="2400" b="1" i="1" kern="0" dirty="0" err="1" smtClean="0">
                <a:solidFill>
                  <a:srgbClr val="000000"/>
                </a:solidFill>
                <a:latin typeface="Times New Roman" pitchFamily="18" charset="0"/>
                <a:ea typeface="宋体" pitchFamily="2" charset="-122"/>
              </a:rPr>
              <a:t>V</a:t>
            </a:r>
            <a:r>
              <a:rPr kumimoji="1" lang="en-US" altLang="zh-CN" sz="2400" b="1" i="1" kern="0" baseline="-25000" dirty="0" err="1" smtClean="0">
                <a:solidFill>
                  <a:srgbClr val="000000"/>
                </a:solidFill>
                <a:latin typeface="Times New Roman" pitchFamily="18" charset="0"/>
                <a:ea typeface="宋体" pitchFamily="2" charset="-122"/>
              </a:rPr>
              <a:t>ds</a:t>
            </a:r>
            <a:r>
              <a:rPr kumimoji="1" lang="zh-CN" altLang="en-US" sz="2400" b="1" kern="0" dirty="0" smtClean="0">
                <a:solidFill>
                  <a:srgbClr val="000000"/>
                </a:solidFill>
                <a:latin typeface="Times New Roman" pitchFamily="18" charset="0"/>
                <a:ea typeface="宋体" pitchFamily="2" charset="-122"/>
              </a:rPr>
              <a:t>较小，则</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mc:Choice xmlns:a14="http://schemas.microsoft.com/office/drawing/2010/main" Requires="a14">
          <p:sp>
            <p:nvSpPr>
              <p:cNvPr id="21" name="文本框 20"/>
              <p:cNvSpPr txBox="1"/>
              <p:nvPr/>
            </p:nvSpPr>
            <p:spPr>
              <a:xfrm>
                <a:off x="441216" y="4383278"/>
                <a:ext cx="7341756" cy="16435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𝑓𝑏</m:t>
                              </m:r>
                            </m:sub>
                          </m:sSub>
                          <m:r>
                            <a:rPr lang="en-US" altLang="zh-CN" sz="2400" i="1">
                              <a:latin typeface="Cambria Math" panose="02040503050406030204" pitchFamily="18" charset="0"/>
                            </a:rPr>
                            <m:t>−2</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4</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e>
                              </m:rad>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e>
                      </m: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𝑊</m:t>
                          </m:r>
                        </m:num>
                        <m:den>
                          <m:r>
                            <a:rPr lang="en-US" altLang="zh-CN" sz="2400" i="1">
                              <a:latin typeface="Cambria Math" panose="02040503050406030204" pitchFamily="18" charset="0"/>
                            </a:rPr>
                            <m:t>𝐿</m:t>
                          </m:r>
                        </m:den>
                      </m:f>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oMath>
                  </m:oMathPara>
                </a14:m>
                <a:endParaRPr lang="zh-CN" altLang="en-US" sz="2400" dirty="0"/>
              </a:p>
            </p:txBody>
          </p:sp>
        </mc:Choice>
        <mc:Fallback>
          <p:sp>
            <p:nvSpPr>
              <p:cNvPr id="21" name="文本框 20"/>
              <p:cNvSpPr txBox="1">
                <a:spLocks noRot="1" noChangeAspect="1" noMove="1" noResize="1" noEditPoints="1" noAdjustHandles="1" noChangeArrowheads="1" noChangeShapeType="1" noTextEdit="1"/>
              </p:cNvSpPr>
              <p:nvPr/>
            </p:nvSpPr>
            <p:spPr>
              <a:xfrm>
                <a:off x="441216" y="4383278"/>
                <a:ext cx="7341756" cy="164359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矩形 21"/>
              <p:cNvSpPr/>
              <p:nvPr/>
            </p:nvSpPr>
            <p:spPr>
              <a:xfrm>
                <a:off x="3995913" y="5809199"/>
                <a:ext cx="4301819" cy="9472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𝑉</m:t>
                          </m:r>
                        </m:e>
                        <m:sub>
                          <m:r>
                            <a:rPr lang="en-US" altLang="zh-CN" sz="2400" b="0" i="1" smtClean="0">
                              <a:solidFill>
                                <a:prstClr val="black"/>
                              </a:solidFill>
                              <a:latin typeface="Cambria Math" panose="02040503050406030204" pitchFamily="18" charset="0"/>
                            </a:rPr>
                            <m:t>𝑡</m:t>
                          </m:r>
                        </m:sub>
                      </m:sSub>
                      <m:r>
                        <a:rPr lang="en-US" altLang="zh-CN" sz="2400" b="0" i="1" smtClean="0">
                          <a:solidFill>
                            <a:prstClr val="black"/>
                          </a:solidFill>
                          <a:latin typeface="Cambria Math" panose="02040503050406030204" pitchFamily="18" charset="0"/>
                        </a:rPr>
                        <m:t>=</m:t>
                      </m:r>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𝑉</m:t>
                          </m:r>
                        </m:e>
                        <m:sub>
                          <m:r>
                            <a:rPr lang="en-US" altLang="zh-CN" sz="2400" i="1">
                              <a:solidFill>
                                <a:prstClr val="black"/>
                              </a:solidFill>
                              <a:latin typeface="Cambria Math" panose="02040503050406030204" pitchFamily="18" charset="0"/>
                            </a:rPr>
                            <m:t>𝑓𝑏</m:t>
                          </m:r>
                        </m:sub>
                      </m:sSub>
                      <m:r>
                        <a:rPr lang="en-US" altLang="zh-CN" sz="2400" b="0" i="1" smtClean="0">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2</m:t>
                      </m:r>
                      <m:sSub>
                        <m:sSubPr>
                          <m:ctrlPr>
                            <a:rPr lang="en-US" altLang="zh-CN" sz="2400" i="1">
                              <a:solidFill>
                                <a:prstClr val="black"/>
                              </a:solidFill>
                              <a:latin typeface="Cambria Math" panose="02040503050406030204" pitchFamily="18" charset="0"/>
                            </a:rPr>
                          </m:ctrlPr>
                        </m:sSubPr>
                        <m:e>
                          <m:r>
                            <a:rPr lang="zh-CN" altLang="en-US" sz="2400" i="1">
                              <a:solidFill>
                                <a:prstClr val="black"/>
                              </a:solidFill>
                              <a:latin typeface="Cambria Math" panose="02040503050406030204" pitchFamily="18" charset="0"/>
                            </a:rPr>
                            <m:t>𝜓</m:t>
                          </m:r>
                        </m:e>
                        <m:sub>
                          <m:r>
                            <a:rPr lang="en-US" altLang="zh-CN" sz="2400" i="1">
                              <a:solidFill>
                                <a:prstClr val="black"/>
                              </a:solidFill>
                              <a:latin typeface="Cambria Math" panose="02040503050406030204" pitchFamily="18" charset="0"/>
                            </a:rPr>
                            <m:t>𝐵</m:t>
                          </m:r>
                        </m:sub>
                      </m:sSub>
                      <m:r>
                        <a:rPr lang="en-US" altLang="zh-CN" sz="2400" b="0" i="1" smtClean="0">
                          <a:solidFill>
                            <a:prstClr val="black"/>
                          </a:solidFill>
                          <a:latin typeface="Cambria Math" panose="02040503050406030204" pitchFamily="18" charset="0"/>
                        </a:rPr>
                        <m:t>+</m:t>
                      </m:r>
                      <m:f>
                        <m:fPr>
                          <m:ctrlPr>
                            <a:rPr lang="en-US" altLang="zh-CN" sz="2400" b="0" i="1" smtClean="0">
                              <a:solidFill>
                                <a:prstClr val="black"/>
                              </a:solidFill>
                              <a:latin typeface="Cambria Math" panose="02040503050406030204" pitchFamily="18" charset="0"/>
                            </a:rPr>
                          </m:ctrlPr>
                        </m:fPr>
                        <m:num>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4</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e>
                          </m:rad>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oMath>
                  </m:oMathPara>
                </a14:m>
                <a:endParaRPr lang="zh-CN" altLang="en-US" dirty="0"/>
              </a:p>
            </p:txBody>
          </p:sp>
        </mc:Choice>
        <mc:Fallback>
          <p:sp>
            <p:nvSpPr>
              <p:cNvPr id="22" name="矩形 21"/>
              <p:cNvSpPr>
                <a:spLocks noRot="1" noChangeAspect="1" noMove="1" noResize="1" noEditPoints="1" noAdjustHandles="1" noChangeArrowheads="1" noChangeShapeType="1" noTextEdit="1"/>
              </p:cNvSpPr>
              <p:nvPr/>
            </p:nvSpPr>
            <p:spPr>
              <a:xfrm>
                <a:off x="3995913" y="5809199"/>
                <a:ext cx="4301819" cy="94724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27721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64</a:t>
            </a:fld>
            <a:endParaRPr lang="zh-CN" altLang="en-US"/>
          </a:p>
        </p:txBody>
      </p:sp>
      <p:sp>
        <p:nvSpPr>
          <p:cNvPr id="3" name="Text Box 3"/>
          <p:cNvSpPr txBox="1">
            <a:spLocks noChangeArrowheads="1"/>
          </p:cNvSpPr>
          <p:nvPr/>
        </p:nvSpPr>
        <p:spPr bwMode="auto">
          <a:xfrm>
            <a:off x="340322" y="230553"/>
            <a:ext cx="8087686" cy="46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饱和区</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4" name="文本框 3"/>
              <p:cNvSpPr txBox="1"/>
              <p:nvPr/>
            </p:nvSpPr>
            <p:spPr>
              <a:xfrm>
                <a:off x="713287" y="529286"/>
                <a:ext cx="7341756" cy="8298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𝑑𝑠</m:t>
                              </m:r>
                            </m:sub>
                          </m:sSub>
                          <m:r>
                            <a:rPr lang="en-US" altLang="zh-CN" sz="2400" i="1">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𝑚</m:t>
                              </m:r>
                            </m:num>
                            <m:den>
                              <m:r>
                                <a:rPr lang="en-US" altLang="zh-CN" sz="2400" b="0" i="1" smtClean="0">
                                  <a:latin typeface="Cambria Math" panose="02040503050406030204" pitchFamily="18" charset="0"/>
                                </a:rPr>
                                <m:t>2</m:t>
                              </m:r>
                            </m:den>
                          </m:f>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𝑑𝑠</m:t>
                              </m:r>
                            </m:sub>
                            <m:sup>
                              <m:r>
                                <a:rPr lang="en-US" altLang="zh-CN" sz="2400" b="0" i="1" smtClean="0">
                                  <a:latin typeface="Cambria Math" panose="02040503050406030204" pitchFamily="18" charset="0"/>
                                </a:rPr>
                                <m:t>2</m:t>
                              </m:r>
                            </m:sup>
                          </m:sSubSup>
                        </m:e>
                      </m:d>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713287" y="529286"/>
                <a:ext cx="7341756" cy="82984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295865" y="1544914"/>
                <a:ext cx="6339300" cy="9472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solidFill>
                            <a:prstClr val="black"/>
                          </a:solidFill>
                          <a:latin typeface="Cambria Math" panose="02040503050406030204" pitchFamily="18" charset="0"/>
                        </a:rPr>
                        <m:t>𝑚</m:t>
                      </m:r>
                      <m:r>
                        <a:rPr lang="en-US" altLang="zh-CN" sz="2400" b="0" i="1" smtClean="0">
                          <a:solidFill>
                            <a:prstClr val="black"/>
                          </a:solidFill>
                          <a:latin typeface="Cambria Math" panose="02040503050406030204" pitchFamily="18" charset="0"/>
                        </a:rPr>
                        <m:t>=1+</m:t>
                      </m:r>
                      <m:f>
                        <m:fPr>
                          <m:ctrlPr>
                            <a:rPr lang="en-US" altLang="zh-CN" sz="2400" b="0" i="1" smtClean="0">
                              <a:solidFill>
                                <a:prstClr val="black"/>
                              </a:solidFill>
                              <a:latin typeface="Cambria Math" panose="02040503050406030204" pitchFamily="18" charset="0"/>
                            </a:rPr>
                          </m:ctrlPr>
                        </m:fPr>
                        <m:num>
                          <m:rad>
                            <m:radPr>
                              <m:degHide m:val="on"/>
                              <m:ctrlPr>
                                <a:rPr lang="en-US" altLang="zh-CN" sz="2400" i="1">
                                  <a:latin typeface="Cambria Math" panose="02040503050406030204" pitchFamily="18" charset="0"/>
                                </a:rPr>
                              </m:ctrlPr>
                            </m:radPr>
                            <m:deg/>
                            <m:e>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r>
                                <a:rPr lang="en-US" altLang="zh-CN" sz="2400" b="0" i="1" smtClean="0">
                                  <a:latin typeface="Cambria Math" panose="02040503050406030204" pitchFamily="18" charset="0"/>
                                </a:rPr>
                                <m:t>/4</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e>
                          </m:rad>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r>
                        <a:rPr lang="en-US" altLang="zh-CN" sz="2400" b="0" i="1" smtClean="0">
                          <a:latin typeface="Cambria Math" panose="02040503050406030204" pitchFamily="18" charset="0"/>
                        </a:rPr>
                        <m:t>=1+</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𝑑𝑚</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r>
                        <a:rPr lang="en-US" altLang="zh-CN" sz="2400" b="0" i="1" smtClean="0">
                          <a:latin typeface="Cambria Math" panose="02040503050406030204" pitchFamily="18" charset="0"/>
                        </a:rPr>
                        <m:t>=1+</m:t>
                      </m:r>
                      <m:f>
                        <m:fPr>
                          <m:ctrlPr>
                            <a:rPr lang="en-US" altLang="zh-CN" sz="2400" i="1">
                              <a:solidFill>
                                <a:prstClr val="black"/>
                              </a:solidFill>
                              <a:latin typeface="Cambria Math" panose="02040503050406030204" pitchFamily="18" charset="0"/>
                            </a:rPr>
                          </m:ctrlPr>
                        </m:fPr>
                        <m:num>
                          <m:sSub>
                            <m:sSubPr>
                              <m:ctrlPr>
                                <a:rPr lang="en-US"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3</m:t>
                              </m:r>
                              <m:r>
                                <a:rPr lang="en-US" altLang="zh-CN" sz="2400" b="0" i="1" smtClean="0">
                                  <a:solidFill>
                                    <a:prstClr val="black"/>
                                  </a:solidFill>
                                  <a:latin typeface="Cambria Math" panose="02040503050406030204" pitchFamily="18" charset="0"/>
                                </a:rPr>
                                <m:t>𝑡</m:t>
                              </m:r>
                            </m:e>
                            <m:sub>
                              <m:r>
                                <a:rPr lang="en-US" altLang="zh-CN" sz="2400" b="0" i="1" smtClean="0">
                                  <a:solidFill>
                                    <a:prstClr val="black"/>
                                  </a:solidFill>
                                  <a:latin typeface="Cambria Math" panose="02040503050406030204" pitchFamily="18" charset="0"/>
                                </a:rPr>
                                <m:t>𝑜𝑥</m:t>
                              </m:r>
                            </m:sub>
                          </m:sSub>
                        </m:num>
                        <m:den>
                          <m:sSub>
                            <m:sSubPr>
                              <m:ctrlPr>
                                <a:rPr lang="en-US" altLang="zh-CN" sz="2400" i="1">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𝑊</m:t>
                              </m:r>
                            </m:e>
                            <m:sub>
                              <m:r>
                                <a:rPr lang="en-US" altLang="zh-CN" sz="2400" b="0" i="1" smtClean="0">
                                  <a:solidFill>
                                    <a:prstClr val="black"/>
                                  </a:solidFill>
                                  <a:latin typeface="Cambria Math" panose="02040503050406030204" pitchFamily="18" charset="0"/>
                                </a:rPr>
                                <m:t>𝑑𝑚</m:t>
                              </m:r>
                            </m:sub>
                          </m:sSub>
                        </m:den>
                      </m:f>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295865" y="1544914"/>
                <a:ext cx="6339300" cy="94724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34206" y="2657144"/>
                <a:ext cx="8879354" cy="1614801"/>
              </a:xfrm>
              <a:prstGeom prst="rect">
                <a:avLst/>
              </a:prstGeom>
            </p:spPr>
            <p:txBody>
              <a:bodyPr wrap="none">
                <a:spAutoFit/>
              </a:bodyPr>
              <a:lstStyle/>
              <a:p>
                <a:pPr lvl="0" defTabSz="914400" fontAlgn="base">
                  <a:spcBef>
                    <a:spcPct val="50000"/>
                  </a:spcBef>
                  <a:spcAft>
                    <a:spcPct val="0"/>
                  </a:spcAft>
                  <a:defRPr/>
                </a:pPr>
                <a:r>
                  <a:rPr kumimoji="1" lang="en-US" altLang="zh-CN" sz="2400" b="1" i="1" kern="0" dirty="0" smtClean="0">
                    <a:solidFill>
                      <a:srgbClr val="000000"/>
                    </a:solidFill>
                    <a:latin typeface="Times New Roman" pitchFamily="18" charset="0"/>
                    <a:ea typeface="宋体" pitchFamily="2" charset="-122"/>
                  </a:rPr>
                  <a:t>m</a:t>
                </a:r>
                <a:r>
                  <a:rPr kumimoji="1" lang="zh-CN" altLang="en-US" sz="2400" b="1" kern="0" dirty="0" smtClean="0">
                    <a:solidFill>
                      <a:srgbClr val="000000"/>
                    </a:solidFill>
                    <a:latin typeface="Times New Roman" pitchFamily="18" charset="0"/>
                    <a:ea typeface="宋体" pitchFamily="2" charset="-122"/>
                  </a:rPr>
                  <a:t>为体效应系数，通常在</a:t>
                </a:r>
                <a:r>
                  <a:rPr kumimoji="1" lang="en-US" altLang="zh-CN" sz="2400" b="1" kern="0" dirty="0" smtClean="0">
                    <a:solidFill>
                      <a:srgbClr val="000000"/>
                    </a:solidFill>
                    <a:latin typeface="Times New Roman" pitchFamily="18" charset="0"/>
                    <a:ea typeface="宋体" pitchFamily="2" charset="-122"/>
                  </a:rPr>
                  <a:t>1.1~1.4</a:t>
                </a:r>
                <a:r>
                  <a:rPr kumimoji="1" lang="zh-CN" altLang="en-US" sz="2400" b="1" kern="0" dirty="0" smtClean="0">
                    <a:solidFill>
                      <a:srgbClr val="000000"/>
                    </a:solidFill>
                    <a:latin typeface="Times New Roman" pitchFamily="18" charset="0"/>
                    <a:ea typeface="宋体" pitchFamily="2" charset="-122"/>
                  </a:rPr>
                  <a:t>之间。掺杂浓度越低，</a:t>
                </a:r>
                <a:r>
                  <a:rPr kumimoji="1" lang="en-US" altLang="zh-CN" sz="2400" b="1" kern="0" dirty="0" smtClean="0">
                    <a:solidFill>
                      <a:srgbClr val="000000"/>
                    </a:solidFill>
                    <a:latin typeface="Times New Roman" pitchFamily="18" charset="0"/>
                    <a:ea typeface="宋体" pitchFamily="2" charset="-122"/>
                  </a:rPr>
                  <a:t>m</a:t>
                </a:r>
                <a:r>
                  <a:rPr kumimoji="1" lang="zh-CN" altLang="en-US" sz="2400" b="1" kern="0" dirty="0" smtClean="0">
                    <a:solidFill>
                      <a:srgbClr val="000000"/>
                    </a:solidFill>
                    <a:latin typeface="Times New Roman" pitchFamily="18" charset="0"/>
                    <a:ea typeface="宋体" pitchFamily="2" charset="-122"/>
                  </a:rPr>
                  <a:t>越接近</a:t>
                </a:r>
                <a:r>
                  <a:rPr kumimoji="1" lang="en-US" altLang="zh-CN" sz="2400" b="1" kern="0" dirty="0" smtClean="0">
                    <a:solidFill>
                      <a:srgbClr val="000000"/>
                    </a:solidFill>
                    <a:latin typeface="Times New Roman" pitchFamily="18" charset="0"/>
                    <a:ea typeface="宋体" pitchFamily="2" charset="-122"/>
                  </a:rPr>
                  <a:t>1</a:t>
                </a:r>
              </a:p>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上式中的</a:t>
                </a:r>
                <a:r>
                  <a:rPr kumimoji="1" lang="en-US" altLang="zh-CN" sz="2400" b="1" kern="0" dirty="0" smtClean="0">
                    <a:solidFill>
                      <a:srgbClr val="000000"/>
                    </a:solidFill>
                    <a:latin typeface="Times New Roman" pitchFamily="18" charset="0"/>
                    <a:ea typeface="宋体" pitchFamily="2" charset="-122"/>
                  </a:rPr>
                  <a:t>3</a:t>
                </a:r>
                <a:r>
                  <a:rPr kumimoji="1" lang="zh-CN" altLang="en-US" sz="2400" b="1" kern="0" dirty="0" smtClean="0">
                    <a:solidFill>
                      <a:srgbClr val="000000"/>
                    </a:solidFill>
                    <a:latin typeface="Times New Roman" pitchFamily="18" charset="0"/>
                    <a:ea typeface="宋体" pitchFamily="2" charset="-122"/>
                  </a:rPr>
                  <a:t>是由于</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oMath>
                </a14:m>
                <a:r>
                  <a:rPr kumimoji="1" lang="en-US" altLang="zh-CN" sz="2400" b="1" kern="0" dirty="0" smtClean="0">
                    <a:solidFill>
                      <a:srgbClr val="000000"/>
                    </a:solidFill>
                    <a:latin typeface="Times New Roman" pitchFamily="18" charset="0"/>
                    <a:ea typeface="宋体" pitchFamily="2" charset="-122"/>
                  </a:rPr>
                  <a:t>/</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𝑜𝑥</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3</m:t>
                    </m:r>
                  </m:oMath>
                </a14:m>
                <a:endParaRPr kumimoji="1" lang="en-US" altLang="zh-CN" sz="2400" b="1" kern="0" dirty="0" smtClean="0">
                  <a:solidFill>
                    <a:srgbClr val="000000"/>
                  </a:solidFill>
                  <a:latin typeface="Times New Roman" pitchFamily="18" charset="0"/>
                  <a:ea typeface="宋体" pitchFamily="2" charset="-122"/>
                </a:endParaRPr>
              </a:p>
              <a:p>
                <a:pPr lvl="0" defTabSz="914400" fontAlgn="base">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当</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i="1">
                            <a:latin typeface="Cambria Math" panose="02040503050406030204" pitchFamily="18" charset="0"/>
                          </a:rPr>
                          <m:t>𝑑𝑠</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𝑔</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oMath>
                </a14:m>
                <a:r>
                  <a:rPr kumimoji="1" lang="zh-CN" altLang="en-US" sz="2400" b="1" kern="0" dirty="0" smtClean="0">
                    <a:solidFill>
                      <a:srgbClr val="000000"/>
                    </a:solidFill>
                    <a:latin typeface="Times New Roman" pitchFamily="18" charset="0"/>
                    <a:ea typeface="宋体" pitchFamily="2" charset="-122"/>
                  </a:rPr>
                  <a:t>时达到饱和，此时的饱和电流</a:t>
                </a:r>
                <a:endParaRPr kumimoji="1" lang="en-US" altLang="zh-CN" sz="2400" b="1" kern="0" dirty="0">
                  <a:solidFill>
                    <a:srgbClr val="000000"/>
                  </a:solidFill>
                  <a:latin typeface="Times New Roman" pitchFamily="18" charset="0"/>
                  <a:ea typeface="宋体" pitchFamily="2"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234206" y="2657144"/>
                <a:ext cx="8879354" cy="1614801"/>
              </a:xfrm>
              <a:prstGeom prst="rect">
                <a:avLst/>
              </a:prstGeom>
              <a:blipFill>
                <a:blip r:embed="rId4"/>
                <a:stretch>
                  <a:fillRect l="-1030" t="-4151" r="-343" b="-45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644461" y="4417264"/>
                <a:ext cx="7341756" cy="7496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r>
                            <a:rPr lang="en-US" altLang="zh-CN" sz="2400" b="0" i="1" smtClean="0">
                              <a:latin typeface="Cambria Math" panose="02040503050406030204" pitchFamily="18" charset="0"/>
                            </a:rPr>
                            <m:t>𝑎𝑡</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𝑡</m:t>
                                  </m:r>
                                </m:sub>
                              </m:sSub>
                              <m:r>
                                <a:rPr lang="en-US" altLang="zh-CN" sz="2400" i="1">
                                  <a:latin typeface="Cambria Math" panose="02040503050406030204" pitchFamily="18" charset="0"/>
                                </a:rPr>
                                <m:t>)</m:t>
                              </m:r>
                            </m:e>
                            <m:sup>
                              <m:r>
                                <a:rPr lang="en-US" altLang="zh-CN" sz="2400" b="0" i="1" smtClean="0">
                                  <a:latin typeface="Cambria Math" panose="02040503050406030204" pitchFamily="18" charset="0"/>
                                </a:rPr>
                                <m:t>2</m:t>
                              </m:r>
                            </m:sup>
                          </m:sSup>
                        </m:num>
                        <m:den>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𝑚</m:t>
                          </m:r>
                        </m:den>
                      </m:f>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644461" y="4417264"/>
                <a:ext cx="7341756" cy="749692"/>
              </a:xfrm>
              <a:prstGeom prst="rect">
                <a:avLst/>
              </a:prstGeom>
              <a:blipFill>
                <a:blip r:embed="rId5"/>
                <a:stretch>
                  <a:fillRect/>
                </a:stretch>
              </a:blipFill>
            </p:spPr>
            <p:txBody>
              <a:bodyPr/>
              <a:lstStyle/>
              <a:p>
                <a:r>
                  <a:rPr lang="zh-CN" altLang="en-US">
                    <a:noFill/>
                  </a:rPr>
                  <a:t> </a:t>
                </a:r>
              </a:p>
            </p:txBody>
          </p:sp>
        </mc:Fallback>
      </mc:AlternateContent>
      <p:sp>
        <p:nvSpPr>
          <p:cNvPr id="8" name="矩形 7"/>
          <p:cNvSpPr/>
          <p:nvPr/>
        </p:nvSpPr>
        <p:spPr>
          <a:xfrm>
            <a:off x="234206" y="5324273"/>
            <a:ext cx="8683652" cy="1421928"/>
          </a:xfrm>
          <a:prstGeom prst="rect">
            <a:avLst/>
          </a:prstGeom>
        </p:spPr>
        <p:txBody>
          <a:bodyPr wrap="square">
            <a:spAutoFit/>
          </a:bodyPr>
          <a:lstStyle/>
          <a:p>
            <a:pPr lvl="0" defTabSz="914400" fontAlgn="base">
              <a:lnSpc>
                <a:spcPct val="120000"/>
              </a:lnSpc>
              <a:spcBef>
                <a:spcPct val="50000"/>
              </a:spcBef>
              <a:spcAft>
                <a:spcPct val="0"/>
              </a:spcAft>
              <a:defRPr/>
            </a:pPr>
            <a:r>
              <a:rPr kumimoji="1" lang="en-US" altLang="zh-CN" sz="2400" b="1" i="1" kern="0" dirty="0" err="1" smtClean="0">
                <a:solidFill>
                  <a:srgbClr val="000000"/>
                </a:solidFill>
                <a:latin typeface="Times New Roman" pitchFamily="18" charset="0"/>
                <a:ea typeface="宋体" pitchFamily="2" charset="-122"/>
              </a:rPr>
              <a:t>V</a:t>
            </a:r>
            <a:r>
              <a:rPr kumimoji="1" lang="en-US" altLang="zh-CN" sz="2400" b="1" i="1" kern="0" baseline="-25000" dirty="0" err="1" smtClean="0">
                <a:solidFill>
                  <a:srgbClr val="000000"/>
                </a:solidFill>
                <a:latin typeface="Times New Roman" pitchFamily="18" charset="0"/>
                <a:ea typeface="宋体" pitchFamily="2" charset="-122"/>
              </a:rPr>
              <a:t>ds</a:t>
            </a:r>
            <a:r>
              <a:rPr kumimoji="1" lang="en-US" altLang="zh-CN" sz="2400" b="1" i="1" kern="0" dirty="0" smtClean="0">
                <a:solidFill>
                  <a:srgbClr val="000000"/>
                </a:solidFill>
                <a:latin typeface="Times New Roman" pitchFamily="18" charset="0"/>
                <a:ea typeface="宋体" pitchFamily="2" charset="-122"/>
              </a:rPr>
              <a:t>&gt;</a:t>
            </a:r>
            <a:r>
              <a:rPr kumimoji="1" lang="en-US" altLang="zh-CN" sz="2400" b="1" i="1" kern="0" dirty="0" err="1" smtClean="0">
                <a:solidFill>
                  <a:srgbClr val="000000"/>
                </a:solidFill>
                <a:latin typeface="Times New Roman" pitchFamily="18" charset="0"/>
                <a:ea typeface="宋体" pitchFamily="2" charset="-122"/>
              </a:rPr>
              <a:t>V</a:t>
            </a:r>
            <a:r>
              <a:rPr kumimoji="1" lang="en-US" altLang="zh-CN" sz="2400" b="1" i="1" kern="0" baseline="-25000" dirty="0" err="1" smtClean="0">
                <a:solidFill>
                  <a:srgbClr val="000000"/>
                </a:solidFill>
                <a:latin typeface="Times New Roman" pitchFamily="18" charset="0"/>
                <a:ea typeface="宋体" pitchFamily="2" charset="-122"/>
              </a:rPr>
              <a:t>dsat</a:t>
            </a:r>
            <a:r>
              <a:rPr kumimoji="1" lang="zh-CN" altLang="en-US" sz="2400" b="1" kern="0" dirty="0" smtClean="0">
                <a:solidFill>
                  <a:srgbClr val="000000"/>
                </a:solidFill>
                <a:latin typeface="Times New Roman" pitchFamily="18" charset="0"/>
                <a:ea typeface="宋体" pitchFamily="2" charset="-122"/>
              </a:rPr>
              <a:t>后，薄层电荷近似不再成立，这时必须数值求解。通常我们用沟长调整效应（沟道夹断）来形象的解释电流饱和的现象。</a:t>
            </a:r>
            <a:endParaRPr kumimoji="1" lang="en-US" altLang="zh-CN" sz="2400" b="1" kern="0"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3671844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65</a:t>
            </a:fld>
            <a:endParaRPr lang="zh-CN" altLang="en-US"/>
          </a:p>
        </p:txBody>
      </p:sp>
      <p:sp>
        <p:nvSpPr>
          <p:cNvPr id="3" name="Text Box 3"/>
          <p:cNvSpPr txBox="1">
            <a:spLocks noChangeArrowheads="1"/>
          </p:cNvSpPr>
          <p:nvPr/>
        </p:nvSpPr>
        <p:spPr bwMode="auto">
          <a:xfrm>
            <a:off x="340322" y="230553"/>
            <a:ext cx="8087686" cy="46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亚阈值区</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grpSp>
        <p:nvGrpSpPr>
          <p:cNvPr id="22" name="组合 21"/>
          <p:cNvGrpSpPr/>
          <p:nvPr/>
        </p:nvGrpSpPr>
        <p:grpSpPr>
          <a:xfrm>
            <a:off x="1976283" y="370992"/>
            <a:ext cx="6253441" cy="3714513"/>
            <a:chOff x="471948" y="817706"/>
            <a:chExt cx="6253441" cy="3714513"/>
          </a:xfrm>
        </p:grpSpPr>
        <p:cxnSp>
          <p:nvCxnSpPr>
            <p:cNvPr id="5" name="直接箭头连接符 4"/>
            <p:cNvCxnSpPr/>
            <p:nvPr/>
          </p:nvCxnSpPr>
          <p:spPr>
            <a:xfrm flipH="1" flipV="1">
              <a:off x="1160206" y="1288026"/>
              <a:ext cx="0" cy="26645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rot="5400000" flipH="1" flipV="1">
              <a:off x="3320206" y="1792568"/>
              <a:ext cx="0" cy="43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71948" y="934064"/>
              <a:ext cx="688258" cy="461665"/>
            </a:xfrm>
            <a:prstGeom prst="rect">
              <a:avLst/>
            </a:prstGeom>
            <a:noFill/>
          </p:spPr>
          <p:txBody>
            <a:bodyPr wrap="square" rtlCol="0">
              <a:spAutoFit/>
            </a:bodyPr>
            <a:lstStyle/>
            <a:p>
              <a:r>
                <a:rPr lang="en-US" altLang="zh-CN" sz="2400" b="1" i="1" dirty="0" err="1" smtClean="0">
                  <a:latin typeface="Arial" panose="020B0604020202020204" pitchFamily="34" charset="0"/>
                  <a:cs typeface="Arial" panose="020B0604020202020204" pitchFamily="34" charset="0"/>
                </a:rPr>
                <a:t>V</a:t>
              </a:r>
              <a:r>
                <a:rPr lang="en-US" altLang="zh-CN" sz="2400" b="1" i="1" baseline="-25000" dirty="0" err="1" smtClean="0">
                  <a:latin typeface="Arial" panose="020B0604020202020204" pitchFamily="34" charset="0"/>
                  <a:cs typeface="Arial" panose="020B0604020202020204" pitchFamily="34" charset="0"/>
                </a:rPr>
                <a:t>ds</a:t>
              </a:r>
              <a:endParaRPr lang="zh-CN" altLang="en-US" sz="2400" b="1" i="1" baseline="-25000" dirty="0">
                <a:latin typeface="Arial" panose="020B0604020202020204" pitchFamily="34" charset="0"/>
                <a:cs typeface="Arial" panose="020B0604020202020204" pitchFamily="34" charset="0"/>
              </a:endParaRPr>
            </a:p>
          </p:txBody>
        </p:sp>
        <p:sp>
          <p:nvSpPr>
            <p:cNvPr id="8" name="文本框 7"/>
            <p:cNvSpPr txBox="1"/>
            <p:nvPr/>
          </p:nvSpPr>
          <p:spPr>
            <a:xfrm>
              <a:off x="5265174" y="4070554"/>
              <a:ext cx="688258" cy="461665"/>
            </a:xfrm>
            <a:prstGeom prst="rect">
              <a:avLst/>
            </a:prstGeom>
            <a:noFill/>
          </p:spPr>
          <p:txBody>
            <a:bodyPr wrap="square" rtlCol="0">
              <a:spAutoFit/>
            </a:bodyPr>
            <a:lstStyle/>
            <a:p>
              <a:r>
                <a:rPr lang="en-US" altLang="zh-CN" sz="2400" b="1" i="1" dirty="0" smtClean="0">
                  <a:latin typeface="Arial" panose="020B0604020202020204" pitchFamily="34" charset="0"/>
                  <a:cs typeface="Arial" panose="020B0604020202020204" pitchFamily="34" charset="0"/>
                </a:rPr>
                <a:t>V</a:t>
              </a:r>
              <a:r>
                <a:rPr lang="en-US" altLang="zh-CN" sz="2400" b="1" i="1" baseline="-25000" dirty="0">
                  <a:latin typeface="Arial" panose="020B0604020202020204" pitchFamily="34" charset="0"/>
                  <a:cs typeface="Arial" panose="020B0604020202020204" pitchFamily="34" charset="0"/>
                </a:rPr>
                <a:t>g</a:t>
              </a:r>
              <a:endParaRPr lang="zh-CN" altLang="en-US" sz="2400" b="1" i="1" baseline="-25000" dirty="0">
                <a:latin typeface="Arial" panose="020B0604020202020204" pitchFamily="34" charset="0"/>
                <a:cs typeface="Arial" panose="020B0604020202020204" pitchFamily="34" charset="0"/>
              </a:endParaRPr>
            </a:p>
          </p:txBody>
        </p:sp>
        <p:sp>
          <p:nvSpPr>
            <p:cNvPr id="9" name="文本框 8"/>
            <p:cNvSpPr txBox="1"/>
            <p:nvPr/>
          </p:nvSpPr>
          <p:spPr>
            <a:xfrm>
              <a:off x="2271252" y="4070554"/>
              <a:ext cx="688258" cy="461665"/>
            </a:xfrm>
            <a:prstGeom prst="rect">
              <a:avLst/>
            </a:prstGeom>
            <a:noFill/>
          </p:spPr>
          <p:txBody>
            <a:bodyPr wrap="square" rtlCol="0">
              <a:spAutoFit/>
            </a:bodyPr>
            <a:lstStyle/>
            <a:p>
              <a:r>
                <a:rPr lang="en-US" altLang="zh-CN" sz="2400" b="1" i="1" dirty="0" err="1" smtClean="0">
                  <a:latin typeface="Arial" panose="020B0604020202020204" pitchFamily="34" charset="0"/>
                  <a:cs typeface="Arial" panose="020B0604020202020204" pitchFamily="34" charset="0"/>
                </a:rPr>
                <a:t>V</a:t>
              </a:r>
              <a:r>
                <a:rPr lang="en-US" altLang="zh-CN" sz="2400" b="1" i="1" baseline="-25000" dirty="0" err="1" smtClean="0">
                  <a:latin typeface="Arial" panose="020B0604020202020204" pitchFamily="34" charset="0"/>
                  <a:cs typeface="Arial" panose="020B0604020202020204" pitchFamily="34" charset="0"/>
                </a:rPr>
                <a:t>t</a:t>
              </a:r>
              <a:endParaRPr lang="zh-CN" altLang="en-US" sz="2400" b="1" i="1" baseline="-25000" dirty="0">
                <a:latin typeface="Arial" panose="020B0604020202020204" pitchFamily="34" charset="0"/>
                <a:cs typeface="Arial" panose="020B0604020202020204" pitchFamily="34" charset="0"/>
              </a:endParaRPr>
            </a:p>
          </p:txBody>
        </p:sp>
        <p:cxnSp>
          <p:nvCxnSpPr>
            <p:cNvPr id="11" name="直接连接符 10"/>
            <p:cNvCxnSpPr/>
            <p:nvPr/>
          </p:nvCxnSpPr>
          <p:spPr>
            <a:xfrm flipH="1">
              <a:off x="2399071" y="1288026"/>
              <a:ext cx="0" cy="2664541"/>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475661" y="1686898"/>
              <a:ext cx="745608" cy="1569660"/>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亚</a:t>
              </a:r>
              <a:r>
                <a:rPr kumimoji="1" lang="zh-CN" altLang="en-US" sz="2400" b="1" kern="0" dirty="0" smtClean="0">
                  <a:solidFill>
                    <a:srgbClr val="000000"/>
                  </a:solidFill>
                  <a:latin typeface="Times New Roman" pitchFamily="18" charset="0"/>
                  <a:ea typeface="宋体" pitchFamily="2" charset="-122"/>
                </a:rPr>
                <a:t>阈值区</a:t>
              </a:r>
              <a:endParaRPr kumimoji="1" lang="en-US" altLang="zh-CN" sz="2400" b="1" kern="0" dirty="0">
                <a:solidFill>
                  <a:srgbClr val="000000"/>
                </a:solidFill>
                <a:latin typeface="Times New Roman" pitchFamily="18" charset="0"/>
                <a:ea typeface="宋体" pitchFamily="2" charset="-122"/>
              </a:endParaRPr>
            </a:p>
          </p:txBody>
        </p:sp>
        <p:cxnSp>
          <p:nvCxnSpPr>
            <p:cNvPr id="13" name="直接连接符 12"/>
            <p:cNvCxnSpPr/>
            <p:nvPr/>
          </p:nvCxnSpPr>
          <p:spPr>
            <a:xfrm flipH="1">
              <a:off x="2399070" y="1395729"/>
              <a:ext cx="2595718" cy="2556838"/>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4070431" y="817706"/>
                  <a:ext cx="2654958" cy="4917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𝑉</m:t>
                            </m:r>
                          </m:e>
                          <m:sub>
                            <m:r>
                              <a:rPr lang="en-US" altLang="zh-CN" sz="2400" i="1">
                                <a:solidFill>
                                  <a:prstClr val="black"/>
                                </a:solidFill>
                                <a:latin typeface="Cambria Math" panose="02040503050406030204" pitchFamily="18" charset="0"/>
                              </a:rPr>
                              <m:t>𝑑𝑠</m:t>
                            </m:r>
                          </m:sub>
                        </m:sSub>
                        <m:r>
                          <a:rPr lang="en-US" altLang="zh-CN" sz="2400" i="1">
                            <a:solidFill>
                              <a:prstClr val="black"/>
                            </a:solidFill>
                            <a:latin typeface="Cambria Math" panose="02040503050406030204" pitchFamily="18" charset="0"/>
                          </a:rPr>
                          <m:t>=(</m:t>
                        </m:r>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𝑉</m:t>
                            </m:r>
                          </m:e>
                          <m:sub>
                            <m:r>
                              <a:rPr lang="en-US" altLang="zh-CN" sz="2400" i="1">
                                <a:solidFill>
                                  <a:prstClr val="black"/>
                                </a:solidFill>
                                <a:latin typeface="Cambria Math" panose="02040503050406030204" pitchFamily="18" charset="0"/>
                              </a:rPr>
                              <m:t>𝑔</m:t>
                            </m:r>
                          </m:sub>
                        </m:sSub>
                        <m:r>
                          <a:rPr lang="en-US" altLang="zh-CN" sz="2400" i="1">
                            <a:solidFill>
                              <a:prstClr val="black"/>
                            </a:solidFill>
                            <a:latin typeface="Cambria Math" panose="02040503050406030204" pitchFamily="18" charset="0"/>
                          </a:rPr>
                          <m:t>−</m:t>
                        </m:r>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𝑉</m:t>
                            </m:r>
                          </m:e>
                          <m:sub>
                            <m:r>
                              <a:rPr lang="en-US" altLang="zh-CN" sz="2400" i="1">
                                <a:solidFill>
                                  <a:prstClr val="black"/>
                                </a:solidFill>
                                <a:latin typeface="Cambria Math" panose="02040503050406030204" pitchFamily="18" charset="0"/>
                              </a:rPr>
                              <m:t>𝑡</m:t>
                            </m:r>
                          </m:sub>
                        </m:sSub>
                        <m:r>
                          <a:rPr lang="en-US" altLang="zh-CN" sz="2400" i="1">
                            <a:solidFill>
                              <a:prstClr val="black"/>
                            </a:solidFill>
                            <a:latin typeface="Cambria Math" panose="02040503050406030204" pitchFamily="18" charset="0"/>
                          </a:rPr>
                          <m:t>)/</m:t>
                        </m:r>
                        <m:r>
                          <a:rPr lang="en-US" altLang="zh-CN" sz="2400" i="1">
                            <a:solidFill>
                              <a:prstClr val="black"/>
                            </a:solidFill>
                            <a:latin typeface="Cambria Math" panose="02040503050406030204" pitchFamily="18" charset="0"/>
                          </a:rPr>
                          <m:t>𝑚</m:t>
                        </m:r>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4070431" y="817706"/>
                  <a:ext cx="2654958" cy="491738"/>
                </a:xfrm>
                <a:prstGeom prst="rect">
                  <a:avLst/>
                </a:prstGeom>
                <a:blipFill>
                  <a:blip r:embed="rId2"/>
                  <a:stretch>
                    <a:fillRect b="-11111"/>
                  </a:stretch>
                </a:blipFill>
              </p:spPr>
              <p:txBody>
                <a:bodyPr/>
                <a:lstStyle/>
                <a:p>
                  <a:r>
                    <a:rPr lang="zh-CN" altLang="en-US">
                      <a:noFill/>
                    </a:rPr>
                    <a:t> </a:t>
                  </a:r>
                </a:p>
              </p:txBody>
            </p:sp>
          </mc:Fallback>
        </mc:AlternateContent>
        <p:sp>
          <p:nvSpPr>
            <p:cNvPr id="18" name="矩形 17"/>
            <p:cNvSpPr/>
            <p:nvPr/>
          </p:nvSpPr>
          <p:spPr>
            <a:xfrm>
              <a:off x="2772697" y="1790449"/>
              <a:ext cx="1374872" cy="461665"/>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饱和区</a:t>
              </a:r>
              <a:endParaRPr kumimoji="1" lang="en-US" altLang="zh-CN" sz="2400" b="1" kern="0" dirty="0">
                <a:solidFill>
                  <a:srgbClr val="000000"/>
                </a:solidFill>
                <a:latin typeface="Times New Roman" pitchFamily="18" charset="0"/>
                <a:ea typeface="宋体" pitchFamily="2" charset="-122"/>
              </a:endParaRPr>
            </a:p>
          </p:txBody>
        </p:sp>
        <p:sp>
          <p:nvSpPr>
            <p:cNvPr id="19" name="矩形 18"/>
            <p:cNvSpPr/>
            <p:nvPr/>
          </p:nvSpPr>
          <p:spPr>
            <a:xfrm>
              <a:off x="3862625" y="2948348"/>
              <a:ext cx="1374872" cy="461665"/>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线性</a:t>
              </a:r>
              <a:r>
                <a:rPr kumimoji="1" lang="zh-CN" altLang="en-US" sz="2400" b="1" kern="0" dirty="0" smtClean="0">
                  <a:solidFill>
                    <a:srgbClr val="000000"/>
                  </a:solidFill>
                  <a:latin typeface="Times New Roman" pitchFamily="18" charset="0"/>
                  <a:ea typeface="宋体" pitchFamily="2" charset="-122"/>
                </a:rPr>
                <a:t>区</a:t>
              </a:r>
              <a:endParaRPr kumimoji="1" lang="en-US" altLang="zh-CN" sz="2400" b="1" kern="0" dirty="0">
                <a:solidFill>
                  <a:srgbClr val="000000"/>
                </a:solidFill>
                <a:latin typeface="Times New Roman" pitchFamily="18" charset="0"/>
                <a:ea typeface="宋体" pitchFamily="2" charset="-122"/>
              </a:endParaRPr>
            </a:p>
          </p:txBody>
        </p:sp>
      </p:grpSp>
      <p:pic>
        <p:nvPicPr>
          <p:cNvPr id="20" name="图片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956" y="4416586"/>
            <a:ext cx="3323096" cy="2205327"/>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6880" y="4403481"/>
            <a:ext cx="3342844" cy="2218432"/>
          </a:xfrm>
          <a:prstGeom prst="rect">
            <a:avLst/>
          </a:prstGeom>
        </p:spPr>
      </p:pic>
      <p:sp>
        <p:nvSpPr>
          <p:cNvPr id="23" name="矩形 22"/>
          <p:cNvSpPr/>
          <p:nvPr/>
        </p:nvSpPr>
        <p:spPr>
          <a:xfrm>
            <a:off x="1360315" y="4648896"/>
            <a:ext cx="1374872" cy="1200329"/>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smtClean="0">
                <a:solidFill>
                  <a:srgbClr val="FF0000"/>
                </a:solidFill>
                <a:latin typeface="Times New Roman" pitchFamily="18" charset="0"/>
                <a:ea typeface="宋体" pitchFamily="2" charset="-122"/>
              </a:rPr>
              <a:t>线性坐标下电流为</a:t>
            </a:r>
            <a:r>
              <a:rPr kumimoji="1" lang="en-US" altLang="zh-CN" sz="2400" b="1" kern="0" dirty="0" smtClean="0">
                <a:solidFill>
                  <a:srgbClr val="FF0000"/>
                </a:solidFill>
                <a:latin typeface="Times New Roman" pitchFamily="18" charset="0"/>
                <a:ea typeface="宋体" pitchFamily="2" charset="-122"/>
              </a:rPr>
              <a:t>0</a:t>
            </a:r>
            <a:endParaRPr kumimoji="1" lang="en-US" altLang="zh-CN" sz="2400" b="1" kern="0" dirty="0">
              <a:solidFill>
                <a:srgbClr val="FF0000"/>
              </a:solidFill>
              <a:latin typeface="Times New Roman" pitchFamily="18" charset="0"/>
              <a:ea typeface="宋体" pitchFamily="2" charset="-122"/>
            </a:endParaRPr>
          </a:p>
        </p:txBody>
      </p:sp>
      <p:sp>
        <p:nvSpPr>
          <p:cNvPr id="24" name="矩形 23"/>
          <p:cNvSpPr/>
          <p:nvPr/>
        </p:nvSpPr>
        <p:spPr>
          <a:xfrm>
            <a:off x="6426201" y="5027676"/>
            <a:ext cx="1478933" cy="1200329"/>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smtClean="0">
                <a:solidFill>
                  <a:srgbClr val="FF0000"/>
                </a:solidFill>
                <a:latin typeface="Times New Roman" pitchFamily="18" charset="0"/>
                <a:ea typeface="宋体" pitchFamily="2" charset="-122"/>
              </a:rPr>
              <a:t>对数坐标下电流逐渐减小</a:t>
            </a:r>
            <a:endParaRPr kumimoji="1" lang="en-US" altLang="zh-CN" sz="2400" b="1" kern="0" dirty="0">
              <a:solidFill>
                <a:srgbClr val="FF0000"/>
              </a:solidFill>
              <a:latin typeface="Times New Roman" pitchFamily="18" charset="0"/>
              <a:ea typeface="宋体" pitchFamily="2" charset="-122"/>
            </a:endParaRPr>
          </a:p>
        </p:txBody>
      </p:sp>
    </p:spTree>
    <p:extLst>
      <p:ext uri="{BB962C8B-B14F-4D97-AF65-F5344CB8AC3E}">
        <p14:creationId xmlns:p14="http://schemas.microsoft.com/office/powerpoint/2010/main" val="24445913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66</a:t>
            </a:fld>
            <a:endParaRPr lang="zh-CN" altLang="en-US"/>
          </a:p>
        </p:txBody>
      </p:sp>
      <mc:AlternateContent xmlns:mc="http://schemas.openxmlformats.org/markup-compatibility/2006" xmlns:a14="http://schemas.microsoft.com/office/drawing/2010/main">
        <mc:Choice Requires="a14">
          <p:sp>
            <p:nvSpPr>
              <p:cNvPr id="3" name="Text Box 61"/>
              <p:cNvSpPr txBox="1">
                <a:spLocks noChangeArrowheads="1"/>
              </p:cNvSpPr>
              <p:nvPr/>
            </p:nvSpPr>
            <p:spPr bwMode="auto">
              <a:xfrm>
                <a:off x="482403" y="291275"/>
                <a:ext cx="8316540" cy="3748719"/>
              </a:xfrm>
              <a:prstGeom prst="rect">
                <a:avLst/>
              </a:prstGeom>
              <a:noFill/>
              <a:ln>
                <a:noFill/>
              </a:ln>
              <a:extLst>
                <a:ext uri="{909E8E84-426E-40DD-AFC4-6F175D3DCCD1}">
                  <a14:hiddenFill>
                    <a:solidFill>
                      <a:srgbClr val="FFFFFF"/>
                    </a:solidFill>
                  </a14:hiddenFill>
                </a:ext>
                <a:ext uri="{91240B29-F687-4F45-9708-019B960494DF}">
                  <a14:hiddenLine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lvl="0" defTabSz="914400" fontAlgn="base">
                  <a:lnSpc>
                    <a:spcPct val="120000"/>
                  </a:lnSpc>
                  <a:spcBef>
                    <a:spcPct val="50000"/>
                  </a:spcBef>
                  <a:spcAft>
                    <a:spcPct val="0"/>
                  </a:spcAft>
                  <a:defRPr/>
                </a:pPr>
                <a:r>
                  <a:rPr lang="zh-CN" altLang="en-US" b="1" kern="0" dirty="0" smtClean="0">
                    <a:solidFill>
                      <a:srgbClr val="000000"/>
                    </a:solidFill>
                  </a:rPr>
                  <a:t>在</a:t>
                </a:r>
                <a:r>
                  <a:rPr lang="en-US" altLang="zh-CN" b="1" i="1" kern="0" dirty="0" err="1" smtClean="0">
                    <a:solidFill>
                      <a:srgbClr val="000000"/>
                    </a:solidFill>
                  </a:rPr>
                  <a:t>V</a:t>
                </a:r>
                <a:r>
                  <a:rPr lang="en-US" altLang="zh-CN" b="1" i="1" kern="0" baseline="-25000" dirty="0" err="1" smtClean="0">
                    <a:solidFill>
                      <a:srgbClr val="000000"/>
                    </a:solidFill>
                  </a:rPr>
                  <a:t>ds</a:t>
                </a:r>
                <a:r>
                  <a:rPr lang="zh-CN" altLang="en-US" b="1" kern="0" dirty="0" smtClean="0">
                    <a:solidFill>
                      <a:srgbClr val="000000"/>
                    </a:solidFill>
                  </a:rPr>
                  <a:t>接近</a:t>
                </a:r>
                <a:r>
                  <a:rPr lang="en-US" altLang="zh-CN" b="1" i="1" kern="0" dirty="0" err="1" smtClean="0">
                    <a:solidFill>
                      <a:srgbClr val="000000"/>
                    </a:solidFill>
                  </a:rPr>
                  <a:t>V</a:t>
                </a:r>
                <a:r>
                  <a:rPr lang="en-US" altLang="zh-CN" b="1" i="1" kern="0" baseline="-25000" dirty="0" err="1" smtClean="0">
                    <a:solidFill>
                      <a:srgbClr val="000000"/>
                    </a:solidFill>
                  </a:rPr>
                  <a:t>t</a:t>
                </a:r>
                <a:r>
                  <a:rPr lang="zh-CN" altLang="en-US" b="1" kern="0" dirty="0" smtClean="0">
                    <a:solidFill>
                      <a:srgbClr val="000000"/>
                    </a:solidFill>
                  </a:rPr>
                  <a:t>的亚阈值区，反型电荷仍然存在，因此沟道仍有一定的电流。由于</a:t>
                </a:r>
                <a:r>
                  <a:rPr lang="zh-CN" altLang="en-US" b="1" kern="0" dirty="0">
                    <a:solidFill>
                      <a:srgbClr val="000000"/>
                    </a:solidFill>
                  </a:rPr>
                  <a:t>反</a:t>
                </a:r>
                <a:r>
                  <a:rPr lang="zh-CN" altLang="en-US" b="1" kern="0" dirty="0" smtClean="0">
                    <a:solidFill>
                      <a:srgbClr val="000000"/>
                    </a:solidFill>
                  </a:rPr>
                  <a:t>型电荷的密度与</a:t>
                </a:r>
                <a14:m>
                  <m:oMath xmlns:m="http://schemas.openxmlformats.org/officeDocument/2006/math">
                    <m:sSub>
                      <m:sSubPr>
                        <m:ctrlPr>
                          <a:rPr lang="en-US" altLang="zh-CN" i="1">
                            <a:latin typeface="Cambria Math" panose="02040503050406030204" pitchFamily="18" charset="0"/>
                          </a:rPr>
                        </m:ctrlPr>
                      </m:sSubPr>
                      <m:e>
                        <m:r>
                          <a:rPr lang="zh-CN" altLang="en-US" i="1">
                            <a:latin typeface="Cambria Math" panose="02040503050406030204" pitchFamily="18" charset="0"/>
                          </a:rPr>
                          <m:t>𝜓</m:t>
                        </m:r>
                      </m:e>
                      <m:sub>
                        <m:r>
                          <a:rPr lang="en-US" altLang="zh-CN" i="1">
                            <a:latin typeface="Cambria Math" panose="02040503050406030204" pitchFamily="18" charset="0"/>
                          </a:rPr>
                          <m:t>𝑠</m:t>
                        </m:r>
                      </m:sub>
                    </m:sSub>
                  </m:oMath>
                </a14:m>
                <a:r>
                  <a:rPr lang="zh-CN" altLang="en-US" b="1" kern="0" dirty="0">
                    <a:solidFill>
                      <a:srgbClr val="000000"/>
                    </a:solidFill>
                  </a:rPr>
                  <a:t>或</a:t>
                </a:r>
                <a:r>
                  <a:rPr lang="en-US" altLang="zh-CN" b="1" i="1" kern="0" dirty="0" smtClean="0">
                    <a:solidFill>
                      <a:srgbClr val="000000"/>
                    </a:solidFill>
                  </a:rPr>
                  <a:t>V</a:t>
                </a:r>
                <a:r>
                  <a:rPr lang="en-US" altLang="zh-CN" b="1" i="1" kern="0" baseline="-25000" dirty="0" smtClean="0">
                    <a:solidFill>
                      <a:srgbClr val="000000"/>
                    </a:solidFill>
                  </a:rPr>
                  <a:t>g</a:t>
                </a:r>
                <a:r>
                  <a:rPr lang="zh-CN" altLang="en-US" b="1" kern="0" dirty="0" smtClean="0">
                    <a:solidFill>
                      <a:srgbClr val="000000"/>
                    </a:solidFill>
                  </a:rPr>
                  <a:t>呈指数关系，因此电流也随</a:t>
                </a:r>
                <a:r>
                  <a:rPr lang="en-US" altLang="zh-CN" b="1" i="1" kern="0" dirty="0">
                    <a:solidFill>
                      <a:srgbClr val="000000"/>
                    </a:solidFill>
                  </a:rPr>
                  <a:t>V</a:t>
                </a:r>
                <a:r>
                  <a:rPr lang="en-US" altLang="zh-CN" b="1" i="1" kern="0" baseline="-25000" dirty="0">
                    <a:solidFill>
                      <a:srgbClr val="000000"/>
                    </a:solidFill>
                  </a:rPr>
                  <a:t>g</a:t>
                </a:r>
                <a:r>
                  <a:rPr lang="zh-CN" altLang="en-US" b="1" kern="0" dirty="0">
                    <a:solidFill>
                      <a:srgbClr val="000000"/>
                    </a:solidFill>
                  </a:rPr>
                  <a:t>呈</a:t>
                </a:r>
                <a:r>
                  <a:rPr lang="zh-CN" altLang="en-US" b="1" kern="0" dirty="0" smtClean="0">
                    <a:solidFill>
                      <a:srgbClr val="000000"/>
                    </a:solidFill>
                  </a:rPr>
                  <a:t>指数变化。</a:t>
                </a:r>
                <a:endParaRPr lang="en-US" altLang="zh-CN" b="1" kern="0" dirty="0" smtClean="0">
                  <a:solidFill>
                    <a:srgbClr val="000000"/>
                  </a:solidFill>
                </a:endParaRPr>
              </a:p>
              <a:p>
                <a:pPr lvl="0" defTabSz="914400" fontAlgn="base">
                  <a:lnSpc>
                    <a:spcPct val="120000"/>
                  </a:lnSpc>
                  <a:spcBef>
                    <a:spcPct val="50000"/>
                  </a:spcBef>
                  <a:spcAft>
                    <a:spcPct val="0"/>
                  </a:spcAft>
                  <a:defRPr/>
                </a:pPr>
                <a:r>
                  <a:rPr lang="zh-CN" altLang="en-US" b="1" kern="0" dirty="0">
                    <a:solidFill>
                      <a:srgbClr val="000000"/>
                    </a:solidFill>
                  </a:rPr>
                  <a:t>亚</a:t>
                </a:r>
                <a:r>
                  <a:rPr lang="zh-CN" altLang="en-US" b="1" kern="0" dirty="0" smtClean="0">
                    <a:solidFill>
                      <a:srgbClr val="000000"/>
                    </a:solidFill>
                  </a:rPr>
                  <a:t>阈值特性对低功耗</a:t>
                </a:r>
                <a:r>
                  <a:rPr lang="en-US" altLang="zh-CN" b="1" kern="0" dirty="0" smtClean="0">
                    <a:solidFill>
                      <a:srgbClr val="000000"/>
                    </a:solidFill>
                  </a:rPr>
                  <a:t>MOSFET</a:t>
                </a:r>
                <a:r>
                  <a:rPr lang="zh-CN" altLang="en-US" b="1" kern="0" dirty="0" smtClean="0">
                    <a:solidFill>
                      <a:srgbClr val="000000"/>
                    </a:solidFill>
                  </a:rPr>
                  <a:t>的意义重大。</a:t>
                </a:r>
                <a:endParaRPr lang="en-US" altLang="zh-CN" b="1" kern="0" dirty="0" smtClean="0">
                  <a:solidFill>
                    <a:srgbClr val="000000"/>
                  </a:solidFill>
                </a:endParaRPr>
              </a:p>
              <a:p>
                <a:pPr lvl="0" defTabSz="914400" fontAlgn="base">
                  <a:lnSpc>
                    <a:spcPct val="120000"/>
                  </a:lnSpc>
                  <a:spcBef>
                    <a:spcPct val="50000"/>
                  </a:spcBef>
                  <a:spcAft>
                    <a:spcPct val="0"/>
                  </a:spcAft>
                  <a:defRPr/>
                </a:pPr>
                <a:r>
                  <a:rPr lang="zh-CN" altLang="en-US" b="1" kern="0" dirty="0" smtClean="0">
                    <a:solidFill>
                      <a:srgbClr val="000000"/>
                    </a:solidFill>
                  </a:rPr>
                  <a:t>强反型时，电子相当于多子，这时沟道电流</a:t>
                </a:r>
                <a:r>
                  <a:rPr lang="en-US" altLang="zh-CN" b="1" i="1" kern="0" dirty="0" smtClean="0">
                    <a:solidFill>
                      <a:srgbClr val="000000"/>
                    </a:solidFill>
                  </a:rPr>
                  <a:t>I</a:t>
                </a:r>
                <a:r>
                  <a:rPr lang="en-US" altLang="zh-CN" b="1" i="1" kern="0" baseline="-25000" dirty="0" smtClean="0">
                    <a:solidFill>
                      <a:srgbClr val="000000"/>
                    </a:solidFill>
                  </a:rPr>
                  <a:t>ds</a:t>
                </a:r>
                <a:r>
                  <a:rPr lang="zh-CN" altLang="en-US" b="1" kern="0" dirty="0" smtClean="0">
                    <a:solidFill>
                      <a:srgbClr val="000000"/>
                    </a:solidFill>
                  </a:rPr>
                  <a:t>以漂移电流为主。在亚阈值区，</a:t>
                </a:r>
                <a:r>
                  <a:rPr lang="en-US" altLang="zh-CN" b="1" i="1" kern="0" dirty="0">
                    <a:solidFill>
                      <a:srgbClr val="000000"/>
                    </a:solidFill>
                  </a:rPr>
                  <a:t> </a:t>
                </a:r>
                <a:r>
                  <a:rPr lang="en-US" altLang="zh-CN" b="1" i="1" kern="0" dirty="0" smtClean="0">
                    <a:solidFill>
                      <a:srgbClr val="000000"/>
                    </a:solidFill>
                  </a:rPr>
                  <a:t>I</a:t>
                </a:r>
                <a:r>
                  <a:rPr lang="en-US" altLang="zh-CN" b="1" i="1" kern="0" baseline="-25000" dirty="0" smtClean="0">
                    <a:solidFill>
                      <a:srgbClr val="000000"/>
                    </a:solidFill>
                  </a:rPr>
                  <a:t>ds</a:t>
                </a:r>
                <a:r>
                  <a:rPr lang="zh-CN" altLang="en-US" b="1" kern="0" dirty="0" smtClean="0">
                    <a:solidFill>
                      <a:srgbClr val="000000"/>
                    </a:solidFill>
                  </a:rPr>
                  <a:t>则以扩散电流为主（与</a:t>
                </a:r>
                <a:r>
                  <a:rPr lang="en-US" altLang="zh-CN" b="1" i="1" kern="0" dirty="0" err="1" smtClean="0">
                    <a:solidFill>
                      <a:srgbClr val="000000"/>
                    </a:solidFill>
                  </a:rPr>
                  <a:t>V</a:t>
                </a:r>
                <a:r>
                  <a:rPr lang="en-US" altLang="zh-CN" b="1" i="1" kern="0" baseline="-25000" dirty="0" err="1" smtClean="0">
                    <a:solidFill>
                      <a:srgbClr val="000000"/>
                    </a:solidFill>
                  </a:rPr>
                  <a:t>ds</a:t>
                </a:r>
                <a:r>
                  <a:rPr lang="zh-CN" altLang="en-US" b="1" kern="0" dirty="0" smtClean="0">
                    <a:solidFill>
                      <a:srgbClr val="000000"/>
                    </a:solidFill>
                  </a:rPr>
                  <a:t>无关）。</a:t>
                </a:r>
                <a:endParaRPr lang="en-US" altLang="zh-CN" b="1" kern="0" dirty="0" smtClean="0">
                  <a:solidFill>
                    <a:srgbClr val="000000"/>
                  </a:solidFill>
                </a:endParaRPr>
              </a:p>
              <a:p>
                <a:pPr lvl="0" defTabSz="914400" fontAlgn="base">
                  <a:lnSpc>
                    <a:spcPct val="120000"/>
                  </a:lnSpc>
                  <a:spcBef>
                    <a:spcPct val="50000"/>
                  </a:spcBef>
                  <a:spcAft>
                    <a:spcPct val="0"/>
                  </a:spcAft>
                  <a:defRPr/>
                </a:pPr>
                <a:r>
                  <a:rPr lang="zh-CN" altLang="en-US" b="1" kern="0" dirty="0" smtClean="0">
                    <a:solidFill>
                      <a:srgbClr val="000000"/>
                    </a:solidFill>
                  </a:rPr>
                  <a:t>通过近似计算可以得到亚阈值区的电流为</a:t>
                </a:r>
                <a:endParaRPr lang="en-US" altLang="zh-CN" b="1" kern="0" dirty="0" smtClean="0">
                  <a:solidFill>
                    <a:srgbClr val="000000"/>
                  </a:solidFill>
                </a:endParaRPr>
              </a:p>
            </p:txBody>
          </p:sp>
        </mc:Choice>
        <mc:Fallback xmlns="">
          <p:sp>
            <p:nvSpPr>
              <p:cNvPr id="3" name="Text Box 61"/>
              <p:cNvSpPr txBox="1">
                <a:spLocks noRot="1" noChangeAspect="1" noMove="1" noResize="1" noEditPoints="1" noAdjustHandles="1" noChangeArrowheads="1" noChangeShapeType="1" noTextEdit="1"/>
              </p:cNvSpPr>
              <p:nvPr/>
            </p:nvSpPr>
            <p:spPr bwMode="auto">
              <a:xfrm>
                <a:off x="482403" y="291275"/>
                <a:ext cx="8316540" cy="3748719"/>
              </a:xfrm>
              <a:prstGeom prst="rect">
                <a:avLst/>
              </a:prstGeom>
              <a:blipFill>
                <a:blip r:embed="rId2"/>
                <a:stretch>
                  <a:fillRect l="-1100" t="-976" b="-11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43104" y="4225482"/>
                <a:ext cx="7341756" cy="19940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rad>
                        <m:radPr>
                          <m:degHide m:val="on"/>
                          <m:ctrlPr>
                            <a:rPr lang="en-US" altLang="zh-CN" sz="2400" i="1">
                              <a:latin typeface="Cambria Math" panose="02040503050406030204" pitchFamily="18" charset="0"/>
                            </a:rPr>
                          </m:ctrlPr>
                        </m:radPr>
                        <m:deg/>
                        <m:e>
                          <m:f>
                            <m:fPr>
                              <m:ctrlPr>
                                <a:rPr lang="en-US" altLang="zh-CN" sz="2400" i="1" smtClean="0">
                                  <a:latin typeface="Cambria Math" panose="02040503050406030204" pitchFamily="18" charset="0"/>
                                </a:rPr>
                              </m:ctrlPr>
                            </m:fPr>
                            <m:num>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𝑆𝑖</m:t>
                                  </m:r>
                                </m:sub>
                              </m:sSub>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𝑎</m:t>
                                  </m:r>
                                </m:sub>
                              </m:sSub>
                            </m:num>
                            <m:den>
                              <m:r>
                                <a:rPr lang="en-US" altLang="zh-CN" sz="2400" i="1">
                                  <a:latin typeface="Cambria Math" panose="02040503050406030204" pitchFamily="18" charset="0"/>
                                </a:rPr>
                                <m:t>4</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𝜓</m:t>
                                  </m:r>
                                </m:e>
                                <m:sub>
                                  <m:r>
                                    <a:rPr lang="en-US" altLang="zh-CN" sz="2400" i="1">
                                      <a:latin typeface="Cambria Math" panose="02040503050406030204" pitchFamily="18" charset="0"/>
                                    </a:rPr>
                                    <m:t>𝐵</m:t>
                                  </m:r>
                                </m:sub>
                              </m:sSub>
                            </m:den>
                          </m:f>
                        </m:e>
                      </m:rad>
                      <m:sSup>
                        <m:sSupPr>
                          <m:ctrlPr>
                            <a:rPr lang="en-US" altLang="zh-CN" sz="240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𝑘𝑇</m:t>
                                  </m:r>
                                </m:num>
                                <m:den>
                                  <m:r>
                                    <a:rPr lang="en-US" altLang="zh-CN" sz="2400" b="0" i="1" smtClean="0">
                                      <a:latin typeface="Cambria Math" panose="02040503050406030204" pitchFamily="18" charset="0"/>
                                    </a:rPr>
                                    <m:t>𝑞</m:t>
                                  </m:r>
                                </m:den>
                              </m:f>
                            </m:e>
                          </m:d>
                        </m:e>
                        <m:sup>
                          <m:r>
                            <a:rPr lang="en-US" altLang="zh-CN" sz="2400" b="0" i="1" smtClean="0">
                              <a:latin typeface="Cambria Math" panose="02040503050406030204" pitchFamily="18" charset="0"/>
                            </a:rPr>
                            <m:t>2</m:t>
                          </m:r>
                        </m:sup>
                      </m:sSup>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𝑒</m:t>
                          </m:r>
                        </m:e>
                        <m:sup>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𝑞</m:t>
                              </m:r>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𝑡</m:t>
                                      </m:r>
                                    </m:sub>
                                  </m:sSub>
                                </m:e>
                              </m:d>
                            </m:num>
                            <m:den>
                              <m:r>
                                <a:rPr lang="en-US" altLang="zh-CN" sz="2400" b="0" i="1" smtClean="0">
                                  <a:latin typeface="Cambria Math" panose="02040503050406030204" pitchFamily="18" charset="0"/>
                                </a:rPr>
                                <m:t>𝑚𝑘𝑇</m:t>
                              </m:r>
                            </m:den>
                          </m:f>
                        </m:sup>
                      </m:sSup>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num>
                            <m:den>
                              <m:r>
                                <a:rPr lang="en-US" altLang="zh-CN" sz="2400" b="0" i="1" smtClean="0">
                                  <a:latin typeface="Cambria Math" panose="02040503050406030204" pitchFamily="18" charset="0"/>
                                </a:rPr>
                                <m:t>𝑘𝑇</m:t>
                              </m:r>
                            </m:den>
                          </m:f>
                        </m:sup>
                      </m:sSup>
                      <m:r>
                        <a:rPr lang="en-US" altLang="zh-CN" sz="2400" b="0" i="1" smtClean="0">
                          <a:latin typeface="Cambria Math" panose="02040503050406030204" pitchFamily="18" charset="0"/>
                        </a:rPr>
                        <m:t>)</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𝑊</m:t>
                          </m:r>
                        </m:num>
                        <m:den>
                          <m:r>
                            <a:rPr lang="en-US" altLang="zh-CN" sz="2400" i="1">
                              <a:latin typeface="Cambria Math" panose="02040503050406030204" pitchFamily="18" charset="0"/>
                            </a:rPr>
                            <m:t>𝐿</m:t>
                          </m:r>
                        </m:den>
                      </m:f>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−1)</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𝑘𝑇</m:t>
                                  </m:r>
                                </m:num>
                                <m:den>
                                  <m:r>
                                    <a:rPr lang="en-US" altLang="zh-CN" sz="2400" i="1">
                                      <a:latin typeface="Cambria Math" panose="02040503050406030204" pitchFamily="18" charset="0"/>
                                    </a:rPr>
                                    <m:t>𝑞</m:t>
                                  </m:r>
                                </m:den>
                              </m:f>
                            </m:e>
                          </m:d>
                        </m:e>
                        <m:sup>
                          <m:r>
                            <a:rPr lang="en-US" altLang="zh-CN" sz="2400" i="1">
                              <a:latin typeface="Cambria Math" panose="02040503050406030204" pitchFamily="18" charset="0"/>
                            </a:rPr>
                            <m:t>2</m:t>
                          </m:r>
                        </m:sup>
                      </m:s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𝑞</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𝑡</m:t>
                                      </m:r>
                                    </m:sub>
                                  </m:sSub>
                                </m:e>
                              </m:d>
                            </m:num>
                            <m:den>
                              <m:r>
                                <a:rPr lang="en-US" altLang="zh-CN" sz="2400" i="1">
                                  <a:latin typeface="Cambria Math" panose="02040503050406030204" pitchFamily="18" charset="0"/>
                                </a:rPr>
                                <m:t>𝑚𝑘𝑇</m:t>
                              </m:r>
                            </m:den>
                          </m:f>
                        </m:sup>
                      </m:sSup>
                      <m:r>
                        <a:rPr lang="en-US" altLang="zh-CN" sz="2400" i="1">
                          <a:latin typeface="Cambria Math" panose="02040503050406030204" pitchFamily="18" charset="0"/>
                        </a:rPr>
                        <m:t>(1−</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𝑞</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num>
                            <m:den>
                              <m:r>
                                <a:rPr lang="en-US" altLang="zh-CN" sz="2400" i="1">
                                  <a:latin typeface="Cambria Math" panose="02040503050406030204" pitchFamily="18" charset="0"/>
                                </a:rPr>
                                <m:t>𝑘𝑇</m:t>
                              </m:r>
                            </m:den>
                          </m:f>
                        </m:sup>
                      </m:sSup>
                      <m:r>
                        <a:rPr lang="en-US" altLang="zh-CN" sz="2400" i="1">
                          <a:latin typeface="Cambria Math" panose="02040503050406030204" pitchFamily="18" charset="0"/>
                        </a:rPr>
                        <m:t>)</m:t>
                      </m:r>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743104" y="4225482"/>
                <a:ext cx="7341756" cy="199400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06677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67</a:t>
            </a:fld>
            <a:endParaRPr lang="zh-CN" altLang="en-US"/>
          </a:p>
        </p:txBody>
      </p:sp>
      <p:pic>
        <p:nvPicPr>
          <p:cNvPr id="3" name="Picture 7" descr="w0280-n"/>
          <p:cNvPicPr>
            <a:picLocks noChangeAspect="1" noChangeArrowheads="1"/>
          </p:cNvPicPr>
          <p:nvPr/>
        </p:nvPicPr>
        <p:blipFill>
          <a:blip r:embed="rId2" cstate="print"/>
          <a:srcRect/>
          <a:stretch>
            <a:fillRect/>
          </a:stretch>
        </p:blipFill>
        <p:spPr bwMode="auto">
          <a:xfrm>
            <a:off x="323850" y="260350"/>
            <a:ext cx="4968875" cy="2882900"/>
          </a:xfrm>
          <a:prstGeom prst="rect">
            <a:avLst/>
          </a:prstGeom>
          <a:noFill/>
          <a:ln w="9525">
            <a:noFill/>
            <a:miter lim="800000"/>
            <a:headEnd/>
            <a:tailEnd/>
          </a:ln>
        </p:spPr>
      </p:pic>
      <p:sp>
        <p:nvSpPr>
          <p:cNvPr id="4" name="Rectangle 8"/>
          <p:cNvSpPr>
            <a:spLocks noChangeArrowheads="1"/>
          </p:cNvSpPr>
          <p:nvPr/>
        </p:nvSpPr>
        <p:spPr bwMode="auto">
          <a:xfrm>
            <a:off x="5867400" y="836613"/>
            <a:ext cx="3097213" cy="2227262"/>
          </a:xfrm>
          <a:prstGeom prst="rect">
            <a:avLst/>
          </a:prstGeom>
          <a:noFill/>
          <a:ln w="9525">
            <a:noFill/>
            <a:miter lim="800000"/>
            <a:headEnd/>
            <a:tailEnd/>
          </a:ln>
          <a:effectLst/>
        </p:spPr>
        <p:txBody>
          <a:bodyPr>
            <a:spAutoFit/>
          </a:bodyPr>
          <a:lstStyle/>
          <a:p>
            <a:pPr defTabSz="914400" fontAlgn="base">
              <a:spcBef>
                <a:spcPct val="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漏极电压几乎全部降落在反偏漏衬结上，漏极电流的漂移流部分可以忽略。</a:t>
            </a:r>
          </a:p>
        </p:txBody>
      </p:sp>
      <p:sp>
        <p:nvSpPr>
          <p:cNvPr id="5" name="Text Box 9"/>
          <p:cNvSpPr txBox="1">
            <a:spLocks noChangeArrowheads="1"/>
          </p:cNvSpPr>
          <p:nvPr/>
        </p:nvSpPr>
        <p:spPr bwMode="auto">
          <a:xfrm>
            <a:off x="468313" y="3429000"/>
            <a:ext cx="8351837" cy="2957513"/>
          </a:xfrm>
          <a:prstGeom prst="rect">
            <a:avLst/>
          </a:prstGeom>
          <a:noFill/>
          <a:ln w="9525">
            <a:noFill/>
            <a:miter lim="800000"/>
            <a:headEnd/>
            <a:tailEnd/>
          </a:ln>
          <a:effectLst/>
        </p:spPr>
        <p:txBody>
          <a:bodyPr>
            <a:spAutoFit/>
          </a:bodyPr>
          <a:lstStyle/>
          <a:p>
            <a:pPr defTabSz="914400" fontAlgn="base">
              <a:lnSpc>
                <a:spcPct val="95000"/>
              </a:lnSpc>
              <a:spcBef>
                <a:spcPct val="5000"/>
              </a:spcBef>
              <a:spcAft>
                <a:spcPct val="0"/>
              </a:spcAft>
              <a:buFontTx/>
              <a:buChar char="•"/>
            </a:pPr>
            <a:r>
              <a:rPr lang="en-US" altLang="zh-CN" sz="2800" b="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自由载流子浓度沿沟道方向的梯度相当大，亚阈值电流的主要成分是扩散流，类似于</a:t>
            </a:r>
            <a:r>
              <a:rPr lang="en-US" altLang="zh-CN" sz="2800" b="1" dirty="0">
                <a:solidFill>
                  <a:srgbClr val="000000"/>
                </a:solidFill>
                <a:latin typeface="Times New Roman" pitchFamily="18" charset="0"/>
                <a:ea typeface="楷体_GB2312" pitchFamily="49" charset="-122"/>
              </a:rPr>
              <a:t>BJT</a:t>
            </a:r>
            <a:r>
              <a:rPr lang="zh-CN" altLang="en-US" sz="2800" b="1" dirty="0">
                <a:solidFill>
                  <a:srgbClr val="000000"/>
                </a:solidFill>
                <a:latin typeface="Times New Roman" pitchFamily="18" charset="0"/>
                <a:ea typeface="楷体_GB2312" pitchFamily="49" charset="-122"/>
              </a:rPr>
              <a:t>的基区电流。</a:t>
            </a:r>
          </a:p>
          <a:p>
            <a:pPr defTabSz="914400" fontAlgn="base">
              <a:lnSpc>
                <a:spcPct val="95000"/>
              </a:lnSpc>
              <a:spcBef>
                <a:spcPct val="5000"/>
              </a:spcBef>
              <a:spcAft>
                <a:spcPct val="0"/>
              </a:spcAft>
              <a:buFontTx/>
              <a:buChar char="•"/>
            </a:pPr>
            <a:r>
              <a:rPr lang="zh-CN" altLang="en-US" sz="2800" b="1" dirty="0">
                <a:solidFill>
                  <a:srgbClr val="000000"/>
                </a:solidFill>
                <a:latin typeface="Times New Roman" pitchFamily="18" charset="0"/>
                <a:ea typeface="楷体_GB2312" pitchFamily="49" charset="-122"/>
              </a:rPr>
              <a:t> 栅极电压</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G</a:t>
            </a:r>
            <a:r>
              <a:rPr lang="zh-CN" altLang="en-US" sz="2800" b="1" dirty="0">
                <a:solidFill>
                  <a:srgbClr val="000000"/>
                </a:solidFill>
                <a:latin typeface="Times New Roman" pitchFamily="18" charset="0"/>
                <a:ea typeface="楷体_GB2312" pitchFamily="49" charset="-122"/>
              </a:rPr>
              <a:t>使半导体表面能带弯曲，降低了从源区到沟道区的电子势垒，电子从重掺杂的源区（类似</a:t>
            </a:r>
            <a:r>
              <a:rPr lang="en-US" altLang="zh-CN" sz="2800" b="1" dirty="0">
                <a:solidFill>
                  <a:srgbClr val="000000"/>
                </a:solidFill>
                <a:latin typeface="Times New Roman" pitchFamily="18" charset="0"/>
                <a:ea typeface="楷体_GB2312" pitchFamily="49" charset="-122"/>
              </a:rPr>
              <a:t>BJT</a:t>
            </a:r>
            <a:r>
              <a:rPr lang="zh-CN" altLang="en-US" sz="2800" b="1" dirty="0">
                <a:solidFill>
                  <a:srgbClr val="000000"/>
                </a:solidFill>
                <a:latin typeface="Times New Roman" pitchFamily="18" charset="0"/>
                <a:ea typeface="楷体_GB2312" pitchFamily="49" charset="-122"/>
              </a:rPr>
              <a:t>的发射区）注入到</a:t>
            </a:r>
            <a:r>
              <a:rPr lang="en-US" altLang="zh-CN" sz="2800" b="1" dirty="0">
                <a:solidFill>
                  <a:srgbClr val="000000"/>
                </a:solidFill>
                <a:latin typeface="Times New Roman" pitchFamily="18" charset="0"/>
                <a:ea typeface="楷体_GB2312" pitchFamily="49" charset="-122"/>
              </a:rPr>
              <a:t>p</a:t>
            </a:r>
            <a:r>
              <a:rPr lang="zh-CN" altLang="en-US" sz="2800" b="1" dirty="0">
                <a:solidFill>
                  <a:srgbClr val="000000"/>
                </a:solidFill>
                <a:latin typeface="Times New Roman" pitchFamily="18" charset="0"/>
                <a:ea typeface="楷体_GB2312" pitchFamily="49" charset="-122"/>
              </a:rPr>
              <a:t>型表面区（类似</a:t>
            </a:r>
            <a:r>
              <a:rPr lang="en-US" altLang="zh-CN" sz="2800" b="1" dirty="0">
                <a:solidFill>
                  <a:srgbClr val="000000"/>
                </a:solidFill>
                <a:latin typeface="Times New Roman" pitchFamily="18" charset="0"/>
                <a:ea typeface="楷体_GB2312" pitchFamily="49" charset="-122"/>
              </a:rPr>
              <a:t>BJT</a:t>
            </a:r>
            <a:r>
              <a:rPr lang="zh-CN" altLang="en-US" sz="2800" b="1" dirty="0">
                <a:solidFill>
                  <a:srgbClr val="000000"/>
                </a:solidFill>
                <a:latin typeface="Times New Roman" pitchFamily="18" charset="0"/>
                <a:ea typeface="楷体_GB2312" pitchFamily="49" charset="-122"/>
              </a:rPr>
              <a:t>的基区），大部分注入的电子被漏区收集（类似</a:t>
            </a:r>
            <a:r>
              <a:rPr lang="en-US" altLang="zh-CN" sz="2800" b="1" dirty="0">
                <a:solidFill>
                  <a:srgbClr val="000000"/>
                </a:solidFill>
                <a:latin typeface="Times New Roman" pitchFamily="18" charset="0"/>
                <a:ea typeface="楷体_GB2312" pitchFamily="49" charset="-122"/>
              </a:rPr>
              <a:t>BJT</a:t>
            </a:r>
            <a:r>
              <a:rPr lang="zh-CN" altLang="en-US" sz="2800" b="1" dirty="0">
                <a:solidFill>
                  <a:srgbClr val="000000"/>
                </a:solidFill>
                <a:latin typeface="Times New Roman" pitchFamily="18" charset="0"/>
                <a:ea typeface="楷体_GB2312" pitchFamily="49" charset="-122"/>
              </a:rPr>
              <a:t>的集电区</a:t>
            </a:r>
            <a:r>
              <a:rPr lang="en-US" altLang="zh-CN" sz="2800" b="1" dirty="0">
                <a:solidFill>
                  <a:srgbClr val="000000"/>
                </a:solidFill>
                <a:latin typeface="Times New Roman" pitchFamily="18" charset="0"/>
                <a:ea typeface="楷体_GB2312" pitchFamily="49" charset="-122"/>
              </a:rPr>
              <a:t>)</a:t>
            </a:r>
            <a:r>
              <a:rPr lang="zh-CN" altLang="en-US" sz="2800" b="1" dirty="0">
                <a:solidFill>
                  <a:srgbClr val="000000"/>
                </a:solidFill>
                <a:latin typeface="Times New Roman" pitchFamily="18" charset="0"/>
                <a:ea typeface="楷体_GB2312" pitchFamily="49" charset="-122"/>
              </a:rPr>
              <a:t>。</a:t>
            </a:r>
          </a:p>
        </p:txBody>
      </p:sp>
    </p:spTree>
    <p:extLst>
      <p:ext uri="{BB962C8B-B14F-4D97-AF65-F5344CB8AC3E}">
        <p14:creationId xmlns:p14="http://schemas.microsoft.com/office/powerpoint/2010/main" val="1024644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68</a:t>
            </a:fld>
            <a:endParaRPr lang="zh-CN" altLang="en-US"/>
          </a:p>
        </p:txBody>
      </p:sp>
      <p:sp>
        <p:nvSpPr>
          <p:cNvPr id="3" name="Text Box 3"/>
          <p:cNvSpPr txBox="1">
            <a:spLocks noChangeArrowheads="1"/>
          </p:cNvSpPr>
          <p:nvPr/>
        </p:nvSpPr>
        <p:spPr bwMode="auto">
          <a:xfrm>
            <a:off x="340322" y="230553"/>
            <a:ext cx="8087686" cy="46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0" marR="0" lvl="0" indent="0" defTabSz="914400" eaLnBrk="0" fontAlgn="base" latinLnBrk="0" hangingPunct="0">
              <a:lnSpc>
                <a:spcPct val="110000"/>
              </a:lnSpc>
              <a:spcBef>
                <a:spcPct val="0"/>
              </a:spcBef>
              <a:spcAft>
                <a:spcPct val="0"/>
              </a:spcAft>
              <a:buClrTx/>
              <a:buSzTx/>
              <a:buFontTx/>
              <a:buNone/>
              <a:tabLst/>
              <a:defRPr/>
            </a:pPr>
            <a:r>
              <a:rPr kumimoji="1" lang="zh-CN" altLang="en-US"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rPr>
              <a:t>亚阈值</a:t>
            </a:r>
            <a:r>
              <a:rPr lang="zh-CN" altLang="en-US" b="1" kern="0" dirty="0" smtClean="0">
                <a:solidFill>
                  <a:srgbClr val="FF3300"/>
                </a:solidFill>
              </a:rPr>
              <a:t>斜率（亚阈值摆幅）</a:t>
            </a:r>
            <a:endParaRPr kumimoji="1" lang="en-US" altLang="zh-CN" sz="2400" b="1" i="0" u="none" strike="noStrike" kern="0" cap="none" spc="0" normalizeH="0" baseline="0" noProof="0" dirty="0" smtClean="0">
              <a:ln>
                <a:noFill/>
              </a:ln>
              <a:solidFill>
                <a:srgbClr val="FF3300"/>
              </a:solidFill>
              <a:effectLst/>
              <a:uLnTx/>
              <a:uFillTx/>
              <a:latin typeface="Times New Roman" pitchFamily="18" charset="0"/>
              <a:ea typeface="宋体" pitchFamily="2" charset="-122"/>
            </a:endParaRPr>
          </a:p>
        </p:txBody>
      </p:sp>
      <p:sp>
        <p:nvSpPr>
          <p:cNvPr id="4" name="矩形 3"/>
          <p:cNvSpPr/>
          <p:nvPr/>
        </p:nvSpPr>
        <p:spPr>
          <a:xfrm>
            <a:off x="340322" y="1914473"/>
            <a:ext cx="803425" cy="461665"/>
          </a:xfrm>
          <a:prstGeom prst="rect">
            <a:avLst/>
          </a:prstGeom>
        </p:spPr>
        <p:txBody>
          <a:bodyPr wrap="none">
            <a:spAutoFit/>
          </a:bodyPr>
          <a:lstStyle/>
          <a:p>
            <a:pPr lvl="0" defTabSz="914400" fontAlgn="base">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定义</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224418" y="2561277"/>
                <a:ext cx="8683607" cy="16426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𝑆𝑆</m:t>
                      </m:r>
                      <m:r>
                        <a:rPr lang="en-US" altLang="zh-CN" sz="2400" i="1" smtClean="0">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𝑑</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𝑙𝑔</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e>
                              </m:d>
                            </m:num>
                            <m:den>
                              <m:r>
                                <a:rPr lang="en-US" altLang="zh-CN" sz="2400" b="0" i="1" smtClean="0">
                                  <a:latin typeface="Cambria Math" panose="02040503050406030204" pitchFamily="18" charset="0"/>
                                </a:rPr>
                                <m:t>𝑑</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den>
                          </m:f>
                          <m:r>
                            <a:rPr lang="en-US" altLang="zh-CN" sz="2400" b="0" i="1" smtClean="0">
                              <a:latin typeface="Cambria Math" panose="02040503050406030204" pitchFamily="18" charset="0"/>
                            </a:rPr>
                            <m:t>)</m:t>
                          </m:r>
                        </m:e>
                        <m:sup>
                          <m:r>
                            <a:rPr lang="en-US" altLang="zh-CN" sz="2400" b="0" i="1" smtClean="0">
                              <a:latin typeface="Cambria Math" panose="02040503050406030204" pitchFamily="18" charset="0"/>
                            </a:rPr>
                            <m:t>−1</m:t>
                          </m:r>
                        </m:sup>
                      </m:sSup>
                    </m:oMath>
                  </m:oMathPara>
                </a14:m>
                <a:endParaRPr lang="en-US" altLang="zh-CN" sz="24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=2.3</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𝑑</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𝑙</m:t>
                                  </m:r>
                                  <m:r>
                                    <a:rPr lang="en-US" altLang="zh-CN" sz="2400" b="0" i="1" smtClean="0">
                                      <a:latin typeface="Cambria Math" panose="02040503050406030204" pitchFamily="18" charset="0"/>
                                    </a:rPr>
                                    <m:t>𝑛</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e>
                              </m:d>
                            </m:num>
                            <m:den>
                              <m:r>
                                <a:rPr lang="en-US" altLang="zh-CN" sz="2400" i="1">
                                  <a:latin typeface="Cambria Math" panose="02040503050406030204" pitchFamily="18" charset="0"/>
                                </a:rPr>
                                <m:t>𝑑</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den>
                          </m:f>
                          <m:r>
                            <a:rPr lang="en-US" altLang="zh-CN" sz="2400" i="1">
                              <a:latin typeface="Cambria Math" panose="02040503050406030204" pitchFamily="18" charset="0"/>
                            </a:rPr>
                            <m:t>)</m:t>
                          </m:r>
                        </m:e>
                        <m:sup>
                          <m:r>
                            <a:rPr lang="en-US" altLang="zh-CN" sz="2400" i="1">
                              <a:latin typeface="Cambria Math" panose="02040503050406030204" pitchFamily="18" charset="0"/>
                            </a:rPr>
                            <m:t>−1</m:t>
                          </m:r>
                        </m:sup>
                      </m:sSup>
                      <m:r>
                        <a:rPr lang="en-US" altLang="zh-CN" sz="2400" b="0" i="1" smtClean="0">
                          <a:latin typeface="Cambria Math" panose="02040503050406030204" pitchFamily="18" charset="0"/>
                        </a:rPr>
                        <m:t>=2.3</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𝑚𝑘𝑇</m:t>
                          </m:r>
                        </m:num>
                        <m:den>
                          <m:r>
                            <a:rPr lang="en-US" altLang="zh-CN" sz="2400" b="0" i="1" smtClean="0">
                              <a:latin typeface="Cambria Math" panose="02040503050406030204" pitchFamily="18" charset="0"/>
                            </a:rPr>
                            <m:t>𝑞</m:t>
                          </m:r>
                        </m:den>
                      </m:f>
                      <m:r>
                        <a:rPr lang="en-US" altLang="zh-CN" sz="2400" b="0" i="1" smtClean="0">
                          <a:latin typeface="Cambria Math" panose="02040503050406030204" pitchFamily="18" charset="0"/>
                        </a:rPr>
                        <m:t>=2.3</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𝑘𝑇</m:t>
                          </m:r>
                        </m:num>
                        <m:den>
                          <m:r>
                            <a:rPr lang="en-US" altLang="zh-CN" sz="2400" i="1">
                              <a:latin typeface="Cambria Math" panose="02040503050406030204" pitchFamily="18" charset="0"/>
                            </a:rPr>
                            <m:t>𝑞</m:t>
                          </m:r>
                        </m:den>
                      </m:f>
                      <m:r>
                        <a:rPr lang="en-US" altLang="zh-CN" sz="2400" b="0" i="1" smtClean="0">
                          <a:latin typeface="Cambria Math" panose="02040503050406030204" pitchFamily="18" charset="0"/>
                        </a:rPr>
                        <m:t>(</m:t>
                      </m:r>
                      <m:r>
                        <a:rPr lang="en-US" altLang="zh-CN" sz="2400" i="1">
                          <a:latin typeface="Cambria Math" panose="02040503050406030204" pitchFamily="18" charset="0"/>
                        </a:rPr>
                        <m:t>1+</m:t>
                      </m:r>
                      <m:f>
                        <m:fPr>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𝑑𝑚</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den>
                      </m:f>
                      <m:r>
                        <a:rPr lang="en-US" altLang="zh-CN" sz="2400" b="0" i="1" smtClean="0">
                          <a:latin typeface="Cambria Math" panose="02040503050406030204" pitchFamily="18" charset="0"/>
                        </a:rPr>
                        <m:t>)</m:t>
                      </m:r>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24418" y="2561277"/>
                <a:ext cx="8683607" cy="164262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831595" y="1011662"/>
                <a:ext cx="7341756" cy="90281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𝑑𝑠</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𝑊</m:t>
                          </m:r>
                        </m:num>
                        <m:den>
                          <m:r>
                            <a:rPr lang="en-US" altLang="zh-CN" sz="2400" i="1">
                              <a:latin typeface="Cambria Math" panose="02040503050406030204" pitchFamily="18" charset="0"/>
                            </a:rPr>
                            <m:t>𝐿</m:t>
                          </m:r>
                        </m:den>
                      </m:f>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−1)</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𝑘𝑇</m:t>
                                  </m:r>
                                </m:num>
                                <m:den>
                                  <m:r>
                                    <a:rPr lang="en-US" altLang="zh-CN" sz="2400" i="1">
                                      <a:latin typeface="Cambria Math" panose="02040503050406030204" pitchFamily="18" charset="0"/>
                                    </a:rPr>
                                    <m:t>𝑞</m:t>
                                  </m:r>
                                </m:den>
                              </m:f>
                            </m:e>
                          </m:d>
                        </m:e>
                        <m:sup>
                          <m:r>
                            <a:rPr lang="en-US" altLang="zh-CN" sz="2400" i="1">
                              <a:latin typeface="Cambria Math" panose="02040503050406030204" pitchFamily="18" charset="0"/>
                            </a:rPr>
                            <m:t>2</m:t>
                          </m:r>
                        </m:sup>
                      </m:s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𝑒</m:t>
                          </m:r>
                        </m:e>
                        <m:sup>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𝑞</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𝑡</m:t>
                                      </m:r>
                                    </m:sub>
                                  </m:sSub>
                                </m:e>
                              </m:d>
                            </m:num>
                            <m:den>
                              <m:r>
                                <a:rPr lang="en-US" altLang="zh-CN" sz="2400" i="1">
                                  <a:latin typeface="Cambria Math" panose="02040503050406030204" pitchFamily="18" charset="0"/>
                                </a:rPr>
                                <m:t>𝑚𝑘𝑇</m:t>
                              </m:r>
                            </m:den>
                          </m:f>
                        </m:sup>
                      </m:sSup>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831595" y="1011662"/>
                <a:ext cx="7341756" cy="902811"/>
              </a:xfrm>
              <a:prstGeom prst="rect">
                <a:avLst/>
              </a:prstGeom>
              <a:blipFill>
                <a:blip r:embed="rId3"/>
                <a:stretch>
                  <a:fillRect/>
                </a:stretch>
              </a:blipFill>
            </p:spPr>
            <p:txBody>
              <a:bodyPr/>
              <a:lstStyle/>
              <a:p>
                <a:r>
                  <a:rPr lang="zh-CN" altLang="en-US">
                    <a:noFill/>
                  </a:rPr>
                  <a:t> </a:t>
                </a:r>
              </a:p>
            </p:txBody>
          </p:sp>
        </mc:Fallback>
      </mc:AlternateContent>
      <p:sp>
        <p:nvSpPr>
          <p:cNvPr id="8" name="矩形 7"/>
          <p:cNvSpPr/>
          <p:nvPr/>
        </p:nvSpPr>
        <p:spPr>
          <a:xfrm>
            <a:off x="340321" y="4619877"/>
            <a:ext cx="8567704" cy="1532727"/>
          </a:xfrm>
          <a:prstGeom prst="rect">
            <a:avLst/>
          </a:prstGeom>
        </p:spPr>
        <p:txBody>
          <a:bodyPr wrap="square">
            <a:spAutoFit/>
          </a:bodyPr>
          <a:lstStyle/>
          <a:p>
            <a:pPr lvl="0" defTabSz="914400" fontAlgn="base">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为亚阈值</a:t>
            </a:r>
            <a:r>
              <a:rPr kumimoji="1" lang="zh-CN" altLang="en-US" sz="2400" b="1" kern="0" dirty="0" smtClean="0">
                <a:solidFill>
                  <a:srgbClr val="000000"/>
                </a:solidFill>
                <a:latin typeface="Times New Roman" pitchFamily="18" charset="0"/>
                <a:ea typeface="宋体" pitchFamily="2" charset="-122"/>
              </a:rPr>
              <a:t>斜率（</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a:t>
            </a:r>
            <a:endParaRPr kumimoji="1" lang="en-US" altLang="zh-CN" sz="2400" b="1" kern="0" dirty="0">
              <a:solidFill>
                <a:srgbClr val="000000"/>
              </a:solidFill>
              <a:latin typeface="Times New Roman" pitchFamily="18" charset="0"/>
              <a:ea typeface="宋体" pitchFamily="2" charset="-122"/>
            </a:endParaRPr>
          </a:p>
          <a:p>
            <a:pPr lvl="0" defTabSz="914400" fontAlgn="base">
              <a:lnSpc>
                <a:spcPct val="120000"/>
              </a:lnSpc>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亚阈值斜率体现为转移特性曲线在对数坐标下，亚阈值区的</a:t>
            </a:r>
            <a:r>
              <a:rPr kumimoji="1" lang="zh-CN" altLang="en-US" sz="2400" b="1" kern="0" dirty="0" smtClean="0">
                <a:solidFill>
                  <a:srgbClr val="000000"/>
                </a:solidFill>
                <a:latin typeface="Times New Roman" pitchFamily="18" charset="0"/>
                <a:ea typeface="宋体" pitchFamily="2" charset="-122"/>
              </a:rPr>
              <a:t>斜率。通常</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的取值为</a:t>
            </a:r>
            <a:r>
              <a:rPr kumimoji="1" lang="en-US" altLang="zh-CN" sz="2400" b="1" kern="0" dirty="0" smtClean="0">
                <a:solidFill>
                  <a:srgbClr val="000000"/>
                </a:solidFill>
                <a:latin typeface="Times New Roman" pitchFamily="18" charset="0"/>
                <a:ea typeface="宋体" pitchFamily="2" charset="-122"/>
              </a:rPr>
              <a:t>70~100mV/decade</a:t>
            </a:r>
            <a:r>
              <a:rPr kumimoji="1" lang="zh-CN" altLang="en-US" sz="2400" b="1" kern="0" dirty="0" smtClean="0">
                <a:solidFill>
                  <a:srgbClr val="000000"/>
                </a:solidFill>
                <a:latin typeface="Times New Roman" pitchFamily="18" charset="0"/>
                <a:ea typeface="宋体" pitchFamily="2" charset="-122"/>
              </a:rPr>
              <a:t>。</a:t>
            </a:r>
            <a:endParaRPr kumimoji="1" lang="en-US" altLang="zh-CN" sz="2400" b="1" kern="0" dirty="0">
              <a:solidFill>
                <a:srgbClr val="000000"/>
              </a:solidFill>
              <a:latin typeface="Times New Roman" pitchFamily="18" charset="0"/>
              <a:ea typeface="宋体" pitchFamily="2" charset="-122"/>
            </a:endParaRPr>
          </a:p>
        </p:txBody>
      </p:sp>
    </p:spTree>
    <p:extLst>
      <p:ext uri="{BB962C8B-B14F-4D97-AF65-F5344CB8AC3E}">
        <p14:creationId xmlns:p14="http://schemas.microsoft.com/office/powerpoint/2010/main" val="28108859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69</a:t>
            </a:fld>
            <a:endParaRPr lang="zh-CN" altLang="en-US"/>
          </a:p>
        </p:txBody>
      </p:sp>
      <p:sp>
        <p:nvSpPr>
          <p:cNvPr id="3" name="矩形 2"/>
          <p:cNvSpPr/>
          <p:nvPr/>
        </p:nvSpPr>
        <p:spPr>
          <a:xfrm>
            <a:off x="684450" y="1729194"/>
            <a:ext cx="7908944" cy="4635115"/>
          </a:xfrm>
          <a:prstGeom prst="rect">
            <a:avLst/>
          </a:prstGeom>
        </p:spPr>
        <p:txBody>
          <a:bodyPr wrap="square">
            <a:spAutoFit/>
          </a:bodyPr>
          <a:lstStyle/>
          <a:p>
            <a:pPr lvl="0" defTabSz="914400" fontAlgn="base">
              <a:lnSpc>
                <a:spcPct val="120000"/>
              </a:lnSpc>
              <a:spcBef>
                <a:spcPct val="50000"/>
              </a:spcBef>
              <a:spcAft>
                <a:spcPct val="0"/>
              </a:spcAft>
              <a:defRPr/>
            </a:pPr>
            <a:r>
              <a:rPr kumimoji="1" lang="zh-CN" altLang="en-US" sz="2400" b="1" kern="0" dirty="0">
                <a:solidFill>
                  <a:srgbClr val="000000"/>
                </a:solidFill>
                <a:latin typeface="Times New Roman" pitchFamily="18" charset="0"/>
                <a:ea typeface="宋体" pitchFamily="2" charset="-122"/>
              </a:rPr>
              <a:t>亚</a:t>
            </a:r>
            <a:r>
              <a:rPr kumimoji="1" lang="zh-CN" altLang="en-US" sz="2400" b="1" kern="0" dirty="0" smtClean="0">
                <a:solidFill>
                  <a:srgbClr val="000000"/>
                </a:solidFill>
                <a:latin typeface="Times New Roman" pitchFamily="18" charset="0"/>
                <a:ea typeface="宋体" pitchFamily="2" charset="-122"/>
              </a:rPr>
              <a:t>阈值斜率是</a:t>
            </a:r>
            <a:r>
              <a:rPr kumimoji="1" lang="en-US" altLang="zh-CN" sz="2400" b="1" kern="0" dirty="0" smtClean="0">
                <a:solidFill>
                  <a:srgbClr val="000000"/>
                </a:solidFill>
                <a:latin typeface="Times New Roman" pitchFamily="18" charset="0"/>
                <a:ea typeface="宋体" pitchFamily="2" charset="-122"/>
              </a:rPr>
              <a:t>MOSFET</a:t>
            </a:r>
            <a:r>
              <a:rPr kumimoji="1" lang="zh-CN" altLang="en-US" sz="2400" b="1" kern="0" dirty="0" smtClean="0">
                <a:solidFill>
                  <a:srgbClr val="000000"/>
                </a:solidFill>
                <a:latin typeface="Times New Roman" pitchFamily="18" charset="0"/>
                <a:ea typeface="宋体" pitchFamily="2" charset="-122"/>
              </a:rPr>
              <a:t>的重要参数，一般越小越好。</a:t>
            </a:r>
            <a:endParaRPr kumimoji="1" lang="en-US" altLang="zh-CN" sz="2400" b="1" kern="0" dirty="0" smtClean="0">
              <a:solidFill>
                <a:srgbClr val="000000"/>
              </a:solidFill>
              <a:latin typeface="Times New Roman" pitchFamily="18" charset="0"/>
              <a:ea typeface="宋体" pitchFamily="2" charset="-122"/>
            </a:endParaRPr>
          </a:p>
          <a:p>
            <a:pPr lvl="0" defTabSz="914400" fontAlgn="base">
              <a:lnSpc>
                <a:spcPct val="120000"/>
              </a:lnSpc>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然而，从其公式中可以看出，室温下最理想的情况是当</a:t>
            </a:r>
            <a:r>
              <a:rPr kumimoji="1" lang="en-US" altLang="zh-CN" sz="2400" b="1" kern="0" dirty="0" smtClean="0">
                <a:solidFill>
                  <a:srgbClr val="000000"/>
                </a:solidFill>
                <a:latin typeface="Times New Roman" pitchFamily="18" charset="0"/>
                <a:ea typeface="宋体" pitchFamily="2" charset="-122"/>
              </a:rPr>
              <a:t>m=1</a:t>
            </a:r>
            <a:r>
              <a:rPr kumimoji="1" lang="zh-CN" altLang="en-US" sz="2400" b="1" kern="0" dirty="0" smtClean="0">
                <a:solidFill>
                  <a:srgbClr val="000000"/>
                </a:solidFill>
                <a:latin typeface="Times New Roman" pitchFamily="18" charset="0"/>
                <a:ea typeface="宋体" pitchFamily="2" charset="-122"/>
              </a:rPr>
              <a:t>时，</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可以取</a:t>
            </a:r>
            <a:r>
              <a:rPr kumimoji="1" lang="en-US" altLang="zh-CN" sz="2400" b="1" kern="0" dirty="0" smtClean="0">
                <a:solidFill>
                  <a:srgbClr val="000000"/>
                </a:solidFill>
                <a:latin typeface="Times New Roman" pitchFamily="18" charset="0"/>
                <a:ea typeface="宋体" pitchFamily="2" charset="-122"/>
              </a:rPr>
              <a:t>60mV/decade</a:t>
            </a:r>
            <a:r>
              <a:rPr kumimoji="1" lang="zh-CN" altLang="en-US" sz="2400" b="1" kern="0" dirty="0" smtClean="0">
                <a:solidFill>
                  <a:srgbClr val="000000"/>
                </a:solidFill>
                <a:latin typeface="Times New Roman" pitchFamily="18" charset="0"/>
                <a:ea typeface="宋体" pitchFamily="2" charset="-122"/>
              </a:rPr>
              <a:t>，这已经是最小极限。</a:t>
            </a:r>
            <a:r>
              <a:rPr kumimoji="1" lang="en-US" altLang="zh-CN" sz="2400" b="1" kern="0" dirty="0" smtClean="0">
                <a:solidFill>
                  <a:srgbClr val="000000"/>
                </a:solidFill>
                <a:latin typeface="Times New Roman" pitchFamily="18" charset="0"/>
                <a:ea typeface="宋体" pitchFamily="2" charset="-122"/>
              </a:rPr>
              <a:t>MOSFET</a:t>
            </a:r>
            <a:r>
              <a:rPr kumimoji="1" lang="zh-CN" altLang="en-US" sz="2400" b="1" kern="0" dirty="0" smtClean="0">
                <a:solidFill>
                  <a:srgbClr val="000000"/>
                </a:solidFill>
                <a:latin typeface="Times New Roman" pitchFamily="18" charset="0"/>
                <a:ea typeface="宋体" pitchFamily="2" charset="-122"/>
              </a:rPr>
              <a:t>的其他参数都无法影响</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a:t>
            </a:r>
            <a:endParaRPr kumimoji="1" lang="en-US" altLang="zh-CN" sz="2400" b="1" kern="0" dirty="0" smtClean="0">
              <a:solidFill>
                <a:srgbClr val="000000"/>
              </a:solidFill>
              <a:latin typeface="Times New Roman" pitchFamily="18" charset="0"/>
              <a:ea typeface="宋体" pitchFamily="2" charset="-122"/>
            </a:endParaRPr>
          </a:p>
          <a:p>
            <a:pPr lvl="0" defTabSz="914400" fontAlgn="base">
              <a:lnSpc>
                <a:spcPct val="120000"/>
              </a:lnSpc>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要突破室温</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的极限，只有开发新原理的半导体器件。</a:t>
            </a:r>
          </a:p>
          <a:p>
            <a:pPr lvl="0" defTabSz="914400" fontAlgn="base">
              <a:lnSpc>
                <a:spcPct val="120000"/>
              </a:lnSpc>
              <a:spcBef>
                <a:spcPct val="50000"/>
              </a:spcBef>
              <a:spcAft>
                <a:spcPct val="0"/>
              </a:spcAft>
              <a:defRPr/>
            </a:pPr>
            <a:r>
              <a:rPr kumimoji="1" lang="zh-CN" altLang="en-US" sz="2400" b="1" kern="0" dirty="0" smtClean="0">
                <a:solidFill>
                  <a:srgbClr val="000000"/>
                </a:solidFill>
                <a:latin typeface="Times New Roman" pitchFamily="18" charset="0"/>
                <a:ea typeface="宋体" pitchFamily="2" charset="-122"/>
              </a:rPr>
              <a:t>对于</a:t>
            </a:r>
            <a:r>
              <a:rPr kumimoji="1" lang="en-US" altLang="zh-CN" sz="2400" b="1" kern="0" dirty="0" smtClean="0">
                <a:solidFill>
                  <a:srgbClr val="000000"/>
                </a:solidFill>
                <a:latin typeface="Times New Roman" pitchFamily="18" charset="0"/>
                <a:ea typeface="宋体" pitchFamily="2" charset="-122"/>
              </a:rPr>
              <a:t>MOSFET</a:t>
            </a:r>
            <a:r>
              <a:rPr kumimoji="1" lang="zh-CN" altLang="en-US" sz="2400" b="1" kern="0" dirty="0" smtClean="0">
                <a:solidFill>
                  <a:srgbClr val="000000"/>
                </a:solidFill>
                <a:latin typeface="Times New Roman" pitchFamily="18" charset="0"/>
                <a:ea typeface="宋体" pitchFamily="2" charset="-122"/>
              </a:rPr>
              <a:t>，要减小</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，首先可以从</a:t>
            </a:r>
            <a:r>
              <a:rPr kumimoji="1" lang="en-US" altLang="zh-CN" sz="2400" b="1" i="1" kern="0" dirty="0" err="1" smtClean="0">
                <a:solidFill>
                  <a:srgbClr val="000000"/>
                </a:solidFill>
                <a:latin typeface="Times New Roman" pitchFamily="18" charset="0"/>
                <a:ea typeface="宋体" pitchFamily="2" charset="-122"/>
              </a:rPr>
              <a:t>C</a:t>
            </a:r>
            <a:r>
              <a:rPr kumimoji="1" lang="en-US" altLang="zh-CN" sz="2400" b="1" i="1" kern="0" baseline="-25000" dirty="0" err="1" smtClean="0">
                <a:solidFill>
                  <a:srgbClr val="000000"/>
                </a:solidFill>
                <a:latin typeface="Times New Roman" pitchFamily="18" charset="0"/>
                <a:ea typeface="宋体" pitchFamily="2" charset="-122"/>
              </a:rPr>
              <a:t>dm</a:t>
            </a:r>
            <a:r>
              <a:rPr kumimoji="1" lang="zh-CN" altLang="en-US" sz="2400" b="1" kern="0" dirty="0" smtClean="0">
                <a:solidFill>
                  <a:srgbClr val="000000"/>
                </a:solidFill>
                <a:latin typeface="Times New Roman" pitchFamily="18" charset="0"/>
                <a:ea typeface="宋体" pitchFamily="2" charset="-122"/>
              </a:rPr>
              <a:t>入手，即降低掺杂浓度。其次是减小氧化层的厚度，从而减小</a:t>
            </a:r>
            <a:r>
              <a:rPr kumimoji="1" lang="en-US" altLang="zh-CN" sz="2400" b="1" i="1" kern="0" dirty="0" smtClean="0">
                <a:solidFill>
                  <a:srgbClr val="000000"/>
                </a:solidFill>
                <a:latin typeface="Times New Roman" pitchFamily="18" charset="0"/>
                <a:ea typeface="宋体" pitchFamily="2" charset="-122"/>
              </a:rPr>
              <a:t>C</a:t>
            </a:r>
            <a:r>
              <a:rPr kumimoji="1" lang="en-US" altLang="zh-CN" sz="2400" b="1" i="1" kern="0" baseline="-25000" dirty="0" smtClean="0">
                <a:solidFill>
                  <a:srgbClr val="000000"/>
                </a:solidFill>
                <a:latin typeface="Times New Roman" pitchFamily="18" charset="0"/>
                <a:ea typeface="宋体" pitchFamily="2" charset="-122"/>
              </a:rPr>
              <a:t>ox</a:t>
            </a:r>
            <a:r>
              <a:rPr kumimoji="1" lang="zh-CN" altLang="en-US" sz="2400" b="1" kern="0" dirty="0" smtClean="0">
                <a:solidFill>
                  <a:srgbClr val="000000"/>
                </a:solidFill>
                <a:latin typeface="Times New Roman" pitchFamily="18" charset="0"/>
                <a:ea typeface="宋体" pitchFamily="2" charset="-122"/>
              </a:rPr>
              <a:t>。除此以外，还需要控制氧化层的缺陷密度，否则</a:t>
            </a:r>
            <a:r>
              <a:rPr kumimoji="1" lang="en-US" altLang="zh-CN" sz="2400" b="1" i="1" kern="0" dirty="0" smtClean="0">
                <a:solidFill>
                  <a:srgbClr val="000000"/>
                </a:solidFill>
                <a:latin typeface="Times New Roman" pitchFamily="18" charset="0"/>
                <a:ea typeface="宋体" pitchFamily="2" charset="-122"/>
              </a:rPr>
              <a:t>SS</a:t>
            </a:r>
            <a:r>
              <a:rPr kumimoji="1" lang="zh-CN" altLang="en-US" sz="2400" b="1" kern="0" dirty="0" smtClean="0">
                <a:solidFill>
                  <a:srgbClr val="000000"/>
                </a:solidFill>
                <a:latin typeface="Times New Roman" pitchFamily="18" charset="0"/>
                <a:ea typeface="宋体" pitchFamily="2" charset="-122"/>
              </a:rPr>
              <a:t>可能远大于</a:t>
            </a:r>
            <a:r>
              <a:rPr kumimoji="1" lang="en-US" altLang="zh-CN" sz="2400" b="1" kern="0" dirty="0" smtClean="0">
                <a:solidFill>
                  <a:srgbClr val="000000"/>
                </a:solidFill>
                <a:latin typeface="Times New Roman" pitchFamily="18" charset="0"/>
                <a:ea typeface="宋体" pitchFamily="2" charset="-122"/>
              </a:rPr>
              <a:t>60mV/decade</a:t>
            </a:r>
            <a:r>
              <a:rPr kumimoji="1" lang="zh-CN" altLang="en-US" sz="2400" b="1" kern="0" dirty="0" smtClean="0">
                <a:solidFill>
                  <a:srgbClr val="000000"/>
                </a:solidFill>
                <a:latin typeface="Times New Roman" pitchFamily="18" charset="0"/>
                <a:ea typeface="宋体" pitchFamily="2" charset="-122"/>
              </a:rPr>
              <a:t>。</a:t>
            </a:r>
            <a:endParaRPr kumimoji="1" lang="en-US" altLang="zh-CN" sz="2400" b="1" kern="0" dirty="0">
              <a:solidFill>
                <a:srgbClr val="000000"/>
              </a:solidFill>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5" name="矩形 4"/>
              <p:cNvSpPr/>
              <p:nvPr/>
            </p:nvSpPr>
            <p:spPr>
              <a:xfrm>
                <a:off x="1981201" y="547529"/>
                <a:ext cx="4572000" cy="856004"/>
              </a:xfrm>
              <a:prstGeom prst="rect">
                <a:avLst/>
              </a:prstGeom>
            </p:spPr>
            <p:txBody>
              <a:bodyPr>
                <a:spAutoFit/>
              </a:bodyPr>
              <a:lstStyle/>
              <a:p>
                <a:pPr lvl="0"/>
                <a14:m>
                  <m:oMathPara xmlns:m="http://schemas.openxmlformats.org/officeDocument/2006/math">
                    <m:oMathParaPr>
                      <m:jc m:val="centerGroup"/>
                    </m:oMathParaPr>
                    <m:oMath xmlns:m="http://schemas.openxmlformats.org/officeDocument/2006/math">
                      <m:r>
                        <a:rPr lang="en-US" altLang="zh-CN" sz="2400" i="1">
                          <a:solidFill>
                            <a:prstClr val="black"/>
                          </a:solidFill>
                          <a:latin typeface="Cambria Math" panose="02040503050406030204" pitchFamily="18" charset="0"/>
                        </a:rPr>
                        <m:t>𝑆𝑆</m:t>
                      </m:r>
                      <m:r>
                        <a:rPr lang="en-US" altLang="zh-CN" sz="2400" i="1">
                          <a:solidFill>
                            <a:prstClr val="black"/>
                          </a:solidFill>
                          <a:latin typeface="Cambria Math" panose="02040503050406030204" pitchFamily="18" charset="0"/>
                        </a:rPr>
                        <m:t>=2.3</m:t>
                      </m:r>
                      <m:f>
                        <m:fPr>
                          <m:ctrlPr>
                            <a:rPr lang="en-US" altLang="zh-CN" sz="2400" i="1">
                              <a:solidFill>
                                <a:prstClr val="black"/>
                              </a:solidFill>
                              <a:latin typeface="Cambria Math" panose="02040503050406030204" pitchFamily="18" charset="0"/>
                            </a:rPr>
                          </m:ctrlPr>
                        </m:fPr>
                        <m:num>
                          <m:r>
                            <a:rPr lang="en-US" altLang="zh-CN" sz="2400" i="1">
                              <a:solidFill>
                                <a:prstClr val="black"/>
                              </a:solidFill>
                              <a:latin typeface="Cambria Math" panose="02040503050406030204" pitchFamily="18" charset="0"/>
                            </a:rPr>
                            <m:t>𝑘𝑇</m:t>
                          </m:r>
                        </m:num>
                        <m:den>
                          <m:r>
                            <a:rPr lang="en-US" altLang="zh-CN" sz="2400" i="1">
                              <a:solidFill>
                                <a:prstClr val="black"/>
                              </a:solidFill>
                              <a:latin typeface="Cambria Math" panose="02040503050406030204" pitchFamily="18" charset="0"/>
                            </a:rPr>
                            <m:t>𝑞</m:t>
                          </m:r>
                        </m:den>
                      </m:f>
                      <m:r>
                        <a:rPr lang="en-US" altLang="zh-CN" sz="2400" i="1">
                          <a:solidFill>
                            <a:prstClr val="black"/>
                          </a:solidFill>
                          <a:latin typeface="Cambria Math" panose="02040503050406030204" pitchFamily="18" charset="0"/>
                        </a:rPr>
                        <m:t>(1+</m:t>
                      </m:r>
                      <m:f>
                        <m:fPr>
                          <m:ctrlPr>
                            <a:rPr lang="en-US" altLang="zh-CN" sz="2400" i="1">
                              <a:solidFill>
                                <a:prstClr val="black"/>
                              </a:solidFill>
                              <a:latin typeface="Cambria Math" panose="02040503050406030204" pitchFamily="18" charset="0"/>
                            </a:rPr>
                          </m:ctrlPr>
                        </m:fPr>
                        <m:num>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𝐶</m:t>
                              </m:r>
                            </m:e>
                            <m:sub>
                              <m:r>
                                <a:rPr lang="en-US" altLang="zh-CN" sz="2400" i="1">
                                  <a:solidFill>
                                    <a:prstClr val="black"/>
                                  </a:solidFill>
                                  <a:latin typeface="Cambria Math" panose="02040503050406030204" pitchFamily="18" charset="0"/>
                                </a:rPr>
                                <m:t>𝑑𝑚</m:t>
                              </m:r>
                            </m:sub>
                          </m:sSub>
                        </m:num>
                        <m:den>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𝐶</m:t>
                              </m:r>
                            </m:e>
                            <m:sub>
                              <m:r>
                                <a:rPr lang="en-US" altLang="zh-CN" sz="2400" i="1">
                                  <a:solidFill>
                                    <a:prstClr val="black"/>
                                  </a:solidFill>
                                  <a:latin typeface="Cambria Math" panose="02040503050406030204" pitchFamily="18" charset="0"/>
                                </a:rPr>
                                <m:t>𝑜𝑥</m:t>
                              </m:r>
                            </m:sub>
                          </m:sSub>
                        </m:den>
                      </m:f>
                      <m:r>
                        <a:rPr lang="en-US" altLang="zh-CN" sz="2400" i="1">
                          <a:solidFill>
                            <a:prstClr val="black"/>
                          </a:solidFill>
                          <a:latin typeface="Cambria Math" panose="02040503050406030204" pitchFamily="18" charset="0"/>
                        </a:rPr>
                        <m:t>)</m:t>
                      </m:r>
                    </m:oMath>
                  </m:oMathPara>
                </a14:m>
                <a:endParaRPr lang="zh-CN" altLang="en-US" sz="2400" dirty="0">
                  <a:solidFill>
                    <a:prstClr val="black"/>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981201" y="547529"/>
                <a:ext cx="4572000" cy="856004"/>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72142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70</a:t>
            </a:fld>
            <a:endParaRPr lang="zh-CN" altLang="en-US"/>
          </a:p>
        </p:txBody>
      </p:sp>
      <p:sp>
        <p:nvSpPr>
          <p:cNvPr id="3" name="Rectangle 2"/>
          <p:cNvSpPr txBox="1">
            <a:spLocks noChangeArrowheads="1"/>
          </p:cNvSpPr>
          <p:nvPr/>
        </p:nvSpPr>
        <p:spPr bwMode="auto">
          <a:xfrm>
            <a:off x="503238" y="717755"/>
            <a:ext cx="8353425" cy="5770358"/>
          </a:xfrm>
          <a:prstGeom prst="rect">
            <a:avLst/>
          </a:prstGeom>
          <a:solidFill>
            <a:srgbClr val="FFFFFF"/>
          </a:solidFill>
          <a:ln>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defTabSz="914400">
              <a:spcAft>
                <a:spcPts val="1200"/>
              </a:spcAft>
            </a:pPr>
            <a:r>
              <a:rPr kumimoji="1" lang="zh-CN" altLang="en-US" sz="2400" b="1" kern="0" dirty="0">
                <a:solidFill>
                  <a:srgbClr val="000000"/>
                </a:solidFill>
                <a:latin typeface="Times New Roman" pitchFamily="18" charset="0"/>
                <a:ea typeface="宋体" pitchFamily="2" charset="-122"/>
              </a:rPr>
              <a:t>室温</a:t>
            </a:r>
            <a:r>
              <a:rPr kumimoji="1" lang="en-US" altLang="zh-CN" sz="2400" b="1" kern="0" dirty="0">
                <a:solidFill>
                  <a:srgbClr val="000000"/>
                </a:solidFill>
                <a:latin typeface="Times New Roman" pitchFamily="18" charset="0"/>
                <a:ea typeface="宋体" pitchFamily="2" charset="-122"/>
              </a:rPr>
              <a:t>(25℃)</a:t>
            </a:r>
            <a:r>
              <a:rPr kumimoji="1" lang="zh-CN" altLang="en-US" sz="2400" b="1" kern="0" dirty="0">
                <a:solidFill>
                  <a:srgbClr val="000000"/>
                </a:solidFill>
                <a:latin typeface="Times New Roman" pitchFamily="18" charset="0"/>
                <a:ea typeface="宋体" pitchFamily="2" charset="-122"/>
              </a:rPr>
              <a:t>下，现代典型工艺制造的</a:t>
            </a:r>
            <a:r>
              <a:rPr kumimoji="1" lang="en-US" altLang="zh-CN" sz="2400" b="1" kern="0" dirty="0">
                <a:solidFill>
                  <a:srgbClr val="000000"/>
                </a:solidFill>
                <a:latin typeface="Times New Roman" pitchFamily="18" charset="0"/>
                <a:ea typeface="宋体" pitchFamily="2" charset="-122"/>
              </a:rPr>
              <a:t>MOSFET</a:t>
            </a:r>
            <a:r>
              <a:rPr kumimoji="1" lang="zh-CN" altLang="en-US" sz="2400" b="1" kern="0" dirty="0">
                <a:solidFill>
                  <a:srgbClr val="000000"/>
                </a:solidFill>
                <a:latin typeface="Times New Roman" pitchFamily="18" charset="0"/>
                <a:ea typeface="宋体" pitchFamily="2" charset="-122"/>
              </a:rPr>
              <a:t>的</a:t>
            </a:r>
            <a:r>
              <a:rPr kumimoji="1" lang="en-US" altLang="zh-CN" sz="2400" b="1" kern="0" dirty="0">
                <a:solidFill>
                  <a:srgbClr val="000000"/>
                </a:solidFill>
                <a:latin typeface="Times New Roman" pitchFamily="18" charset="0"/>
                <a:ea typeface="宋体" pitchFamily="2" charset="-122"/>
              </a:rPr>
              <a:t>SS</a:t>
            </a:r>
            <a:r>
              <a:rPr kumimoji="1" lang="zh-CN" altLang="en-US" sz="2400" b="1" kern="0" dirty="0">
                <a:solidFill>
                  <a:srgbClr val="000000"/>
                </a:solidFill>
                <a:latin typeface="Times New Roman" pitchFamily="18" charset="0"/>
                <a:ea typeface="宋体" pitchFamily="2" charset="-122"/>
              </a:rPr>
              <a:t>值范围为</a:t>
            </a:r>
            <a:r>
              <a:rPr kumimoji="1" lang="en-US" altLang="zh-CN" sz="2400" b="1" kern="0" dirty="0">
                <a:solidFill>
                  <a:srgbClr val="000000"/>
                </a:solidFill>
                <a:latin typeface="Times New Roman" pitchFamily="18" charset="0"/>
                <a:ea typeface="宋体" pitchFamily="2" charset="-122"/>
              </a:rPr>
              <a:t>70</a:t>
            </a:r>
            <a:r>
              <a:rPr kumimoji="1" lang="zh-CN" altLang="en-US" sz="2400" b="1" kern="0" dirty="0">
                <a:solidFill>
                  <a:srgbClr val="000000"/>
                </a:solidFill>
                <a:latin typeface="Times New Roman" pitchFamily="18" charset="0"/>
                <a:ea typeface="宋体" pitchFamily="2" charset="-122"/>
              </a:rPr>
              <a:t>到</a:t>
            </a:r>
            <a:r>
              <a:rPr kumimoji="1" lang="en-US" altLang="zh-CN" sz="2400" b="1" kern="0" dirty="0">
                <a:solidFill>
                  <a:srgbClr val="000000"/>
                </a:solidFill>
                <a:latin typeface="Times New Roman" pitchFamily="18" charset="0"/>
                <a:ea typeface="宋体" pitchFamily="2" charset="-122"/>
              </a:rPr>
              <a:t>120mV/decade</a:t>
            </a:r>
            <a:r>
              <a:rPr kumimoji="1" lang="zh-CN" altLang="en-US" sz="2400" b="1" kern="0" dirty="0">
                <a:solidFill>
                  <a:srgbClr val="000000"/>
                </a:solidFill>
                <a:latin typeface="Times New Roman" pitchFamily="18" charset="0"/>
                <a:ea typeface="宋体" pitchFamily="2" charset="-122"/>
              </a:rPr>
              <a:t>。</a:t>
            </a:r>
          </a:p>
          <a:p>
            <a:pPr defTabSz="914400">
              <a:spcAft>
                <a:spcPts val="1200"/>
              </a:spcAft>
            </a:pPr>
            <a:r>
              <a:rPr kumimoji="1" lang="zh-CN" altLang="en-US" sz="2400" b="1" kern="0" dirty="0">
                <a:solidFill>
                  <a:srgbClr val="000000"/>
                </a:solidFill>
                <a:latin typeface="Times New Roman" pitchFamily="18" charset="0"/>
                <a:ea typeface="宋体" pitchFamily="2" charset="-122"/>
              </a:rPr>
              <a:t>对设计者来说，</a:t>
            </a:r>
            <a:r>
              <a:rPr kumimoji="1" lang="en-US" altLang="zh-CN" sz="2400" b="1" kern="0" dirty="0">
                <a:solidFill>
                  <a:srgbClr val="000000"/>
                </a:solidFill>
                <a:latin typeface="Times New Roman" pitchFamily="18" charset="0"/>
                <a:ea typeface="宋体" pitchFamily="2" charset="-122"/>
              </a:rPr>
              <a:t>SS</a:t>
            </a:r>
            <a:r>
              <a:rPr kumimoji="1" lang="zh-CN" altLang="en-US" sz="2400" b="1" kern="0" dirty="0">
                <a:solidFill>
                  <a:srgbClr val="000000"/>
                </a:solidFill>
                <a:latin typeface="Times New Roman" pitchFamily="18" charset="0"/>
                <a:ea typeface="宋体" pitchFamily="2" charset="-122"/>
              </a:rPr>
              <a:t>的大小非常重要，因为设计者需要用它来确定保证</a:t>
            </a:r>
            <a:r>
              <a:rPr kumimoji="1" lang="en-US" altLang="zh-CN" sz="2400" b="1" kern="0" dirty="0">
                <a:solidFill>
                  <a:srgbClr val="000000"/>
                </a:solidFill>
                <a:latin typeface="Times New Roman" pitchFamily="18" charset="0"/>
                <a:ea typeface="宋体" pitchFamily="2" charset="-122"/>
              </a:rPr>
              <a:t>MOSFET </a:t>
            </a:r>
            <a:r>
              <a:rPr kumimoji="1" lang="zh-CN" altLang="en-US" sz="2400" b="1" kern="0" dirty="0">
                <a:solidFill>
                  <a:srgbClr val="000000"/>
                </a:solidFill>
                <a:latin typeface="Times New Roman" pitchFamily="18" charset="0"/>
                <a:ea typeface="宋体" pitchFamily="2" charset="-122"/>
              </a:rPr>
              <a:t>处在“关”态所需要的栅压</a:t>
            </a:r>
          </a:p>
          <a:p>
            <a:pPr defTabSz="914400">
              <a:spcAft>
                <a:spcPts val="1200"/>
              </a:spcAft>
            </a:pPr>
            <a:r>
              <a:rPr kumimoji="1" lang="zh-CN" altLang="en-US" sz="2400" b="1" kern="0" dirty="0">
                <a:solidFill>
                  <a:srgbClr val="000000"/>
                </a:solidFill>
                <a:latin typeface="Times New Roman" pitchFamily="18" charset="0"/>
                <a:ea typeface="宋体" pitchFamily="2" charset="-122"/>
              </a:rPr>
              <a:t>例如：</a:t>
            </a:r>
            <a:r>
              <a:rPr kumimoji="1" lang="en-US" altLang="zh-CN" sz="2400" b="1" kern="0" dirty="0">
                <a:solidFill>
                  <a:srgbClr val="000000"/>
                </a:solidFill>
                <a:latin typeface="Times New Roman" pitchFamily="18" charset="0"/>
                <a:ea typeface="宋体" pitchFamily="2" charset="-122"/>
              </a:rPr>
              <a:t>MOSFET</a:t>
            </a:r>
            <a:r>
              <a:rPr kumimoji="1" lang="zh-CN" altLang="en-US" sz="2400" b="1" kern="0" dirty="0">
                <a:solidFill>
                  <a:srgbClr val="000000"/>
                </a:solidFill>
                <a:latin typeface="Times New Roman" pitchFamily="18" charset="0"/>
                <a:ea typeface="宋体" pitchFamily="2" charset="-122"/>
              </a:rPr>
              <a:t>处在“关”态的标准是当</a:t>
            </a:r>
            <a:r>
              <a:rPr kumimoji="1" lang="en-US" altLang="zh-CN" sz="2400" b="1" kern="0" dirty="0">
                <a:solidFill>
                  <a:srgbClr val="000000"/>
                </a:solidFill>
                <a:latin typeface="Times New Roman" pitchFamily="18" charset="0"/>
                <a:ea typeface="宋体" pitchFamily="2" charset="-122"/>
              </a:rPr>
              <a:t>V</a:t>
            </a:r>
            <a:r>
              <a:rPr kumimoji="1" lang="en-US" altLang="zh-CN" sz="2400" b="1" kern="0" baseline="-25000" dirty="0">
                <a:solidFill>
                  <a:srgbClr val="000000"/>
                </a:solidFill>
                <a:latin typeface="Times New Roman" pitchFamily="18" charset="0"/>
                <a:ea typeface="宋体" pitchFamily="2" charset="-122"/>
              </a:rPr>
              <a:t>G</a:t>
            </a:r>
            <a:r>
              <a:rPr kumimoji="1" lang="en-US" altLang="zh-CN" sz="2400" b="1" kern="0" dirty="0">
                <a:solidFill>
                  <a:srgbClr val="000000"/>
                </a:solidFill>
                <a:latin typeface="Times New Roman" pitchFamily="18" charset="0"/>
                <a:ea typeface="宋体" pitchFamily="2" charset="-122"/>
              </a:rPr>
              <a:t>=0</a:t>
            </a:r>
            <a:r>
              <a:rPr kumimoji="1" lang="zh-CN" altLang="en-US" sz="2400" b="1" kern="0" dirty="0">
                <a:solidFill>
                  <a:srgbClr val="000000"/>
                </a:solidFill>
                <a:latin typeface="Times New Roman" pitchFamily="18" charset="0"/>
                <a:ea typeface="宋体" pitchFamily="2" charset="-122"/>
              </a:rPr>
              <a:t>时流过漏极的电流不超过</a:t>
            </a:r>
            <a:r>
              <a:rPr kumimoji="1" lang="en-US" altLang="zh-CN" sz="2400" b="1" kern="0" dirty="0">
                <a:solidFill>
                  <a:srgbClr val="000000"/>
                </a:solidFill>
                <a:latin typeface="Times New Roman" pitchFamily="18" charset="0"/>
                <a:ea typeface="宋体" pitchFamily="2" charset="-122"/>
              </a:rPr>
              <a:t>V</a:t>
            </a:r>
            <a:r>
              <a:rPr kumimoji="1" lang="en-US" altLang="zh-CN" sz="2400" b="1" kern="0" baseline="-25000" dirty="0">
                <a:solidFill>
                  <a:srgbClr val="000000"/>
                </a:solidFill>
                <a:latin typeface="Times New Roman" pitchFamily="18" charset="0"/>
                <a:ea typeface="宋体" pitchFamily="2" charset="-122"/>
              </a:rPr>
              <a:t>G</a:t>
            </a:r>
            <a:r>
              <a:rPr kumimoji="1" lang="en-US" altLang="zh-CN" sz="2400" b="1" kern="0" dirty="0">
                <a:solidFill>
                  <a:srgbClr val="000000"/>
                </a:solidFill>
                <a:latin typeface="Times New Roman" pitchFamily="18" charset="0"/>
                <a:ea typeface="宋体" pitchFamily="2" charset="-122"/>
              </a:rPr>
              <a:t>=V</a:t>
            </a:r>
            <a:r>
              <a:rPr kumimoji="1" lang="en-US" altLang="zh-CN" sz="2400" b="1" kern="0" baseline="-25000" dirty="0">
                <a:solidFill>
                  <a:srgbClr val="000000"/>
                </a:solidFill>
                <a:latin typeface="Times New Roman" pitchFamily="18" charset="0"/>
                <a:ea typeface="宋体" pitchFamily="2" charset="-122"/>
              </a:rPr>
              <a:t>T</a:t>
            </a:r>
            <a:r>
              <a:rPr kumimoji="1" lang="en-US" altLang="zh-CN" sz="2400" b="1" kern="0" dirty="0">
                <a:solidFill>
                  <a:srgbClr val="000000"/>
                </a:solidFill>
                <a:latin typeface="Times New Roman" pitchFamily="18" charset="0"/>
                <a:ea typeface="宋体" pitchFamily="2" charset="-122"/>
              </a:rPr>
              <a:t> </a:t>
            </a:r>
            <a:r>
              <a:rPr kumimoji="1" lang="zh-CN" altLang="en-US" sz="2400" b="1" kern="0" dirty="0">
                <a:solidFill>
                  <a:srgbClr val="000000"/>
                </a:solidFill>
                <a:latin typeface="Times New Roman" pitchFamily="18" charset="0"/>
                <a:ea typeface="宋体" pitchFamily="2" charset="-122"/>
              </a:rPr>
              <a:t>时漏极电流的</a:t>
            </a:r>
            <a:r>
              <a:rPr kumimoji="1" lang="en-US" altLang="zh-CN" sz="2400" b="1" kern="0" dirty="0">
                <a:solidFill>
                  <a:srgbClr val="000000"/>
                </a:solidFill>
                <a:latin typeface="Times New Roman" pitchFamily="18" charset="0"/>
                <a:ea typeface="宋体" pitchFamily="2" charset="-122"/>
              </a:rPr>
              <a:t>0.001</a:t>
            </a:r>
            <a:r>
              <a:rPr kumimoji="1" lang="zh-CN" altLang="en-US" sz="2400" b="1" kern="0" dirty="0">
                <a:solidFill>
                  <a:srgbClr val="000000"/>
                </a:solidFill>
                <a:latin typeface="Times New Roman" pitchFamily="18" charset="0"/>
                <a:ea typeface="宋体" pitchFamily="2" charset="-122"/>
              </a:rPr>
              <a:t>。如果给定了</a:t>
            </a:r>
            <a:r>
              <a:rPr kumimoji="1" lang="en-US" altLang="zh-CN" sz="2400" b="1" kern="0" dirty="0">
                <a:solidFill>
                  <a:srgbClr val="000000"/>
                </a:solidFill>
                <a:latin typeface="Times New Roman" pitchFamily="18" charset="0"/>
                <a:ea typeface="宋体" pitchFamily="2" charset="-122"/>
              </a:rPr>
              <a:t>SS</a:t>
            </a:r>
            <a:r>
              <a:rPr kumimoji="1" lang="zh-CN" altLang="en-US" sz="2400" b="1" kern="0" dirty="0">
                <a:solidFill>
                  <a:srgbClr val="000000"/>
                </a:solidFill>
                <a:latin typeface="Times New Roman" pitchFamily="18" charset="0"/>
                <a:ea typeface="宋体" pitchFamily="2" charset="-122"/>
              </a:rPr>
              <a:t>，就可以求出</a:t>
            </a:r>
            <a:r>
              <a:rPr kumimoji="1" lang="en-US" altLang="zh-CN" sz="2400" b="1" kern="0" dirty="0">
                <a:solidFill>
                  <a:srgbClr val="000000"/>
                </a:solidFill>
                <a:latin typeface="Times New Roman" pitchFamily="18" charset="0"/>
                <a:ea typeface="宋体" pitchFamily="2" charset="-122"/>
              </a:rPr>
              <a:t>V</a:t>
            </a:r>
            <a:r>
              <a:rPr kumimoji="1" lang="en-US" altLang="zh-CN" sz="2400" b="1" kern="0" baseline="-25000" dirty="0">
                <a:solidFill>
                  <a:srgbClr val="000000"/>
                </a:solidFill>
                <a:latin typeface="Times New Roman" pitchFamily="18" charset="0"/>
                <a:ea typeface="宋体" pitchFamily="2" charset="-122"/>
              </a:rPr>
              <a:t>T</a:t>
            </a:r>
            <a:r>
              <a:rPr kumimoji="1" lang="en-US" altLang="zh-CN" sz="2400" b="1" kern="0" dirty="0">
                <a:solidFill>
                  <a:srgbClr val="000000"/>
                </a:solidFill>
                <a:latin typeface="Times New Roman" pitchFamily="18" charset="0"/>
                <a:ea typeface="宋体" pitchFamily="2" charset="-122"/>
              </a:rPr>
              <a:t> </a:t>
            </a:r>
            <a:r>
              <a:rPr kumimoji="1" lang="zh-CN" altLang="en-US" sz="2400" b="1" kern="0" dirty="0">
                <a:solidFill>
                  <a:srgbClr val="000000"/>
                </a:solidFill>
                <a:latin typeface="Times New Roman" pitchFamily="18" charset="0"/>
                <a:ea typeface="宋体" pitchFamily="2" charset="-122"/>
              </a:rPr>
              <a:t>的下限。</a:t>
            </a:r>
          </a:p>
          <a:p>
            <a:pPr defTabSz="914400">
              <a:spcAft>
                <a:spcPts val="1200"/>
              </a:spcAft>
            </a:pPr>
            <a:r>
              <a:rPr kumimoji="1" lang="zh-CN" altLang="en-US" sz="2400" b="1" kern="0" dirty="0">
                <a:solidFill>
                  <a:srgbClr val="000000"/>
                </a:solidFill>
                <a:latin typeface="Times New Roman" pitchFamily="18" charset="0"/>
                <a:ea typeface="宋体" pitchFamily="2" charset="-122"/>
              </a:rPr>
              <a:t>在</a:t>
            </a:r>
            <a:r>
              <a:rPr kumimoji="1" lang="en-US" altLang="zh-CN" sz="2400" b="1" kern="0" dirty="0">
                <a:solidFill>
                  <a:srgbClr val="000000"/>
                </a:solidFill>
                <a:latin typeface="Times New Roman" pitchFamily="18" charset="0"/>
                <a:ea typeface="宋体" pitchFamily="2" charset="-122"/>
              </a:rPr>
              <a:t>MOS</a:t>
            </a:r>
            <a:r>
              <a:rPr kumimoji="1" lang="zh-CN" altLang="en-US" sz="2400" b="1" kern="0" dirty="0">
                <a:solidFill>
                  <a:srgbClr val="000000"/>
                </a:solidFill>
                <a:latin typeface="Times New Roman" pitchFamily="18" charset="0"/>
                <a:ea typeface="宋体" pitchFamily="2" charset="-122"/>
              </a:rPr>
              <a:t>数字电路设计中，对</a:t>
            </a:r>
            <a:r>
              <a:rPr kumimoji="1" lang="en-US" altLang="zh-CN" sz="2400" b="1" kern="0" dirty="0">
                <a:solidFill>
                  <a:srgbClr val="000000"/>
                </a:solidFill>
                <a:latin typeface="Times New Roman" pitchFamily="18" charset="0"/>
                <a:ea typeface="宋体" pitchFamily="2" charset="-122"/>
              </a:rPr>
              <a:t>ON/OFF</a:t>
            </a:r>
            <a:r>
              <a:rPr kumimoji="1" lang="zh-CN" altLang="en-US" sz="2400" b="1" kern="0" dirty="0">
                <a:solidFill>
                  <a:srgbClr val="000000"/>
                </a:solidFill>
                <a:latin typeface="Times New Roman" pitchFamily="18" charset="0"/>
                <a:ea typeface="宋体" pitchFamily="2" charset="-122"/>
              </a:rPr>
              <a:t>电流比的要求限制了可用阈值电压的范围。较低的阈值电压可以降低对电源电压的要求。为达到某些电路要求的性能，可以用更为精细的工艺制造出两种不同阈值电压的</a:t>
            </a:r>
            <a:r>
              <a:rPr kumimoji="1" lang="en-US" altLang="zh-CN" sz="2400" b="1" kern="0" dirty="0">
                <a:solidFill>
                  <a:srgbClr val="000000"/>
                </a:solidFill>
                <a:latin typeface="Times New Roman" pitchFamily="18" charset="0"/>
                <a:ea typeface="宋体" pitchFamily="2" charset="-122"/>
              </a:rPr>
              <a:t>n</a:t>
            </a:r>
            <a:r>
              <a:rPr kumimoji="1" lang="zh-CN" altLang="en-US" sz="2400" b="1" kern="0" dirty="0">
                <a:solidFill>
                  <a:srgbClr val="000000"/>
                </a:solidFill>
                <a:latin typeface="Times New Roman" pitchFamily="18" charset="0"/>
                <a:ea typeface="宋体" pitchFamily="2" charset="-122"/>
              </a:rPr>
              <a:t>沟</a:t>
            </a:r>
            <a:r>
              <a:rPr kumimoji="1" lang="en-US" altLang="zh-CN" sz="2400" b="1" kern="0" dirty="0">
                <a:solidFill>
                  <a:srgbClr val="000000"/>
                </a:solidFill>
                <a:latin typeface="Times New Roman" pitchFamily="18" charset="0"/>
                <a:ea typeface="宋体" pitchFamily="2" charset="-122"/>
              </a:rPr>
              <a:t>MOSFET</a:t>
            </a:r>
            <a:r>
              <a:rPr kumimoji="1" lang="zh-CN" altLang="en-US" sz="2400" b="1" kern="0" dirty="0">
                <a:solidFill>
                  <a:srgbClr val="000000"/>
                </a:solidFill>
                <a:latin typeface="Times New Roman" pitchFamily="18" charset="0"/>
                <a:ea typeface="宋体" pitchFamily="2" charset="-122"/>
              </a:rPr>
              <a:t>。</a:t>
            </a:r>
          </a:p>
        </p:txBody>
      </p:sp>
    </p:spTree>
    <p:extLst>
      <p:ext uri="{BB962C8B-B14F-4D97-AF65-F5344CB8AC3E}">
        <p14:creationId xmlns:p14="http://schemas.microsoft.com/office/powerpoint/2010/main" val="31625090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71</a:t>
            </a:fld>
            <a:endParaRPr lang="zh-CN" altLang="en-US"/>
          </a:p>
        </p:txBody>
      </p:sp>
      <p:sp>
        <p:nvSpPr>
          <p:cNvPr id="5" name="Text Box 3"/>
          <p:cNvSpPr txBox="1">
            <a:spLocks noChangeArrowheads="1"/>
          </p:cNvSpPr>
          <p:nvPr/>
        </p:nvSpPr>
        <p:spPr bwMode="auto">
          <a:xfrm>
            <a:off x="735013" y="517525"/>
            <a:ext cx="1820862"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跨导</a:t>
            </a:r>
            <a:r>
              <a:rPr lang="en-US" altLang="zh-CN" sz="2800" b="1" i="1" dirty="0">
                <a:solidFill>
                  <a:srgbClr val="000000"/>
                </a:solidFill>
                <a:latin typeface="Times New Roman" pitchFamily="18" charset="0"/>
                <a:ea typeface="楷体_GB2312" pitchFamily="49" charset="-122"/>
              </a:rPr>
              <a:t>g</a:t>
            </a:r>
            <a:r>
              <a:rPr lang="en-US" altLang="zh-CN" sz="2800" b="1" i="1" baseline="-25000" dirty="0">
                <a:solidFill>
                  <a:srgbClr val="000000"/>
                </a:solidFill>
                <a:latin typeface="Times New Roman" pitchFamily="18" charset="0"/>
                <a:ea typeface="楷体_GB2312" pitchFamily="49" charset="-122"/>
              </a:rPr>
              <a:t>m</a:t>
            </a:r>
            <a:r>
              <a:rPr lang="en-US" altLang="zh-CN" sz="2800" b="1" dirty="0">
                <a:solidFill>
                  <a:srgbClr val="000000"/>
                </a:solidFill>
                <a:latin typeface="Times New Roman" pitchFamily="18" charset="0"/>
                <a:ea typeface="楷体_GB2312" pitchFamily="49" charset="-122"/>
              </a:rPr>
              <a:t> </a:t>
            </a:r>
          </a:p>
        </p:txBody>
      </p:sp>
      <p:sp>
        <p:nvSpPr>
          <p:cNvPr id="7" name="Text Box 13"/>
          <p:cNvSpPr txBox="1">
            <a:spLocks noChangeArrowheads="1"/>
          </p:cNvSpPr>
          <p:nvPr/>
        </p:nvSpPr>
        <p:spPr bwMode="auto">
          <a:xfrm>
            <a:off x="432312" y="1461017"/>
            <a:ext cx="8416925" cy="946150"/>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zh-CN" altLang="en-US" sz="2800" b="1" dirty="0">
                <a:solidFill>
                  <a:srgbClr val="000000"/>
                </a:solidFill>
                <a:latin typeface="Arial" charset="0"/>
                <a:ea typeface="楷体_GB2312" pitchFamily="49" charset="-122"/>
              </a:rPr>
              <a:t>跨导的含义：单位栅压变化导致漏极电流的变化量。反映栅压对漏极电流的控制能力。</a:t>
            </a:r>
          </a:p>
        </p:txBody>
      </p:sp>
      <p:sp>
        <p:nvSpPr>
          <p:cNvPr id="10" name="Rectangle 10"/>
          <p:cNvSpPr>
            <a:spLocks noChangeArrowheads="1"/>
          </p:cNvSpPr>
          <p:nvPr/>
        </p:nvSpPr>
        <p:spPr bwMode="auto">
          <a:xfrm>
            <a:off x="735013" y="2722533"/>
            <a:ext cx="2482850" cy="519112"/>
          </a:xfrm>
          <a:prstGeom prst="rect">
            <a:avLst/>
          </a:prstGeom>
          <a:noFill/>
          <a:ln w="9525">
            <a:noFill/>
            <a:miter lim="800000"/>
            <a:headEnd/>
            <a:tailEnd/>
          </a:ln>
          <a:effectLst/>
        </p:spPr>
        <p:txBody>
          <a:bodyPr>
            <a:spAutoFit/>
          </a:bodyPr>
          <a:lstStyle/>
          <a:p>
            <a:pPr defTabSz="914400" fontAlgn="base">
              <a:spcBef>
                <a:spcPct val="0"/>
              </a:spcBef>
              <a:spcAft>
                <a:spcPct val="0"/>
              </a:spcAft>
              <a:buFontTx/>
              <a:buChar char="•"/>
            </a:pPr>
            <a:r>
              <a:rPr kumimoji="1" lang="en-US" altLang="zh-CN" sz="2800" b="1">
                <a:solidFill>
                  <a:srgbClr val="000000"/>
                </a:solidFill>
                <a:latin typeface="Times New Roman" pitchFamily="18" charset="0"/>
                <a:ea typeface="楷体_GB2312" pitchFamily="49" charset="-122"/>
              </a:rPr>
              <a:t> </a:t>
            </a:r>
            <a:r>
              <a:rPr kumimoji="1" lang="zh-CN" altLang="en-US" sz="2800" b="1">
                <a:solidFill>
                  <a:srgbClr val="000000"/>
                </a:solidFill>
                <a:latin typeface="Times New Roman" pitchFamily="18" charset="0"/>
                <a:ea typeface="楷体_GB2312" pitchFamily="49" charset="-122"/>
              </a:rPr>
              <a:t>非饱和区：</a:t>
            </a:r>
          </a:p>
        </p:txBody>
      </p:sp>
      <p:sp>
        <p:nvSpPr>
          <p:cNvPr id="11" name="Rectangle 11"/>
          <p:cNvSpPr>
            <a:spLocks noChangeArrowheads="1"/>
          </p:cNvSpPr>
          <p:nvPr/>
        </p:nvSpPr>
        <p:spPr bwMode="auto">
          <a:xfrm>
            <a:off x="735013" y="3355945"/>
            <a:ext cx="2916237" cy="519113"/>
          </a:xfrm>
          <a:prstGeom prst="rect">
            <a:avLst/>
          </a:prstGeom>
          <a:noFill/>
          <a:ln w="9525">
            <a:noFill/>
            <a:miter lim="800000"/>
            <a:headEnd/>
            <a:tailEnd/>
          </a:ln>
          <a:effectLst/>
        </p:spPr>
        <p:txBody>
          <a:bodyPr>
            <a:spAutoFit/>
          </a:bodyPr>
          <a:lstStyle/>
          <a:p>
            <a:pPr defTabSz="914400" fontAlgn="base">
              <a:spcBef>
                <a:spcPct val="0"/>
              </a:spcBef>
              <a:spcAft>
                <a:spcPct val="0"/>
              </a:spcAft>
              <a:buFontTx/>
              <a:buChar char="•"/>
            </a:pPr>
            <a:r>
              <a:rPr kumimoji="1" lang="en-US" altLang="zh-CN" sz="2800" b="1">
                <a:solidFill>
                  <a:srgbClr val="000000"/>
                </a:solidFill>
                <a:latin typeface="Times New Roman" pitchFamily="18" charset="0"/>
                <a:ea typeface="楷体_GB2312" pitchFamily="49" charset="-122"/>
              </a:rPr>
              <a:t> </a:t>
            </a:r>
            <a:r>
              <a:rPr kumimoji="1" lang="zh-CN" altLang="en-US" sz="2800" b="1">
                <a:solidFill>
                  <a:srgbClr val="000000"/>
                </a:solidFill>
                <a:latin typeface="Times New Roman" pitchFamily="18" charset="0"/>
                <a:ea typeface="楷体_GB2312" pitchFamily="49" charset="-122"/>
              </a:rPr>
              <a:t>饱和区：</a:t>
            </a:r>
          </a:p>
        </p:txBody>
      </p:sp>
      <mc:AlternateContent xmlns:mc="http://schemas.openxmlformats.org/markup-compatibility/2006" xmlns:a14="http://schemas.microsoft.com/office/drawing/2010/main">
        <mc:Choice Requires="a14">
          <p:sp>
            <p:nvSpPr>
              <p:cNvPr id="12" name="矩形 11"/>
              <p:cNvSpPr/>
              <p:nvPr/>
            </p:nvSpPr>
            <p:spPr>
              <a:xfrm>
                <a:off x="2354774" y="400097"/>
                <a:ext cx="4572000" cy="899157"/>
              </a:xfrm>
              <a:prstGeom prst="rect">
                <a:avLst/>
              </a:prstGeom>
            </p:spPr>
            <p:txBody>
              <a:bodyPr>
                <a:spAutoFit/>
              </a:bodyPr>
              <a:lstStyle/>
              <a:p>
                <a:pPr lvl="0"/>
                <a14:m>
                  <m:oMathPara xmlns:m="http://schemas.openxmlformats.org/officeDocument/2006/math">
                    <m:oMathParaPr>
                      <m:jc m:val="centerGroup"/>
                    </m:oMathParaPr>
                    <m:oMath xmlns:m="http://schemas.openxmlformats.org/officeDocument/2006/math">
                      <m:sSub>
                        <m:sSubPr>
                          <m:ctrlPr>
                            <a:rPr lang="en-US" altLang="zh-CN" sz="2400" i="1" smtClean="0">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𝑔</m:t>
                          </m:r>
                        </m:e>
                        <m:sub>
                          <m:r>
                            <a:rPr lang="en-US" altLang="zh-CN" sz="2400" b="0" i="1" smtClean="0">
                              <a:solidFill>
                                <a:prstClr val="black"/>
                              </a:solidFill>
                              <a:latin typeface="Cambria Math" panose="02040503050406030204" pitchFamily="18" charset="0"/>
                            </a:rPr>
                            <m:t>𝑚</m:t>
                          </m:r>
                        </m:sub>
                      </m:sSub>
                      <m:r>
                        <a:rPr lang="en-US" altLang="zh-CN" sz="2400" i="1">
                          <a:solidFill>
                            <a:prstClr val="black"/>
                          </a:solidFill>
                          <a:latin typeface="Cambria Math" panose="02040503050406030204" pitchFamily="18" charset="0"/>
                        </a:rPr>
                        <m:t>=</m:t>
                      </m:r>
                      <m:f>
                        <m:fPr>
                          <m:ctrlPr>
                            <a:rPr lang="en-US" altLang="zh-CN" sz="2400" i="1" smtClean="0">
                              <a:solidFill>
                                <a:prstClr val="black"/>
                              </a:solidFill>
                              <a:latin typeface="Cambria Math" panose="02040503050406030204" pitchFamily="18" charset="0"/>
                            </a:rPr>
                          </m:ctrlPr>
                        </m:fPr>
                        <m:num>
                          <m:r>
                            <a:rPr lang="en-US" altLang="zh-CN" sz="2400" i="1" smtClean="0">
                              <a:solidFill>
                                <a:prstClr val="black"/>
                              </a:solidFill>
                              <a:latin typeface="Cambria Math" panose="02040503050406030204" pitchFamily="18" charset="0"/>
                            </a:rPr>
                            <m:t>𝜕</m:t>
                          </m:r>
                          <m:sSub>
                            <m:sSubPr>
                              <m:ctrlPr>
                                <a:rPr lang="en-US" altLang="zh-CN" sz="2400" i="1" smtClean="0">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𝐼</m:t>
                              </m:r>
                            </m:e>
                            <m:sub>
                              <m:r>
                                <a:rPr lang="en-US" altLang="zh-CN" sz="2400" b="0" i="1" smtClean="0">
                                  <a:solidFill>
                                    <a:prstClr val="black"/>
                                  </a:solidFill>
                                  <a:latin typeface="Cambria Math" panose="02040503050406030204" pitchFamily="18" charset="0"/>
                                </a:rPr>
                                <m:t>𝑑𝑠</m:t>
                              </m:r>
                            </m:sub>
                          </m:sSub>
                        </m:num>
                        <m:den>
                          <m:r>
                            <a:rPr lang="en-US" altLang="zh-CN" sz="2400" i="1" smtClean="0">
                              <a:solidFill>
                                <a:prstClr val="black"/>
                              </a:solidFill>
                              <a:latin typeface="Cambria Math" panose="02040503050406030204" pitchFamily="18" charset="0"/>
                            </a:rPr>
                            <m:t>𝜕</m:t>
                          </m:r>
                          <m:sSub>
                            <m:sSubPr>
                              <m:ctrlPr>
                                <a:rPr lang="en-US" altLang="zh-CN" sz="2400" i="1" smtClean="0">
                                  <a:solidFill>
                                    <a:prstClr val="black"/>
                                  </a:solidFill>
                                  <a:latin typeface="Cambria Math" panose="02040503050406030204" pitchFamily="18" charset="0"/>
                                </a:rPr>
                              </m:ctrlPr>
                            </m:sSubPr>
                            <m:e>
                              <m:r>
                                <a:rPr lang="en-US" altLang="zh-CN" sz="2400" b="0" i="1" smtClean="0">
                                  <a:solidFill>
                                    <a:prstClr val="black"/>
                                  </a:solidFill>
                                  <a:latin typeface="Cambria Math" panose="02040503050406030204" pitchFamily="18" charset="0"/>
                                </a:rPr>
                                <m:t>𝑉</m:t>
                              </m:r>
                            </m:e>
                            <m:sub>
                              <m:r>
                                <a:rPr lang="en-US" altLang="zh-CN" sz="2400" b="0" i="1" smtClean="0">
                                  <a:solidFill>
                                    <a:prstClr val="black"/>
                                  </a:solidFill>
                                  <a:latin typeface="Cambria Math" panose="02040503050406030204" pitchFamily="18" charset="0"/>
                                </a:rPr>
                                <m:t>𝑔</m:t>
                              </m:r>
                            </m:sub>
                          </m:sSub>
                        </m:den>
                      </m:f>
                    </m:oMath>
                  </m:oMathPara>
                </a14:m>
                <a:endParaRPr lang="zh-CN" altLang="en-US" sz="2400" dirty="0">
                  <a:solidFill>
                    <a:prstClr val="black"/>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2354774" y="400097"/>
                <a:ext cx="4572000" cy="89915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735013" y="2669781"/>
                <a:ext cx="7341756" cy="6890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𝑔</m:t>
                          </m:r>
                        </m:e>
                        <m:sub>
                          <m:r>
                            <a:rPr lang="en-US" altLang="zh-CN" sz="2400" b="0" i="1" smtClean="0">
                              <a:latin typeface="Cambria Math" panose="02040503050406030204" pitchFamily="18" charset="0"/>
                            </a:rPr>
                            <m:t>𝑚</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𝑑𝑠</m:t>
                          </m:r>
                        </m:sub>
                      </m:sSub>
                    </m:oMath>
                  </m:oMathPara>
                </a14:m>
                <a:endParaRPr lang="zh-CN" altLang="en-US" sz="24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735013" y="2669781"/>
                <a:ext cx="7341756" cy="68903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969896" y="4001586"/>
                <a:ext cx="7341756" cy="8274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𝑔</m:t>
                          </m:r>
                        </m:e>
                        <m:sub>
                          <m:r>
                            <a:rPr lang="en-US" altLang="zh-CN" sz="2400" b="0" i="1" smtClean="0">
                              <a:latin typeface="Cambria Math" panose="02040503050406030204" pitchFamily="18" charset="0"/>
                            </a:rPr>
                            <m:t>𝑚𝑠𝑎𝑡</m:t>
                          </m:r>
                        </m:sub>
                      </m:sSub>
                      <m:r>
                        <a:rPr lang="en-US" altLang="zh-CN" sz="240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𝜇</m:t>
                          </m:r>
                        </m:e>
                        <m:sub>
                          <m:r>
                            <m:rPr>
                              <m:sty m:val="p"/>
                            </m:rPr>
                            <a:rPr lang="en-US" altLang="zh-CN" sz="2400" i="1">
                              <a:latin typeface="Cambria Math" panose="02040503050406030204" pitchFamily="18" charset="0"/>
                            </a:rPr>
                            <m:t>eff</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𝐶</m:t>
                          </m:r>
                        </m:e>
                        <m:sub>
                          <m:r>
                            <a:rPr lang="en-US" altLang="zh-CN" sz="2400" i="1">
                              <a:latin typeface="Cambria Math" panose="02040503050406030204" pitchFamily="18" charset="0"/>
                            </a:rPr>
                            <m:t>𝑜𝑥</m:t>
                          </m:r>
                        </m:sub>
                      </m:sSub>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𝑊</m:t>
                          </m:r>
                        </m:num>
                        <m:den>
                          <m:r>
                            <a:rPr lang="en-US" altLang="zh-CN" sz="2400" b="0" i="1" smtClean="0">
                              <a:latin typeface="Cambria Math" panose="02040503050406030204" pitchFamily="18" charset="0"/>
                            </a:rPr>
                            <m:t>𝐿</m:t>
                          </m:r>
                        </m:den>
                      </m:f>
                      <m:d>
                        <m:dPr>
                          <m:ctrlPr>
                            <a:rPr lang="en-US" altLang="zh-CN" sz="2400" b="0" i="1" smtClean="0">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𝑔</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𝑇</m:t>
                              </m:r>
                            </m:sub>
                          </m:sSub>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sSub>
                            <m:sSubPr>
                              <m:ctrlPr>
                                <a:rPr lang="en-US" altLang="zh-CN" sz="2400" i="1">
                                  <a:solidFill>
                                    <a:prstClr val="black"/>
                                  </a:solidFill>
                                  <a:latin typeface="Cambria Math" panose="02040503050406030204" pitchFamily="18" charset="0"/>
                                </a:rPr>
                              </m:ctrlPr>
                            </m:sSubPr>
                            <m:e>
                              <m:r>
                                <a:rPr lang="en-US" altLang="zh-CN" sz="2400" i="1">
                                  <a:solidFill>
                                    <a:prstClr val="black"/>
                                  </a:solidFill>
                                  <a:latin typeface="Cambria Math" panose="02040503050406030204" pitchFamily="18" charset="0"/>
                                </a:rPr>
                                <m:t>𝐼</m:t>
                              </m:r>
                            </m:e>
                            <m:sub>
                              <m:r>
                                <a:rPr lang="en-US" altLang="zh-CN" sz="2400" i="1">
                                  <a:solidFill>
                                    <a:prstClr val="black"/>
                                  </a:solidFill>
                                  <a:latin typeface="Cambria Math" panose="02040503050406030204" pitchFamily="18" charset="0"/>
                                </a:rPr>
                                <m:t>𝑑𝑠</m:t>
                              </m:r>
                              <m:r>
                                <a:rPr lang="en-US" altLang="zh-CN" sz="2400" b="0" i="1" smtClean="0">
                                  <a:solidFill>
                                    <a:prstClr val="black"/>
                                  </a:solidFill>
                                  <a:latin typeface="Cambria Math" panose="02040503050406030204" pitchFamily="18" charset="0"/>
                                </a:rPr>
                                <m:t>𝑎𝑡</m:t>
                              </m:r>
                            </m:sub>
                          </m:sSub>
                        </m:num>
                        <m:den>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𝑔</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𝑇</m:t>
                                  </m:r>
                                </m:sub>
                              </m:sSub>
                            </m:e>
                          </m:d>
                        </m:den>
                      </m:f>
                    </m:oMath>
                  </m:oMathPara>
                </a14:m>
                <a:endParaRPr lang="zh-CN" altLang="en-US" sz="24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969896" y="4001586"/>
                <a:ext cx="7341756" cy="82747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34193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72</a:t>
            </a:fld>
            <a:endParaRPr lang="zh-CN" altLang="en-US"/>
          </a:p>
        </p:txBody>
      </p:sp>
      <p:sp>
        <p:nvSpPr>
          <p:cNvPr id="3" name="Rectangle 4"/>
          <p:cNvSpPr>
            <a:spLocks noChangeArrowheads="1"/>
          </p:cNvSpPr>
          <p:nvPr/>
        </p:nvSpPr>
        <p:spPr bwMode="auto">
          <a:xfrm>
            <a:off x="1484670" y="250221"/>
            <a:ext cx="5958349"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三、</a:t>
            </a:r>
            <a:r>
              <a:rPr kumimoji="1" lang="en-US" altLang="zh-CN" sz="3600" b="1" dirty="0" smtClean="0">
                <a:solidFill>
                  <a:srgbClr val="FF6600"/>
                </a:solidFill>
                <a:latin typeface="Times New Roman" pitchFamily="18" charset="0"/>
                <a:ea typeface="宋体" pitchFamily="2" charset="-122"/>
              </a:rPr>
              <a:t>MOSFET</a:t>
            </a:r>
            <a:r>
              <a:rPr kumimoji="1" lang="zh-CN" altLang="en-US" sz="3600" b="1" dirty="0" smtClean="0">
                <a:solidFill>
                  <a:srgbClr val="FF6600"/>
                </a:solidFill>
                <a:latin typeface="Times New Roman" pitchFamily="18" charset="0"/>
                <a:ea typeface="宋体" pitchFamily="2" charset="-122"/>
              </a:rPr>
              <a:t>的小尺寸效应</a:t>
            </a:r>
            <a:endParaRPr kumimoji="1" lang="zh-CN" altLang="en-US" sz="3600" b="1" dirty="0">
              <a:solidFill>
                <a:srgbClr val="FF6600"/>
              </a:solidFill>
              <a:latin typeface="Times New Roman" pitchFamily="18" charset="0"/>
              <a:ea typeface="宋体" pitchFamily="2" charset="-122"/>
            </a:endParaRPr>
          </a:p>
        </p:txBody>
      </p:sp>
      <p:sp>
        <p:nvSpPr>
          <p:cNvPr id="5" name="Text Box 3"/>
          <p:cNvSpPr txBox="1">
            <a:spLocks noChangeArrowheads="1"/>
          </p:cNvSpPr>
          <p:nvPr/>
        </p:nvSpPr>
        <p:spPr bwMode="auto">
          <a:xfrm>
            <a:off x="380768" y="1257137"/>
            <a:ext cx="8372475" cy="954107"/>
          </a:xfrm>
          <a:prstGeom prst="rect">
            <a:avLst/>
          </a:prstGeom>
          <a:noFill/>
          <a:ln w="9525">
            <a:noFill/>
            <a:miter lim="800000"/>
            <a:headEnd/>
            <a:tailEnd/>
          </a:ln>
          <a:effectLst/>
        </p:spPr>
        <p:txBody>
          <a:bodyPr>
            <a:spAutoFit/>
          </a:bodyPr>
          <a:lstStyle/>
          <a:p>
            <a:pPr defTabSz="914400" fontAlgn="base">
              <a:spcBef>
                <a:spcPct val="0"/>
              </a:spcBef>
              <a:spcAft>
                <a:spcPct val="0"/>
              </a:spcAft>
            </a:pPr>
            <a:r>
              <a:rPr kumimoji="1" lang="zh-CN" altLang="en-US" sz="2800" b="1" kern="0" dirty="0">
                <a:solidFill>
                  <a:srgbClr val="FF3300"/>
                </a:solidFill>
                <a:latin typeface="Times New Roman" pitchFamily="18" charset="0"/>
                <a:ea typeface="宋体" pitchFamily="2" charset="-122"/>
              </a:rPr>
              <a:t>长沟分析的局限性</a:t>
            </a:r>
            <a:r>
              <a:rPr lang="zh-CN" altLang="en-US" sz="2800" b="1" dirty="0" smtClean="0">
                <a:solidFill>
                  <a:srgbClr val="000000"/>
                </a:solidFill>
                <a:latin typeface="Times New Roman" pitchFamily="18" charset="0"/>
                <a:ea typeface="楷体_GB2312" pitchFamily="49" charset="-122"/>
              </a:rPr>
              <a:t>：当</a:t>
            </a:r>
            <a:r>
              <a:rPr lang="zh-CN" altLang="en-US" sz="2800" b="1" dirty="0">
                <a:solidFill>
                  <a:srgbClr val="000000"/>
                </a:solidFill>
                <a:latin typeface="Times New Roman" pitchFamily="18" charset="0"/>
                <a:ea typeface="楷体_GB2312" pitchFamily="49" charset="-122"/>
              </a:rPr>
              <a:t>沟道长度小于</a:t>
            </a:r>
            <a:r>
              <a:rPr lang="en-US" altLang="zh-CN" sz="2800" b="1" dirty="0">
                <a:solidFill>
                  <a:srgbClr val="000000"/>
                </a:solidFill>
                <a:latin typeface="Times New Roman" pitchFamily="18" charset="0"/>
                <a:ea typeface="楷体_GB2312" pitchFamily="49" charset="-122"/>
              </a:rPr>
              <a:t>10</a:t>
            </a:r>
            <a:r>
              <a:rPr lang="en-US" altLang="zh-CN" sz="2800" b="1" dirty="0">
                <a:solidFill>
                  <a:srgbClr val="000000"/>
                </a:solidFill>
                <a:latin typeface="Times New Roman" pitchFamily="18" charset="0"/>
                <a:ea typeface="楷体_GB2312" pitchFamily="49" charset="-122"/>
                <a:sym typeface="Symbol" pitchFamily="18" charset="2"/>
              </a:rPr>
              <a:t></a:t>
            </a:r>
            <a:r>
              <a:rPr lang="en-US" altLang="zh-CN" sz="2800" b="1" dirty="0">
                <a:solidFill>
                  <a:srgbClr val="000000"/>
                </a:solidFill>
                <a:latin typeface="Times New Roman" pitchFamily="18" charset="0"/>
                <a:ea typeface="楷体_GB2312" pitchFamily="49" charset="-122"/>
              </a:rPr>
              <a:t>m</a:t>
            </a:r>
            <a:r>
              <a:rPr lang="zh-CN" altLang="en-US" sz="2800" b="1" dirty="0">
                <a:solidFill>
                  <a:srgbClr val="000000"/>
                </a:solidFill>
                <a:latin typeface="Times New Roman" pitchFamily="18" charset="0"/>
                <a:ea typeface="楷体_GB2312" pitchFamily="49" charset="-122"/>
              </a:rPr>
              <a:t>时，需要考虑其它的物理效应，才能很好地模拟这些器件。 </a:t>
            </a:r>
          </a:p>
        </p:txBody>
      </p:sp>
      <p:sp>
        <p:nvSpPr>
          <p:cNvPr id="6" name="Text Box 4"/>
          <p:cNvSpPr txBox="1">
            <a:spLocks noChangeArrowheads="1"/>
          </p:cNvSpPr>
          <p:nvPr/>
        </p:nvSpPr>
        <p:spPr bwMode="auto">
          <a:xfrm>
            <a:off x="426359" y="2722937"/>
            <a:ext cx="3044825" cy="519112"/>
          </a:xfrm>
          <a:prstGeom prst="rect">
            <a:avLst/>
          </a:prstGeom>
          <a:noFill/>
          <a:ln w="9525">
            <a:noFill/>
            <a:miter lim="800000"/>
            <a:headEnd/>
            <a:tailEnd/>
          </a:ln>
          <a:effectLst/>
        </p:spPr>
        <p:txBody>
          <a:bodyPr>
            <a:spAutoFit/>
          </a:bodyPr>
          <a:lstStyle/>
          <a:p>
            <a:pPr defTabSz="914400" fontAlgn="base">
              <a:spcBef>
                <a:spcPct val="0"/>
              </a:spcBef>
              <a:spcAft>
                <a:spcPct val="0"/>
              </a:spcAft>
            </a:pPr>
            <a:r>
              <a:rPr kumimoji="1" lang="en-US" altLang="zh-CN" sz="2800" b="1" kern="0" dirty="0" smtClean="0">
                <a:solidFill>
                  <a:srgbClr val="FF3300"/>
                </a:solidFill>
                <a:latin typeface="Times New Roman" pitchFamily="18" charset="0"/>
                <a:ea typeface="宋体" pitchFamily="2" charset="-122"/>
              </a:rPr>
              <a:t>1. </a:t>
            </a:r>
            <a:r>
              <a:rPr kumimoji="1" lang="zh-CN" altLang="en-US" sz="2800" b="1" kern="0" dirty="0" smtClean="0">
                <a:solidFill>
                  <a:srgbClr val="FF3300"/>
                </a:solidFill>
                <a:latin typeface="Times New Roman" pitchFamily="18" charset="0"/>
                <a:ea typeface="宋体" pitchFamily="2" charset="-122"/>
              </a:rPr>
              <a:t>短沟效应</a:t>
            </a:r>
            <a:endParaRPr kumimoji="1" lang="zh-CN" altLang="en-US" sz="2800" b="1" kern="0" dirty="0">
              <a:solidFill>
                <a:srgbClr val="FF3300"/>
              </a:solidFill>
              <a:latin typeface="Times New Roman" pitchFamily="18" charset="0"/>
              <a:ea typeface="宋体" pitchFamily="2" charset="-122"/>
            </a:endParaRPr>
          </a:p>
        </p:txBody>
      </p:sp>
      <p:sp>
        <p:nvSpPr>
          <p:cNvPr id="7" name="Text Box 5"/>
          <p:cNvSpPr txBox="1">
            <a:spLocks noChangeArrowheads="1"/>
          </p:cNvSpPr>
          <p:nvPr/>
        </p:nvSpPr>
        <p:spPr bwMode="auto">
          <a:xfrm>
            <a:off x="518434" y="3492132"/>
            <a:ext cx="5328394" cy="523220"/>
          </a:xfrm>
          <a:prstGeom prst="rect">
            <a:avLst/>
          </a:prstGeom>
          <a:noFill/>
          <a:ln w="9525">
            <a:noFill/>
            <a:miter lim="800000"/>
            <a:headEnd/>
            <a:tailEnd/>
          </a:ln>
          <a:effectLst/>
        </p:spPr>
        <p:txBody>
          <a:bodyPr wrap="square">
            <a:spAutoFit/>
          </a:bodyPr>
          <a:lstStyle/>
          <a:p>
            <a:pPr defTabSz="914400" fontAlgn="base">
              <a:spcBef>
                <a:spcPct val="0"/>
              </a:spcBef>
              <a:spcAft>
                <a:spcPct val="0"/>
              </a:spcAft>
            </a:pPr>
            <a:r>
              <a:rPr kumimoji="1" lang="en-US" altLang="zh-CN" sz="2800" b="1" kern="0" dirty="0" smtClean="0">
                <a:solidFill>
                  <a:srgbClr val="FF3300"/>
                </a:solidFill>
                <a:latin typeface="Times New Roman" pitchFamily="18" charset="0"/>
                <a:ea typeface="宋体" pitchFamily="2" charset="-122"/>
              </a:rPr>
              <a:t>1.1 </a:t>
            </a:r>
            <a:r>
              <a:rPr kumimoji="1" lang="zh-CN" altLang="en-US" sz="2800" b="1" kern="0" dirty="0" smtClean="0">
                <a:solidFill>
                  <a:srgbClr val="FF3300"/>
                </a:solidFill>
                <a:latin typeface="Times New Roman" pitchFamily="18" charset="0"/>
                <a:ea typeface="宋体" pitchFamily="2" charset="-122"/>
              </a:rPr>
              <a:t>源</a:t>
            </a:r>
            <a:r>
              <a:rPr kumimoji="1" lang="zh-CN" altLang="en-US" sz="2800" b="1" kern="0" dirty="0">
                <a:solidFill>
                  <a:srgbClr val="FF3300"/>
                </a:solidFill>
                <a:latin typeface="Times New Roman" pitchFamily="18" charset="0"/>
                <a:ea typeface="宋体" pitchFamily="2" charset="-122"/>
              </a:rPr>
              <a:t>漏电荷共享（短沟道效应） </a:t>
            </a:r>
          </a:p>
        </p:txBody>
      </p:sp>
      <p:pic>
        <p:nvPicPr>
          <p:cNvPr id="8" name="Picture 3"/>
          <p:cNvPicPr>
            <a:picLocks noChangeAspect="1" noChangeArrowheads="1"/>
          </p:cNvPicPr>
          <p:nvPr/>
        </p:nvPicPr>
        <p:blipFill>
          <a:blip r:embed="rId2" cstate="print"/>
          <a:srcRect/>
          <a:stretch>
            <a:fillRect/>
          </a:stretch>
        </p:blipFill>
        <p:spPr bwMode="auto">
          <a:xfrm>
            <a:off x="4649109" y="4334389"/>
            <a:ext cx="3759200" cy="1773238"/>
          </a:xfrm>
          <a:prstGeom prst="rect">
            <a:avLst/>
          </a:prstGeom>
          <a:noFill/>
          <a:ln w="9525">
            <a:noFill/>
            <a:miter lim="800000"/>
            <a:headEnd/>
            <a:tailEnd/>
          </a:ln>
          <a:effectLst/>
        </p:spPr>
      </p:pic>
      <p:sp>
        <p:nvSpPr>
          <p:cNvPr id="9" name="Text Box 4"/>
          <p:cNvSpPr txBox="1">
            <a:spLocks noChangeArrowheads="1"/>
          </p:cNvSpPr>
          <p:nvPr/>
        </p:nvSpPr>
        <p:spPr bwMode="auto">
          <a:xfrm>
            <a:off x="518434" y="4405827"/>
            <a:ext cx="3916362" cy="1800225"/>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zh-CN" altLang="en-US" sz="2800" b="1" dirty="0">
                <a:solidFill>
                  <a:srgbClr val="000000"/>
                </a:solidFill>
                <a:latin typeface="Times New Roman" pitchFamily="18" charset="0"/>
                <a:ea typeface="楷体_GB2312" pitchFamily="49" charset="-122"/>
              </a:rPr>
              <a:t>沟道长度</a:t>
            </a:r>
            <a:r>
              <a:rPr lang="en-US" altLang="zh-CN" sz="2800" b="1" i="1" dirty="0">
                <a:solidFill>
                  <a:srgbClr val="000000"/>
                </a:solidFill>
                <a:latin typeface="Times New Roman" pitchFamily="18" charset="0"/>
                <a:ea typeface="楷体_GB2312" pitchFamily="49" charset="-122"/>
              </a:rPr>
              <a:t>L</a:t>
            </a:r>
            <a:r>
              <a:rPr lang="zh-CN" altLang="en-US" sz="2800" b="1" dirty="0">
                <a:solidFill>
                  <a:srgbClr val="000000"/>
                </a:solidFill>
                <a:latin typeface="Times New Roman" pitchFamily="18" charset="0"/>
                <a:ea typeface="楷体_GB2312" pitchFamily="49" charset="-122"/>
              </a:rPr>
              <a:t>减小到一定数值以下时，有效阈电压会随沟道长度的减小而下降。</a:t>
            </a:r>
          </a:p>
        </p:txBody>
      </p:sp>
    </p:spTree>
    <p:extLst>
      <p:ext uri="{BB962C8B-B14F-4D97-AF65-F5344CB8AC3E}">
        <p14:creationId xmlns:p14="http://schemas.microsoft.com/office/powerpoint/2010/main" val="31316464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73</a:t>
            </a:fld>
            <a:endParaRPr lang="zh-CN" altLang="en-US"/>
          </a:p>
        </p:txBody>
      </p:sp>
      <p:sp>
        <p:nvSpPr>
          <p:cNvPr id="3" name="Text Box 5"/>
          <p:cNvSpPr txBox="1">
            <a:spLocks noChangeArrowheads="1"/>
          </p:cNvSpPr>
          <p:nvPr/>
        </p:nvSpPr>
        <p:spPr bwMode="auto">
          <a:xfrm>
            <a:off x="467544" y="188640"/>
            <a:ext cx="3240087" cy="519112"/>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zh-CN" altLang="en-US" sz="2800" b="1">
                <a:solidFill>
                  <a:srgbClr val="0000FF"/>
                </a:solidFill>
                <a:latin typeface="Arial" charset="0"/>
                <a:ea typeface="楷体_GB2312" pitchFamily="49" charset="-122"/>
              </a:rPr>
              <a:t>电荷共享原理：</a:t>
            </a:r>
          </a:p>
        </p:txBody>
      </p:sp>
      <p:pic>
        <p:nvPicPr>
          <p:cNvPr id="4" name="Picture 6"/>
          <p:cNvPicPr>
            <a:picLocks noChangeAspect="1" noChangeArrowheads="1"/>
          </p:cNvPicPr>
          <p:nvPr/>
        </p:nvPicPr>
        <p:blipFill>
          <a:blip r:embed="rId2" cstate="print"/>
          <a:srcRect/>
          <a:stretch>
            <a:fillRect/>
          </a:stretch>
        </p:blipFill>
        <p:spPr bwMode="auto">
          <a:xfrm>
            <a:off x="4750619" y="214263"/>
            <a:ext cx="4141787" cy="2206625"/>
          </a:xfrm>
          <a:prstGeom prst="rect">
            <a:avLst/>
          </a:prstGeom>
          <a:noFill/>
          <a:ln w="9525">
            <a:noFill/>
            <a:miter lim="800000"/>
            <a:headEnd/>
            <a:tailEnd/>
          </a:ln>
          <a:effectLst/>
        </p:spPr>
      </p:pic>
      <p:sp>
        <p:nvSpPr>
          <p:cNvPr id="5" name="Text Box 7"/>
          <p:cNvSpPr txBox="1">
            <a:spLocks noChangeArrowheads="1"/>
          </p:cNvSpPr>
          <p:nvPr/>
        </p:nvSpPr>
        <p:spPr bwMode="auto">
          <a:xfrm>
            <a:off x="467544" y="655365"/>
            <a:ext cx="4175125" cy="1717675"/>
          </a:xfrm>
          <a:prstGeom prst="rect">
            <a:avLst/>
          </a:prstGeom>
          <a:noFill/>
          <a:ln w="9525">
            <a:noFill/>
            <a:miter lim="800000"/>
            <a:headEnd/>
            <a:tailEnd/>
          </a:ln>
          <a:effectLst/>
        </p:spPr>
        <p:txBody>
          <a:bodyPr>
            <a:spAutoFit/>
          </a:bodyPr>
          <a:lstStyle/>
          <a:p>
            <a:pPr defTabSz="914400" fontAlgn="base">
              <a:lnSpc>
                <a:spcPct val="95000"/>
              </a:lnSpc>
              <a:spcBef>
                <a:spcPct val="0"/>
              </a:spcBef>
              <a:spcAft>
                <a:spcPct val="0"/>
              </a:spcAft>
              <a:buFontTx/>
              <a:buChar char="•"/>
            </a:pPr>
            <a:r>
              <a:rPr lang="en-US" altLang="zh-CN" sz="2800" b="1" dirty="0">
                <a:solidFill>
                  <a:srgbClr val="000000"/>
                </a:solidFill>
                <a:latin typeface="Arial" charset="0"/>
                <a:ea typeface="楷体_GB2312" pitchFamily="49" charset="-122"/>
              </a:rPr>
              <a:t> </a:t>
            </a:r>
            <a:r>
              <a:rPr lang="zh-CN" altLang="en-US" sz="2800" b="1" dirty="0">
                <a:solidFill>
                  <a:srgbClr val="000000"/>
                </a:solidFill>
                <a:latin typeface="Arial" charset="0"/>
                <a:ea typeface="楷体_GB2312" pitchFamily="49" charset="-122"/>
              </a:rPr>
              <a:t>长沟器件，绝大多数栅极正电荷发出的电力线都终止在反型层的电子和耗尽区内的电离受主；</a:t>
            </a:r>
          </a:p>
        </p:txBody>
      </p:sp>
      <p:sp>
        <p:nvSpPr>
          <p:cNvPr id="6" name="Text Box 8"/>
          <p:cNvSpPr txBox="1">
            <a:spLocks noChangeArrowheads="1"/>
          </p:cNvSpPr>
          <p:nvPr/>
        </p:nvSpPr>
        <p:spPr bwMode="auto">
          <a:xfrm>
            <a:off x="467544" y="2420888"/>
            <a:ext cx="8099425" cy="904875"/>
          </a:xfrm>
          <a:prstGeom prst="rect">
            <a:avLst/>
          </a:prstGeom>
          <a:noFill/>
          <a:ln w="9525">
            <a:noFill/>
            <a:miter lim="800000"/>
            <a:headEnd/>
            <a:tailEnd/>
          </a:ln>
          <a:effectLst/>
        </p:spPr>
        <p:txBody>
          <a:bodyPr>
            <a:spAutoFit/>
          </a:bodyPr>
          <a:lstStyle/>
          <a:p>
            <a:pPr defTabSz="914400" fontAlgn="base">
              <a:lnSpc>
                <a:spcPct val="95000"/>
              </a:lnSpc>
              <a:spcBef>
                <a:spcPct val="50000"/>
              </a:spcBef>
              <a:spcAft>
                <a:spcPct val="0"/>
              </a:spcAft>
              <a:buFontTx/>
              <a:buChar char="•"/>
            </a:pPr>
            <a:r>
              <a:rPr lang="en-US" altLang="zh-CN" sz="2800" b="1" dirty="0">
                <a:solidFill>
                  <a:srgbClr val="000000"/>
                </a:solidFill>
                <a:latin typeface="楷体_GB2312" pitchFamily="49" charset="-122"/>
                <a:ea typeface="楷体_GB2312" pitchFamily="49" charset="-122"/>
              </a:rPr>
              <a:t> </a:t>
            </a:r>
            <a:r>
              <a:rPr lang="zh-CN" altLang="en-US" sz="2800" b="1" dirty="0">
                <a:solidFill>
                  <a:srgbClr val="000000"/>
                </a:solidFill>
                <a:latin typeface="楷体_GB2312" pitchFamily="49" charset="-122"/>
                <a:ea typeface="楷体_GB2312" pitchFamily="49" charset="-122"/>
              </a:rPr>
              <a:t>短沟器件：</a:t>
            </a:r>
            <a:r>
              <a:rPr lang="zh-CN" altLang="en-US" sz="2800" b="1" dirty="0">
                <a:solidFill>
                  <a:srgbClr val="000000"/>
                </a:solidFill>
                <a:latin typeface="Times New Roman" pitchFamily="18" charset="0"/>
                <a:ea typeface="楷体_GB2312" pitchFamily="49" charset="-122"/>
              </a:rPr>
              <a:t>可以认为</a:t>
            </a:r>
            <a:r>
              <a:rPr lang="zh-CN" altLang="en-US" sz="2800" b="1" dirty="0">
                <a:solidFill>
                  <a:srgbClr val="0000FF"/>
                </a:solidFill>
                <a:latin typeface="Times New Roman" pitchFamily="18" charset="0"/>
                <a:ea typeface="楷体_GB2312" pitchFamily="49" charset="-122"/>
              </a:rPr>
              <a:t>交界区</a:t>
            </a:r>
            <a:r>
              <a:rPr lang="zh-CN" altLang="en-US" sz="2800" b="1" dirty="0">
                <a:solidFill>
                  <a:srgbClr val="000000"/>
                </a:solidFill>
                <a:latin typeface="Times New Roman" pitchFamily="18" charset="0"/>
                <a:ea typeface="楷体_GB2312" pitchFamily="49" charset="-122"/>
              </a:rPr>
              <a:t>电离受主电荷一部分属于表面耗尽区，一部分属于源漏耗尽区</a:t>
            </a:r>
          </a:p>
        </p:txBody>
      </p:sp>
      <p:pic>
        <p:nvPicPr>
          <p:cNvPr id="7" name="Picture 6" descr="w0283-n"/>
          <p:cNvPicPr>
            <a:picLocks noChangeAspect="1" noChangeArrowheads="1"/>
          </p:cNvPicPr>
          <p:nvPr/>
        </p:nvPicPr>
        <p:blipFill>
          <a:blip r:embed="rId3" cstate="print"/>
          <a:srcRect/>
          <a:stretch>
            <a:fillRect/>
          </a:stretch>
        </p:blipFill>
        <p:spPr bwMode="auto">
          <a:xfrm>
            <a:off x="179388" y="3456732"/>
            <a:ext cx="4537075" cy="2646362"/>
          </a:xfrm>
          <a:prstGeom prst="rect">
            <a:avLst/>
          </a:prstGeom>
          <a:noFill/>
          <a:ln w="9525">
            <a:noFill/>
            <a:miter lim="800000"/>
            <a:headEnd/>
            <a:tailEnd/>
          </a:ln>
        </p:spPr>
      </p:pic>
      <p:pic>
        <p:nvPicPr>
          <p:cNvPr id="8" name="Picture 7" descr="w0284-n"/>
          <p:cNvPicPr>
            <a:picLocks noChangeAspect="1" noChangeArrowheads="1"/>
          </p:cNvPicPr>
          <p:nvPr/>
        </p:nvPicPr>
        <p:blipFill>
          <a:blip r:embed="rId4" cstate="print"/>
          <a:srcRect/>
          <a:stretch>
            <a:fillRect/>
          </a:stretch>
        </p:blipFill>
        <p:spPr bwMode="auto">
          <a:xfrm>
            <a:off x="4787900" y="3356992"/>
            <a:ext cx="4156075" cy="3411537"/>
          </a:xfrm>
          <a:prstGeom prst="rect">
            <a:avLst/>
          </a:prstGeom>
          <a:noFill/>
          <a:ln w="9525">
            <a:noFill/>
            <a:miter lim="800000"/>
            <a:headEnd/>
            <a:tailEnd/>
          </a:ln>
        </p:spPr>
      </p:pic>
    </p:spTree>
    <p:extLst>
      <p:ext uri="{BB962C8B-B14F-4D97-AF65-F5344CB8AC3E}">
        <p14:creationId xmlns:p14="http://schemas.microsoft.com/office/powerpoint/2010/main" val="7577422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74</a:t>
            </a:fld>
            <a:endParaRPr lang="zh-CN" altLang="en-US"/>
          </a:p>
        </p:txBody>
      </p:sp>
      <p:sp>
        <p:nvSpPr>
          <p:cNvPr id="3" name="Text Box 2"/>
          <p:cNvSpPr txBox="1">
            <a:spLocks noChangeArrowheads="1"/>
          </p:cNvSpPr>
          <p:nvPr/>
        </p:nvSpPr>
        <p:spPr bwMode="auto">
          <a:xfrm>
            <a:off x="468313" y="317500"/>
            <a:ext cx="2613025"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kumimoji="1" lang="en-US" altLang="zh-CN" sz="2800" b="1" kern="0" dirty="0" smtClean="0">
                <a:solidFill>
                  <a:srgbClr val="FF3300"/>
                </a:solidFill>
                <a:latin typeface="Times New Roman" pitchFamily="18" charset="0"/>
                <a:ea typeface="宋体" pitchFamily="2" charset="-122"/>
              </a:rPr>
              <a:t>1.2 </a:t>
            </a:r>
            <a:r>
              <a:rPr kumimoji="1" lang="zh-CN" altLang="en-US" sz="2800" b="1" kern="0" dirty="0" smtClean="0">
                <a:solidFill>
                  <a:srgbClr val="FF3300"/>
                </a:solidFill>
                <a:latin typeface="Times New Roman" pitchFamily="18" charset="0"/>
                <a:ea typeface="宋体" pitchFamily="2" charset="-122"/>
              </a:rPr>
              <a:t>窄</a:t>
            </a:r>
            <a:r>
              <a:rPr kumimoji="1" lang="zh-CN" altLang="en-US" sz="2800" b="1" kern="0" dirty="0">
                <a:solidFill>
                  <a:srgbClr val="FF3300"/>
                </a:solidFill>
                <a:latin typeface="Times New Roman" pitchFamily="18" charset="0"/>
                <a:ea typeface="宋体" pitchFamily="2" charset="-122"/>
              </a:rPr>
              <a:t>沟道效应</a:t>
            </a:r>
          </a:p>
        </p:txBody>
      </p:sp>
      <p:pic>
        <p:nvPicPr>
          <p:cNvPr id="4" name="Picture 4"/>
          <p:cNvPicPr>
            <a:picLocks noChangeAspect="1" noChangeArrowheads="1"/>
          </p:cNvPicPr>
          <p:nvPr/>
        </p:nvPicPr>
        <p:blipFill>
          <a:blip r:embed="rId2" cstate="print"/>
          <a:srcRect/>
          <a:stretch>
            <a:fillRect/>
          </a:stretch>
        </p:blipFill>
        <p:spPr bwMode="auto">
          <a:xfrm>
            <a:off x="539750" y="981075"/>
            <a:ext cx="3836988" cy="2235200"/>
          </a:xfrm>
          <a:prstGeom prst="rect">
            <a:avLst/>
          </a:prstGeom>
          <a:noFill/>
          <a:ln w="9525">
            <a:noFill/>
            <a:miter lim="800000"/>
            <a:headEnd/>
            <a:tailEnd/>
          </a:ln>
          <a:effectLst/>
        </p:spPr>
      </p:pic>
      <p:sp>
        <p:nvSpPr>
          <p:cNvPr id="5" name="Text Box 6"/>
          <p:cNvSpPr txBox="1">
            <a:spLocks noChangeArrowheads="1"/>
          </p:cNvSpPr>
          <p:nvPr/>
        </p:nvSpPr>
        <p:spPr bwMode="auto">
          <a:xfrm>
            <a:off x="539751" y="3371850"/>
            <a:ext cx="8136706" cy="3081338"/>
          </a:xfrm>
          <a:prstGeom prst="rect">
            <a:avLst/>
          </a:prstGeom>
          <a:noFill/>
          <a:ln w="9525">
            <a:noFill/>
            <a:miter lim="800000"/>
            <a:headEnd/>
            <a:tailEnd/>
          </a:ln>
          <a:effectLst/>
        </p:spPr>
        <p:txBody>
          <a:bodyPr wrap="square">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窄沟道效应强烈依赖于制造</a:t>
            </a:r>
            <a:r>
              <a:rPr lang="en-US" altLang="zh-CN" sz="2800" b="1" dirty="0">
                <a:solidFill>
                  <a:srgbClr val="000000"/>
                </a:solidFill>
                <a:latin typeface="Times New Roman" pitchFamily="18" charset="0"/>
                <a:ea typeface="楷体_GB2312" pitchFamily="49" charset="-122"/>
              </a:rPr>
              <a:t>MOSFET</a:t>
            </a:r>
            <a:r>
              <a:rPr lang="zh-CN" altLang="en-US" sz="2800" b="1" dirty="0">
                <a:solidFill>
                  <a:srgbClr val="000000"/>
                </a:solidFill>
                <a:latin typeface="Times New Roman" pitchFamily="18" charset="0"/>
                <a:ea typeface="楷体_GB2312" pitchFamily="49" charset="-122"/>
              </a:rPr>
              <a:t>的具体的隔离工艺。在</a:t>
            </a:r>
            <a:r>
              <a:rPr lang="en-US" altLang="zh-CN" sz="2800" b="1" dirty="0">
                <a:solidFill>
                  <a:srgbClr val="000000"/>
                </a:solidFill>
                <a:latin typeface="Times New Roman" pitchFamily="18" charset="0"/>
                <a:ea typeface="楷体_GB2312" pitchFamily="49" charset="-122"/>
              </a:rPr>
              <a:t>LOCOS</a:t>
            </a:r>
            <a:r>
              <a:rPr lang="zh-CN" altLang="en-US" sz="2800" b="1" dirty="0">
                <a:solidFill>
                  <a:srgbClr val="000000"/>
                </a:solidFill>
                <a:latin typeface="Times New Roman" pitchFamily="18" charset="0"/>
                <a:ea typeface="楷体_GB2312" pitchFamily="49" charset="-122"/>
              </a:rPr>
              <a:t>隔离技术中，存在两种效应使得阈值电压</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T</a:t>
            </a:r>
            <a:r>
              <a:rPr lang="en-US" altLang="zh-CN" sz="2800" b="1" i="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随着</a:t>
            </a:r>
            <a:r>
              <a:rPr lang="en-US" altLang="zh-CN" sz="2800" b="1" i="1" dirty="0">
                <a:solidFill>
                  <a:srgbClr val="000000"/>
                </a:solidFill>
                <a:latin typeface="Times New Roman" pitchFamily="18" charset="0"/>
                <a:ea typeface="楷体_GB2312" pitchFamily="49" charset="-122"/>
              </a:rPr>
              <a:t>W </a:t>
            </a:r>
            <a:r>
              <a:rPr lang="zh-CN" altLang="en-US" sz="2800" b="1" dirty="0">
                <a:solidFill>
                  <a:srgbClr val="000000"/>
                </a:solidFill>
                <a:latin typeface="Times New Roman" pitchFamily="18" charset="0"/>
                <a:ea typeface="楷体_GB2312" pitchFamily="49" charset="-122"/>
              </a:rPr>
              <a:t>的下降而升高：</a:t>
            </a:r>
          </a:p>
          <a:p>
            <a:pPr defTabSz="914400" fontAlgn="base">
              <a:spcBef>
                <a:spcPct val="0"/>
              </a:spcBef>
              <a:spcAft>
                <a:spcPct val="0"/>
              </a:spcAft>
            </a:pPr>
            <a:r>
              <a:rPr lang="en-US" altLang="zh-CN" sz="2800" b="1" dirty="0">
                <a:solidFill>
                  <a:srgbClr val="000000"/>
                </a:solidFill>
                <a:latin typeface="Times New Roman" pitchFamily="18" charset="0"/>
                <a:ea typeface="楷体_GB2312" pitchFamily="49" charset="-122"/>
              </a:rPr>
              <a:t>1) </a:t>
            </a:r>
            <a:r>
              <a:rPr lang="zh-CN" altLang="en-US" sz="2800" b="1" dirty="0">
                <a:solidFill>
                  <a:srgbClr val="000000"/>
                </a:solidFill>
                <a:latin typeface="Times New Roman" pitchFamily="18" charset="0"/>
                <a:ea typeface="楷体_GB2312" pitchFamily="49" charset="-122"/>
              </a:rPr>
              <a:t>宽度方向边缘电场的作用</a:t>
            </a:r>
          </a:p>
          <a:p>
            <a:pPr defTabSz="914400" fontAlgn="base">
              <a:spcBef>
                <a:spcPct val="0"/>
              </a:spcBef>
              <a:spcAft>
                <a:spcPct val="0"/>
              </a:spcAft>
            </a:pPr>
            <a:r>
              <a:rPr lang="en-US" altLang="zh-CN" sz="2800" b="1" dirty="0">
                <a:solidFill>
                  <a:srgbClr val="000000"/>
                </a:solidFill>
                <a:latin typeface="Times New Roman" pitchFamily="18" charset="0"/>
                <a:ea typeface="楷体_GB2312" pitchFamily="49" charset="-122"/>
              </a:rPr>
              <a:t>2) </a:t>
            </a:r>
            <a:r>
              <a:rPr lang="zh-CN" altLang="en-US" sz="2800" b="1" dirty="0">
                <a:solidFill>
                  <a:srgbClr val="000000"/>
                </a:solidFill>
                <a:latin typeface="Times New Roman" pitchFamily="18" charset="0"/>
                <a:ea typeface="楷体_GB2312" pitchFamily="49" charset="-122"/>
              </a:rPr>
              <a:t>隔离区的掺杂浓度大于沟道区</a:t>
            </a:r>
          </a:p>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实践中，第</a:t>
            </a:r>
            <a:r>
              <a:rPr lang="en-US" altLang="zh-CN" sz="2800" b="1" dirty="0">
                <a:solidFill>
                  <a:srgbClr val="000000"/>
                </a:solidFill>
                <a:latin typeface="Times New Roman" pitchFamily="18" charset="0"/>
                <a:ea typeface="楷体_GB2312" pitchFamily="49" charset="-122"/>
              </a:rPr>
              <a:t>2</a:t>
            </a:r>
            <a:r>
              <a:rPr lang="zh-CN" altLang="en-US" sz="2800" b="1" dirty="0">
                <a:solidFill>
                  <a:srgbClr val="000000"/>
                </a:solidFill>
                <a:latin typeface="Times New Roman" pitchFamily="18" charset="0"/>
                <a:ea typeface="楷体_GB2312" pitchFamily="49" charset="-122"/>
              </a:rPr>
              <a:t>种原因比第一种更重要，特别是那些需要注入高浓度杂质防止场区反型的器件。</a:t>
            </a:r>
          </a:p>
        </p:txBody>
      </p:sp>
      <p:grpSp>
        <p:nvGrpSpPr>
          <p:cNvPr id="6" name="Group 7"/>
          <p:cNvGrpSpPr>
            <a:grpSpLocks/>
          </p:cNvGrpSpPr>
          <p:nvPr/>
        </p:nvGrpSpPr>
        <p:grpSpPr bwMode="auto">
          <a:xfrm>
            <a:off x="4643438" y="333375"/>
            <a:ext cx="4140200" cy="2879725"/>
            <a:chOff x="272" y="2024"/>
            <a:chExt cx="2472" cy="1693"/>
          </a:xfrm>
        </p:grpSpPr>
        <p:pic>
          <p:nvPicPr>
            <p:cNvPr id="7" name="Picture 8" descr="w0286-n"/>
            <p:cNvPicPr>
              <a:picLocks noChangeAspect="1" noChangeArrowheads="1"/>
            </p:cNvPicPr>
            <p:nvPr/>
          </p:nvPicPr>
          <p:blipFill>
            <a:blip r:embed="rId3" cstate="print"/>
            <a:srcRect/>
            <a:stretch>
              <a:fillRect/>
            </a:stretch>
          </p:blipFill>
          <p:spPr bwMode="auto">
            <a:xfrm>
              <a:off x="272" y="2024"/>
              <a:ext cx="2472" cy="1693"/>
            </a:xfrm>
            <a:prstGeom prst="rect">
              <a:avLst/>
            </a:prstGeom>
            <a:noFill/>
            <a:ln w="9525">
              <a:noFill/>
              <a:miter lim="800000"/>
              <a:headEnd/>
              <a:tailEnd/>
            </a:ln>
          </p:spPr>
        </p:pic>
        <p:sp>
          <p:nvSpPr>
            <p:cNvPr id="8" name="Text Box 9"/>
            <p:cNvSpPr txBox="1">
              <a:spLocks noChangeArrowheads="1"/>
            </p:cNvSpPr>
            <p:nvPr/>
          </p:nvSpPr>
          <p:spPr bwMode="auto">
            <a:xfrm>
              <a:off x="2177" y="2727"/>
              <a:ext cx="454" cy="269"/>
            </a:xfrm>
            <a:prstGeom prst="rect">
              <a:avLst/>
            </a:prstGeom>
            <a:noFill/>
            <a:ln w="9525">
              <a:noFill/>
              <a:miter lim="800000"/>
              <a:headEnd/>
              <a:tailEnd/>
            </a:ln>
            <a:effectLst/>
          </p:spPr>
          <p:txBody>
            <a:bodyPr wrap="none">
              <a:spAutoFit/>
            </a:bodyPr>
            <a:lstStyle/>
            <a:p>
              <a:pPr marL="342900" indent="-342900" defTabSz="914400" fontAlgn="base">
                <a:spcBef>
                  <a:spcPct val="20000"/>
                </a:spcBef>
                <a:spcAft>
                  <a:spcPct val="0"/>
                </a:spcAft>
                <a:buClr>
                  <a:srgbClr val="000000"/>
                </a:buClr>
                <a:buSzPct val="60000"/>
                <a:buFont typeface="Wingdings" pitchFamily="2" charset="2"/>
                <a:buNone/>
              </a:pPr>
              <a:r>
                <a:rPr kumimoji="1" lang="en-US" altLang="zh-CN" sz="2400">
                  <a:solidFill>
                    <a:srgbClr val="0000FF"/>
                  </a:solidFill>
                  <a:latin typeface="Times New Roman" pitchFamily="18" charset="0"/>
                  <a:ea typeface="宋体" charset="-122"/>
                </a:rPr>
                <a:t>SiO</a:t>
              </a:r>
              <a:r>
                <a:rPr kumimoji="1" lang="en-US" altLang="zh-CN" sz="2400" baseline="-25000">
                  <a:solidFill>
                    <a:srgbClr val="0000FF"/>
                  </a:solidFill>
                  <a:latin typeface="Times New Roman" pitchFamily="18" charset="0"/>
                  <a:ea typeface="宋体" charset="-122"/>
                </a:rPr>
                <a:t>2</a:t>
              </a:r>
              <a:endParaRPr kumimoji="1" lang="en-US" altLang="zh-CN" sz="2400">
                <a:solidFill>
                  <a:srgbClr val="0000FF"/>
                </a:solidFill>
                <a:latin typeface="Times New Roman" pitchFamily="18" charset="0"/>
                <a:ea typeface="宋体" charset="-122"/>
              </a:endParaRPr>
            </a:p>
          </p:txBody>
        </p:sp>
      </p:grpSp>
    </p:spTree>
    <p:extLst>
      <p:ext uri="{BB962C8B-B14F-4D97-AF65-F5344CB8AC3E}">
        <p14:creationId xmlns:p14="http://schemas.microsoft.com/office/powerpoint/2010/main" val="29294776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75</a:t>
            </a:fld>
            <a:endParaRPr lang="zh-CN" altLang="en-US"/>
          </a:p>
        </p:txBody>
      </p:sp>
      <p:sp>
        <p:nvSpPr>
          <p:cNvPr id="3" name="Text Box 2"/>
          <p:cNvSpPr txBox="1">
            <a:spLocks noChangeArrowheads="1"/>
          </p:cNvSpPr>
          <p:nvPr/>
        </p:nvSpPr>
        <p:spPr bwMode="auto">
          <a:xfrm>
            <a:off x="468313" y="317500"/>
            <a:ext cx="2613025"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kumimoji="1" lang="en-US" altLang="zh-CN" sz="2800" b="1" kern="0" dirty="0" smtClean="0">
                <a:solidFill>
                  <a:srgbClr val="FF3300"/>
                </a:solidFill>
                <a:latin typeface="Times New Roman" pitchFamily="18" charset="0"/>
                <a:ea typeface="宋体" pitchFamily="2" charset="-122"/>
              </a:rPr>
              <a:t>1.3 </a:t>
            </a:r>
            <a:r>
              <a:rPr kumimoji="1" lang="zh-CN" altLang="en-US" sz="2800" b="1" kern="0" dirty="0" smtClean="0">
                <a:solidFill>
                  <a:srgbClr val="FF3300"/>
                </a:solidFill>
                <a:latin typeface="Times New Roman" pitchFamily="18" charset="0"/>
                <a:ea typeface="宋体" pitchFamily="2" charset="-122"/>
              </a:rPr>
              <a:t>反</a:t>
            </a:r>
            <a:r>
              <a:rPr kumimoji="1" lang="zh-CN" altLang="en-US" sz="2800" b="1" kern="0" dirty="0">
                <a:solidFill>
                  <a:srgbClr val="FF3300"/>
                </a:solidFill>
                <a:latin typeface="Times New Roman" pitchFamily="18" charset="0"/>
                <a:ea typeface="宋体" pitchFamily="2" charset="-122"/>
              </a:rPr>
              <a:t>窄沟效应</a:t>
            </a:r>
          </a:p>
        </p:txBody>
      </p:sp>
      <p:pic>
        <p:nvPicPr>
          <p:cNvPr id="4" name="Picture 3" descr="w0287-n"/>
          <p:cNvPicPr>
            <a:picLocks noChangeAspect="1" noChangeArrowheads="1"/>
          </p:cNvPicPr>
          <p:nvPr/>
        </p:nvPicPr>
        <p:blipFill>
          <a:blip r:embed="rId2" cstate="print"/>
          <a:srcRect/>
          <a:stretch>
            <a:fillRect/>
          </a:stretch>
        </p:blipFill>
        <p:spPr bwMode="auto">
          <a:xfrm>
            <a:off x="3635375" y="404813"/>
            <a:ext cx="5327650" cy="4921250"/>
          </a:xfrm>
          <a:prstGeom prst="rect">
            <a:avLst/>
          </a:prstGeom>
          <a:noFill/>
          <a:ln w="9525">
            <a:noFill/>
            <a:miter lim="800000"/>
            <a:headEnd/>
            <a:tailEnd/>
          </a:ln>
        </p:spPr>
      </p:pic>
      <p:sp>
        <p:nvSpPr>
          <p:cNvPr id="5" name="Rectangle 4"/>
          <p:cNvSpPr>
            <a:spLocks noChangeArrowheads="1"/>
          </p:cNvSpPr>
          <p:nvPr/>
        </p:nvSpPr>
        <p:spPr bwMode="auto">
          <a:xfrm>
            <a:off x="755576" y="1124744"/>
            <a:ext cx="2592288" cy="1384995"/>
          </a:xfrm>
          <a:prstGeom prst="rect">
            <a:avLst/>
          </a:prstGeom>
          <a:noFill/>
          <a:ln w="9525">
            <a:noFill/>
            <a:miter lim="800000"/>
            <a:headEnd/>
            <a:tailEnd/>
          </a:ln>
          <a:effectLst/>
        </p:spPr>
        <p:txBody>
          <a:bodyPr wrap="square" anchor="ctr">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沟槽隔离技术，</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T</a:t>
            </a:r>
            <a:r>
              <a:rPr lang="en-US" altLang="zh-CN" sz="2800" b="1" i="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随</a:t>
            </a:r>
            <a:r>
              <a:rPr lang="en-US" altLang="zh-CN" sz="2800" b="1" i="1" dirty="0">
                <a:solidFill>
                  <a:srgbClr val="000000"/>
                </a:solidFill>
                <a:latin typeface="Times New Roman" pitchFamily="18" charset="0"/>
                <a:ea typeface="楷体_GB2312" pitchFamily="49" charset="-122"/>
              </a:rPr>
              <a:t>W </a:t>
            </a:r>
            <a:r>
              <a:rPr lang="zh-CN" altLang="en-US" sz="2800" b="1" dirty="0">
                <a:solidFill>
                  <a:srgbClr val="000000"/>
                </a:solidFill>
                <a:latin typeface="Times New Roman" pitchFamily="18" charset="0"/>
                <a:ea typeface="楷体_GB2312" pitchFamily="49" charset="-122"/>
              </a:rPr>
              <a:t>的减小而减小</a:t>
            </a:r>
          </a:p>
        </p:txBody>
      </p:sp>
      <p:sp>
        <p:nvSpPr>
          <p:cNvPr id="6" name="Text Box 5"/>
          <p:cNvSpPr txBox="1">
            <a:spLocks noChangeArrowheads="1"/>
          </p:cNvSpPr>
          <p:nvPr/>
        </p:nvSpPr>
        <p:spPr bwMode="auto">
          <a:xfrm>
            <a:off x="755576" y="2780928"/>
            <a:ext cx="2952328" cy="1815882"/>
          </a:xfrm>
          <a:prstGeom prst="rect">
            <a:avLst/>
          </a:prstGeom>
          <a:noFill/>
          <a:ln w="9525">
            <a:noFill/>
            <a:miter lim="800000"/>
            <a:headEnd/>
            <a:tailEnd/>
          </a:ln>
          <a:effectLst/>
        </p:spPr>
        <p:txBody>
          <a:bodyPr wrap="square">
            <a:spAutoFit/>
          </a:bodyPr>
          <a:lstStyle/>
          <a:p>
            <a:pPr defTabSz="914400" fontAlgn="base">
              <a:spcBef>
                <a:spcPct val="0"/>
              </a:spcBef>
              <a:spcAft>
                <a:spcPct val="0"/>
              </a:spcAft>
            </a:pPr>
            <a:r>
              <a:rPr lang="zh-CN" altLang="en-US" sz="2800" b="1" dirty="0">
                <a:solidFill>
                  <a:srgbClr val="0000FF"/>
                </a:solidFill>
                <a:latin typeface="Times New Roman" pitchFamily="18" charset="0"/>
                <a:ea typeface="楷体_GB2312" pitchFamily="49" charset="-122"/>
              </a:rPr>
              <a:t>右图：</a:t>
            </a:r>
            <a:r>
              <a:rPr lang="zh-CN" altLang="en-US" sz="2800" b="1" dirty="0">
                <a:solidFill>
                  <a:srgbClr val="000000"/>
                </a:solidFill>
                <a:latin typeface="Times New Roman" pitchFamily="18" charset="0"/>
                <a:ea typeface="楷体_GB2312" pitchFamily="49" charset="-122"/>
              </a:rPr>
              <a:t>沿沟道宽度方向的二维等位线</a:t>
            </a:r>
            <a:r>
              <a:rPr lang="zh-CN" altLang="en-US" sz="2800" b="1" dirty="0" smtClean="0">
                <a:solidFill>
                  <a:srgbClr val="000000"/>
                </a:solidFill>
                <a:latin typeface="Times New Roman" pitchFamily="18" charset="0"/>
                <a:ea typeface="楷体_GB2312" pitchFamily="49" charset="-122"/>
              </a:rPr>
              <a:t>分布和</a:t>
            </a:r>
            <a:r>
              <a:rPr lang="zh-CN" altLang="en-US" sz="2800" b="1" dirty="0">
                <a:solidFill>
                  <a:srgbClr val="000000"/>
                </a:solidFill>
                <a:latin typeface="Times New Roman" pitchFamily="18" charset="0"/>
                <a:ea typeface="楷体_GB2312" pitchFamily="49" charset="-122"/>
              </a:rPr>
              <a:t>电子浓度分布</a:t>
            </a:r>
          </a:p>
        </p:txBody>
      </p:sp>
      <p:sp>
        <p:nvSpPr>
          <p:cNvPr id="7" name="矩形 6"/>
          <p:cNvSpPr/>
          <p:nvPr/>
        </p:nvSpPr>
        <p:spPr>
          <a:xfrm>
            <a:off x="683568" y="5355213"/>
            <a:ext cx="7848872" cy="954107"/>
          </a:xfrm>
          <a:prstGeom prst="rect">
            <a:avLst/>
          </a:prstGeom>
        </p:spPr>
        <p:txBody>
          <a:bodyPr wrap="square">
            <a:spAutoFit/>
          </a:bodyPr>
          <a:lstStyle/>
          <a:p>
            <a:pPr defTabSz="914400" fontAlgn="base">
              <a:spcBef>
                <a:spcPct val="0"/>
              </a:spcBef>
              <a:spcAft>
                <a:spcPct val="0"/>
              </a:spcAft>
            </a:pPr>
            <a:r>
              <a:rPr lang="zh-CN" altLang="en-US" sz="2800" b="1" dirty="0" smtClean="0">
                <a:solidFill>
                  <a:srgbClr val="000000"/>
                </a:solidFill>
                <a:latin typeface="Times New Roman" pitchFamily="18" charset="0"/>
                <a:ea typeface="楷体_GB2312" pitchFamily="49" charset="-122"/>
              </a:rPr>
              <a:t>来自于重叠区域的电力线聚集在沟道边缘，在较低的电压下，就能够在沟道边缘形成反型层</a:t>
            </a:r>
            <a:endParaRPr lang="zh-CN" altLang="en-US" sz="2800" b="1" dirty="0">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33057814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76</a:t>
            </a:fld>
            <a:endParaRPr lang="zh-CN" altLang="en-US"/>
          </a:p>
        </p:txBody>
      </p:sp>
      <p:sp>
        <p:nvSpPr>
          <p:cNvPr id="3" name="Rectangle 2"/>
          <p:cNvSpPr txBox="1">
            <a:spLocks noChangeArrowheads="1"/>
          </p:cNvSpPr>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tabLst/>
              <a:defRPr/>
            </a:pPr>
            <a:r>
              <a:rPr kumimoji="1" lang="en-US" altLang="zh-CN" kern="0" dirty="0" smtClean="0">
                <a:solidFill>
                  <a:srgbClr val="FF3300"/>
                </a:solidFill>
                <a:latin typeface="Times New Roman" pitchFamily="18" charset="0"/>
                <a:ea typeface="宋体" pitchFamily="2" charset="-122"/>
                <a:cs typeface="+mn-cs"/>
              </a:rPr>
              <a:t>1.4 </a:t>
            </a:r>
            <a:r>
              <a:rPr kumimoji="1" lang="zh-CN" altLang="en-US" kern="0" dirty="0" smtClean="0">
                <a:solidFill>
                  <a:srgbClr val="FF3300"/>
                </a:solidFill>
                <a:latin typeface="Times New Roman" pitchFamily="18" charset="0"/>
                <a:ea typeface="宋体" pitchFamily="2" charset="-122"/>
                <a:cs typeface="+mn-cs"/>
              </a:rPr>
              <a:t>漏</a:t>
            </a:r>
            <a:r>
              <a:rPr kumimoji="1" lang="zh-CN" altLang="en-US" kern="0" dirty="0">
                <a:solidFill>
                  <a:srgbClr val="FF3300"/>
                </a:solidFill>
                <a:latin typeface="Times New Roman" pitchFamily="18" charset="0"/>
                <a:ea typeface="宋体" pitchFamily="2" charset="-122"/>
                <a:cs typeface="+mn-cs"/>
              </a:rPr>
              <a:t>致势垒降低</a:t>
            </a:r>
            <a:r>
              <a:rPr kumimoji="1" lang="en-US" altLang="zh-CN" kern="0" dirty="0">
                <a:solidFill>
                  <a:srgbClr val="FF3300"/>
                </a:solidFill>
                <a:latin typeface="Times New Roman" pitchFamily="18" charset="0"/>
                <a:ea typeface="宋体" pitchFamily="2" charset="-122"/>
                <a:cs typeface="+mn-cs"/>
              </a:rPr>
              <a:t>(DIBL) </a:t>
            </a:r>
          </a:p>
        </p:txBody>
      </p:sp>
      <p:sp>
        <p:nvSpPr>
          <p:cNvPr id="4" name="Text Box 3"/>
          <p:cNvSpPr txBox="1">
            <a:spLocks noChangeArrowheads="1"/>
          </p:cNvSpPr>
          <p:nvPr/>
        </p:nvSpPr>
        <p:spPr bwMode="auto">
          <a:xfrm>
            <a:off x="431800" y="836613"/>
            <a:ext cx="8424863" cy="1373187"/>
          </a:xfrm>
          <a:prstGeom prst="rect">
            <a:avLst/>
          </a:prstGeom>
          <a:noFill/>
          <a:ln w="9525">
            <a:noFill/>
            <a:miter lim="800000"/>
            <a:headEnd/>
            <a:tailEnd/>
          </a:ln>
          <a:effectLst/>
        </p:spPr>
        <p:txBody>
          <a:bodyPr>
            <a:spAutoFit/>
          </a:bodyPr>
          <a:lstStyle/>
          <a:p>
            <a:pPr defTabSz="914400" fontAlgn="base">
              <a:spcBef>
                <a:spcPct val="0"/>
              </a:spcBef>
              <a:spcAft>
                <a:spcPct val="0"/>
              </a:spcAft>
              <a:buClr>
                <a:srgbClr val="808080"/>
              </a:buClr>
            </a:pPr>
            <a:r>
              <a:rPr lang="zh-CN" altLang="en-US" sz="2800" b="1" dirty="0">
                <a:solidFill>
                  <a:srgbClr val="000000"/>
                </a:solidFill>
                <a:latin typeface="Times New Roman" pitchFamily="18" charset="0"/>
                <a:ea typeface="楷体_GB2312" pitchFamily="49" charset="-122"/>
              </a:rPr>
              <a:t>漏致势垒降低指的是漏极电压对源端靠近氧化层表面的</a:t>
            </a:r>
            <a:r>
              <a:rPr lang="en-US" altLang="zh-CN" sz="2800" b="1" dirty="0" err="1">
                <a:solidFill>
                  <a:srgbClr val="000000"/>
                </a:solidFill>
                <a:latin typeface="Times New Roman" pitchFamily="18" charset="0"/>
                <a:ea typeface="楷体_GB2312" pitchFamily="49" charset="-122"/>
              </a:rPr>
              <a:t>np</a:t>
            </a:r>
            <a:r>
              <a:rPr lang="zh-CN" altLang="en-US" sz="2800" b="1" dirty="0">
                <a:solidFill>
                  <a:srgbClr val="000000"/>
                </a:solidFill>
                <a:latin typeface="Times New Roman" pitchFamily="18" charset="0"/>
                <a:ea typeface="楷体_GB2312" pitchFamily="49" charset="-122"/>
              </a:rPr>
              <a:t>结处电子的势垒高度的影响。短沟器件的漏极电压增加会导致源端势垒高度降低。</a:t>
            </a:r>
          </a:p>
        </p:txBody>
      </p:sp>
      <p:pic>
        <p:nvPicPr>
          <p:cNvPr id="5" name="Picture 4"/>
          <p:cNvPicPr>
            <a:picLocks noChangeAspect="1" noChangeArrowheads="1"/>
          </p:cNvPicPr>
          <p:nvPr/>
        </p:nvPicPr>
        <p:blipFill>
          <a:blip r:embed="rId2" cstate="print"/>
          <a:srcRect/>
          <a:stretch>
            <a:fillRect/>
          </a:stretch>
        </p:blipFill>
        <p:spPr bwMode="auto">
          <a:xfrm>
            <a:off x="287338" y="2312988"/>
            <a:ext cx="4968875" cy="3995737"/>
          </a:xfrm>
          <a:prstGeom prst="rect">
            <a:avLst/>
          </a:prstGeom>
          <a:noFill/>
        </p:spPr>
      </p:pic>
      <p:sp>
        <p:nvSpPr>
          <p:cNvPr id="6" name="Rectangle 5"/>
          <p:cNvSpPr>
            <a:spLocks noChangeArrowheads="1"/>
          </p:cNvSpPr>
          <p:nvPr/>
        </p:nvSpPr>
        <p:spPr bwMode="auto">
          <a:xfrm>
            <a:off x="5437188" y="2820988"/>
            <a:ext cx="3382962" cy="3271837"/>
          </a:xfrm>
          <a:prstGeom prst="rect">
            <a:avLst/>
          </a:prstGeom>
          <a:noFill/>
          <a:ln w="9525">
            <a:noFill/>
            <a:miter lim="800000"/>
            <a:headEnd/>
            <a:tailEnd/>
          </a:ln>
          <a:effectLst/>
        </p:spPr>
        <p:txBody>
          <a:bodyPr>
            <a:spAutoFit/>
          </a:bodyPr>
          <a:lstStyle/>
          <a:p>
            <a:pPr defTabSz="914400" fontAlgn="base">
              <a:lnSpc>
                <a:spcPct val="90000"/>
              </a:lnSpc>
              <a:spcBef>
                <a:spcPct val="25000"/>
              </a:spcBef>
              <a:spcAft>
                <a:spcPct val="0"/>
              </a:spcAft>
            </a:pPr>
            <a:r>
              <a:rPr lang="zh-CN" altLang="en-US" sz="2800" b="1" dirty="0">
                <a:solidFill>
                  <a:srgbClr val="0000FF"/>
                </a:solidFill>
                <a:latin typeface="Times New Roman" pitchFamily="18" charset="0"/>
                <a:ea typeface="楷体_GB2312" pitchFamily="49" charset="-122"/>
              </a:rPr>
              <a:t>左图：</a:t>
            </a:r>
            <a:r>
              <a:rPr lang="zh-CN" altLang="en-US" sz="2800" b="1" dirty="0">
                <a:solidFill>
                  <a:srgbClr val="000000"/>
                </a:solidFill>
                <a:latin typeface="Times New Roman" pitchFamily="18" charset="0"/>
                <a:ea typeface="楷体_GB2312" pitchFamily="49" charset="-122"/>
              </a:rPr>
              <a:t>长沟器件和短沟器件导带图 </a:t>
            </a:r>
          </a:p>
          <a:p>
            <a:pPr defTabSz="914400" fontAlgn="base">
              <a:lnSpc>
                <a:spcPct val="90000"/>
              </a:lnSpc>
              <a:spcBef>
                <a:spcPct val="25000"/>
              </a:spcBef>
              <a:spcAft>
                <a:spcPct val="0"/>
              </a:spcAft>
            </a:pPr>
            <a:r>
              <a:rPr lang="zh-CN" altLang="en-US" sz="2800" b="1" dirty="0">
                <a:solidFill>
                  <a:srgbClr val="000000"/>
                </a:solidFill>
                <a:latin typeface="Times New Roman" pitchFamily="18" charset="0"/>
                <a:ea typeface="楷体_GB2312" pitchFamily="49" charset="-122"/>
              </a:rPr>
              <a:t>长沟理论认为只有栅源电压</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GS</a:t>
            </a:r>
            <a:r>
              <a:rPr lang="zh-CN" altLang="en-US" sz="2800" b="1" dirty="0">
                <a:solidFill>
                  <a:srgbClr val="000000"/>
                </a:solidFill>
                <a:latin typeface="Times New Roman" pitchFamily="18" charset="0"/>
                <a:ea typeface="楷体_GB2312" pitchFamily="49" charset="-122"/>
              </a:rPr>
              <a:t>才能降低源端势垒，但是对于短沟器件，足够高的漏极电压也会降低该势垒。</a:t>
            </a:r>
          </a:p>
        </p:txBody>
      </p:sp>
    </p:spTree>
    <p:extLst>
      <p:ext uri="{BB962C8B-B14F-4D97-AF65-F5344CB8AC3E}">
        <p14:creationId xmlns:p14="http://schemas.microsoft.com/office/powerpoint/2010/main" val="2682903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77</a:t>
            </a:fld>
            <a:endParaRPr lang="zh-CN" altLang="en-US"/>
          </a:p>
        </p:txBody>
      </p:sp>
      <p:pic>
        <p:nvPicPr>
          <p:cNvPr id="3" name="Picture 2"/>
          <p:cNvPicPr>
            <a:picLocks noChangeAspect="1" noChangeArrowheads="1"/>
          </p:cNvPicPr>
          <p:nvPr/>
        </p:nvPicPr>
        <p:blipFill>
          <a:blip r:embed="rId2" cstate="print"/>
          <a:srcRect/>
          <a:stretch>
            <a:fillRect/>
          </a:stretch>
        </p:blipFill>
        <p:spPr bwMode="auto">
          <a:xfrm>
            <a:off x="251520" y="188640"/>
            <a:ext cx="6037405" cy="5400600"/>
          </a:xfrm>
          <a:prstGeom prst="rect">
            <a:avLst/>
          </a:prstGeom>
          <a:noFill/>
          <a:ln w="9525">
            <a:noFill/>
            <a:miter lim="800000"/>
            <a:headEnd/>
            <a:tailEnd/>
          </a:ln>
        </p:spPr>
      </p:pic>
      <p:sp>
        <p:nvSpPr>
          <p:cNvPr id="4" name="矩形 3"/>
          <p:cNvSpPr/>
          <p:nvPr/>
        </p:nvSpPr>
        <p:spPr>
          <a:xfrm>
            <a:off x="755576" y="5877272"/>
            <a:ext cx="6480720" cy="523220"/>
          </a:xfrm>
          <a:prstGeom prst="rect">
            <a:avLst/>
          </a:prstGeom>
        </p:spPr>
        <p:txBody>
          <a:bodyPr wrap="square">
            <a:spAutoFit/>
          </a:bodyPr>
          <a:lstStyle/>
          <a:p>
            <a:pPr defTabSz="914400" fontAlgn="base">
              <a:spcBef>
                <a:spcPct val="0"/>
              </a:spcBef>
              <a:spcAft>
                <a:spcPct val="0"/>
              </a:spcAft>
            </a:pPr>
            <a:r>
              <a:rPr lang="zh-CN" altLang="zh-CN" sz="2800" b="1" dirty="0" smtClean="0">
                <a:solidFill>
                  <a:srgbClr val="000000"/>
                </a:solidFill>
                <a:latin typeface="Times New Roman" pitchFamily="18" charset="0"/>
                <a:ea typeface="楷体_GB2312" pitchFamily="49" charset="-122"/>
              </a:rPr>
              <a:t>短沟器件</a:t>
            </a:r>
            <a:r>
              <a:rPr lang="zh-CN" altLang="en-US" sz="2800" b="1" dirty="0" smtClean="0">
                <a:solidFill>
                  <a:srgbClr val="000000"/>
                </a:solidFill>
                <a:latin typeface="Times New Roman" pitchFamily="18" charset="0"/>
                <a:ea typeface="楷体_GB2312" pitchFamily="49" charset="-122"/>
              </a:rPr>
              <a:t>的阈值电压</a:t>
            </a:r>
            <a:r>
              <a:rPr lang="zh-CN" altLang="zh-CN" sz="2800" b="1" dirty="0" smtClean="0">
                <a:solidFill>
                  <a:srgbClr val="000000"/>
                </a:solidFill>
                <a:latin typeface="Times New Roman" pitchFamily="18" charset="0"/>
                <a:ea typeface="楷体_GB2312" pitchFamily="49" charset="-122"/>
              </a:rPr>
              <a:t>比长沟器件低</a:t>
            </a:r>
            <a:r>
              <a:rPr lang="zh-CN" altLang="en-US" sz="2800" b="1" dirty="0" smtClean="0">
                <a:solidFill>
                  <a:srgbClr val="000000"/>
                </a:solidFill>
                <a:latin typeface="Times New Roman" pitchFamily="18" charset="0"/>
                <a:ea typeface="楷体_GB2312" pitchFamily="49" charset="-122"/>
              </a:rPr>
              <a:t>。</a:t>
            </a:r>
            <a:endParaRPr lang="zh-CN" altLang="en-US" sz="2800" b="1" dirty="0">
              <a:solidFill>
                <a:srgbClr val="000000"/>
              </a:solidFill>
              <a:latin typeface="Times New Roman" pitchFamily="18" charset="0"/>
              <a:ea typeface="楷体_GB2312" pitchFamily="49" charset="-122"/>
            </a:endParaRPr>
          </a:p>
        </p:txBody>
      </p:sp>
      <p:sp>
        <p:nvSpPr>
          <p:cNvPr id="5" name="矩形 4"/>
          <p:cNvSpPr/>
          <p:nvPr/>
        </p:nvSpPr>
        <p:spPr>
          <a:xfrm>
            <a:off x="6444208" y="3645024"/>
            <a:ext cx="2520280" cy="1815882"/>
          </a:xfrm>
          <a:prstGeom prst="rect">
            <a:avLst/>
          </a:prstGeom>
        </p:spPr>
        <p:txBody>
          <a:bodyPr wrap="square">
            <a:spAutoFit/>
          </a:bodyPr>
          <a:lstStyle/>
          <a:p>
            <a:pPr defTabSz="914400" fontAlgn="base">
              <a:spcBef>
                <a:spcPct val="0"/>
              </a:spcBef>
              <a:spcAft>
                <a:spcPct val="0"/>
              </a:spcAft>
            </a:pPr>
            <a:r>
              <a:rPr lang="zh-CN" altLang="zh-CN" sz="2800" b="1" dirty="0" smtClean="0">
                <a:solidFill>
                  <a:srgbClr val="000000"/>
                </a:solidFill>
                <a:latin typeface="Times New Roman" pitchFamily="18" charset="0"/>
                <a:ea typeface="楷体_GB2312" pitchFamily="49" charset="-122"/>
              </a:rPr>
              <a:t>将图</a:t>
            </a:r>
            <a:r>
              <a:rPr lang="en-US" altLang="zh-CN" sz="2800" b="1" dirty="0" smtClean="0">
                <a:solidFill>
                  <a:srgbClr val="000000"/>
                </a:solidFill>
                <a:latin typeface="Times New Roman" pitchFamily="18" charset="0"/>
                <a:ea typeface="楷体_GB2312" pitchFamily="49" charset="-122"/>
              </a:rPr>
              <a:t>(d)</a:t>
            </a:r>
            <a:r>
              <a:rPr lang="zh-CN" altLang="zh-CN" sz="2800" b="1" dirty="0" smtClean="0">
                <a:solidFill>
                  <a:srgbClr val="000000"/>
                </a:solidFill>
                <a:latin typeface="Times New Roman" pitchFamily="18" charset="0"/>
                <a:ea typeface="楷体_GB2312" pitchFamily="49" charset="-122"/>
              </a:rPr>
              <a:t>的势垒降低到</a:t>
            </a:r>
            <a:r>
              <a:rPr lang="en-US" altLang="zh-CN" sz="2800" b="1" dirty="0" smtClean="0">
                <a:solidFill>
                  <a:srgbClr val="000000"/>
                </a:solidFill>
                <a:latin typeface="Times New Roman" pitchFamily="18" charset="0"/>
                <a:ea typeface="楷体_GB2312" pitchFamily="49" charset="-122"/>
              </a:rPr>
              <a:t>0.2 </a:t>
            </a:r>
            <a:r>
              <a:rPr lang="en-US" altLang="zh-CN" sz="2800" b="1" dirty="0" err="1" smtClean="0">
                <a:solidFill>
                  <a:srgbClr val="000000"/>
                </a:solidFill>
                <a:latin typeface="Times New Roman" pitchFamily="18" charset="0"/>
                <a:ea typeface="楷体_GB2312" pitchFamily="49" charset="-122"/>
              </a:rPr>
              <a:t>eV</a:t>
            </a:r>
            <a:r>
              <a:rPr lang="zh-CN" altLang="zh-CN" sz="2800" b="1" dirty="0" smtClean="0">
                <a:solidFill>
                  <a:srgbClr val="000000"/>
                </a:solidFill>
                <a:latin typeface="Times New Roman" pitchFamily="18" charset="0"/>
                <a:ea typeface="楷体_GB2312" pitchFamily="49" charset="-122"/>
              </a:rPr>
              <a:t>比图</a:t>
            </a:r>
            <a:r>
              <a:rPr lang="en-US" altLang="zh-CN" sz="2800" b="1" dirty="0" smtClean="0">
                <a:solidFill>
                  <a:srgbClr val="000000"/>
                </a:solidFill>
                <a:latin typeface="Times New Roman" pitchFamily="18" charset="0"/>
                <a:ea typeface="楷体_GB2312" pitchFamily="49" charset="-122"/>
              </a:rPr>
              <a:t>(b)</a:t>
            </a:r>
            <a:r>
              <a:rPr lang="zh-CN" altLang="zh-CN" sz="2800" b="1" dirty="0" smtClean="0">
                <a:solidFill>
                  <a:srgbClr val="000000"/>
                </a:solidFill>
                <a:latin typeface="Times New Roman" pitchFamily="18" charset="0"/>
                <a:ea typeface="楷体_GB2312" pitchFamily="49" charset="-122"/>
              </a:rPr>
              <a:t>需要更小的</a:t>
            </a:r>
            <a:r>
              <a:rPr lang="en-US" altLang="zh-CN" sz="2800" b="1" i="1" dirty="0" err="1" smtClean="0">
                <a:solidFill>
                  <a:srgbClr val="000000"/>
                </a:solidFill>
                <a:latin typeface="Times New Roman" pitchFamily="18" charset="0"/>
                <a:ea typeface="楷体_GB2312" pitchFamily="49" charset="-122"/>
              </a:rPr>
              <a:t>V</a:t>
            </a:r>
            <a:r>
              <a:rPr lang="en-US" altLang="zh-CN" sz="2800" b="1" baseline="-25000" dirty="0" err="1" smtClean="0">
                <a:solidFill>
                  <a:srgbClr val="000000"/>
                </a:solidFill>
                <a:latin typeface="Times New Roman" pitchFamily="18" charset="0"/>
                <a:ea typeface="楷体_GB2312" pitchFamily="49" charset="-122"/>
              </a:rPr>
              <a:t>gs</a:t>
            </a:r>
            <a:r>
              <a:rPr lang="zh-CN" altLang="zh-CN" sz="2800" b="1" dirty="0" smtClean="0">
                <a:solidFill>
                  <a:srgbClr val="000000"/>
                </a:solidFill>
                <a:latin typeface="Times New Roman" pitchFamily="18" charset="0"/>
                <a:ea typeface="楷体_GB2312" pitchFamily="49" charset="-122"/>
              </a:rPr>
              <a:t>。</a:t>
            </a:r>
            <a:endParaRPr lang="zh-CN" altLang="en-US" sz="2800" b="1" dirty="0">
              <a:solidFill>
                <a:srgbClr val="000000"/>
              </a:solidFill>
              <a:latin typeface="Times New Roman" pitchFamily="18" charset="0"/>
              <a:ea typeface="楷体_GB2312" pitchFamily="49" charset="-122"/>
            </a:endParaRPr>
          </a:p>
        </p:txBody>
      </p:sp>
      <p:sp>
        <p:nvSpPr>
          <p:cNvPr id="6" name="矩形 5"/>
          <p:cNvSpPr/>
          <p:nvPr/>
        </p:nvSpPr>
        <p:spPr>
          <a:xfrm>
            <a:off x="6444208" y="980728"/>
            <a:ext cx="2520280" cy="1815882"/>
          </a:xfrm>
          <a:prstGeom prst="rect">
            <a:avLst/>
          </a:prstGeom>
        </p:spPr>
        <p:txBody>
          <a:bodyPr wrap="square">
            <a:spAutoFit/>
          </a:bodyPr>
          <a:lstStyle/>
          <a:p>
            <a:pPr defTabSz="914400" fontAlgn="base">
              <a:spcBef>
                <a:spcPct val="0"/>
              </a:spcBef>
              <a:spcAft>
                <a:spcPct val="0"/>
              </a:spcAft>
            </a:pPr>
            <a:r>
              <a:rPr lang="zh-CN" altLang="zh-CN" sz="2800" b="1" dirty="0" smtClean="0">
                <a:solidFill>
                  <a:srgbClr val="000000"/>
                </a:solidFill>
                <a:latin typeface="Times New Roman" pitchFamily="18" charset="0"/>
                <a:ea typeface="楷体_GB2312" pitchFamily="49" charset="-122"/>
              </a:rPr>
              <a:t>如果沟道足够短，</a:t>
            </a:r>
            <a:r>
              <a:rPr lang="en-US" altLang="zh-CN" sz="2800" b="1" i="1" dirty="0" err="1" smtClean="0">
                <a:solidFill>
                  <a:srgbClr val="000000"/>
                </a:solidFill>
                <a:latin typeface="Times New Roman" pitchFamily="18" charset="0"/>
                <a:ea typeface="楷体_GB2312" pitchFamily="49" charset="-122"/>
              </a:rPr>
              <a:t>E</a:t>
            </a:r>
            <a:r>
              <a:rPr lang="en-US" altLang="zh-CN" sz="2800" b="1" baseline="-25000" dirty="0" err="1" smtClean="0">
                <a:solidFill>
                  <a:srgbClr val="000000"/>
                </a:solidFill>
                <a:latin typeface="Times New Roman" pitchFamily="18" charset="0"/>
                <a:ea typeface="楷体_GB2312" pitchFamily="49" charset="-122"/>
              </a:rPr>
              <a:t>c</a:t>
            </a:r>
            <a:r>
              <a:rPr lang="zh-CN" altLang="zh-CN" sz="2800" b="1" dirty="0" smtClean="0">
                <a:solidFill>
                  <a:srgbClr val="000000"/>
                </a:solidFill>
                <a:latin typeface="Times New Roman" pitchFamily="18" charset="0"/>
                <a:ea typeface="楷体_GB2312" pitchFamily="49" charset="-122"/>
              </a:rPr>
              <a:t>无法达到图</a:t>
            </a:r>
            <a:r>
              <a:rPr lang="en-US" altLang="zh-CN" sz="2800" b="1" dirty="0" smtClean="0">
                <a:solidFill>
                  <a:srgbClr val="000000"/>
                </a:solidFill>
                <a:latin typeface="Times New Roman" pitchFamily="18" charset="0"/>
                <a:ea typeface="楷体_GB2312" pitchFamily="49" charset="-122"/>
              </a:rPr>
              <a:t>(a)</a:t>
            </a:r>
            <a:r>
              <a:rPr lang="zh-CN" altLang="zh-CN" sz="2800" b="1" dirty="0" smtClean="0">
                <a:solidFill>
                  <a:srgbClr val="000000"/>
                </a:solidFill>
                <a:latin typeface="Times New Roman" pitchFamily="18" charset="0"/>
                <a:ea typeface="楷体_GB2312" pitchFamily="49" charset="-122"/>
              </a:rPr>
              <a:t>的势垒高度。</a:t>
            </a:r>
            <a:endParaRPr lang="zh-CN" altLang="en-US" sz="2800" b="1" dirty="0">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22021239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78</a:t>
            </a:fld>
            <a:endParaRPr lang="zh-CN" altLang="en-US"/>
          </a:p>
        </p:txBody>
      </p:sp>
      <p:sp>
        <p:nvSpPr>
          <p:cNvPr id="3" name="Rectangle 2"/>
          <p:cNvSpPr>
            <a:spLocks noChangeArrowheads="1"/>
          </p:cNvSpPr>
          <p:nvPr/>
        </p:nvSpPr>
        <p:spPr bwMode="auto">
          <a:xfrm>
            <a:off x="503238" y="333375"/>
            <a:ext cx="8245475" cy="1414463"/>
          </a:xfrm>
          <a:prstGeom prst="rect">
            <a:avLst/>
          </a:prstGeom>
          <a:noFill/>
          <a:ln w="9525">
            <a:noFill/>
            <a:miter lim="800000"/>
            <a:headEnd/>
            <a:tailEnd/>
          </a:ln>
          <a:effectLst/>
        </p:spPr>
        <p:txBody>
          <a:bodyPr>
            <a:spAutoFit/>
          </a:bodyPr>
          <a:lstStyle/>
          <a:p>
            <a:pPr defTabSz="914400" fontAlgn="base">
              <a:spcBef>
                <a:spcPct val="5000"/>
              </a:spcBef>
              <a:spcAft>
                <a:spcPct val="0"/>
              </a:spcAft>
            </a:pPr>
            <a:r>
              <a:rPr lang="zh-CN" altLang="en-US" sz="2800" b="1">
                <a:solidFill>
                  <a:srgbClr val="000000"/>
                </a:solidFill>
                <a:latin typeface="Times New Roman" pitchFamily="18" charset="0"/>
                <a:ea typeface="楷体_GB2312" pitchFamily="49" charset="-122"/>
              </a:rPr>
              <a:t>导致势垒下降的因素：</a:t>
            </a:r>
          </a:p>
          <a:p>
            <a:pPr defTabSz="914400" fontAlgn="base">
              <a:spcBef>
                <a:spcPct val="5000"/>
              </a:spcBef>
              <a:spcAft>
                <a:spcPct val="0"/>
              </a:spcAft>
              <a:buFontTx/>
              <a:buChar char="•"/>
            </a:pPr>
            <a:r>
              <a:rPr lang="zh-CN" altLang="en-US" sz="2800" b="1">
                <a:solidFill>
                  <a:srgbClr val="000000"/>
                </a:solidFill>
                <a:latin typeface="Times New Roman" pitchFamily="18" charset="0"/>
                <a:ea typeface="楷体_GB2312" pitchFamily="49" charset="-122"/>
              </a:rPr>
              <a:t> 沟道缩短，漏、源耗尽区的相互影响</a:t>
            </a:r>
          </a:p>
          <a:p>
            <a:pPr defTabSz="914400" fontAlgn="base">
              <a:spcBef>
                <a:spcPct val="5000"/>
              </a:spcBef>
              <a:spcAft>
                <a:spcPct val="0"/>
              </a:spcAft>
              <a:buFontTx/>
              <a:buChar char="•"/>
            </a:pPr>
            <a:r>
              <a:rPr lang="zh-CN" altLang="en-US" sz="2800" b="1" i="1">
                <a:solidFill>
                  <a:srgbClr val="000000"/>
                </a:solidFill>
                <a:latin typeface="Times New Roman" pitchFamily="18" charset="0"/>
                <a:ea typeface="楷体_GB2312" pitchFamily="49" charset="-122"/>
              </a:rPr>
              <a:t> </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DS</a:t>
            </a:r>
            <a:r>
              <a:rPr lang="zh-CN" altLang="en-US" sz="2800" b="1">
                <a:solidFill>
                  <a:srgbClr val="000000"/>
                </a:solidFill>
                <a:latin typeface="Times New Roman" pitchFamily="18" charset="0"/>
                <a:ea typeface="楷体_GB2312" pitchFamily="49" charset="-122"/>
              </a:rPr>
              <a:t>增加，漏区发出的场强线的一部分穿透到源区</a:t>
            </a:r>
          </a:p>
        </p:txBody>
      </p:sp>
      <p:pic>
        <p:nvPicPr>
          <p:cNvPr id="4" name="Picture 3"/>
          <p:cNvPicPr>
            <a:picLocks noChangeAspect="1" noChangeArrowheads="1"/>
          </p:cNvPicPr>
          <p:nvPr/>
        </p:nvPicPr>
        <p:blipFill>
          <a:blip r:embed="rId2" cstate="print"/>
          <a:srcRect/>
          <a:stretch>
            <a:fillRect/>
          </a:stretch>
        </p:blipFill>
        <p:spPr bwMode="auto">
          <a:xfrm>
            <a:off x="428625" y="1976438"/>
            <a:ext cx="4467225" cy="2352675"/>
          </a:xfrm>
          <a:prstGeom prst="rect">
            <a:avLst/>
          </a:prstGeom>
          <a:noFill/>
          <a:ln w="9525">
            <a:noFill/>
            <a:miter lim="800000"/>
            <a:headEnd/>
            <a:tailEnd/>
          </a:ln>
          <a:effectLst/>
        </p:spPr>
      </p:pic>
      <p:sp>
        <p:nvSpPr>
          <p:cNvPr id="5" name="Rectangle 4"/>
          <p:cNvSpPr>
            <a:spLocks noChangeArrowheads="1"/>
          </p:cNvSpPr>
          <p:nvPr/>
        </p:nvSpPr>
        <p:spPr bwMode="auto">
          <a:xfrm>
            <a:off x="431800" y="4616450"/>
            <a:ext cx="8245475" cy="1781175"/>
          </a:xfrm>
          <a:prstGeom prst="rect">
            <a:avLst/>
          </a:prstGeom>
          <a:noFill/>
          <a:ln w="9525">
            <a:noFill/>
            <a:miter lim="800000"/>
            <a:headEnd/>
            <a:tailEnd/>
          </a:ln>
          <a:effectLst/>
        </p:spPr>
        <p:txBody>
          <a:bodyPr>
            <a:spAutoFit/>
          </a:bodyPr>
          <a:lstStyle/>
          <a:p>
            <a:pPr defTabSz="914400" fontAlgn="base">
              <a:lnSpc>
                <a:spcPct val="95000"/>
              </a:lnSpc>
              <a:spcBef>
                <a:spcPct val="15000"/>
              </a:spcBef>
              <a:spcAft>
                <a:spcPct val="0"/>
              </a:spcAft>
            </a:pPr>
            <a:r>
              <a:rPr lang="zh-CN" altLang="en-US" sz="2800" b="1" dirty="0">
                <a:solidFill>
                  <a:srgbClr val="000000"/>
                </a:solidFill>
                <a:latin typeface="Times New Roman" pitchFamily="18" charset="0"/>
                <a:ea typeface="楷体_GB2312" pitchFamily="49" charset="-122"/>
              </a:rPr>
              <a:t>亚阈值区</a:t>
            </a:r>
            <a:r>
              <a:rPr lang="zh-CN" altLang="en-US" sz="2800" b="1" dirty="0" smtClean="0">
                <a:solidFill>
                  <a:srgbClr val="000000"/>
                </a:solidFill>
                <a:latin typeface="Times New Roman" pitchFamily="18" charset="0"/>
                <a:ea typeface="楷体_GB2312" pitchFamily="49" charset="-122"/>
              </a:rPr>
              <a:t>导电</a:t>
            </a:r>
            <a:r>
              <a:rPr lang="zh-CN" altLang="en-US" sz="2800" b="1" dirty="0">
                <a:solidFill>
                  <a:srgbClr val="000000"/>
                </a:solidFill>
                <a:latin typeface="Times New Roman" pitchFamily="18" charset="0"/>
                <a:ea typeface="楷体_GB2312" pitchFamily="49" charset="-122"/>
              </a:rPr>
              <a:t>机制</a:t>
            </a:r>
            <a:r>
              <a:rPr lang="zh-CN" altLang="en-US" sz="2800" b="1" dirty="0" smtClean="0">
                <a:solidFill>
                  <a:srgbClr val="000000"/>
                </a:solidFill>
                <a:latin typeface="Times New Roman" pitchFamily="18" charset="0"/>
                <a:ea typeface="楷体_GB2312" pitchFamily="49" charset="-122"/>
              </a:rPr>
              <a:t>主要</a:t>
            </a:r>
            <a:r>
              <a:rPr lang="zh-CN" altLang="en-US" sz="2800" b="1" dirty="0">
                <a:solidFill>
                  <a:srgbClr val="000000"/>
                </a:solidFill>
                <a:latin typeface="Times New Roman" pitchFamily="18" charset="0"/>
                <a:ea typeface="楷体_GB2312" pitchFamily="49" charset="-122"/>
              </a:rPr>
              <a:t>是载流子的扩散。</a:t>
            </a:r>
          </a:p>
          <a:p>
            <a:pPr defTabSz="914400" fontAlgn="base">
              <a:lnSpc>
                <a:spcPct val="95000"/>
              </a:lnSpc>
              <a:spcBef>
                <a:spcPct val="15000"/>
              </a:spcBef>
              <a:spcAft>
                <a:spcPct val="0"/>
              </a:spcAft>
            </a:pPr>
            <a:r>
              <a:rPr lang="zh-CN" altLang="en-US" sz="2800" b="1" dirty="0">
                <a:solidFill>
                  <a:srgbClr val="000000"/>
                </a:solidFill>
                <a:latin typeface="Times New Roman" pitchFamily="18" charset="0"/>
                <a:ea typeface="楷体_GB2312" pitchFamily="49" charset="-122"/>
              </a:rPr>
              <a:t>如果电子进入沟道的势垒线性下降，从源区进入沟道的电子浓度将指数增长，因此亚阈值电流对</a:t>
            </a: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效应更为敏感，</a:t>
            </a:r>
          </a:p>
        </p:txBody>
      </p:sp>
      <p:sp>
        <p:nvSpPr>
          <p:cNvPr id="6" name="Rectangle 5"/>
          <p:cNvSpPr>
            <a:spLocks noChangeArrowheads="1"/>
          </p:cNvSpPr>
          <p:nvPr/>
        </p:nvSpPr>
        <p:spPr bwMode="auto">
          <a:xfrm>
            <a:off x="5327650" y="2097088"/>
            <a:ext cx="3600450" cy="2057400"/>
          </a:xfrm>
          <a:prstGeom prst="rect">
            <a:avLst/>
          </a:prstGeom>
          <a:noFill/>
          <a:ln w="9525">
            <a:noFill/>
            <a:miter lim="800000"/>
            <a:headEnd/>
            <a:tailEnd/>
          </a:ln>
          <a:effectLst/>
        </p:spPr>
        <p:txBody>
          <a:bodyPr>
            <a:spAutoFit/>
          </a:bodyPr>
          <a:lstStyle/>
          <a:p>
            <a:pPr defTabSz="914400" fontAlgn="base">
              <a:spcBef>
                <a:spcPct val="30000"/>
              </a:spcBef>
              <a:spcAft>
                <a:spcPct val="0"/>
              </a:spcAft>
            </a:pP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效应的影响：</a:t>
            </a:r>
          </a:p>
          <a:p>
            <a:pPr defTabSz="914400" fontAlgn="base">
              <a:spcBef>
                <a:spcPct val="30000"/>
              </a:spcBef>
              <a:spcAft>
                <a:spcPct val="0"/>
              </a:spcAft>
            </a:pPr>
            <a:r>
              <a:rPr lang="en-US" altLang="zh-CN" sz="2800" b="1" dirty="0">
                <a:solidFill>
                  <a:srgbClr val="000000"/>
                </a:solidFill>
                <a:latin typeface="Times New Roman" pitchFamily="18" charset="0"/>
                <a:ea typeface="楷体_GB2312" pitchFamily="49" charset="-122"/>
              </a:rPr>
              <a:t>1)</a:t>
            </a:r>
            <a:r>
              <a:rPr lang="en-US" altLang="zh-CN" sz="2800" b="1" i="1" dirty="0">
                <a:solidFill>
                  <a:srgbClr val="000000"/>
                </a:solidFill>
                <a:latin typeface="Times New Roman" pitchFamily="18" charset="0"/>
                <a:ea typeface="楷体_GB2312" pitchFamily="49" charset="-122"/>
              </a:rPr>
              <a:t> V</a:t>
            </a:r>
            <a:r>
              <a:rPr lang="en-US" altLang="zh-CN" sz="2800" b="1" i="1" baseline="-25000" dirty="0">
                <a:solidFill>
                  <a:srgbClr val="000000"/>
                </a:solidFill>
                <a:latin typeface="Times New Roman" pitchFamily="18" charset="0"/>
                <a:ea typeface="楷体_GB2312" pitchFamily="49" charset="-122"/>
              </a:rPr>
              <a:t>DS</a:t>
            </a:r>
            <a:r>
              <a:rPr lang="zh-CN" altLang="en-US" sz="2800" b="1" dirty="0">
                <a:solidFill>
                  <a:srgbClr val="000000"/>
                </a:solidFill>
                <a:latin typeface="Times New Roman" pitchFamily="18" charset="0"/>
                <a:ea typeface="楷体_GB2312" pitchFamily="49" charset="-122"/>
              </a:rPr>
              <a:t>增加，有效</a:t>
            </a:r>
            <a:r>
              <a:rPr lang="zh-CN" altLang="en-US" sz="2800" b="1" dirty="0" smtClean="0">
                <a:solidFill>
                  <a:srgbClr val="000000"/>
                </a:solidFill>
                <a:latin typeface="Times New Roman" pitchFamily="18" charset="0"/>
                <a:ea typeface="楷体_GB2312" pitchFamily="49" charset="-122"/>
              </a:rPr>
              <a:t>阈电压</a:t>
            </a:r>
            <a:r>
              <a:rPr lang="en-US" altLang="zh-CN" sz="2800" b="1" i="1" dirty="0" smtClean="0">
                <a:solidFill>
                  <a:srgbClr val="000000"/>
                </a:solidFill>
                <a:latin typeface="Times New Roman" pitchFamily="18" charset="0"/>
                <a:ea typeface="楷体_GB2312" pitchFamily="49" charset="-122"/>
              </a:rPr>
              <a:t>V</a:t>
            </a:r>
            <a:r>
              <a:rPr lang="en-US" altLang="zh-CN" sz="2800" b="1" i="1" baseline="-25000" dirty="0" smtClean="0">
                <a:solidFill>
                  <a:srgbClr val="000000"/>
                </a:solidFill>
                <a:latin typeface="Times New Roman" pitchFamily="18" charset="0"/>
                <a:ea typeface="楷体_GB2312" pitchFamily="49" charset="-122"/>
              </a:rPr>
              <a:t>T</a:t>
            </a:r>
            <a:r>
              <a:rPr lang="zh-CN" altLang="en-US" sz="2800" b="1" dirty="0" smtClean="0">
                <a:solidFill>
                  <a:srgbClr val="000000"/>
                </a:solidFill>
                <a:latin typeface="Times New Roman" pitchFamily="18" charset="0"/>
                <a:ea typeface="楷体_GB2312" pitchFamily="49" charset="-122"/>
              </a:rPr>
              <a:t>下降</a:t>
            </a:r>
            <a:r>
              <a:rPr lang="zh-CN" altLang="en-US" sz="2800" b="1" dirty="0">
                <a:solidFill>
                  <a:srgbClr val="000000"/>
                </a:solidFill>
                <a:latin typeface="Times New Roman" pitchFamily="18" charset="0"/>
                <a:ea typeface="楷体_GB2312" pitchFamily="49" charset="-122"/>
              </a:rPr>
              <a:t>；</a:t>
            </a:r>
          </a:p>
          <a:p>
            <a:pPr defTabSz="914400" fontAlgn="base">
              <a:spcBef>
                <a:spcPct val="30000"/>
              </a:spcBef>
              <a:spcAft>
                <a:spcPct val="0"/>
              </a:spcAft>
            </a:pPr>
            <a:r>
              <a:rPr lang="en-US" altLang="zh-CN" sz="2800" b="1" dirty="0">
                <a:solidFill>
                  <a:srgbClr val="000000"/>
                </a:solidFill>
                <a:latin typeface="Times New Roman" pitchFamily="18" charset="0"/>
                <a:ea typeface="楷体_GB2312" pitchFamily="49" charset="-122"/>
              </a:rPr>
              <a:t>2) </a:t>
            </a:r>
            <a:r>
              <a:rPr lang="zh-CN" altLang="en-US" sz="2800" b="1" dirty="0">
                <a:solidFill>
                  <a:srgbClr val="000000"/>
                </a:solidFill>
                <a:latin typeface="Times New Roman" pitchFamily="18" charset="0"/>
                <a:ea typeface="楷体_GB2312" pitchFamily="49" charset="-122"/>
              </a:rPr>
              <a:t>亚阈值特性</a:t>
            </a:r>
          </a:p>
        </p:txBody>
      </p:sp>
    </p:spTree>
    <p:extLst>
      <p:ext uri="{BB962C8B-B14F-4D97-AF65-F5344CB8AC3E}">
        <p14:creationId xmlns:p14="http://schemas.microsoft.com/office/powerpoint/2010/main" val="1519365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79</a:t>
            </a:fld>
            <a:endParaRPr lang="zh-CN" altLang="en-US"/>
          </a:p>
        </p:txBody>
      </p:sp>
      <p:sp>
        <p:nvSpPr>
          <p:cNvPr id="3" name="Text Box 2"/>
          <p:cNvSpPr txBox="1">
            <a:spLocks noChangeArrowheads="1"/>
          </p:cNvSpPr>
          <p:nvPr/>
        </p:nvSpPr>
        <p:spPr bwMode="auto">
          <a:xfrm>
            <a:off x="323850" y="404813"/>
            <a:ext cx="8588375" cy="1373187"/>
          </a:xfrm>
          <a:prstGeom prst="rect">
            <a:avLst/>
          </a:prstGeom>
          <a:noFill/>
          <a:ln w="9525">
            <a:noFill/>
            <a:miter lim="800000"/>
            <a:headEnd/>
            <a:tailEnd/>
          </a:ln>
          <a:effectLst/>
        </p:spPr>
        <p:txBody>
          <a:bodyPr>
            <a:spAutoFit/>
          </a:bodyPr>
          <a:lstStyle/>
          <a:p>
            <a:pPr defTabSz="914400" fontAlgn="base">
              <a:spcBef>
                <a:spcPct val="0"/>
              </a:spcBef>
              <a:spcAft>
                <a:spcPct val="0"/>
              </a:spcAft>
              <a:buClr>
                <a:srgbClr val="808080"/>
              </a:buClr>
            </a:pPr>
            <a:r>
              <a:rPr lang="zh-CN" altLang="en-US" sz="2800" b="1" dirty="0">
                <a:solidFill>
                  <a:srgbClr val="000000"/>
                </a:solidFill>
                <a:latin typeface="Times New Roman" pitchFamily="18" charset="0"/>
                <a:ea typeface="楷体_GB2312" pitchFamily="49" charset="-122"/>
              </a:rPr>
              <a:t>通过测量亚阈值电流和</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D</a:t>
            </a:r>
            <a:r>
              <a:rPr lang="zh-CN" altLang="en-US" sz="2800" b="1" dirty="0">
                <a:solidFill>
                  <a:srgbClr val="000000"/>
                </a:solidFill>
                <a:latin typeface="Times New Roman" pitchFamily="18" charset="0"/>
                <a:ea typeface="楷体_GB2312" pitchFamily="49" charset="-122"/>
              </a:rPr>
              <a:t>的关系很容易检测是否发生了</a:t>
            </a: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a:t>
            </a:r>
          </a:p>
          <a:p>
            <a:pPr defTabSz="914400" fontAlgn="base">
              <a:spcBef>
                <a:spcPct val="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长沟器件的亚阈值电流与</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D</a:t>
            </a:r>
            <a:r>
              <a:rPr lang="zh-CN" altLang="en-US" sz="2800" b="1" dirty="0" smtClean="0">
                <a:solidFill>
                  <a:srgbClr val="000000"/>
                </a:solidFill>
                <a:latin typeface="Times New Roman" pitchFamily="18" charset="0"/>
                <a:ea typeface="楷体_GB2312" pitchFamily="49" charset="-122"/>
              </a:rPr>
              <a:t>无关</a:t>
            </a:r>
            <a:endParaRPr lang="zh-CN" altLang="en-US" sz="2800" b="1" dirty="0">
              <a:solidFill>
                <a:srgbClr val="000000"/>
              </a:solidFill>
              <a:latin typeface="Times New Roman" pitchFamily="18" charset="0"/>
              <a:ea typeface="楷体_GB2312" pitchFamily="49" charset="-122"/>
            </a:endParaRPr>
          </a:p>
        </p:txBody>
      </p:sp>
      <p:pic>
        <p:nvPicPr>
          <p:cNvPr id="4" name="Picture 3"/>
          <p:cNvPicPr>
            <a:picLocks noChangeAspect="1" noChangeArrowheads="1"/>
          </p:cNvPicPr>
          <p:nvPr/>
        </p:nvPicPr>
        <p:blipFill>
          <a:blip r:embed="rId2" cstate="print"/>
          <a:srcRect/>
          <a:stretch>
            <a:fillRect/>
          </a:stretch>
        </p:blipFill>
        <p:spPr bwMode="auto">
          <a:xfrm>
            <a:off x="539750" y="2133600"/>
            <a:ext cx="4429125" cy="4333875"/>
          </a:xfrm>
          <a:prstGeom prst="rect">
            <a:avLst/>
          </a:prstGeom>
          <a:noFill/>
        </p:spPr>
      </p:pic>
      <p:sp>
        <p:nvSpPr>
          <p:cNvPr id="5" name="Rectangle 4"/>
          <p:cNvSpPr>
            <a:spLocks noChangeArrowheads="1"/>
          </p:cNvSpPr>
          <p:nvPr/>
        </p:nvSpPr>
        <p:spPr bwMode="auto">
          <a:xfrm>
            <a:off x="5362575" y="2349500"/>
            <a:ext cx="3457575" cy="3508375"/>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0000FF"/>
                </a:solidFill>
                <a:latin typeface="Times New Roman" pitchFamily="18" charset="0"/>
                <a:ea typeface="楷体_GB2312" pitchFamily="49" charset="-122"/>
              </a:rPr>
              <a:t>左图：</a:t>
            </a:r>
            <a:r>
              <a:rPr lang="zh-CN" altLang="en-US" sz="2800" b="1" dirty="0">
                <a:solidFill>
                  <a:srgbClr val="000000"/>
                </a:solidFill>
                <a:latin typeface="Times New Roman" pitchFamily="18" charset="0"/>
                <a:ea typeface="楷体_GB2312" pitchFamily="49" charset="-122"/>
              </a:rPr>
              <a:t>发生了</a:t>
            </a: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效应的</a:t>
            </a:r>
            <a:r>
              <a:rPr lang="en-US" altLang="zh-CN" sz="2800" b="1" dirty="0">
                <a:solidFill>
                  <a:srgbClr val="000000"/>
                </a:solidFill>
                <a:latin typeface="Times New Roman" pitchFamily="18" charset="0"/>
                <a:ea typeface="楷体_GB2312" pitchFamily="49" charset="-122"/>
              </a:rPr>
              <a:t>MOSFET</a:t>
            </a:r>
            <a:r>
              <a:rPr lang="zh-CN" altLang="en-US" sz="2800" b="1" dirty="0">
                <a:solidFill>
                  <a:srgbClr val="000000"/>
                </a:solidFill>
                <a:latin typeface="Times New Roman" pitchFamily="18" charset="0"/>
                <a:ea typeface="楷体_GB2312" pitchFamily="49" charset="-122"/>
              </a:rPr>
              <a:t>的亚阈值导电特性 </a:t>
            </a:r>
          </a:p>
          <a:p>
            <a:pPr defTabSz="914400" fontAlgn="base">
              <a:spcBef>
                <a:spcPct val="0"/>
              </a:spcBef>
              <a:spcAft>
                <a:spcPct val="0"/>
              </a:spcAft>
            </a:pPr>
            <a:endParaRPr lang="zh-CN" altLang="en-US" sz="2800" b="1" dirty="0">
              <a:solidFill>
                <a:srgbClr val="000000"/>
              </a:solidFill>
              <a:latin typeface="Times New Roman" pitchFamily="18" charset="0"/>
              <a:ea typeface="楷体_GB2312" pitchFamily="49" charset="-122"/>
            </a:endParaRPr>
          </a:p>
          <a:p>
            <a:pPr defTabSz="914400" fontAlgn="base">
              <a:spcBef>
                <a:spcPct val="0"/>
              </a:spcBef>
              <a:spcAft>
                <a:spcPct val="0"/>
              </a:spcAft>
            </a:pP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效应提高了亚阈值电流，从而降低了短沟</a:t>
            </a:r>
            <a:r>
              <a:rPr lang="en-US" altLang="zh-CN" sz="2800" b="1" dirty="0">
                <a:solidFill>
                  <a:srgbClr val="000000"/>
                </a:solidFill>
                <a:latin typeface="Times New Roman" pitchFamily="18" charset="0"/>
                <a:ea typeface="楷体_GB2312" pitchFamily="49" charset="-122"/>
              </a:rPr>
              <a:t>MOSFET</a:t>
            </a:r>
            <a:r>
              <a:rPr lang="zh-CN" altLang="en-US" sz="2800" b="1" dirty="0">
                <a:solidFill>
                  <a:srgbClr val="000000"/>
                </a:solidFill>
                <a:latin typeface="Times New Roman" pitchFamily="18" charset="0"/>
                <a:ea typeface="楷体_GB2312" pitchFamily="49" charset="-122"/>
              </a:rPr>
              <a:t>的性能</a:t>
            </a:r>
          </a:p>
        </p:txBody>
      </p:sp>
    </p:spTree>
    <p:extLst>
      <p:ext uri="{BB962C8B-B14F-4D97-AF65-F5344CB8AC3E}">
        <p14:creationId xmlns:p14="http://schemas.microsoft.com/office/powerpoint/2010/main" val="12344982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80</a:t>
            </a:fld>
            <a:endParaRPr lang="zh-CN" altLang="en-US"/>
          </a:p>
        </p:txBody>
      </p:sp>
      <p:sp>
        <p:nvSpPr>
          <p:cNvPr id="6" name="Text Box 2"/>
          <p:cNvSpPr txBox="1">
            <a:spLocks noChangeArrowheads="1"/>
          </p:cNvSpPr>
          <p:nvPr/>
        </p:nvSpPr>
        <p:spPr bwMode="auto">
          <a:xfrm>
            <a:off x="468313" y="317500"/>
            <a:ext cx="4679950"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kumimoji="1" lang="en-US" altLang="zh-CN" sz="2800" b="1" kern="0" dirty="0" smtClean="0">
                <a:solidFill>
                  <a:srgbClr val="FF3300"/>
                </a:solidFill>
                <a:latin typeface="Times New Roman" pitchFamily="18" charset="0"/>
                <a:ea typeface="宋体" pitchFamily="2" charset="-122"/>
              </a:rPr>
              <a:t>1.5 </a:t>
            </a:r>
            <a:r>
              <a:rPr kumimoji="1" lang="zh-CN" altLang="en-US" sz="2800" b="1" kern="0" dirty="0" smtClean="0">
                <a:solidFill>
                  <a:srgbClr val="FF3300"/>
                </a:solidFill>
                <a:latin typeface="Times New Roman" pitchFamily="18" charset="0"/>
                <a:ea typeface="宋体" pitchFamily="2" charset="-122"/>
              </a:rPr>
              <a:t>次</a:t>
            </a:r>
            <a:r>
              <a:rPr kumimoji="1" lang="zh-CN" altLang="en-US" sz="2800" b="1" kern="0" dirty="0">
                <a:solidFill>
                  <a:srgbClr val="FF3300"/>
                </a:solidFill>
                <a:latin typeface="Times New Roman" pitchFamily="18" charset="0"/>
                <a:ea typeface="宋体" pitchFamily="2" charset="-122"/>
              </a:rPr>
              <a:t>表面穿通 </a:t>
            </a:r>
          </a:p>
        </p:txBody>
      </p:sp>
      <p:sp>
        <p:nvSpPr>
          <p:cNvPr id="7" name="Rectangle 3"/>
          <p:cNvSpPr>
            <a:spLocks noChangeArrowheads="1"/>
          </p:cNvSpPr>
          <p:nvPr/>
        </p:nvSpPr>
        <p:spPr bwMode="auto">
          <a:xfrm>
            <a:off x="468313" y="1062038"/>
            <a:ext cx="8280400" cy="4419600"/>
          </a:xfrm>
          <a:prstGeom prst="rect">
            <a:avLst/>
          </a:prstGeom>
          <a:noFill/>
          <a:ln w="9525">
            <a:noFill/>
            <a:miter lim="800000"/>
            <a:headEnd/>
            <a:tailEnd/>
          </a:ln>
          <a:effectLst/>
        </p:spPr>
        <p:txBody>
          <a:bodyPr>
            <a:spAutoFit/>
          </a:bodyPr>
          <a:lstStyle/>
          <a:p>
            <a:pPr defTabSz="914400" fontAlgn="base">
              <a:lnSpc>
                <a:spcPct val="105000"/>
              </a:lnSpc>
              <a:spcBef>
                <a:spcPct val="35000"/>
              </a:spcBef>
              <a:spcAft>
                <a:spcPct val="0"/>
              </a:spcAft>
              <a:buClr>
                <a:srgbClr val="808080"/>
              </a:buClr>
              <a:buFontTx/>
              <a:buChar char="•"/>
            </a:pPr>
            <a:r>
              <a:rPr lang="en-US" altLang="zh-CN" sz="2800" b="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类似</a:t>
            </a: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效应，次表面穿通也是指漏极电压对源端</a:t>
            </a:r>
            <a:r>
              <a:rPr lang="en-US" altLang="zh-CN" sz="2800" b="1" dirty="0" err="1">
                <a:solidFill>
                  <a:srgbClr val="000000"/>
                </a:solidFill>
                <a:latin typeface="Times New Roman" pitchFamily="18" charset="0"/>
                <a:ea typeface="楷体_GB2312" pitchFamily="49" charset="-122"/>
              </a:rPr>
              <a:t>pn</a:t>
            </a:r>
            <a:r>
              <a:rPr lang="zh-CN" altLang="en-US" sz="2800" b="1" dirty="0">
                <a:solidFill>
                  <a:srgbClr val="000000"/>
                </a:solidFill>
                <a:latin typeface="Times New Roman" pitchFamily="18" charset="0"/>
                <a:ea typeface="楷体_GB2312" pitchFamily="49" charset="-122"/>
              </a:rPr>
              <a:t>结处电子势垒的影响。与</a:t>
            </a:r>
            <a:r>
              <a:rPr lang="en-US" altLang="zh-CN" sz="2800" b="1" dirty="0">
                <a:solidFill>
                  <a:srgbClr val="000000"/>
                </a:solidFill>
                <a:latin typeface="Times New Roman" pitchFamily="18" charset="0"/>
                <a:ea typeface="楷体_GB2312" pitchFamily="49" charset="-122"/>
              </a:rPr>
              <a:t>DIBL</a:t>
            </a:r>
            <a:r>
              <a:rPr lang="zh-CN" altLang="en-US" sz="2800" b="1" dirty="0">
                <a:solidFill>
                  <a:srgbClr val="000000"/>
                </a:solidFill>
                <a:latin typeface="Times New Roman" pitchFamily="18" charset="0"/>
                <a:ea typeface="楷体_GB2312" pitchFamily="49" charset="-122"/>
              </a:rPr>
              <a:t>效应不同的是，次表面穿通发生在远离表面的衬底区。 </a:t>
            </a:r>
          </a:p>
          <a:p>
            <a:pPr defTabSz="914400" fontAlgn="base">
              <a:lnSpc>
                <a:spcPct val="105000"/>
              </a:lnSpc>
              <a:spcBef>
                <a:spcPct val="3500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短沟</a:t>
            </a:r>
            <a:r>
              <a:rPr lang="en-US" altLang="zh-CN" sz="2800" b="1" dirty="0" err="1">
                <a:solidFill>
                  <a:srgbClr val="000000"/>
                </a:solidFill>
                <a:latin typeface="Times New Roman" pitchFamily="18" charset="0"/>
                <a:ea typeface="楷体_GB2312" pitchFamily="49" charset="-122"/>
              </a:rPr>
              <a:t>nMOSFET</a:t>
            </a:r>
            <a:r>
              <a:rPr lang="zh-CN" altLang="en-US" sz="2800" b="1" dirty="0">
                <a:solidFill>
                  <a:srgbClr val="000000"/>
                </a:solidFill>
                <a:latin typeface="Times New Roman" pitchFamily="18" charset="0"/>
                <a:ea typeface="楷体_GB2312" pitchFamily="49" charset="-122"/>
              </a:rPr>
              <a:t>的表面区掺杂浓度远大于体掺杂浓度，因此结耗尽区宽度在体内比沟道区大。在足够高的漏极电压之下，就有可能发生漏</a:t>
            </a:r>
            <a:r>
              <a:rPr lang="en-US" altLang="zh-CN" sz="2800" b="1" dirty="0">
                <a:solidFill>
                  <a:srgbClr val="000000"/>
                </a:solidFill>
                <a:latin typeface="Times New Roman" pitchFamily="18" charset="0"/>
                <a:ea typeface="楷体_GB2312" pitchFamily="49" charset="-122"/>
              </a:rPr>
              <a:t>-</a:t>
            </a:r>
            <a:r>
              <a:rPr lang="zh-CN" altLang="en-US" sz="2800" b="1" dirty="0">
                <a:solidFill>
                  <a:srgbClr val="000000"/>
                </a:solidFill>
                <a:latin typeface="Times New Roman" pitchFamily="18" charset="0"/>
                <a:ea typeface="楷体_GB2312" pitchFamily="49" charset="-122"/>
              </a:rPr>
              <a:t>衬耗尽区和源</a:t>
            </a:r>
            <a:r>
              <a:rPr lang="en-US" altLang="zh-CN" sz="2800" b="1" dirty="0">
                <a:solidFill>
                  <a:srgbClr val="000000"/>
                </a:solidFill>
                <a:latin typeface="Times New Roman" pitchFamily="18" charset="0"/>
                <a:ea typeface="楷体_GB2312" pitchFamily="49" charset="-122"/>
              </a:rPr>
              <a:t>-</a:t>
            </a:r>
            <a:r>
              <a:rPr lang="zh-CN" altLang="en-US" sz="2800" b="1" dirty="0">
                <a:solidFill>
                  <a:srgbClr val="000000"/>
                </a:solidFill>
                <a:latin typeface="Times New Roman" pitchFamily="18" charset="0"/>
                <a:ea typeface="楷体_GB2312" pitchFamily="49" charset="-122"/>
              </a:rPr>
              <a:t>衬耗尽区相互靠近而连接在一起状况。</a:t>
            </a:r>
          </a:p>
          <a:p>
            <a:pPr defTabSz="914400" fontAlgn="base">
              <a:lnSpc>
                <a:spcPct val="105000"/>
              </a:lnSpc>
              <a:spcBef>
                <a:spcPct val="3500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这一效应能够产生一个穿通区，导致不需要的、通常具有破坏性的漏极电流。</a:t>
            </a:r>
          </a:p>
        </p:txBody>
      </p:sp>
    </p:spTree>
    <p:extLst>
      <p:ext uri="{BB962C8B-B14F-4D97-AF65-F5344CB8AC3E}">
        <p14:creationId xmlns:p14="http://schemas.microsoft.com/office/powerpoint/2010/main" val="29563088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81</a:t>
            </a:fld>
            <a:endParaRPr lang="zh-CN" altLang="en-US"/>
          </a:p>
        </p:txBody>
      </p:sp>
      <p:pic>
        <p:nvPicPr>
          <p:cNvPr id="3" name="Picture 2" descr="w0289-n"/>
          <p:cNvPicPr>
            <a:picLocks noChangeAspect="1" noChangeArrowheads="1"/>
          </p:cNvPicPr>
          <p:nvPr/>
        </p:nvPicPr>
        <p:blipFill>
          <a:blip r:embed="rId2" cstate="print"/>
          <a:srcRect/>
          <a:stretch>
            <a:fillRect/>
          </a:stretch>
        </p:blipFill>
        <p:spPr bwMode="auto">
          <a:xfrm>
            <a:off x="166688" y="188913"/>
            <a:ext cx="5484812" cy="6335712"/>
          </a:xfrm>
          <a:prstGeom prst="rect">
            <a:avLst/>
          </a:prstGeom>
          <a:noFill/>
          <a:ln w="9525">
            <a:noFill/>
            <a:miter lim="800000"/>
            <a:headEnd/>
            <a:tailEnd/>
          </a:ln>
        </p:spPr>
      </p:pic>
      <p:sp>
        <p:nvSpPr>
          <p:cNvPr id="4" name="Text Box 3"/>
          <p:cNvSpPr txBox="1">
            <a:spLocks noChangeArrowheads="1"/>
          </p:cNvSpPr>
          <p:nvPr/>
        </p:nvSpPr>
        <p:spPr bwMode="auto">
          <a:xfrm>
            <a:off x="5992813" y="584200"/>
            <a:ext cx="2863850" cy="5354638"/>
          </a:xfrm>
          <a:prstGeom prst="rect">
            <a:avLst/>
          </a:prstGeom>
          <a:noFill/>
          <a:ln w="9525">
            <a:noFill/>
            <a:miter lim="800000"/>
            <a:headEnd/>
            <a:tailEnd/>
          </a:ln>
          <a:effectLst/>
        </p:spPr>
        <p:txBody>
          <a:bodyPr>
            <a:spAutoFit/>
          </a:bodyPr>
          <a:lstStyle/>
          <a:p>
            <a:pPr defTabSz="914400" fontAlgn="base">
              <a:lnSpc>
                <a:spcPct val="95000"/>
              </a:lnSpc>
              <a:spcBef>
                <a:spcPct val="30000"/>
              </a:spcBef>
              <a:spcAft>
                <a:spcPct val="0"/>
              </a:spcAft>
              <a:buClr>
                <a:srgbClr val="808080"/>
              </a:buClr>
            </a:pPr>
            <a:r>
              <a:rPr lang="zh-CN" altLang="en-US" sz="2800" b="1">
                <a:solidFill>
                  <a:srgbClr val="000000"/>
                </a:solidFill>
                <a:latin typeface="Times New Roman" pitchFamily="18" charset="0"/>
                <a:ea typeface="楷体_GB2312" pitchFamily="49" charset="-122"/>
              </a:rPr>
              <a:t>左图：</a:t>
            </a:r>
          </a:p>
          <a:p>
            <a:pPr defTabSz="914400" fontAlgn="base">
              <a:lnSpc>
                <a:spcPct val="95000"/>
              </a:lnSpc>
              <a:spcBef>
                <a:spcPct val="30000"/>
              </a:spcBef>
              <a:spcAft>
                <a:spcPct val="0"/>
              </a:spcAft>
              <a:buClr>
                <a:srgbClr val="808080"/>
              </a:buClr>
              <a:buFontTx/>
              <a:buChar char="•"/>
            </a:pPr>
            <a:r>
              <a:rPr lang="zh-CN" altLang="en-US" sz="2800" b="1" i="1">
                <a:solidFill>
                  <a:srgbClr val="000000"/>
                </a:solidFill>
                <a:latin typeface="Times New Roman" pitchFamily="18" charset="0"/>
                <a:ea typeface="楷体_GB2312" pitchFamily="49" charset="-122"/>
              </a:rPr>
              <a:t> </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G</a:t>
            </a:r>
            <a:r>
              <a:rPr lang="en-US" altLang="zh-CN" sz="2800" b="1" i="1">
                <a:solidFill>
                  <a:srgbClr val="000000"/>
                </a:solidFill>
                <a:latin typeface="Times New Roman" pitchFamily="18" charset="0"/>
                <a:ea typeface="楷体_GB2312" pitchFamily="49" charset="-122"/>
              </a:rPr>
              <a:t>&gt;V</a:t>
            </a:r>
            <a:r>
              <a:rPr lang="en-US" altLang="zh-CN" sz="2800" b="1" i="1" baseline="-25000">
                <a:solidFill>
                  <a:srgbClr val="000000"/>
                </a:solidFill>
                <a:latin typeface="Times New Roman" pitchFamily="18" charset="0"/>
                <a:ea typeface="楷体_GB2312" pitchFamily="49" charset="-122"/>
              </a:rPr>
              <a:t>T</a:t>
            </a:r>
            <a:r>
              <a:rPr lang="zh-CN" altLang="en-US" sz="2800" b="1">
                <a:solidFill>
                  <a:srgbClr val="000000"/>
                </a:solidFill>
                <a:latin typeface="Times New Roman" pitchFamily="18" charset="0"/>
                <a:ea typeface="楷体_GB2312" pitchFamily="49" charset="-122"/>
              </a:rPr>
              <a:t>并保持不变，</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D</a:t>
            </a:r>
            <a:r>
              <a:rPr lang="zh-CN" altLang="en-US" sz="2800" b="1">
                <a:solidFill>
                  <a:srgbClr val="000000"/>
                </a:solidFill>
                <a:latin typeface="Times New Roman" pitchFamily="18" charset="0"/>
                <a:ea typeface="楷体_GB2312" pitchFamily="49" charset="-122"/>
              </a:rPr>
              <a:t>从图</a:t>
            </a:r>
            <a:r>
              <a:rPr lang="en-US" altLang="zh-CN"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rPr>
              <a:t>a</a:t>
            </a:r>
            <a:r>
              <a:rPr lang="en-US" altLang="zh-CN" sz="2800" b="1">
                <a:solidFill>
                  <a:srgbClr val="000000"/>
                </a:solidFill>
                <a:latin typeface="Times New Roman" pitchFamily="18" charset="0"/>
                <a:ea typeface="楷体_GB2312" pitchFamily="49" charset="-122"/>
              </a:rPr>
              <a:t>)</a:t>
            </a:r>
            <a:r>
              <a:rPr lang="zh-CN" altLang="en-US" sz="2800" b="1">
                <a:solidFill>
                  <a:srgbClr val="000000"/>
                </a:solidFill>
                <a:latin typeface="Times New Roman" pitchFamily="18" charset="0"/>
                <a:ea typeface="楷体_GB2312" pitchFamily="49" charset="-122"/>
              </a:rPr>
              <a:t>到图</a:t>
            </a:r>
            <a:r>
              <a:rPr lang="en-US" altLang="zh-CN"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rPr>
              <a:t>c</a:t>
            </a:r>
            <a:r>
              <a:rPr lang="en-US" altLang="zh-CN" sz="2800" b="1">
                <a:solidFill>
                  <a:srgbClr val="000000"/>
                </a:solidFill>
                <a:latin typeface="Times New Roman" pitchFamily="18" charset="0"/>
                <a:ea typeface="楷体_GB2312" pitchFamily="49" charset="-122"/>
              </a:rPr>
              <a:t>)</a:t>
            </a:r>
            <a:r>
              <a:rPr lang="zh-CN" altLang="en-US" sz="2800" b="1">
                <a:solidFill>
                  <a:srgbClr val="000000"/>
                </a:solidFill>
                <a:latin typeface="Times New Roman" pitchFamily="18" charset="0"/>
                <a:ea typeface="楷体_GB2312" pitchFamily="49" charset="-122"/>
              </a:rPr>
              <a:t>不断增大。</a:t>
            </a:r>
          </a:p>
          <a:p>
            <a:pPr defTabSz="914400" fontAlgn="base">
              <a:lnSpc>
                <a:spcPct val="95000"/>
              </a:lnSpc>
              <a:spcBef>
                <a:spcPct val="30000"/>
              </a:spcBef>
              <a:spcAft>
                <a:spcPct val="0"/>
              </a:spcAft>
              <a:buClr>
                <a:srgbClr val="808080"/>
              </a:buClr>
              <a:buFontTx/>
              <a:buChar char="•"/>
            </a:pPr>
            <a:r>
              <a:rPr lang="zh-CN" altLang="en-US" sz="2800" b="1">
                <a:solidFill>
                  <a:srgbClr val="000000"/>
                </a:solidFill>
                <a:latin typeface="Times New Roman" pitchFamily="18" charset="0"/>
                <a:ea typeface="楷体_GB2312" pitchFamily="49" charset="-122"/>
              </a:rPr>
              <a:t> 阴影表示空间电荷区，点线表示等位线。</a:t>
            </a:r>
          </a:p>
          <a:p>
            <a:pPr defTabSz="914400" fontAlgn="base">
              <a:lnSpc>
                <a:spcPct val="95000"/>
              </a:lnSpc>
              <a:spcBef>
                <a:spcPct val="30000"/>
              </a:spcBef>
              <a:spcAft>
                <a:spcPct val="0"/>
              </a:spcAft>
              <a:buClr>
                <a:srgbClr val="808080"/>
              </a:buClr>
              <a:buFontTx/>
              <a:buChar char="•"/>
            </a:pPr>
            <a:r>
              <a:rPr lang="zh-CN" altLang="en-US" sz="2800" b="1">
                <a:solidFill>
                  <a:srgbClr val="000000"/>
                </a:solidFill>
                <a:latin typeface="Times New Roman" pitchFamily="18" charset="0"/>
                <a:ea typeface="楷体_GB2312" pitchFamily="49" charset="-122"/>
              </a:rPr>
              <a:t> 图</a:t>
            </a:r>
            <a:r>
              <a:rPr lang="en-US" altLang="zh-CN"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rPr>
              <a:t>c</a:t>
            </a:r>
            <a:r>
              <a:rPr lang="en-US" altLang="zh-CN" sz="2800" b="1">
                <a:solidFill>
                  <a:srgbClr val="000000"/>
                </a:solidFill>
                <a:latin typeface="Times New Roman" pitchFamily="18" charset="0"/>
                <a:ea typeface="楷体_GB2312" pitchFamily="49" charset="-122"/>
              </a:rPr>
              <a:t>)</a:t>
            </a:r>
            <a:r>
              <a:rPr lang="zh-CN" altLang="en-US" sz="2800" b="1">
                <a:solidFill>
                  <a:srgbClr val="000000"/>
                </a:solidFill>
                <a:latin typeface="Times New Roman" pitchFamily="18" charset="0"/>
                <a:ea typeface="楷体_GB2312" pitchFamily="49" charset="-122"/>
              </a:rPr>
              <a:t>发生了次表面穿通，实线箭头表示次表面穿通产生的漏极电流通路。 </a:t>
            </a:r>
          </a:p>
        </p:txBody>
      </p:sp>
    </p:spTree>
    <p:extLst>
      <p:ext uri="{BB962C8B-B14F-4D97-AF65-F5344CB8AC3E}">
        <p14:creationId xmlns:p14="http://schemas.microsoft.com/office/powerpoint/2010/main" val="9852574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82</a:t>
            </a:fld>
            <a:endParaRPr lang="zh-CN" altLang="en-US"/>
          </a:p>
        </p:txBody>
      </p:sp>
      <p:sp>
        <p:nvSpPr>
          <p:cNvPr id="3" name="Rectangle 2"/>
          <p:cNvSpPr>
            <a:spLocks noChangeArrowheads="1"/>
          </p:cNvSpPr>
          <p:nvPr/>
        </p:nvSpPr>
        <p:spPr bwMode="auto">
          <a:xfrm>
            <a:off x="1295400" y="5229225"/>
            <a:ext cx="6624638" cy="885825"/>
          </a:xfrm>
          <a:prstGeom prst="rect">
            <a:avLst/>
          </a:prstGeom>
          <a:noFill/>
          <a:ln w="9525">
            <a:noFill/>
            <a:miter lim="800000"/>
            <a:headEnd/>
            <a:tailEnd/>
          </a:ln>
          <a:effectLst/>
        </p:spPr>
        <p:txBody>
          <a:bodyPr>
            <a:spAutoFit/>
          </a:bodyPr>
          <a:lstStyle/>
          <a:p>
            <a:pPr marL="342900" indent="-342900" defTabSz="914400" fontAlgn="base">
              <a:spcBef>
                <a:spcPct val="20000"/>
              </a:spcBef>
              <a:spcAft>
                <a:spcPct val="0"/>
              </a:spcAft>
              <a:buClr>
                <a:srgbClr val="000000"/>
              </a:buClr>
              <a:buSzPct val="60000"/>
              <a:buFont typeface="Wingdings" pitchFamily="2" charset="2"/>
              <a:buNone/>
            </a:pPr>
            <a:r>
              <a:rPr kumimoji="1" lang="en-US" altLang="zh-CN" sz="2600" b="1">
                <a:solidFill>
                  <a:srgbClr val="000000"/>
                </a:solidFill>
                <a:latin typeface="Times New Roman" pitchFamily="18" charset="0"/>
                <a:ea typeface="楷体_GB2312" pitchFamily="49" charset="-122"/>
              </a:rPr>
              <a:t>	</a:t>
            </a:r>
            <a:r>
              <a:rPr kumimoji="1" lang="zh-CN" altLang="en-US" sz="2600" b="1">
                <a:solidFill>
                  <a:srgbClr val="000000"/>
                </a:solidFill>
                <a:latin typeface="Times New Roman" pitchFamily="18" charset="0"/>
                <a:ea typeface="楷体_GB2312" pitchFamily="49" charset="-122"/>
              </a:rPr>
              <a:t>出现次表面穿通的</a:t>
            </a:r>
            <a:r>
              <a:rPr kumimoji="1" lang="en-US" altLang="zh-CN" sz="2600" b="1">
                <a:solidFill>
                  <a:srgbClr val="000000"/>
                </a:solidFill>
                <a:latin typeface="Times New Roman" pitchFamily="18" charset="0"/>
                <a:ea typeface="楷体_GB2312" pitchFamily="49" charset="-122"/>
              </a:rPr>
              <a:t>MOSFET</a:t>
            </a:r>
            <a:r>
              <a:rPr kumimoji="1" lang="zh-CN" altLang="en-US" sz="2600" b="1">
                <a:solidFill>
                  <a:srgbClr val="000000"/>
                </a:solidFill>
                <a:latin typeface="Times New Roman" pitchFamily="18" charset="0"/>
                <a:ea typeface="楷体_GB2312" pitchFamily="49" charset="-122"/>
              </a:rPr>
              <a:t>的</a:t>
            </a:r>
            <a:r>
              <a:rPr kumimoji="1" lang="en-US" altLang="zh-CN" sz="2600" b="1" i="1">
                <a:solidFill>
                  <a:srgbClr val="000000"/>
                </a:solidFill>
                <a:latin typeface="Times New Roman" pitchFamily="18" charset="0"/>
                <a:ea typeface="楷体_GB2312" pitchFamily="49" charset="-122"/>
              </a:rPr>
              <a:t>I</a:t>
            </a:r>
            <a:r>
              <a:rPr kumimoji="1" lang="en-US" altLang="zh-CN" sz="2600" b="1" i="1" baseline="-25000">
                <a:solidFill>
                  <a:srgbClr val="000000"/>
                </a:solidFill>
                <a:latin typeface="Times New Roman" pitchFamily="18" charset="0"/>
                <a:ea typeface="楷体_GB2312" pitchFamily="49" charset="-122"/>
              </a:rPr>
              <a:t>D</a:t>
            </a:r>
            <a:r>
              <a:rPr kumimoji="1" lang="en-US" altLang="zh-CN" sz="2600" b="1">
                <a:solidFill>
                  <a:srgbClr val="000000"/>
                </a:solidFill>
                <a:latin typeface="Times New Roman" pitchFamily="18" charset="0"/>
                <a:ea typeface="楷体_GB2312" pitchFamily="49" charset="-122"/>
              </a:rPr>
              <a:t>~</a:t>
            </a:r>
            <a:r>
              <a:rPr kumimoji="1" lang="en-US" altLang="zh-CN" sz="2600" b="1" i="1">
                <a:solidFill>
                  <a:srgbClr val="000000"/>
                </a:solidFill>
                <a:latin typeface="Times New Roman" pitchFamily="18" charset="0"/>
                <a:ea typeface="楷体_GB2312" pitchFamily="49" charset="-122"/>
              </a:rPr>
              <a:t>V</a:t>
            </a:r>
            <a:r>
              <a:rPr kumimoji="1" lang="en-US" altLang="zh-CN" sz="2600" b="1" i="1" baseline="-25000">
                <a:solidFill>
                  <a:srgbClr val="000000"/>
                </a:solidFill>
                <a:latin typeface="Times New Roman" pitchFamily="18" charset="0"/>
                <a:ea typeface="楷体_GB2312" pitchFamily="49" charset="-122"/>
              </a:rPr>
              <a:t>D</a:t>
            </a:r>
            <a:r>
              <a:rPr kumimoji="1" lang="zh-CN" altLang="en-US" sz="2600" b="1">
                <a:solidFill>
                  <a:srgbClr val="000000"/>
                </a:solidFill>
                <a:latin typeface="Times New Roman" pitchFamily="18" charset="0"/>
                <a:ea typeface="楷体_GB2312" pitchFamily="49" charset="-122"/>
              </a:rPr>
              <a:t>曲线和亚阈值区特性曲线</a:t>
            </a:r>
          </a:p>
        </p:txBody>
      </p:sp>
      <p:pic>
        <p:nvPicPr>
          <p:cNvPr id="4" name="Picture 3" descr="w0290-n"/>
          <p:cNvPicPr>
            <a:picLocks noChangeAspect="1" noChangeArrowheads="1"/>
          </p:cNvPicPr>
          <p:nvPr/>
        </p:nvPicPr>
        <p:blipFill>
          <a:blip r:embed="rId2" cstate="print"/>
          <a:srcRect/>
          <a:stretch>
            <a:fillRect/>
          </a:stretch>
        </p:blipFill>
        <p:spPr bwMode="auto">
          <a:xfrm>
            <a:off x="233363" y="700088"/>
            <a:ext cx="8659812" cy="4168775"/>
          </a:xfrm>
          <a:prstGeom prst="rect">
            <a:avLst/>
          </a:prstGeom>
          <a:noFill/>
          <a:ln w="9525">
            <a:noFill/>
            <a:miter lim="800000"/>
            <a:headEnd/>
            <a:tailEnd/>
          </a:ln>
        </p:spPr>
      </p:pic>
    </p:spTree>
    <p:extLst>
      <p:ext uri="{BB962C8B-B14F-4D97-AF65-F5344CB8AC3E}">
        <p14:creationId xmlns:p14="http://schemas.microsoft.com/office/powerpoint/2010/main" val="998499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83</a:t>
            </a:fld>
            <a:endParaRPr lang="zh-CN" altLang="en-US"/>
          </a:p>
        </p:txBody>
      </p:sp>
      <p:sp>
        <p:nvSpPr>
          <p:cNvPr id="3" name="Rectangle 2"/>
          <p:cNvSpPr txBox="1">
            <a:spLocks noChangeArrowheads="1"/>
          </p:cNvSpPr>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kern="0" dirty="0" smtClean="0">
                <a:solidFill>
                  <a:srgbClr val="FF3300"/>
                </a:solidFill>
                <a:latin typeface="Times New Roman" pitchFamily="18" charset="0"/>
                <a:ea typeface="宋体" pitchFamily="2" charset="-122"/>
                <a:cs typeface="+mn-cs"/>
              </a:rPr>
              <a:t>2. </a:t>
            </a:r>
            <a:r>
              <a:rPr kumimoji="1" lang="zh-CN" altLang="en-US" kern="0" dirty="0" smtClean="0">
                <a:solidFill>
                  <a:srgbClr val="FF3300"/>
                </a:solidFill>
                <a:latin typeface="Times New Roman" pitchFamily="18" charset="0"/>
                <a:ea typeface="宋体" pitchFamily="2" charset="-122"/>
                <a:cs typeface="+mn-cs"/>
              </a:rPr>
              <a:t>迁移率</a:t>
            </a:r>
            <a:r>
              <a:rPr kumimoji="1" lang="zh-CN" altLang="en-US" kern="0" dirty="0">
                <a:solidFill>
                  <a:srgbClr val="FF3300"/>
                </a:solidFill>
                <a:latin typeface="Times New Roman" pitchFamily="18" charset="0"/>
                <a:ea typeface="宋体" pitchFamily="2" charset="-122"/>
                <a:cs typeface="+mn-cs"/>
              </a:rPr>
              <a:t>下降</a:t>
            </a:r>
          </a:p>
        </p:txBody>
      </p:sp>
      <p:sp>
        <p:nvSpPr>
          <p:cNvPr id="4" name="Text Box 3"/>
          <p:cNvSpPr txBox="1">
            <a:spLocks noChangeArrowheads="1"/>
          </p:cNvSpPr>
          <p:nvPr/>
        </p:nvSpPr>
        <p:spPr bwMode="auto">
          <a:xfrm>
            <a:off x="392113" y="800100"/>
            <a:ext cx="8521700" cy="1373188"/>
          </a:xfrm>
          <a:prstGeom prst="rect">
            <a:avLst/>
          </a:prstGeom>
          <a:noFill/>
          <a:ln w="9525">
            <a:noFill/>
            <a:miter lim="800000"/>
            <a:headEnd/>
            <a:tailEnd/>
          </a:ln>
          <a:effectLst/>
        </p:spPr>
        <p:txBody>
          <a:bodyPr>
            <a:spAutoFit/>
          </a:bodyPr>
          <a:lstStyle/>
          <a:p>
            <a:pPr defTabSz="914400" fontAlgn="base">
              <a:spcBef>
                <a:spcPct val="15000"/>
              </a:spcBef>
              <a:spcAft>
                <a:spcPct val="0"/>
              </a:spcAft>
            </a:pPr>
            <a:r>
              <a:rPr lang="zh-CN" altLang="en-US" sz="2800" b="1">
                <a:solidFill>
                  <a:srgbClr val="000000"/>
                </a:solidFill>
                <a:latin typeface="Times New Roman" pitchFamily="18" charset="0"/>
                <a:ea typeface="楷体_GB2312" pitchFamily="49" charset="-122"/>
              </a:rPr>
              <a:t>在前面的分析中，</a:t>
            </a:r>
            <a:r>
              <a:rPr lang="zh-CN" altLang="en-US" sz="2800" b="1">
                <a:solidFill>
                  <a:srgbClr val="0000FF"/>
                </a:solidFill>
                <a:latin typeface="Times New Roman" pitchFamily="18" charset="0"/>
                <a:ea typeface="楷体_GB2312" pitchFamily="49" charset="-122"/>
              </a:rPr>
              <a:t>假设载流子迁移率是常数</a:t>
            </a:r>
            <a:r>
              <a:rPr lang="zh-CN" altLang="en-US" sz="2800" b="1">
                <a:solidFill>
                  <a:srgbClr val="000000"/>
                </a:solidFill>
                <a:latin typeface="Times New Roman" pitchFamily="18" charset="0"/>
                <a:ea typeface="楷体_GB2312" pitchFamily="49" charset="-122"/>
              </a:rPr>
              <a:t>。但实际上，</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GS</a:t>
            </a:r>
            <a:r>
              <a:rPr lang="zh-CN" altLang="en-US" sz="2800" b="1">
                <a:solidFill>
                  <a:srgbClr val="000000"/>
                </a:solidFill>
                <a:latin typeface="Times New Roman" pitchFamily="18" charset="0"/>
                <a:ea typeface="楷体_GB2312" pitchFamily="49" charset="-122"/>
              </a:rPr>
              <a:t>和</a:t>
            </a:r>
            <a:r>
              <a:rPr lang="en-US" altLang="zh-CN" sz="2800" b="1" i="1">
                <a:solidFill>
                  <a:srgbClr val="000000"/>
                </a:solidFill>
                <a:latin typeface="Times New Roman" pitchFamily="18" charset="0"/>
                <a:ea typeface="楷体_GB2312" pitchFamily="49" charset="-122"/>
              </a:rPr>
              <a:t>V</a:t>
            </a:r>
            <a:r>
              <a:rPr lang="en-US" altLang="zh-CN" sz="2800" b="1" i="1" baseline="-25000">
                <a:solidFill>
                  <a:srgbClr val="000000"/>
                </a:solidFill>
                <a:latin typeface="Times New Roman" pitchFamily="18" charset="0"/>
                <a:ea typeface="楷体_GB2312" pitchFamily="49" charset="-122"/>
              </a:rPr>
              <a:t>DS</a:t>
            </a:r>
            <a:r>
              <a:rPr lang="zh-CN" altLang="en-US" sz="2800" b="1">
                <a:solidFill>
                  <a:srgbClr val="000000"/>
                </a:solidFill>
                <a:latin typeface="Times New Roman" pitchFamily="18" charset="0"/>
                <a:ea typeface="楷体_GB2312" pitchFamily="49" charset="-122"/>
              </a:rPr>
              <a:t>分别在沟道中产生的纵向电场和横向电场 ，都会对载流子的迁移率产生影响。</a:t>
            </a:r>
          </a:p>
        </p:txBody>
      </p:sp>
      <p:pic>
        <p:nvPicPr>
          <p:cNvPr id="5" name="Picture 5"/>
          <p:cNvPicPr>
            <a:picLocks noChangeAspect="1" noChangeArrowheads="1"/>
          </p:cNvPicPr>
          <p:nvPr/>
        </p:nvPicPr>
        <p:blipFill>
          <a:blip r:embed="rId2" cstate="print"/>
          <a:srcRect/>
          <a:stretch>
            <a:fillRect/>
          </a:stretch>
        </p:blipFill>
        <p:spPr bwMode="auto">
          <a:xfrm>
            <a:off x="1619250" y="2349500"/>
            <a:ext cx="6985000" cy="4038600"/>
          </a:xfrm>
          <a:prstGeom prst="rect">
            <a:avLst/>
          </a:prstGeom>
          <a:noFill/>
        </p:spPr>
      </p:pic>
      <p:sp>
        <p:nvSpPr>
          <p:cNvPr id="6" name="Text Box 11"/>
          <p:cNvSpPr txBox="1">
            <a:spLocks noChangeArrowheads="1"/>
          </p:cNvSpPr>
          <p:nvPr/>
        </p:nvSpPr>
        <p:spPr bwMode="auto">
          <a:xfrm>
            <a:off x="323850" y="4149725"/>
            <a:ext cx="3095625" cy="1800225"/>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表面散射、受主杂质散射以及热声子散射的影响，将导致迁移率下降</a:t>
            </a:r>
          </a:p>
        </p:txBody>
      </p:sp>
    </p:spTree>
    <p:extLst>
      <p:ext uri="{BB962C8B-B14F-4D97-AF65-F5344CB8AC3E}">
        <p14:creationId xmlns:p14="http://schemas.microsoft.com/office/powerpoint/2010/main" val="1962584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84</a:t>
            </a:fld>
            <a:endParaRPr lang="zh-CN" altLang="en-US"/>
          </a:p>
        </p:txBody>
      </p:sp>
      <p:sp>
        <p:nvSpPr>
          <p:cNvPr id="3" name="Text Box 2"/>
          <p:cNvSpPr txBox="1">
            <a:spLocks noChangeArrowheads="1"/>
          </p:cNvSpPr>
          <p:nvPr/>
        </p:nvSpPr>
        <p:spPr bwMode="auto">
          <a:xfrm>
            <a:off x="5253486" y="2422305"/>
            <a:ext cx="3563938" cy="1373188"/>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实验证明，该迁移率模型对电子和空穴都是成立的。 </a:t>
            </a:r>
          </a:p>
        </p:txBody>
      </p:sp>
      <p:pic>
        <p:nvPicPr>
          <p:cNvPr id="4" name="Picture 3" descr="w0292-n"/>
          <p:cNvPicPr>
            <a:picLocks noChangeAspect="1" noChangeArrowheads="1"/>
          </p:cNvPicPr>
          <p:nvPr/>
        </p:nvPicPr>
        <p:blipFill>
          <a:blip r:embed="rId3" cstate="print"/>
          <a:srcRect/>
          <a:stretch>
            <a:fillRect/>
          </a:stretch>
        </p:blipFill>
        <p:spPr bwMode="auto">
          <a:xfrm>
            <a:off x="395288" y="333375"/>
            <a:ext cx="4681537" cy="3521075"/>
          </a:xfrm>
          <a:prstGeom prst="rect">
            <a:avLst/>
          </a:prstGeom>
          <a:noFill/>
          <a:ln w="9525">
            <a:noFill/>
            <a:miter lim="800000"/>
            <a:headEnd/>
            <a:tailEnd/>
          </a:ln>
        </p:spPr>
      </p:pic>
      <p:sp>
        <p:nvSpPr>
          <p:cNvPr id="5" name="Text Box 4"/>
          <p:cNvSpPr txBox="1">
            <a:spLocks noChangeArrowheads="1"/>
          </p:cNvSpPr>
          <p:nvPr/>
        </p:nvSpPr>
        <p:spPr bwMode="auto">
          <a:xfrm>
            <a:off x="576263" y="3968750"/>
            <a:ext cx="8158162" cy="2717800"/>
          </a:xfrm>
          <a:prstGeom prst="rect">
            <a:avLst/>
          </a:prstGeom>
          <a:noFill/>
          <a:ln w="9525">
            <a:noFill/>
            <a:miter lim="800000"/>
            <a:headEnd/>
            <a:tailEnd/>
          </a:ln>
          <a:effectLst/>
        </p:spPr>
        <p:txBody>
          <a:bodyPr>
            <a:spAutoFit/>
          </a:bodyPr>
          <a:lstStyle/>
          <a:p>
            <a:pPr defTabSz="914400" fontAlgn="base">
              <a:spcBef>
                <a:spcPct val="15000"/>
              </a:spcBef>
              <a:spcAft>
                <a:spcPct val="0"/>
              </a:spcAft>
              <a:buClr>
                <a:srgbClr val="808080"/>
              </a:buClr>
              <a:buFontTx/>
              <a:buChar char="•"/>
            </a:pPr>
            <a:r>
              <a:rPr lang="en-US" altLang="zh-CN" sz="2800" b="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上式在较大的范围内都是成立的，在这个范围内载流子主要受声子散射的限制。但是当其它</a:t>
            </a:r>
            <a:r>
              <a:rPr lang="zh-CN" altLang="en-US" sz="2800" b="1" dirty="0" smtClean="0">
                <a:solidFill>
                  <a:srgbClr val="000000"/>
                </a:solidFill>
                <a:latin typeface="Times New Roman" pitchFamily="18" charset="0"/>
                <a:ea typeface="楷体_GB2312" pitchFamily="49" charset="-122"/>
              </a:rPr>
              <a:t>散射</a:t>
            </a:r>
            <a:r>
              <a:rPr lang="zh-CN" altLang="en-US" sz="2800" b="1" dirty="0">
                <a:solidFill>
                  <a:srgbClr val="000000"/>
                </a:solidFill>
                <a:latin typeface="Times New Roman" pitchFamily="18" charset="0"/>
                <a:ea typeface="楷体_GB2312" pitchFamily="49" charset="-122"/>
              </a:rPr>
              <a:t>机制</a:t>
            </a:r>
            <a:r>
              <a:rPr lang="zh-CN" altLang="en-US" sz="2800" b="1" dirty="0" smtClean="0">
                <a:solidFill>
                  <a:srgbClr val="000000"/>
                </a:solidFill>
                <a:latin typeface="Times New Roman" pitchFamily="18" charset="0"/>
                <a:ea typeface="楷体_GB2312" pitchFamily="49" charset="-122"/>
              </a:rPr>
              <a:t>占</a:t>
            </a:r>
            <a:r>
              <a:rPr lang="zh-CN" altLang="en-US" sz="2800" b="1" dirty="0">
                <a:solidFill>
                  <a:srgbClr val="000000"/>
                </a:solidFill>
                <a:latin typeface="Times New Roman" pitchFamily="18" charset="0"/>
                <a:ea typeface="楷体_GB2312" pitchFamily="49" charset="-122"/>
              </a:rPr>
              <a:t>支配地位，比如在低温</a:t>
            </a:r>
            <a:r>
              <a:rPr lang="en-US" altLang="zh-CN" sz="2800" b="1" dirty="0">
                <a:solidFill>
                  <a:srgbClr val="000000"/>
                </a:solidFill>
                <a:latin typeface="Times New Roman" pitchFamily="18" charset="0"/>
                <a:ea typeface="楷体_GB2312" pitchFamily="49" charset="-122"/>
              </a:rPr>
              <a:t>(77K)</a:t>
            </a:r>
            <a:r>
              <a:rPr lang="zh-CN" altLang="en-US" sz="2800" b="1" dirty="0">
                <a:solidFill>
                  <a:srgbClr val="000000"/>
                </a:solidFill>
                <a:latin typeface="Times New Roman" pitchFamily="18" charset="0"/>
                <a:ea typeface="楷体_GB2312" pitchFamily="49" charset="-122"/>
              </a:rPr>
              <a:t>下库仑散射占支配地位时，这个等式不再成立。</a:t>
            </a:r>
          </a:p>
          <a:p>
            <a:pPr defTabSz="914400" fontAlgn="base">
              <a:spcBef>
                <a:spcPct val="1500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尽管迁移率下降效应同样影响长沟器件，但是在短沟器件中更明显。 </a:t>
            </a:r>
          </a:p>
        </p:txBody>
      </p:sp>
      <p:graphicFrame>
        <p:nvGraphicFramePr>
          <p:cNvPr id="6" name="Object 6"/>
          <p:cNvGraphicFramePr>
            <a:graphicFrameLocks noChangeAspect="1"/>
          </p:cNvGraphicFramePr>
          <p:nvPr>
            <p:extLst>
              <p:ext uri="{D42A27DB-BD31-4B8C-83A1-F6EECF244321}">
                <p14:modId xmlns:p14="http://schemas.microsoft.com/office/powerpoint/2010/main" val="511419887"/>
              </p:ext>
            </p:extLst>
          </p:nvPr>
        </p:nvGraphicFramePr>
        <p:xfrm>
          <a:off x="5583088" y="1175861"/>
          <a:ext cx="2597150" cy="1031875"/>
        </p:xfrm>
        <a:graphic>
          <a:graphicData uri="http://schemas.openxmlformats.org/presentationml/2006/ole">
            <mc:AlternateContent xmlns:mc="http://schemas.openxmlformats.org/markup-compatibility/2006">
              <mc:Choice xmlns:v="urn:schemas-microsoft-com:vml" Requires="v">
                <p:oleObj spid="_x0000_s223274" name="Equation" r:id="rId4" imgW="1180800" imgH="469800" progId="Equation.DSMT4">
                  <p:embed/>
                </p:oleObj>
              </mc:Choice>
              <mc:Fallback>
                <p:oleObj name="Equation" r:id="rId4" imgW="1180800" imgH="469800" progId="Equation.DSMT4">
                  <p:embed/>
                  <p:pic>
                    <p:nvPicPr>
                      <p:cNvPr id="15053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3088" y="1175861"/>
                        <a:ext cx="2597150"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p:cNvSpPr/>
          <p:nvPr/>
        </p:nvSpPr>
        <p:spPr>
          <a:xfrm>
            <a:off x="5201729" y="177454"/>
            <a:ext cx="3911831" cy="954107"/>
          </a:xfrm>
          <a:prstGeom prst="rect">
            <a:avLst/>
          </a:prstGeom>
        </p:spPr>
        <p:txBody>
          <a:bodyPr wrap="square">
            <a:spAutoFit/>
          </a:bodyPr>
          <a:lstStyle/>
          <a:p>
            <a:pPr lvl="0" defTabSz="914400" fontAlgn="base">
              <a:spcBef>
                <a:spcPct val="20000"/>
              </a:spcBef>
              <a:spcAft>
                <a:spcPct val="0"/>
              </a:spcAft>
            </a:pPr>
            <a:r>
              <a:rPr lang="zh-CN" altLang="en-US" sz="2800" b="1" dirty="0">
                <a:solidFill>
                  <a:srgbClr val="000000"/>
                </a:solidFill>
                <a:latin typeface="Times New Roman" pitchFamily="18" charset="0"/>
                <a:ea typeface="楷体_GB2312" pitchFamily="49" charset="-122"/>
              </a:rPr>
              <a:t>反映</a:t>
            </a:r>
            <a:r>
              <a:rPr lang="en-US" altLang="zh-CN" sz="2800" b="1" dirty="0">
                <a:solidFill>
                  <a:srgbClr val="000000"/>
                </a:solidFill>
                <a:latin typeface="Times New Roman" pitchFamily="18" charset="0"/>
                <a:ea typeface="楷体_GB2312" pitchFamily="49" charset="-122"/>
              </a:rPr>
              <a:t>MOSFET</a:t>
            </a:r>
            <a:r>
              <a:rPr lang="zh-CN" altLang="en-US" sz="2800" b="1" dirty="0">
                <a:solidFill>
                  <a:srgbClr val="000000"/>
                </a:solidFill>
                <a:latin typeface="Times New Roman" pitchFamily="18" charset="0"/>
                <a:ea typeface="楷体_GB2312" pitchFamily="49" charset="-122"/>
              </a:rPr>
              <a:t>的迁移率下降的经验公式：</a:t>
            </a:r>
            <a:endParaRPr lang="zh-CN" altLang="en-US" sz="2800" b="1" dirty="0">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22402992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85</a:t>
            </a:fld>
            <a:endParaRPr lang="zh-CN" altLang="en-US"/>
          </a:p>
        </p:txBody>
      </p:sp>
      <p:sp>
        <p:nvSpPr>
          <p:cNvPr id="3" name="Rectangle 2"/>
          <p:cNvSpPr txBox="1">
            <a:spLocks noChangeArrowheads="1"/>
          </p:cNvSpPr>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0" cap="none" spc="0" normalizeH="0" baseline="0" noProof="0" smtClean="0">
                <a:ln>
                  <a:noFill/>
                </a:ln>
                <a:solidFill>
                  <a:srgbClr val="000000"/>
                </a:solidFill>
                <a:effectLst/>
                <a:uLnTx/>
                <a:uFillTx/>
                <a:latin typeface="Times New Roman"/>
                <a:ea typeface="楷体_GB2312"/>
                <a:cs typeface="+mj-cs"/>
              </a:rPr>
              <a:t>晶圆片表面方向和漂移方向的影响</a:t>
            </a:r>
            <a:endParaRPr kumimoji="0" lang="zh-CN" altLang="en-US" sz="2800" b="1" i="0" u="none" strike="noStrike" kern="0" cap="none" spc="0" normalizeH="0" baseline="0" noProof="0" dirty="0">
              <a:ln>
                <a:noFill/>
              </a:ln>
              <a:solidFill>
                <a:srgbClr val="000000"/>
              </a:solidFill>
              <a:effectLst/>
              <a:uLnTx/>
              <a:uFillTx/>
              <a:latin typeface="Times New Roman"/>
              <a:ea typeface="楷体_GB2312"/>
              <a:cs typeface="+mj-cs"/>
            </a:endParaRPr>
          </a:p>
        </p:txBody>
      </p:sp>
      <p:sp>
        <p:nvSpPr>
          <p:cNvPr id="4" name="TextBox 3"/>
          <p:cNvSpPr txBox="1"/>
          <p:nvPr/>
        </p:nvSpPr>
        <p:spPr>
          <a:xfrm>
            <a:off x="539552" y="980728"/>
            <a:ext cx="7776864" cy="4124206"/>
          </a:xfrm>
          <a:prstGeom prst="rect">
            <a:avLst/>
          </a:prstGeom>
          <a:noFill/>
        </p:spPr>
        <p:txBody>
          <a:bodyPr wrap="square" rtlCol="0">
            <a:spAutoFit/>
          </a:bodyPr>
          <a:lstStyle/>
          <a:p>
            <a:pPr defTabSz="914400" fontAlgn="base">
              <a:spcBef>
                <a:spcPct val="0"/>
              </a:spcBef>
              <a:spcAft>
                <a:spcPct val="0"/>
              </a:spcAft>
            </a:pPr>
            <a:r>
              <a:rPr lang="zh-CN" altLang="zh-CN" sz="2800" b="1" dirty="0" smtClean="0">
                <a:solidFill>
                  <a:srgbClr val="000000"/>
                </a:solidFill>
                <a:latin typeface="Times New Roman" pitchFamily="18" charset="0"/>
                <a:ea typeface="楷体_GB2312" pitchFamily="49" charset="-122"/>
              </a:rPr>
              <a:t>表面迁移率与表面晶向和漂移方向有关。标准</a:t>
            </a:r>
            <a:r>
              <a:rPr lang="en-US" altLang="zh-CN" sz="2800" b="1" dirty="0" smtClean="0">
                <a:solidFill>
                  <a:srgbClr val="000000"/>
                </a:solidFill>
                <a:latin typeface="Times New Roman" pitchFamily="18" charset="0"/>
                <a:ea typeface="楷体_GB2312" pitchFamily="49" charset="-122"/>
              </a:rPr>
              <a:t>CMOS</a:t>
            </a:r>
            <a:r>
              <a:rPr lang="zh-CN" altLang="zh-CN" sz="2800" b="1" dirty="0" smtClean="0">
                <a:solidFill>
                  <a:srgbClr val="000000"/>
                </a:solidFill>
                <a:latin typeface="Times New Roman" pitchFamily="18" charset="0"/>
                <a:ea typeface="楷体_GB2312" pitchFamily="49" charset="-122"/>
              </a:rPr>
              <a:t>工艺采用</a:t>
            </a:r>
            <a:r>
              <a:rPr lang="en-US" altLang="zh-CN" sz="2800" b="1" dirty="0" smtClean="0">
                <a:solidFill>
                  <a:srgbClr val="000000"/>
                </a:solidFill>
                <a:latin typeface="Times New Roman" pitchFamily="18" charset="0"/>
                <a:ea typeface="楷体_GB2312" pitchFamily="49" charset="-122"/>
              </a:rPr>
              <a:t>(100)</a:t>
            </a:r>
            <a:r>
              <a:rPr lang="zh-CN" altLang="zh-CN" sz="2800" b="1" dirty="0" smtClean="0">
                <a:solidFill>
                  <a:srgbClr val="000000"/>
                </a:solidFill>
                <a:latin typeface="Times New Roman" pitchFamily="18" charset="0"/>
                <a:ea typeface="楷体_GB2312" pitchFamily="49" charset="-122"/>
              </a:rPr>
              <a:t>表面的硅晶圆片，晶体管放置的方向使得电子和空穴沿着晶圆表面的</a:t>
            </a:r>
            <a:r>
              <a:rPr lang="en-US" altLang="zh-CN" sz="2800" b="1" dirty="0" smtClean="0">
                <a:solidFill>
                  <a:srgbClr val="000000"/>
                </a:solidFill>
                <a:latin typeface="Times New Roman" pitchFamily="18" charset="0"/>
                <a:ea typeface="楷体_GB2312" pitchFamily="49" charset="-122"/>
              </a:rPr>
              <a:t>[0 </a:t>
            </a:r>
            <a:r>
              <a:rPr lang="zh-CN" altLang="zh-CN" sz="2800" b="1" dirty="0" smtClean="0">
                <a:solidFill>
                  <a:srgbClr val="000000"/>
                </a:solidFill>
                <a:latin typeface="Times New Roman" pitchFamily="18" charset="0"/>
                <a:ea typeface="楷体_GB2312" pitchFamily="49" charset="-122"/>
              </a:rPr>
              <a:t>±</a:t>
            </a:r>
            <a:r>
              <a:rPr lang="en-US" altLang="zh-CN" sz="2800" b="1" dirty="0" smtClean="0">
                <a:solidFill>
                  <a:srgbClr val="000000"/>
                </a:solidFill>
                <a:latin typeface="Times New Roman" pitchFamily="18" charset="0"/>
                <a:ea typeface="楷体_GB2312" pitchFamily="49" charset="-122"/>
              </a:rPr>
              <a:t>1 </a:t>
            </a:r>
            <a:r>
              <a:rPr lang="zh-CN" altLang="zh-CN" sz="2800" b="1" dirty="0" smtClean="0">
                <a:solidFill>
                  <a:srgbClr val="000000"/>
                </a:solidFill>
                <a:latin typeface="Times New Roman" pitchFamily="18" charset="0"/>
                <a:ea typeface="楷体_GB2312" pitchFamily="49" charset="-122"/>
              </a:rPr>
              <a:t>±</a:t>
            </a:r>
            <a:r>
              <a:rPr lang="en-US" altLang="zh-CN" sz="2800" b="1" dirty="0" smtClean="0">
                <a:solidFill>
                  <a:srgbClr val="000000"/>
                </a:solidFill>
                <a:latin typeface="Times New Roman" pitchFamily="18" charset="0"/>
                <a:ea typeface="楷体_GB2312" pitchFamily="49" charset="-122"/>
              </a:rPr>
              <a:t>1]</a:t>
            </a:r>
            <a:r>
              <a:rPr lang="zh-CN" altLang="zh-CN" sz="2800" b="1" dirty="0" smtClean="0">
                <a:solidFill>
                  <a:srgbClr val="000000"/>
                </a:solidFill>
                <a:latin typeface="Times New Roman" pitchFamily="18" charset="0"/>
                <a:ea typeface="楷体_GB2312" pitchFamily="49" charset="-122"/>
              </a:rPr>
              <a:t>方向流动。这样做的原因之一是这样的组合能得到最高的</a:t>
            </a:r>
            <a:r>
              <a:rPr lang="en-US" altLang="zh-CN" sz="2800" b="1" i="1" dirty="0" smtClean="0">
                <a:solidFill>
                  <a:srgbClr val="000000"/>
                </a:solidFill>
                <a:latin typeface="Times New Roman" pitchFamily="18" charset="0"/>
                <a:ea typeface="楷体_GB2312" pitchFamily="49" charset="-122"/>
                <a:sym typeface="Symbol"/>
              </a:rPr>
              <a:t></a:t>
            </a:r>
            <a:r>
              <a:rPr lang="en-US" altLang="zh-CN" sz="2800" b="1" i="1" baseline="-25000" dirty="0" smtClean="0">
                <a:solidFill>
                  <a:srgbClr val="000000"/>
                </a:solidFill>
                <a:latin typeface="Times New Roman" pitchFamily="18" charset="0"/>
                <a:ea typeface="楷体_GB2312" pitchFamily="49" charset="-122"/>
              </a:rPr>
              <a:t>ns</a:t>
            </a:r>
            <a:r>
              <a:rPr lang="zh-CN" altLang="zh-CN" sz="2800" b="1" dirty="0" smtClean="0">
                <a:solidFill>
                  <a:srgbClr val="000000"/>
                </a:solidFill>
                <a:latin typeface="Times New Roman" pitchFamily="18" charset="0"/>
                <a:ea typeface="楷体_GB2312" pitchFamily="49" charset="-122"/>
              </a:rPr>
              <a:t>，虽然</a:t>
            </a:r>
            <a:r>
              <a:rPr lang="en-US" altLang="zh-CN" sz="2800" b="1" i="1" dirty="0" smtClean="0">
                <a:solidFill>
                  <a:srgbClr val="000000"/>
                </a:solidFill>
                <a:latin typeface="Times New Roman" pitchFamily="18" charset="0"/>
                <a:ea typeface="楷体_GB2312" pitchFamily="49" charset="-122"/>
                <a:sym typeface="Symbol"/>
              </a:rPr>
              <a:t></a:t>
            </a:r>
            <a:r>
              <a:rPr lang="en-US" altLang="zh-CN" sz="2800" b="1" i="1" baseline="-25000" dirty="0" err="1" smtClean="0">
                <a:solidFill>
                  <a:srgbClr val="000000"/>
                </a:solidFill>
                <a:latin typeface="Times New Roman" pitchFamily="18" charset="0"/>
                <a:ea typeface="楷体_GB2312" pitchFamily="49" charset="-122"/>
              </a:rPr>
              <a:t>ps</a:t>
            </a:r>
            <a:r>
              <a:rPr lang="zh-CN" altLang="zh-CN" sz="2800" b="1" dirty="0" smtClean="0">
                <a:solidFill>
                  <a:srgbClr val="000000"/>
                </a:solidFill>
                <a:latin typeface="Times New Roman" pitchFamily="18" charset="0"/>
                <a:ea typeface="楷体_GB2312" pitchFamily="49" charset="-122"/>
              </a:rPr>
              <a:t>并不是最高的。</a:t>
            </a:r>
            <a:endParaRPr lang="en-US" altLang="zh-CN" sz="2800" b="1" dirty="0" smtClean="0">
              <a:solidFill>
                <a:srgbClr val="000000"/>
              </a:solidFill>
              <a:latin typeface="Times New Roman" pitchFamily="18" charset="0"/>
              <a:ea typeface="楷体_GB2312" pitchFamily="49" charset="-122"/>
            </a:endParaRPr>
          </a:p>
          <a:p>
            <a:pPr defTabSz="914400" fontAlgn="base">
              <a:spcBef>
                <a:spcPts val="1200"/>
              </a:spcBef>
              <a:spcAft>
                <a:spcPct val="0"/>
              </a:spcAft>
            </a:pPr>
            <a:r>
              <a:rPr lang="zh-CN" altLang="zh-CN" sz="2800" b="1" dirty="0" smtClean="0">
                <a:solidFill>
                  <a:srgbClr val="000000"/>
                </a:solidFill>
                <a:latin typeface="Times New Roman" pitchFamily="18" charset="0"/>
                <a:ea typeface="楷体_GB2312" pitchFamily="49" charset="-122"/>
              </a:rPr>
              <a:t>晶圆方向和电流方向也决定了</a:t>
            </a:r>
            <a:r>
              <a:rPr lang="en-US" altLang="zh-CN" sz="2800" b="1" i="1" dirty="0" smtClean="0">
                <a:solidFill>
                  <a:srgbClr val="000000"/>
                </a:solidFill>
                <a:latin typeface="Times New Roman" pitchFamily="18" charset="0"/>
                <a:ea typeface="楷体_GB2312" pitchFamily="49" charset="-122"/>
                <a:sym typeface="Symbol"/>
              </a:rPr>
              <a:t></a:t>
            </a:r>
            <a:r>
              <a:rPr lang="en-US" altLang="zh-CN" sz="2800" b="1" i="1" baseline="-25000" dirty="0" smtClean="0">
                <a:solidFill>
                  <a:srgbClr val="000000"/>
                </a:solidFill>
                <a:latin typeface="Times New Roman" pitchFamily="18" charset="0"/>
                <a:ea typeface="楷体_GB2312" pitchFamily="49" charset="-122"/>
              </a:rPr>
              <a:t>ns</a:t>
            </a:r>
            <a:r>
              <a:rPr lang="zh-CN" altLang="zh-CN" sz="2800" b="1" dirty="0" smtClean="0">
                <a:solidFill>
                  <a:srgbClr val="000000"/>
                </a:solidFill>
                <a:latin typeface="Times New Roman" pitchFamily="18" charset="0"/>
                <a:ea typeface="楷体_GB2312" pitchFamily="49" charset="-122"/>
              </a:rPr>
              <a:t>和</a:t>
            </a:r>
            <a:r>
              <a:rPr lang="en-US" altLang="zh-CN" sz="2800" b="1" i="1" dirty="0" smtClean="0">
                <a:solidFill>
                  <a:srgbClr val="000000"/>
                </a:solidFill>
                <a:latin typeface="Times New Roman" pitchFamily="18" charset="0"/>
                <a:ea typeface="楷体_GB2312" pitchFamily="49" charset="-122"/>
                <a:sym typeface="Symbol"/>
              </a:rPr>
              <a:t></a:t>
            </a:r>
            <a:r>
              <a:rPr lang="en-US" altLang="zh-CN" sz="2800" b="1" i="1" baseline="-25000" dirty="0" err="1" smtClean="0">
                <a:solidFill>
                  <a:srgbClr val="000000"/>
                </a:solidFill>
                <a:latin typeface="Times New Roman" pitchFamily="18" charset="0"/>
                <a:ea typeface="楷体_GB2312" pitchFamily="49" charset="-122"/>
              </a:rPr>
              <a:t>ps</a:t>
            </a:r>
            <a:r>
              <a:rPr lang="zh-CN" altLang="zh-CN" sz="2800" b="1" dirty="0" smtClean="0">
                <a:solidFill>
                  <a:srgbClr val="000000"/>
                </a:solidFill>
                <a:latin typeface="Times New Roman" pitchFamily="18" charset="0"/>
                <a:ea typeface="楷体_GB2312" pitchFamily="49" charset="-122"/>
              </a:rPr>
              <a:t>与机械应力的关系。这些方向效应可以通过求解</a:t>
            </a:r>
            <a:r>
              <a:rPr lang="zh-CN" altLang="en-US" sz="2800" b="1" dirty="0" smtClean="0">
                <a:solidFill>
                  <a:srgbClr val="000000"/>
                </a:solidFill>
                <a:latin typeface="Times New Roman" pitchFamily="18" charset="0"/>
                <a:ea typeface="楷体_GB2312" pitchFamily="49" charset="-122"/>
              </a:rPr>
              <a:t>薛定谔</a:t>
            </a:r>
            <a:r>
              <a:rPr lang="zh-CN" altLang="zh-CN" sz="2800" b="1" dirty="0" smtClean="0">
                <a:solidFill>
                  <a:srgbClr val="000000"/>
                </a:solidFill>
                <a:latin typeface="Times New Roman" pitchFamily="18" charset="0"/>
                <a:ea typeface="楷体_GB2312" pitchFamily="49" charset="-122"/>
              </a:rPr>
              <a:t>方程来得到解释。</a:t>
            </a:r>
          </a:p>
          <a:p>
            <a:pPr defTabSz="914400" fontAlgn="base">
              <a:spcBef>
                <a:spcPct val="0"/>
              </a:spcBef>
              <a:spcAft>
                <a:spcPct val="0"/>
              </a:spcAft>
            </a:pPr>
            <a:endParaRPr lang="zh-CN" altLang="en-US" sz="2800" b="1" dirty="0">
              <a:solidFill>
                <a:srgbClr val="000000"/>
              </a:solidFill>
              <a:latin typeface="Times New Roman" pitchFamily="18" charset="0"/>
              <a:ea typeface="楷体_GB2312" pitchFamily="49" charset="-122"/>
            </a:endParaRPr>
          </a:p>
        </p:txBody>
      </p:sp>
    </p:spTree>
    <p:extLst>
      <p:ext uri="{BB962C8B-B14F-4D97-AF65-F5344CB8AC3E}">
        <p14:creationId xmlns:p14="http://schemas.microsoft.com/office/powerpoint/2010/main" val="14376984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86</a:t>
            </a:fld>
            <a:endParaRPr lang="zh-CN" altLang="en-US"/>
          </a:p>
        </p:txBody>
      </p:sp>
      <p:sp>
        <p:nvSpPr>
          <p:cNvPr id="3" name="Rectangle 2"/>
          <p:cNvSpPr txBox="1">
            <a:spLocks noChangeArrowheads="1"/>
          </p:cNvSpPr>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kern="0" dirty="0" smtClean="0">
                <a:solidFill>
                  <a:srgbClr val="FF3300"/>
                </a:solidFill>
                <a:latin typeface="Times New Roman" pitchFamily="18" charset="0"/>
                <a:ea typeface="宋体" pitchFamily="2" charset="-122"/>
                <a:cs typeface="+mn-cs"/>
              </a:rPr>
              <a:t>3. </a:t>
            </a:r>
            <a:r>
              <a:rPr kumimoji="1" lang="zh-CN" altLang="en-US" kern="0" dirty="0" smtClean="0">
                <a:solidFill>
                  <a:srgbClr val="FF3300"/>
                </a:solidFill>
                <a:latin typeface="Times New Roman" pitchFamily="18" charset="0"/>
                <a:ea typeface="宋体" pitchFamily="2" charset="-122"/>
                <a:cs typeface="+mn-cs"/>
              </a:rPr>
              <a:t>速度饱和</a:t>
            </a:r>
            <a:endParaRPr kumimoji="1" lang="zh-CN" altLang="en-US" kern="0" dirty="0">
              <a:solidFill>
                <a:srgbClr val="FF3300"/>
              </a:solidFill>
              <a:latin typeface="Times New Roman" pitchFamily="18" charset="0"/>
              <a:ea typeface="宋体" pitchFamily="2" charset="-122"/>
              <a:cs typeface="+mn-cs"/>
            </a:endParaRPr>
          </a:p>
        </p:txBody>
      </p:sp>
      <p:sp>
        <p:nvSpPr>
          <p:cNvPr id="4" name="Text Box 3"/>
          <p:cNvSpPr txBox="1">
            <a:spLocks noChangeArrowheads="1"/>
          </p:cNvSpPr>
          <p:nvPr/>
        </p:nvSpPr>
        <p:spPr bwMode="auto">
          <a:xfrm>
            <a:off x="663575" y="836613"/>
            <a:ext cx="8337550" cy="1990725"/>
          </a:xfrm>
          <a:prstGeom prst="rect">
            <a:avLst/>
          </a:prstGeom>
          <a:noFill/>
          <a:ln w="9525">
            <a:noFill/>
            <a:miter lim="800000"/>
            <a:headEnd/>
            <a:tailEnd/>
          </a:ln>
          <a:effectLst/>
        </p:spPr>
        <p:txBody>
          <a:bodyPr>
            <a:spAutoFit/>
          </a:bodyPr>
          <a:lstStyle/>
          <a:p>
            <a:pPr defTabSz="914400" fontAlgn="base">
              <a:spcBef>
                <a:spcPct val="15000"/>
              </a:spcBef>
              <a:spcAft>
                <a:spcPct val="0"/>
              </a:spcAft>
            </a:pPr>
            <a:r>
              <a:rPr lang="zh-CN" altLang="en-US" sz="2800" b="1" dirty="0">
                <a:solidFill>
                  <a:srgbClr val="000000"/>
                </a:solidFill>
                <a:latin typeface="Times New Roman" pitchFamily="18" charset="0"/>
                <a:ea typeface="楷体_GB2312" pitchFamily="49" charset="-122"/>
              </a:rPr>
              <a:t>考虑横向电场</a:t>
            </a:r>
            <a:r>
              <a:rPr lang="en-US" altLang="zh-CN" sz="2800" b="1" dirty="0" err="1">
                <a:solidFill>
                  <a:srgbClr val="000000"/>
                </a:solidFill>
                <a:latin typeface="Kunstler Script" pitchFamily="66" charset="0"/>
                <a:ea typeface="楷体_GB2312" pitchFamily="49" charset="-122"/>
              </a:rPr>
              <a:t>E</a:t>
            </a:r>
            <a:r>
              <a:rPr lang="en-US" altLang="zh-CN" sz="2800" b="1" i="1" baseline="-25000" dirty="0" err="1">
                <a:solidFill>
                  <a:srgbClr val="000000"/>
                </a:solidFill>
                <a:latin typeface="Times New Roman" pitchFamily="18" charset="0"/>
                <a:ea typeface="楷体_GB2312" pitchFamily="49" charset="-122"/>
              </a:rPr>
              <a:t>y</a:t>
            </a:r>
            <a:r>
              <a:rPr lang="en-US" altLang="zh-CN" sz="2800" b="1" i="1" baseline="-25000"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的影响：</a:t>
            </a:r>
          </a:p>
          <a:p>
            <a:pPr defTabSz="914400" fontAlgn="base">
              <a:spcBef>
                <a:spcPct val="1500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弱场下：</a:t>
            </a:r>
            <a:r>
              <a:rPr lang="en-US" altLang="zh-CN" sz="2800" b="1" i="1" dirty="0" err="1">
                <a:solidFill>
                  <a:srgbClr val="000000"/>
                </a:solidFill>
                <a:latin typeface="Times New Roman" pitchFamily="18" charset="0"/>
                <a:ea typeface="楷体_GB2312" pitchFamily="49" charset="-122"/>
              </a:rPr>
              <a:t>v</a:t>
            </a:r>
            <a:r>
              <a:rPr lang="en-US" altLang="zh-CN" sz="2800" b="1" i="1" baseline="-25000" dirty="0" err="1">
                <a:solidFill>
                  <a:srgbClr val="000000"/>
                </a:solidFill>
                <a:latin typeface="Times New Roman" pitchFamily="18" charset="0"/>
                <a:ea typeface="楷体_GB2312" pitchFamily="49" charset="-122"/>
              </a:rPr>
              <a:t>y</a:t>
            </a:r>
            <a:r>
              <a:rPr lang="en-US" altLang="zh-CN" sz="2800" b="1" i="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正比</a:t>
            </a:r>
            <a:r>
              <a:rPr lang="zh-CN" altLang="en-US" sz="2800" b="1" dirty="0" smtClean="0">
                <a:solidFill>
                  <a:srgbClr val="000000"/>
                </a:solidFill>
                <a:latin typeface="Times New Roman" pitchFamily="18" charset="0"/>
                <a:ea typeface="楷体_GB2312" pitchFamily="49" charset="-122"/>
              </a:rPr>
              <a:t>于</a:t>
            </a:r>
            <a:r>
              <a:rPr lang="en-US" altLang="zh-CN" sz="2800" b="1" dirty="0" err="1" smtClean="0">
                <a:solidFill>
                  <a:srgbClr val="000000"/>
                </a:solidFill>
                <a:latin typeface="Kunstler Script" pitchFamily="66" charset="0"/>
                <a:ea typeface="楷体_GB2312" pitchFamily="49" charset="-122"/>
              </a:rPr>
              <a:t>E</a:t>
            </a:r>
            <a:r>
              <a:rPr lang="en-US" altLang="zh-CN" sz="2800" b="1" i="1" baseline="-25000" dirty="0" err="1" smtClean="0">
                <a:solidFill>
                  <a:srgbClr val="000000"/>
                </a:solidFill>
                <a:latin typeface="Times New Roman" pitchFamily="18" charset="0"/>
                <a:ea typeface="楷体_GB2312" pitchFamily="49" charset="-122"/>
              </a:rPr>
              <a:t>y</a:t>
            </a:r>
            <a:r>
              <a:rPr lang="en-US" altLang="zh-CN" sz="2800" b="1" dirty="0" smtClean="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，迁移率</a:t>
            </a:r>
            <a:r>
              <a:rPr lang="en-US" altLang="zh-CN" sz="2800" b="1" dirty="0">
                <a:solidFill>
                  <a:srgbClr val="000000"/>
                </a:solidFill>
                <a:latin typeface="Times New Roman" pitchFamily="18" charset="0"/>
                <a:ea typeface="楷体_GB2312" pitchFamily="49" charset="-122"/>
              </a:rPr>
              <a:t>=</a:t>
            </a:r>
            <a:r>
              <a:rPr lang="zh-CN" altLang="en-US" sz="2800" b="1" dirty="0">
                <a:solidFill>
                  <a:srgbClr val="000000"/>
                </a:solidFill>
                <a:latin typeface="Times New Roman" pitchFamily="18" charset="0"/>
                <a:ea typeface="楷体_GB2312" pitchFamily="49" charset="-122"/>
              </a:rPr>
              <a:t>常数</a:t>
            </a:r>
          </a:p>
          <a:p>
            <a:pPr defTabSz="914400" fontAlgn="base">
              <a:spcBef>
                <a:spcPct val="15000"/>
              </a:spcBef>
              <a:spcAft>
                <a:spcPct val="0"/>
              </a:spcAft>
              <a:buClr>
                <a:srgbClr val="808080"/>
              </a:buClr>
              <a:buFontTx/>
              <a:buChar char="•"/>
            </a:pPr>
            <a:r>
              <a:rPr lang="zh-CN" altLang="en-US" sz="2800" b="1" i="1" dirty="0">
                <a:solidFill>
                  <a:srgbClr val="000000"/>
                </a:solidFill>
                <a:latin typeface="Times New Roman" pitchFamily="18" charset="0"/>
                <a:ea typeface="楷体_GB2312" pitchFamily="49" charset="-122"/>
              </a:rPr>
              <a:t> </a:t>
            </a:r>
            <a:r>
              <a:rPr lang="en-US" altLang="zh-CN" sz="2800" b="1" dirty="0" err="1" smtClean="0">
                <a:solidFill>
                  <a:srgbClr val="000000"/>
                </a:solidFill>
                <a:latin typeface="Kunstler Script" pitchFamily="66" charset="0"/>
                <a:ea typeface="楷体_GB2312" pitchFamily="49" charset="-122"/>
              </a:rPr>
              <a:t>E</a:t>
            </a:r>
            <a:r>
              <a:rPr lang="en-US" altLang="zh-CN" sz="2800" b="1" i="1" baseline="-25000" dirty="0" err="1" smtClean="0">
                <a:solidFill>
                  <a:srgbClr val="000000"/>
                </a:solidFill>
                <a:latin typeface="Times New Roman" pitchFamily="18" charset="0"/>
                <a:ea typeface="楷体_GB2312" pitchFamily="49" charset="-122"/>
              </a:rPr>
              <a:t>y</a:t>
            </a:r>
            <a:r>
              <a:rPr lang="en-US" altLang="zh-CN" sz="2800" b="1" i="1" baseline="-25000" dirty="0" smtClean="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sym typeface="Symbol" pitchFamily="18" charset="2"/>
              </a:rPr>
              <a:t>上升</a:t>
            </a:r>
            <a:r>
              <a:rPr lang="zh-CN" altLang="en-US" sz="2800" b="1" dirty="0">
                <a:solidFill>
                  <a:srgbClr val="000000"/>
                </a:solidFill>
                <a:latin typeface="Times New Roman" pitchFamily="18" charset="0"/>
                <a:ea typeface="楷体_GB2312" pitchFamily="49" charset="-122"/>
              </a:rPr>
              <a:t>， </a:t>
            </a:r>
            <a:r>
              <a:rPr lang="en-US" altLang="zh-CN" sz="2800" b="1" i="1" dirty="0" err="1">
                <a:solidFill>
                  <a:srgbClr val="000000"/>
                </a:solidFill>
                <a:latin typeface="Times New Roman" pitchFamily="18" charset="0"/>
                <a:ea typeface="楷体_GB2312" pitchFamily="49" charset="-122"/>
              </a:rPr>
              <a:t>v</a:t>
            </a:r>
            <a:r>
              <a:rPr lang="en-US" altLang="zh-CN" sz="2800" b="1" i="1" baseline="-25000" dirty="0" err="1">
                <a:solidFill>
                  <a:srgbClr val="000000"/>
                </a:solidFill>
                <a:latin typeface="Times New Roman" pitchFamily="18" charset="0"/>
                <a:ea typeface="楷体_GB2312" pitchFamily="49" charset="-122"/>
              </a:rPr>
              <a:t>y</a:t>
            </a:r>
            <a:r>
              <a:rPr lang="en-US" altLang="zh-CN" sz="2800" b="1" i="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上升逐渐变慢</a:t>
            </a:r>
          </a:p>
          <a:p>
            <a:pPr defTabSz="914400" fontAlgn="base">
              <a:spcBef>
                <a:spcPct val="15000"/>
              </a:spcBef>
              <a:spcAft>
                <a:spcPct val="0"/>
              </a:spcAft>
              <a:buClr>
                <a:srgbClr val="808080"/>
              </a:buClr>
              <a:buFontTx/>
              <a:buChar char="•"/>
            </a:pPr>
            <a:r>
              <a:rPr lang="zh-CN" altLang="en-US" sz="2800" b="1" dirty="0">
                <a:solidFill>
                  <a:srgbClr val="000000"/>
                </a:solidFill>
                <a:latin typeface="Times New Roman" pitchFamily="18" charset="0"/>
                <a:ea typeface="楷体_GB2312" pitchFamily="49" charset="-122"/>
              </a:rPr>
              <a:t> </a:t>
            </a:r>
            <a:r>
              <a:rPr lang="en-US" altLang="zh-CN" sz="2800" b="1" dirty="0" err="1" smtClean="0">
                <a:solidFill>
                  <a:srgbClr val="000000"/>
                </a:solidFill>
                <a:latin typeface="Kunstler Script" pitchFamily="66" charset="0"/>
                <a:ea typeface="楷体_GB2312" pitchFamily="49" charset="-122"/>
              </a:rPr>
              <a:t>E</a:t>
            </a:r>
            <a:r>
              <a:rPr lang="en-US" altLang="zh-CN" sz="2800" b="1" i="1" baseline="-25000" dirty="0" err="1" smtClean="0">
                <a:solidFill>
                  <a:srgbClr val="000000"/>
                </a:solidFill>
                <a:latin typeface="Times New Roman" pitchFamily="18" charset="0"/>
                <a:ea typeface="楷体_GB2312" pitchFamily="49" charset="-122"/>
              </a:rPr>
              <a:t>y</a:t>
            </a:r>
            <a:r>
              <a:rPr lang="en-US" altLang="zh-CN" sz="2800" b="1" baseline="-25000" dirty="0" smtClean="0">
                <a:solidFill>
                  <a:srgbClr val="000000"/>
                </a:solidFill>
                <a:latin typeface="Times New Roman" pitchFamily="18" charset="0"/>
                <a:ea typeface="楷体_GB2312" pitchFamily="49" charset="-122"/>
              </a:rPr>
              <a:t> </a:t>
            </a:r>
            <a:r>
              <a:rPr lang="en-US" altLang="zh-CN" sz="2800" b="1" dirty="0" smtClean="0">
                <a:solidFill>
                  <a:srgbClr val="000000"/>
                </a:solidFill>
                <a:latin typeface="Times New Roman" pitchFamily="18" charset="0"/>
                <a:ea typeface="楷体_GB2312" pitchFamily="49" charset="-122"/>
              </a:rPr>
              <a:t>&gt;</a:t>
            </a:r>
            <a:r>
              <a:rPr lang="en-US" altLang="zh-CN" sz="2800" b="1" dirty="0" err="1" smtClean="0">
                <a:solidFill>
                  <a:srgbClr val="000000"/>
                </a:solidFill>
                <a:latin typeface="Kunstler Script" pitchFamily="66" charset="0"/>
                <a:ea typeface="楷体_GB2312" pitchFamily="49" charset="-122"/>
              </a:rPr>
              <a:t>E</a:t>
            </a:r>
            <a:r>
              <a:rPr lang="en-US" altLang="zh-CN" sz="2800" b="1" baseline="-25000" dirty="0" err="1" smtClean="0">
                <a:solidFill>
                  <a:srgbClr val="000000"/>
                </a:solidFill>
                <a:latin typeface="Times New Roman" pitchFamily="18" charset="0"/>
                <a:ea typeface="楷体_GB2312" pitchFamily="49" charset="-122"/>
              </a:rPr>
              <a:t>sat</a:t>
            </a:r>
            <a:r>
              <a:rPr lang="en-US" altLang="zh-CN" sz="2800" b="1" dirty="0" smtClean="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：漂移速度达最大值 </a:t>
            </a:r>
            <a:r>
              <a:rPr lang="en-US" altLang="zh-CN" sz="2800" b="1" i="1" dirty="0" err="1">
                <a:solidFill>
                  <a:srgbClr val="000000"/>
                </a:solidFill>
                <a:latin typeface="Times New Roman" pitchFamily="18" charset="0"/>
                <a:ea typeface="楷体_GB2312" pitchFamily="49" charset="-122"/>
              </a:rPr>
              <a:t>v</a:t>
            </a:r>
            <a:r>
              <a:rPr lang="en-US" altLang="zh-CN" sz="2800" b="1" baseline="-25000" dirty="0" err="1">
                <a:solidFill>
                  <a:srgbClr val="000000"/>
                </a:solidFill>
                <a:latin typeface="Times New Roman" pitchFamily="18" charset="0"/>
                <a:ea typeface="楷体_GB2312" pitchFamily="49" charset="-122"/>
              </a:rPr>
              <a:t>sat</a:t>
            </a:r>
            <a:r>
              <a:rPr lang="en-US" altLang="zh-CN" sz="2800" b="1" dirty="0">
                <a:solidFill>
                  <a:srgbClr val="000000"/>
                </a:solidFill>
                <a:latin typeface="Times New Roman" pitchFamily="18" charset="0"/>
                <a:ea typeface="楷体_GB2312" pitchFamily="49" charset="-122"/>
              </a:rPr>
              <a:t> </a:t>
            </a:r>
            <a:r>
              <a:rPr lang="en-US" altLang="zh-CN" sz="2800" b="1" dirty="0" smtClean="0">
                <a:solidFill>
                  <a:srgbClr val="000000"/>
                </a:solidFill>
                <a:latin typeface="Times New Roman" pitchFamily="18" charset="0"/>
                <a:ea typeface="楷体_GB2312" pitchFamily="49" charset="-122"/>
              </a:rPr>
              <a:t>(</a:t>
            </a:r>
            <a:r>
              <a:rPr lang="en-US" altLang="zh-CN" sz="2800" b="1" dirty="0" err="1" smtClean="0">
                <a:solidFill>
                  <a:srgbClr val="000000"/>
                </a:solidFill>
                <a:latin typeface="Kunstler Script" pitchFamily="66" charset="0"/>
                <a:ea typeface="楷体_GB2312" pitchFamily="49" charset="-122"/>
              </a:rPr>
              <a:t>E</a:t>
            </a:r>
            <a:r>
              <a:rPr lang="en-US" altLang="zh-CN" sz="2800" b="1" baseline="-25000" dirty="0" err="1" smtClean="0">
                <a:solidFill>
                  <a:srgbClr val="000000"/>
                </a:solidFill>
                <a:latin typeface="Times New Roman" pitchFamily="18" charset="0"/>
                <a:ea typeface="楷体_GB2312" pitchFamily="49" charset="-122"/>
              </a:rPr>
              <a:t>sat</a:t>
            </a:r>
            <a:r>
              <a:rPr lang="en-US" altLang="zh-CN" sz="2800" b="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饱和电场</a:t>
            </a:r>
            <a:r>
              <a:rPr lang="en-US" altLang="zh-CN" sz="2800" b="1" dirty="0">
                <a:solidFill>
                  <a:srgbClr val="000000"/>
                </a:solidFill>
                <a:latin typeface="Times New Roman" pitchFamily="18" charset="0"/>
                <a:ea typeface="楷体_GB2312" pitchFamily="49" charset="-122"/>
              </a:rPr>
              <a:t>)</a:t>
            </a:r>
          </a:p>
        </p:txBody>
      </p:sp>
      <p:sp>
        <p:nvSpPr>
          <p:cNvPr id="5" name="Text Box 4"/>
          <p:cNvSpPr txBox="1">
            <a:spLocks noChangeArrowheads="1"/>
          </p:cNvSpPr>
          <p:nvPr/>
        </p:nvSpPr>
        <p:spPr bwMode="auto">
          <a:xfrm>
            <a:off x="663575" y="2924175"/>
            <a:ext cx="8193088" cy="946150"/>
          </a:xfrm>
          <a:prstGeom prst="rect">
            <a:avLst/>
          </a:prstGeom>
          <a:noFill/>
          <a:ln w="9525">
            <a:noFill/>
            <a:miter lim="800000"/>
            <a:headEnd/>
            <a:tailEnd/>
          </a:ln>
          <a:effectLst/>
        </p:spPr>
        <p:txBody>
          <a:bodyPr>
            <a:spAutoFit/>
          </a:bodyPr>
          <a:lstStyle/>
          <a:p>
            <a:pPr defTabSz="914400" fontAlgn="base">
              <a:spcBef>
                <a:spcPct val="10000"/>
              </a:spcBef>
              <a:spcAft>
                <a:spcPct val="0"/>
              </a:spcAft>
            </a:pPr>
            <a:r>
              <a:rPr lang="zh-CN" altLang="en-US" sz="2800" b="1" dirty="0">
                <a:solidFill>
                  <a:srgbClr val="000000"/>
                </a:solidFill>
                <a:latin typeface="Times New Roman" pitchFamily="18" charset="0"/>
                <a:ea typeface="楷体_GB2312" pitchFamily="49" charset="-122"/>
              </a:rPr>
              <a:t>表面散射使得弱场下的迁移率也比较小，但是能观测到相似的速度饱和效应。</a:t>
            </a:r>
          </a:p>
        </p:txBody>
      </p:sp>
      <p:sp>
        <p:nvSpPr>
          <p:cNvPr id="6" name="Rectangle 5"/>
          <p:cNvSpPr>
            <a:spLocks noChangeArrowheads="1"/>
          </p:cNvSpPr>
          <p:nvPr/>
        </p:nvSpPr>
        <p:spPr bwMode="auto">
          <a:xfrm>
            <a:off x="663575" y="4041775"/>
            <a:ext cx="3365500" cy="519113"/>
          </a:xfrm>
          <a:prstGeom prst="rect">
            <a:avLst/>
          </a:prstGeom>
          <a:noFill/>
          <a:ln w="9525">
            <a:noFill/>
            <a:miter lim="800000"/>
            <a:headEnd/>
            <a:tailEnd/>
          </a:ln>
          <a:effectLst/>
        </p:spPr>
        <p:txBody>
          <a:bodyPr wrap="none">
            <a:spAutoFit/>
          </a:bodyPr>
          <a:lstStyle/>
          <a:p>
            <a:pPr defTabSz="914400" fontAlgn="base">
              <a:spcBef>
                <a:spcPct val="20000"/>
              </a:spcBef>
              <a:spcAft>
                <a:spcPct val="0"/>
              </a:spcAft>
              <a:buClr>
                <a:srgbClr val="000000"/>
              </a:buClr>
              <a:buSzPct val="60000"/>
              <a:buFont typeface="Wingdings" pitchFamily="2" charset="2"/>
              <a:buNone/>
            </a:pPr>
            <a:r>
              <a:rPr kumimoji="1" lang="zh-CN" altLang="en-US" sz="2800" b="1">
                <a:solidFill>
                  <a:srgbClr val="000000"/>
                </a:solidFill>
                <a:latin typeface="Times New Roman" pitchFamily="18" charset="0"/>
                <a:ea typeface="楷体_GB2312" pitchFamily="49" charset="-122"/>
              </a:rPr>
              <a:t>描述</a:t>
            </a:r>
            <a:r>
              <a:rPr kumimoji="1" lang="en-US" altLang="zh-CN" sz="2800" b="1" i="1">
                <a:solidFill>
                  <a:srgbClr val="000000"/>
                </a:solidFill>
                <a:latin typeface="Times New Roman" pitchFamily="18" charset="0"/>
                <a:ea typeface="楷体_GB2312" pitchFamily="49" charset="-122"/>
              </a:rPr>
              <a:t>v</a:t>
            </a:r>
            <a:r>
              <a:rPr kumimoji="1" lang="en-US" altLang="zh-CN" sz="2800" b="1" i="1" baseline="-25000">
                <a:solidFill>
                  <a:srgbClr val="000000"/>
                </a:solidFill>
                <a:latin typeface="Times New Roman" pitchFamily="18" charset="0"/>
                <a:ea typeface="楷体_GB2312" pitchFamily="49" charset="-122"/>
              </a:rPr>
              <a:t>y </a:t>
            </a:r>
            <a:r>
              <a:rPr kumimoji="1" lang="zh-CN" altLang="en-US" sz="2800" b="1">
                <a:solidFill>
                  <a:srgbClr val="000000"/>
                </a:solidFill>
                <a:latin typeface="Times New Roman" pitchFamily="18" charset="0"/>
                <a:ea typeface="楷体_GB2312" pitchFamily="49" charset="-122"/>
              </a:rPr>
              <a:t>的经验公式：</a:t>
            </a:r>
          </a:p>
        </p:txBody>
      </p:sp>
      <p:grpSp>
        <p:nvGrpSpPr>
          <p:cNvPr id="27" name="Group 35"/>
          <p:cNvGrpSpPr>
            <a:grpSpLocks/>
          </p:cNvGrpSpPr>
          <p:nvPr/>
        </p:nvGrpSpPr>
        <p:grpSpPr bwMode="auto">
          <a:xfrm>
            <a:off x="4657447" y="5187316"/>
            <a:ext cx="2398713" cy="457200"/>
            <a:chOff x="3360" y="1488"/>
            <a:chExt cx="1511" cy="288"/>
          </a:xfrm>
        </p:grpSpPr>
        <p:sp>
          <p:nvSpPr>
            <p:cNvPr id="28" name="Text Box 19"/>
            <p:cNvSpPr txBox="1">
              <a:spLocks noChangeArrowheads="1"/>
            </p:cNvSpPr>
            <p:nvPr/>
          </p:nvSpPr>
          <p:spPr bwMode="auto">
            <a:xfrm>
              <a:off x="3360" y="1488"/>
              <a:ext cx="15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1" i="0" u="none" strike="noStrike" kern="0" cap="none" spc="0" normalizeH="0" baseline="0" noProof="0" dirty="0" smtClean="0">
                  <a:ln>
                    <a:noFill/>
                  </a:ln>
                  <a:solidFill>
                    <a:srgbClr val="000000"/>
                  </a:solidFill>
                  <a:effectLst/>
                  <a:uLnTx/>
                  <a:uFillTx/>
                  <a:latin typeface="Script" pitchFamily="66"/>
                </a:rPr>
                <a:t>E</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&lt;&lt;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1" i="0" u="none" strike="noStrike" kern="0" cap="none" spc="0" normalizeH="0" baseline="0" noProof="0" dirty="0" err="1" smtClean="0">
                  <a:ln>
                    <a:noFill/>
                  </a:ln>
                  <a:solidFill>
                    <a:srgbClr val="000000"/>
                  </a:solidFill>
                  <a:effectLst/>
                  <a:uLnTx/>
                  <a:uFillTx/>
                  <a:latin typeface="Script" pitchFamily="66"/>
                </a:rPr>
                <a:t>E</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sat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v = </a:t>
              </a:r>
              <a:r>
                <a:rPr kumimoji="0" lang="en-US" altLang="zh-TW" sz="2400" b="0" i="1" u="none" strike="noStrike" kern="0" cap="none" spc="0" normalizeH="0" baseline="0" noProof="0" dirty="0" smtClean="0">
                  <a:ln>
                    <a:noFill/>
                  </a:ln>
                  <a:solidFill>
                    <a:srgbClr val="000000"/>
                  </a:solidFill>
                  <a:effectLst/>
                  <a:uLnTx/>
                  <a:uFillTx/>
                  <a:latin typeface="Symbol" panose="05050102010706020507" pitchFamily="18" charset="2"/>
                </a:rPr>
                <a:t>m</a:t>
              </a:r>
              <a:r>
                <a:rPr kumimoji="0" lang="en-US" altLang="zh-TW" sz="2400" b="0" i="1" u="none" strike="noStrike" kern="0" cap="none" spc="0" normalizeH="0" baseline="-25000" noProof="0" dirty="0" smtClean="0">
                  <a:ln>
                    <a:noFill/>
                  </a:ln>
                  <a:solidFill>
                    <a:srgbClr val="000000"/>
                  </a:solidFill>
                  <a:effectLst/>
                  <a:uLnTx/>
                  <a:uFillTx/>
                  <a:latin typeface="Symbol" panose="05050102010706020507" pitchFamily="18" charset="2"/>
                </a:rPr>
                <a:t> </a:t>
              </a:r>
              <a:r>
                <a:rPr kumimoji="0" lang="en-US" altLang="zh-TW" sz="2400" b="0" i="1" u="none" strike="noStrike" kern="0" cap="none" spc="0" normalizeH="0" baseline="0" noProof="0" dirty="0" smtClean="0">
                  <a:ln>
                    <a:noFill/>
                  </a:ln>
                  <a:solidFill>
                    <a:srgbClr val="000000"/>
                  </a:solidFill>
                  <a:effectLst/>
                  <a:uLnTx/>
                  <a:uFillTx/>
                  <a:latin typeface="Symbol" panose="05050102010706020507" pitchFamily="18" charset="2"/>
                </a:rPr>
                <a:t>  </a:t>
              </a:r>
              <a:r>
                <a:rPr kumimoji="0" lang="en-US" altLang="zh-TW" sz="2400" b="1" i="0" u="none" strike="noStrike" kern="0" cap="none" spc="0" normalizeH="0" baseline="0" noProof="0" dirty="0" smtClean="0">
                  <a:ln>
                    <a:noFill/>
                  </a:ln>
                  <a:solidFill>
                    <a:srgbClr val="000000"/>
                  </a:solidFill>
                  <a:effectLst/>
                  <a:uLnTx/>
                  <a:uFillTx/>
                  <a:latin typeface="Script" pitchFamily="66"/>
                </a:rPr>
                <a:t>E</a:t>
              </a:r>
              <a:endParaRPr kumimoji="0" lang="en-US" altLang="zh-TW" sz="2800" b="1" i="1" u="none" strike="noStrike" kern="0" cap="none" spc="0" normalizeH="0" baseline="0" noProof="0" dirty="0" smtClean="0">
                <a:ln>
                  <a:noFill/>
                </a:ln>
                <a:solidFill>
                  <a:srgbClr val="000000"/>
                </a:solidFill>
                <a:effectLst/>
                <a:uLnTx/>
                <a:uFillTx/>
                <a:latin typeface="Times New Roman" panose="02020603050405020304" pitchFamily="18" charset="0"/>
              </a:endParaRPr>
            </a:p>
          </p:txBody>
        </p:sp>
        <p:sp>
          <p:nvSpPr>
            <p:cNvPr id="29" name="Rectangle 24"/>
            <p:cNvSpPr>
              <a:spLocks noChangeArrowheads="1"/>
            </p:cNvSpPr>
            <p:nvPr/>
          </p:nvSpPr>
          <p:spPr bwMode="auto">
            <a:xfrm>
              <a:off x="4636" y="1629"/>
              <a:ext cx="1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1400" b="0" i="1" u="none" strike="noStrike" kern="0" cap="none" spc="0" normalizeH="0" baseline="0" noProof="0" smtClean="0">
                  <a:ln>
                    <a:noFill/>
                  </a:ln>
                  <a:solidFill>
                    <a:srgbClr val="000000"/>
                  </a:solidFill>
                  <a:effectLst/>
                  <a:uLnTx/>
                  <a:uFillTx/>
                  <a:latin typeface="Times New Roman" panose="02020603050405020304" pitchFamily="18" charset="0"/>
                </a:rPr>
                <a:t>ns</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grpSp>
      <p:grpSp>
        <p:nvGrpSpPr>
          <p:cNvPr id="30" name="Group 36"/>
          <p:cNvGrpSpPr>
            <a:grpSpLocks/>
          </p:cNvGrpSpPr>
          <p:nvPr/>
        </p:nvGrpSpPr>
        <p:grpSpPr bwMode="auto">
          <a:xfrm>
            <a:off x="4682847" y="5714366"/>
            <a:ext cx="2662238" cy="457200"/>
            <a:chOff x="3360" y="1776"/>
            <a:chExt cx="1677" cy="288"/>
          </a:xfrm>
        </p:grpSpPr>
        <p:sp>
          <p:nvSpPr>
            <p:cNvPr id="31" name="Text Box 20"/>
            <p:cNvSpPr txBox="1">
              <a:spLocks noChangeArrowheads="1"/>
            </p:cNvSpPr>
            <p:nvPr/>
          </p:nvSpPr>
          <p:spPr bwMode="auto">
            <a:xfrm>
              <a:off x="3360" y="1776"/>
              <a:ext cx="167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1" i="0" u="none" strike="noStrike" kern="0" cap="none" spc="0" normalizeH="0" baseline="0" noProof="0" dirty="0" smtClean="0">
                  <a:ln>
                    <a:noFill/>
                  </a:ln>
                  <a:solidFill>
                    <a:srgbClr val="000000"/>
                  </a:solidFill>
                  <a:effectLst/>
                  <a:uLnTx/>
                  <a:uFillTx/>
                  <a:latin typeface="Script" pitchFamily="66"/>
                </a:rPr>
                <a:t>E</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&gt;&gt;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1" i="0" u="none" strike="noStrike" kern="0" cap="none" spc="0" normalizeH="0" baseline="0" noProof="0" dirty="0" err="1" smtClean="0">
                  <a:ln>
                    <a:noFill/>
                  </a:ln>
                  <a:solidFill>
                    <a:srgbClr val="000000"/>
                  </a:solidFill>
                  <a:effectLst/>
                  <a:uLnTx/>
                  <a:uFillTx/>
                  <a:latin typeface="Script" pitchFamily="66"/>
                </a:rPr>
                <a:t>E</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sat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v = </a:t>
              </a:r>
              <a:r>
                <a:rPr kumimoji="0" lang="en-US" altLang="zh-TW" sz="2400" b="0" i="1" u="none" strike="noStrike" kern="0" cap="none" spc="0" normalizeH="0" baseline="0" noProof="0" dirty="0" smtClean="0">
                  <a:ln>
                    <a:noFill/>
                  </a:ln>
                  <a:solidFill>
                    <a:srgbClr val="000000"/>
                  </a:solidFill>
                  <a:effectLst/>
                  <a:uLnTx/>
                  <a:uFillTx/>
                  <a:latin typeface="Symbol" panose="05050102010706020507" pitchFamily="18" charset="2"/>
                </a:rPr>
                <a:t>m   </a:t>
              </a:r>
              <a:r>
                <a:rPr kumimoji="0" lang="en-US" altLang="zh-TW" sz="2400" b="1" i="0" u="none" strike="noStrike" kern="0" cap="none" spc="0" normalizeH="0" baseline="0" noProof="0" dirty="0" err="1" smtClean="0">
                  <a:ln>
                    <a:noFill/>
                  </a:ln>
                  <a:solidFill>
                    <a:srgbClr val="000000"/>
                  </a:solidFill>
                  <a:effectLst/>
                  <a:uLnTx/>
                  <a:uFillTx/>
                  <a:latin typeface="Script" pitchFamily="66"/>
                </a:rPr>
                <a:t>E</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sat</a:t>
              </a:r>
              <a:endParaRPr kumimoji="0" lang="en-US" altLang="zh-TW" sz="2800" b="1" i="1" u="none" strike="noStrike" kern="0" cap="none" spc="0" normalizeH="0" baseline="0" noProof="0" dirty="0" smtClean="0">
                <a:ln>
                  <a:noFill/>
                </a:ln>
                <a:solidFill>
                  <a:srgbClr val="000000"/>
                </a:solidFill>
                <a:effectLst/>
                <a:uLnTx/>
                <a:uFillTx/>
                <a:latin typeface="Times New Roman" panose="02020603050405020304" pitchFamily="18" charset="0"/>
              </a:endParaRPr>
            </a:p>
          </p:txBody>
        </p:sp>
        <p:sp>
          <p:nvSpPr>
            <p:cNvPr id="32" name="Rectangle 24"/>
            <p:cNvSpPr>
              <a:spLocks noChangeArrowheads="1"/>
            </p:cNvSpPr>
            <p:nvPr/>
          </p:nvSpPr>
          <p:spPr bwMode="auto">
            <a:xfrm>
              <a:off x="4642" y="1912"/>
              <a:ext cx="1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1400" b="0" i="1" u="none" strike="noStrike" kern="0" cap="none" spc="0" normalizeH="0" baseline="0" noProof="0" smtClean="0">
                  <a:ln>
                    <a:noFill/>
                  </a:ln>
                  <a:solidFill>
                    <a:srgbClr val="000000"/>
                  </a:solidFill>
                  <a:effectLst/>
                  <a:uLnTx/>
                  <a:uFillTx/>
                  <a:latin typeface="Times New Roman" panose="02020603050405020304" pitchFamily="18" charset="0"/>
                </a:rPr>
                <a:t>ns</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grpSp>
      <p:grpSp>
        <p:nvGrpSpPr>
          <p:cNvPr id="33" name="Group 34"/>
          <p:cNvGrpSpPr>
            <a:grpSpLocks/>
          </p:cNvGrpSpPr>
          <p:nvPr/>
        </p:nvGrpSpPr>
        <p:grpSpPr bwMode="auto">
          <a:xfrm>
            <a:off x="1684059" y="5044441"/>
            <a:ext cx="1819275" cy="1193800"/>
            <a:chOff x="3454" y="640"/>
            <a:chExt cx="1146" cy="752"/>
          </a:xfrm>
        </p:grpSpPr>
        <p:sp>
          <p:nvSpPr>
            <p:cNvPr id="34" name="Line 21"/>
            <p:cNvSpPr>
              <a:spLocks noChangeShapeType="1"/>
            </p:cNvSpPr>
            <p:nvPr/>
          </p:nvSpPr>
          <p:spPr bwMode="auto">
            <a:xfrm>
              <a:off x="4211" y="1139"/>
              <a:ext cx="36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35" name="Line 22"/>
            <p:cNvSpPr>
              <a:spLocks noChangeShapeType="1"/>
            </p:cNvSpPr>
            <p:nvPr/>
          </p:nvSpPr>
          <p:spPr bwMode="auto">
            <a:xfrm>
              <a:off x="3859" y="902"/>
              <a:ext cx="74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36" name="Rectangle 23"/>
            <p:cNvSpPr>
              <a:spLocks noChangeArrowheads="1"/>
            </p:cNvSpPr>
            <p:nvPr/>
          </p:nvSpPr>
          <p:spPr bwMode="auto">
            <a:xfrm>
              <a:off x="4320" y="1248"/>
              <a:ext cx="1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1400" b="0" i="1" u="none" strike="noStrike" kern="0" cap="none" spc="0" normalizeH="0" baseline="0" noProof="0" smtClean="0">
                  <a:ln>
                    <a:noFill/>
                  </a:ln>
                  <a:solidFill>
                    <a:srgbClr val="000000"/>
                  </a:solidFill>
                  <a:effectLst/>
                  <a:uLnTx/>
                  <a:uFillTx/>
                  <a:latin typeface="Times New Roman" panose="02020603050405020304" pitchFamily="18" charset="0"/>
                </a:rPr>
                <a:t>sat</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37" name="Rectangle 24"/>
            <p:cNvSpPr>
              <a:spLocks noChangeArrowheads="1"/>
            </p:cNvSpPr>
            <p:nvPr/>
          </p:nvSpPr>
          <p:spPr bwMode="auto">
            <a:xfrm>
              <a:off x="4134" y="771"/>
              <a:ext cx="1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1400" b="0" i="1" u="none" strike="noStrike" kern="0" cap="none" spc="0" normalizeH="0" baseline="0" noProof="0" smtClean="0">
                  <a:ln>
                    <a:noFill/>
                  </a:ln>
                  <a:solidFill>
                    <a:srgbClr val="000000"/>
                  </a:solidFill>
                  <a:effectLst/>
                  <a:uLnTx/>
                  <a:uFillTx/>
                  <a:latin typeface="Times New Roman" panose="02020603050405020304" pitchFamily="18" charset="0"/>
                </a:rPr>
                <a:t>ns</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38" name="Rectangle 25"/>
            <p:cNvSpPr>
              <a:spLocks noChangeArrowheads="1"/>
            </p:cNvSpPr>
            <p:nvPr/>
          </p:nvSpPr>
          <p:spPr bwMode="auto">
            <a:xfrm>
              <a:off x="3454" y="782"/>
              <a:ext cx="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0" i="1" u="none" strike="noStrike" kern="0" cap="none" spc="0" normalizeH="0" baseline="0" noProof="0" smtClean="0">
                  <a:ln>
                    <a:noFill/>
                  </a:ln>
                  <a:solidFill>
                    <a:srgbClr val="000000"/>
                  </a:solidFill>
                  <a:effectLst/>
                  <a:uLnTx/>
                  <a:uFillTx/>
                  <a:latin typeface="Times New Roman" panose="02020603050405020304" pitchFamily="18" charset="0"/>
                </a:rPr>
                <a:t>v</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39" name="Rectangle 26"/>
            <p:cNvSpPr>
              <a:spLocks noChangeArrowheads="1"/>
            </p:cNvSpPr>
            <p:nvPr/>
          </p:nvSpPr>
          <p:spPr bwMode="auto">
            <a:xfrm>
              <a:off x="4204" y="1162"/>
              <a:ext cx="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1" i="0" u="none" strike="noStrike" kern="0" cap="none" spc="0" normalizeH="0" baseline="0" noProof="0" smtClean="0">
                  <a:ln>
                    <a:noFill/>
                  </a:ln>
                  <a:solidFill>
                    <a:srgbClr val="000000"/>
                  </a:solidFill>
                  <a:effectLst/>
                  <a:uLnTx/>
                  <a:uFillTx/>
                  <a:latin typeface="Script" pitchFamily="66"/>
                </a:rPr>
                <a:t>E</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0" name="Rectangle 27"/>
            <p:cNvSpPr>
              <a:spLocks noChangeArrowheads="1"/>
            </p:cNvSpPr>
            <p:nvPr/>
          </p:nvSpPr>
          <p:spPr bwMode="auto">
            <a:xfrm>
              <a:off x="4289" y="901"/>
              <a:ext cx="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1" i="0" u="none" strike="noStrike" kern="0" cap="none" spc="0" normalizeH="0" baseline="0" noProof="0" smtClean="0">
                  <a:ln>
                    <a:noFill/>
                  </a:ln>
                  <a:solidFill>
                    <a:srgbClr val="000000"/>
                  </a:solidFill>
                  <a:effectLst/>
                  <a:uLnTx/>
                  <a:uFillTx/>
                  <a:latin typeface="Script" pitchFamily="66"/>
                </a:rPr>
                <a:t>E</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1" name="Rectangle 28"/>
            <p:cNvSpPr>
              <a:spLocks noChangeArrowheads="1"/>
            </p:cNvSpPr>
            <p:nvPr/>
          </p:nvSpPr>
          <p:spPr bwMode="auto">
            <a:xfrm>
              <a:off x="4254" y="661"/>
              <a:ext cx="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1" i="0" u="none" strike="noStrike" kern="0" cap="none" spc="0" normalizeH="0" baseline="0" noProof="0" smtClean="0">
                  <a:ln>
                    <a:noFill/>
                  </a:ln>
                  <a:solidFill>
                    <a:srgbClr val="000000"/>
                  </a:solidFill>
                  <a:effectLst/>
                  <a:uLnTx/>
                  <a:uFillTx/>
                  <a:latin typeface="Script" pitchFamily="66"/>
                </a:rPr>
                <a:t>E</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2" name="Rectangle 29"/>
            <p:cNvSpPr>
              <a:spLocks noChangeArrowheads="1"/>
            </p:cNvSpPr>
            <p:nvPr/>
          </p:nvSpPr>
          <p:spPr bwMode="auto">
            <a:xfrm>
              <a:off x="4006" y="996"/>
              <a:ext cx="10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0" i="0" u="none" strike="noStrike" kern="0" cap="none" spc="0" normalizeH="0" baseline="0" noProof="0" smtClean="0">
                  <a:ln>
                    <a:noFill/>
                  </a:ln>
                  <a:solidFill>
                    <a:srgbClr val="000000"/>
                  </a:solidFill>
                  <a:effectLst/>
                  <a:uLnTx/>
                  <a:uFillTx/>
                  <a:latin typeface="Symbol" panose="05050102010706020507" pitchFamily="18" charset="2"/>
                </a:rPr>
                <a:t>+</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3" name="Rectangle 30"/>
            <p:cNvSpPr>
              <a:spLocks noChangeArrowheads="1"/>
            </p:cNvSpPr>
            <p:nvPr/>
          </p:nvSpPr>
          <p:spPr bwMode="auto">
            <a:xfrm>
              <a:off x="3642" y="760"/>
              <a:ext cx="10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0" i="0" u="none" strike="noStrike" kern="0" cap="none" spc="0" normalizeH="0" baseline="0" noProof="0" smtClean="0">
                  <a:ln>
                    <a:noFill/>
                  </a:ln>
                  <a:solidFill>
                    <a:srgbClr val="000000"/>
                  </a:solidFill>
                  <a:effectLst/>
                  <a:uLnTx/>
                  <a:uFillTx/>
                  <a:latin typeface="Symbol" panose="05050102010706020507" pitchFamily="18" charset="2"/>
                </a:rPr>
                <a:t>=</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4" name="Rectangle 31"/>
            <p:cNvSpPr>
              <a:spLocks noChangeArrowheads="1"/>
            </p:cNvSpPr>
            <p:nvPr/>
          </p:nvSpPr>
          <p:spPr bwMode="auto">
            <a:xfrm>
              <a:off x="3848" y="1018"/>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0" i="0" u="none" strike="noStrike" kern="0" cap="none" spc="0" normalizeH="0" baseline="0" noProof="0" smtClean="0">
                  <a:ln>
                    <a:noFill/>
                  </a:ln>
                  <a:solidFill>
                    <a:srgbClr val="000000"/>
                  </a:solidFill>
                  <a:effectLst/>
                  <a:uLnTx/>
                  <a:uFillTx/>
                  <a:latin typeface="Times New Roman" panose="02020603050405020304" pitchFamily="18" charset="0"/>
                </a:rPr>
                <a:t>1</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sp>
          <p:nvSpPr>
            <p:cNvPr id="45" name="Rectangle 32"/>
            <p:cNvSpPr>
              <a:spLocks noChangeArrowheads="1"/>
            </p:cNvSpPr>
            <p:nvPr/>
          </p:nvSpPr>
          <p:spPr bwMode="auto">
            <a:xfrm>
              <a:off x="4025" y="640"/>
              <a:ext cx="11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TW" sz="2400" b="0" i="1" u="none" strike="noStrike" kern="0" cap="none" spc="0" normalizeH="0" baseline="0" noProof="0" smtClean="0">
                  <a:ln>
                    <a:noFill/>
                  </a:ln>
                  <a:solidFill>
                    <a:srgbClr val="000000"/>
                  </a:solidFill>
                  <a:effectLst/>
                  <a:uLnTx/>
                  <a:uFillTx/>
                  <a:latin typeface="Symbol" panose="05050102010706020507" pitchFamily="18" charset="2"/>
                </a:rPr>
                <a:t>m</a:t>
              </a:r>
              <a:endParaRPr kumimoji="0" lang="en-US" altLang="zh-TW" sz="2800" b="1" i="1" u="none" strike="noStrike" kern="0" cap="none" spc="0" normalizeH="0" baseline="0" noProof="0" smtClean="0">
                <a:ln>
                  <a:noFill/>
                </a:ln>
                <a:solidFill>
                  <a:srgbClr val="000000"/>
                </a:solidFill>
                <a:effectLst/>
                <a:uLnTx/>
                <a:uFillTx/>
                <a:latin typeface="Times New Roman" panose="02020603050405020304" pitchFamily="18" charset="0"/>
              </a:endParaRPr>
            </a:p>
          </p:txBody>
        </p:sp>
      </p:grpSp>
    </p:spTree>
    <p:extLst>
      <p:ext uri="{BB962C8B-B14F-4D97-AF65-F5344CB8AC3E}">
        <p14:creationId xmlns:p14="http://schemas.microsoft.com/office/powerpoint/2010/main" val="15493555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87</a:t>
            </a:fld>
            <a:endParaRPr lang="zh-CN" altLang="en-US"/>
          </a:p>
        </p:txBody>
      </p:sp>
      <p:grpSp>
        <p:nvGrpSpPr>
          <p:cNvPr id="3" name="Group 112"/>
          <p:cNvGrpSpPr>
            <a:grpSpLocks/>
          </p:cNvGrpSpPr>
          <p:nvPr/>
        </p:nvGrpSpPr>
        <p:grpSpPr bwMode="auto">
          <a:xfrm>
            <a:off x="709230" y="241941"/>
            <a:ext cx="1865312" cy="531813"/>
            <a:chOff x="493" y="944"/>
            <a:chExt cx="1175" cy="335"/>
          </a:xfrm>
        </p:grpSpPr>
        <p:sp>
          <p:nvSpPr>
            <p:cNvPr id="4" name="Rectangle 155"/>
            <p:cNvSpPr>
              <a:spLocks noChangeArrowheads="1"/>
            </p:cNvSpPr>
            <p:nvPr/>
          </p:nvSpPr>
          <p:spPr bwMode="auto">
            <a:xfrm>
              <a:off x="1296" y="1114"/>
              <a:ext cx="16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inv</a:t>
              </a:r>
              <a:endParaRPr lang="en-US" altLang="zh-TW">
                <a:ea typeface="新細明體" pitchFamily="18" charset="-120"/>
              </a:endParaRPr>
            </a:p>
          </p:txBody>
        </p:sp>
        <p:sp>
          <p:nvSpPr>
            <p:cNvPr id="5" name="Rectangle 156"/>
            <p:cNvSpPr>
              <a:spLocks noChangeArrowheads="1"/>
            </p:cNvSpPr>
            <p:nvPr/>
          </p:nvSpPr>
          <p:spPr bwMode="auto">
            <a:xfrm>
              <a:off x="587" y="1114"/>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6" name="Rectangle 187"/>
            <p:cNvSpPr>
              <a:spLocks noChangeArrowheads="1"/>
            </p:cNvSpPr>
            <p:nvPr/>
          </p:nvSpPr>
          <p:spPr bwMode="auto">
            <a:xfrm>
              <a:off x="1472" y="970"/>
              <a:ext cx="19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7" name="Rectangle 188"/>
            <p:cNvSpPr>
              <a:spLocks noChangeArrowheads="1"/>
            </p:cNvSpPr>
            <p:nvPr/>
          </p:nvSpPr>
          <p:spPr bwMode="auto">
            <a:xfrm>
              <a:off x="946" y="970"/>
              <a:ext cx="45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dirty="0">
                  <a:solidFill>
                    <a:srgbClr val="000000"/>
                  </a:solidFill>
                  <a:ea typeface="新細明體" pitchFamily="18" charset="-120"/>
                </a:rPr>
                <a:t>WQ</a:t>
              </a:r>
              <a:endParaRPr lang="en-US" altLang="zh-TW" dirty="0">
                <a:ea typeface="新細明體" pitchFamily="18" charset="-120"/>
              </a:endParaRPr>
            </a:p>
          </p:txBody>
        </p:sp>
        <p:sp>
          <p:nvSpPr>
            <p:cNvPr id="8" name="Rectangle 189"/>
            <p:cNvSpPr>
              <a:spLocks noChangeArrowheads="1"/>
            </p:cNvSpPr>
            <p:nvPr/>
          </p:nvSpPr>
          <p:spPr bwMode="auto">
            <a:xfrm>
              <a:off x="493" y="970"/>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9" name="Rectangle 219"/>
            <p:cNvSpPr>
              <a:spLocks noChangeArrowheads="1"/>
            </p:cNvSpPr>
            <p:nvPr/>
          </p:nvSpPr>
          <p:spPr bwMode="auto">
            <a:xfrm>
              <a:off x="788" y="944"/>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grpSp>
        <p:nvGrpSpPr>
          <p:cNvPr id="10" name="Group 109"/>
          <p:cNvGrpSpPr>
            <a:grpSpLocks/>
          </p:cNvGrpSpPr>
          <p:nvPr/>
        </p:nvGrpSpPr>
        <p:grpSpPr bwMode="auto">
          <a:xfrm>
            <a:off x="762409" y="3481695"/>
            <a:ext cx="6951662" cy="1004887"/>
            <a:chOff x="493" y="2751"/>
            <a:chExt cx="4379" cy="633"/>
          </a:xfrm>
        </p:grpSpPr>
        <p:sp>
          <p:nvSpPr>
            <p:cNvPr id="11" name="Line 124"/>
            <p:cNvSpPr>
              <a:spLocks noChangeShapeType="1"/>
            </p:cNvSpPr>
            <p:nvPr/>
          </p:nvSpPr>
          <p:spPr bwMode="auto">
            <a:xfrm>
              <a:off x="2864" y="3045"/>
              <a:ext cx="193"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Rectangle 125"/>
            <p:cNvSpPr>
              <a:spLocks noChangeArrowheads="1"/>
            </p:cNvSpPr>
            <p:nvPr/>
          </p:nvSpPr>
          <p:spPr bwMode="auto">
            <a:xfrm>
              <a:off x="4713" y="3034"/>
              <a:ext cx="15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sat</a:t>
              </a:r>
              <a:endParaRPr lang="en-US" altLang="zh-TW">
                <a:ea typeface="新細明體" pitchFamily="18" charset="-120"/>
              </a:endParaRPr>
            </a:p>
          </p:txBody>
        </p:sp>
        <p:sp>
          <p:nvSpPr>
            <p:cNvPr id="13" name="Rectangle 126"/>
            <p:cNvSpPr>
              <a:spLocks noChangeArrowheads="1"/>
            </p:cNvSpPr>
            <p:nvPr/>
          </p:nvSpPr>
          <p:spPr bwMode="auto">
            <a:xfrm>
              <a:off x="4266"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4" name="Rectangle 127"/>
            <p:cNvSpPr>
              <a:spLocks noChangeArrowheads="1"/>
            </p:cNvSpPr>
            <p:nvPr/>
          </p:nvSpPr>
          <p:spPr bwMode="auto">
            <a:xfrm>
              <a:off x="4014"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5" name="Rectangle 128"/>
            <p:cNvSpPr>
              <a:spLocks noChangeArrowheads="1"/>
            </p:cNvSpPr>
            <p:nvPr/>
          </p:nvSpPr>
          <p:spPr bwMode="auto">
            <a:xfrm>
              <a:off x="3561"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6" name="Rectangle 129"/>
            <p:cNvSpPr>
              <a:spLocks noChangeArrowheads="1"/>
            </p:cNvSpPr>
            <p:nvPr/>
          </p:nvSpPr>
          <p:spPr bwMode="auto">
            <a:xfrm>
              <a:off x="3212"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7" name="Rectangle 130"/>
            <p:cNvSpPr>
              <a:spLocks noChangeArrowheads="1"/>
            </p:cNvSpPr>
            <p:nvPr/>
          </p:nvSpPr>
          <p:spPr bwMode="auto">
            <a:xfrm>
              <a:off x="2586" y="3040"/>
              <a:ext cx="9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t</a:t>
              </a:r>
              <a:endParaRPr lang="en-US" altLang="zh-TW">
                <a:ea typeface="新細明體" pitchFamily="18" charset="-120"/>
              </a:endParaRPr>
            </a:p>
          </p:txBody>
        </p:sp>
        <p:sp>
          <p:nvSpPr>
            <p:cNvPr id="18" name="Rectangle 131"/>
            <p:cNvSpPr>
              <a:spLocks noChangeArrowheads="1"/>
            </p:cNvSpPr>
            <p:nvPr/>
          </p:nvSpPr>
          <p:spPr bwMode="auto">
            <a:xfrm>
              <a:off x="2122"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gs</a:t>
              </a:r>
              <a:endParaRPr lang="en-US" altLang="zh-TW">
                <a:ea typeface="新細明體" pitchFamily="18" charset="-120"/>
              </a:endParaRPr>
            </a:p>
          </p:txBody>
        </p:sp>
        <p:sp>
          <p:nvSpPr>
            <p:cNvPr id="19" name="Rectangle 132"/>
            <p:cNvSpPr>
              <a:spLocks noChangeArrowheads="1"/>
            </p:cNvSpPr>
            <p:nvPr/>
          </p:nvSpPr>
          <p:spPr bwMode="auto">
            <a:xfrm>
              <a:off x="1768"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ns</a:t>
              </a:r>
              <a:endParaRPr lang="en-US" altLang="zh-TW">
                <a:ea typeface="新細明體" pitchFamily="18" charset="-120"/>
              </a:endParaRPr>
            </a:p>
          </p:txBody>
        </p:sp>
        <p:sp>
          <p:nvSpPr>
            <p:cNvPr id="20" name="Rectangle 133"/>
            <p:cNvSpPr>
              <a:spLocks noChangeArrowheads="1"/>
            </p:cNvSpPr>
            <p:nvPr/>
          </p:nvSpPr>
          <p:spPr bwMode="auto">
            <a:xfrm>
              <a:off x="1420" y="3040"/>
              <a:ext cx="12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dirty="0" smtClean="0">
                  <a:solidFill>
                    <a:srgbClr val="000000"/>
                  </a:solidFill>
                  <a:ea typeface="新細明體" pitchFamily="18" charset="-120"/>
                </a:rPr>
                <a:t>ox</a:t>
              </a:r>
              <a:endParaRPr lang="en-US" altLang="zh-TW" dirty="0">
                <a:ea typeface="新細明體" pitchFamily="18" charset="-120"/>
              </a:endParaRPr>
            </a:p>
          </p:txBody>
        </p:sp>
        <p:sp>
          <p:nvSpPr>
            <p:cNvPr id="21" name="Rectangle 134"/>
            <p:cNvSpPr>
              <a:spLocks noChangeArrowheads="1"/>
            </p:cNvSpPr>
            <p:nvPr/>
          </p:nvSpPr>
          <p:spPr bwMode="auto">
            <a:xfrm>
              <a:off x="587" y="304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22" name="Rectangle 157"/>
            <p:cNvSpPr>
              <a:spLocks noChangeArrowheads="1"/>
            </p:cNvSpPr>
            <p:nvPr/>
          </p:nvSpPr>
          <p:spPr bwMode="auto">
            <a:xfrm>
              <a:off x="4572" y="2933"/>
              <a:ext cx="9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i="0" dirty="0">
                  <a:solidFill>
                    <a:srgbClr val="000000"/>
                  </a:solidFill>
                  <a:latin typeface="Script" pitchFamily="66"/>
                  <a:ea typeface="新細明體" pitchFamily="18" charset="-120"/>
                </a:rPr>
                <a:t>E</a:t>
              </a:r>
              <a:endParaRPr lang="en-US" altLang="zh-TW" dirty="0">
                <a:ea typeface="新細明體" pitchFamily="18" charset="-120"/>
              </a:endParaRPr>
            </a:p>
          </p:txBody>
        </p:sp>
        <p:sp>
          <p:nvSpPr>
            <p:cNvPr id="23" name="Rectangle 158"/>
            <p:cNvSpPr>
              <a:spLocks noChangeArrowheads="1"/>
            </p:cNvSpPr>
            <p:nvPr/>
          </p:nvSpPr>
          <p:spPr bwMode="auto">
            <a:xfrm>
              <a:off x="4129" y="2897"/>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24" name="Rectangle 159"/>
            <p:cNvSpPr>
              <a:spLocks noChangeArrowheads="1"/>
            </p:cNvSpPr>
            <p:nvPr/>
          </p:nvSpPr>
          <p:spPr bwMode="auto">
            <a:xfrm>
              <a:off x="3921" y="2897"/>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25" name="Rectangle 160"/>
            <p:cNvSpPr>
              <a:spLocks noChangeArrowheads="1"/>
            </p:cNvSpPr>
            <p:nvPr/>
          </p:nvSpPr>
          <p:spPr bwMode="auto">
            <a:xfrm>
              <a:off x="3424" y="2897"/>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26" name="Rectangle 161"/>
            <p:cNvSpPr>
              <a:spLocks noChangeArrowheads="1"/>
            </p:cNvSpPr>
            <p:nvPr/>
          </p:nvSpPr>
          <p:spPr bwMode="auto">
            <a:xfrm>
              <a:off x="3075" y="2897"/>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27" name="Rectangle 162"/>
            <p:cNvSpPr>
              <a:spLocks noChangeArrowheads="1"/>
            </p:cNvSpPr>
            <p:nvPr/>
          </p:nvSpPr>
          <p:spPr bwMode="auto">
            <a:xfrm>
              <a:off x="2879" y="2751"/>
              <a:ext cx="26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m</a:t>
              </a:r>
              <a:endParaRPr lang="en-US" altLang="zh-TW">
                <a:ea typeface="新細明體" pitchFamily="18" charset="-120"/>
              </a:endParaRPr>
            </a:p>
          </p:txBody>
        </p:sp>
        <p:sp>
          <p:nvSpPr>
            <p:cNvPr id="28" name="Rectangle 163"/>
            <p:cNvSpPr>
              <a:spLocks noChangeArrowheads="1"/>
            </p:cNvSpPr>
            <p:nvPr/>
          </p:nvSpPr>
          <p:spPr bwMode="auto">
            <a:xfrm>
              <a:off x="2453" y="2897"/>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29" name="Rectangle 164"/>
            <p:cNvSpPr>
              <a:spLocks noChangeArrowheads="1"/>
            </p:cNvSpPr>
            <p:nvPr/>
          </p:nvSpPr>
          <p:spPr bwMode="auto">
            <a:xfrm>
              <a:off x="1979" y="2897"/>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30" name="Rectangle 165"/>
            <p:cNvSpPr>
              <a:spLocks noChangeArrowheads="1"/>
            </p:cNvSpPr>
            <p:nvPr/>
          </p:nvSpPr>
          <p:spPr bwMode="auto">
            <a:xfrm>
              <a:off x="1073" y="2897"/>
              <a:ext cx="4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WC</a:t>
              </a:r>
              <a:endParaRPr lang="en-US" altLang="zh-TW">
                <a:ea typeface="新細明體" pitchFamily="18" charset="-120"/>
              </a:endParaRPr>
            </a:p>
          </p:txBody>
        </p:sp>
        <p:sp>
          <p:nvSpPr>
            <p:cNvPr id="31" name="Rectangle 166"/>
            <p:cNvSpPr>
              <a:spLocks noChangeArrowheads="1"/>
            </p:cNvSpPr>
            <p:nvPr/>
          </p:nvSpPr>
          <p:spPr bwMode="auto">
            <a:xfrm>
              <a:off x="730" y="2897"/>
              <a:ext cx="22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L</a:t>
              </a:r>
              <a:endParaRPr lang="en-US" altLang="zh-TW">
                <a:ea typeface="新細明體" pitchFamily="18" charset="-120"/>
              </a:endParaRPr>
            </a:p>
          </p:txBody>
        </p:sp>
        <p:sp>
          <p:nvSpPr>
            <p:cNvPr id="32" name="Rectangle 167"/>
            <p:cNvSpPr>
              <a:spLocks noChangeArrowheads="1"/>
            </p:cNvSpPr>
            <p:nvPr/>
          </p:nvSpPr>
          <p:spPr bwMode="auto">
            <a:xfrm>
              <a:off x="493" y="2897"/>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33" name="Rectangle 191"/>
            <p:cNvSpPr>
              <a:spLocks noChangeArrowheads="1"/>
            </p:cNvSpPr>
            <p:nvPr/>
          </p:nvSpPr>
          <p:spPr bwMode="auto">
            <a:xfrm>
              <a:off x="4448" y="2897"/>
              <a:ext cx="1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dirty="0">
                  <a:solidFill>
                    <a:srgbClr val="000000"/>
                  </a:solidFill>
                  <a:ea typeface="新細明體" pitchFamily="18" charset="-120"/>
                </a:rPr>
                <a:t>/</a:t>
              </a:r>
              <a:endParaRPr lang="en-US" altLang="zh-TW" dirty="0">
                <a:ea typeface="新細明體" pitchFamily="18" charset="-120"/>
              </a:endParaRPr>
            </a:p>
          </p:txBody>
        </p:sp>
        <p:sp>
          <p:nvSpPr>
            <p:cNvPr id="34" name="Rectangle 192"/>
            <p:cNvSpPr>
              <a:spLocks noChangeArrowheads="1"/>
            </p:cNvSpPr>
            <p:nvPr/>
          </p:nvSpPr>
          <p:spPr bwMode="auto">
            <a:xfrm>
              <a:off x="3363" y="2897"/>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35" name="Rectangle 193"/>
            <p:cNvSpPr>
              <a:spLocks noChangeArrowheads="1"/>
            </p:cNvSpPr>
            <p:nvPr/>
          </p:nvSpPr>
          <p:spPr bwMode="auto">
            <a:xfrm>
              <a:off x="2906" y="3077"/>
              <a:ext cx="20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2</a:t>
              </a:r>
              <a:endParaRPr lang="en-US" altLang="zh-TW">
                <a:ea typeface="新細明體" pitchFamily="18" charset="-120"/>
              </a:endParaRPr>
            </a:p>
          </p:txBody>
        </p:sp>
        <p:sp>
          <p:nvSpPr>
            <p:cNvPr id="36" name="Rectangle 194"/>
            <p:cNvSpPr>
              <a:spLocks noChangeArrowheads="1"/>
            </p:cNvSpPr>
            <p:nvPr/>
          </p:nvSpPr>
          <p:spPr bwMode="auto">
            <a:xfrm>
              <a:off x="1918" y="2897"/>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37" name="Rectangle 207"/>
            <p:cNvSpPr>
              <a:spLocks noChangeArrowheads="1"/>
            </p:cNvSpPr>
            <p:nvPr/>
          </p:nvSpPr>
          <p:spPr bwMode="auto">
            <a:xfrm>
              <a:off x="3747" y="2871"/>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38" name="Rectangle 208"/>
            <p:cNvSpPr>
              <a:spLocks noChangeArrowheads="1"/>
            </p:cNvSpPr>
            <p:nvPr/>
          </p:nvSpPr>
          <p:spPr bwMode="auto">
            <a:xfrm>
              <a:off x="2694" y="2871"/>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39" name="Rectangle 209"/>
            <p:cNvSpPr>
              <a:spLocks noChangeArrowheads="1"/>
            </p:cNvSpPr>
            <p:nvPr/>
          </p:nvSpPr>
          <p:spPr bwMode="auto">
            <a:xfrm>
              <a:off x="2309" y="2871"/>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0" name="Rectangle 210"/>
            <p:cNvSpPr>
              <a:spLocks noChangeArrowheads="1"/>
            </p:cNvSpPr>
            <p:nvPr/>
          </p:nvSpPr>
          <p:spPr bwMode="auto">
            <a:xfrm>
              <a:off x="914" y="2871"/>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1" name="Rectangle 222"/>
            <p:cNvSpPr>
              <a:spLocks noChangeArrowheads="1"/>
            </p:cNvSpPr>
            <p:nvPr/>
          </p:nvSpPr>
          <p:spPr bwMode="auto">
            <a:xfrm>
              <a:off x="1623" y="2871"/>
              <a:ext cx="27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grpSp>
      <p:grpSp>
        <p:nvGrpSpPr>
          <p:cNvPr id="42" name="Group 110"/>
          <p:cNvGrpSpPr>
            <a:grpSpLocks/>
          </p:cNvGrpSpPr>
          <p:nvPr/>
        </p:nvGrpSpPr>
        <p:grpSpPr bwMode="auto">
          <a:xfrm>
            <a:off x="693353" y="2359896"/>
            <a:ext cx="7789862" cy="854075"/>
            <a:chOff x="489" y="2243"/>
            <a:chExt cx="4907" cy="538"/>
          </a:xfrm>
        </p:grpSpPr>
        <p:sp>
          <p:nvSpPr>
            <p:cNvPr id="43" name="Rectangle 135"/>
            <p:cNvSpPr>
              <a:spLocks noChangeArrowheads="1"/>
            </p:cNvSpPr>
            <p:nvPr/>
          </p:nvSpPr>
          <p:spPr bwMode="auto">
            <a:xfrm>
              <a:off x="5283" y="2475"/>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cs</a:t>
              </a:r>
              <a:endParaRPr lang="en-US" altLang="zh-TW">
                <a:ea typeface="新細明體" pitchFamily="18" charset="-120"/>
              </a:endParaRPr>
            </a:p>
          </p:txBody>
        </p:sp>
        <p:sp>
          <p:nvSpPr>
            <p:cNvPr id="44" name="Rectangle 136"/>
            <p:cNvSpPr>
              <a:spLocks noChangeArrowheads="1"/>
            </p:cNvSpPr>
            <p:nvPr/>
          </p:nvSpPr>
          <p:spPr bwMode="auto">
            <a:xfrm>
              <a:off x="4805" y="2475"/>
              <a:ext cx="21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sat</a:t>
              </a:r>
              <a:endParaRPr lang="en-US" altLang="zh-TW">
                <a:ea typeface="新細明體" pitchFamily="18" charset="-120"/>
              </a:endParaRPr>
            </a:p>
          </p:txBody>
        </p:sp>
        <p:sp>
          <p:nvSpPr>
            <p:cNvPr id="45" name="Rectangle 137"/>
            <p:cNvSpPr>
              <a:spLocks noChangeArrowheads="1"/>
            </p:cNvSpPr>
            <p:nvPr/>
          </p:nvSpPr>
          <p:spPr bwMode="auto">
            <a:xfrm>
              <a:off x="598" y="2243"/>
              <a:ext cx="1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L</a:t>
              </a:r>
              <a:endParaRPr lang="en-US" altLang="zh-TW">
                <a:ea typeface="新細明體" pitchFamily="18" charset="-120"/>
              </a:endParaRPr>
            </a:p>
          </p:txBody>
        </p:sp>
        <p:sp>
          <p:nvSpPr>
            <p:cNvPr id="46" name="Rectangle 138"/>
            <p:cNvSpPr>
              <a:spLocks noChangeArrowheads="1"/>
            </p:cNvSpPr>
            <p:nvPr/>
          </p:nvSpPr>
          <p:spPr bwMode="auto">
            <a:xfrm>
              <a:off x="1496" y="2243"/>
              <a:ext cx="13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V</a:t>
              </a:r>
              <a:endParaRPr lang="en-US" altLang="zh-TW">
                <a:ea typeface="新細明體" pitchFamily="18" charset="-120"/>
              </a:endParaRPr>
            </a:p>
          </p:txBody>
        </p:sp>
        <p:sp>
          <p:nvSpPr>
            <p:cNvPr id="47" name="Rectangle 139"/>
            <p:cNvSpPr>
              <a:spLocks noChangeArrowheads="1"/>
            </p:cNvSpPr>
            <p:nvPr/>
          </p:nvSpPr>
          <p:spPr bwMode="auto">
            <a:xfrm>
              <a:off x="4371" y="2475"/>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48" name="Rectangle 140"/>
            <p:cNvSpPr>
              <a:spLocks noChangeArrowheads="1"/>
            </p:cNvSpPr>
            <p:nvPr/>
          </p:nvSpPr>
          <p:spPr bwMode="auto">
            <a:xfrm>
              <a:off x="3917" y="2475"/>
              <a:ext cx="9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t</a:t>
              </a:r>
              <a:endParaRPr lang="en-US" altLang="zh-TW">
                <a:ea typeface="新細明體" pitchFamily="18" charset="-120"/>
              </a:endParaRPr>
            </a:p>
          </p:txBody>
        </p:sp>
        <p:sp>
          <p:nvSpPr>
            <p:cNvPr id="49" name="Rectangle 141"/>
            <p:cNvSpPr>
              <a:spLocks noChangeArrowheads="1"/>
            </p:cNvSpPr>
            <p:nvPr/>
          </p:nvSpPr>
          <p:spPr bwMode="auto">
            <a:xfrm>
              <a:off x="3462" y="2475"/>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cs</a:t>
              </a:r>
              <a:endParaRPr lang="en-US" altLang="zh-TW">
                <a:ea typeface="新細明體" pitchFamily="18" charset="-120"/>
              </a:endParaRPr>
            </a:p>
          </p:txBody>
        </p:sp>
        <p:sp>
          <p:nvSpPr>
            <p:cNvPr id="50" name="Rectangle 142"/>
            <p:cNvSpPr>
              <a:spLocks noChangeArrowheads="1"/>
            </p:cNvSpPr>
            <p:nvPr/>
          </p:nvSpPr>
          <p:spPr bwMode="auto">
            <a:xfrm>
              <a:off x="2809" y="2475"/>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gs</a:t>
              </a:r>
              <a:endParaRPr lang="en-US" altLang="zh-TW">
                <a:ea typeface="新細明體" pitchFamily="18" charset="-120"/>
              </a:endParaRPr>
            </a:p>
          </p:txBody>
        </p:sp>
        <p:sp>
          <p:nvSpPr>
            <p:cNvPr id="51" name="Rectangle 143"/>
            <p:cNvSpPr>
              <a:spLocks noChangeArrowheads="1"/>
            </p:cNvSpPr>
            <p:nvPr/>
          </p:nvSpPr>
          <p:spPr bwMode="auto">
            <a:xfrm>
              <a:off x="2454" y="2475"/>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ns</a:t>
              </a:r>
              <a:endParaRPr lang="en-US" altLang="zh-TW">
                <a:ea typeface="新細明體" pitchFamily="18" charset="-120"/>
              </a:endParaRPr>
            </a:p>
          </p:txBody>
        </p:sp>
        <p:sp>
          <p:nvSpPr>
            <p:cNvPr id="52" name="Rectangle 144"/>
            <p:cNvSpPr>
              <a:spLocks noChangeArrowheads="1"/>
            </p:cNvSpPr>
            <p:nvPr/>
          </p:nvSpPr>
          <p:spPr bwMode="auto">
            <a:xfrm>
              <a:off x="2107" y="2475"/>
              <a:ext cx="12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dirty="0" smtClean="0">
                  <a:solidFill>
                    <a:srgbClr val="000000"/>
                  </a:solidFill>
                  <a:ea typeface="新細明體" pitchFamily="18" charset="-120"/>
                </a:rPr>
                <a:t>ox</a:t>
              </a:r>
              <a:endParaRPr lang="en-US" altLang="zh-TW" dirty="0">
                <a:ea typeface="新細明體" pitchFamily="18" charset="-120"/>
              </a:endParaRPr>
            </a:p>
          </p:txBody>
        </p:sp>
        <p:sp>
          <p:nvSpPr>
            <p:cNvPr id="53" name="Rectangle 145"/>
            <p:cNvSpPr>
              <a:spLocks noChangeArrowheads="1"/>
            </p:cNvSpPr>
            <p:nvPr/>
          </p:nvSpPr>
          <p:spPr bwMode="auto">
            <a:xfrm>
              <a:off x="810" y="2475"/>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54" name="Rectangle 168"/>
            <p:cNvSpPr>
              <a:spLocks noChangeArrowheads="1"/>
            </p:cNvSpPr>
            <p:nvPr/>
          </p:nvSpPr>
          <p:spPr bwMode="auto">
            <a:xfrm>
              <a:off x="5033" y="2331"/>
              <a:ext cx="25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dV</a:t>
              </a:r>
              <a:endParaRPr lang="en-US" altLang="zh-TW">
                <a:ea typeface="新細明體" pitchFamily="18" charset="-120"/>
              </a:endParaRPr>
            </a:p>
          </p:txBody>
        </p:sp>
        <p:sp>
          <p:nvSpPr>
            <p:cNvPr id="55" name="Rectangle 169"/>
            <p:cNvSpPr>
              <a:spLocks noChangeArrowheads="1"/>
            </p:cNvSpPr>
            <p:nvPr/>
          </p:nvSpPr>
          <p:spPr bwMode="auto">
            <a:xfrm>
              <a:off x="4654" y="2367"/>
              <a:ext cx="9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i="0">
                  <a:solidFill>
                    <a:srgbClr val="000000"/>
                  </a:solidFill>
                  <a:latin typeface="Script" pitchFamily="66"/>
                  <a:ea typeface="新細明體" pitchFamily="18" charset="-120"/>
                </a:rPr>
                <a:t>E</a:t>
              </a:r>
              <a:endParaRPr lang="en-US" altLang="zh-TW">
                <a:ea typeface="新細明體" pitchFamily="18" charset="-120"/>
              </a:endParaRPr>
            </a:p>
          </p:txBody>
        </p:sp>
        <p:sp>
          <p:nvSpPr>
            <p:cNvPr id="56" name="Rectangle 170"/>
            <p:cNvSpPr>
              <a:spLocks noChangeArrowheads="1"/>
            </p:cNvSpPr>
            <p:nvPr/>
          </p:nvSpPr>
          <p:spPr bwMode="auto">
            <a:xfrm>
              <a:off x="4278"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57" name="Rectangle 171"/>
            <p:cNvSpPr>
              <a:spLocks noChangeArrowheads="1"/>
            </p:cNvSpPr>
            <p:nvPr/>
          </p:nvSpPr>
          <p:spPr bwMode="auto">
            <a:xfrm>
              <a:off x="3784" y="2331"/>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58" name="Rectangle 172"/>
            <p:cNvSpPr>
              <a:spLocks noChangeArrowheads="1"/>
            </p:cNvSpPr>
            <p:nvPr/>
          </p:nvSpPr>
          <p:spPr bwMode="auto">
            <a:xfrm>
              <a:off x="3161" y="2331"/>
              <a:ext cx="40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mV</a:t>
              </a:r>
              <a:endParaRPr lang="en-US" altLang="zh-TW">
                <a:ea typeface="新細明體" pitchFamily="18" charset="-120"/>
              </a:endParaRPr>
            </a:p>
          </p:txBody>
        </p:sp>
        <p:sp>
          <p:nvSpPr>
            <p:cNvPr id="59" name="Rectangle 173"/>
            <p:cNvSpPr>
              <a:spLocks noChangeArrowheads="1"/>
            </p:cNvSpPr>
            <p:nvPr/>
          </p:nvSpPr>
          <p:spPr bwMode="auto">
            <a:xfrm>
              <a:off x="2666" y="2331"/>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60" name="Rectangle 174"/>
            <p:cNvSpPr>
              <a:spLocks noChangeArrowheads="1"/>
            </p:cNvSpPr>
            <p:nvPr/>
          </p:nvSpPr>
          <p:spPr bwMode="auto">
            <a:xfrm>
              <a:off x="1759" y="2331"/>
              <a:ext cx="4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WC</a:t>
              </a:r>
              <a:endParaRPr lang="en-US" altLang="zh-TW">
                <a:ea typeface="新細明體" pitchFamily="18" charset="-120"/>
              </a:endParaRPr>
            </a:p>
          </p:txBody>
        </p:sp>
        <p:sp>
          <p:nvSpPr>
            <p:cNvPr id="61" name="Rectangle 175"/>
            <p:cNvSpPr>
              <a:spLocks noChangeArrowheads="1"/>
            </p:cNvSpPr>
            <p:nvPr/>
          </p:nvSpPr>
          <p:spPr bwMode="auto">
            <a:xfrm>
              <a:off x="946" y="2331"/>
              <a:ext cx="21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dx</a:t>
              </a:r>
              <a:endParaRPr lang="en-US" altLang="zh-TW">
                <a:ea typeface="新細明體" pitchFamily="18" charset="-120"/>
              </a:endParaRPr>
            </a:p>
          </p:txBody>
        </p:sp>
        <p:sp>
          <p:nvSpPr>
            <p:cNvPr id="62" name="Rectangle 176"/>
            <p:cNvSpPr>
              <a:spLocks noChangeArrowheads="1"/>
            </p:cNvSpPr>
            <p:nvPr/>
          </p:nvSpPr>
          <p:spPr bwMode="auto">
            <a:xfrm>
              <a:off x="716"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63" name="Rectangle 190"/>
            <p:cNvSpPr>
              <a:spLocks noChangeArrowheads="1"/>
            </p:cNvSpPr>
            <p:nvPr/>
          </p:nvSpPr>
          <p:spPr bwMode="auto">
            <a:xfrm>
              <a:off x="1578" y="2312"/>
              <a:ext cx="8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200" b="0">
                  <a:solidFill>
                    <a:srgbClr val="000000"/>
                  </a:solidFill>
                  <a:ea typeface="新細明體" pitchFamily="18" charset="-120"/>
                </a:rPr>
                <a:t>ds</a:t>
              </a:r>
              <a:endParaRPr lang="en-US" altLang="zh-TW">
                <a:ea typeface="新細明體" pitchFamily="18" charset="-120"/>
              </a:endParaRPr>
            </a:p>
          </p:txBody>
        </p:sp>
        <p:sp>
          <p:nvSpPr>
            <p:cNvPr id="64" name="Rectangle 195"/>
            <p:cNvSpPr>
              <a:spLocks noChangeArrowheads="1"/>
            </p:cNvSpPr>
            <p:nvPr/>
          </p:nvSpPr>
          <p:spPr bwMode="auto">
            <a:xfrm>
              <a:off x="4961"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65" name="Rectangle 196"/>
            <p:cNvSpPr>
              <a:spLocks noChangeArrowheads="1"/>
            </p:cNvSpPr>
            <p:nvPr/>
          </p:nvSpPr>
          <p:spPr bwMode="auto">
            <a:xfrm>
              <a:off x="4554" y="2331"/>
              <a:ext cx="1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66" name="Rectangle 197"/>
            <p:cNvSpPr>
              <a:spLocks noChangeArrowheads="1"/>
            </p:cNvSpPr>
            <p:nvPr/>
          </p:nvSpPr>
          <p:spPr bwMode="auto">
            <a:xfrm>
              <a:off x="3989"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67" name="Rectangle 198"/>
            <p:cNvSpPr>
              <a:spLocks noChangeArrowheads="1"/>
            </p:cNvSpPr>
            <p:nvPr/>
          </p:nvSpPr>
          <p:spPr bwMode="auto">
            <a:xfrm>
              <a:off x="2605"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68" name="Rectangle 199"/>
            <p:cNvSpPr>
              <a:spLocks noChangeArrowheads="1"/>
            </p:cNvSpPr>
            <p:nvPr/>
          </p:nvSpPr>
          <p:spPr bwMode="auto">
            <a:xfrm>
              <a:off x="1698" y="2331"/>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69" name="Rectangle 205"/>
            <p:cNvSpPr>
              <a:spLocks noChangeArrowheads="1"/>
            </p:cNvSpPr>
            <p:nvPr/>
          </p:nvSpPr>
          <p:spPr bwMode="auto">
            <a:xfrm>
              <a:off x="557" y="2542"/>
              <a:ext cx="12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i="0">
                  <a:solidFill>
                    <a:srgbClr val="000000"/>
                  </a:solidFill>
                  <a:ea typeface="新細明體" pitchFamily="18" charset="-120"/>
                </a:rPr>
                <a:t>0</a:t>
              </a:r>
              <a:endParaRPr lang="en-US" altLang="zh-TW">
                <a:ea typeface="新細明體" pitchFamily="18" charset="-120"/>
              </a:endParaRPr>
            </a:p>
          </p:txBody>
        </p:sp>
        <p:sp>
          <p:nvSpPr>
            <p:cNvPr id="70" name="Rectangle 206"/>
            <p:cNvSpPr>
              <a:spLocks noChangeArrowheads="1"/>
            </p:cNvSpPr>
            <p:nvPr/>
          </p:nvSpPr>
          <p:spPr bwMode="auto">
            <a:xfrm>
              <a:off x="1472" y="2542"/>
              <a:ext cx="12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i="0">
                  <a:solidFill>
                    <a:srgbClr val="000000"/>
                  </a:solidFill>
                  <a:ea typeface="新細明體" pitchFamily="18" charset="-120"/>
                </a:rPr>
                <a:t>0</a:t>
              </a:r>
              <a:endParaRPr lang="en-US" altLang="zh-TW">
                <a:ea typeface="新細明體" pitchFamily="18" charset="-120"/>
              </a:endParaRPr>
            </a:p>
          </p:txBody>
        </p:sp>
        <p:sp>
          <p:nvSpPr>
            <p:cNvPr id="71" name="Rectangle 211"/>
            <p:cNvSpPr>
              <a:spLocks noChangeArrowheads="1"/>
            </p:cNvSpPr>
            <p:nvPr/>
          </p:nvSpPr>
          <p:spPr bwMode="auto">
            <a:xfrm>
              <a:off x="4105" y="2305"/>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72" name="Rectangle 212"/>
            <p:cNvSpPr>
              <a:spLocks noChangeArrowheads="1"/>
            </p:cNvSpPr>
            <p:nvPr/>
          </p:nvSpPr>
          <p:spPr bwMode="auto">
            <a:xfrm>
              <a:off x="3640" y="2305"/>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dirty="0">
                  <a:solidFill>
                    <a:srgbClr val="000000"/>
                  </a:solidFill>
                  <a:latin typeface="Symbol" panose="05050102010706020507" pitchFamily="18" charset="2"/>
                  <a:ea typeface="新細明體" pitchFamily="18" charset="-120"/>
                </a:rPr>
                <a:t>-</a:t>
              </a:r>
              <a:endParaRPr lang="en-US" altLang="zh-TW" dirty="0">
                <a:ea typeface="新細明體" pitchFamily="18" charset="-120"/>
              </a:endParaRPr>
            </a:p>
          </p:txBody>
        </p:sp>
        <p:sp>
          <p:nvSpPr>
            <p:cNvPr id="73" name="Rectangle 213"/>
            <p:cNvSpPr>
              <a:spLocks noChangeArrowheads="1"/>
            </p:cNvSpPr>
            <p:nvPr/>
          </p:nvSpPr>
          <p:spPr bwMode="auto">
            <a:xfrm>
              <a:off x="2995" y="2305"/>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74" name="Rectangle 214"/>
            <p:cNvSpPr>
              <a:spLocks noChangeArrowheads="1"/>
            </p:cNvSpPr>
            <p:nvPr/>
          </p:nvSpPr>
          <p:spPr bwMode="auto">
            <a:xfrm>
              <a:off x="1220" y="2305"/>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75" name="Rectangle 220"/>
            <p:cNvSpPr>
              <a:spLocks noChangeArrowheads="1"/>
            </p:cNvSpPr>
            <p:nvPr/>
          </p:nvSpPr>
          <p:spPr bwMode="auto">
            <a:xfrm>
              <a:off x="489" y="2272"/>
              <a:ext cx="308"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4300" b="0" i="0">
                  <a:solidFill>
                    <a:srgbClr val="000000"/>
                  </a:solidFill>
                  <a:latin typeface="Symbol" panose="05050102010706020507" pitchFamily="18" charset="2"/>
                  <a:ea typeface="新細明體" pitchFamily="18" charset="-120"/>
                </a:rPr>
                <a:t>ò</a:t>
              </a:r>
              <a:endParaRPr lang="en-US" altLang="zh-TW">
                <a:ea typeface="新細明體" pitchFamily="18" charset="-120"/>
              </a:endParaRPr>
            </a:p>
          </p:txBody>
        </p:sp>
        <p:sp>
          <p:nvSpPr>
            <p:cNvPr id="76" name="Rectangle 221"/>
            <p:cNvSpPr>
              <a:spLocks noChangeArrowheads="1"/>
            </p:cNvSpPr>
            <p:nvPr/>
          </p:nvSpPr>
          <p:spPr bwMode="auto">
            <a:xfrm>
              <a:off x="1404" y="2272"/>
              <a:ext cx="308" cy="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4300" b="0" i="0">
                  <a:solidFill>
                    <a:srgbClr val="000000"/>
                  </a:solidFill>
                  <a:latin typeface="Symbol" panose="05050102010706020507" pitchFamily="18" charset="2"/>
                  <a:ea typeface="新細明體" pitchFamily="18" charset="-120"/>
                </a:rPr>
                <a:t>ò</a:t>
              </a:r>
              <a:endParaRPr lang="en-US" altLang="zh-TW">
                <a:ea typeface="新細明體" pitchFamily="18" charset="-120"/>
              </a:endParaRPr>
            </a:p>
          </p:txBody>
        </p:sp>
        <p:sp>
          <p:nvSpPr>
            <p:cNvPr id="77" name="Rectangle 223"/>
            <p:cNvSpPr>
              <a:spLocks noChangeArrowheads="1"/>
            </p:cNvSpPr>
            <p:nvPr/>
          </p:nvSpPr>
          <p:spPr bwMode="auto">
            <a:xfrm>
              <a:off x="2309" y="2305"/>
              <a:ext cx="27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grpSp>
      <p:grpSp>
        <p:nvGrpSpPr>
          <p:cNvPr id="78" name="Group 111"/>
          <p:cNvGrpSpPr>
            <a:grpSpLocks/>
          </p:cNvGrpSpPr>
          <p:nvPr/>
        </p:nvGrpSpPr>
        <p:grpSpPr bwMode="auto">
          <a:xfrm>
            <a:off x="709230" y="927742"/>
            <a:ext cx="5913437" cy="1455738"/>
            <a:chOff x="493" y="1296"/>
            <a:chExt cx="3725" cy="917"/>
          </a:xfrm>
        </p:grpSpPr>
        <p:sp>
          <p:nvSpPr>
            <p:cNvPr id="79" name="Line 122"/>
            <p:cNvSpPr>
              <a:spLocks noChangeShapeType="1"/>
            </p:cNvSpPr>
            <p:nvPr/>
          </p:nvSpPr>
          <p:spPr bwMode="auto">
            <a:xfrm>
              <a:off x="3301" y="1907"/>
              <a:ext cx="416"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123"/>
            <p:cNvSpPr>
              <a:spLocks noChangeShapeType="1"/>
            </p:cNvSpPr>
            <p:nvPr/>
          </p:nvSpPr>
          <p:spPr bwMode="auto">
            <a:xfrm>
              <a:off x="3004" y="1616"/>
              <a:ext cx="121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Rectangle 146"/>
            <p:cNvSpPr>
              <a:spLocks noChangeArrowheads="1"/>
            </p:cNvSpPr>
            <p:nvPr/>
          </p:nvSpPr>
          <p:spPr bwMode="auto">
            <a:xfrm>
              <a:off x="4027" y="1884"/>
              <a:ext cx="15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sat</a:t>
              </a:r>
              <a:endParaRPr lang="en-US" altLang="zh-TW">
                <a:ea typeface="新細明體" pitchFamily="18" charset="-120"/>
              </a:endParaRPr>
            </a:p>
          </p:txBody>
        </p:sp>
        <p:sp>
          <p:nvSpPr>
            <p:cNvPr id="82" name="Rectangle 147"/>
            <p:cNvSpPr>
              <a:spLocks noChangeArrowheads="1"/>
            </p:cNvSpPr>
            <p:nvPr/>
          </p:nvSpPr>
          <p:spPr bwMode="auto">
            <a:xfrm>
              <a:off x="3566" y="1760"/>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cs</a:t>
              </a:r>
              <a:endParaRPr lang="en-US" altLang="zh-TW">
                <a:ea typeface="新細明體" pitchFamily="18" charset="-120"/>
              </a:endParaRPr>
            </a:p>
          </p:txBody>
        </p:sp>
        <p:sp>
          <p:nvSpPr>
            <p:cNvPr id="83" name="Rectangle 148"/>
            <p:cNvSpPr>
              <a:spLocks noChangeArrowheads="1"/>
            </p:cNvSpPr>
            <p:nvPr/>
          </p:nvSpPr>
          <p:spPr bwMode="auto">
            <a:xfrm>
              <a:off x="3631" y="1466"/>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cs</a:t>
              </a:r>
              <a:endParaRPr lang="en-US" altLang="zh-TW">
                <a:ea typeface="新細明體" pitchFamily="18" charset="-120"/>
              </a:endParaRPr>
            </a:p>
          </p:txBody>
        </p:sp>
        <p:sp>
          <p:nvSpPr>
            <p:cNvPr id="84" name="Rectangle 149"/>
            <p:cNvSpPr>
              <a:spLocks noChangeArrowheads="1"/>
            </p:cNvSpPr>
            <p:nvPr/>
          </p:nvSpPr>
          <p:spPr bwMode="auto">
            <a:xfrm>
              <a:off x="3245" y="1466"/>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ns</a:t>
              </a:r>
              <a:endParaRPr lang="en-US" altLang="zh-TW">
                <a:ea typeface="新細明體" pitchFamily="18" charset="-120"/>
              </a:endParaRPr>
            </a:p>
          </p:txBody>
        </p:sp>
        <p:sp>
          <p:nvSpPr>
            <p:cNvPr id="85" name="Rectangle 150"/>
            <p:cNvSpPr>
              <a:spLocks noChangeArrowheads="1"/>
            </p:cNvSpPr>
            <p:nvPr/>
          </p:nvSpPr>
          <p:spPr bwMode="auto">
            <a:xfrm>
              <a:off x="2820" y="1612"/>
              <a:ext cx="9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t</a:t>
              </a:r>
              <a:endParaRPr lang="en-US" altLang="zh-TW">
                <a:ea typeface="新細明體" pitchFamily="18" charset="-120"/>
              </a:endParaRPr>
            </a:p>
          </p:txBody>
        </p:sp>
        <p:sp>
          <p:nvSpPr>
            <p:cNvPr id="86" name="Rectangle 151"/>
            <p:cNvSpPr>
              <a:spLocks noChangeArrowheads="1"/>
            </p:cNvSpPr>
            <p:nvPr/>
          </p:nvSpPr>
          <p:spPr bwMode="auto">
            <a:xfrm>
              <a:off x="2365" y="1612"/>
              <a:ext cx="1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cs</a:t>
              </a:r>
              <a:endParaRPr lang="en-US" altLang="zh-TW">
                <a:ea typeface="新細明體" pitchFamily="18" charset="-120"/>
              </a:endParaRPr>
            </a:p>
          </p:txBody>
        </p:sp>
        <p:sp>
          <p:nvSpPr>
            <p:cNvPr id="87" name="Rectangle 152"/>
            <p:cNvSpPr>
              <a:spLocks noChangeArrowheads="1"/>
            </p:cNvSpPr>
            <p:nvPr/>
          </p:nvSpPr>
          <p:spPr bwMode="auto">
            <a:xfrm>
              <a:off x="1712" y="1612"/>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gs</a:t>
              </a:r>
              <a:endParaRPr lang="en-US" altLang="zh-TW">
                <a:ea typeface="新細明體" pitchFamily="18" charset="-120"/>
              </a:endParaRPr>
            </a:p>
          </p:txBody>
        </p:sp>
        <p:sp>
          <p:nvSpPr>
            <p:cNvPr id="88" name="Rectangle 153"/>
            <p:cNvSpPr>
              <a:spLocks noChangeArrowheads="1"/>
            </p:cNvSpPr>
            <p:nvPr/>
          </p:nvSpPr>
          <p:spPr bwMode="auto">
            <a:xfrm>
              <a:off x="1294" y="1612"/>
              <a:ext cx="12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dirty="0" smtClean="0">
                  <a:solidFill>
                    <a:srgbClr val="000000"/>
                  </a:solidFill>
                  <a:ea typeface="新細明體" pitchFamily="18" charset="-120"/>
                </a:rPr>
                <a:t>ox</a:t>
              </a:r>
              <a:endParaRPr lang="en-US" altLang="zh-TW" dirty="0">
                <a:ea typeface="新細明體" pitchFamily="18" charset="-120"/>
              </a:endParaRPr>
            </a:p>
          </p:txBody>
        </p:sp>
        <p:sp>
          <p:nvSpPr>
            <p:cNvPr id="89" name="Rectangle 154"/>
            <p:cNvSpPr>
              <a:spLocks noChangeArrowheads="1"/>
            </p:cNvSpPr>
            <p:nvPr/>
          </p:nvSpPr>
          <p:spPr bwMode="auto">
            <a:xfrm>
              <a:off x="587" y="1612"/>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90" name="Rectangle 177"/>
            <p:cNvSpPr>
              <a:spLocks noChangeArrowheads="1"/>
            </p:cNvSpPr>
            <p:nvPr/>
          </p:nvSpPr>
          <p:spPr bwMode="auto">
            <a:xfrm>
              <a:off x="3886" y="1786"/>
              <a:ext cx="9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i="0">
                  <a:solidFill>
                    <a:srgbClr val="000000"/>
                  </a:solidFill>
                  <a:latin typeface="Script" pitchFamily="66"/>
                  <a:ea typeface="新細明體" pitchFamily="18" charset="-120"/>
                </a:rPr>
                <a:t>E</a:t>
              </a:r>
              <a:endParaRPr lang="en-US" altLang="zh-TW">
                <a:ea typeface="新細明體" pitchFamily="18" charset="-120"/>
              </a:endParaRPr>
            </a:p>
          </p:txBody>
        </p:sp>
        <p:sp>
          <p:nvSpPr>
            <p:cNvPr id="91" name="Rectangle 178"/>
            <p:cNvSpPr>
              <a:spLocks noChangeArrowheads="1"/>
            </p:cNvSpPr>
            <p:nvPr/>
          </p:nvSpPr>
          <p:spPr bwMode="auto">
            <a:xfrm>
              <a:off x="3400" y="1935"/>
              <a:ext cx="21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dx</a:t>
              </a:r>
              <a:endParaRPr lang="en-US" altLang="zh-TW">
                <a:ea typeface="新細明體" pitchFamily="18" charset="-120"/>
              </a:endParaRPr>
            </a:p>
          </p:txBody>
        </p:sp>
        <p:sp>
          <p:nvSpPr>
            <p:cNvPr id="92" name="Rectangle 179"/>
            <p:cNvSpPr>
              <a:spLocks noChangeArrowheads="1"/>
            </p:cNvSpPr>
            <p:nvPr/>
          </p:nvSpPr>
          <p:spPr bwMode="auto">
            <a:xfrm>
              <a:off x="3316" y="1616"/>
              <a:ext cx="25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dV</a:t>
              </a:r>
              <a:endParaRPr lang="en-US" altLang="zh-TW">
                <a:ea typeface="新細明體" pitchFamily="18" charset="-120"/>
              </a:endParaRPr>
            </a:p>
          </p:txBody>
        </p:sp>
        <p:sp>
          <p:nvSpPr>
            <p:cNvPr id="93" name="Rectangle 180"/>
            <p:cNvSpPr>
              <a:spLocks noChangeArrowheads="1"/>
            </p:cNvSpPr>
            <p:nvPr/>
          </p:nvSpPr>
          <p:spPr bwMode="auto">
            <a:xfrm>
              <a:off x="3910" y="1322"/>
              <a:ext cx="21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dx</a:t>
              </a:r>
              <a:endParaRPr lang="en-US" altLang="zh-TW">
                <a:ea typeface="新細明體" pitchFamily="18" charset="-120"/>
              </a:endParaRPr>
            </a:p>
          </p:txBody>
        </p:sp>
        <p:sp>
          <p:nvSpPr>
            <p:cNvPr id="94" name="Rectangle 181"/>
            <p:cNvSpPr>
              <a:spLocks noChangeArrowheads="1"/>
            </p:cNvSpPr>
            <p:nvPr/>
          </p:nvSpPr>
          <p:spPr bwMode="auto">
            <a:xfrm>
              <a:off x="3381" y="1322"/>
              <a:ext cx="25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dV</a:t>
              </a:r>
              <a:endParaRPr lang="en-US" altLang="zh-TW">
                <a:ea typeface="新細明體" pitchFamily="18" charset="-120"/>
              </a:endParaRPr>
            </a:p>
          </p:txBody>
        </p:sp>
        <p:sp>
          <p:nvSpPr>
            <p:cNvPr id="95" name="Rectangle 182"/>
            <p:cNvSpPr>
              <a:spLocks noChangeArrowheads="1"/>
            </p:cNvSpPr>
            <p:nvPr/>
          </p:nvSpPr>
          <p:spPr bwMode="auto">
            <a:xfrm>
              <a:off x="2687" y="1468"/>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96" name="Rectangle 183"/>
            <p:cNvSpPr>
              <a:spLocks noChangeArrowheads="1"/>
            </p:cNvSpPr>
            <p:nvPr/>
          </p:nvSpPr>
          <p:spPr bwMode="auto">
            <a:xfrm>
              <a:off x="2064" y="1468"/>
              <a:ext cx="40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mV</a:t>
              </a:r>
              <a:endParaRPr lang="en-US" altLang="zh-TW">
                <a:ea typeface="新細明體" pitchFamily="18" charset="-120"/>
              </a:endParaRPr>
            </a:p>
          </p:txBody>
        </p:sp>
        <p:sp>
          <p:nvSpPr>
            <p:cNvPr id="97" name="Rectangle 184"/>
            <p:cNvSpPr>
              <a:spLocks noChangeArrowheads="1"/>
            </p:cNvSpPr>
            <p:nvPr/>
          </p:nvSpPr>
          <p:spPr bwMode="auto">
            <a:xfrm>
              <a:off x="1569" y="1468"/>
              <a:ext cx="2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98" name="Rectangle 185"/>
            <p:cNvSpPr>
              <a:spLocks noChangeArrowheads="1"/>
            </p:cNvSpPr>
            <p:nvPr/>
          </p:nvSpPr>
          <p:spPr bwMode="auto">
            <a:xfrm>
              <a:off x="946" y="1468"/>
              <a:ext cx="4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WC</a:t>
              </a:r>
              <a:endParaRPr lang="en-US" altLang="zh-TW">
                <a:ea typeface="新細明體" pitchFamily="18" charset="-120"/>
              </a:endParaRPr>
            </a:p>
          </p:txBody>
        </p:sp>
        <p:sp>
          <p:nvSpPr>
            <p:cNvPr id="99" name="Rectangle 186"/>
            <p:cNvSpPr>
              <a:spLocks noChangeArrowheads="1"/>
            </p:cNvSpPr>
            <p:nvPr/>
          </p:nvSpPr>
          <p:spPr bwMode="auto">
            <a:xfrm>
              <a:off x="493" y="1468"/>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100" name="Rectangle 200"/>
            <p:cNvSpPr>
              <a:spLocks noChangeArrowheads="1"/>
            </p:cNvSpPr>
            <p:nvPr/>
          </p:nvSpPr>
          <p:spPr bwMode="auto">
            <a:xfrm>
              <a:off x="3792" y="1776"/>
              <a:ext cx="6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01" name="Rectangle 201"/>
            <p:cNvSpPr>
              <a:spLocks noChangeArrowheads="1"/>
            </p:cNvSpPr>
            <p:nvPr/>
          </p:nvSpPr>
          <p:spPr bwMode="auto">
            <a:xfrm>
              <a:off x="2994" y="1758"/>
              <a:ext cx="20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1</a:t>
              </a:r>
              <a:endParaRPr lang="en-US" altLang="zh-TW">
                <a:ea typeface="新細明體" pitchFamily="18" charset="-120"/>
              </a:endParaRPr>
            </a:p>
          </p:txBody>
        </p:sp>
        <p:sp>
          <p:nvSpPr>
            <p:cNvPr id="102" name="Rectangle 202"/>
            <p:cNvSpPr>
              <a:spLocks noChangeArrowheads="1"/>
            </p:cNvSpPr>
            <p:nvPr/>
          </p:nvSpPr>
          <p:spPr bwMode="auto">
            <a:xfrm>
              <a:off x="3805" y="1322"/>
              <a:ext cx="1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03" name="Rectangle 203"/>
            <p:cNvSpPr>
              <a:spLocks noChangeArrowheads="1"/>
            </p:cNvSpPr>
            <p:nvPr/>
          </p:nvSpPr>
          <p:spPr bwMode="auto">
            <a:xfrm>
              <a:off x="2892" y="1468"/>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04" name="Rectangle 204"/>
            <p:cNvSpPr>
              <a:spLocks noChangeArrowheads="1"/>
            </p:cNvSpPr>
            <p:nvPr/>
          </p:nvSpPr>
          <p:spPr bwMode="auto">
            <a:xfrm>
              <a:off x="1507" y="1468"/>
              <a:ext cx="1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05" name="Rectangle 215"/>
            <p:cNvSpPr>
              <a:spLocks noChangeArrowheads="1"/>
            </p:cNvSpPr>
            <p:nvPr/>
          </p:nvSpPr>
          <p:spPr bwMode="auto">
            <a:xfrm>
              <a:off x="3128" y="1732"/>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06" name="Rectangle 216"/>
            <p:cNvSpPr>
              <a:spLocks noChangeArrowheads="1"/>
            </p:cNvSpPr>
            <p:nvPr/>
          </p:nvSpPr>
          <p:spPr bwMode="auto">
            <a:xfrm>
              <a:off x="2543" y="1442"/>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07" name="Rectangle 217"/>
            <p:cNvSpPr>
              <a:spLocks noChangeArrowheads="1"/>
            </p:cNvSpPr>
            <p:nvPr/>
          </p:nvSpPr>
          <p:spPr bwMode="auto">
            <a:xfrm>
              <a:off x="1898" y="1442"/>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08" name="Rectangle 218"/>
            <p:cNvSpPr>
              <a:spLocks noChangeArrowheads="1"/>
            </p:cNvSpPr>
            <p:nvPr/>
          </p:nvSpPr>
          <p:spPr bwMode="auto">
            <a:xfrm>
              <a:off x="788" y="1442"/>
              <a:ext cx="267"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09" name="Rectangle 224"/>
            <p:cNvSpPr>
              <a:spLocks noChangeArrowheads="1"/>
            </p:cNvSpPr>
            <p:nvPr/>
          </p:nvSpPr>
          <p:spPr bwMode="auto">
            <a:xfrm>
              <a:off x="3100" y="1296"/>
              <a:ext cx="27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grpSp>
      <p:grpSp>
        <p:nvGrpSpPr>
          <p:cNvPr id="110" name="Group 60"/>
          <p:cNvGrpSpPr>
            <a:grpSpLocks/>
          </p:cNvGrpSpPr>
          <p:nvPr/>
        </p:nvGrpSpPr>
        <p:grpSpPr bwMode="auto">
          <a:xfrm>
            <a:off x="1993439" y="4680418"/>
            <a:ext cx="5091113" cy="1874838"/>
            <a:chOff x="1254" y="934"/>
            <a:chExt cx="3207" cy="1181"/>
          </a:xfrm>
        </p:grpSpPr>
        <p:sp>
          <p:nvSpPr>
            <p:cNvPr id="111" name="Line 22"/>
            <p:cNvSpPr>
              <a:spLocks noChangeShapeType="1"/>
            </p:cNvSpPr>
            <p:nvPr/>
          </p:nvSpPr>
          <p:spPr bwMode="auto">
            <a:xfrm>
              <a:off x="1750" y="1224"/>
              <a:ext cx="22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 name="Line 23"/>
            <p:cNvSpPr>
              <a:spLocks noChangeShapeType="1"/>
            </p:cNvSpPr>
            <p:nvPr/>
          </p:nvSpPr>
          <p:spPr bwMode="auto">
            <a:xfrm>
              <a:off x="3607" y="1224"/>
              <a:ext cx="193"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 name="Line 24"/>
            <p:cNvSpPr>
              <a:spLocks noChangeShapeType="1"/>
            </p:cNvSpPr>
            <p:nvPr/>
          </p:nvSpPr>
          <p:spPr bwMode="auto">
            <a:xfrm>
              <a:off x="2987" y="1779"/>
              <a:ext cx="494"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25"/>
            <p:cNvSpPr>
              <a:spLocks noChangeShapeType="1"/>
            </p:cNvSpPr>
            <p:nvPr/>
          </p:nvSpPr>
          <p:spPr bwMode="auto">
            <a:xfrm>
              <a:off x="1731" y="1488"/>
              <a:ext cx="273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 name="Rectangle 26"/>
            <p:cNvSpPr>
              <a:spLocks noChangeArrowheads="1"/>
            </p:cNvSpPr>
            <p:nvPr/>
          </p:nvSpPr>
          <p:spPr bwMode="auto">
            <a:xfrm>
              <a:off x="3340" y="1808"/>
              <a:ext cx="22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L</a:t>
              </a:r>
              <a:endParaRPr lang="en-US" altLang="zh-TW">
                <a:ea typeface="新細明體" pitchFamily="18" charset="-120"/>
              </a:endParaRPr>
            </a:p>
          </p:txBody>
        </p:sp>
        <p:sp>
          <p:nvSpPr>
            <p:cNvPr id="116" name="Rectangle 27"/>
            <p:cNvSpPr>
              <a:spLocks noChangeArrowheads="1"/>
            </p:cNvSpPr>
            <p:nvPr/>
          </p:nvSpPr>
          <p:spPr bwMode="auto">
            <a:xfrm>
              <a:off x="3018" y="1826"/>
              <a:ext cx="9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i="0">
                  <a:solidFill>
                    <a:srgbClr val="000000"/>
                  </a:solidFill>
                  <a:latin typeface="Script" pitchFamily="66"/>
                  <a:ea typeface="新細明體" pitchFamily="18" charset="-120"/>
                </a:rPr>
                <a:t>E</a:t>
              </a:r>
              <a:endParaRPr lang="en-US" altLang="zh-TW">
                <a:ea typeface="新細明體" pitchFamily="18" charset="-120"/>
              </a:endParaRPr>
            </a:p>
          </p:txBody>
        </p:sp>
        <p:sp>
          <p:nvSpPr>
            <p:cNvPr id="117" name="Rectangle 28"/>
            <p:cNvSpPr>
              <a:spLocks noChangeArrowheads="1"/>
            </p:cNvSpPr>
            <p:nvPr/>
          </p:nvSpPr>
          <p:spPr bwMode="auto">
            <a:xfrm>
              <a:off x="3084" y="1488"/>
              <a:ext cx="2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118" name="Rectangle 29"/>
            <p:cNvSpPr>
              <a:spLocks noChangeArrowheads="1"/>
            </p:cNvSpPr>
            <p:nvPr/>
          </p:nvSpPr>
          <p:spPr bwMode="auto">
            <a:xfrm>
              <a:off x="4166" y="1076"/>
              <a:ext cx="2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119" name="Rectangle 30"/>
            <p:cNvSpPr>
              <a:spLocks noChangeArrowheads="1"/>
            </p:cNvSpPr>
            <p:nvPr/>
          </p:nvSpPr>
          <p:spPr bwMode="auto">
            <a:xfrm>
              <a:off x="3818" y="1076"/>
              <a:ext cx="2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120" name="Rectangle 31"/>
            <p:cNvSpPr>
              <a:spLocks noChangeArrowheads="1"/>
            </p:cNvSpPr>
            <p:nvPr/>
          </p:nvSpPr>
          <p:spPr bwMode="auto">
            <a:xfrm>
              <a:off x="3623" y="934"/>
              <a:ext cx="26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m</a:t>
              </a:r>
              <a:endParaRPr lang="en-US" altLang="zh-TW">
                <a:ea typeface="新細明體" pitchFamily="18" charset="-120"/>
              </a:endParaRPr>
            </a:p>
          </p:txBody>
        </p:sp>
        <p:sp>
          <p:nvSpPr>
            <p:cNvPr id="121" name="Rectangle 32"/>
            <p:cNvSpPr>
              <a:spLocks noChangeArrowheads="1"/>
            </p:cNvSpPr>
            <p:nvPr/>
          </p:nvSpPr>
          <p:spPr bwMode="auto">
            <a:xfrm>
              <a:off x="3198" y="1076"/>
              <a:ext cx="2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122" name="Rectangle 33"/>
            <p:cNvSpPr>
              <a:spLocks noChangeArrowheads="1"/>
            </p:cNvSpPr>
            <p:nvPr/>
          </p:nvSpPr>
          <p:spPr bwMode="auto">
            <a:xfrm>
              <a:off x="2725" y="1076"/>
              <a:ext cx="2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V</a:t>
              </a:r>
              <a:endParaRPr lang="en-US" altLang="zh-TW">
                <a:ea typeface="新細明體" pitchFamily="18" charset="-120"/>
              </a:endParaRPr>
            </a:p>
          </p:txBody>
        </p:sp>
        <p:sp>
          <p:nvSpPr>
            <p:cNvPr id="123" name="Rectangle 34"/>
            <p:cNvSpPr>
              <a:spLocks noChangeArrowheads="1"/>
            </p:cNvSpPr>
            <p:nvPr/>
          </p:nvSpPr>
          <p:spPr bwMode="auto">
            <a:xfrm>
              <a:off x="2012" y="1076"/>
              <a:ext cx="24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C</a:t>
              </a:r>
              <a:endParaRPr lang="en-US" altLang="zh-TW">
                <a:ea typeface="新細明體" pitchFamily="18" charset="-120"/>
              </a:endParaRPr>
            </a:p>
          </p:txBody>
        </p:sp>
        <p:sp>
          <p:nvSpPr>
            <p:cNvPr id="124" name="Rectangle 35"/>
            <p:cNvSpPr>
              <a:spLocks noChangeArrowheads="1"/>
            </p:cNvSpPr>
            <p:nvPr/>
          </p:nvSpPr>
          <p:spPr bwMode="auto">
            <a:xfrm>
              <a:off x="1806" y="1238"/>
              <a:ext cx="22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L</a:t>
              </a:r>
              <a:endParaRPr lang="en-US" altLang="zh-TW">
                <a:ea typeface="新細明體" pitchFamily="18" charset="-120"/>
              </a:endParaRPr>
            </a:p>
          </p:txBody>
        </p:sp>
        <p:sp>
          <p:nvSpPr>
            <p:cNvPr id="125" name="Rectangle 36"/>
            <p:cNvSpPr>
              <a:spLocks noChangeArrowheads="1"/>
            </p:cNvSpPr>
            <p:nvPr/>
          </p:nvSpPr>
          <p:spPr bwMode="auto">
            <a:xfrm>
              <a:off x="1744" y="934"/>
              <a:ext cx="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W</a:t>
              </a:r>
              <a:endParaRPr lang="en-US" altLang="zh-TW">
                <a:ea typeface="新細明體" pitchFamily="18" charset="-120"/>
              </a:endParaRPr>
            </a:p>
          </p:txBody>
        </p:sp>
        <p:sp>
          <p:nvSpPr>
            <p:cNvPr id="126" name="Rectangle 37"/>
            <p:cNvSpPr>
              <a:spLocks noChangeArrowheads="1"/>
            </p:cNvSpPr>
            <p:nvPr/>
          </p:nvSpPr>
          <p:spPr bwMode="auto">
            <a:xfrm>
              <a:off x="1254" y="1340"/>
              <a:ext cx="17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ea typeface="新細明體" pitchFamily="18" charset="-120"/>
                </a:rPr>
                <a:t>I</a:t>
              </a:r>
              <a:endParaRPr lang="en-US" altLang="zh-TW">
                <a:ea typeface="新細明體" pitchFamily="18" charset="-120"/>
              </a:endParaRPr>
            </a:p>
          </p:txBody>
        </p:sp>
        <p:sp>
          <p:nvSpPr>
            <p:cNvPr id="127" name="Rectangle 38"/>
            <p:cNvSpPr>
              <a:spLocks noChangeArrowheads="1"/>
            </p:cNvSpPr>
            <p:nvPr/>
          </p:nvSpPr>
          <p:spPr bwMode="auto">
            <a:xfrm>
              <a:off x="3159" y="1934"/>
              <a:ext cx="15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sat</a:t>
              </a:r>
              <a:endParaRPr lang="en-US" altLang="zh-TW">
                <a:ea typeface="新細明體" pitchFamily="18" charset="-120"/>
              </a:endParaRPr>
            </a:p>
          </p:txBody>
        </p:sp>
        <p:sp>
          <p:nvSpPr>
            <p:cNvPr id="128" name="Rectangle 39"/>
            <p:cNvSpPr>
              <a:spLocks noChangeArrowheads="1"/>
            </p:cNvSpPr>
            <p:nvPr/>
          </p:nvSpPr>
          <p:spPr bwMode="auto">
            <a:xfrm>
              <a:off x="3221" y="1632"/>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29" name="Rectangle 40"/>
            <p:cNvSpPr>
              <a:spLocks noChangeArrowheads="1"/>
            </p:cNvSpPr>
            <p:nvPr/>
          </p:nvSpPr>
          <p:spPr bwMode="auto">
            <a:xfrm>
              <a:off x="4303" y="122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dirty="0">
                  <a:solidFill>
                    <a:srgbClr val="000000"/>
                  </a:solidFill>
                  <a:ea typeface="新細明體" pitchFamily="18" charset="-120"/>
                </a:rPr>
                <a:t>ds</a:t>
              </a:r>
              <a:endParaRPr lang="en-US" altLang="zh-TW" dirty="0">
                <a:ea typeface="新細明體" pitchFamily="18" charset="-120"/>
              </a:endParaRPr>
            </a:p>
          </p:txBody>
        </p:sp>
        <p:sp>
          <p:nvSpPr>
            <p:cNvPr id="130" name="Rectangle 41"/>
            <p:cNvSpPr>
              <a:spLocks noChangeArrowheads="1"/>
            </p:cNvSpPr>
            <p:nvPr/>
          </p:nvSpPr>
          <p:spPr bwMode="auto">
            <a:xfrm>
              <a:off x="3955" y="122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31" name="Rectangle 42"/>
            <p:cNvSpPr>
              <a:spLocks noChangeArrowheads="1"/>
            </p:cNvSpPr>
            <p:nvPr/>
          </p:nvSpPr>
          <p:spPr bwMode="auto">
            <a:xfrm>
              <a:off x="3330" y="1220"/>
              <a:ext cx="9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t</a:t>
              </a:r>
              <a:endParaRPr lang="en-US" altLang="zh-TW">
                <a:ea typeface="新細明體" pitchFamily="18" charset="-120"/>
              </a:endParaRPr>
            </a:p>
          </p:txBody>
        </p:sp>
        <p:sp>
          <p:nvSpPr>
            <p:cNvPr id="132" name="Rectangle 43"/>
            <p:cNvSpPr>
              <a:spLocks noChangeArrowheads="1"/>
            </p:cNvSpPr>
            <p:nvPr/>
          </p:nvSpPr>
          <p:spPr bwMode="auto">
            <a:xfrm>
              <a:off x="2868" y="122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gs</a:t>
              </a:r>
              <a:endParaRPr lang="en-US" altLang="zh-TW">
                <a:ea typeface="新細明體" pitchFamily="18" charset="-120"/>
              </a:endParaRPr>
            </a:p>
          </p:txBody>
        </p:sp>
        <p:sp>
          <p:nvSpPr>
            <p:cNvPr id="133" name="Rectangle 44"/>
            <p:cNvSpPr>
              <a:spLocks noChangeArrowheads="1"/>
            </p:cNvSpPr>
            <p:nvPr/>
          </p:nvSpPr>
          <p:spPr bwMode="auto">
            <a:xfrm>
              <a:off x="2514" y="1220"/>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ns</a:t>
              </a:r>
              <a:endParaRPr lang="en-US" altLang="zh-TW">
                <a:ea typeface="新細明體" pitchFamily="18" charset="-120"/>
              </a:endParaRPr>
            </a:p>
          </p:txBody>
        </p:sp>
        <p:sp>
          <p:nvSpPr>
            <p:cNvPr id="134" name="Rectangle 45"/>
            <p:cNvSpPr>
              <a:spLocks noChangeArrowheads="1"/>
            </p:cNvSpPr>
            <p:nvPr/>
          </p:nvSpPr>
          <p:spPr bwMode="auto">
            <a:xfrm>
              <a:off x="2168" y="1220"/>
              <a:ext cx="12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dirty="0" smtClean="0">
                  <a:solidFill>
                    <a:srgbClr val="000000"/>
                  </a:solidFill>
                  <a:ea typeface="新細明體" pitchFamily="18" charset="-120"/>
                </a:rPr>
                <a:t>ox</a:t>
              </a:r>
              <a:endParaRPr lang="en-US" altLang="zh-TW" dirty="0">
                <a:ea typeface="新細明體" pitchFamily="18" charset="-120"/>
              </a:endParaRPr>
            </a:p>
          </p:txBody>
        </p:sp>
        <p:sp>
          <p:nvSpPr>
            <p:cNvPr id="135" name="Rectangle 46"/>
            <p:cNvSpPr>
              <a:spLocks noChangeArrowheads="1"/>
            </p:cNvSpPr>
            <p:nvPr/>
          </p:nvSpPr>
          <p:spPr bwMode="auto">
            <a:xfrm>
              <a:off x="1348" y="1484"/>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36" name="Rectangle 47"/>
            <p:cNvSpPr>
              <a:spLocks noChangeArrowheads="1"/>
            </p:cNvSpPr>
            <p:nvPr/>
          </p:nvSpPr>
          <p:spPr bwMode="auto">
            <a:xfrm>
              <a:off x="2815" y="1605"/>
              <a:ext cx="26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37" name="Rectangle 48"/>
            <p:cNvSpPr>
              <a:spLocks noChangeArrowheads="1"/>
            </p:cNvSpPr>
            <p:nvPr/>
          </p:nvSpPr>
          <p:spPr bwMode="auto">
            <a:xfrm>
              <a:off x="3438" y="1050"/>
              <a:ext cx="26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dirty="0">
                  <a:solidFill>
                    <a:srgbClr val="000000"/>
                  </a:solidFill>
                  <a:latin typeface="Symbol" panose="05050102010706020507" pitchFamily="18" charset="2"/>
                  <a:ea typeface="新細明體" pitchFamily="18" charset="-120"/>
                </a:rPr>
                <a:t>-</a:t>
              </a:r>
              <a:endParaRPr lang="en-US" altLang="zh-TW" dirty="0">
                <a:ea typeface="新細明體" pitchFamily="18" charset="-120"/>
              </a:endParaRPr>
            </a:p>
          </p:txBody>
        </p:sp>
        <p:sp>
          <p:nvSpPr>
            <p:cNvPr id="138" name="Rectangle 49"/>
            <p:cNvSpPr>
              <a:spLocks noChangeArrowheads="1"/>
            </p:cNvSpPr>
            <p:nvPr/>
          </p:nvSpPr>
          <p:spPr bwMode="auto">
            <a:xfrm>
              <a:off x="3054" y="1050"/>
              <a:ext cx="26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39" name="Rectangle 50"/>
            <p:cNvSpPr>
              <a:spLocks noChangeArrowheads="1"/>
            </p:cNvSpPr>
            <p:nvPr/>
          </p:nvSpPr>
          <p:spPr bwMode="auto">
            <a:xfrm>
              <a:off x="1548" y="1314"/>
              <a:ext cx="26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40" name="Rectangle 51"/>
            <p:cNvSpPr>
              <a:spLocks noChangeArrowheads="1"/>
            </p:cNvSpPr>
            <p:nvPr/>
          </p:nvSpPr>
          <p:spPr bwMode="auto">
            <a:xfrm>
              <a:off x="2682" y="1631"/>
              <a:ext cx="20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1</a:t>
              </a:r>
              <a:endParaRPr lang="en-US" altLang="zh-TW">
                <a:ea typeface="新細明體" pitchFamily="18" charset="-120"/>
              </a:endParaRPr>
            </a:p>
          </p:txBody>
        </p:sp>
        <p:sp>
          <p:nvSpPr>
            <p:cNvPr id="141" name="Rectangle 52"/>
            <p:cNvSpPr>
              <a:spLocks noChangeArrowheads="1"/>
            </p:cNvSpPr>
            <p:nvPr/>
          </p:nvSpPr>
          <p:spPr bwMode="auto">
            <a:xfrm>
              <a:off x="4105" y="1076"/>
              <a:ext cx="16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42" name="Rectangle 53"/>
            <p:cNvSpPr>
              <a:spLocks noChangeArrowheads="1"/>
            </p:cNvSpPr>
            <p:nvPr/>
          </p:nvSpPr>
          <p:spPr bwMode="auto">
            <a:xfrm>
              <a:off x="3650" y="1253"/>
              <a:ext cx="20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2</a:t>
              </a:r>
              <a:endParaRPr lang="en-US" altLang="zh-TW">
                <a:ea typeface="新細明體" pitchFamily="18" charset="-120"/>
              </a:endParaRPr>
            </a:p>
          </p:txBody>
        </p:sp>
        <p:sp>
          <p:nvSpPr>
            <p:cNvPr id="143" name="Rectangle 54"/>
            <p:cNvSpPr>
              <a:spLocks noChangeArrowheads="1"/>
            </p:cNvSpPr>
            <p:nvPr/>
          </p:nvSpPr>
          <p:spPr bwMode="auto">
            <a:xfrm>
              <a:off x="2664" y="1076"/>
              <a:ext cx="16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i="0">
                  <a:solidFill>
                    <a:srgbClr val="000000"/>
                  </a:solidFill>
                  <a:ea typeface="新細明體" pitchFamily="18" charset="-120"/>
                </a:rPr>
                <a:t>(</a:t>
              </a:r>
              <a:endParaRPr lang="en-US" altLang="zh-TW">
                <a:ea typeface="新細明體" pitchFamily="18" charset="-120"/>
              </a:endParaRPr>
            </a:p>
          </p:txBody>
        </p:sp>
        <p:sp>
          <p:nvSpPr>
            <p:cNvPr id="144" name="Rectangle 55"/>
            <p:cNvSpPr>
              <a:spLocks noChangeArrowheads="1"/>
            </p:cNvSpPr>
            <p:nvPr/>
          </p:nvSpPr>
          <p:spPr bwMode="auto">
            <a:xfrm>
              <a:off x="2370" y="1050"/>
              <a:ext cx="27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9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grpSp>
    </p:spTree>
    <p:extLst>
      <p:ext uri="{BB962C8B-B14F-4D97-AF65-F5344CB8AC3E}">
        <p14:creationId xmlns:p14="http://schemas.microsoft.com/office/powerpoint/2010/main" val="34087809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88</a:t>
            </a:fld>
            <a:endParaRPr lang="zh-CN" altLang="en-US"/>
          </a:p>
        </p:txBody>
      </p:sp>
      <p:grpSp>
        <p:nvGrpSpPr>
          <p:cNvPr id="3" name="Group 59"/>
          <p:cNvGrpSpPr>
            <a:grpSpLocks/>
          </p:cNvGrpSpPr>
          <p:nvPr/>
        </p:nvGrpSpPr>
        <p:grpSpPr bwMode="auto">
          <a:xfrm>
            <a:off x="2665516" y="314970"/>
            <a:ext cx="3629025" cy="1135063"/>
            <a:chOff x="1698" y="2502"/>
            <a:chExt cx="2286" cy="715"/>
          </a:xfrm>
        </p:grpSpPr>
        <p:sp>
          <p:nvSpPr>
            <p:cNvPr id="4" name="Rectangle 73"/>
            <p:cNvSpPr>
              <a:spLocks noChangeArrowheads="1"/>
            </p:cNvSpPr>
            <p:nvPr/>
          </p:nvSpPr>
          <p:spPr bwMode="auto">
            <a:xfrm>
              <a:off x="1698" y="2502"/>
              <a:ext cx="2286" cy="71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 name="Line 56"/>
            <p:cNvSpPr>
              <a:spLocks noChangeShapeType="1"/>
            </p:cNvSpPr>
            <p:nvPr/>
          </p:nvSpPr>
          <p:spPr bwMode="auto">
            <a:xfrm>
              <a:off x="2251" y="2860"/>
              <a:ext cx="169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57"/>
            <p:cNvSpPr>
              <a:spLocks noChangeArrowheads="1"/>
            </p:cNvSpPr>
            <p:nvPr/>
          </p:nvSpPr>
          <p:spPr bwMode="auto">
            <a:xfrm>
              <a:off x="3546" y="2893"/>
              <a:ext cx="230"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L</a:t>
              </a:r>
              <a:endParaRPr lang="en-US" altLang="zh-TW">
                <a:ea typeface="新細明體" pitchFamily="18" charset="-120"/>
              </a:endParaRPr>
            </a:p>
          </p:txBody>
        </p:sp>
        <p:sp>
          <p:nvSpPr>
            <p:cNvPr id="7" name="Rectangle 58"/>
            <p:cNvSpPr>
              <a:spLocks noChangeArrowheads="1"/>
            </p:cNvSpPr>
            <p:nvPr/>
          </p:nvSpPr>
          <p:spPr bwMode="auto">
            <a:xfrm>
              <a:off x="3200" y="2917"/>
              <a:ext cx="1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i="0">
                  <a:solidFill>
                    <a:srgbClr val="000000"/>
                  </a:solidFill>
                  <a:latin typeface="Script" pitchFamily="66"/>
                  <a:ea typeface="新細明體" pitchFamily="18" charset="-120"/>
                </a:rPr>
                <a:t>E</a:t>
              </a:r>
              <a:endParaRPr lang="en-US" altLang="zh-TW">
                <a:ea typeface="新細明體" pitchFamily="18" charset="-120"/>
              </a:endParaRPr>
            </a:p>
          </p:txBody>
        </p:sp>
        <p:sp>
          <p:nvSpPr>
            <p:cNvPr id="8" name="Rectangle 59"/>
            <p:cNvSpPr>
              <a:spLocks noChangeArrowheads="1"/>
            </p:cNvSpPr>
            <p:nvPr/>
          </p:nvSpPr>
          <p:spPr bwMode="auto">
            <a:xfrm>
              <a:off x="2758" y="2893"/>
              <a:ext cx="244"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V</a:t>
              </a:r>
              <a:endParaRPr lang="en-US" altLang="zh-TW">
                <a:ea typeface="新細明體" pitchFamily="18" charset="-120"/>
              </a:endParaRPr>
            </a:p>
          </p:txBody>
        </p:sp>
        <p:sp>
          <p:nvSpPr>
            <p:cNvPr id="9" name="Rectangle 60"/>
            <p:cNvSpPr>
              <a:spLocks noChangeArrowheads="1"/>
            </p:cNvSpPr>
            <p:nvPr/>
          </p:nvSpPr>
          <p:spPr bwMode="auto">
            <a:xfrm>
              <a:off x="3705" y="2526"/>
              <a:ext cx="17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I</a:t>
              </a:r>
              <a:endParaRPr lang="en-US" altLang="zh-TW">
                <a:ea typeface="新細明體" pitchFamily="18" charset="-120"/>
              </a:endParaRPr>
            </a:p>
          </p:txBody>
        </p:sp>
        <p:sp>
          <p:nvSpPr>
            <p:cNvPr id="10" name="Rectangle 61"/>
            <p:cNvSpPr>
              <a:spLocks noChangeArrowheads="1"/>
            </p:cNvSpPr>
            <p:nvPr/>
          </p:nvSpPr>
          <p:spPr bwMode="auto">
            <a:xfrm>
              <a:off x="2852" y="2526"/>
              <a:ext cx="860"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channel</a:t>
              </a:r>
              <a:endParaRPr lang="en-US" altLang="zh-TW">
                <a:ea typeface="新細明體" pitchFamily="18" charset="-120"/>
              </a:endParaRPr>
            </a:p>
          </p:txBody>
        </p:sp>
        <p:sp>
          <p:nvSpPr>
            <p:cNvPr id="11" name="Rectangle 62"/>
            <p:cNvSpPr>
              <a:spLocks noChangeArrowheads="1"/>
            </p:cNvSpPr>
            <p:nvPr/>
          </p:nvSpPr>
          <p:spPr bwMode="auto">
            <a:xfrm>
              <a:off x="2737" y="2526"/>
              <a:ext cx="17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a:t>
              </a:r>
              <a:endParaRPr lang="en-US" altLang="zh-TW">
                <a:ea typeface="新細明體" pitchFamily="18" charset="-120"/>
              </a:endParaRPr>
            </a:p>
          </p:txBody>
        </p:sp>
        <p:sp>
          <p:nvSpPr>
            <p:cNvPr id="12" name="Rectangle 63"/>
            <p:cNvSpPr>
              <a:spLocks noChangeArrowheads="1"/>
            </p:cNvSpPr>
            <p:nvPr/>
          </p:nvSpPr>
          <p:spPr bwMode="auto">
            <a:xfrm>
              <a:off x="2260" y="2526"/>
              <a:ext cx="52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long</a:t>
              </a:r>
              <a:endParaRPr lang="en-US" altLang="zh-TW">
                <a:ea typeface="新細明體" pitchFamily="18" charset="-120"/>
              </a:endParaRPr>
            </a:p>
          </p:txBody>
        </p:sp>
        <p:sp>
          <p:nvSpPr>
            <p:cNvPr id="13" name="Rectangle 64"/>
            <p:cNvSpPr>
              <a:spLocks noChangeArrowheads="1"/>
            </p:cNvSpPr>
            <p:nvPr/>
          </p:nvSpPr>
          <p:spPr bwMode="auto">
            <a:xfrm>
              <a:off x="1741" y="2707"/>
              <a:ext cx="17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a:solidFill>
                    <a:srgbClr val="000000"/>
                  </a:solidFill>
                  <a:ea typeface="新細明體" pitchFamily="18" charset="-120"/>
                </a:rPr>
                <a:t>I</a:t>
              </a:r>
              <a:endParaRPr lang="en-US" altLang="zh-TW">
                <a:ea typeface="新細明體" pitchFamily="18" charset="-120"/>
              </a:endParaRPr>
            </a:p>
          </p:txBody>
        </p:sp>
        <p:sp>
          <p:nvSpPr>
            <p:cNvPr id="14" name="Rectangle 65"/>
            <p:cNvSpPr>
              <a:spLocks noChangeArrowheads="1"/>
            </p:cNvSpPr>
            <p:nvPr/>
          </p:nvSpPr>
          <p:spPr bwMode="auto">
            <a:xfrm>
              <a:off x="3358" y="3029"/>
              <a:ext cx="15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sat</a:t>
              </a:r>
              <a:endParaRPr lang="en-US" altLang="zh-TW">
                <a:ea typeface="新細明體" pitchFamily="18" charset="-120"/>
              </a:endParaRPr>
            </a:p>
          </p:txBody>
        </p:sp>
        <p:sp>
          <p:nvSpPr>
            <p:cNvPr id="15" name="Rectangle 66"/>
            <p:cNvSpPr>
              <a:spLocks noChangeArrowheads="1"/>
            </p:cNvSpPr>
            <p:nvPr/>
          </p:nvSpPr>
          <p:spPr bwMode="auto">
            <a:xfrm>
              <a:off x="2900" y="3041"/>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6" name="Rectangle 67"/>
            <p:cNvSpPr>
              <a:spLocks noChangeArrowheads="1"/>
            </p:cNvSpPr>
            <p:nvPr/>
          </p:nvSpPr>
          <p:spPr bwMode="auto">
            <a:xfrm>
              <a:off x="3802" y="2673"/>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7" name="Rectangle 68"/>
            <p:cNvSpPr>
              <a:spLocks noChangeArrowheads="1"/>
            </p:cNvSpPr>
            <p:nvPr/>
          </p:nvSpPr>
          <p:spPr bwMode="auto">
            <a:xfrm>
              <a:off x="1838" y="2855"/>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700" b="0">
                  <a:solidFill>
                    <a:srgbClr val="000000"/>
                  </a:solidFill>
                  <a:ea typeface="新細明體" pitchFamily="18" charset="-120"/>
                </a:rPr>
                <a:t>ds</a:t>
              </a:r>
              <a:endParaRPr lang="en-US" altLang="zh-TW">
                <a:ea typeface="新細明體" pitchFamily="18" charset="-120"/>
              </a:endParaRPr>
            </a:p>
          </p:txBody>
        </p:sp>
        <p:sp>
          <p:nvSpPr>
            <p:cNvPr id="18" name="Rectangle 69"/>
            <p:cNvSpPr>
              <a:spLocks noChangeArrowheads="1"/>
            </p:cNvSpPr>
            <p:nvPr/>
          </p:nvSpPr>
          <p:spPr bwMode="auto">
            <a:xfrm>
              <a:off x="3089" y="2893"/>
              <a:ext cx="16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i="0">
                  <a:solidFill>
                    <a:srgbClr val="000000"/>
                  </a:solidFill>
                  <a:ea typeface="新細明體" pitchFamily="18" charset="-120"/>
                </a:rPr>
                <a:t>/</a:t>
              </a:r>
              <a:endParaRPr lang="en-US" altLang="zh-TW">
                <a:ea typeface="新細明體" pitchFamily="18" charset="-120"/>
              </a:endParaRPr>
            </a:p>
          </p:txBody>
        </p:sp>
        <p:sp>
          <p:nvSpPr>
            <p:cNvPr id="19" name="Rectangle 70"/>
            <p:cNvSpPr>
              <a:spLocks noChangeArrowheads="1"/>
            </p:cNvSpPr>
            <p:nvPr/>
          </p:nvSpPr>
          <p:spPr bwMode="auto">
            <a:xfrm>
              <a:off x="2468" y="2893"/>
              <a:ext cx="21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i="0">
                  <a:solidFill>
                    <a:srgbClr val="000000"/>
                  </a:solidFill>
                  <a:ea typeface="新細明體" pitchFamily="18" charset="-120"/>
                </a:rPr>
                <a:t>1</a:t>
              </a:r>
              <a:endParaRPr lang="en-US" altLang="zh-TW">
                <a:ea typeface="新細明體" pitchFamily="18" charset="-120"/>
              </a:endParaRPr>
            </a:p>
          </p:txBody>
        </p:sp>
        <p:sp>
          <p:nvSpPr>
            <p:cNvPr id="20" name="Rectangle 71"/>
            <p:cNvSpPr>
              <a:spLocks noChangeArrowheads="1"/>
            </p:cNvSpPr>
            <p:nvPr/>
          </p:nvSpPr>
          <p:spPr bwMode="auto">
            <a:xfrm>
              <a:off x="2606" y="2865"/>
              <a:ext cx="276"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21" name="Rectangle 72"/>
            <p:cNvSpPr>
              <a:spLocks noChangeArrowheads="1"/>
            </p:cNvSpPr>
            <p:nvPr/>
          </p:nvSpPr>
          <p:spPr bwMode="auto">
            <a:xfrm>
              <a:off x="2046" y="2679"/>
              <a:ext cx="276"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30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grpSp>
        <p:nvGrpSpPr>
          <p:cNvPr id="22" name="Group 80"/>
          <p:cNvGrpSpPr>
            <a:grpSpLocks/>
          </p:cNvGrpSpPr>
          <p:nvPr/>
        </p:nvGrpSpPr>
        <p:grpSpPr bwMode="auto">
          <a:xfrm>
            <a:off x="3199708" y="1694812"/>
            <a:ext cx="3903663" cy="882650"/>
            <a:chOff x="1706" y="1349"/>
            <a:chExt cx="2459" cy="556"/>
          </a:xfrm>
        </p:grpSpPr>
        <p:sp>
          <p:nvSpPr>
            <p:cNvPr id="23" name="Line 140"/>
            <p:cNvSpPr>
              <a:spLocks noChangeShapeType="1"/>
            </p:cNvSpPr>
            <p:nvPr/>
          </p:nvSpPr>
          <p:spPr bwMode="auto">
            <a:xfrm flipV="1">
              <a:off x="2448" y="1813"/>
              <a:ext cx="24" cy="1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141"/>
            <p:cNvSpPr>
              <a:spLocks noChangeShapeType="1"/>
            </p:cNvSpPr>
            <p:nvPr/>
          </p:nvSpPr>
          <p:spPr bwMode="auto">
            <a:xfrm>
              <a:off x="2472" y="1817"/>
              <a:ext cx="34" cy="88"/>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42"/>
            <p:cNvSpPr>
              <a:spLocks noChangeShapeType="1"/>
            </p:cNvSpPr>
            <p:nvPr/>
          </p:nvSpPr>
          <p:spPr bwMode="auto">
            <a:xfrm flipV="1">
              <a:off x="2510" y="1653"/>
              <a:ext cx="45" cy="25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43"/>
            <p:cNvSpPr>
              <a:spLocks noChangeShapeType="1"/>
            </p:cNvSpPr>
            <p:nvPr/>
          </p:nvSpPr>
          <p:spPr bwMode="auto">
            <a:xfrm>
              <a:off x="2555" y="1653"/>
              <a:ext cx="1595"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44"/>
            <p:cNvSpPr>
              <a:spLocks noChangeShapeType="1"/>
            </p:cNvSpPr>
            <p:nvPr/>
          </p:nvSpPr>
          <p:spPr bwMode="auto">
            <a:xfrm>
              <a:off x="2208" y="1626"/>
              <a:ext cx="1957"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Rectangle 145"/>
            <p:cNvSpPr>
              <a:spLocks noChangeArrowheads="1"/>
            </p:cNvSpPr>
            <p:nvPr/>
          </p:nvSpPr>
          <p:spPr bwMode="auto">
            <a:xfrm>
              <a:off x="4037" y="1664"/>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L</a:t>
              </a:r>
              <a:endParaRPr lang="en-US" altLang="zh-TW">
                <a:ea typeface="新細明體" pitchFamily="18" charset="-120"/>
              </a:endParaRPr>
            </a:p>
          </p:txBody>
        </p:sp>
        <p:sp>
          <p:nvSpPr>
            <p:cNvPr id="29" name="Rectangle 146"/>
            <p:cNvSpPr>
              <a:spLocks noChangeArrowheads="1"/>
            </p:cNvSpPr>
            <p:nvPr/>
          </p:nvSpPr>
          <p:spPr bwMode="auto">
            <a:xfrm>
              <a:off x="3641" y="1664"/>
              <a:ext cx="20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m</a:t>
              </a:r>
              <a:r>
                <a:rPr lang="en-US" altLang="zh-TW" sz="2300" i="0">
                  <a:solidFill>
                    <a:srgbClr val="000000"/>
                  </a:solidFill>
                  <a:latin typeface="Script" pitchFamily="66"/>
                  <a:ea typeface="新細明體" pitchFamily="18" charset="-120"/>
                </a:rPr>
                <a:t>E</a:t>
              </a:r>
              <a:endParaRPr lang="en-US" altLang="zh-TW">
                <a:ea typeface="新細明體" pitchFamily="18" charset="-120"/>
              </a:endParaRPr>
            </a:p>
          </p:txBody>
        </p:sp>
        <p:sp>
          <p:nvSpPr>
            <p:cNvPr id="30" name="Rectangle 147"/>
            <p:cNvSpPr>
              <a:spLocks noChangeArrowheads="1"/>
            </p:cNvSpPr>
            <p:nvPr/>
          </p:nvSpPr>
          <p:spPr bwMode="auto">
            <a:xfrm>
              <a:off x="3305" y="1664"/>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31" name="Rectangle 148"/>
            <p:cNvSpPr>
              <a:spLocks noChangeArrowheads="1"/>
            </p:cNvSpPr>
            <p:nvPr/>
          </p:nvSpPr>
          <p:spPr bwMode="auto">
            <a:xfrm>
              <a:off x="2928" y="1664"/>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32" name="Rectangle 149"/>
            <p:cNvSpPr>
              <a:spLocks noChangeArrowheads="1"/>
            </p:cNvSpPr>
            <p:nvPr/>
          </p:nvSpPr>
          <p:spPr bwMode="auto">
            <a:xfrm>
              <a:off x="3549" y="1370"/>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m</a:t>
              </a:r>
              <a:endParaRPr lang="en-US" altLang="zh-TW">
                <a:ea typeface="新細明體" pitchFamily="18" charset="-120"/>
              </a:endParaRPr>
            </a:p>
          </p:txBody>
        </p:sp>
        <p:sp>
          <p:nvSpPr>
            <p:cNvPr id="33" name="Rectangle 150"/>
            <p:cNvSpPr>
              <a:spLocks noChangeArrowheads="1"/>
            </p:cNvSpPr>
            <p:nvPr/>
          </p:nvSpPr>
          <p:spPr bwMode="auto">
            <a:xfrm>
              <a:off x="3213" y="1370"/>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34" name="Rectangle 151"/>
            <p:cNvSpPr>
              <a:spLocks noChangeArrowheads="1"/>
            </p:cNvSpPr>
            <p:nvPr/>
          </p:nvSpPr>
          <p:spPr bwMode="auto">
            <a:xfrm>
              <a:off x="2836" y="1370"/>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35" name="Rectangle 152"/>
            <p:cNvSpPr>
              <a:spLocks noChangeArrowheads="1"/>
            </p:cNvSpPr>
            <p:nvPr/>
          </p:nvSpPr>
          <p:spPr bwMode="auto">
            <a:xfrm>
              <a:off x="1706" y="1508"/>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36" name="Rectangle 155"/>
            <p:cNvSpPr>
              <a:spLocks noChangeArrowheads="1"/>
            </p:cNvSpPr>
            <p:nvPr/>
          </p:nvSpPr>
          <p:spPr bwMode="auto">
            <a:xfrm>
              <a:off x="3884" y="1766"/>
              <a:ext cx="12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sat</a:t>
              </a:r>
              <a:endParaRPr lang="en-US" altLang="zh-TW">
                <a:ea typeface="新細明體" pitchFamily="18" charset="-120"/>
              </a:endParaRPr>
            </a:p>
          </p:txBody>
        </p:sp>
        <p:sp>
          <p:nvSpPr>
            <p:cNvPr id="37" name="Rectangle 156"/>
            <p:cNvSpPr>
              <a:spLocks noChangeArrowheads="1"/>
            </p:cNvSpPr>
            <p:nvPr/>
          </p:nvSpPr>
          <p:spPr bwMode="auto">
            <a:xfrm>
              <a:off x="3411" y="177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t</a:t>
              </a:r>
              <a:endParaRPr lang="en-US" altLang="zh-TW">
                <a:ea typeface="新細明體" pitchFamily="18" charset="-120"/>
              </a:endParaRPr>
            </a:p>
          </p:txBody>
        </p:sp>
        <p:sp>
          <p:nvSpPr>
            <p:cNvPr id="38" name="Rectangle 157"/>
            <p:cNvSpPr>
              <a:spLocks noChangeArrowheads="1"/>
            </p:cNvSpPr>
            <p:nvPr/>
          </p:nvSpPr>
          <p:spPr bwMode="auto">
            <a:xfrm>
              <a:off x="3042" y="1778"/>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gs</a:t>
              </a:r>
              <a:endParaRPr lang="en-US" altLang="zh-TW">
                <a:ea typeface="新細明體" pitchFamily="18" charset="-120"/>
              </a:endParaRPr>
            </a:p>
          </p:txBody>
        </p:sp>
        <p:sp>
          <p:nvSpPr>
            <p:cNvPr id="39" name="Rectangle 158"/>
            <p:cNvSpPr>
              <a:spLocks noChangeArrowheads="1"/>
            </p:cNvSpPr>
            <p:nvPr/>
          </p:nvSpPr>
          <p:spPr bwMode="auto">
            <a:xfrm>
              <a:off x="3319" y="148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t</a:t>
              </a:r>
              <a:endParaRPr lang="en-US" altLang="zh-TW">
                <a:ea typeface="新細明體" pitchFamily="18" charset="-120"/>
              </a:endParaRPr>
            </a:p>
          </p:txBody>
        </p:sp>
        <p:sp>
          <p:nvSpPr>
            <p:cNvPr id="40" name="Rectangle 159"/>
            <p:cNvSpPr>
              <a:spLocks noChangeArrowheads="1"/>
            </p:cNvSpPr>
            <p:nvPr/>
          </p:nvSpPr>
          <p:spPr bwMode="auto">
            <a:xfrm>
              <a:off x="2950" y="1484"/>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gs</a:t>
              </a:r>
              <a:endParaRPr lang="en-US" altLang="zh-TW">
                <a:ea typeface="新細明體" pitchFamily="18" charset="-120"/>
              </a:endParaRPr>
            </a:p>
          </p:txBody>
        </p:sp>
        <p:sp>
          <p:nvSpPr>
            <p:cNvPr id="41" name="Rectangle 160"/>
            <p:cNvSpPr>
              <a:spLocks noChangeArrowheads="1"/>
            </p:cNvSpPr>
            <p:nvPr/>
          </p:nvSpPr>
          <p:spPr bwMode="auto">
            <a:xfrm>
              <a:off x="1815" y="1622"/>
              <a:ext cx="17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dsat</a:t>
              </a:r>
              <a:endParaRPr lang="en-US" altLang="zh-TW">
                <a:ea typeface="新細明體" pitchFamily="18" charset="-120"/>
              </a:endParaRPr>
            </a:p>
          </p:txBody>
        </p:sp>
        <p:sp>
          <p:nvSpPr>
            <p:cNvPr id="42" name="Rectangle 163"/>
            <p:cNvSpPr>
              <a:spLocks noChangeArrowheads="1"/>
            </p:cNvSpPr>
            <p:nvPr/>
          </p:nvSpPr>
          <p:spPr bwMode="auto">
            <a:xfrm>
              <a:off x="3558" y="1664"/>
              <a:ext cx="5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43" name="Rectangle 164"/>
            <p:cNvSpPr>
              <a:spLocks noChangeArrowheads="1"/>
            </p:cNvSpPr>
            <p:nvPr/>
          </p:nvSpPr>
          <p:spPr bwMode="auto">
            <a:xfrm>
              <a:off x="3469" y="1664"/>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44" name="Rectangle 165"/>
            <p:cNvSpPr>
              <a:spLocks noChangeArrowheads="1"/>
            </p:cNvSpPr>
            <p:nvPr/>
          </p:nvSpPr>
          <p:spPr bwMode="auto">
            <a:xfrm>
              <a:off x="2879" y="1664"/>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45" name="Rectangle 166"/>
            <p:cNvSpPr>
              <a:spLocks noChangeArrowheads="1"/>
            </p:cNvSpPr>
            <p:nvPr/>
          </p:nvSpPr>
          <p:spPr bwMode="auto">
            <a:xfrm>
              <a:off x="2787" y="1664"/>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2</a:t>
              </a:r>
              <a:endParaRPr lang="en-US" altLang="zh-TW">
                <a:ea typeface="新細明體" pitchFamily="18" charset="-120"/>
              </a:endParaRPr>
            </a:p>
          </p:txBody>
        </p:sp>
        <p:sp>
          <p:nvSpPr>
            <p:cNvPr id="46" name="Rectangle 167"/>
            <p:cNvSpPr>
              <a:spLocks noChangeArrowheads="1"/>
            </p:cNvSpPr>
            <p:nvPr/>
          </p:nvSpPr>
          <p:spPr bwMode="auto">
            <a:xfrm>
              <a:off x="2546" y="1664"/>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1</a:t>
              </a:r>
              <a:endParaRPr lang="en-US" altLang="zh-TW">
                <a:ea typeface="新細明體" pitchFamily="18" charset="-120"/>
              </a:endParaRPr>
            </a:p>
          </p:txBody>
        </p:sp>
        <p:sp>
          <p:nvSpPr>
            <p:cNvPr id="47" name="Rectangle 168"/>
            <p:cNvSpPr>
              <a:spLocks noChangeArrowheads="1"/>
            </p:cNvSpPr>
            <p:nvPr/>
          </p:nvSpPr>
          <p:spPr bwMode="auto">
            <a:xfrm>
              <a:off x="2200" y="1664"/>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1</a:t>
              </a:r>
              <a:endParaRPr lang="en-US" altLang="zh-TW">
                <a:ea typeface="新細明體" pitchFamily="18" charset="-120"/>
              </a:endParaRPr>
            </a:p>
          </p:txBody>
        </p:sp>
        <p:sp>
          <p:nvSpPr>
            <p:cNvPr id="48" name="Rectangle 169"/>
            <p:cNvSpPr>
              <a:spLocks noChangeArrowheads="1"/>
            </p:cNvSpPr>
            <p:nvPr/>
          </p:nvSpPr>
          <p:spPr bwMode="auto">
            <a:xfrm>
              <a:off x="3465" y="1370"/>
              <a:ext cx="5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49" name="Rectangle 170"/>
            <p:cNvSpPr>
              <a:spLocks noChangeArrowheads="1"/>
            </p:cNvSpPr>
            <p:nvPr/>
          </p:nvSpPr>
          <p:spPr bwMode="auto">
            <a:xfrm>
              <a:off x="3376" y="137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50" name="Rectangle 171"/>
            <p:cNvSpPr>
              <a:spLocks noChangeArrowheads="1"/>
            </p:cNvSpPr>
            <p:nvPr/>
          </p:nvSpPr>
          <p:spPr bwMode="auto">
            <a:xfrm>
              <a:off x="2787" y="137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51" name="Rectangle 172"/>
            <p:cNvSpPr>
              <a:spLocks noChangeArrowheads="1"/>
            </p:cNvSpPr>
            <p:nvPr/>
          </p:nvSpPr>
          <p:spPr bwMode="auto">
            <a:xfrm>
              <a:off x="2695" y="137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2</a:t>
              </a:r>
              <a:endParaRPr lang="en-US" altLang="zh-TW">
                <a:ea typeface="新細明體" pitchFamily="18" charset="-120"/>
              </a:endParaRPr>
            </a:p>
          </p:txBody>
        </p:sp>
        <p:sp>
          <p:nvSpPr>
            <p:cNvPr id="52" name="Rectangle 176"/>
            <p:cNvSpPr>
              <a:spLocks noChangeArrowheads="1"/>
            </p:cNvSpPr>
            <p:nvPr/>
          </p:nvSpPr>
          <p:spPr bwMode="auto">
            <a:xfrm>
              <a:off x="3190" y="1643"/>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53" name="Rectangle 177"/>
            <p:cNvSpPr>
              <a:spLocks noChangeArrowheads="1"/>
            </p:cNvSpPr>
            <p:nvPr/>
          </p:nvSpPr>
          <p:spPr bwMode="auto">
            <a:xfrm>
              <a:off x="2652" y="1643"/>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54" name="Rectangle 178"/>
            <p:cNvSpPr>
              <a:spLocks noChangeArrowheads="1"/>
            </p:cNvSpPr>
            <p:nvPr/>
          </p:nvSpPr>
          <p:spPr bwMode="auto">
            <a:xfrm>
              <a:off x="2306" y="1643"/>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55" name="Rectangle 179"/>
            <p:cNvSpPr>
              <a:spLocks noChangeArrowheads="1"/>
            </p:cNvSpPr>
            <p:nvPr/>
          </p:nvSpPr>
          <p:spPr bwMode="auto">
            <a:xfrm>
              <a:off x="3098" y="1349"/>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56" name="Rectangle 180"/>
            <p:cNvSpPr>
              <a:spLocks noChangeArrowheads="1"/>
            </p:cNvSpPr>
            <p:nvPr/>
          </p:nvSpPr>
          <p:spPr bwMode="auto">
            <a:xfrm>
              <a:off x="2061" y="1487"/>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grpSp>
        <p:nvGrpSpPr>
          <p:cNvPr id="57" name="Group 79"/>
          <p:cNvGrpSpPr>
            <a:grpSpLocks/>
          </p:cNvGrpSpPr>
          <p:nvPr/>
        </p:nvGrpSpPr>
        <p:grpSpPr bwMode="auto">
          <a:xfrm>
            <a:off x="1499496" y="1694812"/>
            <a:ext cx="1054100" cy="981869"/>
            <a:chOff x="2390" y="830"/>
            <a:chExt cx="664" cy="499"/>
          </a:xfrm>
        </p:grpSpPr>
        <p:sp>
          <p:nvSpPr>
            <p:cNvPr id="58" name="Line 139"/>
            <p:cNvSpPr>
              <a:spLocks noChangeShapeType="1"/>
            </p:cNvSpPr>
            <p:nvPr/>
          </p:nvSpPr>
          <p:spPr bwMode="auto">
            <a:xfrm>
              <a:off x="2390" y="1064"/>
              <a:ext cx="340"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Rectangle 153"/>
            <p:cNvSpPr>
              <a:spLocks noChangeArrowheads="1"/>
            </p:cNvSpPr>
            <p:nvPr/>
          </p:nvSpPr>
          <p:spPr bwMode="auto">
            <a:xfrm>
              <a:off x="2402" y="1090"/>
              <a:ext cx="20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dV</a:t>
              </a:r>
              <a:endParaRPr lang="en-US" altLang="zh-TW">
                <a:ea typeface="新細明體" pitchFamily="18" charset="-120"/>
              </a:endParaRPr>
            </a:p>
          </p:txBody>
        </p:sp>
        <p:sp>
          <p:nvSpPr>
            <p:cNvPr id="60" name="Rectangle 154"/>
            <p:cNvSpPr>
              <a:spLocks noChangeArrowheads="1"/>
            </p:cNvSpPr>
            <p:nvPr/>
          </p:nvSpPr>
          <p:spPr bwMode="auto">
            <a:xfrm>
              <a:off x="2419" y="830"/>
              <a:ext cx="15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dI</a:t>
              </a:r>
              <a:endParaRPr lang="en-US" altLang="zh-TW">
                <a:ea typeface="新細明體" pitchFamily="18" charset="-120"/>
              </a:endParaRPr>
            </a:p>
          </p:txBody>
        </p:sp>
        <p:sp>
          <p:nvSpPr>
            <p:cNvPr id="61" name="Rectangle 161"/>
            <p:cNvSpPr>
              <a:spLocks noChangeArrowheads="1"/>
            </p:cNvSpPr>
            <p:nvPr/>
          </p:nvSpPr>
          <p:spPr bwMode="auto">
            <a:xfrm>
              <a:off x="2603" y="1204"/>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ds</a:t>
              </a:r>
              <a:endParaRPr lang="en-US" altLang="zh-TW">
                <a:ea typeface="新細明體" pitchFamily="18" charset="-120"/>
              </a:endParaRPr>
            </a:p>
          </p:txBody>
        </p:sp>
        <p:sp>
          <p:nvSpPr>
            <p:cNvPr id="62" name="Rectangle 162"/>
            <p:cNvSpPr>
              <a:spLocks noChangeArrowheads="1"/>
            </p:cNvSpPr>
            <p:nvPr/>
          </p:nvSpPr>
          <p:spPr bwMode="auto">
            <a:xfrm>
              <a:off x="2586" y="944"/>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ds</a:t>
              </a:r>
              <a:endParaRPr lang="en-US" altLang="zh-TW">
                <a:ea typeface="新細明體" pitchFamily="18" charset="-120"/>
              </a:endParaRPr>
            </a:p>
          </p:txBody>
        </p:sp>
        <p:sp>
          <p:nvSpPr>
            <p:cNvPr id="63" name="Rectangle 173"/>
            <p:cNvSpPr>
              <a:spLocks noChangeArrowheads="1"/>
            </p:cNvSpPr>
            <p:nvPr/>
          </p:nvSpPr>
          <p:spPr bwMode="auto">
            <a:xfrm>
              <a:off x="3008" y="946"/>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a:t>
              </a:r>
              <a:endParaRPr lang="en-US" altLang="zh-TW">
                <a:ea typeface="新細明體" pitchFamily="18" charset="-120"/>
              </a:endParaRPr>
            </a:p>
          </p:txBody>
        </p:sp>
        <p:sp>
          <p:nvSpPr>
            <p:cNvPr id="64" name="Rectangle 174"/>
            <p:cNvSpPr>
              <a:spLocks noChangeArrowheads="1"/>
            </p:cNvSpPr>
            <p:nvPr/>
          </p:nvSpPr>
          <p:spPr bwMode="auto">
            <a:xfrm>
              <a:off x="2919" y="946"/>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ea typeface="新細明體" pitchFamily="18" charset="-120"/>
                </a:rPr>
                <a:t>0</a:t>
              </a:r>
              <a:endParaRPr lang="en-US" altLang="zh-TW">
                <a:ea typeface="新細明體" pitchFamily="18" charset="-120"/>
              </a:endParaRPr>
            </a:p>
          </p:txBody>
        </p:sp>
        <p:sp>
          <p:nvSpPr>
            <p:cNvPr id="66" name="Rectangle 181"/>
            <p:cNvSpPr>
              <a:spLocks noChangeArrowheads="1"/>
            </p:cNvSpPr>
            <p:nvPr/>
          </p:nvSpPr>
          <p:spPr bwMode="auto">
            <a:xfrm>
              <a:off x="2779" y="92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grpSp>
        <p:nvGrpSpPr>
          <p:cNvPr id="67" name="Group 81"/>
          <p:cNvGrpSpPr>
            <a:grpSpLocks/>
          </p:cNvGrpSpPr>
          <p:nvPr/>
        </p:nvGrpSpPr>
        <p:grpSpPr bwMode="auto">
          <a:xfrm>
            <a:off x="3099696" y="3031363"/>
            <a:ext cx="2616200" cy="815975"/>
            <a:chOff x="2160" y="2448"/>
            <a:chExt cx="1648" cy="514"/>
          </a:xfrm>
        </p:grpSpPr>
        <p:sp>
          <p:nvSpPr>
            <p:cNvPr id="68" name="Rectangle 200"/>
            <p:cNvSpPr>
              <a:spLocks noChangeArrowheads="1"/>
            </p:cNvSpPr>
            <p:nvPr/>
          </p:nvSpPr>
          <p:spPr bwMode="auto">
            <a:xfrm>
              <a:off x="2160" y="2448"/>
              <a:ext cx="1630" cy="51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69" name="Line 182"/>
            <p:cNvSpPr>
              <a:spLocks noChangeShapeType="1"/>
            </p:cNvSpPr>
            <p:nvPr/>
          </p:nvSpPr>
          <p:spPr bwMode="auto">
            <a:xfrm>
              <a:off x="2189" y="2683"/>
              <a:ext cx="30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183"/>
            <p:cNvSpPr>
              <a:spLocks noChangeShapeType="1"/>
            </p:cNvSpPr>
            <p:nvPr/>
          </p:nvSpPr>
          <p:spPr bwMode="auto">
            <a:xfrm>
              <a:off x="2681" y="2683"/>
              <a:ext cx="520"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184"/>
            <p:cNvSpPr>
              <a:spLocks noChangeShapeType="1"/>
            </p:cNvSpPr>
            <p:nvPr/>
          </p:nvSpPr>
          <p:spPr bwMode="auto">
            <a:xfrm>
              <a:off x="3369" y="2683"/>
              <a:ext cx="378"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Rectangle 185"/>
            <p:cNvSpPr>
              <a:spLocks noChangeArrowheads="1"/>
            </p:cNvSpPr>
            <p:nvPr/>
          </p:nvSpPr>
          <p:spPr bwMode="auto">
            <a:xfrm>
              <a:off x="3639" y="2708"/>
              <a:ext cx="1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L</a:t>
              </a:r>
              <a:endParaRPr lang="en-US" altLang="zh-TW">
                <a:ea typeface="新細明體" pitchFamily="18" charset="-120"/>
              </a:endParaRPr>
            </a:p>
          </p:txBody>
        </p:sp>
        <p:sp>
          <p:nvSpPr>
            <p:cNvPr id="73" name="Rectangle 186"/>
            <p:cNvSpPr>
              <a:spLocks noChangeArrowheads="1"/>
            </p:cNvSpPr>
            <p:nvPr/>
          </p:nvSpPr>
          <p:spPr bwMode="auto">
            <a:xfrm>
              <a:off x="3389" y="2726"/>
              <a:ext cx="75"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i="0">
                  <a:solidFill>
                    <a:srgbClr val="000000"/>
                  </a:solidFill>
                  <a:latin typeface="Script" pitchFamily="66"/>
                  <a:ea typeface="新細明體" pitchFamily="18" charset="-120"/>
                </a:rPr>
                <a:t>E</a:t>
              </a:r>
              <a:endParaRPr lang="en-US" altLang="zh-TW">
                <a:ea typeface="新細明體" pitchFamily="18" charset="-120"/>
              </a:endParaRPr>
            </a:p>
          </p:txBody>
        </p:sp>
        <p:sp>
          <p:nvSpPr>
            <p:cNvPr id="74" name="Rectangle 187"/>
            <p:cNvSpPr>
              <a:spLocks noChangeArrowheads="1"/>
            </p:cNvSpPr>
            <p:nvPr/>
          </p:nvSpPr>
          <p:spPr bwMode="auto">
            <a:xfrm>
              <a:off x="3038" y="2708"/>
              <a:ext cx="1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V</a:t>
              </a:r>
              <a:endParaRPr lang="en-US" altLang="zh-TW">
                <a:ea typeface="新細明體" pitchFamily="18" charset="-120"/>
              </a:endParaRPr>
            </a:p>
          </p:txBody>
        </p:sp>
        <p:sp>
          <p:nvSpPr>
            <p:cNvPr id="75" name="Rectangle 188"/>
            <p:cNvSpPr>
              <a:spLocks noChangeArrowheads="1"/>
            </p:cNvSpPr>
            <p:nvPr/>
          </p:nvSpPr>
          <p:spPr bwMode="auto">
            <a:xfrm>
              <a:off x="2676" y="2708"/>
              <a:ext cx="1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V</a:t>
              </a:r>
              <a:endParaRPr lang="en-US" altLang="zh-TW">
                <a:ea typeface="新細明體" pitchFamily="18" charset="-120"/>
              </a:endParaRPr>
            </a:p>
          </p:txBody>
        </p:sp>
        <p:sp>
          <p:nvSpPr>
            <p:cNvPr id="76" name="Rectangle 189"/>
            <p:cNvSpPr>
              <a:spLocks noChangeArrowheads="1"/>
            </p:cNvSpPr>
            <p:nvPr/>
          </p:nvSpPr>
          <p:spPr bwMode="auto">
            <a:xfrm>
              <a:off x="2879" y="2459"/>
              <a:ext cx="1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m</a:t>
              </a:r>
              <a:endParaRPr lang="en-US" altLang="zh-TW">
                <a:ea typeface="新細明體" pitchFamily="18" charset="-120"/>
              </a:endParaRPr>
            </a:p>
          </p:txBody>
        </p:sp>
        <p:sp>
          <p:nvSpPr>
            <p:cNvPr id="77" name="Rectangle 190"/>
            <p:cNvSpPr>
              <a:spLocks noChangeArrowheads="1"/>
            </p:cNvSpPr>
            <p:nvPr/>
          </p:nvSpPr>
          <p:spPr bwMode="auto">
            <a:xfrm>
              <a:off x="2185" y="2708"/>
              <a:ext cx="17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V</a:t>
              </a:r>
              <a:endParaRPr lang="en-US" altLang="zh-TW">
                <a:ea typeface="新細明體" pitchFamily="18" charset="-120"/>
              </a:endParaRPr>
            </a:p>
          </p:txBody>
        </p:sp>
        <p:sp>
          <p:nvSpPr>
            <p:cNvPr id="78" name="Rectangle 191"/>
            <p:cNvSpPr>
              <a:spLocks noChangeArrowheads="1"/>
            </p:cNvSpPr>
            <p:nvPr/>
          </p:nvSpPr>
          <p:spPr bwMode="auto">
            <a:xfrm>
              <a:off x="3498" y="2811"/>
              <a:ext cx="12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sat</a:t>
              </a:r>
              <a:endParaRPr lang="en-US" altLang="zh-TW">
                <a:ea typeface="新細明體" pitchFamily="18" charset="-120"/>
              </a:endParaRPr>
            </a:p>
          </p:txBody>
        </p:sp>
        <p:sp>
          <p:nvSpPr>
            <p:cNvPr id="79" name="Rectangle 192"/>
            <p:cNvSpPr>
              <a:spLocks noChangeArrowheads="1"/>
            </p:cNvSpPr>
            <p:nvPr/>
          </p:nvSpPr>
          <p:spPr bwMode="auto">
            <a:xfrm>
              <a:off x="3139" y="2817"/>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t</a:t>
              </a:r>
              <a:endParaRPr lang="en-US" altLang="zh-TW">
                <a:ea typeface="新細明體" pitchFamily="18" charset="-120"/>
              </a:endParaRPr>
            </a:p>
          </p:txBody>
        </p:sp>
        <p:sp>
          <p:nvSpPr>
            <p:cNvPr id="80" name="Rectangle 193"/>
            <p:cNvSpPr>
              <a:spLocks noChangeArrowheads="1"/>
            </p:cNvSpPr>
            <p:nvPr/>
          </p:nvSpPr>
          <p:spPr bwMode="auto">
            <a:xfrm>
              <a:off x="2785" y="2817"/>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gs</a:t>
              </a:r>
              <a:endParaRPr lang="en-US" altLang="zh-TW">
                <a:ea typeface="新細明體" pitchFamily="18" charset="-120"/>
              </a:endParaRPr>
            </a:p>
          </p:txBody>
        </p:sp>
        <p:sp>
          <p:nvSpPr>
            <p:cNvPr id="81" name="Rectangle 194"/>
            <p:cNvSpPr>
              <a:spLocks noChangeArrowheads="1"/>
            </p:cNvSpPr>
            <p:nvPr/>
          </p:nvSpPr>
          <p:spPr bwMode="auto">
            <a:xfrm>
              <a:off x="2289" y="2817"/>
              <a:ext cx="17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dsat</a:t>
              </a:r>
              <a:endParaRPr lang="en-US" altLang="zh-TW">
                <a:ea typeface="新細明體" pitchFamily="18" charset="-120"/>
              </a:endParaRPr>
            </a:p>
          </p:txBody>
        </p:sp>
        <p:sp>
          <p:nvSpPr>
            <p:cNvPr id="82" name="Rectangle 195"/>
            <p:cNvSpPr>
              <a:spLocks noChangeArrowheads="1"/>
            </p:cNvSpPr>
            <p:nvPr/>
          </p:nvSpPr>
          <p:spPr bwMode="auto">
            <a:xfrm>
              <a:off x="3514" y="2459"/>
              <a:ext cx="1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ea typeface="新細明體" pitchFamily="18" charset="-120"/>
                </a:rPr>
                <a:t>1</a:t>
              </a:r>
              <a:endParaRPr lang="en-US" altLang="zh-TW">
                <a:ea typeface="新細明體" pitchFamily="18" charset="-120"/>
              </a:endParaRPr>
            </a:p>
          </p:txBody>
        </p:sp>
        <p:sp>
          <p:nvSpPr>
            <p:cNvPr id="83" name="Rectangle 196"/>
            <p:cNvSpPr>
              <a:spLocks noChangeArrowheads="1"/>
            </p:cNvSpPr>
            <p:nvPr/>
          </p:nvSpPr>
          <p:spPr bwMode="auto">
            <a:xfrm>
              <a:off x="2297" y="2459"/>
              <a:ext cx="15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ea typeface="新細明體" pitchFamily="18" charset="-120"/>
                </a:rPr>
                <a:t>1</a:t>
              </a:r>
              <a:endParaRPr lang="en-US" altLang="zh-TW">
                <a:ea typeface="新細明體" pitchFamily="18" charset="-120"/>
              </a:endParaRPr>
            </a:p>
          </p:txBody>
        </p:sp>
        <p:sp>
          <p:nvSpPr>
            <p:cNvPr id="84" name="Rectangle 197"/>
            <p:cNvSpPr>
              <a:spLocks noChangeArrowheads="1"/>
            </p:cNvSpPr>
            <p:nvPr/>
          </p:nvSpPr>
          <p:spPr bwMode="auto">
            <a:xfrm>
              <a:off x="3237" y="2550"/>
              <a:ext cx="20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85" name="Rectangle 198"/>
            <p:cNvSpPr>
              <a:spLocks noChangeArrowheads="1"/>
            </p:cNvSpPr>
            <p:nvPr/>
          </p:nvSpPr>
          <p:spPr bwMode="auto">
            <a:xfrm>
              <a:off x="2928" y="2688"/>
              <a:ext cx="20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86" name="Rectangle 199"/>
            <p:cNvSpPr>
              <a:spLocks noChangeArrowheads="1"/>
            </p:cNvSpPr>
            <p:nvPr/>
          </p:nvSpPr>
          <p:spPr bwMode="auto">
            <a:xfrm>
              <a:off x="2540" y="2550"/>
              <a:ext cx="20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sp>
        <p:nvSpPr>
          <p:cNvPr id="87" name="Line 201"/>
          <p:cNvSpPr>
            <a:spLocks noChangeShapeType="1"/>
          </p:cNvSpPr>
          <p:nvPr/>
        </p:nvSpPr>
        <p:spPr bwMode="auto">
          <a:xfrm>
            <a:off x="7133534" y="3360687"/>
            <a:ext cx="534987"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Rectangle 202"/>
          <p:cNvSpPr>
            <a:spLocks noChangeArrowheads="1"/>
          </p:cNvSpPr>
          <p:nvPr/>
        </p:nvSpPr>
        <p:spPr bwMode="auto">
          <a:xfrm>
            <a:off x="7446271" y="3576587"/>
            <a:ext cx="1476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ns</a:t>
            </a:r>
            <a:endParaRPr lang="en-US" altLang="zh-TW">
              <a:ea typeface="新細明體" pitchFamily="18" charset="-120"/>
            </a:endParaRPr>
          </a:p>
        </p:txBody>
      </p:sp>
      <p:sp>
        <p:nvSpPr>
          <p:cNvPr id="89" name="Rectangle 203"/>
          <p:cNvSpPr>
            <a:spLocks noChangeArrowheads="1"/>
          </p:cNvSpPr>
          <p:nvPr/>
        </p:nvSpPr>
        <p:spPr bwMode="auto">
          <a:xfrm>
            <a:off x="7424046" y="3174949"/>
            <a:ext cx="25876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sat</a:t>
            </a:r>
            <a:endParaRPr lang="en-US" altLang="zh-TW">
              <a:ea typeface="新細明體" pitchFamily="18" charset="-120"/>
            </a:endParaRPr>
          </a:p>
        </p:txBody>
      </p:sp>
      <p:sp>
        <p:nvSpPr>
          <p:cNvPr id="90" name="Rectangle 204"/>
          <p:cNvSpPr>
            <a:spLocks noChangeArrowheads="1"/>
          </p:cNvSpPr>
          <p:nvPr/>
        </p:nvSpPr>
        <p:spPr bwMode="auto">
          <a:xfrm>
            <a:off x="6600134" y="3335287"/>
            <a:ext cx="1920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sat</a:t>
            </a:r>
            <a:endParaRPr lang="en-US" altLang="zh-TW">
              <a:ea typeface="新細明體" pitchFamily="18" charset="-120"/>
            </a:endParaRPr>
          </a:p>
        </p:txBody>
      </p:sp>
      <p:sp>
        <p:nvSpPr>
          <p:cNvPr id="91" name="Rectangle 205"/>
          <p:cNvSpPr>
            <a:spLocks noChangeArrowheads="1"/>
          </p:cNvSpPr>
          <p:nvPr/>
        </p:nvSpPr>
        <p:spPr bwMode="auto">
          <a:xfrm>
            <a:off x="7293871" y="2998737"/>
            <a:ext cx="246063"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ea typeface="新細明體" pitchFamily="18" charset="-120"/>
              </a:rPr>
              <a:t>v</a:t>
            </a:r>
            <a:endParaRPr lang="en-US" altLang="zh-TW">
              <a:ea typeface="新細明體" pitchFamily="18" charset="-120"/>
            </a:endParaRPr>
          </a:p>
        </p:txBody>
      </p:sp>
      <p:sp>
        <p:nvSpPr>
          <p:cNvPr id="92" name="Rectangle 206"/>
          <p:cNvSpPr>
            <a:spLocks noChangeArrowheads="1"/>
          </p:cNvSpPr>
          <p:nvPr/>
        </p:nvSpPr>
        <p:spPr bwMode="auto">
          <a:xfrm>
            <a:off x="6427096" y="3216224"/>
            <a:ext cx="1190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i="0">
                <a:solidFill>
                  <a:srgbClr val="000000"/>
                </a:solidFill>
                <a:latin typeface="Script" pitchFamily="66"/>
                <a:ea typeface="新細明體" pitchFamily="18" charset="-120"/>
              </a:rPr>
              <a:t>E</a:t>
            </a:r>
            <a:endParaRPr lang="en-US" altLang="zh-TW">
              <a:ea typeface="新細明體" pitchFamily="18" charset="-120"/>
            </a:endParaRPr>
          </a:p>
        </p:txBody>
      </p:sp>
      <p:sp>
        <p:nvSpPr>
          <p:cNvPr id="93" name="Rectangle 207"/>
          <p:cNvSpPr>
            <a:spLocks noChangeArrowheads="1"/>
          </p:cNvSpPr>
          <p:nvPr/>
        </p:nvSpPr>
        <p:spPr bwMode="auto">
          <a:xfrm>
            <a:off x="7266884" y="3367037"/>
            <a:ext cx="34290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sp>
        <p:nvSpPr>
          <p:cNvPr id="94" name="Rectangle 208"/>
          <p:cNvSpPr>
            <a:spLocks noChangeArrowheads="1"/>
          </p:cNvSpPr>
          <p:nvPr/>
        </p:nvSpPr>
        <p:spPr bwMode="auto">
          <a:xfrm>
            <a:off x="7152584" y="2998737"/>
            <a:ext cx="261937"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ea typeface="新細明體" pitchFamily="18" charset="-120"/>
              </a:rPr>
              <a:t>2</a:t>
            </a:r>
            <a:endParaRPr lang="en-US" altLang="zh-TW">
              <a:ea typeface="新細明體" pitchFamily="18" charset="-120"/>
            </a:endParaRPr>
          </a:p>
        </p:txBody>
      </p:sp>
      <p:sp>
        <p:nvSpPr>
          <p:cNvPr id="95" name="Rectangle 209"/>
          <p:cNvSpPr>
            <a:spLocks noChangeArrowheads="1"/>
          </p:cNvSpPr>
          <p:nvPr/>
        </p:nvSpPr>
        <p:spPr bwMode="auto">
          <a:xfrm>
            <a:off x="6906521" y="3144787"/>
            <a:ext cx="33496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200" b="0" i="0">
                <a:solidFill>
                  <a:srgbClr val="000000"/>
                </a:solidFill>
                <a:latin typeface="Symbol" panose="05050102010706020507" pitchFamily="18" charset="2"/>
                <a:ea typeface="新細明體" pitchFamily="18" charset="-120"/>
              </a:rPr>
              <a:t>º</a:t>
            </a:r>
            <a:endParaRPr lang="en-US" altLang="zh-TW">
              <a:ea typeface="新細明體" pitchFamily="18" charset="-120"/>
            </a:endParaRPr>
          </a:p>
        </p:txBody>
      </p:sp>
      <p:sp>
        <p:nvSpPr>
          <p:cNvPr id="96" name="Text Box 135"/>
          <p:cNvSpPr txBox="1">
            <a:spLocks noChangeArrowheads="1"/>
          </p:cNvSpPr>
          <p:nvPr/>
        </p:nvSpPr>
        <p:spPr bwMode="auto">
          <a:xfrm>
            <a:off x="707086" y="3031363"/>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a:solidFill>
                  <a:srgbClr val="000000"/>
                </a:solidFill>
                <a:ea typeface="楷体_GB2312" pitchFamily="49" charset="-122"/>
              </a:rPr>
              <a:t>一般情况</a:t>
            </a:r>
            <a:r>
              <a:rPr lang="zh-CN" altLang="en-US" i="0" dirty="0" smtClean="0">
                <a:solidFill>
                  <a:srgbClr val="000000"/>
                </a:solidFill>
                <a:ea typeface="楷体_GB2312" pitchFamily="49" charset="-122"/>
              </a:rPr>
              <a:t>下</a:t>
            </a:r>
            <a:endParaRPr lang="en-US" altLang="zh-TW" i="0" dirty="0">
              <a:solidFill>
                <a:srgbClr val="000000"/>
              </a:solidFill>
              <a:ea typeface="楷体_GB2312" pitchFamily="49" charset="-122"/>
            </a:endParaRPr>
          </a:p>
        </p:txBody>
      </p:sp>
      <p:sp>
        <p:nvSpPr>
          <p:cNvPr id="98" name="Text Box 8"/>
          <p:cNvSpPr txBox="1">
            <a:spLocks noChangeArrowheads="1"/>
          </p:cNvSpPr>
          <p:nvPr/>
        </p:nvSpPr>
        <p:spPr bwMode="auto">
          <a:xfrm>
            <a:off x="1323303" y="4183598"/>
            <a:ext cx="6437275" cy="2240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a:lnSpc>
                <a:spcPct val="150000"/>
              </a:lnSpc>
            </a:pPr>
            <a:r>
              <a:rPr lang="en-US" altLang="zh-TW" sz="2400" b="0" dirty="0">
                <a:ea typeface="新細明體" pitchFamily="18" charset="-120"/>
              </a:rPr>
              <a:t>(a) L = 10 </a:t>
            </a:r>
            <a:r>
              <a:rPr lang="en-US" altLang="zh-TW" sz="2400" b="0" dirty="0">
                <a:latin typeface="Symbol" panose="05050102010706020507" pitchFamily="18" charset="2"/>
                <a:ea typeface="新細明體" pitchFamily="18" charset="-120"/>
              </a:rPr>
              <a:t>m</a:t>
            </a:r>
            <a:r>
              <a:rPr lang="en-US" altLang="zh-TW" sz="2400" b="0" dirty="0">
                <a:ea typeface="新細明體" pitchFamily="18" charset="-120"/>
              </a:rPr>
              <a:t>m,  </a:t>
            </a:r>
            <a:r>
              <a:rPr lang="en-US" altLang="zh-TW" sz="2400" b="0" dirty="0" err="1">
                <a:ea typeface="新細明體" pitchFamily="18" charset="-120"/>
              </a:rPr>
              <a:t>V</a:t>
            </a:r>
            <a:r>
              <a:rPr lang="en-US" altLang="zh-TW" sz="2400" b="0" baseline="-25000" dirty="0" err="1">
                <a:ea typeface="新細明體" pitchFamily="18" charset="-120"/>
              </a:rPr>
              <a:t>dsat</a:t>
            </a:r>
            <a:r>
              <a:rPr lang="en-US" altLang="zh-TW" sz="2400" b="0" dirty="0">
                <a:ea typeface="新細明體" pitchFamily="18" charset="-120"/>
              </a:rPr>
              <a:t>= </a:t>
            </a:r>
            <a:r>
              <a:rPr lang="en-US" altLang="zh-TW" sz="2400" b="0" i="0" dirty="0">
                <a:ea typeface="新細明體" pitchFamily="18" charset="-120"/>
              </a:rPr>
              <a:t>(1/1.3V + 1/80V)</a:t>
            </a:r>
            <a:r>
              <a:rPr lang="en-US" altLang="zh-TW" sz="2400" b="0" i="0" baseline="30000" dirty="0">
                <a:ea typeface="新細明體" pitchFamily="18" charset="-120"/>
              </a:rPr>
              <a:t>-1</a:t>
            </a:r>
            <a:r>
              <a:rPr lang="en-US" altLang="zh-TW" sz="2400" b="0" i="0" dirty="0">
                <a:ea typeface="新細明體" pitchFamily="18" charset="-120"/>
              </a:rPr>
              <a:t>  = 1.3 V</a:t>
            </a:r>
          </a:p>
          <a:p>
            <a:pPr>
              <a:lnSpc>
                <a:spcPct val="150000"/>
              </a:lnSpc>
            </a:pPr>
            <a:r>
              <a:rPr lang="en-US" altLang="zh-TW" sz="2400" b="0" dirty="0" smtClean="0">
                <a:ea typeface="新細明體" pitchFamily="18" charset="-120"/>
              </a:rPr>
              <a:t>(</a:t>
            </a:r>
            <a:r>
              <a:rPr lang="en-US" altLang="zh-TW" sz="2400" b="0" dirty="0">
                <a:ea typeface="新細明體" pitchFamily="18" charset="-120"/>
              </a:rPr>
              <a:t>b) L = 1 </a:t>
            </a:r>
            <a:r>
              <a:rPr lang="en-US" altLang="zh-TW" sz="2400" b="0" dirty="0">
                <a:latin typeface="Symbol" panose="05050102010706020507" pitchFamily="18" charset="2"/>
                <a:ea typeface="新細明體" pitchFamily="18" charset="-120"/>
              </a:rPr>
              <a:t>m</a:t>
            </a:r>
            <a:r>
              <a:rPr lang="en-US" altLang="zh-TW" sz="2400" b="0" dirty="0">
                <a:ea typeface="新細明體" pitchFamily="18" charset="-120"/>
              </a:rPr>
              <a:t>m,    </a:t>
            </a:r>
            <a:r>
              <a:rPr lang="en-US" altLang="zh-TW" sz="2400" b="0" dirty="0" smtClean="0">
                <a:ea typeface="新細明體" pitchFamily="18" charset="-120"/>
              </a:rPr>
              <a:t>  </a:t>
            </a:r>
            <a:r>
              <a:rPr lang="en-US" altLang="zh-TW" sz="2400" b="0" dirty="0" err="1" smtClean="0">
                <a:ea typeface="新細明體" pitchFamily="18" charset="-120"/>
              </a:rPr>
              <a:t>V</a:t>
            </a:r>
            <a:r>
              <a:rPr lang="en-US" altLang="zh-TW" sz="2400" b="0" baseline="-25000" dirty="0" err="1" smtClean="0">
                <a:ea typeface="新細明體" pitchFamily="18" charset="-120"/>
              </a:rPr>
              <a:t>dsat</a:t>
            </a:r>
            <a:r>
              <a:rPr lang="en-US" altLang="zh-TW" sz="2400" b="0" dirty="0">
                <a:ea typeface="新細明體" pitchFamily="18" charset="-120"/>
              </a:rPr>
              <a:t>= </a:t>
            </a:r>
            <a:r>
              <a:rPr lang="en-US" altLang="zh-TW" sz="2400" b="0" i="0" dirty="0">
                <a:ea typeface="新細明體" pitchFamily="18" charset="-120"/>
              </a:rPr>
              <a:t>(1/1.3V + 1/8V)</a:t>
            </a:r>
            <a:r>
              <a:rPr lang="en-US" altLang="zh-TW" sz="2400" b="0" i="0" baseline="30000" dirty="0">
                <a:ea typeface="新細明體" pitchFamily="18" charset="-120"/>
              </a:rPr>
              <a:t>-1</a:t>
            </a:r>
            <a:r>
              <a:rPr lang="en-US" altLang="zh-TW" sz="2400" b="0" i="0" dirty="0">
                <a:ea typeface="新細明體" pitchFamily="18" charset="-120"/>
              </a:rPr>
              <a:t>  = 1.1 V</a:t>
            </a:r>
          </a:p>
          <a:p>
            <a:pPr>
              <a:lnSpc>
                <a:spcPct val="150000"/>
              </a:lnSpc>
            </a:pPr>
            <a:r>
              <a:rPr lang="en-US" altLang="zh-TW" sz="2400" b="0" dirty="0" smtClean="0">
                <a:ea typeface="新細明體" pitchFamily="18" charset="-120"/>
              </a:rPr>
              <a:t>(</a:t>
            </a:r>
            <a:r>
              <a:rPr lang="en-US" altLang="zh-TW" sz="2400" b="0" dirty="0">
                <a:ea typeface="新細明體" pitchFamily="18" charset="-120"/>
              </a:rPr>
              <a:t>c) L = 0.1 </a:t>
            </a:r>
            <a:r>
              <a:rPr lang="en-US" altLang="zh-TW" sz="2400" b="0" dirty="0">
                <a:latin typeface="Symbol" panose="05050102010706020507" pitchFamily="18" charset="2"/>
                <a:ea typeface="新細明體" pitchFamily="18" charset="-120"/>
              </a:rPr>
              <a:t>m</a:t>
            </a:r>
            <a:r>
              <a:rPr lang="en-US" altLang="zh-TW" sz="2400" b="0" dirty="0">
                <a:ea typeface="新細明體" pitchFamily="18" charset="-120"/>
              </a:rPr>
              <a:t>m,   </a:t>
            </a:r>
            <a:r>
              <a:rPr lang="en-US" altLang="zh-TW" sz="2400" b="0" dirty="0" err="1">
                <a:ea typeface="新細明體" pitchFamily="18" charset="-120"/>
              </a:rPr>
              <a:t>V</a:t>
            </a:r>
            <a:r>
              <a:rPr lang="en-US" altLang="zh-TW" sz="2400" b="0" baseline="-25000" dirty="0" err="1">
                <a:ea typeface="新細明體" pitchFamily="18" charset="-120"/>
              </a:rPr>
              <a:t>dsat</a:t>
            </a:r>
            <a:r>
              <a:rPr lang="en-US" altLang="zh-TW" sz="2400" b="0" dirty="0">
                <a:ea typeface="新細明體" pitchFamily="18" charset="-120"/>
              </a:rPr>
              <a:t>= </a:t>
            </a:r>
            <a:r>
              <a:rPr lang="en-US" altLang="zh-TW" sz="2400" b="0" i="0" dirty="0">
                <a:ea typeface="新細明體" pitchFamily="18" charset="-120"/>
              </a:rPr>
              <a:t>(1/1.3V + 1/.8V)</a:t>
            </a:r>
            <a:r>
              <a:rPr lang="en-US" altLang="zh-TW" sz="2400" b="0" i="0" baseline="30000" dirty="0">
                <a:ea typeface="新細明體" pitchFamily="18" charset="-120"/>
              </a:rPr>
              <a:t>-1</a:t>
            </a:r>
            <a:r>
              <a:rPr lang="en-US" altLang="zh-TW" sz="2400" b="0" i="0" dirty="0">
                <a:ea typeface="新細明體" pitchFamily="18" charset="-120"/>
              </a:rPr>
              <a:t> =  0.5 V</a:t>
            </a:r>
          </a:p>
          <a:p>
            <a:pPr>
              <a:lnSpc>
                <a:spcPct val="150000"/>
              </a:lnSpc>
            </a:pPr>
            <a:r>
              <a:rPr lang="en-US" altLang="zh-TW" sz="2400" b="0" dirty="0" smtClean="0">
                <a:ea typeface="新細明體" pitchFamily="18" charset="-120"/>
              </a:rPr>
              <a:t>(</a:t>
            </a:r>
            <a:r>
              <a:rPr lang="en-US" altLang="zh-TW" sz="2400" b="0" dirty="0">
                <a:ea typeface="新細明體" pitchFamily="18" charset="-120"/>
              </a:rPr>
              <a:t>d) L = 0.05 </a:t>
            </a:r>
            <a:r>
              <a:rPr lang="en-US" altLang="zh-TW" sz="2400" b="0" dirty="0">
                <a:latin typeface="Symbol" panose="05050102010706020507" pitchFamily="18" charset="2"/>
                <a:ea typeface="新細明體" pitchFamily="18" charset="-120"/>
              </a:rPr>
              <a:t>m</a:t>
            </a:r>
            <a:r>
              <a:rPr lang="en-US" altLang="zh-TW" sz="2400" b="0" dirty="0">
                <a:ea typeface="新細明體" pitchFamily="18" charset="-120"/>
              </a:rPr>
              <a:t>m, </a:t>
            </a:r>
            <a:r>
              <a:rPr lang="en-US" altLang="zh-TW" sz="2400" b="0" dirty="0" err="1">
                <a:ea typeface="新細明體" pitchFamily="18" charset="-120"/>
              </a:rPr>
              <a:t>V</a:t>
            </a:r>
            <a:r>
              <a:rPr lang="en-US" altLang="zh-TW" sz="2400" b="0" baseline="-25000" dirty="0" err="1">
                <a:ea typeface="新細明體" pitchFamily="18" charset="-120"/>
              </a:rPr>
              <a:t>dsat</a:t>
            </a:r>
            <a:r>
              <a:rPr lang="en-US" altLang="zh-TW" sz="2400" b="0" dirty="0">
                <a:ea typeface="新細明體" pitchFamily="18" charset="-120"/>
              </a:rPr>
              <a:t>= </a:t>
            </a:r>
            <a:r>
              <a:rPr lang="en-US" altLang="zh-TW" sz="2400" b="0" i="0" dirty="0">
                <a:ea typeface="新細明體" pitchFamily="18" charset="-120"/>
              </a:rPr>
              <a:t>(1/1.3V + 1/.4V)</a:t>
            </a:r>
            <a:r>
              <a:rPr lang="en-US" altLang="zh-TW" sz="2400" b="0" i="0" baseline="30000" dirty="0">
                <a:ea typeface="新細明體" pitchFamily="18" charset="-120"/>
              </a:rPr>
              <a:t>-1 </a:t>
            </a:r>
            <a:r>
              <a:rPr lang="en-US" altLang="zh-TW" sz="2400" b="0" i="0" dirty="0">
                <a:ea typeface="新細明體" pitchFamily="18" charset="-120"/>
              </a:rPr>
              <a:t>=  0.3 V</a:t>
            </a:r>
          </a:p>
        </p:txBody>
      </p:sp>
    </p:spTree>
    <p:extLst>
      <p:ext uri="{BB962C8B-B14F-4D97-AF65-F5344CB8AC3E}">
        <p14:creationId xmlns:p14="http://schemas.microsoft.com/office/powerpoint/2010/main" val="41867240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89</a:t>
            </a:fld>
            <a:endParaRPr lang="zh-CN" altLang="en-US"/>
          </a:p>
        </p:txBody>
      </p:sp>
      <p:sp>
        <p:nvSpPr>
          <p:cNvPr id="3" name="Text Box 135"/>
          <p:cNvSpPr txBox="1">
            <a:spLocks noChangeArrowheads="1"/>
          </p:cNvSpPr>
          <p:nvPr/>
        </p:nvSpPr>
        <p:spPr bwMode="auto">
          <a:xfrm>
            <a:off x="539938" y="406151"/>
            <a:ext cx="37128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smtClean="0">
                <a:solidFill>
                  <a:srgbClr val="000000"/>
                </a:solidFill>
                <a:ea typeface="楷体_GB2312" pitchFamily="49" charset="-122"/>
              </a:rPr>
              <a:t>将</a:t>
            </a:r>
            <a:r>
              <a:rPr lang="en-US" altLang="zh-CN" dirty="0" err="1" smtClean="0">
                <a:solidFill>
                  <a:srgbClr val="000000"/>
                </a:solidFill>
                <a:ea typeface="楷体_GB2312" pitchFamily="49" charset="-122"/>
              </a:rPr>
              <a:t>V</a:t>
            </a:r>
            <a:r>
              <a:rPr lang="en-US" altLang="zh-CN" baseline="-25000" dirty="0" err="1" smtClean="0">
                <a:solidFill>
                  <a:srgbClr val="000000"/>
                </a:solidFill>
                <a:ea typeface="楷体_GB2312" pitchFamily="49" charset="-122"/>
              </a:rPr>
              <a:t>dsat</a:t>
            </a:r>
            <a:r>
              <a:rPr lang="zh-CN" altLang="en-US" i="0" dirty="0" smtClean="0">
                <a:solidFill>
                  <a:srgbClr val="000000"/>
                </a:solidFill>
                <a:ea typeface="楷体_GB2312" pitchFamily="49" charset="-122"/>
              </a:rPr>
              <a:t>代入</a:t>
            </a:r>
            <a:r>
              <a:rPr lang="en-US" altLang="zh-CN" dirty="0" smtClean="0">
                <a:solidFill>
                  <a:srgbClr val="000000"/>
                </a:solidFill>
                <a:ea typeface="楷体_GB2312" pitchFamily="49" charset="-122"/>
              </a:rPr>
              <a:t>I</a:t>
            </a:r>
            <a:r>
              <a:rPr lang="en-US" altLang="zh-CN" baseline="-25000" dirty="0" smtClean="0">
                <a:solidFill>
                  <a:srgbClr val="000000"/>
                </a:solidFill>
                <a:ea typeface="楷体_GB2312" pitchFamily="49" charset="-122"/>
              </a:rPr>
              <a:t>ds</a:t>
            </a:r>
            <a:r>
              <a:rPr lang="zh-CN" altLang="en-US" i="0" dirty="0" smtClean="0">
                <a:solidFill>
                  <a:srgbClr val="000000"/>
                </a:solidFill>
                <a:ea typeface="楷体_GB2312" pitchFamily="49" charset="-122"/>
              </a:rPr>
              <a:t>可以得到</a:t>
            </a:r>
            <a:endParaRPr lang="en-US" altLang="zh-TW" i="0" dirty="0">
              <a:solidFill>
                <a:srgbClr val="000000"/>
              </a:solidFill>
              <a:ea typeface="楷体_GB2312" pitchFamily="49" charset="-122"/>
            </a:endParaRPr>
          </a:p>
        </p:txBody>
      </p:sp>
      <p:grpSp>
        <p:nvGrpSpPr>
          <p:cNvPr id="4" name="Group 88"/>
          <p:cNvGrpSpPr>
            <a:grpSpLocks/>
          </p:cNvGrpSpPr>
          <p:nvPr/>
        </p:nvGrpSpPr>
        <p:grpSpPr bwMode="auto">
          <a:xfrm>
            <a:off x="1099933" y="1177976"/>
            <a:ext cx="6599238" cy="1377950"/>
            <a:chOff x="774" y="1227"/>
            <a:chExt cx="4157" cy="868"/>
          </a:xfrm>
        </p:grpSpPr>
        <p:sp>
          <p:nvSpPr>
            <p:cNvPr id="5" name="Text Box 10"/>
            <p:cNvSpPr txBox="1">
              <a:spLocks noChangeArrowheads="1"/>
            </p:cNvSpPr>
            <p:nvPr/>
          </p:nvSpPr>
          <p:spPr bwMode="auto">
            <a:xfrm>
              <a:off x="806" y="1766"/>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sz="2400" b="0">
                <a:ea typeface="新細明體" pitchFamily="18" charset="-120"/>
              </a:endParaRPr>
            </a:p>
          </p:txBody>
        </p:sp>
        <p:sp>
          <p:nvSpPr>
            <p:cNvPr id="7" name="Line 17"/>
            <p:cNvSpPr>
              <a:spLocks noChangeShapeType="1"/>
            </p:cNvSpPr>
            <p:nvPr/>
          </p:nvSpPr>
          <p:spPr bwMode="auto">
            <a:xfrm>
              <a:off x="1296" y="1536"/>
              <a:ext cx="393"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8"/>
            <p:cNvSpPr>
              <a:spLocks noChangeShapeType="1"/>
            </p:cNvSpPr>
            <p:nvPr/>
          </p:nvSpPr>
          <p:spPr bwMode="auto">
            <a:xfrm>
              <a:off x="2533" y="1819"/>
              <a:ext cx="605"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19"/>
            <p:cNvSpPr>
              <a:spLocks noChangeShapeType="1"/>
            </p:cNvSpPr>
            <p:nvPr/>
          </p:nvSpPr>
          <p:spPr bwMode="auto">
            <a:xfrm>
              <a:off x="2270" y="1536"/>
              <a:ext cx="886"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0"/>
            <p:cNvSpPr>
              <a:spLocks noChangeShapeType="1"/>
            </p:cNvSpPr>
            <p:nvPr/>
          </p:nvSpPr>
          <p:spPr bwMode="auto">
            <a:xfrm>
              <a:off x="3973" y="1819"/>
              <a:ext cx="605" cy="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1"/>
            <p:cNvSpPr>
              <a:spLocks noChangeShapeType="1"/>
            </p:cNvSpPr>
            <p:nvPr/>
          </p:nvSpPr>
          <p:spPr bwMode="auto">
            <a:xfrm>
              <a:off x="3373" y="1536"/>
              <a:ext cx="1558"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Rectangle 22"/>
            <p:cNvSpPr>
              <a:spLocks noChangeArrowheads="1"/>
            </p:cNvSpPr>
            <p:nvPr/>
          </p:nvSpPr>
          <p:spPr bwMode="auto">
            <a:xfrm>
              <a:off x="4440" y="1821"/>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L</a:t>
              </a:r>
              <a:endParaRPr lang="en-US" altLang="zh-TW">
                <a:ea typeface="新細明體" pitchFamily="18" charset="-120"/>
              </a:endParaRPr>
            </a:p>
          </p:txBody>
        </p:sp>
        <p:sp>
          <p:nvSpPr>
            <p:cNvPr id="13" name="Rectangle 23"/>
            <p:cNvSpPr>
              <a:spLocks noChangeArrowheads="1"/>
            </p:cNvSpPr>
            <p:nvPr/>
          </p:nvSpPr>
          <p:spPr bwMode="auto">
            <a:xfrm>
              <a:off x="3999" y="1845"/>
              <a:ext cx="2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m</a:t>
              </a:r>
              <a:r>
                <a:rPr lang="en-US" altLang="zh-TW" sz="2600" i="0">
                  <a:solidFill>
                    <a:srgbClr val="000000"/>
                  </a:solidFill>
                  <a:latin typeface="Script" pitchFamily="66"/>
                  <a:ea typeface="新細明體" pitchFamily="18" charset="-120"/>
                </a:rPr>
                <a:t>E</a:t>
              </a:r>
              <a:endParaRPr lang="en-US" altLang="zh-TW">
                <a:ea typeface="新細明體" pitchFamily="18" charset="-120"/>
              </a:endParaRPr>
            </a:p>
          </p:txBody>
        </p:sp>
        <p:sp>
          <p:nvSpPr>
            <p:cNvPr id="14" name="Rectangle 24"/>
            <p:cNvSpPr>
              <a:spLocks noChangeArrowheads="1"/>
            </p:cNvSpPr>
            <p:nvPr/>
          </p:nvSpPr>
          <p:spPr bwMode="auto">
            <a:xfrm>
              <a:off x="4389" y="1537"/>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15" name="Rectangle 25"/>
            <p:cNvSpPr>
              <a:spLocks noChangeArrowheads="1"/>
            </p:cNvSpPr>
            <p:nvPr/>
          </p:nvSpPr>
          <p:spPr bwMode="auto">
            <a:xfrm>
              <a:off x="3968" y="1537"/>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16" name="Rectangle 26"/>
            <p:cNvSpPr>
              <a:spLocks noChangeArrowheads="1"/>
            </p:cNvSpPr>
            <p:nvPr/>
          </p:nvSpPr>
          <p:spPr bwMode="auto">
            <a:xfrm>
              <a:off x="4610" y="1250"/>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I</a:t>
              </a:r>
              <a:endParaRPr lang="en-US" altLang="zh-TW">
                <a:ea typeface="新細明體" pitchFamily="18" charset="-120"/>
              </a:endParaRPr>
            </a:p>
          </p:txBody>
        </p:sp>
        <p:sp>
          <p:nvSpPr>
            <p:cNvPr id="17" name="Rectangle 27"/>
            <p:cNvSpPr>
              <a:spLocks noChangeArrowheads="1"/>
            </p:cNvSpPr>
            <p:nvPr/>
          </p:nvSpPr>
          <p:spPr bwMode="auto">
            <a:xfrm>
              <a:off x="3890" y="1250"/>
              <a:ext cx="6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dirty="0">
                  <a:solidFill>
                    <a:srgbClr val="000000"/>
                  </a:solidFill>
                  <a:ea typeface="新細明體" pitchFamily="18" charset="-120"/>
                </a:rPr>
                <a:t>channel</a:t>
              </a:r>
              <a:endParaRPr lang="en-US" altLang="zh-TW" dirty="0">
                <a:ea typeface="新細明體" pitchFamily="18" charset="-120"/>
              </a:endParaRPr>
            </a:p>
          </p:txBody>
        </p:sp>
        <p:sp>
          <p:nvSpPr>
            <p:cNvPr id="18" name="Rectangle 28"/>
            <p:cNvSpPr>
              <a:spLocks noChangeArrowheads="1"/>
            </p:cNvSpPr>
            <p:nvPr/>
          </p:nvSpPr>
          <p:spPr bwMode="auto">
            <a:xfrm>
              <a:off x="3791" y="1250"/>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a:t>
              </a:r>
              <a:endParaRPr lang="en-US" altLang="zh-TW">
                <a:ea typeface="新細明體" pitchFamily="18" charset="-120"/>
              </a:endParaRPr>
            </a:p>
          </p:txBody>
        </p:sp>
        <p:sp>
          <p:nvSpPr>
            <p:cNvPr id="19" name="Rectangle 29"/>
            <p:cNvSpPr>
              <a:spLocks noChangeArrowheads="1"/>
            </p:cNvSpPr>
            <p:nvPr/>
          </p:nvSpPr>
          <p:spPr bwMode="auto">
            <a:xfrm>
              <a:off x="3381" y="1250"/>
              <a:ext cx="3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long</a:t>
              </a:r>
              <a:endParaRPr lang="en-US" altLang="zh-TW">
                <a:ea typeface="新細明體" pitchFamily="18" charset="-120"/>
              </a:endParaRPr>
            </a:p>
          </p:txBody>
        </p:sp>
        <p:sp>
          <p:nvSpPr>
            <p:cNvPr id="20" name="Rectangle 30"/>
            <p:cNvSpPr>
              <a:spLocks noChangeArrowheads="1"/>
            </p:cNvSpPr>
            <p:nvPr/>
          </p:nvSpPr>
          <p:spPr bwMode="auto">
            <a:xfrm>
              <a:off x="3000" y="1821"/>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L</a:t>
              </a:r>
              <a:endParaRPr lang="en-US" altLang="zh-TW">
                <a:ea typeface="新細明體" pitchFamily="18" charset="-120"/>
              </a:endParaRPr>
            </a:p>
          </p:txBody>
        </p:sp>
        <p:sp>
          <p:nvSpPr>
            <p:cNvPr id="21" name="Rectangle 31"/>
            <p:cNvSpPr>
              <a:spLocks noChangeArrowheads="1"/>
            </p:cNvSpPr>
            <p:nvPr/>
          </p:nvSpPr>
          <p:spPr bwMode="auto">
            <a:xfrm>
              <a:off x="2559" y="1845"/>
              <a:ext cx="23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m</a:t>
              </a:r>
              <a:r>
                <a:rPr lang="en-US" altLang="zh-TW" sz="2600" i="0">
                  <a:solidFill>
                    <a:srgbClr val="000000"/>
                  </a:solidFill>
                  <a:latin typeface="Script" pitchFamily="66"/>
                  <a:ea typeface="新細明體" pitchFamily="18" charset="-120"/>
                </a:rPr>
                <a:t>E</a:t>
              </a:r>
              <a:endParaRPr lang="en-US" altLang="zh-TW">
                <a:ea typeface="新細明體" pitchFamily="18" charset="-120"/>
              </a:endParaRPr>
            </a:p>
          </p:txBody>
        </p:sp>
        <p:sp>
          <p:nvSpPr>
            <p:cNvPr id="22" name="Rectangle 32"/>
            <p:cNvSpPr>
              <a:spLocks noChangeArrowheads="1"/>
            </p:cNvSpPr>
            <p:nvPr/>
          </p:nvSpPr>
          <p:spPr bwMode="auto">
            <a:xfrm>
              <a:off x="2949" y="1537"/>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23" name="Rectangle 33"/>
            <p:cNvSpPr>
              <a:spLocks noChangeArrowheads="1"/>
            </p:cNvSpPr>
            <p:nvPr/>
          </p:nvSpPr>
          <p:spPr bwMode="auto">
            <a:xfrm>
              <a:off x="2528" y="1537"/>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24" name="Rectangle 34"/>
            <p:cNvSpPr>
              <a:spLocks noChangeArrowheads="1"/>
            </p:cNvSpPr>
            <p:nvPr/>
          </p:nvSpPr>
          <p:spPr bwMode="auto">
            <a:xfrm>
              <a:off x="2780" y="1251"/>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25" name="Rectangle 35"/>
            <p:cNvSpPr>
              <a:spLocks noChangeArrowheads="1"/>
            </p:cNvSpPr>
            <p:nvPr/>
          </p:nvSpPr>
          <p:spPr bwMode="auto">
            <a:xfrm>
              <a:off x="2359" y="1251"/>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V</a:t>
              </a:r>
              <a:endParaRPr lang="en-US" altLang="zh-TW">
                <a:ea typeface="新細明體" pitchFamily="18" charset="-120"/>
              </a:endParaRPr>
            </a:p>
          </p:txBody>
        </p:sp>
        <p:sp>
          <p:nvSpPr>
            <p:cNvPr id="26" name="Rectangle 36"/>
            <p:cNvSpPr>
              <a:spLocks noChangeArrowheads="1"/>
            </p:cNvSpPr>
            <p:nvPr/>
          </p:nvSpPr>
          <p:spPr bwMode="auto">
            <a:xfrm>
              <a:off x="1718" y="1406"/>
              <a:ext cx="1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C</a:t>
              </a:r>
              <a:endParaRPr lang="en-US" altLang="zh-TW">
                <a:ea typeface="新細明體" pitchFamily="18" charset="-120"/>
              </a:endParaRPr>
            </a:p>
          </p:txBody>
        </p:sp>
        <p:sp>
          <p:nvSpPr>
            <p:cNvPr id="27" name="Rectangle 37"/>
            <p:cNvSpPr>
              <a:spLocks noChangeArrowheads="1"/>
            </p:cNvSpPr>
            <p:nvPr/>
          </p:nvSpPr>
          <p:spPr bwMode="auto">
            <a:xfrm>
              <a:off x="1416" y="1566"/>
              <a:ext cx="2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mL</a:t>
              </a:r>
              <a:endParaRPr lang="en-US" altLang="zh-TW">
                <a:ea typeface="新細明體" pitchFamily="18" charset="-120"/>
              </a:endParaRPr>
            </a:p>
          </p:txBody>
        </p:sp>
        <p:sp>
          <p:nvSpPr>
            <p:cNvPr id="28" name="Rectangle 38"/>
            <p:cNvSpPr>
              <a:spLocks noChangeArrowheads="1"/>
            </p:cNvSpPr>
            <p:nvPr/>
          </p:nvSpPr>
          <p:spPr bwMode="auto">
            <a:xfrm>
              <a:off x="1385" y="1277"/>
              <a:ext cx="1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W</a:t>
              </a:r>
              <a:endParaRPr lang="en-US" altLang="zh-TW">
                <a:ea typeface="新細明體" pitchFamily="18" charset="-120"/>
              </a:endParaRPr>
            </a:p>
          </p:txBody>
        </p:sp>
        <p:sp>
          <p:nvSpPr>
            <p:cNvPr id="29" name="Rectangle 39"/>
            <p:cNvSpPr>
              <a:spLocks noChangeArrowheads="1"/>
            </p:cNvSpPr>
            <p:nvPr/>
          </p:nvSpPr>
          <p:spPr bwMode="auto">
            <a:xfrm>
              <a:off x="774" y="140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ea typeface="新細明體" pitchFamily="18" charset="-120"/>
                </a:rPr>
                <a:t>I</a:t>
              </a:r>
              <a:endParaRPr lang="en-US" altLang="zh-TW">
                <a:ea typeface="新細明體" pitchFamily="18" charset="-120"/>
              </a:endParaRPr>
            </a:p>
          </p:txBody>
        </p:sp>
        <p:sp>
          <p:nvSpPr>
            <p:cNvPr id="30" name="Rectangle 40"/>
            <p:cNvSpPr>
              <a:spLocks noChangeArrowheads="1"/>
            </p:cNvSpPr>
            <p:nvPr/>
          </p:nvSpPr>
          <p:spPr bwMode="auto">
            <a:xfrm>
              <a:off x="4246" y="1941"/>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a:t>
              </a:r>
              <a:endParaRPr lang="en-US" altLang="zh-TW">
                <a:ea typeface="新細明體" pitchFamily="18" charset="-120"/>
              </a:endParaRPr>
            </a:p>
          </p:txBody>
        </p:sp>
        <p:sp>
          <p:nvSpPr>
            <p:cNvPr id="31" name="Rectangle 41"/>
            <p:cNvSpPr>
              <a:spLocks noChangeArrowheads="1"/>
            </p:cNvSpPr>
            <p:nvPr/>
          </p:nvSpPr>
          <p:spPr bwMode="auto">
            <a:xfrm>
              <a:off x="4507" y="1663"/>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t</a:t>
              </a:r>
              <a:endParaRPr lang="en-US" altLang="zh-TW">
                <a:ea typeface="新細明體" pitchFamily="18" charset="-120"/>
              </a:endParaRPr>
            </a:p>
          </p:txBody>
        </p:sp>
        <p:sp>
          <p:nvSpPr>
            <p:cNvPr id="32" name="Rectangle 42"/>
            <p:cNvSpPr>
              <a:spLocks noChangeArrowheads="1"/>
            </p:cNvSpPr>
            <p:nvPr/>
          </p:nvSpPr>
          <p:spPr bwMode="auto">
            <a:xfrm>
              <a:off x="4095" y="1663"/>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gs</a:t>
              </a:r>
              <a:endParaRPr lang="en-US" altLang="zh-TW">
                <a:ea typeface="新細明體" pitchFamily="18" charset="-120"/>
              </a:endParaRPr>
            </a:p>
          </p:txBody>
        </p:sp>
        <p:sp>
          <p:nvSpPr>
            <p:cNvPr id="33" name="Rectangle 43"/>
            <p:cNvSpPr>
              <a:spLocks noChangeArrowheads="1"/>
            </p:cNvSpPr>
            <p:nvPr/>
          </p:nvSpPr>
          <p:spPr bwMode="auto">
            <a:xfrm>
              <a:off x="4693" y="1376"/>
              <a:ext cx="2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dsat</a:t>
              </a:r>
              <a:endParaRPr lang="en-US" altLang="zh-TW">
                <a:ea typeface="新細明體" pitchFamily="18" charset="-120"/>
              </a:endParaRPr>
            </a:p>
          </p:txBody>
        </p:sp>
        <p:sp>
          <p:nvSpPr>
            <p:cNvPr id="34" name="Rectangle 44"/>
            <p:cNvSpPr>
              <a:spLocks noChangeArrowheads="1"/>
            </p:cNvSpPr>
            <p:nvPr/>
          </p:nvSpPr>
          <p:spPr bwMode="auto">
            <a:xfrm>
              <a:off x="2824" y="1947"/>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a:t>
              </a:r>
              <a:endParaRPr lang="en-US" altLang="zh-TW">
                <a:ea typeface="新細明體" pitchFamily="18" charset="-120"/>
              </a:endParaRPr>
            </a:p>
          </p:txBody>
        </p:sp>
        <p:sp>
          <p:nvSpPr>
            <p:cNvPr id="35" name="Rectangle 45"/>
            <p:cNvSpPr>
              <a:spLocks noChangeArrowheads="1"/>
            </p:cNvSpPr>
            <p:nvPr/>
          </p:nvSpPr>
          <p:spPr bwMode="auto">
            <a:xfrm>
              <a:off x="3067" y="1663"/>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t</a:t>
              </a:r>
              <a:endParaRPr lang="en-US" altLang="zh-TW">
                <a:ea typeface="新細明體" pitchFamily="18" charset="-120"/>
              </a:endParaRPr>
            </a:p>
          </p:txBody>
        </p:sp>
        <p:sp>
          <p:nvSpPr>
            <p:cNvPr id="36" name="Rectangle 46"/>
            <p:cNvSpPr>
              <a:spLocks noChangeArrowheads="1"/>
            </p:cNvSpPr>
            <p:nvPr/>
          </p:nvSpPr>
          <p:spPr bwMode="auto">
            <a:xfrm>
              <a:off x="2655" y="1663"/>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gs</a:t>
              </a:r>
              <a:endParaRPr lang="en-US" altLang="zh-TW">
                <a:ea typeface="新細明體" pitchFamily="18" charset="-120"/>
              </a:endParaRPr>
            </a:p>
          </p:txBody>
        </p:sp>
        <p:sp>
          <p:nvSpPr>
            <p:cNvPr id="37" name="Rectangle 47"/>
            <p:cNvSpPr>
              <a:spLocks noChangeArrowheads="1"/>
            </p:cNvSpPr>
            <p:nvPr/>
          </p:nvSpPr>
          <p:spPr bwMode="auto">
            <a:xfrm>
              <a:off x="2898" y="1378"/>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t</a:t>
              </a:r>
              <a:endParaRPr lang="en-US" altLang="zh-TW">
                <a:ea typeface="新細明體" pitchFamily="18" charset="-120"/>
              </a:endParaRPr>
            </a:p>
          </p:txBody>
        </p:sp>
        <p:sp>
          <p:nvSpPr>
            <p:cNvPr id="38" name="Rectangle 48"/>
            <p:cNvSpPr>
              <a:spLocks noChangeArrowheads="1"/>
            </p:cNvSpPr>
            <p:nvPr/>
          </p:nvSpPr>
          <p:spPr bwMode="auto">
            <a:xfrm>
              <a:off x="2486" y="1378"/>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gs</a:t>
              </a:r>
              <a:endParaRPr lang="en-US" altLang="zh-TW">
                <a:ea typeface="新細明體" pitchFamily="18" charset="-120"/>
              </a:endParaRPr>
            </a:p>
          </p:txBody>
        </p:sp>
        <p:sp>
          <p:nvSpPr>
            <p:cNvPr id="39" name="Rectangle 49"/>
            <p:cNvSpPr>
              <a:spLocks noChangeArrowheads="1"/>
            </p:cNvSpPr>
            <p:nvPr/>
          </p:nvSpPr>
          <p:spPr bwMode="auto">
            <a:xfrm>
              <a:off x="2167" y="1532"/>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
              </a:r>
              <a:endParaRPr lang="en-US" altLang="zh-TW">
                <a:ea typeface="新細明體" pitchFamily="18" charset="-120"/>
              </a:endParaRPr>
            </a:p>
          </p:txBody>
        </p:sp>
        <p:sp>
          <p:nvSpPr>
            <p:cNvPr id="40" name="Rectangle 50"/>
            <p:cNvSpPr>
              <a:spLocks noChangeArrowheads="1"/>
            </p:cNvSpPr>
            <p:nvPr/>
          </p:nvSpPr>
          <p:spPr bwMode="auto">
            <a:xfrm>
              <a:off x="1857" y="1532"/>
              <a:ext cx="11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dirty="0" smtClean="0">
                  <a:solidFill>
                    <a:srgbClr val="000000"/>
                  </a:solidFill>
                  <a:ea typeface="新細明體" pitchFamily="18" charset="-120"/>
                </a:rPr>
                <a:t>ox</a:t>
              </a:r>
              <a:endParaRPr lang="en-US" altLang="zh-TW" dirty="0">
                <a:ea typeface="新細明體" pitchFamily="18" charset="-120"/>
              </a:endParaRPr>
            </a:p>
          </p:txBody>
        </p:sp>
        <p:sp>
          <p:nvSpPr>
            <p:cNvPr id="41" name="Rectangle 51"/>
            <p:cNvSpPr>
              <a:spLocks noChangeArrowheads="1"/>
            </p:cNvSpPr>
            <p:nvPr/>
          </p:nvSpPr>
          <p:spPr bwMode="auto">
            <a:xfrm>
              <a:off x="858" y="1532"/>
              <a:ext cx="2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dsat</a:t>
              </a:r>
              <a:endParaRPr lang="en-US" altLang="zh-TW">
                <a:ea typeface="新細明體" pitchFamily="18" charset="-120"/>
              </a:endParaRPr>
            </a:p>
          </p:txBody>
        </p:sp>
        <p:sp>
          <p:nvSpPr>
            <p:cNvPr id="42" name="Rectangle 52"/>
            <p:cNvSpPr>
              <a:spLocks noChangeArrowheads="1"/>
            </p:cNvSpPr>
            <p:nvPr/>
          </p:nvSpPr>
          <p:spPr bwMode="auto">
            <a:xfrm>
              <a:off x="4260" y="1513"/>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3" name="Rectangle 53"/>
            <p:cNvSpPr>
              <a:spLocks noChangeArrowheads="1"/>
            </p:cNvSpPr>
            <p:nvPr/>
          </p:nvSpPr>
          <p:spPr bwMode="auto">
            <a:xfrm>
              <a:off x="3819" y="1664"/>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4" name="Rectangle 54"/>
            <p:cNvSpPr>
              <a:spLocks noChangeArrowheads="1"/>
            </p:cNvSpPr>
            <p:nvPr/>
          </p:nvSpPr>
          <p:spPr bwMode="auto">
            <a:xfrm>
              <a:off x="3210" y="1382"/>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5" name="Rectangle 55"/>
            <p:cNvSpPr>
              <a:spLocks noChangeArrowheads="1"/>
            </p:cNvSpPr>
            <p:nvPr/>
          </p:nvSpPr>
          <p:spPr bwMode="auto">
            <a:xfrm>
              <a:off x="2821" y="1513"/>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6" name="Rectangle 56"/>
            <p:cNvSpPr>
              <a:spLocks noChangeArrowheads="1"/>
            </p:cNvSpPr>
            <p:nvPr/>
          </p:nvSpPr>
          <p:spPr bwMode="auto">
            <a:xfrm>
              <a:off x="2380" y="1664"/>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dirty="0">
                  <a:solidFill>
                    <a:srgbClr val="000000"/>
                  </a:solidFill>
                  <a:latin typeface="Symbol" panose="05050102010706020507" pitchFamily="18" charset="2"/>
                  <a:ea typeface="新細明體" pitchFamily="18" charset="-120"/>
                </a:rPr>
                <a:t>+</a:t>
              </a:r>
              <a:endParaRPr lang="en-US" altLang="zh-TW" dirty="0">
                <a:ea typeface="新細明體" pitchFamily="18" charset="-120"/>
              </a:endParaRPr>
            </a:p>
          </p:txBody>
        </p:sp>
        <p:sp>
          <p:nvSpPr>
            <p:cNvPr id="47" name="Rectangle 57"/>
            <p:cNvSpPr>
              <a:spLocks noChangeArrowheads="1"/>
            </p:cNvSpPr>
            <p:nvPr/>
          </p:nvSpPr>
          <p:spPr bwMode="auto">
            <a:xfrm>
              <a:off x="2652" y="1227"/>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8" name="Rectangle 58"/>
            <p:cNvSpPr>
              <a:spLocks noChangeArrowheads="1"/>
            </p:cNvSpPr>
            <p:nvPr/>
          </p:nvSpPr>
          <p:spPr bwMode="auto">
            <a:xfrm>
              <a:off x="1133" y="1382"/>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49" name="Rectangle 59"/>
            <p:cNvSpPr>
              <a:spLocks noChangeArrowheads="1"/>
            </p:cNvSpPr>
            <p:nvPr/>
          </p:nvSpPr>
          <p:spPr bwMode="auto">
            <a:xfrm>
              <a:off x="3701" y="168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ea typeface="新細明體" pitchFamily="18" charset="-120"/>
                </a:rPr>
                <a:t>1</a:t>
              </a:r>
              <a:endParaRPr lang="en-US" altLang="zh-TW">
                <a:ea typeface="新細明體" pitchFamily="18" charset="-120"/>
              </a:endParaRPr>
            </a:p>
          </p:txBody>
        </p:sp>
        <p:sp>
          <p:nvSpPr>
            <p:cNvPr id="50" name="Rectangle 60"/>
            <p:cNvSpPr>
              <a:spLocks noChangeArrowheads="1"/>
            </p:cNvSpPr>
            <p:nvPr/>
          </p:nvSpPr>
          <p:spPr bwMode="auto">
            <a:xfrm>
              <a:off x="2261" y="168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ea typeface="新細明體" pitchFamily="18" charset="-120"/>
                </a:rPr>
                <a:t>1</a:t>
              </a:r>
              <a:endParaRPr lang="en-US" altLang="zh-TW">
                <a:ea typeface="新細明體" pitchFamily="18" charset="-120"/>
              </a:endParaRPr>
            </a:p>
          </p:txBody>
        </p:sp>
        <p:sp>
          <p:nvSpPr>
            <p:cNvPr id="51" name="Rectangle 61"/>
            <p:cNvSpPr>
              <a:spLocks noChangeArrowheads="1"/>
            </p:cNvSpPr>
            <p:nvPr/>
          </p:nvSpPr>
          <p:spPr bwMode="auto">
            <a:xfrm>
              <a:off x="2962" y="1251"/>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ea typeface="新細明體" pitchFamily="18" charset="-120"/>
                </a:rPr>
                <a:t>)</a:t>
              </a:r>
              <a:endParaRPr lang="en-US" altLang="zh-TW">
                <a:ea typeface="新細明體" pitchFamily="18" charset="-120"/>
              </a:endParaRPr>
            </a:p>
          </p:txBody>
        </p:sp>
        <p:sp>
          <p:nvSpPr>
            <p:cNvPr id="52" name="Rectangle 62"/>
            <p:cNvSpPr>
              <a:spLocks noChangeArrowheads="1"/>
            </p:cNvSpPr>
            <p:nvPr/>
          </p:nvSpPr>
          <p:spPr bwMode="auto">
            <a:xfrm>
              <a:off x="2305" y="1251"/>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ea typeface="新細明體" pitchFamily="18" charset="-120"/>
                </a:rPr>
                <a:t>(</a:t>
              </a:r>
              <a:endParaRPr lang="en-US" altLang="zh-TW">
                <a:ea typeface="新細明體" pitchFamily="18" charset="-120"/>
              </a:endParaRPr>
            </a:p>
          </p:txBody>
        </p:sp>
        <p:sp>
          <p:nvSpPr>
            <p:cNvPr id="53" name="Rectangle 63"/>
            <p:cNvSpPr>
              <a:spLocks noChangeArrowheads="1"/>
            </p:cNvSpPr>
            <p:nvPr/>
          </p:nvSpPr>
          <p:spPr bwMode="auto">
            <a:xfrm>
              <a:off x="1310" y="1566"/>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i="0">
                  <a:solidFill>
                    <a:srgbClr val="000000"/>
                  </a:solidFill>
                  <a:ea typeface="新細明體" pitchFamily="18" charset="-120"/>
                </a:rPr>
                <a:t>2</a:t>
              </a:r>
              <a:endParaRPr lang="en-US" altLang="zh-TW">
                <a:ea typeface="新細明體" pitchFamily="18" charset="-120"/>
              </a:endParaRPr>
            </a:p>
          </p:txBody>
        </p:sp>
        <p:sp>
          <p:nvSpPr>
            <p:cNvPr id="54" name="Rectangle 64"/>
            <p:cNvSpPr>
              <a:spLocks noChangeArrowheads="1"/>
            </p:cNvSpPr>
            <p:nvPr/>
          </p:nvSpPr>
          <p:spPr bwMode="auto">
            <a:xfrm>
              <a:off x="3041" y="123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i="0">
                  <a:solidFill>
                    <a:srgbClr val="000000"/>
                  </a:solidFill>
                  <a:ea typeface="新細明體" pitchFamily="18" charset="-120"/>
                </a:rPr>
                <a:t>2</a:t>
              </a:r>
              <a:endParaRPr lang="en-US" altLang="zh-TW">
                <a:ea typeface="新細明體" pitchFamily="18" charset="-120"/>
              </a:endParaRPr>
            </a:p>
          </p:txBody>
        </p:sp>
        <p:sp>
          <p:nvSpPr>
            <p:cNvPr id="55" name="Rectangle 65"/>
            <p:cNvSpPr>
              <a:spLocks noChangeArrowheads="1"/>
            </p:cNvSpPr>
            <p:nvPr/>
          </p:nvSpPr>
          <p:spPr bwMode="auto">
            <a:xfrm>
              <a:off x="2037" y="1382"/>
              <a:ext cx="1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600" b="0">
                  <a:solidFill>
                    <a:srgbClr val="000000"/>
                  </a:solidFill>
                  <a:latin typeface="Symbol" panose="05050102010706020507" pitchFamily="18" charset="2"/>
                  <a:ea typeface="新細明體" pitchFamily="18" charset="-120"/>
                </a:rPr>
                <a:t>m</a:t>
              </a:r>
              <a:endParaRPr lang="en-US" altLang="zh-TW">
                <a:ea typeface="新細明體" pitchFamily="18" charset="-120"/>
              </a:endParaRPr>
            </a:p>
          </p:txBody>
        </p:sp>
      </p:grpSp>
      <p:sp>
        <p:nvSpPr>
          <p:cNvPr id="56" name="Text Box 135"/>
          <p:cNvSpPr txBox="1">
            <a:spLocks noChangeArrowheads="1"/>
          </p:cNvSpPr>
          <p:nvPr/>
        </p:nvSpPr>
        <p:spPr bwMode="auto">
          <a:xfrm>
            <a:off x="543625" y="2909634"/>
            <a:ext cx="379142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smtClean="0">
                <a:solidFill>
                  <a:srgbClr val="000000"/>
                </a:solidFill>
                <a:ea typeface="楷体_GB2312" pitchFamily="49" charset="-122"/>
              </a:rPr>
              <a:t>对于极短沟道的情况，</a:t>
            </a:r>
            <a:endParaRPr lang="en-US" altLang="zh-TW" i="0" dirty="0">
              <a:solidFill>
                <a:srgbClr val="000000"/>
              </a:solidFill>
              <a:ea typeface="楷体_GB2312" pitchFamily="49" charset="-122"/>
            </a:endParaRPr>
          </a:p>
        </p:txBody>
      </p:sp>
      <p:grpSp>
        <p:nvGrpSpPr>
          <p:cNvPr id="57" name="Group 89"/>
          <p:cNvGrpSpPr>
            <a:grpSpLocks/>
          </p:cNvGrpSpPr>
          <p:nvPr/>
        </p:nvGrpSpPr>
        <p:grpSpPr bwMode="auto">
          <a:xfrm>
            <a:off x="4372565" y="2909419"/>
            <a:ext cx="1784350" cy="412750"/>
            <a:chOff x="3247" y="2356"/>
            <a:chExt cx="1124" cy="260"/>
          </a:xfrm>
        </p:grpSpPr>
        <p:sp>
          <p:nvSpPr>
            <p:cNvPr id="58" name="Rectangle 67"/>
            <p:cNvSpPr>
              <a:spLocks noChangeArrowheads="1"/>
            </p:cNvSpPr>
            <p:nvPr/>
          </p:nvSpPr>
          <p:spPr bwMode="auto">
            <a:xfrm>
              <a:off x="4342" y="248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t</a:t>
              </a:r>
              <a:endParaRPr lang="en-US" altLang="zh-TW">
                <a:ea typeface="新細明體" pitchFamily="18" charset="-120"/>
              </a:endParaRPr>
            </a:p>
          </p:txBody>
        </p:sp>
        <p:sp>
          <p:nvSpPr>
            <p:cNvPr id="59" name="Rectangle 68"/>
            <p:cNvSpPr>
              <a:spLocks noChangeArrowheads="1"/>
            </p:cNvSpPr>
            <p:nvPr/>
          </p:nvSpPr>
          <p:spPr bwMode="auto">
            <a:xfrm>
              <a:off x="3981" y="2488"/>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gs</a:t>
              </a:r>
              <a:endParaRPr lang="en-US" altLang="zh-TW">
                <a:ea typeface="新細明體" pitchFamily="18" charset="-120"/>
              </a:endParaRPr>
            </a:p>
          </p:txBody>
        </p:sp>
        <p:sp>
          <p:nvSpPr>
            <p:cNvPr id="60" name="Rectangle 69"/>
            <p:cNvSpPr>
              <a:spLocks noChangeArrowheads="1"/>
            </p:cNvSpPr>
            <p:nvPr/>
          </p:nvSpPr>
          <p:spPr bwMode="auto">
            <a:xfrm>
              <a:off x="3363" y="2488"/>
              <a:ext cx="12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300" b="0">
                  <a:solidFill>
                    <a:srgbClr val="000000"/>
                  </a:solidFill>
                  <a:ea typeface="新細明體" pitchFamily="18" charset="-120"/>
                </a:rPr>
                <a:t>sat</a:t>
              </a:r>
              <a:endParaRPr lang="en-US" altLang="zh-TW">
                <a:ea typeface="新細明體" pitchFamily="18" charset="-120"/>
              </a:endParaRPr>
            </a:p>
          </p:txBody>
        </p:sp>
        <p:sp>
          <p:nvSpPr>
            <p:cNvPr id="61" name="Rectangle 70"/>
            <p:cNvSpPr>
              <a:spLocks noChangeArrowheads="1"/>
            </p:cNvSpPr>
            <p:nvPr/>
          </p:nvSpPr>
          <p:spPr bwMode="auto">
            <a:xfrm>
              <a:off x="4239" y="2377"/>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62" name="Rectangle 71"/>
            <p:cNvSpPr>
              <a:spLocks noChangeArrowheads="1"/>
            </p:cNvSpPr>
            <p:nvPr/>
          </p:nvSpPr>
          <p:spPr bwMode="auto">
            <a:xfrm>
              <a:off x="3869" y="2377"/>
              <a:ext cx="1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V</a:t>
              </a:r>
              <a:endParaRPr lang="en-US" altLang="zh-TW">
                <a:ea typeface="新細明體" pitchFamily="18" charset="-120"/>
              </a:endParaRPr>
            </a:p>
          </p:txBody>
        </p:sp>
        <p:sp>
          <p:nvSpPr>
            <p:cNvPr id="63" name="Rectangle 72"/>
            <p:cNvSpPr>
              <a:spLocks noChangeArrowheads="1"/>
            </p:cNvSpPr>
            <p:nvPr/>
          </p:nvSpPr>
          <p:spPr bwMode="auto">
            <a:xfrm>
              <a:off x="3507" y="2377"/>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a:solidFill>
                    <a:srgbClr val="000000"/>
                  </a:solidFill>
                  <a:ea typeface="新細明體" pitchFamily="18" charset="-120"/>
                </a:rPr>
                <a:t>L</a:t>
              </a:r>
              <a:endParaRPr lang="en-US" altLang="zh-TW">
                <a:ea typeface="新細明體" pitchFamily="18" charset="-120"/>
              </a:endParaRPr>
            </a:p>
          </p:txBody>
        </p:sp>
        <p:sp>
          <p:nvSpPr>
            <p:cNvPr id="64" name="Rectangle 73"/>
            <p:cNvSpPr>
              <a:spLocks noChangeArrowheads="1"/>
            </p:cNvSpPr>
            <p:nvPr/>
          </p:nvSpPr>
          <p:spPr bwMode="auto">
            <a:xfrm>
              <a:off x="3247" y="2395"/>
              <a:ext cx="7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i="0">
                  <a:solidFill>
                    <a:srgbClr val="000000"/>
                  </a:solidFill>
                  <a:latin typeface="Script" pitchFamily="66"/>
                  <a:ea typeface="新細明體" pitchFamily="18" charset="-120"/>
                </a:rPr>
                <a:t>E</a:t>
              </a:r>
              <a:endParaRPr lang="en-US" altLang="zh-TW">
                <a:ea typeface="新細明體" pitchFamily="18" charset="-120"/>
              </a:endParaRPr>
            </a:p>
          </p:txBody>
        </p:sp>
        <p:sp>
          <p:nvSpPr>
            <p:cNvPr id="65" name="Rectangle 74"/>
            <p:cNvSpPr>
              <a:spLocks noChangeArrowheads="1"/>
            </p:cNvSpPr>
            <p:nvPr/>
          </p:nvSpPr>
          <p:spPr bwMode="auto">
            <a:xfrm>
              <a:off x="4126" y="235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66" name="Rectangle 75"/>
            <p:cNvSpPr>
              <a:spLocks noChangeArrowheads="1"/>
            </p:cNvSpPr>
            <p:nvPr/>
          </p:nvSpPr>
          <p:spPr bwMode="auto">
            <a:xfrm>
              <a:off x="3647" y="2356"/>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300" b="0" i="0">
                  <a:solidFill>
                    <a:srgbClr val="000000"/>
                  </a:solidFill>
                  <a:latin typeface="Symbol" panose="05050102010706020507" pitchFamily="18" charset="2"/>
                  <a:ea typeface="新細明體" pitchFamily="18" charset="-120"/>
                </a:rPr>
                <a:t>&lt;&lt;</a:t>
              </a:r>
              <a:endParaRPr lang="en-US" altLang="zh-TW">
                <a:ea typeface="新細明體" pitchFamily="18" charset="-120"/>
              </a:endParaRPr>
            </a:p>
          </p:txBody>
        </p:sp>
      </p:grpSp>
      <p:grpSp>
        <p:nvGrpSpPr>
          <p:cNvPr id="67" name="Group 110"/>
          <p:cNvGrpSpPr>
            <a:grpSpLocks/>
          </p:cNvGrpSpPr>
          <p:nvPr/>
        </p:nvGrpSpPr>
        <p:grpSpPr bwMode="auto">
          <a:xfrm>
            <a:off x="2087148" y="4428661"/>
            <a:ext cx="3238500" cy="465138"/>
            <a:chOff x="1345" y="2867"/>
            <a:chExt cx="2040" cy="293"/>
          </a:xfrm>
        </p:grpSpPr>
        <p:sp>
          <p:nvSpPr>
            <p:cNvPr id="68" name="Rectangle 77"/>
            <p:cNvSpPr>
              <a:spLocks noChangeArrowheads="1"/>
            </p:cNvSpPr>
            <p:nvPr/>
          </p:nvSpPr>
          <p:spPr bwMode="auto">
            <a:xfrm>
              <a:off x="3318" y="2896"/>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dirty="0">
                  <a:solidFill>
                    <a:srgbClr val="000000"/>
                  </a:solidFill>
                  <a:ea typeface="新細明體" pitchFamily="18" charset="-120"/>
                </a:rPr>
                <a:t>)</a:t>
              </a:r>
              <a:endParaRPr lang="en-US" altLang="zh-TW" dirty="0">
                <a:ea typeface="新細明體" pitchFamily="18" charset="-120"/>
              </a:endParaRPr>
            </a:p>
          </p:txBody>
        </p:sp>
        <p:sp>
          <p:nvSpPr>
            <p:cNvPr id="69" name="Rectangle 78"/>
            <p:cNvSpPr>
              <a:spLocks noChangeArrowheads="1"/>
            </p:cNvSpPr>
            <p:nvPr/>
          </p:nvSpPr>
          <p:spPr bwMode="auto">
            <a:xfrm>
              <a:off x="2635" y="2890"/>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ea typeface="新細明體" pitchFamily="18" charset="-120"/>
                </a:rPr>
                <a:t>(</a:t>
              </a:r>
              <a:endParaRPr lang="en-US" altLang="zh-TW">
                <a:ea typeface="新細明體" pitchFamily="18" charset="-120"/>
              </a:endParaRPr>
            </a:p>
          </p:txBody>
        </p:sp>
        <p:sp>
          <p:nvSpPr>
            <p:cNvPr id="70" name="Rectangle 84"/>
            <p:cNvSpPr>
              <a:spLocks noChangeArrowheads="1"/>
            </p:cNvSpPr>
            <p:nvPr/>
          </p:nvSpPr>
          <p:spPr bwMode="auto">
            <a:xfrm>
              <a:off x="3129" y="2890"/>
              <a:ext cx="12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V</a:t>
              </a:r>
              <a:endParaRPr lang="en-US" altLang="zh-TW">
                <a:ea typeface="新細明體" pitchFamily="18" charset="-120"/>
              </a:endParaRPr>
            </a:p>
          </p:txBody>
        </p:sp>
        <p:sp>
          <p:nvSpPr>
            <p:cNvPr id="71" name="Rectangle 85"/>
            <p:cNvSpPr>
              <a:spLocks noChangeArrowheads="1"/>
            </p:cNvSpPr>
            <p:nvPr/>
          </p:nvSpPr>
          <p:spPr bwMode="auto">
            <a:xfrm>
              <a:off x="2692" y="2890"/>
              <a:ext cx="12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V</a:t>
              </a:r>
              <a:endParaRPr lang="en-US" altLang="zh-TW">
                <a:ea typeface="新細明體" pitchFamily="18" charset="-120"/>
              </a:endParaRPr>
            </a:p>
          </p:txBody>
        </p:sp>
        <p:sp>
          <p:nvSpPr>
            <p:cNvPr id="72" name="Rectangle 86"/>
            <p:cNvSpPr>
              <a:spLocks noChangeArrowheads="1"/>
            </p:cNvSpPr>
            <p:nvPr/>
          </p:nvSpPr>
          <p:spPr bwMode="auto">
            <a:xfrm>
              <a:off x="2294" y="2890"/>
              <a:ext cx="13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C</a:t>
              </a:r>
              <a:endParaRPr lang="en-US" altLang="zh-TW">
                <a:ea typeface="新細明體" pitchFamily="18" charset="-120"/>
              </a:endParaRPr>
            </a:p>
          </p:txBody>
        </p:sp>
        <p:sp>
          <p:nvSpPr>
            <p:cNvPr id="73" name="Rectangle 87"/>
            <p:cNvSpPr>
              <a:spLocks noChangeArrowheads="1"/>
            </p:cNvSpPr>
            <p:nvPr/>
          </p:nvSpPr>
          <p:spPr bwMode="auto">
            <a:xfrm>
              <a:off x="1863" y="2890"/>
              <a:ext cx="25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Wv</a:t>
              </a:r>
              <a:endParaRPr lang="en-US" altLang="zh-TW">
                <a:ea typeface="新細明體" pitchFamily="18" charset="-120"/>
              </a:endParaRPr>
            </a:p>
          </p:txBody>
        </p:sp>
        <p:sp>
          <p:nvSpPr>
            <p:cNvPr id="74" name="Rectangle 93"/>
            <p:cNvSpPr>
              <a:spLocks noChangeArrowheads="1"/>
            </p:cNvSpPr>
            <p:nvPr/>
          </p:nvSpPr>
          <p:spPr bwMode="auto">
            <a:xfrm>
              <a:off x="1345" y="2875"/>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I</a:t>
              </a:r>
              <a:endParaRPr lang="en-US" altLang="zh-TW">
                <a:ea typeface="新細明體" pitchFamily="18" charset="-120"/>
              </a:endParaRPr>
            </a:p>
          </p:txBody>
        </p:sp>
        <p:sp>
          <p:nvSpPr>
            <p:cNvPr id="75" name="Rectangle 95"/>
            <p:cNvSpPr>
              <a:spLocks noChangeArrowheads="1"/>
            </p:cNvSpPr>
            <p:nvPr/>
          </p:nvSpPr>
          <p:spPr bwMode="auto">
            <a:xfrm>
              <a:off x="3251" y="3015"/>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t</a:t>
              </a:r>
              <a:endParaRPr lang="en-US" altLang="zh-TW">
                <a:ea typeface="新細明體" pitchFamily="18" charset="-120"/>
              </a:endParaRPr>
            </a:p>
          </p:txBody>
        </p:sp>
        <p:sp>
          <p:nvSpPr>
            <p:cNvPr id="76" name="Rectangle 96"/>
            <p:cNvSpPr>
              <a:spLocks noChangeArrowheads="1"/>
            </p:cNvSpPr>
            <p:nvPr/>
          </p:nvSpPr>
          <p:spPr bwMode="auto">
            <a:xfrm>
              <a:off x="2824" y="3015"/>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gs</a:t>
              </a:r>
              <a:endParaRPr lang="en-US" altLang="zh-TW">
                <a:ea typeface="新細明體" pitchFamily="18" charset="-120"/>
              </a:endParaRPr>
            </a:p>
          </p:txBody>
        </p:sp>
        <p:sp>
          <p:nvSpPr>
            <p:cNvPr id="77" name="Rectangle 97"/>
            <p:cNvSpPr>
              <a:spLocks noChangeArrowheads="1"/>
            </p:cNvSpPr>
            <p:nvPr/>
          </p:nvSpPr>
          <p:spPr bwMode="auto">
            <a:xfrm>
              <a:off x="2438" y="3015"/>
              <a:ext cx="11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dirty="0" smtClean="0">
                  <a:solidFill>
                    <a:srgbClr val="000000"/>
                  </a:solidFill>
                  <a:ea typeface="新細明體" pitchFamily="18" charset="-120"/>
                </a:rPr>
                <a:t>ox</a:t>
              </a:r>
              <a:endParaRPr lang="en-US" altLang="zh-TW" dirty="0">
                <a:ea typeface="新細明體" pitchFamily="18" charset="-120"/>
              </a:endParaRPr>
            </a:p>
          </p:txBody>
        </p:sp>
        <p:sp>
          <p:nvSpPr>
            <p:cNvPr id="78" name="Rectangle 98"/>
            <p:cNvSpPr>
              <a:spLocks noChangeArrowheads="1"/>
            </p:cNvSpPr>
            <p:nvPr/>
          </p:nvSpPr>
          <p:spPr bwMode="auto">
            <a:xfrm>
              <a:off x="2137" y="3015"/>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a:t>
              </a:r>
              <a:endParaRPr lang="en-US" altLang="zh-TW">
                <a:ea typeface="新細明體" pitchFamily="18" charset="-120"/>
              </a:endParaRPr>
            </a:p>
          </p:txBody>
        </p:sp>
        <p:sp>
          <p:nvSpPr>
            <p:cNvPr id="79" name="Rectangle 104"/>
            <p:cNvSpPr>
              <a:spLocks noChangeArrowheads="1"/>
            </p:cNvSpPr>
            <p:nvPr/>
          </p:nvSpPr>
          <p:spPr bwMode="auto">
            <a:xfrm>
              <a:off x="1431" y="2999"/>
              <a:ext cx="2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dsat</a:t>
              </a:r>
              <a:endParaRPr lang="en-US" altLang="zh-TW">
                <a:ea typeface="新細明體" pitchFamily="18" charset="-120"/>
              </a:endParaRPr>
            </a:p>
          </p:txBody>
        </p:sp>
        <p:sp>
          <p:nvSpPr>
            <p:cNvPr id="80" name="Rectangle 106"/>
            <p:cNvSpPr>
              <a:spLocks noChangeArrowheads="1"/>
            </p:cNvSpPr>
            <p:nvPr/>
          </p:nvSpPr>
          <p:spPr bwMode="auto">
            <a:xfrm>
              <a:off x="2996" y="2867"/>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81" name="Rectangle 107"/>
            <p:cNvSpPr>
              <a:spLocks noChangeArrowheads="1"/>
            </p:cNvSpPr>
            <p:nvPr/>
          </p:nvSpPr>
          <p:spPr bwMode="auto">
            <a:xfrm>
              <a:off x="1717" y="2867"/>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grpSp>
        <p:nvGrpSpPr>
          <p:cNvPr id="82" name="Group 91"/>
          <p:cNvGrpSpPr>
            <a:grpSpLocks/>
          </p:cNvGrpSpPr>
          <p:nvPr/>
        </p:nvGrpSpPr>
        <p:grpSpPr bwMode="auto">
          <a:xfrm>
            <a:off x="2120485" y="3773023"/>
            <a:ext cx="4429125" cy="465138"/>
            <a:chOff x="1364" y="2787"/>
            <a:chExt cx="2790" cy="293"/>
          </a:xfrm>
        </p:grpSpPr>
        <p:sp>
          <p:nvSpPr>
            <p:cNvPr id="83" name="Rectangle 77"/>
            <p:cNvSpPr>
              <a:spLocks noChangeArrowheads="1"/>
            </p:cNvSpPr>
            <p:nvPr/>
          </p:nvSpPr>
          <p:spPr bwMode="auto">
            <a:xfrm>
              <a:off x="4087" y="2810"/>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ea typeface="新細明體" pitchFamily="18" charset="-120"/>
                </a:rPr>
                <a:t>)</a:t>
              </a:r>
              <a:endParaRPr lang="en-US" altLang="zh-TW">
                <a:ea typeface="新細明體" pitchFamily="18" charset="-120"/>
              </a:endParaRPr>
            </a:p>
          </p:txBody>
        </p:sp>
        <p:sp>
          <p:nvSpPr>
            <p:cNvPr id="84" name="Rectangle 78"/>
            <p:cNvSpPr>
              <a:spLocks noChangeArrowheads="1"/>
            </p:cNvSpPr>
            <p:nvPr/>
          </p:nvSpPr>
          <p:spPr bwMode="auto">
            <a:xfrm>
              <a:off x="2654" y="2810"/>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ea typeface="新細明體" pitchFamily="18" charset="-120"/>
                </a:rPr>
                <a:t>(</a:t>
              </a:r>
              <a:endParaRPr lang="en-US" altLang="zh-TW">
                <a:ea typeface="新細明體" pitchFamily="18" charset="-120"/>
              </a:endParaRPr>
            </a:p>
          </p:txBody>
        </p:sp>
        <p:sp>
          <p:nvSpPr>
            <p:cNvPr id="85" name="Rectangle 82"/>
            <p:cNvSpPr>
              <a:spLocks noChangeArrowheads="1"/>
            </p:cNvSpPr>
            <p:nvPr/>
          </p:nvSpPr>
          <p:spPr bwMode="auto">
            <a:xfrm>
              <a:off x="3964" y="2810"/>
              <a:ext cx="11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L</a:t>
              </a:r>
              <a:endParaRPr lang="en-US" altLang="zh-TW">
                <a:ea typeface="新細明體" pitchFamily="18" charset="-120"/>
              </a:endParaRPr>
            </a:p>
          </p:txBody>
        </p:sp>
        <p:sp>
          <p:nvSpPr>
            <p:cNvPr id="86" name="Rectangle 83"/>
            <p:cNvSpPr>
              <a:spLocks noChangeArrowheads="1"/>
            </p:cNvSpPr>
            <p:nvPr/>
          </p:nvSpPr>
          <p:spPr bwMode="auto">
            <a:xfrm>
              <a:off x="3499" y="2825"/>
              <a:ext cx="22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m</a:t>
              </a:r>
              <a:r>
                <a:rPr lang="en-US" altLang="zh-TW" sz="2500" i="0">
                  <a:solidFill>
                    <a:srgbClr val="000000"/>
                  </a:solidFill>
                  <a:latin typeface="Script" pitchFamily="66"/>
                  <a:ea typeface="新細明體" pitchFamily="18" charset="-120"/>
                </a:rPr>
                <a:t>E</a:t>
              </a:r>
              <a:endParaRPr lang="en-US" altLang="zh-TW">
                <a:ea typeface="新細明體" pitchFamily="18" charset="-120"/>
              </a:endParaRPr>
            </a:p>
          </p:txBody>
        </p:sp>
        <p:sp>
          <p:nvSpPr>
            <p:cNvPr id="87" name="Rectangle 84"/>
            <p:cNvSpPr>
              <a:spLocks noChangeArrowheads="1"/>
            </p:cNvSpPr>
            <p:nvPr/>
          </p:nvSpPr>
          <p:spPr bwMode="auto">
            <a:xfrm>
              <a:off x="3148" y="2810"/>
              <a:ext cx="12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V</a:t>
              </a:r>
              <a:endParaRPr lang="en-US" altLang="zh-TW">
                <a:ea typeface="新細明體" pitchFamily="18" charset="-120"/>
              </a:endParaRPr>
            </a:p>
          </p:txBody>
        </p:sp>
        <p:sp>
          <p:nvSpPr>
            <p:cNvPr id="88" name="Rectangle 85"/>
            <p:cNvSpPr>
              <a:spLocks noChangeArrowheads="1"/>
            </p:cNvSpPr>
            <p:nvPr/>
          </p:nvSpPr>
          <p:spPr bwMode="auto">
            <a:xfrm>
              <a:off x="2711" y="2810"/>
              <a:ext cx="12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V</a:t>
              </a:r>
              <a:endParaRPr lang="en-US" altLang="zh-TW">
                <a:ea typeface="新細明體" pitchFamily="18" charset="-120"/>
              </a:endParaRPr>
            </a:p>
          </p:txBody>
        </p:sp>
        <p:sp>
          <p:nvSpPr>
            <p:cNvPr id="89" name="Rectangle 86"/>
            <p:cNvSpPr>
              <a:spLocks noChangeArrowheads="1"/>
            </p:cNvSpPr>
            <p:nvPr/>
          </p:nvSpPr>
          <p:spPr bwMode="auto">
            <a:xfrm>
              <a:off x="2313" y="2810"/>
              <a:ext cx="13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C</a:t>
              </a:r>
              <a:endParaRPr lang="en-US" altLang="zh-TW">
                <a:ea typeface="新細明體" pitchFamily="18" charset="-120"/>
              </a:endParaRPr>
            </a:p>
          </p:txBody>
        </p:sp>
        <p:sp>
          <p:nvSpPr>
            <p:cNvPr id="90" name="Rectangle 87"/>
            <p:cNvSpPr>
              <a:spLocks noChangeArrowheads="1"/>
            </p:cNvSpPr>
            <p:nvPr/>
          </p:nvSpPr>
          <p:spPr bwMode="auto">
            <a:xfrm>
              <a:off x="1882" y="2810"/>
              <a:ext cx="25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Wv</a:t>
              </a:r>
              <a:endParaRPr lang="en-US" altLang="zh-TW">
                <a:ea typeface="新細明體" pitchFamily="18" charset="-120"/>
              </a:endParaRPr>
            </a:p>
          </p:txBody>
        </p:sp>
        <p:sp>
          <p:nvSpPr>
            <p:cNvPr id="91" name="Rectangle 93"/>
            <p:cNvSpPr>
              <a:spLocks noChangeArrowheads="1"/>
            </p:cNvSpPr>
            <p:nvPr/>
          </p:nvSpPr>
          <p:spPr bwMode="auto">
            <a:xfrm>
              <a:off x="1364" y="2795"/>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a:solidFill>
                    <a:srgbClr val="000000"/>
                  </a:solidFill>
                  <a:ea typeface="新細明體" pitchFamily="18" charset="-120"/>
                </a:rPr>
                <a:t>I</a:t>
              </a:r>
              <a:endParaRPr lang="en-US" altLang="zh-TW">
                <a:ea typeface="新細明體" pitchFamily="18" charset="-120"/>
              </a:endParaRPr>
            </a:p>
          </p:txBody>
        </p:sp>
        <p:sp>
          <p:nvSpPr>
            <p:cNvPr id="92" name="Rectangle 94"/>
            <p:cNvSpPr>
              <a:spLocks noChangeArrowheads="1"/>
            </p:cNvSpPr>
            <p:nvPr/>
          </p:nvSpPr>
          <p:spPr bwMode="auto">
            <a:xfrm>
              <a:off x="3782" y="2923"/>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a:t>
              </a:r>
              <a:endParaRPr lang="en-US" altLang="zh-TW">
                <a:ea typeface="新細明體" pitchFamily="18" charset="-120"/>
              </a:endParaRPr>
            </a:p>
          </p:txBody>
        </p:sp>
        <p:sp>
          <p:nvSpPr>
            <p:cNvPr id="93" name="Rectangle 95"/>
            <p:cNvSpPr>
              <a:spLocks noChangeArrowheads="1"/>
            </p:cNvSpPr>
            <p:nvPr/>
          </p:nvSpPr>
          <p:spPr bwMode="auto">
            <a:xfrm>
              <a:off x="3270" y="2935"/>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t</a:t>
              </a:r>
              <a:endParaRPr lang="en-US" altLang="zh-TW">
                <a:ea typeface="新細明體" pitchFamily="18" charset="-120"/>
              </a:endParaRPr>
            </a:p>
          </p:txBody>
        </p:sp>
        <p:sp>
          <p:nvSpPr>
            <p:cNvPr id="94" name="Rectangle 96"/>
            <p:cNvSpPr>
              <a:spLocks noChangeArrowheads="1"/>
            </p:cNvSpPr>
            <p:nvPr/>
          </p:nvSpPr>
          <p:spPr bwMode="auto">
            <a:xfrm>
              <a:off x="2843" y="2935"/>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gs</a:t>
              </a:r>
              <a:endParaRPr lang="en-US" altLang="zh-TW">
                <a:ea typeface="新細明體" pitchFamily="18" charset="-120"/>
              </a:endParaRPr>
            </a:p>
          </p:txBody>
        </p:sp>
        <p:sp>
          <p:nvSpPr>
            <p:cNvPr id="95" name="Rectangle 97"/>
            <p:cNvSpPr>
              <a:spLocks noChangeArrowheads="1"/>
            </p:cNvSpPr>
            <p:nvPr/>
          </p:nvSpPr>
          <p:spPr bwMode="auto">
            <a:xfrm>
              <a:off x="2457" y="2935"/>
              <a:ext cx="11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dirty="0" smtClean="0">
                  <a:solidFill>
                    <a:srgbClr val="000000"/>
                  </a:solidFill>
                  <a:ea typeface="新細明體" pitchFamily="18" charset="-120"/>
                </a:rPr>
                <a:t>ox</a:t>
              </a:r>
              <a:endParaRPr lang="en-US" altLang="zh-TW" dirty="0">
                <a:ea typeface="新細明體" pitchFamily="18" charset="-120"/>
              </a:endParaRPr>
            </a:p>
          </p:txBody>
        </p:sp>
        <p:sp>
          <p:nvSpPr>
            <p:cNvPr id="96" name="Rectangle 98"/>
            <p:cNvSpPr>
              <a:spLocks noChangeArrowheads="1"/>
            </p:cNvSpPr>
            <p:nvPr/>
          </p:nvSpPr>
          <p:spPr bwMode="auto">
            <a:xfrm>
              <a:off x="2156" y="2935"/>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sat</a:t>
              </a:r>
              <a:endParaRPr lang="en-US" altLang="zh-TW">
                <a:ea typeface="新細明體" pitchFamily="18" charset="-120"/>
              </a:endParaRPr>
            </a:p>
          </p:txBody>
        </p:sp>
        <p:sp>
          <p:nvSpPr>
            <p:cNvPr id="97" name="Rectangle 104"/>
            <p:cNvSpPr>
              <a:spLocks noChangeArrowheads="1"/>
            </p:cNvSpPr>
            <p:nvPr/>
          </p:nvSpPr>
          <p:spPr bwMode="auto">
            <a:xfrm>
              <a:off x="1450" y="2919"/>
              <a:ext cx="2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a:solidFill>
                    <a:srgbClr val="000000"/>
                  </a:solidFill>
                  <a:ea typeface="新細明體" pitchFamily="18" charset="-120"/>
                </a:rPr>
                <a:t>dsat</a:t>
              </a:r>
              <a:endParaRPr lang="en-US" altLang="zh-TW">
                <a:ea typeface="新細明體" pitchFamily="18" charset="-120"/>
              </a:endParaRPr>
            </a:p>
          </p:txBody>
        </p:sp>
        <p:sp>
          <p:nvSpPr>
            <p:cNvPr id="98" name="Rectangle 105"/>
            <p:cNvSpPr>
              <a:spLocks noChangeArrowheads="1"/>
            </p:cNvSpPr>
            <p:nvPr/>
          </p:nvSpPr>
          <p:spPr bwMode="auto">
            <a:xfrm>
              <a:off x="3370" y="2787"/>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dirty="0">
                  <a:solidFill>
                    <a:srgbClr val="000000"/>
                  </a:solidFill>
                  <a:latin typeface="Symbol" panose="05050102010706020507" pitchFamily="18" charset="2"/>
                  <a:ea typeface="新細明體" pitchFamily="18" charset="-120"/>
                </a:rPr>
                <a:t>-</a:t>
              </a:r>
              <a:endParaRPr lang="en-US" altLang="zh-TW" dirty="0">
                <a:ea typeface="新細明體" pitchFamily="18" charset="-120"/>
              </a:endParaRPr>
            </a:p>
          </p:txBody>
        </p:sp>
        <p:sp>
          <p:nvSpPr>
            <p:cNvPr id="99" name="Rectangle 106"/>
            <p:cNvSpPr>
              <a:spLocks noChangeArrowheads="1"/>
            </p:cNvSpPr>
            <p:nvPr/>
          </p:nvSpPr>
          <p:spPr bwMode="auto">
            <a:xfrm>
              <a:off x="3015" y="2787"/>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sp>
          <p:nvSpPr>
            <p:cNvPr id="100" name="Rectangle 107"/>
            <p:cNvSpPr>
              <a:spLocks noChangeArrowheads="1"/>
            </p:cNvSpPr>
            <p:nvPr/>
          </p:nvSpPr>
          <p:spPr bwMode="auto">
            <a:xfrm>
              <a:off x="1736" y="2787"/>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2500" b="0" i="0">
                  <a:solidFill>
                    <a:srgbClr val="000000"/>
                  </a:solidFill>
                  <a:latin typeface="Symbol" panose="05050102010706020507" pitchFamily="18" charset="2"/>
                  <a:ea typeface="新細明體" pitchFamily="18" charset="-120"/>
                </a:rPr>
                <a:t>=</a:t>
              </a:r>
              <a:endParaRPr lang="en-US" altLang="zh-TW">
                <a:ea typeface="新細明體" pitchFamily="18" charset="-120"/>
              </a:endParaRPr>
            </a:p>
          </p:txBody>
        </p:sp>
      </p:grpSp>
      <p:sp>
        <p:nvSpPr>
          <p:cNvPr id="101" name="Text Box 135"/>
          <p:cNvSpPr txBox="1">
            <a:spLocks noChangeArrowheads="1"/>
          </p:cNvSpPr>
          <p:nvPr/>
        </p:nvSpPr>
        <p:spPr bwMode="auto">
          <a:xfrm>
            <a:off x="558123" y="5120812"/>
            <a:ext cx="820241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smtClean="0">
                <a:solidFill>
                  <a:srgbClr val="000000"/>
                </a:solidFill>
                <a:ea typeface="楷体_GB2312" pitchFamily="49" charset="-122"/>
              </a:rPr>
              <a:t>此时</a:t>
            </a:r>
            <a:r>
              <a:rPr lang="en-US" altLang="zh-CN" dirty="0" smtClean="0">
                <a:solidFill>
                  <a:srgbClr val="000000"/>
                </a:solidFill>
                <a:ea typeface="楷体_GB2312" pitchFamily="49" charset="-122"/>
              </a:rPr>
              <a:t>I</a:t>
            </a:r>
            <a:r>
              <a:rPr lang="en-US" altLang="zh-CN" baseline="-25000" dirty="0" smtClean="0">
                <a:solidFill>
                  <a:srgbClr val="000000"/>
                </a:solidFill>
                <a:ea typeface="楷体_GB2312" pitchFamily="49" charset="-122"/>
              </a:rPr>
              <a:t>ds</a:t>
            </a:r>
            <a:r>
              <a:rPr lang="zh-CN" altLang="en-US" i="0" dirty="0" smtClean="0">
                <a:solidFill>
                  <a:srgbClr val="000000"/>
                </a:solidFill>
                <a:ea typeface="楷体_GB2312" pitchFamily="49" charset="-122"/>
              </a:rPr>
              <a:t>正比于</a:t>
            </a:r>
            <a:r>
              <a:rPr lang="en-US" altLang="zh-CN" i="0" dirty="0" smtClean="0">
                <a:solidFill>
                  <a:srgbClr val="000000"/>
                </a:solidFill>
                <a:ea typeface="楷体_GB2312" pitchFamily="49" charset="-122"/>
              </a:rPr>
              <a:t>(</a:t>
            </a:r>
            <a:r>
              <a:rPr lang="en-US" altLang="zh-CN" dirty="0" smtClean="0">
                <a:solidFill>
                  <a:srgbClr val="000000"/>
                </a:solidFill>
                <a:ea typeface="楷体_GB2312" pitchFamily="49" charset="-122"/>
              </a:rPr>
              <a:t>V</a:t>
            </a:r>
            <a:r>
              <a:rPr lang="en-US" altLang="zh-CN" baseline="-25000" dirty="0" smtClean="0">
                <a:solidFill>
                  <a:srgbClr val="000000"/>
                </a:solidFill>
                <a:ea typeface="楷体_GB2312" pitchFamily="49" charset="-122"/>
              </a:rPr>
              <a:t>g</a:t>
            </a:r>
            <a:r>
              <a:rPr lang="en-US" altLang="zh-CN" i="0" dirty="0" smtClean="0">
                <a:solidFill>
                  <a:srgbClr val="000000"/>
                </a:solidFill>
                <a:ea typeface="楷体_GB2312" pitchFamily="49" charset="-122"/>
              </a:rPr>
              <a:t>-</a:t>
            </a:r>
            <a:r>
              <a:rPr lang="en-US" altLang="zh-CN" dirty="0" err="1" smtClean="0">
                <a:solidFill>
                  <a:srgbClr val="000000"/>
                </a:solidFill>
                <a:ea typeface="楷体_GB2312" pitchFamily="49" charset="-122"/>
              </a:rPr>
              <a:t>V</a:t>
            </a:r>
            <a:r>
              <a:rPr lang="en-US" altLang="zh-CN" baseline="-25000" dirty="0" err="1" smtClean="0">
                <a:solidFill>
                  <a:srgbClr val="000000"/>
                </a:solidFill>
                <a:ea typeface="楷体_GB2312" pitchFamily="49" charset="-122"/>
              </a:rPr>
              <a:t>t</a:t>
            </a:r>
            <a:r>
              <a:rPr lang="en-US" altLang="zh-CN" i="0" dirty="0" smtClean="0">
                <a:solidFill>
                  <a:srgbClr val="000000"/>
                </a:solidFill>
                <a:ea typeface="楷体_GB2312" pitchFamily="49" charset="-122"/>
              </a:rPr>
              <a:t>)</a:t>
            </a:r>
            <a:r>
              <a:rPr lang="zh-CN" altLang="en-US" i="0" dirty="0" smtClean="0">
                <a:solidFill>
                  <a:srgbClr val="000000"/>
                </a:solidFill>
                <a:ea typeface="楷体_GB2312" pitchFamily="49" charset="-122"/>
              </a:rPr>
              <a:t>，而不再是</a:t>
            </a:r>
            <a:r>
              <a:rPr lang="en-US" altLang="zh-CN" i="0" dirty="0">
                <a:solidFill>
                  <a:srgbClr val="000000"/>
                </a:solidFill>
                <a:ea typeface="楷体_GB2312" pitchFamily="49" charset="-122"/>
              </a:rPr>
              <a:t>(</a:t>
            </a:r>
            <a:r>
              <a:rPr lang="en-US" altLang="zh-CN" dirty="0" smtClean="0">
                <a:solidFill>
                  <a:srgbClr val="000000"/>
                </a:solidFill>
                <a:ea typeface="楷体_GB2312" pitchFamily="49" charset="-122"/>
              </a:rPr>
              <a:t>V</a:t>
            </a:r>
            <a:r>
              <a:rPr lang="en-US" altLang="zh-CN" baseline="-25000" dirty="0" smtClean="0">
                <a:solidFill>
                  <a:srgbClr val="000000"/>
                </a:solidFill>
                <a:ea typeface="楷体_GB2312" pitchFamily="49" charset="-122"/>
              </a:rPr>
              <a:t>g</a:t>
            </a:r>
            <a:r>
              <a:rPr lang="en-US" altLang="zh-CN" i="0" dirty="0" smtClean="0">
                <a:solidFill>
                  <a:srgbClr val="000000"/>
                </a:solidFill>
                <a:ea typeface="楷体_GB2312" pitchFamily="49" charset="-122"/>
              </a:rPr>
              <a:t>-</a:t>
            </a:r>
            <a:r>
              <a:rPr lang="en-US" altLang="zh-CN" dirty="0" err="1" smtClean="0">
                <a:solidFill>
                  <a:srgbClr val="000000"/>
                </a:solidFill>
                <a:ea typeface="楷体_GB2312" pitchFamily="49" charset="-122"/>
              </a:rPr>
              <a:t>V</a:t>
            </a:r>
            <a:r>
              <a:rPr lang="en-US" altLang="zh-CN" baseline="-25000" dirty="0" err="1" smtClean="0">
                <a:solidFill>
                  <a:srgbClr val="000000"/>
                </a:solidFill>
                <a:ea typeface="楷体_GB2312" pitchFamily="49" charset="-122"/>
              </a:rPr>
              <a:t>t</a:t>
            </a:r>
            <a:r>
              <a:rPr lang="en-US" altLang="zh-CN" i="0" dirty="0" smtClean="0">
                <a:solidFill>
                  <a:srgbClr val="000000"/>
                </a:solidFill>
                <a:ea typeface="楷体_GB2312" pitchFamily="49" charset="-122"/>
              </a:rPr>
              <a:t>)</a:t>
            </a:r>
            <a:r>
              <a:rPr lang="en-US" altLang="zh-CN" i="0" baseline="30000" dirty="0" smtClean="0">
                <a:solidFill>
                  <a:srgbClr val="000000"/>
                </a:solidFill>
                <a:ea typeface="楷体_GB2312" pitchFamily="49" charset="-122"/>
              </a:rPr>
              <a:t>2</a:t>
            </a:r>
            <a:r>
              <a:rPr lang="zh-CN" altLang="en-US" i="0" dirty="0" smtClean="0">
                <a:solidFill>
                  <a:srgbClr val="000000"/>
                </a:solidFill>
                <a:ea typeface="楷体_GB2312" pitchFamily="49" charset="-122"/>
              </a:rPr>
              <a:t>。同时</a:t>
            </a:r>
            <a:r>
              <a:rPr lang="en-US" altLang="zh-CN" dirty="0" smtClean="0">
                <a:solidFill>
                  <a:srgbClr val="000000"/>
                </a:solidFill>
                <a:ea typeface="楷体_GB2312" pitchFamily="49" charset="-122"/>
              </a:rPr>
              <a:t>I</a:t>
            </a:r>
            <a:r>
              <a:rPr lang="en-US" altLang="zh-CN" baseline="-25000" dirty="0" smtClean="0">
                <a:solidFill>
                  <a:srgbClr val="000000"/>
                </a:solidFill>
                <a:ea typeface="楷体_GB2312" pitchFamily="49" charset="-122"/>
              </a:rPr>
              <a:t>ds</a:t>
            </a:r>
            <a:r>
              <a:rPr lang="zh-CN" altLang="en-US" i="0" dirty="0" smtClean="0">
                <a:solidFill>
                  <a:srgbClr val="000000"/>
                </a:solidFill>
                <a:ea typeface="楷体_GB2312" pitchFamily="49" charset="-122"/>
              </a:rPr>
              <a:t>与沟长</a:t>
            </a:r>
            <a:r>
              <a:rPr lang="en-US" altLang="zh-CN" dirty="0" smtClean="0">
                <a:solidFill>
                  <a:srgbClr val="000000"/>
                </a:solidFill>
                <a:ea typeface="楷体_GB2312" pitchFamily="49" charset="-122"/>
              </a:rPr>
              <a:t>L</a:t>
            </a:r>
            <a:r>
              <a:rPr lang="zh-CN" altLang="en-US" i="0" dirty="0" smtClean="0">
                <a:solidFill>
                  <a:srgbClr val="000000"/>
                </a:solidFill>
                <a:ea typeface="楷体_GB2312" pitchFamily="49" charset="-122"/>
              </a:rPr>
              <a:t>不再相关。</a:t>
            </a:r>
            <a:endParaRPr lang="en-US" altLang="zh-CN" i="0" dirty="0" smtClean="0">
              <a:solidFill>
                <a:srgbClr val="000000"/>
              </a:solidFill>
              <a:ea typeface="楷体_GB2312" pitchFamily="49" charset="-122"/>
            </a:endParaRPr>
          </a:p>
          <a:p>
            <a:r>
              <a:rPr lang="zh-CN" altLang="en-US" i="0" dirty="0">
                <a:solidFill>
                  <a:srgbClr val="000000"/>
                </a:solidFill>
                <a:ea typeface="楷体_GB2312" pitchFamily="49" charset="-122"/>
              </a:rPr>
              <a:t>短</a:t>
            </a:r>
            <a:r>
              <a:rPr lang="zh-CN" altLang="en-US" i="0" dirty="0" smtClean="0">
                <a:solidFill>
                  <a:srgbClr val="000000"/>
                </a:solidFill>
                <a:ea typeface="楷体_GB2312" pitchFamily="49" charset="-122"/>
              </a:rPr>
              <a:t>沟时漏端的速度饱和区将取代夹断区。</a:t>
            </a:r>
            <a:endParaRPr lang="en-US" altLang="zh-TW" i="0" dirty="0">
              <a:solidFill>
                <a:srgbClr val="000000"/>
              </a:solidFill>
              <a:ea typeface="楷体_GB2312" pitchFamily="49" charset="-122"/>
            </a:endParaRPr>
          </a:p>
        </p:txBody>
      </p:sp>
    </p:spTree>
    <p:extLst>
      <p:ext uri="{BB962C8B-B14F-4D97-AF65-F5344CB8AC3E}">
        <p14:creationId xmlns:p14="http://schemas.microsoft.com/office/powerpoint/2010/main" val="24124376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90</a:t>
            </a:fld>
            <a:endParaRPr lang="zh-CN" altLang="en-US"/>
          </a:p>
        </p:txBody>
      </p:sp>
      <p:pic>
        <p:nvPicPr>
          <p:cNvPr id="3" name="Picture 20"/>
          <p:cNvPicPr>
            <a:picLocks noChangeAspect="1" noChangeArrowheads="1"/>
          </p:cNvPicPr>
          <p:nvPr/>
        </p:nvPicPr>
        <p:blipFill>
          <a:blip r:embed="rId3">
            <a:extLst>
              <a:ext uri="{28A0092B-C50C-407E-A947-70E740481C1C}">
                <a14:useLocalDpi xmlns:a14="http://schemas.microsoft.com/office/drawing/2010/main" val="0"/>
              </a:ext>
            </a:extLst>
          </a:blip>
          <a:srcRect l="56996" b="52052"/>
          <a:stretch>
            <a:fillRect/>
          </a:stretch>
        </p:blipFill>
        <p:spPr bwMode="auto">
          <a:xfrm>
            <a:off x="276329" y="942511"/>
            <a:ext cx="4463188"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1"/>
          <p:cNvPicPr>
            <a:picLocks noChangeAspect="1" noChangeArrowheads="1"/>
          </p:cNvPicPr>
          <p:nvPr/>
        </p:nvPicPr>
        <p:blipFill>
          <a:blip r:embed="rId4">
            <a:extLst>
              <a:ext uri="{28A0092B-C50C-407E-A947-70E740481C1C}">
                <a14:useLocalDpi xmlns:a14="http://schemas.microsoft.com/office/drawing/2010/main" val="0"/>
              </a:ext>
            </a:extLst>
          </a:blip>
          <a:srcRect l="54185" t="47128" r="2002"/>
          <a:stretch>
            <a:fillRect/>
          </a:stretch>
        </p:blipFill>
        <p:spPr bwMode="auto">
          <a:xfrm>
            <a:off x="4658955" y="863187"/>
            <a:ext cx="4124325"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35"/>
          <p:cNvSpPr txBox="1">
            <a:spLocks noChangeArrowheads="1"/>
          </p:cNvSpPr>
          <p:nvPr/>
        </p:nvSpPr>
        <p:spPr bwMode="auto">
          <a:xfrm>
            <a:off x="435471" y="254923"/>
            <a:ext cx="57454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smtClean="0">
                <a:solidFill>
                  <a:srgbClr val="000000"/>
                </a:solidFill>
                <a:ea typeface="楷体_GB2312" pitchFamily="49" charset="-122"/>
              </a:rPr>
              <a:t>长沟和短沟</a:t>
            </a:r>
            <a:r>
              <a:rPr lang="en-US" altLang="zh-CN" i="0" dirty="0" smtClean="0">
                <a:solidFill>
                  <a:srgbClr val="000000"/>
                </a:solidFill>
                <a:ea typeface="楷体_GB2312" pitchFamily="49" charset="-122"/>
              </a:rPr>
              <a:t>MOSFET</a:t>
            </a:r>
            <a:r>
              <a:rPr lang="zh-CN" altLang="en-US" i="0" dirty="0" smtClean="0">
                <a:solidFill>
                  <a:srgbClr val="000000"/>
                </a:solidFill>
                <a:ea typeface="楷体_GB2312" pitchFamily="49" charset="-122"/>
              </a:rPr>
              <a:t>输出特性对比</a:t>
            </a:r>
            <a:endParaRPr lang="en-US" altLang="zh-TW" i="0" dirty="0">
              <a:solidFill>
                <a:srgbClr val="000000"/>
              </a:solidFill>
              <a:ea typeface="楷体_GB2312" pitchFamily="49" charset="-122"/>
            </a:endParaRPr>
          </a:p>
        </p:txBody>
      </p:sp>
      <p:sp>
        <p:nvSpPr>
          <p:cNvPr id="6" name="Text Box 135"/>
          <p:cNvSpPr txBox="1">
            <a:spLocks noChangeArrowheads="1"/>
          </p:cNvSpPr>
          <p:nvPr/>
        </p:nvSpPr>
        <p:spPr bwMode="auto">
          <a:xfrm>
            <a:off x="435471" y="4735394"/>
            <a:ext cx="82024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i="0" dirty="0" smtClean="0">
                <a:solidFill>
                  <a:srgbClr val="000000"/>
                </a:solidFill>
                <a:ea typeface="楷体_GB2312" pitchFamily="49" charset="-122"/>
              </a:rPr>
              <a:t>由于短沟</a:t>
            </a:r>
            <a:r>
              <a:rPr lang="en-US" altLang="zh-CN" dirty="0" err="1" smtClean="0">
                <a:solidFill>
                  <a:srgbClr val="000000"/>
                </a:solidFill>
                <a:ea typeface="楷体_GB2312" pitchFamily="49" charset="-122"/>
              </a:rPr>
              <a:t>I</a:t>
            </a:r>
            <a:r>
              <a:rPr lang="en-US" altLang="zh-CN" baseline="-25000" dirty="0" err="1" smtClean="0">
                <a:solidFill>
                  <a:srgbClr val="000000"/>
                </a:solidFill>
                <a:ea typeface="楷体_GB2312" pitchFamily="49" charset="-122"/>
              </a:rPr>
              <a:t>dsat</a:t>
            </a:r>
            <a:r>
              <a:rPr lang="zh-CN" altLang="en-US" i="0" dirty="0" smtClean="0">
                <a:solidFill>
                  <a:srgbClr val="000000"/>
                </a:solidFill>
                <a:ea typeface="楷体_GB2312" pitchFamily="49" charset="-122"/>
              </a:rPr>
              <a:t>不饱和，定义饱和区的输出电导</a:t>
            </a:r>
            <a:endParaRPr lang="en-US" altLang="zh-TW" i="0" dirty="0">
              <a:solidFill>
                <a:srgbClr val="000000"/>
              </a:solidFill>
              <a:ea typeface="楷体_GB2312" pitchFamily="49" charset="-122"/>
            </a:endParaRPr>
          </a:p>
        </p:txBody>
      </p:sp>
      <p:graphicFrame>
        <p:nvGraphicFramePr>
          <p:cNvPr id="10" name="Object 8"/>
          <p:cNvGraphicFramePr>
            <a:graphicFrameLocks noChangeAspect="1"/>
          </p:cNvGraphicFramePr>
          <p:nvPr>
            <p:extLst>
              <p:ext uri="{D42A27DB-BD31-4B8C-83A1-F6EECF244321}">
                <p14:modId xmlns:p14="http://schemas.microsoft.com/office/powerpoint/2010/main" val="3842451148"/>
              </p:ext>
            </p:extLst>
          </p:nvPr>
        </p:nvGraphicFramePr>
        <p:xfrm>
          <a:off x="3880286" y="5488868"/>
          <a:ext cx="1557338" cy="882650"/>
        </p:xfrm>
        <a:graphic>
          <a:graphicData uri="http://schemas.openxmlformats.org/presentationml/2006/ole">
            <mc:AlternateContent xmlns:mc="http://schemas.openxmlformats.org/markup-compatibility/2006">
              <mc:Choice xmlns:v="urn:schemas-microsoft-com:vml" Requires="v">
                <p:oleObj spid="_x0000_s238629" name="Equation" r:id="rId5" imgW="761760" imgH="431640" progId="Equation.3">
                  <p:embed/>
                </p:oleObj>
              </mc:Choice>
              <mc:Fallback>
                <p:oleObj name="Equation" r:id="rId5" imgW="761760" imgH="431640" progId="Equation.3">
                  <p:embed/>
                  <p:pic>
                    <p:nvPicPr>
                      <p:cNvPr id="24578"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0286" y="5488868"/>
                        <a:ext cx="1557338" cy="882650"/>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952909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91</a:t>
            </a:fld>
            <a:endParaRPr lang="zh-CN" altLang="en-US"/>
          </a:p>
        </p:txBody>
      </p:sp>
      <p:sp>
        <p:nvSpPr>
          <p:cNvPr id="3" name="Rectangle 2"/>
          <p:cNvSpPr txBox="1">
            <a:spLocks noChangeArrowheads="1"/>
          </p:cNvSpPr>
          <p:nvPr/>
        </p:nvSpPr>
        <p:spPr bwMode="auto">
          <a:xfrm>
            <a:off x="250825" y="260350"/>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tx2"/>
                </a:solidFill>
                <a:latin typeface="+mj-lt"/>
                <a:ea typeface="+mj-ea"/>
                <a:cs typeface="+mj-cs"/>
              </a:defRPr>
            </a:lvl1pPr>
            <a:lvl2pPr algn="l" rtl="0" fontAlgn="base">
              <a:spcBef>
                <a:spcPct val="0"/>
              </a:spcBef>
              <a:spcAft>
                <a:spcPct val="0"/>
              </a:spcAft>
              <a:defRPr sz="2800" b="1">
                <a:solidFill>
                  <a:schemeClr val="tx2"/>
                </a:solidFill>
                <a:latin typeface="Times New Roman" pitchFamily="18" charset="0"/>
                <a:ea typeface="楷体_GB2312" pitchFamily="49" charset="-122"/>
              </a:defRPr>
            </a:lvl2pPr>
            <a:lvl3pPr algn="l" rtl="0" fontAlgn="base">
              <a:spcBef>
                <a:spcPct val="0"/>
              </a:spcBef>
              <a:spcAft>
                <a:spcPct val="0"/>
              </a:spcAft>
              <a:defRPr sz="2800" b="1">
                <a:solidFill>
                  <a:schemeClr val="tx2"/>
                </a:solidFill>
                <a:latin typeface="Times New Roman" pitchFamily="18" charset="0"/>
                <a:ea typeface="楷体_GB2312" pitchFamily="49" charset="-122"/>
              </a:defRPr>
            </a:lvl3pPr>
            <a:lvl4pPr algn="l" rtl="0" fontAlgn="base">
              <a:spcBef>
                <a:spcPct val="0"/>
              </a:spcBef>
              <a:spcAft>
                <a:spcPct val="0"/>
              </a:spcAft>
              <a:defRPr sz="2800" b="1">
                <a:solidFill>
                  <a:schemeClr val="tx2"/>
                </a:solidFill>
                <a:latin typeface="Times New Roman" pitchFamily="18" charset="0"/>
                <a:ea typeface="楷体_GB2312" pitchFamily="49" charset="-122"/>
              </a:defRPr>
            </a:lvl4pPr>
            <a:lvl5pPr algn="l" rtl="0" fontAlgn="base">
              <a:spcBef>
                <a:spcPct val="0"/>
              </a:spcBef>
              <a:spcAft>
                <a:spcPct val="0"/>
              </a:spcAft>
              <a:defRPr sz="2800" b="1">
                <a:solidFill>
                  <a:schemeClr val="tx2"/>
                </a:solidFill>
                <a:latin typeface="Times New Roman" pitchFamily="18" charset="0"/>
                <a:ea typeface="楷体_GB2312" pitchFamily="49" charset="-122"/>
              </a:defRPr>
            </a:lvl5pPr>
            <a:lvl6pPr marL="457200" algn="l" rtl="0" fontAlgn="base">
              <a:spcBef>
                <a:spcPct val="0"/>
              </a:spcBef>
              <a:spcAft>
                <a:spcPct val="0"/>
              </a:spcAft>
              <a:defRPr sz="2800" b="1">
                <a:solidFill>
                  <a:schemeClr val="tx2"/>
                </a:solidFill>
                <a:latin typeface="Times New Roman" pitchFamily="18" charset="0"/>
                <a:ea typeface="楷体_GB2312" pitchFamily="49" charset="-122"/>
              </a:defRPr>
            </a:lvl6pPr>
            <a:lvl7pPr marL="914400" algn="l" rtl="0" fontAlgn="base">
              <a:spcBef>
                <a:spcPct val="0"/>
              </a:spcBef>
              <a:spcAft>
                <a:spcPct val="0"/>
              </a:spcAft>
              <a:defRPr sz="2800" b="1">
                <a:solidFill>
                  <a:schemeClr val="tx2"/>
                </a:solidFill>
                <a:latin typeface="Times New Roman" pitchFamily="18" charset="0"/>
                <a:ea typeface="楷体_GB2312" pitchFamily="49" charset="-122"/>
              </a:defRPr>
            </a:lvl7pPr>
            <a:lvl8pPr marL="1371600" algn="l" rtl="0" fontAlgn="base">
              <a:spcBef>
                <a:spcPct val="0"/>
              </a:spcBef>
              <a:spcAft>
                <a:spcPct val="0"/>
              </a:spcAft>
              <a:defRPr sz="2800" b="1">
                <a:solidFill>
                  <a:schemeClr val="tx2"/>
                </a:solidFill>
                <a:latin typeface="Times New Roman" pitchFamily="18" charset="0"/>
                <a:ea typeface="楷体_GB2312" pitchFamily="49" charset="-122"/>
              </a:defRPr>
            </a:lvl8pPr>
            <a:lvl9pPr marL="1828800" algn="l" rtl="0" fontAlgn="base">
              <a:spcBef>
                <a:spcPct val="0"/>
              </a:spcBef>
              <a:spcAft>
                <a:spcPct val="0"/>
              </a:spcAft>
              <a:defRPr sz="2800" b="1">
                <a:solidFill>
                  <a:schemeClr val="tx2"/>
                </a:solidFill>
                <a:latin typeface="Times New Roman"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kern="0" dirty="0" smtClean="0">
                <a:solidFill>
                  <a:srgbClr val="FF3300"/>
                </a:solidFill>
                <a:latin typeface="Times New Roman" pitchFamily="18" charset="0"/>
                <a:ea typeface="宋体" pitchFamily="2" charset="-122"/>
                <a:cs typeface="+mn-cs"/>
              </a:rPr>
              <a:t>4. </a:t>
            </a:r>
            <a:r>
              <a:rPr kumimoji="1" lang="zh-CN" altLang="en-US" kern="0" dirty="0" smtClean="0">
                <a:solidFill>
                  <a:srgbClr val="FF3300"/>
                </a:solidFill>
                <a:latin typeface="Times New Roman" pitchFamily="18" charset="0"/>
                <a:ea typeface="宋体" pitchFamily="2" charset="-122"/>
                <a:cs typeface="+mn-cs"/>
              </a:rPr>
              <a:t>衬底电流</a:t>
            </a:r>
            <a:endParaRPr kumimoji="1" lang="zh-CN" altLang="en-US" kern="0" dirty="0">
              <a:solidFill>
                <a:srgbClr val="FF3300"/>
              </a:solidFill>
              <a:latin typeface="Times New Roman" pitchFamily="18" charset="0"/>
              <a:ea typeface="宋体" pitchFamily="2" charset="-122"/>
              <a:cs typeface="+mn-cs"/>
            </a:endParaRPr>
          </a:p>
        </p:txBody>
      </p:sp>
      <p:sp>
        <p:nvSpPr>
          <p:cNvPr id="4" name="Text Box 3"/>
          <p:cNvSpPr txBox="1">
            <a:spLocks noChangeArrowheads="1"/>
          </p:cNvSpPr>
          <p:nvPr/>
        </p:nvSpPr>
        <p:spPr bwMode="auto">
          <a:xfrm>
            <a:off x="447675" y="1067276"/>
            <a:ext cx="184150" cy="519113"/>
          </a:xfrm>
          <a:prstGeom prst="rect">
            <a:avLst/>
          </a:prstGeom>
          <a:noFill/>
          <a:ln w="9525">
            <a:noFill/>
            <a:miter lim="800000"/>
            <a:headEnd/>
            <a:tailEnd/>
          </a:ln>
          <a:effectLst/>
        </p:spPr>
        <p:txBody>
          <a:bodyPr wrap="none">
            <a:spAutoFit/>
          </a:bodyPr>
          <a:lstStyle/>
          <a:p>
            <a:pPr defTabSz="914400" fontAlgn="base">
              <a:spcBef>
                <a:spcPct val="0"/>
              </a:spcBef>
              <a:spcAft>
                <a:spcPct val="0"/>
              </a:spcAft>
            </a:pPr>
            <a:endParaRPr lang="zh-CN" altLang="zh-CN" sz="2800" b="1">
              <a:solidFill>
                <a:srgbClr val="000000"/>
              </a:solidFill>
              <a:latin typeface="Times New Roman" pitchFamily="18" charset="0"/>
              <a:ea typeface="楷体_GB2312" pitchFamily="49" charset="-122"/>
            </a:endParaRPr>
          </a:p>
        </p:txBody>
      </p:sp>
      <p:sp>
        <p:nvSpPr>
          <p:cNvPr id="5" name="Text Box 4"/>
          <p:cNvSpPr txBox="1">
            <a:spLocks noChangeArrowheads="1"/>
          </p:cNvSpPr>
          <p:nvPr/>
        </p:nvSpPr>
        <p:spPr bwMode="auto">
          <a:xfrm>
            <a:off x="631825" y="1048226"/>
            <a:ext cx="4102100" cy="519113"/>
          </a:xfrm>
          <a:prstGeom prst="rect">
            <a:avLst/>
          </a:prstGeom>
          <a:noFill/>
          <a:ln w="9525">
            <a:noFill/>
            <a:miter lim="800000"/>
            <a:headEnd/>
            <a:tailEnd/>
          </a:ln>
          <a:effectLst/>
        </p:spPr>
        <p:txBody>
          <a:bodyPr wrap="square">
            <a:spAutoFit/>
          </a:bodyPr>
          <a:lstStyle/>
          <a:p>
            <a:pPr defTabSz="914400" fontAlgn="base">
              <a:spcBef>
                <a:spcPct val="0"/>
              </a:spcBef>
              <a:spcAft>
                <a:spcPct val="0"/>
              </a:spcAft>
            </a:pPr>
            <a:r>
              <a:rPr kumimoji="1" lang="zh-CN" altLang="en-US" sz="2800" b="1" kern="0" dirty="0">
                <a:solidFill>
                  <a:srgbClr val="FF3300"/>
                </a:solidFill>
                <a:latin typeface="Times New Roman" pitchFamily="18" charset="0"/>
                <a:ea typeface="宋体" pitchFamily="2" charset="-122"/>
              </a:rPr>
              <a:t>热载流子效应  </a:t>
            </a:r>
          </a:p>
        </p:txBody>
      </p:sp>
      <p:pic>
        <p:nvPicPr>
          <p:cNvPr id="6" name="Picture 5" descr="w0317-n"/>
          <p:cNvPicPr>
            <a:picLocks noChangeAspect="1" noChangeArrowheads="1"/>
          </p:cNvPicPr>
          <p:nvPr/>
        </p:nvPicPr>
        <p:blipFill>
          <a:blip r:embed="rId2" cstate="print"/>
          <a:srcRect/>
          <a:stretch>
            <a:fillRect/>
          </a:stretch>
        </p:blipFill>
        <p:spPr bwMode="auto">
          <a:xfrm>
            <a:off x="1835150" y="1624489"/>
            <a:ext cx="5013325" cy="2533650"/>
          </a:xfrm>
          <a:prstGeom prst="rect">
            <a:avLst/>
          </a:prstGeom>
          <a:noFill/>
          <a:ln w="9525">
            <a:noFill/>
            <a:miter lim="800000"/>
            <a:headEnd/>
            <a:tailEnd/>
          </a:ln>
        </p:spPr>
      </p:pic>
      <p:sp>
        <p:nvSpPr>
          <p:cNvPr id="7" name="Text Box 6"/>
          <p:cNvSpPr txBox="1">
            <a:spLocks noChangeArrowheads="1"/>
          </p:cNvSpPr>
          <p:nvPr/>
        </p:nvSpPr>
        <p:spPr bwMode="auto">
          <a:xfrm>
            <a:off x="898525" y="4432776"/>
            <a:ext cx="7777163" cy="1800225"/>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en-US" altLang="zh-CN" sz="2800" b="1">
                <a:solidFill>
                  <a:srgbClr val="000000"/>
                </a:solidFill>
                <a:latin typeface="Times New Roman" pitchFamily="18" charset="0"/>
                <a:ea typeface="楷体_GB2312" pitchFamily="49" charset="-122"/>
              </a:rPr>
              <a:t>MOSFET</a:t>
            </a:r>
            <a:r>
              <a:rPr lang="zh-CN" altLang="en-US" sz="2800" b="1">
                <a:solidFill>
                  <a:srgbClr val="000000"/>
                </a:solidFill>
                <a:latin typeface="Times New Roman" pitchFamily="18" charset="0"/>
                <a:ea typeface="楷体_GB2312" pitchFamily="49" charset="-122"/>
              </a:rPr>
              <a:t>中沟道热载流子引起的有害的效应：</a:t>
            </a:r>
          </a:p>
          <a:p>
            <a:pPr lvl="1" defTabSz="914400" fontAlgn="base">
              <a:spcBef>
                <a:spcPct val="0"/>
              </a:spcBef>
              <a:spcAft>
                <a:spcPct val="0"/>
              </a:spcAft>
              <a:buClr>
                <a:srgbClr val="333399"/>
              </a:buClr>
              <a:buFontTx/>
              <a:buChar char="•"/>
            </a:pPr>
            <a:r>
              <a:rPr lang="zh-CN" altLang="en-US" sz="2800" b="1">
                <a:solidFill>
                  <a:srgbClr val="000000"/>
                </a:solidFill>
                <a:latin typeface="Times New Roman" pitchFamily="18" charset="0"/>
                <a:ea typeface="楷体_GB2312" pitchFamily="49" charset="-122"/>
              </a:rPr>
              <a:t> 载流子被注入到栅氧化层中；</a:t>
            </a:r>
          </a:p>
          <a:p>
            <a:pPr lvl="1" defTabSz="914400" fontAlgn="base">
              <a:spcBef>
                <a:spcPct val="0"/>
              </a:spcBef>
              <a:spcAft>
                <a:spcPct val="0"/>
              </a:spcAft>
              <a:buClr>
                <a:srgbClr val="333399"/>
              </a:buClr>
              <a:buFontTx/>
              <a:buChar char="•"/>
            </a:pPr>
            <a:r>
              <a:rPr lang="zh-CN" altLang="en-US" sz="2800" b="1">
                <a:solidFill>
                  <a:srgbClr val="000000"/>
                </a:solidFill>
                <a:latin typeface="Times New Roman" pitchFamily="18" charset="0"/>
                <a:ea typeface="楷体_GB2312" pitchFamily="49" charset="-122"/>
              </a:rPr>
              <a:t> 电流流向衬底；</a:t>
            </a:r>
          </a:p>
          <a:p>
            <a:pPr lvl="1" defTabSz="914400" fontAlgn="base">
              <a:spcBef>
                <a:spcPct val="0"/>
              </a:spcBef>
              <a:spcAft>
                <a:spcPct val="0"/>
              </a:spcAft>
              <a:buClr>
                <a:srgbClr val="333399"/>
              </a:buClr>
              <a:buFontTx/>
              <a:buChar char="•"/>
            </a:pPr>
            <a:r>
              <a:rPr lang="zh-CN" altLang="en-US" sz="2800" b="1">
                <a:solidFill>
                  <a:srgbClr val="000000"/>
                </a:solidFill>
                <a:latin typeface="Times New Roman" pitchFamily="18" charset="0"/>
                <a:ea typeface="楷体_GB2312" pitchFamily="49" charset="-122"/>
              </a:rPr>
              <a:t> 寄生双极晶体管进入正向放大区。 </a:t>
            </a:r>
          </a:p>
        </p:txBody>
      </p:sp>
    </p:spTree>
    <p:extLst>
      <p:ext uri="{BB962C8B-B14F-4D97-AF65-F5344CB8AC3E}">
        <p14:creationId xmlns:p14="http://schemas.microsoft.com/office/powerpoint/2010/main" val="6740271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92</a:t>
            </a:fld>
            <a:endParaRPr lang="zh-CN" altLang="en-US"/>
          </a:p>
        </p:txBody>
      </p:sp>
      <p:sp>
        <p:nvSpPr>
          <p:cNvPr id="3" name="Rectangle 2"/>
          <p:cNvSpPr txBox="1">
            <a:spLocks noChangeArrowheads="1"/>
          </p:cNvSpPr>
          <p:nvPr/>
        </p:nvSpPr>
        <p:spPr>
          <a:xfrm>
            <a:off x="252000" y="252000"/>
            <a:ext cx="8229600" cy="563562"/>
          </a:xfrm>
          <a:prstGeom prst="rect">
            <a:avLst/>
          </a:prstGeom>
        </p:spPr>
        <p:txBody>
          <a:bodyPr/>
          <a:lstStyle>
            <a:lvl1pPr algn="l" rtl="0" fontAlgn="base">
              <a:spcBef>
                <a:spcPct val="0"/>
              </a:spcBef>
              <a:spcAft>
                <a:spcPct val="0"/>
              </a:spcAft>
              <a:defRPr lang="zh-CN" altLang="en-US" sz="2800" b="1" dirty="0" smtClean="0">
                <a:solidFill>
                  <a:schemeClr val="tx2"/>
                </a:solidFill>
                <a:latin typeface="Times New Roman" pitchFamily="18" charset="0"/>
                <a:ea typeface="楷体_GB2312" pitchFamily="49" charset="-122"/>
                <a:cs typeface="Times New Roman" pitchFamily="18" charset="0"/>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kern="0" dirty="0">
                <a:solidFill>
                  <a:srgbClr val="FF3300"/>
                </a:solidFill>
                <a:ea typeface="宋体" pitchFamily="2" charset="-122"/>
                <a:cs typeface="+mn-cs"/>
              </a:rPr>
              <a:t>衬底电流对漏极电流的影响 </a:t>
            </a:r>
          </a:p>
        </p:txBody>
      </p:sp>
      <p:pic>
        <p:nvPicPr>
          <p:cNvPr id="4" name="Picture 3" descr="w0322-n"/>
          <p:cNvPicPr>
            <a:picLocks noChangeAspect="1" noChangeArrowheads="1"/>
          </p:cNvPicPr>
          <p:nvPr/>
        </p:nvPicPr>
        <p:blipFill>
          <a:blip r:embed="rId2" cstate="print"/>
          <a:srcRect/>
          <a:stretch>
            <a:fillRect/>
          </a:stretch>
        </p:blipFill>
        <p:spPr bwMode="auto">
          <a:xfrm>
            <a:off x="1403350" y="1125538"/>
            <a:ext cx="5832475" cy="2308225"/>
          </a:xfrm>
          <a:prstGeom prst="rect">
            <a:avLst/>
          </a:prstGeom>
          <a:noFill/>
          <a:ln w="9525">
            <a:noFill/>
            <a:miter lim="800000"/>
            <a:headEnd/>
            <a:tailEnd/>
          </a:ln>
        </p:spPr>
      </p:pic>
      <p:sp>
        <p:nvSpPr>
          <p:cNvPr id="5" name="Text Box 4"/>
          <p:cNvSpPr txBox="1">
            <a:spLocks noChangeArrowheads="1"/>
          </p:cNvSpPr>
          <p:nvPr/>
        </p:nvSpPr>
        <p:spPr bwMode="auto">
          <a:xfrm>
            <a:off x="539750" y="3938588"/>
            <a:ext cx="8264525" cy="2227262"/>
          </a:xfrm>
          <a:prstGeom prst="rect">
            <a:avLst/>
          </a:prstGeom>
          <a:noFill/>
          <a:ln w="9525">
            <a:noFill/>
            <a:miter lim="800000"/>
            <a:headEnd/>
            <a:tailEnd/>
          </a:ln>
          <a:effectLst/>
        </p:spPr>
        <p:txBody>
          <a:bodyPr>
            <a:spAutoFit/>
          </a:bodyPr>
          <a:lstStyle/>
          <a:p>
            <a:pPr defTabSz="914400" fontAlgn="base">
              <a:spcBef>
                <a:spcPct val="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衬底电流流经衬底时，会在衬底电阻上产生电压降 </a:t>
            </a:r>
          </a:p>
          <a:p>
            <a:pPr defTabSz="914400" fontAlgn="base">
              <a:spcBef>
                <a:spcPct val="0"/>
              </a:spcBef>
              <a:spcAft>
                <a:spcPct val="0"/>
              </a:spcAft>
              <a:buFontTx/>
              <a:buChar char="•"/>
            </a:pPr>
            <a:r>
              <a:rPr lang="zh-CN" altLang="en-US" sz="2800" b="1">
                <a:solidFill>
                  <a:srgbClr val="000000"/>
                </a:solidFill>
                <a:latin typeface="Times New Roman" pitchFamily="18" charset="0"/>
                <a:ea typeface="楷体_GB2312" pitchFamily="49" charset="-122"/>
              </a:rPr>
              <a:t> 反衬偏效应：这个电压降将提高沟道下方中性区的电位，使</a:t>
            </a:r>
            <a:r>
              <a:rPr lang="en-US" altLang="zh-CN" sz="2800" b="1">
                <a:solidFill>
                  <a:srgbClr val="000000"/>
                </a:solidFill>
                <a:latin typeface="Times New Roman" pitchFamily="18" charset="0"/>
                <a:ea typeface="楷体_GB2312" pitchFamily="49" charset="-122"/>
              </a:rPr>
              <a:t>MOSFET</a:t>
            </a:r>
            <a:r>
              <a:rPr lang="zh-CN" altLang="en-US" sz="2800" b="1">
                <a:solidFill>
                  <a:srgbClr val="000000"/>
                </a:solidFill>
                <a:latin typeface="Times New Roman" pitchFamily="18" charset="0"/>
                <a:ea typeface="楷体_GB2312" pitchFamily="49" charset="-122"/>
              </a:rPr>
              <a:t>的阈值电压减小，漏极电流增加。</a:t>
            </a:r>
          </a:p>
          <a:p>
            <a:pPr defTabSz="914400" fontAlgn="base">
              <a:spcBef>
                <a:spcPct val="0"/>
              </a:spcBef>
              <a:spcAft>
                <a:spcPct val="0"/>
              </a:spcAft>
              <a:buFontTx/>
              <a:buChar char="•"/>
            </a:pPr>
            <a:r>
              <a:rPr lang="zh-CN" altLang="en-US" sz="2800" b="1">
                <a:solidFill>
                  <a:srgbClr val="000000"/>
                </a:solidFill>
                <a:latin typeface="Times New Roman" pitchFamily="18" charset="0"/>
                <a:ea typeface="楷体_GB2312" pitchFamily="49" charset="-122"/>
              </a:rPr>
              <a:t> 因为衬底电流与漏极电压有关，因而也减小了输出电阻 </a:t>
            </a:r>
          </a:p>
        </p:txBody>
      </p:sp>
    </p:spTree>
    <p:extLst>
      <p:ext uri="{BB962C8B-B14F-4D97-AF65-F5344CB8AC3E}">
        <p14:creationId xmlns:p14="http://schemas.microsoft.com/office/powerpoint/2010/main" val="21733047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93</a:t>
            </a:fld>
            <a:endParaRPr lang="zh-CN" altLang="en-US"/>
          </a:p>
        </p:txBody>
      </p:sp>
      <p:sp>
        <p:nvSpPr>
          <p:cNvPr id="3" name="Text Box 2"/>
          <p:cNvSpPr txBox="1">
            <a:spLocks noChangeArrowheads="1"/>
          </p:cNvSpPr>
          <p:nvPr/>
        </p:nvSpPr>
        <p:spPr bwMode="auto">
          <a:xfrm>
            <a:off x="735013" y="517525"/>
            <a:ext cx="4629150"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a:solidFill>
                  <a:srgbClr val="000000"/>
                </a:solidFill>
                <a:latin typeface="Times New Roman" pitchFamily="18" charset="0"/>
                <a:ea typeface="楷体_GB2312" pitchFamily="49" charset="-122"/>
              </a:rPr>
              <a:t>寄生双极晶体管击穿 </a:t>
            </a:r>
          </a:p>
        </p:txBody>
      </p:sp>
      <p:pic>
        <p:nvPicPr>
          <p:cNvPr id="4" name="Picture 3" descr="w0324-n"/>
          <p:cNvPicPr>
            <a:picLocks noChangeAspect="1" noChangeArrowheads="1"/>
          </p:cNvPicPr>
          <p:nvPr/>
        </p:nvPicPr>
        <p:blipFill>
          <a:blip r:embed="rId2" cstate="print"/>
          <a:srcRect/>
          <a:stretch>
            <a:fillRect/>
          </a:stretch>
        </p:blipFill>
        <p:spPr bwMode="auto">
          <a:xfrm>
            <a:off x="971550" y="1268413"/>
            <a:ext cx="4292600" cy="2028825"/>
          </a:xfrm>
          <a:prstGeom prst="rect">
            <a:avLst/>
          </a:prstGeom>
          <a:noFill/>
          <a:ln w="9525">
            <a:noFill/>
            <a:miter lim="800000"/>
            <a:headEnd/>
            <a:tailEnd/>
          </a:ln>
        </p:spPr>
      </p:pic>
      <p:pic>
        <p:nvPicPr>
          <p:cNvPr id="5" name="Picture 4" descr="w0325-n"/>
          <p:cNvPicPr>
            <a:picLocks noChangeAspect="1" noChangeArrowheads="1"/>
          </p:cNvPicPr>
          <p:nvPr/>
        </p:nvPicPr>
        <p:blipFill>
          <a:blip r:embed="rId3" cstate="print"/>
          <a:srcRect/>
          <a:stretch>
            <a:fillRect/>
          </a:stretch>
        </p:blipFill>
        <p:spPr bwMode="auto">
          <a:xfrm>
            <a:off x="971550" y="3716338"/>
            <a:ext cx="6381750" cy="2679700"/>
          </a:xfrm>
          <a:prstGeom prst="rect">
            <a:avLst/>
          </a:prstGeom>
          <a:noFill/>
          <a:ln w="9525">
            <a:noFill/>
            <a:miter lim="800000"/>
            <a:headEnd/>
            <a:tailEnd/>
          </a:ln>
        </p:spPr>
      </p:pic>
      <p:sp>
        <p:nvSpPr>
          <p:cNvPr id="6" name="Text Box 5"/>
          <p:cNvSpPr txBox="1">
            <a:spLocks noChangeArrowheads="1"/>
          </p:cNvSpPr>
          <p:nvPr/>
        </p:nvSpPr>
        <p:spPr bwMode="auto">
          <a:xfrm>
            <a:off x="5724525" y="1341438"/>
            <a:ext cx="2973388" cy="1800225"/>
          </a:xfrm>
          <a:prstGeom prst="rect">
            <a:avLst/>
          </a:prstGeom>
          <a:noFill/>
          <a:ln w="9525">
            <a:noFill/>
            <a:miter lim="800000"/>
            <a:headEnd/>
            <a:tailEnd/>
          </a:ln>
          <a:effectLst/>
        </p:spPr>
        <p:txBody>
          <a:bodyPr>
            <a:spAutoFit/>
          </a:bodyPr>
          <a:lstStyle/>
          <a:p>
            <a:pPr defTabSz="914400" fontAlgn="base">
              <a:spcBef>
                <a:spcPct val="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源</a:t>
            </a:r>
            <a:r>
              <a:rPr lang="en-US" altLang="zh-CN" sz="2800" b="1">
                <a:solidFill>
                  <a:srgbClr val="000000"/>
                </a:solidFill>
                <a:latin typeface="Times New Roman" pitchFamily="18" charset="0"/>
                <a:ea typeface="楷体_GB2312" pitchFamily="49" charset="-122"/>
              </a:rPr>
              <a:t>-</a:t>
            </a:r>
            <a:r>
              <a:rPr lang="zh-CN" altLang="en-US" sz="2800" b="1">
                <a:solidFill>
                  <a:srgbClr val="000000"/>
                </a:solidFill>
                <a:latin typeface="Times New Roman" pitchFamily="18" charset="0"/>
                <a:ea typeface="楷体_GB2312" pitchFamily="49" charset="-122"/>
              </a:rPr>
              <a:t>衬结：寄生</a:t>
            </a:r>
            <a:r>
              <a:rPr lang="en-US" altLang="zh-CN" sz="2800" b="1">
                <a:solidFill>
                  <a:srgbClr val="000000"/>
                </a:solidFill>
                <a:latin typeface="Times New Roman" pitchFamily="18" charset="0"/>
                <a:ea typeface="楷体_GB2312" pitchFamily="49" charset="-122"/>
              </a:rPr>
              <a:t>BJT</a:t>
            </a:r>
            <a:r>
              <a:rPr lang="zh-CN" altLang="en-US" sz="2800" b="1">
                <a:solidFill>
                  <a:srgbClr val="000000"/>
                </a:solidFill>
                <a:latin typeface="Times New Roman" pitchFamily="18" charset="0"/>
                <a:ea typeface="楷体_GB2312" pitchFamily="49" charset="-122"/>
              </a:rPr>
              <a:t>的发射结</a:t>
            </a:r>
          </a:p>
          <a:p>
            <a:pPr defTabSz="914400" fontAlgn="base">
              <a:spcBef>
                <a:spcPct val="0"/>
              </a:spcBef>
              <a:spcAft>
                <a:spcPct val="0"/>
              </a:spcAft>
              <a:buFontTx/>
              <a:buChar char="•"/>
            </a:pPr>
            <a:r>
              <a:rPr lang="zh-CN" altLang="en-US" sz="2800" b="1">
                <a:solidFill>
                  <a:srgbClr val="000000"/>
                </a:solidFill>
                <a:latin typeface="Times New Roman" pitchFamily="18" charset="0"/>
                <a:ea typeface="楷体_GB2312" pitchFamily="49" charset="-122"/>
              </a:rPr>
              <a:t>  漏区：寄生</a:t>
            </a:r>
            <a:r>
              <a:rPr lang="en-US" altLang="zh-CN" sz="2800" b="1">
                <a:solidFill>
                  <a:srgbClr val="000000"/>
                </a:solidFill>
                <a:latin typeface="Times New Roman" pitchFamily="18" charset="0"/>
                <a:ea typeface="楷体_GB2312" pitchFamily="49" charset="-122"/>
              </a:rPr>
              <a:t>BJT</a:t>
            </a:r>
            <a:r>
              <a:rPr lang="zh-CN" altLang="en-US" sz="2800" b="1">
                <a:solidFill>
                  <a:srgbClr val="000000"/>
                </a:solidFill>
                <a:latin typeface="Times New Roman" pitchFamily="18" charset="0"/>
                <a:ea typeface="楷体_GB2312" pitchFamily="49" charset="-122"/>
              </a:rPr>
              <a:t>的集电区 </a:t>
            </a:r>
          </a:p>
        </p:txBody>
      </p:sp>
    </p:spTree>
    <p:extLst>
      <p:ext uri="{BB962C8B-B14F-4D97-AF65-F5344CB8AC3E}">
        <p14:creationId xmlns:p14="http://schemas.microsoft.com/office/powerpoint/2010/main" val="12264041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94</a:t>
            </a:fld>
            <a:endParaRPr lang="zh-CN" altLang="en-US"/>
          </a:p>
        </p:txBody>
      </p:sp>
      <p:sp>
        <p:nvSpPr>
          <p:cNvPr id="3" name="Text Box 2"/>
          <p:cNvSpPr txBox="1">
            <a:spLocks noChangeArrowheads="1"/>
          </p:cNvSpPr>
          <p:nvPr/>
        </p:nvSpPr>
        <p:spPr bwMode="auto">
          <a:xfrm>
            <a:off x="539750" y="404813"/>
            <a:ext cx="8085138" cy="1800225"/>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a:solidFill>
                  <a:srgbClr val="000000"/>
                </a:solidFill>
                <a:latin typeface="Times New Roman" pitchFamily="18" charset="0"/>
                <a:ea typeface="楷体_GB2312" pitchFamily="49" charset="-122"/>
              </a:rPr>
              <a:t>归纳影响饱和漏极电流的重要因素：</a:t>
            </a:r>
          </a:p>
          <a:p>
            <a:pPr defTabSz="914400" fontAlgn="base">
              <a:spcBef>
                <a:spcPct val="0"/>
              </a:spcBef>
              <a:spcAft>
                <a:spcPct val="0"/>
              </a:spcAft>
            </a:pPr>
            <a:r>
              <a:rPr lang="en-US" altLang="zh-CN" sz="2800" b="1">
                <a:solidFill>
                  <a:srgbClr val="000000"/>
                </a:solidFill>
                <a:latin typeface="Times New Roman" pitchFamily="18" charset="0"/>
                <a:ea typeface="楷体_GB2312" pitchFamily="49" charset="-122"/>
              </a:rPr>
              <a:t>(1) </a:t>
            </a:r>
            <a:r>
              <a:rPr lang="zh-CN" altLang="en-US" sz="2800" b="1">
                <a:solidFill>
                  <a:srgbClr val="000000"/>
                </a:solidFill>
                <a:latin typeface="Times New Roman" pitchFamily="18" charset="0"/>
                <a:ea typeface="楷体_GB2312" pitchFamily="49" charset="-122"/>
              </a:rPr>
              <a:t>沟道长度调制</a:t>
            </a:r>
            <a:r>
              <a:rPr lang="en-US" altLang="zh-CN" sz="2800" b="1">
                <a:solidFill>
                  <a:srgbClr val="000000"/>
                </a:solidFill>
                <a:latin typeface="Times New Roman" pitchFamily="18" charset="0"/>
                <a:ea typeface="楷体_GB2312" pitchFamily="49" charset="-122"/>
              </a:rPr>
              <a:t>(CLM)</a:t>
            </a:r>
          </a:p>
          <a:p>
            <a:pPr defTabSz="914400" fontAlgn="base">
              <a:spcBef>
                <a:spcPct val="0"/>
              </a:spcBef>
              <a:spcAft>
                <a:spcPct val="0"/>
              </a:spcAft>
            </a:pPr>
            <a:r>
              <a:rPr lang="en-US" altLang="zh-CN" sz="2800" b="1">
                <a:solidFill>
                  <a:srgbClr val="000000"/>
                </a:solidFill>
                <a:latin typeface="Times New Roman" pitchFamily="18" charset="0"/>
                <a:ea typeface="楷体_GB2312" pitchFamily="49" charset="-122"/>
              </a:rPr>
              <a:t>(2) </a:t>
            </a:r>
            <a:r>
              <a:rPr lang="zh-CN" altLang="en-US" sz="2800" b="1">
                <a:solidFill>
                  <a:srgbClr val="000000"/>
                </a:solidFill>
                <a:latin typeface="Times New Roman" pitchFamily="18" charset="0"/>
                <a:ea typeface="楷体_GB2312" pitchFamily="49" charset="-122"/>
              </a:rPr>
              <a:t>漏致势垒降低</a:t>
            </a:r>
            <a:r>
              <a:rPr lang="en-US" altLang="zh-CN" sz="2800" b="1">
                <a:solidFill>
                  <a:srgbClr val="000000"/>
                </a:solidFill>
                <a:latin typeface="Times New Roman" pitchFamily="18" charset="0"/>
                <a:ea typeface="楷体_GB2312" pitchFamily="49" charset="-122"/>
              </a:rPr>
              <a:t>(DIBL)</a:t>
            </a:r>
          </a:p>
          <a:p>
            <a:pPr defTabSz="914400" fontAlgn="base">
              <a:spcBef>
                <a:spcPct val="0"/>
              </a:spcBef>
              <a:spcAft>
                <a:spcPct val="0"/>
              </a:spcAft>
            </a:pPr>
            <a:r>
              <a:rPr lang="en-US" altLang="zh-CN" sz="2800" b="1">
                <a:solidFill>
                  <a:srgbClr val="000000"/>
                </a:solidFill>
                <a:latin typeface="Times New Roman" pitchFamily="18" charset="0"/>
                <a:ea typeface="楷体_GB2312" pitchFamily="49" charset="-122"/>
              </a:rPr>
              <a:t>(3) </a:t>
            </a:r>
            <a:r>
              <a:rPr lang="zh-CN" altLang="en-US" sz="2800" b="1">
                <a:solidFill>
                  <a:srgbClr val="000000"/>
                </a:solidFill>
                <a:latin typeface="Times New Roman" pitchFamily="18" charset="0"/>
                <a:ea typeface="楷体_GB2312" pitchFamily="49" charset="-122"/>
              </a:rPr>
              <a:t>衬底电流导致的体效应</a:t>
            </a:r>
            <a:r>
              <a:rPr lang="en-US" altLang="zh-CN" sz="2800" b="1">
                <a:solidFill>
                  <a:srgbClr val="000000"/>
                </a:solidFill>
                <a:latin typeface="Times New Roman" pitchFamily="18" charset="0"/>
                <a:ea typeface="楷体_GB2312" pitchFamily="49" charset="-122"/>
              </a:rPr>
              <a:t>(SCBE)</a:t>
            </a:r>
          </a:p>
        </p:txBody>
      </p:sp>
      <p:pic>
        <p:nvPicPr>
          <p:cNvPr id="4" name="Picture 3" descr="w0323-n"/>
          <p:cNvPicPr>
            <a:picLocks noChangeAspect="1" noChangeArrowheads="1"/>
          </p:cNvPicPr>
          <p:nvPr/>
        </p:nvPicPr>
        <p:blipFill>
          <a:blip r:embed="rId2" cstate="print"/>
          <a:srcRect/>
          <a:stretch>
            <a:fillRect/>
          </a:stretch>
        </p:blipFill>
        <p:spPr bwMode="auto">
          <a:xfrm>
            <a:off x="1547813" y="2349500"/>
            <a:ext cx="5976937" cy="3076575"/>
          </a:xfrm>
          <a:prstGeom prst="rect">
            <a:avLst/>
          </a:prstGeom>
          <a:noFill/>
          <a:ln w="9525">
            <a:noFill/>
            <a:miter lim="800000"/>
            <a:headEnd/>
            <a:tailEnd/>
          </a:ln>
        </p:spPr>
      </p:pic>
      <p:sp>
        <p:nvSpPr>
          <p:cNvPr id="5" name="Text Box 4"/>
          <p:cNvSpPr txBox="1">
            <a:spLocks noChangeArrowheads="1"/>
          </p:cNvSpPr>
          <p:nvPr/>
        </p:nvSpPr>
        <p:spPr bwMode="auto">
          <a:xfrm>
            <a:off x="806450" y="5516563"/>
            <a:ext cx="7797800" cy="946150"/>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en-US" altLang="zh-CN" sz="2800" b="1">
                <a:solidFill>
                  <a:srgbClr val="000000"/>
                </a:solidFill>
                <a:latin typeface="Times New Roman" pitchFamily="18" charset="0"/>
                <a:ea typeface="楷体_GB2312" pitchFamily="49" charset="-122"/>
              </a:rPr>
              <a:t>CLM</a:t>
            </a:r>
            <a:r>
              <a:rPr lang="zh-CN" altLang="en-US" sz="2800" b="1">
                <a:solidFill>
                  <a:srgbClr val="000000"/>
                </a:solidFill>
                <a:latin typeface="Times New Roman" pitchFamily="18" charset="0"/>
                <a:ea typeface="楷体_GB2312" pitchFamily="49" charset="-122"/>
              </a:rPr>
              <a:t>、</a:t>
            </a:r>
            <a:r>
              <a:rPr lang="en-US" altLang="zh-CN" sz="2800" b="1">
                <a:solidFill>
                  <a:srgbClr val="000000"/>
                </a:solidFill>
                <a:latin typeface="Times New Roman" pitchFamily="18" charset="0"/>
                <a:ea typeface="楷体_GB2312" pitchFamily="49" charset="-122"/>
              </a:rPr>
              <a:t>DIBL</a:t>
            </a:r>
            <a:r>
              <a:rPr lang="zh-CN" altLang="en-US" sz="2800" b="1">
                <a:solidFill>
                  <a:srgbClr val="000000"/>
                </a:solidFill>
                <a:latin typeface="Times New Roman" pitchFamily="18" charset="0"/>
                <a:ea typeface="楷体_GB2312" pitchFamily="49" charset="-122"/>
              </a:rPr>
              <a:t>和</a:t>
            </a:r>
            <a:r>
              <a:rPr lang="en-US" altLang="zh-CN" sz="2800" b="1">
                <a:solidFill>
                  <a:srgbClr val="000000"/>
                </a:solidFill>
                <a:latin typeface="Times New Roman" pitchFamily="18" charset="0"/>
                <a:ea typeface="楷体_GB2312" pitchFamily="49" charset="-122"/>
              </a:rPr>
              <a:t>SCBE</a:t>
            </a:r>
            <a:r>
              <a:rPr lang="zh-CN" altLang="en-US" sz="2800" b="1">
                <a:solidFill>
                  <a:srgbClr val="000000"/>
                </a:solidFill>
                <a:latin typeface="Times New Roman" pitchFamily="18" charset="0"/>
                <a:ea typeface="楷体_GB2312" pitchFamily="49" charset="-122"/>
              </a:rPr>
              <a:t>效应的相对作用强烈依赖于偏置条件</a:t>
            </a:r>
          </a:p>
        </p:txBody>
      </p:sp>
    </p:spTree>
    <p:extLst>
      <p:ext uri="{BB962C8B-B14F-4D97-AF65-F5344CB8AC3E}">
        <p14:creationId xmlns:p14="http://schemas.microsoft.com/office/powerpoint/2010/main" val="34321822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95</a:t>
            </a:fld>
            <a:endParaRPr lang="zh-CN" altLang="en-US"/>
          </a:p>
        </p:txBody>
      </p:sp>
      <p:sp>
        <p:nvSpPr>
          <p:cNvPr id="3" name="Rectangle 2"/>
          <p:cNvSpPr txBox="1">
            <a:spLocks noChangeArrowheads="1"/>
          </p:cNvSpPr>
          <p:nvPr/>
        </p:nvSpPr>
        <p:spPr>
          <a:xfrm>
            <a:off x="252000" y="252000"/>
            <a:ext cx="8229600" cy="563562"/>
          </a:xfrm>
          <a:prstGeom prst="rect">
            <a:avLst/>
          </a:prstGeom>
        </p:spPr>
        <p:txBody>
          <a:bodyPr/>
          <a:lstStyle>
            <a:lvl1pPr algn="l" rtl="0" fontAlgn="base">
              <a:spcBef>
                <a:spcPct val="0"/>
              </a:spcBef>
              <a:spcAft>
                <a:spcPct val="0"/>
              </a:spcAft>
              <a:defRPr lang="zh-CN" altLang="en-US" sz="2800" b="1" dirty="0" smtClean="0">
                <a:solidFill>
                  <a:schemeClr val="tx2"/>
                </a:solidFill>
                <a:latin typeface="Times New Roman" pitchFamily="18" charset="0"/>
                <a:ea typeface="楷体_GB2312" pitchFamily="49" charset="-122"/>
                <a:cs typeface="Times New Roman" pitchFamily="18" charset="0"/>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kern="0" dirty="0" smtClean="0">
                <a:solidFill>
                  <a:srgbClr val="FF3300"/>
                </a:solidFill>
                <a:ea typeface="宋体" pitchFamily="2" charset="-122"/>
                <a:cs typeface="+mn-cs"/>
              </a:rPr>
              <a:t>5. </a:t>
            </a:r>
            <a:r>
              <a:rPr kumimoji="1" lang="zh-CN" altLang="en-US" kern="0" dirty="0" smtClean="0">
                <a:solidFill>
                  <a:srgbClr val="FF3300"/>
                </a:solidFill>
                <a:ea typeface="宋体" pitchFamily="2" charset="-122"/>
                <a:cs typeface="+mn-cs"/>
              </a:rPr>
              <a:t>栅极</a:t>
            </a:r>
            <a:r>
              <a:rPr kumimoji="1" lang="zh-CN" altLang="en-US" kern="0" dirty="0">
                <a:solidFill>
                  <a:srgbClr val="FF3300"/>
                </a:solidFill>
                <a:ea typeface="宋体" pitchFamily="2" charset="-122"/>
                <a:cs typeface="+mn-cs"/>
              </a:rPr>
              <a:t>电流 </a:t>
            </a:r>
          </a:p>
        </p:txBody>
      </p:sp>
      <p:sp>
        <p:nvSpPr>
          <p:cNvPr id="4" name="Text Box 3"/>
          <p:cNvSpPr txBox="1">
            <a:spLocks noChangeArrowheads="1"/>
          </p:cNvSpPr>
          <p:nvPr/>
        </p:nvSpPr>
        <p:spPr bwMode="auto">
          <a:xfrm>
            <a:off x="374650" y="806450"/>
            <a:ext cx="8589963" cy="946150"/>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a:solidFill>
                  <a:srgbClr val="000000"/>
                </a:solidFill>
                <a:latin typeface="Times New Roman" pitchFamily="18" charset="0"/>
                <a:ea typeface="楷体_GB2312" pitchFamily="49" charset="-122"/>
              </a:rPr>
              <a:t>栅极电流</a:t>
            </a:r>
            <a:r>
              <a:rPr lang="en-US" altLang="zh-CN" sz="2800" b="1">
                <a:solidFill>
                  <a:srgbClr val="000000"/>
                </a:solidFill>
                <a:latin typeface="Times New Roman" pitchFamily="18" charset="0"/>
                <a:ea typeface="楷体_GB2312" pitchFamily="49" charset="-122"/>
              </a:rPr>
              <a:t>——</a:t>
            </a:r>
            <a:r>
              <a:rPr lang="zh-CN" altLang="en-US" sz="2800" b="1">
                <a:solidFill>
                  <a:srgbClr val="000000"/>
                </a:solidFill>
                <a:latin typeface="Times New Roman" pitchFamily="18" charset="0"/>
                <a:ea typeface="楷体_GB2312" pitchFamily="49" charset="-122"/>
              </a:rPr>
              <a:t>沟道中的载流子注入氧化层，并穿过氧化层流向栅电极引起的。 </a:t>
            </a:r>
          </a:p>
        </p:txBody>
      </p:sp>
      <p:pic>
        <p:nvPicPr>
          <p:cNvPr id="5" name="Picture 4" descr="w0237-n"/>
          <p:cNvPicPr>
            <a:picLocks noChangeAspect="1" noChangeArrowheads="1"/>
          </p:cNvPicPr>
          <p:nvPr/>
        </p:nvPicPr>
        <p:blipFill>
          <a:blip r:embed="rId2" cstate="print"/>
          <a:srcRect/>
          <a:stretch>
            <a:fillRect/>
          </a:stretch>
        </p:blipFill>
        <p:spPr bwMode="auto">
          <a:xfrm>
            <a:off x="4500563" y="1341438"/>
            <a:ext cx="4516437" cy="5184775"/>
          </a:xfrm>
          <a:prstGeom prst="rect">
            <a:avLst/>
          </a:prstGeom>
          <a:noFill/>
          <a:ln w="9525">
            <a:noFill/>
            <a:miter lim="800000"/>
            <a:headEnd/>
            <a:tailEnd/>
          </a:ln>
        </p:spPr>
      </p:pic>
      <p:sp>
        <p:nvSpPr>
          <p:cNvPr id="6" name="Text Box 5"/>
          <p:cNvSpPr txBox="1">
            <a:spLocks noChangeArrowheads="1"/>
          </p:cNvSpPr>
          <p:nvPr/>
        </p:nvSpPr>
        <p:spPr bwMode="auto">
          <a:xfrm>
            <a:off x="374650" y="1916113"/>
            <a:ext cx="4052888" cy="4106862"/>
          </a:xfrm>
          <a:prstGeom prst="rect">
            <a:avLst/>
          </a:prstGeom>
          <a:noFill/>
          <a:ln w="9525">
            <a:noFill/>
            <a:miter lim="800000"/>
            <a:headEnd/>
            <a:tailEnd/>
          </a:ln>
          <a:effectLst/>
        </p:spPr>
        <p:txBody>
          <a:bodyPr>
            <a:spAutoFit/>
          </a:bodyPr>
          <a:lstStyle/>
          <a:p>
            <a:pPr defTabSz="914400" fontAlgn="base">
              <a:spcBef>
                <a:spcPct val="2000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热载流子具有的动能远高于晶格温度对应的能量。</a:t>
            </a:r>
          </a:p>
          <a:p>
            <a:pPr defTabSz="914400" fontAlgn="base">
              <a:spcBef>
                <a:spcPct val="20000"/>
              </a:spcBef>
              <a:spcAft>
                <a:spcPct val="0"/>
              </a:spcAft>
              <a:buFontTx/>
              <a:buChar char="•"/>
            </a:pPr>
            <a:r>
              <a:rPr lang="zh-CN" altLang="en-US" sz="2800" b="1">
                <a:solidFill>
                  <a:srgbClr val="000000"/>
                </a:solidFill>
                <a:latin typeface="Times New Roman" pitchFamily="18" charset="0"/>
                <a:ea typeface="楷体_GB2312" pitchFamily="49" charset="-122"/>
              </a:rPr>
              <a:t> 载流子获得的能量足以越过右图所示的</a:t>
            </a:r>
            <a:r>
              <a:rPr lang="en-US" altLang="zh-CN" sz="2800" b="1">
                <a:solidFill>
                  <a:srgbClr val="000000"/>
                </a:solidFill>
                <a:latin typeface="Times New Roman" pitchFamily="18" charset="0"/>
                <a:ea typeface="楷体_GB2312" pitchFamily="49" charset="-122"/>
              </a:rPr>
              <a:t>Si-SiO</a:t>
            </a:r>
            <a:r>
              <a:rPr lang="en-US" altLang="zh-CN" sz="2800" b="1" baseline="-25000">
                <a:solidFill>
                  <a:srgbClr val="000000"/>
                </a:solidFill>
                <a:latin typeface="Times New Roman" pitchFamily="18" charset="0"/>
                <a:ea typeface="楷体_GB2312" pitchFamily="49" charset="-122"/>
              </a:rPr>
              <a:t>2</a:t>
            </a:r>
            <a:r>
              <a:rPr lang="zh-CN" altLang="en-US" sz="2800" b="1">
                <a:solidFill>
                  <a:srgbClr val="000000"/>
                </a:solidFill>
                <a:latin typeface="Times New Roman" pitchFamily="18" charset="0"/>
                <a:ea typeface="楷体_GB2312" pitchFamily="49" charset="-122"/>
              </a:rPr>
              <a:t>界面势垒时，就会发生热载流子注入</a:t>
            </a:r>
          </a:p>
          <a:p>
            <a:pPr defTabSz="914400" fontAlgn="base">
              <a:spcBef>
                <a:spcPct val="20000"/>
              </a:spcBef>
              <a:spcAft>
                <a:spcPct val="0"/>
              </a:spcAft>
              <a:buFontTx/>
              <a:buChar char="•"/>
            </a:pPr>
            <a:r>
              <a:rPr lang="zh-CN" altLang="en-US" sz="2800" b="1">
                <a:solidFill>
                  <a:srgbClr val="000000"/>
                </a:solidFill>
                <a:latin typeface="Times New Roman" pitchFamily="18" charset="0"/>
                <a:ea typeface="楷体_GB2312" pitchFamily="49" charset="-122"/>
              </a:rPr>
              <a:t> 电子越过</a:t>
            </a:r>
            <a:r>
              <a:rPr lang="en-US" altLang="zh-CN" sz="2800" b="1">
                <a:solidFill>
                  <a:srgbClr val="000000"/>
                </a:solidFill>
                <a:latin typeface="Times New Roman" pitchFamily="18" charset="0"/>
                <a:ea typeface="楷体_GB2312" pitchFamily="49" charset="-122"/>
              </a:rPr>
              <a:t>Si-SiO</a:t>
            </a:r>
            <a:r>
              <a:rPr lang="en-US" altLang="zh-CN" sz="2800" b="1" baseline="-25000">
                <a:solidFill>
                  <a:srgbClr val="000000"/>
                </a:solidFill>
                <a:latin typeface="Times New Roman" pitchFamily="18" charset="0"/>
                <a:ea typeface="楷体_GB2312" pitchFamily="49" charset="-122"/>
              </a:rPr>
              <a:t>2</a:t>
            </a:r>
            <a:r>
              <a:rPr lang="zh-CN" altLang="en-US" sz="2800" b="1">
                <a:solidFill>
                  <a:srgbClr val="000000"/>
                </a:solidFill>
                <a:latin typeface="Times New Roman" pitchFamily="18" charset="0"/>
                <a:ea typeface="楷体_GB2312" pitchFamily="49" charset="-122"/>
              </a:rPr>
              <a:t>界面势垒需要的动能为</a:t>
            </a:r>
            <a:r>
              <a:rPr lang="en-US" altLang="zh-CN" sz="2800" b="1">
                <a:solidFill>
                  <a:srgbClr val="000000"/>
                </a:solidFill>
                <a:latin typeface="Times New Roman" pitchFamily="18" charset="0"/>
                <a:ea typeface="楷体_GB2312" pitchFamily="49" charset="-122"/>
              </a:rPr>
              <a:t>3.1eV   </a:t>
            </a:r>
          </a:p>
        </p:txBody>
      </p:sp>
    </p:spTree>
    <p:extLst>
      <p:ext uri="{BB962C8B-B14F-4D97-AF65-F5344CB8AC3E}">
        <p14:creationId xmlns:p14="http://schemas.microsoft.com/office/powerpoint/2010/main" val="7350119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96</a:t>
            </a:fld>
            <a:endParaRPr lang="zh-CN" altLang="en-US"/>
          </a:p>
        </p:txBody>
      </p:sp>
      <p:graphicFrame>
        <p:nvGraphicFramePr>
          <p:cNvPr id="3" name="Object 2"/>
          <p:cNvGraphicFramePr>
            <a:graphicFrameLocks noChangeAspect="1"/>
          </p:cNvGraphicFramePr>
          <p:nvPr/>
        </p:nvGraphicFramePr>
        <p:xfrm>
          <a:off x="3238500" y="260350"/>
          <a:ext cx="4371975" cy="1122363"/>
        </p:xfrm>
        <a:graphic>
          <a:graphicData uri="http://schemas.openxmlformats.org/presentationml/2006/ole">
            <mc:AlternateContent xmlns:mc="http://schemas.openxmlformats.org/markup-compatibility/2006">
              <mc:Choice xmlns:v="urn:schemas-microsoft-com:vml" Requires="v">
                <p:oleObj spid="_x0000_s231502" name="Equation" r:id="rId3" imgW="1968480" imgH="507960" progId="Equation.DSMT4">
                  <p:embed/>
                </p:oleObj>
              </mc:Choice>
              <mc:Fallback>
                <p:oleObj name="Equation" r:id="rId3" imgW="1968480" imgH="507960" progId="Equation.DSMT4">
                  <p:embed/>
                  <p:pic>
                    <p:nvPicPr>
                      <p:cNvPr id="2129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0" y="260350"/>
                        <a:ext cx="4371975" cy="1122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4"/>
          <p:cNvSpPr txBox="1">
            <a:spLocks noChangeArrowheads="1"/>
          </p:cNvSpPr>
          <p:nvPr/>
        </p:nvSpPr>
        <p:spPr bwMode="auto">
          <a:xfrm>
            <a:off x="468313" y="1598613"/>
            <a:ext cx="7869237" cy="2481262"/>
          </a:xfrm>
          <a:prstGeom prst="rect">
            <a:avLst/>
          </a:prstGeom>
          <a:noFill/>
          <a:ln w="9525">
            <a:noFill/>
            <a:miter lim="800000"/>
            <a:headEnd/>
            <a:tailEnd/>
          </a:ln>
          <a:effectLst/>
        </p:spPr>
        <p:txBody>
          <a:bodyPr>
            <a:spAutoFit/>
          </a:bodyPr>
          <a:lstStyle/>
          <a:p>
            <a:pPr defTabSz="914400" fontAlgn="base">
              <a:spcBef>
                <a:spcPct val="1500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载流子数目</a:t>
            </a:r>
            <a:r>
              <a:rPr lang="en-US" altLang="zh-CN" sz="2800" b="1" i="1">
                <a:solidFill>
                  <a:srgbClr val="000000"/>
                </a:solidFill>
                <a:latin typeface="Times New Roman" pitchFamily="18" charset="0"/>
                <a:ea typeface="楷体_GB2312" pitchFamily="49" charset="-122"/>
              </a:rPr>
              <a:t>I</a:t>
            </a:r>
            <a:r>
              <a:rPr lang="en-US" altLang="zh-CN" sz="2800" b="1" i="1" baseline="-25000">
                <a:solidFill>
                  <a:srgbClr val="000000"/>
                </a:solidFill>
                <a:latin typeface="Times New Roman" pitchFamily="18" charset="0"/>
                <a:ea typeface="楷体_GB2312" pitchFamily="49" charset="-122"/>
              </a:rPr>
              <a:t>D</a:t>
            </a:r>
            <a:endParaRPr lang="en-US" altLang="zh-CN" sz="2800" b="1">
              <a:solidFill>
                <a:srgbClr val="000000"/>
              </a:solidFill>
              <a:latin typeface="Times New Roman" pitchFamily="18" charset="0"/>
              <a:ea typeface="楷体_GB2312" pitchFamily="49" charset="-122"/>
            </a:endParaRPr>
          </a:p>
          <a:p>
            <a:pPr defTabSz="914400" fontAlgn="base">
              <a:spcBef>
                <a:spcPct val="1500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载流子获得足够能量的概率：</a:t>
            </a:r>
          </a:p>
          <a:p>
            <a:pPr defTabSz="914400" fontAlgn="base">
              <a:spcBef>
                <a:spcPct val="15000"/>
              </a:spcBef>
              <a:spcAft>
                <a:spcPct val="0"/>
              </a:spcAft>
            </a:pPr>
            <a:r>
              <a:rPr lang="zh-CN" altLang="en-US" sz="2800" b="1">
                <a:solidFill>
                  <a:srgbClr val="000000"/>
                </a:solidFill>
                <a:latin typeface="Times New Roman" pitchFamily="18" charset="0"/>
                <a:ea typeface="楷体_GB2312" pitchFamily="49" charset="-122"/>
              </a:rPr>
              <a:t>	获得足够的动能运动的距离：</a:t>
            </a:r>
            <a:r>
              <a:rPr lang="en-US" altLang="zh-CN" sz="2800" b="1" i="1">
                <a:solidFill>
                  <a:srgbClr val="000000"/>
                </a:solidFill>
                <a:latin typeface="Times New Roman" pitchFamily="18" charset="0"/>
                <a:ea typeface="楷体_GB2312" pitchFamily="49" charset="-122"/>
              </a:rPr>
              <a:t>d</a:t>
            </a:r>
            <a:r>
              <a:rPr lang="en-US" altLang="zh-CN"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sym typeface="Symbol" pitchFamily="18" charset="2"/>
              </a:rPr>
              <a:t></a:t>
            </a:r>
            <a:r>
              <a:rPr lang="en-US" altLang="zh-CN" sz="2800" b="1" i="1" baseline="-25000">
                <a:solidFill>
                  <a:srgbClr val="000000"/>
                </a:solidFill>
                <a:latin typeface="Times New Roman" pitchFamily="18" charset="0"/>
                <a:ea typeface="楷体_GB2312" pitchFamily="49" charset="-122"/>
              </a:rPr>
              <a:t>B</a:t>
            </a:r>
            <a:r>
              <a:rPr lang="en-US" altLang="zh-CN" sz="2800" b="1">
                <a:solidFill>
                  <a:srgbClr val="000000"/>
                </a:solidFill>
                <a:latin typeface="Times New Roman" pitchFamily="18" charset="0"/>
                <a:ea typeface="楷体_GB2312" pitchFamily="49" charset="-122"/>
              </a:rPr>
              <a:t>/E</a:t>
            </a:r>
            <a:r>
              <a:rPr lang="en-US" altLang="zh-CN" sz="2800" b="1" i="1" baseline="-25000">
                <a:solidFill>
                  <a:srgbClr val="000000"/>
                </a:solidFill>
                <a:latin typeface="Times New Roman" pitchFamily="18" charset="0"/>
                <a:ea typeface="楷体_GB2312" pitchFamily="49" charset="-122"/>
              </a:rPr>
              <a:t>y</a:t>
            </a:r>
          </a:p>
          <a:p>
            <a:pPr defTabSz="914400" fontAlgn="base">
              <a:spcBef>
                <a:spcPct val="15000"/>
              </a:spcBef>
              <a:spcAft>
                <a:spcPct val="0"/>
              </a:spcAft>
            </a:pPr>
            <a:r>
              <a:rPr lang="en-US" altLang="zh-CN" sz="2800" b="1">
                <a:solidFill>
                  <a:srgbClr val="000000"/>
                </a:solidFill>
                <a:latin typeface="Times New Roman" pitchFamily="18" charset="0"/>
                <a:ea typeface="楷体_GB2312" pitchFamily="49" charset="-122"/>
                <a:sym typeface="Symbol" pitchFamily="18" charset="2"/>
              </a:rPr>
              <a:t>	</a:t>
            </a:r>
            <a:r>
              <a:rPr lang="zh-CN" altLang="en-US" sz="2800" b="1">
                <a:solidFill>
                  <a:srgbClr val="000000"/>
                </a:solidFill>
                <a:latin typeface="Times New Roman" pitchFamily="18" charset="0"/>
                <a:ea typeface="楷体_GB2312" pitchFamily="49" charset="-122"/>
              </a:rPr>
              <a:t>不发生碰撞的概率：</a:t>
            </a:r>
            <a:r>
              <a:rPr lang="en-US" altLang="zh-CN" sz="2800" b="1">
                <a:solidFill>
                  <a:srgbClr val="000000"/>
                </a:solidFill>
                <a:latin typeface="Times New Roman" pitchFamily="18" charset="0"/>
                <a:ea typeface="楷体_GB2312" pitchFamily="49" charset="-122"/>
              </a:rPr>
              <a:t>exp(-</a:t>
            </a:r>
            <a:r>
              <a:rPr lang="en-US" altLang="zh-CN" sz="2800" b="1" i="1">
                <a:solidFill>
                  <a:srgbClr val="000000"/>
                </a:solidFill>
                <a:latin typeface="Times New Roman" pitchFamily="18" charset="0"/>
                <a:ea typeface="楷体_GB2312" pitchFamily="49" charset="-122"/>
              </a:rPr>
              <a:t>d</a:t>
            </a:r>
            <a:r>
              <a:rPr lang="en-US" altLang="zh-CN" sz="2800" b="1">
                <a:solidFill>
                  <a:srgbClr val="000000"/>
                </a:solidFill>
                <a:latin typeface="Times New Roman" pitchFamily="18" charset="0"/>
                <a:ea typeface="楷体_GB2312" pitchFamily="49" charset="-122"/>
              </a:rPr>
              <a:t>/</a:t>
            </a:r>
            <a:r>
              <a:rPr lang="en-US" altLang="zh-CN" sz="2800" b="1" i="1">
                <a:solidFill>
                  <a:srgbClr val="000000"/>
                </a:solidFill>
                <a:latin typeface="Times New Roman" pitchFamily="18" charset="0"/>
                <a:ea typeface="楷体_GB2312" pitchFamily="49" charset="-122"/>
                <a:sym typeface="Symbol" pitchFamily="18" charset="2"/>
              </a:rPr>
              <a:t></a:t>
            </a:r>
            <a:r>
              <a:rPr lang="en-US" altLang="zh-CN" sz="2800" b="1">
                <a:solidFill>
                  <a:srgbClr val="000000"/>
                </a:solidFill>
                <a:latin typeface="Times New Roman" pitchFamily="18" charset="0"/>
                <a:ea typeface="楷体_GB2312" pitchFamily="49" charset="-122"/>
              </a:rPr>
              <a:t>)</a:t>
            </a:r>
            <a:endParaRPr lang="en-US" altLang="zh-CN" sz="2800" b="1">
              <a:solidFill>
                <a:srgbClr val="000000"/>
              </a:solidFill>
              <a:latin typeface="Times New Roman" pitchFamily="18" charset="0"/>
              <a:ea typeface="楷体_GB2312" pitchFamily="49" charset="-122"/>
              <a:sym typeface="Symbol" pitchFamily="18" charset="2"/>
            </a:endParaRPr>
          </a:p>
          <a:p>
            <a:pPr defTabSz="914400" fontAlgn="base">
              <a:spcBef>
                <a:spcPct val="15000"/>
              </a:spcBef>
              <a:spcAft>
                <a:spcPct val="0"/>
              </a:spcAft>
              <a:buFontTx/>
              <a:buChar char="•"/>
            </a:pPr>
            <a:r>
              <a:rPr lang="en-US" altLang="zh-CN" sz="2800" b="1">
                <a:solidFill>
                  <a:srgbClr val="000000"/>
                </a:solidFill>
                <a:latin typeface="Times New Roman" pitchFamily="18" charset="0"/>
                <a:ea typeface="楷体_GB2312" pitchFamily="49" charset="-122"/>
              </a:rPr>
              <a:t> </a:t>
            </a:r>
            <a:r>
              <a:rPr lang="zh-CN" altLang="en-US" sz="2800" b="1">
                <a:solidFill>
                  <a:srgbClr val="000000"/>
                </a:solidFill>
                <a:latin typeface="Times New Roman" pitchFamily="18" charset="0"/>
                <a:ea typeface="楷体_GB2312" pitchFamily="49" charset="-122"/>
              </a:rPr>
              <a:t>发射和收集概率</a:t>
            </a:r>
            <a:r>
              <a:rPr lang="en-US" altLang="zh-CN" sz="2800" b="1" i="1">
                <a:solidFill>
                  <a:srgbClr val="000000"/>
                </a:solidFill>
                <a:latin typeface="Times New Roman" pitchFamily="18" charset="0"/>
                <a:ea typeface="楷体_GB2312" pitchFamily="49" charset="-122"/>
              </a:rPr>
              <a:t>P</a:t>
            </a:r>
            <a:r>
              <a:rPr lang="zh-CN" altLang="en-US" sz="2800" b="1">
                <a:solidFill>
                  <a:srgbClr val="000000"/>
                </a:solidFill>
                <a:latin typeface="Times New Roman" pitchFamily="18" charset="0"/>
                <a:ea typeface="楷体_GB2312" pitchFamily="49" charset="-122"/>
              </a:rPr>
              <a:t>是氧化层电场的函数  </a:t>
            </a:r>
          </a:p>
        </p:txBody>
      </p:sp>
      <p:sp>
        <p:nvSpPr>
          <p:cNvPr id="5" name="Text Box 5"/>
          <p:cNvSpPr txBox="1">
            <a:spLocks noChangeArrowheads="1"/>
          </p:cNvSpPr>
          <p:nvPr/>
        </p:nvSpPr>
        <p:spPr bwMode="auto">
          <a:xfrm>
            <a:off x="468313" y="561975"/>
            <a:ext cx="2971800" cy="519113"/>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a:solidFill>
                  <a:srgbClr val="000000"/>
                </a:solidFill>
                <a:latin typeface="Times New Roman" pitchFamily="18" charset="0"/>
                <a:ea typeface="楷体_GB2312" pitchFamily="49" charset="-122"/>
              </a:rPr>
              <a:t>幸运电子模型 </a:t>
            </a:r>
          </a:p>
        </p:txBody>
      </p:sp>
      <p:sp>
        <p:nvSpPr>
          <p:cNvPr id="6" name="Text Box 6"/>
          <p:cNvSpPr txBox="1">
            <a:spLocks noChangeArrowheads="1"/>
          </p:cNvSpPr>
          <p:nvPr/>
        </p:nvSpPr>
        <p:spPr bwMode="auto">
          <a:xfrm>
            <a:off x="468313" y="4408488"/>
            <a:ext cx="1531937" cy="519112"/>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a:solidFill>
                  <a:srgbClr val="000000"/>
                </a:solidFill>
                <a:latin typeface="Times New Roman" pitchFamily="18" charset="0"/>
                <a:ea typeface="楷体_GB2312" pitchFamily="49" charset="-122"/>
              </a:rPr>
              <a:t>近似成 </a:t>
            </a:r>
          </a:p>
        </p:txBody>
      </p:sp>
      <p:sp>
        <p:nvSpPr>
          <p:cNvPr id="7" name="Rectangle 8"/>
          <p:cNvSpPr>
            <a:spLocks noChangeArrowheads="1"/>
          </p:cNvSpPr>
          <p:nvPr/>
        </p:nvSpPr>
        <p:spPr bwMode="auto">
          <a:xfrm>
            <a:off x="0" y="3176588"/>
            <a:ext cx="9144000" cy="0"/>
          </a:xfrm>
          <a:prstGeom prst="rect">
            <a:avLst/>
          </a:prstGeom>
          <a:noFill/>
          <a:ln w="9525">
            <a:noFill/>
            <a:miter lim="800000"/>
            <a:headEnd/>
            <a:tailEnd/>
          </a:ln>
          <a:effectLst/>
        </p:spPr>
        <p:txBody>
          <a:bodyPr wrap="none" anchor="ctr">
            <a:spAutoFit/>
          </a:bodyPr>
          <a:lstStyle/>
          <a:p>
            <a:pPr defTabSz="914400" fontAlgn="base">
              <a:spcBef>
                <a:spcPct val="0"/>
              </a:spcBef>
              <a:spcAft>
                <a:spcPct val="0"/>
              </a:spcAft>
            </a:pPr>
            <a:endParaRPr lang="zh-CN" altLang="en-US" sz="2800" b="1">
              <a:solidFill>
                <a:srgbClr val="000000"/>
              </a:solidFill>
              <a:latin typeface="Times New Roman" pitchFamily="18" charset="0"/>
              <a:ea typeface="楷体_GB2312" pitchFamily="49" charset="-122"/>
            </a:endParaRPr>
          </a:p>
        </p:txBody>
      </p:sp>
      <p:graphicFrame>
        <p:nvGraphicFramePr>
          <p:cNvPr id="8" name="Object 7"/>
          <p:cNvGraphicFramePr>
            <a:graphicFrameLocks noChangeAspect="1"/>
          </p:cNvGraphicFramePr>
          <p:nvPr/>
        </p:nvGraphicFramePr>
        <p:xfrm>
          <a:off x="2944813" y="4106863"/>
          <a:ext cx="2973387" cy="1122362"/>
        </p:xfrm>
        <a:graphic>
          <a:graphicData uri="http://schemas.openxmlformats.org/presentationml/2006/ole">
            <mc:AlternateContent xmlns:mc="http://schemas.openxmlformats.org/markup-compatibility/2006">
              <mc:Choice xmlns:v="urn:schemas-microsoft-com:vml" Requires="v">
                <p:oleObj spid="_x0000_s231503" name="Equation" r:id="rId5" imgW="1333440" imgH="507960" progId="Equation.DSMT4">
                  <p:embed/>
                </p:oleObj>
              </mc:Choice>
              <mc:Fallback>
                <p:oleObj name="Equation" r:id="rId5" imgW="1333440" imgH="507960" progId="Equation.DSMT4">
                  <p:embed/>
                  <p:pic>
                    <p:nvPicPr>
                      <p:cNvPr id="21299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4813" y="4106863"/>
                        <a:ext cx="2973387" cy="1122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9"/>
          <p:cNvSpPr txBox="1">
            <a:spLocks noChangeArrowheads="1"/>
          </p:cNvSpPr>
          <p:nvPr/>
        </p:nvSpPr>
        <p:spPr bwMode="auto">
          <a:xfrm>
            <a:off x="468313" y="5373688"/>
            <a:ext cx="8424862" cy="946150"/>
          </a:xfrm>
          <a:prstGeom prst="rect">
            <a:avLst/>
          </a:prstGeom>
          <a:noFill/>
          <a:ln w="9525">
            <a:noFill/>
            <a:miter lim="800000"/>
            <a:headEnd/>
            <a:tailEnd/>
          </a:ln>
          <a:effectLst/>
        </p:spPr>
        <p:txBody>
          <a:bodyPr>
            <a:spAutoFit/>
          </a:bodyPr>
          <a:lstStyle/>
          <a:p>
            <a:pPr defTabSz="914400" fontAlgn="base">
              <a:spcBef>
                <a:spcPct val="0"/>
              </a:spcBef>
              <a:spcAft>
                <a:spcPct val="0"/>
              </a:spcAft>
            </a:pPr>
            <a:r>
              <a:rPr lang="zh-CN" altLang="en-US" sz="2800" b="1" dirty="0">
                <a:solidFill>
                  <a:srgbClr val="000000"/>
                </a:solidFill>
                <a:latin typeface="Times New Roman" pitchFamily="18" charset="0"/>
                <a:ea typeface="楷体_GB2312" pitchFamily="49" charset="-122"/>
              </a:rPr>
              <a:t>当</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G</a:t>
            </a:r>
            <a:r>
              <a:rPr lang="en-US" altLang="zh-CN" sz="2800" b="1" dirty="0">
                <a:solidFill>
                  <a:srgbClr val="000000"/>
                </a:solidFill>
                <a:latin typeface="Times New Roman" pitchFamily="18" charset="0"/>
                <a:ea typeface="楷体_GB2312" pitchFamily="49" charset="-122"/>
              </a:rPr>
              <a:t>&gt;</a:t>
            </a:r>
            <a:r>
              <a:rPr lang="en-US" altLang="zh-CN" sz="2800" b="1" i="1" dirty="0">
                <a:solidFill>
                  <a:srgbClr val="000000"/>
                </a:solidFill>
                <a:latin typeface="Times New Roman" pitchFamily="18" charset="0"/>
                <a:ea typeface="楷体_GB2312" pitchFamily="49" charset="-122"/>
              </a:rPr>
              <a:t>V</a:t>
            </a:r>
            <a:r>
              <a:rPr lang="en-US" altLang="zh-CN" sz="2800" b="1" i="1" baseline="-25000" dirty="0">
                <a:solidFill>
                  <a:srgbClr val="000000"/>
                </a:solidFill>
                <a:latin typeface="Times New Roman" pitchFamily="18" charset="0"/>
                <a:ea typeface="楷体_GB2312" pitchFamily="49" charset="-122"/>
              </a:rPr>
              <a:t>D</a:t>
            </a:r>
            <a:r>
              <a:rPr lang="zh-CN" altLang="en-US" sz="2800" b="1" dirty="0">
                <a:solidFill>
                  <a:srgbClr val="000000"/>
                </a:solidFill>
                <a:latin typeface="Times New Roman" pitchFamily="18" charset="0"/>
                <a:ea typeface="楷体_GB2312" pitchFamily="49" charset="-122"/>
              </a:rPr>
              <a:t>时，</a:t>
            </a:r>
            <a:r>
              <a:rPr lang="en-US" altLang="zh-CN" sz="2800" b="1" i="1" dirty="0">
                <a:solidFill>
                  <a:srgbClr val="000000"/>
                </a:solidFill>
                <a:latin typeface="Times New Roman" pitchFamily="18" charset="0"/>
                <a:ea typeface="楷体_GB2312" pitchFamily="49" charset="-122"/>
              </a:rPr>
              <a:t>C</a:t>
            </a:r>
            <a:r>
              <a:rPr lang="zh-CN" altLang="en-US" sz="2800" b="1" dirty="0">
                <a:solidFill>
                  <a:srgbClr val="000000"/>
                </a:solidFill>
                <a:latin typeface="Times New Roman" pitchFamily="18" charset="0"/>
                <a:ea typeface="楷体_GB2312" pitchFamily="49" charset="-122"/>
              </a:rPr>
              <a:t>近似等于</a:t>
            </a:r>
            <a:r>
              <a:rPr lang="en-US" altLang="zh-CN" sz="2800" b="1" dirty="0">
                <a:solidFill>
                  <a:srgbClr val="000000"/>
                </a:solidFill>
                <a:latin typeface="Times New Roman" pitchFamily="18" charset="0"/>
                <a:ea typeface="楷体_GB2312" pitchFamily="49" charset="-122"/>
              </a:rPr>
              <a:t>2</a:t>
            </a:r>
            <a:r>
              <a:rPr lang="en-US" altLang="zh-CN" sz="2800" b="1" dirty="0">
                <a:solidFill>
                  <a:srgbClr val="000000"/>
                </a:solidFill>
                <a:latin typeface="Times New Roman" pitchFamily="18" charset="0"/>
                <a:ea typeface="楷体_GB2312" pitchFamily="49" charset="-122"/>
                <a:sym typeface="Symbol" pitchFamily="18" charset="2"/>
              </a:rPr>
              <a:t></a:t>
            </a:r>
            <a:r>
              <a:rPr lang="en-US" altLang="zh-CN" sz="2800" b="1" dirty="0">
                <a:solidFill>
                  <a:srgbClr val="000000"/>
                </a:solidFill>
                <a:latin typeface="Times New Roman" pitchFamily="18" charset="0"/>
                <a:ea typeface="楷体_GB2312" pitchFamily="49" charset="-122"/>
              </a:rPr>
              <a:t>10</a:t>
            </a:r>
            <a:r>
              <a:rPr lang="en-US" altLang="zh-CN" sz="2800" b="1" baseline="30000" dirty="0">
                <a:solidFill>
                  <a:srgbClr val="000000"/>
                </a:solidFill>
                <a:latin typeface="Times New Roman" pitchFamily="18" charset="0"/>
                <a:ea typeface="楷体_GB2312" pitchFamily="49" charset="-122"/>
              </a:rPr>
              <a:t>-3</a:t>
            </a:r>
            <a:r>
              <a:rPr lang="en-US" altLang="zh-CN" sz="2800" b="1" dirty="0">
                <a:solidFill>
                  <a:srgbClr val="000000"/>
                </a:solidFill>
                <a:latin typeface="Times New Roman" pitchFamily="18" charset="0"/>
                <a:ea typeface="楷体_GB2312" pitchFamily="49" charset="-122"/>
              </a:rPr>
              <a:t> </a:t>
            </a:r>
            <a:r>
              <a:rPr lang="zh-CN" altLang="en-US" sz="2800" b="1" dirty="0">
                <a:solidFill>
                  <a:srgbClr val="000000"/>
                </a:solidFill>
                <a:latin typeface="Times New Roman" pitchFamily="18" charset="0"/>
                <a:ea typeface="楷体_GB2312" pitchFamily="49" charset="-122"/>
              </a:rPr>
              <a:t>，上式中</a:t>
            </a:r>
            <a:r>
              <a:rPr lang="el-GR" altLang="zh-CN" sz="2800" b="1" i="1" dirty="0">
                <a:solidFill>
                  <a:srgbClr val="000000"/>
                </a:solidFill>
                <a:latin typeface="Times New Roman" pitchFamily="18" charset="0"/>
                <a:ea typeface="楷体_GB2312" pitchFamily="49" charset="-122"/>
                <a:cs typeface="Times New Roman" pitchFamily="18" charset="0"/>
              </a:rPr>
              <a:t>λ</a:t>
            </a:r>
            <a:r>
              <a:rPr lang="zh-CN" altLang="en-US" sz="2800" b="1" dirty="0">
                <a:solidFill>
                  <a:srgbClr val="000000"/>
                </a:solidFill>
                <a:latin typeface="Times New Roman" pitchFamily="18" charset="0"/>
                <a:ea typeface="楷体_GB2312" pitchFamily="49" charset="-122"/>
              </a:rPr>
              <a:t>为热载流子的平均自由程。</a:t>
            </a:r>
          </a:p>
        </p:txBody>
      </p:sp>
    </p:spTree>
    <p:extLst>
      <p:ext uri="{BB962C8B-B14F-4D97-AF65-F5344CB8AC3E}">
        <p14:creationId xmlns:p14="http://schemas.microsoft.com/office/powerpoint/2010/main" val="35981386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97</a:t>
            </a:fld>
            <a:endParaRPr lang="zh-CN" altLang="en-US"/>
          </a:p>
        </p:txBody>
      </p:sp>
      <p:sp>
        <p:nvSpPr>
          <p:cNvPr id="4" name="Rectangle 2"/>
          <p:cNvSpPr txBox="1">
            <a:spLocks noChangeArrowheads="1"/>
          </p:cNvSpPr>
          <p:nvPr/>
        </p:nvSpPr>
        <p:spPr>
          <a:xfrm>
            <a:off x="252000" y="252000"/>
            <a:ext cx="8229600" cy="563562"/>
          </a:xfrm>
          <a:prstGeom prst="rect">
            <a:avLst/>
          </a:prstGeom>
        </p:spPr>
        <p:txBody>
          <a:bodyPr/>
          <a:lstStyle>
            <a:lvl1pPr algn="l" rtl="0" fontAlgn="base">
              <a:spcBef>
                <a:spcPct val="0"/>
              </a:spcBef>
              <a:spcAft>
                <a:spcPct val="0"/>
              </a:spcAft>
              <a:defRPr lang="zh-CN" altLang="en-US" sz="2800" b="1" dirty="0" smtClean="0">
                <a:solidFill>
                  <a:schemeClr val="tx2"/>
                </a:solidFill>
                <a:latin typeface="Times New Roman" pitchFamily="18" charset="0"/>
                <a:ea typeface="楷体_GB2312" pitchFamily="49" charset="-122"/>
                <a:cs typeface="Times New Roman" pitchFamily="18" charset="0"/>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defTabSz="914400"/>
            <a:r>
              <a:rPr kumimoji="1" lang="en-US" altLang="zh-CN" kern="0" dirty="0" smtClean="0">
                <a:solidFill>
                  <a:srgbClr val="FF3300"/>
                </a:solidFill>
                <a:ea typeface="宋体" pitchFamily="2" charset="-122"/>
                <a:cs typeface="+mn-cs"/>
              </a:rPr>
              <a:t>6. </a:t>
            </a:r>
            <a:r>
              <a:rPr kumimoji="1" lang="zh-CN" altLang="en-US" kern="0" dirty="0" smtClean="0">
                <a:solidFill>
                  <a:srgbClr val="FF3300"/>
                </a:solidFill>
                <a:ea typeface="宋体" pitchFamily="2" charset="-122"/>
                <a:cs typeface="+mn-cs"/>
              </a:rPr>
              <a:t>源漏寄生电阻</a:t>
            </a:r>
            <a:endParaRPr kumimoji="1" lang="zh-CN" altLang="en-US" kern="0" dirty="0">
              <a:solidFill>
                <a:srgbClr val="FF3300"/>
              </a:solidFill>
              <a:ea typeface="宋体" pitchFamily="2" charset="-122"/>
              <a:cs typeface="+mn-cs"/>
            </a:endParaRPr>
          </a:p>
        </p:txBody>
      </p:sp>
      <p:pic>
        <p:nvPicPr>
          <p:cNvPr id="5" name="Picture 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970" y="1160256"/>
            <a:ext cx="2984500" cy="151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p:cNvSpPr txBox="1">
            <a:spLocks noChangeArrowheads="1"/>
          </p:cNvSpPr>
          <p:nvPr/>
        </p:nvSpPr>
        <p:spPr bwMode="auto">
          <a:xfrm>
            <a:off x="1033871" y="4248066"/>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a:buFontTx/>
              <a:buChar char="•"/>
            </a:pPr>
            <a:r>
              <a:rPr lang="zh-TW" altLang="en-US" sz="2400" b="0" dirty="0">
                <a:ea typeface="新細明體" pitchFamily="18" charset="-120"/>
              </a:rPr>
              <a:t>  </a:t>
            </a:r>
            <a:r>
              <a:rPr lang="en-US" altLang="zh-TW" sz="2400" b="0" dirty="0" smtClean="0">
                <a:ea typeface="新細明體" pitchFamily="18" charset="-120"/>
              </a:rPr>
              <a:t>I</a:t>
            </a:r>
            <a:r>
              <a:rPr lang="en-US" altLang="zh-TW" sz="2400" b="0" baseline="-25000" dirty="0" smtClean="0">
                <a:ea typeface="新細明體" pitchFamily="18" charset="-120"/>
              </a:rPr>
              <a:t>dsat</a:t>
            </a:r>
            <a:r>
              <a:rPr lang="en-US" altLang="zh-TW" sz="2400" b="0" i="0" baseline="-25000" dirty="0" smtClean="0">
                <a:ea typeface="新細明體" pitchFamily="18" charset="-120"/>
              </a:rPr>
              <a:t>0</a:t>
            </a:r>
            <a:r>
              <a:rPr lang="en-US" altLang="zh-TW" sz="2400" b="0" dirty="0" smtClean="0">
                <a:ea typeface="新細明體" pitchFamily="18" charset="-120"/>
              </a:rPr>
              <a:t> </a:t>
            </a:r>
            <a:r>
              <a:rPr lang="en-US" altLang="zh-TW" sz="2400" b="0" i="0" dirty="0">
                <a:ea typeface="新細明體" pitchFamily="18" charset="-120"/>
                <a:sym typeface="Symbol" panose="05050102010706020507" pitchFamily="18" charset="2"/>
              </a:rPr>
              <a:t></a:t>
            </a:r>
            <a:r>
              <a:rPr lang="en-US" altLang="zh-TW" sz="2400" b="0" dirty="0">
                <a:ea typeface="新細明體" pitchFamily="18" charset="-120"/>
                <a:sym typeface="Symbol" panose="05050102010706020507" pitchFamily="18" charset="2"/>
              </a:rPr>
              <a:t> V</a:t>
            </a:r>
            <a:r>
              <a:rPr lang="en-US" altLang="zh-TW" sz="2400" b="0" baseline="-25000" dirty="0">
                <a:ea typeface="新細明體" pitchFamily="18" charset="-120"/>
                <a:sym typeface="Symbol" panose="05050102010706020507" pitchFamily="18" charset="2"/>
              </a:rPr>
              <a:t>g </a:t>
            </a:r>
            <a:r>
              <a:rPr lang="en-US" altLang="zh-TW" sz="2400" b="0" dirty="0">
                <a:ea typeface="新細明體" pitchFamily="18" charset="-120"/>
                <a:sym typeface="Symbol" panose="05050102010706020507" pitchFamily="18" charset="2"/>
              </a:rPr>
              <a:t>– </a:t>
            </a:r>
            <a:r>
              <a:rPr lang="en-US" altLang="zh-TW" sz="2400" b="0" dirty="0" err="1">
                <a:ea typeface="新細明體" pitchFamily="18" charset="-120"/>
                <a:sym typeface="Symbol" panose="05050102010706020507" pitchFamily="18" charset="2"/>
              </a:rPr>
              <a:t>V</a:t>
            </a:r>
            <a:r>
              <a:rPr lang="en-US" altLang="zh-TW" sz="2400" b="0" baseline="-25000" dirty="0" err="1">
                <a:ea typeface="新細明體" pitchFamily="18" charset="-120"/>
                <a:sym typeface="Symbol" panose="05050102010706020507" pitchFamily="18" charset="2"/>
              </a:rPr>
              <a:t>t</a:t>
            </a:r>
            <a:r>
              <a:rPr lang="en-US" altLang="zh-TW" sz="2400" b="0" baseline="-25000" dirty="0">
                <a:ea typeface="新細明體" pitchFamily="18" charset="-120"/>
                <a:sym typeface="Symbol" panose="05050102010706020507" pitchFamily="18" charset="2"/>
              </a:rPr>
              <a:t> </a:t>
            </a:r>
            <a:r>
              <a:rPr lang="en-US" altLang="zh-TW" sz="2400" b="0" dirty="0">
                <a:ea typeface="新細明體" pitchFamily="18" charset="-120"/>
                <a:sym typeface="Symbol" panose="05050102010706020507" pitchFamily="18" charset="2"/>
              </a:rPr>
              <a:t>,</a:t>
            </a:r>
            <a:endParaRPr lang="en-US" altLang="zh-TW" sz="2400" b="0" dirty="0">
              <a:ea typeface="新細明體" pitchFamily="18" charset="-120"/>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2822211277"/>
              </p:ext>
            </p:extLst>
          </p:nvPr>
        </p:nvGraphicFramePr>
        <p:xfrm>
          <a:off x="3853271" y="4102376"/>
          <a:ext cx="2530475" cy="1317625"/>
        </p:xfrm>
        <a:graphic>
          <a:graphicData uri="http://schemas.openxmlformats.org/presentationml/2006/ole">
            <mc:AlternateContent xmlns:mc="http://schemas.openxmlformats.org/markup-compatibility/2006">
              <mc:Choice xmlns:v="urn:schemas-microsoft-com:vml" Requires="v">
                <p:oleObj spid="_x0000_s239654" name="Equation" r:id="rId4" imgW="1218960" imgH="634680" progId="Equation.3">
                  <p:embed/>
                </p:oleObj>
              </mc:Choice>
              <mc:Fallback>
                <p:oleObj name="Equation" r:id="rId4" imgW="1218960" imgH="634680" progId="Equation.3">
                  <p:embed/>
                  <p:pic>
                    <p:nvPicPr>
                      <p:cNvPr id="2150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3271" y="4102376"/>
                        <a:ext cx="2530475" cy="131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
          <p:cNvSpPr txBox="1">
            <a:spLocks noChangeArrowheads="1"/>
          </p:cNvSpPr>
          <p:nvPr/>
        </p:nvSpPr>
        <p:spPr bwMode="auto">
          <a:xfrm>
            <a:off x="1037812" y="5396426"/>
            <a:ext cx="7443788"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15000"/>
              </a:spcBef>
              <a:spcAft>
                <a:spcPct val="25000"/>
              </a:spcAft>
              <a:buClrTx/>
              <a:buSzTx/>
              <a:buFontTx/>
              <a:buChar char="•"/>
              <a:tabLst/>
              <a:defRPr/>
            </a:pPr>
            <a:r>
              <a:rPr kumimoji="0" lang="zh-TW" altLang="en-US"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1" u="none" strike="noStrike" kern="0" cap="none" spc="0" normalizeH="0" baseline="0" noProof="0" dirty="0" err="1" smtClean="0">
                <a:ln>
                  <a:noFill/>
                </a:ln>
                <a:solidFill>
                  <a:srgbClr val="000000"/>
                </a:solidFill>
                <a:effectLst/>
                <a:uLnTx/>
                <a:uFillTx/>
                <a:latin typeface="Times New Roman" panose="02020603050405020304" pitchFamily="18" charset="0"/>
              </a:rPr>
              <a:t>I</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dsat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lang="zh-CN" altLang="en-US" sz="2400" i="0" dirty="0">
                <a:solidFill>
                  <a:srgbClr val="000000"/>
                </a:solidFill>
                <a:ea typeface="楷体_GB2312" pitchFamily="49" charset="-122"/>
              </a:rPr>
              <a:t>可能会减小</a:t>
            </a:r>
            <a:r>
              <a:rPr lang="en-US" altLang="zh-CN" sz="2400" i="0" dirty="0">
                <a:solidFill>
                  <a:srgbClr val="000000"/>
                </a:solidFill>
                <a:ea typeface="楷体_GB2312" pitchFamily="49" charset="-122"/>
              </a:rPr>
              <a:t>15%</a:t>
            </a:r>
            <a:r>
              <a:rPr lang="zh-CN" altLang="en-US" sz="2400" i="0" dirty="0">
                <a:solidFill>
                  <a:srgbClr val="000000"/>
                </a:solidFill>
                <a:ea typeface="楷体_GB2312" pitchFamily="49" charset="-122"/>
              </a:rPr>
              <a:t>以上</a:t>
            </a:r>
            <a:endParaRPr lang="en-US" altLang="zh-CN" sz="2400" i="0" dirty="0">
              <a:solidFill>
                <a:srgbClr val="000000"/>
              </a:solidFill>
              <a:ea typeface="楷体_GB2312" pitchFamily="49" charset="-122"/>
            </a:endParaRPr>
          </a:p>
          <a:p>
            <a:pPr marL="0" marR="0" lvl="0" indent="0" defTabSz="914400" eaLnBrk="0" fontAlgn="base" latinLnBrk="0" hangingPunct="0">
              <a:lnSpc>
                <a:spcPct val="100000"/>
              </a:lnSpc>
              <a:spcBef>
                <a:spcPct val="15000"/>
              </a:spcBef>
              <a:spcAft>
                <a:spcPct val="25000"/>
              </a:spcAft>
              <a:buClrTx/>
              <a:buSzTx/>
              <a:buFontTx/>
              <a:buChar char="•"/>
              <a:tabLst/>
              <a:defRPr/>
            </a:pP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a:t>
            </a:r>
            <a:r>
              <a:rPr kumimoji="0" lang="en-US" altLang="zh-TW" sz="2400" b="0" i="1" u="none" strike="noStrike" kern="0" cap="none" spc="0" normalizeH="0" baseline="0" noProof="0" dirty="0" err="1" smtClean="0">
                <a:ln>
                  <a:noFill/>
                </a:ln>
                <a:solidFill>
                  <a:srgbClr val="000000"/>
                </a:solidFill>
                <a:effectLst/>
                <a:uLnTx/>
                <a:uFillTx/>
                <a:latin typeface="Times New Roman" panose="02020603050405020304" pitchFamily="18" charset="0"/>
              </a:rPr>
              <a:t>V</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dsat</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 V</a:t>
            </a:r>
            <a:r>
              <a:rPr kumimoji="0" lang="en-US" altLang="zh-TW" sz="2400" b="0" i="1" u="none" strike="noStrike" kern="0" cap="none" spc="0" normalizeH="0" baseline="-25000" noProof="0" dirty="0" smtClean="0">
                <a:ln>
                  <a:noFill/>
                </a:ln>
                <a:solidFill>
                  <a:srgbClr val="000000"/>
                </a:solidFill>
                <a:effectLst/>
                <a:uLnTx/>
                <a:uFillTx/>
                <a:latin typeface="Times New Roman" panose="02020603050405020304" pitchFamily="18" charset="0"/>
              </a:rPr>
              <a:t>dsat</a:t>
            </a:r>
            <a:r>
              <a:rPr kumimoji="0" lang="en-US" altLang="zh-TW" sz="2400" b="0" i="0" u="none" strike="noStrike" kern="0" cap="none" spc="0" normalizeH="0" baseline="-25000" noProof="0" dirty="0" smtClean="0">
                <a:ln>
                  <a:noFill/>
                </a:ln>
                <a:solidFill>
                  <a:srgbClr val="000000"/>
                </a:solidFill>
                <a:effectLst/>
                <a:uLnTx/>
                <a:uFillTx/>
                <a:latin typeface="Times New Roman" panose="02020603050405020304" pitchFamily="18" charset="0"/>
              </a:rPr>
              <a:t>0</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 </a:t>
            </a:r>
            <a:r>
              <a:rPr kumimoji="0" lang="en-US" altLang="zh-TW" sz="2400" b="0" i="1" u="none" strike="noStrike" kern="0" cap="none" spc="0" normalizeH="0" baseline="0" noProof="0" dirty="0" err="1" smtClean="0">
                <a:ln>
                  <a:noFill/>
                </a:ln>
                <a:solidFill>
                  <a:srgbClr val="000000"/>
                </a:solidFill>
                <a:effectLst/>
                <a:uLnTx/>
                <a:uFillTx/>
                <a:latin typeface="Times New Roman" panose="02020603050405020304" pitchFamily="18" charset="0"/>
              </a:rPr>
              <a:t>I</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dsat</a:t>
            </a:r>
            <a:r>
              <a:rPr kumimoji="0" lang="en-US" altLang="zh-TW" sz="2400" b="0" i="1" u="none" strike="noStrike" kern="0" cap="none" spc="0" normalizeH="0" baseline="-25000" noProof="0" dirty="0" smtClean="0">
                <a:ln>
                  <a:noFill/>
                </a:ln>
                <a:solidFill>
                  <a:srgbClr val="000000"/>
                </a:solidFill>
                <a:effectLst/>
                <a:uLnTx/>
                <a:uFillTx/>
                <a:latin typeface="Times New Roman" panose="02020603050405020304" pitchFamily="18" charset="0"/>
              </a:rPr>
              <a:t> </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a:t>
            </a:r>
            <a:r>
              <a:rPr kumimoji="0" lang="en-US" altLang="zh-TW" sz="2400" b="0" i="1" u="none" strike="noStrike" kern="0" cap="none" spc="0" normalizeH="0" baseline="0" noProof="0" dirty="0" err="1" smtClean="0">
                <a:ln>
                  <a:noFill/>
                </a:ln>
                <a:solidFill>
                  <a:srgbClr val="000000"/>
                </a:solidFill>
                <a:effectLst/>
                <a:uLnTx/>
                <a:uFillTx/>
                <a:latin typeface="Times New Roman" panose="02020603050405020304" pitchFamily="18" charset="0"/>
              </a:rPr>
              <a:t>R</a:t>
            </a:r>
            <a:r>
              <a:rPr kumimoji="0" lang="en-US" altLang="zh-TW" sz="2400" b="0" i="1" u="none" strike="noStrike" kern="0" cap="none" spc="0" normalizeH="0" baseline="-25000" noProof="0" dirty="0" err="1" smtClean="0">
                <a:ln>
                  <a:noFill/>
                </a:ln>
                <a:solidFill>
                  <a:srgbClr val="000000"/>
                </a:solidFill>
                <a:effectLst/>
                <a:uLnTx/>
                <a:uFillTx/>
                <a:latin typeface="Times New Roman" panose="02020603050405020304" pitchFamily="18" charset="0"/>
              </a:rPr>
              <a:t>s</a:t>
            </a:r>
            <a:r>
              <a:rPr kumimoji="0" lang="en-US" altLang="zh-TW" sz="2400" b="0" i="1" u="none" strike="noStrike" kern="0" cap="none" spc="0" normalizeH="0" baseline="-25000" noProof="0" dirty="0" smtClean="0">
                <a:ln>
                  <a:noFill/>
                </a:ln>
                <a:solidFill>
                  <a:srgbClr val="000000"/>
                </a:solidFill>
                <a:effectLst/>
                <a:uLnTx/>
                <a:uFillTx/>
                <a:latin typeface="Times New Roman" panose="02020603050405020304" pitchFamily="18" charset="0"/>
              </a:rPr>
              <a:t> </a:t>
            </a:r>
            <a:r>
              <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rPr>
              <a:t>+ R</a:t>
            </a:r>
            <a:r>
              <a:rPr kumimoji="0" lang="en-US" altLang="zh-TW" sz="2400" b="0" i="1" u="none" strike="noStrike" kern="0" cap="none" spc="0" normalizeH="0" baseline="-25000" noProof="0" dirty="0" smtClean="0">
                <a:ln>
                  <a:noFill/>
                </a:ln>
                <a:solidFill>
                  <a:srgbClr val="000000"/>
                </a:solidFill>
                <a:effectLst/>
                <a:uLnTx/>
                <a:uFillTx/>
                <a:latin typeface="Times New Roman" panose="02020603050405020304" pitchFamily="18" charset="0"/>
              </a:rPr>
              <a:t>d</a:t>
            </a:r>
            <a:r>
              <a:rPr kumimoji="0" lang="en-US" altLang="zh-TW" sz="2400" b="0" i="0" u="none" strike="noStrike" kern="0" cap="none" spc="0" normalizeH="0" baseline="0" noProof="0" dirty="0" smtClean="0">
                <a:ln>
                  <a:noFill/>
                </a:ln>
                <a:solidFill>
                  <a:srgbClr val="000000"/>
                </a:solidFill>
                <a:effectLst/>
                <a:uLnTx/>
                <a:uFillTx/>
                <a:latin typeface="Times New Roman" panose="02020603050405020304" pitchFamily="18" charset="0"/>
              </a:rPr>
              <a:t>)</a:t>
            </a:r>
            <a:endParaRPr kumimoji="0" lang="en-US" altLang="zh-TW" sz="2400" b="0" i="1" u="none" strike="noStrike" kern="0" cap="none" spc="0" normalizeH="0" baseline="0" noProof="0" dirty="0" smtClean="0">
              <a:ln>
                <a:noFill/>
              </a:ln>
              <a:solidFill>
                <a:srgbClr val="000000"/>
              </a:solidFill>
              <a:effectLst/>
              <a:uLnTx/>
              <a:uFillTx/>
              <a:latin typeface="Times New Roman" panose="02020603050405020304" pitchFamily="18" charset="0"/>
            </a:endParaRPr>
          </a:p>
        </p:txBody>
      </p:sp>
      <p:grpSp>
        <p:nvGrpSpPr>
          <p:cNvPr id="9" name="Group 144"/>
          <p:cNvGrpSpPr>
            <a:grpSpLocks/>
          </p:cNvGrpSpPr>
          <p:nvPr/>
        </p:nvGrpSpPr>
        <p:grpSpPr bwMode="auto">
          <a:xfrm>
            <a:off x="4619881" y="518645"/>
            <a:ext cx="3595687" cy="2867025"/>
            <a:chOff x="2535" y="620"/>
            <a:chExt cx="2265" cy="1806"/>
          </a:xfrm>
        </p:grpSpPr>
        <p:sp>
          <p:nvSpPr>
            <p:cNvPr id="10" name="Rectangle 1070"/>
            <p:cNvSpPr>
              <a:spLocks noChangeArrowheads="1"/>
            </p:cNvSpPr>
            <p:nvPr/>
          </p:nvSpPr>
          <p:spPr bwMode="auto">
            <a:xfrm>
              <a:off x="2643" y="1494"/>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1" name="Rectangle 1071"/>
            <p:cNvSpPr>
              <a:spLocks noChangeArrowheads="1"/>
            </p:cNvSpPr>
            <p:nvPr/>
          </p:nvSpPr>
          <p:spPr bwMode="auto">
            <a:xfrm>
              <a:off x="4799" y="1494"/>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2" name="Rectangle 1072"/>
            <p:cNvSpPr>
              <a:spLocks noChangeArrowheads="1"/>
            </p:cNvSpPr>
            <p:nvPr/>
          </p:nvSpPr>
          <p:spPr bwMode="auto">
            <a:xfrm>
              <a:off x="2643" y="1494"/>
              <a:ext cx="2156"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3" name="Rectangle 1073"/>
            <p:cNvSpPr>
              <a:spLocks noChangeArrowheads="1"/>
            </p:cNvSpPr>
            <p:nvPr/>
          </p:nvSpPr>
          <p:spPr bwMode="auto">
            <a:xfrm>
              <a:off x="4799" y="1278"/>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4" name="Rectangle 1074"/>
            <p:cNvSpPr>
              <a:spLocks noChangeArrowheads="1"/>
            </p:cNvSpPr>
            <p:nvPr/>
          </p:nvSpPr>
          <p:spPr bwMode="auto">
            <a:xfrm>
              <a:off x="4152" y="1278"/>
              <a:ext cx="647"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5" name="Rectangle 1075"/>
            <p:cNvSpPr>
              <a:spLocks noChangeArrowheads="1"/>
            </p:cNvSpPr>
            <p:nvPr/>
          </p:nvSpPr>
          <p:spPr bwMode="auto">
            <a:xfrm>
              <a:off x="4152" y="1063"/>
              <a:ext cx="12" cy="215"/>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6" name="Rectangle 1076"/>
            <p:cNvSpPr>
              <a:spLocks noChangeArrowheads="1"/>
            </p:cNvSpPr>
            <p:nvPr/>
          </p:nvSpPr>
          <p:spPr bwMode="auto">
            <a:xfrm>
              <a:off x="4799" y="1063"/>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7" name="Rectangle 1077"/>
            <p:cNvSpPr>
              <a:spLocks noChangeArrowheads="1"/>
            </p:cNvSpPr>
            <p:nvPr/>
          </p:nvSpPr>
          <p:spPr bwMode="auto">
            <a:xfrm>
              <a:off x="4152" y="1063"/>
              <a:ext cx="647"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8" name="Rectangle 1078"/>
            <p:cNvSpPr>
              <a:spLocks noChangeArrowheads="1"/>
            </p:cNvSpPr>
            <p:nvPr/>
          </p:nvSpPr>
          <p:spPr bwMode="auto">
            <a:xfrm>
              <a:off x="4152" y="955"/>
              <a:ext cx="647" cy="108"/>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9" name="Rectangle 1079"/>
            <p:cNvSpPr>
              <a:spLocks noChangeArrowheads="1"/>
            </p:cNvSpPr>
            <p:nvPr/>
          </p:nvSpPr>
          <p:spPr bwMode="auto">
            <a:xfrm>
              <a:off x="4799" y="95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0" name="Rectangle 1080"/>
            <p:cNvSpPr>
              <a:spLocks noChangeArrowheads="1"/>
            </p:cNvSpPr>
            <p:nvPr/>
          </p:nvSpPr>
          <p:spPr bwMode="auto">
            <a:xfrm>
              <a:off x="4152" y="955"/>
              <a:ext cx="647"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1" name="Rectangle 1081"/>
            <p:cNvSpPr>
              <a:spLocks noChangeArrowheads="1"/>
            </p:cNvSpPr>
            <p:nvPr/>
          </p:nvSpPr>
          <p:spPr bwMode="auto">
            <a:xfrm>
              <a:off x="4152" y="955"/>
              <a:ext cx="12" cy="120"/>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2" name="Rectangle 1082"/>
            <p:cNvSpPr>
              <a:spLocks noChangeArrowheads="1"/>
            </p:cNvSpPr>
            <p:nvPr/>
          </p:nvSpPr>
          <p:spPr bwMode="auto">
            <a:xfrm>
              <a:off x="4799" y="1063"/>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3" name="Rectangle 1083"/>
            <p:cNvSpPr>
              <a:spLocks noChangeArrowheads="1"/>
            </p:cNvSpPr>
            <p:nvPr/>
          </p:nvSpPr>
          <p:spPr bwMode="auto">
            <a:xfrm>
              <a:off x="4152" y="1063"/>
              <a:ext cx="647"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4" name="Rectangle 1084"/>
            <p:cNvSpPr>
              <a:spLocks noChangeArrowheads="1"/>
            </p:cNvSpPr>
            <p:nvPr/>
          </p:nvSpPr>
          <p:spPr bwMode="auto">
            <a:xfrm>
              <a:off x="2643" y="192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5" name="Rectangle 1085"/>
            <p:cNvSpPr>
              <a:spLocks noChangeArrowheads="1"/>
            </p:cNvSpPr>
            <p:nvPr/>
          </p:nvSpPr>
          <p:spPr bwMode="auto">
            <a:xfrm>
              <a:off x="3709" y="192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6" name="Rectangle 1086"/>
            <p:cNvSpPr>
              <a:spLocks noChangeArrowheads="1"/>
            </p:cNvSpPr>
            <p:nvPr/>
          </p:nvSpPr>
          <p:spPr bwMode="auto">
            <a:xfrm>
              <a:off x="2643" y="1925"/>
              <a:ext cx="1066"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7" name="Rectangle 1087"/>
            <p:cNvSpPr>
              <a:spLocks noChangeArrowheads="1"/>
            </p:cNvSpPr>
            <p:nvPr/>
          </p:nvSpPr>
          <p:spPr bwMode="auto">
            <a:xfrm>
              <a:off x="4152" y="1494"/>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8" name="Freeform 1088"/>
            <p:cNvSpPr>
              <a:spLocks/>
            </p:cNvSpPr>
            <p:nvPr/>
          </p:nvSpPr>
          <p:spPr bwMode="auto">
            <a:xfrm>
              <a:off x="4068" y="1494"/>
              <a:ext cx="96" cy="215"/>
            </a:xfrm>
            <a:custGeom>
              <a:avLst/>
              <a:gdLst>
                <a:gd name="T0" fmla="*/ 2147483647 w 96"/>
                <a:gd name="T1" fmla="*/ 0 h 215"/>
                <a:gd name="T2" fmla="*/ 2147483647 w 96"/>
                <a:gd name="T3" fmla="*/ 2147483647 h 215"/>
                <a:gd name="T4" fmla="*/ 2147483647 w 96"/>
                <a:gd name="T5" fmla="*/ 2147483647 h 215"/>
                <a:gd name="T6" fmla="*/ 2147483647 w 96"/>
                <a:gd name="T7" fmla="*/ 2147483647 h 215"/>
                <a:gd name="T8" fmla="*/ 2147483647 w 96"/>
                <a:gd name="T9" fmla="*/ 2147483647 h 215"/>
                <a:gd name="T10" fmla="*/ 0 w 96"/>
                <a:gd name="T11" fmla="*/ 2147483647 h 215"/>
                <a:gd name="T12" fmla="*/ 0 w 96"/>
                <a:gd name="T13" fmla="*/ 2147483647 h 215"/>
                <a:gd name="T14" fmla="*/ 0 w 96"/>
                <a:gd name="T15" fmla="*/ 2147483647 h 215"/>
                <a:gd name="T16" fmla="*/ 2147483647 w 96"/>
                <a:gd name="T17" fmla="*/ 2147483647 h 215"/>
                <a:gd name="T18" fmla="*/ 2147483647 w 96"/>
                <a:gd name="T19" fmla="*/ 2147483647 h 215"/>
                <a:gd name="T20" fmla="*/ 2147483647 w 96"/>
                <a:gd name="T21" fmla="*/ 2147483647 h 215"/>
                <a:gd name="T22" fmla="*/ 2147483647 w 96"/>
                <a:gd name="T23" fmla="*/ 0 h 215"/>
                <a:gd name="T24" fmla="*/ 2147483647 w 96"/>
                <a:gd name="T25" fmla="*/ 0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6"/>
                <a:gd name="T40" fmla="*/ 0 h 215"/>
                <a:gd name="T41" fmla="*/ 96 w 96"/>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6" h="215">
                  <a:moveTo>
                    <a:pt x="96" y="0"/>
                  </a:moveTo>
                  <a:lnTo>
                    <a:pt x="72" y="108"/>
                  </a:lnTo>
                  <a:lnTo>
                    <a:pt x="72" y="119"/>
                  </a:lnTo>
                  <a:lnTo>
                    <a:pt x="12" y="215"/>
                  </a:lnTo>
                  <a:lnTo>
                    <a:pt x="0" y="215"/>
                  </a:lnTo>
                  <a:lnTo>
                    <a:pt x="0" y="203"/>
                  </a:lnTo>
                  <a:lnTo>
                    <a:pt x="60" y="108"/>
                  </a:lnTo>
                  <a:lnTo>
                    <a:pt x="84" y="0"/>
                  </a:lnTo>
                  <a:lnTo>
                    <a:pt x="96" y="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29" name="Freeform 1089"/>
            <p:cNvSpPr>
              <a:spLocks/>
            </p:cNvSpPr>
            <p:nvPr/>
          </p:nvSpPr>
          <p:spPr bwMode="auto">
            <a:xfrm>
              <a:off x="3961" y="1697"/>
              <a:ext cx="107" cy="72"/>
            </a:xfrm>
            <a:custGeom>
              <a:avLst/>
              <a:gdLst>
                <a:gd name="T0" fmla="*/ 2147483647 w 107"/>
                <a:gd name="T1" fmla="*/ 2147483647 h 72"/>
                <a:gd name="T2" fmla="*/ 0 w 107"/>
                <a:gd name="T3" fmla="*/ 2147483647 h 72"/>
                <a:gd name="T4" fmla="*/ 0 w 107"/>
                <a:gd name="T5" fmla="*/ 2147483647 h 72"/>
                <a:gd name="T6" fmla="*/ 0 w 107"/>
                <a:gd name="T7" fmla="*/ 2147483647 h 72"/>
                <a:gd name="T8" fmla="*/ 0 w 107"/>
                <a:gd name="T9" fmla="*/ 2147483647 h 72"/>
                <a:gd name="T10" fmla="*/ 2147483647 w 107"/>
                <a:gd name="T11" fmla="*/ 0 h 72"/>
                <a:gd name="T12" fmla="*/ 2147483647 w 107"/>
                <a:gd name="T13" fmla="*/ 2147483647 h 72"/>
                <a:gd name="T14" fmla="*/ 0 60000 65536"/>
                <a:gd name="T15" fmla="*/ 0 60000 65536"/>
                <a:gd name="T16" fmla="*/ 0 60000 65536"/>
                <a:gd name="T17" fmla="*/ 0 60000 65536"/>
                <a:gd name="T18" fmla="*/ 0 60000 65536"/>
                <a:gd name="T19" fmla="*/ 0 60000 65536"/>
                <a:gd name="T20" fmla="*/ 0 60000 65536"/>
                <a:gd name="T21" fmla="*/ 0 w 107"/>
                <a:gd name="T22" fmla="*/ 0 h 72"/>
                <a:gd name="T23" fmla="*/ 107 w 107"/>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7" h="72">
                  <a:moveTo>
                    <a:pt x="107" y="12"/>
                  </a:moveTo>
                  <a:lnTo>
                    <a:pt x="0" y="72"/>
                  </a:lnTo>
                  <a:lnTo>
                    <a:pt x="0" y="60"/>
                  </a:lnTo>
                  <a:lnTo>
                    <a:pt x="107" y="0"/>
                  </a:lnTo>
                  <a:lnTo>
                    <a:pt x="107"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0" name="Rectangle 1090"/>
            <p:cNvSpPr>
              <a:spLocks noChangeArrowheads="1"/>
            </p:cNvSpPr>
            <p:nvPr/>
          </p:nvSpPr>
          <p:spPr bwMode="auto">
            <a:xfrm>
              <a:off x="3841" y="1769"/>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1" name="Freeform 1091"/>
            <p:cNvSpPr>
              <a:spLocks/>
            </p:cNvSpPr>
            <p:nvPr/>
          </p:nvSpPr>
          <p:spPr bwMode="auto">
            <a:xfrm>
              <a:off x="3841" y="1757"/>
              <a:ext cx="120" cy="24"/>
            </a:xfrm>
            <a:custGeom>
              <a:avLst/>
              <a:gdLst>
                <a:gd name="T0" fmla="*/ 2147483647 w 120"/>
                <a:gd name="T1" fmla="*/ 2147483647 h 24"/>
                <a:gd name="T2" fmla="*/ 2147483647 w 120"/>
                <a:gd name="T3" fmla="*/ 0 h 24"/>
                <a:gd name="T4" fmla="*/ 0 w 120"/>
                <a:gd name="T5" fmla="*/ 2147483647 h 24"/>
                <a:gd name="T6" fmla="*/ 0 w 120"/>
                <a:gd name="T7" fmla="*/ 2147483647 h 24"/>
                <a:gd name="T8" fmla="*/ 2147483647 w 120"/>
                <a:gd name="T9" fmla="*/ 2147483647 h 24"/>
                <a:gd name="T10" fmla="*/ 0 60000 65536"/>
                <a:gd name="T11" fmla="*/ 0 60000 65536"/>
                <a:gd name="T12" fmla="*/ 0 60000 65536"/>
                <a:gd name="T13" fmla="*/ 0 60000 65536"/>
                <a:gd name="T14" fmla="*/ 0 60000 65536"/>
                <a:gd name="T15" fmla="*/ 0 w 120"/>
                <a:gd name="T16" fmla="*/ 0 h 24"/>
                <a:gd name="T17" fmla="*/ 120 w 120"/>
                <a:gd name="T18" fmla="*/ 24 h 24"/>
              </a:gdLst>
              <a:ahLst/>
              <a:cxnLst>
                <a:cxn ang="T10">
                  <a:pos x="T0" y="T1"/>
                </a:cxn>
                <a:cxn ang="T11">
                  <a:pos x="T2" y="T3"/>
                </a:cxn>
                <a:cxn ang="T12">
                  <a:pos x="T4" y="T5"/>
                </a:cxn>
                <a:cxn ang="T13">
                  <a:pos x="T6" y="T7"/>
                </a:cxn>
                <a:cxn ang="T14">
                  <a:pos x="T8" y="T9"/>
                </a:cxn>
              </a:cxnLst>
              <a:rect l="T15" t="T16" r="T17" b="T18"/>
              <a:pathLst>
                <a:path w="120" h="24">
                  <a:moveTo>
                    <a:pt x="120" y="12"/>
                  </a:moveTo>
                  <a:lnTo>
                    <a:pt x="120" y="0"/>
                  </a:lnTo>
                  <a:lnTo>
                    <a:pt x="0" y="12"/>
                  </a:lnTo>
                  <a:lnTo>
                    <a:pt x="0" y="24"/>
                  </a:lnTo>
                  <a:lnTo>
                    <a:pt x="120"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2" name="Rectangle 1092"/>
            <p:cNvSpPr>
              <a:spLocks noChangeArrowheads="1"/>
            </p:cNvSpPr>
            <p:nvPr/>
          </p:nvSpPr>
          <p:spPr bwMode="auto">
            <a:xfrm>
              <a:off x="2643" y="1494"/>
              <a:ext cx="1078" cy="108"/>
            </a:xfrm>
            <a:prstGeom prst="rect">
              <a:avLst/>
            </a:prstGeom>
            <a:blipFill dpi="0" rotWithShape="0">
              <a:blip r:embed="rId8"/>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3" name="Rectangle 1093"/>
            <p:cNvSpPr>
              <a:spLocks noChangeArrowheads="1"/>
            </p:cNvSpPr>
            <p:nvPr/>
          </p:nvSpPr>
          <p:spPr bwMode="auto">
            <a:xfrm>
              <a:off x="2643" y="1494"/>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4" name="Rectangle 1094"/>
            <p:cNvSpPr>
              <a:spLocks noChangeArrowheads="1"/>
            </p:cNvSpPr>
            <p:nvPr/>
          </p:nvSpPr>
          <p:spPr bwMode="auto">
            <a:xfrm>
              <a:off x="2643" y="1494"/>
              <a:ext cx="1090"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5" name="Rectangle 1095"/>
            <p:cNvSpPr>
              <a:spLocks noChangeArrowheads="1"/>
            </p:cNvSpPr>
            <p:nvPr/>
          </p:nvSpPr>
          <p:spPr bwMode="auto">
            <a:xfrm>
              <a:off x="3721" y="1494"/>
              <a:ext cx="12" cy="119"/>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6" name="Rectangle 1096"/>
            <p:cNvSpPr>
              <a:spLocks noChangeArrowheads="1"/>
            </p:cNvSpPr>
            <p:nvPr/>
          </p:nvSpPr>
          <p:spPr bwMode="auto">
            <a:xfrm>
              <a:off x="2643" y="1602"/>
              <a:ext cx="1" cy="1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7" name="Rectangle 1097"/>
            <p:cNvSpPr>
              <a:spLocks noChangeArrowheads="1"/>
            </p:cNvSpPr>
            <p:nvPr/>
          </p:nvSpPr>
          <p:spPr bwMode="auto">
            <a:xfrm>
              <a:off x="2643" y="1602"/>
              <a:ext cx="1078" cy="1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8" name="Rectangle 1098"/>
            <p:cNvSpPr>
              <a:spLocks noChangeArrowheads="1"/>
            </p:cNvSpPr>
            <p:nvPr/>
          </p:nvSpPr>
          <p:spPr bwMode="auto">
            <a:xfrm>
              <a:off x="2643" y="955"/>
              <a:ext cx="647" cy="539"/>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39" name="Rectangle 1099"/>
            <p:cNvSpPr>
              <a:spLocks noChangeArrowheads="1"/>
            </p:cNvSpPr>
            <p:nvPr/>
          </p:nvSpPr>
          <p:spPr bwMode="auto">
            <a:xfrm>
              <a:off x="2643" y="95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0" name="Rectangle 1100"/>
            <p:cNvSpPr>
              <a:spLocks noChangeArrowheads="1"/>
            </p:cNvSpPr>
            <p:nvPr/>
          </p:nvSpPr>
          <p:spPr bwMode="auto">
            <a:xfrm>
              <a:off x="2643" y="955"/>
              <a:ext cx="659"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1" name="Rectangle 1101"/>
            <p:cNvSpPr>
              <a:spLocks noChangeArrowheads="1"/>
            </p:cNvSpPr>
            <p:nvPr/>
          </p:nvSpPr>
          <p:spPr bwMode="auto">
            <a:xfrm>
              <a:off x="3290" y="955"/>
              <a:ext cx="12" cy="55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2" name="Rectangle 1102"/>
            <p:cNvSpPr>
              <a:spLocks noChangeArrowheads="1"/>
            </p:cNvSpPr>
            <p:nvPr/>
          </p:nvSpPr>
          <p:spPr bwMode="auto">
            <a:xfrm>
              <a:off x="2643" y="1494"/>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3" name="Rectangle 1103"/>
            <p:cNvSpPr>
              <a:spLocks noChangeArrowheads="1"/>
            </p:cNvSpPr>
            <p:nvPr/>
          </p:nvSpPr>
          <p:spPr bwMode="auto">
            <a:xfrm>
              <a:off x="2643" y="1494"/>
              <a:ext cx="647"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4" name="Rectangle 1104"/>
            <p:cNvSpPr>
              <a:spLocks noChangeArrowheads="1"/>
            </p:cNvSpPr>
            <p:nvPr/>
          </p:nvSpPr>
          <p:spPr bwMode="auto">
            <a:xfrm>
              <a:off x="3685" y="1494"/>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5" name="Freeform 1105"/>
            <p:cNvSpPr>
              <a:spLocks/>
            </p:cNvSpPr>
            <p:nvPr/>
          </p:nvSpPr>
          <p:spPr bwMode="auto">
            <a:xfrm>
              <a:off x="3685" y="1051"/>
              <a:ext cx="216" cy="443"/>
            </a:xfrm>
            <a:custGeom>
              <a:avLst/>
              <a:gdLst>
                <a:gd name="T0" fmla="*/ 0 w 216"/>
                <a:gd name="T1" fmla="*/ 2147483647 h 443"/>
                <a:gd name="T2" fmla="*/ 2147483647 w 216"/>
                <a:gd name="T3" fmla="*/ 2147483647 h 443"/>
                <a:gd name="T4" fmla="*/ 2147483647 w 216"/>
                <a:gd name="T5" fmla="*/ 2147483647 h 443"/>
                <a:gd name="T6" fmla="*/ 2147483647 w 216"/>
                <a:gd name="T7" fmla="*/ 2147483647 h 443"/>
                <a:gd name="T8" fmla="*/ 2147483647 w 216"/>
                <a:gd name="T9" fmla="*/ 2147483647 h 443"/>
                <a:gd name="T10" fmla="*/ 2147483647 w 216"/>
                <a:gd name="T11" fmla="*/ 2147483647 h 443"/>
                <a:gd name="T12" fmla="*/ 2147483647 w 216"/>
                <a:gd name="T13" fmla="*/ 2147483647 h 443"/>
                <a:gd name="T14" fmla="*/ 2147483647 w 216"/>
                <a:gd name="T15" fmla="*/ 0 h 443"/>
                <a:gd name="T16" fmla="*/ 2147483647 w 216"/>
                <a:gd name="T17" fmla="*/ 0 h 443"/>
                <a:gd name="T18" fmla="*/ 2147483647 w 216"/>
                <a:gd name="T19" fmla="*/ 2147483647 h 443"/>
                <a:gd name="T20" fmla="*/ 2147483647 w 216"/>
                <a:gd name="T21" fmla="*/ 2147483647 h 443"/>
                <a:gd name="T22" fmla="*/ 2147483647 w 216"/>
                <a:gd name="T23" fmla="*/ 2147483647 h 443"/>
                <a:gd name="T24" fmla="*/ 2147483647 w 216"/>
                <a:gd name="T25" fmla="*/ 2147483647 h 443"/>
                <a:gd name="T26" fmla="*/ 2147483647 w 216"/>
                <a:gd name="T27" fmla="*/ 2147483647 h 443"/>
                <a:gd name="T28" fmla="*/ 2147483647 w 216"/>
                <a:gd name="T29" fmla="*/ 2147483647 h 443"/>
                <a:gd name="T30" fmla="*/ 2147483647 w 216"/>
                <a:gd name="T31" fmla="*/ 2147483647 h 443"/>
                <a:gd name="T32" fmla="*/ 2147483647 w 216"/>
                <a:gd name="T33" fmla="*/ 2147483647 h 443"/>
                <a:gd name="T34" fmla="*/ 2147483647 w 216"/>
                <a:gd name="T35" fmla="*/ 2147483647 h 443"/>
                <a:gd name="T36" fmla="*/ 0 w 216"/>
                <a:gd name="T37" fmla="*/ 2147483647 h 4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6"/>
                <a:gd name="T58" fmla="*/ 0 h 443"/>
                <a:gd name="T59" fmla="*/ 216 w 216"/>
                <a:gd name="T60" fmla="*/ 443 h 4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6" h="443">
                  <a:moveTo>
                    <a:pt x="0" y="443"/>
                  </a:moveTo>
                  <a:lnTo>
                    <a:pt x="36" y="239"/>
                  </a:lnTo>
                  <a:lnTo>
                    <a:pt x="132" y="72"/>
                  </a:lnTo>
                  <a:lnTo>
                    <a:pt x="204" y="0"/>
                  </a:lnTo>
                  <a:lnTo>
                    <a:pt x="204" y="12"/>
                  </a:lnTo>
                  <a:lnTo>
                    <a:pt x="216" y="12"/>
                  </a:lnTo>
                  <a:lnTo>
                    <a:pt x="144" y="84"/>
                  </a:lnTo>
                  <a:lnTo>
                    <a:pt x="144" y="72"/>
                  </a:lnTo>
                  <a:lnTo>
                    <a:pt x="48" y="239"/>
                  </a:lnTo>
                  <a:lnTo>
                    <a:pt x="12" y="443"/>
                  </a:lnTo>
                  <a:lnTo>
                    <a:pt x="0" y="443"/>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6" name="Freeform 1106"/>
            <p:cNvSpPr>
              <a:spLocks/>
            </p:cNvSpPr>
            <p:nvPr/>
          </p:nvSpPr>
          <p:spPr bwMode="auto">
            <a:xfrm>
              <a:off x="3889" y="1003"/>
              <a:ext cx="84" cy="60"/>
            </a:xfrm>
            <a:custGeom>
              <a:avLst/>
              <a:gdLst>
                <a:gd name="T0" fmla="*/ 0 w 84"/>
                <a:gd name="T1" fmla="*/ 2147483647 h 60"/>
                <a:gd name="T2" fmla="*/ 2147483647 w 84"/>
                <a:gd name="T3" fmla="*/ 0 h 60"/>
                <a:gd name="T4" fmla="*/ 2147483647 w 84"/>
                <a:gd name="T5" fmla="*/ 0 h 60"/>
                <a:gd name="T6" fmla="*/ 2147483647 w 84"/>
                <a:gd name="T7" fmla="*/ 2147483647 h 60"/>
                <a:gd name="T8" fmla="*/ 2147483647 w 84"/>
                <a:gd name="T9" fmla="*/ 2147483647 h 60"/>
                <a:gd name="T10" fmla="*/ 0 w 84"/>
                <a:gd name="T11" fmla="*/ 2147483647 h 60"/>
                <a:gd name="T12" fmla="*/ 0 w 84"/>
                <a:gd name="T13" fmla="*/ 2147483647 h 60"/>
                <a:gd name="T14" fmla="*/ 0 60000 65536"/>
                <a:gd name="T15" fmla="*/ 0 60000 65536"/>
                <a:gd name="T16" fmla="*/ 0 60000 65536"/>
                <a:gd name="T17" fmla="*/ 0 60000 65536"/>
                <a:gd name="T18" fmla="*/ 0 60000 65536"/>
                <a:gd name="T19" fmla="*/ 0 60000 65536"/>
                <a:gd name="T20" fmla="*/ 0 60000 65536"/>
                <a:gd name="T21" fmla="*/ 0 w 84"/>
                <a:gd name="T22" fmla="*/ 0 h 60"/>
                <a:gd name="T23" fmla="*/ 84 w 84"/>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 h="60">
                  <a:moveTo>
                    <a:pt x="0" y="48"/>
                  </a:moveTo>
                  <a:lnTo>
                    <a:pt x="84" y="0"/>
                  </a:lnTo>
                  <a:lnTo>
                    <a:pt x="84" y="12"/>
                  </a:lnTo>
                  <a:lnTo>
                    <a:pt x="0" y="60"/>
                  </a:lnTo>
                  <a:lnTo>
                    <a:pt x="0" y="4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7" name="Rectangle 1107"/>
            <p:cNvSpPr>
              <a:spLocks noChangeArrowheads="1"/>
            </p:cNvSpPr>
            <p:nvPr/>
          </p:nvSpPr>
          <p:spPr bwMode="auto">
            <a:xfrm>
              <a:off x="4152" y="95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8" name="Freeform 1108"/>
            <p:cNvSpPr>
              <a:spLocks/>
            </p:cNvSpPr>
            <p:nvPr/>
          </p:nvSpPr>
          <p:spPr bwMode="auto">
            <a:xfrm>
              <a:off x="3973" y="955"/>
              <a:ext cx="179" cy="60"/>
            </a:xfrm>
            <a:custGeom>
              <a:avLst/>
              <a:gdLst>
                <a:gd name="T0" fmla="*/ 0 w 179"/>
                <a:gd name="T1" fmla="*/ 2147483647 h 60"/>
                <a:gd name="T2" fmla="*/ 0 w 179"/>
                <a:gd name="T3" fmla="*/ 2147483647 h 60"/>
                <a:gd name="T4" fmla="*/ 2147483647 w 179"/>
                <a:gd name="T5" fmla="*/ 2147483647 h 60"/>
                <a:gd name="T6" fmla="*/ 2147483647 w 179"/>
                <a:gd name="T7" fmla="*/ 0 h 60"/>
                <a:gd name="T8" fmla="*/ 0 w 179"/>
                <a:gd name="T9" fmla="*/ 2147483647 h 60"/>
                <a:gd name="T10" fmla="*/ 0 60000 65536"/>
                <a:gd name="T11" fmla="*/ 0 60000 65536"/>
                <a:gd name="T12" fmla="*/ 0 60000 65536"/>
                <a:gd name="T13" fmla="*/ 0 60000 65536"/>
                <a:gd name="T14" fmla="*/ 0 60000 65536"/>
                <a:gd name="T15" fmla="*/ 0 w 179"/>
                <a:gd name="T16" fmla="*/ 0 h 60"/>
                <a:gd name="T17" fmla="*/ 179 w 179"/>
                <a:gd name="T18" fmla="*/ 60 h 60"/>
              </a:gdLst>
              <a:ahLst/>
              <a:cxnLst>
                <a:cxn ang="T10">
                  <a:pos x="T0" y="T1"/>
                </a:cxn>
                <a:cxn ang="T11">
                  <a:pos x="T2" y="T3"/>
                </a:cxn>
                <a:cxn ang="T12">
                  <a:pos x="T4" y="T5"/>
                </a:cxn>
                <a:cxn ang="T13">
                  <a:pos x="T6" y="T7"/>
                </a:cxn>
                <a:cxn ang="T14">
                  <a:pos x="T8" y="T9"/>
                </a:cxn>
              </a:cxnLst>
              <a:rect l="T15" t="T16" r="T17" b="T18"/>
              <a:pathLst>
                <a:path w="179" h="60">
                  <a:moveTo>
                    <a:pt x="0" y="48"/>
                  </a:moveTo>
                  <a:lnTo>
                    <a:pt x="0" y="60"/>
                  </a:lnTo>
                  <a:lnTo>
                    <a:pt x="179" y="12"/>
                  </a:lnTo>
                  <a:lnTo>
                    <a:pt x="179" y="0"/>
                  </a:lnTo>
                  <a:lnTo>
                    <a:pt x="0" y="4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49" name="Rectangle 1109"/>
            <p:cNvSpPr>
              <a:spLocks noChangeArrowheads="1"/>
            </p:cNvSpPr>
            <p:nvPr/>
          </p:nvSpPr>
          <p:spPr bwMode="auto">
            <a:xfrm>
              <a:off x="3673" y="1733"/>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0" name="Freeform 1110"/>
            <p:cNvSpPr>
              <a:spLocks/>
            </p:cNvSpPr>
            <p:nvPr/>
          </p:nvSpPr>
          <p:spPr bwMode="auto">
            <a:xfrm>
              <a:off x="3673" y="1613"/>
              <a:ext cx="228" cy="144"/>
            </a:xfrm>
            <a:custGeom>
              <a:avLst/>
              <a:gdLst>
                <a:gd name="T0" fmla="*/ 0 w 228"/>
                <a:gd name="T1" fmla="*/ 2147483647 h 144"/>
                <a:gd name="T2" fmla="*/ 2147483647 w 228"/>
                <a:gd name="T3" fmla="*/ 2147483647 h 144"/>
                <a:gd name="T4" fmla="*/ 2147483647 w 228"/>
                <a:gd name="T5" fmla="*/ 2147483647 h 144"/>
                <a:gd name="T6" fmla="*/ 2147483647 w 228"/>
                <a:gd name="T7" fmla="*/ 2147483647 h 144"/>
                <a:gd name="T8" fmla="*/ 2147483647 w 228"/>
                <a:gd name="T9" fmla="*/ 2147483647 h 144"/>
                <a:gd name="T10" fmla="*/ 2147483647 w 228"/>
                <a:gd name="T11" fmla="*/ 2147483647 h 144"/>
                <a:gd name="T12" fmla="*/ 2147483647 w 228"/>
                <a:gd name="T13" fmla="*/ 2147483647 h 144"/>
                <a:gd name="T14" fmla="*/ 2147483647 w 228"/>
                <a:gd name="T15" fmla="*/ 2147483647 h 144"/>
                <a:gd name="T16" fmla="*/ 2147483647 w 228"/>
                <a:gd name="T17" fmla="*/ 2147483647 h 144"/>
                <a:gd name="T18" fmla="*/ 2147483647 w 228"/>
                <a:gd name="T19" fmla="*/ 2147483647 h 144"/>
                <a:gd name="T20" fmla="*/ 2147483647 w 228"/>
                <a:gd name="T21" fmla="*/ 2147483647 h 144"/>
                <a:gd name="T22" fmla="*/ 2147483647 w 228"/>
                <a:gd name="T23" fmla="*/ 2147483647 h 144"/>
                <a:gd name="T24" fmla="*/ 2147483647 w 228"/>
                <a:gd name="T25" fmla="*/ 2147483647 h 144"/>
                <a:gd name="T26" fmla="*/ 2147483647 w 228"/>
                <a:gd name="T27" fmla="*/ 2147483647 h 144"/>
                <a:gd name="T28" fmla="*/ 2147483647 w 228"/>
                <a:gd name="T29" fmla="*/ 2147483647 h 144"/>
                <a:gd name="T30" fmla="*/ 2147483647 w 228"/>
                <a:gd name="T31" fmla="*/ 2147483647 h 144"/>
                <a:gd name="T32" fmla="*/ 2147483647 w 228"/>
                <a:gd name="T33" fmla="*/ 2147483647 h 144"/>
                <a:gd name="T34" fmla="*/ 2147483647 w 228"/>
                <a:gd name="T35" fmla="*/ 0 h 144"/>
                <a:gd name="T36" fmla="*/ 2147483647 w 228"/>
                <a:gd name="T37" fmla="*/ 2147483647 h 144"/>
                <a:gd name="T38" fmla="*/ 2147483647 w 228"/>
                <a:gd name="T39" fmla="*/ 2147483647 h 144"/>
                <a:gd name="T40" fmla="*/ 2147483647 w 228"/>
                <a:gd name="T41" fmla="*/ 2147483647 h 144"/>
                <a:gd name="T42" fmla="*/ 2147483647 w 228"/>
                <a:gd name="T43" fmla="*/ 2147483647 h 144"/>
                <a:gd name="T44" fmla="*/ 2147483647 w 228"/>
                <a:gd name="T45" fmla="*/ 2147483647 h 144"/>
                <a:gd name="T46" fmla="*/ 2147483647 w 228"/>
                <a:gd name="T47" fmla="*/ 2147483647 h 144"/>
                <a:gd name="T48" fmla="*/ 2147483647 w 228"/>
                <a:gd name="T49" fmla="*/ 2147483647 h 144"/>
                <a:gd name="T50" fmla="*/ 2147483647 w 228"/>
                <a:gd name="T51" fmla="*/ 2147483647 h 144"/>
                <a:gd name="T52" fmla="*/ 2147483647 w 228"/>
                <a:gd name="T53" fmla="*/ 2147483647 h 144"/>
                <a:gd name="T54" fmla="*/ 2147483647 w 228"/>
                <a:gd name="T55" fmla="*/ 2147483647 h 144"/>
                <a:gd name="T56" fmla="*/ 2147483647 w 228"/>
                <a:gd name="T57" fmla="*/ 2147483647 h 144"/>
                <a:gd name="T58" fmla="*/ 2147483647 w 228"/>
                <a:gd name="T59" fmla="*/ 2147483647 h 144"/>
                <a:gd name="T60" fmla="*/ 2147483647 w 228"/>
                <a:gd name="T61" fmla="*/ 2147483647 h 144"/>
                <a:gd name="T62" fmla="*/ 2147483647 w 228"/>
                <a:gd name="T63" fmla="*/ 2147483647 h 144"/>
                <a:gd name="T64" fmla="*/ 2147483647 w 228"/>
                <a:gd name="T65" fmla="*/ 2147483647 h 144"/>
                <a:gd name="T66" fmla="*/ 2147483647 w 228"/>
                <a:gd name="T67" fmla="*/ 2147483647 h 144"/>
                <a:gd name="T68" fmla="*/ 2147483647 w 228"/>
                <a:gd name="T69" fmla="*/ 2147483647 h 144"/>
                <a:gd name="T70" fmla="*/ 2147483647 w 228"/>
                <a:gd name="T71" fmla="*/ 2147483647 h 144"/>
                <a:gd name="T72" fmla="*/ 2147483647 w 228"/>
                <a:gd name="T73" fmla="*/ 2147483647 h 144"/>
                <a:gd name="T74" fmla="*/ 2147483647 w 228"/>
                <a:gd name="T75" fmla="*/ 2147483647 h 144"/>
                <a:gd name="T76" fmla="*/ 2147483647 w 228"/>
                <a:gd name="T77" fmla="*/ 2147483647 h 144"/>
                <a:gd name="T78" fmla="*/ 2147483647 w 228"/>
                <a:gd name="T79" fmla="*/ 2147483647 h 144"/>
                <a:gd name="T80" fmla="*/ 2147483647 w 228"/>
                <a:gd name="T81" fmla="*/ 2147483647 h 144"/>
                <a:gd name="T82" fmla="*/ 0 w 228"/>
                <a:gd name="T83" fmla="*/ 2147483647 h 144"/>
                <a:gd name="T84" fmla="*/ 0 w 228"/>
                <a:gd name="T85" fmla="*/ 2147483647 h 1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28"/>
                <a:gd name="T130" fmla="*/ 0 h 144"/>
                <a:gd name="T131" fmla="*/ 228 w 228"/>
                <a:gd name="T132" fmla="*/ 144 h 1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28" h="144">
                  <a:moveTo>
                    <a:pt x="0" y="120"/>
                  </a:moveTo>
                  <a:lnTo>
                    <a:pt x="48" y="96"/>
                  </a:lnTo>
                  <a:lnTo>
                    <a:pt x="60" y="96"/>
                  </a:lnTo>
                  <a:lnTo>
                    <a:pt x="48" y="96"/>
                  </a:lnTo>
                  <a:lnTo>
                    <a:pt x="60" y="48"/>
                  </a:lnTo>
                  <a:lnTo>
                    <a:pt x="60" y="36"/>
                  </a:lnTo>
                  <a:lnTo>
                    <a:pt x="72" y="48"/>
                  </a:lnTo>
                  <a:lnTo>
                    <a:pt x="108" y="120"/>
                  </a:lnTo>
                  <a:lnTo>
                    <a:pt x="96" y="120"/>
                  </a:lnTo>
                  <a:lnTo>
                    <a:pt x="108" y="36"/>
                  </a:lnTo>
                  <a:lnTo>
                    <a:pt x="108" y="24"/>
                  </a:lnTo>
                  <a:lnTo>
                    <a:pt x="120" y="36"/>
                  </a:lnTo>
                  <a:lnTo>
                    <a:pt x="180" y="108"/>
                  </a:lnTo>
                  <a:lnTo>
                    <a:pt x="168" y="108"/>
                  </a:lnTo>
                  <a:lnTo>
                    <a:pt x="156" y="12"/>
                  </a:lnTo>
                  <a:lnTo>
                    <a:pt x="156" y="0"/>
                  </a:lnTo>
                  <a:lnTo>
                    <a:pt x="168" y="12"/>
                  </a:lnTo>
                  <a:lnTo>
                    <a:pt x="228" y="84"/>
                  </a:lnTo>
                  <a:lnTo>
                    <a:pt x="228" y="108"/>
                  </a:lnTo>
                  <a:lnTo>
                    <a:pt x="216" y="96"/>
                  </a:lnTo>
                  <a:lnTo>
                    <a:pt x="156" y="24"/>
                  </a:lnTo>
                  <a:lnTo>
                    <a:pt x="168" y="12"/>
                  </a:lnTo>
                  <a:lnTo>
                    <a:pt x="180" y="108"/>
                  </a:lnTo>
                  <a:lnTo>
                    <a:pt x="180" y="144"/>
                  </a:lnTo>
                  <a:lnTo>
                    <a:pt x="168" y="120"/>
                  </a:lnTo>
                  <a:lnTo>
                    <a:pt x="108" y="48"/>
                  </a:lnTo>
                  <a:lnTo>
                    <a:pt x="120" y="36"/>
                  </a:lnTo>
                  <a:lnTo>
                    <a:pt x="108" y="120"/>
                  </a:lnTo>
                  <a:lnTo>
                    <a:pt x="108" y="144"/>
                  </a:lnTo>
                  <a:lnTo>
                    <a:pt x="96" y="120"/>
                  </a:lnTo>
                  <a:lnTo>
                    <a:pt x="60" y="48"/>
                  </a:lnTo>
                  <a:lnTo>
                    <a:pt x="72" y="48"/>
                  </a:lnTo>
                  <a:lnTo>
                    <a:pt x="60" y="96"/>
                  </a:lnTo>
                  <a:lnTo>
                    <a:pt x="60" y="108"/>
                  </a:lnTo>
                  <a:lnTo>
                    <a:pt x="48" y="108"/>
                  </a:lnTo>
                  <a:lnTo>
                    <a:pt x="0" y="132"/>
                  </a:lnTo>
                  <a:lnTo>
                    <a:pt x="0" y="12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1" name="Freeform 1111"/>
            <p:cNvSpPr>
              <a:spLocks/>
            </p:cNvSpPr>
            <p:nvPr/>
          </p:nvSpPr>
          <p:spPr bwMode="auto">
            <a:xfrm>
              <a:off x="3889" y="1649"/>
              <a:ext cx="12" cy="48"/>
            </a:xfrm>
            <a:custGeom>
              <a:avLst/>
              <a:gdLst>
                <a:gd name="T0" fmla="*/ 0 w 12"/>
                <a:gd name="T1" fmla="*/ 2147483647 h 48"/>
                <a:gd name="T2" fmla="*/ 0 w 12"/>
                <a:gd name="T3" fmla="*/ 0 h 48"/>
                <a:gd name="T4" fmla="*/ 0 w 12"/>
                <a:gd name="T5" fmla="*/ 0 h 48"/>
                <a:gd name="T6" fmla="*/ 0 w 12"/>
                <a:gd name="T7" fmla="*/ 0 h 48"/>
                <a:gd name="T8" fmla="*/ 2147483647 w 12"/>
                <a:gd name="T9" fmla="*/ 0 h 48"/>
                <a:gd name="T10" fmla="*/ 2147483647 w 12"/>
                <a:gd name="T11" fmla="*/ 2147483647 h 48"/>
                <a:gd name="T12" fmla="*/ 0 w 12"/>
                <a:gd name="T13" fmla="*/ 2147483647 h 48"/>
                <a:gd name="T14" fmla="*/ 0 60000 65536"/>
                <a:gd name="T15" fmla="*/ 0 60000 65536"/>
                <a:gd name="T16" fmla="*/ 0 60000 65536"/>
                <a:gd name="T17" fmla="*/ 0 60000 65536"/>
                <a:gd name="T18" fmla="*/ 0 60000 65536"/>
                <a:gd name="T19" fmla="*/ 0 60000 65536"/>
                <a:gd name="T20" fmla="*/ 0 60000 65536"/>
                <a:gd name="T21" fmla="*/ 0 w 12"/>
                <a:gd name="T22" fmla="*/ 0 h 48"/>
                <a:gd name="T23" fmla="*/ 12 w 12"/>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 h="48">
                  <a:moveTo>
                    <a:pt x="0" y="48"/>
                  </a:moveTo>
                  <a:lnTo>
                    <a:pt x="0" y="0"/>
                  </a:lnTo>
                  <a:lnTo>
                    <a:pt x="12" y="0"/>
                  </a:lnTo>
                  <a:lnTo>
                    <a:pt x="12" y="48"/>
                  </a:lnTo>
                  <a:lnTo>
                    <a:pt x="0" y="4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2" name="Rectangle 1112"/>
            <p:cNvSpPr>
              <a:spLocks noChangeArrowheads="1"/>
            </p:cNvSpPr>
            <p:nvPr/>
          </p:nvSpPr>
          <p:spPr bwMode="auto">
            <a:xfrm>
              <a:off x="3925" y="1637"/>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3" name="Freeform 1113"/>
            <p:cNvSpPr>
              <a:spLocks/>
            </p:cNvSpPr>
            <p:nvPr/>
          </p:nvSpPr>
          <p:spPr bwMode="auto">
            <a:xfrm>
              <a:off x="3889" y="1637"/>
              <a:ext cx="36" cy="24"/>
            </a:xfrm>
            <a:custGeom>
              <a:avLst/>
              <a:gdLst>
                <a:gd name="T0" fmla="*/ 0 w 36"/>
                <a:gd name="T1" fmla="*/ 2147483647 h 24"/>
                <a:gd name="T2" fmla="*/ 0 w 36"/>
                <a:gd name="T3" fmla="*/ 2147483647 h 24"/>
                <a:gd name="T4" fmla="*/ 2147483647 w 36"/>
                <a:gd name="T5" fmla="*/ 2147483647 h 24"/>
                <a:gd name="T6" fmla="*/ 2147483647 w 36"/>
                <a:gd name="T7" fmla="*/ 0 h 24"/>
                <a:gd name="T8" fmla="*/ 0 w 36"/>
                <a:gd name="T9" fmla="*/ 2147483647 h 24"/>
                <a:gd name="T10" fmla="*/ 0 60000 65536"/>
                <a:gd name="T11" fmla="*/ 0 60000 65536"/>
                <a:gd name="T12" fmla="*/ 0 60000 65536"/>
                <a:gd name="T13" fmla="*/ 0 60000 65536"/>
                <a:gd name="T14" fmla="*/ 0 60000 65536"/>
                <a:gd name="T15" fmla="*/ 0 w 36"/>
                <a:gd name="T16" fmla="*/ 0 h 24"/>
                <a:gd name="T17" fmla="*/ 36 w 36"/>
                <a:gd name="T18" fmla="*/ 24 h 24"/>
              </a:gdLst>
              <a:ahLst/>
              <a:cxnLst>
                <a:cxn ang="T10">
                  <a:pos x="T0" y="T1"/>
                </a:cxn>
                <a:cxn ang="T11">
                  <a:pos x="T2" y="T3"/>
                </a:cxn>
                <a:cxn ang="T12">
                  <a:pos x="T4" y="T5"/>
                </a:cxn>
                <a:cxn ang="T13">
                  <a:pos x="T6" y="T7"/>
                </a:cxn>
                <a:cxn ang="T14">
                  <a:pos x="T8" y="T9"/>
                </a:cxn>
              </a:cxnLst>
              <a:rect l="T15" t="T16" r="T17" b="T18"/>
              <a:pathLst>
                <a:path w="36" h="24">
                  <a:moveTo>
                    <a:pt x="0" y="12"/>
                  </a:moveTo>
                  <a:lnTo>
                    <a:pt x="0" y="24"/>
                  </a:lnTo>
                  <a:lnTo>
                    <a:pt x="36" y="12"/>
                  </a:lnTo>
                  <a:lnTo>
                    <a:pt x="36" y="0"/>
                  </a:lnTo>
                  <a:lnTo>
                    <a:pt x="0"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4" name="Rectangle 1114"/>
            <p:cNvSpPr>
              <a:spLocks noChangeArrowheads="1"/>
            </p:cNvSpPr>
            <p:nvPr/>
          </p:nvSpPr>
          <p:spPr bwMode="auto">
            <a:xfrm>
              <a:off x="3889" y="1649"/>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5" name="Freeform 1115"/>
            <p:cNvSpPr>
              <a:spLocks/>
            </p:cNvSpPr>
            <p:nvPr/>
          </p:nvSpPr>
          <p:spPr bwMode="auto">
            <a:xfrm>
              <a:off x="3889" y="1602"/>
              <a:ext cx="155" cy="59"/>
            </a:xfrm>
            <a:custGeom>
              <a:avLst/>
              <a:gdLst>
                <a:gd name="T0" fmla="*/ 0 w 155"/>
                <a:gd name="T1" fmla="*/ 2147483647 h 59"/>
                <a:gd name="T2" fmla="*/ 0 w 155"/>
                <a:gd name="T3" fmla="*/ 2147483647 h 59"/>
                <a:gd name="T4" fmla="*/ 2147483647 w 155"/>
                <a:gd name="T5" fmla="*/ 2147483647 h 59"/>
                <a:gd name="T6" fmla="*/ 2147483647 w 155"/>
                <a:gd name="T7" fmla="*/ 2147483647 h 59"/>
                <a:gd name="T8" fmla="*/ 2147483647 w 155"/>
                <a:gd name="T9" fmla="*/ 0 h 59"/>
                <a:gd name="T10" fmla="*/ 2147483647 w 155"/>
                <a:gd name="T11" fmla="*/ 0 h 59"/>
                <a:gd name="T12" fmla="*/ 0 w 155"/>
                <a:gd name="T13" fmla="*/ 2147483647 h 59"/>
                <a:gd name="T14" fmla="*/ 0 60000 65536"/>
                <a:gd name="T15" fmla="*/ 0 60000 65536"/>
                <a:gd name="T16" fmla="*/ 0 60000 65536"/>
                <a:gd name="T17" fmla="*/ 0 60000 65536"/>
                <a:gd name="T18" fmla="*/ 0 60000 65536"/>
                <a:gd name="T19" fmla="*/ 0 60000 65536"/>
                <a:gd name="T20" fmla="*/ 0 60000 65536"/>
                <a:gd name="T21" fmla="*/ 0 w 155"/>
                <a:gd name="T22" fmla="*/ 0 h 59"/>
                <a:gd name="T23" fmla="*/ 155 w 155"/>
                <a:gd name="T24" fmla="*/ 59 h 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5" h="59">
                  <a:moveTo>
                    <a:pt x="0" y="47"/>
                  </a:moveTo>
                  <a:lnTo>
                    <a:pt x="0" y="59"/>
                  </a:lnTo>
                  <a:lnTo>
                    <a:pt x="143" y="11"/>
                  </a:lnTo>
                  <a:lnTo>
                    <a:pt x="155" y="11"/>
                  </a:lnTo>
                  <a:lnTo>
                    <a:pt x="143" y="0"/>
                  </a:lnTo>
                  <a:lnTo>
                    <a:pt x="0" y="47"/>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6" name="Freeform 1116"/>
            <p:cNvSpPr>
              <a:spLocks/>
            </p:cNvSpPr>
            <p:nvPr/>
          </p:nvSpPr>
          <p:spPr bwMode="auto">
            <a:xfrm>
              <a:off x="4152" y="1494"/>
              <a:ext cx="12" cy="12"/>
            </a:xfrm>
            <a:custGeom>
              <a:avLst/>
              <a:gdLst>
                <a:gd name="T0" fmla="*/ 0 w 12"/>
                <a:gd name="T1" fmla="*/ 0 h 12"/>
                <a:gd name="T2" fmla="*/ 0 w 12"/>
                <a:gd name="T3" fmla="*/ 0 h 12"/>
                <a:gd name="T4" fmla="*/ 2147483647 w 12"/>
                <a:gd name="T5" fmla="*/ 2147483647 h 12"/>
                <a:gd name="T6" fmla="*/ 2147483647 w 12"/>
                <a:gd name="T7" fmla="*/ 2147483647 h 12"/>
                <a:gd name="T8" fmla="*/ 0 w 12"/>
                <a:gd name="T9" fmla="*/ 0 h 12"/>
                <a:gd name="T10" fmla="*/ 0 60000 65536"/>
                <a:gd name="T11" fmla="*/ 0 60000 65536"/>
                <a:gd name="T12" fmla="*/ 0 60000 65536"/>
                <a:gd name="T13" fmla="*/ 0 60000 65536"/>
                <a:gd name="T14" fmla="*/ 0 60000 65536"/>
                <a:gd name="T15" fmla="*/ 0 w 12"/>
                <a:gd name="T16" fmla="*/ 0 h 12"/>
                <a:gd name="T17" fmla="*/ 12 w 12"/>
                <a:gd name="T18" fmla="*/ 12 h 12"/>
              </a:gdLst>
              <a:ahLst/>
              <a:cxnLst>
                <a:cxn ang="T10">
                  <a:pos x="T0" y="T1"/>
                </a:cxn>
                <a:cxn ang="T11">
                  <a:pos x="T2" y="T3"/>
                </a:cxn>
                <a:cxn ang="T12">
                  <a:pos x="T4" y="T5"/>
                </a:cxn>
                <a:cxn ang="T13">
                  <a:pos x="T6" y="T7"/>
                </a:cxn>
                <a:cxn ang="T14">
                  <a:pos x="T8" y="T9"/>
                </a:cxn>
              </a:cxnLst>
              <a:rect l="T15" t="T16" r="T17" b="T18"/>
              <a:pathLst>
                <a:path w="12" h="12">
                  <a:moveTo>
                    <a:pt x="0" y="0"/>
                  </a:moveTo>
                  <a:lnTo>
                    <a:pt x="0" y="0"/>
                  </a:lnTo>
                  <a:lnTo>
                    <a:pt x="12" y="12"/>
                  </a:lnTo>
                  <a:lnTo>
                    <a:pt x="0" y="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7" name="Freeform 1117"/>
            <p:cNvSpPr>
              <a:spLocks/>
            </p:cNvSpPr>
            <p:nvPr/>
          </p:nvSpPr>
          <p:spPr bwMode="auto">
            <a:xfrm>
              <a:off x="4032" y="1494"/>
              <a:ext cx="132" cy="119"/>
            </a:xfrm>
            <a:custGeom>
              <a:avLst/>
              <a:gdLst>
                <a:gd name="T0" fmla="*/ 0 w 132"/>
                <a:gd name="T1" fmla="*/ 2147483647 h 119"/>
                <a:gd name="T2" fmla="*/ 2147483647 w 132"/>
                <a:gd name="T3" fmla="*/ 2147483647 h 119"/>
                <a:gd name="T4" fmla="*/ 2147483647 w 132"/>
                <a:gd name="T5" fmla="*/ 2147483647 h 119"/>
                <a:gd name="T6" fmla="*/ 2147483647 w 132"/>
                <a:gd name="T7" fmla="*/ 0 h 119"/>
                <a:gd name="T8" fmla="*/ 0 w 132"/>
                <a:gd name="T9" fmla="*/ 2147483647 h 119"/>
                <a:gd name="T10" fmla="*/ 0 60000 65536"/>
                <a:gd name="T11" fmla="*/ 0 60000 65536"/>
                <a:gd name="T12" fmla="*/ 0 60000 65536"/>
                <a:gd name="T13" fmla="*/ 0 60000 65536"/>
                <a:gd name="T14" fmla="*/ 0 60000 65536"/>
                <a:gd name="T15" fmla="*/ 0 w 132"/>
                <a:gd name="T16" fmla="*/ 0 h 119"/>
                <a:gd name="T17" fmla="*/ 132 w 132"/>
                <a:gd name="T18" fmla="*/ 119 h 119"/>
              </a:gdLst>
              <a:ahLst/>
              <a:cxnLst>
                <a:cxn ang="T10">
                  <a:pos x="T0" y="T1"/>
                </a:cxn>
                <a:cxn ang="T11">
                  <a:pos x="T2" y="T3"/>
                </a:cxn>
                <a:cxn ang="T12">
                  <a:pos x="T4" y="T5"/>
                </a:cxn>
                <a:cxn ang="T13">
                  <a:pos x="T6" y="T7"/>
                </a:cxn>
                <a:cxn ang="T14">
                  <a:pos x="T8" y="T9"/>
                </a:cxn>
              </a:cxnLst>
              <a:rect l="T15" t="T16" r="T17" b="T18"/>
              <a:pathLst>
                <a:path w="132" h="119">
                  <a:moveTo>
                    <a:pt x="0" y="108"/>
                  </a:moveTo>
                  <a:lnTo>
                    <a:pt x="12" y="119"/>
                  </a:lnTo>
                  <a:lnTo>
                    <a:pt x="132" y="12"/>
                  </a:lnTo>
                  <a:lnTo>
                    <a:pt x="120" y="0"/>
                  </a:lnTo>
                  <a:lnTo>
                    <a:pt x="0" y="10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8" name="Rectangle 1118"/>
            <p:cNvSpPr>
              <a:spLocks noChangeArrowheads="1"/>
            </p:cNvSpPr>
            <p:nvPr/>
          </p:nvSpPr>
          <p:spPr bwMode="auto">
            <a:xfrm>
              <a:off x="3673" y="1733"/>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59" name="Freeform 1119"/>
            <p:cNvSpPr>
              <a:spLocks/>
            </p:cNvSpPr>
            <p:nvPr/>
          </p:nvSpPr>
          <p:spPr bwMode="auto">
            <a:xfrm>
              <a:off x="3170" y="1566"/>
              <a:ext cx="503" cy="179"/>
            </a:xfrm>
            <a:custGeom>
              <a:avLst/>
              <a:gdLst>
                <a:gd name="T0" fmla="*/ 2147483647 w 503"/>
                <a:gd name="T1" fmla="*/ 2147483647 h 179"/>
                <a:gd name="T2" fmla="*/ 2147483647 w 503"/>
                <a:gd name="T3" fmla="*/ 2147483647 h 179"/>
                <a:gd name="T4" fmla="*/ 2147483647 w 503"/>
                <a:gd name="T5" fmla="*/ 2147483647 h 179"/>
                <a:gd name="T6" fmla="*/ 2147483647 w 503"/>
                <a:gd name="T7" fmla="*/ 2147483647 h 179"/>
                <a:gd name="T8" fmla="*/ 2147483647 w 503"/>
                <a:gd name="T9" fmla="*/ 2147483647 h 179"/>
                <a:gd name="T10" fmla="*/ 2147483647 w 503"/>
                <a:gd name="T11" fmla="*/ 2147483647 h 179"/>
                <a:gd name="T12" fmla="*/ 2147483647 w 503"/>
                <a:gd name="T13" fmla="*/ 2147483647 h 179"/>
                <a:gd name="T14" fmla="*/ 2147483647 w 503"/>
                <a:gd name="T15" fmla="*/ 2147483647 h 179"/>
                <a:gd name="T16" fmla="*/ 2147483647 w 503"/>
                <a:gd name="T17" fmla="*/ 2147483647 h 179"/>
                <a:gd name="T18" fmla="*/ 2147483647 w 503"/>
                <a:gd name="T19" fmla="*/ 2147483647 h 179"/>
                <a:gd name="T20" fmla="*/ 0 w 503"/>
                <a:gd name="T21" fmla="*/ 2147483647 h 179"/>
                <a:gd name="T22" fmla="*/ 0 w 503"/>
                <a:gd name="T23" fmla="*/ 0 h 179"/>
                <a:gd name="T24" fmla="*/ 2147483647 w 503"/>
                <a:gd name="T25" fmla="*/ 0 h 179"/>
                <a:gd name="T26" fmla="*/ 2147483647 w 503"/>
                <a:gd name="T27" fmla="*/ 0 h 179"/>
                <a:gd name="T28" fmla="*/ 2147483647 w 503"/>
                <a:gd name="T29" fmla="*/ 2147483647 h 179"/>
                <a:gd name="T30" fmla="*/ 2147483647 w 503"/>
                <a:gd name="T31" fmla="*/ 2147483647 h 179"/>
                <a:gd name="T32" fmla="*/ 2147483647 w 503"/>
                <a:gd name="T33" fmla="*/ 2147483647 h 179"/>
                <a:gd name="T34" fmla="*/ 2147483647 w 503"/>
                <a:gd name="T35" fmla="*/ 2147483647 h 179"/>
                <a:gd name="T36" fmla="*/ 2147483647 w 503"/>
                <a:gd name="T37" fmla="*/ 2147483647 h 179"/>
                <a:gd name="T38" fmla="*/ 2147483647 w 503"/>
                <a:gd name="T39" fmla="*/ 2147483647 h 179"/>
                <a:gd name="T40" fmla="*/ 2147483647 w 503"/>
                <a:gd name="T41" fmla="*/ 2147483647 h 179"/>
                <a:gd name="T42" fmla="*/ 2147483647 w 503"/>
                <a:gd name="T43" fmla="*/ 2147483647 h 179"/>
                <a:gd name="T44" fmla="*/ 2147483647 w 503"/>
                <a:gd name="T45" fmla="*/ 2147483647 h 179"/>
                <a:gd name="T46" fmla="*/ 2147483647 w 503"/>
                <a:gd name="T47" fmla="*/ 2147483647 h 179"/>
                <a:gd name="T48" fmla="*/ 2147483647 w 503"/>
                <a:gd name="T49" fmla="*/ 2147483647 h 17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03"/>
                <a:gd name="T76" fmla="*/ 0 h 179"/>
                <a:gd name="T77" fmla="*/ 503 w 503"/>
                <a:gd name="T78" fmla="*/ 179 h 17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03" h="179">
                  <a:moveTo>
                    <a:pt x="503" y="179"/>
                  </a:moveTo>
                  <a:lnTo>
                    <a:pt x="323" y="167"/>
                  </a:lnTo>
                  <a:lnTo>
                    <a:pt x="144" y="119"/>
                  </a:lnTo>
                  <a:lnTo>
                    <a:pt x="60" y="71"/>
                  </a:lnTo>
                  <a:lnTo>
                    <a:pt x="0" y="12"/>
                  </a:lnTo>
                  <a:lnTo>
                    <a:pt x="0" y="0"/>
                  </a:lnTo>
                  <a:lnTo>
                    <a:pt x="12" y="0"/>
                  </a:lnTo>
                  <a:lnTo>
                    <a:pt x="72" y="59"/>
                  </a:lnTo>
                  <a:lnTo>
                    <a:pt x="60" y="59"/>
                  </a:lnTo>
                  <a:lnTo>
                    <a:pt x="144" y="107"/>
                  </a:lnTo>
                  <a:lnTo>
                    <a:pt x="323" y="155"/>
                  </a:lnTo>
                  <a:lnTo>
                    <a:pt x="503" y="167"/>
                  </a:lnTo>
                  <a:lnTo>
                    <a:pt x="503" y="179"/>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60" name="Freeform 1120"/>
            <p:cNvSpPr>
              <a:spLocks/>
            </p:cNvSpPr>
            <p:nvPr/>
          </p:nvSpPr>
          <p:spPr bwMode="auto">
            <a:xfrm>
              <a:off x="3134" y="1494"/>
              <a:ext cx="48" cy="72"/>
            </a:xfrm>
            <a:custGeom>
              <a:avLst/>
              <a:gdLst>
                <a:gd name="T0" fmla="*/ 2147483647 w 48"/>
                <a:gd name="T1" fmla="*/ 2147483647 h 72"/>
                <a:gd name="T2" fmla="*/ 0 w 48"/>
                <a:gd name="T3" fmla="*/ 0 h 72"/>
                <a:gd name="T4" fmla="*/ 0 w 48"/>
                <a:gd name="T5" fmla="*/ 0 h 72"/>
                <a:gd name="T6" fmla="*/ 2147483647 w 48"/>
                <a:gd name="T7" fmla="*/ 0 h 72"/>
                <a:gd name="T8" fmla="*/ 2147483647 w 48"/>
                <a:gd name="T9" fmla="*/ 0 h 72"/>
                <a:gd name="T10" fmla="*/ 2147483647 w 48"/>
                <a:gd name="T11" fmla="*/ 2147483647 h 72"/>
                <a:gd name="T12" fmla="*/ 2147483647 w 48"/>
                <a:gd name="T13" fmla="*/ 2147483647 h 72"/>
                <a:gd name="T14" fmla="*/ 0 60000 65536"/>
                <a:gd name="T15" fmla="*/ 0 60000 65536"/>
                <a:gd name="T16" fmla="*/ 0 60000 65536"/>
                <a:gd name="T17" fmla="*/ 0 60000 65536"/>
                <a:gd name="T18" fmla="*/ 0 60000 65536"/>
                <a:gd name="T19" fmla="*/ 0 60000 65536"/>
                <a:gd name="T20" fmla="*/ 0 60000 65536"/>
                <a:gd name="T21" fmla="*/ 0 w 48"/>
                <a:gd name="T22" fmla="*/ 0 h 72"/>
                <a:gd name="T23" fmla="*/ 48 w 48"/>
                <a:gd name="T24" fmla="*/ 72 h 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72">
                  <a:moveTo>
                    <a:pt x="36" y="72"/>
                  </a:moveTo>
                  <a:lnTo>
                    <a:pt x="0" y="0"/>
                  </a:lnTo>
                  <a:lnTo>
                    <a:pt x="12" y="0"/>
                  </a:lnTo>
                  <a:lnTo>
                    <a:pt x="48" y="72"/>
                  </a:lnTo>
                  <a:lnTo>
                    <a:pt x="36" y="7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61" name="Rectangle 1121"/>
            <p:cNvSpPr>
              <a:spLocks noChangeArrowheads="1"/>
            </p:cNvSpPr>
            <p:nvPr/>
          </p:nvSpPr>
          <p:spPr bwMode="auto">
            <a:xfrm>
              <a:off x="3110" y="1398"/>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62" name="Freeform 1122"/>
            <p:cNvSpPr>
              <a:spLocks/>
            </p:cNvSpPr>
            <p:nvPr/>
          </p:nvSpPr>
          <p:spPr bwMode="auto">
            <a:xfrm>
              <a:off x="3110" y="1398"/>
              <a:ext cx="36" cy="96"/>
            </a:xfrm>
            <a:custGeom>
              <a:avLst/>
              <a:gdLst>
                <a:gd name="T0" fmla="*/ 2147483647 w 36"/>
                <a:gd name="T1" fmla="*/ 2147483647 h 96"/>
                <a:gd name="T2" fmla="*/ 2147483647 w 36"/>
                <a:gd name="T3" fmla="*/ 2147483647 h 96"/>
                <a:gd name="T4" fmla="*/ 2147483647 w 36"/>
                <a:gd name="T5" fmla="*/ 0 h 96"/>
                <a:gd name="T6" fmla="*/ 0 w 36"/>
                <a:gd name="T7" fmla="*/ 0 h 96"/>
                <a:gd name="T8" fmla="*/ 2147483647 w 36"/>
                <a:gd name="T9" fmla="*/ 2147483647 h 96"/>
                <a:gd name="T10" fmla="*/ 0 60000 65536"/>
                <a:gd name="T11" fmla="*/ 0 60000 65536"/>
                <a:gd name="T12" fmla="*/ 0 60000 65536"/>
                <a:gd name="T13" fmla="*/ 0 60000 65536"/>
                <a:gd name="T14" fmla="*/ 0 60000 65536"/>
                <a:gd name="T15" fmla="*/ 0 w 36"/>
                <a:gd name="T16" fmla="*/ 0 h 96"/>
                <a:gd name="T17" fmla="*/ 36 w 36"/>
                <a:gd name="T18" fmla="*/ 96 h 96"/>
              </a:gdLst>
              <a:ahLst/>
              <a:cxnLst>
                <a:cxn ang="T10">
                  <a:pos x="T0" y="T1"/>
                </a:cxn>
                <a:cxn ang="T11">
                  <a:pos x="T2" y="T3"/>
                </a:cxn>
                <a:cxn ang="T12">
                  <a:pos x="T4" y="T5"/>
                </a:cxn>
                <a:cxn ang="T13">
                  <a:pos x="T6" y="T7"/>
                </a:cxn>
                <a:cxn ang="T14">
                  <a:pos x="T8" y="T9"/>
                </a:cxn>
              </a:cxnLst>
              <a:rect l="T15" t="T16" r="T17" b="T18"/>
              <a:pathLst>
                <a:path w="36" h="96">
                  <a:moveTo>
                    <a:pt x="24" y="96"/>
                  </a:moveTo>
                  <a:lnTo>
                    <a:pt x="36" y="96"/>
                  </a:lnTo>
                  <a:lnTo>
                    <a:pt x="12" y="0"/>
                  </a:lnTo>
                  <a:lnTo>
                    <a:pt x="0" y="0"/>
                  </a:lnTo>
                  <a:lnTo>
                    <a:pt x="24" y="96"/>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63" name="Rectangle 1123"/>
            <p:cNvSpPr>
              <a:spLocks noChangeArrowheads="1"/>
            </p:cNvSpPr>
            <p:nvPr/>
          </p:nvSpPr>
          <p:spPr bwMode="auto">
            <a:xfrm>
              <a:off x="4260" y="1051"/>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800" b="0" i="0">
                  <a:solidFill>
                    <a:srgbClr val="000000"/>
                  </a:solidFill>
                  <a:ea typeface="新細明體" pitchFamily="18" charset="-120"/>
                </a:rPr>
                <a:t>gate</a:t>
              </a:r>
              <a:endParaRPr lang="en-US" altLang="zh-TW" sz="1800">
                <a:ea typeface="新細明體" pitchFamily="18" charset="-120"/>
              </a:endParaRPr>
            </a:p>
          </p:txBody>
        </p:sp>
        <p:sp>
          <p:nvSpPr>
            <p:cNvPr id="64" name="Rectangle 1124"/>
            <p:cNvSpPr>
              <a:spLocks noChangeArrowheads="1"/>
            </p:cNvSpPr>
            <p:nvPr/>
          </p:nvSpPr>
          <p:spPr bwMode="auto">
            <a:xfrm>
              <a:off x="4260" y="1266"/>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800" b="0" i="0">
                  <a:solidFill>
                    <a:srgbClr val="000000"/>
                  </a:solidFill>
                  <a:ea typeface="新細明體" pitchFamily="18" charset="-120"/>
                </a:rPr>
                <a:t>oxide</a:t>
              </a:r>
              <a:endParaRPr lang="en-US" altLang="zh-TW" sz="1800">
                <a:ea typeface="新細明體" pitchFamily="18" charset="-120"/>
              </a:endParaRPr>
            </a:p>
          </p:txBody>
        </p:sp>
        <p:sp>
          <p:nvSpPr>
            <p:cNvPr id="65" name="Rectangle 1125"/>
            <p:cNvSpPr>
              <a:spLocks noChangeArrowheads="1"/>
            </p:cNvSpPr>
            <p:nvPr/>
          </p:nvSpPr>
          <p:spPr bwMode="auto">
            <a:xfrm>
              <a:off x="3613" y="620"/>
              <a:ext cx="9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800" b="0" i="0">
                  <a:solidFill>
                    <a:schemeClr val="accent2"/>
                  </a:solidFill>
                  <a:ea typeface="新細明體" pitchFamily="18" charset="-120"/>
                </a:rPr>
                <a:t>dielectric spacer</a:t>
              </a:r>
              <a:endParaRPr lang="en-US" altLang="zh-TW" sz="1800">
                <a:solidFill>
                  <a:schemeClr val="accent2"/>
                </a:solidFill>
                <a:ea typeface="新細明體" pitchFamily="18" charset="-120"/>
              </a:endParaRPr>
            </a:p>
          </p:txBody>
        </p:sp>
        <p:sp>
          <p:nvSpPr>
            <p:cNvPr id="66" name="Rectangle 1126"/>
            <p:cNvSpPr>
              <a:spLocks noChangeArrowheads="1"/>
            </p:cNvSpPr>
            <p:nvPr/>
          </p:nvSpPr>
          <p:spPr bwMode="auto">
            <a:xfrm>
              <a:off x="2535" y="620"/>
              <a:ext cx="8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TW" altLang="en-US" sz="1500" b="0" i="0">
                  <a:solidFill>
                    <a:srgbClr val="000000"/>
                  </a:solidFill>
                  <a:ea typeface="新細明體" pitchFamily="18" charset="-120"/>
                </a:rPr>
                <a:t>    </a:t>
              </a:r>
              <a:r>
                <a:rPr lang="en-US" altLang="zh-TW" sz="1800" b="0" i="0">
                  <a:solidFill>
                    <a:srgbClr val="000000"/>
                  </a:solidFill>
                  <a:ea typeface="新細明體" pitchFamily="18" charset="-120"/>
                </a:rPr>
                <a:t>contact metal</a:t>
              </a:r>
              <a:endParaRPr lang="en-US" altLang="zh-TW" sz="1800">
                <a:ea typeface="新細明體" pitchFamily="18" charset="-120"/>
              </a:endParaRPr>
            </a:p>
          </p:txBody>
        </p:sp>
        <p:sp>
          <p:nvSpPr>
            <p:cNvPr id="67" name="Rectangle 1127"/>
            <p:cNvSpPr>
              <a:spLocks noChangeArrowheads="1"/>
            </p:cNvSpPr>
            <p:nvPr/>
          </p:nvSpPr>
          <p:spPr bwMode="auto">
            <a:xfrm>
              <a:off x="4260" y="1482"/>
              <a:ext cx="4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800" b="0" i="0">
                  <a:solidFill>
                    <a:srgbClr val="000000"/>
                  </a:solidFill>
                  <a:ea typeface="新細明體" pitchFamily="18" charset="-120"/>
                </a:rPr>
                <a:t>channel</a:t>
              </a:r>
              <a:endParaRPr lang="en-US" altLang="zh-TW" sz="1800">
                <a:ea typeface="新細明體" pitchFamily="18" charset="-120"/>
              </a:endParaRPr>
            </a:p>
          </p:txBody>
        </p:sp>
        <p:sp>
          <p:nvSpPr>
            <p:cNvPr id="68" name="Rectangle 1128"/>
            <p:cNvSpPr>
              <a:spLocks noChangeArrowheads="1"/>
            </p:cNvSpPr>
            <p:nvPr/>
          </p:nvSpPr>
          <p:spPr bwMode="auto">
            <a:xfrm>
              <a:off x="3074" y="2044"/>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800" b="0" i="0">
                  <a:solidFill>
                    <a:srgbClr val="000000"/>
                  </a:solidFill>
                  <a:ea typeface="新細明體" pitchFamily="18" charset="-120"/>
                </a:rPr>
                <a:t>N</a:t>
              </a:r>
              <a:endParaRPr lang="en-US" altLang="zh-TW" sz="1800">
                <a:ea typeface="新細明體" pitchFamily="18" charset="-120"/>
              </a:endParaRPr>
            </a:p>
          </p:txBody>
        </p:sp>
        <p:sp>
          <p:nvSpPr>
            <p:cNvPr id="69" name="Rectangle 1129"/>
            <p:cNvSpPr>
              <a:spLocks noChangeArrowheads="1"/>
            </p:cNvSpPr>
            <p:nvPr/>
          </p:nvSpPr>
          <p:spPr bwMode="auto">
            <a:xfrm>
              <a:off x="3158" y="2044"/>
              <a:ext cx="6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400" i="0">
                  <a:solidFill>
                    <a:srgbClr val="000000"/>
                  </a:solidFill>
                  <a:ea typeface="新細明體" pitchFamily="18" charset="-120"/>
                </a:rPr>
                <a:t>+</a:t>
              </a:r>
              <a:endParaRPr lang="en-US" altLang="zh-TW" sz="1400">
                <a:ea typeface="新細明體" pitchFamily="18" charset="-120"/>
              </a:endParaRPr>
            </a:p>
          </p:txBody>
        </p:sp>
        <p:sp>
          <p:nvSpPr>
            <p:cNvPr id="70" name="Rectangle 1130"/>
            <p:cNvSpPr>
              <a:spLocks noChangeArrowheads="1"/>
            </p:cNvSpPr>
            <p:nvPr/>
          </p:nvSpPr>
          <p:spPr bwMode="auto">
            <a:xfrm>
              <a:off x="3218" y="2044"/>
              <a:ext cx="8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TW" altLang="en-US" sz="1500" b="0" i="0">
                  <a:solidFill>
                    <a:srgbClr val="000000"/>
                  </a:solidFill>
                  <a:ea typeface="新細明體" pitchFamily="18" charset="-120"/>
                </a:rPr>
                <a:t> </a:t>
              </a:r>
              <a:r>
                <a:rPr lang="en-US" altLang="zh-TW" sz="1800" b="0" i="0">
                  <a:solidFill>
                    <a:srgbClr val="000000"/>
                  </a:solidFill>
                  <a:ea typeface="新細明體" pitchFamily="18" charset="-120"/>
                </a:rPr>
                <a:t>source or drain</a:t>
              </a:r>
              <a:endParaRPr lang="en-US" altLang="zh-TW" sz="1800">
                <a:ea typeface="新細明體" pitchFamily="18" charset="-120"/>
              </a:endParaRPr>
            </a:p>
          </p:txBody>
        </p:sp>
        <p:sp>
          <p:nvSpPr>
            <p:cNvPr id="71" name="Rectangle 1131"/>
            <p:cNvSpPr>
              <a:spLocks noChangeArrowheads="1"/>
            </p:cNvSpPr>
            <p:nvPr/>
          </p:nvSpPr>
          <p:spPr bwMode="auto">
            <a:xfrm>
              <a:off x="2643" y="2236"/>
              <a:ext cx="2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500" b="0" i="0">
                  <a:solidFill>
                    <a:srgbClr val="000000"/>
                  </a:solidFill>
                  <a:ea typeface="新細明體" pitchFamily="18" charset="-120"/>
                </a:rPr>
                <a:t>NiSi</a:t>
              </a:r>
              <a:endParaRPr lang="en-US" altLang="zh-TW">
                <a:ea typeface="新細明體" pitchFamily="18" charset="-120"/>
              </a:endParaRPr>
            </a:p>
          </p:txBody>
        </p:sp>
        <p:sp>
          <p:nvSpPr>
            <p:cNvPr id="72" name="Rectangle 1132"/>
            <p:cNvSpPr>
              <a:spLocks noChangeArrowheads="1"/>
            </p:cNvSpPr>
            <p:nvPr/>
          </p:nvSpPr>
          <p:spPr bwMode="auto">
            <a:xfrm>
              <a:off x="2882" y="23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100" b="0" i="0">
                  <a:solidFill>
                    <a:srgbClr val="000000"/>
                  </a:solidFill>
                  <a:ea typeface="新細明體" pitchFamily="18" charset="-120"/>
                </a:rPr>
                <a:t>2</a:t>
              </a:r>
              <a:endParaRPr lang="en-US" altLang="zh-TW">
                <a:ea typeface="新細明體" pitchFamily="18" charset="-120"/>
              </a:endParaRPr>
            </a:p>
          </p:txBody>
        </p:sp>
        <p:sp>
          <p:nvSpPr>
            <p:cNvPr id="73" name="Rectangle 1133"/>
            <p:cNvSpPr>
              <a:spLocks noChangeArrowheads="1"/>
            </p:cNvSpPr>
            <p:nvPr/>
          </p:nvSpPr>
          <p:spPr bwMode="auto">
            <a:xfrm>
              <a:off x="2930" y="2236"/>
              <a:ext cx="36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TW" altLang="en-US" sz="1500" b="0" i="0">
                  <a:solidFill>
                    <a:srgbClr val="000000"/>
                  </a:solidFill>
                  <a:ea typeface="新細明體" pitchFamily="18" charset="-120"/>
                </a:rPr>
                <a:t> </a:t>
              </a:r>
              <a:r>
                <a:rPr lang="en-US" altLang="zh-TW" sz="1500" b="0" i="0">
                  <a:solidFill>
                    <a:srgbClr val="000000"/>
                  </a:solidFill>
                  <a:ea typeface="新細明體" pitchFamily="18" charset="-120"/>
                </a:rPr>
                <a:t>or TiSi</a:t>
              </a:r>
              <a:endParaRPr lang="en-US" altLang="zh-TW">
                <a:ea typeface="新細明體" pitchFamily="18" charset="-120"/>
              </a:endParaRPr>
            </a:p>
          </p:txBody>
        </p:sp>
        <p:sp>
          <p:nvSpPr>
            <p:cNvPr id="74" name="Rectangle 1134"/>
            <p:cNvSpPr>
              <a:spLocks noChangeArrowheads="1"/>
            </p:cNvSpPr>
            <p:nvPr/>
          </p:nvSpPr>
          <p:spPr bwMode="auto">
            <a:xfrm>
              <a:off x="3290" y="23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en-US" altLang="zh-TW" sz="1100" b="0" i="0">
                  <a:solidFill>
                    <a:srgbClr val="000000"/>
                  </a:solidFill>
                  <a:ea typeface="新細明體" pitchFamily="18" charset="-120"/>
                </a:rPr>
                <a:t>2</a:t>
              </a:r>
              <a:endParaRPr lang="en-US" altLang="zh-TW">
                <a:ea typeface="新細明體" pitchFamily="18" charset="-120"/>
              </a:endParaRPr>
            </a:p>
          </p:txBody>
        </p:sp>
        <p:sp>
          <p:nvSpPr>
            <p:cNvPr id="75" name="Rectangle 1135"/>
            <p:cNvSpPr>
              <a:spLocks noChangeArrowheads="1"/>
            </p:cNvSpPr>
            <p:nvPr/>
          </p:nvSpPr>
          <p:spPr bwMode="auto">
            <a:xfrm>
              <a:off x="2858" y="1714"/>
              <a:ext cx="12"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76" name="Freeform 1136"/>
            <p:cNvSpPr>
              <a:spLocks/>
            </p:cNvSpPr>
            <p:nvPr/>
          </p:nvSpPr>
          <p:spPr bwMode="auto">
            <a:xfrm>
              <a:off x="2823" y="1606"/>
              <a:ext cx="83" cy="108"/>
            </a:xfrm>
            <a:custGeom>
              <a:avLst/>
              <a:gdLst>
                <a:gd name="T0" fmla="*/ 2147483647 w 83"/>
                <a:gd name="T1" fmla="*/ 2147483647 h 108"/>
                <a:gd name="T2" fmla="*/ 0 w 83"/>
                <a:gd name="T3" fmla="*/ 2147483647 h 108"/>
                <a:gd name="T4" fmla="*/ 0 w 83"/>
                <a:gd name="T5" fmla="*/ 2147483647 h 108"/>
                <a:gd name="T6" fmla="*/ 0 w 83"/>
                <a:gd name="T7" fmla="*/ 2147483647 h 108"/>
                <a:gd name="T8" fmla="*/ 2147483647 w 83"/>
                <a:gd name="T9" fmla="*/ 0 h 108"/>
                <a:gd name="T10" fmla="*/ 2147483647 w 83"/>
                <a:gd name="T11" fmla="*/ 0 h 108"/>
                <a:gd name="T12" fmla="*/ 2147483647 w 83"/>
                <a:gd name="T13" fmla="*/ 2147483647 h 108"/>
                <a:gd name="T14" fmla="*/ 2147483647 w 83"/>
                <a:gd name="T15" fmla="*/ 2147483647 h 108"/>
                <a:gd name="T16" fmla="*/ 2147483647 w 83"/>
                <a:gd name="T17" fmla="*/ 2147483647 h 108"/>
                <a:gd name="T18" fmla="*/ 2147483647 w 83"/>
                <a:gd name="T19" fmla="*/ 2147483647 h 108"/>
                <a:gd name="T20" fmla="*/ 2147483647 w 83"/>
                <a:gd name="T21" fmla="*/ 0 h 108"/>
                <a:gd name="T22" fmla="*/ 2147483647 w 83"/>
                <a:gd name="T23" fmla="*/ 0 h 108"/>
                <a:gd name="T24" fmla="*/ 2147483647 w 83"/>
                <a:gd name="T25" fmla="*/ 0 h 108"/>
                <a:gd name="T26" fmla="*/ 2147483647 w 83"/>
                <a:gd name="T27" fmla="*/ 2147483647 h 108"/>
                <a:gd name="T28" fmla="*/ 0 w 83"/>
                <a:gd name="T29" fmla="*/ 2147483647 h 108"/>
                <a:gd name="T30" fmla="*/ 0 w 83"/>
                <a:gd name="T31" fmla="*/ 2147483647 h 108"/>
                <a:gd name="T32" fmla="*/ 2147483647 w 83"/>
                <a:gd name="T33" fmla="*/ 2147483647 h 108"/>
                <a:gd name="T34" fmla="*/ 2147483647 w 83"/>
                <a:gd name="T35" fmla="*/ 2147483647 h 10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3"/>
                <a:gd name="T55" fmla="*/ 0 h 108"/>
                <a:gd name="T56" fmla="*/ 83 w 83"/>
                <a:gd name="T57" fmla="*/ 108 h 10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3" h="108">
                  <a:moveTo>
                    <a:pt x="35" y="108"/>
                  </a:moveTo>
                  <a:lnTo>
                    <a:pt x="0" y="108"/>
                  </a:lnTo>
                  <a:cubicBezTo>
                    <a:pt x="12" y="72"/>
                    <a:pt x="23" y="36"/>
                    <a:pt x="35" y="0"/>
                  </a:cubicBezTo>
                  <a:lnTo>
                    <a:pt x="47" y="0"/>
                  </a:lnTo>
                  <a:lnTo>
                    <a:pt x="83" y="108"/>
                  </a:lnTo>
                  <a:lnTo>
                    <a:pt x="71" y="108"/>
                  </a:lnTo>
                  <a:lnTo>
                    <a:pt x="35" y="0"/>
                  </a:lnTo>
                  <a:lnTo>
                    <a:pt x="47" y="0"/>
                  </a:lnTo>
                  <a:lnTo>
                    <a:pt x="11" y="108"/>
                  </a:lnTo>
                  <a:lnTo>
                    <a:pt x="0" y="108"/>
                  </a:lnTo>
                  <a:lnTo>
                    <a:pt x="0" y="96"/>
                  </a:lnTo>
                  <a:lnTo>
                    <a:pt x="35" y="96"/>
                  </a:lnTo>
                  <a:lnTo>
                    <a:pt x="35" y="10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77" name="Freeform 1137"/>
            <p:cNvSpPr>
              <a:spLocks/>
            </p:cNvSpPr>
            <p:nvPr/>
          </p:nvSpPr>
          <p:spPr bwMode="auto">
            <a:xfrm>
              <a:off x="2858" y="1702"/>
              <a:ext cx="36" cy="12"/>
            </a:xfrm>
            <a:custGeom>
              <a:avLst/>
              <a:gdLst>
                <a:gd name="T0" fmla="*/ 2147483647 w 36"/>
                <a:gd name="T1" fmla="*/ 2147483647 h 12"/>
                <a:gd name="T2" fmla="*/ 0 w 36"/>
                <a:gd name="T3" fmla="*/ 2147483647 h 12"/>
                <a:gd name="T4" fmla="*/ 0 w 36"/>
                <a:gd name="T5" fmla="*/ 0 h 12"/>
                <a:gd name="T6" fmla="*/ 0 w 36"/>
                <a:gd name="T7" fmla="*/ 0 h 12"/>
                <a:gd name="T8" fmla="*/ 0 w 36"/>
                <a:gd name="T9" fmla="*/ 0 h 12"/>
                <a:gd name="T10" fmla="*/ 2147483647 w 36"/>
                <a:gd name="T11" fmla="*/ 0 h 12"/>
                <a:gd name="T12" fmla="*/ 2147483647 w 36"/>
                <a:gd name="T13" fmla="*/ 2147483647 h 12"/>
                <a:gd name="T14" fmla="*/ 0 60000 65536"/>
                <a:gd name="T15" fmla="*/ 0 60000 65536"/>
                <a:gd name="T16" fmla="*/ 0 60000 65536"/>
                <a:gd name="T17" fmla="*/ 0 60000 65536"/>
                <a:gd name="T18" fmla="*/ 0 60000 65536"/>
                <a:gd name="T19" fmla="*/ 0 60000 65536"/>
                <a:gd name="T20" fmla="*/ 0 60000 65536"/>
                <a:gd name="T21" fmla="*/ 0 w 36"/>
                <a:gd name="T22" fmla="*/ 0 h 12"/>
                <a:gd name="T23" fmla="*/ 36 w 36"/>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12">
                  <a:moveTo>
                    <a:pt x="36" y="12"/>
                  </a:moveTo>
                  <a:lnTo>
                    <a:pt x="0" y="12"/>
                  </a:lnTo>
                  <a:lnTo>
                    <a:pt x="0" y="0"/>
                  </a:lnTo>
                  <a:lnTo>
                    <a:pt x="36" y="0"/>
                  </a:lnTo>
                  <a:lnTo>
                    <a:pt x="36"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78" name="Freeform 1138"/>
            <p:cNvSpPr>
              <a:spLocks/>
            </p:cNvSpPr>
            <p:nvPr/>
          </p:nvSpPr>
          <p:spPr bwMode="auto">
            <a:xfrm>
              <a:off x="2823" y="1606"/>
              <a:ext cx="71" cy="108"/>
            </a:xfrm>
            <a:custGeom>
              <a:avLst/>
              <a:gdLst>
                <a:gd name="T0" fmla="*/ 2147483647 w 71"/>
                <a:gd name="T1" fmla="*/ 2147483647 h 108"/>
                <a:gd name="T2" fmla="*/ 0 w 71"/>
                <a:gd name="T3" fmla="*/ 2147483647 h 108"/>
                <a:gd name="T4" fmla="*/ 2147483647 w 71"/>
                <a:gd name="T5" fmla="*/ 0 h 108"/>
                <a:gd name="T6" fmla="*/ 2147483647 w 71"/>
                <a:gd name="T7" fmla="*/ 2147483647 h 108"/>
                <a:gd name="T8" fmla="*/ 2147483647 w 71"/>
                <a:gd name="T9" fmla="*/ 2147483647 h 108"/>
                <a:gd name="T10" fmla="*/ 0 60000 65536"/>
                <a:gd name="T11" fmla="*/ 0 60000 65536"/>
                <a:gd name="T12" fmla="*/ 0 60000 65536"/>
                <a:gd name="T13" fmla="*/ 0 60000 65536"/>
                <a:gd name="T14" fmla="*/ 0 60000 65536"/>
                <a:gd name="T15" fmla="*/ 0 w 71"/>
                <a:gd name="T16" fmla="*/ 0 h 108"/>
                <a:gd name="T17" fmla="*/ 71 w 71"/>
                <a:gd name="T18" fmla="*/ 108 h 108"/>
              </a:gdLst>
              <a:ahLst/>
              <a:cxnLst>
                <a:cxn ang="T10">
                  <a:pos x="T0" y="T1"/>
                </a:cxn>
                <a:cxn ang="T11">
                  <a:pos x="T2" y="T3"/>
                </a:cxn>
                <a:cxn ang="T12">
                  <a:pos x="T4" y="T5"/>
                </a:cxn>
                <a:cxn ang="T13">
                  <a:pos x="T6" y="T7"/>
                </a:cxn>
                <a:cxn ang="T14">
                  <a:pos x="T8" y="T9"/>
                </a:cxn>
              </a:cxnLst>
              <a:rect l="T15" t="T16" r="T17" b="T18"/>
              <a:pathLst>
                <a:path w="71" h="108">
                  <a:moveTo>
                    <a:pt x="35" y="108"/>
                  </a:moveTo>
                  <a:lnTo>
                    <a:pt x="0" y="108"/>
                  </a:lnTo>
                  <a:lnTo>
                    <a:pt x="35" y="0"/>
                  </a:lnTo>
                  <a:lnTo>
                    <a:pt x="71" y="108"/>
                  </a:lnTo>
                  <a:lnTo>
                    <a:pt x="35" y="10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79" name="Rectangle 1139"/>
            <p:cNvSpPr>
              <a:spLocks noChangeArrowheads="1"/>
            </p:cNvSpPr>
            <p:nvPr/>
          </p:nvSpPr>
          <p:spPr bwMode="auto">
            <a:xfrm>
              <a:off x="2858" y="2248"/>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0" name="Rectangle 1140"/>
            <p:cNvSpPr>
              <a:spLocks noChangeArrowheads="1"/>
            </p:cNvSpPr>
            <p:nvPr/>
          </p:nvSpPr>
          <p:spPr bwMode="auto">
            <a:xfrm>
              <a:off x="2858" y="1726"/>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1" name="Rectangle 1141"/>
            <p:cNvSpPr>
              <a:spLocks noChangeArrowheads="1"/>
            </p:cNvSpPr>
            <p:nvPr/>
          </p:nvSpPr>
          <p:spPr bwMode="auto">
            <a:xfrm>
              <a:off x="2858" y="1724"/>
              <a:ext cx="12" cy="52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2" name="Rectangle 1142"/>
            <p:cNvSpPr>
              <a:spLocks noChangeArrowheads="1"/>
            </p:cNvSpPr>
            <p:nvPr/>
          </p:nvSpPr>
          <p:spPr bwMode="auto">
            <a:xfrm>
              <a:off x="3182" y="1949"/>
              <a:ext cx="12"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3" name="Freeform 1143"/>
            <p:cNvSpPr>
              <a:spLocks/>
            </p:cNvSpPr>
            <p:nvPr/>
          </p:nvSpPr>
          <p:spPr bwMode="auto">
            <a:xfrm>
              <a:off x="3146" y="1841"/>
              <a:ext cx="84" cy="108"/>
            </a:xfrm>
            <a:custGeom>
              <a:avLst/>
              <a:gdLst>
                <a:gd name="T0" fmla="*/ 2147483647 w 84"/>
                <a:gd name="T1" fmla="*/ 2147483647 h 108"/>
                <a:gd name="T2" fmla="*/ 0 w 84"/>
                <a:gd name="T3" fmla="*/ 2147483647 h 108"/>
                <a:gd name="T4" fmla="*/ 0 w 84"/>
                <a:gd name="T5" fmla="*/ 2147483647 h 108"/>
                <a:gd name="T6" fmla="*/ 0 w 84"/>
                <a:gd name="T7" fmla="*/ 2147483647 h 108"/>
                <a:gd name="T8" fmla="*/ 2147483647 w 84"/>
                <a:gd name="T9" fmla="*/ 0 h 108"/>
                <a:gd name="T10" fmla="*/ 2147483647 w 84"/>
                <a:gd name="T11" fmla="*/ 0 h 108"/>
                <a:gd name="T12" fmla="*/ 2147483647 w 84"/>
                <a:gd name="T13" fmla="*/ 2147483647 h 108"/>
                <a:gd name="T14" fmla="*/ 2147483647 w 84"/>
                <a:gd name="T15" fmla="*/ 2147483647 h 108"/>
                <a:gd name="T16" fmla="*/ 2147483647 w 84"/>
                <a:gd name="T17" fmla="*/ 2147483647 h 108"/>
                <a:gd name="T18" fmla="*/ 2147483647 w 84"/>
                <a:gd name="T19" fmla="*/ 2147483647 h 108"/>
                <a:gd name="T20" fmla="*/ 2147483647 w 84"/>
                <a:gd name="T21" fmla="*/ 0 h 108"/>
                <a:gd name="T22" fmla="*/ 2147483647 w 84"/>
                <a:gd name="T23" fmla="*/ 0 h 108"/>
                <a:gd name="T24" fmla="*/ 2147483647 w 84"/>
                <a:gd name="T25" fmla="*/ 0 h 108"/>
                <a:gd name="T26" fmla="*/ 2147483647 w 84"/>
                <a:gd name="T27" fmla="*/ 2147483647 h 108"/>
                <a:gd name="T28" fmla="*/ 0 w 84"/>
                <a:gd name="T29" fmla="*/ 2147483647 h 108"/>
                <a:gd name="T30" fmla="*/ 0 w 84"/>
                <a:gd name="T31" fmla="*/ 2147483647 h 108"/>
                <a:gd name="T32" fmla="*/ 2147483647 w 84"/>
                <a:gd name="T33" fmla="*/ 2147483647 h 108"/>
                <a:gd name="T34" fmla="*/ 2147483647 w 84"/>
                <a:gd name="T35" fmla="*/ 2147483647 h 10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08"/>
                <a:gd name="T56" fmla="*/ 84 w 84"/>
                <a:gd name="T57" fmla="*/ 108 h 10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08">
                  <a:moveTo>
                    <a:pt x="36" y="108"/>
                  </a:moveTo>
                  <a:lnTo>
                    <a:pt x="0" y="108"/>
                  </a:lnTo>
                  <a:lnTo>
                    <a:pt x="36" y="0"/>
                  </a:lnTo>
                  <a:lnTo>
                    <a:pt x="48" y="0"/>
                  </a:lnTo>
                  <a:lnTo>
                    <a:pt x="84" y="108"/>
                  </a:lnTo>
                  <a:lnTo>
                    <a:pt x="72" y="108"/>
                  </a:lnTo>
                  <a:lnTo>
                    <a:pt x="36" y="0"/>
                  </a:lnTo>
                  <a:lnTo>
                    <a:pt x="48" y="0"/>
                  </a:lnTo>
                  <a:lnTo>
                    <a:pt x="12" y="108"/>
                  </a:lnTo>
                  <a:lnTo>
                    <a:pt x="0" y="108"/>
                  </a:lnTo>
                  <a:lnTo>
                    <a:pt x="0" y="96"/>
                  </a:lnTo>
                  <a:lnTo>
                    <a:pt x="36" y="96"/>
                  </a:lnTo>
                  <a:lnTo>
                    <a:pt x="36" y="10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4" name="Freeform 1144"/>
            <p:cNvSpPr>
              <a:spLocks/>
            </p:cNvSpPr>
            <p:nvPr/>
          </p:nvSpPr>
          <p:spPr bwMode="auto">
            <a:xfrm>
              <a:off x="3182" y="1937"/>
              <a:ext cx="36" cy="12"/>
            </a:xfrm>
            <a:custGeom>
              <a:avLst/>
              <a:gdLst>
                <a:gd name="T0" fmla="*/ 2147483647 w 36"/>
                <a:gd name="T1" fmla="*/ 2147483647 h 12"/>
                <a:gd name="T2" fmla="*/ 0 w 36"/>
                <a:gd name="T3" fmla="*/ 2147483647 h 12"/>
                <a:gd name="T4" fmla="*/ 0 w 36"/>
                <a:gd name="T5" fmla="*/ 0 h 12"/>
                <a:gd name="T6" fmla="*/ 0 w 36"/>
                <a:gd name="T7" fmla="*/ 0 h 12"/>
                <a:gd name="T8" fmla="*/ 0 w 36"/>
                <a:gd name="T9" fmla="*/ 0 h 12"/>
                <a:gd name="T10" fmla="*/ 2147483647 w 36"/>
                <a:gd name="T11" fmla="*/ 0 h 12"/>
                <a:gd name="T12" fmla="*/ 2147483647 w 36"/>
                <a:gd name="T13" fmla="*/ 2147483647 h 12"/>
                <a:gd name="T14" fmla="*/ 0 60000 65536"/>
                <a:gd name="T15" fmla="*/ 0 60000 65536"/>
                <a:gd name="T16" fmla="*/ 0 60000 65536"/>
                <a:gd name="T17" fmla="*/ 0 60000 65536"/>
                <a:gd name="T18" fmla="*/ 0 60000 65536"/>
                <a:gd name="T19" fmla="*/ 0 60000 65536"/>
                <a:gd name="T20" fmla="*/ 0 60000 65536"/>
                <a:gd name="T21" fmla="*/ 0 w 36"/>
                <a:gd name="T22" fmla="*/ 0 h 12"/>
                <a:gd name="T23" fmla="*/ 36 w 36"/>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 h="12">
                  <a:moveTo>
                    <a:pt x="36" y="12"/>
                  </a:moveTo>
                  <a:lnTo>
                    <a:pt x="0" y="12"/>
                  </a:lnTo>
                  <a:lnTo>
                    <a:pt x="0" y="0"/>
                  </a:lnTo>
                  <a:lnTo>
                    <a:pt x="36" y="0"/>
                  </a:lnTo>
                  <a:lnTo>
                    <a:pt x="36"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5" name="Freeform 1145"/>
            <p:cNvSpPr>
              <a:spLocks/>
            </p:cNvSpPr>
            <p:nvPr/>
          </p:nvSpPr>
          <p:spPr bwMode="auto">
            <a:xfrm>
              <a:off x="3146" y="1841"/>
              <a:ext cx="72" cy="108"/>
            </a:xfrm>
            <a:custGeom>
              <a:avLst/>
              <a:gdLst>
                <a:gd name="T0" fmla="*/ 2147483647 w 72"/>
                <a:gd name="T1" fmla="*/ 2147483647 h 108"/>
                <a:gd name="T2" fmla="*/ 0 w 72"/>
                <a:gd name="T3" fmla="*/ 2147483647 h 108"/>
                <a:gd name="T4" fmla="*/ 2147483647 w 72"/>
                <a:gd name="T5" fmla="*/ 0 h 108"/>
                <a:gd name="T6" fmla="*/ 2147483647 w 72"/>
                <a:gd name="T7" fmla="*/ 2147483647 h 108"/>
                <a:gd name="T8" fmla="*/ 2147483647 w 72"/>
                <a:gd name="T9" fmla="*/ 2147483647 h 108"/>
                <a:gd name="T10" fmla="*/ 0 60000 65536"/>
                <a:gd name="T11" fmla="*/ 0 60000 65536"/>
                <a:gd name="T12" fmla="*/ 0 60000 65536"/>
                <a:gd name="T13" fmla="*/ 0 60000 65536"/>
                <a:gd name="T14" fmla="*/ 0 60000 65536"/>
                <a:gd name="T15" fmla="*/ 0 w 72"/>
                <a:gd name="T16" fmla="*/ 0 h 108"/>
                <a:gd name="T17" fmla="*/ 72 w 72"/>
                <a:gd name="T18" fmla="*/ 108 h 108"/>
              </a:gdLst>
              <a:ahLst/>
              <a:cxnLst>
                <a:cxn ang="T10">
                  <a:pos x="T0" y="T1"/>
                </a:cxn>
                <a:cxn ang="T11">
                  <a:pos x="T2" y="T3"/>
                </a:cxn>
                <a:cxn ang="T12">
                  <a:pos x="T4" y="T5"/>
                </a:cxn>
                <a:cxn ang="T13">
                  <a:pos x="T6" y="T7"/>
                </a:cxn>
                <a:cxn ang="T14">
                  <a:pos x="T8" y="T9"/>
                </a:cxn>
              </a:cxnLst>
              <a:rect l="T15" t="T16" r="T17" b="T18"/>
              <a:pathLst>
                <a:path w="72" h="108">
                  <a:moveTo>
                    <a:pt x="36" y="108"/>
                  </a:moveTo>
                  <a:lnTo>
                    <a:pt x="0" y="108"/>
                  </a:lnTo>
                  <a:lnTo>
                    <a:pt x="36" y="0"/>
                  </a:lnTo>
                  <a:lnTo>
                    <a:pt x="72" y="108"/>
                  </a:lnTo>
                  <a:lnTo>
                    <a:pt x="36" y="108"/>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6" name="Rectangle 1146"/>
            <p:cNvSpPr>
              <a:spLocks noChangeArrowheads="1"/>
            </p:cNvSpPr>
            <p:nvPr/>
          </p:nvSpPr>
          <p:spPr bwMode="auto">
            <a:xfrm>
              <a:off x="3182" y="2032"/>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7" name="Rectangle 1147"/>
            <p:cNvSpPr>
              <a:spLocks noChangeArrowheads="1"/>
            </p:cNvSpPr>
            <p:nvPr/>
          </p:nvSpPr>
          <p:spPr bwMode="auto">
            <a:xfrm>
              <a:off x="3182" y="1961"/>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8" name="Rectangle 1148"/>
            <p:cNvSpPr>
              <a:spLocks noChangeArrowheads="1"/>
            </p:cNvSpPr>
            <p:nvPr/>
          </p:nvSpPr>
          <p:spPr bwMode="auto">
            <a:xfrm>
              <a:off x="3182" y="1961"/>
              <a:ext cx="12" cy="7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89" name="Rectangle 1149"/>
            <p:cNvSpPr>
              <a:spLocks noChangeArrowheads="1"/>
            </p:cNvSpPr>
            <p:nvPr/>
          </p:nvSpPr>
          <p:spPr bwMode="auto">
            <a:xfrm>
              <a:off x="2966" y="931"/>
              <a:ext cx="12" cy="24"/>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0" name="Freeform 1151"/>
            <p:cNvSpPr>
              <a:spLocks/>
            </p:cNvSpPr>
            <p:nvPr/>
          </p:nvSpPr>
          <p:spPr bwMode="auto">
            <a:xfrm>
              <a:off x="2918" y="943"/>
              <a:ext cx="108" cy="144"/>
            </a:xfrm>
            <a:custGeom>
              <a:avLst/>
              <a:gdLst>
                <a:gd name="T0" fmla="*/ 2147483647 w 108"/>
                <a:gd name="T1" fmla="*/ 2147483647 h 144"/>
                <a:gd name="T2" fmla="*/ 2147483647 w 108"/>
                <a:gd name="T3" fmla="*/ 0 h 144"/>
                <a:gd name="T4" fmla="*/ 2147483647 w 108"/>
                <a:gd name="T5" fmla="*/ 0 h 144"/>
                <a:gd name="T6" fmla="*/ 2147483647 w 108"/>
                <a:gd name="T7" fmla="*/ 0 h 144"/>
                <a:gd name="T8" fmla="*/ 2147483647 w 108"/>
                <a:gd name="T9" fmla="*/ 2147483647 h 144"/>
                <a:gd name="T10" fmla="*/ 2147483647 w 108"/>
                <a:gd name="T11" fmla="*/ 2147483647 h 144"/>
                <a:gd name="T12" fmla="*/ 0 w 108"/>
                <a:gd name="T13" fmla="*/ 0 h 144"/>
                <a:gd name="T14" fmla="*/ 0 w 108"/>
                <a:gd name="T15" fmla="*/ 0 h 144"/>
                <a:gd name="T16" fmla="*/ 2147483647 w 108"/>
                <a:gd name="T17" fmla="*/ 0 h 144"/>
                <a:gd name="T18" fmla="*/ 2147483647 w 108"/>
                <a:gd name="T19" fmla="*/ 0 h 144"/>
                <a:gd name="T20" fmla="*/ 2147483647 w 108"/>
                <a:gd name="T21" fmla="*/ 2147483647 h 144"/>
                <a:gd name="T22" fmla="*/ 2147483647 w 108"/>
                <a:gd name="T23" fmla="*/ 2147483647 h 144"/>
                <a:gd name="T24" fmla="*/ 2147483647 w 108"/>
                <a:gd name="T25" fmla="*/ 2147483647 h 144"/>
                <a:gd name="T26" fmla="*/ 2147483647 w 108"/>
                <a:gd name="T27" fmla="*/ 0 h 144"/>
                <a:gd name="T28" fmla="*/ 2147483647 w 108"/>
                <a:gd name="T29" fmla="*/ 0 h 144"/>
                <a:gd name="T30" fmla="*/ 2147483647 w 108"/>
                <a:gd name="T31" fmla="*/ 2147483647 h 144"/>
                <a:gd name="T32" fmla="*/ 2147483647 w 108"/>
                <a:gd name="T33" fmla="*/ 2147483647 h 144"/>
                <a:gd name="T34" fmla="*/ 2147483647 w 108"/>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8"/>
                <a:gd name="T55" fmla="*/ 0 h 144"/>
                <a:gd name="T56" fmla="*/ 108 w 108"/>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8" h="144">
                  <a:moveTo>
                    <a:pt x="60" y="12"/>
                  </a:moveTo>
                  <a:lnTo>
                    <a:pt x="108" y="0"/>
                  </a:lnTo>
                  <a:lnTo>
                    <a:pt x="60" y="144"/>
                  </a:lnTo>
                  <a:lnTo>
                    <a:pt x="48" y="144"/>
                  </a:lnTo>
                  <a:lnTo>
                    <a:pt x="0" y="0"/>
                  </a:lnTo>
                  <a:lnTo>
                    <a:pt x="12" y="0"/>
                  </a:lnTo>
                  <a:lnTo>
                    <a:pt x="60" y="144"/>
                  </a:lnTo>
                  <a:lnTo>
                    <a:pt x="48" y="144"/>
                  </a:lnTo>
                  <a:lnTo>
                    <a:pt x="96" y="0"/>
                  </a:lnTo>
                  <a:lnTo>
                    <a:pt x="108" y="0"/>
                  </a:lnTo>
                  <a:lnTo>
                    <a:pt x="108" y="12"/>
                  </a:lnTo>
                  <a:lnTo>
                    <a:pt x="60" y="24"/>
                  </a:lnTo>
                  <a:lnTo>
                    <a:pt x="60"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1" name="Freeform 1152"/>
            <p:cNvSpPr>
              <a:spLocks/>
            </p:cNvSpPr>
            <p:nvPr/>
          </p:nvSpPr>
          <p:spPr bwMode="auto">
            <a:xfrm>
              <a:off x="2930" y="943"/>
              <a:ext cx="48" cy="24"/>
            </a:xfrm>
            <a:custGeom>
              <a:avLst/>
              <a:gdLst>
                <a:gd name="T0" fmla="*/ 0 w 48"/>
                <a:gd name="T1" fmla="*/ 0 h 24"/>
                <a:gd name="T2" fmla="*/ 2147483647 w 48"/>
                <a:gd name="T3" fmla="*/ 2147483647 h 24"/>
                <a:gd name="T4" fmla="*/ 2147483647 w 48"/>
                <a:gd name="T5" fmla="*/ 2147483647 h 24"/>
                <a:gd name="T6" fmla="*/ 2147483647 w 48"/>
                <a:gd name="T7" fmla="*/ 2147483647 h 24"/>
                <a:gd name="T8" fmla="*/ 2147483647 w 48"/>
                <a:gd name="T9" fmla="*/ 2147483647 h 24"/>
                <a:gd name="T10" fmla="*/ 0 w 48"/>
                <a:gd name="T11" fmla="*/ 2147483647 h 24"/>
                <a:gd name="T12" fmla="*/ 0 w 48"/>
                <a:gd name="T13" fmla="*/ 0 h 24"/>
                <a:gd name="T14" fmla="*/ 0 60000 65536"/>
                <a:gd name="T15" fmla="*/ 0 60000 65536"/>
                <a:gd name="T16" fmla="*/ 0 60000 65536"/>
                <a:gd name="T17" fmla="*/ 0 60000 65536"/>
                <a:gd name="T18" fmla="*/ 0 60000 65536"/>
                <a:gd name="T19" fmla="*/ 0 60000 65536"/>
                <a:gd name="T20" fmla="*/ 0 60000 65536"/>
                <a:gd name="T21" fmla="*/ 0 w 48"/>
                <a:gd name="T22" fmla="*/ 0 h 24"/>
                <a:gd name="T23" fmla="*/ 48 w 4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4">
                  <a:moveTo>
                    <a:pt x="0" y="0"/>
                  </a:moveTo>
                  <a:lnTo>
                    <a:pt x="48" y="12"/>
                  </a:lnTo>
                  <a:lnTo>
                    <a:pt x="48" y="24"/>
                  </a:lnTo>
                  <a:lnTo>
                    <a:pt x="0" y="12"/>
                  </a:lnTo>
                  <a:lnTo>
                    <a:pt x="0" y="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2" name="Freeform 1153"/>
            <p:cNvSpPr>
              <a:spLocks/>
            </p:cNvSpPr>
            <p:nvPr/>
          </p:nvSpPr>
          <p:spPr bwMode="auto">
            <a:xfrm>
              <a:off x="2930" y="943"/>
              <a:ext cx="96" cy="144"/>
            </a:xfrm>
            <a:custGeom>
              <a:avLst/>
              <a:gdLst>
                <a:gd name="T0" fmla="*/ 2147483647 w 96"/>
                <a:gd name="T1" fmla="*/ 2147483647 h 144"/>
                <a:gd name="T2" fmla="*/ 2147483647 w 96"/>
                <a:gd name="T3" fmla="*/ 0 h 144"/>
                <a:gd name="T4" fmla="*/ 2147483647 w 96"/>
                <a:gd name="T5" fmla="*/ 2147483647 h 144"/>
                <a:gd name="T6" fmla="*/ 0 w 96"/>
                <a:gd name="T7" fmla="*/ 0 h 144"/>
                <a:gd name="T8" fmla="*/ 2147483647 w 96"/>
                <a:gd name="T9" fmla="*/ 2147483647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48" y="12"/>
                  </a:moveTo>
                  <a:lnTo>
                    <a:pt x="96" y="0"/>
                  </a:lnTo>
                  <a:lnTo>
                    <a:pt x="48" y="144"/>
                  </a:lnTo>
                  <a:lnTo>
                    <a:pt x="0" y="0"/>
                  </a:lnTo>
                  <a:lnTo>
                    <a:pt x="48"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3" name="Rectangle 1154"/>
            <p:cNvSpPr>
              <a:spLocks noChangeArrowheads="1"/>
            </p:cNvSpPr>
            <p:nvPr/>
          </p:nvSpPr>
          <p:spPr bwMode="auto">
            <a:xfrm>
              <a:off x="2966" y="764"/>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4" name="Rectangle 1155"/>
            <p:cNvSpPr>
              <a:spLocks noChangeArrowheads="1"/>
            </p:cNvSpPr>
            <p:nvPr/>
          </p:nvSpPr>
          <p:spPr bwMode="auto">
            <a:xfrm>
              <a:off x="2978" y="931"/>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5" name="Rectangle 1156"/>
            <p:cNvSpPr>
              <a:spLocks noChangeArrowheads="1"/>
            </p:cNvSpPr>
            <p:nvPr/>
          </p:nvSpPr>
          <p:spPr bwMode="auto">
            <a:xfrm>
              <a:off x="2966" y="764"/>
              <a:ext cx="12" cy="167"/>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6" name="Rectangle 1157"/>
            <p:cNvSpPr>
              <a:spLocks noChangeArrowheads="1"/>
            </p:cNvSpPr>
            <p:nvPr/>
          </p:nvSpPr>
          <p:spPr bwMode="auto">
            <a:xfrm>
              <a:off x="3935" y="1015"/>
              <a:ext cx="12" cy="24"/>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7" name="Freeform 1158"/>
            <p:cNvSpPr>
              <a:spLocks/>
            </p:cNvSpPr>
            <p:nvPr/>
          </p:nvSpPr>
          <p:spPr bwMode="auto">
            <a:xfrm>
              <a:off x="3935" y="1015"/>
              <a:ext cx="24" cy="12"/>
            </a:xfrm>
            <a:custGeom>
              <a:avLst/>
              <a:gdLst>
                <a:gd name="T0" fmla="*/ 2147483647 w 24"/>
                <a:gd name="T1" fmla="*/ 2147483647 h 12"/>
                <a:gd name="T2" fmla="*/ 2147483647 w 24"/>
                <a:gd name="T3" fmla="*/ 2147483647 h 12"/>
                <a:gd name="T4" fmla="*/ 2147483647 w 24"/>
                <a:gd name="T5" fmla="*/ 0 h 12"/>
                <a:gd name="T6" fmla="*/ 2147483647 w 24"/>
                <a:gd name="T7" fmla="*/ 0 h 12"/>
                <a:gd name="T8" fmla="*/ 2147483647 w 24"/>
                <a:gd name="T9" fmla="*/ 0 h 12"/>
                <a:gd name="T10" fmla="*/ 2147483647 w 24"/>
                <a:gd name="T11" fmla="*/ 0 h 12"/>
                <a:gd name="T12" fmla="*/ 0 w 24"/>
                <a:gd name="T13" fmla="*/ 0 h 12"/>
                <a:gd name="T14" fmla="*/ 2147483647 w 24"/>
                <a:gd name="T15" fmla="*/ 2147483647 h 12"/>
                <a:gd name="T16" fmla="*/ 2147483647 w 24"/>
                <a:gd name="T17" fmla="*/ 2147483647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12"/>
                <a:gd name="T29" fmla="*/ 24 w 24"/>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12">
                  <a:moveTo>
                    <a:pt x="12" y="12"/>
                  </a:moveTo>
                  <a:lnTo>
                    <a:pt x="12" y="12"/>
                  </a:lnTo>
                  <a:lnTo>
                    <a:pt x="24" y="0"/>
                  </a:lnTo>
                  <a:lnTo>
                    <a:pt x="12" y="0"/>
                  </a:lnTo>
                  <a:lnTo>
                    <a:pt x="0" y="0"/>
                  </a:lnTo>
                  <a:lnTo>
                    <a:pt x="12"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8" name="Freeform 1159"/>
            <p:cNvSpPr>
              <a:spLocks/>
            </p:cNvSpPr>
            <p:nvPr/>
          </p:nvSpPr>
          <p:spPr bwMode="auto">
            <a:xfrm>
              <a:off x="3887" y="1027"/>
              <a:ext cx="108" cy="144"/>
            </a:xfrm>
            <a:custGeom>
              <a:avLst/>
              <a:gdLst>
                <a:gd name="T0" fmla="*/ 2147483647 w 108"/>
                <a:gd name="T1" fmla="*/ 2147483647 h 144"/>
                <a:gd name="T2" fmla="*/ 2147483647 w 108"/>
                <a:gd name="T3" fmla="*/ 0 h 144"/>
                <a:gd name="T4" fmla="*/ 2147483647 w 108"/>
                <a:gd name="T5" fmla="*/ 0 h 144"/>
                <a:gd name="T6" fmla="*/ 2147483647 w 108"/>
                <a:gd name="T7" fmla="*/ 0 h 144"/>
                <a:gd name="T8" fmla="*/ 2147483647 w 108"/>
                <a:gd name="T9" fmla="*/ 2147483647 h 144"/>
                <a:gd name="T10" fmla="*/ 2147483647 w 108"/>
                <a:gd name="T11" fmla="*/ 2147483647 h 144"/>
                <a:gd name="T12" fmla="*/ 0 w 108"/>
                <a:gd name="T13" fmla="*/ 0 h 144"/>
                <a:gd name="T14" fmla="*/ 0 w 108"/>
                <a:gd name="T15" fmla="*/ 0 h 144"/>
                <a:gd name="T16" fmla="*/ 2147483647 w 108"/>
                <a:gd name="T17" fmla="*/ 0 h 144"/>
                <a:gd name="T18" fmla="*/ 2147483647 w 108"/>
                <a:gd name="T19" fmla="*/ 0 h 144"/>
                <a:gd name="T20" fmla="*/ 2147483647 w 108"/>
                <a:gd name="T21" fmla="*/ 2147483647 h 144"/>
                <a:gd name="T22" fmla="*/ 2147483647 w 108"/>
                <a:gd name="T23" fmla="*/ 2147483647 h 144"/>
                <a:gd name="T24" fmla="*/ 2147483647 w 108"/>
                <a:gd name="T25" fmla="*/ 2147483647 h 144"/>
                <a:gd name="T26" fmla="*/ 2147483647 w 108"/>
                <a:gd name="T27" fmla="*/ 0 h 144"/>
                <a:gd name="T28" fmla="*/ 2147483647 w 108"/>
                <a:gd name="T29" fmla="*/ 0 h 144"/>
                <a:gd name="T30" fmla="*/ 2147483647 w 108"/>
                <a:gd name="T31" fmla="*/ 2147483647 h 144"/>
                <a:gd name="T32" fmla="*/ 2147483647 w 108"/>
                <a:gd name="T33" fmla="*/ 2147483647 h 144"/>
                <a:gd name="T34" fmla="*/ 2147483647 w 108"/>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8"/>
                <a:gd name="T55" fmla="*/ 0 h 144"/>
                <a:gd name="T56" fmla="*/ 108 w 108"/>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8" h="144">
                  <a:moveTo>
                    <a:pt x="60" y="12"/>
                  </a:moveTo>
                  <a:lnTo>
                    <a:pt x="108" y="0"/>
                  </a:lnTo>
                  <a:lnTo>
                    <a:pt x="60" y="144"/>
                  </a:lnTo>
                  <a:lnTo>
                    <a:pt x="48" y="144"/>
                  </a:lnTo>
                  <a:lnTo>
                    <a:pt x="0" y="0"/>
                  </a:lnTo>
                  <a:lnTo>
                    <a:pt x="12" y="0"/>
                  </a:lnTo>
                  <a:lnTo>
                    <a:pt x="60" y="144"/>
                  </a:lnTo>
                  <a:lnTo>
                    <a:pt x="48" y="144"/>
                  </a:lnTo>
                  <a:lnTo>
                    <a:pt x="96" y="0"/>
                  </a:lnTo>
                  <a:lnTo>
                    <a:pt x="108" y="0"/>
                  </a:lnTo>
                  <a:lnTo>
                    <a:pt x="108" y="12"/>
                  </a:lnTo>
                  <a:lnTo>
                    <a:pt x="60" y="24"/>
                  </a:lnTo>
                  <a:lnTo>
                    <a:pt x="60"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99" name="Freeform 1160"/>
            <p:cNvSpPr>
              <a:spLocks/>
            </p:cNvSpPr>
            <p:nvPr/>
          </p:nvSpPr>
          <p:spPr bwMode="auto">
            <a:xfrm>
              <a:off x="3899" y="1027"/>
              <a:ext cx="48" cy="24"/>
            </a:xfrm>
            <a:custGeom>
              <a:avLst/>
              <a:gdLst>
                <a:gd name="T0" fmla="*/ 0 w 48"/>
                <a:gd name="T1" fmla="*/ 0 h 24"/>
                <a:gd name="T2" fmla="*/ 2147483647 w 48"/>
                <a:gd name="T3" fmla="*/ 2147483647 h 24"/>
                <a:gd name="T4" fmla="*/ 2147483647 w 48"/>
                <a:gd name="T5" fmla="*/ 2147483647 h 24"/>
                <a:gd name="T6" fmla="*/ 2147483647 w 48"/>
                <a:gd name="T7" fmla="*/ 2147483647 h 24"/>
                <a:gd name="T8" fmla="*/ 2147483647 w 48"/>
                <a:gd name="T9" fmla="*/ 2147483647 h 24"/>
                <a:gd name="T10" fmla="*/ 0 w 48"/>
                <a:gd name="T11" fmla="*/ 2147483647 h 24"/>
                <a:gd name="T12" fmla="*/ 0 w 48"/>
                <a:gd name="T13" fmla="*/ 0 h 24"/>
                <a:gd name="T14" fmla="*/ 0 60000 65536"/>
                <a:gd name="T15" fmla="*/ 0 60000 65536"/>
                <a:gd name="T16" fmla="*/ 0 60000 65536"/>
                <a:gd name="T17" fmla="*/ 0 60000 65536"/>
                <a:gd name="T18" fmla="*/ 0 60000 65536"/>
                <a:gd name="T19" fmla="*/ 0 60000 65536"/>
                <a:gd name="T20" fmla="*/ 0 60000 65536"/>
                <a:gd name="T21" fmla="*/ 0 w 48"/>
                <a:gd name="T22" fmla="*/ 0 h 24"/>
                <a:gd name="T23" fmla="*/ 48 w 4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4">
                  <a:moveTo>
                    <a:pt x="0" y="0"/>
                  </a:moveTo>
                  <a:lnTo>
                    <a:pt x="48" y="12"/>
                  </a:lnTo>
                  <a:lnTo>
                    <a:pt x="48" y="24"/>
                  </a:lnTo>
                  <a:lnTo>
                    <a:pt x="0" y="12"/>
                  </a:lnTo>
                  <a:lnTo>
                    <a:pt x="0" y="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0" name="Freeform 1161"/>
            <p:cNvSpPr>
              <a:spLocks/>
            </p:cNvSpPr>
            <p:nvPr/>
          </p:nvSpPr>
          <p:spPr bwMode="auto">
            <a:xfrm>
              <a:off x="3899" y="1027"/>
              <a:ext cx="96" cy="144"/>
            </a:xfrm>
            <a:custGeom>
              <a:avLst/>
              <a:gdLst>
                <a:gd name="T0" fmla="*/ 2147483647 w 96"/>
                <a:gd name="T1" fmla="*/ 2147483647 h 144"/>
                <a:gd name="T2" fmla="*/ 2147483647 w 96"/>
                <a:gd name="T3" fmla="*/ 0 h 144"/>
                <a:gd name="T4" fmla="*/ 2147483647 w 96"/>
                <a:gd name="T5" fmla="*/ 2147483647 h 144"/>
                <a:gd name="T6" fmla="*/ 0 w 96"/>
                <a:gd name="T7" fmla="*/ 0 h 144"/>
                <a:gd name="T8" fmla="*/ 2147483647 w 96"/>
                <a:gd name="T9" fmla="*/ 2147483647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48" y="12"/>
                  </a:moveTo>
                  <a:lnTo>
                    <a:pt x="96" y="0"/>
                  </a:lnTo>
                  <a:lnTo>
                    <a:pt x="48" y="144"/>
                  </a:lnTo>
                  <a:lnTo>
                    <a:pt x="0" y="0"/>
                  </a:lnTo>
                  <a:lnTo>
                    <a:pt x="48"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1" name="Rectangle 1162"/>
            <p:cNvSpPr>
              <a:spLocks noChangeArrowheads="1"/>
            </p:cNvSpPr>
            <p:nvPr/>
          </p:nvSpPr>
          <p:spPr bwMode="auto">
            <a:xfrm>
              <a:off x="3937" y="764"/>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2" name="Rectangle 1163"/>
            <p:cNvSpPr>
              <a:spLocks noChangeArrowheads="1"/>
            </p:cNvSpPr>
            <p:nvPr/>
          </p:nvSpPr>
          <p:spPr bwMode="auto">
            <a:xfrm>
              <a:off x="3947" y="1015"/>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3" name="Rectangle 1164"/>
            <p:cNvSpPr>
              <a:spLocks noChangeArrowheads="1"/>
            </p:cNvSpPr>
            <p:nvPr/>
          </p:nvSpPr>
          <p:spPr bwMode="auto">
            <a:xfrm>
              <a:off x="3937" y="764"/>
              <a:ext cx="12" cy="25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4" name="Rectangle 1166"/>
            <p:cNvSpPr>
              <a:spLocks noChangeArrowheads="1"/>
            </p:cNvSpPr>
            <p:nvPr/>
          </p:nvSpPr>
          <p:spPr bwMode="auto">
            <a:xfrm>
              <a:off x="3841" y="1769"/>
              <a:ext cx="12" cy="1"/>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5" name="Freeform 1167"/>
            <p:cNvSpPr>
              <a:spLocks/>
            </p:cNvSpPr>
            <p:nvPr/>
          </p:nvSpPr>
          <p:spPr bwMode="auto">
            <a:xfrm>
              <a:off x="3805" y="1769"/>
              <a:ext cx="48" cy="132"/>
            </a:xfrm>
            <a:custGeom>
              <a:avLst/>
              <a:gdLst>
                <a:gd name="T0" fmla="*/ 2147483647 w 48"/>
                <a:gd name="T1" fmla="*/ 0 h 132"/>
                <a:gd name="T2" fmla="*/ 2147483647 w 48"/>
                <a:gd name="T3" fmla="*/ 2147483647 h 132"/>
                <a:gd name="T4" fmla="*/ 0 w 48"/>
                <a:gd name="T5" fmla="*/ 2147483647 h 132"/>
                <a:gd name="T6" fmla="*/ 0 w 48"/>
                <a:gd name="T7" fmla="*/ 2147483647 h 132"/>
                <a:gd name="T8" fmla="*/ 0 w 48"/>
                <a:gd name="T9" fmla="*/ 2147483647 h 132"/>
                <a:gd name="T10" fmla="*/ 2147483647 w 48"/>
                <a:gd name="T11" fmla="*/ 0 h 132"/>
                <a:gd name="T12" fmla="*/ 2147483647 w 48"/>
                <a:gd name="T13" fmla="*/ 0 h 132"/>
                <a:gd name="T14" fmla="*/ 0 60000 65536"/>
                <a:gd name="T15" fmla="*/ 0 60000 65536"/>
                <a:gd name="T16" fmla="*/ 0 60000 65536"/>
                <a:gd name="T17" fmla="*/ 0 60000 65536"/>
                <a:gd name="T18" fmla="*/ 0 60000 65536"/>
                <a:gd name="T19" fmla="*/ 0 60000 65536"/>
                <a:gd name="T20" fmla="*/ 0 60000 65536"/>
                <a:gd name="T21" fmla="*/ 0 w 48"/>
                <a:gd name="T22" fmla="*/ 0 h 132"/>
                <a:gd name="T23" fmla="*/ 48 w 48"/>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32">
                  <a:moveTo>
                    <a:pt x="48" y="0"/>
                  </a:moveTo>
                  <a:lnTo>
                    <a:pt x="12" y="120"/>
                  </a:lnTo>
                  <a:lnTo>
                    <a:pt x="0" y="132"/>
                  </a:lnTo>
                  <a:lnTo>
                    <a:pt x="0" y="120"/>
                  </a:lnTo>
                  <a:lnTo>
                    <a:pt x="36" y="0"/>
                  </a:lnTo>
                  <a:lnTo>
                    <a:pt x="48" y="0"/>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6" name="Freeform 1168"/>
            <p:cNvSpPr>
              <a:spLocks/>
            </p:cNvSpPr>
            <p:nvPr/>
          </p:nvSpPr>
          <p:spPr bwMode="auto">
            <a:xfrm>
              <a:off x="3757" y="1889"/>
              <a:ext cx="48" cy="36"/>
            </a:xfrm>
            <a:custGeom>
              <a:avLst/>
              <a:gdLst>
                <a:gd name="T0" fmla="*/ 2147483647 w 48"/>
                <a:gd name="T1" fmla="*/ 2147483647 h 36"/>
                <a:gd name="T2" fmla="*/ 0 w 48"/>
                <a:gd name="T3" fmla="*/ 2147483647 h 36"/>
                <a:gd name="T4" fmla="*/ 0 w 48"/>
                <a:gd name="T5" fmla="*/ 2147483647 h 36"/>
                <a:gd name="T6" fmla="*/ 0 w 48"/>
                <a:gd name="T7" fmla="*/ 2147483647 h 36"/>
                <a:gd name="T8" fmla="*/ 0 w 48"/>
                <a:gd name="T9" fmla="*/ 2147483647 h 36"/>
                <a:gd name="T10" fmla="*/ 2147483647 w 48"/>
                <a:gd name="T11" fmla="*/ 0 h 36"/>
                <a:gd name="T12" fmla="*/ 2147483647 w 48"/>
                <a:gd name="T13" fmla="*/ 2147483647 h 36"/>
                <a:gd name="T14" fmla="*/ 0 60000 65536"/>
                <a:gd name="T15" fmla="*/ 0 60000 65536"/>
                <a:gd name="T16" fmla="*/ 0 60000 65536"/>
                <a:gd name="T17" fmla="*/ 0 60000 65536"/>
                <a:gd name="T18" fmla="*/ 0 60000 65536"/>
                <a:gd name="T19" fmla="*/ 0 60000 65536"/>
                <a:gd name="T20" fmla="*/ 0 60000 65536"/>
                <a:gd name="T21" fmla="*/ 0 w 48"/>
                <a:gd name="T22" fmla="*/ 0 h 36"/>
                <a:gd name="T23" fmla="*/ 48 w 48"/>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6">
                  <a:moveTo>
                    <a:pt x="48" y="12"/>
                  </a:moveTo>
                  <a:lnTo>
                    <a:pt x="0" y="36"/>
                  </a:lnTo>
                  <a:lnTo>
                    <a:pt x="0" y="24"/>
                  </a:lnTo>
                  <a:lnTo>
                    <a:pt x="48" y="0"/>
                  </a:lnTo>
                  <a:lnTo>
                    <a:pt x="48"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7" name="Rectangle 1169"/>
            <p:cNvSpPr>
              <a:spLocks noChangeArrowheads="1"/>
            </p:cNvSpPr>
            <p:nvPr/>
          </p:nvSpPr>
          <p:spPr bwMode="auto">
            <a:xfrm>
              <a:off x="3709" y="1925"/>
              <a:ext cx="1" cy="12"/>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sp>
          <p:nvSpPr>
            <p:cNvPr id="108" name="Freeform 1170"/>
            <p:cNvSpPr>
              <a:spLocks/>
            </p:cNvSpPr>
            <p:nvPr/>
          </p:nvSpPr>
          <p:spPr bwMode="auto">
            <a:xfrm>
              <a:off x="3709" y="1913"/>
              <a:ext cx="48" cy="24"/>
            </a:xfrm>
            <a:custGeom>
              <a:avLst/>
              <a:gdLst>
                <a:gd name="T0" fmla="*/ 2147483647 w 48"/>
                <a:gd name="T1" fmla="*/ 2147483647 h 24"/>
                <a:gd name="T2" fmla="*/ 2147483647 w 48"/>
                <a:gd name="T3" fmla="*/ 0 h 24"/>
                <a:gd name="T4" fmla="*/ 0 w 48"/>
                <a:gd name="T5" fmla="*/ 2147483647 h 24"/>
                <a:gd name="T6" fmla="*/ 0 w 48"/>
                <a:gd name="T7" fmla="*/ 2147483647 h 24"/>
                <a:gd name="T8" fmla="*/ 2147483647 w 48"/>
                <a:gd name="T9" fmla="*/ 2147483647 h 24"/>
                <a:gd name="T10" fmla="*/ 0 60000 65536"/>
                <a:gd name="T11" fmla="*/ 0 60000 65536"/>
                <a:gd name="T12" fmla="*/ 0 60000 65536"/>
                <a:gd name="T13" fmla="*/ 0 60000 65536"/>
                <a:gd name="T14" fmla="*/ 0 60000 65536"/>
                <a:gd name="T15" fmla="*/ 0 w 48"/>
                <a:gd name="T16" fmla="*/ 0 h 24"/>
                <a:gd name="T17" fmla="*/ 48 w 48"/>
                <a:gd name="T18" fmla="*/ 24 h 24"/>
              </a:gdLst>
              <a:ahLst/>
              <a:cxnLst>
                <a:cxn ang="T10">
                  <a:pos x="T0" y="T1"/>
                </a:cxn>
                <a:cxn ang="T11">
                  <a:pos x="T2" y="T3"/>
                </a:cxn>
                <a:cxn ang="T12">
                  <a:pos x="T4" y="T5"/>
                </a:cxn>
                <a:cxn ang="T13">
                  <a:pos x="T6" y="T7"/>
                </a:cxn>
                <a:cxn ang="T14">
                  <a:pos x="T8" y="T9"/>
                </a:cxn>
              </a:cxnLst>
              <a:rect l="T15" t="T16" r="T17" b="T18"/>
              <a:pathLst>
                <a:path w="48" h="24">
                  <a:moveTo>
                    <a:pt x="48" y="12"/>
                  </a:moveTo>
                  <a:lnTo>
                    <a:pt x="48" y="0"/>
                  </a:lnTo>
                  <a:lnTo>
                    <a:pt x="0" y="12"/>
                  </a:lnTo>
                  <a:lnTo>
                    <a:pt x="0" y="24"/>
                  </a:lnTo>
                  <a:lnTo>
                    <a:pt x="48" y="12"/>
                  </a:lnTo>
                  <a:close/>
                </a:path>
              </a:pathLst>
            </a:cu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endParaRPr lang="zh-TW" altLang="en-US">
                <a:ea typeface="新細明體" pitchFamily="18" charset="-120"/>
              </a:endParaRPr>
            </a:p>
          </p:txBody>
        </p:sp>
      </p:grpSp>
      <p:sp>
        <p:nvSpPr>
          <p:cNvPr id="109" name="Text Box 1029"/>
          <p:cNvSpPr txBox="1">
            <a:spLocks noChangeArrowheads="1"/>
          </p:cNvSpPr>
          <p:nvPr/>
        </p:nvSpPr>
        <p:spPr bwMode="auto">
          <a:xfrm>
            <a:off x="1162306" y="3511565"/>
            <a:ext cx="7829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a:solidFill>
                  <a:schemeClr val="tx1"/>
                </a:solidFill>
                <a:latin typeface="Times New Roman" panose="02020603050405020304" pitchFamily="18" charset="0"/>
              </a:defRPr>
            </a:lvl1pPr>
            <a:lvl2pPr marL="742950" indent="-285750">
              <a:defRPr sz="2800" b="1" i="1">
                <a:solidFill>
                  <a:schemeClr val="tx1"/>
                </a:solidFill>
                <a:latin typeface="Times New Roman" panose="02020603050405020304" pitchFamily="18" charset="0"/>
              </a:defRPr>
            </a:lvl2pPr>
            <a:lvl3pPr marL="1143000" indent="-228600">
              <a:defRPr sz="2800" b="1" i="1">
                <a:solidFill>
                  <a:schemeClr val="tx1"/>
                </a:solidFill>
                <a:latin typeface="Times New Roman" panose="02020603050405020304" pitchFamily="18" charset="0"/>
              </a:defRPr>
            </a:lvl3pPr>
            <a:lvl4pPr marL="1600200" indent="-228600">
              <a:defRPr sz="2800" b="1" i="1">
                <a:solidFill>
                  <a:schemeClr val="tx1"/>
                </a:solidFill>
                <a:latin typeface="Times New Roman" panose="02020603050405020304" pitchFamily="18" charset="0"/>
              </a:defRPr>
            </a:lvl4pPr>
            <a:lvl5pPr marL="2057400" indent="-228600">
              <a:defRPr sz="2800"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a:solidFill>
                  <a:schemeClr val="tx1"/>
                </a:solidFill>
                <a:latin typeface="Times New Roman" panose="02020603050405020304" pitchFamily="18" charset="0"/>
              </a:defRPr>
            </a:lvl9pPr>
          </a:lstStyle>
          <a:p>
            <a:r>
              <a:rPr lang="zh-CN" altLang="en-US" sz="2400" i="0" dirty="0">
                <a:solidFill>
                  <a:srgbClr val="000000"/>
                </a:solidFill>
                <a:ea typeface="楷体_GB2312" pitchFamily="49" charset="-122"/>
              </a:rPr>
              <a:t>自对准工艺中的</a:t>
            </a:r>
            <a:r>
              <a:rPr lang="en-US" altLang="zh-CN" sz="2400" i="0" dirty="0">
                <a:solidFill>
                  <a:srgbClr val="000000"/>
                </a:solidFill>
                <a:ea typeface="楷体_GB2312" pitchFamily="49" charset="-122"/>
              </a:rPr>
              <a:t>spacer</a:t>
            </a:r>
            <a:r>
              <a:rPr lang="zh-CN" altLang="en-US" sz="2400" i="0" dirty="0">
                <a:solidFill>
                  <a:srgbClr val="000000"/>
                </a:solidFill>
                <a:ea typeface="楷体_GB2312" pitchFamily="49" charset="-122"/>
              </a:rPr>
              <a:t>是寄生电阻的主要来源。</a:t>
            </a:r>
            <a:endParaRPr lang="en-US" altLang="zh-TW" sz="2400" i="0" dirty="0">
              <a:solidFill>
                <a:srgbClr val="000000"/>
              </a:solidFill>
              <a:ea typeface="楷体_GB2312" pitchFamily="49" charset="-122"/>
            </a:endParaRPr>
          </a:p>
        </p:txBody>
      </p:sp>
    </p:spTree>
    <p:extLst>
      <p:ext uri="{BB962C8B-B14F-4D97-AF65-F5344CB8AC3E}">
        <p14:creationId xmlns:p14="http://schemas.microsoft.com/office/powerpoint/2010/main" val="38631625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CA8577B-DB30-4913-87AD-6957130A3461}"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21186" name="Rectangle 2"/>
          <p:cNvSpPr>
            <a:spLocks noGrp="1" noChangeArrowheads="1"/>
          </p:cNvSpPr>
          <p:nvPr>
            <p:ph type="title"/>
          </p:nvPr>
        </p:nvSpPr>
        <p:spPr/>
        <p:txBody>
          <a:bodyPr/>
          <a:lstStyle/>
          <a:p>
            <a:r>
              <a:rPr kumimoji="1" lang="zh-CN" altLang="en-US" kern="1200" dirty="0" smtClean="0">
                <a:solidFill>
                  <a:srgbClr val="FF3300"/>
                </a:solidFill>
                <a:ea typeface="宋体" pitchFamily="2" charset="-122"/>
                <a:cs typeface="+mn-cs"/>
              </a:rPr>
              <a:t>减小</a:t>
            </a:r>
            <a:r>
              <a:rPr kumimoji="1" lang="zh-CN" altLang="en-US" kern="1200" dirty="0">
                <a:solidFill>
                  <a:srgbClr val="FF3300"/>
                </a:solidFill>
                <a:ea typeface="宋体" pitchFamily="2" charset="-122"/>
                <a:cs typeface="+mn-cs"/>
              </a:rPr>
              <a:t>漏场的结构</a:t>
            </a:r>
          </a:p>
        </p:txBody>
      </p:sp>
      <p:sp>
        <p:nvSpPr>
          <p:cNvPr id="221187" name="Rectangle 3"/>
          <p:cNvSpPr>
            <a:spLocks noChangeArrowheads="1"/>
          </p:cNvSpPr>
          <p:nvPr/>
        </p:nvSpPr>
        <p:spPr bwMode="auto">
          <a:xfrm>
            <a:off x="431800" y="765175"/>
            <a:ext cx="8388350" cy="137318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克服热载流子效应是短沟</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VLSI</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器件结构设计的关键。轻掺杂漏区结构</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(LDD) </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是为减弱热载流子效应而提出的器件结构的改进方案。</a:t>
            </a:r>
          </a:p>
        </p:txBody>
      </p:sp>
      <p:pic>
        <p:nvPicPr>
          <p:cNvPr id="221188" name="Picture 4"/>
          <p:cNvPicPr>
            <a:picLocks noChangeAspect="1" noChangeArrowheads="1"/>
          </p:cNvPicPr>
          <p:nvPr/>
        </p:nvPicPr>
        <p:blipFill>
          <a:blip r:embed="rId2" cstate="print"/>
          <a:srcRect/>
          <a:stretch>
            <a:fillRect/>
          </a:stretch>
        </p:blipFill>
        <p:spPr bwMode="auto">
          <a:xfrm>
            <a:off x="546100" y="2276475"/>
            <a:ext cx="4062413" cy="4284663"/>
          </a:xfrm>
          <a:prstGeom prst="rect">
            <a:avLst/>
          </a:prstGeom>
          <a:noFill/>
          <a:ln w="9525" algn="ctr">
            <a:noFill/>
            <a:miter lim="800000"/>
            <a:headEnd/>
            <a:tailEnd/>
          </a:ln>
          <a:effectLst/>
        </p:spPr>
      </p:pic>
      <p:sp>
        <p:nvSpPr>
          <p:cNvPr id="221189" name="Rectangle 5"/>
          <p:cNvSpPr>
            <a:spLocks noChangeArrowheads="1"/>
          </p:cNvSpPr>
          <p:nvPr/>
        </p:nvSpPr>
        <p:spPr bwMode="auto">
          <a:xfrm>
            <a:off x="5040313" y="2744788"/>
            <a:ext cx="3492500" cy="3379787"/>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90000"/>
              </a:lnSpc>
              <a:spcBef>
                <a:spcPct val="50000"/>
              </a:spcBef>
              <a:spcAft>
                <a:spcPct val="0"/>
              </a:spcAft>
              <a:buClrTx/>
              <a:buSzTx/>
              <a:buFontTx/>
              <a:buNone/>
              <a:tabLst/>
              <a:defRPr/>
            </a:pPr>
            <a:r>
              <a:rPr kumimoji="0" lang="zh-CN" altLang="en-US" sz="28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rPr>
              <a:t>左图：</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LDD</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结构与常规结构</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MOS</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器件漏区掺杂分布与电场强度分布示意图</a:t>
            </a:r>
          </a:p>
          <a:p>
            <a:pPr marL="0" marR="0" lvl="0" indent="0" algn="l" defTabSz="914400" rtl="0" eaLnBrk="1" fontAlgn="base" latinLnBrk="0" hangingPunct="1">
              <a:lnSpc>
                <a:spcPct val="90000"/>
              </a:lnSpc>
              <a:spcBef>
                <a:spcPct val="50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LDD</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结构使漏区的横向电场大大下降，有效地抑制了热载流子效应</a:t>
            </a:r>
          </a:p>
        </p:txBody>
      </p:sp>
    </p:spTree>
    <p:extLst>
      <p:ext uri="{BB962C8B-B14F-4D97-AF65-F5344CB8AC3E}">
        <p14:creationId xmlns:p14="http://schemas.microsoft.com/office/powerpoint/2010/main" val="3720760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99</a:t>
            </a:fld>
            <a:endParaRPr lang="zh-CN" altLang="en-US"/>
          </a:p>
        </p:txBody>
      </p:sp>
      <p:graphicFrame>
        <p:nvGraphicFramePr>
          <p:cNvPr id="3" name="Object 3"/>
          <p:cNvGraphicFramePr>
            <a:graphicFrameLocks noChangeAspect="1"/>
          </p:cNvGraphicFramePr>
          <p:nvPr>
            <p:extLst>
              <p:ext uri="{D42A27DB-BD31-4B8C-83A1-F6EECF244321}">
                <p14:modId xmlns:p14="http://schemas.microsoft.com/office/powerpoint/2010/main" val="4087271510"/>
              </p:ext>
            </p:extLst>
          </p:nvPr>
        </p:nvGraphicFramePr>
        <p:xfrm>
          <a:off x="1300982" y="5162192"/>
          <a:ext cx="1770062" cy="563562"/>
        </p:xfrm>
        <a:graphic>
          <a:graphicData uri="http://schemas.openxmlformats.org/presentationml/2006/ole">
            <mc:AlternateContent xmlns:mc="http://schemas.openxmlformats.org/markup-compatibility/2006">
              <mc:Choice xmlns:v="urn:schemas-microsoft-com:vml" Requires="v">
                <p:oleObj spid="_x0000_s240782" name="Equation" r:id="rId3" imgW="761760" imgH="241200" progId="Equation.3">
                  <p:embed/>
                </p:oleObj>
              </mc:Choice>
              <mc:Fallback>
                <p:oleObj name="Equation" r:id="rId3" imgW="761760" imgH="241200" progId="Equation.3">
                  <p:embed/>
                  <p:pic>
                    <p:nvPicPr>
                      <p:cNvPr id="2253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982" y="5162192"/>
                        <a:ext cx="1770062"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 name="Picture 1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1123" y="719138"/>
            <a:ext cx="2784475"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9021" y="719138"/>
            <a:ext cx="46069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8"/>
          <p:cNvGraphicFramePr>
            <a:graphicFrameLocks noChangeAspect="1"/>
          </p:cNvGraphicFramePr>
          <p:nvPr>
            <p:extLst>
              <p:ext uri="{D42A27DB-BD31-4B8C-83A1-F6EECF244321}">
                <p14:modId xmlns:p14="http://schemas.microsoft.com/office/powerpoint/2010/main" val="1027646332"/>
              </p:ext>
            </p:extLst>
          </p:nvPr>
        </p:nvGraphicFramePr>
        <p:xfrm>
          <a:off x="4763422" y="4107733"/>
          <a:ext cx="2778125" cy="741363"/>
        </p:xfrm>
        <a:graphic>
          <a:graphicData uri="http://schemas.openxmlformats.org/presentationml/2006/ole">
            <mc:AlternateContent xmlns:mc="http://schemas.openxmlformats.org/markup-compatibility/2006">
              <mc:Choice xmlns:v="urn:schemas-microsoft-com:vml" Requires="v">
                <p:oleObj spid="_x0000_s240783" name="Equation" r:id="rId7" imgW="1612800" imgH="431640" progId="Equation.3">
                  <p:embed/>
                </p:oleObj>
              </mc:Choice>
              <mc:Fallback>
                <p:oleObj name="Equation" r:id="rId7" imgW="1612800" imgH="431640" progId="Equation.3">
                  <p:embed/>
                  <p:pic>
                    <p:nvPicPr>
                      <p:cNvPr id="23554"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3422" y="4107733"/>
                        <a:ext cx="2778125" cy="74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3826751009"/>
              </p:ext>
            </p:extLst>
          </p:nvPr>
        </p:nvGraphicFramePr>
        <p:xfrm>
          <a:off x="4674521" y="5838190"/>
          <a:ext cx="3273425" cy="803275"/>
        </p:xfrm>
        <a:graphic>
          <a:graphicData uri="http://schemas.openxmlformats.org/presentationml/2006/ole">
            <mc:AlternateContent xmlns:mc="http://schemas.openxmlformats.org/markup-compatibility/2006">
              <mc:Choice xmlns:v="urn:schemas-microsoft-com:vml" Requires="v">
                <p:oleObj spid="_x0000_s240784" name="Equation" r:id="rId9" imgW="1803240" imgH="444240" progId="Equation.3">
                  <p:embed/>
                </p:oleObj>
              </mc:Choice>
              <mc:Fallback>
                <p:oleObj name="Equation" r:id="rId9" imgW="1803240" imgH="444240" progId="Equation.3">
                  <p:embed/>
                  <p:pic>
                    <p:nvPicPr>
                      <p:cNvPr id="23555"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4521" y="5838190"/>
                        <a:ext cx="3273425"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1931625362"/>
              </p:ext>
            </p:extLst>
          </p:nvPr>
        </p:nvGraphicFramePr>
        <p:xfrm>
          <a:off x="5106322" y="5020546"/>
          <a:ext cx="2409825" cy="736600"/>
        </p:xfrm>
        <a:graphic>
          <a:graphicData uri="http://schemas.openxmlformats.org/presentationml/2006/ole">
            <mc:AlternateContent xmlns:mc="http://schemas.openxmlformats.org/markup-compatibility/2006">
              <mc:Choice xmlns:v="urn:schemas-microsoft-com:vml" Requires="v">
                <p:oleObj spid="_x0000_s240785" name="Equation" r:id="rId11" imgW="1447560" imgH="444240" progId="Equation.3">
                  <p:embed/>
                </p:oleObj>
              </mc:Choice>
              <mc:Fallback>
                <p:oleObj name="Equation" r:id="rId11" imgW="1447560" imgH="444240" progId="Equation.3">
                  <p:embed/>
                  <p:pic>
                    <p:nvPicPr>
                      <p:cNvPr id="23556"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06322" y="5020546"/>
                        <a:ext cx="2409825"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2"/>
          <p:cNvSpPr txBox="1">
            <a:spLocks noChangeArrowheads="1"/>
          </p:cNvSpPr>
          <p:nvPr/>
        </p:nvSpPr>
        <p:spPr>
          <a:xfrm>
            <a:off x="313045" y="204787"/>
            <a:ext cx="8229600" cy="561975"/>
          </a:xfrm>
          <a:prstGeom prst="rect">
            <a:avLst/>
          </a:prstGeom>
        </p:spPr>
        <p:txBody>
          <a:bodyPr/>
          <a:lstStyle>
            <a:lvl1pPr algn="l" rtl="0" fontAlgn="base">
              <a:spcBef>
                <a:spcPct val="0"/>
              </a:spcBef>
              <a:spcAft>
                <a:spcPct val="0"/>
              </a:spcAft>
              <a:defRPr lang="zh-CN" altLang="en-US" sz="2800" b="1" dirty="0" smtClean="0">
                <a:solidFill>
                  <a:schemeClr val="tx2"/>
                </a:solidFill>
                <a:latin typeface="Times New Roman" pitchFamily="18" charset="0"/>
                <a:ea typeface="楷体_GB2312" pitchFamily="49" charset="-122"/>
                <a:cs typeface="Times New Roman" pitchFamily="18" charset="0"/>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kern="0" dirty="0" smtClean="0">
                <a:solidFill>
                  <a:srgbClr val="FF3300"/>
                </a:solidFill>
                <a:ea typeface="宋体" pitchFamily="2" charset="-122"/>
                <a:cs typeface="+mn-cs"/>
              </a:rPr>
              <a:t>提取源漏电阻和有效沟道长度</a:t>
            </a:r>
            <a:endParaRPr kumimoji="1" lang="zh-CN" altLang="en-US" kern="0" dirty="0">
              <a:solidFill>
                <a:srgbClr val="FF3300"/>
              </a:solidFill>
              <a:ea typeface="宋体" pitchFamily="2" charset="-122"/>
              <a:cs typeface="+mn-cs"/>
            </a:endParaRPr>
          </a:p>
        </p:txBody>
      </p:sp>
      <p:sp>
        <p:nvSpPr>
          <p:cNvPr id="10" name="Rectangle 9"/>
          <p:cNvSpPr>
            <a:spLocks noChangeArrowheads="1"/>
          </p:cNvSpPr>
          <p:nvPr/>
        </p:nvSpPr>
        <p:spPr bwMode="auto">
          <a:xfrm>
            <a:off x="1162869" y="5873672"/>
            <a:ext cx="2346038" cy="492443"/>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00000"/>
              </a:buClr>
              <a:buSzPct val="60000"/>
              <a:buFont typeface="Wingdings" pitchFamily="2" charset="2"/>
              <a:buNone/>
              <a:tabLst/>
              <a:defRPr/>
            </a:pP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有效沟道长度</a:t>
            </a:r>
            <a:endParaRPr kumimoji="1"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6255210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100</a:t>
            </a:fld>
            <a:endParaRPr lang="zh-CN" altLang="en-US"/>
          </a:p>
        </p:txBody>
      </p:sp>
      <p:sp>
        <p:nvSpPr>
          <p:cNvPr id="4" name="文本框 3"/>
          <p:cNvSpPr txBox="1"/>
          <p:nvPr>
            <p:custDataLst>
              <p:tags r:id="rId2"/>
            </p:custDataLst>
          </p:nvPr>
        </p:nvSpPr>
        <p:spPr>
          <a:xfrm>
            <a:off x="914400" y="315829"/>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以下哪些效应是小尺寸</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MOSFET</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可能面临的问题：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1966561"/>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阈值电压随沟道长度变化</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2727838"/>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亚阈值电流与漏端电压有关</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3489116"/>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亚</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阈值斜率增大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4293528"/>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栅电流增大</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a:xfrm>
            <a:off x="1114425" y="203085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8"/>
            </p:custDataLst>
          </p:nvPr>
        </p:nvSpPr>
        <p:spPr>
          <a:xfrm>
            <a:off x="1114425" y="2792131"/>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9"/>
            </p:custDataLst>
          </p:nvPr>
        </p:nvSpPr>
        <p:spPr>
          <a:xfrm>
            <a:off x="1114425" y="3553409"/>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10"/>
            </p:custDataLst>
          </p:nvPr>
        </p:nvSpPr>
        <p:spPr>
          <a:xfrm>
            <a:off x="1114425" y="4357821"/>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文本框 19"/>
          <p:cNvSpPr txBox="1"/>
          <p:nvPr>
            <p:custDataLst>
              <p:tags r:id="rId12"/>
            </p:custDataLst>
          </p:nvPr>
        </p:nvSpPr>
        <p:spPr>
          <a:xfrm>
            <a:off x="1828800" y="5072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开态电流降低</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矩形 20"/>
          <p:cNvSpPr>
            <a:spLocks noChangeAspect="1"/>
          </p:cNvSpPr>
          <p:nvPr>
            <p:custDataLst>
              <p:tags r:id="rId13"/>
            </p:custDataLst>
          </p:nvPr>
        </p:nvSpPr>
        <p:spPr>
          <a:xfrm>
            <a:off x="1114425" y="5136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文本框 21"/>
          <p:cNvSpPr txBox="1"/>
          <p:nvPr>
            <p:custDataLst>
              <p:tags r:id="rId14"/>
            </p:custDataLst>
          </p:nvPr>
        </p:nvSpPr>
        <p:spPr>
          <a:xfrm>
            <a:off x="1828800" y="5841966"/>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饱和区电流不饱和</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3" name="矩形 22"/>
          <p:cNvSpPr>
            <a:spLocks noChangeAspect="1"/>
          </p:cNvSpPr>
          <p:nvPr>
            <p:custDataLst>
              <p:tags r:id="rId15"/>
            </p:custDataLst>
          </p:nvPr>
        </p:nvSpPr>
        <p:spPr>
          <a:xfrm>
            <a:off x="1114425" y="5906259"/>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F</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6"/>
            </p:custDataLst>
          </p:nvPr>
        </p:nvGrpSpPr>
        <p:grpSpPr>
          <a:xfrm>
            <a:off x="0" y="0"/>
            <a:ext cx="9144000" cy="635000"/>
            <a:chOff x="0" y="0"/>
            <a:chExt cx="9144000" cy="635000"/>
          </a:xfrm>
        </p:grpSpPr>
        <p:sp>
          <p:nvSpPr>
            <p:cNvPr id="14" name="TitleBackground"/>
            <p:cNvSpPr/>
            <p:nvPr>
              <p:custDataLst>
                <p:tags r:id="rId18"/>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0"/>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21"/>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7"/>
            </p:custDataLst>
          </p:nvPr>
        </p:nvPicPr>
        <p:blipFill>
          <a:blip r:embed="rId2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6150051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73D98B-3BAB-4F57-A63E-24986D25DD6E}"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101</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19138" name="Rectangle 2"/>
          <p:cNvSpPr>
            <a:spLocks noGrp="1" noChangeArrowheads="1"/>
          </p:cNvSpPr>
          <p:nvPr>
            <p:ph type="title"/>
          </p:nvPr>
        </p:nvSpPr>
        <p:spPr/>
        <p:txBody>
          <a:bodyPr/>
          <a:lstStyle/>
          <a:p>
            <a:r>
              <a:rPr kumimoji="1" lang="en-US" altLang="zh-CN" dirty="0" smtClean="0">
                <a:solidFill>
                  <a:srgbClr val="FF3300"/>
                </a:solidFill>
                <a:ea typeface="宋体" pitchFamily="2" charset="-122"/>
                <a:cs typeface="+mn-cs"/>
              </a:rPr>
              <a:t>7. </a:t>
            </a:r>
            <a:r>
              <a:rPr kumimoji="1" lang="zh-CN" altLang="en-US" dirty="0">
                <a:solidFill>
                  <a:srgbClr val="FF3300"/>
                </a:solidFill>
                <a:ea typeface="宋体" pitchFamily="2" charset="-122"/>
                <a:cs typeface="+mn-cs"/>
              </a:rPr>
              <a:t>器件特性退化</a:t>
            </a:r>
          </a:p>
        </p:txBody>
      </p:sp>
      <p:sp>
        <p:nvSpPr>
          <p:cNvPr id="219139" name="Text Box 3"/>
          <p:cNvSpPr txBox="1">
            <a:spLocks noChangeArrowheads="1"/>
          </p:cNvSpPr>
          <p:nvPr/>
        </p:nvSpPr>
        <p:spPr bwMode="auto">
          <a:xfrm>
            <a:off x="250825" y="765175"/>
            <a:ext cx="56896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kern="0" dirty="0">
                <a:solidFill>
                  <a:srgbClr val="FF3300"/>
                </a:solidFill>
                <a:latin typeface="Times New Roman" pitchFamily="18" charset="0"/>
                <a:ea typeface="宋体" pitchFamily="2" charset="-122"/>
              </a:rPr>
              <a:t>（</a:t>
            </a:r>
            <a:r>
              <a:rPr kumimoji="1" lang="en-US" altLang="zh-CN" sz="2800" b="1" kern="0" dirty="0">
                <a:solidFill>
                  <a:srgbClr val="FF3300"/>
                </a:solidFill>
                <a:latin typeface="Times New Roman" pitchFamily="18" charset="0"/>
                <a:ea typeface="宋体" pitchFamily="2" charset="-122"/>
              </a:rPr>
              <a:t>1</a:t>
            </a:r>
            <a:r>
              <a:rPr kumimoji="1" lang="zh-CN" altLang="en-US" sz="2800" b="1" kern="0" dirty="0">
                <a:solidFill>
                  <a:srgbClr val="FF3300"/>
                </a:solidFill>
                <a:latin typeface="Times New Roman" pitchFamily="18" charset="0"/>
                <a:ea typeface="宋体" pitchFamily="2" charset="-122"/>
              </a:rPr>
              <a:t>）</a:t>
            </a:r>
            <a:r>
              <a:rPr kumimoji="1" lang="en-US" altLang="zh-CN" sz="2800" b="1" kern="0" dirty="0">
                <a:solidFill>
                  <a:srgbClr val="FF3300"/>
                </a:solidFill>
                <a:latin typeface="Times New Roman" pitchFamily="18" charset="0"/>
                <a:ea typeface="宋体" pitchFamily="2" charset="-122"/>
              </a:rPr>
              <a:t>n</a:t>
            </a:r>
            <a:r>
              <a:rPr kumimoji="1" lang="zh-CN" altLang="en-US" sz="2800" b="1" kern="0" dirty="0">
                <a:solidFill>
                  <a:srgbClr val="FF3300"/>
                </a:solidFill>
                <a:latin typeface="Times New Roman" pitchFamily="18" charset="0"/>
                <a:ea typeface="宋体" pitchFamily="2" charset="-122"/>
              </a:rPr>
              <a:t>沟</a:t>
            </a:r>
            <a:r>
              <a:rPr kumimoji="1" lang="en-US" altLang="zh-CN" sz="2800" b="1" kern="0" dirty="0">
                <a:solidFill>
                  <a:srgbClr val="FF3300"/>
                </a:solidFill>
                <a:latin typeface="Times New Roman" pitchFamily="18" charset="0"/>
                <a:ea typeface="宋体" pitchFamily="2" charset="-122"/>
              </a:rPr>
              <a:t>MOSFET</a:t>
            </a:r>
            <a:r>
              <a:rPr kumimoji="1" lang="zh-CN" altLang="en-US" sz="2800" b="1" kern="0" dirty="0">
                <a:solidFill>
                  <a:srgbClr val="FF3300"/>
                </a:solidFill>
                <a:latin typeface="Times New Roman" pitchFamily="18" charset="0"/>
                <a:ea typeface="宋体" pitchFamily="2" charset="-122"/>
              </a:rPr>
              <a:t>的退化机制 </a:t>
            </a:r>
          </a:p>
        </p:txBody>
      </p:sp>
      <p:pic>
        <p:nvPicPr>
          <p:cNvPr id="219140" name="Picture 4" descr="w0331-n"/>
          <p:cNvPicPr>
            <a:picLocks noChangeAspect="1" noChangeArrowheads="1"/>
          </p:cNvPicPr>
          <p:nvPr/>
        </p:nvPicPr>
        <p:blipFill>
          <a:blip r:embed="rId2" cstate="print"/>
          <a:srcRect/>
          <a:stretch>
            <a:fillRect/>
          </a:stretch>
        </p:blipFill>
        <p:spPr bwMode="auto">
          <a:xfrm>
            <a:off x="5021263" y="1555750"/>
            <a:ext cx="4014787" cy="5113338"/>
          </a:xfrm>
          <a:prstGeom prst="rect">
            <a:avLst/>
          </a:prstGeom>
          <a:noFill/>
          <a:ln w="9525">
            <a:noFill/>
            <a:miter lim="800000"/>
            <a:headEnd/>
            <a:tailEnd/>
          </a:ln>
        </p:spPr>
      </p:pic>
      <p:sp>
        <p:nvSpPr>
          <p:cNvPr id="219143" name="Rectangle 7"/>
          <p:cNvSpPr>
            <a:spLocks noChangeArrowheads="1"/>
          </p:cNvSpPr>
          <p:nvPr/>
        </p:nvSpPr>
        <p:spPr bwMode="auto">
          <a:xfrm>
            <a:off x="392113" y="1335088"/>
            <a:ext cx="4467225" cy="18859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热载流子引起的栅极电流通过两种机制导致退化：</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(1)</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氧化层俘获电荷</a:t>
            </a:r>
          </a:p>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产生界面态</a:t>
            </a:r>
          </a:p>
        </p:txBody>
      </p:sp>
      <p:sp>
        <p:nvSpPr>
          <p:cNvPr id="219144" name="Rectangle 8"/>
          <p:cNvSpPr>
            <a:spLocks noChangeArrowheads="1"/>
          </p:cNvSpPr>
          <p:nvPr/>
        </p:nvSpPr>
        <p:spPr bwMode="auto">
          <a:xfrm>
            <a:off x="392113" y="3349625"/>
            <a:ext cx="4284662" cy="216693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5000"/>
              </a:lnSpc>
              <a:spcBef>
                <a:spcPct val="1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造成电荷在栅氧化层中和</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或</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Si-SiO</a:t>
            </a:r>
            <a:r>
              <a:rPr kumimoji="0" lang="en-US" altLang="zh-CN" sz="28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界面处积累，影响</a:t>
            </a:r>
            <a:r>
              <a:rPr kumimoji="0" lang="en-US" altLang="zh-CN" sz="2800" b="1" i="1"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V</a:t>
            </a:r>
            <a:r>
              <a:rPr kumimoji="0" lang="en-US" altLang="zh-CN" sz="2800" b="1" i="1"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T</a:t>
            </a:r>
            <a:r>
              <a:rPr kumimoji="0" lang="en-US" altLang="zh-CN" sz="2800" b="1" i="1"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和</a:t>
            </a:r>
            <a:r>
              <a:rPr kumimoji="0" lang="en-US" altLang="zh-CN" sz="2800" b="1" i="1"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g</a:t>
            </a:r>
            <a:r>
              <a:rPr kumimoji="0" lang="en-US" altLang="zh-CN" sz="2800" b="1" i="1"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m</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95000"/>
              </a:lnSpc>
              <a:spcBef>
                <a:spcPct val="1000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热载流子效应导致器件的退化是随时间积累的</a:t>
            </a:r>
          </a:p>
        </p:txBody>
      </p:sp>
      <p:sp>
        <p:nvSpPr>
          <p:cNvPr id="219145" name="Rectangle 9"/>
          <p:cNvSpPr>
            <a:spLocks noChangeArrowheads="1"/>
          </p:cNvSpPr>
          <p:nvPr/>
        </p:nvSpPr>
        <p:spPr bwMode="auto">
          <a:xfrm>
            <a:off x="392113" y="5638800"/>
            <a:ext cx="3816350" cy="8858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
                <a:srgbClr val="000000"/>
              </a:buClr>
              <a:buSzPct val="60000"/>
              <a:buFont typeface="Wingdings" pitchFamily="2" charset="2"/>
              <a:buNone/>
              <a:tabLst/>
              <a:defRPr/>
            </a:pPr>
            <a:r>
              <a:rPr kumimoji="1"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右图：实线</a:t>
            </a: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是器件</a:t>
            </a:r>
            <a:r>
              <a:rPr kumimoji="1"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退化前，虚线是 器件退化后</a:t>
            </a:r>
          </a:p>
        </p:txBody>
      </p:sp>
    </p:spTree>
    <p:extLst>
      <p:ext uri="{BB962C8B-B14F-4D97-AF65-F5344CB8AC3E}">
        <p14:creationId xmlns:p14="http://schemas.microsoft.com/office/powerpoint/2010/main" val="14840796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5B07292-4306-420D-A328-7AAD902BCD30}"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102</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22210" name="Text Box 2"/>
          <p:cNvSpPr txBox="1">
            <a:spLocks noChangeArrowheads="1"/>
          </p:cNvSpPr>
          <p:nvPr/>
        </p:nvSpPr>
        <p:spPr bwMode="auto">
          <a:xfrm>
            <a:off x="358775" y="333375"/>
            <a:ext cx="8389938" cy="282416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0000"/>
              </a:lnSpc>
              <a:spcBef>
                <a:spcPct val="10000"/>
              </a:spcBef>
              <a:spcAft>
                <a:spcPct val="0"/>
              </a:spcAft>
              <a:buClrTx/>
              <a:buSzTx/>
              <a:buFontTx/>
              <a:buNone/>
              <a:tabLst/>
              <a:defRPr/>
            </a:pPr>
            <a:r>
              <a:rPr kumimoji="0" lang="zh-CN" altLang="en-US" sz="28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rPr>
              <a:t>例题</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的退化时间</a:t>
            </a:r>
          </a:p>
          <a:p>
            <a:pPr marL="0" marR="0" lvl="0" indent="0" algn="l" defTabSz="914400" rtl="0" eaLnBrk="1" fontAlgn="base" latinLnBrk="0" hangingPunct="1">
              <a:lnSpc>
                <a:spcPct val="90000"/>
              </a:lnSpc>
              <a:spcBef>
                <a:spcPct val="10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已知短沟</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t</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ox</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=30nm</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，热电子瞬间注入产生</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1nA</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的栅极电流，假设发生注入区域的面积为</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200nm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，并假设有比例为</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-6</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的注入电子在距离</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Si-SiO</a:t>
            </a:r>
            <a:r>
              <a:rPr kumimoji="0" lang="en-US" altLang="zh-CN" sz="2800" b="1" i="0"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界面平均</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0.1</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t</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ox</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处被俘获，计算在这个栅极电流下，使注入的区域的阈值电压改变</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100mV</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所需要的时间。 </a:t>
            </a:r>
          </a:p>
        </p:txBody>
      </p:sp>
      <p:sp>
        <p:nvSpPr>
          <p:cNvPr id="222211" name="Text Box 3"/>
          <p:cNvSpPr txBox="1">
            <a:spLocks noChangeArrowheads="1"/>
          </p:cNvSpPr>
          <p:nvPr/>
        </p:nvSpPr>
        <p:spPr bwMode="auto">
          <a:xfrm>
            <a:off x="395288" y="3176588"/>
            <a:ext cx="8353425" cy="284321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0000"/>
              </a:lnSpc>
              <a:spcBef>
                <a:spcPct val="5000"/>
              </a:spcBef>
              <a:spcAft>
                <a:spcPct val="0"/>
              </a:spcAft>
              <a:buClrTx/>
              <a:buSzTx/>
              <a:buFontTx/>
              <a:buNone/>
              <a:tabLst/>
              <a:defRPr/>
            </a:pPr>
            <a:r>
              <a:rPr kumimoji="0" lang="zh-CN" altLang="en-US" sz="28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rPr>
              <a:t>解：</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1nA</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的栅极电流，在注入区域的电流密度是</a:t>
            </a:r>
          </a:p>
          <a:p>
            <a:pPr marL="0" marR="0" lvl="0" indent="0" algn="ctr" defTabSz="914400" rtl="0" eaLnBrk="1" fontAlgn="base" latinLnBrk="0" hangingPunct="1">
              <a:lnSpc>
                <a:spcPct val="90000"/>
              </a:lnSpc>
              <a:spcBef>
                <a:spcPct val="5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-9</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/2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-8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5</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-2 </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A/cm</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2</a:t>
            </a:r>
          </a:p>
          <a:p>
            <a:pPr marL="0" marR="0" lvl="0" indent="0" algn="l" defTabSz="914400" rtl="0" eaLnBrk="1" fontAlgn="base" latinLnBrk="0" hangingPunct="1">
              <a:lnSpc>
                <a:spcPct val="90000"/>
              </a:lnSpc>
              <a:spcBef>
                <a:spcPct val="5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因为</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6</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个电子中有</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个电子被俘获，</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SiO</a:t>
            </a:r>
            <a:r>
              <a:rPr kumimoji="0" lang="en-US" altLang="zh-CN" sz="2800" b="1" i="0"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俘获电子的速率是</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5</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-2</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-6</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=5</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sym typeface="Symbol" pitchFamily="18" charset="2"/>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-8</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C</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Times New Roman" pitchFamily="18" charset="0"/>
              </a:rPr>
              <a: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s</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-1</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·cm</a:t>
            </a:r>
            <a:r>
              <a:rPr kumimoji="0" lang="en-US" altLang="zh-CN" sz="2800" b="1" i="0" u="none" strike="noStrike" kern="1200" cap="none" spc="0" normalizeH="0" baseline="30000" noProof="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90000"/>
              </a:lnSpc>
              <a:spcBef>
                <a:spcPct val="5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氧化层俘获的电荷将使平带电压漂移，从而改变阈值电压。假设这些电荷集中在一个薄层，那么平带电压的改变为</a:t>
            </a:r>
          </a:p>
        </p:txBody>
      </p:sp>
      <p:sp>
        <p:nvSpPr>
          <p:cNvPr id="222212" name="Rectangle 4"/>
          <p:cNvSpPr>
            <a:spLocks noChangeArrowheads="1"/>
          </p:cNvSpPr>
          <p:nvPr/>
        </p:nvSpPr>
        <p:spPr bwMode="auto">
          <a:xfrm>
            <a:off x="0" y="3219450"/>
            <a:ext cx="9144000" cy="0"/>
          </a:xfrm>
          <a:prstGeom prst="rect">
            <a:avLst/>
          </a:prstGeom>
          <a:noFill/>
          <a:ln w="9525">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22213" name="Object 5"/>
          <p:cNvGraphicFramePr>
            <a:graphicFrameLocks noGrp="1" noChangeAspect="1"/>
          </p:cNvGraphicFramePr>
          <p:nvPr>
            <p:ph/>
          </p:nvPr>
        </p:nvGraphicFramePr>
        <p:xfrm>
          <a:off x="2808288" y="5661025"/>
          <a:ext cx="3908425" cy="920750"/>
        </p:xfrm>
        <a:graphic>
          <a:graphicData uri="http://schemas.openxmlformats.org/presentationml/2006/ole">
            <mc:AlternateContent xmlns:mc="http://schemas.openxmlformats.org/markup-compatibility/2006">
              <mc:Choice xmlns:v="urn:schemas-microsoft-com:vml" Requires="v">
                <p:oleObj spid="_x0000_s232488" name="Equation" r:id="rId3" imgW="1777680" imgH="419040" progId="Equation.DSMT4">
                  <p:embed/>
                </p:oleObj>
              </mc:Choice>
              <mc:Fallback>
                <p:oleObj name="Equation" r:id="rId3" imgW="1777680" imgH="419040" progId="Equation.DSMT4">
                  <p:embed/>
                  <p:pic>
                    <p:nvPicPr>
                      <p:cNvPr id="22221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288" y="5661025"/>
                        <a:ext cx="3908425"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09601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32238E6-7456-43C0-8063-457B2B702B68}"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103</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23234" name="Rectangle 2"/>
          <p:cNvSpPr>
            <a:spLocks noChangeArrowheads="1"/>
          </p:cNvSpPr>
          <p:nvPr/>
        </p:nvSpPr>
        <p:spPr bwMode="auto">
          <a:xfrm>
            <a:off x="0" y="3230563"/>
            <a:ext cx="9144000" cy="0"/>
          </a:xfrm>
          <a:prstGeom prst="rect">
            <a:avLst/>
          </a:prstGeom>
          <a:noFill/>
          <a:ln w="9525">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23235" name="Object 3"/>
          <p:cNvGraphicFramePr>
            <a:graphicFrameLocks noChangeAspect="1"/>
          </p:cNvGraphicFramePr>
          <p:nvPr/>
        </p:nvGraphicFramePr>
        <p:xfrm>
          <a:off x="2339975" y="2097088"/>
          <a:ext cx="3708400" cy="904875"/>
        </p:xfrm>
        <a:graphic>
          <a:graphicData uri="http://schemas.openxmlformats.org/presentationml/2006/ole">
            <mc:AlternateContent xmlns:mc="http://schemas.openxmlformats.org/markup-compatibility/2006">
              <mc:Choice xmlns:v="urn:schemas-microsoft-com:vml" Requires="v">
                <p:oleObj spid="_x0000_s233550" name="Equation" r:id="rId3" imgW="1612900" imgH="393700" progId="Equation.DSMT4">
                  <p:embed/>
                </p:oleObj>
              </mc:Choice>
              <mc:Fallback>
                <p:oleObj name="Equation" r:id="rId3" imgW="1612900" imgH="393700" progId="Equation.DSMT4">
                  <p:embed/>
                  <p:pic>
                    <p:nvPicPr>
                      <p:cNvPr id="22323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2097088"/>
                        <a:ext cx="3708400"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36" name="Rectangle 4"/>
          <p:cNvSpPr>
            <a:spLocks noChangeArrowheads="1"/>
          </p:cNvSpPr>
          <p:nvPr/>
        </p:nvSpPr>
        <p:spPr bwMode="auto">
          <a:xfrm>
            <a:off x="0" y="3246438"/>
            <a:ext cx="9144000" cy="0"/>
          </a:xfrm>
          <a:prstGeom prst="rect">
            <a:avLst/>
          </a:prstGeom>
          <a:noFill/>
          <a:ln w="9525">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endParaRPr>
          </a:p>
        </p:txBody>
      </p:sp>
      <p:graphicFrame>
        <p:nvGraphicFramePr>
          <p:cNvPr id="223237" name="Object 5"/>
          <p:cNvGraphicFramePr>
            <a:graphicFrameLocks noChangeAspect="1"/>
          </p:cNvGraphicFramePr>
          <p:nvPr/>
        </p:nvGraphicFramePr>
        <p:xfrm>
          <a:off x="1800225" y="512763"/>
          <a:ext cx="6015038" cy="846137"/>
        </p:xfrm>
        <a:graphic>
          <a:graphicData uri="http://schemas.openxmlformats.org/presentationml/2006/ole">
            <mc:AlternateContent xmlns:mc="http://schemas.openxmlformats.org/markup-compatibility/2006">
              <mc:Choice xmlns:v="urn:schemas-microsoft-com:vml" Requires="v">
                <p:oleObj spid="_x0000_s233551" name="Equation" r:id="rId5" imgW="2616200" imgH="368300" progId="Equation.DSMT4">
                  <p:embed/>
                </p:oleObj>
              </mc:Choice>
              <mc:Fallback>
                <p:oleObj name="Equation" r:id="rId5" imgW="2616200" imgH="368300" progId="Equation.DSMT4">
                  <p:embed/>
                  <p:pic>
                    <p:nvPicPr>
                      <p:cNvPr id="2232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0225" y="512763"/>
                        <a:ext cx="6015038" cy="84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38" name="Rectangle 6"/>
          <p:cNvSpPr>
            <a:spLocks noChangeArrowheads="1"/>
          </p:cNvSpPr>
          <p:nvPr/>
        </p:nvSpPr>
        <p:spPr bwMode="auto">
          <a:xfrm>
            <a:off x="863600" y="1484313"/>
            <a:ext cx="5076825" cy="519112"/>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俘获这些电荷需要的时间为</a:t>
            </a:r>
          </a:p>
        </p:txBody>
      </p:sp>
      <p:sp>
        <p:nvSpPr>
          <p:cNvPr id="223239" name="Text Box 7"/>
          <p:cNvSpPr txBox="1">
            <a:spLocks noChangeArrowheads="1"/>
          </p:cNvSpPr>
          <p:nvPr/>
        </p:nvSpPr>
        <p:spPr bwMode="auto">
          <a:xfrm>
            <a:off x="447675" y="3105150"/>
            <a:ext cx="8372475" cy="33147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0000"/>
              </a:lnSpc>
              <a:spcBef>
                <a:spcPct val="35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退化的表征：器件退化的严重程度通常用阈值电压的改变量，或者线性区漏极电流变化的百分比来表征。在某些情况下，跨导或亚阈值斜率也被用来表征器件的退化。</a:t>
            </a:r>
          </a:p>
          <a:p>
            <a:pPr marL="0" marR="0" lvl="0" indent="0" algn="l" defTabSz="914400" rtl="0" eaLnBrk="1" fontAlgn="base" latinLnBrk="0" hangingPunct="1">
              <a:lnSpc>
                <a:spcPct val="90000"/>
              </a:lnSpc>
              <a:spcBef>
                <a:spcPct val="35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通常要求器件能在正常条件下可靠地工作</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年，而花</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10</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年的时间去判断器件的可靠性是不现实的，因此，需要在高于正常偏置的条件下进行加速应力测量，测出失效时间。 </a:t>
            </a:r>
          </a:p>
        </p:txBody>
      </p:sp>
    </p:spTree>
    <p:extLst>
      <p:ext uri="{BB962C8B-B14F-4D97-AF65-F5344CB8AC3E}">
        <p14:creationId xmlns:p14="http://schemas.microsoft.com/office/powerpoint/2010/main" val="22153346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26CCD4-BAF0-4C5C-8CB4-76D153D3CC16}"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104</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20162" name="Rectangle 2"/>
          <p:cNvSpPr>
            <a:spLocks noGrp="1" noChangeArrowheads="1"/>
          </p:cNvSpPr>
          <p:nvPr>
            <p:ph type="title"/>
          </p:nvPr>
        </p:nvSpPr>
        <p:spPr/>
        <p:txBody>
          <a:bodyPr/>
          <a:lstStyle/>
          <a:p>
            <a:r>
              <a:rPr kumimoji="1" lang="en-US" altLang="zh-CN" dirty="0" smtClean="0">
                <a:solidFill>
                  <a:srgbClr val="FF3300"/>
                </a:solidFill>
                <a:ea typeface="宋体" pitchFamily="2" charset="-122"/>
                <a:cs typeface="+mn-cs"/>
              </a:rPr>
              <a:t>n</a:t>
            </a:r>
            <a:r>
              <a:rPr kumimoji="1" lang="zh-CN" altLang="en-US" dirty="0">
                <a:solidFill>
                  <a:srgbClr val="FF3300"/>
                </a:solidFill>
                <a:ea typeface="宋体" pitchFamily="2" charset="-122"/>
                <a:cs typeface="+mn-cs"/>
              </a:rPr>
              <a:t>沟</a:t>
            </a:r>
            <a:r>
              <a:rPr kumimoji="1" lang="en-US" altLang="zh-CN" dirty="0">
                <a:solidFill>
                  <a:srgbClr val="FF3300"/>
                </a:solidFill>
                <a:ea typeface="宋体" pitchFamily="2" charset="-122"/>
                <a:cs typeface="+mn-cs"/>
              </a:rPr>
              <a:t>MOSFET</a:t>
            </a:r>
            <a:r>
              <a:rPr kumimoji="1" lang="zh-CN" altLang="en-US" dirty="0">
                <a:solidFill>
                  <a:srgbClr val="FF3300"/>
                </a:solidFill>
                <a:ea typeface="宋体" pitchFamily="2" charset="-122"/>
                <a:cs typeface="+mn-cs"/>
              </a:rPr>
              <a:t>退化的表征 </a:t>
            </a:r>
          </a:p>
        </p:txBody>
      </p:sp>
      <p:sp>
        <p:nvSpPr>
          <p:cNvPr id="220163" name="Text Box 3"/>
          <p:cNvSpPr txBox="1">
            <a:spLocks noChangeArrowheads="1"/>
          </p:cNvSpPr>
          <p:nvPr/>
        </p:nvSpPr>
        <p:spPr bwMode="auto">
          <a:xfrm>
            <a:off x="468313" y="836613"/>
            <a:ext cx="8445500" cy="26733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15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表征退化常用的参数：</a:t>
            </a:r>
          </a:p>
          <a:p>
            <a:pPr marL="0" marR="0" lvl="0" indent="0" algn="l" defTabSz="914400" rtl="0" eaLnBrk="1" fontAlgn="base" latinLnBrk="0" hangingPunct="1">
              <a:lnSpc>
                <a:spcPct val="115000"/>
              </a:lnSpc>
              <a:spcBef>
                <a:spcPct val="0"/>
              </a:spcBef>
              <a:spcAft>
                <a:spcPct val="0"/>
              </a:spcAft>
              <a:buClrTx/>
              <a:buSzTx/>
              <a:buFontTx/>
              <a:buChar char="•"/>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阈值电压的改变量</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V</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T</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115000"/>
              </a:lnSpc>
              <a:spcBef>
                <a:spcPct val="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线性区漏极电流变化的百分比</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I</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D</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I</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D</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115000"/>
              </a:lnSpc>
              <a:spcBef>
                <a:spcPct val="0"/>
              </a:spcBef>
              <a:spcAft>
                <a:spcPct val="0"/>
              </a:spcAft>
              <a:buClrTx/>
              <a:buSzTx/>
              <a:buFontTx/>
              <a:buChar char="•"/>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跨导</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g</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m</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或亚阈值斜率</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S</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115000"/>
              </a:lnSpc>
              <a:spcBef>
                <a:spcPct val="30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监测量：衬底电流</a:t>
            </a:r>
            <a:r>
              <a:rPr kumimoji="0" lang="en-US" altLang="zh-CN" sz="2800" b="1" i="1"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I</a:t>
            </a:r>
            <a:r>
              <a:rPr kumimoji="0" lang="en-US" altLang="zh-CN" sz="2800" b="1" i="1" u="none" strike="noStrike" kern="1200" cap="none" spc="0" normalizeH="0" baseline="-25000" noProof="0">
                <a:ln>
                  <a:noFill/>
                </a:ln>
                <a:solidFill>
                  <a:srgbClr val="000000"/>
                </a:solidFill>
                <a:effectLst/>
                <a:uLnTx/>
                <a:uFillTx/>
                <a:latin typeface="Times New Roman" pitchFamily="18" charset="0"/>
                <a:ea typeface="楷体_GB2312" pitchFamily="49" charset="-122"/>
                <a:cs typeface="+mn-cs"/>
              </a:rPr>
              <a:t>sub</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a:t>
            </a:r>
          </a:p>
        </p:txBody>
      </p:sp>
      <p:sp>
        <p:nvSpPr>
          <p:cNvPr id="220164" name="Text Box 4"/>
          <p:cNvSpPr txBox="1">
            <a:spLocks noChangeArrowheads="1"/>
          </p:cNvSpPr>
          <p:nvPr/>
        </p:nvSpPr>
        <p:spPr bwMode="auto">
          <a:xfrm>
            <a:off x="250825" y="3917950"/>
            <a:ext cx="5203825"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dirty="0" smtClean="0">
                <a:solidFill>
                  <a:srgbClr val="FF3300"/>
                </a:solidFill>
                <a:latin typeface="Times New Roman" pitchFamily="18" charset="0"/>
                <a:ea typeface="宋体" pitchFamily="2" charset="-122"/>
              </a:rPr>
              <a:t>器件</a:t>
            </a:r>
            <a:r>
              <a:rPr kumimoji="1" lang="zh-CN" altLang="en-US" sz="2800" b="1" dirty="0">
                <a:solidFill>
                  <a:srgbClr val="FF3300"/>
                </a:solidFill>
                <a:latin typeface="Times New Roman" pitchFamily="18" charset="0"/>
                <a:ea typeface="宋体" pitchFamily="2" charset="-122"/>
              </a:rPr>
              <a:t>寿命的加速测量 </a:t>
            </a:r>
          </a:p>
        </p:txBody>
      </p:sp>
      <p:sp>
        <p:nvSpPr>
          <p:cNvPr id="220165" name="Text Box 5"/>
          <p:cNvSpPr txBox="1">
            <a:spLocks noChangeArrowheads="1"/>
          </p:cNvSpPr>
          <p:nvPr/>
        </p:nvSpPr>
        <p:spPr bwMode="auto">
          <a:xfrm>
            <a:off x="663575" y="4570413"/>
            <a:ext cx="8156575" cy="9461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在高于正常偏置的条件下进行应力测量。一般采用增大漏极电压的方法来加速寿命测量 </a:t>
            </a:r>
          </a:p>
        </p:txBody>
      </p:sp>
    </p:spTree>
    <p:extLst>
      <p:ext uri="{BB962C8B-B14F-4D97-AF65-F5344CB8AC3E}">
        <p14:creationId xmlns:p14="http://schemas.microsoft.com/office/powerpoint/2010/main" val="35195074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7600FBC-A055-492C-970B-9C1B3B082634}"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105</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24258" name="Rectangle 2"/>
          <p:cNvSpPr>
            <a:spLocks noGrp="1" noChangeArrowheads="1"/>
          </p:cNvSpPr>
          <p:nvPr>
            <p:ph type="title"/>
          </p:nvPr>
        </p:nvSpPr>
        <p:spPr/>
        <p:txBody>
          <a:bodyPr/>
          <a:lstStyle/>
          <a:p>
            <a:r>
              <a:rPr kumimoji="1" lang="zh-CN" altLang="en-US" dirty="0">
                <a:solidFill>
                  <a:srgbClr val="FF3300"/>
                </a:solidFill>
                <a:ea typeface="宋体" pitchFamily="2" charset="-122"/>
                <a:cs typeface="+mn-cs"/>
              </a:rPr>
              <a:t>（</a:t>
            </a:r>
            <a:r>
              <a:rPr kumimoji="1" lang="en-US" altLang="zh-CN" dirty="0">
                <a:solidFill>
                  <a:srgbClr val="FF3300"/>
                </a:solidFill>
                <a:ea typeface="宋体" pitchFamily="2" charset="-122"/>
                <a:cs typeface="+mn-cs"/>
              </a:rPr>
              <a:t>2</a:t>
            </a:r>
            <a:r>
              <a:rPr kumimoji="1" lang="zh-CN" altLang="en-US" dirty="0">
                <a:solidFill>
                  <a:srgbClr val="FF3300"/>
                </a:solidFill>
                <a:ea typeface="宋体" pitchFamily="2" charset="-122"/>
                <a:cs typeface="+mn-cs"/>
              </a:rPr>
              <a:t>）</a:t>
            </a:r>
            <a:r>
              <a:rPr kumimoji="1" lang="en-US" altLang="zh-CN" dirty="0">
                <a:solidFill>
                  <a:srgbClr val="FF3300"/>
                </a:solidFill>
                <a:ea typeface="宋体" pitchFamily="2" charset="-122"/>
                <a:cs typeface="+mn-cs"/>
              </a:rPr>
              <a:t>p</a:t>
            </a:r>
            <a:r>
              <a:rPr kumimoji="1" lang="zh-CN" altLang="en-US" dirty="0">
                <a:solidFill>
                  <a:srgbClr val="FF3300"/>
                </a:solidFill>
                <a:ea typeface="宋体" pitchFamily="2" charset="-122"/>
                <a:cs typeface="+mn-cs"/>
              </a:rPr>
              <a:t>沟</a:t>
            </a:r>
            <a:r>
              <a:rPr kumimoji="1" lang="en-US" altLang="zh-CN" dirty="0">
                <a:solidFill>
                  <a:srgbClr val="FF3300"/>
                </a:solidFill>
                <a:ea typeface="宋体" pitchFamily="2" charset="-122"/>
                <a:cs typeface="+mn-cs"/>
              </a:rPr>
              <a:t>MOSFET</a:t>
            </a:r>
            <a:r>
              <a:rPr kumimoji="1" lang="zh-CN" altLang="en-US" dirty="0">
                <a:solidFill>
                  <a:srgbClr val="FF3300"/>
                </a:solidFill>
                <a:ea typeface="宋体" pitchFamily="2" charset="-122"/>
                <a:cs typeface="+mn-cs"/>
              </a:rPr>
              <a:t>的退化  </a:t>
            </a:r>
          </a:p>
        </p:txBody>
      </p:sp>
      <p:sp>
        <p:nvSpPr>
          <p:cNvPr id="224259" name="Text Box 3"/>
          <p:cNvSpPr txBox="1">
            <a:spLocks noChangeArrowheads="1"/>
          </p:cNvSpPr>
          <p:nvPr/>
        </p:nvSpPr>
        <p:spPr bwMode="auto">
          <a:xfrm>
            <a:off x="484188" y="842963"/>
            <a:ext cx="8301037" cy="5491162"/>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90000"/>
              </a:lnSpc>
              <a:spcBef>
                <a:spcPct val="1500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在</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pMOSFET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中没有观察到可测量的沟道热空穴注入，主要原因有两点：</a:t>
            </a:r>
          </a:p>
          <a:p>
            <a:pPr marL="457200" marR="0" lvl="1" indent="0" algn="l" defTabSz="914400" rtl="0" eaLnBrk="1" fontAlgn="base" latinLnBrk="0" hangingPunct="1">
              <a:lnSpc>
                <a:spcPct val="90000"/>
              </a:lnSpc>
              <a:spcBef>
                <a:spcPct val="15000"/>
              </a:spcBef>
              <a:spcAft>
                <a:spcPct val="0"/>
              </a:spcAft>
              <a:buClrTx/>
              <a:buSzTx/>
              <a:buFontTx/>
              <a:buChar char="•"/>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空穴注入到氧化层需要克服更高的势垒；</a:t>
            </a:r>
          </a:p>
          <a:p>
            <a:pPr marL="457200" marR="0" lvl="1" indent="0" algn="l" defTabSz="914400" rtl="0" eaLnBrk="1" fontAlgn="base" latinLnBrk="0" hangingPunct="1">
              <a:lnSpc>
                <a:spcPct val="90000"/>
              </a:lnSpc>
              <a:spcBef>
                <a:spcPct val="15000"/>
              </a:spcBef>
              <a:spcAft>
                <a:spcPct val="0"/>
              </a:spcAft>
              <a:buClrTx/>
              <a:buSzTx/>
              <a:buFontTx/>
              <a:buChar char="•"/>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 空穴的平均自由程比电子的短。</a:t>
            </a:r>
          </a:p>
          <a:p>
            <a:pPr marL="0" marR="0" lvl="0" indent="0" algn="l" defTabSz="914400" rtl="0" eaLnBrk="1" fontAlgn="base" latinLnBrk="0" hangingPunct="1">
              <a:lnSpc>
                <a:spcPct val="90000"/>
              </a:lnSpc>
              <a:spcBef>
                <a:spcPct val="30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pMOSFET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中决定栅极电流的主要因素也是</a:t>
            </a:r>
            <a:r>
              <a:rPr kumimoji="0" lang="zh-CN" altLang="en-US" sz="28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rPr>
              <a:t>电子</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向氧化层的注入，这与</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nMOSFET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相同。注入的电子由碰撞电离产生，并被沟道电场加速，当栅极电压远大于漏极电压</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但仍然小于阈值电压</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时，电子被注入到栅氧化层，其中一部分电子在栅氧化层中被俘获并积累，尤其是在漏端附近。</a:t>
            </a:r>
          </a:p>
          <a:p>
            <a:pPr marL="0" marR="0" lvl="0" indent="0" algn="l" defTabSz="914400" rtl="0" eaLnBrk="1" fontAlgn="base" latinLnBrk="0" hangingPunct="1">
              <a:lnSpc>
                <a:spcPct val="90000"/>
              </a:lnSpc>
              <a:spcBef>
                <a:spcPct val="35000"/>
              </a:spcBef>
              <a:spcAft>
                <a:spcPct val="0"/>
              </a:spcAft>
              <a:buClrTx/>
              <a:buSzTx/>
              <a:buFontTx/>
              <a:buNone/>
              <a:tabLst/>
              <a:defRPr/>
            </a:pP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pMOSFET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的热载流子效应没有</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nMOSFET</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严重，因为空穴的碰撞电离率通常比电子的碰撞电离率低</a:t>
            </a:r>
            <a:r>
              <a:rPr kumimoji="0" lang="en-US" altLang="zh-CN"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1~2</a:t>
            </a: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个数量级。</a:t>
            </a:r>
          </a:p>
        </p:txBody>
      </p:sp>
    </p:spTree>
    <p:extLst>
      <p:ext uri="{BB962C8B-B14F-4D97-AF65-F5344CB8AC3E}">
        <p14:creationId xmlns:p14="http://schemas.microsoft.com/office/powerpoint/2010/main" val="8120381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D73D98B-3BAB-4F57-A63E-24986D25DD6E}"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219138" name="Rectangle 2"/>
          <p:cNvSpPr>
            <a:spLocks noGrp="1" noChangeArrowheads="1"/>
          </p:cNvSpPr>
          <p:nvPr>
            <p:ph type="title"/>
          </p:nvPr>
        </p:nvSpPr>
        <p:spPr/>
        <p:txBody>
          <a:bodyPr/>
          <a:lstStyle/>
          <a:p>
            <a:r>
              <a:rPr kumimoji="1" lang="en-US" altLang="zh-CN" dirty="0" smtClean="0">
                <a:solidFill>
                  <a:srgbClr val="FF3300"/>
                </a:solidFill>
                <a:ea typeface="宋体" pitchFamily="2" charset="-122"/>
                <a:cs typeface="+mn-cs"/>
              </a:rPr>
              <a:t>8. </a:t>
            </a:r>
            <a:r>
              <a:rPr kumimoji="1" lang="zh-CN" altLang="en-US" dirty="0" smtClean="0">
                <a:solidFill>
                  <a:srgbClr val="FF3300"/>
                </a:solidFill>
                <a:ea typeface="宋体" pitchFamily="2" charset="-122"/>
                <a:cs typeface="+mn-cs"/>
              </a:rPr>
              <a:t>器件噪声</a:t>
            </a:r>
            <a:endParaRPr kumimoji="1" lang="zh-CN" altLang="en-US" dirty="0">
              <a:solidFill>
                <a:srgbClr val="FF3300"/>
              </a:solidFill>
              <a:ea typeface="宋体" pitchFamily="2" charset="-122"/>
              <a:cs typeface="+mn-cs"/>
            </a:endParaRPr>
          </a:p>
        </p:txBody>
      </p:sp>
      <p:sp>
        <p:nvSpPr>
          <p:cNvPr id="219143" name="Rectangle 7"/>
          <p:cNvSpPr>
            <a:spLocks noChangeArrowheads="1"/>
          </p:cNvSpPr>
          <p:nvPr/>
        </p:nvSpPr>
        <p:spPr bwMode="auto">
          <a:xfrm>
            <a:off x="405168" y="838988"/>
            <a:ext cx="7591681" cy="523220"/>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1000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热噪声：载流子随机热运动导致的噪声</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219145" name="Rectangle 9"/>
          <p:cNvSpPr>
            <a:spLocks noChangeArrowheads="1"/>
          </p:cNvSpPr>
          <p:nvPr/>
        </p:nvSpPr>
        <p:spPr bwMode="auto">
          <a:xfrm>
            <a:off x="550450" y="3257626"/>
            <a:ext cx="4210300" cy="892552"/>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00000"/>
              </a:buClr>
              <a:buSzPct val="60000"/>
              <a:buFont typeface="Wingdings" pitchFamily="2" charset="2"/>
              <a:buNone/>
              <a:tabLst/>
              <a:defRPr/>
            </a:pP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载流子被一个缺陷俘获和发射导致随机电报噪声（</a:t>
            </a:r>
            <a:r>
              <a:rPr kumimoji="1" lang="en-US"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RTN</a:t>
            </a: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1"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nvGrpSpPr>
          <p:cNvPr id="9" name="Group 12"/>
          <p:cNvGrpSpPr>
            <a:grpSpLocks/>
          </p:cNvGrpSpPr>
          <p:nvPr/>
        </p:nvGrpSpPr>
        <p:grpSpPr bwMode="auto">
          <a:xfrm>
            <a:off x="428857" y="1275932"/>
            <a:ext cx="3529013" cy="2162175"/>
            <a:chOff x="587" y="770"/>
            <a:chExt cx="2102" cy="1147"/>
          </a:xfrm>
        </p:grpSpPr>
        <p:graphicFrame>
          <p:nvGraphicFramePr>
            <p:cNvPr id="11" name="Object 8"/>
            <p:cNvGraphicFramePr>
              <a:graphicFrameLocks noChangeAspect="1"/>
            </p:cNvGraphicFramePr>
            <p:nvPr>
              <p:extLst>
                <p:ext uri="{D42A27DB-BD31-4B8C-83A1-F6EECF244321}">
                  <p14:modId xmlns:p14="http://schemas.microsoft.com/office/powerpoint/2010/main" val="3172450566"/>
                </p:ext>
              </p:extLst>
            </p:nvPr>
          </p:nvGraphicFramePr>
          <p:xfrm>
            <a:off x="587" y="770"/>
            <a:ext cx="2102" cy="1147"/>
          </p:xfrm>
          <a:graphic>
            <a:graphicData uri="http://schemas.openxmlformats.org/presentationml/2006/ole">
              <mc:AlternateContent xmlns:mc="http://schemas.openxmlformats.org/markup-compatibility/2006">
                <mc:Choice xmlns:v="urn:schemas-microsoft-com:vml" Requires="v">
                  <p:oleObj spid="_x0000_s241736" name="Document" r:id="rId3" imgW="2370057" imgH="1247805" progId="Word.Document.8">
                    <p:embed/>
                  </p:oleObj>
                </mc:Choice>
                <mc:Fallback>
                  <p:oleObj name="Document" r:id="rId3" imgW="2370057" imgH="1247805" progId="Word.Document.8">
                    <p:embed/>
                    <p:pic>
                      <p:nvPicPr>
                        <p:cNvPr id="29698" name="Object 8"/>
                        <p:cNvPicPr>
                          <a:picLocks noChangeAspect="1" noChangeArrowheads="1"/>
                        </p:cNvPicPr>
                        <p:nvPr/>
                      </p:nvPicPr>
                      <p:blipFill>
                        <a:blip r:embed="rId4"/>
                        <a:srcRect/>
                        <a:stretch>
                          <a:fillRect/>
                        </a:stretch>
                      </p:blipFill>
                      <p:spPr bwMode="auto">
                        <a:xfrm>
                          <a:off x="587" y="770"/>
                          <a:ext cx="2102" cy="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 y="813"/>
              <a:ext cx="45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1" y="1409"/>
              <a:ext cx="212"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 name="Group 24"/>
          <p:cNvGrpSpPr>
            <a:grpSpLocks/>
          </p:cNvGrpSpPr>
          <p:nvPr/>
        </p:nvGrpSpPr>
        <p:grpSpPr bwMode="auto">
          <a:xfrm>
            <a:off x="4037862" y="1656228"/>
            <a:ext cx="3015869" cy="1122153"/>
            <a:chOff x="2839" y="1775"/>
            <a:chExt cx="1809" cy="688"/>
          </a:xfrm>
        </p:grpSpPr>
        <p:pic>
          <p:nvPicPr>
            <p:cNvPr id="15"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 y="1775"/>
              <a:ext cx="216" cy="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4" y="1851"/>
              <a:ext cx="856"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4" y="1781"/>
              <a:ext cx="632" cy="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23"/>
            <p:cNvSpPr>
              <a:spLocks noChangeArrowheads="1"/>
            </p:cNvSpPr>
            <p:nvPr/>
          </p:nvSpPr>
          <p:spPr bwMode="auto">
            <a:xfrm>
              <a:off x="4521" y="2264"/>
              <a:ext cx="127" cy="120"/>
            </a:xfrm>
            <a:prstGeom prst="rect">
              <a:avLst/>
            </a:prstGeom>
            <a:solidFill>
              <a:schemeClr val="bg1"/>
            </a:solidFill>
            <a:ln>
              <a:noFill/>
            </a:ln>
            <a:effectLst/>
            <a:extLs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9" name="Picture 28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05506" y="3839111"/>
            <a:ext cx="3300188" cy="3018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pic>
      <p:graphicFrame>
        <p:nvGraphicFramePr>
          <p:cNvPr id="20" name="Object 278"/>
          <p:cNvGraphicFramePr>
            <a:graphicFrameLocks noChangeAspect="1"/>
          </p:cNvGraphicFramePr>
          <p:nvPr>
            <p:extLst>
              <p:ext uri="{D42A27DB-BD31-4B8C-83A1-F6EECF244321}">
                <p14:modId xmlns:p14="http://schemas.microsoft.com/office/powerpoint/2010/main" val="2040343428"/>
              </p:ext>
            </p:extLst>
          </p:nvPr>
        </p:nvGraphicFramePr>
        <p:xfrm>
          <a:off x="5104159" y="2649529"/>
          <a:ext cx="3624263" cy="3417163"/>
        </p:xfrm>
        <a:graphic>
          <a:graphicData uri="http://schemas.openxmlformats.org/presentationml/2006/ole">
            <mc:AlternateContent xmlns:mc="http://schemas.openxmlformats.org/markup-compatibility/2006">
              <mc:Choice xmlns:v="urn:schemas-microsoft-com:vml" Requires="v">
                <p:oleObj spid="_x0000_s241737" name="Graph" r:id="rId11" imgW="4063680" imgH="3216960" progId="Origin50.Graph">
                  <p:embed/>
                </p:oleObj>
              </mc:Choice>
              <mc:Fallback>
                <p:oleObj name="Graph" r:id="rId11" imgW="4063680" imgH="3216960" progId="Origin50.Graph">
                  <p:embed/>
                  <p:pic>
                    <p:nvPicPr>
                      <p:cNvPr id="31747" name="Object 27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04159" y="2649529"/>
                        <a:ext cx="3624263" cy="3417163"/>
                      </a:xfrm>
                      <a:prstGeom prst="rect">
                        <a:avLst/>
                      </a:prstGeom>
                      <a:noFill/>
                      <a:ln>
                        <a:noFill/>
                      </a:ln>
                      <a:effectLst/>
                    </p:spPr>
                  </p:pic>
                </p:oleObj>
              </mc:Fallback>
            </mc:AlternateContent>
          </a:graphicData>
        </a:graphic>
      </p:graphicFrame>
      <p:sp>
        <p:nvSpPr>
          <p:cNvPr id="21" name="Rectangle 9"/>
          <p:cNvSpPr>
            <a:spLocks noChangeArrowheads="1"/>
          </p:cNvSpPr>
          <p:nvPr/>
        </p:nvSpPr>
        <p:spPr bwMode="auto">
          <a:xfrm>
            <a:off x="4857335" y="5833974"/>
            <a:ext cx="3871087" cy="492443"/>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
                <a:srgbClr val="000000"/>
              </a:buClr>
              <a:buSzPct val="60000"/>
              <a:buFont typeface="Wingdings" pitchFamily="2" charset="2"/>
              <a:buNone/>
              <a:tabLst/>
              <a:defRPr/>
            </a:pP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很多缺陷将形成</a:t>
            </a:r>
            <a:r>
              <a:rPr kumimoji="1" lang="en-US"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1/f</a:t>
            </a:r>
            <a:r>
              <a:rPr kumimoji="1"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噪声</a:t>
            </a:r>
            <a:endParaRPr kumimoji="1"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13268760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1AE0FC-8917-453E-A43C-7C3EA8BAA81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107</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3" name="矩形 2"/>
          <p:cNvSpPr/>
          <p:nvPr/>
        </p:nvSpPr>
        <p:spPr>
          <a:xfrm>
            <a:off x="611560" y="980728"/>
            <a:ext cx="8136904"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的栅长减小时，纵向的尺寸（</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T</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ox</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W</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dep</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X</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j</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）也应该减小。</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pic>
        <p:nvPicPr>
          <p:cNvPr id="480258" name="Picture 2"/>
          <p:cNvPicPr>
            <a:picLocks noChangeAspect="1" noChangeArrowheads="1"/>
          </p:cNvPicPr>
          <p:nvPr/>
        </p:nvPicPr>
        <p:blipFill>
          <a:blip r:embed="rId2" cstate="print"/>
          <a:srcRect/>
          <a:stretch>
            <a:fillRect/>
          </a:stretch>
        </p:blipFill>
        <p:spPr bwMode="auto">
          <a:xfrm>
            <a:off x="434865" y="2112963"/>
            <a:ext cx="4857352" cy="4608512"/>
          </a:xfrm>
          <a:prstGeom prst="rect">
            <a:avLst/>
          </a:prstGeom>
          <a:noFill/>
          <a:ln w="9525">
            <a:noFill/>
            <a:miter lim="800000"/>
            <a:headEnd/>
            <a:tailEnd/>
          </a:ln>
        </p:spPr>
      </p:pic>
      <p:sp>
        <p:nvSpPr>
          <p:cNvPr id="5" name="矩形 4"/>
          <p:cNvSpPr/>
          <p:nvPr/>
        </p:nvSpPr>
        <p:spPr>
          <a:xfrm>
            <a:off x="5724128" y="3118979"/>
            <a:ext cx="3024336" cy="181588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左图：</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栅氧化层厚度与线宽（栅长）近似等比例缩小</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7" name="Rectangle 4"/>
          <p:cNvSpPr>
            <a:spLocks noChangeArrowheads="1"/>
          </p:cNvSpPr>
          <p:nvPr/>
        </p:nvSpPr>
        <p:spPr bwMode="auto">
          <a:xfrm>
            <a:off x="2448231" y="295910"/>
            <a:ext cx="4535181"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四、现代</a:t>
            </a:r>
            <a:r>
              <a:rPr kumimoji="1" lang="en-US" altLang="zh-CN" sz="3600" b="1" dirty="0" smtClean="0">
                <a:solidFill>
                  <a:srgbClr val="FF6600"/>
                </a:solidFill>
                <a:latin typeface="Times New Roman" pitchFamily="18" charset="0"/>
                <a:ea typeface="宋体" pitchFamily="2" charset="-122"/>
              </a:rPr>
              <a:t>MOSFET</a:t>
            </a:r>
          </a:p>
        </p:txBody>
      </p:sp>
    </p:spTree>
    <p:extLst>
      <p:ext uri="{BB962C8B-B14F-4D97-AF65-F5344CB8AC3E}">
        <p14:creationId xmlns:p14="http://schemas.microsoft.com/office/powerpoint/2010/main" val="34602745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1AE0FC-8917-453E-A43C-7C3EA8BAA81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108</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3" name="矩形 2"/>
          <p:cNvSpPr/>
          <p:nvPr/>
        </p:nvSpPr>
        <p:spPr>
          <a:xfrm>
            <a:off x="899592" y="404664"/>
            <a:ext cx="6781800"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90nm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到</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22nm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的按比例缩小及其技术创新</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nvGrpSpPr>
          <p:cNvPr id="4" name="组合 8"/>
          <p:cNvGrpSpPr/>
          <p:nvPr/>
        </p:nvGrpSpPr>
        <p:grpSpPr>
          <a:xfrm>
            <a:off x="251520" y="1196752"/>
            <a:ext cx="8374210" cy="4800600"/>
            <a:chOff x="152400" y="1295400"/>
            <a:chExt cx="8374210" cy="4800600"/>
          </a:xfrm>
        </p:grpSpPr>
        <p:pic>
          <p:nvPicPr>
            <p:cNvPr id="5" name="Picture 2"/>
            <p:cNvPicPr>
              <a:picLocks noChangeAspect="1" noChangeArrowheads="1"/>
            </p:cNvPicPr>
            <p:nvPr/>
          </p:nvPicPr>
          <p:blipFill>
            <a:blip r:embed="rId2" cstate="print"/>
            <a:srcRect/>
            <a:stretch>
              <a:fillRect/>
            </a:stretch>
          </p:blipFill>
          <p:spPr bwMode="auto">
            <a:xfrm>
              <a:off x="152400" y="1295400"/>
              <a:ext cx="8374210" cy="4800600"/>
            </a:xfrm>
            <a:prstGeom prst="rect">
              <a:avLst/>
            </a:prstGeom>
            <a:noFill/>
            <a:ln w="9525">
              <a:noFill/>
              <a:miter lim="800000"/>
              <a:headEnd/>
              <a:tailEnd/>
            </a:ln>
          </p:spPr>
        </p:pic>
        <p:sp>
          <p:nvSpPr>
            <p:cNvPr id="6" name="矩形 5"/>
            <p:cNvSpPr/>
            <p:nvPr/>
          </p:nvSpPr>
          <p:spPr>
            <a:xfrm>
              <a:off x="228600" y="5235714"/>
              <a:ext cx="4648200" cy="707886"/>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HP</a:t>
              </a:r>
              <a:r>
                <a:rPr kumimoji="0" lang="zh-CN"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：高性能技术；</a:t>
              </a:r>
              <a:endPar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LSTP</a:t>
              </a:r>
              <a:r>
                <a:rPr kumimoji="0" lang="zh-CN"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：便携式应用的低待机功率；</a:t>
              </a:r>
              <a:endParaRPr kumimoji="0" lang="zh-CN" altLang="zh-CN" sz="20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spTree>
    <p:extLst>
      <p:ext uri="{BB962C8B-B14F-4D97-AF65-F5344CB8AC3E}">
        <p14:creationId xmlns:p14="http://schemas.microsoft.com/office/powerpoint/2010/main" val="239946787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11AE0FC-8917-453E-A43C-7C3EA8BAA811}" type="slidenum">
              <a:rPr lang="en-US" altLang="zh-CN" smtClean="0"/>
              <a:pPr/>
              <a:t>109</a:t>
            </a:fld>
            <a:endParaRPr lang="en-US" altLang="zh-CN"/>
          </a:p>
        </p:txBody>
      </p:sp>
      <p:pic>
        <p:nvPicPr>
          <p:cNvPr id="3" name="图片 2"/>
          <p:cNvPicPr>
            <a:picLocks noChangeAspect="1"/>
          </p:cNvPicPr>
          <p:nvPr/>
        </p:nvPicPr>
        <p:blipFill>
          <a:blip r:embed="rId2"/>
          <a:stretch>
            <a:fillRect/>
          </a:stretch>
        </p:blipFill>
        <p:spPr>
          <a:xfrm>
            <a:off x="812628" y="108730"/>
            <a:ext cx="7826405" cy="3226114"/>
          </a:xfrm>
          <a:prstGeom prst="rect">
            <a:avLst/>
          </a:prstGeom>
        </p:spPr>
      </p:pic>
      <p:pic>
        <p:nvPicPr>
          <p:cNvPr id="4" name="图片 3"/>
          <p:cNvPicPr>
            <a:picLocks noChangeAspect="1"/>
          </p:cNvPicPr>
          <p:nvPr/>
        </p:nvPicPr>
        <p:blipFill>
          <a:blip r:embed="rId3"/>
          <a:stretch>
            <a:fillRect/>
          </a:stretch>
        </p:blipFill>
        <p:spPr>
          <a:xfrm>
            <a:off x="887105" y="3535770"/>
            <a:ext cx="7362378" cy="3272455"/>
          </a:xfrm>
          <a:prstGeom prst="rect">
            <a:avLst/>
          </a:prstGeom>
        </p:spPr>
      </p:pic>
    </p:spTree>
    <p:extLst>
      <p:ext uri="{BB962C8B-B14F-4D97-AF65-F5344CB8AC3E}">
        <p14:creationId xmlns:p14="http://schemas.microsoft.com/office/powerpoint/2010/main" val="10526046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5061967-E2D7-441F-8AB3-564DD69D89C1}"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110</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141314" name="Rectangle 2"/>
          <p:cNvSpPr>
            <a:spLocks noGrp="1" noChangeArrowheads="1"/>
          </p:cNvSpPr>
          <p:nvPr>
            <p:ph type="title"/>
          </p:nvPr>
        </p:nvSpPr>
        <p:spPr/>
        <p:txBody>
          <a:bodyPr/>
          <a:lstStyle/>
          <a:p>
            <a:r>
              <a:rPr lang="zh-CN" altLang="zh-CN" dirty="0" smtClean="0"/>
              <a:t>减小栅绝缘层的电学厚度</a:t>
            </a:r>
            <a:r>
              <a:rPr lang="zh-CN" altLang="en-US" dirty="0" smtClean="0"/>
              <a:t>，</a:t>
            </a:r>
            <a:r>
              <a:rPr lang="zh-CN" altLang="zh-CN" dirty="0" smtClean="0"/>
              <a:t>高</a:t>
            </a:r>
            <a:r>
              <a:rPr lang="en-US" altLang="zh-CN" i="1" dirty="0" smtClean="0"/>
              <a:t>k</a:t>
            </a:r>
            <a:r>
              <a:rPr lang="zh-CN" altLang="zh-CN" dirty="0" smtClean="0"/>
              <a:t>介质材料</a:t>
            </a:r>
            <a:endParaRPr lang="en-US" altLang="zh-CN" dirty="0"/>
          </a:p>
        </p:txBody>
      </p:sp>
      <p:sp>
        <p:nvSpPr>
          <p:cNvPr id="8" name="矩形 7"/>
          <p:cNvSpPr/>
          <p:nvPr/>
        </p:nvSpPr>
        <p:spPr>
          <a:xfrm>
            <a:off x="457200" y="894199"/>
            <a:ext cx="8435280" cy="2246769"/>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“按比例缩小表中”的</a:t>
            </a:r>
            <a:r>
              <a:rPr kumimoji="0" lang="en-US" altLang="zh-CN" sz="27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EOT</a:t>
            </a:r>
            <a:r>
              <a:rPr kumimoji="0" lang="en-US" altLang="zh-CN" sz="27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e</a:t>
            </a: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等效氧化层电学厚度）是将总的栅介质厚度、多晶硅栅耗尽层（如果有）以及反型层厚度用一个等效的</a:t>
            </a: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SiO</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厚度表示。</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45 nm</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工艺节点与之前的工艺节点相比有了很大的改进，这是因为金属栅和高</a:t>
            </a:r>
            <a:r>
              <a:rPr kumimoji="0" lang="en-US" altLang="zh-CN" sz="27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介质这两个工艺创新的实现</a:t>
            </a: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zh-CN" altLang="en-US" sz="27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9" name="矩形 8"/>
          <p:cNvSpPr/>
          <p:nvPr/>
        </p:nvSpPr>
        <p:spPr>
          <a:xfrm>
            <a:off x="457200" y="3356992"/>
            <a:ext cx="8001000" cy="318548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减小氧化层厚度</a:t>
            </a: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原因</a:t>
            </a: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sym typeface="Wingdings" pitchFamily="2" charset="2"/>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sym typeface="Wingdings" pitchFamily="2" charset="2"/>
              </a:rPr>
              <a:t> (1)</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更薄的氧化层，更大的</a:t>
            </a:r>
            <a:r>
              <a:rPr kumimoji="0" lang="en-US" altLang="zh-CN" sz="27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C</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ox</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将导致更大的</a:t>
            </a:r>
            <a:r>
              <a:rPr kumimoji="0" lang="en-US" altLang="zh-CN" sz="27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I</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on</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，从而提高电路速度</a:t>
            </a: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减小氧化层厚度可以抑制</a:t>
            </a:r>
            <a:r>
              <a:rPr kumimoji="0" lang="en-US" altLang="zh-CN" sz="27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L</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减小时</a:t>
            </a:r>
            <a:r>
              <a:rPr kumimoji="0" lang="en-US" altLang="zh-CN" sz="27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V</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t</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的下降（从而抑制亚阈值区漏电</a:t>
            </a: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，减小</a:t>
            </a:r>
            <a:r>
              <a:rPr kumimoji="0" lang="en-US" altLang="zh-CN" sz="27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I</a:t>
            </a:r>
            <a:r>
              <a:rPr kumimoji="0" lang="en-US" altLang="zh-CN" sz="27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off</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问题：</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如果氧化层太薄，有可能导致</a:t>
            </a:r>
            <a:r>
              <a:rPr kumimoji="0" lang="en-US"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SiO</a:t>
            </a:r>
            <a:r>
              <a:rPr kumimoji="0" lang="en-US" altLang="zh-CN" sz="27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7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破坏性的击穿</a:t>
            </a:r>
            <a:endParaRPr kumimoji="0" lang="zh-CN" altLang="en-US" sz="27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270991437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4610C3B-4895-48DE-B858-4974268A5404}"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111</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4" name="TextBox 3"/>
          <p:cNvSpPr txBox="1"/>
          <p:nvPr/>
        </p:nvSpPr>
        <p:spPr>
          <a:xfrm>
            <a:off x="533400" y="304800"/>
            <a:ext cx="8382000" cy="61555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高</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材料介绍：</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 typeface="Wingdings" pitchFamily="2" charset="2"/>
              <a:buChar char="ü"/>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HfO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相对介电常数约为</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24</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，一个</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6 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厚的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HfO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薄膜产生的电容相当于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1 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厚的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 typeface="Wingdings" pitchFamily="2" charset="2"/>
              <a:buChar char="ü"/>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其它具有吸引力的高</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介质包括</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ZrO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Al</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3</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在</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IC</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制造工艺中采用高</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介质的难点在于它们与硅衬底之间的化学反应，比</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Si-SiO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系统更低的表面迁移率，以及更多的氧化层电荷。这些问题可以通过在硅衬底和高</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介质之间插入一层很薄的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SiO</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2</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界面层得到改善。</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等效氧化层电学厚度</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EOT</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e</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需要考虑</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多晶硅栅耗尽层厚度。从这方面来看，金属是一个更好的栅介质。</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NFET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PFET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栅可能需要不同的金属（金属功函数需要接近</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N</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P</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多晶硅）来实现优化的</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V</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zh-CN" altLang="zh-CN"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25105589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112</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sp>
        <p:nvSpPr>
          <p:cNvPr id="6" name="标题 5"/>
          <p:cNvSpPr>
            <a:spLocks noGrp="1"/>
          </p:cNvSpPr>
          <p:nvPr>
            <p:ph type="title"/>
          </p:nvPr>
        </p:nvSpPr>
        <p:spPr/>
        <p:txBody>
          <a:bodyPr/>
          <a:lstStyle/>
          <a:p>
            <a:r>
              <a:rPr lang="zh-CN" altLang="en-US" dirty="0" smtClean="0"/>
              <a:t>减小耗尽层厚度</a:t>
            </a:r>
            <a:r>
              <a:rPr lang="en-US" altLang="zh-CN" i="1" dirty="0" err="1" smtClean="0"/>
              <a:t>W</a:t>
            </a:r>
            <a:r>
              <a:rPr lang="en-US" altLang="zh-CN" baseline="-25000" dirty="0" err="1" smtClean="0"/>
              <a:t>dep</a:t>
            </a:r>
            <a:r>
              <a:rPr lang="zh-CN" altLang="zh-CN" dirty="0" smtClean="0"/>
              <a:t>和</a:t>
            </a:r>
            <a:r>
              <a:rPr lang="zh-CN" altLang="en-US" dirty="0" smtClean="0"/>
              <a:t>结深</a:t>
            </a:r>
            <a:r>
              <a:rPr lang="en-US" altLang="zh-CN" i="1" dirty="0" err="1" smtClean="0"/>
              <a:t>X</a:t>
            </a:r>
            <a:r>
              <a:rPr lang="en-US" altLang="zh-CN" baseline="-25000" dirty="0" err="1" smtClean="0"/>
              <a:t>j</a:t>
            </a:r>
            <a:endParaRPr lang="zh-CN" altLang="en-US" dirty="0"/>
          </a:p>
        </p:txBody>
      </p:sp>
      <p:pic>
        <p:nvPicPr>
          <p:cNvPr id="7" name="Picture 3"/>
          <p:cNvPicPr>
            <a:picLocks noChangeAspect="1" noChangeArrowheads="1"/>
          </p:cNvPicPr>
          <p:nvPr/>
        </p:nvPicPr>
        <p:blipFill>
          <a:blip r:embed="rId2" cstate="print"/>
          <a:srcRect/>
          <a:stretch>
            <a:fillRect/>
          </a:stretch>
        </p:blipFill>
        <p:spPr bwMode="auto">
          <a:xfrm>
            <a:off x="395536" y="1124744"/>
            <a:ext cx="4607096" cy="2520280"/>
          </a:xfrm>
          <a:prstGeom prst="rect">
            <a:avLst/>
          </a:prstGeom>
          <a:noFill/>
          <a:ln w="9525">
            <a:noFill/>
            <a:miter lim="800000"/>
            <a:headEnd/>
            <a:tailEnd/>
          </a:ln>
        </p:spPr>
      </p:pic>
      <p:sp>
        <p:nvSpPr>
          <p:cNvPr id="10" name="矩形 9"/>
          <p:cNvSpPr/>
          <p:nvPr/>
        </p:nvSpPr>
        <p:spPr>
          <a:xfrm>
            <a:off x="5076056" y="1196752"/>
            <a:ext cx="3888432" cy="1538883"/>
          </a:xfrm>
          <a:prstGeom prst="rect">
            <a:avLst/>
          </a:prstGeom>
        </p:spPr>
        <p:txBody>
          <a:bodyPr wrap="square">
            <a:spAutoFit/>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减小</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W</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dep</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的方法：</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180000" marR="0" lvl="1" indent="0" algn="l" defTabSz="914400" rtl="0" eaLnBrk="1" fontAlgn="base" latinLnBrk="0" hangingPunct="1">
              <a:lnSpc>
                <a:spcPct val="100000"/>
              </a:lnSpc>
              <a:spcBef>
                <a:spcPts val="6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增加衬底掺杂浓度</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180000" marR="0" lvl="1" indent="0" algn="l" defTabSz="914400" rtl="0" eaLnBrk="1" fontAlgn="base" latinLnBrk="0" hangingPunct="1">
              <a:lnSpc>
                <a:spcPct val="100000"/>
              </a:lnSpc>
              <a:spcBef>
                <a:spcPts val="6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超陡倒掺杂分布</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11" name="矩形 10"/>
          <p:cNvSpPr/>
          <p:nvPr/>
        </p:nvSpPr>
        <p:spPr>
          <a:xfrm>
            <a:off x="755576" y="4365104"/>
            <a:ext cx="3600400" cy="1594026"/>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右图：</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超陡倒掺杂分布</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W</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dep</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决定于轻掺杂表面层的厚度。</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pic>
        <p:nvPicPr>
          <p:cNvPr id="12" name="Picture 5"/>
          <p:cNvPicPr>
            <a:picLocks noChangeAspect="1" noChangeArrowheads="1"/>
          </p:cNvPicPr>
          <p:nvPr/>
        </p:nvPicPr>
        <p:blipFill>
          <a:blip r:embed="rId3" cstate="print"/>
          <a:srcRect/>
          <a:stretch>
            <a:fillRect/>
          </a:stretch>
        </p:blipFill>
        <p:spPr bwMode="auto">
          <a:xfrm>
            <a:off x="4932040" y="3307302"/>
            <a:ext cx="3934256" cy="3290050"/>
          </a:xfrm>
          <a:prstGeom prst="rect">
            <a:avLst/>
          </a:prstGeom>
          <a:noFill/>
          <a:ln w="9525">
            <a:noFill/>
            <a:miter lim="800000"/>
            <a:headEnd/>
            <a:tailEnd/>
          </a:ln>
        </p:spPr>
      </p:pic>
    </p:spTree>
    <p:extLst>
      <p:ext uri="{BB962C8B-B14F-4D97-AF65-F5344CB8AC3E}">
        <p14:creationId xmlns:p14="http://schemas.microsoft.com/office/powerpoint/2010/main" val="35603046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超薄体</a:t>
            </a:r>
            <a:r>
              <a:rPr lang="en-US" altLang="zh-CN" dirty="0"/>
              <a:t>SOI</a:t>
            </a:r>
            <a:r>
              <a:rPr lang="zh-CN" altLang="zh-CN" dirty="0"/>
              <a:t>及多栅</a:t>
            </a:r>
            <a:r>
              <a:rPr lang="en-US" altLang="zh-CN" dirty="0"/>
              <a:t>MOSFET</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113</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pic>
        <p:nvPicPr>
          <p:cNvPr id="7" name="Picture 3"/>
          <p:cNvPicPr>
            <a:picLocks noChangeAspect="1" noChangeArrowheads="1"/>
          </p:cNvPicPr>
          <p:nvPr/>
        </p:nvPicPr>
        <p:blipFill>
          <a:blip r:embed="rId3" cstate="print"/>
          <a:srcRect/>
          <a:stretch>
            <a:fillRect/>
          </a:stretch>
        </p:blipFill>
        <p:spPr bwMode="auto">
          <a:xfrm>
            <a:off x="107504" y="985142"/>
            <a:ext cx="4464558" cy="2442305"/>
          </a:xfrm>
          <a:prstGeom prst="rect">
            <a:avLst/>
          </a:prstGeom>
          <a:noFill/>
          <a:ln w="9525">
            <a:noFill/>
            <a:miter lim="800000"/>
            <a:headEnd/>
            <a:tailEnd/>
          </a:ln>
        </p:spPr>
      </p:pic>
      <p:pic>
        <p:nvPicPr>
          <p:cNvPr id="9" name="Picture 2"/>
          <p:cNvPicPr>
            <a:picLocks noChangeAspect="1" noChangeArrowheads="1"/>
          </p:cNvPicPr>
          <p:nvPr/>
        </p:nvPicPr>
        <p:blipFill>
          <a:blip r:embed="rId4" cstate="print"/>
          <a:srcRect/>
          <a:stretch>
            <a:fillRect/>
          </a:stretch>
        </p:blipFill>
        <p:spPr bwMode="auto">
          <a:xfrm>
            <a:off x="4843687" y="971902"/>
            <a:ext cx="4067651" cy="2470309"/>
          </a:xfrm>
          <a:prstGeom prst="rect">
            <a:avLst/>
          </a:prstGeom>
          <a:noFill/>
          <a:ln w="9525">
            <a:noFill/>
            <a:miter lim="800000"/>
            <a:headEnd/>
            <a:tailEnd/>
          </a:ln>
        </p:spPr>
      </p:pic>
      <p:sp>
        <p:nvSpPr>
          <p:cNvPr id="10" name="矩形 9"/>
          <p:cNvSpPr/>
          <p:nvPr/>
        </p:nvSpPr>
        <p:spPr>
          <a:xfrm>
            <a:off x="395536" y="3775680"/>
            <a:ext cx="8496944" cy="275460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我们希望增大栅与沟道之间的电容，并减小漏与沟道之间的电容。</a:t>
            </a:r>
            <a:endPar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漏区电压对于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表面以下一定距离处的漏电路径仍然具有比栅更强的控制作用。在这部分区域，栅是相对较远的，从而栅控能力是较弱的。漏区电压会将势垒拉低从而在这个区域产生漏电流。</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33708392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4610C3B-4895-48DE-B858-4974268A5404}"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114</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sp>
        <p:nvSpPr>
          <p:cNvPr id="5" name="矩形 4"/>
          <p:cNvSpPr/>
          <p:nvPr/>
        </p:nvSpPr>
        <p:spPr>
          <a:xfrm>
            <a:off x="611560" y="404664"/>
            <a:ext cx="7848600"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有</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两种结构可以消除远离栅极的漏电流路径</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超薄体</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和多栅</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8" name="矩形 7"/>
          <p:cNvSpPr/>
          <p:nvPr/>
        </p:nvSpPr>
        <p:spPr>
          <a:xfrm>
            <a:off x="755576" y="1556792"/>
            <a:ext cx="2880320" cy="138499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右图：</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3600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超薄体</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SEM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横截面图</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p:txBody>
      </p:sp>
      <p:sp>
        <p:nvSpPr>
          <p:cNvPr id="10" name="矩形 9"/>
          <p:cNvSpPr/>
          <p:nvPr/>
        </p:nvSpPr>
        <p:spPr>
          <a:xfrm>
            <a:off x="611560" y="4560510"/>
            <a:ext cx="7992888" cy="1892826"/>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的厚度应取代</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了</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耗尽层厚度</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W</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dep</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结深</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X</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j</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endPar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薄膜</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很</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薄</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~10 nm</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，因此远离栅的区域不会出现漏电流路径（最坏情况的漏电流路径是沿着</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薄膜的底部）。</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12" name="矩形 11"/>
          <p:cNvSpPr/>
          <p:nvPr/>
        </p:nvSpPr>
        <p:spPr>
          <a:xfrm>
            <a:off x="755576" y="2996952"/>
            <a:ext cx="2699792" cy="1200329"/>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UTB MOSFET</a:t>
            </a:r>
            <a:r>
              <a:rPr kumimoji="0" lang="zh-CN" altLang="en-US" sz="24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4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Ultra-Thin-Body MOSFET</a:t>
            </a:r>
            <a:endPar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pic>
        <p:nvPicPr>
          <p:cNvPr id="484355" name="Picture 3"/>
          <p:cNvPicPr>
            <a:picLocks noChangeAspect="1" noChangeArrowheads="1"/>
          </p:cNvPicPr>
          <p:nvPr/>
        </p:nvPicPr>
        <p:blipFill>
          <a:blip r:embed="rId2" cstate="print"/>
          <a:srcRect/>
          <a:stretch>
            <a:fillRect/>
          </a:stretch>
        </p:blipFill>
        <p:spPr bwMode="auto">
          <a:xfrm>
            <a:off x="4595704" y="1772817"/>
            <a:ext cx="3288663" cy="2232248"/>
          </a:xfrm>
          <a:prstGeom prst="rect">
            <a:avLst/>
          </a:prstGeom>
          <a:noFill/>
          <a:ln w="9525">
            <a:noFill/>
            <a:miter lim="800000"/>
            <a:headEnd/>
            <a:tailEnd/>
          </a:ln>
        </p:spPr>
      </p:pic>
    </p:spTree>
    <p:extLst>
      <p:ext uri="{BB962C8B-B14F-4D97-AF65-F5344CB8AC3E}">
        <p14:creationId xmlns:p14="http://schemas.microsoft.com/office/powerpoint/2010/main" val="2892253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4610C3B-4895-48DE-B858-4974268A5404}"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115</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pic>
        <p:nvPicPr>
          <p:cNvPr id="483330" name="Picture 2"/>
          <p:cNvPicPr>
            <a:picLocks noChangeAspect="1" noChangeArrowheads="1"/>
          </p:cNvPicPr>
          <p:nvPr/>
        </p:nvPicPr>
        <p:blipFill>
          <a:blip r:embed="rId2" cstate="print"/>
          <a:srcRect/>
          <a:stretch>
            <a:fillRect/>
          </a:stretch>
        </p:blipFill>
        <p:spPr bwMode="auto">
          <a:xfrm>
            <a:off x="683568" y="620688"/>
            <a:ext cx="5735659" cy="5540647"/>
          </a:xfrm>
          <a:prstGeom prst="rect">
            <a:avLst/>
          </a:prstGeom>
          <a:noFill/>
          <a:ln w="9525">
            <a:noFill/>
            <a:miter lim="800000"/>
            <a:headEnd/>
            <a:tailEnd/>
          </a:ln>
        </p:spPr>
      </p:pic>
      <p:sp>
        <p:nvSpPr>
          <p:cNvPr id="11" name="矩形 10"/>
          <p:cNvSpPr/>
          <p:nvPr/>
        </p:nvSpPr>
        <p:spPr>
          <a:xfrm>
            <a:off x="6876256" y="1412776"/>
            <a:ext cx="1997968" cy="2246769"/>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左图：</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随着薄膜厚度降低，亚阈值区漏电流减小。</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9155110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1AE0FC-8917-453E-A43C-7C3EA8BAA81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116</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4" name="矩形 3"/>
          <p:cNvSpPr/>
          <p:nvPr/>
        </p:nvSpPr>
        <p:spPr>
          <a:xfrm>
            <a:off x="467544" y="332656"/>
            <a:ext cx="8496944" cy="3616375"/>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UTB 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其它优点：</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不需要通过沟道重掺杂来减小</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耗尽层厚度</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W</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dep</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，因此迁移率得到了改善。</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体区全耗尽，并且浮空而没有固定电压的，因此对电路速度有害的体效应得到了消除。</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UTB 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的一个难点在于由于厚度降低，源</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漏的电阻增大。解决的方法是将源</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漏区外延淀积的厚度增加。</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见下图</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pic>
        <p:nvPicPr>
          <p:cNvPr id="5" name="Picture 1"/>
          <p:cNvPicPr>
            <a:picLocks noChangeAspect="1" noChangeArrowheads="1"/>
          </p:cNvPicPr>
          <p:nvPr/>
        </p:nvPicPr>
        <p:blipFill>
          <a:blip r:embed="rId2" cstate="print"/>
          <a:srcRect/>
          <a:stretch>
            <a:fillRect/>
          </a:stretch>
        </p:blipFill>
        <p:spPr bwMode="auto">
          <a:xfrm>
            <a:off x="395536" y="3933056"/>
            <a:ext cx="5591469" cy="2852936"/>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6440356" y="4509120"/>
            <a:ext cx="2546061" cy="1728192"/>
          </a:xfrm>
          <a:prstGeom prst="rect">
            <a:avLst/>
          </a:prstGeom>
          <a:noFill/>
          <a:ln w="9525">
            <a:noFill/>
            <a:miter lim="800000"/>
            <a:headEnd/>
            <a:tailEnd/>
          </a:ln>
        </p:spPr>
      </p:pic>
    </p:spTree>
    <p:extLst>
      <p:ext uri="{BB962C8B-B14F-4D97-AF65-F5344CB8AC3E}">
        <p14:creationId xmlns:p14="http://schemas.microsoft.com/office/powerpoint/2010/main" val="26708144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FinFET</a:t>
            </a:r>
            <a:r>
              <a:rPr lang="en-US" altLang="zh-CN" dirty="0" smtClean="0"/>
              <a:t>—</a:t>
            </a:r>
            <a:r>
              <a:rPr lang="zh-CN" altLang="zh-CN" dirty="0" smtClean="0"/>
              <a:t>多栅</a:t>
            </a:r>
            <a:r>
              <a:rPr lang="en-US" altLang="zh-CN" dirty="0" smtClean="0"/>
              <a:t>MOSFET</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117</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pic>
        <p:nvPicPr>
          <p:cNvPr id="485378" name="Picture 2"/>
          <p:cNvPicPr>
            <a:picLocks noChangeAspect="1" noChangeArrowheads="1"/>
          </p:cNvPicPr>
          <p:nvPr/>
        </p:nvPicPr>
        <p:blipFill>
          <a:blip r:embed="rId3" cstate="print"/>
          <a:srcRect/>
          <a:stretch>
            <a:fillRect/>
          </a:stretch>
        </p:blipFill>
        <p:spPr bwMode="auto">
          <a:xfrm>
            <a:off x="2699792" y="2204864"/>
            <a:ext cx="4048742" cy="2048048"/>
          </a:xfrm>
          <a:prstGeom prst="rect">
            <a:avLst/>
          </a:prstGeom>
          <a:noFill/>
          <a:ln w="9525">
            <a:noFill/>
            <a:miter lim="800000"/>
            <a:headEnd/>
            <a:tailEnd/>
          </a:ln>
        </p:spPr>
      </p:pic>
      <p:sp>
        <p:nvSpPr>
          <p:cNvPr id="11" name="矩形 10"/>
          <p:cNvSpPr/>
          <p:nvPr/>
        </p:nvSpPr>
        <p:spPr>
          <a:xfrm>
            <a:off x="683568" y="980728"/>
            <a:ext cx="7704856"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第二种消除深层漏电流路径的方法是为沟道提供多于一个方向的栅控</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12" name="矩形 11"/>
          <p:cNvSpPr/>
          <p:nvPr/>
        </p:nvSpPr>
        <p:spPr>
          <a:xfrm>
            <a:off x="683568" y="4581128"/>
            <a:ext cx="7632848" cy="181588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硅薄膜十分薄，从而漏电流路径离任一个栅都不会很远（最坏情况是沿着硅薄膜的中心）。与传统</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相比，这个结构的栅可以更好地抑制漏电流。</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82529585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11AE0FC-8917-453E-A43C-7C3EA8BAA81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118</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pic>
        <p:nvPicPr>
          <p:cNvPr id="486402" name="Picture 2"/>
          <p:cNvPicPr>
            <a:picLocks noChangeAspect="1" noChangeArrowheads="1"/>
          </p:cNvPicPr>
          <p:nvPr/>
        </p:nvPicPr>
        <p:blipFill>
          <a:blip r:embed="rId2" cstate="print"/>
          <a:srcRect/>
          <a:stretch>
            <a:fillRect/>
          </a:stretch>
        </p:blipFill>
        <p:spPr bwMode="auto">
          <a:xfrm>
            <a:off x="1115616" y="3356992"/>
            <a:ext cx="6696744" cy="3128719"/>
          </a:xfrm>
          <a:prstGeom prst="rect">
            <a:avLst/>
          </a:prstGeom>
          <a:noFill/>
          <a:ln w="9525">
            <a:noFill/>
            <a:miter lim="800000"/>
            <a:headEnd/>
            <a:tailEnd/>
          </a:ln>
        </p:spPr>
      </p:pic>
      <p:sp>
        <p:nvSpPr>
          <p:cNvPr id="5" name="矩形 4"/>
          <p:cNvSpPr/>
          <p:nvPr/>
        </p:nvSpPr>
        <p:spPr>
          <a:xfrm>
            <a:off x="395536" y="332656"/>
            <a:ext cx="8352928" cy="289310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制造工艺简</a:t>
            </a:r>
            <a:r>
              <a:rPr kumimoji="0" lang="zh-CN" altLang="en-US"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工艺从一个</a:t>
            </a:r>
            <a:r>
              <a:rPr kumimoji="0" lang="en-US"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SOI</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晶圆片或者体硅晶圆片出发，先用光刻和刻蚀的方法制造一个由硅构成的很薄的鳍状结构，然后在鳍的暴露的表面生长栅氧。接下来在鳍上淀积多晶硅栅材料，并用光刻和刻蚀的方法得到栅的图形，最后进行源</a:t>
            </a:r>
            <a:r>
              <a:rPr kumimoji="0" lang="en-US"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漏注入。这个结构称为</a:t>
            </a:r>
            <a:r>
              <a:rPr kumimoji="0" lang="en-US" altLang="zh-CN" sz="26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FinFET</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，因为硅体像鱼的鳍（</a:t>
            </a:r>
            <a:r>
              <a:rPr kumimoji="0" lang="en-US"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Fin</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）。沟道由两个垂直的表面和鳍的顶面构成。沟道宽度</a:t>
            </a:r>
            <a:r>
              <a:rPr kumimoji="0" lang="en-US" altLang="zh-CN" sz="26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W</a:t>
            </a:r>
            <a:r>
              <a:rPr kumimoji="0" lang="zh-CN" altLang="zh-CN" sz="26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为两倍的鳍高加上鳍宽。</a:t>
            </a:r>
            <a:endParaRPr kumimoji="0" lang="zh-CN" altLang="en-US" sz="26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39409874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r>
              <a:rPr lang="zh-CN" altLang="zh-CN" dirty="0" smtClean="0"/>
              <a:t>应力硅技术</a:t>
            </a:r>
            <a:endParaRPr lang="zh-CN" altLang="en-US" dirty="0"/>
          </a:p>
        </p:txBody>
      </p:sp>
      <p:sp>
        <p:nvSpPr>
          <p:cNvPr id="6" name="矩形 5"/>
          <p:cNvSpPr/>
          <p:nvPr/>
        </p:nvSpPr>
        <p:spPr>
          <a:xfrm>
            <a:off x="1143000" y="762000"/>
            <a:ext cx="6781800"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90nm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到</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22nm</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的按比例缩小及其技术创新</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nvGrpSpPr>
          <p:cNvPr id="2" name="组合 8"/>
          <p:cNvGrpSpPr/>
          <p:nvPr/>
        </p:nvGrpSpPr>
        <p:grpSpPr>
          <a:xfrm>
            <a:off x="374254" y="1295400"/>
            <a:ext cx="8374210" cy="4800600"/>
            <a:chOff x="152400" y="1295400"/>
            <a:chExt cx="8374210" cy="4800600"/>
          </a:xfrm>
        </p:grpSpPr>
        <p:pic>
          <p:nvPicPr>
            <p:cNvPr id="75778" name="Picture 2"/>
            <p:cNvPicPr>
              <a:picLocks noChangeAspect="1" noChangeArrowheads="1"/>
            </p:cNvPicPr>
            <p:nvPr/>
          </p:nvPicPr>
          <p:blipFill>
            <a:blip r:embed="rId2" cstate="print"/>
            <a:srcRect/>
            <a:stretch>
              <a:fillRect/>
            </a:stretch>
          </p:blipFill>
          <p:spPr bwMode="auto">
            <a:xfrm>
              <a:off x="152400" y="1295400"/>
              <a:ext cx="8374210" cy="4800600"/>
            </a:xfrm>
            <a:prstGeom prst="rect">
              <a:avLst/>
            </a:prstGeom>
            <a:noFill/>
            <a:ln w="9525">
              <a:noFill/>
              <a:miter lim="800000"/>
              <a:headEnd/>
              <a:tailEnd/>
            </a:ln>
          </p:spPr>
        </p:pic>
        <p:sp>
          <p:nvSpPr>
            <p:cNvPr id="7" name="矩形 6"/>
            <p:cNvSpPr/>
            <p:nvPr/>
          </p:nvSpPr>
          <p:spPr>
            <a:xfrm>
              <a:off x="228600" y="5235714"/>
              <a:ext cx="4648200" cy="707886"/>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HP</a:t>
              </a:r>
              <a:r>
                <a:rPr kumimoji="0" lang="zh-CN"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：高性能技术；</a:t>
              </a:r>
              <a:endPar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LSTP</a:t>
              </a:r>
              <a:r>
                <a:rPr kumimoji="0" lang="zh-CN" altLang="zh-CN" sz="20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：便携式应用的低待机功率；</a:t>
              </a:r>
              <a:endParaRPr kumimoji="0" lang="zh-CN" altLang="zh-CN" sz="20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sp>
        <p:nvSpPr>
          <p:cNvPr id="8" name="灯片编号占位符 5"/>
          <p:cNvSpPr>
            <a:spLocks noGrp="1"/>
          </p:cNvSpPr>
          <p:nvPr>
            <p:ph type="sldNum" sz="quarter" idx="12"/>
          </p:nvPr>
        </p:nvSpPr>
        <p:spPr>
          <a:xfrm>
            <a:off x="6553200" y="6245225"/>
            <a:ext cx="2133600" cy="47625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82D45A-2695-46D7-A243-13ADFA532CB4}"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119</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sp>
        <p:nvSpPr>
          <p:cNvPr id="10" name="矩形 9"/>
          <p:cNvSpPr/>
          <p:nvPr/>
        </p:nvSpPr>
        <p:spPr>
          <a:xfrm>
            <a:off x="914400" y="6096000"/>
            <a:ext cx="6477000"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I</a:t>
            </a:r>
            <a:r>
              <a:rPr kumimoji="0" lang="en-US" altLang="zh-CN" sz="2800" b="1" i="0"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on</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提高得很快，归功于应力硅技术。</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19447504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应力硅技术</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120</a:t>
            </a:fld>
            <a:endParaRPr kumimoji="0" lang="en-US" altLang="zh-CN" sz="1400" b="0" i="0" u="none" strike="noStrike" kern="1200" cap="none" spc="0" normalizeH="0" baseline="0" noProof="0" dirty="0">
              <a:ln>
                <a:noFill/>
              </a:ln>
              <a:solidFill>
                <a:srgbClr val="000000"/>
              </a:solidFill>
              <a:effectLst/>
              <a:uLnTx/>
              <a:uFillTx/>
              <a:latin typeface="Arial"/>
              <a:ea typeface="宋体"/>
              <a:cs typeface="+mn-cs"/>
            </a:endParaRPr>
          </a:p>
        </p:txBody>
      </p:sp>
      <p:sp>
        <p:nvSpPr>
          <p:cNvPr id="5" name="矩形 4"/>
          <p:cNvSpPr/>
          <p:nvPr/>
        </p:nvSpPr>
        <p:spPr>
          <a:xfrm>
            <a:off x="533400" y="838200"/>
            <a:ext cx="8077200" cy="2246769"/>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ü"/>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电子和空穴的迁移率可以通过仔细施加的机械应力而得到提高（或者降低）。</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ü"/>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应力改变硅晶体的晶格常数，根据</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薛定谔</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波动方程可知，应力改变了</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E</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k</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关系，因而改变了有效质量和迁移率。</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pic>
        <p:nvPicPr>
          <p:cNvPr id="76802" name="Picture 2"/>
          <p:cNvPicPr>
            <a:picLocks noChangeAspect="1" noChangeArrowheads="1"/>
          </p:cNvPicPr>
          <p:nvPr/>
        </p:nvPicPr>
        <p:blipFill>
          <a:blip r:embed="rId2" cstate="print"/>
          <a:srcRect/>
          <a:stretch>
            <a:fillRect/>
          </a:stretch>
        </p:blipFill>
        <p:spPr bwMode="auto">
          <a:xfrm>
            <a:off x="533400" y="2971800"/>
            <a:ext cx="6642100" cy="3498850"/>
          </a:xfrm>
          <a:prstGeom prst="rect">
            <a:avLst/>
          </a:prstGeom>
          <a:noFill/>
          <a:ln w="9525">
            <a:noFill/>
            <a:miter lim="800000"/>
            <a:headEnd/>
            <a:tailEnd/>
          </a:ln>
        </p:spPr>
      </p:pic>
      <p:sp>
        <p:nvSpPr>
          <p:cNvPr id="7" name="矩形 6"/>
          <p:cNvSpPr/>
          <p:nvPr/>
        </p:nvSpPr>
        <p:spPr>
          <a:xfrm>
            <a:off x="6553200" y="4343400"/>
            <a:ext cx="2286000" cy="1815882"/>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pMOSFET</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压应力</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表面空穴迁移率提高</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19253616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340CE56-E0A0-46B7-8CFA-A0C34E567847}"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121</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pic>
        <p:nvPicPr>
          <p:cNvPr id="6" name="Picture 2"/>
          <p:cNvPicPr>
            <a:picLocks noChangeAspect="1" noChangeArrowheads="1"/>
          </p:cNvPicPr>
          <p:nvPr/>
        </p:nvPicPr>
        <p:blipFill>
          <a:blip r:embed="rId2" cstate="print"/>
          <a:srcRect/>
          <a:stretch>
            <a:fillRect/>
          </a:stretch>
        </p:blipFill>
        <p:spPr bwMode="auto">
          <a:xfrm>
            <a:off x="1371600" y="228600"/>
            <a:ext cx="6096000" cy="3211182"/>
          </a:xfrm>
          <a:prstGeom prst="rect">
            <a:avLst/>
          </a:prstGeom>
          <a:noFill/>
          <a:ln w="9525">
            <a:noFill/>
            <a:miter lim="800000"/>
            <a:headEnd/>
            <a:tailEnd/>
          </a:ln>
        </p:spPr>
      </p:pic>
      <p:sp>
        <p:nvSpPr>
          <p:cNvPr id="7" name="矩形 6"/>
          <p:cNvSpPr/>
          <p:nvPr/>
        </p:nvSpPr>
        <p:spPr>
          <a:xfrm>
            <a:off x="381000" y="3505200"/>
            <a:ext cx="8229600" cy="3108543"/>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在栅的位置确定后，在栅旁边的硅中刻蚀沟槽。沟槽中外延生长填充</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SiGe</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一般</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20%</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80%</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。由于</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原子大于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原子，并且在沟槽中外延生长的原子数等于最初的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原子数，这个外延生长的过程就像一个大手被强迫套上一个小的手套。这样就产生了一个对沟道区的压力，因而提高了沟道空穴的迁移率。</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5" name="标题 1"/>
          <p:cNvSpPr>
            <a:spLocks noGrp="1"/>
          </p:cNvSpPr>
          <p:nvPr>
            <p:ph type="title"/>
          </p:nvPr>
        </p:nvSpPr>
        <p:spPr>
          <a:xfrm>
            <a:off x="250825" y="260350"/>
            <a:ext cx="8229600" cy="561975"/>
          </a:xfrm>
        </p:spPr>
        <p:txBody>
          <a:bodyPr/>
          <a:lstStyle/>
          <a:p>
            <a:r>
              <a:rPr lang="zh-CN" altLang="zh-CN" dirty="0" smtClean="0"/>
              <a:t>应力硅技术</a:t>
            </a:r>
            <a:endParaRPr lang="zh-CN" altLang="en-US" dirty="0"/>
          </a:p>
        </p:txBody>
      </p:sp>
    </p:spTree>
    <p:extLst>
      <p:ext uri="{BB962C8B-B14F-4D97-AF65-F5344CB8AC3E}">
        <p14:creationId xmlns:p14="http://schemas.microsoft.com/office/powerpoint/2010/main" val="8159980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D050063-4272-4B1B-BDCD-2E5D6F7CED90}"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152578" name="Rectangle 2"/>
          <p:cNvSpPr>
            <a:spLocks noGrp="1" noChangeArrowheads="1"/>
          </p:cNvSpPr>
          <p:nvPr>
            <p:ph type="title"/>
          </p:nvPr>
        </p:nvSpPr>
        <p:spPr/>
        <p:txBody>
          <a:bodyPr/>
          <a:lstStyle/>
          <a:p>
            <a:r>
              <a:rPr lang="en-US" altLang="zh-CN" dirty="0" err="1" smtClean="0"/>
              <a:t>GaAs</a:t>
            </a:r>
            <a:r>
              <a:rPr lang="en-US" altLang="zh-CN" dirty="0" smtClean="0"/>
              <a:t> MESFET</a:t>
            </a:r>
            <a:r>
              <a:rPr lang="zh-CN" altLang="en-US" dirty="0" smtClean="0"/>
              <a:t>（</a:t>
            </a:r>
            <a:r>
              <a:rPr lang="zh-CN" altLang="zh-CN" dirty="0" smtClean="0"/>
              <a:t>金属半导体场效应晶体管）</a:t>
            </a:r>
            <a:endParaRPr lang="zh-CN" altLang="en-US" dirty="0"/>
          </a:p>
        </p:txBody>
      </p:sp>
      <p:sp>
        <p:nvSpPr>
          <p:cNvPr id="8" name="矩形 7"/>
          <p:cNvSpPr/>
          <p:nvPr/>
        </p:nvSpPr>
        <p:spPr>
          <a:xfrm>
            <a:off x="539552" y="836712"/>
            <a:ext cx="8208912" cy="5459956"/>
          </a:xfrm>
          <a:prstGeom prst="rect">
            <a:avLst/>
          </a:prstGeom>
        </p:spPr>
        <p:txBody>
          <a:bodyPr wrap="square">
            <a:spAutoFit/>
          </a:bodyPr>
          <a:lstStyle/>
          <a:p>
            <a:pPr marL="0" marR="0" lvl="0" indent="0" algn="l" defTabSz="914400" rtl="0" eaLnBrk="1" fontAlgn="base" latinLnBrk="0" hangingPunct="1">
              <a:lnSpc>
                <a:spcPct val="110000"/>
              </a:lnSpc>
              <a:spcBef>
                <a:spcPts val="6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更高的载流子迁移率可以使载流子运动得更快，晶体管可以工作在更高的速度。</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10000"/>
              </a:lnSpc>
              <a:spcBef>
                <a:spcPts val="6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提高工作速度最直接的方法是采用迁移率比硅高的半导体材料，</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单晶材料</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如锗或应力硅</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单晶</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SiGe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合金薄膜可以在</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衬底上外延生长。将</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工艺拓展到例如</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或</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SiGe</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晶体管是提高器件速度的一个很有应用前景的方法。</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10000"/>
              </a:lnSpc>
              <a:spcBef>
                <a:spcPts val="600"/>
              </a:spcBef>
              <a:spcAft>
                <a:spcPct val="0"/>
              </a:spcAft>
              <a:buClrTx/>
              <a:buSzTx/>
              <a:buFont typeface="Arial" pitchFamily="34" charset="0"/>
              <a:buChar char="•"/>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和其它一些化合物半导体材料具有比</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Si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更高的电子迁移率。不幸的是，在这些材料中很难制造高质量的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。对于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应用，在半导体</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介质界面处存在大量的电荷陷阱。</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243174927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D050063-4272-4B1B-BDCD-2E5D6F7CED90}"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pic>
        <p:nvPicPr>
          <p:cNvPr id="314370" name="Picture 2"/>
          <p:cNvPicPr>
            <a:picLocks noChangeAspect="1" noChangeArrowheads="1"/>
          </p:cNvPicPr>
          <p:nvPr/>
        </p:nvPicPr>
        <p:blipFill>
          <a:blip r:embed="rId3" cstate="print"/>
          <a:srcRect/>
          <a:stretch>
            <a:fillRect/>
          </a:stretch>
        </p:blipFill>
        <p:spPr bwMode="auto">
          <a:xfrm>
            <a:off x="1043608" y="1412776"/>
            <a:ext cx="7023100" cy="3124200"/>
          </a:xfrm>
          <a:prstGeom prst="rect">
            <a:avLst/>
          </a:prstGeom>
          <a:noFill/>
          <a:ln w="9525">
            <a:noFill/>
            <a:miter lim="800000"/>
            <a:headEnd/>
            <a:tailEnd/>
          </a:ln>
        </p:spPr>
      </p:pic>
      <p:sp>
        <p:nvSpPr>
          <p:cNvPr id="7" name="矩形 6"/>
          <p:cNvSpPr/>
          <p:nvPr/>
        </p:nvSpPr>
        <p:spPr>
          <a:xfrm>
            <a:off x="467544" y="314653"/>
            <a:ext cx="7992888" cy="95410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MESFET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Metal-Semiconductor Field Effect Transistor</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，金属半导体场效应晶体管）</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8" name="矩形 7"/>
          <p:cNvSpPr/>
          <p:nvPr/>
        </p:nvSpPr>
        <p:spPr>
          <a:xfrm>
            <a:off x="755576" y="4797152"/>
            <a:ext cx="7704856" cy="1416285"/>
          </a:xfrm>
          <a:prstGeom prst="rect">
            <a:avLst/>
          </a:prstGeom>
        </p:spPr>
        <p:txBody>
          <a:bodyPr wrap="square">
            <a:spAutoFit/>
          </a:bodyPr>
          <a:lstStyle/>
          <a:p>
            <a:pPr marL="0" marR="0" lvl="0" indent="0" algn="l" defTabSz="914400" rtl="0" eaLnBrk="1" fontAlgn="base" latinLnBrk="0" hangingPunct="1">
              <a:lnSpc>
                <a:spcPct val="105000"/>
              </a:lnSpc>
              <a:spcBef>
                <a:spcPct val="0"/>
              </a:spcBef>
              <a:spcAft>
                <a:spcPct val="0"/>
              </a:spcAft>
              <a:buClrTx/>
              <a:buSzTx/>
              <a:buFontTx/>
              <a:buNone/>
              <a:tabLst/>
              <a:defRPr/>
            </a:pP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E</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g</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很大</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n</a:t>
            </a:r>
            <a:r>
              <a:rPr kumimoji="0" lang="en-US" altLang="zh-CN" sz="2800" b="1" i="0"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i</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很小，无掺杂</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可以视为绝缘体。为了减小输入栅电流</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Schottky</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二极管电流</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通常希望</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Schottky</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势垒高度比较大。</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7402320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D050063-4272-4B1B-BDCD-2E5D6F7CED90}" type="slidenum">
              <a:rPr kumimoji="0" lang="en-US" altLang="zh-CN" sz="1400" b="0" i="0" u="none" strike="noStrike" kern="1200" cap="none" spc="0" normalizeH="0" baseline="0" noProof="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152578" name="Rectangle 2"/>
          <p:cNvSpPr>
            <a:spLocks noGrp="1" noChangeArrowheads="1"/>
          </p:cNvSpPr>
          <p:nvPr>
            <p:ph type="title"/>
          </p:nvPr>
        </p:nvSpPr>
        <p:spPr>
          <a:xfrm>
            <a:off x="250825" y="260350"/>
            <a:ext cx="8229600" cy="576362"/>
          </a:xfrm>
        </p:spPr>
        <p:txBody>
          <a:bodyPr/>
          <a:lstStyle/>
          <a:p>
            <a:r>
              <a:rPr lang="en-US" altLang="zh-CN" dirty="0" smtClean="0"/>
              <a:t>HEMT</a:t>
            </a:r>
            <a:r>
              <a:rPr lang="zh-CN" altLang="zh-CN" dirty="0" smtClean="0"/>
              <a:t> （高电子迁移率晶体管）</a:t>
            </a:r>
            <a:endParaRPr lang="zh-CN" altLang="en-US" dirty="0"/>
          </a:p>
        </p:txBody>
      </p:sp>
      <p:pic>
        <p:nvPicPr>
          <p:cNvPr id="315394" name="Picture 2"/>
          <p:cNvPicPr>
            <a:picLocks noChangeAspect="1" noChangeArrowheads="1"/>
          </p:cNvPicPr>
          <p:nvPr/>
        </p:nvPicPr>
        <p:blipFill>
          <a:blip r:embed="rId3" cstate="print"/>
          <a:srcRect/>
          <a:stretch>
            <a:fillRect/>
          </a:stretch>
        </p:blipFill>
        <p:spPr bwMode="auto">
          <a:xfrm>
            <a:off x="140588" y="1203568"/>
            <a:ext cx="4503420" cy="3017520"/>
          </a:xfrm>
          <a:prstGeom prst="rect">
            <a:avLst/>
          </a:prstGeom>
          <a:noFill/>
          <a:ln w="9525">
            <a:noFill/>
            <a:miter lim="800000"/>
            <a:headEnd/>
            <a:tailEnd/>
          </a:ln>
        </p:spPr>
      </p:pic>
      <p:pic>
        <p:nvPicPr>
          <p:cNvPr id="315395" name="Picture 3"/>
          <p:cNvPicPr>
            <a:picLocks noChangeAspect="1" noChangeArrowheads="1"/>
          </p:cNvPicPr>
          <p:nvPr/>
        </p:nvPicPr>
        <p:blipFill>
          <a:blip r:embed="rId4" cstate="print"/>
          <a:srcRect/>
          <a:stretch>
            <a:fillRect/>
          </a:stretch>
        </p:blipFill>
        <p:spPr bwMode="auto">
          <a:xfrm>
            <a:off x="5004048" y="1062975"/>
            <a:ext cx="3829050" cy="3446145"/>
          </a:xfrm>
          <a:prstGeom prst="rect">
            <a:avLst/>
          </a:prstGeom>
          <a:noFill/>
          <a:ln w="9525">
            <a:noFill/>
            <a:miter lim="800000"/>
            <a:headEnd/>
            <a:tailEnd/>
          </a:ln>
        </p:spPr>
      </p:pic>
      <p:sp>
        <p:nvSpPr>
          <p:cNvPr id="7" name="矩形 6"/>
          <p:cNvSpPr/>
          <p:nvPr/>
        </p:nvSpPr>
        <p:spPr>
          <a:xfrm>
            <a:off x="611560" y="4869160"/>
            <a:ext cx="8064896" cy="1031051"/>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栅下方</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GaAlAs</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薄膜是耗尽的</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GaAlAs</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MOSFET</a:t>
            </a:r>
            <a:r>
              <a:rPr kumimoji="0" lang="zh-CN"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的氧化层类似</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Tree>
    <p:extLst>
      <p:ext uri="{BB962C8B-B14F-4D97-AF65-F5344CB8AC3E}">
        <p14:creationId xmlns:p14="http://schemas.microsoft.com/office/powerpoint/2010/main" val="313885405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9B7E29-1F64-4065-864E-D9E66712B4A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125</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6" name="矩形 5"/>
          <p:cNvSpPr/>
          <p:nvPr/>
        </p:nvSpPr>
        <p:spPr>
          <a:xfrm>
            <a:off x="395536" y="404664"/>
            <a:ext cx="8208912" cy="5847755"/>
          </a:xfrm>
          <a:prstGeom prst="rect">
            <a:avLst/>
          </a:prstGeom>
        </p:spPr>
        <p:txBody>
          <a:bodyPr wrap="square">
            <a:spAutoFit/>
          </a:bodyPr>
          <a:lstStyle/>
          <a:p>
            <a:pPr marL="0" marR="0" lvl="0" indent="0" algn="l" defTabSz="914400" rtl="0" eaLnBrk="1" fontAlgn="base" latinLnBrk="0" hangingPunct="1">
              <a:lnSpc>
                <a:spcPct val="100000"/>
              </a:lnSpc>
              <a:spcBef>
                <a:spcPts val="600"/>
              </a:spcBef>
              <a:spcAft>
                <a:spcPct val="0"/>
              </a:spcAft>
              <a:buClrTx/>
              <a:buSzTx/>
              <a:buFont typeface="Wingdings" pitchFamily="2" charset="2"/>
              <a:buChar char="ü"/>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关于</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迁移率的讨论：</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材料由于电子的有效质量比较小，因此电离杂质原子对电子的库仑散射作用相对来说就比较大。</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例如，</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300K</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的纯净</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材料中，电子的迁移率可达</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8500cm</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2</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/V-sec</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，当掺杂浓度为</a:t>
            </a:r>
            <a:r>
              <a:rPr kumimoji="0" lang="en-US" altLang="zh-CN" sz="2800" b="1" i="1"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N</a:t>
            </a:r>
            <a:r>
              <a:rPr kumimoji="0" lang="en-US" altLang="zh-CN" sz="2800" b="1" i="1" u="none" strike="noStrike" kern="1200" cap="none" spc="0" normalizeH="0" baseline="-25000" noProof="0" dirty="0" err="1" smtClean="0">
                <a:ln>
                  <a:noFill/>
                </a:ln>
                <a:solidFill>
                  <a:srgbClr val="000000"/>
                </a:solidFill>
                <a:effectLst/>
                <a:uLnTx/>
                <a:uFillTx/>
                <a:latin typeface="Times New Roman" pitchFamily="18" charset="0"/>
                <a:ea typeface="楷体_GB2312" pitchFamily="49" charset="-122"/>
                <a:cs typeface="+mn-cs"/>
              </a:rPr>
              <a:t>d</a:t>
            </a:r>
            <a:r>
              <a:rPr kumimoji="0" lang="en-US" altLang="zh-CN" sz="2800" b="1" i="1"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 </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=2</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sym typeface="Symbol"/>
              </a:rPr>
              <a:t></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17</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cm</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-3</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时，电子的迁移率降至约</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4000cm</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2</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/V-sec</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。对于一般的器件，沟道区的掺杂浓度约为</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10</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17</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cm</a:t>
            </a:r>
            <a:r>
              <a:rPr kumimoji="0" lang="en-US" altLang="zh-CN" sz="2800" b="1" i="0" u="none" strike="noStrike" kern="1200" cap="none" spc="0" normalizeH="0" baseline="30000" noProof="0" dirty="0" smtClean="0">
                <a:ln>
                  <a:noFill/>
                </a:ln>
                <a:solidFill>
                  <a:srgbClr val="000000"/>
                </a:solidFill>
                <a:effectLst/>
                <a:uLnTx/>
                <a:uFillTx/>
                <a:latin typeface="Times New Roman" pitchFamily="18" charset="0"/>
                <a:ea typeface="楷体_GB2312" pitchFamily="49" charset="-122"/>
                <a:cs typeface="+mn-cs"/>
              </a:rPr>
              <a:t>-3</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量级。</a:t>
            </a:r>
          </a:p>
          <a:p>
            <a:pPr marL="0" marR="0" lvl="0" indent="0" algn="l" defTabSz="914400" rtl="0" eaLnBrk="1" fontAlgn="base" latinLnBrk="0" hangingPunct="1">
              <a:lnSpc>
                <a:spcPct val="100000"/>
              </a:lnSpc>
              <a:spcBef>
                <a:spcPts val="1200"/>
              </a:spcBef>
              <a:spcAft>
                <a:spcPct val="0"/>
              </a:spcAft>
              <a:buClrTx/>
              <a:buSzTx/>
              <a:buFont typeface="Wingdings" pitchFamily="2" charset="2"/>
              <a:buChar char="ü"/>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调制掺杂的概念：</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20</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世纪</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70</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年代后期，贝尔实验室提出了调制掺杂的方案，可将沟道中的杂质与电子分离以增强沟道电子的迁移率。</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实现方法：利用</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n</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型宽带隙材料</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AlxGa1-xAs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向纯净的 </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单晶材料</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导电沟道</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中提供导电电子。</a:t>
            </a:r>
          </a:p>
        </p:txBody>
      </p:sp>
    </p:spTree>
    <p:extLst>
      <p:ext uri="{BB962C8B-B14F-4D97-AF65-F5344CB8AC3E}">
        <p14:creationId xmlns:p14="http://schemas.microsoft.com/office/powerpoint/2010/main" val="36706433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9B7E29-1F64-4065-864E-D9E66712B4A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126</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sp>
        <p:nvSpPr>
          <p:cNvPr id="7" name="矩形 6"/>
          <p:cNvSpPr/>
          <p:nvPr/>
        </p:nvSpPr>
        <p:spPr>
          <a:xfrm>
            <a:off x="323528" y="4637454"/>
            <a:ext cx="8568952" cy="1815882"/>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由于</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Fermi</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能级不同，重掺杂的</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n</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型</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AlGaAs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层中的电子将转移到非掺杂的</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一侧，而带正电的离化施主仍留在</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AlGaAs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一侧，界面附近能带发生弯曲，</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AlGaAs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一侧形成势垒，</a:t>
            </a:r>
            <a:r>
              <a:rPr kumimoji="0" lang="en-US" altLang="zh-CN" sz="2800" b="1" i="0" u="none" strike="noStrike" kern="1200" cap="none" spc="0" normalizeH="0" baseline="0" noProof="0" dirty="0" err="1" smtClean="0">
                <a:ln>
                  <a:noFill/>
                </a:ln>
                <a:solidFill>
                  <a:srgbClr val="000000"/>
                </a:solidFill>
                <a:effectLst/>
                <a:uLnTx/>
                <a:uFillTx/>
                <a:latin typeface="Times New Roman" pitchFamily="18" charset="0"/>
                <a:ea typeface="楷体_GB2312" pitchFamily="49" charset="-122"/>
                <a:cs typeface="+mn-cs"/>
              </a:rPr>
              <a:t>GaAs</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一侧形成准三角形势阱。 </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grpSp>
        <p:nvGrpSpPr>
          <p:cNvPr id="24" name="Group 20"/>
          <p:cNvGrpSpPr>
            <a:grpSpLocks/>
          </p:cNvGrpSpPr>
          <p:nvPr/>
        </p:nvGrpSpPr>
        <p:grpSpPr bwMode="auto">
          <a:xfrm>
            <a:off x="287338" y="872654"/>
            <a:ext cx="4537075" cy="3060700"/>
            <a:chOff x="113" y="1185"/>
            <a:chExt cx="2858" cy="1928"/>
          </a:xfrm>
        </p:grpSpPr>
        <p:graphicFrame>
          <p:nvGraphicFramePr>
            <p:cNvPr id="25" name="Object 10"/>
            <p:cNvGraphicFramePr>
              <a:graphicFrameLocks noChangeAspect="1"/>
            </p:cNvGraphicFramePr>
            <p:nvPr/>
          </p:nvGraphicFramePr>
          <p:xfrm>
            <a:off x="455" y="1344"/>
            <a:ext cx="2226" cy="1769"/>
          </p:xfrm>
          <a:graphic>
            <a:graphicData uri="http://schemas.openxmlformats.org/presentationml/2006/ole">
              <mc:AlternateContent xmlns:mc="http://schemas.openxmlformats.org/markup-compatibility/2006">
                <mc:Choice xmlns:v="urn:schemas-microsoft-com:vml" Requires="v">
                  <p:oleObj spid="_x0000_s234574" name="Visio" r:id="rId3" imgW="2966314" imgH="2356714" progId="Visio.Drawing.11">
                    <p:embed/>
                  </p:oleObj>
                </mc:Choice>
                <mc:Fallback>
                  <p:oleObj name="Visio" r:id="rId3" imgW="2966314" imgH="2356714" progId="Visio.Drawing.11">
                    <p:embed/>
                    <p:pic>
                      <p:nvPicPr>
                        <p:cNvPr id="2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 y="1344"/>
                          <a:ext cx="2226" cy="1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11"/>
            <p:cNvSpPr txBox="1">
              <a:spLocks noChangeArrowheads="1"/>
            </p:cNvSpPr>
            <p:nvPr/>
          </p:nvSpPr>
          <p:spPr bwMode="auto">
            <a:xfrm>
              <a:off x="340" y="2228"/>
              <a:ext cx="93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n-AlGaAs</a:t>
              </a:r>
            </a:p>
          </p:txBody>
        </p:sp>
        <p:sp>
          <p:nvSpPr>
            <p:cNvPr id="27" name="Text Box 12"/>
            <p:cNvSpPr txBox="1">
              <a:spLocks noChangeArrowheads="1"/>
            </p:cNvSpPr>
            <p:nvPr/>
          </p:nvSpPr>
          <p:spPr bwMode="auto">
            <a:xfrm>
              <a:off x="1746" y="1691"/>
              <a:ext cx="961"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9900"/>
                  </a:solidFill>
                  <a:effectLst/>
                  <a:uLnTx/>
                  <a:uFillTx/>
                  <a:latin typeface="Times New Roman" pitchFamily="18" charset="0"/>
                  <a:ea typeface="楷体_GB2312" pitchFamily="49" charset="-122"/>
                  <a:cs typeface="+mn-cs"/>
                </a:rPr>
                <a:t>本征</a:t>
              </a:r>
              <a:r>
                <a:rPr kumimoji="0" lang="en-US" altLang="zh-CN" sz="2400" b="1" i="0" u="none" strike="noStrike" kern="1200" cap="none" spc="0" normalizeH="0" baseline="0" noProof="0" dirty="0" err="1">
                  <a:ln>
                    <a:noFill/>
                  </a:ln>
                  <a:solidFill>
                    <a:srgbClr val="009900"/>
                  </a:solidFill>
                  <a:effectLst/>
                  <a:uLnTx/>
                  <a:uFillTx/>
                  <a:latin typeface="Times New Roman" pitchFamily="18" charset="0"/>
                  <a:ea typeface="楷体_GB2312" pitchFamily="49" charset="-122"/>
                  <a:cs typeface="+mn-cs"/>
                </a:rPr>
                <a:t>GaAs</a:t>
              </a:r>
              <a:endParaRPr kumimoji="0" lang="en-US" altLang="zh-CN" sz="2400" b="1" i="0" u="none" strike="noStrike" kern="1200" cap="none" spc="0" normalizeH="0" baseline="0" noProof="0" dirty="0">
                <a:ln>
                  <a:noFill/>
                </a:ln>
                <a:solidFill>
                  <a:srgbClr val="009900"/>
                </a:solidFill>
                <a:effectLst/>
                <a:uLnTx/>
                <a:uFillTx/>
                <a:latin typeface="Times New Roman" pitchFamily="18" charset="0"/>
                <a:ea typeface="楷体_GB2312" pitchFamily="49" charset="-122"/>
                <a:cs typeface="+mn-cs"/>
              </a:endParaRPr>
            </a:p>
          </p:txBody>
        </p:sp>
        <p:sp>
          <p:nvSpPr>
            <p:cNvPr id="28" name="Text Box 13"/>
            <p:cNvSpPr txBox="1">
              <a:spLocks noChangeArrowheads="1"/>
            </p:cNvSpPr>
            <p:nvPr/>
          </p:nvSpPr>
          <p:spPr bwMode="auto">
            <a:xfrm>
              <a:off x="113" y="1645"/>
              <a:ext cx="393"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F</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1</a:t>
              </a:r>
              <a:endPar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endParaRPr>
            </a:p>
          </p:txBody>
        </p:sp>
        <p:sp>
          <p:nvSpPr>
            <p:cNvPr id="29" name="Text Box 14"/>
            <p:cNvSpPr txBox="1">
              <a:spLocks noChangeArrowheads="1"/>
            </p:cNvSpPr>
            <p:nvPr/>
          </p:nvSpPr>
          <p:spPr bwMode="auto">
            <a:xfrm>
              <a:off x="2578" y="2160"/>
              <a:ext cx="393"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F</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2</a:t>
              </a:r>
              <a:endPar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endParaRPr>
            </a:p>
          </p:txBody>
        </p:sp>
        <p:sp>
          <p:nvSpPr>
            <p:cNvPr id="30" name="Text Box 15"/>
            <p:cNvSpPr txBox="1">
              <a:spLocks noChangeArrowheads="1"/>
            </p:cNvSpPr>
            <p:nvPr/>
          </p:nvSpPr>
          <p:spPr bwMode="auto">
            <a:xfrm>
              <a:off x="204" y="1185"/>
              <a:ext cx="30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0</a:t>
              </a:r>
              <a:endPar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endParaRPr>
            </a:p>
          </p:txBody>
        </p:sp>
      </p:grpSp>
      <p:grpSp>
        <p:nvGrpSpPr>
          <p:cNvPr id="31" name="Group 21"/>
          <p:cNvGrpSpPr>
            <a:grpSpLocks/>
          </p:cNvGrpSpPr>
          <p:nvPr/>
        </p:nvGrpSpPr>
        <p:grpSpPr bwMode="auto">
          <a:xfrm>
            <a:off x="5111750" y="692696"/>
            <a:ext cx="3438525" cy="3662362"/>
            <a:chOff x="3152" y="761"/>
            <a:chExt cx="2166" cy="2307"/>
          </a:xfrm>
        </p:grpSpPr>
        <p:graphicFrame>
          <p:nvGraphicFramePr>
            <p:cNvPr id="32" name="Object 7"/>
            <p:cNvGraphicFramePr>
              <a:graphicFrameLocks noChangeAspect="1"/>
            </p:cNvGraphicFramePr>
            <p:nvPr/>
          </p:nvGraphicFramePr>
          <p:xfrm>
            <a:off x="3188" y="913"/>
            <a:ext cx="1852" cy="2155"/>
          </p:xfrm>
          <a:graphic>
            <a:graphicData uri="http://schemas.openxmlformats.org/presentationml/2006/ole">
              <mc:AlternateContent xmlns:mc="http://schemas.openxmlformats.org/markup-compatibility/2006">
                <mc:Choice xmlns:v="urn:schemas-microsoft-com:vml" Requires="v">
                  <p:oleObj spid="_x0000_s234575" name="Visio" r:id="rId5" imgW="2509114" imgH="2920898" progId="Visio.Drawing.11">
                    <p:embed/>
                  </p:oleObj>
                </mc:Choice>
                <mc:Fallback>
                  <p:oleObj name="Visio" r:id="rId5" imgW="2509114" imgH="2920898" progId="Visio.Drawing.11">
                    <p:embed/>
                    <p:pic>
                      <p:nvPicPr>
                        <p:cNvPr id="32"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8" y="913"/>
                          <a:ext cx="1852" cy="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Text Box 16"/>
            <p:cNvSpPr txBox="1">
              <a:spLocks noChangeArrowheads="1"/>
            </p:cNvSpPr>
            <p:nvPr/>
          </p:nvSpPr>
          <p:spPr bwMode="auto">
            <a:xfrm>
              <a:off x="4953" y="761"/>
              <a:ext cx="30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0</a:t>
              </a:r>
              <a:endPar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endParaRPr>
            </a:p>
          </p:txBody>
        </p:sp>
        <p:sp>
          <p:nvSpPr>
            <p:cNvPr id="34" name="Text Box 17"/>
            <p:cNvSpPr txBox="1">
              <a:spLocks noChangeArrowheads="1"/>
            </p:cNvSpPr>
            <p:nvPr/>
          </p:nvSpPr>
          <p:spPr bwMode="auto">
            <a:xfrm>
              <a:off x="4989" y="1797"/>
              <a:ext cx="329"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F</a:t>
              </a:r>
              <a:endPar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endParaRPr>
            </a:p>
          </p:txBody>
        </p:sp>
        <p:sp>
          <p:nvSpPr>
            <p:cNvPr id="35" name="Text Box 18"/>
            <p:cNvSpPr txBox="1">
              <a:spLocks noChangeArrowheads="1"/>
            </p:cNvSpPr>
            <p:nvPr/>
          </p:nvSpPr>
          <p:spPr bwMode="auto">
            <a:xfrm>
              <a:off x="3152" y="2364"/>
              <a:ext cx="93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n-AlGaAs</a:t>
              </a:r>
            </a:p>
          </p:txBody>
        </p:sp>
        <p:sp>
          <p:nvSpPr>
            <p:cNvPr id="36" name="Text Box 19"/>
            <p:cNvSpPr txBox="1">
              <a:spLocks noChangeArrowheads="1"/>
            </p:cNvSpPr>
            <p:nvPr/>
          </p:nvSpPr>
          <p:spPr bwMode="auto">
            <a:xfrm>
              <a:off x="4150" y="1344"/>
              <a:ext cx="961"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9900"/>
                  </a:solidFill>
                  <a:effectLst/>
                  <a:uLnTx/>
                  <a:uFillTx/>
                  <a:latin typeface="Times New Roman" pitchFamily="18" charset="0"/>
                  <a:ea typeface="楷体_GB2312" pitchFamily="49" charset="-122"/>
                  <a:cs typeface="+mn-cs"/>
                </a:rPr>
                <a:t>本征</a:t>
              </a:r>
              <a:r>
                <a:rPr kumimoji="0" lang="en-US" altLang="zh-CN" sz="2400" b="1" i="0" u="none" strike="noStrike" kern="1200" cap="none" spc="0" normalizeH="0" baseline="0" noProof="0" dirty="0" err="1">
                  <a:ln>
                    <a:noFill/>
                  </a:ln>
                  <a:solidFill>
                    <a:srgbClr val="009900"/>
                  </a:solidFill>
                  <a:effectLst/>
                  <a:uLnTx/>
                  <a:uFillTx/>
                  <a:latin typeface="Times New Roman" pitchFamily="18" charset="0"/>
                  <a:ea typeface="楷体_GB2312" pitchFamily="49" charset="-122"/>
                  <a:cs typeface="+mn-cs"/>
                </a:rPr>
                <a:t>GaAs</a:t>
              </a:r>
              <a:endParaRPr kumimoji="0" lang="en-US" altLang="zh-CN" sz="2400" b="1" i="0" u="none" strike="noStrike" kern="1200" cap="none" spc="0" normalizeH="0" baseline="0" noProof="0" dirty="0">
                <a:ln>
                  <a:noFill/>
                </a:ln>
                <a:solidFill>
                  <a:srgbClr val="009900"/>
                </a:solidFill>
                <a:effectLst/>
                <a:uLnTx/>
                <a:uFillTx/>
                <a:latin typeface="Times New Roman" pitchFamily="18" charset="0"/>
                <a:ea typeface="楷体_GB2312" pitchFamily="49" charset="-122"/>
                <a:cs typeface="+mn-cs"/>
              </a:endParaRPr>
            </a:p>
          </p:txBody>
        </p:sp>
      </p:grpSp>
      <p:sp>
        <p:nvSpPr>
          <p:cNvPr id="39" name="Text Box 22"/>
          <p:cNvSpPr txBox="1">
            <a:spLocks noChangeArrowheads="1"/>
          </p:cNvSpPr>
          <p:nvPr/>
        </p:nvSpPr>
        <p:spPr bwMode="auto">
          <a:xfrm>
            <a:off x="1258888" y="260648"/>
            <a:ext cx="2327275" cy="519113"/>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形成异质结前</a:t>
            </a:r>
          </a:p>
        </p:txBody>
      </p:sp>
      <p:sp>
        <p:nvSpPr>
          <p:cNvPr id="40" name="Text Box 23"/>
          <p:cNvSpPr txBox="1">
            <a:spLocks noChangeArrowheads="1"/>
          </p:cNvSpPr>
          <p:nvPr/>
        </p:nvSpPr>
        <p:spPr bwMode="auto">
          <a:xfrm>
            <a:off x="5472113" y="297161"/>
            <a:ext cx="2327275" cy="519112"/>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Times New Roman" pitchFamily="18" charset="0"/>
                <a:ea typeface="楷体_GB2312" pitchFamily="49" charset="-122"/>
                <a:cs typeface="+mn-cs"/>
              </a:rPr>
              <a:t>形成异质结后</a:t>
            </a:r>
          </a:p>
        </p:txBody>
      </p:sp>
    </p:spTree>
    <p:extLst>
      <p:ext uri="{BB962C8B-B14F-4D97-AF65-F5344CB8AC3E}">
        <p14:creationId xmlns:p14="http://schemas.microsoft.com/office/powerpoint/2010/main" val="416977977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9B7E29-1F64-4065-864E-D9E66712B4A1}" type="slidenum">
              <a:rPr kumimoji="0" lang="en-US" altLang="zh-CN" sz="1400" b="0" i="0" u="none" strike="noStrike" kern="1200" cap="none" spc="0" normalizeH="0" baseline="0" noProof="0" smtClean="0">
                <a:ln>
                  <a:noFill/>
                </a:ln>
                <a:solidFill>
                  <a:srgbClr val="000000"/>
                </a:solidFill>
                <a:effectLst/>
                <a:uLnTx/>
                <a:uFillTx/>
                <a:latin typeface="Arial"/>
                <a:ea typeface="宋体"/>
                <a:cs typeface="+mn-cs"/>
              </a:rPr>
              <a:pPr marL="0" marR="0" lvl="0" indent="0" algn="r" defTabSz="914400" rtl="0" eaLnBrk="1" fontAlgn="base" latinLnBrk="0" hangingPunct="1">
                <a:lnSpc>
                  <a:spcPct val="100000"/>
                </a:lnSpc>
                <a:spcBef>
                  <a:spcPct val="0"/>
                </a:spcBef>
                <a:spcAft>
                  <a:spcPct val="0"/>
                </a:spcAft>
                <a:buClrTx/>
                <a:buSzTx/>
                <a:buFontTx/>
                <a:buNone/>
                <a:tabLst/>
                <a:defRPr/>
              </a:pPr>
              <a:t>127</a:t>
            </a:fld>
            <a:endParaRPr kumimoji="0" lang="en-US" altLang="zh-CN" sz="1400" b="0" i="0" u="none" strike="noStrike" kern="1200" cap="none" spc="0" normalizeH="0" baseline="0" noProof="0">
              <a:ln>
                <a:noFill/>
              </a:ln>
              <a:solidFill>
                <a:srgbClr val="000000"/>
              </a:solidFill>
              <a:effectLst/>
              <a:uLnTx/>
              <a:uFillTx/>
              <a:latin typeface="Arial"/>
              <a:ea typeface="宋体"/>
              <a:cs typeface="+mn-cs"/>
            </a:endParaRPr>
          </a:p>
        </p:txBody>
      </p:sp>
      <p:grpSp>
        <p:nvGrpSpPr>
          <p:cNvPr id="3" name="Group 4"/>
          <p:cNvGrpSpPr>
            <a:grpSpLocks/>
          </p:cNvGrpSpPr>
          <p:nvPr/>
        </p:nvGrpSpPr>
        <p:grpSpPr bwMode="auto">
          <a:xfrm>
            <a:off x="2808288" y="692696"/>
            <a:ext cx="4800600" cy="1952625"/>
            <a:chOff x="158" y="939"/>
            <a:chExt cx="3024" cy="1230"/>
          </a:xfrm>
        </p:grpSpPr>
        <p:grpSp>
          <p:nvGrpSpPr>
            <p:cNvPr id="5" name="Group 5"/>
            <p:cNvGrpSpPr>
              <a:grpSpLocks/>
            </p:cNvGrpSpPr>
            <p:nvPr/>
          </p:nvGrpSpPr>
          <p:grpSpPr bwMode="auto">
            <a:xfrm>
              <a:off x="158" y="958"/>
              <a:ext cx="3024" cy="1211"/>
              <a:chOff x="158" y="958"/>
              <a:chExt cx="3024" cy="1211"/>
            </a:xfrm>
          </p:grpSpPr>
          <p:graphicFrame>
            <p:nvGraphicFramePr>
              <p:cNvPr id="10" name="Object 6"/>
              <p:cNvGraphicFramePr>
                <a:graphicFrameLocks noChangeAspect="1"/>
              </p:cNvGraphicFramePr>
              <p:nvPr/>
            </p:nvGraphicFramePr>
            <p:xfrm>
              <a:off x="499" y="958"/>
              <a:ext cx="2362" cy="1211"/>
            </p:xfrm>
            <a:graphic>
              <a:graphicData uri="http://schemas.openxmlformats.org/presentationml/2006/ole">
                <mc:AlternateContent xmlns:mc="http://schemas.openxmlformats.org/markup-compatibility/2006">
                  <mc:Choice xmlns:v="urn:schemas-microsoft-com:vml" Requires="v">
                    <p:oleObj spid="_x0000_s235560" name="Visio" r:id="rId3" imgW="1876349" imgH="961949" progId="Visio.Drawing.11">
                      <p:embed/>
                    </p:oleObj>
                  </mc:Choice>
                  <mc:Fallback>
                    <p:oleObj name="Visio" r:id="rId3" imgW="1876349" imgH="961949" progId="Visio.Drawing.11">
                      <p:embed/>
                      <p:pic>
                        <p:nvPicPr>
                          <p:cNvPr id="1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 y="958"/>
                            <a:ext cx="2362" cy="1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7"/>
              <p:cNvSpPr>
                <a:spLocks noChangeArrowheads="1"/>
              </p:cNvSpPr>
              <p:nvPr/>
            </p:nvSpPr>
            <p:spPr bwMode="auto">
              <a:xfrm>
                <a:off x="544" y="1797"/>
                <a:ext cx="93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n-AlGaAs</a:t>
                </a:r>
              </a:p>
            </p:txBody>
          </p:sp>
          <p:sp>
            <p:nvSpPr>
              <p:cNvPr id="12" name="Rectangle 8"/>
              <p:cNvSpPr>
                <a:spLocks noChangeArrowheads="1"/>
              </p:cNvSpPr>
              <p:nvPr/>
            </p:nvSpPr>
            <p:spPr bwMode="auto">
              <a:xfrm>
                <a:off x="1905" y="1820"/>
                <a:ext cx="575"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err="1">
                    <a:ln>
                      <a:noFill/>
                    </a:ln>
                    <a:solidFill>
                      <a:srgbClr val="009900"/>
                    </a:solidFill>
                    <a:effectLst/>
                    <a:uLnTx/>
                    <a:uFillTx/>
                    <a:latin typeface="Times New Roman" pitchFamily="18" charset="0"/>
                    <a:ea typeface="楷体_GB2312" pitchFamily="49" charset="-122"/>
                    <a:cs typeface="+mn-cs"/>
                  </a:rPr>
                  <a:t>GaAs</a:t>
                </a:r>
                <a:endParaRPr kumimoji="0" lang="en-US" altLang="zh-CN" sz="2400" b="1" i="0" u="none" strike="noStrike" kern="1200" cap="none" spc="0" normalizeH="0" baseline="0" noProof="0" dirty="0">
                  <a:ln>
                    <a:noFill/>
                  </a:ln>
                  <a:solidFill>
                    <a:srgbClr val="009900"/>
                  </a:solidFill>
                  <a:effectLst/>
                  <a:uLnTx/>
                  <a:uFillTx/>
                  <a:latin typeface="Times New Roman" pitchFamily="18" charset="0"/>
                  <a:ea typeface="楷体_GB2312" pitchFamily="49" charset="-122"/>
                  <a:cs typeface="+mn-cs"/>
                </a:endParaRPr>
              </a:p>
            </p:txBody>
          </p:sp>
          <p:sp>
            <p:nvSpPr>
              <p:cNvPr id="13" name="Rectangle 9"/>
              <p:cNvSpPr>
                <a:spLocks noChangeArrowheads="1"/>
              </p:cNvSpPr>
              <p:nvPr/>
            </p:nvSpPr>
            <p:spPr bwMode="auto">
              <a:xfrm>
                <a:off x="2789" y="1554"/>
                <a:ext cx="329"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F</a:t>
                </a:r>
              </a:p>
            </p:txBody>
          </p:sp>
          <p:sp>
            <p:nvSpPr>
              <p:cNvPr id="14" name="Rectangle 10"/>
              <p:cNvSpPr>
                <a:spLocks noChangeArrowheads="1"/>
              </p:cNvSpPr>
              <p:nvPr/>
            </p:nvSpPr>
            <p:spPr bwMode="auto">
              <a:xfrm>
                <a:off x="158" y="1389"/>
                <a:ext cx="393"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C</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1</a:t>
                </a:r>
              </a:p>
            </p:txBody>
          </p:sp>
          <p:sp>
            <p:nvSpPr>
              <p:cNvPr id="15" name="Rectangle 11"/>
              <p:cNvSpPr>
                <a:spLocks noChangeArrowheads="1"/>
              </p:cNvSpPr>
              <p:nvPr/>
            </p:nvSpPr>
            <p:spPr bwMode="auto">
              <a:xfrm>
                <a:off x="2789" y="1124"/>
                <a:ext cx="393"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1" u="none" strike="noStrike" kern="1200" cap="none" spc="0" normalizeH="0" baseline="0" noProof="0">
                    <a:ln>
                      <a:noFill/>
                    </a:ln>
                    <a:solidFill>
                      <a:srgbClr val="009900"/>
                    </a:solidFill>
                    <a:effectLst/>
                    <a:uLnTx/>
                    <a:uFillTx/>
                    <a:latin typeface="Times New Roman" pitchFamily="18" charset="0"/>
                    <a:ea typeface="楷体_GB2312" pitchFamily="49" charset="-122"/>
                    <a:cs typeface="+mn-cs"/>
                  </a:rPr>
                  <a:t>E</a:t>
                </a:r>
                <a:r>
                  <a:rPr kumimoji="0" lang="en-US" altLang="zh-CN" sz="2400" b="1" i="1"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C</a:t>
                </a:r>
                <a:r>
                  <a:rPr kumimoji="0" lang="en-US" altLang="zh-CN" sz="2400" b="1" i="0" u="none" strike="noStrike" kern="1200" cap="none" spc="0" normalizeH="0" baseline="-25000" noProof="0">
                    <a:ln>
                      <a:noFill/>
                    </a:ln>
                    <a:solidFill>
                      <a:srgbClr val="009900"/>
                    </a:solidFill>
                    <a:effectLst/>
                    <a:uLnTx/>
                    <a:uFillTx/>
                    <a:latin typeface="Times New Roman" pitchFamily="18" charset="0"/>
                    <a:ea typeface="楷体_GB2312" pitchFamily="49" charset="-122"/>
                    <a:cs typeface="+mn-cs"/>
                  </a:rPr>
                  <a:t>2</a:t>
                </a:r>
              </a:p>
            </p:txBody>
          </p:sp>
        </p:grpSp>
        <p:sp>
          <p:nvSpPr>
            <p:cNvPr id="6" name="Rectangle 12"/>
            <p:cNvSpPr>
              <a:spLocks noChangeArrowheads="1"/>
            </p:cNvSpPr>
            <p:nvPr/>
          </p:nvSpPr>
          <p:spPr bwMode="auto">
            <a:xfrm>
              <a:off x="1451" y="1350"/>
              <a:ext cx="273"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Tahoma" pitchFamily="34" charset="0"/>
                  <a:ea typeface="楷体_GB2312" pitchFamily="49" charset="-122"/>
                  <a:cs typeface="+mn-cs"/>
                </a:rPr>
                <a:t>+</a:t>
              </a:r>
            </a:p>
          </p:txBody>
        </p:sp>
        <p:sp>
          <p:nvSpPr>
            <p:cNvPr id="7" name="Rectangle 13"/>
            <p:cNvSpPr>
              <a:spLocks noChangeArrowheads="1"/>
            </p:cNvSpPr>
            <p:nvPr/>
          </p:nvSpPr>
          <p:spPr bwMode="auto">
            <a:xfrm>
              <a:off x="1633" y="1393"/>
              <a:ext cx="226" cy="365"/>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1200" cap="none" spc="0" normalizeH="0" baseline="0" noProof="0" dirty="0">
                  <a:ln>
                    <a:noFill/>
                  </a:ln>
                  <a:solidFill>
                    <a:srgbClr val="0000FF"/>
                  </a:solidFill>
                  <a:effectLst/>
                  <a:uLnTx/>
                  <a:uFillTx/>
                  <a:latin typeface="Tahoma" pitchFamily="34" charset="0"/>
                  <a:ea typeface="楷体_GB2312" pitchFamily="49" charset="-122"/>
                  <a:cs typeface="+mn-cs"/>
                </a:rPr>
                <a:t>-</a:t>
              </a:r>
            </a:p>
          </p:txBody>
        </p:sp>
        <p:sp>
          <p:nvSpPr>
            <p:cNvPr id="8" name="Rectangle 14"/>
            <p:cNvSpPr>
              <a:spLocks noChangeArrowheads="1"/>
            </p:cNvSpPr>
            <p:nvPr/>
          </p:nvSpPr>
          <p:spPr bwMode="auto">
            <a:xfrm>
              <a:off x="1973" y="939"/>
              <a:ext cx="518" cy="288"/>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Times New Roman" pitchFamily="18" charset="0"/>
                </a:rPr>
                <a:t>–</a:t>
              </a:r>
              <a:r>
                <a:rPr kumimoji="0" lang="en-US" altLang="zh-CN" sz="2400" b="1" i="1"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rPr>
                <a:t>qN</a:t>
              </a:r>
              <a:r>
                <a:rPr kumimoji="0" lang="en-US" altLang="zh-CN" sz="2400" b="1" i="1" u="none" strike="noStrike" kern="1200" cap="none" spc="0" normalizeH="0" baseline="-25000" noProof="0">
                  <a:ln>
                    <a:noFill/>
                  </a:ln>
                  <a:solidFill>
                    <a:srgbClr val="0000FF"/>
                  </a:solidFill>
                  <a:effectLst/>
                  <a:uLnTx/>
                  <a:uFillTx/>
                  <a:latin typeface="Times New Roman" pitchFamily="18" charset="0"/>
                  <a:ea typeface="楷体_GB2312" pitchFamily="49" charset="-122"/>
                  <a:cs typeface="+mn-cs"/>
                </a:rPr>
                <a:t>S</a:t>
              </a:r>
            </a:p>
          </p:txBody>
        </p:sp>
        <p:sp>
          <p:nvSpPr>
            <p:cNvPr id="9" name="Line 15"/>
            <p:cNvSpPr>
              <a:spLocks noChangeShapeType="1"/>
            </p:cNvSpPr>
            <p:nvPr/>
          </p:nvSpPr>
          <p:spPr bwMode="auto">
            <a:xfrm flipH="1">
              <a:off x="1769" y="1230"/>
              <a:ext cx="317" cy="295"/>
            </a:xfrm>
            <a:prstGeom prst="line">
              <a:avLst/>
            </a:prstGeom>
            <a:noFill/>
            <a:ln w="38100">
              <a:solidFill>
                <a:srgbClr val="0000FF"/>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0000FF"/>
                </a:solidFill>
                <a:effectLst/>
                <a:uLnTx/>
                <a:uFillTx/>
                <a:latin typeface="Times New Roman" pitchFamily="18" charset="0"/>
                <a:ea typeface="楷体_GB2312" pitchFamily="49" charset="-122"/>
                <a:cs typeface="+mn-cs"/>
              </a:endParaRPr>
            </a:p>
          </p:txBody>
        </p:sp>
      </p:grpSp>
      <p:sp>
        <p:nvSpPr>
          <p:cNvPr id="16" name="Text Box 16"/>
          <p:cNvSpPr txBox="1">
            <a:spLocks noChangeArrowheads="1"/>
          </p:cNvSpPr>
          <p:nvPr/>
        </p:nvSpPr>
        <p:spPr bwMode="auto">
          <a:xfrm>
            <a:off x="1008063" y="404664"/>
            <a:ext cx="2348720" cy="523220"/>
          </a:xfrm>
          <a:prstGeom prst="rect">
            <a:avLst/>
          </a:prstGeom>
          <a:noFill/>
          <a:ln w="9525">
            <a:noFill/>
            <a:miter lim="800000"/>
            <a:headEnd/>
            <a:tailEnd/>
          </a:ln>
          <a:effectLst/>
        </p:spPr>
        <p:txBody>
          <a:bodyPr wrap="none">
            <a:spAutoFit/>
          </a:body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导带边示意图</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17" name="矩形 16"/>
          <p:cNvSpPr/>
          <p:nvPr/>
        </p:nvSpPr>
        <p:spPr>
          <a:xfrm>
            <a:off x="539552" y="2924944"/>
            <a:ext cx="8136904" cy="3339376"/>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积累在势阱中的电子在空间上与离化的施主是分离的，在垂直界面方面上的运动是被限制在很窄的阱中，在平行界面方向上却是自由的，因此被称为</a:t>
            </a:r>
            <a:r>
              <a:rPr kumimoji="0" lang="zh-CN" altLang="en-US" sz="2800" b="1" i="0" u="none" strike="noStrike" kern="1200" cap="none" spc="0" normalizeH="0" baseline="0" noProof="0" dirty="0" smtClean="0">
                <a:ln>
                  <a:noFill/>
                </a:ln>
                <a:solidFill>
                  <a:srgbClr val="0000FF"/>
                </a:solidFill>
                <a:effectLst/>
                <a:uLnTx/>
                <a:uFillTx/>
                <a:latin typeface="Times New Roman" pitchFamily="18" charset="0"/>
                <a:ea typeface="楷体_GB2312" pitchFamily="49" charset="-122"/>
                <a:cs typeface="+mn-cs"/>
              </a:rPr>
              <a:t>二维电子气 </a:t>
            </a:r>
            <a:r>
              <a:rPr kumimoji="0" lang="en-US" altLang="zh-CN" sz="2800" b="1" i="0" u="none" strike="noStrike" kern="1200" cap="none" spc="0" normalizeH="0" baseline="0" noProof="0" dirty="0" smtClean="0">
                <a:ln>
                  <a:noFill/>
                </a:ln>
                <a:solidFill>
                  <a:srgbClr val="0000FF"/>
                </a:solidFill>
                <a:effectLst/>
                <a:uLnTx/>
                <a:uFillTx/>
                <a:latin typeface="Times New Roman" pitchFamily="18" charset="0"/>
                <a:ea typeface="楷体_GB2312" pitchFamily="49" charset="-122"/>
                <a:cs typeface="+mn-cs"/>
              </a:rPr>
              <a:t>( 2DEG ) </a:t>
            </a:r>
          </a:p>
          <a:p>
            <a:pPr marL="0" marR="0" lvl="0" indent="0" algn="l" defTabSz="914400" rtl="0" eaLnBrk="1" fontAlgn="base" latinLnBrk="0" hangingPunct="1">
              <a:lnSpc>
                <a:spcPct val="100000"/>
              </a:lnSpc>
              <a:spcBef>
                <a:spcPts val="600"/>
              </a:spcBef>
              <a:spcAft>
                <a:spcPct val="0"/>
              </a:spcAft>
              <a:buClrTx/>
              <a:buSzTx/>
              <a:buFontTx/>
              <a:buNone/>
              <a:tabLst/>
              <a:defRPr/>
            </a:pP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en-US" altLang="zh-CN" sz="2800" b="1" i="1"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N</a:t>
            </a:r>
            <a:r>
              <a:rPr kumimoji="0" lang="en-US" altLang="zh-CN" sz="2800" b="1" i="1" u="none" strike="noStrike" kern="1200" cap="none" spc="0" normalizeH="0" baseline="-25000" noProof="0" dirty="0" smtClean="0">
                <a:ln>
                  <a:noFill/>
                </a:ln>
                <a:solidFill>
                  <a:srgbClr val="000000"/>
                </a:solidFill>
                <a:effectLst/>
                <a:uLnTx/>
                <a:uFillTx/>
                <a:latin typeface="Times New Roman" pitchFamily="18" charset="0"/>
                <a:ea typeface="楷体_GB2312" pitchFamily="49" charset="-122"/>
                <a:cs typeface="+mn-cs"/>
              </a:rPr>
              <a:t>S </a:t>
            </a:r>
            <a:r>
              <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二维电子气面密度</a:t>
            </a:r>
            <a:endParaRPr kumimoji="0" lang="en-US" altLang="zh-CN"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ts val="1200"/>
              </a:spcBef>
              <a:spcAft>
                <a:spcPct val="0"/>
              </a:spcAft>
              <a:buClrTx/>
              <a:buSzTx/>
              <a:buFontTx/>
              <a:buNone/>
              <a:tabLst/>
              <a:defRPr/>
            </a:pPr>
            <a:r>
              <a:rPr kumimoji="0" lang="zh-CN" altLang="en-US" sz="2800" b="1" i="0" u="none" strike="noStrike" kern="1200" cap="none" spc="0" normalizeH="0" baseline="0" noProof="0" dirty="0" smtClean="0">
                <a:ln>
                  <a:noFill/>
                </a:ln>
                <a:solidFill>
                  <a:srgbClr val="000000"/>
                </a:solidFill>
                <a:effectLst/>
                <a:uLnTx/>
                <a:uFillTx/>
                <a:latin typeface="Times New Roman" pitchFamily="18" charset="0"/>
                <a:ea typeface="楷体_GB2312" pitchFamily="49" charset="-122"/>
                <a:cs typeface="+mn-cs"/>
              </a:rPr>
              <a:t>由于势阱中的电子在空间上与离化的施主是分离的，减弱了二者之间的库仑散射，电子迁移率显著增加。</a:t>
            </a:r>
          </a:p>
        </p:txBody>
      </p:sp>
    </p:spTree>
    <p:extLst>
      <p:ext uri="{BB962C8B-B14F-4D97-AF65-F5344CB8AC3E}">
        <p14:creationId xmlns:p14="http://schemas.microsoft.com/office/powerpoint/2010/main" val="372433102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DE0A5B-1E35-4081-8D72-3B0687A5C65D}" type="slidenum">
              <a:rPr lang="zh-CN" altLang="en-US" smtClean="0"/>
              <a:t>128</a:t>
            </a:fld>
            <a:endParaRPr lang="zh-CN" altLang="en-US"/>
          </a:p>
        </p:txBody>
      </p:sp>
      <p:sp>
        <p:nvSpPr>
          <p:cNvPr id="4" name="Rectangle 4"/>
          <p:cNvSpPr>
            <a:spLocks noChangeArrowheads="1"/>
          </p:cNvSpPr>
          <p:nvPr/>
        </p:nvSpPr>
        <p:spPr bwMode="auto">
          <a:xfrm>
            <a:off x="2518545" y="113543"/>
            <a:ext cx="4571017"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本章总结：重点掌握</a:t>
            </a:r>
            <a:endParaRPr kumimoji="1" lang="zh-CN" altLang="en-US" sz="3600" b="1" dirty="0">
              <a:solidFill>
                <a:srgbClr val="FF6600"/>
              </a:solidFill>
              <a:latin typeface="Times New Roman" pitchFamily="18" charset="0"/>
              <a:ea typeface="宋体" pitchFamily="2" charset="-122"/>
            </a:endParaRPr>
          </a:p>
        </p:txBody>
      </p:sp>
      <p:sp>
        <p:nvSpPr>
          <p:cNvPr id="5" name="Text Box 1029"/>
          <p:cNvSpPr txBox="1">
            <a:spLocks noChangeArrowheads="1"/>
          </p:cNvSpPr>
          <p:nvPr/>
        </p:nvSpPr>
        <p:spPr bwMode="auto">
          <a:xfrm>
            <a:off x="384759" y="1001413"/>
            <a:ext cx="8302041" cy="4893647"/>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342900" indent="-342900">
              <a:spcBef>
                <a:spcPct val="50000"/>
              </a:spcBef>
              <a:buClrTx/>
              <a:buFont typeface="Wingdings" panose="05000000000000000000" pitchFamily="2" charset="2"/>
              <a:buChar char="ü"/>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表面空间电荷层电荷密度</a:t>
            </a:r>
            <a:r>
              <a:rPr kumimoji="1"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1" baseline="-25000" dirty="0" err="1">
                <a:latin typeface="Times New Roman" panose="02020603050405020304" pitchFamily="18" charset="0"/>
                <a:ea typeface="宋体" panose="02010600030101010101" pitchFamily="2" charset="-122"/>
                <a:cs typeface="Times New Roman" panose="02020603050405020304" pitchFamily="18" charset="0"/>
              </a:rPr>
              <a:t>sc</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和表面势</a:t>
            </a:r>
            <a:r>
              <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s</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关系，并根据这一关系分析表面电荷和</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MOS</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电容随电压的变化</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积累、耗尽、反向电荷的</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特点， </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400" b="1" baseline="-25000" dirty="0" smtClean="0">
                <a:latin typeface="Times New Roman" panose="02020603050405020304" pitchFamily="18" charset="0"/>
                <a:ea typeface="宋体" panose="02010600030101010101" pitchFamily="2" charset="-122"/>
                <a:cs typeface="Times New Roman" panose="02020603050405020304" pitchFamily="18" charset="0"/>
              </a:rPr>
              <a:t>g</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与</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400" b="1" baseline="-25000" dirty="0" smtClean="0">
                <a:latin typeface="Times New Roman" panose="02020603050405020304" pitchFamily="18" charset="0"/>
                <a:ea typeface="宋体" panose="02010600030101010101" pitchFamily="2" charset="-122"/>
                <a:cs typeface="Times New Roman" panose="02020603050405020304" pitchFamily="18" charset="0"/>
              </a:rPr>
              <a:t>s</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的关系</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氧化层各种电荷对</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MOS</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平带电压和电容的影响</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MOSFET</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的转移特性曲线和输出特性曲线的特点，线性区、饱和区、亚阈值区</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体效应</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系数及其影响因素</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亚阈值斜率的定义及其影响因素</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主要的短沟道效应的物理图像及其影响：电荷共享，</a:t>
            </a:r>
            <a:r>
              <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rPr>
              <a:t>DIBL</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，衬底电流，沟长调制</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效应</a:t>
            </a:r>
            <a:endPar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117237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11AE0FC-8917-453E-A43C-7C3EA8BAA811}" type="slidenum">
              <a:rPr lang="en-US" altLang="zh-CN" smtClean="0"/>
              <a:pPr/>
              <a:t>129</a:t>
            </a:fld>
            <a:endParaRPr lang="en-US" altLang="zh-CN"/>
          </a:p>
        </p:txBody>
      </p:sp>
      <p:sp>
        <p:nvSpPr>
          <p:cNvPr id="3" name="Rectangle 4"/>
          <p:cNvSpPr>
            <a:spLocks noChangeArrowheads="1"/>
          </p:cNvSpPr>
          <p:nvPr/>
        </p:nvSpPr>
        <p:spPr bwMode="auto">
          <a:xfrm>
            <a:off x="2498375" y="274907"/>
            <a:ext cx="4571017" cy="646331"/>
          </a:xfrm>
          <a:prstGeom prst="rect">
            <a:avLst/>
          </a:prstGeom>
          <a:noFill/>
          <a:ln w="12700" cap="sq">
            <a:noFill/>
            <a:miter lim="800000"/>
            <a:headEnd type="none" w="sm" len="sm"/>
            <a:tailEnd type="none" w="sm" len="sm"/>
          </a:ln>
          <a:effectLst/>
        </p:spPr>
        <p:txBody>
          <a:bodyPr wrap="square">
            <a:spAutoFit/>
          </a:bodyPr>
          <a:lstStyle/>
          <a:p>
            <a:pPr eaLnBrk="1" hangingPunct="1"/>
            <a:r>
              <a:rPr kumimoji="1" lang="zh-CN" altLang="en-US" sz="3600" b="1" dirty="0" smtClean="0">
                <a:solidFill>
                  <a:srgbClr val="FF6600"/>
                </a:solidFill>
                <a:latin typeface="Times New Roman" pitchFamily="18" charset="0"/>
                <a:ea typeface="宋体" pitchFamily="2" charset="-122"/>
              </a:rPr>
              <a:t>本章总结：了解</a:t>
            </a:r>
            <a:endParaRPr kumimoji="1" lang="zh-CN" altLang="en-US" sz="3600" b="1" dirty="0">
              <a:solidFill>
                <a:srgbClr val="FF6600"/>
              </a:solidFill>
              <a:latin typeface="Times New Roman" pitchFamily="18" charset="0"/>
              <a:ea typeface="宋体" pitchFamily="2" charset="-122"/>
            </a:endParaRPr>
          </a:p>
        </p:txBody>
      </p:sp>
      <p:sp>
        <p:nvSpPr>
          <p:cNvPr id="4" name="Text Box 1029"/>
          <p:cNvSpPr txBox="1">
            <a:spLocks noChangeArrowheads="1"/>
          </p:cNvSpPr>
          <p:nvPr/>
        </p:nvSpPr>
        <p:spPr bwMode="auto">
          <a:xfrm>
            <a:off x="243559" y="1133020"/>
            <a:ext cx="8846647" cy="4339650"/>
          </a:xfrm>
          <a:prstGeom prst="rect">
            <a:avLst/>
          </a:prstGeom>
          <a:solidFill>
            <a:srgbClr val="FFFF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功函数差对平带电压的影响</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多晶硅耗尽效应</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rPr>
              <a:t>MOSFET</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各种情况下的能带图，准费米能级</a:t>
            </a:r>
            <a:endPar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漏极电压对能带和阈值电压的影响</a:t>
            </a:r>
            <a:endPar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MOSFET</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的其他效应：迁移率下降，速度饱和，栅极电流等</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高</a:t>
            </a:r>
            <a:r>
              <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k</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技术基本原理</a:t>
            </a:r>
            <a:endParaRPr kumimoji="1" lang="en-US" altLang="zh-CN" sz="2400" b="1" dirty="0" smtClean="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小尺寸器件提高栅控能力的方法：</a:t>
            </a:r>
            <a:r>
              <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rPr>
              <a:t>UTB</a:t>
            </a: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和多栅结构</a:t>
            </a:r>
            <a:endParaRPr kumimoji="1"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50000"/>
              </a:spcBef>
              <a:buClrTx/>
              <a:buFont typeface="Wingdings" panose="05000000000000000000" pitchFamily="2" charset="2"/>
              <a:buChar char="ü"/>
            </a:pPr>
            <a:r>
              <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rPr>
              <a:t>小尺寸器件提高迁移率的方法：应力硅和</a:t>
            </a:r>
            <a:r>
              <a:rPr kumimoji="1"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化合物半导体</a:t>
            </a:r>
            <a:endParaRPr kumimoji="1"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4373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Times New Roman"/>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24805</TotalTime>
  <Words>10632</Words>
  <Application>Microsoft Office PowerPoint</Application>
  <PresentationFormat>全屏显示(4:3)</PresentationFormat>
  <Paragraphs>1131</Paragraphs>
  <Slides>129</Slides>
  <Notes>6</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8</vt:i4>
      </vt:variant>
      <vt:variant>
        <vt:lpstr>幻灯片标题</vt:lpstr>
      </vt:variant>
      <vt:variant>
        <vt:i4>129</vt:i4>
      </vt:variant>
    </vt:vector>
  </HeadingPairs>
  <TitlesOfParts>
    <vt:vector size="157" baseType="lpstr">
      <vt:lpstr>Microsoft Yahei</vt:lpstr>
      <vt:lpstr>新細明體</vt:lpstr>
      <vt:lpstr>Script</vt:lpstr>
      <vt:lpstr>等线</vt:lpstr>
      <vt:lpstr>等线 Light</vt:lpstr>
      <vt:lpstr>楷体_GB2312</vt:lpstr>
      <vt:lpstr>隶书</vt:lpstr>
      <vt:lpstr>宋体</vt:lpstr>
      <vt:lpstr>Arial</vt:lpstr>
      <vt:lpstr>Calibri</vt:lpstr>
      <vt:lpstr>Calibri Light</vt:lpstr>
      <vt:lpstr>Cambria Math</vt:lpstr>
      <vt:lpstr>Kunstler Script</vt:lpstr>
      <vt:lpstr>Symbol</vt:lpstr>
      <vt:lpstr>Tahoma</vt:lpstr>
      <vt:lpstr>Times New Roman</vt:lpstr>
      <vt:lpstr>Wingdings</vt:lpstr>
      <vt:lpstr>Office 主题​​</vt:lpstr>
      <vt:lpstr>默认设计模板</vt:lpstr>
      <vt:lpstr>1_默认设计模板</vt:lpstr>
      <vt:lpstr>BMP 图象</vt:lpstr>
      <vt:lpstr>公式</vt:lpstr>
      <vt:lpstr>Equation</vt:lpstr>
      <vt:lpstr>Equation.3</vt:lpstr>
      <vt:lpstr>位图图像</vt:lpstr>
      <vt:lpstr>Document</vt:lpstr>
      <vt:lpstr>Graph</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减小漏场的结构</vt:lpstr>
      <vt:lpstr>PowerPoint 演示文稿</vt:lpstr>
      <vt:lpstr>PowerPoint 演示文稿</vt:lpstr>
      <vt:lpstr>7. 器件特性退化</vt:lpstr>
      <vt:lpstr>PowerPoint 演示文稿</vt:lpstr>
      <vt:lpstr>PowerPoint 演示文稿</vt:lpstr>
      <vt:lpstr>n沟MOSFET退化的表征 </vt:lpstr>
      <vt:lpstr>（2）p沟MOSFET的退化  </vt:lpstr>
      <vt:lpstr>8. 器件噪声</vt:lpstr>
      <vt:lpstr>PowerPoint 演示文稿</vt:lpstr>
      <vt:lpstr>PowerPoint 演示文稿</vt:lpstr>
      <vt:lpstr>PowerPoint 演示文稿</vt:lpstr>
      <vt:lpstr>减小栅绝缘层的电学厚度，高k介质材料</vt:lpstr>
      <vt:lpstr>PowerPoint 演示文稿</vt:lpstr>
      <vt:lpstr>减小耗尽层厚度Wdep和结深Xj</vt:lpstr>
      <vt:lpstr>超薄体SOI及多栅MOSFET</vt:lpstr>
      <vt:lpstr>PowerPoint 演示文稿</vt:lpstr>
      <vt:lpstr>PowerPoint 演示文稿</vt:lpstr>
      <vt:lpstr>PowerPoint 演示文稿</vt:lpstr>
      <vt:lpstr>FinFET—多栅MOSFET</vt:lpstr>
      <vt:lpstr>PowerPoint 演示文稿</vt:lpstr>
      <vt:lpstr>应力硅技术</vt:lpstr>
      <vt:lpstr>应力硅技术</vt:lpstr>
      <vt:lpstr>应力硅技术</vt:lpstr>
      <vt:lpstr>GaAs MESFET（金属半导体场效应晶体管）</vt:lpstr>
      <vt:lpstr>PowerPoint 演示文稿</vt:lpstr>
      <vt:lpstr>HEMT （高电子迁移率晶体管）</vt:lpstr>
      <vt:lpstr>PowerPoint 演示文稿</vt:lpstr>
      <vt:lpstr>PowerPoint 演示文稿</vt:lpstr>
      <vt:lpstr>PowerPoint 演示文稿</vt:lpstr>
      <vt:lpstr>PowerPoint 演示文稿</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gaobin</dc:creator>
  <cp:lastModifiedBy>gaobin</cp:lastModifiedBy>
  <cp:revision>380</cp:revision>
  <dcterms:created xsi:type="dcterms:W3CDTF">2018-11-20T07:03:35Z</dcterms:created>
  <dcterms:modified xsi:type="dcterms:W3CDTF">2021-11-29T01:25:09Z</dcterms:modified>
</cp:coreProperties>
</file>