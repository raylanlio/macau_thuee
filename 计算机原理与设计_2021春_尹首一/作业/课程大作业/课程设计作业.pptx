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8" r:id="rId1"/>
  </p:sldMasterIdLst>
  <p:notesMasterIdLst>
    <p:notesMasterId r:id="rId5"/>
  </p:notesMasterIdLst>
  <p:handoutMasterIdLst>
    <p:handoutMasterId r:id="rId6"/>
  </p:handoutMasterIdLst>
  <p:sldIdLst>
    <p:sldId id="2008" r:id="rId2"/>
    <p:sldId id="2009" r:id="rId3"/>
    <p:sldId id="2010" r:id="rId4"/>
  </p:sldIdLst>
  <p:sldSz cx="9144000" cy="6858000" type="screen4x3"/>
  <p:notesSz cx="9928225" cy="679767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实验安排" id="{1FC78088-2545-4CAE-BDE5-097838D25620}">
          <p14:sldIdLst>
            <p14:sldId id="2008"/>
            <p14:sldId id="2009"/>
            <p14:sldId id="20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CC"/>
    <a:srgbClr val="ABAF9E"/>
    <a:srgbClr val="E4ECCA"/>
    <a:srgbClr val="CCFF66"/>
    <a:srgbClr val="FF3300"/>
    <a:srgbClr val="FFCC99"/>
    <a:srgbClr val="FFCCCC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87500" autoAdjust="0"/>
  </p:normalViewPr>
  <p:slideViewPr>
    <p:cSldViewPr snapToGrid="0">
      <p:cViewPr varScale="1">
        <p:scale>
          <a:sx n="101" d="100"/>
          <a:sy n="101" d="100"/>
        </p:scale>
        <p:origin x="2052" y="96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-206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6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C8F3A-0EAA-4D21-BCEE-4B42EAFC91D2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6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32891-5B54-46BC-BB56-6C22EA76EA6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651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6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D43F9FC-E72B-4848-8806-552CD77941E3}" type="datetimeFigureOut">
              <a:rPr lang="zh-CN" altLang="en-US"/>
              <a:pPr>
                <a:defRPr/>
              </a:pPr>
              <a:t>2021/6/4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6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24BC92D-2B56-470B-9224-9D702E8E88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6612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429079" y="6372225"/>
            <a:ext cx="5725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b="1">
                <a:solidFill>
                  <a:srgbClr val="6600CC"/>
                </a:solidFill>
                <a:latin typeface="华文隶书" pitchFamily="2" charset="-122"/>
                <a:ea typeface="华文隶书" pitchFamily="2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1" dirty="0">
              <a:solidFill>
                <a:srgbClr val="6600CC"/>
              </a:solidFill>
              <a:latin typeface="华文隶书" pitchFamily="2" charset="-122"/>
              <a:ea typeface="华文隶书" pitchFamily="2" charset="-122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rrowheads="1"/>
          </p:cNvPicPr>
          <p:nvPr userDrawn="1"/>
        </p:nvPicPr>
        <p:blipFill>
          <a:blip r:embed="rId2" cstate="print"/>
          <a:srcRect l="16844" t="30159" r="70327" b="48016"/>
          <a:stretch>
            <a:fillRect/>
          </a:stretch>
        </p:blipFill>
        <p:spPr bwMode="auto">
          <a:xfrm>
            <a:off x="7585027" y="0"/>
            <a:ext cx="1543092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图片 4" descr="大礼堂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5832000"/>
            <a:ext cx="1541203" cy="1026000"/>
          </a:xfrm>
          <a:prstGeom prst="rect">
            <a:avLst/>
          </a:prstGeom>
        </p:spPr>
      </p:pic>
      <p:pic>
        <p:nvPicPr>
          <p:cNvPr id="6" name="图片 5" descr="图书馆（2）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287591" y="5832000"/>
            <a:ext cx="1899999" cy="1026000"/>
          </a:xfrm>
          <a:prstGeom prst="rect">
            <a:avLst/>
          </a:prstGeom>
        </p:spPr>
      </p:pic>
      <p:pic>
        <p:nvPicPr>
          <p:cNvPr id="7" name="图片 6" descr="二校门（2）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2855827" y="5832000"/>
            <a:ext cx="1459757" cy="1026000"/>
          </a:xfrm>
          <a:prstGeom prst="rect">
            <a:avLst/>
          </a:prstGeom>
        </p:spPr>
      </p:pic>
      <p:pic>
        <p:nvPicPr>
          <p:cNvPr id="8" name="图片 7" descr="主楼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513210" y="5832000"/>
            <a:ext cx="1370610" cy="1026000"/>
          </a:xfrm>
          <a:prstGeom prst="rect">
            <a:avLst/>
          </a:prstGeom>
        </p:spPr>
      </p:pic>
      <p:pic>
        <p:nvPicPr>
          <p:cNvPr id="9" name="图片 8" descr="清华学堂.jp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6159597" y="5832000"/>
            <a:ext cx="1534616" cy="1026000"/>
          </a:xfrm>
          <a:prstGeom prst="rect">
            <a:avLst/>
          </a:prstGeom>
        </p:spPr>
      </p:pic>
      <p:pic>
        <p:nvPicPr>
          <p:cNvPr id="10" name="图片 9" descr="图书馆（3）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666222" y="5832000"/>
            <a:ext cx="1477778" cy="10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9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8517215" y="6372225"/>
            <a:ext cx="5020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b="0">
                <a:solidFill>
                  <a:srgbClr val="6600CC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0" dirty="0">
              <a:solidFill>
                <a:srgbClr val="6600CC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17938" t="31438" r="71139" b="49176"/>
          <a:stretch>
            <a:fillRect/>
          </a:stretch>
        </p:blipFill>
        <p:spPr bwMode="auto">
          <a:xfrm>
            <a:off x="8149833" y="66102"/>
            <a:ext cx="90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组合 10"/>
          <p:cNvGrpSpPr/>
          <p:nvPr userDrawn="1"/>
        </p:nvGrpSpPr>
        <p:grpSpPr>
          <a:xfrm>
            <a:off x="-1" y="688254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599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 cstate="print">
              <a:alphaModFix amt="40000"/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8429079" y="6372225"/>
            <a:ext cx="5725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4A0FFD3-5E5F-4F92-9BDD-C20EFD425621}" type="slidenum">
              <a:rPr lang="zh-CN" altLang="en-US" b="1">
                <a:solidFill>
                  <a:srgbClr val="6600CC"/>
                </a:solidFill>
                <a:latin typeface="华文隶书" pitchFamily="2" charset="-122"/>
                <a:ea typeface="华文隶书" pitchFamily="2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1" dirty="0">
              <a:solidFill>
                <a:srgbClr val="6600CC"/>
              </a:solidFill>
              <a:latin typeface="华文隶书" pitchFamily="2" charset="-122"/>
              <a:ea typeface="华文隶书" pitchFamily="2" charset="-122"/>
              <a:cs typeface="Arial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020049" y="6418263"/>
            <a:ext cx="32810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b="0" kern="1200" dirty="0">
                <a:solidFill>
                  <a:srgbClr val="6600CC"/>
                </a:solidFill>
                <a:latin typeface="Calibri" pitchFamily="34" charset="0"/>
                <a:ea typeface="华文隶书" pitchFamily="2" charset="-122"/>
                <a:cs typeface="Calibri" pitchFamily="34" charset="0"/>
              </a:rPr>
              <a:t>November 5, 2012 ITPC’2012 Hawaii, USA</a:t>
            </a:r>
            <a:endParaRPr lang="zh-CN" altLang="en-US" sz="1400" b="0" kern="1200" dirty="0">
              <a:solidFill>
                <a:srgbClr val="6600CC"/>
              </a:solidFill>
              <a:latin typeface="Calibri" pitchFamily="34" charset="0"/>
              <a:ea typeface="华文隶书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22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AC99BC-59B1-4EF5-AAF9-38BA48F699D7}" type="slidenum">
              <a:rPr lang="zh-CN" altLang="en-US"/>
              <a:pPr/>
              <a:t>‹#›</a:t>
            </a:fld>
            <a:endParaRPr lang="en-US" altLang="zh-CN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703117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607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8517215" y="6372225"/>
            <a:ext cx="5020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b="0">
                <a:solidFill>
                  <a:srgbClr val="6600CC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0" dirty="0">
              <a:solidFill>
                <a:srgbClr val="6600CC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17938" t="31438" r="71139" b="49176"/>
          <a:stretch>
            <a:fillRect/>
          </a:stretch>
        </p:blipFill>
        <p:spPr bwMode="auto">
          <a:xfrm>
            <a:off x="7984578" y="66102"/>
            <a:ext cx="1082303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组合 10"/>
          <p:cNvGrpSpPr/>
          <p:nvPr userDrawn="1"/>
        </p:nvGrpSpPr>
        <p:grpSpPr>
          <a:xfrm>
            <a:off x="-1" y="688254"/>
            <a:ext cx="7848000" cy="72000"/>
            <a:chOff x="0" y="688254"/>
            <a:chExt cx="7649029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7" y="724254"/>
              <a:ext cx="505097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837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8517215" y="6372225"/>
            <a:ext cx="5020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b="0">
                <a:solidFill>
                  <a:srgbClr val="6600CC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0" dirty="0">
              <a:solidFill>
                <a:srgbClr val="6600CC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17938" t="31438" r="71139" b="49176"/>
          <a:stretch>
            <a:fillRect/>
          </a:stretch>
        </p:blipFill>
        <p:spPr bwMode="auto">
          <a:xfrm>
            <a:off x="7984578" y="66102"/>
            <a:ext cx="1082303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组合 10"/>
          <p:cNvGrpSpPr/>
          <p:nvPr userDrawn="1"/>
        </p:nvGrpSpPr>
        <p:grpSpPr>
          <a:xfrm>
            <a:off x="-1" y="688254"/>
            <a:ext cx="7848000" cy="72000"/>
            <a:chOff x="0" y="688254"/>
            <a:chExt cx="7649029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7" y="724254"/>
              <a:ext cx="505097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7977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D291B-A1B4-43BD-BCAE-7D27AFF752F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1742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429079" y="6372225"/>
            <a:ext cx="5725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b="1">
                <a:solidFill>
                  <a:srgbClr val="6600CC"/>
                </a:solidFill>
                <a:latin typeface="华文隶书" pitchFamily="2" charset="-122"/>
                <a:ea typeface="华文隶书" pitchFamily="2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1" dirty="0">
              <a:solidFill>
                <a:srgbClr val="6600CC"/>
              </a:solidFill>
              <a:latin typeface="华文隶书" pitchFamily="2" charset="-122"/>
              <a:ea typeface="华文隶书" pitchFamily="2" charset="-122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rrowheads="1"/>
          </p:cNvPicPr>
          <p:nvPr userDrawn="1"/>
        </p:nvPicPr>
        <p:blipFill>
          <a:blip r:embed="rId3" cstate="print"/>
          <a:srcRect l="16844" t="30159" r="70327" b="48016"/>
          <a:stretch>
            <a:fillRect/>
          </a:stretch>
        </p:blipFill>
        <p:spPr bwMode="auto">
          <a:xfrm>
            <a:off x="7585027" y="0"/>
            <a:ext cx="1543092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图片 4" descr="大礼堂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5832000"/>
            <a:ext cx="1541203" cy="1026000"/>
          </a:xfrm>
          <a:prstGeom prst="rect">
            <a:avLst/>
          </a:prstGeom>
        </p:spPr>
      </p:pic>
      <p:pic>
        <p:nvPicPr>
          <p:cNvPr id="6" name="图片 5" descr="图书馆（2）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287591" y="5832000"/>
            <a:ext cx="1899999" cy="1026000"/>
          </a:xfrm>
          <a:prstGeom prst="rect">
            <a:avLst/>
          </a:prstGeom>
        </p:spPr>
      </p:pic>
      <p:pic>
        <p:nvPicPr>
          <p:cNvPr id="7" name="图片 6" descr="二校门（2）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2855827" y="5832000"/>
            <a:ext cx="1459757" cy="1026000"/>
          </a:xfrm>
          <a:prstGeom prst="rect">
            <a:avLst/>
          </a:prstGeom>
        </p:spPr>
      </p:pic>
      <p:pic>
        <p:nvPicPr>
          <p:cNvPr id="8" name="图片 7" descr="主楼.jp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513210" y="5832000"/>
            <a:ext cx="1370610" cy="1026000"/>
          </a:xfrm>
          <a:prstGeom prst="rect">
            <a:avLst/>
          </a:prstGeom>
        </p:spPr>
      </p:pic>
      <p:pic>
        <p:nvPicPr>
          <p:cNvPr id="9" name="图片 8" descr="清华学堂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6159597" y="5832000"/>
            <a:ext cx="1534616" cy="1026000"/>
          </a:xfrm>
          <a:prstGeom prst="rect">
            <a:avLst/>
          </a:prstGeom>
        </p:spPr>
      </p:pic>
      <p:pic>
        <p:nvPicPr>
          <p:cNvPr id="10" name="图片 9" descr="图书馆（3）.jp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7666222" y="5832000"/>
            <a:ext cx="1477778" cy="1026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8517215" y="6372225"/>
            <a:ext cx="5020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b="0">
                <a:solidFill>
                  <a:srgbClr val="6600CC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0" dirty="0">
              <a:solidFill>
                <a:srgbClr val="6600CC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17938" t="31438" r="71139" b="49176"/>
          <a:stretch>
            <a:fillRect/>
          </a:stretch>
        </p:blipFill>
        <p:spPr bwMode="auto">
          <a:xfrm>
            <a:off x="8149833" y="66102"/>
            <a:ext cx="90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组合 10"/>
          <p:cNvGrpSpPr/>
          <p:nvPr userDrawn="1"/>
        </p:nvGrpSpPr>
        <p:grpSpPr>
          <a:xfrm>
            <a:off x="-1" y="688254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8517215" y="6372225"/>
            <a:ext cx="5020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b="0">
                <a:solidFill>
                  <a:srgbClr val="6600CC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0" dirty="0">
              <a:solidFill>
                <a:srgbClr val="6600CC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17938" t="31438" r="71139" b="49176"/>
          <a:stretch>
            <a:fillRect/>
          </a:stretch>
        </p:blipFill>
        <p:spPr bwMode="auto">
          <a:xfrm>
            <a:off x="7984578" y="66102"/>
            <a:ext cx="1082303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组合 10"/>
          <p:cNvGrpSpPr/>
          <p:nvPr userDrawn="1"/>
        </p:nvGrpSpPr>
        <p:grpSpPr>
          <a:xfrm>
            <a:off x="-1" y="688254"/>
            <a:ext cx="7848000" cy="72000"/>
            <a:chOff x="0" y="688254"/>
            <a:chExt cx="7649029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7" y="724254"/>
              <a:ext cx="505097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448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8517215" y="6372225"/>
            <a:ext cx="5020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b="0">
                <a:solidFill>
                  <a:srgbClr val="6600CC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pPr algn="ctr">
                <a:defRPr/>
              </a:pPr>
              <a:t>‹#›</a:t>
            </a:fld>
            <a:endParaRPr lang="zh-CN" altLang="en-US" b="0" dirty="0">
              <a:solidFill>
                <a:srgbClr val="6600CC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17938" t="31438" r="71139" b="49176"/>
          <a:stretch>
            <a:fillRect/>
          </a:stretch>
        </p:blipFill>
        <p:spPr bwMode="auto">
          <a:xfrm>
            <a:off x="7984578" y="66102"/>
            <a:ext cx="1082303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组合 10"/>
          <p:cNvGrpSpPr/>
          <p:nvPr userDrawn="1"/>
        </p:nvGrpSpPr>
        <p:grpSpPr>
          <a:xfrm>
            <a:off x="-1" y="688254"/>
            <a:ext cx="7848000" cy="72000"/>
            <a:chOff x="0" y="688254"/>
            <a:chExt cx="7649029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7" y="724254"/>
              <a:ext cx="505097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8310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3215" y="238639"/>
            <a:ext cx="7775575" cy="428479"/>
          </a:xfrm>
          <a:prstGeom prst="rect">
            <a:avLst/>
          </a:prstGeom>
          <a:solidFill>
            <a:schemeClr val="bg1"/>
          </a:solidFill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100832"/>
            <a:ext cx="8229600" cy="5025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1A52B5-CF52-479B-BA4F-3AE797444F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500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82" r:id="rId8"/>
    <p:sldLayoutId id="2147483783" r:id="rId9"/>
    <p:sldLayoutId id="2147483786" r:id="rId10"/>
    <p:sldLayoutId id="214748378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altLang="en-US" sz="2800" b="1" kern="1200" spc="50" dirty="0">
          <a:ln w="12700">
            <a:noFill/>
            <a:prstDash val="solid"/>
          </a:ln>
          <a:solidFill>
            <a:schemeClr val="tx1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4BC5B9"/>
          </a:solidFill>
          <a:latin typeface="Footlight MT Light" pitchFamily="18" charset="0"/>
          <a:ea typeface="华文新魏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4BC5B9"/>
          </a:solidFill>
          <a:latin typeface="Footlight MT Light" pitchFamily="18" charset="0"/>
          <a:ea typeface="华文新魏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4BC5B9"/>
          </a:solidFill>
          <a:latin typeface="Footlight MT Light" pitchFamily="18" charset="0"/>
          <a:ea typeface="华文新魏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4BC5B9"/>
          </a:solidFill>
          <a:latin typeface="Footlight MT Light" pitchFamily="18" charset="0"/>
          <a:ea typeface="华文新魏" pitchFamily="2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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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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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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31B82DE-DEA2-49B2-9AB2-8ECD1837AE39}"/>
              </a:ext>
            </a:extLst>
          </p:cNvPr>
          <p:cNvSpPr txBox="1"/>
          <p:nvPr/>
        </p:nvSpPr>
        <p:spPr>
          <a:xfrm>
            <a:off x="0" y="140354"/>
            <a:ext cx="5454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实验安排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B36810-E8B5-423B-BE69-80C8DC625854}"/>
              </a:ext>
            </a:extLst>
          </p:cNvPr>
          <p:cNvSpPr txBox="1"/>
          <p:nvPr/>
        </p:nvSpPr>
        <p:spPr>
          <a:xfrm>
            <a:off x="6222" y="853238"/>
            <a:ext cx="9042527" cy="5714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分组安排：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全班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名学生，共分为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组，每组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1~3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名学生，每组分配一块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FPGA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实验安排：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时间：第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12~16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周，星期二第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节；地点：微所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B313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周：基于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E902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，通过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VCS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FPGA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验证，熟悉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SoC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的基本结构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周：基于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E902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，修改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SoC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，添加一块数据存储，将数据写入并读出打印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15,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周：实现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MIPS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核，将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MIPS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加入带存储外设中，形成添加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MIPS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计算核的新的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SoC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，并通过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VCS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仿真和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FPGA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验证。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说明：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15, 16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周只进行实验验收；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需大家在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12~16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周实现一个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级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MIPS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处理器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最终提交时间见网络学堂公告，暂时定为最晚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71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3366E55-8243-413C-93DE-29DA82F1DB08}"/>
              </a:ext>
            </a:extLst>
          </p:cNvPr>
          <p:cNvSpPr txBox="1"/>
          <p:nvPr/>
        </p:nvSpPr>
        <p:spPr>
          <a:xfrm>
            <a:off x="0" y="827939"/>
            <a:ext cx="8924926" cy="6021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支持的指令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访存指令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lw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sw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指令，必选。 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算术逻辑指令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: add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addi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addiu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 sub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and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or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xor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andi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ori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xori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lui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slt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sll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srl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指令，必选。 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转移指令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beq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bne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jal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jr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指令，必选。 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附件《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mips32v2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指令集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.pdf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》里有说明的其他指令，可选。 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支持的功能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支持数据相关检测处理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(forwarding or bypass)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，必选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支持转移冒险处理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流水线冲刷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，可选。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如不支持此项，在汇编时遇 到转移指令必须手动插入空泡，保证程序正确执行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 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异常和中断处理，可选。 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课件或教参里面提及的其他功能，可选。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期望输出：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39 25 84 1d 02 dc 09 fb dc 11 85 97 19 6a 0b 32</a:t>
            </a:r>
            <a:endParaRPr lang="zh-CN" alt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EA0967-CE20-43BC-98DD-4DA46743B478}"/>
              </a:ext>
            </a:extLst>
          </p:cNvPr>
          <p:cNvSpPr txBox="1"/>
          <p:nvPr/>
        </p:nvSpPr>
        <p:spPr>
          <a:xfrm>
            <a:off x="0" y="140354"/>
            <a:ext cx="5454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实现一个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级流水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MIPS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处理器</a:t>
            </a:r>
          </a:p>
        </p:txBody>
      </p:sp>
    </p:spTree>
    <p:extLst>
      <p:ext uri="{BB962C8B-B14F-4D97-AF65-F5344CB8AC3E}">
        <p14:creationId xmlns:p14="http://schemas.microsoft.com/office/powerpoint/2010/main" val="26511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3366E55-8243-413C-93DE-29DA82F1DB08}"/>
              </a:ext>
            </a:extLst>
          </p:cNvPr>
          <p:cNvSpPr txBox="1"/>
          <p:nvPr/>
        </p:nvSpPr>
        <p:spPr>
          <a:xfrm>
            <a:off x="0" y="827939"/>
            <a:ext cx="8924926" cy="3713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提交文件：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作业报告：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word/PDF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，报告中给出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级流水线的数据通路和控制通路结构图；提交微处理器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ASIC DC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综合的电路时延、面积、功耗的结果报告；报告中给出不同功能模块的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仿真测试结果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源代码</a:t>
            </a:r>
            <a:endParaRPr lang="en-US" altLang="zh-CN" sz="20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综合脚本，约束，综合输出文件</a:t>
            </a:r>
            <a:endParaRPr lang="en-US" altLang="zh-CN" sz="20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完成度说明：如果未能完成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MIPS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核全部功能验证，提交当前完成版本即可，最后会根据实现程度量化实验分数。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EA0967-CE20-43BC-98DD-4DA46743B478}"/>
              </a:ext>
            </a:extLst>
          </p:cNvPr>
          <p:cNvSpPr txBox="1"/>
          <p:nvPr/>
        </p:nvSpPr>
        <p:spPr>
          <a:xfrm>
            <a:off x="0" y="140354"/>
            <a:ext cx="5454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实现一个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级流水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MIPS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处理器</a:t>
            </a:r>
          </a:p>
        </p:txBody>
      </p:sp>
    </p:spTree>
    <p:extLst>
      <p:ext uri="{BB962C8B-B14F-4D97-AF65-F5344CB8AC3E}">
        <p14:creationId xmlns:p14="http://schemas.microsoft.com/office/powerpoint/2010/main" val="34886219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凤舞九天">
  <a:themeElements>
    <a:clrScheme name="自定义 3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8A53EA"/>
      </a:accent1>
      <a:accent2>
        <a:srgbClr val="380E7F"/>
      </a:accent2>
      <a:accent3>
        <a:srgbClr val="7030A0"/>
      </a:accent3>
      <a:accent4>
        <a:srgbClr val="BA00BA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凤舞九天">
    <a:dk1>
      <a:sysClr val="windowText" lastClr="000000"/>
    </a:dk1>
    <a:lt1>
      <a:sysClr val="window" lastClr="FFFFFF"/>
    </a:lt1>
    <a:dk2>
      <a:srgbClr val="004646"/>
    </a:dk2>
    <a:lt2>
      <a:srgbClr val="E1F0FF"/>
    </a:lt2>
    <a:accent1>
      <a:srgbClr val="50742F"/>
    </a:accent1>
    <a:accent2>
      <a:srgbClr val="268868"/>
    </a:accent2>
    <a:accent3>
      <a:srgbClr val="33BD56"/>
    </a:accent3>
    <a:accent4>
      <a:srgbClr val="4BC5B9"/>
    </a:accent4>
    <a:accent5>
      <a:srgbClr val="3163CA"/>
    </a:accent5>
    <a:accent6>
      <a:srgbClr val="4B14AA"/>
    </a:accent6>
    <a:hlink>
      <a:srgbClr val="D9BE02"/>
    </a:hlink>
    <a:folHlink>
      <a:srgbClr val="F900F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86844</TotalTime>
  <Words>441</Words>
  <Application>Microsoft Office PowerPoint</Application>
  <PresentationFormat>全屏显示(4:3)</PresentationFormat>
  <Paragraphs>30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华文隶书</vt:lpstr>
      <vt:lpstr>楷体</vt:lpstr>
      <vt:lpstr>微软雅黑</vt:lpstr>
      <vt:lpstr>Arial</vt:lpstr>
      <vt:lpstr>Calibri</vt:lpstr>
      <vt:lpstr>Footlight MT Light</vt:lpstr>
      <vt:lpstr>Goudy Old Style</vt:lpstr>
      <vt:lpstr>Verdana</vt:lpstr>
      <vt:lpstr>Wingdings</vt:lpstr>
      <vt:lpstr>Wingdings 2</vt:lpstr>
      <vt:lpstr>1_凤舞九天</vt:lpstr>
      <vt:lpstr>PowerPoint 演示文稿</vt:lpstr>
      <vt:lpstr>PowerPoint 演示文稿</vt:lpstr>
      <vt:lpstr>PowerPoint 演示文稿</vt:lpstr>
    </vt:vector>
  </TitlesOfParts>
  <Company>imetu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deng</dc:creator>
  <cp:lastModifiedBy>Ruiqi Guo</cp:lastModifiedBy>
  <cp:revision>5340</cp:revision>
  <cp:lastPrinted>2018-04-21T09:19:15Z</cp:lastPrinted>
  <dcterms:created xsi:type="dcterms:W3CDTF">2011-03-12T08:42:18Z</dcterms:created>
  <dcterms:modified xsi:type="dcterms:W3CDTF">2021-06-04T05:26:19Z</dcterms:modified>
</cp:coreProperties>
</file>