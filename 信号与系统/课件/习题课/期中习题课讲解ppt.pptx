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tags/tag35.xml" ContentType="application/vnd.openxmlformats-officedocument.presentationml.tags+xml"/>
  <Override PartName="/ppt/notesSlides/notesSlide1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6" r:id="rId3"/>
    <p:sldId id="257" r:id="rId4"/>
    <p:sldId id="269" r:id="rId5"/>
    <p:sldId id="273" r:id="rId6"/>
    <p:sldId id="272" r:id="rId7"/>
    <p:sldId id="274" r:id="rId8"/>
    <p:sldId id="275" r:id="rId9"/>
    <p:sldId id="276" r:id="rId10"/>
    <p:sldId id="277" r:id="rId11"/>
    <p:sldId id="278" r:id="rId12"/>
    <p:sldId id="270" r:id="rId13"/>
    <p:sldId id="279" r:id="rId14"/>
    <p:sldId id="280" r:id="rId15"/>
    <p:sldId id="281" r:id="rId16"/>
    <p:sldId id="282" r:id="rId17"/>
    <p:sldId id="283" r:id="rId18"/>
    <p:sldId id="284" r:id="rId19"/>
    <p:sldId id="285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819" autoAdjust="0"/>
  </p:normalViewPr>
  <p:slideViewPr>
    <p:cSldViewPr>
      <p:cViewPr varScale="1">
        <p:scale>
          <a:sx n="93" d="100"/>
          <a:sy n="93" d="100"/>
        </p:scale>
        <p:origin x="21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3F46F-1524-4CFA-911A-A94C638E323A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2A1F0-6E3E-455F-8C27-9D28DCC94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2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共轭翻转和本身相等；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335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求因式分解也是求根；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84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因式分解为虚根的时候一般考虑用这两个基本的傅里叶变换对；</a:t>
            </a:r>
            <a:r>
              <a:rPr lang="en-US" altLang="zh-CN" dirty="0" smtClean="0"/>
              <a:t>g(</a:t>
            </a:r>
            <a:r>
              <a:rPr lang="en-US" altLang="zh-CN" dirty="0" err="1" smtClean="0"/>
              <a:t>jw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的项和</a:t>
            </a:r>
            <a:r>
              <a:rPr lang="en-US" altLang="zh-CN" dirty="0" smtClean="0"/>
              <a:t>h(</a:t>
            </a:r>
            <a:r>
              <a:rPr lang="en-US" altLang="zh-CN" dirty="0" err="1" smtClean="0"/>
              <a:t>jw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的项只差一个负号；</a:t>
            </a:r>
            <a:endParaRPr lang="en-US" altLang="zh-CN" dirty="0" smtClean="0"/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94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639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不管输入是</a:t>
            </a:r>
            <a:r>
              <a:rPr lang="en-US" altLang="zh-CN" dirty="0" smtClean="0"/>
              <a:t>cos</a:t>
            </a:r>
            <a:r>
              <a:rPr lang="zh-CN" altLang="en-US" dirty="0" smtClean="0"/>
              <a:t>还是</a:t>
            </a:r>
            <a:r>
              <a:rPr lang="en-US" altLang="zh-CN" dirty="0" smtClean="0"/>
              <a:t>sin,</a:t>
            </a:r>
            <a:r>
              <a:rPr lang="zh-CN" altLang="en-US" dirty="0" smtClean="0"/>
              <a:t>特解都是相同的形式</a:t>
            </a:r>
            <a:endParaRPr lang="en-US" altLang="zh-CN" dirty="0" smtClean="0"/>
          </a:p>
          <a:p>
            <a:r>
              <a:rPr lang="en-US" altLang="zh-CN" dirty="0" smtClean="0"/>
              <a:t>Credit to</a:t>
            </a:r>
            <a:r>
              <a:rPr lang="zh-CN" altLang="en-US" dirty="0" smtClean="0"/>
              <a:t>：</a:t>
            </a:r>
            <a:r>
              <a:rPr lang="en-US" altLang="zh-CN" dirty="0" smtClean="0"/>
              <a:t>https://wenku.baidu.com/view/0aec6dbf1a37f111f1855b83.html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48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单实根是最简单的形式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698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不需要再求</a:t>
            </a:r>
            <a:r>
              <a:rPr lang="en-US" altLang="zh-CN" dirty="0" smtClean="0"/>
              <a:t>y</a:t>
            </a:r>
            <a:r>
              <a:rPr lang="zh-CN" altLang="en-US" dirty="0" smtClean="0"/>
              <a:t>的二阶导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128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零状态响应也有</a:t>
            </a:r>
            <a:r>
              <a:rPr lang="en-US" altLang="zh-CN" dirty="0" smtClean="0"/>
              <a:t>initial condition</a:t>
            </a:r>
            <a:r>
              <a:rPr lang="zh-CN" altLang="en-US" dirty="0" smtClean="0"/>
              <a:t>，所有量的初始值为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也是一种</a:t>
            </a:r>
            <a:r>
              <a:rPr lang="en-US" altLang="zh-CN" dirty="0" smtClean="0"/>
              <a:t>initial condition</a:t>
            </a:r>
            <a:r>
              <a:rPr lang="zh-CN" altLang="en-US" dirty="0" smtClean="0"/>
              <a:t>约束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09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用性质简化运算，时域的时移等于频域的的相移；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143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一般积分都不要硬来，考虑利用一些性质，注意</a:t>
            </a:r>
            <a:r>
              <a:rPr lang="en-US" altLang="zh-CN" dirty="0" smtClean="0"/>
              <a:t>2pi</a:t>
            </a:r>
            <a:r>
              <a:rPr lang="zh-CN" altLang="en-US" dirty="0" smtClean="0"/>
              <a:t>别丢。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423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按定义求是可以求出来的，但是麻烦；一样宽是三角波，一宽一窄是梯形波；考察一般周期信号的傅里叶级数和傅里叶变换的关系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127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技巧是先求导再计算，还要细心；第二问就是硬算，没有其他办法。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847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条件一就把分母定好了；答案少写了一个</a:t>
            </a:r>
            <a:r>
              <a:rPr lang="en-US" altLang="zh-CN" dirty="0" smtClean="0"/>
              <a:t>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15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548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799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706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10.png"/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.png"/><Relationship Id="rId4" Type="http://schemas.openxmlformats.org/officeDocument/2006/relationships/tags" Target="../tags/tag7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0.xml"/><Relationship Id="rId7" Type="http://schemas.openxmlformats.org/officeDocument/2006/relationships/image" Target="../media/image10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1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5.xml"/><Relationship Id="rId7" Type="http://schemas.openxmlformats.org/officeDocument/2006/relationships/image" Target="../media/image20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8.xml"/><Relationship Id="rId7" Type="http://schemas.openxmlformats.org/officeDocument/2006/relationships/image" Target="../media/image23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2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7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0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90.png"/><Relationship Id="rId5" Type="http://schemas.openxmlformats.org/officeDocument/2006/relationships/image" Target="../media/image19.png"/><Relationship Id="rId10" Type="http://schemas.openxmlformats.org/officeDocument/2006/relationships/image" Target="../media/image33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7.png"/><Relationship Id="rId3" Type="http://schemas.openxmlformats.org/officeDocument/2006/relationships/tags" Target="../tags/tag25.xml"/><Relationship Id="rId7" Type="http://schemas.openxmlformats.org/officeDocument/2006/relationships/notesSlide" Target="../notesSlides/notesSlide8.xml"/><Relationship Id="rId12" Type="http://schemas.openxmlformats.org/officeDocument/2006/relationships/image" Target="../media/image36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5" Type="http://schemas.openxmlformats.org/officeDocument/2006/relationships/tags" Target="../tags/tag27.xml"/><Relationship Id="rId10" Type="http://schemas.openxmlformats.org/officeDocument/2006/relationships/image" Target="../media/image34.png"/><Relationship Id="rId4" Type="http://schemas.openxmlformats.org/officeDocument/2006/relationships/tags" Target="../tags/tag26.xml"/><Relationship Id="rId9" Type="http://schemas.openxmlformats.org/officeDocument/2006/relationships/image" Target="../media/image19.png"/><Relationship Id="rId1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31.xml"/><Relationship Id="rId7" Type="http://schemas.openxmlformats.org/officeDocument/2006/relationships/image" Target="../media/image39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10.xml"/><Relationship Id="rId11" Type="http://schemas.openxmlformats.org/officeDocument/2006/relationships/image" Target="../media/image45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4.png"/><Relationship Id="rId4" Type="http://schemas.openxmlformats.org/officeDocument/2006/relationships/tags" Target="../tags/tag32.xml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38.xml"/><Relationship Id="rId7" Type="http://schemas.openxmlformats.org/officeDocument/2006/relationships/image" Target="../media/image53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52.pn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5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tags" Target="../tags/tag41.xml"/><Relationship Id="rId7" Type="http://schemas.openxmlformats.org/officeDocument/2006/relationships/image" Target="../media/image60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notesSlide" Target="../notesSlides/notesSlide16.xml"/><Relationship Id="rId11" Type="http://schemas.openxmlformats.org/officeDocument/2006/relationships/image" Target="../media/image64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3.png"/><Relationship Id="rId4" Type="http://schemas.openxmlformats.org/officeDocument/2006/relationships/tags" Target="../tags/tag42.xml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期中习题课解答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赵亢</a:t>
            </a:r>
            <a:endParaRPr lang="en-US" altLang="zh-CN" dirty="0" smtClean="0"/>
          </a:p>
          <a:p>
            <a:r>
              <a:rPr lang="en-US" altLang="zh-CN" dirty="0" smtClean="0"/>
              <a:t>2020.11.12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5513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习题答案纠正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习题六的答案为：</a:t>
                </a: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 marL="685800" lvl="1">
                  <a:buFont typeface="Arial" panose="020B0604020202020204" pitchFamily="34" charset="0"/>
                  <a:buChar char="•"/>
                </a:pP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）</a:t>
                </a:r>
                <a:r>
                  <a:rPr lang="en-US" altLang="zh-CN" sz="1600" dirty="0" smtClean="0"/>
                  <a:t>.</a:t>
                </a: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endParaRPr lang="en-US" altLang="zh-CN" sz="1600" dirty="0" smtClean="0"/>
              </a:p>
              <a:p>
                <a:pPr marL="685800" lvl="1">
                  <a:buFont typeface="Arial" panose="020B0604020202020204" pitchFamily="34" charset="0"/>
                  <a:buChar char="•"/>
                </a:pPr>
                <a:endParaRPr lang="en-US" altLang="zh-CN" sz="1600" dirty="0" smtClean="0"/>
              </a:p>
              <a:p>
                <a:pPr marL="685800" lvl="1">
                  <a:buFont typeface="Arial" panose="020B0604020202020204" pitchFamily="34" charset="0"/>
                  <a:buChar char="•"/>
                </a:pPr>
                <a:r>
                  <a:rPr lang="en-US" altLang="zh-CN" sz="1600" dirty="0" smtClean="0"/>
                  <a:t>3</a:t>
                </a:r>
                <a:r>
                  <a:rPr lang="zh-CN" altLang="en-US" sz="1600" dirty="0" smtClean="0"/>
                  <a:t>）</a:t>
                </a:r>
                <a:r>
                  <a:rPr lang="en-US" altLang="zh-CN" sz="1600" dirty="0" smtClean="0"/>
                  <a:t>.</a:t>
                </a:r>
              </a:p>
              <a:p>
                <a:pPr marL="400050" lvl="1" indent="0">
                  <a:buNone/>
                </a:pPr>
                <a:endParaRPr lang="en-US" altLang="zh-CN" sz="1600" dirty="0" smtClean="0"/>
              </a:p>
              <a:p>
                <a:pPr marL="400050" lvl="1" indent="0">
                  <a:buNone/>
                </a:pPr>
                <a:r>
                  <a:rPr lang="zh-CN" altLang="en-US" sz="1600" dirty="0" smtClean="0"/>
                  <a:t>其中，</a:t>
                </a:r>
                <a:r>
                  <a:rPr lang="zh-CN" altLang="en-US" sz="1600" dirty="0"/>
                  <a:t> </a:t>
                </a:r>
                <a:r>
                  <a:rPr lang="zh-CN" altLang="en-US" sz="1600" dirty="0" smtClean="0"/>
                  <a:t>                                                      </a:t>
                </a:r>
                <a:endParaRPr lang="en-US" altLang="zh-CN" sz="1600" dirty="0" smtClean="0"/>
              </a:p>
              <a:p>
                <a:pPr marL="400050" lvl="1" indent="0">
                  <a:buNone/>
                </a:pPr>
                <a:endParaRPr lang="en-US" altLang="zh-CN" sz="1600" dirty="0"/>
              </a:p>
              <a:p>
                <a:pPr marL="400050" lvl="1" indent="0">
                  <a:buNone/>
                </a:pPr>
                <a:r>
                  <a:rPr lang="zh-CN" altLang="en-US" sz="1600" dirty="0" smtClean="0"/>
                  <a:t>注：若结果不以抽样函数的形式表达，需额外讨论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600" dirty="0" smtClean="0"/>
                  <a:t>的情况</a:t>
                </a:r>
                <a:endParaRPr lang="en-US" altLang="zh-CN" sz="1600" dirty="0" smtClean="0"/>
              </a:p>
              <a:p>
                <a:pPr marL="400050" lvl="1" indent="0">
                  <a:buNone/>
                </a:pPr>
                <a:r>
                  <a:rPr lang="zh-CN" altLang="en-US" sz="2000" dirty="0"/>
                  <a:t/>
                </a:r>
                <a:br>
                  <a:rPr lang="zh-CN" altLang="en-US" sz="2000" dirty="0"/>
                </a:br>
                <a:endParaRPr lang="en-US" altLang="zh-CN" sz="2000" dirty="0" smtClean="0"/>
              </a:p>
              <a:p>
                <a:pPr marL="400050" lvl="1" indent="0">
                  <a:buNone/>
                </a:pPr>
                <a:endParaRPr lang="en-US" altLang="zh-CN" sz="1600" dirty="0"/>
              </a:p>
              <a:p>
                <a:pPr marL="400050" lvl="1" indent="0">
                  <a:buNone/>
                </a:pPr>
                <a:endParaRPr lang="en-US" altLang="zh-CN" sz="16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5"/>
                <a:stretch>
                  <a:fillRect l="-667" t="-1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\documentclass{article}&#10;\usepackage{amsmath}&#10;\pagestyle{empty}&#10;\begin{document}&#10;&#10;\begin{equation*}&#10;X(jw)=3Sa(\frac{1}{2}w)Sa(\frac{3}{2}w)e^{-jw}=&#10;\begin{cases}&#10;\frac{4sin(\frac{1}{2}w)sin(\frac{3}{2}w)}{w^2}e^{-jw},&amp;w\neq0\\&#10;3, &amp; w=0&#10;\end{cases}&#10;\end{equation*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71" y="1772816"/>
            <a:ext cx="5738057" cy="60952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\begin{equation*}&#10;a_k=\frac{1}{T}X(jw)|_{w=\frac{\pi}{2}k}=\frac{3}{4}Sa(\frac{\pi}{4}k)Sa(\frac{3\pi}{4}k)e^{-j\frac{\pi}{2}k}=&#10;\begin{cases}&#10;\frac{4sin(\frac{\pi}{4}k)sin(\frac{3\pi}{4}k)}{(\pi k)^2}e^{-j\frac{\pi}{2}k},&amp;w\neq0\\&#10;\frac{3}{4}, &amp; w=0&#10;\end{cases}&#10;\end{equatio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935" y="2594035"/>
            <a:ext cx="6636482" cy="560876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\begin{equation*}&#10;Sa(x)=\begin{cases}\frac{sinx}{x}, &amp; x \neq 0\\1, &amp; x = 0\end{cases}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7" y="3212976"/>
            <a:ext cx="2015851" cy="59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00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习题一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判断题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zh-CN" altLang="en-US" sz="2000" dirty="0"/>
              <a:t>连续时间系统的单位冲激响应是系统单位阶跃响应的导数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答案：错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。必须是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LTI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系统。</a:t>
            </a:r>
            <a:endParaRPr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评：积分特性</a:t>
            </a:r>
            <a:r>
              <a:rPr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对于连续时间</a:t>
            </a:r>
            <a:r>
              <a:rPr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LTI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系统，若系统的输入信号是原激励信号的积分，则系统的响应也是原响应的积分。</a:t>
            </a:r>
            <a:endParaRPr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/>
              <a:t>4</a:t>
            </a:r>
            <a:r>
              <a:rPr lang="zh-CN" altLang="en-US" sz="2000" dirty="0"/>
              <a:t>）一个离散时间系统，输出 </a:t>
            </a:r>
            <a:r>
              <a:rPr lang="en-US" altLang="zh-CN" sz="2000" dirty="0"/>
              <a:t>y[n]</a:t>
            </a:r>
            <a:r>
              <a:rPr lang="zh-CN" altLang="en-US" sz="2000" dirty="0"/>
              <a:t>和输入 </a:t>
            </a:r>
            <a:r>
              <a:rPr lang="en-US" altLang="zh-CN" sz="2000" dirty="0"/>
              <a:t>x[n]</a:t>
            </a:r>
            <a:r>
              <a:rPr lang="zh-CN" altLang="en-US" sz="2000" dirty="0"/>
              <a:t>， </a:t>
            </a:r>
            <a:r>
              <a:rPr lang="en-US" altLang="zh-CN" sz="2000" dirty="0"/>
              <a:t>y[n]=x[n]/n</a:t>
            </a:r>
            <a:r>
              <a:rPr lang="zh-CN" altLang="en-US" sz="2000" dirty="0"/>
              <a:t>，该系统不是线性系统。 </a:t>
            </a:r>
            <a:endParaRPr lang="en-US" altLang="zh-CN" sz="2000" dirty="0" smtClean="0"/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回答：错。是线性系统。 </a:t>
            </a:r>
            <a:endParaRPr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评：但不是时不变系统，因为系统参数和</a:t>
            </a:r>
            <a:r>
              <a:rPr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有关。</a:t>
            </a:r>
            <a:endParaRPr lang="en-US" altLang="zh-C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5</a:t>
            </a:r>
            <a:r>
              <a:rPr lang="zh-CN" altLang="en-US" sz="2000" dirty="0" smtClean="0"/>
              <a:t>）一</a:t>
            </a:r>
            <a:r>
              <a:rPr lang="zh-CN" altLang="en-US" sz="2000" dirty="0"/>
              <a:t>个连续时间系统的双边拉普拉斯变换收敛区间（</a:t>
            </a:r>
            <a:r>
              <a:rPr lang="en-US" altLang="zh-CN" sz="2000" dirty="0"/>
              <a:t>ROC</a:t>
            </a:r>
            <a:r>
              <a:rPr lang="zh-CN" altLang="en-US" sz="2000" dirty="0"/>
              <a:t>）可以是 </a:t>
            </a:r>
            <a:r>
              <a:rPr lang="en-US" altLang="zh-CN" sz="2000" dirty="0"/>
              <a:t>s </a:t>
            </a:r>
            <a:r>
              <a:rPr lang="zh-CN" altLang="en-US" sz="2000" dirty="0"/>
              <a:t>平面上单位圆所包围的区域。 </a:t>
            </a:r>
            <a:endParaRPr lang="en-US" altLang="zh-CN" sz="2000" dirty="0" smtClean="0"/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回答：错。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ROC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只能是与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l-GR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ω 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轴平行的区域。 </a:t>
            </a:r>
            <a:endParaRPr lang="en-US" altLang="zh-C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评：离散时间系统的</a:t>
            </a:r>
            <a:r>
              <a:rPr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ROC</a:t>
            </a:r>
            <a:r>
              <a:rPr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才可能是单位圆。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zh-CN" altLang="en-US" sz="2000" dirty="0"/>
              <a:t/>
            </a: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88629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048" y="4007346"/>
            <a:ext cx="2381250" cy="6457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习题二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题目：</a:t>
                </a: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解答：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CN" sz="2000" dirty="0" smtClean="0"/>
              </a:p>
              <a:p>
                <a:pPr marL="0" indent="0">
                  <a:buNone/>
                </a:pPr>
                <a:r>
                  <a:rPr lang="en-US" altLang="zh-CN" sz="2000" dirty="0"/>
                  <a:t> </a:t>
                </a:r>
                <a:r>
                  <a:rPr lang="en-US" altLang="zh-CN" sz="2000" dirty="0" smtClean="0"/>
                  <a:t>                  </a:t>
                </a:r>
                <a:r>
                  <a:rPr lang="zh-CN" altLang="en-US" sz="2000" dirty="0" smtClean="0"/>
                  <a:t>令</a:t>
                </a:r>
                <a:endParaRPr lang="en-US" altLang="zh-CN" sz="2000" dirty="0" smtClean="0"/>
              </a:p>
              <a:p>
                <a:pPr marL="0" indent="0">
                  <a:buNone/>
                </a:pPr>
                <a:r>
                  <a:rPr lang="en-US" altLang="zh-CN" sz="2000" dirty="0"/>
                  <a:t> </a:t>
                </a:r>
                <a:r>
                  <a:rPr lang="en-US" altLang="zh-CN" sz="2000" dirty="0" smtClean="0"/>
                  <a:t>                  </a:t>
                </a:r>
                <a:r>
                  <a:rPr lang="zh-CN" altLang="en-US" sz="2000" dirty="0" smtClean="0"/>
                  <a:t>则</a:t>
                </a:r>
                <a:endParaRPr lang="en-US" altLang="zh-CN" sz="2000" dirty="0" smtClean="0"/>
              </a:p>
              <a:p>
                <a:pPr marL="0" indent="0">
                  <a:buNone/>
                </a:pPr>
                <a:endParaRPr lang="en-US" altLang="zh-CN" sz="2000" dirty="0" smtClean="0"/>
              </a:p>
              <a:p>
                <a:pPr marL="0" indent="0">
                  <a:buNone/>
                </a:pPr>
                <a:r>
                  <a:rPr lang="en-US" altLang="zh-CN" sz="2000" dirty="0"/>
                  <a:t> </a:t>
                </a:r>
                <a:r>
                  <a:rPr lang="en-US" altLang="zh-CN" sz="2000" dirty="0" smtClean="0"/>
                  <a:t>                  </a:t>
                </a:r>
                <a:r>
                  <a:rPr lang="zh-CN" altLang="en-US" sz="2000" dirty="0" smtClean="0"/>
                  <a:t>所以</a:t>
                </a:r>
                <a:r>
                  <a:rPr lang="zh-CN" altLang="en-US" sz="2000" dirty="0"/>
                  <a:t/>
                </a:r>
                <a:br>
                  <a:rPr lang="zh-CN" altLang="en-US" sz="2000" dirty="0"/>
                </a:br>
                <a:r>
                  <a:rPr lang="zh-CN" altLang="en-US" sz="2000" dirty="0"/>
                  <a:t/>
                </a:r>
                <a:br>
                  <a:rPr lang="zh-CN" altLang="en-US" sz="2000" dirty="0"/>
                </a:br>
                <a:endParaRPr lang="en-US" altLang="zh-CN" sz="20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8"/>
                <a:stretch>
                  <a:fillRect l="-667" t="-1077" b="-7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9672" y="1268760"/>
            <a:ext cx="6080034" cy="2733138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3059832" y="429309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4572000" y="429309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7704" y="4509120"/>
            <a:ext cx="1727764" cy="373197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&#10;$x(t) = a_0 + \sum_{k=1}^{+\infty}[c_kcos(kw_0t)+d_ksin(kw_0t)]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880" y="5619026"/>
            <a:ext cx="5031618" cy="315429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\begin{equation*}&#10;\begin{split}&#10;2Re\{a_ke^{jkw_0t}\}&amp;=(c_k-jd_k)(cos(kw_0t)+jsin(kw_0t))\\&amp;=c_kcos(kw_0t)+d_ksin(kw_0t)&#10;\end{split}&#10;\end{equatio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925460"/>
            <a:ext cx="5799619" cy="672000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\begin{equation*}&#10;\begin{cases}c_0=a_0 \\c_k=2Re\{a_k\} \\d_k=2Im\{a_k\} \end{cases}&#10;\end{equation*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874" y="5450420"/>
            <a:ext cx="1293073" cy="786892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7175498" y="5805264"/>
            <a:ext cx="400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907704" y="4519661"/>
            <a:ext cx="1584176" cy="3232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\documentclass{article}&#10;\usepackage{amsmath}&#10;\pagestyle{empty}&#10;\begin{document}&#10;&#10;$ ( not \ a_k=A_ke^{j\theta_k} )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93" y="4629516"/>
            <a:ext cx="1453714" cy="21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7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习题三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</a:t>
            </a:r>
            <a:endParaRPr lang="en-US" altLang="zh-CN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600" dirty="0" smtClean="0"/>
              <a:t>频域</a:t>
            </a:r>
            <a:r>
              <a:rPr lang="zh-CN" altLang="en-US" sz="1600" dirty="0"/>
              <a:t>法</a:t>
            </a:r>
            <a:r>
              <a:rPr lang="zh-CN" altLang="en-US" sz="1600" dirty="0" smtClean="0"/>
              <a:t>：</a:t>
            </a:r>
            <a:r>
              <a:rPr lang="en-US" altLang="zh-CN" sz="1600" dirty="0" smtClean="0"/>
              <a:t>frequency response            impulse response</a:t>
            </a:r>
          </a:p>
          <a:p>
            <a:pPr marL="457200" lvl="1" indent="0">
              <a:buNone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分母：</a:t>
            </a: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分子：待定系数法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672" y="1245733"/>
            <a:ext cx="5544616" cy="101348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3707904" y="2492896"/>
            <a:ext cx="564053" cy="369332"/>
            <a:chOff x="3010929" y="3068960"/>
            <a:chExt cx="564053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17"/>
                <p:cNvSpPr txBox="1"/>
                <p:nvPr/>
              </p:nvSpPr>
              <p:spPr>
                <a:xfrm>
                  <a:off x="3059832" y="3068960"/>
                  <a:ext cx="4384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i="1" smtClean="0">
                                <a:latin typeface="Cambria Math"/>
                                <a:ea typeface="Cambria Math"/>
                              </a:rPr>
                              <m:t>ℱ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32" y="3068960"/>
                  <a:ext cx="438481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箭头连接符 7"/>
            <p:cNvCxnSpPr/>
            <p:nvPr/>
          </p:nvCxnSpPr>
          <p:spPr>
            <a:xfrm>
              <a:off x="3010929" y="3397662"/>
              <a:ext cx="564053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9" name="图片 8" descr="\documentclass{article}&#10;\usepackage{amsmath}&#10;\pagestyle{empty}&#10;\begin{document}&#10;&#10;\begin{equation*}&#10;H(jw)= \frac{jw+1}{(jw)^2+jw+1}=\frac{a}{jw+\frac{1+\sqrt{3}j}{2}}+\frac{b}{jw+\frac{1-\sqrt{3}j}{2}}&#10;\end{equation*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66" y="3078950"/>
            <a:ext cx="6119619" cy="68266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\begin{equation*}&#10;\begin{split}&#10;&amp;Let \ (jw)^2+jw+1=(jw+1)^2+\frac{3}{4}=0\\&#10;&amp;then \ (jw+1)^2=-\frac{3}{4}\\&#10;&amp;so \ jw=\frac{-1\pm\sqrt{3}}{2}&#10;\end{split}&#10;\end{equatio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33" y="3766115"/>
            <a:ext cx="2832583" cy="113863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\begin{equation*}&#10;G(jw)=H(jw)(\frac{1}{jw}+\pi\delta(w))=H(jw)\frac{1}{jw}+H(j0)\pi\delta(w)&#10;\end{equation*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7" y="5378069"/>
            <a:ext cx="6288561" cy="559889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020272" y="5378069"/>
            <a:ext cx="720080" cy="5192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93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习题三</a:t>
            </a:r>
            <a:r>
              <a:rPr lang="en-US" altLang="zh-CN" sz="2000" dirty="0" smtClean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</a:t>
            </a:r>
            <a:endParaRPr lang="en-US" altLang="zh-CN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600" dirty="0" smtClean="0"/>
              <a:t>利用常见信号的傅里叶变换对简化计算</a:t>
            </a:r>
            <a:endParaRPr lang="en-US" altLang="zh-CN" sz="16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∴</a:t>
            </a: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∴</a:t>
            </a: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1245733"/>
            <a:ext cx="5544616" cy="101348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32" y="2999359"/>
            <a:ext cx="6057900" cy="1076325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equation*}&#10;\begin{split}&#10;&amp;H(jw)= \frac{jw+1}{(jw)^2+jw+1}=\frac{jw+\frac{1}{2}}{(jw+\frac{1}{2})^2+(\frac{\sqrt3}{2})^2}+\frac{1}{\sqrt{3}}\frac{\frac{\sqrt{3}}{2}}{(jw+\frac{1}{2})^2+(\frac{\sqrt3}{2})^2}&#10;\\&amp;h(t)=e^{-\frac{1}{2}t}cos(\frac{\sqrt{3}}{2}t)u(t)+\frac{1}{\sqrt{3}}e^{-\frac{1}{2}t}sin(\frac{\sqrt{3}}{2}t)u(t)&#10;=e^{-\frac{1}{2}t}u(t)\frac{2}{\sqrt{3}}cos(\frac{\sqrt{3}}{2}-\frac{\pi}{6})&#10;\end{split}&#10;\end{equation*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010671"/>
            <a:ext cx="6849829" cy="120198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&#10;\begin{equation*}&#10;\begin{split}&#10;&amp;G(jw)=\frac{1}{jw}+\pi\delta(w)-\{\frac{jw+\frac{1}{2}}{(jw+\frac{1}{2})^2+(\frac{\sqrt3}{2})^2}-\frac{1}{\sqrt{3}}\frac{\frac{\sqrt{3}}{2}}{(jw+\frac{1}{2})^2+(\frac{\sqrt3}{2})^2}\}&#10;\\&amp;g(t)=u(t)[1-e^{-\frac{1}{2}t}\frac{2}{\sqrt{3}}cos(\frac{\sqrt{3}}{2}-\frac{\pi}{6})]&#10;\end{split}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167383"/>
            <a:ext cx="5844751" cy="112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2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习题四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1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  <a:r>
              <a:rPr lang="zh-CN" altLang="en-US" sz="1600" dirty="0" smtClean="0"/>
              <a:t>使用相量法：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2000" dirty="0" smtClean="0"/>
              <a:t>     而</a:t>
            </a:r>
            <a:endParaRPr lang="en-US" altLang="zh-CN" sz="2000" dirty="0" smtClean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 smtClean="0"/>
              <a:t>     </a:t>
            </a:r>
            <a:r>
              <a:rPr lang="zh-CN" altLang="en-US" sz="2000" dirty="0" smtClean="0"/>
              <a:t>∴ </a:t>
            </a:r>
            <a:endParaRPr lang="en-US" altLang="zh-CN" sz="20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80" y="1225095"/>
            <a:ext cx="5976664" cy="2356557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\begin{equation*}&#10;\begin{cases}&#10;R_1=1,R_2=1\\&#10;C_1=\frac{2}{s},C_2=\frac{3}{s}\\&#10;Y(s)=X(s)\frac{C_1//(R_2+c_2)}{R_1+[C_1//(R_2+c_2)]}\frac{C_2}{R_2+c_2}&#10;\end{cases}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828" y="3861048"/>
            <a:ext cx="3196343" cy="871619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\begin{equation*}&#10;\frac{C_1//(R_2+c_2)}{R_1+[C_1//(R_2+c_2)]}\frac{C_2}{R_2+c_2}=\frac{C_1C_2}{(C_1+R_2+C_2)R_1+C_1(R_2+C_2)}=\frac{6}{s^2+7s+6}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157" y="4941168"/>
            <a:ext cx="5724155" cy="38187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\begin{equation*}&#10;\frac{\text{d}^2y(t)}{\text{d}t^2}+7\frac{\text{d}y(t)}{\text{d}t}+6y(t)=6x(t)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643" y="5560889"/>
            <a:ext cx="3204539" cy="53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69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习题四</a:t>
            </a:r>
            <a:r>
              <a:rPr lang="en-US" altLang="zh-CN" sz="2000" dirty="0" smtClean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2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  <a:r>
              <a:rPr lang="zh-CN" altLang="en-US" sz="1600" dirty="0"/>
              <a:t>时域</a:t>
            </a:r>
            <a:r>
              <a:rPr lang="zh-CN" altLang="en-US" sz="1600" dirty="0" smtClean="0"/>
              <a:t>求解：</a:t>
            </a:r>
            <a:r>
              <a:rPr lang="zh-CN" altLang="en-US" sz="1600" b="1" dirty="0" smtClean="0"/>
              <a:t>①</a:t>
            </a:r>
            <a:r>
              <a:rPr lang="en-US" altLang="zh-CN" sz="1600" b="1" dirty="0" smtClean="0"/>
              <a:t>.</a:t>
            </a:r>
            <a:r>
              <a:rPr lang="zh-CN" altLang="en-US" sz="1600" b="1" dirty="0" smtClean="0"/>
              <a:t>求特解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2000" dirty="0" smtClean="0"/>
              <a:t>    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80" y="1225095"/>
            <a:ext cx="5976664" cy="23565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944" y="3581652"/>
            <a:ext cx="4392488" cy="318785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788024" y="5229200"/>
            <a:ext cx="3528392" cy="7200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\documentclass{article}&#10;\usepackage{amsmath}&#10;\pagestyle{empty}&#10;\begin{document}&#10;&#10;\begin{equation*}&#10;y_p(t)=B_1cos(3t)+B_2sin(3t)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64" y="4533533"/>
            <a:ext cx="3292952" cy="263619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\begin{equation*}&#10;y_p'(t),\  y_p''(t)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840" y="4958219"/>
            <a:ext cx="1244952" cy="30171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27584" y="5307775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带：将以上式子带入微分方程，</a:t>
            </a:r>
            <a:r>
              <a:rPr lang="en-US" altLang="zh-CN" dirty="0" err="1" smtClean="0">
                <a:solidFill>
                  <a:schemeClr val="bg1"/>
                </a:solidFill>
              </a:rPr>
              <a:t>assds</a:t>
            </a:r>
            <a:r>
              <a:rPr lang="zh-CN" altLang="en-US" dirty="0" smtClean="0"/>
              <a:t>用待定系数法可解得：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27584" y="4479092"/>
            <a:ext cx="468052" cy="3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设：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20682" y="4925527"/>
            <a:ext cx="468052" cy="3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16" name="图片 15" descr="\documentclass{article}&#10;\usepackage{amsmath}&#10;\pagestyle{empty}&#10;\begin{document}&#10;&#10;\begin{equation*}&#10;\begin{cases}B_1=-\frac{2}{5}\\ B_2=\frac{14}{5} \end{cases}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382" y="5915208"/>
            <a:ext cx="1027200" cy="68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9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习题四</a:t>
            </a:r>
            <a:r>
              <a:rPr lang="en-US" altLang="zh-CN" sz="2000" dirty="0" smtClean="0"/>
              <a:t>-(3)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2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  <a:r>
              <a:rPr lang="zh-CN" altLang="en-US" sz="1600" dirty="0"/>
              <a:t>时域</a:t>
            </a:r>
            <a:r>
              <a:rPr lang="zh-CN" altLang="en-US" sz="1600" dirty="0" smtClean="0"/>
              <a:t>求解：</a:t>
            </a:r>
            <a:r>
              <a:rPr lang="zh-CN" altLang="en-US" sz="1600" b="1" dirty="0"/>
              <a:t>②</a:t>
            </a:r>
            <a:r>
              <a:rPr lang="en-US" altLang="zh-CN" sz="1600" b="1" dirty="0" smtClean="0"/>
              <a:t>.</a:t>
            </a:r>
            <a:r>
              <a:rPr lang="zh-CN" altLang="en-US" sz="1600" b="1" dirty="0" smtClean="0"/>
              <a:t>求通解形式</a:t>
            </a:r>
            <a:endParaRPr lang="en-US" altLang="zh-CN" sz="16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2000" dirty="0" smtClean="0"/>
              <a:t>    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1225095"/>
            <a:ext cx="5976664" cy="235655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27584" y="4479092"/>
            <a:ext cx="468052" cy="3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解：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20682" y="4925527"/>
            <a:ext cx="468052" cy="3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6017" y="3609994"/>
            <a:ext cx="4243230" cy="277133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220072" y="4335076"/>
            <a:ext cx="3594156" cy="3900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\documentclass{article}&#10;\usepackage{amsmath}&#10;\pagestyle{empty}&#10;\begin{document}&#10;&#10;\begin{equation*}&#10;\alpha^2+7\alpha+6=0,\ \alpha_1=-1,\alpha_2=-6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846" y="4516564"/>
            <a:ext cx="3505186" cy="27123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\begin{equation*}&#10;y_h(t)=A_1e^{-t}+A_2e^{-6t}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846" y="4942724"/>
            <a:ext cx="2599619" cy="286476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27584" y="5353383"/>
            <a:ext cx="183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∴完全解形式为：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82" y="5715642"/>
            <a:ext cx="4276718" cy="45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16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习题四</a:t>
            </a:r>
            <a:r>
              <a:rPr lang="en-US" altLang="zh-CN" sz="2000" dirty="0" smtClean="0"/>
              <a:t>-(4)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2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  <a:r>
              <a:rPr lang="zh-CN" altLang="en-US" sz="1600" dirty="0"/>
              <a:t>时域</a:t>
            </a:r>
            <a:r>
              <a:rPr lang="zh-CN" altLang="en-US" sz="1600" dirty="0" smtClean="0"/>
              <a:t>求解：</a:t>
            </a:r>
            <a:r>
              <a:rPr lang="zh-CN" altLang="en-US" sz="1600" b="1" dirty="0" smtClean="0"/>
              <a:t>③</a:t>
            </a:r>
            <a:r>
              <a:rPr lang="en-US" altLang="zh-CN" sz="1600" b="1" dirty="0" smtClean="0"/>
              <a:t>.</a:t>
            </a:r>
            <a:r>
              <a:rPr lang="zh-CN" altLang="en-US" sz="1600" b="1" dirty="0" smtClean="0"/>
              <a:t>求初始条件</a:t>
            </a:r>
            <a:endParaRPr lang="en-US" altLang="zh-CN" sz="16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/>
          </a:p>
          <a:p>
            <a:pPr marL="457200" lvl="1" indent="0">
              <a:buNone/>
            </a:pPr>
            <a:r>
              <a:rPr lang="en-US" altLang="zh-CN" sz="1600" b="1" dirty="0" smtClean="0"/>
              <a:t>                                   </a:t>
            </a:r>
            <a:r>
              <a:rPr lang="zh-CN" altLang="en-US" sz="1600" b="1" dirty="0" smtClean="0"/>
              <a:t>④</a:t>
            </a:r>
            <a:r>
              <a:rPr lang="en-US" altLang="zh-CN" sz="1600" b="1" dirty="0" smtClean="0"/>
              <a:t>.</a:t>
            </a:r>
            <a:r>
              <a:rPr lang="zh-CN" altLang="en-US" sz="1600" b="1" dirty="0" smtClean="0"/>
              <a:t>求通解系数</a:t>
            </a:r>
            <a:endParaRPr lang="en-US" altLang="zh-CN" sz="16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b="1" dirty="0"/>
          </a:p>
          <a:p>
            <a:pPr marL="457200" lvl="1" indent="0">
              <a:buNone/>
            </a:pPr>
            <a:endParaRPr lang="en-US" altLang="zh-CN" sz="1600" b="1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pPr marL="457200" lvl="1" indent="0">
              <a:buNone/>
            </a:pPr>
            <a:r>
              <a:rPr lang="zh-CN" altLang="en-US" sz="2000" dirty="0" smtClean="0"/>
              <a:t>    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1225095"/>
            <a:ext cx="5976664" cy="23565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067944" y="3789040"/>
                <a:ext cx="187220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时刻</m:t>
                    </m:r>
                  </m:oMath>
                </a14:m>
                <a:r>
                  <a:rPr lang="zh-CN" altLang="en-US" dirty="0" smtClean="0"/>
                  <a:t>；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电容电压不突变；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电感电流不突变；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3789040"/>
                <a:ext cx="1872208" cy="923330"/>
              </a:xfrm>
              <a:prstGeom prst="rect">
                <a:avLst/>
              </a:prstGeom>
              <a:blipFill>
                <a:blip r:embed="rId6"/>
                <a:stretch>
                  <a:fillRect l="-2606" t="-5960" r="-10423" b="-7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大括号 7"/>
          <p:cNvSpPr/>
          <p:nvPr/>
        </p:nvSpPr>
        <p:spPr>
          <a:xfrm>
            <a:off x="3995936" y="3789040"/>
            <a:ext cx="144016" cy="93610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043608" y="4694153"/>
                <a:ext cx="45725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 smtClean="0"/>
                  <a:t>电压不能突变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altLang="zh-CN" dirty="0" smtClean="0"/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/>
                  <a:t>电压不能突变→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电流</m:t>
                    </m:r>
                  </m:oMath>
                </a14:m>
                <a:r>
                  <a:rPr lang="zh-CN" altLang="en-US" dirty="0" smtClean="0"/>
                  <a:t>为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→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694153"/>
                <a:ext cx="4572508" cy="646331"/>
              </a:xfrm>
              <a:prstGeom prst="rect">
                <a:avLst/>
              </a:prstGeom>
              <a:blipFill>
                <a:blip r:embed="rId7"/>
                <a:stretch>
                  <a:fillRect t="-7547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 descr="\documentclass{article}&#10;\usepackage{amsmath}&#10;\pagestyle{empty}&#10;\begin{document}&#10;&#10;\begin{equation*}&#10;\begin{cases}A_1+A_2-\frac{2}{5}=20\\ -A_1-6A_2+\frac{42}{5}=0  \end{cases}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644648"/>
            <a:ext cx="1946819" cy="607086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\begin{equation*}&#10;\begin{cases}A_1=\frac{114}{5}\\ A_2=-\frac{12}{5}  \end{cases}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961" y="5644648"/>
            <a:ext cx="995155" cy="609578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>
            <a:off x="3995936" y="5930103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7704" y="6276975"/>
            <a:ext cx="4181475" cy="581025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495023" y="6360864"/>
            <a:ext cx="1788945" cy="4451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359098" y="6339347"/>
            <a:ext cx="1581054" cy="4666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277438" y="658806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01328" y="660858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92D050"/>
                </a:solidFill>
              </a:rPr>
              <a:t>f</a:t>
            </a:r>
            <a:endParaRPr lang="zh-CN" alt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59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习题四</a:t>
            </a:r>
            <a:r>
              <a:rPr lang="en-US" altLang="zh-CN" sz="2000" dirty="0" smtClean="0"/>
              <a:t>-(5)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题目：</a:t>
                </a: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解答关键：</a:t>
                </a:r>
                <a:endParaRPr lang="en-US" altLang="zh-CN" sz="20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zh-CN" sz="1600" dirty="0" smtClean="0"/>
                  <a:t>2</a:t>
                </a:r>
                <a:r>
                  <a:rPr lang="zh-CN" altLang="en-US" sz="1600" dirty="0" smtClean="0"/>
                  <a:t>）</a:t>
                </a:r>
                <a:r>
                  <a:rPr lang="en-US" altLang="zh-CN" sz="1600" dirty="0" smtClean="0"/>
                  <a:t>.</a:t>
                </a:r>
                <a:r>
                  <a:rPr lang="zh-CN" altLang="en-US" sz="1600" dirty="0"/>
                  <a:t>时域</a:t>
                </a:r>
                <a:r>
                  <a:rPr lang="zh-CN" altLang="en-US" sz="1600" dirty="0" smtClean="0"/>
                  <a:t>求解：求</a:t>
                </a:r>
                <a:r>
                  <a:rPr lang="zh-CN" altLang="en-US" sz="1600" b="1" dirty="0" smtClean="0"/>
                  <a:t>零输入</a:t>
                </a:r>
                <a:r>
                  <a:rPr lang="zh-CN" altLang="en-US" sz="1600" dirty="0" smtClean="0"/>
                  <a:t>响应，完全解只含通解：</a:t>
                </a:r>
                <a:endParaRPr lang="en-US" altLang="zh-CN" sz="1600" dirty="0" smtClean="0"/>
              </a:p>
              <a:p>
                <a:pPr lvl="2"/>
                <a:r>
                  <a:rPr lang="zh-CN" altLang="en-US" sz="1400" dirty="0" smtClean="0"/>
                  <a:t>初始条件：</a:t>
                </a: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zh-CN" altLang="en-US" sz="140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1400" dirty="0"/>
              </a:p>
              <a:p>
                <a:pPr marL="914400" lvl="2" indent="0">
                  <a:buNone/>
                </a:pPr>
                <a:endParaRPr lang="en-US" altLang="zh-CN" sz="1200" dirty="0" smtClean="0"/>
              </a:p>
              <a:p>
                <a:pPr marL="457200" lvl="1" indent="0">
                  <a:buNone/>
                </a:pPr>
                <a:r>
                  <a:rPr lang="en-US" altLang="zh-CN" sz="1600" b="1" dirty="0"/>
                  <a:t> </a:t>
                </a:r>
                <a:r>
                  <a:rPr lang="en-US" altLang="zh-CN" sz="1600" b="1" dirty="0" smtClean="0"/>
                  <a:t>                    </a:t>
                </a:r>
                <a:endParaRPr lang="en-US" altLang="zh-CN" sz="1600" b="1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b="1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b="1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b="1" dirty="0"/>
              </a:p>
              <a:p>
                <a:pPr marL="457200" lvl="1" indent="0">
                  <a:buNone/>
                </a:pPr>
                <a:endParaRPr lang="en-US" altLang="zh-CN" sz="1600" b="1" dirty="0" smtClean="0"/>
              </a:p>
              <a:p>
                <a:pPr marL="457200" lvl="1" indent="0">
                  <a:buNone/>
                </a:pP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endParaRPr lang="en-US" altLang="zh-CN" sz="1600" dirty="0"/>
              </a:p>
              <a:p>
                <a:pPr marL="457200" lvl="1" indent="0">
                  <a:buNone/>
                </a:pPr>
                <a:r>
                  <a:rPr lang="zh-CN" altLang="en-US" sz="2000" dirty="0" smtClean="0"/>
                  <a:t>    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8"/>
                <a:stretch>
                  <a:fillRect l="-667" t="-1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1680" y="1225095"/>
            <a:ext cx="5976664" cy="2356557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y_c=y_h=k_1e^{-t}+k_2e^{-6t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672" y="4149080"/>
            <a:ext cx="2207696" cy="20845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\begin{equation*}&#10;\begin{cases}-k_1-6k_2=0\\ k_1+k_2=20  \end{cases}&#10;\end{equatio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725144"/>
            <a:ext cx="1491347" cy="648072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\begin{equation*}&#10;\begin{cases}k_1=24\\ k_2=-4  \end{cases}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59" y="4725145"/>
            <a:ext cx="894135" cy="635206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3275856" y="5013176"/>
            <a:ext cx="864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图片 26" descr="\documentclass{article}&#10;\usepackage{amsmath}&#10;\pagestyle{empty}&#10;\begin{document}&#10;&#10;$y_{zi}=24e^{-t}-4e^{-6t},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5664862"/>
            <a:ext cx="1771278" cy="208457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y_{zs}(t)=y_c(t)-y_{zi}(t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644314"/>
            <a:ext cx="1884647" cy="20358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405581" y="5623756"/>
            <a:ext cx="35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3765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习题五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题目：</a:t>
                </a: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解答关键：</a:t>
                </a:r>
                <a:r>
                  <a:rPr lang="en-US" altLang="zh-CN" sz="2000" dirty="0" smtClean="0"/>
                  <a:t>1</a:t>
                </a:r>
                <a:r>
                  <a:rPr lang="zh-CN" altLang="en-US" sz="2000" dirty="0" smtClean="0"/>
                  <a:t>）</a:t>
                </a:r>
                <a:r>
                  <a:rPr lang="en-US" altLang="zh-CN" sz="2000" dirty="0" smtClean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令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1600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𝑗𝑤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𝑗𝑤</m:t>
                        </m:r>
                      </m:sup>
                    </m:sSup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1600" dirty="0" smtClean="0"/>
                  <a:t>实偶信号，则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𝑗𝑤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能</m:t>
                    </m:r>
                  </m:oMath>
                </a14:m>
                <a:r>
                  <a:rPr lang="zh-CN" altLang="en-US" sz="1600" dirty="0" smtClean="0"/>
                  <a:t>提供的相位信息只有正负号</a:t>
                </a:r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而</a:t>
                </a:r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∴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𝑗𝑤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 smtClean="0"/>
              </a:p>
              <a:p>
                <a:pPr marL="457200" lvl="1" indent="0">
                  <a:buNone/>
                </a:pP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endParaRPr lang="en-US" altLang="zh-CN" sz="16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4"/>
                <a:stretch>
                  <a:fillRect l="-667" t="-1077" b="-7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1162828"/>
            <a:ext cx="4968552" cy="269822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equation*}&#10;F_1(jw)=\int_{-\infty}^{\infty}f_1(t)e^{jwt}dt=2\int_{0}^{2}f_1(t)cos(wt)dt=\frac{1}{w^2}(1-cos(2w)) , \ which \geq0 \ for \ any \ w 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157192"/>
            <a:ext cx="7200800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46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习题五</a:t>
            </a:r>
            <a:r>
              <a:rPr lang="en-US" altLang="zh-CN" sz="2000" dirty="0" smtClean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endParaRPr lang="en-US" altLang="zh-C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/>
              <a:t>2</a:t>
            </a:r>
            <a:r>
              <a:rPr lang="zh-CN" altLang="en-US" sz="1600" dirty="0"/>
              <a:t>）</a:t>
            </a:r>
            <a:r>
              <a:rPr lang="en-US" altLang="zh-CN" sz="16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3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4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 </a:t>
            </a: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3688" y="1162828"/>
            <a:ext cx="4968552" cy="269822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F(j0)=\int_{-\infty}^{+\infty}f(t)dt=4 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508875"/>
            <a:ext cx="2160240" cy="277587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\int_{-\infty}^{+\infty}F(jw)dw=2\pi \cdot f(0)=2\pi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228" y="4797152"/>
            <a:ext cx="2775772" cy="27428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275857" y="4749238"/>
            <a:ext cx="432048" cy="322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763688" y="5160634"/>
            <a:ext cx="2441473" cy="561932"/>
            <a:chOff x="6292380" y="5531364"/>
            <a:chExt cx="2441473" cy="561932"/>
          </a:xfrm>
        </p:grpSpPr>
        <p:pic>
          <p:nvPicPr>
            <p:cNvPr id="12" name="图片 11" descr="\documentclass{article}&#10;\usepackage{amsmath}&#10;\pagestyle{empty}&#10;\begin{document}&#10;&#10;\begin{equation*}&#10;X_e(t)\leftrightarrow Re\{X(jw)\}&#10;\end{equation*}&#10;&#10;\end{document}" title="IguanaTex Bitmap Displa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2380" y="5531364"/>
              <a:ext cx="2273524" cy="254476"/>
            </a:xfrm>
            <a:prstGeom prst="rect">
              <a:avLst/>
            </a:prstGeom>
          </p:spPr>
        </p:pic>
        <p:pic>
          <p:nvPicPr>
            <p:cNvPr id="13" name="图片 12" descr="\documentclass{article}&#10;\usepackage{amsmath}&#10;\pagestyle{empty}&#10;\begin{document}&#10;&#10;\begin{equation*}&#10;X_o(t)\leftrightarrow jIm\{X(jw)\}&#10;\end{equation*}&#10;&#10;&#10;\end{document}" title="IguanaTex Bitmap Display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5758" y="5838820"/>
              <a:ext cx="2438095" cy="25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724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习题六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endParaRPr lang="en-US" altLang="zh-C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1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  <a:r>
              <a:rPr lang="zh-CN" altLang="en-US" sz="1600" dirty="0" smtClean="0"/>
              <a:t>定义法（分部积分）；看成两个方波信号的卷积</a:t>
            </a: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2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3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1720" y="1231948"/>
            <a:ext cx="4808388" cy="2706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12160" y="4293096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①三角波</a:t>
            </a:r>
            <a:endParaRPr lang="en-US" altLang="zh-CN" dirty="0" smtClean="0"/>
          </a:p>
          <a:p>
            <a:r>
              <a:rPr lang="zh-CN" altLang="en-US" dirty="0" smtClean="0"/>
              <a:t>②梯形波</a:t>
            </a:r>
            <a:endParaRPr lang="zh-CN" altLang="en-US" dirty="0"/>
          </a:p>
        </p:txBody>
      </p:sp>
      <p:sp>
        <p:nvSpPr>
          <p:cNvPr id="9" name="左大括号 8"/>
          <p:cNvSpPr/>
          <p:nvPr/>
        </p:nvSpPr>
        <p:spPr>
          <a:xfrm>
            <a:off x="5868144" y="4293096"/>
            <a:ext cx="216024" cy="64807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\documentclass{article}&#10;\usepackage{amsmath}&#10;\pagestyle{empty}&#10;\begin{document}&#10;&#10;\begin{equation*}&#10;\int_{-\infty}^{+\infty}|X(jw)|^2dw=2\pi\cdot \int_{-\infty}^{+\infty}|x(t)|^2dt=2\pi(\frac{1}{3}+2+\frac{1}{3})=\frac{16}{3}\pi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448" y="4992881"/>
            <a:ext cx="5647848" cy="49859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\begin{equation*}&#10;\begin{split}&#10;&amp;a_k=\frac{1}{T}X(jw)|_{w=kw_0},\\&#10;&amp;Y(jw)=2\pi\sum_{n=-\infty}^{+\infty}a_k\delta(w-nw_0)&#10;\end{split}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9" y="5677555"/>
            <a:ext cx="2941717" cy="1129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4067944" y="5877272"/>
                <a:ext cx="2880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C00000"/>
                    </a:solidFill>
                  </a:rPr>
                  <a:t>要单独讨论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</a:rPr>
                  <a:t>时的值！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5877272"/>
                <a:ext cx="2880320" cy="369332"/>
              </a:xfrm>
              <a:prstGeom prst="rect">
                <a:avLst/>
              </a:prstGeom>
              <a:blipFill>
                <a:blip r:embed="rId8"/>
                <a:stretch>
                  <a:fillRect l="-1691" t="-1311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36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</a:t>
            </a:r>
            <a:r>
              <a:rPr lang="zh-CN" altLang="en-US" dirty="0"/>
              <a:t>七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</a:t>
            </a:r>
            <a:r>
              <a:rPr lang="en-US" altLang="zh-CN" sz="2000" dirty="0"/>
              <a:t> 1</a:t>
            </a:r>
            <a:r>
              <a:rPr lang="zh-CN" altLang="en-US" sz="2000" dirty="0"/>
              <a:t>）</a:t>
            </a:r>
            <a:r>
              <a:rPr lang="en-US" altLang="zh-CN" sz="20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先求导，后计算，以运用复频域微分特性</a:t>
            </a: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分类讨论三种情况：</a:t>
            </a: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850" y="1286295"/>
            <a:ext cx="5448300" cy="1304925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Re\{s\}&gt;-1,\ Re\{s\}&lt;-3, \ -3&lt;Re\{s\}&lt;-1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729475"/>
            <a:ext cx="4044799" cy="2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03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习题八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题目：</a:t>
                </a: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/>
                  <a:t>解答：</a:t>
                </a:r>
                <a:r>
                  <a:rPr lang="en-US" altLang="zh-CN" sz="2000" dirty="0" smtClean="0"/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根据条件一，设</a:t>
                </a:r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根据条件二，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=1=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，有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600" dirty="0" smtClean="0"/>
                  <a:t>，∴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1600" dirty="0" smtClean="0"/>
              </a:p>
              <a:p>
                <a:pPr marL="457200" lvl="1" indent="0"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                               </a:t>
                </a:r>
                <a:r>
                  <a:rPr lang="zh-CN" altLang="en-US" sz="1600" dirty="0" smtClean="0"/>
                  <a:t>∴可令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𝑠𝑞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根据条件三，由初值定理：</a:t>
                </a:r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 smtClean="0"/>
              </a:p>
              <a:p>
                <a:pPr marL="457200" lvl="1" indent="0">
                  <a:buNone/>
                </a:pPr>
                <a:r>
                  <a:rPr lang="en-US" altLang="zh-CN" sz="1600" dirty="0" smtClean="0"/>
                  <a:t>                                </a:t>
                </a:r>
                <a:r>
                  <a:rPr lang="zh-CN" altLang="en-US" sz="1600" dirty="0" smtClean="0"/>
                  <a:t>∴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1600" dirty="0" smtClean="0"/>
              </a:p>
              <a:p>
                <a:pPr marL="457200" lvl="1" indent="0">
                  <a:buNone/>
                </a:pPr>
                <a:r>
                  <a:rPr lang="zh-CN" altLang="en-US" sz="1600" dirty="0" smtClean="0"/>
                  <a:t> </a:t>
                </a:r>
                <a:endParaRPr lang="en-US" altLang="zh-CN" sz="1600" dirty="0" smtClean="0"/>
              </a:p>
              <a:p>
                <a:pPr marL="457200" lvl="1" indent="0">
                  <a:buNone/>
                </a:pPr>
                <a:r>
                  <a:rPr lang="zh-CN" altLang="en-US" sz="1600" dirty="0" smtClean="0"/>
                  <a:t>                                        ∴</a:t>
                </a:r>
                <a:endParaRPr lang="en-US" altLang="zh-CN" sz="1600" dirty="0" smtClean="0"/>
              </a:p>
              <a:p>
                <a:pPr marL="457200" lvl="1" indent="0">
                  <a:buNone/>
                </a:pPr>
                <a:endParaRPr lang="en-US" altLang="zh-CN" sz="1600" dirty="0" smtClean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marL="457200" lvl="1" indent="0">
                  <a:buNone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 smtClean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zh-CN" sz="1600" dirty="0" smtClean="0"/>
              </a:p>
              <a:p>
                <a:pPr marL="457200" lvl="1" indent="0">
                  <a:buNone/>
                </a:pP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r>
                  <a:rPr lang="zh-CN" altLang="en-US" sz="1600" dirty="0"/>
                  <a:t/>
                </a:r>
                <a:br>
                  <a:rPr lang="zh-CN" altLang="en-US" sz="1600" dirty="0"/>
                </a:br>
                <a:endParaRPr lang="en-US" altLang="zh-CN" sz="16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6"/>
                <a:stretch>
                  <a:fillRect l="-667" t="-1077" b="-153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9672" y="1239593"/>
            <a:ext cx="6562725" cy="135255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\begin{equation*}&#10;H(s)=\frac{p(s)}{(s+2)(s+4)}&#10;\end{equation*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214828"/>
            <a:ext cx="2407619" cy="598857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\begin{equation*}&#10;h(0^+)=\lim_{s \rightarrow \infty}sH(s)=\lim_{s \rightarrow \infty}\frac{s^2q(s)}{(s+2)(s+4)}=1&#10;\end{equatio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429" y="4869160"/>
            <a:ext cx="4041143" cy="494934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\begin{equation*}&#10;H(s)=\frac{s}{(s+2)(s+4)}&#10;\end{equation*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569" y="5908788"/>
            <a:ext cx="1926095" cy="41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59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</a:t>
            </a:r>
            <a:r>
              <a:rPr lang="zh-CN" altLang="en-US" dirty="0"/>
              <a:t>九</a:t>
            </a:r>
            <a:r>
              <a:rPr lang="en-US" altLang="zh-CN" sz="2000" dirty="0" smtClean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解答关键：时域乘积↔频域卷积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193117"/>
            <a:ext cx="5696347" cy="25827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81" y="4077072"/>
            <a:ext cx="6645944" cy="25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习题</a:t>
            </a:r>
            <a:r>
              <a:rPr lang="zh-CN" altLang="en-US" dirty="0"/>
              <a:t>九</a:t>
            </a:r>
            <a:r>
              <a:rPr lang="en-US" altLang="zh-CN" sz="2000" dirty="0" smtClean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题目：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解答关键：时域乘积↔频域卷积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193117"/>
            <a:ext cx="5696347" cy="25827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4221088"/>
            <a:ext cx="5112568" cy="227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2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 smtClean="0"/>
              <a:t>易错点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时域乘积：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傅里叶反变换：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能量</a:t>
            </a:r>
            <a:r>
              <a:rPr lang="zh-CN" altLang="en-US" sz="2000" dirty="0" smtClean="0"/>
              <a:t>定理：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连续</a:t>
            </a:r>
            <a:r>
              <a:rPr lang="zh-CN" altLang="en-US" sz="2000" dirty="0" smtClean="0"/>
              <a:t>时间傅里叶级数：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/>
            </a:r>
            <a:br>
              <a:rPr lang="zh-CN" altLang="en-US" sz="1600" dirty="0"/>
            </a:br>
            <a:endParaRPr lang="en-US" altLang="zh-CN" sz="16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 descr="\documentclass{article}&#10;\usepackage{amsmath}&#10;\pagestyle{empty}&#10;\begin{document}&#10;&#10;\begin{equation*}&#10;x_1(t)x_2(t)\ \leftrightarrow \ \frac{1}{2\pi}[X_1(jw)*X_2(jw)]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172924"/>
            <a:ext cx="3992381" cy="516571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\begin{equation*}&#10;x(t)=\frac{1}{2\pi}\int_{-\infty}^{+\infty}X(jw)e^{jwt}dw&#10;\end{equatio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902" y="2132944"/>
            <a:ext cx="3302095" cy="623238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\begin{equation*}&#10;\int_{-\infty}^{+\infty}|x(t)|^2dt \  \leftrightarrow  \ \frac{1}{2\pi} \int_{-\infty}^{+\infty}|X(jw)|^2dw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82" y="3304590"/>
            <a:ext cx="4463239" cy="623238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\begin{equation*}&#10;a_k=\frac{1}{T}\int_{&lt;T&gt;}X(t)e^{-jkw_0t}dt&#10;\end{equation*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361" y="4430855"/>
            <a:ext cx="3078095" cy="58971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06573" y="126876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第</a:t>
            </a:r>
            <a:r>
              <a:rPr lang="zh-CN" altLang="en-US" dirty="0"/>
              <a:t>九</a:t>
            </a:r>
            <a:r>
              <a:rPr lang="zh-CN" altLang="en-US" dirty="0" smtClean="0"/>
              <a:t>题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206571" y="225989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第</a:t>
            </a:r>
            <a:r>
              <a:rPr lang="zh-CN" altLang="en-US" dirty="0"/>
              <a:t>五</a:t>
            </a:r>
            <a:r>
              <a:rPr lang="zh-CN" altLang="en-US" dirty="0" smtClean="0"/>
              <a:t>题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206571" y="3459733"/>
            <a:ext cx="168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第六题（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）问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206570" y="4566513"/>
            <a:ext cx="168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第六题（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）问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067943" y="1172924"/>
            <a:ext cx="340005" cy="5727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11915" y="2132944"/>
            <a:ext cx="340005" cy="6397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407948" y="3304590"/>
            <a:ext cx="432049" cy="6284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283968" y="4371277"/>
            <a:ext cx="318854" cy="6284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3661546" y="5021502"/>
                <a:ext cx="3142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另：一般需单独讨论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400" dirty="0" smtClean="0"/>
                  <a:t>时的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1400" dirty="0" smtClean="0"/>
                  <a:t>值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546" y="5021502"/>
                <a:ext cx="3142075" cy="307777"/>
              </a:xfrm>
              <a:prstGeom prst="rect">
                <a:avLst/>
              </a:prstGeom>
              <a:blipFill>
                <a:blip r:embed="rId11"/>
                <a:stretch>
                  <a:fillRect l="-583" t="-8000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44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9532"/>
  <p:tag name="ORIGINALWIDTH" val="3529.809"/>
  <p:tag name="LATEXADDIN" val="\documentclass{article}&#10;\usepackage{amsmath}&#10;\pagestyle{empty}&#10;\begin{document}&#10;&#10;\begin{equation*}&#10;X(jw)=3Sa(\frac{1}{2}w)Sa(\frac{3}{2}w)e^{-jw}=&#10;\begin{cases}&#10;\frac{4sin(\frac{1}{2}w)sin(\frac{3}{2}w)}{w^2}e^{-jw},&amp;w\neq0\\&#10;3, &amp; w=0&#10;\end{cases}&#10;\end{equation*}&#10;&#10;\end{document}"/>
  <p:tag name="IGUANATEXSIZE" val="16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.2025"/>
  <p:tag name="ORIGINALWIDTH" val="4498.688"/>
  <p:tag name="LATEXADDIN" val="\documentclass{article}&#10;\usepackage{amsmath}&#10;\pagestyle{empty}&#10;\begin{document}&#10;&#10;\begin{equation*}&#10;a_k=\frac{1}{T}X(jw)|_{w=\frac{\pi}{2}k}=\frac{3}{4}Sa(\frac{\pi}{4}k)Sa(\frac{3\pi}{4}k)e^{-j\frac{\pi}{2}k}=&#10;\begin{cases}&#10;\frac{4sin(\frac{\pi}{4}k)sin(\frac{3\pi}{4}k)}{(\pi k)^2}e^{-j\frac{\pi}{2}k},&amp;w\neq0\\&#10;\frac{3}{4}, &amp; w=0&#10;\end{cases}&#10;\end{equation*}&#10;&#10;\end{document}"/>
  <p:tag name="IGUANATEXSIZE" val="20"/>
  <p:tag name="IGUANATEXCURSOR" val="3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261.342"/>
  <p:tag name="LATEXADDIN" val="\documentclass{article}&#10;\usepackage{amsmath}&#10;\pagestyle{empty}&#10;\begin{document}&#10;&#10;\begin{equation*}&#10;Sa(x)=\begin{cases}\frac{sinx}{x}, &amp; x \neq 0\\1, &amp; x = 0\end{cases}&#10;\end{equation*}&#10;&#10;&#10;\end{document}"/>
  <p:tag name="IGUANATEXSIZE" val="16"/>
  <p:tag name="IGUANATEXCURSOR" val="1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2306"/>
  <p:tag name="ORIGINALWIDTH" val="2476.19"/>
  <p:tag name="LATEXADDIN" val="\documentclass{article}&#10;\usepackage{amsmath}&#10;\pagestyle{empty}&#10;\begin{document}&#10;&#10;&#10;$x(t) = a_0 + \sum_{k=1}^{+\infty}[c_kcos(kw_0t)+d_ksin(kw_0t)]$&#10;&#10;\end{document}"/>
  <p:tag name="IGUANATEXSIZE" val="20"/>
  <p:tag name="IGUANATEXCURSOR" val="9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2854.143"/>
  <p:tag name="LATEXADDIN" val="\documentclass{article}&#10;\usepackage{amsmath}&#10;\pagestyle{empty}&#10;\begin{document}&#10;&#10;\begin{equation*}&#10;\begin{split}&#10;2Re\{a_ke^{jkw_0t}\}&amp;=(c_k-jd_k)(cos(kw_0t)+jsin(kw_0t))\\&amp;=c_kcos(kw_0t)+d_ksin(kw_0t)&#10;\end{split}&#10;\end{equation*}&#10;&#10;\end{document}"/>
  <p:tag name="IGUANATEXSIZE" val="20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.4346"/>
  <p:tag name="ORIGINALWIDTH" val="860.1425"/>
  <p:tag name="LATEXADDIN" val="\documentclass{article}&#10;\usepackage{amsmath}&#10;\pagestyle{empty}&#10;\begin{document}&#10;&#10;\begin{equation*}&#10;\begin{cases}c_0=a_0 \\c_k=2Re\{a_k\} \\d_k=2Im\{a_k\} \end{cases}&#10;\end{equation*}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953.8808"/>
  <p:tag name="LATEXADDIN" val="\documentclass{article}&#10;\usepackage{amsmath}&#10;\pagestyle{empty}&#10;\begin{document}&#10;&#10;$ ( not \ a_k=A_ke^{j\theta_k} )$&#10;&#10;&#10;\end{document}"/>
  <p:tag name="IGUANATEXSIZE" val="15"/>
  <p:tag name="IGUANATEXCURSOR" val="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958"/>
  <p:tag name="ORIGINALWIDTH" val="3011.624"/>
  <p:tag name="LATEXADDIN" val="\documentclass{article}&#10;\usepackage{amsmath}&#10;\pagestyle{empty}&#10;\begin{document}&#10;&#10;\begin{equation*}&#10;H(jw)= \frac{jw+1}{(jw)^2+jw+1}=\frac{a}{jw+\frac{1+\sqrt{3}j}{2}}+\frac{b}{jw+\frac{1-\sqrt{3}j}{2}}&#10;\end{equation*}&#10;&#10;\end{document}"/>
  <p:tag name="IGUANATEXSIZE" val="20"/>
  <p:tag name="IGUANATEXCURSOR" val="2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4.1395"/>
  <p:tag name="ORIGINALWIDTH" val="2199.475"/>
  <p:tag name="LATEXADDIN" val="\documentclass{article}&#10;\usepackage{amsmath}&#10;\pagestyle{empty}&#10;\begin{document}&#10;&#10;\begin{equation*}&#10;\begin{split}&#10;&amp;Let \ (jw)^2+jw+1=(jw+1)^2+\frac{3}{4}=0\\&#10;&amp;then \ (jw+1)^2=-\frac{3}{4}\\&#10;&amp;so \ jw=\frac{-1\pm\sqrt{3}}{2}&#10;\end{split}&#10;\end{equation*}&#10;&#10;\end{document}"/>
  <p:tag name="IGUANATEXSIZE" val="20"/>
  <p:tag name="IGUANATEXCURSOR" val="2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8.2152"/>
  <p:tag name="ORIGINALWIDTH" val="3124.859"/>
  <p:tag name="LATEXADDIN" val="\documentclass{article}&#10;\usepackage{amsmath}&#10;\pagestyle{empty}&#10;\begin{document}&#10;&#10;\begin{equation*}&#10;G(jw)=H(jw)(\frac{1}{jw}+\pi\delta(w))=H(jw)\frac{1}{jw}+H(j0)\pi\delta(w)&#10;\end{equation*}&#10;&#10;\end{document}"/>
  <p:tag name="IGUANATEXSIZE" val="16"/>
  <p:tag name="IGUANATEXCURSOR" val="17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9.4075"/>
  <p:tag name="ORIGINALWIDTH" val="4213.723"/>
  <p:tag name="LATEXADDIN" val="\documentclass{article}&#10;\usepackage{amsmath}&#10;\pagestyle{empty}&#10;\begin{document}&#10;&#10;\begin{equation*}&#10;\begin{split}&#10;&amp;H(jw)= \frac{jw+1}{(jw)^2+jw+1}=\frac{jw+\frac{1}{2}}{(jw+\frac{1}{2})^2+(\frac{\sqrt3}{2})^2}+\frac{1}{\sqrt{3}}\frac{\frac{\sqrt{3}}{2}}{(jw+\frac{1}{2})^2+(\frac{\sqrt3}{2})^2}&#10;\\&amp;h(t)=e^{-\frac{1}{2}t}cos(\frac{\sqrt{3}}{2}t)u(t)+\frac{1}{\sqrt{3}}e^{-\frac{1}{2}t}sin(\frac{\sqrt{3}}{2}t)u(t)&#10;=e^{-\frac{1}{2}t}u(t)\frac{2}{\sqrt{3}}cos(\frac{\sqrt{3}}{2}-\frac{\pi}{6})&#10;\end{split}&#10;\end{equation*}&#10;&#10;\end{document}"/>
  <p:tag name="IGUANATEXSIZE" val="16"/>
  <p:tag name="IGUANATEXCURSOR" val="41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9.4075"/>
  <p:tag name="ORIGINALWIDTH" val="3845.519"/>
  <p:tag name="LATEXADDIN" val="\documentclass{article}&#10;\usepackage{amsmath}&#10;\pagestyle{empty}&#10;\begin{document}&#10;&#10;&#10;\begin{equation*}&#10;\begin{split}&#10;&amp;G(jw)=\frac{1}{jw}+\pi\delta(w)-\{\frac{jw+\frac{1}{2}}{(jw+\frac{1}{2})^2+(\frac{\sqrt3}{2})^2}-\frac{1}{\sqrt{3}}\frac{\frac{\sqrt{3}}{2}}{(jw+\frac{1}{2})^2+(\frac{\sqrt3}{2})^2}\}&#10;\\&amp;g(t)=u(t)[1-e^{-\frac{1}{2}t}\frac{2}{\sqrt{3}}cos(\frac{\sqrt{3}}{2}-\frac{\pi}{6})]&#10;\end{split}&#10;\end{equation*}&#10;&#10;&#10;\end{document}"/>
  <p:tag name="IGUANATEXSIZE" val="20"/>
  <p:tag name="IGUANATEXCURSOR" val="39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6.183"/>
  <p:tag name="ORIGINALWIDTH" val="1966.254"/>
  <p:tag name="LATEXADDIN" val="\documentclass{article}&#10;\usepackage{amsmath}&#10;\pagestyle{empty}&#10;\begin{document}&#10;&#10;\begin{equation*}&#10;\begin{cases}&#10;R_1=1,R_2=1\\&#10;C_1=\frac{2}{s},C_2=\frac{3}{s}\\&#10;Y(s)=X(s)\frac{C_1//(R_2+c_2)}{R_1+[C_1//(R_2+c_2)]}\frac{C_2}{R_2+c_2}&#10;\end{cases}&#10;\end{equation*}&#10;&#10;&#10;\end{document}"/>
  <p:tag name="IGUANATEXSIZE" val="16"/>
  <p:tag name="IGUANATEXCURSOR" val="2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4417.698"/>
  <p:tag name="LATEXADDIN" val="\documentclass{article}&#10;\usepackage{amsmath}&#10;\pagestyle{empty}&#10;\begin{document}&#10;&#10;\begin{equation*}&#10;\frac{C_1//(R_2+c_2)}{R_1+[C_1//(R_2+c_2)]}\frac{C_2}{R_2+c_2}=\frac{C_1C_2}{(C_1+R_2+C_2)R_1+C_1(R_2+C_2)}=\frac{6}{s^2+7s+6}&#10;\end{equation*}&#10;&#10;&#10;\end{document}"/>
  <p:tag name="IGUANATEXSIZE" val="24"/>
  <p:tag name="IGUANATEXCURSOR" val="2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9644"/>
  <p:tag name="ORIGINALWIDTH" val="1718.785"/>
  <p:tag name="LATEXADDIN" val="\documentclass{article}&#10;\usepackage{amsmath}&#10;\pagestyle{empty}&#10;\begin{document}&#10;&#10;\begin{equation*}&#10;\frac{\text{d}^2y(t)}{\text{d}t^2}+7\frac{\text{d}y(t)}{\text{d}t}+6y(t)=6x(t)&#10;\end{equation*}&#10;&#10;&#10;\end{document}"/>
  <p:tag name="IGUANATEXSIZE" val="20"/>
  <p:tag name="IGUANATEXCURSOR" val="17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.7338"/>
  <p:tag name="ORIGINALWIDTH" val="1620.547"/>
  <p:tag name="LATEXADDIN" val="\documentclass{article}&#10;\usepackage{amsmath}&#10;\pagestyle{empty}&#10;\begin{document}&#10;&#10;\begin{equation*}&#10;y_p(t)=B_1cos(3t)+B_2sin(3t)&#10;\end{equation*}&#10;&#10;&#10;\end{document}"/>
  <p:tag name="IGUANATEXSIZE" val="20"/>
  <p:tag name="IGUANATEXCURSOR" val="12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612.6734"/>
  <p:tag name="LATEXADDIN" val="\documentclass{article}&#10;\usepackage{amsmath}&#10;\pagestyle{empty}&#10;\begin{document}&#10;&#10;\begin{equation*}&#10;y_p'(t),\  y_p''(t)&#10;\end{equation*}&#10;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561.6797"/>
  <p:tag name="LATEXADDIN" val="\documentclass{article}&#10;\usepackage{amsmath}&#10;\pagestyle{empty}&#10;\begin{document}&#10;&#10;\begin{equation*}&#10;\begin{cases}B_1=-\frac{2}{5}\\ B_2=\frac{14}{5} \end{cases}&#10;\end{equation*}&#10;&#10;&#10;\end{document}"/>
  <p:tag name="IGUANATEXSIZE" val="18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.4833"/>
  <p:tag name="ORIGINALWIDTH" val="1936.258"/>
  <p:tag name="LATEXADDIN" val="\documentclass{article}&#10;\usepackage{amsmath}&#10;\pagestyle{empty}&#10;\begin{document}&#10;&#10;\begin{equation*}&#10;\alpha^2+7\alpha+6=0,\ \alpha_1=-1,\alpha_2=-6&#10;\end{equation*}&#10;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279.34"/>
  <p:tag name="LATEXADDIN" val="\documentclass{article}&#10;\usepackage{amsmath}&#10;\pagestyle{empty}&#10;\begin{document}&#10;&#10;\begin{equation*}&#10;y_h(t)=A_1e^{-t}+A_2e^{-6t}&#10;\end{equation*}&#10;&#10;&#10;\end{document}"/>
  <p:tag name="IGUANATEXSIZE" val="20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97.6"/>
  <p:tag name="LATEXADDIN" val="\documentclass{article}&#10;\usepackage{amsmath}&#10;\pagestyle{empty}&#10;\begin{document}&#10;&#10;\begin{equation*}&#10;\begin{cases}A_1+A_2-\frac{2}{5}=20\\ -A_1-6A_2+\frac{42}{5}=0  \end{cases}&#10;\end{equation*}&#10;&#10;&#10;\end{document}"/>
  <p:tag name="IGUANATEXSIZE" val="16"/>
  <p:tag name="IGUANATEXCURSOR" val="1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609.6738"/>
  <p:tag name="LATEXADDIN" val="\documentclass{article}&#10;\usepackage{amsmath}&#10;\pagestyle{empty}&#10;\begin{document}&#10;&#10;\begin{equation*}&#10;\begin{cases}A_1=\frac{114}{5}\\ A_2=-\frac{12}{5}  \end{cases}&#10;\end{equation*}&#10;&#10;&#10;\end{document}"/>
  <p:tag name="IGUANATEXSIZE" val="20"/>
  <p:tag name="IGUANATEXCURSOR" val="17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1358.08"/>
  <p:tag name="LATEXADDIN" val="\documentclass{article}&#10;\usepackage{amsmath}&#10;\pagestyle{empty}&#10;\begin{document}&#10;&#10;$y_c=y_h=k_1e^{-t}+k_2e^{-6t}$&#10;&#10;&#10;\end{document}"/>
  <p:tag name="IGUANATEXSIZE" val="16"/>
  <p:tag name="IGUANATEXCURSOR" val="1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59.3926"/>
  <p:tag name="LATEXADDIN" val="\documentclass{article}&#10;\usepackage{amsmath}&#10;\pagestyle{empty}&#10;\begin{document}&#10;&#10;\begin{equation*}&#10;\begin{cases}-k_1-6k_2=0\\ k_1+k_2=20  \end{cases}&#10;\end{equation*}&#10;&#10;\end{document}"/>
  <p:tag name="IGUANATEXSIZE" val="12"/>
  <p:tag name="IGUANATEXCURSOR" val="16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525.6843"/>
  <p:tag name="LATEXADDIN" val="\documentclass{article}&#10;\usepackage{amsmath}&#10;\pagestyle{empty}&#10;\begin{document}&#10;&#10;\begin{equation*}&#10;\begin{cases}k_1=24\\ k_2=-4  \end{cases}&#10;\end{equation*}&#10;&#10;&#10;\end{document}"/>
  <p:tag name="IGUANATEXSIZE" val="20"/>
  <p:tag name="IGUANATEXCURSOR" val="15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1089.614"/>
  <p:tag name="LATEXADDIN" val="\documentclass{article}&#10;\usepackage{amsmath}&#10;\pagestyle{empty}&#10;\begin{document}&#10;&#10;$y_{zi}=24e^{-t}-4e^{-6t},$&#10;&#10;&#10;\end{document}"/>
  <p:tag name="IGUANATEXSIZE" val="16"/>
  <p:tag name="IGUANATEXCURSOR" val="10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59.355"/>
  <p:tag name="LATEXADDIN" val="\documentclass{article}&#10;\usepackage{amsmath}&#10;\pagestyle{empty}&#10;\begin{document}&#10;&#10;$y_{zs}(t)=y_c(t)-y_{zi}(t)$&#10;&#10;&#10;\end{document}"/>
  <p:tag name="IGUANATEXSIZE" val="16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111"/>
  <p:tag name="ORIGINALWIDTH" val="4871.391"/>
  <p:tag name="LATEXADDIN" val="\documentclass{article}&#10;\usepackage{amsmath}&#10;\pagestyle{empty}&#10;\begin{document}&#10;&#10;\begin{equation*}&#10;F_1(jw)=\int_{-\infty}^{\infty}f_1(t)e^{jwt}dt=2\int_{0}^{2}f_1(t)cos(wt)dt=\frac{1}{w^2}(1-cos(2w)) , \ which \geq0 \ for \ any \ w &#10;\end{equation*}&#10;&#10;&#10;\end{document}"/>
  <p:tag name="IGUANATEXSIZE" val="12"/>
  <p:tag name="IGUANATEXCURSOR" val="24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313.086"/>
  <p:tag name="LATEXADDIN" val="\documentclass{article}&#10;\usepackage{amsmath}&#10;\pagestyle{empty}&#10;\begin{document}&#10;&#10;$F(j0)=\int_{-\infty}^{+\infty}f(t)dt=4 $&#10;&#10;&#10;\end{document}"/>
  <p:tag name="IGUANATEXSIZE" val="16"/>
  <p:tag name="IGUANATEXCURSOR" val="12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707.536"/>
  <p:tag name="LATEXADDIN" val="\documentclass{article}&#10;\usepackage{amsmath}&#10;\pagestyle{empty}&#10;\begin{document}&#10;&#10;$\int_{-\infty}^{+\infty}F(jw)dw=2\pi \cdot f(0)=2\pi$&#10;&#10;&#10;\end{document}"/>
  <p:tag name="IGUANATEXSIZE" val="16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18.86"/>
  <p:tag name="LATEXADDIN" val="\documentclass{article}&#10;\usepackage{amsmath}&#10;\pagestyle{empty}&#10;\begin{document}&#10;&#10;\begin{equation*}&#10;X_e(t)\leftrightarrow Re\{X(jw)\}&#10;\end{equation*}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99.85"/>
  <p:tag name="LATEXADDIN" val="\documentclass{article}&#10;\usepackage{amsmath}&#10;\pagestyle{empty}&#10;\begin{document}&#10;&#10;\begin{equation*}&#10;X_o(t)\leftrightarrow jIm\{X(jw)\}&#10;\end{equation*}&#10;&#10;&#10;\end{document}"/>
  <p:tag name="IGUANATEXSIZE" val="20"/>
  <p:tag name="IGUANATEXCURSOR" val="9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3474.316"/>
  <p:tag name="LATEXADDIN" val="\documentclass{article}&#10;\usepackage{amsmath}&#10;\pagestyle{empty}&#10;\begin{document}&#10;&#10;\begin{equation*}&#10;\int_{-\infty}^{+\infty}|X(jw)|^2dw=2\pi\cdot \int_{-\infty}^{+\infty}|x(t)|^2dt=2\pi(\frac{1}{3}+2+\frac{1}{3})=\frac{16}{3}\pi&#10;\end{equation*}&#10;&#10;&#10;\end{document}"/>
  <p:tag name="IGUANATEXSIZE" val="16"/>
  <p:tag name="IGUANATEXCURSOR" val="2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8.1664"/>
  <p:tag name="ORIGINALWIDTH" val="1739.782"/>
  <p:tag name="LATEXADDIN" val="\documentclass{article}&#10;\usepackage{amsmath}&#10;\pagestyle{empty}&#10;\begin{document}&#10;&#10;\begin{equation*}&#10;\begin{split}&#10;&amp;a_k=\frac{1}{T}X(jw)|_{w=kw_0},\\&#10;&amp;Y(jw)=2\pi\sum_{n=-\infty}^{+\infty}a_k\delta(w-nw_0)&#10;\end{split}&#10;\end{equation*}&#10;&#10;&#10;\end{document}"/>
  <p:tag name="IGUANATEXSIZE" val="12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88.189"/>
  <p:tag name="LATEXADDIN" val="\documentclass{article}&#10;\usepackage{amsmath}&#10;\pagestyle{empty}&#10;\begin{document}&#10;&#10;$Re\{s\}&gt;-1,\ Re\{s\}&lt;-3, \ -3&lt;Re\{s\}&lt;-1$&#10;&#10;&#10;\end{document}"/>
  <p:tag name="IGUANATEXSIZE" val="16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184.852"/>
  <p:tag name="LATEXADDIN" val="\documentclass{article}&#10;\usepackage{amsmath}&#10;\pagestyle{empty}&#10;\begin{document}&#10;&#10;\begin{equation*}&#10;H(s)=\frac{p(s)}{(s+2)(s+4)}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462"/>
  <p:tag name="ORIGINALWIDTH" val="2485.939"/>
  <p:tag name="LATEXADDIN" val="\documentclass{article}&#10;\usepackage{amsmath}&#10;\pagestyle{empty}&#10;\begin{document}&#10;&#10;\begin{equation*}&#10;h(0^+)=\lim_{s \rightarrow \infty}sH(s)=\lim_{s \rightarrow \infty}\frac{s^2q(s)}{(s+2)(s+4)}=1&#10;\end{equation*}&#10;&#10;&#10;\end{document}"/>
  <p:tag name="IGUANATEXSIZE" val="16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718"/>
  <p:tag name="ORIGINALWIDTH" val="1184.852"/>
  <p:tag name="LATEXADDIN" val="\documentclass{article}&#10;\usepackage{amsmath}&#10;\pagestyle{empty}&#10;\begin{document}&#10;&#10;\begin{equation*}&#10;H(s)=\frac{s}{(s+2)(s+4)}&#10;\end{equation*}&#10;&#10;\end{document}"/>
  <p:tag name="IGUANATEXSIZE" val="16"/>
  <p:tag name="IGUANATEXCURSOR" val="11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1964.754"/>
  <p:tag name="LATEXADDIN" val="\documentclass{article}&#10;\usepackage{amsmath}&#10;\pagestyle{empty}&#10;\begin{document}&#10;&#10;\begin{equation*}&#10;x_1(t)x_2(t)\ \leftrightarrow \ \frac{1}{2\pi}[X_1(jw)*X_2(jw)]&#10;\end{equation*}&#10;&#10;&#10;\end{document}"/>
  <p:tag name="IGUANATEXSIZE" val="20"/>
  <p:tag name="IGUANATEXCURSOR" val="17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1625.047"/>
  <p:tag name="LATEXADDIN" val="\documentclass{article}&#10;\usepackage{amsmath}&#10;\pagestyle{empty}&#10;\begin{document}&#10;&#10;\begin{equation*}&#10;x(t)=\frac{1}{2\pi}\int_{-\infty}^{+\infty}X(jw)e^{jwt}dw&#10;\end{equation*}&#10;&#10;\end{document}"/>
  <p:tag name="IGUANATEXSIZE" val="20"/>
  <p:tag name="IGUANATEXCURSOR" val="17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2196.475"/>
  <p:tag name="LATEXADDIN" val="\documentclass{article}&#10;\usepackage{amsmath}&#10;\pagestyle{empty}&#10;\begin{document}&#10;&#10;\begin{equation*}&#10;\int_{-\infty}^{+\infty}|x(t)|^2dt \  \leftrightarrow  \ \frac{1}{2\pi} \int_{-\infty}^{+\infty}|X(jw)|^2dw&#10;\end{equation*}&#10;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0.2137"/>
  <p:tag name="ORIGINALWIDTH" val="1514.811"/>
  <p:tag name="LATEXADDIN" val="\documentclass{article}&#10;\usepackage{amsmath}&#10;\pagestyle{empty}&#10;\begin{document}&#10;&#10;\begin{equation*}&#10;a_k=\frac{1}{T}\int_{&lt;T&gt;}X(t)e^{-jkw_0t}dt&#10;\end{equation*}&#10;&#10;&#10;\end{document}"/>
  <p:tag name="IGUANATEXSIZE" val="20"/>
  <p:tag name="IGUANATEXCURSOR" val="15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习题课答案ppt版" id="{D0880BA9-6E6D-4EFA-A7A8-3DCA28F807ED}" vid="{80E1D3A1-5A12-4C95-B5AD-39674301412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习题课模板</Template>
  <TotalTime>1697</TotalTime>
  <Words>1130</Words>
  <Application>Microsoft Office PowerPoint</Application>
  <PresentationFormat>全屏显示(4:3)</PresentationFormat>
  <Paragraphs>417</Paragraphs>
  <Slides>19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宋体</vt:lpstr>
      <vt:lpstr>Arial</vt:lpstr>
      <vt:lpstr>Calibri</vt:lpstr>
      <vt:lpstr>Cambria Math</vt:lpstr>
      <vt:lpstr>Wingdings</vt:lpstr>
      <vt:lpstr>Office 主题</vt:lpstr>
      <vt:lpstr>期中习题课解答</vt:lpstr>
      <vt:lpstr>习题答案纠正</vt:lpstr>
      <vt:lpstr>习题一-判断题</vt:lpstr>
      <vt:lpstr>习题二</vt:lpstr>
      <vt:lpstr>习题三-(1)</vt:lpstr>
      <vt:lpstr>习题三-(2)</vt:lpstr>
      <vt:lpstr>习题四-(1)</vt:lpstr>
      <vt:lpstr>习题四-(2)</vt:lpstr>
      <vt:lpstr>习题四-(3)</vt:lpstr>
      <vt:lpstr>习题四-(4)</vt:lpstr>
      <vt:lpstr>习题四-(5)</vt:lpstr>
      <vt:lpstr>习题五-(1)</vt:lpstr>
      <vt:lpstr>习题五-(2)</vt:lpstr>
      <vt:lpstr>习题六-(1)</vt:lpstr>
      <vt:lpstr>习题七-(1)</vt:lpstr>
      <vt:lpstr>习题八-(1)</vt:lpstr>
      <vt:lpstr>习题九-(1)</vt:lpstr>
      <vt:lpstr>习题九-(2)</vt:lpstr>
      <vt:lpstr>易错点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期末习题课解答</dc:title>
  <dc:creator>Administrator</dc:creator>
  <cp:lastModifiedBy>Administrator</cp:lastModifiedBy>
  <cp:revision>63</cp:revision>
  <dcterms:created xsi:type="dcterms:W3CDTF">2020-11-11T03:27:32Z</dcterms:created>
  <dcterms:modified xsi:type="dcterms:W3CDTF">2020-11-13T14:45:08Z</dcterms:modified>
</cp:coreProperties>
</file>