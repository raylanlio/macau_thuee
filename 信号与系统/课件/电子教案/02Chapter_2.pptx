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18" r:id="rId2"/>
    <p:sldId id="256" r:id="rId3"/>
    <p:sldId id="287" r:id="rId4"/>
    <p:sldId id="289" r:id="rId5"/>
    <p:sldId id="288" r:id="rId6"/>
    <p:sldId id="290" r:id="rId7"/>
    <p:sldId id="291" r:id="rId8"/>
    <p:sldId id="292" r:id="rId9"/>
    <p:sldId id="293" r:id="rId10"/>
    <p:sldId id="294" r:id="rId11"/>
    <p:sldId id="295" r:id="rId12"/>
    <p:sldId id="297" r:id="rId13"/>
    <p:sldId id="298" r:id="rId14"/>
    <p:sldId id="299" r:id="rId15"/>
    <p:sldId id="300" r:id="rId16"/>
    <p:sldId id="301" r:id="rId17"/>
    <p:sldId id="302" r:id="rId18"/>
    <p:sldId id="304" r:id="rId19"/>
    <p:sldId id="303" r:id="rId20"/>
    <p:sldId id="305" r:id="rId21"/>
    <p:sldId id="306" r:id="rId22"/>
    <p:sldId id="308" r:id="rId23"/>
    <p:sldId id="307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286" r:id="rId3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81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8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33.wmf"/><Relationship Id="rId7" Type="http://schemas.openxmlformats.org/officeDocument/2006/relationships/image" Target="../media/image48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10" Type="http://schemas.openxmlformats.org/officeDocument/2006/relationships/image" Target="../media/image5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4" Type="http://schemas.openxmlformats.org/officeDocument/2006/relationships/image" Target="../media/image7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98.wmf"/><Relationship Id="rId4" Type="http://schemas.openxmlformats.org/officeDocument/2006/relationships/image" Target="../media/image10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721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7.bin"/><Relationship Id="rId5" Type="http://schemas.openxmlformats.org/officeDocument/2006/relationships/image" Target="../media/image13.emf"/><Relationship Id="rId10" Type="http://schemas.openxmlformats.org/officeDocument/2006/relationships/image" Target="../media/image9.w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18.bin"/><Relationship Id="rId7" Type="http://schemas.openxmlformats.org/officeDocument/2006/relationships/image" Target="../media/image40.emf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38.emf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33.wmf"/><Relationship Id="rId19" Type="http://schemas.openxmlformats.org/officeDocument/2006/relationships/image" Target="../media/image42.e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3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24.bin"/><Relationship Id="rId21" Type="http://schemas.openxmlformats.org/officeDocument/2006/relationships/oleObject" Target="../embeddings/oleObject33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5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9.wmf"/><Relationship Id="rId9" Type="http://schemas.openxmlformats.org/officeDocument/2006/relationships/image" Target="../media/image6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40.bin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66.emf"/><Relationship Id="rId4" Type="http://schemas.openxmlformats.org/officeDocument/2006/relationships/image" Target="../media/image63.wmf"/><Relationship Id="rId9" Type="http://schemas.openxmlformats.org/officeDocument/2006/relationships/image" Target="../media/image6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4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5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5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oleObject" Target="../embeddings/oleObject57.bin"/><Relationship Id="rId7" Type="http://schemas.openxmlformats.org/officeDocument/2006/relationships/image" Target="../media/image81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8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8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6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7" Type="http://schemas.openxmlformats.org/officeDocument/2006/relationships/image" Target="../media/image94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9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7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100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9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1.wmf"/><Relationship Id="rId11" Type="http://schemas.openxmlformats.org/officeDocument/2006/relationships/image" Target="../media/image103.wmf"/><Relationship Id="rId5" Type="http://schemas.openxmlformats.org/officeDocument/2006/relationships/oleObject" Target="../embeddings/oleObject70.bin"/><Relationship Id="rId10" Type="http://schemas.openxmlformats.org/officeDocument/2006/relationships/oleObject" Target="../embeddings/oleObject72.bin"/><Relationship Id="rId4" Type="http://schemas.openxmlformats.org/officeDocument/2006/relationships/image" Target="../media/image98.wmf"/><Relationship Id="rId9" Type="http://schemas.openxmlformats.org/officeDocument/2006/relationships/image" Target="../media/image104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105.wmf"/><Relationship Id="rId9" Type="http://schemas.openxmlformats.org/officeDocument/2006/relationships/image" Target="../media/image10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10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17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11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image" Target="../media/image123.png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88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9952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Chapter 2</a:t>
            </a:r>
            <a:br>
              <a:rPr lang="en-US" altLang="zh-CN" dirty="0" smtClean="0"/>
            </a:br>
            <a:r>
              <a:rPr lang="en-US" altLang="zh-CN" dirty="0" smtClean="0"/>
              <a:t>LTI Systems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Convolution Sum</a:t>
            </a:r>
          </a:p>
          <a:p>
            <a:r>
              <a:rPr lang="en-US" dirty="0" smtClean="0"/>
              <a:t>Convolution Integral</a:t>
            </a:r>
          </a:p>
          <a:p>
            <a:r>
              <a:rPr lang="en-US" dirty="0" smtClean="0"/>
              <a:t>Properties of LTI Systems</a:t>
            </a:r>
          </a:p>
          <a:p>
            <a:r>
              <a:rPr lang="en-US" dirty="0" smtClean="0"/>
              <a:t>Differential and Difference Equations</a:t>
            </a:r>
          </a:p>
          <a:p>
            <a:r>
              <a:rPr lang="en-US" dirty="0" smtClean="0"/>
              <a:t>Singularity Functions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Recall: Superposition, Unit Sample</a:t>
            </a:r>
            <a:endParaRPr lang="en-US" sz="2800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Superposition property </a:t>
            </a:r>
            <a:r>
              <a:rPr lang="en-US" altLang="zh-CN" dirty="0"/>
              <a:t>= additivity property + scaling/homogeneity </a:t>
            </a:r>
            <a:r>
              <a:rPr lang="en-US" altLang="zh-CN" dirty="0" smtClean="0"/>
              <a:t>property</a:t>
            </a: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dirty="0"/>
              <a:t>Sampling </a:t>
            </a:r>
            <a:r>
              <a:rPr lang="en-US" dirty="0" smtClean="0"/>
              <a:t>property </a:t>
            </a:r>
            <a:r>
              <a:rPr lang="en-US" dirty="0"/>
              <a:t>of u</a:t>
            </a:r>
            <a:r>
              <a:rPr lang="en-US" dirty="0" smtClean="0"/>
              <a:t>nit impulse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126639"/>
              </p:ext>
            </p:extLst>
          </p:nvPr>
        </p:nvGraphicFramePr>
        <p:xfrm>
          <a:off x="4879975" y="4360863"/>
          <a:ext cx="21478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1" name="公式" r:id="rId3" imgW="1193760" imgH="203040" progId="Equation.3">
                  <p:embed/>
                </p:oleObj>
              </mc:Choice>
              <mc:Fallback>
                <p:oleObj name="公式" r:id="rId3" imgW="1193760" imgH="20304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4360863"/>
                        <a:ext cx="2147888" cy="36671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322116"/>
              </p:ext>
            </p:extLst>
          </p:nvPr>
        </p:nvGraphicFramePr>
        <p:xfrm>
          <a:off x="4902200" y="4940300"/>
          <a:ext cx="30400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2" name="公式" r:id="rId5" imgW="1688760" imgH="228600" progId="Equation.3">
                  <p:embed/>
                </p:oleObj>
              </mc:Choice>
              <mc:Fallback>
                <p:oleObj name="公式" r:id="rId5" imgW="1688760" imgH="2286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4940300"/>
                        <a:ext cx="3040063" cy="4111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607600"/>
              </p:ext>
            </p:extLst>
          </p:nvPr>
        </p:nvGraphicFramePr>
        <p:xfrm>
          <a:off x="1036638" y="4360863"/>
          <a:ext cx="219551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3" name="公式" r:id="rId7" imgW="1218960" imgH="203040" progId="Equation.3">
                  <p:embed/>
                </p:oleObj>
              </mc:Choice>
              <mc:Fallback>
                <p:oleObj name="公式" r:id="rId7" imgW="1218960" imgH="20304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4360863"/>
                        <a:ext cx="2195512" cy="36512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156338"/>
              </p:ext>
            </p:extLst>
          </p:nvPr>
        </p:nvGraphicFramePr>
        <p:xfrm>
          <a:off x="1047750" y="4940300"/>
          <a:ext cx="32702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4" name="公式" r:id="rId9" imgW="1815840" imgH="228600" progId="Equation.3">
                  <p:embed/>
                </p:oleObj>
              </mc:Choice>
              <mc:Fallback>
                <p:oleObj name="公式" r:id="rId9" imgW="1815840" imgH="22860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4940300"/>
                        <a:ext cx="3270250" cy="4111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193096"/>
              </p:ext>
            </p:extLst>
          </p:nvPr>
        </p:nvGraphicFramePr>
        <p:xfrm>
          <a:off x="1093788" y="2400300"/>
          <a:ext cx="54641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5" name="公式" r:id="rId11" imgW="3035160" imgH="482400" progId="Equation.3">
                  <p:embed/>
                </p:oleObj>
              </mc:Choice>
              <mc:Fallback>
                <p:oleObj name="公式" r:id="rId11" imgW="3035160" imgH="48240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2400300"/>
                        <a:ext cx="5464175" cy="8683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4735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§2.1 Convolution Sum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Sifting property </a:t>
            </a:r>
            <a:r>
              <a:rPr lang="en-US" dirty="0" smtClean="0"/>
              <a:t>of discrete-time unit impulse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§2.1 Convolution Sum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17" y="1630803"/>
            <a:ext cx="3483810" cy="13577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794" y="1790907"/>
            <a:ext cx="3483810" cy="82769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794" y="2701589"/>
            <a:ext cx="3483810" cy="82769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794" y="3740479"/>
            <a:ext cx="3483810" cy="8928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224" y="4578250"/>
            <a:ext cx="3483810" cy="11997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794" y="5631971"/>
            <a:ext cx="3483810" cy="827699"/>
          </a:xfrm>
          <a:prstGeom prst="rect">
            <a:avLst/>
          </a:prstGeom>
        </p:spPr>
      </p:pic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124605"/>
              </p:ext>
            </p:extLst>
          </p:nvPr>
        </p:nvGraphicFramePr>
        <p:xfrm>
          <a:off x="730118" y="3007971"/>
          <a:ext cx="2767013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" name="公式" r:id="rId9" imgW="1384200" imgH="431640" progId="Equation.3">
                  <p:embed/>
                </p:oleObj>
              </mc:Choice>
              <mc:Fallback>
                <p:oleObj name="公式" r:id="rId9" imgW="138420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118" y="3007971"/>
                        <a:ext cx="2767013" cy="86201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591137"/>
              </p:ext>
            </p:extLst>
          </p:nvPr>
        </p:nvGraphicFramePr>
        <p:xfrm>
          <a:off x="730118" y="4770734"/>
          <a:ext cx="2208213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" name="公式" r:id="rId11" imgW="1104840" imgH="431640" progId="Equation.3">
                  <p:embed/>
                </p:oleObj>
              </mc:Choice>
              <mc:Fallback>
                <p:oleObj name="公式" r:id="rId11" imgW="110484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118" y="4770734"/>
                        <a:ext cx="2208213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628650" y="3889353"/>
            <a:ext cx="3551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 of scaled versions of a set of elementary functions 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92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Impulse Response (DT)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For a linear system, input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], output </a:t>
            </a:r>
            <a:r>
              <a:rPr lang="en-US" i="1" dirty="0" smtClean="0"/>
              <a:t>y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</a:p>
          <a:p>
            <a:r>
              <a:rPr lang="en-US" dirty="0"/>
              <a:t> </a:t>
            </a:r>
            <a:r>
              <a:rPr lang="en-US" i="1" dirty="0" err="1" smtClean="0"/>
              <a:t>h</a:t>
            </a:r>
            <a:r>
              <a:rPr lang="en-US" i="1" baseline="-25000" dirty="0" err="1" smtClean="0"/>
              <a:t>k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 denotes the system response to </a:t>
            </a:r>
            <a:r>
              <a:rPr lang="el-GR" i="1" dirty="0" smtClean="0"/>
              <a:t>δ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-</a:t>
            </a:r>
            <a:r>
              <a:rPr lang="en-US" i="1" dirty="0" smtClean="0"/>
              <a:t>k</a:t>
            </a:r>
            <a:r>
              <a:rPr lang="en-US" dirty="0" smtClean="0"/>
              <a:t>]</a:t>
            </a:r>
          </a:p>
          <a:p>
            <a:r>
              <a:rPr lang="en-US" dirty="0"/>
              <a:t> </a:t>
            </a:r>
            <a:r>
              <a:rPr lang="en-US" dirty="0" smtClean="0"/>
              <a:t>Recall: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Superposition property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If the system is also time-invariant   response to </a:t>
            </a:r>
            <a:r>
              <a:rPr lang="el-GR" i="1" dirty="0"/>
              <a:t>δ</a:t>
            </a: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/>
              <a:t>-</a:t>
            </a:r>
            <a:r>
              <a:rPr lang="en-US" i="1" dirty="0"/>
              <a:t>k</a:t>
            </a:r>
            <a:r>
              <a:rPr lang="en-US" dirty="0" smtClean="0"/>
              <a:t>] is time shifted version of response to </a:t>
            </a:r>
            <a:r>
              <a:rPr lang="el-GR" i="1" dirty="0"/>
              <a:t>δ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Unit impulse response</a:t>
            </a: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§2.1 Convolution </a:t>
            </a:r>
            <a:r>
              <a:rPr lang="en-US" dirty="0" smtClean="0"/>
              <a:t>Sum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543369"/>
              </p:ext>
            </p:extLst>
          </p:nvPr>
        </p:nvGraphicFramePr>
        <p:xfrm>
          <a:off x="2684463" y="2184400"/>
          <a:ext cx="249078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5" name="公式" r:id="rId3" imgW="1384200" imgH="431640" progId="Equation.3">
                  <p:embed/>
                </p:oleObj>
              </mc:Choice>
              <mc:Fallback>
                <p:oleObj name="公式" r:id="rId3" imgW="1384200" imgH="43164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2184400"/>
                        <a:ext cx="2490787" cy="776288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037420"/>
              </p:ext>
            </p:extLst>
          </p:nvPr>
        </p:nvGraphicFramePr>
        <p:xfrm>
          <a:off x="5495925" y="2657475"/>
          <a:ext cx="228441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" name="公式" r:id="rId5" imgW="1269720" imgH="431640" progId="Equation.3">
                  <p:embed/>
                </p:oleObj>
              </mc:Choice>
              <mc:Fallback>
                <p:oleObj name="公式" r:id="rId5" imgW="126972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925" y="2657475"/>
                        <a:ext cx="2284413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84091"/>
              </p:ext>
            </p:extLst>
          </p:nvPr>
        </p:nvGraphicFramePr>
        <p:xfrm>
          <a:off x="3167063" y="4214813"/>
          <a:ext cx="182721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7" name="公式" r:id="rId7" imgW="1015920" imgH="228600" progId="Equation.3">
                  <p:embed/>
                </p:oleObj>
              </mc:Choice>
              <mc:Fallback>
                <p:oleObj name="公式" r:id="rId7" imgW="101592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4214813"/>
                        <a:ext cx="1827212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543394"/>
              </p:ext>
            </p:extLst>
          </p:nvPr>
        </p:nvGraphicFramePr>
        <p:xfrm>
          <a:off x="4868863" y="4805363"/>
          <a:ext cx="13493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8" name="公式" r:id="rId9" imgW="749160" imgH="228600" progId="Equation.3">
                  <p:embed/>
                </p:oleObj>
              </mc:Choice>
              <mc:Fallback>
                <p:oleObj name="公式" r:id="rId9" imgW="7491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63" y="4805363"/>
                        <a:ext cx="134937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497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Convolution Sum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>
                <a:solidFill>
                  <a:srgbClr val="C00000"/>
                </a:solidFill>
              </a:rPr>
              <a:t>Convolution Sum </a:t>
            </a:r>
            <a:r>
              <a:rPr lang="en-US" dirty="0" smtClean="0"/>
              <a:t>(Superposition Sum)</a:t>
            </a:r>
          </a:p>
          <a:p>
            <a:endParaRPr lang="en-US" dirty="0"/>
          </a:p>
          <a:p>
            <a:r>
              <a:rPr lang="en-US" dirty="0" smtClean="0"/>
              <a:t>LTI system is completely characterized by its unit impulse response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§2.1 Convolution Sum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683685"/>
              </p:ext>
            </p:extLst>
          </p:nvPr>
        </p:nvGraphicFramePr>
        <p:xfrm>
          <a:off x="4880133" y="2001673"/>
          <a:ext cx="249078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4" name="公式" r:id="rId3" imgW="1384200" imgH="431640" progId="Equation.3">
                  <p:embed/>
                </p:oleObj>
              </mc:Choice>
              <mc:Fallback>
                <p:oleObj name="公式" r:id="rId3" imgW="1384200" imgH="43164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0133" y="2001673"/>
                        <a:ext cx="2490787" cy="77787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482296"/>
              </p:ext>
            </p:extLst>
          </p:nvPr>
        </p:nvGraphicFramePr>
        <p:xfrm>
          <a:off x="951032" y="1327150"/>
          <a:ext cx="26289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5" name="公式" r:id="rId5" imgW="1460160" imgH="431640" progId="Equation.3">
                  <p:embed/>
                </p:oleObj>
              </mc:Choice>
              <mc:Fallback>
                <p:oleObj name="公式" r:id="rId5" imgW="1460160" imgH="43164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032" y="1327150"/>
                        <a:ext cx="2628900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176720"/>
              </p:ext>
            </p:extLst>
          </p:nvPr>
        </p:nvGraphicFramePr>
        <p:xfrm>
          <a:off x="951032" y="2149845"/>
          <a:ext cx="18288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6" name="公式" r:id="rId7" imgW="1015920" imgH="228600" progId="Equation.3">
                  <p:embed/>
                </p:oleObj>
              </mc:Choice>
              <mc:Fallback>
                <p:oleObj name="公式" r:id="rId7" imgW="1015920" imgH="2286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032" y="2149845"/>
                        <a:ext cx="182880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233867"/>
              </p:ext>
            </p:extLst>
          </p:nvPr>
        </p:nvGraphicFramePr>
        <p:xfrm>
          <a:off x="951032" y="2779548"/>
          <a:ext cx="13493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7" name="公式" r:id="rId9" imgW="749160" imgH="228600" progId="Equation.3">
                  <p:embed/>
                </p:oleObj>
              </mc:Choice>
              <mc:Fallback>
                <p:oleObj name="公式" r:id="rId9" imgW="749160" imgH="22860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032" y="2779548"/>
                        <a:ext cx="1349375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燕尾形 10"/>
          <p:cNvSpPr/>
          <p:nvPr/>
        </p:nvSpPr>
        <p:spPr>
          <a:xfrm>
            <a:off x="4190449" y="1961035"/>
            <a:ext cx="524461" cy="911582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081818"/>
              </p:ext>
            </p:extLst>
          </p:nvPr>
        </p:nvGraphicFramePr>
        <p:xfrm>
          <a:off x="3090863" y="3905250"/>
          <a:ext cx="18970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8" name="公式" r:id="rId11" imgW="1054080" imgH="203040" progId="Equation.3">
                  <p:embed/>
                </p:oleObj>
              </mc:Choice>
              <mc:Fallback>
                <p:oleObj name="公式" r:id="rId11" imgW="1054080" imgH="2030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3905250"/>
                        <a:ext cx="1897062" cy="36512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0138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2.1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y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</a:t>
            </a:r>
            <a:r>
              <a:rPr lang="en-US" i="1" dirty="0" smtClean="0"/>
              <a:t>x</a:t>
            </a:r>
            <a:r>
              <a:rPr lang="en-US" dirty="0" smtClean="0"/>
              <a:t>[0]h[</a:t>
            </a:r>
            <a:r>
              <a:rPr lang="en-US" i="1" dirty="0" smtClean="0"/>
              <a:t>n</a:t>
            </a:r>
            <a:r>
              <a:rPr lang="en-US" dirty="0" smtClean="0"/>
              <a:t>-0]+</a:t>
            </a:r>
            <a:r>
              <a:rPr lang="en-US" i="1" dirty="0" smtClean="0"/>
              <a:t>x</a:t>
            </a:r>
            <a:r>
              <a:rPr lang="en-US" dirty="0" smtClean="0"/>
              <a:t>[1]</a:t>
            </a:r>
            <a:r>
              <a:rPr lang="en-US" i="1" dirty="0" smtClean="0"/>
              <a:t>h[n-1</a:t>
            </a:r>
            <a:r>
              <a:rPr lang="en-US" dirty="0" smtClean="0"/>
              <a:t>]=0.5</a:t>
            </a:r>
            <a:r>
              <a:rPr lang="en-US" i="1" dirty="0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]+2</a:t>
            </a:r>
            <a:r>
              <a:rPr lang="en-US" i="1" dirty="0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-1]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§2.1 Convolution </a:t>
            </a:r>
            <a:r>
              <a:rPr lang="en-US" dirty="0" smtClean="0"/>
              <a:t>Sum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95" y="1859780"/>
            <a:ext cx="2999430" cy="1116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684" y="2117027"/>
            <a:ext cx="2999430" cy="8555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684" y="3080176"/>
            <a:ext cx="2999430" cy="8555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684" y="3932452"/>
            <a:ext cx="2999430" cy="11066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684" y="5039151"/>
            <a:ext cx="2999430" cy="140430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6351" y="3280866"/>
            <a:ext cx="3402174" cy="923330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shift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by a factor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6350" y="4717357"/>
            <a:ext cx="3804880" cy="1477328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 given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[-(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 marL="342900" indent="-342900">
              <a:buFontTx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and sum to get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932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2.4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</a:t>
            </a:r>
            <a:r>
              <a:rPr lang="en-US" i="1" dirty="0" smtClean="0"/>
              <a:t>u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]-</a:t>
            </a:r>
            <a:r>
              <a:rPr lang="en-US" i="1" dirty="0" smtClean="0"/>
              <a:t>u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-5]</a:t>
            </a:r>
          </a:p>
          <a:p>
            <a:r>
              <a:rPr lang="en-US" i="1" dirty="0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</a:t>
            </a:r>
            <a:r>
              <a:rPr lang="el-GR" i="1" dirty="0" smtClean="0"/>
              <a:t>α</a:t>
            </a:r>
            <a:r>
              <a:rPr lang="en-US" baseline="30000" dirty="0" smtClean="0"/>
              <a:t>n</a:t>
            </a:r>
            <a:r>
              <a:rPr lang="en-US" dirty="0" smtClean="0"/>
              <a:t>(</a:t>
            </a:r>
            <a:r>
              <a:rPr lang="en-US" i="1" dirty="0"/>
              <a:t>u</a:t>
            </a: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/>
              <a:t>]-</a:t>
            </a:r>
            <a:r>
              <a:rPr lang="en-US" i="1" dirty="0" smtClean="0"/>
              <a:t>u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-7])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§2.1 Convolution </a:t>
            </a:r>
            <a:r>
              <a:rPr lang="en-US" dirty="0" smtClean="0"/>
              <a:t>Sum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148579" y="2888557"/>
            <a:ext cx="4140077" cy="1323439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given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[-(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and sum to get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1853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2.2 Convolution Integral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Definition of </a:t>
            </a:r>
            <a:r>
              <a:rPr lang="en-US" b="1" dirty="0" smtClean="0">
                <a:solidFill>
                  <a:srgbClr val="C00000"/>
                </a:solidFill>
              </a:rPr>
              <a:t>Definite Integral</a:t>
            </a:r>
            <a:r>
              <a:rPr lang="en-US" dirty="0" smtClean="0"/>
              <a:t>: </a:t>
            </a:r>
            <a:r>
              <a:rPr lang="en-US" dirty="0"/>
              <a:t>Given a function </a:t>
            </a:r>
            <a:r>
              <a:rPr lang="en-US" i="1" dirty="0" smtClean="0"/>
              <a:t>f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)</a:t>
            </a:r>
            <a:r>
              <a:rPr lang="en-US" dirty="0"/>
              <a:t> </a:t>
            </a:r>
            <a:r>
              <a:rPr lang="en-US" dirty="0" smtClean="0"/>
              <a:t>that </a:t>
            </a:r>
            <a:r>
              <a:rPr lang="en-US" dirty="0"/>
              <a:t>is continuous on the interval [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b</a:t>
            </a:r>
            <a:r>
              <a:rPr lang="en-US" dirty="0" smtClean="0"/>
              <a:t>], we </a:t>
            </a:r>
            <a:r>
              <a:rPr lang="en-US" dirty="0"/>
              <a:t>divide the interval into </a:t>
            </a:r>
            <a:r>
              <a:rPr lang="en-US" i="1" dirty="0" smtClean="0"/>
              <a:t>n</a:t>
            </a:r>
            <a:r>
              <a:rPr lang="en-US" dirty="0" smtClean="0"/>
              <a:t> </a:t>
            </a:r>
            <a:r>
              <a:rPr lang="en-US" dirty="0"/>
              <a:t>subintervals of equal </a:t>
            </a:r>
            <a:r>
              <a:rPr lang="en-US" dirty="0" smtClean="0"/>
              <a:t>width </a:t>
            </a:r>
            <a:r>
              <a:rPr lang="en-US" i="1" dirty="0" err="1" smtClean="0"/>
              <a:t>Δx</a:t>
            </a:r>
            <a:r>
              <a:rPr lang="en-US" dirty="0" smtClean="0"/>
              <a:t>, </a:t>
            </a:r>
            <a:r>
              <a:rPr lang="en-US" dirty="0"/>
              <a:t>and from each interval choose a point, </a:t>
            </a:r>
            <a:r>
              <a:rPr lang="en-US" i="1" dirty="0" smtClean="0"/>
              <a:t>x</a:t>
            </a:r>
            <a:r>
              <a:rPr lang="en-US" baseline="-25000" dirty="0" smtClean="0"/>
              <a:t>i</a:t>
            </a:r>
            <a:r>
              <a:rPr lang="en-US" baseline="30000" dirty="0" smtClean="0"/>
              <a:t>∗</a:t>
            </a:r>
            <a:r>
              <a:rPr lang="en-US" dirty="0" smtClean="0"/>
              <a:t>, then </a:t>
            </a:r>
            <a:r>
              <a:rPr lang="en-US" dirty="0"/>
              <a:t>the definite integral of </a:t>
            </a:r>
            <a:r>
              <a:rPr lang="en-US" i="1" dirty="0" smtClean="0"/>
              <a:t>f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)</a:t>
            </a:r>
            <a:r>
              <a:rPr lang="en-US" dirty="0"/>
              <a:t> </a:t>
            </a:r>
            <a:r>
              <a:rPr lang="en-US" dirty="0" smtClean="0"/>
              <a:t>from </a:t>
            </a:r>
            <a:r>
              <a:rPr lang="en-US" i="1" dirty="0" smtClean="0"/>
              <a:t>a</a:t>
            </a:r>
            <a:r>
              <a:rPr lang="en-US" dirty="0" smtClean="0"/>
              <a:t> </a:t>
            </a:r>
            <a:r>
              <a:rPr lang="en-US" dirty="0"/>
              <a:t>to </a:t>
            </a:r>
            <a:r>
              <a:rPr lang="en-US" i="1" dirty="0" smtClean="0"/>
              <a:t>b</a:t>
            </a:r>
            <a:r>
              <a:rPr lang="en-US" dirty="0" smtClean="0"/>
              <a:t> </a:t>
            </a:r>
            <a:r>
              <a:rPr lang="en-US" dirty="0"/>
              <a:t>is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§2.2 Convolution Integral</a:t>
            </a: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264024"/>
              </p:ext>
            </p:extLst>
          </p:nvPr>
        </p:nvGraphicFramePr>
        <p:xfrm>
          <a:off x="2951163" y="3679825"/>
          <a:ext cx="3479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1" name="公式" r:id="rId3" imgW="1739880" imgH="431640" progId="Equation.3">
                  <p:embed/>
                </p:oleObj>
              </mc:Choice>
              <mc:Fallback>
                <p:oleObj name="公式" r:id="rId3" imgW="173988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3679825"/>
                        <a:ext cx="34798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5666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Representation of Continuous-Time Signal in Terms of Impulses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§2.2 Convolution Integral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092655"/>
              </p:ext>
            </p:extLst>
          </p:nvPr>
        </p:nvGraphicFramePr>
        <p:xfrm>
          <a:off x="4149195" y="1352550"/>
          <a:ext cx="2228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7" name="公式" r:id="rId3" imgW="1485720" imgH="660240" progId="Equation.3">
                  <p:embed/>
                </p:oleObj>
              </mc:Choice>
              <mc:Fallback>
                <p:oleObj name="公式" r:id="rId3" imgW="1485720" imgH="6602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195" y="1352550"/>
                        <a:ext cx="222885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63" y="2269908"/>
            <a:ext cx="2731365" cy="113124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63" y="3279419"/>
            <a:ext cx="2731365" cy="111625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963" y="4253869"/>
            <a:ext cx="2731365" cy="113124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963" y="5266167"/>
            <a:ext cx="2731365" cy="1131242"/>
          </a:xfrm>
          <a:prstGeom prst="rect">
            <a:avLst/>
          </a:prstGeom>
        </p:spPr>
      </p:pic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734149"/>
              </p:ext>
            </p:extLst>
          </p:nvPr>
        </p:nvGraphicFramePr>
        <p:xfrm>
          <a:off x="4124325" y="2449513"/>
          <a:ext cx="2628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8" name="公式" r:id="rId9" imgW="1752480" imgH="431640" progId="Equation.3">
                  <p:embed/>
                </p:oleObj>
              </mc:Choice>
              <mc:Fallback>
                <p:oleObj name="公式" r:id="rId9" imgW="17524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325" y="2449513"/>
                        <a:ext cx="26289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297956"/>
              </p:ext>
            </p:extLst>
          </p:nvPr>
        </p:nvGraphicFramePr>
        <p:xfrm>
          <a:off x="4116388" y="3286125"/>
          <a:ext cx="13890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9" name="公式" r:id="rId11" imgW="927000" imgH="279360" progId="Equation.3">
                  <p:embed/>
                </p:oleObj>
              </mc:Choice>
              <mc:Fallback>
                <p:oleObj name="公式" r:id="rId11" imgW="927000" imgH="2793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388" y="3286125"/>
                        <a:ext cx="1389062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612736"/>
              </p:ext>
            </p:extLst>
          </p:nvPr>
        </p:nvGraphicFramePr>
        <p:xfrm>
          <a:off x="4124325" y="3711960"/>
          <a:ext cx="28956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0" name="公式" r:id="rId13" imgW="1930320" imgH="888840" progId="Equation.3">
                  <p:embed/>
                </p:oleObj>
              </mc:Choice>
              <mc:Fallback>
                <p:oleObj name="公式" r:id="rId13" imgW="1930320" imgH="8888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325" y="3711960"/>
                        <a:ext cx="2895600" cy="1333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659641"/>
              </p:ext>
            </p:extLst>
          </p:nvPr>
        </p:nvGraphicFramePr>
        <p:xfrm>
          <a:off x="4327525" y="5554055"/>
          <a:ext cx="2719388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1" name="公式" r:id="rId15" imgW="1511280" imgH="330120" progId="Equation.3">
                  <p:embed/>
                </p:oleObj>
              </mc:Choice>
              <mc:Fallback>
                <p:oleObj name="公式" r:id="rId15" imgW="1511280" imgH="3301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25" y="5554055"/>
                        <a:ext cx="2719388" cy="592137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721352"/>
              </p:ext>
            </p:extLst>
          </p:nvPr>
        </p:nvGraphicFramePr>
        <p:xfrm>
          <a:off x="7046913" y="1590675"/>
          <a:ext cx="14668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2" name="公式" r:id="rId17" imgW="977760" imgH="279360" progId="Equation.3">
                  <p:embed/>
                </p:oleObj>
              </mc:Choice>
              <mc:Fallback>
                <p:oleObj name="公式" r:id="rId17" imgW="977760" imgH="2793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913" y="1590675"/>
                        <a:ext cx="146685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3979993" y="5081501"/>
            <a:ext cx="2306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Sifting Property</a:t>
            </a:r>
            <a:endParaRPr lang="en-US" sz="2400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8962" y="1210621"/>
            <a:ext cx="2731365" cy="118368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03057" y="4907724"/>
            <a:ext cx="1854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How to directly prove it?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280694" y="5650302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)=?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133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Convolution Integral (CT)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For a linear system, input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), output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     denotes the system response to </a:t>
            </a:r>
          </a:p>
          <a:p>
            <a:r>
              <a:rPr lang="en-US" dirty="0" smtClean="0"/>
              <a:t>Recall:  </a:t>
            </a:r>
          </a:p>
          <a:p>
            <a:r>
              <a:rPr lang="en-US" dirty="0"/>
              <a:t> </a:t>
            </a:r>
            <a:r>
              <a:rPr lang="en-US" dirty="0" smtClean="0">
                <a:solidFill>
                  <a:srgbClr val="C00000"/>
                </a:solidFill>
              </a:rPr>
              <a:t>Superposition property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                </a:t>
            </a:r>
            <a:endParaRPr lang="en-US" dirty="0"/>
          </a:p>
          <a:p>
            <a:endParaRPr lang="en-US" sz="1600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                                    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 smtClean="0">
                <a:sym typeface="Wingdings" panose="05000000000000000000" pitchFamily="2" charset="2"/>
              </a:rPr>
              <a:t>     </a:t>
            </a:r>
          </a:p>
          <a:p>
            <a:r>
              <a:rPr lang="en-US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Time-invariant system: 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 Convolution Integral: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2.2 </a:t>
            </a:r>
            <a:r>
              <a:rPr lang="en-US" dirty="0"/>
              <a:t>Convolution </a:t>
            </a:r>
            <a:r>
              <a:rPr lang="en-US" dirty="0" smtClean="0"/>
              <a:t>Integral</a:t>
            </a:r>
            <a:endParaRPr 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733398"/>
              </p:ext>
            </p:extLst>
          </p:nvPr>
        </p:nvGraphicFramePr>
        <p:xfrm>
          <a:off x="6374921" y="1887215"/>
          <a:ext cx="1188203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5" name="公式" r:id="rId3" imgW="660113" imgH="215806" progId="Equation.3">
                  <p:embed/>
                </p:oleObj>
              </mc:Choice>
              <mc:Fallback>
                <p:oleObj name="公式" r:id="rId3" imgW="660113" imgH="21580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4921" y="1887215"/>
                        <a:ext cx="1188203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727013"/>
              </p:ext>
            </p:extLst>
          </p:nvPr>
        </p:nvGraphicFramePr>
        <p:xfrm>
          <a:off x="1069674" y="1854678"/>
          <a:ext cx="708352" cy="45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6" name="公式" r:id="rId5" imgW="393529" imgH="253890" progId="Equation.3">
                  <p:embed/>
                </p:oleObj>
              </mc:Choice>
              <mc:Fallback>
                <p:oleObj name="公式" r:id="rId5" imgW="393529" imgH="2538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74" y="1854678"/>
                        <a:ext cx="708352" cy="4570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110691"/>
              </p:ext>
            </p:extLst>
          </p:nvPr>
        </p:nvGraphicFramePr>
        <p:xfrm>
          <a:off x="2239963" y="2203289"/>
          <a:ext cx="3154464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7" name="公式" r:id="rId7" imgW="1752480" imgH="431640" progId="Equation.3">
                  <p:embed/>
                </p:oleObj>
              </mc:Choice>
              <mc:Fallback>
                <p:oleObj name="公式" r:id="rId7" imgW="1752480" imgH="431640" progId="Equation.3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2203289"/>
                        <a:ext cx="3154464" cy="7769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141473"/>
              </p:ext>
            </p:extLst>
          </p:nvPr>
        </p:nvGraphicFramePr>
        <p:xfrm>
          <a:off x="5159636" y="2681315"/>
          <a:ext cx="26746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8" name="公式" r:id="rId9" imgW="1485900" imgH="431800" progId="Equation.3">
                  <p:embed/>
                </p:oleObj>
              </mc:Choice>
              <mc:Fallback>
                <p:oleObj name="公式" r:id="rId9" imgW="1485900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636" y="2681315"/>
                        <a:ext cx="26746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32118"/>
              </p:ext>
            </p:extLst>
          </p:nvPr>
        </p:nvGraphicFramePr>
        <p:xfrm>
          <a:off x="1196630" y="3389882"/>
          <a:ext cx="1668780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9" name="公式" r:id="rId11" imgW="927100" imgH="279400" progId="Equation.3">
                  <p:embed/>
                </p:oleObj>
              </mc:Choice>
              <mc:Fallback>
                <p:oleObj name="公式" r:id="rId11" imgW="927100" imgH="279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630" y="3389882"/>
                        <a:ext cx="1668780" cy="502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020739"/>
              </p:ext>
            </p:extLst>
          </p:nvPr>
        </p:nvGraphicFramePr>
        <p:xfrm>
          <a:off x="3609862" y="3342005"/>
          <a:ext cx="1737360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0" name="公式" r:id="rId13" imgW="965200" imgH="279400" progId="Equation.3">
                  <p:embed/>
                </p:oleObj>
              </mc:Choice>
              <mc:Fallback>
                <p:oleObj name="公式" r:id="rId13" imgW="965200" imgH="279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862" y="3342005"/>
                        <a:ext cx="1737360" cy="502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122155"/>
              </p:ext>
            </p:extLst>
          </p:nvPr>
        </p:nvGraphicFramePr>
        <p:xfrm>
          <a:off x="1069674" y="4043776"/>
          <a:ext cx="30861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1" name="公式" r:id="rId15" imgW="1714500" imgH="431800" progId="Equation.3">
                  <p:embed/>
                </p:oleObj>
              </mc:Choice>
              <mc:Fallback>
                <p:oleObj name="公式" r:id="rId15" imgW="1714500" imgH="431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74" y="4043776"/>
                        <a:ext cx="30861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815588"/>
              </p:ext>
            </p:extLst>
          </p:nvPr>
        </p:nvGraphicFramePr>
        <p:xfrm>
          <a:off x="4903470" y="4119404"/>
          <a:ext cx="242316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2" name="公式" r:id="rId17" imgW="1346200" imgH="330200" progId="Equation.3">
                  <p:embed/>
                </p:oleObj>
              </mc:Choice>
              <mc:Fallback>
                <p:oleObj name="公式" r:id="rId17" imgW="1346200" imgH="330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470" y="4119404"/>
                        <a:ext cx="242316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440114"/>
              </p:ext>
            </p:extLst>
          </p:nvPr>
        </p:nvGraphicFramePr>
        <p:xfrm>
          <a:off x="4903470" y="4814148"/>
          <a:ext cx="17830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3" name="公式" r:id="rId19" imgW="990600" imgH="228600" progId="Equation.3">
                  <p:embed/>
                </p:oleObj>
              </mc:Choice>
              <mc:Fallback>
                <p:oleObj name="公式" r:id="rId19" imgW="990600" imgH="2286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470" y="4814148"/>
                        <a:ext cx="178308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228182"/>
              </p:ext>
            </p:extLst>
          </p:nvPr>
        </p:nvGraphicFramePr>
        <p:xfrm>
          <a:off x="4709160" y="5225628"/>
          <a:ext cx="28117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4" name="公式" r:id="rId21" imgW="1562100" imgH="330200" progId="Equation.3">
                  <p:embed/>
                </p:oleObj>
              </mc:Choice>
              <mc:Fallback>
                <p:oleObj name="公式" r:id="rId21" imgW="1562100" imgH="3302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9160" y="5225628"/>
                        <a:ext cx="281178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516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Impulse Response </a:t>
            </a:r>
            <a:r>
              <a:rPr lang="en-US" dirty="0" smtClean="0"/>
              <a:t>(CT)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7886700" cy="477266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Unit impulse response</a:t>
            </a:r>
            <a:r>
              <a:rPr lang="en-US" dirty="0" smtClean="0"/>
              <a:t>: </a:t>
            </a:r>
          </a:p>
          <a:p>
            <a:r>
              <a:rPr lang="en-US" dirty="0"/>
              <a:t> </a:t>
            </a:r>
            <a:r>
              <a:rPr lang="en-US" dirty="0" smtClean="0"/>
              <a:t>Convolution Integral:</a:t>
            </a:r>
          </a:p>
          <a:p>
            <a:r>
              <a:rPr lang="en-US" dirty="0"/>
              <a:t> </a:t>
            </a:r>
            <a:r>
              <a:rPr lang="en-US" dirty="0" smtClean="0"/>
              <a:t>For any value of </a:t>
            </a:r>
            <a:r>
              <a:rPr lang="en-US" i="1" dirty="0" smtClean="0"/>
              <a:t>t</a:t>
            </a:r>
            <a:r>
              <a:rPr lang="en-US" dirty="0" smtClean="0"/>
              <a:t>,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the weighted integral of the input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l-GR" i="1" dirty="0"/>
              <a:t>τ</a:t>
            </a:r>
            <a:r>
              <a:rPr lang="en-US" dirty="0" smtClean="0"/>
              <a:t>), and the weight on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l-GR" i="1" dirty="0"/>
              <a:t>τ</a:t>
            </a:r>
            <a:r>
              <a:rPr lang="en-US" dirty="0"/>
              <a:t>)</a:t>
            </a:r>
            <a:r>
              <a:rPr lang="en-US" dirty="0" smtClean="0"/>
              <a:t> is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-</a:t>
            </a:r>
            <a:r>
              <a:rPr lang="el-GR" i="1" dirty="0" smtClean="0"/>
              <a:t>τ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u="sng" dirty="0" smtClean="0"/>
              <a:t>A continuous-time LTI system is completely characterized by the unit impulse response h(t)</a:t>
            </a:r>
          </a:p>
          <a:p>
            <a:r>
              <a:rPr lang="en-US" dirty="0"/>
              <a:t> </a:t>
            </a:r>
            <a:r>
              <a:rPr lang="en-US" dirty="0" smtClean="0"/>
              <a:t>Denote convolution integral as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)*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§2.2 Convolution </a:t>
            </a:r>
            <a:r>
              <a:rPr lang="en-US" dirty="0" smtClean="0"/>
              <a:t>Integral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799533"/>
              </p:ext>
            </p:extLst>
          </p:nvPr>
        </p:nvGraphicFramePr>
        <p:xfrm>
          <a:off x="4873841" y="1438182"/>
          <a:ext cx="1302455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5" name="公式" r:id="rId3" imgW="723586" imgH="228501" progId="Equation.3">
                  <p:embed/>
                </p:oleObj>
              </mc:Choice>
              <mc:Fallback>
                <p:oleObj name="公式" r:id="rId3" imgW="723586" imgH="22850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841" y="1438182"/>
                        <a:ext cx="1302455" cy="411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7727"/>
              </p:ext>
            </p:extLst>
          </p:nvPr>
        </p:nvGraphicFramePr>
        <p:xfrm>
          <a:off x="4873841" y="1790269"/>
          <a:ext cx="27203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6" name="公式" r:id="rId5" imgW="1511300" imgH="330200" progId="Equation.3">
                  <p:embed/>
                </p:oleObj>
              </mc:Choice>
              <mc:Fallback>
                <p:oleObj name="公式" r:id="rId5" imgW="15113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841" y="1790269"/>
                        <a:ext cx="272034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943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2.6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§2.2 Convolution Integral</a:t>
            </a:r>
          </a:p>
          <a:p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74" y="1352241"/>
            <a:ext cx="3390660" cy="27249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962" y="1352241"/>
            <a:ext cx="3399975" cy="14043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962" y="2771835"/>
            <a:ext cx="3427920" cy="14043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907" y="4371251"/>
            <a:ext cx="3399975" cy="140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9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2.3 Properties of LTI Systems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An LTI system is completely characterized by its unit impulse response  (</a:t>
            </a:r>
            <a:r>
              <a:rPr lang="en-US" b="1" dirty="0" smtClean="0">
                <a:solidFill>
                  <a:srgbClr val="C00000"/>
                </a:solidFill>
              </a:rPr>
              <a:t>only valid for LTI!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err="1" smtClean="0"/>
              <a:t>Eg</a:t>
            </a:r>
            <a:r>
              <a:rPr lang="en-US" dirty="0" smtClean="0"/>
              <a:t>. 2.9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§2.3 Properties of LTI Systems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321936"/>
              </p:ext>
            </p:extLst>
          </p:nvPr>
        </p:nvGraphicFramePr>
        <p:xfrm>
          <a:off x="2622430" y="1802920"/>
          <a:ext cx="4069080" cy="141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name="公式" r:id="rId3" imgW="2260600" imgH="787400" progId="Equation.3">
                  <p:embed/>
                </p:oleObj>
              </mc:Choice>
              <mc:Fallback>
                <p:oleObj name="公式" r:id="rId3" imgW="2260600" imgH="787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430" y="1802920"/>
                        <a:ext cx="4069080" cy="1417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3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39695"/>
            <a:ext cx="7886700" cy="792000"/>
          </a:xfrm>
        </p:spPr>
        <p:txBody>
          <a:bodyPr/>
          <a:lstStyle/>
          <a:p>
            <a:r>
              <a:rPr lang="en-US" altLang="zh-CN" dirty="0" smtClean="0"/>
              <a:t>Properties </a:t>
            </a:r>
            <a:r>
              <a:rPr lang="en-US" altLang="zh-CN" dirty="0"/>
              <a:t>of LTI Systems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Commutative property</a:t>
            </a:r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>
                <a:solidFill>
                  <a:srgbClr val="C00000"/>
                </a:solidFill>
              </a:rPr>
              <a:t>Distributive property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§2.3 Properties of LTI Systems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322901"/>
              </p:ext>
            </p:extLst>
          </p:nvPr>
        </p:nvGraphicFramePr>
        <p:xfrm>
          <a:off x="4675031" y="1406104"/>
          <a:ext cx="25603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6" name="公式" r:id="rId3" imgW="1422400" imgH="431800" progId="Equation.3">
                  <p:embed/>
                </p:oleObj>
              </mc:Choice>
              <mc:Fallback>
                <p:oleObj name="公式" r:id="rId3" imgW="14224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031" y="1406104"/>
                        <a:ext cx="25603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486650" y="1794724"/>
            <a:ext cx="1182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How to prove ?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127877"/>
              </p:ext>
            </p:extLst>
          </p:nvPr>
        </p:nvGraphicFramePr>
        <p:xfrm>
          <a:off x="1880071" y="2765315"/>
          <a:ext cx="4914900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7" name="公式" r:id="rId5" imgW="2730500" imgH="215900" progId="Equation.3">
                  <p:embed/>
                </p:oleObj>
              </mc:Choice>
              <mc:Fallback>
                <p:oleObj name="公式" r:id="rId5" imgW="27305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071" y="2765315"/>
                        <a:ext cx="4914900" cy="388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86001"/>
              </p:ext>
            </p:extLst>
          </p:nvPr>
        </p:nvGraphicFramePr>
        <p:xfrm>
          <a:off x="1822219" y="5084384"/>
          <a:ext cx="4937760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8" name="公式" r:id="rId7" imgW="2743200" imgH="215900" progId="Equation.3">
                  <p:embed/>
                </p:oleObj>
              </mc:Choice>
              <mc:Fallback>
                <p:oleObj name="公式" r:id="rId7" imgW="27432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219" y="5084384"/>
                        <a:ext cx="4937760" cy="388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195" y="3238549"/>
            <a:ext cx="6708651" cy="16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Properties of LTI </a:t>
            </a:r>
            <a:r>
              <a:rPr lang="en-US" altLang="zh-CN" dirty="0" smtClean="0"/>
              <a:t>Systems (</a:t>
            </a:r>
            <a:r>
              <a:rPr lang="en-US" altLang="zh-CN" dirty="0" err="1" smtClean="0"/>
              <a:t>cont</a:t>
            </a:r>
            <a:r>
              <a:rPr lang="en-US" altLang="zh-CN" dirty="0" smtClean="0"/>
              <a:t>’)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 startAt="3"/>
            </a:pP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Associative Property</a:t>
            </a:r>
          </a:p>
          <a:p>
            <a:pPr>
              <a:buFont typeface="+mj-lt"/>
              <a:buAutoNum type="arabicPeriod" startAt="3"/>
            </a:pPr>
            <a:endParaRPr lang="en-US" dirty="0"/>
          </a:p>
          <a:p>
            <a:pPr>
              <a:buFont typeface="+mj-lt"/>
              <a:buAutoNum type="arabicPeriod" startAt="3"/>
            </a:pPr>
            <a:endParaRPr lang="en-US" dirty="0" smtClean="0"/>
          </a:p>
          <a:p>
            <a:pPr>
              <a:buFont typeface="+mj-lt"/>
              <a:buAutoNum type="arabicPeriod" startAt="3"/>
            </a:pPr>
            <a:r>
              <a:rPr lang="en-US" dirty="0" smtClean="0"/>
              <a:t>LTI without Memory</a:t>
            </a:r>
          </a:p>
          <a:p>
            <a:pPr>
              <a:buFont typeface="+mj-lt"/>
              <a:buAutoNum type="arabicPeriod" startAt="3"/>
            </a:pPr>
            <a:endParaRPr lang="en-US" dirty="0"/>
          </a:p>
          <a:p>
            <a:pPr>
              <a:buFont typeface="+mj-lt"/>
              <a:buAutoNum type="arabicPeriod" startAt="3"/>
            </a:pPr>
            <a:endParaRPr lang="en-US" dirty="0" smtClean="0"/>
          </a:p>
          <a:p>
            <a:pPr marL="0" indent="0">
              <a:buNone/>
            </a:pPr>
            <a:r>
              <a:rPr lang="en-US" i="1" dirty="0" smtClean="0"/>
              <a:t>     K</a:t>
            </a:r>
            <a:r>
              <a:rPr lang="en-US" dirty="0" smtClean="0"/>
              <a:t>=1 identity systems</a:t>
            </a:r>
          </a:p>
          <a:p>
            <a:pPr>
              <a:buFont typeface="+mj-lt"/>
              <a:buAutoNum type="arabicPeriod" startAt="5"/>
            </a:pPr>
            <a:r>
              <a:rPr lang="en-US" dirty="0" smtClean="0"/>
              <a:t>Inverse of LTI System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     </a:t>
            </a:r>
            <a:r>
              <a:rPr lang="en-US" dirty="0" err="1" smtClean="0">
                <a:solidFill>
                  <a:srgbClr val="0000FF"/>
                </a:solidFill>
              </a:rPr>
              <a:t>Eg</a:t>
            </a:r>
            <a:r>
              <a:rPr lang="en-US" dirty="0" smtClean="0">
                <a:solidFill>
                  <a:srgbClr val="0000FF"/>
                </a:solidFill>
              </a:rPr>
              <a:t>. 2.11  </a:t>
            </a:r>
            <a:r>
              <a:rPr lang="el-GR" i="1" dirty="0" smtClean="0">
                <a:solidFill>
                  <a:srgbClr val="0000FF"/>
                </a:solidFill>
              </a:rPr>
              <a:t>δ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i="1" dirty="0" smtClean="0">
                <a:solidFill>
                  <a:srgbClr val="0000FF"/>
                </a:solidFill>
              </a:rPr>
              <a:t>t</a:t>
            </a:r>
            <a:r>
              <a:rPr lang="en-US" dirty="0" smtClean="0">
                <a:solidFill>
                  <a:srgbClr val="0000FF"/>
                </a:solidFill>
              </a:rPr>
              <a:t>-</a:t>
            </a:r>
            <a:r>
              <a:rPr lang="en-US" i="1" dirty="0" smtClean="0">
                <a:solidFill>
                  <a:srgbClr val="0000FF"/>
                </a:solidFill>
              </a:rPr>
              <a:t>t</a:t>
            </a:r>
            <a:r>
              <a:rPr lang="en-US" baseline="-25000" dirty="0" smtClean="0">
                <a:solidFill>
                  <a:srgbClr val="0000FF"/>
                </a:solidFill>
              </a:rPr>
              <a:t>0</a:t>
            </a:r>
            <a:r>
              <a:rPr lang="en-US" dirty="0" smtClean="0">
                <a:solidFill>
                  <a:srgbClr val="0000FF"/>
                </a:solidFill>
              </a:rPr>
              <a:t>) vs. </a:t>
            </a:r>
            <a:r>
              <a:rPr lang="el-GR" i="1" dirty="0">
                <a:solidFill>
                  <a:srgbClr val="0000FF"/>
                </a:solidFill>
              </a:rPr>
              <a:t>δ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i="1" dirty="0" smtClean="0">
                <a:solidFill>
                  <a:srgbClr val="0000FF"/>
                </a:solidFill>
              </a:rPr>
              <a:t>t</a:t>
            </a:r>
            <a:r>
              <a:rPr lang="en-US" dirty="0" smtClean="0">
                <a:solidFill>
                  <a:srgbClr val="0000FF"/>
                </a:solidFill>
              </a:rPr>
              <a:t>+</a:t>
            </a:r>
            <a:r>
              <a:rPr lang="en-US" i="1" dirty="0" smtClean="0">
                <a:solidFill>
                  <a:srgbClr val="0000FF"/>
                </a:solidFill>
              </a:rPr>
              <a:t>t</a:t>
            </a:r>
            <a:r>
              <a:rPr lang="en-US" baseline="-25000" dirty="0" smtClean="0">
                <a:solidFill>
                  <a:srgbClr val="0000FF"/>
                </a:solidFill>
              </a:rPr>
              <a:t>0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     </a:t>
            </a:r>
            <a:r>
              <a:rPr lang="en-US" dirty="0" err="1" smtClean="0">
                <a:solidFill>
                  <a:srgbClr val="0000FF"/>
                </a:solidFill>
              </a:rPr>
              <a:t>Eg</a:t>
            </a:r>
            <a:r>
              <a:rPr lang="en-US" dirty="0" smtClean="0">
                <a:solidFill>
                  <a:srgbClr val="0000FF"/>
                </a:solidFill>
              </a:rPr>
              <a:t>. 2.12  </a:t>
            </a:r>
            <a:r>
              <a:rPr lang="en-US" i="1" dirty="0" smtClean="0">
                <a:solidFill>
                  <a:srgbClr val="0000FF"/>
                </a:solidFill>
              </a:rPr>
              <a:t>u</a:t>
            </a:r>
            <a:r>
              <a:rPr lang="en-US" dirty="0" smtClean="0">
                <a:solidFill>
                  <a:srgbClr val="0000FF"/>
                </a:solidFill>
              </a:rPr>
              <a:t>[</a:t>
            </a:r>
            <a:r>
              <a:rPr lang="en-US" i="1" dirty="0" smtClean="0">
                <a:solidFill>
                  <a:srgbClr val="0000FF"/>
                </a:solidFill>
              </a:rPr>
              <a:t>n</a:t>
            </a:r>
            <a:r>
              <a:rPr lang="en-US" dirty="0" smtClean="0">
                <a:solidFill>
                  <a:srgbClr val="0000FF"/>
                </a:solidFill>
              </a:rPr>
              <a:t>] </a:t>
            </a:r>
            <a:r>
              <a:rPr lang="en-US" dirty="0">
                <a:solidFill>
                  <a:srgbClr val="0000FF"/>
                </a:solidFill>
              </a:rPr>
              <a:t>vs. </a:t>
            </a:r>
            <a:r>
              <a:rPr lang="el-GR" i="1" dirty="0" smtClean="0">
                <a:solidFill>
                  <a:srgbClr val="0000FF"/>
                </a:solidFill>
              </a:rPr>
              <a:t>δ</a:t>
            </a:r>
            <a:r>
              <a:rPr lang="en-US" dirty="0" smtClean="0">
                <a:solidFill>
                  <a:srgbClr val="0000FF"/>
                </a:solidFill>
              </a:rPr>
              <a:t>[</a:t>
            </a:r>
            <a:r>
              <a:rPr lang="en-US" i="1" dirty="0" smtClean="0">
                <a:solidFill>
                  <a:srgbClr val="0000FF"/>
                </a:solidFill>
              </a:rPr>
              <a:t>n</a:t>
            </a:r>
            <a:r>
              <a:rPr lang="en-US" dirty="0" smtClean="0">
                <a:solidFill>
                  <a:srgbClr val="0000FF"/>
                </a:solidFill>
              </a:rPr>
              <a:t>]-</a:t>
            </a:r>
            <a:r>
              <a:rPr lang="el-GR" i="1" dirty="0">
                <a:solidFill>
                  <a:srgbClr val="0000FF"/>
                </a:solidFill>
              </a:rPr>
              <a:t> δ</a:t>
            </a:r>
            <a:r>
              <a:rPr lang="en-US" dirty="0" smtClean="0">
                <a:solidFill>
                  <a:srgbClr val="0000FF"/>
                </a:solidFill>
              </a:rPr>
              <a:t>[</a:t>
            </a:r>
            <a:r>
              <a:rPr lang="en-US" i="1" dirty="0" smtClean="0">
                <a:solidFill>
                  <a:srgbClr val="0000FF"/>
                </a:solidFill>
              </a:rPr>
              <a:t>n</a:t>
            </a:r>
            <a:r>
              <a:rPr lang="en-US" dirty="0" smtClean="0">
                <a:solidFill>
                  <a:srgbClr val="0000FF"/>
                </a:solidFill>
              </a:rPr>
              <a:t>-1]</a:t>
            </a:r>
            <a:endParaRPr lang="en-US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</a:endParaRPr>
          </a:p>
          <a:p>
            <a:pPr>
              <a:buFont typeface="+mj-lt"/>
              <a:buAutoNum type="arabicPeriod" startAt="5"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§2.3 Properties of LTI Systems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502833"/>
              </p:ext>
            </p:extLst>
          </p:nvPr>
        </p:nvGraphicFramePr>
        <p:xfrm>
          <a:off x="4399472" y="1336514"/>
          <a:ext cx="4320540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5" name="公式" r:id="rId3" imgW="2400300" imgH="215900" progId="Equation.3">
                  <p:embed/>
                </p:oleObj>
              </mc:Choice>
              <mc:Fallback>
                <p:oleObj name="公式" r:id="rId3" imgW="2400300" imgH="215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9472" y="1336514"/>
                        <a:ext cx="4320540" cy="388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05" y="1961874"/>
            <a:ext cx="8849252" cy="635501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749194"/>
              </p:ext>
            </p:extLst>
          </p:nvPr>
        </p:nvGraphicFramePr>
        <p:xfrm>
          <a:off x="4675031" y="4595486"/>
          <a:ext cx="1919407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6" name="公式" r:id="rId6" imgW="1066337" imgH="215806" progId="Equation.3">
                  <p:embed/>
                </p:oleObj>
              </mc:Choice>
              <mc:Fallback>
                <p:oleObj name="公式" r:id="rId6" imgW="1066337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031" y="4595486"/>
                        <a:ext cx="1919407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244882"/>
              </p:ext>
            </p:extLst>
          </p:nvPr>
        </p:nvGraphicFramePr>
        <p:xfrm>
          <a:off x="1153352" y="3216002"/>
          <a:ext cx="32461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7" name="公式" r:id="rId8" imgW="1803400" imgH="431800" progId="Equation.3">
                  <p:embed/>
                </p:oleObj>
              </mc:Choice>
              <mc:Fallback>
                <p:oleObj name="公式" r:id="rId8" imgW="1803400" imgH="4318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3352" y="3216002"/>
                        <a:ext cx="32461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7445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Causality and Stability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a LTI system is causal if </a:t>
            </a:r>
          </a:p>
          <a:p>
            <a:pPr marL="0" indent="0">
              <a:buNone/>
            </a:pPr>
            <a:r>
              <a:rPr lang="en-US" i="1" dirty="0" smtClean="0"/>
              <a:t>         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]=0 for </a:t>
            </a:r>
            <a:r>
              <a:rPr lang="en-US" i="1" dirty="0" smtClean="0"/>
              <a:t>n</a:t>
            </a:r>
            <a:r>
              <a:rPr lang="en-US" dirty="0" smtClean="0"/>
              <a:t>&lt;0   or  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)=0 for </a:t>
            </a:r>
            <a:r>
              <a:rPr lang="en-US" i="1" dirty="0" smtClean="0"/>
              <a:t>t</a:t>
            </a:r>
            <a:r>
              <a:rPr lang="en-US" dirty="0" smtClean="0"/>
              <a:t>&lt;0</a:t>
            </a:r>
          </a:p>
          <a:p>
            <a:r>
              <a:rPr lang="en-US" dirty="0"/>
              <a:t> </a:t>
            </a:r>
            <a:r>
              <a:rPr lang="en-US" dirty="0" smtClean="0"/>
              <a:t>A CT LTI system is stable if it is </a:t>
            </a:r>
            <a:r>
              <a:rPr lang="en-US" b="1" dirty="0" smtClean="0">
                <a:solidFill>
                  <a:srgbClr val="C00000"/>
                </a:solidFill>
              </a:rPr>
              <a:t>absolutely </a:t>
            </a:r>
            <a:r>
              <a:rPr lang="en-US" b="1" dirty="0" err="1" smtClean="0">
                <a:solidFill>
                  <a:srgbClr val="C00000"/>
                </a:solidFill>
              </a:rPr>
              <a:t>integrable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/>
              <a:t> </a:t>
            </a:r>
            <a:r>
              <a:rPr lang="en-US" dirty="0" smtClean="0"/>
              <a:t>A DT LTI system is stable if it is </a:t>
            </a:r>
            <a:r>
              <a:rPr lang="en-US" b="1" dirty="0">
                <a:solidFill>
                  <a:srgbClr val="C00000"/>
                </a:solidFill>
              </a:rPr>
              <a:t>absolutely </a:t>
            </a:r>
            <a:r>
              <a:rPr lang="en-US" b="1" dirty="0" err="1" smtClean="0">
                <a:solidFill>
                  <a:srgbClr val="C00000"/>
                </a:solidFill>
              </a:rPr>
              <a:t>summable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>
                <a:solidFill>
                  <a:srgbClr val="0000FF"/>
                </a:solidFill>
              </a:rPr>
              <a:t>Eg</a:t>
            </a:r>
            <a:r>
              <a:rPr lang="en-US" dirty="0" smtClean="0">
                <a:solidFill>
                  <a:srgbClr val="0000FF"/>
                </a:solidFill>
              </a:rPr>
              <a:t>. 2.13    </a:t>
            </a:r>
            <a:r>
              <a:rPr lang="en-US" dirty="0" smtClean="0"/>
              <a:t>Integrator stable? </a:t>
            </a:r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Unit </a:t>
            </a:r>
            <a:r>
              <a:rPr lang="en-US" b="1" dirty="0">
                <a:solidFill>
                  <a:srgbClr val="C00000"/>
                </a:solidFill>
              </a:rPr>
              <a:t>Step Response </a:t>
            </a:r>
            <a:r>
              <a:rPr lang="en-US" dirty="0"/>
              <a:t>(self learning</a:t>
            </a:r>
            <a:r>
              <a:rPr lang="en-US" dirty="0" smtClean="0"/>
              <a:t>)  </a:t>
            </a:r>
            <a:r>
              <a:rPr lang="en-US" i="1" dirty="0" smtClean="0"/>
              <a:t>h</a:t>
            </a:r>
            <a:r>
              <a:rPr lang="en-US" dirty="0" smtClean="0"/>
              <a:t>=</a:t>
            </a:r>
            <a:r>
              <a:rPr lang="en-US" i="1" dirty="0" smtClean="0"/>
              <a:t>s’</a:t>
            </a:r>
            <a:endParaRPr lang="en-US" i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§2.3 Properties of LTI </a:t>
            </a:r>
            <a:r>
              <a:rPr lang="en-US" altLang="zh-CN" dirty="0" smtClean="0"/>
              <a:t>Systems</a:t>
            </a:r>
            <a:endParaRPr 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099456"/>
              </p:ext>
            </p:extLst>
          </p:nvPr>
        </p:nvGraphicFramePr>
        <p:xfrm>
          <a:off x="2824594" y="2665560"/>
          <a:ext cx="1713757" cy="594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7" name="公式" r:id="rId3" imgW="952087" imgH="330057" progId="Equation.3">
                  <p:embed/>
                </p:oleObj>
              </mc:Choice>
              <mc:Fallback>
                <p:oleObj name="公式" r:id="rId3" imgW="952087" imgH="330057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594" y="2665560"/>
                        <a:ext cx="1713757" cy="5941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569277"/>
              </p:ext>
            </p:extLst>
          </p:nvPr>
        </p:nvGraphicFramePr>
        <p:xfrm>
          <a:off x="2858243" y="3520208"/>
          <a:ext cx="1462405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8" name="公式" r:id="rId5" imgW="812447" imgH="431613" progId="Equation.3">
                  <p:embed/>
                </p:oleObj>
              </mc:Choice>
              <mc:Fallback>
                <p:oleObj name="公式" r:id="rId5" imgW="812447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243" y="3520208"/>
                        <a:ext cx="1462405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981419" y="2777946"/>
            <a:ext cx="3640347" cy="36933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Sufficient condition? Necessary?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940973"/>
              </p:ext>
            </p:extLst>
          </p:nvPr>
        </p:nvGraphicFramePr>
        <p:xfrm>
          <a:off x="5154929" y="4531096"/>
          <a:ext cx="1188203" cy="594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9" name="公式" r:id="rId7" imgW="660113" imgH="330057" progId="Equation.3">
                  <p:embed/>
                </p:oleObj>
              </mc:Choice>
              <mc:Fallback>
                <p:oleObj name="公式" r:id="rId7" imgW="660113" imgH="33005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929" y="4531096"/>
                        <a:ext cx="1188203" cy="5941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632387"/>
              </p:ext>
            </p:extLst>
          </p:nvPr>
        </p:nvGraphicFramePr>
        <p:xfrm>
          <a:off x="5040112" y="5214893"/>
          <a:ext cx="26060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0" name="公式" r:id="rId9" imgW="1447800" imgH="330200" progId="Equation.3">
                  <p:embed/>
                </p:oleObj>
              </mc:Choice>
              <mc:Fallback>
                <p:oleObj name="公式" r:id="rId9" imgW="1447800" imgH="330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112" y="5214893"/>
                        <a:ext cx="260604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243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Other Properties of Convolution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§2.3 Properties of LTI </a:t>
            </a:r>
            <a:r>
              <a:rPr lang="en-US" dirty="0" smtClean="0"/>
              <a:t>Systems</a:t>
            </a:r>
            <a:endParaRPr lang="en-US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860228"/>
              </p:ext>
            </p:extLst>
          </p:nvPr>
        </p:nvGraphicFramePr>
        <p:xfrm>
          <a:off x="733246" y="1478456"/>
          <a:ext cx="50977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6" name="公式" r:id="rId3" imgW="2832100" imgH="393700" progId="Equation.3">
                  <p:embed/>
                </p:oleObj>
              </mc:Choice>
              <mc:Fallback>
                <p:oleObj name="公式" r:id="rId3" imgW="28321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46" y="1478456"/>
                        <a:ext cx="50977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639053"/>
              </p:ext>
            </p:extLst>
          </p:nvPr>
        </p:nvGraphicFramePr>
        <p:xfrm>
          <a:off x="733246" y="2233881"/>
          <a:ext cx="665226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7" name="公式" r:id="rId5" imgW="3695700" imgH="330200" progId="Equation.3">
                  <p:embed/>
                </p:oleObj>
              </mc:Choice>
              <mc:Fallback>
                <p:oleObj name="公式" r:id="rId5" imgW="36957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46" y="2233881"/>
                        <a:ext cx="665226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960320"/>
              </p:ext>
            </p:extLst>
          </p:nvPr>
        </p:nvGraphicFramePr>
        <p:xfrm>
          <a:off x="733246" y="2971461"/>
          <a:ext cx="370332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8" name="公式" r:id="rId7" imgW="2057400" imgH="393700" progId="Equation.3">
                  <p:embed/>
                </p:oleObj>
              </mc:Choice>
              <mc:Fallback>
                <p:oleObj name="公式" r:id="rId7" imgW="20574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46" y="2971461"/>
                        <a:ext cx="370332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154391"/>
              </p:ext>
            </p:extLst>
          </p:nvPr>
        </p:nvGraphicFramePr>
        <p:xfrm>
          <a:off x="908259" y="4226694"/>
          <a:ext cx="1942258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" name="公式" r:id="rId9" imgW="1079032" imgH="203112" progId="Equation.3">
                  <p:embed/>
                </p:oleObj>
              </mc:Choice>
              <mc:Fallback>
                <p:oleObj name="公式" r:id="rId9" imgW="1079032" imgH="203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259" y="4226694"/>
                        <a:ext cx="1942258" cy="365602"/>
                      </a:xfrm>
                      <a:prstGeom prst="rect">
                        <a:avLst/>
                      </a:prstGeom>
                      <a:noFill/>
                      <a:ln w="349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468860"/>
              </p:ext>
            </p:extLst>
          </p:nvPr>
        </p:nvGraphicFramePr>
        <p:xfrm>
          <a:off x="908259" y="4914856"/>
          <a:ext cx="2102207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0" name="公式" r:id="rId11" imgW="1167893" imgH="203112" progId="Equation.3">
                  <p:embed/>
                </p:oleObj>
              </mc:Choice>
              <mc:Fallback>
                <p:oleObj name="公式" r:id="rId11" imgW="1167893" imgH="203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259" y="4914856"/>
                        <a:ext cx="2102207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4577715" y="4347365"/>
            <a:ext cx="3074669" cy="83099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DT version of these equations?</a:t>
            </a:r>
          </a:p>
        </p:txBody>
      </p:sp>
    </p:spTree>
    <p:extLst>
      <p:ext uri="{BB962C8B-B14F-4D97-AF65-F5344CB8AC3E}">
        <p14:creationId xmlns:p14="http://schemas.microsoft.com/office/powerpoint/2010/main" val="147878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3683" y="365126"/>
            <a:ext cx="8298611" cy="792000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§</a:t>
            </a:r>
            <a:r>
              <a:rPr lang="en-US" altLang="zh-CN" sz="3600" dirty="0" smtClean="0"/>
              <a:t>2.4 Differential and Difference Equations</a:t>
            </a:r>
            <a:endParaRPr lang="en-US" sz="3600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28651" y="1308100"/>
            <a:ext cx="8109908" cy="4868863"/>
          </a:xfrm>
        </p:spPr>
        <p:txBody>
          <a:bodyPr>
            <a:normAutofit/>
          </a:bodyPr>
          <a:lstStyle/>
          <a:p>
            <a:r>
              <a:rPr lang="en-US" dirty="0" smtClean="0"/>
              <a:t> Linear constant-coefficient differential equation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)+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 </a:t>
            </a:r>
            <a:r>
              <a:rPr lang="en-US" b="1" dirty="0" smtClean="0">
                <a:solidFill>
                  <a:srgbClr val="C00000"/>
                </a:solidFill>
              </a:rPr>
              <a:t>particular solution</a:t>
            </a:r>
            <a:r>
              <a:rPr lang="en-US" dirty="0" smtClean="0"/>
              <a:t>,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 </a:t>
            </a:r>
            <a:r>
              <a:rPr lang="en-US" b="1" dirty="0" smtClean="0">
                <a:solidFill>
                  <a:srgbClr val="C00000"/>
                </a:solidFill>
              </a:rPr>
              <a:t>homogeneous solution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 </a:t>
            </a:r>
            <a:r>
              <a:rPr lang="en-US" dirty="0" smtClean="0"/>
              <a:t>To find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  <a:r>
              <a:rPr lang="en-US" dirty="0" smtClean="0"/>
              <a:t>, solve the characteristic equation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If no multiple roots, </a:t>
            </a:r>
          </a:p>
          <a:p>
            <a:r>
              <a:rPr lang="en-US" dirty="0"/>
              <a:t> </a:t>
            </a:r>
            <a:r>
              <a:rPr lang="en-US" dirty="0" smtClean="0"/>
              <a:t>If multiple roots exist, </a:t>
            </a:r>
          </a:p>
          <a:p>
            <a:pPr marL="0" indent="0">
              <a:buNone/>
            </a:pPr>
            <a:r>
              <a:rPr lang="en-US" dirty="0" smtClean="0"/>
              <a:t>     the corresponding part in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§2.4 Differential and Difference Equations</a:t>
            </a:r>
            <a:endParaRPr 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047911"/>
              </p:ext>
            </p:extLst>
          </p:nvPr>
        </p:nvGraphicFramePr>
        <p:xfrm>
          <a:off x="3337560" y="1662690"/>
          <a:ext cx="2971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2" name="公式" r:id="rId3" imgW="1651000" imgH="444500" progId="Equation.3">
                  <p:embed/>
                </p:oleObj>
              </mc:Choice>
              <mc:Fallback>
                <p:oleObj name="公式" r:id="rId3" imgW="16510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7560" y="1662690"/>
                        <a:ext cx="29718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362906"/>
              </p:ext>
            </p:extLst>
          </p:nvPr>
        </p:nvGraphicFramePr>
        <p:xfrm>
          <a:off x="4987925" y="4792663"/>
          <a:ext cx="32480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3" name="公式" r:id="rId5" imgW="1803240" imgH="431640" progId="Equation.3">
                  <p:embed/>
                </p:oleObj>
              </mc:Choice>
              <mc:Fallback>
                <p:oleObj name="公式" r:id="rId5" imgW="180324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4792663"/>
                        <a:ext cx="3248025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16864"/>
              </p:ext>
            </p:extLst>
          </p:nvPr>
        </p:nvGraphicFramePr>
        <p:xfrm>
          <a:off x="5579679" y="5448170"/>
          <a:ext cx="23088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4" name="公式" r:id="rId7" imgW="1282700" imgH="431800" progId="Equation.3">
                  <p:embed/>
                </p:oleObj>
              </mc:Choice>
              <mc:Fallback>
                <p:oleObj name="公式" r:id="rId7" imgW="1282700" imgH="431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679" y="5448170"/>
                        <a:ext cx="23088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6457950" y="2462790"/>
            <a:ext cx="1742785" cy="369332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 response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7486650" y="2832122"/>
            <a:ext cx="0" cy="161244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565849" y="2553575"/>
            <a:ext cx="1640193" cy="369332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forced response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4310893" y="2940442"/>
            <a:ext cx="0" cy="161244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099449"/>
              </p:ext>
            </p:extLst>
          </p:nvPr>
        </p:nvGraphicFramePr>
        <p:xfrm>
          <a:off x="2436373" y="3716655"/>
          <a:ext cx="37490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5" name="公式" r:id="rId9" imgW="2082800" imgH="431800" progId="Equation.3">
                  <p:embed/>
                </p:oleObj>
              </mc:Choice>
              <mc:Fallback>
                <p:oleObj name="公式" r:id="rId9" imgW="2082800" imgH="4318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373" y="3716655"/>
                        <a:ext cx="37490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599442"/>
              </p:ext>
            </p:extLst>
          </p:nvPr>
        </p:nvGraphicFramePr>
        <p:xfrm>
          <a:off x="4651427" y="4262087"/>
          <a:ext cx="1873706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6" name="公式" r:id="rId11" imgW="1040948" imgH="431613" progId="Equation.3">
                  <p:embed/>
                </p:oleObj>
              </mc:Choice>
              <mc:Fallback>
                <p:oleObj name="公式" r:id="rId11" imgW="1040948" imgH="431613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427" y="4262087"/>
                        <a:ext cx="1873706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612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Three Steps to Solve </a:t>
            </a:r>
            <a:r>
              <a:rPr lang="en-US" sz="3600" dirty="0"/>
              <a:t>D</a:t>
            </a:r>
            <a:r>
              <a:rPr lang="en-US" sz="3600" dirty="0" smtClean="0"/>
              <a:t>ifferential Equations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step #1: find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 step #2: </a:t>
            </a:r>
            <a:r>
              <a:rPr lang="en-US" dirty="0" smtClean="0"/>
              <a:t>find </a:t>
            </a:r>
            <a:r>
              <a:rPr lang="en-US" i="1" dirty="0" err="1"/>
              <a:t>y</a:t>
            </a:r>
            <a:r>
              <a:rPr lang="en-US" i="1" baseline="-25000" dirty="0" err="1"/>
              <a:t>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</a:t>
            </a:r>
            <a:r>
              <a:rPr lang="en-US" dirty="0"/>
              <a:t> based on the input signal</a:t>
            </a:r>
          </a:p>
          <a:p>
            <a:r>
              <a:rPr lang="en-US" dirty="0"/>
              <a:t> step #3: find </a:t>
            </a:r>
            <a:r>
              <a:rPr lang="en-US" dirty="0" smtClean="0"/>
              <a:t>the coefficients </a:t>
            </a:r>
            <a:r>
              <a:rPr lang="en-US" i="1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i="1" dirty="0" smtClean="0"/>
              <a:t>A</a:t>
            </a:r>
            <a:r>
              <a:rPr lang="en-US" baseline="-25000" dirty="0" smtClean="0"/>
              <a:t>2</a:t>
            </a:r>
            <a:r>
              <a:rPr lang="en-US" dirty="0" smtClean="0"/>
              <a:t>, …, </a:t>
            </a:r>
            <a:r>
              <a:rPr lang="en-US" i="1" dirty="0" err="1" smtClean="0"/>
              <a:t>A</a:t>
            </a:r>
            <a:r>
              <a:rPr lang="en-US" baseline="-25000" dirty="0" err="1" smtClean="0"/>
              <a:t>k</a:t>
            </a:r>
            <a:endParaRPr lang="en-US" baseline="-25000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u="sng" dirty="0" smtClean="0"/>
              <a:t>Auxiliary condition required to find the coefficients</a:t>
            </a:r>
          </a:p>
          <a:p>
            <a:r>
              <a:rPr lang="en-US" dirty="0" smtClean="0"/>
              <a:t>  </a:t>
            </a:r>
            <a:r>
              <a:rPr lang="en-US" dirty="0" err="1" smtClean="0">
                <a:solidFill>
                  <a:srgbClr val="0000FF"/>
                </a:solidFill>
              </a:rPr>
              <a:t>Eg</a:t>
            </a:r>
            <a:r>
              <a:rPr lang="en-US" dirty="0" smtClean="0">
                <a:solidFill>
                  <a:srgbClr val="0000FF"/>
                </a:solidFill>
              </a:rPr>
              <a:t>. 2.14 </a:t>
            </a:r>
            <a:r>
              <a:rPr lang="en-US" dirty="0" smtClean="0"/>
              <a:t>with </a:t>
            </a:r>
            <a:r>
              <a:rPr lang="en-US" b="1" dirty="0" smtClean="0">
                <a:solidFill>
                  <a:srgbClr val="C00000"/>
                </a:solidFill>
              </a:rPr>
              <a:t>initial rest condition </a:t>
            </a:r>
            <a:r>
              <a:rPr lang="en-US" dirty="0" smtClean="0"/>
              <a:t>(if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)=0 for </a:t>
            </a:r>
            <a:r>
              <a:rPr lang="en-US" i="1" dirty="0" smtClean="0"/>
              <a:t>t</a:t>
            </a:r>
            <a:r>
              <a:rPr lang="en-US" dirty="0" smtClean="0"/>
              <a:t>≤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,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must be 0 for </a:t>
            </a:r>
            <a:r>
              <a:rPr lang="en-US" i="1" dirty="0" smtClean="0"/>
              <a:t>t</a:t>
            </a:r>
            <a:r>
              <a:rPr lang="en-US" dirty="0"/>
              <a:t> ≤ 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§2.4 Differential and Difference Equations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910701"/>
              </p:ext>
            </p:extLst>
          </p:nvPr>
        </p:nvGraphicFramePr>
        <p:xfrm>
          <a:off x="3781755" y="1224741"/>
          <a:ext cx="1873706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4" name="公式" r:id="rId3" imgW="1040948" imgH="431613" progId="Equation.3">
                  <p:embed/>
                </p:oleObj>
              </mc:Choice>
              <mc:Fallback>
                <p:oleObj name="公式" r:id="rId3" imgW="1040948" imgH="431613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755" y="1224741"/>
                        <a:ext cx="1873706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345142"/>
              </p:ext>
            </p:extLst>
          </p:nvPr>
        </p:nvGraphicFramePr>
        <p:xfrm>
          <a:off x="2635983" y="4201064"/>
          <a:ext cx="37947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5" name="公式" r:id="rId5" imgW="2108200" imgH="419100" progId="Equation.3">
                  <p:embed/>
                </p:oleObj>
              </mc:Choice>
              <mc:Fallback>
                <p:oleObj name="公式" r:id="rId5" imgW="21082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983" y="4201064"/>
                        <a:ext cx="37947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292058" y="5256247"/>
                <a:ext cx="2350194" cy="6199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058" y="5256247"/>
                <a:ext cx="2350194" cy="6199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384260" y="5381537"/>
                <a:ext cx="18764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60" y="5381537"/>
                <a:ext cx="187647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808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Impulse Response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§2.4 Differential and Difference Equations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507477"/>
              </p:ext>
            </p:extLst>
          </p:nvPr>
        </p:nvGraphicFramePr>
        <p:xfrm>
          <a:off x="1268730" y="1578633"/>
          <a:ext cx="17602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2" name="公式" r:id="rId3" imgW="977900" imgH="431800" progId="Equation.3">
                  <p:embed/>
                </p:oleObj>
              </mc:Choice>
              <mc:Fallback>
                <p:oleObj name="公式" r:id="rId3" imgW="9779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730" y="1578633"/>
                        <a:ext cx="17602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7986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5057" y="365126"/>
            <a:ext cx="8436633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Linear Constant-Coefficient Difference Equation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8573" y="1308100"/>
            <a:ext cx="8695427" cy="5048251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i="1" dirty="0" smtClean="0"/>
              <a:t>N</a:t>
            </a:r>
            <a:r>
              <a:rPr lang="en-US" dirty="0" smtClean="0"/>
              <a:t>th-order </a:t>
            </a:r>
          </a:p>
          <a:p>
            <a:endParaRPr lang="en-US" sz="1200" dirty="0"/>
          </a:p>
          <a:p>
            <a:r>
              <a:rPr lang="en-US" i="1" dirty="0" smtClean="0"/>
              <a:t>y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/>
              <a:t>]</a:t>
            </a:r>
            <a:r>
              <a:rPr lang="en-US" dirty="0" smtClean="0"/>
              <a:t>=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/>
              <a:t>]</a:t>
            </a:r>
            <a:r>
              <a:rPr lang="en-US" dirty="0" smtClean="0"/>
              <a:t>+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  <a:endParaRPr lang="en-US" dirty="0"/>
          </a:p>
          <a:p>
            <a:pPr marL="0" indent="0">
              <a:buNone/>
            </a:pP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 </a:t>
            </a:r>
            <a:r>
              <a:rPr lang="en-US" b="1" dirty="0" smtClean="0">
                <a:solidFill>
                  <a:srgbClr val="C00000"/>
                </a:solidFill>
              </a:rPr>
              <a:t>particular </a:t>
            </a:r>
            <a:r>
              <a:rPr lang="en-US" b="1" dirty="0">
                <a:solidFill>
                  <a:srgbClr val="C00000"/>
                </a:solidFill>
              </a:rPr>
              <a:t>solution</a:t>
            </a:r>
            <a:r>
              <a:rPr lang="en-US" dirty="0"/>
              <a:t>,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 </a:t>
            </a:r>
            <a:r>
              <a:rPr lang="en-US" b="1" dirty="0" smtClean="0">
                <a:solidFill>
                  <a:srgbClr val="C00000"/>
                </a:solidFill>
              </a:rPr>
              <a:t>homogeneous </a:t>
            </a:r>
            <a:r>
              <a:rPr lang="en-US" b="1" dirty="0">
                <a:solidFill>
                  <a:srgbClr val="C00000"/>
                </a:solidFill>
              </a:rPr>
              <a:t>solution</a:t>
            </a:r>
          </a:p>
          <a:p>
            <a:r>
              <a:rPr lang="en-US" dirty="0" smtClean="0"/>
              <a:t> How to find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/>
              <a:t>] </a:t>
            </a:r>
            <a:endParaRPr lang="en-US" dirty="0" smtClean="0"/>
          </a:p>
          <a:p>
            <a:pPr lvl="1"/>
            <a:r>
              <a:rPr lang="en-US" dirty="0" smtClean="0"/>
              <a:t> Solve the characteristic equation: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If no multiple roots,</a:t>
            </a:r>
          </a:p>
          <a:p>
            <a:pPr lvl="1"/>
            <a:endParaRPr lang="en-US" sz="1000" dirty="0"/>
          </a:p>
          <a:p>
            <a:pPr lvl="1"/>
            <a:r>
              <a:rPr lang="en-US" dirty="0"/>
              <a:t> </a:t>
            </a:r>
            <a:r>
              <a:rPr lang="en-US" dirty="0" smtClean="0"/>
              <a:t>If multiple roots exist, the corresponding part </a:t>
            </a:r>
            <a:r>
              <a:rPr lang="en-US" dirty="0"/>
              <a:t>in </a:t>
            </a:r>
            <a:r>
              <a:rPr lang="en-US" dirty="0" smtClean="0"/>
              <a:t> </a:t>
            </a:r>
            <a:r>
              <a:rPr lang="en-US" i="1" dirty="0" err="1"/>
              <a:t>y</a:t>
            </a:r>
            <a:r>
              <a:rPr lang="en-US" baseline="-25000" dirty="0" err="1"/>
              <a:t>h</a:t>
            </a: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 smtClean="0"/>
              <a:t>]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en-US" sz="2800" dirty="0" smtClean="0"/>
              <a:t> </a:t>
            </a:r>
            <a:r>
              <a:rPr lang="en-US" sz="2800" dirty="0" err="1" smtClean="0">
                <a:solidFill>
                  <a:srgbClr val="0000FF"/>
                </a:solidFill>
              </a:rPr>
              <a:t>Eg</a:t>
            </a:r>
            <a:r>
              <a:rPr lang="en-US" sz="2800" dirty="0">
                <a:solidFill>
                  <a:srgbClr val="0000FF"/>
                </a:solidFill>
              </a:rPr>
              <a:t>. </a:t>
            </a:r>
            <a:r>
              <a:rPr lang="en-US" sz="2800" dirty="0" smtClean="0">
                <a:solidFill>
                  <a:srgbClr val="0000FF"/>
                </a:solidFill>
              </a:rPr>
              <a:t>2.15 </a:t>
            </a:r>
            <a:r>
              <a:rPr lang="en-US" sz="2800" i="1" dirty="0" smtClean="0"/>
              <a:t>y</a:t>
            </a:r>
            <a:r>
              <a:rPr lang="en-US" sz="2800" dirty="0" smtClean="0"/>
              <a:t>[</a:t>
            </a:r>
            <a:r>
              <a:rPr lang="en-US" sz="2800" i="1" dirty="0" smtClean="0"/>
              <a:t>n</a:t>
            </a:r>
            <a:r>
              <a:rPr lang="en-US" sz="2800" dirty="0" smtClean="0"/>
              <a:t>]-0.5</a:t>
            </a:r>
            <a:r>
              <a:rPr lang="en-US" sz="2800" i="1" dirty="0" smtClean="0"/>
              <a:t>y</a:t>
            </a:r>
            <a:r>
              <a:rPr lang="en-US" sz="2800" dirty="0" smtClean="0"/>
              <a:t>[</a:t>
            </a:r>
            <a:r>
              <a:rPr lang="en-US" sz="2800" i="1" dirty="0" smtClean="0"/>
              <a:t>n</a:t>
            </a:r>
            <a:r>
              <a:rPr lang="en-US" sz="2800" dirty="0" smtClean="0"/>
              <a:t>-1]=</a:t>
            </a:r>
            <a:r>
              <a:rPr lang="en-US" sz="2800" i="1" dirty="0" smtClean="0"/>
              <a:t>x</a:t>
            </a:r>
            <a:r>
              <a:rPr lang="en-US" sz="2800" dirty="0" smtClean="0"/>
              <a:t>[</a:t>
            </a:r>
            <a:r>
              <a:rPr lang="en-US" sz="2800" i="1" dirty="0" smtClean="0"/>
              <a:t>n</a:t>
            </a:r>
            <a:r>
              <a:rPr lang="en-US" sz="2800" dirty="0" smtClean="0"/>
              <a:t>]  </a:t>
            </a:r>
            <a:r>
              <a:rPr lang="en-US" sz="2800" i="1" dirty="0" smtClean="0"/>
              <a:t>y</a:t>
            </a:r>
            <a:r>
              <a:rPr lang="en-US" sz="2800" dirty="0" smtClean="0"/>
              <a:t>[</a:t>
            </a:r>
            <a:r>
              <a:rPr lang="en-US" sz="2800" i="1" dirty="0" smtClean="0"/>
              <a:t>n</a:t>
            </a:r>
            <a:r>
              <a:rPr lang="en-US" sz="2800" dirty="0" smtClean="0"/>
              <a:t>]=0.5</a:t>
            </a:r>
            <a:r>
              <a:rPr lang="en-US" sz="2800" i="1" dirty="0" smtClean="0"/>
              <a:t>y</a:t>
            </a:r>
            <a:r>
              <a:rPr lang="en-US" sz="2800" dirty="0" smtClean="0"/>
              <a:t>[</a:t>
            </a:r>
            <a:r>
              <a:rPr lang="en-US" sz="2800" i="1" dirty="0" smtClean="0"/>
              <a:t>n</a:t>
            </a:r>
            <a:r>
              <a:rPr lang="en-US" sz="2800" dirty="0" smtClean="0"/>
              <a:t>-1]+</a:t>
            </a:r>
            <a:r>
              <a:rPr lang="en-US" sz="2800" i="1" dirty="0" smtClean="0"/>
              <a:t>x</a:t>
            </a:r>
            <a:r>
              <a:rPr lang="en-US" sz="2800" dirty="0" smtClean="0"/>
              <a:t>[</a:t>
            </a:r>
            <a:r>
              <a:rPr lang="en-US" sz="2800" i="1" dirty="0" smtClean="0"/>
              <a:t>n</a:t>
            </a:r>
            <a:r>
              <a:rPr lang="en-US" sz="2800" dirty="0"/>
              <a:t>]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§2.4 Differential and Difference </a:t>
            </a:r>
            <a:r>
              <a:rPr lang="en-US" altLang="zh-CN" dirty="0" smtClean="0"/>
              <a:t>Equations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183359"/>
              </p:ext>
            </p:extLst>
          </p:nvPr>
        </p:nvGraphicFramePr>
        <p:xfrm>
          <a:off x="2882301" y="1336514"/>
          <a:ext cx="31089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4" name="公式" r:id="rId3" imgW="1727200" imgH="431800" progId="Equation.3">
                  <p:embed/>
                </p:oleObj>
              </mc:Choice>
              <mc:Fallback>
                <p:oleObj name="公式" r:id="rId3" imgW="17272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301" y="1336514"/>
                        <a:ext cx="31089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775323"/>
              </p:ext>
            </p:extLst>
          </p:nvPr>
        </p:nvGraphicFramePr>
        <p:xfrm>
          <a:off x="5440972" y="3248545"/>
          <a:ext cx="1348155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5" name="公式" r:id="rId5" imgW="748975" imgH="431613" progId="Equation.3">
                  <p:embed/>
                </p:oleObj>
              </mc:Choice>
              <mc:Fallback>
                <p:oleObj name="公式" r:id="rId5" imgW="748975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972" y="3248545"/>
                        <a:ext cx="1348155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760909"/>
              </p:ext>
            </p:extLst>
          </p:nvPr>
        </p:nvGraphicFramePr>
        <p:xfrm>
          <a:off x="6928074" y="3248208"/>
          <a:ext cx="20802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6" name="公式" r:id="rId7" imgW="1155700" imgH="431800" progId="Equation.3">
                  <p:embed/>
                </p:oleObj>
              </mc:Choice>
              <mc:Fallback>
                <p:oleObj name="公式" r:id="rId7" imgW="11557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8074" y="3248208"/>
                        <a:ext cx="20802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212164"/>
              </p:ext>
            </p:extLst>
          </p:nvPr>
        </p:nvGraphicFramePr>
        <p:xfrm>
          <a:off x="4000254" y="3816384"/>
          <a:ext cx="1850857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7" name="公式" r:id="rId9" imgW="1028254" imgH="431613" progId="Equation.3">
                  <p:embed/>
                </p:oleObj>
              </mc:Choice>
              <mc:Fallback>
                <p:oleObj name="公式" r:id="rId9" imgW="1028254" imgH="4316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254" y="3816384"/>
                        <a:ext cx="1850857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47675"/>
              </p:ext>
            </p:extLst>
          </p:nvPr>
        </p:nvGraphicFramePr>
        <p:xfrm>
          <a:off x="3406140" y="4996505"/>
          <a:ext cx="23317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8" name="公式" r:id="rId11" imgW="1295400" imgH="431800" progId="Equation.3">
                  <p:embed/>
                </p:oleObj>
              </mc:Choice>
              <mc:Fallback>
                <p:oleObj name="公式" r:id="rId11" imgW="1295400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140" y="4996505"/>
                        <a:ext cx="23317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3391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Basic Elements for Block Diagram (DT)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adder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multiplication by a coefficient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unit delay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2.4 Differential and Difference Equations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5" y="1406032"/>
            <a:ext cx="3306825" cy="13330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592" y="3263005"/>
            <a:ext cx="2810025" cy="596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338" y="4504921"/>
            <a:ext cx="2973038" cy="5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1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 (DT)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difference equation</a:t>
            </a:r>
          </a:p>
          <a:p>
            <a:r>
              <a:rPr lang="en-US" dirty="0"/>
              <a:t> </a:t>
            </a:r>
            <a:r>
              <a:rPr lang="en-US" dirty="0" smtClean="0"/>
              <a:t>rewrite it 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§2.4 Differential and Difference </a:t>
            </a:r>
            <a:r>
              <a:rPr lang="en-US" altLang="zh-CN" dirty="0" smtClean="0"/>
              <a:t>Equations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091885"/>
              </p:ext>
            </p:extLst>
          </p:nvPr>
        </p:nvGraphicFramePr>
        <p:xfrm>
          <a:off x="4278362" y="1406105"/>
          <a:ext cx="2560320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7" name="公式" r:id="rId3" imgW="1422400" imgH="203200" progId="Equation.3">
                  <p:embed/>
                </p:oleObj>
              </mc:Choice>
              <mc:Fallback>
                <p:oleObj name="公式" r:id="rId3" imgW="1422400" imgH="203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62" y="1406105"/>
                        <a:ext cx="2560320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85438"/>
              </p:ext>
            </p:extLst>
          </p:nvPr>
        </p:nvGraphicFramePr>
        <p:xfrm>
          <a:off x="3173193" y="1922839"/>
          <a:ext cx="2720340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8" name="公式" r:id="rId5" imgW="1511300" imgH="203200" progId="Equation.3">
                  <p:embed/>
                </p:oleObj>
              </mc:Choice>
              <mc:Fallback>
                <p:oleObj name="公式" r:id="rId5" imgW="15113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193" y="1922839"/>
                        <a:ext cx="2720340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3653" y="2876126"/>
            <a:ext cx="4359420" cy="257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7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Basic Elements for Block Diagram (CT)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adder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multiplication by a coefficient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differentiator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2.4 Differential and Difference Equations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494" y="1445773"/>
            <a:ext cx="3244725" cy="1333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338" y="3264587"/>
            <a:ext cx="2771213" cy="5967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840" y="4535254"/>
            <a:ext cx="3143813" cy="5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3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 </a:t>
            </a:r>
            <a:r>
              <a:rPr lang="en-US" dirty="0" smtClean="0"/>
              <a:t>(CT</a:t>
            </a:r>
            <a:r>
              <a:rPr lang="en-US" dirty="0"/>
              <a:t>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differential equation</a:t>
            </a:r>
          </a:p>
          <a:p>
            <a:endParaRPr lang="en-US" dirty="0" smtClean="0"/>
          </a:p>
          <a:p>
            <a:r>
              <a:rPr lang="en-US" dirty="0" smtClean="0"/>
              <a:t>rewrite it 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§2.4 Differential and Difference </a:t>
            </a:r>
            <a:r>
              <a:rPr lang="en-US" altLang="zh-CN" dirty="0" smtClean="0"/>
              <a:t>Equations</a:t>
            </a:r>
            <a:endParaRPr 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728170"/>
              </p:ext>
            </p:extLst>
          </p:nvPr>
        </p:nvGraphicFramePr>
        <p:xfrm>
          <a:off x="4318366" y="1308100"/>
          <a:ext cx="23088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1" name="公式" r:id="rId3" imgW="1282700" imgH="393700" progId="Equation.3">
                  <p:embed/>
                </p:oleObj>
              </mc:Choice>
              <mc:Fallback>
                <p:oleObj name="公式" r:id="rId3" imgW="12827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366" y="1308100"/>
                        <a:ext cx="23088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70658"/>
              </p:ext>
            </p:extLst>
          </p:nvPr>
        </p:nvGraphicFramePr>
        <p:xfrm>
          <a:off x="3418740" y="2264403"/>
          <a:ext cx="2696310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2" name="公式" r:id="rId5" imgW="1497950" imgH="393529" progId="Equation.3">
                  <p:embed/>
                </p:oleObj>
              </mc:Choice>
              <mc:Fallback>
                <p:oleObj name="公式" r:id="rId5" imgW="1497950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8740" y="2264403"/>
                        <a:ext cx="2696310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5577" y="3123729"/>
            <a:ext cx="4312845" cy="263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5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 </a:t>
            </a:r>
            <a:r>
              <a:rPr lang="en-US" dirty="0" smtClean="0"/>
              <a:t>(CT)  (</a:t>
            </a:r>
            <a:r>
              <a:rPr lang="en-US" dirty="0" err="1" smtClean="0"/>
              <a:t>cont</a:t>
            </a:r>
            <a:r>
              <a:rPr lang="en-US" dirty="0" smtClean="0"/>
              <a:t>’)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differential equation</a:t>
            </a:r>
          </a:p>
          <a:p>
            <a:pPr marL="0" indent="0">
              <a:buNone/>
            </a:pPr>
            <a:endParaRPr lang="en-US" sz="1600" dirty="0" smtClean="0"/>
          </a:p>
          <a:p>
            <a:r>
              <a:rPr lang="en-US" dirty="0" smtClean="0"/>
              <a:t> rewrite it </a:t>
            </a:r>
          </a:p>
          <a:p>
            <a:r>
              <a:rPr lang="en-US" dirty="0" smtClean="0"/>
              <a:t> integration from </a:t>
            </a:r>
            <a:r>
              <a:rPr lang="en-US" i="1" dirty="0" smtClean="0"/>
              <a:t>t</a:t>
            </a:r>
            <a:r>
              <a:rPr lang="en-US" dirty="0" smtClean="0"/>
              <a:t>=-∞ if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dirty="0"/>
              <a:t>-∞</a:t>
            </a:r>
            <a:r>
              <a:rPr lang="en-US" dirty="0" smtClean="0"/>
              <a:t>)=0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§2.4 Differential and Difference </a:t>
            </a:r>
            <a:r>
              <a:rPr lang="en-US" altLang="zh-CN" dirty="0" smtClean="0"/>
              <a:t>Equations</a:t>
            </a:r>
            <a:endParaRPr 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318366" y="1308100"/>
          <a:ext cx="23088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2" name="公式" r:id="rId3" imgW="1282700" imgH="393700" progId="Equation.3">
                  <p:embed/>
                </p:oleObj>
              </mc:Choice>
              <mc:Fallback>
                <p:oleObj name="公式" r:id="rId3" imgW="1282700" imgH="39370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366" y="1308100"/>
                        <a:ext cx="23088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163525"/>
              </p:ext>
            </p:extLst>
          </p:nvPr>
        </p:nvGraphicFramePr>
        <p:xfrm>
          <a:off x="2708694" y="2016760"/>
          <a:ext cx="2444958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3" name="公式" r:id="rId5" imgW="1358310" imgH="393529" progId="Equation.3">
                  <p:embed/>
                </p:oleObj>
              </mc:Choice>
              <mc:Fallback>
                <p:oleObj name="公式" r:id="rId5" imgW="1358310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694" y="2016760"/>
                        <a:ext cx="2444958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955655"/>
              </p:ext>
            </p:extLst>
          </p:nvPr>
        </p:nvGraphicFramePr>
        <p:xfrm>
          <a:off x="1752008" y="3078729"/>
          <a:ext cx="320040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4" name="公式" r:id="rId7" imgW="1778000" imgH="330200" progId="Equation.3">
                  <p:embed/>
                </p:oleObj>
              </mc:Choice>
              <mc:Fallback>
                <p:oleObj name="公式" r:id="rId7" imgW="17780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008" y="3078729"/>
                        <a:ext cx="3200400" cy="594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1263" y="4233479"/>
            <a:ext cx="4238325" cy="2297101"/>
          </a:xfrm>
          <a:prstGeom prst="rect">
            <a:avLst/>
          </a:prstGeom>
        </p:spPr>
      </p:pic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040618"/>
              </p:ext>
            </p:extLst>
          </p:nvPr>
        </p:nvGraphicFramePr>
        <p:xfrm>
          <a:off x="1739666" y="3559822"/>
          <a:ext cx="390906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5" name="公式" r:id="rId10" imgW="2171700" imgH="355600" progId="Equation.3">
                  <p:embed/>
                </p:oleObj>
              </mc:Choice>
              <mc:Fallback>
                <p:oleObj name="公式" r:id="rId10" imgW="2171700" imgH="355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666" y="3559822"/>
                        <a:ext cx="3909060" cy="64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436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2.5 Singularity Functions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l-GR" i="1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the impulse response of identity system</a:t>
            </a:r>
          </a:p>
          <a:p>
            <a:endParaRPr lang="en-US" dirty="0"/>
          </a:p>
          <a:p>
            <a:r>
              <a:rPr lang="en-US" dirty="0" smtClean="0"/>
              <a:t> Let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l-GR" dirty="0"/>
              <a:t> </a:t>
            </a:r>
            <a:r>
              <a:rPr lang="el-GR" i="1" dirty="0"/>
              <a:t>δ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r>
              <a:rPr lang="en-US" dirty="0" smtClean="0"/>
              <a:t>,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can also be used to define </a:t>
            </a:r>
            <a:r>
              <a:rPr lang="el-GR" i="1" dirty="0"/>
              <a:t>δ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The limits of </a:t>
            </a:r>
            <a:r>
              <a:rPr lang="en-US" i="1" dirty="0" smtClean="0"/>
              <a:t>r</a:t>
            </a:r>
            <a:r>
              <a:rPr lang="el-GR" baseline="-25000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)*</a:t>
            </a:r>
            <a:r>
              <a:rPr lang="en-US" i="1" dirty="0"/>
              <a:t> r</a:t>
            </a:r>
            <a:r>
              <a:rPr lang="el-GR" baseline="-25000" dirty="0"/>
              <a:t>Δ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), </a:t>
            </a:r>
            <a:r>
              <a:rPr lang="en-US" i="1" dirty="0"/>
              <a:t>r</a:t>
            </a:r>
            <a:r>
              <a:rPr lang="el-GR" baseline="-25000" dirty="0"/>
              <a:t>Δ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)*</a:t>
            </a:r>
            <a:r>
              <a:rPr lang="en-US" i="1" dirty="0"/>
              <a:t> </a:t>
            </a:r>
            <a:r>
              <a:rPr lang="el-GR" i="1" dirty="0" smtClean="0"/>
              <a:t>δ</a:t>
            </a:r>
            <a:r>
              <a:rPr lang="el-GR" baseline="-25000" dirty="0" smtClean="0"/>
              <a:t>Δ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 as </a:t>
            </a:r>
            <a:r>
              <a:rPr lang="el-GR" dirty="0" smtClean="0"/>
              <a:t>Δ</a:t>
            </a:r>
            <a:r>
              <a:rPr lang="en-US" dirty="0" smtClean="0">
                <a:sym typeface="Wingdings" panose="05000000000000000000" pitchFamily="2" charset="2"/>
              </a:rPr>
              <a:t>0 are all unit impulses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§2.5 Singularity Functions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516497"/>
              </p:ext>
            </p:extLst>
          </p:nvPr>
        </p:nvGraphicFramePr>
        <p:xfrm>
          <a:off x="2915420" y="1889184"/>
          <a:ext cx="1850857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8" name="公式" r:id="rId3" imgW="1028254" imgH="203112" progId="Equation.3">
                  <p:embed/>
                </p:oleObj>
              </mc:Choice>
              <mc:Fallback>
                <p:oleObj name="公式" r:id="rId3" imgW="1028254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420" y="1889184"/>
                        <a:ext cx="1850857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945229"/>
              </p:ext>
            </p:extLst>
          </p:nvPr>
        </p:nvGraphicFramePr>
        <p:xfrm>
          <a:off x="3433312" y="2405760"/>
          <a:ext cx="1897380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9" name="公式" r:id="rId5" imgW="1054100" imgH="203200" progId="Equation.3">
                  <p:embed/>
                </p:oleObj>
              </mc:Choice>
              <mc:Fallback>
                <p:oleObj name="公式" r:id="rId5" imgW="10541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312" y="2405760"/>
                        <a:ext cx="1897380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660459"/>
              </p:ext>
            </p:extLst>
          </p:nvPr>
        </p:nvGraphicFramePr>
        <p:xfrm>
          <a:off x="1199071" y="2857336"/>
          <a:ext cx="2148840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0" name="公式" r:id="rId7" imgW="1193800" imgH="215900" progId="Equation.3">
                  <p:embed/>
                </p:oleObj>
              </mc:Choice>
              <mc:Fallback>
                <p:oleObj name="公式" r:id="rId7" imgW="11938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071" y="2857336"/>
                        <a:ext cx="2148840" cy="388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6025" y="4226944"/>
            <a:ext cx="4342088" cy="159588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115049" y="4378556"/>
            <a:ext cx="2338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“</a:t>
            </a:r>
            <a:r>
              <a:rPr lang="el-G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small enough”?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0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Define Unit Impulse through Convolution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Operation definition  </a:t>
            </a:r>
            <a:r>
              <a:rPr lang="en-US" dirty="0" smtClean="0"/>
              <a:t>#1: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Operation definition </a:t>
            </a:r>
            <a:r>
              <a:rPr lang="en-US" dirty="0" smtClean="0"/>
              <a:t>#2: 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§2.5 Singularity Functions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95018"/>
              </p:ext>
            </p:extLst>
          </p:nvPr>
        </p:nvGraphicFramePr>
        <p:xfrm>
          <a:off x="5080958" y="1431984"/>
          <a:ext cx="1850857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7" name="公式" r:id="rId3" imgW="1028254" imgH="203112" progId="Equation.3">
                  <p:embed/>
                </p:oleObj>
              </mc:Choice>
              <mc:Fallback>
                <p:oleObj name="公式" r:id="rId3" imgW="1028254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958" y="1431984"/>
                        <a:ext cx="1850857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954410"/>
              </p:ext>
            </p:extLst>
          </p:nvPr>
        </p:nvGraphicFramePr>
        <p:xfrm>
          <a:off x="5080958" y="1797586"/>
          <a:ext cx="24917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8" name="公式" r:id="rId5" imgW="1384300" imgH="330200" progId="Equation.3">
                  <p:embed/>
                </p:oleObj>
              </mc:Choice>
              <mc:Fallback>
                <p:oleObj name="公式" r:id="rId5" imgW="13843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958" y="1797586"/>
                        <a:ext cx="249174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412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Doublets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unit doublet</a:t>
            </a:r>
            <a:r>
              <a:rPr lang="en-US" dirty="0" smtClean="0"/>
              <a:t>: unit impulse response of </a:t>
            </a:r>
          </a:p>
          <a:p>
            <a:endParaRPr lang="en-US" dirty="0"/>
          </a:p>
          <a:p>
            <a:r>
              <a:rPr lang="en-US" dirty="0" smtClean="0"/>
              <a:t> Let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)=1, 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§2.5 Singularity </a:t>
            </a:r>
            <a:r>
              <a:rPr lang="en-US" altLang="zh-CN" dirty="0" smtClean="0"/>
              <a:t>Functions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008293"/>
              </p:ext>
            </p:extLst>
          </p:nvPr>
        </p:nvGraphicFramePr>
        <p:xfrm>
          <a:off x="6838682" y="1224741"/>
          <a:ext cx="685503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6" name="公式" r:id="rId3" imgW="380835" imgH="393529" progId="Equation.3">
                  <p:embed/>
                </p:oleObj>
              </mc:Choice>
              <mc:Fallback>
                <p:oleObj name="公式" r:id="rId3" imgW="380835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682" y="1224741"/>
                        <a:ext cx="685503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284659"/>
              </p:ext>
            </p:extLst>
          </p:nvPr>
        </p:nvGraphicFramePr>
        <p:xfrm>
          <a:off x="3226278" y="1636691"/>
          <a:ext cx="20802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7" name="公式" r:id="rId5" imgW="1155700" imgH="393700" progId="Equation.3">
                  <p:embed/>
                </p:oleObj>
              </mc:Choice>
              <mc:Fallback>
                <p:oleObj name="公式" r:id="rId5" imgW="11557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6278" y="1636691"/>
                        <a:ext cx="20802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643768"/>
              </p:ext>
            </p:extLst>
          </p:nvPr>
        </p:nvGraphicFramePr>
        <p:xfrm>
          <a:off x="1345720" y="2685336"/>
          <a:ext cx="22402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8" name="公式" r:id="rId7" imgW="1244600" imgH="419100" progId="Equation.3">
                  <p:embed/>
                </p:oleObj>
              </mc:Choice>
              <mc:Fallback>
                <p:oleObj name="公式" r:id="rId7" imgW="12446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720" y="2685336"/>
                        <a:ext cx="22402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17111"/>
              </p:ext>
            </p:extLst>
          </p:nvPr>
        </p:nvGraphicFramePr>
        <p:xfrm>
          <a:off x="4266407" y="2934551"/>
          <a:ext cx="2079358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9" name="公式" r:id="rId9" imgW="1155199" imgH="215806" progId="Equation.3">
                  <p:embed/>
                </p:oleObj>
              </mc:Choice>
              <mc:Fallback>
                <p:oleObj name="公式" r:id="rId9" imgW="1155199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6407" y="2934551"/>
                        <a:ext cx="2079358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874700"/>
              </p:ext>
            </p:extLst>
          </p:nvPr>
        </p:nvGraphicFramePr>
        <p:xfrm>
          <a:off x="2777704" y="2273078"/>
          <a:ext cx="62407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0" name="公式" r:id="rId11" imgW="3467100" imgH="393700" progId="Equation.3">
                  <p:embed/>
                </p:oleObj>
              </mc:Choice>
              <mc:Fallback>
                <p:oleObj name="公式" r:id="rId11" imgW="34671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704" y="2273078"/>
                        <a:ext cx="62407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935129"/>
              </p:ext>
            </p:extLst>
          </p:nvPr>
        </p:nvGraphicFramePr>
        <p:xfrm>
          <a:off x="2293083" y="3851974"/>
          <a:ext cx="22402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1" name="公式" r:id="rId13" imgW="1244600" imgH="419100" progId="Equation.3">
                  <p:embed/>
                </p:oleObj>
              </mc:Choice>
              <mc:Fallback>
                <p:oleObj name="公式" r:id="rId13" imgW="1244600" imgH="4191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083" y="3851974"/>
                        <a:ext cx="22402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266638"/>
              </p:ext>
            </p:extLst>
          </p:nvPr>
        </p:nvGraphicFramePr>
        <p:xfrm>
          <a:off x="2251173" y="4936887"/>
          <a:ext cx="41833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2" name="公式" r:id="rId15" imgW="2324100" imgH="393700" progId="Equation.3">
                  <p:embed/>
                </p:oleObj>
              </mc:Choice>
              <mc:Fallback>
                <p:oleObj name="公式" r:id="rId15" imgW="2324100" imgH="3937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173" y="4936887"/>
                        <a:ext cx="41833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040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Family </a:t>
            </a:r>
            <a:r>
              <a:rPr lang="en-US" dirty="0"/>
              <a:t>of Singularity Functions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§2.5 Singularity </a:t>
            </a:r>
            <a:r>
              <a:rPr lang="en-US" altLang="zh-CN" dirty="0" smtClean="0"/>
              <a:t>Functions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387127"/>
              </p:ext>
            </p:extLst>
          </p:nvPr>
        </p:nvGraphicFramePr>
        <p:xfrm>
          <a:off x="1409422" y="3112557"/>
          <a:ext cx="43205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0" name="公式" r:id="rId3" imgW="2400300" imgH="393700" progId="Equation.3">
                  <p:embed/>
                </p:oleObj>
              </mc:Choice>
              <mc:Fallback>
                <p:oleObj name="公式" r:id="rId3" imgW="24003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422" y="3112557"/>
                        <a:ext cx="43205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65792"/>
              </p:ext>
            </p:extLst>
          </p:nvPr>
        </p:nvGraphicFramePr>
        <p:xfrm>
          <a:off x="1431984" y="1639736"/>
          <a:ext cx="13258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1" name="公式" r:id="rId5" imgW="736600" imgH="228600" progId="Equation.3">
                  <p:embed/>
                </p:oleObj>
              </mc:Choice>
              <mc:Fallback>
                <p:oleObj name="公式" r:id="rId5" imgW="7366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84" y="1639736"/>
                        <a:ext cx="132588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027415"/>
              </p:ext>
            </p:extLst>
          </p:nvPr>
        </p:nvGraphicFramePr>
        <p:xfrm>
          <a:off x="1409422" y="2051216"/>
          <a:ext cx="1371004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2" name="公式" r:id="rId7" imgW="761669" imgH="215806" progId="Equation.3">
                  <p:embed/>
                </p:oleObj>
              </mc:Choice>
              <mc:Fallback>
                <p:oleObj name="公式" r:id="rId7" imgW="761669" imgH="2158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422" y="2051216"/>
                        <a:ext cx="1371004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861338"/>
              </p:ext>
            </p:extLst>
          </p:nvPr>
        </p:nvGraphicFramePr>
        <p:xfrm>
          <a:off x="1431984" y="2511645"/>
          <a:ext cx="208026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3" name="公式" r:id="rId9" imgW="1155600" imgH="330120" progId="Equation.3">
                  <p:embed/>
                </p:oleObj>
              </mc:Choice>
              <mc:Fallback>
                <p:oleObj name="公式" r:id="rId9" imgW="1155600" imgH="330120" progId="Equation.3">
                  <p:embed/>
                  <p:pic>
                    <p:nvPicPr>
                      <p:cNvPr id="0" name="Object 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84" y="2511645"/>
                        <a:ext cx="208026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791372"/>
              </p:ext>
            </p:extLst>
          </p:nvPr>
        </p:nvGraphicFramePr>
        <p:xfrm>
          <a:off x="4533362" y="2675866"/>
          <a:ext cx="1485256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4" name="公式" r:id="rId11" imgW="825142" imgH="215806" progId="Equation.3">
                  <p:embed/>
                </p:oleObj>
              </mc:Choice>
              <mc:Fallback>
                <p:oleObj name="公式" r:id="rId11" imgW="825142" imgH="2158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362" y="2675866"/>
                        <a:ext cx="1485256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924" y="3958407"/>
            <a:ext cx="5486875" cy="201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8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Convolution sum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Convolution integral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Differential equation and Difference equation</a:t>
            </a:r>
          </a:p>
          <a:p>
            <a:r>
              <a:rPr lang="en-US" altLang="zh-CN" dirty="0" smtClean="0"/>
              <a:t> Again, we focus on </a:t>
            </a:r>
            <a:r>
              <a:rPr lang="en-US" altLang="zh-CN" b="1" dirty="0" smtClean="0">
                <a:solidFill>
                  <a:srgbClr val="C00000"/>
                </a:solidFill>
              </a:rPr>
              <a:t>linear, time-invariant (LTI)</a:t>
            </a:r>
            <a:r>
              <a:rPr lang="en-US" altLang="zh-CN" dirty="0" smtClean="0"/>
              <a:t> systems in the remaining part of this course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4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2080</TotalTime>
  <Words>1507</Words>
  <Application>Microsoft Office PowerPoint</Application>
  <PresentationFormat>全屏显示(4:3)</PresentationFormat>
  <Paragraphs>294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等线</vt:lpstr>
      <vt:lpstr>宋体</vt:lpstr>
      <vt:lpstr>Microsoft YaHei</vt:lpstr>
      <vt:lpstr>Microsoft YaHei</vt:lpstr>
      <vt:lpstr>Arial</vt:lpstr>
      <vt:lpstr>Cambria Math</vt:lpstr>
      <vt:lpstr>Times New Roman</vt:lpstr>
      <vt:lpstr>Wingdings</vt:lpstr>
      <vt:lpstr>Office 主题​​</vt:lpstr>
      <vt:lpstr>公式</vt:lpstr>
      <vt:lpstr>PowerPoint 演示文稿</vt:lpstr>
      <vt:lpstr>Chapter 2 LTI Systems</vt:lpstr>
      <vt:lpstr>Outline</vt:lpstr>
      <vt:lpstr>Recall: Superposition, Unit Sample</vt:lpstr>
      <vt:lpstr>§2.1 Convolution Sum</vt:lpstr>
      <vt:lpstr>Unit Impulse Response (DT)</vt:lpstr>
      <vt:lpstr>Convolution Sum</vt:lpstr>
      <vt:lpstr>Example 2.1</vt:lpstr>
      <vt:lpstr>Example 2.4</vt:lpstr>
      <vt:lpstr>§2.2 Convolution Integral</vt:lpstr>
      <vt:lpstr>Representation of Continuous-Time Signal in Terms of Impulses</vt:lpstr>
      <vt:lpstr>Convolution Integral (CT)</vt:lpstr>
      <vt:lpstr>Unit Impulse Response (CT)</vt:lpstr>
      <vt:lpstr>Example 2.6</vt:lpstr>
      <vt:lpstr>§2.3 Properties of LTI Systems</vt:lpstr>
      <vt:lpstr>Properties of LTI Systems</vt:lpstr>
      <vt:lpstr>Properties of LTI Systems (cont’)</vt:lpstr>
      <vt:lpstr>Causality and Stability</vt:lpstr>
      <vt:lpstr>Other Properties of Convolution</vt:lpstr>
      <vt:lpstr>§2.4 Differential and Difference Equations</vt:lpstr>
      <vt:lpstr>Three Steps to Solve Differential Equations</vt:lpstr>
      <vt:lpstr>Unit Impulse Response</vt:lpstr>
      <vt:lpstr>Linear Constant-Coefficient Difference Equation</vt:lpstr>
      <vt:lpstr>Basic Elements for Block Diagram (DT)</vt:lpstr>
      <vt:lpstr>Block Diagram (DT)</vt:lpstr>
      <vt:lpstr>Basic Elements for Block Diagram (CT)</vt:lpstr>
      <vt:lpstr>Block Diagram (CT)</vt:lpstr>
      <vt:lpstr>Block Diagram (CT)  (cont’)</vt:lpstr>
      <vt:lpstr>§2.5 Singularity Functions</vt:lpstr>
      <vt:lpstr>Define Unit Impulse through Convolution</vt:lpstr>
      <vt:lpstr>Unit Doublets</vt:lpstr>
      <vt:lpstr>Family of Singularity Functions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181</cp:revision>
  <dcterms:created xsi:type="dcterms:W3CDTF">2018-09-11T08:26:55Z</dcterms:created>
  <dcterms:modified xsi:type="dcterms:W3CDTF">2020-09-16T14:46:02Z</dcterms:modified>
</cp:coreProperties>
</file>