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332" r:id="rId2"/>
    <p:sldId id="333" r:id="rId3"/>
    <p:sldId id="256" r:id="rId4"/>
    <p:sldId id="287" r:id="rId5"/>
    <p:sldId id="309" r:id="rId6"/>
    <p:sldId id="312" r:id="rId7"/>
    <p:sldId id="313" r:id="rId8"/>
    <p:sldId id="315" r:id="rId9"/>
    <p:sldId id="317" r:id="rId10"/>
    <p:sldId id="318" r:id="rId11"/>
    <p:sldId id="319" r:id="rId12"/>
    <p:sldId id="320" r:id="rId13"/>
    <p:sldId id="321" r:id="rId14"/>
    <p:sldId id="322" r:id="rId15"/>
    <p:sldId id="323" r:id="rId16"/>
    <p:sldId id="324" r:id="rId17"/>
    <p:sldId id="325" r:id="rId18"/>
    <p:sldId id="328" r:id="rId19"/>
    <p:sldId id="329" r:id="rId20"/>
    <p:sldId id="330" r:id="rId21"/>
    <p:sldId id="334" r:id="rId22"/>
    <p:sldId id="335" r:id="rId23"/>
    <p:sldId id="307" r:id="rId24"/>
    <p:sldId id="331" r:id="rId25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881" autoAdjust="0"/>
    <p:restoredTop sz="94660"/>
  </p:normalViewPr>
  <p:slideViewPr>
    <p:cSldViewPr snapToGrid="0">
      <p:cViewPr varScale="1">
        <p:scale>
          <a:sx n="89" d="100"/>
          <a:sy n="89" d="100"/>
        </p:scale>
        <p:origin x="1075" y="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7" Type="http://schemas.openxmlformats.org/officeDocument/2006/relationships/image" Target="../media/image10.wmf"/><Relationship Id="rId2" Type="http://schemas.openxmlformats.org/officeDocument/2006/relationships/image" Target="../media/image5.wmf"/><Relationship Id="rId1" Type="http://schemas.openxmlformats.org/officeDocument/2006/relationships/image" Target="../media/image4.wmf"/><Relationship Id="rId6" Type="http://schemas.openxmlformats.org/officeDocument/2006/relationships/image" Target="../media/image9.wmf"/><Relationship Id="rId5" Type="http://schemas.openxmlformats.org/officeDocument/2006/relationships/image" Target="../media/image8.wmf"/><Relationship Id="rId4" Type="http://schemas.openxmlformats.org/officeDocument/2006/relationships/image" Target="../media/image7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image" Target="../media/image12.wmf"/><Relationship Id="rId1" Type="http://schemas.openxmlformats.org/officeDocument/2006/relationships/image" Target="../media/image11.wmf"/><Relationship Id="rId4" Type="http://schemas.openxmlformats.org/officeDocument/2006/relationships/image" Target="../media/image14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17.wmf"/><Relationship Id="rId1" Type="http://schemas.openxmlformats.org/officeDocument/2006/relationships/image" Target="../media/image16.wmf"/><Relationship Id="rId5" Type="http://schemas.openxmlformats.org/officeDocument/2006/relationships/image" Target="../media/image19.wmf"/><Relationship Id="rId4" Type="http://schemas.openxmlformats.org/officeDocument/2006/relationships/image" Target="../media/image18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7" Type="http://schemas.openxmlformats.org/officeDocument/2006/relationships/image" Target="../media/image27.wmf"/><Relationship Id="rId2" Type="http://schemas.openxmlformats.org/officeDocument/2006/relationships/image" Target="../media/image22.wmf"/><Relationship Id="rId1" Type="http://schemas.openxmlformats.org/officeDocument/2006/relationships/image" Target="../media/image21.wmf"/><Relationship Id="rId6" Type="http://schemas.openxmlformats.org/officeDocument/2006/relationships/image" Target="../media/image26.wmf"/><Relationship Id="rId5" Type="http://schemas.openxmlformats.org/officeDocument/2006/relationships/image" Target="../media/image25.wmf"/><Relationship Id="rId4" Type="http://schemas.openxmlformats.org/officeDocument/2006/relationships/image" Target="../media/image24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27.wmf"/><Relationship Id="rId1" Type="http://schemas.openxmlformats.org/officeDocument/2006/relationships/image" Target="../media/image29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2" Type="http://schemas.openxmlformats.org/officeDocument/2006/relationships/image" Target="../media/image34.wmf"/><Relationship Id="rId1" Type="http://schemas.openxmlformats.org/officeDocument/2006/relationships/image" Target="../media/image33.wmf"/><Relationship Id="rId6" Type="http://schemas.openxmlformats.org/officeDocument/2006/relationships/image" Target="../media/image38.wmf"/><Relationship Id="rId5" Type="http://schemas.openxmlformats.org/officeDocument/2006/relationships/image" Target="../media/image37.wmf"/><Relationship Id="rId4" Type="http://schemas.openxmlformats.org/officeDocument/2006/relationships/image" Target="../media/image36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41.wmf"/><Relationship Id="rId2" Type="http://schemas.openxmlformats.org/officeDocument/2006/relationships/image" Target="../media/image40.wmf"/><Relationship Id="rId1" Type="http://schemas.openxmlformats.org/officeDocument/2006/relationships/image" Target="../media/image39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44.wmf"/><Relationship Id="rId2" Type="http://schemas.openxmlformats.org/officeDocument/2006/relationships/image" Target="../media/image43.wmf"/><Relationship Id="rId1" Type="http://schemas.openxmlformats.org/officeDocument/2006/relationships/image" Target="../media/image42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47.wmf"/><Relationship Id="rId7" Type="http://schemas.openxmlformats.org/officeDocument/2006/relationships/image" Target="../media/image51.wmf"/><Relationship Id="rId2" Type="http://schemas.openxmlformats.org/officeDocument/2006/relationships/image" Target="../media/image46.wmf"/><Relationship Id="rId1" Type="http://schemas.openxmlformats.org/officeDocument/2006/relationships/image" Target="../media/image45.wmf"/><Relationship Id="rId6" Type="http://schemas.openxmlformats.org/officeDocument/2006/relationships/image" Target="../media/image50.wmf"/><Relationship Id="rId5" Type="http://schemas.openxmlformats.org/officeDocument/2006/relationships/image" Target="../media/image49.wmf"/><Relationship Id="rId4" Type="http://schemas.openxmlformats.org/officeDocument/2006/relationships/image" Target="../media/image48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3.wmf"/><Relationship Id="rId2" Type="http://schemas.openxmlformats.org/officeDocument/2006/relationships/image" Target="../media/image50.wmf"/><Relationship Id="rId1" Type="http://schemas.openxmlformats.org/officeDocument/2006/relationships/image" Target="../media/image45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4.w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62.wmf"/><Relationship Id="rId13" Type="http://schemas.openxmlformats.org/officeDocument/2006/relationships/image" Target="../media/image67.wmf"/><Relationship Id="rId3" Type="http://schemas.openxmlformats.org/officeDocument/2006/relationships/image" Target="../media/image57.wmf"/><Relationship Id="rId7" Type="http://schemas.openxmlformats.org/officeDocument/2006/relationships/image" Target="../media/image61.wmf"/><Relationship Id="rId12" Type="http://schemas.openxmlformats.org/officeDocument/2006/relationships/image" Target="../media/image66.wmf"/><Relationship Id="rId2" Type="http://schemas.openxmlformats.org/officeDocument/2006/relationships/image" Target="../media/image56.wmf"/><Relationship Id="rId1" Type="http://schemas.openxmlformats.org/officeDocument/2006/relationships/image" Target="../media/image55.wmf"/><Relationship Id="rId6" Type="http://schemas.openxmlformats.org/officeDocument/2006/relationships/image" Target="../media/image60.wmf"/><Relationship Id="rId11" Type="http://schemas.openxmlformats.org/officeDocument/2006/relationships/image" Target="../media/image65.wmf"/><Relationship Id="rId5" Type="http://schemas.openxmlformats.org/officeDocument/2006/relationships/image" Target="../media/image59.wmf"/><Relationship Id="rId10" Type="http://schemas.openxmlformats.org/officeDocument/2006/relationships/image" Target="../media/image64.wmf"/><Relationship Id="rId4" Type="http://schemas.openxmlformats.org/officeDocument/2006/relationships/image" Target="../media/image58.wmf"/><Relationship Id="rId9" Type="http://schemas.openxmlformats.org/officeDocument/2006/relationships/image" Target="../media/image63.wmf"/><Relationship Id="rId14" Type="http://schemas.openxmlformats.org/officeDocument/2006/relationships/image" Target="../media/image68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75.wmf"/><Relationship Id="rId2" Type="http://schemas.openxmlformats.org/officeDocument/2006/relationships/image" Target="../media/image74.wmf"/><Relationship Id="rId1" Type="http://schemas.openxmlformats.org/officeDocument/2006/relationships/image" Target="../media/image73.wmf"/><Relationship Id="rId5" Type="http://schemas.openxmlformats.org/officeDocument/2006/relationships/image" Target="../media/image77.wmf"/><Relationship Id="rId4" Type="http://schemas.openxmlformats.org/officeDocument/2006/relationships/image" Target="../media/image7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6065A7-DFD5-4551-9E93-CC0B196D68A3}" type="datetimeFigureOut">
              <a:rPr lang="zh-CN" altLang="en-US" smtClean="0"/>
              <a:t>2020/9/30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FCD5FA-AD32-4B9A-9235-7F5254E91E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05297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单击以编辑母版副标题样式</a:t>
            </a: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902465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514350" indent="-514350">
              <a:buFont typeface="+mj-lt"/>
              <a:buAutoNum type="arabicPeriod"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628650" y="1240485"/>
            <a:ext cx="7920000" cy="0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占位符 11"/>
          <p:cNvSpPr>
            <a:spLocks noGrp="1"/>
          </p:cNvSpPr>
          <p:nvPr>
            <p:ph type="body" sz="quarter" idx="13"/>
          </p:nvPr>
        </p:nvSpPr>
        <p:spPr>
          <a:xfrm>
            <a:off x="4675031" y="57929"/>
            <a:ext cx="4468969" cy="223838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7842667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 smtClean="0"/>
              <a:t>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628650" y="1240485"/>
            <a:ext cx="7920000" cy="0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占位符 11"/>
          <p:cNvSpPr>
            <a:spLocks noGrp="1"/>
          </p:cNvSpPr>
          <p:nvPr>
            <p:ph type="body" sz="quarter" idx="13"/>
          </p:nvPr>
        </p:nvSpPr>
        <p:spPr>
          <a:xfrm>
            <a:off x="4533363" y="0"/>
            <a:ext cx="4610638" cy="297511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7628924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503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336514"/>
            <a:ext cx="3886200" cy="4840449"/>
          </a:xfrm>
        </p:spPr>
        <p:txBody>
          <a:bodyPr/>
          <a:lstStyle/>
          <a:p>
            <a:pPr lvl="0"/>
            <a:r>
              <a:rPr lang="zh-CN" altLang="en-US" dirty="0" smtClean="0"/>
              <a:t>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336514"/>
            <a:ext cx="3886200" cy="4840449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628650" y="1240485"/>
            <a:ext cx="7920000" cy="0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占位符 11"/>
          <p:cNvSpPr>
            <a:spLocks noGrp="1"/>
          </p:cNvSpPr>
          <p:nvPr>
            <p:ph type="body" sz="quarter" idx="13"/>
          </p:nvPr>
        </p:nvSpPr>
        <p:spPr>
          <a:xfrm>
            <a:off x="4855335" y="57929"/>
            <a:ext cx="4288665" cy="223838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7243632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7"/>
            <a:ext cx="7886700" cy="792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3382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162174"/>
            <a:ext cx="3868340" cy="3933825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3382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162175"/>
            <a:ext cx="3887391" cy="3933824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628650" y="1240485"/>
            <a:ext cx="7920000" cy="0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11"/>
          <p:cNvSpPr>
            <a:spLocks noGrp="1"/>
          </p:cNvSpPr>
          <p:nvPr>
            <p:ph type="body" sz="quarter" idx="13"/>
          </p:nvPr>
        </p:nvSpPr>
        <p:spPr>
          <a:xfrm>
            <a:off x="4829577" y="57929"/>
            <a:ext cx="4314423" cy="223840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719730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628650" y="1240485"/>
            <a:ext cx="7920000" cy="0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占位符 11"/>
          <p:cNvSpPr>
            <a:spLocks noGrp="1"/>
          </p:cNvSpPr>
          <p:nvPr>
            <p:ph type="body" sz="quarter" idx="13"/>
          </p:nvPr>
        </p:nvSpPr>
        <p:spPr>
          <a:xfrm>
            <a:off x="4752305" y="57929"/>
            <a:ext cx="4391696" cy="223838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6948178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文本占位符 11"/>
          <p:cNvSpPr>
            <a:spLocks noGrp="1"/>
          </p:cNvSpPr>
          <p:nvPr>
            <p:ph type="body" sz="quarter" idx="13"/>
          </p:nvPr>
        </p:nvSpPr>
        <p:spPr>
          <a:xfrm>
            <a:off x="4468969" y="0"/>
            <a:ext cx="4675031" cy="281767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2250194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文本占位符 11"/>
          <p:cNvSpPr>
            <a:spLocks noGrp="1"/>
          </p:cNvSpPr>
          <p:nvPr>
            <p:ph type="body" sz="quarter" idx="13"/>
          </p:nvPr>
        </p:nvSpPr>
        <p:spPr>
          <a:xfrm>
            <a:off x="5730875" y="57929"/>
            <a:ext cx="3413125" cy="223838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3909845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文本占位符 11"/>
          <p:cNvSpPr>
            <a:spLocks noGrp="1"/>
          </p:cNvSpPr>
          <p:nvPr>
            <p:ph type="body" sz="quarter" idx="13"/>
          </p:nvPr>
        </p:nvSpPr>
        <p:spPr>
          <a:xfrm>
            <a:off x="5730875" y="57929"/>
            <a:ext cx="3413125" cy="223838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976313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11"/>
          <p:cNvSpPr>
            <a:spLocks noGrp="1"/>
          </p:cNvSpPr>
          <p:nvPr>
            <p:ph type="body" sz="quarter" idx="13"/>
          </p:nvPr>
        </p:nvSpPr>
        <p:spPr>
          <a:xfrm>
            <a:off x="5730875" y="57929"/>
            <a:ext cx="3413125" cy="223838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321001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89374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550EC97-E344-49BB-AF44-3FA9C7012734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612123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79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308100"/>
            <a:ext cx="7886700" cy="48688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fld id="{86F5DB48-3968-470F-BA12-55E81E004322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6176963"/>
            <a:ext cx="2820837" cy="681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7194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1" r:id="rId1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p"/>
        <a:defRPr sz="28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n"/>
        <a:defRPr sz="24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u"/>
        <a:defRPr sz="20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Ø"/>
        <a:defRPr sz="18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13" Type="http://schemas.openxmlformats.org/officeDocument/2006/relationships/oleObject" Target="../embeddings/oleObject6.bin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8.wmf"/><Relationship Id="rId2" Type="http://schemas.openxmlformats.org/officeDocument/2006/relationships/slideLayout" Target="../slideLayouts/slideLayout3.xml"/><Relationship Id="rId16" Type="http://schemas.openxmlformats.org/officeDocument/2006/relationships/image" Target="../media/image10.wmf"/><Relationship Id="rId1" Type="http://schemas.openxmlformats.org/officeDocument/2006/relationships/vmlDrawing" Target="../drawings/vmlDrawing1.vml"/><Relationship Id="rId6" Type="http://schemas.openxmlformats.org/officeDocument/2006/relationships/image" Target="../media/image5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10" Type="http://schemas.openxmlformats.org/officeDocument/2006/relationships/image" Target="../media/image7.wmf"/><Relationship Id="rId4" Type="http://schemas.openxmlformats.org/officeDocument/2006/relationships/image" Target="../media/image4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9.wm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3" Type="http://schemas.openxmlformats.org/officeDocument/2006/relationships/image" Target="../media/image15.emf"/><Relationship Id="rId7" Type="http://schemas.openxmlformats.org/officeDocument/2006/relationships/image" Target="../media/image12.wmf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9.bin"/><Relationship Id="rId11" Type="http://schemas.openxmlformats.org/officeDocument/2006/relationships/image" Target="../media/image14.wmf"/><Relationship Id="rId5" Type="http://schemas.openxmlformats.org/officeDocument/2006/relationships/image" Target="../media/image11.wmf"/><Relationship Id="rId10" Type="http://schemas.openxmlformats.org/officeDocument/2006/relationships/oleObject" Target="../embeddings/oleObject11.bin"/><Relationship Id="rId4" Type="http://schemas.openxmlformats.org/officeDocument/2006/relationships/oleObject" Target="../embeddings/oleObject8.bin"/><Relationship Id="rId9" Type="http://schemas.openxmlformats.org/officeDocument/2006/relationships/image" Target="../media/image13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.bin"/><Relationship Id="rId13" Type="http://schemas.openxmlformats.org/officeDocument/2006/relationships/image" Target="../media/image19.wmf"/><Relationship Id="rId3" Type="http://schemas.openxmlformats.org/officeDocument/2006/relationships/image" Target="../media/image20.emf"/><Relationship Id="rId7" Type="http://schemas.openxmlformats.org/officeDocument/2006/relationships/image" Target="../media/image17.wmf"/><Relationship Id="rId12" Type="http://schemas.openxmlformats.org/officeDocument/2006/relationships/oleObject" Target="../embeddings/oleObject15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13.bin"/><Relationship Id="rId11" Type="http://schemas.openxmlformats.org/officeDocument/2006/relationships/image" Target="../media/image18.wmf"/><Relationship Id="rId5" Type="http://schemas.openxmlformats.org/officeDocument/2006/relationships/image" Target="../media/image16.wmf"/><Relationship Id="rId10" Type="http://schemas.openxmlformats.org/officeDocument/2006/relationships/oleObject" Target="../embeddings/oleObject14.bin"/><Relationship Id="rId4" Type="http://schemas.openxmlformats.org/officeDocument/2006/relationships/oleObject" Target="../embeddings/oleObject12.bin"/><Relationship Id="rId9" Type="http://schemas.openxmlformats.org/officeDocument/2006/relationships/image" Target="../media/image14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.bin"/><Relationship Id="rId13" Type="http://schemas.openxmlformats.org/officeDocument/2006/relationships/image" Target="../media/image25.wmf"/><Relationship Id="rId3" Type="http://schemas.openxmlformats.org/officeDocument/2006/relationships/image" Target="../media/image28.emf"/><Relationship Id="rId7" Type="http://schemas.openxmlformats.org/officeDocument/2006/relationships/image" Target="../media/image22.wmf"/><Relationship Id="rId12" Type="http://schemas.openxmlformats.org/officeDocument/2006/relationships/oleObject" Target="../embeddings/oleObject20.bin"/><Relationship Id="rId17" Type="http://schemas.openxmlformats.org/officeDocument/2006/relationships/image" Target="../media/image27.wmf"/><Relationship Id="rId2" Type="http://schemas.openxmlformats.org/officeDocument/2006/relationships/slideLayout" Target="../slideLayouts/slideLayout3.xml"/><Relationship Id="rId16" Type="http://schemas.openxmlformats.org/officeDocument/2006/relationships/oleObject" Target="../embeddings/oleObject22.bin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17.bin"/><Relationship Id="rId11" Type="http://schemas.openxmlformats.org/officeDocument/2006/relationships/image" Target="../media/image24.wmf"/><Relationship Id="rId5" Type="http://schemas.openxmlformats.org/officeDocument/2006/relationships/image" Target="../media/image21.wmf"/><Relationship Id="rId15" Type="http://schemas.openxmlformats.org/officeDocument/2006/relationships/image" Target="../media/image26.wmf"/><Relationship Id="rId10" Type="http://schemas.openxmlformats.org/officeDocument/2006/relationships/oleObject" Target="../embeddings/oleObject19.bin"/><Relationship Id="rId4" Type="http://schemas.openxmlformats.org/officeDocument/2006/relationships/oleObject" Target="../embeddings/oleObject16.bin"/><Relationship Id="rId9" Type="http://schemas.openxmlformats.org/officeDocument/2006/relationships/image" Target="../media/image23.wmf"/><Relationship Id="rId14" Type="http://schemas.openxmlformats.org/officeDocument/2006/relationships/oleObject" Target="../embeddings/oleObject21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wmf"/><Relationship Id="rId3" Type="http://schemas.openxmlformats.org/officeDocument/2006/relationships/image" Target="../media/image30.png"/><Relationship Id="rId7" Type="http://schemas.openxmlformats.org/officeDocument/2006/relationships/oleObject" Target="../embeddings/oleObject23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31.png"/><Relationship Id="rId5" Type="http://schemas.openxmlformats.org/officeDocument/2006/relationships/hyperlink" Target="https://wiki.metropolia.fi/" TargetMode="External"/><Relationship Id="rId10" Type="http://schemas.openxmlformats.org/officeDocument/2006/relationships/image" Target="../media/image27.wmf"/><Relationship Id="rId4" Type="http://schemas.openxmlformats.org/officeDocument/2006/relationships/hyperlink" Target="http://www.memx.com/" TargetMode="External"/><Relationship Id="rId9" Type="http://schemas.openxmlformats.org/officeDocument/2006/relationships/oleObject" Target="../embeddings/oleObject24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32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wmf"/><Relationship Id="rId13" Type="http://schemas.openxmlformats.org/officeDocument/2006/relationships/oleObject" Target="../embeddings/oleObject31.bin"/><Relationship Id="rId3" Type="http://schemas.openxmlformats.org/officeDocument/2006/relationships/oleObject" Target="../embeddings/oleObject26.bin"/><Relationship Id="rId7" Type="http://schemas.openxmlformats.org/officeDocument/2006/relationships/oleObject" Target="../embeddings/oleObject28.bin"/><Relationship Id="rId12" Type="http://schemas.openxmlformats.org/officeDocument/2006/relationships/image" Target="../media/image37.wmf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34.wmf"/><Relationship Id="rId11" Type="http://schemas.openxmlformats.org/officeDocument/2006/relationships/oleObject" Target="../embeddings/oleObject30.bin"/><Relationship Id="rId5" Type="http://schemas.openxmlformats.org/officeDocument/2006/relationships/oleObject" Target="../embeddings/oleObject27.bin"/><Relationship Id="rId10" Type="http://schemas.openxmlformats.org/officeDocument/2006/relationships/image" Target="../media/image36.wmf"/><Relationship Id="rId4" Type="http://schemas.openxmlformats.org/officeDocument/2006/relationships/image" Target="../media/image33.wmf"/><Relationship Id="rId9" Type="http://schemas.openxmlformats.org/officeDocument/2006/relationships/oleObject" Target="../embeddings/oleObject29.bin"/><Relationship Id="rId14" Type="http://schemas.openxmlformats.org/officeDocument/2006/relationships/image" Target="../media/image38.w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wmf"/><Relationship Id="rId3" Type="http://schemas.openxmlformats.org/officeDocument/2006/relationships/oleObject" Target="../embeddings/oleObject32.bin"/><Relationship Id="rId7" Type="http://schemas.openxmlformats.org/officeDocument/2006/relationships/oleObject" Target="../embeddings/oleObject34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40.wmf"/><Relationship Id="rId5" Type="http://schemas.openxmlformats.org/officeDocument/2006/relationships/oleObject" Target="../embeddings/oleObject33.bin"/><Relationship Id="rId4" Type="http://schemas.openxmlformats.org/officeDocument/2006/relationships/image" Target="../media/image39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wmf"/><Relationship Id="rId3" Type="http://schemas.openxmlformats.org/officeDocument/2006/relationships/oleObject" Target="../embeddings/oleObject35.bin"/><Relationship Id="rId7" Type="http://schemas.openxmlformats.org/officeDocument/2006/relationships/oleObject" Target="../embeddings/oleObject37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43.wmf"/><Relationship Id="rId5" Type="http://schemas.openxmlformats.org/officeDocument/2006/relationships/oleObject" Target="../embeddings/oleObject36.bin"/><Relationship Id="rId4" Type="http://schemas.openxmlformats.org/officeDocument/2006/relationships/image" Target="../media/image42.wm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0.bin"/><Relationship Id="rId13" Type="http://schemas.openxmlformats.org/officeDocument/2006/relationships/image" Target="../media/image49.wmf"/><Relationship Id="rId3" Type="http://schemas.openxmlformats.org/officeDocument/2006/relationships/image" Target="../media/image52.emf"/><Relationship Id="rId7" Type="http://schemas.openxmlformats.org/officeDocument/2006/relationships/image" Target="../media/image46.wmf"/><Relationship Id="rId12" Type="http://schemas.openxmlformats.org/officeDocument/2006/relationships/oleObject" Target="../embeddings/oleObject42.bin"/><Relationship Id="rId17" Type="http://schemas.openxmlformats.org/officeDocument/2006/relationships/image" Target="../media/image51.wmf"/><Relationship Id="rId2" Type="http://schemas.openxmlformats.org/officeDocument/2006/relationships/slideLayout" Target="../slideLayouts/slideLayout3.xml"/><Relationship Id="rId16" Type="http://schemas.openxmlformats.org/officeDocument/2006/relationships/oleObject" Target="../embeddings/oleObject44.bin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39.bin"/><Relationship Id="rId11" Type="http://schemas.openxmlformats.org/officeDocument/2006/relationships/image" Target="../media/image48.wmf"/><Relationship Id="rId5" Type="http://schemas.openxmlformats.org/officeDocument/2006/relationships/image" Target="../media/image45.wmf"/><Relationship Id="rId15" Type="http://schemas.openxmlformats.org/officeDocument/2006/relationships/image" Target="../media/image50.wmf"/><Relationship Id="rId10" Type="http://schemas.openxmlformats.org/officeDocument/2006/relationships/oleObject" Target="../embeddings/oleObject41.bin"/><Relationship Id="rId4" Type="http://schemas.openxmlformats.org/officeDocument/2006/relationships/oleObject" Target="../embeddings/oleObject38.bin"/><Relationship Id="rId9" Type="http://schemas.openxmlformats.org/officeDocument/2006/relationships/image" Target="../media/image47.wmf"/><Relationship Id="rId14" Type="http://schemas.openxmlformats.org/officeDocument/2006/relationships/oleObject" Target="../embeddings/oleObject43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7.bin"/><Relationship Id="rId3" Type="http://schemas.openxmlformats.org/officeDocument/2006/relationships/image" Target="../media/image52.emf"/><Relationship Id="rId7" Type="http://schemas.openxmlformats.org/officeDocument/2006/relationships/image" Target="../media/image50.wmf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46.bin"/><Relationship Id="rId5" Type="http://schemas.openxmlformats.org/officeDocument/2006/relationships/image" Target="../media/image45.wmf"/><Relationship Id="rId4" Type="http://schemas.openxmlformats.org/officeDocument/2006/relationships/oleObject" Target="../embeddings/oleObject45.bin"/><Relationship Id="rId9" Type="http://schemas.openxmlformats.org/officeDocument/2006/relationships/image" Target="../media/image53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8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54.wmf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54.bin"/><Relationship Id="rId18" Type="http://schemas.openxmlformats.org/officeDocument/2006/relationships/image" Target="../media/image62.wmf"/><Relationship Id="rId26" Type="http://schemas.openxmlformats.org/officeDocument/2006/relationships/oleObject" Target="../embeddings/oleObject61.bin"/><Relationship Id="rId3" Type="http://schemas.openxmlformats.org/officeDocument/2006/relationships/oleObject" Target="../embeddings/oleObject49.bin"/><Relationship Id="rId21" Type="http://schemas.openxmlformats.org/officeDocument/2006/relationships/oleObject" Target="../embeddings/oleObject58.bin"/><Relationship Id="rId34" Type="http://schemas.openxmlformats.org/officeDocument/2006/relationships/image" Target="../media/image63.png"/><Relationship Id="rId7" Type="http://schemas.openxmlformats.org/officeDocument/2006/relationships/oleObject" Target="../embeddings/oleObject51.bin"/><Relationship Id="rId12" Type="http://schemas.openxmlformats.org/officeDocument/2006/relationships/image" Target="../media/image59.wmf"/><Relationship Id="rId17" Type="http://schemas.openxmlformats.org/officeDocument/2006/relationships/oleObject" Target="../embeddings/oleObject56.bin"/><Relationship Id="rId25" Type="http://schemas.openxmlformats.org/officeDocument/2006/relationships/image" Target="../media/image65.wmf"/><Relationship Id="rId2" Type="http://schemas.openxmlformats.org/officeDocument/2006/relationships/slideLayout" Target="../slideLayouts/slideLayout3.xml"/><Relationship Id="rId16" Type="http://schemas.openxmlformats.org/officeDocument/2006/relationships/image" Target="../media/image61.wmf"/><Relationship Id="rId20" Type="http://schemas.openxmlformats.org/officeDocument/2006/relationships/image" Target="../media/image63.wmf"/><Relationship Id="rId29" Type="http://schemas.openxmlformats.org/officeDocument/2006/relationships/image" Target="../media/image67.wmf"/><Relationship Id="rId1" Type="http://schemas.openxmlformats.org/officeDocument/2006/relationships/vmlDrawing" Target="../drawings/vmlDrawing13.vml"/><Relationship Id="rId6" Type="http://schemas.openxmlformats.org/officeDocument/2006/relationships/image" Target="../media/image56.wmf"/><Relationship Id="rId11" Type="http://schemas.openxmlformats.org/officeDocument/2006/relationships/oleObject" Target="../embeddings/oleObject53.bin"/><Relationship Id="rId24" Type="http://schemas.openxmlformats.org/officeDocument/2006/relationships/oleObject" Target="../embeddings/oleObject60.bin"/><Relationship Id="rId5" Type="http://schemas.openxmlformats.org/officeDocument/2006/relationships/oleObject" Target="../embeddings/oleObject50.bin"/><Relationship Id="rId15" Type="http://schemas.openxmlformats.org/officeDocument/2006/relationships/oleObject" Target="../embeddings/oleObject55.bin"/><Relationship Id="rId23" Type="http://schemas.openxmlformats.org/officeDocument/2006/relationships/oleObject" Target="../embeddings/oleObject59.bin"/><Relationship Id="rId28" Type="http://schemas.openxmlformats.org/officeDocument/2006/relationships/oleObject" Target="../embeddings/oleObject62.bin"/><Relationship Id="rId36" Type="http://schemas.openxmlformats.org/officeDocument/2006/relationships/image" Target="../media/image69.png"/><Relationship Id="rId10" Type="http://schemas.openxmlformats.org/officeDocument/2006/relationships/image" Target="../media/image58.wmf"/><Relationship Id="rId19" Type="http://schemas.openxmlformats.org/officeDocument/2006/relationships/oleObject" Target="../embeddings/oleObject57.bin"/><Relationship Id="rId31" Type="http://schemas.openxmlformats.org/officeDocument/2006/relationships/image" Target="../media/image68.wmf"/><Relationship Id="rId4" Type="http://schemas.openxmlformats.org/officeDocument/2006/relationships/image" Target="../media/image55.wmf"/><Relationship Id="rId9" Type="http://schemas.openxmlformats.org/officeDocument/2006/relationships/oleObject" Target="../embeddings/oleObject52.bin"/><Relationship Id="rId14" Type="http://schemas.openxmlformats.org/officeDocument/2006/relationships/image" Target="../media/image60.wmf"/><Relationship Id="rId22" Type="http://schemas.openxmlformats.org/officeDocument/2006/relationships/image" Target="../media/image64.wmf"/><Relationship Id="rId27" Type="http://schemas.openxmlformats.org/officeDocument/2006/relationships/image" Target="../media/image66.wmf"/><Relationship Id="rId30" Type="http://schemas.openxmlformats.org/officeDocument/2006/relationships/oleObject" Target="../embeddings/oleObject63.bin"/><Relationship Id="rId35" Type="http://schemas.openxmlformats.org/officeDocument/2006/relationships/image" Target="../media/image64.png"/><Relationship Id="rId8" Type="http://schemas.openxmlformats.org/officeDocument/2006/relationships/image" Target="../media/image57.wmf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emf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2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wmf"/><Relationship Id="rId3" Type="http://schemas.openxmlformats.org/officeDocument/2006/relationships/oleObject" Target="../embeddings/oleObject64.bin"/><Relationship Id="rId7" Type="http://schemas.openxmlformats.org/officeDocument/2006/relationships/oleObject" Target="../embeddings/oleObject66.bin"/><Relationship Id="rId12" Type="http://schemas.openxmlformats.org/officeDocument/2006/relationships/image" Target="../media/image77.wmf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74.wmf"/><Relationship Id="rId11" Type="http://schemas.openxmlformats.org/officeDocument/2006/relationships/oleObject" Target="../embeddings/oleObject68.bin"/><Relationship Id="rId5" Type="http://schemas.openxmlformats.org/officeDocument/2006/relationships/oleObject" Target="../embeddings/oleObject65.bin"/><Relationship Id="rId10" Type="http://schemas.openxmlformats.org/officeDocument/2006/relationships/image" Target="../media/image76.wmf"/><Relationship Id="rId4" Type="http://schemas.openxmlformats.org/officeDocument/2006/relationships/image" Target="../media/image73.wmf"/><Relationship Id="rId9" Type="http://schemas.openxmlformats.org/officeDocument/2006/relationships/oleObject" Target="../embeddings/oleObject67.bin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45A83C2-4C6C-40EF-9115-166580DD2CEC}"/>
              </a:ext>
            </a:extLst>
          </p:cNvPr>
          <p:cNvSpPr/>
          <p:nvPr/>
        </p:nvSpPr>
        <p:spPr>
          <a:xfrm>
            <a:off x="293032" y="1070392"/>
            <a:ext cx="2792752" cy="362406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4050" b="1" dirty="0" smtClean="0">
                <a:solidFill>
                  <a:srgbClr val="7030A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荷塘</a:t>
            </a:r>
            <a:r>
              <a:rPr lang="zh-CN" altLang="en-US" sz="4050" b="1" dirty="0" smtClean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雨</a:t>
            </a:r>
            <a:r>
              <a:rPr lang="zh-CN" altLang="en-US" sz="4050" b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课堂</a:t>
            </a:r>
            <a:endParaRPr lang="en-US" altLang="zh-CN" sz="4050" b="1" dirty="0">
              <a:solidFill>
                <a:srgbClr val="0000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400" b="1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播放</a:t>
            </a:r>
            <a:r>
              <a:rPr lang="en-US" altLang="zh-CN" sz="2400" b="1" dirty="0" err="1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ppt</a:t>
            </a:r>
            <a:endParaRPr lang="en-US" altLang="zh-CN" sz="2400" b="1" dirty="0" smtClean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endParaRPr lang="en-US" altLang="zh-CN" sz="2400" b="1" dirty="0" smtClean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4050" b="1" dirty="0" smtClean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腾</a:t>
            </a:r>
            <a:r>
              <a:rPr lang="zh-CN" altLang="en-US" sz="4050" b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讯会议</a:t>
            </a:r>
            <a:endParaRPr lang="en-US" altLang="zh-CN" sz="4050" b="1" dirty="0">
              <a:solidFill>
                <a:srgbClr val="0000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400" b="1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双向语音</a:t>
            </a:r>
            <a:r>
              <a:rPr lang="en-US" altLang="zh-CN" sz="2400" b="1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视频</a:t>
            </a:r>
            <a:r>
              <a:rPr lang="zh-CN" altLang="en-US" sz="2400" b="1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交流</a:t>
            </a:r>
            <a:endParaRPr lang="en-US" altLang="zh-CN" sz="24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93CD6244-59FA-48DB-B6C7-5D03B29020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223" y="324409"/>
            <a:ext cx="1885793" cy="594155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6DCD9D40-0BFC-402C-824D-8544021A4860}"/>
              </a:ext>
            </a:extLst>
          </p:cNvPr>
          <p:cNvSpPr txBox="1"/>
          <p:nvPr/>
        </p:nvSpPr>
        <p:spPr>
          <a:xfrm>
            <a:off x="3128392" y="3287808"/>
            <a:ext cx="581444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2.  </a:t>
            </a:r>
            <a:r>
              <a:rPr lang="zh-CN" altLang="en-US" sz="2800" b="1" dirty="0" smtClean="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开启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腾讯会议（请保持</a:t>
            </a:r>
            <a:r>
              <a:rPr lang="zh-CN" altLang="en-US" sz="28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静音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，一般</a:t>
            </a:r>
            <a:r>
              <a:rPr lang="zh-CN" altLang="en-US" sz="28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关闭摄像头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，发言前解除静音）</a:t>
            </a:r>
            <a:endParaRPr lang="en-US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DCD9D40-0BFC-402C-824D-8544021A4860}"/>
              </a:ext>
            </a:extLst>
          </p:cNvPr>
          <p:cNvSpPr txBox="1"/>
          <p:nvPr/>
        </p:nvSpPr>
        <p:spPr>
          <a:xfrm>
            <a:off x="3128392" y="1256337"/>
            <a:ext cx="598932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800" b="1" dirty="0" smtClean="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开启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荷塘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雨课堂（</a:t>
            </a:r>
            <a:r>
              <a:rPr lang="zh-CN" altLang="en-US" sz="28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请关闭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音频</a:t>
            </a:r>
            <a:r>
              <a:rPr lang="zh-CN" altLang="en-US" sz="28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，可以点名、白板、做题、弹幕等）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DCD9D40-0BFC-402C-824D-8544021A4860}"/>
              </a:ext>
            </a:extLst>
          </p:cNvPr>
          <p:cNvSpPr txBox="1"/>
          <p:nvPr/>
        </p:nvSpPr>
        <p:spPr>
          <a:xfrm>
            <a:off x="762440" y="4769481"/>
            <a:ext cx="792436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800" i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雨课堂可以看</a:t>
            </a:r>
            <a:r>
              <a:rPr lang="en-US" altLang="zh-CN" sz="2800" i="1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2800" i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，腾讯会议可以看现场板书，</a:t>
            </a:r>
            <a:endParaRPr lang="en-US" altLang="zh-CN" sz="2800" i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800" i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建议分别用两个终端打开。</a:t>
            </a:r>
            <a:endParaRPr lang="en-US" altLang="zh-CN" sz="2800" i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加号 2"/>
          <p:cNvSpPr/>
          <p:nvPr/>
        </p:nvSpPr>
        <p:spPr bwMode="auto">
          <a:xfrm>
            <a:off x="1329368" y="2507286"/>
            <a:ext cx="720080" cy="652140"/>
          </a:xfrm>
          <a:prstGeom prst="mathPlus">
            <a:avLst/>
          </a:prstGeom>
          <a:solidFill>
            <a:srgbClr val="0000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816" t="-14343"/>
          <a:stretch/>
        </p:blipFill>
        <p:spPr>
          <a:xfrm>
            <a:off x="5840426" y="260648"/>
            <a:ext cx="2668450" cy="657916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6451476" y="6397413"/>
            <a:ext cx="2057400" cy="365125"/>
          </a:xfrm>
        </p:spPr>
        <p:txBody>
          <a:bodyPr/>
          <a:lstStyle/>
          <a:p>
            <a:fld id="{8550EC97-E344-49BB-AF44-3FA9C7012734}" type="slidenum">
              <a:rPr lang="ko-KR" altLang="en-US" smtClean="0"/>
              <a:pPr/>
              <a:t>1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104585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Chapter 2 Brief: Convolution</a:t>
            </a:r>
            <a:endParaRPr lang="en-US" dirty="0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  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#1  Linear </a:t>
            </a:r>
          </a:p>
          <a:p>
            <a:endParaRPr lang="en-US" dirty="0"/>
          </a:p>
          <a:p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#2 Time invariant</a:t>
            </a:r>
          </a:p>
          <a:p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#3 </a:t>
            </a:r>
            <a:r>
              <a:rPr lang="en-US" dirty="0"/>
              <a:t>(</a:t>
            </a:r>
            <a:r>
              <a:rPr lang="en-US" dirty="0" smtClean="0"/>
              <a:t>Sampling) property of unit impulse</a:t>
            </a:r>
            <a:endParaRPr lang="en-US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7553504" y="7037838"/>
            <a:ext cx="2057400" cy="365125"/>
          </a:xfrm>
        </p:spPr>
        <p:txBody>
          <a:bodyPr/>
          <a:lstStyle/>
          <a:p>
            <a:fld id="{8550EC97-E344-49BB-AF44-3FA9C7012734}" type="slidenum">
              <a:rPr lang="ko-KR" altLang="en-US" smtClean="0"/>
              <a:pPr/>
              <a:t>2</a:t>
            </a:fld>
            <a:endParaRPr lang="en-US" altLang="ko-KR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0179580"/>
              </p:ext>
            </p:extLst>
          </p:nvPr>
        </p:nvGraphicFramePr>
        <p:xfrm>
          <a:off x="1645227" y="1371944"/>
          <a:ext cx="2490787" cy="77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664" name="公式" r:id="rId3" imgW="1384200" imgH="431640" progId="Equation.3">
                  <p:embed/>
                </p:oleObj>
              </mc:Choice>
              <mc:Fallback>
                <p:oleObj name="公式" r:id="rId3" imgW="1384200" imgH="431640" progId="Equation.3">
                  <p:embed/>
                  <p:pic>
                    <p:nvPicPr>
                      <p:cNvPr id="7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5227" y="1371944"/>
                        <a:ext cx="2490787" cy="777875"/>
                      </a:xfrm>
                      <a:prstGeom prst="rect">
                        <a:avLst/>
                      </a:prstGeom>
                      <a:noFill/>
                      <a:ln w="22225">
                        <a:solidFill>
                          <a:srgbClr val="0000FF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623403"/>
              </p:ext>
            </p:extLst>
          </p:nvPr>
        </p:nvGraphicFramePr>
        <p:xfrm>
          <a:off x="4533363" y="1463701"/>
          <a:ext cx="2720340" cy="594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665" name="公式" r:id="rId5" imgW="1511300" imgH="330200" progId="Equation.3">
                  <p:embed/>
                </p:oleObj>
              </mc:Choice>
              <mc:Fallback>
                <p:oleObj name="公式" r:id="rId5" imgW="1511300" imgH="330200" progId="Equation.3">
                  <p:embed/>
                  <p:pic>
                    <p:nvPicPr>
                      <p:cNvPr id="1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33363" y="1463701"/>
                        <a:ext cx="2720340" cy="594360"/>
                      </a:xfrm>
                      <a:prstGeom prst="rect">
                        <a:avLst/>
                      </a:prstGeom>
                      <a:noFill/>
                      <a:ln w="22225">
                        <a:solidFill>
                          <a:srgbClr val="0000FF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7015361"/>
              </p:ext>
            </p:extLst>
          </p:nvPr>
        </p:nvGraphicFramePr>
        <p:xfrm>
          <a:off x="1645227" y="2814967"/>
          <a:ext cx="5464175" cy="868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666" name="公式" r:id="rId7" imgW="3035160" imgH="482400" progId="Equation.3">
                  <p:embed/>
                </p:oleObj>
              </mc:Choice>
              <mc:Fallback>
                <p:oleObj name="公式" r:id="rId7" imgW="3035160" imgH="482400" progId="Equation.3">
                  <p:embed/>
                  <p:pic>
                    <p:nvPicPr>
                      <p:cNvPr id="15" name="对象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5227" y="2814967"/>
                        <a:ext cx="5464175" cy="868363"/>
                      </a:xfrm>
                      <a:prstGeom prst="rect">
                        <a:avLst/>
                      </a:prstGeom>
                      <a:noFill/>
                      <a:ln w="22225">
                        <a:solidFill>
                          <a:srgbClr val="0000FF"/>
                        </a:solidFill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2381818"/>
              </p:ext>
            </p:extLst>
          </p:nvPr>
        </p:nvGraphicFramePr>
        <p:xfrm>
          <a:off x="1601508" y="5577557"/>
          <a:ext cx="2195512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667" name="公式" r:id="rId9" imgW="1218960" imgH="203040" progId="Equation.3">
                  <p:embed/>
                </p:oleObj>
              </mc:Choice>
              <mc:Fallback>
                <p:oleObj name="公式" r:id="rId9" imgW="1218960" imgH="203040" progId="Equation.3">
                  <p:embed/>
                  <p:pic>
                    <p:nvPicPr>
                      <p:cNvPr id="12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1508" y="5577557"/>
                        <a:ext cx="2195512" cy="365125"/>
                      </a:xfrm>
                      <a:prstGeom prst="rect">
                        <a:avLst/>
                      </a:prstGeom>
                      <a:noFill/>
                      <a:ln w="22225">
                        <a:solidFill>
                          <a:srgbClr val="0000FF"/>
                        </a:solidFill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4091989"/>
              </p:ext>
            </p:extLst>
          </p:nvPr>
        </p:nvGraphicFramePr>
        <p:xfrm>
          <a:off x="4517802" y="5608622"/>
          <a:ext cx="2147888" cy="366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668" name="公式" r:id="rId11" imgW="1193760" imgH="203040" progId="Equation.3">
                  <p:embed/>
                </p:oleObj>
              </mc:Choice>
              <mc:Fallback>
                <p:oleObj name="公式" r:id="rId11" imgW="1193760" imgH="203040" progId="Equation.3">
                  <p:embed/>
                  <p:pic>
                    <p:nvPicPr>
                      <p:cNvPr id="1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7802" y="5608622"/>
                        <a:ext cx="2147888" cy="366712"/>
                      </a:xfrm>
                      <a:prstGeom prst="rect">
                        <a:avLst/>
                      </a:prstGeom>
                      <a:noFill/>
                      <a:ln w="22225">
                        <a:solidFill>
                          <a:srgbClr val="0000FF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0298964"/>
              </p:ext>
            </p:extLst>
          </p:nvPr>
        </p:nvGraphicFramePr>
        <p:xfrm>
          <a:off x="4517802" y="4440236"/>
          <a:ext cx="1783080" cy="411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669" name="公式" r:id="rId13" imgW="990600" imgH="228600" progId="Equation.3">
                  <p:embed/>
                </p:oleObj>
              </mc:Choice>
              <mc:Fallback>
                <p:oleObj name="公式" r:id="rId13" imgW="990600" imgH="228600" progId="Equation.3">
                  <p:embed/>
                  <p:pic>
                    <p:nvPicPr>
                      <p:cNvPr id="33" name="对象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7802" y="4440236"/>
                        <a:ext cx="1783080" cy="411480"/>
                      </a:xfrm>
                      <a:prstGeom prst="rect">
                        <a:avLst/>
                      </a:prstGeom>
                      <a:noFill/>
                      <a:ln w="22225">
                        <a:solidFill>
                          <a:srgbClr val="0000FF"/>
                        </a:solidFill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6656649"/>
              </p:ext>
            </p:extLst>
          </p:nvPr>
        </p:nvGraphicFramePr>
        <p:xfrm>
          <a:off x="1645227" y="4440236"/>
          <a:ext cx="1827212" cy="41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670" name="公式" r:id="rId15" imgW="1015920" imgH="228600" progId="Equation.3">
                  <p:embed/>
                </p:oleObj>
              </mc:Choice>
              <mc:Fallback>
                <p:oleObj name="公式" r:id="rId15" imgW="1015920" imgH="228600" progId="Equation.3">
                  <p:embed/>
                  <p:pic>
                    <p:nvPicPr>
                      <p:cNvPr id="11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5227" y="4440236"/>
                        <a:ext cx="1827212" cy="411162"/>
                      </a:xfrm>
                      <a:prstGeom prst="rect">
                        <a:avLst/>
                      </a:prstGeom>
                      <a:noFill/>
                      <a:ln w="22225">
                        <a:solidFill>
                          <a:srgbClr val="0000FF"/>
                        </a:solidFill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97238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 smtClean="0"/>
              <a:t>Supplementary Material 1</a:t>
            </a:r>
            <a:br>
              <a:rPr lang="en-US" altLang="zh-CN" dirty="0" smtClean="0"/>
            </a:br>
            <a:r>
              <a:rPr lang="en-US" altLang="zh-CN" dirty="0" smtClean="0"/>
              <a:t>Time-Domain Response 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 smtClean="0"/>
              <a:t>2020-09-30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3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64372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Differential Equations</a:t>
            </a:r>
          </a:p>
          <a:p>
            <a:r>
              <a:rPr lang="en-US" dirty="0" smtClean="0"/>
              <a:t>Homogeneous Solution and Particular Solution</a:t>
            </a:r>
            <a:endParaRPr lang="en-US" dirty="0"/>
          </a:p>
          <a:p>
            <a:r>
              <a:rPr lang="en-US" dirty="0" smtClean="0"/>
              <a:t>Initial Conditions</a:t>
            </a:r>
          </a:p>
          <a:p>
            <a:r>
              <a:rPr lang="en-US" dirty="0" smtClean="0"/>
              <a:t>Zero-Input and Zero-State Responses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771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628650" y="365126"/>
            <a:ext cx="8135788" cy="792000"/>
          </a:xfrm>
        </p:spPr>
        <p:txBody>
          <a:bodyPr>
            <a:noAutofit/>
          </a:bodyPr>
          <a:lstStyle/>
          <a:p>
            <a:r>
              <a:rPr lang="en-US" sz="2800" dirty="0" smtClean="0"/>
              <a:t>System Description Using Differential Equations </a:t>
            </a:r>
            <a:endParaRPr lang="en-US" sz="2800" dirty="0"/>
          </a:p>
        </p:txBody>
      </p:sp>
      <p:sp>
        <p:nvSpPr>
          <p:cNvPr id="8" name="内容占位符 7"/>
          <p:cNvSpPr>
            <a:spLocks noGrp="1"/>
          </p:cNvSpPr>
          <p:nvPr>
            <p:ph idx="1"/>
          </p:nvPr>
        </p:nvSpPr>
        <p:spPr>
          <a:xfrm>
            <a:off x="628650" y="1308100"/>
            <a:ext cx="4504067" cy="4868863"/>
          </a:xfrm>
        </p:spPr>
        <p:txBody>
          <a:bodyPr/>
          <a:lstStyle/>
          <a:p>
            <a:r>
              <a:rPr lang="en-US" dirty="0" smtClean="0"/>
              <a:t> Constitutive definition of capacitors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/>
              <a:t> </a:t>
            </a:r>
            <a:r>
              <a:rPr lang="en-US" dirty="0" smtClean="0"/>
              <a:t>Kirchhoff’s Voltage Law (KVL)</a:t>
            </a:r>
          </a:p>
          <a:p>
            <a:endParaRPr lang="en-US" dirty="0"/>
          </a:p>
          <a:p>
            <a:r>
              <a:rPr lang="en-US" dirty="0" smtClean="0"/>
              <a:t> Reorder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 smtClean="0"/>
              <a:t>§S1.1 Differential Equations</a:t>
            </a:r>
            <a:endParaRPr lang="zh-CN" altLang="en-US" dirty="0"/>
          </a:p>
          <a:p>
            <a:endParaRPr lang="en-US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0629" y="1679609"/>
            <a:ext cx="3636105" cy="1659238"/>
          </a:xfrm>
          <a:prstGeom prst="rect">
            <a:avLst/>
          </a:prstGeom>
        </p:spPr>
      </p:pic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1003395"/>
              </p:ext>
            </p:extLst>
          </p:nvPr>
        </p:nvGraphicFramePr>
        <p:xfrm>
          <a:off x="1713270" y="2087592"/>
          <a:ext cx="1782306" cy="7083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415" name="公式" r:id="rId4" imgW="990170" imgH="393529" progId="Equation.3">
                  <p:embed/>
                </p:oleObj>
              </mc:Choice>
              <mc:Fallback>
                <p:oleObj name="公式" r:id="rId4" imgW="990170" imgH="393529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3270" y="2087592"/>
                        <a:ext cx="1782306" cy="70835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4962727"/>
              </p:ext>
            </p:extLst>
          </p:nvPr>
        </p:nvGraphicFramePr>
        <p:xfrm>
          <a:off x="1486828" y="3575436"/>
          <a:ext cx="2787710" cy="7083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416" name="公式" r:id="rId6" imgW="1548728" imgH="393529" progId="Equation.3">
                  <p:embed/>
                </p:oleObj>
              </mc:Choice>
              <mc:Fallback>
                <p:oleObj name="公式" r:id="rId6" imgW="1548728" imgH="393529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6828" y="3575436"/>
                        <a:ext cx="2787710" cy="70835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9767181"/>
              </p:ext>
            </p:extLst>
          </p:nvPr>
        </p:nvGraphicFramePr>
        <p:xfrm>
          <a:off x="1633477" y="4708950"/>
          <a:ext cx="3291840" cy="708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417" name="公式" r:id="rId8" imgW="1828800" imgH="393700" progId="Equation.3">
                  <p:embed/>
                </p:oleObj>
              </mc:Choice>
              <mc:Fallback>
                <p:oleObj name="公式" r:id="rId8" imgW="1828800" imgH="393700" progId="Equation.3">
                  <p:embed/>
                  <p:pic>
                    <p:nvPicPr>
                      <p:cNvPr id="12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3477" y="4708950"/>
                        <a:ext cx="3291840" cy="7086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6348485"/>
              </p:ext>
            </p:extLst>
          </p:nvPr>
        </p:nvGraphicFramePr>
        <p:xfrm>
          <a:off x="5279365" y="4049553"/>
          <a:ext cx="2285008" cy="7083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418" name="公式" r:id="rId10" imgW="1269449" imgH="393529" progId="Equation.3">
                  <p:embed/>
                </p:oleObj>
              </mc:Choice>
              <mc:Fallback>
                <p:oleObj name="公式" r:id="rId10" imgW="1269449" imgH="393529" progId="Equation.3">
                  <p:embed/>
                  <p:pic>
                    <p:nvPicPr>
                      <p:cNvPr id="18" name="对象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79365" y="4049553"/>
                        <a:ext cx="2285008" cy="708352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rgbClr val="0000FF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06525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System Description Using Differential </a:t>
            </a:r>
            <a:r>
              <a:rPr lang="en-US" sz="2800" dirty="0" smtClean="0"/>
              <a:t>Equations </a:t>
            </a:r>
            <a:endParaRPr lang="en-US" sz="28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308100"/>
            <a:ext cx="4805992" cy="4868863"/>
          </a:xfrm>
        </p:spPr>
        <p:txBody>
          <a:bodyPr/>
          <a:lstStyle/>
          <a:p>
            <a:r>
              <a:rPr lang="en-US" dirty="0" smtClean="0"/>
              <a:t> Total force on the vehicle</a:t>
            </a:r>
          </a:p>
          <a:p>
            <a:endParaRPr lang="en-US" dirty="0"/>
          </a:p>
          <a:p>
            <a:r>
              <a:rPr lang="en-US" dirty="0" smtClean="0"/>
              <a:t> Newton’s Second Law of Motion</a:t>
            </a:r>
          </a:p>
          <a:p>
            <a:endParaRPr lang="en-US" dirty="0"/>
          </a:p>
          <a:p>
            <a:r>
              <a:rPr lang="en-US" dirty="0" smtClean="0"/>
              <a:t> Combine them</a:t>
            </a:r>
          </a:p>
          <a:p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§S1.1 Differential </a:t>
            </a:r>
            <a:r>
              <a:rPr lang="en-US" altLang="zh-CN" dirty="0" smtClean="0"/>
              <a:t>Equations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8442" y="1905168"/>
            <a:ext cx="3252221" cy="1983910"/>
          </a:xfrm>
          <a:prstGeom prst="rect">
            <a:avLst/>
          </a:prstGeom>
        </p:spPr>
      </p:pic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9530873"/>
              </p:ext>
            </p:extLst>
          </p:nvPr>
        </p:nvGraphicFramePr>
        <p:xfrm>
          <a:off x="1418044" y="4285225"/>
          <a:ext cx="2468563" cy="708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506" name="公式" r:id="rId4" imgW="1371600" imgH="393480" progId="Equation.3">
                  <p:embed/>
                </p:oleObj>
              </mc:Choice>
              <mc:Fallback>
                <p:oleObj name="公式" r:id="rId4" imgW="1371600" imgH="393480" progId="Equation.3">
                  <p:embed/>
                  <p:pic>
                    <p:nvPicPr>
                      <p:cNvPr id="14" name="对象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8044" y="4285225"/>
                        <a:ext cx="2468563" cy="708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7602121"/>
              </p:ext>
            </p:extLst>
          </p:nvPr>
        </p:nvGraphicFramePr>
        <p:xfrm>
          <a:off x="1418044" y="5055984"/>
          <a:ext cx="2604910" cy="7083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507" name="公式" r:id="rId6" imgW="1447172" imgH="393529" progId="Equation.3">
                  <p:embed/>
                </p:oleObj>
              </mc:Choice>
              <mc:Fallback>
                <p:oleObj name="公式" r:id="rId6" imgW="1447172" imgH="393529" progId="Equation.3">
                  <p:embed/>
                  <p:pic>
                    <p:nvPicPr>
                      <p:cNvPr id="16" name="对象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8044" y="5055984"/>
                        <a:ext cx="2604910" cy="70835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9584226"/>
              </p:ext>
            </p:extLst>
          </p:nvPr>
        </p:nvGraphicFramePr>
        <p:xfrm>
          <a:off x="5696178" y="4414362"/>
          <a:ext cx="2285008" cy="7083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508" name="公式" r:id="rId8" imgW="1269449" imgH="393529" progId="Equation.3">
                  <p:embed/>
                </p:oleObj>
              </mc:Choice>
              <mc:Fallback>
                <p:oleObj name="公式" r:id="rId8" imgW="1269449" imgH="393529" progId="Equation.3">
                  <p:embed/>
                  <p:pic>
                    <p:nvPicPr>
                      <p:cNvPr id="18" name="对象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96178" y="4414362"/>
                        <a:ext cx="2285008" cy="708352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rgbClr val="0000FF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0846314"/>
              </p:ext>
            </p:extLst>
          </p:nvPr>
        </p:nvGraphicFramePr>
        <p:xfrm>
          <a:off x="1726896" y="1830732"/>
          <a:ext cx="1850857" cy="3656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509" name="公式" r:id="rId10" imgW="1028254" imgH="203112" progId="Equation.3">
                  <p:embed/>
                </p:oleObj>
              </mc:Choice>
              <mc:Fallback>
                <p:oleObj name="公式" r:id="rId10" imgW="1028254" imgH="203112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6896" y="1830732"/>
                        <a:ext cx="1850857" cy="36560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7231418"/>
              </p:ext>
            </p:extLst>
          </p:nvPr>
        </p:nvGraphicFramePr>
        <p:xfrm>
          <a:off x="1817378" y="3028269"/>
          <a:ext cx="1393855" cy="7083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510" name="公式" r:id="rId12" imgW="774364" imgH="393529" progId="Equation.3">
                  <p:embed/>
                </p:oleObj>
              </mc:Choice>
              <mc:Fallback>
                <p:oleObj name="公式" r:id="rId12" imgW="774364" imgH="393529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7378" y="3028269"/>
                        <a:ext cx="1393855" cy="70835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948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System Description Using Differential Equations 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308100"/>
            <a:ext cx="3904713" cy="4868863"/>
          </a:xfrm>
        </p:spPr>
        <p:txBody>
          <a:bodyPr/>
          <a:lstStyle/>
          <a:p>
            <a:r>
              <a:rPr lang="en-US" dirty="0" smtClean="0"/>
              <a:t> input </a:t>
            </a:r>
            <a:r>
              <a:rPr lang="en-US" i="1" dirty="0" smtClean="0"/>
              <a:t>i</a:t>
            </a:r>
            <a:r>
              <a:rPr lang="en-US" i="1" baseline="-25000" dirty="0" smtClean="0"/>
              <a:t>s</a:t>
            </a:r>
            <a:r>
              <a:rPr lang="en-US" dirty="0" smtClean="0"/>
              <a:t>(</a:t>
            </a:r>
            <a:r>
              <a:rPr lang="en-US" i="1" dirty="0" smtClean="0"/>
              <a:t>t</a:t>
            </a:r>
            <a:r>
              <a:rPr lang="en-US" dirty="0" smtClean="0"/>
              <a:t>), output </a:t>
            </a:r>
            <a:r>
              <a:rPr lang="en-US" i="1" dirty="0" smtClean="0"/>
              <a:t>v</a:t>
            </a:r>
            <a:r>
              <a:rPr lang="en-US" dirty="0" smtClean="0"/>
              <a:t>(</a:t>
            </a:r>
            <a:r>
              <a:rPr lang="en-US" i="1" dirty="0" smtClean="0"/>
              <a:t>t</a:t>
            </a:r>
            <a:r>
              <a:rPr lang="en-US" dirty="0" smtClean="0"/>
              <a:t>)</a:t>
            </a:r>
          </a:p>
          <a:p>
            <a:pPr marL="0" indent="0">
              <a:buNone/>
            </a:pPr>
            <a:r>
              <a:rPr lang="en-US" dirty="0"/>
              <a:t> </a:t>
            </a:r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 </a:t>
            </a:r>
            <a:r>
              <a:rPr lang="en-US" altLang="zh-CN" dirty="0" smtClean="0"/>
              <a:t>KCL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§S1.1 Differential </a:t>
            </a:r>
            <a:r>
              <a:rPr lang="en-US" altLang="zh-CN" dirty="0" smtClean="0"/>
              <a:t>Equations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6848" y="1336514"/>
            <a:ext cx="4278502" cy="1698352"/>
          </a:xfrm>
          <a:prstGeom prst="rect">
            <a:avLst/>
          </a:prstGeom>
        </p:spPr>
      </p:pic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8897181"/>
              </p:ext>
            </p:extLst>
          </p:nvPr>
        </p:nvGraphicFramePr>
        <p:xfrm>
          <a:off x="748233" y="1697740"/>
          <a:ext cx="1279604" cy="7083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68" name="公式" r:id="rId4" imgW="710891" imgH="393529" progId="Equation.3">
                  <p:embed/>
                </p:oleObj>
              </mc:Choice>
              <mc:Fallback>
                <p:oleObj name="公式" r:id="rId4" imgW="710891" imgH="393529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8233" y="1697740"/>
                        <a:ext cx="1279604" cy="70835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1669287"/>
              </p:ext>
            </p:extLst>
          </p:nvPr>
        </p:nvGraphicFramePr>
        <p:xfrm>
          <a:off x="746276" y="2326514"/>
          <a:ext cx="1668056" cy="7083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69" name="公式" r:id="rId6" imgW="926698" imgH="393529" progId="Equation.3">
                  <p:embed/>
                </p:oleObj>
              </mc:Choice>
              <mc:Fallback>
                <p:oleObj name="公式" r:id="rId6" imgW="926698" imgH="393529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276" y="2326514"/>
                        <a:ext cx="1668056" cy="70835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1748014"/>
              </p:ext>
            </p:extLst>
          </p:nvPr>
        </p:nvGraphicFramePr>
        <p:xfrm>
          <a:off x="661090" y="2969884"/>
          <a:ext cx="4320540" cy="708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70" name="公式" r:id="rId8" imgW="2400300" imgH="393700" progId="Equation.3">
                  <p:embed/>
                </p:oleObj>
              </mc:Choice>
              <mc:Fallback>
                <p:oleObj name="公式" r:id="rId8" imgW="2400300" imgH="3937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1090" y="2969884"/>
                        <a:ext cx="4320540" cy="7086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6084939"/>
              </p:ext>
            </p:extLst>
          </p:nvPr>
        </p:nvGraphicFramePr>
        <p:xfrm>
          <a:off x="2083780" y="3894898"/>
          <a:ext cx="2766060" cy="411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71" name="公式" r:id="rId10" imgW="1536700" imgH="228600" progId="Equation.3">
                  <p:embed/>
                </p:oleObj>
              </mc:Choice>
              <mc:Fallback>
                <p:oleObj name="公式" r:id="rId10" imgW="1536700" imgH="2286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3780" y="3894898"/>
                        <a:ext cx="2766060" cy="4114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9078531"/>
              </p:ext>
            </p:extLst>
          </p:nvPr>
        </p:nvGraphicFramePr>
        <p:xfrm>
          <a:off x="700933" y="4384233"/>
          <a:ext cx="4046220" cy="708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72" name="公式" r:id="rId12" imgW="2247900" imgH="393700" progId="Equation.3">
                  <p:embed/>
                </p:oleObj>
              </mc:Choice>
              <mc:Fallback>
                <p:oleObj name="公式" r:id="rId12" imgW="2247900" imgH="3937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0933" y="4384233"/>
                        <a:ext cx="4046220" cy="7086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265199"/>
              </p:ext>
            </p:extLst>
          </p:nvPr>
        </p:nvGraphicFramePr>
        <p:xfrm>
          <a:off x="736822" y="5192646"/>
          <a:ext cx="3954780" cy="754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73" name="公式" r:id="rId14" imgW="2197100" imgH="419100" progId="Equation.3">
                  <p:embed/>
                </p:oleObj>
              </mc:Choice>
              <mc:Fallback>
                <p:oleObj name="公式" r:id="rId14" imgW="2197100" imgH="41910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6822" y="5192646"/>
                        <a:ext cx="3954780" cy="7543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4346341"/>
              </p:ext>
            </p:extLst>
          </p:nvPr>
        </p:nvGraphicFramePr>
        <p:xfrm>
          <a:off x="5187169" y="5266364"/>
          <a:ext cx="3657600" cy="754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74" name="公式" r:id="rId16" imgW="2032000" imgH="419100" progId="Equation.3">
                  <p:embed/>
                </p:oleObj>
              </mc:Choice>
              <mc:Fallback>
                <p:oleObj name="公式" r:id="rId16" imgW="2032000" imgH="41910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7169" y="5266364"/>
                        <a:ext cx="3657600" cy="754380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rgbClr val="0000FF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12874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System Description Using Differential Equations 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2908180" y="6356351"/>
            <a:ext cx="3086100" cy="365125"/>
          </a:xfrm>
        </p:spPr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§S1.1 Differential </a:t>
            </a:r>
            <a:r>
              <a:rPr lang="en-US" altLang="zh-CN" dirty="0" smtClean="0"/>
              <a:t>Equations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684" y="1356793"/>
            <a:ext cx="3289271" cy="2230518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234656" y="3623744"/>
            <a:ext cx="25350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MEMS accelerometer (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http://www.memx.com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190405" y="3640979"/>
            <a:ext cx="29011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Equivalent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(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wiki.metropolia.fi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5" name="内容占位符 14"/>
          <p:cNvSpPr>
            <a:spLocks noGrp="1"/>
          </p:cNvSpPr>
          <p:nvPr>
            <p:ph idx="1"/>
          </p:nvPr>
        </p:nvSpPr>
        <p:spPr>
          <a:xfrm>
            <a:off x="628650" y="4390845"/>
            <a:ext cx="8066776" cy="1786118"/>
          </a:xfrm>
        </p:spPr>
        <p:txBody>
          <a:bodyPr/>
          <a:lstStyle/>
          <a:p>
            <a:r>
              <a:rPr lang="en-US" dirty="0" smtClean="0"/>
              <a:t> spring stiffness coefficient </a:t>
            </a:r>
            <a:r>
              <a:rPr lang="en-US" i="1" dirty="0" smtClean="0"/>
              <a:t>k</a:t>
            </a:r>
            <a:r>
              <a:rPr lang="en-US" dirty="0" smtClean="0"/>
              <a:t>, damping factor </a:t>
            </a:r>
            <a:r>
              <a:rPr lang="en-US" i="1" dirty="0" smtClean="0"/>
              <a:t>f</a:t>
            </a:r>
            <a:r>
              <a:rPr lang="en-US" dirty="0" smtClean="0"/>
              <a:t>, mass </a:t>
            </a:r>
            <a:r>
              <a:rPr lang="en-US" i="1" dirty="0" smtClean="0"/>
              <a:t>m</a:t>
            </a:r>
            <a:r>
              <a:rPr lang="en-US" dirty="0" smtClean="0"/>
              <a:t>, external force </a:t>
            </a:r>
            <a:r>
              <a:rPr lang="en-US" i="1" dirty="0" smtClean="0"/>
              <a:t>F</a:t>
            </a:r>
            <a:r>
              <a:rPr lang="en-US" i="1" baseline="-25000" dirty="0" smtClean="0"/>
              <a:t>s</a:t>
            </a:r>
            <a:r>
              <a:rPr lang="en-US" dirty="0" smtClean="0"/>
              <a:t>(</a:t>
            </a:r>
            <a:r>
              <a:rPr lang="en-US" i="1" dirty="0" smtClean="0"/>
              <a:t>t</a:t>
            </a:r>
            <a:r>
              <a:rPr lang="en-US" dirty="0" smtClean="0"/>
              <a:t>), velocity of proof mass </a:t>
            </a:r>
            <a:r>
              <a:rPr lang="en-US" i="1" dirty="0" smtClean="0"/>
              <a:t>v</a:t>
            </a:r>
            <a:r>
              <a:rPr lang="en-US" dirty="0" smtClean="0"/>
              <a:t>(</a:t>
            </a:r>
            <a:r>
              <a:rPr lang="en-US" i="1" dirty="0" smtClean="0"/>
              <a:t>t</a:t>
            </a:r>
            <a:r>
              <a:rPr lang="en-US" dirty="0" smtClean="0"/>
              <a:t>)</a:t>
            </a:r>
            <a:endParaRPr lang="en-US" dirty="0"/>
          </a:p>
        </p:txBody>
      </p:sp>
      <p:pic>
        <p:nvPicPr>
          <p:cNvPr id="16" name="内容占位符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0070" y="1295170"/>
            <a:ext cx="2981506" cy="2294041"/>
          </a:xfrm>
          <a:prstGeom prst="rect">
            <a:avLst/>
          </a:prstGeom>
        </p:spPr>
      </p:pic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9613701"/>
              </p:ext>
            </p:extLst>
          </p:nvPr>
        </p:nvGraphicFramePr>
        <p:xfrm>
          <a:off x="775838" y="5300950"/>
          <a:ext cx="3886200" cy="754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77" name="公式" r:id="rId7" imgW="2159000" imgH="419100" progId="Equation.3">
                  <p:embed/>
                </p:oleObj>
              </mc:Choice>
              <mc:Fallback>
                <p:oleObj name="公式" r:id="rId7" imgW="2159000" imgH="4191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5838" y="5300950"/>
                        <a:ext cx="3886200" cy="7543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1629649"/>
              </p:ext>
            </p:extLst>
          </p:nvPr>
        </p:nvGraphicFramePr>
        <p:xfrm>
          <a:off x="5110070" y="5300950"/>
          <a:ext cx="3657600" cy="754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78" name="公式" r:id="rId9" imgW="2032000" imgH="419100" progId="Equation.3">
                  <p:embed/>
                </p:oleObj>
              </mc:Choice>
              <mc:Fallback>
                <p:oleObj name="公式" r:id="rId9" imgW="2032000" imgH="419100" progId="Equation.3">
                  <p:embed/>
                  <p:pic>
                    <p:nvPicPr>
                      <p:cNvPr id="22" name="对象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0070" y="5300950"/>
                        <a:ext cx="3657600" cy="754380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rgbClr val="0000FF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6419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53683" y="365126"/>
            <a:ext cx="8298611" cy="792000"/>
          </a:xfrm>
        </p:spPr>
        <p:txBody>
          <a:bodyPr>
            <a:noAutofit/>
          </a:bodyPr>
          <a:lstStyle/>
          <a:p>
            <a:r>
              <a:rPr lang="en-US" sz="3200" dirty="0" smtClean="0"/>
              <a:t>Homogeneous Solution and Particular Solution</a:t>
            </a:r>
            <a:endParaRPr lang="en-US" sz="3200" dirty="0"/>
          </a:p>
        </p:txBody>
      </p:sp>
      <p:sp>
        <p:nvSpPr>
          <p:cNvPr id="8" name="内容占位符 7"/>
          <p:cNvSpPr>
            <a:spLocks noGrp="1"/>
          </p:cNvSpPr>
          <p:nvPr>
            <p:ph idx="1"/>
          </p:nvPr>
        </p:nvSpPr>
        <p:spPr>
          <a:xfrm>
            <a:off x="628651" y="1308100"/>
            <a:ext cx="8109908" cy="4868863"/>
          </a:xfrm>
        </p:spPr>
        <p:txBody>
          <a:bodyPr>
            <a:normAutofit/>
          </a:bodyPr>
          <a:lstStyle/>
          <a:p>
            <a:r>
              <a:rPr lang="en-US" dirty="0" smtClean="0"/>
              <a:t> Linear constant-coefficient differential equation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/>
              <a:t> </a:t>
            </a:r>
            <a:endParaRPr lang="en-US" dirty="0" smtClean="0"/>
          </a:p>
          <a:p>
            <a:r>
              <a:rPr lang="en-US" i="1" dirty="0" smtClean="0"/>
              <a:t> </a:t>
            </a:r>
            <a:r>
              <a:rPr lang="en-US" b="1" dirty="0" smtClean="0">
                <a:solidFill>
                  <a:srgbClr val="C00000"/>
                </a:solidFill>
              </a:rPr>
              <a:t>Complete solution </a:t>
            </a:r>
            <a:r>
              <a:rPr lang="en-US" i="1" dirty="0" smtClean="0"/>
              <a:t>y</a:t>
            </a:r>
            <a:r>
              <a:rPr lang="en-US" dirty="0" smtClean="0"/>
              <a:t>(</a:t>
            </a:r>
            <a:r>
              <a:rPr lang="en-US" i="1" dirty="0" smtClean="0"/>
              <a:t>t</a:t>
            </a:r>
            <a:r>
              <a:rPr lang="en-US" dirty="0" smtClean="0"/>
              <a:t>)=</a:t>
            </a:r>
            <a:r>
              <a:rPr lang="en-US" i="1" dirty="0" err="1" smtClean="0"/>
              <a:t>y</a:t>
            </a:r>
            <a:r>
              <a:rPr lang="en-US" i="1" baseline="-25000" dirty="0" err="1" smtClean="0"/>
              <a:t>p</a:t>
            </a:r>
            <a:r>
              <a:rPr lang="en-US" dirty="0" smtClean="0"/>
              <a:t>(</a:t>
            </a:r>
            <a:r>
              <a:rPr lang="en-US" i="1" dirty="0" smtClean="0"/>
              <a:t>t</a:t>
            </a:r>
            <a:r>
              <a:rPr lang="en-US" dirty="0" smtClean="0"/>
              <a:t>)+</a:t>
            </a:r>
            <a:r>
              <a:rPr lang="en-US" i="1" dirty="0" err="1" smtClean="0"/>
              <a:t>y</a:t>
            </a:r>
            <a:r>
              <a:rPr lang="en-US" i="1" baseline="-25000" dirty="0" err="1" smtClean="0"/>
              <a:t>h</a:t>
            </a:r>
            <a:r>
              <a:rPr lang="en-US" dirty="0" smtClean="0"/>
              <a:t>(</a:t>
            </a:r>
            <a:r>
              <a:rPr lang="en-US" i="1" dirty="0" smtClean="0"/>
              <a:t>t</a:t>
            </a:r>
            <a:r>
              <a:rPr lang="en-US" dirty="0" smtClean="0"/>
              <a:t>)</a:t>
            </a:r>
          </a:p>
          <a:p>
            <a:pPr marL="0" indent="0">
              <a:buNone/>
            </a:pPr>
            <a:r>
              <a:rPr lang="en-US" i="1" dirty="0" smtClean="0"/>
              <a:t>    </a:t>
            </a:r>
            <a:r>
              <a:rPr lang="en-US" i="1" dirty="0" err="1" smtClean="0"/>
              <a:t>y</a:t>
            </a:r>
            <a:r>
              <a:rPr lang="en-US" i="1" baseline="-25000" dirty="0" err="1" smtClean="0"/>
              <a:t>h</a:t>
            </a:r>
            <a:r>
              <a:rPr lang="en-US" dirty="0" smtClean="0"/>
              <a:t>(</a:t>
            </a:r>
            <a:r>
              <a:rPr lang="en-US" i="1" dirty="0" smtClean="0"/>
              <a:t>t</a:t>
            </a:r>
            <a:r>
              <a:rPr lang="en-US" dirty="0"/>
              <a:t>) </a:t>
            </a:r>
            <a:r>
              <a:rPr lang="en-US" b="1" dirty="0">
                <a:solidFill>
                  <a:srgbClr val="C00000"/>
                </a:solidFill>
              </a:rPr>
              <a:t>homogeneous </a:t>
            </a:r>
            <a:r>
              <a:rPr lang="en-US" b="1" dirty="0" smtClean="0">
                <a:solidFill>
                  <a:srgbClr val="C00000"/>
                </a:solidFill>
              </a:rPr>
              <a:t>solution</a:t>
            </a:r>
            <a:r>
              <a:rPr lang="en-US" dirty="0" smtClean="0"/>
              <a:t>, the solution when the right part of the differential equation is 0  (</a:t>
            </a:r>
            <a:r>
              <a:rPr lang="en-US" b="1" u="sng" dirty="0" smtClean="0">
                <a:solidFill>
                  <a:srgbClr val="FF0000"/>
                </a:solidFill>
              </a:rPr>
              <a:t>different from the zero-input response!</a:t>
            </a:r>
            <a:r>
              <a:rPr lang="en-US" dirty="0" smtClean="0"/>
              <a:t>)  </a:t>
            </a:r>
            <a:r>
              <a:rPr lang="en-US" dirty="0" smtClean="0">
                <a:sym typeface="Wingdings" panose="05000000000000000000" pitchFamily="2" charset="2"/>
              </a:rPr>
              <a:t> natural response</a:t>
            </a:r>
            <a:endParaRPr lang="en-US" dirty="0"/>
          </a:p>
          <a:p>
            <a:pPr marL="0" indent="0">
              <a:buNone/>
            </a:pPr>
            <a:r>
              <a:rPr lang="en-US" i="1" dirty="0" smtClean="0"/>
              <a:t>    </a:t>
            </a:r>
            <a:r>
              <a:rPr lang="en-US" i="1" dirty="0" err="1" smtClean="0"/>
              <a:t>y</a:t>
            </a:r>
            <a:r>
              <a:rPr lang="en-US" i="1" baseline="-25000" dirty="0" err="1" smtClean="0"/>
              <a:t>p</a:t>
            </a:r>
            <a:r>
              <a:rPr lang="en-US" dirty="0" smtClean="0"/>
              <a:t>(</a:t>
            </a:r>
            <a:r>
              <a:rPr lang="en-US" i="1" dirty="0" smtClean="0"/>
              <a:t>t</a:t>
            </a:r>
            <a:r>
              <a:rPr lang="en-US" dirty="0" smtClean="0"/>
              <a:t>)  </a:t>
            </a:r>
            <a:r>
              <a:rPr lang="en-US" b="1" dirty="0" smtClean="0">
                <a:solidFill>
                  <a:srgbClr val="C00000"/>
                </a:solidFill>
              </a:rPr>
              <a:t>particular solution</a:t>
            </a:r>
            <a:r>
              <a:rPr lang="en-US" dirty="0" smtClean="0"/>
              <a:t>, the solution dependent on the excitation function  </a:t>
            </a:r>
            <a:r>
              <a:rPr lang="en-US" dirty="0" smtClean="0">
                <a:sym typeface="Wingdings" panose="05000000000000000000" pitchFamily="2" charset="2"/>
              </a:rPr>
              <a:t>forced response</a:t>
            </a:r>
            <a:endParaRPr lang="en-US" dirty="0"/>
          </a:p>
          <a:p>
            <a:pPr marL="0" indent="0">
              <a:buNone/>
            </a:pPr>
            <a:r>
              <a:rPr lang="en-US" i="1" dirty="0" smtClean="0"/>
              <a:t>    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§</a:t>
            </a:r>
            <a:r>
              <a:rPr lang="en-US" altLang="zh-CN" dirty="0" smtClean="0"/>
              <a:t>S1.2 </a:t>
            </a:r>
            <a:r>
              <a:rPr lang="en-US" dirty="0"/>
              <a:t>Homogeneous Solution and Particular Solution</a:t>
            </a:r>
            <a:endParaRPr lang="zh-CN" altLang="en-US" dirty="0"/>
          </a:p>
          <a:p>
            <a:endParaRPr lang="en-US" dirty="0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0998176"/>
              </p:ext>
            </p:extLst>
          </p:nvPr>
        </p:nvGraphicFramePr>
        <p:xfrm>
          <a:off x="2663654" y="1850517"/>
          <a:ext cx="29718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35" name="公式" r:id="rId3" imgW="1651000" imgH="444500" progId="Equation.3">
                  <p:embed/>
                </p:oleObj>
              </mc:Choice>
              <mc:Fallback>
                <p:oleObj name="公式" r:id="rId3" imgW="1651000" imgH="444500" progId="Equation.3">
                  <p:embed/>
                  <p:pic>
                    <p:nvPicPr>
                      <p:cNvPr id="11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3654" y="1850517"/>
                        <a:ext cx="2971800" cy="800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20273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Homogeneous Solution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To </a:t>
            </a:r>
            <a:r>
              <a:rPr lang="en-US" dirty="0"/>
              <a:t>find </a:t>
            </a:r>
            <a:r>
              <a:rPr lang="en-US" i="1" dirty="0" err="1"/>
              <a:t>y</a:t>
            </a:r>
            <a:r>
              <a:rPr lang="en-US" i="1" baseline="-25000" dirty="0" err="1"/>
              <a:t>h</a:t>
            </a:r>
            <a:r>
              <a:rPr lang="en-US" dirty="0"/>
              <a:t>(</a:t>
            </a:r>
            <a:r>
              <a:rPr lang="en-US" i="1" dirty="0"/>
              <a:t>t</a:t>
            </a:r>
            <a:r>
              <a:rPr lang="en-US" dirty="0"/>
              <a:t>), solve the characteristic equation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  <a:endParaRPr lang="en-US" dirty="0" smtClean="0"/>
          </a:p>
          <a:p>
            <a:r>
              <a:rPr lang="en-US" dirty="0" smtClean="0"/>
              <a:t> If </a:t>
            </a:r>
            <a:r>
              <a:rPr lang="en-US" dirty="0"/>
              <a:t>no multiple </a:t>
            </a:r>
            <a:r>
              <a:rPr lang="en-US" dirty="0" smtClean="0"/>
              <a:t>roots                       </a:t>
            </a:r>
          </a:p>
          <a:p>
            <a:r>
              <a:rPr lang="en-US" dirty="0" smtClean="0"/>
              <a:t> If multiple roots exist </a:t>
            </a:r>
          </a:p>
          <a:p>
            <a:pPr marL="0" indent="0">
              <a:buNone/>
            </a:pPr>
            <a:r>
              <a:rPr lang="en-US" dirty="0" smtClean="0"/>
              <a:t>     </a:t>
            </a:r>
            <a:r>
              <a:rPr lang="en-US" dirty="0"/>
              <a:t>the corresponding part in </a:t>
            </a:r>
            <a:r>
              <a:rPr lang="en-US" i="1" dirty="0" err="1" smtClean="0"/>
              <a:t>y</a:t>
            </a:r>
            <a:r>
              <a:rPr lang="en-US" i="1" baseline="-25000" dirty="0" err="1" smtClean="0"/>
              <a:t>h</a:t>
            </a:r>
            <a:r>
              <a:rPr lang="en-US" dirty="0" smtClean="0"/>
              <a:t>(</a:t>
            </a:r>
            <a:r>
              <a:rPr lang="en-US" i="1" dirty="0" smtClean="0"/>
              <a:t>t</a:t>
            </a:r>
            <a:r>
              <a:rPr lang="en-US" dirty="0" smtClean="0"/>
              <a:t>)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err="1" smtClean="0"/>
              <a:t>Eg</a:t>
            </a:r>
            <a:r>
              <a:rPr lang="en-US" dirty="0" smtClean="0"/>
              <a:t>. Find </a:t>
            </a:r>
            <a:r>
              <a:rPr lang="en-US" i="1" dirty="0" err="1"/>
              <a:t>y</a:t>
            </a:r>
            <a:r>
              <a:rPr lang="en-US" i="1" baseline="-25000" dirty="0" err="1"/>
              <a:t>h</a:t>
            </a:r>
            <a:r>
              <a:rPr lang="en-US" dirty="0"/>
              <a:t>(</a:t>
            </a:r>
            <a:r>
              <a:rPr lang="en-US" i="1" dirty="0"/>
              <a:t>t</a:t>
            </a:r>
            <a:r>
              <a:rPr lang="en-US" dirty="0" smtClean="0"/>
              <a:t>) for</a:t>
            </a:r>
          </a:p>
          <a:p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§S1.2 </a:t>
            </a:r>
            <a:r>
              <a:rPr lang="en-US" dirty="0"/>
              <a:t>Homogeneous Solution and Particular </a:t>
            </a:r>
            <a:r>
              <a:rPr lang="en-US" dirty="0" smtClean="0"/>
              <a:t>Solution</a:t>
            </a:r>
            <a:endParaRPr lang="zh-CN" altLang="en-US" dirty="0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0371860"/>
              </p:ext>
            </p:extLst>
          </p:nvPr>
        </p:nvGraphicFramePr>
        <p:xfrm>
          <a:off x="2488131" y="1698074"/>
          <a:ext cx="3749040" cy="777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671" name="公式" r:id="rId3" imgW="2082800" imgH="431800" progId="Equation.3">
                  <p:embed/>
                </p:oleObj>
              </mc:Choice>
              <mc:Fallback>
                <p:oleObj name="公式" r:id="rId3" imgW="2082800" imgH="431800" progId="Equation.3">
                  <p:embed/>
                  <p:pic>
                    <p:nvPicPr>
                      <p:cNvPr id="26" name="对象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8131" y="1698074"/>
                        <a:ext cx="3749040" cy="77724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4942529"/>
              </p:ext>
            </p:extLst>
          </p:nvPr>
        </p:nvGraphicFramePr>
        <p:xfrm>
          <a:off x="3995820" y="2550027"/>
          <a:ext cx="1873706" cy="7769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672" name="公式" r:id="rId5" imgW="1040948" imgH="431613" progId="Equation.3">
                  <p:embed/>
                </p:oleObj>
              </mc:Choice>
              <mc:Fallback>
                <p:oleObj name="公式" r:id="rId5" imgW="1040948" imgH="431613" progId="Equation.3">
                  <p:embed/>
                  <p:pic>
                    <p:nvPicPr>
                      <p:cNvPr id="28" name="对象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5820" y="2550027"/>
                        <a:ext cx="1873706" cy="77690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4501071"/>
              </p:ext>
            </p:extLst>
          </p:nvPr>
        </p:nvGraphicFramePr>
        <p:xfrm>
          <a:off x="4756300" y="3168766"/>
          <a:ext cx="3248025" cy="776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673" name="公式" r:id="rId7" imgW="1803240" imgH="431640" progId="Equation.3">
                  <p:embed/>
                </p:oleObj>
              </mc:Choice>
              <mc:Fallback>
                <p:oleObj name="公式" r:id="rId7" imgW="1803240" imgH="431640" progId="Equation.3">
                  <p:embed/>
                  <p:pic>
                    <p:nvPicPr>
                      <p:cNvPr id="17" name="对象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56300" y="3168766"/>
                        <a:ext cx="3248025" cy="7762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7861042"/>
              </p:ext>
            </p:extLst>
          </p:nvPr>
        </p:nvGraphicFramePr>
        <p:xfrm>
          <a:off x="5569112" y="3849532"/>
          <a:ext cx="2308860" cy="777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674" name="公式" r:id="rId9" imgW="1282700" imgH="431800" progId="Equation.3">
                  <p:embed/>
                </p:oleObj>
              </mc:Choice>
              <mc:Fallback>
                <p:oleObj name="公式" r:id="rId9" imgW="1282700" imgH="431800" progId="Equation.3">
                  <p:embed/>
                  <p:pic>
                    <p:nvPicPr>
                      <p:cNvPr id="19" name="对象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9112" y="3849532"/>
                        <a:ext cx="2308860" cy="77724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6237171" y="2676633"/>
            <a:ext cx="2195424" cy="4616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How to find </a:t>
            </a:r>
            <a:r>
              <a:rPr lang="en-US" sz="24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i="1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654639"/>
              </p:ext>
            </p:extLst>
          </p:nvPr>
        </p:nvGraphicFramePr>
        <p:xfrm>
          <a:off x="3249445" y="4683818"/>
          <a:ext cx="4754880" cy="754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675" name="公式" r:id="rId11" imgW="2641600" imgH="419100" progId="Equation.3">
                  <p:embed/>
                </p:oleObj>
              </mc:Choice>
              <mc:Fallback>
                <p:oleObj name="公式" r:id="rId11" imgW="2641600" imgH="4191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9445" y="4683818"/>
                        <a:ext cx="4754880" cy="7543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1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0444149"/>
              </p:ext>
            </p:extLst>
          </p:nvPr>
        </p:nvGraphicFramePr>
        <p:xfrm>
          <a:off x="2830542" y="5352414"/>
          <a:ext cx="4914900" cy="1085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676" name="公式" r:id="rId13" imgW="3276600" imgH="723900" progId="Equation.3">
                  <p:embed/>
                </p:oleObj>
              </mc:Choice>
              <mc:Fallback>
                <p:oleObj name="公式" r:id="rId13" imgW="3276600" imgH="7239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0542" y="5352414"/>
                        <a:ext cx="4914900" cy="1085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21269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Particular Solution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 smtClean="0"/>
              <a:t>Step #1: excitation function </a:t>
            </a:r>
            <a:r>
              <a:rPr lang="en-US" dirty="0" smtClean="0">
                <a:sym typeface="Wingdings" panose="05000000000000000000" pitchFamily="2" charset="2"/>
              </a:rPr>
              <a:t> particular solution (based on experience)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altLang="zh-CN" i="1" dirty="0" smtClean="0">
                <a:sym typeface="Wingdings" panose="05000000000000000000" pitchFamily="2" charset="2"/>
              </a:rPr>
              <a:t>E</a:t>
            </a:r>
            <a:r>
              <a:rPr lang="zh-CN" altLang="en-US" dirty="0">
                <a:sym typeface="Wingdings" panose="05000000000000000000" pitchFamily="2" charset="2"/>
              </a:rPr>
              <a:t> </a:t>
            </a:r>
            <a:r>
              <a:rPr lang="en-US" altLang="zh-CN" dirty="0" smtClean="0">
                <a:sym typeface="Wingdings" panose="05000000000000000000" pitchFamily="2" charset="2"/>
              </a:rPr>
              <a:t>(constant) </a:t>
            </a:r>
            <a:r>
              <a:rPr lang="en-US" altLang="zh-CN" i="1" dirty="0" smtClean="0">
                <a:sym typeface="Wingdings" panose="05000000000000000000" pitchFamily="2" charset="2"/>
              </a:rPr>
              <a:t>B</a:t>
            </a:r>
            <a:r>
              <a:rPr lang="en-US" altLang="zh-CN" dirty="0" smtClean="0">
                <a:sym typeface="Wingdings" panose="05000000000000000000" pitchFamily="2" charset="2"/>
              </a:rPr>
              <a:t> (constant)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i="1" dirty="0" err="1" smtClean="0">
                <a:sym typeface="Wingdings" panose="05000000000000000000" pitchFamily="2" charset="2"/>
              </a:rPr>
              <a:t>t</a:t>
            </a:r>
            <a:r>
              <a:rPr lang="en-US" i="1" baseline="30000" dirty="0" err="1" smtClean="0">
                <a:sym typeface="Wingdings" panose="05000000000000000000" pitchFamily="2" charset="2"/>
              </a:rPr>
              <a:t>p</a:t>
            </a:r>
            <a:r>
              <a:rPr lang="en-US" dirty="0" smtClean="0">
                <a:sym typeface="Wingdings" panose="05000000000000000000" pitchFamily="2" charset="2"/>
              </a:rPr>
              <a:t>  </a:t>
            </a:r>
            <a:r>
              <a:rPr lang="en-US" i="1" dirty="0" smtClean="0">
                <a:sym typeface="Wingdings" panose="05000000000000000000" pitchFamily="2" charset="2"/>
              </a:rPr>
              <a:t>B</a:t>
            </a:r>
            <a:r>
              <a:rPr lang="en-US" i="1" baseline="-25000" dirty="0" smtClean="0">
                <a:sym typeface="Wingdings" panose="05000000000000000000" pitchFamily="2" charset="2"/>
              </a:rPr>
              <a:t>p</a:t>
            </a:r>
            <a:r>
              <a:rPr lang="en-US" i="1" dirty="0" smtClean="0">
                <a:sym typeface="Wingdings" panose="05000000000000000000" pitchFamily="2" charset="2"/>
              </a:rPr>
              <a:t>t</a:t>
            </a:r>
            <a:r>
              <a:rPr lang="en-US" i="1" baseline="30000" dirty="0" smtClean="0">
                <a:sym typeface="Wingdings" panose="05000000000000000000" pitchFamily="2" charset="2"/>
              </a:rPr>
              <a:t>p</a:t>
            </a:r>
            <a:r>
              <a:rPr lang="en-US" dirty="0" smtClean="0">
                <a:sym typeface="Wingdings" panose="05000000000000000000" pitchFamily="2" charset="2"/>
              </a:rPr>
              <a:t>+</a:t>
            </a:r>
            <a:r>
              <a:rPr lang="en-US" i="1" dirty="0" smtClean="0">
                <a:sym typeface="Wingdings" panose="05000000000000000000" pitchFamily="2" charset="2"/>
              </a:rPr>
              <a:t>B</a:t>
            </a:r>
            <a:r>
              <a:rPr lang="en-US" i="1" baseline="-25000" dirty="0" smtClean="0">
                <a:sym typeface="Wingdings" panose="05000000000000000000" pitchFamily="2" charset="2"/>
              </a:rPr>
              <a:t>p</a:t>
            </a:r>
            <a:r>
              <a:rPr lang="en-US" baseline="-25000" dirty="0" smtClean="0">
                <a:sym typeface="Wingdings" panose="05000000000000000000" pitchFamily="2" charset="2"/>
              </a:rPr>
              <a:t>-1</a:t>
            </a:r>
            <a:r>
              <a:rPr lang="en-US" i="1" dirty="0" smtClean="0">
                <a:sym typeface="Wingdings" panose="05000000000000000000" pitchFamily="2" charset="2"/>
              </a:rPr>
              <a:t>t</a:t>
            </a:r>
            <a:r>
              <a:rPr lang="en-US" i="1" baseline="30000" dirty="0" smtClean="0">
                <a:sym typeface="Wingdings" panose="05000000000000000000" pitchFamily="2" charset="2"/>
              </a:rPr>
              <a:t>p</a:t>
            </a:r>
            <a:r>
              <a:rPr lang="en-US" baseline="30000" dirty="0" smtClean="0">
                <a:sym typeface="Wingdings" panose="05000000000000000000" pitchFamily="2" charset="2"/>
              </a:rPr>
              <a:t>-1</a:t>
            </a:r>
            <a:r>
              <a:rPr lang="en-US" dirty="0" smtClean="0">
                <a:sym typeface="Wingdings" panose="05000000000000000000" pitchFamily="2" charset="2"/>
              </a:rPr>
              <a:t>+…+</a:t>
            </a:r>
            <a:r>
              <a:rPr lang="en-US" i="1" dirty="0" smtClean="0">
                <a:sym typeface="Wingdings" panose="05000000000000000000" pitchFamily="2" charset="2"/>
              </a:rPr>
              <a:t>B</a:t>
            </a:r>
            <a:r>
              <a:rPr lang="en-US" baseline="-25000" dirty="0" smtClean="0">
                <a:sym typeface="Wingdings" panose="05000000000000000000" pitchFamily="2" charset="2"/>
              </a:rPr>
              <a:t>1</a:t>
            </a:r>
            <a:r>
              <a:rPr lang="en-US" i="1" dirty="0" smtClean="0">
                <a:sym typeface="Wingdings" panose="05000000000000000000" pitchFamily="2" charset="2"/>
              </a:rPr>
              <a:t>t</a:t>
            </a:r>
            <a:r>
              <a:rPr lang="en-US" dirty="0" smtClean="0">
                <a:sym typeface="Wingdings" panose="05000000000000000000" pitchFamily="2" charset="2"/>
              </a:rPr>
              <a:t>+</a:t>
            </a:r>
            <a:r>
              <a:rPr lang="en-US" i="1" dirty="0" smtClean="0">
                <a:sym typeface="Wingdings" panose="05000000000000000000" pitchFamily="2" charset="2"/>
              </a:rPr>
              <a:t>B</a:t>
            </a:r>
            <a:r>
              <a:rPr lang="en-US" baseline="-25000" dirty="0" smtClean="0">
                <a:sym typeface="Wingdings" panose="05000000000000000000" pitchFamily="2" charset="2"/>
              </a:rPr>
              <a:t>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i="1" dirty="0" smtClean="0">
                <a:sym typeface="Wingdings" panose="05000000000000000000" pitchFamily="2" charset="2"/>
              </a:rPr>
              <a:t>e</a:t>
            </a:r>
            <a:r>
              <a:rPr lang="en-US" i="1" baseline="30000" dirty="0" smtClean="0">
                <a:sym typeface="Wingdings" panose="05000000000000000000" pitchFamily="2" charset="2"/>
              </a:rPr>
              <a:t>at</a:t>
            </a:r>
            <a:r>
              <a:rPr lang="en-US" dirty="0" smtClean="0">
                <a:sym typeface="Wingdings" panose="05000000000000000000" pitchFamily="2" charset="2"/>
              </a:rPr>
              <a:t>  </a:t>
            </a:r>
            <a:r>
              <a:rPr lang="en-US" i="1" dirty="0" smtClean="0">
                <a:sym typeface="Wingdings" panose="05000000000000000000" pitchFamily="2" charset="2"/>
              </a:rPr>
              <a:t>Be</a:t>
            </a:r>
            <a:r>
              <a:rPr lang="en-US" i="1" baseline="30000" dirty="0" smtClean="0">
                <a:sym typeface="Wingdings" panose="05000000000000000000" pitchFamily="2" charset="2"/>
              </a:rPr>
              <a:t>at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smtClean="0">
                <a:sym typeface="Wingdings" panose="05000000000000000000" pitchFamily="2" charset="2"/>
              </a:rPr>
              <a:t>cos(</a:t>
            </a:r>
            <a:r>
              <a:rPr lang="el-GR" i="1" dirty="0" smtClean="0">
                <a:sym typeface="Wingdings" panose="05000000000000000000" pitchFamily="2" charset="2"/>
              </a:rPr>
              <a:t>ω</a:t>
            </a:r>
            <a:r>
              <a:rPr lang="en-US" i="1" dirty="0" smtClean="0">
                <a:sym typeface="Wingdings" panose="05000000000000000000" pitchFamily="2" charset="2"/>
              </a:rPr>
              <a:t>t</a:t>
            </a:r>
            <a:r>
              <a:rPr lang="en-US" dirty="0" smtClean="0">
                <a:sym typeface="Wingdings" panose="05000000000000000000" pitchFamily="2" charset="2"/>
              </a:rPr>
              <a:t>) or sin(</a:t>
            </a:r>
            <a:r>
              <a:rPr lang="el-GR" i="1" dirty="0">
                <a:sym typeface="Wingdings" panose="05000000000000000000" pitchFamily="2" charset="2"/>
              </a:rPr>
              <a:t>ω</a:t>
            </a:r>
            <a:r>
              <a:rPr lang="en-US" i="1" dirty="0">
                <a:sym typeface="Wingdings" panose="05000000000000000000" pitchFamily="2" charset="2"/>
              </a:rPr>
              <a:t>t</a:t>
            </a:r>
            <a:r>
              <a:rPr lang="en-US" dirty="0" smtClean="0">
                <a:sym typeface="Wingdings" panose="05000000000000000000" pitchFamily="2" charset="2"/>
              </a:rPr>
              <a:t>)   </a:t>
            </a:r>
            <a:r>
              <a:rPr lang="en-US" i="1" dirty="0" smtClean="0">
                <a:sym typeface="Wingdings" panose="05000000000000000000" pitchFamily="2" charset="2"/>
              </a:rPr>
              <a:t>B</a:t>
            </a:r>
            <a:r>
              <a:rPr lang="en-US" baseline="-25000" dirty="0" smtClean="0">
                <a:sym typeface="Wingdings" panose="05000000000000000000" pitchFamily="2" charset="2"/>
              </a:rPr>
              <a:t>1</a:t>
            </a:r>
            <a:r>
              <a:rPr lang="en-US" dirty="0" smtClean="0">
                <a:sym typeface="Wingdings" panose="05000000000000000000" pitchFamily="2" charset="2"/>
              </a:rPr>
              <a:t>cos(</a:t>
            </a:r>
            <a:r>
              <a:rPr lang="el-GR" i="1" dirty="0">
                <a:sym typeface="Wingdings" panose="05000000000000000000" pitchFamily="2" charset="2"/>
              </a:rPr>
              <a:t>ω</a:t>
            </a:r>
            <a:r>
              <a:rPr lang="en-US" i="1" dirty="0">
                <a:sym typeface="Wingdings" panose="05000000000000000000" pitchFamily="2" charset="2"/>
              </a:rPr>
              <a:t>t</a:t>
            </a:r>
            <a:r>
              <a:rPr lang="en-US" dirty="0">
                <a:sym typeface="Wingdings" panose="05000000000000000000" pitchFamily="2" charset="2"/>
              </a:rPr>
              <a:t>) +</a:t>
            </a:r>
            <a:r>
              <a:rPr lang="en-US" dirty="0" smtClean="0">
                <a:sym typeface="Wingdings" panose="05000000000000000000" pitchFamily="2" charset="2"/>
              </a:rPr>
              <a:t> </a:t>
            </a:r>
            <a:r>
              <a:rPr lang="en-US" i="1" dirty="0" smtClean="0">
                <a:sym typeface="Wingdings" panose="05000000000000000000" pitchFamily="2" charset="2"/>
              </a:rPr>
              <a:t>B</a:t>
            </a:r>
            <a:r>
              <a:rPr lang="en-US" baseline="-25000" dirty="0" smtClean="0">
                <a:sym typeface="Wingdings" panose="05000000000000000000" pitchFamily="2" charset="2"/>
              </a:rPr>
              <a:t>2</a:t>
            </a:r>
            <a:r>
              <a:rPr lang="en-US" dirty="0" smtClean="0">
                <a:sym typeface="Wingdings" panose="05000000000000000000" pitchFamily="2" charset="2"/>
              </a:rPr>
              <a:t>sin </a:t>
            </a:r>
            <a:r>
              <a:rPr lang="en-US" dirty="0">
                <a:sym typeface="Wingdings" panose="05000000000000000000" pitchFamily="2" charset="2"/>
              </a:rPr>
              <a:t>(</a:t>
            </a:r>
            <a:r>
              <a:rPr lang="el-GR" i="1" dirty="0">
                <a:sym typeface="Wingdings" panose="05000000000000000000" pitchFamily="2" charset="2"/>
              </a:rPr>
              <a:t>ω</a:t>
            </a:r>
            <a:r>
              <a:rPr lang="en-US" i="1" dirty="0">
                <a:sym typeface="Wingdings" panose="05000000000000000000" pitchFamily="2" charset="2"/>
              </a:rPr>
              <a:t>t</a:t>
            </a:r>
            <a:r>
              <a:rPr lang="en-US" dirty="0">
                <a:sym typeface="Wingdings" panose="05000000000000000000" pitchFamily="2" charset="2"/>
              </a:rPr>
              <a:t>) </a:t>
            </a:r>
            <a:endParaRPr lang="en-US" dirty="0" smtClean="0">
              <a:sym typeface="Wingdings" panose="05000000000000000000" pitchFamily="2" charset="2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>
                <a:sym typeface="Wingdings" panose="05000000000000000000" pitchFamily="2" charset="2"/>
              </a:rPr>
              <a:t> </a:t>
            </a:r>
            <a:r>
              <a:rPr lang="en-US" i="1" dirty="0" err="1" smtClean="0">
                <a:sym typeface="Wingdings" panose="05000000000000000000" pitchFamily="2" charset="2"/>
              </a:rPr>
              <a:t>t</a:t>
            </a:r>
            <a:r>
              <a:rPr lang="en-US" i="1" baseline="30000" dirty="0" err="1" smtClean="0">
                <a:sym typeface="Wingdings" panose="05000000000000000000" pitchFamily="2" charset="2"/>
              </a:rPr>
              <a:t>p</a:t>
            </a:r>
            <a:r>
              <a:rPr lang="en-US" i="1" dirty="0" err="1" smtClean="0">
                <a:sym typeface="Wingdings" panose="05000000000000000000" pitchFamily="2" charset="2"/>
              </a:rPr>
              <a:t>e</a:t>
            </a:r>
            <a:r>
              <a:rPr lang="en-US" i="1" baseline="30000" dirty="0" err="1" smtClean="0">
                <a:sym typeface="Wingdings" panose="05000000000000000000" pitchFamily="2" charset="2"/>
              </a:rPr>
              <a:t>at</a:t>
            </a:r>
            <a:r>
              <a:rPr lang="en-US" dirty="0" err="1" smtClean="0">
                <a:sym typeface="Wingdings" panose="05000000000000000000" pitchFamily="2" charset="2"/>
              </a:rPr>
              <a:t>cos</a:t>
            </a:r>
            <a:r>
              <a:rPr lang="en-US" dirty="0" smtClean="0">
                <a:sym typeface="Wingdings" panose="05000000000000000000" pitchFamily="2" charset="2"/>
              </a:rPr>
              <a:t>(</a:t>
            </a:r>
            <a:r>
              <a:rPr lang="el-GR" i="1" dirty="0">
                <a:sym typeface="Wingdings" panose="05000000000000000000" pitchFamily="2" charset="2"/>
              </a:rPr>
              <a:t>ω</a:t>
            </a:r>
            <a:r>
              <a:rPr lang="en-US" i="1" dirty="0">
                <a:sym typeface="Wingdings" panose="05000000000000000000" pitchFamily="2" charset="2"/>
              </a:rPr>
              <a:t>t</a:t>
            </a:r>
            <a:r>
              <a:rPr lang="en-US" dirty="0">
                <a:sym typeface="Wingdings" panose="05000000000000000000" pitchFamily="2" charset="2"/>
              </a:rPr>
              <a:t>) or </a:t>
            </a:r>
            <a:r>
              <a:rPr lang="en-US" i="1" dirty="0" err="1" smtClean="0">
                <a:sym typeface="Wingdings" panose="05000000000000000000" pitchFamily="2" charset="2"/>
              </a:rPr>
              <a:t>t</a:t>
            </a:r>
            <a:r>
              <a:rPr lang="en-US" i="1" baseline="30000" dirty="0" err="1" smtClean="0">
                <a:sym typeface="Wingdings" panose="05000000000000000000" pitchFamily="2" charset="2"/>
              </a:rPr>
              <a:t>p</a:t>
            </a:r>
            <a:r>
              <a:rPr lang="en-US" i="1" dirty="0" err="1" smtClean="0">
                <a:sym typeface="Wingdings" panose="05000000000000000000" pitchFamily="2" charset="2"/>
              </a:rPr>
              <a:t>e</a:t>
            </a:r>
            <a:r>
              <a:rPr lang="en-US" i="1" baseline="30000" dirty="0" err="1" smtClean="0">
                <a:sym typeface="Wingdings" panose="05000000000000000000" pitchFamily="2" charset="2"/>
              </a:rPr>
              <a:t>at</a:t>
            </a:r>
            <a:r>
              <a:rPr lang="en-US" dirty="0" err="1" smtClean="0">
                <a:sym typeface="Wingdings" panose="05000000000000000000" pitchFamily="2" charset="2"/>
              </a:rPr>
              <a:t>sin</a:t>
            </a:r>
            <a:r>
              <a:rPr lang="en-US" dirty="0" smtClean="0">
                <a:sym typeface="Wingdings" panose="05000000000000000000" pitchFamily="2" charset="2"/>
              </a:rPr>
              <a:t>(</a:t>
            </a:r>
            <a:r>
              <a:rPr lang="el-GR" i="1" dirty="0">
                <a:sym typeface="Wingdings" panose="05000000000000000000" pitchFamily="2" charset="2"/>
              </a:rPr>
              <a:t>ω</a:t>
            </a:r>
            <a:r>
              <a:rPr lang="en-US" i="1" dirty="0">
                <a:sym typeface="Wingdings" panose="05000000000000000000" pitchFamily="2" charset="2"/>
              </a:rPr>
              <a:t>t</a:t>
            </a:r>
            <a:r>
              <a:rPr lang="en-US" dirty="0">
                <a:sym typeface="Wingdings" panose="05000000000000000000" pitchFamily="2" charset="2"/>
              </a:rPr>
              <a:t>)  </a:t>
            </a:r>
            <a:endParaRPr lang="en-US" dirty="0" smtClean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dirty="0" smtClean="0">
                <a:sym typeface="Wingdings" panose="05000000000000000000" pitchFamily="2" charset="2"/>
              </a:rPr>
              <a:t>     (</a:t>
            </a:r>
            <a:r>
              <a:rPr lang="en-US" i="1" dirty="0">
                <a:sym typeface="Wingdings" panose="05000000000000000000" pitchFamily="2" charset="2"/>
              </a:rPr>
              <a:t>B</a:t>
            </a:r>
            <a:r>
              <a:rPr lang="en-US" i="1" baseline="-25000" dirty="0">
                <a:sym typeface="Wingdings" panose="05000000000000000000" pitchFamily="2" charset="2"/>
              </a:rPr>
              <a:t>p</a:t>
            </a:r>
            <a:r>
              <a:rPr lang="en-US" i="1" dirty="0">
                <a:sym typeface="Wingdings" panose="05000000000000000000" pitchFamily="2" charset="2"/>
              </a:rPr>
              <a:t>t</a:t>
            </a:r>
            <a:r>
              <a:rPr lang="en-US" i="1" baseline="30000" dirty="0">
                <a:sym typeface="Wingdings" panose="05000000000000000000" pitchFamily="2" charset="2"/>
              </a:rPr>
              <a:t>p</a:t>
            </a:r>
            <a:r>
              <a:rPr lang="en-US" dirty="0">
                <a:sym typeface="Wingdings" panose="05000000000000000000" pitchFamily="2" charset="2"/>
              </a:rPr>
              <a:t>+</a:t>
            </a:r>
            <a:r>
              <a:rPr lang="en-US" i="1" dirty="0">
                <a:sym typeface="Wingdings" panose="05000000000000000000" pitchFamily="2" charset="2"/>
              </a:rPr>
              <a:t>B</a:t>
            </a:r>
            <a:r>
              <a:rPr lang="en-US" i="1" baseline="-25000" dirty="0">
                <a:sym typeface="Wingdings" panose="05000000000000000000" pitchFamily="2" charset="2"/>
              </a:rPr>
              <a:t>p</a:t>
            </a:r>
            <a:r>
              <a:rPr lang="en-US" baseline="-25000" dirty="0">
                <a:sym typeface="Wingdings" panose="05000000000000000000" pitchFamily="2" charset="2"/>
              </a:rPr>
              <a:t>-1</a:t>
            </a:r>
            <a:r>
              <a:rPr lang="en-US" i="1" dirty="0">
                <a:sym typeface="Wingdings" panose="05000000000000000000" pitchFamily="2" charset="2"/>
              </a:rPr>
              <a:t>t</a:t>
            </a:r>
            <a:r>
              <a:rPr lang="en-US" i="1" baseline="30000" dirty="0">
                <a:sym typeface="Wingdings" panose="05000000000000000000" pitchFamily="2" charset="2"/>
              </a:rPr>
              <a:t>p</a:t>
            </a:r>
            <a:r>
              <a:rPr lang="en-US" baseline="30000" dirty="0">
                <a:sym typeface="Wingdings" panose="05000000000000000000" pitchFamily="2" charset="2"/>
              </a:rPr>
              <a:t>-1</a:t>
            </a:r>
            <a:r>
              <a:rPr lang="en-US" dirty="0">
                <a:sym typeface="Wingdings" panose="05000000000000000000" pitchFamily="2" charset="2"/>
              </a:rPr>
              <a:t>+…+</a:t>
            </a:r>
            <a:r>
              <a:rPr lang="en-US" i="1" dirty="0">
                <a:sym typeface="Wingdings" panose="05000000000000000000" pitchFamily="2" charset="2"/>
              </a:rPr>
              <a:t>B</a:t>
            </a:r>
            <a:r>
              <a:rPr lang="en-US" baseline="-25000" dirty="0">
                <a:sym typeface="Wingdings" panose="05000000000000000000" pitchFamily="2" charset="2"/>
              </a:rPr>
              <a:t>1</a:t>
            </a:r>
            <a:r>
              <a:rPr lang="en-US" i="1" dirty="0">
                <a:sym typeface="Wingdings" panose="05000000000000000000" pitchFamily="2" charset="2"/>
              </a:rPr>
              <a:t>t</a:t>
            </a:r>
            <a:r>
              <a:rPr lang="en-US" dirty="0">
                <a:sym typeface="Wingdings" panose="05000000000000000000" pitchFamily="2" charset="2"/>
              </a:rPr>
              <a:t>+</a:t>
            </a:r>
            <a:r>
              <a:rPr lang="en-US" i="1" dirty="0">
                <a:sym typeface="Wingdings" panose="05000000000000000000" pitchFamily="2" charset="2"/>
              </a:rPr>
              <a:t>B</a:t>
            </a:r>
            <a:r>
              <a:rPr lang="en-US" baseline="-25000" dirty="0">
                <a:sym typeface="Wingdings" panose="05000000000000000000" pitchFamily="2" charset="2"/>
              </a:rPr>
              <a:t>0</a:t>
            </a:r>
            <a:r>
              <a:rPr lang="en-US" dirty="0" smtClean="0">
                <a:sym typeface="Wingdings" panose="05000000000000000000" pitchFamily="2" charset="2"/>
              </a:rPr>
              <a:t>)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e</a:t>
            </a:r>
            <a:r>
              <a:rPr lang="en-US" i="1" baseline="30000" dirty="0" err="1">
                <a:sym typeface="Wingdings" panose="05000000000000000000" pitchFamily="2" charset="2"/>
              </a:rPr>
              <a:t>at</a:t>
            </a:r>
            <a:r>
              <a:rPr lang="en-US" dirty="0" err="1" smtClean="0">
                <a:sym typeface="Wingdings" panose="05000000000000000000" pitchFamily="2" charset="2"/>
              </a:rPr>
              <a:t>cos</a:t>
            </a:r>
            <a:r>
              <a:rPr lang="en-US" dirty="0" smtClean="0">
                <a:sym typeface="Wingdings" panose="05000000000000000000" pitchFamily="2" charset="2"/>
              </a:rPr>
              <a:t>(</a:t>
            </a:r>
            <a:r>
              <a:rPr lang="el-GR" i="1" dirty="0">
                <a:sym typeface="Wingdings" panose="05000000000000000000" pitchFamily="2" charset="2"/>
              </a:rPr>
              <a:t>ω</a:t>
            </a:r>
            <a:r>
              <a:rPr lang="en-US" i="1" dirty="0">
                <a:sym typeface="Wingdings" panose="05000000000000000000" pitchFamily="2" charset="2"/>
              </a:rPr>
              <a:t>t</a:t>
            </a:r>
            <a:r>
              <a:rPr lang="en-US" dirty="0">
                <a:sym typeface="Wingdings" panose="05000000000000000000" pitchFamily="2" charset="2"/>
              </a:rPr>
              <a:t>) </a:t>
            </a:r>
            <a:endParaRPr lang="en-US" dirty="0" smtClean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smtClean="0">
                <a:sym typeface="Wingdings" panose="05000000000000000000" pitchFamily="2" charset="2"/>
              </a:rPr>
              <a:t>        + (</a:t>
            </a:r>
            <a:r>
              <a:rPr lang="en-US" i="1" dirty="0" smtClean="0">
                <a:sym typeface="Wingdings" panose="05000000000000000000" pitchFamily="2" charset="2"/>
              </a:rPr>
              <a:t>D</a:t>
            </a:r>
            <a:r>
              <a:rPr lang="en-US" i="1" baseline="-25000" dirty="0" smtClean="0">
                <a:sym typeface="Wingdings" panose="05000000000000000000" pitchFamily="2" charset="2"/>
              </a:rPr>
              <a:t>p</a:t>
            </a:r>
            <a:r>
              <a:rPr lang="en-US" i="1" dirty="0" smtClean="0">
                <a:sym typeface="Wingdings" panose="05000000000000000000" pitchFamily="2" charset="2"/>
              </a:rPr>
              <a:t>t</a:t>
            </a:r>
            <a:r>
              <a:rPr lang="en-US" i="1" baseline="30000" dirty="0" smtClean="0">
                <a:sym typeface="Wingdings" panose="05000000000000000000" pitchFamily="2" charset="2"/>
              </a:rPr>
              <a:t>p</a:t>
            </a:r>
            <a:r>
              <a:rPr lang="en-US" dirty="0" smtClean="0">
                <a:sym typeface="Wingdings" panose="05000000000000000000" pitchFamily="2" charset="2"/>
              </a:rPr>
              <a:t>+</a:t>
            </a:r>
            <a:r>
              <a:rPr lang="en-US" i="1" dirty="0" smtClean="0">
                <a:sym typeface="Wingdings" panose="05000000000000000000" pitchFamily="2" charset="2"/>
              </a:rPr>
              <a:t>D</a:t>
            </a:r>
            <a:r>
              <a:rPr lang="en-US" i="1" baseline="-25000" dirty="0" smtClean="0">
                <a:sym typeface="Wingdings" panose="05000000000000000000" pitchFamily="2" charset="2"/>
              </a:rPr>
              <a:t>p</a:t>
            </a:r>
            <a:r>
              <a:rPr lang="en-US" baseline="-25000" dirty="0" smtClean="0">
                <a:sym typeface="Wingdings" panose="05000000000000000000" pitchFamily="2" charset="2"/>
              </a:rPr>
              <a:t>-1</a:t>
            </a:r>
            <a:r>
              <a:rPr lang="en-US" i="1" dirty="0" smtClean="0">
                <a:sym typeface="Wingdings" panose="05000000000000000000" pitchFamily="2" charset="2"/>
              </a:rPr>
              <a:t>t</a:t>
            </a:r>
            <a:r>
              <a:rPr lang="en-US" i="1" baseline="30000" dirty="0" smtClean="0">
                <a:sym typeface="Wingdings" panose="05000000000000000000" pitchFamily="2" charset="2"/>
              </a:rPr>
              <a:t>p</a:t>
            </a:r>
            <a:r>
              <a:rPr lang="en-US" baseline="30000" dirty="0" smtClean="0">
                <a:sym typeface="Wingdings" panose="05000000000000000000" pitchFamily="2" charset="2"/>
              </a:rPr>
              <a:t>-1</a:t>
            </a:r>
            <a:r>
              <a:rPr lang="en-US" dirty="0" smtClean="0">
                <a:sym typeface="Wingdings" panose="05000000000000000000" pitchFamily="2" charset="2"/>
              </a:rPr>
              <a:t>+…+</a:t>
            </a:r>
            <a:r>
              <a:rPr lang="en-US" i="1" dirty="0" smtClean="0">
                <a:sym typeface="Wingdings" panose="05000000000000000000" pitchFamily="2" charset="2"/>
              </a:rPr>
              <a:t>D</a:t>
            </a:r>
            <a:r>
              <a:rPr lang="en-US" baseline="-25000" dirty="0" smtClean="0">
                <a:sym typeface="Wingdings" panose="05000000000000000000" pitchFamily="2" charset="2"/>
              </a:rPr>
              <a:t>1</a:t>
            </a:r>
            <a:r>
              <a:rPr lang="en-US" i="1" dirty="0" smtClean="0">
                <a:sym typeface="Wingdings" panose="05000000000000000000" pitchFamily="2" charset="2"/>
              </a:rPr>
              <a:t>t</a:t>
            </a:r>
            <a:r>
              <a:rPr lang="en-US" dirty="0" smtClean="0">
                <a:sym typeface="Wingdings" panose="05000000000000000000" pitchFamily="2" charset="2"/>
              </a:rPr>
              <a:t>+</a:t>
            </a:r>
            <a:r>
              <a:rPr lang="en-US" i="1" dirty="0" smtClean="0">
                <a:sym typeface="Wingdings" panose="05000000000000000000" pitchFamily="2" charset="2"/>
              </a:rPr>
              <a:t>D</a:t>
            </a:r>
            <a:r>
              <a:rPr lang="en-US" baseline="-25000" dirty="0" smtClean="0">
                <a:sym typeface="Wingdings" panose="05000000000000000000" pitchFamily="2" charset="2"/>
              </a:rPr>
              <a:t>0</a:t>
            </a:r>
            <a:r>
              <a:rPr lang="en-US" dirty="0">
                <a:sym typeface="Wingdings" panose="05000000000000000000" pitchFamily="2" charset="2"/>
              </a:rPr>
              <a:t>)</a:t>
            </a:r>
            <a:r>
              <a:rPr lang="en-US" i="1" dirty="0">
                <a:sym typeface="Wingdings" panose="05000000000000000000" pitchFamily="2" charset="2"/>
              </a:rPr>
              <a:t> </a:t>
            </a:r>
            <a:r>
              <a:rPr lang="en-US" i="1" dirty="0" err="1">
                <a:sym typeface="Wingdings" panose="05000000000000000000" pitchFamily="2" charset="2"/>
              </a:rPr>
              <a:t>e</a:t>
            </a:r>
            <a:r>
              <a:rPr lang="en-US" i="1" baseline="30000" dirty="0" err="1">
                <a:sym typeface="Wingdings" panose="05000000000000000000" pitchFamily="2" charset="2"/>
              </a:rPr>
              <a:t>at</a:t>
            </a:r>
            <a:r>
              <a:rPr lang="en-US" dirty="0" err="1" smtClean="0">
                <a:sym typeface="Wingdings" panose="05000000000000000000" pitchFamily="2" charset="2"/>
              </a:rPr>
              <a:t>sin</a:t>
            </a:r>
            <a:r>
              <a:rPr lang="en-US" dirty="0" smtClean="0">
                <a:sym typeface="Wingdings" panose="05000000000000000000" pitchFamily="2" charset="2"/>
              </a:rPr>
              <a:t> </a:t>
            </a:r>
            <a:r>
              <a:rPr lang="en-US" dirty="0">
                <a:sym typeface="Wingdings" panose="05000000000000000000" pitchFamily="2" charset="2"/>
              </a:rPr>
              <a:t>(</a:t>
            </a:r>
            <a:r>
              <a:rPr lang="el-GR" i="1" dirty="0">
                <a:sym typeface="Wingdings" panose="05000000000000000000" pitchFamily="2" charset="2"/>
              </a:rPr>
              <a:t>ω</a:t>
            </a:r>
            <a:r>
              <a:rPr lang="en-US" i="1" dirty="0">
                <a:sym typeface="Wingdings" panose="05000000000000000000" pitchFamily="2" charset="2"/>
              </a:rPr>
              <a:t>t</a:t>
            </a:r>
            <a:r>
              <a:rPr lang="en-US" dirty="0">
                <a:sym typeface="Wingdings" panose="05000000000000000000" pitchFamily="2" charset="2"/>
              </a:rPr>
              <a:t>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dirty="0">
                <a:sym typeface="Wingdings" panose="05000000000000000000" pitchFamily="2" charset="2"/>
              </a:rPr>
              <a:t>……</a:t>
            </a:r>
            <a:endParaRPr lang="en-US" dirty="0" smtClean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dirty="0"/>
              <a:t>Step </a:t>
            </a:r>
            <a:r>
              <a:rPr lang="en-US" dirty="0" smtClean="0"/>
              <a:t>#2:</a:t>
            </a:r>
            <a:r>
              <a:rPr lang="en-US" dirty="0" smtClean="0">
                <a:sym typeface="Wingdings" panose="05000000000000000000" pitchFamily="2" charset="2"/>
              </a:rPr>
              <a:t> Find the unknown coefficients: </a:t>
            </a:r>
            <a:r>
              <a:rPr lang="en-US" i="1" dirty="0" smtClean="0">
                <a:sym typeface="Wingdings" panose="05000000000000000000" pitchFamily="2" charset="2"/>
              </a:rPr>
              <a:t>B</a:t>
            </a:r>
            <a:r>
              <a:rPr lang="en-US" i="1" baseline="-25000" dirty="0" smtClean="0">
                <a:sym typeface="Wingdings" panose="05000000000000000000" pitchFamily="2" charset="2"/>
              </a:rPr>
              <a:t>k</a:t>
            </a:r>
            <a:r>
              <a:rPr lang="en-US" dirty="0" smtClean="0">
                <a:sym typeface="Wingdings" panose="05000000000000000000" pitchFamily="2" charset="2"/>
              </a:rPr>
              <a:t>, </a:t>
            </a:r>
            <a:r>
              <a:rPr lang="en-US" i="1" dirty="0" err="1">
                <a:sym typeface="Wingdings" panose="05000000000000000000" pitchFamily="2" charset="2"/>
              </a:rPr>
              <a:t>D</a:t>
            </a:r>
            <a:r>
              <a:rPr lang="en-US" i="1" baseline="-25000" dirty="0" err="1">
                <a:sym typeface="Wingdings" panose="05000000000000000000" pitchFamily="2" charset="2"/>
              </a:rPr>
              <a:t>k</a:t>
            </a:r>
            <a:endParaRPr lang="en-US" i="1" baseline="-25000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§S1.2 </a:t>
            </a:r>
            <a:r>
              <a:rPr lang="en-US" dirty="0"/>
              <a:t>Homogeneous Solution and Particular </a:t>
            </a:r>
            <a:r>
              <a:rPr lang="en-US" dirty="0" smtClean="0"/>
              <a:t>Solution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7349978" y="5574160"/>
            <a:ext cx="991765" cy="4616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How?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8988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Examples to Find Particular </a:t>
            </a:r>
            <a:r>
              <a:rPr lang="en-US" dirty="0"/>
              <a:t>Solution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(1) </a:t>
            </a:r>
            <a:r>
              <a:rPr lang="en-US" i="1" dirty="0" smtClean="0"/>
              <a:t>x</a:t>
            </a:r>
            <a:r>
              <a:rPr lang="en-US" dirty="0" smtClean="0"/>
              <a:t>(</a:t>
            </a:r>
            <a:r>
              <a:rPr lang="en-US" i="1" dirty="0" smtClean="0"/>
              <a:t>t</a:t>
            </a:r>
            <a:r>
              <a:rPr lang="en-US" dirty="0" smtClean="0"/>
              <a:t>)=</a:t>
            </a:r>
            <a:r>
              <a:rPr lang="en-US" i="1" dirty="0" smtClean="0"/>
              <a:t>t</a:t>
            </a:r>
            <a:r>
              <a:rPr lang="en-US" baseline="30000" dirty="0" smtClean="0"/>
              <a:t>2</a:t>
            </a:r>
          </a:p>
          <a:p>
            <a:pPr marL="0" indent="0">
              <a:buNone/>
            </a:pPr>
            <a:r>
              <a:rPr lang="en-US" dirty="0" smtClean="0"/>
              <a:t>    the right side =</a:t>
            </a:r>
            <a:r>
              <a:rPr lang="en-US" i="1" dirty="0" smtClean="0"/>
              <a:t>t</a:t>
            </a:r>
            <a:r>
              <a:rPr lang="en-US" baseline="30000" dirty="0" smtClean="0"/>
              <a:t>2</a:t>
            </a:r>
            <a:r>
              <a:rPr lang="en-US" dirty="0" smtClean="0"/>
              <a:t>+2</a:t>
            </a:r>
            <a:r>
              <a:rPr lang="en-US" i="1" dirty="0" smtClean="0"/>
              <a:t>t</a:t>
            </a:r>
            <a:r>
              <a:rPr lang="en-US" dirty="0" smtClean="0"/>
              <a:t>, try </a:t>
            </a:r>
            <a:r>
              <a:rPr lang="en-US" i="1" dirty="0" smtClean="0"/>
              <a:t>y</a:t>
            </a:r>
            <a:r>
              <a:rPr lang="en-US" dirty="0" smtClean="0"/>
              <a:t>(</a:t>
            </a:r>
            <a:r>
              <a:rPr lang="en-US" i="1" dirty="0" smtClean="0"/>
              <a:t>t</a:t>
            </a:r>
            <a:r>
              <a:rPr lang="en-US" dirty="0" smtClean="0"/>
              <a:t>)=</a:t>
            </a:r>
            <a:r>
              <a:rPr lang="en-US" i="1" dirty="0" smtClean="0"/>
              <a:t>B</a:t>
            </a:r>
            <a:r>
              <a:rPr lang="en-US" baseline="-25000" dirty="0" smtClean="0"/>
              <a:t>2</a:t>
            </a:r>
            <a:r>
              <a:rPr lang="en-US" i="1" dirty="0" smtClean="0"/>
              <a:t>t</a:t>
            </a:r>
            <a:r>
              <a:rPr lang="en-US" baseline="30000" dirty="0" smtClean="0"/>
              <a:t>2</a:t>
            </a:r>
            <a:r>
              <a:rPr lang="en-US" dirty="0" smtClean="0"/>
              <a:t>+</a:t>
            </a:r>
            <a:r>
              <a:rPr lang="en-US" i="1" dirty="0" smtClean="0"/>
              <a:t>B</a:t>
            </a:r>
            <a:r>
              <a:rPr lang="en-US" baseline="-25000" dirty="0" smtClean="0"/>
              <a:t>1</a:t>
            </a:r>
            <a:r>
              <a:rPr lang="en-US" i="1" dirty="0" smtClean="0"/>
              <a:t>t</a:t>
            </a:r>
            <a:r>
              <a:rPr lang="en-US" dirty="0" smtClean="0"/>
              <a:t>+</a:t>
            </a:r>
            <a:r>
              <a:rPr lang="en-US" i="1" dirty="0" smtClean="0"/>
              <a:t>B</a:t>
            </a:r>
            <a:r>
              <a:rPr lang="en-US" baseline="-25000" dirty="0" smtClean="0"/>
              <a:t>0</a:t>
            </a:r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</a:t>
            </a:r>
          </a:p>
          <a:p>
            <a:pPr marL="0" indent="0">
              <a:buNone/>
            </a:pPr>
            <a:r>
              <a:rPr lang="en-US" dirty="0" smtClean="0"/>
              <a:t>(2) </a:t>
            </a:r>
            <a:r>
              <a:rPr lang="en-US" i="1" dirty="0"/>
              <a:t>x</a:t>
            </a:r>
            <a:r>
              <a:rPr lang="en-US" dirty="0"/>
              <a:t>(</a:t>
            </a:r>
            <a:r>
              <a:rPr lang="en-US" i="1" dirty="0"/>
              <a:t>t</a:t>
            </a:r>
            <a:r>
              <a:rPr lang="en-US" dirty="0" smtClean="0"/>
              <a:t>)=</a:t>
            </a:r>
            <a:r>
              <a:rPr lang="en-US" i="1" dirty="0" smtClean="0"/>
              <a:t>e</a:t>
            </a:r>
            <a:r>
              <a:rPr lang="en-US" i="1" baseline="30000" dirty="0" smtClean="0"/>
              <a:t>t</a:t>
            </a:r>
            <a:endParaRPr lang="en-US" i="1" baseline="30000" dirty="0"/>
          </a:p>
          <a:p>
            <a:pPr marL="0" indent="0">
              <a:buNone/>
            </a:pPr>
            <a:r>
              <a:rPr lang="en-US" dirty="0" smtClean="0"/>
              <a:t>     Try </a:t>
            </a:r>
            <a:r>
              <a:rPr lang="en-US" i="1" dirty="0"/>
              <a:t>y</a:t>
            </a:r>
            <a:r>
              <a:rPr lang="en-US" dirty="0"/>
              <a:t>(</a:t>
            </a:r>
            <a:r>
              <a:rPr lang="en-US" i="1" dirty="0"/>
              <a:t>t</a:t>
            </a:r>
            <a:r>
              <a:rPr lang="en-US" dirty="0"/>
              <a:t>)=</a:t>
            </a:r>
            <a:r>
              <a:rPr lang="en-US" i="1" dirty="0" smtClean="0"/>
              <a:t>Be</a:t>
            </a:r>
            <a:r>
              <a:rPr lang="en-US" baseline="30000" dirty="0" smtClean="0"/>
              <a:t>t</a:t>
            </a:r>
            <a:r>
              <a:rPr lang="en-US" dirty="0" smtClean="0"/>
              <a:t>, </a:t>
            </a:r>
            <a:r>
              <a:rPr lang="en-US" i="1" dirty="0"/>
              <a:t>Be</a:t>
            </a:r>
            <a:r>
              <a:rPr lang="en-US" baseline="30000" dirty="0"/>
              <a:t>t </a:t>
            </a:r>
            <a:r>
              <a:rPr lang="en-US" dirty="0" smtClean="0"/>
              <a:t>+</a:t>
            </a:r>
            <a:r>
              <a:rPr lang="en-US" i="1" dirty="0"/>
              <a:t> </a:t>
            </a:r>
            <a:r>
              <a:rPr lang="en-US" i="1" dirty="0" smtClean="0"/>
              <a:t>2Be</a:t>
            </a:r>
            <a:r>
              <a:rPr lang="en-US" baseline="30000" dirty="0" smtClean="0"/>
              <a:t>t </a:t>
            </a:r>
            <a:r>
              <a:rPr lang="en-US" dirty="0" smtClean="0"/>
              <a:t>+</a:t>
            </a:r>
            <a:r>
              <a:rPr lang="en-US" i="1" dirty="0"/>
              <a:t> </a:t>
            </a:r>
            <a:r>
              <a:rPr lang="en-US" i="1" dirty="0" smtClean="0"/>
              <a:t>3Be</a:t>
            </a:r>
            <a:r>
              <a:rPr lang="en-US" baseline="30000" dirty="0" smtClean="0"/>
              <a:t>t </a:t>
            </a:r>
            <a:r>
              <a:rPr lang="en-US" dirty="0" smtClean="0"/>
              <a:t>=</a:t>
            </a:r>
            <a:r>
              <a:rPr lang="en-US" i="1" dirty="0" err="1" smtClean="0"/>
              <a:t>e</a:t>
            </a:r>
            <a:r>
              <a:rPr lang="en-US" baseline="30000" dirty="0" err="1" smtClean="0"/>
              <a:t>t</a:t>
            </a:r>
            <a:r>
              <a:rPr lang="en-US" dirty="0" err="1" smtClean="0"/>
              <a:t>+</a:t>
            </a:r>
            <a:r>
              <a:rPr lang="en-US" i="1" dirty="0" err="1" smtClean="0"/>
              <a:t>e</a:t>
            </a:r>
            <a:r>
              <a:rPr lang="en-US" baseline="30000" dirty="0" err="1" smtClean="0"/>
              <a:t>t</a:t>
            </a:r>
            <a:r>
              <a:rPr lang="en-US" dirty="0" smtClean="0"/>
              <a:t>, </a:t>
            </a:r>
            <a:r>
              <a:rPr lang="en-US" dirty="0" smtClean="0">
                <a:sym typeface="Wingdings 3" panose="05040102010807070707" pitchFamily="18" charset="2"/>
              </a:rPr>
              <a:t> </a:t>
            </a:r>
            <a:r>
              <a:rPr lang="en-US" i="1" dirty="0" smtClean="0">
                <a:sym typeface="Wingdings 3" panose="05040102010807070707" pitchFamily="18" charset="2"/>
              </a:rPr>
              <a:t>B</a:t>
            </a:r>
            <a:r>
              <a:rPr lang="en-US" dirty="0" smtClean="0">
                <a:sym typeface="Wingdings 3" panose="05040102010807070707" pitchFamily="18" charset="2"/>
              </a:rPr>
              <a:t>=1/3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§S1.2 </a:t>
            </a:r>
            <a:r>
              <a:rPr lang="en-US" dirty="0"/>
              <a:t>Homogeneous Solution and Particular </a:t>
            </a:r>
            <a:r>
              <a:rPr lang="en-US" dirty="0" smtClean="0"/>
              <a:t>Solution</a:t>
            </a:r>
            <a:endParaRPr lang="zh-CN" altLang="en-US" dirty="0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1876163"/>
              </p:ext>
            </p:extLst>
          </p:nvPr>
        </p:nvGraphicFramePr>
        <p:xfrm>
          <a:off x="1492371" y="1208225"/>
          <a:ext cx="4183380" cy="754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500" name="公式" r:id="rId3" imgW="2324100" imgH="419100" progId="Equation.3">
                  <p:embed/>
                </p:oleObj>
              </mc:Choice>
              <mc:Fallback>
                <p:oleObj name="公式" r:id="rId3" imgW="2324100" imgH="4191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2371" y="1208225"/>
                        <a:ext cx="4183380" cy="7543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0399367"/>
              </p:ext>
            </p:extLst>
          </p:nvPr>
        </p:nvGraphicFramePr>
        <p:xfrm>
          <a:off x="1012311" y="2939501"/>
          <a:ext cx="5143500" cy="4343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501" name="公式" r:id="rId5" imgW="2857500" imgH="241300" progId="Equation.3">
                  <p:embed/>
                </p:oleObj>
              </mc:Choice>
              <mc:Fallback>
                <p:oleObj name="公式" r:id="rId5" imgW="2857500" imgH="2413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2311" y="2939501"/>
                        <a:ext cx="5143500" cy="43434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7934925"/>
              </p:ext>
            </p:extLst>
          </p:nvPr>
        </p:nvGraphicFramePr>
        <p:xfrm>
          <a:off x="1150334" y="3489636"/>
          <a:ext cx="4274820" cy="12801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502" name="公式" r:id="rId7" imgW="2374900" imgH="711200" progId="Equation.3">
                  <p:embed/>
                </p:oleObj>
              </mc:Choice>
              <mc:Fallback>
                <p:oleObj name="公式" r:id="rId7" imgW="2374900" imgH="7112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0334" y="3489636"/>
                        <a:ext cx="4274820" cy="12801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44987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to Find Coefficients {</a:t>
            </a:r>
            <a:r>
              <a:rPr lang="en-US" i="1" dirty="0" err="1" smtClean="0"/>
              <a:t>A</a:t>
            </a:r>
            <a:r>
              <a:rPr lang="en-US" i="1" baseline="-25000" dirty="0" err="1" smtClean="0"/>
              <a:t>k</a:t>
            </a:r>
            <a:r>
              <a:rPr lang="en-US" dirty="0" smtClean="0"/>
              <a:t>}</a:t>
            </a:r>
            <a:endParaRPr lang="en-US" i="1" baseline="-250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308101"/>
            <a:ext cx="7886700" cy="2334117"/>
          </a:xfrm>
        </p:spPr>
        <p:txBody>
          <a:bodyPr>
            <a:normAutofit fontScale="85000" lnSpcReduction="10000"/>
          </a:bodyPr>
          <a:lstStyle/>
          <a:p>
            <a:r>
              <a:rPr lang="en-US" dirty="0" smtClean="0"/>
              <a:t> Complete solution </a:t>
            </a:r>
          </a:p>
          <a:p>
            <a:r>
              <a:rPr lang="en-US" i="1" dirty="0" smtClean="0"/>
              <a:t> N</a:t>
            </a:r>
            <a:r>
              <a:rPr lang="en-US" dirty="0" smtClean="0"/>
              <a:t> auxiliary conditions are required to find </a:t>
            </a:r>
            <a:r>
              <a:rPr lang="en-US" i="1" dirty="0" smtClean="0"/>
              <a:t>N</a:t>
            </a:r>
            <a:r>
              <a:rPr lang="en-US" dirty="0" smtClean="0"/>
              <a:t> coefficients {</a:t>
            </a:r>
            <a:r>
              <a:rPr lang="en-US" i="1" dirty="0" err="1" smtClean="0"/>
              <a:t>A</a:t>
            </a:r>
            <a:r>
              <a:rPr lang="en-US" i="1" baseline="-25000" dirty="0" err="1" smtClean="0"/>
              <a:t>k</a:t>
            </a:r>
            <a:r>
              <a:rPr lang="en-US" dirty="0" smtClean="0"/>
              <a:t>} (</a:t>
            </a:r>
            <a:r>
              <a:rPr lang="en-US" i="1" dirty="0" smtClean="0"/>
              <a:t>k</a:t>
            </a:r>
            <a:r>
              <a:rPr lang="en-US" dirty="0" smtClean="0"/>
              <a:t>=</a:t>
            </a:r>
            <a:r>
              <a:rPr lang="en-US" i="1" dirty="0" smtClean="0"/>
              <a:t>N</a:t>
            </a:r>
            <a:r>
              <a:rPr lang="en-US" dirty="0" smtClean="0"/>
              <a:t>, </a:t>
            </a:r>
            <a:r>
              <a:rPr lang="en-US" i="1" dirty="0" smtClean="0"/>
              <a:t>N</a:t>
            </a:r>
            <a:r>
              <a:rPr lang="en-US" dirty="0" smtClean="0"/>
              <a:t>-1, …, 1)</a:t>
            </a:r>
          </a:p>
          <a:p>
            <a:r>
              <a:rPr lang="en-US" dirty="0"/>
              <a:t> </a:t>
            </a:r>
            <a:r>
              <a:rPr lang="en-US" dirty="0" smtClean="0"/>
              <a:t>Typical auxiliary conditions: for any time </a:t>
            </a:r>
            <a:r>
              <a:rPr lang="en-US" i="1" dirty="0" smtClean="0"/>
              <a:t>t</a:t>
            </a:r>
            <a:r>
              <a:rPr lang="en-US" baseline="-25000" dirty="0" smtClean="0"/>
              <a:t>0</a:t>
            </a:r>
            <a:r>
              <a:rPr lang="en-US" dirty="0" smtClean="0"/>
              <a:t>, </a:t>
            </a:r>
            <a:r>
              <a:rPr lang="en-US" altLang="zh-CN" dirty="0" smtClean="0"/>
              <a:t>{</a:t>
            </a:r>
            <a:r>
              <a:rPr lang="en-US" i="1" dirty="0" smtClean="0"/>
              <a:t>y</a:t>
            </a:r>
            <a:r>
              <a:rPr lang="en-US" dirty="0" smtClean="0"/>
              <a:t>(</a:t>
            </a:r>
            <a:r>
              <a:rPr lang="en-US" i="1" dirty="0" smtClean="0"/>
              <a:t>t</a:t>
            </a:r>
            <a:r>
              <a:rPr lang="en-US" baseline="-25000" dirty="0" smtClean="0"/>
              <a:t>0</a:t>
            </a:r>
            <a:r>
              <a:rPr lang="en-US" dirty="0" smtClean="0"/>
              <a:t>), </a:t>
            </a:r>
            <a:r>
              <a:rPr lang="en-US" dirty="0" err="1" smtClean="0"/>
              <a:t>d</a:t>
            </a:r>
            <a:r>
              <a:rPr lang="en-US" i="1" dirty="0" err="1" smtClean="0"/>
              <a:t>y</a:t>
            </a:r>
            <a:r>
              <a:rPr lang="en-US" dirty="0" smtClean="0"/>
              <a:t>(</a:t>
            </a:r>
            <a:r>
              <a:rPr lang="en-US" i="1" dirty="0" smtClean="0"/>
              <a:t>t</a:t>
            </a:r>
            <a:r>
              <a:rPr lang="en-US" baseline="-25000" dirty="0" smtClean="0"/>
              <a:t>0</a:t>
            </a:r>
            <a:r>
              <a:rPr lang="en-US" dirty="0" smtClean="0"/>
              <a:t>)/</a:t>
            </a:r>
            <a:r>
              <a:rPr lang="en-US" dirty="0" err="1" smtClean="0"/>
              <a:t>d</a:t>
            </a:r>
            <a:r>
              <a:rPr lang="en-US" i="1" dirty="0" err="1" smtClean="0"/>
              <a:t>t</a:t>
            </a:r>
            <a:r>
              <a:rPr lang="en-US" dirty="0" smtClean="0"/>
              <a:t>, d</a:t>
            </a:r>
            <a:r>
              <a:rPr lang="en-US" baseline="30000" dirty="0" smtClean="0"/>
              <a:t>2</a:t>
            </a:r>
            <a:r>
              <a:rPr lang="en-US" i="1" dirty="0" smtClean="0"/>
              <a:t>y</a:t>
            </a:r>
            <a:r>
              <a:rPr lang="en-US" dirty="0" smtClean="0"/>
              <a:t>(</a:t>
            </a:r>
            <a:r>
              <a:rPr lang="en-US" i="1" dirty="0" smtClean="0"/>
              <a:t>t</a:t>
            </a:r>
            <a:r>
              <a:rPr lang="en-US" baseline="-25000" dirty="0" smtClean="0"/>
              <a:t>0</a:t>
            </a:r>
            <a:r>
              <a:rPr lang="en-US" dirty="0" smtClean="0"/>
              <a:t>)/d</a:t>
            </a:r>
            <a:r>
              <a:rPr lang="en-US" i="1" dirty="0" smtClean="0"/>
              <a:t>t</a:t>
            </a:r>
            <a:r>
              <a:rPr lang="en-US" baseline="30000" dirty="0" smtClean="0"/>
              <a:t>2</a:t>
            </a:r>
            <a:r>
              <a:rPr lang="en-US" dirty="0" smtClean="0"/>
              <a:t>, …, d</a:t>
            </a:r>
            <a:r>
              <a:rPr lang="en-US" baseline="30000" dirty="0" smtClean="0"/>
              <a:t>N-1</a:t>
            </a:r>
            <a:r>
              <a:rPr lang="en-US" i="1" dirty="0" smtClean="0"/>
              <a:t>y</a:t>
            </a:r>
            <a:r>
              <a:rPr lang="en-US" dirty="0" smtClean="0"/>
              <a:t>(</a:t>
            </a:r>
            <a:r>
              <a:rPr lang="en-US" i="1" dirty="0" smtClean="0"/>
              <a:t>t</a:t>
            </a:r>
            <a:r>
              <a:rPr lang="en-US" baseline="-25000" dirty="0" smtClean="0"/>
              <a:t>0</a:t>
            </a:r>
            <a:r>
              <a:rPr lang="en-US" dirty="0" smtClean="0"/>
              <a:t>)/d</a:t>
            </a:r>
            <a:r>
              <a:rPr lang="en-US" i="1" dirty="0" smtClean="0"/>
              <a:t>t</a:t>
            </a:r>
            <a:r>
              <a:rPr lang="en-US" i="1" baseline="30000" dirty="0" smtClean="0"/>
              <a:t>N</a:t>
            </a:r>
            <a:r>
              <a:rPr lang="en-US" baseline="30000" dirty="0" smtClean="0"/>
              <a:t>-1</a:t>
            </a:r>
            <a:r>
              <a:rPr lang="en-US" altLang="zh-CN" dirty="0" smtClean="0"/>
              <a:t>}</a:t>
            </a:r>
          </a:p>
          <a:p>
            <a:r>
              <a:rPr lang="en-US" dirty="0"/>
              <a:t> </a:t>
            </a:r>
            <a:r>
              <a:rPr lang="en-US" dirty="0" smtClean="0"/>
              <a:t>Usually, let </a:t>
            </a:r>
            <a:r>
              <a:rPr lang="en-US" i="1" dirty="0" smtClean="0"/>
              <a:t>t</a:t>
            </a:r>
            <a:r>
              <a:rPr lang="en-US" baseline="-25000" dirty="0" smtClean="0"/>
              <a:t>0</a:t>
            </a:r>
            <a:r>
              <a:rPr lang="en-US" dirty="0" smtClean="0"/>
              <a:t>=0 since the excitation is effective for 0≤</a:t>
            </a:r>
            <a:r>
              <a:rPr lang="en-US" i="1" dirty="0" smtClean="0"/>
              <a:t>t</a:t>
            </a:r>
            <a:r>
              <a:rPr lang="en-US" dirty="0" smtClean="0"/>
              <a:t>&lt;∞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§S1.2 </a:t>
            </a:r>
            <a:r>
              <a:rPr lang="en-US" dirty="0"/>
              <a:t>Homogeneous Solution and Particular </a:t>
            </a:r>
            <a:r>
              <a:rPr lang="en-US" dirty="0" smtClean="0"/>
              <a:t>Solution</a:t>
            </a:r>
            <a:endParaRPr lang="zh-CN" altLang="en-US" dirty="0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2795282"/>
              </p:ext>
            </p:extLst>
          </p:nvPr>
        </p:nvGraphicFramePr>
        <p:xfrm>
          <a:off x="-2713" y="3677811"/>
          <a:ext cx="4441190" cy="17500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549" name="公式" r:id="rId3" imgW="3416300" imgH="1346200" progId="Equation.3">
                  <p:embed/>
                </p:oleObj>
              </mc:Choice>
              <mc:Fallback>
                <p:oleObj name="公式" r:id="rId3" imgW="3416300" imgH="13462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2713" y="3677811"/>
                        <a:ext cx="4441190" cy="17500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8114033"/>
              </p:ext>
            </p:extLst>
          </p:nvPr>
        </p:nvGraphicFramePr>
        <p:xfrm>
          <a:off x="3311370" y="1199634"/>
          <a:ext cx="215265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550" name="公式" r:id="rId5" imgW="1435100" imgH="431800" progId="Equation.3">
                  <p:embed/>
                </p:oleObj>
              </mc:Choice>
              <mc:Fallback>
                <p:oleObj name="公式" r:id="rId5" imgW="1435100" imgH="431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1370" y="1199634"/>
                        <a:ext cx="2152650" cy="647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5865413"/>
              </p:ext>
            </p:extLst>
          </p:nvPr>
        </p:nvGraphicFramePr>
        <p:xfrm>
          <a:off x="4588175" y="3642218"/>
          <a:ext cx="4490720" cy="1783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551" name="公式" r:id="rId7" imgW="3454400" imgH="1371600" progId="Equation.3">
                  <p:embed/>
                </p:oleObj>
              </mc:Choice>
              <mc:Fallback>
                <p:oleObj name="公式" r:id="rId7" imgW="3454400" imgH="13716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8175" y="3642218"/>
                        <a:ext cx="4490720" cy="17830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12"/>
          <p:cNvSpPr txBox="1"/>
          <p:nvPr/>
        </p:nvSpPr>
        <p:spPr>
          <a:xfrm>
            <a:off x="4526151" y="5661525"/>
            <a:ext cx="2535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Vandermonde</a:t>
            </a:r>
            <a:r>
              <a:rPr lang="en-US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Matrix</a:t>
            </a:r>
            <a:endParaRPr 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508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Steps to Find Complete Solution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Step #1: </a:t>
            </a:r>
            <a:r>
              <a:rPr lang="en-US" altLang="zh-CN" dirty="0" smtClean="0"/>
              <a:t>Write the differential equation</a:t>
            </a:r>
          </a:p>
          <a:p>
            <a:r>
              <a:rPr lang="en-US" dirty="0"/>
              <a:t> </a:t>
            </a:r>
            <a:r>
              <a:rPr lang="en-US" dirty="0" smtClean="0"/>
              <a:t>Step #2:  Find the homogeneous solution </a:t>
            </a:r>
            <a:r>
              <a:rPr lang="en-US" i="1" dirty="0" err="1" smtClean="0"/>
              <a:t>y</a:t>
            </a:r>
            <a:r>
              <a:rPr lang="en-US" i="1" baseline="-25000" dirty="0" err="1" smtClean="0"/>
              <a:t>h</a:t>
            </a:r>
            <a:r>
              <a:rPr lang="en-US" dirty="0" smtClean="0"/>
              <a:t>(</a:t>
            </a:r>
            <a:r>
              <a:rPr lang="en-US" i="1" dirty="0" smtClean="0"/>
              <a:t>t</a:t>
            </a:r>
            <a:r>
              <a:rPr lang="en-US" dirty="0" smtClean="0"/>
              <a:t>) (</a:t>
            </a:r>
            <a:r>
              <a:rPr lang="en-US" dirty="0"/>
              <a:t>{</a:t>
            </a:r>
            <a:r>
              <a:rPr lang="en-US" i="1" dirty="0" err="1" smtClean="0"/>
              <a:t>A</a:t>
            </a:r>
            <a:r>
              <a:rPr lang="en-US" i="1" baseline="-25000" dirty="0" err="1" smtClean="0"/>
              <a:t>k</a:t>
            </a:r>
            <a:r>
              <a:rPr lang="en-US" dirty="0" smtClean="0"/>
              <a:t>} unknown)</a:t>
            </a:r>
          </a:p>
          <a:p>
            <a:r>
              <a:rPr lang="en-US" dirty="0"/>
              <a:t> </a:t>
            </a:r>
            <a:r>
              <a:rPr lang="en-US" dirty="0" smtClean="0"/>
              <a:t>Step #3: Find the particular solution </a:t>
            </a:r>
            <a:r>
              <a:rPr lang="en-US" i="1" dirty="0" err="1" smtClean="0"/>
              <a:t>y</a:t>
            </a:r>
            <a:r>
              <a:rPr lang="en-US" i="1" baseline="-25000" dirty="0" err="1" smtClean="0"/>
              <a:t>p</a:t>
            </a:r>
            <a:r>
              <a:rPr lang="en-US" dirty="0" smtClean="0"/>
              <a:t>(</a:t>
            </a:r>
            <a:r>
              <a:rPr lang="en-US" i="1" dirty="0" smtClean="0"/>
              <a:t>t</a:t>
            </a:r>
            <a:r>
              <a:rPr lang="en-US" dirty="0"/>
              <a:t>)</a:t>
            </a:r>
            <a:endParaRPr lang="en-US" dirty="0" smtClean="0"/>
          </a:p>
          <a:p>
            <a:r>
              <a:rPr lang="en-US" dirty="0"/>
              <a:t> </a:t>
            </a:r>
            <a:r>
              <a:rPr lang="en-US" dirty="0" smtClean="0"/>
              <a:t>Step #4: Decide the auxiliary conditions (initial conditions</a:t>
            </a:r>
          </a:p>
          <a:p>
            <a:r>
              <a:rPr lang="en-US" dirty="0"/>
              <a:t> </a:t>
            </a:r>
            <a:r>
              <a:rPr lang="en-US" dirty="0" smtClean="0"/>
              <a:t>Step #5: Find {</a:t>
            </a:r>
            <a:r>
              <a:rPr lang="en-US" i="1" dirty="0" err="1"/>
              <a:t>A</a:t>
            </a:r>
            <a:r>
              <a:rPr lang="en-US" i="1" baseline="-25000" dirty="0" err="1"/>
              <a:t>k</a:t>
            </a:r>
            <a:r>
              <a:rPr lang="en-US" dirty="0"/>
              <a:t>} </a:t>
            </a:r>
            <a:r>
              <a:rPr lang="en-US" dirty="0" smtClean="0"/>
              <a:t>for </a:t>
            </a:r>
            <a:r>
              <a:rPr lang="en-US" i="1" dirty="0" err="1"/>
              <a:t>y</a:t>
            </a:r>
            <a:r>
              <a:rPr lang="en-US" i="1" baseline="-25000" dirty="0" err="1"/>
              <a:t>h</a:t>
            </a:r>
            <a:r>
              <a:rPr lang="en-US" dirty="0"/>
              <a:t>(</a:t>
            </a:r>
            <a:r>
              <a:rPr lang="en-US" i="1" dirty="0"/>
              <a:t>t</a:t>
            </a:r>
            <a:r>
              <a:rPr lang="en-US" dirty="0"/>
              <a:t>) </a:t>
            </a:r>
            <a:endParaRPr lang="en-US" dirty="0" smtClean="0"/>
          </a:p>
          <a:p>
            <a:r>
              <a:rPr lang="en-US" dirty="0"/>
              <a:t> </a:t>
            </a:r>
            <a:r>
              <a:rPr lang="en-US" dirty="0" smtClean="0"/>
              <a:t>Step </a:t>
            </a:r>
            <a:r>
              <a:rPr lang="en-US" altLang="zh-CN" dirty="0" smtClean="0"/>
              <a:t>#5: Complete solution=</a:t>
            </a:r>
            <a:r>
              <a:rPr lang="en-US" i="1" dirty="0"/>
              <a:t> </a:t>
            </a:r>
            <a:r>
              <a:rPr lang="en-US" i="1" dirty="0" err="1"/>
              <a:t>y</a:t>
            </a:r>
            <a:r>
              <a:rPr lang="en-US" i="1" baseline="-25000" dirty="0" err="1"/>
              <a:t>h</a:t>
            </a:r>
            <a:r>
              <a:rPr lang="en-US" dirty="0"/>
              <a:t>(</a:t>
            </a:r>
            <a:r>
              <a:rPr lang="en-US" i="1" dirty="0"/>
              <a:t>t</a:t>
            </a:r>
            <a:r>
              <a:rPr lang="en-US" dirty="0" smtClean="0"/>
              <a:t>)+</a:t>
            </a:r>
            <a:r>
              <a:rPr lang="en-US" i="1" dirty="0"/>
              <a:t> </a:t>
            </a:r>
            <a:r>
              <a:rPr lang="en-US" i="1" dirty="0" err="1" smtClean="0"/>
              <a:t>y</a:t>
            </a:r>
            <a:r>
              <a:rPr lang="en-US" i="1" baseline="-25000" dirty="0" err="1" smtClean="0"/>
              <a:t>p</a:t>
            </a:r>
            <a:r>
              <a:rPr lang="en-US" dirty="0" smtClean="0"/>
              <a:t>(</a:t>
            </a:r>
            <a:r>
              <a:rPr lang="en-US" i="1" dirty="0" smtClean="0"/>
              <a:t>t</a:t>
            </a:r>
            <a:r>
              <a:rPr lang="en-US" dirty="0"/>
              <a:t>)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§S1.2 </a:t>
            </a:r>
            <a:r>
              <a:rPr lang="en-US" dirty="0"/>
              <a:t>Homogeneous Solution and Particular </a:t>
            </a:r>
            <a:r>
              <a:rPr lang="en-US" dirty="0" smtClean="0"/>
              <a:t>Solution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628651" y="3216318"/>
            <a:ext cx="7307652" cy="82084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626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Initial Conditions (</a:t>
            </a:r>
            <a:r>
              <a:rPr lang="zh-CN" altLang="en-US" dirty="0" smtClean="0"/>
              <a:t>初始条件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49" y="1308101"/>
            <a:ext cx="8446340" cy="4626874"/>
          </a:xfrm>
        </p:spPr>
        <p:txBody>
          <a:bodyPr>
            <a:normAutofit/>
          </a:bodyPr>
          <a:lstStyle/>
          <a:p>
            <a:r>
              <a:rPr lang="en-US" dirty="0" smtClean="0"/>
              <a:t> </a:t>
            </a:r>
            <a:r>
              <a:rPr lang="en-US" b="1" dirty="0" smtClean="0">
                <a:solidFill>
                  <a:srgbClr val="C00000"/>
                </a:solidFill>
              </a:rPr>
              <a:t>Initial states</a:t>
            </a:r>
            <a:r>
              <a:rPr lang="en-US" dirty="0" smtClean="0"/>
              <a:t>: </a:t>
            </a:r>
            <a:r>
              <a:rPr lang="en-US" i="1" dirty="0" smtClean="0"/>
              <a:t>y</a:t>
            </a:r>
            <a:r>
              <a:rPr lang="en-US" dirty="0" smtClean="0"/>
              <a:t>(</a:t>
            </a:r>
            <a:r>
              <a:rPr lang="en-US" i="1" dirty="0" smtClean="0"/>
              <a:t>t</a:t>
            </a:r>
            <a:r>
              <a:rPr lang="en-US" baseline="-25000" dirty="0" smtClean="0"/>
              <a:t>0</a:t>
            </a:r>
            <a:r>
              <a:rPr lang="en-US" dirty="0" smtClean="0"/>
              <a:t>), </a:t>
            </a:r>
            <a:r>
              <a:rPr lang="en-US" i="1" dirty="0" smtClean="0"/>
              <a:t>y</a:t>
            </a:r>
            <a:r>
              <a:rPr lang="en-US" dirty="0" smtClean="0"/>
              <a:t>’(</a:t>
            </a:r>
            <a:r>
              <a:rPr lang="en-US" i="1" dirty="0"/>
              <a:t>t</a:t>
            </a:r>
            <a:r>
              <a:rPr lang="en-US" baseline="-25000" dirty="0"/>
              <a:t>0</a:t>
            </a:r>
            <a:r>
              <a:rPr lang="en-US" dirty="0" smtClean="0"/>
              <a:t>), </a:t>
            </a:r>
            <a:r>
              <a:rPr lang="en-US" i="1" dirty="0" smtClean="0"/>
              <a:t>y</a:t>
            </a:r>
            <a:r>
              <a:rPr lang="en-US" baseline="30000" dirty="0" smtClean="0"/>
              <a:t>’’</a:t>
            </a:r>
            <a:r>
              <a:rPr lang="en-US" dirty="0" smtClean="0"/>
              <a:t>(</a:t>
            </a:r>
            <a:r>
              <a:rPr lang="en-US" i="1" dirty="0"/>
              <a:t>t</a:t>
            </a:r>
            <a:r>
              <a:rPr lang="en-US" baseline="-25000" dirty="0"/>
              <a:t>0</a:t>
            </a:r>
            <a:r>
              <a:rPr lang="en-US" dirty="0" smtClean="0"/>
              <a:t>), …</a:t>
            </a:r>
          </a:p>
          <a:p>
            <a:pPr marL="0" indent="0">
              <a:buNone/>
            </a:pPr>
            <a:r>
              <a:rPr lang="en-US" dirty="0" smtClean="0"/>
              <a:t>    Usually we choose </a:t>
            </a:r>
            <a:r>
              <a:rPr lang="en-US" i="1" dirty="0"/>
              <a:t>t</a:t>
            </a:r>
            <a:r>
              <a:rPr lang="en-US" baseline="-25000" dirty="0"/>
              <a:t>0</a:t>
            </a:r>
            <a:r>
              <a:rPr lang="en-US" dirty="0" smtClean="0"/>
              <a:t>=0, </a:t>
            </a:r>
            <a:r>
              <a:rPr lang="en-US" altLang="zh-CN" dirty="0" smtClean="0">
                <a:sym typeface="Wingdings" panose="05000000000000000000" pitchFamily="2" charset="2"/>
              </a:rPr>
              <a:t> </a:t>
            </a:r>
            <a:r>
              <a:rPr lang="en-US" i="1" dirty="0" smtClean="0"/>
              <a:t>y</a:t>
            </a:r>
            <a:r>
              <a:rPr lang="en-US" dirty="0" smtClean="0"/>
              <a:t>(0), </a:t>
            </a:r>
            <a:r>
              <a:rPr lang="en-US" i="1" dirty="0"/>
              <a:t>y</a:t>
            </a:r>
            <a:r>
              <a:rPr lang="en-US" dirty="0" smtClean="0"/>
              <a:t>’(</a:t>
            </a:r>
            <a:r>
              <a:rPr lang="en-US" dirty="0"/>
              <a:t>0</a:t>
            </a:r>
            <a:r>
              <a:rPr lang="en-US" dirty="0" smtClean="0"/>
              <a:t>), </a:t>
            </a:r>
            <a:r>
              <a:rPr lang="en-US" i="1" dirty="0"/>
              <a:t>y</a:t>
            </a:r>
            <a:r>
              <a:rPr lang="en-US" baseline="30000" dirty="0" smtClean="0"/>
              <a:t>’’</a:t>
            </a:r>
            <a:r>
              <a:rPr lang="en-US" dirty="0" smtClean="0"/>
              <a:t>(</a:t>
            </a:r>
            <a:r>
              <a:rPr lang="en-US" dirty="0"/>
              <a:t>0</a:t>
            </a:r>
            <a:r>
              <a:rPr lang="en-US" dirty="0" smtClean="0"/>
              <a:t>), …</a:t>
            </a:r>
          </a:p>
          <a:p>
            <a:r>
              <a:rPr lang="en-US" dirty="0"/>
              <a:t> </a:t>
            </a:r>
            <a:r>
              <a:rPr lang="en-US" b="1" dirty="0" smtClean="0">
                <a:solidFill>
                  <a:srgbClr val="C00000"/>
                </a:solidFill>
              </a:rPr>
              <a:t>Pre-initial states</a:t>
            </a:r>
            <a:r>
              <a:rPr lang="en-US" dirty="0" smtClean="0"/>
              <a:t>: </a:t>
            </a:r>
            <a:r>
              <a:rPr lang="en-US" i="1" dirty="0" smtClean="0"/>
              <a:t>y</a:t>
            </a:r>
            <a:r>
              <a:rPr lang="en-US" dirty="0" smtClean="0"/>
              <a:t>(0</a:t>
            </a:r>
            <a:r>
              <a:rPr lang="en-US" baseline="30000" dirty="0" smtClean="0"/>
              <a:t>-</a:t>
            </a:r>
            <a:r>
              <a:rPr lang="en-US" dirty="0" smtClean="0"/>
              <a:t>), </a:t>
            </a:r>
            <a:r>
              <a:rPr lang="en-US" i="1" dirty="0"/>
              <a:t>y</a:t>
            </a:r>
            <a:r>
              <a:rPr lang="en-US" dirty="0"/>
              <a:t>’(</a:t>
            </a:r>
            <a:r>
              <a:rPr lang="en-US" dirty="0" smtClean="0"/>
              <a:t>0</a:t>
            </a:r>
            <a:r>
              <a:rPr lang="en-US" baseline="30000" dirty="0"/>
              <a:t>-</a:t>
            </a:r>
            <a:r>
              <a:rPr lang="en-US" dirty="0" smtClean="0"/>
              <a:t>), </a:t>
            </a:r>
            <a:r>
              <a:rPr lang="en-US" i="1" dirty="0"/>
              <a:t>y</a:t>
            </a:r>
            <a:r>
              <a:rPr lang="en-US" baseline="30000" dirty="0"/>
              <a:t>’’</a:t>
            </a:r>
            <a:r>
              <a:rPr lang="en-US" dirty="0"/>
              <a:t>(</a:t>
            </a:r>
            <a:r>
              <a:rPr lang="en-US" dirty="0" smtClean="0"/>
              <a:t>0</a:t>
            </a:r>
            <a:r>
              <a:rPr lang="en-US" baseline="30000" dirty="0"/>
              <a:t>-</a:t>
            </a:r>
            <a:r>
              <a:rPr lang="en-US" dirty="0" smtClean="0"/>
              <a:t>), … (</a:t>
            </a:r>
            <a:r>
              <a:rPr lang="zh-CN" altLang="en-US" dirty="0" smtClean="0"/>
              <a:t>起始状态</a:t>
            </a:r>
            <a:r>
              <a:rPr lang="en-US" dirty="0" smtClean="0"/>
              <a:t>)</a:t>
            </a:r>
          </a:p>
          <a:p>
            <a:r>
              <a:rPr lang="en-US" dirty="0"/>
              <a:t> </a:t>
            </a:r>
            <a:r>
              <a:rPr lang="en-US" b="1" dirty="0" smtClean="0">
                <a:solidFill>
                  <a:srgbClr val="C00000"/>
                </a:solidFill>
              </a:rPr>
              <a:t>Post-initial states</a:t>
            </a:r>
            <a:r>
              <a:rPr lang="en-US" dirty="0" smtClean="0"/>
              <a:t>: </a:t>
            </a:r>
            <a:r>
              <a:rPr lang="en-US" i="1" dirty="0" smtClean="0"/>
              <a:t>y</a:t>
            </a:r>
            <a:r>
              <a:rPr lang="en-US" dirty="0" smtClean="0"/>
              <a:t>(0</a:t>
            </a:r>
            <a:r>
              <a:rPr lang="en-US" baseline="30000" dirty="0" smtClean="0"/>
              <a:t>+</a:t>
            </a:r>
            <a:r>
              <a:rPr lang="en-US" dirty="0" smtClean="0"/>
              <a:t>), </a:t>
            </a:r>
            <a:r>
              <a:rPr lang="en-US" i="1" dirty="0"/>
              <a:t>y</a:t>
            </a:r>
            <a:r>
              <a:rPr lang="en-US" dirty="0"/>
              <a:t>’(</a:t>
            </a:r>
            <a:r>
              <a:rPr lang="en-US" dirty="0" smtClean="0"/>
              <a:t>0</a:t>
            </a:r>
            <a:r>
              <a:rPr lang="en-US" baseline="30000" dirty="0" smtClean="0"/>
              <a:t>+</a:t>
            </a:r>
            <a:r>
              <a:rPr lang="en-US" dirty="0" smtClean="0"/>
              <a:t>), </a:t>
            </a:r>
            <a:r>
              <a:rPr lang="en-US" i="1" dirty="0"/>
              <a:t>y</a:t>
            </a:r>
            <a:r>
              <a:rPr lang="en-US" baseline="30000" dirty="0"/>
              <a:t>’’</a:t>
            </a:r>
            <a:r>
              <a:rPr lang="en-US" dirty="0"/>
              <a:t>(</a:t>
            </a:r>
            <a:r>
              <a:rPr lang="en-US" dirty="0" smtClean="0"/>
              <a:t>0</a:t>
            </a:r>
            <a:r>
              <a:rPr lang="en-US" baseline="30000" dirty="0"/>
              <a:t>+</a:t>
            </a:r>
            <a:r>
              <a:rPr lang="en-US" dirty="0" smtClean="0"/>
              <a:t>), … (</a:t>
            </a:r>
            <a:r>
              <a:rPr lang="zh-CN" altLang="en-US" dirty="0" smtClean="0"/>
              <a:t>初始状态</a:t>
            </a:r>
            <a:r>
              <a:rPr lang="en-US" dirty="0" smtClean="0"/>
              <a:t>)</a:t>
            </a:r>
          </a:p>
          <a:p>
            <a:r>
              <a:rPr lang="en-US" dirty="0"/>
              <a:t> </a:t>
            </a:r>
            <a:r>
              <a:rPr lang="en-US" dirty="0" smtClean="0"/>
              <a:t>Use </a:t>
            </a:r>
            <a:r>
              <a:rPr lang="en-US" dirty="0"/>
              <a:t>the </a:t>
            </a:r>
            <a:r>
              <a:rPr lang="en-US" dirty="0" smtClean="0"/>
              <a:t>post-initial states as the initial conditions to find </a:t>
            </a:r>
            <a:r>
              <a:rPr lang="en-US" dirty="0"/>
              <a:t>{</a:t>
            </a:r>
            <a:r>
              <a:rPr lang="en-US" i="1" dirty="0" err="1"/>
              <a:t>A</a:t>
            </a:r>
            <a:r>
              <a:rPr lang="en-US" i="1" baseline="-25000" dirty="0" err="1"/>
              <a:t>k</a:t>
            </a:r>
            <a:r>
              <a:rPr lang="en-US" dirty="0"/>
              <a:t>} </a:t>
            </a:r>
            <a:r>
              <a:rPr lang="en-US" dirty="0" smtClean="0"/>
              <a:t>, since the input is effective only after </a:t>
            </a:r>
            <a:r>
              <a:rPr lang="en-US" i="1" dirty="0" smtClean="0"/>
              <a:t>t</a:t>
            </a:r>
            <a:r>
              <a:rPr lang="en-US" baseline="-25000" dirty="0" smtClean="0"/>
              <a:t>0</a:t>
            </a:r>
          </a:p>
          <a:p>
            <a:pPr lvl="1"/>
            <a:r>
              <a:rPr lang="en-US" dirty="0" smtClean="0"/>
              <a:t>do not necessarily use the initial states as the initial conditions</a:t>
            </a:r>
          </a:p>
          <a:p>
            <a:r>
              <a:rPr lang="en-US" dirty="0" smtClean="0"/>
              <a:t> Initial rest condition: </a:t>
            </a:r>
            <a:r>
              <a:rPr lang="en-US" i="1" dirty="0" smtClean="0"/>
              <a:t>y</a:t>
            </a:r>
            <a:r>
              <a:rPr lang="en-US" dirty="0" smtClean="0"/>
              <a:t>(</a:t>
            </a:r>
            <a:r>
              <a:rPr lang="en-US" i="1" dirty="0" smtClean="0"/>
              <a:t>t</a:t>
            </a:r>
            <a:r>
              <a:rPr lang="en-US" dirty="0" smtClean="0"/>
              <a:t>)</a:t>
            </a:r>
            <a:r>
              <a:rPr lang="en-US" altLang="zh-CN" dirty="0" smtClean="0"/>
              <a:t>=0 for </a:t>
            </a:r>
            <a:r>
              <a:rPr lang="en-US" altLang="zh-CN" i="1" dirty="0" smtClean="0"/>
              <a:t>t</a:t>
            </a:r>
            <a:r>
              <a:rPr lang="en-US" altLang="zh-CN" dirty="0" smtClean="0"/>
              <a:t>&lt;0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    </a:t>
            </a:r>
            <a:r>
              <a:rPr lang="en-US" dirty="0" smtClean="0">
                <a:sym typeface="Wingdings" panose="05000000000000000000" pitchFamily="2" charset="2"/>
              </a:rPr>
              <a:t></a:t>
            </a:r>
            <a:r>
              <a:rPr lang="en-US" i="1" dirty="0" smtClean="0"/>
              <a:t>y</a:t>
            </a:r>
            <a:r>
              <a:rPr lang="en-US" dirty="0" smtClean="0"/>
              <a:t>(0</a:t>
            </a:r>
            <a:r>
              <a:rPr lang="en-US" baseline="30000" dirty="0"/>
              <a:t>-</a:t>
            </a:r>
            <a:r>
              <a:rPr lang="en-US" dirty="0" smtClean="0"/>
              <a:t>)=0, </a:t>
            </a:r>
            <a:r>
              <a:rPr lang="en-US" i="1" dirty="0"/>
              <a:t>y</a:t>
            </a:r>
            <a:r>
              <a:rPr lang="en-US" dirty="0"/>
              <a:t>’(</a:t>
            </a:r>
            <a:r>
              <a:rPr lang="en-US" dirty="0" smtClean="0"/>
              <a:t>0</a:t>
            </a:r>
            <a:r>
              <a:rPr lang="en-US" baseline="30000" dirty="0"/>
              <a:t>-</a:t>
            </a:r>
            <a:r>
              <a:rPr lang="en-US" dirty="0" smtClean="0"/>
              <a:t>)=0, </a:t>
            </a:r>
            <a:r>
              <a:rPr lang="en-US" i="1" dirty="0"/>
              <a:t>y</a:t>
            </a:r>
            <a:r>
              <a:rPr lang="en-US" baseline="30000" dirty="0"/>
              <a:t>’’</a:t>
            </a:r>
            <a:r>
              <a:rPr lang="en-US" dirty="0"/>
              <a:t>(</a:t>
            </a:r>
            <a:r>
              <a:rPr lang="en-US" dirty="0" smtClean="0"/>
              <a:t>0</a:t>
            </a:r>
            <a:r>
              <a:rPr lang="en-US" baseline="30000" dirty="0"/>
              <a:t>-</a:t>
            </a:r>
            <a:r>
              <a:rPr lang="en-US" dirty="0" smtClean="0"/>
              <a:t>)=0, …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§</a:t>
            </a:r>
            <a:r>
              <a:rPr lang="en-US" altLang="zh-CN" dirty="0" smtClean="0"/>
              <a:t>S1.3 Initial Conditions</a:t>
            </a:r>
            <a:endParaRPr lang="zh-CN" alt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5026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 smtClean="0"/>
              <a:t>Example: Initial Conditions with Initial Rest</a:t>
            </a:r>
            <a:endParaRPr lang="en-US" sz="32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3746" y="1307688"/>
            <a:ext cx="7886700" cy="4868863"/>
          </a:xfrm>
        </p:spPr>
        <p:txBody>
          <a:bodyPr/>
          <a:lstStyle/>
          <a:p>
            <a:r>
              <a:rPr lang="en-US" dirty="0" smtClean="0"/>
              <a:t> input: </a:t>
            </a:r>
            <a:r>
              <a:rPr lang="en-US" i="1" dirty="0" err="1" smtClean="0"/>
              <a:t>v</a:t>
            </a:r>
            <a:r>
              <a:rPr lang="en-US" i="1" baseline="-25000" dirty="0" err="1" smtClean="0"/>
              <a:t>S</a:t>
            </a:r>
            <a:r>
              <a:rPr lang="en-US" dirty="0" smtClean="0"/>
              <a:t>(</a:t>
            </a:r>
            <a:r>
              <a:rPr lang="en-US" i="1" dirty="0" smtClean="0"/>
              <a:t>t</a:t>
            </a:r>
            <a:r>
              <a:rPr lang="en-US" dirty="0" smtClean="0"/>
              <a:t>)=sin(2</a:t>
            </a:r>
            <a:r>
              <a:rPr lang="en-US" i="1" dirty="0" smtClean="0"/>
              <a:t>t</a:t>
            </a:r>
            <a:r>
              <a:rPr lang="en-US" dirty="0" smtClean="0"/>
              <a:t>)</a:t>
            </a:r>
            <a:r>
              <a:rPr lang="en-US" i="1" dirty="0" smtClean="0"/>
              <a:t>u</a:t>
            </a:r>
            <a:r>
              <a:rPr lang="en-US" dirty="0" smtClean="0"/>
              <a:t>(</a:t>
            </a:r>
            <a:r>
              <a:rPr lang="en-US" i="1" dirty="0" smtClean="0"/>
              <a:t>t</a:t>
            </a:r>
            <a:r>
              <a:rPr lang="en-US" dirty="0" smtClean="0"/>
              <a:t>)</a:t>
            </a:r>
          </a:p>
          <a:p>
            <a:endParaRPr lang="en-US" dirty="0"/>
          </a:p>
          <a:p>
            <a:r>
              <a:rPr lang="en-US" dirty="0" smtClean="0"/>
              <a:t> Homogenous solution</a:t>
            </a:r>
          </a:p>
          <a:p>
            <a:r>
              <a:rPr lang="en-US" dirty="0"/>
              <a:t> </a:t>
            </a:r>
            <a:r>
              <a:rPr lang="en-US" dirty="0" smtClean="0"/>
              <a:t>Particular solution: try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/>
              <a:t> </a:t>
            </a:r>
            <a:r>
              <a:rPr lang="en-US" altLang="zh-CN" dirty="0" smtClean="0"/>
              <a:t>Complete solution:</a:t>
            </a:r>
          </a:p>
          <a:p>
            <a:r>
              <a:rPr lang="en-US" altLang="zh-CN" dirty="0"/>
              <a:t> </a:t>
            </a:r>
            <a:r>
              <a:rPr lang="en-US" altLang="zh-CN" dirty="0" smtClean="0"/>
              <a:t>Initial Rest:  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§S1.3 Initial </a:t>
            </a:r>
            <a:r>
              <a:rPr lang="en-US" altLang="zh-CN" dirty="0" smtClean="0"/>
              <a:t>Conditions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5503" y="1284961"/>
            <a:ext cx="3847813" cy="1105635"/>
          </a:xfrm>
          <a:prstGeom prst="rect">
            <a:avLst/>
          </a:prstGeom>
        </p:spPr>
      </p:pic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2964075"/>
              </p:ext>
            </p:extLst>
          </p:nvPr>
        </p:nvGraphicFramePr>
        <p:xfrm>
          <a:off x="771525" y="1767317"/>
          <a:ext cx="3486150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808" name="公式" r:id="rId4" imgW="2324100" imgH="419100" progId="Equation.3">
                  <p:embed/>
                </p:oleObj>
              </mc:Choice>
              <mc:Fallback>
                <p:oleObj name="公式" r:id="rId4" imgW="2324100" imgH="4191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1525" y="1767317"/>
                        <a:ext cx="3486150" cy="628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7820773"/>
              </p:ext>
            </p:extLst>
          </p:nvPr>
        </p:nvGraphicFramePr>
        <p:xfrm>
          <a:off x="4381355" y="2413735"/>
          <a:ext cx="1943100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809" name="公式" r:id="rId6" imgW="1295400" imgH="241300" progId="Equation.3">
                  <p:embed/>
                </p:oleObj>
              </mc:Choice>
              <mc:Fallback>
                <p:oleObj name="公式" r:id="rId6" imgW="1295400" imgH="2413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1355" y="2413735"/>
                        <a:ext cx="1943100" cy="361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5150757"/>
              </p:ext>
            </p:extLst>
          </p:nvPr>
        </p:nvGraphicFramePr>
        <p:xfrm>
          <a:off x="4381355" y="2955073"/>
          <a:ext cx="2438400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810" name="公式" r:id="rId8" imgW="1625600" imgH="241300" progId="Equation.3">
                  <p:embed/>
                </p:oleObj>
              </mc:Choice>
              <mc:Fallback>
                <p:oleObj name="公式" r:id="rId8" imgW="1625600" imgH="2413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1355" y="2955073"/>
                        <a:ext cx="2438400" cy="361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0629233"/>
              </p:ext>
            </p:extLst>
          </p:nvPr>
        </p:nvGraphicFramePr>
        <p:xfrm>
          <a:off x="714375" y="3340162"/>
          <a:ext cx="7715250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811" name="公式" r:id="rId10" imgW="5143500" imgH="215900" progId="Equation.3">
                  <p:embed/>
                </p:oleObj>
              </mc:Choice>
              <mc:Fallback>
                <p:oleObj name="公式" r:id="rId10" imgW="5143500" imgH="2159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4375" y="3340162"/>
                        <a:ext cx="7715250" cy="323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0378020"/>
              </p:ext>
            </p:extLst>
          </p:nvPr>
        </p:nvGraphicFramePr>
        <p:xfrm>
          <a:off x="1699403" y="3664012"/>
          <a:ext cx="30861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812" name="公式" r:id="rId12" imgW="2057400" imgH="482600" progId="Equation.3">
                  <p:embed/>
                </p:oleObj>
              </mc:Choice>
              <mc:Fallback>
                <p:oleObj name="公式" r:id="rId12" imgW="2057400" imgH="4826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9403" y="3664012"/>
                        <a:ext cx="3086100" cy="723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8196779"/>
              </p:ext>
            </p:extLst>
          </p:nvPr>
        </p:nvGraphicFramePr>
        <p:xfrm>
          <a:off x="3922681" y="4329937"/>
          <a:ext cx="3867150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813" name="公式" r:id="rId14" imgW="2578100" imgH="393700" progId="Equation.3">
                  <p:embed/>
                </p:oleObj>
              </mc:Choice>
              <mc:Fallback>
                <p:oleObj name="公式" r:id="rId14" imgW="2578100" imgH="3937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2681" y="4329937"/>
                        <a:ext cx="3867150" cy="590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7480878"/>
              </p:ext>
            </p:extLst>
          </p:nvPr>
        </p:nvGraphicFramePr>
        <p:xfrm>
          <a:off x="2281238" y="5024438"/>
          <a:ext cx="4762500" cy="1257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814" name="公式" r:id="rId16" imgW="3174840" imgH="838080" progId="Equation.3">
                  <p:embed/>
                </p:oleObj>
              </mc:Choice>
              <mc:Fallback>
                <p:oleObj name="公式" r:id="rId16" imgW="3174840" imgH="83808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1238" y="5024438"/>
                        <a:ext cx="4762500" cy="1257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文本框 24"/>
          <p:cNvSpPr txBox="1"/>
          <p:nvPr/>
        </p:nvSpPr>
        <p:spPr>
          <a:xfrm>
            <a:off x="7324364" y="5296955"/>
            <a:ext cx="1190986" cy="646331"/>
          </a:xfrm>
          <a:prstGeom prst="rect">
            <a:avLst/>
          </a:prstGeom>
          <a:noFill/>
          <a:ln w="158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Anything Wrong?</a:t>
            </a:r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2127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 smtClean="0"/>
              <a:t>Example: Initial Conditions with Initial Rest (</a:t>
            </a:r>
            <a:r>
              <a:rPr lang="en-US" sz="2800" dirty="0" err="1" smtClean="0"/>
              <a:t>cont</a:t>
            </a:r>
            <a:r>
              <a:rPr lang="en-US" sz="2800" dirty="0" smtClean="0"/>
              <a:t>’)</a:t>
            </a:r>
            <a:endParaRPr lang="en-US" sz="28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3746" y="1307688"/>
            <a:ext cx="7886700" cy="4868863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 input: </a:t>
            </a:r>
            <a:r>
              <a:rPr lang="en-US" i="1" dirty="0" err="1" smtClean="0"/>
              <a:t>v</a:t>
            </a:r>
            <a:r>
              <a:rPr lang="en-US" i="1" baseline="-25000" dirty="0" err="1" smtClean="0"/>
              <a:t>S</a:t>
            </a:r>
            <a:r>
              <a:rPr lang="en-US" dirty="0" smtClean="0"/>
              <a:t>(</a:t>
            </a:r>
            <a:r>
              <a:rPr lang="en-US" i="1" dirty="0" smtClean="0"/>
              <a:t>t</a:t>
            </a:r>
            <a:r>
              <a:rPr lang="en-US" dirty="0" smtClean="0"/>
              <a:t>)=sin(2</a:t>
            </a:r>
            <a:r>
              <a:rPr lang="en-US" i="1" dirty="0" smtClean="0"/>
              <a:t>t</a:t>
            </a:r>
            <a:r>
              <a:rPr lang="en-US" dirty="0" smtClean="0"/>
              <a:t>)</a:t>
            </a:r>
            <a:r>
              <a:rPr lang="en-US" i="1" dirty="0" smtClean="0"/>
              <a:t>u</a:t>
            </a:r>
            <a:r>
              <a:rPr lang="en-US" dirty="0" smtClean="0"/>
              <a:t>(</a:t>
            </a:r>
            <a:r>
              <a:rPr lang="en-US" i="1" dirty="0" smtClean="0"/>
              <a:t>t</a:t>
            </a:r>
            <a:r>
              <a:rPr lang="en-US" dirty="0" smtClean="0"/>
              <a:t>)</a:t>
            </a:r>
          </a:p>
          <a:p>
            <a:endParaRPr lang="en-US" dirty="0"/>
          </a:p>
          <a:p>
            <a:r>
              <a:rPr lang="en-US" dirty="0" smtClean="0"/>
              <a:t>  </a:t>
            </a:r>
            <a:r>
              <a:rPr lang="en-US" altLang="zh-CN" dirty="0" smtClean="0"/>
              <a:t>Complete solution:</a:t>
            </a:r>
          </a:p>
          <a:p>
            <a:r>
              <a:rPr lang="en-US" altLang="zh-CN" dirty="0"/>
              <a:t> </a:t>
            </a:r>
            <a:r>
              <a:rPr lang="en-US" altLang="zh-CN" dirty="0" smtClean="0"/>
              <a:t>Initial Rest:</a:t>
            </a:r>
          </a:p>
          <a:p>
            <a:endParaRPr lang="en-US" altLang="zh-CN" dirty="0"/>
          </a:p>
          <a:p>
            <a:endParaRPr lang="en-US" altLang="zh-CN" dirty="0" smtClean="0"/>
          </a:p>
          <a:p>
            <a:r>
              <a:rPr lang="en-US" altLang="zh-CN" dirty="0"/>
              <a:t> </a:t>
            </a:r>
            <a:r>
              <a:rPr lang="en-US" altLang="zh-CN" dirty="0" smtClean="0"/>
              <a:t>Actually, initial rest only leads to </a:t>
            </a:r>
            <a:r>
              <a:rPr lang="en-US" altLang="zh-CN" i="1" dirty="0" smtClean="0"/>
              <a:t>v</a:t>
            </a:r>
            <a:r>
              <a:rPr lang="en-US" dirty="0" smtClean="0"/>
              <a:t>(0</a:t>
            </a:r>
            <a:r>
              <a:rPr lang="en-US" baseline="30000" dirty="0" smtClean="0"/>
              <a:t>-</a:t>
            </a:r>
            <a:r>
              <a:rPr lang="en-US" dirty="0"/>
              <a:t>)=0, </a:t>
            </a:r>
            <a:r>
              <a:rPr lang="en-US" i="1" dirty="0" smtClean="0"/>
              <a:t>v</a:t>
            </a:r>
            <a:r>
              <a:rPr lang="en-US" dirty="0" smtClean="0"/>
              <a:t>’(</a:t>
            </a:r>
            <a:r>
              <a:rPr lang="en-US" dirty="0"/>
              <a:t>0</a:t>
            </a:r>
            <a:r>
              <a:rPr lang="en-US" baseline="30000" dirty="0"/>
              <a:t>-</a:t>
            </a:r>
            <a:r>
              <a:rPr lang="en-US" dirty="0"/>
              <a:t>)=</a:t>
            </a:r>
            <a:r>
              <a:rPr lang="en-US" dirty="0" smtClean="0"/>
              <a:t>0, while it does </a:t>
            </a:r>
            <a:r>
              <a:rPr lang="en-US" b="1" dirty="0" smtClean="0">
                <a:solidFill>
                  <a:srgbClr val="FF0000"/>
                </a:solidFill>
              </a:rPr>
              <a:t>NOT</a:t>
            </a:r>
            <a:r>
              <a:rPr lang="en-US" dirty="0" smtClean="0"/>
              <a:t> imply </a:t>
            </a:r>
            <a:r>
              <a:rPr lang="en-US" altLang="zh-CN" i="1" dirty="0" smtClean="0"/>
              <a:t>v</a:t>
            </a:r>
            <a:r>
              <a:rPr lang="en-US" dirty="0" smtClean="0"/>
              <a:t>(0</a:t>
            </a:r>
            <a:r>
              <a:rPr lang="en-US" baseline="30000" dirty="0" smtClean="0"/>
              <a:t>+</a:t>
            </a:r>
            <a:r>
              <a:rPr lang="en-US" dirty="0" smtClean="0"/>
              <a:t>)=</a:t>
            </a:r>
            <a:r>
              <a:rPr lang="en-US" dirty="0"/>
              <a:t>0, </a:t>
            </a:r>
            <a:r>
              <a:rPr lang="en-US" i="1" dirty="0"/>
              <a:t>v</a:t>
            </a:r>
            <a:r>
              <a:rPr lang="en-US" dirty="0"/>
              <a:t>’(</a:t>
            </a:r>
            <a:r>
              <a:rPr lang="en-US" dirty="0" smtClean="0"/>
              <a:t>0</a:t>
            </a:r>
            <a:r>
              <a:rPr lang="en-US" baseline="30000" dirty="0" smtClean="0"/>
              <a:t>+</a:t>
            </a:r>
            <a:r>
              <a:rPr lang="en-US" dirty="0" smtClean="0"/>
              <a:t>)=0</a:t>
            </a:r>
          </a:p>
          <a:p>
            <a:r>
              <a:rPr lang="en-US" dirty="0"/>
              <a:t> </a:t>
            </a:r>
            <a:r>
              <a:rPr lang="en-US" dirty="0" smtClean="0"/>
              <a:t>We can analyze </a:t>
            </a:r>
            <a:r>
              <a:rPr lang="en-US" altLang="zh-CN" i="1" dirty="0"/>
              <a:t>v</a:t>
            </a:r>
            <a:r>
              <a:rPr lang="en-US" dirty="0"/>
              <a:t>(0</a:t>
            </a:r>
            <a:r>
              <a:rPr lang="en-US" baseline="30000" dirty="0"/>
              <a:t>+</a:t>
            </a:r>
            <a:r>
              <a:rPr lang="en-US" dirty="0"/>
              <a:t>)=0, </a:t>
            </a:r>
            <a:r>
              <a:rPr lang="en-US" i="1" dirty="0"/>
              <a:t>v</a:t>
            </a:r>
            <a:r>
              <a:rPr lang="en-US" dirty="0"/>
              <a:t>’(0</a:t>
            </a:r>
            <a:r>
              <a:rPr lang="en-US" baseline="30000" dirty="0"/>
              <a:t>+</a:t>
            </a:r>
            <a:r>
              <a:rPr lang="en-US" dirty="0"/>
              <a:t>)=0</a:t>
            </a:r>
          </a:p>
          <a:p>
            <a:pPr lvl="1"/>
            <a:r>
              <a:rPr lang="en-US" dirty="0" smtClean="0"/>
              <a:t>voltage across C</a:t>
            </a:r>
            <a:r>
              <a:rPr lang="en-US" baseline="-25000" dirty="0" smtClean="0"/>
              <a:t>2</a:t>
            </a:r>
            <a:r>
              <a:rPr lang="en-US" dirty="0" smtClean="0"/>
              <a:t> cannot change instantly</a:t>
            </a:r>
            <a:r>
              <a:rPr lang="en-US" dirty="0" smtClean="0">
                <a:sym typeface="Wingdings" panose="05000000000000000000" pitchFamily="2" charset="2"/>
              </a:rPr>
              <a:t></a:t>
            </a:r>
            <a:r>
              <a:rPr lang="en-US" altLang="zh-CN" i="1" dirty="0"/>
              <a:t> v</a:t>
            </a:r>
            <a:r>
              <a:rPr lang="en-US" dirty="0"/>
              <a:t>(0</a:t>
            </a:r>
            <a:r>
              <a:rPr lang="en-US" baseline="30000" dirty="0" smtClean="0"/>
              <a:t>+</a:t>
            </a:r>
            <a:r>
              <a:rPr lang="en-US" dirty="0" smtClean="0"/>
              <a:t>)=</a:t>
            </a:r>
            <a:r>
              <a:rPr lang="en-US" altLang="zh-CN" i="1" dirty="0"/>
              <a:t> v</a:t>
            </a:r>
            <a:r>
              <a:rPr lang="en-US" dirty="0"/>
              <a:t>(0</a:t>
            </a:r>
            <a:r>
              <a:rPr lang="en-US" baseline="30000" dirty="0"/>
              <a:t>-</a:t>
            </a:r>
            <a:r>
              <a:rPr lang="en-US" dirty="0"/>
              <a:t>)=</a:t>
            </a:r>
            <a:r>
              <a:rPr lang="en-US" dirty="0" smtClean="0"/>
              <a:t>0</a:t>
            </a:r>
          </a:p>
          <a:p>
            <a:pPr lvl="1"/>
            <a:r>
              <a:rPr lang="en-US" dirty="0"/>
              <a:t> </a:t>
            </a:r>
            <a:r>
              <a:rPr lang="en-US" altLang="zh-CN" i="1" dirty="0" smtClean="0"/>
              <a:t>v</a:t>
            </a:r>
            <a:r>
              <a:rPr lang="en-US" altLang="zh-CN" baseline="-25000" dirty="0" smtClean="0"/>
              <a:t>C1</a:t>
            </a:r>
            <a:r>
              <a:rPr lang="en-US" dirty="0" smtClean="0"/>
              <a:t>(0</a:t>
            </a:r>
            <a:r>
              <a:rPr lang="en-US" baseline="30000" dirty="0" smtClean="0"/>
              <a:t>+</a:t>
            </a:r>
            <a:r>
              <a:rPr lang="en-US" dirty="0" smtClean="0"/>
              <a:t>)=0 </a:t>
            </a:r>
            <a:r>
              <a:rPr lang="en-US" dirty="0" smtClean="0">
                <a:sym typeface="Wingdings" panose="05000000000000000000" pitchFamily="2" charset="2"/>
              </a:rPr>
              <a:t> </a:t>
            </a:r>
            <a:r>
              <a:rPr lang="en-US" dirty="0" smtClean="0"/>
              <a:t>i</a:t>
            </a:r>
            <a:r>
              <a:rPr lang="en-US" altLang="zh-CN" baseline="-25000" dirty="0" smtClean="0"/>
              <a:t>R2</a:t>
            </a:r>
            <a:r>
              <a:rPr lang="en-US" dirty="0" smtClean="0"/>
              <a:t>(0</a:t>
            </a:r>
            <a:r>
              <a:rPr lang="en-US" baseline="30000" dirty="0" smtClean="0"/>
              <a:t>+</a:t>
            </a:r>
            <a:r>
              <a:rPr lang="en-US" dirty="0" smtClean="0"/>
              <a:t>)=</a:t>
            </a:r>
            <a:r>
              <a:rPr lang="en-US" dirty="0"/>
              <a:t> </a:t>
            </a:r>
            <a:r>
              <a:rPr lang="en-US" dirty="0" smtClean="0"/>
              <a:t>i</a:t>
            </a:r>
            <a:r>
              <a:rPr lang="en-US" altLang="zh-CN" baseline="-25000" dirty="0" smtClean="0"/>
              <a:t>C2</a:t>
            </a:r>
            <a:r>
              <a:rPr lang="en-US" dirty="0" smtClean="0"/>
              <a:t>(0</a:t>
            </a:r>
            <a:r>
              <a:rPr lang="en-US" baseline="30000" dirty="0" smtClean="0"/>
              <a:t>+</a:t>
            </a:r>
            <a:r>
              <a:rPr lang="en-US" dirty="0" smtClean="0"/>
              <a:t>)=</a:t>
            </a:r>
            <a:r>
              <a:rPr lang="en-US" dirty="0"/>
              <a:t>0 </a:t>
            </a:r>
            <a:r>
              <a:rPr lang="en-US" dirty="0" smtClean="0">
                <a:sym typeface="Wingdings" panose="05000000000000000000" pitchFamily="2" charset="2"/>
              </a:rPr>
              <a:t></a:t>
            </a:r>
            <a:r>
              <a:rPr lang="en-US" i="1" dirty="0" smtClean="0"/>
              <a:t>v</a:t>
            </a:r>
            <a:r>
              <a:rPr lang="en-US" altLang="zh-CN" baseline="-25000" dirty="0"/>
              <a:t>C2</a:t>
            </a:r>
            <a:r>
              <a:rPr lang="en-US" dirty="0" smtClean="0"/>
              <a:t>’(</a:t>
            </a:r>
            <a:r>
              <a:rPr lang="en-US" dirty="0"/>
              <a:t>0</a:t>
            </a:r>
            <a:r>
              <a:rPr lang="en-US" baseline="30000" dirty="0"/>
              <a:t>+</a:t>
            </a:r>
            <a:r>
              <a:rPr lang="en-US" dirty="0"/>
              <a:t>)=0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§S1.3 Initial </a:t>
            </a:r>
            <a:r>
              <a:rPr lang="en-US" altLang="zh-CN" dirty="0" smtClean="0"/>
              <a:t>Conditions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0549" y="1290332"/>
            <a:ext cx="3847813" cy="1105635"/>
          </a:xfrm>
          <a:prstGeom prst="rect">
            <a:avLst/>
          </a:prstGeom>
        </p:spPr>
      </p:pic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4870773"/>
              </p:ext>
            </p:extLst>
          </p:nvPr>
        </p:nvGraphicFramePr>
        <p:xfrm>
          <a:off x="914399" y="1597135"/>
          <a:ext cx="3486150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87" name="公式" r:id="rId4" imgW="2324100" imgH="419100" progId="Equation.3">
                  <p:embed/>
                </p:oleObj>
              </mc:Choice>
              <mc:Fallback>
                <p:oleObj name="公式" r:id="rId4" imgW="2324100" imgH="419100" progId="Equation.3">
                  <p:embed/>
                  <p:pic>
                    <p:nvPicPr>
                      <p:cNvPr id="9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399" y="1597135"/>
                        <a:ext cx="3486150" cy="628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9892246"/>
              </p:ext>
            </p:extLst>
          </p:nvPr>
        </p:nvGraphicFramePr>
        <p:xfrm>
          <a:off x="2883557" y="2442046"/>
          <a:ext cx="3867150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88" name="公式" r:id="rId6" imgW="2578100" imgH="393700" progId="Equation.3">
                  <p:embed/>
                </p:oleObj>
              </mc:Choice>
              <mc:Fallback>
                <p:oleObj name="公式" r:id="rId6" imgW="2578100" imgH="393700" progId="Equation.3">
                  <p:embed/>
                  <p:pic>
                    <p:nvPicPr>
                      <p:cNvPr id="20" name="对象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3557" y="2442046"/>
                        <a:ext cx="3867150" cy="590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7059518"/>
              </p:ext>
            </p:extLst>
          </p:nvPr>
        </p:nvGraphicFramePr>
        <p:xfrm>
          <a:off x="2085974" y="2827221"/>
          <a:ext cx="4629150" cy="1257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89" name="公式" r:id="rId8" imgW="3086100" imgH="838200" progId="Equation.3">
                  <p:embed/>
                </p:oleObj>
              </mc:Choice>
              <mc:Fallback>
                <p:oleObj name="公式" r:id="rId8" imgW="3086100" imgH="838200" progId="Equation.3">
                  <p:embed/>
                  <p:pic>
                    <p:nvPicPr>
                      <p:cNvPr id="24" name="对象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5974" y="2827221"/>
                        <a:ext cx="4629150" cy="1257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95051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 smtClean="0"/>
              <a:t>Zero-Input Response and Zero-State Response</a:t>
            </a:r>
            <a:endParaRPr lang="en-US" sz="3200" dirty="0"/>
          </a:p>
        </p:txBody>
      </p:sp>
      <p:sp>
        <p:nvSpPr>
          <p:cNvPr id="10" name="内容占位符 9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Does </a:t>
            </a:r>
            <a:r>
              <a:rPr lang="en-US" dirty="0"/>
              <a:t>the homogeneous solution </a:t>
            </a:r>
            <a:r>
              <a:rPr lang="en-US" dirty="0" smtClean="0"/>
              <a:t>have </a:t>
            </a:r>
            <a:r>
              <a:rPr lang="en-US" dirty="0"/>
              <a:t>nothing to do with the input</a:t>
            </a:r>
            <a:r>
              <a:rPr lang="en-US" dirty="0" smtClean="0"/>
              <a:t>?</a:t>
            </a:r>
          </a:p>
          <a:p>
            <a:r>
              <a:rPr lang="en-US" dirty="0" smtClean="0"/>
              <a:t> No!  The homogeneous solution can be divided into two parts: the output due to the pre-initial states, the output due to the input (excitation)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§</a:t>
            </a:r>
            <a:r>
              <a:rPr lang="en-US" altLang="zh-CN" dirty="0" smtClean="0"/>
              <a:t>S1.4 </a:t>
            </a:r>
            <a:r>
              <a:rPr lang="en-US" dirty="0"/>
              <a:t>Zero-Input Response and Zero-State Response</a:t>
            </a:r>
          </a:p>
        </p:txBody>
      </p:sp>
      <p:sp>
        <p:nvSpPr>
          <p:cNvPr id="1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9871759"/>
              </p:ext>
            </p:extLst>
          </p:nvPr>
        </p:nvGraphicFramePr>
        <p:xfrm>
          <a:off x="2270223" y="3360420"/>
          <a:ext cx="4526280" cy="34975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42" name="公式" r:id="rId3" imgW="2514600" imgH="1943100" progId="Equation.3">
                  <p:embed/>
                </p:oleObj>
              </mc:Choice>
              <mc:Fallback>
                <p:oleObj name="公式" r:id="rId3" imgW="2514600" imgH="19431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0223" y="3360420"/>
                        <a:ext cx="4526280" cy="34975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11253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Zero-Input Response and Zero-State Response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b="1" dirty="0">
                <a:solidFill>
                  <a:srgbClr val="C00000"/>
                </a:solidFill>
              </a:rPr>
              <a:t>Zero-Input </a:t>
            </a:r>
            <a:r>
              <a:rPr lang="en-US" b="1" dirty="0" smtClean="0">
                <a:solidFill>
                  <a:srgbClr val="C00000"/>
                </a:solidFill>
              </a:rPr>
              <a:t>Response</a:t>
            </a:r>
            <a:r>
              <a:rPr lang="en-US" dirty="0" smtClean="0"/>
              <a:t>: system response determined by the pre-initial states. It has nothing to do with the input/excitation</a:t>
            </a:r>
          </a:p>
          <a:p>
            <a:r>
              <a:rPr lang="en-US" dirty="0"/>
              <a:t> </a:t>
            </a:r>
            <a:r>
              <a:rPr lang="en-US" b="1" dirty="0">
                <a:solidFill>
                  <a:srgbClr val="C00000"/>
                </a:solidFill>
              </a:rPr>
              <a:t>Zero-State Response</a:t>
            </a:r>
            <a:r>
              <a:rPr lang="en-US" dirty="0" smtClean="0"/>
              <a:t>: system response with all-zero </a:t>
            </a:r>
            <a:r>
              <a:rPr lang="en-US" b="1" dirty="0" smtClean="0">
                <a:solidFill>
                  <a:srgbClr val="FF0000"/>
                </a:solidFill>
              </a:rPr>
              <a:t>pre-initial</a:t>
            </a:r>
            <a:r>
              <a:rPr lang="en-US" dirty="0" smtClean="0"/>
              <a:t> states. It is determined only by the external excitation</a:t>
            </a:r>
          </a:p>
          <a:p>
            <a:pPr lvl="1"/>
            <a:r>
              <a:rPr lang="en-US" dirty="0"/>
              <a:t> </a:t>
            </a:r>
            <a:r>
              <a:rPr lang="en-US" dirty="0" smtClean="0"/>
              <a:t>The previous examples all consider the zero-state response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19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§S1.4 </a:t>
            </a:r>
            <a:r>
              <a:rPr lang="en-US" dirty="0"/>
              <a:t>Zero-Input Response and Zero-State </a:t>
            </a:r>
            <a:r>
              <a:rPr lang="en-US" dirty="0" smtClean="0"/>
              <a:t>Response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4480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Example with non-zero pre-initial states</a:t>
            </a:r>
            <a:endParaRPr lang="en-US" sz="36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 LTI system</a:t>
            </a:r>
          </a:p>
          <a:p>
            <a:pPr>
              <a:buFont typeface="Arial" panose="020B0604020202020204" pitchFamily="34" charset="0"/>
              <a:buChar char="•"/>
            </a:pPr>
            <a:endParaRPr lang="en-US" b="1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 </a:t>
            </a:r>
            <a:r>
              <a:rPr lang="en-US" sz="2400" dirty="0" smtClean="0"/>
              <a:t>Homogeneous solution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</a:t>
            </a:r>
            <a:r>
              <a:rPr lang="en-US" sz="2400" dirty="0" smtClean="0"/>
              <a:t>Particular solution                     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</a:t>
            </a:r>
            <a:r>
              <a:rPr lang="en-US" sz="2400" dirty="0" smtClean="0"/>
              <a:t>Complete solution </a:t>
            </a:r>
          </a:p>
          <a:p>
            <a:pPr marL="0" indent="0">
              <a:buNone/>
            </a:pPr>
            <a:r>
              <a:rPr lang="en-US" sz="2400" dirty="0" smtClean="0"/>
              <a:t>                 </a:t>
            </a:r>
          </a:p>
          <a:p>
            <a:r>
              <a:rPr lang="en-US" dirty="0" smtClean="0"/>
              <a:t>  Zero-input response: </a:t>
            </a:r>
          </a:p>
          <a:p>
            <a:endParaRPr lang="en-US" dirty="0"/>
          </a:p>
          <a:p>
            <a:r>
              <a:rPr lang="en-US" dirty="0" smtClean="0"/>
              <a:t> Zero-state response: 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20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§S1.4 </a:t>
            </a:r>
            <a:r>
              <a:rPr lang="en-US" dirty="0"/>
              <a:t>Zero-Input Response and Zero-State </a:t>
            </a:r>
            <a:r>
              <a:rPr lang="en-US" dirty="0" smtClean="0"/>
              <a:t>Response</a:t>
            </a:r>
            <a:endParaRPr lang="en-US" dirty="0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4315601"/>
              </p:ext>
            </p:extLst>
          </p:nvPr>
        </p:nvGraphicFramePr>
        <p:xfrm>
          <a:off x="1316284" y="1912589"/>
          <a:ext cx="1161546" cy="3427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376" name="公式" r:id="rId3" imgW="774364" imgH="228501" progId="Equation.3">
                  <p:embed/>
                </p:oleObj>
              </mc:Choice>
              <mc:Fallback>
                <p:oleObj name="公式" r:id="rId3" imgW="774364" imgH="228501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6284" y="1912589"/>
                        <a:ext cx="1161546" cy="34275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6752836"/>
              </p:ext>
            </p:extLst>
          </p:nvPr>
        </p:nvGraphicFramePr>
        <p:xfrm>
          <a:off x="3935285" y="2405789"/>
          <a:ext cx="1218671" cy="3617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377" name="公式" r:id="rId5" imgW="812447" imgH="241195" progId="Equation.3">
                  <p:embed/>
                </p:oleObj>
              </mc:Choice>
              <mc:Fallback>
                <p:oleObj name="公式" r:id="rId5" imgW="812447" imgH="241195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5285" y="2405789"/>
                        <a:ext cx="1218671" cy="36179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4487082"/>
              </p:ext>
            </p:extLst>
          </p:nvPr>
        </p:nvGraphicFramePr>
        <p:xfrm>
          <a:off x="3481932" y="2894733"/>
          <a:ext cx="1542381" cy="3617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378" name="公式" r:id="rId7" imgW="1028254" imgH="241195" progId="Equation.3">
                  <p:embed/>
                </p:oleObj>
              </mc:Choice>
              <mc:Fallback>
                <p:oleObj name="公式" r:id="rId7" imgW="1028254" imgH="241195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1932" y="2894733"/>
                        <a:ext cx="1542381" cy="36179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1517447"/>
              </p:ext>
            </p:extLst>
          </p:nvPr>
        </p:nvGraphicFramePr>
        <p:xfrm>
          <a:off x="3447252" y="3394672"/>
          <a:ext cx="1447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379" name="公式" r:id="rId9" imgW="965200" imgH="228600" progId="Equation.3">
                  <p:embed/>
                </p:oleObj>
              </mc:Choice>
              <mc:Fallback>
                <p:oleObj name="公式" r:id="rId9" imgW="965200" imgH="2286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7252" y="3394672"/>
                        <a:ext cx="14478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9542895"/>
              </p:ext>
            </p:extLst>
          </p:nvPr>
        </p:nvGraphicFramePr>
        <p:xfrm>
          <a:off x="1058659" y="3775468"/>
          <a:ext cx="1905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380" name="公式" r:id="rId11" imgW="1270000" imgH="228600" progId="Equation.3">
                  <p:embed/>
                </p:oleObj>
              </mc:Choice>
              <mc:Fallback>
                <p:oleObj name="公式" r:id="rId11" imgW="1270000" imgH="2286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8659" y="3775468"/>
                        <a:ext cx="19050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2779717"/>
              </p:ext>
            </p:extLst>
          </p:nvPr>
        </p:nvGraphicFramePr>
        <p:xfrm>
          <a:off x="3028950" y="3796704"/>
          <a:ext cx="2552700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381" name="公式" r:id="rId13" imgW="1701800" imgH="215900" progId="Equation.3">
                  <p:embed/>
                </p:oleObj>
              </mc:Choice>
              <mc:Fallback>
                <p:oleObj name="公式" r:id="rId13" imgW="1701800" imgH="2159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8950" y="3796704"/>
                        <a:ext cx="2552700" cy="323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9485635"/>
              </p:ext>
            </p:extLst>
          </p:nvPr>
        </p:nvGraphicFramePr>
        <p:xfrm>
          <a:off x="5946668" y="3651643"/>
          <a:ext cx="1447800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382" name="公式" r:id="rId15" imgW="965200" imgH="393700" progId="Equation.3">
                  <p:embed/>
                </p:oleObj>
              </mc:Choice>
              <mc:Fallback>
                <p:oleObj name="公式" r:id="rId15" imgW="965200" imgH="3937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6668" y="3651643"/>
                        <a:ext cx="1447800" cy="590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4898477"/>
              </p:ext>
            </p:extLst>
          </p:nvPr>
        </p:nvGraphicFramePr>
        <p:xfrm>
          <a:off x="4506537" y="4281290"/>
          <a:ext cx="1294838" cy="3617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383" name="公式" r:id="rId17" imgW="863225" imgH="241195" progId="Equation.3">
                  <p:embed/>
                </p:oleObj>
              </mc:Choice>
              <mc:Fallback>
                <p:oleObj name="公式" r:id="rId17" imgW="863225" imgH="241195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6537" y="4281290"/>
                        <a:ext cx="1294838" cy="36179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0052270"/>
              </p:ext>
            </p:extLst>
          </p:nvPr>
        </p:nvGraphicFramePr>
        <p:xfrm>
          <a:off x="1100003" y="4759496"/>
          <a:ext cx="192405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384" name="公式" r:id="rId19" imgW="1282700" imgH="228600" progId="Equation.3">
                  <p:embed/>
                </p:oleObj>
              </mc:Choice>
              <mc:Fallback>
                <p:oleObj name="公式" r:id="rId19" imgW="1282700" imgH="22860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0003" y="4759496"/>
                        <a:ext cx="192405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9017347"/>
              </p:ext>
            </p:extLst>
          </p:nvPr>
        </p:nvGraphicFramePr>
        <p:xfrm>
          <a:off x="3084792" y="4668277"/>
          <a:ext cx="2438400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385" name="公式" r:id="rId21" imgW="1625600" imgH="393700" progId="Equation.3">
                  <p:embed/>
                </p:oleObj>
              </mc:Choice>
              <mc:Fallback>
                <p:oleObj name="公式" r:id="rId21" imgW="1625600" imgH="39370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84792" y="4668277"/>
                        <a:ext cx="2438400" cy="590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对象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3160771"/>
              </p:ext>
            </p:extLst>
          </p:nvPr>
        </p:nvGraphicFramePr>
        <p:xfrm>
          <a:off x="5632519" y="4685652"/>
          <a:ext cx="2438400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386" name="公式" r:id="rId23" imgW="1625600" imgH="393700" progId="Equation.3">
                  <p:embed/>
                </p:oleObj>
              </mc:Choice>
              <mc:Fallback>
                <p:oleObj name="公式" r:id="rId23" imgW="1625600" imgH="39370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2519" y="4685652"/>
                        <a:ext cx="2438400" cy="590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对象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2056197"/>
              </p:ext>
            </p:extLst>
          </p:nvPr>
        </p:nvGraphicFramePr>
        <p:xfrm>
          <a:off x="4161782" y="5303633"/>
          <a:ext cx="1600200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387" name="公式" r:id="rId24" imgW="1066800" imgH="241300" progId="Equation.3">
                  <p:embed/>
                </p:oleObj>
              </mc:Choice>
              <mc:Fallback>
                <p:oleObj name="公式" r:id="rId24" imgW="1066800" imgH="241300" progId="Equation.3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61782" y="5303633"/>
                        <a:ext cx="1600200" cy="361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对象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1347151"/>
              </p:ext>
            </p:extLst>
          </p:nvPr>
        </p:nvGraphicFramePr>
        <p:xfrm>
          <a:off x="3256471" y="5753965"/>
          <a:ext cx="2286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388" name="公式" r:id="rId26" imgW="1524000" imgH="228600" progId="Equation.3">
                  <p:embed/>
                </p:oleObj>
              </mc:Choice>
              <mc:Fallback>
                <p:oleObj name="公式" r:id="rId26" imgW="1524000" imgH="228600" progId="Equation.3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56471" y="5753965"/>
                        <a:ext cx="22860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对象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52557"/>
              </p:ext>
            </p:extLst>
          </p:nvPr>
        </p:nvGraphicFramePr>
        <p:xfrm>
          <a:off x="5632519" y="5715364"/>
          <a:ext cx="1524000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389" name="公式" r:id="rId28" imgW="1016000" imgH="241300" progId="Equation.3">
                  <p:embed/>
                </p:oleObj>
              </mc:Choice>
              <mc:Fallback>
                <p:oleObj name="公式" r:id="rId28" imgW="1016000" imgH="241300" progId="Equation.3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2519" y="5715364"/>
                        <a:ext cx="1524000" cy="361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对象 3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8923110"/>
              </p:ext>
            </p:extLst>
          </p:nvPr>
        </p:nvGraphicFramePr>
        <p:xfrm>
          <a:off x="1360488" y="5753100"/>
          <a:ext cx="173355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390" name="公式" r:id="rId30" imgW="1155600" imgH="228600" progId="Equation.3">
                  <p:embed/>
                </p:oleObj>
              </mc:Choice>
              <mc:Fallback>
                <p:oleObj name="公式" r:id="rId30" imgW="1155600" imgH="228600" progId="Equation.3">
                  <p:embed/>
                  <p:pic>
                    <p:nvPicPr>
                      <p:cNvPr id="18" name="对象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0488" y="5753100"/>
                        <a:ext cx="173355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/>
              <p:cNvSpPr/>
              <p:nvPr/>
            </p:nvSpPr>
            <p:spPr>
              <a:xfrm>
                <a:off x="2807984" y="1271961"/>
                <a:ext cx="2479204" cy="61991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𝑑𝑦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=3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7984" y="1271961"/>
                <a:ext cx="2479204" cy="619913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/>
              <p:cNvSpPr/>
              <p:nvPr/>
            </p:nvSpPr>
            <p:spPr>
              <a:xfrm>
                <a:off x="2807984" y="1909306"/>
                <a:ext cx="139583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7984" y="1909306"/>
                <a:ext cx="1395831" cy="369332"/>
              </a:xfrm>
              <a:prstGeom prst="rect">
                <a:avLst/>
              </a:prstGeom>
              <a:blipFill>
                <a:blip r:embed="rId35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图片 7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5472323" y="1699828"/>
            <a:ext cx="3152775" cy="1819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8212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sz="3600" dirty="0"/>
              <a:t>Impulse Response: Find Initial States by Matching the Singularity </a:t>
            </a:r>
            <a:r>
              <a:rPr lang="en-US" altLang="zh-CN" sz="3600" dirty="0" smtClean="0"/>
              <a:t>Equations (1)</a:t>
            </a:r>
            <a:endParaRPr lang="en-US" sz="36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49" y="1308100"/>
            <a:ext cx="8377327" cy="4868863"/>
          </a:xfrm>
        </p:spPr>
        <p:txBody>
          <a:bodyPr>
            <a:normAutofit fontScale="92500"/>
          </a:bodyPr>
          <a:lstStyle/>
          <a:p>
            <a:r>
              <a:rPr lang="en-US" dirty="0" smtClean="0"/>
              <a:t> Principle: the coefficients of singularity functions must be the same on the two sides of DE</a:t>
            </a:r>
            <a:endParaRPr lang="en-US" dirty="0"/>
          </a:p>
          <a:p>
            <a:r>
              <a:rPr lang="en-US" dirty="0" smtClean="0"/>
              <a:t> Example: </a:t>
            </a:r>
            <a:r>
              <a:rPr lang="en-US" i="1" dirty="0" smtClean="0"/>
              <a:t>y’</a:t>
            </a:r>
            <a:r>
              <a:rPr lang="en-US" i="1" baseline="-25000" dirty="0" smtClean="0"/>
              <a:t> </a:t>
            </a:r>
            <a:r>
              <a:rPr lang="en-US" dirty="0" smtClean="0"/>
              <a:t>(</a:t>
            </a:r>
            <a:r>
              <a:rPr lang="en-US" i="1" dirty="0" smtClean="0"/>
              <a:t>t</a:t>
            </a:r>
            <a:r>
              <a:rPr lang="en-US" dirty="0" smtClean="0"/>
              <a:t>)+3</a:t>
            </a:r>
            <a:r>
              <a:rPr lang="en-US" i="1" dirty="0"/>
              <a:t> </a:t>
            </a:r>
            <a:r>
              <a:rPr lang="en-US" i="1" dirty="0" smtClean="0"/>
              <a:t>y</a:t>
            </a:r>
            <a:r>
              <a:rPr lang="en-US" dirty="0" smtClean="0"/>
              <a:t>(</a:t>
            </a:r>
            <a:r>
              <a:rPr lang="en-US" i="1" dirty="0" smtClean="0"/>
              <a:t>t</a:t>
            </a:r>
            <a:r>
              <a:rPr lang="en-US" dirty="0"/>
              <a:t>)= </a:t>
            </a:r>
            <a:r>
              <a:rPr lang="en-US" dirty="0" smtClean="0"/>
              <a:t>3</a:t>
            </a:r>
            <a:r>
              <a:rPr lang="en-US" i="1" dirty="0" smtClean="0"/>
              <a:t>x’</a:t>
            </a:r>
            <a:r>
              <a:rPr lang="en-US" i="1" baseline="30000" dirty="0" smtClean="0"/>
              <a:t> </a:t>
            </a:r>
            <a:r>
              <a:rPr lang="en-US" dirty="0"/>
              <a:t>(</a:t>
            </a:r>
            <a:r>
              <a:rPr lang="en-US" i="1" dirty="0"/>
              <a:t>t</a:t>
            </a:r>
            <a:r>
              <a:rPr lang="en-US" dirty="0"/>
              <a:t>) </a:t>
            </a:r>
            <a:r>
              <a:rPr lang="en-US" dirty="0" smtClean="0"/>
              <a:t>  </a:t>
            </a:r>
            <a:r>
              <a:rPr lang="en-US" i="1" dirty="0" smtClean="0"/>
              <a:t>x</a:t>
            </a:r>
            <a:r>
              <a:rPr lang="en-US" dirty="0" smtClean="0"/>
              <a:t>(</a:t>
            </a:r>
            <a:r>
              <a:rPr lang="en-US" i="1" dirty="0" smtClean="0"/>
              <a:t>t</a:t>
            </a:r>
            <a:r>
              <a:rPr lang="en-US" dirty="0" smtClean="0"/>
              <a:t>)=</a:t>
            </a:r>
            <a:r>
              <a:rPr lang="el-GR" i="1" dirty="0" smtClean="0"/>
              <a:t>δ</a:t>
            </a:r>
            <a:r>
              <a:rPr lang="en-US" dirty="0" smtClean="0"/>
              <a:t>(</a:t>
            </a:r>
            <a:r>
              <a:rPr lang="en-US" i="1" dirty="0" smtClean="0"/>
              <a:t>t</a:t>
            </a:r>
            <a:r>
              <a:rPr lang="en-US" dirty="0" smtClean="0"/>
              <a:t>) </a:t>
            </a:r>
            <a:r>
              <a:rPr lang="en-US" altLang="zh-CN" dirty="0" smtClean="0"/>
              <a:t> initial rest</a:t>
            </a:r>
            <a:endParaRPr lang="en-US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i="1" dirty="0" smtClean="0"/>
              <a:t>t</a:t>
            </a:r>
            <a:r>
              <a:rPr lang="en-US" dirty="0" smtClean="0"/>
              <a:t>&gt;0</a:t>
            </a:r>
            <a:r>
              <a:rPr lang="en-US" baseline="30000" dirty="0" smtClean="0"/>
              <a:t>+</a:t>
            </a:r>
            <a:r>
              <a:rPr lang="en-US" dirty="0" smtClean="0"/>
              <a:t>, only homogeneous solution </a:t>
            </a:r>
            <a:r>
              <a:rPr lang="en-US" i="1" dirty="0"/>
              <a:t>y’</a:t>
            </a:r>
            <a:r>
              <a:rPr lang="en-US" i="1" baseline="-25000" dirty="0"/>
              <a:t> </a:t>
            </a:r>
            <a:r>
              <a:rPr lang="en-US" dirty="0"/>
              <a:t>(</a:t>
            </a:r>
            <a:r>
              <a:rPr lang="en-US" i="1" dirty="0"/>
              <a:t>t</a:t>
            </a:r>
            <a:r>
              <a:rPr lang="en-US" dirty="0" smtClean="0"/>
              <a:t>)=</a:t>
            </a:r>
            <a:r>
              <a:rPr lang="en-US" i="1" dirty="0" smtClean="0"/>
              <a:t>A</a:t>
            </a:r>
            <a:r>
              <a:rPr lang="en-US" dirty="0" smtClean="0"/>
              <a:t>e</a:t>
            </a:r>
            <a:r>
              <a:rPr lang="en-US" baseline="30000" dirty="0" smtClean="0"/>
              <a:t>-3</a:t>
            </a:r>
            <a:r>
              <a:rPr lang="en-US" i="1" baseline="30000" dirty="0" smtClean="0"/>
              <a:t>t</a:t>
            </a:r>
            <a:endParaRPr lang="en-US" i="1" baseline="300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There </a:t>
            </a:r>
            <a:r>
              <a:rPr lang="en-US" dirty="0" smtClean="0"/>
              <a:t>is </a:t>
            </a:r>
            <a:r>
              <a:rPr lang="en-US" dirty="0"/>
              <a:t>3</a:t>
            </a:r>
            <a:r>
              <a:rPr lang="el-GR" dirty="0"/>
              <a:t>δ</a:t>
            </a:r>
            <a:r>
              <a:rPr lang="en-US" i="1" dirty="0"/>
              <a:t>’</a:t>
            </a:r>
            <a:r>
              <a:rPr lang="en-US" i="1" baseline="30000" dirty="0"/>
              <a:t> </a:t>
            </a:r>
            <a:r>
              <a:rPr lang="en-US" dirty="0"/>
              <a:t>(</a:t>
            </a:r>
            <a:r>
              <a:rPr lang="en-US" i="1" dirty="0"/>
              <a:t>t</a:t>
            </a:r>
            <a:r>
              <a:rPr lang="en-US" dirty="0"/>
              <a:t>) </a:t>
            </a:r>
            <a:r>
              <a:rPr lang="en-US" dirty="0" smtClean="0"/>
              <a:t>on the right side </a:t>
            </a:r>
            <a:r>
              <a:rPr lang="en-US" dirty="0" smtClean="0">
                <a:sym typeface="Wingdings" panose="05000000000000000000" pitchFamily="2" charset="2"/>
              </a:rPr>
              <a:t> </a:t>
            </a:r>
            <a:r>
              <a:rPr lang="en-US" dirty="0" smtClean="0"/>
              <a:t>there must be the term 3</a:t>
            </a:r>
            <a:r>
              <a:rPr lang="el-GR" dirty="0"/>
              <a:t>δ</a:t>
            </a:r>
            <a:r>
              <a:rPr lang="en-US" i="1" dirty="0"/>
              <a:t>’</a:t>
            </a:r>
            <a:r>
              <a:rPr lang="en-US" i="1" baseline="30000" dirty="0"/>
              <a:t> </a:t>
            </a:r>
            <a:r>
              <a:rPr lang="en-US" dirty="0"/>
              <a:t>(</a:t>
            </a:r>
            <a:r>
              <a:rPr lang="en-US" i="1" dirty="0"/>
              <a:t>t</a:t>
            </a:r>
            <a:r>
              <a:rPr lang="en-US" dirty="0"/>
              <a:t>) </a:t>
            </a:r>
            <a:r>
              <a:rPr lang="en-US" dirty="0" smtClean="0"/>
              <a:t>in </a:t>
            </a:r>
            <a:r>
              <a:rPr lang="en-US" i="1" dirty="0"/>
              <a:t>y’</a:t>
            </a:r>
            <a:r>
              <a:rPr lang="en-US" i="1" baseline="-25000" dirty="0"/>
              <a:t> </a:t>
            </a:r>
            <a:r>
              <a:rPr lang="en-US" dirty="0"/>
              <a:t>(</a:t>
            </a:r>
            <a:r>
              <a:rPr lang="en-US" i="1" dirty="0"/>
              <a:t>t</a:t>
            </a:r>
            <a:r>
              <a:rPr lang="en-US" dirty="0" smtClean="0"/>
              <a:t>) </a:t>
            </a:r>
            <a:r>
              <a:rPr lang="en-US" dirty="0" smtClean="0">
                <a:sym typeface="Wingdings" panose="05000000000000000000" pitchFamily="2" charset="2"/>
              </a:rPr>
              <a:t> there must be the term </a:t>
            </a:r>
            <a:r>
              <a:rPr lang="en-US" dirty="0" smtClean="0"/>
              <a:t>3</a:t>
            </a:r>
            <a:r>
              <a:rPr lang="el-GR" dirty="0" smtClean="0"/>
              <a:t>δ</a:t>
            </a:r>
            <a:r>
              <a:rPr lang="en-US" dirty="0" smtClean="0"/>
              <a:t>(</a:t>
            </a:r>
            <a:r>
              <a:rPr lang="en-US" i="1" dirty="0" smtClean="0"/>
              <a:t>t</a:t>
            </a:r>
            <a:r>
              <a:rPr lang="en-US" dirty="0"/>
              <a:t>) </a:t>
            </a:r>
            <a:r>
              <a:rPr lang="en-US" dirty="0" smtClean="0"/>
              <a:t>in </a:t>
            </a:r>
            <a:r>
              <a:rPr lang="en-US" i="1" dirty="0"/>
              <a:t>y</a:t>
            </a:r>
            <a:r>
              <a:rPr lang="en-US" dirty="0"/>
              <a:t>(</a:t>
            </a:r>
            <a:r>
              <a:rPr lang="en-US" i="1" dirty="0"/>
              <a:t>t</a:t>
            </a:r>
            <a:r>
              <a:rPr lang="en-US" dirty="0"/>
              <a:t>)</a:t>
            </a:r>
            <a:endParaRPr lang="en-US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dirty="0" smtClean="0"/>
              <a:t>there is no </a:t>
            </a:r>
            <a:r>
              <a:rPr lang="el-GR" dirty="0" smtClean="0"/>
              <a:t>δ</a:t>
            </a:r>
            <a:r>
              <a:rPr lang="en-US" dirty="0" smtClean="0"/>
              <a:t>(</a:t>
            </a:r>
            <a:r>
              <a:rPr lang="en-US" i="1" dirty="0" smtClean="0"/>
              <a:t>t</a:t>
            </a:r>
            <a:r>
              <a:rPr lang="en-US" dirty="0"/>
              <a:t>) </a:t>
            </a:r>
            <a:r>
              <a:rPr lang="en-US" dirty="0" smtClean="0"/>
              <a:t>on the right side </a:t>
            </a:r>
            <a:r>
              <a:rPr lang="en-US" dirty="0" smtClean="0">
                <a:sym typeface="Wingdings" panose="05000000000000000000" pitchFamily="2" charset="2"/>
              </a:rPr>
              <a:t> </a:t>
            </a:r>
            <a:r>
              <a:rPr lang="en-US" dirty="0"/>
              <a:t>there must be the term </a:t>
            </a:r>
            <a:r>
              <a:rPr lang="en-US" dirty="0" smtClean="0"/>
              <a:t>-9</a:t>
            </a:r>
            <a:r>
              <a:rPr lang="el-GR" dirty="0" smtClean="0"/>
              <a:t>δ</a:t>
            </a:r>
            <a:r>
              <a:rPr lang="en-US" dirty="0" smtClean="0"/>
              <a:t>(</a:t>
            </a:r>
            <a:r>
              <a:rPr lang="en-US" i="1" dirty="0" smtClean="0"/>
              <a:t>t</a:t>
            </a:r>
            <a:r>
              <a:rPr lang="en-US" dirty="0"/>
              <a:t>) in </a:t>
            </a:r>
            <a:r>
              <a:rPr lang="en-US" i="1" dirty="0"/>
              <a:t>y’</a:t>
            </a:r>
            <a:r>
              <a:rPr lang="en-US" i="1" baseline="-25000" dirty="0"/>
              <a:t> </a:t>
            </a:r>
            <a:r>
              <a:rPr lang="en-US" dirty="0"/>
              <a:t>(</a:t>
            </a:r>
            <a:r>
              <a:rPr lang="en-US" i="1" dirty="0"/>
              <a:t>t</a:t>
            </a:r>
            <a:r>
              <a:rPr lang="en-US" dirty="0"/>
              <a:t>) </a:t>
            </a:r>
            <a:r>
              <a:rPr lang="en-US" dirty="0" smtClean="0">
                <a:sym typeface="Wingdings" panose="05000000000000000000" pitchFamily="2" charset="2"/>
              </a:rPr>
              <a:t> </a:t>
            </a:r>
            <a:r>
              <a:rPr lang="en-US" dirty="0" smtClean="0">
                <a:solidFill>
                  <a:srgbClr val="0000FF"/>
                </a:solidFill>
                <a:sym typeface="Wingdings" panose="05000000000000000000" pitchFamily="2" charset="2"/>
              </a:rPr>
              <a:t>there is the term -9</a:t>
            </a:r>
            <a:r>
              <a:rPr lang="el-GR" dirty="0" smtClean="0">
                <a:solidFill>
                  <a:srgbClr val="0000FF"/>
                </a:solidFill>
                <a:sym typeface="Wingdings" panose="05000000000000000000" pitchFamily="2" charset="2"/>
              </a:rPr>
              <a:t>Δ</a:t>
            </a:r>
            <a:r>
              <a:rPr lang="en-US" i="1" dirty="0" smtClean="0">
                <a:solidFill>
                  <a:srgbClr val="0000FF"/>
                </a:solidFill>
                <a:sym typeface="Wingdings" panose="05000000000000000000" pitchFamily="2" charset="2"/>
              </a:rPr>
              <a:t>u</a:t>
            </a:r>
            <a:r>
              <a:rPr lang="en-US" dirty="0" smtClean="0">
                <a:solidFill>
                  <a:srgbClr val="0000FF"/>
                </a:solidFill>
                <a:sym typeface="Wingdings" panose="05000000000000000000" pitchFamily="2" charset="2"/>
              </a:rPr>
              <a:t>(</a:t>
            </a:r>
            <a:r>
              <a:rPr lang="en-US" i="1" dirty="0" smtClean="0">
                <a:solidFill>
                  <a:srgbClr val="0000FF"/>
                </a:solidFill>
                <a:sym typeface="Wingdings" panose="05000000000000000000" pitchFamily="2" charset="2"/>
              </a:rPr>
              <a:t>t</a:t>
            </a:r>
            <a:r>
              <a:rPr lang="en-US" dirty="0" smtClean="0">
                <a:solidFill>
                  <a:srgbClr val="0000FF"/>
                </a:solidFill>
                <a:sym typeface="Wingdings" panose="05000000000000000000" pitchFamily="2" charset="2"/>
              </a:rPr>
              <a:t>) in </a:t>
            </a:r>
            <a:r>
              <a:rPr lang="en-US" i="1" dirty="0">
                <a:solidFill>
                  <a:srgbClr val="0000FF"/>
                </a:solidFill>
              </a:rPr>
              <a:t>y</a:t>
            </a:r>
            <a:r>
              <a:rPr lang="en-US" dirty="0">
                <a:solidFill>
                  <a:srgbClr val="0000FF"/>
                </a:solidFill>
              </a:rPr>
              <a:t>(</a:t>
            </a:r>
            <a:r>
              <a:rPr lang="en-US" i="1" dirty="0">
                <a:solidFill>
                  <a:srgbClr val="0000FF"/>
                </a:solidFill>
              </a:rPr>
              <a:t>t</a:t>
            </a:r>
            <a:r>
              <a:rPr lang="en-US" dirty="0" smtClean="0">
                <a:solidFill>
                  <a:srgbClr val="0000FF"/>
                </a:solidFill>
              </a:rPr>
              <a:t>)  (</a:t>
            </a:r>
            <a:r>
              <a:rPr lang="el-GR" dirty="0">
                <a:solidFill>
                  <a:srgbClr val="0000FF"/>
                </a:solidFill>
                <a:sym typeface="Wingdings" panose="05000000000000000000" pitchFamily="2" charset="2"/>
              </a:rPr>
              <a:t>Δ</a:t>
            </a:r>
            <a:r>
              <a:rPr lang="en-US" i="1" dirty="0">
                <a:solidFill>
                  <a:srgbClr val="0000FF"/>
                </a:solidFill>
                <a:sym typeface="Wingdings" panose="05000000000000000000" pitchFamily="2" charset="2"/>
              </a:rPr>
              <a:t>u</a:t>
            </a:r>
            <a:r>
              <a:rPr lang="en-US" dirty="0">
                <a:solidFill>
                  <a:srgbClr val="0000FF"/>
                </a:solidFill>
                <a:sym typeface="Wingdings" panose="05000000000000000000" pitchFamily="2" charset="2"/>
              </a:rPr>
              <a:t>(</a:t>
            </a:r>
            <a:r>
              <a:rPr lang="en-US" i="1" dirty="0">
                <a:solidFill>
                  <a:srgbClr val="0000FF"/>
                </a:solidFill>
                <a:sym typeface="Wingdings" panose="05000000000000000000" pitchFamily="2" charset="2"/>
              </a:rPr>
              <a:t>t</a:t>
            </a:r>
            <a:r>
              <a:rPr lang="en-US" dirty="0">
                <a:solidFill>
                  <a:srgbClr val="0000FF"/>
                </a:solidFill>
                <a:sym typeface="Wingdings" panose="05000000000000000000" pitchFamily="2" charset="2"/>
              </a:rPr>
              <a:t>) </a:t>
            </a:r>
            <a:r>
              <a:rPr lang="en-US" dirty="0" smtClean="0">
                <a:solidFill>
                  <a:srgbClr val="0000FF"/>
                </a:solidFill>
                <a:sym typeface="Wingdings" panose="05000000000000000000" pitchFamily="2" charset="2"/>
              </a:rPr>
              <a:t>represents a jump function, not just a step</a:t>
            </a:r>
            <a:r>
              <a:rPr lang="en-US" dirty="0" smtClean="0">
                <a:solidFill>
                  <a:srgbClr val="0000FF"/>
                </a:solidFill>
              </a:rPr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dirty="0" smtClean="0">
                <a:sym typeface="Wingdings" panose="05000000000000000000" pitchFamily="2" charset="2"/>
              </a:rPr>
              <a:t> </a:t>
            </a:r>
            <a:r>
              <a:rPr lang="en-US" altLang="zh-CN" i="1" dirty="0" smtClean="0">
                <a:sym typeface="Wingdings" panose="05000000000000000000" pitchFamily="2" charset="2"/>
              </a:rPr>
              <a:t>y</a:t>
            </a:r>
            <a:r>
              <a:rPr lang="en-US" altLang="zh-CN" dirty="0" smtClean="0">
                <a:sym typeface="Wingdings" panose="05000000000000000000" pitchFamily="2" charset="2"/>
              </a:rPr>
              <a:t>(0</a:t>
            </a:r>
            <a:r>
              <a:rPr lang="en-US" altLang="zh-CN" baseline="30000" dirty="0" smtClean="0">
                <a:sym typeface="Wingdings" panose="05000000000000000000" pitchFamily="2" charset="2"/>
              </a:rPr>
              <a:t>+</a:t>
            </a:r>
            <a:r>
              <a:rPr lang="en-US" altLang="zh-CN" dirty="0" smtClean="0">
                <a:sym typeface="Wingdings" panose="05000000000000000000" pitchFamily="2" charset="2"/>
              </a:rPr>
              <a:t>)=</a:t>
            </a:r>
            <a:r>
              <a:rPr lang="en-US" altLang="zh-CN" i="1" dirty="0" smtClean="0">
                <a:sym typeface="Wingdings" panose="05000000000000000000" pitchFamily="2" charset="2"/>
              </a:rPr>
              <a:t>y</a:t>
            </a:r>
            <a:r>
              <a:rPr lang="en-US" altLang="zh-CN" dirty="0" smtClean="0">
                <a:sym typeface="Wingdings" panose="05000000000000000000" pitchFamily="2" charset="2"/>
              </a:rPr>
              <a:t>(0</a:t>
            </a:r>
            <a:r>
              <a:rPr lang="en-US" altLang="zh-CN" baseline="30000" dirty="0" smtClean="0">
                <a:sym typeface="Wingdings" panose="05000000000000000000" pitchFamily="2" charset="2"/>
              </a:rPr>
              <a:t>-</a:t>
            </a:r>
            <a:r>
              <a:rPr lang="en-US" altLang="zh-CN" dirty="0" smtClean="0">
                <a:sym typeface="Wingdings" panose="05000000000000000000" pitchFamily="2" charset="2"/>
              </a:rPr>
              <a:t>)-9=-</a:t>
            </a:r>
            <a:r>
              <a:rPr lang="en-US" altLang="zh-CN" dirty="0">
                <a:sym typeface="Wingdings" panose="05000000000000000000" pitchFamily="2" charset="2"/>
              </a:rPr>
              <a:t>9 </a:t>
            </a:r>
            <a:r>
              <a:rPr lang="en-US" altLang="zh-CN" dirty="0" smtClean="0">
                <a:sym typeface="Wingdings" panose="05000000000000000000" pitchFamily="2" charset="2"/>
              </a:rPr>
              <a:t> </a:t>
            </a:r>
            <a:r>
              <a:rPr lang="en-US" i="1" dirty="0" smtClean="0"/>
              <a:t>A</a:t>
            </a:r>
            <a:r>
              <a:rPr lang="en-US" dirty="0" smtClean="0"/>
              <a:t>=-9,</a:t>
            </a:r>
            <a:r>
              <a:rPr lang="en-US" i="1" dirty="0"/>
              <a:t> y</a:t>
            </a:r>
            <a:r>
              <a:rPr lang="en-US" dirty="0"/>
              <a:t>(</a:t>
            </a:r>
            <a:r>
              <a:rPr lang="en-US" i="1" dirty="0"/>
              <a:t>t</a:t>
            </a:r>
            <a:r>
              <a:rPr lang="en-US" dirty="0"/>
              <a:t>)= </a:t>
            </a:r>
            <a:r>
              <a:rPr lang="en-US" i="1" dirty="0" smtClean="0"/>
              <a:t>-</a:t>
            </a:r>
            <a:r>
              <a:rPr lang="en-US" dirty="0" smtClean="0"/>
              <a:t>9e</a:t>
            </a:r>
            <a:r>
              <a:rPr lang="en-US" baseline="30000" dirty="0" smtClean="0"/>
              <a:t>-3</a:t>
            </a:r>
            <a:r>
              <a:rPr lang="en-US" i="1" baseline="30000" dirty="0" smtClean="0"/>
              <a:t>t</a:t>
            </a:r>
            <a:r>
              <a:rPr lang="en-US" altLang="zh-CN" dirty="0" smtClean="0">
                <a:sym typeface="Wingdings" panose="05000000000000000000" pitchFamily="2" charset="2"/>
              </a:rPr>
              <a:t> </a:t>
            </a:r>
            <a:r>
              <a:rPr lang="en-US" dirty="0" smtClean="0">
                <a:solidFill>
                  <a:srgbClr val="C00000"/>
                </a:solidFill>
              </a:rPr>
              <a:t>(</a:t>
            </a:r>
            <a:r>
              <a:rPr lang="en-US" i="1">
                <a:solidFill>
                  <a:srgbClr val="C00000"/>
                </a:solidFill>
              </a:rPr>
              <a:t>t</a:t>
            </a:r>
            <a:r>
              <a:rPr lang="en-US">
                <a:solidFill>
                  <a:srgbClr val="C00000"/>
                </a:solidFill>
              </a:rPr>
              <a:t>&gt;0</a:t>
            </a:r>
            <a:r>
              <a:rPr lang="en-US" baseline="30000" smtClean="0">
                <a:solidFill>
                  <a:srgbClr val="C00000"/>
                </a:solidFill>
              </a:rPr>
              <a:t>+</a:t>
            </a:r>
            <a:r>
              <a:rPr lang="en-US" smtClean="0">
                <a:solidFill>
                  <a:srgbClr val="C00000"/>
                </a:solidFill>
              </a:rPr>
              <a:t>)</a:t>
            </a:r>
            <a:endParaRPr lang="en-US" dirty="0" smtClean="0">
              <a:solidFill>
                <a:srgbClr val="C0000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mtClean="0"/>
              <a:t>The </a:t>
            </a:r>
            <a:r>
              <a:rPr lang="en-US" dirty="0"/>
              <a:t>full impulse response is </a:t>
            </a:r>
            <a:r>
              <a:rPr lang="en-US" i="1" dirty="0" smtClean="0"/>
              <a:t>h</a:t>
            </a:r>
            <a:r>
              <a:rPr lang="en-US" dirty="0" smtClean="0"/>
              <a:t>(</a:t>
            </a:r>
            <a:r>
              <a:rPr lang="en-US" i="1" dirty="0" smtClean="0"/>
              <a:t>t</a:t>
            </a:r>
            <a:r>
              <a:rPr lang="en-US" dirty="0" smtClean="0"/>
              <a:t>)</a:t>
            </a:r>
            <a:r>
              <a:rPr lang="en-US" i="1" dirty="0" smtClean="0"/>
              <a:t>=3</a:t>
            </a:r>
            <a:r>
              <a:rPr lang="el-GR" dirty="0" smtClean="0"/>
              <a:t>δ</a:t>
            </a:r>
            <a:r>
              <a:rPr lang="en-US" dirty="0"/>
              <a:t>(</a:t>
            </a:r>
            <a:r>
              <a:rPr lang="en-US" i="1" dirty="0"/>
              <a:t>t</a:t>
            </a:r>
            <a:r>
              <a:rPr lang="en-US" dirty="0"/>
              <a:t>) </a:t>
            </a:r>
            <a:r>
              <a:rPr lang="en-US" dirty="0" smtClean="0"/>
              <a:t>-9e</a:t>
            </a:r>
            <a:r>
              <a:rPr lang="en-US" baseline="30000" dirty="0" smtClean="0"/>
              <a:t>-3</a:t>
            </a:r>
            <a:r>
              <a:rPr lang="en-US" i="1" baseline="30000" dirty="0" smtClean="0"/>
              <a:t>t</a:t>
            </a:r>
            <a:r>
              <a:rPr lang="en-US" i="1" dirty="0" smtClean="0"/>
              <a:t>u</a:t>
            </a:r>
            <a:r>
              <a:rPr lang="en-US" dirty="0" smtClean="0"/>
              <a:t>(</a:t>
            </a:r>
            <a:r>
              <a:rPr lang="en-US" i="1" dirty="0" smtClean="0"/>
              <a:t>t</a:t>
            </a:r>
            <a:r>
              <a:rPr lang="en-US" dirty="0" smtClean="0"/>
              <a:t>) </a:t>
            </a:r>
            <a:r>
              <a:rPr lang="en-US" dirty="0" smtClean="0">
                <a:solidFill>
                  <a:srgbClr val="C00000"/>
                </a:solidFill>
              </a:rPr>
              <a:t>(-∞&lt;</a:t>
            </a:r>
            <a:r>
              <a:rPr lang="en-US" i="1" dirty="0" smtClean="0">
                <a:solidFill>
                  <a:srgbClr val="C00000"/>
                </a:solidFill>
              </a:rPr>
              <a:t>t</a:t>
            </a:r>
            <a:r>
              <a:rPr lang="en-US" dirty="0" smtClean="0">
                <a:solidFill>
                  <a:srgbClr val="C00000"/>
                </a:solidFill>
              </a:rPr>
              <a:t>&lt; ∞)</a:t>
            </a:r>
            <a:endParaRPr lang="en-US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i="1" baseline="30000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21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§S1.3 Initial </a:t>
            </a:r>
            <a:r>
              <a:rPr lang="en-US" altLang="zh-CN" dirty="0" smtClean="0"/>
              <a:t>Conditions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06365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sz="3600" dirty="0" smtClean="0"/>
              <a:t>Impulse Response: </a:t>
            </a:r>
            <a:r>
              <a:rPr lang="en-US" altLang="zh-CN" sz="3600" dirty="0" smtClean="0"/>
              <a:t>Find Initial States by Matching the Singularity </a:t>
            </a:r>
            <a:r>
              <a:rPr lang="en-US" altLang="zh-CN" sz="3600" dirty="0" smtClean="0"/>
              <a:t>Equations (2)</a:t>
            </a:r>
            <a:endParaRPr lang="en-US" sz="36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2799" y="1493761"/>
            <a:ext cx="7886700" cy="4561227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Example: </a:t>
            </a:r>
            <a:r>
              <a:rPr lang="en-US" i="1" dirty="0" err="1" smtClean="0"/>
              <a:t>i</a:t>
            </a:r>
            <a:r>
              <a:rPr lang="en-US" i="1" baseline="-25000" dirty="0" err="1" smtClean="0"/>
              <a:t>S</a:t>
            </a:r>
            <a:r>
              <a:rPr lang="en-US" dirty="0" smtClean="0"/>
              <a:t>(</a:t>
            </a:r>
            <a:r>
              <a:rPr lang="en-US" i="1" dirty="0" smtClean="0"/>
              <a:t>t</a:t>
            </a:r>
            <a:r>
              <a:rPr lang="en-US" dirty="0" smtClean="0"/>
              <a:t>)=</a:t>
            </a:r>
            <a:r>
              <a:rPr lang="el-GR" dirty="0"/>
              <a:t> δ</a:t>
            </a:r>
            <a:r>
              <a:rPr lang="en-US" dirty="0" smtClean="0"/>
              <a:t>(</a:t>
            </a:r>
            <a:r>
              <a:rPr lang="en-US" i="1" dirty="0" smtClean="0"/>
              <a:t>t</a:t>
            </a:r>
            <a:r>
              <a:rPr lang="en-US" dirty="0" smtClean="0"/>
              <a:t>) </a:t>
            </a:r>
            <a:r>
              <a:rPr lang="en-US" altLang="zh-CN" dirty="0" smtClean="0"/>
              <a:t>+ initial rest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/>
              <a:t> </a:t>
            </a:r>
            <a:r>
              <a:rPr lang="en-US" dirty="0" smtClean="0"/>
              <a:t>Particular response </a:t>
            </a:r>
            <a:r>
              <a:rPr lang="en-US" i="1" dirty="0" err="1" smtClean="0"/>
              <a:t>y</a:t>
            </a:r>
            <a:r>
              <a:rPr lang="en-US" i="1" baseline="-25000" dirty="0" err="1" smtClean="0"/>
              <a:t>p</a:t>
            </a:r>
            <a:r>
              <a:rPr lang="en-US" dirty="0" smtClean="0"/>
              <a:t>(t)=0, since excitation=0 </a:t>
            </a:r>
            <a:r>
              <a:rPr lang="en-US" altLang="zh-CN" dirty="0" smtClean="0"/>
              <a:t>for t&gt;0</a:t>
            </a:r>
          </a:p>
          <a:p>
            <a:r>
              <a:rPr lang="en-US" dirty="0"/>
              <a:t> </a:t>
            </a:r>
            <a:r>
              <a:rPr lang="en-US" dirty="0" smtClean="0"/>
              <a:t>Only homogeneous solution</a:t>
            </a:r>
          </a:p>
          <a:p>
            <a:r>
              <a:rPr lang="en-US" dirty="0"/>
              <a:t> </a:t>
            </a:r>
            <a:r>
              <a:rPr lang="en-US" dirty="0" smtClean="0"/>
              <a:t>Initial conditions: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i="1" dirty="0" smtClean="0"/>
              <a:t> </a:t>
            </a:r>
            <a:r>
              <a:rPr lang="en-US" i="1" dirty="0" err="1" smtClean="0"/>
              <a:t>i</a:t>
            </a:r>
            <a:r>
              <a:rPr lang="en-US" i="1" baseline="-25000" dirty="0" err="1" smtClean="0"/>
              <a:t>L</a:t>
            </a:r>
            <a:r>
              <a:rPr lang="en-US" i="1" baseline="30000" dirty="0" smtClean="0"/>
              <a:t>’’</a:t>
            </a:r>
            <a:r>
              <a:rPr lang="en-US" dirty="0" smtClean="0"/>
              <a:t>(</a:t>
            </a:r>
            <a:r>
              <a:rPr lang="en-US" i="1" dirty="0" smtClean="0"/>
              <a:t>t</a:t>
            </a:r>
            <a:r>
              <a:rPr lang="en-US" dirty="0" smtClean="0"/>
              <a:t>) must contain </a:t>
            </a:r>
            <a:r>
              <a:rPr lang="el-GR" dirty="0" smtClean="0"/>
              <a:t>δ</a:t>
            </a:r>
            <a:r>
              <a:rPr lang="en-US" dirty="0"/>
              <a:t>(</a:t>
            </a:r>
            <a:r>
              <a:rPr lang="en-US" i="1" dirty="0"/>
              <a:t>t</a:t>
            </a:r>
            <a:r>
              <a:rPr lang="en-US" dirty="0" smtClean="0"/>
              <a:t>)/LC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 smtClean="0"/>
              <a:t> </a:t>
            </a:r>
            <a:r>
              <a:rPr lang="en-US" dirty="0" smtClean="0">
                <a:sym typeface="Wingdings" panose="05000000000000000000" pitchFamily="2" charset="2"/>
              </a:rPr>
              <a:t></a:t>
            </a:r>
            <a:r>
              <a:rPr lang="en-US" i="1" dirty="0" smtClean="0"/>
              <a:t> </a:t>
            </a:r>
            <a:r>
              <a:rPr lang="en-US" i="1" dirty="0" err="1" smtClean="0"/>
              <a:t>i</a:t>
            </a:r>
            <a:r>
              <a:rPr lang="en-US" i="1" baseline="-25000" dirty="0" err="1" smtClean="0"/>
              <a:t>L</a:t>
            </a:r>
            <a:r>
              <a:rPr lang="en-US" i="1" baseline="30000" dirty="0" smtClean="0"/>
              <a:t>’</a:t>
            </a:r>
            <a:r>
              <a:rPr lang="en-US" dirty="0" smtClean="0"/>
              <a:t>(</a:t>
            </a:r>
            <a:r>
              <a:rPr lang="en-US" i="1" dirty="0" smtClean="0"/>
              <a:t>t</a:t>
            </a:r>
            <a:r>
              <a:rPr lang="en-US" dirty="0" smtClean="0"/>
              <a:t>) must </a:t>
            </a:r>
            <a:r>
              <a:rPr lang="en-US" dirty="0"/>
              <a:t>contain </a:t>
            </a:r>
            <a:r>
              <a:rPr lang="en-US" dirty="0" smtClean="0"/>
              <a:t>a step with the magnitude equals to 1/LC </a:t>
            </a:r>
            <a:r>
              <a:rPr lang="en-US" dirty="0" smtClean="0">
                <a:sym typeface="Wingdings" panose="05000000000000000000" pitchFamily="2" charset="2"/>
              </a:rPr>
              <a:t></a:t>
            </a:r>
            <a:r>
              <a:rPr lang="en-US" dirty="0" smtClean="0"/>
              <a:t>   </a:t>
            </a:r>
            <a:r>
              <a:rPr lang="en-US" i="1" dirty="0" err="1" smtClean="0"/>
              <a:t>i</a:t>
            </a:r>
            <a:r>
              <a:rPr lang="en-US" i="1" baseline="-25000" dirty="0" err="1" smtClean="0"/>
              <a:t>L</a:t>
            </a:r>
            <a:r>
              <a:rPr lang="en-US" i="1" baseline="30000" dirty="0" smtClean="0"/>
              <a:t>’</a:t>
            </a:r>
            <a:r>
              <a:rPr lang="en-US" dirty="0" smtClean="0"/>
              <a:t>(0</a:t>
            </a:r>
            <a:r>
              <a:rPr lang="en-US" baseline="30000" dirty="0" smtClean="0"/>
              <a:t>+</a:t>
            </a:r>
            <a:r>
              <a:rPr lang="en-US" dirty="0" smtClean="0"/>
              <a:t>)=</a:t>
            </a:r>
            <a:r>
              <a:rPr lang="en-US" i="1" dirty="0" err="1" smtClean="0"/>
              <a:t>i</a:t>
            </a:r>
            <a:r>
              <a:rPr lang="en-US" i="1" baseline="-25000" dirty="0" err="1" smtClean="0"/>
              <a:t>L</a:t>
            </a:r>
            <a:r>
              <a:rPr lang="en-US" i="1" baseline="30000" dirty="0" smtClean="0"/>
              <a:t>’</a:t>
            </a:r>
            <a:r>
              <a:rPr lang="en-US" dirty="0" smtClean="0"/>
              <a:t>(0</a:t>
            </a:r>
            <a:r>
              <a:rPr lang="en-US" baseline="30000" dirty="0" smtClean="0"/>
              <a:t>-</a:t>
            </a:r>
            <a:r>
              <a:rPr lang="en-US" dirty="0" smtClean="0"/>
              <a:t>)+1/LC=1/LC</a:t>
            </a:r>
            <a:r>
              <a:rPr lang="en-US" i="1" dirty="0" smtClean="0"/>
              <a:t> </a:t>
            </a:r>
            <a:endParaRPr lang="en-US" dirty="0" smtClean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dirty="0" smtClean="0">
                <a:sym typeface="Wingdings" panose="05000000000000000000" pitchFamily="2" charset="2"/>
              </a:rPr>
              <a:t></a:t>
            </a:r>
            <a:r>
              <a:rPr lang="en-US" i="1" dirty="0"/>
              <a:t> </a:t>
            </a:r>
            <a:r>
              <a:rPr lang="en-US" i="1" dirty="0" err="1"/>
              <a:t>i</a:t>
            </a:r>
            <a:r>
              <a:rPr lang="en-US" i="1" baseline="-25000" dirty="0" err="1"/>
              <a:t>L</a:t>
            </a:r>
            <a:r>
              <a:rPr lang="en-US" i="1" baseline="30000" dirty="0"/>
              <a:t>’</a:t>
            </a:r>
            <a:r>
              <a:rPr lang="en-US" dirty="0"/>
              <a:t>(</a:t>
            </a:r>
            <a:r>
              <a:rPr lang="en-US" dirty="0" smtClean="0"/>
              <a:t>0)</a:t>
            </a:r>
            <a:r>
              <a:rPr lang="zh-CN" altLang="en-US" dirty="0" smtClean="0"/>
              <a:t> </a:t>
            </a:r>
            <a:r>
              <a:rPr lang="en-US" altLang="zh-CN" dirty="0" smtClean="0"/>
              <a:t>is bounded</a:t>
            </a:r>
            <a:r>
              <a:rPr lang="en-US" dirty="0">
                <a:sym typeface="Wingdings" panose="05000000000000000000" pitchFamily="2" charset="2"/>
              </a:rPr>
              <a:t>  </a:t>
            </a:r>
            <a:r>
              <a:rPr lang="en-US" i="1" dirty="0" err="1" smtClean="0"/>
              <a:t>i</a:t>
            </a:r>
            <a:r>
              <a:rPr lang="en-US" i="1" baseline="-25000" dirty="0" err="1" smtClean="0"/>
              <a:t>L</a:t>
            </a:r>
            <a:r>
              <a:rPr lang="en-US" dirty="0" smtClean="0"/>
              <a:t>(</a:t>
            </a:r>
            <a:r>
              <a:rPr lang="en-US" i="1" dirty="0" smtClean="0"/>
              <a:t>t</a:t>
            </a:r>
            <a:r>
              <a:rPr lang="en-US" dirty="0" smtClean="0"/>
              <a:t>) </a:t>
            </a:r>
            <a:r>
              <a:rPr lang="en-US" dirty="0" smtClean="0"/>
              <a:t>is continuous from </a:t>
            </a:r>
            <a:r>
              <a:rPr lang="en-US" i="1" dirty="0" smtClean="0"/>
              <a:t>t</a:t>
            </a:r>
            <a:r>
              <a:rPr lang="en-US" dirty="0" smtClean="0"/>
              <a:t>=0</a:t>
            </a:r>
            <a:r>
              <a:rPr lang="en-US" baseline="30000" dirty="0"/>
              <a:t>-</a:t>
            </a:r>
            <a:r>
              <a:rPr lang="en-US" dirty="0" smtClean="0"/>
              <a:t> to </a:t>
            </a:r>
            <a:r>
              <a:rPr lang="en-US" i="1" dirty="0" smtClean="0"/>
              <a:t>t</a:t>
            </a:r>
            <a:r>
              <a:rPr lang="en-US" dirty="0" smtClean="0"/>
              <a:t>=0</a:t>
            </a:r>
            <a:r>
              <a:rPr lang="en-US" baseline="30000" dirty="0"/>
              <a:t>+</a:t>
            </a:r>
            <a:r>
              <a:rPr lang="en-US" dirty="0" smtClean="0"/>
              <a:t> </a:t>
            </a:r>
            <a:r>
              <a:rPr lang="en-US" dirty="0" smtClean="0">
                <a:sym typeface="Wingdings" panose="05000000000000000000" pitchFamily="2" charset="2"/>
              </a:rPr>
              <a:t></a:t>
            </a:r>
            <a:r>
              <a:rPr lang="en-US" i="1" dirty="0" smtClean="0"/>
              <a:t> </a:t>
            </a:r>
            <a:r>
              <a:rPr lang="en-US" i="1" dirty="0" err="1" smtClean="0"/>
              <a:t>i</a:t>
            </a:r>
            <a:r>
              <a:rPr lang="en-US" i="1" baseline="-25000" dirty="0" err="1" smtClean="0"/>
              <a:t>L</a:t>
            </a:r>
            <a:r>
              <a:rPr lang="en-US" i="1" baseline="30000" dirty="0" smtClean="0"/>
              <a:t> </a:t>
            </a:r>
            <a:r>
              <a:rPr lang="en-US" dirty="0" smtClean="0"/>
              <a:t>(0</a:t>
            </a:r>
            <a:r>
              <a:rPr lang="en-US" baseline="30000" dirty="0" smtClean="0"/>
              <a:t>+</a:t>
            </a:r>
            <a:r>
              <a:rPr lang="en-US" dirty="0" smtClean="0"/>
              <a:t>)=</a:t>
            </a:r>
            <a:r>
              <a:rPr lang="en-US" i="1" dirty="0" smtClean="0"/>
              <a:t> </a:t>
            </a:r>
            <a:r>
              <a:rPr lang="en-US" i="1" dirty="0" err="1" smtClean="0"/>
              <a:t>i</a:t>
            </a:r>
            <a:r>
              <a:rPr lang="en-US" i="1" baseline="-25000" dirty="0" err="1" smtClean="0"/>
              <a:t>L</a:t>
            </a:r>
            <a:r>
              <a:rPr lang="en-US" i="1" baseline="30000" dirty="0" smtClean="0"/>
              <a:t> </a:t>
            </a:r>
            <a:r>
              <a:rPr lang="en-US" dirty="0" smtClean="0"/>
              <a:t>(0</a:t>
            </a:r>
            <a:r>
              <a:rPr lang="en-US" baseline="30000" dirty="0" smtClean="0"/>
              <a:t>-</a:t>
            </a:r>
            <a:r>
              <a:rPr lang="en-US" dirty="0" smtClean="0"/>
              <a:t>)=0 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22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§S1.3 Initial </a:t>
            </a:r>
            <a:r>
              <a:rPr lang="en-US" altLang="zh-CN" dirty="0" smtClean="0"/>
              <a:t>Conditions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4818" y="1326928"/>
            <a:ext cx="3218046" cy="1277404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5151126" y="3237057"/>
            <a:ext cx="3550056" cy="369332"/>
          </a:xfrm>
          <a:prstGeom prst="rect">
            <a:avLst/>
          </a:prstGeom>
          <a:noFill/>
          <a:ln w="158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Q1: Output independent of input?</a:t>
            </a: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714272" y="5464263"/>
            <a:ext cx="4059185" cy="369332"/>
          </a:xfrm>
          <a:prstGeom prst="rect">
            <a:avLst/>
          </a:prstGeom>
          <a:noFill/>
          <a:ln w="158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Q2: Physical Meaning?</a:t>
            </a: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714272" y="5870322"/>
            <a:ext cx="4059185" cy="369332"/>
          </a:xfrm>
          <a:prstGeom prst="rect">
            <a:avLst/>
          </a:prstGeom>
          <a:noFill/>
          <a:ln w="15875">
            <a:solidFill>
              <a:srgbClr val="0000FF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zh-CN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 not consider 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hysical </a:t>
            </a:r>
            <a:r>
              <a:rPr lang="en-US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eaning</a:t>
            </a:r>
            <a:r>
              <a:rPr 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here</a:t>
            </a:r>
            <a:endParaRPr lang="en-US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矩形 7"/>
              <p:cNvSpPr/>
              <p:nvPr/>
            </p:nvSpPr>
            <p:spPr>
              <a:xfrm>
                <a:off x="381990" y="1904072"/>
                <a:ext cx="3812967" cy="52450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sSub>
                          <m:sSubPr>
                            <m:ctrlPr>
                              <a:rPr lang="en-US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e>
                        </m:d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𝑑</m:t>
                        </m:r>
                        <m:sSup>
                          <m:sSupPr>
                            <m:ctrlPr>
                              <a:rPr lang="en-US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i="1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+</m:t>
                    </m:r>
                    <m:f>
                      <m:f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𝑅𝐶</m:t>
                        </m:r>
                      </m:den>
                    </m:f>
                    <m:f>
                      <m:f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e>
                        </m:d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𝑑𝑡</m:t>
                        </m:r>
                      </m:den>
                    </m:f>
                    <m:r>
                      <a:rPr lang="en-US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+</m:t>
                    </m:r>
                    <m:f>
                      <m:f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𝐿𝐶</m:t>
                        </m:r>
                      </m:den>
                    </m:f>
                    <m:sSub>
                      <m:sSub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  <m:d>
                      <m:d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𝐿𝐶</m:t>
                        </m:r>
                      </m:den>
                    </m:f>
                    <m:sSub>
                      <m:sSub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𝑆</m:t>
                        </m:r>
                      </m:sub>
                    </m:sSub>
                    <m:d>
                      <m:d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dirty="0">
                    <a:latin typeface="Times New Roman" panose="02020603050405020304" pitchFamily="18" charset="0"/>
                    <a:ea typeface="等线" panose="02010600030101010101" pitchFamily="2" charset="-122"/>
                  </a:rPr>
                  <a:t> </a:t>
                </a:r>
                <a:endParaRPr lang="en-US" dirty="0"/>
              </a:p>
            </p:txBody>
          </p:sp>
        </mc:Choice>
        <mc:Fallback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990" y="1904072"/>
                <a:ext cx="3812967" cy="52450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矩形 11"/>
              <p:cNvSpPr/>
              <p:nvPr/>
            </p:nvSpPr>
            <p:spPr>
              <a:xfrm>
                <a:off x="4313208" y="1949072"/>
                <a:ext cx="143161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ctrlPr>
                            <a:rPr lang="en-US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2" name="矩形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3208" y="1949072"/>
                <a:ext cx="1431610" cy="369332"/>
              </a:xfrm>
              <a:prstGeom prst="rect">
                <a:avLst/>
              </a:prstGeom>
              <a:blipFill>
                <a:blip r:embed="rId4"/>
                <a:stretch>
                  <a:fillRect t="-121667" r="-35470" b="-18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82511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5057" y="365126"/>
            <a:ext cx="8436633" cy="792000"/>
          </a:xfrm>
        </p:spPr>
        <p:txBody>
          <a:bodyPr>
            <a:noAutofit/>
          </a:bodyPr>
          <a:lstStyle/>
          <a:p>
            <a:r>
              <a:rPr lang="en-US" sz="3200" dirty="0" smtClean="0"/>
              <a:t>Linear Constant-Coefficient Difference Equation</a:t>
            </a:r>
            <a:endParaRPr lang="en-US" sz="32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48573" y="1308100"/>
            <a:ext cx="8695427" cy="5048251"/>
          </a:xfrm>
        </p:spPr>
        <p:txBody>
          <a:bodyPr>
            <a:normAutofit/>
          </a:bodyPr>
          <a:lstStyle/>
          <a:p>
            <a:r>
              <a:rPr lang="en-US" dirty="0" smtClean="0"/>
              <a:t> </a:t>
            </a:r>
            <a:r>
              <a:rPr lang="en-US" i="1" dirty="0" smtClean="0"/>
              <a:t>N</a:t>
            </a:r>
            <a:r>
              <a:rPr lang="en-US" dirty="0" smtClean="0"/>
              <a:t>th-order </a:t>
            </a:r>
          </a:p>
          <a:p>
            <a:endParaRPr lang="en-US" sz="1200" dirty="0"/>
          </a:p>
          <a:p>
            <a:r>
              <a:rPr lang="en-US" i="1" dirty="0" smtClean="0"/>
              <a:t>y</a:t>
            </a:r>
            <a:r>
              <a:rPr lang="en-US" dirty="0" smtClean="0"/>
              <a:t>[</a:t>
            </a:r>
            <a:r>
              <a:rPr lang="en-US" i="1" dirty="0" smtClean="0"/>
              <a:t>n</a:t>
            </a:r>
            <a:r>
              <a:rPr lang="en-US" dirty="0"/>
              <a:t>]</a:t>
            </a:r>
            <a:r>
              <a:rPr lang="en-US" dirty="0" smtClean="0"/>
              <a:t>=</a:t>
            </a:r>
            <a:r>
              <a:rPr lang="en-US" i="1" dirty="0" err="1" smtClean="0"/>
              <a:t>y</a:t>
            </a:r>
            <a:r>
              <a:rPr lang="en-US" i="1" baseline="-25000" dirty="0" err="1" smtClean="0"/>
              <a:t>p</a:t>
            </a:r>
            <a:r>
              <a:rPr lang="en-US" dirty="0" smtClean="0"/>
              <a:t>[</a:t>
            </a:r>
            <a:r>
              <a:rPr lang="en-US" i="1" dirty="0" smtClean="0"/>
              <a:t>n</a:t>
            </a:r>
            <a:r>
              <a:rPr lang="en-US" dirty="0"/>
              <a:t>]</a:t>
            </a:r>
            <a:r>
              <a:rPr lang="en-US" dirty="0" smtClean="0"/>
              <a:t>+</a:t>
            </a:r>
            <a:r>
              <a:rPr lang="en-US" i="1" dirty="0" err="1" smtClean="0"/>
              <a:t>y</a:t>
            </a:r>
            <a:r>
              <a:rPr lang="en-US" i="1" baseline="-25000" dirty="0" err="1" smtClean="0"/>
              <a:t>h</a:t>
            </a:r>
            <a:r>
              <a:rPr lang="en-US" dirty="0" smtClean="0"/>
              <a:t>[</a:t>
            </a:r>
            <a:r>
              <a:rPr lang="en-US" i="1" dirty="0" smtClean="0"/>
              <a:t>n</a:t>
            </a:r>
            <a:r>
              <a:rPr lang="en-US" dirty="0" smtClean="0"/>
              <a:t>]</a:t>
            </a:r>
            <a:endParaRPr lang="en-US" dirty="0"/>
          </a:p>
          <a:p>
            <a:pPr marL="0" indent="0">
              <a:buNone/>
            </a:pPr>
            <a:r>
              <a:rPr lang="en-US" i="1" dirty="0" err="1" smtClean="0"/>
              <a:t>y</a:t>
            </a:r>
            <a:r>
              <a:rPr lang="en-US" i="1" baseline="-25000" dirty="0" err="1" smtClean="0"/>
              <a:t>p</a:t>
            </a:r>
            <a:r>
              <a:rPr lang="en-US" dirty="0" smtClean="0"/>
              <a:t>[</a:t>
            </a:r>
            <a:r>
              <a:rPr lang="en-US" i="1" dirty="0" smtClean="0"/>
              <a:t>n</a:t>
            </a:r>
            <a:r>
              <a:rPr lang="en-US" dirty="0" smtClean="0"/>
              <a:t>] </a:t>
            </a:r>
            <a:r>
              <a:rPr lang="en-US" b="1" dirty="0" smtClean="0">
                <a:solidFill>
                  <a:srgbClr val="C00000"/>
                </a:solidFill>
              </a:rPr>
              <a:t>particular </a:t>
            </a:r>
            <a:r>
              <a:rPr lang="en-US" b="1" dirty="0">
                <a:solidFill>
                  <a:srgbClr val="C00000"/>
                </a:solidFill>
              </a:rPr>
              <a:t>solution</a:t>
            </a:r>
            <a:r>
              <a:rPr lang="en-US" dirty="0"/>
              <a:t>, </a:t>
            </a:r>
            <a:r>
              <a:rPr lang="en-US" i="1" dirty="0" err="1" smtClean="0"/>
              <a:t>y</a:t>
            </a:r>
            <a:r>
              <a:rPr lang="en-US" i="1" baseline="-25000" dirty="0" err="1" smtClean="0"/>
              <a:t>h</a:t>
            </a:r>
            <a:r>
              <a:rPr lang="en-US" dirty="0" smtClean="0"/>
              <a:t>[</a:t>
            </a:r>
            <a:r>
              <a:rPr lang="en-US" i="1" dirty="0" smtClean="0"/>
              <a:t>n</a:t>
            </a:r>
            <a:r>
              <a:rPr lang="en-US" dirty="0" smtClean="0"/>
              <a:t>] </a:t>
            </a:r>
            <a:r>
              <a:rPr lang="en-US" b="1" dirty="0" smtClean="0">
                <a:solidFill>
                  <a:srgbClr val="C00000"/>
                </a:solidFill>
              </a:rPr>
              <a:t>homogeneous </a:t>
            </a:r>
            <a:r>
              <a:rPr lang="en-US" b="1" dirty="0">
                <a:solidFill>
                  <a:srgbClr val="C00000"/>
                </a:solidFill>
              </a:rPr>
              <a:t>solution</a:t>
            </a:r>
          </a:p>
          <a:p>
            <a:r>
              <a:rPr lang="en-US" dirty="0" smtClean="0"/>
              <a:t> How to find </a:t>
            </a:r>
            <a:r>
              <a:rPr lang="en-US" i="1" dirty="0" err="1"/>
              <a:t>y</a:t>
            </a:r>
            <a:r>
              <a:rPr lang="en-US" i="1" baseline="-25000" dirty="0" err="1"/>
              <a:t>h</a:t>
            </a:r>
            <a:r>
              <a:rPr lang="en-US" dirty="0"/>
              <a:t>[</a:t>
            </a:r>
            <a:r>
              <a:rPr lang="en-US" i="1" dirty="0"/>
              <a:t>n</a:t>
            </a:r>
            <a:r>
              <a:rPr lang="en-US" dirty="0"/>
              <a:t>] </a:t>
            </a:r>
            <a:endParaRPr lang="en-US" dirty="0" smtClean="0"/>
          </a:p>
          <a:p>
            <a:pPr lvl="1"/>
            <a:r>
              <a:rPr lang="en-US" dirty="0" smtClean="0"/>
              <a:t> Solve the characteristic equation:</a:t>
            </a:r>
          </a:p>
          <a:p>
            <a:pPr lvl="1"/>
            <a:r>
              <a:rPr lang="en-US" dirty="0"/>
              <a:t> </a:t>
            </a:r>
            <a:r>
              <a:rPr lang="en-US" dirty="0" smtClean="0"/>
              <a:t>If no multiple roots,</a:t>
            </a:r>
          </a:p>
          <a:p>
            <a:pPr lvl="1"/>
            <a:endParaRPr lang="en-US" sz="1000" dirty="0"/>
          </a:p>
          <a:p>
            <a:pPr lvl="1"/>
            <a:r>
              <a:rPr lang="en-US" dirty="0"/>
              <a:t> </a:t>
            </a:r>
            <a:r>
              <a:rPr lang="en-US" dirty="0" smtClean="0"/>
              <a:t>If multiple roots exist, the corresponding part </a:t>
            </a:r>
            <a:r>
              <a:rPr lang="en-US" dirty="0"/>
              <a:t>in </a:t>
            </a:r>
            <a:r>
              <a:rPr lang="en-US" dirty="0" smtClean="0"/>
              <a:t> </a:t>
            </a:r>
            <a:r>
              <a:rPr lang="en-US" i="1" dirty="0" err="1"/>
              <a:t>y</a:t>
            </a:r>
            <a:r>
              <a:rPr lang="en-US" baseline="-25000" dirty="0" err="1"/>
              <a:t>h</a:t>
            </a:r>
            <a:r>
              <a:rPr lang="en-US" dirty="0"/>
              <a:t>[</a:t>
            </a:r>
            <a:r>
              <a:rPr lang="en-US" i="1" dirty="0"/>
              <a:t>n</a:t>
            </a:r>
            <a:r>
              <a:rPr lang="en-US" dirty="0" smtClean="0"/>
              <a:t>]</a:t>
            </a:r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marL="228600" lvl="1">
              <a:spcBef>
                <a:spcPts val="1000"/>
              </a:spcBef>
              <a:buFont typeface="Wingdings" panose="05000000000000000000" pitchFamily="2" charset="2"/>
              <a:buChar char="p"/>
            </a:pPr>
            <a:r>
              <a:rPr lang="en-US" sz="2800" dirty="0" smtClean="0"/>
              <a:t> </a:t>
            </a:r>
            <a:r>
              <a:rPr lang="en-US" sz="2800" dirty="0" err="1" smtClean="0">
                <a:solidFill>
                  <a:srgbClr val="0000FF"/>
                </a:solidFill>
              </a:rPr>
              <a:t>Eg</a:t>
            </a:r>
            <a:r>
              <a:rPr lang="en-US" sz="2800" dirty="0">
                <a:solidFill>
                  <a:srgbClr val="0000FF"/>
                </a:solidFill>
              </a:rPr>
              <a:t>. </a:t>
            </a:r>
            <a:r>
              <a:rPr lang="en-US" sz="2800" dirty="0" smtClean="0">
                <a:solidFill>
                  <a:srgbClr val="0000FF"/>
                </a:solidFill>
              </a:rPr>
              <a:t>2.15</a:t>
            </a:r>
            <a:endParaRPr lang="en-US" sz="2800" dirty="0">
              <a:solidFill>
                <a:srgbClr val="0000FF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23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§2.4 Differential and Difference </a:t>
            </a:r>
            <a:r>
              <a:rPr lang="en-US" altLang="zh-CN" dirty="0" smtClean="0"/>
              <a:t>Equations</a:t>
            </a:r>
            <a:endParaRPr lang="en-US" dirty="0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1183359"/>
              </p:ext>
            </p:extLst>
          </p:nvPr>
        </p:nvGraphicFramePr>
        <p:xfrm>
          <a:off x="2882301" y="1336514"/>
          <a:ext cx="3108960" cy="777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319" name="公式" r:id="rId3" imgW="1727200" imgH="431800" progId="Equation.3">
                  <p:embed/>
                </p:oleObj>
              </mc:Choice>
              <mc:Fallback>
                <p:oleObj name="公式" r:id="rId3" imgW="1727200" imgH="4318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2301" y="1336514"/>
                        <a:ext cx="3108960" cy="77724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9775323"/>
              </p:ext>
            </p:extLst>
          </p:nvPr>
        </p:nvGraphicFramePr>
        <p:xfrm>
          <a:off x="5440972" y="3248545"/>
          <a:ext cx="1348155" cy="7769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320" name="公式" r:id="rId5" imgW="748975" imgH="431613" progId="Equation.3">
                  <p:embed/>
                </p:oleObj>
              </mc:Choice>
              <mc:Fallback>
                <p:oleObj name="公式" r:id="rId5" imgW="748975" imgH="431613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0972" y="3248545"/>
                        <a:ext cx="1348155" cy="77690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2760909"/>
              </p:ext>
            </p:extLst>
          </p:nvPr>
        </p:nvGraphicFramePr>
        <p:xfrm>
          <a:off x="6928074" y="3248208"/>
          <a:ext cx="2080260" cy="777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321" name="公式" r:id="rId7" imgW="1155700" imgH="431800" progId="Equation.3">
                  <p:embed/>
                </p:oleObj>
              </mc:Choice>
              <mc:Fallback>
                <p:oleObj name="公式" r:id="rId7" imgW="1155700" imgH="4318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28074" y="3248208"/>
                        <a:ext cx="2080260" cy="77724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0212164"/>
              </p:ext>
            </p:extLst>
          </p:nvPr>
        </p:nvGraphicFramePr>
        <p:xfrm>
          <a:off x="4000254" y="3816384"/>
          <a:ext cx="1850857" cy="7769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322" name="公式" r:id="rId9" imgW="1028254" imgH="431613" progId="Equation.3">
                  <p:embed/>
                </p:oleObj>
              </mc:Choice>
              <mc:Fallback>
                <p:oleObj name="公式" r:id="rId9" imgW="1028254" imgH="431613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0254" y="3816384"/>
                        <a:ext cx="1850857" cy="77690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347675"/>
              </p:ext>
            </p:extLst>
          </p:nvPr>
        </p:nvGraphicFramePr>
        <p:xfrm>
          <a:off x="3406140" y="4996505"/>
          <a:ext cx="2331720" cy="777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323" name="公式" r:id="rId11" imgW="1295400" imgH="431800" progId="Equation.3">
                  <p:embed/>
                </p:oleObj>
              </mc:Choice>
              <mc:Fallback>
                <p:oleObj name="公式" r:id="rId11" imgW="1295400" imgH="4318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6140" y="4996505"/>
                        <a:ext cx="2331720" cy="77724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53391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31321" y="1308100"/>
            <a:ext cx="8367621" cy="4868863"/>
          </a:xfrm>
        </p:spPr>
        <p:txBody>
          <a:bodyPr>
            <a:normAutofit/>
          </a:bodyPr>
          <a:lstStyle/>
          <a:p>
            <a:r>
              <a:rPr lang="en-US" dirty="0" smtClean="0"/>
              <a:t> </a:t>
            </a:r>
            <a:r>
              <a:rPr lang="en-US" dirty="0" smtClean="0"/>
              <a:t>The presented content in this document only focuses on </a:t>
            </a:r>
            <a:r>
              <a:rPr lang="en-US" b="1" i="1" dirty="0" smtClean="0">
                <a:solidFill>
                  <a:srgbClr val="C00000"/>
                </a:solidFill>
              </a:rPr>
              <a:t>t </a:t>
            </a:r>
            <a:r>
              <a:rPr lang="en-US" b="1" dirty="0" smtClean="0">
                <a:solidFill>
                  <a:srgbClr val="C00000"/>
                </a:solidFill>
              </a:rPr>
              <a:t>&gt; 0</a:t>
            </a:r>
            <a:r>
              <a:rPr lang="en-US" b="1" baseline="30000" dirty="0" smtClean="0">
                <a:solidFill>
                  <a:srgbClr val="C00000"/>
                </a:solidFill>
              </a:rPr>
              <a:t>+</a:t>
            </a:r>
            <a:r>
              <a:rPr lang="en-US" dirty="0" smtClean="0"/>
              <a:t>. It does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b="1" dirty="0" smtClean="0">
                <a:solidFill>
                  <a:srgbClr val="FF0000"/>
                </a:solidFill>
              </a:rPr>
              <a:t>not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smtClean="0"/>
              <a:t>effectively give a </a:t>
            </a:r>
            <a:r>
              <a:rPr lang="en-US" b="1" dirty="0" smtClean="0">
                <a:solidFill>
                  <a:srgbClr val="C00000"/>
                </a:solidFill>
              </a:rPr>
              <a:t>comprehensive</a:t>
            </a:r>
            <a:r>
              <a:rPr lang="en-US" dirty="0" smtClean="0"/>
              <a:t> solution for -∞ &lt;</a:t>
            </a:r>
            <a:r>
              <a:rPr lang="en-US" i="1" dirty="0" smtClean="0"/>
              <a:t>t </a:t>
            </a:r>
            <a:r>
              <a:rPr lang="en-US" dirty="0" smtClean="0"/>
              <a:t>&lt; ∞</a:t>
            </a:r>
          </a:p>
          <a:p>
            <a:r>
              <a:rPr lang="en-US" dirty="0"/>
              <a:t> </a:t>
            </a:r>
            <a:r>
              <a:rPr lang="en-US" dirty="0" smtClean="0"/>
              <a:t>Natural </a:t>
            </a:r>
            <a:r>
              <a:rPr lang="en-US" dirty="0" smtClean="0"/>
              <a:t>response </a:t>
            </a:r>
            <a:r>
              <a:rPr lang="en-US" altLang="zh-CN" dirty="0" smtClean="0"/>
              <a:t>+ Forced response</a:t>
            </a:r>
          </a:p>
          <a:p>
            <a:pPr lvl="1"/>
            <a:r>
              <a:rPr lang="en-US" altLang="zh-CN" dirty="0" smtClean="0"/>
              <a:t> </a:t>
            </a:r>
            <a:r>
              <a:rPr lang="en-US" dirty="0"/>
              <a:t>Natural </a:t>
            </a:r>
            <a:r>
              <a:rPr lang="en-US" dirty="0" smtClean="0"/>
              <a:t>response: homogeneous</a:t>
            </a:r>
          </a:p>
          <a:p>
            <a:pPr lvl="1"/>
            <a:r>
              <a:rPr lang="en-US" altLang="zh-CN" dirty="0"/>
              <a:t> </a:t>
            </a:r>
            <a:r>
              <a:rPr lang="en-US" altLang="zh-CN" dirty="0" smtClean="0"/>
              <a:t>Forced response: particular</a:t>
            </a:r>
          </a:p>
          <a:p>
            <a:r>
              <a:rPr lang="en-US" dirty="0"/>
              <a:t> </a:t>
            </a:r>
            <a:r>
              <a:rPr lang="en-US" dirty="0" smtClean="0"/>
              <a:t>Zero-input response + Zero-state response</a:t>
            </a:r>
          </a:p>
          <a:p>
            <a:pPr lvl="1"/>
            <a:r>
              <a:rPr lang="en-US" dirty="0" smtClean="0"/>
              <a:t> Zero-input </a:t>
            </a:r>
            <a:r>
              <a:rPr lang="en-US" dirty="0"/>
              <a:t>response: homogeneous</a:t>
            </a:r>
          </a:p>
          <a:p>
            <a:pPr lvl="1"/>
            <a:r>
              <a:rPr lang="en-US" altLang="zh-CN" dirty="0"/>
              <a:t> </a:t>
            </a:r>
            <a:r>
              <a:rPr lang="en-US" dirty="0"/>
              <a:t>Zero-state</a:t>
            </a:r>
            <a:r>
              <a:rPr lang="en-US" altLang="zh-CN" dirty="0" smtClean="0"/>
              <a:t> </a:t>
            </a:r>
            <a:r>
              <a:rPr lang="en-US" altLang="zh-CN" dirty="0"/>
              <a:t>response: </a:t>
            </a:r>
            <a:r>
              <a:rPr lang="en-US" dirty="0" smtClean="0"/>
              <a:t>homogeneous + </a:t>
            </a:r>
            <a:r>
              <a:rPr lang="en-US" altLang="zh-CN" dirty="0" smtClean="0"/>
              <a:t>particular</a:t>
            </a:r>
            <a:endParaRPr lang="en-US" altLang="zh-CN" dirty="0"/>
          </a:p>
          <a:p>
            <a:pPr lvl="1"/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24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 smtClean="0"/>
              <a:t>S1. Time-Domain </a:t>
            </a:r>
            <a:r>
              <a:rPr lang="en-US" altLang="zh-CN" dirty="0"/>
              <a:t>Response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3325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2852</TotalTime>
  <Words>1853</Words>
  <Application>Microsoft Office PowerPoint</Application>
  <PresentationFormat>全屏显示(4:3)</PresentationFormat>
  <Paragraphs>261</Paragraphs>
  <Slides>24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5" baseType="lpstr">
      <vt:lpstr>等线</vt:lpstr>
      <vt:lpstr>宋体</vt:lpstr>
      <vt:lpstr>微软雅黑</vt:lpstr>
      <vt:lpstr>微软雅黑</vt:lpstr>
      <vt:lpstr>Arial</vt:lpstr>
      <vt:lpstr>Cambria Math</vt:lpstr>
      <vt:lpstr>Times New Roman</vt:lpstr>
      <vt:lpstr>Wingdings</vt:lpstr>
      <vt:lpstr>Wingdings 3</vt:lpstr>
      <vt:lpstr>Office 主题​​</vt:lpstr>
      <vt:lpstr>公式</vt:lpstr>
      <vt:lpstr>PowerPoint 演示文稿</vt:lpstr>
      <vt:lpstr>Chapter 2 Brief: Convolution</vt:lpstr>
      <vt:lpstr>Supplementary Material 1 Time-Domain Response </vt:lpstr>
      <vt:lpstr>Outline</vt:lpstr>
      <vt:lpstr>System Description Using Differential Equations </vt:lpstr>
      <vt:lpstr>System Description Using Differential Equations </vt:lpstr>
      <vt:lpstr>System Description Using Differential Equations </vt:lpstr>
      <vt:lpstr>System Description Using Differential Equations </vt:lpstr>
      <vt:lpstr>Homogeneous Solution and Particular Solution</vt:lpstr>
      <vt:lpstr>Homogeneous Solution</vt:lpstr>
      <vt:lpstr>Particular Solution</vt:lpstr>
      <vt:lpstr>Examples to Find Particular Solution</vt:lpstr>
      <vt:lpstr>How to Find Coefficients {Ak}</vt:lpstr>
      <vt:lpstr>Steps to Find Complete Solution</vt:lpstr>
      <vt:lpstr>Initial Conditions (初始条件)</vt:lpstr>
      <vt:lpstr>Example: Initial Conditions with Initial Rest</vt:lpstr>
      <vt:lpstr>Example: Initial Conditions with Initial Rest (cont’)</vt:lpstr>
      <vt:lpstr>Zero-Input Response and Zero-State Response</vt:lpstr>
      <vt:lpstr>Zero-Input Response and Zero-State Response</vt:lpstr>
      <vt:lpstr>Example with non-zero pre-initial states</vt:lpstr>
      <vt:lpstr>Impulse Response: Find Initial States by Matching the Singularity Equations (1)</vt:lpstr>
      <vt:lpstr>Impulse Response: Find Initial States by Matching the Singularity Equations (2)</vt:lpstr>
      <vt:lpstr>Linear Constant-Coefficient Difference Equation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Hanjun Jiang</dc:creator>
  <cp:lastModifiedBy>Hanjun Jiang</cp:lastModifiedBy>
  <cp:revision>244</cp:revision>
  <dcterms:created xsi:type="dcterms:W3CDTF">2018-09-11T08:26:55Z</dcterms:created>
  <dcterms:modified xsi:type="dcterms:W3CDTF">2020-09-30T07:19:27Z</dcterms:modified>
</cp:coreProperties>
</file>