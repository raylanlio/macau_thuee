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471" r:id="rId2"/>
    <p:sldId id="256" r:id="rId3"/>
    <p:sldId id="287" r:id="rId4"/>
    <p:sldId id="425" r:id="rId5"/>
    <p:sldId id="424" r:id="rId6"/>
    <p:sldId id="423" r:id="rId7"/>
    <p:sldId id="426" r:id="rId8"/>
    <p:sldId id="427" r:id="rId9"/>
    <p:sldId id="428" r:id="rId10"/>
    <p:sldId id="429" r:id="rId11"/>
    <p:sldId id="430" r:id="rId12"/>
    <p:sldId id="431" r:id="rId13"/>
    <p:sldId id="432" r:id="rId14"/>
    <p:sldId id="433" r:id="rId15"/>
    <p:sldId id="434" r:id="rId16"/>
    <p:sldId id="435" r:id="rId17"/>
    <p:sldId id="436" r:id="rId18"/>
    <p:sldId id="437" r:id="rId19"/>
    <p:sldId id="438" r:id="rId20"/>
    <p:sldId id="440" r:id="rId21"/>
    <p:sldId id="439" r:id="rId22"/>
    <p:sldId id="441" r:id="rId23"/>
    <p:sldId id="442" r:id="rId24"/>
    <p:sldId id="443" r:id="rId25"/>
    <p:sldId id="445" r:id="rId26"/>
    <p:sldId id="444" r:id="rId27"/>
    <p:sldId id="446" r:id="rId28"/>
    <p:sldId id="447" r:id="rId29"/>
    <p:sldId id="448" r:id="rId30"/>
    <p:sldId id="449" r:id="rId31"/>
    <p:sldId id="450" r:id="rId32"/>
    <p:sldId id="451" r:id="rId33"/>
    <p:sldId id="453" r:id="rId34"/>
    <p:sldId id="454" r:id="rId35"/>
    <p:sldId id="455" r:id="rId36"/>
    <p:sldId id="456" r:id="rId37"/>
    <p:sldId id="452" r:id="rId38"/>
    <p:sldId id="457" r:id="rId39"/>
    <p:sldId id="458" r:id="rId40"/>
    <p:sldId id="459" r:id="rId41"/>
    <p:sldId id="460" r:id="rId42"/>
    <p:sldId id="462" r:id="rId43"/>
    <p:sldId id="463" r:id="rId44"/>
    <p:sldId id="464" r:id="rId45"/>
    <p:sldId id="465" r:id="rId46"/>
    <p:sldId id="466" r:id="rId47"/>
    <p:sldId id="467" r:id="rId48"/>
    <p:sldId id="468" r:id="rId49"/>
    <p:sldId id="469" r:id="rId50"/>
    <p:sldId id="470" r:id="rId5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9" d="100"/>
          <a:sy n="89" d="100"/>
        </p:scale>
        <p:origin x="117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65A7-DFD5-4551-9E93-CC0B196D68A3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CD5FA-AD32-4B9A-9235-7F5254E91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529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902465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842667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533363" y="0"/>
            <a:ext cx="4610638" cy="29751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62892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0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55335" y="57929"/>
            <a:ext cx="428866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2436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792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3382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162174"/>
            <a:ext cx="3868340" cy="39338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382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162175"/>
            <a:ext cx="3887391" cy="393382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29577" y="57929"/>
            <a:ext cx="4314423" cy="22384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973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752305" y="57929"/>
            <a:ext cx="4391696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9481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468969" y="0"/>
            <a:ext cx="4675031" cy="281767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2501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90984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7631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2100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37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50EC97-E344-49BB-AF44-3FA9C701273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1728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08100"/>
            <a:ext cx="7886700" cy="486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86F5DB48-3968-470F-BA12-55E81E00432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176963"/>
            <a:ext cx="282083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19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5.wmf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51.png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5A83C2-4C6C-40EF-9115-166580DD2CEC}"/>
              </a:ext>
            </a:extLst>
          </p:cNvPr>
          <p:cNvSpPr/>
          <p:nvPr/>
        </p:nvSpPr>
        <p:spPr>
          <a:xfrm>
            <a:off x="293032" y="1070392"/>
            <a:ext cx="2792752" cy="36240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荷塘</a:t>
            </a: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雨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课堂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播放</a:t>
            </a:r>
            <a:r>
              <a:rPr lang="en-US" altLang="zh-CN" sz="2400" b="1" dirty="0" err="1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ppt</a:t>
            </a: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腾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讯会议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双向语音</a:t>
            </a:r>
            <a:r>
              <a:rPr lang="en-US" altLang="zh-CN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视频</a:t>
            </a: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交流</a:t>
            </a:r>
            <a:endParaRPr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3CD6244-59FA-48DB-B6C7-5D03B2902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3" y="324409"/>
            <a:ext cx="1885793" cy="59415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3287808"/>
            <a:ext cx="58144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腾讯会议（请保持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静音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，一般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关闭摄像头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，发言前解除静音）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1256337"/>
            <a:ext cx="59893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荷塘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雨课堂（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请关闭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，可以点名、白板、做题、弹幕等）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762440" y="4769481"/>
            <a:ext cx="7924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雨课堂可以看</a:t>
            </a:r>
            <a:r>
              <a:rPr lang="en-US" altLang="zh-CN" sz="2800" i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，腾讯会议可以看现场板书，</a:t>
            </a:r>
            <a:endParaRPr lang="en-US" altLang="zh-CN" sz="28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建议分别用两个终端打开。</a:t>
            </a:r>
            <a:endParaRPr lang="en-US" altLang="zh-CN" sz="28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加号 2"/>
          <p:cNvSpPr/>
          <p:nvPr/>
        </p:nvSpPr>
        <p:spPr bwMode="auto">
          <a:xfrm>
            <a:off x="1329368" y="2507286"/>
            <a:ext cx="720080" cy="652140"/>
          </a:xfrm>
          <a:prstGeom prst="mathPlus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16" t="-14343"/>
          <a:stretch/>
        </p:blipFill>
        <p:spPr>
          <a:xfrm>
            <a:off x="5840426" y="260648"/>
            <a:ext cx="2668450" cy="657916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451476" y="6397413"/>
            <a:ext cx="2057400" cy="365125"/>
          </a:xfrm>
        </p:spPr>
        <p:txBody>
          <a:bodyPr/>
          <a:lstStyle/>
          <a:p>
            <a:fld id="{8550EC97-E344-49BB-AF44-3FA9C7012734}" type="slidenum">
              <a:rPr lang="ko-KR" altLang="en-US" smtClean="0"/>
              <a:pPr/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12973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14068" y="1122363"/>
            <a:ext cx="8402127" cy="238760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Chapter 10</a:t>
            </a:r>
            <a:r>
              <a:rPr lang="en-US" altLang="zh-CN" dirty="0"/>
              <a:t> </a:t>
            </a:r>
            <a:r>
              <a:rPr lang="en-US" altLang="zh-CN" dirty="0" smtClean="0"/>
              <a:t>The </a:t>
            </a:r>
            <a:r>
              <a:rPr lang="en-US" altLang="zh-CN" i="1" dirty="0" smtClean="0"/>
              <a:t>z</a:t>
            </a:r>
            <a:r>
              <a:rPr lang="en-US" altLang="zh-CN" dirty="0" smtClean="0"/>
              <a:t>-Transform</a:t>
            </a:r>
            <a:endParaRPr lang="zh-CN" altLang="en-US" sz="49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437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Definition of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</a:p>
          <a:p>
            <a:r>
              <a:rPr lang="en-US" dirty="0" smtClean="0"/>
              <a:t>Region of Convergence of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</a:p>
          <a:p>
            <a:r>
              <a:rPr lang="en-US" dirty="0" smtClean="0"/>
              <a:t>Inverse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</a:p>
          <a:p>
            <a:r>
              <a:rPr lang="en-US" dirty="0"/>
              <a:t>Geometric </a:t>
            </a:r>
            <a:r>
              <a:rPr lang="en-US" dirty="0" smtClean="0"/>
              <a:t>Evaluation of </a:t>
            </a:r>
            <a:r>
              <a:rPr lang="en-US" i="1" dirty="0"/>
              <a:t>z</a:t>
            </a:r>
            <a:r>
              <a:rPr lang="en-US" dirty="0"/>
              <a:t>-Transform</a:t>
            </a:r>
          </a:p>
          <a:p>
            <a:r>
              <a:rPr lang="en-US" i="1" dirty="0" smtClean="0"/>
              <a:t>z</a:t>
            </a:r>
            <a:r>
              <a:rPr lang="en-US" dirty="0" smtClean="0"/>
              <a:t>-Transform Properties</a:t>
            </a:r>
          </a:p>
          <a:p>
            <a:r>
              <a:rPr lang="en-US" dirty="0" smtClean="0"/>
              <a:t>LTI </a:t>
            </a:r>
            <a:r>
              <a:rPr lang="en-US" dirty="0"/>
              <a:t>System </a:t>
            </a:r>
            <a:r>
              <a:rPr lang="en-US" altLang="zh-CN" dirty="0"/>
              <a:t>Analysis </a:t>
            </a:r>
            <a:r>
              <a:rPr lang="en-US" dirty="0"/>
              <a:t>Using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</a:p>
          <a:p>
            <a:r>
              <a:rPr lang="en-US" dirty="0" smtClean="0"/>
              <a:t>System Block Diagram</a:t>
            </a:r>
            <a:endParaRPr lang="en-US" dirty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77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Recall</a:t>
            </a:r>
            <a:r>
              <a:rPr lang="en-US" sz="3600" dirty="0"/>
              <a:t>: Discrete-time Fourier transform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208" y="1322632"/>
            <a:ext cx="8535924" cy="3164379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Discrete-time Fourier transform pair</a:t>
            </a:r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§10.1 </a:t>
            </a:r>
            <a:r>
              <a:rPr lang="en-US" dirty="0" smtClean="0"/>
              <a:t>Definition of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>
                <a:spLocks noChangeAspect="1"/>
              </p:cNvSpPr>
              <p:nvPr/>
            </p:nvSpPr>
            <p:spPr>
              <a:xfrm>
                <a:off x="4089087" y="2385374"/>
                <a:ext cx="3370061" cy="862224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087" y="2385374"/>
                <a:ext cx="3370061" cy="8622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>
                <a:spLocks noChangeAspect="1"/>
              </p:cNvSpPr>
              <p:nvPr/>
            </p:nvSpPr>
            <p:spPr>
              <a:xfrm>
                <a:off x="4089087" y="3899687"/>
                <a:ext cx="3370061" cy="676467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087" y="3899687"/>
                <a:ext cx="3370061" cy="6764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1271706" y="2651188"/>
            <a:ext cx="250774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equation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71706" y="3985476"/>
            <a:ext cx="250774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 equation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6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 of </a:t>
            </a:r>
            <a:r>
              <a:rPr lang="en-US" altLang="zh-CN" i="1" dirty="0" smtClean="0"/>
              <a:t>z</a:t>
            </a:r>
            <a:r>
              <a:rPr lang="en-US" altLang="zh-CN" dirty="0" smtClean="0"/>
              <a:t>-Transform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 </a:t>
                </a:r>
                <a:r>
                  <a:rPr lang="en-US" u="sng" dirty="0" smtClean="0">
                    <a:solidFill>
                      <a:srgbClr val="C00000"/>
                    </a:solidFill>
                  </a:rPr>
                  <a:t>Recall:</a:t>
                </a:r>
                <a:r>
                  <a:rPr 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dirty="0" smtClean="0"/>
                  <a:t>LTI system with impulse response </a:t>
                </a:r>
                <a:r>
                  <a:rPr lang="en-US" i="1" dirty="0" smtClean="0"/>
                  <a:t>h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</a:t>
                </a:r>
              </a:p>
              <a:p>
                <a:pPr lvl="1"/>
                <a:r>
                  <a:rPr lang="en-US" dirty="0" smtClean="0"/>
                  <a:t> Output (</a:t>
                </a:r>
                <a:r>
                  <a:rPr lang="en-US" b="1" dirty="0">
                    <a:solidFill>
                      <a:srgbClr val="C00000"/>
                    </a:solidFill>
                  </a:rPr>
                  <a:t>sum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convolution</a:t>
                </a:r>
                <a:r>
                  <a:rPr lang="en-US" dirty="0" smtClean="0"/>
                  <a:t>)</a:t>
                </a:r>
              </a:p>
              <a:p>
                <a:pPr lvl="1"/>
                <a:r>
                  <a:rPr lang="en-US" dirty="0" smtClean="0"/>
                  <a:t> System response to</a:t>
                </a:r>
              </a:p>
              <a:p>
                <a:pPr marL="457200" lvl="1" indent="0">
                  <a:buNone/>
                </a:pPr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System function 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is the discrete-time Fourier Transform of </a:t>
                </a:r>
                <a:r>
                  <a:rPr lang="en-US" i="1" dirty="0"/>
                  <a:t>h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/>
                  <a:t>]</a:t>
                </a:r>
              </a:p>
              <a:p>
                <a:r>
                  <a:rPr lang="en-US" dirty="0" smtClean="0"/>
                  <a:t> Define </a:t>
                </a:r>
                <a:r>
                  <a:rPr lang="en-US" b="1" i="1" dirty="0" smtClean="0">
                    <a:solidFill>
                      <a:srgbClr val="C00000"/>
                    </a:solidFill>
                  </a:rPr>
                  <a:t>z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-transform</a:t>
                </a:r>
                <a:r>
                  <a:rPr lang="en-US" dirty="0" smtClean="0"/>
                  <a:t> for discrete-time signal </a:t>
                </a:r>
                <a:r>
                  <a:rPr lang="en-US" altLang="zh-CN" i="1" dirty="0" smtClean="0"/>
                  <a:t>x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/>
                  <a:t>]</a:t>
                </a: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14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§10.1 Definition of </a:t>
            </a:r>
            <a:r>
              <a:rPr lang="en-US" i="1" dirty="0"/>
              <a:t>z</a:t>
            </a:r>
            <a:r>
              <a:rPr lang="en-US" dirty="0"/>
              <a:t>-Transform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5546320"/>
              </p:ext>
            </p:extLst>
          </p:nvPr>
        </p:nvGraphicFramePr>
        <p:xfrm>
          <a:off x="4846871" y="1587897"/>
          <a:ext cx="2536358" cy="77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413" name="公式" r:id="rId4" imgW="1409088" imgH="431613" progId="Equation.3">
                  <p:embed/>
                </p:oleObj>
              </mc:Choice>
              <mc:Fallback>
                <p:oleObj name="公式" r:id="rId4" imgW="1409088" imgH="431613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6871" y="1587897"/>
                        <a:ext cx="2536358" cy="7769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362948"/>
              </p:ext>
            </p:extLst>
          </p:nvPr>
        </p:nvGraphicFramePr>
        <p:xfrm>
          <a:off x="3937905" y="2152173"/>
          <a:ext cx="319763" cy="342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414" name="公式" r:id="rId6" imgW="177646" imgH="190335" progId="Equation.3">
                  <p:embed/>
                </p:oleObj>
              </mc:Choice>
              <mc:Fallback>
                <p:oleObj name="公式" r:id="rId6" imgW="177646" imgH="190335" progId="Equation.3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905" y="2152173"/>
                        <a:ext cx="319763" cy="342603"/>
                      </a:xfrm>
                      <a:prstGeom prst="rect">
                        <a:avLst/>
                      </a:prstGeom>
                      <a:noFill/>
                      <a:ln w="222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995888"/>
              </p:ext>
            </p:extLst>
          </p:nvPr>
        </p:nvGraphicFramePr>
        <p:xfrm>
          <a:off x="4407894" y="2779953"/>
          <a:ext cx="1707156" cy="617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415" name="公式" r:id="rId8" imgW="1193800" imgH="431800" progId="Equation.3">
                  <p:embed/>
                </p:oleObj>
              </mc:Choice>
              <mc:Fallback>
                <p:oleObj name="公式" r:id="rId8" imgW="1193800" imgH="431800" progId="Equation.3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7894" y="2779953"/>
                        <a:ext cx="1707156" cy="617482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299501"/>
              </p:ext>
            </p:extLst>
          </p:nvPr>
        </p:nvGraphicFramePr>
        <p:xfrm>
          <a:off x="2451866" y="2534344"/>
          <a:ext cx="164592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416" name="公式" r:id="rId10" imgW="914400" imgH="228600" progId="Equation.3">
                  <p:embed/>
                </p:oleObj>
              </mc:Choice>
              <mc:Fallback>
                <p:oleObj name="公式" r:id="rId10" imgW="914400" imgH="228600" progId="Equation.3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866" y="2534344"/>
                        <a:ext cx="1645920" cy="411480"/>
                      </a:xfrm>
                      <a:prstGeom prst="rect">
                        <a:avLst/>
                      </a:prstGeom>
                      <a:noFill/>
                      <a:ln w="222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5520483" y="5278051"/>
                <a:ext cx="1955475" cy="630237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]</m:t>
                      </m:r>
                      <m:groupChr>
                        <m:groupChrPr>
                          <m:chr m:val="↔"/>
                          <m:vertJc m:val="bot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𝓏</m:t>
                          </m:r>
                        </m:e>
                      </m:groupChr>
                      <m:r>
                        <a:rPr lang="en-US" sz="28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483" y="5278051"/>
                <a:ext cx="1955475" cy="63023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1980171" y="5119258"/>
                <a:ext cx="2744229" cy="947824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)≜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171" y="5119258"/>
                <a:ext cx="2744229" cy="94782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935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28649" y="365126"/>
            <a:ext cx="8204065" cy="79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DT Fourier transform vs. </a:t>
            </a:r>
            <a:r>
              <a:rPr lang="en-US" altLang="zh-CN" i="1" dirty="0"/>
              <a:t>z</a:t>
            </a:r>
            <a:r>
              <a:rPr lang="en-US" altLang="zh-CN" dirty="0"/>
              <a:t>-Transform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 Complex variable </a:t>
                </a:r>
                <a:r>
                  <a:rPr lang="en-US" i="1" dirty="0" smtClean="0"/>
                  <a:t>z</a:t>
                </a:r>
                <a:r>
                  <a:rPr lang="en-US" dirty="0" smtClean="0"/>
                  <a:t> in polar 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r>
                  <a:rPr lang="en-US" dirty="0" smtClean="0"/>
                  <a:t>  z-transform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z</a:t>
                </a:r>
                <a:r>
                  <a:rPr lang="en-US" dirty="0" smtClean="0"/>
                  <a:t>) becomes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 </a:t>
                </a:r>
              </a:p>
              <a:p>
                <a:r>
                  <a:rPr lang="en-US" altLang="zh-CN" dirty="0" smtClean="0"/>
                  <a:t>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Particularly, </a:t>
                </a:r>
                <a:r>
                  <a:rPr lang="en-US" i="1" dirty="0" smtClean="0"/>
                  <a:t>r</a:t>
                </a:r>
                <a:r>
                  <a:rPr lang="en-US" dirty="0" smtClean="0"/>
                  <a:t>=1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内容占位符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18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§10.1 Definition of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911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DT </a:t>
            </a:r>
            <a:r>
              <a:rPr lang="en-US" dirty="0" smtClean="0"/>
              <a:t>FT vs</a:t>
            </a:r>
            <a:r>
              <a:rPr lang="en-US" dirty="0"/>
              <a:t>. </a:t>
            </a:r>
            <a:r>
              <a:rPr lang="en-US" altLang="zh-CN" i="1" dirty="0" smtClean="0"/>
              <a:t>z</a:t>
            </a:r>
            <a:r>
              <a:rPr lang="en-US" altLang="zh-CN" dirty="0" smtClean="0"/>
              <a:t>-Transform (</a:t>
            </a:r>
            <a:r>
              <a:rPr lang="en-US" altLang="zh-CN" dirty="0" err="1" smtClean="0"/>
              <a:t>cont</a:t>
            </a:r>
            <a:r>
              <a:rPr lang="en-US" altLang="zh-CN" dirty="0" smtClean="0"/>
              <a:t>’)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§10.1 Definition of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273" y="1488253"/>
            <a:ext cx="4152005" cy="38508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505983" y="5515189"/>
                <a:ext cx="4470583" cy="5126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983" y="5515189"/>
                <a:ext cx="4470583" cy="5126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6597841" y="3561079"/>
            <a:ext cx="2132091" cy="1323439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in the </a:t>
            </a:r>
            <a:r>
              <a:rPr lang="en-US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-plane is equivalent to the unit cycle in </a:t>
            </a:r>
            <a:r>
              <a:rPr lang="en-US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-plane?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60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Rational z-Transform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Rational z-transform</a:t>
                </a:r>
                <a:r>
                  <a:rPr lang="en-US" dirty="0" smtClean="0"/>
                  <a:t>: the z-transform </a:t>
                </a:r>
                <a:r>
                  <a:rPr lang="en-US" dirty="0"/>
                  <a:t>is </a:t>
                </a:r>
                <a:r>
                  <a:rPr lang="en-US" dirty="0" smtClean="0"/>
                  <a:t>ratio </a:t>
                </a:r>
                <a:r>
                  <a:rPr lang="en-US" dirty="0"/>
                  <a:t>of rational functions (polynomials) </a:t>
                </a: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r>
                  <a:rPr lang="en-US" dirty="0" smtClean="0"/>
                  <a:t> </a:t>
                </a:r>
                <a:r>
                  <a:rPr lang="en-US" b="1" dirty="0">
                    <a:solidFill>
                      <a:srgbClr val="C00000"/>
                    </a:solidFill>
                  </a:rPr>
                  <a:t>Zeros:</a:t>
                </a:r>
                <a:r>
                  <a:rPr lang="en-US" dirty="0"/>
                  <a:t> roots of numerator polynomial 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z</a:t>
                </a:r>
                <a:r>
                  <a:rPr lang="en-US" dirty="0" smtClean="0"/>
                  <a:t>)</a:t>
                </a:r>
                <a:endParaRPr lang="en-US" dirty="0"/>
              </a:p>
              <a:p>
                <a:r>
                  <a:rPr lang="en-US" dirty="0"/>
                  <a:t> </a:t>
                </a:r>
                <a:r>
                  <a:rPr lang="en-US" b="1" dirty="0">
                    <a:solidFill>
                      <a:srgbClr val="C00000"/>
                    </a:solidFill>
                  </a:rPr>
                  <a:t>Poles:</a:t>
                </a:r>
                <a:r>
                  <a:rPr lang="en-US" dirty="0"/>
                  <a:t> roots of denominator polynomial </a:t>
                </a:r>
                <a:r>
                  <a:rPr lang="en-US" i="1" dirty="0" smtClean="0"/>
                  <a:t>D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z</a:t>
                </a:r>
                <a:r>
                  <a:rPr lang="en-US" dirty="0" smtClean="0"/>
                  <a:t>)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pole-zero plot in the </a:t>
                </a:r>
                <a:r>
                  <a:rPr lang="en-US" i="1" dirty="0" smtClean="0"/>
                  <a:t>z</a:t>
                </a:r>
                <a:r>
                  <a:rPr lang="en-US" dirty="0" smtClean="0"/>
                  <a:t>-plane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§10.1 Definition of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786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 10.1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82101" y="1308100"/>
                <a:ext cx="8667345" cy="1814479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]=</a:t>
                </a:r>
                <a:r>
                  <a:rPr lang="en-US" i="1" dirty="0" err="1" smtClean="0"/>
                  <a:t>a</a:t>
                </a:r>
                <a:r>
                  <a:rPr lang="en-US" i="1" baseline="30000" dirty="0" err="1" smtClean="0"/>
                  <a:t>n</a:t>
                </a:r>
                <a:r>
                  <a:rPr lang="en-US" i="1" dirty="0" err="1" smtClean="0"/>
                  <a:t>u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en-US" dirty="0" smtClean="0"/>
              </a:p>
              <a:p>
                <a:r>
                  <a:rPr lang="en-US" dirty="0" smtClean="0"/>
                  <a:t> </a:t>
                </a:r>
                <a:r>
                  <a:rPr lang="en-US" altLang="zh-CN" dirty="0" smtClean="0"/>
                  <a:t>I</a:t>
                </a:r>
                <a:r>
                  <a:rPr lang="en-US" dirty="0" smtClean="0"/>
                  <a:t>n the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region of convergence </a:t>
                </a:r>
                <a:r>
                  <a:rPr lang="en-US" dirty="0" smtClean="0"/>
                  <a:t>(R</a:t>
                </a:r>
                <a:r>
                  <a:rPr lang="en-US" altLang="zh-CN" dirty="0" smtClean="0"/>
                  <a:t>OC) </a:t>
                </a:r>
                <a:r>
                  <a:rPr lang="en-US" dirty="0" smtClean="0"/>
                  <a:t>given by 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 smtClean="0"/>
                  <a:t>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2101" y="1308100"/>
                <a:ext cx="8667345" cy="1814479"/>
              </a:xfrm>
              <a:blipFill>
                <a:blip r:embed="rId2"/>
                <a:stretch>
                  <a:fillRect l="-914" t="-38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§10.1 Definition of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769" y="3122579"/>
            <a:ext cx="3743900" cy="341633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115050" y="3862637"/>
            <a:ext cx="2737120" cy="707886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the condition that  DT FT converges?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115050" y="4749911"/>
            <a:ext cx="2737120" cy="707886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ROC includes the unit cycle.</a:t>
            </a:r>
          </a:p>
        </p:txBody>
      </p:sp>
      <p:sp>
        <p:nvSpPr>
          <p:cNvPr id="10" name="矩形 9"/>
          <p:cNvSpPr/>
          <p:nvPr/>
        </p:nvSpPr>
        <p:spPr>
          <a:xfrm>
            <a:off x="628650" y="4780688"/>
            <a:ext cx="13808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pole-zero plot </a:t>
            </a:r>
          </a:p>
        </p:txBody>
      </p:sp>
    </p:spTree>
    <p:extLst>
      <p:ext uri="{BB962C8B-B14F-4D97-AF65-F5344CB8AC3E}">
        <p14:creationId xmlns:p14="http://schemas.microsoft.com/office/powerpoint/2010/main" val="1197531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</a:t>
            </a:r>
            <a:r>
              <a:rPr lang="en-US" altLang="zh-CN" dirty="0" smtClean="0"/>
              <a:t>10.2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0"/>
                <a:ext cx="7886700" cy="2427321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i="1" dirty="0"/>
                  <a:t>x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 smtClean="0"/>
                  <a:t>]=-</a:t>
                </a:r>
                <a:r>
                  <a:rPr lang="en-US" i="1" dirty="0" err="1" smtClean="0"/>
                  <a:t>a</a:t>
                </a:r>
                <a:r>
                  <a:rPr lang="en-US" i="1" baseline="30000" dirty="0" err="1" smtClean="0"/>
                  <a:t>n</a:t>
                </a:r>
                <a:r>
                  <a:rPr lang="en-US" i="1" dirty="0" err="1" smtClean="0"/>
                  <a:t>u</a:t>
                </a:r>
                <a:r>
                  <a:rPr lang="en-US" dirty="0" smtClean="0"/>
                  <a:t>[-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-1]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</a:t>
                </a:r>
                <a:r>
                  <a:rPr lang="en-US" altLang="zh-CN" dirty="0"/>
                  <a:t>I</a:t>
                </a:r>
                <a:r>
                  <a:rPr lang="en-US" dirty="0"/>
                  <a:t>n the </a:t>
                </a:r>
                <a:r>
                  <a:rPr lang="en-US" b="1" dirty="0">
                    <a:solidFill>
                      <a:srgbClr val="C00000"/>
                    </a:solidFill>
                  </a:rPr>
                  <a:t>region of convergence </a:t>
                </a:r>
                <a:r>
                  <a:rPr lang="en-US" dirty="0"/>
                  <a:t>(R</a:t>
                </a:r>
                <a:r>
                  <a:rPr lang="en-US" altLang="zh-CN" dirty="0"/>
                  <a:t>OC) </a:t>
                </a:r>
                <a:r>
                  <a:rPr lang="en-US" dirty="0"/>
                  <a:t>given by </a:t>
                </a:r>
              </a:p>
              <a:p>
                <a:pPr marL="0" indent="0">
                  <a:buNone/>
                </a:pPr>
                <a:r>
                  <a:rPr lang="en-US" dirty="0"/>
                  <a:t>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0"/>
                <a:ext cx="7886700" cy="2427321"/>
              </a:xfrm>
              <a:blipFill>
                <a:blip r:embed="rId2"/>
                <a:stretch>
                  <a:fillRect l="-696" t="-50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§10.1 Definition of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114" y="3392554"/>
            <a:ext cx="3648107" cy="332892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115050" y="3862637"/>
            <a:ext cx="2017273" cy="707886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make DT FT converge?</a:t>
            </a:r>
          </a:p>
        </p:txBody>
      </p:sp>
    </p:spTree>
    <p:extLst>
      <p:ext uri="{BB962C8B-B14F-4D97-AF65-F5344CB8AC3E}">
        <p14:creationId xmlns:p14="http://schemas.microsoft.com/office/powerpoint/2010/main" val="2993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 10.3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7886700" cy="3049890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70000"/>
                  </a:lnSpc>
                  <a:spcAft>
                    <a:spcPts val="600"/>
                  </a:spcAft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=7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−6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70000"/>
                  </a:lnSpc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 smtClean="0"/>
                  <a:t>, ROC1: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 smtClean="0"/>
                  <a:t>, 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70000"/>
                  </a:lnSpc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, </a:t>
                </a:r>
                <a:r>
                  <a:rPr lang="en-US" dirty="0" smtClean="0"/>
                  <a:t>ROC2: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/>
                  <a:t>, 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7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700">
                        <a:latin typeface="Cambria Math" panose="02040503050406030204" pitchFamily="18" charset="0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lang="en-US" sz="2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70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7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70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270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27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lang="en-US" sz="2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sz="27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70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sz="270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27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sz="2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sz="27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70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27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sz="2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d>
                          <m:dPr>
                            <m:ctrlPr>
                              <a:rPr lang="en-US" sz="2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27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7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70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sz="27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70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270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ctrlPr>
                              <a:rPr lang="en-US" sz="2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27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7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7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sz="27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70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270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a:rPr lang="en-US" sz="27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700">
                            <a:latin typeface="Cambria Math" panose="02040503050406030204" pitchFamily="18" charset="0"/>
                          </a:rPr>
                          <m:t>𝑧</m:t>
                        </m:r>
                        <m:d>
                          <m:dPr>
                            <m:ctrlPr>
                              <a:rPr lang="en-US" sz="2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7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70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sz="27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sz="2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7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7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70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US" sz="2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27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7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7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7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endParaRPr lang="en-US" sz="2700" dirty="0"/>
              </a:p>
              <a:p>
                <a:pPr marL="0" indent="0">
                  <a:lnSpc>
                    <a:spcPct val="70000"/>
                  </a:lnSpc>
                  <a:spcAft>
                    <a:spcPts val="600"/>
                  </a:spcAft>
                  <a:buNone/>
                </a:pPr>
                <a:r>
                  <a:rPr lang="en-US" dirty="0" smtClean="0"/>
                  <a:t>	ROC=ROC1∩ROC2: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7886700" cy="3049890"/>
              </a:xfrm>
              <a:blipFill>
                <a:blip r:embed="rId2"/>
                <a:stretch>
                  <a:fillRect l="-1005" t="-3200" b="-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§10.1 </a:t>
            </a:r>
            <a:r>
              <a:rPr lang="en-US" dirty="0" err="1" smtClean="0"/>
              <a:t>Definitionof</a:t>
            </a:r>
            <a:r>
              <a:rPr lang="en-US" dirty="0" smtClean="0"/>
              <a:t> </a:t>
            </a:r>
            <a:r>
              <a:rPr lang="en-US" i="1" dirty="0"/>
              <a:t>z</a:t>
            </a:r>
            <a:r>
              <a:rPr lang="en-US" dirty="0"/>
              <a:t>-Transform</a:t>
            </a:r>
          </a:p>
          <a:p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54" y="4039671"/>
            <a:ext cx="2887650" cy="2635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1052" y="4039671"/>
            <a:ext cx="2887650" cy="2635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3201" y="4039671"/>
            <a:ext cx="2887650" cy="2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404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 10.4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59923" y="1308101"/>
                <a:ext cx="8706255" cy="4703594"/>
              </a:xfrm>
            </p:spPr>
            <p:txBody>
              <a:bodyPr/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 smtClean="0"/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sup>
                        </m:sSup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sup>
                        </m:sSup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       ROC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r>
                  <a:rPr lang="en-US" sz="2000" dirty="0" smtClean="0"/>
                  <a:t> &amp;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altLang="zh-CN" dirty="0" smtClean="0"/>
                  <a:t>Actual ROC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9923" y="1308101"/>
                <a:ext cx="8706255" cy="4703594"/>
              </a:xfrm>
              <a:blipFill>
                <a:blip r:embed="rId2"/>
                <a:stretch>
                  <a:fillRect l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§10.1 Definition of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881" y="3035031"/>
            <a:ext cx="3933021" cy="358890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8650" y="5161105"/>
            <a:ext cx="4079537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rational expression? Zero(s)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21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z</a:t>
            </a:r>
            <a:r>
              <a:rPr lang="en-US" dirty="0"/>
              <a:t>-Transform ROC Property </a:t>
            </a:r>
            <a:r>
              <a:rPr lang="en-US" dirty="0" smtClean="0"/>
              <a:t>(1)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 smtClean="0"/>
                  <a:t> Convergence</a:t>
                </a:r>
                <a:r>
                  <a:rPr lang="en-US" altLang="zh-CN" dirty="0" smtClean="0"/>
                  <a:t> of </a:t>
                </a:r>
                <a:r>
                  <a:rPr lang="en-US" altLang="zh-CN" i="1" dirty="0" smtClean="0"/>
                  <a:t>X</a:t>
                </a:r>
                <a:r>
                  <a:rPr lang="en-US" altLang="zh-CN" dirty="0" smtClean="0"/>
                  <a:t>(</a:t>
                </a:r>
                <a:r>
                  <a:rPr lang="en-US" altLang="zh-CN" i="1" dirty="0" smtClean="0"/>
                  <a:t>z</a:t>
                </a:r>
                <a:r>
                  <a:rPr lang="en-US" altLang="zh-CN" dirty="0" smtClean="0"/>
                  <a:t>) is just the converge of DT FT of 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Based on Dirichlet conditions, ROC of 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z</a:t>
                </a:r>
                <a:r>
                  <a:rPr lang="en-US" altLang="zh-CN" dirty="0"/>
                  <a:t>)</a:t>
                </a:r>
                <a:r>
                  <a:rPr lang="en-US" dirty="0" smtClean="0"/>
                  <a:t> is given by the absolute </a:t>
                </a:r>
                <a:r>
                  <a:rPr lang="en-US" dirty="0" err="1" smtClean="0"/>
                  <a:t>summable</a:t>
                </a:r>
                <a:r>
                  <a:rPr lang="en-US" dirty="0" smtClean="0"/>
                  <a:t> condition:</a:t>
                </a:r>
              </a:p>
              <a:p>
                <a:pPr marL="0" indent="0">
                  <a:buNone/>
                </a:pPr>
                <a:r>
                  <a:rPr lang="en-US" dirty="0" smtClean="0"/>
                  <a:t>	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nary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 smtClean="0"/>
                  <a:t>   </a:t>
                </a:r>
                <a:r>
                  <a:rPr lang="en-US" altLang="zh-CN" dirty="0" smtClean="0">
                    <a:sym typeface="Wingdings" panose="05000000000000000000" pitchFamily="2" charset="2"/>
                  </a:rPr>
                  <a:t> </a:t>
                </a:r>
                <a:r>
                  <a:rPr lang="en-US" altLang="zh-CN" u="sng" dirty="0" smtClean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ROC is only related to </a:t>
                </a:r>
                <a:r>
                  <a:rPr lang="en-US" altLang="zh-CN" i="1" u="sng" dirty="0" smtClean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r</a:t>
                </a:r>
                <a:r>
                  <a:rPr lang="en-US" altLang="zh-CN" u="sng" dirty="0" smtClean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, but not </a:t>
                </a:r>
                <a:r>
                  <a:rPr lang="el-GR" altLang="zh-CN" i="1" u="sng" dirty="0" smtClean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ω</a:t>
                </a:r>
                <a:endParaRPr lang="en-US" i="1" u="sng" dirty="0" smtClean="0">
                  <a:solidFill>
                    <a:srgbClr val="0000FF"/>
                  </a:solidFill>
                </a:endParaRPr>
              </a:p>
              <a:p>
                <a:r>
                  <a:rPr lang="en-US" dirty="0"/>
                  <a:t> </a:t>
                </a:r>
                <a:r>
                  <a:rPr lang="en-US" i="1" dirty="0" smtClean="0"/>
                  <a:t>z</a:t>
                </a:r>
                <a:r>
                  <a:rPr lang="en-US" dirty="0" smtClean="0"/>
                  <a:t>-Transform ROC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Property #1</a:t>
                </a:r>
                <a:r>
                  <a:rPr lang="en-US" dirty="0" smtClean="0"/>
                  <a:t>: ROC of 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z</a:t>
                </a:r>
                <a:r>
                  <a:rPr lang="en-US" altLang="zh-CN" dirty="0"/>
                  <a:t>)</a:t>
                </a:r>
                <a:r>
                  <a:rPr lang="en-US" dirty="0" smtClean="0"/>
                  <a:t> consists of a ring in the z-plane centered about the origin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1003" r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10.2 ROC Properties of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65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z</a:t>
            </a:r>
            <a:r>
              <a:rPr lang="en-US" dirty="0"/>
              <a:t>-Transform ROC Property </a:t>
            </a:r>
            <a:r>
              <a:rPr lang="en-US" dirty="0" smtClean="0"/>
              <a:t>(2)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</a:t>
                </a:r>
                <a:r>
                  <a:rPr lang="en-US" i="1" dirty="0"/>
                  <a:t>z</a:t>
                </a:r>
                <a:r>
                  <a:rPr lang="en-US" dirty="0"/>
                  <a:t>-Transform ROC </a:t>
                </a:r>
                <a:r>
                  <a:rPr lang="en-US" b="1" dirty="0">
                    <a:solidFill>
                      <a:srgbClr val="C00000"/>
                    </a:solidFill>
                  </a:rPr>
                  <a:t>Property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#2</a:t>
                </a:r>
                <a:r>
                  <a:rPr lang="en-US" dirty="0" smtClean="0"/>
                  <a:t>: </a:t>
                </a:r>
                <a:r>
                  <a:rPr lang="en-US" altLang="zh-CN" dirty="0" smtClean="0"/>
                  <a:t>The ROC does not contain any poles</a:t>
                </a:r>
              </a:p>
              <a:p>
                <a:r>
                  <a:rPr lang="en-US" dirty="0"/>
                  <a:t> </a:t>
                </a:r>
                <a:r>
                  <a:rPr lang="en-US" i="1" dirty="0"/>
                  <a:t>z</a:t>
                </a:r>
                <a:r>
                  <a:rPr lang="en-US" dirty="0"/>
                  <a:t>-Transform ROC </a:t>
                </a:r>
                <a:r>
                  <a:rPr lang="en-US" b="1" dirty="0">
                    <a:solidFill>
                      <a:srgbClr val="C00000"/>
                    </a:solidFill>
                  </a:rPr>
                  <a:t>Property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#3</a:t>
                </a:r>
                <a:r>
                  <a:rPr lang="en-US" dirty="0" smtClean="0"/>
                  <a:t>: </a:t>
                </a:r>
                <a:r>
                  <a:rPr lang="en-US" altLang="zh-CN" dirty="0" smtClean="0"/>
                  <a:t>If </a:t>
                </a:r>
                <a:r>
                  <a:rPr lang="en-US" altLang="zh-CN" i="1" dirty="0" smtClean="0"/>
                  <a:t>x</a:t>
                </a:r>
                <a:r>
                  <a:rPr lang="en-US" altLang="zh-CN" dirty="0" smtClean="0"/>
                  <a:t>[</a:t>
                </a:r>
                <a:r>
                  <a:rPr lang="en-US" altLang="zh-CN" i="1" dirty="0" smtClean="0"/>
                  <a:t>n</a:t>
                </a:r>
                <a:r>
                  <a:rPr lang="en-US" altLang="zh-CN" dirty="0" smtClean="0"/>
                  <a:t>] is of finite duration, then the ROC is the entire </a:t>
                </a:r>
                <a:r>
                  <a:rPr lang="en-US" altLang="zh-CN" i="1" dirty="0" smtClean="0"/>
                  <a:t>z</a:t>
                </a:r>
                <a:r>
                  <a:rPr lang="en-US" altLang="zh-CN" dirty="0" smtClean="0"/>
                  <a:t>-plane, except </a:t>
                </a:r>
                <a:r>
                  <a:rPr lang="en-US" altLang="zh-CN" dirty="0" smtClean="0">
                    <a:solidFill>
                      <a:srgbClr val="FF0000"/>
                    </a:solidFill>
                  </a:rPr>
                  <a:t>possibly</a:t>
                </a:r>
                <a:r>
                  <a:rPr lang="en-US" altLang="zh-CN" dirty="0" smtClean="0"/>
                  <a:t> </a:t>
                </a:r>
                <a:r>
                  <a:rPr lang="en-US" altLang="zh-CN" i="1" dirty="0" smtClean="0"/>
                  <a:t>z</a:t>
                </a:r>
                <a:r>
                  <a:rPr lang="en-US" altLang="zh-CN" dirty="0" smtClean="0"/>
                  <a:t>=0 and/or </a:t>
                </a:r>
                <a:r>
                  <a:rPr lang="en-US" altLang="zh-CN" i="1" dirty="0" smtClean="0"/>
                  <a:t>z</a:t>
                </a:r>
                <a:r>
                  <a:rPr lang="en-US" altLang="zh-CN" dirty="0" smtClean="0"/>
                  <a:t>=∞</a:t>
                </a:r>
              </a:p>
              <a:p>
                <a:pPr lvl="1"/>
                <a:r>
                  <a:rPr lang="en-US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groupChr>
                      <m:groupChrPr>
                        <m:chr m:val="↔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𝒵</m:t>
                        </m:r>
                      </m:e>
                    </m:groupCh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 smtClean="0"/>
                  <a:t>, ROC: </a:t>
                </a:r>
                <a:r>
                  <a:rPr lang="en-US" i="1" dirty="0" smtClean="0"/>
                  <a:t>z</a:t>
                </a:r>
                <a:r>
                  <a:rPr lang="en-US" dirty="0" smtClean="0"/>
                  <a:t>-plane including </a:t>
                </a:r>
                <a:r>
                  <a:rPr lang="en-US" altLang="zh-CN" i="1" dirty="0"/>
                  <a:t>z</a:t>
                </a:r>
                <a:r>
                  <a:rPr lang="en-US" altLang="zh-CN" dirty="0"/>
                  <a:t>=0 </a:t>
                </a:r>
                <a:r>
                  <a:rPr lang="en-US" altLang="zh-CN" dirty="0" smtClean="0"/>
                  <a:t>and </a:t>
                </a:r>
                <a:r>
                  <a:rPr lang="en-US" altLang="zh-CN" i="1" dirty="0"/>
                  <a:t>z</a:t>
                </a:r>
                <a:r>
                  <a:rPr lang="en-US" altLang="zh-CN" dirty="0"/>
                  <a:t>=</a:t>
                </a:r>
                <a:r>
                  <a:rPr lang="en-US" altLang="zh-CN" dirty="0" smtClean="0"/>
                  <a:t>∞</a:t>
                </a:r>
              </a:p>
              <a:p>
                <a:pPr lvl="1"/>
                <a:r>
                  <a:rPr lang="en-US" altLang="zh-CN" dirty="0"/>
                  <a:t> </a:t>
                </a:r>
                <a:r>
                  <a:rPr lang="en-US" altLang="zh-CN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groupChr>
                      <m:groupChrPr>
                        <m:chr m:val="↔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𝒵</m:t>
                        </m:r>
                      </m:e>
                    </m:groupCh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 smtClean="0"/>
                  <a:t>, </a:t>
                </a:r>
                <a:r>
                  <a:rPr lang="en-US" dirty="0"/>
                  <a:t>ROC: </a:t>
                </a:r>
                <a:r>
                  <a:rPr lang="en-US" i="1" dirty="0"/>
                  <a:t>z</a:t>
                </a:r>
                <a:r>
                  <a:rPr lang="en-US" dirty="0"/>
                  <a:t>-plane </a:t>
                </a:r>
                <a:r>
                  <a:rPr lang="en-US" dirty="0" smtClean="0"/>
                  <a:t>except </a:t>
                </a:r>
                <a:r>
                  <a:rPr lang="en-US" altLang="zh-CN" i="1" dirty="0" smtClean="0"/>
                  <a:t>z</a:t>
                </a:r>
                <a:r>
                  <a:rPr lang="en-US" altLang="zh-CN" dirty="0" smtClean="0"/>
                  <a:t>=0</a:t>
                </a:r>
                <a:endParaRPr lang="en-US" altLang="zh-CN" dirty="0"/>
              </a:p>
              <a:p>
                <a:pPr lvl="1"/>
                <a:r>
                  <a:rPr lang="en-US" altLang="zh-CN" dirty="0" smtClean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groupChr>
                      <m:groupChrPr>
                        <m:chr m:val="↔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𝒵</m:t>
                        </m:r>
                      </m:e>
                    </m:groupCh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, ROC: </a:t>
                </a:r>
                <a:r>
                  <a:rPr lang="en-US" i="1" dirty="0"/>
                  <a:t>z</a:t>
                </a:r>
                <a:r>
                  <a:rPr lang="en-US" dirty="0"/>
                  <a:t>-plane except </a:t>
                </a:r>
                <a:r>
                  <a:rPr lang="en-US" altLang="zh-CN" i="1" dirty="0"/>
                  <a:t>z</a:t>
                </a:r>
                <a:r>
                  <a:rPr lang="en-US" altLang="zh-CN" dirty="0" smtClean="0"/>
                  <a:t>=</a:t>
                </a:r>
                <a:r>
                  <a:rPr lang="en-US" altLang="zh-CN" dirty="0"/>
                  <a:t> ∞</a:t>
                </a:r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 r="-2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§10.2 ROC Properties of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421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z</a:t>
            </a:r>
            <a:r>
              <a:rPr lang="en-US" dirty="0"/>
              <a:t>-Transform ROC Property </a:t>
            </a:r>
            <a:r>
              <a:rPr lang="en-US" dirty="0" smtClean="0"/>
              <a:t>(3)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altLang="zh-CN" dirty="0" smtClean="0"/>
                  <a:t>Right-sided sequence: a sequence which is zero prior to some value of </a:t>
                </a:r>
                <a:r>
                  <a:rPr lang="en-US" altLang="zh-CN" i="1" dirty="0" smtClean="0"/>
                  <a:t>n</a:t>
                </a:r>
                <a:r>
                  <a:rPr lang="en-US" altLang="zh-CN" dirty="0" smtClean="0"/>
                  <a:t>, say, </a:t>
                </a:r>
                <a:r>
                  <a:rPr lang="en-US" altLang="zh-CN" i="1" dirty="0" smtClean="0"/>
                  <a:t>N</a:t>
                </a:r>
                <a:r>
                  <a:rPr lang="en-US" altLang="zh-CN" baseline="-25000" dirty="0" smtClean="0"/>
                  <a:t>1</a:t>
                </a:r>
              </a:p>
              <a:p>
                <a:r>
                  <a:rPr lang="en-US" dirty="0"/>
                  <a:t> </a:t>
                </a:r>
                <a:r>
                  <a:rPr lang="en-US" i="1" dirty="0"/>
                  <a:t>z</a:t>
                </a:r>
                <a:r>
                  <a:rPr lang="en-US" dirty="0"/>
                  <a:t>-Transform ROC </a:t>
                </a:r>
                <a:r>
                  <a:rPr lang="en-US" b="1" dirty="0">
                    <a:solidFill>
                      <a:srgbClr val="C00000"/>
                    </a:solidFill>
                  </a:rPr>
                  <a:t>Property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#4</a:t>
                </a:r>
                <a:r>
                  <a:rPr lang="en-US" dirty="0" smtClean="0"/>
                  <a:t>: for a right-sided signal, if the circle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is in the ROC, then the region outside this circle with </a:t>
                </a:r>
                <a:r>
                  <a:rPr lang="en-US" u="sng" dirty="0" smtClean="0">
                    <a:solidFill>
                      <a:srgbClr val="FF0000"/>
                    </a:solidFill>
                  </a:rPr>
                  <a:t>finite values of </a:t>
                </a:r>
                <a:r>
                  <a:rPr lang="en-US" i="1" u="sng" dirty="0" smtClean="0">
                    <a:solidFill>
                      <a:srgbClr val="FF0000"/>
                    </a:solidFill>
                  </a:rPr>
                  <a:t>z</a:t>
                </a:r>
                <a:r>
                  <a:rPr lang="en-US" dirty="0" smtClean="0"/>
                  <a:t> will also be in the ROC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if </a:t>
                </a:r>
                <a:r>
                  <a:rPr lang="en-US" altLang="zh-CN" i="1" dirty="0" smtClean="0">
                    <a:solidFill>
                      <a:srgbClr val="FF0000"/>
                    </a:solidFill>
                  </a:rPr>
                  <a:t>N</a:t>
                </a:r>
                <a:r>
                  <a:rPr lang="en-US" altLang="zh-CN" baseline="-25000" dirty="0" smtClean="0">
                    <a:solidFill>
                      <a:srgbClr val="FF0000"/>
                    </a:solidFill>
                  </a:rPr>
                  <a:t>1</a:t>
                </a:r>
                <a:r>
                  <a:rPr lang="en-US" altLang="zh-CN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is positive</a:t>
                </a:r>
                <a:r>
                  <a:rPr lang="en-US" dirty="0" smtClean="0"/>
                  <a:t>, </a:t>
                </a:r>
                <a:r>
                  <a:rPr lang="en-US" altLang="zh-CN" i="1" dirty="0"/>
                  <a:t>z</a:t>
                </a:r>
                <a:r>
                  <a:rPr lang="en-US" altLang="zh-CN" dirty="0"/>
                  <a:t>=</a:t>
                </a:r>
                <a:r>
                  <a:rPr lang="en-US" altLang="zh-CN" dirty="0" smtClean="0"/>
                  <a:t>∞</a:t>
                </a:r>
                <a:r>
                  <a:rPr lang="en-US" dirty="0" smtClean="0"/>
                  <a:t> is also in the ROC</a:t>
                </a:r>
              </a:p>
              <a:p>
                <a:pPr lvl="1"/>
                <a:r>
                  <a:rPr lang="en-US" dirty="0" smtClean="0"/>
                  <a:t> if </a:t>
                </a:r>
                <a:r>
                  <a:rPr lang="en-US" altLang="zh-CN" i="1" dirty="0" smtClean="0">
                    <a:solidFill>
                      <a:srgbClr val="FF0000"/>
                    </a:solidFill>
                  </a:rPr>
                  <a:t>N</a:t>
                </a:r>
                <a:r>
                  <a:rPr lang="en-US" altLang="zh-CN" baseline="-25000" dirty="0" smtClean="0">
                    <a:solidFill>
                      <a:srgbClr val="FF0000"/>
                    </a:solidFill>
                  </a:rPr>
                  <a:t>1</a:t>
                </a:r>
                <a:r>
                  <a:rPr lang="en-US" altLang="zh-CN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is negative</a:t>
                </a:r>
                <a:r>
                  <a:rPr lang="en-US" dirty="0" smtClean="0"/>
                  <a:t>, </a:t>
                </a:r>
                <a:r>
                  <a:rPr lang="en-US" altLang="zh-CN" i="1" dirty="0"/>
                  <a:t>z</a:t>
                </a:r>
                <a:r>
                  <a:rPr lang="en-US" altLang="zh-CN" dirty="0"/>
                  <a:t>=</a:t>
                </a:r>
                <a:r>
                  <a:rPr lang="en-US" altLang="zh-CN" dirty="0" smtClean="0"/>
                  <a:t>∞ is not in the ROC</a:t>
                </a:r>
              </a:p>
              <a:p>
                <a:pPr marL="228600" lvl="1">
                  <a:spcBef>
                    <a:spcPts val="1000"/>
                  </a:spcBef>
                  <a:buFont typeface="Wingdings" panose="05000000000000000000" pitchFamily="2" charset="2"/>
                  <a:buChar char="p"/>
                </a:pPr>
                <a:r>
                  <a:rPr lang="en-US" sz="2800" i="1" dirty="0" smtClean="0"/>
                  <a:t> z</a:t>
                </a:r>
                <a:r>
                  <a:rPr lang="en-US" sz="2800" dirty="0" smtClean="0"/>
                  <a:t>-Transform </a:t>
                </a:r>
                <a:r>
                  <a:rPr lang="en-US" sz="2800" dirty="0"/>
                  <a:t>ROC 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Property </a:t>
                </a:r>
                <a:r>
                  <a:rPr lang="en-US" sz="2800" b="1" dirty="0" smtClean="0">
                    <a:solidFill>
                      <a:srgbClr val="C00000"/>
                    </a:solidFill>
                  </a:rPr>
                  <a:t>#5</a:t>
                </a:r>
                <a:r>
                  <a:rPr lang="en-US" sz="2800" dirty="0" smtClean="0"/>
                  <a:t>: </a:t>
                </a:r>
                <a:r>
                  <a:rPr lang="en-US" sz="2800" dirty="0"/>
                  <a:t>for a </a:t>
                </a:r>
                <a:r>
                  <a:rPr lang="en-US" sz="2800" dirty="0" smtClean="0"/>
                  <a:t>left-sided </a:t>
                </a:r>
                <a:r>
                  <a:rPr lang="en-US" sz="2800" dirty="0"/>
                  <a:t>signal, if the circle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 is in the ROC , then the region </a:t>
                </a:r>
                <a:r>
                  <a:rPr lang="en-US" sz="2800" dirty="0" smtClean="0"/>
                  <a:t>inside </a:t>
                </a:r>
                <a:r>
                  <a:rPr lang="en-US" sz="2800" dirty="0"/>
                  <a:t>this </a:t>
                </a:r>
                <a:r>
                  <a:rPr lang="en-US" sz="2800" dirty="0" smtClean="0"/>
                  <a:t>circle with </a:t>
                </a:r>
                <a:r>
                  <a:rPr lang="en-US" sz="2800" u="sng" dirty="0" smtClean="0">
                    <a:solidFill>
                      <a:srgbClr val="FF0000"/>
                    </a:solidFill>
                  </a:rPr>
                  <a:t>non-zero values of </a:t>
                </a:r>
                <a:r>
                  <a:rPr lang="en-US" sz="2800" i="1" u="sng" dirty="0" smtClean="0">
                    <a:solidFill>
                      <a:srgbClr val="FF0000"/>
                    </a:solidFill>
                  </a:rPr>
                  <a:t>z</a:t>
                </a:r>
                <a:r>
                  <a:rPr lang="en-US" sz="2800" u="sng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smtClean="0"/>
                  <a:t>will </a:t>
                </a:r>
                <a:r>
                  <a:rPr lang="en-US" sz="2800" dirty="0"/>
                  <a:t>also be in the </a:t>
                </a:r>
                <a:r>
                  <a:rPr lang="en-US" sz="2800" dirty="0" smtClean="0"/>
                  <a:t>ROC</a:t>
                </a:r>
                <a:endParaRPr lang="en-US" altLang="zh-CN" sz="2800" dirty="0"/>
              </a:p>
              <a:p>
                <a:pPr marL="457200" lvl="1" indent="0">
                  <a:buNone/>
                </a:pPr>
                <a:endParaRPr lang="en-US" altLang="zh-CN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3133" r="-2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§10.2 ROC Properties of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533363" y="5666492"/>
            <a:ext cx="2645650" cy="46166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about </a:t>
            </a:r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36218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i="1" dirty="0"/>
              <a:t>z</a:t>
            </a:r>
            <a:r>
              <a:rPr lang="en-US" sz="3600" dirty="0"/>
              <a:t>-Transform </a:t>
            </a:r>
            <a:r>
              <a:rPr lang="en-US" sz="3600" dirty="0" smtClean="0"/>
              <a:t>ROC of Sided </a:t>
            </a:r>
            <a:r>
              <a:rPr lang="en-US" sz="3600" dirty="0"/>
              <a:t>S</a:t>
            </a:r>
            <a:r>
              <a:rPr lang="en-US" sz="3600" dirty="0" smtClean="0"/>
              <a:t>equences</a:t>
            </a:r>
            <a:endParaRPr lang="en-US" sz="36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§10.2 ROC Properties of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50" y="1430564"/>
            <a:ext cx="2691000" cy="2635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050" y="1430564"/>
            <a:ext cx="2691000" cy="2635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168" y="1430564"/>
            <a:ext cx="2691000" cy="2635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899343" y="4486235"/>
            <a:ext cx="1740413" cy="830997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left-sided sequence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65643" y="4532360"/>
            <a:ext cx="1740413" cy="830997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right-sided sequence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785461" y="4486234"/>
            <a:ext cx="1920794" cy="830997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two-sided sequence</a:t>
            </a:r>
          </a:p>
        </p:txBody>
      </p:sp>
    </p:spTree>
    <p:extLst>
      <p:ext uri="{BB962C8B-B14F-4D97-AF65-F5344CB8AC3E}">
        <p14:creationId xmlns:p14="http://schemas.microsoft.com/office/powerpoint/2010/main" val="78163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 10.6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 finite-duration sequence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 z-transform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 ROC Property #3 </a:t>
                </a:r>
                <a:r>
                  <a:rPr lang="en-US" dirty="0" smtClean="0">
                    <a:sym typeface="Wingdings" panose="05000000000000000000" pitchFamily="2" charset="2"/>
                  </a:rPr>
                  <a:t> ROC is the entire </a:t>
                </a:r>
                <a:r>
                  <a:rPr lang="en-US" i="1" dirty="0" smtClean="0">
                    <a:sym typeface="Wingdings" panose="05000000000000000000" pitchFamily="2" charset="2"/>
                  </a:rPr>
                  <a:t>z</a:t>
                </a:r>
                <a:r>
                  <a:rPr lang="en-US" dirty="0" smtClean="0">
                    <a:sym typeface="Wingdings" panose="05000000000000000000" pitchFamily="2" charset="2"/>
                  </a:rPr>
                  <a:t>-plane</a:t>
                </a:r>
              </a:p>
              <a:p>
                <a:pPr lvl="1"/>
                <a:r>
                  <a:rPr lang="en-US" dirty="0" smtClean="0"/>
                  <a:t> including </a:t>
                </a:r>
                <a:r>
                  <a:rPr lang="en-US" altLang="zh-CN" i="1" dirty="0" smtClean="0"/>
                  <a:t>z</a:t>
                </a:r>
                <a:r>
                  <a:rPr lang="en-US" altLang="zh-CN" dirty="0"/>
                  <a:t>=∞</a:t>
                </a:r>
              </a:p>
              <a:p>
                <a:pPr lvl="1"/>
                <a:r>
                  <a:rPr lang="en-US" dirty="0" smtClean="0">
                    <a:sym typeface="Wingdings" panose="05000000000000000000" pitchFamily="2" charset="2"/>
                  </a:rPr>
                  <a:t> not </a:t>
                </a:r>
                <a:r>
                  <a:rPr lang="en-US" dirty="0" smtClean="0"/>
                  <a:t>including </a:t>
                </a:r>
                <a:r>
                  <a:rPr lang="en-US" altLang="zh-CN" i="1" dirty="0" smtClean="0"/>
                  <a:t>z</a:t>
                </a:r>
                <a:r>
                  <a:rPr lang="en-US" altLang="zh-CN" dirty="0" smtClean="0"/>
                  <a:t>=0</a:t>
                </a:r>
                <a:endParaRPr lang="en-US" dirty="0" smtClean="0">
                  <a:sym typeface="Wingdings" panose="05000000000000000000" pitchFamily="2" charset="2"/>
                </a:endParaRPr>
              </a:p>
              <a:p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 smtClean="0">
                    <a:sym typeface="Wingdings" panose="05000000000000000000" pitchFamily="2" charset="2"/>
                  </a:rPr>
                  <a:t>ROC </a:t>
                </a:r>
                <a:r>
                  <a:rPr lang="en-US" dirty="0" smtClean="0"/>
                  <a:t>Property #2 </a:t>
                </a:r>
                <a:r>
                  <a:rPr lang="en-US" dirty="0" smtClean="0">
                    <a:sym typeface="Wingdings" panose="05000000000000000000" pitchFamily="2" charset="2"/>
                  </a:rPr>
                  <a:t> ROC </a:t>
                </a:r>
                <a:r>
                  <a:rPr lang="en-US" dirty="0" smtClean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does not include </a:t>
                </a:r>
                <a:r>
                  <a:rPr lang="en-US" altLang="zh-CN" i="1" dirty="0" smtClean="0">
                    <a:solidFill>
                      <a:srgbClr val="FF0000"/>
                    </a:solidFill>
                  </a:rPr>
                  <a:t>z</a:t>
                </a:r>
                <a:r>
                  <a:rPr lang="en-US" altLang="zh-CN" dirty="0" smtClean="0">
                    <a:solidFill>
                      <a:srgbClr val="FF0000"/>
                    </a:solidFill>
                  </a:rPr>
                  <a:t>=</a:t>
                </a:r>
                <a:r>
                  <a:rPr lang="en-US" altLang="zh-CN" i="1" dirty="0" smtClean="0">
                    <a:solidFill>
                      <a:srgbClr val="FF0000"/>
                    </a:solidFill>
                  </a:rPr>
                  <a:t>a</a:t>
                </a:r>
                <a:r>
                  <a:rPr lang="en-US" altLang="zh-CN" dirty="0" smtClean="0">
                    <a:solidFill>
                      <a:srgbClr val="FF0000"/>
                    </a:solidFill>
                  </a:rPr>
                  <a:t>?</a:t>
                </a:r>
                <a:endParaRPr lang="en-US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 b="-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§10.2 ROC Properties of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821272" y="4736991"/>
            <a:ext cx="1215684" cy="36933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821272" y="5106323"/>
            <a:ext cx="1215684" cy="36933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584087" y="6081991"/>
            <a:ext cx="2266134" cy="36933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True or false?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050" y="338221"/>
            <a:ext cx="2844124" cy="2742741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156604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Example 10.7: Two-Sided Sequence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8149590" cy="4391660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 smtClean="0"/>
                  <a:t> two-sided sequence: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]=</a:t>
                </a:r>
                <a:r>
                  <a:rPr lang="en-US" i="1" dirty="0" err="1" smtClean="0"/>
                  <a:t>b</a:t>
                </a:r>
                <a:r>
                  <a:rPr lang="en-US" baseline="30000" dirty="0" err="1" smtClean="0"/>
                  <a:t>|</a:t>
                </a:r>
                <a:r>
                  <a:rPr lang="en-US" i="1" baseline="30000" dirty="0" err="1" smtClean="0"/>
                  <a:t>n</a:t>
                </a:r>
                <a:r>
                  <a:rPr lang="en-US" baseline="30000" dirty="0" smtClean="0"/>
                  <a:t>|</a:t>
                </a:r>
                <a:r>
                  <a:rPr lang="en-US" dirty="0" smtClean="0"/>
                  <a:t>, </a:t>
                </a:r>
                <a:r>
                  <a:rPr lang="en-US" i="1" dirty="0" smtClean="0"/>
                  <a:t>b</a:t>
                </a:r>
                <a:r>
                  <a:rPr lang="en-US" dirty="0" smtClean="0"/>
                  <a:t>&gt;0</a:t>
                </a:r>
              </a:p>
              <a:p>
                <a:r>
                  <a:rPr lang="en-US" dirty="0"/>
                  <a:t> </a:t>
                </a:r>
                <a:r>
                  <a:rPr lang="en-US" i="1" dirty="0"/>
                  <a:t>x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/>
                  <a:t>]=</a:t>
                </a:r>
                <a:r>
                  <a:rPr lang="en-US" i="1" dirty="0" err="1" smtClean="0"/>
                  <a:t>b</a:t>
                </a:r>
                <a:r>
                  <a:rPr lang="en-US" i="1" baseline="30000" dirty="0" err="1" smtClean="0"/>
                  <a:t>n</a:t>
                </a:r>
                <a:r>
                  <a:rPr lang="en-US" altLang="zh-CN" dirty="0" err="1" smtClean="0"/>
                  <a:t>u</a:t>
                </a:r>
                <a:r>
                  <a:rPr lang="en-US" altLang="zh-CN" dirty="0" smtClean="0"/>
                  <a:t>[n]+</a:t>
                </a:r>
                <a:r>
                  <a:rPr lang="en-US" i="1" dirty="0" smtClean="0"/>
                  <a:t>b</a:t>
                </a:r>
                <a:r>
                  <a:rPr lang="en-US" i="1" baseline="30000" dirty="0" smtClean="0"/>
                  <a:t>-n</a:t>
                </a:r>
                <a:r>
                  <a:rPr lang="en-US" altLang="zh-CN" dirty="0" smtClean="0"/>
                  <a:t>u[-n-1]</a:t>
                </a:r>
              </a:p>
              <a:p>
                <a:pPr marL="0" indent="0">
                  <a:lnSpc>
                    <a:spcPct val="70000"/>
                  </a:lnSpc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1" dirty="0"/>
                          <m:t>b</m:t>
                        </m:r>
                        <m:r>
                          <m:rPr>
                            <m:nor/>
                          </m:rPr>
                          <a:rPr lang="en-US" i="1" baseline="30000" dirty="0"/>
                          <m:t>n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, ROC1: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/>
                  <a:t>, 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70000"/>
                  </a:lnSpc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1" dirty="0"/>
                          <m:t>b</m:t>
                        </m:r>
                        <m:r>
                          <m:rPr>
                            <m:nor/>
                          </m:rPr>
                          <a:rPr lang="en-US" i="1" baseline="30000" dirty="0"/>
                          <m:t>−</m:t>
                        </m:r>
                        <m:r>
                          <m:rPr>
                            <m:nor/>
                          </m:rPr>
                          <a:rPr lang="en-US" i="1" baseline="30000" dirty="0"/>
                          <m:t>n</m:t>
                        </m:r>
                        <m:r>
                          <m:rPr>
                            <m:nor/>
                          </m:rPr>
                          <a:rPr lang="en-US" altLang="zh-CN" dirty="0"/>
                          <m:t>u</m:t>
                        </m:r>
                        <m:r>
                          <m:rPr>
                            <m:nor/>
                          </m:rPr>
                          <a:rPr lang="en-US" altLang="zh-CN" dirty="0"/>
                          <m:t>[−</m:t>
                        </m:r>
                        <m:r>
                          <m:rPr>
                            <m:nor/>
                          </m:rPr>
                          <a:rPr lang="en-US" altLang="zh-CN" dirty="0"/>
                          <m:t>n</m:t>
                        </m:r>
                        <m:r>
                          <m:rPr>
                            <m:nor/>
                          </m:rPr>
                          <a:rPr lang="en-US" altLang="zh-CN" dirty="0"/>
                          <m:t>−1]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, ROC2: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/>
                  <a:t>, 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 smtClean="0"/>
                  <a:t>if 0&lt;</a:t>
                </a:r>
                <a:r>
                  <a:rPr lang="en-US" i="1" dirty="0" smtClean="0"/>
                  <a:t>b</a:t>
                </a:r>
                <a:r>
                  <a:rPr lang="en-US" dirty="0" smtClean="0"/>
                  <a:t>&lt;1,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 smtClean="0"/>
                  <a:t>, ROC: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>
                    <a:ea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if </a:t>
                </a:r>
                <a:r>
                  <a:rPr lang="en-US" i="1" dirty="0"/>
                  <a:t>b</a:t>
                </a:r>
                <a:r>
                  <a:rPr lang="en-US" dirty="0"/>
                  <a:t>&gt;1, no </a:t>
                </a:r>
                <a:r>
                  <a:rPr lang="en-US" i="1" dirty="0"/>
                  <a:t>z</a:t>
                </a:r>
                <a:r>
                  <a:rPr lang="en-US" dirty="0"/>
                  <a:t>-transform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8149590" cy="4391660"/>
              </a:xfrm>
              <a:blipFill>
                <a:blip r:embed="rId2"/>
                <a:stretch>
                  <a:fillRect l="-1122" t="-2222" b="-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§10.2 ROC Properties of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124" y="3942576"/>
            <a:ext cx="3195155" cy="29156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07942" y="5843390"/>
            <a:ext cx="3842015" cy="36933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ROC an poles?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13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z</a:t>
            </a:r>
            <a:r>
              <a:rPr lang="en-US" dirty="0"/>
              <a:t>-Transform ROC Property </a:t>
            </a:r>
            <a:r>
              <a:rPr lang="en-US" dirty="0" smtClean="0"/>
              <a:t>(4)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i="1" dirty="0"/>
              <a:t>z</a:t>
            </a:r>
            <a:r>
              <a:rPr lang="en-US" dirty="0"/>
              <a:t>-Transform ROC </a:t>
            </a:r>
            <a:r>
              <a:rPr lang="en-US" b="1" dirty="0">
                <a:solidFill>
                  <a:srgbClr val="C00000"/>
                </a:solidFill>
              </a:rPr>
              <a:t>Property </a:t>
            </a:r>
            <a:r>
              <a:rPr lang="en-US" b="1" dirty="0" smtClean="0">
                <a:solidFill>
                  <a:srgbClr val="C00000"/>
                </a:solidFill>
              </a:rPr>
              <a:t>#7</a:t>
            </a:r>
            <a:r>
              <a:rPr lang="en-US" dirty="0" smtClean="0"/>
              <a:t>: ROC of </a:t>
            </a:r>
            <a:r>
              <a:rPr lang="en-US" b="1" u="sng" dirty="0" smtClean="0">
                <a:solidFill>
                  <a:srgbClr val="FF0000"/>
                </a:solidFill>
              </a:rPr>
              <a:t>rational</a:t>
            </a:r>
            <a:r>
              <a:rPr lang="en-US" dirty="0" smtClean="0"/>
              <a:t> z-transform is bounded by poles or extends to ∞</a:t>
            </a:r>
          </a:p>
          <a:p>
            <a:r>
              <a:rPr lang="en-US" dirty="0"/>
              <a:t> </a:t>
            </a:r>
            <a:r>
              <a:rPr lang="en-US" i="1" dirty="0"/>
              <a:t>z</a:t>
            </a:r>
            <a:r>
              <a:rPr lang="en-US" dirty="0"/>
              <a:t>-Transform ROC </a:t>
            </a:r>
            <a:r>
              <a:rPr lang="en-US" b="1" dirty="0">
                <a:solidFill>
                  <a:srgbClr val="C00000"/>
                </a:solidFill>
              </a:rPr>
              <a:t>Property </a:t>
            </a:r>
            <a:r>
              <a:rPr lang="en-US" b="1" dirty="0" smtClean="0">
                <a:solidFill>
                  <a:srgbClr val="C00000"/>
                </a:solidFill>
              </a:rPr>
              <a:t>#8</a:t>
            </a:r>
            <a:r>
              <a:rPr lang="en-US" dirty="0" smtClean="0"/>
              <a:t>: ROC of </a:t>
            </a:r>
            <a:r>
              <a:rPr lang="en-US" u="sng" dirty="0" smtClean="0">
                <a:solidFill>
                  <a:srgbClr val="0000FF"/>
                </a:solidFill>
              </a:rPr>
              <a:t>rational</a:t>
            </a:r>
            <a:r>
              <a:rPr lang="en-US" dirty="0" smtClean="0"/>
              <a:t> </a:t>
            </a:r>
            <a:r>
              <a:rPr lang="en-US" i="1" dirty="0" smtClean="0"/>
              <a:t>z</a:t>
            </a:r>
            <a:r>
              <a:rPr lang="en-US" dirty="0" smtClean="0"/>
              <a:t>-transform for </a:t>
            </a:r>
            <a:r>
              <a:rPr lang="en-US" u="sng" dirty="0" smtClean="0">
                <a:solidFill>
                  <a:srgbClr val="0000FF"/>
                </a:solidFill>
              </a:rPr>
              <a:t>left-sided</a:t>
            </a:r>
            <a:r>
              <a:rPr lang="en-US" dirty="0" smtClean="0"/>
              <a:t> sequence is the region inside the origin-centered circle with the radius equal to the smallest amplitude of poles, </a:t>
            </a:r>
            <a:r>
              <a:rPr lang="en-US" u="sng" dirty="0" smtClean="0">
                <a:solidFill>
                  <a:srgbClr val="FF0000"/>
                </a:solidFill>
              </a:rPr>
              <a:t>possibly</a:t>
            </a:r>
            <a:r>
              <a:rPr lang="en-US" dirty="0" smtClean="0"/>
              <a:t> including </a:t>
            </a:r>
            <a:r>
              <a:rPr lang="en-US" i="1" dirty="0" smtClean="0"/>
              <a:t>z</a:t>
            </a:r>
            <a:r>
              <a:rPr lang="en-US" dirty="0" smtClean="0"/>
              <a:t>=0. </a:t>
            </a:r>
          </a:p>
          <a:p>
            <a:pPr lvl="1"/>
            <a:r>
              <a:rPr lang="en-US" dirty="0" smtClean="0"/>
              <a:t>If anti</a:t>
            </a:r>
            <a:r>
              <a:rPr lang="en-US" altLang="zh-CN" dirty="0" smtClean="0"/>
              <a:t>-</a:t>
            </a:r>
            <a:r>
              <a:rPr lang="en-US" dirty="0" smtClean="0"/>
              <a:t>causal, then ROC includes </a:t>
            </a:r>
            <a:r>
              <a:rPr lang="en-US" i="1" dirty="0" smtClean="0"/>
              <a:t>z</a:t>
            </a:r>
            <a:r>
              <a:rPr lang="en-US" dirty="0" smtClean="0"/>
              <a:t>=0.</a:t>
            </a:r>
          </a:p>
          <a:p>
            <a:r>
              <a:rPr lang="en-US" dirty="0"/>
              <a:t> </a:t>
            </a:r>
            <a:r>
              <a:rPr lang="en-US" i="1" dirty="0"/>
              <a:t>z</a:t>
            </a:r>
            <a:r>
              <a:rPr lang="en-US" dirty="0"/>
              <a:t>-Transform ROC </a:t>
            </a:r>
            <a:r>
              <a:rPr lang="en-US" b="1" dirty="0">
                <a:solidFill>
                  <a:srgbClr val="C00000"/>
                </a:solidFill>
              </a:rPr>
              <a:t>Property </a:t>
            </a:r>
            <a:r>
              <a:rPr lang="en-US" b="1" dirty="0" smtClean="0">
                <a:solidFill>
                  <a:srgbClr val="C00000"/>
                </a:solidFill>
              </a:rPr>
              <a:t>#9</a:t>
            </a:r>
            <a:r>
              <a:rPr lang="en-US" dirty="0" smtClean="0"/>
              <a:t>: </a:t>
            </a:r>
            <a:r>
              <a:rPr lang="en-US" dirty="0"/>
              <a:t>ROC of </a:t>
            </a:r>
            <a:r>
              <a:rPr lang="en-US" u="sng" dirty="0">
                <a:solidFill>
                  <a:srgbClr val="0000FF"/>
                </a:solidFill>
              </a:rPr>
              <a:t>rational</a:t>
            </a:r>
            <a:r>
              <a:rPr lang="en-US" dirty="0"/>
              <a:t> </a:t>
            </a:r>
            <a:r>
              <a:rPr lang="en-US" i="1" dirty="0"/>
              <a:t>z</a:t>
            </a:r>
            <a:r>
              <a:rPr lang="en-US" dirty="0"/>
              <a:t>-transform for </a:t>
            </a:r>
            <a:r>
              <a:rPr lang="en-US" u="sng" dirty="0" smtClean="0">
                <a:solidFill>
                  <a:srgbClr val="0000FF"/>
                </a:solidFill>
              </a:rPr>
              <a:t>right-sided</a:t>
            </a:r>
            <a:r>
              <a:rPr lang="en-US" dirty="0" smtClean="0"/>
              <a:t> sequence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§10.2 ROC Properties of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801538" y="4904944"/>
            <a:ext cx="131282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……?</a:t>
            </a:r>
            <a:endParaRPr lang="en-US" sz="28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88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Inverse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308100"/>
                <a:ext cx="8087333" cy="4868863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 smtClean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  <m:sup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sup>
                            </m:sSup>
                          </m:e>
                        </m:d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nary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  <m:sup/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sup>
                            </m:sSup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nary>
                  </m:oMath>
                </a14:m>
                <a:endParaRPr lang="en-US" dirty="0" smtClean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 smtClean="0">
                    <a:ea typeface="Cambria Math" panose="02040503050406030204" pitchFamily="18" charset="0"/>
                  </a:rPr>
                  <a:t>When </a:t>
                </a:r>
                <a:r>
                  <a:rPr lang="en-US" i="1" dirty="0" smtClean="0">
                    <a:ea typeface="Cambria Math" panose="02040503050406030204" pitchFamily="18" charset="0"/>
                  </a:rPr>
                  <a:t>r</a:t>
                </a:r>
                <a:r>
                  <a:rPr lang="en-US" dirty="0" smtClean="0">
                    <a:ea typeface="Cambria Math" panose="02040503050406030204" pitchFamily="18" charset="0"/>
                  </a:rPr>
                  <a:t> is fixed, this integration corresponds to one traversal along the circle |</a:t>
                </a:r>
                <a:r>
                  <a:rPr lang="en-US" i="1" dirty="0" smtClean="0">
                    <a:ea typeface="Cambria Math" panose="02040503050406030204" pitchFamily="18" charset="0"/>
                  </a:rPr>
                  <a:t>z</a:t>
                </a:r>
                <a:r>
                  <a:rPr lang="en-US" dirty="0" smtClean="0">
                    <a:ea typeface="Cambria Math" panose="02040503050406030204" pitchFamily="18" charset="0"/>
                  </a:rPr>
                  <a:t>|=</a:t>
                </a:r>
                <a:r>
                  <a:rPr lang="en-US" i="1" dirty="0" smtClean="0">
                    <a:ea typeface="Cambria Math" panose="02040503050406030204" pitchFamily="18" charset="0"/>
                  </a:rPr>
                  <a:t>r</a:t>
                </a:r>
                <a:r>
                  <a:rPr lang="en-US" dirty="0" smtClean="0"/>
                  <a:t> </a:t>
                </a:r>
              </a:p>
              <a:p>
                <a:endParaRPr lang="en-US" altLang="zh-CN" dirty="0" smtClean="0"/>
              </a:p>
              <a:p>
                <a:r>
                  <a:rPr lang="en-US" altLang="zh-CN" dirty="0" smtClean="0"/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Inverse z-Transform</a:t>
                </a:r>
              </a:p>
              <a:p>
                <a:pPr marL="0" indent="0"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contour integration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308100"/>
                <a:ext cx="8087333" cy="4868863"/>
              </a:xfrm>
              <a:blipFill>
                <a:blip r:embed="rId2"/>
                <a:stretch>
                  <a:fillRect l="-1130" t="-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10.3 </a:t>
            </a:r>
            <a:r>
              <a:rPr lang="en-US" dirty="0"/>
              <a:t>Inverse </a:t>
            </a:r>
            <a:r>
              <a:rPr lang="en-US" i="1" dirty="0"/>
              <a:t>z</a:t>
            </a:r>
            <a:r>
              <a:rPr lang="en-US" dirty="0"/>
              <a:t>-Transform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152242" y="4196608"/>
                <a:ext cx="3627275" cy="1061060"/>
              </a:xfrm>
              <a:prstGeom prst="rect">
                <a:avLst/>
              </a:prstGeom>
              <a:ln w="28575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den>
                      </m:f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242" y="4196608"/>
                <a:ext cx="3627275" cy="10610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8140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 10.8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0"/>
                <a:ext cx="7886700" cy="3215262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−0.2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1−2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ROC1: </a:t>
                </a:r>
                <a:r>
                  <a:rPr lang="en-US" altLang="zh-CN" dirty="0" smtClean="0"/>
                  <a:t>|</a:t>
                </a:r>
                <a:r>
                  <a:rPr lang="en-US" altLang="zh-CN" i="1" dirty="0" smtClean="0"/>
                  <a:t>z</a:t>
                </a:r>
                <a:r>
                  <a:rPr lang="en-US" altLang="zh-CN" dirty="0" smtClean="0"/>
                  <a:t>|&gt;2,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=−0.2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+1.2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ROC2: </a:t>
                </a:r>
                <a:r>
                  <a:rPr lang="en-US" altLang="zh-CN" dirty="0"/>
                  <a:t>|</a:t>
                </a:r>
                <a:r>
                  <a:rPr lang="en-US" altLang="zh-CN" i="1" dirty="0" smtClean="0"/>
                  <a:t>z</a:t>
                </a:r>
                <a:r>
                  <a:rPr lang="en-US" altLang="zh-CN" dirty="0" smtClean="0"/>
                  <a:t>|&lt;1/3</a:t>
                </a:r>
                <a:r>
                  <a:rPr lang="en-US" altLang="zh-CN" dirty="0"/>
                  <a:t> 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=0.2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1.2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dirty="0"/>
              </a:p>
              <a:p>
                <a:r>
                  <a:rPr lang="en-US" dirty="0" smtClean="0"/>
                  <a:t> ROC3: </a:t>
                </a:r>
                <a:r>
                  <a:rPr lang="en-US" altLang="zh-CN" dirty="0" smtClean="0"/>
                  <a:t>1/3&lt;|</a:t>
                </a:r>
                <a:r>
                  <a:rPr lang="en-US" altLang="zh-CN" i="1" dirty="0" smtClean="0"/>
                  <a:t>z</a:t>
                </a:r>
                <a:r>
                  <a:rPr lang="en-US" altLang="zh-CN" dirty="0" smtClean="0"/>
                  <a:t>|&lt;2</a:t>
                </a:r>
                <a:r>
                  <a:rPr lang="en-US" altLang="zh-CN" dirty="0"/>
                  <a:t> 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=−0.2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1.2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0"/>
                <a:ext cx="7886700" cy="3215262"/>
              </a:xfrm>
              <a:blipFill>
                <a:blip r:embed="rId2"/>
                <a:stretch>
                  <a:fillRect l="-850" t="-2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§10.3 Inverse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70" y="3627758"/>
            <a:ext cx="2761380" cy="263293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0770" y="3627758"/>
            <a:ext cx="2761380" cy="263293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7354" y="3627758"/>
            <a:ext cx="2761380" cy="2632934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391460" y="5754524"/>
            <a:ext cx="998169" cy="36933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=0?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987565" y="2432503"/>
            <a:ext cx="998169" cy="36933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=∞?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14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Other Examples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z</a:t>
                </a:r>
                <a:r>
                  <a:rPr lang="en-US" dirty="0" smtClean="0"/>
                  <a:t>)=4</a:t>
                </a:r>
                <a:r>
                  <a:rPr lang="en-US" i="1" dirty="0" smtClean="0"/>
                  <a:t>z</a:t>
                </a:r>
                <a:r>
                  <a:rPr lang="en-US" baseline="30000" dirty="0" smtClean="0"/>
                  <a:t>2</a:t>
                </a:r>
                <a:r>
                  <a:rPr lang="en-US" dirty="0" smtClean="0"/>
                  <a:t>+2+3</a:t>
                </a:r>
                <a:r>
                  <a:rPr lang="en-US" i="1" dirty="0" smtClean="0"/>
                  <a:t>z</a:t>
                </a:r>
                <a:r>
                  <a:rPr lang="en-US" baseline="30000" dirty="0" smtClean="0"/>
                  <a:t>-1</a:t>
                </a:r>
                <a:r>
                  <a:rPr lang="en-US" dirty="0" smtClean="0"/>
                  <a:t>, 0&lt;|</a:t>
                </a:r>
                <a:r>
                  <a:rPr lang="en-US" i="1" dirty="0" smtClean="0"/>
                  <a:t>z</a:t>
                </a:r>
                <a:r>
                  <a:rPr lang="en-US" dirty="0" smtClean="0"/>
                  <a:t>|&lt;∞</a:t>
                </a:r>
              </a:p>
              <a:p>
                <a:pPr marL="0" indent="0">
                  <a:buNone/>
                </a:pPr>
                <a:r>
                  <a:rPr lang="en-US" dirty="0" smtClean="0"/>
                  <a:t>    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]=4</a:t>
                </a:r>
                <a:r>
                  <a:rPr lang="el-GR" i="1" dirty="0" smtClean="0"/>
                  <a:t>δ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+2]+</a:t>
                </a:r>
                <a:r>
                  <a:rPr lang="en-US" dirty="0"/>
                  <a:t> </a:t>
                </a:r>
                <a:r>
                  <a:rPr lang="en-US" dirty="0" smtClean="0"/>
                  <a:t>2</a:t>
                </a:r>
                <a:r>
                  <a:rPr lang="el-GR" i="1" dirty="0" smtClean="0"/>
                  <a:t>δ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]+</a:t>
                </a:r>
                <a:r>
                  <a:rPr lang="en-US" dirty="0"/>
                  <a:t> </a:t>
                </a:r>
                <a:r>
                  <a:rPr lang="en-US" dirty="0" smtClean="0"/>
                  <a:t>3</a:t>
                </a:r>
                <a:r>
                  <a:rPr lang="el-GR" i="1" dirty="0" smtClean="0"/>
                  <a:t>δ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-1]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 smtClean="0"/>
                  <a:t>     </a:t>
                </a:r>
                <a:r>
                  <a:rPr lang="en-US" dirty="0" smtClean="0">
                    <a:latin typeface="Script MT Bold" panose="03040602040607080904" pitchFamily="66" charset="0"/>
                  </a:rPr>
                  <a:t>Z</a:t>
                </a:r>
                <a:r>
                  <a:rPr lang="en-US" dirty="0" smtClean="0"/>
                  <a:t>{</a:t>
                </a:r>
                <a:r>
                  <a:rPr lang="el-GR" i="1" dirty="0" smtClean="0"/>
                  <a:t>δ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+</a:t>
                </a:r>
                <a:r>
                  <a:rPr lang="en-US" i="1" dirty="0" smtClean="0"/>
                  <a:t>n</a:t>
                </a:r>
                <a:r>
                  <a:rPr lang="en-US" baseline="-25000" dirty="0" smtClean="0"/>
                  <a:t>0</a:t>
                </a:r>
                <a:r>
                  <a:rPr lang="en-US" dirty="0" smtClean="0"/>
                  <a:t>]}=</a:t>
                </a:r>
                <a:r>
                  <a:rPr lang="en-US" i="1" dirty="0" smtClean="0"/>
                  <a:t>z</a:t>
                </a:r>
                <a:r>
                  <a:rPr lang="en-US" i="1" baseline="30000" dirty="0" smtClean="0"/>
                  <a:t>n0</a:t>
                </a:r>
              </a:p>
              <a:p>
                <a:pPr marL="0" indent="0">
                  <a:buNone/>
                </a:pPr>
                <a:endParaRPr lang="en-US" i="1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Taylor’s Series Expansion: when </a:t>
                </a:r>
                <a:r>
                  <a:rPr lang="en-US" altLang="zh-CN" dirty="0" smtClean="0"/>
                  <a:t>|</a:t>
                </a:r>
                <a:r>
                  <a:rPr lang="en-US" altLang="zh-CN" i="1" dirty="0" smtClean="0"/>
                  <a:t>x</a:t>
                </a:r>
                <a:r>
                  <a:rPr lang="en-US" altLang="zh-CN" dirty="0" smtClean="0"/>
                  <a:t>|&lt;1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(−1)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(−1)</m:t>
                                  </m:r>
                                </m:e>
                                <m:sup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b="0" dirty="0" smtClean="0"/>
              </a:p>
              <a:p>
                <a:pPr marL="0" indent="0">
                  <a:buNone/>
                </a:pPr>
                <a:endParaRPr lang="en-US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 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−1]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0" dirty="0" smtClean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2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§10.3 Inverse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407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9947" y="365126"/>
            <a:ext cx="8471139" cy="792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Geometric </a:t>
            </a:r>
            <a:r>
              <a:rPr lang="en-US" sz="3200" dirty="0"/>
              <a:t>Evaluation of DT FT on Pole-Zero </a:t>
            </a:r>
            <a:r>
              <a:rPr lang="en-US" sz="3200" dirty="0" smtClean="0"/>
              <a:t>Plot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0"/>
                <a:ext cx="7886700" cy="434220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altLang="zh-CN" dirty="0" smtClean="0"/>
                  <a:t>Discrete-time Fourier transform is the specific case of z-transform when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en-US" altLang="zh-CN" b="0" dirty="0" smtClean="0"/>
                  <a:t> </a:t>
                </a:r>
                <a:r>
                  <a:rPr lang="en-US" altLang="zh-CN" b="0" dirty="0" smtClean="0">
                    <a:solidFill>
                      <a:srgbClr val="C00000"/>
                    </a:solidFill>
                  </a:rPr>
                  <a:t>(unit circle)</a:t>
                </a:r>
              </a:p>
              <a:p>
                <a:pPr lvl="1"/>
                <a:r>
                  <a:rPr lang="en-US" dirty="0" smtClean="0"/>
                  <a:t> </a:t>
                </a:r>
                <a:r>
                  <a:rPr lang="en-US" altLang="zh-CN" dirty="0" smtClean="0"/>
                  <a:t>Condition?  </a:t>
                </a:r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DT FT can be visualized from the pole-zero plot by checking the unit circle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Example #1: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dirty="0" smtClean="0"/>
                  <a:t>, ROC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,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dirty="0" smtClean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2 vectors:</a:t>
                </a:r>
              </a:p>
              <a:p>
                <a:pPr lvl="2"/>
                <a:r>
                  <a:rPr lang="en-US" dirty="0"/>
                  <a:t> </a:t>
                </a:r>
                <a:r>
                  <a:rPr lang="en-US" b="1" i="1" dirty="0" smtClean="0"/>
                  <a:t>v</a:t>
                </a:r>
                <a:r>
                  <a:rPr lang="en-US" b="1" baseline="-25000" dirty="0" smtClean="0"/>
                  <a:t>1</a:t>
                </a:r>
                <a:r>
                  <a:rPr lang="en-US" dirty="0" smtClean="0"/>
                  <a:t>=</a:t>
                </a:r>
                <a:r>
                  <a:rPr lang="en-US" i="1" dirty="0" err="1" smtClean="0"/>
                  <a:t>e</a:t>
                </a:r>
                <a:r>
                  <a:rPr lang="en-US" i="1" baseline="30000" dirty="0" err="1" smtClean="0"/>
                  <a:t>j</a:t>
                </a:r>
                <a:r>
                  <a:rPr lang="el-GR" i="1" baseline="30000" dirty="0" smtClean="0"/>
                  <a:t>ω</a:t>
                </a:r>
                <a:endParaRPr lang="en-US" i="1" baseline="30000" dirty="0" smtClean="0"/>
              </a:p>
              <a:p>
                <a:pPr lvl="2"/>
                <a:r>
                  <a:rPr lang="en-US" dirty="0"/>
                  <a:t> </a:t>
                </a:r>
                <a:r>
                  <a:rPr lang="en-US" b="1" dirty="0" smtClean="0"/>
                  <a:t>v</a:t>
                </a:r>
                <a:r>
                  <a:rPr lang="en-US" b="1" baseline="-25000" dirty="0" smtClean="0"/>
                  <a:t>2</a:t>
                </a:r>
                <a:r>
                  <a:rPr lang="en-US" dirty="0" smtClean="0"/>
                  <a:t>=</a:t>
                </a:r>
                <a:r>
                  <a:rPr lang="en-US" b="1" i="1" dirty="0"/>
                  <a:t> </a:t>
                </a:r>
                <a:r>
                  <a:rPr lang="en-US" i="1" dirty="0" err="1" smtClean="0"/>
                  <a:t>e</a:t>
                </a:r>
                <a:r>
                  <a:rPr lang="en-US" i="1" baseline="30000" dirty="0" err="1" smtClean="0"/>
                  <a:t>j</a:t>
                </a:r>
                <a:r>
                  <a:rPr lang="el-GR" i="1" baseline="30000" dirty="0"/>
                  <a:t>ω </a:t>
                </a:r>
                <a:r>
                  <a:rPr lang="en-US" dirty="0" smtClean="0"/>
                  <a:t>-</a:t>
                </a:r>
                <a:r>
                  <a:rPr lang="en-US" i="1" dirty="0" smtClean="0"/>
                  <a:t>a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0"/>
                <a:ext cx="7886700" cy="4342202"/>
              </a:xfrm>
              <a:blipFill>
                <a:blip r:embed="rId2"/>
                <a:stretch>
                  <a:fillRect l="-1159" t="-3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10.4 Geometric Evaluation of DT FT on Pole-Zero Plot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028950" y="1949423"/>
            <a:ext cx="3266007" cy="400110"/>
          </a:xfrm>
          <a:prstGeom prst="rect">
            <a:avLst/>
          </a:prstGeom>
          <a:noFill/>
          <a:ln w="2222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 includes the unit circle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343" y="3168721"/>
            <a:ext cx="3769743" cy="312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227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Geometric Evaluation of DT FT </a:t>
            </a:r>
            <a:r>
              <a:rPr lang="en-US" dirty="0" smtClean="0"/>
              <a:t>from </a:t>
            </a:r>
            <a:r>
              <a:rPr lang="en-US" dirty="0"/>
              <a:t>Pole-Zero </a:t>
            </a:r>
            <a:r>
              <a:rPr lang="en-US" dirty="0" smtClean="0"/>
              <a:t>Plot (Example #1: </a:t>
            </a:r>
            <a:r>
              <a:rPr lang="en-US" i="1" dirty="0" smtClean="0"/>
              <a:t>a</a:t>
            </a:r>
            <a:r>
              <a:rPr lang="en-US" dirty="0" smtClean="0"/>
              <a:t>=0.5)</a:t>
            </a:r>
            <a:endParaRPr 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091" y="1308100"/>
            <a:ext cx="6491817" cy="4868863"/>
          </a:xfr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10.4 </a:t>
            </a:r>
            <a:r>
              <a:rPr lang="en-US" dirty="0"/>
              <a:t>Geometric Evaluation of DT FT on Pole-Zero </a:t>
            </a:r>
            <a:r>
              <a:rPr lang="en-US" dirty="0" smtClean="0"/>
              <a:t>Plot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921962" y="2883278"/>
            <a:ext cx="1186776" cy="523220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=0.5</a:t>
            </a:r>
          </a:p>
        </p:txBody>
      </p:sp>
    </p:spTree>
    <p:extLst>
      <p:ext uri="{BB962C8B-B14F-4D97-AF65-F5344CB8AC3E}">
        <p14:creationId xmlns:p14="http://schemas.microsoft.com/office/powerpoint/2010/main" val="519173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Geometric Evaluation of DT FT </a:t>
            </a:r>
            <a:r>
              <a:rPr lang="en-US" dirty="0" smtClean="0"/>
              <a:t>from </a:t>
            </a:r>
            <a:r>
              <a:rPr lang="en-US" dirty="0"/>
              <a:t>Pole-Zero </a:t>
            </a:r>
            <a:r>
              <a:rPr lang="en-US" dirty="0" smtClean="0"/>
              <a:t>Plot (Example #1: </a:t>
            </a:r>
            <a:r>
              <a:rPr lang="en-US" i="1" dirty="0" smtClean="0"/>
              <a:t>a</a:t>
            </a:r>
            <a:r>
              <a:rPr lang="en-US" dirty="0" smtClean="0"/>
              <a:t>=0.95)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10.4 </a:t>
            </a:r>
            <a:r>
              <a:rPr lang="en-US" dirty="0"/>
              <a:t>Geometric Evaluation of DT FT on Pole-Zero </a:t>
            </a:r>
            <a:r>
              <a:rPr lang="en-US" dirty="0" smtClean="0"/>
              <a:t>Plot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921962" y="2883278"/>
            <a:ext cx="1186776" cy="523220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=0.95</a:t>
            </a:r>
          </a:p>
        </p:txBody>
      </p:sp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091" y="1308100"/>
            <a:ext cx="6491817" cy="4868863"/>
          </a:xfrm>
        </p:spPr>
      </p:pic>
    </p:spTree>
    <p:extLst>
      <p:ext uri="{BB962C8B-B14F-4D97-AF65-F5344CB8AC3E}">
        <p14:creationId xmlns:p14="http://schemas.microsoft.com/office/powerpoint/2010/main" val="501961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Geometric Evaluation of DT FT from Pole-Zero Plot (Example </a:t>
            </a:r>
            <a:r>
              <a:rPr lang="en-US" dirty="0" smtClean="0"/>
              <a:t>#2)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𝑠𝑖𝑛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+1)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+1)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𝑗𝑠𝑖𝑛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𝑗𝑠𝑖𝑛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𝑗𝑠𝑖𝑛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p>
                        </m:sSup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𝑗𝑠𝑖𝑛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𝑟𝑐𝑜𝑠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</m:den>
                      </m:f>
                      <m:r>
                        <m:rPr>
                          <m:nor/>
                        </m:rPr>
                        <a:rPr lang="en-US" b="0" i="0" smtClean="0"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b="0" i="0" smtClean="0">
                          <a:ea typeface="Cambria Math" panose="02040503050406030204" pitchFamily="18" charset="0"/>
                        </a:rPr>
                        <m:t>ROC</m:t>
                      </m:r>
                      <m:r>
                        <m:rPr>
                          <m:nor/>
                        </m:rPr>
                        <a:rPr lang="en-US" b="0" i="0" smtClean="0"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 </m:t>
                      </m:r>
                    </m:oMath>
                  </m:oMathPara>
                </a14:m>
                <a:endParaRPr lang="en-US" dirty="0" smtClean="0"/>
              </a:p>
              <a:p>
                <a:pPr lvl="1"/>
                <a:r>
                  <a:rPr lang="en-US" dirty="0" smtClean="0"/>
                  <a:t> If |</a:t>
                </a:r>
                <a:r>
                  <a:rPr lang="en-US" i="1" dirty="0" smtClean="0"/>
                  <a:t>r</a:t>
                </a:r>
                <a:r>
                  <a:rPr lang="en-US" dirty="0" smtClean="0"/>
                  <a:t>|&lt;1, DT </a:t>
                </a:r>
                <a:r>
                  <a:rPr lang="en-US" altLang="zh-CN" dirty="0" smtClean="0"/>
                  <a:t>Fourier transform converges</a:t>
                </a:r>
              </a:p>
              <a:p>
                <a:r>
                  <a:rPr lang="en-US" dirty="0" smtClean="0"/>
                  <a:t> poles and zeros</a:t>
                </a:r>
              </a:p>
              <a:p>
                <a:pPr lvl="1"/>
                <a:r>
                  <a:rPr lang="en-US" dirty="0" smtClean="0"/>
                  <a:t>a double zero at z=0</a:t>
                </a:r>
              </a:p>
              <a:p>
                <a:pPr lvl="1"/>
                <a:r>
                  <a:rPr lang="en-US" dirty="0" smtClean="0"/>
                  <a:t>2 conjugate poles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𝑗𝑠𝑖𝑛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501" b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10.4 </a:t>
            </a:r>
            <a:r>
              <a:rPr lang="en-US" dirty="0"/>
              <a:t>Geometric Evaluation of DT FT on Pole-Zero </a:t>
            </a:r>
            <a:r>
              <a:rPr lang="en-US" dirty="0" smtClean="0"/>
              <a:t>Plot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440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Geometric Evaluation of DT FT from Pole-Zero Plot (Example #</a:t>
            </a:r>
            <a:r>
              <a:rPr lang="en-US" dirty="0" smtClean="0"/>
              <a:t>2, </a:t>
            </a:r>
            <a:r>
              <a:rPr lang="en-US" dirty="0" err="1" smtClean="0"/>
              <a:t>Cont</a:t>
            </a:r>
            <a:r>
              <a:rPr lang="en-US" dirty="0" smtClean="0"/>
              <a:t>’)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0024" y="1308100"/>
                <a:ext cx="3710437" cy="4868863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 smtClean="0"/>
                  <a:t> </a:t>
                </a:r>
                <a:r>
                  <a:rPr lang="en-US" dirty="0"/>
                  <a:t>poles and zeros</a:t>
                </a:r>
              </a:p>
              <a:p>
                <a:pPr lvl="1"/>
                <a:r>
                  <a:rPr lang="en-US" dirty="0" smtClean="0"/>
                  <a:t> a </a:t>
                </a:r>
                <a:r>
                  <a:rPr lang="en-US" dirty="0"/>
                  <a:t>double zero at z=0</a:t>
                </a:r>
              </a:p>
              <a:p>
                <a:pPr lvl="1"/>
                <a:r>
                  <a:rPr lang="en-US" dirty="0" smtClean="0"/>
                  <a:t> 2 </a:t>
                </a:r>
                <a:r>
                  <a:rPr lang="en-US" dirty="0"/>
                  <a:t>conjugate poles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endParaRPr lang="en-US" sz="2800" dirty="0" smtClean="0"/>
              </a:p>
              <a:p>
                <a:pPr marL="228600" lvl="1">
                  <a:spcBef>
                    <a:spcPts val="1000"/>
                  </a:spcBef>
                  <a:buFont typeface="Wingdings" panose="05000000000000000000" pitchFamily="2" charset="2"/>
                  <a:buChar char="p"/>
                </a:pPr>
                <a:r>
                  <a:rPr lang="en-US" sz="2800" dirty="0" smtClean="0"/>
                  <a:t> 3 vectors:</a:t>
                </a:r>
              </a:p>
              <a:p>
                <a:pPr marL="685800" lvl="2">
                  <a:spcBef>
                    <a:spcPts val="1000"/>
                  </a:spcBef>
                  <a:buFont typeface="Wingdings" panose="05000000000000000000" pitchFamily="2" charset="2"/>
                  <a:buChar char="p"/>
                </a:pPr>
                <a:r>
                  <a:rPr lang="en-US" sz="2400" b="1" i="1" dirty="0" smtClean="0"/>
                  <a:t>v</a:t>
                </a:r>
                <a:r>
                  <a:rPr lang="en-US" sz="2400" b="1" baseline="-25000" dirty="0" smtClean="0"/>
                  <a:t>1</a:t>
                </a:r>
                <a:r>
                  <a:rPr lang="en-US" sz="2400" dirty="0" smtClean="0"/>
                  <a:t>=</a:t>
                </a:r>
                <a:r>
                  <a:rPr lang="en-US" sz="2400" i="1" dirty="0" err="1" smtClean="0"/>
                  <a:t>e</a:t>
                </a:r>
                <a:r>
                  <a:rPr lang="en-US" sz="2400" i="1" baseline="30000" dirty="0" err="1" smtClean="0"/>
                  <a:t>j</a:t>
                </a:r>
                <a:r>
                  <a:rPr lang="el-GR" sz="2400" i="1" baseline="30000" dirty="0" smtClean="0"/>
                  <a:t>ω</a:t>
                </a:r>
                <a:endParaRPr lang="en-US" sz="2400" i="1" baseline="30000" dirty="0" smtClean="0"/>
              </a:p>
              <a:p>
                <a:pPr marL="685800" lvl="2">
                  <a:spcBef>
                    <a:spcPts val="1000"/>
                  </a:spcBef>
                  <a:buFont typeface="Wingdings" panose="05000000000000000000" pitchFamily="2" charset="2"/>
                  <a:buChar char="p"/>
                </a:pPr>
                <a:r>
                  <a:rPr lang="en-US" sz="2400" b="1" dirty="0" smtClean="0"/>
                  <a:t>v</a:t>
                </a:r>
                <a:r>
                  <a:rPr lang="en-US" sz="2400" b="1" baseline="-25000" dirty="0" smtClean="0"/>
                  <a:t>2</a:t>
                </a:r>
                <a:r>
                  <a:rPr lang="en-US" sz="2400" dirty="0"/>
                  <a:t>=</a:t>
                </a:r>
                <a:r>
                  <a:rPr lang="en-US" sz="2400" b="1" i="1" dirty="0"/>
                  <a:t> </a:t>
                </a:r>
                <a:r>
                  <a:rPr lang="en-US" sz="2400" i="1" dirty="0" err="1"/>
                  <a:t>e</a:t>
                </a:r>
                <a:r>
                  <a:rPr lang="en-US" sz="2400" i="1" baseline="30000" dirty="0" err="1"/>
                  <a:t>j</a:t>
                </a:r>
                <a:r>
                  <a:rPr lang="el-GR" sz="2400" i="1" baseline="30000" dirty="0"/>
                  <a:t>ω </a:t>
                </a:r>
                <a:r>
                  <a:rPr lang="en-US" sz="2400" dirty="0" smtClean="0"/>
                  <a:t>-</a:t>
                </a:r>
                <a:r>
                  <a:rPr lang="en-US" sz="2400" i="1" dirty="0" err="1" smtClean="0"/>
                  <a:t>re</a:t>
                </a:r>
                <a:r>
                  <a:rPr lang="en-US" sz="2400" i="1" baseline="30000" dirty="0" err="1" smtClean="0"/>
                  <a:t>j</a:t>
                </a:r>
                <a:r>
                  <a:rPr lang="el-GR" sz="2400" i="1" baseline="30000" dirty="0" smtClean="0"/>
                  <a:t>θ </a:t>
                </a:r>
                <a:endParaRPr lang="en-US" sz="2400" i="1" baseline="30000" dirty="0" smtClean="0"/>
              </a:p>
              <a:p>
                <a:pPr marL="685800" lvl="2">
                  <a:spcBef>
                    <a:spcPts val="1000"/>
                  </a:spcBef>
                  <a:buFont typeface="Wingdings" panose="05000000000000000000" pitchFamily="2" charset="2"/>
                  <a:buChar char="p"/>
                </a:pPr>
                <a:r>
                  <a:rPr lang="en-US" sz="2400" b="1" dirty="0" smtClean="0"/>
                  <a:t>v</a:t>
                </a:r>
                <a:r>
                  <a:rPr lang="en-US" sz="2400" b="1" baseline="-25000" dirty="0" smtClean="0"/>
                  <a:t>3</a:t>
                </a:r>
                <a:r>
                  <a:rPr lang="en-US" sz="2400" dirty="0" smtClean="0"/>
                  <a:t>=</a:t>
                </a:r>
                <a:r>
                  <a:rPr lang="en-US" sz="2400" b="1" i="1" dirty="0" smtClean="0"/>
                  <a:t> </a:t>
                </a:r>
                <a:r>
                  <a:rPr lang="en-US" sz="2400" i="1" dirty="0" err="1"/>
                  <a:t>e</a:t>
                </a:r>
                <a:r>
                  <a:rPr lang="en-US" sz="2400" i="1" baseline="30000" dirty="0" err="1"/>
                  <a:t>j</a:t>
                </a:r>
                <a:r>
                  <a:rPr lang="el-GR" sz="2400" i="1" baseline="30000" dirty="0"/>
                  <a:t>ω </a:t>
                </a:r>
                <a:r>
                  <a:rPr lang="en-US" sz="2400" dirty="0" smtClean="0"/>
                  <a:t>–</a:t>
                </a:r>
                <a:r>
                  <a:rPr lang="en-US" sz="2400" i="1" dirty="0" smtClean="0"/>
                  <a:t>re-</a:t>
                </a:r>
                <a:r>
                  <a:rPr lang="en-US" sz="2400" i="1" baseline="30000" dirty="0" smtClean="0"/>
                  <a:t>j</a:t>
                </a:r>
                <a:r>
                  <a:rPr lang="el-GR" sz="2400" i="1" baseline="30000" dirty="0"/>
                  <a:t>θ </a:t>
                </a:r>
                <a:endParaRPr lang="en-US" sz="2400" i="1" dirty="0"/>
              </a:p>
              <a:p>
                <a:r>
                  <a:rPr lang="en-US" dirty="0"/>
                  <a:t> </a:t>
                </a:r>
                <a:r>
                  <a:rPr lang="en-US" altLang="zh-CN" dirty="0" smtClean="0"/>
                  <a:t>DT Fourier transform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0024" y="1308100"/>
                <a:ext cx="3710437" cy="4868863"/>
              </a:xfrm>
              <a:blipFill>
                <a:blip r:embed="rId2"/>
                <a:stretch>
                  <a:fillRect l="-2961" t="-2256" r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10.4 </a:t>
            </a:r>
            <a:r>
              <a:rPr lang="en-US" dirty="0"/>
              <a:t>Geometric Evaluation of DT FT on Pole-Zero </a:t>
            </a:r>
            <a:r>
              <a:rPr lang="en-US" dirty="0" smtClean="0"/>
              <a:t>Plot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150" y="1544128"/>
            <a:ext cx="5060097" cy="425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442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内容占位符 1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091" y="1308100"/>
            <a:ext cx="6491817" cy="4868863"/>
          </a:xfr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Geometric Evaluation of DT FT from Pole-Zero Plot (Example #2, </a:t>
            </a:r>
            <a:r>
              <a:rPr lang="en-US" sz="3200" i="1" dirty="0" smtClean="0"/>
              <a:t>r</a:t>
            </a:r>
            <a:r>
              <a:rPr lang="en-US" altLang="zh-CN" sz="3200" dirty="0" smtClean="0"/>
              <a:t>=0.8, </a:t>
            </a:r>
            <a:r>
              <a:rPr lang="el-GR" altLang="zh-CN" sz="3200" i="1" dirty="0" smtClean="0"/>
              <a:t>θ</a:t>
            </a:r>
            <a:r>
              <a:rPr lang="en-US" altLang="zh-CN" sz="3200" dirty="0" smtClean="0"/>
              <a:t>=</a:t>
            </a:r>
            <a:r>
              <a:rPr lang="el-GR" altLang="zh-CN" sz="3200" i="1" dirty="0" smtClean="0"/>
              <a:t>π</a:t>
            </a:r>
            <a:r>
              <a:rPr lang="en-US" altLang="zh-CN" sz="3200" dirty="0" smtClean="0"/>
              <a:t>/4</a:t>
            </a:r>
            <a:r>
              <a:rPr lang="en-US" sz="3200" dirty="0" smtClean="0"/>
              <a:t>)</a:t>
            </a:r>
            <a:endParaRPr lang="en-US" sz="32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10.4 </a:t>
            </a:r>
            <a:r>
              <a:rPr lang="en-US" dirty="0"/>
              <a:t>Geometric Evaluation of DT FT on Pole-Zero </a:t>
            </a:r>
            <a:r>
              <a:rPr lang="en-US" dirty="0" smtClean="0"/>
              <a:t>Plot</a:t>
            </a:r>
            <a:endParaRPr 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7921962" y="2883278"/>
            <a:ext cx="1186776" cy="138499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=0.8</a:t>
            </a:r>
          </a:p>
          <a:p>
            <a:r>
              <a:rPr lang="el-GR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l-GR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/4</a:t>
            </a: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3263" y="2699922"/>
            <a:ext cx="1705655" cy="1200329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the frequency corresponding to the peaks?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232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 smtClean="0"/>
              <a:t>z</a:t>
            </a:r>
            <a:r>
              <a:rPr lang="en-US" dirty="0" smtClean="0"/>
              <a:t>-</a:t>
            </a:r>
            <a:r>
              <a:rPr lang="en-US" altLang="zh-CN" dirty="0" smtClean="0"/>
              <a:t>Transform Properties - Linearity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308100"/>
                <a:ext cx="8127161" cy="4868863"/>
              </a:xfrm>
            </p:spPr>
            <p:txBody>
              <a:bodyPr/>
              <a:lstStyle/>
              <a:p>
                <a:r>
                  <a:rPr lang="en-US" dirty="0" smtClean="0"/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Linearity</a:t>
                </a:r>
                <a:r>
                  <a:rPr lang="en-US" altLang="zh-CN" dirty="0" smtClean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groupChr>
                                <m:groupChrPr>
                                  <m:chr m:val="↔"/>
                                  <m:vertJc m:val="bot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groupCh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with</m:t>
                              </m:r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ROC</m:t>
                              </m:r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groupChr>
                                <m:groupChrPr>
                                  <m:chr m:val="↔"/>
                                  <m:vertJc m:val="bot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groupCh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with</m:t>
                              </m:r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ROC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groupChr>
                        <m:groupChrPr>
                          <m:chr m:val="↔"/>
                          <m:vertJc m:val="bot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groupCh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i="0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ROC</m:t>
                      </m:r>
                      <m:r>
                        <a:rPr lang="en-US" altLang="zh-CN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containing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308100"/>
                <a:ext cx="8127161" cy="4868863"/>
              </a:xfrm>
              <a:blipFill>
                <a:blip r:embed="rId2"/>
                <a:stretch>
                  <a:fillRect l="-1275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10.5 </a:t>
            </a:r>
            <a:r>
              <a:rPr lang="en-US" i="1" dirty="0" smtClean="0"/>
              <a:t>z</a:t>
            </a:r>
            <a:r>
              <a:rPr lang="en-US" dirty="0" smtClean="0"/>
              <a:t>-</a:t>
            </a:r>
            <a:r>
              <a:rPr lang="en-US" altLang="zh-CN" dirty="0" smtClean="0"/>
              <a:t>Transform Properties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1139682" y="3737037"/>
                <a:ext cx="4880176" cy="52322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Q1: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ROC larger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682" y="3737037"/>
                <a:ext cx="4880176" cy="523220"/>
              </a:xfrm>
              <a:prstGeom prst="rect">
                <a:avLst/>
              </a:prstGeom>
              <a:blipFill>
                <a:blip r:embed="rId3"/>
                <a:stretch>
                  <a:fillRect l="-2491" t="-10227" b="-29545"/>
                </a:stretch>
              </a:blipFill>
              <a:ln w="952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139682" y="5009236"/>
                <a:ext cx="3393681" cy="52322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Q2: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ROC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682" y="5009236"/>
                <a:ext cx="3393681" cy="523220"/>
              </a:xfrm>
              <a:prstGeom prst="rect">
                <a:avLst/>
              </a:prstGeom>
              <a:blipFill>
                <a:blip r:embed="rId4"/>
                <a:stretch>
                  <a:fillRect l="-3578" t="-11364" b="-29545"/>
                </a:stretch>
              </a:blipFill>
              <a:ln w="952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139681" y="4350007"/>
                <a:ext cx="7029533" cy="523220"/>
              </a:xfrm>
              <a:prstGeom prst="rect">
                <a:avLst/>
              </a:prstGeom>
              <a:noFill/>
              <a:ln w="9525">
                <a:solidFill>
                  <a:srgbClr val="0000FF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A1: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eg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681" y="4350007"/>
                <a:ext cx="7029533" cy="523220"/>
              </a:xfrm>
              <a:prstGeom prst="rect">
                <a:avLst/>
              </a:prstGeom>
              <a:blipFill>
                <a:blip r:embed="rId5"/>
                <a:stretch>
                  <a:fillRect l="-1732" t="-11494" b="-31034"/>
                </a:stretch>
              </a:blipFill>
              <a:ln w="95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1152814" y="5642923"/>
            <a:ext cx="4388450" cy="523220"/>
          </a:xfrm>
          <a:prstGeom prst="rect">
            <a:avLst/>
          </a:prstGeom>
          <a:noFill/>
          <a:ln w="952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A2: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pole/zero cancellation</a:t>
            </a:r>
          </a:p>
        </p:txBody>
      </p:sp>
    </p:spTree>
    <p:extLst>
      <p:ext uri="{BB962C8B-B14F-4D97-AF65-F5344CB8AC3E}">
        <p14:creationId xmlns:p14="http://schemas.microsoft.com/office/powerpoint/2010/main" val="2996441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i="1" dirty="0"/>
              <a:t>z</a:t>
            </a:r>
            <a:r>
              <a:rPr lang="en-US" sz="3200" dirty="0"/>
              <a:t>-</a:t>
            </a:r>
            <a:r>
              <a:rPr lang="en-US" altLang="zh-CN" sz="3200" dirty="0"/>
              <a:t>Transform </a:t>
            </a:r>
            <a:r>
              <a:rPr lang="en-US" altLang="zh-CN" sz="3200" dirty="0" smtClean="0"/>
              <a:t>Properties </a:t>
            </a:r>
            <a:br>
              <a:rPr lang="en-US" altLang="zh-CN" sz="3200" dirty="0" smtClean="0"/>
            </a:br>
            <a:r>
              <a:rPr lang="en-US" altLang="zh-CN" sz="3200" dirty="0" smtClean="0"/>
              <a:t>– Time Shifting and Time Reversal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0"/>
                <a:ext cx="7886700" cy="5048251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altLang="zh-CN" b="1" dirty="0" smtClean="0">
                    <a:solidFill>
                      <a:srgbClr val="C00000"/>
                    </a:solidFill>
                  </a:rPr>
                  <a:t>Time shifting</a:t>
                </a:r>
                <a:r>
                  <a:rPr lang="en-US" altLang="zh-CN" dirty="0" smtClean="0"/>
                  <a:t>: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groupChr>
                        <m:groupChrPr>
                          <m:chr m:val="↔"/>
                          <m:vertJc m:val="bot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groupCh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ROC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groupChr>
                      <m:groupChrPr>
                        <m:chr m:val="↔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groupCh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with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ROC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 smtClean="0"/>
                  <a:t>, except possible addition/deletion of the origin/infinity</a:t>
                </a:r>
              </a:p>
              <a:p>
                <a:pPr lvl="1"/>
                <a:r>
                  <a:rPr lang="en-US" dirty="0" smtClean="0"/>
                  <a:t> </a:t>
                </a:r>
                <a:r>
                  <a:rPr lang="en-US" i="1" dirty="0" smtClean="0"/>
                  <a:t>n</a:t>
                </a:r>
                <a:r>
                  <a:rPr lang="en-US" baseline="-25000" dirty="0" smtClean="0"/>
                  <a:t>0</a:t>
                </a:r>
                <a:r>
                  <a:rPr lang="en-US" dirty="0" smtClean="0"/>
                  <a:t>&gt;0, multiplication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 smtClean="0"/>
                  <a:t> may introduce additional pole(s) at 0 </a:t>
                </a:r>
                <a:r>
                  <a:rPr lang="en-US" dirty="0" smtClean="0">
                    <a:sym typeface="Wingdings" panose="05000000000000000000" pitchFamily="2" charset="2"/>
                  </a:rPr>
                  <a:t></a:t>
                </a:r>
                <a:r>
                  <a:rPr lang="en-US" dirty="0" smtClean="0"/>
                  <a:t>the origin </a:t>
                </a:r>
                <a:r>
                  <a:rPr lang="en-US" i="1" dirty="0" smtClean="0"/>
                  <a:t>z</a:t>
                </a:r>
                <a:r>
                  <a:rPr lang="en-US" dirty="0" smtClean="0"/>
                  <a:t>=0 is deleted from ROC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i="1" dirty="0" smtClean="0"/>
                  <a:t>n</a:t>
                </a:r>
                <a:r>
                  <a:rPr lang="en-US" baseline="-25000" dirty="0" smtClean="0"/>
                  <a:t>0</a:t>
                </a:r>
                <a:r>
                  <a:rPr lang="en-US" dirty="0" smtClean="0"/>
                  <a:t>&lt;0 …..</a:t>
                </a:r>
              </a:p>
              <a:p>
                <a:pPr marL="457200" lvl="1" indent="0">
                  <a:buNone/>
                </a:pPr>
                <a:endParaRPr lang="en-US" dirty="0" smtClean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 smtClean="0"/>
              </a:p>
              <a:p>
                <a:pPr marL="457200" lvl="1" indent="0">
                  <a:buNone/>
                </a:pPr>
                <a:endParaRPr lang="en-US" dirty="0" smtClean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Time reversal</a:t>
                </a:r>
                <a:r>
                  <a:rPr lang="en-US" altLang="zh-CN" dirty="0" smtClean="0"/>
                  <a:t>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groupChr>
                        <m:groupChrPr>
                          <m:chr m:val="↔"/>
                          <m:vertJc m:val="bot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groupCh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ROC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groupChr>
                        <m:groupChrPr>
                          <m:chr m:val="↔"/>
                          <m:vertJc m:val="bot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groupCh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ROC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0"/>
                <a:ext cx="7886700" cy="5048251"/>
              </a:xfrm>
              <a:blipFill>
                <a:blip r:embed="rId2"/>
                <a:stretch>
                  <a:fillRect l="-1159" t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§10.5 </a:t>
            </a:r>
            <a:r>
              <a:rPr lang="en-US" i="1" dirty="0"/>
              <a:t>z</a:t>
            </a:r>
            <a:r>
              <a:rPr lang="en-US" dirty="0"/>
              <a:t>-</a:t>
            </a:r>
            <a:r>
              <a:rPr lang="en-US" altLang="zh-CN" dirty="0"/>
              <a:t>Transform </a:t>
            </a:r>
            <a:r>
              <a:rPr lang="en-US" altLang="zh-CN" dirty="0" smtClean="0"/>
              <a:t>Properties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2829" y="3429001"/>
            <a:ext cx="4579807" cy="151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772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i="1" dirty="0"/>
              <a:t>z</a:t>
            </a:r>
            <a:r>
              <a:rPr lang="en-US" sz="3600" dirty="0"/>
              <a:t>-</a:t>
            </a:r>
            <a:r>
              <a:rPr lang="en-US" altLang="zh-CN" sz="3600" dirty="0"/>
              <a:t>Transform Properties </a:t>
            </a:r>
            <a:r>
              <a:rPr lang="en-US" altLang="zh-CN" sz="3600" dirty="0" smtClean="0"/>
              <a:t>– Time Expansion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b="1" dirty="0" smtClean="0">
                    <a:solidFill>
                      <a:srgbClr val="C00000"/>
                    </a:solidFill>
                  </a:rPr>
                  <a:t> Time expansion</a:t>
                </a:r>
                <a:r>
                  <a:rPr lang="en-US" altLang="zh-CN" dirty="0" smtClean="0"/>
                  <a:t>:</a:t>
                </a:r>
              </a:p>
              <a:p>
                <a:pPr marL="0" indent="0">
                  <a:buNone/>
                </a:pPr>
                <a:endParaRPr lang="en-US" altLang="zh-CN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multiple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of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m:rPr>
                                  <m:nor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groupChr>
                        <m:groupChrPr>
                          <m:chr m:val="↔"/>
                          <m:vertJc m:val="bot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groupCh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ROC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groupChr>
                        <m:groupChrPr>
                          <m:chr m:val="↔"/>
                          <m:vertJc m:val="bot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groupCh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ROC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§10.5 </a:t>
            </a:r>
            <a:r>
              <a:rPr lang="en-US" i="1" dirty="0"/>
              <a:t>z</a:t>
            </a:r>
            <a:r>
              <a:rPr lang="en-US" dirty="0"/>
              <a:t>-</a:t>
            </a:r>
            <a:r>
              <a:rPr lang="en-US" altLang="zh-CN" dirty="0"/>
              <a:t>Transform </a:t>
            </a:r>
            <a:r>
              <a:rPr lang="en-US" altLang="zh-CN" dirty="0" smtClean="0"/>
              <a:t>Properties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051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231886" cy="792000"/>
          </a:xfrm>
        </p:spPr>
        <p:txBody>
          <a:bodyPr>
            <a:noAutofit/>
          </a:bodyPr>
          <a:lstStyle/>
          <a:p>
            <a:r>
              <a:rPr lang="en-US" sz="3600" i="1" dirty="0"/>
              <a:t>z</a:t>
            </a:r>
            <a:r>
              <a:rPr lang="en-US" sz="3600" dirty="0"/>
              <a:t>-</a:t>
            </a:r>
            <a:r>
              <a:rPr lang="en-US" altLang="zh-CN" sz="3600" dirty="0"/>
              <a:t>Transform Properties – </a:t>
            </a:r>
            <a:r>
              <a:rPr lang="en-US" altLang="zh-CN" sz="3600" dirty="0" smtClean="0"/>
              <a:t>z-Domain Scaling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8231886" cy="232206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 z-domain scaling: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groupChr>
                        <m:groupChrPr>
                          <m:chr m:val="↔"/>
                          <m:vertJc m:val="bot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groupCh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ROC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altLang="zh-CN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groupChr>
                        <m:groupChrPr>
                          <m:chr m:val="↔"/>
                          <m:vertJc m:val="bot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groupCh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ROC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A special case: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groupChr>
                      <m:groupChrPr>
                        <m:chr m:val="↔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groupCh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8231886" cy="2322068"/>
              </a:xfrm>
              <a:blipFill>
                <a:blip r:embed="rId2"/>
                <a:stretch>
                  <a:fillRect l="-1110" t="-6037" b="-31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§10.5 </a:t>
            </a:r>
            <a:r>
              <a:rPr lang="en-US" i="1" dirty="0"/>
              <a:t>z</a:t>
            </a:r>
            <a:r>
              <a:rPr lang="en-US" dirty="0"/>
              <a:t>-</a:t>
            </a:r>
            <a:r>
              <a:rPr lang="en-US" altLang="zh-CN" dirty="0"/>
              <a:t>Transform </a:t>
            </a:r>
            <a:r>
              <a:rPr lang="en-US" altLang="zh-CN" dirty="0" smtClean="0"/>
              <a:t>Properties</a:t>
            </a:r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839" y="3683561"/>
            <a:ext cx="3415500" cy="2870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104" y="3683561"/>
            <a:ext cx="3415500" cy="287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903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i="1" dirty="0"/>
              <a:t>z</a:t>
            </a:r>
            <a:r>
              <a:rPr lang="en-US" sz="3600" dirty="0"/>
              <a:t>-</a:t>
            </a:r>
            <a:r>
              <a:rPr lang="en-US" altLang="zh-CN" sz="3600" dirty="0"/>
              <a:t>Transform Properties – </a:t>
            </a:r>
            <a:r>
              <a:rPr lang="en-US" altLang="zh-CN" sz="3600" dirty="0" smtClean="0"/>
              <a:t>Conjugation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</a:t>
                </a:r>
                <a:r>
                  <a:rPr lang="en-US" altLang="zh-CN" dirty="0" smtClean="0"/>
                  <a:t>Conjugation</a:t>
                </a:r>
                <a:r>
                  <a:rPr lang="en-US" dirty="0" smtClean="0"/>
                  <a:t>: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groupChr>
                        <m:groupChrPr>
                          <m:chr m:val="↔"/>
                          <m:vertJc m:val="bot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groupCh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ROC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groupChr>
                        <m:groupChrPr>
                          <m:chr m:val="↔"/>
                          <m:vertJc m:val="bot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groupCh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ROC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altLang="zh-CN" dirty="0"/>
                  <a:t>I</a:t>
                </a:r>
                <a:r>
                  <a:rPr lang="en-US" dirty="0" smtClean="0"/>
                  <a:t>f </a:t>
                </a:r>
                <a:r>
                  <a:rPr lang="en-US" i="1" dirty="0"/>
                  <a:t>x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/>
                  <a:t>] is </a:t>
                </a:r>
                <a:r>
                  <a:rPr lang="en-US" dirty="0" smtClean="0"/>
                  <a:t>real</a:t>
                </a:r>
              </a:p>
              <a:p>
                <a:pPr lvl="1"/>
                <a:r>
                  <a:rPr lang="en-US" altLang="zh-CN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 smtClean="0"/>
              </a:p>
              <a:p>
                <a:pPr lvl="1"/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 smtClean="0"/>
                  <a:t>  the magnitude-frequency response is even, the phase-frequency response is odd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§10.5 </a:t>
            </a:r>
            <a:r>
              <a:rPr lang="en-US" i="1" dirty="0"/>
              <a:t>z</a:t>
            </a:r>
            <a:r>
              <a:rPr lang="en-US" dirty="0"/>
              <a:t>-</a:t>
            </a:r>
            <a:r>
              <a:rPr lang="en-US" altLang="zh-CN" dirty="0"/>
              <a:t>Transform </a:t>
            </a:r>
            <a:r>
              <a:rPr lang="en-US" altLang="zh-CN" dirty="0" smtClean="0"/>
              <a:t>Properties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449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i="1" dirty="0"/>
              <a:t>z</a:t>
            </a:r>
            <a:r>
              <a:rPr lang="en-US" sz="3600" dirty="0"/>
              <a:t>-</a:t>
            </a:r>
            <a:r>
              <a:rPr lang="en-US" altLang="zh-CN" sz="3600" dirty="0"/>
              <a:t>Transform Properties – </a:t>
            </a:r>
            <a:r>
              <a:rPr lang="en-US" altLang="zh-CN" sz="3600" dirty="0" smtClean="0"/>
              <a:t>Convolution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0"/>
                <a:ext cx="8054722" cy="4868863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Convolution property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groupChr>
                                <m:groupChrPr>
                                  <m:chr m:val="↔"/>
                                  <m:vertJc m:val="bot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groupCh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with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ROC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groupChr>
                                <m:groupChrPr>
                                  <m:chr m:val="↔"/>
                                  <m:vertJc m:val="bot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groupCh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with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ROC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groupChr>
                        <m:groupChrPr>
                          <m:chr m:val="↔"/>
                          <m:vertJc m:val="bot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groupCh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ROC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containing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dirty="0" smtClean="0"/>
              </a:p>
              <a:p>
                <a:r>
                  <a:rPr lang="en-US" dirty="0" smtClean="0"/>
                  <a:t> </a:t>
                </a:r>
                <a:r>
                  <a:rPr lang="en-US" dirty="0" smtClean="0">
                    <a:solidFill>
                      <a:srgbClr val="C00000"/>
                    </a:solidFill>
                  </a:rPr>
                  <a:t>first-difference in time domain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ROC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𝑝𝑙𝑎𝑛𝑒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𝑒𝑥𝑐𝑒𝑝𝑡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 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en-US" b="0" dirty="0" smtClean="0">
                    <a:ea typeface="Cambria Math" panose="02040503050406030204" pitchFamily="18" charset="0"/>
                  </a:rPr>
                  <a:t> In time domain,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>
                    <a:solidFill>
                      <a:srgbClr val="C00000"/>
                    </a:solidFill>
                  </a:rPr>
                  <a:t>accumulation/summation in time domain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groupChr>
                      <m:groupChrPr>
                        <m:chr m:val="↔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𝒵</m:t>
                        </m:r>
                      </m:e>
                    </m:groupCh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ROC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0"/>
                <a:ext cx="8054722" cy="4868863"/>
              </a:xfrm>
              <a:blipFill>
                <a:blip r:embed="rId2"/>
                <a:stretch>
                  <a:fillRect l="-833" t="-2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§10.5 </a:t>
            </a:r>
            <a:r>
              <a:rPr lang="en-US" i="1" dirty="0"/>
              <a:t>z</a:t>
            </a:r>
            <a:r>
              <a:rPr lang="en-US" dirty="0"/>
              <a:t>-</a:t>
            </a:r>
            <a:r>
              <a:rPr lang="en-US" altLang="zh-CN" dirty="0"/>
              <a:t>Transform </a:t>
            </a:r>
            <a:r>
              <a:rPr lang="en-US" altLang="zh-CN" dirty="0" smtClean="0"/>
              <a:t>Properties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531214" y="2318293"/>
            <a:ext cx="2152158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prove?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62603" y="3742531"/>
            <a:ext cx="1537222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Q2: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How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62603" y="4109129"/>
            <a:ext cx="1537222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Q3: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ROC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762603" y="4569908"/>
            <a:ext cx="1537222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Q4: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How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762603" y="5204158"/>
            <a:ext cx="1537222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Q5: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ROC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463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i="1" dirty="0"/>
              <a:t>z</a:t>
            </a:r>
            <a:r>
              <a:rPr lang="en-US" sz="2800" dirty="0"/>
              <a:t>-</a:t>
            </a:r>
            <a:r>
              <a:rPr lang="en-US" altLang="zh-CN" sz="2800" dirty="0"/>
              <a:t>Transform Properties – </a:t>
            </a:r>
            <a:r>
              <a:rPr lang="en-US" altLang="zh-CN" sz="2800" dirty="0" smtClean="0"/>
              <a:t>Differentiation in z-Domain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groupChr>
                      <m:groupChrPr>
                        <m:chr m:val="↔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groupCh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ROC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Differentiating both sides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z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groupChr>
                      <m:groupChrPr>
                        <m:chr m:val="↔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groupCh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z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𝑑𝑋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𝑑𝑧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i="0">
                        <a:latin typeface="Cambria Math" panose="02040503050406030204" pitchFamily="18" charset="0"/>
                      </a:rPr>
                      <m:t>with</m:t>
                    </m:r>
                    <m:r>
                      <m:rPr>
                        <m:nor/>
                      </m:rPr>
                      <a:rPr lang="en-US" altLang="zh-CN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i="0">
                        <a:latin typeface="Cambria Math" panose="02040503050406030204" pitchFamily="18" charset="0"/>
                      </a:rPr>
                      <m:t>ROC</m:t>
                    </m:r>
                    <m:r>
                      <m:rPr>
                        <m:nor/>
                      </m:rPr>
                      <a:rPr lang="en-US" altLang="zh-CN" i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35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§10.5 </a:t>
            </a:r>
            <a:r>
              <a:rPr lang="en-US" i="1" dirty="0"/>
              <a:t>z</a:t>
            </a:r>
            <a:r>
              <a:rPr lang="en-US" dirty="0"/>
              <a:t>-</a:t>
            </a:r>
            <a:r>
              <a:rPr lang="en-US" altLang="zh-CN" dirty="0"/>
              <a:t>Transform </a:t>
            </a:r>
            <a:r>
              <a:rPr lang="en-US" altLang="zh-CN" dirty="0" smtClean="0"/>
              <a:t>Properties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115051" y="4774390"/>
            <a:ext cx="1812798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ROC the 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same?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15050" y="5137122"/>
            <a:ext cx="2334006" cy="584775"/>
          </a:xfrm>
          <a:prstGeom prst="rect">
            <a:avLst/>
          </a:prstGeom>
          <a:noFill/>
          <a:ln w="952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additional poles with differentiation</a:t>
            </a:r>
          </a:p>
        </p:txBody>
      </p:sp>
    </p:spTree>
    <p:extLst>
      <p:ext uri="{BB962C8B-B14F-4D97-AF65-F5344CB8AC3E}">
        <p14:creationId xmlns:p14="http://schemas.microsoft.com/office/powerpoint/2010/main" val="2255579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10.17 &amp; 10.18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altLang="zh-CN" dirty="0" smtClean="0"/>
                  <a:t>Example 10.17: 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b="0" dirty="0" smtClean="0"/>
              </a:p>
              <a:p>
                <a:pPr lvl="1"/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groupChr>
                      <m:groupChrPr>
                        <m:chr m:val="↔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𝑑𝑋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𝑑𝑧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endParaRPr lang="en-US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dirty="0" smtClean="0"/>
              </a:p>
              <a:p>
                <a:pPr lvl="1"/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Example 10.19: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groupChr>
                      <m:groupChrPr>
                        <m:chr m:val="↔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𝑑𝑧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&gt;|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3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36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§10.5 </a:t>
            </a:r>
            <a:r>
              <a:rPr lang="en-US" i="1" dirty="0"/>
              <a:t>z</a:t>
            </a:r>
            <a:r>
              <a:rPr lang="en-US" dirty="0"/>
              <a:t>-</a:t>
            </a:r>
            <a:r>
              <a:rPr lang="en-US" altLang="zh-CN" dirty="0"/>
              <a:t>Transform </a:t>
            </a:r>
            <a:r>
              <a:rPr lang="en-US" altLang="zh-CN" dirty="0" smtClean="0"/>
              <a:t>Properties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7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Initial-Value Theorem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 smtClean="0"/>
                  <a:t> If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 is causal (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]=0</a:t>
                </a:r>
                <a:r>
                  <a:rPr lang="en-US" dirty="0"/>
                  <a:t> </a:t>
                </a:r>
                <a:r>
                  <a:rPr lang="en-US" dirty="0" smtClean="0"/>
                  <a:t>if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&lt;0), then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Prove: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b="0" dirty="0" smtClean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 marL="457200" lvl="1" indent="0">
                  <a:buNone/>
                </a:pPr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>
                    <a:sym typeface="Wingdings" panose="05000000000000000000" pitchFamily="2" charset="2"/>
                  </a:rPr>
                  <a:t> for a causal sequence </a:t>
                </a:r>
                <a:r>
                  <a:rPr lang="en-US" i="1" dirty="0"/>
                  <a:t>x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/>
                  <a:t>] </a:t>
                </a:r>
                <a:r>
                  <a:rPr lang="en-US" dirty="0" smtClean="0"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 smtClean="0"/>
                  <a:t> is finite</a:t>
                </a:r>
              </a:p>
              <a:p>
                <a:r>
                  <a:rPr lang="en-US" dirty="0"/>
                  <a:t> </a:t>
                </a:r>
                <a:r>
                  <a:rPr lang="en-US" dirty="0" smtClean="0">
                    <a:sym typeface="Wingdings" panose="05000000000000000000" pitchFamily="2" charset="2"/>
                  </a:rPr>
                  <a:t>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 smtClean="0">
                    <a:sym typeface="Wingdings" panose="05000000000000000000" pitchFamily="2" charset="2"/>
                  </a:rPr>
                  <a:t>is rational, then the order of the numerator polynomial cannot be higher than that of the denominator polynomial 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altLang="zh-CN" dirty="0" smtClean="0">
                    <a:sym typeface="Wingdings" panose="05000000000000000000" pitchFamily="2" charset="2"/>
                  </a:rPr>
                  <a:t>C</a:t>
                </a:r>
                <a:r>
                  <a:rPr lang="en-US" dirty="0" smtClean="0">
                    <a:sym typeface="Wingdings" panose="05000000000000000000" pitchFamily="2" charset="2"/>
                  </a:rPr>
                  <a:t>heck </a:t>
                </a:r>
                <a:r>
                  <a:rPr lang="en-US" dirty="0" err="1" smtClean="0">
                    <a:sym typeface="Wingdings" panose="05000000000000000000" pitchFamily="2" charset="2"/>
                  </a:rPr>
                  <a:t>Eg</a:t>
                </a:r>
                <a:r>
                  <a:rPr lang="en-US" dirty="0" smtClean="0">
                    <a:sym typeface="Wingdings" panose="05000000000000000000" pitchFamily="2" charset="2"/>
                  </a:rPr>
                  <a:t>. 10.3: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7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−6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groupChr>
                      <m:groupChrPr>
                        <m:chr m:val="↔"/>
                        <m:vertJc m:val="bot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groupCh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𝑧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2757" r="-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§10.5 </a:t>
            </a:r>
            <a:r>
              <a:rPr lang="en-US" i="1" dirty="0"/>
              <a:t>z</a:t>
            </a:r>
            <a:r>
              <a:rPr lang="en-US" dirty="0"/>
              <a:t>-</a:t>
            </a:r>
            <a:r>
              <a:rPr lang="en-US" altLang="zh-CN" dirty="0"/>
              <a:t>Transform </a:t>
            </a:r>
            <a:r>
              <a:rPr lang="en-US" altLang="zh-CN" dirty="0" smtClean="0"/>
              <a:t>Properties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300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LTI System Characterized Using </a:t>
            </a:r>
            <a:r>
              <a:rPr lang="en-US" sz="3600" i="1" dirty="0" smtClean="0"/>
              <a:t>z</a:t>
            </a:r>
            <a:r>
              <a:rPr lang="en-US" sz="3600" dirty="0" smtClean="0"/>
              <a:t>-Transform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 smtClean="0"/>
                  <a:t> LTI system with impulse response </a:t>
                </a:r>
                <a:r>
                  <a:rPr lang="en-US" i="1" dirty="0" smtClean="0"/>
                  <a:t>h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], input 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/>
                  <a:t>]</a:t>
                </a:r>
                <a:endParaRPr lang="en-US" dirty="0" smtClean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 </a:t>
                </a:r>
                <a:r>
                  <a:rPr lang="en-US" altLang="zh-CN" dirty="0" smtClean="0"/>
                  <a:t>Time domain response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System function/Transfer function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 </a:t>
                </a:r>
                <a:r>
                  <a:rPr lang="en-US" i="1" dirty="0" smtClean="0"/>
                  <a:t>z</a:t>
                </a:r>
                <a:r>
                  <a:rPr lang="en-US" dirty="0" smtClean="0"/>
                  <a:t>-domain response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 </a:t>
                </a:r>
                <a:r>
                  <a:rPr lang="en-US" altLang="zh-CN" dirty="0" smtClean="0"/>
                  <a:t>For </a:t>
                </a:r>
                <a:r>
                  <a:rPr lang="en-US" altLang="zh-CN" i="1" dirty="0" smtClean="0"/>
                  <a:t>z</a:t>
                </a:r>
                <a:r>
                  <a:rPr lang="en-US" altLang="zh-CN" dirty="0" smtClean="0"/>
                  <a:t> evaluated on the unit circle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en-US" dirty="0" smtClean="0"/>
                  <a:t>),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 smtClean="0"/>
                  <a:t> reduces to system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frequency response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</m:oMath>
                </a14:m>
                <a:endParaRPr lang="en-US" dirty="0" smtClean="0"/>
              </a:p>
              <a:p>
                <a:pPr lvl="1"/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14" t="-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10.7 </a:t>
            </a:r>
            <a:r>
              <a:rPr lang="en-US" dirty="0"/>
              <a:t>LTI System </a:t>
            </a:r>
            <a:r>
              <a:rPr lang="en-US" altLang="zh-CN" dirty="0" smtClean="0"/>
              <a:t>Analysis </a:t>
            </a:r>
            <a:r>
              <a:rPr lang="en-US" dirty="0" smtClean="0"/>
              <a:t>Using </a:t>
            </a:r>
            <a:r>
              <a:rPr lang="en-US" i="1" dirty="0"/>
              <a:t>z</a:t>
            </a:r>
            <a:r>
              <a:rPr lang="en-US" dirty="0"/>
              <a:t>-Transform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394802"/>
              </p:ext>
            </p:extLst>
          </p:nvPr>
        </p:nvGraphicFramePr>
        <p:xfrm>
          <a:off x="4533363" y="1885890"/>
          <a:ext cx="2536358" cy="77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2" name="公式" r:id="rId4" imgW="1409088" imgH="431613" progId="Equation.3">
                  <p:embed/>
                </p:oleObj>
              </mc:Choice>
              <mc:Fallback>
                <p:oleObj name="公式" r:id="rId4" imgW="1409088" imgH="431613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363" y="1885890"/>
                        <a:ext cx="2536358" cy="7769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3902975"/>
              </p:ext>
            </p:extLst>
          </p:nvPr>
        </p:nvGraphicFramePr>
        <p:xfrm>
          <a:off x="6581912" y="2548146"/>
          <a:ext cx="1707156" cy="617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3" name="公式" r:id="rId6" imgW="1193800" imgH="431800" progId="Equation.3">
                  <p:embed/>
                </p:oleObj>
              </mc:Choice>
              <mc:Fallback>
                <p:oleObj name="公式" r:id="rId6" imgW="1193800" imgH="431800" progId="Equation.3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1912" y="2548146"/>
                        <a:ext cx="1707156" cy="617482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3979273" y="3342421"/>
                <a:ext cx="2135777" cy="400110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273" y="3342421"/>
                <a:ext cx="2135777" cy="400110"/>
              </a:xfrm>
              <a:prstGeom prst="rect">
                <a:avLst/>
              </a:prstGeom>
              <a:blipFill>
                <a:blip r:embed="rId8"/>
                <a:stretch>
                  <a:fillRect b="-11429"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0023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Causality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 A LTI system is </a:t>
            </a:r>
            <a:r>
              <a:rPr lang="en-US" b="1" dirty="0" smtClean="0">
                <a:solidFill>
                  <a:srgbClr val="C00000"/>
                </a:solidFill>
              </a:rPr>
              <a:t>causal</a:t>
            </a:r>
            <a:r>
              <a:rPr lang="en-US" dirty="0" smtClean="0"/>
              <a:t> if and only if its impulse response </a:t>
            </a:r>
            <a:r>
              <a:rPr lang="en-US" i="1" dirty="0" smtClean="0"/>
              <a:t>h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]=0 for all </a:t>
            </a:r>
            <a:r>
              <a:rPr lang="en-US" i="1" dirty="0" smtClean="0"/>
              <a:t>n</a:t>
            </a:r>
            <a:r>
              <a:rPr lang="en-US" dirty="0" smtClean="0"/>
              <a:t>&lt;0 (Chapter 2)</a:t>
            </a:r>
          </a:p>
          <a:p>
            <a:r>
              <a:rPr lang="en-US" dirty="0"/>
              <a:t> A LTI system is </a:t>
            </a:r>
            <a:r>
              <a:rPr lang="en-US" b="1" dirty="0">
                <a:solidFill>
                  <a:srgbClr val="C00000"/>
                </a:solidFill>
              </a:rPr>
              <a:t>causal</a:t>
            </a:r>
            <a:r>
              <a:rPr lang="en-US" dirty="0"/>
              <a:t> if and only if </a:t>
            </a:r>
            <a:r>
              <a:rPr lang="en-US" dirty="0" smtClean="0"/>
              <a:t>the ROC of its system function is the exterior of a circle, including </a:t>
            </a:r>
            <a:r>
              <a:rPr lang="en-US" dirty="0" smtClean="0">
                <a:sym typeface="Wingdings" panose="05000000000000000000" pitchFamily="2" charset="2"/>
              </a:rPr>
              <a:t>∞</a:t>
            </a:r>
            <a:endParaRPr lang="en-US" dirty="0" smtClean="0"/>
          </a:p>
          <a:p>
            <a:pPr lvl="1"/>
            <a:r>
              <a:rPr lang="en-US" dirty="0"/>
              <a:t> </a:t>
            </a:r>
            <a:r>
              <a:rPr lang="en-US" dirty="0" smtClean="0"/>
              <a:t>right-sided sequence </a:t>
            </a:r>
            <a:r>
              <a:rPr lang="en-US" dirty="0" smtClean="0">
                <a:sym typeface="Wingdings" panose="05000000000000000000" pitchFamily="2" charset="2"/>
              </a:rPr>
              <a:t> ROC is the exterior of a circle (may or may not include ∞)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i="1" dirty="0"/>
              <a:t>h</a:t>
            </a:r>
            <a:r>
              <a:rPr lang="en-US" dirty="0"/>
              <a:t>[</a:t>
            </a:r>
            <a:r>
              <a:rPr lang="en-US" i="1" dirty="0"/>
              <a:t>n</a:t>
            </a:r>
            <a:r>
              <a:rPr lang="en-US" dirty="0"/>
              <a:t>]=0 for all </a:t>
            </a:r>
            <a:r>
              <a:rPr lang="en-US" i="1" dirty="0" smtClean="0"/>
              <a:t>n</a:t>
            </a:r>
            <a:r>
              <a:rPr lang="en-US" dirty="0" smtClean="0"/>
              <a:t>&lt;0 </a:t>
            </a:r>
            <a:r>
              <a:rPr lang="en-US" dirty="0" smtClean="0">
                <a:sym typeface="Wingdings" panose="05000000000000000000" pitchFamily="2" charset="2"/>
              </a:rPr>
              <a:t> </a:t>
            </a:r>
            <a:r>
              <a:rPr lang="en-US" i="1" dirty="0" smtClean="0">
                <a:sym typeface="Wingdings" panose="05000000000000000000" pitchFamily="2" charset="2"/>
              </a:rPr>
              <a:t>H</a:t>
            </a:r>
            <a:r>
              <a:rPr lang="en-US" dirty="0" smtClean="0">
                <a:sym typeface="Wingdings" panose="05000000000000000000" pitchFamily="2" charset="2"/>
              </a:rPr>
              <a:t>(</a:t>
            </a:r>
            <a:r>
              <a:rPr lang="en-US" i="1" dirty="0" smtClean="0">
                <a:sym typeface="Wingdings" panose="05000000000000000000" pitchFamily="2" charset="2"/>
              </a:rPr>
              <a:t>z</a:t>
            </a:r>
            <a:r>
              <a:rPr lang="en-US" dirty="0" smtClean="0">
                <a:sym typeface="Wingdings" panose="05000000000000000000" pitchFamily="2" charset="2"/>
              </a:rPr>
              <a:t>) converges at ∞</a:t>
            </a:r>
            <a:endParaRPr lang="en-US" dirty="0" smtClean="0"/>
          </a:p>
          <a:p>
            <a:r>
              <a:rPr lang="en-US" dirty="0" smtClean="0"/>
              <a:t> A LTI system with </a:t>
            </a:r>
            <a:r>
              <a:rPr lang="en-US" u="sng" dirty="0" smtClean="0">
                <a:solidFill>
                  <a:srgbClr val="FF0000"/>
                </a:solidFill>
              </a:rPr>
              <a:t>rational</a:t>
            </a:r>
            <a:r>
              <a:rPr lang="en-US" dirty="0" smtClean="0"/>
              <a:t> system function </a:t>
            </a:r>
            <a:r>
              <a:rPr lang="en-US" i="1" dirty="0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z</a:t>
            </a:r>
            <a:r>
              <a:rPr lang="en-US" dirty="0" smtClean="0"/>
              <a:t>) is causal if and only if (</a:t>
            </a:r>
            <a:r>
              <a:rPr lang="en-US" dirty="0" err="1" smtClean="0"/>
              <a:t>i</a:t>
            </a:r>
            <a:r>
              <a:rPr lang="en-US" dirty="0" smtClean="0"/>
              <a:t>) </a:t>
            </a:r>
            <a:r>
              <a:rPr lang="en-US" dirty="0"/>
              <a:t>the ROC of its system function is the exterior of a </a:t>
            </a:r>
            <a:r>
              <a:rPr lang="en-US" dirty="0" smtClean="0"/>
              <a:t>circle outside the outermost pole; </a:t>
            </a:r>
            <a:r>
              <a:rPr lang="en-US" b="1" dirty="0" smtClean="0">
                <a:solidFill>
                  <a:srgbClr val="FF0000"/>
                </a:solidFill>
              </a:rPr>
              <a:t>and</a:t>
            </a:r>
            <a:r>
              <a:rPr lang="en-US" dirty="0" smtClean="0"/>
              <a:t> (ii) the order of the numerator polynomial is not higher than that of the denominator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rational H(z)  </a:t>
            </a:r>
            <a:r>
              <a:rPr lang="en-US" dirty="0" smtClean="0">
                <a:sym typeface="Wingdings" panose="05000000000000000000" pitchFamily="2" charset="2"/>
              </a:rPr>
              <a:t> ROC decided by poles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initial-value theorem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§10.7 LTI System </a:t>
            </a:r>
            <a:r>
              <a:rPr lang="en-US" altLang="zh-CN" dirty="0"/>
              <a:t>Analysis </a:t>
            </a:r>
            <a:r>
              <a:rPr lang="en-US" dirty="0"/>
              <a:t>Using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62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 10.20, 10.21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Example 10.20,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den>
                    </m:f>
                  </m:oMath>
                </a14:m>
                <a:endParaRPr lang="en-US" dirty="0" smtClean="0"/>
              </a:p>
              <a:p>
                <a:pPr marL="457200" lvl="1" indent="0">
                  <a:buNone/>
                </a:pPr>
                <a:endParaRPr lang="en-US" dirty="0" smtClean="0"/>
              </a:p>
              <a:p>
                <a:pPr marL="457200" lvl="1" indent="0">
                  <a:buNone/>
                </a:pPr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altLang="zh-CN" dirty="0" smtClean="0"/>
                  <a:t>Example 10.21,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§10.7 LTI System </a:t>
            </a:r>
            <a:r>
              <a:rPr lang="en-US" altLang="zh-CN" dirty="0"/>
              <a:t>Analysis </a:t>
            </a:r>
            <a:r>
              <a:rPr lang="en-US" dirty="0"/>
              <a:t>Using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92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Stability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308100"/>
                <a:ext cx="8325570" cy="486886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 smtClean="0"/>
                  <a:t> A discrete-time LTI system is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stable</a:t>
                </a:r>
                <a:r>
                  <a:rPr lang="en-US" dirty="0" smtClean="0"/>
                  <a:t> </a:t>
                </a:r>
                <a:r>
                  <a:rPr lang="en-US" dirty="0" smtClean="0">
                    <a:sym typeface="Wingdings" panose="05000000000000000000" pitchFamily="2" charset="2"/>
                  </a:rPr>
                  <a:t> its impulse response </a:t>
                </a:r>
                <a:r>
                  <a:rPr lang="en-US" i="1" dirty="0"/>
                  <a:t>h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 smtClean="0"/>
                  <a:t>] </a:t>
                </a:r>
                <a:r>
                  <a:rPr lang="en-US" dirty="0" smtClean="0">
                    <a:sym typeface="Wingdings" panose="05000000000000000000" pitchFamily="2" charset="2"/>
                  </a:rPr>
                  <a:t>is absolutely </a:t>
                </a:r>
                <a:r>
                  <a:rPr lang="en-US" dirty="0" err="1" smtClean="0">
                    <a:sym typeface="Wingdings" panose="05000000000000000000" pitchFamily="2" charset="2"/>
                  </a:rPr>
                  <a:t>summable</a:t>
                </a:r>
                <a:r>
                  <a:rPr lang="en-US" dirty="0" smtClean="0">
                    <a:sym typeface="Wingdings" panose="05000000000000000000" pitchFamily="2" charset="2"/>
                  </a:rPr>
                  <a:t> (Chapter 2)</a:t>
                </a:r>
                <a:endParaRPr lang="en-US" dirty="0">
                  <a:sym typeface="Wingdings" panose="05000000000000000000" pitchFamily="2" charset="2"/>
                </a:endParaRPr>
              </a:p>
              <a:p>
                <a:r>
                  <a:rPr lang="en-US" dirty="0" smtClean="0">
                    <a:sym typeface="Wingdings" panose="05000000000000000000" pitchFamily="2" charset="2"/>
                  </a:rPr>
                  <a:t> </a:t>
                </a:r>
                <a:r>
                  <a:rPr lang="en-US" dirty="0"/>
                  <a:t>A discrete-time LTI system is </a:t>
                </a:r>
                <a:r>
                  <a:rPr lang="en-US" b="1" dirty="0">
                    <a:solidFill>
                      <a:srgbClr val="C00000"/>
                    </a:solidFill>
                  </a:rPr>
                  <a:t>stable</a:t>
                </a:r>
                <a:r>
                  <a:rPr lang="en-US" dirty="0"/>
                  <a:t> </a:t>
                </a:r>
                <a:r>
                  <a:rPr lang="en-US" dirty="0" smtClean="0">
                    <a:sym typeface="Wingdings" panose="05000000000000000000" pitchFamily="2" charset="2"/>
                  </a:rPr>
                  <a:t> the Fourier transform of </a:t>
                </a:r>
                <a:r>
                  <a:rPr lang="en-US" dirty="0">
                    <a:sym typeface="Wingdings" panose="05000000000000000000" pitchFamily="2" charset="2"/>
                  </a:rPr>
                  <a:t>its impulse response </a:t>
                </a:r>
                <a:r>
                  <a:rPr lang="en-US" i="1" dirty="0" smtClean="0"/>
                  <a:t>h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 converges</a:t>
                </a:r>
              </a:p>
              <a:p>
                <a:r>
                  <a:rPr lang="en-US" dirty="0"/>
                  <a:t> A </a:t>
                </a:r>
                <a:r>
                  <a:rPr lang="en-US" dirty="0" smtClean="0"/>
                  <a:t>discrete-time </a:t>
                </a:r>
                <a:r>
                  <a:rPr lang="en-US" dirty="0"/>
                  <a:t>LTI system is </a:t>
                </a:r>
                <a:r>
                  <a:rPr lang="en-US" b="1" dirty="0">
                    <a:solidFill>
                      <a:srgbClr val="C00000"/>
                    </a:solidFill>
                  </a:rPr>
                  <a:t>stable</a:t>
                </a:r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 </a:t>
                </a:r>
                <a:r>
                  <a:rPr lang="en-US" dirty="0" smtClean="0">
                    <a:sym typeface="Wingdings" panose="05000000000000000000" pitchFamily="2" charset="2"/>
                  </a:rPr>
                  <a:t>the ROC of its system function </a:t>
                </a:r>
                <a:r>
                  <a:rPr lang="en-US" i="1" dirty="0"/>
                  <a:t>H</a:t>
                </a:r>
                <a:r>
                  <a:rPr lang="en-US" dirty="0"/>
                  <a:t>(</a:t>
                </a:r>
                <a:r>
                  <a:rPr lang="en-US" i="1" dirty="0"/>
                  <a:t>z</a:t>
                </a:r>
                <a:r>
                  <a:rPr lang="en-US" dirty="0"/>
                  <a:t>) </a:t>
                </a:r>
                <a:r>
                  <a:rPr lang="en-US" dirty="0" smtClean="0">
                    <a:sym typeface="Wingdings" panose="05000000000000000000" pitchFamily="2" charset="2"/>
                  </a:rPr>
                  <a:t>includes the unit circle </a:t>
                </a:r>
                <a:r>
                  <a:rPr lang="en-US" altLang="zh-CN" dirty="0" smtClean="0">
                    <a:sym typeface="Wingdings" panose="05000000000000000000" pitchFamily="2" charset="2"/>
                  </a:rPr>
                  <a:t>|</a:t>
                </a:r>
                <a:r>
                  <a:rPr lang="en-US" altLang="zh-CN" i="1" dirty="0" smtClean="0">
                    <a:sym typeface="Wingdings" panose="05000000000000000000" pitchFamily="2" charset="2"/>
                  </a:rPr>
                  <a:t>z</a:t>
                </a:r>
                <a:r>
                  <a:rPr lang="en-US" altLang="zh-CN" dirty="0" smtClean="0">
                    <a:sym typeface="Wingdings" panose="05000000000000000000" pitchFamily="2" charset="2"/>
                  </a:rPr>
                  <a:t>|=1 </a:t>
                </a:r>
              </a:p>
              <a:p>
                <a:r>
                  <a:rPr lang="en-US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dirty="0" smtClean="0">
                    <a:solidFill>
                      <a:srgbClr val="0000FF"/>
                    </a:solidFill>
                  </a:rPr>
                  <a:t>A </a:t>
                </a:r>
                <a:r>
                  <a:rPr lang="en-US" b="1" dirty="0">
                    <a:solidFill>
                      <a:srgbClr val="FF0000"/>
                    </a:solidFill>
                  </a:rPr>
                  <a:t>casual </a:t>
                </a:r>
                <a:r>
                  <a:rPr lang="en-US" dirty="0">
                    <a:solidFill>
                      <a:srgbClr val="0000FF"/>
                    </a:solidFill>
                  </a:rPr>
                  <a:t>discrete-time LTI system is </a:t>
                </a:r>
                <a:r>
                  <a:rPr lang="en-US" b="1" dirty="0">
                    <a:solidFill>
                      <a:srgbClr val="C00000"/>
                    </a:solidFill>
                  </a:rPr>
                  <a:t>stable</a:t>
                </a:r>
                <a:r>
                  <a:rPr lang="en-US" dirty="0">
                    <a:solidFill>
                      <a:srgbClr val="0000FF"/>
                    </a:solidFill>
                  </a:rPr>
                  <a:t> </a:t>
                </a:r>
                <a:r>
                  <a:rPr lang="en-US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 all the poles of </a:t>
                </a:r>
                <a:r>
                  <a:rPr lang="en-US" i="1" dirty="0">
                    <a:solidFill>
                      <a:srgbClr val="0000FF"/>
                    </a:solidFill>
                  </a:rPr>
                  <a:t>H</a:t>
                </a:r>
                <a:r>
                  <a:rPr lang="en-US" dirty="0">
                    <a:solidFill>
                      <a:srgbClr val="0000FF"/>
                    </a:solidFill>
                  </a:rPr>
                  <a:t>(</a:t>
                </a:r>
                <a:r>
                  <a:rPr lang="en-US" i="1" dirty="0">
                    <a:solidFill>
                      <a:srgbClr val="0000FF"/>
                    </a:solidFill>
                  </a:rPr>
                  <a:t>z</a:t>
                </a:r>
                <a:r>
                  <a:rPr lang="en-US" dirty="0">
                    <a:solidFill>
                      <a:srgbClr val="0000FF"/>
                    </a:solidFill>
                  </a:rPr>
                  <a:t>) </a:t>
                </a:r>
                <a:r>
                  <a:rPr lang="en-US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are inside the unit circle </a:t>
                </a:r>
                <a:r>
                  <a:rPr lang="en-US" altLang="zh-CN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|</a:t>
                </a:r>
                <a:r>
                  <a:rPr lang="en-US" altLang="zh-CN" i="1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z</a:t>
                </a:r>
                <a:r>
                  <a:rPr lang="en-US" altLang="zh-CN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|=1</a:t>
                </a:r>
                <a:r>
                  <a:rPr lang="en-US" dirty="0" smtClean="0"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altLang="zh-CN" dirty="0" smtClean="0">
                    <a:sym typeface="Wingdings" panose="05000000000000000000" pitchFamily="2" charset="2"/>
                  </a:rPr>
                  <a:t>Examples:</a:t>
                </a:r>
              </a:p>
              <a:p>
                <a:pPr lvl="1"/>
                <a:r>
                  <a:rPr lang="en-US" altLang="zh-CN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US" dirty="0" smtClean="0"/>
                  <a:t>   causal, unstable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 smtClean="0"/>
                  <a:t>   not causal, stable</a:t>
                </a:r>
              </a:p>
              <a:p>
                <a:pPr lvl="1"/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&lt;1/2</m:t>
                    </m:r>
                  </m:oMath>
                </a14:m>
                <a:r>
                  <a:rPr lang="en-US" dirty="0"/>
                  <a:t>   not causal, </a:t>
                </a:r>
                <a:r>
                  <a:rPr lang="en-US" dirty="0" smtClean="0"/>
                  <a:t>unstable</a:t>
                </a:r>
                <a:endParaRPr lang="en-US" dirty="0"/>
              </a:p>
              <a:p>
                <a:pPr lvl="1"/>
                <a:endParaRPr 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308100"/>
                <a:ext cx="8325570" cy="4868863"/>
              </a:xfrm>
              <a:blipFill>
                <a:blip r:embed="rId2"/>
                <a:stretch>
                  <a:fillRect l="-1098" t="-3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§10.7 LTI System </a:t>
            </a:r>
            <a:r>
              <a:rPr lang="en-US" altLang="zh-CN" dirty="0"/>
              <a:t>Analysis </a:t>
            </a:r>
            <a:r>
              <a:rPr lang="en-US" dirty="0"/>
              <a:t>Using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62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LTI Systems with Linear Constant-Coefficient Difference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-</a:t>
                </a:r>
                <a:r>
                  <a:rPr lang="en-US" dirty="0" err="1" smtClean="0"/>
                  <a:t>th</a:t>
                </a:r>
                <a:r>
                  <a:rPr lang="en-US" dirty="0" smtClean="0"/>
                  <a:t> order Difference equation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r>
                  <a:rPr lang="en-US" dirty="0" smtClean="0"/>
                  <a:t> Use </a:t>
                </a:r>
                <a:r>
                  <a:rPr lang="en-US" dirty="0" smtClean="0">
                    <a:solidFill>
                      <a:srgbClr val="C00000"/>
                    </a:solidFill>
                  </a:rPr>
                  <a:t>time shifting property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 </a:t>
                </a:r>
              </a:p>
              <a:p>
                <a:r>
                  <a:rPr lang="en-US" b="1" dirty="0" smtClean="0">
                    <a:solidFill>
                      <a:srgbClr val="C00000"/>
                    </a:solidFill>
                  </a:rPr>
                  <a:t>System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§10.7 LTI System </a:t>
            </a:r>
            <a:r>
              <a:rPr lang="en-US" altLang="zh-CN" dirty="0"/>
              <a:t>Analysis </a:t>
            </a:r>
            <a:r>
              <a:rPr lang="en-US" dirty="0"/>
              <a:t>Using </a:t>
            </a:r>
            <a:r>
              <a:rPr lang="en-US" i="1" dirty="0"/>
              <a:t>z</a:t>
            </a:r>
            <a:r>
              <a:rPr lang="en-US" dirty="0"/>
              <a:t>-Transform</a:t>
            </a:r>
          </a:p>
        </p:txBody>
      </p:sp>
    </p:spTree>
    <p:extLst>
      <p:ext uri="{BB962C8B-B14F-4D97-AF65-F5344CB8AC3E}">
        <p14:creationId xmlns:p14="http://schemas.microsoft.com/office/powerpoint/2010/main" val="2144273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 10.26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74320" y="1308100"/>
                <a:ext cx="8705088" cy="4973828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dirty="0" smtClean="0"/>
                  <a:t> If system</a:t>
                </a:r>
                <a:r>
                  <a:rPr lang="en-US" altLang="zh-CN" dirty="0" smtClean="0"/>
                  <a:t> input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 smtClean="0"/>
                  <a:t>, then output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+10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dirty="0" smtClean="0"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US" altLang="zh-CN" b="0" dirty="0" smtClean="0"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altLang="zh-CN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+10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−(5+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dirty="0" smtClean="0"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+10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5+</m:t>
                            </m:r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](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)(1−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dirty="0" smtClean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dirty="0" smtClean="0"/>
                  <a:t> </a:t>
                </a:r>
                <a:r>
                  <a:rPr lang="en-US" dirty="0"/>
                  <a:t>If the system</a:t>
                </a:r>
                <a:r>
                  <a:rPr lang="en-US" altLang="zh-CN" dirty="0"/>
                  <a:t> input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 smtClean="0"/>
                  <a:t>, </a:t>
                </a:r>
                <a:r>
                  <a:rPr lang="en-US" dirty="0"/>
                  <a:t>then the output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dirty="0" smtClean="0"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dirty="0" smtClean="0"/>
                  <a:t> is an </a:t>
                </a:r>
                <a:r>
                  <a:rPr lang="en-US" altLang="zh-CN" dirty="0" err="1" smtClean="0"/>
                  <a:t>eigen</a:t>
                </a:r>
                <a:r>
                  <a:rPr lang="en-US" altLang="zh-CN" dirty="0" smtClean="0"/>
                  <a:t>-function,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dirty="0" smtClean="0"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altLang="zh-CN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dirty="0" smtClean="0"/>
                  <a:t>, </a:t>
                </a:r>
                <a:r>
                  <a:rPr lang="en-US" altLang="zh-CN" dirty="0" smtClean="0">
                    <a:sym typeface="Wingdings" panose="05000000000000000000" pitchFamily="2" charset="2"/>
                  </a:rPr>
                  <a:t>a=-9</a:t>
                </a:r>
                <a:endParaRPr lang="en-US" altLang="zh-CN" dirty="0" smtClean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](1−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)(1−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 smtClean="0"/>
                  <a:t>, </a:t>
                </a:r>
                <a:r>
                  <a:rPr lang="en-US" altLang="zh-CN" dirty="0" smtClean="0"/>
                  <a:t>|z|&gt;1/2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dirty="0"/>
                  <a:t> </a:t>
                </a:r>
                <a:r>
                  <a:rPr lang="en-US" dirty="0" smtClean="0"/>
                  <a:t>DE: y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308100"/>
                <a:ext cx="8705088" cy="4973828"/>
              </a:xfrm>
              <a:blipFill>
                <a:blip r:embed="rId2"/>
                <a:stretch>
                  <a:fillRect l="-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§10.7 LTI System </a:t>
            </a:r>
            <a:r>
              <a:rPr lang="en-US" altLang="zh-CN" dirty="0"/>
              <a:t>Analysis </a:t>
            </a:r>
            <a:r>
              <a:rPr lang="en-US" dirty="0"/>
              <a:t>Using </a:t>
            </a:r>
            <a:r>
              <a:rPr lang="en-US" i="1" dirty="0"/>
              <a:t>z</a:t>
            </a:r>
            <a:r>
              <a:rPr lang="en-US" dirty="0"/>
              <a:t>-Transform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824728" y="4591640"/>
            <a:ext cx="3319272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Why choose this ROC for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824728" y="4966770"/>
            <a:ext cx="3319272" cy="584775"/>
          </a:xfrm>
          <a:prstGeom prst="rect">
            <a:avLst/>
          </a:prstGeom>
          <a:noFill/>
          <a:ln w="952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ROC of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must include intersections of ROCs of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altLang="zh-C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031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 10.27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 smtClean="0"/>
                  <a:t>stable, causal system with impulse response </a:t>
                </a:r>
                <a:r>
                  <a:rPr lang="en-US" i="1" dirty="0" smtClean="0"/>
                  <a:t>h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 and rational </a:t>
                </a:r>
                <a:r>
                  <a:rPr lang="en-US" i="1" dirty="0" smtClean="0"/>
                  <a:t>H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z</a:t>
                </a:r>
                <a:r>
                  <a:rPr lang="en-US" dirty="0" smtClean="0"/>
                  <a:t>), one pole at z=1/2, and a zero on the unit circle, all other poles and zeros </a:t>
                </a:r>
                <a:r>
                  <a:rPr lang="en-US" smtClean="0"/>
                  <a:t>are unknown</a:t>
                </a:r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]}</m:t>
                    </m:r>
                  </m:oMath>
                </a14:m>
                <a:r>
                  <a:rPr lang="en-US" dirty="0" smtClean="0"/>
                  <a:t> converges ?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dirty="0" smtClean="0"/>
                  <a:t> for some </a:t>
                </a:r>
                <a:r>
                  <a:rPr lang="el-GR" i="1" dirty="0" smtClean="0"/>
                  <a:t>ω</a:t>
                </a:r>
                <a:r>
                  <a:rPr lang="en-US" i="1" dirty="0" smtClean="0"/>
                  <a:t> </a:t>
                </a:r>
                <a:r>
                  <a:rPr lang="en-US" dirty="0" smtClean="0"/>
                  <a:t>?</a:t>
                </a:r>
              </a:p>
              <a:p>
                <a:r>
                  <a:rPr lang="en-US" dirty="0"/>
                  <a:t> </a:t>
                </a:r>
                <a:r>
                  <a:rPr lang="en-US" i="1" dirty="0" smtClean="0"/>
                  <a:t>h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 has finite duration ?</a:t>
                </a:r>
              </a:p>
              <a:p>
                <a:r>
                  <a:rPr lang="en-US" dirty="0"/>
                  <a:t> </a:t>
                </a:r>
                <a:r>
                  <a:rPr lang="en-US" i="1" dirty="0"/>
                  <a:t>h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/>
                  <a:t>] </a:t>
                </a:r>
                <a:r>
                  <a:rPr lang="en-US" altLang="zh-CN" dirty="0" smtClean="0"/>
                  <a:t>is real ?</a:t>
                </a:r>
              </a:p>
              <a:p>
                <a:r>
                  <a:rPr lang="en-US" dirty="0"/>
                  <a:t> </a:t>
                </a:r>
                <a:r>
                  <a:rPr lang="en-US" i="1" dirty="0" smtClean="0"/>
                  <a:t>g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]=n[</a:t>
                </a:r>
                <a:r>
                  <a:rPr lang="en-US" i="1" dirty="0" smtClean="0"/>
                  <a:t>h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]*</a:t>
                </a:r>
                <a:r>
                  <a:rPr lang="en-US" i="1" dirty="0" smtClean="0"/>
                  <a:t> </a:t>
                </a:r>
                <a:r>
                  <a:rPr lang="en-US" i="1" dirty="0"/>
                  <a:t>h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 smtClean="0"/>
                  <a:t>]] is the impulse response of a stable system ?</a:t>
                </a:r>
              </a:p>
              <a:p>
                <a:pPr lvl="1"/>
                <a:r>
                  <a:rPr lang="en-US" dirty="0" smtClean="0"/>
                  <a:t> h[n]=0 if n&lt;0</a:t>
                </a:r>
                <a:r>
                  <a:rPr lang="en-US" dirty="0" smtClean="0">
                    <a:sym typeface="Wingdings" panose="05000000000000000000" pitchFamily="2" charset="2"/>
                  </a:rPr>
                  <a:t></a:t>
                </a:r>
                <a:r>
                  <a:rPr lang="en-US" dirty="0" smtClean="0"/>
                  <a:t>h[n]*h[n]=0 if n&lt;0, g[n] is causal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  <m:groupChr>
                      <m:groupChrPr>
                        <m:chr m:val="↔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groupCh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, </a:t>
                </a:r>
              </a:p>
              <a:p>
                <a:pPr lvl="1"/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groupChr>
                      <m:groupChrPr>
                        <m:chr m:val="↔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groupCh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𝑑𝑧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𝑑𝑧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:r>
                  <a:rPr lang="en-US" altLang="zh-CN" i="1" dirty="0" smtClean="0"/>
                  <a:t>G</a:t>
                </a:r>
                <a:r>
                  <a:rPr lang="en-US" altLang="zh-CN" dirty="0" smtClean="0"/>
                  <a:t>(</a:t>
                </a:r>
                <a:r>
                  <a:rPr lang="en-US" altLang="zh-CN" i="1" dirty="0" smtClean="0"/>
                  <a:t>z</a:t>
                </a:r>
                <a:r>
                  <a:rPr lang="en-US" altLang="zh-CN" dirty="0" smtClean="0"/>
                  <a:t>) have the same pole locations as </a:t>
                </a:r>
                <a:r>
                  <a:rPr lang="en-US" altLang="zh-CN" i="1" dirty="0" smtClean="0"/>
                  <a:t>H</a:t>
                </a:r>
                <a:r>
                  <a:rPr lang="en-US" altLang="zh-CN" dirty="0" smtClean="0"/>
                  <a:t>(</a:t>
                </a:r>
                <a:r>
                  <a:rPr lang="en-US" altLang="zh-CN" i="1" dirty="0" smtClean="0"/>
                  <a:t>z</a:t>
                </a:r>
                <a:r>
                  <a:rPr lang="en-US" altLang="zh-CN" dirty="0" smtClean="0"/>
                  <a:t>) with rational </a:t>
                </a:r>
                <a:r>
                  <a:rPr lang="en-US" altLang="zh-CN" i="1" dirty="0"/>
                  <a:t>H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z</a:t>
                </a:r>
                <a:r>
                  <a:rPr lang="en-US" altLang="zh-CN" dirty="0"/>
                  <a:t>)</a:t>
                </a:r>
                <a:endParaRPr lang="en-US" dirty="0" smtClean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3509" b="-2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§10.7 LTI System </a:t>
            </a:r>
            <a:r>
              <a:rPr lang="en-US" altLang="zh-CN" dirty="0"/>
              <a:t>Analysis </a:t>
            </a:r>
            <a:r>
              <a:rPr lang="en-US" dirty="0"/>
              <a:t>Using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4702302" y="2230246"/>
                <a:ext cx="3511296" cy="489429"/>
              </a:xfrm>
              <a:prstGeom prst="rect">
                <a:avLst/>
              </a:prstGeom>
              <a:noFill/>
              <a:ln w="9525">
                <a:solidFill>
                  <a:srgbClr val="0000FF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A1: </a:t>
                </a:r>
                <a:r>
                  <a:rPr lang="en-US" altLang="zh-C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]</m:t>
                    </m:r>
                    <m:groupChr>
                      <m:groupChrPr>
                        <m:chr m:val="↔"/>
                        <m:vertJc m:val="bot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(2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ROC </a:t>
                </a:r>
                <a:r>
                  <a:rPr lang="en-US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/2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302" y="2230246"/>
                <a:ext cx="3511296" cy="489429"/>
              </a:xfrm>
              <a:prstGeom prst="rect">
                <a:avLst/>
              </a:prstGeom>
              <a:blipFill>
                <a:blip r:embed="rId3"/>
                <a:stretch>
                  <a:fillRect l="-692" b="-24390"/>
                </a:stretch>
              </a:blipFill>
              <a:ln w="95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4681728" y="2809369"/>
            <a:ext cx="3319272" cy="338554"/>
          </a:xfrm>
          <a:prstGeom prst="rect">
            <a:avLst/>
          </a:prstGeom>
          <a:noFill/>
          <a:ln w="952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True. At least one zero is </a:t>
            </a:r>
            <a:r>
              <a:rPr lang="en-US" sz="16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00" i="1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l-GR" sz="1600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endParaRPr lang="en-US" sz="1600" i="1" baseline="30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68546" y="3147923"/>
            <a:ext cx="4178808" cy="584775"/>
          </a:xfrm>
          <a:prstGeom prst="rect">
            <a:avLst/>
          </a:prstGeom>
          <a:noFill/>
          <a:ln w="952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A3: 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False. Finite duration means ROC=</a:t>
            </a:r>
            <a:r>
              <a:rPr lang="en-US" altLang="zh-C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-plane except 0/∞ vs. ROC can not include </a:t>
            </a:r>
            <a:r>
              <a:rPr lang="en-US" altLang="zh-C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=1/2(pole)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07208" y="3751675"/>
            <a:ext cx="5385816" cy="338554"/>
          </a:xfrm>
          <a:prstGeom prst="rect">
            <a:avLst/>
          </a:prstGeom>
          <a:noFill/>
          <a:ln w="952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A4: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information.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is real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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</a:t>
            </a: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）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=</a:t>
            </a:r>
            <a:r>
              <a:rPr lang="en-US" altLang="zh-C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</a:t>
            </a:r>
            <a:r>
              <a:rPr lang="en-US" altLang="zh-CN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*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</a:t>
            </a:r>
            <a:r>
              <a:rPr lang="en-US" altLang="zh-CN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*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64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Diagram of Feedback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4315968"/>
                <a:ext cx="7317486" cy="1860995"/>
              </a:xfrm>
            </p:spPr>
            <p:txBody>
              <a:bodyPr/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b="0" dirty="0" smtClean="0"/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315968"/>
                <a:ext cx="7317486" cy="1860995"/>
              </a:xfrm>
              <a:blipFill>
                <a:blip r:embed="rId2"/>
                <a:stretch>
                  <a:fillRect l="-1415" t="-3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10.8  Block </a:t>
            </a:r>
            <a:r>
              <a:rPr lang="en-US" dirty="0"/>
              <a:t>Diagram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862" y="1336514"/>
            <a:ext cx="5170701" cy="255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31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 smtClean="0"/>
              <a:t>Block Diagram of 1</a:t>
            </a:r>
            <a:r>
              <a:rPr lang="en-US" altLang="zh-CN" sz="3600" baseline="30000" dirty="0" smtClean="0"/>
              <a:t>st</a:t>
            </a:r>
            <a:r>
              <a:rPr lang="en-US" altLang="zh-CN" sz="3600" dirty="0" smtClean="0"/>
              <a:t> Order System (1)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 smtClean="0"/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§10.8  Block </a:t>
            </a:r>
            <a:r>
              <a:rPr lang="en-US" dirty="0" smtClean="0"/>
              <a:t>Diagram</a:t>
            </a:r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620" y="2798870"/>
            <a:ext cx="6353477" cy="261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125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Block Diagram of 1</a:t>
            </a:r>
            <a:r>
              <a:rPr lang="en-US" altLang="zh-CN" sz="3600" baseline="30000" dirty="0"/>
              <a:t>st</a:t>
            </a:r>
            <a:r>
              <a:rPr lang="en-US" altLang="zh-CN" sz="3600" dirty="0"/>
              <a:t> Order </a:t>
            </a:r>
            <a:r>
              <a:rPr lang="en-US" altLang="zh-CN" sz="3600" dirty="0" smtClean="0"/>
              <a:t>System (2</a:t>
            </a:r>
            <a:r>
              <a:rPr lang="en-US" altLang="zh-CN" sz="3600" dirty="0"/>
              <a:t>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7886700" cy="1041907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 smtClean="0"/>
                  <a:t>)</a:t>
                </a:r>
                <a:endParaRPr lang="en-US" dirty="0"/>
              </a:p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dirty="0" smtClean="0"/>
                  <a:t>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 smtClean="0"/>
                  <a:t>, 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𝑏𝑣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7886700" cy="1041907"/>
              </a:xfrm>
              <a:blipFill>
                <a:blip r:embed="rId2"/>
                <a:stretch>
                  <a:fillRect l="-1005" t="-1170" b="-6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§10.8  Block </a:t>
            </a:r>
            <a:r>
              <a:rPr lang="en-US" dirty="0" smtClean="0"/>
              <a:t>Diagram</a:t>
            </a:r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220" y="2344997"/>
            <a:ext cx="5191560" cy="163060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7098" y="4282559"/>
            <a:ext cx="5191560" cy="163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48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076438" cy="7920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Block Diagram of </a:t>
            </a:r>
            <a:r>
              <a:rPr lang="en-US" altLang="zh-CN" dirty="0" smtClean="0"/>
              <a:t>2</a:t>
            </a:r>
            <a:r>
              <a:rPr lang="en-US" altLang="zh-CN" baseline="30000" dirty="0" smtClean="0"/>
              <a:t>nd</a:t>
            </a:r>
            <a:r>
              <a:rPr lang="en-US" altLang="zh-CN" dirty="0" smtClean="0"/>
              <a:t> Order </a:t>
            </a:r>
            <a:r>
              <a:rPr lang="en-US" altLang="zh-CN" dirty="0"/>
              <a:t>System (1)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§10.8  Block </a:t>
            </a:r>
            <a:r>
              <a:rPr lang="en-US" dirty="0" smtClean="0"/>
              <a:t>Diagram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384" y="3118104"/>
            <a:ext cx="4548654" cy="313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837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131302" cy="7920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Block Diagram of 2</a:t>
            </a:r>
            <a:r>
              <a:rPr lang="en-US" altLang="zh-CN" baseline="30000" dirty="0"/>
              <a:t>nd</a:t>
            </a:r>
            <a:r>
              <a:rPr lang="en-US" altLang="zh-CN" dirty="0"/>
              <a:t> Order System </a:t>
            </a:r>
            <a:r>
              <a:rPr lang="en-US" altLang="zh-CN" dirty="0" smtClean="0"/>
              <a:t>(2)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20040" y="1317245"/>
                <a:ext cx="8823960" cy="1691131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dirty="0" smtClean="0"/>
                  <a:t>)</a:t>
                </a:r>
              </a:p>
              <a:p>
                <a:r>
                  <a:rPr lang="en-US" dirty="0"/>
                  <a:t> 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 smtClean="0"/>
                  <a:t>, </a:t>
                </a:r>
              </a:p>
              <a:p>
                <a:pPr marL="0" indent="0">
                  <a:buNone/>
                </a:pPr>
                <a:r>
                  <a:rPr lang="en-US" dirty="0" smtClean="0"/>
                  <a:t>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0040" y="1317245"/>
                <a:ext cx="8823960" cy="1691131"/>
              </a:xfrm>
              <a:blipFill>
                <a:blip r:embed="rId2"/>
                <a:stretch>
                  <a:fillRect l="-1244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§10.8  Block </a:t>
            </a:r>
            <a:r>
              <a:rPr lang="en-US" dirty="0" smtClean="0"/>
              <a:t>Diagram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482" y="3038255"/>
            <a:ext cx="6165350" cy="331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769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 </a:t>
            </a:r>
            <a:r>
              <a:rPr lang="en-US" dirty="0"/>
              <a:t>From </a:t>
            </a:r>
            <a:r>
              <a:rPr lang="en-US" dirty="0" smtClean="0"/>
              <a:t>DT Fourier Transform to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</a:p>
          <a:p>
            <a:pPr lvl="1"/>
            <a:r>
              <a:rPr lang="en-US" dirty="0" smtClean="0"/>
              <a:t> </a:t>
            </a:r>
            <a:r>
              <a:rPr lang="en-US" i="1" dirty="0" smtClean="0"/>
              <a:t>z</a:t>
            </a:r>
            <a:r>
              <a:rPr lang="en-US" dirty="0" smtClean="0"/>
              <a:t>-plane vs. </a:t>
            </a:r>
            <a:r>
              <a:rPr lang="en-US" i="1" dirty="0" smtClean="0"/>
              <a:t>s</a:t>
            </a:r>
            <a:r>
              <a:rPr lang="en-US" dirty="0" smtClean="0"/>
              <a:t>-plane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DT FT convergence </a:t>
            </a:r>
            <a:endParaRPr lang="en-US" dirty="0"/>
          </a:p>
          <a:p>
            <a:r>
              <a:rPr lang="en-US" dirty="0" smtClean="0"/>
              <a:t> Region of Convergence of </a:t>
            </a:r>
            <a:r>
              <a:rPr lang="en-US" i="1" dirty="0" smtClean="0"/>
              <a:t>z</a:t>
            </a:r>
            <a:r>
              <a:rPr lang="en-US" dirty="0" smtClean="0"/>
              <a:t>-Transform</a:t>
            </a:r>
          </a:p>
          <a:p>
            <a:pPr lvl="1"/>
            <a:r>
              <a:rPr lang="en-US" dirty="0" smtClean="0"/>
              <a:t> relationship between ROC and poles 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sided sequence</a:t>
            </a:r>
          </a:p>
          <a:p>
            <a:pPr lvl="1"/>
            <a:r>
              <a:rPr lang="en-US" dirty="0" smtClean="0"/>
              <a:t> </a:t>
            </a:r>
            <a:r>
              <a:rPr lang="en-US" i="1" dirty="0" smtClean="0"/>
              <a:t>z</a:t>
            </a:r>
            <a:r>
              <a:rPr lang="en-US" dirty="0" smtClean="0"/>
              <a:t>=0, </a:t>
            </a:r>
            <a:r>
              <a:rPr lang="en-US" i="1" dirty="0" smtClean="0"/>
              <a:t>z</a:t>
            </a:r>
            <a:r>
              <a:rPr lang="en-US" dirty="0" smtClean="0"/>
              <a:t>=∞</a:t>
            </a:r>
            <a:endParaRPr lang="en-US" dirty="0"/>
          </a:p>
          <a:p>
            <a:r>
              <a:rPr lang="en-US" dirty="0"/>
              <a:t> </a:t>
            </a:r>
            <a:r>
              <a:rPr lang="en-US" altLang="zh-CN" dirty="0" smtClean="0"/>
              <a:t>Inverse </a:t>
            </a:r>
            <a:r>
              <a:rPr lang="en-US" altLang="zh-CN" i="1" dirty="0" smtClean="0"/>
              <a:t>z</a:t>
            </a:r>
            <a:r>
              <a:rPr lang="en-US" altLang="zh-CN" dirty="0" smtClean="0"/>
              <a:t>-Transform</a:t>
            </a:r>
          </a:p>
          <a:p>
            <a:pPr lvl="1"/>
            <a:r>
              <a:rPr lang="en-US" dirty="0" smtClean="0"/>
              <a:t> typical </a:t>
            </a:r>
            <a:r>
              <a:rPr lang="en-US" i="1" dirty="0" smtClean="0"/>
              <a:t>z</a:t>
            </a:r>
            <a:r>
              <a:rPr lang="en-US" dirty="0" smtClean="0"/>
              <a:t>-Transform pairs</a:t>
            </a:r>
          </a:p>
          <a:p>
            <a:r>
              <a:rPr lang="en-US" altLang="zh-CN" dirty="0" smtClean="0"/>
              <a:t> </a:t>
            </a:r>
            <a:r>
              <a:rPr lang="en-US" altLang="zh-CN" i="1" dirty="0" smtClean="0"/>
              <a:t>z</a:t>
            </a:r>
            <a:r>
              <a:rPr lang="en-US" altLang="zh-CN" dirty="0" smtClean="0"/>
              <a:t>-Transform Properties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LTI System Analysis</a:t>
            </a:r>
          </a:p>
          <a:p>
            <a:pPr lvl="1"/>
            <a:r>
              <a:rPr lang="en-US" altLang="zh-CN" dirty="0" smtClean="0"/>
              <a:t> system function/transfer function</a:t>
            </a:r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/>
              <a:t>causality</a:t>
            </a:r>
          </a:p>
          <a:p>
            <a:pPr lvl="1"/>
            <a:r>
              <a:rPr lang="en-US" altLang="zh-CN" dirty="0" smtClean="0"/>
              <a:t> stability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Block Diagram</a:t>
            </a:r>
            <a:endParaRPr lang="en-US" altLang="zh-CN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485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14210</TotalTime>
  <Words>8144</Words>
  <Application>Microsoft Office PowerPoint</Application>
  <PresentationFormat>全屏显示(4:3)</PresentationFormat>
  <Paragraphs>534</Paragraphs>
  <Slides>50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1" baseType="lpstr">
      <vt:lpstr>等线</vt:lpstr>
      <vt:lpstr>宋体</vt:lpstr>
      <vt:lpstr>微软雅黑</vt:lpstr>
      <vt:lpstr>微软雅黑</vt:lpstr>
      <vt:lpstr>Arial</vt:lpstr>
      <vt:lpstr>Cambria Math</vt:lpstr>
      <vt:lpstr>Script MT Bold</vt:lpstr>
      <vt:lpstr>Times New Roman</vt:lpstr>
      <vt:lpstr>Wingdings</vt:lpstr>
      <vt:lpstr>Office 主题​​</vt:lpstr>
      <vt:lpstr>公式</vt:lpstr>
      <vt:lpstr>PowerPoint 演示文稿</vt:lpstr>
      <vt:lpstr>Chapter 10 The z-Transform</vt:lpstr>
      <vt:lpstr>Outline</vt:lpstr>
      <vt:lpstr>Recall: Discrete-time Fourier transform </vt:lpstr>
      <vt:lpstr>Definition of z-Transform</vt:lpstr>
      <vt:lpstr>DT Fourier transform vs. z-Transform</vt:lpstr>
      <vt:lpstr>DT FT vs. z-Transform (cont’)</vt:lpstr>
      <vt:lpstr>Rational z-Transform</vt:lpstr>
      <vt:lpstr>Example 10.1</vt:lpstr>
      <vt:lpstr>Example 10.2</vt:lpstr>
      <vt:lpstr>Example 10.3</vt:lpstr>
      <vt:lpstr>Example 10.4</vt:lpstr>
      <vt:lpstr>z-Transform ROC Property (1)</vt:lpstr>
      <vt:lpstr>z-Transform ROC Property (2)</vt:lpstr>
      <vt:lpstr>z-Transform ROC Property (3)</vt:lpstr>
      <vt:lpstr>z-Transform ROC of Sided Sequences</vt:lpstr>
      <vt:lpstr>Example 10.6</vt:lpstr>
      <vt:lpstr>Example 10.7: Two-Sided Sequence</vt:lpstr>
      <vt:lpstr>z-Transform ROC Property (4)</vt:lpstr>
      <vt:lpstr>Inverse z-Transform</vt:lpstr>
      <vt:lpstr>Example 10.8</vt:lpstr>
      <vt:lpstr>Other Examples </vt:lpstr>
      <vt:lpstr>Geometric Evaluation of DT FT on Pole-Zero Plot</vt:lpstr>
      <vt:lpstr>Geometric Evaluation of DT FT from Pole-Zero Plot (Example #1: a=0.5)</vt:lpstr>
      <vt:lpstr>Geometric Evaluation of DT FT from Pole-Zero Plot (Example #1: a=0.95)</vt:lpstr>
      <vt:lpstr>Geometric Evaluation of DT FT from Pole-Zero Plot (Example #2)</vt:lpstr>
      <vt:lpstr>Geometric Evaluation of DT FT from Pole-Zero Plot (Example #2, Cont’)</vt:lpstr>
      <vt:lpstr>Geometric Evaluation of DT FT from Pole-Zero Plot (Example #2, r=0.8, θ=π/4)</vt:lpstr>
      <vt:lpstr>z-Transform Properties - Linearity</vt:lpstr>
      <vt:lpstr>z-Transform Properties  – Time Shifting and Time Reversal</vt:lpstr>
      <vt:lpstr>z-Transform Properties – Time Expansion</vt:lpstr>
      <vt:lpstr>z-Transform Properties – z-Domain Scaling</vt:lpstr>
      <vt:lpstr>z-Transform Properties – Conjugation</vt:lpstr>
      <vt:lpstr>z-Transform Properties – Convolution</vt:lpstr>
      <vt:lpstr>z-Transform Properties – Differentiation in z-Domain</vt:lpstr>
      <vt:lpstr>Example 10.17 &amp; 10.18</vt:lpstr>
      <vt:lpstr>Initial-Value Theorem</vt:lpstr>
      <vt:lpstr>LTI System Characterized Using z-Transform</vt:lpstr>
      <vt:lpstr>Causality</vt:lpstr>
      <vt:lpstr>Example 10.20, 10.21</vt:lpstr>
      <vt:lpstr>Stability</vt:lpstr>
      <vt:lpstr>LTI Systems with Linear Constant-Coefficient Difference Equations</vt:lpstr>
      <vt:lpstr>Example 10.26</vt:lpstr>
      <vt:lpstr>Example 10.27</vt:lpstr>
      <vt:lpstr>Block Diagram of Feedback</vt:lpstr>
      <vt:lpstr>Block Diagram of 1st Order System (1)</vt:lpstr>
      <vt:lpstr>Block Diagram of 1st Order System (2)</vt:lpstr>
      <vt:lpstr>Block Diagram of 2nd Order System (1)</vt:lpstr>
      <vt:lpstr>Block Diagram of 2nd Order System (2)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Hanjun Jiang</dc:creator>
  <cp:lastModifiedBy>Hanjun Jiang</cp:lastModifiedBy>
  <cp:revision>800</cp:revision>
  <dcterms:created xsi:type="dcterms:W3CDTF">2018-09-11T08:26:55Z</dcterms:created>
  <dcterms:modified xsi:type="dcterms:W3CDTF">2020-11-25T05:49:20Z</dcterms:modified>
</cp:coreProperties>
</file>