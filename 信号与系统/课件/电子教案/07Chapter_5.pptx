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386" r:id="rId3"/>
    <p:sldId id="287" r:id="rId4"/>
    <p:sldId id="384" r:id="rId5"/>
    <p:sldId id="385" r:id="rId6"/>
    <p:sldId id="392" r:id="rId7"/>
    <p:sldId id="387" r:id="rId8"/>
    <p:sldId id="388" r:id="rId9"/>
    <p:sldId id="389" r:id="rId10"/>
    <p:sldId id="393" r:id="rId11"/>
    <p:sldId id="391" r:id="rId12"/>
    <p:sldId id="390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18" r:id="rId35"/>
    <p:sldId id="415" r:id="rId36"/>
    <p:sldId id="416" r:id="rId37"/>
    <p:sldId id="417" r:id="rId38"/>
    <p:sldId id="419" r:id="rId39"/>
    <p:sldId id="420" r:id="rId40"/>
    <p:sldId id="421" r:id="rId41"/>
    <p:sldId id="422" r:id="rId42"/>
    <p:sldId id="360" r:id="rId43"/>
    <p:sldId id="423" r:id="rId44"/>
    <p:sldId id="424" r:id="rId45"/>
    <p:sldId id="425" r:id="rId46"/>
    <p:sldId id="426" r:id="rId47"/>
    <p:sldId id="427" r:id="rId48"/>
    <p:sldId id="428" r:id="rId49"/>
    <p:sldId id="429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9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wmf"/><Relationship Id="rId10" Type="http://schemas.openxmlformats.org/officeDocument/2006/relationships/image" Target="../media/image5.wmf"/><Relationship Id="rId19" Type="http://schemas.openxmlformats.org/officeDocument/2006/relationships/image" Target="../media/image9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7" Type="http://schemas.openxmlformats.org/officeDocument/2006/relationships/image" Target="../media/image18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3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4.png"/><Relationship Id="rId4" Type="http://schemas.openxmlformats.org/officeDocument/2006/relationships/image" Target="../media/image3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67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71.png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4068" y="1122363"/>
            <a:ext cx="8402127" cy="23876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Chapter 5</a:t>
            </a:r>
            <a:br>
              <a:rPr lang="en-US" altLang="zh-CN" dirty="0" smtClean="0"/>
            </a:br>
            <a:r>
              <a:rPr lang="en-US" altLang="zh-CN" dirty="0" smtClean="0"/>
              <a:t>	</a:t>
            </a:r>
            <a:br>
              <a:rPr lang="en-US" altLang="zh-CN" dirty="0" smtClean="0"/>
            </a:br>
            <a:r>
              <a:rPr lang="en-US" altLang="zh-CN" dirty="0" smtClean="0"/>
              <a:t>Discrete-Time Fourier Transform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27804" y="1570007"/>
            <a:ext cx="8402128" cy="2613803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/>
              <a:t>Discrete-Time Fourier Transform </a:t>
            </a:r>
            <a:br>
              <a:rPr lang="en-US" sz="4400" dirty="0" smtClean="0"/>
            </a:br>
            <a:r>
              <a:rPr lang="en-US" sz="8000" b="1" dirty="0" smtClean="0">
                <a:solidFill>
                  <a:srgbClr val="FF0000"/>
                </a:solidFill>
              </a:rPr>
              <a:t>≠ </a:t>
            </a:r>
            <a:br>
              <a:rPr lang="en-US" sz="8000" b="1" dirty="0" smtClean="0">
                <a:solidFill>
                  <a:srgbClr val="FF0000"/>
                </a:solidFill>
              </a:rPr>
            </a:br>
            <a:r>
              <a:rPr lang="en-US" sz="4400" dirty="0" smtClean="0"/>
              <a:t>Discrete Fourier Transform (DFT</a:t>
            </a:r>
            <a:r>
              <a:rPr lang="en-US" sz="4400" dirty="0"/>
              <a:t>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44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Discrete-Time Fourier Series to Discrete-Time Fourier Transform</a:t>
            </a:r>
          </a:p>
          <a:p>
            <a:r>
              <a:rPr lang="en-US" altLang="zh-CN" dirty="0" smtClean="0"/>
              <a:t>DT FT of Periodic Sequences</a:t>
            </a:r>
            <a:endParaRPr lang="en-US" dirty="0" smtClean="0"/>
          </a:p>
          <a:p>
            <a:r>
              <a:rPr lang="en-US" dirty="0" smtClean="0"/>
              <a:t>DT Fourier Transform Properties</a:t>
            </a:r>
          </a:p>
          <a:p>
            <a:r>
              <a:rPr lang="en-US" dirty="0" smtClean="0"/>
              <a:t>System Characterized by Difference Equations</a:t>
            </a:r>
          </a:p>
          <a:p>
            <a:endParaRPr lang="en-US" dirty="0" smtClean="0"/>
          </a:p>
          <a:p>
            <a:r>
              <a:rPr lang="en-US" dirty="0" smtClean="0"/>
              <a:t>Discrete-Time Processing of Continuous-Time Signals (Chapter 7)</a:t>
            </a:r>
          </a:p>
          <a:p>
            <a:r>
              <a:rPr lang="en-US" dirty="0" smtClean="0"/>
              <a:t>Sampling of </a:t>
            </a:r>
            <a:r>
              <a:rPr lang="en-US" dirty="0"/>
              <a:t>Discrete-time Signals  (Chapter 7)</a:t>
            </a:r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 smtClean="0"/>
              <a:t>Recall: </a:t>
            </a:r>
            <a:r>
              <a:rPr lang="en-US" sz="3600" dirty="0" smtClean="0"/>
              <a:t>DT LTI System Response to 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Assume LTI system with impulse response </a:t>
            </a:r>
            <a:r>
              <a:rPr lang="en-US" i="1" dirty="0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dirty="0" smtClean="0"/>
              <a:t>Recall </a:t>
            </a:r>
            <a:r>
              <a:rPr lang="en-US" b="1" dirty="0" smtClean="0">
                <a:solidFill>
                  <a:srgbClr val="C00000"/>
                </a:solidFill>
              </a:rPr>
              <a:t>sum convolution</a:t>
            </a:r>
            <a:r>
              <a:rPr lang="en-US" dirty="0" smtClean="0"/>
              <a:t>: </a:t>
            </a:r>
          </a:p>
          <a:p>
            <a:r>
              <a:rPr lang="en-US" dirty="0"/>
              <a:t> </a:t>
            </a:r>
            <a:r>
              <a:rPr lang="en-US" dirty="0" smtClean="0"/>
              <a:t>System response to 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Let </a:t>
            </a:r>
          </a:p>
          <a:p>
            <a:endParaRPr lang="en-US" dirty="0"/>
          </a:p>
          <a:p>
            <a:r>
              <a:rPr lang="en-US" dirty="0" smtClean="0"/>
              <a:t>                       </a:t>
            </a:r>
            <a:r>
              <a:rPr lang="en-US" i="1" dirty="0" err="1" smtClean="0"/>
              <a:t>z</a:t>
            </a:r>
            <a:r>
              <a:rPr lang="en-US" i="1" baseline="30000" dirty="0" err="1" smtClean="0"/>
              <a:t>n</a:t>
            </a:r>
            <a:r>
              <a:rPr lang="en-US" i="1" dirty="0" smtClean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eigenfunction</a:t>
            </a:r>
            <a:r>
              <a:rPr lang="en-US" b="1" dirty="0" smtClean="0"/>
              <a:t>,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/>
              <a:t>z</a:t>
            </a:r>
            <a:r>
              <a:rPr lang="en-US" dirty="0" smtClean="0"/>
              <a:t>) </a:t>
            </a:r>
            <a:r>
              <a:rPr lang="en-US" b="1" dirty="0" smtClean="0">
                <a:solidFill>
                  <a:srgbClr val="C00000"/>
                </a:solidFill>
              </a:rPr>
              <a:t>eigenvalue</a:t>
            </a:r>
          </a:p>
          <a:p>
            <a:r>
              <a:rPr lang="en-US" dirty="0" smtClean="0"/>
              <a:t> If                    , then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§5.1 DT FS to DT FT</a:t>
            </a:r>
            <a:endParaRPr lang="en-US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/>
          </p:nvPr>
        </p:nvGraphicFramePr>
        <p:xfrm>
          <a:off x="1406923" y="5420820"/>
          <a:ext cx="16224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0" name="公式" r:id="rId3" imgW="901440" imgH="342720" progId="Equation.3">
                  <p:embed/>
                </p:oleObj>
              </mc:Choice>
              <mc:Fallback>
                <p:oleObj name="公式" r:id="rId3" imgW="901440" imgH="342720" progId="Equation.3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923" y="5420820"/>
                        <a:ext cx="1622425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/>
          </p:nvPr>
        </p:nvGraphicFramePr>
        <p:xfrm>
          <a:off x="4028775" y="5469585"/>
          <a:ext cx="23098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1" name="公式" r:id="rId5" imgW="1282680" imgH="342720" progId="Equation.3">
                  <p:embed/>
                </p:oleObj>
              </mc:Choice>
              <mc:Fallback>
                <p:oleObj name="公式" r:id="rId5" imgW="1282680" imgH="342720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775" y="5469585"/>
                        <a:ext cx="2309813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/>
          </p:nvPr>
        </p:nvGraphicFramePr>
        <p:xfrm>
          <a:off x="1328738" y="4957763"/>
          <a:ext cx="15319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2" name="公式" r:id="rId7" imgW="850680" imgH="228600" progId="Equation.3">
                  <p:embed/>
                </p:oleObj>
              </mc:Choice>
              <mc:Fallback>
                <p:oleObj name="公式" r:id="rId7" imgW="850680" imgH="228600" progId="Equation.3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4957763"/>
                        <a:ext cx="1531937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786440"/>
              </p:ext>
            </p:extLst>
          </p:nvPr>
        </p:nvGraphicFramePr>
        <p:xfrm>
          <a:off x="7334095" y="400816"/>
          <a:ext cx="532938" cy="57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3" name="公式" r:id="rId9" imgW="177646" imgH="190335" progId="Equation.3">
                  <p:embed/>
                </p:oleObj>
              </mc:Choice>
              <mc:Fallback>
                <p:oleObj name="公式" r:id="rId9" imgW="177646" imgH="190335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095" y="400816"/>
                        <a:ext cx="532938" cy="571005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4846871" y="1702569"/>
          <a:ext cx="2536358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4" name="公式" r:id="rId11" imgW="1409088" imgH="431613" progId="Equation.3">
                  <p:embed/>
                </p:oleObj>
              </mc:Choice>
              <mc:Fallback>
                <p:oleObj name="公式" r:id="rId11" imgW="1409088" imgH="431613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871" y="1702569"/>
                        <a:ext cx="2536358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/>
          </p:nvPr>
        </p:nvGraphicFramePr>
        <p:xfrm>
          <a:off x="3955795" y="2350134"/>
          <a:ext cx="319763" cy="342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5" name="公式" r:id="rId13" imgW="177646" imgH="190335" progId="Equation.3">
                  <p:embed/>
                </p:oleObj>
              </mc:Choice>
              <mc:Fallback>
                <p:oleObj name="公式" r:id="rId13" imgW="177646" imgH="190335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795" y="2350134"/>
                        <a:ext cx="319763" cy="342603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1550515" y="2832083"/>
          <a:ext cx="57835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6" name="公式" r:id="rId14" imgW="3213100" imgH="431800" progId="Equation.3">
                  <p:embed/>
                </p:oleObj>
              </mc:Choice>
              <mc:Fallback>
                <p:oleObj name="公式" r:id="rId14" imgW="3213100" imgH="4318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515" y="2832083"/>
                        <a:ext cx="57835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630151"/>
              </p:ext>
            </p:extLst>
          </p:nvPr>
        </p:nvGraphicFramePr>
        <p:xfrm>
          <a:off x="1879935" y="3766750"/>
          <a:ext cx="21488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7" name="公式" r:id="rId16" imgW="1193800" imgH="431800" progId="Equation.3">
                  <p:embed/>
                </p:oleObj>
              </mc:Choice>
              <mc:Fallback>
                <p:oleObj name="公式" r:id="rId16" imgW="1193800" imgH="4318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935" y="3766750"/>
                        <a:ext cx="21488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181168"/>
              </p:ext>
            </p:extLst>
          </p:nvPr>
        </p:nvGraphicFramePr>
        <p:xfrm>
          <a:off x="4451083" y="3940172"/>
          <a:ext cx="1645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8" name="公式" r:id="rId18" imgW="914400" imgH="228600" progId="Equation.3">
                  <p:embed/>
                </p:oleObj>
              </mc:Choice>
              <mc:Fallback>
                <p:oleObj name="公式" r:id="rId18" imgW="914400" imgH="228600" progId="Equation.3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083" y="3940172"/>
                        <a:ext cx="1645920" cy="4114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972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314182" cy="792000"/>
          </a:xfrm>
        </p:spPr>
        <p:txBody>
          <a:bodyPr>
            <a:noAutofit/>
          </a:bodyPr>
          <a:lstStyle/>
          <a:p>
            <a:r>
              <a:rPr lang="en-US" sz="3200" u="sng" dirty="0" smtClean="0"/>
              <a:t>Recall: </a:t>
            </a:r>
            <a:r>
              <a:rPr lang="en-US" sz="3200" dirty="0" smtClean="0"/>
              <a:t>Fourier Series of DT Periodic Signals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324664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Recall: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is periodic if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err="1" smtClean="0"/>
              <a:t>n</a:t>
            </a:r>
            <a:r>
              <a:rPr lang="en-US" dirty="0" err="1" smtClean="0"/>
              <a:t>+</a:t>
            </a:r>
            <a:r>
              <a:rPr lang="en-US" i="1" dirty="0" err="1" smtClean="0"/>
              <a:t>N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dirty="0" smtClean="0"/>
              <a:t>Fundamental period: the smallest positive </a:t>
            </a:r>
            <a:r>
              <a:rPr lang="en-US" i="1" dirty="0" smtClean="0"/>
              <a:t>N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Fundamental frequency</a:t>
            </a:r>
            <a:r>
              <a:rPr lang="en-US" dirty="0" smtClean="0"/>
              <a:t>: </a:t>
            </a:r>
            <a:r>
              <a:rPr lang="el-GR" i="1" dirty="0" smtClean="0"/>
              <a:t>ω</a:t>
            </a:r>
            <a:r>
              <a:rPr lang="en-US" baseline="-25000" dirty="0" smtClean="0"/>
              <a:t>0</a:t>
            </a:r>
            <a:r>
              <a:rPr lang="en-US" dirty="0" smtClean="0"/>
              <a:t>=2</a:t>
            </a:r>
            <a:r>
              <a:rPr lang="el-GR" i="1" dirty="0" smtClean="0"/>
              <a:t>π</a:t>
            </a:r>
            <a:r>
              <a:rPr lang="en-US" dirty="0" smtClean="0"/>
              <a:t>/</a:t>
            </a:r>
            <a:r>
              <a:rPr lang="en-US" i="1" dirty="0" smtClean="0"/>
              <a:t>N</a:t>
            </a:r>
          </a:p>
          <a:p>
            <a:r>
              <a:rPr lang="en-US" i="1" dirty="0"/>
              <a:t> </a:t>
            </a:r>
            <a:r>
              <a:rPr lang="en-US" dirty="0" smtClean="0"/>
              <a:t>DT complex exponential signals with period </a:t>
            </a:r>
            <a:r>
              <a:rPr lang="en-US" i="1" dirty="0" smtClean="0"/>
              <a:t>N</a:t>
            </a:r>
          </a:p>
          <a:p>
            <a:endParaRPr lang="en-US" dirty="0"/>
          </a:p>
          <a:p>
            <a:r>
              <a:rPr lang="en-US" dirty="0" smtClean="0"/>
              <a:t>  Only </a:t>
            </a:r>
            <a:r>
              <a:rPr lang="en-US" b="1" i="1" dirty="0" smtClean="0">
                <a:solidFill>
                  <a:srgbClr val="FF0000"/>
                </a:solidFill>
              </a:rPr>
              <a:t>N</a:t>
            </a:r>
            <a:r>
              <a:rPr lang="en-US" b="1" dirty="0" smtClean="0">
                <a:solidFill>
                  <a:srgbClr val="FF0000"/>
                </a:solidFill>
              </a:rPr>
              <a:t> distinct signals </a:t>
            </a:r>
            <a:r>
              <a:rPr lang="en-US" dirty="0" smtClean="0"/>
              <a:t>in the above set</a:t>
            </a:r>
            <a:endParaRPr lang="en-US" dirty="0"/>
          </a:p>
          <a:p>
            <a:r>
              <a:rPr lang="en-US" dirty="0" smtClean="0"/>
              <a:t> linear combination of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FT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736623"/>
              </p:ext>
            </p:extLst>
          </p:nvPr>
        </p:nvGraphicFramePr>
        <p:xfrm>
          <a:off x="1992218" y="3186089"/>
          <a:ext cx="464058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47" name="公式" r:id="rId3" imgW="2578100" imgH="241300" progId="Equation.3">
                  <p:embed/>
                </p:oleObj>
              </mc:Choice>
              <mc:Fallback>
                <p:oleObj name="公式" r:id="rId3" imgW="2578100" imgH="2413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218" y="3186089"/>
                        <a:ext cx="464058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554349"/>
              </p:ext>
            </p:extLst>
          </p:nvPr>
        </p:nvGraphicFramePr>
        <p:xfrm>
          <a:off x="1955036" y="4554747"/>
          <a:ext cx="5053103" cy="74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48" name="公式" r:id="rId5" imgW="3009900" imgH="444500" progId="Equation.3">
                  <p:embed/>
                </p:oleObj>
              </mc:Choice>
              <mc:Fallback>
                <p:oleObj name="公式" r:id="rId5" imgW="3009900" imgH="4445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036" y="4554747"/>
                        <a:ext cx="5053103" cy="744837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081391"/>
              </p:ext>
            </p:extLst>
          </p:nvPr>
        </p:nvGraphicFramePr>
        <p:xfrm>
          <a:off x="1955035" y="5422033"/>
          <a:ext cx="5053103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49" name="公式" r:id="rId7" imgW="2768600" imgH="419100" progId="Equation.3">
                  <p:embed/>
                </p:oleObj>
              </mc:Choice>
              <mc:Fallback>
                <p:oleObj name="公式" r:id="rId7" imgW="2768600" imgH="4191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035" y="5422033"/>
                        <a:ext cx="5053103" cy="7543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188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DT FS to DT FT 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42595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is a sequence with </a:t>
                </a:r>
                <a:r>
                  <a:rPr lang="en-US" b="1" u="sng" dirty="0" smtClean="0">
                    <a:solidFill>
                      <a:srgbClr val="C00000"/>
                    </a:solidFill>
                  </a:rPr>
                  <a:t>finite duration</a:t>
                </a:r>
                <a:r>
                  <a:rPr lang="en-US" dirty="0" smtClean="0"/>
                  <a:t>: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</a:t>
                </a:r>
                <a:r>
                  <a:rPr lang="en-US" dirty="0" smtClean="0"/>
                  <a:t> is not zero only in the range of –</a:t>
                </a:r>
                <a:r>
                  <a:rPr lang="en-US" i="1" dirty="0" smtClean="0"/>
                  <a:t>N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≤</a:t>
                </a:r>
                <a:r>
                  <a:rPr lang="en-US" i="1" dirty="0" smtClean="0"/>
                  <a:t>n</a:t>
                </a:r>
                <a:r>
                  <a:rPr lang="en-US" dirty="0"/>
                  <a:t> </a:t>
                </a:r>
                <a:r>
                  <a:rPr lang="en-US" dirty="0" smtClean="0"/>
                  <a:t>≤</a:t>
                </a:r>
                <a:r>
                  <a:rPr lang="en-US" altLang="zh-CN" i="1" dirty="0" smtClean="0"/>
                  <a:t>N</a:t>
                </a:r>
                <a:r>
                  <a:rPr lang="en-US" altLang="zh-CN" baseline="-25000" dirty="0" smtClean="0"/>
                  <a:t>2</a:t>
                </a:r>
                <a:endParaRPr lang="en-US" baseline="-25000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Construct a periodic signal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: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 </a:t>
                </a:r>
                <a:r>
                  <a:rPr lang="en-US" dirty="0" smtClean="0"/>
                  <a:t>is one period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̃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for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any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 smtClean="0"/>
                            <m:t>n</m:t>
                          </m:r>
                        </m:e>
                      </m:func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425955"/>
              </a:xfrm>
              <a:blipFill>
                <a:blip r:embed="rId2"/>
                <a:stretch>
                  <a:fillRect l="-1005" t="-10256"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99" y="2562045"/>
            <a:ext cx="7469555" cy="367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0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DT FS to DT FT 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is a sequence with </a:t>
                </a:r>
                <a:r>
                  <a:rPr lang="en-US" b="1" u="sng" dirty="0" smtClean="0">
                    <a:solidFill>
                      <a:srgbClr val="C00000"/>
                    </a:solidFill>
                  </a:rPr>
                  <a:t>finite duration</a:t>
                </a:r>
                <a:r>
                  <a:rPr lang="en-US" dirty="0" smtClean="0"/>
                  <a:t>: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</a:t>
                </a:r>
                <a:r>
                  <a:rPr lang="en-US" dirty="0" smtClean="0"/>
                  <a:t> is not zero only in the range of –</a:t>
                </a:r>
                <a:r>
                  <a:rPr lang="en-US" i="1" dirty="0" smtClean="0"/>
                  <a:t>N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≤</a:t>
                </a:r>
                <a:r>
                  <a:rPr lang="en-US" i="1" dirty="0" smtClean="0"/>
                  <a:t>n</a:t>
                </a:r>
                <a:r>
                  <a:rPr lang="en-US" dirty="0"/>
                  <a:t> </a:t>
                </a:r>
                <a:r>
                  <a:rPr lang="en-US" dirty="0" smtClean="0"/>
                  <a:t>≤</a:t>
                </a:r>
                <a:r>
                  <a:rPr lang="en-US" altLang="zh-CN" i="1" dirty="0" smtClean="0"/>
                  <a:t>N</a:t>
                </a:r>
                <a:r>
                  <a:rPr lang="en-US" altLang="zh-CN" baseline="-25000" dirty="0" smtClean="0"/>
                  <a:t>2</a:t>
                </a:r>
                <a:endParaRPr lang="en-US" baseline="-25000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Construct a periodic signal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: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 </a:t>
                </a:r>
                <a:r>
                  <a:rPr lang="en-US" dirty="0" smtClean="0"/>
                  <a:t>is one period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̃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for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any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 smtClean="0"/>
                            <m:t>n</m:t>
                          </m:r>
                        </m:e>
                      </m:func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Fourier series representation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sz="2900" dirty="0" smtClean="0"/>
                  <a:t> Relate </a:t>
                </a:r>
                <a:r>
                  <a:rPr lang="en-US" sz="2900" dirty="0"/>
                  <a:t>the FS coefficients to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=&lt;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19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DT FS to DT </a:t>
            </a:r>
            <a:r>
              <a:rPr lang="en-US" dirty="0" smtClean="0"/>
              <a:t>FT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FS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𝑗𝑘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are the sampled values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 smtClean="0"/>
                  <a:t> at the frequency 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(=</m:t>
                    </m:r>
                    <m:r>
                      <m:rPr>
                        <m:nor/>
                      </m:rPr>
                      <a:rPr lang="en-US" dirty="0"/>
                      <m:t>k</m:t>
                    </m:r>
                    <m:r>
                      <m:rPr>
                        <m:nor/>
                      </m:rPr>
                      <a:rPr lang="en-US" dirty="0"/>
                      <m:t>=0, ±1, ±2, …)</m:t>
                    </m:r>
                  </m:oMath>
                </a14:m>
                <a:r>
                  <a:rPr lang="en-US" dirty="0" smtClean="0"/>
                  <a:t>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 smtClean="0"/>
              </a:p>
              <a:p>
                <a:r>
                  <a:rPr lang="en-US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/>
                  <a:t>Define a frequency-domain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𝑗𝑘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𝑗𝑘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97841" y="3561079"/>
            <a:ext cx="2132091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not use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or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51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DT FS to DT </a:t>
            </a:r>
            <a:r>
              <a:rPr lang="en-US" dirty="0" smtClean="0"/>
              <a:t>FT (3)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6868" y="1322632"/>
                <a:ext cx="8970264" cy="316437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=&lt;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altLang="zh-CN" dirty="0" smtClean="0"/>
                  <a:t> When </a:t>
                </a:r>
                <a:r>
                  <a:rPr lang="en-US" altLang="zh-CN" dirty="0"/>
                  <a:t>N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∞,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/>
                  <a:t>] </a:t>
                </a:r>
                <a:r>
                  <a:rPr lang="en-US" dirty="0" smtClean="0"/>
                  <a:t>, summation becomes integral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Discrete-time Fourier transform pair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868" y="1322632"/>
                <a:ext cx="8970264" cy="3164379"/>
              </a:xfrm>
              <a:blipFill>
                <a:blip r:embed="rId2"/>
                <a:stretch>
                  <a:fillRect l="-1019" t="-2890" r="-883" b="-4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>
                <a:spLocks noChangeAspect="1"/>
              </p:cNvSpPr>
              <p:nvPr/>
            </p:nvSpPr>
            <p:spPr>
              <a:xfrm>
                <a:off x="3338589" y="4386703"/>
                <a:ext cx="3370061" cy="8622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589" y="4386703"/>
                <a:ext cx="3370061" cy="862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ChangeAspect="1"/>
              </p:cNvSpPr>
              <p:nvPr/>
            </p:nvSpPr>
            <p:spPr>
              <a:xfrm>
                <a:off x="3338589" y="5367528"/>
                <a:ext cx="3370061" cy="676467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589" y="5367528"/>
                <a:ext cx="3370061" cy="676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21208" y="4652517"/>
            <a:ext cx="25077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equation</a:t>
            </a:r>
            <a:endParaRPr lang="en-US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1208" y="5453317"/>
            <a:ext cx="25077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18289" y="4602596"/>
            <a:ext cx="1887968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to be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duration?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18289" y="5409769"/>
            <a:ext cx="188796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No.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 FT Example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17" y="1443878"/>
            <a:ext cx="7778766" cy="4625721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1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is Periodic!</a:t>
                </a:r>
                <a:endParaRPr 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7692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959996" y="3870492"/>
                <a:ext cx="7886700" cy="717540"/>
              </a:xfrm>
            </p:spPr>
            <p:txBody>
              <a:bodyPr/>
              <a:lstStyle/>
              <a:p>
                <a:r>
                  <a:rPr lang="en-US" dirty="0" smtClean="0"/>
                  <a:t> The fundamental period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is 2</a:t>
                </a:r>
                <a:r>
                  <a:rPr lang="el-GR" i="1" dirty="0" smtClean="0"/>
                  <a:t>π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9996" y="3870492"/>
                <a:ext cx="7886700" cy="717540"/>
              </a:xfrm>
              <a:blipFill>
                <a:blip r:embed="rId3"/>
                <a:stretch>
                  <a:fillRect l="-1314" t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>
                <a:spLocks noChangeAspect="1"/>
              </p:cNvSpPr>
              <p:nvPr/>
            </p:nvSpPr>
            <p:spPr>
              <a:xfrm>
                <a:off x="959996" y="2070109"/>
                <a:ext cx="3370061" cy="8622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96" y="2070109"/>
                <a:ext cx="3370061" cy="862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877456" y="2983092"/>
                <a:ext cx="7114768" cy="8622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56" y="2983092"/>
                <a:ext cx="7114768" cy="862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2202165" y="1434338"/>
            <a:ext cx="4255785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period of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8992" y="4993960"/>
            <a:ext cx="6711696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real meaning of 2</a:t>
            </a:r>
            <a:r>
              <a:rPr lang="el-G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horizontal axis of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plot?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42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3200" dirty="0" smtClean="0"/>
                  <a:t>Periodic Signal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 smtClean="0"/>
                  <a:t> vs. Aperiodic Signal </a:t>
                </a:r>
                <a:r>
                  <a:rPr lang="en-US" sz="3200" i="1" dirty="0"/>
                  <a:t>x</a:t>
                </a:r>
                <a:r>
                  <a:rPr lang="en-US" sz="3200" dirty="0"/>
                  <a:t>[</a:t>
                </a:r>
                <a:r>
                  <a:rPr lang="en-US" sz="3200" i="1" dirty="0"/>
                  <a:t>n</a:t>
                </a:r>
                <a:r>
                  <a:rPr lang="en-US" sz="3200" dirty="0"/>
                  <a:t>]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76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21408"/>
                <a:ext cx="7886700" cy="4055555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FS coefficients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 are the equally spaced samples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This is the basis of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Discrete Fourier Transform (DFT)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discrete in both the time domain and the frequency domain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21408"/>
                <a:ext cx="7886700" cy="4055555"/>
              </a:xfrm>
              <a:blipFill>
                <a:blip r:embed="rId3"/>
                <a:stretch>
                  <a:fillRect l="-1314" t="-2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90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DT FT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Example 5.1,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 Example 5.2  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71282" y="2857789"/>
            <a:ext cx="5115335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find magnitude and phase of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43985" y="2857789"/>
            <a:ext cx="3127263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complex plane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7258" r="7727"/>
          <a:stretch/>
        </p:blipFill>
        <p:spPr>
          <a:xfrm>
            <a:off x="1865376" y="3916976"/>
            <a:ext cx="6199632" cy="234968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21623" y="4317321"/>
            <a:ext cx="765069" cy="40011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a=0.5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9547" y="5404415"/>
            <a:ext cx="847146" cy="40011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a=-0.5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55071" y="6176963"/>
            <a:ext cx="2788620" cy="369332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+ even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 even + real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92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  <p:bldP spid="11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</a:t>
            </a:r>
            <a:r>
              <a:rPr lang="en-US" dirty="0" smtClean="0"/>
              <a:t>FT of Rectangle Pulse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4533362" y="0"/>
            <a:ext cx="4610638" cy="297511"/>
          </a:xfrm>
        </p:spPr>
        <p:txBody>
          <a:bodyPr/>
          <a:lstStyle/>
          <a:p>
            <a:r>
              <a:rPr lang="en-US"/>
              <a:t>§5.1 DT FS to DT FT</a:t>
            </a:r>
          </a:p>
          <a:p>
            <a:endParaRPr 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994" y="1173788"/>
            <a:ext cx="7310738" cy="5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7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Convergence of DT FT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Recall: No convergence problem for DT FS. </a:t>
                </a:r>
              </a:p>
              <a:p>
                <a:r>
                  <a:rPr lang="en-US" altLang="zh-CN" dirty="0"/>
                  <a:t> </a:t>
                </a:r>
                <a:r>
                  <a:rPr lang="en-US" altLang="zh-CN" dirty="0" smtClean="0"/>
                  <a:t>No convergence problem for DT FT of sequences of finite duration.</a:t>
                </a:r>
              </a:p>
              <a:p>
                <a:r>
                  <a:rPr lang="en-US" altLang="zh-CN" dirty="0"/>
                  <a:t> </a:t>
                </a:r>
                <a:r>
                  <a:rPr lang="en-US" altLang="zh-CN" dirty="0" smtClean="0"/>
                  <a:t>How about sequences of </a:t>
                </a:r>
                <a:r>
                  <a:rPr lang="en-US" altLang="zh-CN" u="sng" dirty="0" smtClean="0">
                    <a:solidFill>
                      <a:srgbClr val="FF0000"/>
                    </a:solidFill>
                  </a:rPr>
                  <a:t>infinite duration</a:t>
                </a:r>
                <a:r>
                  <a:rPr lang="en-US" altLang="zh-CN" dirty="0" smtClean="0"/>
                  <a:t>?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convergence of analysis equation: conditional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 synthesis equation has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no</a:t>
                </a:r>
                <a:r>
                  <a:rPr lang="en-US" dirty="0" smtClean="0"/>
                  <a:t> convergence problem: integral over a finite interval</a:t>
                </a:r>
              </a:p>
              <a:p>
                <a:pPr lvl="2"/>
                <a:r>
                  <a:rPr lang="en-US" altLang="zh-CN" b="0" dirty="0" smtClean="0"/>
                  <a:t> 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 if </a:t>
                </a:r>
                <a:r>
                  <a:rPr lang="en-US" i="1" dirty="0" smtClean="0"/>
                  <a:t>W</a:t>
                </a:r>
                <a:r>
                  <a:rPr lang="en-US" dirty="0" smtClean="0"/>
                  <a:t>=</a:t>
                </a:r>
                <a:r>
                  <a:rPr lang="el-GR" i="1" dirty="0" smtClean="0"/>
                  <a:t>π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990313" y="6347843"/>
            <a:ext cx="3086100" cy="365125"/>
          </a:xfrm>
        </p:spPr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§5.1 DT FS to DT </a:t>
            </a:r>
            <a:r>
              <a:rPr lang="en-US" dirty="0" smtClean="0"/>
              <a:t>FT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571605" y="1336514"/>
            <a:ext cx="1206635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74909" y="2229578"/>
            <a:ext cx="1206635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>
                <a:spLocks noChangeAspect="1"/>
              </p:cNvSpPr>
              <p:nvPr/>
            </p:nvSpPr>
            <p:spPr>
              <a:xfrm>
                <a:off x="0" y="3662731"/>
                <a:ext cx="1983219" cy="605679"/>
              </a:xfrm>
              <a:prstGeom prst="rect">
                <a:avLst/>
              </a:prstGeom>
              <a:ln w="22225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sz="1200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62731"/>
                <a:ext cx="1983219" cy="605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ChangeAspect="1"/>
              </p:cNvSpPr>
              <p:nvPr/>
            </p:nvSpPr>
            <p:spPr>
              <a:xfrm>
                <a:off x="0" y="5101946"/>
                <a:ext cx="1781022" cy="662104"/>
              </a:xfrm>
              <a:prstGeom prst="rect">
                <a:avLst/>
              </a:prstGeom>
              <a:ln w="22225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01946"/>
                <a:ext cx="1781022" cy="662104"/>
              </a:xfrm>
              <a:prstGeom prst="rect">
                <a:avLst/>
              </a:prstGeom>
              <a:blipFill>
                <a:blip r:embed="rId4"/>
                <a:stretch>
                  <a:fillRect l="-9932" t="-85321" b="-162385"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7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smtClean="0"/>
                  <a:t>Fourier Transform of </a:t>
                </a:r>
                <a:r>
                  <a:rPr lang="el-GR" i="1" dirty="0" smtClean="0"/>
                  <a:t>δ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and Complex Exponentials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05" t="-47692" b="-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26146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</a:t>
                </a:r>
                <a:r>
                  <a:rPr lang="el-GR" i="1" dirty="0" smtClean="0"/>
                  <a:t>δ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 </a:t>
                </a:r>
                <a:r>
                  <a:rPr lang="en-US" dirty="0" smtClean="0">
                    <a:sym typeface="Wingdings" panose="05000000000000000000" pitchFamily="2" charset="2"/>
                  </a:rPr>
                  <a:t>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</a:rPr>
                          <m:t>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 smtClean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𝜋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𝜋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2614675"/>
              </a:xfrm>
              <a:blipFill>
                <a:blip r:embed="rId3"/>
                <a:stretch>
                  <a:fillRect l="-1005" t="-26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5.2 </a:t>
            </a:r>
            <a:r>
              <a:rPr lang="en-US" dirty="0"/>
              <a:t>DT </a:t>
            </a:r>
            <a:r>
              <a:rPr lang="en-US" dirty="0" smtClean="0"/>
              <a:t>FT of Periodic Sequence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02386" y="4072428"/>
            <a:ext cx="3026291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the coefficient 2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25485" y="4072428"/>
            <a:ext cx="3026291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inverse 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113229" y="4622190"/>
                <a:ext cx="6605654" cy="8622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229" y="4622190"/>
                <a:ext cx="6605654" cy="862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349372" y="5634066"/>
            <a:ext cx="5403352" cy="40011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impulse in any consecutive interval of 2</a:t>
            </a:r>
            <a:r>
              <a:rPr lang="el-G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1811547" y="5391509"/>
            <a:ext cx="198408" cy="242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3200400" y="5287992"/>
            <a:ext cx="370936" cy="346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0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Fourier Transform of Periodic Sequence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is a periodic sequence with period </a:t>
                </a:r>
                <a:r>
                  <a:rPr lang="en-US" i="1" dirty="0" smtClean="0"/>
                  <a:t>N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Fourier series of </a:t>
                </a:r>
                <a:r>
                  <a:rPr lang="en-US" dirty="0"/>
                  <a:t>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=&lt;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groupChr>
                      <m:groupChrPr>
                        <m:chr m:val="↔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5.2 </a:t>
            </a:r>
            <a:r>
              <a:rPr lang="en-US" dirty="0"/>
              <a:t>DT FT of Periodic </a:t>
            </a:r>
            <a:r>
              <a:rPr lang="en-US" dirty="0" smtClean="0"/>
              <a:t>Sequence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Fourier Transform of Sinusoidal Sequence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87504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0≤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875046"/>
              </a:xfrm>
              <a:blipFill>
                <a:blip r:embed="rId3"/>
                <a:stretch>
                  <a:fillRect l="-850" t="-5863" b="-26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§5.2 DT FT of Periodic </a:t>
            </a:r>
            <a:r>
              <a:rPr lang="en-US" dirty="0" smtClean="0"/>
              <a:t>Sequence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90" y="3229904"/>
            <a:ext cx="8310430" cy="224649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90684" y="5716319"/>
            <a:ext cx="1492241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Aliasing?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8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Fourier Transform of Periodic Impulse Train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 smtClean="0"/>
                  <a:t>, fundamental period </a:t>
                </a:r>
                <a:r>
                  <a:rPr lang="en-US" i="1" dirty="0" smtClean="0"/>
                  <a:t>N</a:t>
                </a: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nary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???</a:t>
                </a:r>
              </a:p>
              <a:p>
                <a:r>
                  <a:rPr lang="en-US" dirty="0" smtClean="0"/>
                  <a:t> Fourier series coefficients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dirty="0" smtClean="0"/>
                  <a:t> 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14" t="-3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§5.2 DT FT of Periodic </a:t>
            </a:r>
            <a:r>
              <a:rPr lang="en-US" dirty="0" smtClean="0"/>
              <a:t>Sequence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40187" y="2745835"/>
            <a:ext cx="1966653" cy="707886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[0, N-1] as sum interval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0149" y="4172992"/>
            <a:ext cx="4489331" cy="2338488"/>
          </a:xfrm>
          <a:prstGeom prst="rect">
            <a:avLst/>
          </a:prstGeom>
        </p:spPr>
      </p:pic>
      <p:pic>
        <p:nvPicPr>
          <p:cNvPr id="173058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171700"/>
            <a:ext cx="39624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4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Properties of DT Fourier 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Periodicity</a:t>
                </a:r>
                <a:r>
                  <a:rPr lang="en-US" altLang="zh-CN" dirty="0" smtClean="0"/>
                  <a:t> of DT Fourier Transform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Linearity</a:t>
                </a:r>
                <a:r>
                  <a:rPr lang="en-US" dirty="0" smtClean="0"/>
                  <a:t> </a:t>
                </a:r>
                <a:r>
                  <a:rPr lang="en-US" altLang="zh-CN" dirty="0"/>
                  <a:t>of DT Fourier Transform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Time shifting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  <m:groupChr>
                        <m:groupChrPr>
                          <m:chr m:val="↔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Frequency shifting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  <m:groupChr>
                        <m:groupChrPr>
                          <m:chr m:val="↔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5.3 </a:t>
            </a:r>
            <a:r>
              <a:rPr lang="en-US" dirty="0"/>
              <a:t>DT </a:t>
            </a:r>
            <a:r>
              <a:rPr lang="en-US" dirty="0" smtClean="0"/>
              <a:t>FT Properties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729291" y="1410811"/>
            <a:ext cx="1884357" cy="40011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important!</a:t>
            </a:r>
          </a:p>
        </p:txBody>
      </p:sp>
    </p:spTree>
    <p:extLst>
      <p:ext uri="{BB962C8B-B14F-4D97-AF65-F5344CB8AC3E}">
        <p14:creationId xmlns:p14="http://schemas.microsoft.com/office/powerpoint/2010/main" val="175503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Convolution Property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3931412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 smtClean="0"/>
                  <a:t> Recall: </a:t>
                </a:r>
                <a:r>
                  <a:rPr lang="en-US" b="1" dirty="0">
                    <a:solidFill>
                      <a:srgbClr val="C00000"/>
                    </a:solidFill>
                  </a:rPr>
                  <a:t>c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onvolution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integral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dirty="0" smtClean="0"/>
                  <a:t> </a:t>
                </a:r>
                <a:r>
                  <a:rPr lang="en-US" dirty="0"/>
                  <a:t>Fourier transform of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m:rPr>
                              <m:nor/>
                            </m:rPr>
                            <a:rPr lang="en-US" altLang="zh-CN" dirty="0"/>
                            <m:t> </m:t>
                          </m:r>
                          <m:sSup>
                            <m:sSup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sz="2700" b="1" dirty="0">
                    <a:solidFill>
                      <a:srgbClr val="C00000"/>
                    </a:solidFill>
                  </a:rPr>
                  <a:t>Convolution property </a:t>
                </a:r>
                <a:r>
                  <a:rPr lang="en-US" sz="2700" dirty="0"/>
                  <a:t>of DT Fourier transform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3931412"/>
              </a:xfrm>
              <a:blipFill>
                <a:blip r:embed="rId8"/>
                <a:stretch>
                  <a:fillRect l="-464" t="-2791" b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5.4 Convolution </a:t>
            </a:r>
            <a:r>
              <a:rPr lang="en-US" dirty="0"/>
              <a:t>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247060" y="5239512"/>
                <a:ext cx="4940124" cy="714491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]</m:t>
                      </m:r>
                      <m:groupChr>
                        <m:groupChrPr>
                          <m:chr m:val="↔"/>
                          <m:vertJc m:val="bot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60" y="5239512"/>
                <a:ext cx="4940124" cy="7144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73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Response of Time-Shifting System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4868863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LTI </a:t>
                </a:r>
                <a:r>
                  <a:rPr lang="en-US" dirty="0" smtClean="0"/>
                  <a:t>system with impulse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for input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, output spectrum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From </a:t>
                </a:r>
                <a:r>
                  <a:rPr lang="en-US" u="sng" dirty="0" smtClean="0">
                    <a:solidFill>
                      <a:srgbClr val="C00000"/>
                    </a:solidFill>
                  </a:rPr>
                  <a:t>time shifting property</a:t>
                </a:r>
              </a:p>
              <a:p>
                <a:pPr marL="0" indent="0">
                  <a:buNone/>
                </a:pPr>
                <a:r>
                  <a:rPr lang="en-US" dirty="0" smtClean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4868863"/>
              </a:xfrm>
              <a:blipFill>
                <a:blip r:embed="rId3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§5.4 Convolution </a:t>
            </a:r>
            <a:r>
              <a:rPr lang="en-US" dirty="0" smtClean="0"/>
              <a:t>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49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Example 5.13: LTI System Response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51384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LTI system with impulse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input signal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&lt;1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output spectrum </a:t>
                </a:r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 smtClean="0"/>
                  <a:t>partial fraction expansion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output sequence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5138420"/>
              </a:xfrm>
              <a:blipFill>
                <a:blip r:embed="rId4"/>
                <a:stretch>
                  <a:fillRect l="-696" t="-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§5.4 Convolution </a:t>
            </a:r>
            <a:r>
              <a:rPr lang="en-US" dirty="0" smtClean="0"/>
              <a:t>Property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972212" y="4699211"/>
                <a:ext cx="1632292" cy="830997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Q: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212" y="4699211"/>
                <a:ext cx="1632292" cy="830997"/>
              </a:xfrm>
              <a:prstGeom prst="rect">
                <a:avLst/>
              </a:prstGeom>
              <a:blipFill>
                <a:blip r:embed="rId5"/>
                <a:stretch>
                  <a:fillRect l="-5556" t="-5072" r="-370" b="-15217"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70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423910" cy="792000"/>
          </a:xfrm>
        </p:spPr>
        <p:txBody>
          <a:bodyPr>
            <a:noAutofit/>
          </a:bodyPr>
          <a:lstStyle/>
          <a:p>
            <a:r>
              <a:rPr lang="en-US" sz="3600" dirty="0"/>
              <a:t>Example 5.13: LTI System </a:t>
            </a:r>
            <a:r>
              <a:rPr lang="en-US" sz="3600" dirty="0" smtClean="0"/>
              <a:t>Response (</a:t>
            </a:r>
            <a:r>
              <a:rPr lang="en-US" sz="3600" dirty="0" err="1" smtClean="0"/>
              <a:t>cont</a:t>
            </a:r>
            <a:r>
              <a:rPr lang="en-US" sz="3600" dirty="0" smtClean="0"/>
              <a:t>’)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418863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</m:e>
                        </m:d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Using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differentiation (frequency domain) property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Using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time-shifting property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output sequence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4188635"/>
              </a:xfrm>
              <a:blipFill>
                <a:blip r:embed="rId3"/>
                <a:stretch>
                  <a:fillRect l="-1005" t="-2620" b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§5.4 Convolution </a:t>
            </a:r>
            <a:r>
              <a:rPr lang="en-US" dirty="0" smtClean="0"/>
              <a:t>Property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57790" y="5575304"/>
            <a:ext cx="3497668" cy="46166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n=-1? Causality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090398" y="5585285"/>
                <a:ext cx="3160994" cy="461665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398" y="5585285"/>
                <a:ext cx="3160994" cy="461665"/>
              </a:xfrm>
              <a:prstGeom prst="rect">
                <a:avLst/>
              </a:prstGeom>
              <a:blipFill>
                <a:blip r:embed="rId4"/>
                <a:stretch>
                  <a:fillRect b="-12346"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smtClean="0"/>
              <a:t>Example 5.14: Ideal Bandstop Filter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§5.4 Convolution </a:t>
            </a:r>
            <a:r>
              <a:rPr lang="en-US" dirty="0" smtClean="0"/>
              <a:t>Property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39307"/>
            <a:ext cx="5095494" cy="19876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952744" y="1764827"/>
                <a:ext cx="1967398" cy="381258"/>
              </a:xfrm>
              <a:prstGeom prst="rect">
                <a:avLst/>
              </a:prstGeom>
              <a:noFill/>
              <a:ln w="22225">
                <a:solidFill>
                  <a:srgbClr val="0000FF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744" y="1764827"/>
                <a:ext cx="1967398" cy="381258"/>
              </a:xfrm>
              <a:prstGeom prst="rect">
                <a:avLst/>
              </a:prstGeom>
              <a:blipFill>
                <a:blip r:embed="rId4"/>
                <a:stretch>
                  <a:fillRect l="-4294" t="-1515" b="-28788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440055" y="3426299"/>
                <a:ext cx="2496388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055" y="3426299"/>
                <a:ext cx="2496388" cy="4049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216152" y="3444212"/>
                <a:ext cx="2554545" cy="381258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52" y="3444212"/>
                <a:ext cx="2554545" cy="381258"/>
              </a:xfrm>
              <a:prstGeom prst="rect">
                <a:avLst/>
              </a:prstGeom>
              <a:blipFill>
                <a:blip r:embed="rId6"/>
                <a:stretch>
                  <a:fillRect l="-955" t="-4762" b="-12698"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099447" y="4122537"/>
                <a:ext cx="3392852" cy="4104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47" y="4122537"/>
                <a:ext cx="3392852" cy="410497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099447" y="4634626"/>
                <a:ext cx="7563930" cy="4104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47" y="4634626"/>
                <a:ext cx="7563930" cy="410497"/>
              </a:xfrm>
              <a:prstGeom prst="rect">
                <a:avLst/>
              </a:prstGeom>
              <a:blipFill>
                <a:blip r:embed="rId8"/>
                <a:stretch>
                  <a:fillRect t="-14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047203" y="5146715"/>
                <a:ext cx="4563172" cy="4104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03" y="5146715"/>
                <a:ext cx="4563172" cy="410497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7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72450" cy="792000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Example 5.14: Ideal Bandstop </a:t>
            </a:r>
            <a:r>
              <a:rPr lang="en-US" altLang="zh-CN" sz="3600" dirty="0" smtClean="0"/>
              <a:t>Filter (</a:t>
            </a:r>
            <a:r>
              <a:rPr lang="en-US" altLang="zh-CN" sz="3600" dirty="0" err="1" smtClean="0"/>
              <a:t>cont</a:t>
            </a:r>
            <a:r>
              <a:rPr lang="en-US" altLang="zh-CN" sz="3600" dirty="0" smtClean="0"/>
              <a:t>’)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§5.4 Convolution </a:t>
            </a:r>
            <a:r>
              <a:rPr lang="en-US" dirty="0" smtClean="0"/>
              <a:t>Property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53" y="1323145"/>
            <a:ext cx="5095494" cy="19876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51777" y="3449738"/>
                <a:ext cx="4563172" cy="4104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777" y="3449738"/>
                <a:ext cx="4563172" cy="410497"/>
              </a:xfrm>
              <a:prstGeom prst="rect">
                <a:avLst/>
              </a:prstGeom>
              <a:blipFill>
                <a:blip r:embed="rId3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45" y="3933715"/>
            <a:ext cx="5402700" cy="13577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370" y="5235561"/>
            <a:ext cx="5449275" cy="13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1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Multiplication Property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5.5 Multiplication Property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74785" y="2109450"/>
                <a:ext cx="8299938" cy="684355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85" y="2109450"/>
                <a:ext cx="8299938" cy="684355"/>
              </a:xfrm>
              <a:prstGeom prst="rect">
                <a:avLst/>
              </a:prstGeom>
              <a:blipFill>
                <a:blip r:embed="rId2"/>
                <a:stretch>
                  <a:fillRect b="-6838"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19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 Linear Constant-Coefficient Difference Equation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order Difference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 Using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time shifting property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</a:p>
              <a:p>
                <a:r>
                  <a:rPr lang="en-US" b="1" dirty="0" smtClean="0">
                    <a:solidFill>
                      <a:srgbClr val="C00000"/>
                    </a:solidFill>
                  </a:rPr>
                  <a:t>Frequency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5.8  System Characterized by Difference 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21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5.18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b="1" dirty="0" smtClean="0">
                    <a:solidFill>
                      <a:srgbClr val="FF0000"/>
                    </a:solidFill>
                  </a:rPr>
                  <a:t>LTI</a:t>
                </a:r>
                <a:r>
                  <a:rPr lang="en-US" altLang="zh-CN" dirty="0" smtClean="0"/>
                  <a:t> system with </a:t>
                </a:r>
                <a:r>
                  <a:rPr lang="en-US" dirty="0" smtClean="0"/>
                  <a:t>1</a:t>
                </a:r>
                <a:r>
                  <a:rPr lang="en-US" baseline="30000" dirty="0" smtClean="0"/>
                  <a:t>st</a:t>
                </a:r>
                <a:r>
                  <a:rPr lang="en-US" dirty="0" smtClean="0"/>
                  <a:t> order difference equation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Frequency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Impulse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§5.8  System Characterized by Difference </a:t>
            </a:r>
            <a:r>
              <a:rPr lang="en-US" dirty="0" smtClean="0"/>
              <a:t>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4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5.19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LTI </a:t>
                </a:r>
                <a:r>
                  <a:rPr lang="en-US" dirty="0" smtClean="0"/>
                  <a:t>system with 2</a:t>
                </a:r>
                <a:r>
                  <a:rPr lang="en-US" baseline="30000" dirty="0" smtClean="0"/>
                  <a:t>nd</a:t>
                </a:r>
                <a:r>
                  <a:rPr lang="en-US" dirty="0" smtClean="0"/>
                  <a:t> order difference equation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Frequency </a:t>
                </a:r>
                <a:r>
                  <a:rPr lang="en-US" dirty="0" smtClean="0"/>
                  <a:t>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Partial fraction expansion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Impulse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]=4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]−2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§5.8  System Characterized by Difference </a:t>
            </a:r>
            <a:r>
              <a:rPr lang="en-US" dirty="0" smtClean="0"/>
              <a:t>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06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 Processing of CT Signals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807069"/>
            <a:ext cx="7886700" cy="2369894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C/D conversion</a:t>
            </a:r>
            <a:r>
              <a:rPr lang="en-US" dirty="0" smtClean="0"/>
              <a:t>: continuous-time to discrete-time conversion    </a:t>
            </a:r>
            <a:r>
              <a:rPr lang="en-US" i="1" dirty="0" err="1" smtClean="0"/>
              <a:t>x</a:t>
            </a:r>
            <a:r>
              <a:rPr lang="en-US" i="1" baseline="-25000" dirty="0" err="1" smtClean="0"/>
              <a:t>d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n-US" i="1" dirty="0" smtClean="0"/>
              <a:t>x</a:t>
            </a:r>
            <a:r>
              <a:rPr lang="en-US" i="1" baseline="-25000" dirty="0" smtClean="0"/>
              <a:t>c</a:t>
            </a:r>
            <a:r>
              <a:rPr lang="en-US" dirty="0" smtClean="0"/>
              <a:t>[</a:t>
            </a:r>
            <a:r>
              <a:rPr lang="en-US" i="1" dirty="0" err="1" smtClean="0"/>
              <a:t>nT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D/C conversion</a:t>
            </a:r>
            <a:r>
              <a:rPr lang="en-US" dirty="0" smtClean="0"/>
              <a:t>: discrete-time to continuous-time conversion   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c</a:t>
            </a:r>
            <a:r>
              <a:rPr lang="en-US" dirty="0" smtClean="0"/>
              <a:t>[</a:t>
            </a:r>
            <a:r>
              <a:rPr lang="en-US" i="1" dirty="0" err="1" smtClean="0"/>
              <a:t>nT</a:t>
            </a:r>
            <a:r>
              <a:rPr lang="en-US" dirty="0"/>
              <a:t>] </a:t>
            </a:r>
            <a:r>
              <a:rPr lang="en-US" dirty="0" smtClean="0"/>
              <a:t>=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d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§7.4  </a:t>
            </a:r>
            <a:r>
              <a:rPr lang="en-US" altLang="zh-CN" dirty="0" smtClean="0"/>
              <a:t>DT Processing of CT Signals</a:t>
            </a:r>
            <a:endParaRPr lang="en-US" dirty="0"/>
          </a:p>
          <a:p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7" y="1336514"/>
            <a:ext cx="9061826" cy="250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1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C/D Conversion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476542"/>
                <a:ext cx="8453804" cy="193072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impulse 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CT FT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𝑛𝑇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DT FT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Since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d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]=</a:t>
                </a:r>
                <a:r>
                  <a:rPr lang="en-US" i="1" dirty="0" smtClean="0"/>
                  <a:t>x</a:t>
                </a:r>
                <a:r>
                  <a:rPr lang="en-US" i="1" baseline="-25000" dirty="0" smtClean="0"/>
                  <a:t>c</a:t>
                </a:r>
                <a:r>
                  <a:rPr lang="en-US" dirty="0" smtClean="0"/>
                  <a:t>(</a:t>
                </a:r>
                <a:r>
                  <a:rPr lang="en-US" i="1" dirty="0" err="1" smtClean="0"/>
                  <a:t>nT</a:t>
                </a:r>
                <a:r>
                  <a:rPr lang="en-US" dirty="0" smtClean="0"/>
                  <a:t>)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476542"/>
                <a:ext cx="8453804" cy="1930728"/>
              </a:xfrm>
              <a:blipFill>
                <a:blip r:embed="rId2"/>
                <a:stretch>
                  <a:fillRect l="-793" t="-32492" b="-21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§7.4  </a:t>
            </a:r>
            <a:r>
              <a:rPr lang="en-US" altLang="zh-CN" dirty="0"/>
              <a:t>DT Processing of CT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640" y="1336514"/>
            <a:ext cx="4404410" cy="196063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554666" y="1689564"/>
            <a:ext cx="22220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72491" y="5522424"/>
                <a:ext cx="8470845" cy="526939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l-G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91" y="5522424"/>
                <a:ext cx="8470845" cy="526939"/>
              </a:xfrm>
              <a:prstGeom prst="rect">
                <a:avLst/>
              </a:prstGeom>
              <a:blipFill>
                <a:blip r:embed="rId4"/>
                <a:stretch>
                  <a:fillRect t="-77778" r="-6317" b="-126667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25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Spectrum of </a:t>
            </a:r>
            <a:r>
              <a:rPr lang="en-US" altLang="zh-CN" dirty="0"/>
              <a:t>C/D Conversion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§7.4  </a:t>
            </a:r>
            <a:r>
              <a:rPr lang="en-US" altLang="zh-CN" dirty="0"/>
              <a:t>DT Processing of CT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43995" y="1393323"/>
                <a:ext cx="3909147" cy="947888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95" y="1393323"/>
                <a:ext cx="3909147" cy="947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554415" y="1393323"/>
                <a:ext cx="4229941" cy="947888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415" y="1393323"/>
                <a:ext cx="4229941" cy="94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354" y="2381436"/>
            <a:ext cx="5318865" cy="157170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668" y="3664420"/>
            <a:ext cx="5449275" cy="14693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074" y="4961838"/>
            <a:ext cx="5495850" cy="153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Impulse-Train Sampling of Discrete-Time Signals</a:t>
            </a:r>
            <a:endParaRPr 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" y="1302463"/>
            <a:ext cx="2672861" cy="228733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67" y="1761795"/>
            <a:ext cx="5085990" cy="124619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67" y="3194088"/>
            <a:ext cx="5085990" cy="112530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67" y="4572307"/>
            <a:ext cx="5085990" cy="124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9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Impulse-Train Sampling of Discrete-Time Signals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42901" y="3720337"/>
                <a:ext cx="8695591" cy="263585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/>
                  <a:t> In time domain,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𝑘𝑁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In frequency domain,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endParaRPr lang="en-US" b="0" dirty="0" smtClean="0"/>
              </a:p>
              <a:p>
                <a:r>
                  <a:rPr lang="en-US" dirty="0" smtClean="0"/>
                  <a:t> DT FT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Spectrum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1" y="3720337"/>
                <a:ext cx="8695591" cy="2635851"/>
              </a:xfrm>
              <a:blipFill>
                <a:blip r:embed="rId2"/>
                <a:stretch>
                  <a:fillRect l="-911" t="-24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62" y="1302463"/>
            <a:ext cx="2672861" cy="2287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1999" y="1450066"/>
                <a:ext cx="2344809" cy="769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450066"/>
                <a:ext cx="2344809" cy="7698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571999" y="2446130"/>
                <a:ext cx="4323299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an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integer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multiple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2446130"/>
                <a:ext cx="4323299" cy="61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08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Sampling </a:t>
            </a:r>
            <a:r>
              <a:rPr lang="en-US" sz="3600" dirty="0"/>
              <a:t>of </a:t>
            </a:r>
            <a:r>
              <a:rPr lang="en-US" sz="3600" dirty="0" smtClean="0"/>
              <a:t>DT Signals without Aliasing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996354"/>
            <a:ext cx="7886700" cy="18060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13" y="1260601"/>
            <a:ext cx="6893100" cy="14787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13" y="2684026"/>
            <a:ext cx="6893100" cy="1478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813" y="4266554"/>
            <a:ext cx="6893100" cy="1729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619095" y="4229513"/>
                <a:ext cx="1257074" cy="369332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095" y="4229513"/>
                <a:ext cx="12570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42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093319" cy="792000"/>
          </a:xfrm>
        </p:spPr>
        <p:txBody>
          <a:bodyPr>
            <a:normAutofit fontScale="90000"/>
          </a:bodyPr>
          <a:lstStyle/>
          <a:p>
            <a:r>
              <a:rPr lang="en-US" dirty="0"/>
              <a:t>Sampling of DT Signals </a:t>
            </a:r>
            <a:r>
              <a:rPr lang="en-US" dirty="0" smtClean="0"/>
              <a:t>with Aliasing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943600"/>
            <a:ext cx="7886700" cy="233363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58" y="1224741"/>
            <a:ext cx="6893100" cy="1478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58" y="2771056"/>
            <a:ext cx="6893100" cy="1478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58" y="4375206"/>
            <a:ext cx="6893100" cy="1478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464893" y="4286909"/>
                <a:ext cx="1257075" cy="369332"/>
              </a:xfrm>
              <a:prstGeom prst="rect">
                <a:avLst/>
              </a:prstGeom>
              <a:ln w="2222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893" y="4286909"/>
                <a:ext cx="12570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22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48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Decimation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57" y="1723272"/>
            <a:ext cx="5085990" cy="12461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57" y="3133639"/>
            <a:ext cx="5085990" cy="12461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57" y="4798602"/>
            <a:ext cx="5085990" cy="124619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924047" y="3107727"/>
            <a:ext cx="1499128" cy="523220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4047" y="4544006"/>
            <a:ext cx="3051276" cy="1200329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Decimation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operation of extracting every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 sample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97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Spectrum of Decimation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𝑖𝑛𝑡𝑒𝑔𝑒𝑟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𝑚𝑢𝑙𝑡𝑖𝑝𝑙𝑒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=0 when n is not integer multiple of </a:t>
                </a:r>
                <a:r>
                  <a:rPr lang="en-US" i="1" dirty="0" smtClean="0"/>
                  <a:t>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b="-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2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Spectrum of Decimation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95" y="1224741"/>
            <a:ext cx="5706208" cy="502085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158197" y="1878163"/>
            <a:ext cx="2515286" cy="3416320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Decimation is often called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aliasing in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original sequence is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oversampled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1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Interpolation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43192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upsampling</a:t>
            </a:r>
            <a:r>
              <a:rPr lang="en-US" dirty="0" smtClean="0"/>
              <a:t> (reverse of decimation) + lowpass filter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§7.5  Sampling of DT </a:t>
            </a:r>
            <a:r>
              <a:rPr lang="en-US" altLang="zh-CN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050" y="1650246"/>
            <a:ext cx="5431469" cy="488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9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From </a:t>
            </a:r>
            <a:r>
              <a:rPr lang="en-US" dirty="0" smtClean="0"/>
              <a:t>DT FS to DT FT</a:t>
            </a:r>
          </a:p>
          <a:p>
            <a:r>
              <a:rPr lang="en-US" dirty="0" smtClean="0"/>
              <a:t> </a:t>
            </a:r>
            <a:r>
              <a:rPr lang="en-US" altLang="zh-CN" dirty="0" smtClean="0"/>
              <a:t>FT </a:t>
            </a:r>
            <a:r>
              <a:rPr lang="en-US" dirty="0" smtClean="0"/>
              <a:t>of </a:t>
            </a:r>
            <a:r>
              <a:rPr lang="en-US" dirty="0"/>
              <a:t>Periodic Sequence</a:t>
            </a:r>
          </a:p>
          <a:p>
            <a:r>
              <a:rPr lang="en-US" dirty="0" smtClean="0"/>
              <a:t> DT </a:t>
            </a:r>
            <a:r>
              <a:rPr lang="en-US" dirty="0"/>
              <a:t>Fourier Transform </a:t>
            </a:r>
            <a:r>
              <a:rPr lang="en-US" dirty="0" smtClean="0"/>
              <a:t>Properties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Periodicity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Convolution</a:t>
            </a:r>
            <a:endParaRPr lang="en-US" dirty="0"/>
          </a:p>
          <a:p>
            <a:r>
              <a:rPr lang="en-US" dirty="0" smtClean="0"/>
              <a:t> Spectrum of Sampling, Decimation and Interpolation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4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Duality Learned So Far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22307"/>
            <a:ext cx="7886700" cy="4868863"/>
          </a:xfrm>
        </p:spPr>
        <p:txBody>
          <a:bodyPr/>
          <a:lstStyle/>
          <a:p>
            <a:r>
              <a:rPr lang="en-US" dirty="0" smtClean="0"/>
              <a:t> continuous-time Fourier transform: synthesis equation vs. analysis equation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discrete-time </a:t>
            </a:r>
            <a:r>
              <a:rPr lang="en-US" dirty="0"/>
              <a:t>Fourier </a:t>
            </a:r>
            <a:r>
              <a:rPr lang="en-US" dirty="0" smtClean="0"/>
              <a:t>series: </a:t>
            </a:r>
            <a:r>
              <a:rPr lang="en-US" dirty="0"/>
              <a:t>synthesis </a:t>
            </a:r>
            <a:r>
              <a:rPr lang="en-US" dirty="0" smtClean="0"/>
              <a:t>equation </a:t>
            </a:r>
            <a:r>
              <a:rPr lang="en-US" dirty="0"/>
              <a:t>vs. analysis </a:t>
            </a:r>
            <a:r>
              <a:rPr lang="en-US" dirty="0" smtClean="0"/>
              <a:t>equation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5.7 </a:t>
            </a:r>
            <a:r>
              <a:rPr lang="en-US" altLang="zh-CN" dirty="0" smtClean="0"/>
              <a:t>Duality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1049804" y="2267415"/>
          <a:ext cx="3016211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6" name="公式" r:id="rId3" imgW="1675673" imgH="393529" progId="Equation.3">
                  <p:embed/>
                </p:oleObj>
              </mc:Choice>
              <mc:Fallback>
                <p:oleObj name="公式" r:id="rId3" imgW="1675673" imgH="393529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804" y="2267415"/>
                        <a:ext cx="3016211" cy="70835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4999092" y="2324411"/>
          <a:ext cx="25831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7" name="公式" r:id="rId5" imgW="1435100" imgH="330200" progId="Equation.3">
                  <p:embed/>
                </p:oleObj>
              </mc:Choice>
              <mc:Fallback>
                <p:oleObj name="公式" r:id="rId5" imgW="1435100" imgH="3302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92" y="2324411"/>
                        <a:ext cx="258318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892079" y="4374703"/>
                <a:ext cx="2967094" cy="840423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079" y="4374703"/>
                <a:ext cx="2967094" cy="8404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790955" y="4374703"/>
                <a:ext cx="3333990" cy="840423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955" y="4374703"/>
                <a:ext cx="3333990" cy="8404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5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No Duality between Synthesis </a:t>
            </a:r>
            <a:r>
              <a:rPr lang="en-US" sz="3600" dirty="0"/>
              <a:t>F</a:t>
            </a:r>
            <a:r>
              <a:rPr lang="en-US" sz="3600" dirty="0" smtClean="0"/>
              <a:t>unction and Analysis </a:t>
            </a:r>
            <a:r>
              <a:rPr lang="en-US" sz="3600" dirty="0"/>
              <a:t>F</a:t>
            </a:r>
            <a:r>
              <a:rPr lang="en-US" sz="3600" dirty="0" smtClean="0"/>
              <a:t>unction of DT FT 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295334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Summation vs. Integration: No duality in DT FT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No duality in </a:t>
            </a:r>
            <a:r>
              <a:rPr lang="en-US" dirty="0" smtClean="0"/>
              <a:t>CT FS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§5.7 </a:t>
            </a:r>
            <a:r>
              <a:rPr lang="en-US" altLang="zh-CN" dirty="0" smtClean="0"/>
              <a:t>Duality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>
                <a:spLocks noChangeAspect="1"/>
              </p:cNvSpPr>
              <p:nvPr/>
            </p:nvSpPr>
            <p:spPr>
              <a:xfrm>
                <a:off x="4080461" y="2001555"/>
                <a:ext cx="3370061" cy="8622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461" y="2001555"/>
                <a:ext cx="3370061" cy="862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ChangeAspect="1"/>
              </p:cNvSpPr>
              <p:nvPr/>
            </p:nvSpPr>
            <p:spPr>
              <a:xfrm>
                <a:off x="4080461" y="2982380"/>
                <a:ext cx="3370061" cy="676467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461" y="2982380"/>
                <a:ext cx="3370061" cy="676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263080" y="2267369"/>
            <a:ext cx="25077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equation</a:t>
            </a:r>
            <a:endParaRPr lang="en-US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63080" y="3068169"/>
            <a:ext cx="25077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3749253" y="5287886"/>
          <a:ext cx="47091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0" name="公式" r:id="rId5" imgW="2616200" imgH="393700" progId="Equation.3">
                  <p:embed/>
                </p:oleObj>
              </mc:Choice>
              <mc:Fallback>
                <p:oleObj name="公式" r:id="rId5" imgW="2616200" imgH="3937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253" y="5287886"/>
                        <a:ext cx="4709160" cy="7086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3770823" y="4380050"/>
          <a:ext cx="37947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1" name="公式" r:id="rId7" imgW="2108200" imgH="431800" progId="Equation.3">
                  <p:embed/>
                </p:oleObj>
              </mc:Choice>
              <mc:Fallback>
                <p:oleObj name="公式" r:id="rId7" imgW="2108200" imgH="4318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823" y="4380050"/>
                        <a:ext cx="3794760" cy="7772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43589" y="4597714"/>
            <a:ext cx="2499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52935" y="5299262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nalysis equation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95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Duality between DT FT and CT FS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57665" y="5179914"/>
                <a:ext cx="8408515" cy="85446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is a periodic signal, so it has FS expansion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665" y="5179914"/>
                <a:ext cx="8408515" cy="854465"/>
              </a:xfrm>
              <a:blipFill>
                <a:blip r:embed="rId2"/>
                <a:stretch>
                  <a:fillRect l="-1305" t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§5.7 </a:t>
            </a:r>
            <a:r>
              <a:rPr lang="en-US" altLang="zh-CN" dirty="0" smtClean="0"/>
              <a:t>Duality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3357" y="2509413"/>
            <a:ext cx="1423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357" y="3595109"/>
            <a:ext cx="1268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nalysis equation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77373" y="1284475"/>
            <a:ext cx="2846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Discrete-time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68633" y="1284475"/>
            <a:ext cx="2846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-time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Fourier Series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011695" y="2509413"/>
                <a:ext cx="3054485" cy="8622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695" y="2509413"/>
                <a:ext cx="3054485" cy="862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948467" y="3714207"/>
                <a:ext cx="3117713" cy="73789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467" y="3714207"/>
                <a:ext cx="3117713" cy="7378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>
                <a:off x="1526715" y="3634913"/>
                <a:ext cx="3370061" cy="8622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715" y="3634913"/>
                <a:ext cx="3370061" cy="862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>
                <a:spLocks noChangeAspect="1"/>
              </p:cNvSpPr>
              <p:nvPr/>
            </p:nvSpPr>
            <p:spPr>
              <a:xfrm>
                <a:off x="1526715" y="2599197"/>
                <a:ext cx="3370061" cy="676467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715" y="2599197"/>
                <a:ext cx="3370061" cy="6764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左右箭头 16"/>
          <p:cNvSpPr/>
          <p:nvPr/>
        </p:nvSpPr>
        <p:spPr>
          <a:xfrm rot="1858729">
            <a:off x="4711478" y="3344673"/>
            <a:ext cx="1340332" cy="3802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左右箭头 17"/>
          <p:cNvSpPr/>
          <p:nvPr/>
        </p:nvSpPr>
        <p:spPr>
          <a:xfrm rot="19268912">
            <a:off x="4743750" y="3284166"/>
            <a:ext cx="1340332" cy="3802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7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5.17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291614" cy="5048251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 smtClean="0"/>
                  <a:t>Example 5.17:  </a:t>
                </a:r>
                <a:r>
                  <a:rPr lang="en-US" dirty="0" smtClean="0"/>
                  <a:t>Find the DT FT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Consider </a:t>
                </a:r>
                <a:r>
                  <a:rPr lang="en-US" dirty="0" smtClean="0"/>
                  <a:t>CT signal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with period of 2</a:t>
                </a:r>
                <a:r>
                  <a:rPr lang="el-GR" dirty="0" smtClean="0"/>
                  <a:t>π</a:t>
                </a: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FS coefficients of 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</a:t>
                </a:r>
                <a:r>
                  <a:rPr lang="en-US" dirty="0" smtClean="0"/>
                  <a:t>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dirty="0" smtClean="0"/>
                  <a:t>  (Example 3.5)</a:t>
                </a:r>
              </a:p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 smtClean="0"/>
                  <a:t>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The analysis equation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𝑗𝑘𝑡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1∙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𝑗𝑘𝑡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 smtClean="0"/>
                  <a:t> rename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as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 as </a:t>
                </a:r>
                <a:r>
                  <a:rPr lang="el-GR" i="1" dirty="0" smtClean="0"/>
                  <a:t>ω</a:t>
                </a:r>
                <a:endParaRPr lang="en-US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1∙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replace –</a:t>
                </a:r>
                <a:r>
                  <a:rPr lang="en-US" i="1" dirty="0"/>
                  <a:t>n</a:t>
                </a:r>
                <a:r>
                  <a:rPr lang="en-US" dirty="0"/>
                  <a:t> by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1∙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Finally,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eqArr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291614" cy="5048251"/>
              </a:xfrm>
              <a:blipFill>
                <a:blip r:embed="rId2"/>
                <a:stretch>
                  <a:fillRect l="-588" t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§5.7 </a:t>
            </a:r>
            <a:r>
              <a:rPr lang="en-US" altLang="zh-CN" dirty="0" smtClean="0"/>
              <a:t>Duality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30525" cy="792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Basis for Discrete Fourier Transform (DFT)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 smtClean="0"/>
                  <a:t> Assume a signal with finite duration and limited band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=0,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m:rPr>
                                <m:nor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  <m:r>
                              <m:rPr>
                                <m:nor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eqAr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 periodic signal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FT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 smtClean="0"/>
                  <a:t>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 smtClean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7264042" y="1994921"/>
            <a:ext cx="1763226" cy="46166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Possible?</a:t>
            </a:r>
          </a:p>
        </p:txBody>
      </p:sp>
    </p:spTree>
    <p:extLst>
      <p:ext uri="{BB962C8B-B14F-4D97-AF65-F5344CB8AC3E}">
        <p14:creationId xmlns:p14="http://schemas.microsoft.com/office/powerpoint/2010/main" val="58199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087333" cy="792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Basis for Discrete </a:t>
            </a:r>
            <a:r>
              <a:rPr lang="en-US" sz="3600" dirty="0"/>
              <a:t>Fourier Transform (DFT</a:t>
            </a:r>
            <a:r>
              <a:rPr lang="en-US" sz="3600" dirty="0" smtClean="0"/>
              <a:t>) (2)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98835" y="1308100"/>
                <a:ext cx="8501974" cy="48688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/>
                  <a:t> Impulse sampling signal w</a:t>
                </a:r>
                <a:r>
                  <a:rPr lang="en-US" dirty="0"/>
                  <a:t>/</a:t>
                </a:r>
                <a:r>
                  <a:rPr lang="en-US" dirty="0" smtClean="0"/>
                  <a:t> sampling period </a:t>
                </a:r>
                <a:r>
                  <a:rPr lang="en-US" i="1" dirty="0" err="1" smtClean="0"/>
                  <a:t>T</a:t>
                </a:r>
                <a:r>
                  <a:rPr lang="en-US" i="1" baseline="-25000" dirty="0" err="1" smtClean="0"/>
                  <a:t>s</a:t>
                </a:r>
                <a:endParaRPr lang="en-US" i="1" baseline="-25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The Fourier transform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8835" y="1308100"/>
                <a:ext cx="8501974" cy="4868863"/>
              </a:xfrm>
              <a:blipFill>
                <a:blip r:embed="rId2"/>
                <a:stretch>
                  <a:fillRect l="-932" t="-2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06788" cy="792000"/>
          </a:xfrm>
        </p:spPr>
        <p:txBody>
          <a:bodyPr>
            <a:noAutofit/>
          </a:bodyPr>
          <a:lstStyle/>
          <a:p>
            <a:r>
              <a:rPr lang="en-US" sz="3200" dirty="0"/>
              <a:t>Basis for Discrete Fourier Transform (DFT) </a:t>
            </a:r>
            <a:r>
              <a:rPr lang="en-US" sz="3200" dirty="0" smtClean="0"/>
              <a:t>(3)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4898148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 smtClean="0"/>
                  <a:t> Discrete-time </a:t>
                </a:r>
                <a:r>
                  <a:rPr lang="en-US" dirty="0"/>
                  <a:t>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]=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periodic and discrete in time domain,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 is represented by 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points in time domain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((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𝑗𝑚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𝑗𝑚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is periodic and discrete in frequency domain,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is represented by 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points in frequency domain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4898148"/>
              </a:xfrm>
              <a:blipFill>
                <a:blip r:embed="rId2"/>
                <a:stretch>
                  <a:fillRect l="-23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9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11640</TotalTime>
  <Words>7380</Words>
  <Application>Microsoft Office PowerPoint</Application>
  <PresentationFormat>全屏显示(4:3)</PresentationFormat>
  <Paragraphs>469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等线</vt:lpstr>
      <vt:lpstr>宋体</vt:lpstr>
      <vt:lpstr>Arial</vt:lpstr>
      <vt:lpstr>Cambria Math</vt:lpstr>
      <vt:lpstr>Times New Roman</vt:lpstr>
      <vt:lpstr>Wingdings</vt:lpstr>
      <vt:lpstr>Office 主题​​</vt:lpstr>
      <vt:lpstr>公式</vt:lpstr>
      <vt:lpstr>Chapter 5   Discrete-Time Fourier Transform</vt:lpstr>
      <vt:lpstr>Discrete-Time Fourier Transform  ≠  Discrete Fourier Transform (DFT)</vt:lpstr>
      <vt:lpstr>Outline</vt:lpstr>
      <vt:lpstr>Recall: DT LTI System Response to </vt:lpstr>
      <vt:lpstr>Recall: Fourier Series of DT Periodic Signals</vt:lpstr>
      <vt:lpstr>From DT FS to DT FT (1)</vt:lpstr>
      <vt:lpstr>From DT FS to DT FT (1)</vt:lpstr>
      <vt:lpstr>From DT FS to DT FT (2)</vt:lpstr>
      <vt:lpstr>From DT FS to DT FT (3)</vt:lpstr>
      <vt:lpstr>DT FT Example</vt:lpstr>
      <vt:lpstr>X(e^jω ) is Periodic!</vt:lpstr>
      <vt:lpstr>Periodic Signal x ̃[n] vs. Aperiodic Signal x[n]</vt:lpstr>
      <vt:lpstr>Examples of DT FT</vt:lpstr>
      <vt:lpstr>DT FT of Rectangle Pulse</vt:lpstr>
      <vt:lpstr>Convergence of DT FT</vt:lpstr>
      <vt:lpstr>Fourier Transform of δ[n] and Complex Exponentials e^(jω_0 n)</vt:lpstr>
      <vt:lpstr>Fourier Transform of Periodic Sequence</vt:lpstr>
      <vt:lpstr>Fourier Transform of Sinusoidal Sequence</vt:lpstr>
      <vt:lpstr>Fourier Transform of Periodic Impulse Train</vt:lpstr>
      <vt:lpstr>Properties of DT Fourier Transform</vt:lpstr>
      <vt:lpstr>Convolution Property</vt:lpstr>
      <vt:lpstr>Response of Time-Shifting System</vt:lpstr>
      <vt:lpstr>Example 5.13: LTI System Response</vt:lpstr>
      <vt:lpstr>Example 5.13: LTI System Response (cont’)</vt:lpstr>
      <vt:lpstr>Example 5.14: Ideal Bandstop Filter</vt:lpstr>
      <vt:lpstr>Example 5.14: Ideal Bandstop Filter (cont’)</vt:lpstr>
      <vt:lpstr>Multiplication Property</vt:lpstr>
      <vt:lpstr> Linear Constant-Coefficient Difference Equation</vt:lpstr>
      <vt:lpstr>Example 5.18</vt:lpstr>
      <vt:lpstr>Example 5.19</vt:lpstr>
      <vt:lpstr>DT Processing of CT Signals</vt:lpstr>
      <vt:lpstr>C/D Conversion</vt:lpstr>
      <vt:lpstr>Spectrum of C/D Conversion</vt:lpstr>
      <vt:lpstr>Impulse-Train Sampling of Discrete-Time Signals</vt:lpstr>
      <vt:lpstr>Impulse-Train Sampling of Discrete-Time Signals</vt:lpstr>
      <vt:lpstr>Sampling of DT Signals without Aliasing</vt:lpstr>
      <vt:lpstr>Sampling of DT Signals with Aliasing</vt:lpstr>
      <vt:lpstr>Decimation</vt:lpstr>
      <vt:lpstr>Spectrum of Decimation</vt:lpstr>
      <vt:lpstr>Spectrum of Decimation</vt:lpstr>
      <vt:lpstr>Interpolation</vt:lpstr>
      <vt:lpstr>Summary</vt:lpstr>
      <vt:lpstr>Duality Learned So Far</vt:lpstr>
      <vt:lpstr>No Duality between Synthesis Function and Analysis Function of DT FT </vt:lpstr>
      <vt:lpstr>Duality between DT FT and CT FS</vt:lpstr>
      <vt:lpstr>Example 5.17</vt:lpstr>
      <vt:lpstr>Basis for Discrete Fourier Transform (DFT)</vt:lpstr>
      <vt:lpstr>Basis for Discrete Fourier Transform (DFT) (2)</vt:lpstr>
      <vt:lpstr>Basis for Discrete Fourier Transform (DFT)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703</cp:revision>
  <dcterms:created xsi:type="dcterms:W3CDTF">2018-09-11T08:26:55Z</dcterms:created>
  <dcterms:modified xsi:type="dcterms:W3CDTF">2020-11-08T07:44:30Z</dcterms:modified>
</cp:coreProperties>
</file>