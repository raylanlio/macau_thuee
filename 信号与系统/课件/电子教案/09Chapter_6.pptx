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515" r:id="rId2"/>
    <p:sldId id="256" r:id="rId3"/>
    <p:sldId id="287" r:id="rId4"/>
    <p:sldId id="471" r:id="rId5"/>
    <p:sldId id="472" r:id="rId6"/>
    <p:sldId id="473" r:id="rId7"/>
    <p:sldId id="474" r:id="rId8"/>
    <p:sldId id="476" r:id="rId9"/>
    <p:sldId id="475" r:id="rId10"/>
    <p:sldId id="477" r:id="rId11"/>
    <p:sldId id="478" r:id="rId12"/>
    <p:sldId id="479" r:id="rId13"/>
    <p:sldId id="480" r:id="rId14"/>
    <p:sldId id="481" r:id="rId15"/>
    <p:sldId id="482" r:id="rId16"/>
    <p:sldId id="483" r:id="rId17"/>
    <p:sldId id="484" r:id="rId18"/>
    <p:sldId id="485" r:id="rId19"/>
    <p:sldId id="486" r:id="rId20"/>
    <p:sldId id="488" r:id="rId21"/>
    <p:sldId id="487" r:id="rId22"/>
    <p:sldId id="489" r:id="rId23"/>
    <p:sldId id="490" r:id="rId24"/>
    <p:sldId id="494" r:id="rId25"/>
    <p:sldId id="495" r:id="rId26"/>
    <p:sldId id="496" r:id="rId27"/>
    <p:sldId id="491" r:id="rId28"/>
    <p:sldId id="493" r:id="rId29"/>
    <p:sldId id="497" r:id="rId30"/>
    <p:sldId id="498" r:id="rId31"/>
    <p:sldId id="500" r:id="rId32"/>
    <p:sldId id="499" r:id="rId33"/>
    <p:sldId id="501" r:id="rId34"/>
    <p:sldId id="502" r:id="rId35"/>
    <p:sldId id="503" r:id="rId36"/>
    <p:sldId id="504" r:id="rId37"/>
    <p:sldId id="505" r:id="rId38"/>
    <p:sldId id="506" r:id="rId39"/>
    <p:sldId id="509" r:id="rId40"/>
    <p:sldId id="508" r:id="rId41"/>
    <p:sldId id="510" r:id="rId42"/>
    <p:sldId id="511" r:id="rId43"/>
    <p:sldId id="512" r:id="rId44"/>
    <p:sldId id="513" r:id="rId45"/>
    <p:sldId id="514" r:id="rId4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3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065A7-DFD5-4551-9E93-CC0B196D68A3}" type="datetimeFigureOut">
              <a:rPr lang="zh-CN" altLang="en-US" smtClean="0"/>
              <a:t>2020/11/25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CD5FA-AD32-4B9A-9235-7F5254E91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529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675031" y="57929"/>
            <a:ext cx="4468969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902465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675031" y="57929"/>
            <a:ext cx="4468969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842667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533363" y="0"/>
            <a:ext cx="4610638" cy="29751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628924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03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36514"/>
            <a:ext cx="3886200" cy="4840449"/>
          </a:xfrm>
        </p:spPr>
        <p:txBody>
          <a:bodyPr/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36514"/>
            <a:ext cx="3886200" cy="484044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855335" y="57929"/>
            <a:ext cx="428866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2436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792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3382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162174"/>
            <a:ext cx="3868340" cy="39338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3382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162175"/>
            <a:ext cx="3887391" cy="3933824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829577" y="57929"/>
            <a:ext cx="4314423" cy="22384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19730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752305" y="57929"/>
            <a:ext cx="4391696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9481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468969" y="0"/>
            <a:ext cx="4675031" cy="281767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25019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90984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76313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2100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937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50EC97-E344-49BB-AF44-3FA9C701273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13900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08100"/>
            <a:ext cx="7886700" cy="486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86F5DB48-3968-470F-BA12-55E81E00432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176963"/>
            <a:ext cx="282083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19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u"/>
        <a:defRPr sz="20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0.png"/><Relationship Id="rId7" Type="http://schemas.openxmlformats.org/officeDocument/2006/relationships/image" Target="../media/image47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6.png"/><Relationship Id="rId4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25.emf"/><Relationship Id="rId7" Type="http://schemas.openxmlformats.org/officeDocument/2006/relationships/image" Target="../media/image23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6.png"/><Relationship Id="rId5" Type="http://schemas.openxmlformats.org/officeDocument/2006/relationships/image" Target="../media/image22.wmf"/><Relationship Id="rId10" Type="http://schemas.openxmlformats.org/officeDocument/2006/relationships/image" Target="../media/image60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24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45A83C2-4C6C-40EF-9115-166580DD2CEC}"/>
              </a:ext>
            </a:extLst>
          </p:cNvPr>
          <p:cNvSpPr/>
          <p:nvPr/>
        </p:nvSpPr>
        <p:spPr>
          <a:xfrm>
            <a:off x="293032" y="1070392"/>
            <a:ext cx="2792752" cy="36240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50" b="1" dirty="0" smtClean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荷塘</a:t>
            </a:r>
            <a:r>
              <a:rPr lang="zh-CN" altLang="en-US" sz="4050" b="1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雨</a:t>
            </a:r>
            <a:r>
              <a:rPr lang="zh-CN" altLang="en-US" sz="405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课堂</a:t>
            </a:r>
            <a:endParaRPr lang="en-US" altLang="zh-CN" sz="4050" b="1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播放</a:t>
            </a:r>
            <a:r>
              <a:rPr lang="en-US" altLang="zh-CN" sz="2400" b="1" dirty="0" err="1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ppt</a:t>
            </a:r>
            <a:endParaRPr lang="en-US" altLang="zh-CN" sz="2400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endParaRPr lang="en-US" altLang="zh-CN" sz="2400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4050" b="1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腾</a:t>
            </a:r>
            <a:r>
              <a:rPr lang="zh-CN" altLang="en-US" sz="405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讯会议</a:t>
            </a:r>
            <a:endParaRPr lang="en-US" altLang="zh-CN" sz="4050" b="1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双向语音</a:t>
            </a:r>
            <a:r>
              <a:rPr lang="en-US" altLang="zh-CN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视频</a:t>
            </a: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交流</a:t>
            </a:r>
            <a:endParaRPr lang="en-US" altLang="zh-CN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3CD6244-59FA-48DB-B6C7-5D03B29020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3" y="324409"/>
            <a:ext cx="1885793" cy="59415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3128392" y="3287808"/>
            <a:ext cx="58144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  </a:t>
            </a:r>
            <a:r>
              <a:rPr lang="zh-CN" altLang="en-US" sz="2800" b="1" dirty="0" smtClean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腾讯会议（请保持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静音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，一般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关闭摄像头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，发言前解除静音）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3128392" y="1256337"/>
            <a:ext cx="59893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 smtClean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荷塘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雨课堂（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请关闭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音频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，可以点名、白板、做题、弹幕等）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762440" y="4769481"/>
            <a:ext cx="79243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雨课堂可以看</a:t>
            </a:r>
            <a:r>
              <a:rPr lang="en-US" altLang="zh-CN" sz="2800" i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，腾讯会议可以看现场板书，</a:t>
            </a:r>
            <a:endParaRPr lang="en-US" altLang="zh-CN" sz="2800" i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建议分别用两个终端打开。</a:t>
            </a:r>
            <a:endParaRPr lang="en-US" altLang="zh-CN" sz="2800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加号 2"/>
          <p:cNvSpPr/>
          <p:nvPr/>
        </p:nvSpPr>
        <p:spPr bwMode="auto">
          <a:xfrm>
            <a:off x="1329368" y="2507286"/>
            <a:ext cx="720080" cy="652140"/>
          </a:xfrm>
          <a:prstGeom prst="mathPlus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16" t="-14343"/>
          <a:stretch/>
        </p:blipFill>
        <p:spPr>
          <a:xfrm>
            <a:off x="5840426" y="260648"/>
            <a:ext cx="2668450" cy="657916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6451476" y="6397413"/>
            <a:ext cx="2057400" cy="365125"/>
          </a:xfrm>
        </p:spPr>
        <p:txBody>
          <a:bodyPr/>
          <a:lstStyle/>
          <a:p>
            <a:fld id="{8550EC97-E344-49BB-AF44-3FA9C7012734}" type="slidenum">
              <a:rPr lang="ko-KR" altLang="en-US" smtClean="0"/>
              <a:pPr/>
              <a:t>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97415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5276" y="1122363"/>
            <a:ext cx="8660920" cy="2387600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Chapter 6 </a:t>
            </a:r>
            <a:br>
              <a:rPr lang="en-US" altLang="zh-CN" dirty="0" smtClean="0"/>
            </a:br>
            <a:r>
              <a:rPr lang="en-US" altLang="zh-CN" dirty="0" smtClean="0"/>
              <a:t>Time and Frequency Characterization of Signals and Systems</a:t>
            </a:r>
            <a:endParaRPr lang="zh-CN" altLang="en-US" sz="49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4372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Magnitude-Phase Representation of Frequency Response</a:t>
            </a:r>
          </a:p>
          <a:p>
            <a:r>
              <a:rPr lang="en-US" altLang="zh-CN" dirty="0" smtClean="0"/>
              <a:t>Time/Frequency Domain Analysis of 1</a:t>
            </a:r>
            <a:r>
              <a:rPr lang="en-US" altLang="zh-CN" baseline="30000" dirty="0" smtClean="0"/>
              <a:t>st</a:t>
            </a:r>
            <a:r>
              <a:rPr lang="en-US" altLang="zh-CN" dirty="0" smtClean="0"/>
              <a:t> Order and 2</a:t>
            </a:r>
            <a:r>
              <a:rPr lang="en-US" altLang="zh-CN" baseline="30000" dirty="0" smtClean="0"/>
              <a:t>nd</a:t>
            </a:r>
            <a:r>
              <a:rPr lang="en-US" altLang="zh-CN" dirty="0" smtClean="0"/>
              <a:t> Order Continuous-Time Systems</a:t>
            </a:r>
          </a:p>
          <a:p>
            <a:r>
              <a:rPr lang="en-US" dirty="0" smtClean="0"/>
              <a:t>Example </a:t>
            </a:r>
            <a:r>
              <a:rPr lang="en-US" dirty="0"/>
              <a:t>of Time/Frequency Domain </a:t>
            </a:r>
            <a:r>
              <a:rPr lang="en-US" dirty="0" smtClean="0"/>
              <a:t>Analysis</a:t>
            </a:r>
          </a:p>
          <a:p>
            <a:r>
              <a:rPr lang="en-US" dirty="0" smtClean="0"/>
              <a:t>Supplementary: Transfer </a:t>
            </a:r>
            <a:r>
              <a:rPr lang="en-US" altLang="zh-CN" dirty="0" smtClean="0"/>
              <a:t>Function of Typical Circuits</a:t>
            </a:r>
            <a:endParaRPr lang="en-US" dirty="0"/>
          </a:p>
          <a:p>
            <a:endParaRPr 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771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Magnitude and Phase Response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7"/>
              <p:cNvSpPr>
                <a:spLocks noGrp="1"/>
              </p:cNvSpPr>
              <p:nvPr>
                <p:ph idx="1"/>
              </p:nvPr>
            </p:nvSpPr>
            <p:spPr>
              <a:xfrm>
                <a:off x="370936" y="1308100"/>
                <a:ext cx="8695425" cy="4868863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dirty="0" smtClean="0"/>
                  <a:t> Convolution property for LTI systems: </a:t>
                </a: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 smtClean="0"/>
                  <a:t> 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>
                  <a:lnSpc>
                    <a:spcPct val="100000"/>
                  </a:lnSpc>
                </a:pPr>
                <a:r>
                  <a:rPr lang="en-US" dirty="0" smtClean="0"/>
                  <a:t> System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gain </a:t>
                </a:r>
                <a:r>
                  <a:rPr lang="en-US" dirty="0" smtClean="0"/>
                  <a:t>(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magnitude-frequency response</a:t>
                </a:r>
                <a:r>
                  <a:rPr lang="en-US" dirty="0" smtClean="0"/>
                  <a:t>):|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 smtClean="0"/>
                  <a:t>|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Phase shift </a:t>
                </a:r>
                <a:r>
                  <a:rPr lang="en-US" altLang="zh-CN" dirty="0"/>
                  <a:t>(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Phase-frequency response</a:t>
                </a:r>
                <a:r>
                  <a:rPr lang="en-US" altLang="zh-CN" dirty="0"/>
                  <a:t>)</a:t>
                </a:r>
                <a:r>
                  <a:rPr lang="en-US" altLang="zh-CN" dirty="0" smtClean="0"/>
                  <a:t>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∢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endParaRPr lang="en-US" dirty="0" smtClean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 </a:t>
                </a:r>
                <a:r>
                  <a:rPr lang="en-US" dirty="0" smtClean="0"/>
                  <a:t>magnitude/phase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distortion</a:t>
                </a:r>
                <a:r>
                  <a:rPr lang="en-US" dirty="0" smtClean="0"/>
                  <a:t>s: unwanted change between the output and input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内容占位符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0936" y="1308100"/>
                <a:ext cx="8695425" cy="4868863"/>
              </a:xfrm>
              <a:blipFill>
                <a:blip r:embed="rId2"/>
                <a:stretch>
                  <a:fillRect l="-1262" t="-1378" r="-17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§6.2 Mag and </a:t>
            </a:r>
            <a:r>
              <a:rPr lang="en-US" dirty="0" err="1"/>
              <a:t>Pha</a:t>
            </a:r>
            <a:r>
              <a:rPr lang="en-US" dirty="0"/>
              <a:t> </a:t>
            </a:r>
            <a:r>
              <a:rPr lang="en-US" altLang="zh-CN" dirty="0"/>
              <a:t>Frequency </a:t>
            </a:r>
            <a:r>
              <a:rPr lang="en-US" altLang="zh-CN" dirty="0" smtClean="0"/>
              <a:t>Response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1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 Phase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 Linear phase: the phase shift is linear (proportional to frequency, and the gain is constant (usually unit gain)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𝛼𝜔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 Frequency response of a </a:t>
                </a:r>
                <a:r>
                  <a:rPr lang="en-US" dirty="0"/>
                  <a:t>l</a:t>
                </a:r>
                <a:r>
                  <a:rPr lang="en-US" altLang="zh-CN" dirty="0" smtClean="0"/>
                  <a:t>inear phase CT system can be written as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</m:oMath>
                </a14:m>
                <a:endParaRPr lang="en-US" dirty="0" smtClean="0"/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b="0" i="0" dirty="0" smtClean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Frequency response of </a:t>
                </a:r>
                <a:r>
                  <a:rPr lang="en-US" dirty="0"/>
                  <a:t>a l</a:t>
                </a:r>
                <a:r>
                  <a:rPr lang="en-US" altLang="zh-CN" dirty="0"/>
                  <a:t>inear phase </a:t>
                </a:r>
                <a:r>
                  <a:rPr lang="en-US" altLang="zh-CN" dirty="0" smtClean="0"/>
                  <a:t>DT </a:t>
                </a:r>
                <a:r>
                  <a:rPr lang="en-US" altLang="zh-CN" dirty="0"/>
                  <a:t>system can be written </a:t>
                </a:r>
                <a:r>
                  <a:rPr lang="en-US" altLang="zh-CN" dirty="0" smtClean="0"/>
                  <a:t>as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</m:oMath>
                </a14:m>
                <a:endParaRPr lang="en-US" dirty="0" smtClean="0"/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 smtClean="0"/>
                  <a:t> : the slope of phase shift is integer</a:t>
                </a: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3133" r="-2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§6.2 Mag and </a:t>
            </a:r>
            <a:r>
              <a:rPr lang="en-US" dirty="0" err="1"/>
              <a:t>Pha</a:t>
            </a:r>
            <a:r>
              <a:rPr lang="en-US" dirty="0"/>
              <a:t> </a:t>
            </a:r>
            <a:r>
              <a:rPr lang="en-US" altLang="zh-CN" dirty="0"/>
              <a:t>Frequency </a:t>
            </a:r>
            <a:r>
              <a:rPr lang="en-US" altLang="zh-CN" dirty="0" smtClean="0"/>
              <a:t>Response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102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 Phase Shift = Time Shift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§6.2 Mag and </a:t>
            </a:r>
            <a:r>
              <a:rPr lang="en-US" dirty="0" err="1"/>
              <a:t>Pha</a:t>
            </a:r>
            <a:r>
              <a:rPr lang="en-US" dirty="0"/>
              <a:t> </a:t>
            </a:r>
            <a:r>
              <a:rPr lang="en-US" altLang="zh-CN" dirty="0"/>
              <a:t>Frequency </a:t>
            </a:r>
            <a:r>
              <a:rPr lang="en-US" altLang="zh-CN" dirty="0" smtClean="0"/>
              <a:t>Response</a:t>
            </a:r>
            <a:endParaRPr lang="en-US" dirty="0"/>
          </a:p>
        </p:txBody>
      </p:sp>
      <p:pic>
        <p:nvPicPr>
          <p:cNvPr id="9" name="内容占位符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0654" y="1674639"/>
            <a:ext cx="6935637" cy="416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946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All-Pass System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All-pass system</a:t>
            </a:r>
            <a:r>
              <a:rPr lang="en-US" dirty="0" smtClean="0"/>
              <a:t>: the magnitude of the input spectrum is passed through </a:t>
            </a:r>
            <a:r>
              <a:rPr lang="en-US" dirty="0" smtClean="0">
                <a:solidFill>
                  <a:srgbClr val="FF0000"/>
                </a:solidFill>
              </a:rPr>
              <a:t>unchanged</a:t>
            </a:r>
            <a:r>
              <a:rPr lang="en-US" dirty="0" smtClean="0"/>
              <a:t> by the system</a:t>
            </a:r>
          </a:p>
          <a:p>
            <a:r>
              <a:rPr lang="en-US" dirty="0"/>
              <a:t> </a:t>
            </a:r>
            <a:r>
              <a:rPr lang="en-US" dirty="0" smtClean="0"/>
              <a:t>CT all-pass system: the poles and zeros exist as pairs mirrored along the </a:t>
            </a:r>
            <a:r>
              <a:rPr lang="en-US" i="1" dirty="0" smtClean="0"/>
              <a:t>j</a:t>
            </a:r>
            <a:r>
              <a:rPr lang="el-GR" i="1" dirty="0" smtClean="0"/>
              <a:t>ω</a:t>
            </a:r>
            <a:r>
              <a:rPr lang="en-US" dirty="0" smtClean="0"/>
              <a:t> axis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§6.2 Mag and </a:t>
            </a:r>
            <a:r>
              <a:rPr lang="en-US" dirty="0" err="1"/>
              <a:t>Pha</a:t>
            </a:r>
            <a:r>
              <a:rPr lang="en-US" dirty="0"/>
              <a:t> </a:t>
            </a:r>
            <a:r>
              <a:rPr lang="en-US" altLang="zh-CN" dirty="0"/>
              <a:t>Frequency </a:t>
            </a:r>
            <a:r>
              <a:rPr lang="en-US" altLang="zh-CN" dirty="0" smtClean="0"/>
              <a:t>Response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898" y="3547902"/>
            <a:ext cx="3890340" cy="317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403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 6.1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 All-pass system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|=1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=1,2,3⟹|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|=1 </m:t>
                      </m:r>
                    </m:oMath>
                  </m:oMathPara>
                </a14:m>
                <a:endParaRPr lang="en-US" dirty="0" smtClean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∢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𝑡𝑎𝑛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§6.2 Mag and </a:t>
            </a:r>
            <a:r>
              <a:rPr lang="en-US" dirty="0" err="1"/>
              <a:t>Pha</a:t>
            </a:r>
            <a:r>
              <a:rPr lang="en-US" dirty="0"/>
              <a:t> </a:t>
            </a:r>
            <a:r>
              <a:rPr lang="en-US" altLang="zh-CN" dirty="0"/>
              <a:t>Frequency </a:t>
            </a:r>
            <a:r>
              <a:rPr lang="en-US" altLang="zh-CN" dirty="0" smtClean="0"/>
              <a:t>Response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479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Group Delay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 smtClean="0"/>
                  <a:t>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Delay </a:t>
                </a:r>
                <a:r>
                  <a:rPr lang="en-US" dirty="0" smtClean="0"/>
                  <a:t>for linear phase system: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 smtClean="0"/>
                  <a:t>,  delay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 smtClean="0"/>
                  <a:t>, delay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Consider a narrowband signal centered at </a:t>
                </a:r>
                <a:r>
                  <a:rPr lang="el-GR" i="1" dirty="0" smtClean="0"/>
                  <a:t>ω</a:t>
                </a:r>
                <a:r>
                  <a:rPr lang="en-US" dirty="0" smtClean="0"/>
                  <a:t>=</a:t>
                </a:r>
                <a:r>
                  <a:rPr lang="el-GR" i="1" dirty="0" smtClean="0"/>
                  <a:t>ω</a:t>
                </a:r>
                <a:r>
                  <a:rPr lang="en-US" baseline="-25000" dirty="0" smtClean="0"/>
                  <a:t>0</a:t>
                </a:r>
                <a:r>
                  <a:rPr lang="en-US" dirty="0" smtClean="0"/>
                  <a:t>. With local linearization, the output phase shift in this narrow band is linear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∢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𝛼𝜔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𝛼𝜔</m:t>
                          </m:r>
                        </m:sup>
                      </m:sSup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>
                    <a:ea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 smtClean="0"/>
                  <a:t> is referred to as the </a:t>
                </a:r>
                <a:r>
                  <a:rPr lang="en-US" dirty="0" smtClean="0">
                    <a:solidFill>
                      <a:srgbClr val="C00000"/>
                    </a:solidFill>
                  </a:rPr>
                  <a:t>group delay </a:t>
                </a:r>
                <a:r>
                  <a:rPr lang="en-US" dirty="0" smtClean="0"/>
                  <a:t>at </a:t>
                </a:r>
                <a:r>
                  <a:rPr lang="el-GR" i="1" dirty="0"/>
                  <a:t>ω</a:t>
                </a:r>
                <a:r>
                  <a:rPr lang="en-US" baseline="-25000" dirty="0"/>
                  <a:t>0</a:t>
                </a:r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Group delay </a:t>
                </a:r>
                <a:r>
                  <a:rPr lang="en-US" dirty="0" smtClean="0"/>
                  <a:t>at each frequency is the negative of the slope of the phase shift at that frequency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∢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2882" r="-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§6.2 Mag and </a:t>
            </a:r>
            <a:r>
              <a:rPr lang="en-US" dirty="0" err="1"/>
              <a:t>Pha</a:t>
            </a:r>
            <a:r>
              <a:rPr lang="en-US" dirty="0"/>
              <a:t> </a:t>
            </a:r>
            <a:r>
              <a:rPr lang="en-US" altLang="zh-CN" dirty="0"/>
              <a:t>Frequency </a:t>
            </a:r>
            <a:r>
              <a:rPr lang="en-US" altLang="zh-CN" dirty="0" smtClean="0"/>
              <a:t>Response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304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Principal vs. Unwrapped </a:t>
            </a:r>
            <a:r>
              <a:rPr lang="en-US" dirty="0" smtClean="0"/>
              <a:t>Phase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principal phase</a:t>
                </a:r>
                <a:r>
                  <a:rPr lang="en-US" dirty="0" smtClean="0"/>
                  <a:t> function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≮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 smtClean="0"/>
                  <a:t> : limit the values of phase between –</a:t>
                </a:r>
                <a:r>
                  <a:rPr lang="el-GR" dirty="0"/>
                  <a:t>π</a:t>
                </a:r>
                <a:r>
                  <a:rPr lang="en-US" dirty="0" smtClean="0"/>
                  <a:t> and +</a:t>
                </a:r>
                <a:r>
                  <a:rPr lang="el-GR" dirty="0" smtClean="0"/>
                  <a:t>π</a:t>
                </a:r>
                <a:endParaRPr lang="en-US" dirty="0" smtClean="0"/>
              </a:p>
              <a:p>
                <a:pPr lvl="1"/>
                <a:r>
                  <a:rPr lang="en-US" dirty="0"/>
                  <a:t> </a:t>
                </a:r>
                <a:r>
                  <a:rPr lang="en-US" dirty="0" smtClean="0"/>
                  <a:t>sometimes limited to [0 2</a:t>
                </a:r>
                <a:r>
                  <a:rPr lang="el-GR" dirty="0" smtClean="0"/>
                  <a:t>π</a:t>
                </a:r>
                <a:r>
                  <a:rPr lang="en-US" dirty="0" smtClean="0"/>
                  <a:t>) or other range of </a:t>
                </a:r>
                <a:r>
                  <a:rPr lang="en-US" dirty="0"/>
                  <a:t>2</a:t>
                </a:r>
                <a:r>
                  <a:rPr lang="el-GR" dirty="0"/>
                  <a:t>π</a:t>
                </a:r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unwrapped phase </a:t>
                </a:r>
                <a:r>
                  <a:rPr lang="en-US" dirty="0" smtClean="0"/>
                  <a:t>function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≮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 smtClean="0"/>
                  <a:t>: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appropriately</a:t>
                </a:r>
                <a:r>
                  <a:rPr lang="en-US" dirty="0" smtClean="0"/>
                  <a:t> adding or subtracting integer multiples of 2</a:t>
                </a:r>
                <a:r>
                  <a:rPr lang="el-GR" dirty="0" smtClean="0"/>
                  <a:t>π</a:t>
                </a:r>
                <a:r>
                  <a:rPr lang="en-US" dirty="0" smtClean="0"/>
                  <a:t> from portions of the principal phase so that the phase function is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continuous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 smtClean="0"/>
                  <a:t>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group delay</a:t>
                </a:r>
                <a:r>
                  <a:rPr lang="en-US" dirty="0" smtClean="0"/>
                  <a:t> is computed on </a:t>
                </a:r>
                <a:r>
                  <a:rPr lang="en-US" dirty="0"/>
                  <a:t>unwrapped phase </a:t>
                </a:r>
                <a:r>
                  <a:rPr lang="en-US" dirty="0" smtClean="0"/>
                  <a:t>function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∢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2256" r="-1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§6.2 Mag and </a:t>
            </a:r>
            <a:r>
              <a:rPr lang="en-US" dirty="0" err="1"/>
              <a:t>Pha</a:t>
            </a:r>
            <a:r>
              <a:rPr lang="en-US" dirty="0"/>
              <a:t> </a:t>
            </a:r>
            <a:r>
              <a:rPr lang="en-US" altLang="zh-CN" dirty="0"/>
              <a:t>Frequency </a:t>
            </a:r>
            <a:r>
              <a:rPr lang="en-US" altLang="zh-CN" dirty="0" smtClean="0"/>
              <a:t>Response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676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Principal vs. Unwrapped </a:t>
            </a:r>
            <a:r>
              <a:rPr lang="en-US" sz="3600" dirty="0" smtClean="0"/>
              <a:t>Phase (</a:t>
            </a:r>
            <a:r>
              <a:rPr lang="en-US" sz="3600" dirty="0" err="1" smtClean="0"/>
              <a:t>cont</a:t>
            </a:r>
            <a:r>
              <a:rPr lang="en-US" sz="3600" dirty="0" smtClean="0"/>
              <a:t>’)</a:t>
            </a:r>
            <a:endParaRPr lang="en-US" sz="3600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0007" y="1423608"/>
            <a:ext cx="6416551" cy="4804663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§6.2 Mag and </a:t>
            </a:r>
            <a:r>
              <a:rPr lang="en-US" dirty="0" err="1"/>
              <a:t>Pha</a:t>
            </a:r>
            <a:r>
              <a:rPr lang="en-US" dirty="0"/>
              <a:t> </a:t>
            </a:r>
            <a:r>
              <a:rPr lang="en-US" altLang="zh-CN" dirty="0"/>
              <a:t>Frequency </a:t>
            </a:r>
            <a:r>
              <a:rPr lang="en-US" altLang="zh-CN" dirty="0" smtClean="0"/>
              <a:t>Response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16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Additive Relationship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 smtClean="0"/>
                  <a:t> The relationship between the output signal FT phase and input signal FT phase and system transfer function phase is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additive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=∢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+∢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 smtClean="0"/>
                  <a:t>Cascaded system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=∢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+∢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∢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Advantage to use the logarithmic scale for the magnitude of Fourier transform: the </a:t>
                </a:r>
                <a:r>
                  <a:rPr lang="en-US" u="sng" dirty="0" smtClean="0">
                    <a:solidFill>
                      <a:srgbClr val="C00000"/>
                    </a:solidFill>
                  </a:rPr>
                  <a:t>multiplication</a:t>
                </a:r>
                <a:r>
                  <a:rPr lang="en-US" dirty="0" smtClean="0"/>
                  <a:t> relationship is converted into the </a:t>
                </a:r>
                <a:r>
                  <a:rPr lang="en-US" b="1" dirty="0">
                    <a:solidFill>
                      <a:srgbClr val="C00000"/>
                    </a:solidFill>
                  </a:rPr>
                  <a:t>additive</a:t>
                </a:r>
                <a:r>
                  <a:rPr lang="en-US" dirty="0" smtClean="0"/>
                  <a:t> relationship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Cascaded system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log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⁡|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2882" b="-2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§6.2 Mag and </a:t>
            </a:r>
            <a:r>
              <a:rPr lang="en-US" dirty="0" err="1"/>
              <a:t>Pha</a:t>
            </a:r>
            <a:r>
              <a:rPr lang="en-US" dirty="0"/>
              <a:t> </a:t>
            </a:r>
            <a:r>
              <a:rPr lang="en-US" altLang="zh-CN" dirty="0"/>
              <a:t>Frequency </a:t>
            </a:r>
            <a:r>
              <a:rPr lang="en-US" altLang="zh-CN" dirty="0" smtClean="0"/>
              <a:t>Response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542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Unit of Decibel (dB)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 System gain </a:t>
            </a:r>
            <a:r>
              <a:rPr lang="en-US" dirty="0" smtClean="0">
                <a:sym typeface="Wingdings" panose="05000000000000000000" pitchFamily="2" charset="2"/>
              </a:rPr>
              <a:t></a:t>
            </a:r>
            <a:r>
              <a:rPr lang="en-US" dirty="0">
                <a:sym typeface="Wingdings" panose="05000000000000000000" pitchFamily="2" charset="2"/>
              </a:rPr>
              <a:t>l</a:t>
            </a:r>
            <a:r>
              <a:rPr lang="en-US" dirty="0" smtClean="0"/>
              <a:t>ogarithmic system gain: </a:t>
            </a:r>
            <a:r>
              <a:rPr lang="en-US" i="1" dirty="0" smtClean="0"/>
              <a:t>A</a:t>
            </a:r>
            <a:r>
              <a:rPr lang="en-US" dirty="0" smtClean="0"/>
              <a:t> </a:t>
            </a:r>
            <a:r>
              <a:rPr lang="en-US" dirty="0" smtClean="0">
                <a:sym typeface="Wingdings" panose="05000000000000000000" pitchFamily="2" charset="2"/>
              </a:rPr>
              <a:t> 20</a:t>
            </a:r>
            <a:r>
              <a:rPr lang="en-US" dirty="0" smtClean="0">
                <a:sym typeface="Wingdings 2" panose="05020102010507070707" pitchFamily="18" charset="2"/>
              </a:rPr>
              <a:t></a:t>
            </a:r>
            <a:r>
              <a:rPr lang="en-US" dirty="0" smtClean="0">
                <a:sym typeface="Wingdings" panose="05000000000000000000" pitchFamily="2" charset="2"/>
              </a:rPr>
              <a:t>log</a:t>
            </a:r>
            <a:r>
              <a:rPr lang="en-US" i="1" dirty="0" smtClean="0">
                <a:sym typeface="Wingdings" panose="05000000000000000000" pitchFamily="2" charset="2"/>
              </a:rPr>
              <a:t>A, </a:t>
            </a:r>
            <a:r>
              <a:rPr lang="en-US" dirty="0" smtClean="0">
                <a:sym typeface="Wingdings" panose="05000000000000000000" pitchFamily="2" charset="2"/>
              </a:rPr>
              <a:t>with </a:t>
            </a:r>
            <a:r>
              <a:rPr lang="en-US" dirty="0">
                <a:sym typeface="Wingdings" panose="05000000000000000000" pitchFamily="2" charset="2"/>
              </a:rPr>
              <a:t>u</a:t>
            </a:r>
            <a:r>
              <a:rPr lang="en-US" dirty="0" smtClean="0">
                <a:sym typeface="Wingdings" panose="05000000000000000000" pitchFamily="2" charset="2"/>
              </a:rPr>
              <a:t>nit of </a:t>
            </a:r>
            <a:r>
              <a:rPr lang="en-US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decibel</a:t>
            </a:r>
            <a:r>
              <a:rPr lang="en-US" dirty="0" smtClean="0">
                <a:sym typeface="Wingdings" panose="05000000000000000000" pitchFamily="2" charset="2"/>
              </a:rPr>
              <a:t> (dB)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0 dB  gain=1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gain of -20 dB  gain = 0.1 (attenuation of 20 dB)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gain of 20 dB  gain = 10 </a:t>
            </a:r>
          </a:p>
          <a:p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dBV</a:t>
            </a:r>
            <a:r>
              <a:rPr lang="en-US" dirty="0" smtClean="0">
                <a:sym typeface="Wingdings" panose="05000000000000000000" pitchFamily="2" charset="2"/>
              </a:rPr>
              <a:t>: l</a:t>
            </a:r>
            <a:r>
              <a:rPr lang="en-US" dirty="0" smtClean="0"/>
              <a:t>ogarithmic voltage referenced to 1 Volt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i="1" dirty="0" smtClean="0"/>
              <a:t>B</a:t>
            </a:r>
            <a:r>
              <a:rPr lang="en-US" dirty="0" smtClean="0"/>
              <a:t> </a:t>
            </a:r>
            <a:r>
              <a:rPr lang="en-US" altLang="zh-CN" dirty="0" smtClean="0"/>
              <a:t>Volt  </a:t>
            </a:r>
            <a:r>
              <a:rPr lang="en-US" altLang="zh-CN" dirty="0" smtClean="0">
                <a:sym typeface="Wingdings" panose="05000000000000000000" pitchFamily="2" charset="2"/>
              </a:rPr>
              <a:t> </a:t>
            </a:r>
            <a:r>
              <a:rPr lang="en-US" dirty="0" smtClean="0">
                <a:sym typeface="Wingdings" panose="05000000000000000000" pitchFamily="2" charset="2"/>
              </a:rPr>
              <a:t>20log</a:t>
            </a:r>
            <a:r>
              <a:rPr lang="en-US" i="1" dirty="0" smtClean="0">
                <a:sym typeface="Wingdings" panose="05000000000000000000" pitchFamily="2" charset="2"/>
              </a:rPr>
              <a:t>B </a:t>
            </a:r>
            <a:r>
              <a:rPr lang="en-US" dirty="0" err="1" smtClean="0">
                <a:sym typeface="Wingdings" panose="05000000000000000000" pitchFamily="2" charset="2"/>
              </a:rPr>
              <a:t>dBV</a:t>
            </a:r>
            <a:endParaRPr lang="en-US" dirty="0" smtClean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 o</a:t>
            </a:r>
            <a:r>
              <a:rPr lang="en-US" dirty="0" smtClean="0">
                <a:sym typeface="Wingdings" panose="05000000000000000000" pitchFamily="2" charset="2"/>
              </a:rPr>
              <a:t>utput voltage (</a:t>
            </a:r>
            <a:r>
              <a:rPr lang="en-US" dirty="0" err="1" smtClean="0">
                <a:sym typeface="Wingdings" panose="05000000000000000000" pitchFamily="2" charset="2"/>
              </a:rPr>
              <a:t>dBV</a:t>
            </a:r>
            <a:r>
              <a:rPr lang="en-US" dirty="0" smtClean="0">
                <a:sym typeface="Wingdings" panose="05000000000000000000" pitchFamily="2" charset="2"/>
              </a:rPr>
              <a:t>) = input voltage (</a:t>
            </a:r>
            <a:r>
              <a:rPr lang="en-US" dirty="0" err="1" smtClean="0">
                <a:sym typeface="Wingdings" panose="05000000000000000000" pitchFamily="2" charset="2"/>
              </a:rPr>
              <a:t>dBV</a:t>
            </a:r>
            <a:r>
              <a:rPr lang="en-US" dirty="0" smtClean="0">
                <a:sym typeface="Wingdings" panose="05000000000000000000" pitchFamily="2" charset="2"/>
              </a:rPr>
              <a:t>) + gain (dB)</a:t>
            </a:r>
          </a:p>
          <a:p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output voltage = input voltage </a:t>
            </a:r>
            <a:r>
              <a:rPr lang="en-US" dirty="0" smtClean="0">
                <a:sym typeface="Wingdings 2" panose="05020102010507070707" pitchFamily="18" charset="2"/>
              </a:rPr>
              <a:t> system gain</a:t>
            </a:r>
            <a:endParaRPr lang="en-US" dirty="0" smtClean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Example: input voltage 2V, system gain 20, output voltage 40V  6 </a:t>
            </a:r>
            <a:r>
              <a:rPr lang="en-US" dirty="0" err="1" smtClean="0">
                <a:sym typeface="Wingdings" panose="05000000000000000000" pitchFamily="2" charset="2"/>
              </a:rPr>
              <a:t>dBV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altLang="zh-CN" dirty="0" smtClean="0">
                <a:sym typeface="Wingdings" panose="05000000000000000000" pitchFamily="2" charset="2"/>
              </a:rPr>
              <a:t>+ </a:t>
            </a:r>
            <a:r>
              <a:rPr lang="en-US" dirty="0" smtClean="0">
                <a:sym typeface="Wingdings" panose="05000000000000000000" pitchFamily="2" charset="2"/>
              </a:rPr>
              <a:t>26 dB </a:t>
            </a:r>
            <a:r>
              <a:rPr lang="en-US" altLang="zh-CN" dirty="0" smtClean="0">
                <a:sym typeface="Wingdings" panose="05000000000000000000" pitchFamily="2" charset="2"/>
              </a:rPr>
              <a:t>= </a:t>
            </a:r>
            <a:r>
              <a:rPr lang="en-US" dirty="0" smtClean="0">
                <a:sym typeface="Wingdings" panose="05000000000000000000" pitchFamily="2" charset="2"/>
              </a:rPr>
              <a:t>32 </a:t>
            </a:r>
            <a:r>
              <a:rPr lang="en-US" dirty="0" err="1" smtClean="0">
                <a:sym typeface="Wingdings" panose="05000000000000000000" pitchFamily="2" charset="2"/>
              </a:rPr>
              <a:t>dB</a:t>
            </a:r>
            <a:r>
              <a:rPr lang="en-US" altLang="zh-CN" dirty="0" err="1" smtClean="0">
                <a:sym typeface="Wingdings" panose="05000000000000000000" pitchFamily="2" charset="2"/>
              </a:rPr>
              <a:t>V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 smtClean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logarithmic power gain: </a:t>
            </a:r>
            <a:r>
              <a:rPr lang="en-US" i="1" dirty="0" smtClean="0"/>
              <a:t>G</a:t>
            </a:r>
            <a:r>
              <a:rPr lang="en-US" dirty="0" smtClean="0"/>
              <a:t> </a:t>
            </a:r>
            <a:r>
              <a:rPr lang="en-US" dirty="0">
                <a:sym typeface="Wingdings" panose="05000000000000000000" pitchFamily="2" charset="2"/>
              </a:rPr>
              <a:t> </a:t>
            </a:r>
            <a:r>
              <a:rPr lang="en-US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10</a:t>
            </a:r>
            <a:r>
              <a:rPr lang="en-US" dirty="0" smtClean="0">
                <a:sym typeface="Wingdings 2" panose="05020102010507070707" pitchFamily="18" charset="2"/>
              </a:rPr>
              <a:t></a:t>
            </a:r>
            <a:r>
              <a:rPr lang="en-US" dirty="0" smtClean="0">
                <a:sym typeface="Wingdings" panose="05000000000000000000" pitchFamily="2" charset="2"/>
              </a:rPr>
              <a:t>log</a:t>
            </a:r>
            <a:r>
              <a:rPr lang="en-US" i="1" dirty="0" smtClean="0">
                <a:sym typeface="Wingdings" panose="05000000000000000000" pitchFamily="2" charset="2"/>
              </a:rPr>
              <a:t>G, </a:t>
            </a:r>
            <a:r>
              <a:rPr lang="en-US" dirty="0">
                <a:sym typeface="Wingdings" panose="05000000000000000000" pitchFamily="2" charset="2"/>
              </a:rPr>
              <a:t>with unit </a:t>
            </a:r>
            <a:r>
              <a:rPr lang="en-US" sz="2900" dirty="0">
                <a:sym typeface="Wingdings" panose="05000000000000000000" pitchFamily="2" charset="2"/>
              </a:rPr>
              <a:t>of decibel (</a:t>
            </a:r>
            <a:r>
              <a:rPr lang="en-US" dirty="0">
                <a:sym typeface="Wingdings" panose="05000000000000000000" pitchFamily="2" charset="2"/>
              </a:rPr>
              <a:t>dB)</a:t>
            </a:r>
            <a:endParaRPr lang="en-US" dirty="0" smtClean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dBm</a:t>
            </a:r>
            <a:r>
              <a:rPr lang="en-US" dirty="0" smtClean="0">
                <a:sym typeface="Wingdings" panose="05000000000000000000" pitchFamily="2" charset="2"/>
              </a:rPr>
              <a:t>: </a:t>
            </a:r>
            <a:r>
              <a:rPr lang="en-US" dirty="0">
                <a:sym typeface="Wingdings" panose="05000000000000000000" pitchFamily="2" charset="2"/>
              </a:rPr>
              <a:t>l</a:t>
            </a:r>
            <a:r>
              <a:rPr lang="en-US" dirty="0"/>
              <a:t>ogarithmic </a:t>
            </a:r>
            <a:r>
              <a:rPr lang="en-US" dirty="0" smtClean="0"/>
              <a:t>power referenced </a:t>
            </a:r>
            <a:r>
              <a:rPr lang="en-US" dirty="0"/>
              <a:t>to 1 </a:t>
            </a:r>
            <a:r>
              <a:rPr lang="en-US" dirty="0" err="1" smtClean="0"/>
              <a:t>m</a:t>
            </a:r>
            <a:r>
              <a:rPr lang="en-US" altLang="zh-CN" dirty="0" err="1"/>
              <a:t>W</a:t>
            </a:r>
            <a:endParaRPr lang="en-US" altLang="zh-CN" dirty="0" smtClean="0"/>
          </a:p>
          <a:p>
            <a:pPr lvl="1"/>
            <a:r>
              <a:rPr lang="en-US" dirty="0"/>
              <a:t> </a:t>
            </a:r>
            <a:r>
              <a:rPr lang="en-US" i="1" dirty="0" smtClean="0"/>
              <a:t>P </a:t>
            </a:r>
            <a:r>
              <a:rPr lang="en-US" dirty="0" err="1" smtClean="0"/>
              <a:t>mW</a:t>
            </a:r>
            <a:r>
              <a:rPr lang="en-US" dirty="0" smtClean="0"/>
              <a:t> </a:t>
            </a:r>
            <a:r>
              <a:rPr lang="en-US" dirty="0">
                <a:sym typeface="Wingdings" panose="05000000000000000000" pitchFamily="2" charset="2"/>
              </a:rPr>
              <a:t> </a:t>
            </a:r>
            <a:r>
              <a:rPr lang="en-US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10</a:t>
            </a:r>
            <a:r>
              <a:rPr lang="en-US" dirty="0" smtClean="0">
                <a:sym typeface="Wingdings 2" panose="05020102010507070707" pitchFamily="18" charset="2"/>
              </a:rPr>
              <a:t></a:t>
            </a:r>
            <a:r>
              <a:rPr lang="en-US" dirty="0" smtClean="0">
                <a:sym typeface="Wingdings" panose="05000000000000000000" pitchFamily="2" charset="2"/>
              </a:rPr>
              <a:t>log</a:t>
            </a:r>
            <a:r>
              <a:rPr lang="en-US" i="1" dirty="0" smtClean="0">
                <a:sym typeface="Wingdings" panose="05000000000000000000" pitchFamily="2" charset="2"/>
              </a:rPr>
              <a:t>P </a:t>
            </a:r>
            <a:r>
              <a:rPr lang="en-US" dirty="0" err="1" smtClean="0">
                <a:sym typeface="Wingdings" panose="05000000000000000000" pitchFamily="2" charset="2"/>
              </a:rPr>
              <a:t>dBm</a:t>
            </a:r>
            <a:endParaRPr lang="en-US" dirty="0"/>
          </a:p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§6.2 Mag and </a:t>
            </a:r>
            <a:r>
              <a:rPr lang="en-US" dirty="0" err="1"/>
              <a:t>Pha</a:t>
            </a:r>
            <a:r>
              <a:rPr lang="en-US" dirty="0"/>
              <a:t> </a:t>
            </a:r>
            <a:r>
              <a:rPr lang="en-US" altLang="zh-CN" dirty="0"/>
              <a:t>Frequency </a:t>
            </a:r>
            <a:r>
              <a:rPr lang="en-US" altLang="zh-CN" dirty="0" smtClean="0"/>
              <a:t>Response</a:t>
            </a:r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009291" y="5776853"/>
            <a:ext cx="6849373" cy="40011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the difference between voltage gain and power gain?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752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Bode Plot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308100"/>
                <a:ext cx="8170293" cy="4868863"/>
              </a:xfrm>
            </p:spPr>
            <p:txBody>
              <a:bodyPr/>
              <a:lstStyle/>
              <a:p>
                <a:r>
                  <a:rPr lang="en-US" dirty="0" smtClean="0"/>
                  <a:t>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Bode plot</a:t>
                </a:r>
                <a:r>
                  <a:rPr lang="en-US" altLang="zh-CN" dirty="0" smtClean="0"/>
                  <a:t>: </a:t>
                </a:r>
                <a:r>
                  <a:rPr lang="en-US" altLang="zh-CN" b="1" dirty="0" smtClean="0">
                    <a:solidFill>
                      <a:srgbClr val="0000FF"/>
                    </a:solidFill>
                  </a:rPr>
                  <a:t>logarithmic</a:t>
                </a:r>
                <a:r>
                  <a:rPr lang="en-US" altLang="zh-CN" dirty="0" smtClean="0"/>
                  <a:t> amplitude and phase vs. frequency, namely,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US" altLang="zh-CN" dirty="0" smtClean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∢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altLang="zh-CN" dirty="0" smtClean="0"/>
                  <a:t> versus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altLang="zh-CN" dirty="0" smtClean="0"/>
                  <a:t>(usually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b="0" dirty="0" smtClean="0">
                    <a:ea typeface="Cambria Math" panose="02040503050406030204" pitchFamily="18" charset="0"/>
                  </a:rPr>
                  <a:t> in continuous-time case)</a:t>
                </a:r>
              </a:p>
              <a:p>
                <a:pPr lvl="1"/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:r>
                  <a:rPr lang="en-US" dirty="0" smtClean="0">
                    <a:ea typeface="Cambria Math" panose="02040503050406030204" pitchFamily="18" charset="0"/>
                  </a:rPr>
                  <a:t>the amplitude axis is logarithmic</a:t>
                </a:r>
              </a:p>
              <a:p>
                <a:pPr lvl="1"/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  <a:r>
                  <a:rPr lang="en-US" b="0" dirty="0" smtClean="0">
                    <a:ea typeface="Cambria Math" panose="02040503050406030204" pitchFamily="18" charset="0"/>
                  </a:rPr>
                  <a:t>the frequency axis is </a:t>
                </a:r>
                <a:r>
                  <a:rPr lang="en-US" dirty="0" smtClean="0">
                    <a:ea typeface="Cambria Math" panose="02040503050406030204" pitchFamily="18" charset="0"/>
                  </a:rPr>
                  <a:t>logarithmic for continuous-time system: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endParaRPr lang="en-US" b="0" dirty="0" smtClean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>
                    <a:ea typeface="Cambria Math" panose="02040503050406030204" pitchFamily="18" charset="0"/>
                  </a:rPr>
                  <a:t> the frequency axis is </a:t>
                </a:r>
                <a:r>
                  <a:rPr lang="en-US" dirty="0" smtClean="0">
                    <a:ea typeface="Cambria Math" panose="02040503050406030204" pitchFamily="18" charset="0"/>
                  </a:rPr>
                  <a:t>linear </a:t>
                </a:r>
                <a:r>
                  <a:rPr lang="en-US" dirty="0">
                    <a:ea typeface="Cambria Math" panose="02040503050406030204" pitchFamily="18" charset="0"/>
                  </a:rPr>
                  <a:t>for </a:t>
                </a:r>
                <a:r>
                  <a:rPr lang="en-US" dirty="0" smtClean="0">
                    <a:ea typeface="Cambria Math" panose="02040503050406030204" pitchFamily="18" charset="0"/>
                  </a:rPr>
                  <a:t>discrete-time system, but limited to a range of </a:t>
                </a:r>
                <a:r>
                  <a:rPr lang="en-US" dirty="0" smtClean="0"/>
                  <a:t>2</a:t>
                </a:r>
                <a:r>
                  <a:rPr lang="el-GR" i="1" dirty="0" smtClean="0"/>
                  <a:t>π</a:t>
                </a:r>
                <a:r>
                  <a:rPr lang="en-US" dirty="0" smtClean="0"/>
                  <a:t>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m:rPr>
                        <m:nor/>
                      </m:rPr>
                      <a:rPr lang="el-GR" dirty="0"/>
                      <m:t>π</m:t>
                    </m:r>
                  </m:oMath>
                </a14:m>
                <a:endParaRPr lang="en-US" b="0" dirty="0" smtClean="0">
                  <a:ea typeface="Cambria Math" panose="02040503050406030204" pitchFamily="18" charset="0"/>
                </a:endParaRPr>
              </a:p>
              <a:p>
                <a:r>
                  <a:rPr lang="en-US" dirty="0" smtClean="0"/>
                  <a:t> Usually we only show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 smtClean="0"/>
                  <a:t>&gt;0 for the bode plot</a:t>
                </a:r>
              </a:p>
              <a:p>
                <a:pPr lvl="1"/>
                <a:r>
                  <a:rPr lang="en-US" dirty="0"/>
                  <a:t> </a:t>
                </a:r>
                <a:r>
                  <a:rPr lang="en-US" dirty="0" smtClean="0"/>
                  <a:t>if </a:t>
                </a:r>
                <a:r>
                  <a:rPr lang="en-US" i="1" dirty="0" smtClean="0"/>
                  <a:t>h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t</a:t>
                </a:r>
                <a:r>
                  <a:rPr lang="en-US" dirty="0" smtClean="0"/>
                  <a:t>) is real,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 smtClean="0"/>
                  <a:t> is even,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∢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 smtClean="0"/>
                  <a:t> is odd, we can easily plot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∢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 smtClean="0"/>
                  <a:t>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 smtClean="0"/>
                  <a:t> &lt;0</a:t>
                </a: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308100"/>
                <a:ext cx="8170293" cy="4868863"/>
              </a:xfrm>
              <a:blipFill>
                <a:blip r:embed="rId2"/>
                <a:stretch>
                  <a:fillRect l="-1269" t="-2256" r="-20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§6.2 Mag and </a:t>
            </a:r>
            <a:r>
              <a:rPr lang="en-US" dirty="0" err="1"/>
              <a:t>Pha</a:t>
            </a:r>
            <a:r>
              <a:rPr lang="en-US" dirty="0"/>
              <a:t> </a:t>
            </a:r>
            <a:r>
              <a:rPr lang="en-US" altLang="zh-CN" dirty="0"/>
              <a:t>Frequency </a:t>
            </a:r>
            <a:r>
              <a:rPr lang="en-US" altLang="zh-CN" dirty="0" smtClean="0"/>
              <a:t>Response</a:t>
            </a:r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009291" y="5776853"/>
            <a:ext cx="7608498" cy="40011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the axis label in the phase-frequency plots correct in Fig. 6.8 &amp; 6.9?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47374" y="3979685"/>
            <a:ext cx="1021151" cy="40011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Why?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80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Typical Bode Diagram</a:t>
            </a:r>
            <a:endParaRPr 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8045" t="4659" r="6437" b="3237"/>
          <a:stretch/>
        </p:blipFill>
        <p:spPr>
          <a:xfrm>
            <a:off x="0" y="1710533"/>
            <a:ext cx="4416725" cy="3561876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§6.2 Mag and </a:t>
            </a:r>
            <a:r>
              <a:rPr lang="en-US" dirty="0" err="1"/>
              <a:t>Pha</a:t>
            </a:r>
            <a:r>
              <a:rPr lang="en-US" dirty="0"/>
              <a:t> </a:t>
            </a:r>
            <a:r>
              <a:rPr lang="en-US" altLang="zh-CN" dirty="0"/>
              <a:t>Frequency </a:t>
            </a:r>
            <a:r>
              <a:rPr lang="en-US" altLang="zh-CN" dirty="0" smtClean="0"/>
              <a:t>Response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/>
          <a:srcRect l="4471" t="4161" r="7084" b="1345"/>
          <a:stretch/>
        </p:blipFill>
        <p:spPr>
          <a:xfrm>
            <a:off x="4533363" y="1784031"/>
            <a:ext cx="4360471" cy="348837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635929" y="5383685"/>
            <a:ext cx="11448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Bode Plot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15050" y="5383685"/>
            <a:ext cx="21018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Response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000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First-Order Continuous-Time System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 </a:t>
                </a:r>
                <a:r>
                  <a:rPr lang="en-US" altLang="zh-CN" dirty="0" smtClean="0"/>
                  <a:t>Here we only consider LTI systems characterized by linear constant-coefficient differential equations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First-order CT system differential equation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System function / transfer function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1/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dirty="0" smtClean="0"/>
                  <a:t>, with one pole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1/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 smtClean="0"/>
                  <a:t> 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Frequency response  </a:t>
                </a:r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1/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1/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1/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31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§6.5 1</a:t>
            </a:r>
            <a:r>
              <a:rPr lang="en-US" baseline="30000" dirty="0" smtClean="0"/>
              <a:t>st</a:t>
            </a:r>
            <a:r>
              <a:rPr lang="en-US" dirty="0" smtClean="0"/>
              <a:t> and 2</a:t>
            </a:r>
            <a:r>
              <a:rPr lang="en-US" baseline="30000" dirty="0" smtClean="0"/>
              <a:t>nd</a:t>
            </a:r>
            <a:r>
              <a:rPr lang="en-US" dirty="0" smtClean="0"/>
              <a:t> Order CT Systems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6330575" y="2652018"/>
                <a:ext cx="2246321" cy="461665"/>
              </a:xfrm>
              <a:prstGeom prst="rect">
                <a:avLst/>
              </a:prstGeom>
              <a:ln w="22225">
                <a:solidFill>
                  <a:srgbClr val="0000FF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constant</a:t>
                </a:r>
                <a:endParaRPr lang="en-US" sz="24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575" y="2652018"/>
                <a:ext cx="2246321" cy="461665"/>
              </a:xfrm>
              <a:prstGeom prst="rect">
                <a:avLst/>
              </a:prstGeom>
              <a:blipFill>
                <a:blip r:embed="rId3"/>
                <a:stretch>
                  <a:fillRect t="-7500" r="-2681" b="-25000"/>
                </a:stretch>
              </a:blipFill>
              <a:ln w="2222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5629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System Response of </a:t>
            </a:r>
            <a:r>
              <a:rPr lang="en-US" dirty="0"/>
              <a:t>First-Order Continuous-Time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 </a:t>
                </a:r>
                <a:r>
                  <a:rPr lang="en-US" dirty="0"/>
                  <a:t>Impulse response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den>
                        </m:f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</a:t>
                </a:r>
                <a:r>
                  <a:rPr lang="en-US" altLang="zh-CN" dirty="0"/>
                  <a:t>Step response </a:t>
                </a:r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=[1−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 smtClean="0"/>
                  <a:t> </a:t>
                </a:r>
                <a:r>
                  <a:rPr lang="en-US" altLang="zh-CN" dirty="0"/>
                  <a:t>How to find </a:t>
                </a:r>
                <a:r>
                  <a:rPr lang="en-US" altLang="zh-CN" i="1" dirty="0"/>
                  <a:t>s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t</a:t>
                </a:r>
                <a:r>
                  <a:rPr lang="en-US" altLang="zh-CN" dirty="0"/>
                  <a:t>) using the inverse FT</a:t>
                </a:r>
                <a:r>
                  <a:rPr lang="en-US" altLang="zh-CN" dirty="0" smtClean="0"/>
                  <a:t>?</a:t>
                </a:r>
                <a:endParaRPr lang="en-US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groupChr>
                      <m:groupChrPr>
                        <m:chr m:val="↔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</m:groupCh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𝜋𝛿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𝜋𝛿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𝜋𝛿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𝜋𝛿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	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den>
                        </m:f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=[1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den>
                        </m:f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§6.5 1</a:t>
            </a:r>
            <a:r>
              <a:rPr lang="en-US" baseline="30000" dirty="0"/>
              <a:t>st</a:t>
            </a:r>
            <a:r>
              <a:rPr lang="en-US" dirty="0"/>
              <a:t> and 2</a:t>
            </a:r>
            <a:r>
              <a:rPr lang="en-US" baseline="30000" dirty="0"/>
              <a:t>nd</a:t>
            </a:r>
            <a:r>
              <a:rPr lang="en-US" dirty="0"/>
              <a:t> Order CT </a:t>
            </a:r>
            <a:r>
              <a:rPr lang="en-US" dirty="0" smtClean="0"/>
              <a:t>Systems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429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System Response of First-Order Continuous-Time </a:t>
            </a:r>
            <a:r>
              <a:rPr lang="en-US" dirty="0" smtClean="0"/>
              <a:t>System (</a:t>
            </a:r>
            <a:r>
              <a:rPr lang="en-US" dirty="0" err="1" smtClean="0"/>
              <a:t>Cont</a:t>
            </a:r>
            <a:r>
              <a:rPr lang="en-US" dirty="0" smtClean="0"/>
              <a:t>’)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§6.5 1</a:t>
            </a:r>
            <a:r>
              <a:rPr lang="en-US" baseline="30000" dirty="0"/>
              <a:t>st</a:t>
            </a:r>
            <a:r>
              <a:rPr lang="en-US" dirty="0"/>
              <a:t> and 2</a:t>
            </a:r>
            <a:r>
              <a:rPr lang="en-US" baseline="30000" dirty="0"/>
              <a:t>nd</a:t>
            </a:r>
            <a:r>
              <a:rPr lang="en-US" dirty="0"/>
              <a:t> Order CT </a:t>
            </a:r>
            <a:r>
              <a:rPr lang="en-US" dirty="0" smtClean="0"/>
              <a:t>Systems</a:t>
            </a:r>
            <a:endParaRPr lang="en-US" dirty="0"/>
          </a:p>
        </p:txBody>
      </p:sp>
      <p:pic>
        <p:nvPicPr>
          <p:cNvPr id="9" name="内容占位符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2616" y="1330678"/>
            <a:ext cx="6479930" cy="4852121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>
          <a:xfrm>
            <a:off x="2356338" y="3191608"/>
            <a:ext cx="50907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2356338" y="5498123"/>
            <a:ext cx="50907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2795954" y="1696915"/>
            <a:ext cx="8792" cy="1670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H="1">
            <a:off x="2804746" y="3950676"/>
            <a:ext cx="8792" cy="16705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4149925" y="3338470"/>
            <a:ext cx="38343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l-G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endParaRPr 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5688599" y="3350778"/>
            <a:ext cx="45717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l-G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/1</a:t>
            </a:r>
            <a:endParaRPr 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6457998" y="3349280"/>
            <a:ext cx="45717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l-G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/1</a:t>
            </a:r>
            <a:endParaRPr 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7222939" y="3349280"/>
            <a:ext cx="45717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l-G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/1</a:t>
            </a:r>
            <a:endParaRPr 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2655228" y="3359384"/>
            <a:ext cx="30008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1907930" y="1669019"/>
            <a:ext cx="4835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1/</a:t>
            </a:r>
            <a:r>
              <a:rPr lang="el-G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endParaRPr 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1907930" y="2333014"/>
            <a:ext cx="4835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2987724" y="1825155"/>
            <a:ext cx="61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h(t)</a:t>
            </a:r>
            <a:endParaRPr lang="en-US" dirty="0"/>
          </a:p>
        </p:txBody>
      </p:sp>
      <p:sp>
        <p:nvSpPr>
          <p:cNvPr id="30" name="文本框 29"/>
          <p:cNvSpPr txBox="1"/>
          <p:nvPr/>
        </p:nvSpPr>
        <p:spPr>
          <a:xfrm>
            <a:off x="4368140" y="4246659"/>
            <a:ext cx="61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s(t)</a:t>
            </a:r>
            <a:endParaRPr lang="en-US" dirty="0"/>
          </a:p>
        </p:txBody>
      </p:sp>
      <p:sp>
        <p:nvSpPr>
          <p:cNvPr id="31" name="文本框 30"/>
          <p:cNvSpPr txBox="1"/>
          <p:nvPr/>
        </p:nvSpPr>
        <p:spPr>
          <a:xfrm>
            <a:off x="4593151" y="5875013"/>
            <a:ext cx="6171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dirty="0"/>
          </a:p>
        </p:txBody>
      </p:sp>
      <p:sp>
        <p:nvSpPr>
          <p:cNvPr id="32" name="文本框 31"/>
          <p:cNvSpPr txBox="1"/>
          <p:nvPr/>
        </p:nvSpPr>
        <p:spPr>
          <a:xfrm>
            <a:off x="4767855" y="3525261"/>
            <a:ext cx="31122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5712601" y="3340595"/>
            <a:ext cx="38343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l-G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endParaRPr 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6454034" y="3344462"/>
            <a:ext cx="38343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l-G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endParaRPr 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7225046" y="3344462"/>
            <a:ext cx="38343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l-G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endParaRPr lang="en-US" dirty="0"/>
          </a:p>
        </p:txBody>
      </p:sp>
      <p:sp>
        <p:nvSpPr>
          <p:cNvPr id="36" name="文本框 35"/>
          <p:cNvSpPr txBox="1"/>
          <p:nvPr/>
        </p:nvSpPr>
        <p:spPr>
          <a:xfrm>
            <a:off x="4957331" y="3371368"/>
            <a:ext cx="38343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l-G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endParaRPr 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3393833" y="3344992"/>
            <a:ext cx="26802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l-G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endParaRPr 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4149925" y="5652517"/>
            <a:ext cx="38343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l-G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endParaRPr lang="en-US" dirty="0"/>
          </a:p>
        </p:txBody>
      </p:sp>
      <p:sp>
        <p:nvSpPr>
          <p:cNvPr id="39" name="文本框 38"/>
          <p:cNvSpPr txBox="1"/>
          <p:nvPr/>
        </p:nvSpPr>
        <p:spPr>
          <a:xfrm>
            <a:off x="6457998" y="5663327"/>
            <a:ext cx="45717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l-G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/1</a:t>
            </a:r>
            <a:endParaRPr lang="en-US" dirty="0"/>
          </a:p>
        </p:txBody>
      </p:sp>
      <p:sp>
        <p:nvSpPr>
          <p:cNvPr id="40" name="文本框 39"/>
          <p:cNvSpPr txBox="1"/>
          <p:nvPr/>
        </p:nvSpPr>
        <p:spPr>
          <a:xfrm>
            <a:off x="7222939" y="5663327"/>
            <a:ext cx="45717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l-G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/1</a:t>
            </a:r>
            <a:endParaRPr lang="en-US" dirty="0"/>
          </a:p>
        </p:txBody>
      </p:sp>
      <p:sp>
        <p:nvSpPr>
          <p:cNvPr id="41" name="文本框 40"/>
          <p:cNvSpPr txBox="1"/>
          <p:nvPr/>
        </p:nvSpPr>
        <p:spPr>
          <a:xfrm>
            <a:off x="2655228" y="5673431"/>
            <a:ext cx="30008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/>
          </a:p>
        </p:txBody>
      </p:sp>
      <p:sp>
        <p:nvSpPr>
          <p:cNvPr id="42" name="文本框 41"/>
          <p:cNvSpPr txBox="1"/>
          <p:nvPr/>
        </p:nvSpPr>
        <p:spPr>
          <a:xfrm>
            <a:off x="5712601" y="5654642"/>
            <a:ext cx="38343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l-G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endParaRPr lang="en-US" dirty="0"/>
          </a:p>
        </p:txBody>
      </p:sp>
      <p:sp>
        <p:nvSpPr>
          <p:cNvPr id="43" name="文本框 42"/>
          <p:cNvSpPr txBox="1"/>
          <p:nvPr/>
        </p:nvSpPr>
        <p:spPr>
          <a:xfrm>
            <a:off x="6454034" y="5658509"/>
            <a:ext cx="38343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l-G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endParaRPr lang="en-US" dirty="0"/>
          </a:p>
        </p:txBody>
      </p:sp>
      <p:sp>
        <p:nvSpPr>
          <p:cNvPr id="44" name="文本框 43"/>
          <p:cNvSpPr txBox="1"/>
          <p:nvPr/>
        </p:nvSpPr>
        <p:spPr>
          <a:xfrm>
            <a:off x="7225046" y="5658509"/>
            <a:ext cx="38343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l-G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endParaRPr lang="en-US" dirty="0"/>
          </a:p>
        </p:txBody>
      </p:sp>
      <p:sp>
        <p:nvSpPr>
          <p:cNvPr id="45" name="文本框 44"/>
          <p:cNvSpPr txBox="1"/>
          <p:nvPr/>
        </p:nvSpPr>
        <p:spPr>
          <a:xfrm>
            <a:off x="4957331" y="5685415"/>
            <a:ext cx="38343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l-G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endParaRPr lang="en-US" dirty="0"/>
          </a:p>
        </p:txBody>
      </p:sp>
      <p:sp>
        <p:nvSpPr>
          <p:cNvPr id="46" name="文本框 45"/>
          <p:cNvSpPr txBox="1"/>
          <p:nvPr/>
        </p:nvSpPr>
        <p:spPr>
          <a:xfrm>
            <a:off x="3393833" y="5659039"/>
            <a:ext cx="26802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l-G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endParaRPr lang="en-US" dirty="0"/>
          </a:p>
        </p:txBody>
      </p:sp>
      <p:sp>
        <p:nvSpPr>
          <p:cNvPr id="47" name="文本框 46"/>
          <p:cNvSpPr txBox="1"/>
          <p:nvPr/>
        </p:nvSpPr>
        <p:spPr>
          <a:xfrm>
            <a:off x="1907930" y="4683207"/>
            <a:ext cx="4835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49" name="直接连接符 48"/>
          <p:cNvCxnSpPr/>
          <p:nvPr/>
        </p:nvCxnSpPr>
        <p:spPr>
          <a:xfrm flipV="1">
            <a:off x="3597224" y="2702346"/>
            <a:ext cx="0" cy="48926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H="1">
            <a:off x="2425236" y="2702346"/>
            <a:ext cx="1179608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1968308" y="2517680"/>
            <a:ext cx="421760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1/e</a:t>
            </a:r>
            <a:r>
              <a:rPr lang="el-G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endParaRPr lang="en-US" dirty="0"/>
          </a:p>
        </p:txBody>
      </p:sp>
      <p:cxnSp>
        <p:nvCxnSpPr>
          <p:cNvPr id="54" name="直接连接符 53"/>
          <p:cNvCxnSpPr/>
          <p:nvPr/>
        </p:nvCxnSpPr>
        <p:spPr>
          <a:xfrm flipV="1">
            <a:off x="3589604" y="4615991"/>
            <a:ext cx="7620" cy="100522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H="1">
            <a:off x="2417616" y="4620857"/>
            <a:ext cx="1179608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1885735" y="4411765"/>
            <a:ext cx="527966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0" rIns="0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1-1/e</a:t>
            </a:r>
            <a:endParaRPr lang="en-US" dirty="0"/>
          </a:p>
        </p:txBody>
      </p:sp>
      <p:cxnSp>
        <p:nvCxnSpPr>
          <p:cNvPr id="60" name="直接连接符 59"/>
          <p:cNvCxnSpPr/>
          <p:nvPr/>
        </p:nvCxnSpPr>
        <p:spPr>
          <a:xfrm flipH="1">
            <a:off x="2439146" y="4106008"/>
            <a:ext cx="5007939" cy="7826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4426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Asymptotic Approximation of Magnitude-Frequency Response </a:t>
            </a:r>
            <a:r>
              <a:rPr lang="en-US" sz="3200" dirty="0"/>
              <a:t>of 1</a:t>
            </a:r>
            <a:r>
              <a:rPr lang="en-US" sz="3200" baseline="30000" dirty="0"/>
              <a:t>st</a:t>
            </a:r>
            <a:r>
              <a:rPr lang="en-US" sz="3200" dirty="0"/>
              <a:t> Order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 smtClean="0"/>
                  <a:t> Magnitude-frequency response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𝜔𝜏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</m:e>
                    </m:rad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Approximation #1: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≪1/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1=0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𝑑𝐵</m:t>
                      </m:r>
                    </m:oMath>
                  </m:oMathPara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Approximation #2: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1/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endParaRPr lang="en-US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𝜔𝜏</m:t>
                        </m:r>
                      </m:den>
                    </m:f>
                  </m:oMath>
                </a14:m>
                <a:endParaRPr lang="en-US" dirty="0" smtClean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b="0" dirty="0" smtClean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𝑙𝑜𝑔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−20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og</m:t>
                    </m:r>
                    <m:r>
                      <m:rPr>
                        <m:sty m:val="p"/>
                      </m:rPr>
                      <a:rPr lang="el-GR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lang="en-US" dirty="0" smtClean="0"/>
                  <a:t> 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den>
                        </m:f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log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=−3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𝑑𝐵</m:t>
                    </m:r>
                  </m:oMath>
                </a14:m>
                <a:endParaRPr lang="en-US" b="0" dirty="0" smtClean="0"/>
              </a:p>
              <a:p>
                <a:r>
                  <a:rPr lang="en-US" dirty="0"/>
                  <a:t>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break frequency </a:t>
                </a:r>
                <a:r>
                  <a:rPr lang="en-US" dirty="0" smtClean="0"/>
                  <a:t>/ </a:t>
                </a:r>
                <a:r>
                  <a:rPr lang="en-US" b="1" dirty="0">
                    <a:solidFill>
                      <a:srgbClr val="C00000"/>
                    </a:solidFill>
                  </a:rPr>
                  <a:t>cutoff frequency </a:t>
                </a:r>
                <a:r>
                  <a:rPr lang="en-US" dirty="0" smtClean="0"/>
                  <a:t>/ </a:t>
                </a:r>
                <a:r>
                  <a:rPr lang="en-US" b="1" dirty="0">
                    <a:solidFill>
                      <a:srgbClr val="C00000"/>
                    </a:solidFill>
                  </a:rPr>
                  <a:t>corner frequency</a:t>
                </a:r>
                <a:r>
                  <a:rPr lang="en-US" dirty="0" smtClean="0"/>
                  <a:t>: the frequency point for which the magnitude is -3 dB lower than the nominal passband value (half-power point)</a:t>
                </a:r>
              </a:p>
              <a:p>
                <a:r>
                  <a:rPr lang="en-US" b="0" dirty="0"/>
                  <a:t> </a:t>
                </a:r>
                <a:r>
                  <a:rPr lang="en-US" b="0" dirty="0" smtClean="0"/>
                  <a:t>break frequency of first order system: </a:t>
                </a:r>
                <a:r>
                  <a:rPr lang="en-US" dirty="0" smtClean="0"/>
                  <a:t>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𝑑𝐵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den>
                    </m:f>
                  </m:oMath>
                </a14:m>
                <a:r>
                  <a:rPr lang="en-US" dirty="0" smtClean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128" b="-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§6.5 1</a:t>
            </a:r>
            <a:r>
              <a:rPr lang="en-US" baseline="30000" dirty="0"/>
              <a:t>st</a:t>
            </a:r>
            <a:r>
              <a:rPr lang="en-US" dirty="0"/>
              <a:t> and 2</a:t>
            </a:r>
            <a:r>
              <a:rPr lang="en-US" baseline="30000" dirty="0"/>
              <a:t>nd</a:t>
            </a:r>
            <a:r>
              <a:rPr lang="en-US" dirty="0"/>
              <a:t> Order CT </a:t>
            </a:r>
            <a:r>
              <a:rPr lang="en-US" dirty="0" smtClean="0"/>
              <a:t>Systems</a:t>
            </a:r>
            <a:endParaRPr lang="en-US" dirty="0"/>
          </a:p>
        </p:txBody>
      </p:sp>
      <p:sp>
        <p:nvSpPr>
          <p:cNvPr id="7" name="矩形 6"/>
          <p:cNvSpPr/>
          <p:nvPr/>
        </p:nvSpPr>
        <p:spPr>
          <a:xfrm>
            <a:off x="5565320" y="3343022"/>
            <a:ext cx="2546723" cy="461665"/>
          </a:xfrm>
          <a:prstGeom prst="rect">
            <a:avLst/>
          </a:prstGeom>
          <a:ln w="22225">
            <a:solidFill>
              <a:srgbClr val="0000FF"/>
            </a:solidFill>
          </a:ln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-20 dB per decade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891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内容占位符 1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1448" y="1267418"/>
            <a:ext cx="6374167" cy="477292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000" dirty="0" smtClean="0"/>
              <a:t>Asymptotic Approximation of Magnitude-Frequency Response </a:t>
            </a:r>
            <a:r>
              <a:rPr lang="en-US" sz="3000" dirty="0"/>
              <a:t>of 1</a:t>
            </a:r>
            <a:r>
              <a:rPr lang="en-US" sz="3000" baseline="30000" dirty="0"/>
              <a:t>st</a:t>
            </a:r>
            <a:r>
              <a:rPr lang="en-US" sz="3000" dirty="0"/>
              <a:t> Order System</a:t>
            </a:r>
            <a:r>
              <a:rPr lang="en-US" sz="3000" dirty="0" smtClean="0"/>
              <a:t> (</a:t>
            </a:r>
            <a:r>
              <a:rPr lang="en-US" sz="3000" dirty="0" err="1" smtClean="0"/>
              <a:t>cont</a:t>
            </a:r>
            <a:r>
              <a:rPr lang="en-US" sz="3000" dirty="0" smtClean="0"/>
              <a:t>’)</a:t>
            </a:r>
            <a:endParaRPr lang="en-US" sz="30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§6.5 1</a:t>
            </a:r>
            <a:r>
              <a:rPr lang="en-US" baseline="30000" dirty="0"/>
              <a:t>st</a:t>
            </a:r>
            <a:r>
              <a:rPr lang="en-US" dirty="0"/>
              <a:t> and 2</a:t>
            </a:r>
            <a:r>
              <a:rPr lang="en-US" baseline="30000" dirty="0"/>
              <a:t>nd</a:t>
            </a:r>
            <a:r>
              <a:rPr lang="en-US" dirty="0"/>
              <a:t> Order CT </a:t>
            </a:r>
            <a:r>
              <a:rPr lang="en-US" dirty="0" smtClean="0"/>
              <a:t>Systems</a:t>
            </a:r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887043" y="5525639"/>
            <a:ext cx="44755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1/</a:t>
            </a:r>
            <a:r>
              <a:rPr lang="el-G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endParaRPr 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5069253" y="5534345"/>
            <a:ext cx="56297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10/</a:t>
            </a:r>
            <a:r>
              <a:rPr lang="el-G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endParaRPr 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6160291" y="5525639"/>
            <a:ext cx="67839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100/</a:t>
            </a:r>
            <a:r>
              <a:rPr lang="el-G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endParaRPr 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4460139" y="5525639"/>
            <a:ext cx="4835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5631474" y="5525639"/>
            <a:ext cx="4835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6775357" y="5586147"/>
            <a:ext cx="4835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7078698" y="5559484"/>
            <a:ext cx="4835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3251797" y="5579202"/>
            <a:ext cx="4835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2716368" y="5525639"/>
            <a:ext cx="62068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0.1/</a:t>
            </a:r>
            <a:r>
              <a:rPr lang="el-G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endParaRPr 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1892473" y="2134343"/>
            <a:ext cx="38908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570663" y="1470048"/>
            <a:ext cx="829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|H(j</a:t>
            </a:r>
            <a:r>
              <a:rPr lang="el-GR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)|</a:t>
            </a:r>
          </a:p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(dB)</a:t>
            </a:r>
            <a:endParaRPr lang="en-US" dirty="0"/>
          </a:p>
        </p:txBody>
      </p:sp>
      <p:sp>
        <p:nvSpPr>
          <p:cNvPr id="24" name="文本框 23"/>
          <p:cNvSpPr txBox="1"/>
          <p:nvPr/>
        </p:nvSpPr>
        <p:spPr>
          <a:xfrm>
            <a:off x="1782326" y="3202740"/>
            <a:ext cx="499235" cy="369332"/>
          </a:xfrm>
          <a:prstGeom prst="rect">
            <a:avLst/>
          </a:prstGeom>
          <a:solidFill>
            <a:schemeClr val="bg1"/>
          </a:solidFill>
        </p:spPr>
        <p:txBody>
          <a:bodyPr wrap="square" rIns="0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-20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782326" y="4252210"/>
            <a:ext cx="499235" cy="369332"/>
          </a:xfrm>
          <a:prstGeom prst="rect">
            <a:avLst/>
          </a:prstGeom>
          <a:solidFill>
            <a:schemeClr val="bg1"/>
          </a:solidFill>
        </p:spPr>
        <p:txBody>
          <a:bodyPr wrap="square" rIns="0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-40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080462" y="5559782"/>
            <a:ext cx="4835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794788" y="5278930"/>
            <a:ext cx="499235" cy="369332"/>
          </a:xfrm>
          <a:prstGeom prst="rect">
            <a:avLst/>
          </a:prstGeom>
          <a:solidFill>
            <a:schemeClr val="bg1"/>
          </a:solidFill>
        </p:spPr>
        <p:txBody>
          <a:bodyPr wrap="square" rIns="0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-60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接连接符 28"/>
          <p:cNvCxnSpPr/>
          <p:nvPr/>
        </p:nvCxnSpPr>
        <p:spPr>
          <a:xfrm flipH="1" flipV="1">
            <a:off x="2294023" y="2348174"/>
            <a:ext cx="1887360" cy="4409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H="1" flipV="1">
            <a:off x="4193845" y="2348175"/>
            <a:ext cx="3065088" cy="2614442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4181383" y="1899821"/>
            <a:ext cx="0" cy="41918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flipH="1" flipV="1">
            <a:off x="4177570" y="2516151"/>
            <a:ext cx="818" cy="48485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4193845" y="1757626"/>
            <a:ext cx="499235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3dB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767705" y="1740089"/>
            <a:ext cx="2414371" cy="5232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US" altLang="zh-CN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magnitude response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---Asymptotic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 </a:t>
            </a:r>
          </a:p>
        </p:txBody>
      </p:sp>
      <p:cxnSp>
        <p:nvCxnSpPr>
          <p:cNvPr id="39" name="直接箭头连接符 38"/>
          <p:cNvCxnSpPr/>
          <p:nvPr/>
        </p:nvCxnSpPr>
        <p:spPr>
          <a:xfrm flipH="1" flipV="1">
            <a:off x="4170899" y="2348175"/>
            <a:ext cx="6671" cy="3177464"/>
          </a:xfrm>
          <a:prstGeom prst="straightConnector1">
            <a:avLst/>
          </a:prstGeom>
          <a:ln w="3175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7070790" y="5559484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endParaRPr lang="en-US" dirty="0"/>
          </a:p>
        </p:txBody>
      </p:sp>
      <p:sp>
        <p:nvSpPr>
          <p:cNvPr id="42" name="矩形 41"/>
          <p:cNvSpPr/>
          <p:nvPr/>
        </p:nvSpPr>
        <p:spPr>
          <a:xfrm>
            <a:off x="4181212" y="5169110"/>
            <a:ext cx="4058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154729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Asymptotic Approximation of </a:t>
            </a:r>
            <a:r>
              <a:rPr lang="en-US" sz="3600" dirty="0" smtClean="0"/>
              <a:t>Phase-Frequency Response of 1</a:t>
            </a:r>
            <a:r>
              <a:rPr lang="en-US" sz="3600" baseline="30000" dirty="0" smtClean="0"/>
              <a:t>st</a:t>
            </a:r>
            <a:r>
              <a:rPr lang="en-US" sz="3600" dirty="0" smtClean="0"/>
              <a:t> Order System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 </a:t>
                </a:r>
                <a:r>
                  <a:rPr lang="en-US" altLang="zh-CN" dirty="0" smtClean="0"/>
                  <a:t>Phase</a:t>
                </a:r>
                <a:r>
                  <a:rPr lang="en-US" dirty="0" smtClean="0"/>
                  <a:t>-frequency </a:t>
                </a:r>
                <a:r>
                  <a:rPr lang="en-US" dirty="0"/>
                  <a:t>response</a:t>
                </a:r>
                <a:r>
                  <a:rPr lang="en-US" dirty="0" smtClean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∢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𝑡𝑎𝑛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Asymptotic approximation</a:t>
                </a:r>
              </a:p>
              <a:p>
                <a:pPr marL="0" indent="0" algn="di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∢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≤0.1/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𝜔𝜏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0.1/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≤10/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10/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 at the break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den>
                    </m:f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 smtClean="0"/>
                  <a:t>=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§6.5 1</a:t>
            </a:r>
            <a:r>
              <a:rPr lang="en-US" baseline="30000" dirty="0"/>
              <a:t>st</a:t>
            </a:r>
            <a:r>
              <a:rPr lang="en-US" dirty="0"/>
              <a:t> and 2</a:t>
            </a:r>
            <a:r>
              <a:rPr lang="en-US" baseline="30000" dirty="0"/>
              <a:t>nd</a:t>
            </a:r>
            <a:r>
              <a:rPr lang="en-US" dirty="0"/>
              <a:t> Order CT </a:t>
            </a:r>
            <a:r>
              <a:rPr lang="en-US" dirty="0" smtClean="0"/>
              <a:t>Systems</a:t>
            </a:r>
            <a:endParaRPr lang="en-US" dirty="0"/>
          </a:p>
        </p:txBody>
      </p:sp>
      <p:sp>
        <p:nvSpPr>
          <p:cNvPr id="7" name="矩形 6"/>
          <p:cNvSpPr/>
          <p:nvPr/>
        </p:nvSpPr>
        <p:spPr>
          <a:xfrm>
            <a:off x="1986851" y="5347669"/>
            <a:ext cx="5572359" cy="461665"/>
          </a:xfrm>
          <a:prstGeom prst="rect">
            <a:avLst/>
          </a:prstGeom>
          <a:ln w="22225">
            <a:solidFill>
              <a:srgbClr val="0000FF"/>
            </a:solidFill>
          </a:ln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l-GR" sz="2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2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/2 phase shift for each left half-plane pole</a:t>
            </a:r>
            <a:endParaRPr lang="en-US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852481" y="5927827"/>
            <a:ext cx="2950442" cy="40011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Valid for complex pole?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114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内容占位符 2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9715" y="1306594"/>
            <a:ext cx="6585439" cy="493112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Asymptotic Approximation of Phase-Frequency Response of 1</a:t>
            </a:r>
            <a:r>
              <a:rPr lang="en-US" sz="2800" baseline="30000" dirty="0"/>
              <a:t>st</a:t>
            </a:r>
            <a:r>
              <a:rPr lang="en-US" sz="2800" dirty="0"/>
              <a:t> Order </a:t>
            </a:r>
            <a:r>
              <a:rPr lang="en-US" sz="2800" dirty="0" smtClean="0"/>
              <a:t>System (</a:t>
            </a:r>
            <a:r>
              <a:rPr lang="en-US" sz="2800" dirty="0" err="1" smtClean="0"/>
              <a:t>cont</a:t>
            </a:r>
            <a:r>
              <a:rPr lang="en-US" sz="2800" dirty="0" smtClean="0"/>
              <a:t>’)</a:t>
            </a:r>
            <a:endParaRPr lang="en-US" sz="28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§6.5 1</a:t>
            </a:r>
            <a:r>
              <a:rPr lang="en-US" baseline="30000" dirty="0"/>
              <a:t>st</a:t>
            </a:r>
            <a:r>
              <a:rPr lang="en-US" dirty="0"/>
              <a:t> and 2</a:t>
            </a:r>
            <a:r>
              <a:rPr lang="en-US" baseline="30000" dirty="0"/>
              <a:t>nd</a:t>
            </a:r>
            <a:r>
              <a:rPr lang="en-US" dirty="0"/>
              <a:t> Order CT </a:t>
            </a:r>
            <a:r>
              <a:rPr lang="en-US" dirty="0" smtClean="0"/>
              <a:t>Systems</a:t>
            </a:r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772742" y="5707284"/>
            <a:ext cx="44755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1/</a:t>
            </a:r>
            <a:r>
              <a:rPr lang="el-G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endParaRPr 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4954952" y="5715990"/>
            <a:ext cx="56297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10/</a:t>
            </a:r>
            <a:r>
              <a:rPr lang="el-G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endParaRPr 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6045990" y="5707284"/>
            <a:ext cx="67839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100/</a:t>
            </a:r>
            <a:r>
              <a:rPr lang="el-G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endParaRPr 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4381006" y="5707284"/>
            <a:ext cx="4835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5620320" y="5715990"/>
            <a:ext cx="4835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6661056" y="5767792"/>
            <a:ext cx="4835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6964397" y="5741129"/>
            <a:ext cx="4835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3040784" y="5769639"/>
            <a:ext cx="4835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2505355" y="5716076"/>
            <a:ext cx="62068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0.1/</a:t>
            </a:r>
            <a:r>
              <a:rPr lang="el-GR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endParaRPr 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1869449" y="5750219"/>
            <a:ext cx="4835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956489" y="5741129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endParaRPr 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1661720" y="2508524"/>
            <a:ext cx="38908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551573" y="3589784"/>
            <a:ext cx="499235" cy="369332"/>
          </a:xfrm>
          <a:prstGeom prst="rect">
            <a:avLst/>
          </a:prstGeom>
          <a:solidFill>
            <a:schemeClr val="bg1"/>
          </a:solidFill>
        </p:spPr>
        <p:txBody>
          <a:bodyPr wrap="square" rIns="0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l-G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1038547" y="1761015"/>
                <a:ext cx="102605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∢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547" y="1761015"/>
                <a:ext cx="1026050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/>
          <p:cNvSpPr txBox="1"/>
          <p:nvPr/>
        </p:nvSpPr>
        <p:spPr>
          <a:xfrm>
            <a:off x="1551572" y="4512499"/>
            <a:ext cx="499235" cy="369332"/>
          </a:xfrm>
          <a:prstGeom prst="rect">
            <a:avLst/>
          </a:prstGeom>
          <a:solidFill>
            <a:schemeClr val="bg1"/>
          </a:solidFill>
        </p:spPr>
        <p:txBody>
          <a:bodyPr wrap="square" rIns="0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l-G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H="1" flipV="1">
            <a:off x="2687756" y="2690984"/>
            <a:ext cx="2599086" cy="2015923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>
            <a:off x="2111237" y="2690985"/>
            <a:ext cx="582636" cy="1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H="1" flipV="1">
            <a:off x="5302082" y="4697165"/>
            <a:ext cx="1887360" cy="4409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V="1">
            <a:off x="5286842" y="4708304"/>
            <a:ext cx="0" cy="998980"/>
          </a:xfrm>
          <a:prstGeom prst="straightConnector1">
            <a:avLst/>
          </a:prstGeom>
          <a:ln w="3175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 flipH="1" flipV="1">
            <a:off x="2693873" y="2690985"/>
            <a:ext cx="39202" cy="3005160"/>
          </a:xfrm>
          <a:prstGeom prst="straightConnector1">
            <a:avLst/>
          </a:prstGeom>
          <a:ln w="3175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 flipH="1" flipV="1">
            <a:off x="2111237" y="3745012"/>
            <a:ext cx="1963540" cy="30521"/>
          </a:xfrm>
          <a:prstGeom prst="straightConnector1">
            <a:avLst/>
          </a:prstGeom>
          <a:ln w="3175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4767705" y="1740089"/>
            <a:ext cx="2414371" cy="5232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US" altLang="zh-CN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 response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---Asymptotic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 </a:t>
            </a:r>
          </a:p>
        </p:txBody>
      </p:sp>
      <p:cxnSp>
        <p:nvCxnSpPr>
          <p:cNvPr id="42" name="直接箭头连接符 41"/>
          <p:cNvCxnSpPr/>
          <p:nvPr/>
        </p:nvCxnSpPr>
        <p:spPr>
          <a:xfrm flipH="1">
            <a:off x="2056924" y="4711174"/>
            <a:ext cx="3222190" cy="4439"/>
          </a:xfrm>
          <a:prstGeom prst="straightConnector1">
            <a:avLst/>
          </a:prstGeom>
          <a:ln w="3175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976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Second-Order CT Systems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0"/>
                <a:ext cx="8110904" cy="5199232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 smtClean="0"/>
                  <a:t> Linear constant-coefficient differential equation of second-order system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System function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frequency response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dirty="0" smtClean="0"/>
                  <a:t> frequency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can be normalized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--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damping ratio</a:t>
                </a:r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 smtClean="0"/>
                  <a:t> -- </a:t>
                </a:r>
                <a:r>
                  <a:rPr lang="en-US" dirty="0" err="1" smtClean="0"/>
                  <a:t>undamped</a:t>
                </a:r>
                <a:r>
                  <a:rPr lang="en-US" dirty="0" smtClean="0"/>
                  <a:t>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natural frequency</a:t>
                </a:r>
                <a:endParaRPr lang="en-US" dirty="0" smtClean="0"/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dirty="0" smtClean="0"/>
                  <a:t>, system is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underdamped</a:t>
                </a:r>
                <a:r>
                  <a:rPr lang="en-US" dirty="0" smtClean="0"/>
                  <a:t>, conjugate pole pair on the left half-plane, oscillation in impulse response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 smtClean="0"/>
                  <a:t>, system is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overdamped</a:t>
                </a:r>
                <a:r>
                  <a:rPr lang="en-US" dirty="0" smtClean="0"/>
                  <a:t>, two </a:t>
                </a:r>
                <a:r>
                  <a:rPr lang="en-US" u="sng" dirty="0" smtClean="0">
                    <a:solidFill>
                      <a:srgbClr val="FF0000"/>
                    </a:solidFill>
                  </a:rPr>
                  <a:t>negative</a:t>
                </a:r>
                <a:r>
                  <a:rPr lang="en-US" dirty="0" smtClean="0"/>
                  <a:t> poles, no oscillation in impulse response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smtClean="0"/>
                  <a:t>system is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critically damped</a:t>
                </a:r>
              </a:p>
              <a:p>
                <a:pPr lvl="1"/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Quality factor: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</m:oMath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0"/>
                <a:ext cx="8110904" cy="5199232"/>
              </a:xfrm>
              <a:blipFill>
                <a:blip r:embed="rId2"/>
                <a:stretch>
                  <a:fillRect l="-977" t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§6.5 1</a:t>
            </a:r>
            <a:r>
              <a:rPr lang="en-US" baseline="30000" dirty="0"/>
              <a:t>st</a:t>
            </a:r>
            <a:r>
              <a:rPr lang="en-US" dirty="0"/>
              <a:t> and 2</a:t>
            </a:r>
            <a:r>
              <a:rPr lang="en-US" baseline="30000" dirty="0"/>
              <a:t>nd</a:t>
            </a:r>
            <a:r>
              <a:rPr lang="en-US" dirty="0"/>
              <a:t> Order CT </a:t>
            </a:r>
            <a:r>
              <a:rPr lang="en-US" dirty="0" smtClean="0"/>
              <a:t>Systems</a:t>
            </a:r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985642" y="5538184"/>
            <a:ext cx="1613236" cy="30777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orm of </a:t>
            </a:r>
            <a:r>
              <a:rPr lang="en-US" altLang="zh-CN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)?</a:t>
            </a: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163901" y="5752695"/>
            <a:ext cx="1524924" cy="30777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orm of </a:t>
            </a:r>
            <a:r>
              <a:rPr lang="en-US" altLang="zh-CN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)?</a:t>
            </a: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489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Asymptotic Approximation of Magnitude-Frequency Response of 2</a:t>
            </a:r>
            <a:r>
              <a:rPr lang="en-US" sz="3200" baseline="30000" dirty="0" smtClean="0"/>
              <a:t>nd</a:t>
            </a:r>
            <a:r>
              <a:rPr lang="en-US" sz="3200" dirty="0" smtClean="0"/>
              <a:t> Order </a:t>
            </a:r>
            <a:r>
              <a:rPr lang="en-US" sz="3200" dirty="0"/>
              <a:t>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 Magnitude-frequency response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[1−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𝜔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𝜁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Approximation #1: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20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1=0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𝑑𝐵</m:t>
                      </m:r>
                    </m:oMath>
                  </m:oMathPara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Approximation #2: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𝑙𝑜𝑔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+40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og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−10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𝜁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=−6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𝑙𝑜𝑔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§6.5 1</a:t>
            </a:r>
            <a:r>
              <a:rPr lang="en-US" baseline="30000" dirty="0"/>
              <a:t>st</a:t>
            </a:r>
            <a:r>
              <a:rPr lang="en-US" dirty="0"/>
              <a:t> and 2</a:t>
            </a:r>
            <a:r>
              <a:rPr lang="en-US" baseline="30000" dirty="0"/>
              <a:t>nd</a:t>
            </a:r>
            <a:r>
              <a:rPr lang="en-US" dirty="0"/>
              <a:t> Order CT </a:t>
            </a:r>
            <a:r>
              <a:rPr lang="en-US" dirty="0" smtClean="0"/>
              <a:t>Systems</a:t>
            </a:r>
            <a:endParaRPr lang="en-US" dirty="0"/>
          </a:p>
        </p:txBody>
      </p:sp>
      <p:sp>
        <p:nvSpPr>
          <p:cNvPr id="7" name="矩形 6"/>
          <p:cNvSpPr/>
          <p:nvPr/>
        </p:nvSpPr>
        <p:spPr>
          <a:xfrm>
            <a:off x="2489342" y="4540398"/>
            <a:ext cx="4088042" cy="461665"/>
          </a:xfrm>
          <a:prstGeom prst="rect">
            <a:avLst/>
          </a:prstGeom>
          <a:ln w="22225">
            <a:solidFill>
              <a:srgbClr val="0000FF"/>
            </a:solidFill>
          </a:ln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-40 dB per decade for 2 poles!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313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图片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73" y="1637453"/>
            <a:ext cx="6339375" cy="47468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49" y="365126"/>
            <a:ext cx="8251581" cy="792000"/>
          </a:xfrm>
        </p:spPr>
        <p:txBody>
          <a:bodyPr>
            <a:noAutofit/>
          </a:bodyPr>
          <a:lstStyle/>
          <a:p>
            <a:r>
              <a:rPr lang="en-US" sz="3200" dirty="0"/>
              <a:t>Asymptotic Approximation of Magnitude-Frequency Response of 2</a:t>
            </a:r>
            <a:r>
              <a:rPr lang="en-US" sz="3200" baseline="30000" dirty="0"/>
              <a:t>nd</a:t>
            </a:r>
            <a:r>
              <a:rPr lang="en-US" sz="3200" dirty="0"/>
              <a:t> Order </a:t>
            </a:r>
            <a:r>
              <a:rPr lang="en-US" sz="3200" dirty="0" smtClean="0"/>
              <a:t>System (</a:t>
            </a:r>
            <a:r>
              <a:rPr lang="en-US" sz="3200" dirty="0" err="1" smtClean="0"/>
              <a:t>cont</a:t>
            </a:r>
            <a:r>
              <a:rPr lang="en-US" sz="3200" dirty="0" smtClean="0"/>
              <a:t>’)</a:t>
            </a:r>
            <a:endParaRPr lang="en-US" sz="32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§6.5 1</a:t>
            </a:r>
            <a:r>
              <a:rPr lang="en-US" baseline="30000" dirty="0"/>
              <a:t>st</a:t>
            </a:r>
            <a:r>
              <a:rPr lang="en-US" dirty="0"/>
              <a:t> and 2</a:t>
            </a:r>
            <a:r>
              <a:rPr lang="en-US" baseline="30000" dirty="0"/>
              <a:t>nd</a:t>
            </a:r>
            <a:r>
              <a:rPr lang="en-US" dirty="0"/>
              <a:t> Order CT </a:t>
            </a:r>
            <a:r>
              <a:rPr lang="en-US" dirty="0" smtClean="0"/>
              <a:t>Systems</a:t>
            </a:r>
            <a:endParaRPr 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2825020" y="5863781"/>
            <a:ext cx="4835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5988454" y="5923434"/>
            <a:ext cx="4835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953135" y="2437937"/>
            <a:ext cx="38908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51197" y="1669182"/>
            <a:ext cx="829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|H(j</a:t>
            </a:r>
            <a:r>
              <a:rPr lang="el-GR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)|</a:t>
            </a:r>
          </a:p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(dB)</a:t>
            </a:r>
            <a:endParaRPr 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842988" y="3216409"/>
            <a:ext cx="499235" cy="369332"/>
          </a:xfrm>
          <a:prstGeom prst="rect">
            <a:avLst/>
          </a:prstGeom>
          <a:solidFill>
            <a:schemeClr val="bg1"/>
          </a:solidFill>
        </p:spPr>
        <p:txBody>
          <a:bodyPr wrap="square" rIns="0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-20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31876" y="5620509"/>
            <a:ext cx="499235" cy="369332"/>
          </a:xfrm>
          <a:prstGeom prst="rect">
            <a:avLst/>
          </a:prstGeom>
          <a:solidFill>
            <a:schemeClr val="bg1"/>
          </a:solidFill>
        </p:spPr>
        <p:txBody>
          <a:bodyPr wrap="square" rIns="0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-80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 flipH="1" flipV="1">
            <a:off x="1334654" y="2570985"/>
            <a:ext cx="2193957" cy="4408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 flipV="1">
            <a:off x="3539723" y="2588919"/>
            <a:ext cx="2184069" cy="3274862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3528611" y="2178172"/>
            <a:ext cx="0" cy="41918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H="1" flipV="1">
            <a:off x="3521829" y="2807269"/>
            <a:ext cx="818" cy="48485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2907030" y="3107458"/>
            <a:ext cx="499235" cy="369332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6dB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647425" y="3427792"/>
            <a:ext cx="1333121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Asymptotic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 </a:t>
            </a:r>
          </a:p>
        </p:txBody>
      </p:sp>
      <p:cxnSp>
        <p:nvCxnSpPr>
          <p:cNvPr id="29" name="直接箭头连接符 28"/>
          <p:cNvCxnSpPr/>
          <p:nvPr/>
        </p:nvCxnSpPr>
        <p:spPr>
          <a:xfrm flipV="1">
            <a:off x="3535283" y="3401075"/>
            <a:ext cx="1357" cy="2373749"/>
          </a:xfrm>
          <a:prstGeom prst="straightConnector1">
            <a:avLst/>
          </a:prstGeom>
          <a:ln w="3175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6159586" y="5740339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/>
              <p:cNvSpPr/>
              <p:nvPr/>
            </p:nvSpPr>
            <p:spPr>
              <a:xfrm>
                <a:off x="2099002" y="5896177"/>
                <a:ext cx="83086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9002" y="5896177"/>
                <a:ext cx="83086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/>
              <p:cNvSpPr/>
              <p:nvPr/>
            </p:nvSpPr>
            <p:spPr>
              <a:xfrm>
                <a:off x="3274254" y="5895242"/>
                <a:ext cx="52629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254" y="5895242"/>
                <a:ext cx="52629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本框 33"/>
          <p:cNvSpPr txBox="1"/>
          <p:nvPr/>
        </p:nvSpPr>
        <p:spPr>
          <a:xfrm>
            <a:off x="3944902" y="5903785"/>
            <a:ext cx="33908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4990191" y="5911803"/>
            <a:ext cx="33908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/>
              <p:cNvSpPr/>
              <p:nvPr/>
            </p:nvSpPr>
            <p:spPr>
              <a:xfrm>
                <a:off x="4298111" y="5882328"/>
                <a:ext cx="78277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8111" y="5882328"/>
                <a:ext cx="78277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/>
              <p:cNvSpPr/>
              <p:nvPr/>
            </p:nvSpPr>
            <p:spPr>
              <a:xfrm>
                <a:off x="5197934" y="5882328"/>
                <a:ext cx="91101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矩形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934" y="5882328"/>
                <a:ext cx="91101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/>
          <p:cNvSpPr txBox="1"/>
          <p:nvPr/>
        </p:nvSpPr>
        <p:spPr>
          <a:xfrm>
            <a:off x="1787699" y="5904747"/>
            <a:ext cx="33908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/>
              <p:cNvSpPr/>
              <p:nvPr/>
            </p:nvSpPr>
            <p:spPr>
              <a:xfrm>
                <a:off x="1053848" y="5897810"/>
                <a:ext cx="95910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0.01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矩形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848" y="5897810"/>
                <a:ext cx="95910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本框 41"/>
          <p:cNvSpPr txBox="1"/>
          <p:nvPr/>
        </p:nvSpPr>
        <p:spPr>
          <a:xfrm>
            <a:off x="842988" y="4863365"/>
            <a:ext cx="499235" cy="369332"/>
          </a:xfrm>
          <a:prstGeom prst="rect">
            <a:avLst/>
          </a:prstGeom>
          <a:solidFill>
            <a:schemeClr val="bg1"/>
          </a:solidFill>
        </p:spPr>
        <p:txBody>
          <a:bodyPr wrap="square" rIns="0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-60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46071" y="4043549"/>
            <a:ext cx="499235" cy="369332"/>
          </a:xfrm>
          <a:prstGeom prst="rect">
            <a:avLst/>
          </a:prstGeom>
          <a:solidFill>
            <a:schemeClr val="bg1"/>
          </a:solidFill>
        </p:spPr>
        <p:txBody>
          <a:bodyPr wrap="square" rIns="0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-40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直接箭头连接符 48"/>
          <p:cNvCxnSpPr/>
          <p:nvPr/>
        </p:nvCxnSpPr>
        <p:spPr>
          <a:xfrm flipH="1" flipV="1">
            <a:off x="3659483" y="2731974"/>
            <a:ext cx="1030017" cy="8537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矩形 52"/>
              <p:cNvSpPr/>
              <p:nvPr/>
            </p:nvSpPr>
            <p:spPr>
              <a:xfrm>
                <a:off x="4419736" y="1300038"/>
                <a:ext cx="2456249" cy="658257"/>
              </a:xfrm>
              <a:prstGeom prst="rect">
                <a:avLst/>
              </a:prstGeom>
              <a:ln w="19050">
                <a:solidFill>
                  <a:srgbClr val="0000FF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𝜁</m:t>
                          </m:r>
                          <m:rad>
                            <m:radPr>
                              <m:degHide m:val="on"/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矩形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736" y="1300038"/>
                <a:ext cx="2456249" cy="6582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直接箭头连接符 53"/>
          <p:cNvCxnSpPr/>
          <p:nvPr/>
        </p:nvCxnSpPr>
        <p:spPr>
          <a:xfrm flipH="1">
            <a:off x="3521830" y="1669182"/>
            <a:ext cx="870559" cy="2825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7182914" y="4042352"/>
            <a:ext cx="1333121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矩形 58"/>
              <p:cNvSpPr/>
              <p:nvPr/>
            </p:nvSpPr>
            <p:spPr>
              <a:xfrm>
                <a:off x="6711734" y="3618903"/>
                <a:ext cx="2141944" cy="500393"/>
              </a:xfrm>
              <a:prstGeom prst="rect">
                <a:avLst/>
              </a:prstGeom>
              <a:ln w="22225">
                <a:solidFill>
                  <a:srgbClr val="0000FF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no peak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9" name="矩形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1734" y="3618903"/>
                <a:ext cx="2141944" cy="500393"/>
              </a:xfrm>
              <a:prstGeom prst="rect">
                <a:avLst/>
              </a:prstGeom>
              <a:blipFill>
                <a:blip r:embed="rId9"/>
                <a:stretch>
                  <a:fillRect b="-1163"/>
                </a:stretch>
              </a:blipFill>
              <a:ln w="2222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文本框 59"/>
          <p:cNvSpPr txBox="1"/>
          <p:nvPr/>
        </p:nvSpPr>
        <p:spPr>
          <a:xfrm>
            <a:off x="6721067" y="4277264"/>
            <a:ext cx="2132611" cy="30777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the optimal </a:t>
            </a:r>
            <a:r>
              <a:rPr lang="el-G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ζ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矩形 61"/>
              <p:cNvSpPr/>
              <p:nvPr/>
            </p:nvSpPr>
            <p:spPr>
              <a:xfrm>
                <a:off x="6711734" y="2084224"/>
                <a:ext cx="2141944" cy="1072473"/>
              </a:xfrm>
              <a:prstGeom prst="rect">
                <a:avLst/>
              </a:prstGeom>
              <a:ln w="22225">
                <a:solidFill>
                  <a:srgbClr val="0000FF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peak sharpness is decided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</m:den>
                    </m:f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or the quality factor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2" name="矩形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1734" y="2084224"/>
                <a:ext cx="2141944" cy="1072473"/>
              </a:xfrm>
              <a:prstGeom prst="rect">
                <a:avLst/>
              </a:prstGeom>
              <a:blipFill>
                <a:blip r:embed="rId10"/>
                <a:stretch>
                  <a:fillRect l="-1690" t="-2222" b="-6667"/>
                </a:stretch>
              </a:blipFill>
              <a:ln w="2222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本占位符 5"/>
          <p:cNvSpPr txBox="1">
            <a:spLocks/>
          </p:cNvSpPr>
          <p:nvPr/>
        </p:nvSpPr>
        <p:spPr>
          <a:xfrm>
            <a:off x="4533362" y="0"/>
            <a:ext cx="4610638" cy="2975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400" b="1" kern="12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779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53" grpId="0" animBg="1"/>
      <p:bldP spid="59" grpId="0" animBg="1"/>
      <p:bldP spid="60" grpId="0" animBg="1"/>
      <p:bldP spid="6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Asymptotic Approximation of Phase-Frequency Response of </a:t>
            </a:r>
            <a:r>
              <a:rPr lang="en-US" sz="3600" dirty="0" smtClean="0"/>
              <a:t>2</a:t>
            </a:r>
            <a:r>
              <a:rPr lang="en-US" sz="3600" baseline="30000" dirty="0" smtClean="0"/>
              <a:t>nd</a:t>
            </a:r>
            <a:r>
              <a:rPr lang="en-US" sz="3600" dirty="0" smtClean="0"/>
              <a:t> Order </a:t>
            </a:r>
            <a:r>
              <a:rPr lang="en-US" sz="3600" dirty="0"/>
              <a:t>System</a:t>
            </a:r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365" y="1383301"/>
            <a:ext cx="6339375" cy="4746875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§6.5 1</a:t>
            </a:r>
            <a:r>
              <a:rPr lang="en-US" baseline="30000" dirty="0"/>
              <a:t>st</a:t>
            </a:r>
            <a:r>
              <a:rPr lang="en-US" dirty="0"/>
              <a:t> and 2</a:t>
            </a:r>
            <a:r>
              <a:rPr lang="en-US" baseline="30000" dirty="0"/>
              <a:t>nd</a:t>
            </a:r>
            <a:r>
              <a:rPr lang="en-US" dirty="0"/>
              <a:t> Order CT </a:t>
            </a:r>
            <a:r>
              <a:rPr lang="en-US" dirty="0" smtClean="0"/>
              <a:t>Systems</a:t>
            </a:r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238259" y="5620178"/>
            <a:ext cx="4835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6401693" y="5679831"/>
            <a:ext cx="4835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矩形 9"/>
          <p:cNvSpPr/>
          <p:nvPr/>
        </p:nvSpPr>
        <p:spPr>
          <a:xfrm>
            <a:off x="6572825" y="5496736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2512241" y="5652574"/>
                <a:ext cx="83086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2241" y="5652574"/>
                <a:ext cx="83086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3687493" y="5651639"/>
                <a:ext cx="52629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7493" y="5651639"/>
                <a:ext cx="52629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/>
          <p:cNvSpPr txBox="1"/>
          <p:nvPr/>
        </p:nvSpPr>
        <p:spPr>
          <a:xfrm>
            <a:off x="4358141" y="5660182"/>
            <a:ext cx="33908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5403430" y="5668200"/>
            <a:ext cx="33908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4711350" y="5638725"/>
                <a:ext cx="78277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350" y="5638725"/>
                <a:ext cx="78277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5611173" y="5638725"/>
                <a:ext cx="91101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173" y="5638725"/>
                <a:ext cx="91101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/>
          <p:cNvSpPr txBox="1"/>
          <p:nvPr/>
        </p:nvSpPr>
        <p:spPr>
          <a:xfrm>
            <a:off x="2200938" y="5661144"/>
            <a:ext cx="33908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1467087" y="5654207"/>
                <a:ext cx="95910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0.01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7087" y="5654207"/>
                <a:ext cx="95910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/>
          <p:cNvSpPr txBox="1"/>
          <p:nvPr/>
        </p:nvSpPr>
        <p:spPr>
          <a:xfrm>
            <a:off x="1327617" y="2249780"/>
            <a:ext cx="38908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217468" y="3515706"/>
            <a:ext cx="499235" cy="369332"/>
          </a:xfrm>
          <a:prstGeom prst="rect">
            <a:avLst/>
          </a:prstGeom>
          <a:solidFill>
            <a:schemeClr val="bg1"/>
          </a:solidFill>
        </p:spPr>
        <p:txBody>
          <a:bodyPr wrap="square" rIns="0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l-G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704444" y="1502271"/>
                <a:ext cx="102605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∢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444" y="1502271"/>
                <a:ext cx="1026050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本框 21"/>
          <p:cNvSpPr txBox="1"/>
          <p:nvPr/>
        </p:nvSpPr>
        <p:spPr>
          <a:xfrm>
            <a:off x="1327618" y="4751517"/>
            <a:ext cx="389086" cy="369332"/>
          </a:xfrm>
          <a:prstGeom prst="rect">
            <a:avLst/>
          </a:prstGeom>
          <a:solidFill>
            <a:schemeClr val="bg1"/>
          </a:solidFill>
        </p:spPr>
        <p:txBody>
          <a:bodyPr wrap="square" rIns="0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l-G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 flipH="1" flipV="1">
            <a:off x="3899940" y="3742971"/>
            <a:ext cx="31816" cy="1877207"/>
          </a:xfrm>
          <a:prstGeom prst="straightConnector1">
            <a:avLst/>
          </a:prstGeom>
          <a:ln w="3175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H="1">
            <a:off x="1730494" y="3700372"/>
            <a:ext cx="2169446" cy="0"/>
          </a:xfrm>
          <a:prstGeom prst="straightConnector1">
            <a:avLst/>
          </a:prstGeom>
          <a:ln w="3175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H="1" flipV="1">
            <a:off x="1730494" y="4968240"/>
            <a:ext cx="4727456" cy="6196"/>
          </a:xfrm>
          <a:prstGeom prst="straightConnector1">
            <a:avLst/>
          </a:prstGeom>
          <a:ln w="3175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H="1">
            <a:off x="1730494" y="2382395"/>
            <a:ext cx="1084723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flipH="1" flipV="1">
            <a:off x="2815217" y="2382395"/>
            <a:ext cx="15908" cy="3186615"/>
          </a:xfrm>
          <a:prstGeom prst="straightConnector1">
            <a:avLst/>
          </a:prstGeom>
          <a:ln w="3175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H="1">
            <a:off x="5016479" y="4968240"/>
            <a:ext cx="1627003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 flipV="1">
            <a:off x="5016479" y="4968240"/>
            <a:ext cx="10045" cy="632204"/>
          </a:xfrm>
          <a:prstGeom prst="straightConnector1">
            <a:avLst/>
          </a:prstGeom>
          <a:ln w="3175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H="1" flipV="1">
            <a:off x="2815218" y="2376299"/>
            <a:ext cx="2201261" cy="2591941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5294495" y="3948588"/>
            <a:ext cx="1333121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Asymptotic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 </a:t>
            </a:r>
          </a:p>
        </p:txBody>
      </p:sp>
      <p:cxnSp>
        <p:nvCxnSpPr>
          <p:cNvPr id="44" name="直接箭头连接符 43"/>
          <p:cNvCxnSpPr/>
          <p:nvPr/>
        </p:nvCxnSpPr>
        <p:spPr>
          <a:xfrm flipH="1">
            <a:off x="4732020" y="4106538"/>
            <a:ext cx="604552" cy="50864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/>
        </p:nvSpPr>
        <p:spPr>
          <a:xfrm>
            <a:off x="6958602" y="2960039"/>
            <a:ext cx="1993366" cy="1015663"/>
          </a:xfrm>
          <a:prstGeom prst="rect">
            <a:avLst/>
          </a:prstGeom>
          <a:ln w="22225"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l-GR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phase shift for two left half-plane poles</a:t>
            </a:r>
            <a:endParaRPr lang="en-US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 48"/>
              <p:cNvSpPr/>
              <p:nvPr/>
            </p:nvSpPr>
            <p:spPr>
              <a:xfrm>
                <a:off x="6958602" y="2364532"/>
                <a:ext cx="1993366" cy="369332"/>
              </a:xfrm>
              <a:prstGeom prst="rect">
                <a:avLst/>
              </a:prstGeom>
              <a:ln w="22225">
                <a:solidFill>
                  <a:srgbClr val="0000FF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∢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矩形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8602" y="2364532"/>
                <a:ext cx="1993366" cy="369332"/>
              </a:xfrm>
              <a:prstGeom prst="rect">
                <a:avLst/>
              </a:prstGeom>
              <a:blipFill>
                <a:blip r:embed="rId9"/>
                <a:stretch>
                  <a:fillRect b="-9375"/>
                </a:stretch>
              </a:blipFill>
              <a:ln w="2222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7867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2800" dirty="0" smtClean="0"/>
              <a:t>Impulse Response of </a:t>
            </a:r>
            <a:r>
              <a:rPr lang="en-US" altLang="zh-CN" sz="2800" dirty="0"/>
              <a:t>Second-Order CT </a:t>
            </a:r>
            <a:r>
              <a:rPr lang="en-US" altLang="zh-CN" sz="2800" dirty="0" smtClean="0"/>
              <a:t>System</a:t>
            </a:r>
            <a:endParaRPr lang="en-US" sz="2800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163" y="1436256"/>
            <a:ext cx="5919574" cy="4432531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§6.5 1</a:t>
            </a:r>
            <a:r>
              <a:rPr lang="en-US" baseline="30000" dirty="0"/>
              <a:t>st</a:t>
            </a:r>
            <a:r>
              <a:rPr lang="en-US" dirty="0"/>
              <a:t> and 2</a:t>
            </a:r>
            <a:r>
              <a:rPr lang="en-US" baseline="30000" dirty="0"/>
              <a:t>nd</a:t>
            </a:r>
            <a:r>
              <a:rPr lang="en-US" dirty="0"/>
              <a:t> Order CT </a:t>
            </a:r>
            <a:r>
              <a:rPr lang="en-US" dirty="0" smtClean="0"/>
              <a:t>Systems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059536" y="5448380"/>
                <a:ext cx="451855" cy="53341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536" y="5448380"/>
                <a:ext cx="451855" cy="5334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1511391" y="5430796"/>
                <a:ext cx="451855" cy="53341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391" y="5430796"/>
                <a:ext cx="451855" cy="5334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/>
          <p:cNvSpPr txBox="1"/>
          <p:nvPr/>
        </p:nvSpPr>
        <p:spPr>
          <a:xfrm>
            <a:off x="2501764" y="5414468"/>
            <a:ext cx="306054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1947827" y="5429278"/>
                <a:ext cx="451855" cy="53341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7827" y="5429278"/>
                <a:ext cx="451855" cy="5334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345159" y="1340831"/>
                <a:ext cx="106170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)/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159" y="1340831"/>
                <a:ext cx="1061701" cy="369332"/>
              </a:xfrm>
              <a:prstGeom prst="rect">
                <a:avLst/>
              </a:prstGeom>
              <a:blipFill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5117649" y="5037426"/>
                <a:ext cx="34419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7649" y="5037426"/>
                <a:ext cx="34419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内容占位符 2"/>
              <p:cNvSpPr txBox="1">
                <a:spLocks/>
              </p:cNvSpPr>
              <p:nvPr/>
            </p:nvSpPr>
            <p:spPr>
              <a:xfrm>
                <a:off x="5461847" y="1308100"/>
                <a:ext cx="3566744" cy="362438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6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p"/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u"/>
                  <a:defRPr sz="20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Ø"/>
                  <a:defRPr sz="1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≠1</m:t>
                    </m:r>
                  </m:oMath>
                </a14:m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 smtClean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𝜁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rad>
                      </m:den>
                    </m:f>
                  </m:oMath>
                </a14:m>
                <a:endParaRPr lang="en-US" dirty="0" smtClean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1,2</m:t>
                                </m:r>
                              </m:sub>
                            </m:sSub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𝜁𝜔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𝜁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rad>
                  </m:oMath>
                </a14:m>
                <a:endParaRPr lang="en-US" dirty="0" smtClean="0">
                  <a:ea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 smtClean="0"/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&lt;1,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𝜁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𝜁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ad>
                                  <m:radPr>
                                    <m:deg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𝜁</m:t>
                                        </m:r>
                                      </m:e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e>
                            </m:d>
                          </m:e>
                        </m:func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7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847" y="1308100"/>
                <a:ext cx="3566744" cy="3624385"/>
              </a:xfrm>
              <a:prstGeom prst="rect">
                <a:avLst/>
              </a:prstGeom>
              <a:blipFill>
                <a:blip r:embed="rId8"/>
                <a:stretch>
                  <a:fillRect l="-1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/>
          <p:cNvSpPr/>
          <p:nvPr/>
        </p:nvSpPr>
        <p:spPr>
          <a:xfrm>
            <a:off x="6576897" y="4802514"/>
            <a:ext cx="1333121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115050" y="5037426"/>
            <a:ext cx="2132611" cy="30777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the optimal </a:t>
            </a:r>
            <a:r>
              <a:rPr lang="el-G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ζ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04546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200" dirty="0" smtClean="0"/>
              <a:t>Step Response </a:t>
            </a:r>
            <a:r>
              <a:rPr lang="en-US" altLang="zh-CN" sz="3200" dirty="0"/>
              <a:t>of Second-Order CT System</a:t>
            </a:r>
            <a:endParaRPr lang="en-US" sz="3200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54014"/>
            <a:ext cx="6058862" cy="4536829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84327" y="6356351"/>
            <a:ext cx="2057400" cy="365125"/>
          </a:xfrm>
        </p:spPr>
        <p:txBody>
          <a:bodyPr/>
          <a:lstStyle/>
          <a:p>
            <a:fld id="{2BEAE409-083D-4484-8E90-ADA3961C591A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§6.5 1</a:t>
            </a:r>
            <a:r>
              <a:rPr lang="en-US" baseline="30000" dirty="0"/>
              <a:t>st</a:t>
            </a:r>
            <a:r>
              <a:rPr lang="en-US" dirty="0"/>
              <a:t> and 2</a:t>
            </a:r>
            <a:r>
              <a:rPr lang="en-US" baseline="30000" dirty="0"/>
              <a:t>nd</a:t>
            </a:r>
            <a:r>
              <a:rPr lang="en-US" dirty="0"/>
              <a:t> Order CT </a:t>
            </a:r>
            <a:r>
              <a:rPr lang="en-US" dirty="0" smtClean="0"/>
              <a:t>Systems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059536" y="5448380"/>
                <a:ext cx="451855" cy="53341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536" y="5448380"/>
                <a:ext cx="451855" cy="5334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511391" y="5430796"/>
                <a:ext cx="451855" cy="53341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391" y="5430796"/>
                <a:ext cx="451855" cy="5334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2501764" y="5414468"/>
            <a:ext cx="306054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947827" y="5429278"/>
                <a:ext cx="451855" cy="53341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7827" y="5429278"/>
                <a:ext cx="451855" cy="5334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5117649" y="5037426"/>
                <a:ext cx="34419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7649" y="5037426"/>
                <a:ext cx="34419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735184" y="1263061"/>
                <a:ext cx="6487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184" y="1263061"/>
                <a:ext cx="648704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内容占位符 2"/>
              <p:cNvSpPr txBox="1">
                <a:spLocks/>
              </p:cNvSpPr>
              <p:nvPr/>
            </p:nvSpPr>
            <p:spPr>
              <a:xfrm>
                <a:off x="5461847" y="1308100"/>
                <a:ext cx="3566744" cy="362438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6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p"/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n"/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u"/>
                  <a:defRPr sz="20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Ø"/>
                  <a:defRPr sz="1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≠1</m:t>
                    </m:r>
                  </m:oMath>
                </a14:m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 smtClean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𝜁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rad>
                      </m:den>
                    </m:f>
                  </m:oMath>
                </a14:m>
                <a:endParaRPr lang="en-US" dirty="0" smtClean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1,2</m:t>
                                </m:r>
                              </m:sub>
                            </m:sSub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𝜁𝜔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𝜁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rad>
                  </m:oMath>
                </a14:m>
                <a:endParaRPr lang="en-US" dirty="0" smtClean="0">
                  <a:ea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1, </m:t>
                    </m:r>
                  </m:oMath>
                </a14:m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847" y="1308100"/>
                <a:ext cx="3566744" cy="3624385"/>
              </a:xfrm>
              <a:prstGeom prst="rect">
                <a:avLst/>
              </a:prstGeom>
              <a:blipFill>
                <a:blip r:embed="rId8"/>
                <a:stretch>
                  <a:fillRect l="-1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6668009" y="4830384"/>
            <a:ext cx="1333121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206162" y="5065296"/>
            <a:ext cx="2132611" cy="30777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the optimal </a:t>
            </a:r>
            <a:r>
              <a:rPr lang="el-G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ζ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36709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49" y="365126"/>
            <a:ext cx="8377327" cy="792000"/>
          </a:xfrm>
        </p:spPr>
        <p:txBody>
          <a:bodyPr>
            <a:noAutofit/>
          </a:bodyPr>
          <a:lstStyle/>
          <a:p>
            <a:r>
              <a:rPr lang="en-US" sz="2800" dirty="0" smtClean="0"/>
              <a:t>Bode Plots of </a:t>
            </a:r>
            <a:r>
              <a:rPr lang="en-US" altLang="zh-CN" sz="2800" dirty="0" smtClean="0"/>
              <a:t>Basic </a:t>
            </a:r>
            <a:r>
              <a:rPr lang="en-US" sz="2800" dirty="0" smtClean="0"/>
              <a:t>Rational Frequency Responses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𝜔𝜏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b="0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𝜔𝜏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e>
                        </m:d>
                      </m:e>
                    </m:func>
                  </m:oMath>
                </a14:m>
                <a:endParaRPr lang="en-US" b="0" dirty="0" smtClean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&gt;0                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&lt;0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§6.5 1</a:t>
            </a:r>
            <a:r>
              <a:rPr lang="en-US" baseline="30000" dirty="0"/>
              <a:t>st</a:t>
            </a:r>
            <a:r>
              <a:rPr lang="en-US" dirty="0"/>
              <a:t> and 2</a:t>
            </a:r>
            <a:r>
              <a:rPr lang="en-US" baseline="30000" dirty="0"/>
              <a:t>nd</a:t>
            </a:r>
            <a:r>
              <a:rPr lang="en-US" dirty="0"/>
              <a:t> Order CT </a:t>
            </a:r>
            <a:r>
              <a:rPr lang="en-US" dirty="0" smtClean="0"/>
              <a:t>Systems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063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315" y="1767254"/>
            <a:ext cx="6073759" cy="45479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 6.5 -- Part 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1"/>
                <a:ext cx="7886700" cy="779491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100(1+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(1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)(10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(1+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/10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(1+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/100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1"/>
                <a:ext cx="7886700" cy="779491"/>
              </a:xfrm>
              <a:blipFill>
                <a:blip r:embed="rId3"/>
                <a:stretch>
                  <a:fillRect l="-232" t="-5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§6.5 1</a:t>
            </a:r>
            <a:r>
              <a:rPr lang="en-US" baseline="30000" dirty="0"/>
              <a:t>st</a:t>
            </a:r>
            <a:r>
              <a:rPr lang="en-US" dirty="0"/>
              <a:t> and 2</a:t>
            </a:r>
            <a:r>
              <a:rPr lang="en-US" baseline="30000" dirty="0"/>
              <a:t>nd</a:t>
            </a:r>
            <a:r>
              <a:rPr lang="en-US" dirty="0"/>
              <a:t> Order CT </a:t>
            </a:r>
            <a:r>
              <a:rPr lang="en-US" dirty="0" smtClean="0"/>
              <a:t>Systems</a:t>
            </a:r>
            <a:endParaRPr lang="en-US" dirty="0"/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2263377" y="4464977"/>
            <a:ext cx="4717411" cy="28815"/>
          </a:xfrm>
          <a:prstGeom prst="line">
            <a:avLst/>
          </a:prstGeom>
          <a:ln w="6032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H="1">
            <a:off x="2207038" y="3408296"/>
            <a:ext cx="1459354" cy="4955"/>
          </a:xfrm>
          <a:prstGeom prst="line">
            <a:avLst/>
          </a:prstGeom>
          <a:ln w="47625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3666393" y="2062225"/>
            <a:ext cx="1431881" cy="1333332"/>
          </a:xfrm>
          <a:prstGeom prst="line">
            <a:avLst/>
          </a:prstGeom>
          <a:ln w="47625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 flipV="1">
            <a:off x="2217945" y="3413251"/>
            <a:ext cx="2522731" cy="23419"/>
          </a:xfrm>
          <a:prstGeom prst="line">
            <a:avLst/>
          </a:prstGeom>
          <a:ln w="3492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 flipV="1">
            <a:off x="4746370" y="3408297"/>
            <a:ext cx="1730442" cy="1651975"/>
          </a:xfrm>
          <a:prstGeom prst="line">
            <a:avLst/>
          </a:prstGeom>
          <a:ln w="3492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 flipV="1">
            <a:off x="2270995" y="3418178"/>
            <a:ext cx="3549659" cy="6782"/>
          </a:xfrm>
          <a:prstGeom prst="line">
            <a:avLst/>
          </a:prstGeom>
          <a:ln w="2222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5827204" y="3424960"/>
            <a:ext cx="1250081" cy="1226939"/>
          </a:xfrm>
          <a:prstGeom prst="line">
            <a:avLst/>
          </a:prstGeom>
          <a:ln w="2222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6980787" y="5576543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endParaRPr 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1245656" y="2091407"/>
            <a:ext cx="829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|H(j</a:t>
            </a:r>
            <a:r>
              <a:rPr lang="el-GR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)|</a:t>
            </a:r>
          </a:p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(dB)</a:t>
            </a:r>
            <a:endParaRPr lang="en-US" dirty="0"/>
          </a:p>
        </p:txBody>
      </p:sp>
      <p:cxnSp>
        <p:nvCxnSpPr>
          <p:cNvPr id="41" name="直接连接符 40"/>
          <p:cNvCxnSpPr/>
          <p:nvPr/>
        </p:nvCxnSpPr>
        <p:spPr>
          <a:xfrm flipH="1" flipV="1">
            <a:off x="2254674" y="4473217"/>
            <a:ext cx="1411718" cy="347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H="1">
            <a:off x="3666392" y="3449410"/>
            <a:ext cx="1074284" cy="1057122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 flipH="1" flipV="1">
            <a:off x="4776827" y="3408076"/>
            <a:ext cx="1050377" cy="16884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flipH="1" flipV="1">
            <a:off x="5833755" y="3417929"/>
            <a:ext cx="1141149" cy="1146474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663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 6.5 – Part B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1"/>
                <a:ext cx="7886700" cy="779491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100(1+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(1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)(10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(1+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/10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(1+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/100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1"/>
                <a:ext cx="7886700" cy="779491"/>
              </a:xfrm>
              <a:blipFill>
                <a:blip r:embed="rId2"/>
                <a:stretch>
                  <a:fillRect l="-232" t="-5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§6.5 1</a:t>
            </a:r>
            <a:r>
              <a:rPr lang="en-US" baseline="30000" dirty="0"/>
              <a:t>st</a:t>
            </a:r>
            <a:r>
              <a:rPr lang="en-US" dirty="0"/>
              <a:t> and 2</a:t>
            </a:r>
            <a:r>
              <a:rPr lang="en-US" baseline="30000" dirty="0"/>
              <a:t>nd</a:t>
            </a:r>
            <a:r>
              <a:rPr lang="en-US" dirty="0"/>
              <a:t> Order CT </a:t>
            </a:r>
            <a:r>
              <a:rPr lang="en-US" dirty="0" smtClean="0"/>
              <a:t>Systems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103" y="2065039"/>
            <a:ext cx="5730977" cy="4291312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6576927" y="5675603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endParaRPr lang="en-US" dirty="0"/>
          </a:p>
        </p:txBody>
      </p:sp>
      <p:sp>
        <p:nvSpPr>
          <p:cNvPr id="24" name="文本框 23"/>
          <p:cNvSpPr txBox="1"/>
          <p:nvPr/>
        </p:nvSpPr>
        <p:spPr>
          <a:xfrm>
            <a:off x="1691640" y="3959593"/>
            <a:ext cx="419100" cy="369332"/>
          </a:xfrm>
          <a:prstGeom prst="rect">
            <a:avLst/>
          </a:prstGeom>
          <a:solidFill>
            <a:schemeClr val="bg1"/>
          </a:solidFill>
        </p:spPr>
        <p:txBody>
          <a:bodyPr wrap="square" rIns="0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609443" y="4817564"/>
            <a:ext cx="499235" cy="369332"/>
          </a:xfrm>
          <a:prstGeom prst="rect">
            <a:avLst/>
          </a:prstGeom>
          <a:solidFill>
            <a:schemeClr val="bg1"/>
          </a:solidFill>
        </p:spPr>
        <p:txBody>
          <a:bodyPr wrap="square" rIns="0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l-G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689578" y="2332193"/>
            <a:ext cx="419100" cy="369332"/>
          </a:xfrm>
          <a:prstGeom prst="rect">
            <a:avLst/>
          </a:prstGeom>
          <a:solidFill>
            <a:schemeClr val="bg1"/>
          </a:solidFill>
        </p:spPr>
        <p:txBody>
          <a:bodyPr wrap="square" rIns="0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689578" y="3558721"/>
            <a:ext cx="419100" cy="369332"/>
          </a:xfrm>
          <a:prstGeom prst="rect">
            <a:avLst/>
          </a:prstGeom>
          <a:solidFill>
            <a:schemeClr val="bg1"/>
          </a:solidFill>
        </p:spPr>
        <p:txBody>
          <a:bodyPr wrap="square" rIns="0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609442" y="3103224"/>
            <a:ext cx="499235" cy="369332"/>
          </a:xfrm>
          <a:prstGeom prst="rect">
            <a:avLst/>
          </a:prstGeom>
          <a:solidFill>
            <a:schemeClr val="bg1"/>
          </a:solidFill>
        </p:spPr>
        <p:txBody>
          <a:bodyPr wrap="square" rIns="0" rtlCol="0">
            <a:spAutoFit/>
          </a:bodyPr>
          <a:lstStyle/>
          <a:p>
            <a:r>
              <a:rPr lang="el-G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658784" y="4410503"/>
            <a:ext cx="419100" cy="369332"/>
          </a:xfrm>
          <a:prstGeom prst="rect">
            <a:avLst/>
          </a:prstGeom>
          <a:solidFill>
            <a:schemeClr val="bg1"/>
          </a:solidFill>
        </p:spPr>
        <p:txBody>
          <a:bodyPr wrap="square" rIns="0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/>
              <p:cNvSpPr/>
              <p:nvPr/>
            </p:nvSpPr>
            <p:spPr>
              <a:xfrm>
                <a:off x="1061388" y="2246028"/>
                <a:ext cx="102605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∢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388" y="2246028"/>
                <a:ext cx="1026050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本框 34"/>
          <p:cNvSpPr txBox="1"/>
          <p:nvPr/>
        </p:nvSpPr>
        <p:spPr>
          <a:xfrm>
            <a:off x="1649509" y="2690810"/>
            <a:ext cx="419100" cy="369332"/>
          </a:xfrm>
          <a:prstGeom prst="rect">
            <a:avLst/>
          </a:prstGeom>
          <a:solidFill>
            <a:schemeClr val="bg1"/>
          </a:solidFill>
        </p:spPr>
        <p:txBody>
          <a:bodyPr wrap="square" rIns="0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689578" y="5192302"/>
            <a:ext cx="419100" cy="369332"/>
          </a:xfrm>
          <a:prstGeom prst="rect">
            <a:avLst/>
          </a:prstGeom>
          <a:solidFill>
            <a:schemeClr val="bg1"/>
          </a:solidFill>
        </p:spPr>
        <p:txBody>
          <a:bodyPr wrap="square" rIns="0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664656" y="5831594"/>
            <a:ext cx="419100" cy="369332"/>
          </a:xfrm>
          <a:prstGeom prst="rect">
            <a:avLst/>
          </a:prstGeom>
          <a:solidFill>
            <a:schemeClr val="bg1"/>
          </a:solidFill>
        </p:spPr>
        <p:txBody>
          <a:bodyPr wrap="square" rIns="0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直接连接符 37"/>
          <p:cNvCxnSpPr/>
          <p:nvPr/>
        </p:nvCxnSpPr>
        <p:spPr>
          <a:xfrm flipH="1">
            <a:off x="2445024" y="3287890"/>
            <a:ext cx="2012676" cy="831354"/>
          </a:xfrm>
          <a:prstGeom prst="line">
            <a:avLst/>
          </a:prstGeom>
          <a:ln w="47625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H="1" flipV="1">
            <a:off x="2108677" y="4134092"/>
            <a:ext cx="326778" cy="4609"/>
          </a:xfrm>
          <a:prstGeom prst="line">
            <a:avLst/>
          </a:prstGeom>
          <a:ln w="47625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H="1">
            <a:off x="4457700" y="3246120"/>
            <a:ext cx="2119227" cy="26804"/>
          </a:xfrm>
          <a:prstGeom prst="line">
            <a:avLst/>
          </a:prstGeom>
          <a:ln w="47625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H="1" flipV="1">
            <a:off x="3451362" y="4119244"/>
            <a:ext cx="2065260" cy="882987"/>
          </a:xfrm>
          <a:prstGeom prst="line">
            <a:avLst/>
          </a:prstGeom>
          <a:ln w="3492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H="1">
            <a:off x="5487376" y="5013155"/>
            <a:ext cx="1088166" cy="1309"/>
          </a:xfrm>
          <a:prstGeom prst="line">
            <a:avLst/>
          </a:prstGeom>
          <a:ln w="3492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H="1">
            <a:off x="2232034" y="4119244"/>
            <a:ext cx="1219328" cy="1309"/>
          </a:xfrm>
          <a:prstGeom prst="line">
            <a:avLst/>
          </a:prstGeom>
          <a:ln w="3492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4459146" y="4113437"/>
            <a:ext cx="2063813" cy="888793"/>
          </a:xfrm>
          <a:prstGeom prst="line">
            <a:avLst/>
          </a:prstGeom>
          <a:ln w="2222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V="1">
            <a:off x="2161001" y="4113437"/>
            <a:ext cx="2296699" cy="12234"/>
          </a:xfrm>
          <a:prstGeom prst="line">
            <a:avLst/>
          </a:prstGeom>
          <a:ln w="2222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flipH="1">
            <a:off x="2140477" y="4116341"/>
            <a:ext cx="381003" cy="6443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flipH="1">
            <a:off x="2521481" y="3697442"/>
            <a:ext cx="929881" cy="404687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 flipH="1">
            <a:off x="3449146" y="3686134"/>
            <a:ext cx="1034846" cy="6176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 flipH="1" flipV="1">
            <a:off x="4481775" y="3696424"/>
            <a:ext cx="1035538" cy="898745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 flipH="1" flipV="1">
            <a:off x="5516622" y="4552858"/>
            <a:ext cx="1015907" cy="46581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7311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 animBg="1"/>
      <p:bldP spid="26" grpId="0" animBg="1"/>
      <p:bldP spid="30" grpId="0" animBg="1"/>
      <p:bldP spid="32" grpId="0" animBg="1"/>
      <p:bldP spid="33" grpId="0" animBg="1"/>
      <p:bldP spid="34" grpId="0" animBg="1"/>
      <p:bldP spid="27" grpId="0" animBg="1"/>
      <p:bldP spid="35" grpId="0" animBg="1"/>
      <p:bldP spid="36" grpId="0" animBg="1"/>
      <p:bldP spid="3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内容占位符 1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1" y="761126"/>
            <a:ext cx="7647350" cy="572627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181242" cy="792000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Example </a:t>
            </a:r>
            <a:r>
              <a:rPr lang="en-US" altLang="zh-CN" sz="2800" dirty="0" smtClean="0"/>
              <a:t>6.5: Bode Plot vs. </a:t>
            </a:r>
            <a:r>
              <a:rPr lang="en-US" sz="2800" dirty="0"/>
              <a:t>Asymptotic Approximation 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§6.5 1</a:t>
            </a:r>
            <a:r>
              <a:rPr lang="en-US" baseline="30000" dirty="0"/>
              <a:t>st</a:t>
            </a:r>
            <a:r>
              <a:rPr lang="en-US" dirty="0"/>
              <a:t> and 2</a:t>
            </a:r>
            <a:r>
              <a:rPr lang="en-US" baseline="30000" dirty="0"/>
              <a:t>nd</a:t>
            </a:r>
            <a:r>
              <a:rPr lang="en-US" dirty="0"/>
              <a:t> Order CT </a:t>
            </a:r>
            <a:r>
              <a:rPr lang="en-US" dirty="0" smtClean="0"/>
              <a:t>Systems</a:t>
            </a:r>
            <a:endParaRPr lang="en-US" dirty="0"/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1779186" y="2578608"/>
            <a:ext cx="1939374" cy="17041"/>
          </a:xfrm>
          <a:prstGeom prst="line">
            <a:avLst/>
          </a:prstGeom>
          <a:ln w="349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H="1">
            <a:off x="3718560" y="1469136"/>
            <a:ext cx="944880" cy="1109472"/>
          </a:xfrm>
          <a:prstGeom prst="line">
            <a:avLst/>
          </a:prstGeom>
          <a:ln w="349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>
            <a:off x="4663441" y="1469136"/>
            <a:ext cx="981455" cy="6096"/>
          </a:xfrm>
          <a:prstGeom prst="line">
            <a:avLst/>
          </a:prstGeom>
          <a:ln w="349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 flipV="1">
            <a:off x="5648792" y="1475232"/>
            <a:ext cx="1898056" cy="2218944"/>
          </a:xfrm>
          <a:prstGeom prst="line">
            <a:avLst/>
          </a:prstGeom>
          <a:ln w="349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1779186" y="4525832"/>
            <a:ext cx="969688" cy="3586"/>
          </a:xfrm>
          <a:prstGeom prst="line">
            <a:avLst/>
          </a:prstGeom>
          <a:ln w="349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H="1">
            <a:off x="2748872" y="4017131"/>
            <a:ext cx="969688" cy="505560"/>
          </a:xfrm>
          <a:prstGeom prst="line">
            <a:avLst/>
          </a:prstGeom>
          <a:ln w="349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 flipH="1">
            <a:off x="3693752" y="4013990"/>
            <a:ext cx="994494" cy="21847"/>
          </a:xfrm>
          <a:prstGeom prst="line">
            <a:avLst/>
          </a:prstGeom>
          <a:ln w="349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H="1" flipV="1">
            <a:off x="4663862" y="3996949"/>
            <a:ext cx="938362" cy="1011295"/>
          </a:xfrm>
          <a:prstGeom prst="line">
            <a:avLst/>
          </a:prstGeom>
          <a:ln w="349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H="1" flipV="1">
            <a:off x="5609164" y="5001494"/>
            <a:ext cx="988656" cy="576346"/>
          </a:xfrm>
          <a:prstGeom prst="line">
            <a:avLst/>
          </a:prstGeom>
          <a:ln w="349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flipH="1" flipV="1">
            <a:off x="6597820" y="5577840"/>
            <a:ext cx="955124" cy="6097"/>
          </a:xfrm>
          <a:prstGeom prst="line">
            <a:avLst/>
          </a:prstGeom>
          <a:ln w="3492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7915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Automobile Suspension System</a:t>
            </a:r>
            <a:endParaRPr lang="en-US" dirty="0"/>
          </a:p>
        </p:txBody>
      </p:sp>
      <p:pic>
        <p:nvPicPr>
          <p:cNvPr id="10" name="内容占位符 9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444455" y="1336513"/>
            <a:ext cx="4816546" cy="2980509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sz="half" idx="2"/>
          </p:nvPr>
        </p:nvSpPr>
        <p:spPr>
          <a:xfrm>
            <a:off x="518746" y="4317023"/>
            <a:ext cx="8194431" cy="2039328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 variation of x(t) represents roughness of road surface</a:t>
            </a:r>
          </a:p>
          <a:p>
            <a:r>
              <a:rPr lang="en-US" dirty="0"/>
              <a:t> </a:t>
            </a:r>
            <a:r>
              <a:rPr lang="en-US" dirty="0" smtClean="0"/>
              <a:t>Requirement #1: filter out rapid variations </a:t>
            </a:r>
            <a:r>
              <a:rPr lang="en-US" dirty="0" smtClean="0">
                <a:sym typeface="Wingdings" panose="05000000000000000000" pitchFamily="2" charset="2"/>
              </a:rPr>
              <a:t> lowpass filter</a:t>
            </a:r>
          </a:p>
          <a:p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Requirement #2: no sharp division between </a:t>
            </a:r>
            <a:r>
              <a:rPr lang="en-US" altLang="zh-CN" dirty="0" smtClean="0">
                <a:sym typeface="Wingdings" panose="05000000000000000000" pitchFamily="2" charset="2"/>
              </a:rPr>
              <a:t>frequencies to be passed or rejected  gradual transition </a:t>
            </a:r>
            <a:r>
              <a:rPr lang="en-US" dirty="0" smtClean="0">
                <a:sym typeface="Wingdings" panose="05000000000000000000" pitchFamily="2" charset="2"/>
              </a:rPr>
              <a:t>passband and stopband</a:t>
            </a:r>
          </a:p>
          <a:p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Requirement #3: no oscillatory response when encountering a bump or curb  no ringing in impulse response or step response </a:t>
            </a:r>
          </a:p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6.7 Examples of Time/Frequency Domain Analysis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637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Equations of </a:t>
            </a:r>
            <a:r>
              <a:rPr lang="en-US" sz="3200" dirty="0"/>
              <a:t>Automobile Suspension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内容占位符 8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 smtClean="0"/>
                  <a:t> </a:t>
                </a:r>
                <a:r>
                  <a:rPr lang="en-US" altLang="zh-CN" dirty="0" smtClean="0"/>
                  <a:t>Differential equation: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𝑀𝑎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𝑏𝑣</m:t>
                      </m:r>
                    </m:oMath>
                  </m:oMathPara>
                </a14:m>
                <a:endParaRPr lang="en-US" altLang="zh-CN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CN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𝑀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𝑘𝑦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𝑘𝑥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altLang="zh-CN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Frequency response: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altLang="zh-CN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内容占位符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2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§6.7 Examples of Time/Frequency Domain </a:t>
            </a:r>
            <a:r>
              <a:rPr lang="en-US" dirty="0" smtClean="0"/>
              <a:t>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478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Magnitude-Frequency Response of </a:t>
            </a:r>
            <a:r>
              <a:rPr lang="en-US" dirty="0"/>
              <a:t>Automobile Suspension System</a:t>
            </a:r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212" y="1489149"/>
            <a:ext cx="6246737" cy="4677508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§6.7 Examples of Time/Frequency Domain </a:t>
            </a:r>
            <a:r>
              <a:rPr lang="en-US" dirty="0" smtClean="0"/>
              <a:t>Analysis</a:t>
            </a:r>
            <a:endParaRPr lang="en-US" dirty="0"/>
          </a:p>
        </p:txBody>
      </p:sp>
      <p:sp>
        <p:nvSpPr>
          <p:cNvPr id="10" name="矩形 9"/>
          <p:cNvSpPr/>
          <p:nvPr/>
        </p:nvSpPr>
        <p:spPr>
          <a:xfrm>
            <a:off x="5693551" y="5290444"/>
            <a:ext cx="3369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3298622" y="5722319"/>
                <a:ext cx="52629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8622" y="5722319"/>
                <a:ext cx="52629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1505322" y="5733950"/>
            <a:ext cx="170367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766066" y="1660613"/>
            <a:ext cx="33908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5693551" y="5722319"/>
                <a:ext cx="78277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3551" y="5722319"/>
                <a:ext cx="78277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720834" y="5722319"/>
                <a:ext cx="83086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834" y="5722319"/>
                <a:ext cx="83086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/>
          <p:cNvSpPr txBox="1"/>
          <p:nvPr/>
        </p:nvSpPr>
        <p:spPr>
          <a:xfrm>
            <a:off x="3923832" y="5659776"/>
            <a:ext cx="170367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714691" y="2994494"/>
            <a:ext cx="38908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05182" y="1346819"/>
            <a:ext cx="829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|H(j</a:t>
            </a:r>
            <a:r>
              <a:rPr lang="el-GR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)|</a:t>
            </a:r>
          </a:p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(dB)</a:t>
            </a:r>
            <a:endParaRPr 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570403" y="4143709"/>
            <a:ext cx="499235" cy="369332"/>
          </a:xfrm>
          <a:prstGeom prst="rect">
            <a:avLst/>
          </a:prstGeom>
          <a:solidFill>
            <a:schemeClr val="bg1"/>
          </a:solidFill>
        </p:spPr>
        <p:txBody>
          <a:bodyPr wrap="square" rIns="0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-20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1520" y="5115673"/>
            <a:ext cx="499235" cy="369332"/>
          </a:xfrm>
          <a:prstGeom prst="rect">
            <a:avLst/>
          </a:prstGeom>
          <a:solidFill>
            <a:schemeClr val="bg1"/>
          </a:solidFill>
        </p:spPr>
        <p:txBody>
          <a:bodyPr wrap="square" rIns="0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-40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10398" y="1983778"/>
            <a:ext cx="499235" cy="369332"/>
          </a:xfrm>
          <a:prstGeom prst="rect">
            <a:avLst/>
          </a:prstGeom>
          <a:solidFill>
            <a:schemeClr val="bg1"/>
          </a:solidFill>
        </p:spPr>
        <p:txBody>
          <a:bodyPr wrap="square" rIns="0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394935" y="3867056"/>
            <a:ext cx="2673718" cy="646331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More closer to TF of a single-pole system</a:t>
            </a:r>
          </a:p>
        </p:txBody>
      </p:sp>
    </p:spTree>
    <p:extLst>
      <p:ext uri="{BB962C8B-B14F-4D97-AF65-F5344CB8AC3E}">
        <p14:creationId xmlns:p14="http://schemas.microsoft.com/office/powerpoint/2010/main" val="552193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内容占位符 2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791" y="1224741"/>
            <a:ext cx="6520500" cy="48825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Step Response </a:t>
            </a:r>
            <a:r>
              <a:rPr lang="en-US" altLang="zh-CN" dirty="0"/>
              <a:t>of </a:t>
            </a:r>
            <a:r>
              <a:rPr lang="en-US" dirty="0"/>
              <a:t>Automobile Suspension System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§6.7 Examples of Time/Frequency Domain </a:t>
            </a:r>
            <a:r>
              <a:rPr lang="en-US" dirty="0" smtClean="0"/>
              <a:t>Analysis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3531041" y="5630379"/>
                <a:ext cx="1181636" cy="53341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1041" y="5630379"/>
                <a:ext cx="1181636" cy="5334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986180" y="5630379"/>
                <a:ext cx="451855" cy="53341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180" y="5630379"/>
                <a:ext cx="451855" cy="5334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2792407" y="5618737"/>
                <a:ext cx="882777" cy="53341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2407" y="5618737"/>
                <a:ext cx="882777" cy="5334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4608096" y="5618737"/>
                <a:ext cx="1181636" cy="55201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8096" y="5618737"/>
                <a:ext cx="1181636" cy="5520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5500980" y="5601510"/>
                <a:ext cx="1181636" cy="55201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0980" y="5601510"/>
                <a:ext cx="1181636" cy="5520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5664260" y="5261118"/>
                <a:ext cx="34419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4260" y="5261118"/>
                <a:ext cx="34419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/>
          <p:cNvSpPr txBox="1"/>
          <p:nvPr/>
        </p:nvSpPr>
        <p:spPr>
          <a:xfrm>
            <a:off x="6462343" y="1727572"/>
            <a:ext cx="2549771" cy="1477328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Conflict requirement: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Lowpass filtering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small </a:t>
            </a:r>
            <a:r>
              <a:rPr lang="el-GR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ω</a:t>
            </a:r>
            <a:r>
              <a:rPr lang="en-US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Rapid response  large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ω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394935" y="3867056"/>
            <a:ext cx="2673718" cy="1754326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Trade-off of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ζ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 small ζ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ringing (uncomfortable)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arge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ζ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helps to speeding up settling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Figure 6.34 is not correct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9018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s-</a:t>
            </a:r>
            <a:r>
              <a:rPr lang="en-US" altLang="zh-CN" dirty="0" smtClean="0"/>
              <a:t>Domain Modeling of RLC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 smtClean="0"/>
                  <a:t> resistor: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en-US" dirty="0" smtClean="0"/>
                  <a:t>   apply </a:t>
                </a:r>
                <a:r>
                  <a:rPr lang="en-US" dirty="0"/>
                  <a:t>Laplace transform to both sides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dirty="0" smtClean="0"/>
              </a:p>
              <a:p>
                <a:pPr marL="0" indent="0" algn="ctr">
                  <a:buNone/>
                </a:pPr>
                <a:r>
                  <a:rPr lang="en-US" b="0" dirty="0" smtClean="0">
                    <a:solidFill>
                      <a:srgbClr val="C00000"/>
                    </a:solidFill>
                  </a:rPr>
                  <a:t>Impedance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dirty="0" smtClean="0">
                  <a:solidFill>
                    <a:srgbClr val="C00000"/>
                  </a:solidFill>
                </a:endParaRPr>
              </a:p>
              <a:p>
                <a:r>
                  <a:rPr lang="en-US" dirty="0"/>
                  <a:t> </a:t>
                </a:r>
                <a:r>
                  <a:rPr lang="en-US" dirty="0" smtClean="0"/>
                  <a:t>inductor: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     apply Laplace transform to both sides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dirty="0" smtClean="0"/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Impedance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𝑠𝐿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r>
                  <a:rPr lang="en-US" dirty="0" smtClean="0"/>
                  <a:t> capacitor: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> apply Laplace transform to both sides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𝑠𝐶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dirty="0" smtClean="0"/>
              </a:p>
              <a:p>
                <a:pPr marL="0" indent="0" algn="ctr">
                  <a:buNone/>
                </a:pPr>
                <a:r>
                  <a:rPr lang="en-US" dirty="0" smtClean="0">
                    <a:solidFill>
                      <a:srgbClr val="C00000"/>
                    </a:solidFill>
                  </a:rPr>
                  <a:t>Impedance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𝑠𝐶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 t="-2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S: Transfer Function of Typical Circuits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866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Function of RLC System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S: Transfer Function of Typical </a:t>
            </a:r>
            <a:r>
              <a:rPr lang="en-US" dirty="0" smtClean="0"/>
              <a:t>Circuits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86" y="1521910"/>
            <a:ext cx="3270600" cy="1219332"/>
          </a:xfrm>
          <a:prstGeom prst="rect">
            <a:avLst/>
          </a:prstGeom>
        </p:spPr>
      </p:pic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5721013"/>
              </p:ext>
            </p:extLst>
          </p:nvPr>
        </p:nvGraphicFramePr>
        <p:xfrm>
          <a:off x="4183380" y="1263748"/>
          <a:ext cx="386334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" name="公式" r:id="rId4" imgW="2146300" imgH="419100" progId="Equation.3">
                  <p:embed/>
                </p:oleObj>
              </mc:Choice>
              <mc:Fallback>
                <p:oleObj name="公式" r:id="rId4" imgW="2146300" imgH="419100" progId="Equation.3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3380" y="1263748"/>
                        <a:ext cx="386334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781537"/>
              </p:ext>
            </p:extLst>
          </p:nvPr>
        </p:nvGraphicFramePr>
        <p:xfrm>
          <a:off x="4183378" y="2037510"/>
          <a:ext cx="393192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" name="公式" r:id="rId6" imgW="2184400" imgH="228600" progId="Equation.3">
                  <p:embed/>
                </p:oleObj>
              </mc:Choice>
              <mc:Fallback>
                <p:oleObj name="公式" r:id="rId6" imgW="2184400" imgH="228600" progId="Equation.3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3378" y="2037510"/>
                        <a:ext cx="393192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9506395"/>
              </p:ext>
            </p:extLst>
          </p:nvPr>
        </p:nvGraphicFramePr>
        <p:xfrm>
          <a:off x="4183378" y="2426037"/>
          <a:ext cx="345186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" name="公式" r:id="rId8" imgW="1917700" imgH="419100" progId="Equation.3">
                  <p:embed/>
                </p:oleObj>
              </mc:Choice>
              <mc:Fallback>
                <p:oleObj name="公式" r:id="rId8" imgW="1917700" imgH="419100" progId="Equation.3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3378" y="2426037"/>
                        <a:ext cx="345186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331132" y="4162569"/>
            <a:ext cx="3591542" cy="1219332"/>
            <a:chOff x="331132" y="4162569"/>
            <a:chExt cx="3591542" cy="1219332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7286" y="4162569"/>
              <a:ext cx="3270600" cy="1219332"/>
            </a:xfrm>
            <a:prstGeom prst="rect">
              <a:avLst/>
            </a:prstGeom>
          </p:spPr>
        </p:pic>
        <p:sp>
          <p:nvSpPr>
            <p:cNvPr id="16" name="矩形 15"/>
            <p:cNvSpPr/>
            <p:nvPr/>
          </p:nvSpPr>
          <p:spPr>
            <a:xfrm>
              <a:off x="331132" y="4652643"/>
              <a:ext cx="60785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  <a:t>X(s)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2258115" y="4283311"/>
              <a:ext cx="42832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dirty="0" err="1" smtClean="0">
                  <a:latin typeface="Arial" panose="020B0604020202020204" pitchFamily="34" charset="0"/>
                  <a:cs typeface="Arial" panose="020B0604020202020204" pitchFamily="34" charset="0"/>
                </a:rPr>
                <a:t>sL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2356859" y="4647940"/>
              <a:ext cx="65915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  <a:t>1/</a:t>
              </a:r>
              <a:r>
                <a:rPr lang="en-US" dirty="0" err="1" smtClean="0">
                  <a:latin typeface="Arial" panose="020B0604020202020204" pitchFamily="34" charset="0"/>
                  <a:cs typeface="Arial" panose="020B0604020202020204" pitchFamily="34" charset="0"/>
                </a:rPr>
                <a:t>sC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3314815" y="4587569"/>
              <a:ext cx="60785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  <a:t>Y(s)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下箭头 9"/>
          <p:cNvSpPr/>
          <p:nvPr/>
        </p:nvSpPr>
        <p:spPr>
          <a:xfrm>
            <a:off x="1733909" y="2924355"/>
            <a:ext cx="524206" cy="106104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3922674" y="3977629"/>
                <a:ext cx="2865208" cy="9124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𝑠𝐶</m:t>
                            </m:r>
                          </m:den>
                        </m:f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𝑠𝐿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𝑠𝐶</m:t>
                            </m:r>
                          </m:den>
                        </m:f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2674" y="3977629"/>
                <a:ext cx="2865208" cy="91249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3914040" y="4795300"/>
                <a:ext cx="4418902" cy="8613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𝐿𝐶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𝑠𝑅𝐶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4040" y="4795300"/>
                <a:ext cx="4418902" cy="86132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下箭头 20"/>
          <p:cNvSpPr/>
          <p:nvPr/>
        </p:nvSpPr>
        <p:spPr>
          <a:xfrm>
            <a:off x="5727841" y="3381555"/>
            <a:ext cx="524206" cy="68231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56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9" grpId="0"/>
      <p:bldP spid="20" grpId="0"/>
      <p:bldP spid="2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Modeling of Operational Amplifier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2875085"/>
                <a:ext cx="7886700" cy="3301878"/>
              </a:xfrm>
            </p:spPr>
            <p:txBody>
              <a:bodyPr/>
              <a:lstStyle/>
              <a:p>
                <a:r>
                  <a:rPr lang="en-US" dirty="0" smtClean="0"/>
                  <a:t> Transfer function of operational amplifier: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𝐷𝑒𝑛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virtually open</a:t>
                </a:r>
                <a:r>
                  <a:rPr lang="en-US" dirty="0" smtClean="0"/>
                  <a:t>: input impedance very high </a:t>
                </a:r>
                <a:r>
                  <a:rPr lang="en-US" dirty="0" smtClean="0">
                    <a:sym typeface="Wingdings" panose="05000000000000000000" pitchFamily="2" charset="2"/>
                  </a:rPr>
                  <a:t> no current into </a:t>
                </a:r>
                <a:r>
                  <a:rPr lang="en-US" i="1" dirty="0" smtClean="0">
                    <a:sym typeface="Wingdings" panose="05000000000000000000" pitchFamily="2" charset="2"/>
                  </a:rPr>
                  <a:t>V</a:t>
                </a:r>
                <a:r>
                  <a:rPr lang="en-US" baseline="-25000" dirty="0" smtClean="0">
                    <a:sym typeface="Wingdings" panose="05000000000000000000" pitchFamily="2" charset="2"/>
                  </a:rPr>
                  <a:t>i+</a:t>
                </a:r>
                <a:r>
                  <a:rPr lang="en-US" dirty="0" smtClean="0">
                    <a:sym typeface="Wingdings" panose="05000000000000000000" pitchFamily="2" charset="2"/>
                  </a:rPr>
                  <a:t>/</a:t>
                </a:r>
                <a:r>
                  <a:rPr lang="en-US" i="1" dirty="0" smtClean="0">
                    <a:sym typeface="Wingdings" panose="05000000000000000000" pitchFamily="2" charset="2"/>
                  </a:rPr>
                  <a:t>V</a:t>
                </a:r>
                <a:r>
                  <a:rPr lang="en-US" baseline="-25000" dirty="0" smtClean="0">
                    <a:sym typeface="Wingdings" panose="05000000000000000000" pitchFamily="2" charset="2"/>
                  </a:rPr>
                  <a:t>i</a:t>
                </a:r>
                <a:r>
                  <a:rPr lang="en-US" altLang="zh-CN" baseline="-25000" dirty="0" smtClean="0">
                    <a:sym typeface="Wingdings" panose="05000000000000000000" pitchFamily="2" charset="2"/>
                  </a:rPr>
                  <a:t>-</a:t>
                </a:r>
              </a:p>
              <a:p>
                <a:r>
                  <a:rPr lang="en-US" baseline="-25000" dirty="0">
                    <a:sym typeface="Wingdings" panose="05000000000000000000" pitchFamily="2" charset="2"/>
                  </a:rPr>
                  <a:t> </a:t>
                </a:r>
                <a:r>
                  <a:rPr lang="en-US" b="1" dirty="0">
                    <a:solidFill>
                      <a:srgbClr val="C00000"/>
                    </a:solidFill>
                  </a:rPr>
                  <a:t>virtually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short</a:t>
                </a:r>
                <a:r>
                  <a:rPr lang="en-US" dirty="0" smtClean="0"/>
                  <a:t>: gain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 is huge, and </a:t>
                </a:r>
                <a:r>
                  <a:rPr lang="en-US" i="1" dirty="0">
                    <a:sym typeface="Wingdings" panose="05000000000000000000" pitchFamily="2" charset="2"/>
                  </a:rPr>
                  <a:t>V</a:t>
                </a:r>
                <a:r>
                  <a:rPr lang="en-US" baseline="-25000" dirty="0">
                    <a:sym typeface="Wingdings" panose="05000000000000000000" pitchFamily="2" charset="2"/>
                  </a:rPr>
                  <a:t>i</a:t>
                </a:r>
                <a:r>
                  <a:rPr lang="en-US" baseline="-25000" dirty="0" smtClean="0">
                    <a:sym typeface="Wingdings" panose="05000000000000000000" pitchFamily="2" charset="2"/>
                  </a:rPr>
                  <a:t>+</a:t>
                </a:r>
                <a:r>
                  <a:rPr lang="en-US" dirty="0" smtClean="0">
                    <a:sym typeface="Wingdings" panose="05000000000000000000" pitchFamily="2" charset="2"/>
                  </a:rPr>
                  <a:t>-</a:t>
                </a:r>
                <a:r>
                  <a:rPr lang="en-US" i="1" dirty="0" smtClean="0">
                    <a:sym typeface="Wingdings" panose="05000000000000000000" pitchFamily="2" charset="2"/>
                  </a:rPr>
                  <a:t>V</a:t>
                </a:r>
                <a:r>
                  <a:rPr lang="en-US" baseline="-25000" dirty="0" smtClean="0">
                    <a:sym typeface="Wingdings" panose="05000000000000000000" pitchFamily="2" charset="2"/>
                  </a:rPr>
                  <a:t>i</a:t>
                </a:r>
                <a:r>
                  <a:rPr lang="en-US" altLang="zh-CN" baseline="-25000" dirty="0" smtClean="0">
                    <a:sym typeface="Wingdings" panose="05000000000000000000" pitchFamily="2" charset="2"/>
                  </a:rPr>
                  <a:t>-</a:t>
                </a:r>
                <a:r>
                  <a:rPr lang="en-US" altLang="zh-CN" dirty="0" smtClean="0">
                    <a:sym typeface="Wingdings" panose="05000000000000000000" pitchFamily="2" charset="2"/>
                  </a:rPr>
                  <a:t>≈0</a:t>
                </a:r>
                <a:endParaRPr lang="en-US" altLang="zh-CN" baseline="-25000" dirty="0">
                  <a:sym typeface="Wingdings" panose="05000000000000000000" pitchFamily="2" charset="2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875085"/>
                <a:ext cx="7886700" cy="3301878"/>
              </a:xfrm>
              <a:blipFill>
                <a:blip r:embed="rId2"/>
                <a:stretch>
                  <a:fillRect l="-1314" t="-3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S: Transfer Function of Typical </a:t>
            </a:r>
            <a:r>
              <a:rPr lang="en-US" dirty="0" smtClean="0"/>
              <a:t>Circuits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3341" y="1336514"/>
            <a:ext cx="2681165" cy="1256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154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Active RC Filter (Integrator)</a:t>
            </a:r>
            <a:endParaRPr 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775382" y="1336514"/>
            <a:ext cx="2628900" cy="17618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7"/>
              <p:cNvSpPr>
                <a:spLocks noGrp="1"/>
              </p:cNvSpPr>
              <p:nvPr>
                <p:ph sz="half" idx="2"/>
              </p:nvPr>
            </p:nvSpPr>
            <p:spPr>
              <a:xfrm>
                <a:off x="532661" y="3071674"/>
                <a:ext cx="8265110" cy="3105289"/>
              </a:xfrm>
            </p:spPr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 smtClean="0"/>
                  <a:t> Only consider that the amplifier has a constant gain </a:t>
                </a:r>
                <a:r>
                  <a:rPr lang="en-US" i="1" dirty="0" smtClean="0"/>
                  <a:t>A</a:t>
                </a:r>
                <a:r>
                  <a:rPr lang="en-US" baseline="-25000" dirty="0" smtClean="0"/>
                  <a:t>0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𝐼𝑁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𝑂𝑈𝑇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1/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𝑠𝐶</m:t>
                                </m:r>
                              </m:den>
                            </m:f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𝑂𝑈𝑇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</m:eqArr>
                      </m:e>
                    </m:d>
                  </m:oMath>
                </a14:m>
                <a:r>
                  <a:rPr lang="en-US" dirty="0" smtClean="0"/>
                  <a:t> 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à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𝑂𝑈𝑇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𝐼𝑁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</m:oMath>
                </a14:m>
                <a:r>
                  <a:rPr lang="en-US" dirty="0" smtClean="0"/>
                  <a:t>=-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𝑠𝑅𝐶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𝑠𝑅𝐶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à"/>
                </a:pPr>
                <a:r>
                  <a:rPr lang="en-US" dirty="0"/>
                  <a:t> Only consider that the amplifier has a constant gain </a:t>
                </a:r>
                <a:r>
                  <a:rPr lang="en-US" i="1" dirty="0"/>
                  <a:t>A</a:t>
                </a:r>
                <a:r>
                  <a:rPr lang="en-US" baseline="-25000" dirty="0"/>
                  <a:t>0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700" dirty="0"/>
                  <a:t> </a:t>
                </a:r>
                <a:r>
                  <a:rPr lang="en-US" sz="2900" dirty="0" smtClean="0"/>
                  <a:t>If </a:t>
                </a:r>
                <a:r>
                  <a:rPr lang="en-US" sz="2900" dirty="0"/>
                  <a:t>directly using “virtually short”,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90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90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d>
                      <m:d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90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9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9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90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90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900">
                                <a:latin typeface="Cambria Math" panose="02040503050406030204" pitchFamily="18" charset="0"/>
                              </a:rPr>
                              <m:t>𝐼𝑁</m:t>
                            </m:r>
                          </m:sub>
                        </m:sSub>
                        <m:d>
                          <m:dPr>
                            <m:ctrlPr>
                              <a:rPr lang="en-US" sz="2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90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r>
                          <a:rPr lang="en-US" sz="290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 sz="29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90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900">
                                <a:latin typeface="Cambria Math" panose="02040503050406030204" pitchFamily="18" charset="0"/>
                              </a:rPr>
                              <m:t>𝑂𝑈𝑇</m:t>
                            </m:r>
                          </m:sub>
                        </m:sSub>
                        <m:d>
                          <m:dPr>
                            <m:ctrlPr>
                              <a:rPr lang="en-US" sz="2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90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r>
                          <a:rPr lang="en-US" sz="2900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sz="2900">
                            <a:latin typeface="Cambria Math" panose="02040503050406030204" pitchFamily="18" charset="0"/>
                          </a:rPr>
                          <m:t>𝑠𝐶</m:t>
                        </m:r>
                      </m:den>
                    </m:f>
                  </m:oMath>
                </a14:m>
                <a:r>
                  <a:rPr lang="en-US" sz="2900" dirty="0" smtClean="0"/>
                  <a:t>   …….</a:t>
                </a:r>
                <a:endParaRPr lang="en-US" sz="290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内容占位符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32661" y="3071674"/>
                <a:ext cx="8265110" cy="3105289"/>
              </a:xfrm>
              <a:blipFill>
                <a:blip r:embed="rId3"/>
                <a:stretch>
                  <a:fillRect l="-442" t="-1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S: Transfer Function of Typical </a:t>
            </a:r>
            <a:r>
              <a:rPr lang="en-US" dirty="0" smtClean="0"/>
              <a:t>Circuits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6206162" y="5065296"/>
                <a:ext cx="2436676" cy="435504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Q: </a:t>
                </a:r>
                <a:r>
                  <a:rPr lang="en-US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 </a:t>
                </a:r>
                <a:r>
                  <a:rPr lang="en-US" altLang="zh-CN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d>
                      <m:dPr>
                        <m:ctrlPr>
                          <a:rPr lang="en-US" altLang="zh-CN" sz="1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1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𝑁𝑢𝑚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𝐷𝑒𝑛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6162" y="5065296"/>
                <a:ext cx="2436676" cy="435504"/>
              </a:xfrm>
              <a:prstGeom prst="rect">
                <a:avLst/>
              </a:prstGeom>
              <a:blipFill>
                <a:blip r:embed="rId4"/>
                <a:stretch>
                  <a:fillRect l="-498" b="-2740"/>
                </a:stretch>
              </a:blipFill>
              <a:ln w="952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1210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Active RC Filter </a:t>
            </a:r>
            <a:r>
              <a:rPr lang="en-US" altLang="zh-CN" dirty="0" smtClean="0"/>
              <a:t>(Lowpass)</a:t>
            </a:r>
            <a:endParaRPr lang="en-US" dirty="0"/>
          </a:p>
        </p:txBody>
      </p:sp>
      <p:pic>
        <p:nvPicPr>
          <p:cNvPr id="12" name="内容占位符 11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755106" y="1419671"/>
            <a:ext cx="2968685" cy="21992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内容占位符 9"/>
              <p:cNvSpPr>
                <a:spLocks noGrp="1"/>
              </p:cNvSpPr>
              <p:nvPr>
                <p:ph sz="half" idx="2"/>
              </p:nvPr>
            </p:nvSpPr>
            <p:spPr>
              <a:xfrm>
                <a:off x="826477" y="3798277"/>
                <a:ext cx="7688873" cy="2378686"/>
              </a:xfrm>
            </p:spPr>
            <p:txBody>
              <a:bodyPr/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𝑂𝑈𝑇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𝐼𝑁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</m:oMath>
                </a14:m>
                <a:r>
                  <a:rPr lang="en-US" dirty="0"/>
                  <a:t>=-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𝑠𝐶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𝑠𝐶</m:t>
                            </m:r>
                          </m:den>
                        </m:f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𝑠𝑅𝐶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内容占位符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26477" y="3798277"/>
                <a:ext cx="7688873" cy="2378686"/>
              </a:xfrm>
              <a:blipFill>
                <a:blip r:embed="rId3"/>
                <a:stretch>
                  <a:fillRect l="-14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S: Transfer Function of Typical </a:t>
            </a:r>
            <a:r>
              <a:rPr lang="en-US" dirty="0" smtClean="0"/>
              <a:t>Circuits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996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Active RC Filter 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Highpass</a:t>
            </a:r>
            <a:r>
              <a:rPr lang="en-US" altLang="zh-CN" dirty="0"/>
              <a:t>)</a:t>
            </a:r>
            <a:endParaRPr lang="en-US" dirty="0"/>
          </a:p>
        </p:txBody>
      </p:sp>
      <p:pic>
        <p:nvPicPr>
          <p:cNvPr id="8" name="内容占位符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028950" y="1414200"/>
            <a:ext cx="3266342" cy="24652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1204546" y="4220308"/>
                <a:ext cx="7310804" cy="1956655"/>
              </a:xfrm>
            </p:spPr>
            <p:txBody>
              <a:bodyPr/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𝑂𝑈𝑇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𝐼𝑁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</m:oMath>
                </a14:m>
                <a:r>
                  <a:rPr lang="en-US" dirty="0"/>
                  <a:t>=-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𝑠𝐿</m:t>
                            </m:r>
                          </m:den>
                        </m:f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内容占位符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204546" y="4220308"/>
                <a:ext cx="7310804" cy="1956655"/>
              </a:xfrm>
              <a:blipFill>
                <a:blip r:embed="rId3"/>
                <a:stretch>
                  <a:fillRect l="-1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S: Transfer Function of Typical </a:t>
            </a:r>
            <a:r>
              <a:rPr lang="en-US" dirty="0" smtClean="0"/>
              <a:t>Circuits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943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Active RC Filter (</a:t>
            </a:r>
            <a:r>
              <a:rPr lang="en-US" altLang="zh-CN" dirty="0" err="1"/>
              <a:t>Highpass</a:t>
            </a:r>
            <a:r>
              <a:rPr lang="en-US" altLang="zh-CN" dirty="0"/>
              <a:t>)</a:t>
            </a:r>
            <a:endParaRPr lang="en-US" dirty="0"/>
          </a:p>
        </p:txBody>
      </p:sp>
      <p:pic>
        <p:nvPicPr>
          <p:cNvPr id="8" name="内容占位符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681653" y="1336513"/>
            <a:ext cx="4043900" cy="2813456"/>
          </a:xfrm>
          <a:prstGeom prst="rect">
            <a:avLst/>
          </a:prstGeom>
        </p:spPr>
      </p:pic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75946" y="4791807"/>
            <a:ext cx="7539404" cy="138515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Transfer Function?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S: Transfer Function of </a:t>
            </a:r>
            <a:r>
              <a:rPr lang="en-US" dirty="0" smtClean="0"/>
              <a:t>Typical </a:t>
            </a:r>
            <a:r>
              <a:rPr lang="en-US" dirty="0"/>
              <a:t>Circuits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837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95351"/>
            <a:ext cx="7886700" cy="792000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Active RC Filter </a:t>
            </a:r>
            <a:r>
              <a:rPr lang="en-US" altLang="zh-CN" sz="2800" dirty="0" smtClean="0"/>
              <a:t>(Lowpass with Finite Attenuation)</a:t>
            </a:r>
            <a:endParaRPr lang="en-US" sz="2800" dirty="0"/>
          </a:p>
        </p:txBody>
      </p:sp>
      <p:pic>
        <p:nvPicPr>
          <p:cNvPr id="8" name="内容占位符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850264" y="1300935"/>
            <a:ext cx="3786832" cy="2618009"/>
          </a:xfrm>
          <a:prstGeom prst="rect">
            <a:avLst/>
          </a:prstGeom>
        </p:spPr>
      </p:pic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56138" y="4475285"/>
            <a:ext cx="7759212" cy="1701678"/>
          </a:xfrm>
        </p:spPr>
        <p:txBody>
          <a:bodyPr/>
          <a:lstStyle/>
          <a:p>
            <a:r>
              <a:rPr lang="en-US" altLang="zh-CN" dirty="0" smtClean="0"/>
              <a:t>Transfer Function?</a:t>
            </a:r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S: Transfer Function of Typical </a:t>
            </a:r>
            <a:r>
              <a:rPr lang="en-US" dirty="0" smtClean="0"/>
              <a:t>Circuits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616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Summary</a:t>
            </a:r>
            <a:endParaRPr 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Definition of Bode plot</a:t>
            </a:r>
          </a:p>
          <a:p>
            <a:r>
              <a:rPr lang="en-US" dirty="0"/>
              <a:t> </a:t>
            </a:r>
            <a:r>
              <a:rPr lang="en-US" dirty="0" smtClean="0"/>
              <a:t>Bode plots of 1</a:t>
            </a:r>
            <a:r>
              <a:rPr lang="en-US" baseline="30000" dirty="0" smtClean="0"/>
              <a:t>st</a:t>
            </a:r>
            <a:r>
              <a:rPr lang="en-US" dirty="0" smtClean="0"/>
              <a:t> order and 2</a:t>
            </a:r>
            <a:r>
              <a:rPr lang="en-US" baseline="30000" dirty="0" smtClean="0"/>
              <a:t>nd</a:t>
            </a:r>
            <a:r>
              <a:rPr lang="en-US" dirty="0" smtClean="0"/>
              <a:t> order system</a:t>
            </a:r>
          </a:p>
          <a:p>
            <a:r>
              <a:rPr lang="en-US" dirty="0"/>
              <a:t> </a:t>
            </a:r>
            <a:r>
              <a:rPr lang="en-US" dirty="0" smtClean="0"/>
              <a:t>Transfer functions of simple circuits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s-domain modeling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transfer </a:t>
            </a:r>
            <a:r>
              <a:rPr lang="en-US" smtClean="0"/>
              <a:t>function analysis</a:t>
            </a:r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598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15198</TotalTime>
  <Words>5683</Words>
  <Application>Microsoft Office PowerPoint</Application>
  <PresentationFormat>全屏显示(4:3)</PresentationFormat>
  <Paragraphs>508</Paragraphs>
  <Slides>45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6" baseType="lpstr">
      <vt:lpstr>等线</vt:lpstr>
      <vt:lpstr>宋体</vt:lpstr>
      <vt:lpstr>微软雅黑</vt:lpstr>
      <vt:lpstr>微软雅黑</vt:lpstr>
      <vt:lpstr>Arial</vt:lpstr>
      <vt:lpstr>Cambria Math</vt:lpstr>
      <vt:lpstr>Times New Roman</vt:lpstr>
      <vt:lpstr>Wingdings</vt:lpstr>
      <vt:lpstr>Wingdings 2</vt:lpstr>
      <vt:lpstr>Office 主题​​</vt:lpstr>
      <vt:lpstr>公式</vt:lpstr>
      <vt:lpstr>PowerPoint 演示文稿</vt:lpstr>
      <vt:lpstr>Chapter 6  Time and Frequency Characterization of Signals and Systems</vt:lpstr>
      <vt:lpstr>Outline</vt:lpstr>
      <vt:lpstr>Magnitude and Phase Response</vt:lpstr>
      <vt:lpstr>Linear Phase</vt:lpstr>
      <vt:lpstr>Linear Phase Shift = Time Shift</vt:lpstr>
      <vt:lpstr>All-Pass System</vt:lpstr>
      <vt:lpstr>Example 6.1</vt:lpstr>
      <vt:lpstr>Group Delay</vt:lpstr>
      <vt:lpstr>Principal vs. Unwrapped Phase</vt:lpstr>
      <vt:lpstr>Principal vs. Unwrapped Phase (cont’)</vt:lpstr>
      <vt:lpstr>Additive Relationship </vt:lpstr>
      <vt:lpstr>Unit of Decibel (dB)</vt:lpstr>
      <vt:lpstr>Bode Plot</vt:lpstr>
      <vt:lpstr>Typical Bode Diagram</vt:lpstr>
      <vt:lpstr>First-Order Continuous-Time System</vt:lpstr>
      <vt:lpstr>System Response of First-Order Continuous-Time System</vt:lpstr>
      <vt:lpstr>System Response of First-Order Continuous-Time System (Cont’)</vt:lpstr>
      <vt:lpstr>Asymptotic Approximation of Magnitude-Frequency Response of 1st Order System</vt:lpstr>
      <vt:lpstr>Asymptotic Approximation of Magnitude-Frequency Response of 1st Order System (cont’)</vt:lpstr>
      <vt:lpstr>Asymptotic Approximation of Phase-Frequency Response of 1st Order System</vt:lpstr>
      <vt:lpstr>Asymptotic Approximation of Phase-Frequency Response of 1st Order System (cont’)</vt:lpstr>
      <vt:lpstr>Second-Order CT Systems</vt:lpstr>
      <vt:lpstr>Asymptotic Approximation of Magnitude-Frequency Response of 2nd Order System</vt:lpstr>
      <vt:lpstr>Asymptotic Approximation of Magnitude-Frequency Response of 2nd Order System (cont’)</vt:lpstr>
      <vt:lpstr>Asymptotic Approximation of Phase-Frequency Response of 2nd Order System</vt:lpstr>
      <vt:lpstr>Impulse Response of Second-Order CT System</vt:lpstr>
      <vt:lpstr>Step Response of Second-Order CT System</vt:lpstr>
      <vt:lpstr>Bode Plots of Basic Rational Frequency Responses</vt:lpstr>
      <vt:lpstr>Example 6.5 -- Part A</vt:lpstr>
      <vt:lpstr>Example 6.5 – Part B</vt:lpstr>
      <vt:lpstr>Example 6.5: Bode Plot vs. Asymptotic Approximation </vt:lpstr>
      <vt:lpstr>Automobile Suspension System</vt:lpstr>
      <vt:lpstr>Equations of Automobile Suspension System</vt:lpstr>
      <vt:lpstr>Magnitude-Frequency Response of Automobile Suspension System</vt:lpstr>
      <vt:lpstr>Step Response of Automobile Suspension System</vt:lpstr>
      <vt:lpstr>s-Domain Modeling of RLC</vt:lpstr>
      <vt:lpstr>System Function of RLC System</vt:lpstr>
      <vt:lpstr>Modeling of Operational Amplifier</vt:lpstr>
      <vt:lpstr>Active RC Filter (Integrator)</vt:lpstr>
      <vt:lpstr>Active RC Filter (Lowpass)</vt:lpstr>
      <vt:lpstr>Active RC Filter (Highpass)</vt:lpstr>
      <vt:lpstr>Active RC Filter (Highpass)</vt:lpstr>
      <vt:lpstr>Active RC Filter (Lowpass with Finite Attenuation)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Hanjun Jiang</dc:creator>
  <cp:lastModifiedBy>Hanjun Jiang</cp:lastModifiedBy>
  <cp:revision>893</cp:revision>
  <dcterms:created xsi:type="dcterms:W3CDTF">2018-09-11T08:26:55Z</dcterms:created>
  <dcterms:modified xsi:type="dcterms:W3CDTF">2020-11-24T16:43:42Z</dcterms:modified>
</cp:coreProperties>
</file>