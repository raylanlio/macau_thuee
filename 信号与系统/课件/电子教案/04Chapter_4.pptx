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365" r:id="rId2"/>
    <p:sldId id="256" r:id="rId3"/>
    <p:sldId id="342" r:id="rId4"/>
    <p:sldId id="287" r:id="rId5"/>
    <p:sldId id="307" r:id="rId6"/>
    <p:sldId id="309" r:id="rId7"/>
    <p:sldId id="308" r:id="rId8"/>
    <p:sldId id="310" r:id="rId9"/>
    <p:sldId id="311" r:id="rId10"/>
    <p:sldId id="312" r:id="rId11"/>
    <p:sldId id="313" r:id="rId12"/>
    <p:sldId id="314" r:id="rId13"/>
    <p:sldId id="315" r:id="rId14"/>
    <p:sldId id="317" r:id="rId15"/>
    <p:sldId id="318" r:id="rId16"/>
    <p:sldId id="319" r:id="rId17"/>
    <p:sldId id="320" r:id="rId18"/>
    <p:sldId id="322" r:id="rId19"/>
    <p:sldId id="321" r:id="rId20"/>
    <p:sldId id="323" r:id="rId21"/>
    <p:sldId id="324" r:id="rId22"/>
    <p:sldId id="327" r:id="rId23"/>
    <p:sldId id="325" r:id="rId24"/>
    <p:sldId id="326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66" r:id="rId37"/>
    <p:sldId id="344" r:id="rId38"/>
    <p:sldId id="339" r:id="rId39"/>
    <p:sldId id="340" r:id="rId40"/>
    <p:sldId id="341" r:id="rId41"/>
    <p:sldId id="363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61" r:id="rId50"/>
    <p:sldId id="362" r:id="rId51"/>
    <p:sldId id="352" r:id="rId52"/>
    <p:sldId id="353" r:id="rId53"/>
    <p:sldId id="354" r:id="rId54"/>
    <p:sldId id="355" r:id="rId55"/>
    <p:sldId id="357" r:id="rId56"/>
    <p:sldId id="356" r:id="rId57"/>
    <p:sldId id="358" r:id="rId58"/>
    <p:sldId id="359" r:id="rId59"/>
    <p:sldId id="360" r:id="rId60"/>
    <p:sldId id="343" r:id="rId61"/>
    <p:sldId id="364" r:id="rId6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5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4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4" Type="http://schemas.openxmlformats.org/officeDocument/2006/relationships/image" Target="../media/image8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28.wmf"/><Relationship Id="rId1" Type="http://schemas.openxmlformats.org/officeDocument/2006/relationships/image" Target="../media/image24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4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4" Type="http://schemas.openxmlformats.org/officeDocument/2006/relationships/image" Target="../media/image109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4.wmf"/><Relationship Id="rId12" Type="http://schemas.openxmlformats.org/officeDocument/2006/relationships/image" Target="../media/image139.wmf"/><Relationship Id="rId2" Type="http://schemas.openxmlformats.org/officeDocument/2006/relationships/image" Target="../media/image129.wmf"/><Relationship Id="rId1" Type="http://schemas.openxmlformats.org/officeDocument/2006/relationships/image" Target="../media/image53.wmf"/><Relationship Id="rId6" Type="http://schemas.openxmlformats.org/officeDocument/2006/relationships/image" Target="../media/image133.wmf"/><Relationship Id="rId11" Type="http://schemas.openxmlformats.org/officeDocument/2006/relationships/image" Target="../media/image138.wmf"/><Relationship Id="rId5" Type="http://schemas.openxmlformats.org/officeDocument/2006/relationships/image" Target="../media/image132.wmf"/><Relationship Id="rId10" Type="http://schemas.openxmlformats.org/officeDocument/2006/relationships/image" Target="../media/image137.wmf"/><Relationship Id="rId4" Type="http://schemas.openxmlformats.org/officeDocument/2006/relationships/image" Target="../media/image131.wmf"/><Relationship Id="rId9" Type="http://schemas.openxmlformats.org/officeDocument/2006/relationships/image" Target="../media/image136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4" Type="http://schemas.openxmlformats.org/officeDocument/2006/relationships/image" Target="../media/image15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52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wmf"/><Relationship Id="rId1" Type="http://schemas.openxmlformats.org/officeDocument/2006/relationships/image" Target="../media/image17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4" Type="http://schemas.openxmlformats.org/officeDocument/2006/relationships/image" Target="../media/image181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4" Type="http://schemas.openxmlformats.org/officeDocument/2006/relationships/image" Target="../media/image203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Relationship Id="rId5" Type="http://schemas.openxmlformats.org/officeDocument/2006/relationships/image" Target="../media/image208.wmf"/><Relationship Id="rId4" Type="http://schemas.openxmlformats.org/officeDocument/2006/relationships/image" Target="../media/image207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Relationship Id="rId6" Type="http://schemas.openxmlformats.org/officeDocument/2006/relationships/image" Target="../media/image205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69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56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9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8.emf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0.wmf"/><Relationship Id="rId9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9.emf"/><Relationship Id="rId4" Type="http://schemas.openxmlformats.org/officeDocument/2006/relationships/image" Target="../media/image3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6.bin"/><Relationship Id="rId7" Type="http://schemas.openxmlformats.org/officeDocument/2006/relationships/image" Target="../media/image44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wmf"/><Relationship Id="rId11" Type="http://schemas.openxmlformats.org/officeDocument/2006/relationships/image" Target="../media/image43.wmf"/><Relationship Id="rId5" Type="http://schemas.openxmlformats.org/officeDocument/2006/relationships/oleObject" Target="../embeddings/oleObject37.bin"/><Relationship Id="rId10" Type="http://schemas.openxmlformats.org/officeDocument/2006/relationships/oleObject" Target="../embeddings/oleObject39.bin"/><Relationship Id="rId4" Type="http://schemas.openxmlformats.org/officeDocument/2006/relationships/image" Target="../media/image40.wmf"/><Relationship Id="rId9" Type="http://schemas.openxmlformats.org/officeDocument/2006/relationships/image" Target="../media/image4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40.bin"/><Relationship Id="rId7" Type="http://schemas.openxmlformats.org/officeDocument/2006/relationships/image" Target="../media/image48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5.wmf"/><Relationship Id="rId9" Type="http://schemas.openxmlformats.org/officeDocument/2006/relationships/image" Target="../media/image4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4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image" Target="../media/image58.wmf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8.bin"/><Relationship Id="rId14" Type="http://schemas.openxmlformats.org/officeDocument/2006/relationships/oleObject" Target="../embeddings/oleObject5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6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image" Target="../media/image12.emf"/><Relationship Id="rId7" Type="http://schemas.openxmlformats.org/officeDocument/2006/relationships/image" Target="../media/image6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6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9.wmf"/><Relationship Id="rId11" Type="http://schemas.openxmlformats.org/officeDocument/2006/relationships/image" Target="../media/image82.e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7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84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7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8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93.emf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40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10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1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19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35.wmf"/><Relationship Id="rId26" Type="http://schemas.openxmlformats.org/officeDocument/2006/relationships/image" Target="../media/image139.w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22.bin"/><Relationship Id="rId25" Type="http://schemas.openxmlformats.org/officeDocument/2006/relationships/oleObject" Target="../embeddings/oleObject126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38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4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4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3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4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54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53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4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4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51.bin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65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6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58.bin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9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68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7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73.emf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74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7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81.wmf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6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emf"/><Relationship Id="rId3" Type="http://schemas.openxmlformats.org/officeDocument/2006/relationships/oleObject" Target="../embeddings/oleObject168.bin"/><Relationship Id="rId7" Type="http://schemas.openxmlformats.org/officeDocument/2006/relationships/image" Target="../media/image18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69.bin"/><Relationship Id="rId5" Type="http://schemas.openxmlformats.org/officeDocument/2006/relationships/image" Target="../media/image184.emf"/><Relationship Id="rId4" Type="http://schemas.openxmlformats.org/officeDocument/2006/relationships/image" Target="../media/image18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9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0" Type="http://schemas.openxmlformats.org/officeDocument/2006/relationships/image" Target="../media/image189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17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92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91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7" Type="http://schemas.openxmlformats.org/officeDocument/2006/relationships/image" Target="../media/image194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193.wmf"/><Relationship Id="rId4" Type="http://schemas.openxmlformats.org/officeDocument/2006/relationships/oleObject" Target="../embeddings/oleObject177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emf"/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8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8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203.wmf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18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203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20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207.wmf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187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194.bin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21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212.wmf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205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69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0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9136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4068" y="1122363"/>
            <a:ext cx="8402127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Chapter </a:t>
            </a:r>
            <a:r>
              <a:rPr lang="en-US" altLang="zh-CN" dirty="0"/>
              <a:t>4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4900" dirty="0" smtClean="0"/>
              <a:t>Continuous-Time Fourier Transform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Recall: Fourier Series for Periodic Signals</a:t>
            </a:r>
            <a:endParaRPr lang="en-US" sz="3600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628650" y="1308100"/>
            <a:ext cx="8094726" cy="342352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Continuous-time Fourier </a:t>
            </a:r>
            <a:r>
              <a:rPr lang="en-US" altLang="zh-CN" dirty="0" smtClean="0"/>
              <a:t>s</a:t>
            </a:r>
            <a:r>
              <a:rPr lang="en-US" dirty="0" smtClean="0"/>
              <a:t>eries for </a:t>
            </a:r>
            <a:r>
              <a:rPr lang="en-US" b="1" u="sng" dirty="0" smtClean="0">
                <a:solidFill>
                  <a:srgbClr val="FF0000"/>
                </a:solidFill>
              </a:rPr>
              <a:t>periodic</a:t>
            </a:r>
            <a:r>
              <a:rPr lang="en-US" dirty="0" smtClean="0"/>
              <a:t> signals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System function  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 Frequency </a:t>
            </a:r>
            <a:r>
              <a:rPr lang="en-US" b="1" dirty="0">
                <a:solidFill>
                  <a:srgbClr val="C00000"/>
                </a:solidFill>
              </a:rPr>
              <a:t>response</a:t>
            </a: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953127"/>
              </p:ext>
            </p:extLst>
          </p:nvPr>
        </p:nvGraphicFramePr>
        <p:xfrm>
          <a:off x="3806190" y="2586582"/>
          <a:ext cx="47091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6" name="公式" r:id="rId3" imgW="2616200" imgH="393700" progId="Equation.3">
                  <p:embed/>
                </p:oleObj>
              </mc:Choice>
              <mc:Fallback>
                <p:oleObj name="公式" r:id="rId3" imgW="2616200" imgH="39370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190" y="2586582"/>
                        <a:ext cx="4709160" cy="7086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763404"/>
              </p:ext>
            </p:extLst>
          </p:nvPr>
        </p:nvGraphicFramePr>
        <p:xfrm>
          <a:off x="3806190" y="1741443"/>
          <a:ext cx="37947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7" name="公式" r:id="rId5" imgW="2108200" imgH="431800" progId="Equation.3">
                  <p:embed/>
                </p:oleObj>
              </mc:Choice>
              <mc:Fallback>
                <p:oleObj name="公式" r:id="rId5" imgW="2108200" imgH="431800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190" y="1741443"/>
                        <a:ext cx="3794760" cy="7772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1100526" y="2057018"/>
            <a:ext cx="2640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09872" y="2758566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nalysis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245155"/>
              </p:ext>
            </p:extLst>
          </p:nvPr>
        </p:nvGraphicFramePr>
        <p:xfrm>
          <a:off x="4478274" y="3455346"/>
          <a:ext cx="27432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8" name="公式" r:id="rId7" imgW="1524000" imgH="330200" progId="Equation.3">
                  <p:embed/>
                </p:oleObj>
              </mc:Choice>
              <mc:Fallback>
                <p:oleObj name="公式" r:id="rId7" imgW="1524000" imgH="33020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274" y="3455346"/>
                        <a:ext cx="274320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449217"/>
              </p:ext>
            </p:extLst>
          </p:nvPr>
        </p:nvGraphicFramePr>
        <p:xfrm>
          <a:off x="4478274" y="4142724"/>
          <a:ext cx="29260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9" name="公式" r:id="rId9" imgW="1625600" imgH="431800" progId="Equation.3">
                  <p:embed/>
                </p:oleObj>
              </mc:Choice>
              <mc:Fallback>
                <p:oleObj name="公式" r:id="rId9" imgW="1625600" imgH="431800" progId="Equation.3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274" y="4142724"/>
                        <a:ext cx="2926080" cy="7772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1764792" y="5438102"/>
            <a:ext cx="469315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aperiodic signals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380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Fourier </a:t>
            </a:r>
            <a:r>
              <a:rPr lang="en-US" dirty="0"/>
              <a:t>Transform of </a:t>
            </a:r>
            <a:r>
              <a:rPr lang="en-US" dirty="0" smtClean="0"/>
              <a:t>Aperiodic Signal</a:t>
            </a:r>
          </a:p>
          <a:p>
            <a:r>
              <a:rPr lang="en-US" dirty="0" smtClean="0"/>
              <a:t>Fourier </a:t>
            </a:r>
            <a:r>
              <a:rPr lang="en-US" dirty="0"/>
              <a:t>Transform of Periodic Signal</a:t>
            </a:r>
          </a:p>
          <a:p>
            <a:r>
              <a:rPr lang="en-US" dirty="0" smtClean="0"/>
              <a:t>Properties of Fourier Transform</a:t>
            </a:r>
          </a:p>
          <a:p>
            <a:r>
              <a:rPr lang="en-US" dirty="0" smtClean="0"/>
              <a:t>Convolution Property of Fourier Transform</a:t>
            </a:r>
          </a:p>
          <a:p>
            <a:r>
              <a:rPr lang="en-US" dirty="0" smtClean="0"/>
              <a:t>Multiplication Property of Fourier Transform</a:t>
            </a:r>
          </a:p>
          <a:p>
            <a:r>
              <a:rPr lang="en-US" dirty="0" smtClean="0"/>
              <a:t>LTI System </a:t>
            </a:r>
            <a:r>
              <a:rPr lang="en-US" smtClean="0"/>
              <a:t>Characterized by Differential </a:t>
            </a:r>
            <a:r>
              <a:rPr lang="en-US" dirty="0" smtClean="0"/>
              <a:t>Equations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06805"/>
            <a:ext cx="8295894" cy="79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Fourier Series of Periodic Square Wave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 Fourier series of CT period square wave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§4.</a:t>
            </a:r>
            <a:r>
              <a:rPr lang="en-US" dirty="0"/>
              <a:t>1</a:t>
            </a:r>
            <a:r>
              <a:rPr lang="en-US" dirty="0" smtClean="0"/>
              <a:t> </a:t>
            </a:r>
            <a:r>
              <a:rPr lang="en-US" dirty="0"/>
              <a:t>Fourier </a:t>
            </a:r>
            <a:r>
              <a:rPr lang="en-US" dirty="0" smtClean="0"/>
              <a:t>Transform </a:t>
            </a:r>
            <a:r>
              <a:rPr lang="en-US" dirty="0"/>
              <a:t>of </a:t>
            </a:r>
            <a:r>
              <a:rPr lang="en-US" dirty="0" smtClean="0"/>
              <a:t>Aperiodic Signal</a:t>
            </a:r>
            <a:endParaRPr 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962147"/>
              </p:ext>
            </p:extLst>
          </p:nvPr>
        </p:nvGraphicFramePr>
        <p:xfrm>
          <a:off x="1131570" y="3911783"/>
          <a:ext cx="20574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89" name="公式" r:id="rId3" imgW="1143000" imgH="393700" progId="Equation.3">
                  <p:embed/>
                </p:oleObj>
              </mc:Choice>
              <mc:Fallback>
                <p:oleObj name="公式" r:id="rId3" imgW="1143000" imgH="3937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570" y="3911783"/>
                        <a:ext cx="20574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80560"/>
              </p:ext>
            </p:extLst>
          </p:nvPr>
        </p:nvGraphicFramePr>
        <p:xfrm>
          <a:off x="1131570" y="4551137"/>
          <a:ext cx="50063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90" name="公式" r:id="rId5" imgW="2781300" imgH="431800" progId="Equation.3">
                  <p:embed/>
                </p:oleObj>
              </mc:Choice>
              <mc:Fallback>
                <p:oleObj name="公式" r:id="rId5" imgW="2781300" imgH="4318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570" y="4551137"/>
                        <a:ext cx="50063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145991"/>
              </p:ext>
            </p:extLst>
          </p:nvPr>
        </p:nvGraphicFramePr>
        <p:xfrm>
          <a:off x="1154113" y="5389563"/>
          <a:ext cx="201295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91" name="公式" r:id="rId7" imgW="1117440" imgH="444240" progId="Equation.3">
                  <p:embed/>
                </p:oleObj>
              </mc:Choice>
              <mc:Fallback>
                <p:oleObj name="公式" r:id="rId7" imgW="1117440" imgH="44424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5389563"/>
                        <a:ext cx="2012950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3984" y="1198804"/>
            <a:ext cx="4429979" cy="1837003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>
            <p:extLst/>
          </p:nvPr>
        </p:nvGraphicFramePr>
        <p:xfrm>
          <a:off x="808480" y="1660105"/>
          <a:ext cx="2628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92" name="公式" r:id="rId10" imgW="1460500" imgH="508000" progId="Equation.3">
                  <p:embed/>
                </p:oleObj>
              </mc:Choice>
              <mc:Fallback>
                <p:oleObj name="公式" r:id="rId10" imgW="1460500" imgH="5080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480" y="1660105"/>
                        <a:ext cx="2628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690505"/>
              </p:ext>
            </p:extLst>
          </p:nvPr>
        </p:nvGraphicFramePr>
        <p:xfrm>
          <a:off x="1131570" y="3215195"/>
          <a:ext cx="37947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93" name="公式" r:id="rId12" imgW="2108200" imgH="431800" progId="Equation.3">
                  <p:embed/>
                </p:oleObj>
              </mc:Choice>
              <mc:Fallback>
                <p:oleObj name="公式" r:id="rId12" imgW="2108200" imgH="43180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570" y="3215195"/>
                        <a:ext cx="3794760" cy="77724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34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Fourier Series of Periodic Square </a:t>
            </a:r>
            <a:r>
              <a:rPr lang="en-US" sz="3200" dirty="0" smtClean="0"/>
              <a:t>Wave (</a:t>
            </a:r>
            <a:r>
              <a:rPr lang="en-US" sz="3200" dirty="0" err="1" smtClean="0"/>
              <a:t>cont</a:t>
            </a:r>
            <a:r>
              <a:rPr lang="en-US" sz="3200" dirty="0" smtClean="0"/>
              <a:t>’)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Duty cycle ratio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Signal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870" y="1224741"/>
            <a:ext cx="4982042" cy="5592260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1300718" y="1903666"/>
          <a:ext cx="959704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0" name="公式" r:id="rId4" imgW="533169" imgH="393529" progId="Equation.3">
                  <p:embed/>
                </p:oleObj>
              </mc:Choice>
              <mc:Fallback>
                <p:oleObj name="公式" r:id="rId4" imgW="533169" imgH="393529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718" y="1903666"/>
                        <a:ext cx="959704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195674"/>
              </p:ext>
            </p:extLst>
          </p:nvPr>
        </p:nvGraphicFramePr>
        <p:xfrm>
          <a:off x="1322388" y="2797175"/>
          <a:ext cx="20113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1" name="公式" r:id="rId6" imgW="1117440" imgH="228600" progId="Equation.3">
                  <p:embed/>
                </p:oleObj>
              </mc:Choice>
              <mc:Fallback>
                <p:oleObj name="公式" r:id="rId6" imgW="1117440" imgH="2286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2797175"/>
                        <a:ext cx="2011362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317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Another Explanation of FS coefficients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2899554" cy="4868863"/>
          </a:xfrm>
        </p:spPr>
        <p:txBody>
          <a:bodyPr>
            <a:normAutofit/>
          </a:bodyPr>
          <a:lstStyle/>
          <a:p>
            <a:r>
              <a:rPr lang="en-US" dirty="0" smtClean="0"/>
              <a:t> Fix 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baseline="-25000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Envelope</a:t>
            </a:r>
            <a:r>
              <a:rPr lang="en-US" dirty="0" smtClean="0"/>
              <a:t> of </a:t>
            </a:r>
            <a:r>
              <a:rPr lang="en-US" i="1" dirty="0" err="1" smtClean="0"/>
              <a:t>Ta</a:t>
            </a:r>
            <a:r>
              <a:rPr lang="en-US" i="1" baseline="-25000" dirty="0" err="1" smtClean="0"/>
              <a:t>k</a:t>
            </a:r>
            <a:endParaRPr lang="en-US" i="1" baseline="-25000" dirty="0" smtClean="0"/>
          </a:p>
          <a:p>
            <a:endParaRPr lang="en-US" dirty="0" smtClean="0"/>
          </a:p>
          <a:p>
            <a:r>
              <a:rPr lang="en-US" dirty="0" smtClean="0"/>
              <a:t> FS coefficients are the samples of the envelope</a:t>
            </a:r>
          </a:p>
          <a:p>
            <a:r>
              <a:rPr lang="en-US" dirty="0"/>
              <a:t> </a:t>
            </a:r>
            <a:r>
              <a:rPr lang="en-US" dirty="0" smtClean="0"/>
              <a:t>What if </a:t>
            </a:r>
            <a:r>
              <a:rPr lang="en-US" i="1" dirty="0" smtClean="0"/>
              <a:t>T</a:t>
            </a:r>
            <a:r>
              <a:rPr lang="en-US" dirty="0" smtClean="0">
                <a:sym typeface="Wingdings" panose="05000000000000000000" pitchFamily="2" charset="2"/>
              </a:rPr>
              <a:t>∞ ?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278270"/>
              </p:ext>
            </p:extLst>
          </p:nvPr>
        </p:nvGraphicFramePr>
        <p:xfrm>
          <a:off x="711200" y="1708150"/>
          <a:ext cx="24003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83" name="公式" r:id="rId3" imgW="1333440" imgH="469800" progId="Equation.3">
                  <p:embed/>
                </p:oleObj>
              </mc:Choice>
              <mc:Fallback>
                <p:oleObj name="公式" r:id="rId3" imgW="1333440" imgH="46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1708150"/>
                        <a:ext cx="240030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502" y="1410686"/>
            <a:ext cx="6257499" cy="4692104"/>
          </a:xfrm>
          <a:prstGeom prst="rect">
            <a:avLst/>
          </a:prstGeom>
        </p:spPr>
      </p:pic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465790"/>
              </p:ext>
            </p:extLst>
          </p:nvPr>
        </p:nvGraphicFramePr>
        <p:xfrm>
          <a:off x="1649083" y="2954338"/>
          <a:ext cx="12112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84" name="公式" r:id="rId6" imgW="672840" imgH="393480" progId="Equation.3">
                  <p:embed/>
                </p:oleObj>
              </mc:Choice>
              <mc:Fallback>
                <p:oleObj name="公式" r:id="rId6" imgW="672840" imgH="39348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083" y="2954338"/>
                        <a:ext cx="1211263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897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Aperiodic Signal vs Periodic Signal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signal with </a:t>
            </a:r>
            <a:r>
              <a:rPr lang="en-US" dirty="0" smtClean="0">
                <a:solidFill>
                  <a:srgbClr val="C00000"/>
                </a:solidFill>
              </a:rPr>
              <a:t>finite duration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Aperiodic signal can be viewed as the limit of a periodic signal with </a:t>
            </a:r>
            <a:r>
              <a:rPr lang="en-US" i="1" dirty="0"/>
              <a:t>T</a:t>
            </a:r>
            <a:r>
              <a:rPr lang="en-US" dirty="0">
                <a:sym typeface="Wingdings" panose="05000000000000000000" pitchFamily="2" charset="2"/>
              </a:rPr>
              <a:t>∞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14" y="2922203"/>
            <a:ext cx="5339547" cy="3143039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829458"/>
              </p:ext>
            </p:extLst>
          </p:nvPr>
        </p:nvGraphicFramePr>
        <p:xfrm>
          <a:off x="5189621" y="1349724"/>
          <a:ext cx="1850857" cy="45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7" name="公式" r:id="rId4" imgW="1028254" imgH="253890" progId="Equation.3">
                  <p:embed/>
                </p:oleObj>
              </mc:Choice>
              <mc:Fallback>
                <p:oleObj name="公式" r:id="rId4" imgW="1028254" imgH="25389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621" y="1349724"/>
                        <a:ext cx="1850857" cy="4570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405697"/>
              </p:ext>
            </p:extLst>
          </p:nvPr>
        </p:nvGraphicFramePr>
        <p:xfrm>
          <a:off x="4973141" y="2298313"/>
          <a:ext cx="2513509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8" name="公式" r:id="rId6" imgW="1396394" imgH="203112" progId="Equation.3">
                  <p:embed/>
                </p:oleObj>
              </mc:Choice>
              <mc:Fallback>
                <p:oleObj name="公式" r:id="rId6" imgW="1396394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3141" y="2298313"/>
                        <a:ext cx="2513509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72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From Fourier Series to Fourier Transform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Fourier series of periodic signal</a:t>
            </a:r>
          </a:p>
          <a:p>
            <a:r>
              <a:rPr lang="en-US" dirty="0" smtClean="0"/>
              <a:t> Fourier coefficients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Define the </a:t>
            </a:r>
            <a:r>
              <a:rPr lang="en-US" dirty="0" smtClean="0">
                <a:solidFill>
                  <a:srgbClr val="C00000"/>
                </a:solidFill>
              </a:rPr>
              <a:t>envelope</a:t>
            </a:r>
            <a:r>
              <a:rPr lang="en-US" dirty="0" smtClean="0"/>
              <a:t> of </a:t>
            </a:r>
            <a:r>
              <a:rPr lang="en-US" i="1" dirty="0" err="1" smtClean="0"/>
              <a:t>Ta</a:t>
            </a:r>
            <a:r>
              <a:rPr lang="en-US" i="1" baseline="-25000" dirty="0" err="1" smtClean="0"/>
              <a:t>k</a:t>
            </a:r>
            <a:r>
              <a:rPr lang="en-US" dirty="0" smtClean="0"/>
              <a:t> as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094090"/>
              </p:ext>
            </p:extLst>
          </p:nvPr>
        </p:nvGraphicFramePr>
        <p:xfrm>
          <a:off x="4106863" y="1754188"/>
          <a:ext cx="2560637" cy="217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6" name="公式" r:id="rId3" imgW="1422360" imgH="1206360" progId="Equation.3">
                  <p:embed/>
                </p:oleObj>
              </mc:Choice>
              <mc:Fallback>
                <p:oleObj name="公式" r:id="rId3" imgW="1422360" imgH="1206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863" y="1754188"/>
                        <a:ext cx="2560637" cy="217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343416"/>
              </p:ext>
            </p:extLst>
          </p:nvPr>
        </p:nvGraphicFramePr>
        <p:xfrm>
          <a:off x="6115050" y="1174378"/>
          <a:ext cx="196510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7" name="公式" r:id="rId5" imgW="1091726" imgH="431613" progId="Equation.3">
                  <p:embed/>
                </p:oleObj>
              </mc:Choice>
              <mc:Fallback>
                <p:oleObj name="公式" r:id="rId5" imgW="1091726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1174378"/>
                        <a:ext cx="196510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106796"/>
              </p:ext>
            </p:extLst>
          </p:nvPr>
        </p:nvGraphicFramePr>
        <p:xfrm>
          <a:off x="2182482" y="4287327"/>
          <a:ext cx="25831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8" name="公式" r:id="rId7" imgW="1435100" imgH="330200" progId="Equation.3">
                  <p:embed/>
                </p:oleObj>
              </mc:Choice>
              <mc:Fallback>
                <p:oleObj name="公式" r:id="rId7" imgW="1435100" imgH="330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482" y="4287327"/>
                        <a:ext cx="25831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631536"/>
              </p:ext>
            </p:extLst>
          </p:nvPr>
        </p:nvGraphicFramePr>
        <p:xfrm>
          <a:off x="2182482" y="5061075"/>
          <a:ext cx="2194560" cy="84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9" name="公式" r:id="rId9" imgW="1219200" imgH="469900" progId="Equation.3">
                  <p:embed/>
                </p:oleObj>
              </mc:Choice>
              <mc:Fallback>
                <p:oleObj name="公式" r:id="rId9" imgW="1219200" imgH="469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482" y="5061075"/>
                        <a:ext cx="2194560" cy="8458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287129" y="4384452"/>
            <a:ext cx="2064730" cy="4001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</a:t>
            </a:r>
          </a:p>
        </p:txBody>
      </p:sp>
    </p:spTree>
    <p:extLst>
      <p:ext uri="{BB962C8B-B14F-4D97-AF65-F5344CB8AC3E}">
        <p14:creationId xmlns:p14="http://schemas.microsoft.com/office/powerpoint/2010/main" val="100449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From Fourier Series to Fourier Transform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Recall: synthesis function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As </a:t>
            </a:r>
            <a:r>
              <a:rPr lang="en-US" i="1" dirty="0" smtClean="0"/>
              <a:t>T</a:t>
            </a:r>
            <a:r>
              <a:rPr lang="en-US" dirty="0" smtClean="0">
                <a:sym typeface="Wingdings" panose="05000000000000000000" pitchFamily="2" charset="2"/>
              </a:rPr>
              <a:t>∞, </a:t>
            </a: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On the other hand,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   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279500"/>
              </p:ext>
            </p:extLst>
          </p:nvPr>
        </p:nvGraphicFramePr>
        <p:xfrm>
          <a:off x="1268081" y="1831175"/>
          <a:ext cx="58750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9" name="公式" r:id="rId3" imgW="3263900" imgH="431800" progId="Equation.3">
                  <p:embed/>
                </p:oleObj>
              </mc:Choice>
              <mc:Fallback>
                <p:oleObj name="公式" r:id="rId3" imgW="3263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081" y="1831175"/>
                        <a:ext cx="58750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590878"/>
              </p:ext>
            </p:extLst>
          </p:nvPr>
        </p:nvGraphicFramePr>
        <p:xfrm>
          <a:off x="4071668" y="4412988"/>
          <a:ext cx="164592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0" name="公式" r:id="rId5" imgW="914400" imgH="279400" progId="Equation.3">
                  <p:embed/>
                </p:oleObj>
              </mc:Choice>
              <mc:Fallback>
                <p:oleObj name="公式" r:id="rId5" imgW="914400" imgH="279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668" y="4412988"/>
                        <a:ext cx="1645920" cy="502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989239"/>
              </p:ext>
            </p:extLst>
          </p:nvPr>
        </p:nvGraphicFramePr>
        <p:xfrm>
          <a:off x="1975448" y="5267747"/>
          <a:ext cx="3016211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1" name="公式" r:id="rId7" imgW="1675673" imgH="393529" progId="Equation.3">
                  <p:embed/>
                </p:oleObj>
              </mc:Choice>
              <mc:Fallback>
                <p:oleObj name="公式" r:id="rId7" imgW="1675673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5448" y="5267747"/>
                        <a:ext cx="3016211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242911" y="5421868"/>
            <a:ext cx="3021187" cy="4001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Fourier Transform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57950" y="3437234"/>
            <a:ext cx="2622430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summation become integral?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188327"/>
              </p:ext>
            </p:extLst>
          </p:nvPr>
        </p:nvGraphicFramePr>
        <p:xfrm>
          <a:off x="2592984" y="2682854"/>
          <a:ext cx="4160520" cy="150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2" name="公式" r:id="rId9" imgW="2311400" imgH="838200" progId="Equation.3">
                  <p:embed/>
                </p:oleObj>
              </mc:Choice>
              <mc:Fallback>
                <p:oleObj name="公式" r:id="rId9" imgW="2311400" imgH="838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984" y="2682854"/>
                        <a:ext cx="4160520" cy="1508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663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Fourier Transform Pair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Fourier Transform</a:t>
            </a:r>
            <a:r>
              <a:rPr lang="en-US" dirty="0" smtClean="0"/>
              <a:t>, or </a:t>
            </a:r>
            <a:r>
              <a:rPr lang="en-US" b="1" dirty="0" smtClean="0">
                <a:solidFill>
                  <a:srgbClr val="C00000"/>
                </a:solidFill>
              </a:rPr>
              <a:t>Fourier Integral  </a:t>
            </a:r>
            <a:r>
              <a:rPr lang="en-US" dirty="0" smtClean="0"/>
              <a:t>(analysis equation)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) is the </a:t>
            </a:r>
            <a:r>
              <a:rPr lang="en-US" b="1" dirty="0" smtClean="0">
                <a:solidFill>
                  <a:srgbClr val="C00000"/>
                </a:solidFill>
              </a:rPr>
              <a:t>spectrum</a:t>
            </a:r>
            <a:r>
              <a:rPr lang="en-US" dirty="0" smtClean="0"/>
              <a:t> of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 Inverse Fourier Transform  </a:t>
            </a:r>
            <a:r>
              <a:rPr lang="en-US" dirty="0"/>
              <a:t>(synthesis function: linear combination of complex exponentials)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28549"/>
              </p:ext>
            </p:extLst>
          </p:nvPr>
        </p:nvGraphicFramePr>
        <p:xfrm>
          <a:off x="2550800" y="2137582"/>
          <a:ext cx="25831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4" name="公式" r:id="rId3" imgW="1435100" imgH="330200" progId="Equation.3">
                  <p:embed/>
                </p:oleObj>
              </mc:Choice>
              <mc:Fallback>
                <p:oleObj name="公式" r:id="rId3" imgW="1435100" imgH="3302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0800" y="2137582"/>
                        <a:ext cx="258318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39393"/>
              </p:ext>
            </p:extLst>
          </p:nvPr>
        </p:nvGraphicFramePr>
        <p:xfrm>
          <a:off x="2550800" y="4389513"/>
          <a:ext cx="3016211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5" name="公式" r:id="rId5" imgW="1675673" imgH="393529" progId="Equation.3">
                  <p:embed/>
                </p:oleObj>
              </mc:Choice>
              <mc:Fallback>
                <p:oleObj name="公式" r:id="rId5" imgW="1675673" imgH="393529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0800" y="4389513"/>
                        <a:ext cx="3016211" cy="70835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834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FS Coefficients and FT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For the periodic signal       , the FS coefficients </a:t>
            </a:r>
            <a:r>
              <a:rPr lang="en-US" altLang="zh-CN" dirty="0" smtClean="0"/>
              <a:t>{</a:t>
            </a:r>
            <a:r>
              <a:rPr lang="en-US" altLang="zh-CN" i="1" dirty="0" err="1" smtClean="0"/>
              <a:t>a</a:t>
            </a:r>
            <a:r>
              <a:rPr lang="en-US" altLang="zh-CN" i="1" baseline="-25000" dirty="0" err="1" smtClean="0"/>
              <a:t>k</a:t>
            </a:r>
            <a:r>
              <a:rPr lang="en-US" altLang="zh-CN" dirty="0" smtClean="0"/>
              <a:t>}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/>
              <a:t>{</a:t>
            </a:r>
            <a:r>
              <a:rPr lang="en-US" altLang="zh-CN" i="1" dirty="0" err="1" smtClean="0"/>
              <a:t>a</a:t>
            </a:r>
            <a:r>
              <a:rPr lang="en-US" altLang="zh-CN" i="1" baseline="-25000" dirty="0" err="1" smtClean="0"/>
              <a:t>k</a:t>
            </a:r>
            <a:r>
              <a:rPr lang="en-US" altLang="zh-CN" dirty="0" smtClean="0"/>
              <a:t>}is the evenly spaced </a:t>
            </a:r>
            <a:r>
              <a:rPr lang="en-US" altLang="zh-CN" b="1" dirty="0" smtClean="0">
                <a:solidFill>
                  <a:srgbClr val="C00000"/>
                </a:solidFill>
              </a:rPr>
              <a:t>samples</a:t>
            </a:r>
            <a:r>
              <a:rPr lang="en-US" altLang="zh-CN" dirty="0" smtClean="0"/>
              <a:t> of the FT of one period of </a:t>
            </a:r>
            <a:endParaRPr lang="en-US" altLang="zh-CN" dirty="0"/>
          </a:p>
          <a:p>
            <a:pPr marL="0" indent="0">
              <a:buNone/>
            </a:pPr>
            <a:r>
              <a:rPr lang="en-US" dirty="0" smtClean="0"/>
              <a:t>        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614959"/>
              </p:ext>
            </p:extLst>
          </p:nvPr>
        </p:nvGraphicFramePr>
        <p:xfrm>
          <a:off x="1816100" y="1849438"/>
          <a:ext cx="2605088" cy="217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35" name="公式" r:id="rId3" imgW="1447560" imgH="1206360" progId="Equation.3">
                  <p:embed/>
                </p:oleObj>
              </mc:Choice>
              <mc:Fallback>
                <p:oleObj name="公式" r:id="rId3" imgW="1447560" imgH="120636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1849438"/>
                        <a:ext cx="2605088" cy="217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6961"/>
              </p:ext>
            </p:extLst>
          </p:nvPr>
        </p:nvGraphicFramePr>
        <p:xfrm>
          <a:off x="4398754" y="1408120"/>
          <a:ext cx="525528" cy="36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36" name="公式" r:id="rId5" imgW="291960" imgH="203040" progId="Equation.3">
                  <p:embed/>
                </p:oleObj>
              </mc:Choice>
              <mc:Fallback>
                <p:oleObj name="公式" r:id="rId5" imgW="29196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98754" y="1408120"/>
                        <a:ext cx="525528" cy="36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278277"/>
              </p:ext>
            </p:extLst>
          </p:nvPr>
        </p:nvGraphicFramePr>
        <p:xfrm>
          <a:off x="2351418" y="4321883"/>
          <a:ext cx="525528" cy="36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37" name="公式" r:id="rId7" imgW="291960" imgH="203040" progId="Equation.3">
                  <p:embed/>
                </p:oleObj>
              </mc:Choice>
              <mc:Fallback>
                <p:oleObj name="公式" r:id="rId7" imgW="291960" imgH="203040" progId="Equation.3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418" y="4321883"/>
                        <a:ext cx="525528" cy="36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59640"/>
              </p:ext>
            </p:extLst>
          </p:nvPr>
        </p:nvGraphicFramePr>
        <p:xfrm>
          <a:off x="2021364" y="4675346"/>
          <a:ext cx="2194560" cy="84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38" name="公式" r:id="rId8" imgW="1219200" imgH="469900" progId="Equation.3">
                  <p:embed/>
                </p:oleObj>
              </mc:Choice>
              <mc:Fallback>
                <p:oleObj name="公式" r:id="rId8" imgW="12192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1364" y="4675346"/>
                        <a:ext cx="2194560" cy="8458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940114" y="4863125"/>
            <a:ext cx="354653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sampling space?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876946" y="5672140"/>
            <a:ext cx="2213572" cy="369332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eriodic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discrete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91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Convergence of Fourier Transform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For any continuous-time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), define the error function </a:t>
            </a:r>
            <a:r>
              <a:rPr lang="en-US" i="1" dirty="0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of Fourier transform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Convergence</a:t>
            </a:r>
            <a:r>
              <a:rPr lang="en-US" dirty="0" smtClean="0"/>
              <a:t>: </a:t>
            </a:r>
            <a:r>
              <a:rPr lang="en-US" i="1" dirty="0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dirty="0"/>
              <a:t> </a:t>
            </a:r>
            <a:r>
              <a:rPr lang="en-US" dirty="0" smtClean="0"/>
              <a:t>is equal to 0 for any </a:t>
            </a:r>
            <a:r>
              <a:rPr lang="en-US" i="1" dirty="0" smtClean="0"/>
              <a:t>t</a:t>
            </a:r>
            <a:r>
              <a:rPr lang="en-US" dirty="0" smtClean="0"/>
              <a:t> except the discontinuity points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978436"/>
              </p:ext>
            </p:extLst>
          </p:nvPr>
        </p:nvGraphicFramePr>
        <p:xfrm>
          <a:off x="2457450" y="2093975"/>
          <a:ext cx="36576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9" name="公式" r:id="rId3" imgW="2032000" imgH="393700" progId="Equation.3">
                  <p:embed/>
                </p:oleObj>
              </mc:Choice>
              <mc:Fallback>
                <p:oleObj name="公式" r:id="rId3" imgW="20320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093975"/>
                        <a:ext cx="36576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852072"/>
              </p:ext>
            </p:extLst>
          </p:nvPr>
        </p:nvGraphicFramePr>
        <p:xfrm>
          <a:off x="2457450" y="3742531"/>
          <a:ext cx="16459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0" name="公式" r:id="rId5" imgW="914400" imgH="330200" progId="Equation.3">
                  <p:embed/>
                </p:oleObj>
              </mc:Choice>
              <mc:Fallback>
                <p:oleObj name="公式" r:id="rId5" imgW="914400" imgH="330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742531"/>
                        <a:ext cx="16459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971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Fourier Transform Convergence Conditions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Condition set #1: square </a:t>
            </a:r>
            <a:r>
              <a:rPr lang="en-US" dirty="0" err="1" smtClean="0"/>
              <a:t>integrable</a:t>
            </a:r>
            <a:r>
              <a:rPr lang="en-US" dirty="0" smtClean="0"/>
              <a:t> </a:t>
            </a:r>
          </a:p>
          <a:p>
            <a:r>
              <a:rPr lang="en-US" dirty="0" smtClean="0"/>
              <a:t> Conditions set #2 (</a:t>
            </a:r>
            <a:r>
              <a:rPr lang="en-US" dirty="0" err="1" smtClean="0"/>
              <a:t>Dirichlet</a:t>
            </a:r>
            <a:r>
              <a:rPr lang="en-US" dirty="0" smtClean="0"/>
              <a:t> Conditions)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absolutely </a:t>
            </a:r>
            <a:r>
              <a:rPr lang="en-US" dirty="0" err="1" smtClean="0"/>
              <a:t>integrable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has </a:t>
            </a:r>
            <a:r>
              <a:rPr lang="en-US" dirty="0" smtClean="0"/>
              <a:t>a finite number maxima and minima within any finite interval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has </a:t>
            </a:r>
            <a:r>
              <a:rPr lang="en-US" dirty="0" smtClean="0"/>
              <a:t>a finite number of finite discontinuities within any finite interval </a:t>
            </a:r>
          </a:p>
          <a:p>
            <a:r>
              <a:rPr lang="en-US" dirty="0" smtClean="0"/>
              <a:t> Both condition sets are </a:t>
            </a:r>
            <a:r>
              <a:rPr lang="en-US" b="1" dirty="0" smtClean="0">
                <a:solidFill>
                  <a:srgbClr val="FF0000"/>
                </a:solidFill>
              </a:rPr>
              <a:t>sufficient</a:t>
            </a:r>
            <a:r>
              <a:rPr lang="en-US" dirty="0" smtClean="0"/>
              <a:t> for convergence, but </a:t>
            </a:r>
            <a:r>
              <a:rPr lang="en-US" b="1" dirty="0" smtClean="0">
                <a:solidFill>
                  <a:srgbClr val="FF0000"/>
                </a:solidFill>
              </a:rPr>
              <a:t>not necessary</a:t>
            </a:r>
          </a:p>
          <a:p>
            <a:pPr lvl="1"/>
            <a:r>
              <a:rPr lang="en-US" b="1" dirty="0"/>
              <a:t> </a:t>
            </a:r>
            <a:r>
              <a:rPr lang="en-US" sz="2800" dirty="0"/>
              <a:t>periodic impulse </a:t>
            </a:r>
            <a:r>
              <a:rPr lang="en-US" sz="2800" dirty="0" smtClean="0"/>
              <a:t>signal…</a:t>
            </a:r>
            <a:endParaRPr 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727898"/>
              </p:ext>
            </p:extLst>
          </p:nvPr>
        </p:nvGraphicFramePr>
        <p:xfrm>
          <a:off x="5314950" y="2258567"/>
          <a:ext cx="16002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55" name="公式" r:id="rId3" imgW="889000" imgH="330200" progId="Equation.3">
                  <p:embed/>
                </p:oleObj>
              </mc:Choice>
              <mc:Fallback>
                <p:oleObj name="公式" r:id="rId3" imgW="889000" imgH="3302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2258567"/>
                        <a:ext cx="160020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41363" y="1289205"/>
          <a:ext cx="17602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56" name="公式" r:id="rId5" imgW="977900" imgH="330200" progId="Equation.3">
                  <p:embed/>
                </p:oleObj>
              </mc:Choice>
              <mc:Fallback>
                <p:oleObj name="公式" r:id="rId5" imgW="977900" imgH="3302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1363" y="1289205"/>
                        <a:ext cx="1760220" cy="594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752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Fourier Transform of Impulse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l-GR" i="1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dirty="0" smtClean="0"/>
              <a:t> The impulse signal is “</a:t>
            </a:r>
            <a:r>
              <a:rPr lang="en-US" dirty="0" smtClean="0">
                <a:solidFill>
                  <a:srgbClr val="C00000"/>
                </a:solidFill>
              </a:rPr>
              <a:t>white</a:t>
            </a:r>
            <a:r>
              <a:rPr lang="en-US" dirty="0" smtClean="0"/>
              <a:t>”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x(t)=u(t)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532952"/>
              </p:ext>
            </p:extLst>
          </p:nvPr>
        </p:nvGraphicFramePr>
        <p:xfrm>
          <a:off x="2852928" y="1224741"/>
          <a:ext cx="38404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91" name="公式" r:id="rId3" imgW="2133600" imgH="330200" progId="Equation.3">
                  <p:embed/>
                </p:oleObj>
              </mc:Choice>
              <mc:Fallback>
                <p:oleObj name="公式" r:id="rId3" imgW="2133600" imgH="330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928" y="1224741"/>
                        <a:ext cx="38404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276" y="2231136"/>
            <a:ext cx="6030374" cy="1616978"/>
          </a:xfrm>
          <a:prstGeom prst="rect">
            <a:avLst/>
          </a:prstGeom>
        </p:spPr>
      </p:pic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851896"/>
              </p:ext>
            </p:extLst>
          </p:nvPr>
        </p:nvGraphicFramePr>
        <p:xfrm>
          <a:off x="1536192" y="4387545"/>
          <a:ext cx="569214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92" name="公式" r:id="rId6" imgW="3162300" imgH="508000" progId="Equation.3">
                  <p:embed/>
                </p:oleObj>
              </mc:Choice>
              <mc:Fallback>
                <p:oleObj name="公式" r:id="rId6" imgW="3162300" imgH="508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192" y="4387545"/>
                        <a:ext cx="569214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402405" y="4660079"/>
            <a:ext cx="1335195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correct?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5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4.1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1) </a:t>
            </a:r>
            <a:r>
              <a:rPr lang="en-US" i="1" dirty="0" smtClean="0"/>
              <a:t>a</a:t>
            </a:r>
            <a:r>
              <a:rPr lang="en-US" dirty="0" smtClean="0"/>
              <a:t> is real and </a:t>
            </a:r>
            <a:r>
              <a:rPr lang="en-US" i="1" dirty="0" smtClean="0"/>
              <a:t>a</a:t>
            </a:r>
            <a:r>
              <a:rPr lang="en-US" dirty="0" smtClean="0"/>
              <a:t>&gt;0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2) </a:t>
            </a:r>
            <a:r>
              <a:rPr lang="en-US" i="1" dirty="0" smtClean="0"/>
              <a:t>a</a:t>
            </a:r>
            <a:r>
              <a:rPr lang="en-US" dirty="0" smtClean="0"/>
              <a:t> is complex and </a:t>
            </a:r>
            <a:r>
              <a:rPr lang="en-US" dirty="0" smtClean="0">
                <a:latin typeface="Edwardian Script ITC" panose="030303020407070D0804" pitchFamily="66" charset="0"/>
              </a:rPr>
              <a:t>Re</a:t>
            </a:r>
            <a:r>
              <a:rPr lang="en-US" altLang="zh-CN" dirty="0" smtClean="0"/>
              <a:t>{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}&gt;0, then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 is absolutely </a:t>
            </a:r>
            <a:r>
              <a:rPr lang="en-US" altLang="zh-CN" dirty="0" err="1" smtClean="0"/>
              <a:t>integrable</a:t>
            </a:r>
            <a:r>
              <a:rPr lang="en-US" altLang="zh-CN" dirty="0" smtClean="0"/>
              <a:t>, the above Fourier transform is valid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450586"/>
              </p:ext>
            </p:extLst>
          </p:nvPr>
        </p:nvGraphicFramePr>
        <p:xfrm>
          <a:off x="1069912" y="1261188"/>
          <a:ext cx="16017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5" name="公式" r:id="rId3" imgW="888840" imgH="228600" progId="Equation.3">
                  <p:embed/>
                </p:oleObj>
              </mc:Choice>
              <mc:Fallback>
                <p:oleObj name="公式" r:id="rId3" imgW="88884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12" y="1261188"/>
                        <a:ext cx="1601787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749642"/>
              </p:ext>
            </p:extLst>
          </p:nvPr>
        </p:nvGraphicFramePr>
        <p:xfrm>
          <a:off x="1563688" y="1747838"/>
          <a:ext cx="49834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6" name="公式" r:id="rId5" imgW="2768600" imgH="508000" progId="Equation.3">
                  <p:embed/>
                </p:oleObj>
              </mc:Choice>
              <mc:Fallback>
                <p:oleObj name="公式" r:id="rId5" imgW="27686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1747838"/>
                        <a:ext cx="498348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1960" y="2377708"/>
            <a:ext cx="4584831" cy="3437876"/>
          </a:xfrm>
          <a:prstGeom prst="rect">
            <a:avLst/>
          </a:prstGeom>
        </p:spPr>
      </p:pic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776574"/>
              </p:ext>
            </p:extLst>
          </p:nvPr>
        </p:nvGraphicFramePr>
        <p:xfrm>
          <a:off x="6206490" y="2926334"/>
          <a:ext cx="230886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7" name="公式" r:id="rId8" imgW="1282700" imgH="444500" progId="Equation.3">
                  <p:embed/>
                </p:oleObj>
              </mc:Choice>
              <mc:Fallback>
                <p:oleObj name="公式" r:id="rId8" imgW="1282700" imgH="4445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6490" y="2926334"/>
                        <a:ext cx="230886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533054"/>
              </p:ext>
            </p:extLst>
          </p:nvPr>
        </p:nvGraphicFramePr>
        <p:xfrm>
          <a:off x="6206490" y="4416679"/>
          <a:ext cx="23088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8" name="公式" r:id="rId10" imgW="1282700" imgH="393700" progId="Equation.3">
                  <p:embed/>
                </p:oleObj>
              </mc:Choice>
              <mc:Fallback>
                <p:oleObj name="公式" r:id="rId10" imgW="1282700" imgH="3937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6490" y="4416679"/>
                        <a:ext cx="23088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621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4.2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816061"/>
              </p:ext>
            </p:extLst>
          </p:nvPr>
        </p:nvGraphicFramePr>
        <p:xfrm>
          <a:off x="628650" y="2312439"/>
          <a:ext cx="3749040" cy="2331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6" name="公式" r:id="rId3" imgW="2082800" imgH="1295400" progId="Equation.3">
                  <p:embed/>
                </p:oleObj>
              </mc:Choice>
              <mc:Fallback>
                <p:oleObj name="公式" r:id="rId3" imgW="2082800" imgH="1295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2312439"/>
                        <a:ext cx="3749040" cy="2331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138934"/>
              </p:ext>
            </p:extLst>
          </p:nvPr>
        </p:nvGraphicFramePr>
        <p:xfrm>
          <a:off x="846138" y="1452563"/>
          <a:ext cx="1873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7" name="公式" r:id="rId5" imgW="1041120" imgH="253800" progId="Equation.3">
                  <p:embed/>
                </p:oleObj>
              </mc:Choice>
              <mc:Fallback>
                <p:oleObj name="公式" r:id="rId5" imgW="104112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1452563"/>
                        <a:ext cx="1873250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2521504"/>
            <a:ext cx="5020155" cy="3764297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160302"/>
              </p:ext>
            </p:extLst>
          </p:nvPr>
        </p:nvGraphicFramePr>
        <p:xfrm>
          <a:off x="862330" y="4952567"/>
          <a:ext cx="14382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8" name="公式" r:id="rId8" imgW="799920" imgH="203040" progId="Equation.3">
                  <p:embed/>
                </p:oleObj>
              </mc:Choice>
              <mc:Fallback>
                <p:oleObj name="公式" r:id="rId8" imgW="799920" imgH="203040" progId="Equation.3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" y="4952567"/>
                        <a:ext cx="14382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77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sinc</a:t>
            </a:r>
            <a:r>
              <a:rPr lang="en-US" dirty="0" smtClean="0"/>
              <a:t>() function and Sa() function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434145"/>
              </p:ext>
            </p:extLst>
          </p:nvPr>
        </p:nvGraphicFramePr>
        <p:xfrm>
          <a:off x="1018143" y="1268659"/>
          <a:ext cx="2010807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2" name="公式" r:id="rId3" imgW="1117115" imgH="393529" progId="Equation.3">
                  <p:embed/>
                </p:oleObj>
              </mc:Choice>
              <mc:Fallback>
                <p:oleObj name="公式" r:id="rId3" imgW="1117115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143" y="1268659"/>
                        <a:ext cx="2010807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779451"/>
            <a:ext cx="4970429" cy="37270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963" y="2397056"/>
            <a:ext cx="3624766" cy="336499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44749" y="5731433"/>
            <a:ext cx="345119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https://www.zybang.com/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632521"/>
              </p:ext>
            </p:extLst>
          </p:nvPr>
        </p:nvGraphicFramePr>
        <p:xfrm>
          <a:off x="3633788" y="1252538"/>
          <a:ext cx="14160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3" name="公式" r:id="rId7" imgW="787320" imgH="393480" progId="Equation.3">
                  <p:embed/>
                </p:oleObj>
              </mc:Choice>
              <mc:Fallback>
                <p:oleObj name="公式" r:id="rId7" imgW="787320" imgH="39348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1252538"/>
                        <a:ext cx="1416050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50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544615"/>
            <a:ext cx="7886700" cy="792000"/>
          </a:xfrm>
        </p:spPr>
        <p:txBody>
          <a:bodyPr/>
          <a:lstStyle/>
          <a:p>
            <a:r>
              <a:rPr lang="en-US" dirty="0" smtClean="0"/>
              <a:t>Rectangle Pulse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§4.1 Fourier Transform of Aperiodic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351313"/>
              </p:ext>
            </p:extLst>
          </p:nvPr>
        </p:nvGraphicFramePr>
        <p:xfrm>
          <a:off x="560069" y="1358565"/>
          <a:ext cx="24460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1" name="公式" r:id="rId3" imgW="1358640" imgH="507960" progId="Equation.3">
                  <p:embed/>
                </p:oleObj>
              </mc:Choice>
              <mc:Fallback>
                <p:oleObj name="公式" r:id="rId3" imgW="1358640" imgH="507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69" y="1358565"/>
                        <a:ext cx="244602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76722"/>
              </p:ext>
            </p:extLst>
          </p:nvPr>
        </p:nvGraphicFramePr>
        <p:xfrm>
          <a:off x="560069" y="2294915"/>
          <a:ext cx="6469380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2" name="公式" r:id="rId5" imgW="3594100" imgH="533400" progId="Equation.3">
                  <p:embed/>
                </p:oleObj>
              </mc:Choice>
              <mc:Fallback>
                <p:oleObj name="公式" r:id="rId5" imgW="3594100" imgH="533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69" y="2294915"/>
                        <a:ext cx="6469380" cy="96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499623"/>
              </p:ext>
            </p:extLst>
          </p:nvPr>
        </p:nvGraphicFramePr>
        <p:xfrm>
          <a:off x="413765" y="4418523"/>
          <a:ext cx="297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3" name="公式" r:id="rId7" imgW="1651000" imgH="508000" progId="Equation.3">
                  <p:embed/>
                </p:oleObj>
              </mc:Choice>
              <mc:Fallback>
                <p:oleObj name="公式" r:id="rId7" imgW="1651000" imgH="508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65" y="4418523"/>
                        <a:ext cx="2971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429789"/>
              </p:ext>
            </p:extLst>
          </p:nvPr>
        </p:nvGraphicFramePr>
        <p:xfrm>
          <a:off x="413765" y="5238583"/>
          <a:ext cx="84810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4" name="公式" r:id="rId9" imgW="4711700" imgH="508000" progId="Equation.3">
                  <p:embed/>
                </p:oleObj>
              </mc:Choice>
              <mc:Fallback>
                <p:oleObj name="公式" r:id="rId9" imgW="4711700" imgH="508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65" y="5238583"/>
                        <a:ext cx="848106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>
            <a:off x="549464" y="4288307"/>
            <a:ext cx="7886700" cy="0"/>
          </a:xfrm>
          <a:prstGeom prst="straightConnector1">
            <a:avLst/>
          </a:prstGeom>
          <a:ln w="57150" cmpd="dbl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492814" y="1428476"/>
            <a:ext cx="4331145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it equals to x(t)?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Yes, except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Discontinuity point?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19898"/>
              </p:ext>
            </p:extLst>
          </p:nvPr>
        </p:nvGraphicFramePr>
        <p:xfrm>
          <a:off x="5621337" y="1404384"/>
          <a:ext cx="1673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5" name="公式" r:id="rId11" imgW="1676160" imgH="393480" progId="Equation.3">
                  <p:embed/>
                </p:oleObj>
              </mc:Choice>
              <mc:Fallback>
                <p:oleObj name="公式" r:id="rId11" imgW="1676160" imgH="3934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7" y="1404384"/>
                        <a:ext cx="16732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4533363" y="3169929"/>
            <a:ext cx="4331145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Overshoot always exists though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∞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814903"/>
              </p:ext>
            </p:extLst>
          </p:nvPr>
        </p:nvGraphicFramePr>
        <p:xfrm>
          <a:off x="628650" y="3203484"/>
          <a:ext cx="3017088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6" name="公式" r:id="rId13" imgW="1676160" imgH="393480" progId="Equation.3">
                  <p:embed/>
                </p:oleObj>
              </mc:Choice>
              <mc:Fallback>
                <p:oleObj name="公式" r:id="rId13" imgW="1676160" imgH="393480" progId="Equation.3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203484"/>
                        <a:ext cx="3017088" cy="708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307554"/>
              </p:ext>
            </p:extLst>
          </p:nvPr>
        </p:nvGraphicFramePr>
        <p:xfrm>
          <a:off x="5621337" y="3226949"/>
          <a:ext cx="2665844" cy="590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7" name="公式" r:id="rId14" imgW="1777229" imgH="393529" progId="Equation.3">
                  <p:embed/>
                </p:oleObj>
              </mc:Choice>
              <mc:Fallback>
                <p:oleObj name="公式" r:id="rId14" imgW="1777229" imgH="39352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7" y="3226949"/>
                        <a:ext cx="2665844" cy="5902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4654295" y="4578779"/>
            <a:ext cx="1993393" cy="400110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Duality Property</a:t>
            </a:r>
          </a:p>
        </p:txBody>
      </p:sp>
    </p:spTree>
    <p:extLst>
      <p:ext uri="{BB962C8B-B14F-4D97-AF65-F5344CB8AC3E}">
        <p14:creationId xmlns:p14="http://schemas.microsoft.com/office/powerpoint/2010/main" val="335168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Fourier Transform of Complex Exponential</a:t>
            </a:r>
            <a:endParaRPr lang="en-US" sz="32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4.2 </a:t>
            </a:r>
            <a:r>
              <a:rPr lang="en-US" dirty="0"/>
              <a:t>Fourier Transform of P</a:t>
            </a:r>
            <a:r>
              <a:rPr lang="en-US" dirty="0" smtClean="0"/>
              <a:t>eriodic 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003791"/>
              </p:ext>
            </p:extLst>
          </p:nvPr>
        </p:nvGraphicFramePr>
        <p:xfrm>
          <a:off x="818613" y="2042306"/>
          <a:ext cx="7429500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5" name="公式" r:id="rId3" imgW="4127400" imgH="1041120" progId="Equation.3">
                  <p:embed/>
                </p:oleObj>
              </mc:Choice>
              <mc:Fallback>
                <p:oleObj name="公式" r:id="rId3" imgW="4127400" imgH="104112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613" y="2042306"/>
                        <a:ext cx="7429500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537528"/>
              </p:ext>
            </p:extLst>
          </p:nvPr>
        </p:nvGraphicFramePr>
        <p:xfrm>
          <a:off x="859536" y="1567579"/>
          <a:ext cx="12344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6" name="公式" r:id="rId5" imgW="685800" imgH="228600" progId="Equation.3">
                  <p:embed/>
                </p:oleObj>
              </mc:Choice>
              <mc:Fallback>
                <p:oleObj name="公式" r:id="rId5" imgW="6858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36" y="1567579"/>
                        <a:ext cx="1234440" cy="411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889495"/>
              </p:ext>
            </p:extLst>
          </p:nvPr>
        </p:nvGraphicFramePr>
        <p:xfrm>
          <a:off x="834390" y="4006787"/>
          <a:ext cx="21945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7" name="公式" r:id="rId7" imgW="1219200" imgH="228600" progId="Equation.3">
                  <p:embed/>
                </p:oleObj>
              </mc:Choice>
              <mc:Fallback>
                <p:oleObj name="公式" r:id="rId7" imgW="1219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90" y="4006787"/>
                        <a:ext cx="2194560" cy="411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83139"/>
              </p:ext>
            </p:extLst>
          </p:nvPr>
        </p:nvGraphicFramePr>
        <p:xfrm>
          <a:off x="3623310" y="4024197"/>
          <a:ext cx="24917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8" name="公式" r:id="rId9" imgW="1384300" imgH="228600" progId="Equation.3">
                  <p:embed/>
                </p:oleObj>
              </mc:Choice>
              <mc:Fallback>
                <p:oleObj name="公式" r:id="rId9" imgW="13843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310" y="4024197"/>
                        <a:ext cx="24917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乘号 15"/>
          <p:cNvSpPr/>
          <p:nvPr/>
        </p:nvSpPr>
        <p:spPr>
          <a:xfrm>
            <a:off x="628650" y="4041607"/>
            <a:ext cx="2608326" cy="376660"/>
          </a:xfrm>
          <a:prstGeom prst="mathMultiply">
            <a:avLst/>
          </a:prstGeom>
          <a:solidFill>
            <a:srgbClr val="FF0000">
              <a:alpha val="30000"/>
            </a:srgbClr>
          </a:solidFill>
          <a:ln>
            <a:solidFill>
              <a:srgbClr val="FF000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818613" y="4654067"/>
            <a:ext cx="7886700" cy="0"/>
          </a:xfrm>
          <a:prstGeom prst="straightConnector1">
            <a:avLst/>
          </a:prstGeom>
          <a:ln w="57150" cmpd="dbl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36517"/>
              </p:ext>
            </p:extLst>
          </p:nvPr>
        </p:nvGraphicFramePr>
        <p:xfrm>
          <a:off x="3097530" y="4988917"/>
          <a:ext cx="54178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9" name="公式" r:id="rId11" imgW="3009900" imgH="393700" progId="Equation.3">
                  <p:embed/>
                </p:oleObj>
              </mc:Choice>
              <mc:Fallback>
                <p:oleObj name="公式" r:id="rId11" imgW="30099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530" y="4988917"/>
                        <a:ext cx="541782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756891" y="4988917"/>
            <a:ext cx="2272059" cy="101566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inverse Fourier transform instead</a:t>
            </a:r>
          </a:p>
        </p:txBody>
      </p:sp>
    </p:spTree>
    <p:extLst>
      <p:ext uri="{BB962C8B-B14F-4D97-AF65-F5344CB8AC3E}">
        <p14:creationId xmlns:p14="http://schemas.microsoft.com/office/powerpoint/2010/main" val="51553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Fourier </a:t>
            </a:r>
            <a:r>
              <a:rPr lang="en-US" dirty="0" smtClean="0"/>
              <a:t>Transform of Periodic Signal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3363" y="4543605"/>
            <a:ext cx="7886700" cy="163804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FT of a periodic signal is a train of impulses </a:t>
            </a:r>
            <a:r>
              <a:rPr lang="en-US" dirty="0"/>
              <a:t>(frequency domain) </a:t>
            </a:r>
            <a:r>
              <a:rPr lang="en-US" dirty="0" smtClean="0"/>
              <a:t>which are not zero at only the </a:t>
            </a:r>
            <a:r>
              <a:rPr lang="en-US" dirty="0" smtClean="0">
                <a:solidFill>
                  <a:srgbClr val="C00000"/>
                </a:solidFill>
              </a:rPr>
              <a:t>harmonically related frequencies</a:t>
            </a:r>
          </a:p>
          <a:p>
            <a:r>
              <a:rPr lang="en-US" dirty="0"/>
              <a:t> </a:t>
            </a:r>
            <a:r>
              <a:rPr lang="en-US" dirty="0" smtClean="0"/>
              <a:t>The amplitude of the impulses (frequency domain) is determined by the Fourier transform of the signal limited within one period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§4.2 Fourier Transform of 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162763"/>
              </p:ext>
            </p:extLst>
          </p:nvPr>
        </p:nvGraphicFramePr>
        <p:xfrm>
          <a:off x="987552" y="1311128"/>
          <a:ext cx="19202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3" name="公式" r:id="rId3" imgW="1066800" imgH="431800" progId="Equation.3">
                  <p:embed/>
                </p:oleObj>
              </mc:Choice>
              <mc:Fallback>
                <p:oleObj name="公式" r:id="rId3" imgW="10668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552" y="1311128"/>
                        <a:ext cx="19202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564566"/>
              </p:ext>
            </p:extLst>
          </p:nvPr>
        </p:nvGraphicFramePr>
        <p:xfrm>
          <a:off x="987552" y="3840163"/>
          <a:ext cx="24923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4" name="公式" r:id="rId5" imgW="1384200" imgH="330120" progId="Equation.3">
                  <p:embed/>
                </p:oleObj>
              </mc:Choice>
              <mc:Fallback>
                <p:oleObj name="公式" r:id="rId5" imgW="1384200" imgH="33012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552" y="3840163"/>
                        <a:ext cx="249237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185627"/>
              </p:ext>
            </p:extLst>
          </p:nvPr>
        </p:nvGraphicFramePr>
        <p:xfrm>
          <a:off x="3920490" y="3734362"/>
          <a:ext cx="2194560" cy="84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5" name="公式" r:id="rId7" imgW="1219200" imgH="469900" progId="Equation.3">
                  <p:embed/>
                </p:oleObj>
              </mc:Choice>
              <mc:Fallback>
                <p:oleObj name="公式" r:id="rId7" imgW="1219200" imgH="4699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0490" y="3734362"/>
                        <a:ext cx="2194560" cy="8458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465214" y="5742470"/>
            <a:ext cx="2560682" cy="400110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eriodic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discrete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735404"/>
              </p:ext>
            </p:extLst>
          </p:nvPr>
        </p:nvGraphicFramePr>
        <p:xfrm>
          <a:off x="3209543" y="1288024"/>
          <a:ext cx="3406140" cy="2377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6" name="公式" r:id="rId9" imgW="1892300" imgH="1320800" progId="Equation.3">
                  <p:embed/>
                </p:oleObj>
              </mc:Choice>
              <mc:Fallback>
                <p:oleObj name="公式" r:id="rId9" imgW="1892300" imgH="13208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543" y="1288024"/>
                        <a:ext cx="3406140" cy="23774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34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77606" cy="792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Fourier Transform of Periodic Square Wave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§4.2 Fourier Transform of Periodic </a:t>
            </a:r>
            <a:r>
              <a:rPr lang="en-US" dirty="0" smtClean="0"/>
              <a:t>Signal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21" y="1370916"/>
            <a:ext cx="3227687" cy="1338442"/>
          </a:xfrm>
          <a:prstGeom prst="rect">
            <a:avLst/>
          </a:prstGeom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447378"/>
              </p:ext>
            </p:extLst>
          </p:nvPr>
        </p:nvGraphicFramePr>
        <p:xfrm>
          <a:off x="3954780" y="2278955"/>
          <a:ext cx="432054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5" name="公式" r:id="rId4" imgW="2400300" imgH="889000" progId="Equation.3">
                  <p:embed/>
                </p:oleObj>
              </mc:Choice>
              <mc:Fallback>
                <p:oleObj name="公式" r:id="rId4" imgW="2400300" imgH="889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780" y="2278955"/>
                        <a:ext cx="432054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209897"/>
              </p:ext>
            </p:extLst>
          </p:nvPr>
        </p:nvGraphicFramePr>
        <p:xfrm>
          <a:off x="3954779" y="1478023"/>
          <a:ext cx="42976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6" name="公式" r:id="rId6" imgW="2387600" imgH="431800" progId="Equation.3">
                  <p:embed/>
                </p:oleObj>
              </mc:Choice>
              <mc:Fallback>
                <p:oleObj name="公式" r:id="rId6" imgW="23876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779" y="1478023"/>
                        <a:ext cx="42976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920" y="3030255"/>
            <a:ext cx="4170947" cy="31275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664866" y="4254037"/>
            <a:ext cx="3153253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=0.5</a:t>
            </a:r>
          </a:p>
        </p:txBody>
      </p:sp>
    </p:spTree>
    <p:extLst>
      <p:ext uri="{BB962C8B-B14F-4D97-AF65-F5344CB8AC3E}">
        <p14:creationId xmlns:p14="http://schemas.microsoft.com/office/powerpoint/2010/main" val="365352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593812"/>
            <a:ext cx="7886700" cy="792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Fourier Transform of Sinusoidal Signals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§4.2 Fourier Transform of 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171154"/>
              </p:ext>
            </p:extLst>
          </p:nvPr>
        </p:nvGraphicFramePr>
        <p:xfrm>
          <a:off x="704087" y="1508760"/>
          <a:ext cx="14859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08" name="公式" r:id="rId3" imgW="825500" imgH="228600" progId="Equation.3">
                  <p:embed/>
                </p:oleObj>
              </mc:Choice>
              <mc:Fallback>
                <p:oleObj name="公式" r:id="rId3" imgW="8255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87" y="1508760"/>
                        <a:ext cx="148590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584154"/>
              </p:ext>
            </p:extLst>
          </p:nvPr>
        </p:nvGraphicFramePr>
        <p:xfrm>
          <a:off x="704087" y="1871505"/>
          <a:ext cx="29718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09" name="公式" r:id="rId5" imgW="1651000" imgH="431800" progId="Equation.3">
                  <p:embed/>
                </p:oleObj>
              </mc:Choice>
              <mc:Fallback>
                <p:oleObj name="公式" r:id="rId5" imgW="16510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87" y="1871505"/>
                        <a:ext cx="29718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090267"/>
              </p:ext>
            </p:extLst>
          </p:nvPr>
        </p:nvGraphicFramePr>
        <p:xfrm>
          <a:off x="698485" y="2647786"/>
          <a:ext cx="617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10" name="公式" r:id="rId7" imgW="3429000" imgH="444500" progId="Equation.3">
                  <p:embed/>
                </p:oleObj>
              </mc:Choice>
              <mc:Fallback>
                <p:oleObj name="公式" r:id="rId7" imgW="34290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485" y="2647786"/>
                        <a:ext cx="61722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57572"/>
              </p:ext>
            </p:extLst>
          </p:nvPr>
        </p:nvGraphicFramePr>
        <p:xfrm>
          <a:off x="698485" y="3447886"/>
          <a:ext cx="416052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11" name="公式" r:id="rId9" imgW="2311400" imgH="419100" progId="Equation.3">
                  <p:embed/>
                </p:oleObj>
              </mc:Choice>
              <mc:Fallback>
                <p:oleObj name="公式" r:id="rId9" imgW="23114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485" y="3447886"/>
                        <a:ext cx="416052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/>
          <p:nvPr/>
        </p:nvCxnSpPr>
        <p:spPr>
          <a:xfrm>
            <a:off x="698485" y="4229469"/>
            <a:ext cx="7886700" cy="0"/>
          </a:xfrm>
          <a:prstGeom prst="straightConnector1">
            <a:avLst/>
          </a:prstGeom>
          <a:ln w="57150" cmpd="dbl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458510"/>
              </p:ext>
            </p:extLst>
          </p:nvPr>
        </p:nvGraphicFramePr>
        <p:xfrm>
          <a:off x="755650" y="4440238"/>
          <a:ext cx="15779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12" name="公式" r:id="rId11" imgW="876240" imgH="228600" progId="Equation.3">
                  <p:embed/>
                </p:oleObj>
              </mc:Choice>
              <mc:Fallback>
                <p:oleObj name="公式" r:id="rId11" imgW="876240" imgH="2286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440238"/>
                        <a:ext cx="157797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286688"/>
              </p:ext>
            </p:extLst>
          </p:nvPr>
        </p:nvGraphicFramePr>
        <p:xfrm>
          <a:off x="755650" y="5145579"/>
          <a:ext cx="37258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13" name="公式" r:id="rId13" imgW="2070000" imgH="228600" progId="Equation.3">
                  <p:embed/>
                </p:oleObj>
              </mc:Choice>
              <mc:Fallback>
                <p:oleObj name="公式" r:id="rId13" imgW="2070000" imgH="228600" progId="Equation.3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145579"/>
                        <a:ext cx="3725862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72691"/>
              </p:ext>
            </p:extLst>
          </p:nvPr>
        </p:nvGraphicFramePr>
        <p:xfrm>
          <a:off x="2889503" y="4310292"/>
          <a:ext cx="244495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14" name="公式" r:id="rId15" imgW="1358310" imgH="393529" progId="Equation.3">
                  <p:embed/>
                </p:oleObj>
              </mc:Choice>
              <mc:Fallback>
                <p:oleObj name="公式" r:id="rId15" imgW="1358310" imgH="39352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503" y="4310292"/>
                        <a:ext cx="2444958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52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Fourier Transform of Sinusoidal </a:t>
            </a:r>
            <a:r>
              <a:rPr lang="en-US" sz="2800" dirty="0" smtClean="0"/>
              <a:t>Signals (</a:t>
            </a:r>
            <a:r>
              <a:rPr lang="en-US" sz="2800" dirty="0" err="1" smtClean="0"/>
              <a:t>cont</a:t>
            </a:r>
            <a:r>
              <a:rPr lang="en-US" sz="2800" dirty="0" smtClean="0"/>
              <a:t>’)</a:t>
            </a:r>
            <a:endParaRPr 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§4.2 Fourier Transform of Periodic </a:t>
            </a:r>
            <a:r>
              <a:rPr lang="en-US" dirty="0" smtClean="0"/>
              <a:t>Signal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012" y="1547741"/>
            <a:ext cx="3371283" cy="4029761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363457"/>
              </p:ext>
            </p:extLst>
          </p:nvPr>
        </p:nvGraphicFramePr>
        <p:xfrm>
          <a:off x="1005839" y="2404872"/>
          <a:ext cx="14859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54" name="公式" r:id="rId4" imgW="825500" imgH="228600" progId="Equation.3">
                  <p:embed/>
                </p:oleObj>
              </mc:Choice>
              <mc:Fallback>
                <p:oleObj name="公式" r:id="rId4" imgW="825500" imgH="2286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39" y="2404872"/>
                        <a:ext cx="148590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015779"/>
              </p:ext>
            </p:extLst>
          </p:nvPr>
        </p:nvGraphicFramePr>
        <p:xfrm>
          <a:off x="1005839" y="4714558"/>
          <a:ext cx="15779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55" name="公式" r:id="rId6" imgW="876240" imgH="228600" progId="Equation.3">
                  <p:embed/>
                </p:oleObj>
              </mc:Choice>
              <mc:Fallback>
                <p:oleObj name="公式" r:id="rId6" imgW="876240" imgH="2286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39" y="4714558"/>
                        <a:ext cx="157797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/>
          <p:cNvCxnSpPr/>
          <p:nvPr/>
        </p:nvCxnSpPr>
        <p:spPr>
          <a:xfrm>
            <a:off x="725917" y="3817989"/>
            <a:ext cx="7886700" cy="0"/>
          </a:xfrm>
          <a:prstGeom prst="straightConnector1">
            <a:avLst/>
          </a:prstGeom>
          <a:ln w="57150" cmpd="dbl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3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Fourier Transform of Periodic Impulse Train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Periodic impulse train      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altLang="zh-CN" dirty="0" smtClean="0"/>
              <a:t>--</a:t>
            </a:r>
            <a:r>
              <a:rPr lang="en-US" altLang="zh-CN" dirty="0">
                <a:solidFill>
                  <a:srgbClr val="FF0000"/>
                </a:solidFill>
              </a:rPr>
              <a:t>NOT</a:t>
            </a:r>
            <a:r>
              <a:rPr lang="en-US" dirty="0" smtClean="0">
                <a:solidFill>
                  <a:srgbClr val="FF0000"/>
                </a:solidFill>
              </a:rPr>
              <a:t> absolutely </a:t>
            </a:r>
            <a:r>
              <a:rPr lang="en-US" dirty="0" err="1" smtClean="0">
                <a:solidFill>
                  <a:srgbClr val="FF0000"/>
                </a:solidFill>
              </a:rPr>
              <a:t>integrable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！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 </a:t>
            </a:r>
            <a:r>
              <a:rPr lang="en-US" dirty="0" smtClean="0"/>
              <a:t>Fourier series </a:t>
            </a:r>
          </a:p>
          <a:p>
            <a:endParaRPr lang="en-US" dirty="0"/>
          </a:p>
          <a:p>
            <a:r>
              <a:rPr lang="en-US" dirty="0" smtClean="0"/>
              <a:t> Fourier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§4.2 Fourier Transform of Periodic </a:t>
            </a:r>
            <a:r>
              <a:rPr lang="en-US" dirty="0" smtClean="0"/>
              <a:t>Signal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941634"/>
              </p:ext>
            </p:extLst>
          </p:nvPr>
        </p:nvGraphicFramePr>
        <p:xfrm>
          <a:off x="4824603" y="1199569"/>
          <a:ext cx="21488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77" name="公式" r:id="rId3" imgW="1193800" imgH="431800" progId="Equation.3">
                  <p:embed/>
                </p:oleObj>
              </mc:Choice>
              <mc:Fallback>
                <p:oleObj name="公式" r:id="rId3" imgW="11938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603" y="1199569"/>
                        <a:ext cx="21488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439910"/>
              </p:ext>
            </p:extLst>
          </p:nvPr>
        </p:nvGraphicFramePr>
        <p:xfrm>
          <a:off x="1447262" y="2708055"/>
          <a:ext cx="30861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78" name="公式" r:id="rId5" imgW="1714500" imgH="393700" progId="Equation.3">
                  <p:embed/>
                </p:oleObj>
              </mc:Choice>
              <mc:Fallback>
                <p:oleObj name="公式" r:id="rId5" imgW="17145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262" y="2708055"/>
                        <a:ext cx="30861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333941"/>
              </p:ext>
            </p:extLst>
          </p:nvPr>
        </p:nvGraphicFramePr>
        <p:xfrm>
          <a:off x="4935990" y="2541128"/>
          <a:ext cx="315468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79" name="公式" r:id="rId7" imgW="1752600" imgH="444500" progId="Equation.3">
                  <p:embed/>
                </p:oleObj>
              </mc:Choice>
              <mc:Fallback>
                <p:oleObj name="公式" r:id="rId7" imgW="17526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990" y="2541128"/>
                        <a:ext cx="315468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385844"/>
              </p:ext>
            </p:extLst>
          </p:nvPr>
        </p:nvGraphicFramePr>
        <p:xfrm>
          <a:off x="3741600" y="3459158"/>
          <a:ext cx="31089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80" name="公式" r:id="rId9" imgW="1727200" imgH="431800" progId="Equation.3">
                  <p:embed/>
                </p:oleObj>
              </mc:Choice>
              <mc:Fallback>
                <p:oleObj name="公式" r:id="rId9" imgW="17272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600" y="3459158"/>
                        <a:ext cx="31089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774" y="4156285"/>
            <a:ext cx="7253896" cy="180415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028950" y="5997055"/>
            <a:ext cx="2560682" cy="400110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eriodic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discrete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71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Extra Notation for Fourier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4.3 </a:t>
            </a:r>
            <a:r>
              <a:rPr lang="en-US" dirty="0"/>
              <a:t>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360054"/>
              </p:ext>
            </p:extLst>
          </p:nvPr>
        </p:nvGraphicFramePr>
        <p:xfrm>
          <a:off x="1124336" y="2850260"/>
          <a:ext cx="25831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80" name="公式" r:id="rId3" imgW="1435100" imgH="330200" progId="Equation.3">
                  <p:embed/>
                </p:oleObj>
              </mc:Choice>
              <mc:Fallback>
                <p:oleObj name="公式" r:id="rId3" imgW="1435100" imgH="3302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336" y="2850260"/>
                        <a:ext cx="258318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885997"/>
              </p:ext>
            </p:extLst>
          </p:nvPr>
        </p:nvGraphicFramePr>
        <p:xfrm>
          <a:off x="1124336" y="1649517"/>
          <a:ext cx="3016211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81" name="公式" r:id="rId5" imgW="1675673" imgH="393529" progId="Equation.3">
                  <p:embed/>
                </p:oleObj>
              </mc:Choice>
              <mc:Fallback>
                <p:oleObj name="公式" r:id="rId5" imgW="1675673" imgH="393529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336" y="1649517"/>
                        <a:ext cx="3016211" cy="70835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905273"/>
              </p:ext>
            </p:extLst>
          </p:nvPr>
        </p:nvGraphicFramePr>
        <p:xfrm>
          <a:off x="5505040" y="2357869"/>
          <a:ext cx="1622356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82" name="公式" r:id="rId7" imgW="901309" imgH="304668" progId="Equation.3">
                  <p:embed/>
                </p:oleObj>
              </mc:Choice>
              <mc:Fallback>
                <p:oleObj name="公式" r:id="rId7" imgW="901309" imgH="3046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040" y="2357869"/>
                        <a:ext cx="1622356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燕尾形 10"/>
          <p:cNvSpPr/>
          <p:nvPr/>
        </p:nvSpPr>
        <p:spPr>
          <a:xfrm>
            <a:off x="4389120" y="2130552"/>
            <a:ext cx="795528" cy="92217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03333"/>
              </p:ext>
            </p:extLst>
          </p:nvPr>
        </p:nvGraphicFramePr>
        <p:xfrm>
          <a:off x="5345089" y="3774434"/>
          <a:ext cx="1942258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83" name="公式" r:id="rId9" imgW="1079032" imgH="215806" progId="Equation.3">
                  <p:embed/>
                </p:oleObj>
              </mc:Choice>
              <mc:Fallback>
                <p:oleObj name="公式" r:id="rId9" imgW="1079032" imgH="2158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089" y="3774434"/>
                        <a:ext cx="1942258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26087"/>
              </p:ext>
            </p:extLst>
          </p:nvPr>
        </p:nvGraphicFramePr>
        <p:xfrm>
          <a:off x="5394960" y="4460747"/>
          <a:ext cx="21259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84" name="公式" r:id="rId11" imgW="1181100" imgH="228600" progId="Equation.3">
                  <p:embed/>
                </p:oleObj>
              </mc:Choice>
              <mc:Fallback>
                <p:oleObj name="公式" r:id="rId11" imgW="11811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960" y="4460747"/>
                        <a:ext cx="21259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848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Linearity of Fourier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123289"/>
              </p:ext>
            </p:extLst>
          </p:nvPr>
        </p:nvGraphicFramePr>
        <p:xfrm>
          <a:off x="1267431" y="1973658"/>
          <a:ext cx="5829300" cy="11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9" name="公式" r:id="rId3" imgW="3238500" imgH="660400" progId="Equation.3">
                  <p:embed/>
                </p:oleObj>
              </mc:Choice>
              <mc:Fallback>
                <p:oleObj name="公式" r:id="rId3" imgW="3238500" imgH="660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431" y="1973658"/>
                        <a:ext cx="5829300" cy="118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76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Shifting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123944"/>
            <a:ext cx="8049006" cy="768097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 Time shift does not change the </a:t>
            </a:r>
            <a:r>
              <a:rPr lang="en-US" b="1" dirty="0" smtClean="0">
                <a:solidFill>
                  <a:srgbClr val="C00000"/>
                </a:solidFill>
              </a:rPr>
              <a:t>magnitude</a:t>
            </a:r>
            <a:r>
              <a:rPr lang="en-US" dirty="0" smtClean="0"/>
              <a:t> of FT</a:t>
            </a:r>
          </a:p>
          <a:p>
            <a:r>
              <a:rPr lang="en-US" dirty="0"/>
              <a:t> </a:t>
            </a:r>
            <a:r>
              <a:rPr lang="en-US" dirty="0" smtClean="0"/>
              <a:t>Time shift only leads to phase shift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821283"/>
              </p:ext>
            </p:extLst>
          </p:nvPr>
        </p:nvGraphicFramePr>
        <p:xfrm>
          <a:off x="646938" y="1300860"/>
          <a:ext cx="452628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9" name="公式" r:id="rId3" imgW="2514600" imgH="317500" progId="Equation.3">
                  <p:embed/>
                </p:oleObj>
              </mc:Choice>
              <mc:Fallback>
                <p:oleObj name="公式" r:id="rId3" imgW="2514600" imgH="317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38" y="1300860"/>
                        <a:ext cx="452628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547361"/>
              </p:ext>
            </p:extLst>
          </p:nvPr>
        </p:nvGraphicFramePr>
        <p:xfrm>
          <a:off x="628650" y="1768284"/>
          <a:ext cx="3886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0" name="公式" r:id="rId5" imgW="2159000" imgH="1270000" progId="Equation.3">
                  <p:embed/>
                </p:oleObj>
              </mc:Choice>
              <mc:Fallback>
                <p:oleObj name="公式" r:id="rId5" imgW="2159000" imgH="1270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768284"/>
                        <a:ext cx="388620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9076"/>
              </p:ext>
            </p:extLst>
          </p:nvPr>
        </p:nvGraphicFramePr>
        <p:xfrm>
          <a:off x="1316735" y="4892041"/>
          <a:ext cx="28346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1" name="公式" r:id="rId7" imgW="1574800" imgH="254000" progId="Equation.3">
                  <p:embed/>
                </p:oleObj>
              </mc:Choice>
              <mc:Fallback>
                <p:oleObj name="公式" r:id="rId7" imgW="1574800" imgH="254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735" y="4892041"/>
                        <a:ext cx="283464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714088"/>
              </p:ext>
            </p:extLst>
          </p:nvPr>
        </p:nvGraphicFramePr>
        <p:xfrm>
          <a:off x="1316735" y="5561634"/>
          <a:ext cx="52806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2" name="公式" r:id="rId9" imgW="2933700" imgH="254000" progId="Equation.3">
                  <p:embed/>
                </p:oleObj>
              </mc:Choice>
              <mc:Fallback>
                <p:oleObj name="公式" r:id="rId9" imgW="29337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735" y="5561634"/>
                        <a:ext cx="528066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258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4.9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81" y="1467132"/>
            <a:ext cx="4005450" cy="21699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674" y="1224741"/>
            <a:ext cx="3632850" cy="4309002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128409"/>
              </p:ext>
            </p:extLst>
          </p:nvPr>
        </p:nvGraphicFramePr>
        <p:xfrm>
          <a:off x="5797233" y="5963142"/>
          <a:ext cx="2103437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9" name="公式" r:id="rId5" imgW="1168200" imgH="393480" progId="Equation.3">
                  <p:embed/>
                </p:oleObj>
              </mc:Choice>
              <mc:Fallback>
                <p:oleObj name="公式" r:id="rId5" imgW="1168200" imgH="39348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233" y="5963142"/>
                        <a:ext cx="2103437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641848" y="5563032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rectangle pulse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757659"/>
              </p:ext>
            </p:extLst>
          </p:nvPr>
        </p:nvGraphicFramePr>
        <p:xfrm>
          <a:off x="593323" y="4425614"/>
          <a:ext cx="42976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0" name="公式" r:id="rId7" imgW="2387600" imgH="393700" progId="Equation.3">
                  <p:embed/>
                </p:oleObj>
              </mc:Choice>
              <mc:Fallback>
                <p:oleObj name="公式" r:id="rId7" imgW="23876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323" y="4425614"/>
                        <a:ext cx="42976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226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13014" cy="79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Conjugation and Conjugate Symmetry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515350" cy="48688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Conjugation property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real, </a:t>
            </a:r>
            <a:r>
              <a:rPr lang="en-US" i="1" dirty="0" smtClean="0"/>
              <a:t>X</a:t>
            </a:r>
            <a:r>
              <a:rPr lang="en-US" baseline="30000" dirty="0" smtClean="0"/>
              <a:t>*</a:t>
            </a:r>
            <a:r>
              <a:rPr lang="en-US" dirty="0" smtClean="0"/>
              <a:t>(-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</a:t>
            </a:r>
            <a:r>
              <a:rPr lang="en-US" dirty="0" smtClean="0"/>
              <a:t>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/>
              <a:t>ω</a:t>
            </a:r>
            <a:r>
              <a:rPr lang="en-US" dirty="0" smtClean="0"/>
              <a:t>) (</a:t>
            </a:r>
            <a:r>
              <a:rPr lang="en-US" b="1" dirty="0" smtClean="0">
                <a:solidFill>
                  <a:srgbClr val="C00000"/>
                </a:solidFill>
              </a:rPr>
              <a:t>Conjugate Symmetry</a:t>
            </a:r>
            <a:r>
              <a:rPr lang="en-US" dirty="0"/>
              <a:t>)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Example: 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100166"/>
              </p:ext>
            </p:extLst>
          </p:nvPr>
        </p:nvGraphicFramePr>
        <p:xfrm>
          <a:off x="4685157" y="1308100"/>
          <a:ext cx="390906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18" name="公式" r:id="rId3" imgW="2171700" imgH="304800" progId="Equation.3">
                  <p:embed/>
                </p:oleObj>
              </mc:Choice>
              <mc:Fallback>
                <p:oleObj name="公式" r:id="rId3" imgW="2171700" imgH="304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5157" y="1308100"/>
                        <a:ext cx="390906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083837"/>
              </p:ext>
            </p:extLst>
          </p:nvPr>
        </p:nvGraphicFramePr>
        <p:xfrm>
          <a:off x="1371599" y="1938527"/>
          <a:ext cx="4914900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19" name="公式" r:id="rId5" imgW="2730500" imgH="406400" progId="Equation.3">
                  <p:embed/>
                </p:oleObj>
              </mc:Choice>
              <mc:Fallback>
                <p:oleObj name="公式" r:id="rId5" imgW="2730500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599" y="1938527"/>
                        <a:ext cx="4914900" cy="731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342341"/>
              </p:ext>
            </p:extLst>
          </p:nvPr>
        </p:nvGraphicFramePr>
        <p:xfrm>
          <a:off x="1499616" y="3322037"/>
          <a:ext cx="56921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0" name="公式" r:id="rId7" imgW="3162300" imgH="330200" progId="Equation.3">
                  <p:embed/>
                </p:oleObj>
              </mc:Choice>
              <mc:Fallback>
                <p:oleObj name="公式" r:id="rId7" imgW="3162300" imgH="330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616" y="3322037"/>
                        <a:ext cx="569214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02600"/>
              </p:ext>
            </p:extLst>
          </p:nvPr>
        </p:nvGraphicFramePr>
        <p:xfrm>
          <a:off x="2679256" y="3916397"/>
          <a:ext cx="16017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1" name="公式" r:id="rId9" imgW="888840" imgH="228600" progId="Equation.3">
                  <p:embed/>
                </p:oleObj>
              </mc:Choice>
              <mc:Fallback>
                <p:oleObj name="公式" r:id="rId9" imgW="888840" imgH="2286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256" y="3916397"/>
                        <a:ext cx="1601787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92088"/>
              </p:ext>
            </p:extLst>
          </p:nvPr>
        </p:nvGraphicFramePr>
        <p:xfrm>
          <a:off x="2151125" y="4527684"/>
          <a:ext cx="191928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2" name="公式" r:id="rId11" imgW="1066680" imgH="419040" progId="Equation.3">
                  <p:embed/>
                </p:oleObj>
              </mc:Choice>
              <mc:Fallback>
                <p:oleObj name="公式" r:id="rId11" imgW="1066680" imgH="41904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125" y="4527684"/>
                        <a:ext cx="1919288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65533"/>
              </p:ext>
            </p:extLst>
          </p:nvPr>
        </p:nvGraphicFramePr>
        <p:xfrm>
          <a:off x="2171700" y="5169508"/>
          <a:ext cx="4800600" cy="89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3" name="公式" r:id="rId13" imgW="2667000" imgH="495300" progId="Equation.3">
                  <p:embed/>
                </p:oleObj>
              </mc:Choice>
              <mc:Fallback>
                <p:oleObj name="公式" r:id="rId13" imgW="2667000" imgH="495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169508"/>
                        <a:ext cx="4800600" cy="8915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005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Extra Discussion on Conjugate Symmetry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295894" cy="4868863"/>
          </a:xfrm>
        </p:spPr>
        <p:txBody>
          <a:bodyPr/>
          <a:lstStyle/>
          <a:p>
            <a:r>
              <a:rPr lang="en-US" dirty="0" smtClean="0"/>
              <a:t> 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real, </a:t>
            </a:r>
            <a:r>
              <a:rPr lang="en-US" i="1" dirty="0"/>
              <a:t>X</a:t>
            </a:r>
            <a:r>
              <a:rPr lang="en-US" baseline="30000" dirty="0"/>
              <a:t>*</a:t>
            </a:r>
            <a:r>
              <a:rPr lang="en-US" dirty="0"/>
              <a:t>(-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)=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(</a:t>
            </a:r>
            <a:r>
              <a:rPr lang="en-US" b="1" dirty="0">
                <a:solidFill>
                  <a:srgbClr val="C00000"/>
                </a:solidFill>
              </a:rPr>
              <a:t>Conjugate Symmetry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real, </a:t>
            </a:r>
            <a:r>
              <a:rPr lang="en-US" dirty="0" smtClean="0"/>
              <a:t>the real part of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</a:t>
            </a:r>
            <a:r>
              <a:rPr lang="en-US" dirty="0" smtClean="0"/>
              <a:t>is even, and the imaginary part of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</a:t>
            </a:r>
            <a:r>
              <a:rPr lang="en-US" dirty="0" smtClean="0"/>
              <a:t>is odd</a:t>
            </a:r>
          </a:p>
          <a:p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altLang="zh-CN" dirty="0" smtClean="0"/>
              <a:t>  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/>
              <a:t>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real, the </a:t>
            </a:r>
            <a:r>
              <a:rPr lang="en-US" dirty="0" smtClean="0"/>
              <a:t>magnitude of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is </a:t>
            </a:r>
            <a:r>
              <a:rPr lang="en-US" dirty="0" smtClean="0"/>
              <a:t>even, and the phase of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</a:t>
            </a:r>
            <a:r>
              <a:rPr lang="en-US" dirty="0" smtClean="0"/>
              <a:t>is odd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290751"/>
              </p:ext>
            </p:extLst>
          </p:nvPr>
        </p:nvGraphicFramePr>
        <p:xfrm>
          <a:off x="1197863" y="1883664"/>
          <a:ext cx="3930214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72" name="公式" r:id="rId3" imgW="2183452" imgH="215806" progId="Equation.3">
                  <p:embed/>
                </p:oleObj>
              </mc:Choice>
              <mc:Fallback>
                <p:oleObj name="公式" r:id="rId3" imgW="2183452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7863" y="1883664"/>
                        <a:ext cx="3930214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541317"/>
              </p:ext>
            </p:extLst>
          </p:nvPr>
        </p:nvGraphicFramePr>
        <p:xfrm>
          <a:off x="1261872" y="2423089"/>
          <a:ext cx="2947660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73" name="公式" r:id="rId5" imgW="1637589" imgH="215806" progId="Equation.3">
                  <p:embed/>
                </p:oleObj>
              </mc:Choice>
              <mc:Fallback>
                <p:oleObj name="公式" r:id="rId5" imgW="1637589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872" y="2423089"/>
                        <a:ext cx="2947660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819113"/>
              </p:ext>
            </p:extLst>
          </p:nvPr>
        </p:nvGraphicFramePr>
        <p:xfrm>
          <a:off x="4447589" y="2446691"/>
          <a:ext cx="3039061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74" name="公式" r:id="rId7" imgW="1688367" imgH="215806" progId="Equation.3">
                  <p:embed/>
                </p:oleObj>
              </mc:Choice>
              <mc:Fallback>
                <p:oleObj name="公式" r:id="rId7" imgW="1688367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7589" y="2446691"/>
                        <a:ext cx="3039061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089285"/>
              </p:ext>
            </p:extLst>
          </p:nvPr>
        </p:nvGraphicFramePr>
        <p:xfrm>
          <a:off x="1261872" y="3726226"/>
          <a:ext cx="274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75" name="公式" r:id="rId9" imgW="1524000" imgH="254000" progId="Equation.3">
                  <p:embed/>
                </p:oleObj>
              </mc:Choice>
              <mc:Fallback>
                <p:oleObj name="公式" r:id="rId9" imgW="1524000" imgH="254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872" y="3726226"/>
                        <a:ext cx="2743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098690"/>
              </p:ext>
            </p:extLst>
          </p:nvPr>
        </p:nvGraphicFramePr>
        <p:xfrm>
          <a:off x="4209532" y="3721531"/>
          <a:ext cx="331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76" name="公式" r:id="rId11" imgW="1841500" imgH="254000" progId="Equation.3">
                  <p:embed/>
                </p:oleObj>
              </mc:Choice>
              <mc:Fallback>
                <p:oleObj name="公式" r:id="rId11" imgW="1841500" imgH="254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9532" y="3721531"/>
                        <a:ext cx="3314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362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350758" cy="792000"/>
          </a:xfrm>
        </p:spPr>
        <p:txBody>
          <a:bodyPr>
            <a:noAutofit/>
          </a:bodyPr>
          <a:lstStyle/>
          <a:p>
            <a:r>
              <a:rPr lang="en-US" altLang="zh-CN" sz="3200" dirty="0" smtClean="0"/>
              <a:t>Fourier Transform of Real Signal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277606" cy="4868863"/>
          </a:xfrm>
        </p:spPr>
        <p:txBody>
          <a:bodyPr/>
          <a:lstStyle/>
          <a:p>
            <a:r>
              <a:rPr lang="en-US" dirty="0" smtClean="0"/>
              <a:t> 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real, </a:t>
            </a:r>
            <a:r>
              <a:rPr lang="en-US" i="1" dirty="0"/>
              <a:t>X</a:t>
            </a:r>
            <a:r>
              <a:rPr lang="en-US" baseline="30000" dirty="0"/>
              <a:t>*</a:t>
            </a:r>
            <a:r>
              <a:rPr lang="en-US" dirty="0"/>
              <a:t>(-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)=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(</a:t>
            </a:r>
            <a:r>
              <a:rPr lang="en-US" b="1" dirty="0">
                <a:solidFill>
                  <a:srgbClr val="C00000"/>
                </a:solidFill>
              </a:rPr>
              <a:t>Conjugate Symmetry</a:t>
            </a:r>
            <a:r>
              <a:rPr lang="en-US" dirty="0"/>
              <a:t>)</a:t>
            </a:r>
          </a:p>
          <a:p>
            <a:r>
              <a:rPr lang="en-US" dirty="0" smtClean="0"/>
              <a:t> </a:t>
            </a:r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</a:t>
            </a:r>
            <a:r>
              <a:rPr lang="en-US" dirty="0" smtClean="0"/>
              <a:t>real and even, then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 smtClean="0"/>
              <a:t>) is real and even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i="1" dirty="0" smtClean="0"/>
              <a:t>Example 4.2 </a:t>
            </a:r>
          </a:p>
          <a:p>
            <a:r>
              <a:rPr lang="en-US" altLang="zh-CN" dirty="0" smtClean="0"/>
              <a:t>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real and </a:t>
            </a:r>
            <a:r>
              <a:rPr lang="en-US" dirty="0" smtClean="0"/>
              <a:t>odd, </a:t>
            </a:r>
            <a:r>
              <a:rPr lang="en-US" dirty="0"/>
              <a:t>then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 is </a:t>
            </a:r>
            <a:r>
              <a:rPr lang="en-US" dirty="0" smtClean="0"/>
              <a:t>purely imaginary and odd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643175"/>
              </p:ext>
            </p:extLst>
          </p:nvPr>
        </p:nvGraphicFramePr>
        <p:xfrm>
          <a:off x="1154430" y="2276855"/>
          <a:ext cx="73609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64" name="公式" r:id="rId3" imgW="4089400" imgH="330200" progId="Equation.3">
                  <p:embed/>
                </p:oleObj>
              </mc:Choice>
              <mc:Fallback>
                <p:oleObj name="公式" r:id="rId3" imgW="4089400" imgH="330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430" y="2276855"/>
                        <a:ext cx="73609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915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Fourier Transform of </a:t>
            </a:r>
            <a:r>
              <a:rPr lang="en-US" altLang="zh-CN" sz="3200" dirty="0" smtClean="0"/>
              <a:t>Even and Odd Functions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8423910" cy="332790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 Any signal is the summation of an even function and an odd function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real, </a:t>
            </a:r>
            <a:r>
              <a:rPr lang="en-US" dirty="0" smtClean="0"/>
              <a:t>then </a:t>
            </a:r>
            <a:r>
              <a:rPr lang="en-US" i="1" dirty="0" err="1" smtClean="0"/>
              <a:t>x</a:t>
            </a:r>
            <a:r>
              <a:rPr lang="en-US" i="1" baseline="-25000" dirty="0" err="1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</a:t>
            </a:r>
            <a:r>
              <a:rPr lang="en-US" dirty="0" smtClean="0"/>
              <a:t>and </a:t>
            </a:r>
            <a:r>
              <a:rPr lang="en-US" i="1" dirty="0" smtClean="0"/>
              <a:t>x</a:t>
            </a:r>
            <a:r>
              <a:rPr lang="en-US" i="1" baseline="-25000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dirty="0"/>
              <a:t> are both real </a:t>
            </a:r>
            <a:endParaRPr lang="en-US" dirty="0" smtClean="0"/>
          </a:p>
          <a:p>
            <a:r>
              <a:rPr lang="en-US" dirty="0" smtClean="0"/>
              <a:t>            is real and even,            is purely imaginary and odd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356441"/>
              </p:ext>
            </p:extLst>
          </p:nvPr>
        </p:nvGraphicFramePr>
        <p:xfrm>
          <a:off x="3298923" y="1594836"/>
          <a:ext cx="2171700" cy="187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33" name="公式" r:id="rId3" imgW="1206500" imgH="1041400" progId="Equation.3">
                  <p:embed/>
                </p:oleObj>
              </mc:Choice>
              <mc:Fallback>
                <p:oleObj name="公式" r:id="rId3" imgW="1206500" imgH="1041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923" y="1594836"/>
                        <a:ext cx="2171700" cy="1874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497166"/>
              </p:ext>
            </p:extLst>
          </p:nvPr>
        </p:nvGraphicFramePr>
        <p:xfrm>
          <a:off x="1042415" y="3941064"/>
          <a:ext cx="9144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34" name="公式" r:id="rId5" imgW="508000" imgH="228600" progId="Equation.3">
                  <p:embed/>
                </p:oleObj>
              </mc:Choice>
              <mc:Fallback>
                <p:oleObj name="公式" r:id="rId5" imgW="5080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415" y="3941064"/>
                        <a:ext cx="91440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639405"/>
              </p:ext>
            </p:extLst>
          </p:nvPr>
        </p:nvGraphicFramePr>
        <p:xfrm>
          <a:off x="4103370" y="3984277"/>
          <a:ext cx="9372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35" name="公式" r:id="rId7" imgW="520700" imgH="228600" progId="Equation.3">
                  <p:embed/>
                </p:oleObj>
              </mc:Choice>
              <mc:Fallback>
                <p:oleObj name="公式" r:id="rId7" imgW="5207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370" y="3984277"/>
                        <a:ext cx="93726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981714"/>
              </p:ext>
            </p:extLst>
          </p:nvPr>
        </p:nvGraphicFramePr>
        <p:xfrm>
          <a:off x="2724911" y="4533709"/>
          <a:ext cx="3040380" cy="123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36" name="公式" r:id="rId9" imgW="1689100" imgH="685800" progId="Equation.3">
                  <p:embed/>
                </p:oleObj>
              </mc:Choice>
              <mc:Fallback>
                <p:oleObj name="公式" r:id="rId9" imgW="1689100" imgH="685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911" y="4533709"/>
                        <a:ext cx="3040380" cy="12344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237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4.10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046927"/>
              </p:ext>
            </p:extLst>
          </p:nvPr>
        </p:nvGraphicFramePr>
        <p:xfrm>
          <a:off x="788670" y="1510561"/>
          <a:ext cx="22402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8" name="公式" r:id="rId3" imgW="1244600" imgH="419100" progId="Equation.3">
                  <p:embed/>
                </p:oleObj>
              </mc:Choice>
              <mc:Fallback>
                <p:oleObj name="公式" r:id="rId3" imgW="12446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70" y="1510561"/>
                        <a:ext cx="22402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809516"/>
              </p:ext>
            </p:extLst>
          </p:nvPr>
        </p:nvGraphicFramePr>
        <p:xfrm>
          <a:off x="788670" y="2458145"/>
          <a:ext cx="4229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9" name="公式" r:id="rId5" imgW="2349500" imgH="254000" progId="Equation.3">
                  <p:embed/>
                </p:oleObj>
              </mc:Choice>
              <mc:Fallback>
                <p:oleObj name="公式" r:id="rId5" imgW="2349500" imgH="2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70" y="2458145"/>
                        <a:ext cx="4229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02900"/>
              </p:ext>
            </p:extLst>
          </p:nvPr>
        </p:nvGraphicFramePr>
        <p:xfrm>
          <a:off x="971550" y="3298825"/>
          <a:ext cx="38639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80" name="公式" r:id="rId7" imgW="2145960" imgH="457200" progId="Equation.3">
                  <p:embed/>
                </p:oleObj>
              </mc:Choice>
              <mc:Fallback>
                <p:oleObj name="公式" r:id="rId7" imgW="214596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98825"/>
                        <a:ext cx="3863975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17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Differentiation and Integration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Differentiation property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 </a:t>
            </a:r>
            <a:r>
              <a:rPr lang="en-US" dirty="0" smtClean="0"/>
              <a:t>Integral Property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Example 4.11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761592"/>
              </p:ext>
            </p:extLst>
          </p:nvPr>
        </p:nvGraphicFramePr>
        <p:xfrm>
          <a:off x="4919471" y="1228427"/>
          <a:ext cx="20802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3" name="公式" r:id="rId3" imgW="1155700" imgH="393700" progId="Equation.3">
                  <p:embed/>
                </p:oleObj>
              </mc:Choice>
              <mc:Fallback>
                <p:oleObj name="公式" r:id="rId3" imgW="11557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471" y="1228427"/>
                        <a:ext cx="20802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675862"/>
              </p:ext>
            </p:extLst>
          </p:nvPr>
        </p:nvGraphicFramePr>
        <p:xfrm>
          <a:off x="1060704" y="1937241"/>
          <a:ext cx="3016211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4" name="公式" r:id="rId5" imgW="1675673" imgH="393529" progId="Equation.3">
                  <p:embed/>
                </p:oleObj>
              </mc:Choice>
              <mc:Fallback>
                <p:oleObj name="公式" r:id="rId5" imgW="1675673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704" y="1937241"/>
                        <a:ext cx="3016211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6853"/>
              </p:ext>
            </p:extLst>
          </p:nvPr>
        </p:nvGraphicFramePr>
        <p:xfrm>
          <a:off x="4366260" y="1937087"/>
          <a:ext cx="34975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5" name="公式" r:id="rId7" imgW="1943100" imgH="393700" progId="Equation.3">
                  <p:embed/>
                </p:oleObj>
              </mc:Choice>
              <mc:Fallback>
                <p:oleObj name="公式" r:id="rId7" imgW="19431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260" y="1937087"/>
                        <a:ext cx="34975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826974"/>
              </p:ext>
            </p:extLst>
          </p:nvPr>
        </p:nvGraphicFramePr>
        <p:xfrm>
          <a:off x="2094953" y="3439728"/>
          <a:ext cx="41833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6" name="公式" r:id="rId9" imgW="2324100" imgH="419100" progId="Equation.3">
                  <p:embed/>
                </p:oleObj>
              </mc:Choice>
              <mc:Fallback>
                <p:oleObj name="公式" r:id="rId9" imgW="2324100" imgH="4191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953" y="3439728"/>
                        <a:ext cx="41833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088731"/>
              </p:ext>
            </p:extLst>
          </p:nvPr>
        </p:nvGraphicFramePr>
        <p:xfrm>
          <a:off x="3322309" y="4438967"/>
          <a:ext cx="1211054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7" name="公式" r:id="rId11" imgW="672808" imgH="215806" progId="Equation.3">
                  <p:embed/>
                </p:oleObj>
              </mc:Choice>
              <mc:Fallback>
                <p:oleObj name="公式" r:id="rId11" imgW="672808" imgH="21580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309" y="4438967"/>
                        <a:ext cx="1211054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192928"/>
              </p:ext>
            </p:extLst>
          </p:nvPr>
        </p:nvGraphicFramePr>
        <p:xfrm>
          <a:off x="3291840" y="4867255"/>
          <a:ext cx="41148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8" name="公式" r:id="rId13" imgW="2286000" imgH="419100" progId="Equation.3">
                  <p:embed/>
                </p:oleObj>
              </mc:Choice>
              <mc:Fallback>
                <p:oleObj name="公式" r:id="rId13" imgW="2286000" imgH="4191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840" y="4867255"/>
                        <a:ext cx="41148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233780"/>
              </p:ext>
            </p:extLst>
          </p:nvPr>
        </p:nvGraphicFramePr>
        <p:xfrm>
          <a:off x="3291840" y="5537231"/>
          <a:ext cx="473202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9" name="公式" r:id="rId15" imgW="2628900" imgH="457200" progId="Equation.3">
                  <p:embed/>
                </p:oleObj>
              </mc:Choice>
              <mc:Fallback>
                <p:oleObj name="公式" r:id="rId15" imgW="2628900" imgH="457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840" y="5537231"/>
                        <a:ext cx="473202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990108"/>
              </p:ext>
            </p:extLst>
          </p:nvPr>
        </p:nvGraphicFramePr>
        <p:xfrm>
          <a:off x="1589296" y="5767775"/>
          <a:ext cx="1211054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00" name="公式" r:id="rId17" imgW="672808" imgH="203112" progId="Equation.3">
                  <p:embed/>
                </p:oleObj>
              </mc:Choice>
              <mc:Fallback>
                <p:oleObj name="公式" r:id="rId17" imgW="672808" imgH="20311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296" y="5767775"/>
                        <a:ext cx="1211054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333824" y="5728858"/>
            <a:ext cx="1257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896612" y="2666991"/>
            <a:ext cx="1739704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Always valid?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83729" y="2666991"/>
            <a:ext cx="3026447" cy="369332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Valid if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dc component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36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Fourier Transform of </a:t>
            </a:r>
            <a:r>
              <a:rPr lang="en-US" i="1" dirty="0" err="1" smtClean="0"/>
              <a:t>sgn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i="1" dirty="0" err="1" smtClean="0">
                <a:solidFill>
                  <a:srgbClr val="C00000"/>
                </a:solidFill>
              </a:rPr>
              <a:t>signum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function: no definition for </a:t>
            </a:r>
            <a:r>
              <a:rPr lang="en-US" i="1" dirty="0" smtClean="0"/>
              <a:t>t</a:t>
            </a:r>
            <a:r>
              <a:rPr lang="en-US" dirty="0" smtClean="0"/>
              <a:t>=0</a:t>
            </a:r>
          </a:p>
          <a:p>
            <a:endParaRPr lang="en-US" dirty="0"/>
          </a:p>
          <a:p>
            <a:r>
              <a:rPr lang="en-US" dirty="0" smtClean="0"/>
              <a:t> double-side odd-</a:t>
            </a:r>
            <a:r>
              <a:rPr lang="en-US" dirty="0" err="1" smtClean="0"/>
              <a:t>symetric</a:t>
            </a:r>
            <a:r>
              <a:rPr lang="en-US" dirty="0" smtClean="0"/>
              <a:t> exponential function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</a:t>
            </a:r>
          </a:p>
          <a:p>
            <a:r>
              <a:rPr lang="en-US" dirty="0" smtClean="0"/>
              <a:t> FT of </a:t>
            </a:r>
            <a:r>
              <a:rPr lang="en-US" i="1" dirty="0" err="1" smtClean="0"/>
              <a:t>sgn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259456" y="1738223"/>
                <a:ext cx="2288703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𝑠𝑔𝑛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1         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−1      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56" y="1738223"/>
                <a:ext cx="2288703" cy="617861"/>
              </a:xfrm>
              <a:prstGeom prst="rect">
                <a:avLst/>
              </a:prstGeom>
              <a:blipFill>
                <a:blip r:embed="rId2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178965" y="1862487"/>
                <a:ext cx="25272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𝑠𝑔𝑛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965" y="1862487"/>
                <a:ext cx="252723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140192" y="2799271"/>
                <a:ext cx="30335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192" y="2799271"/>
                <a:ext cx="303352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071560" y="3158759"/>
                <a:ext cx="2528256" cy="6612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60" y="3158759"/>
                <a:ext cx="2528256" cy="6612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3861160" y="3158759"/>
                <a:ext cx="2483372" cy="6612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160" y="3158759"/>
                <a:ext cx="2483372" cy="6612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139679" y="3824001"/>
                <a:ext cx="3218382" cy="5162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79" y="3824001"/>
                <a:ext cx="3218382" cy="516295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139679" y="4993141"/>
                <a:ext cx="2029658" cy="453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𝑠𝑔𝑛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79" y="4993141"/>
                <a:ext cx="2029658" cy="453201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3251569" y="4960150"/>
                <a:ext cx="2563587" cy="519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569" y="4960150"/>
                <a:ext cx="2563587" cy="519181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0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414766" cy="79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Fourier Transform of Constant Signal </a:t>
            </a:r>
            <a:r>
              <a:rPr lang="en-US" sz="2800" i="1" dirty="0" smtClean="0"/>
              <a:t>C </a:t>
            </a:r>
            <a:r>
              <a:rPr lang="en-US" sz="2800" dirty="0" smtClean="0"/>
              <a:t>and Step Signal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0862" y="4318858"/>
            <a:ext cx="7886700" cy="141012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92875"/>
            <a:ext cx="3086100" cy="365125"/>
          </a:xfrm>
        </p:spPr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2930" y="1352926"/>
          <a:ext cx="24460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0" name="公式" r:id="rId3" imgW="1358640" imgH="507960" progId="Equation.3">
                  <p:embed/>
                </p:oleObj>
              </mc:Choice>
              <mc:Fallback>
                <p:oleObj name="公式" r:id="rId3" imgW="1358640" imgH="50796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" y="1352926"/>
                        <a:ext cx="244602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128587"/>
              </p:ext>
            </p:extLst>
          </p:nvPr>
        </p:nvGraphicFramePr>
        <p:xfrm>
          <a:off x="582930" y="2271422"/>
          <a:ext cx="386556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1" name="公式" r:id="rId5" imgW="2145960" imgH="406080" progId="Equation.3">
                  <p:embed/>
                </p:oleObj>
              </mc:Choice>
              <mc:Fallback>
                <p:oleObj name="公式" r:id="rId5" imgW="2145960" imgH="40608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" y="2271422"/>
                        <a:ext cx="386556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043559"/>
              </p:ext>
            </p:extLst>
          </p:nvPr>
        </p:nvGraphicFramePr>
        <p:xfrm>
          <a:off x="582930" y="3002315"/>
          <a:ext cx="157734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2" name="公式" r:id="rId7" imgW="876300" imgH="292100" progId="Equation.3">
                  <p:embed/>
                </p:oleObj>
              </mc:Choice>
              <mc:Fallback>
                <p:oleObj name="公式" r:id="rId7" imgW="876300" imgH="2921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" y="3002315"/>
                        <a:ext cx="1577340" cy="5257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487568"/>
              </p:ext>
            </p:extLst>
          </p:nvPr>
        </p:nvGraphicFramePr>
        <p:xfrm>
          <a:off x="550862" y="3562023"/>
          <a:ext cx="58978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3" name="公式" r:id="rId9" imgW="3276600" imgH="431800" progId="Equation.3">
                  <p:embed/>
                </p:oleObj>
              </mc:Choice>
              <mc:Fallback>
                <p:oleObj name="公式" r:id="rId9" imgW="3276600" imgH="431800" progId="Equation.3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" y="3562023"/>
                        <a:ext cx="58978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327155"/>
              </p:ext>
            </p:extLst>
          </p:nvPr>
        </p:nvGraphicFramePr>
        <p:xfrm>
          <a:off x="5675376" y="1316276"/>
          <a:ext cx="19431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4" name="公式" r:id="rId11" imgW="1079280" imgH="330120" progId="Equation.3">
                  <p:embed/>
                </p:oleObj>
              </mc:Choice>
              <mc:Fallback>
                <p:oleObj name="公式" r:id="rId11" imgW="1079280" imgH="33012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76" y="1316276"/>
                        <a:ext cx="1943100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718060"/>
              </p:ext>
            </p:extLst>
          </p:nvPr>
        </p:nvGraphicFramePr>
        <p:xfrm>
          <a:off x="5705539" y="2046526"/>
          <a:ext cx="22399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5" name="公式" r:id="rId13" imgW="1244520" imgH="330120" progId="Equation.3">
                  <p:embed/>
                </p:oleObj>
              </mc:Choice>
              <mc:Fallback>
                <p:oleObj name="公式" r:id="rId13" imgW="1244520" imgH="330120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539" y="2046526"/>
                        <a:ext cx="2239962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5514135" y="1333455"/>
            <a:ext cx="2880360" cy="2047148"/>
          </a:xfrm>
          <a:prstGeom prst="rect">
            <a:avLst/>
          </a:prstGeom>
          <a:solidFill>
            <a:schemeClr val="accent1">
              <a:alpha val="20000"/>
            </a:schemeClr>
          </a:solidFill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622508"/>
              </p:ext>
            </p:extLst>
          </p:nvPr>
        </p:nvGraphicFramePr>
        <p:xfrm>
          <a:off x="1140308" y="4351204"/>
          <a:ext cx="2376409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6" name="公式" r:id="rId15" imgW="1320227" imgH="203112" progId="Equation.3">
                  <p:embed/>
                </p:oleObj>
              </mc:Choice>
              <mc:Fallback>
                <p:oleObj name="公式" r:id="rId15" imgW="1320227" imgH="203112" progId="Equation.3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308" y="4351204"/>
                        <a:ext cx="2376409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214731"/>
              </p:ext>
            </p:extLst>
          </p:nvPr>
        </p:nvGraphicFramePr>
        <p:xfrm>
          <a:off x="1093557" y="4621470"/>
          <a:ext cx="24231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7" name="公式" r:id="rId17" imgW="1346200" imgH="419100" progId="Equation.3">
                  <p:embed/>
                </p:oleObj>
              </mc:Choice>
              <mc:Fallback>
                <p:oleObj name="公式" r:id="rId17" imgW="1346200" imgH="419100" progId="Equation.3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557" y="4621470"/>
                        <a:ext cx="24231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5514135" y="4421638"/>
          <a:ext cx="18973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8" name="公式" r:id="rId19" imgW="1054100" imgH="393700" progId="Equation.3">
                  <p:embed/>
                </p:oleObj>
              </mc:Choice>
              <mc:Fallback>
                <p:oleObj name="公式" r:id="rId19" imgW="1054100" imgH="393700" progId="Equation.3">
                  <p:embed/>
                  <p:pic>
                    <p:nvPicPr>
                      <p:cNvPr id="5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135" y="4421638"/>
                        <a:ext cx="18973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5551599" y="4990643"/>
          <a:ext cx="24917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9" name="公式" r:id="rId21" imgW="1384300" imgH="393700" progId="Equation.3">
                  <p:embed/>
                </p:oleObj>
              </mc:Choice>
              <mc:Fallback>
                <p:oleObj name="公式" r:id="rId21" imgW="1384300" imgH="393700" progId="Equation.3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599" y="4990643"/>
                        <a:ext cx="24917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5631166" y="5553370"/>
          <a:ext cx="1713757" cy="754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50" name="公式" r:id="rId23" imgW="952087" imgH="418918" progId="Equation.3">
                  <p:embed/>
                </p:oleObj>
              </mc:Choice>
              <mc:Fallback>
                <p:oleObj name="公式" r:id="rId23" imgW="952087" imgH="418918" progId="Equation.3">
                  <p:embed/>
                  <p:pic>
                    <p:nvPicPr>
                      <p:cNvPr id="54" name="对象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1166" y="5553370"/>
                        <a:ext cx="1713757" cy="7540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矩形 54"/>
          <p:cNvSpPr/>
          <p:nvPr/>
        </p:nvSpPr>
        <p:spPr>
          <a:xfrm>
            <a:off x="5357289" y="4321399"/>
            <a:ext cx="2880360" cy="2047148"/>
          </a:xfrm>
          <a:prstGeom prst="rect">
            <a:avLst/>
          </a:prstGeom>
          <a:solidFill>
            <a:schemeClr val="accent1">
              <a:alpha val="20000"/>
            </a:schemeClr>
          </a:solidFill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689080"/>
              </p:ext>
            </p:extLst>
          </p:nvPr>
        </p:nvGraphicFramePr>
        <p:xfrm>
          <a:off x="5675376" y="2867379"/>
          <a:ext cx="246888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51" name="公式" r:id="rId25" imgW="1371600" imgH="279400" progId="Equation.3">
                  <p:embed/>
                </p:oleObj>
              </mc:Choice>
              <mc:Fallback>
                <p:oleObj name="公式" r:id="rId25" imgW="1371600" imgH="279400" progId="Equation.3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76" y="2867379"/>
                        <a:ext cx="2468880" cy="502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左箭头 7"/>
          <p:cNvSpPr/>
          <p:nvPr/>
        </p:nvSpPr>
        <p:spPr>
          <a:xfrm rot="20499318" flipV="1">
            <a:off x="3538097" y="3244049"/>
            <a:ext cx="2051337" cy="252500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EEBF7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89812" y="5288944"/>
            <a:ext cx="487637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cannot use differentiation property for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8275" y="5711495"/>
            <a:ext cx="4876371" cy="369332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dc component in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57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5" grpId="0" animBg="1"/>
      <p:bldP spid="8" grpId="0" animBg="1"/>
      <p:bldP spid="23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Scaling/Reversal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Scaling property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Time reversal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478653"/>
              </p:ext>
            </p:extLst>
          </p:nvPr>
        </p:nvGraphicFramePr>
        <p:xfrm>
          <a:off x="1316735" y="1938527"/>
          <a:ext cx="406908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1" name="公式" r:id="rId3" imgW="2260600" imgH="444500" progId="Equation.3">
                  <p:embed/>
                </p:oleObj>
              </mc:Choice>
              <mc:Fallback>
                <p:oleObj name="公式" r:id="rId3" imgW="22606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735" y="1938527"/>
                        <a:ext cx="406908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328668"/>
              </p:ext>
            </p:extLst>
          </p:nvPr>
        </p:nvGraphicFramePr>
        <p:xfrm>
          <a:off x="1682495" y="3590131"/>
          <a:ext cx="3861664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2" name="公式" r:id="rId5" imgW="2145369" imgH="304668" progId="Equation.3">
                  <p:embed/>
                </p:oleObj>
              </mc:Choice>
              <mc:Fallback>
                <p:oleObj name="公式" r:id="rId5" imgW="2145369" imgH="30466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495" y="3590131"/>
                        <a:ext cx="3861664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876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Duality of Fourier Transform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Duality #1</a:t>
            </a:r>
            <a:r>
              <a:rPr lang="en-US" dirty="0" smtClean="0"/>
              <a:t>: Symmetry (</a:t>
            </a:r>
            <a:r>
              <a:rPr lang="en-US" dirty="0" smtClean="0">
                <a:solidFill>
                  <a:srgbClr val="FF0000"/>
                </a:solidFill>
              </a:rPr>
              <a:t>not identical</a:t>
            </a:r>
            <a:r>
              <a:rPr lang="en-US" dirty="0" smtClean="0"/>
              <a:t>) between the Fourier transform pair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Example: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Duality #2: If a certain operation in the time domain leads to some alternation on Fourier transform, then the same </a:t>
            </a:r>
            <a:r>
              <a:rPr lang="en-US" dirty="0"/>
              <a:t>operation in </a:t>
            </a:r>
            <a:r>
              <a:rPr lang="en-US" dirty="0" smtClean="0"/>
              <a:t>the frequency </a:t>
            </a:r>
            <a:r>
              <a:rPr lang="en-US" dirty="0"/>
              <a:t>domain </a:t>
            </a:r>
            <a:r>
              <a:rPr lang="en-US" dirty="0" smtClean="0"/>
              <a:t>implies the symmetry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not identical</a:t>
            </a:r>
            <a:r>
              <a:rPr lang="en-US" dirty="0"/>
              <a:t>) </a:t>
            </a:r>
            <a:r>
              <a:rPr lang="en-US" dirty="0" smtClean="0"/>
              <a:t>alternation to the time domain signal</a:t>
            </a:r>
          </a:p>
          <a:p>
            <a:r>
              <a:rPr lang="en-US" dirty="0"/>
              <a:t> </a:t>
            </a:r>
            <a:r>
              <a:rPr lang="en-US" dirty="0" smtClean="0"/>
              <a:t>Example: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2128"/>
              </p:ext>
            </p:extLst>
          </p:nvPr>
        </p:nvGraphicFramePr>
        <p:xfrm>
          <a:off x="2352739" y="2057272"/>
          <a:ext cx="36337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9" name="公式" r:id="rId3" imgW="2019240" imgH="304560" progId="Equation.3">
                  <p:embed/>
                </p:oleObj>
              </mc:Choice>
              <mc:Fallback>
                <p:oleObj name="公式" r:id="rId3" imgW="2019240" imgH="3045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739" y="2057272"/>
                        <a:ext cx="3633787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89897"/>
              </p:ext>
            </p:extLst>
          </p:nvPr>
        </p:nvGraphicFramePr>
        <p:xfrm>
          <a:off x="2826455" y="2755933"/>
          <a:ext cx="1690906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0" name="公式" r:id="rId5" imgW="939392" imgH="393529" progId="Equation.3">
                  <p:embed/>
                </p:oleObj>
              </mc:Choice>
              <mc:Fallback>
                <p:oleObj name="公式" r:id="rId5" imgW="939392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6455" y="2755933"/>
                        <a:ext cx="1690906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61747"/>
              </p:ext>
            </p:extLst>
          </p:nvPr>
        </p:nvGraphicFramePr>
        <p:xfrm>
          <a:off x="5429250" y="2766706"/>
          <a:ext cx="20574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1" name="公式" r:id="rId7" imgW="1143000" imgH="431800" progId="Equation.3">
                  <p:embed/>
                </p:oleObj>
              </mc:Choice>
              <mc:Fallback>
                <p:oleObj name="公式" r:id="rId7" imgW="11430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2766706"/>
                        <a:ext cx="20574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787892"/>
              </p:ext>
            </p:extLst>
          </p:nvPr>
        </p:nvGraphicFramePr>
        <p:xfrm>
          <a:off x="2631778" y="5445774"/>
          <a:ext cx="20802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2" name="公式" r:id="rId9" imgW="1155700" imgH="393700" progId="Equation.3">
                  <p:embed/>
                </p:oleObj>
              </mc:Choice>
              <mc:Fallback>
                <p:oleObj name="公式" r:id="rId9" imgW="11557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778" y="5445774"/>
                        <a:ext cx="20802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267052"/>
              </p:ext>
            </p:extLst>
          </p:nvPr>
        </p:nvGraphicFramePr>
        <p:xfrm>
          <a:off x="5111051" y="5445774"/>
          <a:ext cx="2170759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" name="公式" r:id="rId11" imgW="1205977" imgH="393529" progId="Equation.3">
                  <p:embed/>
                </p:oleObj>
              </mc:Choice>
              <mc:Fallback>
                <p:oleObj name="公式" r:id="rId11" imgW="1205977" imgH="39352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051" y="5445774"/>
                        <a:ext cx="2170759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115050" y="2235627"/>
            <a:ext cx="1063116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Correct?</a:t>
            </a:r>
          </a:p>
        </p:txBody>
      </p:sp>
    </p:spTree>
    <p:extLst>
      <p:ext uri="{BB962C8B-B14F-4D97-AF65-F5344CB8AC3E}">
        <p14:creationId xmlns:p14="http://schemas.microsoft.com/office/powerpoint/2010/main" val="425476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Parseval’s</a:t>
            </a:r>
            <a:r>
              <a:rPr lang="en-US" dirty="0" smtClean="0"/>
              <a:t> Relation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§4.3 Fourier Transform </a:t>
            </a:r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063531"/>
              </p:ext>
            </p:extLst>
          </p:nvPr>
        </p:nvGraphicFramePr>
        <p:xfrm>
          <a:off x="2843783" y="2350453"/>
          <a:ext cx="3713480" cy="4188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68" name="公式" r:id="rId3" imgW="2184400" imgH="2463800" progId="Equation.3">
                  <p:embed/>
                </p:oleObj>
              </mc:Choice>
              <mc:Fallback>
                <p:oleObj name="公式" r:id="rId3" imgW="2184400" imgH="2463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783" y="2350453"/>
                        <a:ext cx="3713480" cy="4188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54346"/>
              </p:ext>
            </p:extLst>
          </p:nvPr>
        </p:nvGraphicFramePr>
        <p:xfrm>
          <a:off x="982980" y="1490838"/>
          <a:ext cx="35890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69" name="公式" r:id="rId5" imgW="1993900" imgH="393700" progId="Equation.3">
                  <p:embed/>
                </p:oleObj>
              </mc:Choice>
              <mc:Fallback>
                <p:oleObj name="公式" r:id="rId5" imgW="19939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" y="1490838"/>
                        <a:ext cx="3589020" cy="70866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022622"/>
              </p:ext>
            </p:extLst>
          </p:nvPr>
        </p:nvGraphicFramePr>
        <p:xfrm>
          <a:off x="5410962" y="1705468"/>
          <a:ext cx="1028376" cy="50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70" name="公式" r:id="rId7" imgW="571320" imgH="279360" progId="Equation.3">
                  <p:embed/>
                </p:oleObj>
              </mc:Choice>
              <mc:Fallback>
                <p:oleObj name="公式" r:id="rId7" imgW="571320" imgH="2793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0962" y="1705468"/>
                        <a:ext cx="1028376" cy="50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315315" y="1803003"/>
            <a:ext cx="2828685" cy="307777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density spectrum</a:t>
            </a:r>
          </a:p>
        </p:txBody>
      </p:sp>
    </p:spTree>
    <p:extLst>
      <p:ext uri="{BB962C8B-B14F-4D97-AF65-F5344CB8AC3E}">
        <p14:creationId xmlns:p14="http://schemas.microsoft.com/office/powerpoint/2010/main" val="211609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Some Observation of Fourier Transform and Fourier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Fourier transform of aperiodic signal is usually continuous in the frequency domain</a:t>
            </a:r>
          </a:p>
          <a:p>
            <a:r>
              <a:rPr lang="en-US" dirty="0"/>
              <a:t> Fourier transform of periodic </a:t>
            </a:r>
            <a:r>
              <a:rPr lang="en-US" dirty="0" smtClean="0"/>
              <a:t>signal is an impulse train which is not zero only for the harmonically related frequencies</a:t>
            </a:r>
          </a:p>
          <a:p>
            <a:r>
              <a:rPr lang="en-US" dirty="0"/>
              <a:t> </a:t>
            </a:r>
            <a:r>
              <a:rPr lang="en-US" dirty="0" smtClean="0"/>
              <a:t>Fourier transform of a periodic signal can be viewed as the sampled version of the Fourier transform of its single-period signal</a:t>
            </a:r>
          </a:p>
          <a:p>
            <a:r>
              <a:rPr lang="en-US" dirty="0"/>
              <a:t> </a:t>
            </a:r>
            <a:r>
              <a:rPr lang="en-US" dirty="0" smtClean="0"/>
              <a:t>Fourier series of a periodic signal can be viewed as a special representation of its Fourier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2919222" y="5595504"/>
            <a:ext cx="3042666" cy="4616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eriodic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discrete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1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System Response Based on Fourier Series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Inverse Fourier transform can be written as the limit of a sum (</a:t>
            </a:r>
            <a:r>
              <a:rPr lang="en-US" dirty="0" smtClean="0">
                <a:solidFill>
                  <a:srgbClr val="0070C0"/>
                </a:solidFill>
              </a:rPr>
              <a:t>change integral to limit of sum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LTI system response to </a:t>
            </a:r>
            <a:r>
              <a:rPr lang="en-US" altLang="zh-CN" dirty="0" err="1" smtClean="0">
                <a:solidFill>
                  <a:srgbClr val="C00000"/>
                </a:solidFill>
              </a:rPr>
              <a:t>eigen</a:t>
            </a:r>
            <a:r>
              <a:rPr lang="en-US" altLang="zh-CN" dirty="0" smtClean="0">
                <a:solidFill>
                  <a:srgbClr val="C00000"/>
                </a:solidFill>
              </a:rPr>
              <a:t>-function</a:t>
            </a:r>
          </a:p>
          <a:p>
            <a:endParaRPr lang="en-US" dirty="0"/>
          </a:p>
          <a:p>
            <a:r>
              <a:rPr lang="en-US" dirty="0" smtClean="0"/>
              <a:t> system response to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by </a:t>
            </a:r>
            <a:r>
              <a:rPr lang="en-US" b="1" dirty="0" smtClean="0">
                <a:solidFill>
                  <a:srgbClr val="C00000"/>
                </a:solidFill>
              </a:rPr>
              <a:t>superposition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4.4 Convolution Property of Fourier Transform</a:t>
            </a:r>
            <a:endParaRPr 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607143"/>
              </p:ext>
            </p:extLst>
          </p:nvPr>
        </p:nvGraphicFramePr>
        <p:xfrm>
          <a:off x="738603" y="2189018"/>
          <a:ext cx="64236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7" name="公式" r:id="rId3" imgW="3568700" imgH="431800" progId="Equation.3">
                  <p:embed/>
                </p:oleObj>
              </mc:Choice>
              <mc:Fallback>
                <p:oleObj name="公式" r:id="rId3" imgW="35687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03" y="2189018"/>
                        <a:ext cx="64236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475416"/>
              </p:ext>
            </p:extLst>
          </p:nvPr>
        </p:nvGraphicFramePr>
        <p:xfrm>
          <a:off x="704850" y="3759200"/>
          <a:ext cx="45275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8" name="公式" r:id="rId5" imgW="2514600" imgH="241200" progId="Equation.3">
                  <p:embed/>
                </p:oleObj>
              </mc:Choice>
              <mc:Fallback>
                <p:oleObj name="公式" r:id="rId5" imgW="251460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3759200"/>
                        <a:ext cx="4527550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587982"/>
              </p:ext>
            </p:extLst>
          </p:nvPr>
        </p:nvGraphicFramePr>
        <p:xfrm>
          <a:off x="5307724" y="3678680"/>
          <a:ext cx="24460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9" name="公式" r:id="rId7" imgW="1358900" imgH="330200" progId="Equation.3">
                  <p:embed/>
                </p:oleObj>
              </mc:Choice>
              <mc:Fallback>
                <p:oleObj name="公式" r:id="rId7" imgW="1358900" imgH="3302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724" y="3678680"/>
                        <a:ext cx="24460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032711"/>
              </p:ext>
            </p:extLst>
          </p:nvPr>
        </p:nvGraphicFramePr>
        <p:xfrm>
          <a:off x="738603" y="4781491"/>
          <a:ext cx="75895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0" name="公式" r:id="rId9" imgW="4216400" imgH="431800" progId="Equation.3">
                  <p:embed/>
                </p:oleObj>
              </mc:Choice>
              <mc:Fallback>
                <p:oleObj name="公式" r:id="rId9" imgW="42164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03" y="4781491"/>
                        <a:ext cx="75895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119005"/>
              </p:ext>
            </p:extLst>
          </p:nvPr>
        </p:nvGraphicFramePr>
        <p:xfrm>
          <a:off x="6681486" y="3271746"/>
          <a:ext cx="342751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1" name="公式" r:id="rId11" imgW="190417" imgH="203112" progId="Equation.3">
                  <p:embed/>
                </p:oleObj>
              </mc:Choice>
              <mc:Fallback>
                <p:oleObj name="公式" r:id="rId11" imgW="190417" imgH="20311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486" y="3271746"/>
                        <a:ext cx="342751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238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System </a:t>
            </a:r>
            <a:r>
              <a:rPr lang="en-US" sz="2800" dirty="0"/>
              <a:t>Response </a:t>
            </a:r>
            <a:r>
              <a:rPr lang="en-US" sz="2800" dirty="0" smtClean="0"/>
              <a:t>in Frequency-Domain Based on FS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1308100"/>
            <a:ext cx="8161667" cy="4868863"/>
          </a:xfrm>
        </p:spPr>
        <p:txBody>
          <a:bodyPr/>
          <a:lstStyle/>
          <a:p>
            <a:r>
              <a:rPr lang="en-US" dirty="0" smtClean="0"/>
              <a:t> LTI system response (</a:t>
            </a:r>
            <a:r>
              <a:rPr lang="en-US" dirty="0" smtClean="0">
                <a:solidFill>
                  <a:srgbClr val="0070C0"/>
                </a:solidFill>
              </a:rPr>
              <a:t>change sum limit to integral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Fourier transform of LTI system response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880470"/>
              </p:ext>
            </p:extLst>
          </p:nvPr>
        </p:nvGraphicFramePr>
        <p:xfrm>
          <a:off x="957532" y="1780063"/>
          <a:ext cx="4846320" cy="150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94" name="公式" r:id="rId3" imgW="2692400" imgH="838200" progId="Equation.3">
                  <p:embed/>
                </p:oleObj>
              </mc:Choice>
              <mc:Fallback>
                <p:oleObj name="公式" r:id="rId3" imgW="2692400" imgH="838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532" y="1780063"/>
                        <a:ext cx="4846320" cy="1508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203970"/>
              </p:ext>
            </p:extLst>
          </p:nvPr>
        </p:nvGraphicFramePr>
        <p:xfrm>
          <a:off x="1828800" y="3909933"/>
          <a:ext cx="240030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95" name="公式" r:id="rId5" imgW="1333500" imgH="304800" progId="Equation.3">
                  <p:embed/>
                </p:oleObj>
              </mc:Choice>
              <mc:Fallback>
                <p:oleObj name="公式" r:id="rId5" imgW="1333500" imgH="30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909933"/>
                        <a:ext cx="2400300" cy="5486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408901"/>
              </p:ext>
            </p:extLst>
          </p:nvPr>
        </p:nvGraphicFramePr>
        <p:xfrm>
          <a:off x="1828800" y="4714081"/>
          <a:ext cx="2604910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96" name="公式" r:id="rId7" imgW="1447172" imgH="203112" progId="Equation.3">
                  <p:embed/>
                </p:oleObj>
              </mc:Choice>
              <mc:Fallback>
                <p:oleObj name="公式" r:id="rId7" imgW="1447172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714081"/>
                        <a:ext cx="2604910" cy="36560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28649" y="5171267"/>
            <a:ext cx="81616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Convolution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convolution in the time domain corresponds to multiplication in the frequency domain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620639"/>
              </p:ext>
            </p:extLst>
          </p:nvPr>
        </p:nvGraphicFramePr>
        <p:xfrm>
          <a:off x="5010026" y="4001517"/>
          <a:ext cx="1828656" cy="36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97" name="公式" r:id="rId9" imgW="1015920" imgH="203040" progId="Equation.3">
                  <p:embed/>
                </p:oleObj>
              </mc:Choice>
              <mc:Fallback>
                <p:oleObj name="公式" r:id="rId9" imgW="101592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0026" y="4001517"/>
                        <a:ext cx="1828656" cy="36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936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92656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Convolution Property </a:t>
            </a:r>
            <a:r>
              <a:rPr lang="en-US" sz="3200" dirty="0"/>
              <a:t>of Fourier </a:t>
            </a:r>
            <a:r>
              <a:rPr lang="en-US" sz="3200" dirty="0" smtClean="0"/>
              <a:t>Transform</a:t>
            </a:r>
            <a:br>
              <a:rPr lang="en-US" sz="3200" dirty="0" smtClean="0"/>
            </a:br>
            <a:r>
              <a:rPr lang="en-US" sz="3200" dirty="0" smtClean="0"/>
              <a:t>-- Formal Derivation from Convolution Integral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Recall: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r>
              <a:rPr lang="en-US" altLang="zh-CN" b="1" dirty="0" smtClean="0">
                <a:solidFill>
                  <a:srgbClr val="C00000"/>
                </a:solidFill>
              </a:rPr>
              <a:t>onvolution integral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Fourier transform of y(t) </a:t>
            </a:r>
          </a:p>
          <a:p>
            <a:endParaRPr lang="en-US" dirty="0"/>
          </a:p>
          <a:p>
            <a:r>
              <a:rPr lang="en-US" dirty="0" smtClean="0"/>
              <a:t> Interchange the order of integration</a:t>
            </a:r>
          </a:p>
          <a:p>
            <a:endParaRPr lang="en-US" dirty="0"/>
          </a:p>
          <a:p>
            <a:r>
              <a:rPr lang="en-US" dirty="0" smtClean="0"/>
              <a:t> By the time-shift property</a:t>
            </a:r>
          </a:p>
          <a:p>
            <a:r>
              <a:rPr lang="en-US" dirty="0"/>
              <a:t> </a:t>
            </a:r>
            <a:r>
              <a:rPr lang="en-US" dirty="0" smtClean="0"/>
              <a:t>Note that   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Convolution property </a:t>
            </a:r>
            <a:r>
              <a:rPr lang="en-US" dirty="0" smtClean="0"/>
              <a:t>of Fourier transform</a:t>
            </a:r>
          </a:p>
          <a:p>
            <a:pPr marL="0" indent="0">
              <a:buNone/>
            </a:pPr>
            <a:r>
              <a:rPr lang="en-US" dirty="0" smtClean="0"/>
              <a:t>                                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600004"/>
              </p:ext>
            </p:extLst>
          </p:nvPr>
        </p:nvGraphicFramePr>
        <p:xfrm>
          <a:off x="1994565" y="1706363"/>
          <a:ext cx="27203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19" name="公式" r:id="rId3" imgW="1511300" imgH="330200" progId="Equation.3">
                  <p:embed/>
                </p:oleObj>
              </mc:Choice>
              <mc:Fallback>
                <p:oleObj name="公式" r:id="rId3" imgW="1511300" imgH="3302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565" y="1706363"/>
                        <a:ext cx="272034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940047"/>
              </p:ext>
            </p:extLst>
          </p:nvPr>
        </p:nvGraphicFramePr>
        <p:xfrm>
          <a:off x="1940942" y="2580511"/>
          <a:ext cx="43662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20" name="公式" r:id="rId5" imgW="2425700" imgH="381000" progId="Equation.3">
                  <p:embed/>
                </p:oleObj>
              </mc:Choice>
              <mc:Fallback>
                <p:oleObj name="公式" r:id="rId5" imgW="2425700" imgH="38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942" y="2580511"/>
                        <a:ext cx="436626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12246"/>
              </p:ext>
            </p:extLst>
          </p:nvPr>
        </p:nvGraphicFramePr>
        <p:xfrm>
          <a:off x="1898456" y="3546099"/>
          <a:ext cx="43662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21" name="公式" r:id="rId7" imgW="2425700" imgH="381000" progId="Equation.3">
                  <p:embed/>
                </p:oleObj>
              </mc:Choice>
              <mc:Fallback>
                <p:oleObj name="公式" r:id="rId7" imgW="2425700" imgH="38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456" y="3546099"/>
                        <a:ext cx="436626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635971"/>
              </p:ext>
            </p:extLst>
          </p:nvPr>
        </p:nvGraphicFramePr>
        <p:xfrm>
          <a:off x="4962693" y="4024413"/>
          <a:ext cx="35433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22" name="公式" r:id="rId9" imgW="1968500" imgH="330200" progId="Equation.3">
                  <p:embed/>
                </p:oleObj>
              </mc:Choice>
              <mc:Fallback>
                <p:oleObj name="公式" r:id="rId9" imgW="1968500" imgH="330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693" y="4024413"/>
                        <a:ext cx="354330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001885"/>
              </p:ext>
            </p:extLst>
          </p:nvPr>
        </p:nvGraphicFramePr>
        <p:xfrm>
          <a:off x="2527456" y="4511687"/>
          <a:ext cx="27432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23" name="公式" r:id="rId11" imgW="1524000" imgH="330200" progId="Equation.3">
                  <p:embed/>
                </p:oleObj>
              </mc:Choice>
              <mc:Fallback>
                <p:oleObj name="公式" r:id="rId11" imgW="1524000" imgH="330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456" y="4511687"/>
                        <a:ext cx="274320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242573"/>
              </p:ext>
            </p:extLst>
          </p:nvPr>
        </p:nvGraphicFramePr>
        <p:xfrm>
          <a:off x="5489782" y="4622542"/>
          <a:ext cx="3016211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24" name="公式" r:id="rId13" imgW="1675673" imgH="215806" progId="Equation.3">
                  <p:embed/>
                </p:oleObj>
              </mc:Choice>
              <mc:Fallback>
                <p:oleObj name="公式" r:id="rId13" imgW="1675673" imgH="2158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782" y="4622542"/>
                        <a:ext cx="3016211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290275"/>
              </p:ext>
            </p:extLst>
          </p:nvPr>
        </p:nvGraphicFramePr>
        <p:xfrm>
          <a:off x="1930400" y="5494338"/>
          <a:ext cx="47101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25" name="公式" r:id="rId15" imgW="2616120" imgH="304560" progId="Equation.3">
                  <p:embed/>
                </p:oleObj>
              </mc:Choice>
              <mc:Fallback>
                <p:oleObj name="公式" r:id="rId15" imgW="2616120" imgH="3045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5494338"/>
                        <a:ext cx="4710113" cy="547687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6734343" y="5530632"/>
            <a:ext cx="2274982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of FT</a:t>
            </a:r>
          </a:p>
          <a:p>
            <a:pPr marL="342900" indent="-342900">
              <a:buFont typeface="+mj-lt"/>
              <a:buAutoNum type="arabicParenR"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of system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0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System Function and System Response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Impulse response: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System function</a:t>
            </a:r>
            <a:r>
              <a:rPr lang="en-US" dirty="0" smtClean="0"/>
              <a:t>: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Frequency response </a:t>
            </a:r>
            <a:r>
              <a:rPr lang="en-US" dirty="0" smtClean="0"/>
              <a:t>of a system:</a:t>
            </a:r>
          </a:p>
          <a:p>
            <a:endParaRPr lang="en-US" dirty="0"/>
          </a:p>
          <a:p>
            <a:r>
              <a:rPr lang="en-US" dirty="0" smtClean="0"/>
              <a:t> Time-domain response to any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Frequency-domain response to any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Time-domain </a:t>
            </a:r>
            <a:r>
              <a:rPr lang="en-US" smtClean="0"/>
              <a:t>response   </a:t>
            </a:r>
            <a:r>
              <a:rPr lang="en-US" i="1" smtClean="0"/>
              <a:t>y</a:t>
            </a:r>
            <a:r>
              <a:rPr lang="en-US" smtClean="0"/>
              <a:t>(</a:t>
            </a:r>
            <a:r>
              <a:rPr lang="en-US" i="1" smtClean="0"/>
              <a:t>t</a:t>
            </a:r>
            <a:r>
              <a:rPr lang="en-US" dirty="0" smtClean="0"/>
              <a:t>)=</a:t>
            </a:r>
            <a:r>
              <a:rPr lang="en-US" dirty="0" smtClean="0">
                <a:latin typeface="Script MT Bold" panose="03040602040607080904" pitchFamily="66" charset="0"/>
              </a:rPr>
              <a:t>F</a:t>
            </a:r>
            <a:r>
              <a:rPr lang="en-US" baseline="30000" dirty="0" smtClean="0"/>
              <a:t>-1</a:t>
            </a:r>
            <a:r>
              <a:rPr lang="en-US" dirty="0" smtClean="0"/>
              <a:t>{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)}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758506"/>
              </p:ext>
            </p:extLst>
          </p:nvPr>
        </p:nvGraphicFramePr>
        <p:xfrm>
          <a:off x="3732562" y="1759389"/>
          <a:ext cx="24460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46" name="公式" r:id="rId3" imgW="1358900" imgH="330200" progId="Equation.3">
                  <p:embed/>
                </p:oleObj>
              </mc:Choice>
              <mc:Fallback>
                <p:oleObj name="公式" r:id="rId3" imgW="1358900" imgH="3302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2562" y="1759389"/>
                        <a:ext cx="24460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628159"/>
              </p:ext>
            </p:extLst>
          </p:nvPr>
        </p:nvGraphicFramePr>
        <p:xfrm>
          <a:off x="1565275" y="2744788"/>
          <a:ext cx="5029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47" name="公式" r:id="rId5" imgW="2793960" imgH="330120" progId="Equation.3">
                  <p:embed/>
                </p:oleObj>
              </mc:Choice>
              <mc:Fallback>
                <p:oleObj name="公式" r:id="rId5" imgW="2793960" imgH="33012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2744788"/>
                        <a:ext cx="502920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862103"/>
              </p:ext>
            </p:extLst>
          </p:nvPr>
        </p:nvGraphicFramePr>
        <p:xfrm>
          <a:off x="1519634" y="3847203"/>
          <a:ext cx="40233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48" name="公式" r:id="rId7" imgW="2235200" imgH="330200" progId="Equation.3">
                  <p:embed/>
                </p:oleObj>
              </mc:Choice>
              <mc:Fallback>
                <p:oleObj name="公式" r:id="rId7" imgW="22352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634" y="3847203"/>
                        <a:ext cx="402336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138052"/>
              </p:ext>
            </p:extLst>
          </p:nvPr>
        </p:nvGraphicFramePr>
        <p:xfrm>
          <a:off x="1519634" y="4943661"/>
          <a:ext cx="2604910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49" name="公式" r:id="rId9" imgW="1447172" imgH="203112" progId="Equation.3">
                  <p:embed/>
                </p:oleObj>
              </mc:Choice>
              <mc:Fallback>
                <p:oleObj name="公式" r:id="rId9" imgW="1447172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634" y="4943661"/>
                        <a:ext cx="2604910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705915"/>
              </p:ext>
            </p:extLst>
          </p:nvPr>
        </p:nvGraphicFramePr>
        <p:xfrm>
          <a:off x="6838682" y="2744400"/>
          <a:ext cx="16459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50" name="公式" r:id="rId11" imgW="914400" imgH="304800" progId="Equation.3">
                  <p:embed/>
                </p:oleObj>
              </mc:Choice>
              <mc:Fallback>
                <p:oleObj name="公式" r:id="rId11" imgW="914400" imgH="304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682" y="2744400"/>
                        <a:ext cx="1645920" cy="5486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520986"/>
              </p:ext>
            </p:extLst>
          </p:nvPr>
        </p:nvGraphicFramePr>
        <p:xfrm>
          <a:off x="4235482" y="4749272"/>
          <a:ext cx="19431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51" name="公式" r:id="rId13" imgW="1079500" imgH="419100" progId="Equation.3">
                  <p:embed/>
                </p:oleObj>
              </mc:Choice>
              <mc:Fallback>
                <p:oleObj name="公式" r:id="rId13" imgW="1079500" imgH="4191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82" y="4749272"/>
                        <a:ext cx="19431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069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Cascade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Associative property of convolution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Response of cascaded systems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Frequency response of cascaded systems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74" y="3009180"/>
            <a:ext cx="8849252" cy="6355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49" y="4682765"/>
            <a:ext cx="8849252" cy="635501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031501"/>
              </p:ext>
            </p:extLst>
          </p:nvPr>
        </p:nvGraphicFramePr>
        <p:xfrm>
          <a:off x="2137410" y="1806590"/>
          <a:ext cx="432054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9" name="公式" r:id="rId5" imgW="2400300" imgH="215900" progId="Equation.3">
                  <p:embed/>
                </p:oleObj>
              </mc:Choice>
              <mc:Fallback>
                <p:oleObj name="公式" r:id="rId5" imgW="2400300" imgH="2159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410" y="1806590"/>
                        <a:ext cx="432054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999233"/>
              </p:ext>
            </p:extLst>
          </p:nvPr>
        </p:nvGraphicFramePr>
        <p:xfrm>
          <a:off x="1337094" y="5553304"/>
          <a:ext cx="560070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30" name="公式" r:id="rId7" imgW="3111500" imgH="215900" progId="Equation.3">
                  <p:embed/>
                </p:oleObj>
              </mc:Choice>
              <mc:Fallback>
                <p:oleObj name="公式" r:id="rId7" imgW="3111500" imgH="215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094" y="5553304"/>
                        <a:ext cx="560070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704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4.15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Impulse response: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l-GR" i="1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-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</a:t>
            </a:r>
          </a:p>
          <a:p>
            <a:r>
              <a:rPr lang="en-US" dirty="0" smtClean="0"/>
              <a:t> Frequency response by the time-shift property</a:t>
            </a:r>
          </a:p>
          <a:p>
            <a:endParaRPr lang="en-US" dirty="0"/>
          </a:p>
          <a:p>
            <a:r>
              <a:rPr lang="en-US" dirty="0" smtClean="0"/>
              <a:t> For any input x(t), Fourier transform of output y(t)</a:t>
            </a:r>
          </a:p>
          <a:p>
            <a:pPr marL="0" indent="0">
              <a:buNone/>
            </a:pPr>
            <a:r>
              <a:rPr lang="en-US" dirty="0" smtClean="0"/>
              <a:t>           </a:t>
            </a:r>
            <a:endParaRPr lang="en-US" dirty="0"/>
          </a:p>
          <a:p>
            <a:r>
              <a:rPr lang="en-US" dirty="0" smtClean="0"/>
              <a:t> By the time-shift property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</a:t>
            </a:r>
            <a:r>
              <a:rPr lang="en-US" dirty="0" smtClean="0"/>
              <a:t>Fourier </a:t>
            </a:r>
            <a:r>
              <a:rPr lang="en-US" dirty="0"/>
              <a:t>Transform</a:t>
            </a:r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474749"/>
              </p:ext>
            </p:extLst>
          </p:nvPr>
        </p:nvGraphicFramePr>
        <p:xfrm>
          <a:off x="1733909" y="2355011"/>
          <a:ext cx="27203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6" name="公式" r:id="rId3" imgW="1511300" imgH="228600" progId="Equation.3">
                  <p:embed/>
                </p:oleObj>
              </mc:Choice>
              <mc:Fallback>
                <p:oleObj name="公式" r:id="rId3" imgW="1511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909" y="2355011"/>
                        <a:ext cx="27203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437175"/>
              </p:ext>
            </p:extLst>
          </p:nvPr>
        </p:nvGraphicFramePr>
        <p:xfrm>
          <a:off x="1733909" y="3401922"/>
          <a:ext cx="41833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7" name="公式" r:id="rId5" imgW="2324100" imgH="228600" progId="Equation.3">
                  <p:embed/>
                </p:oleObj>
              </mc:Choice>
              <mc:Fallback>
                <p:oleObj name="公式" r:id="rId5" imgW="2324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909" y="3401922"/>
                        <a:ext cx="41833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555558"/>
              </p:ext>
            </p:extLst>
          </p:nvPr>
        </p:nvGraphicFramePr>
        <p:xfrm>
          <a:off x="1733909" y="4378229"/>
          <a:ext cx="1622356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8" name="公式" r:id="rId7" imgW="901309" imgH="228501" progId="Equation.3">
                  <p:embed/>
                </p:oleObj>
              </mc:Choice>
              <mc:Fallback>
                <p:oleObj name="公式" r:id="rId7" imgW="901309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909" y="4378229"/>
                        <a:ext cx="1622356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41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Differentiation/Integration Systems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Differentiation system</a:t>
            </a:r>
          </a:p>
          <a:p>
            <a:pPr marL="0" indent="0">
              <a:buNone/>
            </a:pPr>
            <a:r>
              <a:rPr lang="en-US" dirty="0" smtClean="0"/>
              <a:t>     apply FT to both sides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>
                <a:sym typeface="Wingdings 3" panose="05040102010807070707" pitchFamily="18" charset="2"/>
              </a:rPr>
              <a:t> frequency response 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Integration system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4.4 </a:t>
            </a:r>
            <a:r>
              <a:rPr lang="en-US" dirty="0"/>
              <a:t>Convolution Property of Fourier Transform</a:t>
            </a:r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055645"/>
              </p:ext>
            </p:extLst>
          </p:nvPr>
        </p:nvGraphicFramePr>
        <p:xfrm>
          <a:off x="4533363" y="1259158"/>
          <a:ext cx="1393855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5" name="公式" r:id="rId3" imgW="774364" imgH="393529" progId="Equation.3">
                  <p:embed/>
                </p:oleObj>
              </mc:Choice>
              <mc:Fallback>
                <p:oleObj name="公式" r:id="rId3" imgW="774364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363" y="1259158"/>
                        <a:ext cx="1393855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971186"/>
              </p:ext>
            </p:extLst>
          </p:nvPr>
        </p:nvGraphicFramePr>
        <p:xfrm>
          <a:off x="4572000" y="1935683"/>
          <a:ext cx="2125058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6" name="公式" r:id="rId5" imgW="1180588" imgH="203112" progId="Equation.3">
                  <p:embed/>
                </p:oleObj>
              </mc:Choice>
              <mc:Fallback>
                <p:oleObj name="公式" r:id="rId5" imgW="1180588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35683"/>
                        <a:ext cx="2125058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173970"/>
              </p:ext>
            </p:extLst>
          </p:nvPr>
        </p:nvGraphicFramePr>
        <p:xfrm>
          <a:off x="4506405" y="2452259"/>
          <a:ext cx="1462405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7" name="公式" r:id="rId7" imgW="812447" imgH="203112" progId="Equation.3">
                  <p:embed/>
                </p:oleObj>
              </mc:Choice>
              <mc:Fallback>
                <p:oleObj name="公式" r:id="rId7" imgW="812447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405" y="2452259"/>
                        <a:ext cx="1462405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452984"/>
              </p:ext>
            </p:extLst>
          </p:nvPr>
        </p:nvGraphicFramePr>
        <p:xfrm>
          <a:off x="4123426" y="2849266"/>
          <a:ext cx="244602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8" name="公式" r:id="rId9" imgW="1358900" imgH="419100" progId="Equation.3">
                  <p:embed/>
                </p:oleObj>
              </mc:Choice>
              <mc:Fallback>
                <p:oleObj name="公式" r:id="rId9" imgW="13589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3426" y="2849266"/>
                        <a:ext cx="244602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974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Ideal Lowpass Filter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275351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 </a:t>
            </a:r>
            <a:r>
              <a:rPr lang="en-US" altLang="zh-CN" dirty="0" smtClean="0"/>
              <a:t>Ideal Lowpass frequency response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altLang="zh-CN" dirty="0" smtClean="0"/>
              <a:t>Impulse response</a:t>
            </a:r>
          </a:p>
          <a:p>
            <a:pPr marL="0" indent="0">
              <a:buNone/>
            </a:pPr>
            <a:r>
              <a:rPr lang="zh-CN" altLang="en-US" b="1" dirty="0" smtClean="0">
                <a:solidFill>
                  <a:srgbClr val="00B050"/>
                </a:solidFill>
                <a:sym typeface="Wingdings" panose="05000000000000000000" pitchFamily="2" charset="2"/>
              </a:rPr>
              <a:t> </a:t>
            </a:r>
            <a:r>
              <a:rPr lang="en-US" altLang="zh-CN" dirty="0" smtClean="0"/>
              <a:t>Pros: perfect frequency selectivity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 </a:t>
            </a:r>
            <a:r>
              <a:rPr lang="en-US" dirty="0" smtClean="0"/>
              <a:t>Cons: not causal, not easy to approximate, oscillatory behavior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960230"/>
              </p:ext>
            </p:extLst>
          </p:nvPr>
        </p:nvGraphicFramePr>
        <p:xfrm>
          <a:off x="1444751" y="1545590"/>
          <a:ext cx="2560320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9" name="公式" r:id="rId3" imgW="1422400" imgH="533400" progId="Equation.3">
                  <p:embed/>
                </p:oleObj>
              </mc:Choice>
              <mc:Fallback>
                <p:oleObj name="公式" r:id="rId3" imgW="1422400" imgH="533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751" y="1545590"/>
                        <a:ext cx="2560320" cy="96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427" y="4299107"/>
            <a:ext cx="4332510" cy="2127116"/>
          </a:xfrm>
          <a:prstGeom prst="rect">
            <a:avLst/>
          </a:prstGeom>
        </p:spPr>
      </p:pic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221332"/>
              </p:ext>
            </p:extLst>
          </p:nvPr>
        </p:nvGraphicFramePr>
        <p:xfrm>
          <a:off x="3982472" y="2244326"/>
          <a:ext cx="1530956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0" name="公式" r:id="rId6" imgW="850531" imgH="393529" progId="Equation.3">
                  <p:embed/>
                </p:oleObj>
              </mc:Choice>
              <mc:Fallback>
                <p:oleObj name="公式" r:id="rId6" imgW="850531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472" y="2244326"/>
                        <a:ext cx="1530956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122" y="4299107"/>
            <a:ext cx="4415828" cy="177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9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4.19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LT</a:t>
            </a:r>
            <a:r>
              <a:rPr lang="en-US" altLang="zh-CN" dirty="0" smtClean="0"/>
              <a:t>I, impulse response</a:t>
            </a:r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Input signal</a:t>
            </a:r>
          </a:p>
          <a:p>
            <a:endParaRPr lang="en-US" altLang="zh-CN" dirty="0"/>
          </a:p>
          <a:p>
            <a:r>
              <a:rPr lang="en-US" altLang="zh-CN" dirty="0" smtClean="0"/>
              <a:t> Output spectrum</a:t>
            </a:r>
          </a:p>
          <a:p>
            <a:endParaRPr lang="en-US" altLang="zh-CN" dirty="0"/>
          </a:p>
          <a:p>
            <a:r>
              <a:rPr lang="en-US" altLang="zh-CN" dirty="0" smtClean="0"/>
              <a:t> Output signal 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)=</a:t>
            </a:r>
            <a:r>
              <a:rPr lang="en-US" dirty="0">
                <a:latin typeface="Script MT Bold" panose="03040602040607080904" pitchFamily="66" charset="0"/>
              </a:rPr>
              <a:t>F</a:t>
            </a:r>
            <a:r>
              <a:rPr lang="en-US" baseline="30000" dirty="0"/>
              <a:t>-1</a:t>
            </a:r>
            <a:r>
              <a:rPr lang="en-US" dirty="0"/>
              <a:t>{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 smtClean="0"/>
              <a:t>)}</a:t>
            </a:r>
          </a:p>
          <a:p>
            <a:pPr marL="0" indent="0">
              <a:buNone/>
            </a:pPr>
            <a:r>
              <a:rPr lang="en-US" altLang="zh-CN" dirty="0" smtClean="0">
                <a:sym typeface="Wingdings" panose="05000000000000000000" pitchFamily="2" charset="2"/>
              </a:rPr>
              <a:t> </a:t>
            </a:r>
            <a:r>
              <a:rPr lang="en-US" altLang="zh-CN" i="1" dirty="0" err="1" smtClean="0">
                <a:sym typeface="Wingdings" panose="05000000000000000000" pitchFamily="2" charset="2"/>
              </a:rPr>
              <a:t>a</a:t>
            </a:r>
            <a:r>
              <a:rPr lang="en-US" altLang="zh-CN" dirty="0" err="1" smtClean="0">
                <a:sym typeface="Wingdings" panose="05000000000000000000" pitchFamily="2" charset="2"/>
              </a:rPr>
              <a:t>≠</a:t>
            </a:r>
            <a:r>
              <a:rPr lang="en-US" altLang="zh-CN" i="1" dirty="0" err="1" smtClean="0">
                <a:sym typeface="Wingdings" panose="05000000000000000000" pitchFamily="2" charset="2"/>
              </a:rPr>
              <a:t>b</a:t>
            </a:r>
            <a:r>
              <a:rPr lang="en-US" altLang="zh-CN" dirty="0" smtClean="0">
                <a:sym typeface="Wingdings" panose="05000000000000000000" pitchFamily="2" charset="2"/>
              </a:rPr>
              <a:t>,                                     </a:t>
            </a:r>
            <a:r>
              <a:rPr lang="en-US" altLang="zh-CN" i="1" dirty="0" smtClean="0">
                <a:sym typeface="Wingdings" panose="05000000000000000000" pitchFamily="2" charset="2"/>
              </a:rPr>
              <a:t>a</a:t>
            </a:r>
            <a:r>
              <a:rPr lang="en-US" altLang="zh-CN" dirty="0">
                <a:sym typeface="Wingdings" panose="05000000000000000000" pitchFamily="2" charset="2"/>
              </a:rPr>
              <a:t>=</a:t>
            </a:r>
            <a:r>
              <a:rPr lang="en-US" altLang="zh-CN" i="1" dirty="0" smtClean="0">
                <a:sym typeface="Wingdings" panose="05000000000000000000" pitchFamily="2" charset="2"/>
              </a:rPr>
              <a:t>b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§4.4 Convolution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488811"/>
              </p:ext>
            </p:extLst>
          </p:nvPr>
        </p:nvGraphicFramePr>
        <p:xfrm>
          <a:off x="1977390" y="1673351"/>
          <a:ext cx="44805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26" name="公式" r:id="rId3" imgW="2489200" imgH="431800" progId="Equation.3">
                  <p:embed/>
                </p:oleObj>
              </mc:Choice>
              <mc:Fallback>
                <p:oleObj name="公式" r:id="rId3" imgW="24892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390" y="1673351"/>
                        <a:ext cx="44805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216935"/>
              </p:ext>
            </p:extLst>
          </p:nvPr>
        </p:nvGraphicFramePr>
        <p:xfrm>
          <a:off x="1977390" y="2601565"/>
          <a:ext cx="44805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27" name="公式" r:id="rId5" imgW="2489200" imgH="419100" progId="Equation.3">
                  <p:embed/>
                </p:oleObj>
              </mc:Choice>
              <mc:Fallback>
                <p:oleObj name="公式" r:id="rId5" imgW="24892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390" y="2601565"/>
                        <a:ext cx="44805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788338"/>
              </p:ext>
            </p:extLst>
          </p:nvPr>
        </p:nvGraphicFramePr>
        <p:xfrm>
          <a:off x="3571494" y="3429500"/>
          <a:ext cx="45948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28" name="公式" r:id="rId7" imgW="2552700" imgH="419100" progId="Equation.3">
                  <p:embed/>
                </p:oleObj>
              </mc:Choice>
              <mc:Fallback>
                <p:oleObj name="公式" r:id="rId7" imgW="25527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494" y="3429500"/>
                        <a:ext cx="45948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552901"/>
              </p:ext>
            </p:extLst>
          </p:nvPr>
        </p:nvGraphicFramePr>
        <p:xfrm>
          <a:off x="1719071" y="4794012"/>
          <a:ext cx="29718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29" name="公式" r:id="rId9" imgW="1651000" imgH="393700" progId="Equation.3">
                  <p:embed/>
                </p:oleObj>
              </mc:Choice>
              <mc:Fallback>
                <p:oleObj name="公式" r:id="rId9" imgW="16510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071" y="4794012"/>
                        <a:ext cx="29718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053686"/>
              </p:ext>
            </p:extLst>
          </p:nvPr>
        </p:nvGraphicFramePr>
        <p:xfrm>
          <a:off x="6327648" y="4893009"/>
          <a:ext cx="1645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0" name="公式" r:id="rId11" imgW="914400" imgH="228600" progId="Equation.3">
                  <p:embed/>
                </p:oleObj>
              </mc:Choice>
              <mc:Fallback>
                <p:oleObj name="公式" r:id="rId11" imgW="9144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648" y="4893009"/>
                        <a:ext cx="1645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55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Multiplication Property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 Convolution </a:t>
            </a:r>
            <a:r>
              <a:rPr lang="en-US" b="1" dirty="0">
                <a:solidFill>
                  <a:srgbClr val="C00000"/>
                </a:solidFill>
              </a:rPr>
              <a:t>property</a:t>
            </a:r>
            <a:r>
              <a:rPr lang="en-US" dirty="0"/>
              <a:t>: convolution in the time domain corresponds to multiplication in the frequency </a:t>
            </a:r>
            <a:r>
              <a:rPr lang="en-US" dirty="0" smtClean="0"/>
              <a:t>domain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Multiplication Property (Modulation Property)</a:t>
            </a:r>
            <a:r>
              <a:rPr lang="en-US" dirty="0" smtClean="0"/>
              <a:t>: multiplication in the time domain corresponds to convolution in the frequency domain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4.5 Multiplication </a:t>
            </a:r>
            <a:r>
              <a:rPr lang="en-US" dirty="0"/>
              <a:t>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434045"/>
              </p:ext>
            </p:extLst>
          </p:nvPr>
        </p:nvGraphicFramePr>
        <p:xfrm>
          <a:off x="1289303" y="2503971"/>
          <a:ext cx="457200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7" name="公式" r:id="rId3" imgW="2540000" imgH="304800" progId="Equation.3">
                  <p:embed/>
                </p:oleObj>
              </mc:Choice>
              <mc:Fallback>
                <p:oleObj name="公式" r:id="rId3" imgW="2540000" imgH="304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303" y="2503971"/>
                        <a:ext cx="4572000" cy="5486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89303" y="5341175"/>
            <a:ext cx="205249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prove it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053348"/>
              </p:ext>
            </p:extLst>
          </p:nvPr>
        </p:nvGraphicFramePr>
        <p:xfrm>
          <a:off x="521207" y="4421122"/>
          <a:ext cx="82524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8" name="公式" r:id="rId5" imgW="4584700" imgH="393700" progId="Equation.3">
                  <p:embed/>
                </p:oleObj>
              </mc:Choice>
              <mc:Fallback>
                <p:oleObj name="公式" r:id="rId5" imgW="45847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207" y="4421122"/>
                        <a:ext cx="8252460" cy="7086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059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138" y="3949575"/>
            <a:ext cx="3608737" cy="258536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4.21: Up-Conversion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2957671"/>
          </a:xfrm>
        </p:spPr>
        <p:txBody>
          <a:bodyPr/>
          <a:lstStyle/>
          <a:p>
            <a:r>
              <a:rPr lang="en-US" dirty="0" smtClean="0"/>
              <a:t> Sinusoidal signal 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amplitude modulation</a:t>
            </a:r>
            <a:r>
              <a:rPr lang="en-US" dirty="0" smtClean="0"/>
              <a:t>: </a:t>
            </a:r>
            <a:r>
              <a:rPr lang="en-US" i="1" dirty="0" smtClean="0"/>
              <a:t>r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s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 </a:t>
            </a:r>
            <a:r>
              <a:rPr lang="en-US" dirty="0"/>
              <a:t>(</a:t>
            </a:r>
            <a:r>
              <a:rPr lang="en-US" dirty="0" smtClean="0"/>
              <a:t>mixer)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4.5 </a:t>
            </a:r>
            <a:r>
              <a:rPr lang="en-US" dirty="0"/>
              <a:t>Multiplication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549637"/>
              </p:ext>
            </p:extLst>
          </p:nvPr>
        </p:nvGraphicFramePr>
        <p:xfrm>
          <a:off x="1408175" y="1783079"/>
          <a:ext cx="5600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1" name="公式" r:id="rId4" imgW="3111500" imgH="317500" progId="Equation.3">
                  <p:embed/>
                </p:oleObj>
              </mc:Choice>
              <mc:Fallback>
                <p:oleObj name="公式" r:id="rId4" imgW="3111500" imgH="317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75" y="1783079"/>
                        <a:ext cx="56007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074972"/>
              </p:ext>
            </p:extLst>
          </p:nvPr>
        </p:nvGraphicFramePr>
        <p:xfrm>
          <a:off x="836675" y="2816651"/>
          <a:ext cx="6172200" cy="14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2" name="公式" r:id="rId6" imgW="3429000" imgH="812800" progId="Equation.3">
                  <p:embed/>
                </p:oleObj>
              </mc:Choice>
              <mc:Fallback>
                <p:oleObj name="公式" r:id="rId6" imgW="3429000" imgH="81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75" y="2816651"/>
                        <a:ext cx="6172200" cy="1463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611111" y="5077189"/>
            <a:ext cx="2331721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 mixer (courtesy: www.analog.com)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5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Spectrum Up-Conversion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4.5 </a:t>
            </a:r>
            <a:r>
              <a:rPr lang="en-US" dirty="0"/>
              <a:t>Multiplication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65" y="1268738"/>
            <a:ext cx="3839850" cy="15396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365" y="2762479"/>
            <a:ext cx="3839850" cy="15396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915" y="4371337"/>
            <a:ext cx="3912300" cy="162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6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Spectrum </a:t>
            </a:r>
            <a:r>
              <a:rPr lang="en-US" altLang="zh-CN" dirty="0"/>
              <a:t>Down</a:t>
            </a:r>
            <a:r>
              <a:rPr lang="en-US" dirty="0" smtClean="0"/>
              <a:t>-Conversion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54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4.5 </a:t>
            </a:r>
            <a:r>
              <a:rPr lang="en-US" dirty="0"/>
              <a:t>Multiplication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65" y="1268738"/>
            <a:ext cx="3839850" cy="153966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449823" y="6082016"/>
            <a:ext cx="318211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recover original s(t)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590" y="4400901"/>
            <a:ext cx="7006950" cy="1643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915" y="2858300"/>
            <a:ext cx="3912300" cy="162233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368408" y="4554914"/>
            <a:ext cx="14702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4724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Exercise: Example 4.23</a:t>
            </a:r>
          </a:p>
        </p:txBody>
      </p:sp>
      <p:sp>
        <p:nvSpPr>
          <p:cNvPr id="10" name="副标题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(make sure to solve it by yourself after class)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4.5 </a:t>
            </a:r>
            <a:r>
              <a:rPr lang="en-US" dirty="0"/>
              <a:t>Multiplication Property of Fourier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7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Frequency Response of LTI Systems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24741"/>
            <a:ext cx="7886700" cy="4868863"/>
          </a:xfrm>
        </p:spPr>
        <p:txBody>
          <a:bodyPr/>
          <a:lstStyle/>
          <a:p>
            <a:r>
              <a:rPr lang="en-US" dirty="0" smtClean="0"/>
              <a:t> LTI system described by </a:t>
            </a:r>
            <a:r>
              <a:rPr lang="en-US" i="1" dirty="0" smtClean="0"/>
              <a:t>N</a:t>
            </a:r>
            <a:r>
              <a:rPr lang="en-US" altLang="zh-CN" dirty="0" smtClean="0"/>
              <a:t>th-order </a:t>
            </a:r>
            <a:r>
              <a:rPr lang="en-US" dirty="0" smtClean="0"/>
              <a:t>linear constant-coefficient differential equation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Apply Fourier transform to both sides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By linear property</a:t>
            </a:r>
          </a:p>
          <a:p>
            <a:r>
              <a:rPr lang="en-US" dirty="0" smtClean="0"/>
              <a:t> Frequency response of system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§4.7 System Characterized by Linear DE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088260"/>
              </p:ext>
            </p:extLst>
          </p:nvPr>
        </p:nvGraphicFramePr>
        <p:xfrm>
          <a:off x="2491740" y="2015402"/>
          <a:ext cx="306324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38" name="公式" r:id="rId3" imgW="1701800" imgH="444500" progId="Equation.3">
                  <p:embed/>
                </p:oleObj>
              </mc:Choice>
              <mc:Fallback>
                <p:oleObj name="公式" r:id="rId3" imgW="17018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740" y="2015402"/>
                        <a:ext cx="306324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711365"/>
              </p:ext>
            </p:extLst>
          </p:nvPr>
        </p:nvGraphicFramePr>
        <p:xfrm>
          <a:off x="2034540" y="3078249"/>
          <a:ext cx="397764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39" name="公式" r:id="rId5" imgW="2209800" imgH="482600" progId="Equation.3">
                  <p:embed/>
                </p:oleObj>
              </mc:Choice>
              <mc:Fallback>
                <p:oleObj name="公式" r:id="rId5" imgW="22098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4540" y="3078249"/>
                        <a:ext cx="3977640" cy="86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486022"/>
              </p:ext>
            </p:extLst>
          </p:nvPr>
        </p:nvGraphicFramePr>
        <p:xfrm>
          <a:off x="4023360" y="4000710"/>
          <a:ext cx="41833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0" name="公式" r:id="rId7" imgW="2324100" imgH="431800" progId="Equation.3">
                  <p:embed/>
                </p:oleObj>
              </mc:Choice>
              <mc:Fallback>
                <p:oleObj name="公式" r:id="rId7" imgW="23241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3360" y="4000710"/>
                        <a:ext cx="41833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604499"/>
              </p:ext>
            </p:extLst>
          </p:nvPr>
        </p:nvGraphicFramePr>
        <p:xfrm>
          <a:off x="5554980" y="4777950"/>
          <a:ext cx="3406140" cy="150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1" name="公式" r:id="rId9" imgW="1892300" imgH="838200" progId="Equation.3">
                  <p:embed/>
                </p:oleObj>
              </mc:Choice>
              <mc:Fallback>
                <p:oleObj name="公式" r:id="rId9" imgW="1892300" imgH="838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980" y="4777950"/>
                        <a:ext cx="3406140" cy="15087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296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How to Find Time-Domain </a:t>
            </a:r>
            <a:r>
              <a:rPr lang="en-US" altLang="zh-CN" dirty="0"/>
              <a:t>R</a:t>
            </a:r>
            <a:r>
              <a:rPr lang="en-US" altLang="zh-CN" dirty="0" smtClean="0"/>
              <a:t>esponse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131302" cy="48688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altLang="zh-CN" dirty="0" smtClean="0"/>
              <a:t>Find the system frequency response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For any input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), find its Fourier transform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Calculate the spectrum of the output signal   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      Y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/>
              <a:t>ω</a:t>
            </a:r>
            <a:r>
              <a:rPr lang="en-US" dirty="0" smtClean="0"/>
              <a:t>)=</a:t>
            </a:r>
            <a:r>
              <a:rPr lang="en-US" i="1" dirty="0"/>
              <a:t>H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/>
              <a:t>ω</a:t>
            </a:r>
            <a:r>
              <a:rPr lang="en-US" dirty="0" smtClean="0"/>
              <a:t>)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/>
              <a:t>ω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4. Perform the inverse Fourier transform to find y(t)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dirty="0" smtClean="0">
                <a:latin typeface="Script MT Bold" panose="03040602040607080904" pitchFamily="66" charset="0"/>
              </a:rPr>
              <a:t>F</a:t>
            </a:r>
            <a:r>
              <a:rPr lang="en-US" baseline="30000" dirty="0" smtClean="0"/>
              <a:t>-1</a:t>
            </a:r>
            <a:r>
              <a:rPr lang="en-US" dirty="0" smtClean="0"/>
              <a:t>{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j</a:t>
            </a:r>
            <a:r>
              <a:rPr lang="el-GR" i="1" dirty="0"/>
              <a:t>ω</a:t>
            </a:r>
            <a:r>
              <a:rPr lang="en-US" dirty="0"/>
              <a:t>)</a:t>
            </a:r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§4.7 System Characterized by Linear DE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599397"/>
              </p:ext>
            </p:extLst>
          </p:nvPr>
        </p:nvGraphicFramePr>
        <p:xfrm>
          <a:off x="2007108" y="1687278"/>
          <a:ext cx="3406140" cy="150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9" name="公式" r:id="rId3" imgW="1892300" imgH="838200" progId="Equation.3">
                  <p:embed/>
                </p:oleObj>
              </mc:Choice>
              <mc:Fallback>
                <p:oleObj name="公式" r:id="rId3" imgW="1892300" imgH="83820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108" y="1687278"/>
                        <a:ext cx="3406140" cy="150876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753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4.25: Impulse Response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System differential equation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Frequency response </a:t>
            </a:r>
            <a:endParaRPr lang="en-US" dirty="0"/>
          </a:p>
          <a:p>
            <a:r>
              <a:rPr lang="en-US" dirty="0" smtClean="0"/>
              <a:t> Impulse input </a:t>
            </a:r>
          </a:p>
          <a:p>
            <a:r>
              <a:rPr lang="en-US" dirty="0"/>
              <a:t> </a:t>
            </a:r>
            <a:r>
              <a:rPr lang="en-US" dirty="0" smtClean="0"/>
              <a:t>Output spectrum </a:t>
            </a:r>
          </a:p>
          <a:p>
            <a:endParaRPr lang="en-US" dirty="0"/>
          </a:p>
          <a:p>
            <a:r>
              <a:rPr lang="en-US" dirty="0" smtClean="0"/>
              <a:t> Inverse Fourier transform gives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§4.7 System </a:t>
            </a:r>
            <a:r>
              <a:rPr lang="en-US" dirty="0" smtClean="0"/>
              <a:t>Characterized </a:t>
            </a:r>
            <a:r>
              <a:rPr lang="en-US" dirty="0"/>
              <a:t>by Linear </a:t>
            </a:r>
            <a:r>
              <a:rPr lang="en-US" dirty="0" smtClean="0"/>
              <a:t>DE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470389"/>
              </p:ext>
            </p:extLst>
          </p:nvPr>
        </p:nvGraphicFramePr>
        <p:xfrm>
          <a:off x="1152144" y="1920240"/>
          <a:ext cx="43205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82" name="公式" r:id="rId3" imgW="2400300" imgH="419100" progId="Equation.3">
                  <p:embed/>
                </p:oleObj>
              </mc:Choice>
              <mc:Fallback>
                <p:oleObj name="公式" r:id="rId3" imgW="24003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144" y="1920240"/>
                        <a:ext cx="43205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155402"/>
              </p:ext>
            </p:extLst>
          </p:nvPr>
        </p:nvGraphicFramePr>
        <p:xfrm>
          <a:off x="4192588" y="2519363"/>
          <a:ext cx="3017837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83" name="公式" r:id="rId5" imgW="1676160" imgH="431640" progId="Equation.3">
                  <p:embed/>
                </p:oleObj>
              </mc:Choice>
              <mc:Fallback>
                <p:oleObj name="公式" r:id="rId5" imgW="167616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2519363"/>
                        <a:ext cx="3017837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172701"/>
              </p:ext>
            </p:extLst>
          </p:nvPr>
        </p:nvGraphicFramePr>
        <p:xfrm>
          <a:off x="3185208" y="3224964"/>
          <a:ext cx="2696310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84" name="公式" r:id="rId7" imgW="1497950" imgH="304668" progId="Equation.3">
                  <p:embed/>
                </p:oleObj>
              </mc:Choice>
              <mc:Fallback>
                <p:oleObj name="公式" r:id="rId7" imgW="1497950" imgH="30466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208" y="3224964"/>
                        <a:ext cx="2696310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472906"/>
              </p:ext>
            </p:extLst>
          </p:nvPr>
        </p:nvGraphicFramePr>
        <p:xfrm>
          <a:off x="1152144" y="4197924"/>
          <a:ext cx="69723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85" name="公式" r:id="rId9" imgW="3873500" imgH="431800" progId="Equation.3">
                  <p:embed/>
                </p:oleObj>
              </mc:Choice>
              <mc:Fallback>
                <p:oleObj name="公式" r:id="rId9" imgW="38735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144" y="4197924"/>
                        <a:ext cx="69723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963357"/>
              </p:ext>
            </p:extLst>
          </p:nvPr>
        </p:nvGraphicFramePr>
        <p:xfrm>
          <a:off x="1152144" y="5294233"/>
          <a:ext cx="39090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86" name="公式" r:id="rId11" imgW="2171700" imgH="228600" progId="Equation.3">
                  <p:embed/>
                </p:oleObj>
              </mc:Choice>
              <mc:Fallback>
                <p:oleObj name="公式" r:id="rId11" imgW="21717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144" y="5294233"/>
                        <a:ext cx="390906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243473" y="5813040"/>
            <a:ext cx="5276089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Actually,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can be directly calculated by </a:t>
            </a:r>
            <a:r>
              <a:rPr lang="en-US" dirty="0" smtClean="0">
                <a:solidFill>
                  <a:srgbClr val="FF0000"/>
                </a:solidFill>
                <a:latin typeface="Script MT Bold" panose="03040602040607080904" pitchFamily="66" charset="0"/>
                <a:cs typeface="Times New Roman" panose="02020603050405020304" pitchFamily="18" charset="0"/>
              </a:rPr>
              <a:t>F</a:t>
            </a:r>
            <a:r>
              <a:rPr lang="en-US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166405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4.26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The same system as </a:t>
            </a:r>
            <a:r>
              <a:rPr lang="en-US" dirty="0" err="1" smtClean="0"/>
              <a:t>Eg</a:t>
            </a:r>
            <a:r>
              <a:rPr lang="en-US" dirty="0" smtClean="0"/>
              <a:t>. 4.25</a:t>
            </a:r>
          </a:p>
          <a:p>
            <a:pPr marL="0" indent="0">
              <a:buNone/>
            </a:pPr>
            <a:r>
              <a:rPr lang="en-US" sz="1200" dirty="0" smtClean="0"/>
              <a:t> </a:t>
            </a:r>
          </a:p>
          <a:p>
            <a:r>
              <a:rPr lang="en-US" dirty="0" smtClean="0"/>
              <a:t> Input signal 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dirty="0" smtClean="0"/>
              <a:t> Output spectrum</a:t>
            </a:r>
          </a:p>
          <a:p>
            <a:endParaRPr lang="en-US" sz="1600" dirty="0"/>
          </a:p>
          <a:p>
            <a:r>
              <a:rPr lang="en-US" dirty="0" smtClean="0"/>
              <a:t> Partial-fraction expansion with multiple-root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200" dirty="0" smtClean="0"/>
              <a:t> </a:t>
            </a:r>
          </a:p>
          <a:p>
            <a:r>
              <a:rPr lang="en-US" altLang="zh-CN" dirty="0" smtClean="0"/>
              <a:t>By inverse Fourier transform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§4.7 System Characterized by Linear DE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696065"/>
              </p:ext>
            </p:extLst>
          </p:nvPr>
        </p:nvGraphicFramePr>
        <p:xfrm>
          <a:off x="2868930" y="1987578"/>
          <a:ext cx="358902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6" name="公式" r:id="rId3" imgW="1993900" imgH="419100" progId="Equation.3">
                  <p:embed/>
                </p:oleObj>
              </mc:Choice>
              <mc:Fallback>
                <p:oleObj name="公式" r:id="rId3" imgW="19939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930" y="1987578"/>
                        <a:ext cx="358902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131704"/>
              </p:ext>
            </p:extLst>
          </p:nvPr>
        </p:nvGraphicFramePr>
        <p:xfrm>
          <a:off x="3598164" y="2865690"/>
          <a:ext cx="49606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7" name="公式" r:id="rId5" imgW="2755900" imgH="431800" progId="Equation.3">
                  <p:embed/>
                </p:oleObj>
              </mc:Choice>
              <mc:Fallback>
                <p:oleObj name="公式" r:id="rId5" imgW="2755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164" y="2865690"/>
                        <a:ext cx="49606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733431"/>
              </p:ext>
            </p:extLst>
          </p:nvPr>
        </p:nvGraphicFramePr>
        <p:xfrm>
          <a:off x="1160145" y="4252371"/>
          <a:ext cx="44805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8" name="公式" r:id="rId7" imgW="2489200" imgH="431800" progId="Equation.3">
                  <p:embed/>
                </p:oleObj>
              </mc:Choice>
              <mc:Fallback>
                <p:oleObj name="公式" r:id="rId7" imgW="24892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145" y="4252371"/>
                        <a:ext cx="44805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831682"/>
              </p:ext>
            </p:extLst>
          </p:nvPr>
        </p:nvGraphicFramePr>
        <p:xfrm>
          <a:off x="5848731" y="4286661"/>
          <a:ext cx="28346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9" name="公式" r:id="rId9" imgW="1574800" imgH="393700" progId="Equation.3">
                  <p:embed/>
                </p:oleObj>
              </mc:Choice>
              <mc:Fallback>
                <p:oleObj name="公式" r:id="rId9" imgW="15748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731" y="4286661"/>
                        <a:ext cx="28346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45746"/>
              </p:ext>
            </p:extLst>
          </p:nvPr>
        </p:nvGraphicFramePr>
        <p:xfrm>
          <a:off x="1160145" y="5633748"/>
          <a:ext cx="42062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50" name="公式" r:id="rId11" imgW="2336800" imgH="228600" progId="Equation.3">
                  <p:embed/>
                </p:oleObj>
              </mc:Choice>
              <mc:Fallback>
                <p:oleObj name="公式" r:id="rId11" imgW="23368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145" y="5633748"/>
                        <a:ext cx="42062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73509"/>
              </p:ext>
            </p:extLst>
          </p:nvPr>
        </p:nvGraphicFramePr>
        <p:xfrm>
          <a:off x="5497513" y="1330194"/>
          <a:ext cx="3017837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51" name="公式" r:id="rId13" imgW="1676160" imgH="431640" progId="Equation.3">
                  <p:embed/>
                </p:oleObj>
              </mc:Choice>
              <mc:Fallback>
                <p:oleObj name="公式" r:id="rId13" imgW="1676160" imgH="43164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13" y="1330194"/>
                        <a:ext cx="3017837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953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How to relate FS and</a:t>
            </a:r>
            <a:r>
              <a:rPr lang="zh-CN" altLang="en-US" dirty="0"/>
              <a:t> </a:t>
            </a:r>
            <a:r>
              <a:rPr lang="en-US" altLang="zh-CN" dirty="0" smtClean="0"/>
              <a:t>FT?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FT of Typical </a:t>
            </a:r>
            <a:r>
              <a:rPr lang="en-US" altLang="zh-CN" dirty="0"/>
              <a:t>S</a:t>
            </a:r>
            <a:r>
              <a:rPr lang="en-US" altLang="zh-CN" dirty="0" smtClean="0"/>
              <a:t>ignals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Properties of FT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en-US" altLang="zh-CN" sz="2800" dirty="0"/>
              <a:t>Convolution Property and Multiplication </a:t>
            </a:r>
            <a:r>
              <a:rPr lang="en-US" altLang="zh-CN" sz="2800" dirty="0" smtClean="0"/>
              <a:t>Property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en-US" altLang="zh-CN" sz="2800" dirty="0" smtClean="0"/>
              <a:t> Frequency Response, Frequency-Domain Response and Time-Domain Response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</a:t>
            </a:r>
            <a:endParaRPr lang="en-US" altLang="zh-CN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371189"/>
              </p:ext>
            </p:extLst>
          </p:nvPr>
        </p:nvGraphicFramePr>
        <p:xfrm>
          <a:off x="1663178" y="4253160"/>
          <a:ext cx="16459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8" name="公式" r:id="rId3" imgW="914400" imgH="304800" progId="Equation.3">
                  <p:embed/>
                </p:oleObj>
              </mc:Choice>
              <mc:Fallback>
                <p:oleObj name="公式" r:id="rId3" imgW="914400" imgH="30480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178" y="4253160"/>
                        <a:ext cx="1645920" cy="5486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618768"/>
              </p:ext>
            </p:extLst>
          </p:nvPr>
        </p:nvGraphicFramePr>
        <p:xfrm>
          <a:off x="1663178" y="5055426"/>
          <a:ext cx="47101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9" name="公式" r:id="rId5" imgW="2616120" imgH="304560" progId="Equation.3">
                  <p:embed/>
                </p:oleObj>
              </mc:Choice>
              <mc:Fallback>
                <p:oleObj name="公式" r:id="rId5" imgW="2616120" imgH="304560" progId="Equation.3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178" y="5055426"/>
                        <a:ext cx="4710113" cy="547687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918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36514"/>
            <a:ext cx="7886700" cy="4868863"/>
          </a:xfrm>
        </p:spPr>
        <p:txBody>
          <a:bodyPr/>
          <a:lstStyle/>
          <a:p>
            <a:r>
              <a:rPr lang="en-US" dirty="0" smtClean="0"/>
              <a:t> What’s the inverse Fourier transform of              ?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939491"/>
              </p:ext>
            </p:extLst>
          </p:nvPr>
        </p:nvGraphicFramePr>
        <p:xfrm>
          <a:off x="7052490" y="1308100"/>
          <a:ext cx="868320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1" name="公式" r:id="rId3" imgW="482400" imgH="431640" progId="Equation.3">
                  <p:embed/>
                </p:oleObj>
              </mc:Choice>
              <mc:Fallback>
                <p:oleObj name="公式" r:id="rId3" imgW="48240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52490" y="1308100"/>
                        <a:ext cx="868320" cy="776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525510"/>
              </p:ext>
            </p:extLst>
          </p:nvPr>
        </p:nvGraphicFramePr>
        <p:xfrm>
          <a:off x="1233577" y="2011799"/>
          <a:ext cx="15773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2" name="公式" r:id="rId5" imgW="876300" imgH="228600" progId="Equation.3">
                  <p:embed/>
                </p:oleObj>
              </mc:Choice>
              <mc:Fallback>
                <p:oleObj name="公式" r:id="rId5" imgW="876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577" y="2011799"/>
                        <a:ext cx="15773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476017"/>
              </p:ext>
            </p:extLst>
          </p:nvPr>
        </p:nvGraphicFramePr>
        <p:xfrm>
          <a:off x="1299743" y="3859693"/>
          <a:ext cx="18973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3" name="公式" r:id="rId7" imgW="1054100" imgH="228600" progId="Equation.3">
                  <p:embed/>
                </p:oleObj>
              </mc:Choice>
              <mc:Fallback>
                <p:oleObj name="公式" r:id="rId7" imgW="10541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743" y="3859693"/>
                        <a:ext cx="1897380" cy="411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713121"/>
              </p:ext>
            </p:extLst>
          </p:nvPr>
        </p:nvGraphicFramePr>
        <p:xfrm>
          <a:off x="1233577" y="2460706"/>
          <a:ext cx="56692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4" name="公式" r:id="rId9" imgW="3149600" imgH="419100" progId="Equation.3">
                  <p:embed/>
                </p:oleObj>
              </mc:Choice>
              <mc:Fallback>
                <p:oleObj name="公式" r:id="rId9" imgW="31496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577" y="2460706"/>
                        <a:ext cx="56692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05599"/>
              </p:ext>
            </p:extLst>
          </p:nvPr>
        </p:nvGraphicFramePr>
        <p:xfrm>
          <a:off x="1233577" y="4360867"/>
          <a:ext cx="61722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5" name="公式" r:id="rId11" imgW="3429000" imgH="431800" progId="Equation.3">
                  <p:embed/>
                </p:oleObj>
              </mc:Choice>
              <mc:Fallback>
                <p:oleObj name="公式" r:id="rId11" imgW="34290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577" y="4360867"/>
                        <a:ext cx="61722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229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8187</TotalTime>
  <Words>2777</Words>
  <Application>Microsoft Office PowerPoint</Application>
  <PresentationFormat>全屏显示(4:3)</PresentationFormat>
  <Paragraphs>549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4" baseType="lpstr">
      <vt:lpstr>等线</vt:lpstr>
      <vt:lpstr>宋体</vt:lpstr>
      <vt:lpstr>Microsoft YaHei</vt:lpstr>
      <vt:lpstr>Microsoft YaHei</vt:lpstr>
      <vt:lpstr>Arial</vt:lpstr>
      <vt:lpstr>Cambria Math</vt:lpstr>
      <vt:lpstr>Edwardian Script ITC</vt:lpstr>
      <vt:lpstr>Script MT Bold</vt:lpstr>
      <vt:lpstr>Times New Roman</vt:lpstr>
      <vt:lpstr>Wingdings</vt:lpstr>
      <vt:lpstr>Wingdings 3</vt:lpstr>
      <vt:lpstr>Office 主题​​</vt:lpstr>
      <vt:lpstr>公式</vt:lpstr>
      <vt:lpstr>PowerPoint 演示文稿</vt:lpstr>
      <vt:lpstr>Chapter 4  Continuous-Time Fourier Transform</vt:lpstr>
      <vt:lpstr>Recall: Fourier Series for Periodic Signals</vt:lpstr>
      <vt:lpstr>Outline</vt:lpstr>
      <vt:lpstr>Fourier Series of Periodic Square Wave</vt:lpstr>
      <vt:lpstr>Fourier Series of Periodic Square Wave (cont’)</vt:lpstr>
      <vt:lpstr>Another Explanation of FS coefficients</vt:lpstr>
      <vt:lpstr>Aperiodic Signal vs Periodic Signal</vt:lpstr>
      <vt:lpstr>From Fourier Series to Fourier Transform</vt:lpstr>
      <vt:lpstr>From Fourier Series to Fourier Transform</vt:lpstr>
      <vt:lpstr>Fourier Transform Pair</vt:lpstr>
      <vt:lpstr>FS Coefficients and FT</vt:lpstr>
      <vt:lpstr>Convergence of Fourier Transform</vt:lpstr>
      <vt:lpstr>Fourier Transform Convergence Conditions</vt:lpstr>
      <vt:lpstr>Fourier Transform of Impulse</vt:lpstr>
      <vt:lpstr>Example 4.1</vt:lpstr>
      <vt:lpstr>Example 4.2</vt:lpstr>
      <vt:lpstr>sinc() function and Sa() function</vt:lpstr>
      <vt:lpstr>Rectangle Pulse</vt:lpstr>
      <vt:lpstr>Fourier Transform of Complex Exponential</vt:lpstr>
      <vt:lpstr>Fourier Transform of Periodic Signal</vt:lpstr>
      <vt:lpstr>Fourier Transform of Periodic Square Wave</vt:lpstr>
      <vt:lpstr>Fourier Transform of Sinusoidal Signals</vt:lpstr>
      <vt:lpstr>Fourier Transform of Sinusoidal Signals (cont’)</vt:lpstr>
      <vt:lpstr>Fourier Transform of Periodic Impulse Train</vt:lpstr>
      <vt:lpstr>Extra Notation for Fourier Transform</vt:lpstr>
      <vt:lpstr>Linearity of Fourier Transform</vt:lpstr>
      <vt:lpstr>Time Shifting</vt:lpstr>
      <vt:lpstr>Example 4.9</vt:lpstr>
      <vt:lpstr>Conjugation and Conjugate Symmetry</vt:lpstr>
      <vt:lpstr>Extra Discussion on Conjugate Symmetry</vt:lpstr>
      <vt:lpstr>Fourier Transform of Real Signal</vt:lpstr>
      <vt:lpstr>Fourier Transform of Even and Odd Functions</vt:lpstr>
      <vt:lpstr>Example 4.10</vt:lpstr>
      <vt:lpstr>Differentiation and Integration</vt:lpstr>
      <vt:lpstr>Fourier Transform of sgn(t)</vt:lpstr>
      <vt:lpstr>Fourier Transform of Constant Signal C and Step Signal</vt:lpstr>
      <vt:lpstr>Scaling/Reversal</vt:lpstr>
      <vt:lpstr>Duality of Fourier Transform</vt:lpstr>
      <vt:lpstr>Parseval’s Relation</vt:lpstr>
      <vt:lpstr>Some Observation of Fourier Transform and Fourier Series</vt:lpstr>
      <vt:lpstr>System Response Based on Fourier Series</vt:lpstr>
      <vt:lpstr>System Response in Frequency-Domain Based on FS</vt:lpstr>
      <vt:lpstr>Convolution Property of Fourier Transform -- Formal Derivation from Convolution Integral</vt:lpstr>
      <vt:lpstr>System Function and System Response</vt:lpstr>
      <vt:lpstr>System Cascade</vt:lpstr>
      <vt:lpstr>Example 4.15</vt:lpstr>
      <vt:lpstr>Differentiation/Integration Systems</vt:lpstr>
      <vt:lpstr>Ideal Lowpass Filter</vt:lpstr>
      <vt:lpstr>Example 4.19</vt:lpstr>
      <vt:lpstr>Multiplication Property</vt:lpstr>
      <vt:lpstr>Example 4.21: Up-Conversion</vt:lpstr>
      <vt:lpstr>Spectrum Up-Conversion</vt:lpstr>
      <vt:lpstr>Spectrum Down-Conversion</vt:lpstr>
      <vt:lpstr>Exercise: Example 4.23</vt:lpstr>
      <vt:lpstr>Frequency Response of LTI Systems</vt:lpstr>
      <vt:lpstr>How to Find Time-Domain Response</vt:lpstr>
      <vt:lpstr>Example 4.25: Impulse Response</vt:lpstr>
      <vt:lpstr>Example 4.26</vt:lpstr>
      <vt:lpstr>Summary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410</cp:revision>
  <dcterms:created xsi:type="dcterms:W3CDTF">2018-09-11T08:26:55Z</dcterms:created>
  <dcterms:modified xsi:type="dcterms:W3CDTF">2020-10-15T08:49:31Z</dcterms:modified>
</cp:coreProperties>
</file>