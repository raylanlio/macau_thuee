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68" r:id="rId2"/>
  </p:sldMasterIdLst>
  <p:notesMasterIdLst>
    <p:notesMasterId r:id="rId25"/>
  </p:notesMasterIdLst>
  <p:sldIdLst>
    <p:sldId id="256" r:id="rId3"/>
    <p:sldId id="346" r:id="rId4"/>
    <p:sldId id="352" r:id="rId5"/>
    <p:sldId id="345" r:id="rId6"/>
    <p:sldId id="356" r:id="rId7"/>
    <p:sldId id="351" r:id="rId8"/>
    <p:sldId id="354" r:id="rId9"/>
    <p:sldId id="357" r:id="rId10"/>
    <p:sldId id="359" r:id="rId11"/>
    <p:sldId id="349" r:id="rId12"/>
    <p:sldId id="361" r:id="rId13"/>
    <p:sldId id="362" r:id="rId14"/>
    <p:sldId id="365" r:id="rId15"/>
    <p:sldId id="363" r:id="rId16"/>
    <p:sldId id="367" r:id="rId17"/>
    <p:sldId id="369" r:id="rId18"/>
    <p:sldId id="366" r:id="rId19"/>
    <p:sldId id="370" r:id="rId20"/>
    <p:sldId id="372" r:id="rId21"/>
    <p:sldId id="373" r:id="rId22"/>
    <p:sldId id="374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88549" autoAdjust="0"/>
  </p:normalViewPr>
  <p:slideViewPr>
    <p:cSldViewPr snapToGrid="0">
      <p:cViewPr varScale="1">
        <p:scale>
          <a:sx n="60" d="100"/>
          <a:sy n="60" d="100"/>
        </p:scale>
        <p:origin x="10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B79FE-5EF5-489C-B623-5344B9411344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6C298-A23E-4547-8BEE-011D720E9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08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55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发展脉络；选取</a:t>
            </a:r>
            <a:r>
              <a:rPr lang="en-US" altLang="zh-CN" dirty="0"/>
              <a:t>RRAM</a:t>
            </a:r>
            <a:r>
              <a:rPr lang="zh-CN" altLang="en-US" dirty="0"/>
              <a:t>逐渐应用于类脑计算近</a:t>
            </a:r>
            <a:r>
              <a:rPr lang="en-US" altLang="zh-CN" dirty="0"/>
              <a:t>20</a:t>
            </a:r>
            <a:r>
              <a:rPr lang="zh-CN" altLang="en-US" dirty="0"/>
              <a:t>年的重要里程碑以及对未来发展的展望</a:t>
            </a:r>
            <a:endParaRPr lang="en-US" altLang="zh-CN" dirty="0"/>
          </a:p>
          <a:p>
            <a:r>
              <a:rPr lang="zh-CN" altLang="en-US" dirty="0"/>
              <a:t>向大家展示</a:t>
            </a:r>
            <a:r>
              <a:rPr lang="en-US" altLang="zh-CN" dirty="0"/>
              <a:t>RRAM</a:t>
            </a:r>
            <a:r>
              <a:rPr lang="zh-CN" altLang="en-US" dirty="0"/>
              <a:t>怎么逐渐应用于类脑计算</a:t>
            </a:r>
            <a:endParaRPr lang="en-US" altLang="zh-CN" dirty="0"/>
          </a:p>
          <a:p>
            <a:r>
              <a:rPr lang="zh-CN" altLang="en-US" dirty="0"/>
              <a:t>图源</a:t>
            </a:r>
            <a:r>
              <a:rPr lang="en-US" altLang="zh-CN" dirty="0"/>
              <a:t>2020</a:t>
            </a:r>
            <a:r>
              <a:rPr lang="zh-CN" altLang="en-US" dirty="0"/>
              <a:t>年吴华强老师组发</a:t>
            </a:r>
            <a:r>
              <a:rPr lang="en-US" altLang="zh-CN" dirty="0"/>
              <a:t>nature</a:t>
            </a:r>
            <a:r>
              <a:rPr lang="zh-CN" altLang="en-US" dirty="0"/>
              <a:t>的综述文章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786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个关键节点对应着这</a:t>
            </a:r>
            <a:r>
              <a:rPr lang="en-US" altLang="zh-CN" dirty="0"/>
              <a:t>4</a:t>
            </a:r>
            <a:r>
              <a:rPr lang="zh-CN" altLang="en-US" dirty="0"/>
              <a:t>篇里程碑式论文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37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MRAM</a:t>
            </a:r>
            <a:r>
              <a:rPr lang="zh-CN" altLang="en-US" dirty="0"/>
              <a:t>：通过自旋控制电阻</a:t>
            </a:r>
            <a:endParaRPr lang="en-US" altLang="zh-CN" dirty="0"/>
          </a:p>
          <a:p>
            <a:r>
              <a:rPr lang="en-US" altLang="zh-CN" dirty="0"/>
              <a:t>RRAM</a:t>
            </a:r>
            <a:r>
              <a:rPr lang="zh-CN" altLang="en-US" dirty="0"/>
              <a:t>：通过电压控制电阻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358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之前两个组更多是展示了在</a:t>
            </a:r>
            <a:r>
              <a:rPr lang="en-US" altLang="zh-CN" dirty="0"/>
              <a:t>2021</a:t>
            </a:r>
            <a:r>
              <a:rPr lang="zh-CN" altLang="en-US" dirty="0"/>
              <a:t>年我们怎么造</a:t>
            </a:r>
            <a:r>
              <a:rPr lang="en-US" altLang="zh-CN" dirty="0"/>
              <a:t>RRAM</a:t>
            </a:r>
            <a:r>
              <a:rPr lang="zh-CN" altLang="en-US" dirty="0"/>
              <a:t>，但我现在要说的是，我们在十几年前，怎么首次造出了</a:t>
            </a:r>
            <a:r>
              <a:rPr lang="en-US" altLang="zh-CN" dirty="0"/>
              <a:t>RRAM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2008</a:t>
            </a:r>
            <a:r>
              <a:rPr lang="zh-CN" altLang="en-US" dirty="0"/>
              <a:t>：惠普公司首次做出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纳米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器件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825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487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特点：只有两个状态，两个阻值，只能表示</a:t>
            </a:r>
            <a:r>
              <a:rPr lang="en-US" altLang="zh-CN" dirty="0"/>
              <a:t>01</a:t>
            </a:r>
            <a:r>
              <a:rPr lang="zh-CN" altLang="en-US" dirty="0"/>
              <a:t>两个状态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43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忆阻器的发展脉络；选取几个对“神经网络”重要的关键节点</a:t>
            </a:r>
            <a:endParaRPr lang="en-US" altLang="zh-CN" dirty="0"/>
          </a:p>
          <a:p>
            <a:r>
              <a:rPr lang="en-US" altLang="zh-CN" dirty="0"/>
              <a:t>2010</a:t>
            </a:r>
            <a:r>
              <a:rPr lang="zh-CN" altLang="en-US" dirty="0"/>
              <a:t>：有多值电阻值的</a:t>
            </a:r>
            <a:r>
              <a:rPr lang="en-US" altLang="zh-CN" dirty="0"/>
              <a:t>RRAM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40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横坐标：</a:t>
            </a:r>
            <a:r>
              <a:rPr lang="en-US" altLang="zh-CN" dirty="0"/>
              <a:t>pulse </a:t>
            </a:r>
            <a:r>
              <a:rPr lang="zh-CN" altLang="en-US" dirty="0"/>
              <a:t>纵坐标：电流值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129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横坐标：</a:t>
            </a:r>
            <a:r>
              <a:rPr lang="en-US" altLang="zh-CN" dirty="0"/>
              <a:t>pulse </a:t>
            </a:r>
            <a:r>
              <a:rPr lang="zh-CN" altLang="en-US" dirty="0"/>
              <a:t>纵坐标：电流值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类脑计算：大脑中是模拟域的计算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模拟域的</a:t>
            </a:r>
            <a:r>
              <a:rPr lang="en-US" altLang="zh-CN" dirty="0"/>
              <a:t>RRAM</a:t>
            </a:r>
            <a:r>
              <a:rPr lang="zh-CN" altLang="en-US" dirty="0"/>
              <a:t>是在实现类脑计算中的一个重大突破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753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现在有了数字域的</a:t>
            </a:r>
            <a:r>
              <a:rPr lang="en-US" altLang="zh-CN" dirty="0"/>
              <a:t>RRAM</a:t>
            </a:r>
            <a:r>
              <a:rPr lang="zh-CN" altLang="en-US" dirty="0"/>
              <a:t>和模拟域的</a:t>
            </a:r>
            <a:r>
              <a:rPr lang="en-US" altLang="zh-CN" dirty="0"/>
              <a:t>RRAM</a:t>
            </a:r>
            <a:r>
              <a:rPr lang="zh-CN" altLang="en-US" dirty="0"/>
              <a:t>，但只是单个</a:t>
            </a:r>
            <a:endParaRPr lang="en-US" altLang="zh-CN" dirty="0"/>
          </a:p>
          <a:p>
            <a:r>
              <a:rPr lang="en-US" altLang="zh-CN" dirty="0"/>
              <a:t>2015</a:t>
            </a:r>
            <a:r>
              <a:rPr lang="zh-CN" altLang="en-US" dirty="0"/>
              <a:t>：纯</a:t>
            </a:r>
            <a:r>
              <a:rPr lang="en-US" altLang="zh-CN" dirty="0"/>
              <a:t>RRAM</a:t>
            </a:r>
            <a:r>
              <a:rPr lang="zh-CN" altLang="en-US" dirty="0"/>
              <a:t>阵列网络，实现简单的神经网络计算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942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很基础的神经网络：分辨出九宫格中的字母</a:t>
            </a:r>
            <a:r>
              <a:rPr lang="en-US" altLang="zh-CN" dirty="0"/>
              <a:t>z</a:t>
            </a:r>
            <a:r>
              <a:rPr lang="zh-CN" altLang="en-US" dirty="0"/>
              <a:t>、</a:t>
            </a:r>
            <a:r>
              <a:rPr lang="en-US" altLang="zh-CN" dirty="0"/>
              <a:t>v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556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Cross bar</a:t>
            </a:r>
            <a:r>
              <a:rPr lang="zh-CN" altLang="en-US" dirty="0"/>
              <a:t>结构，每个</a:t>
            </a:r>
            <a:r>
              <a:rPr lang="en-US" altLang="zh-CN" dirty="0"/>
              <a:t>RRAM</a:t>
            </a:r>
            <a:r>
              <a:rPr lang="zh-CN" altLang="en-US" dirty="0"/>
              <a:t>一个阻值。这是个很基本的神经网络（因为是首次实现），只用了数字域，每个</a:t>
            </a:r>
            <a:r>
              <a:rPr lang="en-US" altLang="zh-CN" dirty="0"/>
              <a:t>RRAM</a:t>
            </a:r>
            <a:r>
              <a:rPr lang="zh-CN" altLang="en-US" dirty="0"/>
              <a:t>的阻值只有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1.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616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159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23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忆阻器的发展脉络；选取几个对“神经网络”重要的关键节点</a:t>
            </a:r>
            <a:endParaRPr lang="en-US" altLang="zh-CN" dirty="0"/>
          </a:p>
          <a:p>
            <a:r>
              <a:rPr lang="en-US" altLang="zh-CN" dirty="0"/>
              <a:t>2015</a:t>
            </a:r>
            <a:r>
              <a:rPr lang="zh-CN" altLang="en-US" dirty="0"/>
              <a:t>：纯</a:t>
            </a:r>
            <a:r>
              <a:rPr lang="en-US" altLang="zh-CN" dirty="0"/>
              <a:t>RRAM</a:t>
            </a:r>
            <a:r>
              <a:rPr lang="zh-CN" altLang="en-US" dirty="0"/>
              <a:t>阵列网络，实现简单的神经网络计算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214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PCB</a:t>
            </a:r>
            <a:r>
              <a:rPr lang="zh-CN" altLang="en-US" dirty="0"/>
              <a:t>；系统级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4524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细节不赘述</a:t>
            </a:r>
            <a:endParaRPr lang="en-US" altLang="zh-CN" dirty="0"/>
          </a:p>
          <a:p>
            <a:r>
              <a:rPr lang="zh-CN" altLang="en-US" dirty="0"/>
              <a:t>众多的实验已经证明</a:t>
            </a:r>
            <a:r>
              <a:rPr lang="en-US" altLang="zh-CN" dirty="0"/>
              <a:t>RRAM</a:t>
            </a:r>
            <a:r>
              <a:rPr lang="zh-CN" altLang="en-US" dirty="0"/>
              <a:t>可以实现多种类脑计算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212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回顾一下</a:t>
            </a:r>
            <a:r>
              <a:rPr lang="en-US" altLang="zh-CN" dirty="0"/>
              <a:t>RRAM</a:t>
            </a:r>
            <a:r>
              <a:rPr lang="zh-CN" altLang="en-US" dirty="0"/>
              <a:t>的发展脉络；选取几个对“类脑计算”重要的关键节点</a:t>
            </a:r>
            <a:endParaRPr lang="en-US" altLang="zh-CN" dirty="0"/>
          </a:p>
          <a:p>
            <a:r>
              <a:rPr lang="zh-CN" altLang="en-US" dirty="0"/>
              <a:t>未来发展：通用计算芯片，类脑芯片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923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一个忆阻器阵列就可以实现矩阵乘法</a:t>
            </a:r>
            <a:r>
              <a:rPr lang="en-US" altLang="zh-CN" dirty="0"/>
              <a:t>——</a:t>
            </a:r>
            <a:r>
              <a:rPr lang="zh-CN" altLang="en-US" dirty="0"/>
              <a:t>很好的发展前景</a:t>
            </a:r>
            <a:endParaRPr lang="en-US" altLang="zh-CN" dirty="0"/>
          </a:p>
          <a:p>
            <a:r>
              <a:rPr lang="zh-CN" altLang="en-US" dirty="0"/>
              <a:t>机遇与挑战并存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466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谢谢大家！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6C298-A23E-4547-8BEE-011D720E9E2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73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29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71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3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1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7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92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92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63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27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833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625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84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237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281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248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2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662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879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11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682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47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76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B687123-0A27-4F3B-91F6-CBC5FCF538E1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8B49549-9D13-4893-8A42-9EA2DD628C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1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7BD09-6A21-4734-82C5-836A65850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1765612"/>
            <a:ext cx="10245435" cy="2387600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RRAM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与类脑计算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901006-EBA7-4E01-9805-16AB265C7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7302" y="4784165"/>
            <a:ext cx="5929926" cy="1214120"/>
          </a:xfrm>
        </p:spPr>
        <p:txBody>
          <a:bodyPr>
            <a:normAutofit fontScale="92500"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微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91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黄思语 杨启泽 穆昀睿 廖汶鋒</a:t>
            </a:r>
            <a:endParaRPr lang="en-US" altLang="zh-CN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1600" dirty="0"/>
              <a:t>				</a:t>
            </a:r>
          </a:p>
          <a:p>
            <a:r>
              <a:rPr lang="en-US" altLang="zh-CN" sz="1600" dirty="0"/>
              <a:t>				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2021.12. 14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93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B43EF6-28AA-4562-BEB9-459FA92F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0"/>
            <a:ext cx="9605394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DB163C-B82C-4AE5-BFF8-514FAC0C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284480"/>
            <a:ext cx="4172989" cy="1201928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Roadmap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6F63C-E532-4100-94AA-CF7FE8347103}"/>
              </a:ext>
            </a:extLst>
          </p:cNvPr>
          <p:cNvSpPr/>
          <p:nvPr/>
        </p:nvSpPr>
        <p:spPr>
          <a:xfrm>
            <a:off x="6956096" y="6334780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“Neuro-inspired computing chips”, Nature Electronics , W. Q. Zhang, 2020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A4017EFB-2CEA-4105-9567-6A10F5B05B78}"/>
              </a:ext>
            </a:extLst>
          </p:cNvPr>
          <p:cNvSpPr/>
          <p:nvPr/>
        </p:nvSpPr>
        <p:spPr>
          <a:xfrm>
            <a:off x="603250" y="5923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A67B9D03-292F-448B-BB1D-E2880177A6C9}"/>
              </a:ext>
            </a:extLst>
          </p:cNvPr>
          <p:cNvSpPr/>
          <p:nvPr/>
        </p:nvSpPr>
        <p:spPr>
          <a:xfrm>
            <a:off x="863282" y="2621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E8175F54-C260-4014-8A78-D5A50EBF2235}"/>
              </a:ext>
            </a:extLst>
          </p:cNvPr>
          <p:cNvSpPr/>
          <p:nvPr/>
        </p:nvSpPr>
        <p:spPr>
          <a:xfrm>
            <a:off x="4291330" y="1226375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6C370B04-0B46-4468-AAA1-30282CB64111}"/>
              </a:ext>
            </a:extLst>
          </p:cNvPr>
          <p:cNvSpPr/>
          <p:nvPr/>
        </p:nvSpPr>
        <p:spPr>
          <a:xfrm>
            <a:off x="2050796" y="5551624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1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3E171-053B-4C2A-B0C9-A69DD275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69" y="821803"/>
            <a:ext cx="11341261" cy="5610827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2008</a:t>
            </a:r>
            <a:r>
              <a:rPr lang="zh-CN" altLang="en-US" sz="2800" dirty="0"/>
              <a:t>：</a:t>
            </a:r>
            <a:r>
              <a:rPr lang="en-US" altLang="zh-CN" sz="2800" dirty="0"/>
              <a:t> “ The missing memristor found”, Dmitri B. </a:t>
            </a:r>
            <a:r>
              <a:rPr lang="en-US" altLang="zh-CN" sz="2800" dirty="0" err="1"/>
              <a:t>Strukov</a:t>
            </a:r>
            <a:r>
              <a:rPr lang="en-US" altLang="zh-CN" sz="2800" dirty="0"/>
              <a:t>, Nature</a:t>
            </a:r>
          </a:p>
          <a:p>
            <a:endParaRPr lang="en-US" altLang="zh-CN" sz="2800" dirty="0"/>
          </a:p>
          <a:p>
            <a:r>
              <a:rPr lang="en-US" altLang="zh-CN" sz="2800" b="1" dirty="0"/>
              <a:t>2010</a:t>
            </a:r>
            <a:r>
              <a:rPr lang="zh-CN" altLang="en-US" sz="2800" dirty="0"/>
              <a:t>：</a:t>
            </a:r>
            <a:r>
              <a:rPr lang="en-US" altLang="zh-CN" sz="2800" dirty="0"/>
              <a:t>“Nanoscale Memristor Device as Synapse in Neuromorphic Systems”, Sung Hyun Jo, Nano Lett</a:t>
            </a:r>
          </a:p>
          <a:p>
            <a:endParaRPr lang="en-US" altLang="zh-CN" sz="2800" dirty="0"/>
          </a:p>
          <a:p>
            <a:r>
              <a:rPr lang="en-US" altLang="zh-CN" sz="2800" b="1" dirty="0"/>
              <a:t>2015</a:t>
            </a:r>
            <a:r>
              <a:rPr lang="zh-CN" altLang="en-US" sz="2800" dirty="0"/>
              <a:t>：</a:t>
            </a:r>
            <a:r>
              <a:rPr lang="en-US" altLang="zh-CN" sz="2800" dirty="0"/>
              <a:t> “ Training and operation of an integrated neuromorphic network based on metal-oxide memristors”, M. </a:t>
            </a:r>
            <a:r>
              <a:rPr lang="en-US" altLang="zh-CN" sz="2800" dirty="0" err="1"/>
              <a:t>Prezioso</a:t>
            </a:r>
            <a:r>
              <a:rPr lang="en-US" altLang="zh-CN" sz="2800" dirty="0"/>
              <a:t>, Nature</a:t>
            </a:r>
          </a:p>
          <a:p>
            <a:endParaRPr lang="en-US" altLang="zh-CN" sz="2800" b="1" dirty="0"/>
          </a:p>
          <a:p>
            <a:r>
              <a:rPr lang="en-US" altLang="zh-CN" sz="2800" b="1" dirty="0"/>
              <a:t>2020</a:t>
            </a:r>
            <a:r>
              <a:rPr lang="zh-CN" altLang="en-US" sz="2800" dirty="0"/>
              <a:t>：</a:t>
            </a:r>
            <a:r>
              <a:rPr lang="en-US" altLang="zh-CN" sz="2800" dirty="0"/>
              <a:t> “Fully hardware-implemented memristor convolutional neural network”, P. Yao, Nature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887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8557B-123E-4CAB-8F5B-4B667795A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什么是</a:t>
            </a:r>
            <a:r>
              <a:rPr lang="en-US" altLang="zh-CN" sz="48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6A9CA6-A9D9-4C2D-97AD-666B46EAB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28" y="1799213"/>
            <a:ext cx="4724953" cy="591312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磁阻存储器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MRAM</a:t>
            </a:r>
            <a:endParaRPr lang="zh-CN" altLang="en-US" sz="32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D18D78-6F8A-4E65-9B70-919192923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806" y="2390525"/>
            <a:ext cx="4894794" cy="3647563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8AEA273-C18A-4B05-BF4D-73B39A8453A3}"/>
              </a:ext>
            </a:extLst>
          </p:cNvPr>
          <p:cNvSpPr txBox="1">
            <a:spLocks/>
          </p:cNvSpPr>
          <p:nvPr/>
        </p:nvSpPr>
        <p:spPr>
          <a:xfrm>
            <a:off x="6412374" y="1703947"/>
            <a:ext cx="5578998" cy="467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阻变式存储器（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是以非导性材料的电阻在</a:t>
            </a:r>
            <a:r>
              <a:rPr lang="zh-CN" altLang="en-US" sz="3200" dirty="0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外加电场作用下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，在</a:t>
            </a:r>
            <a:r>
              <a:rPr lang="zh-CN" altLang="en-US" sz="3200" dirty="0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高阻态和低阻态之间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实现可逆转换为基础的</a:t>
            </a:r>
            <a:r>
              <a:rPr lang="zh-CN" altLang="en-US" sz="3200" dirty="0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非易失性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存储器。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r">
              <a:buFont typeface="Wingdings" pitchFamily="2" charset="2"/>
              <a:buNone/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百度百科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2A010B-265A-4938-A5FF-323EFF62B007}"/>
              </a:ext>
            </a:extLst>
          </p:cNvPr>
          <p:cNvSpPr/>
          <p:nvPr/>
        </p:nvSpPr>
        <p:spPr>
          <a:xfrm>
            <a:off x="6956096" y="6334780"/>
            <a:ext cx="45857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The missing memristor found”, Dmitri B.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Strukov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2008</a:t>
            </a:r>
          </a:p>
          <a:p>
            <a:endParaRPr lang="en-US" altLang="zh-CN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7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B43EF6-28AA-4562-BEB9-459FA92F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0"/>
            <a:ext cx="9605394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DB163C-B82C-4AE5-BFF8-514FAC0C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96" y="284480"/>
            <a:ext cx="5634556" cy="1201928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2008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：构造出</a:t>
            </a:r>
            <a:r>
              <a:rPr lang="en-US" altLang="zh-CN" sz="40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endParaRPr lang="zh-CN" altLang="en-US" sz="40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6F63C-E532-4100-94AA-CF7FE8347103}"/>
              </a:ext>
            </a:extLst>
          </p:cNvPr>
          <p:cNvSpPr/>
          <p:nvPr/>
        </p:nvSpPr>
        <p:spPr>
          <a:xfrm>
            <a:off x="6956096" y="6334780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“Neuro-inspired computing chips”, Nature Electronics , W. Q. Zhang, 2020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A4017EFB-2CEA-4105-9567-6A10F5B05B78}"/>
              </a:ext>
            </a:extLst>
          </p:cNvPr>
          <p:cNvSpPr/>
          <p:nvPr/>
        </p:nvSpPr>
        <p:spPr>
          <a:xfrm>
            <a:off x="603250" y="5923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BC2B8FB-B286-42A8-8F1F-4AC2E14CDB45}"/>
              </a:ext>
            </a:extLst>
          </p:cNvPr>
          <p:cNvSpPr/>
          <p:nvPr/>
        </p:nvSpPr>
        <p:spPr>
          <a:xfrm>
            <a:off x="446567" y="5167423"/>
            <a:ext cx="1711842" cy="1881963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620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3F5FE38-7395-42F8-BD72-1965996DA3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880"/>
          <a:stretch/>
        </p:blipFill>
        <p:spPr>
          <a:xfrm>
            <a:off x="1102089" y="2210147"/>
            <a:ext cx="4175967" cy="243770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DB1345F-D983-4DED-B6FD-BCCAC102EE31}"/>
              </a:ext>
            </a:extLst>
          </p:cNvPr>
          <p:cNvSpPr/>
          <p:nvPr/>
        </p:nvSpPr>
        <p:spPr>
          <a:xfrm>
            <a:off x="6956096" y="6334780"/>
            <a:ext cx="45857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The missing memristor found”, Dmitri B.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Strukov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2008</a:t>
            </a:r>
          </a:p>
          <a:p>
            <a:endParaRPr lang="en-US" altLang="zh-CN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5A1530D-370A-4171-8661-12F24BEBBC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589" b="28309"/>
          <a:stretch/>
        </p:blipFill>
        <p:spPr>
          <a:xfrm>
            <a:off x="6165450" y="2010432"/>
            <a:ext cx="4585756" cy="28371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2774AF-9042-4EE5-9021-6361A397E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88" y="4745596"/>
            <a:ext cx="5871064" cy="971471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8DEF6047-7402-4E5E-B6E2-FC1CC2E74CA8}"/>
              </a:ext>
            </a:extLst>
          </p:cNvPr>
          <p:cNvSpPr txBox="1">
            <a:spLocks/>
          </p:cNvSpPr>
          <p:nvPr/>
        </p:nvSpPr>
        <p:spPr>
          <a:xfrm>
            <a:off x="541528" y="0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>
                <a:latin typeface="华文中宋" panose="02010600040101010101" pitchFamily="2" charset="-122"/>
                <a:ea typeface="华文中宋" panose="02010600040101010101" pitchFamily="2" charset="-122"/>
              </a:rPr>
              <a:t>惠普公司首次做出</a:t>
            </a:r>
            <a:r>
              <a:rPr lang="en-US" altLang="zh-CN" sz="4800">
                <a:latin typeface="华文中宋" panose="02010600040101010101" pitchFamily="2" charset="-122"/>
                <a:ea typeface="华文中宋" panose="02010600040101010101" pitchFamily="2" charset="-122"/>
              </a:rPr>
              <a:t>RRAM</a:t>
            </a:r>
            <a:endParaRPr lang="zh-CN" altLang="en-US" sz="4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618A2E6-921E-4D7E-8EB0-EDBF9E6D22A3}"/>
              </a:ext>
            </a:extLst>
          </p:cNvPr>
          <p:cNvSpPr txBox="1">
            <a:spLocks/>
          </p:cNvSpPr>
          <p:nvPr/>
        </p:nvSpPr>
        <p:spPr>
          <a:xfrm>
            <a:off x="7823709" y="1914491"/>
            <a:ext cx="1607370" cy="591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高阻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0B9FB4FA-E9D7-4A6A-9E7D-57BCC039BCB5}"/>
              </a:ext>
            </a:extLst>
          </p:cNvPr>
          <p:cNvSpPr txBox="1">
            <a:spLocks/>
          </p:cNvSpPr>
          <p:nvPr/>
        </p:nvSpPr>
        <p:spPr>
          <a:xfrm>
            <a:off x="7823709" y="4551911"/>
            <a:ext cx="1607370" cy="591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低阻</a:t>
            </a:r>
          </a:p>
        </p:txBody>
      </p:sp>
    </p:spTree>
    <p:extLst>
      <p:ext uri="{BB962C8B-B14F-4D97-AF65-F5344CB8AC3E}">
        <p14:creationId xmlns:p14="http://schemas.microsoft.com/office/powerpoint/2010/main" val="3129946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FF097C8-4E26-4693-9901-52E1BD4B9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52127"/>
          <a:stretch/>
        </p:blipFill>
        <p:spPr>
          <a:xfrm>
            <a:off x="735505" y="2164029"/>
            <a:ext cx="5480914" cy="3414969"/>
          </a:xfrm>
          <a:prstGeom prst="rect">
            <a:avLst/>
          </a:prstGeom>
        </p:spPr>
      </p:pic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EF129E15-47D2-42AE-9926-3815AD4C45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767"/>
          <a:stretch/>
        </p:blipFill>
        <p:spPr>
          <a:xfrm>
            <a:off x="6216419" y="2164029"/>
            <a:ext cx="5480914" cy="3511951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7FD3126D-B646-4383-A96E-5A7D4482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惠普公司首次做出</a:t>
            </a:r>
            <a:r>
              <a:rPr lang="en-US" altLang="zh-CN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RRAM</a:t>
            </a:r>
            <a:endParaRPr lang="zh-CN" altLang="en-US" sz="4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10673F9-2D2A-430E-876F-A54ECD54F9C3}"/>
              </a:ext>
            </a:extLst>
          </p:cNvPr>
          <p:cNvSpPr txBox="1">
            <a:spLocks/>
          </p:cNvSpPr>
          <p:nvPr/>
        </p:nvSpPr>
        <p:spPr>
          <a:xfrm>
            <a:off x="1250629" y="1609344"/>
            <a:ext cx="6532404" cy="591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加正弦波 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器件阻值变化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9E8A1B-DC05-4B53-A3C5-543B0A9975B8}"/>
              </a:ext>
            </a:extLst>
          </p:cNvPr>
          <p:cNvSpPr/>
          <p:nvPr/>
        </p:nvSpPr>
        <p:spPr>
          <a:xfrm>
            <a:off x="6956096" y="6334780"/>
            <a:ext cx="45857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The missing memristor found”, Dmitri B.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Strukov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2008</a:t>
            </a:r>
          </a:p>
          <a:p>
            <a:endParaRPr lang="en-US" altLang="zh-CN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26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B43EF6-28AA-4562-BEB9-459FA92F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0"/>
            <a:ext cx="9605394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DB163C-B82C-4AE5-BFF8-514FAC0C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82" y="185347"/>
            <a:ext cx="7289736" cy="120192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2010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：模拟域</a:t>
            </a:r>
            <a:r>
              <a:rPr lang="en-US" altLang="zh-CN" sz="40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endParaRPr lang="zh-CN" altLang="en-US" sz="40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6F63C-E532-4100-94AA-CF7FE8347103}"/>
              </a:ext>
            </a:extLst>
          </p:cNvPr>
          <p:cNvSpPr/>
          <p:nvPr/>
        </p:nvSpPr>
        <p:spPr>
          <a:xfrm>
            <a:off x="6956096" y="6334780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“Neuro-inspired computing chips”, Nature Electronics , W. Q. Zhang, 2020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B4EC94D0-F69A-495A-90FF-F283471DA2D4}"/>
              </a:ext>
            </a:extLst>
          </p:cNvPr>
          <p:cNvSpPr/>
          <p:nvPr/>
        </p:nvSpPr>
        <p:spPr>
          <a:xfrm>
            <a:off x="603250" y="5923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C1A09048-AAE2-4EF5-8998-CF6ACC6E655C}"/>
              </a:ext>
            </a:extLst>
          </p:cNvPr>
          <p:cNvSpPr/>
          <p:nvPr/>
        </p:nvSpPr>
        <p:spPr>
          <a:xfrm>
            <a:off x="2050796" y="5551624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F848644-0918-4109-8F6E-4990BBC3B144}"/>
              </a:ext>
            </a:extLst>
          </p:cNvPr>
          <p:cNvSpPr/>
          <p:nvPr/>
        </p:nvSpPr>
        <p:spPr>
          <a:xfrm>
            <a:off x="1798988" y="5161384"/>
            <a:ext cx="1711842" cy="1881963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9124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EF129E15-47D2-42AE-9926-3815AD4C45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767"/>
          <a:stretch/>
        </p:blipFill>
        <p:spPr>
          <a:xfrm>
            <a:off x="207140" y="2453833"/>
            <a:ext cx="5028764" cy="3222231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7FD3126D-B646-4383-A96E-5A7D4482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模拟域</a:t>
            </a:r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endParaRPr lang="zh-CN" altLang="en-US" sz="48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10673F9-2D2A-430E-876F-A54ECD54F9C3}"/>
              </a:ext>
            </a:extLst>
          </p:cNvPr>
          <p:cNvSpPr txBox="1">
            <a:spLocks/>
          </p:cNvSpPr>
          <p:nvPr/>
        </p:nvSpPr>
        <p:spPr>
          <a:xfrm>
            <a:off x="1250629" y="1609344"/>
            <a:ext cx="4724953" cy="591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2008 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双值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9E8A1B-DC05-4B53-A3C5-543B0A9975B8}"/>
              </a:ext>
            </a:extLst>
          </p:cNvPr>
          <p:cNvSpPr/>
          <p:nvPr/>
        </p:nvSpPr>
        <p:spPr>
          <a:xfrm>
            <a:off x="650148" y="5869958"/>
            <a:ext cx="45857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The missing memristor found”, Dmitri B.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Strukov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2008</a:t>
            </a:r>
          </a:p>
          <a:p>
            <a:endParaRPr lang="en-US" altLang="zh-CN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6FF0BA8-5900-4C81-A210-64BC6406E167}"/>
              </a:ext>
            </a:extLst>
          </p:cNvPr>
          <p:cNvSpPr txBox="1">
            <a:spLocks/>
          </p:cNvSpPr>
          <p:nvPr/>
        </p:nvSpPr>
        <p:spPr>
          <a:xfrm>
            <a:off x="6400360" y="1609344"/>
            <a:ext cx="5972976" cy="844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2010 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多值（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Analogue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9C8539-4930-40AA-9601-FFC13467E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026" y="2200656"/>
            <a:ext cx="4503928" cy="37277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F0C61F5-8CD1-4C0F-B29F-139E46FE9A92}"/>
              </a:ext>
            </a:extLst>
          </p:cNvPr>
          <p:cNvSpPr/>
          <p:nvPr/>
        </p:nvSpPr>
        <p:spPr>
          <a:xfrm>
            <a:off x="6747752" y="5869958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“Nanoscale Memristor Device as Synapse in</a:t>
            </a:r>
          </a:p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Neuromorphic Systems”, Sung Hyun Jo, Nano Lett, 2010,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箭头: 虚尾 1">
            <a:extLst>
              <a:ext uri="{FF2B5EF4-FFF2-40B4-BE49-F238E27FC236}">
                <a16:creationId xmlns:a16="http://schemas.microsoft.com/office/drawing/2014/main" id="{0D32AAD8-0683-406D-9E1C-455882DA25C3}"/>
              </a:ext>
            </a:extLst>
          </p:cNvPr>
          <p:cNvSpPr/>
          <p:nvPr/>
        </p:nvSpPr>
        <p:spPr>
          <a:xfrm>
            <a:off x="4863205" y="3441050"/>
            <a:ext cx="1112377" cy="396171"/>
          </a:xfrm>
          <a:prstGeom prst="stripedRightArrow">
            <a:avLst>
              <a:gd name="adj1" fmla="val 35804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83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>
            <a:extLst>
              <a:ext uri="{FF2B5EF4-FFF2-40B4-BE49-F238E27FC236}">
                <a16:creationId xmlns:a16="http://schemas.microsoft.com/office/drawing/2014/main" id="{0FFD1352-AC98-4234-A51B-CDCA8D241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02" y="2542669"/>
            <a:ext cx="4503928" cy="3727700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D7946CEB-FB58-48D2-9B05-9B0E80E09EBB}"/>
              </a:ext>
            </a:extLst>
          </p:cNvPr>
          <p:cNvSpPr txBox="1"/>
          <p:nvPr/>
        </p:nvSpPr>
        <p:spPr>
          <a:xfrm>
            <a:off x="633964" y="1660336"/>
            <a:ext cx="7437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加脉冲电压 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器件阻值改变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D6AAD2-1A2B-4406-ABCD-25B1A3BEEE41}"/>
              </a:ext>
            </a:extLst>
          </p:cNvPr>
          <p:cNvGrpSpPr/>
          <p:nvPr/>
        </p:nvGrpSpPr>
        <p:grpSpPr>
          <a:xfrm>
            <a:off x="5697231" y="2001841"/>
            <a:ext cx="6668348" cy="3600153"/>
            <a:chOff x="5272218" y="1333614"/>
            <a:chExt cx="6668348" cy="360015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561E561-2F1E-48A2-8EB7-8B76D2829392}"/>
                </a:ext>
              </a:extLst>
            </p:cNvPr>
            <p:cNvGrpSpPr/>
            <p:nvPr/>
          </p:nvGrpSpPr>
          <p:grpSpPr>
            <a:xfrm>
              <a:off x="8469989" y="2294835"/>
              <a:ext cx="1396810" cy="1265859"/>
              <a:chOff x="4984373" y="1869090"/>
              <a:chExt cx="1396810" cy="1265859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21EABAE-496F-422F-87AC-7CE093CC78EB}"/>
                  </a:ext>
                </a:extLst>
              </p:cNvPr>
              <p:cNvSpPr/>
              <p:nvPr/>
            </p:nvSpPr>
            <p:spPr>
              <a:xfrm>
                <a:off x="5537903" y="2708229"/>
                <a:ext cx="325120" cy="29464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93AED0C-14C3-4134-B4DB-48A0F80E6E1F}"/>
                  </a:ext>
                </a:extLst>
              </p:cNvPr>
              <p:cNvSpPr/>
              <p:nvPr/>
            </p:nvSpPr>
            <p:spPr>
              <a:xfrm>
                <a:off x="4984373" y="1869090"/>
                <a:ext cx="1396810" cy="53611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18F4A5C-C298-4314-9122-91B6321CEB27}"/>
                  </a:ext>
                </a:extLst>
              </p:cNvPr>
              <p:cNvSpPr/>
              <p:nvPr/>
            </p:nvSpPr>
            <p:spPr>
              <a:xfrm>
                <a:off x="4984373" y="2598244"/>
                <a:ext cx="1396810" cy="53670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336B290-EFD2-4456-8848-29F6C8A9A9C0}"/>
                  </a:ext>
                </a:extLst>
              </p:cNvPr>
              <p:cNvSpPr/>
              <p:nvPr/>
            </p:nvSpPr>
            <p:spPr>
              <a:xfrm>
                <a:off x="4984373" y="2405207"/>
                <a:ext cx="1396810" cy="193037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BEE7585-8475-405A-8F12-F3193646F6C4}"/>
                </a:ext>
              </a:extLst>
            </p:cNvPr>
            <p:cNvSpPr txBox="1"/>
            <p:nvPr/>
          </p:nvSpPr>
          <p:spPr>
            <a:xfrm>
              <a:off x="10613205" y="2693252"/>
              <a:ext cx="13273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RRAM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34D26D9-742E-430B-8FF7-29182E579A93}"/>
                </a:ext>
              </a:extLst>
            </p:cNvPr>
            <p:cNvCxnSpPr>
              <a:cxnSpLocks/>
              <a:stCxn id="9" idx="3"/>
              <a:endCxn id="15" idx="1"/>
            </p:cNvCxnSpPr>
            <p:nvPr/>
          </p:nvCxnSpPr>
          <p:spPr>
            <a:xfrm>
              <a:off x="9866799" y="2927471"/>
              <a:ext cx="746406" cy="273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C8A3FDA-7EA3-4428-8885-7DBC2F043224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9154896" y="1470844"/>
              <a:ext cx="13498" cy="82399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5F1D2B9-6DE5-4EBA-BED8-3BBB701FFC38}"/>
                </a:ext>
              </a:extLst>
            </p:cNvPr>
            <p:cNvCxnSpPr>
              <a:cxnSpLocks/>
            </p:cNvCxnSpPr>
            <p:nvPr/>
          </p:nvCxnSpPr>
          <p:spPr>
            <a:xfrm>
              <a:off x="7143216" y="1470844"/>
              <a:ext cx="202517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E964608B-26E9-4CFC-9FCB-F253F340C51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9168394" y="3560694"/>
              <a:ext cx="0" cy="13666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14668FB-E652-402C-AE47-DB94E7C3FAB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9168394" y="3560694"/>
              <a:ext cx="13498" cy="136668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4D67F5E-D3FF-4670-BA11-56B8501A133B}"/>
                </a:ext>
              </a:extLst>
            </p:cNvPr>
            <p:cNvCxnSpPr>
              <a:cxnSpLocks/>
            </p:cNvCxnSpPr>
            <p:nvPr/>
          </p:nvCxnSpPr>
          <p:spPr>
            <a:xfrm>
              <a:off x="7139269" y="4933363"/>
              <a:ext cx="2058996" cy="40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5E2997B-FB0E-45E6-ABEE-55F9CBFDFF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9269" y="1460736"/>
              <a:ext cx="0" cy="11021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976F9B86-D17F-4628-9C16-22B929C326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9269" y="3467033"/>
              <a:ext cx="0" cy="146673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5578F4A3-9542-4C13-A145-05ECB583B679}"/>
                </a:ext>
              </a:extLst>
            </p:cNvPr>
            <p:cNvSpPr/>
            <p:nvPr/>
          </p:nvSpPr>
          <p:spPr>
            <a:xfrm>
              <a:off x="7103709" y="2568640"/>
              <a:ext cx="71120" cy="7112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A5B7C580-C71A-4F6C-A085-D41B2CB3FE48}"/>
                </a:ext>
              </a:extLst>
            </p:cNvPr>
            <p:cNvSpPr/>
            <p:nvPr/>
          </p:nvSpPr>
          <p:spPr>
            <a:xfrm>
              <a:off x="7103709" y="3395913"/>
              <a:ext cx="71120" cy="7112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0A3B65F-5496-4CE1-A1D2-4AA560322B0F}"/>
                </a:ext>
              </a:extLst>
            </p:cNvPr>
            <p:cNvSpPr txBox="1"/>
            <p:nvPr/>
          </p:nvSpPr>
          <p:spPr>
            <a:xfrm>
              <a:off x="6763266" y="2738352"/>
              <a:ext cx="12114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电压</a:t>
              </a:r>
              <a:r>
                <a:rPr lang="en-US" altLang="zh-CN" sz="2800" b="1" dirty="0"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rPr>
                <a:t>V</a:t>
              </a:r>
              <a:endParaRPr lang="zh-CN" altLang="en-US" sz="2400" b="1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A3748CA2-FA45-4D3F-A60C-713668138ACE}"/>
                </a:ext>
              </a:extLst>
            </p:cNvPr>
            <p:cNvSpPr txBox="1"/>
            <p:nvPr/>
          </p:nvSpPr>
          <p:spPr>
            <a:xfrm>
              <a:off x="7167975" y="2274169"/>
              <a:ext cx="3803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C5E2DDB-CD4A-4044-AC27-5BAF7B74653A}"/>
                </a:ext>
              </a:extLst>
            </p:cNvPr>
            <p:cNvSpPr txBox="1"/>
            <p:nvPr/>
          </p:nvSpPr>
          <p:spPr>
            <a:xfrm>
              <a:off x="7159070" y="3350332"/>
              <a:ext cx="3803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-</a:t>
              </a:r>
              <a:endParaRPr lang="zh-CN" altLang="en-US" sz="2400" dirty="0"/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61F651CE-25F7-4D8D-B4F1-09EADA6E13F2}"/>
                </a:ext>
              </a:extLst>
            </p:cNvPr>
            <p:cNvCxnSpPr/>
            <p:nvPr/>
          </p:nvCxnSpPr>
          <p:spPr>
            <a:xfrm>
              <a:off x="9004268" y="1617218"/>
              <a:ext cx="0" cy="492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035734E1-CA0A-40A6-8823-5FB1B36444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9069" y="1684893"/>
              <a:ext cx="1772" cy="5525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0B73858D-278C-48D5-AC3F-0242CD89714D}"/>
                </a:ext>
              </a:extLst>
            </p:cNvPr>
            <p:cNvCxnSpPr>
              <a:cxnSpLocks/>
            </p:cNvCxnSpPr>
            <p:nvPr/>
          </p:nvCxnSpPr>
          <p:spPr>
            <a:xfrm>
              <a:off x="7665079" y="1333614"/>
              <a:ext cx="9453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67CCD022-38F2-44BB-A2FF-93D8283DB4BA}"/>
                </a:ext>
              </a:extLst>
            </p:cNvPr>
            <p:cNvGrpSpPr/>
            <p:nvPr/>
          </p:nvGrpSpPr>
          <p:grpSpPr>
            <a:xfrm>
              <a:off x="5272218" y="2525410"/>
              <a:ext cx="1544305" cy="824922"/>
              <a:chOff x="2326020" y="3009493"/>
              <a:chExt cx="1544305" cy="824922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1AAE87C-1093-4D2A-AF2A-71D849D4D5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4051" y="3207664"/>
                <a:ext cx="60774" cy="42858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E0B4E07-E94D-4023-9C66-50A16348D6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5193" y="3636244"/>
                <a:ext cx="194201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858100BA-B473-4336-B76C-8A8570392192}"/>
                  </a:ext>
                </a:extLst>
              </p:cNvPr>
              <p:cNvSpPr txBox="1"/>
              <p:nvPr/>
            </p:nvSpPr>
            <p:spPr>
              <a:xfrm>
                <a:off x="2395545" y="3465083"/>
                <a:ext cx="569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0V</a:t>
                </a:r>
                <a:endParaRPr lang="zh-CN" altLang="en-US" dirty="0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2739BD4-9A4F-42F5-9978-61FCA15B79BF}"/>
                  </a:ext>
                </a:extLst>
              </p:cNvPr>
              <p:cNvSpPr txBox="1"/>
              <p:nvPr/>
            </p:nvSpPr>
            <p:spPr>
              <a:xfrm>
                <a:off x="2326020" y="3009493"/>
                <a:ext cx="683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3.2V</a:t>
                </a:r>
                <a:endParaRPr lang="zh-CN" altLang="en-US" dirty="0"/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C57285AB-991A-489E-A0F0-8CFC146AD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2610" y="3636244"/>
                <a:ext cx="9186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0BB557C7-2C89-49F8-A35C-F4DA7C844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4825" y="3207664"/>
                <a:ext cx="68872" cy="44208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69C4BBAC-6E8C-40CE-A14E-48974D4FB2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4477" y="3207957"/>
                <a:ext cx="60774" cy="42858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BD24756-0813-439B-BE84-8676D1335F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3036" y="3636244"/>
                <a:ext cx="65164" cy="29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89ACC86-76F1-41D7-9973-34454985F9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5251" y="3207957"/>
                <a:ext cx="68872" cy="44208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64F8A3B2-5CA0-4836-88A1-46EA145416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89249" y="3207957"/>
                <a:ext cx="60774" cy="42858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4E4C905C-272E-4AA9-A265-7D57FB77EF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7808" y="3636244"/>
                <a:ext cx="98992" cy="29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3A47F8B2-0B71-4052-88D0-3D5C9ADD75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0023" y="3207957"/>
                <a:ext cx="68872" cy="44208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8D62956D-5C46-41BB-BD85-F8EC3803C4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93778" y="3207957"/>
                <a:ext cx="60774" cy="42858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6B215BA0-A178-4147-9C84-13E1CF2CE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3424" y="3636244"/>
                <a:ext cx="146901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CC85B98E-BFEC-4F17-A53C-A678CBB9B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4552" y="3207957"/>
                <a:ext cx="68872" cy="44208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66B26477-0273-496B-8D23-F4E9589EF3D0}"/>
              </a:ext>
            </a:extLst>
          </p:cNvPr>
          <p:cNvSpPr/>
          <p:nvPr/>
        </p:nvSpPr>
        <p:spPr>
          <a:xfrm>
            <a:off x="6956096" y="6334780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“Nanoscale Memristor Device as Synapse in</a:t>
            </a:r>
          </a:p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Neuromorphic Systems”, Sung Hyun Jo, Nano Lett, 2010,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6" name="连接符: 曲线 85">
            <a:extLst>
              <a:ext uri="{FF2B5EF4-FFF2-40B4-BE49-F238E27FC236}">
                <a16:creationId xmlns:a16="http://schemas.microsoft.com/office/drawing/2014/main" id="{A7BA800B-5018-4D2D-AE6D-55E3B7C2A17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73282" y="3603223"/>
            <a:ext cx="2203518" cy="1613046"/>
          </a:xfrm>
          <a:prstGeom prst="curvedConnector3">
            <a:avLst>
              <a:gd name="adj1" fmla="val 52895"/>
            </a:avLst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179B9BD8-DCB6-487D-A278-0AF75AF57529}"/>
              </a:ext>
            </a:extLst>
          </p:cNvPr>
          <p:cNvSpPr txBox="1"/>
          <p:nvPr/>
        </p:nvSpPr>
        <p:spPr>
          <a:xfrm>
            <a:off x="3763317" y="2778396"/>
            <a:ext cx="228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I=40nA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R=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10MΩ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FF3660C-9558-4E05-9CAF-FBB9B48DC2A6}"/>
              </a:ext>
            </a:extLst>
          </p:cNvPr>
          <p:cNvSpPr txBox="1"/>
          <p:nvPr/>
        </p:nvSpPr>
        <p:spPr>
          <a:xfrm>
            <a:off x="1933982" y="5232662"/>
            <a:ext cx="204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I=0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R=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∞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EE7BAD-A789-4618-98F0-5E085DD1B243}"/>
              </a:ext>
            </a:extLst>
          </p:cNvPr>
          <p:cNvSpPr txBox="1"/>
          <p:nvPr/>
        </p:nvSpPr>
        <p:spPr>
          <a:xfrm>
            <a:off x="2545912" y="6221800"/>
            <a:ext cx="2047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脉冲数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2E6E37C-AFA5-4658-B853-291EA38D2135}"/>
              </a:ext>
            </a:extLst>
          </p:cNvPr>
          <p:cNvSpPr txBox="1"/>
          <p:nvPr/>
        </p:nvSpPr>
        <p:spPr>
          <a:xfrm>
            <a:off x="53866" y="4111140"/>
            <a:ext cx="1314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电流值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1" name="标题 1">
            <a:extLst>
              <a:ext uri="{FF2B5EF4-FFF2-40B4-BE49-F238E27FC236}">
                <a16:creationId xmlns:a16="http://schemas.microsoft.com/office/drawing/2014/main" id="{FFCDABAD-AD54-4CEE-8DAC-D2AE3345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模拟域</a:t>
            </a:r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endParaRPr lang="zh-CN" altLang="en-US" sz="48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64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B43EF6-28AA-4562-BEB9-459FA92F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0"/>
            <a:ext cx="9605394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DB163C-B82C-4AE5-BFF8-514FAC0C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75" y="185347"/>
            <a:ext cx="7289736" cy="120192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2015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40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6F63C-E532-4100-94AA-CF7FE8347103}"/>
              </a:ext>
            </a:extLst>
          </p:cNvPr>
          <p:cNvSpPr/>
          <p:nvPr/>
        </p:nvSpPr>
        <p:spPr>
          <a:xfrm>
            <a:off x="6956096" y="6334780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“Neuro-inspired computing chips”, Nature Electronics , W. Q. Zhang, 2020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B4EC94D0-F69A-495A-90FF-F283471DA2D4}"/>
              </a:ext>
            </a:extLst>
          </p:cNvPr>
          <p:cNvSpPr/>
          <p:nvPr/>
        </p:nvSpPr>
        <p:spPr>
          <a:xfrm>
            <a:off x="603250" y="5923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C1A09048-AAE2-4EF5-8998-CF6ACC6E655C}"/>
              </a:ext>
            </a:extLst>
          </p:cNvPr>
          <p:cNvSpPr/>
          <p:nvPr/>
        </p:nvSpPr>
        <p:spPr>
          <a:xfrm>
            <a:off x="2050796" y="5551624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5F9A19BE-4A42-47A6-812E-A8AD0748719F}"/>
              </a:ext>
            </a:extLst>
          </p:cNvPr>
          <p:cNvSpPr/>
          <p:nvPr/>
        </p:nvSpPr>
        <p:spPr>
          <a:xfrm>
            <a:off x="863282" y="2621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E250039-7922-4473-A1BA-B3A8F5105C20}"/>
              </a:ext>
            </a:extLst>
          </p:cNvPr>
          <p:cNvSpPr/>
          <p:nvPr/>
        </p:nvSpPr>
        <p:spPr>
          <a:xfrm>
            <a:off x="697547" y="2621300"/>
            <a:ext cx="1711842" cy="1881963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093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17A40FD-89D4-4A76-8C18-6002AD0F7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2581"/>
            <a:ext cx="3636933" cy="3370224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7922A43-7F4D-4F87-AC90-643DF174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 </a:t>
            </a:r>
            <a:r>
              <a:rPr lang="en-US" altLang="zh-CN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&amp; 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神经网络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662220-F38B-497F-B5EA-3F0956D0E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412" y="2488607"/>
            <a:ext cx="7168588" cy="26218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A43BDD-3D8F-42DC-BE77-27937CA2F9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399"/>
          <a:stretch/>
        </p:blipFill>
        <p:spPr>
          <a:xfrm>
            <a:off x="3915136" y="2402581"/>
            <a:ext cx="1004105" cy="31202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8A9DE1F-4A45-4149-89AF-53D79EF3810C}"/>
              </a:ext>
            </a:extLst>
          </p:cNvPr>
          <p:cNvSpPr/>
          <p:nvPr/>
        </p:nvSpPr>
        <p:spPr>
          <a:xfrm>
            <a:off x="6096000" y="6334780"/>
            <a:ext cx="5652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“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Training and operation of an integrated neuromorphic network based on metal-oxide memristors”, M.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Prezioso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2015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04C562-C047-47C5-ADAC-8FFCE0C40E75}"/>
              </a:ext>
            </a:extLst>
          </p:cNvPr>
          <p:cNvSpPr txBox="1"/>
          <p:nvPr/>
        </p:nvSpPr>
        <p:spPr>
          <a:xfrm>
            <a:off x="5978085" y="1929120"/>
            <a:ext cx="281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识别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z/v/n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1793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17A40FD-89D4-4A76-8C18-6002AD0F7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09" y="2432067"/>
            <a:ext cx="2772381" cy="2569073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7922A43-7F4D-4F87-AC90-643DF174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 </a:t>
            </a:r>
            <a:r>
              <a:rPr lang="en-US" altLang="zh-CN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- </a:t>
            </a:r>
            <a:r>
              <a:rPr lang="en-US" altLang="zh-CN" sz="48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Cross bar</a:t>
            </a:r>
            <a:endParaRPr lang="zh-CN" altLang="en-US" sz="48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2A8E7B-917A-4FE1-9550-BFDDF35E54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65"/>
          <a:stretch/>
        </p:blipFill>
        <p:spPr>
          <a:xfrm>
            <a:off x="3387121" y="1436826"/>
            <a:ext cx="4608563" cy="428688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28923B5-E280-44DB-8746-5C1F43A140AE}"/>
              </a:ext>
            </a:extLst>
          </p:cNvPr>
          <p:cNvSpPr txBox="1"/>
          <p:nvPr/>
        </p:nvSpPr>
        <p:spPr>
          <a:xfrm>
            <a:off x="483177" y="4987693"/>
            <a:ext cx="281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713226-857E-4C57-9056-EE1DB48CCDBD}"/>
              </a:ext>
            </a:extLst>
          </p:cNvPr>
          <p:cNvSpPr txBox="1"/>
          <p:nvPr/>
        </p:nvSpPr>
        <p:spPr>
          <a:xfrm>
            <a:off x="2583712" y="5579082"/>
            <a:ext cx="6221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10x6 cross bar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等效电路图 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=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579DFE-94FE-489E-8017-599FD25519A3}"/>
              </a:ext>
            </a:extLst>
          </p:cNvPr>
          <p:cNvSpPr/>
          <p:nvPr/>
        </p:nvSpPr>
        <p:spPr>
          <a:xfrm>
            <a:off x="6096000" y="6334780"/>
            <a:ext cx="5652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“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Training and operation of an integrated neuromorphic network based on metal-oxide memristors”, M.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Prezioso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2015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F8D355-CDE5-4717-8310-49BD8D09129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1" t="13171" r="16996" b="21711"/>
          <a:stretch/>
        </p:blipFill>
        <p:spPr>
          <a:xfrm>
            <a:off x="8024256" y="3716603"/>
            <a:ext cx="4064582" cy="144432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B9297E8-1CCF-49F6-A096-F9DFC3DEB8A3}"/>
              </a:ext>
            </a:extLst>
          </p:cNvPr>
          <p:cNvSpPr txBox="1"/>
          <p:nvPr/>
        </p:nvSpPr>
        <p:spPr>
          <a:xfrm>
            <a:off x="8181772" y="5565854"/>
            <a:ext cx="4196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矩阵乘法（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Binary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5797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7922A43-7F4D-4F87-AC90-643DF174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阵列实现神经网络：识别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DD309D-58E1-4DAF-AB28-CE91CE836B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3"/>
          <a:stretch/>
        </p:blipFill>
        <p:spPr>
          <a:xfrm>
            <a:off x="7002553" y="2204640"/>
            <a:ext cx="4784333" cy="40865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BE3AAF-65F7-4E6B-9A22-9D371CCD8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2" y="2675253"/>
            <a:ext cx="6574420" cy="2404534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B6A3893-5B1F-44FA-9071-988B685919A0}"/>
              </a:ext>
            </a:extLst>
          </p:cNvPr>
          <p:cNvCxnSpPr>
            <a:cxnSpLocks/>
          </p:cNvCxnSpPr>
          <p:nvPr/>
        </p:nvCxnSpPr>
        <p:spPr>
          <a:xfrm>
            <a:off x="6794337" y="1834249"/>
            <a:ext cx="0" cy="4086542"/>
          </a:xfrm>
          <a:prstGeom prst="line">
            <a:avLst/>
          </a:prstGeom>
          <a:ln w="57150"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1BDD5BE-96A1-4583-AFEA-108CB6CBF8D4}"/>
              </a:ext>
            </a:extLst>
          </p:cNvPr>
          <p:cNvSpPr txBox="1"/>
          <p:nvPr/>
        </p:nvSpPr>
        <p:spPr>
          <a:xfrm>
            <a:off x="4915202" y="1664264"/>
            <a:ext cx="281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神经网络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6B3792-A841-4CCD-81D7-9F50A36B6C77}"/>
              </a:ext>
            </a:extLst>
          </p:cNvPr>
          <p:cNvSpPr txBox="1"/>
          <p:nvPr/>
        </p:nvSpPr>
        <p:spPr>
          <a:xfrm>
            <a:off x="6910083" y="1651149"/>
            <a:ext cx="281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C5FC7C-A8CA-41EF-93B3-7992B93BF168}"/>
              </a:ext>
            </a:extLst>
          </p:cNvPr>
          <p:cNvSpPr txBox="1"/>
          <p:nvPr/>
        </p:nvSpPr>
        <p:spPr>
          <a:xfrm>
            <a:off x="3391382" y="5213613"/>
            <a:ext cx="281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（矩阵乘法）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2107BA-0203-40E2-B977-C8610E21D7D4}"/>
              </a:ext>
            </a:extLst>
          </p:cNvPr>
          <p:cNvSpPr/>
          <p:nvPr/>
        </p:nvSpPr>
        <p:spPr>
          <a:xfrm>
            <a:off x="6096000" y="6334780"/>
            <a:ext cx="5652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“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Training and operation of an integrated neuromorphic network based on metal-oxide memristors”, M.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Prezioso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2015</a:t>
            </a:r>
          </a:p>
        </p:txBody>
      </p:sp>
    </p:spTree>
    <p:extLst>
      <p:ext uri="{BB962C8B-B14F-4D97-AF65-F5344CB8AC3E}">
        <p14:creationId xmlns:p14="http://schemas.microsoft.com/office/powerpoint/2010/main" val="73373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7922A43-7F4D-4F87-AC90-643DF174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阵列实现神经网络：训练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8BE3AAF-65F7-4E6B-9A22-9D371CCD8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2" y="2675253"/>
            <a:ext cx="6574420" cy="2404534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B6A3893-5B1F-44FA-9071-988B685919A0}"/>
              </a:ext>
            </a:extLst>
          </p:cNvPr>
          <p:cNvCxnSpPr>
            <a:cxnSpLocks/>
          </p:cNvCxnSpPr>
          <p:nvPr/>
        </p:nvCxnSpPr>
        <p:spPr>
          <a:xfrm>
            <a:off x="6794337" y="1834249"/>
            <a:ext cx="0" cy="4086542"/>
          </a:xfrm>
          <a:prstGeom prst="line">
            <a:avLst/>
          </a:prstGeom>
          <a:ln w="57150"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1BDD5BE-96A1-4583-AFEA-108CB6CBF8D4}"/>
              </a:ext>
            </a:extLst>
          </p:cNvPr>
          <p:cNvSpPr txBox="1"/>
          <p:nvPr/>
        </p:nvSpPr>
        <p:spPr>
          <a:xfrm>
            <a:off x="4915202" y="1664264"/>
            <a:ext cx="281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神经网络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6B3792-A841-4CCD-81D7-9F50A36B6C77}"/>
              </a:ext>
            </a:extLst>
          </p:cNvPr>
          <p:cNvSpPr txBox="1"/>
          <p:nvPr/>
        </p:nvSpPr>
        <p:spPr>
          <a:xfrm>
            <a:off x="6910083" y="1651149"/>
            <a:ext cx="281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E02209-6C6F-41B6-8E00-FCD10C932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393" y="2262154"/>
            <a:ext cx="4543425" cy="35433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9A6ED4A-16C3-41F5-9ACB-7502015B09AA}"/>
              </a:ext>
            </a:extLst>
          </p:cNvPr>
          <p:cNvSpPr/>
          <p:nvPr/>
        </p:nvSpPr>
        <p:spPr>
          <a:xfrm>
            <a:off x="6096000" y="6334780"/>
            <a:ext cx="5652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“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Training and operation of an integrated neuromorphic network based on metal-oxide memristors”, M. </a:t>
            </a:r>
            <a:r>
              <a:rPr lang="en-US" altLang="zh-CN" sz="1400" i="1" dirty="0" err="1">
                <a:solidFill>
                  <a:schemeClr val="bg1">
                    <a:lumMod val="65000"/>
                  </a:schemeClr>
                </a:solidFill>
              </a:rPr>
              <a:t>Prezioso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, Nature, 2015</a:t>
            </a:r>
          </a:p>
        </p:txBody>
      </p:sp>
    </p:spTree>
    <p:extLst>
      <p:ext uri="{BB962C8B-B14F-4D97-AF65-F5344CB8AC3E}">
        <p14:creationId xmlns:p14="http://schemas.microsoft.com/office/powerpoint/2010/main" val="3143439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B43EF6-28AA-4562-BEB9-459FA92F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0"/>
            <a:ext cx="9605394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DB163C-B82C-4AE5-BFF8-514FAC0C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8" y="185347"/>
            <a:ext cx="7289736" cy="120192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2020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40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6F63C-E532-4100-94AA-CF7FE8347103}"/>
              </a:ext>
            </a:extLst>
          </p:cNvPr>
          <p:cNvSpPr/>
          <p:nvPr/>
        </p:nvSpPr>
        <p:spPr>
          <a:xfrm>
            <a:off x="6956096" y="6334780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“Neuro-inspired computing chips”, Nature Electronics , W. Q. Zhang, 2020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B4EC94D0-F69A-495A-90FF-F283471DA2D4}"/>
              </a:ext>
            </a:extLst>
          </p:cNvPr>
          <p:cNvSpPr/>
          <p:nvPr/>
        </p:nvSpPr>
        <p:spPr>
          <a:xfrm>
            <a:off x="603250" y="5923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C1A09048-AAE2-4EF5-8998-CF6ACC6E655C}"/>
              </a:ext>
            </a:extLst>
          </p:cNvPr>
          <p:cNvSpPr/>
          <p:nvPr/>
        </p:nvSpPr>
        <p:spPr>
          <a:xfrm>
            <a:off x="2050796" y="5551624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5F9A19BE-4A42-47A6-812E-A8AD0748719F}"/>
              </a:ext>
            </a:extLst>
          </p:cNvPr>
          <p:cNvSpPr/>
          <p:nvPr/>
        </p:nvSpPr>
        <p:spPr>
          <a:xfrm>
            <a:off x="863282" y="2621300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976C780A-5B9B-4F78-A5A2-B5AFCAD01C94}"/>
              </a:ext>
            </a:extLst>
          </p:cNvPr>
          <p:cNvSpPr/>
          <p:nvPr/>
        </p:nvSpPr>
        <p:spPr>
          <a:xfrm>
            <a:off x="4291330" y="1226375"/>
            <a:ext cx="520065" cy="52006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2D77579-0CE7-4EB5-A0E0-D9C0CC7FED6C}"/>
              </a:ext>
            </a:extLst>
          </p:cNvPr>
          <p:cNvSpPr/>
          <p:nvPr/>
        </p:nvSpPr>
        <p:spPr>
          <a:xfrm>
            <a:off x="4038910" y="1299693"/>
            <a:ext cx="1711842" cy="1881963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0918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EC9C761-EF48-4B2B-8B1D-8A6BA8A6C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487" y="1898248"/>
            <a:ext cx="4630362" cy="438377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892F89C4-2A6F-425B-95B3-2306416FA911}"/>
              </a:ext>
            </a:extLst>
          </p:cNvPr>
          <p:cNvSpPr txBox="1">
            <a:spLocks/>
          </p:cNvSpPr>
          <p:nvPr/>
        </p:nvSpPr>
        <p:spPr>
          <a:xfrm>
            <a:off x="541528" y="0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F4976B-E4CE-419B-97BE-FD640CB8D299}"/>
              </a:ext>
            </a:extLst>
          </p:cNvPr>
          <p:cNvSpPr/>
          <p:nvPr/>
        </p:nvSpPr>
        <p:spPr>
          <a:xfrm>
            <a:off x="6956096" y="6334780"/>
            <a:ext cx="45857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“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Fully hardware-implemented memristor convolutional neural network”, P. Yao, Nature,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2020</a:t>
            </a:r>
          </a:p>
          <a:p>
            <a:endParaRPr lang="en-US" altLang="zh-CN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5A2191-AB70-44B5-92F5-171D82662805}"/>
              </a:ext>
            </a:extLst>
          </p:cNvPr>
          <p:cNvSpPr txBox="1"/>
          <p:nvPr/>
        </p:nvSpPr>
        <p:spPr>
          <a:xfrm>
            <a:off x="7638024" y="1990846"/>
            <a:ext cx="3519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集成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阵列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E352076-4EA0-43E0-B2A4-F8BFC8BF84F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389225" y="2283234"/>
            <a:ext cx="1248799" cy="632806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772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92F89C4-2A6F-425B-95B3-2306416FA911}"/>
              </a:ext>
            </a:extLst>
          </p:cNvPr>
          <p:cNvSpPr txBox="1">
            <a:spLocks/>
          </p:cNvSpPr>
          <p:nvPr/>
        </p:nvSpPr>
        <p:spPr>
          <a:xfrm>
            <a:off x="572700" y="0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dirty="0" err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系统：</a:t>
            </a:r>
            <a:r>
              <a:rPr lang="en-US" altLang="zh-CN" sz="48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CNN</a:t>
            </a:r>
            <a:endParaRPr lang="zh-CN" altLang="en-US" sz="48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F4976B-E4CE-419B-97BE-FD640CB8D299}"/>
              </a:ext>
            </a:extLst>
          </p:cNvPr>
          <p:cNvSpPr/>
          <p:nvPr/>
        </p:nvSpPr>
        <p:spPr>
          <a:xfrm>
            <a:off x="6956096" y="6334780"/>
            <a:ext cx="45857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“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Fully hardware-implemented memristor convolutional neural network”, P. Yao, Nature,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2020</a:t>
            </a:r>
          </a:p>
          <a:p>
            <a:endParaRPr lang="en-US" altLang="zh-CN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6ABC85-15AA-4930-92AE-A3073199DC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2"/>
          <a:stretch/>
        </p:blipFill>
        <p:spPr>
          <a:xfrm>
            <a:off x="228600" y="1635124"/>
            <a:ext cx="11734800" cy="399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39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D937EC9-8D79-4C39-A79C-493B5A93932E}"/>
              </a:ext>
            </a:extLst>
          </p:cNvPr>
          <p:cNvGrpSpPr/>
          <p:nvPr/>
        </p:nvGrpSpPr>
        <p:grpSpPr>
          <a:xfrm>
            <a:off x="1804360" y="76407"/>
            <a:ext cx="8583280" cy="5858540"/>
            <a:chOff x="603250" y="0"/>
            <a:chExt cx="9950199" cy="68580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6B43EF6-28AA-4562-BEB9-459FA92F9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055" y="0"/>
              <a:ext cx="9605394" cy="6858000"/>
            </a:xfrm>
            <a:prstGeom prst="rect">
              <a:avLst/>
            </a:prstGeom>
          </p:spPr>
        </p:pic>
        <p:sp>
          <p:nvSpPr>
            <p:cNvPr id="7" name="星形: 五角 6">
              <a:extLst>
                <a:ext uri="{FF2B5EF4-FFF2-40B4-BE49-F238E27FC236}">
                  <a16:creationId xmlns:a16="http://schemas.microsoft.com/office/drawing/2014/main" id="{A4017EFB-2CEA-4105-9567-6A10F5B05B78}"/>
                </a:ext>
              </a:extLst>
            </p:cNvPr>
            <p:cNvSpPr/>
            <p:nvPr/>
          </p:nvSpPr>
          <p:spPr>
            <a:xfrm>
              <a:off x="603250" y="5923300"/>
              <a:ext cx="520065" cy="520065"/>
            </a:xfrm>
            <a:prstGeom prst="star5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星形: 五角 7">
              <a:extLst>
                <a:ext uri="{FF2B5EF4-FFF2-40B4-BE49-F238E27FC236}">
                  <a16:creationId xmlns:a16="http://schemas.microsoft.com/office/drawing/2014/main" id="{A67B9D03-292F-448B-BB1D-E2880177A6C9}"/>
                </a:ext>
              </a:extLst>
            </p:cNvPr>
            <p:cNvSpPr/>
            <p:nvPr/>
          </p:nvSpPr>
          <p:spPr>
            <a:xfrm>
              <a:off x="863282" y="2621300"/>
              <a:ext cx="520065" cy="520065"/>
            </a:xfrm>
            <a:prstGeom prst="star5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星形: 五角 8">
              <a:extLst>
                <a:ext uri="{FF2B5EF4-FFF2-40B4-BE49-F238E27FC236}">
                  <a16:creationId xmlns:a16="http://schemas.microsoft.com/office/drawing/2014/main" id="{E8175F54-C260-4014-8A78-D5A50EBF2235}"/>
                </a:ext>
              </a:extLst>
            </p:cNvPr>
            <p:cNvSpPr/>
            <p:nvPr/>
          </p:nvSpPr>
          <p:spPr>
            <a:xfrm>
              <a:off x="4291330" y="1226375"/>
              <a:ext cx="520065" cy="520065"/>
            </a:xfrm>
            <a:prstGeom prst="star5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星形: 五角 10">
              <a:extLst>
                <a:ext uri="{FF2B5EF4-FFF2-40B4-BE49-F238E27FC236}">
                  <a16:creationId xmlns:a16="http://schemas.microsoft.com/office/drawing/2014/main" id="{6C370B04-0B46-4468-AAA1-30282CB64111}"/>
                </a:ext>
              </a:extLst>
            </p:cNvPr>
            <p:cNvSpPr/>
            <p:nvPr/>
          </p:nvSpPr>
          <p:spPr>
            <a:xfrm>
              <a:off x="2050796" y="5551624"/>
              <a:ext cx="520065" cy="520065"/>
            </a:xfrm>
            <a:prstGeom prst="star5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EDB163C-B82C-4AE5-BFF8-514FAC0C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12" y="134845"/>
            <a:ext cx="4006735" cy="120192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Roadmap</a:t>
            </a:r>
            <a:endParaRPr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6F63C-E532-4100-94AA-CF7FE8347103}"/>
              </a:ext>
            </a:extLst>
          </p:cNvPr>
          <p:cNvSpPr/>
          <p:nvPr/>
        </p:nvSpPr>
        <p:spPr>
          <a:xfrm>
            <a:off x="6956096" y="6334780"/>
            <a:ext cx="4585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</a:rPr>
              <a:t>“Neuro-inspired computing chips”, Nature Electronics , W. Q. Zhang, 2020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EA10A7F-C729-482E-AD31-3D01925164D4}"/>
              </a:ext>
            </a:extLst>
          </p:cNvPr>
          <p:cNvSpPr txBox="1">
            <a:spLocks/>
          </p:cNvSpPr>
          <p:nvPr/>
        </p:nvSpPr>
        <p:spPr>
          <a:xfrm>
            <a:off x="104588" y="5934947"/>
            <a:ext cx="2574710" cy="784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2008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：第一个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Arial" panose="020B0604020202020204" pitchFamily="34" charset="0"/>
            </a:endParaRPr>
          </a:p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器件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DCD150CE-187A-410B-A841-F6D1F84C9146}"/>
              </a:ext>
            </a:extLst>
          </p:cNvPr>
          <p:cNvSpPr txBox="1">
            <a:spLocks/>
          </p:cNvSpPr>
          <p:nvPr/>
        </p:nvSpPr>
        <p:spPr>
          <a:xfrm>
            <a:off x="3431039" y="5825189"/>
            <a:ext cx="4006735" cy="784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2010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：模拟域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EA0C3CC-3B02-4E10-8C24-F52F9D310782}"/>
              </a:ext>
            </a:extLst>
          </p:cNvPr>
          <p:cNvSpPr txBox="1">
            <a:spLocks/>
          </p:cNvSpPr>
          <p:nvPr/>
        </p:nvSpPr>
        <p:spPr>
          <a:xfrm>
            <a:off x="25302" y="1655952"/>
            <a:ext cx="4006735" cy="784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2015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阵列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499D3444-1282-4099-BC43-59E0E5255C4E}"/>
              </a:ext>
            </a:extLst>
          </p:cNvPr>
          <p:cNvSpPr txBox="1">
            <a:spLocks/>
          </p:cNvSpPr>
          <p:nvPr/>
        </p:nvSpPr>
        <p:spPr>
          <a:xfrm>
            <a:off x="1804360" y="1009266"/>
            <a:ext cx="4006735" cy="784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2020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RRAM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系统</a:t>
            </a:r>
          </a:p>
        </p:txBody>
      </p:sp>
    </p:spTree>
    <p:extLst>
      <p:ext uri="{BB962C8B-B14F-4D97-AF65-F5344CB8AC3E}">
        <p14:creationId xmlns:p14="http://schemas.microsoft.com/office/powerpoint/2010/main" val="2139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96F891E5-BA1D-4610-9609-05D435342255}"/>
              </a:ext>
            </a:extLst>
          </p:cNvPr>
          <p:cNvSpPr txBox="1">
            <a:spLocks/>
          </p:cNvSpPr>
          <p:nvPr/>
        </p:nvSpPr>
        <p:spPr>
          <a:xfrm>
            <a:off x="1066800" y="753990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未来：</a:t>
            </a:r>
            <a:r>
              <a:rPr lang="en-US" altLang="zh-CN" sz="48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3D</a:t>
            </a:r>
            <a:endParaRPr lang="zh-CN" altLang="en-US" sz="48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738DFC-B3CB-4900-9E69-DD3F167A5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924" y="2519290"/>
            <a:ext cx="4220557" cy="3333936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415E9F2-8290-42D6-9493-C3839BF8C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63334"/>
            <a:ext cx="4341367" cy="229971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类脑计算：算力↑↑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RRAM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集成度↑↑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∴ 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3D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6337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36259-7519-47AC-A8F3-67911C7A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挑战：电流阈</a:t>
            </a:r>
            <a:r>
              <a:rPr lang="en-US" altLang="zh-CN" sz="48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ADC</a:t>
            </a:r>
            <a:endParaRPr lang="zh-CN" altLang="en-US" sz="4800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B9B33-372B-49DE-9A68-863FE1E2B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881" y="2573078"/>
            <a:ext cx="4341367" cy="31556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输出信号：电流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ADC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功耗↑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1E4A0E-B2FB-44D9-8094-2F2F09B15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315"/>
          <a:stretch/>
        </p:blipFill>
        <p:spPr>
          <a:xfrm>
            <a:off x="1167988" y="1923457"/>
            <a:ext cx="4786245" cy="4449911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D48FB14-A6BD-4C10-9C2D-D43B07151CDD}"/>
              </a:ext>
            </a:extLst>
          </p:cNvPr>
          <p:cNvSpPr txBox="1">
            <a:spLocks/>
          </p:cNvSpPr>
          <p:nvPr/>
        </p:nvSpPr>
        <p:spPr>
          <a:xfrm>
            <a:off x="6786881" y="4309729"/>
            <a:ext cx="4341367" cy="16093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RRAM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应用于类脑计算：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Font typeface="Wingdings" pitchFamily="2" charset="2"/>
              <a:buNone/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机遇与挑战并存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2556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5034A9-30C4-4433-B2B9-0CEB68E35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96" y="340242"/>
            <a:ext cx="11678589" cy="6220046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参考文献</a:t>
            </a:r>
            <a:endParaRPr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1900" dirty="0"/>
              <a:t>“ The missing memristor found”, Dmitri B. </a:t>
            </a:r>
            <a:r>
              <a:rPr lang="en-US" altLang="zh-CN" sz="1900" dirty="0" err="1"/>
              <a:t>Strukov</a:t>
            </a:r>
            <a:r>
              <a:rPr lang="en-US" altLang="zh-CN" sz="1900" dirty="0"/>
              <a:t>, Nature, 2008</a:t>
            </a:r>
          </a:p>
          <a:p>
            <a:r>
              <a:rPr lang="en-US" altLang="zh-CN" sz="1900" dirty="0"/>
              <a:t>“Nanoscale Memristor Device as Synapse in Neuromorphic Systems”, Sung Hyun Jo, Nano Lett, 2010</a:t>
            </a:r>
          </a:p>
          <a:p>
            <a:r>
              <a:rPr lang="en-US" altLang="zh-CN" sz="1900" dirty="0"/>
              <a:t>“ Training and operation of an integrated neuromorphic network based on metal-oxide memristors”, M. </a:t>
            </a:r>
            <a:r>
              <a:rPr lang="en-US" altLang="zh-CN" sz="1900" dirty="0" err="1"/>
              <a:t>Prezioso</a:t>
            </a:r>
            <a:r>
              <a:rPr lang="en-US" altLang="zh-CN" sz="1900" dirty="0"/>
              <a:t>, Nature, 2015</a:t>
            </a:r>
            <a:endParaRPr lang="en-US" altLang="zh-CN" sz="1900" b="1" dirty="0"/>
          </a:p>
          <a:p>
            <a:r>
              <a:rPr lang="en-US" altLang="zh-CN" sz="1900" dirty="0"/>
              <a:t> “Fully hardware-implemented memristor convolutional neural network”, P. Yao, Nature, 2020</a:t>
            </a:r>
          </a:p>
          <a:p>
            <a:r>
              <a:rPr lang="en-US" altLang="zh-CN" sz="1900" dirty="0"/>
              <a:t>“Neuro-inspired computing chips”, Nature Electronics , W. Q. Zhang, 2020</a:t>
            </a:r>
          </a:p>
          <a:p>
            <a:endParaRPr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分工：</a:t>
            </a:r>
            <a:endParaRPr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黄思语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（演讲、总结材料）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杨启泽（总结材料、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PPT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制作）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穆昀睿（搜集文献等资料）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廖汶鋒（搜集文献等资料）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endParaRPr lang="zh-CN" altLang="en-US" sz="3400" dirty="0"/>
          </a:p>
        </p:txBody>
      </p:sp>
    </p:spTree>
    <p:extLst>
      <p:ext uri="{BB962C8B-B14F-4D97-AF65-F5344CB8AC3E}">
        <p14:creationId xmlns:p14="http://schemas.microsoft.com/office/powerpoint/2010/main" val="199998081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2038</TotalTime>
  <Words>1162</Words>
  <Application>Microsoft Office PowerPoint</Application>
  <PresentationFormat>宽屏</PresentationFormat>
  <Paragraphs>158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等线</vt:lpstr>
      <vt:lpstr>方正姚体</vt:lpstr>
      <vt:lpstr>华文中宋</vt:lpstr>
      <vt:lpstr>宋体</vt:lpstr>
      <vt:lpstr>Arial</vt:lpstr>
      <vt:lpstr>Calibri</vt:lpstr>
      <vt:lpstr>Calibri Light</vt:lpstr>
      <vt:lpstr>Rockwell</vt:lpstr>
      <vt:lpstr>Rockwell Condensed</vt:lpstr>
      <vt:lpstr>Wingdings</vt:lpstr>
      <vt:lpstr>Wingdings 2</vt:lpstr>
      <vt:lpstr>HDOfficeLightV0</vt:lpstr>
      <vt:lpstr>木活字</vt:lpstr>
      <vt:lpstr>RRAM与类脑计算</vt:lpstr>
      <vt:lpstr>Roadmap</vt:lpstr>
      <vt:lpstr>PowerPoint 演示文稿</vt:lpstr>
      <vt:lpstr>什么是RRAM？</vt:lpstr>
      <vt:lpstr>2008：构造出RRAM</vt:lpstr>
      <vt:lpstr>PowerPoint 演示文稿</vt:lpstr>
      <vt:lpstr>惠普公司首次做出RRAM</vt:lpstr>
      <vt:lpstr>2010：模拟域RRAM</vt:lpstr>
      <vt:lpstr>模拟域rram</vt:lpstr>
      <vt:lpstr>模拟域rram</vt:lpstr>
      <vt:lpstr>2015：RRAM阵列</vt:lpstr>
      <vt:lpstr>Rram阵列 &amp; 神经网络</vt:lpstr>
      <vt:lpstr>Rram阵列 - Cross bar</vt:lpstr>
      <vt:lpstr>Rram阵列实现神经网络：识别</vt:lpstr>
      <vt:lpstr>Rram阵列实现神经网络：训练</vt:lpstr>
      <vt:lpstr>2020：RRAM系统</vt:lpstr>
      <vt:lpstr>PowerPoint 演示文稿</vt:lpstr>
      <vt:lpstr>PowerPoint 演示文稿</vt:lpstr>
      <vt:lpstr>Roadmap</vt:lpstr>
      <vt:lpstr>PowerPoint 演示文稿</vt:lpstr>
      <vt:lpstr>挑战：电流阈ADC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如何搭一个大脑</dc:title>
  <dc:creator>Siyu Huang</dc:creator>
  <cp:lastModifiedBy>Siyu Huang</cp:lastModifiedBy>
  <cp:revision>352</cp:revision>
  <dcterms:created xsi:type="dcterms:W3CDTF">2021-05-06T15:23:02Z</dcterms:created>
  <dcterms:modified xsi:type="dcterms:W3CDTF">2021-12-13T13:52:11Z</dcterms:modified>
</cp:coreProperties>
</file>