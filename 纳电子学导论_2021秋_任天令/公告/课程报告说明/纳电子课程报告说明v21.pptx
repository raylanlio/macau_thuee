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6"/>
  </p:notesMasterIdLst>
  <p:sldIdLst>
    <p:sldId id="256" r:id="rId2"/>
    <p:sldId id="368" r:id="rId3"/>
    <p:sldId id="363" r:id="rId4"/>
    <p:sldId id="362" r:id="rId5"/>
    <p:sldId id="360" r:id="rId6"/>
    <p:sldId id="365" r:id="rId7"/>
    <p:sldId id="364" r:id="rId8"/>
    <p:sldId id="371" r:id="rId9"/>
    <p:sldId id="370" r:id="rId10"/>
    <p:sldId id="369" r:id="rId11"/>
    <p:sldId id="367" r:id="rId12"/>
    <p:sldId id="373" r:id="rId13"/>
    <p:sldId id="372" r:id="rId14"/>
    <p:sldId id="366" r:id="rId1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33CC"/>
    <a:srgbClr val="0033CC"/>
    <a:srgbClr val="3399FF"/>
    <a:srgbClr val="663300"/>
    <a:srgbClr val="9900CC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8" autoAdjust="0"/>
    <p:restoredTop sz="86064" autoAdjust="0"/>
  </p:normalViewPr>
  <p:slideViewPr>
    <p:cSldViewPr>
      <p:cViewPr varScale="1">
        <p:scale>
          <a:sx n="51" d="100"/>
          <a:sy n="51" d="100"/>
        </p:scale>
        <p:origin x="336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8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98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49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9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7E17B1C5-8DCD-4DA2-9B58-5778BDE036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50869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17B1C5-8DCD-4DA2-9B58-5778BDE0361C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0991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17B1C5-8DCD-4DA2-9B58-5778BDE0361C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7284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校徽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066800"/>
            <a:ext cx="1981200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7"/>
          <p:cNvSpPr>
            <a:spLocks noChangeArrowheads="1"/>
          </p:cNvSpPr>
          <p:nvPr userDrawn="1"/>
        </p:nvSpPr>
        <p:spPr bwMode="auto">
          <a:xfrm>
            <a:off x="1447800" y="2971800"/>
            <a:ext cx="7696200" cy="76200"/>
          </a:xfrm>
          <a:prstGeom prst="rect">
            <a:avLst/>
          </a:prstGeom>
          <a:gradFill rotWithShape="1">
            <a:gsLst>
              <a:gs pos="0">
                <a:srgbClr val="993366">
                  <a:gamma/>
                  <a:tint val="0"/>
                  <a:invGamma/>
                </a:srgbClr>
              </a:gs>
              <a:gs pos="100000">
                <a:srgbClr val="993366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>
                <a:ea typeface="宋体" pitchFamily="2" charset="-122"/>
              </a:rPr>
              <a:t> </a:t>
            </a:r>
          </a:p>
        </p:txBody>
      </p:sp>
      <p:sp>
        <p:nvSpPr>
          <p:cNvPr id="6" name="Rectangle 19"/>
          <p:cNvSpPr>
            <a:spLocks noChangeArrowheads="1"/>
          </p:cNvSpPr>
          <p:nvPr userDrawn="1"/>
        </p:nvSpPr>
        <p:spPr bwMode="auto">
          <a:xfrm>
            <a:off x="6781800" y="6629400"/>
            <a:ext cx="2362200" cy="76200"/>
          </a:xfrm>
          <a:prstGeom prst="rect">
            <a:avLst/>
          </a:prstGeom>
          <a:gradFill rotWithShape="1">
            <a:gsLst>
              <a:gs pos="0">
                <a:srgbClr val="993366">
                  <a:gamma/>
                  <a:tint val="0"/>
                  <a:invGamma/>
                </a:srgbClr>
              </a:gs>
              <a:gs pos="100000">
                <a:srgbClr val="993366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>
                <a:ea typeface="宋体" pitchFamily="2" charset="-122"/>
              </a:rPr>
              <a:t> </a:t>
            </a:r>
          </a:p>
        </p:txBody>
      </p:sp>
      <p:sp>
        <p:nvSpPr>
          <p:cNvPr id="10343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2128838" y="1374775"/>
            <a:ext cx="6481762" cy="1444625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3200400"/>
            <a:ext cx="5867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>
                <a:solidFill>
                  <a:srgbClr val="003366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553200" y="6172200"/>
            <a:ext cx="2514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latin typeface="Elephant" pitchFamily="18" charset="0"/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2011.03.10</a:t>
            </a:r>
            <a:r>
              <a:rPr lang="en-US" altLang="zh-CN" i="1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D98FD-7D07-4B0B-93BC-4CF8885125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85726B-FC9A-475A-A47D-980A954FCA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71600"/>
            <a:ext cx="3960813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2813" y="1371600"/>
            <a:ext cx="3960812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60AD8-E94C-4676-826C-75B68D2076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34AD01-E5DC-4D0F-A177-10B91D880C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554577-2B7F-4302-B687-2DB628DC74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FFD14D-6F04-4BEF-ACA1-ACF6966276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DE74FA-609D-445B-A3A8-F3843470E3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66B21E-1372-43F0-9EF6-49B5A95568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1284B7-65A0-49A7-A997-582DC726BC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5913" y="152400"/>
            <a:ext cx="2017712" cy="6096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5903913" cy="6096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BAC788-B57B-4AEF-9E46-7777955598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7313613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371600"/>
            <a:ext cx="8074025" cy="4876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E68CD-6F4F-4846-AACA-C3A8525232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7313613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71600"/>
            <a:ext cx="3960813" cy="4876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22813" y="1371600"/>
            <a:ext cx="3960812" cy="2362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22813" y="3886200"/>
            <a:ext cx="3960812" cy="2362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C00F34-5A28-4856-B08E-05EEED6B39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2" name="Rectangle 12"/>
          <p:cNvSpPr>
            <a:spLocks noChangeArrowheads="1"/>
          </p:cNvSpPr>
          <p:nvPr/>
        </p:nvSpPr>
        <p:spPr bwMode="auto">
          <a:xfrm>
            <a:off x="762000" y="1066800"/>
            <a:ext cx="8382000" cy="76200"/>
          </a:xfrm>
          <a:prstGeom prst="rect">
            <a:avLst/>
          </a:prstGeom>
          <a:gradFill rotWithShape="1">
            <a:gsLst>
              <a:gs pos="0">
                <a:srgbClr val="993366">
                  <a:gamma/>
                  <a:tint val="0"/>
                  <a:invGamma/>
                </a:srgbClr>
              </a:gs>
              <a:gs pos="100000">
                <a:srgbClr val="993366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>
                <a:ea typeface="宋体" pitchFamily="2" charset="-122"/>
              </a:rPr>
              <a:t> </a:t>
            </a:r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152400"/>
            <a:ext cx="7313613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1600"/>
            <a:ext cx="8074025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41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 b="1" i="1">
                <a:latin typeface="Elephant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865B4E63-6428-42FC-A3E3-A67ED17194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0" name="Picture 11" descr="校徽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52400" y="76200"/>
            <a:ext cx="1219200" cy="121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14" name="Rectangle 14"/>
          <p:cNvSpPr>
            <a:spLocks noChangeArrowheads="1"/>
          </p:cNvSpPr>
          <p:nvPr/>
        </p:nvSpPr>
        <p:spPr bwMode="auto">
          <a:xfrm>
            <a:off x="8001000" y="6705600"/>
            <a:ext cx="1143000" cy="76200"/>
          </a:xfrm>
          <a:prstGeom prst="rect">
            <a:avLst/>
          </a:prstGeom>
          <a:gradFill rotWithShape="1">
            <a:gsLst>
              <a:gs pos="0">
                <a:srgbClr val="993366">
                  <a:gamma/>
                  <a:tint val="0"/>
                  <a:invGamma/>
                </a:srgbClr>
              </a:gs>
              <a:gs pos="100000">
                <a:srgbClr val="993366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>
                <a:ea typeface="宋体" pitchFamily="2" charset="-122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12" r:id="rId1"/>
    <p:sldLayoutId id="2147484700" r:id="rId2"/>
    <p:sldLayoutId id="2147484701" r:id="rId3"/>
    <p:sldLayoutId id="2147484702" r:id="rId4"/>
    <p:sldLayoutId id="2147484703" r:id="rId5"/>
    <p:sldLayoutId id="2147484704" r:id="rId6"/>
    <p:sldLayoutId id="2147484705" r:id="rId7"/>
    <p:sldLayoutId id="2147484706" r:id="rId8"/>
    <p:sldLayoutId id="2147484707" r:id="rId9"/>
    <p:sldLayoutId id="2147484708" r:id="rId10"/>
    <p:sldLayoutId id="2147484709" r:id="rId11"/>
    <p:sldLayoutId id="2147484710" r:id="rId12"/>
    <p:sldLayoutId id="2147484711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pitchFamily="34" charset="0"/>
          <a:ea typeface="华文新魏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pitchFamily="34" charset="0"/>
          <a:ea typeface="华文新魏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pitchFamily="34" charset="0"/>
          <a:ea typeface="华文新魏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pitchFamily="34" charset="0"/>
          <a:ea typeface="华文新魏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pitchFamily="34" charset="0"/>
          <a:ea typeface="华文新魏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pitchFamily="34" charset="0"/>
          <a:ea typeface="华文新魏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pitchFamily="34" charset="0"/>
          <a:ea typeface="华文新魏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pitchFamily="34" charset="0"/>
          <a:ea typeface="华文新魏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4"/>
          <p:cNvSpPr>
            <a:spLocks noGrp="1" noChangeArrowheads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altLang="zh-CN" i="1" smtClean="0">
                <a:ea typeface="宋体" charset="-122"/>
              </a:rPr>
              <a:t>1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81200" y="1524000"/>
            <a:ext cx="7010400" cy="1444625"/>
          </a:xfrm>
        </p:spPr>
        <p:txBody>
          <a:bodyPr/>
          <a:lstStyle/>
          <a:p>
            <a:pPr algn="ctr" eaLnBrk="1" hangingPunct="1"/>
            <a:r>
              <a:rPr lang="zh-CN" altLang="en-US" sz="4800" b="1" dirty="0">
                <a:latin typeface="黑体" pitchFamily="49" charset="-122"/>
                <a:ea typeface="黑体" pitchFamily="49" charset="-122"/>
              </a:rPr>
              <a:t>纳</a:t>
            </a:r>
            <a:r>
              <a:rPr lang="zh-CN" altLang="en-US" sz="4800" b="1" dirty="0" smtClean="0">
                <a:latin typeface="黑体" pitchFamily="49" charset="-122"/>
                <a:ea typeface="黑体" pitchFamily="49" charset="-122"/>
              </a:rPr>
              <a:t>电子学导论</a:t>
            </a:r>
            <a:r>
              <a:rPr lang="en-US" altLang="zh-CN" sz="4800" b="1" dirty="0" smtClean="0">
                <a:latin typeface="黑体" pitchFamily="49" charset="-122"/>
                <a:ea typeface="黑体" pitchFamily="49" charset="-122"/>
              </a:rPr>
              <a:t/>
            </a:r>
            <a:br>
              <a:rPr lang="en-US" altLang="zh-CN" sz="4800" b="1" dirty="0" smtClean="0">
                <a:latin typeface="黑体" pitchFamily="49" charset="-122"/>
                <a:ea typeface="黑体" pitchFamily="49" charset="-122"/>
              </a:rPr>
            </a:br>
            <a:r>
              <a:rPr lang="zh-CN" altLang="en-US" sz="4800" b="1" dirty="0" smtClean="0">
                <a:latin typeface="黑体" pitchFamily="49" charset="-122"/>
                <a:ea typeface="黑体" pitchFamily="49" charset="-122"/>
              </a:rPr>
              <a:t>课程报告说明</a:t>
            </a:r>
            <a:endParaRPr lang="zh-CN" altLang="en-US" sz="4800" dirty="0" smtClean="0">
              <a:solidFill>
                <a:srgbClr val="000066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34100" y="4674713"/>
            <a:ext cx="3352800" cy="145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4800" b="1">
                <a:solidFill>
                  <a:srgbClr val="003366"/>
                </a:solidFill>
                <a:latin typeface="黑体" pitchFamily="49" charset="-122"/>
                <a:ea typeface="黑体" pitchFamily="49" charset="-122"/>
                <a:cs typeface="+mj-cs"/>
              </a:defRPr>
            </a:lvl1pPr>
            <a:lvl2pPr>
              <a:defRPr sz="3200">
                <a:solidFill>
                  <a:srgbClr val="003366"/>
                </a:solidFill>
                <a:latin typeface="Arial" pitchFamily="34" charset="0"/>
                <a:ea typeface="华文新魏" pitchFamily="2" charset="-122"/>
              </a:defRPr>
            </a:lvl2pPr>
            <a:lvl3pPr>
              <a:defRPr sz="3200">
                <a:solidFill>
                  <a:srgbClr val="003366"/>
                </a:solidFill>
                <a:latin typeface="Arial" pitchFamily="34" charset="0"/>
                <a:ea typeface="华文新魏" pitchFamily="2" charset="-122"/>
              </a:defRPr>
            </a:lvl3pPr>
            <a:lvl4pPr>
              <a:defRPr sz="3200">
                <a:solidFill>
                  <a:srgbClr val="003366"/>
                </a:solidFill>
                <a:latin typeface="Arial" pitchFamily="34" charset="0"/>
                <a:ea typeface="华文新魏" pitchFamily="2" charset="-122"/>
              </a:defRPr>
            </a:lvl4pPr>
            <a:lvl5pPr>
              <a:defRPr sz="3200">
                <a:solidFill>
                  <a:srgbClr val="003366"/>
                </a:solidFill>
                <a:latin typeface="Arial" pitchFamily="34" charset="0"/>
                <a:ea typeface="华文新魏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3366"/>
                </a:solidFill>
                <a:latin typeface="Arial" pitchFamily="34" charset="0"/>
                <a:ea typeface="华文新魏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3366"/>
                </a:solidFill>
                <a:latin typeface="Arial" pitchFamily="34" charset="0"/>
                <a:ea typeface="华文新魏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3366"/>
                </a:solidFill>
                <a:latin typeface="Arial" pitchFamily="34" charset="0"/>
                <a:ea typeface="华文新魏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3366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r>
              <a:rPr lang="en-US" altLang="zh-CN" sz="3200" dirty="0" smtClean="0"/>
              <a:t>2021.11</a:t>
            </a:r>
            <a:endParaRPr lang="zh-CN" altLang="en-US" sz="3200" dirty="0"/>
          </a:p>
        </p:txBody>
      </p:sp>
      <p:pic>
        <p:nvPicPr>
          <p:cNvPr id="1026" name="Picture 2" descr="See the source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87" b="26419"/>
          <a:stretch/>
        </p:blipFill>
        <p:spPr bwMode="auto">
          <a:xfrm>
            <a:off x="838200" y="3733800"/>
            <a:ext cx="451485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课程总评构成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b="1" dirty="0"/>
              <a:t>出勤及课堂表现  </a:t>
            </a:r>
            <a:r>
              <a:rPr lang="en-US" altLang="zh-CN" b="1" u="sng" dirty="0">
                <a:solidFill>
                  <a:srgbClr val="0000FF"/>
                </a:solidFill>
              </a:rPr>
              <a:t>5%</a:t>
            </a:r>
            <a:endParaRPr lang="en-US" altLang="zh-CN" b="1" dirty="0"/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b="1" dirty="0"/>
              <a:t>平时作业  </a:t>
            </a:r>
            <a:r>
              <a:rPr lang="en-US" altLang="zh-CN" b="1" u="sng" dirty="0">
                <a:solidFill>
                  <a:srgbClr val="0000FF"/>
                </a:solidFill>
              </a:rPr>
              <a:t>20%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rgbClr val="FF0000"/>
                </a:solidFill>
              </a:rPr>
              <a:t>专题</a:t>
            </a:r>
            <a:r>
              <a:rPr lang="zh-CN" altLang="en-US" b="1" dirty="0">
                <a:solidFill>
                  <a:srgbClr val="FF0000"/>
                </a:solidFill>
              </a:rPr>
              <a:t>报告展示  </a:t>
            </a:r>
            <a:r>
              <a:rPr lang="en-US" altLang="zh-CN" b="1" u="sng" dirty="0">
                <a:solidFill>
                  <a:srgbClr val="FF0000"/>
                </a:solidFill>
              </a:rPr>
              <a:t>25%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    </a:t>
            </a:r>
            <a:r>
              <a:rPr lang="zh-CN" altLang="en-US" b="1" dirty="0">
                <a:solidFill>
                  <a:srgbClr val="FF0000"/>
                </a:solidFill>
              </a:rPr>
              <a:t>选择题目分组调研准备并在课堂上分享展示，时间暂定在课程最后两周</a:t>
            </a:r>
            <a:endParaRPr lang="en-US" altLang="zh-CN" b="1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b="1" dirty="0"/>
              <a:t>期末考试  </a:t>
            </a:r>
            <a:r>
              <a:rPr lang="en-US" altLang="zh-CN" b="1" u="sng" dirty="0">
                <a:solidFill>
                  <a:srgbClr val="0000FF"/>
                </a:solidFill>
              </a:rPr>
              <a:t>50%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1D98FD-7D07-4B0B-93BC-4CF8885125A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054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课程专题报告</a:t>
            </a:r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438150" y="1295400"/>
            <a:ext cx="8267700" cy="5334000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n"/>
            </a:pPr>
            <a:r>
              <a:rPr lang="zh-CN" altLang="en-US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占总评分数 </a:t>
            </a:r>
            <a:r>
              <a:rPr lang="en-US" altLang="zh-CN" sz="2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en-US" altLang="zh-CN" sz="2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%</a:t>
            </a:r>
            <a:endParaRPr lang="en-US" altLang="zh-CN" sz="26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n"/>
            </a:pP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选择</a:t>
            </a:r>
            <a:r>
              <a:rPr lang="zh-CN" altLang="en-US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纳电子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学</a:t>
            </a:r>
            <a:r>
              <a:rPr lang="zh-CN" altLang="en-US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相关专题，</a:t>
            </a:r>
            <a:r>
              <a:rPr lang="zh-CN" altLang="en-US" sz="2600" b="1" dirty="0" smtClean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分组</a:t>
            </a:r>
            <a:r>
              <a:rPr lang="zh-CN" altLang="en-US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进行</a:t>
            </a:r>
            <a:r>
              <a:rPr lang="zh-CN" altLang="en-US" sz="2600" b="1" dirty="0" smtClean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调研和口头</a:t>
            </a:r>
            <a:r>
              <a:rPr lang="en-US" altLang="zh-CN" sz="2600" b="1" dirty="0" smtClean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PPT</a:t>
            </a:r>
            <a:r>
              <a:rPr lang="zh-CN" altLang="en-US" sz="2600" b="1" dirty="0" smtClean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展示</a:t>
            </a:r>
            <a:r>
              <a:rPr lang="zh-CN" altLang="en-US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6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n"/>
            </a:pPr>
            <a:r>
              <a:rPr lang="zh-CN" altLang="en-US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展示时间为</a:t>
            </a:r>
            <a:r>
              <a:rPr lang="zh-CN" alt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最后两次课上</a:t>
            </a:r>
            <a:r>
              <a:rPr lang="zh-CN" altLang="en-US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。每组同学展示时间</a:t>
            </a:r>
            <a:r>
              <a:rPr lang="en-US" altLang="zh-CN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提问环节</a:t>
            </a:r>
            <a:r>
              <a:rPr lang="en-US" altLang="zh-CN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15</a:t>
            </a:r>
            <a:r>
              <a:rPr lang="zh-CN" altLang="en-US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分钟左右。</a:t>
            </a:r>
            <a:endParaRPr lang="en-US" altLang="zh-CN" sz="26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n"/>
            </a:pPr>
            <a:r>
              <a:rPr lang="zh-CN" altLang="en-US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评分采用老师打分</a:t>
            </a:r>
            <a:r>
              <a:rPr lang="en-US" altLang="zh-CN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同学间互评打分，老师给出评分占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0%</a:t>
            </a:r>
            <a:r>
              <a:rPr lang="zh-CN" altLang="en-US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，互评打分占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0%</a:t>
            </a:r>
            <a:r>
              <a:rPr lang="zh-CN" altLang="en-US" sz="26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6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n"/>
            </a:pPr>
            <a:endParaRPr lang="en-US" altLang="zh-CN" sz="26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A4187BB-9839-43D5-8E32-670DA845706F}" type="slidenum">
              <a:rPr lang="en-US" altLang="zh-CN" smtClean="0">
                <a:ea typeface="宋体" charset="-122"/>
              </a:rPr>
              <a:pPr/>
              <a:t>3</a:t>
            </a:fld>
            <a:endParaRPr lang="en-US" altLang="zh-CN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277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分组及顺序安排</a:t>
            </a:r>
            <a:endParaRPr lang="zh-CN" altLang="en-US" dirty="0" smtClean="0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381000" y="1295400"/>
            <a:ext cx="8302625" cy="5257800"/>
          </a:xfrm>
        </p:spPr>
        <p:txBody>
          <a:bodyPr/>
          <a:lstStyle/>
          <a:p>
            <a:pPr>
              <a:buFont typeface="Wingdings" pitchFamily="2" charset="2"/>
              <a:buChar char="n"/>
            </a:pPr>
            <a:r>
              <a:rPr lang="zh-CN" altLang="en-US" sz="3200" kern="1200" dirty="0" smtClean="0">
                <a:latin typeface="+mn-ea"/>
                <a:cs typeface="Times New Roman" panose="02020603050405020304" pitchFamily="18" charset="0"/>
              </a:rPr>
              <a:t>选课同学</a:t>
            </a:r>
            <a:r>
              <a:rPr lang="en-US" altLang="zh-CN" sz="3200" kern="1200" dirty="0" smtClean="0">
                <a:latin typeface="+mn-ea"/>
                <a:cs typeface="Times New Roman" panose="02020603050405020304" pitchFamily="18" charset="0"/>
              </a:rPr>
              <a:t>49</a:t>
            </a:r>
            <a:r>
              <a:rPr lang="zh-CN" altLang="en-US" sz="3200" kern="1200" dirty="0" smtClean="0">
                <a:latin typeface="+mn-ea"/>
                <a:cs typeface="Times New Roman" panose="02020603050405020304" pitchFamily="18" charset="0"/>
              </a:rPr>
              <a:t>人。</a:t>
            </a:r>
            <a:r>
              <a:rPr lang="en-US" altLang="zh-CN" sz="3200" kern="1200" dirty="0" smtClean="0"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en-US" sz="3200" kern="1200" dirty="0" smtClean="0">
                <a:latin typeface="+mn-ea"/>
                <a:cs typeface="Times New Roman" panose="02020603050405020304" pitchFamily="18" charset="0"/>
              </a:rPr>
              <a:t>人一组</a:t>
            </a:r>
            <a:r>
              <a:rPr lang="zh-CN" altLang="en-US" sz="3200" kern="1200" dirty="0" smtClean="0">
                <a:latin typeface="+mn-ea"/>
                <a:cs typeface="Times New Roman" panose="02020603050405020304" pitchFamily="18" charset="0"/>
              </a:rPr>
              <a:t>，</a:t>
            </a:r>
            <a:r>
              <a:rPr lang="en-US" altLang="zh-CN" sz="3200" kern="1200" dirty="0" smtClean="0">
                <a:latin typeface="+mn-ea"/>
                <a:cs typeface="Times New Roman" panose="02020603050405020304" pitchFamily="18" charset="0"/>
              </a:rPr>
              <a:t>12</a:t>
            </a:r>
            <a:r>
              <a:rPr lang="zh-CN" altLang="en-US" sz="3200" kern="1200" dirty="0" smtClean="0">
                <a:latin typeface="+mn-ea"/>
                <a:cs typeface="Times New Roman" panose="02020603050405020304" pitchFamily="18" charset="0"/>
              </a:rPr>
              <a:t>组，自由组合。</a:t>
            </a:r>
            <a:r>
              <a:rPr lang="zh-CN" altLang="en-US" sz="3200" kern="1200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分组</a:t>
            </a:r>
            <a:r>
              <a:rPr lang="zh-CN" altLang="en-US" sz="3200" kern="1200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登记汇报给课代表  </a:t>
            </a:r>
            <a:r>
              <a:rPr lang="zh-CN" altLang="en-US" sz="3200" kern="1200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朱宏怀</a:t>
            </a:r>
            <a:r>
              <a:rPr lang="zh-CN" altLang="en-US" sz="3200" kern="1200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同学</a:t>
            </a:r>
            <a:r>
              <a:rPr lang="zh-CN" altLang="en-US" sz="3200" kern="1200" dirty="0" smtClean="0"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3200" kern="1200" dirty="0" smtClean="0">
              <a:latin typeface="+mn-ea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n"/>
            </a:pPr>
            <a:endParaRPr lang="en-US" altLang="zh-CN" sz="3200" kern="1200" dirty="0" smtClean="0">
              <a:latin typeface="+mn-ea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n"/>
            </a:pPr>
            <a:r>
              <a:rPr lang="zh-CN" altLang="en-US" sz="3200" kern="1200" dirty="0" smtClean="0">
                <a:latin typeface="+mn-ea"/>
                <a:cs typeface="Times New Roman" panose="02020603050405020304" pitchFamily="18" charset="0"/>
              </a:rPr>
              <a:t>报告</a:t>
            </a:r>
            <a:r>
              <a:rPr lang="zh-CN" altLang="en-US" sz="3200" kern="1200" dirty="0" smtClean="0">
                <a:latin typeface="+mn-ea"/>
                <a:cs typeface="Times New Roman" panose="02020603050405020304" pitchFamily="18" charset="0"/>
              </a:rPr>
              <a:t>顺序将按照选题内容排布</a:t>
            </a:r>
            <a:r>
              <a:rPr lang="zh-CN" altLang="en-US" sz="3200" kern="1200" dirty="0" smtClean="0">
                <a:latin typeface="+mn-ea"/>
                <a:cs typeface="Times New Roman" panose="02020603050405020304" pitchFamily="18" charset="0"/>
              </a:rPr>
              <a:t>，提前在</a:t>
            </a:r>
            <a:r>
              <a:rPr lang="zh-CN" altLang="en-US" sz="3200" kern="1200" dirty="0" smtClean="0">
                <a:latin typeface="+mn-ea"/>
                <a:cs typeface="Times New Roman" panose="02020603050405020304" pitchFamily="18" charset="0"/>
              </a:rPr>
              <a:t>网络</a:t>
            </a:r>
            <a:r>
              <a:rPr lang="zh-CN" altLang="en-US" sz="3200" kern="1200" dirty="0" smtClean="0">
                <a:latin typeface="+mn-ea"/>
                <a:cs typeface="Times New Roman" panose="02020603050405020304" pitchFamily="18" charset="0"/>
              </a:rPr>
              <a:t>学堂</a:t>
            </a:r>
            <a:r>
              <a:rPr lang="zh-CN" altLang="en-US" sz="3200" kern="1200" dirty="0">
                <a:latin typeface="+mn-ea"/>
                <a:cs typeface="Times New Roman" panose="02020603050405020304" pitchFamily="18" charset="0"/>
              </a:rPr>
              <a:t>公告上公布。   </a:t>
            </a:r>
            <a:r>
              <a:rPr lang="zh-CN" altLang="en-US" sz="3200" kern="1200" dirty="0" smtClean="0">
                <a:latin typeface="+mn-ea"/>
                <a:cs typeface="Times New Roman" panose="02020603050405020304" pitchFamily="18" charset="0"/>
              </a:rPr>
              <a:t>报告时间为十四、十五周</a:t>
            </a:r>
            <a:endParaRPr lang="en-US" altLang="zh-CN" sz="3200" kern="1200" dirty="0" smtClean="0">
              <a:latin typeface="+mn-ea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n"/>
            </a:pPr>
            <a:endParaRPr lang="en-US" altLang="zh-CN" sz="3200" kern="12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6019B50-1CB7-4846-8E3F-BB0B9F2106DD}" type="slidenum">
              <a:rPr lang="en-US" altLang="zh-CN" smtClean="0">
                <a:ea typeface="宋体" charset="-122"/>
              </a:rPr>
              <a:pPr/>
              <a:t>4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>
                <a:latin typeface="黑体" pitchFamily="49" charset="-122"/>
                <a:ea typeface="黑体" pitchFamily="49" charset="-122"/>
              </a:rPr>
              <a:t>课程报告评分准则</a:t>
            </a:r>
            <a:endParaRPr lang="zh-CN" altLang="en-US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n"/>
            </a:pPr>
            <a:r>
              <a:rPr lang="zh-CN" altLang="en-US" sz="300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课程报告的评分</a:t>
            </a:r>
            <a:r>
              <a:rPr lang="zh-CN" altLang="en-US" sz="30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标准</a:t>
            </a:r>
            <a:endParaRPr lang="en-US" altLang="zh-CN" sz="3000" dirty="0" smtClean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buFont typeface="Wingdings" pitchFamily="2" charset="2"/>
              <a:buChar char="n"/>
            </a:pPr>
            <a:endParaRPr lang="en-US" altLang="zh-CN" sz="3000" dirty="0" smtClean="0">
              <a:solidFill>
                <a:srgbClr val="0000FF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buFont typeface="Wingdings" pitchFamily="2" charset="2"/>
              <a:buChar char="n"/>
            </a:pPr>
            <a:endParaRPr lang="en-US" altLang="zh-CN" sz="3000" dirty="0" smtClean="0">
              <a:solidFill>
                <a:srgbClr val="0000FF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buFont typeface="Wingdings" pitchFamily="2" charset="2"/>
              <a:buChar char="n"/>
            </a:pPr>
            <a:endParaRPr lang="en-US" altLang="zh-CN" sz="3000" dirty="0" smtClean="0">
              <a:solidFill>
                <a:srgbClr val="0000FF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zh-CN" altLang="en-US" sz="3000" dirty="0" smtClean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zh-CN" altLang="en-US" dirty="0" smtClean="0"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C7CF2A3-22D0-47A2-8227-6DF548FACDD6}" type="slidenum">
              <a:rPr lang="en-US" altLang="zh-CN" smtClean="0">
                <a:ea typeface="宋体" charset="-122"/>
              </a:rPr>
              <a:pPr/>
              <a:t>5</a:t>
            </a:fld>
            <a:endParaRPr lang="en-US" altLang="zh-CN" smtClean="0">
              <a:ea typeface="宋体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477586"/>
              </p:ext>
            </p:extLst>
          </p:nvPr>
        </p:nvGraphicFramePr>
        <p:xfrm>
          <a:off x="609600" y="2057400"/>
          <a:ext cx="8127744" cy="4137660"/>
        </p:xfrm>
        <a:graphic>
          <a:graphicData uri="http://schemas.openxmlformats.org/drawingml/2006/table">
            <a:tbl>
              <a:tblPr/>
              <a:tblGrid>
                <a:gridCol w="4063872"/>
                <a:gridCol w="4063872"/>
              </a:tblGrid>
              <a:tr h="466725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报告内容（</a:t>
                      </a:r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50</a:t>
                      </a: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科学性（</a:t>
                      </a:r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内容充实</a:t>
                      </a:r>
                      <a:r>
                        <a:rPr lang="zh-CN" alt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度（</a:t>
                      </a:r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结构</a:t>
                      </a:r>
                      <a:r>
                        <a:rPr lang="zh-CN" alt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逻辑性（</a:t>
                      </a:r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7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内容新颖</a:t>
                      </a:r>
                      <a:r>
                        <a:rPr lang="zh-CN" alt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度（</a:t>
                      </a:r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报告</a:t>
                      </a:r>
                      <a:r>
                        <a:rPr lang="zh-CN" alt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陈述（</a:t>
                      </a:r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35</a:t>
                      </a: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表达</a:t>
                      </a:r>
                      <a:r>
                        <a:rPr lang="zh-CN" alt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效果（</a:t>
                      </a:r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展示</a:t>
                      </a:r>
                      <a:r>
                        <a:rPr lang="zh-CN" alt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效果（</a:t>
                      </a:r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</a:t>
                      </a: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问题回答          </a:t>
                      </a: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（</a:t>
                      </a:r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</a:t>
                      </a: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32460"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*</a:t>
                      </a:r>
                      <a:r>
                        <a:rPr lang="zh-CN" alt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问题提问额外加分      （</a:t>
                      </a:r>
                      <a:r>
                        <a:rPr lang="en-US" altLang="zh-CN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r>
                        <a:rPr lang="zh-CN" alt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选题</a:t>
            </a:r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438150" y="1295400"/>
            <a:ext cx="8267700" cy="5334000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n"/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从课程内容延申，深入挖掘一个方向的专题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n"/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老师课上提出的一些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问题展开选题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n"/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与半导体产业及科研进展紧密相关的纳电子学选题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n"/>
            </a:pP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鼓励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同学们就目前纳电子学研究领域的热点问题进行综述性报告，提出自己的见解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A4187BB-9839-43D5-8E32-670DA845706F}" type="slidenum">
              <a:rPr lang="en-US" altLang="zh-CN" smtClean="0">
                <a:ea typeface="宋体" charset="-122"/>
              </a:rPr>
              <a:pPr/>
              <a:t>6</a:t>
            </a:fld>
            <a:endParaRPr lang="en-US" altLang="zh-CN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2255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报告选题示例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极紫外光刻</a:t>
            </a:r>
            <a:r>
              <a:rPr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EUV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负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电容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晶体管</a:t>
            </a:r>
            <a:endParaRPr lang="en-US" altLang="zh-CN" sz="24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新型二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维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材料</a:t>
            </a:r>
            <a:endParaRPr lang="en-US" altLang="zh-CN" sz="24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第三代</a:t>
            </a:r>
            <a:r>
              <a:rPr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MRAM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研究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进展</a:t>
            </a:r>
            <a:endParaRPr lang="en-US" altLang="zh-CN" sz="24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单分子电子器件</a:t>
            </a:r>
            <a:endParaRPr lang="en-US" altLang="zh-CN" sz="24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纳电子器件在</a:t>
            </a:r>
            <a:r>
              <a:rPr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XX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领域的实际应用</a:t>
            </a:r>
            <a:endParaRPr lang="en-US" altLang="zh-CN" sz="24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量子信息学与量子计算</a:t>
            </a:r>
            <a:endParaRPr lang="en-US" altLang="zh-CN" sz="24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……</a:t>
            </a:r>
            <a:endParaRPr lang="en-US" altLang="zh-CN" sz="24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1D98FD-7D07-4B0B-93BC-4CF8885125A5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</a:rPr>
              <a:pPr>
                <a:defRPr/>
              </a:pPr>
              <a:t>7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156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往年优秀示例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1D98FD-7D07-4B0B-93BC-4CF8885125A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26" y="1219200"/>
            <a:ext cx="7366971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72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往年优秀示例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1D98FD-7D07-4B0B-93BC-4CF8885125A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105" y="1706545"/>
            <a:ext cx="6813622" cy="5105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82" y="1201616"/>
            <a:ext cx="34671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92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往年优秀示例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1D98FD-7D07-4B0B-93BC-4CF8885125A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1" y="1581150"/>
            <a:ext cx="9129759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05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PPT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展示的建议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不要全是字，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字体不要太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小</a:t>
            </a:r>
            <a:endParaRPr lang="en-US" altLang="zh-CN" dirty="0" smtClean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适当的图片比大段文字更好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背景和内容的色彩对比   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一页中内容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突出重点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，需要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分开多页就分开多页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版式尽量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1D98FD-7D07-4B0B-93BC-4CF8885125A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grpSp>
        <p:nvGrpSpPr>
          <p:cNvPr id="10" name="组合 9"/>
          <p:cNvGrpSpPr/>
          <p:nvPr/>
        </p:nvGrpSpPr>
        <p:grpSpPr>
          <a:xfrm>
            <a:off x="5562600" y="2667000"/>
            <a:ext cx="647934" cy="661404"/>
            <a:chOff x="5334000" y="2234196"/>
            <a:chExt cx="647934" cy="661404"/>
          </a:xfrm>
        </p:grpSpPr>
        <p:sp>
          <p:nvSpPr>
            <p:cNvPr id="5" name="矩形 4"/>
            <p:cNvSpPr/>
            <p:nvPr/>
          </p:nvSpPr>
          <p:spPr>
            <a:xfrm>
              <a:off x="5334000" y="2286000"/>
              <a:ext cx="609600" cy="6096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334000" y="2234196"/>
              <a:ext cx="64793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600" b="1" kern="0" dirty="0" smtClean="0">
                  <a:solidFill>
                    <a:srgbClr val="FF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粉</a:t>
              </a:r>
              <a:endParaRPr lang="zh-CN" altLang="en-US" sz="2400" b="1" dirty="0">
                <a:solidFill>
                  <a:srgbClr val="FF33CC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535787" y="2426676"/>
            <a:ext cx="647934" cy="661404"/>
            <a:chOff x="5334000" y="2234196"/>
            <a:chExt cx="647934" cy="661404"/>
          </a:xfrm>
        </p:grpSpPr>
        <p:sp>
          <p:nvSpPr>
            <p:cNvPr id="12" name="矩形 11"/>
            <p:cNvSpPr/>
            <p:nvPr/>
          </p:nvSpPr>
          <p:spPr>
            <a:xfrm>
              <a:off x="5334000" y="22860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5334000" y="2234196"/>
              <a:ext cx="64793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600" b="1" kern="0" dirty="0" smtClean="0">
                  <a:solidFill>
                    <a:schemeClr val="bg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灰</a:t>
              </a:r>
              <a:endParaRPr lang="zh-CN" altLang="en-US" sz="24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564433" y="2681122"/>
            <a:ext cx="647934" cy="661404"/>
            <a:chOff x="5334000" y="2234196"/>
            <a:chExt cx="647934" cy="661404"/>
          </a:xfrm>
        </p:grpSpPr>
        <p:sp>
          <p:nvSpPr>
            <p:cNvPr id="15" name="矩形 14"/>
            <p:cNvSpPr/>
            <p:nvPr/>
          </p:nvSpPr>
          <p:spPr>
            <a:xfrm>
              <a:off x="5334000" y="2286000"/>
              <a:ext cx="609600" cy="6096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5334000" y="2234196"/>
              <a:ext cx="64793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600" b="1" kern="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红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426918" y="2452578"/>
            <a:ext cx="647934" cy="661404"/>
            <a:chOff x="5334000" y="2234196"/>
            <a:chExt cx="647934" cy="661404"/>
          </a:xfrm>
        </p:grpSpPr>
        <p:sp>
          <p:nvSpPr>
            <p:cNvPr id="18" name="矩形 17"/>
            <p:cNvSpPr/>
            <p:nvPr/>
          </p:nvSpPr>
          <p:spPr>
            <a:xfrm>
              <a:off x="5334000" y="2286000"/>
              <a:ext cx="609600" cy="609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5334000" y="2234196"/>
              <a:ext cx="64793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600" b="1" kern="0" dirty="0" smtClean="0">
                  <a:solidFill>
                    <a:srgbClr val="FFC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黄</a:t>
              </a:r>
              <a:endParaRPr lang="zh-CN" altLang="en-US" sz="2400" b="1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1898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PPT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展示的建议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如果底下</a:t>
            </a:r>
            <a:r>
              <a:rPr lang="zh-CN" altLang="en-US" sz="32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同学听睡着了，没听懂</a:t>
            </a:r>
            <a:r>
              <a:rPr lang="zh-CN" altLang="en-US" sz="32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，吸引不了听众。那</a:t>
            </a:r>
            <a:r>
              <a:rPr lang="zh-CN" altLang="en-US" sz="32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一定是</a:t>
            </a:r>
            <a:r>
              <a:rPr lang="zh-CN" altLang="en-US" sz="32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展示的问题，不是听众的问题。</a:t>
            </a:r>
            <a:endParaRPr lang="en-US" altLang="zh-CN" sz="32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en-US" altLang="zh-CN" sz="32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怎么让大家听懂？分享你的调研收获？</a:t>
            </a:r>
            <a:endParaRPr lang="en-US" altLang="zh-CN" sz="3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自己要理解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内容</a:t>
            </a:r>
            <a:r>
              <a:rPr lang="zh-CN" altLang="en-US" sz="32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，才能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讲</a:t>
            </a:r>
            <a:r>
              <a:rPr lang="zh-CN" altLang="en-US" sz="32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清楚</a:t>
            </a:r>
            <a:endParaRPr lang="en-US" altLang="zh-CN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1D98FD-7D07-4B0B-93BC-4CF8885125A5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1139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反面例子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1D98FD-7D07-4B0B-93BC-4CF8885125A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37" y="1664368"/>
            <a:ext cx="8854440" cy="466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75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文献检索的建议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善用图书馆的资源进行检索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教材专著、学位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论文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知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网、万方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Web of Science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Springer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PQ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IEEE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Google Scholar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PubMed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专利、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标准等等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对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搜索引擎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wiki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、文库等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来源的信息，要确认其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真实性及时效性</a:t>
            </a:r>
            <a:endParaRPr lang="en-US" altLang="zh-CN" dirty="0" smtClean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直接引用的图片及段落尽量标明参考文献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/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来源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1D98FD-7D07-4B0B-93BC-4CF8885125A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57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自定义 2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24058</TotalTime>
  <Words>522</Words>
  <Application>Microsoft Office PowerPoint</Application>
  <PresentationFormat>全屏显示(4:3)</PresentationFormat>
  <Paragraphs>92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黑体</vt:lpstr>
      <vt:lpstr>华文新魏</vt:lpstr>
      <vt:lpstr>宋体</vt:lpstr>
      <vt:lpstr>Arial</vt:lpstr>
      <vt:lpstr>Elephant</vt:lpstr>
      <vt:lpstr>Times New Roman</vt:lpstr>
      <vt:lpstr>Verdana</vt:lpstr>
      <vt:lpstr>Wingdings</vt:lpstr>
      <vt:lpstr>Eclipse</vt:lpstr>
      <vt:lpstr>纳电子学导论 课程报告说明</vt:lpstr>
      <vt:lpstr>课程总评构成</vt:lpstr>
      <vt:lpstr>课程专题报告</vt:lpstr>
      <vt:lpstr>分组及顺序安排</vt:lpstr>
      <vt:lpstr>课程报告评分准则</vt:lpstr>
      <vt:lpstr>选题</vt:lpstr>
      <vt:lpstr>报告选题示例</vt:lpstr>
      <vt:lpstr>往年优秀示例</vt:lpstr>
      <vt:lpstr>往年优秀示例</vt:lpstr>
      <vt:lpstr>往年优秀示例</vt:lpstr>
      <vt:lpstr>PPT展示的建议</vt:lpstr>
      <vt:lpstr>PPT展示的建议</vt:lpstr>
      <vt:lpstr>反面例子</vt:lpstr>
      <vt:lpstr>文献检索的建议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潇 刘</cp:lastModifiedBy>
  <cp:revision>2508</cp:revision>
  <cp:lastPrinted>1601-01-01T00:00:00Z</cp:lastPrinted>
  <dcterms:created xsi:type="dcterms:W3CDTF">1601-01-01T00:00:00Z</dcterms:created>
  <dcterms:modified xsi:type="dcterms:W3CDTF">2021-11-06T06:33:30Z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