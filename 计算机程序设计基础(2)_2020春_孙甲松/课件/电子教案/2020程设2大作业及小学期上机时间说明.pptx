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594" r:id="rId2"/>
    <p:sldId id="556" r:id="rId3"/>
    <p:sldId id="596" r:id="rId4"/>
    <p:sldId id="595" r:id="rId5"/>
    <p:sldId id="592" r:id="rId6"/>
  </p:sldIdLst>
  <p:sldSz cx="9144000" cy="6858000" type="screen4x3"/>
  <p:notesSz cx="7102475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49" autoAdjust="0"/>
    <p:restoredTop sz="99003" autoAdjust="0"/>
  </p:normalViewPr>
  <p:slideViewPr>
    <p:cSldViewPr>
      <p:cViewPr varScale="1">
        <p:scale>
          <a:sx n="91" d="100"/>
          <a:sy n="91" d="100"/>
        </p:scale>
        <p:origin x="57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12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7421" cy="51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t" anchorCtr="0" compatLnSpc="1">
            <a:prstTxWarp prst="textNoShape">
              <a:avLst/>
            </a:prstTxWarp>
          </a:bodyPr>
          <a:lstStyle>
            <a:lvl1pPr algn="l" defTabSz="991473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056" y="0"/>
            <a:ext cx="3077420" cy="51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t" anchorCtr="0" compatLnSpc="1">
            <a:prstTxWarp prst="textNoShape">
              <a:avLst/>
            </a:prstTxWarp>
          </a:bodyPr>
          <a:lstStyle>
            <a:lvl1pPr algn="r" defTabSz="991473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94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202"/>
            <a:ext cx="3077421" cy="5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b" anchorCtr="0" compatLnSpc="1">
            <a:prstTxWarp prst="textNoShape">
              <a:avLst/>
            </a:prstTxWarp>
          </a:bodyPr>
          <a:lstStyle>
            <a:lvl1pPr algn="l" defTabSz="991473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94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056" y="9723202"/>
            <a:ext cx="3077420" cy="5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b" anchorCtr="0" compatLnSpc="1">
            <a:prstTxWarp prst="textNoShape">
              <a:avLst/>
            </a:prstTxWarp>
          </a:bodyPr>
          <a:lstStyle>
            <a:lvl1pPr algn="r" defTabSz="991473" eaLnBrk="1" hangingPunct="1">
              <a:defRPr sz="1300"/>
            </a:lvl1pPr>
          </a:lstStyle>
          <a:p>
            <a:pPr>
              <a:defRPr/>
            </a:pPr>
            <a:fld id="{46762D28-30B2-4336-8027-B99694F245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50377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7421" cy="51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t" anchorCtr="0" compatLnSpc="1">
            <a:prstTxWarp prst="textNoShape">
              <a:avLst/>
            </a:prstTxWarp>
          </a:bodyPr>
          <a:lstStyle>
            <a:lvl1pPr algn="l" defTabSz="991473" eaLnBrk="1" hangingPunct="1">
              <a:defRPr kumimoji="1" sz="13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5056" y="0"/>
            <a:ext cx="3077420" cy="51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t" anchorCtr="0" compatLnSpc="1">
            <a:prstTxWarp prst="textNoShape">
              <a:avLst/>
            </a:prstTxWarp>
          </a:bodyPr>
          <a:lstStyle>
            <a:lvl1pPr algn="r" defTabSz="991473" eaLnBrk="1" hangingPunct="1">
              <a:defRPr kumimoji="1" sz="13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041" y="4860804"/>
            <a:ext cx="5210396" cy="4605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202"/>
            <a:ext cx="3077421" cy="5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b" anchorCtr="0" compatLnSpc="1">
            <a:prstTxWarp prst="textNoShape">
              <a:avLst/>
            </a:prstTxWarp>
          </a:bodyPr>
          <a:lstStyle>
            <a:lvl1pPr algn="l" defTabSz="991473" eaLnBrk="1" hangingPunct="1">
              <a:defRPr kumimoji="1" sz="13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056" y="9723202"/>
            <a:ext cx="3077420" cy="5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b" anchorCtr="0" compatLnSpc="1">
            <a:prstTxWarp prst="textNoShape">
              <a:avLst/>
            </a:prstTxWarp>
          </a:bodyPr>
          <a:lstStyle>
            <a:lvl1pPr algn="r" defTabSz="991473"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AD67CC4-600D-4A31-9FE2-51F4DDC1F9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88354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197B4A-BA66-41B9-B432-6C715FD86F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1773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B2AC7-699E-4987-B843-B4473D9B36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6593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46C61-A02B-4619-A700-2BCD71A3F7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4027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7ED8B-8D9E-44E5-AA63-212BBBC568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99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1465F-CF9B-45BE-900D-9BF30BAFE1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961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00997-4CB9-4ED5-ACF9-D0922BA86F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010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5DF3C-5473-465E-BC09-1E4AA2A936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495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D595C-38D6-40D9-B608-10AA57DF37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08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EE2905-C0EE-49E7-B6F4-540531D756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3143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2B726-3189-4D44-81D8-FA61323771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0208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C78844-3FA6-43A4-9410-C43A1DF316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17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172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97700" y="65357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0AF2B85F-8C32-4FCC-84BD-F52E5B678E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172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unjiasong@thsp.ee.tsinghua.edu.cn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A5C60C6B-ABBE-4E07-A303-64AC2C75F2E9}" type="slidenum">
              <a:rPr lang="en-US" altLang="zh-CN" sz="1000" smtClean="0"/>
              <a:pPr eaLnBrk="1" hangingPunct="1">
                <a:defRPr/>
              </a:pPr>
              <a:t>1</a:t>
            </a:fld>
            <a:endParaRPr lang="en-US" altLang="zh-CN" sz="1000" smtClean="0"/>
          </a:p>
        </p:txBody>
      </p:sp>
      <p:sp>
        <p:nvSpPr>
          <p:cNvPr id="365570" name="Rectangle 2"/>
          <p:cNvSpPr>
            <a:spLocks noChangeArrowheads="1"/>
          </p:cNvSpPr>
          <p:nvPr/>
        </p:nvSpPr>
        <p:spPr bwMode="auto">
          <a:xfrm>
            <a:off x="755650" y="977900"/>
            <a:ext cx="7770813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 eaLnBrk="1" hangingPunct="1">
              <a:defRPr/>
            </a:pPr>
            <a:r>
              <a:rPr lang="zh-CN" altLang="en-US" sz="5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计算机程序设计基础</a:t>
            </a:r>
            <a:r>
              <a:rPr lang="en-US" altLang="zh-CN" sz="5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(2)</a:t>
            </a:r>
          </a:p>
          <a:p>
            <a:pPr algn="ctr" eaLnBrk="1" hangingPunct="1">
              <a:defRPr/>
            </a:pPr>
            <a:r>
              <a:rPr lang="en-US" altLang="zh-CN" sz="5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---</a:t>
            </a:r>
            <a:r>
              <a:rPr lang="zh-CN" altLang="en-US" sz="5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大作业说明</a:t>
            </a:r>
            <a:endParaRPr lang="en-US" altLang="zh-CN" sz="5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charset="0"/>
            </a:endParaRPr>
          </a:p>
        </p:txBody>
      </p:sp>
      <p:sp>
        <p:nvSpPr>
          <p:cNvPr id="365571" name="Rectangle 3"/>
          <p:cNvSpPr>
            <a:spLocks noChangeArrowheads="1"/>
          </p:cNvSpPr>
          <p:nvPr/>
        </p:nvSpPr>
        <p:spPr bwMode="auto">
          <a:xfrm>
            <a:off x="698381" y="3140968"/>
            <a:ext cx="7366119" cy="326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defRPr/>
            </a:pPr>
            <a:r>
              <a:rPr kumimoji="1" lang="zh-CN" altLang="en-US" sz="4000" dirty="0">
                <a:latin typeface="Times New Roman" charset="0"/>
                <a:ea typeface="华文细黑" pitchFamily="2" charset="-122"/>
              </a:rPr>
              <a:t>孙甲松</a:t>
            </a:r>
            <a:r>
              <a:rPr kumimoji="1" lang="zh-CN" altLang="en-US" sz="2800" dirty="0">
                <a:latin typeface="Times New Roman" charset="0"/>
                <a:ea typeface="华文细黑" pitchFamily="2" charset="-122"/>
              </a:rPr>
              <a:t/>
            </a:r>
            <a:br>
              <a:rPr kumimoji="1" lang="zh-CN" altLang="en-US" sz="2800" dirty="0">
                <a:latin typeface="Times New Roman" charset="0"/>
                <a:ea typeface="华文细黑" pitchFamily="2" charset="-122"/>
              </a:rPr>
            </a:br>
            <a:r>
              <a:rPr kumimoji="1" lang="zh-CN" altLang="en-US" sz="2800" dirty="0">
                <a:latin typeface="Times New Roman" charset="0"/>
                <a:ea typeface="华文细黑" pitchFamily="2" charset="-122"/>
              </a:rPr>
              <a:t> </a:t>
            </a:r>
            <a:r>
              <a:rPr kumimoji="1" lang="en-US" altLang="zh-CN" sz="3200" dirty="0">
                <a:latin typeface="Times New Roman" charset="0"/>
                <a:ea typeface="黑体" pitchFamily="2" charset="-122"/>
                <a:hlinkClick r:id="rId2"/>
              </a:rPr>
              <a:t>sunjiasong@tsinghua.edu.cn</a:t>
            </a:r>
            <a:r>
              <a:rPr kumimoji="1" lang="en-US" altLang="zh-CN" sz="3200" dirty="0">
                <a:latin typeface="Times New Roman" charset="0"/>
                <a:ea typeface="华文细黑" pitchFamily="2" charset="-122"/>
              </a:rPr>
              <a:t> </a:t>
            </a:r>
            <a:r>
              <a:rPr kumimoji="1" lang="en-US" altLang="zh-CN" sz="3200" dirty="0">
                <a:latin typeface="Times New Roman" charset="0"/>
                <a:ea typeface="黑体" pitchFamily="2" charset="-122"/>
              </a:rPr>
              <a:t/>
            </a:r>
            <a:br>
              <a:rPr kumimoji="1" lang="en-US" altLang="zh-CN" sz="3200" dirty="0">
                <a:latin typeface="Times New Roman" charset="0"/>
                <a:ea typeface="黑体" pitchFamily="2" charset="-122"/>
              </a:rPr>
            </a:br>
            <a:r>
              <a:rPr kumimoji="1" lang="zh-CN" altLang="en-US" sz="3200" dirty="0">
                <a:latin typeface="Times New Roman" charset="0"/>
                <a:ea typeface="黑体" pitchFamily="2" charset="-122"/>
              </a:rPr>
              <a:t>电子工程系  信息认知与智能系统研究所</a:t>
            </a:r>
            <a:br>
              <a:rPr kumimoji="1" lang="zh-CN" altLang="en-US" sz="3200" dirty="0">
                <a:latin typeface="Times New Roman" charset="0"/>
                <a:ea typeface="黑体" pitchFamily="2" charset="-122"/>
              </a:rPr>
            </a:br>
            <a:r>
              <a:rPr kumimoji="1" lang="zh-CN" altLang="en-US" sz="3200" dirty="0">
                <a:latin typeface="Times New Roman" charset="0"/>
                <a:ea typeface="黑体" pitchFamily="2" charset="-122"/>
              </a:rPr>
              <a:t>罗姆楼</a:t>
            </a:r>
            <a:r>
              <a:rPr kumimoji="1" lang="en-US" altLang="zh-CN" sz="3200" dirty="0">
                <a:latin typeface="Times New Roman" charset="0"/>
                <a:ea typeface="黑体" pitchFamily="2" charset="-122"/>
              </a:rPr>
              <a:t>6-104</a:t>
            </a:r>
          </a:p>
          <a:p>
            <a:pPr algn="ctr" eaLnBrk="1" hangingPunct="1">
              <a:spcBef>
                <a:spcPct val="20000"/>
              </a:spcBef>
              <a:defRPr/>
            </a:pPr>
            <a:r>
              <a:rPr kumimoji="1" lang="zh-CN" altLang="en-US" sz="3200" dirty="0">
                <a:latin typeface="Times New Roman" charset="0"/>
                <a:ea typeface="黑体" pitchFamily="2" charset="-122"/>
              </a:rPr>
              <a:t>电话</a:t>
            </a:r>
            <a:r>
              <a:rPr kumimoji="1" lang="en-US" altLang="zh-CN" sz="3200" dirty="0">
                <a:latin typeface="Times New Roman" charset="0"/>
                <a:ea typeface="黑体" pitchFamily="2" charset="-122"/>
              </a:rPr>
              <a:t>: 62796193/13901216180</a:t>
            </a:r>
            <a:br>
              <a:rPr kumimoji="1" lang="en-US" altLang="zh-CN" sz="3200" dirty="0">
                <a:latin typeface="Times New Roman" charset="0"/>
                <a:ea typeface="黑体" pitchFamily="2" charset="-122"/>
              </a:rPr>
            </a:br>
            <a:r>
              <a:rPr kumimoji="1" lang="en-US" altLang="zh-CN" sz="3200" dirty="0" smtClean="0">
                <a:latin typeface="Times New Roman" charset="0"/>
                <a:ea typeface="黑体" pitchFamily="2" charset="-122"/>
              </a:rPr>
              <a:t>2020. </a:t>
            </a:r>
            <a:r>
              <a:rPr kumimoji="1" lang="en-US" altLang="zh-CN" sz="3200" dirty="0" smtClean="0">
                <a:latin typeface="Times New Roman" charset="0"/>
                <a:ea typeface="黑体" pitchFamily="2" charset="-122"/>
              </a:rPr>
              <a:t>5</a:t>
            </a:r>
            <a:r>
              <a:rPr kumimoji="1" lang="en-US" altLang="zh-CN" sz="3200" dirty="0">
                <a:latin typeface="Times New Roman" charset="0"/>
                <a:ea typeface="黑体" pitchFamily="2" charset="-122"/>
              </a:rPr>
              <a:t>.</a:t>
            </a:r>
            <a:endParaRPr lang="en-US" altLang="zh-CN" sz="3600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0421B963-68FE-43A3-A1F8-1C25FB438A71}" type="slidenum">
              <a:rPr lang="en-US" altLang="zh-CN" sz="1000" smtClean="0"/>
              <a:pPr eaLnBrk="1" hangingPunct="1">
                <a:defRPr/>
              </a:pPr>
              <a:t>2</a:t>
            </a:fld>
            <a:endParaRPr lang="en-US" altLang="zh-CN" sz="1000" smtClean="0"/>
          </a:p>
        </p:txBody>
      </p:sp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8229600" cy="3317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小学期大</a:t>
            </a:r>
            <a:r>
              <a:rPr lang="zh-CN" altLang="en-US" dirty="0" smtClean="0">
                <a:latin typeface="华文中宋" pitchFamily="2" charset="-122"/>
                <a:ea typeface="华文中宋" pitchFamily="2" charset="-122"/>
              </a:rPr>
              <a:t>作业</a:t>
            </a:r>
            <a:endParaRPr lang="zh-CN" altLang="en-US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6" name="Rectangle 1027"/>
          <p:cNvSpPr txBox="1">
            <a:spLocks noChangeArrowheads="1"/>
          </p:cNvSpPr>
          <p:nvPr/>
        </p:nvSpPr>
        <p:spPr bwMode="auto">
          <a:xfrm>
            <a:off x="468313" y="1412776"/>
            <a:ext cx="8208267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90000"/>
              </a:lnSpc>
              <a:buClr>
                <a:schemeClr val="tx2"/>
              </a:buClr>
              <a:buSzPct val="150000"/>
              <a:defRPr/>
            </a:pPr>
            <a:r>
              <a:rPr lang="zh-CN" altLang="en-US" sz="3200" dirty="0" smtClean="0">
                <a:latin typeface="Times New Roman" charset="0"/>
                <a:ea typeface="楷体_GB2312" pitchFamily="49" charset="-122"/>
              </a:rPr>
              <a:t>小学期大作业以上机实验为主，完成</a:t>
            </a:r>
            <a:r>
              <a:rPr lang="en-US" altLang="zh-CN" sz="3200" dirty="0" smtClean="0">
                <a:latin typeface="宋体" pitchFamily="2" charset="-122"/>
                <a:ea typeface="楷体_GB2312" pitchFamily="49" charset="-122"/>
              </a:rPr>
              <a:t>2</a:t>
            </a:r>
            <a:r>
              <a:rPr lang="zh-CN" altLang="en-US" sz="3200" dirty="0" smtClean="0">
                <a:latin typeface="Times New Roman" charset="0"/>
                <a:ea typeface="楷体_GB2312" pitchFamily="49" charset="-122"/>
              </a:rPr>
              <a:t>个大题：</a:t>
            </a:r>
            <a:endParaRPr lang="en-US" altLang="zh-CN" sz="3200" dirty="0" smtClean="0">
              <a:latin typeface="Times New Roman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3200" b="1" dirty="0" smtClean="0">
                <a:effectLst/>
              </a:rPr>
              <a:t>	</a:t>
            </a:r>
            <a:r>
              <a:rPr lang="en-US" altLang="zh-CN" sz="3200" b="1" dirty="0">
                <a:effectLst/>
              </a:rPr>
              <a:t>1</a:t>
            </a:r>
            <a:r>
              <a:rPr lang="zh-CN" altLang="en-US" sz="3200" b="1" dirty="0">
                <a:effectLst/>
              </a:rPr>
              <a:t>）学生成绩</a:t>
            </a:r>
            <a:r>
              <a:rPr lang="zh-CN" altLang="en-US" sz="3200" b="1" dirty="0" smtClean="0">
                <a:effectLst/>
              </a:rPr>
              <a:t>管理系统</a:t>
            </a:r>
            <a:endParaRPr lang="en-US" altLang="zh-CN" sz="3200" b="1" dirty="0" smtClean="0">
              <a:effectLst/>
            </a:endParaRPr>
          </a:p>
          <a:p>
            <a:pPr>
              <a:defRPr/>
            </a:pPr>
            <a:r>
              <a:rPr lang="en-US" altLang="zh-CN" sz="3200" b="1" dirty="0">
                <a:effectLst/>
              </a:rPr>
              <a:t> </a:t>
            </a:r>
            <a:r>
              <a:rPr lang="en-US" altLang="zh-CN" sz="3200" b="1" dirty="0" smtClean="0">
                <a:effectLst/>
              </a:rPr>
              <a:t>     </a:t>
            </a:r>
            <a:r>
              <a:rPr lang="zh-CN" altLang="en-US" sz="3200" b="1" dirty="0" smtClean="0">
                <a:effectLst/>
              </a:rPr>
              <a:t>（或 公司</a:t>
            </a:r>
            <a:r>
              <a:rPr lang="zh-CN" altLang="en-US" sz="3200" b="1" dirty="0">
                <a:effectLst/>
              </a:rPr>
              <a:t>人事管理系统）</a:t>
            </a:r>
          </a:p>
          <a:p>
            <a:pPr>
              <a:defRPr/>
            </a:pPr>
            <a:r>
              <a:rPr lang="en-US" altLang="zh-CN" sz="3200" b="1" dirty="0" smtClean="0">
                <a:effectLst/>
              </a:rPr>
              <a:t>   2</a:t>
            </a:r>
            <a:r>
              <a:rPr lang="zh-CN" altLang="en-US" sz="3200" b="1" dirty="0">
                <a:effectLst/>
              </a:rPr>
              <a:t>）自主创新选题</a:t>
            </a:r>
          </a:p>
          <a:p>
            <a:pPr>
              <a:defRPr/>
            </a:pPr>
            <a:r>
              <a:rPr lang="zh-CN" altLang="en-US" sz="3200" dirty="0" smtClean="0">
                <a:effectLst/>
              </a:rPr>
              <a:t>要求按照</a:t>
            </a:r>
            <a:r>
              <a:rPr lang="zh-CN" altLang="en-US" sz="3200" dirty="0">
                <a:effectLst/>
              </a:rPr>
              <a:t>任务书要求和报告样例完成</a:t>
            </a:r>
            <a:r>
              <a:rPr lang="zh-CN" altLang="en-US" sz="3200" dirty="0" smtClean="0">
                <a:effectLst/>
              </a:rPr>
              <a:t>。</a:t>
            </a:r>
            <a:endParaRPr lang="zh-CN" altLang="en-US" sz="3200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0421B963-68FE-43A3-A1F8-1C25FB438A71}" type="slidenum">
              <a:rPr lang="en-US" altLang="zh-CN" sz="1000" smtClean="0"/>
              <a:pPr eaLnBrk="1" hangingPunct="1">
                <a:defRPr/>
              </a:pPr>
              <a:t>3</a:t>
            </a:fld>
            <a:endParaRPr lang="en-US" altLang="zh-CN" sz="1000" smtClean="0"/>
          </a:p>
        </p:txBody>
      </p:sp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8229600" cy="3317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小学期大</a:t>
            </a:r>
            <a:r>
              <a:rPr lang="zh-CN" altLang="en-US" dirty="0" smtClean="0">
                <a:latin typeface="华文中宋" pitchFamily="2" charset="-122"/>
                <a:ea typeface="华文中宋" pitchFamily="2" charset="-122"/>
              </a:rPr>
              <a:t>作业</a:t>
            </a:r>
            <a:endParaRPr lang="zh-CN" altLang="en-US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6" name="Rectangle 1027"/>
          <p:cNvSpPr txBox="1">
            <a:spLocks noChangeArrowheads="1"/>
          </p:cNvSpPr>
          <p:nvPr/>
        </p:nvSpPr>
        <p:spPr bwMode="auto">
          <a:xfrm>
            <a:off x="468313" y="1412776"/>
            <a:ext cx="8208267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90000"/>
              </a:lnSpc>
              <a:buClr>
                <a:schemeClr val="tx2"/>
              </a:buClr>
              <a:buSzPct val="150000"/>
              <a:defRPr/>
            </a:pPr>
            <a:r>
              <a:rPr lang="zh-CN" altLang="en-US" sz="3200" dirty="0">
                <a:latin typeface="Times New Roman" charset="0"/>
                <a:ea typeface="楷体_GB2312" pitchFamily="49" charset="-122"/>
              </a:rPr>
              <a:t>在大作业布置后，</a:t>
            </a:r>
            <a:r>
              <a:rPr lang="zh-CN" altLang="en-US" sz="3200" dirty="0" smtClean="0">
                <a:latin typeface="Times New Roman" charset="0"/>
                <a:ea typeface="楷体_GB2312" pitchFamily="49" charset="-122"/>
              </a:rPr>
              <a:t>我们会在</a:t>
            </a:r>
            <a:r>
              <a:rPr lang="zh-CN" altLang="en-US" sz="3200" dirty="0">
                <a:latin typeface="Times New Roman" charset="0"/>
                <a:ea typeface="楷体_GB2312" pitchFamily="49" charset="-122"/>
              </a:rPr>
              <a:t>网络学堂上开一个“选题”作业窗口。同学们可以选择示例中的题目，也可以自定题目。根据所选择的题目，写一个简短的选题</a:t>
            </a:r>
            <a:r>
              <a:rPr lang="zh-CN" altLang="en-US" sz="3200" dirty="0" smtClean="0">
                <a:latin typeface="Times New Roman" charset="0"/>
                <a:ea typeface="楷体_GB2312" pitchFamily="49" charset="-122"/>
              </a:rPr>
              <a:t>报告提交到“选题”中，</a:t>
            </a:r>
            <a:r>
              <a:rPr lang="zh-CN" altLang="en-US" sz="3200" dirty="0">
                <a:latin typeface="Times New Roman" charset="0"/>
                <a:ea typeface="楷体_GB2312" pitchFamily="49" charset="-122"/>
              </a:rPr>
              <a:t>给</a:t>
            </a:r>
            <a:r>
              <a:rPr lang="zh-CN" altLang="en-US" sz="3200" dirty="0" smtClean="0">
                <a:latin typeface="Times New Roman" charset="0"/>
                <a:ea typeface="楷体_GB2312" pitchFamily="49" charset="-122"/>
              </a:rPr>
              <a:t>出你的两个题目的选题</a:t>
            </a:r>
            <a:r>
              <a:rPr lang="zh-CN" altLang="en-US" sz="3200" dirty="0">
                <a:latin typeface="Times New Roman" charset="0"/>
                <a:ea typeface="楷体_GB2312" pitchFamily="49" charset="-122"/>
              </a:rPr>
              <a:t>名称，简单的系统框架，使用的编程技术以及工作量估计。由助教判断是否可行</a:t>
            </a:r>
            <a:r>
              <a:rPr lang="zh-CN" altLang="en-US" sz="3200" dirty="0" smtClean="0">
                <a:latin typeface="Times New Roman" charset="0"/>
                <a:ea typeface="楷体_GB2312" pitchFamily="49" charset="-122"/>
              </a:rPr>
              <a:t>，助教同意之后再进行</a:t>
            </a:r>
            <a:r>
              <a:rPr lang="zh-CN" altLang="en-US" sz="3200" dirty="0">
                <a:latin typeface="Times New Roman" charset="0"/>
                <a:ea typeface="楷体_GB2312" pitchFamily="49" charset="-122"/>
              </a:rPr>
              <a:t>大作业的编写。</a:t>
            </a:r>
            <a:endParaRPr lang="zh-CN" alt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9532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C44D42C9-5F14-463E-AE53-0DD93EDF4DFF}" type="slidenum">
              <a:rPr lang="en-US" altLang="zh-CN" sz="1000" smtClean="0"/>
              <a:pPr eaLnBrk="1" hangingPunct="1">
                <a:defRPr/>
              </a:pPr>
              <a:t>4</a:t>
            </a:fld>
            <a:endParaRPr lang="en-US" altLang="zh-CN" sz="1000" smtClean="0"/>
          </a:p>
        </p:txBody>
      </p:sp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229600" cy="3317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小学期大</a:t>
            </a:r>
            <a:r>
              <a:rPr lang="zh-CN" altLang="en-US" dirty="0" smtClean="0">
                <a:latin typeface="华文中宋" pitchFamily="2" charset="-122"/>
                <a:ea typeface="华文中宋" pitchFamily="2" charset="-122"/>
              </a:rPr>
              <a:t>作业</a:t>
            </a:r>
            <a:endParaRPr lang="zh-CN" altLang="en-US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6148" name="Rectangle 1027"/>
          <p:cNvSpPr txBox="1">
            <a:spLocks noChangeArrowheads="1"/>
          </p:cNvSpPr>
          <p:nvPr/>
        </p:nvSpPr>
        <p:spPr bwMode="auto">
          <a:xfrm>
            <a:off x="539552" y="890396"/>
            <a:ext cx="8280920" cy="5645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/>
              <a:t>实验时间安排与要求：大体</a:t>
            </a:r>
            <a:r>
              <a:rPr lang="zh-CN" altLang="en-US" sz="3200" dirty="0" smtClean="0"/>
              <a:t>分成四组</a:t>
            </a:r>
            <a:r>
              <a:rPr lang="en-US" altLang="zh-CN" sz="3200" dirty="0"/>
              <a:t>:</a:t>
            </a:r>
          </a:p>
          <a:p>
            <a:r>
              <a:rPr lang="zh-CN" altLang="zh-CN" sz="3200" dirty="0"/>
              <a:t>第一组：</a:t>
            </a:r>
            <a:r>
              <a:rPr lang="zh-CN" altLang="en-US" sz="3200" dirty="0" smtClean="0"/>
              <a:t>无</a:t>
            </a:r>
            <a:r>
              <a:rPr lang="en-US" altLang="zh-CN" sz="3200" dirty="0" smtClean="0"/>
              <a:t>91</a:t>
            </a:r>
            <a:r>
              <a:rPr lang="zh-CN" altLang="en-US" sz="3200" dirty="0" smtClean="0"/>
              <a:t>、</a:t>
            </a:r>
            <a:r>
              <a:rPr lang="zh-CN" altLang="zh-CN" sz="3200" dirty="0" smtClean="0"/>
              <a:t>无</a:t>
            </a:r>
            <a:r>
              <a:rPr lang="en-US" altLang="zh-CN" sz="3200" dirty="0" smtClean="0"/>
              <a:t>92</a:t>
            </a:r>
            <a:r>
              <a:rPr lang="zh-CN" altLang="zh-CN" sz="3200" dirty="0"/>
              <a:t>、</a:t>
            </a:r>
            <a:r>
              <a:rPr lang="zh-CN" altLang="zh-CN" sz="3200" dirty="0" smtClean="0"/>
              <a:t>无</a:t>
            </a:r>
            <a:r>
              <a:rPr lang="en-US" altLang="zh-CN" sz="3200" dirty="0" smtClean="0"/>
              <a:t>9</a:t>
            </a:r>
            <a:r>
              <a:rPr lang="zh-CN" altLang="zh-CN" sz="3200" dirty="0" smtClean="0"/>
              <a:t>3</a:t>
            </a:r>
            <a:endParaRPr lang="en-US" altLang="zh-CN" sz="3200" dirty="0"/>
          </a:p>
          <a:p>
            <a:r>
              <a:rPr lang="zh-CN" altLang="zh-CN" sz="3200" dirty="0"/>
              <a:t>第二组：</a:t>
            </a:r>
            <a:r>
              <a:rPr lang="zh-CN" altLang="zh-CN" sz="3200" dirty="0" smtClean="0"/>
              <a:t>无</a:t>
            </a:r>
            <a:r>
              <a:rPr lang="en-US" altLang="zh-CN" sz="3200" dirty="0" smtClean="0"/>
              <a:t>9</a:t>
            </a:r>
            <a:r>
              <a:rPr lang="zh-CN" altLang="zh-CN" sz="3200" dirty="0" smtClean="0"/>
              <a:t>4</a:t>
            </a:r>
            <a:r>
              <a:rPr lang="zh-CN" altLang="zh-CN" sz="3200" dirty="0"/>
              <a:t>、</a:t>
            </a:r>
            <a:r>
              <a:rPr lang="zh-CN" altLang="zh-CN" sz="3200" dirty="0" smtClean="0"/>
              <a:t>无</a:t>
            </a:r>
            <a:r>
              <a:rPr lang="en-US" altLang="zh-CN" sz="3200" dirty="0" smtClean="0"/>
              <a:t>9</a:t>
            </a:r>
            <a:r>
              <a:rPr lang="zh-CN" altLang="zh-CN" sz="3200" dirty="0" smtClean="0"/>
              <a:t>5</a:t>
            </a:r>
            <a:r>
              <a:rPr lang="zh-CN" altLang="zh-CN" sz="3200" dirty="0"/>
              <a:t>、</a:t>
            </a:r>
            <a:r>
              <a:rPr lang="zh-CN" altLang="zh-CN" sz="3200" dirty="0" smtClean="0"/>
              <a:t>无</a:t>
            </a:r>
            <a:r>
              <a:rPr lang="en-US" altLang="zh-CN" sz="3200" dirty="0" smtClean="0"/>
              <a:t>9</a:t>
            </a:r>
            <a:r>
              <a:rPr lang="zh-CN" altLang="zh-CN" sz="3200" dirty="0" smtClean="0"/>
              <a:t>6</a:t>
            </a:r>
            <a:endParaRPr lang="en-US" altLang="zh-CN" sz="3200" dirty="0"/>
          </a:p>
          <a:p>
            <a:r>
              <a:rPr lang="zh-CN" altLang="zh-CN" sz="3200" dirty="0"/>
              <a:t>第三组：</a:t>
            </a:r>
            <a:r>
              <a:rPr lang="zh-CN" altLang="zh-CN" sz="3200" dirty="0" smtClean="0"/>
              <a:t>无</a:t>
            </a:r>
            <a:r>
              <a:rPr lang="en-US" altLang="zh-CN" sz="3200" dirty="0" smtClean="0"/>
              <a:t>97</a:t>
            </a:r>
            <a:r>
              <a:rPr lang="zh-CN" altLang="zh-CN" sz="3200" dirty="0"/>
              <a:t>、</a:t>
            </a:r>
            <a:r>
              <a:rPr lang="zh-CN" altLang="zh-CN" sz="3200" dirty="0" smtClean="0"/>
              <a:t>无</a:t>
            </a:r>
            <a:r>
              <a:rPr lang="en-US" altLang="zh-CN" sz="3200" dirty="0" smtClean="0"/>
              <a:t>98</a:t>
            </a:r>
            <a:endParaRPr lang="en-US" altLang="zh-CN" sz="3200" dirty="0" smtClean="0"/>
          </a:p>
          <a:p>
            <a:r>
              <a:rPr lang="zh-CN" altLang="zh-CN" sz="3200" dirty="0" smtClean="0"/>
              <a:t>第</a:t>
            </a:r>
            <a:r>
              <a:rPr lang="zh-CN" altLang="en-US" sz="3200" dirty="0" smtClean="0"/>
              <a:t>四</a:t>
            </a:r>
            <a:r>
              <a:rPr lang="zh-CN" altLang="zh-CN" sz="3200" dirty="0" smtClean="0"/>
              <a:t>组</a:t>
            </a:r>
            <a:r>
              <a:rPr lang="zh-CN" altLang="zh-CN" sz="3200" dirty="0" smtClean="0"/>
              <a:t>：</a:t>
            </a:r>
            <a:r>
              <a:rPr lang="zh-CN" altLang="en-US" sz="3200" dirty="0" smtClean="0"/>
              <a:t>生医</a:t>
            </a:r>
            <a:r>
              <a:rPr lang="en-US" altLang="zh-CN" sz="3200" dirty="0" smtClean="0"/>
              <a:t>91</a:t>
            </a:r>
            <a:r>
              <a:rPr lang="zh-CN" altLang="en-US" sz="3200" dirty="0" smtClean="0"/>
              <a:t>，其他选修同学</a:t>
            </a:r>
            <a:endParaRPr lang="en-US" altLang="zh-CN" sz="3200" dirty="0" smtClean="0"/>
          </a:p>
          <a:p>
            <a:r>
              <a:rPr lang="zh-CN" altLang="en-US" sz="3200" u="sng" dirty="0" smtClean="0"/>
              <a:t>要求</a:t>
            </a:r>
            <a:r>
              <a:rPr lang="zh-CN" altLang="en-US" sz="3200" dirty="0" smtClean="0"/>
              <a:t>：小学期</a:t>
            </a:r>
            <a:r>
              <a:rPr lang="zh-CN" altLang="en-US" sz="3200" dirty="0" smtClean="0"/>
              <a:t>第</a:t>
            </a:r>
            <a:r>
              <a:rPr lang="en-US" altLang="zh-CN" sz="3200" dirty="0" smtClean="0"/>
              <a:t>10-11</a:t>
            </a:r>
            <a:r>
              <a:rPr lang="zh-CN" altLang="en-US" sz="3200" dirty="0" smtClean="0"/>
              <a:t>周</a:t>
            </a:r>
            <a:r>
              <a:rPr lang="zh-CN" altLang="en-US" sz="3200" dirty="0" smtClean="0"/>
              <a:t>，每人每天一个时间单位上机。同学</a:t>
            </a:r>
            <a:r>
              <a:rPr lang="zh-CN" altLang="en-US" sz="3200" dirty="0"/>
              <a:t>除非有特殊情况跟授课教师请假打招呼外，未在网上提交实验报告之前，必须按照时间表去主楼九楼机房</a:t>
            </a:r>
            <a:r>
              <a:rPr lang="zh-CN" altLang="en-US" sz="3200" dirty="0" smtClean="0"/>
              <a:t>上机</a:t>
            </a:r>
            <a:r>
              <a:rPr lang="en-US" altLang="zh-CN" sz="3200" dirty="0" smtClean="0"/>
              <a:t>(</a:t>
            </a:r>
            <a:r>
              <a:rPr lang="zh-CN" altLang="en-US" sz="3200" dirty="0" smtClean="0"/>
              <a:t>用自己的笔记本也要带着去机房上机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。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9A81AC26-12AB-48EE-AA79-D69A5CB38015}" type="slidenum">
              <a:rPr lang="en-US" altLang="zh-CN" sz="1000" smtClean="0"/>
              <a:pPr eaLnBrk="1" hangingPunct="1">
                <a:defRPr/>
              </a:pPr>
              <a:t>5</a:t>
            </a:fld>
            <a:endParaRPr lang="en-US" altLang="zh-CN" sz="100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549598"/>
              </p:ext>
            </p:extLst>
          </p:nvPr>
        </p:nvGraphicFramePr>
        <p:xfrm>
          <a:off x="683568" y="188641"/>
          <a:ext cx="7992888" cy="6459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2148"/>
                <a:gridCol w="1332148"/>
                <a:gridCol w="1332148"/>
                <a:gridCol w="1332148"/>
                <a:gridCol w="1332148"/>
                <a:gridCol w="1332148"/>
              </a:tblGrid>
              <a:tr h="275270"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600421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zh-CN" altLang="en-US" sz="4000" u="none" strike="noStrike" dirty="0">
                          <a:effectLst/>
                        </a:rPr>
                        <a:t>小学期上机安排</a:t>
                      </a:r>
                      <a:endParaRPr lang="zh-CN" altLang="en-US" sz="40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75270"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altLang="zh-CN" sz="1800" u="none" strike="noStrike" dirty="0" smtClean="0">
                          <a:effectLst/>
                        </a:rPr>
                        <a:t>8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月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31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日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altLang="zh-CN" sz="1800" u="none" strike="noStrike" dirty="0" smtClean="0">
                          <a:effectLst/>
                        </a:rPr>
                        <a:t>9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月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1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日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altLang="zh-CN" sz="1800" u="none" strike="noStrike" dirty="0" smtClean="0">
                          <a:effectLst/>
                        </a:rPr>
                        <a:t>9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月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2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日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altLang="zh-CN" sz="1800" u="none" strike="noStrike" dirty="0" smtClean="0">
                          <a:effectLst/>
                        </a:rPr>
                        <a:t>9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月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3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日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altLang="zh-CN" sz="1800" u="none" strike="noStrike" dirty="0" smtClean="0">
                          <a:effectLst/>
                        </a:rPr>
                        <a:t>9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月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4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日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　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>
                          <a:effectLst/>
                        </a:rPr>
                        <a:t>星期一</a:t>
                      </a:r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星期二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>
                          <a:effectLst/>
                        </a:rPr>
                        <a:t>星期三</a:t>
                      </a:r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>
                          <a:effectLst/>
                        </a:rPr>
                        <a:t>星期四</a:t>
                      </a:r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>
                          <a:effectLst/>
                        </a:rPr>
                        <a:t>星期五</a:t>
                      </a:r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   上午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第一组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第二组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第三组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第四组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第一组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   中午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第二组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第三组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第四组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第一组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第二组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   下午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1" i="0" u="none" strike="noStrike" dirty="0" smtClean="0">
                          <a:effectLst/>
                          <a:latin typeface="宋体"/>
                        </a:rPr>
                        <a:t>第三组</a:t>
                      </a:r>
                      <a:endParaRPr lang="zh-CN" altLang="en-US" sz="1800" b="1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第四组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第一组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第二组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第三组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   晚上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第四组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第一组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第二组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第三组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第四组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i="0" u="none" strike="noStrike" dirty="0" smtClean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i="0" u="none" strike="noStrike" dirty="0" smtClean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altLang="zh-CN" sz="1800" u="none" strike="noStrike" dirty="0" smtClean="0">
                          <a:effectLst/>
                        </a:rPr>
                        <a:t>9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月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7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日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altLang="zh-CN" sz="1800" u="none" strike="noStrike" dirty="0" smtClean="0">
                          <a:effectLst/>
                        </a:rPr>
                        <a:t>9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月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8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日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altLang="zh-CN" sz="1800" u="none" strike="noStrike" dirty="0" smtClean="0">
                          <a:effectLst/>
                        </a:rPr>
                        <a:t>9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月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9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日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altLang="zh-CN" sz="1800" u="none" strike="noStrike" dirty="0" smtClean="0">
                          <a:effectLst/>
                        </a:rPr>
                        <a:t>9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月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10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日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altLang="zh-CN" sz="1800" u="none" strike="noStrike" dirty="0" smtClean="0">
                          <a:effectLst/>
                        </a:rPr>
                        <a:t>9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月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11</a:t>
                      </a:r>
                      <a:r>
                        <a:rPr lang="zh-CN" altLang="en-US" sz="1800" u="none" strike="noStrike" dirty="0" smtClean="0">
                          <a:effectLst/>
                        </a:rPr>
                        <a:t>日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　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星期一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星期二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星期三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星期四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星期五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   上午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第二组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第三组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第四组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第一组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第二组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   中午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第三组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第四组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第一组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第二组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第三组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   下午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第四组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第一组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1" u="none" strike="noStrike" dirty="0" smtClean="0">
                          <a:effectLst/>
                        </a:rPr>
                        <a:t>第二组</a:t>
                      </a:r>
                      <a:endParaRPr lang="zh-CN" altLang="en-US" sz="1800" b="1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 dirty="0" smtClean="0">
                          <a:effectLst/>
                          <a:latin typeface="宋体"/>
                        </a:rPr>
                        <a:t>第三组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第四组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   晚上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第一组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第二组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第三组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第四组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 smtClean="0">
                          <a:effectLst/>
                        </a:rPr>
                        <a:t>第一组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 gridSpan="3">
                  <a:txBody>
                    <a:bodyPr/>
                    <a:lstStyle/>
                    <a:p>
                      <a:pPr algn="ctr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zh-CN" altLang="en-US" sz="1800" u="none" strike="noStrike" dirty="0" smtClean="0">
                          <a:effectLst/>
                        </a:rPr>
                        <a:t>上午：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8:00~11:30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altLang="zh-CN" sz="1800" b="0" i="0" u="none" strike="noStrike" dirty="0" smtClean="0">
                          <a:effectLst/>
                          <a:latin typeface="宋体"/>
                        </a:rPr>
                        <a:t> 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zh-CN" altLang="en-US" sz="1800" u="none" strike="noStrike" dirty="0" smtClean="0">
                          <a:effectLst/>
                        </a:rPr>
                        <a:t>  中午：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11:30~15:00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35471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zh-CN" altLang="en-US" sz="1800" u="none" strike="noStrike" dirty="0" smtClean="0">
                          <a:effectLst/>
                        </a:rPr>
                        <a:t>    下午：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15:00 ~ 18:30   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35471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zh-CN" altLang="en-US" sz="1800" u="none" strike="noStrike" dirty="0" smtClean="0">
                          <a:effectLst/>
                        </a:rPr>
                        <a:t>   晚上：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18:30~22:00</a:t>
                      </a:r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75270">
                <a:tc gridSpan="4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800" b="0" i="0" u="none" strike="noStrike" dirty="0"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讲义模板_20040621_">
  <a:themeElements>
    <a:clrScheme name="讲义模板_20040621_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讲义模板_20040621_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讲义模板_20040621_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E:\private\kt\赛笛网\讲义模板_20040621_.pot</Template>
  <TotalTime>25951</TotalTime>
  <Words>414</Words>
  <Application>Microsoft Office PowerPoint</Application>
  <PresentationFormat>全屏显示(4:3)</PresentationFormat>
  <Paragraphs>100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黑体</vt:lpstr>
      <vt:lpstr>华文行楷</vt:lpstr>
      <vt:lpstr>华文细黑</vt:lpstr>
      <vt:lpstr>华文中宋</vt:lpstr>
      <vt:lpstr>楷体_GB2312</vt:lpstr>
      <vt:lpstr>宋体</vt:lpstr>
      <vt:lpstr>Arial</vt:lpstr>
      <vt:lpstr>Times New Roman</vt:lpstr>
      <vt:lpstr>Verdana</vt:lpstr>
      <vt:lpstr>Wingdings</vt:lpstr>
      <vt:lpstr>讲义模板_20040621_</vt:lpstr>
      <vt:lpstr>PowerPoint 演示文稿</vt:lpstr>
      <vt:lpstr>小学期大作业</vt:lpstr>
      <vt:lpstr>小学期大作业</vt:lpstr>
      <vt:lpstr>小学期大作业</vt:lpstr>
      <vt:lpstr>PowerPoint 演示文稿</vt:lpstr>
    </vt:vector>
  </TitlesOfParts>
  <Company>thu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C++程序设计</dc:title>
  <dc:creator>sun</dc:creator>
  <cp:lastModifiedBy>sun</cp:lastModifiedBy>
  <cp:revision>205</cp:revision>
  <cp:lastPrinted>2019-05-28T03:22:32Z</cp:lastPrinted>
  <dcterms:created xsi:type="dcterms:W3CDTF">2004-03-13T10:01:09Z</dcterms:created>
  <dcterms:modified xsi:type="dcterms:W3CDTF">2020-05-11T16:09:43Z</dcterms:modified>
</cp:coreProperties>
</file>