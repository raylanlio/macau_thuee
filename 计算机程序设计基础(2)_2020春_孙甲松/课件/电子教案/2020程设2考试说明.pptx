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11"/>
  </p:notesMasterIdLst>
  <p:handoutMasterIdLst>
    <p:handoutMasterId r:id="rId12"/>
  </p:handoutMasterIdLst>
  <p:sldIdLst>
    <p:sldId id="594" r:id="rId2"/>
    <p:sldId id="555" r:id="rId3"/>
    <p:sldId id="557" r:id="rId4"/>
    <p:sldId id="558" r:id="rId5"/>
    <p:sldId id="597" r:id="rId6"/>
    <p:sldId id="599" r:id="rId7"/>
    <p:sldId id="600" r:id="rId8"/>
    <p:sldId id="601" r:id="rId9"/>
    <p:sldId id="595" r:id="rId10"/>
  </p:sldIdLst>
  <p:sldSz cx="9144000" cy="6858000" type="screen4x3"/>
  <p:notesSz cx="7102475" cy="1023461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49" autoAdjust="0"/>
    <p:restoredTop sz="99003" autoAdjust="0"/>
  </p:normalViewPr>
  <p:slideViewPr>
    <p:cSldViewPr>
      <p:cViewPr varScale="1">
        <p:scale>
          <a:sx n="91" d="100"/>
          <a:sy n="91" d="100"/>
        </p:scale>
        <p:origin x="57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124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7421" cy="511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56" tIns="49528" rIns="99056" bIns="49528" numCol="1" anchor="t" anchorCtr="0" compatLnSpc="1">
            <a:prstTxWarp prst="textNoShape">
              <a:avLst/>
            </a:prstTxWarp>
          </a:bodyPr>
          <a:lstStyle>
            <a:lvl1pPr algn="l" defTabSz="991473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594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5056" y="0"/>
            <a:ext cx="3077420" cy="511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56" tIns="49528" rIns="99056" bIns="49528" numCol="1" anchor="t" anchorCtr="0" compatLnSpc="1">
            <a:prstTxWarp prst="textNoShape">
              <a:avLst/>
            </a:prstTxWarp>
          </a:bodyPr>
          <a:lstStyle>
            <a:lvl1pPr algn="r" defTabSz="991473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594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202"/>
            <a:ext cx="3077421" cy="511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56" tIns="49528" rIns="99056" bIns="49528" numCol="1" anchor="b" anchorCtr="0" compatLnSpc="1">
            <a:prstTxWarp prst="textNoShape">
              <a:avLst/>
            </a:prstTxWarp>
          </a:bodyPr>
          <a:lstStyle>
            <a:lvl1pPr algn="l" defTabSz="991473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594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5056" y="9723202"/>
            <a:ext cx="3077420" cy="511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56" tIns="49528" rIns="99056" bIns="49528" numCol="1" anchor="b" anchorCtr="0" compatLnSpc="1">
            <a:prstTxWarp prst="textNoShape">
              <a:avLst/>
            </a:prstTxWarp>
          </a:bodyPr>
          <a:lstStyle>
            <a:lvl1pPr algn="r" defTabSz="991473" eaLnBrk="1" hangingPunct="1">
              <a:defRPr sz="1300"/>
            </a:lvl1pPr>
          </a:lstStyle>
          <a:p>
            <a:pPr>
              <a:defRPr/>
            </a:pPr>
            <a:fld id="{69314D96-3378-4174-9613-5D66A8E86B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82003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7421" cy="511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56" tIns="49528" rIns="99056" bIns="49528" numCol="1" anchor="t" anchorCtr="0" compatLnSpc="1">
            <a:prstTxWarp prst="textNoShape">
              <a:avLst/>
            </a:prstTxWarp>
          </a:bodyPr>
          <a:lstStyle>
            <a:lvl1pPr algn="l" defTabSz="991473" eaLnBrk="1" hangingPunct="1">
              <a:defRPr kumimoji="1" sz="1300">
                <a:latin typeface="Times New Roman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5056" y="0"/>
            <a:ext cx="3077420" cy="511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56" tIns="49528" rIns="99056" bIns="49528" numCol="1" anchor="t" anchorCtr="0" compatLnSpc="1">
            <a:prstTxWarp prst="textNoShape">
              <a:avLst/>
            </a:prstTxWarp>
          </a:bodyPr>
          <a:lstStyle>
            <a:lvl1pPr algn="r" defTabSz="991473" eaLnBrk="1" hangingPunct="1">
              <a:defRPr kumimoji="1" sz="1300">
                <a:latin typeface="Times New Roman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3775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041" y="4860804"/>
            <a:ext cx="5210396" cy="46058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56" tIns="49528" rIns="99056" bIns="4952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202"/>
            <a:ext cx="3077421" cy="511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56" tIns="49528" rIns="99056" bIns="49528" numCol="1" anchor="b" anchorCtr="0" compatLnSpc="1">
            <a:prstTxWarp prst="textNoShape">
              <a:avLst/>
            </a:prstTxWarp>
          </a:bodyPr>
          <a:lstStyle>
            <a:lvl1pPr algn="l" defTabSz="991473" eaLnBrk="1" hangingPunct="1">
              <a:defRPr kumimoji="1" sz="1300">
                <a:latin typeface="Times New Roman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5056" y="9723202"/>
            <a:ext cx="3077420" cy="511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56" tIns="49528" rIns="99056" bIns="49528" numCol="1" anchor="b" anchorCtr="0" compatLnSpc="1">
            <a:prstTxWarp prst="textNoShape">
              <a:avLst/>
            </a:prstTxWarp>
          </a:bodyPr>
          <a:lstStyle>
            <a:lvl1pPr algn="r" defTabSz="991473" eaLnBrk="1" hangingPunct="1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FC62E76-5876-4F9F-85EB-C280D44722B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70499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F9A922-05B2-477E-BF8A-671BD395FF3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9396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622DE9-EC4F-4892-AFE3-9D098C9507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9640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838A4F-5D56-457E-8170-FACB0E37712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8943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6E1E94-6EFE-4C61-983C-1E6F605F5D5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9281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7CB3CC-D522-4E43-9049-34187D4AF2C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6432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679AF6-D585-4656-B8C7-DE7E343430D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0904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E33378-E9F3-4370-9CBB-3DE87CE9B80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4130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DBDBBC-1775-49CB-A9EB-9C9D650F905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2500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1F593F-9370-4E77-8D7E-8B4BC2BE410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0390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98AC2D-543F-40BA-B627-07CB2D373B7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6269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F82286-E0C7-4570-B6AF-6EED4ED3387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0578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00285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9" name="Rectangle 39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71722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97700" y="65357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fld id="{C38F7EFD-A464-4BF2-951A-1B9305887B6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1723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un@thsp.ee.tsinghua.edu.cn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52860F20-1049-4DA4-B547-01E8D80159C8}" type="slidenum">
              <a:rPr lang="en-US" altLang="zh-CN" sz="1000" smtClean="0"/>
              <a:pPr eaLnBrk="1" hangingPunct="1">
                <a:defRPr/>
              </a:pPr>
              <a:t>1</a:t>
            </a:fld>
            <a:endParaRPr lang="en-US" altLang="zh-CN" sz="1000" smtClean="0"/>
          </a:p>
        </p:txBody>
      </p:sp>
      <p:sp>
        <p:nvSpPr>
          <p:cNvPr id="365570" name="Rectangle 2"/>
          <p:cNvSpPr>
            <a:spLocks noChangeArrowheads="1"/>
          </p:cNvSpPr>
          <p:nvPr/>
        </p:nvSpPr>
        <p:spPr bwMode="auto">
          <a:xfrm>
            <a:off x="762000" y="11430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/>
          <a:p>
            <a:pPr algn="ctr" eaLnBrk="1" hangingPunct="1">
              <a:defRPr/>
            </a:pPr>
            <a:r>
              <a:rPr lang="zh-CN" altLang="en-US" sz="5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</a:rPr>
              <a:t>计算机程序设计基础</a:t>
            </a:r>
            <a:r>
              <a:rPr lang="en-US" altLang="zh-CN" sz="5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</a:rPr>
              <a:t>(2)</a:t>
            </a:r>
          </a:p>
          <a:p>
            <a:pPr algn="ctr" eaLnBrk="1" hangingPunct="1">
              <a:defRPr/>
            </a:pPr>
            <a:r>
              <a:rPr lang="en-US" altLang="zh-CN" sz="5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</a:rPr>
              <a:t>---</a:t>
            </a:r>
            <a:r>
              <a:rPr lang="zh-CN" altLang="en-US" sz="5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</a:rPr>
              <a:t>考试说明</a:t>
            </a:r>
            <a:endParaRPr lang="en-US" altLang="zh-CN" sz="5400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charset="0"/>
            </a:endParaRPr>
          </a:p>
        </p:txBody>
      </p:sp>
      <p:sp>
        <p:nvSpPr>
          <p:cNvPr id="365571" name="Rectangle 3"/>
          <p:cNvSpPr>
            <a:spLocks noChangeArrowheads="1"/>
          </p:cNvSpPr>
          <p:nvPr/>
        </p:nvSpPr>
        <p:spPr bwMode="auto">
          <a:xfrm>
            <a:off x="600075" y="2757488"/>
            <a:ext cx="7572375" cy="3878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20000"/>
              </a:spcBef>
              <a:defRPr/>
            </a:pPr>
            <a:r>
              <a:rPr kumimoji="1" lang="zh-CN" altLang="en-US" sz="4000" dirty="0">
                <a:latin typeface="Times New Roman" charset="0"/>
                <a:ea typeface="华文细黑" pitchFamily="2" charset="-122"/>
              </a:rPr>
              <a:t>孙甲松</a:t>
            </a:r>
            <a:r>
              <a:rPr kumimoji="1" lang="zh-CN" altLang="en-US" sz="2800" dirty="0">
                <a:latin typeface="Times New Roman" charset="0"/>
                <a:ea typeface="华文细黑" pitchFamily="2" charset="-122"/>
              </a:rPr>
              <a:t/>
            </a:r>
            <a:br>
              <a:rPr kumimoji="1" lang="zh-CN" altLang="en-US" sz="2800" dirty="0">
                <a:latin typeface="Times New Roman" charset="0"/>
                <a:ea typeface="华文细黑" pitchFamily="2" charset="-122"/>
              </a:rPr>
            </a:br>
            <a:r>
              <a:rPr kumimoji="1" lang="zh-CN" altLang="en-US" sz="2800" dirty="0">
                <a:latin typeface="Times New Roman" charset="0"/>
                <a:ea typeface="华文细黑" pitchFamily="2" charset="-122"/>
              </a:rPr>
              <a:t> </a:t>
            </a:r>
            <a:r>
              <a:rPr kumimoji="1" lang="en-US" altLang="zh-CN" sz="3200" dirty="0">
                <a:latin typeface="Times New Roman" charset="0"/>
                <a:ea typeface="黑体" pitchFamily="2" charset="-122"/>
                <a:hlinkClick r:id="rId2"/>
              </a:rPr>
              <a:t>sunjiasong@tsinghua.edu.cn</a:t>
            </a:r>
            <a:r>
              <a:rPr kumimoji="1" lang="en-US" altLang="zh-CN" sz="3200" dirty="0">
                <a:latin typeface="Times New Roman" charset="0"/>
                <a:ea typeface="华文细黑" pitchFamily="2" charset="-122"/>
              </a:rPr>
              <a:t> </a:t>
            </a:r>
            <a:r>
              <a:rPr kumimoji="1" lang="en-US" altLang="zh-CN" sz="3200" dirty="0">
                <a:latin typeface="Times New Roman" charset="0"/>
                <a:ea typeface="黑体" pitchFamily="2" charset="-122"/>
              </a:rPr>
              <a:t/>
            </a:r>
            <a:br>
              <a:rPr kumimoji="1" lang="en-US" altLang="zh-CN" sz="3200" dirty="0">
                <a:latin typeface="Times New Roman" charset="0"/>
                <a:ea typeface="黑体" pitchFamily="2" charset="-122"/>
              </a:rPr>
            </a:br>
            <a:r>
              <a:rPr kumimoji="1" lang="zh-CN" altLang="en-US" sz="3200" dirty="0">
                <a:latin typeface="Times New Roman" charset="0"/>
                <a:ea typeface="黑体" pitchFamily="2" charset="-122"/>
              </a:rPr>
              <a:t>电子工程系  信息认知与智能系统研究所</a:t>
            </a:r>
            <a:br>
              <a:rPr kumimoji="1" lang="zh-CN" altLang="en-US" sz="3200" dirty="0">
                <a:latin typeface="Times New Roman" charset="0"/>
                <a:ea typeface="黑体" pitchFamily="2" charset="-122"/>
              </a:rPr>
            </a:br>
            <a:r>
              <a:rPr kumimoji="1" lang="zh-CN" altLang="en-US" sz="3200" dirty="0">
                <a:latin typeface="Times New Roman" charset="0"/>
                <a:ea typeface="黑体" pitchFamily="2" charset="-122"/>
              </a:rPr>
              <a:t>罗姆楼</a:t>
            </a:r>
            <a:r>
              <a:rPr kumimoji="1" lang="en-US" altLang="zh-CN" sz="3200" dirty="0">
                <a:latin typeface="Times New Roman" charset="0"/>
                <a:ea typeface="黑体" pitchFamily="2" charset="-122"/>
              </a:rPr>
              <a:t>6-104</a:t>
            </a:r>
          </a:p>
          <a:p>
            <a:pPr algn="ctr" eaLnBrk="1" hangingPunct="1">
              <a:spcBef>
                <a:spcPct val="20000"/>
              </a:spcBef>
              <a:defRPr/>
            </a:pPr>
            <a:r>
              <a:rPr kumimoji="1" lang="zh-CN" altLang="en-US" sz="3200" dirty="0">
                <a:latin typeface="Times New Roman" charset="0"/>
                <a:ea typeface="黑体" pitchFamily="2" charset="-122"/>
              </a:rPr>
              <a:t>电话</a:t>
            </a:r>
            <a:r>
              <a:rPr kumimoji="1" lang="en-US" altLang="zh-CN" sz="3200" dirty="0">
                <a:latin typeface="Times New Roman" charset="0"/>
                <a:ea typeface="黑体" pitchFamily="2" charset="-122"/>
              </a:rPr>
              <a:t>: 62796193/13901216180</a:t>
            </a:r>
            <a:r>
              <a:rPr kumimoji="1" lang="en-US" altLang="zh-CN" sz="3200">
                <a:latin typeface="Times New Roman" charset="0"/>
                <a:ea typeface="黑体" pitchFamily="2" charset="-122"/>
              </a:rPr>
              <a:t/>
            </a:r>
            <a:br>
              <a:rPr kumimoji="1" lang="en-US" altLang="zh-CN" sz="3200">
                <a:latin typeface="Times New Roman" charset="0"/>
                <a:ea typeface="黑体" pitchFamily="2" charset="-122"/>
              </a:rPr>
            </a:br>
            <a:r>
              <a:rPr kumimoji="1" lang="en-US" altLang="zh-CN" sz="3200" smtClean="0">
                <a:latin typeface="Times New Roman" charset="0"/>
                <a:ea typeface="黑体" pitchFamily="2" charset="-122"/>
              </a:rPr>
              <a:t>2020.5</a:t>
            </a:r>
            <a:r>
              <a:rPr kumimoji="1" lang="en-US" altLang="zh-CN" sz="3200" dirty="0" smtClean="0">
                <a:latin typeface="Times New Roman" charset="0"/>
                <a:ea typeface="黑体" pitchFamily="2" charset="-122"/>
              </a:rPr>
              <a:t>.</a:t>
            </a:r>
            <a:endParaRPr kumimoji="1" lang="en-US" altLang="zh-CN" sz="3200" dirty="0">
              <a:latin typeface="Times New Roman" charset="0"/>
            </a:endParaRPr>
          </a:p>
          <a:p>
            <a:pPr algn="ctr" eaLnBrk="1" fontAlgn="b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endParaRPr lang="en-US" altLang="zh-CN" sz="3600" dirty="0"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ea typeface="华文行楷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13ECF683-210E-444B-AE88-F4D3429A6A4D}" type="slidenum">
              <a:rPr lang="en-US" altLang="zh-CN" sz="1000" smtClean="0"/>
              <a:pPr eaLnBrk="1" hangingPunct="1">
                <a:defRPr/>
              </a:pPr>
              <a:t>2</a:t>
            </a:fld>
            <a:endParaRPr lang="en-US" altLang="zh-CN" sz="1000" smtClean="0"/>
          </a:p>
        </p:txBody>
      </p:sp>
      <p:sp>
        <p:nvSpPr>
          <p:cNvPr id="5" name="Rectangle 1027"/>
          <p:cNvSpPr txBox="1">
            <a:spLocks noChangeArrowheads="1"/>
          </p:cNvSpPr>
          <p:nvPr/>
        </p:nvSpPr>
        <p:spPr bwMode="auto">
          <a:xfrm>
            <a:off x="1331640" y="1268760"/>
            <a:ext cx="6840810" cy="53279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0" indent="0" algn="just" eaLnBrk="1" hangingPunct="1">
              <a:lnSpc>
                <a:spcPct val="90000"/>
              </a:lnSpc>
              <a:buClr>
                <a:schemeClr val="tx2"/>
              </a:buClr>
              <a:buSzPct val="150000"/>
              <a:defRPr/>
            </a:pPr>
            <a:r>
              <a:rPr lang="zh-CN" altLang="en-US" sz="4000" dirty="0" smtClean="0">
                <a:latin typeface="Times New Roman" charset="0"/>
                <a:ea typeface="楷体_GB2312" pitchFamily="49" charset="-122"/>
              </a:rPr>
              <a:t>平时作业 </a:t>
            </a:r>
            <a:r>
              <a:rPr lang="en-US" altLang="zh-CN" sz="4000" dirty="0" smtClean="0">
                <a:latin typeface="Times New Roman" charset="0"/>
                <a:ea typeface="楷体_GB2312" pitchFamily="49" charset="-122"/>
              </a:rPr>
              <a:t>30%</a:t>
            </a:r>
          </a:p>
          <a:p>
            <a:pPr marL="0" indent="0" algn="just" eaLnBrk="1" hangingPunct="1">
              <a:lnSpc>
                <a:spcPct val="90000"/>
              </a:lnSpc>
              <a:buClr>
                <a:schemeClr val="tx2"/>
              </a:buClr>
              <a:buSzPct val="150000"/>
              <a:defRPr/>
            </a:pPr>
            <a:r>
              <a:rPr lang="zh-CN" altLang="en-US" sz="4000" dirty="0" smtClean="0">
                <a:latin typeface="Times New Roman" charset="0"/>
                <a:ea typeface="楷体_GB2312" pitchFamily="49" charset="-122"/>
              </a:rPr>
              <a:t>期末笔试 </a:t>
            </a:r>
            <a:r>
              <a:rPr lang="en-US" altLang="zh-CN" sz="4000" dirty="0" smtClean="0">
                <a:latin typeface="Times New Roman" charset="0"/>
                <a:ea typeface="楷体_GB2312" pitchFamily="49" charset="-122"/>
              </a:rPr>
              <a:t>40%</a:t>
            </a:r>
          </a:p>
          <a:p>
            <a:pPr marL="0" indent="0" algn="just" eaLnBrk="1" hangingPunct="1">
              <a:lnSpc>
                <a:spcPct val="90000"/>
              </a:lnSpc>
              <a:buClr>
                <a:schemeClr val="tx2"/>
              </a:buClr>
              <a:buSzPct val="150000"/>
              <a:defRPr/>
            </a:pPr>
            <a:r>
              <a:rPr lang="zh-CN" altLang="en-US" sz="4000" dirty="0" smtClean="0">
                <a:latin typeface="Times New Roman" charset="0"/>
                <a:ea typeface="楷体_GB2312" pitchFamily="49" charset="-122"/>
              </a:rPr>
              <a:t>小学期大作业 </a:t>
            </a:r>
            <a:r>
              <a:rPr lang="en-US" altLang="zh-CN" sz="4000" dirty="0" smtClean="0">
                <a:latin typeface="Times New Roman" charset="0"/>
                <a:ea typeface="楷体_GB2312" pitchFamily="49" charset="-122"/>
              </a:rPr>
              <a:t>30%</a:t>
            </a:r>
            <a:endParaRPr lang="en-US" altLang="zh-CN" sz="4000" b="1" dirty="0" smtClean="0"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0538" y="620713"/>
            <a:ext cx="8229600" cy="1139825"/>
          </a:xfrm>
        </p:spPr>
        <p:txBody>
          <a:bodyPr/>
          <a:lstStyle/>
          <a:p>
            <a:pPr>
              <a:defRPr/>
            </a:pPr>
            <a:r>
              <a:rPr lang="zh-CN" altLang="en-US" b="1" dirty="0" smtClean="0">
                <a:ea typeface="华文中宋" pitchFamily="2" charset="-122"/>
              </a:rPr>
              <a:t>考核方式及成绩评定</a:t>
            </a:r>
            <a:br>
              <a:rPr lang="zh-CN" altLang="en-US" b="1" dirty="0" smtClean="0">
                <a:ea typeface="华文中宋" pitchFamily="2" charset="-122"/>
              </a:rPr>
            </a:br>
            <a:endParaRPr lang="zh-CN" altLang="en-US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-612576" y="3356992"/>
            <a:ext cx="8213520" cy="2996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4000" dirty="0" smtClean="0">
                <a:latin typeface="Times New Roman" charset="0"/>
              </a:rPr>
              <a:t>     笔试考试</a:t>
            </a:r>
            <a:endParaRPr lang="en-US" altLang="zh-CN" sz="4000" dirty="0" smtClean="0">
              <a:latin typeface="Times New Roman" charset="0"/>
            </a:endParaRPr>
          </a:p>
          <a:p>
            <a:pPr eaLnBrk="1" hangingPunct="1">
              <a:defRPr/>
            </a:pPr>
            <a:r>
              <a:rPr lang="zh-CN" altLang="en-US" sz="4000" dirty="0" smtClean="0">
                <a:latin typeface="Times New Roman" charset="0"/>
              </a:rPr>
              <a:t>                    时间：</a:t>
            </a:r>
            <a:r>
              <a:rPr lang="zh-CN" altLang="en-US" sz="4000" dirty="0">
                <a:latin typeface="Times New Roman" charset="0"/>
              </a:rPr>
              <a:t>待</a:t>
            </a:r>
            <a:r>
              <a:rPr lang="zh-CN" altLang="en-US" sz="4000" dirty="0" smtClean="0">
                <a:latin typeface="Times New Roman" charset="0"/>
              </a:rPr>
              <a:t>定（返校后）</a:t>
            </a:r>
            <a:endParaRPr lang="en-US" altLang="zh-CN" sz="4000" dirty="0">
              <a:latin typeface="Times New Roman" charset="0"/>
            </a:endParaRPr>
          </a:p>
          <a:p>
            <a:pPr eaLnBrk="1" hangingPunct="1">
              <a:defRPr/>
            </a:pPr>
            <a:r>
              <a:rPr lang="zh-CN" altLang="en-US" sz="4000" dirty="0" smtClean="0">
                <a:latin typeface="Times New Roman" charset="0"/>
              </a:rPr>
              <a:t>地点：待定</a:t>
            </a:r>
            <a:endParaRPr lang="en-US" altLang="zh-CN" sz="4000" dirty="0" smtClean="0">
              <a:latin typeface="Times New Roman" charset="0"/>
            </a:endParaRPr>
          </a:p>
          <a:p>
            <a:pPr eaLnBrk="1" hangingPunct="1">
              <a:defRPr/>
            </a:pPr>
            <a:r>
              <a:rPr lang="zh-CN" altLang="en-US" sz="4000" dirty="0" smtClean="0">
                <a:latin typeface="Times New Roman" charset="0"/>
              </a:rPr>
              <a:t>       考试</a:t>
            </a:r>
            <a:r>
              <a:rPr lang="zh-CN" altLang="en-US" sz="4000" dirty="0" smtClean="0">
                <a:latin typeface="Times New Roman" charset="0"/>
              </a:rPr>
              <a:t>方式：闭卷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905BC7D6-D62E-43EF-AE7E-9F0F46256CEE}" type="slidenum">
              <a:rPr lang="en-US" altLang="zh-CN" sz="1000" smtClean="0"/>
              <a:pPr eaLnBrk="1" hangingPunct="1">
                <a:defRPr/>
              </a:pPr>
              <a:t>3</a:t>
            </a:fld>
            <a:endParaRPr lang="en-US" altLang="zh-CN" sz="1000" smtClean="0"/>
          </a:p>
        </p:txBody>
      </p:sp>
      <p:sp>
        <p:nvSpPr>
          <p:cNvPr id="3235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457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>
                <a:latin typeface="Times New Roman" charset="0"/>
              </a:rPr>
              <a:t>笔试考题类型说明</a:t>
            </a:r>
          </a:p>
        </p:txBody>
      </p:sp>
      <p:sp>
        <p:nvSpPr>
          <p:cNvPr id="323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5413" y="874713"/>
            <a:ext cx="8550275" cy="3201987"/>
          </a:xfrm>
        </p:spPr>
        <p:txBody>
          <a:bodyPr/>
          <a:lstStyle/>
          <a:p>
            <a:pPr>
              <a:defRPr/>
            </a:pPr>
            <a:r>
              <a:rPr lang="zh-CN" altLang="en-US" sz="2800" dirty="0">
                <a:effectLst/>
              </a:rPr>
              <a:t>考试题有三部分，分别是：</a:t>
            </a:r>
          </a:p>
          <a:p>
            <a:pPr>
              <a:defRPr/>
            </a:pPr>
            <a:r>
              <a:rPr lang="zh-CN" altLang="en-US" sz="2800" dirty="0" smtClean="0">
                <a:effectLst/>
              </a:rPr>
              <a:t>一</a:t>
            </a:r>
            <a:r>
              <a:rPr lang="en-US" altLang="zh-CN" sz="2800" dirty="0" smtClean="0">
                <a:effectLst/>
              </a:rPr>
              <a:t>. </a:t>
            </a:r>
            <a:r>
              <a:rPr lang="zh-CN" altLang="en-US" sz="2800" dirty="0" smtClean="0">
                <a:effectLst/>
              </a:rPr>
              <a:t>基本</a:t>
            </a:r>
            <a:r>
              <a:rPr lang="zh-CN" altLang="en-US" sz="2800" dirty="0">
                <a:effectLst/>
              </a:rPr>
              <a:t>概念</a:t>
            </a:r>
            <a:r>
              <a:rPr lang="zh-CN" altLang="en-US" sz="2800" dirty="0" smtClean="0">
                <a:effectLst/>
              </a:rPr>
              <a:t>填空 </a:t>
            </a:r>
            <a:r>
              <a:rPr lang="en-US" altLang="zh-CN" sz="2800" dirty="0" smtClean="0">
                <a:effectLst/>
              </a:rPr>
              <a:t>(</a:t>
            </a:r>
            <a:r>
              <a:rPr lang="en-US" altLang="zh-CN" sz="2800" dirty="0">
                <a:effectLst/>
              </a:rPr>
              <a:t>10</a:t>
            </a:r>
            <a:r>
              <a:rPr lang="zh-CN" altLang="en-US" sz="2800" dirty="0">
                <a:effectLst/>
              </a:rPr>
              <a:t>分</a:t>
            </a:r>
            <a:r>
              <a:rPr lang="zh-CN" altLang="en-US" sz="2800" dirty="0" smtClean="0">
                <a:effectLst/>
              </a:rPr>
              <a:t>，</a:t>
            </a:r>
            <a:r>
              <a:rPr lang="en-US" altLang="zh-CN" sz="2800" dirty="0" smtClean="0">
                <a:effectLst/>
              </a:rPr>
              <a:t>10</a:t>
            </a:r>
            <a:r>
              <a:rPr lang="zh-CN" altLang="en-US" sz="2800" dirty="0" smtClean="0">
                <a:effectLst/>
              </a:rPr>
              <a:t>题。每题</a:t>
            </a:r>
            <a:r>
              <a:rPr lang="en-US" altLang="zh-CN" sz="2800" dirty="0" smtClean="0">
                <a:effectLst/>
              </a:rPr>
              <a:t>1</a:t>
            </a:r>
            <a:r>
              <a:rPr lang="zh-CN" altLang="en-US" sz="2800" dirty="0" smtClean="0">
                <a:effectLst/>
              </a:rPr>
              <a:t>分）</a:t>
            </a:r>
            <a:endParaRPr lang="en-US" altLang="zh-CN" sz="2800" dirty="0" smtClean="0">
              <a:effectLst/>
            </a:endParaRPr>
          </a:p>
          <a:p>
            <a:pPr>
              <a:defRPr/>
            </a:pPr>
            <a:r>
              <a:rPr lang="zh-CN" altLang="en-US" sz="2800" dirty="0" smtClean="0">
                <a:effectLst/>
              </a:rPr>
              <a:t>   例如：</a:t>
            </a:r>
            <a:endParaRPr lang="en-US" altLang="zh-CN" sz="2800" dirty="0" smtClean="0">
              <a:effectLst/>
            </a:endParaRPr>
          </a:p>
          <a:p>
            <a:pPr>
              <a:defRPr/>
            </a:pPr>
            <a:r>
              <a:rPr lang="en-US" altLang="zh-CN" sz="2800" dirty="0">
                <a:effectLst/>
              </a:rPr>
              <a:t> </a:t>
            </a:r>
            <a:r>
              <a:rPr lang="en-US" altLang="zh-CN" sz="2800" dirty="0" smtClean="0">
                <a:effectLst/>
              </a:rPr>
              <a:t>1.</a:t>
            </a:r>
            <a:r>
              <a:rPr lang="zh-CN" altLang="en-US" sz="2800" dirty="0" smtClean="0">
                <a:effectLst/>
              </a:rPr>
              <a:t> </a:t>
            </a:r>
            <a:r>
              <a:rPr lang="zh-CN" altLang="en-US" sz="2800" dirty="0">
                <a:effectLst/>
              </a:rPr>
              <a:t>类是将</a:t>
            </a:r>
            <a:r>
              <a:rPr lang="en-US" altLang="zh-CN" sz="2800" dirty="0" smtClean="0">
                <a:effectLst/>
              </a:rPr>
              <a:t>_____</a:t>
            </a:r>
            <a:r>
              <a:rPr lang="zh-CN" altLang="en-US" sz="2800" dirty="0">
                <a:effectLst/>
              </a:rPr>
              <a:t>和</a:t>
            </a:r>
            <a:r>
              <a:rPr lang="en-US" altLang="zh-CN" sz="2800" dirty="0" smtClean="0">
                <a:effectLst/>
              </a:rPr>
              <a:t>_______</a:t>
            </a:r>
            <a:r>
              <a:rPr lang="zh-CN" altLang="en-US" sz="2800" dirty="0">
                <a:effectLst/>
              </a:rPr>
              <a:t>封装为一个单元</a:t>
            </a:r>
            <a:r>
              <a:rPr lang="zh-CN" altLang="en-US" sz="2800" dirty="0" smtClean="0">
                <a:effectLst/>
              </a:rPr>
              <a:t>。</a:t>
            </a:r>
            <a:endParaRPr lang="en-US" altLang="zh-CN" sz="2800" dirty="0" smtClean="0">
              <a:effectLst/>
            </a:endParaRPr>
          </a:p>
          <a:p>
            <a:pPr>
              <a:defRPr/>
            </a:pPr>
            <a:r>
              <a:rPr lang="en-US" altLang="zh-CN" sz="2800" dirty="0" smtClean="0">
                <a:effectLst/>
              </a:rPr>
              <a:t> 2. </a:t>
            </a:r>
            <a:r>
              <a:rPr lang="zh-CN" altLang="en-US" sz="2800" dirty="0" smtClean="0">
                <a:effectLst/>
              </a:rPr>
              <a:t>如果</a:t>
            </a:r>
            <a:r>
              <a:rPr lang="zh-CN" altLang="en-US" sz="2800" dirty="0">
                <a:effectLst/>
              </a:rPr>
              <a:t>将</a:t>
            </a:r>
            <a:r>
              <a:rPr lang="en-US" altLang="zh-CN" sz="2800" dirty="0">
                <a:effectLst/>
              </a:rPr>
              <a:t>a</a:t>
            </a:r>
            <a:r>
              <a:rPr lang="zh-CN" altLang="en-US" sz="2800" dirty="0">
                <a:effectLst/>
              </a:rPr>
              <a:t>定义</a:t>
            </a:r>
            <a:r>
              <a:rPr lang="zh-CN" altLang="en-US" sz="2800" dirty="0" smtClean="0">
                <a:effectLst/>
              </a:rPr>
              <a:t>为</a:t>
            </a:r>
            <a:r>
              <a:rPr lang="en-US" altLang="zh-CN" sz="2800" dirty="0" err="1" smtClean="0">
                <a:effectLst/>
              </a:rPr>
              <a:t>int</a:t>
            </a:r>
            <a:r>
              <a:rPr lang="zh-CN" altLang="en-US" sz="2800" dirty="0" smtClean="0">
                <a:effectLst/>
              </a:rPr>
              <a:t>型常数</a:t>
            </a:r>
            <a:r>
              <a:rPr lang="zh-CN" altLang="en-US" sz="2800" dirty="0">
                <a:effectLst/>
              </a:rPr>
              <a:t>据成员</a:t>
            </a:r>
            <a:r>
              <a:rPr lang="zh-CN" altLang="en-US" sz="2800" dirty="0" smtClean="0">
                <a:effectLst/>
              </a:rPr>
              <a:t>，并赋初值为</a:t>
            </a:r>
            <a:r>
              <a:rPr lang="en-US" altLang="zh-CN" sz="2800" dirty="0" smtClean="0">
                <a:effectLst/>
              </a:rPr>
              <a:t>1</a:t>
            </a:r>
            <a:r>
              <a:rPr lang="zh-CN" altLang="en-US" sz="2800" dirty="0" smtClean="0">
                <a:effectLst/>
              </a:rPr>
              <a:t>，</a:t>
            </a:r>
            <a:endParaRPr lang="en-US" altLang="zh-CN" sz="2800" dirty="0" smtClean="0">
              <a:effectLst/>
            </a:endParaRPr>
          </a:p>
          <a:p>
            <a:pPr>
              <a:defRPr/>
            </a:pPr>
            <a:r>
              <a:rPr lang="en-US" altLang="zh-CN" sz="2800" dirty="0">
                <a:effectLst/>
              </a:rPr>
              <a:t> </a:t>
            </a:r>
            <a:r>
              <a:rPr lang="en-US" altLang="zh-CN" sz="2800" dirty="0" smtClean="0">
                <a:effectLst/>
              </a:rPr>
              <a:t>    </a:t>
            </a:r>
            <a:r>
              <a:rPr lang="zh-CN" altLang="en-US" sz="2800" dirty="0" smtClean="0">
                <a:effectLst/>
              </a:rPr>
              <a:t>则定义语句为：</a:t>
            </a:r>
            <a:r>
              <a:rPr lang="en-US" altLang="zh-CN" sz="2800" dirty="0">
                <a:effectLst/>
              </a:rPr>
              <a:t> </a:t>
            </a:r>
            <a:r>
              <a:rPr lang="en-US" altLang="zh-CN" sz="2800" dirty="0" smtClean="0">
                <a:effectLst/>
              </a:rPr>
              <a:t>___________</a:t>
            </a:r>
            <a:r>
              <a:rPr lang="zh-CN" altLang="en-US" sz="2800" dirty="0" smtClean="0">
                <a:effectLst/>
              </a:rPr>
              <a:t> 。</a:t>
            </a:r>
            <a:endParaRPr lang="en-US" altLang="zh-CN" sz="2800" dirty="0">
              <a:effectLst/>
            </a:endParaRPr>
          </a:p>
          <a:p>
            <a:pPr>
              <a:defRPr/>
            </a:pPr>
            <a:r>
              <a:rPr lang="en-US" altLang="zh-CN" sz="2800" dirty="0" smtClean="0">
                <a:effectLst/>
              </a:rPr>
              <a:t>          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defRPr/>
            </a:pPr>
            <a:endParaRPr lang="en-US" altLang="zh-CN" sz="2800" dirty="0" smtClean="0">
              <a:latin typeface="Times New Roman" charset="0"/>
            </a:endParaRPr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323850" y="5540375"/>
            <a:ext cx="7488238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/>
              <a:t>二</a:t>
            </a:r>
            <a:r>
              <a:rPr lang="en-US" altLang="zh-CN" sz="2800"/>
              <a:t>. </a:t>
            </a:r>
            <a:r>
              <a:rPr lang="zh-CN" altLang="en-US" sz="2800"/>
              <a:t>程序填空题</a:t>
            </a:r>
            <a:r>
              <a:rPr lang="en-US" altLang="zh-CN" sz="2800"/>
              <a:t>(10</a:t>
            </a:r>
            <a:r>
              <a:rPr lang="zh-CN" altLang="en-US" sz="2800"/>
              <a:t>分， </a:t>
            </a:r>
            <a:r>
              <a:rPr lang="en-US" altLang="zh-CN" sz="2800"/>
              <a:t>5</a:t>
            </a:r>
            <a:r>
              <a:rPr lang="zh-CN" altLang="en-US" sz="2800"/>
              <a:t>题，每题</a:t>
            </a:r>
            <a:r>
              <a:rPr lang="en-US" altLang="zh-CN" sz="2800"/>
              <a:t>2</a:t>
            </a:r>
            <a:r>
              <a:rPr lang="zh-CN" altLang="en-US" sz="2800"/>
              <a:t>个填空）</a:t>
            </a:r>
            <a:endParaRPr lang="en-US" altLang="zh-CN" sz="28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/>
              <a:t>例如</a:t>
            </a:r>
            <a:r>
              <a:rPr lang="en-US" altLang="zh-CN" sz="2800"/>
              <a:t>:   </a:t>
            </a:r>
            <a:endParaRPr lang="zh-CN" altLang="en-US" sz="280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476250" y="4365625"/>
            <a:ext cx="7488238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/>
              <a:t>// 1. </a:t>
            </a:r>
            <a:r>
              <a:rPr lang="zh-CN" altLang="en-US" sz="2800" u="sng"/>
              <a:t>数据（变量）</a:t>
            </a:r>
            <a:r>
              <a:rPr lang="zh-CN" altLang="en-US" sz="2800"/>
              <a:t>和</a:t>
            </a:r>
            <a:r>
              <a:rPr lang="zh-CN" altLang="en-US" sz="2800" u="sng"/>
              <a:t>函数（方法）</a:t>
            </a:r>
            <a:endParaRPr lang="en-US" altLang="zh-CN" sz="2800" u="sng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/>
              <a:t>// 2. const int a=1;   </a:t>
            </a:r>
            <a:r>
              <a:rPr lang="zh-CN" altLang="en-US" sz="2800"/>
              <a:t>或 </a:t>
            </a:r>
            <a:r>
              <a:rPr lang="en-US" altLang="zh-CN" sz="2800"/>
              <a:t>int const a=1; </a:t>
            </a:r>
            <a:endParaRPr lang="zh-CN" altLang="en-US" sz="2800" u="sng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A2B8F744-6F06-4305-A7FB-D232A564C4B3}" type="slidenum">
              <a:rPr lang="en-US" altLang="zh-CN" sz="1000" smtClean="0"/>
              <a:pPr eaLnBrk="1" hangingPunct="1">
                <a:defRPr/>
              </a:pPr>
              <a:t>4</a:t>
            </a:fld>
            <a:endParaRPr lang="en-US" altLang="zh-CN" sz="1000" smtClean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68313" y="115888"/>
            <a:ext cx="8281987" cy="586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81000" indent="-381000">
              <a:defRPr/>
            </a:pPr>
            <a:r>
              <a:rPr lang="en-US" altLang="zh-CN" sz="2400" dirty="0">
                <a:latin typeface="Times New Roman" charset="0"/>
              </a:rPr>
              <a:t>#include &lt;</a:t>
            </a:r>
            <a:r>
              <a:rPr lang="en-US" altLang="zh-CN" sz="2400" dirty="0" err="1">
                <a:latin typeface="Times New Roman" charset="0"/>
              </a:rPr>
              <a:t>iostream</a:t>
            </a:r>
            <a:r>
              <a:rPr lang="en-US" altLang="zh-CN" sz="2400" dirty="0">
                <a:latin typeface="Times New Roman" charset="0"/>
              </a:rPr>
              <a:t>&gt;</a:t>
            </a:r>
          </a:p>
          <a:p>
            <a:pPr marL="381000" indent="-381000">
              <a:defRPr/>
            </a:pPr>
            <a:r>
              <a:rPr lang="en-US" altLang="zh-CN" sz="2400" dirty="0">
                <a:latin typeface="Times New Roman" charset="0"/>
              </a:rPr>
              <a:t>using namespace </a:t>
            </a:r>
            <a:r>
              <a:rPr lang="en-US" altLang="zh-CN" sz="2400" dirty="0" err="1">
                <a:latin typeface="Times New Roman" charset="0"/>
              </a:rPr>
              <a:t>std</a:t>
            </a:r>
            <a:r>
              <a:rPr lang="en-US" altLang="zh-CN" sz="2400" dirty="0">
                <a:latin typeface="Times New Roman" charset="0"/>
              </a:rPr>
              <a:t>;</a:t>
            </a:r>
          </a:p>
          <a:p>
            <a:pPr marL="381000" indent="-381000">
              <a:defRPr/>
            </a:pPr>
            <a:r>
              <a:rPr lang="en-US" altLang="zh-CN" sz="2400" dirty="0">
                <a:latin typeface="Times New Roman" charset="0"/>
              </a:rPr>
              <a:t>class Shape {</a:t>
            </a:r>
          </a:p>
          <a:p>
            <a:pPr marL="381000" indent="-381000">
              <a:defRPr/>
            </a:pPr>
            <a:r>
              <a:rPr lang="en-US" altLang="zh-CN" sz="2400" dirty="0">
                <a:latin typeface="Times New Roman" charset="0"/>
              </a:rPr>
              <a:t>public: </a:t>
            </a:r>
            <a:r>
              <a:rPr lang="en-US" altLang="zh-CN" sz="2400" dirty="0" smtClean="0">
                <a:latin typeface="Times New Roman" charset="0"/>
              </a:rPr>
              <a:t> Shape(</a:t>
            </a:r>
            <a:r>
              <a:rPr lang="en-US" altLang="zh-CN" sz="2400" dirty="0" err="1" smtClean="0">
                <a:latin typeface="Times New Roman" charset="0"/>
              </a:rPr>
              <a:t>int</a:t>
            </a:r>
            <a:r>
              <a:rPr lang="en-US" altLang="zh-CN" sz="2400" dirty="0" smtClean="0">
                <a:latin typeface="Times New Roman" charset="0"/>
              </a:rPr>
              <a:t> </a:t>
            </a:r>
            <a:r>
              <a:rPr lang="en-US" altLang="zh-CN" sz="2400" dirty="0">
                <a:latin typeface="Times New Roman" charset="0"/>
              </a:rPr>
              <a:t>x=0, </a:t>
            </a:r>
            <a:r>
              <a:rPr lang="en-US" altLang="zh-CN" sz="2400" dirty="0" err="1">
                <a:latin typeface="Times New Roman" charset="0"/>
              </a:rPr>
              <a:t>int</a:t>
            </a:r>
            <a:r>
              <a:rPr lang="en-US" altLang="zh-CN" sz="2400" dirty="0">
                <a:latin typeface="Times New Roman" charset="0"/>
              </a:rPr>
              <a:t> y=0);</a:t>
            </a:r>
          </a:p>
          <a:p>
            <a:pPr marL="381000" indent="-381000">
              <a:defRPr/>
            </a:pPr>
            <a:r>
              <a:rPr lang="en-US" altLang="zh-CN" sz="2400" dirty="0">
                <a:latin typeface="Times New Roman" charset="0"/>
              </a:rPr>
              <a:t>           </a:t>
            </a:r>
            <a:r>
              <a:rPr lang="en-US" altLang="zh-CN" sz="2400" dirty="0" smtClean="0">
                <a:latin typeface="Times New Roman" charset="0"/>
              </a:rPr>
              <a:t>  void </a:t>
            </a:r>
            <a:r>
              <a:rPr lang="en-US" altLang="zh-CN" sz="2400" dirty="0" err="1">
                <a:latin typeface="Times New Roman" charset="0"/>
              </a:rPr>
              <a:t>DisplayB</a:t>
            </a:r>
            <a:r>
              <a:rPr lang="en-US" altLang="zh-CN" sz="2400" dirty="0">
                <a:latin typeface="Times New Roman" charset="0"/>
              </a:rPr>
              <a:t>( ) </a:t>
            </a:r>
            <a:r>
              <a:rPr lang="en-US" altLang="zh-CN" sz="2400" dirty="0" err="1">
                <a:latin typeface="Times New Roman" charset="0"/>
              </a:rPr>
              <a:t>const</a:t>
            </a:r>
            <a:r>
              <a:rPr lang="en-US" altLang="zh-CN" sz="2400" dirty="0">
                <a:latin typeface="Times New Roman" charset="0"/>
              </a:rPr>
              <a:t>;</a:t>
            </a:r>
          </a:p>
          <a:p>
            <a:pPr marL="381000" indent="-381000">
              <a:defRPr/>
            </a:pPr>
            <a:r>
              <a:rPr lang="en-US" altLang="zh-CN" sz="2400" dirty="0">
                <a:latin typeface="Times New Roman" charset="0"/>
              </a:rPr>
              <a:t>private: </a:t>
            </a:r>
            <a:r>
              <a:rPr lang="en-US" altLang="zh-CN" sz="2400" dirty="0" err="1">
                <a:latin typeface="Times New Roman" charset="0"/>
              </a:rPr>
              <a:t>int</a:t>
            </a:r>
            <a:r>
              <a:rPr lang="en-US" altLang="zh-CN" sz="2400" dirty="0">
                <a:latin typeface="Times New Roman" charset="0"/>
              </a:rPr>
              <a:t> X, Y;  </a:t>
            </a:r>
          </a:p>
          <a:p>
            <a:pPr marL="381000" indent="-381000">
              <a:defRPr/>
            </a:pPr>
            <a:r>
              <a:rPr lang="en-US" altLang="zh-CN" sz="2400" dirty="0">
                <a:latin typeface="Times New Roman" charset="0"/>
              </a:rPr>
              <a:t>}</a:t>
            </a:r>
          </a:p>
          <a:p>
            <a:pPr marL="381000" indent="-381000">
              <a:defRPr/>
            </a:pPr>
            <a:r>
              <a:rPr lang="en-US" altLang="zh-CN" sz="2400" dirty="0" smtClean="0">
                <a:latin typeface="Times New Roman" charset="0"/>
              </a:rPr>
              <a:t>___________________________ </a:t>
            </a:r>
            <a:r>
              <a:rPr lang="en-US" altLang="zh-CN" sz="2400" dirty="0">
                <a:latin typeface="Times New Roman" charset="0"/>
              </a:rPr>
              <a:t>// </a:t>
            </a:r>
            <a:r>
              <a:rPr lang="zh-CN" altLang="en-US" sz="2400" dirty="0">
                <a:latin typeface="Times New Roman" charset="0"/>
              </a:rPr>
              <a:t>填空</a:t>
            </a:r>
            <a:r>
              <a:rPr lang="en-US" altLang="zh-CN" sz="2400" dirty="0" smtClean="0">
                <a:latin typeface="Times New Roman" charset="0"/>
              </a:rPr>
              <a:t>1</a:t>
            </a:r>
          </a:p>
          <a:p>
            <a:pPr marL="381000" indent="-381000">
              <a:defRPr/>
            </a:pPr>
            <a:r>
              <a:rPr lang="en-US" altLang="zh-CN" sz="2400" dirty="0" smtClean="0">
                <a:latin typeface="Times New Roman" charset="0"/>
              </a:rPr>
              <a:t>{ X=x; Y=y; }</a:t>
            </a:r>
          </a:p>
          <a:p>
            <a:pPr marL="381000" indent="-381000">
              <a:defRPr/>
            </a:pPr>
            <a:r>
              <a:rPr lang="en-US" altLang="zh-CN" sz="2400" dirty="0" smtClean="0">
                <a:latin typeface="Times New Roman" charset="0"/>
              </a:rPr>
              <a:t>___________________________ </a:t>
            </a:r>
            <a:r>
              <a:rPr lang="en-US" altLang="zh-CN" sz="2400" dirty="0">
                <a:latin typeface="Times New Roman" charset="0"/>
              </a:rPr>
              <a:t>// </a:t>
            </a:r>
            <a:r>
              <a:rPr lang="zh-CN" altLang="en-US" sz="2400" dirty="0">
                <a:latin typeface="Times New Roman" charset="0"/>
              </a:rPr>
              <a:t>填空</a:t>
            </a:r>
            <a:r>
              <a:rPr lang="en-US" altLang="zh-CN" sz="2400" dirty="0" smtClean="0">
                <a:latin typeface="Times New Roman" charset="0"/>
              </a:rPr>
              <a:t>2</a:t>
            </a:r>
            <a:endParaRPr lang="en-US" altLang="zh-CN" sz="2400" dirty="0">
              <a:latin typeface="Times New Roman" charset="0"/>
            </a:endParaRPr>
          </a:p>
          <a:p>
            <a:pPr marL="381000" indent="-381000">
              <a:defRPr/>
            </a:pPr>
            <a:r>
              <a:rPr lang="en-US" altLang="zh-CN" sz="2400" dirty="0">
                <a:latin typeface="Times New Roman" charset="0"/>
              </a:rPr>
              <a:t>{ </a:t>
            </a:r>
            <a:r>
              <a:rPr lang="en-US" altLang="zh-CN" sz="2400" dirty="0" err="1">
                <a:latin typeface="Times New Roman" charset="0"/>
              </a:rPr>
              <a:t>cout</a:t>
            </a:r>
            <a:r>
              <a:rPr lang="en-US" altLang="zh-CN" sz="2400" dirty="0">
                <a:latin typeface="Times New Roman" charset="0"/>
              </a:rPr>
              <a:t> &lt;&lt; X &lt;&lt; ' ' &lt;&lt; Y &lt;&lt; </a:t>
            </a:r>
            <a:r>
              <a:rPr lang="en-US" altLang="zh-CN" sz="2400" dirty="0" err="1">
                <a:latin typeface="Times New Roman" charset="0"/>
              </a:rPr>
              <a:t>endl</a:t>
            </a:r>
            <a:r>
              <a:rPr lang="en-US" altLang="zh-CN" sz="2400" dirty="0">
                <a:latin typeface="Times New Roman" charset="0"/>
              </a:rPr>
              <a:t>; }</a:t>
            </a:r>
          </a:p>
          <a:p>
            <a:pPr marL="381000" indent="-381000">
              <a:defRPr/>
            </a:pPr>
            <a:r>
              <a:rPr lang="en-US" altLang="zh-CN" sz="2400" dirty="0">
                <a:latin typeface="Times New Roman" charset="0"/>
              </a:rPr>
              <a:t>void main( )</a:t>
            </a:r>
          </a:p>
          <a:p>
            <a:pPr marL="381000" indent="-381000">
              <a:defRPr/>
            </a:pPr>
            <a:r>
              <a:rPr lang="en-US" altLang="zh-CN" sz="2400" dirty="0">
                <a:latin typeface="Times New Roman" charset="0"/>
              </a:rPr>
              <a:t>{ Shape S(2, 4); </a:t>
            </a:r>
            <a:r>
              <a:rPr lang="en-US" altLang="zh-CN" sz="2400" dirty="0" err="1">
                <a:latin typeface="Times New Roman" charset="0"/>
              </a:rPr>
              <a:t>S.DisplayB</a:t>
            </a:r>
            <a:r>
              <a:rPr lang="en-US" altLang="zh-CN" sz="2400" dirty="0">
                <a:latin typeface="Times New Roman" charset="0"/>
              </a:rPr>
              <a:t>();</a:t>
            </a:r>
          </a:p>
          <a:p>
            <a:pPr marL="381000" indent="-381000">
              <a:defRPr/>
            </a:pPr>
            <a:r>
              <a:rPr lang="en-US" altLang="zh-CN" sz="2400" dirty="0" smtClean="0">
                <a:latin typeface="Times New Roman" charset="0"/>
              </a:rPr>
              <a:t>}</a:t>
            </a:r>
          </a:p>
          <a:p>
            <a:pPr marL="381000" indent="-381000">
              <a:defRPr/>
            </a:pPr>
            <a:endParaRPr lang="en-US" altLang="zh-CN" sz="2400" dirty="0" smtClean="0">
              <a:latin typeface="Times New Roman" charset="0"/>
            </a:endParaRPr>
          </a:p>
          <a:p>
            <a:pPr marL="381000" indent="-381000">
              <a:defRPr/>
            </a:pPr>
            <a:endParaRPr lang="en-US" altLang="zh-CN" sz="2400" dirty="0">
              <a:latin typeface="Times New Roman" charset="0"/>
            </a:endParaRPr>
          </a:p>
          <a:p>
            <a:pPr marL="381000" indent="-381000">
              <a:defRPr/>
            </a:pPr>
            <a:endParaRPr lang="en-US" altLang="zh-CN" sz="2400" dirty="0">
              <a:latin typeface="Times New Roman" charset="0"/>
            </a:endParaRPr>
          </a:p>
          <a:p>
            <a:pPr>
              <a:defRPr/>
            </a:pPr>
            <a:endParaRPr lang="zh-CN" altLang="en-US" sz="2800" dirty="0" smtClean="0">
              <a:effectLst/>
            </a:endParaRP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defRPr/>
            </a:pPr>
            <a:endParaRPr lang="en-US" altLang="zh-CN" sz="2800" dirty="0" smtClean="0">
              <a:latin typeface="Times New Roman" charset="0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3565525" y="5870575"/>
            <a:ext cx="51847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// </a:t>
            </a:r>
            <a:r>
              <a:rPr lang="zh-CN" altLang="en-US" sz="2400" dirty="0">
                <a:latin typeface="Times New Roman" panose="02020603050405020304" pitchFamily="18" charset="0"/>
              </a:rPr>
              <a:t>填空</a:t>
            </a:r>
            <a:r>
              <a:rPr lang="en-US" altLang="zh-CN" sz="2400" dirty="0">
                <a:latin typeface="Times New Roman" panose="02020603050405020304" pitchFamily="18" charset="0"/>
              </a:rPr>
              <a:t>1  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Shape</a:t>
            </a:r>
            <a:r>
              <a:rPr lang="en-US" altLang="zh-CN" sz="2400" dirty="0">
                <a:latin typeface="Times New Roman" panose="02020603050405020304" pitchFamily="18" charset="0"/>
              </a:rPr>
              <a:t>::Shape(</a:t>
            </a:r>
            <a:r>
              <a:rPr lang="en-US" altLang="zh-CN" sz="2400" dirty="0" err="1">
                <a:latin typeface="Times New Roman" panose="02020603050405020304" pitchFamily="18" charset="0"/>
              </a:rPr>
              <a:t>int</a:t>
            </a:r>
            <a:r>
              <a:rPr lang="en-US" altLang="zh-CN" sz="2400" dirty="0">
                <a:latin typeface="Times New Roman" panose="02020603050405020304" pitchFamily="18" charset="0"/>
              </a:rPr>
              <a:t> x, </a:t>
            </a:r>
            <a:r>
              <a:rPr lang="en-US" altLang="zh-CN" sz="2400" dirty="0" err="1">
                <a:latin typeface="Times New Roman" panose="02020603050405020304" pitchFamily="18" charset="0"/>
              </a:rPr>
              <a:t>int</a:t>
            </a:r>
            <a:r>
              <a:rPr lang="en-US" altLang="zh-CN" sz="2400" dirty="0">
                <a:latin typeface="Times New Roman" panose="02020603050405020304" pitchFamily="18" charset="0"/>
              </a:rPr>
              <a:t> y)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// </a:t>
            </a:r>
            <a:r>
              <a:rPr lang="zh-CN" altLang="en-US" sz="2400" dirty="0">
                <a:latin typeface="Times New Roman" panose="02020603050405020304" pitchFamily="18" charset="0"/>
              </a:rPr>
              <a:t>填空</a:t>
            </a:r>
            <a:r>
              <a:rPr lang="en-US" altLang="zh-CN" sz="2400" dirty="0">
                <a:latin typeface="Times New Roman" panose="02020603050405020304" pitchFamily="18" charset="0"/>
              </a:rPr>
              <a:t>2 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 void </a:t>
            </a:r>
            <a:r>
              <a:rPr lang="en-US" altLang="zh-CN" sz="2400" dirty="0">
                <a:latin typeface="Times New Roman" panose="02020603050405020304" pitchFamily="18" charset="0"/>
              </a:rPr>
              <a:t>Shape::</a:t>
            </a:r>
            <a:r>
              <a:rPr lang="en-US" altLang="zh-CN" sz="2400" dirty="0" err="1">
                <a:latin typeface="Times New Roman" panose="02020603050405020304" pitchFamily="18" charset="0"/>
              </a:rPr>
              <a:t>DisplayB</a:t>
            </a:r>
            <a:r>
              <a:rPr lang="en-US" altLang="zh-CN" sz="2400" dirty="0">
                <a:latin typeface="Times New Roman" panose="02020603050405020304" pitchFamily="18" charset="0"/>
              </a:rPr>
              <a:t>( ) </a:t>
            </a:r>
            <a:r>
              <a:rPr lang="en-US" altLang="zh-CN" sz="2400" dirty="0" err="1">
                <a:latin typeface="Times New Roman" panose="02020603050405020304" pitchFamily="18" charset="0"/>
              </a:rPr>
              <a:t>const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98078476-09A9-46E6-9A2F-55AE65C0D147}" type="slidenum">
              <a:rPr lang="en-US" altLang="zh-CN" sz="1000" smtClean="0"/>
              <a:pPr eaLnBrk="1" hangingPunct="1">
                <a:defRPr/>
              </a:pPr>
              <a:t>5</a:t>
            </a:fld>
            <a:endParaRPr lang="en-US" altLang="zh-CN" sz="1000" smtClean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50825" y="404813"/>
            <a:ext cx="8281988" cy="586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zh-CN" altLang="en-US" sz="2800" dirty="0" smtClean="0">
                <a:effectLst/>
              </a:rPr>
              <a:t>三</a:t>
            </a:r>
            <a:r>
              <a:rPr lang="en-US" altLang="zh-CN" sz="2800" dirty="0" smtClean="0">
                <a:effectLst/>
              </a:rPr>
              <a:t>. </a:t>
            </a:r>
            <a:r>
              <a:rPr lang="zh-CN" altLang="en-US" sz="2800" dirty="0" smtClean="0">
                <a:effectLst/>
              </a:rPr>
              <a:t>读程序写运行结果（</a:t>
            </a:r>
            <a:r>
              <a:rPr lang="en-US" altLang="zh-CN" sz="2800" dirty="0" smtClean="0">
                <a:effectLst/>
              </a:rPr>
              <a:t>20</a:t>
            </a:r>
            <a:r>
              <a:rPr lang="zh-CN" altLang="en-US" sz="2800" dirty="0" smtClean="0">
                <a:effectLst/>
              </a:rPr>
              <a:t>分</a:t>
            </a:r>
            <a:r>
              <a:rPr lang="en-US" altLang="zh-CN" sz="2800" dirty="0" smtClean="0">
                <a:effectLst/>
              </a:rPr>
              <a:t>,10</a:t>
            </a:r>
            <a:r>
              <a:rPr lang="zh-CN" altLang="en-US" sz="2800" dirty="0" smtClean="0">
                <a:effectLst/>
              </a:rPr>
              <a:t>题</a:t>
            </a:r>
            <a:r>
              <a:rPr lang="en-US" altLang="zh-CN" sz="2800" dirty="0" smtClean="0">
                <a:effectLst/>
              </a:rPr>
              <a:t>,</a:t>
            </a:r>
            <a:r>
              <a:rPr lang="zh-CN" altLang="en-US" sz="2800" dirty="0" smtClean="0">
                <a:effectLst/>
              </a:rPr>
              <a:t>每题</a:t>
            </a:r>
            <a:r>
              <a:rPr lang="en-US" altLang="zh-CN" sz="2800" dirty="0" smtClean="0">
                <a:effectLst/>
              </a:rPr>
              <a:t>2</a:t>
            </a:r>
            <a:r>
              <a:rPr lang="zh-CN" altLang="en-US" sz="2800" dirty="0" smtClean="0">
                <a:effectLst/>
              </a:rPr>
              <a:t>分）</a:t>
            </a:r>
          </a:p>
          <a:p>
            <a:pPr algn="just">
              <a:lnSpc>
                <a:spcPts val="2400"/>
              </a:lnSpc>
              <a:defRPr/>
            </a:pPr>
            <a:r>
              <a:rPr lang="en-US" altLang="zh-CN" sz="2400" dirty="0">
                <a:latin typeface="Times New Roman" charset="0"/>
              </a:rPr>
              <a:t>#include &lt;</a:t>
            </a:r>
            <a:r>
              <a:rPr lang="en-US" altLang="zh-CN" sz="2400" dirty="0" err="1">
                <a:latin typeface="Times New Roman" charset="0"/>
              </a:rPr>
              <a:t>iostream</a:t>
            </a:r>
            <a:r>
              <a:rPr lang="en-US" altLang="zh-CN" sz="2400" dirty="0">
                <a:latin typeface="Times New Roman" charset="0"/>
              </a:rPr>
              <a:t>&gt;</a:t>
            </a:r>
          </a:p>
          <a:p>
            <a:pPr algn="just">
              <a:lnSpc>
                <a:spcPts val="2400"/>
              </a:lnSpc>
              <a:defRPr/>
            </a:pPr>
            <a:r>
              <a:rPr lang="en-US" altLang="zh-CN" sz="2400" dirty="0">
                <a:latin typeface="Times New Roman" charset="0"/>
              </a:rPr>
              <a:t>#include &lt;</a:t>
            </a:r>
            <a:r>
              <a:rPr lang="en-US" altLang="zh-CN" sz="2400" dirty="0" err="1">
                <a:latin typeface="Times New Roman" charset="0"/>
              </a:rPr>
              <a:t>fstream</a:t>
            </a:r>
            <a:r>
              <a:rPr lang="en-US" altLang="zh-CN" sz="2400" dirty="0">
                <a:latin typeface="Times New Roman" charset="0"/>
              </a:rPr>
              <a:t>&gt;</a:t>
            </a:r>
          </a:p>
          <a:p>
            <a:pPr algn="just">
              <a:lnSpc>
                <a:spcPts val="2400"/>
              </a:lnSpc>
              <a:defRPr/>
            </a:pPr>
            <a:r>
              <a:rPr lang="en-US" altLang="zh-CN" sz="2400" dirty="0">
                <a:latin typeface="Times New Roman" charset="0"/>
              </a:rPr>
              <a:t>using namespace </a:t>
            </a:r>
            <a:r>
              <a:rPr lang="en-US" altLang="zh-CN" sz="2400" dirty="0" err="1">
                <a:latin typeface="Times New Roman" charset="0"/>
              </a:rPr>
              <a:t>std</a:t>
            </a:r>
            <a:r>
              <a:rPr lang="en-US" altLang="zh-CN" sz="2400" dirty="0">
                <a:latin typeface="Times New Roman" charset="0"/>
              </a:rPr>
              <a:t>;</a:t>
            </a:r>
          </a:p>
          <a:p>
            <a:pPr algn="just">
              <a:lnSpc>
                <a:spcPts val="2400"/>
              </a:lnSpc>
              <a:defRPr/>
            </a:pPr>
            <a:r>
              <a:rPr lang="en-US" altLang="zh-CN" sz="2400" dirty="0">
                <a:latin typeface="Times New Roman" charset="0"/>
              </a:rPr>
              <a:t>void main( ) </a:t>
            </a:r>
          </a:p>
          <a:p>
            <a:pPr algn="just">
              <a:lnSpc>
                <a:spcPts val="2400"/>
              </a:lnSpc>
              <a:defRPr/>
            </a:pPr>
            <a:r>
              <a:rPr lang="en-US" altLang="zh-CN" sz="2400" dirty="0">
                <a:latin typeface="Times New Roman" charset="0"/>
              </a:rPr>
              <a:t>{  </a:t>
            </a:r>
            <a:r>
              <a:rPr lang="en-US" altLang="zh-CN" sz="2400" dirty="0" smtClean="0">
                <a:latin typeface="Times New Roman" charset="0"/>
              </a:rPr>
              <a:t> </a:t>
            </a:r>
            <a:r>
              <a:rPr lang="en-US" altLang="zh-CN" sz="2400" dirty="0" err="1" smtClean="0">
                <a:latin typeface="Times New Roman" charset="0"/>
              </a:rPr>
              <a:t>int</a:t>
            </a:r>
            <a:r>
              <a:rPr lang="en-US" altLang="zh-CN" sz="2400" dirty="0" smtClean="0">
                <a:latin typeface="Times New Roman" charset="0"/>
              </a:rPr>
              <a:t> </a:t>
            </a:r>
            <a:r>
              <a:rPr lang="en-US" altLang="zh-CN" sz="2400" dirty="0" err="1">
                <a:latin typeface="Times New Roman" charset="0"/>
              </a:rPr>
              <a:t>dd</a:t>
            </a:r>
            <a:r>
              <a:rPr lang="en-US" altLang="zh-CN" sz="2400" dirty="0">
                <a:latin typeface="Times New Roman" charset="0"/>
              </a:rPr>
              <a:t>[ ] = {16, 191, 721, </a:t>
            </a:r>
            <a:r>
              <a:rPr lang="en-US" altLang="zh-CN" sz="2400" dirty="0" smtClean="0">
                <a:latin typeface="Times New Roman" charset="0"/>
              </a:rPr>
              <a:t>2020};</a:t>
            </a:r>
            <a:endParaRPr lang="en-US" altLang="zh-CN" sz="2400" dirty="0">
              <a:latin typeface="Times New Roman" charset="0"/>
            </a:endParaRPr>
          </a:p>
          <a:p>
            <a:pPr algn="just">
              <a:lnSpc>
                <a:spcPts val="2400"/>
              </a:lnSpc>
              <a:defRPr/>
            </a:pPr>
            <a:r>
              <a:rPr lang="en-US" altLang="zh-CN" sz="2400" dirty="0">
                <a:latin typeface="Times New Roman" charset="0"/>
              </a:rPr>
              <a:t>    </a:t>
            </a:r>
            <a:r>
              <a:rPr lang="en-US" altLang="zh-CN" sz="2400" dirty="0" smtClean="0">
                <a:latin typeface="Times New Roman" charset="0"/>
              </a:rPr>
              <a:t> </a:t>
            </a:r>
            <a:r>
              <a:rPr lang="en-US" altLang="zh-CN" sz="2400" dirty="0" err="1" smtClean="0">
                <a:latin typeface="Times New Roman" charset="0"/>
              </a:rPr>
              <a:t>ofstream</a:t>
            </a:r>
            <a:r>
              <a:rPr lang="en-US" altLang="zh-CN" sz="2400" dirty="0" smtClean="0">
                <a:latin typeface="Times New Roman" charset="0"/>
              </a:rPr>
              <a:t> </a:t>
            </a:r>
            <a:r>
              <a:rPr lang="en-US" altLang="zh-CN" sz="2400" dirty="0" err="1">
                <a:latin typeface="Times New Roman" charset="0"/>
              </a:rPr>
              <a:t>tfile</a:t>
            </a:r>
            <a:r>
              <a:rPr lang="en-US" altLang="zh-CN" sz="2400" dirty="0">
                <a:latin typeface="Times New Roman" charset="0"/>
              </a:rPr>
              <a:t>("data.dat", </a:t>
            </a:r>
            <a:r>
              <a:rPr lang="en-US" altLang="zh-CN" sz="2400" dirty="0" err="1">
                <a:latin typeface="Times New Roman" charset="0"/>
              </a:rPr>
              <a:t>ios_base</a:t>
            </a:r>
            <a:r>
              <a:rPr lang="en-US" altLang="zh-CN" sz="2400" dirty="0">
                <a:latin typeface="Times New Roman" charset="0"/>
              </a:rPr>
              <a:t>::binary);</a:t>
            </a:r>
          </a:p>
          <a:p>
            <a:pPr algn="just">
              <a:lnSpc>
                <a:spcPts val="2400"/>
              </a:lnSpc>
              <a:defRPr/>
            </a:pPr>
            <a:r>
              <a:rPr lang="en-US" altLang="zh-CN" sz="2400" dirty="0">
                <a:latin typeface="Times New Roman" charset="0"/>
              </a:rPr>
              <a:t>	</a:t>
            </a:r>
            <a:r>
              <a:rPr lang="en-US" altLang="zh-CN" sz="2400" dirty="0" err="1">
                <a:latin typeface="Times New Roman" charset="0"/>
              </a:rPr>
              <a:t>tfile.write</a:t>
            </a:r>
            <a:r>
              <a:rPr lang="en-US" altLang="zh-CN" sz="2400" dirty="0">
                <a:latin typeface="Times New Roman" charset="0"/>
              </a:rPr>
              <a:t>((char *)</a:t>
            </a:r>
            <a:r>
              <a:rPr lang="en-US" altLang="zh-CN" sz="2400" dirty="0" err="1">
                <a:latin typeface="Times New Roman" charset="0"/>
              </a:rPr>
              <a:t>dd</a:t>
            </a:r>
            <a:r>
              <a:rPr lang="en-US" altLang="zh-CN" sz="2400" dirty="0">
                <a:latin typeface="Times New Roman" charset="0"/>
              </a:rPr>
              <a:t>, </a:t>
            </a:r>
            <a:r>
              <a:rPr lang="en-US" altLang="zh-CN" sz="2400" dirty="0" err="1">
                <a:latin typeface="Times New Roman" charset="0"/>
              </a:rPr>
              <a:t>sizeof</a:t>
            </a:r>
            <a:r>
              <a:rPr lang="en-US" altLang="zh-CN" sz="2400" dirty="0">
                <a:latin typeface="Times New Roman" charset="0"/>
              </a:rPr>
              <a:t> </a:t>
            </a:r>
            <a:r>
              <a:rPr lang="en-US" altLang="zh-CN" sz="2400" dirty="0" err="1">
                <a:latin typeface="Times New Roman" charset="0"/>
              </a:rPr>
              <a:t>dd</a:t>
            </a:r>
            <a:r>
              <a:rPr lang="en-US" altLang="zh-CN" sz="2400" dirty="0">
                <a:latin typeface="Times New Roman" charset="0"/>
              </a:rPr>
              <a:t>);</a:t>
            </a:r>
          </a:p>
          <a:p>
            <a:pPr algn="just">
              <a:lnSpc>
                <a:spcPts val="2400"/>
              </a:lnSpc>
              <a:defRPr/>
            </a:pPr>
            <a:r>
              <a:rPr lang="en-US" altLang="zh-CN" sz="2400" dirty="0">
                <a:latin typeface="Times New Roman" charset="0"/>
              </a:rPr>
              <a:t>	</a:t>
            </a:r>
            <a:r>
              <a:rPr lang="en-US" altLang="zh-CN" sz="2400" dirty="0" err="1">
                <a:latin typeface="Times New Roman" charset="0"/>
              </a:rPr>
              <a:t>tfile.close</a:t>
            </a:r>
            <a:r>
              <a:rPr lang="en-US" altLang="zh-CN" sz="2400" dirty="0">
                <a:latin typeface="Times New Roman" charset="0"/>
              </a:rPr>
              <a:t>( );</a:t>
            </a:r>
          </a:p>
          <a:p>
            <a:pPr algn="just">
              <a:lnSpc>
                <a:spcPts val="2400"/>
              </a:lnSpc>
              <a:defRPr/>
            </a:pPr>
            <a:r>
              <a:rPr lang="en-US" altLang="zh-CN" sz="2400" dirty="0">
                <a:latin typeface="Times New Roman" charset="0"/>
              </a:rPr>
              <a:t>	</a:t>
            </a:r>
            <a:r>
              <a:rPr lang="en-US" altLang="zh-CN" sz="2400" dirty="0" err="1">
                <a:latin typeface="Times New Roman" charset="0"/>
              </a:rPr>
              <a:t>ifstream</a:t>
            </a:r>
            <a:r>
              <a:rPr lang="en-US" altLang="zh-CN" sz="2400" dirty="0">
                <a:latin typeface="Times New Roman" charset="0"/>
              </a:rPr>
              <a:t> tfile1("data.dat", </a:t>
            </a:r>
            <a:r>
              <a:rPr lang="en-US" altLang="zh-CN" sz="2400" dirty="0" err="1">
                <a:latin typeface="Times New Roman" charset="0"/>
              </a:rPr>
              <a:t>ios_base</a:t>
            </a:r>
            <a:r>
              <a:rPr lang="en-US" altLang="zh-CN" sz="2400" dirty="0">
                <a:latin typeface="Times New Roman" charset="0"/>
              </a:rPr>
              <a:t>::binary);</a:t>
            </a:r>
          </a:p>
          <a:p>
            <a:pPr algn="just">
              <a:lnSpc>
                <a:spcPts val="2400"/>
              </a:lnSpc>
              <a:defRPr/>
            </a:pPr>
            <a:r>
              <a:rPr lang="en-US" altLang="zh-CN" sz="2400" dirty="0">
                <a:latin typeface="Times New Roman" charset="0"/>
              </a:rPr>
              <a:t>	tfile1.seekg(</a:t>
            </a:r>
            <a:r>
              <a:rPr lang="en-US" altLang="zh-CN" sz="2400" dirty="0" err="1">
                <a:latin typeface="Times New Roman" charset="0"/>
              </a:rPr>
              <a:t>sizeof</a:t>
            </a:r>
            <a:r>
              <a:rPr lang="en-US" altLang="zh-CN" sz="2400" dirty="0">
                <a:latin typeface="Times New Roman" charset="0"/>
              </a:rPr>
              <a:t>(</a:t>
            </a:r>
            <a:r>
              <a:rPr lang="en-US" altLang="zh-CN" sz="2400" dirty="0" err="1">
                <a:latin typeface="Times New Roman" charset="0"/>
              </a:rPr>
              <a:t>int</a:t>
            </a:r>
            <a:r>
              <a:rPr lang="en-US" altLang="zh-CN" sz="2400" dirty="0">
                <a:latin typeface="Times New Roman" charset="0"/>
              </a:rPr>
              <a:t>)*2);</a:t>
            </a:r>
          </a:p>
          <a:p>
            <a:pPr algn="just">
              <a:lnSpc>
                <a:spcPts val="2400"/>
              </a:lnSpc>
              <a:defRPr/>
            </a:pPr>
            <a:r>
              <a:rPr lang="en-US" altLang="zh-CN" sz="2400" dirty="0">
                <a:latin typeface="Times New Roman" charset="0"/>
              </a:rPr>
              <a:t>	tfile1.read((char *)&amp;</a:t>
            </a:r>
            <a:r>
              <a:rPr lang="en-US" altLang="zh-CN" sz="2400" dirty="0" err="1">
                <a:latin typeface="Times New Roman" charset="0"/>
              </a:rPr>
              <a:t>dd</a:t>
            </a:r>
            <a:r>
              <a:rPr lang="en-US" altLang="zh-CN" sz="2400" dirty="0">
                <a:latin typeface="Times New Roman" charset="0"/>
              </a:rPr>
              <a:t>[0], </a:t>
            </a:r>
            <a:r>
              <a:rPr lang="en-US" altLang="zh-CN" sz="2400" dirty="0" err="1">
                <a:latin typeface="Times New Roman" charset="0"/>
              </a:rPr>
              <a:t>sizeof</a:t>
            </a:r>
            <a:r>
              <a:rPr lang="en-US" altLang="zh-CN" sz="2400" dirty="0">
                <a:latin typeface="Times New Roman" charset="0"/>
              </a:rPr>
              <a:t> (</a:t>
            </a:r>
            <a:r>
              <a:rPr lang="en-US" altLang="zh-CN" sz="2400" dirty="0" err="1">
                <a:latin typeface="Times New Roman" charset="0"/>
              </a:rPr>
              <a:t>int</a:t>
            </a:r>
            <a:r>
              <a:rPr lang="en-US" altLang="zh-CN" sz="2400" dirty="0">
                <a:latin typeface="Times New Roman" charset="0"/>
              </a:rPr>
              <a:t>)*2); </a:t>
            </a:r>
          </a:p>
          <a:p>
            <a:pPr algn="just">
              <a:lnSpc>
                <a:spcPts val="2400"/>
              </a:lnSpc>
              <a:defRPr/>
            </a:pPr>
            <a:r>
              <a:rPr lang="en-US" altLang="zh-CN" sz="2400" dirty="0">
                <a:latin typeface="Times New Roman" charset="0"/>
              </a:rPr>
              <a:t>	tfile1.close( );</a:t>
            </a:r>
          </a:p>
          <a:p>
            <a:pPr algn="just">
              <a:lnSpc>
                <a:spcPts val="2400"/>
              </a:lnSpc>
              <a:defRPr/>
            </a:pPr>
            <a:r>
              <a:rPr lang="en-US" altLang="zh-CN" sz="2400" dirty="0">
                <a:latin typeface="Times New Roman" charset="0"/>
              </a:rPr>
              <a:t>	for (</a:t>
            </a:r>
            <a:r>
              <a:rPr lang="en-US" altLang="zh-CN" sz="2400" dirty="0" err="1">
                <a:latin typeface="Times New Roman" charset="0"/>
              </a:rPr>
              <a:t>int</a:t>
            </a:r>
            <a:r>
              <a:rPr lang="en-US" altLang="zh-CN" sz="2400" dirty="0">
                <a:latin typeface="Times New Roman" charset="0"/>
              </a:rPr>
              <a:t> k=0; k&lt;4; k++)</a:t>
            </a:r>
          </a:p>
          <a:p>
            <a:pPr algn="just">
              <a:lnSpc>
                <a:spcPts val="2400"/>
              </a:lnSpc>
              <a:defRPr/>
            </a:pPr>
            <a:r>
              <a:rPr lang="en-US" altLang="zh-CN" sz="2400" dirty="0">
                <a:latin typeface="Times New Roman" charset="0"/>
              </a:rPr>
              <a:t>	   </a:t>
            </a:r>
            <a:r>
              <a:rPr lang="en-US" altLang="zh-CN" sz="2400" dirty="0" err="1">
                <a:latin typeface="Times New Roman" charset="0"/>
              </a:rPr>
              <a:t>cout</a:t>
            </a:r>
            <a:r>
              <a:rPr lang="en-US" altLang="zh-CN" sz="2400" dirty="0">
                <a:latin typeface="Times New Roman" charset="0"/>
              </a:rPr>
              <a:t> &lt;&lt; </a:t>
            </a:r>
            <a:r>
              <a:rPr lang="en-US" altLang="zh-CN" sz="2400" dirty="0" err="1">
                <a:latin typeface="Times New Roman" charset="0"/>
              </a:rPr>
              <a:t>dd</a:t>
            </a:r>
            <a:r>
              <a:rPr lang="en-US" altLang="zh-CN" sz="2400" dirty="0">
                <a:latin typeface="Times New Roman" charset="0"/>
              </a:rPr>
              <a:t>[k] &lt;&lt; ',' ;</a:t>
            </a:r>
          </a:p>
          <a:p>
            <a:pPr algn="just">
              <a:lnSpc>
                <a:spcPts val="2400"/>
              </a:lnSpc>
              <a:defRPr/>
            </a:pPr>
            <a:r>
              <a:rPr lang="en-US" altLang="zh-CN" sz="2400" dirty="0" smtClean="0">
                <a:latin typeface="Times New Roman" charset="0"/>
              </a:rPr>
              <a:t>}</a:t>
            </a:r>
            <a:endParaRPr lang="en-US" altLang="zh-CN" sz="2400" dirty="0">
              <a:latin typeface="Times New Roman" charset="0"/>
            </a:endParaRPr>
          </a:p>
          <a:p>
            <a:pPr>
              <a:defRPr/>
            </a:pPr>
            <a:endParaRPr lang="zh-CN" altLang="en-US" sz="2800" dirty="0" smtClean="0">
              <a:effectLst/>
            </a:endParaRP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defRPr/>
            </a:pPr>
            <a:endParaRPr lang="en-US" altLang="zh-CN" sz="2800" dirty="0" smtClean="0">
              <a:latin typeface="Times New Roman" charset="0"/>
            </a:endParaRPr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4808538" y="5462588"/>
            <a:ext cx="3743325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/>
              <a:t>运行结果：</a:t>
            </a:r>
            <a:r>
              <a:rPr lang="en-US" altLang="zh-CN" sz="2800" dirty="0" smtClean="0"/>
              <a:t>721,2020,721,2020,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61158A06-F2C8-4E47-97A7-B46285CAF7C8}" type="slidenum">
              <a:rPr lang="en-US" altLang="zh-CN" sz="1000" smtClean="0"/>
              <a:pPr eaLnBrk="1" hangingPunct="1">
                <a:defRPr/>
              </a:pPr>
              <a:t>6</a:t>
            </a:fld>
            <a:endParaRPr lang="en-US" altLang="zh-CN" sz="1000" smtClean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69874" y="101600"/>
            <a:ext cx="8406581" cy="6639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en-US" altLang="zh-CN" sz="2800" dirty="0" smtClean="0">
                <a:effectLst/>
              </a:rPr>
              <a:t>2.</a:t>
            </a:r>
          </a:p>
          <a:p>
            <a:pPr algn="just">
              <a:lnSpc>
                <a:spcPts val="2400"/>
              </a:lnSpc>
              <a:defRPr/>
            </a:pPr>
            <a:r>
              <a:rPr lang="en-US" altLang="zh-CN" sz="2400" dirty="0">
                <a:latin typeface="Times New Roman" charset="0"/>
              </a:rPr>
              <a:t>#include  &lt;</a:t>
            </a:r>
            <a:r>
              <a:rPr lang="en-US" altLang="zh-CN" sz="2400" dirty="0" err="1">
                <a:latin typeface="Times New Roman" charset="0"/>
              </a:rPr>
              <a:t>iostream</a:t>
            </a:r>
            <a:r>
              <a:rPr lang="en-US" altLang="zh-CN" sz="2400" dirty="0">
                <a:latin typeface="Times New Roman" charset="0"/>
              </a:rPr>
              <a:t>&gt;</a:t>
            </a:r>
          </a:p>
          <a:p>
            <a:pPr algn="just">
              <a:lnSpc>
                <a:spcPts val="2400"/>
              </a:lnSpc>
              <a:defRPr/>
            </a:pPr>
            <a:r>
              <a:rPr lang="en-US" altLang="zh-CN" sz="2400" dirty="0">
                <a:latin typeface="Times New Roman" charset="0"/>
              </a:rPr>
              <a:t>using namespace </a:t>
            </a:r>
            <a:r>
              <a:rPr lang="en-US" altLang="zh-CN" sz="2400" dirty="0" err="1">
                <a:latin typeface="Times New Roman" charset="0"/>
              </a:rPr>
              <a:t>std</a:t>
            </a:r>
            <a:r>
              <a:rPr lang="en-US" altLang="zh-CN" sz="2400" dirty="0">
                <a:latin typeface="Times New Roman" charset="0"/>
              </a:rPr>
              <a:t>;</a:t>
            </a:r>
          </a:p>
          <a:p>
            <a:pPr algn="just">
              <a:lnSpc>
                <a:spcPts val="2400"/>
              </a:lnSpc>
              <a:defRPr/>
            </a:pPr>
            <a:r>
              <a:rPr lang="en-US" altLang="zh-CN" sz="2400" dirty="0">
                <a:latin typeface="Times New Roman" charset="0"/>
              </a:rPr>
              <a:t>class complex {	//</a:t>
            </a:r>
            <a:r>
              <a:rPr lang="zh-CN" altLang="en-US" sz="2400" dirty="0">
                <a:latin typeface="Times New Roman" charset="0"/>
              </a:rPr>
              <a:t>复数类声明</a:t>
            </a:r>
          </a:p>
          <a:p>
            <a:pPr algn="just">
              <a:lnSpc>
                <a:spcPts val="2400"/>
              </a:lnSpc>
              <a:defRPr/>
            </a:pPr>
            <a:r>
              <a:rPr lang="en-US" altLang="zh-CN" sz="2400" dirty="0">
                <a:latin typeface="Times New Roman" charset="0"/>
              </a:rPr>
              <a:t>public:	//</a:t>
            </a:r>
            <a:r>
              <a:rPr lang="zh-CN" altLang="en-US" sz="2400" dirty="0">
                <a:latin typeface="Times New Roman" charset="0"/>
              </a:rPr>
              <a:t>外部接口</a:t>
            </a:r>
          </a:p>
          <a:p>
            <a:pPr algn="just">
              <a:lnSpc>
                <a:spcPts val="2400"/>
              </a:lnSpc>
              <a:defRPr/>
            </a:pPr>
            <a:r>
              <a:rPr lang="zh-CN" altLang="en-US" sz="2400" dirty="0">
                <a:latin typeface="Times New Roman" charset="0"/>
              </a:rPr>
              <a:t>	</a:t>
            </a:r>
            <a:r>
              <a:rPr lang="en-US" altLang="zh-CN" sz="2400" dirty="0">
                <a:latin typeface="Times New Roman" charset="0"/>
              </a:rPr>
              <a:t>complex(double </a:t>
            </a:r>
            <a:r>
              <a:rPr lang="en-US" altLang="zh-CN" sz="2400" dirty="0" smtClean="0">
                <a:latin typeface="Times New Roman" charset="0"/>
              </a:rPr>
              <a:t>r=0.0,double </a:t>
            </a:r>
            <a:r>
              <a:rPr lang="en-US" altLang="zh-CN" sz="2400" dirty="0" err="1" smtClean="0">
                <a:latin typeface="Times New Roman" charset="0"/>
              </a:rPr>
              <a:t>i</a:t>
            </a:r>
            <a:r>
              <a:rPr lang="en-US" altLang="zh-CN" sz="2400" dirty="0" smtClean="0">
                <a:latin typeface="Times New Roman" charset="0"/>
              </a:rPr>
              <a:t>=0.0</a:t>
            </a:r>
            <a:r>
              <a:rPr lang="en-US" altLang="zh-CN" sz="2400" dirty="0">
                <a:latin typeface="Times New Roman" charset="0"/>
              </a:rPr>
              <a:t>)</a:t>
            </a:r>
          </a:p>
          <a:p>
            <a:pPr algn="just">
              <a:lnSpc>
                <a:spcPts val="2400"/>
              </a:lnSpc>
              <a:defRPr/>
            </a:pPr>
            <a:r>
              <a:rPr lang="en-US" altLang="zh-CN" sz="2400" dirty="0">
                <a:latin typeface="Times New Roman" charset="0"/>
              </a:rPr>
              <a:t>    </a:t>
            </a:r>
            <a:r>
              <a:rPr lang="en-US" altLang="zh-CN" sz="2400" dirty="0" smtClean="0">
                <a:latin typeface="Times New Roman" charset="0"/>
              </a:rPr>
              <a:t>{this-&gt;r=r; this-&gt;</a:t>
            </a:r>
            <a:r>
              <a:rPr lang="en-US" altLang="zh-CN" sz="2400" dirty="0" err="1" smtClean="0">
                <a:latin typeface="Times New Roman" charset="0"/>
              </a:rPr>
              <a:t>i</a:t>
            </a:r>
            <a:r>
              <a:rPr lang="en-US" altLang="zh-CN" sz="2400" dirty="0" smtClean="0">
                <a:latin typeface="Times New Roman" charset="0"/>
              </a:rPr>
              <a:t>=</a:t>
            </a:r>
            <a:r>
              <a:rPr lang="en-US" altLang="zh-CN" sz="2400" dirty="0" err="1" smtClean="0">
                <a:latin typeface="Times New Roman" charset="0"/>
              </a:rPr>
              <a:t>i</a:t>
            </a:r>
            <a:r>
              <a:rPr lang="en-US" altLang="zh-CN" sz="2400" dirty="0" smtClean="0">
                <a:latin typeface="Times New Roman" charset="0"/>
              </a:rPr>
              <a:t>; </a:t>
            </a:r>
            <a:r>
              <a:rPr lang="en-US" altLang="zh-CN" sz="2400" dirty="0" err="1" smtClean="0">
                <a:latin typeface="Times New Roman" charset="0"/>
              </a:rPr>
              <a:t>cout</a:t>
            </a:r>
            <a:r>
              <a:rPr lang="en-US" altLang="zh-CN" sz="2400" dirty="0" smtClean="0">
                <a:latin typeface="Times New Roman" charset="0"/>
              </a:rPr>
              <a:t>&lt;&lt;"</a:t>
            </a:r>
            <a:r>
              <a:rPr lang="en-US" altLang="zh-CN" sz="2400" dirty="0">
                <a:latin typeface="Times New Roman" charset="0"/>
              </a:rPr>
              <a:t>Constructor! </a:t>
            </a:r>
            <a:r>
              <a:rPr lang="en-US" altLang="zh-CN" sz="2400" dirty="0" smtClean="0">
                <a:latin typeface="Times New Roman" charset="0"/>
              </a:rPr>
              <a:t>"; </a:t>
            </a:r>
            <a:r>
              <a:rPr lang="en-US" altLang="zh-CN" sz="2400" dirty="0">
                <a:latin typeface="Times New Roman" charset="0"/>
              </a:rPr>
              <a:t>display( ); }	</a:t>
            </a:r>
          </a:p>
          <a:p>
            <a:pPr algn="just">
              <a:lnSpc>
                <a:spcPts val="2400"/>
              </a:lnSpc>
              <a:defRPr/>
            </a:pPr>
            <a:r>
              <a:rPr lang="en-US" altLang="zh-CN" sz="2400" dirty="0">
                <a:latin typeface="Times New Roman" charset="0"/>
              </a:rPr>
              <a:t>	complex(complex &amp;c</a:t>
            </a:r>
            <a:r>
              <a:rPr lang="en-US" altLang="zh-CN" sz="2400" dirty="0" smtClean="0">
                <a:latin typeface="Times New Roman" charset="0"/>
              </a:rPr>
              <a:t>) : r(</a:t>
            </a:r>
            <a:r>
              <a:rPr lang="en-US" altLang="zh-CN" sz="2400" dirty="0" err="1" smtClean="0">
                <a:latin typeface="Times New Roman" charset="0"/>
              </a:rPr>
              <a:t>c.r</a:t>
            </a:r>
            <a:r>
              <a:rPr lang="en-US" altLang="zh-CN" sz="2400" dirty="0" smtClean="0">
                <a:latin typeface="Times New Roman" charset="0"/>
              </a:rPr>
              <a:t>), </a:t>
            </a:r>
            <a:r>
              <a:rPr lang="en-US" altLang="zh-CN" sz="2400" dirty="0" err="1" smtClean="0">
                <a:latin typeface="Times New Roman" charset="0"/>
              </a:rPr>
              <a:t>i</a:t>
            </a:r>
            <a:r>
              <a:rPr lang="en-US" altLang="zh-CN" sz="2400" dirty="0" smtClean="0">
                <a:latin typeface="Times New Roman" charset="0"/>
              </a:rPr>
              <a:t>(</a:t>
            </a:r>
            <a:r>
              <a:rPr lang="en-US" altLang="zh-CN" sz="2400" dirty="0" err="1" smtClean="0">
                <a:latin typeface="Times New Roman" charset="0"/>
              </a:rPr>
              <a:t>c.i</a:t>
            </a:r>
            <a:r>
              <a:rPr lang="en-US" altLang="zh-CN" sz="2400" dirty="0">
                <a:latin typeface="Times New Roman" charset="0"/>
              </a:rPr>
              <a:t>)</a:t>
            </a:r>
          </a:p>
          <a:p>
            <a:pPr algn="just">
              <a:lnSpc>
                <a:spcPts val="2400"/>
              </a:lnSpc>
              <a:defRPr/>
            </a:pPr>
            <a:r>
              <a:rPr lang="en-US" altLang="zh-CN" sz="2400" dirty="0">
                <a:latin typeface="Times New Roman" charset="0"/>
              </a:rPr>
              <a:t>    {</a:t>
            </a:r>
            <a:r>
              <a:rPr lang="en-US" altLang="zh-CN" sz="2400" dirty="0" err="1">
                <a:latin typeface="Times New Roman" charset="0"/>
              </a:rPr>
              <a:t>cout</a:t>
            </a:r>
            <a:r>
              <a:rPr lang="en-US" altLang="zh-CN" sz="2400" dirty="0">
                <a:latin typeface="Times New Roman" charset="0"/>
              </a:rPr>
              <a:t> &lt;&lt; "Copy Constructor!"; display</a:t>
            </a:r>
            <a:r>
              <a:rPr lang="en-US" altLang="zh-CN" sz="2400" dirty="0" smtClean="0">
                <a:latin typeface="Times New Roman" charset="0"/>
              </a:rPr>
              <a:t>();}</a:t>
            </a:r>
          </a:p>
          <a:p>
            <a:pPr algn="just">
              <a:lnSpc>
                <a:spcPts val="2400"/>
              </a:lnSpc>
              <a:defRPr/>
            </a:pPr>
            <a:r>
              <a:rPr lang="en-US" altLang="zh-CN" sz="2400" dirty="0" smtClean="0">
                <a:latin typeface="Times New Roman" charset="0"/>
              </a:rPr>
              <a:t>     ~</a:t>
            </a:r>
            <a:r>
              <a:rPr lang="en-US" altLang="zh-CN" sz="2400" dirty="0">
                <a:latin typeface="Times New Roman" charset="0"/>
              </a:rPr>
              <a:t>complex( ){</a:t>
            </a:r>
            <a:r>
              <a:rPr lang="en-US" altLang="zh-CN" sz="2400" dirty="0" err="1">
                <a:latin typeface="Times New Roman" charset="0"/>
              </a:rPr>
              <a:t>cout</a:t>
            </a:r>
            <a:r>
              <a:rPr lang="en-US" altLang="zh-CN" sz="2400" dirty="0">
                <a:latin typeface="Times New Roman" charset="0"/>
              </a:rPr>
              <a:t> &lt;&lt; "Destructor!"; display();}</a:t>
            </a:r>
          </a:p>
          <a:p>
            <a:pPr algn="just">
              <a:lnSpc>
                <a:spcPts val="2400"/>
              </a:lnSpc>
              <a:defRPr/>
            </a:pPr>
            <a:r>
              <a:rPr lang="en-US" altLang="zh-CN" sz="2400" dirty="0">
                <a:latin typeface="Times New Roman" charset="0"/>
              </a:rPr>
              <a:t>	complex operator + (complex c2);  //</a:t>
            </a:r>
            <a:r>
              <a:rPr lang="zh-CN" altLang="en-US" sz="2400" dirty="0">
                <a:latin typeface="Times New Roman" charset="0"/>
              </a:rPr>
              <a:t>运算符</a:t>
            </a:r>
            <a:r>
              <a:rPr lang="en-US" altLang="zh-CN" sz="2400" dirty="0">
                <a:latin typeface="Times New Roman" charset="0"/>
              </a:rPr>
              <a:t>+</a:t>
            </a:r>
            <a:r>
              <a:rPr lang="zh-CN" altLang="en-US" sz="2400" dirty="0">
                <a:latin typeface="Times New Roman" charset="0"/>
              </a:rPr>
              <a:t>重载成员函数</a:t>
            </a:r>
          </a:p>
          <a:p>
            <a:pPr algn="just">
              <a:lnSpc>
                <a:spcPts val="2400"/>
              </a:lnSpc>
              <a:defRPr/>
            </a:pPr>
            <a:r>
              <a:rPr lang="zh-CN" altLang="en-US" sz="2400" dirty="0">
                <a:latin typeface="Times New Roman" charset="0"/>
              </a:rPr>
              <a:t>	</a:t>
            </a:r>
            <a:r>
              <a:rPr lang="en-US" altLang="zh-CN" sz="2400" dirty="0">
                <a:latin typeface="Times New Roman" charset="0"/>
              </a:rPr>
              <a:t>complex operator - (complex c2);   //</a:t>
            </a:r>
            <a:r>
              <a:rPr lang="zh-CN" altLang="en-US" sz="2400" dirty="0">
                <a:latin typeface="Times New Roman" charset="0"/>
              </a:rPr>
              <a:t>运算符</a:t>
            </a:r>
            <a:r>
              <a:rPr lang="en-US" altLang="zh-CN" sz="2400" dirty="0">
                <a:latin typeface="Times New Roman" charset="0"/>
              </a:rPr>
              <a:t>-</a:t>
            </a:r>
            <a:r>
              <a:rPr lang="zh-CN" altLang="en-US" sz="2400" dirty="0">
                <a:latin typeface="Times New Roman" charset="0"/>
              </a:rPr>
              <a:t>重载成员函数</a:t>
            </a:r>
          </a:p>
          <a:p>
            <a:pPr algn="just">
              <a:lnSpc>
                <a:spcPts val="2400"/>
              </a:lnSpc>
              <a:defRPr/>
            </a:pPr>
            <a:r>
              <a:rPr lang="zh-CN" altLang="en-US" sz="2400" dirty="0">
                <a:latin typeface="Times New Roman" charset="0"/>
              </a:rPr>
              <a:t>	</a:t>
            </a:r>
            <a:r>
              <a:rPr lang="en-US" altLang="zh-CN" sz="2400" dirty="0">
                <a:latin typeface="Times New Roman" charset="0"/>
              </a:rPr>
              <a:t>void display( );	//</a:t>
            </a:r>
            <a:r>
              <a:rPr lang="zh-CN" altLang="en-US" sz="2400" dirty="0">
                <a:latin typeface="Times New Roman" charset="0"/>
              </a:rPr>
              <a:t>输出复数</a:t>
            </a:r>
          </a:p>
          <a:p>
            <a:pPr algn="just">
              <a:lnSpc>
                <a:spcPts val="2400"/>
              </a:lnSpc>
              <a:defRPr/>
            </a:pPr>
            <a:r>
              <a:rPr lang="en-US" altLang="zh-CN" sz="2400" dirty="0">
                <a:latin typeface="Times New Roman" charset="0"/>
              </a:rPr>
              <a:t>private:	//</a:t>
            </a:r>
            <a:r>
              <a:rPr lang="zh-CN" altLang="en-US" sz="2400" dirty="0">
                <a:latin typeface="Times New Roman" charset="0"/>
              </a:rPr>
              <a:t>私有数据成员</a:t>
            </a:r>
          </a:p>
          <a:p>
            <a:pPr algn="just">
              <a:lnSpc>
                <a:spcPts val="2400"/>
              </a:lnSpc>
              <a:defRPr/>
            </a:pPr>
            <a:r>
              <a:rPr lang="zh-CN" altLang="en-US" sz="2400" dirty="0">
                <a:latin typeface="Times New Roman" charset="0"/>
              </a:rPr>
              <a:t>	</a:t>
            </a:r>
            <a:r>
              <a:rPr lang="en-US" altLang="zh-CN" sz="2400" dirty="0">
                <a:latin typeface="Times New Roman" charset="0"/>
              </a:rPr>
              <a:t>double r;	//</a:t>
            </a:r>
            <a:r>
              <a:rPr lang="zh-CN" altLang="en-US" sz="2400" dirty="0">
                <a:latin typeface="Times New Roman" charset="0"/>
              </a:rPr>
              <a:t>复数实部</a:t>
            </a:r>
          </a:p>
          <a:p>
            <a:pPr algn="just">
              <a:lnSpc>
                <a:spcPts val="2400"/>
              </a:lnSpc>
              <a:defRPr/>
            </a:pPr>
            <a:r>
              <a:rPr lang="zh-CN" altLang="en-US" sz="2400" dirty="0">
                <a:latin typeface="Times New Roman" charset="0"/>
              </a:rPr>
              <a:t>	</a:t>
            </a:r>
            <a:r>
              <a:rPr lang="en-US" altLang="zh-CN" sz="2400" dirty="0">
                <a:latin typeface="Times New Roman" charset="0"/>
              </a:rPr>
              <a:t>double </a:t>
            </a:r>
            <a:r>
              <a:rPr lang="en-US" altLang="zh-CN" sz="2400" dirty="0" err="1">
                <a:latin typeface="Times New Roman" charset="0"/>
              </a:rPr>
              <a:t>i</a:t>
            </a:r>
            <a:r>
              <a:rPr lang="en-US" altLang="zh-CN" sz="2400" dirty="0">
                <a:latin typeface="Times New Roman" charset="0"/>
              </a:rPr>
              <a:t>;	//</a:t>
            </a:r>
            <a:r>
              <a:rPr lang="zh-CN" altLang="en-US" sz="2400" dirty="0">
                <a:latin typeface="Times New Roman" charset="0"/>
              </a:rPr>
              <a:t>复数虚部</a:t>
            </a:r>
          </a:p>
          <a:p>
            <a:pPr algn="just">
              <a:lnSpc>
                <a:spcPts val="2400"/>
              </a:lnSpc>
              <a:defRPr/>
            </a:pPr>
            <a:r>
              <a:rPr lang="en-US" altLang="zh-CN" sz="2400" dirty="0">
                <a:latin typeface="Times New Roman" charset="0"/>
              </a:rPr>
              <a:t>};</a:t>
            </a:r>
            <a:endParaRPr lang="zh-CN" altLang="en-US" sz="2400" dirty="0" smtClean="0">
              <a:effectLst/>
            </a:endParaRP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defRPr/>
            </a:pPr>
            <a:endParaRPr lang="en-US" altLang="zh-CN" sz="2400" dirty="0" smtClean="0">
              <a:latin typeface="Times New Roman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0B1E6AF7-8BF6-42D5-A9DA-916FA7D0B6C9}" type="slidenum">
              <a:rPr lang="en-US" altLang="zh-CN" sz="1000" smtClean="0"/>
              <a:pPr eaLnBrk="1" hangingPunct="1">
                <a:defRPr/>
              </a:pPr>
              <a:t>7</a:t>
            </a:fld>
            <a:endParaRPr lang="en-US" altLang="zh-CN" sz="1000" smtClean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69875" y="333375"/>
            <a:ext cx="8766175" cy="6335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algn="just" eaLnBrk="1" hangingPunct="1">
              <a:lnSpc>
                <a:spcPct val="80000"/>
              </a:lnSpc>
              <a:defRPr/>
            </a:pPr>
            <a:r>
              <a:rPr lang="en-US" altLang="zh-CN" sz="2400" dirty="0">
                <a:latin typeface="Times New Roman" charset="0"/>
              </a:rPr>
              <a:t>complex complex::operator +(complex c2)	//</a:t>
            </a:r>
            <a:r>
              <a:rPr lang="zh-CN" altLang="en-US" sz="2400" dirty="0">
                <a:latin typeface="Times New Roman" charset="0"/>
              </a:rPr>
              <a:t>重载运算符函数实现</a:t>
            </a:r>
          </a:p>
          <a:p>
            <a:pPr algn="just" eaLnBrk="1" hangingPunct="1">
              <a:lnSpc>
                <a:spcPct val="80000"/>
              </a:lnSpc>
              <a:defRPr/>
            </a:pPr>
            <a:r>
              <a:rPr lang="en-US" altLang="zh-CN" sz="2400" dirty="0">
                <a:latin typeface="Times New Roman" charset="0"/>
              </a:rPr>
              <a:t>{	return complex(r+c2.r, i+c2.i); }  //</a:t>
            </a:r>
            <a:r>
              <a:rPr lang="zh-CN" altLang="en-US" sz="2400" dirty="0">
                <a:latin typeface="Times New Roman" charset="0"/>
              </a:rPr>
              <a:t>创建临时无名对象作为返回值</a:t>
            </a:r>
          </a:p>
          <a:p>
            <a:pPr algn="just" eaLnBrk="1" hangingPunct="1">
              <a:lnSpc>
                <a:spcPct val="80000"/>
              </a:lnSpc>
              <a:defRPr/>
            </a:pPr>
            <a:r>
              <a:rPr lang="en-US" altLang="zh-CN" sz="2400" dirty="0">
                <a:latin typeface="Times New Roman" charset="0"/>
              </a:rPr>
              <a:t>complex complex::operator -(complex c2)//</a:t>
            </a:r>
            <a:r>
              <a:rPr lang="zh-CN" altLang="en-US" sz="2400" dirty="0">
                <a:latin typeface="Times New Roman" charset="0"/>
              </a:rPr>
              <a:t>重载运算符函数实现</a:t>
            </a:r>
          </a:p>
          <a:p>
            <a:pPr algn="just" eaLnBrk="1" hangingPunct="1">
              <a:lnSpc>
                <a:spcPct val="80000"/>
              </a:lnSpc>
              <a:defRPr/>
            </a:pPr>
            <a:r>
              <a:rPr lang="en-US" altLang="zh-CN" sz="2400" dirty="0">
                <a:latin typeface="Times New Roman" charset="0"/>
              </a:rPr>
              <a:t>{	return complex(r-c2.r, i-c2.i); }   //</a:t>
            </a:r>
            <a:r>
              <a:rPr lang="zh-CN" altLang="en-US" sz="2400" dirty="0">
                <a:latin typeface="Times New Roman" charset="0"/>
              </a:rPr>
              <a:t>创建临时无名对象作为返回值</a:t>
            </a:r>
          </a:p>
          <a:p>
            <a:pPr algn="just" eaLnBrk="1" hangingPunct="1">
              <a:lnSpc>
                <a:spcPct val="80000"/>
              </a:lnSpc>
              <a:defRPr/>
            </a:pPr>
            <a:r>
              <a:rPr lang="en-US" altLang="zh-CN" sz="2400" dirty="0">
                <a:latin typeface="Times New Roman" charset="0"/>
              </a:rPr>
              <a:t>void complex::display( )</a:t>
            </a:r>
          </a:p>
          <a:p>
            <a:pPr algn="just" eaLnBrk="1" hangingPunct="1">
              <a:lnSpc>
                <a:spcPct val="80000"/>
              </a:lnSpc>
              <a:defRPr/>
            </a:pPr>
            <a:r>
              <a:rPr lang="en-US" altLang="zh-CN" sz="2400" dirty="0">
                <a:latin typeface="Times New Roman" charset="0"/>
              </a:rPr>
              <a:t>{	</a:t>
            </a:r>
            <a:r>
              <a:rPr lang="en-US" altLang="zh-CN" sz="2400" dirty="0" err="1">
                <a:latin typeface="Times New Roman" charset="0"/>
              </a:rPr>
              <a:t>cout</a:t>
            </a:r>
            <a:r>
              <a:rPr lang="en-US" altLang="zh-CN" sz="2400" dirty="0">
                <a:latin typeface="Times New Roman" charset="0"/>
              </a:rPr>
              <a:t>&lt;&lt;"("&lt;&lt;r&lt;&lt;","&lt;&lt;</a:t>
            </a:r>
            <a:r>
              <a:rPr lang="en-US" altLang="zh-CN" sz="2400" dirty="0" err="1">
                <a:latin typeface="Times New Roman" charset="0"/>
              </a:rPr>
              <a:t>i</a:t>
            </a:r>
            <a:r>
              <a:rPr lang="en-US" altLang="zh-CN" sz="2400" dirty="0">
                <a:latin typeface="Times New Roman" charset="0"/>
              </a:rPr>
              <a:t>&lt;&lt;")"&lt;&lt;</a:t>
            </a:r>
            <a:r>
              <a:rPr lang="en-US" altLang="zh-CN" sz="2400" dirty="0" err="1">
                <a:latin typeface="Times New Roman" charset="0"/>
              </a:rPr>
              <a:t>endl</a:t>
            </a:r>
            <a:r>
              <a:rPr lang="en-US" altLang="zh-CN" sz="2400" dirty="0">
                <a:latin typeface="Times New Roman" charset="0"/>
              </a:rPr>
              <a:t>; }</a:t>
            </a:r>
          </a:p>
          <a:p>
            <a:pPr algn="just" eaLnBrk="1" hangingPunct="1">
              <a:lnSpc>
                <a:spcPct val="80000"/>
              </a:lnSpc>
              <a:defRPr/>
            </a:pPr>
            <a:r>
              <a:rPr lang="en-US" altLang="zh-CN" sz="2400" dirty="0">
                <a:latin typeface="Times New Roman" charset="0"/>
              </a:rPr>
              <a:t>void main( )	//</a:t>
            </a:r>
            <a:r>
              <a:rPr lang="zh-CN" altLang="en-US" sz="2400" dirty="0">
                <a:latin typeface="Times New Roman" charset="0"/>
              </a:rPr>
              <a:t>主函数</a:t>
            </a:r>
          </a:p>
          <a:p>
            <a:pPr algn="just" eaLnBrk="1" hangingPunct="1">
              <a:lnSpc>
                <a:spcPct val="80000"/>
              </a:lnSpc>
              <a:defRPr/>
            </a:pPr>
            <a:r>
              <a:rPr lang="en-US" altLang="zh-CN" sz="2400" dirty="0">
                <a:latin typeface="Times New Roman" charset="0"/>
              </a:rPr>
              <a:t>{	complex c1(5,4),c2(2,10),c3;	//</a:t>
            </a:r>
            <a:r>
              <a:rPr lang="zh-CN" altLang="en-US" sz="2400" dirty="0">
                <a:latin typeface="Times New Roman" charset="0"/>
              </a:rPr>
              <a:t>声明复数类的对象</a:t>
            </a:r>
          </a:p>
          <a:p>
            <a:pPr algn="just" eaLnBrk="1" hangingPunct="1">
              <a:lnSpc>
                <a:spcPct val="80000"/>
              </a:lnSpc>
              <a:defRPr/>
            </a:pPr>
            <a:r>
              <a:rPr lang="zh-CN" altLang="en-US" sz="2400" dirty="0">
                <a:latin typeface="Times New Roman" charset="0"/>
              </a:rPr>
              <a:t>	</a:t>
            </a:r>
            <a:r>
              <a:rPr lang="en-US" altLang="zh-CN" sz="2400" dirty="0" err="1">
                <a:latin typeface="Times New Roman" charset="0"/>
              </a:rPr>
              <a:t>cout</a:t>
            </a:r>
            <a:r>
              <a:rPr lang="en-US" altLang="zh-CN" sz="2400" dirty="0">
                <a:latin typeface="Times New Roman" charset="0"/>
              </a:rPr>
              <a:t>&lt;&lt;"c1=";c1.display();</a:t>
            </a:r>
          </a:p>
          <a:p>
            <a:pPr algn="just" eaLnBrk="1" hangingPunct="1">
              <a:lnSpc>
                <a:spcPct val="80000"/>
              </a:lnSpc>
              <a:defRPr/>
            </a:pPr>
            <a:r>
              <a:rPr lang="en-US" altLang="zh-CN" sz="2400" dirty="0">
                <a:latin typeface="Times New Roman" charset="0"/>
              </a:rPr>
              <a:t>	</a:t>
            </a:r>
            <a:r>
              <a:rPr lang="en-US" altLang="zh-CN" sz="2400" dirty="0" err="1">
                <a:latin typeface="Times New Roman" charset="0"/>
              </a:rPr>
              <a:t>cout</a:t>
            </a:r>
            <a:r>
              <a:rPr lang="en-US" altLang="zh-CN" sz="2400" dirty="0">
                <a:latin typeface="Times New Roman" charset="0"/>
              </a:rPr>
              <a:t>&lt;&lt;"c2=";c2.display();</a:t>
            </a:r>
          </a:p>
          <a:p>
            <a:pPr algn="just" eaLnBrk="1" hangingPunct="1">
              <a:lnSpc>
                <a:spcPct val="80000"/>
              </a:lnSpc>
              <a:defRPr/>
            </a:pPr>
            <a:r>
              <a:rPr lang="en-US" altLang="zh-CN" sz="2400" dirty="0">
                <a:latin typeface="Times New Roman" charset="0"/>
              </a:rPr>
              <a:t>	c3=c1-c2;	//</a:t>
            </a:r>
            <a:r>
              <a:rPr lang="zh-CN" altLang="en-US" sz="2400" dirty="0">
                <a:latin typeface="Times New Roman" charset="0"/>
              </a:rPr>
              <a:t>使用重载运算符完成复数减法</a:t>
            </a:r>
          </a:p>
          <a:p>
            <a:pPr algn="just" eaLnBrk="1" hangingPunct="1">
              <a:lnSpc>
                <a:spcPct val="80000"/>
              </a:lnSpc>
              <a:defRPr/>
            </a:pPr>
            <a:r>
              <a:rPr lang="zh-CN" altLang="en-US" sz="2400" dirty="0">
                <a:latin typeface="Times New Roman" charset="0"/>
              </a:rPr>
              <a:t>	</a:t>
            </a:r>
            <a:r>
              <a:rPr lang="en-US" altLang="zh-CN" sz="2400" dirty="0" err="1">
                <a:latin typeface="Times New Roman" charset="0"/>
              </a:rPr>
              <a:t>cout</a:t>
            </a:r>
            <a:r>
              <a:rPr lang="en-US" altLang="zh-CN" sz="2400" dirty="0">
                <a:latin typeface="Times New Roman" charset="0"/>
              </a:rPr>
              <a:t>&lt;&lt;"c3=c1-c2=";</a:t>
            </a:r>
          </a:p>
          <a:p>
            <a:pPr algn="just" eaLnBrk="1" hangingPunct="1">
              <a:lnSpc>
                <a:spcPct val="80000"/>
              </a:lnSpc>
              <a:defRPr/>
            </a:pPr>
            <a:r>
              <a:rPr lang="en-US" altLang="zh-CN" sz="2400" dirty="0">
                <a:latin typeface="Times New Roman" charset="0"/>
              </a:rPr>
              <a:t>	c3.display( );</a:t>
            </a:r>
          </a:p>
          <a:p>
            <a:pPr algn="just" eaLnBrk="1" hangingPunct="1">
              <a:lnSpc>
                <a:spcPct val="80000"/>
              </a:lnSpc>
              <a:defRPr/>
            </a:pPr>
            <a:r>
              <a:rPr lang="en-US" altLang="zh-CN" sz="2400" dirty="0">
                <a:latin typeface="Times New Roman" charset="0"/>
              </a:rPr>
              <a:t>	c3=c1+c2;	//</a:t>
            </a:r>
            <a:r>
              <a:rPr lang="zh-CN" altLang="en-US" sz="2400" dirty="0">
                <a:latin typeface="Times New Roman" charset="0"/>
              </a:rPr>
              <a:t>使用重载运算符完成复数加法</a:t>
            </a:r>
          </a:p>
          <a:p>
            <a:pPr algn="just" eaLnBrk="1" hangingPunct="1">
              <a:lnSpc>
                <a:spcPct val="80000"/>
              </a:lnSpc>
              <a:defRPr/>
            </a:pPr>
            <a:r>
              <a:rPr lang="zh-CN" altLang="en-US" sz="2400" dirty="0">
                <a:latin typeface="Times New Roman" charset="0"/>
              </a:rPr>
              <a:t>	</a:t>
            </a:r>
            <a:r>
              <a:rPr lang="en-US" altLang="zh-CN" sz="2400" dirty="0" err="1">
                <a:latin typeface="Times New Roman" charset="0"/>
              </a:rPr>
              <a:t>cout</a:t>
            </a:r>
            <a:r>
              <a:rPr lang="en-US" altLang="zh-CN" sz="2400" dirty="0">
                <a:latin typeface="Times New Roman" charset="0"/>
              </a:rPr>
              <a:t>&lt;&lt;"c3=c1+c2=";</a:t>
            </a:r>
          </a:p>
          <a:p>
            <a:pPr algn="just" eaLnBrk="1" hangingPunct="1">
              <a:lnSpc>
                <a:spcPct val="80000"/>
              </a:lnSpc>
              <a:defRPr/>
            </a:pPr>
            <a:r>
              <a:rPr lang="en-US" altLang="zh-CN" sz="2400" dirty="0">
                <a:latin typeface="Times New Roman" charset="0"/>
              </a:rPr>
              <a:t>	c3.display( );</a:t>
            </a:r>
          </a:p>
          <a:p>
            <a:pPr algn="just" eaLnBrk="1" hangingPunct="1">
              <a:lnSpc>
                <a:spcPct val="80000"/>
              </a:lnSpc>
              <a:defRPr/>
            </a:pPr>
            <a:r>
              <a:rPr lang="en-US" altLang="zh-CN" sz="2400" dirty="0">
                <a:latin typeface="Times New Roman" charset="0"/>
              </a:rPr>
              <a:t>}</a:t>
            </a:r>
            <a:endParaRPr lang="en-US" altLang="zh-CN" sz="2400" dirty="0"/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defRPr/>
            </a:pPr>
            <a:endParaRPr lang="en-US" altLang="zh-CN" sz="2400" dirty="0" smtClean="0">
              <a:latin typeface="Times New Roman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97C6AB40-26D7-4F3E-BF4F-867268F0D3BB}" type="slidenum">
              <a:rPr lang="en-US" altLang="zh-CN" sz="1000" smtClean="0"/>
              <a:pPr eaLnBrk="1" hangingPunct="1">
                <a:defRPr/>
              </a:pPr>
              <a:t>8</a:t>
            </a:fld>
            <a:endParaRPr lang="en-US" altLang="zh-CN" sz="1000" smtClean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67544" y="332656"/>
            <a:ext cx="7992888" cy="6203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26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</a:rPr>
              <a:t>运行结果：</a:t>
            </a:r>
          </a:p>
          <a:p>
            <a:pPr marL="342900" indent="-342900" algn="just" eaLnBrk="1" hangingPunct="1">
              <a:lnSpc>
                <a:spcPts val="18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</a:rPr>
              <a:t>Constructor! (5,4)</a:t>
            </a:r>
          </a:p>
          <a:p>
            <a:pPr marL="342900" indent="-342900" algn="just" eaLnBrk="1" hangingPunct="1">
              <a:lnSpc>
                <a:spcPts val="18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</a:rPr>
              <a:t>Constructor! (2,10)</a:t>
            </a:r>
          </a:p>
          <a:p>
            <a:pPr marL="342900" indent="-342900" algn="just" eaLnBrk="1" hangingPunct="1">
              <a:lnSpc>
                <a:spcPts val="18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</a:rPr>
              <a:t>Constructor! (0,0)</a:t>
            </a:r>
          </a:p>
          <a:p>
            <a:pPr marL="342900" indent="-342900" algn="just" eaLnBrk="1" hangingPunct="1">
              <a:lnSpc>
                <a:spcPts val="18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</a:rPr>
              <a:t>c1=(5,4)</a:t>
            </a:r>
          </a:p>
          <a:p>
            <a:pPr marL="342900" indent="-342900" algn="just" eaLnBrk="1" hangingPunct="1">
              <a:lnSpc>
                <a:spcPts val="18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</a:rPr>
              <a:t>c2=(2,10)</a:t>
            </a:r>
          </a:p>
          <a:p>
            <a:pPr marL="342900" indent="-342900" algn="just" eaLnBrk="1" hangingPunct="1">
              <a:lnSpc>
                <a:spcPts val="18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</a:rPr>
              <a:t>Copy Constructor!(2,10)</a:t>
            </a:r>
          </a:p>
          <a:p>
            <a:pPr marL="342900" indent="-342900" algn="just" eaLnBrk="1" hangingPunct="1">
              <a:lnSpc>
                <a:spcPts val="18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</a:rPr>
              <a:t>Constructor! (3,-6)</a:t>
            </a:r>
          </a:p>
          <a:p>
            <a:pPr marL="342900" indent="-342900" algn="just" eaLnBrk="1" hangingPunct="1">
              <a:lnSpc>
                <a:spcPts val="18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</a:rPr>
              <a:t>Destructor!(2,10)</a:t>
            </a:r>
          </a:p>
          <a:p>
            <a:pPr marL="342900" indent="-342900" algn="just" eaLnBrk="1" hangingPunct="1">
              <a:lnSpc>
                <a:spcPts val="18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</a:rPr>
              <a:t>Destructor!(3,-6)</a:t>
            </a:r>
          </a:p>
          <a:p>
            <a:pPr marL="342900" indent="-342900" algn="just" eaLnBrk="1" hangingPunct="1">
              <a:lnSpc>
                <a:spcPts val="18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</a:rPr>
              <a:t>c3=c1-c2=(3,-6)</a:t>
            </a:r>
          </a:p>
          <a:p>
            <a:pPr marL="342900" indent="-342900" algn="just" eaLnBrk="1" hangingPunct="1">
              <a:lnSpc>
                <a:spcPts val="18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</a:rPr>
              <a:t>Copy Constructor!(2,10)</a:t>
            </a:r>
          </a:p>
          <a:p>
            <a:pPr marL="342900" indent="-342900" algn="just" eaLnBrk="1" hangingPunct="1">
              <a:lnSpc>
                <a:spcPts val="18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</a:rPr>
              <a:t>Constructor! (7,14)</a:t>
            </a:r>
          </a:p>
          <a:p>
            <a:pPr marL="342900" indent="-342900" algn="just" eaLnBrk="1" hangingPunct="1">
              <a:lnSpc>
                <a:spcPts val="18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</a:rPr>
              <a:t>Destructor!(2,10)</a:t>
            </a:r>
          </a:p>
          <a:p>
            <a:pPr marL="342900" indent="-342900" algn="just" eaLnBrk="1" hangingPunct="1">
              <a:lnSpc>
                <a:spcPts val="18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</a:rPr>
              <a:t>Destructor!(7,14)</a:t>
            </a:r>
          </a:p>
          <a:p>
            <a:pPr marL="342900" indent="-342900" algn="just" eaLnBrk="1" hangingPunct="1">
              <a:lnSpc>
                <a:spcPts val="18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</a:rPr>
              <a:t>c3=c1+c2=(7,14)</a:t>
            </a:r>
          </a:p>
          <a:p>
            <a:pPr marL="342900" indent="-342900" algn="just" eaLnBrk="1" hangingPunct="1">
              <a:lnSpc>
                <a:spcPts val="18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</a:rPr>
              <a:t>Destructor!(7,14)</a:t>
            </a:r>
          </a:p>
          <a:p>
            <a:pPr marL="342900" indent="-342900" algn="just" eaLnBrk="1" hangingPunct="1">
              <a:lnSpc>
                <a:spcPts val="18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</a:rPr>
              <a:t>Destructor!(2,10)</a:t>
            </a:r>
          </a:p>
          <a:p>
            <a:pPr marL="342900" indent="-342900" algn="just" eaLnBrk="1" hangingPunct="1">
              <a:lnSpc>
                <a:spcPts val="18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</a:rPr>
              <a:t>Destructor!(5,4</a:t>
            </a:r>
            <a:r>
              <a:rPr lang="en-US" altLang="zh-CN" sz="20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</a:rPr>
              <a:t>)</a:t>
            </a:r>
            <a:endParaRPr lang="en-US" altLang="zh-CN" sz="2000" dirty="0">
              <a:effectLst>
                <a:outerShdw blurRad="38100" dist="38100" dir="2700000" algn="tl">
                  <a:srgbClr val="000000"/>
                </a:outerShdw>
              </a:effectLst>
              <a:latin typeface="Times New Roman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ABEDA783-EAE1-423C-AFB7-3BF155693E48}" type="slidenum">
              <a:rPr lang="en-US" altLang="zh-CN" sz="1000" smtClean="0"/>
              <a:pPr eaLnBrk="1" hangingPunct="1">
                <a:defRPr/>
              </a:pPr>
              <a:t>9</a:t>
            </a:fld>
            <a:endParaRPr lang="en-US" altLang="zh-CN" sz="1000" smtClean="0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323850" y="836613"/>
            <a:ext cx="8496300" cy="5472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zh-CN" altLang="en-US" sz="3200" dirty="0" smtClean="0">
                <a:effectLst/>
              </a:rPr>
              <a:t>考试主要是：</a:t>
            </a:r>
            <a:r>
              <a:rPr lang="en-US" altLang="zh-CN" sz="3200" dirty="0" smtClean="0">
                <a:effectLst/>
              </a:rPr>
              <a:t>C++</a:t>
            </a:r>
            <a:r>
              <a:rPr lang="zh-CN" altLang="en-US" sz="3200" dirty="0" smtClean="0">
                <a:effectLst/>
              </a:rPr>
              <a:t>的基本概念和语法</a:t>
            </a:r>
            <a:endParaRPr lang="en-US" altLang="zh-CN" sz="3200" dirty="0" smtClean="0">
              <a:effectLst/>
            </a:endParaRPr>
          </a:p>
          <a:p>
            <a:pPr>
              <a:defRPr/>
            </a:pPr>
            <a:r>
              <a:rPr lang="zh-CN" altLang="en-US" sz="4000" dirty="0" smtClean="0">
                <a:effectLst/>
              </a:rPr>
              <a:t>考试范围：</a:t>
            </a:r>
            <a:r>
              <a:rPr lang="zh-CN" altLang="en-US" sz="3200" dirty="0" smtClean="0">
                <a:effectLst/>
              </a:rPr>
              <a:t>讲课</a:t>
            </a:r>
            <a:r>
              <a:rPr lang="zh-CN" altLang="en-US" sz="3200" dirty="0">
                <a:effectLst/>
              </a:rPr>
              <a:t>的内容，</a:t>
            </a:r>
            <a:r>
              <a:rPr lang="zh-CN" altLang="en-US" sz="3200" dirty="0" smtClean="0">
                <a:effectLst/>
              </a:rPr>
              <a:t>除了多继承、模板</a:t>
            </a:r>
            <a:r>
              <a:rPr lang="zh-CN" altLang="en-US" sz="3200" dirty="0">
                <a:effectLst/>
              </a:rPr>
              <a:t>、异常处理</a:t>
            </a:r>
            <a:r>
              <a:rPr lang="zh-CN" altLang="en-US" sz="3200" dirty="0" smtClean="0">
                <a:effectLst/>
              </a:rPr>
              <a:t>、标准</a:t>
            </a:r>
            <a:r>
              <a:rPr lang="zh-CN" altLang="en-US" sz="3200" dirty="0">
                <a:effectLst/>
              </a:rPr>
              <a:t>模板库（</a:t>
            </a:r>
            <a:r>
              <a:rPr lang="en-US" altLang="zh-CN" sz="3200" dirty="0">
                <a:effectLst/>
              </a:rPr>
              <a:t>STL</a:t>
            </a:r>
            <a:r>
              <a:rPr lang="zh-CN" altLang="en-US" sz="3200" dirty="0" smtClean="0">
                <a:effectLst/>
              </a:rPr>
              <a:t>）不考，</a:t>
            </a:r>
            <a:endParaRPr lang="zh-CN" altLang="en-US" sz="3200" dirty="0">
              <a:effectLst/>
            </a:endParaRPr>
          </a:p>
          <a:p>
            <a:pPr>
              <a:defRPr/>
            </a:pPr>
            <a:r>
              <a:rPr lang="zh-CN" altLang="en-US" sz="3200" dirty="0">
                <a:effectLst/>
              </a:rPr>
              <a:t>其余（</a:t>
            </a:r>
            <a:r>
              <a:rPr lang="zh-CN" altLang="en-US" sz="3200" b="1" dirty="0">
                <a:effectLst/>
              </a:rPr>
              <a:t>几个基本问题、类、函数重载、操作符重载、类的派生与继承</a:t>
            </a:r>
            <a:r>
              <a:rPr lang="zh-CN" altLang="en-US" sz="3200" b="1" dirty="0" smtClean="0">
                <a:effectLst/>
              </a:rPr>
              <a:t>、虚函数、流</a:t>
            </a:r>
            <a:r>
              <a:rPr lang="zh-CN" altLang="en-US" sz="3200" b="1" dirty="0">
                <a:effectLst/>
              </a:rPr>
              <a:t>类库与输入输出</a:t>
            </a:r>
            <a:r>
              <a:rPr lang="zh-CN" altLang="en-US" sz="3200" dirty="0">
                <a:effectLst/>
              </a:rPr>
              <a:t>）都考。</a:t>
            </a:r>
          </a:p>
          <a:p>
            <a:pPr>
              <a:defRPr/>
            </a:pPr>
            <a:endParaRPr lang="en-US" altLang="zh-CN" sz="2800" dirty="0" smtClean="0">
              <a:effectLst/>
            </a:endParaRPr>
          </a:p>
          <a:p>
            <a:pPr>
              <a:defRPr/>
            </a:pPr>
            <a:endParaRPr lang="zh-CN" altLang="en-US" sz="2800" dirty="0" smtClean="0">
              <a:effectLst/>
            </a:endParaRP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defRPr/>
            </a:pPr>
            <a:endParaRPr lang="en-US" altLang="zh-CN" sz="2800" dirty="0" smtClean="0">
              <a:latin typeface="Times New Roman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讲义模板_20040621_">
  <a:themeElements>
    <a:clrScheme name="讲义模板_20040621_ 3">
      <a:dk1>
        <a:srgbClr val="003B76"/>
      </a:dk1>
      <a:lt1>
        <a:srgbClr val="FFFFFF"/>
      </a:lt1>
      <a:dk2>
        <a:srgbClr val="0066CC"/>
      </a:dk2>
      <a:lt2>
        <a:srgbClr val="CCECFF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讲义模板_20040621_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lnDef>
  </a:objectDefaults>
  <a:extraClrSchemeLst>
    <a:extraClrScheme>
      <a:clrScheme name="讲义模板_20040621_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讲义模板_20040621_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讲义模板_20040621_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讲义模板_20040621_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讲义模板_20040621_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讲义模板_20040621_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讲义模板_20040621_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讲义模板_20040621_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E:\private\kt\赛笛网\讲义模板_20040621_.pot</Template>
  <TotalTime>20262</TotalTime>
  <Words>521</Words>
  <Application>Microsoft Office PowerPoint</Application>
  <PresentationFormat>全屏显示(4:3)</PresentationFormat>
  <Paragraphs>126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黑体</vt:lpstr>
      <vt:lpstr>华文行楷</vt:lpstr>
      <vt:lpstr>华文细黑</vt:lpstr>
      <vt:lpstr>华文中宋</vt:lpstr>
      <vt:lpstr>楷体_GB2312</vt:lpstr>
      <vt:lpstr>宋体</vt:lpstr>
      <vt:lpstr>Arial</vt:lpstr>
      <vt:lpstr>Times New Roman</vt:lpstr>
      <vt:lpstr>Verdana</vt:lpstr>
      <vt:lpstr>Wingdings</vt:lpstr>
      <vt:lpstr>讲义模板_20040621_</vt:lpstr>
      <vt:lpstr>PowerPoint 演示文稿</vt:lpstr>
      <vt:lpstr>考核方式及成绩评定 </vt:lpstr>
      <vt:lpstr>笔试考题类型说明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thu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C++程序设计</dc:title>
  <dc:creator>sun</dc:creator>
  <cp:lastModifiedBy>sun</cp:lastModifiedBy>
  <cp:revision>204</cp:revision>
  <cp:lastPrinted>2019-05-28T03:23:16Z</cp:lastPrinted>
  <dcterms:created xsi:type="dcterms:W3CDTF">2004-03-13T10:01:09Z</dcterms:created>
  <dcterms:modified xsi:type="dcterms:W3CDTF">2020-05-08T09:22:10Z</dcterms:modified>
</cp:coreProperties>
</file>