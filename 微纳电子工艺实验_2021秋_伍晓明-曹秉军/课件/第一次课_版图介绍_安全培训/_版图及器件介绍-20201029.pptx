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0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 smtClean="0"/>
              <a:t>微电子工艺实验课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95F1D-B258-42B6-92F4-481E998124F0}" type="datetimeFigureOut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0DEDC-535C-426F-B4EC-9938D0579E8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05861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 smtClean="0"/>
              <a:t>微电子工艺实验课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F25699-DB26-4C4A-B9C2-A68AAE271A30}" type="datetimeFigureOut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E0DF4-D9D7-4976-9213-F0C726FD9F8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42812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E0DF4-D9D7-4976-9213-F0C726FD9F88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zh-CN" altLang="en-US" smtClean="0"/>
              <a:t>微电子工艺实验课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045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zh-CN" altLang="en-US" smtClean="0"/>
              <a:t>微电子工艺实验课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1E0DF4-D9D7-4976-9213-F0C726FD9F88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429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4FA5F-2EA9-47C7-8587-2788A6AD2671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E0D1-72DE-47BD-AF20-1A559977C565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3820D-4300-4978-B558-C6F63D82837D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F3B25-E2C5-4BDD-94CC-01406B984128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2D07D-23E6-4F3B-A96F-0D7C9E82DFCA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36F9-3D92-4ADB-9CA5-9F27B5A6FCEE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812F2-A57F-4BEB-AE45-68CFA8FD7F9F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5CBC-AAA5-462E-ABCD-C5206B0CC0CF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337B-C823-4D46-AFFE-FC5541CDE786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47-78B8-44B5-9A79-1D6C2857F22C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DB1E-0614-4F42-849E-038A6151FCFB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5CE5-9220-4B76-8C6B-D91525E8F1DB}" type="datetime1">
              <a:rPr lang="zh-CN" altLang="en-US" smtClean="0"/>
              <a:pPr/>
              <a:t>2019/10/31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aobj@tsinghua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 smtClean="0"/>
              <a:t>工艺实验课</a:t>
            </a:r>
            <a:endParaRPr lang="zh-CN" altLang="en-US" sz="5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28728" y="3643314"/>
            <a:ext cx="6400800" cy="1752600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版图及器件介绍</a:t>
            </a:r>
            <a:endParaRPr lang="en-US" altLang="zh-CN" dirty="0" smtClean="0"/>
          </a:p>
          <a:p>
            <a:endParaRPr lang="en-US" altLang="zh-CN" sz="1800" dirty="0" smtClean="0">
              <a:latin typeface="华文楷体" pitchFamily="2" charset="-122"/>
              <a:ea typeface="华文楷体" pitchFamily="2" charset="-122"/>
            </a:endParaRPr>
          </a:p>
          <a:p>
            <a:endParaRPr lang="en-US" altLang="zh-CN" sz="1800" dirty="0" smtClean="0">
              <a:latin typeface="华文楷体" pitchFamily="2" charset="-122"/>
              <a:ea typeface="华文楷体" pitchFamily="2" charset="-122"/>
            </a:endParaRPr>
          </a:p>
          <a:p>
            <a:endParaRPr lang="en-US" altLang="zh-CN" sz="1800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en-US" altLang="zh-CN" sz="1800" dirty="0" smtClean="0">
                <a:latin typeface="华文楷体" pitchFamily="2" charset="-122"/>
                <a:ea typeface="华文楷体" pitchFamily="2" charset="-122"/>
              </a:rPr>
              <a:t>                                                        </a:t>
            </a:r>
          </a:p>
          <a:p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956909" y="5857892"/>
            <a:ext cx="3187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曹秉军：</a:t>
            </a:r>
            <a:r>
              <a:rPr lang="en-US" altLang="zh-CN" dirty="0" smtClean="0">
                <a:latin typeface="华文楷体" pitchFamily="2" charset="-122"/>
                <a:ea typeface="华文楷体" pitchFamily="2" charset="-122"/>
                <a:hlinkClick r:id="rId3"/>
              </a:rPr>
              <a:t>caobj@tsinghua.edu.cn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0034" y="928670"/>
            <a:ext cx="82868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MOS</a:t>
            </a:r>
            <a:r>
              <a:rPr lang="zh-CN" altLang="en-US" b="1" dirty="0" smtClean="0"/>
              <a:t>晶体管介绍</a:t>
            </a:r>
            <a:endParaRPr lang="zh-CN" altLang="en-US" dirty="0" smtClean="0"/>
          </a:p>
          <a:p>
            <a:r>
              <a:rPr lang="en-US" dirty="0" smtClean="0"/>
              <a:t>MOS</a:t>
            </a:r>
            <a:r>
              <a:rPr lang="zh-CN" altLang="en-US" dirty="0" smtClean="0"/>
              <a:t>晶体管可分为</a:t>
            </a:r>
            <a:r>
              <a:rPr lang="en-US" dirty="0" smtClean="0"/>
              <a:t>NMOS</a:t>
            </a:r>
            <a:r>
              <a:rPr lang="zh-CN" altLang="en-US" dirty="0" smtClean="0"/>
              <a:t>管和</a:t>
            </a:r>
            <a:r>
              <a:rPr lang="en-US" dirty="0" smtClean="0"/>
              <a:t>PMOS</a:t>
            </a:r>
            <a:r>
              <a:rPr lang="zh-CN" altLang="en-US" dirty="0" smtClean="0"/>
              <a:t>管两种，</a:t>
            </a:r>
            <a:r>
              <a:rPr lang="en-US" dirty="0" smtClean="0"/>
              <a:t>NMOS</a:t>
            </a:r>
            <a:r>
              <a:rPr lang="zh-CN" altLang="en-US" dirty="0" smtClean="0"/>
              <a:t>晶体管做在</a:t>
            </a:r>
            <a:r>
              <a:rPr lang="en-US" dirty="0" smtClean="0"/>
              <a:t>P</a:t>
            </a:r>
            <a:r>
              <a:rPr lang="zh-CN" altLang="en-US" dirty="0" smtClean="0"/>
              <a:t>型衬底上，采用磷作为掺杂元素形成源漏区，栅极生长在氧化层上形成</a:t>
            </a:r>
            <a:r>
              <a:rPr lang="en-US" dirty="0" smtClean="0"/>
              <a:t>MOS</a:t>
            </a:r>
            <a:r>
              <a:rPr lang="zh-CN" altLang="en-US" dirty="0" smtClean="0"/>
              <a:t>（</a:t>
            </a:r>
            <a:r>
              <a:rPr lang="en-US" dirty="0" smtClean="0"/>
              <a:t>Metal-Oxide-Semiconductor</a:t>
            </a:r>
            <a:r>
              <a:rPr lang="zh-CN" altLang="en-US" dirty="0" smtClean="0"/>
              <a:t>）结构。</a:t>
            </a:r>
          </a:p>
          <a:p>
            <a:endParaRPr lang="zh-CN" altLang="en-US" dirty="0"/>
          </a:p>
        </p:txBody>
      </p:sp>
      <p:pic>
        <p:nvPicPr>
          <p:cNvPr id="7" name="图片 6" descr="C:\Users\lizhidong\AppData\Roaming\Tencent\Users\296478209\QQ\WinTemp\RichOle\X7E6E5PF$V9%R3~~Q[5(E9P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52" y="2643182"/>
            <a:ext cx="3681420" cy="2867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571472" y="2285992"/>
            <a:ext cx="37147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工作原理</a:t>
            </a:r>
            <a:endParaRPr lang="zh-CN" altLang="en-US" dirty="0" smtClean="0"/>
          </a:p>
          <a:p>
            <a:r>
              <a:rPr lang="zh-CN" altLang="en-US" dirty="0" smtClean="0"/>
              <a:t>当</a:t>
            </a:r>
            <a:r>
              <a:rPr lang="en-US" dirty="0" err="1" smtClean="0"/>
              <a:t>ugs</a:t>
            </a:r>
            <a:r>
              <a:rPr lang="en-US" dirty="0" smtClean="0"/>
              <a:t>=0V</a:t>
            </a:r>
            <a:r>
              <a:rPr lang="zh-CN" altLang="en-US" dirty="0" smtClean="0"/>
              <a:t>时，源漏之间相当于两个背靠背的二极管，在</a:t>
            </a:r>
            <a:r>
              <a:rPr lang="en-US" dirty="0" smtClean="0"/>
              <a:t>d</a:t>
            </a:r>
            <a:r>
              <a:rPr lang="zh-CN" altLang="en-US" dirty="0" smtClean="0"/>
              <a:t>、</a:t>
            </a:r>
            <a:r>
              <a:rPr lang="en-US" dirty="0" smtClean="0"/>
              <a:t>s</a:t>
            </a:r>
            <a:r>
              <a:rPr lang="zh-CN" altLang="en-US" dirty="0" smtClean="0"/>
              <a:t>之间加上电压也不会形成电流，即管子截止。</a:t>
            </a:r>
          </a:p>
          <a:p>
            <a:r>
              <a:rPr lang="en-US" dirty="0" smtClean="0"/>
              <a:t>    </a:t>
            </a:r>
            <a:r>
              <a:rPr lang="zh-CN" altLang="en-US" dirty="0" smtClean="0"/>
              <a:t>当</a:t>
            </a:r>
            <a:r>
              <a:rPr lang="en-US" dirty="0" err="1" smtClean="0"/>
              <a:t>ugs</a:t>
            </a:r>
            <a:r>
              <a:rPr lang="zh-CN" altLang="en-US" dirty="0" smtClean="0"/>
              <a:t>＞</a:t>
            </a:r>
            <a:r>
              <a:rPr lang="en-US" dirty="0" smtClean="0"/>
              <a:t>0V</a:t>
            </a:r>
            <a:r>
              <a:rPr lang="zh-CN" altLang="en-US" dirty="0" smtClean="0"/>
              <a:t>时，纵向电场将使靠近栅极下方的空穴向下排斥，形成耗尽层。继续增加</a:t>
            </a:r>
            <a:r>
              <a:rPr lang="en-US" dirty="0" err="1" smtClean="0"/>
              <a:t>ugs</a:t>
            </a:r>
            <a:r>
              <a:rPr lang="zh-CN" altLang="en-US" dirty="0" smtClean="0"/>
              <a:t>时，</a:t>
            </a:r>
            <a:r>
              <a:rPr lang="en-US" dirty="0" smtClean="0"/>
              <a:t>P</a:t>
            </a:r>
            <a:r>
              <a:rPr lang="zh-CN" altLang="en-US" dirty="0" smtClean="0"/>
              <a:t>区的少子电子将聚集到</a:t>
            </a:r>
            <a:r>
              <a:rPr lang="en-US" dirty="0" smtClean="0"/>
              <a:t>P</a:t>
            </a:r>
            <a:r>
              <a:rPr lang="zh-CN" altLang="en-US" dirty="0" smtClean="0"/>
              <a:t>区表面，形成导电沟道，如果存在源漏电压，这时就会产生漏极电流</a:t>
            </a:r>
            <a:r>
              <a:rPr lang="en-US" dirty="0" smtClean="0"/>
              <a:t>id</a:t>
            </a:r>
            <a:r>
              <a:rPr lang="zh-CN" altLang="en-US" dirty="0" smtClean="0"/>
              <a:t>。右图是</a:t>
            </a:r>
            <a:r>
              <a:rPr lang="en-US" dirty="0" smtClean="0"/>
              <a:t>NMOS</a:t>
            </a:r>
            <a:r>
              <a:rPr lang="zh-CN" altLang="en-US" dirty="0" smtClean="0"/>
              <a:t>增强型晶体管的结构示意图。</a:t>
            </a:r>
          </a:p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642918"/>
            <a:ext cx="50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版图整体形貌图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86512" y="1643050"/>
            <a:ext cx="24288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     </a:t>
            </a:r>
            <a:r>
              <a:rPr lang="zh-CN" altLang="en-US" dirty="0" smtClean="0"/>
              <a:t>粗对准</a:t>
            </a:r>
            <a:endParaRPr lang="en-US" altLang="zh-CN" dirty="0" smtClean="0"/>
          </a:p>
          <a:p>
            <a:pPr marL="342900" indent="-342900">
              <a:buAutoNum type="arabicPlain" startAt="2"/>
            </a:pPr>
            <a:r>
              <a:rPr lang="zh-CN" altLang="en-US" dirty="0" smtClean="0"/>
              <a:t>精对准及胖瘦符号</a:t>
            </a:r>
            <a:endParaRPr lang="en-US" altLang="zh-CN" dirty="0" smtClean="0"/>
          </a:p>
          <a:p>
            <a:pPr marL="342900" indent="-342900">
              <a:buAutoNum type="arabicPlain" startAt="2"/>
            </a:pPr>
            <a:r>
              <a:rPr lang="en-US" altLang="zh-CN" dirty="0" smtClean="0"/>
              <a:t>NMOS</a:t>
            </a:r>
            <a:r>
              <a:rPr lang="zh-CN" altLang="en-US" dirty="0" smtClean="0"/>
              <a:t>器件</a:t>
            </a:r>
            <a:endParaRPr lang="en-US" altLang="zh-CN" dirty="0" smtClean="0"/>
          </a:p>
          <a:p>
            <a:pPr marL="342900" indent="-342900">
              <a:buAutoNum type="arabicPlain" startAt="2"/>
            </a:pPr>
            <a:r>
              <a:rPr lang="en-US" altLang="zh-CN" dirty="0" smtClean="0"/>
              <a:t>MEMS</a:t>
            </a:r>
            <a:r>
              <a:rPr lang="zh-CN" altLang="en-US" dirty="0" smtClean="0"/>
              <a:t>器件</a:t>
            </a:r>
            <a:endParaRPr lang="en-US" altLang="zh-CN" dirty="0" smtClean="0"/>
          </a:p>
          <a:p>
            <a:pPr marL="342900" indent="-342900">
              <a:buAutoNum type="arabicPlain" startAt="2"/>
            </a:pPr>
            <a:r>
              <a:rPr lang="zh-CN" altLang="en-US" dirty="0" smtClean="0"/>
              <a:t>电容</a:t>
            </a:r>
            <a:endParaRPr lang="en-US" altLang="zh-CN" dirty="0" smtClean="0"/>
          </a:p>
          <a:p>
            <a:pPr marL="342900" indent="-342900">
              <a:buAutoNum type="arabicPlain" startAt="2"/>
            </a:pPr>
            <a:r>
              <a:rPr lang="zh-CN" altLang="en-US" dirty="0" smtClean="0"/>
              <a:t>二极管（</a:t>
            </a:r>
            <a:r>
              <a:rPr lang="en-US" altLang="zh-CN" dirty="0" err="1" smtClean="0"/>
              <a:t>pn</a:t>
            </a:r>
            <a:r>
              <a:rPr lang="zh-CN" altLang="en-US" dirty="0" smtClean="0"/>
              <a:t>结）</a:t>
            </a:r>
            <a:endParaRPr lang="en-US" altLang="zh-CN" dirty="0" smtClean="0"/>
          </a:p>
          <a:p>
            <a:pPr marL="342900" indent="-342900">
              <a:buAutoNum type="arabicPlain" startAt="2"/>
            </a:pPr>
            <a:r>
              <a:rPr lang="zh-CN" altLang="en-US" dirty="0" smtClean="0"/>
              <a:t>电阻条</a:t>
            </a:r>
            <a:endParaRPr lang="en-US" altLang="zh-CN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  <p:pic>
        <p:nvPicPr>
          <p:cNvPr id="2050" name="Picture 2" descr="C:\Users\lizhidong\Desktop\新建位图图 像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214422"/>
            <a:ext cx="5278177" cy="44529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500042"/>
            <a:ext cx="785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版一： 对准标记，方便后面其他版图的套刻。</a:t>
            </a:r>
            <a:endParaRPr lang="zh-CN" altLang="en-US" dirty="0"/>
          </a:p>
        </p:txBody>
      </p:sp>
      <p:pic>
        <p:nvPicPr>
          <p:cNvPr id="3" name="图片 2" descr="C:\Users\lizhidong\AppData\Roaming\Tencent\Users\296478209\QQ\WinTemp\RichOle\VASM8UOB`TJ9{35BW$(T5EG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1142984"/>
            <a:ext cx="5286411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右箭头 6"/>
          <p:cNvSpPr/>
          <p:nvPr/>
        </p:nvSpPr>
        <p:spPr>
          <a:xfrm>
            <a:off x="3857620" y="6072206"/>
            <a:ext cx="357190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071802" y="5786454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光刻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072066" y="5786454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刻蚀</a:t>
            </a:r>
            <a:endParaRPr lang="zh-CN" altLang="en-US" dirty="0"/>
          </a:p>
        </p:txBody>
      </p:sp>
      <p:sp>
        <p:nvSpPr>
          <p:cNvPr id="12" name="右箭头 11"/>
          <p:cNvSpPr/>
          <p:nvPr/>
        </p:nvSpPr>
        <p:spPr>
          <a:xfrm>
            <a:off x="4429124" y="6000768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500042"/>
            <a:ext cx="785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版二： 源漏扩散孔，在二氧化硅层上开孔，然后扩散</a:t>
            </a:r>
            <a:r>
              <a:rPr lang="en-US" altLang="zh-CN" dirty="0" smtClean="0"/>
              <a:t>P</a:t>
            </a:r>
            <a:r>
              <a:rPr lang="en-US" altLang="zh-CN" baseline="30000" dirty="0" smtClean="0"/>
              <a:t>+</a:t>
            </a:r>
            <a:r>
              <a:rPr lang="zh-CN" altLang="en-US" dirty="0" smtClean="0"/>
              <a:t>，形成源漏区。</a:t>
            </a:r>
            <a:endParaRPr lang="zh-CN" altLang="en-US" dirty="0"/>
          </a:p>
        </p:txBody>
      </p:sp>
      <p:pic>
        <p:nvPicPr>
          <p:cNvPr id="3" name="图片 2" descr="C:\Users\lizhidong\AppData\Roaming\Tencent\Users\296478209\QQ\WinTemp\RichOle\~5[HF({]5Z7(JUHTZ754~)L.jp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1071546"/>
            <a:ext cx="4643470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 descr="C:\Users\lizhidong\AppData\Roaming\Tencent\Users\296478209\QQ\WinTemp\RichOle\{D6_9Q}]@3[UPYPXY8U0HH2.jpg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57883" y="1071546"/>
            <a:ext cx="2764391" cy="1398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 descr="C:\Users\lizhidong\AppData\Roaming\Tencent\Users\296478209\QQ\WinTemp\RichOle\6}J`(LGABE2)2G{J9]%{I@B.jpg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57884" y="2143115"/>
            <a:ext cx="2748216" cy="1215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 descr="C:\Users\lizhidong\AppData\Roaming\Tencent\Users\296478209\QQ\WinTemp\RichOle\8534U$K}IW82LHDU`[%2KDN.jpg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857884" y="3286124"/>
            <a:ext cx="2857520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428728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氧化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3428992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光刻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429256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刻蚀</a:t>
            </a:r>
            <a:endParaRPr lang="zh-CN" altLang="en-US" dirty="0"/>
          </a:p>
        </p:txBody>
      </p:sp>
      <p:sp>
        <p:nvSpPr>
          <p:cNvPr id="11" name="右箭头 10"/>
          <p:cNvSpPr/>
          <p:nvPr/>
        </p:nvSpPr>
        <p:spPr>
          <a:xfrm>
            <a:off x="2786050" y="5929330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714876" y="5929330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358082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扩散</a:t>
            </a:r>
            <a:endParaRPr lang="zh-CN" altLang="en-US" dirty="0"/>
          </a:p>
        </p:txBody>
      </p:sp>
      <p:sp>
        <p:nvSpPr>
          <p:cNvPr id="14" name="右箭头 13"/>
          <p:cNvSpPr/>
          <p:nvPr/>
        </p:nvSpPr>
        <p:spPr>
          <a:xfrm>
            <a:off x="6786578" y="5929330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571480"/>
            <a:ext cx="8501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版三： 刻出栅极接触，在二氧化硅层上开孔形成栅极，然后生长栅氧层。</a:t>
            </a:r>
            <a:endParaRPr lang="zh-CN" altLang="en-US" dirty="0"/>
          </a:p>
        </p:txBody>
      </p:sp>
      <p:pic>
        <p:nvPicPr>
          <p:cNvPr id="3" name="图片 2" descr="QQ图片20141010083938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714348" y="1285860"/>
            <a:ext cx="4786346" cy="4357718"/>
          </a:xfrm>
          <a:prstGeom prst="rect">
            <a:avLst/>
          </a:prstGeom>
        </p:spPr>
      </p:pic>
      <p:pic>
        <p:nvPicPr>
          <p:cNvPr id="4" name="图片 3" descr="C:\Users\lizhidong\AppData\Roaming\Tencent\Users\296478209\QQ\WinTemp\RichOle\KH2B_(IK3VFA6K4})65VZF0.jp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8" y="1428736"/>
            <a:ext cx="28575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 descr="C:\Users\lizhidong\AppData\Roaming\Tencent\Users\296478209\QQ\WinTemp\RichOle\O`2TP[XK}4[2N4@QRGS10CU.jpg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991" y="2571744"/>
            <a:ext cx="2846294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 descr="C:\Users\lizhidong\AppData\Roaming\Tencent\Users\296478209\QQ\WinTemp\RichOle\6G_FQW`B)QGLL0TA7E`2}5Q.jpg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4991" y="3571876"/>
            <a:ext cx="2857520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1428728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场氧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28992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光刻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5429256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刻蚀</a:t>
            </a:r>
            <a:endParaRPr lang="zh-CN" altLang="en-US" dirty="0"/>
          </a:p>
        </p:txBody>
      </p:sp>
      <p:sp>
        <p:nvSpPr>
          <p:cNvPr id="10" name="右箭头 9"/>
          <p:cNvSpPr/>
          <p:nvPr/>
        </p:nvSpPr>
        <p:spPr>
          <a:xfrm>
            <a:off x="2786050" y="5929330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4714876" y="5929330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58082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栅氧</a:t>
            </a:r>
            <a:endParaRPr lang="zh-CN" altLang="en-US" dirty="0"/>
          </a:p>
        </p:txBody>
      </p:sp>
      <p:sp>
        <p:nvSpPr>
          <p:cNvPr id="13" name="右箭头 12"/>
          <p:cNvSpPr/>
          <p:nvPr/>
        </p:nvSpPr>
        <p:spPr>
          <a:xfrm>
            <a:off x="6786578" y="5929330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71802" y="5786454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光刻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072066" y="5786454"/>
            <a:ext cx="1785950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刻蚀（接触孔</a:t>
            </a:r>
            <a:endParaRPr lang="zh-CN" altLang="en-US" dirty="0"/>
          </a:p>
        </p:txBody>
      </p:sp>
      <p:sp>
        <p:nvSpPr>
          <p:cNvPr id="5" name="右箭头 4"/>
          <p:cNvSpPr/>
          <p:nvPr/>
        </p:nvSpPr>
        <p:spPr>
          <a:xfrm>
            <a:off x="4429124" y="6000768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28596" y="571480"/>
            <a:ext cx="785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版四： 源漏接触孔，在二氧化硅层上开孔形成源漏接触孔。</a:t>
            </a:r>
            <a:endParaRPr lang="zh-CN" altLang="en-US" dirty="0"/>
          </a:p>
        </p:txBody>
      </p:sp>
      <p:pic>
        <p:nvPicPr>
          <p:cNvPr id="10" name="图片 9" descr="C:\Users\lizhidong\AppData\Roaming\Tencent\Users\296478209\QQ\WinTemp\RichOle\BD(_TP3$DWZ8PU8}9A7T@$3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285860"/>
            <a:ext cx="4714908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3714752"/>
            <a:ext cx="2928958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\Users\lizhidong\AppData\Roaming\Tencent\Users\296478209\QQ\WinTemp\RichOle\D4VCAI_]R[ZU@OFBT%T9OOP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142984"/>
            <a:ext cx="4857784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28596" y="571480"/>
            <a:ext cx="785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版五： 刻铝金属，先溅射一层</a:t>
            </a:r>
            <a:r>
              <a:rPr lang="en-US" altLang="zh-CN" dirty="0" smtClean="0"/>
              <a:t>Al</a:t>
            </a:r>
            <a:r>
              <a:rPr lang="zh-CN" altLang="en-US" dirty="0" smtClean="0"/>
              <a:t> </a:t>
            </a:r>
            <a:r>
              <a:rPr lang="en-US" altLang="zh-CN" dirty="0" smtClean="0"/>
              <a:t>film</a:t>
            </a:r>
            <a:r>
              <a:rPr lang="zh-CN" altLang="en-US" dirty="0" smtClean="0"/>
              <a:t>，然后光刻，刻蚀形成</a:t>
            </a:r>
            <a:r>
              <a:rPr lang="en-US" altLang="zh-CN" dirty="0" smtClean="0"/>
              <a:t>Al</a:t>
            </a:r>
            <a:r>
              <a:rPr lang="zh-CN" altLang="en-US" dirty="0" smtClean="0"/>
              <a:t>接触图形。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28728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溅铝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28992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光刻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429256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刻蚀（刻铝）</a:t>
            </a:r>
            <a:endParaRPr lang="zh-CN" altLang="en-US" dirty="0"/>
          </a:p>
        </p:txBody>
      </p:sp>
      <p:sp>
        <p:nvSpPr>
          <p:cNvPr id="7" name="右箭头 6"/>
          <p:cNvSpPr/>
          <p:nvPr/>
        </p:nvSpPr>
        <p:spPr>
          <a:xfrm>
            <a:off x="2786050" y="5929330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4714876" y="5929330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C:\Users\lizhidong\AppData\Roaming\Tencent\Users\296478209\QQ\WinTemp\RichOle\_D]8_6$ZX(%[5)4[2$8$G3B.jp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8" y="2500306"/>
            <a:ext cx="2822242" cy="1284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图片 11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08" y="3500438"/>
            <a:ext cx="2857520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\Users\lizhidong\AppData\Roaming\Tencent\Users\296478209\QQ\WinTemp\RichOle\K13%@FZWJ%ZD$02VL{IRBZJ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142984"/>
            <a:ext cx="4857784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28596" y="571480"/>
            <a:ext cx="785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版六： </a:t>
            </a:r>
            <a:r>
              <a:rPr lang="zh-CN" altLang="en-US" dirty="0" smtClean="0"/>
              <a:t>溅射一</a:t>
            </a:r>
            <a:r>
              <a:rPr lang="zh-CN" altLang="en-US" dirty="0" smtClean="0"/>
              <a:t>层</a:t>
            </a:r>
            <a:r>
              <a:rPr lang="en-US" altLang="zh-CN" dirty="0" smtClean="0"/>
              <a:t>SiO2</a:t>
            </a:r>
            <a:r>
              <a:rPr lang="zh-CN" altLang="en-US" dirty="0" smtClean="0"/>
              <a:t>，然后光刻、刻蚀开出</a:t>
            </a:r>
            <a:r>
              <a:rPr lang="en-US" altLang="zh-CN" dirty="0" smtClean="0"/>
              <a:t>Al Pad</a:t>
            </a:r>
            <a:r>
              <a:rPr lang="zh-CN" altLang="en-US" dirty="0" smtClean="0"/>
              <a:t>的接触孔。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28728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溅射</a:t>
            </a:r>
            <a:r>
              <a:rPr lang="en-US" altLang="zh-CN" dirty="0" smtClean="0"/>
              <a:t>SiO2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28992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光刻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429256" y="5715016"/>
            <a:ext cx="114300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刻蚀（</a:t>
            </a:r>
            <a:r>
              <a:rPr lang="en-US" altLang="zh-CN" dirty="0" smtClean="0"/>
              <a:t>SiO2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7" name="右箭头 6"/>
          <p:cNvSpPr/>
          <p:nvPr/>
        </p:nvSpPr>
        <p:spPr>
          <a:xfrm>
            <a:off x="2786050" y="5929330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4714876" y="5929330"/>
            <a:ext cx="42862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8" y="3571876"/>
            <a:ext cx="2786082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85786" y="2357430"/>
            <a:ext cx="74925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Thanks for your attention</a:t>
            </a:r>
            <a:endParaRPr lang="zh-CN" altLang="en-US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71736" y="3786190"/>
            <a:ext cx="42841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i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Any question?</a:t>
            </a:r>
            <a:endParaRPr lang="zh-CN" altLang="en-US" sz="5400" i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1596</TotalTime>
  <Words>362</Words>
  <Application>Microsoft Office PowerPoint</Application>
  <PresentationFormat>全屏显示(4:3)</PresentationFormat>
  <Paragraphs>60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华文楷体</vt:lpstr>
      <vt:lpstr>宋体</vt:lpstr>
      <vt:lpstr>Arial</vt:lpstr>
      <vt:lpstr>Calibri</vt:lpstr>
      <vt:lpstr>Office 主题</vt:lpstr>
      <vt:lpstr>工艺实验课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工艺实验课</dc:title>
  <dc:creator>lizhidong</dc:creator>
  <cp:lastModifiedBy>cao bj</cp:lastModifiedBy>
  <cp:revision>12</cp:revision>
  <dcterms:created xsi:type="dcterms:W3CDTF">2014-10-20T02:59:34Z</dcterms:created>
  <dcterms:modified xsi:type="dcterms:W3CDTF">2019-10-31T02:50:21Z</dcterms:modified>
</cp:coreProperties>
</file>