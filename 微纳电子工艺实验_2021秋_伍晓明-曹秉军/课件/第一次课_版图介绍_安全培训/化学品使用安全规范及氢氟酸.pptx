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94" r:id="rId5"/>
    <p:sldId id="259" r:id="rId6"/>
    <p:sldId id="295" r:id="rId7"/>
    <p:sldId id="260" r:id="rId8"/>
    <p:sldId id="296" r:id="rId9"/>
    <p:sldId id="261" r:id="rId10"/>
    <p:sldId id="262" r:id="rId11"/>
    <p:sldId id="263" r:id="rId12"/>
    <p:sldId id="297" r:id="rId13"/>
    <p:sldId id="264" r:id="rId14"/>
    <p:sldId id="265" r:id="rId15"/>
    <p:sldId id="298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7" r:id="rId27"/>
    <p:sldId id="300" r:id="rId28"/>
    <p:sldId id="279" r:id="rId29"/>
    <p:sldId id="282" r:id="rId30"/>
    <p:sldId id="299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3" y="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8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30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52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95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90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80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74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80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276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9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936D682-DD81-4822-918A-90616172B1A1}" type="datetimeFigureOut">
              <a:rPr lang="zh-CN" altLang="en-US" smtClean="0"/>
              <a:t>2021/9/18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16618B18-09DD-4BAD-819F-73704208B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856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590969" cy="2480733"/>
          </a:xfrm>
        </p:spPr>
        <p:txBody>
          <a:bodyPr/>
          <a:lstStyle/>
          <a:p>
            <a:pPr algn="ctr"/>
            <a:r>
              <a:rPr lang="zh-CN" altLang="en-US" dirty="0"/>
              <a:t>化学品使用安全规范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1872" y="4206876"/>
            <a:ext cx="9228201" cy="1645920"/>
          </a:xfrm>
        </p:spPr>
        <p:txBody>
          <a:bodyPr/>
          <a:lstStyle/>
          <a:p>
            <a:pPr algn="ctr"/>
            <a:r>
              <a:rPr lang="zh-CN" altLang="en-US" dirty="0"/>
              <a:t>    清华大学微纳加工平台</a:t>
            </a:r>
          </a:p>
        </p:txBody>
      </p:sp>
    </p:spTree>
    <p:extLst>
      <p:ext uri="{BB962C8B-B14F-4D97-AF65-F5344CB8AC3E}">
        <p14:creationId xmlns:p14="http://schemas.microsoft.com/office/powerpoint/2010/main" val="905483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656" y="370224"/>
            <a:ext cx="1559503" cy="655012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说明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6656" y="1154546"/>
            <a:ext cx="10753725" cy="46233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为了能够安全顺利地在超净间工作，操作人员在进入超净间以前必须充分认识 并理解自己所处环境的危险性，包括所使用的仪器设备、电力、化学品、气体等多种因素。操作人员必须在事先而不是事后认识到这些问题。永远不要忘记，在超净间里安全的工作不仅关系到你个人的安全，还关系到所有和你同时在超净间工作的其他人员的安全。为了能够安全的使用化学品，除了书本上的理论知识外，操作人员还必须掌握一些实验室规则。本规则不涉及操作方法，仅对有可能出现的危险和防止措施加以陈述。任何人员在进行化学品操作以前，必须仔细阅读本规范。 </a:t>
            </a:r>
          </a:p>
          <a:p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789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656" y="324042"/>
            <a:ext cx="2639199" cy="802794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一般条款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7347" y="1439025"/>
            <a:ext cx="11090471" cy="486941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进入化学间操作以前，仔细阅读超净间规则。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确定并牢记安全救护设备的位置和用法，例如冲洗龙头、灭火器、报警器，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以及紧急出口。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谨记你所接触的设备和化学品可能带来的危险。开始工作以前，充分了解你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所使用的化学品的毒害特性。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6404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5637" y="304798"/>
            <a:ext cx="11453090" cy="610523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遇到相关问题，请咨询：宗莉（电话：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62781090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）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使用化学品前仔细阅读化学品容器的说明，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R—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表示威胁，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S—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表示安全。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其他性质可以在手册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(Handbook of Chemistry and Physics, CRC Press)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中了解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如熔点、沸点、密度，以及在其他溶液中的可能性，等等。许多化学试剂都有商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品名，在手册中可以找到对应的化学名称和化学结构式、方程式等，也可在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Merck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（默克公司）索引中找到。 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012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-179070"/>
            <a:ext cx="11785600" cy="72161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[4]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化学试剂的纯度根据用途不同可以分为几类：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超纯级：纯度大于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99.5%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CU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分析纯：纯度大于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99%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CR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[5]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避免下面的情况，以免发生危险：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不要站在台阶等处去取难以够到的东西；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不要在湿地板上行走，以免滑倒和损伤；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不要把东西放在地板上；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d)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放好工具，以免用时找不到 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e)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带手套拿放物品时，注意手套不干燥易使物品脱手；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f)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确保手套内部是干燥的； </a:t>
            </a:r>
          </a:p>
        </p:txBody>
      </p:sp>
    </p:spTree>
    <p:extLst>
      <p:ext uri="{BB962C8B-B14F-4D97-AF65-F5344CB8AC3E}">
        <p14:creationId xmlns:p14="http://schemas.microsoft.com/office/powerpoint/2010/main" val="286809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885" y="-56111"/>
            <a:ext cx="11480799" cy="6715991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[6]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操作时要时刻注意自己的手，不要凭着感觉操作。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[7]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不要用手套碰自己的脸，如果需要扶正眼镜或整理头发，用胳膊或者肩膀，</a:t>
            </a:r>
          </a:p>
          <a:p>
            <a:pPr>
              <a:lnSpc>
                <a:spcPct val="17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手套上有可能带有危险化学品。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[8]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保持操作位置的干净整洁。操作完毕后，清洁所有器具，并放回原处。清洗</a:t>
            </a:r>
          </a:p>
          <a:p>
            <a:pPr>
              <a:lnSpc>
                <a:spcPct val="17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玻璃器皿要首先用水清洗，然后用去离子水清洗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3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次。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[9]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通风橱不能作为化学品的存放地点。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[10]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实验中的电气设备要确保不会接触液体，特别是要考虑到液体沸腾或容器突然破碎等情况。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废弃化学品必须放到指定位置的指定容器，禁止随意倒掉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. 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7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231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656" y="370226"/>
            <a:ext cx="2786979" cy="691956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个人防护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763" y="1182256"/>
            <a:ext cx="11554691" cy="547716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操作过程中特别注意保护眼睛，某些化学药品的挥发成分会严重危害眼睛。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化学品操作需带防酸手套，特别是酸碱等强氧化还原液体时，必须佩带，而</a:t>
            </a:r>
          </a:p>
          <a:p>
            <a:pPr>
              <a:lnSpc>
                <a:spcPct val="17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且需戴防酸面罩、防酸眼镜和防酸围裙。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使用规定类型的手套，检查手套没有破损；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禁止使用防酸手套触及任何手柄、门把手等，以防伤害其他人员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; 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一次性手套脱下时必须从后向前把里面翻出来； </a:t>
            </a:r>
          </a:p>
          <a:p>
            <a:pPr>
              <a:lnSpc>
                <a:spcPct val="17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9817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292" y="1477818"/>
            <a:ext cx="11711708" cy="430004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操作挥发化学试剂时必须在通风橱中。避免吸入化学试剂和它们所产生的气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体。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[4]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严格禁止将头部伸入通风橱。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[5]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整理好头发，特别是头发较长的女士，因为头发的散落会带来严重的危险后果。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709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225" y="296333"/>
            <a:ext cx="4219576" cy="839740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幼圆" panose="02010509060101010101" pitchFamily="49" charset="-122"/>
                <a:ea typeface="幼圆" panose="02010509060101010101" pitchFamily="49" charset="-122"/>
              </a:rPr>
              <a:t>使用玻璃器皿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7225" y="1136073"/>
            <a:ext cx="10888229" cy="535709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使用玻璃器皿前仔细检查，禁止使用带有裂纹或严重划痕的器皿。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禁止对瓶子、量筒等非加热容器进行加热，破裂和爆炸会产生严重的后果；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禁止对各部分厚度不均匀的容器加热，以免受热不均匀导致炸裂。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容器中不要装满化学试剂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以免混合时产生热量而溢出甚至沸腾。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[4]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尽量使用圆底烧瓶和椎口烧瓶加热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它们开口比较小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溶液迸溅可能性较小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并且挥发较慢。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[5]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不要对玻璃容器施加额外的压力或气压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以及机械拉力和张力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它们承受压力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的能力不高。 </a:t>
            </a:r>
          </a:p>
        </p:txBody>
      </p:sp>
    </p:spTree>
    <p:extLst>
      <p:ext uri="{BB962C8B-B14F-4D97-AF65-F5344CB8AC3E}">
        <p14:creationId xmlns:p14="http://schemas.microsoft.com/office/powerpoint/2010/main" val="1552929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5782" y="738909"/>
            <a:ext cx="10898909" cy="55325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[6]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不要试图接住正在跌落的玻璃器皿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尤其是盛有化学药品的器皿。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[7]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操作和搬运玻璃瓶或者烧杯时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必须使用双手同时握持玻璃器皿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一只手扶着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玻璃瓶侧壁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另一只手托着底部。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禁止抓住瓶颈或塞子搬动或移动瓶子；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如果一个人需要手动搬运几个装有化学品的瓶子，必须一个一个搬运，禁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止一次搬运超过一个瓶子。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9172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656" y="351751"/>
            <a:ext cx="5641976" cy="793558"/>
          </a:xfrm>
        </p:spPr>
        <p:txBody>
          <a:bodyPr>
            <a:normAutofit/>
          </a:bodyPr>
          <a:lstStyle/>
          <a:p>
            <a:r>
              <a:rPr lang="zh-CN" altLang="en-US" sz="4800" dirty="0">
                <a:latin typeface="幼圆" panose="02010509060101010101" pitchFamily="49" charset="-122"/>
                <a:ea typeface="幼圆" panose="02010509060101010101" pitchFamily="49" charset="-122"/>
              </a:rPr>
              <a:t>使用液体化学试剂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6656" y="1708728"/>
            <a:ext cx="10753725" cy="40691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任何酸碱操作必须在通风橱内完成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丙酮、乙醇等高挥发性液体必须在通风橱内操作；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使用必要的防护器具。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打开容器以前，必须将其平放在操作台上，严格禁止单手持容器同时用另一只手打开容器。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5020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5855" y="794328"/>
            <a:ext cx="10654526" cy="49835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打开瓶子时手握宽大处，禁止握住瓶颈处拧开瓶盖，以免脱手时划伤手臂，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甚至有可能拧断瓶颈；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打开瓶盖后把瓶塞里面朝上放置在工作台上；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打开塑料瓶时不要过于用力挤压，否则可能导致液体溢出或迸溅到身体上；    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d)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氢氟酸通常是盛放塑料瓶里的。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从化学试剂瓶等容器中向烧杯等容器中倒液体时： 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不要用瓶子嘴压住烧杯边缘，以免弄翻烧杯； 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1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2442" y="167640"/>
            <a:ext cx="11102109" cy="6248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倾倒液体时，注意将眼睛远离瓶子；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使用完毕后立即盖紧瓶盖；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d)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从大玻璃瓶中倒液体时，必须使用双手握住玻璃瓶；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e)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必须擦干沿着瓶子外部向下流的液滴，可以使用滤纸、超净间专用纸，或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者盖紧瓶盖后，用水枪冲洗，然后用专用纸擦干。同时擦干放置瓶子的工作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台面。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[4]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使用吸管时：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禁止使用吸管从瓶子中向外取液体，这样会导致整瓶液体被污染。先将适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量的液体倒入烧杯，再使用吸管。 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481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0291" y="295563"/>
            <a:ext cx="11369964" cy="643774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注意节约化学试剂。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[5]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完毕后的清理：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化学试剂使用完毕后必须放回原处，各种器皿清洗后放回原处，以免被随意丢弃。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清理干净工作台面。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3540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581" y="350981"/>
            <a:ext cx="11416145" cy="628072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[6]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处理剩余液体：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用剩的液体不能再倒回原器皿中作为未用化学品存放，请倒进指定的废液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收集容器里。 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不要将一种废液倒入另一种废液收集容器中；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不要将任何物质都倒入下水道，会造成严重的环境污染和处理人员危险。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[7]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自配溶液：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稀释酸时，必须将酸倒入水中，严格禁止将水倒入酸中。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将盛有液体的容器做好标记，包括：化学品名称、联系人、联系方式、配制日期、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有效期。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将容器存放在指定的化学液体柜内，禁止将容器放置在通风橱内。 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860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709" y="218440"/>
            <a:ext cx="11323781" cy="60775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[8]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处理意外事故：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如果万一不慎将化学品弄洒或污染，立即找实验室工作人员进行处理，不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要擅自回收或者清理现场。离开找人时请其他人员帮忙看护，或者留下明显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警示标记。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任何时候见到洒落的液体不要首先认为是水。用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pH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试纸检测，或者联系实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验室工作人员。注意：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pH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值中性并不一定意味着液体是水。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不慎将化学试剂弄到衣物和身体上，立即用大量清水冲洗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15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分钟。 </a:t>
            </a:r>
          </a:p>
        </p:txBody>
      </p:sp>
    </p:spTree>
    <p:extLst>
      <p:ext uri="{BB962C8B-B14F-4D97-AF65-F5344CB8AC3E}">
        <p14:creationId xmlns:p14="http://schemas.microsoft.com/office/powerpoint/2010/main" val="1005767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655" y="296333"/>
            <a:ext cx="5577321" cy="895158"/>
          </a:xfrm>
        </p:spPr>
        <p:txBody>
          <a:bodyPr/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使用固体化学试剂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3345" y="1283856"/>
            <a:ext cx="11009745" cy="521854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从玻璃瓶中取出化学粉末状试剂时，最好将其在滤纸、称量纸或者表面皿上，倒出粉末时倾斜瓶口，慢慢移动。禁止使用工具伸入瓶子内部取粉末试剂。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溶解固体粉末时，按照圆形轨迹慢慢摇动玻璃容器。在使用广口烧杯时，烧杯必须放在光滑操作台表面才能移动摇晃，并且液体不能超过烧杯高度的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1/5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，最好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1/8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。锥形烧瓶等窄口容器可以适当倾斜，但液体不能超过容器的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1/3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。搅拌的最好方法是使用磁力搅拌棒，但是要注意逐渐加入固体粉末，以免将搅拌棒粘住。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称重时需要使用专门器具。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5057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6288521" cy="1163012"/>
          </a:xfrm>
        </p:spPr>
        <p:txBody>
          <a:bodyPr/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几种常用试剂的安全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7224" y="1745674"/>
            <a:ext cx="10773157" cy="40321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硫酸：硫酸是强酸，有较强的腐蚀性。在清洗时为了加强其氧化作用，要加双氧水。正确的做法是： 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溶液的总量没过片子，其比例为：先在器皿底部倒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1/4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的双氧水，再倒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3/4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的硫酸。注意，硫酸和双氧水混合后，会产生热，混合溶液的温度较高。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工艺结束后，待硫酸清洗液温度降到室温后，再用虹吸管吸走。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双氧水：它是强氧化剂，应避免与身体各部位直接接触，否则会被灼伤。 </a:t>
            </a:r>
          </a:p>
        </p:txBody>
      </p:sp>
    </p:spTree>
    <p:extLst>
      <p:ext uri="{BB962C8B-B14F-4D97-AF65-F5344CB8AC3E}">
        <p14:creationId xmlns:p14="http://schemas.microsoft.com/office/powerpoint/2010/main" val="1662644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2582" y="452582"/>
            <a:ext cx="11240654" cy="576349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氢氟酸：它不同于硫酸、双氧水等强氧化剂，氢氟酸是弱氧化酸，但是有强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烈的腐蚀性和危害，人体接触到很稀的氢氟酸也能造成严重伤害。皮肤接触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氢氟酸后可出现短暂的疼痛及灼伤感，皮肤外表暂时没有异样。但如果不及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时清除，残留的酸会使疼痛随时间逐渐加剧，皮肤下组织被破坏，这种破坏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甚至会传播到骨骼。另外吸入氢氟酸蒸汽可产生流泪、流涕、喷嚏、鼻塞等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症状，能引起肺水肿；同时氢氟酸蒸汽溶于眼球的液体中会对人的视力造成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持久破坏。因此使用氢氟酸一定要在通风橱中，要戴带防护手套和防护眼镜，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工作中注意不要接触氢氟酸蒸汽，工作结束后，要注意用水冲洗手套、器皿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等不能有任何残余留下。 </a:t>
            </a:r>
          </a:p>
        </p:txBody>
      </p:sp>
    </p:spTree>
    <p:extLst>
      <p:ext uri="{BB962C8B-B14F-4D97-AF65-F5344CB8AC3E}">
        <p14:creationId xmlns:p14="http://schemas.microsoft.com/office/powerpoint/2010/main" val="1105701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0364" y="803564"/>
            <a:ext cx="11037454" cy="55233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[4]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洗液：重铬酸钾洗液是用来清洗各种玻璃器皿的，在使用时为防止洗液的迸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溅、或器皿损坏等，有可能用手插入洗液缸里取放器皿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这是可以的。但一定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要注意：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带上完全没有破损的手套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b)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捞出器皿后立即放入清洗杯，以免洗液滴落在洗液缸外等处。然后马上用水清洗，连同手套。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c)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在洗液缸里取放器皿的时间不要太长。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[5]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丙酮、乙醇：有较强的挥发性、易燃性，不能在任何有明火的地方使用。丙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酮会对肝脏造成损害，因此避免吸入丙酮气体。 </a:t>
            </a:r>
          </a:p>
        </p:txBody>
      </p:sp>
    </p:spTree>
    <p:extLst>
      <p:ext uri="{BB962C8B-B14F-4D97-AF65-F5344CB8AC3E}">
        <p14:creationId xmlns:p14="http://schemas.microsoft.com/office/powerpoint/2010/main" val="256387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[6]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其他：各种酸碱、化学药品的使用都要避免与身体的直接接触，无论其酸碱性的强弱与否，万一不慎接触后，立即用大量清水冲洗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15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分钟。 </a:t>
            </a:r>
          </a:p>
        </p:txBody>
      </p:sp>
    </p:spTree>
    <p:extLst>
      <p:ext uri="{BB962C8B-B14F-4D97-AF65-F5344CB8AC3E}">
        <p14:creationId xmlns:p14="http://schemas.microsoft.com/office/powerpoint/2010/main" val="2170680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3674631" cy="821267"/>
          </a:xfrm>
        </p:spPr>
        <p:txBody>
          <a:bodyPr/>
          <a:lstStyle/>
          <a:p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危险混合物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当强烈的氧化反应发生时，化学试剂可能会燃烧甚至爆炸。有些化学试剂自身含有强氧化剂，例如硝酸盐、氯酸盐、以及高氯酸盐等，它们在遇到易燃物质时可能导致燃烧。这些燃烧往往是极度剧烈的，危险性极大。因此必须避免下面几种混合情况。</a:t>
            </a:r>
          </a:p>
        </p:txBody>
      </p:sp>
    </p:spTree>
    <p:extLst>
      <p:ext uri="{BB962C8B-B14F-4D97-AF65-F5344CB8AC3E}">
        <p14:creationId xmlns:p14="http://schemas.microsoft.com/office/powerpoint/2010/main" val="1543917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655" y="434109"/>
            <a:ext cx="11231418" cy="614218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[1]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高浓度硝酸、硫酸等物质与有机溶剂（丙酮、乙醇等）、有机物质（譬如光刻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胶、清洁棉、纸等）混合，这些情况会引起燃烧。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[2]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硝酸氨与活性碳混合，可能燃烧。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[3]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液态空气或者液态氧与有机物质混合，可能爆炸。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[4]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高氯酸与乙醇，可能爆炸。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[5]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三氧化铬的硫酸溶液与有机物混合，可能爆炸。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[6]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硝酸盐与脂混合物，可能爆炸。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[7]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镁、锂等高度活性金属与氯酸盐、硝酸盐、磷酸盐、硫酸盐、以及碳酸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盐等混合，可能爆炸。 </a:t>
            </a:r>
          </a:p>
        </p:txBody>
      </p:sp>
    </p:spTree>
    <p:extLst>
      <p:ext uri="{BB962C8B-B14F-4D97-AF65-F5344CB8AC3E}">
        <p14:creationId xmlns:p14="http://schemas.microsoft.com/office/powerpoint/2010/main" val="3044218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4861" y="148551"/>
            <a:ext cx="10546485" cy="1338503"/>
          </a:xfrm>
        </p:spPr>
        <p:txBody>
          <a:bodyPr>
            <a:normAutofit fontScale="90000"/>
          </a:bodyPr>
          <a:lstStyle/>
          <a:p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氢氟酸的危害简而言之是“侵筋蚀骨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5018" y="1376218"/>
            <a:ext cx="11185237" cy="510770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侵筋”指氟离子与钙离子结合后影响神经功能，“蚀骨”指氟离子严重降低骨密度，引起骨并发症。对于类似剂量的暴露，氢氟酸远比浓硫酸危险，原因有三：</a:t>
            </a:r>
            <a:r>
              <a:rPr lang="zh-CN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第一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是非常隐蔽。浓硫酸在暴露后不久便会有强烈的灼痛感，伤处通常先发白如水泡，后碳化。但是明显的刺激能使人及时处理，暴露于少量浓硫酸之后出去衣物，用水大量冲洗通常非常有效。而氢氟酸只有在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30%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浓度以上在接触时才会有明显的痛感，低浓度（低至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2%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）下没有刺激，外观也很难与水分辨（浓硫酸会更粘稠，折射率稍高，而氢氟酸没有明显的特征）。即使在低浓度下，氢氟酸也会以极快的速度向组织内渗透（远快于其他矿物质酸），所以一旦暴露就必定会侵入组织，必须到医院进行处理（相比之下浓硫酸用水冲完了发现没起泡，就可以放心了）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5217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220" y="275245"/>
            <a:ext cx="11113104" cy="2767012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zh-CN" sz="5800" dirty="0">
                <a:latin typeface="幼圆" panose="02010509060101010101" pitchFamily="49" charset="-122"/>
                <a:ea typeface="幼圆" panose="02010509060101010101" pitchFamily="49" charset="-122"/>
              </a:rPr>
              <a:t>第二</a:t>
            </a:r>
            <a:r>
              <a:rPr lang="zh-CN" altLang="zh-CN" sz="4400" dirty="0">
                <a:latin typeface="幼圆" panose="02010509060101010101" pitchFamily="49" charset="-122"/>
                <a:ea typeface="幼圆" panose="02010509060101010101" pitchFamily="49" charset="-122"/>
              </a:rPr>
              <a:t>是作用范围大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zh-CN" sz="5100" dirty="0">
                <a:latin typeface="幼圆" panose="02010509060101010101" pitchFamily="49" charset="-122"/>
                <a:ea typeface="幼圆" panose="02010509060101010101" pitchFamily="49" charset="-122"/>
              </a:rPr>
              <a:t>氢氟酸进入人体之后，会进入血液循环，影响全身的组织，尤其是骨骼。氢氟酸的毒理主要是攻击钙离子，形成不溶性的氟化钙：急性反应包括迅速降低血钙，引起心律不齐甚至心脏骤停。</a:t>
            </a:r>
            <a:r>
              <a:rPr lang="en-US" altLang="zh-CN" sz="5100" dirty="0">
                <a:latin typeface="幼圆" panose="02010509060101010101" pitchFamily="49" charset="-122"/>
                <a:ea typeface="幼圆" panose="02010509060101010101" pitchFamily="49" charset="-122"/>
              </a:rPr>
              <a:t> </a:t>
            </a:r>
            <a:r>
              <a:rPr lang="zh-CN" altLang="zh-CN" sz="5100" dirty="0">
                <a:latin typeface="幼圆" panose="02010509060101010101" pitchFamily="49" charset="-122"/>
                <a:ea typeface="幼圆" panose="02010509060101010101" pitchFamily="49" charset="-122"/>
              </a:rPr>
              <a:t>但这样其实引起的痛苦是最少的，如果是一天之后发现手变成这个样子</a:t>
            </a:r>
            <a:r>
              <a:rPr lang="en-US" altLang="zh-CN" sz="3400" dirty="0"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  <a:endParaRPr lang="zh-CN" altLang="zh-CN" sz="3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" name="图片 3" descr="HF+Hand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5408" y="3086562"/>
            <a:ext cx="8151381" cy="348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863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137" y="125908"/>
            <a:ext cx="10753725" cy="635109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这种情况请尽快截肢：首先有大量氟离子存在于组织之中（并未完全与钙等金属离子结合），细胞死亡后会进一步释放氟离子毒杀其他组织。如果剂量再低一些，可能连水泡都没有，但是在几天之后会感到手骨头痒，进而转变为剧痛：都听说过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“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牙痛不是病，疼起来要命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”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这句话吗？想象一下全身牙痛是什么滋味（此时骨神经正在缓慢坏死）。浓硫酸对身体的影响还是很局部的。</a:t>
            </a: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第三是治疗手段少以及诸多后遗症。</a:t>
            </a: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如果不截肢，氢氟酸暴露通常只能用葡萄糖酸钙治疗：外用软膏擦暴露处，有时甚至是全身用药。也能内服以结合氟离子。但是这种治疗方式会产生大量氟化钙不溶物：剂量小时可以通过肾代谢（也带来肾毒性），剂量大的时候会诱发全身各处结石，不可能以手术取出。很多“治愈者”面临的不仅是截肢带来的心理创伤，还有非常真切的肉体上的痛楚。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46397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400" y="572656"/>
            <a:ext cx="11360727" cy="58743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应急处理</a:t>
            </a:r>
            <a:endParaRPr lang="en-US" altLang="zh-CN" sz="40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如果真的不慎暴露于氢氟酸，请</a:t>
            </a:r>
            <a:r>
              <a:rPr lang="zh-CN" altLang="zh-CN" sz="3600" dirty="0">
                <a:latin typeface="幼圆" panose="02010509060101010101" pitchFamily="49" charset="-122"/>
                <a:ea typeface="幼圆" panose="02010509060101010101" pitchFamily="49" charset="-122"/>
              </a:rPr>
              <a:t>迅速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跑到实验室的安全冲淋区，同时取下所有衣物，紧急冲淋通常不能太长时间，在实验室被水淹没之前换龙头，继续</a:t>
            </a:r>
            <a:r>
              <a:rPr lang="zh-CN" altLang="zh-CN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冲淋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暴露处</a:t>
            </a:r>
            <a:r>
              <a:rPr lang="en-US" altLang="zh-CN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20</a:t>
            </a:r>
            <a:r>
              <a:rPr lang="zh-CN" altLang="zh-CN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分钟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以上。然后拿</a:t>
            </a:r>
            <a:r>
              <a:rPr lang="zh-CN" altLang="zh-CN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葡萄糖酸钙软膏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在暴露处</a:t>
            </a:r>
            <a:r>
              <a:rPr lang="zh-CN" altLang="zh-CN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不停地揉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。尽快联系医院就诊，带上氢氟酸的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MSDS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，以说明这不是一般的化学品烧伤。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728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331" y="-190500"/>
            <a:ext cx="11127417" cy="68580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举例：</a:t>
            </a:r>
            <a:endParaRPr lang="en-US" altLang="zh-CN" sz="22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70000"/>
              </a:lnSpc>
            </a:pPr>
            <a:r>
              <a:rPr lang="en-US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        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一个学生做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实验，要用氢氟酸、高氯酸、盐酸、硝酸四种酸在</a:t>
            </a:r>
            <a:r>
              <a:rPr lang="en-US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250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度高温溶解石头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而且这个要求不能提前把这四种酸混合好，必须是一滴一滴的加。因为是</a:t>
            </a:r>
            <a:r>
              <a:rPr lang="en-US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250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的高温，所以这些罐子的上方都是上述四种酸的蒸汽，腐蚀性相当大！所以，滴酸的时候，都是把要滴的罐子先拿下来，滴了酸，再放进去。因为罐子排的太密，带了手套操作不方便，所以，当时做了最错误的决定：不带手套操作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那天大概从上午十点开始操作，到中午的时候，感觉手阵阵发痛、变红。当时以为是烫的也没在意。下午，一瓶氢氟酸用完了，开另一瓶的时候，带了手套去开的，带着手套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打不开瓶盖，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摘了手套就去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打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，结果，氢氟酸沾了一滴到我的手上，赶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快用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大量清水冲洗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觉得洗的差不多了，就不洗了。没想到，沾了氢氟酸的地方越来越痛，后来一看，已经变白了。当时还没在意。到了晚上，觉得双手痛的不行，一看，双手全是红的，沾了氢氟酸的地方变成了黑色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zh-CN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  <a:t>赶紧去医院，挂了烧伤科</a:t>
            </a:r>
            <a:r>
              <a:rPr lang="zh-CN" altLang="en-US" sz="22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br>
              <a:rPr lang="en-US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endParaRPr lang="zh-CN" altLang="en-US" sz="22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70000"/>
              </a:lnSpc>
            </a:pPr>
            <a:br>
              <a:rPr lang="en-US" altLang="zh-CN" sz="2200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endParaRPr lang="zh-CN" altLang="en-US" sz="22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737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0982" y="360219"/>
            <a:ext cx="11434618" cy="586509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在医院里，化学腐蚀在烧伤科里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讲了情况之后，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医生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说，氢氟酸腐蚀基本没特效药，看个人情况。当你的手已经变红，说明氢氟酸已经腐蚀了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。医生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只开了一个药：</a:t>
            </a:r>
            <a:r>
              <a:rPr lang="zh-CN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美宝烧伤膏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然后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让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护士把已经变黑的地方用剪刀挖去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直到挖的</a:t>
            </a:r>
            <a:r>
              <a:rPr lang="zh-CN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露出新鲜肉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然后交代</a:t>
            </a:r>
            <a:r>
              <a:rPr lang="zh-CN" altLang="zh-CN" b="1" dirty="0">
                <a:latin typeface="幼圆" panose="02010509060101010101" pitchFamily="49" charset="-122"/>
                <a:ea typeface="幼圆" panose="02010509060101010101" pitchFamily="49" charset="-122"/>
              </a:rPr>
              <a:t>不要吃消炎药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把双手都涂了厚厚一的一层烧伤膏（一管药涂一次），包扎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b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4" name="内容占位符 3" descr="C:\Users\cbj\AppData\Local\Temp\enhtmlclip\83d950182a80cd1b746f40097dece86f_b.jpg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3564" y="2835565"/>
            <a:ext cx="4922981" cy="3676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7715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6656" y="679340"/>
            <a:ext cx="10753725" cy="5098526"/>
          </a:xfrm>
        </p:spPr>
        <p:txBody>
          <a:bodyPr numCol="2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以后发展的过程是这样的：</a:t>
            </a:r>
            <a:b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双手的皮肤由红变黑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指甲里面开始变黑皮肤变硬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被切掉的地方又变黑了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皮肤开始脱落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长出新的皮肤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指甲脱落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、</a:t>
            </a: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长出新的指甲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被切掉的地方长出新的肉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，痊愈。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zh-CN" altLang="en-US" dirty="0"/>
          </a:p>
        </p:txBody>
      </p:sp>
      <p:pic>
        <p:nvPicPr>
          <p:cNvPr id="4" name="内容占位符 3" descr="C:\Users\cbj\AppData\Local\Temp\enhtmlclip\334ffb87033d380fc9235867f9292862_b.jpg"/>
          <p:cNvPicPr>
            <a:picLocks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49807" y="1019007"/>
            <a:ext cx="2525157" cy="218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内容占位符 5" descr="C:\Users\cbj\AppData\Local\Temp\enhtmlclip\54c9ece152aed32f527a092c2d94f711_b.jpg"/>
          <p:cNvPicPr>
            <a:picLocks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44658" y="1033775"/>
            <a:ext cx="2480619" cy="2185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内容占位符 3" descr="C:\Users\cbj\AppData\Local\Temp\enhtmlclip\81c6449e8736043384f5a53ead390160_b.jpg"/>
          <p:cNvPicPr>
            <a:picLocks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9341" y="3417307"/>
            <a:ext cx="2525156" cy="243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内容占位符 3" descr="C:\Users\cbj\AppData\Local\Temp\enhtmlclip\7941eacf46f867d7335c26fe2a6eedaa_b.jpg"/>
          <p:cNvPicPr>
            <a:picLocks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074193" y="3417307"/>
            <a:ext cx="2480619" cy="2436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4765735"/>
      </p:ext>
    </p:extLst>
  </p:cSld>
  <p:clrMapOvr>
    <a:masterClrMapping/>
  </p:clrMapOvr>
</p:sld>
</file>

<file path=ppt/theme/theme1.xml><?xml version="1.0" encoding="utf-8"?>
<a:theme xmlns:a="http://schemas.openxmlformats.org/drawingml/2006/main" name="大都市">
  <a:themeElements>
    <a:clrScheme name="大都市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大都市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大都市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TM03457491[[fn=大都市]]</Template>
  <TotalTime>201</TotalTime>
  <Words>3561</Words>
  <Application>Microsoft Office PowerPoint</Application>
  <PresentationFormat>宽屏</PresentationFormat>
  <Paragraphs>167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幼圆</vt:lpstr>
      <vt:lpstr>Arial</vt:lpstr>
      <vt:lpstr>Calibri Light</vt:lpstr>
      <vt:lpstr>大都市</vt:lpstr>
      <vt:lpstr>化学品使用安全规范</vt:lpstr>
      <vt:lpstr>说明 </vt:lpstr>
      <vt:lpstr>一般条款 </vt:lpstr>
      <vt:lpstr>PowerPoint 演示文稿</vt:lpstr>
      <vt:lpstr>PowerPoint 演示文稿</vt:lpstr>
      <vt:lpstr>PowerPoint 演示文稿</vt:lpstr>
      <vt:lpstr>个人防护 </vt:lpstr>
      <vt:lpstr>PowerPoint 演示文稿</vt:lpstr>
      <vt:lpstr>使用玻璃器皿 </vt:lpstr>
      <vt:lpstr>PowerPoint 演示文稿</vt:lpstr>
      <vt:lpstr>使用液体化学试剂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使用固体化学试剂 </vt:lpstr>
      <vt:lpstr>几种常用试剂的安全 </vt:lpstr>
      <vt:lpstr>PowerPoint 演示文稿</vt:lpstr>
      <vt:lpstr>PowerPoint 演示文稿</vt:lpstr>
      <vt:lpstr>PowerPoint 演示文稿</vt:lpstr>
      <vt:lpstr>危险混合物 </vt:lpstr>
      <vt:lpstr>PowerPoint 演示文稿</vt:lpstr>
      <vt:lpstr>氢氟酸的危害简而言之是“侵筋蚀骨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化学品使用安全规范</dc:title>
  <dc:creator>admin</dc:creator>
  <cp:lastModifiedBy>bao yl</cp:lastModifiedBy>
  <cp:revision>68</cp:revision>
  <dcterms:created xsi:type="dcterms:W3CDTF">2017-02-21T00:26:10Z</dcterms:created>
  <dcterms:modified xsi:type="dcterms:W3CDTF">2021-09-18T07:34:05Z</dcterms:modified>
</cp:coreProperties>
</file>