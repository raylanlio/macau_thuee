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aveSubsetFonts="1">
  <p:sldMasterIdLst>
    <p:sldMasterId id="2147483728" r:id="rId1"/>
  </p:sldMasterIdLst>
  <p:notesMasterIdLst>
    <p:notesMasterId r:id="rId61"/>
  </p:notesMasterIdLst>
  <p:handoutMasterIdLst>
    <p:handoutMasterId r:id="rId62"/>
  </p:handoutMasterIdLst>
  <p:sldIdLst>
    <p:sldId id="336" r:id="rId2"/>
    <p:sldId id="795" r:id="rId3"/>
    <p:sldId id="690" r:id="rId4"/>
    <p:sldId id="691" r:id="rId5"/>
    <p:sldId id="915" r:id="rId6"/>
    <p:sldId id="712" r:id="rId7"/>
    <p:sldId id="789" r:id="rId8"/>
    <p:sldId id="916" r:id="rId9"/>
    <p:sldId id="714" r:id="rId10"/>
    <p:sldId id="715" r:id="rId11"/>
    <p:sldId id="913" r:id="rId12"/>
    <p:sldId id="914" r:id="rId13"/>
    <p:sldId id="900" r:id="rId14"/>
    <p:sldId id="689" r:id="rId15"/>
    <p:sldId id="696" r:id="rId16"/>
    <p:sldId id="800" r:id="rId17"/>
    <p:sldId id="706" r:id="rId18"/>
    <p:sldId id="707" r:id="rId19"/>
    <p:sldId id="709" r:id="rId20"/>
    <p:sldId id="710" r:id="rId21"/>
    <p:sldId id="711" r:id="rId22"/>
    <p:sldId id="717" r:id="rId23"/>
    <p:sldId id="718" r:id="rId24"/>
    <p:sldId id="901" r:id="rId25"/>
    <p:sldId id="902" r:id="rId26"/>
    <p:sldId id="903" r:id="rId27"/>
    <p:sldId id="904" r:id="rId28"/>
    <p:sldId id="905" r:id="rId29"/>
    <p:sldId id="906" r:id="rId30"/>
    <p:sldId id="907" r:id="rId31"/>
    <p:sldId id="908" r:id="rId32"/>
    <p:sldId id="909" r:id="rId33"/>
    <p:sldId id="910" r:id="rId34"/>
    <p:sldId id="911" r:id="rId35"/>
    <p:sldId id="802" r:id="rId36"/>
    <p:sldId id="871" r:id="rId37"/>
    <p:sldId id="847" r:id="rId38"/>
    <p:sldId id="848" r:id="rId39"/>
    <p:sldId id="849" r:id="rId40"/>
    <p:sldId id="850" r:id="rId41"/>
    <p:sldId id="851" r:id="rId42"/>
    <p:sldId id="852" r:id="rId43"/>
    <p:sldId id="865" r:id="rId44"/>
    <p:sldId id="866" r:id="rId45"/>
    <p:sldId id="867" r:id="rId46"/>
    <p:sldId id="868" r:id="rId47"/>
    <p:sldId id="887" r:id="rId48"/>
    <p:sldId id="888" r:id="rId49"/>
    <p:sldId id="869" r:id="rId50"/>
    <p:sldId id="720" r:id="rId51"/>
    <p:sldId id="874" r:id="rId52"/>
    <p:sldId id="875" r:id="rId53"/>
    <p:sldId id="876" r:id="rId54"/>
    <p:sldId id="877" r:id="rId55"/>
    <p:sldId id="878" r:id="rId56"/>
    <p:sldId id="879" r:id="rId57"/>
    <p:sldId id="886" r:id="rId58"/>
    <p:sldId id="786" r:id="rId59"/>
    <p:sldId id="912" r:id="rId60"/>
  </p:sldIdLst>
  <p:sldSz cx="13004800" cy="9753600"/>
  <p:notesSz cx="6858000" cy="9144000"/>
  <p:defaultTextStyle>
    <a:defPPr>
      <a:defRPr lang="zh-CN"/>
    </a:defPPr>
    <a:lvl1pPr algn="ctr" defTabSz="584200" rtl="0" fontAlgn="base" hangingPunct="0">
      <a:spcBef>
        <a:spcPct val="0"/>
      </a:spcBef>
      <a:spcAft>
        <a:spcPct val="0"/>
      </a:spcAft>
      <a:defRPr sz="3600" kern="1200">
        <a:solidFill>
          <a:srgbClr val="535353"/>
        </a:solidFill>
        <a:latin typeface="Gill Sans Light" charset="0"/>
        <a:ea typeface="Gill Sans Light" charset="0"/>
        <a:cs typeface="Gill Sans Light" charset="0"/>
        <a:sym typeface="Gill Sans Light" charset="0"/>
      </a:defRPr>
    </a:lvl1pPr>
    <a:lvl2pPr marL="228600" algn="ctr" defTabSz="584200" rtl="0" fontAlgn="base" hangingPunct="0">
      <a:spcBef>
        <a:spcPct val="0"/>
      </a:spcBef>
      <a:spcAft>
        <a:spcPct val="0"/>
      </a:spcAft>
      <a:defRPr sz="3600" kern="1200">
        <a:solidFill>
          <a:srgbClr val="535353"/>
        </a:solidFill>
        <a:latin typeface="Gill Sans Light" charset="0"/>
        <a:ea typeface="Gill Sans Light" charset="0"/>
        <a:cs typeface="Gill Sans Light" charset="0"/>
        <a:sym typeface="Gill Sans Light" charset="0"/>
      </a:defRPr>
    </a:lvl2pPr>
    <a:lvl3pPr marL="457200" algn="ctr" defTabSz="584200" rtl="0" fontAlgn="base" hangingPunct="0">
      <a:spcBef>
        <a:spcPct val="0"/>
      </a:spcBef>
      <a:spcAft>
        <a:spcPct val="0"/>
      </a:spcAft>
      <a:defRPr sz="3600" kern="1200">
        <a:solidFill>
          <a:srgbClr val="535353"/>
        </a:solidFill>
        <a:latin typeface="Gill Sans Light" charset="0"/>
        <a:ea typeface="Gill Sans Light" charset="0"/>
        <a:cs typeface="Gill Sans Light" charset="0"/>
        <a:sym typeface="Gill Sans Light" charset="0"/>
      </a:defRPr>
    </a:lvl3pPr>
    <a:lvl4pPr marL="685800" algn="ctr" defTabSz="584200" rtl="0" fontAlgn="base" hangingPunct="0">
      <a:spcBef>
        <a:spcPct val="0"/>
      </a:spcBef>
      <a:spcAft>
        <a:spcPct val="0"/>
      </a:spcAft>
      <a:defRPr sz="3600" kern="1200">
        <a:solidFill>
          <a:srgbClr val="535353"/>
        </a:solidFill>
        <a:latin typeface="Gill Sans Light" charset="0"/>
        <a:ea typeface="Gill Sans Light" charset="0"/>
        <a:cs typeface="Gill Sans Light" charset="0"/>
        <a:sym typeface="Gill Sans Light" charset="0"/>
      </a:defRPr>
    </a:lvl4pPr>
    <a:lvl5pPr marL="914400" algn="ctr" defTabSz="584200" rtl="0" fontAlgn="base" hangingPunct="0">
      <a:spcBef>
        <a:spcPct val="0"/>
      </a:spcBef>
      <a:spcAft>
        <a:spcPct val="0"/>
      </a:spcAft>
      <a:defRPr sz="3600" kern="1200">
        <a:solidFill>
          <a:srgbClr val="535353"/>
        </a:solidFill>
        <a:latin typeface="Gill Sans Light" charset="0"/>
        <a:ea typeface="Gill Sans Light" charset="0"/>
        <a:cs typeface="Gill Sans Light" charset="0"/>
        <a:sym typeface="Gill Sans Light" charset="0"/>
      </a:defRPr>
    </a:lvl5pPr>
    <a:lvl6pPr marL="2286000" algn="l" defTabSz="914400" rtl="0" eaLnBrk="1" latinLnBrk="0" hangingPunct="1">
      <a:defRPr sz="3600" kern="1200">
        <a:solidFill>
          <a:srgbClr val="535353"/>
        </a:solidFill>
        <a:latin typeface="Gill Sans Light" charset="0"/>
        <a:ea typeface="Gill Sans Light" charset="0"/>
        <a:cs typeface="Gill Sans Light" charset="0"/>
        <a:sym typeface="Gill Sans Light" charset="0"/>
      </a:defRPr>
    </a:lvl6pPr>
    <a:lvl7pPr marL="2743200" algn="l" defTabSz="914400" rtl="0" eaLnBrk="1" latinLnBrk="0" hangingPunct="1">
      <a:defRPr sz="3600" kern="1200">
        <a:solidFill>
          <a:srgbClr val="535353"/>
        </a:solidFill>
        <a:latin typeface="Gill Sans Light" charset="0"/>
        <a:ea typeface="Gill Sans Light" charset="0"/>
        <a:cs typeface="Gill Sans Light" charset="0"/>
        <a:sym typeface="Gill Sans Light" charset="0"/>
      </a:defRPr>
    </a:lvl7pPr>
    <a:lvl8pPr marL="3200400" algn="l" defTabSz="914400" rtl="0" eaLnBrk="1" latinLnBrk="0" hangingPunct="1">
      <a:defRPr sz="3600" kern="1200">
        <a:solidFill>
          <a:srgbClr val="535353"/>
        </a:solidFill>
        <a:latin typeface="Gill Sans Light" charset="0"/>
        <a:ea typeface="Gill Sans Light" charset="0"/>
        <a:cs typeface="Gill Sans Light" charset="0"/>
        <a:sym typeface="Gill Sans Light" charset="0"/>
      </a:defRPr>
    </a:lvl8pPr>
    <a:lvl9pPr marL="3657600" algn="l" defTabSz="914400" rtl="0" eaLnBrk="1" latinLnBrk="0" hangingPunct="1">
      <a:defRPr sz="3600" kern="1200">
        <a:solidFill>
          <a:srgbClr val="535353"/>
        </a:solidFill>
        <a:latin typeface="Gill Sans Light" charset="0"/>
        <a:ea typeface="Gill Sans Light" charset="0"/>
        <a:cs typeface="Gill Sans Light" charset="0"/>
        <a:sym typeface="Gill Sans Light" charset="0"/>
      </a:defRPr>
    </a:lvl9pPr>
  </p:defaultTextStyle>
  <p:extLst>
    <p:ext uri="{EFAFB233-063F-42B5-8137-9DF3F51BA10A}">
      <p15:sldGuideLst xmlns:p15="http://schemas.microsoft.com/office/powerpoint/2012/main">
        <p15:guide id="1" orient="horz" pos="3117" userDrawn="1">
          <p15:clr>
            <a:srgbClr val="A4A3A4"/>
          </p15:clr>
        </p15:guide>
        <p15:guide id="2" pos="409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1F2F6"/>
    <a:srgbClr val="000000"/>
    <a:srgbClr val="000099"/>
    <a:srgbClr val="464646"/>
    <a:srgbClr val="FCFCFC"/>
    <a:srgbClr val="EFF0F4"/>
    <a:srgbClr val="F0F1F5"/>
    <a:srgbClr val="5A5F5E"/>
    <a:srgbClr val="6865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3" autoAdjust="0"/>
    <p:restoredTop sz="90108" autoAdjust="0"/>
  </p:normalViewPr>
  <p:slideViewPr>
    <p:cSldViewPr showGuides="1">
      <p:cViewPr varScale="1">
        <p:scale>
          <a:sx n="43" d="100"/>
          <a:sy n="43" d="100"/>
        </p:scale>
        <p:origin x="1272" y="27"/>
      </p:cViewPr>
      <p:guideLst>
        <p:guide orient="horz" pos="3117"/>
        <p:guide pos="409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618"/>
    </p:cViewPr>
  </p:sorterViewPr>
  <p:notesViewPr>
    <p:cSldViewPr>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68ED9-3E81-4BBD-B4F0-B6AE4A31F027}" type="datetimeFigureOut">
              <a:rPr lang="zh-CN" altLang="en-US" smtClean="0"/>
              <a:t>2021/9/18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56185D-663C-475B-8C02-EF45A79F6C7D}" type="slidenum">
              <a:rPr lang="zh-CN" altLang="en-US" smtClean="0"/>
              <a:t>‹#›</a:t>
            </a:fld>
            <a:endParaRPr lang="zh-CN" altLang="en-US"/>
          </a:p>
        </p:txBody>
      </p:sp>
    </p:spTree>
    <p:extLst>
      <p:ext uri="{BB962C8B-B14F-4D97-AF65-F5344CB8AC3E}">
        <p14:creationId xmlns:p14="http://schemas.microsoft.com/office/powerpoint/2010/main" val="12918877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6" name="Rectangle 2"/>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sym typeface="Avenir" charset="0"/>
              </a:rPr>
              <a:t>Click to edit Master text styles</a:t>
            </a:r>
          </a:p>
          <a:p>
            <a:pPr lvl="1"/>
            <a:r>
              <a:rPr lang="zh-CN" altLang="zh-CN">
                <a:sym typeface="Avenir" charset="0"/>
              </a:rPr>
              <a:t>Second level</a:t>
            </a:r>
          </a:p>
          <a:p>
            <a:pPr lvl="2"/>
            <a:r>
              <a:rPr lang="zh-CN" altLang="zh-CN">
                <a:sym typeface="Avenir" charset="0"/>
              </a:rPr>
              <a:t>Third level</a:t>
            </a:r>
          </a:p>
          <a:p>
            <a:pPr lvl="3"/>
            <a:r>
              <a:rPr lang="zh-CN" altLang="zh-CN">
                <a:sym typeface="Avenir" charset="0"/>
              </a:rPr>
              <a:t>Fourth level</a:t>
            </a:r>
          </a:p>
          <a:p>
            <a:pPr lvl="4"/>
            <a:r>
              <a:rPr lang="zh-CN" altLang="zh-CN">
                <a:sym typeface="Avenir" charset="0"/>
              </a:rPr>
              <a:t>Fifth level</a:t>
            </a:r>
          </a:p>
        </p:txBody>
      </p:sp>
    </p:spTree>
    <p:extLst>
      <p:ext uri="{BB962C8B-B14F-4D97-AF65-F5344CB8AC3E}">
        <p14:creationId xmlns:p14="http://schemas.microsoft.com/office/powerpoint/2010/main" val="3533473163"/>
      </p:ext>
    </p:extLst>
  </p:cSld>
  <p:clrMap bg1="lt1" tx1="dk1" bg2="lt2" tx2="dk2" accent1="accent1" accent2="accent2" accent3="accent3" accent4="accent4" accent5="accent5" accent6="accent6" hlink="hlink" folHlink="folHlink"/>
  <p:notesStyle>
    <a:lvl1pPr algn="l" defTabSz="457200" rtl="0" fontAlgn="base" hangingPunct="0">
      <a:lnSpc>
        <a:spcPct val="125000"/>
      </a:lnSpc>
      <a:spcBef>
        <a:spcPct val="0"/>
      </a:spcBef>
      <a:spcAft>
        <a:spcPct val="0"/>
      </a:spcAft>
      <a:defRPr sz="2400" kern="1200">
        <a:solidFill>
          <a:srgbClr val="000000"/>
        </a:solidFill>
        <a:latin typeface="Avenir" charset="0"/>
        <a:ea typeface="Avenir" charset="0"/>
        <a:cs typeface="Avenir" charset="0"/>
        <a:sym typeface="Avenir" charset="0"/>
      </a:defRPr>
    </a:lvl1pPr>
    <a:lvl2pPr marL="228600" algn="l" defTabSz="457200" rtl="0" fontAlgn="base" hangingPunct="0">
      <a:lnSpc>
        <a:spcPct val="125000"/>
      </a:lnSpc>
      <a:spcBef>
        <a:spcPct val="0"/>
      </a:spcBef>
      <a:spcAft>
        <a:spcPct val="0"/>
      </a:spcAft>
      <a:defRPr sz="2400" kern="1200">
        <a:solidFill>
          <a:srgbClr val="000000"/>
        </a:solidFill>
        <a:latin typeface="Avenir" charset="0"/>
        <a:ea typeface="Avenir" charset="0"/>
        <a:cs typeface="Avenir" charset="0"/>
        <a:sym typeface="Avenir" charset="0"/>
      </a:defRPr>
    </a:lvl2pPr>
    <a:lvl3pPr marL="457200" algn="l" defTabSz="457200" rtl="0" fontAlgn="base" hangingPunct="0">
      <a:lnSpc>
        <a:spcPct val="125000"/>
      </a:lnSpc>
      <a:spcBef>
        <a:spcPct val="0"/>
      </a:spcBef>
      <a:spcAft>
        <a:spcPct val="0"/>
      </a:spcAft>
      <a:defRPr sz="2400" kern="1200">
        <a:solidFill>
          <a:srgbClr val="000000"/>
        </a:solidFill>
        <a:latin typeface="Avenir" charset="0"/>
        <a:ea typeface="Avenir" charset="0"/>
        <a:cs typeface="Avenir" charset="0"/>
        <a:sym typeface="Avenir" charset="0"/>
      </a:defRPr>
    </a:lvl3pPr>
    <a:lvl4pPr marL="685800" algn="l" defTabSz="457200" rtl="0" fontAlgn="base" hangingPunct="0">
      <a:lnSpc>
        <a:spcPct val="125000"/>
      </a:lnSpc>
      <a:spcBef>
        <a:spcPct val="0"/>
      </a:spcBef>
      <a:spcAft>
        <a:spcPct val="0"/>
      </a:spcAft>
      <a:defRPr sz="2400" kern="1200">
        <a:solidFill>
          <a:srgbClr val="000000"/>
        </a:solidFill>
        <a:latin typeface="Avenir" charset="0"/>
        <a:ea typeface="Avenir" charset="0"/>
        <a:cs typeface="Avenir" charset="0"/>
        <a:sym typeface="Avenir" charset="0"/>
      </a:defRPr>
    </a:lvl4pPr>
    <a:lvl5pPr marL="914400" algn="l" defTabSz="457200" rtl="0" fontAlgn="base" hangingPunct="0">
      <a:lnSpc>
        <a:spcPct val="125000"/>
      </a:lnSpc>
      <a:spcBef>
        <a:spcPct val="0"/>
      </a:spcBef>
      <a:spcAft>
        <a:spcPct val="0"/>
      </a:spcAft>
      <a:defRPr sz="2400" kern="1200">
        <a:solidFill>
          <a:srgbClr val="000000"/>
        </a:solidFill>
        <a:latin typeface="Avenir" charset="0"/>
        <a:ea typeface="Avenir" charset="0"/>
        <a:cs typeface="Avenir" charset="0"/>
        <a:sym typeface="Avenir"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3884613" y="8685213"/>
            <a:ext cx="2971800" cy="457200"/>
          </a:xfrm>
          <a:prstGeom prst="rect">
            <a:avLst/>
          </a:prstGeom>
        </p:spPr>
        <p:txBody>
          <a:bodyPr/>
          <a:lstStyle/>
          <a:p>
            <a:fld id="{ADD19E09-7AB1-4AC5-A8DC-E801499B5242}" type="slidenum">
              <a:rPr lang="zh-CN" altLang="en-US" smtClean="0"/>
              <a:pPr/>
              <a:t>1</a:t>
            </a:fld>
            <a:endParaRPr lang="zh-CN" altLang="en-US"/>
          </a:p>
        </p:txBody>
      </p:sp>
    </p:spTree>
    <p:extLst>
      <p:ext uri="{BB962C8B-B14F-4D97-AF65-F5344CB8AC3E}">
        <p14:creationId xmlns:p14="http://schemas.microsoft.com/office/powerpoint/2010/main" val="1810046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23261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空气过滤：</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空气进入到天花板内的</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高效颗粒空气过滤器</a:t>
            </a:r>
            <a:r>
              <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(HEPA</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以层流模式流向地面，进入到空气再循环系统后与补给的空气一道返回空气过滤器。现代工艺线上，在轮班这样的干扰期间，空气每</a:t>
            </a:r>
            <a:r>
              <a:rPr lang="en-US" altLang="zh-CN"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6</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秒</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可以周转一次，以促进超净环境的恢复。</a:t>
            </a:r>
            <a:endParaRPr lang="en-US" altLang="zh-CN"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气流原理：</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为实现净化间中的超净环境，气流种类是</a:t>
            </a:r>
            <a:r>
              <a:rPr lang="zh-CN" altLang="en-US" sz="2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关键</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。对于</a:t>
            </a:r>
            <a:r>
              <a:rPr lang="en-US" altLang="zh-CN" sz="2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a:t>
            </a:r>
            <a:r>
              <a:rPr lang="zh-CN" altLang="en-US" sz="2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级或更高等级</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净化间，层状气流是必须的。层状气流意味着气流是平滑的、</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无湍流气流模式</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垂直层流</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对外界气压有轻微正压，充当屏蔽以减少人员、设备对暴露着的产品的横向沾污。</a:t>
            </a:r>
            <a:endPar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just"/>
            <a:r>
              <a:rPr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静电释放：</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静电释放时其转移的静电总通量虽小（纳库伦级别），但其</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峰值电流超过</a:t>
            </a:r>
            <a:r>
              <a:rPr lang="en-US" altLang="zh-CN"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1A</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，可以蒸发金属导体连线和穿透氧化层；另外</a:t>
            </a:r>
            <a:r>
              <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Si</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片表面一旦有了电荷积累（</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有时静电电压可高达数万伏</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），它将产生电场吸引带点颗粒或计划并吸引中性颗粒到</a:t>
            </a:r>
            <a:r>
              <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Si</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表面，从而导致</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致命缺陷</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just"/>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为避免静电积累及控制静电释放，净化间的材料如手推车、设备、操作台等都是</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静电消耗性的，</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同时净化间里的人员和物体都必须</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保持持续接地</a:t>
            </a:r>
            <a:r>
              <a:rPr lang="zh-CN" altLang="en-US" sz="2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endParaRPr lang="zh-CN" altLang="en-US" dirty="0"/>
          </a:p>
        </p:txBody>
      </p:sp>
    </p:spTree>
    <p:extLst>
      <p:ext uri="{BB962C8B-B14F-4D97-AF65-F5344CB8AC3E}">
        <p14:creationId xmlns:p14="http://schemas.microsoft.com/office/powerpoint/2010/main" val="4157778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73443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457200" rtl="0" eaLnBrk="1" fontAlgn="base" latinLnBrk="0" hangingPunct="0">
              <a:lnSpc>
                <a:spcPct val="125000"/>
              </a:lnSpc>
              <a:spcBef>
                <a:spcPct val="0"/>
              </a:spcBef>
              <a:spcAft>
                <a:spcPct val="0"/>
              </a:spcAft>
              <a:buClrTx/>
              <a:buSzTx/>
              <a:buFontTx/>
              <a:buNone/>
              <a:tabLst/>
              <a:defRPr/>
            </a:pPr>
            <a:r>
              <a:rPr lang="en-US" altLang="zh-CN" sz="2400" dirty="0">
                <a:latin typeface="仿宋" panose="02010609060101010101" pitchFamily="49" charset="-122"/>
                <a:ea typeface="仿宋" panose="02010609060101010101" pitchFamily="49" charset="-122"/>
              </a:rPr>
              <a:t>   </a:t>
            </a:r>
            <a:r>
              <a:rPr lang="zh-CN" altLang="zh-CN" sz="2400" dirty="0">
                <a:latin typeface="仿宋" panose="02010609060101010101" pitchFamily="49" charset="-122"/>
                <a:ea typeface="仿宋" panose="02010609060101010101" pitchFamily="49" charset="-122"/>
              </a:rPr>
              <a:t>痕量的</a:t>
            </a:r>
            <a:r>
              <a:rPr lang="zh-CN" altLang="zh-CN" sz="2400" dirty="0">
                <a:solidFill>
                  <a:srgbClr val="FF0000"/>
                </a:solidFill>
                <a:latin typeface="仿宋" panose="02010609060101010101" pitchFamily="49" charset="-122"/>
                <a:ea typeface="仿宋" panose="02010609060101010101" pitchFamily="49" charset="-122"/>
              </a:rPr>
              <a:t>金元素</a:t>
            </a:r>
            <a:r>
              <a:rPr lang="zh-CN" altLang="zh-CN" sz="2400" dirty="0">
                <a:latin typeface="仿宋" panose="02010609060101010101" pitchFamily="49" charset="-122"/>
                <a:ea typeface="仿宋" panose="02010609060101010101" pitchFamily="49" charset="-122"/>
              </a:rPr>
              <a:t>，即使是偶然碰触到黄金饰品，也能毒化半导体。金元素还会通过各种工艺过程散布到各种高温炉和其他工艺设备中，造成整个实验室的交叉污染。因此，在</a:t>
            </a:r>
            <a:r>
              <a:rPr lang="en-US" altLang="zh-CN" sz="2400" dirty="0">
                <a:latin typeface="仿宋" panose="02010609060101010101" pitchFamily="49" charset="-122"/>
                <a:ea typeface="仿宋" panose="02010609060101010101" pitchFamily="49" charset="-122"/>
              </a:rPr>
              <a:t>MOS</a:t>
            </a:r>
            <a:r>
              <a:rPr lang="zh-CN" altLang="zh-CN" sz="2400" dirty="0">
                <a:latin typeface="仿宋" panose="02010609060101010101" pitchFamily="49" charset="-122"/>
                <a:ea typeface="仿宋" panose="02010609060101010101" pitchFamily="49" charset="-122"/>
              </a:rPr>
              <a:t>区</a:t>
            </a:r>
            <a:r>
              <a:rPr lang="zh-CN" altLang="en-US" sz="2400" dirty="0">
                <a:latin typeface="仿宋" panose="02010609060101010101" pitchFamily="49" charset="-122"/>
                <a:ea typeface="仿宋" panose="02010609060101010101" pitchFamily="49" charset="-122"/>
              </a:rPr>
              <a:t>及非</a:t>
            </a:r>
            <a:r>
              <a:rPr lang="en-US" altLang="zh-CN" sz="2400" dirty="0">
                <a:latin typeface="仿宋" panose="02010609060101010101" pitchFamily="49" charset="-122"/>
                <a:ea typeface="仿宋" panose="02010609060101010101" pitchFamily="49" charset="-122"/>
              </a:rPr>
              <a:t>MOS</a:t>
            </a:r>
            <a:r>
              <a:rPr lang="zh-CN" altLang="en-US" sz="2400" dirty="0">
                <a:latin typeface="仿宋" panose="02010609060101010101" pitchFamily="49" charset="-122"/>
                <a:ea typeface="仿宋" panose="02010609060101010101" pitchFamily="49" charset="-122"/>
              </a:rPr>
              <a:t>级工艺设备中</a:t>
            </a:r>
            <a:r>
              <a:rPr lang="zh-CN" altLang="zh-CN" sz="2400" dirty="0">
                <a:latin typeface="仿宋" panose="02010609060101010101" pitchFamily="49" charset="-122"/>
                <a:ea typeface="仿宋" panose="02010609060101010101" pitchFamily="49" charset="-122"/>
              </a:rPr>
              <a:t>，</a:t>
            </a:r>
            <a:r>
              <a:rPr lang="zh-CN" altLang="zh-CN" sz="2400" dirty="0">
                <a:solidFill>
                  <a:srgbClr val="FF0000"/>
                </a:solidFill>
                <a:latin typeface="仿宋" panose="02010609060101010101" pitchFamily="49" charset="-122"/>
                <a:ea typeface="仿宋" panose="02010609060101010101" pitchFamily="49" charset="-122"/>
              </a:rPr>
              <a:t>金是绝对禁止进入</a:t>
            </a:r>
            <a:r>
              <a:rPr lang="zh-CN" altLang="zh-CN" sz="2400" dirty="0">
                <a:latin typeface="仿宋" panose="02010609060101010101" pitchFamily="49" charset="-122"/>
                <a:ea typeface="仿宋" panose="02010609060101010101" pitchFamily="49" charset="-122"/>
              </a:rPr>
              <a:t>的。</a:t>
            </a:r>
            <a:endParaRPr lang="en-US" altLang="zh-CN"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872150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51145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5360" y="3029939"/>
            <a:ext cx="11054080" cy="2090702"/>
          </a:xfrm>
        </p:spPr>
        <p:txBody>
          <a:bodyPr/>
          <a:lstStyle>
            <a:lvl1pPr>
              <a:defRPr>
                <a:latin typeface="Arial" panose="020B0604020202020204" pitchFamily="34" charset="0"/>
                <a:cs typeface="Arial" panose="020B0604020202020204" pitchFamily="34" charset="0"/>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950720" y="5527040"/>
            <a:ext cx="9103360" cy="2492587"/>
          </a:xfrm>
        </p:spPr>
        <p:txBody>
          <a:bodyPr/>
          <a:lstStyle>
            <a:lvl1pPr marL="0" indent="0" algn="ctr">
              <a:buNone/>
              <a:defRPr>
                <a:solidFill>
                  <a:schemeClr val="tx1">
                    <a:tint val="75000"/>
                  </a:schemeClr>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sz="1991"/>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07935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dirty="0"/>
          </a:p>
        </p:txBody>
      </p:sp>
      <p:sp>
        <p:nvSpPr>
          <p:cNvPr id="6" name="内容占位符 2"/>
          <p:cNvSpPr>
            <a:spLocks noGrp="1"/>
          </p:cNvSpPr>
          <p:nvPr>
            <p:ph idx="1"/>
          </p:nvPr>
        </p:nvSpPr>
        <p:spPr>
          <a:xfrm>
            <a:off x="650240" y="2009282"/>
            <a:ext cx="11704320" cy="6703484"/>
          </a:xfrm>
        </p:spPr>
        <p:txBody>
          <a:bodyPr/>
          <a:lstStyle>
            <a:lvl1pPr>
              <a:defRPr sz="3982" b="0" i="0" baseline="0">
                <a:latin typeface="Arial" panose="020B0604020202020204" pitchFamily="34" charset="0"/>
                <a:ea typeface="黑体" panose="02010609060101010101" pitchFamily="49" charset="-122"/>
              </a:defRPr>
            </a:lvl1pPr>
            <a:lvl2pPr>
              <a:defRPr sz="3982" b="0" i="0" baseline="0">
                <a:latin typeface="Arial" panose="020B0604020202020204" pitchFamily="34" charset="0"/>
                <a:ea typeface="黑体" panose="02010609060101010101" pitchFamily="49" charset="-122"/>
              </a:defRPr>
            </a:lvl2pPr>
            <a:lvl3pPr>
              <a:defRPr sz="3413" b="0" i="0" baseline="0">
                <a:latin typeface="Arial" panose="020B0604020202020204" pitchFamily="34" charset="0"/>
                <a:ea typeface="黑体" panose="02010609060101010101" pitchFamily="49" charset="-122"/>
              </a:defRPr>
            </a:lvl3pPr>
            <a:lvl4pPr>
              <a:defRPr sz="3413" baseline="0">
                <a:latin typeface="Arial" panose="020B0604020202020204" pitchFamily="34" charset="0"/>
                <a:ea typeface="黑体" panose="02010609060101010101" pitchFamily="49" charset="-122"/>
              </a:defRPr>
            </a:lvl4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8" name="标题占位符 1"/>
          <p:cNvSpPr>
            <a:spLocks noGrp="1"/>
          </p:cNvSpPr>
          <p:nvPr>
            <p:ph type="title"/>
          </p:nvPr>
        </p:nvSpPr>
        <p:spPr bwMode="auto">
          <a:xfrm>
            <a:off x="1476887" y="432594"/>
            <a:ext cx="10051026"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extLst>
      <p:ext uri="{BB962C8B-B14F-4D97-AF65-F5344CB8AC3E}">
        <p14:creationId xmlns:p14="http://schemas.microsoft.com/office/powerpoint/2010/main" val="2633303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75360" y="4057511"/>
            <a:ext cx="11054080" cy="1126524"/>
          </a:xfrm>
        </p:spPr>
        <p:txBody>
          <a:bodyPr anchor="t"/>
          <a:lstStyle>
            <a:lvl1pPr algn="ctr">
              <a:defRPr sz="5689" b="1" cap="all">
                <a:solidFill>
                  <a:srgbClr val="7030A0"/>
                </a:solidFill>
                <a:latin typeface="Arial" panose="020B0604020202020204" pitchFamily="34" charset="0"/>
                <a:cs typeface="Arial" panose="020B0604020202020204" pitchFamily="34" charset="0"/>
              </a:defRPr>
            </a:lvl1pPr>
          </a:lstStyle>
          <a:p>
            <a:r>
              <a:rPr lang="zh-CN" altLang="en-US"/>
              <a:t>单击此处编辑母版标题样式</a:t>
            </a:r>
            <a:endParaRPr lang="zh-CN" altLang="en-US" dirty="0"/>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a:xfrm>
            <a:off x="4192711" y="9040143"/>
            <a:ext cx="4619378" cy="519289"/>
          </a:xfrm>
        </p:spPr>
        <p:txBody>
          <a:bodyPr/>
          <a:lstStyle>
            <a:lvl1pPr>
              <a:defRPr>
                <a:latin typeface="Arial" panose="020B0604020202020204" pitchFamily="34" charset="0"/>
                <a:cs typeface="Arial" panose="020B0604020202020204" pitchFamily="34" charset="0"/>
              </a:defRPr>
            </a:lvl1pPr>
          </a:lstStyle>
          <a:p>
            <a:endParaRPr lang="zh-CN" altLang="en-US" dirty="0"/>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48690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50240" y="2183272"/>
            <a:ext cx="5746045" cy="909884"/>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zh-CN" altLang="en-US"/>
              <a:t>单击此处编辑母版文本样式</a:t>
            </a:r>
          </a:p>
        </p:txBody>
      </p:sp>
      <p:sp>
        <p:nvSpPr>
          <p:cNvPr id="4" name="内容占位符 3"/>
          <p:cNvSpPr>
            <a:spLocks noGrp="1"/>
          </p:cNvSpPr>
          <p:nvPr>
            <p:ph sz="half" idx="2"/>
          </p:nvPr>
        </p:nvSpPr>
        <p:spPr>
          <a:xfrm>
            <a:off x="650240" y="3093155"/>
            <a:ext cx="5746045" cy="5619610"/>
          </a:xfrm>
        </p:spPr>
        <p:txBody>
          <a:bodyPr/>
          <a:lstStyle>
            <a:lvl1pPr>
              <a:defRPr sz="3413"/>
            </a:lvl1pPr>
            <a:lvl2pPr>
              <a:defRPr sz="2844"/>
            </a:lvl2pPr>
            <a:lvl3pPr>
              <a:defRPr sz="2560"/>
            </a:lvl3pPr>
            <a:lvl4pPr>
              <a:defRPr sz="2276"/>
            </a:lvl4pPr>
            <a:lvl5pPr>
              <a:defRPr sz="2276"/>
            </a:lvl5pPr>
            <a:lvl6pPr>
              <a:defRPr sz="2276"/>
            </a:lvl6pPr>
            <a:lvl7pPr>
              <a:defRPr sz="2276"/>
            </a:lvl7pPr>
            <a:lvl8pPr>
              <a:defRPr sz="2276"/>
            </a:lvl8pPr>
            <a:lvl9pPr>
              <a:defRPr sz="2276"/>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606259" y="2183272"/>
            <a:ext cx="5748302" cy="909884"/>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zh-CN" altLang="en-US"/>
              <a:t>单击此处编辑母版文本样式</a:t>
            </a:r>
          </a:p>
        </p:txBody>
      </p:sp>
      <p:sp>
        <p:nvSpPr>
          <p:cNvPr id="6" name="内容占位符 5"/>
          <p:cNvSpPr>
            <a:spLocks noGrp="1"/>
          </p:cNvSpPr>
          <p:nvPr>
            <p:ph sz="quarter" idx="4"/>
          </p:nvPr>
        </p:nvSpPr>
        <p:spPr>
          <a:xfrm>
            <a:off x="6606259" y="3093155"/>
            <a:ext cx="5748302" cy="5619610"/>
          </a:xfrm>
        </p:spPr>
        <p:txBody>
          <a:bodyPr/>
          <a:lstStyle>
            <a:lvl1pPr>
              <a:defRPr sz="3413"/>
            </a:lvl1pPr>
            <a:lvl2pPr>
              <a:defRPr sz="2844"/>
            </a:lvl2pPr>
            <a:lvl3pPr>
              <a:defRPr sz="2560"/>
            </a:lvl3pPr>
            <a:lvl4pPr>
              <a:defRPr sz="2276"/>
            </a:lvl4pPr>
            <a:lvl5pPr>
              <a:defRPr sz="2276"/>
            </a:lvl5pPr>
            <a:lvl6pPr>
              <a:defRPr sz="2276"/>
            </a:lvl6pPr>
            <a:lvl7pPr>
              <a:defRPr sz="2276"/>
            </a:lvl7pPr>
            <a:lvl8pPr>
              <a:defRPr sz="2276"/>
            </a:lvl8pPr>
            <a:lvl9pPr>
              <a:defRPr sz="2276"/>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endParaRPr lang="zh-CN" altLang="en-US"/>
          </a:p>
        </p:txBody>
      </p:sp>
      <p:sp>
        <p:nvSpPr>
          <p:cNvPr id="8" name="页脚占位符 4"/>
          <p:cNvSpPr>
            <a:spLocks noGrp="1"/>
          </p:cNvSpPr>
          <p:nvPr>
            <p:ph type="ftr" sz="quarter" idx="11"/>
          </p:nvPr>
        </p:nvSpPr>
        <p:spPr/>
        <p:txBody>
          <a:bodyPr/>
          <a:lstStyle>
            <a:lvl1pPr>
              <a:defRPr/>
            </a:lvl1pPr>
          </a:lstStyle>
          <a:p>
            <a:endParaRPr lang="zh-CN" altLang="en-US"/>
          </a:p>
        </p:txBody>
      </p:sp>
      <p:sp>
        <p:nvSpPr>
          <p:cNvPr id="9"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94656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endParaRPr lang="zh-CN" altLang="en-US"/>
          </a:p>
        </p:txBody>
      </p:sp>
      <p:sp>
        <p:nvSpPr>
          <p:cNvPr id="4" name="页脚占位符 4"/>
          <p:cNvSpPr>
            <a:spLocks noGrp="1"/>
          </p:cNvSpPr>
          <p:nvPr>
            <p:ph type="ftr" sz="quarter" idx="11"/>
          </p:nvPr>
        </p:nvSpPr>
        <p:spPr/>
        <p:txBody>
          <a:bodyPr/>
          <a:lstStyle>
            <a:lvl1pPr>
              <a:defRPr/>
            </a:lvl1pPr>
          </a:lstStyle>
          <a:p>
            <a:endParaRPr lang="zh-CN" altLang="en-US"/>
          </a:p>
        </p:txBody>
      </p:sp>
      <p:sp>
        <p:nvSpPr>
          <p:cNvPr id="5"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275375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50240" y="1906871"/>
            <a:ext cx="5743787" cy="680589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10773" y="1906871"/>
            <a:ext cx="5743787" cy="680589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3"/>
          <p:cNvSpPr>
            <a:spLocks noGrp="1"/>
          </p:cNvSpPr>
          <p:nvPr>
            <p:ph type="dt" sz="half" idx="10"/>
          </p:nvPr>
        </p:nvSpPr>
        <p:spPr/>
        <p:txBody>
          <a:bodyPr/>
          <a:lstStyle>
            <a:lvl1pPr>
              <a:defRPr/>
            </a:lvl1pPr>
          </a:lstStyle>
          <a:p>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93655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sldNum" sz="quarter" idx="10"/>
          </p:nvPr>
        </p:nvSpPr>
        <p:spPr>
          <a:ln/>
        </p:spPr>
        <p:txBody>
          <a:bodyPr/>
          <a:lstStyle>
            <a:lvl1pPr>
              <a:defRPr/>
            </a:lvl1pPr>
          </a:lstStyle>
          <a:p>
            <a:pPr>
              <a:defRPr/>
            </a:pPr>
            <a:fld id="{F7912037-5320-4960-9434-D29540B758E9}" type="slidenum">
              <a:rPr lang="en-US"/>
              <a:pPr>
                <a:defRPr/>
              </a:pPr>
              <a:t>‹#›</a:t>
            </a:fld>
            <a:endParaRPr lang="en-US"/>
          </a:p>
        </p:txBody>
      </p:sp>
    </p:spTree>
    <p:extLst>
      <p:ext uri="{BB962C8B-B14F-4D97-AF65-F5344CB8AC3E}">
        <p14:creationId xmlns:p14="http://schemas.microsoft.com/office/powerpoint/2010/main" val="3374172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封面">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712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9" descr="line6"/>
          <p:cNvPicPr>
            <a:picLocks noChangeAspect="1" noChangeArrowheads="1"/>
          </p:cNvPicPr>
          <p:nvPr/>
        </p:nvPicPr>
        <p:blipFill>
          <a:blip r:embed="rId10" cstate="print"/>
          <a:srcRect/>
          <a:stretch>
            <a:fillRect/>
          </a:stretch>
        </p:blipFill>
        <p:spPr bwMode="auto">
          <a:xfrm>
            <a:off x="0" y="1541111"/>
            <a:ext cx="13004800" cy="365760"/>
          </a:xfrm>
          <a:prstGeom prst="rect">
            <a:avLst/>
          </a:prstGeom>
          <a:noFill/>
          <a:ln w="9525">
            <a:noFill/>
            <a:miter lim="800000"/>
            <a:headEnd/>
            <a:tailEnd/>
          </a:ln>
        </p:spPr>
      </p:pic>
      <p:sp>
        <p:nvSpPr>
          <p:cNvPr id="1029" name="标题占位符 1"/>
          <p:cNvSpPr>
            <a:spLocks noGrp="1"/>
          </p:cNvSpPr>
          <p:nvPr>
            <p:ph type="title"/>
          </p:nvPr>
        </p:nvSpPr>
        <p:spPr bwMode="auto">
          <a:xfrm>
            <a:off x="1476887" y="432594"/>
            <a:ext cx="10051026"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30" name="文本占位符 2"/>
          <p:cNvSpPr>
            <a:spLocks noGrp="1"/>
          </p:cNvSpPr>
          <p:nvPr>
            <p:ph type="body" idx="1"/>
          </p:nvPr>
        </p:nvSpPr>
        <p:spPr bwMode="auto">
          <a:xfrm>
            <a:off x="650240" y="2167359"/>
            <a:ext cx="11704320" cy="67034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50240" y="9170847"/>
            <a:ext cx="3034453" cy="519289"/>
          </a:xfrm>
          <a:prstGeom prst="rect">
            <a:avLst/>
          </a:prstGeom>
        </p:spPr>
        <p:txBody>
          <a:bodyPr vert="horz" lIns="91440" tIns="45720" rIns="91440" bIns="45720" rtlCol="0" anchor="ctr"/>
          <a:lstStyle>
            <a:lvl1pPr algn="l" fontAlgn="auto">
              <a:spcBef>
                <a:spcPts val="0"/>
              </a:spcBef>
              <a:spcAft>
                <a:spcPts val="0"/>
              </a:spcAft>
              <a:defRPr sz="1707">
                <a:solidFill>
                  <a:schemeClr val="tx1"/>
                </a:solidFill>
                <a:latin typeface="+mn-lt"/>
                <a:ea typeface="+mn-ea"/>
              </a:defRPr>
            </a:lvl1pPr>
          </a:lstStyle>
          <a:p>
            <a:endParaRPr lang="zh-CN" altLang="en-US" dirty="0"/>
          </a:p>
        </p:txBody>
      </p:sp>
      <p:sp>
        <p:nvSpPr>
          <p:cNvPr id="5" name="页脚占位符 4"/>
          <p:cNvSpPr>
            <a:spLocks noGrp="1"/>
          </p:cNvSpPr>
          <p:nvPr>
            <p:ph type="ftr" sz="quarter" idx="3"/>
          </p:nvPr>
        </p:nvSpPr>
        <p:spPr>
          <a:xfrm>
            <a:off x="4095733" y="9170845"/>
            <a:ext cx="4813335" cy="519289"/>
          </a:xfrm>
          <a:prstGeom prst="rect">
            <a:avLst/>
          </a:prstGeom>
        </p:spPr>
        <p:txBody>
          <a:bodyPr vert="horz" lIns="91440" tIns="45720" rIns="91440" bIns="45720" rtlCol="0" anchor="ctr"/>
          <a:lstStyle>
            <a:lvl1pPr algn="ctr" fontAlgn="auto">
              <a:spcBef>
                <a:spcPts val="0"/>
              </a:spcBef>
              <a:spcAft>
                <a:spcPts val="0"/>
              </a:spcAft>
              <a:defRPr sz="1707">
                <a:solidFill>
                  <a:schemeClr val="tx1"/>
                </a:solidFill>
                <a:latin typeface="Arial" panose="020B0604020202020204" pitchFamily="34" charset="0"/>
                <a:ea typeface="黑体" panose="02010609060101010101" pitchFamily="49" charset="-122"/>
                <a:cs typeface="Arial" panose="020B0604020202020204" pitchFamily="34" charset="0"/>
              </a:defRPr>
            </a:lvl1pPr>
          </a:lstStyle>
          <a:p>
            <a:pPr>
              <a:lnSpc>
                <a:spcPct val="120000"/>
              </a:lnSpc>
            </a:pPr>
            <a:endParaRPr lang="en-US" altLang="zh-CN" dirty="0"/>
          </a:p>
        </p:txBody>
      </p:sp>
      <p:sp>
        <p:nvSpPr>
          <p:cNvPr id="6" name="灯片编号占位符 5"/>
          <p:cNvSpPr>
            <a:spLocks noGrp="1"/>
          </p:cNvSpPr>
          <p:nvPr>
            <p:ph type="sldNum" sz="quarter" idx="4"/>
          </p:nvPr>
        </p:nvSpPr>
        <p:spPr>
          <a:xfrm>
            <a:off x="10020675" y="9326063"/>
            <a:ext cx="3034453" cy="519289"/>
          </a:xfrm>
          <a:prstGeom prst="rect">
            <a:avLst/>
          </a:prstGeom>
        </p:spPr>
        <p:txBody>
          <a:bodyPr vert="horz" lIns="91440" tIns="45720" rIns="91440" bIns="45720" rtlCol="0" anchor="ctr"/>
          <a:lstStyle>
            <a:lvl1pPr algn="r" fontAlgn="auto">
              <a:spcBef>
                <a:spcPts val="0"/>
              </a:spcBef>
              <a:spcAft>
                <a:spcPts val="0"/>
              </a:spcAft>
              <a:defRPr sz="1707" b="0">
                <a:solidFill>
                  <a:schemeClr val="tx1"/>
                </a:solidFill>
                <a:latin typeface="Arial" panose="020B0604020202020204" pitchFamily="34" charset="0"/>
                <a:ea typeface="+mn-ea"/>
                <a:cs typeface="Arial" panose="020B0604020202020204" pitchFamily="34" charset="0"/>
              </a:defRPr>
            </a:lvl1pPr>
          </a:lstStyle>
          <a:p>
            <a:fld id="{0C913308-F349-4B6D-A68A-DD1791B4A57B}" type="slidenum">
              <a:rPr lang="zh-CN" altLang="en-US" smtClean="0"/>
              <a:pPr/>
              <a:t>‹#›</a:t>
            </a:fld>
            <a:endParaRPr lang="zh-CN" altLang="en-US" dirty="0"/>
          </a:p>
        </p:txBody>
      </p:sp>
      <p:pic>
        <p:nvPicPr>
          <p:cNvPr id="2" name="图片 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9884" y="132866"/>
            <a:ext cx="1261948" cy="1261948"/>
          </a:xfrm>
          <a:prstGeom prst="rect">
            <a:avLst/>
          </a:prstGeom>
        </p:spPr>
      </p:pic>
    </p:spTree>
    <p:extLst>
      <p:ext uri="{BB962C8B-B14F-4D97-AF65-F5344CB8AC3E}">
        <p14:creationId xmlns:p14="http://schemas.microsoft.com/office/powerpoint/2010/main" val="2532160008"/>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9" r:id="rId8"/>
  </p:sldLayoutIdLst>
  <p:hf hdr="0" ftr="0" dt="0"/>
  <p:txStyles>
    <p:title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p:titleStyle>
    <p:body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p:bodyStyle>
    <p:otherStyle>
      <a:defPPr>
        <a:defRPr lang="zh-CN"/>
      </a:defPPr>
      <a:lvl1pPr marL="0" algn="l" defTabSz="1300460" rtl="0" eaLnBrk="1" latinLnBrk="0" hangingPunct="1">
        <a:defRPr sz="2560" kern="1200">
          <a:solidFill>
            <a:schemeClr val="tx1"/>
          </a:solidFill>
          <a:latin typeface="+mn-lt"/>
          <a:ea typeface="+mn-ea"/>
          <a:cs typeface="+mn-cs"/>
        </a:defRPr>
      </a:lvl1pPr>
      <a:lvl2pPr marL="650230" algn="l" defTabSz="1300460" rtl="0" eaLnBrk="1" latinLnBrk="0" hangingPunct="1">
        <a:defRPr sz="2560" kern="1200">
          <a:solidFill>
            <a:schemeClr val="tx1"/>
          </a:solidFill>
          <a:latin typeface="+mn-lt"/>
          <a:ea typeface="+mn-ea"/>
          <a:cs typeface="+mn-cs"/>
        </a:defRPr>
      </a:lvl2pPr>
      <a:lvl3pPr marL="1300460" algn="l" defTabSz="1300460" rtl="0" eaLnBrk="1" latinLnBrk="0" hangingPunct="1">
        <a:defRPr sz="2560" kern="1200">
          <a:solidFill>
            <a:schemeClr val="tx1"/>
          </a:solidFill>
          <a:latin typeface="+mn-lt"/>
          <a:ea typeface="+mn-ea"/>
          <a:cs typeface="+mn-cs"/>
        </a:defRPr>
      </a:lvl3pPr>
      <a:lvl4pPr marL="1950690" algn="l" defTabSz="1300460" rtl="0" eaLnBrk="1" latinLnBrk="0" hangingPunct="1">
        <a:defRPr sz="2560" kern="1200">
          <a:solidFill>
            <a:schemeClr val="tx1"/>
          </a:solidFill>
          <a:latin typeface="+mn-lt"/>
          <a:ea typeface="+mn-ea"/>
          <a:cs typeface="+mn-cs"/>
        </a:defRPr>
      </a:lvl4pPr>
      <a:lvl5pPr marL="2600919" algn="l" defTabSz="1300460" rtl="0" eaLnBrk="1" latinLnBrk="0" hangingPunct="1">
        <a:defRPr sz="2560" kern="1200">
          <a:solidFill>
            <a:schemeClr val="tx1"/>
          </a:solidFill>
          <a:latin typeface="+mn-lt"/>
          <a:ea typeface="+mn-ea"/>
          <a:cs typeface="+mn-cs"/>
        </a:defRPr>
      </a:lvl5pPr>
      <a:lvl6pPr marL="3251149" algn="l" defTabSz="1300460" rtl="0" eaLnBrk="1" latinLnBrk="0" hangingPunct="1">
        <a:defRPr sz="2560" kern="1200">
          <a:solidFill>
            <a:schemeClr val="tx1"/>
          </a:solidFill>
          <a:latin typeface="+mn-lt"/>
          <a:ea typeface="+mn-ea"/>
          <a:cs typeface="+mn-cs"/>
        </a:defRPr>
      </a:lvl6pPr>
      <a:lvl7pPr marL="3901379" algn="l" defTabSz="1300460" rtl="0" eaLnBrk="1" latinLnBrk="0" hangingPunct="1">
        <a:defRPr sz="2560" kern="1200">
          <a:solidFill>
            <a:schemeClr val="tx1"/>
          </a:solidFill>
          <a:latin typeface="+mn-lt"/>
          <a:ea typeface="+mn-ea"/>
          <a:cs typeface="+mn-cs"/>
        </a:defRPr>
      </a:lvl7pPr>
      <a:lvl8pPr marL="4551609" algn="l" defTabSz="1300460" rtl="0" eaLnBrk="1" latinLnBrk="0" hangingPunct="1">
        <a:defRPr sz="2560" kern="1200">
          <a:solidFill>
            <a:schemeClr val="tx1"/>
          </a:solidFill>
          <a:latin typeface="+mn-lt"/>
          <a:ea typeface="+mn-ea"/>
          <a:cs typeface="+mn-cs"/>
        </a:defRPr>
      </a:lvl8pPr>
      <a:lvl9pPr marL="5201839" algn="l" defTabSz="130046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24.xml"/><Relationship Id="rId5" Type="http://schemas.openxmlformats.org/officeDocument/2006/relationships/slide" Target="slide35.xml"/><Relationship Id="rId4" Type="http://schemas.openxmlformats.org/officeDocument/2006/relationships/slide" Target="slide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slide" Target="slide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 Target="slide4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slide" Target="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hyperlink" Target="&#23433;&#20840;&#22521;&#35757;PPT&#22270;&#29255;/&#24179;&#21488;&#20837;&#21475;&#27687;&#21547;&#37327;&#25253;&#35686;&#22120;.jpg"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23433;&#20840;&#22521;&#35757;PPT&#22270;&#29255;/&#24179;&#21488;&#20837;&#21475;&#27687;&#21547;&#37327;&#25253;&#35686;&#22120;.jpg"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s://baike.baidu.com/pic/%E8%BE%90%E5%B0%84%E9%98%B2%E6%8A%A4/7899251/0/908fa0ec08fa513da9f4f9d03f6d55fbb2fbd966?fr=lemma&amp;ct=single"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5736" y="3076600"/>
            <a:ext cx="12097344" cy="2123658"/>
          </a:xfrm>
          <a:prstGeom prst="rect">
            <a:avLst/>
          </a:prstGeom>
          <a:noFill/>
        </p:spPr>
        <p:txBody>
          <a:bodyPr wrap="square" rtlCol="0">
            <a:spAutoFit/>
          </a:bodyPr>
          <a:lstStyle/>
          <a:p>
            <a:r>
              <a:rPr lang="zh-CN" altLang="en-US" sz="6600" b="1" dirty="0">
                <a:solidFill>
                  <a:srgbClr val="7030A0"/>
                </a:solidFill>
                <a:latin typeface="Arial" panose="020B0604020202020204" pitchFamily="34" charset="0"/>
                <a:ea typeface="黑体" panose="02010609060101010101" pitchFamily="49" charset="-122"/>
                <a:cs typeface="Arial" panose="020B0604020202020204" pitchFamily="34" charset="0"/>
              </a:rPr>
              <a:t>微纳加工平台超净实验室的申请与安全使用培训</a:t>
            </a:r>
          </a:p>
        </p:txBody>
      </p:sp>
      <p:sp>
        <p:nvSpPr>
          <p:cNvPr id="4" name="文本框 3"/>
          <p:cNvSpPr txBox="1"/>
          <p:nvPr/>
        </p:nvSpPr>
        <p:spPr>
          <a:xfrm>
            <a:off x="3334048" y="6388968"/>
            <a:ext cx="6336704" cy="2004010"/>
          </a:xfrm>
          <a:prstGeom prst="rect">
            <a:avLst/>
          </a:prstGeom>
          <a:noFill/>
        </p:spPr>
        <p:txBody>
          <a:bodyPr wrap="square" rtlCol="0">
            <a:spAutoFit/>
          </a:bodyPr>
          <a:lstStyle/>
          <a:p>
            <a:pPr algn="just">
              <a:lnSpc>
                <a:spcPct val="150000"/>
              </a:lnSpc>
            </a:pPr>
            <a:r>
              <a:rPr lang="zh-CN" altLang="en-US" sz="4400" b="1" dirty="0">
                <a:solidFill>
                  <a:schemeClr val="tx1"/>
                </a:solidFill>
                <a:latin typeface="Microsoft YaHei" charset="-122"/>
                <a:ea typeface="Microsoft YaHei" charset="-122"/>
                <a:cs typeface="Microsoft YaHei" charset="-122"/>
              </a:rPr>
              <a:t>本期培训主讲人：包艳琳</a:t>
            </a:r>
            <a:endParaRPr lang="en-US" altLang="zh-CN" sz="4400" b="1" dirty="0">
              <a:solidFill>
                <a:schemeClr val="tx1"/>
              </a:solidFill>
              <a:latin typeface="Microsoft YaHei" charset="-122"/>
              <a:ea typeface="Microsoft YaHei" charset="-122"/>
              <a:cs typeface="Microsoft YaHei" charset="-122"/>
            </a:endParaRPr>
          </a:p>
          <a:p>
            <a:pPr algn="just">
              <a:lnSpc>
                <a:spcPct val="150000"/>
              </a:lnSpc>
            </a:pPr>
            <a:r>
              <a:rPr lang="zh-CN" altLang="en-US" sz="4400" b="1" dirty="0">
                <a:solidFill>
                  <a:schemeClr val="tx1"/>
                </a:solidFill>
                <a:latin typeface="Microsoft YaHei" charset="-122"/>
                <a:ea typeface="Microsoft YaHei" charset="-122"/>
                <a:cs typeface="Microsoft YaHei" charset="-122"/>
              </a:rPr>
              <a:t>培训时间：</a:t>
            </a:r>
            <a:r>
              <a:rPr lang="en-US" altLang="zh-CN" sz="4400" b="1">
                <a:solidFill>
                  <a:schemeClr val="tx1"/>
                </a:solidFill>
                <a:latin typeface="Microsoft YaHei" charset="-122"/>
                <a:ea typeface="Microsoft YaHei" charset="-122"/>
                <a:cs typeface="Microsoft YaHei" charset="-122"/>
              </a:rPr>
              <a:t>2021.09.18</a:t>
            </a:r>
            <a:endParaRPr lang="en-US" altLang="zh-CN" sz="4400" b="1" dirty="0">
              <a:solidFill>
                <a:schemeClr val="tx1"/>
              </a:solidFill>
              <a:latin typeface="Microsoft YaHei" charset="-122"/>
              <a:ea typeface="Microsoft YaHei" charset="-122"/>
              <a:cs typeface="Microsoft YaHei" charset="-122"/>
            </a:endParaRPr>
          </a:p>
        </p:txBody>
      </p:sp>
      <p:pic>
        <p:nvPicPr>
          <p:cNvPr id="5" name="图片 4"/>
          <p:cNvPicPr>
            <a:picLocks noChangeAspect="1"/>
          </p:cNvPicPr>
          <p:nvPr/>
        </p:nvPicPr>
        <p:blipFill>
          <a:blip r:embed="rId3"/>
          <a:stretch>
            <a:fillRect/>
          </a:stretch>
        </p:blipFill>
        <p:spPr>
          <a:xfrm>
            <a:off x="70928" y="52264"/>
            <a:ext cx="1462920" cy="1440160"/>
          </a:xfrm>
          <a:prstGeom prst="rect">
            <a:avLst/>
          </a:prstGeom>
        </p:spPr>
      </p:pic>
      <p:sp>
        <p:nvSpPr>
          <p:cNvPr id="3" name="矩形 2"/>
          <p:cNvSpPr/>
          <p:nvPr/>
        </p:nvSpPr>
        <p:spPr>
          <a:xfrm>
            <a:off x="9565833" y="1761292"/>
            <a:ext cx="3057248" cy="523220"/>
          </a:xfrm>
          <a:prstGeom prst="rect">
            <a:avLst/>
          </a:prstGeom>
        </p:spPr>
        <p:txBody>
          <a:bodyPr wrap="none">
            <a:spAutoFit/>
          </a:bodyPr>
          <a:lstStyle/>
          <a:p>
            <a:r>
              <a:rPr lang="zh-CN" altLang="en-US" sz="2800" dirty="0">
                <a:solidFill>
                  <a:schemeClr val="bg1">
                    <a:lumMod val="65000"/>
                  </a:schemeClr>
                </a:solidFill>
                <a:latin typeface="Times New Roman" panose="02020603050405020304" pitchFamily="18" charset="0"/>
                <a:ea typeface="黑体" panose="02010609060101010101" pitchFamily="49" charset="-122"/>
                <a:cs typeface="Times New Roman" panose="02020603050405020304" pitchFamily="18" charset="0"/>
              </a:rPr>
              <a:t>版本号：</a:t>
            </a:r>
            <a:r>
              <a:rPr lang="en-US" altLang="zh-CN" sz="2800" dirty="0">
                <a:solidFill>
                  <a:schemeClr val="bg1">
                    <a:lumMod val="65000"/>
                  </a:schemeClr>
                </a:solidFill>
                <a:latin typeface="Times New Roman" panose="02020603050405020304" pitchFamily="18" charset="0"/>
                <a:ea typeface="黑体" panose="02010609060101010101" pitchFamily="49" charset="-122"/>
                <a:cs typeface="Times New Roman" panose="02020603050405020304" pitchFamily="18" charset="0"/>
              </a:rPr>
              <a:t>20200226</a:t>
            </a:r>
          </a:p>
        </p:txBody>
      </p:sp>
    </p:spTree>
    <p:extLst>
      <p:ext uri="{BB962C8B-B14F-4D97-AF65-F5344CB8AC3E}">
        <p14:creationId xmlns:p14="http://schemas.microsoft.com/office/powerpoint/2010/main" val="4223897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9970347" y="9139455"/>
            <a:ext cx="3034453" cy="519289"/>
          </a:xfrm>
        </p:spPr>
        <p:txBody>
          <a:bodyPr/>
          <a:lstStyle/>
          <a:p>
            <a:fld id="{0C913308-F349-4B6D-A68A-DD1791B4A57B}" type="slidenum">
              <a:rPr lang="zh-CN" altLang="en-US" smtClean="0"/>
              <a:pPr/>
              <a:t>2</a:t>
            </a:fld>
            <a:endParaRPr lang="zh-CN" altLang="en-US" dirty="0"/>
          </a:p>
        </p:txBody>
      </p:sp>
      <p:sp>
        <p:nvSpPr>
          <p:cNvPr id="4" name="标题 3"/>
          <p:cNvSpPr>
            <a:spLocks noGrp="1"/>
          </p:cNvSpPr>
          <p:nvPr>
            <p:ph type="title"/>
          </p:nvPr>
        </p:nvSpPr>
        <p:spPr>
          <a:xfrm>
            <a:off x="5134248" y="2022882"/>
            <a:ext cx="2448272" cy="962219"/>
          </a:xfrm>
        </p:spPr>
        <p:txBody>
          <a:bodyPr/>
          <a:lstStyle/>
          <a:p>
            <a:r>
              <a:rPr lang="zh-CN" altLang="en-US" dirty="0"/>
              <a:t>目   录</a:t>
            </a:r>
          </a:p>
        </p:txBody>
      </p:sp>
      <p:sp>
        <p:nvSpPr>
          <p:cNvPr id="16" name="文本框 15">
            <a:hlinkClick r:id="rId2" action="ppaction://hlinksldjump"/>
          </p:cNvPr>
          <p:cNvSpPr txBox="1"/>
          <p:nvPr/>
        </p:nvSpPr>
        <p:spPr>
          <a:xfrm>
            <a:off x="3071888" y="3289969"/>
            <a:ext cx="6912768" cy="830997"/>
          </a:xfrm>
          <a:prstGeom prst="rect">
            <a:avLst/>
          </a:prstGeom>
          <a:solidFill>
            <a:schemeClr val="accent4">
              <a:lumMod val="20000"/>
              <a:lumOff val="80000"/>
            </a:schemeClr>
          </a:solidFill>
          <a:ln w="6350">
            <a:solidFill>
              <a:schemeClr val="accent4">
                <a:lumMod val="20000"/>
                <a:lumOff val="80000"/>
              </a:schemeClr>
            </a:solidFill>
          </a:ln>
          <a:effectLst>
            <a:glow rad="63500">
              <a:schemeClr val="accent4">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4800" dirty="0">
                <a:ln>
                  <a:solidFill>
                    <a:srgbClr val="7030A0"/>
                  </a:solidFill>
                </a:ln>
                <a:latin typeface="仿宋" panose="02010609060101010101" pitchFamily="49" charset="-122"/>
                <a:ea typeface="仿宋" panose="02010609060101010101" pitchFamily="49" charset="-122"/>
              </a:rPr>
              <a:t>一、微纳加工平台简介</a:t>
            </a:r>
          </a:p>
        </p:txBody>
      </p:sp>
      <p:sp>
        <p:nvSpPr>
          <p:cNvPr id="17" name="文本框 16">
            <a:hlinkClick r:id="rId3" action="ppaction://hlinksldjump"/>
          </p:cNvPr>
          <p:cNvSpPr txBox="1"/>
          <p:nvPr/>
        </p:nvSpPr>
        <p:spPr>
          <a:xfrm>
            <a:off x="3071888" y="4526907"/>
            <a:ext cx="6912768" cy="830997"/>
          </a:xfrm>
          <a:prstGeom prst="rect">
            <a:avLst/>
          </a:prstGeom>
          <a:solidFill>
            <a:schemeClr val="accent4">
              <a:lumMod val="20000"/>
              <a:lumOff val="80000"/>
            </a:schemeClr>
          </a:solidFill>
          <a:ln w="6350">
            <a:solidFill>
              <a:schemeClr val="accent4">
                <a:lumMod val="20000"/>
                <a:lumOff val="80000"/>
              </a:schemeClr>
            </a:solidFill>
          </a:ln>
          <a:effectLst>
            <a:glow rad="63500">
              <a:schemeClr val="accent4">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4800" dirty="0">
                <a:ln>
                  <a:solidFill>
                    <a:srgbClr val="7030A0"/>
                  </a:solidFill>
                </a:ln>
                <a:latin typeface="仿宋" panose="02010609060101010101" pitchFamily="49" charset="-122"/>
                <a:ea typeface="仿宋" panose="02010609060101010101" pitchFamily="49" charset="-122"/>
              </a:rPr>
              <a:t>二、超净间中的一些概念</a:t>
            </a:r>
          </a:p>
        </p:txBody>
      </p:sp>
      <p:sp>
        <p:nvSpPr>
          <p:cNvPr id="18" name="文本框 17">
            <a:hlinkClick r:id="rId4" action="ppaction://hlinksldjump"/>
          </p:cNvPr>
          <p:cNvSpPr txBox="1"/>
          <p:nvPr/>
        </p:nvSpPr>
        <p:spPr>
          <a:xfrm>
            <a:off x="3071888" y="5763845"/>
            <a:ext cx="6912771" cy="830997"/>
          </a:xfrm>
          <a:prstGeom prst="rect">
            <a:avLst/>
          </a:prstGeom>
          <a:solidFill>
            <a:schemeClr val="accent4">
              <a:lumMod val="20000"/>
              <a:lumOff val="80000"/>
            </a:schemeClr>
          </a:solidFill>
          <a:ln w="6350">
            <a:solidFill>
              <a:schemeClr val="accent4">
                <a:lumMod val="20000"/>
                <a:lumOff val="80000"/>
              </a:schemeClr>
            </a:solidFill>
          </a:ln>
          <a:effectLst>
            <a:glow rad="63500">
              <a:schemeClr val="accent4">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4800" dirty="0">
                <a:ln>
                  <a:solidFill>
                    <a:srgbClr val="7030A0"/>
                  </a:solidFill>
                </a:ln>
                <a:latin typeface="仿宋" panose="02010609060101010101" pitchFamily="49" charset="-122"/>
                <a:ea typeface="仿宋" panose="02010609060101010101" pitchFamily="49" charset="-122"/>
              </a:rPr>
              <a:t>三、实验室管理规定</a:t>
            </a:r>
          </a:p>
        </p:txBody>
      </p:sp>
      <p:sp>
        <p:nvSpPr>
          <p:cNvPr id="19" name="文本框 18">
            <a:hlinkClick r:id="rId5" action="ppaction://hlinksldjump"/>
          </p:cNvPr>
          <p:cNvSpPr txBox="1"/>
          <p:nvPr/>
        </p:nvSpPr>
        <p:spPr>
          <a:xfrm>
            <a:off x="3071888" y="8237719"/>
            <a:ext cx="6912771" cy="830997"/>
          </a:xfrm>
          <a:prstGeom prst="rect">
            <a:avLst/>
          </a:prstGeom>
          <a:solidFill>
            <a:schemeClr val="accent4">
              <a:lumMod val="20000"/>
              <a:lumOff val="80000"/>
            </a:schemeClr>
          </a:solidFill>
          <a:ln w="6350">
            <a:solidFill>
              <a:schemeClr val="accent4">
                <a:lumMod val="20000"/>
                <a:lumOff val="80000"/>
              </a:schemeClr>
            </a:solidFill>
          </a:ln>
          <a:effectLst>
            <a:glow rad="63500">
              <a:schemeClr val="accent4">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4800" dirty="0">
                <a:ln>
                  <a:solidFill>
                    <a:srgbClr val="7030A0"/>
                  </a:solidFill>
                </a:ln>
                <a:latin typeface="仿宋" panose="02010609060101010101" pitchFamily="49" charset="-122"/>
                <a:ea typeface="仿宋" panose="02010609060101010101" pitchFamily="49" charset="-122"/>
              </a:rPr>
              <a:t>五、超净实验室安全</a:t>
            </a:r>
          </a:p>
        </p:txBody>
      </p:sp>
      <p:sp>
        <p:nvSpPr>
          <p:cNvPr id="20" name="文本框 19">
            <a:hlinkClick r:id="rId6" action="ppaction://hlinksldjump"/>
          </p:cNvPr>
          <p:cNvSpPr txBox="1"/>
          <p:nvPr/>
        </p:nvSpPr>
        <p:spPr>
          <a:xfrm>
            <a:off x="3071888" y="7000783"/>
            <a:ext cx="6912770" cy="830997"/>
          </a:xfrm>
          <a:prstGeom prst="rect">
            <a:avLst/>
          </a:prstGeom>
          <a:solidFill>
            <a:schemeClr val="accent4">
              <a:lumMod val="20000"/>
              <a:lumOff val="80000"/>
            </a:schemeClr>
          </a:solidFill>
          <a:ln w="6350">
            <a:solidFill>
              <a:schemeClr val="accent4">
                <a:lumMod val="20000"/>
                <a:lumOff val="80000"/>
              </a:schemeClr>
            </a:solidFill>
          </a:ln>
          <a:effectLst>
            <a:glow rad="63500">
              <a:schemeClr val="accent4">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4800" dirty="0">
                <a:ln>
                  <a:solidFill>
                    <a:srgbClr val="7030A0"/>
                  </a:solidFill>
                </a:ln>
                <a:latin typeface="仿宋" panose="02010609060101010101" pitchFamily="49" charset="-122"/>
                <a:ea typeface="仿宋" panose="02010609060101010101" pitchFamily="49" charset="-122"/>
              </a:rPr>
              <a:t>四、超净实验室行为规范</a:t>
            </a:r>
          </a:p>
        </p:txBody>
      </p:sp>
      <p:sp>
        <p:nvSpPr>
          <p:cNvPr id="28" name="标题 3"/>
          <p:cNvSpPr txBox="1">
            <a:spLocks/>
          </p:cNvSpPr>
          <p:nvPr/>
        </p:nvSpPr>
        <p:spPr bwMode="auto">
          <a:xfrm>
            <a:off x="2541960" y="340296"/>
            <a:ext cx="8280920"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dirty="0"/>
              <a:t>微纳加工平台超净实验室的申请与安全使用培训</a:t>
            </a:r>
          </a:p>
        </p:txBody>
      </p:sp>
    </p:spTree>
    <p:extLst>
      <p:ext uri="{BB962C8B-B14F-4D97-AF65-F5344CB8AC3E}">
        <p14:creationId xmlns:p14="http://schemas.microsoft.com/office/powerpoint/2010/main" val="1073937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9950610" y="9185006"/>
            <a:ext cx="3034453" cy="519289"/>
          </a:xfrm>
        </p:spPr>
        <p:txBody>
          <a:bodyPr/>
          <a:lstStyle/>
          <a:p>
            <a:fld id="{0C913308-F349-4B6D-A68A-DD1791B4A57B}" type="slidenum">
              <a:rPr lang="zh-CN" altLang="en-US" smtClean="0"/>
              <a:pPr/>
              <a:t>3</a:t>
            </a:fld>
            <a:endParaRPr lang="zh-CN" altLang="en-US" dirty="0"/>
          </a:p>
        </p:txBody>
      </p:sp>
      <p:sp>
        <p:nvSpPr>
          <p:cNvPr id="3" name="内容占位符 2"/>
          <p:cNvSpPr>
            <a:spLocks noGrp="1"/>
          </p:cNvSpPr>
          <p:nvPr>
            <p:ph idx="1"/>
          </p:nvPr>
        </p:nvSpPr>
        <p:spPr>
          <a:xfrm>
            <a:off x="525736" y="1852464"/>
            <a:ext cx="11881320" cy="7310616"/>
          </a:xfrm>
        </p:spPr>
        <p:txBody>
          <a:bodyPr/>
          <a:lstStyle/>
          <a:p>
            <a:pPr marL="0" indent="0">
              <a:lnSpc>
                <a:spcPct val="130000"/>
              </a:lnSpc>
              <a:buNone/>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       清华大学</a:t>
            </a:r>
            <a:r>
              <a:rPr lang="zh-CN" altLang="en-US" sz="2800" dirty="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微纳加工平台</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（以下简称“平台”）是开放式多目标科研教学实验平台。近年来，在实验室管理处的指导和支持下，</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平台服务于全校各个科研单位，同时向社会开放</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。目前平台共有</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全职实验技术人员</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25</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人</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包括集成工程师、设备工程师、工艺工程师和动力支撑工程师等。平台不仅是一个进行高水平科研的研究平台，同时也将是一个培养高素质、创新型人才的育人平台。 </a:t>
            </a:r>
          </a:p>
        </p:txBody>
      </p:sp>
      <p:sp>
        <p:nvSpPr>
          <p:cNvPr id="4" name="标题 3"/>
          <p:cNvSpPr>
            <a:spLocks noGrp="1"/>
          </p:cNvSpPr>
          <p:nvPr>
            <p:ph type="title"/>
          </p:nvPr>
        </p:nvSpPr>
        <p:spPr/>
        <p:txBody>
          <a:bodyPr/>
          <a:lstStyle/>
          <a:p>
            <a:r>
              <a:rPr lang="zh-CN" altLang="en-US" dirty="0"/>
              <a:t>微纳加工平台简介</a:t>
            </a:r>
          </a:p>
        </p:txBody>
      </p:sp>
      <p:pic>
        <p:nvPicPr>
          <p:cNvPr id="5" name="图片 4"/>
          <p:cNvPicPr>
            <a:picLocks noChangeAspect="1"/>
          </p:cNvPicPr>
          <p:nvPr/>
        </p:nvPicPr>
        <p:blipFill>
          <a:blip r:embed="rId2"/>
          <a:stretch>
            <a:fillRect/>
          </a:stretch>
        </p:blipFill>
        <p:spPr>
          <a:xfrm>
            <a:off x="1015976" y="6683385"/>
            <a:ext cx="5846414" cy="2801927"/>
          </a:xfrm>
          <a:prstGeom prst="rect">
            <a:avLst/>
          </a:prstGeom>
        </p:spPr>
      </p:pic>
      <p:sp>
        <p:nvSpPr>
          <p:cNvPr id="7" name="矩形 6"/>
          <p:cNvSpPr/>
          <p:nvPr/>
        </p:nvSpPr>
        <p:spPr>
          <a:xfrm>
            <a:off x="967743" y="5244744"/>
            <a:ext cx="4032448" cy="1538883"/>
          </a:xfrm>
          <a:prstGeom prst="rect">
            <a:avLst/>
          </a:prstGeom>
        </p:spPr>
        <p:txBody>
          <a:bodyPr wrap="square">
            <a:spAutoFit/>
          </a:bodyPr>
          <a:lstStyle/>
          <a:p>
            <a:pPr marL="342900" indent="-342900" algn="just">
              <a:lnSpc>
                <a:spcPct val="150000"/>
              </a:lnSpc>
              <a:spcAft>
                <a:spcPts val="0"/>
              </a:spcAft>
              <a:buClr>
                <a:srgbClr val="7030A0"/>
              </a:buClr>
              <a:buFont typeface="Wingdings" panose="05000000000000000000" pitchFamily="2" charset="2"/>
              <a:buChar char="p"/>
              <a:defRPr/>
            </a:pPr>
            <a:r>
              <a:rPr lang="zh-CN" altLang="en-US"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超净</a:t>
            </a:r>
            <a:r>
              <a:rPr lang="zh-CN" altLang="zh-CN"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面积</a:t>
            </a:r>
            <a:r>
              <a:rPr lang="en-US" altLang="zh-CN"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~1200m</a:t>
            </a:r>
            <a:r>
              <a:rPr lang="en-US" altLang="zh-CN" sz="2000" kern="100" baseline="300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2</a:t>
            </a:r>
            <a:endParaRPr lang="en-US" altLang="zh-CN"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endParaRPr>
          </a:p>
          <a:p>
            <a:pPr algn="just">
              <a:lnSpc>
                <a:spcPct val="160000"/>
              </a:lnSpc>
              <a:spcAft>
                <a:spcPts val="0"/>
              </a:spcAft>
              <a:defRPr/>
            </a:pP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含</a:t>
            </a:r>
            <a:r>
              <a:rPr lang="zh-CN"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百级超净间</a:t>
            </a: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120m</a:t>
            </a:r>
            <a:r>
              <a:rPr lang="en-US" altLang="zh-CN" sz="2000" kern="100" baseline="300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2</a:t>
            </a:r>
          </a:p>
          <a:p>
            <a:pPr algn="just">
              <a:lnSpc>
                <a:spcPct val="160000"/>
              </a:lnSpc>
              <a:spcAft>
                <a:spcPts val="0"/>
              </a:spcAft>
              <a:defRPr/>
            </a:pP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测试专区</a:t>
            </a: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200m</a:t>
            </a:r>
            <a:r>
              <a:rPr lang="en-US" altLang="zh-CN" sz="2000" kern="100" baseline="300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2</a:t>
            </a:r>
          </a:p>
        </p:txBody>
      </p:sp>
      <p:sp>
        <p:nvSpPr>
          <p:cNvPr id="8" name="矩形 7"/>
          <p:cNvSpPr/>
          <p:nvPr/>
        </p:nvSpPr>
        <p:spPr>
          <a:xfrm>
            <a:off x="4081550" y="5244744"/>
            <a:ext cx="3052756" cy="1477328"/>
          </a:xfrm>
          <a:prstGeom prst="rect">
            <a:avLst/>
          </a:prstGeom>
        </p:spPr>
        <p:txBody>
          <a:bodyPr wrap="square">
            <a:spAutoFit/>
          </a:bodyPr>
          <a:lstStyle/>
          <a:p>
            <a:pPr marL="342900" indent="-342900" algn="just">
              <a:lnSpc>
                <a:spcPct val="150000"/>
              </a:lnSpc>
              <a:spcAft>
                <a:spcPts val="0"/>
              </a:spcAft>
              <a:buClr>
                <a:srgbClr val="7030A0"/>
              </a:buClr>
              <a:buFont typeface="Wingdings" panose="05000000000000000000" pitchFamily="2" charset="2"/>
              <a:buChar char="p"/>
              <a:defRPr/>
            </a:pP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设备</a:t>
            </a: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~200</a:t>
            </a: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多台套</a:t>
            </a:r>
            <a:endPar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just">
              <a:lnSpc>
                <a:spcPct val="150000"/>
              </a:lnSpc>
              <a:spcAft>
                <a:spcPts val="0"/>
              </a:spcAft>
              <a:defRPr/>
            </a:pP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开放大型设备</a:t>
            </a:r>
            <a:r>
              <a:rPr lang="en-US" altLang="zh-CN"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105</a:t>
            </a:r>
            <a:r>
              <a:rPr lang="zh-CN" altLang="en-US"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台套</a:t>
            </a:r>
            <a:r>
              <a:rPr lang="en-US" altLang="zh-CN" sz="2000" kern="100"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 </a:t>
            </a:r>
          </a:p>
          <a:p>
            <a:pPr algn="just">
              <a:lnSpc>
                <a:spcPct val="150000"/>
              </a:lnSpc>
              <a:spcAft>
                <a:spcPts val="0"/>
              </a:spcAft>
              <a:defRPr/>
            </a:pP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设备总资产约</a:t>
            </a:r>
            <a:r>
              <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3.0</a:t>
            </a:r>
            <a:r>
              <a:rPr lang="zh-CN" altLang="en-US"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亿元</a:t>
            </a:r>
            <a:endParaRPr lang="en-US" altLang="zh-CN" sz="20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矩形 10"/>
          <p:cNvSpPr/>
          <p:nvPr/>
        </p:nvSpPr>
        <p:spPr>
          <a:xfrm>
            <a:off x="7624440" y="5244744"/>
            <a:ext cx="4607048" cy="1477328"/>
          </a:xfrm>
          <a:prstGeom prst="rect">
            <a:avLst/>
          </a:prstGeom>
        </p:spPr>
        <p:txBody>
          <a:bodyPr wrap="square">
            <a:spAutoFit/>
          </a:bodyPr>
          <a:lstStyle/>
          <a:p>
            <a:pPr marL="342900" indent="-342900" algn="l">
              <a:lnSpc>
                <a:spcPct val="150000"/>
              </a:lnSpc>
              <a:buClr>
                <a:srgbClr val="7030A0"/>
              </a:buClr>
              <a:buFont typeface="Wingdings" panose="05000000000000000000" pitchFamily="2" charset="2"/>
              <a:buChar char="p"/>
            </a:pPr>
            <a:r>
              <a:rPr lang="zh-CN" altLang="en-US" sz="2000" dirty="0">
                <a:solidFill>
                  <a:schemeClr val="tx1"/>
                </a:solidFill>
              </a:rPr>
              <a:t>平台用户数</a:t>
            </a:r>
            <a:r>
              <a:rPr lang="en-US" altLang="zh-CN" sz="2000" dirty="0">
                <a:solidFill>
                  <a:srgbClr val="0000FF"/>
                </a:solidFill>
              </a:rPr>
              <a:t>645</a:t>
            </a:r>
            <a:r>
              <a:rPr lang="zh-CN" altLang="en-US" sz="2000" dirty="0">
                <a:solidFill>
                  <a:srgbClr val="0000FF"/>
                </a:solidFill>
              </a:rPr>
              <a:t>人</a:t>
            </a:r>
            <a:r>
              <a:rPr lang="zh-CN" altLang="en-US" sz="2000" dirty="0">
                <a:solidFill>
                  <a:schemeClr val="tx1"/>
                </a:solidFill>
              </a:rPr>
              <a:t>（</a:t>
            </a:r>
            <a:r>
              <a:rPr lang="en-US" altLang="zh-CN" sz="2000" dirty="0">
                <a:solidFill>
                  <a:schemeClr val="tx1"/>
                </a:solidFill>
              </a:rPr>
              <a:t>2019</a:t>
            </a:r>
            <a:r>
              <a:rPr lang="zh-CN" altLang="en-US" sz="2000" dirty="0">
                <a:solidFill>
                  <a:schemeClr val="tx1"/>
                </a:solidFill>
              </a:rPr>
              <a:t>年底）</a:t>
            </a:r>
            <a:endParaRPr lang="en-US" altLang="zh-CN" sz="2000" dirty="0">
              <a:solidFill>
                <a:schemeClr val="tx1"/>
              </a:solidFill>
            </a:endParaRPr>
          </a:p>
          <a:p>
            <a:pPr algn="l">
              <a:lnSpc>
                <a:spcPct val="150000"/>
              </a:lnSpc>
            </a:pPr>
            <a:r>
              <a:rPr lang="zh-CN" altLang="en-US" sz="2000" dirty="0">
                <a:solidFill>
                  <a:schemeClr val="tx1"/>
                </a:solidFill>
              </a:rPr>
              <a:t>     本科生</a:t>
            </a:r>
            <a:r>
              <a:rPr lang="en-US" altLang="zh-CN" sz="2000" dirty="0">
                <a:solidFill>
                  <a:schemeClr val="tx1"/>
                </a:solidFill>
              </a:rPr>
              <a:t>110</a:t>
            </a:r>
            <a:r>
              <a:rPr lang="zh-CN" altLang="en-US" sz="2000" dirty="0">
                <a:solidFill>
                  <a:schemeClr val="tx1"/>
                </a:solidFill>
              </a:rPr>
              <a:t>人、研究生</a:t>
            </a:r>
            <a:r>
              <a:rPr lang="en-US" altLang="zh-CN" sz="2000" dirty="0">
                <a:solidFill>
                  <a:schemeClr val="tx1"/>
                </a:solidFill>
              </a:rPr>
              <a:t>343</a:t>
            </a:r>
            <a:r>
              <a:rPr lang="zh-CN" altLang="en-US" sz="2000" dirty="0">
                <a:solidFill>
                  <a:schemeClr val="tx1"/>
                </a:solidFill>
              </a:rPr>
              <a:t>人</a:t>
            </a:r>
            <a:endParaRPr lang="en-US" altLang="zh-CN" sz="2000" dirty="0">
              <a:solidFill>
                <a:schemeClr val="tx1"/>
              </a:solidFill>
            </a:endParaRPr>
          </a:p>
          <a:p>
            <a:pPr algn="l">
              <a:lnSpc>
                <a:spcPct val="150000"/>
              </a:lnSpc>
            </a:pPr>
            <a:r>
              <a:rPr lang="zh-CN" altLang="en-US" sz="2000" dirty="0">
                <a:solidFill>
                  <a:schemeClr val="tx1"/>
                </a:solidFill>
              </a:rPr>
              <a:t>     其他科研及企业人员</a:t>
            </a:r>
            <a:r>
              <a:rPr lang="en-US" altLang="zh-CN" sz="2000" dirty="0">
                <a:solidFill>
                  <a:schemeClr val="tx1"/>
                </a:solidFill>
              </a:rPr>
              <a:t>192</a:t>
            </a:r>
            <a:r>
              <a:rPr lang="zh-CN" altLang="en-US" sz="2000" dirty="0">
                <a:solidFill>
                  <a:schemeClr val="tx1"/>
                </a:solidFill>
              </a:rPr>
              <a:t>人</a:t>
            </a:r>
          </a:p>
        </p:txBody>
      </p:sp>
      <p:pic>
        <p:nvPicPr>
          <p:cNvPr id="12" name="图片 11"/>
          <p:cNvPicPr>
            <a:picLocks noChangeAspect="1"/>
          </p:cNvPicPr>
          <p:nvPr/>
        </p:nvPicPr>
        <p:blipFill>
          <a:blip r:embed="rId3"/>
          <a:stretch>
            <a:fillRect/>
          </a:stretch>
        </p:blipFill>
        <p:spPr>
          <a:xfrm>
            <a:off x="7056877" y="6623881"/>
            <a:ext cx="5155692" cy="2831073"/>
          </a:xfrm>
          <a:prstGeom prst="rect">
            <a:avLst/>
          </a:prstGeom>
        </p:spPr>
      </p:pic>
    </p:spTree>
    <p:extLst>
      <p:ext uri="{BB962C8B-B14F-4D97-AF65-F5344CB8AC3E}">
        <p14:creationId xmlns:p14="http://schemas.microsoft.com/office/powerpoint/2010/main" val="158973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a:t>
            </a:fld>
            <a:endParaRPr lang="zh-CN" altLang="en-US" dirty="0"/>
          </a:p>
        </p:txBody>
      </p:sp>
      <p:graphicFrame>
        <p:nvGraphicFramePr>
          <p:cNvPr id="10" name="内容占位符 9"/>
          <p:cNvGraphicFramePr>
            <a:graphicFrameLocks noGrp="1"/>
          </p:cNvGraphicFramePr>
          <p:nvPr>
            <p:ph idx="1"/>
            <p:extLst>
              <p:ext uri="{D42A27DB-BD31-4B8C-83A1-F6EECF244321}">
                <p14:modId xmlns:p14="http://schemas.microsoft.com/office/powerpoint/2010/main" val="147021589"/>
              </p:ext>
            </p:extLst>
          </p:nvPr>
        </p:nvGraphicFramePr>
        <p:xfrm>
          <a:off x="7798544" y="2676033"/>
          <a:ext cx="4608512" cy="155448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tblGrid>
              <a:tr h="603053">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zh-CN" altLang="zh-CN" sz="1800" kern="0" dirty="0">
                          <a:solidFill>
                            <a:schemeClr val="tx1"/>
                          </a:solidFill>
                          <a:effectLst/>
                          <a:latin typeface="仿宋" panose="02010609060101010101" pitchFamily="49" charset="-122"/>
                          <a:ea typeface="仿宋" panose="02010609060101010101" pitchFamily="49" charset="-122"/>
                        </a:rPr>
                        <a:t>区域名称</a:t>
                      </a:r>
                      <a:endParaRPr lang="zh-CN" altLang="zh-CN" sz="180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zh-CN" altLang="en-US" sz="1800" kern="0" dirty="0">
                          <a:solidFill>
                            <a:schemeClr val="tx1"/>
                          </a:solidFill>
                          <a:effectLst/>
                          <a:latin typeface="仿宋" panose="02010609060101010101" pitchFamily="49" charset="-122"/>
                          <a:ea typeface="仿宋" panose="02010609060101010101" pitchFamily="49" charset="-122"/>
                        </a:rPr>
                        <a:t>开放设备台套</a:t>
                      </a:r>
                      <a:endParaRPr lang="zh-CN" altLang="zh-CN" sz="180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zh-CN" altLang="zh-CN" sz="1800" kern="0" dirty="0">
                          <a:solidFill>
                            <a:schemeClr val="tx1"/>
                          </a:solidFill>
                          <a:effectLst/>
                          <a:latin typeface="仿宋" panose="02010609060101010101" pitchFamily="49" charset="-122"/>
                          <a:ea typeface="仿宋" panose="02010609060101010101" pitchFamily="49" charset="-122"/>
                        </a:rPr>
                        <a:t>备</a:t>
                      </a:r>
                      <a:r>
                        <a:rPr lang="en-US" altLang="zh-CN" sz="1800" kern="0" dirty="0">
                          <a:solidFill>
                            <a:schemeClr val="tx1"/>
                          </a:solidFill>
                          <a:effectLst/>
                          <a:latin typeface="仿宋" panose="02010609060101010101" pitchFamily="49" charset="-122"/>
                          <a:ea typeface="仿宋" panose="02010609060101010101" pitchFamily="49" charset="-122"/>
                        </a:rPr>
                        <a:t>     </a:t>
                      </a:r>
                      <a:r>
                        <a:rPr lang="zh-CN" altLang="zh-CN" sz="1800" kern="0" dirty="0">
                          <a:solidFill>
                            <a:schemeClr val="tx1"/>
                          </a:solidFill>
                          <a:effectLst/>
                          <a:latin typeface="仿宋" panose="02010609060101010101" pitchFamily="49" charset="-122"/>
                          <a:ea typeface="仿宋" panose="02010609060101010101" pitchFamily="49" charset="-122"/>
                        </a:rPr>
                        <a:t>注</a:t>
                      </a:r>
                      <a:endParaRPr lang="zh-CN" altLang="zh-CN" sz="180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0305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a:solidFill>
                            <a:schemeClr val="tx1"/>
                          </a:solidFill>
                          <a:latin typeface="仿宋" panose="02010609060101010101" pitchFamily="49" charset="-122"/>
                          <a:ea typeface="仿宋" panose="02010609060101010101" pitchFamily="49" charset="-122"/>
                        </a:rPr>
                        <a:t>百级区域</a:t>
                      </a:r>
                      <a:endParaRPr lang="en-US" altLang="zh-CN" sz="1800" dirty="0">
                        <a:solidFill>
                          <a:schemeClr val="tx1"/>
                        </a:solidFill>
                        <a:latin typeface="仿宋" panose="02010609060101010101" pitchFamily="49" charset="-122"/>
                        <a:ea typeface="仿宋" panose="02010609060101010101" pitchFamily="49" charset="-122"/>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00" dirty="0">
                          <a:solidFill>
                            <a:schemeClr val="tx1"/>
                          </a:solidFill>
                          <a:effectLst/>
                          <a:latin typeface="仿宋" panose="02010609060101010101" pitchFamily="49" charset="-122"/>
                          <a:ea typeface="仿宋" panose="02010609060101010101" pitchFamily="49" charset="-122"/>
                        </a:rPr>
                        <a:t>（光刻工艺区）</a:t>
                      </a:r>
                      <a:endParaRPr lang="zh-CN" altLang="zh-CN" sz="180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en-US" altLang="zh-CN" sz="1800" kern="100" dirty="0">
                          <a:solidFill>
                            <a:schemeClr val="tx1"/>
                          </a:solidFill>
                          <a:effectLst/>
                          <a:latin typeface="仿宋" panose="02010609060101010101" pitchFamily="49" charset="-122"/>
                          <a:ea typeface="仿宋" panose="02010609060101010101" pitchFamily="49" charset="-122"/>
                        </a:rPr>
                        <a:t>9</a:t>
                      </a:r>
                      <a:endParaRPr lang="en-US" altLang="zh-CN" sz="180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spcAft>
                          <a:spcPts val="0"/>
                        </a:spcAft>
                        <a:buFontTx/>
                        <a:buNone/>
                      </a:pPr>
                      <a:r>
                        <a:rPr lang="zh-CN" altLang="en-US" sz="1800" kern="0" dirty="0">
                          <a:solidFill>
                            <a:schemeClr val="tx1"/>
                          </a:solidFill>
                          <a:effectLst/>
                          <a:latin typeface="仿宋" panose="02010609060101010101" pitchFamily="49" charset="-122"/>
                          <a:ea typeface="仿宋" panose="02010609060101010101" pitchFamily="49" charset="-122"/>
                        </a:rPr>
                        <a:t>光学</a:t>
                      </a:r>
                      <a:r>
                        <a:rPr lang="zh-CN" altLang="zh-CN" sz="1800" kern="0" dirty="0">
                          <a:solidFill>
                            <a:schemeClr val="tx1"/>
                          </a:solidFill>
                          <a:effectLst/>
                          <a:latin typeface="仿宋" panose="02010609060101010101" pitchFamily="49" charset="-122"/>
                          <a:ea typeface="仿宋" panose="02010609060101010101" pitchFamily="49" charset="-122"/>
                        </a:rPr>
                        <a:t>光刻</a:t>
                      </a:r>
                      <a:endParaRPr lang="en-US" altLang="zh-CN" sz="1800" kern="0" dirty="0">
                        <a:solidFill>
                          <a:schemeClr val="tx1"/>
                        </a:solidFill>
                        <a:effectLst/>
                        <a:latin typeface="仿宋" panose="02010609060101010101" pitchFamily="49" charset="-122"/>
                        <a:ea typeface="仿宋"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0" dirty="0">
                          <a:solidFill>
                            <a:schemeClr val="tx1"/>
                          </a:solidFill>
                          <a:effectLst/>
                          <a:latin typeface="仿宋" panose="02010609060101010101" pitchFamily="49" charset="-122"/>
                          <a:ea typeface="仿宋" panose="02010609060101010101" pitchFamily="49" charset="-122"/>
                        </a:rPr>
                        <a:t>电子束光刻</a:t>
                      </a:r>
                      <a:endParaRPr lang="en-US" altLang="zh-CN" sz="1800" kern="0" dirty="0">
                        <a:solidFill>
                          <a:schemeClr val="tx1"/>
                        </a:solidFill>
                        <a:effectLst/>
                        <a:latin typeface="仿宋" panose="02010609060101010101" pitchFamily="49" charset="-122"/>
                        <a:ea typeface="仿宋"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0" dirty="0">
                          <a:solidFill>
                            <a:schemeClr val="tx1"/>
                          </a:solidFill>
                          <a:effectLst/>
                          <a:latin typeface="仿宋" panose="02010609060101010101" pitchFamily="49" charset="-122"/>
                          <a:ea typeface="仿宋" panose="02010609060101010101" pitchFamily="49" charset="-122"/>
                        </a:rPr>
                        <a:t>制版</a:t>
                      </a:r>
                      <a:r>
                        <a:rPr lang="zh-CN" altLang="zh-CN" sz="1800" kern="0" dirty="0">
                          <a:solidFill>
                            <a:schemeClr val="tx1"/>
                          </a:solidFill>
                          <a:effectLst/>
                          <a:latin typeface="仿宋" panose="02010609060101010101" pitchFamily="49" charset="-122"/>
                          <a:ea typeface="仿宋" panose="02010609060101010101" pitchFamily="49" charset="-122"/>
                        </a:rPr>
                        <a:t> </a:t>
                      </a:r>
                      <a:endParaRPr lang="en-US" altLang="zh-CN" sz="1800" kern="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4" name="标题 3"/>
          <p:cNvSpPr>
            <a:spLocks noGrp="1"/>
          </p:cNvSpPr>
          <p:nvPr>
            <p:ph type="title"/>
          </p:nvPr>
        </p:nvSpPr>
        <p:spPr/>
        <p:txBody>
          <a:bodyPr/>
          <a:lstStyle/>
          <a:p>
            <a:r>
              <a:rPr lang="zh-CN" altLang="en-US" dirty="0"/>
              <a:t>微纳加工平台简介</a:t>
            </a:r>
          </a:p>
        </p:txBody>
      </p:sp>
      <p:pic>
        <p:nvPicPr>
          <p:cNvPr id="5" name="图片 4"/>
          <p:cNvPicPr>
            <a:picLocks noChangeAspect="1"/>
          </p:cNvPicPr>
          <p:nvPr/>
        </p:nvPicPr>
        <p:blipFill>
          <a:blip r:embed="rId3"/>
          <a:stretch>
            <a:fillRect/>
          </a:stretch>
        </p:blipFill>
        <p:spPr>
          <a:xfrm>
            <a:off x="381721" y="2284619"/>
            <a:ext cx="7248436" cy="4506747"/>
          </a:xfrm>
          <a:prstGeom prst="rect">
            <a:avLst/>
          </a:prstGeom>
        </p:spPr>
      </p:pic>
      <p:grpSp>
        <p:nvGrpSpPr>
          <p:cNvPr id="11" name="组合 10"/>
          <p:cNvGrpSpPr/>
          <p:nvPr/>
        </p:nvGrpSpPr>
        <p:grpSpPr>
          <a:xfrm>
            <a:off x="522169" y="2862357"/>
            <a:ext cx="1324081" cy="1222355"/>
            <a:chOff x="656286" y="3580656"/>
            <a:chExt cx="1899141" cy="1872208"/>
          </a:xfrm>
          <a:noFill/>
        </p:grpSpPr>
        <p:sp>
          <p:nvSpPr>
            <p:cNvPr id="8" name="矩形 7"/>
            <p:cNvSpPr/>
            <p:nvPr/>
          </p:nvSpPr>
          <p:spPr>
            <a:xfrm>
              <a:off x="741760" y="3580656"/>
              <a:ext cx="1728192" cy="1872208"/>
            </a:xfrm>
            <a:prstGeom prst="rect">
              <a:avLst/>
            </a:prstGeom>
            <a:grp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56286" y="4255150"/>
              <a:ext cx="1899141" cy="607315"/>
            </a:xfrm>
            <a:prstGeom prst="rect">
              <a:avLst/>
            </a:prstGeom>
            <a:grpFill/>
          </p:spPr>
          <p:txBody>
            <a:bodyPr wrap="none" rtlCol="0">
              <a:spAutoFit/>
            </a:bodyPr>
            <a:lstStyle/>
            <a:p>
              <a:r>
                <a:rPr lang="zh-CN" altLang="en-US" sz="2000" dirty="0">
                  <a:solidFill>
                    <a:srgbClr val="0000FF"/>
                  </a:solidFill>
                  <a:latin typeface="黑体" panose="02010609060101010101" pitchFamily="49" charset="-122"/>
                  <a:ea typeface="黑体" panose="02010609060101010101" pitchFamily="49" charset="-122"/>
                </a:rPr>
                <a:t>百级区域</a:t>
              </a:r>
            </a:p>
          </p:txBody>
        </p:sp>
      </p:grpSp>
      <p:grpSp>
        <p:nvGrpSpPr>
          <p:cNvPr id="32" name="组合 31"/>
          <p:cNvGrpSpPr/>
          <p:nvPr/>
        </p:nvGrpSpPr>
        <p:grpSpPr>
          <a:xfrm>
            <a:off x="2368146" y="2572545"/>
            <a:ext cx="4680520" cy="4032447"/>
            <a:chOff x="3504786" y="3213054"/>
            <a:chExt cx="6915992" cy="6120727"/>
          </a:xfrm>
        </p:grpSpPr>
        <p:grpSp>
          <p:nvGrpSpPr>
            <p:cNvPr id="25" name="组合 24"/>
            <p:cNvGrpSpPr/>
            <p:nvPr/>
          </p:nvGrpSpPr>
          <p:grpSpPr>
            <a:xfrm>
              <a:off x="3504786" y="3213054"/>
              <a:ext cx="6915992" cy="5484693"/>
              <a:chOff x="3512456" y="3148610"/>
              <a:chExt cx="6915992" cy="5484693"/>
            </a:xfrm>
            <a:noFill/>
          </p:grpSpPr>
          <p:grpSp>
            <p:nvGrpSpPr>
              <p:cNvPr id="18" name="组合 17"/>
              <p:cNvGrpSpPr/>
              <p:nvPr/>
            </p:nvGrpSpPr>
            <p:grpSpPr>
              <a:xfrm>
                <a:off x="3512456" y="3148610"/>
                <a:ext cx="6915992" cy="2841768"/>
                <a:chOff x="767554" y="3580657"/>
                <a:chExt cx="1676604" cy="1847149"/>
              </a:xfrm>
              <a:grpFill/>
            </p:grpSpPr>
            <p:sp>
              <p:nvSpPr>
                <p:cNvPr id="19" name="矩形 18"/>
                <p:cNvSpPr/>
                <p:nvPr/>
              </p:nvSpPr>
              <p:spPr>
                <a:xfrm>
                  <a:off x="767554" y="3580657"/>
                  <a:ext cx="1676604" cy="1847149"/>
                </a:xfrm>
                <a:prstGeom prst="rect">
                  <a:avLst/>
                </a:prstGeom>
                <a:grp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0" name="文本框 19"/>
                <p:cNvSpPr txBox="1"/>
                <p:nvPr/>
              </p:nvSpPr>
              <p:spPr>
                <a:xfrm>
                  <a:off x="1387886" y="4299908"/>
                  <a:ext cx="435941" cy="394755"/>
                </a:xfrm>
                <a:prstGeom prst="rect">
                  <a:avLst/>
                </a:prstGeom>
                <a:noFill/>
                <a:ln>
                  <a:noFill/>
                </a:ln>
              </p:spPr>
              <p:txBody>
                <a:bodyPr wrap="none" rtlCol="0">
                  <a:spAutoFit/>
                </a:bodyPr>
                <a:lstStyle/>
                <a:p>
                  <a:r>
                    <a:rPr lang="zh-CN" altLang="en-US" sz="2000" b="1" dirty="0">
                      <a:solidFill>
                        <a:schemeClr val="accent6">
                          <a:lumMod val="75000"/>
                        </a:schemeClr>
                      </a:solidFill>
                      <a:latin typeface="黑体" panose="02010609060101010101" pitchFamily="49" charset="-122"/>
                      <a:ea typeface="黑体" panose="02010609060101010101" pitchFamily="49" charset="-122"/>
                    </a:rPr>
                    <a:t>千级区域</a:t>
                  </a:r>
                </a:p>
              </p:txBody>
            </p:sp>
          </p:grpSp>
          <p:sp>
            <p:nvSpPr>
              <p:cNvPr id="22" name="文本框 21"/>
              <p:cNvSpPr txBox="1"/>
              <p:nvPr/>
            </p:nvSpPr>
            <p:spPr>
              <a:xfrm>
                <a:off x="5895384" y="8025988"/>
                <a:ext cx="2774926" cy="607315"/>
              </a:xfrm>
              <a:prstGeom prst="rect">
                <a:avLst/>
              </a:prstGeom>
              <a:noFill/>
              <a:ln>
                <a:noFill/>
              </a:ln>
            </p:spPr>
            <p:txBody>
              <a:bodyPr wrap="square" rtlCol="0">
                <a:spAutoFit/>
              </a:bodyPr>
              <a:lstStyle/>
              <a:p>
                <a:r>
                  <a:rPr lang="zh-CN" altLang="en-US" sz="2000" b="1" dirty="0">
                    <a:solidFill>
                      <a:schemeClr val="accent6">
                        <a:lumMod val="75000"/>
                      </a:schemeClr>
                    </a:solidFill>
                    <a:latin typeface="黑体" panose="02010609060101010101" pitchFamily="49" charset="-122"/>
                    <a:ea typeface="黑体" panose="02010609060101010101" pitchFamily="49" charset="-122"/>
                  </a:rPr>
                  <a:t>千级区域</a:t>
                </a:r>
                <a:endParaRPr lang="zh-CN" altLang="en-US" sz="2000" dirty="0">
                  <a:solidFill>
                    <a:schemeClr val="accent6">
                      <a:lumMod val="75000"/>
                    </a:schemeClr>
                  </a:solidFill>
                  <a:latin typeface="仿宋" panose="02010609060101010101" pitchFamily="49" charset="-122"/>
                  <a:ea typeface="仿宋" panose="02010609060101010101" pitchFamily="49" charset="-122"/>
                </a:endParaRPr>
              </a:p>
            </p:txBody>
          </p:sp>
        </p:grpSp>
        <p:sp>
          <p:nvSpPr>
            <p:cNvPr id="31" name="任意多边形 30"/>
            <p:cNvSpPr/>
            <p:nvPr/>
          </p:nvSpPr>
          <p:spPr>
            <a:xfrm>
              <a:off x="5861914" y="7781027"/>
              <a:ext cx="2893897" cy="1552754"/>
            </a:xfrm>
            <a:custGeom>
              <a:avLst/>
              <a:gdLst>
                <a:gd name="connsiteX0" fmla="*/ 0 w 2950234"/>
                <a:gd name="connsiteY0" fmla="*/ 17253 h 1552755"/>
                <a:gd name="connsiteX1" fmla="*/ 0 w 2950234"/>
                <a:gd name="connsiteY1" fmla="*/ 1544129 h 1552755"/>
                <a:gd name="connsiteX2" fmla="*/ 1181819 w 2950234"/>
                <a:gd name="connsiteY2" fmla="*/ 1552755 h 1552755"/>
                <a:gd name="connsiteX3" fmla="*/ 1181819 w 2950234"/>
                <a:gd name="connsiteY3" fmla="*/ 1224951 h 1552755"/>
                <a:gd name="connsiteX4" fmla="*/ 2941608 w 2950234"/>
                <a:gd name="connsiteY4" fmla="*/ 1224951 h 1552755"/>
                <a:gd name="connsiteX5" fmla="*/ 2950234 w 2950234"/>
                <a:gd name="connsiteY5" fmla="*/ 0 h 1552755"/>
                <a:gd name="connsiteX6" fmla="*/ 0 w 2950234"/>
                <a:gd name="connsiteY6" fmla="*/ 17253 h 1552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0234" h="1552755">
                  <a:moveTo>
                    <a:pt x="0" y="17253"/>
                  </a:moveTo>
                  <a:lnTo>
                    <a:pt x="0" y="1544129"/>
                  </a:lnTo>
                  <a:lnTo>
                    <a:pt x="1181819" y="1552755"/>
                  </a:lnTo>
                  <a:lnTo>
                    <a:pt x="1181819" y="1224951"/>
                  </a:lnTo>
                  <a:lnTo>
                    <a:pt x="2941608" y="1224951"/>
                  </a:lnTo>
                  <a:cubicBezTo>
                    <a:pt x="2944483" y="816634"/>
                    <a:pt x="2947359" y="408317"/>
                    <a:pt x="2950234" y="0"/>
                  </a:cubicBezTo>
                  <a:lnTo>
                    <a:pt x="0" y="17253"/>
                  </a:lnTo>
                  <a:close/>
                </a:path>
              </a:pathLst>
            </a:cu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716663" y="5620206"/>
            <a:ext cx="1246711" cy="790733"/>
            <a:chOff x="3953436" y="7710121"/>
            <a:chExt cx="1960132" cy="1200230"/>
          </a:xfrm>
        </p:grpSpPr>
        <p:sp>
          <p:nvSpPr>
            <p:cNvPr id="33" name="矩形 32"/>
            <p:cNvSpPr/>
            <p:nvPr/>
          </p:nvSpPr>
          <p:spPr>
            <a:xfrm>
              <a:off x="4090531" y="7710121"/>
              <a:ext cx="1751449" cy="1200230"/>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953436" y="7953581"/>
              <a:ext cx="1960132" cy="607315"/>
            </a:xfrm>
            <a:prstGeom prst="rect">
              <a:avLst/>
            </a:prstGeom>
            <a:noFill/>
          </p:spPr>
          <p:txBody>
            <a:bodyPr wrap="none" rtlCol="0">
              <a:spAutoFit/>
            </a:bodyPr>
            <a:lstStyle/>
            <a:p>
              <a:r>
                <a:rPr lang="zh-CN" altLang="en-US" sz="2000" dirty="0">
                  <a:solidFill>
                    <a:srgbClr val="7030A0"/>
                  </a:solidFill>
                  <a:latin typeface="黑体" panose="02010609060101010101" pitchFamily="49" charset="-122"/>
                  <a:ea typeface="黑体" panose="02010609060101010101" pitchFamily="49" charset="-122"/>
                </a:rPr>
                <a:t>万级区域</a:t>
              </a:r>
            </a:p>
          </p:txBody>
        </p:sp>
      </p:grpSp>
      <p:sp>
        <p:nvSpPr>
          <p:cNvPr id="36" name="文本框 35"/>
          <p:cNvSpPr txBox="1"/>
          <p:nvPr/>
        </p:nvSpPr>
        <p:spPr>
          <a:xfrm>
            <a:off x="1311999" y="9197280"/>
            <a:ext cx="5211683" cy="523220"/>
          </a:xfrm>
          <a:prstGeom prst="rect">
            <a:avLst/>
          </a:prstGeom>
          <a:noFill/>
        </p:spPr>
        <p:txBody>
          <a:bodyPr wrap="none" rtlCol="0">
            <a:spAutoFit/>
          </a:bodyPr>
          <a:lstStyle>
            <a:defPPr>
              <a:defRPr lang="zh-CN"/>
            </a:defPPr>
            <a:lvl1pPr>
              <a:defRPr sz="2800">
                <a:solidFill>
                  <a:schemeClr val="tx1"/>
                </a:solidFill>
                <a:latin typeface="黑体" panose="02010609060101010101" pitchFamily="49" charset="-122"/>
                <a:ea typeface="黑体" panose="02010609060101010101" pitchFamily="49" charset="-122"/>
              </a:defRPr>
            </a:lvl1pPr>
          </a:lstStyle>
          <a:p>
            <a:r>
              <a:rPr lang="zh-CN" altLang="en-US" dirty="0"/>
              <a:t>图</a:t>
            </a:r>
            <a:r>
              <a:rPr lang="en-US" altLang="zh-CN" dirty="0"/>
              <a:t>1.</a:t>
            </a:r>
            <a:r>
              <a:rPr lang="zh-CN" altLang="en-US" dirty="0"/>
              <a:t>实验室各功能区分布示意图</a:t>
            </a:r>
          </a:p>
        </p:txBody>
      </p:sp>
      <p:grpSp>
        <p:nvGrpSpPr>
          <p:cNvPr id="16" name="组合 15"/>
          <p:cNvGrpSpPr/>
          <p:nvPr/>
        </p:nvGrpSpPr>
        <p:grpSpPr>
          <a:xfrm>
            <a:off x="6455295" y="7070688"/>
            <a:ext cx="480032" cy="947080"/>
            <a:chOff x="11366195" y="2699522"/>
            <a:chExt cx="646332" cy="1528152"/>
          </a:xfrm>
        </p:grpSpPr>
        <p:sp>
          <p:nvSpPr>
            <p:cNvPr id="14" name="任意多边形 13"/>
            <p:cNvSpPr/>
            <p:nvPr/>
          </p:nvSpPr>
          <p:spPr>
            <a:xfrm>
              <a:off x="11484939" y="2699522"/>
              <a:ext cx="410537" cy="860072"/>
            </a:xfrm>
            <a:custGeom>
              <a:avLst/>
              <a:gdLst>
                <a:gd name="connsiteX0" fmla="*/ 699247 w 1452282"/>
                <a:gd name="connsiteY0" fmla="*/ 0 h 2904565"/>
                <a:gd name="connsiteX1" fmla="*/ 0 w 1452282"/>
                <a:gd name="connsiteY1" fmla="*/ 2886635 h 2904565"/>
                <a:gd name="connsiteX2" fmla="*/ 717176 w 1452282"/>
                <a:gd name="connsiteY2" fmla="*/ 2169459 h 2904565"/>
                <a:gd name="connsiteX3" fmla="*/ 1452282 w 1452282"/>
                <a:gd name="connsiteY3" fmla="*/ 2904565 h 2904565"/>
                <a:gd name="connsiteX4" fmla="*/ 699247 w 1452282"/>
                <a:gd name="connsiteY4" fmla="*/ 0 h 2904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282" h="2904565">
                  <a:moveTo>
                    <a:pt x="699247" y="0"/>
                  </a:moveTo>
                  <a:lnTo>
                    <a:pt x="0" y="2886635"/>
                  </a:lnTo>
                  <a:lnTo>
                    <a:pt x="717176" y="2169459"/>
                  </a:lnTo>
                  <a:lnTo>
                    <a:pt x="1452282" y="2904565"/>
                  </a:lnTo>
                  <a:lnTo>
                    <a:pt x="699247" y="0"/>
                  </a:lnTo>
                  <a:close/>
                </a:path>
              </a:pathLst>
            </a:cu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15" name="文本框 14"/>
            <p:cNvSpPr txBox="1"/>
            <p:nvPr/>
          </p:nvSpPr>
          <p:spPr>
            <a:xfrm>
              <a:off x="11366195" y="3581343"/>
              <a:ext cx="646332" cy="646331"/>
            </a:xfrm>
            <a:prstGeom prst="rect">
              <a:avLst/>
            </a:prstGeom>
            <a:noFill/>
          </p:spPr>
          <p:txBody>
            <a:bodyPr wrap="none" rtlCol="0">
              <a:spAutoFit/>
            </a:bodyPr>
            <a:lstStyle/>
            <a:p>
              <a:r>
                <a:rPr lang="zh-CN" altLang="en-US" dirty="0">
                  <a:solidFill>
                    <a:srgbClr val="0000FF"/>
                  </a:solidFill>
                </a:rPr>
                <a:t>北</a:t>
              </a:r>
            </a:p>
          </p:txBody>
        </p:sp>
      </p:grpSp>
      <p:sp>
        <p:nvSpPr>
          <p:cNvPr id="6" name="文本框 5"/>
          <p:cNvSpPr txBox="1"/>
          <p:nvPr/>
        </p:nvSpPr>
        <p:spPr>
          <a:xfrm>
            <a:off x="223200" y="1708448"/>
            <a:ext cx="5929828" cy="584775"/>
          </a:xfrm>
          <a:prstGeom prst="rect">
            <a:avLst/>
          </a:prstGeom>
          <a:noFill/>
        </p:spPr>
        <p:txBody>
          <a:bodyPr wrap="none" rtlCol="0">
            <a:spAutoFit/>
          </a:bodyPr>
          <a:lstStyle/>
          <a:p>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实验室各功能区与及其洁净等级</a:t>
            </a:r>
          </a:p>
        </p:txBody>
      </p:sp>
      <p:pic>
        <p:nvPicPr>
          <p:cNvPr id="39" name="图片 38">
            <a:extLst>
              <a:ext uri="{FF2B5EF4-FFF2-40B4-BE49-F238E27FC236}">
                <a16:creationId xmlns:a16="http://schemas.microsoft.com/office/drawing/2014/main" id="{CA7E2F73-1E0C-40DE-8E0F-2DF7D07F79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5867" y="6904471"/>
            <a:ext cx="3997810" cy="2292809"/>
          </a:xfrm>
          <a:prstGeom prst="rect">
            <a:avLst/>
          </a:prstGeom>
        </p:spPr>
      </p:pic>
      <p:grpSp>
        <p:nvGrpSpPr>
          <p:cNvPr id="40" name="组合 39"/>
          <p:cNvGrpSpPr/>
          <p:nvPr/>
        </p:nvGrpSpPr>
        <p:grpSpPr>
          <a:xfrm>
            <a:off x="3838104" y="7514016"/>
            <a:ext cx="1092294" cy="1308085"/>
            <a:chOff x="5761077" y="3566160"/>
            <a:chExt cx="2391965" cy="2834640"/>
          </a:xfrm>
        </p:grpSpPr>
        <p:sp>
          <p:nvSpPr>
            <p:cNvPr id="41" name="任意多边形 40"/>
            <p:cNvSpPr/>
            <p:nvPr/>
          </p:nvSpPr>
          <p:spPr>
            <a:xfrm>
              <a:off x="5806440" y="3566160"/>
              <a:ext cx="2301240" cy="2834640"/>
            </a:xfrm>
            <a:custGeom>
              <a:avLst/>
              <a:gdLst>
                <a:gd name="connsiteX0" fmla="*/ 289560 w 2301240"/>
                <a:gd name="connsiteY0" fmla="*/ 15240 h 2834640"/>
                <a:gd name="connsiteX1" fmla="*/ 259080 w 2301240"/>
                <a:gd name="connsiteY1" fmla="*/ 548640 h 2834640"/>
                <a:gd name="connsiteX2" fmla="*/ 0 w 2301240"/>
                <a:gd name="connsiteY2" fmla="*/ 548640 h 2834640"/>
                <a:gd name="connsiteX3" fmla="*/ 0 w 2301240"/>
                <a:gd name="connsiteY3" fmla="*/ 2026920 h 2834640"/>
                <a:gd name="connsiteX4" fmla="*/ 548640 w 2301240"/>
                <a:gd name="connsiteY4" fmla="*/ 2026920 h 2834640"/>
                <a:gd name="connsiteX5" fmla="*/ 579120 w 2301240"/>
                <a:gd name="connsiteY5" fmla="*/ 2819400 h 2834640"/>
                <a:gd name="connsiteX6" fmla="*/ 2301240 w 2301240"/>
                <a:gd name="connsiteY6" fmla="*/ 2834640 h 2834640"/>
                <a:gd name="connsiteX7" fmla="*/ 2301240 w 2301240"/>
                <a:gd name="connsiteY7" fmla="*/ 0 h 2834640"/>
                <a:gd name="connsiteX8" fmla="*/ 289560 w 2301240"/>
                <a:gd name="connsiteY8" fmla="*/ 15240 h 283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1240" h="2834640">
                  <a:moveTo>
                    <a:pt x="289560" y="15240"/>
                  </a:moveTo>
                  <a:lnTo>
                    <a:pt x="259080" y="548640"/>
                  </a:lnTo>
                  <a:lnTo>
                    <a:pt x="0" y="548640"/>
                  </a:lnTo>
                  <a:lnTo>
                    <a:pt x="0" y="2026920"/>
                  </a:lnTo>
                  <a:lnTo>
                    <a:pt x="548640" y="2026920"/>
                  </a:lnTo>
                  <a:lnTo>
                    <a:pt x="579120" y="2819400"/>
                  </a:lnTo>
                  <a:lnTo>
                    <a:pt x="2301240" y="2834640"/>
                  </a:lnTo>
                  <a:lnTo>
                    <a:pt x="2301240" y="0"/>
                  </a:lnTo>
                  <a:lnTo>
                    <a:pt x="289560" y="15240"/>
                  </a:lnTo>
                  <a:close/>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5761077" y="4338678"/>
              <a:ext cx="2391965" cy="796629"/>
            </a:xfrm>
            <a:prstGeom prst="rect">
              <a:avLst/>
            </a:prstGeom>
          </p:spPr>
          <p:txBody>
            <a:bodyPr wrap="none">
              <a:spAutoFit/>
            </a:bodyPr>
            <a:lstStyle/>
            <a:p>
              <a:r>
                <a:rPr lang="zh-CN" altLang="en-US" sz="2000" dirty="0">
                  <a:solidFill>
                    <a:srgbClr val="7030A0"/>
                  </a:solidFill>
                  <a:latin typeface="黑体" panose="02010609060101010101" pitchFamily="49" charset="-122"/>
                  <a:ea typeface="黑体" panose="02010609060101010101" pitchFamily="49" charset="-122"/>
                </a:rPr>
                <a:t>万级区域</a:t>
              </a:r>
            </a:p>
          </p:txBody>
        </p:sp>
      </p:grpSp>
      <p:graphicFrame>
        <p:nvGraphicFramePr>
          <p:cNvPr id="17" name="表格 16"/>
          <p:cNvGraphicFramePr>
            <a:graphicFrameLocks noGrp="1"/>
          </p:cNvGraphicFramePr>
          <p:nvPr>
            <p:extLst>
              <p:ext uri="{D42A27DB-BD31-4B8C-83A1-F6EECF244321}">
                <p14:modId xmlns:p14="http://schemas.microsoft.com/office/powerpoint/2010/main" val="684910516"/>
              </p:ext>
            </p:extLst>
          </p:nvPr>
        </p:nvGraphicFramePr>
        <p:xfrm>
          <a:off x="7798545" y="7433670"/>
          <a:ext cx="4608512" cy="1043530"/>
        </p:xfrm>
        <a:graphic>
          <a:graphicData uri="http://schemas.openxmlformats.org/drawingml/2006/table">
            <a:tbl>
              <a:tblPr firstRow="1" bandRow="1">
                <a:tableStyleId>{5C22544A-7EE6-4342-B048-85BDC9FD1C3A}</a:tableStyleId>
              </a:tblPr>
              <a:tblGrid>
                <a:gridCol w="1584175">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2088233">
                  <a:extLst>
                    <a:ext uri="{9D8B030D-6E8A-4147-A177-3AD203B41FA5}">
                      <a16:colId xmlns:a16="http://schemas.microsoft.com/office/drawing/2014/main" val="20002"/>
                    </a:ext>
                  </a:extLst>
                </a:gridCol>
              </a:tblGrid>
              <a:tr h="1043530">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zh-CN" altLang="en-US" sz="2000" b="0" kern="0" dirty="0">
                          <a:solidFill>
                            <a:schemeClr val="tx1"/>
                          </a:solidFill>
                          <a:effectLst/>
                          <a:latin typeface="仿宋" panose="02010609060101010101" pitchFamily="49" charset="-122"/>
                          <a:ea typeface="仿宋" panose="02010609060101010101" pitchFamily="49" charset="-122"/>
                        </a:rPr>
                        <a:t>万级区域</a:t>
                      </a:r>
                      <a:endParaRPr lang="en-US" altLang="zh-CN" sz="2000" b="0" kern="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0" dirty="0">
                          <a:solidFill>
                            <a:schemeClr val="tx1"/>
                          </a:solidFill>
                          <a:latin typeface="仿宋" panose="02010609060101010101" pitchFamily="49" charset="-122"/>
                          <a:ea typeface="仿宋" panose="02010609060101010101" pitchFamily="49" charset="-122"/>
                        </a:rPr>
                        <a:t>18</a:t>
                      </a:r>
                      <a:endParaRPr lang="zh-CN" altLang="en-US" sz="2000" b="0" dirty="0">
                        <a:solidFill>
                          <a:schemeClr val="tx1"/>
                        </a:solidFill>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130046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2000" b="0" kern="0" dirty="0">
                          <a:solidFill>
                            <a:schemeClr val="tx1"/>
                          </a:solidFill>
                          <a:effectLst/>
                          <a:latin typeface="仿宋" panose="02010609060101010101" pitchFamily="49" charset="-122"/>
                          <a:ea typeface="仿宋" panose="02010609060101010101" pitchFamily="49" charset="-122"/>
                        </a:rPr>
                        <a:t>划片切割</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indent="0" algn="l">
                        <a:spcAft>
                          <a:spcPts val="0"/>
                        </a:spcAft>
                        <a:buFont typeface="Wingdings" panose="05000000000000000000" pitchFamily="2" charset="2"/>
                        <a:buNone/>
                      </a:pPr>
                      <a:r>
                        <a:rPr lang="zh-CN" altLang="en-US" sz="2000" b="0" kern="0" dirty="0">
                          <a:solidFill>
                            <a:schemeClr val="tx1"/>
                          </a:solidFill>
                          <a:effectLst/>
                          <a:latin typeface="仿宋" panose="02010609060101010101" pitchFamily="49" charset="-122"/>
                          <a:ea typeface="仿宋" panose="02010609060101010101" pitchFamily="49" charset="-122"/>
                        </a:rPr>
                        <a:t>材料物性</a:t>
                      </a:r>
                      <a:r>
                        <a:rPr lang="zh-CN" altLang="zh-CN" sz="2000" b="0" kern="0" dirty="0">
                          <a:solidFill>
                            <a:schemeClr val="tx1"/>
                          </a:solidFill>
                          <a:effectLst/>
                          <a:latin typeface="仿宋" panose="02010609060101010101" pitchFamily="49" charset="-122"/>
                          <a:ea typeface="仿宋" panose="02010609060101010101" pitchFamily="49" charset="-122"/>
                        </a:rPr>
                        <a:t>测试</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indent="0" algn="l">
                        <a:spcAft>
                          <a:spcPts val="0"/>
                        </a:spcAft>
                        <a:buFont typeface="Wingdings" panose="05000000000000000000" pitchFamily="2" charset="2"/>
                        <a:buNone/>
                      </a:pPr>
                      <a:r>
                        <a:rPr lang="zh-CN" altLang="en-US" sz="2000" b="0" kern="0" dirty="0">
                          <a:solidFill>
                            <a:schemeClr val="tx1"/>
                          </a:solidFill>
                          <a:effectLst/>
                          <a:latin typeface="仿宋" panose="02010609060101010101" pitchFamily="49" charset="-122"/>
                          <a:ea typeface="仿宋" panose="02010609060101010101" pitchFamily="49" charset="-122"/>
                        </a:rPr>
                        <a:t>多级真空互联</a:t>
                      </a:r>
                      <a:endParaRPr lang="en-US" altLang="zh-CN" sz="2000" b="0" kern="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3068565316"/>
              </p:ext>
            </p:extLst>
          </p:nvPr>
        </p:nvGraphicFramePr>
        <p:xfrm>
          <a:off x="7798544" y="4475732"/>
          <a:ext cx="4608512" cy="2712720"/>
        </p:xfrm>
        <a:graphic>
          <a:graphicData uri="http://schemas.openxmlformats.org/drawingml/2006/table">
            <a:tbl>
              <a:tblPr firstRow="1" bandRow="1">
                <a:tableStyleId>{5C22544A-7EE6-4342-B048-85BDC9FD1C3A}</a:tableStyleId>
              </a:tblPr>
              <a:tblGrid>
                <a:gridCol w="1615163">
                  <a:extLst>
                    <a:ext uri="{9D8B030D-6E8A-4147-A177-3AD203B41FA5}">
                      <a16:colId xmlns:a16="http://schemas.microsoft.com/office/drawing/2014/main" val="20000"/>
                    </a:ext>
                  </a:extLst>
                </a:gridCol>
                <a:gridCol w="891046">
                  <a:extLst>
                    <a:ext uri="{9D8B030D-6E8A-4147-A177-3AD203B41FA5}">
                      <a16:colId xmlns:a16="http://schemas.microsoft.com/office/drawing/2014/main" val="20001"/>
                    </a:ext>
                  </a:extLst>
                </a:gridCol>
                <a:gridCol w="2102303">
                  <a:extLst>
                    <a:ext uri="{9D8B030D-6E8A-4147-A177-3AD203B41FA5}">
                      <a16:colId xmlns:a16="http://schemas.microsoft.com/office/drawing/2014/main" val="20002"/>
                    </a:ext>
                  </a:extLst>
                </a:gridCol>
              </a:tblGrid>
              <a:tr h="148876">
                <a:tc>
                  <a:txBody>
                    <a:bodyPr/>
                    <a:lstStyle/>
                    <a:p>
                      <a:pPr algn="ctr">
                        <a:spcAft>
                          <a:spcPts val="0"/>
                        </a:spcAft>
                      </a:pPr>
                      <a:r>
                        <a:rPr lang="zh-CN" altLang="en-US" sz="2000" b="0" kern="0" dirty="0">
                          <a:solidFill>
                            <a:schemeClr val="tx1"/>
                          </a:solidFill>
                          <a:effectLst/>
                          <a:latin typeface="仿宋" panose="02010609060101010101" pitchFamily="49" charset="-122"/>
                          <a:ea typeface="仿宋" panose="02010609060101010101" pitchFamily="49" charset="-122"/>
                        </a:rPr>
                        <a:t>千级区域</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algn="ctr">
                        <a:spcAft>
                          <a:spcPts val="0"/>
                        </a:spcAft>
                      </a:pPr>
                      <a:r>
                        <a:rPr lang="zh-CN" altLang="en-US" sz="2000" b="0" kern="0" dirty="0">
                          <a:solidFill>
                            <a:schemeClr val="tx1"/>
                          </a:solidFill>
                          <a:effectLst/>
                          <a:latin typeface="仿宋" panose="02010609060101010101" pitchFamily="49" charset="-122"/>
                          <a:ea typeface="仿宋" panose="02010609060101010101" pitchFamily="49" charset="-122"/>
                        </a:rPr>
                        <a:t>（工艺区）</a:t>
                      </a:r>
                      <a:endParaRPr lang="en-US" altLang="zh-CN" sz="2000" b="0" kern="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en-US" altLang="zh-CN" sz="2000" b="0" kern="100" dirty="0">
                          <a:solidFill>
                            <a:schemeClr val="tx1"/>
                          </a:solidFill>
                          <a:effectLst/>
                          <a:latin typeface="仿宋" panose="02010609060101010101" pitchFamily="49" charset="-122"/>
                          <a:ea typeface="仿宋" panose="02010609060101010101" pitchFamily="49" charset="-122"/>
                        </a:rPr>
                        <a:t>37</a:t>
                      </a:r>
                      <a:endParaRPr lang="zh-CN" altLang="zh-CN" sz="2000" b="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b="0" kern="0" dirty="0">
                          <a:solidFill>
                            <a:schemeClr val="tx1"/>
                          </a:solidFill>
                          <a:effectLst/>
                          <a:latin typeface="仿宋" panose="02010609060101010101" pitchFamily="49" charset="-122"/>
                          <a:ea typeface="仿宋" panose="02010609060101010101" pitchFamily="49" charset="-122"/>
                        </a:rPr>
                        <a:t>薄膜制备工艺</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000" b="0" kern="0" dirty="0">
                          <a:solidFill>
                            <a:schemeClr val="tx1"/>
                          </a:solidFill>
                          <a:effectLst/>
                          <a:latin typeface="仿宋" panose="02010609060101010101" pitchFamily="49" charset="-122"/>
                          <a:ea typeface="仿宋" panose="02010609060101010101" pitchFamily="49" charset="-122"/>
                        </a:rPr>
                        <a:t>刻蚀工艺</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2000" b="0" kern="0" dirty="0">
                          <a:solidFill>
                            <a:schemeClr val="tx1"/>
                          </a:solidFill>
                          <a:effectLst/>
                          <a:latin typeface="仿宋" panose="02010609060101010101" pitchFamily="49" charset="-122"/>
                          <a:ea typeface="仿宋" panose="02010609060101010101" pitchFamily="49" charset="-122"/>
                        </a:rPr>
                        <a:t>氧化扩散类</a:t>
                      </a:r>
                      <a:r>
                        <a:rPr lang="zh-CN" altLang="en-US" sz="2000" b="0" kern="0" dirty="0">
                          <a:solidFill>
                            <a:schemeClr val="tx1"/>
                          </a:solidFill>
                          <a:effectLst/>
                          <a:latin typeface="仿宋" panose="02010609060101010101" pitchFamily="49" charset="-122"/>
                          <a:ea typeface="仿宋" panose="02010609060101010101" pitchFamily="49" charset="-122"/>
                        </a:rPr>
                        <a:t>工艺</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000" b="0" kern="0" dirty="0">
                          <a:solidFill>
                            <a:schemeClr val="tx1"/>
                          </a:solidFill>
                          <a:effectLst/>
                          <a:latin typeface="仿宋" panose="02010609060101010101" pitchFamily="49" charset="-122"/>
                          <a:ea typeface="仿宋" panose="02010609060101010101" pitchFamily="49" charset="-122"/>
                        </a:rPr>
                        <a:t>湿法工艺等</a:t>
                      </a:r>
                      <a:endParaRPr lang="zh-CN" altLang="zh-CN" sz="2000" b="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spcAft>
                          <a:spcPts val="0"/>
                        </a:spcAft>
                      </a:pPr>
                      <a:r>
                        <a:rPr lang="zh-CN" altLang="en-US" sz="2000" b="0" kern="0" dirty="0">
                          <a:solidFill>
                            <a:schemeClr val="tx1"/>
                          </a:solidFill>
                          <a:effectLst/>
                          <a:latin typeface="仿宋" panose="02010609060101010101" pitchFamily="49" charset="-122"/>
                          <a:ea typeface="仿宋" panose="02010609060101010101" pitchFamily="49" charset="-122"/>
                        </a:rPr>
                        <a:t>千级区域</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algn="ctr">
                        <a:spcAft>
                          <a:spcPts val="0"/>
                        </a:spcAft>
                      </a:pPr>
                      <a:r>
                        <a:rPr lang="zh-CN" altLang="en-US" sz="2000" b="0" kern="0" dirty="0">
                          <a:solidFill>
                            <a:schemeClr val="tx1"/>
                          </a:solidFill>
                          <a:effectLst/>
                          <a:latin typeface="仿宋" panose="02010609060101010101" pitchFamily="49" charset="-122"/>
                          <a:ea typeface="仿宋" panose="02010609060101010101" pitchFamily="49" charset="-122"/>
                        </a:rPr>
                        <a:t>（测试区）</a:t>
                      </a:r>
                      <a:endParaRPr lang="en-US" altLang="zh-CN" sz="2000" b="0" kern="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en-US" altLang="zh-CN" sz="2000" b="0" kern="100" dirty="0">
                          <a:solidFill>
                            <a:schemeClr val="tx1"/>
                          </a:solidFill>
                          <a:effectLst/>
                          <a:latin typeface="仿宋" panose="02010609060101010101" pitchFamily="49" charset="-122"/>
                          <a:ea typeface="仿宋" panose="02010609060101010101" pitchFamily="49" charset="-122"/>
                          <a:cs typeface="+mn-cs"/>
                        </a:rPr>
                        <a:t>20</a:t>
                      </a:r>
                      <a:endParaRPr lang="zh-CN" altLang="zh-CN" sz="2000" b="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spcAft>
                          <a:spcPts val="0"/>
                        </a:spcAft>
                        <a:buFontTx/>
                        <a:buNone/>
                      </a:pPr>
                      <a:r>
                        <a:rPr lang="zh-CN" altLang="en-US" sz="2000" b="0" kern="0" dirty="0">
                          <a:solidFill>
                            <a:schemeClr val="tx1"/>
                          </a:solidFill>
                          <a:effectLst/>
                          <a:latin typeface="仿宋" panose="02010609060101010101" pitchFamily="49" charset="-122"/>
                          <a:ea typeface="仿宋" panose="02010609060101010101" pitchFamily="49" charset="-122"/>
                        </a:rPr>
                        <a:t>材料物性</a:t>
                      </a:r>
                      <a:r>
                        <a:rPr lang="zh-CN" altLang="zh-CN" sz="2000" b="0" kern="0" dirty="0">
                          <a:solidFill>
                            <a:schemeClr val="tx1"/>
                          </a:solidFill>
                          <a:effectLst/>
                          <a:latin typeface="仿宋" panose="02010609060101010101" pitchFamily="49" charset="-122"/>
                          <a:ea typeface="仿宋" panose="02010609060101010101" pitchFamily="49" charset="-122"/>
                        </a:rPr>
                        <a:t>测试</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indent="0" algn="l">
                        <a:spcAft>
                          <a:spcPts val="0"/>
                        </a:spcAft>
                        <a:buFontTx/>
                        <a:buNone/>
                      </a:pPr>
                      <a:r>
                        <a:rPr lang="zh-CN" altLang="zh-CN" sz="2000" b="0" kern="0" dirty="0">
                          <a:solidFill>
                            <a:schemeClr val="tx1"/>
                          </a:solidFill>
                          <a:effectLst/>
                          <a:latin typeface="仿宋" panose="02010609060101010101" pitchFamily="49" charset="-122"/>
                          <a:ea typeface="仿宋" panose="02010609060101010101" pitchFamily="49" charset="-122"/>
                        </a:rPr>
                        <a:t>电参数测试等</a:t>
                      </a:r>
                      <a:endParaRPr lang="zh-CN" altLang="zh-CN" sz="2000" b="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zh-CN" altLang="en-US" sz="2000" b="0" kern="0" dirty="0">
                          <a:solidFill>
                            <a:schemeClr val="tx1"/>
                          </a:solidFill>
                          <a:effectLst/>
                          <a:latin typeface="仿宋" panose="02010609060101010101" pitchFamily="49" charset="-122"/>
                          <a:ea typeface="仿宋" panose="02010609060101010101" pitchFamily="49" charset="-122"/>
                        </a:rPr>
                        <a:t>千级区域</a:t>
                      </a:r>
                      <a:endParaRPr lang="en-US" altLang="zh-CN" sz="2000" b="0" kern="0" dirty="0">
                        <a:solidFill>
                          <a:schemeClr val="tx1"/>
                        </a:solidFill>
                        <a:effectLst/>
                        <a:latin typeface="仿宋" panose="02010609060101010101" pitchFamily="49" charset="-122"/>
                        <a:ea typeface="仿宋" panose="02010609060101010101" pitchFamily="49" charset="-122"/>
                      </a:endParaRPr>
                    </a:p>
                    <a:p>
                      <a:pPr marL="0" marR="0" indent="0" algn="ctr" defTabSz="1300460" rtl="0" eaLnBrk="1" fontAlgn="auto" latinLnBrk="0" hangingPunct="1">
                        <a:lnSpc>
                          <a:spcPct val="100000"/>
                        </a:lnSpc>
                        <a:spcBef>
                          <a:spcPts val="0"/>
                        </a:spcBef>
                        <a:spcAft>
                          <a:spcPts val="0"/>
                        </a:spcAft>
                        <a:buClrTx/>
                        <a:buSzTx/>
                        <a:buFontTx/>
                        <a:buNone/>
                        <a:tabLst/>
                        <a:defRPr/>
                      </a:pPr>
                      <a:r>
                        <a:rPr lang="zh-CN" altLang="en-US" sz="2000" b="0" kern="0" dirty="0">
                          <a:solidFill>
                            <a:schemeClr val="tx1"/>
                          </a:solidFill>
                          <a:effectLst/>
                          <a:latin typeface="仿宋" panose="02010609060101010101" pitchFamily="49" charset="-122"/>
                          <a:ea typeface="仿宋" panose="02010609060101010101" pitchFamily="49" charset="-122"/>
                        </a:rPr>
                        <a:t>（</a:t>
                      </a:r>
                      <a:r>
                        <a:rPr lang="zh-CN" altLang="zh-CN" sz="2000" b="0" kern="0" dirty="0">
                          <a:solidFill>
                            <a:schemeClr val="tx1"/>
                          </a:solidFill>
                          <a:effectLst/>
                          <a:latin typeface="仿宋" panose="02010609060101010101" pitchFamily="49" charset="-122"/>
                          <a:ea typeface="仿宋" panose="02010609060101010101" pitchFamily="49" charset="-122"/>
                        </a:rPr>
                        <a:t>封装</a:t>
                      </a:r>
                      <a:r>
                        <a:rPr lang="zh-CN" altLang="en-US" sz="2000" b="0" kern="0" dirty="0">
                          <a:solidFill>
                            <a:schemeClr val="tx1"/>
                          </a:solidFill>
                          <a:effectLst/>
                          <a:latin typeface="仿宋" panose="02010609060101010101" pitchFamily="49" charset="-122"/>
                          <a:ea typeface="仿宋" panose="02010609060101010101" pitchFamily="49" charset="-122"/>
                        </a:rPr>
                        <a:t>专区）</a:t>
                      </a:r>
                      <a:endParaRPr lang="zh-CN" altLang="zh-CN" sz="2000" b="0" kern="100" dirty="0">
                        <a:solidFill>
                          <a:schemeClr val="tx1"/>
                        </a:solidFill>
                        <a:effectLst/>
                        <a:latin typeface="仿宋" panose="02010609060101010101" pitchFamily="49" charset="-122"/>
                        <a:ea typeface="仿宋"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1300460" rtl="0" eaLnBrk="1" fontAlgn="auto" latinLnBrk="0" hangingPunct="1">
                        <a:lnSpc>
                          <a:spcPct val="100000"/>
                        </a:lnSpc>
                        <a:spcBef>
                          <a:spcPts val="0"/>
                        </a:spcBef>
                        <a:spcAft>
                          <a:spcPts val="0"/>
                        </a:spcAft>
                        <a:buClrTx/>
                        <a:buSzTx/>
                        <a:buFontTx/>
                        <a:buNone/>
                        <a:tabLst/>
                        <a:defRPr/>
                      </a:pPr>
                      <a:r>
                        <a:rPr lang="en-US" altLang="zh-CN" sz="2000" b="0" kern="100" dirty="0">
                          <a:solidFill>
                            <a:schemeClr val="tx1"/>
                          </a:solidFill>
                          <a:effectLst/>
                          <a:latin typeface="仿宋" panose="02010609060101010101" pitchFamily="49" charset="-122"/>
                          <a:ea typeface="仿宋" panose="02010609060101010101" pitchFamily="49" charset="-122"/>
                        </a:rPr>
                        <a:t>21</a:t>
                      </a:r>
                      <a:endParaRPr lang="zh-CN" altLang="zh-CN" sz="2000" b="0" kern="10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Wingdings" panose="05000000000000000000" pitchFamily="2" charset="2"/>
                        <a:buNone/>
                      </a:pPr>
                      <a:r>
                        <a:rPr lang="zh-CN" altLang="en-US" sz="2000" b="0" kern="100" dirty="0">
                          <a:solidFill>
                            <a:schemeClr val="tx1"/>
                          </a:solidFill>
                          <a:effectLst/>
                          <a:latin typeface="仿宋" panose="02010609060101010101" pitchFamily="49" charset="-122"/>
                          <a:ea typeface="仿宋" panose="02010609060101010101" pitchFamily="49" charset="-122"/>
                        </a:rPr>
                        <a:t>封装工艺</a:t>
                      </a:r>
                      <a:endParaRPr lang="en-US" altLang="zh-CN" sz="2000" b="0" kern="100" dirty="0">
                        <a:solidFill>
                          <a:schemeClr val="tx1"/>
                        </a:solidFill>
                        <a:effectLst/>
                        <a:latin typeface="仿宋" panose="02010609060101010101" pitchFamily="49" charset="-122"/>
                        <a:ea typeface="仿宋" panose="02010609060101010101" pitchFamily="49" charset="-122"/>
                      </a:endParaRPr>
                    </a:p>
                    <a:p>
                      <a:pPr marL="0" indent="0" algn="l">
                        <a:buFont typeface="Wingdings" panose="05000000000000000000" pitchFamily="2" charset="2"/>
                        <a:buNone/>
                      </a:pPr>
                      <a:r>
                        <a:rPr lang="zh-CN" altLang="en-US" sz="2000" b="0" kern="100" dirty="0">
                          <a:solidFill>
                            <a:schemeClr val="tx1"/>
                          </a:solidFill>
                          <a:effectLst/>
                          <a:latin typeface="仿宋" panose="02010609060101010101" pitchFamily="49" charset="-122"/>
                          <a:ea typeface="仿宋" panose="02010609060101010101" pitchFamily="49" charset="-122"/>
                        </a:rPr>
                        <a:t>可靠性测试</a:t>
                      </a:r>
                      <a:endParaRPr lang="zh-CN" altLang="zh-CN" sz="2000" b="0" kern="100" dirty="0">
                        <a:solidFill>
                          <a:schemeClr val="tx1"/>
                        </a:solidFill>
                        <a:effectLst/>
                        <a:latin typeface="仿宋" panose="02010609060101010101" pitchFamily="49" charset="-122"/>
                        <a:ea typeface="仿宋"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6182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a:t>
            </a:fld>
            <a:endParaRPr lang="zh-CN" altLang="en-US" dirty="0"/>
          </a:p>
        </p:txBody>
      </p:sp>
      <p:sp>
        <p:nvSpPr>
          <p:cNvPr id="4" name="标题 3"/>
          <p:cNvSpPr>
            <a:spLocks noGrp="1"/>
          </p:cNvSpPr>
          <p:nvPr>
            <p:ph type="title"/>
          </p:nvPr>
        </p:nvSpPr>
        <p:spPr>
          <a:xfrm>
            <a:off x="1476886" y="4084712"/>
            <a:ext cx="10426113" cy="1584176"/>
          </a:xfrm>
        </p:spPr>
        <p:txBody>
          <a:bodyPr/>
          <a:lstStyle/>
          <a:p>
            <a:r>
              <a:rPr lang="zh-CN" altLang="en-US" sz="8800" dirty="0"/>
              <a:t>超净间中的一些概念</a:t>
            </a:r>
          </a:p>
        </p:txBody>
      </p:sp>
      <p:sp>
        <p:nvSpPr>
          <p:cNvPr id="6" name="标题 3"/>
          <p:cNvSpPr txBox="1">
            <a:spLocks/>
          </p:cNvSpPr>
          <p:nvPr/>
        </p:nvSpPr>
        <p:spPr bwMode="auto">
          <a:xfrm>
            <a:off x="2541960" y="340296"/>
            <a:ext cx="8280920"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dirty="0"/>
              <a:t>微纳加工平台超净实验室的申请与安全使用培训</a:t>
            </a:r>
          </a:p>
        </p:txBody>
      </p:sp>
    </p:spTree>
    <p:extLst>
      <p:ext uri="{BB962C8B-B14F-4D97-AF65-F5344CB8AC3E}">
        <p14:creationId xmlns:p14="http://schemas.microsoft.com/office/powerpoint/2010/main" val="3234353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6</a:t>
            </a:fld>
            <a:endParaRPr lang="zh-CN" altLang="en-US" dirty="0"/>
          </a:p>
        </p:txBody>
      </p:sp>
      <p:sp>
        <p:nvSpPr>
          <p:cNvPr id="4" name="标题 3"/>
          <p:cNvSpPr>
            <a:spLocks noGrp="1"/>
          </p:cNvSpPr>
          <p:nvPr>
            <p:ph type="title"/>
          </p:nvPr>
        </p:nvSpPr>
        <p:spPr/>
        <p:txBody>
          <a:bodyPr/>
          <a:lstStyle/>
          <a:p>
            <a:r>
              <a:rPr lang="zh-CN" altLang="en-US" dirty="0"/>
              <a:t>超净间中的一些概念</a:t>
            </a:r>
          </a:p>
        </p:txBody>
      </p:sp>
      <p:sp>
        <p:nvSpPr>
          <p:cNvPr id="13" name="矩形 12"/>
          <p:cNvSpPr/>
          <p:nvPr/>
        </p:nvSpPr>
        <p:spPr>
          <a:xfrm>
            <a:off x="2407684" y="3705508"/>
            <a:ext cx="8010879" cy="523220"/>
          </a:xfrm>
          <a:prstGeom prst="rect">
            <a:avLst/>
          </a:prstGeom>
        </p:spPr>
        <p:txBody>
          <a:bodyPr wrap="square">
            <a:spAutoFit/>
          </a:bodyPr>
          <a:lstStyle/>
          <a:p>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表</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空气洁净等级标准</a:t>
            </a:r>
          </a:p>
        </p:txBody>
      </p:sp>
      <p:sp>
        <p:nvSpPr>
          <p:cNvPr id="3" name="文本框 2"/>
          <p:cNvSpPr txBox="1"/>
          <p:nvPr/>
        </p:nvSpPr>
        <p:spPr>
          <a:xfrm>
            <a:off x="89400" y="2293223"/>
            <a:ext cx="12915399" cy="1384995"/>
          </a:xfrm>
          <a:prstGeom prst="rect">
            <a:avLst/>
          </a:prstGeom>
          <a:noFill/>
        </p:spPr>
        <p:txBody>
          <a:bodyPr wrap="square" rtlCol="0">
            <a:spAutoFit/>
          </a:bodyPr>
          <a:lstStyle/>
          <a:p>
            <a:pPr algn="l"/>
            <a:r>
              <a:rPr lang="zh-CN" altLang="en-US" sz="2800" dirty="0">
                <a:solidFill>
                  <a:schemeClr val="tx1"/>
                </a:solidFill>
                <a:latin typeface="仿宋" panose="02010609060101010101" pitchFamily="49" charset="-122"/>
                <a:ea typeface="仿宋" panose="02010609060101010101" pitchFamily="49" charset="-122"/>
              </a:rPr>
              <a:t>    </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超净间的洁净度是由其空气中的颗粒大小和颗粒密度决定的。</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ISO 1644</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标准如下表，</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ISO5</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ISO6</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ISO7</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对应的是（</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ISO-209E</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级、</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1000</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级、</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10000</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级的洁净度，</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均以一定体积内</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0.5</a:t>
            </a:r>
            <a:r>
              <a:rPr lang="el-GR"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μ</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m</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及以上的颗粒总数为标准</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（注</a:t>
            </a:r>
            <a:r>
              <a:rPr lang="en-US" altLang="zh-CN"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立方英尺</a:t>
            </a:r>
            <a:r>
              <a:rPr lang="en-US" altLang="zh-CN"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=0.0283m</a:t>
            </a:r>
            <a:r>
              <a:rPr lang="en-US" altLang="zh-CN" sz="2000" baseline="30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en-US"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17396" y="1708448"/>
            <a:ext cx="10589459"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一</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超净间中的洁净度、温度、湿度</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矩形 5"/>
          <p:cNvSpPr/>
          <p:nvPr/>
        </p:nvSpPr>
        <p:spPr>
          <a:xfrm>
            <a:off x="178678" y="7877894"/>
            <a:ext cx="12647444" cy="1815882"/>
          </a:xfrm>
          <a:prstGeom prst="rect">
            <a:avLst/>
          </a:prstGeom>
        </p:spPr>
        <p:txBody>
          <a:bodyPr wrap="square">
            <a:spAutoFit/>
          </a:bodyPr>
          <a:lstStyle/>
          <a:p>
            <a:pPr algn="just"/>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温度控制对工作人员的舒适性和工艺控制很重要，比如温度升高刻蚀速率会增加。典型的超净间</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温度</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控制在</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23.0 ℃±2.0℃</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相对湿度也是非常重要的工艺参数，光刻工艺尤其敏感。典型的</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相对湿度</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保持在</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43%±5%</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之间。</a:t>
            </a:r>
          </a:p>
        </p:txBody>
      </p:sp>
      <p:pic>
        <p:nvPicPr>
          <p:cNvPr id="7" name="图片 6"/>
          <p:cNvPicPr>
            <a:picLocks noChangeAspect="1"/>
          </p:cNvPicPr>
          <p:nvPr/>
        </p:nvPicPr>
        <p:blipFill>
          <a:blip r:embed="rId2"/>
          <a:stretch>
            <a:fillRect/>
          </a:stretch>
        </p:blipFill>
        <p:spPr>
          <a:xfrm>
            <a:off x="1829404" y="4145864"/>
            <a:ext cx="9345992" cy="3676210"/>
          </a:xfrm>
          <a:prstGeom prst="rect">
            <a:avLst/>
          </a:prstGeom>
        </p:spPr>
      </p:pic>
      <p:sp>
        <p:nvSpPr>
          <p:cNvPr id="8" name="圆角矩形 7"/>
          <p:cNvSpPr/>
          <p:nvPr/>
        </p:nvSpPr>
        <p:spPr>
          <a:xfrm>
            <a:off x="2000430" y="5870207"/>
            <a:ext cx="8966466" cy="23072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4728" y="3666548"/>
            <a:ext cx="3439789" cy="1754326"/>
          </a:xfrm>
          <a:prstGeom prst="rect">
            <a:avLst/>
          </a:prstGeom>
          <a:solidFill>
            <a:schemeClr val="tx2">
              <a:lumMod val="20000"/>
              <a:lumOff val="80000"/>
            </a:schemeClr>
          </a:solidFill>
          <a:ln w="38100">
            <a:solidFill>
              <a:srgbClr val="0000FF"/>
            </a:solidFill>
          </a:ln>
        </p:spPr>
        <p:txBody>
          <a:bodyPr wrap="square" rtlCol="0">
            <a:spAutoFit/>
          </a:bodyPr>
          <a:lstStyle/>
          <a:p>
            <a:pPr algn="l"/>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ISO-209E:</a:t>
            </a:r>
          </a:p>
          <a:p>
            <a:pPr algn="l"/>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室内：</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1 000 000</a:t>
            </a:r>
          </a:p>
          <a:p>
            <a:pPr algn="l"/>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室外：</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&gt;500 000</a:t>
            </a:r>
          </a:p>
        </p:txBody>
      </p:sp>
      <p:sp>
        <p:nvSpPr>
          <p:cNvPr id="11" name="圆角矩形 10"/>
          <p:cNvSpPr/>
          <p:nvPr/>
        </p:nvSpPr>
        <p:spPr>
          <a:xfrm>
            <a:off x="9336310" y="2790714"/>
            <a:ext cx="1270545" cy="40092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192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7</a:t>
            </a:fld>
            <a:endParaRPr lang="zh-CN" altLang="en-US" dirty="0"/>
          </a:p>
        </p:txBody>
      </p:sp>
      <p:graphicFrame>
        <p:nvGraphicFramePr>
          <p:cNvPr id="5" name="内容占位符 10">
            <a:extLst>
              <a:ext uri="{FF2B5EF4-FFF2-40B4-BE49-F238E27FC236}">
                <a16:creationId xmlns:a16="http://schemas.microsoft.com/office/drawing/2014/main" id="{303C3936-E508-4F90-A6FB-A078C766EA6E}"/>
              </a:ext>
            </a:extLst>
          </p:cNvPr>
          <p:cNvGraphicFramePr>
            <a:graphicFrameLocks/>
          </p:cNvGraphicFramePr>
          <p:nvPr>
            <p:extLst>
              <p:ext uri="{D42A27DB-BD31-4B8C-83A1-F6EECF244321}">
                <p14:modId xmlns:p14="http://schemas.microsoft.com/office/powerpoint/2010/main" val="3646949374"/>
              </p:ext>
            </p:extLst>
          </p:nvPr>
        </p:nvGraphicFramePr>
        <p:xfrm>
          <a:off x="6028977" y="5004929"/>
          <a:ext cx="5896467" cy="4542696"/>
        </p:xfrm>
        <a:graphic>
          <a:graphicData uri="http://schemas.openxmlformats.org/drawingml/2006/table">
            <a:tbl>
              <a:tblPr>
                <a:tableStyleId>{5C22544A-7EE6-4342-B048-85BDC9FD1C3A}</a:tableStyleId>
              </a:tblPr>
              <a:tblGrid>
                <a:gridCol w="1965489">
                  <a:extLst>
                    <a:ext uri="{9D8B030D-6E8A-4147-A177-3AD203B41FA5}">
                      <a16:colId xmlns:a16="http://schemas.microsoft.com/office/drawing/2014/main" val="3708372378"/>
                    </a:ext>
                  </a:extLst>
                </a:gridCol>
                <a:gridCol w="1965489">
                  <a:extLst>
                    <a:ext uri="{9D8B030D-6E8A-4147-A177-3AD203B41FA5}">
                      <a16:colId xmlns:a16="http://schemas.microsoft.com/office/drawing/2014/main" val="1338574618"/>
                    </a:ext>
                  </a:extLst>
                </a:gridCol>
                <a:gridCol w="1965489">
                  <a:extLst>
                    <a:ext uri="{9D8B030D-6E8A-4147-A177-3AD203B41FA5}">
                      <a16:colId xmlns:a16="http://schemas.microsoft.com/office/drawing/2014/main" val="1694738692"/>
                    </a:ext>
                  </a:extLst>
                </a:gridCol>
              </a:tblGrid>
              <a:tr h="378558">
                <a:tc gridSpan="3">
                  <a:txBody>
                    <a:bodyPr/>
                    <a:lstStyle/>
                    <a:p>
                      <a:pPr algn="ctr" fontAlgn="ctr"/>
                      <a:r>
                        <a:rPr lang="zh-CN" altLang="en-US" sz="2000" b="1" u="sng" strike="noStrike" dirty="0">
                          <a:effectLst/>
                          <a:latin typeface="Times New Roman" panose="02020603050405020304" pitchFamily="18" charset="0"/>
                          <a:ea typeface="仿宋" panose="02010609060101010101" pitchFamily="49" charset="-122"/>
                          <a:cs typeface="Times New Roman" panose="02020603050405020304" pitchFamily="18" charset="0"/>
                        </a:rPr>
                        <a:t>实验室污染来源及控制措施简介</a:t>
                      </a:r>
                      <a:endParaRPr lang="zh-CN" altLang="en-US" sz="2000" b="1" i="0" u="sng"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T w="38100" cap="flat" cmpd="sng" algn="ctr">
                      <a:solidFill>
                        <a:schemeClr val="tx1"/>
                      </a:solidFill>
                      <a:prstDash val="solid"/>
                      <a:round/>
                      <a:headEnd type="none" w="med" len="med"/>
                      <a:tailEnd type="none" w="med" len="med"/>
                    </a:lnT>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68994703"/>
                  </a:ext>
                </a:extLst>
              </a:tr>
              <a:tr h="378558">
                <a:tc>
                  <a:txBody>
                    <a:bodyPr/>
                    <a:lstStyle/>
                    <a:p>
                      <a:pPr algn="ctr" fontAlgn="ctr"/>
                      <a:r>
                        <a:rPr lang="zh-CN" altLang="en-US" sz="1400" b="1" u="none" strike="noStrike" dirty="0">
                          <a:effectLst/>
                          <a:latin typeface="Times New Roman" panose="02020603050405020304" pitchFamily="18" charset="0"/>
                          <a:ea typeface="仿宋" panose="02010609060101010101" pitchFamily="49" charset="-122"/>
                          <a:cs typeface="Times New Roman" panose="02020603050405020304" pitchFamily="18" charset="0"/>
                        </a:rPr>
                        <a:t>污染源</a:t>
                      </a:r>
                      <a:endParaRPr lang="zh-CN" altLang="en-US" sz="1400" b="1"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B w="38100" cap="flat" cmpd="sng" algn="ctr">
                      <a:solidFill>
                        <a:schemeClr val="tx1"/>
                      </a:solidFill>
                      <a:prstDash val="solid"/>
                      <a:round/>
                      <a:headEnd type="none" w="med" len="med"/>
                      <a:tailEnd type="none" w="med" len="med"/>
                    </a:lnB>
                    <a:noFill/>
                  </a:tcPr>
                </a:tc>
                <a:tc>
                  <a:txBody>
                    <a:bodyPr/>
                    <a:lstStyle/>
                    <a:p>
                      <a:pPr algn="ctr" fontAlgn="ctr"/>
                      <a:r>
                        <a:rPr lang="zh-CN" altLang="en-US" sz="1400" b="1" u="none" strike="noStrike" dirty="0">
                          <a:effectLst/>
                          <a:latin typeface="Times New Roman" panose="02020603050405020304" pitchFamily="18" charset="0"/>
                          <a:ea typeface="仿宋" panose="02010609060101010101" pitchFamily="49" charset="-122"/>
                          <a:cs typeface="Times New Roman" panose="02020603050405020304" pitchFamily="18" charset="0"/>
                        </a:rPr>
                        <a:t>传播途径</a:t>
                      </a:r>
                      <a:endParaRPr lang="zh-CN" altLang="en-US" sz="1400" b="1"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B w="38100" cap="flat" cmpd="sng" algn="ctr">
                      <a:solidFill>
                        <a:schemeClr val="tx1"/>
                      </a:solidFill>
                      <a:prstDash val="solid"/>
                      <a:round/>
                      <a:headEnd type="none" w="med" len="med"/>
                      <a:tailEnd type="none" w="med" len="med"/>
                    </a:lnB>
                    <a:noFill/>
                  </a:tcPr>
                </a:tc>
                <a:tc>
                  <a:txBody>
                    <a:bodyPr/>
                    <a:lstStyle/>
                    <a:p>
                      <a:pPr algn="ctr" fontAlgn="ctr"/>
                      <a:r>
                        <a:rPr lang="zh-CN" altLang="en-US" sz="1400" b="1" u="none" strike="noStrike" dirty="0">
                          <a:effectLst/>
                          <a:latin typeface="Times New Roman" panose="02020603050405020304" pitchFamily="18" charset="0"/>
                          <a:ea typeface="仿宋" panose="02010609060101010101" pitchFamily="49" charset="-122"/>
                          <a:cs typeface="Times New Roman" panose="02020603050405020304" pitchFamily="18" charset="0"/>
                        </a:rPr>
                        <a:t>控制措施</a:t>
                      </a:r>
                      <a:endParaRPr lang="zh-CN" altLang="en-US" sz="1400" b="1"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626519"/>
                  </a:ext>
                </a:extLst>
              </a:tr>
              <a:tr h="378558">
                <a:tc>
                  <a:txBody>
                    <a:bodyPr/>
                    <a:lstStyle/>
                    <a:p>
                      <a:pPr algn="ctr" fontAlgn="ctr"/>
                      <a:r>
                        <a:rPr lang="zh-CN" altLang="en-US" sz="1400" b="0" i="0" u="none" strike="noStrike"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空气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空气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空气过滤器</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799676"/>
                  </a:ext>
                </a:extLst>
              </a:tr>
              <a:tr h="378558">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临近超净间的灰区</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空气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正压，气流方向控制</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809263"/>
                  </a:ext>
                </a:extLst>
              </a:tr>
              <a:tr h="378558">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地面、墙面</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接触</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清洁、</a:t>
                      </a:r>
                      <a:r>
                        <a:rPr lang="zh-CN" altLang="en-US" sz="1400" u="none" strike="noStrike" dirty="0">
                          <a:solidFill>
                            <a:srgbClr val="FF0000"/>
                          </a:solidFill>
                          <a:effectLst/>
                          <a:latin typeface="Times New Roman" panose="02020603050405020304" pitchFamily="18" charset="0"/>
                          <a:ea typeface="仿宋" panose="02010609060101010101" pitchFamily="49" charset="-122"/>
                          <a:cs typeface="Times New Roman" panose="02020603050405020304" pitchFamily="18" charset="0"/>
                        </a:rPr>
                        <a:t>地板镂空</a:t>
                      </a:r>
                      <a:endParaRPr lang="zh-CN" altLang="en-US" sz="1400" b="0" i="0" u="none" strike="noStrike" dirty="0">
                        <a:solidFill>
                          <a:srgbClr val="FF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9571068"/>
                  </a:ext>
                </a:extLst>
              </a:tr>
              <a:tr h="378558">
                <a:tc rowSpan="2">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人</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空气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洁净服、口罩、</a:t>
                      </a:r>
                      <a:r>
                        <a:rPr lang="zh-CN" altLang="en-US" sz="1400" u="none" strike="noStrike" dirty="0">
                          <a:solidFill>
                            <a:srgbClr val="FF0000"/>
                          </a:solidFill>
                          <a:effectLst/>
                          <a:latin typeface="Times New Roman" panose="02020603050405020304" pitchFamily="18" charset="0"/>
                          <a:ea typeface="仿宋" panose="02010609060101010101" pitchFamily="49" charset="-122"/>
                          <a:cs typeface="Times New Roman" panose="02020603050405020304" pitchFamily="18" charset="0"/>
                        </a:rPr>
                        <a:t>网帽</a:t>
                      </a:r>
                      <a:endParaRPr lang="zh-CN" altLang="en-US" sz="1400" b="0" i="0" u="none" strike="noStrike" dirty="0">
                        <a:solidFill>
                          <a:srgbClr val="FF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2297773"/>
                  </a:ext>
                </a:extLst>
              </a:tr>
              <a:tr h="378558">
                <a:tc vMerge="1">
                  <a:txBody>
                    <a:bodyPr/>
                    <a:lstStyle/>
                    <a:p>
                      <a:endParaRPr lang="zh-CN" altLang="en-US"/>
                    </a:p>
                  </a:txBody>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接触</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手套</a:t>
                      </a:r>
                      <a:endParaRPr lang="zh-CN" altLang="en-US" sz="1400" b="0" i="0" u="none" strike="noStrike"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947933"/>
                  </a:ext>
                </a:extLst>
              </a:tr>
              <a:tr h="378558">
                <a:tc rowSpan="2">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设备</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空气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换气</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4367726"/>
                  </a:ext>
                </a:extLst>
              </a:tr>
              <a:tr h="378558">
                <a:tc vMerge="1">
                  <a:txBody>
                    <a:bodyPr/>
                    <a:lstStyle/>
                    <a:p>
                      <a:endParaRPr lang="zh-CN" altLang="en-US"/>
                    </a:p>
                  </a:txBody>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接触</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清洁</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919798"/>
                  </a:ext>
                </a:extLst>
              </a:tr>
              <a:tr h="378558">
                <a:tc rowSpan="2">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原材料</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rowSpan="2">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接触</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固体</a:t>
                      </a:r>
                      <a:r>
                        <a:rPr lang="en-US" altLang="zh-CN"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清洁</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0181140"/>
                  </a:ext>
                </a:extLst>
              </a:tr>
              <a:tr h="378558">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液体</a:t>
                      </a:r>
                      <a:r>
                        <a:rPr lang="en-US" altLang="zh-CN"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过滤</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189569"/>
                  </a:ext>
                </a:extLst>
              </a:tr>
              <a:tr h="378558">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容器与包装</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接触</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ctr"/>
                      <a:r>
                        <a:rPr lang="zh-CN" altLang="en-US" sz="1400" u="none" strike="noStrike" dirty="0">
                          <a:effectLst/>
                          <a:latin typeface="Times New Roman" panose="02020603050405020304" pitchFamily="18" charset="0"/>
                          <a:ea typeface="仿宋" panose="02010609060101010101" pitchFamily="49" charset="-122"/>
                          <a:cs typeface="Times New Roman" panose="02020603050405020304" pitchFamily="18" charset="0"/>
                        </a:rPr>
                        <a:t>清洁，材料选择</a:t>
                      </a:r>
                      <a:endParaRPr lang="zh-CN" altLang="en-US" sz="1400" b="0" i="0" u="none" strike="noStrike"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0" marR="0" marT="0" marB="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9325117"/>
                  </a:ext>
                </a:extLst>
              </a:tr>
            </a:tbl>
          </a:graphicData>
        </a:graphic>
      </p:graphicFrame>
      <p:sp>
        <p:nvSpPr>
          <p:cNvPr id="11" name="文本框 10"/>
          <p:cNvSpPr txBox="1"/>
          <p:nvPr/>
        </p:nvSpPr>
        <p:spPr>
          <a:xfrm>
            <a:off x="2140096" y="7941068"/>
            <a:ext cx="2698175" cy="1384995"/>
          </a:xfrm>
          <a:prstGeom prst="rect">
            <a:avLst/>
          </a:prstGeom>
          <a:noFill/>
          <a:ln w="9525">
            <a:solidFill>
              <a:srgbClr val="0000FF"/>
            </a:solidFill>
          </a:ln>
        </p:spPr>
        <p:txBody>
          <a:bodyPr wrap="none" rtlCol="0">
            <a:spAutoFit/>
          </a:bodyPr>
          <a:lstStyle/>
          <a:p>
            <a:r>
              <a:rPr lang="zh-CN" altLang="en-US" sz="2800" dirty="0">
                <a:solidFill>
                  <a:schemeClr val="tx1"/>
                </a:solidFill>
                <a:latin typeface="仿宋" panose="02010609060101010101" pitchFamily="49" charset="-122"/>
                <a:ea typeface="仿宋" panose="02010609060101010101" pitchFamily="49" charset="-122"/>
              </a:rPr>
              <a:t>影响工艺良品率</a:t>
            </a:r>
            <a:endParaRPr lang="en-US" altLang="zh-CN" sz="2800" dirty="0">
              <a:solidFill>
                <a:schemeClr val="tx1"/>
              </a:solidFill>
              <a:latin typeface="仿宋" panose="02010609060101010101" pitchFamily="49" charset="-122"/>
              <a:ea typeface="仿宋" panose="02010609060101010101" pitchFamily="49" charset="-122"/>
            </a:endParaRPr>
          </a:p>
          <a:p>
            <a:pPr algn="l"/>
            <a:r>
              <a:rPr lang="zh-CN" altLang="en-US" sz="2800" dirty="0">
                <a:solidFill>
                  <a:schemeClr val="tx1"/>
                </a:solidFill>
                <a:latin typeface="仿宋" panose="02010609060101010101" pitchFamily="49" charset="-122"/>
                <a:ea typeface="仿宋" panose="02010609060101010101" pitchFamily="49" charset="-122"/>
              </a:rPr>
              <a:t>影响器件性能</a:t>
            </a:r>
            <a:endParaRPr lang="en-US" altLang="zh-CN" sz="2800" dirty="0">
              <a:solidFill>
                <a:schemeClr val="tx1"/>
              </a:solidFill>
              <a:latin typeface="仿宋" panose="02010609060101010101" pitchFamily="49" charset="-122"/>
              <a:ea typeface="仿宋" panose="02010609060101010101" pitchFamily="49" charset="-122"/>
            </a:endParaRPr>
          </a:p>
          <a:p>
            <a:r>
              <a:rPr lang="zh-CN" altLang="en-US" sz="2800" dirty="0">
                <a:solidFill>
                  <a:schemeClr val="tx1"/>
                </a:solidFill>
                <a:latin typeface="仿宋" panose="02010609060101010101" pitchFamily="49" charset="-122"/>
                <a:ea typeface="仿宋" panose="02010609060101010101" pitchFamily="49" charset="-122"/>
              </a:rPr>
              <a:t>影响器件可靠性</a:t>
            </a:r>
          </a:p>
        </p:txBody>
      </p:sp>
      <p:sp>
        <p:nvSpPr>
          <p:cNvPr id="25" name="文本框 24"/>
          <p:cNvSpPr txBox="1"/>
          <p:nvPr/>
        </p:nvSpPr>
        <p:spPr>
          <a:xfrm>
            <a:off x="489732" y="2303821"/>
            <a:ext cx="12025336" cy="954107"/>
          </a:xfrm>
          <a:prstGeom prst="rect">
            <a:avLst/>
          </a:prstGeom>
          <a:noFill/>
          <a:ln w="38100">
            <a:noFill/>
          </a:ln>
        </p:spPr>
        <p:txBody>
          <a:bodyPr wrap="square" rtlCol="0">
            <a:spAutoFit/>
          </a:bodyPr>
          <a:lstStyle/>
          <a:p>
            <a:pPr algn="just"/>
            <a:r>
              <a:rPr lang="zh-CN" altLang="en-US" sz="2800" dirty="0">
                <a:solidFill>
                  <a:schemeClr val="tx1"/>
                </a:solidFill>
                <a:latin typeface="仿宋" panose="02010609060101010101" pitchFamily="49" charset="-122"/>
                <a:ea typeface="仿宋" panose="02010609060101010101" pitchFamily="49" charset="-122"/>
              </a:rPr>
              <a:t>    半导体器件易受到各种污染损坏，据估计</a:t>
            </a:r>
            <a:r>
              <a:rPr lang="en-US" altLang="zh-CN" sz="2800" dirty="0">
                <a:solidFill>
                  <a:srgbClr val="FF0000"/>
                </a:solidFill>
                <a:latin typeface="仿宋" panose="02010609060101010101" pitchFamily="49" charset="-122"/>
                <a:ea typeface="仿宋" panose="02010609060101010101" pitchFamily="49" charset="-122"/>
              </a:rPr>
              <a:t>80%</a:t>
            </a:r>
            <a:r>
              <a:rPr lang="zh-CN" altLang="en-US" sz="2800" dirty="0">
                <a:solidFill>
                  <a:schemeClr val="tx1"/>
                </a:solidFill>
                <a:latin typeface="仿宋" panose="02010609060101010101" pitchFamily="49" charset="-122"/>
                <a:ea typeface="仿宋" panose="02010609060101010101" pitchFamily="49" charset="-122"/>
              </a:rPr>
              <a:t>的芯片电学失效是由于沾污带来的缺陷引起的。</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（美）夸克，（美）瑟达</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半导体制造技术</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北京：电子工业出版社</a:t>
            </a:r>
            <a:r>
              <a:rPr lang="en-US" altLang="zh-CN" sz="1800" dirty="0">
                <a:latin typeface="仿宋" panose="02010609060101010101" pitchFamily="49" charset="-122"/>
                <a:ea typeface="仿宋" panose="02010609060101010101" pitchFamily="49" charset="-122"/>
              </a:rPr>
              <a:t>,2009</a:t>
            </a:r>
            <a:r>
              <a:rPr lang="zh-CN" altLang="en-US" sz="1800" dirty="0">
                <a:latin typeface="仿宋" panose="02010609060101010101" pitchFamily="49" charset="-122"/>
                <a:ea typeface="仿宋" panose="02010609060101010101" pitchFamily="49" charset="-122"/>
              </a:rPr>
              <a:t>，</a:t>
            </a:r>
            <a:r>
              <a:rPr lang="en-US" altLang="zh-CN" sz="1800" dirty="0">
                <a:latin typeface="仿宋" panose="02010609060101010101" pitchFamily="49" charset="-122"/>
                <a:ea typeface="仿宋" panose="02010609060101010101" pitchFamily="49" charset="-122"/>
              </a:rPr>
              <a:t>P107</a:t>
            </a:r>
          </a:p>
        </p:txBody>
      </p:sp>
      <p:sp>
        <p:nvSpPr>
          <p:cNvPr id="29" name="矩形 28"/>
          <p:cNvSpPr/>
          <p:nvPr/>
        </p:nvSpPr>
        <p:spPr>
          <a:xfrm>
            <a:off x="17397" y="1708448"/>
            <a:ext cx="5116852"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二</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超净间中污染源及控制</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矩形 8"/>
          <p:cNvSpPr/>
          <p:nvPr/>
        </p:nvSpPr>
        <p:spPr>
          <a:xfrm>
            <a:off x="5854328" y="4556148"/>
            <a:ext cx="6502400" cy="707886"/>
          </a:xfrm>
          <a:prstGeom prst="rect">
            <a:avLst/>
          </a:prstGeom>
        </p:spPr>
        <p:txBody>
          <a:bodyPr>
            <a:spAutoFit/>
          </a:bodyPr>
          <a:lstStyle/>
          <a:p>
            <a:r>
              <a:rPr lang="zh-CN" altLang="en-US" sz="20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表</a:t>
            </a:r>
            <a:r>
              <a:rPr lang="en-US" altLang="zh-CN" sz="20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实验室污染来源及控制措施简介</a:t>
            </a:r>
          </a:p>
          <a:p>
            <a:endParaRPr lang="zh-CN" altLang="en-US" sz="2000"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p:txBody>
      </p:sp>
      <p:grpSp>
        <p:nvGrpSpPr>
          <p:cNvPr id="38" name="组合 37"/>
          <p:cNvGrpSpPr/>
          <p:nvPr/>
        </p:nvGrpSpPr>
        <p:grpSpPr>
          <a:xfrm>
            <a:off x="823906" y="3632650"/>
            <a:ext cx="4014365" cy="2253610"/>
            <a:chOff x="1017859" y="3703736"/>
            <a:chExt cx="3968450" cy="2253610"/>
          </a:xfrm>
        </p:grpSpPr>
        <p:grpSp>
          <p:nvGrpSpPr>
            <p:cNvPr id="21" name="组合 20"/>
            <p:cNvGrpSpPr/>
            <p:nvPr/>
          </p:nvGrpSpPr>
          <p:grpSpPr>
            <a:xfrm>
              <a:off x="2784341" y="3703736"/>
              <a:ext cx="2201968" cy="2253610"/>
              <a:chOff x="1489909" y="3881265"/>
              <a:chExt cx="2201968" cy="2253610"/>
            </a:xfrm>
          </p:grpSpPr>
          <p:sp>
            <p:nvSpPr>
              <p:cNvPr id="31" name="文本框 30"/>
              <p:cNvSpPr txBox="1"/>
              <p:nvPr/>
            </p:nvSpPr>
            <p:spPr>
              <a:xfrm>
                <a:off x="1968328" y="3881265"/>
                <a:ext cx="800219" cy="461665"/>
              </a:xfrm>
              <a:prstGeom prst="rect">
                <a:avLst/>
              </a:prstGeom>
              <a:noFill/>
              <a:ln w="38100">
                <a:noFill/>
              </a:ln>
            </p:spPr>
            <p:txBody>
              <a:bodyPr wrap="none" rtlCol="0">
                <a:spAutoFit/>
              </a:bodyPr>
              <a:lstStyle/>
              <a:p>
                <a:r>
                  <a:rPr lang="zh-CN" altLang="en-US" sz="2400" dirty="0">
                    <a:solidFill>
                      <a:schemeClr val="tx1"/>
                    </a:solidFill>
                    <a:latin typeface="仿宋" panose="02010609060101010101" pitchFamily="49" charset="-122"/>
                    <a:ea typeface="仿宋" panose="02010609060101010101" pitchFamily="49" charset="-122"/>
                  </a:rPr>
                  <a:t>颗粒</a:t>
                </a:r>
              </a:p>
            </p:txBody>
          </p:sp>
          <p:grpSp>
            <p:nvGrpSpPr>
              <p:cNvPr id="16" name="组合 15"/>
              <p:cNvGrpSpPr/>
              <p:nvPr/>
            </p:nvGrpSpPr>
            <p:grpSpPr>
              <a:xfrm>
                <a:off x="1489909" y="4106129"/>
                <a:ext cx="2201968" cy="2028746"/>
                <a:chOff x="1489909" y="4106129"/>
                <a:chExt cx="2201968" cy="2028746"/>
              </a:xfrm>
            </p:grpSpPr>
            <p:sp>
              <p:nvSpPr>
                <p:cNvPr id="32" name="文本框 31"/>
                <p:cNvSpPr txBox="1"/>
                <p:nvPr/>
              </p:nvSpPr>
              <p:spPr>
                <a:xfrm>
                  <a:off x="1968328" y="4305058"/>
                  <a:ext cx="1415772" cy="461665"/>
                </a:xfrm>
                <a:prstGeom prst="rect">
                  <a:avLst/>
                </a:prstGeom>
                <a:noFill/>
                <a:ln w="38100">
                  <a:noFill/>
                </a:ln>
              </p:spPr>
              <p:txBody>
                <a:bodyPr wrap="none" rtlCol="0">
                  <a:spAutoFit/>
                </a:bodyPr>
                <a:lstStyle/>
                <a:p>
                  <a:r>
                    <a:rPr lang="zh-CN" altLang="en-US" sz="2400" dirty="0">
                      <a:solidFill>
                        <a:schemeClr val="tx1"/>
                      </a:solidFill>
                      <a:latin typeface="仿宋" panose="02010609060101010101" pitchFamily="49" charset="-122"/>
                      <a:ea typeface="仿宋" panose="02010609060101010101" pitchFamily="49" charset="-122"/>
                    </a:rPr>
                    <a:t>金属杂质</a:t>
                  </a:r>
                </a:p>
              </p:txBody>
            </p:sp>
            <p:sp>
              <p:nvSpPr>
                <p:cNvPr id="33" name="文本框 32"/>
                <p:cNvSpPr txBox="1"/>
                <p:nvPr/>
              </p:nvSpPr>
              <p:spPr>
                <a:xfrm>
                  <a:off x="1968328" y="4809114"/>
                  <a:ext cx="1723549" cy="461665"/>
                </a:xfrm>
                <a:prstGeom prst="rect">
                  <a:avLst/>
                </a:prstGeom>
                <a:noFill/>
                <a:ln w="38100">
                  <a:noFill/>
                </a:ln>
              </p:spPr>
              <p:txBody>
                <a:bodyPr wrap="none" rtlCol="0">
                  <a:spAutoFit/>
                </a:bodyPr>
                <a:lstStyle/>
                <a:p>
                  <a:r>
                    <a:rPr lang="zh-CN" altLang="en-US" sz="2400" dirty="0">
                      <a:solidFill>
                        <a:schemeClr val="tx1"/>
                      </a:solidFill>
                      <a:latin typeface="仿宋" panose="02010609060101010101" pitchFamily="49" charset="-122"/>
                      <a:ea typeface="仿宋" panose="02010609060101010101" pitchFamily="49" charset="-122"/>
                    </a:rPr>
                    <a:t>有机物沾污</a:t>
                  </a:r>
                </a:p>
              </p:txBody>
            </p:sp>
            <p:sp>
              <p:nvSpPr>
                <p:cNvPr id="35" name="文本框 34"/>
                <p:cNvSpPr txBox="1"/>
                <p:nvPr/>
              </p:nvSpPr>
              <p:spPr>
                <a:xfrm>
                  <a:off x="1968328" y="5241162"/>
                  <a:ext cx="1723549" cy="461665"/>
                </a:xfrm>
                <a:prstGeom prst="rect">
                  <a:avLst/>
                </a:prstGeom>
                <a:noFill/>
                <a:ln w="38100">
                  <a:noFill/>
                </a:ln>
              </p:spPr>
              <p:txBody>
                <a:bodyPr wrap="none" rtlCol="0">
                  <a:spAutoFit/>
                </a:bodyPr>
                <a:lstStyle/>
                <a:p>
                  <a:r>
                    <a:rPr lang="zh-CN" altLang="en-US" sz="2400" dirty="0">
                      <a:solidFill>
                        <a:schemeClr val="tx1"/>
                      </a:solidFill>
                      <a:latin typeface="仿宋" panose="02010609060101010101" pitchFamily="49" charset="-122"/>
                      <a:ea typeface="仿宋" panose="02010609060101010101" pitchFamily="49" charset="-122"/>
                    </a:rPr>
                    <a:t>自然氧化层</a:t>
                  </a:r>
                </a:p>
              </p:txBody>
            </p:sp>
            <p:sp>
              <p:nvSpPr>
                <p:cNvPr id="36" name="文本框 35"/>
                <p:cNvSpPr txBox="1"/>
                <p:nvPr/>
              </p:nvSpPr>
              <p:spPr>
                <a:xfrm>
                  <a:off x="1968328" y="5673210"/>
                  <a:ext cx="1415772" cy="461665"/>
                </a:xfrm>
                <a:prstGeom prst="rect">
                  <a:avLst/>
                </a:prstGeom>
                <a:noFill/>
                <a:ln w="38100">
                  <a:noFill/>
                </a:ln>
              </p:spPr>
              <p:txBody>
                <a:bodyPr wrap="none" rtlCol="0">
                  <a:spAutoFit/>
                </a:bodyPr>
                <a:lstStyle/>
                <a:p>
                  <a:r>
                    <a:rPr lang="zh-CN" altLang="en-US" sz="2400" dirty="0">
                      <a:solidFill>
                        <a:schemeClr val="tx1"/>
                      </a:solidFill>
                      <a:latin typeface="仿宋" panose="02010609060101010101" pitchFamily="49" charset="-122"/>
                      <a:ea typeface="仿宋" panose="02010609060101010101" pitchFamily="49" charset="-122"/>
                    </a:rPr>
                    <a:t>静电释放</a:t>
                  </a:r>
                </a:p>
              </p:txBody>
            </p:sp>
            <p:sp>
              <p:nvSpPr>
                <p:cNvPr id="15" name="左大括号 14"/>
                <p:cNvSpPr/>
                <p:nvPr/>
              </p:nvSpPr>
              <p:spPr>
                <a:xfrm>
                  <a:off x="1489909" y="4106129"/>
                  <a:ext cx="273948" cy="1791945"/>
                </a:xfrm>
                <a:prstGeom prst="leftBrace">
                  <a:avLst/>
                </a:prstGeom>
                <a:ln>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latin typeface="仿宋" panose="02010609060101010101" pitchFamily="49" charset="-122"/>
                    <a:ea typeface="仿宋" panose="02010609060101010101" pitchFamily="49" charset="-122"/>
                  </a:endParaRPr>
                </a:p>
              </p:txBody>
            </p:sp>
          </p:grpSp>
        </p:grpSp>
        <p:sp>
          <p:nvSpPr>
            <p:cNvPr id="23" name="文本框 22"/>
            <p:cNvSpPr txBox="1"/>
            <p:nvPr/>
          </p:nvSpPr>
          <p:spPr>
            <a:xfrm>
              <a:off x="1017859" y="4385472"/>
              <a:ext cx="1937843" cy="954107"/>
            </a:xfrm>
            <a:prstGeom prst="rect">
              <a:avLst/>
            </a:prstGeom>
            <a:noFill/>
          </p:spPr>
          <p:txBody>
            <a:bodyPr wrap="square" rtlCol="0">
              <a:spAutoFit/>
            </a:bodyPr>
            <a:lstStyle/>
            <a:p>
              <a:r>
                <a:rPr lang="zh-CN" altLang="en-US" sz="2800" dirty="0">
                  <a:solidFill>
                    <a:schemeClr val="tx1"/>
                  </a:solidFill>
                  <a:latin typeface="仿宋" panose="02010609060101010101" pitchFamily="49" charset="-122"/>
                  <a:ea typeface="仿宋" panose="02010609060101010101" pitchFamily="49" charset="-122"/>
                </a:rPr>
                <a:t>净化间的沾污分类</a:t>
              </a:r>
            </a:p>
          </p:txBody>
        </p:sp>
      </p:grpSp>
      <p:sp>
        <p:nvSpPr>
          <p:cNvPr id="37" name="矩形 36"/>
          <p:cNvSpPr/>
          <p:nvPr/>
        </p:nvSpPr>
        <p:spPr>
          <a:xfrm>
            <a:off x="6045188" y="3579389"/>
            <a:ext cx="6120680" cy="954107"/>
          </a:xfrm>
          <a:prstGeom prst="rect">
            <a:avLst/>
          </a:prstGeom>
          <a:noFill/>
          <a:ln>
            <a:solidFill>
              <a:srgbClr val="0000FF"/>
            </a:solidFill>
          </a:ln>
        </p:spPr>
        <p:txBody>
          <a:bodyPr wrap="square">
            <a:spAutoFit/>
          </a:bodyPr>
          <a:lstStyle/>
          <a:p>
            <a:pPr algn="l"/>
            <a:r>
              <a:rPr lang="zh-CN" altLang="en-US" sz="2800" dirty="0">
                <a:solidFill>
                  <a:schemeClr val="tx1"/>
                </a:solidFill>
                <a:latin typeface="仿宋" panose="02010609060101010101" pitchFamily="49" charset="-122"/>
                <a:ea typeface="仿宋" panose="02010609060101010101" pitchFamily="49" charset="-122"/>
              </a:rPr>
              <a:t>    超净间内的</a:t>
            </a:r>
            <a:r>
              <a:rPr lang="zh-CN" altLang="en-US" sz="2800" b="1" dirty="0">
                <a:solidFill>
                  <a:srgbClr val="FF0000"/>
                </a:solidFill>
                <a:latin typeface="仿宋" panose="02010609060101010101" pitchFamily="49" charset="-122"/>
                <a:ea typeface="仿宋" panose="02010609060101010101" pitchFamily="49" charset="-122"/>
              </a:rPr>
              <a:t>污染源</a:t>
            </a:r>
            <a:r>
              <a:rPr lang="zh-CN" altLang="en-US" sz="2800" dirty="0">
                <a:solidFill>
                  <a:schemeClr val="tx1"/>
                </a:solidFill>
                <a:latin typeface="仿宋" panose="02010609060101010101" pitchFamily="49" charset="-122"/>
                <a:ea typeface="仿宋" panose="02010609060101010101" pitchFamily="49" charset="-122"/>
              </a:rPr>
              <a:t>是指任何影响产品生产和产品功能的一切事物。</a:t>
            </a:r>
            <a:endParaRPr lang="zh-CN" altLang="en-US" sz="2800" dirty="0"/>
          </a:p>
        </p:txBody>
      </p:sp>
      <p:sp>
        <p:nvSpPr>
          <p:cNvPr id="6" name="下箭头 5"/>
          <p:cNvSpPr/>
          <p:nvPr/>
        </p:nvSpPr>
        <p:spPr>
          <a:xfrm>
            <a:off x="3094780" y="5967017"/>
            <a:ext cx="819531" cy="1778804"/>
          </a:xfrm>
          <a:prstGeom prst="downArrow">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标题 3"/>
          <p:cNvSpPr>
            <a:spLocks noGrp="1"/>
          </p:cNvSpPr>
          <p:nvPr>
            <p:ph type="title"/>
          </p:nvPr>
        </p:nvSpPr>
        <p:spPr/>
        <p:txBody>
          <a:bodyPr/>
          <a:lstStyle/>
          <a:p>
            <a:r>
              <a:rPr lang="zh-CN" altLang="en-US" dirty="0"/>
              <a:t>超净间中的一些概念</a:t>
            </a:r>
          </a:p>
        </p:txBody>
      </p:sp>
    </p:spTree>
    <p:extLst>
      <p:ext uri="{BB962C8B-B14F-4D97-AF65-F5344CB8AC3E}">
        <p14:creationId xmlns:p14="http://schemas.microsoft.com/office/powerpoint/2010/main" val="2227744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8</a:t>
            </a:fld>
            <a:endParaRPr lang="zh-CN" altLang="en-US" dirty="0"/>
          </a:p>
        </p:txBody>
      </p:sp>
      <p:sp>
        <p:nvSpPr>
          <p:cNvPr id="29" name="矩形 28"/>
          <p:cNvSpPr/>
          <p:nvPr/>
        </p:nvSpPr>
        <p:spPr>
          <a:xfrm>
            <a:off x="17397" y="1708448"/>
            <a:ext cx="5116852"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二</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超净间中污染源及控制</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文本框 26"/>
          <p:cNvSpPr txBox="1"/>
          <p:nvPr/>
        </p:nvSpPr>
        <p:spPr>
          <a:xfrm>
            <a:off x="752374" y="2123993"/>
            <a:ext cx="11953328" cy="573042"/>
          </a:xfrm>
          <a:prstGeom prst="rect">
            <a:avLst/>
          </a:prstGeom>
          <a:noFill/>
        </p:spPr>
        <p:txBody>
          <a:bodyPr wrap="square" rtlCol="0">
            <a:spAutoFit/>
          </a:bodyPr>
          <a:lstStyle/>
          <a:p>
            <a:pPr algn="just">
              <a:lnSpc>
                <a:spcPct val="130000"/>
              </a:lnSpc>
            </a:pPr>
            <a:r>
              <a:rPr lang="zh-CN" altLang="en-US" sz="2800" dirty="0">
                <a:solidFill>
                  <a:schemeClr val="tx1"/>
                </a:solidFill>
                <a:latin typeface="仿宋" panose="02010609060101010101" pitchFamily="49" charset="-122"/>
                <a:ea typeface="仿宋" panose="02010609060101010101" pitchFamily="49" charset="-122"/>
                <a:cs typeface="Times New Roman" panose="02020603050405020304" pitchFamily="18" charset="0"/>
              </a:rPr>
              <a:t>对污染的控制需要采用</a:t>
            </a:r>
            <a:r>
              <a:rPr lang="zh-CN" altLang="en-US" sz="2800" b="1" dirty="0">
                <a:solidFill>
                  <a:schemeClr val="tx1"/>
                </a:solidFill>
                <a:latin typeface="仿宋" panose="02010609060101010101" pitchFamily="49" charset="-122"/>
                <a:ea typeface="仿宋" panose="02010609060101010101" pitchFamily="49" charset="-122"/>
                <a:cs typeface="Times New Roman" panose="02020603050405020304" pitchFamily="18" charset="0"/>
              </a:rPr>
              <a:t>系统的方法</a:t>
            </a:r>
            <a:r>
              <a:rPr lang="zh-CN" altLang="en-US" sz="2800" dirty="0">
                <a:solidFill>
                  <a:schemeClr val="tx1"/>
                </a:solidFill>
                <a:latin typeface="仿宋" panose="02010609060101010101" pitchFamily="49" charset="-122"/>
                <a:ea typeface="仿宋" panose="02010609060101010101" pitchFamily="49" charset="-122"/>
                <a:cs typeface="Times New Roman" panose="02020603050405020304" pitchFamily="18" charset="0"/>
              </a:rPr>
              <a:t>来控制净化区域的输入和输出。</a:t>
            </a:r>
            <a:endParaRPr lang="en-US" altLang="zh-CN" sz="2800" dirty="0">
              <a:solidFill>
                <a:schemeClr val="tx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6" name="标题 3"/>
          <p:cNvSpPr>
            <a:spLocks noGrp="1"/>
          </p:cNvSpPr>
          <p:nvPr>
            <p:ph type="title"/>
          </p:nvPr>
        </p:nvSpPr>
        <p:spPr/>
        <p:txBody>
          <a:bodyPr/>
          <a:lstStyle/>
          <a:p>
            <a:r>
              <a:rPr lang="zh-CN" altLang="en-US" dirty="0"/>
              <a:t>超净间中的一些概念</a:t>
            </a:r>
          </a:p>
        </p:txBody>
      </p:sp>
      <p:sp>
        <p:nvSpPr>
          <p:cNvPr id="3" name="矩形 2"/>
          <p:cNvSpPr/>
          <p:nvPr/>
        </p:nvSpPr>
        <p:spPr>
          <a:xfrm>
            <a:off x="10174060" y="4790884"/>
            <a:ext cx="2707703" cy="4401205"/>
          </a:xfrm>
          <a:prstGeom prst="rect">
            <a:avLst/>
          </a:prstGeom>
          <a:ln w="19050">
            <a:solidFill>
              <a:srgbClr val="0000FF"/>
            </a:solidFill>
          </a:ln>
        </p:spPr>
        <p:txBody>
          <a:bodyPr wrap="square">
            <a:spAutoFit/>
          </a:bodyPr>
          <a:lstStyle/>
          <a:p>
            <a:pPr lvl="0" algn="just"/>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静电释放：</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为避免静电积累及控制静电释放，净化间的材料如手推车、设备、操作台等都是</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静电消耗性的，</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同时净化间里的人员和物体都必须</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保持</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持续接地</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4" name="矩形 3"/>
          <p:cNvSpPr/>
          <p:nvPr/>
        </p:nvSpPr>
        <p:spPr>
          <a:xfrm>
            <a:off x="103314" y="4790884"/>
            <a:ext cx="2707703" cy="4401205"/>
          </a:xfrm>
          <a:prstGeom prst="rect">
            <a:avLst/>
          </a:prstGeom>
          <a:ln w="19050">
            <a:solidFill>
              <a:srgbClr val="0000FF"/>
            </a:solidFill>
          </a:ln>
        </p:spPr>
        <p:txBody>
          <a:bodyPr wrap="square">
            <a:spAutoFit/>
          </a:bodyPr>
          <a:lstStyle/>
          <a:p>
            <a:pPr lvl="0" algn="just"/>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气流原理：</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对于</a:t>
            </a:r>
            <a:r>
              <a:rPr lang="en-US" altLang="zh-CN" sz="2800" b="1"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100</a:t>
            </a:r>
            <a:r>
              <a:rPr lang="zh-CN" altLang="en-US" sz="2800" b="1"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级或更高等级</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净化间，</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垂直层流（无湍流）必须的。</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其</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对外界气压有轻微正压，充当屏蔽以减少人员、设备对暴露着的产品的横向沾污。</a:t>
            </a:r>
            <a:endPar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103313" y="2829076"/>
            <a:ext cx="2707703" cy="1815882"/>
          </a:xfrm>
          <a:prstGeom prst="rect">
            <a:avLst/>
          </a:prstGeom>
          <a:ln w="19050">
            <a:solidFill>
              <a:srgbClr val="0000FF"/>
            </a:solidFill>
          </a:ln>
        </p:spPr>
        <p:txBody>
          <a:bodyPr wrap="square">
            <a:spAutoFit/>
          </a:bodyPr>
          <a:lstStyle/>
          <a:p>
            <a:pPr lvl="0" algn="just"/>
            <a:r>
              <a:rPr lang="zh-CN" altLang="en-US" sz="2800" b="1" dirty="0">
                <a:solidFill>
                  <a:prstClr val="black"/>
                </a:solidFill>
                <a:latin typeface="黑体" panose="02010609060101010101" pitchFamily="49" charset="-122"/>
                <a:ea typeface="黑体" panose="02010609060101010101" pitchFamily="49" charset="-122"/>
                <a:cs typeface="Times New Roman" panose="02020603050405020304" pitchFamily="18" charset="0"/>
              </a:rPr>
              <a:t>净化间的设计布局</a:t>
            </a:r>
            <a:r>
              <a:rPr lang="zh-CN" altLang="en-US" sz="2800" b="1"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比如湿法间、划片测试间的隔离。</a:t>
            </a:r>
            <a:endPar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10174061" y="2829076"/>
            <a:ext cx="2707703" cy="1815882"/>
          </a:xfrm>
          <a:prstGeom prst="rect">
            <a:avLst/>
          </a:prstGeom>
          <a:ln w="19050">
            <a:solidFill>
              <a:srgbClr val="0000FF"/>
            </a:solidFill>
          </a:ln>
        </p:spPr>
        <p:txBody>
          <a:bodyPr wrap="square">
            <a:spAutoFit/>
          </a:bodyPr>
          <a:lstStyle/>
          <a:p>
            <a:pPr lvl="0" algn="just"/>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空气过滤：</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空气通过</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高效颗粒空气过滤器</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(HEPA</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）过滤。</a:t>
            </a:r>
            <a:endPar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2870066" y="3252937"/>
            <a:ext cx="7244942" cy="5645961"/>
          </a:xfrm>
          <a:prstGeom prst="rect">
            <a:avLst/>
          </a:prstGeom>
        </p:spPr>
      </p:pic>
      <p:sp>
        <p:nvSpPr>
          <p:cNvPr id="10" name="矩形 9"/>
          <p:cNvSpPr/>
          <p:nvPr/>
        </p:nvSpPr>
        <p:spPr>
          <a:xfrm>
            <a:off x="4451457" y="8898898"/>
            <a:ext cx="3775393" cy="523220"/>
          </a:xfrm>
          <a:prstGeom prst="rect">
            <a:avLst/>
          </a:prstGeom>
          <a:noFill/>
        </p:spPr>
        <p:txBody>
          <a:bodyPr wrap="none" rtlCol="0">
            <a:spAutoFit/>
          </a:bodyPr>
          <a:lstStyle/>
          <a:p>
            <a:r>
              <a:rPr lang="zh-CN" altLang="en-US" sz="2800" dirty="0">
                <a:solidFill>
                  <a:schemeClr val="tx1"/>
                </a:solidFill>
                <a:latin typeface="黑体" panose="02010609060101010101" pitchFamily="49" charset="-122"/>
                <a:ea typeface="黑体" panose="02010609060101010101" pitchFamily="49" charset="-122"/>
              </a:rPr>
              <a:t>图</a:t>
            </a:r>
            <a:r>
              <a:rPr lang="en-US" altLang="zh-CN" sz="2800" dirty="0">
                <a:solidFill>
                  <a:schemeClr val="tx1"/>
                </a:solidFill>
                <a:latin typeface="黑体" panose="02010609060101010101" pitchFamily="49" charset="-122"/>
                <a:ea typeface="黑体" panose="02010609060101010101" pitchFamily="49" charset="-122"/>
              </a:rPr>
              <a:t>2.</a:t>
            </a:r>
            <a:r>
              <a:rPr lang="zh-CN" altLang="en-US" sz="2800" dirty="0">
                <a:solidFill>
                  <a:schemeClr val="tx1"/>
                </a:solidFill>
                <a:latin typeface="黑体" panose="02010609060101010101" pitchFamily="49" charset="-122"/>
                <a:ea typeface="黑体" panose="02010609060101010101" pitchFamily="49" charset="-122"/>
              </a:rPr>
              <a:t>超净间层流示意图</a:t>
            </a:r>
          </a:p>
        </p:txBody>
      </p:sp>
    </p:spTree>
    <p:extLst>
      <p:ext uri="{BB962C8B-B14F-4D97-AF65-F5344CB8AC3E}">
        <p14:creationId xmlns:p14="http://schemas.microsoft.com/office/powerpoint/2010/main" val="1626969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9</a:t>
            </a:fld>
            <a:endParaRPr lang="zh-CN" altLang="en-US" dirty="0"/>
          </a:p>
        </p:txBody>
      </p:sp>
      <p:sp>
        <p:nvSpPr>
          <p:cNvPr id="4" name="标题 3"/>
          <p:cNvSpPr>
            <a:spLocks noGrp="1"/>
          </p:cNvSpPr>
          <p:nvPr>
            <p:ph type="title"/>
          </p:nvPr>
        </p:nvSpPr>
        <p:spPr/>
        <p:txBody>
          <a:bodyPr/>
          <a:lstStyle/>
          <a:p>
            <a:r>
              <a:rPr lang="zh-CN" altLang="en-US" dirty="0"/>
              <a:t>超净间中的一些概念</a:t>
            </a:r>
          </a:p>
        </p:txBody>
      </p:sp>
      <p:sp>
        <p:nvSpPr>
          <p:cNvPr id="29" name="矩形 28"/>
          <p:cNvSpPr/>
          <p:nvPr/>
        </p:nvSpPr>
        <p:spPr>
          <a:xfrm>
            <a:off x="17396" y="1708448"/>
            <a:ext cx="5692915"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三</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人员产生的污染及控制</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文本框 26"/>
          <p:cNvSpPr txBox="1"/>
          <p:nvPr/>
        </p:nvSpPr>
        <p:spPr>
          <a:xfrm>
            <a:off x="597744" y="2343565"/>
            <a:ext cx="11737304" cy="3108543"/>
          </a:xfrm>
          <a:prstGeom prst="rect">
            <a:avLst/>
          </a:prstGeom>
          <a:noFill/>
        </p:spPr>
        <p:txBody>
          <a:bodyPr wrap="square" rtlCol="0">
            <a:spAutoFit/>
          </a:bodyPr>
          <a:lstStyle/>
          <a:p>
            <a:pPr algn="just"/>
            <a:r>
              <a:rPr lang="zh-CN" altLang="en-US" sz="2800" dirty="0">
                <a:solidFill>
                  <a:schemeClr val="tx1"/>
                </a:solidFill>
                <a:latin typeface="仿宋" panose="02010609060101010101" pitchFamily="49" charset="-122"/>
                <a:ea typeface="仿宋" panose="02010609060101010101" pitchFamily="49" charset="-122"/>
              </a:rPr>
              <a:t>    人是颗粒的产生者。</a:t>
            </a:r>
            <a:r>
              <a:rPr lang="zh-CN" altLang="en-US" sz="2800" dirty="0">
                <a:solidFill>
                  <a:srgbClr val="FF0000"/>
                </a:solidFill>
                <a:latin typeface="仿宋" panose="02010609060101010101" pitchFamily="49" charset="-122"/>
                <a:ea typeface="仿宋" panose="02010609060101010101" pitchFamily="49" charset="-122"/>
              </a:rPr>
              <a:t>人员持续不断地进出净化间，是净化间最大的污染源</a:t>
            </a:r>
            <a:r>
              <a:rPr lang="zh-CN" altLang="en-US" sz="2800" dirty="0">
                <a:solidFill>
                  <a:schemeClr val="tx1"/>
                </a:solidFill>
                <a:latin typeface="仿宋" panose="02010609060101010101" pitchFamily="49" charset="-122"/>
                <a:ea typeface="仿宋" panose="02010609060101010101" pitchFamily="49" charset="-122"/>
              </a:rPr>
              <a:t>。即使一个人坐着，每分钟也可是释放</a:t>
            </a:r>
            <a:r>
              <a:rPr lang="en-US" altLang="zh-CN" sz="2800" dirty="0">
                <a:solidFill>
                  <a:schemeClr val="tx1"/>
                </a:solidFill>
                <a:latin typeface="仿宋" panose="02010609060101010101" pitchFamily="49" charset="-122"/>
                <a:ea typeface="仿宋" panose="02010609060101010101" pitchFamily="49" charset="-122"/>
              </a:rPr>
              <a:t>10</a:t>
            </a:r>
            <a:r>
              <a:rPr lang="zh-CN" altLang="en-US" sz="2800" dirty="0">
                <a:solidFill>
                  <a:schemeClr val="tx1"/>
                </a:solidFill>
                <a:latin typeface="仿宋" panose="02010609060101010101" pitchFamily="49" charset="-122"/>
                <a:ea typeface="仿宋" panose="02010609060101010101" pitchFamily="49" charset="-122"/>
              </a:rPr>
              <a:t>万，这些颗粒大都来自于</a:t>
            </a:r>
            <a:r>
              <a:rPr lang="zh-CN" altLang="en-US" sz="2800" dirty="0">
                <a:solidFill>
                  <a:srgbClr val="FF0000"/>
                </a:solidFill>
                <a:latin typeface="仿宋" panose="02010609060101010101" pitchFamily="49" charset="-122"/>
                <a:ea typeface="仿宋" panose="02010609060101010101" pitchFamily="49" charset="-122"/>
              </a:rPr>
              <a:t>脱落的头发、头发用品（喷雾、发胶）、皮屑、化妆品、衣物纤维屑等</a:t>
            </a:r>
            <a:r>
              <a:rPr lang="zh-CN" altLang="en-US" sz="2800" dirty="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pPr algn="just"/>
            <a:r>
              <a:rPr lang="en-US" altLang="zh-CN" sz="2800" dirty="0">
                <a:solidFill>
                  <a:schemeClr val="tx1"/>
                </a:solidFill>
                <a:latin typeface="仿宋" panose="02010609060101010101" pitchFamily="49" charset="-122"/>
                <a:ea typeface="仿宋" panose="02010609060101010101" pitchFamily="49" charset="-122"/>
              </a:rPr>
              <a:t>    </a:t>
            </a:r>
            <a:r>
              <a:rPr lang="zh-CN" altLang="en-US" sz="2800" dirty="0">
                <a:solidFill>
                  <a:schemeClr val="tx1"/>
                </a:solidFill>
                <a:latin typeface="仿宋" panose="02010609060101010101" pitchFamily="49" charset="-122"/>
                <a:ea typeface="仿宋" panose="02010609060101010101" pitchFamily="49" charset="-122"/>
              </a:rPr>
              <a:t>硅片加工中的简单活动，如开关门或工艺设备附近的过度活动，都有可能产生污染。</a:t>
            </a:r>
            <a:endParaRPr lang="en-US" altLang="zh-CN" sz="2800" dirty="0">
              <a:solidFill>
                <a:schemeClr val="tx1"/>
              </a:solidFill>
              <a:latin typeface="仿宋" panose="02010609060101010101" pitchFamily="49" charset="-122"/>
              <a:ea typeface="仿宋" panose="02010609060101010101" pitchFamily="49" charset="-122"/>
            </a:endParaRPr>
          </a:p>
          <a:p>
            <a:pPr algn="just"/>
            <a:r>
              <a:rPr lang="en-US" altLang="zh-CN" sz="2800" dirty="0">
                <a:solidFill>
                  <a:schemeClr val="tx1"/>
                </a:solidFill>
                <a:latin typeface="仿宋" panose="02010609060101010101" pitchFamily="49" charset="-122"/>
                <a:ea typeface="仿宋" panose="02010609060101010101" pitchFamily="49" charset="-122"/>
              </a:rPr>
              <a:t>    </a:t>
            </a:r>
            <a:r>
              <a:rPr lang="zh-CN" altLang="en-US" sz="2800" dirty="0">
                <a:solidFill>
                  <a:schemeClr val="tx1"/>
                </a:solidFill>
                <a:latin typeface="仿宋" panose="02010609060101010101" pitchFamily="49" charset="-122"/>
                <a:ea typeface="仿宋" panose="02010609060101010101" pitchFamily="49" charset="-122"/>
              </a:rPr>
              <a:t>通常的人类活动，如谈话、咳嗽、打喷嚏等都有可能对半导体有害。表</a:t>
            </a:r>
            <a:r>
              <a:rPr lang="en-US" altLang="zh-CN" sz="2800" dirty="0">
                <a:solidFill>
                  <a:schemeClr val="tx1"/>
                </a:solidFill>
                <a:latin typeface="仿宋" panose="02010609060101010101" pitchFamily="49" charset="-122"/>
                <a:ea typeface="仿宋" panose="02010609060101010101" pitchFamily="49" charset="-122"/>
              </a:rPr>
              <a:t>3</a:t>
            </a:r>
            <a:r>
              <a:rPr lang="zh-CN" altLang="en-US" sz="2800" dirty="0">
                <a:solidFill>
                  <a:schemeClr val="tx1"/>
                </a:solidFill>
                <a:latin typeface="仿宋" panose="02010609060101010101" pitchFamily="49" charset="-122"/>
                <a:ea typeface="仿宋" panose="02010609060101010101" pitchFamily="49" charset="-122"/>
              </a:rPr>
              <a:t>列出了人类活动释放的颗粒数。</a:t>
            </a:r>
            <a:endParaRPr lang="en-US" altLang="zh-CN" sz="2800" dirty="0">
              <a:solidFill>
                <a:schemeClr val="tx1"/>
              </a:solidFill>
              <a:latin typeface="仿宋" panose="02010609060101010101" pitchFamily="49" charset="-122"/>
              <a:ea typeface="仿宋" panose="02010609060101010101"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694058034"/>
              </p:ext>
            </p:extLst>
          </p:nvPr>
        </p:nvGraphicFramePr>
        <p:xfrm>
          <a:off x="472698" y="6172944"/>
          <a:ext cx="12078373" cy="2889504"/>
        </p:xfrm>
        <a:graphic>
          <a:graphicData uri="http://schemas.openxmlformats.org/drawingml/2006/table">
            <a:tbl>
              <a:tblPr firstRow="1" bandRow="1">
                <a:tableStyleId>{5C22544A-7EE6-4342-B048-85BDC9FD1C3A}</a:tableStyleId>
              </a:tblPr>
              <a:tblGrid>
                <a:gridCol w="5636574">
                  <a:extLst>
                    <a:ext uri="{9D8B030D-6E8A-4147-A177-3AD203B41FA5}">
                      <a16:colId xmlns:a16="http://schemas.microsoft.com/office/drawing/2014/main" val="20000"/>
                    </a:ext>
                  </a:extLst>
                </a:gridCol>
                <a:gridCol w="6441799">
                  <a:extLst>
                    <a:ext uri="{9D8B030D-6E8A-4147-A177-3AD203B41FA5}">
                      <a16:colId xmlns:a16="http://schemas.microsoft.com/office/drawing/2014/main" val="20001"/>
                    </a:ext>
                  </a:extLst>
                </a:gridCol>
              </a:tblGrid>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颗粒来源</a:t>
                      </a:r>
                    </a:p>
                  </a:txBody>
                  <a:tcPr>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每分钟等于及大于</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0.3</a:t>
                      </a:r>
                      <a:r>
                        <a:rPr lang="el-GR"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μ</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颗粒的平均颗粒数</a:t>
                      </a:r>
                    </a:p>
                  </a:txBody>
                  <a:tcPr>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静止（坐或者站）</a:t>
                      </a:r>
                    </a:p>
                  </a:txBody>
                  <a:tcPr>
                    <a:lnL w="12700" cmpd="sng">
                      <a:noFill/>
                    </a:lnL>
                    <a:lnR w="12700" cmpd="sng">
                      <a:noFill/>
                    </a:lnR>
                    <a:lnT w="952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100 000</a:t>
                      </a:r>
                      <a:endPar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txBody>
                  <a:tcPr>
                    <a:lnL w="12700" cmpd="sng">
                      <a:noFill/>
                    </a:lnL>
                    <a:lnR w="12700" cmpd="sng">
                      <a:noFill/>
                    </a:lnR>
                    <a:lnT w="952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移动手、臂、躯干、脖子和头</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500 000</a:t>
                      </a:r>
                      <a:endPar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每小时步行</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公里</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5 000</a:t>
                      </a:r>
                      <a:r>
                        <a:rPr lang="en-US" altLang="zh-CN" baseline="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000</a:t>
                      </a:r>
                      <a:endPar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每小时步行</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3.5</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公里</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7 500 000</a:t>
                      </a:r>
                      <a:endPar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45580">
                <a:tc>
                  <a:txBody>
                    <a:bodyPr/>
                    <a:lstStyle/>
                    <a:p>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最洁净的皮肤（每平方英尺≈</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0.0929m</a:t>
                      </a:r>
                      <a:r>
                        <a:rPr lang="en-US" altLang="zh-CN" baseline="30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txBody>
                  <a:tcPr>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10 000 000</a:t>
                      </a:r>
                      <a:endPar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txBody>
                  <a:tcPr>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8" name="矩形 7"/>
          <p:cNvSpPr/>
          <p:nvPr/>
        </p:nvSpPr>
        <p:spPr>
          <a:xfrm>
            <a:off x="2455560" y="5668888"/>
            <a:ext cx="8010879" cy="523220"/>
          </a:xfrm>
          <a:prstGeom prst="rect">
            <a:avLst/>
          </a:prstGeom>
        </p:spPr>
        <p:txBody>
          <a:bodyPr wrap="square">
            <a:spAutoFit/>
          </a:bodyPr>
          <a:lstStyle/>
          <a:p>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表</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人类活动释放的颗粒数</a:t>
            </a:r>
          </a:p>
        </p:txBody>
      </p:sp>
      <p:sp>
        <p:nvSpPr>
          <p:cNvPr id="6" name="圆角矩形 5"/>
          <p:cNvSpPr/>
          <p:nvPr/>
        </p:nvSpPr>
        <p:spPr>
          <a:xfrm>
            <a:off x="529585" y="8117160"/>
            <a:ext cx="9491089" cy="92011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71075" y="7973144"/>
            <a:ext cx="2298283" cy="1015663"/>
          </a:xfrm>
          <a:prstGeom prst="rect">
            <a:avLst/>
          </a:prstGeom>
          <a:noFill/>
          <a:ln w="38100">
            <a:solidFill>
              <a:srgbClr val="0000FF"/>
            </a:solidFill>
          </a:ln>
        </p:spPr>
        <p:txBody>
          <a:bodyPr wrap="square" rtlCol="0">
            <a:spAutoFit/>
          </a:bodyPr>
          <a:lstStyle/>
          <a:p>
            <a:pPr algn="just"/>
            <a:r>
              <a:rPr lang="zh-CN" altLang="en-US" sz="2000" dirty="0">
                <a:solidFill>
                  <a:srgbClr val="0000FF"/>
                </a:solidFill>
                <a:latin typeface="黑体" panose="02010609060101010101" pitchFamily="49" charset="-122"/>
                <a:ea typeface="黑体" panose="02010609060101010101" pitchFamily="49" charset="-122"/>
              </a:rPr>
              <a:t>非必要情况请勿在超净间快走、奔跑、裸露皮肤等。</a:t>
            </a:r>
          </a:p>
        </p:txBody>
      </p:sp>
    </p:spTree>
    <p:extLst>
      <p:ext uri="{BB962C8B-B14F-4D97-AF65-F5344CB8AC3E}">
        <p14:creationId xmlns:p14="http://schemas.microsoft.com/office/powerpoint/2010/main" val="1029537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10</a:t>
            </a:fld>
            <a:endParaRPr lang="zh-CN" altLang="en-US" dirty="0"/>
          </a:p>
        </p:txBody>
      </p:sp>
      <p:sp>
        <p:nvSpPr>
          <p:cNvPr id="5" name="标题 3"/>
          <p:cNvSpPr>
            <a:spLocks noGrp="1"/>
          </p:cNvSpPr>
          <p:nvPr>
            <p:ph type="title"/>
          </p:nvPr>
        </p:nvSpPr>
        <p:spPr/>
        <p:txBody>
          <a:bodyPr/>
          <a:lstStyle/>
          <a:p>
            <a:r>
              <a:rPr lang="zh-CN" altLang="en-US" dirty="0"/>
              <a:t>超净间中的一些概念</a:t>
            </a:r>
          </a:p>
        </p:txBody>
      </p:sp>
      <p:sp>
        <p:nvSpPr>
          <p:cNvPr id="7" name="文本框 6"/>
          <p:cNvSpPr txBox="1"/>
          <p:nvPr/>
        </p:nvSpPr>
        <p:spPr>
          <a:xfrm>
            <a:off x="376221" y="2538599"/>
            <a:ext cx="12241360" cy="2031325"/>
          </a:xfrm>
          <a:prstGeom prst="rect">
            <a:avLst/>
          </a:prstGeom>
          <a:noFill/>
        </p:spPr>
        <p:txBody>
          <a:bodyPr wrap="square" rtlCol="0">
            <a:spAutoFit/>
          </a:bodyPr>
          <a:lstStyle/>
          <a:p>
            <a:pPr indent="630238" algn="just">
              <a:lnSpc>
                <a:spcPct val="150000"/>
              </a:lnSpc>
            </a:pP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为实现净化间内的超净环境，</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所有人员必须按要求穿戴洁净服</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（包括连体衣裤帽、靴子）、网帽、口罩、手套；</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在净化间中所有时间内都保持洁净服闭合</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。现代高级洁净服一般可以阻止</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99.999%</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0.1</a:t>
            </a:r>
            <a:r>
              <a:rPr lang="el-GR"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μ</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及以上颗粒通过。</a:t>
            </a:r>
            <a:endPar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376221" y="5884912"/>
            <a:ext cx="12241360" cy="2031325"/>
          </a:xfrm>
          <a:prstGeom prst="rect">
            <a:avLst/>
          </a:prstGeom>
        </p:spPr>
        <p:txBody>
          <a:bodyPr wrap="square">
            <a:spAutoFit/>
          </a:bodyPr>
          <a:lstStyle/>
          <a:p>
            <a:pPr algn="l">
              <a:lnSpc>
                <a:spcPct val="150000"/>
              </a:lnSpc>
            </a:pPr>
            <a:r>
              <a:rPr lang="zh-CN" altLang="en-US"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    为保持洁净室的超净环境，更是为了科研实验、技术研发的高效运行，进入超净间的人员，请遵守</a:t>
            </a:r>
            <a:r>
              <a:rPr lang="en-US" altLang="zh-CN"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zh-CN" altLang="en-US"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实验室管理规定</a:t>
            </a:r>
            <a:r>
              <a:rPr lang="en-US" altLang="zh-CN"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zh-CN" altLang="en-US"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及</a:t>
            </a:r>
            <a:r>
              <a:rPr lang="en-US" altLang="zh-CN"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zh-CN" altLang="en-US"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超净实验室行为规范</a:t>
            </a:r>
            <a:r>
              <a:rPr lang="en-US" altLang="zh-CN"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zh-CN" altLang="en-US" sz="28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等相关规定。</a:t>
            </a:r>
            <a:endParaRPr lang="zh-CN" altLang="en-US" dirty="0">
              <a:latin typeface="仿宋" panose="02010609060101010101" pitchFamily="49" charset="-122"/>
              <a:ea typeface="仿宋" panose="02010609060101010101" pitchFamily="49" charset="-122"/>
            </a:endParaRPr>
          </a:p>
        </p:txBody>
      </p:sp>
      <p:sp>
        <p:nvSpPr>
          <p:cNvPr id="48" name="矩形 47"/>
          <p:cNvSpPr/>
          <p:nvPr/>
        </p:nvSpPr>
        <p:spPr>
          <a:xfrm>
            <a:off x="17396" y="1708448"/>
            <a:ext cx="5692915"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三</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人员产生的污染及控制</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3310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11</a:t>
            </a:fld>
            <a:endParaRPr lang="zh-CN" altLang="en-US" dirty="0"/>
          </a:p>
        </p:txBody>
      </p:sp>
      <p:sp>
        <p:nvSpPr>
          <p:cNvPr id="5" name="矩形 4"/>
          <p:cNvSpPr/>
          <p:nvPr/>
        </p:nvSpPr>
        <p:spPr>
          <a:xfrm>
            <a:off x="22043" y="1843753"/>
            <a:ext cx="10589459"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四、超净间的紧急出口</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6"/>
          <p:cNvSpPr txBox="1"/>
          <p:nvPr/>
        </p:nvSpPr>
        <p:spPr>
          <a:xfrm>
            <a:off x="10266751" y="2597957"/>
            <a:ext cx="2424446" cy="5693866"/>
          </a:xfrm>
          <a:prstGeom prst="rect">
            <a:avLst/>
          </a:prstGeom>
          <a:noFill/>
        </p:spPr>
        <p:txBody>
          <a:bodyPr wrap="square" rtlCol="0">
            <a:spAutoFit/>
          </a:bodyPr>
          <a:lstStyle/>
          <a:p>
            <a:pPr algn="just"/>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为维护净化间内的超净环境，紧急出口平时是</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紧闭而不上锁</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的；紧急情况下情况下，用户可选择合适的路线从紧急出口迅速离开超净实验室至室外，并在指定地方集合。</a:t>
            </a:r>
            <a:endPar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11" name="图片 10"/>
          <p:cNvPicPr>
            <a:picLocks noChangeAspect="1"/>
          </p:cNvPicPr>
          <p:nvPr/>
        </p:nvPicPr>
        <p:blipFill>
          <a:blip r:embed="rId2"/>
          <a:stretch>
            <a:fillRect/>
          </a:stretch>
        </p:blipFill>
        <p:spPr>
          <a:xfrm>
            <a:off x="656458" y="2524945"/>
            <a:ext cx="7373904" cy="4584758"/>
          </a:xfrm>
          <a:prstGeom prst="rect">
            <a:avLst/>
          </a:prstGeom>
        </p:spPr>
      </p:pic>
      <p:sp>
        <p:nvSpPr>
          <p:cNvPr id="13" name="线形标注 1 12"/>
          <p:cNvSpPr/>
          <p:nvPr/>
        </p:nvSpPr>
        <p:spPr>
          <a:xfrm>
            <a:off x="4993918" y="2472139"/>
            <a:ext cx="1691621" cy="336650"/>
          </a:xfrm>
          <a:prstGeom prst="borderCallout1">
            <a:avLst>
              <a:gd name="adj1" fmla="val 43170"/>
              <a:gd name="adj2" fmla="val 100032"/>
              <a:gd name="adj3" fmla="val 100828"/>
              <a:gd name="adj4" fmla="val 146932"/>
            </a:avLst>
          </a:prstGeom>
          <a:solidFill>
            <a:schemeClr val="bg1">
              <a:lumMod val="65000"/>
            </a:schemeClr>
          </a:solidFill>
          <a:ln w="12700" cap="flat" cmpd="sng" algn="ctr">
            <a:solidFill>
              <a:srgbClr val="D34817">
                <a:shade val="50000"/>
              </a:srgbClr>
            </a:solidFill>
            <a:prstDash val="solid"/>
          </a:ln>
          <a:effectLst/>
        </p:spPr>
        <p:txBody>
          <a:bodyPr rtlCol="0" anchor="ctr"/>
          <a:lstStyle/>
          <a:p>
            <a:pPr defTabSz="914400" fontAlgn="auto" hangingPunct="1">
              <a:spcBef>
                <a:spcPts val="0"/>
              </a:spcBef>
              <a:spcAft>
                <a:spcPts val="0"/>
              </a:spcAft>
            </a:pPr>
            <a:r>
              <a:rPr lang="zh-CN" altLang="en-US" sz="2800" kern="0" dirty="0">
                <a:solidFill>
                  <a:srgbClr val="D34817"/>
                </a:solidFill>
                <a:latin typeface="仿宋" panose="02010609060101010101" pitchFamily="49" charset="-122"/>
                <a:ea typeface="仿宋" panose="02010609060101010101" pitchFamily="49" charset="-122"/>
              </a:rPr>
              <a:t>紧急出口</a:t>
            </a:r>
          </a:p>
        </p:txBody>
      </p:sp>
      <p:sp>
        <p:nvSpPr>
          <p:cNvPr id="14" name="线形标注 1 13"/>
          <p:cNvSpPr/>
          <p:nvPr/>
        </p:nvSpPr>
        <p:spPr>
          <a:xfrm>
            <a:off x="4762373" y="3530652"/>
            <a:ext cx="2016223" cy="326815"/>
          </a:xfrm>
          <a:prstGeom prst="borderCallout1">
            <a:avLst>
              <a:gd name="adj1" fmla="val 43170"/>
              <a:gd name="adj2" fmla="val 100032"/>
              <a:gd name="adj3" fmla="val 93356"/>
              <a:gd name="adj4" fmla="val 125815"/>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srgbClr val="D34817"/>
                </a:solidFill>
                <a:latin typeface="仿宋" panose="02010609060101010101" pitchFamily="49" charset="-122"/>
                <a:ea typeface="仿宋" panose="02010609060101010101" pitchFamily="49" charset="-122"/>
              </a:rPr>
              <a:t>东紧急出口</a:t>
            </a:r>
          </a:p>
        </p:txBody>
      </p:sp>
      <p:sp>
        <p:nvSpPr>
          <p:cNvPr id="15" name="线形标注 1 14"/>
          <p:cNvSpPr/>
          <p:nvPr/>
        </p:nvSpPr>
        <p:spPr>
          <a:xfrm>
            <a:off x="3770265" y="6125508"/>
            <a:ext cx="1728192" cy="337500"/>
          </a:xfrm>
          <a:prstGeom prst="borderCallout1">
            <a:avLst>
              <a:gd name="adj1" fmla="val 48054"/>
              <a:gd name="adj2" fmla="val 824"/>
              <a:gd name="adj3" fmla="val 199930"/>
              <a:gd name="adj4" fmla="val -27055"/>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D34817"/>
                </a:solidFill>
                <a:effectLst/>
                <a:uLnTx/>
                <a:uFillTx/>
                <a:latin typeface="仿宋" panose="02010609060101010101" pitchFamily="49" charset="-122"/>
                <a:ea typeface="仿宋" panose="02010609060101010101" pitchFamily="49" charset="-122"/>
              </a:rPr>
              <a:t>紧急出口</a:t>
            </a:r>
          </a:p>
        </p:txBody>
      </p:sp>
      <p:sp>
        <p:nvSpPr>
          <p:cNvPr id="17" name="线形标注 1 16"/>
          <p:cNvSpPr/>
          <p:nvPr/>
        </p:nvSpPr>
        <p:spPr>
          <a:xfrm>
            <a:off x="453728" y="3530652"/>
            <a:ext cx="2032680" cy="344540"/>
          </a:xfrm>
          <a:prstGeom prst="borderCallout1">
            <a:avLst>
              <a:gd name="adj1" fmla="val 92787"/>
              <a:gd name="adj2" fmla="val 99475"/>
              <a:gd name="adj3" fmla="val 233694"/>
              <a:gd name="adj4" fmla="val 96269"/>
            </a:avLst>
          </a:prstGeom>
          <a:solidFill>
            <a:srgbClr val="FFFF00"/>
          </a:solidFill>
          <a:ln w="12700" cap="flat" cmpd="sng" algn="ctr">
            <a:solidFill>
              <a:srgbClr val="FF0000"/>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srgbClr val="D34817"/>
                </a:solidFill>
                <a:latin typeface="仿宋" panose="02010609060101010101" pitchFamily="49" charset="-122"/>
                <a:ea typeface="仿宋" panose="02010609060101010101" pitchFamily="49" charset="-122"/>
              </a:rPr>
              <a:t>西</a:t>
            </a:r>
            <a:r>
              <a:rPr kumimoji="0" lang="zh-CN" altLang="en-US" sz="2800" b="0" i="0" u="none" strike="noStrike" kern="0" cap="none" spc="0" normalizeH="0" baseline="0" noProof="0" dirty="0">
                <a:ln>
                  <a:noFill/>
                </a:ln>
                <a:solidFill>
                  <a:srgbClr val="D34817"/>
                </a:solidFill>
                <a:effectLst/>
                <a:uLnTx/>
                <a:uFillTx/>
                <a:latin typeface="仿宋" panose="02010609060101010101" pitchFamily="49" charset="-122"/>
                <a:ea typeface="仿宋" panose="02010609060101010101" pitchFamily="49" charset="-122"/>
              </a:rPr>
              <a:t>紧急出口</a:t>
            </a:r>
          </a:p>
        </p:txBody>
      </p:sp>
      <p:cxnSp>
        <p:nvCxnSpPr>
          <p:cNvPr id="6" name="直接箭头连接符 5"/>
          <p:cNvCxnSpPr/>
          <p:nvPr/>
        </p:nvCxnSpPr>
        <p:spPr>
          <a:xfrm>
            <a:off x="2400846" y="4448295"/>
            <a:ext cx="1552" cy="2618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357474" y="3823624"/>
            <a:ext cx="92387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3327968" y="6864069"/>
            <a:ext cx="0" cy="2025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线形标注 1 22"/>
          <p:cNvSpPr/>
          <p:nvPr/>
        </p:nvSpPr>
        <p:spPr>
          <a:xfrm>
            <a:off x="502448" y="2455404"/>
            <a:ext cx="1691621" cy="336650"/>
          </a:xfrm>
          <a:prstGeom prst="borderCallout1">
            <a:avLst>
              <a:gd name="adj1" fmla="val 43170"/>
              <a:gd name="adj2" fmla="val 100032"/>
              <a:gd name="adj3" fmla="val 95169"/>
              <a:gd name="adj4" fmla="val 136797"/>
            </a:avLst>
          </a:prstGeom>
          <a:solidFill>
            <a:schemeClr val="bg1">
              <a:lumMod val="65000"/>
            </a:schemeClr>
          </a:solidFill>
          <a:ln w="12700" cap="flat" cmpd="sng" algn="ctr">
            <a:solidFill>
              <a:srgbClr val="D34817">
                <a:shade val="50000"/>
              </a:srgbClr>
            </a:solidFill>
            <a:prstDash val="solid"/>
          </a:ln>
          <a:effectLst/>
        </p:spPr>
        <p:txBody>
          <a:bodyPr rtlCol="0" anchor="ctr"/>
          <a:lstStyle/>
          <a:p>
            <a:pPr defTabSz="914400" fontAlgn="auto" hangingPunct="1">
              <a:spcBef>
                <a:spcPts val="0"/>
              </a:spcBef>
              <a:spcAft>
                <a:spcPts val="0"/>
              </a:spcAft>
            </a:pPr>
            <a:r>
              <a:rPr lang="zh-CN" altLang="en-US" sz="2800" kern="0" dirty="0">
                <a:solidFill>
                  <a:srgbClr val="D34817"/>
                </a:solidFill>
                <a:latin typeface="仿宋" panose="02010609060101010101" pitchFamily="49" charset="-122"/>
                <a:ea typeface="仿宋" panose="02010609060101010101" pitchFamily="49" charset="-122"/>
              </a:rPr>
              <a:t>紧急出口</a:t>
            </a:r>
          </a:p>
        </p:txBody>
      </p:sp>
      <p:grpSp>
        <p:nvGrpSpPr>
          <p:cNvPr id="24" name="组合 23"/>
          <p:cNvGrpSpPr/>
          <p:nvPr/>
        </p:nvGrpSpPr>
        <p:grpSpPr>
          <a:xfrm>
            <a:off x="8111212" y="2314479"/>
            <a:ext cx="481795" cy="988620"/>
            <a:chOff x="11366195" y="2699522"/>
            <a:chExt cx="646332" cy="1528152"/>
          </a:xfrm>
        </p:grpSpPr>
        <p:sp>
          <p:nvSpPr>
            <p:cNvPr id="25" name="任意多边形 24"/>
            <p:cNvSpPr/>
            <p:nvPr/>
          </p:nvSpPr>
          <p:spPr>
            <a:xfrm>
              <a:off x="11484939" y="2699522"/>
              <a:ext cx="410537" cy="860072"/>
            </a:xfrm>
            <a:custGeom>
              <a:avLst/>
              <a:gdLst>
                <a:gd name="connsiteX0" fmla="*/ 699247 w 1452282"/>
                <a:gd name="connsiteY0" fmla="*/ 0 h 2904565"/>
                <a:gd name="connsiteX1" fmla="*/ 0 w 1452282"/>
                <a:gd name="connsiteY1" fmla="*/ 2886635 h 2904565"/>
                <a:gd name="connsiteX2" fmla="*/ 717176 w 1452282"/>
                <a:gd name="connsiteY2" fmla="*/ 2169459 h 2904565"/>
                <a:gd name="connsiteX3" fmla="*/ 1452282 w 1452282"/>
                <a:gd name="connsiteY3" fmla="*/ 2904565 h 2904565"/>
                <a:gd name="connsiteX4" fmla="*/ 699247 w 1452282"/>
                <a:gd name="connsiteY4" fmla="*/ 0 h 2904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282" h="2904565">
                  <a:moveTo>
                    <a:pt x="699247" y="0"/>
                  </a:moveTo>
                  <a:lnTo>
                    <a:pt x="0" y="2886635"/>
                  </a:lnTo>
                  <a:lnTo>
                    <a:pt x="717176" y="2169459"/>
                  </a:lnTo>
                  <a:lnTo>
                    <a:pt x="1452282" y="2904565"/>
                  </a:lnTo>
                  <a:lnTo>
                    <a:pt x="699247" y="0"/>
                  </a:lnTo>
                  <a:close/>
                </a:path>
              </a:pathLst>
            </a:cu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26" name="文本框 25"/>
            <p:cNvSpPr txBox="1"/>
            <p:nvPr/>
          </p:nvSpPr>
          <p:spPr>
            <a:xfrm>
              <a:off x="11366195" y="3581343"/>
              <a:ext cx="646332" cy="646331"/>
            </a:xfrm>
            <a:prstGeom prst="rect">
              <a:avLst/>
            </a:prstGeom>
            <a:noFill/>
          </p:spPr>
          <p:txBody>
            <a:bodyPr wrap="none" rtlCol="0">
              <a:spAutoFit/>
            </a:bodyPr>
            <a:lstStyle/>
            <a:p>
              <a:r>
                <a:rPr lang="zh-CN" altLang="en-US" dirty="0">
                  <a:solidFill>
                    <a:srgbClr val="0000FF"/>
                  </a:solidFill>
                </a:rPr>
                <a:t>北</a:t>
              </a:r>
            </a:p>
          </p:txBody>
        </p:sp>
      </p:grpSp>
      <p:sp>
        <p:nvSpPr>
          <p:cNvPr id="8" name="流程图: 接点 4">
            <a:hlinkClick r:id="rId3" action="ppaction://hlinksldjump"/>
            <a:extLst>
              <a:ext uri="{FF2B5EF4-FFF2-40B4-BE49-F238E27FC236}">
                <a16:creationId xmlns:a16="http://schemas.microsoft.com/office/drawing/2014/main" id="{68428728-5645-43B9-8631-29A5757BA230}"/>
              </a:ext>
            </a:extLst>
          </p:cNvPr>
          <p:cNvSpPr/>
          <p:nvPr/>
        </p:nvSpPr>
        <p:spPr>
          <a:xfrm>
            <a:off x="7191671" y="3751616"/>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9"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3255960" y="6739103"/>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10" name="流程图: 接点 6">
            <a:hlinkClick r:id="rId3" action="ppaction://hlinksldjump"/>
            <a:extLst>
              <a:ext uri="{FF2B5EF4-FFF2-40B4-BE49-F238E27FC236}">
                <a16:creationId xmlns:a16="http://schemas.microsoft.com/office/drawing/2014/main" id="{68428728-5645-43B9-8631-29A5757BA230}"/>
              </a:ext>
            </a:extLst>
          </p:cNvPr>
          <p:cNvSpPr/>
          <p:nvPr/>
        </p:nvSpPr>
        <p:spPr>
          <a:xfrm>
            <a:off x="7429999" y="2810395"/>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16" name="流程图: 接点 13">
            <a:hlinkClick r:id="rId3" action="ppaction://hlinksldjump"/>
            <a:extLst>
              <a:ext uri="{FF2B5EF4-FFF2-40B4-BE49-F238E27FC236}">
                <a16:creationId xmlns:a16="http://schemas.microsoft.com/office/drawing/2014/main" id="{68428728-5645-43B9-8631-29A5757BA230}"/>
              </a:ext>
            </a:extLst>
          </p:cNvPr>
          <p:cNvSpPr/>
          <p:nvPr/>
        </p:nvSpPr>
        <p:spPr>
          <a:xfrm>
            <a:off x="2342391" y="4304279"/>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22" name="流程图: 接点 6">
            <a:hlinkClick r:id="rId3" action="ppaction://hlinksldjump"/>
            <a:extLst>
              <a:ext uri="{FF2B5EF4-FFF2-40B4-BE49-F238E27FC236}">
                <a16:creationId xmlns:a16="http://schemas.microsoft.com/office/drawing/2014/main" id="{68428728-5645-43B9-8631-29A5757BA230}"/>
              </a:ext>
            </a:extLst>
          </p:cNvPr>
          <p:cNvSpPr/>
          <p:nvPr/>
        </p:nvSpPr>
        <p:spPr>
          <a:xfrm>
            <a:off x="2734198" y="2775172"/>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grpSp>
        <p:nvGrpSpPr>
          <p:cNvPr id="55" name="组合 54"/>
          <p:cNvGrpSpPr/>
          <p:nvPr/>
        </p:nvGrpSpPr>
        <p:grpSpPr>
          <a:xfrm>
            <a:off x="6213256" y="4079577"/>
            <a:ext cx="1763687" cy="2525067"/>
            <a:chOff x="9062145" y="5341210"/>
            <a:chExt cx="2192783" cy="3348842"/>
          </a:xfrm>
        </p:grpSpPr>
        <p:sp>
          <p:nvSpPr>
            <p:cNvPr id="27" name="线形标注 1 26"/>
            <p:cNvSpPr/>
            <p:nvPr/>
          </p:nvSpPr>
          <p:spPr>
            <a:xfrm>
              <a:off x="9062145" y="5341210"/>
              <a:ext cx="2175824" cy="512664"/>
            </a:xfrm>
            <a:prstGeom prst="borderCallout1">
              <a:avLst>
                <a:gd name="adj1" fmla="val 92407"/>
                <a:gd name="adj2" fmla="val 54318"/>
                <a:gd name="adj3" fmla="val 175883"/>
                <a:gd name="adj4" fmla="val 15530"/>
              </a:avLst>
            </a:prstGeom>
            <a:noFill/>
            <a:ln w="12700" cap="flat" cmpd="sng" algn="ctr">
              <a:solidFill>
                <a:srgbClr val="0000FF"/>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1" kern="0" dirty="0">
                  <a:solidFill>
                    <a:srgbClr val="0000FF"/>
                  </a:solidFill>
                  <a:latin typeface="仿宋" panose="02010609060101010101" pitchFamily="49" charset="-122"/>
                  <a:ea typeface="仿宋" panose="02010609060101010101" pitchFamily="49" charset="-122"/>
                </a:rPr>
                <a:t>常规</a:t>
              </a:r>
              <a:r>
                <a:rPr kumimoji="0" lang="zh-CN" altLang="en-US" sz="2800" b="1" i="0" u="none" strike="noStrike" kern="0" cap="none" spc="0" normalizeH="0" baseline="0" noProof="0" dirty="0">
                  <a:ln>
                    <a:noFill/>
                  </a:ln>
                  <a:solidFill>
                    <a:srgbClr val="0000FF"/>
                  </a:solidFill>
                  <a:effectLst/>
                  <a:uLnTx/>
                  <a:uFillTx/>
                  <a:latin typeface="仿宋" panose="02010609060101010101" pitchFamily="49" charset="-122"/>
                  <a:ea typeface="仿宋" panose="02010609060101010101" pitchFamily="49" charset="-122"/>
                </a:rPr>
                <a:t>出口</a:t>
              </a:r>
            </a:p>
          </p:txBody>
        </p:sp>
        <p:sp>
          <p:nvSpPr>
            <p:cNvPr id="28"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9374195" y="6205758"/>
              <a:ext cx="144016" cy="144016"/>
            </a:xfrm>
            <a:prstGeom prst="flowChartConnector">
              <a:avLst/>
            </a:prstGeom>
            <a:solidFill>
              <a:srgbClr val="0000FF"/>
            </a:solidFill>
            <a:ln w="12700" cap="flat" cmpd="sng" algn="ctr">
              <a:solidFill>
                <a:srgbClr val="0000FF"/>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cxnSp>
          <p:nvCxnSpPr>
            <p:cNvPr id="46" name="直接连接符 45"/>
            <p:cNvCxnSpPr>
              <a:stCxn id="28" idx="4"/>
            </p:cNvCxnSpPr>
            <p:nvPr/>
          </p:nvCxnSpPr>
          <p:spPr>
            <a:xfrm>
              <a:off x="9446203" y="6349774"/>
              <a:ext cx="0" cy="23402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9446203" y="8690052"/>
              <a:ext cx="1048258"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10494461" y="7325072"/>
              <a:ext cx="0" cy="136498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10494461" y="7325072"/>
              <a:ext cx="760467"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pic>
        <p:nvPicPr>
          <p:cNvPr id="33" name="图片 32">
            <a:extLst>
              <a:ext uri="{FF2B5EF4-FFF2-40B4-BE49-F238E27FC236}">
                <a16:creationId xmlns:a16="http://schemas.microsoft.com/office/drawing/2014/main" id="{CA7E2F73-1E0C-40DE-8E0F-2DF7D07F79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2512" y="7067889"/>
            <a:ext cx="4089535" cy="2345415"/>
          </a:xfrm>
          <a:prstGeom prst="rect">
            <a:avLst/>
          </a:prstGeom>
        </p:spPr>
      </p:pic>
      <p:sp>
        <p:nvSpPr>
          <p:cNvPr id="37" name="线形标注 1 36"/>
          <p:cNvSpPr/>
          <p:nvPr/>
        </p:nvSpPr>
        <p:spPr>
          <a:xfrm>
            <a:off x="5715982" y="6125060"/>
            <a:ext cx="1728192" cy="337500"/>
          </a:xfrm>
          <a:prstGeom prst="borderCallout1">
            <a:avLst>
              <a:gd name="adj1" fmla="val 48054"/>
              <a:gd name="adj2" fmla="val 824"/>
              <a:gd name="adj3" fmla="val 199930"/>
              <a:gd name="adj4" fmla="val -27055"/>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D34817"/>
                </a:solidFill>
                <a:effectLst/>
                <a:uLnTx/>
                <a:uFillTx/>
                <a:latin typeface="仿宋" panose="02010609060101010101" pitchFamily="49" charset="-122"/>
                <a:ea typeface="仿宋" panose="02010609060101010101" pitchFamily="49" charset="-122"/>
              </a:rPr>
              <a:t>紧急出口</a:t>
            </a:r>
          </a:p>
        </p:txBody>
      </p:sp>
      <p:cxnSp>
        <p:nvCxnSpPr>
          <p:cNvPr id="38" name="直接箭头连接符 37"/>
          <p:cNvCxnSpPr/>
          <p:nvPr/>
        </p:nvCxnSpPr>
        <p:spPr>
          <a:xfrm>
            <a:off x="5321996" y="6805576"/>
            <a:ext cx="0" cy="2025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5249988" y="6680610"/>
            <a:ext cx="144016" cy="108012"/>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40"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3018564" y="5981447"/>
            <a:ext cx="115834" cy="108590"/>
          </a:xfrm>
          <a:prstGeom prst="flowChartConnector">
            <a:avLst/>
          </a:prstGeom>
          <a:solidFill>
            <a:srgbClr val="0000FF"/>
          </a:solidFill>
          <a:ln w="12700" cap="flat" cmpd="sng" algn="ctr">
            <a:solidFill>
              <a:srgbClr val="0000FF"/>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41"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4227576" y="7495964"/>
            <a:ext cx="115834" cy="108590"/>
          </a:xfrm>
          <a:prstGeom prst="flowChartConnector">
            <a:avLst/>
          </a:prstGeom>
          <a:solidFill>
            <a:srgbClr val="0000FF"/>
          </a:solidFill>
          <a:ln w="12700" cap="flat" cmpd="sng" algn="ctr">
            <a:solidFill>
              <a:srgbClr val="0000FF"/>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43" name="流程图: 接点 5">
            <a:hlinkClick r:id="rId3" action="ppaction://hlinksldjump"/>
            <a:extLst>
              <a:ext uri="{FF2B5EF4-FFF2-40B4-BE49-F238E27FC236}">
                <a16:creationId xmlns:a16="http://schemas.microsoft.com/office/drawing/2014/main" id="{68428728-5645-43B9-8631-29A5757BA230}"/>
              </a:ext>
            </a:extLst>
          </p:cNvPr>
          <p:cNvSpPr/>
          <p:nvPr/>
        </p:nvSpPr>
        <p:spPr>
          <a:xfrm>
            <a:off x="6155340" y="6545828"/>
            <a:ext cx="115834" cy="108590"/>
          </a:xfrm>
          <a:prstGeom prst="flowChartConnector">
            <a:avLst/>
          </a:prstGeom>
          <a:solidFill>
            <a:srgbClr val="0000FF"/>
          </a:solidFill>
          <a:ln w="12700" cap="flat" cmpd="sng" algn="ctr">
            <a:solidFill>
              <a:srgbClr val="0000FF"/>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cxnSp>
        <p:nvCxnSpPr>
          <p:cNvPr id="44" name="直接箭头连接符 43"/>
          <p:cNvCxnSpPr/>
          <p:nvPr/>
        </p:nvCxnSpPr>
        <p:spPr>
          <a:xfrm flipH="1" flipV="1">
            <a:off x="2878214" y="6035742"/>
            <a:ext cx="154508" cy="101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285493" y="7133568"/>
            <a:ext cx="0" cy="4344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6271174" y="6581073"/>
            <a:ext cx="193070" cy="10465"/>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2" name="标题 3"/>
          <p:cNvSpPr>
            <a:spLocks noGrp="1"/>
          </p:cNvSpPr>
          <p:nvPr>
            <p:ph type="title"/>
          </p:nvPr>
        </p:nvSpPr>
        <p:spPr>
          <a:xfrm>
            <a:off x="1476887" y="432594"/>
            <a:ext cx="10051026" cy="962219"/>
          </a:xfrm>
        </p:spPr>
        <p:txBody>
          <a:bodyPr/>
          <a:lstStyle/>
          <a:p>
            <a:pPr defTabSz="914400"/>
            <a:r>
              <a:rPr lang="zh-CN" altLang="en-US" sz="4800" dirty="0"/>
              <a:t>超净间中的一些概念</a:t>
            </a:r>
          </a:p>
        </p:txBody>
      </p:sp>
      <p:sp>
        <p:nvSpPr>
          <p:cNvPr id="3" name="圆角矩形 2"/>
          <p:cNvSpPr/>
          <p:nvPr/>
        </p:nvSpPr>
        <p:spPr>
          <a:xfrm>
            <a:off x="8738907" y="2775172"/>
            <a:ext cx="1318643" cy="401345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p:cNvSpPr txBox="1"/>
          <p:nvPr/>
        </p:nvSpPr>
        <p:spPr>
          <a:xfrm>
            <a:off x="9089138" y="2900795"/>
            <a:ext cx="615553" cy="3762203"/>
          </a:xfrm>
          <a:prstGeom prst="rect">
            <a:avLst/>
          </a:prstGeom>
          <a:noFill/>
        </p:spPr>
        <p:txBody>
          <a:bodyPr vert="eaVert" wrap="square" rtlCol="0">
            <a:spAutoFit/>
          </a:bodyPr>
          <a:lstStyle/>
          <a:p>
            <a:pPr algn="dist"/>
            <a:r>
              <a:rPr lang="zh-CN" altLang="en-US" sz="2800" dirty="0">
                <a:solidFill>
                  <a:srgbClr val="FF0000"/>
                </a:solidFill>
                <a:latin typeface="Times New Roman" panose="02020603050405020304" pitchFamily="18" charset="0"/>
                <a:cs typeface="Times New Roman" panose="02020603050405020304" pitchFamily="18" charset="0"/>
              </a:rPr>
              <a:t>紧急疏散集合区</a:t>
            </a:r>
          </a:p>
        </p:txBody>
      </p:sp>
      <p:sp>
        <p:nvSpPr>
          <p:cNvPr id="45" name="文本框 44"/>
          <p:cNvSpPr txBox="1"/>
          <p:nvPr/>
        </p:nvSpPr>
        <p:spPr>
          <a:xfrm>
            <a:off x="1312000" y="9197280"/>
            <a:ext cx="5211683" cy="523220"/>
          </a:xfrm>
          <a:prstGeom prst="rect">
            <a:avLst/>
          </a:prstGeom>
          <a:noFill/>
        </p:spPr>
        <p:txBody>
          <a:bodyPr wrap="none" rtlCol="0">
            <a:spAutoFit/>
          </a:bodyPr>
          <a:lstStyle>
            <a:defPPr>
              <a:defRPr lang="zh-CN"/>
            </a:defPPr>
            <a:lvl1pPr>
              <a:defRPr sz="2800">
                <a:solidFill>
                  <a:schemeClr val="tx1"/>
                </a:solidFill>
                <a:latin typeface="黑体" panose="02010609060101010101" pitchFamily="49" charset="-122"/>
                <a:ea typeface="黑体" panose="02010609060101010101" pitchFamily="49" charset="-122"/>
              </a:defRPr>
            </a:lvl1pPr>
          </a:lstStyle>
          <a:p>
            <a:r>
              <a:rPr lang="zh-CN" altLang="en-US" dirty="0"/>
              <a:t>图</a:t>
            </a:r>
            <a:r>
              <a:rPr lang="en-US" altLang="zh-CN" dirty="0"/>
              <a:t>3.</a:t>
            </a:r>
            <a:r>
              <a:rPr lang="zh-CN" altLang="en-US" dirty="0"/>
              <a:t>实验室紧急出口分布示意图</a:t>
            </a:r>
          </a:p>
        </p:txBody>
      </p:sp>
    </p:spTree>
    <p:extLst>
      <p:ext uri="{BB962C8B-B14F-4D97-AF65-F5344CB8AC3E}">
        <p14:creationId xmlns:p14="http://schemas.microsoft.com/office/powerpoint/2010/main" val="177240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23" grpId="0" animBg="1"/>
      <p:bldP spid="8" grpId="0" animBg="1"/>
      <p:bldP spid="9" grpId="0" animBg="1"/>
      <p:bldP spid="10" grpId="0" animBg="1"/>
      <p:bldP spid="16" grpId="0" animBg="1"/>
      <p:bldP spid="22" grpId="0" animBg="1"/>
      <p:bldP spid="37" grpId="0" animBg="1"/>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12</a:t>
            </a:fld>
            <a:endParaRPr lang="zh-CN" altLang="en-US" dirty="0"/>
          </a:p>
        </p:txBody>
      </p:sp>
      <p:sp>
        <p:nvSpPr>
          <p:cNvPr id="5" name="矩形 4"/>
          <p:cNvSpPr/>
          <p:nvPr/>
        </p:nvSpPr>
        <p:spPr>
          <a:xfrm>
            <a:off x="22043" y="1708448"/>
            <a:ext cx="10589459" cy="584775"/>
          </a:xfrm>
          <a:prstGeom prst="rect">
            <a:avLst/>
          </a:prstGeom>
        </p:spPr>
        <p:txBody>
          <a:bodyPr wrap="square">
            <a:spAutoFit/>
          </a:bodyPr>
          <a:lstStyle/>
          <a:p>
            <a:pPr marL="0" indent="0" algn="l">
              <a:buNone/>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四、超净间的紧急出口位置</a:t>
            </a:r>
            <a:endParaRPr lang="zh-CN" altLang="en-US" sz="32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4" name="组合 13"/>
          <p:cNvGrpSpPr/>
          <p:nvPr/>
        </p:nvGrpSpPr>
        <p:grpSpPr>
          <a:xfrm>
            <a:off x="0" y="5015586"/>
            <a:ext cx="13004800" cy="4109686"/>
            <a:chOff x="50328" y="3138174"/>
            <a:chExt cx="13004800" cy="4109686"/>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328" y="3138174"/>
              <a:ext cx="13004800" cy="4109686"/>
            </a:xfrm>
            <a:prstGeom prst="rect">
              <a:avLst/>
            </a:prstGeom>
          </p:spPr>
        </p:pic>
        <p:grpSp>
          <p:nvGrpSpPr>
            <p:cNvPr id="13" name="组合 12"/>
            <p:cNvGrpSpPr/>
            <p:nvPr/>
          </p:nvGrpSpPr>
          <p:grpSpPr>
            <a:xfrm>
              <a:off x="8162776" y="4516760"/>
              <a:ext cx="3365137" cy="446400"/>
              <a:chOff x="8162776" y="3678466"/>
              <a:chExt cx="3365137" cy="446400"/>
            </a:xfrm>
          </p:grpSpPr>
          <p:sp>
            <p:nvSpPr>
              <p:cNvPr id="8" name="线形标注 1 7"/>
              <p:cNvSpPr/>
              <p:nvPr/>
            </p:nvSpPr>
            <p:spPr>
              <a:xfrm>
                <a:off x="8162776" y="3678466"/>
                <a:ext cx="2101786" cy="446400"/>
              </a:xfrm>
              <a:prstGeom prst="borderCallout1">
                <a:avLst>
                  <a:gd name="adj1" fmla="val 43170"/>
                  <a:gd name="adj2" fmla="val 100032"/>
                  <a:gd name="adj3" fmla="val 75869"/>
                  <a:gd name="adj4" fmla="val 153215"/>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srgbClr val="D34817"/>
                    </a:solidFill>
                    <a:latin typeface="仿宋" panose="02010609060101010101" pitchFamily="49" charset="-122"/>
                    <a:ea typeface="仿宋" panose="02010609060101010101" pitchFamily="49" charset="-122"/>
                  </a:rPr>
                  <a:t>东紧急出口</a:t>
                </a:r>
              </a:p>
            </p:txBody>
          </p:sp>
          <p:sp>
            <p:nvSpPr>
              <p:cNvPr id="9" name="流程图: 接点 4">
                <a:hlinkClick r:id="rId4" action="ppaction://hlinksldjump"/>
                <a:extLst>
                  <a:ext uri="{FF2B5EF4-FFF2-40B4-BE49-F238E27FC236}">
                    <a16:creationId xmlns:a16="http://schemas.microsoft.com/office/drawing/2014/main" id="{68428728-5645-43B9-8631-29A5757BA230}"/>
                  </a:ext>
                </a:extLst>
              </p:cNvPr>
              <p:cNvSpPr/>
              <p:nvPr/>
            </p:nvSpPr>
            <p:spPr>
              <a:xfrm>
                <a:off x="11383897" y="3939766"/>
                <a:ext cx="144016" cy="144016"/>
              </a:xfrm>
              <a:prstGeom prst="flowChartConnector">
                <a:avLst/>
              </a:prstGeom>
              <a:solidFill>
                <a:srgbClr val="D34817"/>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grpSp>
      </p:grpSp>
      <p:grpSp>
        <p:nvGrpSpPr>
          <p:cNvPr id="18" name="组合 17"/>
          <p:cNvGrpSpPr/>
          <p:nvPr/>
        </p:nvGrpSpPr>
        <p:grpSpPr>
          <a:xfrm>
            <a:off x="9397360" y="2315236"/>
            <a:ext cx="3607440" cy="2705580"/>
            <a:chOff x="9397360" y="2296186"/>
            <a:chExt cx="3607440" cy="2705580"/>
          </a:xfrm>
        </p:grpSpPr>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97360" y="2296186"/>
              <a:ext cx="3607440" cy="2705580"/>
            </a:xfrm>
            <a:prstGeom prst="rect">
              <a:avLst/>
            </a:prstGeom>
          </p:spPr>
        </p:pic>
        <p:sp>
          <p:nvSpPr>
            <p:cNvPr id="16" name="矩形 15"/>
            <p:cNvSpPr/>
            <p:nvPr/>
          </p:nvSpPr>
          <p:spPr>
            <a:xfrm>
              <a:off x="11201080" y="3148608"/>
              <a:ext cx="629912" cy="864096"/>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2942358" y="9146232"/>
            <a:ext cx="6288901" cy="523220"/>
          </a:xfrm>
          <a:prstGeom prst="rect">
            <a:avLst/>
          </a:prstGeom>
        </p:spPr>
        <p:txBody>
          <a:bodyPr wrap="none">
            <a:spAutoFit/>
          </a:bodyPr>
          <a:lstStyle/>
          <a:p>
            <a:r>
              <a:rPr lang="zh-CN" altLang="en-US" sz="2800" dirty="0">
                <a:solidFill>
                  <a:schemeClr val="tx1"/>
                </a:solidFill>
                <a:latin typeface="黑体" panose="02010609060101010101" pitchFamily="49" charset="-122"/>
                <a:ea typeface="黑体" panose="02010609060101010101" pitchFamily="49" charset="-122"/>
              </a:rPr>
              <a:t>图</a:t>
            </a:r>
            <a:r>
              <a:rPr lang="en-US" altLang="zh-CN" sz="2800" dirty="0">
                <a:solidFill>
                  <a:schemeClr val="tx1"/>
                </a:solidFill>
                <a:latin typeface="黑体" panose="02010609060101010101" pitchFamily="49" charset="-122"/>
                <a:ea typeface="黑体" panose="02010609060101010101" pitchFamily="49" charset="-122"/>
              </a:rPr>
              <a:t>4.</a:t>
            </a:r>
            <a:r>
              <a:rPr lang="zh-CN" altLang="en-US" sz="2800" dirty="0">
                <a:solidFill>
                  <a:schemeClr val="tx1"/>
                </a:solidFill>
                <a:latin typeface="黑体" panose="02010609060101010101" pitchFamily="49" charset="-122"/>
                <a:ea typeface="黑体" panose="02010609060101010101" pitchFamily="49" charset="-122"/>
              </a:rPr>
              <a:t>中央走廊实景图及西、东紧急出口</a:t>
            </a:r>
          </a:p>
        </p:txBody>
      </p:sp>
      <p:pic>
        <p:nvPicPr>
          <p:cNvPr id="10" name="图片 9"/>
          <p:cNvPicPr>
            <a:picLocks noChangeAspect="1"/>
          </p:cNvPicPr>
          <p:nvPr/>
        </p:nvPicPr>
        <p:blipFill>
          <a:blip r:embed="rId6"/>
          <a:stretch>
            <a:fillRect/>
          </a:stretch>
        </p:blipFill>
        <p:spPr>
          <a:xfrm>
            <a:off x="-9255" y="2309804"/>
            <a:ext cx="2379005" cy="2689200"/>
          </a:xfrm>
          <a:prstGeom prst="rect">
            <a:avLst/>
          </a:prstGeom>
        </p:spPr>
      </p:pic>
      <p:sp>
        <p:nvSpPr>
          <p:cNvPr id="20" name="线形标注 1 19"/>
          <p:cNvSpPr/>
          <p:nvPr/>
        </p:nvSpPr>
        <p:spPr>
          <a:xfrm>
            <a:off x="9387848" y="4565196"/>
            <a:ext cx="2101786" cy="446400"/>
          </a:xfrm>
          <a:prstGeom prst="borderCallout1">
            <a:avLst>
              <a:gd name="adj1" fmla="val 43170"/>
              <a:gd name="adj2" fmla="val 100032"/>
              <a:gd name="adj3" fmla="val 51770"/>
              <a:gd name="adj4" fmla="val 99472"/>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srgbClr val="D34817"/>
                </a:solidFill>
                <a:latin typeface="仿宋" panose="02010609060101010101" pitchFamily="49" charset="-122"/>
                <a:ea typeface="仿宋" panose="02010609060101010101" pitchFamily="49" charset="-122"/>
              </a:rPr>
              <a:t>东紧急出口</a:t>
            </a:r>
          </a:p>
        </p:txBody>
      </p:sp>
      <p:sp>
        <p:nvSpPr>
          <p:cNvPr id="21" name="线形标注 1 20"/>
          <p:cNvSpPr/>
          <p:nvPr/>
        </p:nvSpPr>
        <p:spPr>
          <a:xfrm>
            <a:off x="0" y="4528771"/>
            <a:ext cx="2101786" cy="446400"/>
          </a:xfrm>
          <a:prstGeom prst="borderCallout1">
            <a:avLst>
              <a:gd name="adj1" fmla="val 43170"/>
              <a:gd name="adj2" fmla="val 100032"/>
              <a:gd name="adj3" fmla="val 51770"/>
              <a:gd name="adj4" fmla="val 99472"/>
            </a:avLst>
          </a:prstGeom>
          <a:solidFill>
            <a:srgbClr val="FFFF00"/>
          </a:solidFill>
          <a:ln w="12700" cap="flat" cmpd="sng" algn="ctr">
            <a:solidFill>
              <a:srgbClr val="D34817">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srgbClr val="D34817"/>
                </a:solidFill>
                <a:latin typeface="仿宋" panose="02010609060101010101" pitchFamily="49" charset="-122"/>
                <a:ea typeface="仿宋" panose="02010609060101010101" pitchFamily="49" charset="-122"/>
              </a:rPr>
              <a:t>西紧急出口</a:t>
            </a:r>
          </a:p>
        </p:txBody>
      </p:sp>
      <p:sp>
        <p:nvSpPr>
          <p:cNvPr id="22" name="矩形 21"/>
          <p:cNvSpPr/>
          <p:nvPr/>
        </p:nvSpPr>
        <p:spPr>
          <a:xfrm>
            <a:off x="35670" y="2746548"/>
            <a:ext cx="1858217" cy="1818648"/>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74118" y="2309803"/>
            <a:ext cx="3553821" cy="2665367"/>
          </a:xfrm>
          <a:prstGeom prst="rect">
            <a:avLst/>
          </a:prstGeom>
        </p:spPr>
      </p:pic>
      <p:sp>
        <p:nvSpPr>
          <p:cNvPr id="23" name="标题 3"/>
          <p:cNvSpPr>
            <a:spLocks noGrp="1"/>
          </p:cNvSpPr>
          <p:nvPr>
            <p:ph type="title"/>
          </p:nvPr>
        </p:nvSpPr>
        <p:spPr>
          <a:xfrm>
            <a:off x="1476887" y="432594"/>
            <a:ext cx="10051026" cy="962219"/>
          </a:xfrm>
        </p:spPr>
        <p:txBody>
          <a:bodyPr/>
          <a:lstStyle/>
          <a:p>
            <a:pPr defTabSz="914400"/>
            <a:r>
              <a:rPr lang="zh-CN" altLang="en-US" sz="4800" dirty="0"/>
              <a:t>超净间中的一些概念</a:t>
            </a:r>
          </a:p>
        </p:txBody>
      </p:sp>
    </p:spTree>
    <p:extLst>
      <p:ext uri="{BB962C8B-B14F-4D97-AF65-F5344CB8AC3E}">
        <p14:creationId xmlns:p14="http://schemas.microsoft.com/office/powerpoint/2010/main" val="251996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13</a:t>
            </a:fld>
            <a:endParaRPr lang="zh-CN" altLang="en-US" dirty="0"/>
          </a:p>
        </p:txBody>
      </p:sp>
      <p:sp>
        <p:nvSpPr>
          <p:cNvPr id="4" name="标题 3"/>
          <p:cNvSpPr>
            <a:spLocks noGrp="1"/>
          </p:cNvSpPr>
          <p:nvPr>
            <p:ph type="title"/>
          </p:nvPr>
        </p:nvSpPr>
        <p:spPr>
          <a:xfrm>
            <a:off x="1476887" y="4084712"/>
            <a:ext cx="10051026" cy="1584176"/>
          </a:xfrm>
        </p:spPr>
        <p:txBody>
          <a:bodyPr/>
          <a:lstStyle/>
          <a:p>
            <a:r>
              <a:rPr lang="zh-CN" altLang="en-US" sz="8800" dirty="0"/>
              <a:t>实验室管理规定</a:t>
            </a:r>
          </a:p>
        </p:txBody>
      </p:sp>
      <p:sp>
        <p:nvSpPr>
          <p:cNvPr id="6" name="标题 3"/>
          <p:cNvSpPr txBox="1">
            <a:spLocks/>
          </p:cNvSpPr>
          <p:nvPr/>
        </p:nvSpPr>
        <p:spPr bwMode="auto">
          <a:xfrm>
            <a:off x="2541960" y="340296"/>
            <a:ext cx="8280920"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dirty="0"/>
              <a:t>微纳加工平台超净实验室的申请与安全使用培训</a:t>
            </a:r>
          </a:p>
        </p:txBody>
      </p:sp>
    </p:spTree>
    <p:extLst>
      <p:ext uri="{BB962C8B-B14F-4D97-AF65-F5344CB8AC3E}">
        <p14:creationId xmlns:p14="http://schemas.microsoft.com/office/powerpoint/2010/main" val="2183780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14</a:t>
            </a:fld>
            <a:endParaRPr lang="zh-CN" altLang="en-US" dirty="0"/>
          </a:p>
        </p:txBody>
      </p:sp>
      <p:sp>
        <p:nvSpPr>
          <p:cNvPr id="8" name="标题 3"/>
          <p:cNvSpPr>
            <a:spLocks noGrp="1"/>
          </p:cNvSpPr>
          <p:nvPr>
            <p:ph type="title"/>
          </p:nvPr>
        </p:nvSpPr>
        <p:spPr/>
        <p:txBody>
          <a:bodyPr/>
          <a:lstStyle/>
          <a:p>
            <a:r>
              <a:rPr lang="zh-CN" altLang="en-US" dirty="0"/>
              <a:t>实验室管理规定</a:t>
            </a:r>
          </a:p>
        </p:txBody>
      </p:sp>
      <p:sp>
        <p:nvSpPr>
          <p:cNvPr id="9" name="Content Placeholder 2"/>
          <p:cNvSpPr>
            <a:spLocks noGrp="1"/>
          </p:cNvSpPr>
          <p:nvPr>
            <p:ph sz="quarter" idx="1"/>
          </p:nvPr>
        </p:nvSpPr>
        <p:spPr>
          <a:xfrm>
            <a:off x="849772" y="2500536"/>
            <a:ext cx="11305256" cy="6825527"/>
          </a:xfrm>
        </p:spPr>
        <p:txBody>
          <a:bodyPr>
            <a:normAutofit/>
          </a:bodyPr>
          <a:lstStyle/>
          <a:p>
            <a:pPr marL="342900" indent="-342900" eaLnBrk="0" hangingPunct="0">
              <a:lnSpc>
                <a:spcPct val="150000"/>
              </a:lnSpc>
              <a:buFont typeface="+mj-ea"/>
              <a:buAutoNum type="circleNumDbPlain"/>
            </a:pPr>
            <a:r>
              <a:rPr lang="zh-CN" altLang="en-US" sz="2800" dirty="0">
                <a:latin typeface="仿宋" panose="02010609060101010101" pitchFamily="49" charset="-122"/>
                <a:ea typeface="仿宋" panose="02010609060101010101" pitchFamily="49" charset="-122"/>
                <a:cs typeface="Times New Roman" pitchFamily="18" charset="0"/>
              </a:rPr>
              <a:t>本实验室为</a:t>
            </a:r>
            <a:r>
              <a:rPr lang="en-US" altLang="zh-CN" sz="2800" dirty="0">
                <a:solidFill>
                  <a:srgbClr val="FF0000"/>
                </a:solidFill>
                <a:latin typeface="仿宋" panose="02010609060101010101" pitchFamily="49" charset="-122"/>
                <a:ea typeface="仿宋" panose="02010609060101010101" pitchFamily="49" charset="-122"/>
                <a:cs typeface="Times New Roman" pitchFamily="18" charset="0"/>
              </a:rPr>
              <a:t>24</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小时运行</a:t>
            </a:r>
            <a:r>
              <a:rPr lang="zh-CN" altLang="en-US" sz="2800" dirty="0">
                <a:latin typeface="仿宋" panose="02010609060101010101" pitchFamily="49" charset="-122"/>
                <a:ea typeface="仿宋" panose="02010609060101010101" pitchFamily="49" charset="-122"/>
                <a:cs typeface="Times New Roman" pitchFamily="18" charset="0"/>
              </a:rPr>
              <a:t>，开放规则如下：</a:t>
            </a:r>
            <a:endParaRPr lang="en-US" altLang="zh-CN" sz="2800" dirty="0">
              <a:latin typeface="仿宋" panose="02010609060101010101" pitchFamily="49" charset="-122"/>
              <a:ea typeface="仿宋" panose="02010609060101010101" pitchFamily="49" charset="-122"/>
              <a:cs typeface="Times New Roman" pitchFamily="18" charset="0"/>
            </a:endParaRPr>
          </a:p>
          <a:p>
            <a:pPr marL="0" indent="0" eaLnBrk="0" hangingPunct="0">
              <a:lnSpc>
                <a:spcPct val="150000"/>
              </a:lnSpc>
              <a:buNone/>
            </a:pPr>
            <a:r>
              <a:rPr lang="en-US" altLang="zh-CN" sz="2800" dirty="0">
                <a:latin typeface="仿宋" panose="02010609060101010101" pitchFamily="49" charset="-122"/>
                <a:ea typeface="仿宋" panose="02010609060101010101" pitchFamily="49" charset="-122"/>
                <a:cs typeface="Times New Roman" pitchFamily="18" charset="0"/>
              </a:rPr>
              <a:t>   </a:t>
            </a:r>
            <a:r>
              <a:rPr lang="zh-CN" altLang="en-US" sz="2800" dirty="0">
                <a:latin typeface="仿宋" panose="02010609060101010101" pitchFamily="49" charset="-122"/>
                <a:ea typeface="仿宋" panose="02010609060101010101" pitchFamily="49" charset="-122"/>
                <a:cs typeface="Times New Roman" pitchFamily="18" charset="0"/>
              </a:rPr>
              <a:t>为保障实验室有效开放服务，对校内外用户实行</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分级管理</a:t>
            </a:r>
            <a:r>
              <a:rPr lang="zh-CN" altLang="en-US" sz="2800" dirty="0">
                <a:latin typeface="仿宋" panose="02010609060101010101" pitchFamily="49" charset="-122"/>
                <a:ea typeface="仿宋" panose="02010609060101010101" pitchFamily="49" charset="-122"/>
                <a:cs typeface="Times New Roman" pitchFamily="18" charset="0"/>
              </a:rPr>
              <a:t>，分为普通用户和高级用户。通过培训获得相应许可的用户才能进入实验室并预约使用设备。</a:t>
            </a:r>
            <a:endParaRPr lang="en-US" altLang="zh-CN" sz="2800" dirty="0">
              <a:latin typeface="仿宋" panose="02010609060101010101" pitchFamily="49" charset="-122"/>
              <a:ea typeface="仿宋" panose="02010609060101010101" pitchFamily="49" charset="-122"/>
              <a:cs typeface="Times New Roman" pitchFamily="18" charset="0"/>
            </a:endParaRPr>
          </a:p>
          <a:p>
            <a:pPr marL="342900" indent="-342900" eaLnBrk="0" hangingPunct="0">
              <a:lnSpc>
                <a:spcPct val="150000"/>
              </a:lnSpc>
              <a:buFont typeface="+mj-ea"/>
              <a:buAutoNum type="circleNumDbPlain" startAt="2"/>
            </a:pPr>
            <a:r>
              <a:rPr lang="zh-CN" altLang="en-US" sz="2800" dirty="0">
                <a:latin typeface="仿宋" panose="02010609060101010101" pitchFamily="49" charset="-122"/>
                <a:ea typeface="仿宋" panose="02010609060101010101" pitchFamily="49" charset="-122"/>
                <a:cs typeface="Times New Roman" pitchFamily="18" charset="0"/>
              </a:rPr>
              <a:t>普通用户：工作日</a:t>
            </a:r>
            <a:r>
              <a:rPr lang="en-US" altLang="zh-CN" sz="2800" dirty="0">
                <a:latin typeface="仿宋" panose="02010609060101010101" pitchFamily="49" charset="-122"/>
                <a:ea typeface="仿宋" panose="02010609060101010101" pitchFamily="49" charset="-122"/>
                <a:cs typeface="Times New Roman" pitchFamily="18" charset="0"/>
              </a:rPr>
              <a:t>8:00——22:00</a:t>
            </a:r>
            <a:r>
              <a:rPr lang="zh-CN" altLang="en-US" sz="2800" dirty="0">
                <a:latin typeface="仿宋" panose="02010609060101010101" pitchFamily="49" charset="-122"/>
                <a:ea typeface="仿宋" panose="02010609060101010101" pitchFamily="49" charset="-122"/>
                <a:cs typeface="Times New Roman" pitchFamily="18" charset="0"/>
              </a:rPr>
              <a:t>、周末</a:t>
            </a:r>
            <a:r>
              <a:rPr lang="en-US" altLang="zh-CN" sz="2800" dirty="0">
                <a:latin typeface="仿宋" panose="02010609060101010101" pitchFamily="49" charset="-122"/>
                <a:ea typeface="仿宋" panose="02010609060101010101" pitchFamily="49" charset="-122"/>
                <a:cs typeface="Times New Roman" pitchFamily="18" charset="0"/>
              </a:rPr>
              <a:t>8:00——17:00</a:t>
            </a:r>
          </a:p>
          <a:p>
            <a:pPr marL="342900" indent="-342900" eaLnBrk="0" hangingPunct="0">
              <a:lnSpc>
                <a:spcPct val="150000"/>
              </a:lnSpc>
              <a:buFont typeface="+mj-ea"/>
              <a:buAutoNum type="circleNumDbPlain" startAt="3"/>
            </a:pPr>
            <a:r>
              <a:rPr lang="zh-CN" altLang="en-US" sz="2800" dirty="0">
                <a:latin typeface="仿宋" panose="02010609060101010101" pitchFamily="49" charset="-122"/>
                <a:ea typeface="仿宋" panose="02010609060101010101" pitchFamily="49" charset="-122"/>
                <a:cs typeface="Times New Roman" pitchFamily="18" charset="0"/>
              </a:rPr>
              <a:t>高级用户：无时间限制</a:t>
            </a:r>
            <a:endParaRPr lang="en-US" altLang="zh-CN" sz="2800" dirty="0">
              <a:latin typeface="仿宋" panose="02010609060101010101" pitchFamily="49" charset="-122"/>
              <a:ea typeface="仿宋" panose="02010609060101010101" pitchFamily="49" charset="-122"/>
              <a:cs typeface="Times New Roman" pitchFamily="18" charset="0"/>
            </a:endParaRPr>
          </a:p>
          <a:p>
            <a:pPr eaLnBrk="0" hangingPunct="0">
              <a:lnSpc>
                <a:spcPct val="150000"/>
              </a:lnSpc>
            </a:pPr>
            <a:r>
              <a:rPr lang="zh-CN" altLang="en-US" sz="2800" dirty="0">
                <a:latin typeface="仿宋" panose="02010609060101010101" pitchFamily="49" charset="-122"/>
                <a:ea typeface="仿宋" panose="02010609060101010101" pitchFamily="49" charset="-122"/>
                <a:cs typeface="Times New Roman" pitchFamily="18" charset="0"/>
              </a:rPr>
              <a:t>注：工作日</a:t>
            </a:r>
            <a:r>
              <a:rPr lang="en-US" altLang="zh-CN" sz="2800" dirty="0">
                <a:latin typeface="仿宋" panose="02010609060101010101" pitchFamily="49" charset="-122"/>
                <a:ea typeface="仿宋" panose="02010609060101010101" pitchFamily="49" charset="-122"/>
                <a:cs typeface="Times New Roman" pitchFamily="18" charset="0"/>
              </a:rPr>
              <a:t>22</a:t>
            </a:r>
            <a:r>
              <a:rPr lang="zh-CN" altLang="en-US" sz="2800" dirty="0">
                <a:latin typeface="仿宋" panose="02010609060101010101" pitchFamily="49" charset="-122"/>
                <a:ea typeface="仿宋" panose="02010609060101010101" pitchFamily="49" charset="-122"/>
                <a:cs typeface="Times New Roman" pitchFamily="18" charset="0"/>
              </a:rPr>
              <a:t>：</a:t>
            </a:r>
            <a:r>
              <a:rPr lang="en-US" altLang="zh-CN" sz="2800" dirty="0">
                <a:latin typeface="仿宋" panose="02010609060101010101" pitchFamily="49" charset="-122"/>
                <a:ea typeface="仿宋" panose="02010609060101010101" pitchFamily="49" charset="-122"/>
                <a:cs typeface="Times New Roman" pitchFamily="18" charset="0"/>
              </a:rPr>
              <a:t>00——</a:t>
            </a:r>
            <a:r>
              <a:rPr lang="zh-CN" altLang="en-US" sz="2800" dirty="0">
                <a:latin typeface="仿宋" panose="02010609060101010101" pitchFamily="49" charset="-122"/>
                <a:ea typeface="仿宋" panose="02010609060101010101" pitchFamily="49" charset="-122"/>
                <a:cs typeface="Times New Roman" pitchFamily="18" charset="0"/>
              </a:rPr>
              <a:t>次日</a:t>
            </a:r>
            <a:r>
              <a:rPr lang="en-US" altLang="zh-CN" sz="2800" dirty="0">
                <a:latin typeface="仿宋" panose="02010609060101010101" pitchFamily="49" charset="-122"/>
                <a:ea typeface="仿宋" panose="02010609060101010101" pitchFamily="49" charset="-122"/>
                <a:cs typeface="Times New Roman" pitchFamily="18" charset="0"/>
              </a:rPr>
              <a:t>8</a:t>
            </a:r>
            <a:r>
              <a:rPr lang="zh-CN" altLang="en-US" sz="2800" dirty="0">
                <a:latin typeface="仿宋" panose="02010609060101010101" pitchFamily="49" charset="-122"/>
                <a:ea typeface="仿宋" panose="02010609060101010101" pitchFamily="49" charset="-122"/>
                <a:cs typeface="Times New Roman" pitchFamily="18" charset="0"/>
              </a:rPr>
              <a:t>：</a:t>
            </a:r>
            <a:r>
              <a:rPr lang="en-US" altLang="zh-CN" sz="2800" dirty="0">
                <a:latin typeface="仿宋" panose="02010609060101010101" pitchFamily="49" charset="-122"/>
                <a:ea typeface="仿宋" panose="02010609060101010101" pitchFamily="49" charset="-122"/>
                <a:cs typeface="Times New Roman" pitchFamily="18" charset="0"/>
              </a:rPr>
              <a:t>00</a:t>
            </a:r>
            <a:r>
              <a:rPr lang="zh-CN" altLang="en-US" sz="2800" dirty="0">
                <a:latin typeface="仿宋" panose="02010609060101010101" pitchFamily="49" charset="-122"/>
                <a:ea typeface="仿宋" panose="02010609060101010101" pitchFamily="49" charset="-122"/>
                <a:cs typeface="Times New Roman" pitchFamily="18" charset="0"/>
              </a:rPr>
              <a:t>、周末</a:t>
            </a:r>
            <a:r>
              <a:rPr lang="en-US" altLang="zh-CN" sz="2800" dirty="0">
                <a:latin typeface="仿宋" panose="02010609060101010101" pitchFamily="49" charset="-122"/>
                <a:ea typeface="仿宋" panose="02010609060101010101" pitchFamily="49" charset="-122"/>
                <a:cs typeface="Times New Roman" pitchFamily="18" charset="0"/>
              </a:rPr>
              <a:t>17:00——</a:t>
            </a:r>
            <a:r>
              <a:rPr lang="zh-CN" altLang="en-US" sz="2800" dirty="0">
                <a:latin typeface="仿宋" panose="02010609060101010101" pitchFamily="49" charset="-122"/>
                <a:ea typeface="仿宋" panose="02010609060101010101" pitchFamily="49" charset="-122"/>
                <a:cs typeface="Times New Roman" pitchFamily="18" charset="0"/>
              </a:rPr>
              <a:t>次日</a:t>
            </a:r>
            <a:r>
              <a:rPr lang="en-US" altLang="zh-CN" sz="2800" dirty="0">
                <a:latin typeface="仿宋" panose="02010609060101010101" pitchFamily="49" charset="-122"/>
                <a:ea typeface="仿宋" panose="02010609060101010101" pitchFamily="49" charset="-122"/>
                <a:cs typeface="Times New Roman" pitchFamily="18" charset="0"/>
              </a:rPr>
              <a:t>8</a:t>
            </a:r>
            <a:r>
              <a:rPr lang="zh-CN" altLang="en-US" sz="2800" dirty="0">
                <a:latin typeface="仿宋" panose="02010609060101010101" pitchFamily="49" charset="-122"/>
                <a:ea typeface="仿宋" panose="02010609060101010101" pitchFamily="49" charset="-122"/>
                <a:cs typeface="Times New Roman" pitchFamily="18" charset="0"/>
              </a:rPr>
              <a:t>：</a:t>
            </a:r>
            <a:r>
              <a:rPr lang="en-US" altLang="zh-CN" sz="2800" dirty="0">
                <a:latin typeface="仿宋" panose="02010609060101010101" pitchFamily="49" charset="-122"/>
                <a:ea typeface="仿宋" panose="02010609060101010101" pitchFamily="49" charset="-122"/>
                <a:cs typeface="Times New Roman" pitchFamily="18" charset="0"/>
              </a:rPr>
              <a:t>00</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仅允许</a:t>
            </a:r>
            <a:r>
              <a:rPr lang="zh-CN" altLang="en-US" sz="2800" dirty="0">
                <a:latin typeface="仿宋" panose="02010609060101010101" pitchFamily="49" charset="-122"/>
                <a:ea typeface="仿宋" panose="02010609060101010101" pitchFamily="49" charset="-122"/>
                <a:cs typeface="Times New Roman" pitchFamily="18" charset="0"/>
              </a:rPr>
              <a:t>高级用户进入实验室，普通用户</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禁止</a:t>
            </a:r>
            <a:r>
              <a:rPr lang="zh-CN" altLang="en-US" sz="2800" dirty="0">
                <a:latin typeface="仿宋" panose="02010609060101010101" pitchFamily="49" charset="-122"/>
                <a:ea typeface="仿宋" panose="02010609060101010101" pitchFamily="49" charset="-122"/>
                <a:cs typeface="Times New Roman" pitchFamily="18" charset="0"/>
              </a:rPr>
              <a:t>进入超净实验室。</a:t>
            </a:r>
            <a:endParaRPr lang="en-US" altLang="zh-CN" sz="2800" dirty="0">
              <a:latin typeface="仿宋" panose="02010609060101010101" pitchFamily="49" charset="-122"/>
              <a:ea typeface="仿宋" panose="02010609060101010101" pitchFamily="49" charset="-122"/>
              <a:cs typeface="Times New Roman" pitchFamily="18" charset="0"/>
            </a:endParaRPr>
          </a:p>
          <a:p>
            <a:pPr eaLnBrk="0" hangingPunct="0">
              <a:lnSpc>
                <a:spcPct val="150000"/>
              </a:lnSpc>
            </a:pPr>
            <a:r>
              <a:rPr lang="zh-CN" altLang="en-US" sz="2800" dirty="0">
                <a:latin typeface="仿宋" panose="02010609060101010101" pitchFamily="49" charset="-122"/>
                <a:ea typeface="仿宋" panose="02010609060101010101" pitchFamily="49" charset="-122"/>
                <a:cs typeface="Times New Roman" pitchFamily="18" charset="0"/>
              </a:rPr>
              <a:t>注：所有用户在工作日</a:t>
            </a:r>
            <a:r>
              <a:rPr lang="en-US" altLang="zh-CN" sz="2800" dirty="0">
                <a:latin typeface="仿宋" panose="02010609060101010101" pitchFamily="49" charset="-122"/>
                <a:ea typeface="仿宋" panose="02010609060101010101" pitchFamily="49" charset="-122"/>
                <a:cs typeface="Times New Roman" pitchFamily="18" charset="0"/>
              </a:rPr>
              <a:t>17:00</a:t>
            </a:r>
            <a:r>
              <a:rPr lang="zh-CN" altLang="en-US" sz="2800" dirty="0">
                <a:latin typeface="仿宋" panose="02010609060101010101" pitchFamily="49" charset="-122"/>
                <a:ea typeface="仿宋" panose="02010609060101010101" pitchFamily="49" charset="-122"/>
                <a:cs typeface="Times New Roman" pitchFamily="18" charset="0"/>
              </a:rPr>
              <a:t>后及周末进出超净间的请在</a:t>
            </a:r>
            <a:r>
              <a:rPr lang="en-US" altLang="zh-CN" sz="2800" dirty="0">
                <a:solidFill>
                  <a:srgbClr val="FF0000"/>
                </a:solidFill>
                <a:latin typeface="仿宋" panose="02010609060101010101" pitchFamily="49" charset="-122"/>
                <a:ea typeface="仿宋" panose="02010609060101010101" pitchFamily="49" charset="-122"/>
                <a:cs typeface="Times New Roman" pitchFamily="18" charset="0"/>
              </a:rPr>
              <a:t>《</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非工作时间进出实验室登记表</a:t>
            </a:r>
            <a:r>
              <a:rPr lang="en-US" altLang="zh-CN" sz="2800" dirty="0">
                <a:solidFill>
                  <a:srgbClr val="FF0000"/>
                </a:solidFill>
                <a:latin typeface="仿宋" panose="02010609060101010101" pitchFamily="49" charset="-122"/>
                <a:ea typeface="仿宋" panose="02010609060101010101" pitchFamily="49" charset="-122"/>
                <a:cs typeface="Times New Roman" pitchFamily="18" charset="0"/>
              </a:rPr>
              <a:t>》</a:t>
            </a:r>
            <a:r>
              <a:rPr lang="zh-CN" altLang="en-US" sz="2800" dirty="0">
                <a:solidFill>
                  <a:srgbClr val="FF0000"/>
                </a:solidFill>
                <a:latin typeface="仿宋" panose="02010609060101010101" pitchFamily="49" charset="-122"/>
                <a:ea typeface="仿宋" panose="02010609060101010101" pitchFamily="49" charset="-122"/>
                <a:cs typeface="Times New Roman" pitchFamily="18" charset="0"/>
              </a:rPr>
              <a:t>登记。</a:t>
            </a:r>
            <a:endParaRPr lang="en-US" altLang="zh-CN" sz="2800" dirty="0">
              <a:solidFill>
                <a:srgbClr val="FF0000"/>
              </a:solidFill>
              <a:latin typeface="仿宋" panose="02010609060101010101" pitchFamily="49" charset="-122"/>
              <a:ea typeface="仿宋" panose="02010609060101010101" pitchFamily="49" charset="-122"/>
              <a:cs typeface="Times New Roman" pitchFamily="18" charset="0"/>
            </a:endParaRPr>
          </a:p>
        </p:txBody>
      </p:sp>
      <p:sp>
        <p:nvSpPr>
          <p:cNvPr id="5" name="文本框 4"/>
          <p:cNvSpPr txBox="1"/>
          <p:nvPr/>
        </p:nvSpPr>
        <p:spPr>
          <a:xfrm>
            <a:off x="0" y="1669539"/>
            <a:ext cx="3877985" cy="830997"/>
          </a:xfrm>
          <a:prstGeom prst="rect">
            <a:avLst/>
          </a:prstGeom>
          <a:noFill/>
        </p:spPr>
        <p:txBody>
          <a:bodyPr wrap="none" rtlCol="0">
            <a:spAutoFit/>
          </a:bodyPr>
          <a:lstStyle/>
          <a:p>
            <a:pPr marL="571500" indent="-571500">
              <a:lnSpc>
                <a:spcPct val="150000"/>
              </a:lnSpc>
              <a:buFont typeface="+mj-ea"/>
              <a:buAutoNum type="ea1JpnChsDbPeriod"/>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实验室开放时间</a:t>
            </a:r>
            <a:endPar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3214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15</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内容占位符 6"/>
          <p:cNvSpPr>
            <a:spLocks noGrp="1"/>
          </p:cNvSpPr>
          <p:nvPr>
            <p:ph sz="quarter" idx="1"/>
          </p:nvPr>
        </p:nvSpPr>
        <p:spPr>
          <a:xfrm>
            <a:off x="237704" y="2356520"/>
            <a:ext cx="12385376" cy="6336704"/>
          </a:xfrm>
        </p:spPr>
        <p:txBody>
          <a:bodyPr/>
          <a:lstStyle/>
          <a:p>
            <a:pPr marL="0" indent="0">
              <a:buNone/>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申请成为实验室用户流程：</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buFont typeface="+mj-ea"/>
              <a:buAutoNum type="circleNumDbPlain"/>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外单位用户需先签订</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仪器服务合同</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，交平台办公室</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103</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室（窦维治老师）。</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buFont typeface="+mj-ea"/>
              <a:buAutoNum type="circleNumDbPlain"/>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校内外人员在实验室网站（</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tnf.ime.tsinghua.edu.cn</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）下载并填写</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用户申请表</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，交平台办公室</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105</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房间 ：杨老师（电话：</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13426433670</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buFont typeface="+mj-ea"/>
              <a:buAutoNum type="circleNumDbPlain"/>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参加实验室安全培训及考试。</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buFont typeface="+mj-ea"/>
              <a:buAutoNum type="circleNumDbPlain"/>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考试成绩</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85</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分及格（满分</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100</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分）。通过安全培训考试后成为</a:t>
            </a: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普通用户</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仿宋" panose="02010609060101010101" pitchFamily="49" charset="-122"/>
                <a:cs typeface="Times New Roman" panose="02020603050405020304" pitchFamily="18" charset="0"/>
              </a:rPr>
              <a:t>注：普通用户可进入洁净室，</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但未经相应设备培训</a:t>
            </a:r>
            <a:r>
              <a:rPr lang="en-US" altLang="zh-CN"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操作考核禁止操作该设备</a:t>
            </a:r>
            <a:r>
              <a:rPr lang="zh-CN" altLang="en-US" sz="24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endParaRPr>
          </a:p>
          <a:p>
            <a:pPr marL="342900" indent="-342900">
              <a:buFont typeface="+mj-ea"/>
              <a:buAutoNum type="circleNumDbPlain"/>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普通用户一年内实验室工作时间大于等于</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50</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小时、一年内独立操作设备机时大于等于</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40</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小时、无违规记录；提出高级用户需求并且通过</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高级用户考试</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，经审核后成为</a:t>
            </a: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高级用户</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0" indent="0">
              <a:buNone/>
            </a:pPr>
            <a:endParaRPr lang="en-US" altLang="zh-CN" sz="1800" dirty="0">
              <a:latin typeface="+mn-ea"/>
            </a:endParaRPr>
          </a:p>
        </p:txBody>
      </p:sp>
      <p:pic>
        <p:nvPicPr>
          <p:cNvPr id="7" name="图片 6">
            <a:extLst>
              <a:ext uri="{FF2B5EF4-FFF2-40B4-BE49-F238E27FC236}">
                <a16:creationId xmlns:a16="http://schemas.microsoft.com/office/drawing/2014/main" id="{D40B10C7-E76F-4A3F-B2F2-9BBC1EDE19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0634" y="7434535"/>
            <a:ext cx="7056784" cy="2266801"/>
          </a:xfrm>
          <a:prstGeom prst="rect">
            <a:avLst/>
          </a:prstGeom>
        </p:spPr>
      </p:pic>
      <p:sp>
        <p:nvSpPr>
          <p:cNvPr id="3" name="矩形 2"/>
          <p:cNvSpPr/>
          <p:nvPr/>
        </p:nvSpPr>
        <p:spPr>
          <a:xfrm>
            <a:off x="0" y="1572804"/>
            <a:ext cx="5929828" cy="830997"/>
          </a:xfrm>
          <a:prstGeom prst="rect">
            <a:avLst/>
          </a:prstGeom>
        </p:spPr>
        <p:txBody>
          <a:bodyPr wrap="none">
            <a:spAutoFit/>
          </a:bodyPr>
          <a:lstStyle/>
          <a:p>
            <a:pPr marL="571500" indent="-571500">
              <a:lnSpc>
                <a:spcPct val="150000"/>
              </a:lnSpc>
              <a:buFont typeface="+mj-ea"/>
              <a:buAutoNum type="ea1JpnChsDbPeriod" startAt="2"/>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实验室用户申请及分级管理</a:t>
            </a:r>
            <a:endPar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96055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solidFill>
                  <a:prstClr val="black"/>
                </a:solidFill>
              </a:rPr>
              <a:pPr/>
              <a:t>16</a:t>
            </a:fld>
            <a:endParaRPr lang="zh-CN" altLang="en-US" dirty="0">
              <a:solidFill>
                <a:prstClr val="black"/>
              </a:solidFill>
            </a:endParaRPr>
          </a:p>
        </p:txBody>
      </p:sp>
      <p:sp>
        <p:nvSpPr>
          <p:cNvPr id="7" name="内容占位符 3">
            <a:extLst>
              <a:ext uri="{FF2B5EF4-FFF2-40B4-BE49-F238E27FC236}">
                <a16:creationId xmlns:a16="http://schemas.microsoft.com/office/drawing/2014/main" id="{95A7CF06-B69B-4290-A95B-B7F795866559}"/>
              </a:ext>
            </a:extLst>
          </p:cNvPr>
          <p:cNvSpPr txBox="1">
            <a:spLocks/>
          </p:cNvSpPr>
          <p:nvPr/>
        </p:nvSpPr>
        <p:spPr>
          <a:xfrm>
            <a:off x="307604" y="2596795"/>
            <a:ext cx="6764708" cy="6996924"/>
          </a:xfrm>
          <a:prstGeom prst="rect">
            <a:avLst/>
          </a:prstGeom>
        </p:spPr>
        <p:txBody>
          <a:bodyPr vert="horz">
            <a:normAutofit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indent="-514350" defTabSz="914400" fontAlgn="auto">
              <a:lnSpc>
                <a:spcPct val="150000"/>
              </a:lnSpc>
              <a:spcAft>
                <a:spcPts val="0"/>
              </a:spcAft>
              <a:buClr>
                <a:srgbClr val="FF0000"/>
              </a:buClr>
              <a:buFont typeface="+mj-ea"/>
              <a:buAutoNum type="circleNumDbPlain"/>
            </a:pP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自</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2019</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年起，微纳加工平台用户进入实验室前必须签订</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实验室安全承诺书</a:t>
            </a:r>
            <a:r>
              <a:rPr lang="en-US"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。承诺书要求进入实验室的用户严格遵守实验室相关规定，高度重视实验室安全，杜绝违纪行为，防止重大责任事故发生。</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安全承诺书有效期为一年（自然年），</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每年</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月</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日需要重新签订。</a:t>
            </a:r>
          </a:p>
          <a:p>
            <a:pPr marL="514350" indent="-514350" defTabSz="914400" fontAlgn="auto">
              <a:lnSpc>
                <a:spcPct val="150000"/>
              </a:lnSpc>
              <a:spcAft>
                <a:spcPts val="0"/>
              </a:spcAft>
              <a:buClr>
                <a:srgbClr val="FF0000"/>
              </a:buClr>
              <a:buFont typeface="+mj-ea"/>
              <a:buAutoNum type="circleNumDbPlain"/>
            </a:pP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用户可在网站上（</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tnf.ime.tsinghua.edu.cn</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）管理制度里下载</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安全承诺书</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或到微电子所（新所）</a:t>
            </a:r>
            <a:r>
              <a:rPr lang="en-US" altLang="zh-CN"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105</a:t>
            </a: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房间领取。</a:t>
            </a:r>
          </a:p>
        </p:txBody>
      </p:sp>
      <p:pic>
        <p:nvPicPr>
          <p:cNvPr id="5" name="图片 4"/>
          <p:cNvPicPr>
            <a:picLocks noChangeAspect="1"/>
          </p:cNvPicPr>
          <p:nvPr/>
        </p:nvPicPr>
        <p:blipFill>
          <a:blip r:embed="rId2"/>
          <a:stretch>
            <a:fillRect/>
          </a:stretch>
        </p:blipFill>
        <p:spPr>
          <a:xfrm>
            <a:off x="7150472" y="1828960"/>
            <a:ext cx="5832648" cy="7764759"/>
          </a:xfrm>
          <a:prstGeom prst="rect">
            <a:avLst/>
          </a:prstGeom>
        </p:spPr>
      </p:pic>
      <p:sp>
        <p:nvSpPr>
          <p:cNvPr id="8" name="标题 3"/>
          <p:cNvSpPr>
            <a:spLocks noGrp="1"/>
          </p:cNvSpPr>
          <p:nvPr>
            <p:ph type="title"/>
          </p:nvPr>
        </p:nvSpPr>
        <p:spPr/>
        <p:txBody>
          <a:bodyPr/>
          <a:lstStyle/>
          <a:p>
            <a:r>
              <a:rPr lang="zh-CN" altLang="en-US" dirty="0"/>
              <a:t>实验室管理规定</a:t>
            </a:r>
          </a:p>
        </p:txBody>
      </p:sp>
      <p:sp>
        <p:nvSpPr>
          <p:cNvPr id="6" name="矩形 5"/>
          <p:cNvSpPr/>
          <p:nvPr/>
        </p:nvSpPr>
        <p:spPr>
          <a:xfrm>
            <a:off x="0" y="1765798"/>
            <a:ext cx="5929828" cy="830997"/>
          </a:xfrm>
          <a:prstGeom prst="rect">
            <a:avLst/>
          </a:prstGeom>
        </p:spPr>
        <p:txBody>
          <a:bodyPr wrap="none">
            <a:spAutoFit/>
          </a:bodyPr>
          <a:lstStyle/>
          <a:p>
            <a:pPr marL="571500" indent="-571500">
              <a:lnSpc>
                <a:spcPct val="150000"/>
              </a:lnSpc>
              <a:buFont typeface="+mj-ea"/>
              <a:buAutoNum type="ea1JpnChsDbPeriod" startAt="3"/>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签订</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实验室安全承诺书</a:t>
            </a:r>
            <a:r>
              <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3993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17</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0" y="1672414"/>
            <a:ext cx="5519460" cy="737510"/>
          </a:xfrm>
          <a:prstGeom prst="rect">
            <a:avLst/>
          </a:prstGeom>
        </p:spPr>
        <p:txBody>
          <a:bodyPr wrap="none">
            <a:spAutoFit/>
          </a:bodyPr>
          <a:lstStyle/>
          <a:p>
            <a:pPr marL="571500" indent="-571500">
              <a:lnSpc>
                <a:spcPct val="150000"/>
              </a:lnSpc>
              <a:buFont typeface="+mj-ea"/>
              <a:buAutoNum type="ea1JpnChsDbPeriod" startAt="4"/>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进出超净实验室相关规定</a:t>
            </a:r>
          </a:p>
        </p:txBody>
      </p:sp>
      <p:sp>
        <p:nvSpPr>
          <p:cNvPr id="8" name="矩形 7"/>
          <p:cNvSpPr/>
          <p:nvPr/>
        </p:nvSpPr>
        <p:spPr>
          <a:xfrm>
            <a:off x="331392" y="2539445"/>
            <a:ext cx="12291688" cy="5909310"/>
          </a:xfrm>
          <a:prstGeom prst="rect">
            <a:avLst/>
          </a:prstGeom>
        </p:spPr>
        <p:txBody>
          <a:bodyPr wrap="square">
            <a:spAutoFit/>
          </a:bodyPr>
          <a:lstStyle/>
          <a:p>
            <a:pPr marL="342900" indent="-342900" algn="l">
              <a:lnSpc>
                <a:spcPct val="150000"/>
              </a:lnSpc>
              <a:buFont typeface="+mj-ea"/>
              <a:buAutoNum type="circleNumDbPlain"/>
              <a:defRPr/>
            </a:pPr>
            <a:r>
              <a:rPr lang="en-US" altLang="zh-CN" sz="2800" dirty="0">
                <a:solidFill>
                  <a:schemeClr val="tx1"/>
                </a:solidFill>
                <a:latin typeface="仿宋" panose="02010609060101010101" pitchFamily="49" charset="-122"/>
                <a:ea typeface="仿宋" panose="02010609060101010101" pitchFamily="49" charset="-122"/>
              </a:rPr>
              <a:t> </a:t>
            </a:r>
            <a:r>
              <a:rPr lang="zh-CN" altLang="zh-CN" sz="2800" dirty="0">
                <a:solidFill>
                  <a:schemeClr val="tx1"/>
                </a:solidFill>
                <a:latin typeface="仿宋" panose="02010609060101010101" pitchFamily="49" charset="-122"/>
                <a:ea typeface="仿宋" panose="02010609060101010101" pitchFamily="49" charset="-122"/>
              </a:rPr>
              <a:t>通过培训</a:t>
            </a:r>
            <a:r>
              <a:rPr lang="zh-CN" altLang="en-US" sz="2800" dirty="0">
                <a:solidFill>
                  <a:schemeClr val="tx1"/>
                </a:solidFill>
                <a:latin typeface="仿宋" panose="02010609060101010101" pitchFamily="49" charset="-122"/>
                <a:ea typeface="仿宋" panose="02010609060101010101" pitchFamily="49" charset="-122"/>
              </a:rPr>
              <a:t>并考试合格，签订</a:t>
            </a:r>
            <a:r>
              <a:rPr lang="en-US" altLang="zh-CN" sz="2800" dirty="0">
                <a:solidFill>
                  <a:schemeClr val="tx1"/>
                </a:solidFill>
                <a:latin typeface="仿宋" panose="02010609060101010101" pitchFamily="49" charset="-122"/>
                <a:ea typeface="仿宋" panose="02010609060101010101" pitchFamily="49" charset="-122"/>
              </a:rPr>
              <a:t>《</a:t>
            </a:r>
            <a:r>
              <a:rPr lang="zh-CN" altLang="en-US" sz="2800" dirty="0">
                <a:solidFill>
                  <a:schemeClr val="tx1"/>
                </a:solidFill>
                <a:latin typeface="仿宋" panose="02010609060101010101" pitchFamily="49" charset="-122"/>
                <a:ea typeface="仿宋" panose="02010609060101010101" pitchFamily="49" charset="-122"/>
              </a:rPr>
              <a:t>实验室安全承诺书</a:t>
            </a:r>
            <a:r>
              <a:rPr lang="en-US" altLang="zh-CN" sz="2800" dirty="0">
                <a:solidFill>
                  <a:schemeClr val="tx1"/>
                </a:solidFill>
                <a:latin typeface="仿宋" panose="02010609060101010101" pitchFamily="49" charset="-122"/>
                <a:ea typeface="仿宋" panose="02010609060101010101" pitchFamily="49" charset="-122"/>
              </a:rPr>
              <a:t>》</a:t>
            </a:r>
            <a:r>
              <a:rPr lang="zh-CN" altLang="zh-CN" sz="2800" dirty="0">
                <a:solidFill>
                  <a:schemeClr val="tx1"/>
                </a:solidFill>
                <a:latin typeface="仿宋" panose="02010609060101010101" pitchFamily="49" charset="-122"/>
                <a:ea typeface="仿宋" panose="02010609060101010101" pitchFamily="49" charset="-122"/>
              </a:rPr>
              <a:t>后</a:t>
            </a:r>
            <a:r>
              <a:rPr lang="zh-CN" altLang="en-US" sz="2800" dirty="0">
                <a:solidFill>
                  <a:schemeClr val="tx1"/>
                </a:solidFill>
                <a:latin typeface="仿宋" panose="02010609060101010101" pitchFamily="49" charset="-122"/>
                <a:ea typeface="仿宋" panose="02010609060101010101" pitchFamily="49" charset="-122"/>
              </a:rPr>
              <a:t>成为实验室</a:t>
            </a:r>
            <a:r>
              <a:rPr lang="zh-CN" altLang="zh-CN" sz="2800" dirty="0">
                <a:solidFill>
                  <a:schemeClr val="tx1"/>
                </a:solidFill>
                <a:latin typeface="仿宋" panose="02010609060101010101" pitchFamily="49" charset="-122"/>
                <a:ea typeface="仿宋" panose="02010609060101010101" pitchFamily="49" charset="-122"/>
              </a:rPr>
              <a:t>的有效</a:t>
            </a:r>
            <a:r>
              <a:rPr lang="zh-CN" altLang="en-US" sz="2800" dirty="0">
                <a:solidFill>
                  <a:schemeClr val="tx1"/>
                </a:solidFill>
                <a:latin typeface="仿宋" panose="02010609060101010101" pitchFamily="49" charset="-122"/>
                <a:ea typeface="仿宋" panose="02010609060101010101" pitchFamily="49" charset="-122"/>
              </a:rPr>
              <a:t>用</a:t>
            </a:r>
            <a:r>
              <a:rPr lang="zh-CN" altLang="zh-CN" sz="2800" dirty="0">
                <a:solidFill>
                  <a:schemeClr val="tx1"/>
                </a:solidFill>
                <a:latin typeface="仿宋" panose="02010609060101010101" pitchFamily="49" charset="-122"/>
                <a:ea typeface="仿宋" panose="02010609060101010101" pitchFamily="49" charset="-122"/>
              </a:rPr>
              <a:t>户</a:t>
            </a:r>
            <a:r>
              <a:rPr lang="zh-CN" altLang="en-US" sz="2800" dirty="0">
                <a:solidFill>
                  <a:schemeClr val="tx1"/>
                </a:solidFill>
                <a:latin typeface="仿宋" panose="02010609060101010101" pitchFamily="49" charset="-122"/>
                <a:ea typeface="仿宋" panose="02010609060101010101" pitchFamily="49" charset="-122"/>
              </a:rPr>
              <a:t>，到</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办公室</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103</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室</a:t>
            </a:r>
            <a:r>
              <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schemeClr val="tx1"/>
                </a:solidFill>
                <a:latin typeface="仿宋" panose="02010609060101010101" pitchFamily="49" charset="-122"/>
                <a:ea typeface="仿宋" panose="02010609060101010101" pitchFamily="49" charset="-122"/>
              </a:rPr>
              <a:t>苏鑫老师办理</a:t>
            </a:r>
            <a:r>
              <a:rPr lang="zh-CN" altLang="en-US" sz="2800" dirty="0">
                <a:solidFill>
                  <a:srgbClr val="FF0000"/>
                </a:solidFill>
                <a:latin typeface="仿宋" panose="02010609060101010101" pitchFamily="49" charset="-122"/>
                <a:ea typeface="仿宋" panose="02010609060101010101" pitchFamily="49" charset="-122"/>
              </a:rPr>
              <a:t>门卡</a:t>
            </a:r>
            <a:r>
              <a:rPr lang="zh-CN" altLang="en-US" sz="2800" dirty="0">
                <a:solidFill>
                  <a:schemeClr val="tx1"/>
                </a:solidFill>
                <a:latin typeface="仿宋" panose="02010609060101010101" pitchFamily="49" charset="-122"/>
                <a:ea typeface="仿宋" panose="02010609060101010101" pitchFamily="49" charset="-122"/>
              </a:rPr>
              <a:t>，</a:t>
            </a:r>
            <a:r>
              <a:rPr lang="zh-CN" altLang="zh-CN" sz="2800" dirty="0">
                <a:solidFill>
                  <a:schemeClr val="tx1"/>
                </a:solidFill>
                <a:latin typeface="仿宋" panose="02010609060101010101" pitchFamily="49" charset="-122"/>
                <a:ea typeface="仿宋" panose="02010609060101010101" pitchFamily="49" charset="-122"/>
              </a:rPr>
              <a:t>且</a:t>
            </a:r>
            <a:r>
              <a:rPr lang="zh-CN" altLang="en-US" sz="2800" dirty="0">
                <a:solidFill>
                  <a:schemeClr val="tx1"/>
                </a:solidFill>
                <a:latin typeface="仿宋" panose="02010609060101010101" pitchFamily="49" charset="-122"/>
                <a:ea typeface="仿宋" panose="02010609060101010101" pitchFamily="49" charset="-122"/>
              </a:rPr>
              <a:t>将</a:t>
            </a:r>
            <a:r>
              <a:rPr lang="zh-CN" altLang="zh-CN" sz="2800" dirty="0">
                <a:solidFill>
                  <a:schemeClr val="tx1"/>
                </a:solidFill>
                <a:latin typeface="仿宋" panose="02010609060101010101" pitchFamily="49" charset="-122"/>
                <a:ea typeface="仿宋" panose="02010609060101010101" pitchFamily="49" charset="-122"/>
              </a:rPr>
              <a:t>其个人信息录入</a:t>
            </a:r>
            <a:r>
              <a:rPr lang="zh-CN" altLang="en-US" sz="2800" dirty="0">
                <a:solidFill>
                  <a:schemeClr val="tx1"/>
                </a:solidFill>
                <a:latin typeface="仿宋" panose="02010609060101010101" pitchFamily="49" charset="-122"/>
                <a:ea typeface="仿宋" panose="02010609060101010101" pitchFamily="49" charset="-122"/>
              </a:rPr>
              <a:t>实验室</a:t>
            </a:r>
            <a:r>
              <a:rPr lang="zh-CN" altLang="zh-CN" sz="2800" dirty="0">
                <a:solidFill>
                  <a:schemeClr val="tx1"/>
                </a:solidFill>
                <a:latin typeface="仿宋" panose="02010609060101010101" pitchFamily="49" charset="-122"/>
                <a:ea typeface="仿宋" panose="02010609060101010101" pitchFamily="49" charset="-122"/>
              </a:rPr>
              <a:t>用户的数据库</a:t>
            </a:r>
            <a:r>
              <a:rPr lang="zh-CN" altLang="en-US" sz="2800" dirty="0">
                <a:solidFill>
                  <a:schemeClr val="tx1"/>
                </a:solidFill>
                <a:latin typeface="仿宋" panose="02010609060101010101" pitchFamily="49" charset="-122"/>
                <a:ea typeface="仿宋" panose="02010609060101010101" pitchFamily="49" charset="-122"/>
              </a:rPr>
              <a:t>中</a:t>
            </a:r>
            <a:r>
              <a:rPr lang="zh-CN" altLang="zh-CN" sz="2800" dirty="0">
                <a:solidFill>
                  <a:schemeClr val="tx1"/>
                </a:solidFill>
                <a:latin typeface="仿宋" panose="02010609060101010101" pitchFamily="49" charset="-122"/>
                <a:ea typeface="仿宋" panose="02010609060101010101" pitchFamily="49" charset="-122"/>
              </a:rPr>
              <a:t>。用户即可通过门禁系统出入超净实验室。</a:t>
            </a:r>
          </a:p>
          <a:p>
            <a:pPr marL="342900" indent="-342900" algn="l">
              <a:lnSpc>
                <a:spcPct val="150000"/>
              </a:lnSpc>
              <a:buFont typeface="+mj-ea"/>
              <a:buAutoNum type="circleNumDbPlain"/>
              <a:defRPr/>
            </a:pPr>
            <a:r>
              <a:rPr lang="zh-CN" altLang="en-US" sz="2800" dirty="0">
                <a:solidFill>
                  <a:schemeClr val="tx1"/>
                </a:solidFill>
                <a:latin typeface="仿宋" panose="02010609060101010101" pitchFamily="49" charset="-122"/>
                <a:ea typeface="仿宋" panose="02010609060101010101" pitchFamily="49" charset="-122"/>
              </a:rPr>
              <a:t>每位用户</a:t>
            </a:r>
            <a:r>
              <a:rPr lang="zh-CN" altLang="zh-CN" sz="2800" dirty="0">
                <a:solidFill>
                  <a:srgbClr val="FF0000"/>
                </a:solidFill>
                <a:latin typeface="仿宋" panose="02010609060101010101" pitchFamily="49" charset="-122"/>
                <a:ea typeface="仿宋" panose="02010609060101010101" pitchFamily="49" charset="-122"/>
              </a:rPr>
              <a:t>必须</a:t>
            </a:r>
            <a:r>
              <a:rPr lang="zh-CN" altLang="en-US" sz="2800" dirty="0">
                <a:solidFill>
                  <a:srgbClr val="FF0000"/>
                </a:solidFill>
                <a:latin typeface="仿宋" panose="02010609060101010101" pitchFamily="49" charset="-122"/>
                <a:ea typeface="仿宋" panose="02010609060101010101" pitchFamily="49" charset="-122"/>
              </a:rPr>
              <a:t>刷门卡</a:t>
            </a:r>
            <a:r>
              <a:rPr lang="zh-CN" altLang="zh-CN" sz="2800" dirty="0">
                <a:solidFill>
                  <a:schemeClr val="tx1"/>
                </a:solidFill>
                <a:latin typeface="仿宋" panose="02010609060101010101" pitchFamily="49" charset="-122"/>
                <a:ea typeface="仿宋" panose="02010609060101010101" pitchFamily="49" charset="-122"/>
              </a:rPr>
              <a:t>进入</a:t>
            </a:r>
            <a:r>
              <a:rPr lang="zh-CN" altLang="en-US" sz="2800" dirty="0">
                <a:solidFill>
                  <a:schemeClr val="tx1"/>
                </a:solidFill>
                <a:latin typeface="仿宋" panose="02010609060101010101" pitchFamily="49" charset="-122"/>
                <a:ea typeface="仿宋" panose="02010609060101010101" pitchFamily="49" charset="-122"/>
              </a:rPr>
              <a:t>实验室</a:t>
            </a:r>
            <a:r>
              <a:rPr lang="zh-CN" altLang="zh-CN" sz="2800" dirty="0">
                <a:solidFill>
                  <a:schemeClr val="tx1"/>
                </a:solidFill>
                <a:latin typeface="仿宋" panose="02010609060101010101" pitchFamily="49" charset="-122"/>
                <a:ea typeface="仿宋" panose="02010609060101010101" pitchFamily="49" charset="-122"/>
              </a:rPr>
              <a:t>。根据用户的</a:t>
            </a:r>
            <a:r>
              <a:rPr lang="zh-CN" altLang="en-US" sz="2800" dirty="0">
                <a:solidFill>
                  <a:schemeClr val="tx1"/>
                </a:solidFill>
                <a:latin typeface="仿宋" panose="02010609060101010101" pitchFamily="49" charset="-122"/>
                <a:ea typeface="仿宋" panose="02010609060101010101" pitchFamily="49" charset="-122"/>
              </a:rPr>
              <a:t>刷卡记录</a:t>
            </a:r>
            <a:r>
              <a:rPr lang="zh-CN" altLang="zh-CN" sz="2800" dirty="0">
                <a:solidFill>
                  <a:schemeClr val="tx1"/>
                </a:solidFill>
                <a:latin typeface="仿宋" panose="02010609060101010101" pitchFamily="49" charset="-122"/>
                <a:ea typeface="仿宋" panose="02010609060101010101" pitchFamily="49" charset="-122"/>
              </a:rPr>
              <a:t>，统计进入实验室的人数、记录用户进入的时间用于计费。同时，在</a:t>
            </a:r>
            <a:r>
              <a:rPr lang="zh-CN" altLang="zh-CN" sz="2800" dirty="0">
                <a:solidFill>
                  <a:srgbClr val="FF0000"/>
                </a:solidFill>
                <a:latin typeface="仿宋" panose="02010609060101010101" pitchFamily="49" charset="-122"/>
                <a:ea typeface="仿宋" panose="02010609060101010101" pitchFamily="49" charset="-122"/>
              </a:rPr>
              <a:t>特殊的时刻</a:t>
            </a:r>
            <a:r>
              <a:rPr lang="zh-CN" altLang="zh-CN" sz="2800" dirty="0">
                <a:solidFill>
                  <a:schemeClr val="tx1"/>
                </a:solidFill>
                <a:latin typeface="仿宋" panose="02010609060101010101" pitchFamily="49" charset="-122"/>
                <a:ea typeface="仿宋" panose="02010609060101010101" pitchFamily="49" charset="-122"/>
              </a:rPr>
              <a:t>（例如紧急时刻、或者有访客时），</a:t>
            </a:r>
            <a:r>
              <a:rPr lang="zh-CN" altLang="en-US" sz="2800" dirty="0">
                <a:solidFill>
                  <a:schemeClr val="tx1"/>
                </a:solidFill>
                <a:latin typeface="仿宋" panose="02010609060101010101" pitchFamily="49" charset="-122"/>
                <a:ea typeface="仿宋" panose="02010609060101010101" pitchFamily="49" charset="-122"/>
              </a:rPr>
              <a:t>实验室</a:t>
            </a:r>
            <a:r>
              <a:rPr lang="zh-CN" altLang="zh-CN" sz="2800" dirty="0">
                <a:solidFill>
                  <a:schemeClr val="tx1"/>
                </a:solidFill>
                <a:latin typeface="仿宋" panose="02010609060101010101" pitchFamily="49" charset="-122"/>
                <a:ea typeface="仿宋" panose="02010609060101010101" pitchFamily="49" charset="-122"/>
              </a:rPr>
              <a:t>会由此了解超净实验室中的人员并作适时的通知。离开实验室时，不要忘记</a:t>
            </a:r>
            <a:r>
              <a:rPr lang="zh-CN" altLang="en-US" sz="2800" dirty="0">
                <a:solidFill>
                  <a:srgbClr val="FF0000"/>
                </a:solidFill>
                <a:latin typeface="仿宋" panose="02010609060101010101" pitchFamily="49" charset="-122"/>
                <a:ea typeface="仿宋" panose="02010609060101010101" pitchFamily="49" charset="-122"/>
              </a:rPr>
              <a:t>刷门卡</a:t>
            </a:r>
            <a:r>
              <a:rPr lang="zh-CN" altLang="zh-CN" sz="2800" dirty="0">
                <a:solidFill>
                  <a:srgbClr val="FF0000"/>
                </a:solidFill>
                <a:latin typeface="仿宋" panose="02010609060101010101" pitchFamily="49" charset="-122"/>
                <a:ea typeface="仿宋" panose="02010609060101010101" pitchFamily="49" charset="-122"/>
              </a:rPr>
              <a:t>出去</a:t>
            </a:r>
            <a:r>
              <a:rPr lang="zh-CN" altLang="zh-CN" sz="2800" dirty="0">
                <a:latin typeface="仿宋" panose="02010609060101010101" pitchFamily="49" charset="-122"/>
                <a:ea typeface="仿宋" panose="02010609060101010101" pitchFamily="49" charset="-122"/>
              </a:rPr>
              <a:t>，</a:t>
            </a:r>
            <a:r>
              <a:rPr lang="zh-CN" altLang="zh-CN" sz="2800" dirty="0">
                <a:solidFill>
                  <a:schemeClr val="tx1"/>
                </a:solidFill>
                <a:latin typeface="仿宋" panose="02010609060101010101" pitchFamily="49" charset="-122"/>
                <a:ea typeface="仿宋" panose="02010609060101010101" pitchFamily="49" charset="-122"/>
              </a:rPr>
              <a:t>否则系统将继续对用户进行计费。</a:t>
            </a:r>
            <a:r>
              <a:rPr lang="zh-CN" altLang="en-US" sz="2800" dirty="0">
                <a:solidFill>
                  <a:srgbClr val="FF0000"/>
                </a:solidFill>
                <a:latin typeface="仿宋" panose="02010609060101010101" pitchFamily="49" charset="-122"/>
                <a:ea typeface="仿宋" panose="02010609060101010101" pitchFamily="49" charset="-122"/>
              </a:rPr>
              <a:t>绝不允许不刷门卡直接进入实验室。</a:t>
            </a:r>
            <a:endParaRPr lang="en-US" altLang="zh-CN" sz="2800" dirty="0">
              <a:solidFill>
                <a:srgbClr val="FF0000"/>
              </a:solidFill>
              <a:latin typeface="仿宋" panose="02010609060101010101" pitchFamily="49" charset="-122"/>
              <a:ea typeface="仿宋" panose="02010609060101010101" pitchFamily="49" charset="-122"/>
            </a:endParaRPr>
          </a:p>
          <a:p>
            <a:pPr marL="342900" indent="-342900" algn="l">
              <a:lnSpc>
                <a:spcPct val="150000"/>
              </a:lnSpc>
              <a:buFont typeface="+mj-ea"/>
              <a:buAutoNum type="circleNumDbPlain"/>
              <a:defRPr/>
            </a:pPr>
            <a:r>
              <a:rPr lang="zh-CN" altLang="en-US" sz="2800" dirty="0">
                <a:solidFill>
                  <a:schemeClr val="tx1"/>
                </a:solidFill>
                <a:latin typeface="仿宋" panose="02010609060101010101" pitchFamily="49" charset="-122"/>
                <a:ea typeface="仿宋" panose="02010609060101010101" pitchFamily="49" charset="-122"/>
              </a:rPr>
              <a:t>进入实验室，需佩戴实验室专用胸卡，未佩戴胸卡者，严禁进入实验室。</a:t>
            </a:r>
            <a:endParaRPr lang="zh-CN" altLang="zh-CN" sz="2800" dirty="0">
              <a:solidFill>
                <a:schemeClr val="tx1"/>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48095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18</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0" y="1687636"/>
            <a:ext cx="5519460" cy="830997"/>
          </a:xfrm>
          <a:prstGeom prst="rect">
            <a:avLst/>
          </a:prstGeom>
        </p:spPr>
        <p:txBody>
          <a:bodyPr wrap="none">
            <a:spAutoFit/>
          </a:bodyPr>
          <a:lstStyle/>
          <a:p>
            <a:pPr marL="571500" indent="-571500">
              <a:lnSpc>
                <a:spcPct val="150000"/>
              </a:lnSpc>
              <a:buFont typeface="+mj-ea"/>
              <a:buAutoNum type="ea1JpnChsDbPeriod" startAt="4"/>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进出超净实验室相关规定</a:t>
            </a:r>
          </a:p>
        </p:txBody>
      </p:sp>
      <p:sp>
        <p:nvSpPr>
          <p:cNvPr id="3" name="矩形 2"/>
          <p:cNvSpPr/>
          <p:nvPr/>
        </p:nvSpPr>
        <p:spPr>
          <a:xfrm>
            <a:off x="417724" y="2515050"/>
            <a:ext cx="12169352" cy="5909310"/>
          </a:xfrm>
          <a:prstGeom prst="rect">
            <a:avLst/>
          </a:prstGeom>
        </p:spPr>
        <p:txBody>
          <a:bodyPr wrap="square">
            <a:spAutoFit/>
          </a:bodyPr>
          <a:lstStyle/>
          <a:p>
            <a:pPr marL="342900" indent="-342900" algn="just">
              <a:lnSpc>
                <a:spcPct val="150000"/>
              </a:lnSpc>
              <a:buFont typeface="+mj-ea"/>
              <a:buAutoNum type="circleNumDbPlain" startAt="4"/>
            </a:pPr>
            <a:r>
              <a:rPr lang="zh-CN" altLang="zh-CN" sz="2800" spc="150" dirty="0">
                <a:solidFill>
                  <a:schemeClr val="tx1"/>
                </a:solidFill>
                <a:latin typeface="仿宋" panose="02010609060101010101" pitchFamily="49" charset="-122"/>
                <a:ea typeface="仿宋" panose="02010609060101010101" pitchFamily="49" charset="-122"/>
              </a:rPr>
              <a:t>出于安全的考虑，</a:t>
            </a:r>
            <a:r>
              <a:rPr lang="zh-CN" altLang="en-US" sz="2800" spc="150" dirty="0">
                <a:solidFill>
                  <a:schemeClr val="tx1"/>
                </a:solidFill>
                <a:latin typeface="仿宋" panose="02010609060101010101" pitchFamily="49" charset="-122"/>
                <a:ea typeface="仿宋" panose="02010609060101010101" pitchFamily="49" charset="-122"/>
              </a:rPr>
              <a:t>任何时间段</a:t>
            </a:r>
            <a:r>
              <a:rPr lang="zh-CN" altLang="zh-CN" sz="2800" spc="150" dirty="0">
                <a:solidFill>
                  <a:srgbClr val="FF0000"/>
                </a:solidFill>
                <a:latin typeface="仿宋" panose="02010609060101010101" pitchFamily="49" charset="-122"/>
                <a:ea typeface="仿宋" panose="02010609060101010101" pitchFamily="49" charset="-122"/>
              </a:rPr>
              <a:t>禁止任何人单独</a:t>
            </a:r>
            <a:r>
              <a:rPr lang="zh-CN" altLang="zh-CN" sz="2800" spc="150" dirty="0">
                <a:solidFill>
                  <a:schemeClr val="tx1"/>
                </a:solidFill>
                <a:latin typeface="仿宋" panose="02010609060101010101" pitchFamily="49" charset="-122"/>
                <a:ea typeface="仿宋" panose="02010609060101010101" pitchFamily="49" charset="-122"/>
              </a:rPr>
              <a:t>在超净实验室工作</a:t>
            </a:r>
            <a:r>
              <a:rPr lang="zh-CN" altLang="en-US" sz="2800" spc="150" dirty="0">
                <a:solidFill>
                  <a:schemeClr val="tx1"/>
                </a:solidFill>
                <a:latin typeface="仿宋" panose="02010609060101010101" pitchFamily="49" charset="-122"/>
                <a:ea typeface="仿宋" panose="02010609060101010101" pitchFamily="49" charset="-122"/>
              </a:rPr>
              <a:t>，至少同时有</a:t>
            </a:r>
            <a:r>
              <a:rPr lang="zh-CN" altLang="en-US" sz="2800" spc="150" dirty="0">
                <a:solidFill>
                  <a:srgbClr val="FF0000"/>
                </a:solidFill>
                <a:latin typeface="仿宋" panose="02010609060101010101" pitchFamily="49" charset="-122"/>
                <a:ea typeface="仿宋" panose="02010609060101010101" pitchFamily="49" charset="-122"/>
              </a:rPr>
              <a:t>两人</a:t>
            </a:r>
            <a:r>
              <a:rPr lang="zh-CN" altLang="zh-CN" sz="2800" spc="150" dirty="0">
                <a:solidFill>
                  <a:schemeClr val="tx1"/>
                </a:solidFill>
                <a:latin typeface="仿宋" panose="02010609060101010101" pitchFamily="49" charset="-122"/>
                <a:ea typeface="仿宋" panose="02010609060101010101" pitchFamily="49" charset="-122"/>
              </a:rPr>
              <a:t>。</a:t>
            </a:r>
            <a:r>
              <a:rPr lang="zh-CN" altLang="en-US" sz="2800" spc="150" dirty="0">
                <a:solidFill>
                  <a:schemeClr val="tx1"/>
                </a:solidFill>
                <a:latin typeface="仿宋" panose="02010609060101010101" pitchFamily="49" charset="-122"/>
                <a:ea typeface="仿宋" panose="02010609060101010101" pitchFamily="49" charset="-122"/>
              </a:rPr>
              <a:t>平台</a:t>
            </a:r>
            <a:r>
              <a:rPr lang="zh-CN" altLang="zh-CN" sz="2800" spc="150" dirty="0">
                <a:solidFill>
                  <a:schemeClr val="tx1"/>
                </a:solidFill>
                <a:latin typeface="仿宋" panose="02010609060101010101" pitchFamily="49" charset="-122"/>
                <a:ea typeface="仿宋" panose="02010609060101010101" pitchFamily="49" charset="-122"/>
              </a:rPr>
              <a:t>通过</a:t>
            </a:r>
            <a:r>
              <a:rPr lang="zh-CN" altLang="en-US" sz="2800" spc="150" dirty="0">
                <a:solidFill>
                  <a:schemeClr val="tx1"/>
                </a:solidFill>
                <a:latin typeface="仿宋" panose="02010609060101010101" pitchFamily="49" charset="-122"/>
                <a:ea typeface="仿宋" panose="02010609060101010101" pitchFamily="49" charset="-122"/>
              </a:rPr>
              <a:t>门禁或监控系统</a:t>
            </a:r>
            <a:r>
              <a:rPr lang="zh-CN" altLang="zh-CN" sz="2800" spc="150" dirty="0">
                <a:solidFill>
                  <a:schemeClr val="tx1"/>
                </a:solidFill>
                <a:latin typeface="仿宋" panose="02010609060101010101" pitchFamily="49" charset="-122"/>
                <a:ea typeface="仿宋" panose="02010609060101010101" pitchFamily="49" charset="-122"/>
              </a:rPr>
              <a:t>，可以了解到正在超净实验室中工作的人员和人数。如果被发现单独在实验室工作，用户将被取消一定</a:t>
            </a:r>
            <a:r>
              <a:rPr lang="zh-CN" altLang="en-US" sz="2800" spc="150" dirty="0">
                <a:solidFill>
                  <a:schemeClr val="tx1"/>
                </a:solidFill>
                <a:latin typeface="仿宋" panose="02010609060101010101" pitchFamily="49" charset="-122"/>
                <a:ea typeface="仿宋" panose="02010609060101010101" pitchFamily="49" charset="-122"/>
              </a:rPr>
              <a:t>时间</a:t>
            </a:r>
            <a:r>
              <a:rPr lang="zh-CN" altLang="zh-CN" sz="2800" spc="150" dirty="0">
                <a:solidFill>
                  <a:schemeClr val="tx1"/>
                </a:solidFill>
                <a:latin typeface="仿宋" panose="02010609060101010101" pitchFamily="49" charset="-122"/>
                <a:ea typeface="仿宋" panose="02010609060101010101" pitchFamily="49" charset="-122"/>
              </a:rPr>
              <a:t>的超净实验室使用许可。</a:t>
            </a:r>
            <a:endParaRPr lang="en-US" altLang="zh-CN" sz="2800" spc="150" dirty="0">
              <a:solidFill>
                <a:schemeClr val="tx1"/>
              </a:solidFill>
              <a:latin typeface="仿宋" panose="02010609060101010101" pitchFamily="49" charset="-122"/>
              <a:ea typeface="仿宋" panose="02010609060101010101" pitchFamily="49" charset="-122"/>
            </a:endParaRPr>
          </a:p>
          <a:p>
            <a:pPr marL="342900" indent="-342900" algn="l">
              <a:lnSpc>
                <a:spcPct val="150000"/>
              </a:lnSpc>
              <a:buFont typeface="+mj-ea"/>
              <a:buAutoNum type="circleNumDbPlain" startAt="5"/>
            </a:pPr>
            <a:r>
              <a:rPr lang="zh-CN" altLang="en-US" sz="2800" spc="150" dirty="0">
                <a:solidFill>
                  <a:schemeClr val="tx1"/>
                </a:solidFill>
                <a:latin typeface="仿宋" panose="02010609060101010101" pitchFamily="49" charset="-122"/>
                <a:ea typeface="仿宋" panose="02010609060101010101" pitchFamily="49" charset="-122"/>
              </a:rPr>
              <a:t>进入实验室后，若确认送风系统</a:t>
            </a:r>
            <a:r>
              <a:rPr lang="zh-CN" altLang="en-US" sz="2800" spc="150" dirty="0">
                <a:solidFill>
                  <a:srgbClr val="FF0000"/>
                </a:solidFill>
                <a:latin typeface="仿宋" panose="02010609060101010101" pitchFamily="49" charset="-122"/>
                <a:ea typeface="仿宋" panose="02010609060101010101" pitchFamily="49" charset="-122"/>
              </a:rPr>
              <a:t>异常</a:t>
            </a:r>
            <a:r>
              <a:rPr lang="zh-CN" altLang="en-US" sz="2800" spc="150" dirty="0">
                <a:solidFill>
                  <a:schemeClr val="tx1"/>
                </a:solidFill>
                <a:latin typeface="仿宋" panose="02010609060101010101" pitchFamily="49" charset="-122"/>
                <a:ea typeface="仿宋" panose="02010609060101010101" pitchFamily="49" charset="-122"/>
              </a:rPr>
              <a:t>，此时</a:t>
            </a:r>
            <a:r>
              <a:rPr lang="zh-CN" altLang="en-US" sz="2800" spc="150" dirty="0">
                <a:solidFill>
                  <a:srgbClr val="FF0000"/>
                </a:solidFill>
                <a:latin typeface="仿宋" panose="02010609060101010101" pitchFamily="49" charset="-122"/>
                <a:ea typeface="仿宋" panose="02010609060101010101" pitchFamily="49" charset="-122"/>
              </a:rPr>
              <a:t>禁止</a:t>
            </a:r>
            <a:r>
              <a:rPr lang="zh-CN" altLang="en-US" sz="2800" spc="150" dirty="0">
                <a:solidFill>
                  <a:schemeClr val="tx1"/>
                </a:solidFill>
                <a:latin typeface="仿宋" panose="02010609060101010101" pitchFamily="49" charset="-122"/>
                <a:ea typeface="仿宋" panose="02010609060101010101" pitchFamily="49" charset="-122"/>
              </a:rPr>
              <a:t>进入实验室。</a:t>
            </a:r>
            <a:endParaRPr lang="zh-CN" altLang="zh-CN" sz="2800" spc="150" dirty="0">
              <a:solidFill>
                <a:schemeClr val="tx1"/>
              </a:solidFill>
              <a:latin typeface="仿宋" panose="02010609060101010101" pitchFamily="49" charset="-122"/>
              <a:ea typeface="仿宋" panose="02010609060101010101" pitchFamily="49" charset="-122"/>
            </a:endParaRPr>
          </a:p>
          <a:p>
            <a:pPr marL="342900" indent="-342900" algn="l">
              <a:lnSpc>
                <a:spcPct val="150000"/>
              </a:lnSpc>
              <a:buFont typeface="+mj-ea"/>
              <a:buAutoNum type="circleNumDbPlain" startAt="6"/>
            </a:pPr>
            <a:r>
              <a:rPr lang="zh-CN" altLang="en-US" sz="2800" spc="150" dirty="0">
                <a:solidFill>
                  <a:schemeClr val="tx1"/>
                </a:solidFill>
                <a:latin typeface="仿宋" panose="02010609060101010101" pitchFamily="49" charset="-122"/>
                <a:ea typeface="仿宋" panose="02010609060101010101" pitchFamily="49" charset="-122"/>
              </a:rPr>
              <a:t>进入光刻间后，首先确认光刻间排风是否打开，如果发现排风未打开，请立即通知平台工作人员。电话：</a:t>
            </a:r>
            <a:r>
              <a:rPr lang="en-US" altLang="zh-CN" sz="2800" spc="150" dirty="0">
                <a:solidFill>
                  <a:schemeClr val="tx1"/>
                </a:solidFill>
                <a:latin typeface="仿宋" panose="02010609060101010101" pitchFamily="49" charset="-122"/>
                <a:ea typeface="仿宋" panose="02010609060101010101" pitchFamily="49" charset="-122"/>
              </a:rPr>
              <a:t>62781090</a:t>
            </a:r>
          </a:p>
          <a:p>
            <a:pPr marL="342900" indent="-342900" algn="l">
              <a:lnSpc>
                <a:spcPct val="150000"/>
              </a:lnSpc>
              <a:buFont typeface="+mj-ea"/>
              <a:buAutoNum type="circleNumDbPlain" startAt="7"/>
            </a:pPr>
            <a:r>
              <a:rPr lang="zh-CN" altLang="en-US" sz="2800" spc="150" dirty="0">
                <a:solidFill>
                  <a:schemeClr val="tx1"/>
                </a:solidFill>
                <a:latin typeface="仿宋" panose="02010609060101010101" pitchFamily="49" charset="-122"/>
                <a:ea typeface="仿宋" panose="02010609060101010101" pitchFamily="49" charset="-122"/>
              </a:rPr>
              <a:t>进入湿法区工作时，要确认通风橱</a:t>
            </a:r>
            <a:r>
              <a:rPr lang="zh-CN" altLang="en-US" sz="2800" spc="150" dirty="0">
                <a:solidFill>
                  <a:srgbClr val="FF0000"/>
                </a:solidFill>
                <a:latin typeface="仿宋" panose="02010609060101010101" pitchFamily="49" charset="-122"/>
                <a:ea typeface="仿宋" panose="02010609060101010101" pitchFamily="49" charset="-122"/>
              </a:rPr>
              <a:t>排风</a:t>
            </a:r>
            <a:r>
              <a:rPr lang="zh-CN" altLang="en-US" sz="2800" spc="150" dirty="0">
                <a:solidFill>
                  <a:schemeClr val="tx1"/>
                </a:solidFill>
                <a:latin typeface="仿宋" panose="02010609060101010101" pitchFamily="49" charset="-122"/>
                <a:ea typeface="仿宋" panose="02010609060101010101" pitchFamily="49" charset="-122"/>
              </a:rPr>
              <a:t>是否打开，如发现排风未打开，请立即通知平台工作人员。电话：</a:t>
            </a:r>
            <a:r>
              <a:rPr lang="en-US" altLang="zh-CN" sz="2800" spc="150" dirty="0">
                <a:solidFill>
                  <a:schemeClr val="tx1"/>
                </a:solidFill>
                <a:latin typeface="仿宋" panose="02010609060101010101" pitchFamily="49" charset="-122"/>
                <a:ea typeface="仿宋" panose="02010609060101010101" pitchFamily="49" charset="-122"/>
              </a:rPr>
              <a:t>62781090</a:t>
            </a:r>
          </a:p>
        </p:txBody>
      </p:sp>
    </p:spTree>
    <p:extLst>
      <p:ext uri="{BB962C8B-B14F-4D97-AF65-F5344CB8AC3E}">
        <p14:creationId xmlns:p14="http://schemas.microsoft.com/office/powerpoint/2010/main" val="1148672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19</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29862" y="1658478"/>
            <a:ext cx="4288354" cy="830997"/>
          </a:xfrm>
          <a:prstGeom prst="rect">
            <a:avLst/>
          </a:prstGeom>
        </p:spPr>
        <p:txBody>
          <a:bodyPr wrap="none">
            <a:spAutoFit/>
          </a:bodyPr>
          <a:lstStyle/>
          <a:p>
            <a:pPr marL="571500" indent="-571500">
              <a:lnSpc>
                <a:spcPct val="150000"/>
              </a:lnSpc>
              <a:buFont typeface="+mj-ea"/>
              <a:buAutoNum type="ea1JpnChsDbPeriod" startAt="5"/>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设备操作相关规定</a:t>
            </a:r>
          </a:p>
        </p:txBody>
      </p:sp>
      <p:sp>
        <p:nvSpPr>
          <p:cNvPr id="7" name="矩形 6"/>
          <p:cNvSpPr/>
          <p:nvPr/>
        </p:nvSpPr>
        <p:spPr>
          <a:xfrm>
            <a:off x="309712" y="2489475"/>
            <a:ext cx="12097344" cy="5960606"/>
          </a:xfrm>
          <a:prstGeom prst="rect">
            <a:avLst/>
          </a:prstGeom>
        </p:spPr>
        <p:txBody>
          <a:bodyPr wrap="square">
            <a:spAutoFit/>
          </a:bodyPr>
          <a:lstStyle/>
          <a:p>
            <a:pPr marL="514350" indent="-514350" algn="just" eaLnBrk="1" hangingPunct="1">
              <a:lnSpc>
                <a:spcPct val="150000"/>
              </a:lnSpc>
              <a:spcBef>
                <a:spcPts val="432"/>
              </a:spcBef>
              <a:buClr>
                <a:srgbClr val="FF0000"/>
              </a:buClr>
              <a:buFont typeface="+mj-ea"/>
              <a:buAutoNum type="circleNumDbPlain"/>
            </a:pP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实验室</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大部分设备</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都</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将</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开放</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给</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实验室</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用户</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本人独立</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操作</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，只有少量设备需要专门的</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实验室</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工作人员负责操作。</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实验室</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用户在获得</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设备</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操作许可</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权</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之前，</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必须通过相应设备的操作培训、笔试和实际操作考核。</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否则，不允许独立操作设备。</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如果用户</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不能独立操作，必须找工艺工程师或获得设备操作权的用户</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帮助完成设备的操作。</a:t>
            </a:r>
            <a:endPar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514350" indent="-514350" algn="l" eaLnBrk="1" hangingPunct="1">
              <a:lnSpc>
                <a:spcPct val="150000"/>
              </a:lnSpc>
              <a:spcBef>
                <a:spcPts val="432"/>
              </a:spcBef>
              <a:buClr>
                <a:srgbClr val="FF0000"/>
              </a:buClr>
              <a:buFont typeface="+mj-ea"/>
              <a:buAutoNum type="circleNumDbPlain"/>
            </a:pP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实验室开放共享的</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设备采用</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预约</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的方式</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先约先用</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为基本</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原则。</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对于重点研究方向区的设备，相应研究方向的用户有优先使用权</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，在此基础上，其他用户预约</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的时候需遵循</a:t>
            </a:r>
            <a:r>
              <a:rPr lang="zh-CN"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先约先用的原则。</a:t>
            </a:r>
            <a:r>
              <a:rPr lang="zh-CN" altLang="en-US"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设备使用前若没有对设备进行预约，禁止使用该设备！</a:t>
            </a:r>
            <a:endParaRPr lang="en-US" altLang="zh-CN" sz="28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10281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20</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7" name="矩形 6"/>
          <p:cNvSpPr/>
          <p:nvPr/>
        </p:nvSpPr>
        <p:spPr>
          <a:xfrm>
            <a:off x="16474" y="1800489"/>
            <a:ext cx="4288354" cy="830997"/>
          </a:xfrm>
          <a:prstGeom prst="rect">
            <a:avLst/>
          </a:prstGeom>
        </p:spPr>
        <p:txBody>
          <a:bodyPr wrap="none">
            <a:spAutoFit/>
          </a:bodyPr>
          <a:lstStyle/>
          <a:p>
            <a:pPr marL="571500" indent="-571500">
              <a:lnSpc>
                <a:spcPct val="150000"/>
              </a:lnSpc>
              <a:buFont typeface="+mj-ea"/>
              <a:buAutoNum type="ea1JpnChsDbPeriod" startAt="5"/>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设备操作相关规定</a:t>
            </a:r>
          </a:p>
        </p:txBody>
      </p:sp>
      <p:sp>
        <p:nvSpPr>
          <p:cNvPr id="3" name="矩形 2"/>
          <p:cNvSpPr/>
          <p:nvPr/>
        </p:nvSpPr>
        <p:spPr>
          <a:xfrm>
            <a:off x="561740" y="2631486"/>
            <a:ext cx="11881320" cy="6165790"/>
          </a:xfrm>
          <a:prstGeom prst="rect">
            <a:avLst/>
          </a:prstGeom>
        </p:spPr>
        <p:txBody>
          <a:bodyPr wrap="square">
            <a:spAutoFit/>
          </a:bodyPr>
          <a:lstStyle/>
          <a:p>
            <a:pPr marL="342900" lvl="0" indent="-342900" algn="just" defTabSz="914400" fontAlgn="auto" hangingPunct="1">
              <a:lnSpc>
                <a:spcPct val="150000"/>
              </a:lnSpc>
              <a:spcBef>
                <a:spcPts val="432"/>
              </a:spcBef>
              <a:spcAft>
                <a:spcPts val="0"/>
              </a:spcAft>
              <a:buClr>
                <a:srgbClr val="FF0000"/>
              </a:buClr>
              <a:buSzPct val="85000"/>
              <a:buFont typeface="+mj-ea"/>
              <a:buAutoNum type="circleNumDbPlain" startAt="3"/>
            </a:pPr>
            <a:r>
              <a:rPr lang="zh-CN" altLang="en-US" sz="2800" dirty="0">
                <a:solidFill>
                  <a:prstClr val="black"/>
                </a:solidFill>
                <a:latin typeface="仿宋" panose="02010609060101010101" pitchFamily="49" charset="-122"/>
                <a:ea typeface="仿宋" panose="02010609060101010101" pitchFamily="49" charset="-122"/>
              </a:rPr>
              <a:t>工艺工程师有权依据具体情况调配用户的设备使用，</a:t>
            </a:r>
            <a:r>
              <a:rPr lang="zh-CN" altLang="en-US" sz="2800" dirty="0">
                <a:solidFill>
                  <a:schemeClr val="tx1"/>
                </a:solidFill>
                <a:latin typeface="仿宋" panose="02010609060101010101" pitchFamily="49" charset="-122"/>
                <a:ea typeface="仿宋" panose="02010609060101010101" pitchFamily="49" charset="-122"/>
              </a:rPr>
              <a:t>用户需听从工艺工程师的安排。</a:t>
            </a:r>
            <a:endParaRPr lang="en-US" altLang="zh-CN" sz="2800" dirty="0">
              <a:solidFill>
                <a:schemeClr val="tx1"/>
              </a:solidFill>
              <a:latin typeface="仿宋" panose="02010609060101010101" pitchFamily="49" charset="-122"/>
              <a:ea typeface="仿宋" panose="02010609060101010101" pitchFamily="49" charset="-122"/>
            </a:endParaRPr>
          </a:p>
          <a:p>
            <a:pPr marL="342900" lvl="0" indent="-342900" algn="l" defTabSz="914400" fontAlgn="auto" hangingPunct="1">
              <a:lnSpc>
                <a:spcPct val="150000"/>
              </a:lnSpc>
              <a:spcBef>
                <a:spcPts val="432"/>
              </a:spcBef>
              <a:spcAft>
                <a:spcPts val="0"/>
              </a:spcAft>
              <a:buClr>
                <a:srgbClr val="FF0000"/>
              </a:buClr>
              <a:buSzPct val="85000"/>
              <a:buFont typeface="+mj-ea"/>
              <a:buAutoNum type="circleNumDbPlain" startAt="3"/>
            </a:pPr>
            <a:r>
              <a:rPr lang="zh-CN" altLang="en-US" sz="2800" dirty="0">
                <a:solidFill>
                  <a:prstClr val="black"/>
                </a:solidFill>
                <a:latin typeface="仿宋" panose="02010609060101010101" pitchFamily="49" charset="-122"/>
                <a:ea typeface="仿宋" panose="02010609060101010101" pitchFamily="49" charset="-122"/>
              </a:rPr>
              <a:t>设备操作时</a:t>
            </a:r>
            <a:r>
              <a:rPr lang="zh-CN" altLang="en-US" sz="2800" dirty="0">
                <a:solidFill>
                  <a:schemeClr val="tx1"/>
                </a:solidFill>
                <a:latin typeface="仿宋" panose="02010609060101010101" pitchFamily="49" charset="-122"/>
                <a:ea typeface="仿宋" panose="02010609060101010101" pitchFamily="49" charset="-122"/>
              </a:rPr>
              <a:t>必须</a:t>
            </a:r>
            <a:r>
              <a:rPr lang="zh-CN" altLang="en-US" sz="2800" dirty="0">
                <a:solidFill>
                  <a:prstClr val="black"/>
                </a:solidFill>
                <a:latin typeface="仿宋" panose="02010609060101010101" pitchFamily="49" charset="-122"/>
                <a:ea typeface="仿宋" panose="02010609060101010101" pitchFamily="49" charset="-122"/>
              </a:rPr>
              <a:t>在工艺记录本上做工艺记录。未做记录者，</a:t>
            </a:r>
            <a:r>
              <a:rPr lang="zh-CN" altLang="en-US" sz="2800" dirty="0">
                <a:solidFill>
                  <a:schemeClr val="tx1"/>
                </a:solidFill>
                <a:latin typeface="仿宋" panose="02010609060101010101" pitchFamily="49" charset="-122"/>
                <a:ea typeface="仿宋" panose="02010609060101010101" pitchFamily="49" charset="-122"/>
              </a:rPr>
              <a:t>实验室将按规定进行处罚。</a:t>
            </a:r>
            <a:r>
              <a:rPr lang="zh-CN" altLang="en-US" sz="2800" dirty="0">
                <a:solidFill>
                  <a:srgbClr val="FF0000"/>
                </a:solidFill>
                <a:latin typeface="仿宋" panose="02010609060101010101" pitchFamily="49" charset="-122"/>
                <a:ea typeface="仿宋" panose="02010609060101010101" pitchFamily="49" charset="-122"/>
              </a:rPr>
              <a:t>工艺记录要求信息完整，字迹清晰</a:t>
            </a:r>
            <a:r>
              <a:rPr lang="zh-CN" altLang="en-US" sz="2800" dirty="0">
                <a:solidFill>
                  <a:prstClr val="black"/>
                </a:solidFill>
                <a:latin typeface="仿宋" panose="02010609060101010101" pitchFamily="49" charset="-122"/>
                <a:ea typeface="仿宋" panose="02010609060101010101" pitchFamily="49" charset="-122"/>
              </a:rPr>
              <a:t>。</a:t>
            </a:r>
            <a:endParaRPr lang="en-US" altLang="zh-CN" sz="2800" dirty="0">
              <a:solidFill>
                <a:prstClr val="black"/>
              </a:solidFill>
              <a:latin typeface="仿宋" panose="02010609060101010101" pitchFamily="49" charset="-122"/>
              <a:ea typeface="仿宋" panose="02010609060101010101" pitchFamily="49" charset="-122"/>
            </a:endParaRPr>
          </a:p>
          <a:p>
            <a:pPr marL="342900" indent="-342900" algn="l" defTabSz="914400" fontAlgn="auto" hangingPunct="1">
              <a:lnSpc>
                <a:spcPct val="150000"/>
              </a:lnSpc>
              <a:spcBef>
                <a:spcPts val="432"/>
              </a:spcBef>
              <a:spcAft>
                <a:spcPts val="0"/>
              </a:spcAft>
              <a:buClr>
                <a:srgbClr val="FF0000"/>
              </a:buClr>
              <a:buSzPct val="85000"/>
              <a:buFont typeface="+mj-ea"/>
              <a:buAutoNum type="circleNumDbPlain" startAt="3"/>
              <a:defRPr/>
            </a:pPr>
            <a:r>
              <a:rPr lang="zh-CN" altLang="en-US" sz="2800" dirty="0">
                <a:solidFill>
                  <a:prstClr val="black"/>
                </a:solidFill>
                <a:latin typeface="仿宋" panose="02010609060101010101" pitchFamily="49" charset="-122"/>
                <a:ea typeface="仿宋" panose="02010609060101010101" pitchFamily="49" charset="-122"/>
              </a:rPr>
              <a:t>用户不应</a:t>
            </a:r>
            <a:r>
              <a:rPr lang="zh-CN" altLang="zh-CN" sz="2800" dirty="0">
                <a:solidFill>
                  <a:srgbClr val="FF0000"/>
                </a:solidFill>
                <a:latin typeface="仿宋" panose="02010609060101010101" pitchFamily="49" charset="-122"/>
                <a:ea typeface="仿宋" panose="02010609060101010101" pitchFamily="49" charset="-122"/>
              </a:rPr>
              <a:t>设备损坏后悄然离开</a:t>
            </a:r>
            <a:r>
              <a:rPr lang="zh-CN" altLang="zh-CN" sz="2800" dirty="0">
                <a:solidFill>
                  <a:prstClr val="black"/>
                </a:solidFill>
                <a:latin typeface="仿宋" panose="02010609060101010101" pitchFamily="49" charset="-122"/>
                <a:ea typeface="仿宋" panose="02010609060101010101" pitchFamily="49" charset="-122"/>
              </a:rPr>
              <a:t>，试验室可以通过监控录像找到当事人，并要求当事人承担责任。</a:t>
            </a:r>
          </a:p>
          <a:p>
            <a:pPr marL="342900" lvl="0" indent="-342900" algn="l" defTabSz="914400" fontAlgn="auto" hangingPunct="1">
              <a:lnSpc>
                <a:spcPct val="150000"/>
              </a:lnSpc>
              <a:spcBef>
                <a:spcPts val="432"/>
              </a:spcBef>
              <a:spcAft>
                <a:spcPts val="0"/>
              </a:spcAft>
              <a:buClr>
                <a:srgbClr val="FF0000"/>
              </a:buClr>
              <a:buSzPct val="85000"/>
              <a:buFont typeface="+mj-ea"/>
              <a:buAutoNum type="circleNumDbPlain" startAt="3"/>
              <a:defRPr/>
            </a:pPr>
            <a:r>
              <a:rPr lang="zh-CN" altLang="zh-CN" sz="2800" dirty="0">
                <a:solidFill>
                  <a:prstClr val="black"/>
                </a:solidFill>
                <a:latin typeface="仿宋" panose="02010609060101010101" pitchFamily="49" charset="-122"/>
                <a:ea typeface="仿宋" panose="02010609060101010101" pitchFamily="49" charset="-122"/>
              </a:rPr>
              <a:t>当设备出了问题</a:t>
            </a:r>
            <a:r>
              <a:rPr lang="en-US" altLang="zh-CN" sz="2800" dirty="0">
                <a:solidFill>
                  <a:prstClr val="black"/>
                </a:solidFill>
                <a:latin typeface="仿宋" panose="02010609060101010101" pitchFamily="49" charset="-122"/>
                <a:ea typeface="仿宋" panose="02010609060101010101" pitchFamily="49" charset="-122"/>
              </a:rPr>
              <a:t>(</a:t>
            </a:r>
            <a:r>
              <a:rPr lang="zh-CN" altLang="en-US" sz="2800" dirty="0">
                <a:solidFill>
                  <a:prstClr val="black"/>
                </a:solidFill>
                <a:latin typeface="仿宋" panose="02010609060101010101" pitchFamily="49" charset="-122"/>
                <a:ea typeface="仿宋" panose="02010609060101010101" pitchFamily="49" charset="-122"/>
              </a:rPr>
              <a:t>比如冷却水泄露</a:t>
            </a:r>
            <a:r>
              <a:rPr lang="en-US" altLang="zh-CN" sz="2800" dirty="0">
                <a:solidFill>
                  <a:prstClr val="black"/>
                </a:solidFill>
                <a:latin typeface="仿宋" panose="02010609060101010101" pitchFamily="49" charset="-122"/>
                <a:ea typeface="仿宋" panose="02010609060101010101" pitchFamily="49" charset="-122"/>
              </a:rPr>
              <a:t>)</a:t>
            </a:r>
            <a:r>
              <a:rPr lang="zh-CN" altLang="zh-CN" sz="2800" dirty="0">
                <a:solidFill>
                  <a:prstClr val="black"/>
                </a:solidFill>
                <a:latin typeface="仿宋" panose="02010609060101010101" pitchFamily="49" charset="-122"/>
                <a:ea typeface="仿宋" panose="02010609060101010101" pitchFamily="49" charset="-122"/>
              </a:rPr>
              <a:t>，要</a:t>
            </a:r>
            <a:r>
              <a:rPr lang="zh-CN" altLang="en-US" sz="2800" dirty="0">
                <a:solidFill>
                  <a:prstClr val="black"/>
                </a:solidFill>
                <a:latin typeface="仿宋" panose="02010609060101010101" pitchFamily="49" charset="-122"/>
                <a:ea typeface="仿宋" panose="02010609060101010101" pitchFamily="49" charset="-122"/>
              </a:rPr>
              <a:t>向实验室工作人员</a:t>
            </a:r>
            <a:r>
              <a:rPr lang="zh-CN" altLang="zh-CN" sz="2800" dirty="0">
                <a:solidFill>
                  <a:prstClr val="black"/>
                </a:solidFill>
                <a:latin typeface="仿宋" panose="02010609060101010101" pitchFamily="49" charset="-122"/>
                <a:ea typeface="仿宋" panose="02010609060101010101" pitchFamily="49" charset="-122"/>
              </a:rPr>
              <a:t>报告</a:t>
            </a:r>
            <a:r>
              <a:rPr lang="zh-CN" altLang="en-US" sz="2800" dirty="0">
                <a:solidFill>
                  <a:prstClr val="black"/>
                </a:solidFill>
                <a:latin typeface="仿宋" panose="02010609060101010101" pitchFamily="49" charset="-122"/>
                <a:ea typeface="仿宋" panose="02010609060101010101" pitchFamily="49" charset="-122"/>
              </a:rPr>
              <a:t>，由设备工程师负责维修，</a:t>
            </a:r>
            <a:r>
              <a:rPr lang="zh-CN" altLang="en-US" sz="2800" dirty="0">
                <a:solidFill>
                  <a:srgbClr val="FF0000"/>
                </a:solidFill>
                <a:latin typeface="仿宋" panose="02010609060101010101" pitchFamily="49" charset="-122"/>
                <a:ea typeface="仿宋" panose="02010609060101010101" pitchFamily="49" charset="-122"/>
              </a:rPr>
              <a:t>不允许其它人员擅自修理设备</a:t>
            </a:r>
            <a:r>
              <a:rPr lang="zh-CN" altLang="en-US" sz="2800" dirty="0">
                <a:solidFill>
                  <a:prstClr val="black"/>
                </a:solidFill>
                <a:latin typeface="仿宋" panose="02010609060101010101" pitchFamily="49" charset="-122"/>
                <a:ea typeface="仿宋" panose="02010609060101010101" pitchFamily="49" charset="-122"/>
              </a:rPr>
              <a:t>。</a:t>
            </a:r>
            <a:endParaRPr lang="en-US" altLang="zh-CN" sz="2800" dirty="0">
              <a:solidFill>
                <a:prstClr val="black"/>
              </a:solidFill>
              <a:latin typeface="仿宋" panose="02010609060101010101" pitchFamily="49" charset="-122"/>
              <a:ea typeface="仿宋" panose="02010609060101010101" pitchFamily="49" charset="-122"/>
            </a:endParaRPr>
          </a:p>
          <a:p>
            <a:pPr marL="342900" lvl="0" indent="-342900" algn="l" defTabSz="914400" fontAlgn="auto" hangingPunct="1">
              <a:lnSpc>
                <a:spcPct val="150000"/>
              </a:lnSpc>
              <a:spcBef>
                <a:spcPts val="432"/>
              </a:spcBef>
              <a:spcAft>
                <a:spcPts val="0"/>
              </a:spcAft>
              <a:buClr>
                <a:srgbClr val="D34817"/>
              </a:buClr>
              <a:buSzPct val="85000"/>
              <a:buFont typeface="+mj-ea"/>
              <a:buAutoNum type="circleNumDbPlain" startAt="3"/>
            </a:pPr>
            <a:endParaRPr lang="en-US" altLang="zh-CN" sz="2800" dirty="0">
              <a:solidFill>
                <a:prstClr val="black"/>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917557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21</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0" y="1791564"/>
            <a:ext cx="5109092" cy="830997"/>
          </a:xfrm>
          <a:prstGeom prst="rect">
            <a:avLst/>
          </a:prstGeom>
        </p:spPr>
        <p:txBody>
          <a:bodyPr wrap="none">
            <a:spAutoFit/>
          </a:bodyPr>
          <a:lstStyle/>
          <a:p>
            <a:pPr marL="571500" indent="-571500">
              <a:lnSpc>
                <a:spcPct val="150000"/>
              </a:lnSpc>
              <a:buFont typeface="+mj-ea"/>
              <a:buAutoNum type="ea1JpnChsDbPeriod" startAt="6"/>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设备操作培训具体流程</a:t>
            </a:r>
            <a:endPar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p:cNvSpPr/>
          <p:nvPr/>
        </p:nvSpPr>
        <p:spPr>
          <a:xfrm>
            <a:off x="669752" y="2622561"/>
            <a:ext cx="11809312" cy="6063198"/>
          </a:xfrm>
          <a:prstGeom prst="rect">
            <a:avLst/>
          </a:prstGeom>
        </p:spPr>
        <p:txBody>
          <a:bodyPr wrap="square">
            <a:spAutoFit/>
          </a:bodyPr>
          <a:lstStyle/>
          <a:p>
            <a:pPr marL="457200" lvl="0" indent="-457200" algn="l" defTabSz="914400" fontAlgn="auto" hangingPunct="1">
              <a:lnSpc>
                <a:spcPct val="150000"/>
              </a:lnSpc>
              <a:spcBef>
                <a:spcPts val="432"/>
              </a:spcBef>
              <a:spcAft>
                <a:spcPts val="0"/>
              </a:spcAft>
              <a:buClr>
                <a:srgbClr val="FF0000"/>
              </a:buClr>
              <a:buSzPct val="85000"/>
              <a:buFont typeface="+mj-ea"/>
              <a:buAutoNum type="circleNumDbPlain"/>
            </a:pPr>
            <a:r>
              <a:rPr lang="zh-CN" altLang="en-US" sz="2800" dirty="0">
                <a:solidFill>
                  <a:prstClr val="black"/>
                </a:solidFill>
                <a:latin typeface="仿宋" panose="02010609060101010101" pitchFamily="49" charset="-122"/>
                <a:ea typeface="仿宋" panose="02010609060101010101" pitchFamily="49" charset="-122"/>
              </a:rPr>
              <a:t>首先，填写</a:t>
            </a:r>
            <a:r>
              <a:rPr lang="en-US" altLang="zh-CN" sz="2800" dirty="0">
                <a:solidFill>
                  <a:srgbClr val="FF0000"/>
                </a:solidFill>
                <a:latin typeface="仿宋" panose="02010609060101010101" pitchFamily="49" charset="-122"/>
                <a:ea typeface="仿宋" panose="02010609060101010101" pitchFamily="49" charset="-122"/>
              </a:rPr>
              <a:t>《</a:t>
            </a:r>
            <a:r>
              <a:rPr lang="zh-CN" altLang="en-US" sz="2800" dirty="0">
                <a:solidFill>
                  <a:srgbClr val="FF0000"/>
                </a:solidFill>
                <a:latin typeface="仿宋" panose="02010609060101010101" pitchFamily="49" charset="-122"/>
                <a:ea typeface="仿宋" panose="02010609060101010101" pitchFamily="49" charset="-122"/>
              </a:rPr>
              <a:t>设备操作与口试记录表</a:t>
            </a:r>
            <a:r>
              <a:rPr lang="en-US" altLang="zh-CN" sz="2800" dirty="0">
                <a:solidFill>
                  <a:srgbClr val="FF0000"/>
                </a:solidFill>
                <a:latin typeface="仿宋" panose="02010609060101010101" pitchFamily="49" charset="-122"/>
                <a:ea typeface="仿宋" panose="02010609060101010101" pitchFamily="49" charset="-122"/>
              </a:rPr>
              <a:t>》</a:t>
            </a:r>
            <a:r>
              <a:rPr lang="zh-CN" altLang="en-US" sz="2800" dirty="0">
                <a:solidFill>
                  <a:prstClr val="black"/>
                </a:solidFill>
                <a:latin typeface="仿宋" panose="02010609060101010101" pitchFamily="49" charset="-122"/>
                <a:ea typeface="仿宋" panose="02010609060101010101" pitchFamily="49" charset="-122"/>
              </a:rPr>
              <a:t>。将表中设备名称、申请人导师栏内容及联系电话等信息填好后交到</a:t>
            </a:r>
            <a:r>
              <a:rPr lang="zh-CN" altLang="en-US" sz="2800" dirty="0">
                <a:solidFill>
                  <a:srgbClr val="FF0000"/>
                </a:solidFill>
                <a:latin typeface="仿宋" panose="02010609060101010101" pitchFamily="49" charset="-122"/>
                <a:ea typeface="仿宋" panose="02010609060101010101" pitchFamily="49" charset="-122"/>
              </a:rPr>
              <a:t>相关工艺工程师</a:t>
            </a:r>
            <a:r>
              <a:rPr lang="zh-CN" altLang="en-US" sz="2800" dirty="0">
                <a:solidFill>
                  <a:prstClr val="black"/>
                </a:solidFill>
                <a:latin typeface="仿宋" panose="02010609060101010101" pitchFamily="49" charset="-122"/>
                <a:ea typeface="仿宋" panose="02010609060101010101" pitchFamily="49" charset="-122"/>
              </a:rPr>
              <a:t>处并报名。</a:t>
            </a:r>
            <a:endParaRPr lang="en-US" altLang="zh-CN" sz="2800" dirty="0">
              <a:solidFill>
                <a:prstClr val="black"/>
              </a:solidFill>
              <a:latin typeface="仿宋" panose="02010609060101010101" pitchFamily="49" charset="-122"/>
              <a:ea typeface="仿宋" panose="02010609060101010101" pitchFamily="49" charset="-122"/>
            </a:endParaRPr>
          </a:p>
          <a:p>
            <a:pPr marL="457200" lvl="0" indent="-457200" algn="l" defTabSz="914400" fontAlgn="auto" hangingPunct="1">
              <a:lnSpc>
                <a:spcPct val="150000"/>
              </a:lnSpc>
              <a:spcBef>
                <a:spcPts val="580"/>
              </a:spcBef>
              <a:spcAft>
                <a:spcPts val="0"/>
              </a:spcAft>
              <a:buClr>
                <a:srgbClr val="FF0000"/>
              </a:buClr>
              <a:buSzPct val="85000"/>
              <a:buFont typeface="+mj-ea"/>
              <a:buAutoNum type="circleNumDbPlain"/>
            </a:pPr>
            <a:r>
              <a:rPr lang="zh-CN" altLang="zh-CN" sz="2800" dirty="0">
                <a:solidFill>
                  <a:prstClr val="black"/>
                </a:solidFill>
                <a:latin typeface="仿宋" panose="02010609060101010101" pitchFamily="49" charset="-122"/>
                <a:ea typeface="仿宋" panose="02010609060101010101" pitchFamily="49" charset="-122"/>
              </a:rPr>
              <a:t>仔细阅读相关设备的使用说明（</a:t>
            </a:r>
            <a:r>
              <a:rPr lang="zh-CN" altLang="en-US" sz="2800" dirty="0">
                <a:solidFill>
                  <a:prstClr val="black"/>
                </a:solidFill>
                <a:latin typeface="仿宋" panose="02010609060101010101" pitchFamily="49" charset="-122"/>
                <a:ea typeface="仿宋" panose="02010609060101010101" pitchFamily="49" charset="-122"/>
              </a:rPr>
              <a:t>将会在实验室</a:t>
            </a:r>
            <a:r>
              <a:rPr lang="zh-CN" altLang="zh-CN" sz="2800" dirty="0">
                <a:solidFill>
                  <a:prstClr val="black"/>
                </a:solidFill>
                <a:latin typeface="仿宋" panose="02010609060101010101" pitchFamily="49" charset="-122"/>
                <a:ea typeface="仿宋" panose="02010609060101010101" pitchFamily="49" charset="-122"/>
              </a:rPr>
              <a:t>网站</a:t>
            </a:r>
            <a:r>
              <a:rPr lang="zh-CN" altLang="en-US" sz="2800" dirty="0">
                <a:solidFill>
                  <a:prstClr val="black"/>
                </a:solidFill>
                <a:latin typeface="仿宋" panose="02010609060101010101" pitchFamily="49" charset="-122"/>
                <a:ea typeface="仿宋" panose="02010609060101010101" pitchFamily="49" charset="-122"/>
              </a:rPr>
              <a:t>上逐步公布）</a:t>
            </a:r>
            <a:r>
              <a:rPr lang="zh-CN" altLang="zh-CN" sz="2800" dirty="0">
                <a:solidFill>
                  <a:prstClr val="black"/>
                </a:solidFill>
                <a:latin typeface="仿宋" panose="02010609060101010101" pitchFamily="49" charset="-122"/>
                <a:ea typeface="仿宋" panose="02010609060101010101" pitchFamily="49" charset="-122"/>
              </a:rPr>
              <a:t>。</a:t>
            </a:r>
            <a:r>
              <a:rPr lang="zh-CN" altLang="en-US" sz="2800" dirty="0">
                <a:solidFill>
                  <a:prstClr val="black"/>
                </a:solidFill>
                <a:latin typeface="仿宋" panose="02010609060101010101" pitchFamily="49" charset="-122"/>
                <a:ea typeface="仿宋" panose="02010609060101010101" pitchFamily="49" charset="-122"/>
              </a:rPr>
              <a:t>联系工艺工程师，由工艺工程师安排培训时间。培训完毕，有需要继续练习的可与工艺工程师预约练习时间。</a:t>
            </a:r>
            <a:endParaRPr lang="en-US" altLang="zh-CN" sz="2800" dirty="0">
              <a:solidFill>
                <a:prstClr val="black"/>
              </a:solidFill>
              <a:latin typeface="仿宋" panose="02010609060101010101" pitchFamily="49" charset="-122"/>
              <a:ea typeface="仿宋" panose="02010609060101010101" pitchFamily="49" charset="-122"/>
            </a:endParaRPr>
          </a:p>
          <a:p>
            <a:pPr marL="457200" lvl="0" indent="-457200" algn="l" defTabSz="914400" fontAlgn="auto" hangingPunct="1">
              <a:lnSpc>
                <a:spcPct val="150000"/>
              </a:lnSpc>
              <a:spcBef>
                <a:spcPts val="580"/>
              </a:spcBef>
              <a:spcAft>
                <a:spcPts val="0"/>
              </a:spcAft>
              <a:buClr>
                <a:srgbClr val="FF0000"/>
              </a:buClr>
              <a:buSzPct val="85000"/>
              <a:buFont typeface="+mj-ea"/>
              <a:buAutoNum type="circleNumDbPlain"/>
            </a:pPr>
            <a:r>
              <a:rPr lang="zh-CN" altLang="en-US" sz="2800" dirty="0">
                <a:solidFill>
                  <a:prstClr val="black"/>
                </a:solidFill>
                <a:latin typeface="仿宋" panose="02010609060101010101" pitchFamily="49" charset="-122"/>
                <a:ea typeface="仿宋" panose="02010609060101010101" pitchFamily="49" charset="-122"/>
              </a:rPr>
              <a:t>在没有考试合格之前，需要操作设备做工艺，必须先联系工艺工程师或找已获得设备操作许可权的用户安排好操作时间后，再在网上预约。否则，视预约无效。操作设备时必须有工艺工程师或已获得设备操作许可权的用户在场</a:t>
            </a:r>
            <a:endParaRPr lang="en-US" altLang="zh-CN" sz="2800" dirty="0">
              <a:solidFill>
                <a:prstClr val="black"/>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1227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22</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18752" y="1674381"/>
            <a:ext cx="5109092" cy="830997"/>
          </a:xfrm>
          <a:prstGeom prst="rect">
            <a:avLst/>
          </a:prstGeom>
        </p:spPr>
        <p:txBody>
          <a:bodyPr wrap="none">
            <a:spAutoFit/>
          </a:bodyPr>
          <a:lstStyle/>
          <a:p>
            <a:pPr marL="571500" indent="-571500">
              <a:lnSpc>
                <a:spcPct val="150000"/>
              </a:lnSpc>
              <a:buFont typeface="+mj-ea"/>
              <a:buAutoNum type="ea1JpnChsDbPeriod" startAt="6"/>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设备操作培训具体流程</a:t>
            </a:r>
            <a:endParaRPr lang="en-US" altLang="zh-CN"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p:cNvSpPr/>
          <p:nvPr/>
        </p:nvSpPr>
        <p:spPr>
          <a:xfrm>
            <a:off x="669752" y="2716560"/>
            <a:ext cx="11737304" cy="4719241"/>
          </a:xfrm>
          <a:prstGeom prst="rect">
            <a:avLst/>
          </a:prstGeom>
        </p:spPr>
        <p:txBody>
          <a:bodyPr wrap="square">
            <a:spAutoFit/>
          </a:bodyPr>
          <a:lstStyle/>
          <a:p>
            <a:pPr marL="273600" lvl="0" indent="-441325" algn="l" defTabSz="914400" fontAlgn="auto" hangingPunct="1">
              <a:lnSpc>
                <a:spcPct val="150000"/>
              </a:lnSpc>
              <a:spcBef>
                <a:spcPts val="432"/>
              </a:spcBef>
              <a:spcAft>
                <a:spcPts val="0"/>
              </a:spcAft>
              <a:buClr>
                <a:srgbClr val="FF0000"/>
              </a:buClr>
              <a:buSzPct val="85000"/>
              <a:buFont typeface="+mj-ea"/>
              <a:buAutoNum type="circleNumDbPlain" startAt="4"/>
            </a:pPr>
            <a:r>
              <a:rPr lang="zh-CN" altLang="en-US" sz="2800" dirty="0">
                <a:solidFill>
                  <a:prstClr val="black"/>
                </a:solidFill>
                <a:latin typeface="仿宋" panose="02010609060101010101" pitchFamily="49" charset="-122"/>
                <a:ea typeface="仿宋" panose="02010609060101010101" pitchFamily="49" charset="-122"/>
              </a:rPr>
              <a:t>认为能够独立操作设备，预约工艺工程师进行</a:t>
            </a:r>
            <a:r>
              <a:rPr lang="zh-CN" altLang="en-US" sz="2800" dirty="0">
                <a:solidFill>
                  <a:srgbClr val="FF0000"/>
                </a:solidFill>
                <a:latin typeface="仿宋" panose="02010609060101010101" pitchFamily="49" charset="-122"/>
                <a:ea typeface="仿宋" panose="02010609060101010101" pitchFamily="49" charset="-122"/>
              </a:rPr>
              <a:t>笔试和实际操作考核</a:t>
            </a:r>
            <a:r>
              <a:rPr lang="zh-CN" altLang="en-US" sz="2800" dirty="0">
                <a:solidFill>
                  <a:prstClr val="black"/>
                </a:solidFill>
                <a:latin typeface="仿宋" panose="02010609060101010101" pitchFamily="49" charset="-122"/>
                <a:ea typeface="仿宋" panose="02010609060101010101" pitchFamily="49" charset="-122"/>
              </a:rPr>
              <a:t>。</a:t>
            </a:r>
            <a:r>
              <a:rPr lang="zh-CN" altLang="zh-CN" sz="2800" dirty="0">
                <a:solidFill>
                  <a:prstClr val="black"/>
                </a:solidFill>
                <a:latin typeface="仿宋" panose="02010609060101010101" pitchFamily="49" charset="-122"/>
                <a:ea typeface="仿宋" panose="02010609060101010101" pitchFamily="49" charset="-122"/>
              </a:rPr>
              <a:t>笔试通过后，用户需</a:t>
            </a:r>
            <a:r>
              <a:rPr lang="zh-CN" altLang="en-US" sz="2800" dirty="0">
                <a:solidFill>
                  <a:prstClr val="black"/>
                </a:solidFill>
                <a:latin typeface="仿宋" panose="02010609060101010101" pitchFamily="49" charset="-122"/>
                <a:ea typeface="仿宋" panose="02010609060101010101" pitchFamily="49" charset="-122"/>
              </a:rPr>
              <a:t>再次</a:t>
            </a:r>
            <a:r>
              <a:rPr lang="zh-CN" altLang="zh-CN" sz="2800" dirty="0">
                <a:solidFill>
                  <a:prstClr val="black"/>
                </a:solidFill>
                <a:latin typeface="仿宋" panose="02010609060101010101" pitchFamily="49" charset="-122"/>
                <a:ea typeface="仿宋" panose="02010609060101010101" pitchFamily="49" charset="-122"/>
              </a:rPr>
              <a:t>预约</a:t>
            </a:r>
            <a:r>
              <a:rPr lang="zh-CN" altLang="en-US" sz="2800" dirty="0">
                <a:solidFill>
                  <a:prstClr val="black"/>
                </a:solidFill>
                <a:latin typeface="仿宋" panose="02010609060101010101" pitchFamily="49" charset="-122"/>
                <a:ea typeface="仿宋" panose="02010609060101010101" pitchFamily="49" charset="-122"/>
              </a:rPr>
              <a:t>实验室</a:t>
            </a:r>
            <a:r>
              <a:rPr lang="zh-CN" altLang="zh-CN" sz="2800" dirty="0">
                <a:solidFill>
                  <a:prstClr val="black"/>
                </a:solidFill>
                <a:latin typeface="仿宋" panose="02010609060101010101" pitchFamily="49" charset="-122"/>
                <a:ea typeface="仿宋" panose="02010609060101010101" pitchFamily="49" charset="-122"/>
              </a:rPr>
              <a:t>工艺工程师进行设备的实际操作</a:t>
            </a:r>
            <a:r>
              <a:rPr lang="zh-CN" altLang="en-US" sz="2800" dirty="0">
                <a:solidFill>
                  <a:prstClr val="black"/>
                </a:solidFill>
                <a:latin typeface="仿宋" panose="02010609060101010101" pitchFamily="49" charset="-122"/>
                <a:ea typeface="仿宋" panose="02010609060101010101" pitchFamily="49" charset="-122"/>
              </a:rPr>
              <a:t>考核</a:t>
            </a:r>
            <a:r>
              <a:rPr lang="zh-CN" altLang="zh-CN" sz="2800" dirty="0">
                <a:solidFill>
                  <a:prstClr val="black"/>
                </a:solidFill>
                <a:latin typeface="仿宋" panose="02010609060101010101" pitchFamily="49" charset="-122"/>
                <a:ea typeface="仿宋" panose="02010609060101010101" pitchFamily="49" charset="-122"/>
              </a:rPr>
              <a:t>。用户需一边操作一边对操作步骤进行解释，同时回答工艺工程师的提问。</a:t>
            </a:r>
            <a:endParaRPr lang="en-US" altLang="zh-CN" sz="2800" dirty="0">
              <a:solidFill>
                <a:srgbClr val="D34817"/>
              </a:solidFill>
              <a:latin typeface="仿宋" panose="02010609060101010101" pitchFamily="49" charset="-122"/>
              <a:ea typeface="仿宋" panose="02010609060101010101" pitchFamily="49" charset="-122"/>
            </a:endParaRPr>
          </a:p>
          <a:p>
            <a:pPr marL="273600" lvl="0" indent="-441325" algn="l" defTabSz="914400" fontAlgn="auto" hangingPunct="1">
              <a:lnSpc>
                <a:spcPct val="150000"/>
              </a:lnSpc>
              <a:spcBef>
                <a:spcPts val="432"/>
              </a:spcBef>
              <a:spcAft>
                <a:spcPts val="0"/>
              </a:spcAft>
              <a:buClr>
                <a:srgbClr val="FF0000"/>
              </a:buClr>
              <a:buSzPct val="85000"/>
              <a:buFont typeface="+mj-ea"/>
              <a:buAutoNum type="circleNumDbPlain" startAt="4"/>
            </a:pPr>
            <a:r>
              <a:rPr lang="zh-CN" altLang="zh-CN" sz="2800" dirty="0">
                <a:solidFill>
                  <a:prstClr val="black"/>
                </a:solidFill>
                <a:latin typeface="仿宋" panose="02010609060101010101" pitchFamily="49" charset="-122"/>
                <a:ea typeface="仿宋" panose="02010609060101010101" pitchFamily="49" charset="-122"/>
              </a:rPr>
              <a:t>操作</a:t>
            </a:r>
            <a:r>
              <a:rPr lang="zh-CN" altLang="en-US" sz="2800" dirty="0">
                <a:solidFill>
                  <a:prstClr val="black"/>
                </a:solidFill>
                <a:latin typeface="仿宋" panose="02010609060101010101" pitchFamily="49" charset="-122"/>
                <a:ea typeface="仿宋" panose="02010609060101010101" pitchFamily="49" charset="-122"/>
              </a:rPr>
              <a:t>考</a:t>
            </a:r>
            <a:r>
              <a:rPr lang="zh-CN" altLang="zh-CN" sz="2800" dirty="0">
                <a:solidFill>
                  <a:prstClr val="black"/>
                </a:solidFill>
                <a:latin typeface="仿宋" panose="02010609060101010101" pitchFamily="49" charset="-122"/>
                <a:ea typeface="仿宋" panose="02010609060101010101" pitchFamily="49" charset="-122"/>
              </a:rPr>
              <a:t>试用户需要自备实验样片以及各种相关材料。</a:t>
            </a:r>
            <a:endParaRPr lang="en-US" altLang="zh-CN" sz="2800" dirty="0">
              <a:solidFill>
                <a:prstClr val="black"/>
              </a:solidFill>
              <a:latin typeface="仿宋" panose="02010609060101010101" pitchFamily="49" charset="-122"/>
              <a:ea typeface="仿宋" panose="02010609060101010101" pitchFamily="49" charset="-122"/>
            </a:endParaRPr>
          </a:p>
          <a:p>
            <a:pPr marL="273600" lvl="0" indent="-441325" algn="l" defTabSz="914400" fontAlgn="auto" hangingPunct="1">
              <a:lnSpc>
                <a:spcPct val="150000"/>
              </a:lnSpc>
              <a:spcBef>
                <a:spcPts val="432"/>
              </a:spcBef>
              <a:spcAft>
                <a:spcPts val="0"/>
              </a:spcAft>
              <a:buClr>
                <a:srgbClr val="FF0000"/>
              </a:buClr>
              <a:buSzPct val="85000"/>
              <a:buFont typeface="+mj-ea"/>
              <a:buAutoNum type="circleNumDbPlain" startAt="4"/>
            </a:pPr>
            <a:r>
              <a:rPr lang="zh-CN" altLang="en-US" sz="2800" dirty="0">
                <a:solidFill>
                  <a:prstClr val="black"/>
                </a:solidFill>
                <a:latin typeface="仿宋" panose="02010609060101010101" pitchFamily="49" charset="-122"/>
                <a:ea typeface="仿宋" panose="02010609060101010101" pitchFamily="49" charset="-122"/>
              </a:rPr>
              <a:t>考试合格后，由工艺工程师填写</a:t>
            </a:r>
            <a:r>
              <a:rPr lang="en-US" altLang="zh-CN" sz="2800" dirty="0">
                <a:solidFill>
                  <a:prstClr val="black"/>
                </a:solidFill>
                <a:latin typeface="仿宋" panose="02010609060101010101" pitchFamily="49" charset="-122"/>
                <a:ea typeface="仿宋" panose="02010609060101010101" pitchFamily="49" charset="-122"/>
              </a:rPr>
              <a:t>《</a:t>
            </a:r>
            <a:r>
              <a:rPr lang="zh-CN" altLang="en-US" sz="2800" dirty="0">
                <a:solidFill>
                  <a:prstClr val="black"/>
                </a:solidFill>
                <a:latin typeface="仿宋" panose="02010609060101010101" pitchFamily="49" charset="-122"/>
                <a:ea typeface="仿宋" panose="02010609060101010101" pitchFamily="49" charset="-122"/>
              </a:rPr>
              <a:t>设备操作与口试记录表</a:t>
            </a:r>
            <a:r>
              <a:rPr lang="en-US" altLang="zh-CN" sz="2800" dirty="0">
                <a:solidFill>
                  <a:prstClr val="black"/>
                </a:solidFill>
                <a:latin typeface="仿宋" panose="02010609060101010101" pitchFamily="49" charset="-122"/>
                <a:ea typeface="仿宋" panose="02010609060101010101" pitchFamily="49" charset="-122"/>
              </a:rPr>
              <a:t>》</a:t>
            </a:r>
            <a:r>
              <a:rPr lang="zh-CN" altLang="en-US" sz="2800" dirty="0">
                <a:solidFill>
                  <a:prstClr val="black"/>
                </a:solidFill>
                <a:latin typeface="仿宋" panose="02010609060101010101" pitchFamily="49" charset="-122"/>
                <a:ea typeface="仿宋" panose="02010609060101010101" pitchFamily="49" charset="-122"/>
              </a:rPr>
              <a:t>并交到苏鑫老师处。考试合格的用户名单会在网站上公布。该用户方能独立操作本设备。</a:t>
            </a:r>
            <a:r>
              <a:rPr lang="zh-CN" altLang="zh-CN" sz="2800" dirty="0">
                <a:solidFill>
                  <a:srgbClr val="FF0000"/>
                </a:solidFill>
                <a:latin typeface="仿宋" panose="02010609060101010101" pitchFamily="49" charset="-122"/>
                <a:ea typeface="仿宋" panose="02010609060101010101" pitchFamily="49" charset="-122"/>
              </a:rPr>
              <a:t>培训</a:t>
            </a:r>
            <a:r>
              <a:rPr lang="zh-CN" altLang="en-US" sz="2800" dirty="0">
                <a:solidFill>
                  <a:srgbClr val="FF0000"/>
                </a:solidFill>
                <a:latin typeface="仿宋" panose="02010609060101010101" pitchFamily="49" charset="-122"/>
                <a:ea typeface="仿宋" panose="02010609060101010101" pitchFamily="49" charset="-122"/>
              </a:rPr>
              <a:t>和考核时</a:t>
            </a:r>
            <a:r>
              <a:rPr lang="zh-CN" altLang="zh-CN" sz="2800" dirty="0">
                <a:solidFill>
                  <a:srgbClr val="FF0000"/>
                </a:solidFill>
                <a:latin typeface="仿宋" panose="02010609060101010101" pitchFamily="49" charset="-122"/>
                <a:ea typeface="仿宋" panose="02010609060101010101" pitchFamily="49" charset="-122"/>
              </a:rPr>
              <a:t>设备的使用费用</a:t>
            </a:r>
            <a:r>
              <a:rPr lang="zh-CN" altLang="en-US" sz="2800" dirty="0">
                <a:solidFill>
                  <a:srgbClr val="FF0000"/>
                </a:solidFill>
                <a:latin typeface="仿宋" panose="02010609060101010101" pitchFamily="49" charset="-122"/>
                <a:ea typeface="仿宋" panose="02010609060101010101" pitchFamily="49" charset="-122"/>
              </a:rPr>
              <a:t>全部</a:t>
            </a:r>
            <a:r>
              <a:rPr lang="zh-CN" altLang="zh-CN" sz="2800" dirty="0">
                <a:solidFill>
                  <a:srgbClr val="FF0000"/>
                </a:solidFill>
                <a:latin typeface="仿宋" panose="02010609060101010101" pitchFamily="49" charset="-122"/>
                <a:ea typeface="仿宋" panose="02010609060101010101" pitchFamily="49" charset="-122"/>
              </a:rPr>
              <a:t>由被培训用户承担</a:t>
            </a:r>
            <a:r>
              <a:rPr lang="zh-CN" altLang="zh-CN" sz="2800" dirty="0">
                <a:solidFill>
                  <a:prstClr val="black"/>
                </a:solidFill>
                <a:latin typeface="仿宋" panose="02010609060101010101" pitchFamily="49" charset="-122"/>
                <a:ea typeface="仿宋" panose="02010609060101010101" pitchFamily="49" charset="-122"/>
              </a:rPr>
              <a:t>。</a:t>
            </a:r>
            <a:endParaRPr lang="en-US" altLang="zh-CN" sz="2800" dirty="0">
              <a:solidFill>
                <a:prstClr val="black"/>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499829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23</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实验室管理规定</a:t>
            </a:r>
          </a:p>
        </p:txBody>
      </p:sp>
      <p:sp>
        <p:nvSpPr>
          <p:cNvPr id="6" name="矩形 5"/>
          <p:cNvSpPr/>
          <p:nvPr/>
        </p:nvSpPr>
        <p:spPr>
          <a:xfrm>
            <a:off x="-29408" y="4901850"/>
            <a:ext cx="8392042" cy="830997"/>
          </a:xfrm>
          <a:prstGeom prst="rect">
            <a:avLst/>
          </a:prstGeom>
        </p:spPr>
        <p:txBody>
          <a:bodyPr wrap="none">
            <a:spAutoFit/>
          </a:bodyPr>
          <a:lstStyle/>
          <a:p>
            <a:pPr marL="571500" indent="-571500">
              <a:lnSpc>
                <a:spcPct val="150000"/>
              </a:lnSpc>
              <a:buFont typeface="+mj-ea"/>
              <a:buAutoNum type="ea1JpnChsDbPeriod" startAt="8"/>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关于非有效用户进入实验参观或工艺加工</a:t>
            </a:r>
          </a:p>
        </p:txBody>
      </p:sp>
      <p:sp>
        <p:nvSpPr>
          <p:cNvPr id="3" name="矩形 2"/>
          <p:cNvSpPr/>
          <p:nvPr/>
        </p:nvSpPr>
        <p:spPr>
          <a:xfrm>
            <a:off x="347553" y="5689505"/>
            <a:ext cx="12333259" cy="1892826"/>
          </a:xfrm>
          <a:prstGeom prst="rect">
            <a:avLst/>
          </a:prstGeom>
        </p:spPr>
        <p:txBody>
          <a:bodyPr wrap="square">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zh-CN" altLang="en-US" sz="2600" b="0" i="0" u="none" strike="noStrike" kern="0" cap="none" spc="0" normalizeH="0" noProof="0" dirty="0">
                <a:ln>
                  <a:noFill/>
                </a:ln>
                <a:solidFill>
                  <a:prstClr val="black"/>
                </a:solidFill>
                <a:effectLst/>
                <a:uLnTx/>
                <a:uFillTx/>
                <a:latin typeface="仿宋" panose="02010609060101010101" pitchFamily="49" charset="-122"/>
                <a:ea typeface="仿宋" panose="02010609060101010101" pitchFamily="49" charset="-122"/>
              </a:rPr>
              <a:t>    </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非有效用户只能在工作时间进入实验</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参观</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或工艺加工</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，需要联系</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实验室支持工程师</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a:t>
            </a:r>
            <a:r>
              <a:rPr kumimoji="0" lang="zh-CN" altLang="en-US" sz="2600" b="0" i="0" u="none" strike="noStrike" kern="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窦维治老师</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a:t>
            </a:r>
            <a:r>
              <a:rPr kumimoji="0" lang="zh-CN" altLang="zh-CN" sz="2600" b="0" i="0" u="none" strike="noStrike" kern="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登记预约</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，得到允许后在</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实验室的有效</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用户</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或工作人员</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陪同下</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方能进入</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a:t>
            </a:r>
            <a:endParaRPr kumimoji="0" lang="zh-CN" altLang="en-US" sz="2600" b="0" i="0" u="none" strike="noStrike" kern="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p:txBody>
      </p:sp>
      <p:sp>
        <p:nvSpPr>
          <p:cNvPr id="7" name="矩形 6"/>
          <p:cNvSpPr/>
          <p:nvPr/>
        </p:nvSpPr>
        <p:spPr>
          <a:xfrm>
            <a:off x="0" y="7640701"/>
            <a:ext cx="2646878" cy="830997"/>
          </a:xfrm>
          <a:prstGeom prst="rect">
            <a:avLst/>
          </a:prstGeom>
        </p:spPr>
        <p:txBody>
          <a:bodyPr wrap="none">
            <a:spAutoFit/>
          </a:bodyPr>
          <a:lstStyle/>
          <a:p>
            <a:pPr marL="571500" indent="-571500">
              <a:lnSpc>
                <a:spcPct val="150000"/>
              </a:lnSpc>
              <a:buFont typeface="+mj-ea"/>
              <a:buAutoNum type="ea1JpnChsDbPeriod" startAt="9"/>
            </a:pPr>
            <a:r>
              <a:rPr lang="zh-CN" altLang="en-US" sz="3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有关致谢</a:t>
            </a:r>
          </a:p>
        </p:txBody>
      </p:sp>
      <p:sp>
        <p:nvSpPr>
          <p:cNvPr id="8" name="矩形 7"/>
          <p:cNvSpPr/>
          <p:nvPr/>
        </p:nvSpPr>
        <p:spPr>
          <a:xfrm>
            <a:off x="330356" y="8282928"/>
            <a:ext cx="12350456" cy="1292662"/>
          </a:xfrm>
          <a:prstGeom prst="rect">
            <a:avLst/>
          </a:prstGeom>
        </p:spPr>
        <p:txBody>
          <a:bodyPr wrap="square">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zh-CN" altLang="en-US" sz="2600" b="0" i="0" u="none" strike="noStrike" kern="0" cap="none" spc="0" normalizeH="0" noProof="0" dirty="0">
                <a:ln>
                  <a:noFill/>
                </a:ln>
                <a:solidFill>
                  <a:prstClr val="black"/>
                </a:solidFill>
                <a:effectLst/>
                <a:uLnTx/>
                <a:uFillTx/>
                <a:latin typeface="仿宋" panose="02010609060101010101" pitchFamily="49" charset="-122"/>
                <a:ea typeface="仿宋" panose="02010609060101010101" pitchFamily="49" charset="-122"/>
              </a:rPr>
              <a:t>    </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用户将来</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发表的论文</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和报告</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中如果包含有在</a:t>
            </a:r>
            <a:r>
              <a:rPr lang="zh-CN" altLang="en-US" sz="2600" kern="0" dirty="0">
                <a:solidFill>
                  <a:prstClr val="black"/>
                </a:solidFill>
                <a:latin typeface="仿宋" panose="02010609060101010101" pitchFamily="49" charset="-122"/>
                <a:ea typeface="仿宋" panose="02010609060101010101" pitchFamily="49" charset="-122"/>
              </a:rPr>
              <a:t>微纳加工平台</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加工或者测试的内容，</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请</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在文后</a:t>
            </a:r>
            <a:r>
              <a:rPr kumimoji="0" lang="zh-CN" altLang="en-US"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表示</a:t>
            </a:r>
            <a:r>
              <a:rPr kumimoji="0" lang="zh-CN"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致谢</a:t>
            </a:r>
            <a:r>
              <a:rPr kumimoji="0" lang="en-US" altLang="zh-CN" sz="26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a:t>
            </a:r>
            <a:endParaRPr kumimoji="0" lang="zh-CN" altLang="en-US" sz="2600" b="0" i="0" u="none" strike="noStrike" kern="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p:txBody>
      </p:sp>
      <p:sp>
        <p:nvSpPr>
          <p:cNvPr id="9" name="Content Placeholder 2"/>
          <p:cNvSpPr txBox="1">
            <a:spLocks/>
          </p:cNvSpPr>
          <p:nvPr/>
        </p:nvSpPr>
        <p:spPr>
          <a:xfrm>
            <a:off x="381720" y="2324246"/>
            <a:ext cx="12299092" cy="2821486"/>
          </a:xfrm>
          <a:prstGeom prst="rect">
            <a:avLst/>
          </a:prstGeom>
        </p:spPr>
        <p:txBody>
          <a:bodyPr vert="horz">
            <a:normAutofit fontScale="925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lvl="0" indent="-514350" defTabSz="914400" fontAlgn="auto">
              <a:lnSpc>
                <a:spcPct val="150000"/>
              </a:lnSpc>
              <a:spcAft>
                <a:spcPts val="0"/>
              </a:spcAft>
              <a:buClr>
                <a:srgbClr val="FF0000"/>
              </a:buClr>
              <a:buFont typeface="+mj-lt"/>
              <a:buAutoNum type="arabicPeriod"/>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对违反</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实验室管理规定</a:t>
            </a:r>
            <a:r>
              <a:rPr lang="en-US" altLang="zh-CN"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a:t>
            </a:r>
            <a:r>
              <a:rPr lang="en-US" altLang="zh-CN"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超净实验室安全</a:t>
            </a:r>
            <a:r>
              <a:rPr lang="en-US" altLang="zh-CN"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a:t>
            </a:r>
            <a:r>
              <a:rPr lang="en-US" altLang="zh-CN"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超净实验室行为规范</a:t>
            </a:r>
            <a:r>
              <a:rPr lang="en-US" altLang="zh-CN"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ysClr val="windowText" lastClr="000000"/>
                </a:solidFill>
                <a:latin typeface="仿宋" panose="02010609060101010101" pitchFamily="49" charset="-122"/>
                <a:ea typeface="仿宋" panose="02010609060101010101" pitchFamily="49" charset="-122"/>
              </a:rPr>
              <a:t>等</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的</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规定</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行为，</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将根据情节提醒或者警告相关用户，</a:t>
            </a:r>
            <a:r>
              <a:rPr kumimoji="0" lang="zh-CN" altLang="en-US" sz="280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通报导师</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并记录。</a:t>
            </a:r>
            <a:endPar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对于屡次违反</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规定</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、或者违反情节严重</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的用户，</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将取消其一定时间、甚至长期的</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使用许可</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权</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endParaRPr kumimoji="0" lang="zh-CN" altLang="en-US" sz="18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10" name="内容占位符 2"/>
          <p:cNvSpPr>
            <a:spLocks noGrp="1"/>
          </p:cNvSpPr>
          <p:nvPr>
            <p:ph idx="1"/>
          </p:nvPr>
        </p:nvSpPr>
        <p:spPr>
          <a:xfrm>
            <a:off x="34063" y="1875753"/>
            <a:ext cx="5676249" cy="579834"/>
          </a:xfrm>
        </p:spPr>
        <p:txBody>
          <a:bodyPr/>
          <a:lstStyle/>
          <a:p>
            <a:pPr marL="571500" lvl="0" indent="-571500" fontAlgn="auto">
              <a:spcBef>
                <a:spcPts val="580"/>
              </a:spcBef>
              <a:spcAft>
                <a:spcPts val="0"/>
              </a:spcAft>
              <a:buSzPct val="85000"/>
              <a:buFont typeface="+mj-ea"/>
              <a:buAutoNum type="ea1JpnChsDbPeriod" startAt="7"/>
              <a:defRPr/>
            </a:pPr>
            <a:r>
              <a:rPr lang="zh-CN" altLang="zh-CN" sz="3200" dirty="0">
                <a:latin typeface="黑体" panose="02010609060101010101" pitchFamily="49" charset="-122"/>
              </a:rPr>
              <a:t>违反</a:t>
            </a:r>
            <a:r>
              <a:rPr lang="zh-CN" altLang="en-US" sz="3200" dirty="0">
                <a:latin typeface="黑体" panose="02010609060101010101" pitchFamily="49" charset="-122"/>
              </a:rPr>
              <a:t>实验室</a:t>
            </a:r>
            <a:r>
              <a:rPr lang="zh-CN" altLang="zh-CN" sz="3200" dirty="0">
                <a:latin typeface="黑体" panose="02010609060101010101" pitchFamily="49" charset="-122"/>
              </a:rPr>
              <a:t>规定的处罚</a:t>
            </a:r>
          </a:p>
        </p:txBody>
      </p:sp>
    </p:spTree>
    <p:extLst>
      <p:ext uri="{BB962C8B-B14F-4D97-AF65-F5344CB8AC3E}">
        <p14:creationId xmlns:p14="http://schemas.microsoft.com/office/powerpoint/2010/main" val="2128379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24</a:t>
            </a:fld>
            <a:endParaRPr lang="zh-CN" altLang="en-US" dirty="0"/>
          </a:p>
        </p:txBody>
      </p:sp>
      <p:sp>
        <p:nvSpPr>
          <p:cNvPr id="6" name="标题 3"/>
          <p:cNvSpPr txBox="1">
            <a:spLocks/>
          </p:cNvSpPr>
          <p:nvPr/>
        </p:nvSpPr>
        <p:spPr bwMode="auto">
          <a:xfrm>
            <a:off x="1127729" y="3963643"/>
            <a:ext cx="10749343" cy="182631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sz="8800" dirty="0"/>
              <a:t>超净实验室行为规范</a:t>
            </a:r>
          </a:p>
        </p:txBody>
      </p:sp>
      <p:sp>
        <p:nvSpPr>
          <p:cNvPr id="8" name="标题 3"/>
          <p:cNvSpPr txBox="1">
            <a:spLocks/>
          </p:cNvSpPr>
          <p:nvPr/>
        </p:nvSpPr>
        <p:spPr bwMode="auto">
          <a:xfrm>
            <a:off x="2541960" y="340296"/>
            <a:ext cx="8280920"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dirty="0"/>
              <a:t>微纳加工平台超净实验室的申请与安全使用培训</a:t>
            </a:r>
          </a:p>
        </p:txBody>
      </p:sp>
    </p:spTree>
    <p:extLst>
      <p:ext uri="{BB962C8B-B14F-4D97-AF65-F5344CB8AC3E}">
        <p14:creationId xmlns:p14="http://schemas.microsoft.com/office/powerpoint/2010/main" val="2161648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25</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graphicFrame>
        <p:nvGraphicFramePr>
          <p:cNvPr id="6" name="表格 5">
            <a:extLst>
              <a:ext uri="{FF2B5EF4-FFF2-40B4-BE49-F238E27FC236}">
                <a16:creationId xmlns:a16="http://schemas.microsoft.com/office/drawing/2014/main" id="{90333E3F-576A-4867-94EE-B525F557E597}"/>
              </a:ext>
            </a:extLst>
          </p:cNvPr>
          <p:cNvGraphicFramePr>
            <a:graphicFrameLocks noGrp="1"/>
          </p:cNvGraphicFramePr>
          <p:nvPr>
            <p:extLst>
              <p:ext uri="{D42A27DB-BD31-4B8C-83A1-F6EECF244321}">
                <p14:modId xmlns:p14="http://schemas.microsoft.com/office/powerpoint/2010/main" val="3556876524"/>
              </p:ext>
            </p:extLst>
          </p:nvPr>
        </p:nvGraphicFramePr>
        <p:xfrm>
          <a:off x="813768" y="2860576"/>
          <a:ext cx="11809312" cy="5169449"/>
        </p:xfrm>
        <a:graphic>
          <a:graphicData uri="http://schemas.openxmlformats.org/drawingml/2006/table">
            <a:tbl>
              <a:tblPr/>
              <a:tblGrid>
                <a:gridCol w="5496158">
                  <a:extLst>
                    <a:ext uri="{9D8B030D-6E8A-4147-A177-3AD203B41FA5}">
                      <a16:colId xmlns:a16="http://schemas.microsoft.com/office/drawing/2014/main" val="145562052"/>
                    </a:ext>
                  </a:extLst>
                </a:gridCol>
                <a:gridCol w="6313154">
                  <a:extLst>
                    <a:ext uri="{9D8B030D-6E8A-4147-A177-3AD203B41FA5}">
                      <a16:colId xmlns:a16="http://schemas.microsoft.com/office/drawing/2014/main" val="3198211430"/>
                    </a:ext>
                  </a:extLst>
                </a:gridCol>
              </a:tblGrid>
              <a:tr h="544315">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b="1" u="none" strike="noStrike" dirty="0">
                          <a:solidFill>
                            <a:srgbClr val="FF0000"/>
                          </a:solidFill>
                          <a:effectLst/>
                          <a:latin typeface="黑体" panose="02010609060101010101" pitchFamily="49" charset="-122"/>
                          <a:ea typeface="黑体" panose="02010609060101010101" pitchFamily="49" charset="-122"/>
                        </a:rPr>
                        <a:t>可以</a:t>
                      </a:r>
                      <a:r>
                        <a:rPr lang="zh-CN" altLang="en-US" sz="2800" b="1" u="none" strike="noStrike" dirty="0">
                          <a:effectLst/>
                          <a:latin typeface="黑体" panose="02010609060101010101" pitchFamily="49" charset="-122"/>
                          <a:ea typeface="黑体" panose="02010609060101010101" pitchFamily="49" charset="-122"/>
                        </a:rPr>
                        <a:t>带入实验室</a:t>
                      </a:r>
                      <a:endParaRPr lang="zh-CN" altLang="en-US" sz="2800" b="1" i="0" u="none" strike="noStrike" dirty="0">
                        <a:solidFill>
                          <a:srgbClr val="000000"/>
                        </a:solidFill>
                        <a:effectLst/>
                        <a:latin typeface="黑体" panose="02010609060101010101" pitchFamily="49" charset="-122"/>
                        <a:ea typeface="黑体"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b="1" u="none" strike="noStrike" dirty="0">
                          <a:solidFill>
                            <a:srgbClr val="FF0000"/>
                          </a:solidFill>
                          <a:effectLst/>
                          <a:latin typeface="黑体" panose="02010609060101010101" pitchFamily="49" charset="-122"/>
                          <a:ea typeface="黑体" panose="02010609060101010101" pitchFamily="49" charset="-122"/>
                        </a:rPr>
                        <a:t>禁止</a:t>
                      </a:r>
                      <a:r>
                        <a:rPr lang="zh-CN" altLang="en-US" sz="2800" b="1" u="none" strike="noStrike" dirty="0">
                          <a:effectLst/>
                          <a:latin typeface="黑体" panose="02010609060101010101" pitchFamily="49" charset="-122"/>
                          <a:ea typeface="黑体" panose="02010609060101010101" pitchFamily="49" charset="-122"/>
                        </a:rPr>
                        <a:t>带入实验室</a:t>
                      </a:r>
                      <a:endParaRPr lang="zh-CN" altLang="en-US" sz="2800" b="1" i="0" u="none" strike="noStrike" dirty="0">
                        <a:solidFill>
                          <a:srgbClr val="000000"/>
                        </a:solidFill>
                        <a:effectLst/>
                        <a:latin typeface="黑体" panose="02010609060101010101" pitchFamily="49" charset="-122"/>
                        <a:ea typeface="黑体"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3993901"/>
                  </a:ext>
                </a:extLst>
              </a:tr>
              <a:tr h="1013943">
                <a:tc rowSpan="2">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just" fontAlgn="ctr"/>
                      <a:r>
                        <a:rPr lang="zh-CN" altLang="en-US" sz="2800" u="none" strike="noStrike" dirty="0">
                          <a:effectLst/>
                          <a:latin typeface="仿宋" panose="02010609060101010101" pitchFamily="49" charset="-122"/>
                          <a:ea typeface="仿宋" panose="02010609060101010101" pitchFamily="49" charset="-122"/>
                        </a:rPr>
                        <a:t>实验样品（</a:t>
                      </a:r>
                      <a:r>
                        <a:rPr lang="zh-CN" altLang="en-US" sz="2800" u="none" strike="noStrike" dirty="0">
                          <a:solidFill>
                            <a:srgbClr val="FF0000"/>
                          </a:solidFill>
                          <a:effectLst/>
                          <a:latin typeface="仿宋" panose="02010609060101010101" pitchFamily="49" charset="-122"/>
                          <a:ea typeface="仿宋" panose="02010609060101010101" pitchFamily="49" charset="-122"/>
                        </a:rPr>
                        <a:t>首次带入来请与工程师确认</a:t>
                      </a:r>
                      <a:r>
                        <a:rPr lang="zh-CN" altLang="en-US" sz="2800" u="none" strike="noStrike" dirty="0">
                          <a:effectLst/>
                          <a:latin typeface="仿宋" panose="02010609060101010101" pitchFamily="49" charset="-122"/>
                          <a:ea typeface="仿宋" panose="02010609060101010101" pitchFamily="49" charset="-122"/>
                        </a:rPr>
                        <a:t>！另外注意样品外包装，有包装盒的样品需要将外盒拆去）</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solidFill>
                            <a:srgbClr val="FF0000"/>
                          </a:solidFill>
                          <a:effectLst/>
                          <a:latin typeface="仿宋" panose="02010609060101010101" pitchFamily="49" charset="-122"/>
                          <a:ea typeface="仿宋" panose="02010609060101010101" pitchFamily="49" charset="-122"/>
                        </a:rPr>
                        <a:t>各类食品（包括已经包装好的）</a:t>
                      </a:r>
                      <a:endParaRPr lang="zh-CN" altLang="en-US" sz="2800" b="0" i="0" u="none" strike="noStrike" dirty="0">
                        <a:solidFill>
                          <a:srgbClr val="FF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241203"/>
                  </a:ext>
                </a:extLst>
              </a:tr>
              <a:tr h="165965">
                <a:tc vMerge="1">
                  <a:txBody>
                    <a:bodyPr/>
                    <a:lstStyle/>
                    <a:p>
                      <a:endParaRPr lang="zh-CN" altLang="en-US"/>
                    </a:p>
                  </a:txBody>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solidFill>
                            <a:srgbClr val="FF0000"/>
                          </a:solidFill>
                          <a:effectLst/>
                          <a:latin typeface="仿宋" panose="02010609060101010101" pitchFamily="49" charset="-122"/>
                          <a:ea typeface="仿宋" panose="02010609060101010101" pitchFamily="49" charset="-122"/>
                        </a:rPr>
                        <a:t>各类饮料（喝水请到更衣室）</a:t>
                      </a:r>
                      <a:endParaRPr lang="zh-CN" altLang="en-US" sz="2800" b="0" i="0" u="none" strike="noStrike" dirty="0">
                        <a:solidFill>
                          <a:srgbClr val="FF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2848893"/>
                  </a:ext>
                </a:extLst>
              </a:tr>
              <a:tr h="544315">
                <a:tc rowSpan="2">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夹具、工具</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烟草制品等</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799309"/>
                  </a:ext>
                </a:extLst>
              </a:tr>
              <a:tr h="544315">
                <a:tc vMerge="1">
                  <a:txBody>
                    <a:bodyPr/>
                    <a:lstStyle/>
                    <a:p>
                      <a:endParaRPr lang="zh-CN" altLang="en-US"/>
                    </a:p>
                  </a:txBody>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报纸、杂志、书等纸制品</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8915785"/>
                  </a:ext>
                </a:extLst>
              </a:tr>
              <a:tr h="544315">
                <a:tc rowSpan="3">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无尘笔记本</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铅笔、橡皮等</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62915"/>
                  </a:ext>
                </a:extLst>
              </a:tr>
              <a:tr h="917399">
                <a:tc vMerge="1">
                  <a:txBody>
                    <a:bodyPr/>
                    <a:lstStyle/>
                    <a:p>
                      <a:endParaRPr lang="zh-CN" altLang="en-US"/>
                    </a:p>
                  </a:txBody>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u="none" strike="noStrike" dirty="0">
                          <a:effectLst/>
                          <a:latin typeface="仿宋" panose="02010609060101010101" pitchFamily="49" charset="-122"/>
                          <a:ea typeface="仿宋" panose="02010609060101010101" pitchFamily="49" charset="-122"/>
                        </a:rPr>
                        <a:t>笔记本电脑、平板电脑等电子产品</a:t>
                      </a:r>
                      <a:endParaRPr lang="zh-CN" altLang="en-US" sz="2800" b="0"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091747"/>
                  </a:ext>
                </a:extLst>
              </a:tr>
              <a:tr h="634127">
                <a:tc vMerge="1">
                  <a:txBody>
                    <a:bodyPr/>
                    <a:lstStyle/>
                    <a:p>
                      <a:endParaRPr lang="zh-CN" altLang="en-US"/>
                    </a:p>
                  </a:txBody>
                  <a:tcPr/>
                </a:tc>
                <a:tc>
                  <a:txBody>
                    <a:bodyPr/>
                    <a:lstStyle>
                      <a:lvl1pPr marL="0" algn="l" defTabSz="1300460" rtl="0" eaLnBrk="1" latinLnBrk="0" hangingPunct="1">
                        <a:defRPr sz="2560" kern="1200">
                          <a:solidFill>
                            <a:schemeClr val="dk1"/>
                          </a:solidFill>
                          <a:latin typeface="Perpetua"/>
                          <a:ea typeface=""/>
                          <a:cs typeface=""/>
                        </a:defRPr>
                      </a:lvl1pPr>
                      <a:lvl2pPr marL="650230" algn="l" defTabSz="1300460" rtl="0" eaLnBrk="1" latinLnBrk="0" hangingPunct="1">
                        <a:defRPr sz="2560" kern="1200">
                          <a:solidFill>
                            <a:schemeClr val="dk1"/>
                          </a:solidFill>
                          <a:latin typeface="Perpetua"/>
                          <a:ea typeface=""/>
                          <a:cs typeface=""/>
                        </a:defRPr>
                      </a:lvl2pPr>
                      <a:lvl3pPr marL="1300460" algn="l" defTabSz="1300460" rtl="0" eaLnBrk="1" latinLnBrk="0" hangingPunct="1">
                        <a:defRPr sz="2560" kern="1200">
                          <a:solidFill>
                            <a:schemeClr val="dk1"/>
                          </a:solidFill>
                          <a:latin typeface="Perpetua"/>
                          <a:ea typeface=""/>
                          <a:cs typeface=""/>
                        </a:defRPr>
                      </a:lvl3pPr>
                      <a:lvl4pPr marL="1950690" algn="l" defTabSz="1300460" rtl="0" eaLnBrk="1" latinLnBrk="0" hangingPunct="1">
                        <a:defRPr sz="2560" kern="1200">
                          <a:solidFill>
                            <a:schemeClr val="dk1"/>
                          </a:solidFill>
                          <a:latin typeface="Perpetua"/>
                          <a:ea typeface=""/>
                          <a:cs typeface=""/>
                        </a:defRPr>
                      </a:lvl4pPr>
                      <a:lvl5pPr marL="2600919" algn="l" defTabSz="1300460" rtl="0" eaLnBrk="1" latinLnBrk="0" hangingPunct="1">
                        <a:defRPr sz="2560" kern="1200">
                          <a:solidFill>
                            <a:schemeClr val="dk1"/>
                          </a:solidFill>
                          <a:latin typeface="Perpetua"/>
                          <a:ea typeface=""/>
                          <a:cs typeface=""/>
                        </a:defRPr>
                      </a:lvl5pPr>
                      <a:lvl6pPr marL="3251149" algn="l" defTabSz="1300460" rtl="0" eaLnBrk="1" latinLnBrk="0" hangingPunct="1">
                        <a:defRPr sz="2560" kern="1200">
                          <a:solidFill>
                            <a:schemeClr val="dk1"/>
                          </a:solidFill>
                          <a:latin typeface="Perpetua"/>
                          <a:ea typeface=""/>
                          <a:cs typeface=""/>
                        </a:defRPr>
                      </a:lvl6pPr>
                      <a:lvl7pPr marL="3901379" algn="l" defTabSz="1300460" rtl="0" eaLnBrk="1" latinLnBrk="0" hangingPunct="1">
                        <a:defRPr sz="2560" kern="1200">
                          <a:solidFill>
                            <a:schemeClr val="dk1"/>
                          </a:solidFill>
                          <a:latin typeface="Perpetua"/>
                          <a:ea typeface=""/>
                          <a:cs typeface=""/>
                        </a:defRPr>
                      </a:lvl7pPr>
                      <a:lvl8pPr marL="4551609" algn="l" defTabSz="1300460" rtl="0" eaLnBrk="1" latinLnBrk="0" hangingPunct="1">
                        <a:defRPr sz="2560" kern="1200">
                          <a:solidFill>
                            <a:schemeClr val="dk1"/>
                          </a:solidFill>
                          <a:latin typeface="Perpetua"/>
                          <a:ea typeface=""/>
                          <a:cs typeface=""/>
                        </a:defRPr>
                      </a:lvl8pPr>
                      <a:lvl9pPr marL="5201839" algn="l" defTabSz="1300460" rtl="0" eaLnBrk="1" latinLnBrk="0" hangingPunct="1">
                        <a:defRPr sz="2560" kern="1200">
                          <a:solidFill>
                            <a:schemeClr val="dk1"/>
                          </a:solidFill>
                          <a:latin typeface="Perpetua"/>
                          <a:ea typeface=""/>
                          <a:cs typeface=""/>
                        </a:defRPr>
                      </a:lvl9pPr>
                    </a:lstStyle>
                    <a:p>
                      <a:pPr algn="ctr" fontAlgn="ctr"/>
                      <a:r>
                        <a:rPr lang="zh-CN" altLang="en-US" sz="2800" dirty="0">
                          <a:solidFill>
                            <a:srgbClr val="FF0000"/>
                          </a:solidFill>
                          <a:latin typeface="仿宋" panose="02010609060101010101" pitchFamily="49" charset="-122"/>
                          <a:ea typeface="仿宋" panose="02010609060101010101" pitchFamily="49" charset="-122"/>
                        </a:rPr>
                        <a:t>严禁</a:t>
                      </a:r>
                      <a:r>
                        <a:rPr lang="zh-CN" altLang="en-US" sz="2800" dirty="0">
                          <a:latin typeface="仿宋" panose="02010609060101010101" pitchFamily="49" charset="-122"/>
                          <a:ea typeface="仿宋" panose="02010609060101010101" pitchFamily="49" charset="-122"/>
                        </a:rPr>
                        <a:t>携带</a:t>
                      </a:r>
                      <a:r>
                        <a:rPr lang="zh-CN" altLang="en-US" sz="2800" dirty="0">
                          <a:solidFill>
                            <a:srgbClr val="FF0000"/>
                          </a:solidFill>
                          <a:latin typeface="仿宋" panose="02010609060101010101" pitchFamily="49" charset="-122"/>
                          <a:ea typeface="仿宋" panose="02010609060101010101" pitchFamily="49" charset="-122"/>
                        </a:rPr>
                        <a:t>金</a:t>
                      </a:r>
                      <a:r>
                        <a:rPr lang="zh-CN" altLang="en-US" sz="2800" dirty="0">
                          <a:latin typeface="仿宋" panose="02010609060101010101" pitchFamily="49" charset="-122"/>
                          <a:ea typeface="仿宋" panose="02010609060101010101" pitchFamily="49" charset="-122"/>
                        </a:rPr>
                        <a:t>首饰进入超净室</a:t>
                      </a:r>
                      <a:endParaRPr lang="zh-CN" altLang="en-US" sz="2800" b="1" i="0" u="none" strike="noStrike" dirty="0">
                        <a:solidFill>
                          <a:srgbClr val="000000"/>
                        </a:solidFill>
                        <a:effectLst/>
                        <a:latin typeface="仿宋" panose="02010609060101010101" pitchFamily="49" charset="-122"/>
                        <a:ea typeface="仿宋" panose="02010609060101010101" pitchFamily="49"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1777608"/>
                  </a:ext>
                </a:extLst>
              </a:tr>
            </a:tbl>
          </a:graphicData>
        </a:graphic>
      </p:graphicFrame>
      <p:sp>
        <p:nvSpPr>
          <p:cNvPr id="3" name="矩形 2"/>
          <p:cNvSpPr/>
          <p:nvPr/>
        </p:nvSpPr>
        <p:spPr>
          <a:xfrm>
            <a:off x="7222480" y="8082192"/>
            <a:ext cx="4558313" cy="1200329"/>
          </a:xfrm>
          <a:prstGeom prst="rect">
            <a:avLst/>
          </a:prstGeom>
          <a:solidFill>
            <a:srgbClr val="FF0000"/>
          </a:solidFill>
        </p:spPr>
        <p:txBody>
          <a:bodyPr wrap="square">
            <a:spAutoFit/>
          </a:bodyPr>
          <a:lstStyle/>
          <a:p>
            <a:pPr algn="just" fontAlgn="ctr"/>
            <a:r>
              <a:rPr lang="zh-CN" altLang="en-US" b="1" dirty="0">
                <a:solidFill>
                  <a:schemeClr val="tx1"/>
                </a:solidFill>
                <a:latin typeface="仿宋" panose="02010609060101010101" pitchFamily="49" charset="-122"/>
                <a:ea typeface="仿宋" panose="02010609060101010101" pitchFamily="49" charset="-122"/>
              </a:rPr>
              <a:t>仅列举出常见物品，其他不再一一列举</a:t>
            </a:r>
          </a:p>
        </p:txBody>
      </p:sp>
      <p:sp>
        <p:nvSpPr>
          <p:cNvPr id="7"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一、只允许必须物品带入洁净室</a:t>
            </a:r>
          </a:p>
        </p:txBody>
      </p:sp>
    </p:spTree>
    <p:extLst>
      <p:ext uri="{BB962C8B-B14F-4D97-AF65-F5344CB8AC3E}">
        <p14:creationId xmlns:p14="http://schemas.microsoft.com/office/powerpoint/2010/main" val="2564011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26</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7" name="Content Placeholder 2"/>
          <p:cNvSpPr txBox="1">
            <a:spLocks/>
          </p:cNvSpPr>
          <p:nvPr/>
        </p:nvSpPr>
        <p:spPr>
          <a:xfrm>
            <a:off x="309712" y="2428528"/>
            <a:ext cx="12385376" cy="7128792"/>
          </a:xfrm>
          <a:prstGeom prst="rect">
            <a:avLst/>
          </a:prstGeom>
        </p:spPr>
        <p:txBody>
          <a:bodyPr vert="horz">
            <a:normAutofit fontScale="925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defTabSz="914400" fontAlgn="auto">
              <a:lnSpc>
                <a:spcPct val="150000"/>
              </a:lnSpc>
              <a:spcAft>
                <a:spcPts val="0"/>
              </a:spcAft>
              <a:buClr>
                <a:srgbClr val="FF0000"/>
              </a:buClr>
              <a:buNone/>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    实验室</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提供</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超净</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实验室使用的</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鞋套、洁净服和洁净</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鞋套、</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网帽</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橡胶</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手套和</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口罩</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。这些物品</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分别</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存放在</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实验室入口处、</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更衣间</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，以及风淋门口</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Aft>
                <a:spcPts val="0"/>
              </a:spcAft>
              <a:buClr>
                <a:srgbClr val="FF0000"/>
              </a:buClr>
              <a:buFont typeface="+mj-lt"/>
              <a:buAutoNum type="arabicPeriod"/>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穿戴鞋套刷卡进入更衣区（</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人员必须通过更衣区进出洁净室</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lt"/>
              <a:buAutoNum type="arabicPeriod"/>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按顺序穿戴洁净服、网帽、口罩、手套等。</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0" indent="0" defTabSz="914400" fontAlgn="auto">
              <a:lnSpc>
                <a:spcPct val="150000"/>
              </a:lnSpc>
              <a:spcBef>
                <a:spcPts val="432"/>
              </a:spcBef>
              <a:spcAft>
                <a:spcPts val="0"/>
              </a:spcAft>
              <a:buClr>
                <a:srgbClr val="FF0000"/>
              </a:buClr>
              <a:buNone/>
              <a:defRPr/>
            </a:pP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      </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洁净服的穿着顺序：</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ea"/>
              <a:buAutoNum type="circleNumDbPlain"/>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实验室使用连体洁净服，需先将裤子穿好，再将上衣穿好；然后穿洁净鞋套。</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ea"/>
              <a:buAutoNum type="circleNumDbPlain"/>
              <a:defRPr/>
            </a:pP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双脚踩过粘尘垫</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ea"/>
              <a:buAutoNum type="circleNumDbPlain"/>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穿戴</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网帽</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（确保</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所有头发都罩在帽子里面</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）、戴好口罩，戴连体衣洁净帽，将洁净服</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拉链</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拉到头。</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ea"/>
              <a:buAutoNum type="circleNumDbPlain"/>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戴好手套，调整袖口用洁净服袖口压住手套口。</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514350" indent="-514350" defTabSz="914400" fontAlgn="auto">
              <a:lnSpc>
                <a:spcPct val="150000"/>
              </a:lnSpc>
              <a:spcBef>
                <a:spcPts val="432"/>
              </a:spcBef>
              <a:spcAft>
                <a:spcPts val="0"/>
              </a:spcAft>
              <a:buClr>
                <a:srgbClr val="FF0000"/>
              </a:buClr>
              <a:buFont typeface="+mj-ea"/>
              <a:buAutoNum type="circleNumDbPlain"/>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整理衣冠，确保</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网帽、头发没有裸露</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defTabSz="914400" fontAlgn="auto">
              <a:lnSpc>
                <a:spcPct val="150000"/>
              </a:lnSpc>
              <a:spcAft>
                <a:spcPts val="0"/>
              </a:spcAft>
              <a:buClr>
                <a:srgbClr val="FF0000"/>
              </a:buClr>
              <a:buFont typeface="+mj-ea"/>
              <a:buAutoNum type="circleNumDbPlain"/>
            </a:pP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endParaRPr lang="zh-CN" altLang="zh-CN" sz="2800" dirty="0">
              <a:latin typeface="仿宋" panose="02010609060101010101" pitchFamily="49" charset="-122"/>
              <a:ea typeface="仿宋" panose="02010609060101010101" pitchFamily="49" charset="-122"/>
            </a:endParaRPr>
          </a:p>
          <a:p>
            <a:pPr defTabSz="914400" fontAlgn="auto">
              <a:spcAft>
                <a:spcPts val="0"/>
              </a:spcAft>
            </a:pPr>
            <a:endParaRPr lang="zh-CN" altLang="en-US" sz="2400" dirty="0">
              <a:latin typeface="+mn-ea"/>
            </a:endParaRPr>
          </a:p>
        </p:txBody>
      </p:sp>
      <p:sp>
        <p:nvSpPr>
          <p:cNvPr id="6"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二、进入洁净室的程序</a:t>
            </a:r>
          </a:p>
        </p:txBody>
      </p:sp>
    </p:spTree>
    <p:extLst>
      <p:ext uri="{BB962C8B-B14F-4D97-AF65-F5344CB8AC3E}">
        <p14:creationId xmlns:p14="http://schemas.microsoft.com/office/powerpoint/2010/main" val="3064831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27</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6" name="Content Placeholder 2"/>
          <p:cNvSpPr txBox="1">
            <a:spLocks/>
          </p:cNvSpPr>
          <p:nvPr/>
        </p:nvSpPr>
        <p:spPr>
          <a:xfrm>
            <a:off x="381720" y="2531185"/>
            <a:ext cx="12313368" cy="5612865"/>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startAt="3"/>
              <a:tabLst/>
              <a:defRPr/>
            </a:pP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进入</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超净</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实验室</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必须</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通过风淋</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而不能通过右边的普通门，普通门仅用于用户出实验室。风淋室处于自动控制的工作状态。用户进入风淋室之后，风淋室的风机自动启动，风从左、右、上三面吹去用户洁净服上的灰尘，同时风淋室的进出门互锁。在风淋过程中，</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用户需举起双手，左右转动身体，使风尽可能吹到洁净服的各个部分。</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风吹结束后，风淋的出口门自动解锁，用户可以进入洁净实验室。千级区洁净室的风淋室允许</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最多两人同时</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进入</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封装区</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超净间风淋每次同时</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只能进入一人</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endPar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p:txBody>
      </p:sp>
      <p:sp>
        <p:nvSpPr>
          <p:cNvPr id="7"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二、进入洁净室的程序</a:t>
            </a:r>
          </a:p>
        </p:txBody>
      </p:sp>
    </p:spTree>
    <p:extLst>
      <p:ext uri="{BB962C8B-B14F-4D97-AF65-F5344CB8AC3E}">
        <p14:creationId xmlns:p14="http://schemas.microsoft.com/office/powerpoint/2010/main" val="1048385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28</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4" name="Content Placeholder 2"/>
          <p:cNvSpPr txBox="1">
            <a:spLocks/>
          </p:cNvSpPr>
          <p:nvPr/>
        </p:nvSpPr>
        <p:spPr>
          <a:xfrm>
            <a:off x="683973" y="2575491"/>
            <a:ext cx="11636853" cy="6772449"/>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ts val="432"/>
              </a:spcBef>
              <a:spcAft>
                <a:spcPts val="0"/>
              </a:spcAft>
              <a:buClr>
                <a:srgbClr val="FF0000"/>
              </a:buClr>
              <a:buSzPct val="85000"/>
              <a:buFont typeface="+mj-lt"/>
              <a:buAutoNum type="arabicPeriod"/>
              <a:tabLst/>
              <a:defRPr/>
            </a:pP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超净</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实验室越干净越好</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是所有用户共同使用的</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，每个用户</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都</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有责任</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保护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好这一公共的环境：</a:t>
            </a:r>
          </a:p>
          <a:p>
            <a:pPr marL="342900" marR="0" lvl="0" indent="-342900" algn="l" defTabSz="914400" rtl="0" eaLnBrk="1" fontAlgn="auto" latinLnBrk="0" hangingPunct="1">
              <a:lnSpc>
                <a:spcPct val="150000"/>
              </a:lnSpc>
              <a:spcBef>
                <a:spcPts val="432"/>
              </a:spcBef>
              <a:spcAft>
                <a:spcPts val="0"/>
              </a:spcAft>
              <a:buClr>
                <a:srgbClr val="FF0000"/>
              </a:buClr>
              <a:buSzPct val="85000"/>
              <a:buFont typeface="+mj-ea"/>
              <a:buAutoNum type="circleNumDbPlain"/>
              <a:tabLst/>
              <a:defRPr/>
            </a:pPr>
            <a:r>
              <a:rPr kumimoji="0" lang="zh-CN" altLang="zh-CN" sz="2800" b="0" i="0" u="none" strike="noStrike" kern="1200" cap="none" spc="0" normalizeH="0" baseline="0" noProof="0" dirty="0">
                <a:ln>
                  <a:noFill/>
                </a:ln>
                <a:solidFill>
                  <a:srgbClr val="0000FF"/>
                </a:solidFill>
                <a:effectLst/>
                <a:uLnTx/>
                <a:uFillTx/>
                <a:latin typeface="仿宋" panose="02010609060101010101" pitchFamily="49" charset="-122"/>
                <a:ea typeface="仿宋" panose="02010609060101010101" pitchFamily="49" charset="-122"/>
              </a:rPr>
              <a:t>你的东西掉在地上，请拣起来；</a:t>
            </a:r>
          </a:p>
          <a:p>
            <a:pPr marL="342900" marR="0" lvl="0" indent="-342900" algn="l" defTabSz="914400" rtl="0" eaLnBrk="1" fontAlgn="auto" latinLnBrk="0" hangingPunct="1">
              <a:lnSpc>
                <a:spcPct val="150000"/>
              </a:lnSpc>
              <a:spcBef>
                <a:spcPts val="432"/>
              </a:spcBef>
              <a:spcAft>
                <a:spcPts val="0"/>
              </a:spcAft>
              <a:buClr>
                <a:srgbClr val="FF0000"/>
              </a:buClr>
              <a:buSzPct val="85000"/>
              <a:buFont typeface="+mj-ea"/>
              <a:buAutoNum type="circleNumDbPlain"/>
              <a:tabLst/>
              <a:defRPr/>
            </a:pPr>
            <a:r>
              <a:rPr kumimoji="0" lang="zh-CN" altLang="zh-CN" sz="2800" b="0" i="0" u="none" strike="noStrike" kern="1200" cap="none" spc="0" normalizeH="0" baseline="0" noProof="0" dirty="0">
                <a:ln>
                  <a:noFill/>
                </a:ln>
                <a:solidFill>
                  <a:srgbClr val="0000FF"/>
                </a:solidFill>
                <a:effectLst/>
                <a:uLnTx/>
                <a:uFillTx/>
                <a:latin typeface="仿宋" panose="02010609060101010101" pitchFamily="49" charset="-122"/>
                <a:ea typeface="仿宋" panose="02010609060101010101" pitchFamily="49" charset="-122"/>
              </a:rPr>
              <a:t>你洒了什么东西，请擦干净；</a:t>
            </a:r>
          </a:p>
          <a:p>
            <a:pPr marL="342900" lvl="0" indent="-342900" defTabSz="914400" fontAlgn="auto">
              <a:lnSpc>
                <a:spcPct val="150000"/>
              </a:lnSpc>
              <a:spcBef>
                <a:spcPts val="432"/>
              </a:spcBef>
              <a:spcAft>
                <a:spcPts val="0"/>
              </a:spcAft>
              <a:buClr>
                <a:srgbClr val="FF0000"/>
              </a:buClr>
              <a:buFont typeface="+mj-ea"/>
              <a:buAutoNum type="circleNumDbPlain"/>
              <a:defRPr/>
            </a:pPr>
            <a:r>
              <a:rPr lang="zh-CN" altLang="en-US" sz="2800" dirty="0">
                <a:latin typeface="仿宋" panose="02010609060101010101" pitchFamily="49" charset="-122"/>
                <a:ea typeface="仿宋" panose="02010609060101010101" pitchFamily="49" charset="-122"/>
              </a:rPr>
              <a:t>请勿随意遗弃破损的器皿或</a:t>
            </a:r>
            <a:r>
              <a:rPr kumimoji="0" lang="zh-CN" altLang="zh-CN"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遗留下的空的化学品瓶子</a:t>
            </a:r>
            <a:r>
              <a:rPr kumimoji="0" lang="zh-CN" altLang="en-US"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若发现此类被遗弃的瓶子或者器皿，请通知该区工程师</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p>
          <a:p>
            <a:pPr marL="342900" marR="0" lvl="0" indent="-342900" algn="l" defTabSz="914400" rtl="0" eaLnBrk="1" fontAlgn="auto" latinLnBrk="0" hangingPunct="1">
              <a:lnSpc>
                <a:spcPct val="150000"/>
              </a:lnSpc>
              <a:spcBef>
                <a:spcPts val="432"/>
              </a:spcBef>
              <a:spcAft>
                <a:spcPts val="0"/>
              </a:spcAft>
              <a:buClr>
                <a:srgbClr val="FF0000"/>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如果看到某人违反了实验室规定，请提醒他，或者告知试验室工作人员。在洁净实验室中，实验室成员的名字和账号都写在</a:t>
            </a:r>
            <a:r>
              <a:rPr kumimoji="0" lang="zh-CN" altLang="zh-CN"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他的</a:t>
            </a:r>
            <a:r>
              <a:rPr kumimoji="0" lang="zh-CN" altLang="en-US"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胸卡上</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，很</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容易分辨。</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18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6"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en-US" altLang="zh-CN" sz="3200" dirty="0">
                <a:latin typeface="Times New Roman" panose="02020603050405020304" pitchFamily="18" charset="0"/>
                <a:cs typeface="Times New Roman" panose="02020603050405020304" pitchFamily="18" charset="0"/>
              </a:rPr>
              <a:t>3</a:t>
            </a:r>
            <a:r>
              <a:rPr lang="zh-CN" altLang="en-US" sz="3200" dirty="0">
                <a:latin typeface="Times New Roman" panose="02020603050405020304" pitchFamily="18" charset="0"/>
                <a:cs typeface="Times New Roman" panose="02020603050405020304" pitchFamily="18" charset="0"/>
              </a:rPr>
              <a:t>、洁净室内行为规范</a:t>
            </a:r>
          </a:p>
        </p:txBody>
      </p:sp>
    </p:spTree>
    <p:extLst>
      <p:ext uri="{BB962C8B-B14F-4D97-AF65-F5344CB8AC3E}">
        <p14:creationId xmlns:p14="http://schemas.microsoft.com/office/powerpoint/2010/main" val="3266203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29</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6" name="Content Placeholder 2"/>
          <p:cNvSpPr txBox="1">
            <a:spLocks/>
          </p:cNvSpPr>
          <p:nvPr/>
        </p:nvSpPr>
        <p:spPr>
          <a:xfrm>
            <a:off x="691765" y="2510853"/>
            <a:ext cx="11621270" cy="5733544"/>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lnSpc>
                <a:spcPct val="150000"/>
              </a:lnSpc>
              <a:spcAft>
                <a:spcPts val="0"/>
              </a:spcAft>
              <a:buClr>
                <a:srgbClr val="FF0000"/>
              </a:buClr>
              <a:buFont typeface="+mj-lt"/>
              <a:buAutoNum type="arabicPeriod" startAt="2"/>
            </a:pP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在等待工艺设备完成某一步流程时，例如腔体抽真空或者放真空，</a:t>
            </a:r>
            <a:r>
              <a:rPr lang="zh-CN" altLang="zh-CN"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做一些有益于洁净实验室的事情</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：如清洁设备或者工作台面、拣起废弃物。</a:t>
            </a:r>
          </a:p>
          <a:p>
            <a:pPr marL="342900" indent="-342900" defTabSz="914400" fontAlgn="auto">
              <a:lnSpc>
                <a:spcPct val="150000"/>
              </a:lnSpc>
              <a:spcAft>
                <a:spcPts val="0"/>
              </a:spcAft>
              <a:buClr>
                <a:srgbClr val="FF0000"/>
              </a:buClr>
              <a:buFont typeface="+mj-ea"/>
              <a:buAutoNum type="circleNumDbPlain"/>
            </a:pP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操作台面上或者地上有</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废纸</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、滤纸时，捡起来扔进垃圾桶；</a:t>
            </a:r>
          </a:p>
          <a:p>
            <a:pPr marL="342900" indent="-342900" defTabSz="914400" fontAlgn="auto">
              <a:lnSpc>
                <a:spcPct val="150000"/>
              </a:lnSpc>
              <a:spcAft>
                <a:spcPts val="0"/>
              </a:spcAft>
              <a:buClr>
                <a:srgbClr val="FF0000"/>
              </a:buClr>
              <a:buFont typeface="+mj-ea"/>
              <a:buAutoNum type="circleNumDbPlain"/>
            </a:pP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将用过的玻片、碎硅片收集并扔进垃圾桶；</a:t>
            </a:r>
          </a:p>
          <a:p>
            <a:pPr marL="342900" indent="-342900" defTabSz="914400" fontAlgn="auto">
              <a:lnSpc>
                <a:spcPct val="150000"/>
              </a:lnSpc>
              <a:spcAft>
                <a:spcPts val="0"/>
              </a:spcAft>
              <a:buClr>
                <a:srgbClr val="FF0000"/>
              </a:buClr>
              <a:buFont typeface="+mj-ea"/>
              <a:buAutoNum type="circleNumDbPlain"/>
            </a:pP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擦干净工作过的湿法工作台；</a:t>
            </a:r>
          </a:p>
          <a:p>
            <a:pPr marL="342900" indent="-342900" defTabSz="914400" fontAlgn="auto">
              <a:lnSpc>
                <a:spcPct val="150000"/>
              </a:lnSpc>
              <a:spcAft>
                <a:spcPts val="0"/>
              </a:spcAft>
              <a:buClr>
                <a:srgbClr val="FF0000"/>
              </a:buClr>
              <a:buFont typeface="+mj-ea"/>
              <a:buAutoNum type="circleNumDbPlain"/>
            </a:pP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擦拭计算机屏幕</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7"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三、洁净室内行为规范</a:t>
            </a:r>
          </a:p>
        </p:txBody>
      </p:sp>
    </p:spTree>
    <p:extLst>
      <p:ext uri="{BB962C8B-B14F-4D97-AF65-F5344CB8AC3E}">
        <p14:creationId xmlns:p14="http://schemas.microsoft.com/office/powerpoint/2010/main" val="1086099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30</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4" name="Content Placeholder 2"/>
          <p:cNvSpPr txBox="1">
            <a:spLocks/>
          </p:cNvSpPr>
          <p:nvPr/>
        </p:nvSpPr>
        <p:spPr>
          <a:xfrm>
            <a:off x="763773" y="2465796"/>
            <a:ext cx="11477254" cy="5828318"/>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indent="-514350" algn="just" defTabSz="914400" fontAlgn="auto">
              <a:lnSpc>
                <a:spcPct val="170000"/>
              </a:lnSpc>
              <a:spcAft>
                <a:spcPts val="0"/>
              </a:spcAft>
              <a:buClr>
                <a:srgbClr val="FF0000"/>
              </a:buClr>
              <a:buFont typeface="+mj-lt"/>
              <a:buAutoNum type="arabicPeriod" startAt="3"/>
              <a:defRPr/>
            </a:pPr>
            <a:r>
              <a:rPr lang="zh-CN" altLang="zh-CN" sz="2800" dirty="0">
                <a:solidFill>
                  <a:sysClr val="windowText" lastClr="000000"/>
                </a:solidFill>
                <a:latin typeface="仿宋" panose="02010609060101010101" pitchFamily="49" charset="-122"/>
                <a:ea typeface="仿宋" panose="02010609060101010101" pitchFamily="49" charset="-122"/>
              </a:rPr>
              <a:t>时常检查一下你的洁净服，</a:t>
            </a:r>
            <a:r>
              <a:rPr lang="zh-CN" altLang="zh-CN" sz="2800" dirty="0">
                <a:solidFill>
                  <a:srgbClr val="FF0000"/>
                </a:solidFill>
                <a:latin typeface="仿宋" panose="02010609060101010101" pitchFamily="49" charset="-122"/>
                <a:ea typeface="仿宋" panose="02010609060101010101" pitchFamily="49" charset="-122"/>
              </a:rPr>
              <a:t>如果有破损</a:t>
            </a:r>
            <a:r>
              <a:rPr lang="zh-CN" altLang="zh-CN" sz="2800" dirty="0">
                <a:solidFill>
                  <a:sysClr val="windowText" lastClr="000000"/>
                </a:solidFill>
                <a:latin typeface="仿宋" panose="02010609060101010101" pitchFamily="49" charset="-122"/>
                <a:ea typeface="仿宋" panose="02010609060101010101" pitchFamily="49" charset="-122"/>
              </a:rPr>
              <a:t>的地方，</a:t>
            </a:r>
            <a:r>
              <a:rPr lang="zh-CN" altLang="en-US" sz="2800" dirty="0">
                <a:solidFill>
                  <a:sysClr val="windowText" lastClr="000000"/>
                </a:solidFill>
                <a:latin typeface="仿宋" panose="02010609060101010101" pitchFamily="49" charset="-122"/>
                <a:ea typeface="仿宋" panose="02010609060101010101" pitchFamily="49" charset="-122"/>
              </a:rPr>
              <a:t>为避免</a:t>
            </a:r>
            <a:r>
              <a:rPr lang="zh-CN" altLang="zh-CN" sz="2800" dirty="0">
                <a:solidFill>
                  <a:sysClr val="windowText" lastClr="000000"/>
                </a:solidFill>
                <a:latin typeface="仿宋" panose="02010609060101010101" pitchFamily="49" charset="-122"/>
                <a:ea typeface="仿宋" panose="02010609060101010101" pitchFamily="49" charset="-122"/>
              </a:rPr>
              <a:t>自己衣服和皮肤上的灰尘会通过破损的地方进入洁净实验室和洁净操作面</a:t>
            </a:r>
            <a:r>
              <a:rPr lang="zh-CN" altLang="en-US" sz="2800" dirty="0">
                <a:solidFill>
                  <a:sysClr val="windowText" lastClr="000000"/>
                </a:solidFill>
                <a:latin typeface="仿宋" panose="02010609060101010101" pitchFamily="49" charset="-122"/>
                <a:ea typeface="仿宋" panose="02010609060101010101" pitchFamily="49" charset="-122"/>
              </a:rPr>
              <a:t>，</a:t>
            </a:r>
            <a:r>
              <a:rPr lang="zh-CN" altLang="en-US" sz="2800" dirty="0">
                <a:solidFill>
                  <a:srgbClr val="FF0000"/>
                </a:solidFill>
                <a:latin typeface="仿宋" panose="02010609060101010101" pitchFamily="49" charset="-122"/>
                <a:ea typeface="仿宋" panose="02010609060101010101" pitchFamily="49" charset="-122"/>
              </a:rPr>
              <a:t>需要及时找平台办公室更换</a:t>
            </a:r>
            <a:r>
              <a:rPr lang="zh-CN" altLang="zh-CN" sz="2800" dirty="0">
                <a:solidFill>
                  <a:sysClr val="windowText" lastClr="000000"/>
                </a:solidFill>
                <a:latin typeface="仿宋" panose="02010609060101010101" pitchFamily="49" charset="-122"/>
                <a:ea typeface="仿宋" panose="02010609060101010101" pitchFamily="49" charset="-122"/>
              </a:rPr>
              <a:t>。洁净服要</a:t>
            </a:r>
            <a:r>
              <a:rPr lang="zh-CN" altLang="en-US" sz="2800" dirty="0">
                <a:solidFill>
                  <a:sysClr val="windowText" lastClr="000000"/>
                </a:solidFill>
                <a:latin typeface="仿宋" panose="02010609060101010101" pitchFamily="49" charset="-122"/>
                <a:ea typeface="仿宋" panose="02010609060101010101" pitchFamily="49" charset="-122"/>
              </a:rPr>
              <a:t>穿戴整齐</a:t>
            </a:r>
            <a:r>
              <a:rPr lang="zh-CN" altLang="zh-CN" sz="2800" dirty="0">
                <a:solidFill>
                  <a:sysClr val="windowText" lastClr="000000"/>
                </a:solidFill>
                <a:latin typeface="仿宋" panose="02010609060101010101" pitchFamily="49" charset="-122"/>
                <a:ea typeface="仿宋" panose="02010609060101010101" pitchFamily="49" charset="-122"/>
              </a:rPr>
              <a:t>。</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514350" indent="-514350" algn="just" defTabSz="914400" fontAlgn="auto">
              <a:lnSpc>
                <a:spcPct val="170000"/>
              </a:lnSpc>
              <a:spcAft>
                <a:spcPts val="0"/>
              </a:spcAft>
              <a:buClr>
                <a:srgbClr val="FF0000"/>
              </a:buClr>
              <a:buFont typeface="+mj-lt"/>
              <a:buAutoNum type="arabicPeriod" startAt="3"/>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超净</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实验室里，用户</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必须自始至终戴</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提供的</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橡胶</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手套</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。这些手套处于更衣间的干净区。这种手套保护实验室的洁净操作面不受人手上的油脂和盐分的污染。注意，</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不要戴着手套碰触脸</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。需要的时候要及时更换手套。</a:t>
            </a:r>
            <a:endPar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20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6"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三、洁净室内行为规范</a:t>
            </a:r>
          </a:p>
        </p:txBody>
      </p:sp>
    </p:spTree>
    <p:extLst>
      <p:ext uri="{BB962C8B-B14F-4D97-AF65-F5344CB8AC3E}">
        <p14:creationId xmlns:p14="http://schemas.microsoft.com/office/powerpoint/2010/main" val="3626074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31</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6" name="Content Placeholder 2"/>
          <p:cNvSpPr txBox="1">
            <a:spLocks/>
          </p:cNvSpPr>
          <p:nvPr/>
        </p:nvSpPr>
        <p:spPr>
          <a:xfrm>
            <a:off x="381720" y="2477561"/>
            <a:ext cx="12313368" cy="6848502"/>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marR="0" lvl="0" indent="-514350" algn="just" defTabSz="914400" rtl="0" eaLnBrk="1" fontAlgn="auto" latinLnBrk="0" hangingPunct="1">
              <a:lnSpc>
                <a:spcPct val="150000"/>
              </a:lnSpc>
              <a:spcBef>
                <a:spcPts val="580"/>
              </a:spcBef>
              <a:spcAft>
                <a:spcPts val="0"/>
              </a:spcAft>
              <a:buClr>
                <a:srgbClr val="FF0000"/>
              </a:buClr>
              <a:buSzPct val="85000"/>
              <a:buFont typeface="+mj-lt"/>
              <a:buAutoNum type="arabicPeriod" startAt="5"/>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洁净实验室还有干净的</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聚乙烯手套</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（透明一次性塑料手套），根据需要，这些手套分布在实验室的不同位置，尤其是有源区。它们用来控制污染。在处理易污染材料时，必须将其自始至终戴在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橡胶</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手套的外面。例如，操作高温炉的石英舟、往溅射台中放置硅片时等。</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514350" marR="0" lvl="0" indent="-514350" algn="just" defTabSz="914400" rtl="0" eaLnBrk="1" fontAlgn="auto" latinLnBrk="0" hangingPunct="1">
              <a:lnSpc>
                <a:spcPct val="150000"/>
              </a:lnSpc>
              <a:spcBef>
                <a:spcPts val="580"/>
              </a:spcBef>
              <a:spcAft>
                <a:spcPts val="0"/>
              </a:spcAft>
              <a:buClr>
                <a:srgbClr val="FF0000"/>
              </a:buClr>
              <a:buSzPct val="85000"/>
              <a:buFont typeface="+mj-lt"/>
              <a:buAutoNum type="arabicPeriod" startAt="5"/>
              <a:tabLst/>
              <a:defRPr/>
            </a:pPr>
            <a:r>
              <a:rPr lang="zh-CN" altLang="en-US" sz="2800" dirty="0">
                <a:solidFill>
                  <a:sysClr val="windowText" lastClr="000000"/>
                </a:solidFill>
                <a:latin typeface="仿宋" panose="02010609060101010101" pitchFamily="49" charset="-122"/>
                <a:ea typeface="仿宋" panose="02010609060101010101" pitchFamily="49" charset="-122"/>
              </a:rPr>
              <a:t>超净间的门要保持常闭。门敞开时，气流可能会将外面脏区的污染物带入洁净室。要缓慢地开、关门，快速地开关会激起脏区的灰尘进入洁净区。</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514350" lvl="0" indent="-514350" algn="just" defTabSz="914400" fontAlgn="auto">
              <a:lnSpc>
                <a:spcPct val="150000"/>
              </a:lnSpc>
              <a:spcAft>
                <a:spcPts val="0"/>
              </a:spcAft>
              <a:buClr>
                <a:srgbClr val="FF0000"/>
              </a:buClr>
              <a:buFont typeface="+mj-lt"/>
              <a:buAutoNum type="arabicPeriod" startAt="5"/>
              <a:defRPr/>
            </a:pPr>
            <a:r>
              <a:rPr lang="zh-CN" altLang="en-US" sz="2800" dirty="0">
                <a:solidFill>
                  <a:sysClr val="windowText" lastClr="000000"/>
                </a:solidFill>
                <a:latin typeface="仿宋" panose="02010609060101010101" pitchFamily="49" charset="-122"/>
                <a:ea typeface="仿宋" panose="02010609060101010101" pitchFamily="49" charset="-122"/>
              </a:rPr>
              <a:t>非必要情况请勿在超净间快走、奔跑、裸露皮肤等。</a:t>
            </a:r>
          </a:p>
          <a:p>
            <a:pPr marL="514350" marR="0" lvl="0" indent="-514350" algn="just" defTabSz="914400" rtl="0" eaLnBrk="1" fontAlgn="auto" latinLnBrk="0" hangingPunct="1">
              <a:lnSpc>
                <a:spcPct val="150000"/>
              </a:lnSpc>
              <a:spcBef>
                <a:spcPts val="580"/>
              </a:spcBef>
              <a:spcAft>
                <a:spcPts val="0"/>
              </a:spcAft>
              <a:buClr>
                <a:srgbClr val="FF0000"/>
              </a:buClr>
              <a:buSzPct val="85000"/>
              <a:buFont typeface="+mj-lt"/>
              <a:buAutoNum type="arabicPeriod" startAt="5"/>
              <a:tabLst/>
              <a:defRPr/>
            </a:pPr>
            <a:endParaRPr lang="zh-CN" altLang="en-US" sz="2800" dirty="0">
              <a:solidFill>
                <a:sysClr val="windowText" lastClr="000000"/>
              </a:solidFill>
              <a:latin typeface="仿宋" panose="02010609060101010101" pitchFamily="49" charset="-122"/>
              <a:ea typeface="仿宋" panose="02010609060101010101" pitchFamily="49" charset="-122"/>
            </a:endParaRPr>
          </a:p>
          <a:p>
            <a:pPr marL="342900" marR="0" lvl="0" indent="-342900" algn="just" defTabSz="914400" rtl="0" eaLnBrk="1" fontAlgn="auto" latinLnBrk="0" hangingPunct="1">
              <a:lnSpc>
                <a:spcPct val="150000"/>
              </a:lnSpc>
              <a:spcBef>
                <a:spcPts val="580"/>
              </a:spcBef>
              <a:spcAft>
                <a:spcPts val="0"/>
              </a:spcAft>
              <a:buClr>
                <a:srgbClr val="D34817"/>
              </a:buClr>
              <a:buSzPct val="85000"/>
              <a:buFont typeface="+mj-ea"/>
              <a:buAutoNum type="circleNumDbPlain" startAt="10"/>
              <a:tabLst/>
              <a:defRPr/>
            </a:pPr>
            <a:endPar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274320" marR="0" lvl="0" indent="-274320" algn="just" defTabSz="914400" rtl="0" eaLnBrk="1" fontAlgn="auto" latinLnBrk="0" hangingPunct="1">
              <a:lnSpc>
                <a:spcPct val="150000"/>
              </a:lnSpc>
              <a:spcBef>
                <a:spcPts val="580"/>
              </a:spcBef>
              <a:spcAft>
                <a:spcPts val="0"/>
              </a:spcAft>
              <a:buClr>
                <a:srgbClr val="D34817"/>
              </a:buClr>
              <a:buSzPct val="85000"/>
              <a:buFont typeface="Wingdings 2"/>
              <a:buChar char=""/>
              <a:tabLst/>
              <a:defRPr/>
            </a:pPr>
            <a:endParaRPr kumimoji="0" lang="zh-CN" altLang="zh-CN" sz="18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7"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三、洁净室内行为规范</a:t>
            </a:r>
          </a:p>
        </p:txBody>
      </p:sp>
    </p:spTree>
    <p:extLst>
      <p:ext uri="{BB962C8B-B14F-4D97-AF65-F5344CB8AC3E}">
        <p14:creationId xmlns:p14="http://schemas.microsoft.com/office/powerpoint/2010/main" val="468749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32</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7" name="Content Placeholder 2"/>
          <p:cNvSpPr txBox="1">
            <a:spLocks/>
          </p:cNvSpPr>
          <p:nvPr/>
        </p:nvSpPr>
        <p:spPr>
          <a:xfrm>
            <a:off x="309712" y="2547339"/>
            <a:ext cx="12385376" cy="729801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indent="-514350" algn="just" defTabSz="914400" fontAlgn="auto">
              <a:lnSpc>
                <a:spcPct val="150000"/>
              </a:lnSpc>
              <a:spcAft>
                <a:spcPts val="0"/>
              </a:spcAft>
              <a:buClr>
                <a:srgbClr val="FF0000"/>
              </a:buClr>
              <a:buFont typeface="+mj-lt"/>
              <a:buAutoNum type="arabicPeriod"/>
            </a:pPr>
            <a:r>
              <a:rPr lang="zh-CN" altLang="zh-CN" sz="2800" dirty="0">
                <a:solidFill>
                  <a:srgbClr val="FF0000"/>
                </a:solidFill>
                <a:latin typeface="仿宋" panose="02010609060101010101" pitchFamily="49" charset="-122"/>
                <a:ea typeface="仿宋" panose="02010609060101010101" pitchFamily="49" charset="-122"/>
              </a:rPr>
              <a:t>禁止留下</a:t>
            </a:r>
            <a:r>
              <a:rPr lang="zh-CN" altLang="en-US" sz="2800" dirty="0">
                <a:solidFill>
                  <a:srgbClr val="FF0000"/>
                </a:solidFill>
                <a:latin typeface="仿宋" panose="02010609060101010101" pitchFamily="49" charset="-122"/>
                <a:ea typeface="仿宋" panose="02010609060101010101" pitchFamily="49" charset="-122"/>
              </a:rPr>
              <a:t>任何液体！</a:t>
            </a:r>
            <a:r>
              <a:rPr lang="zh-CN" altLang="zh-CN" sz="2800" dirty="0">
                <a:latin typeface="仿宋" panose="02010609060101010101" pitchFamily="49" charset="-122"/>
                <a:ea typeface="仿宋" panose="02010609060101010101" pitchFamily="49" charset="-122"/>
              </a:rPr>
              <a:t>使用</a:t>
            </a:r>
            <a:r>
              <a:rPr lang="zh-CN" altLang="en-US" sz="2800" dirty="0">
                <a:latin typeface="仿宋" panose="02010609060101010101" pitchFamily="49" charset="-122"/>
                <a:ea typeface="仿宋" panose="02010609060101010101" pitchFamily="49" charset="-122"/>
              </a:rPr>
              <a:t>操作台</a:t>
            </a:r>
            <a:r>
              <a:rPr lang="zh-CN" altLang="zh-CN" sz="2800" dirty="0">
                <a:latin typeface="仿宋" panose="02010609060101010101" pitchFamily="49" charset="-122"/>
                <a:ea typeface="仿宋" panose="02010609060101010101" pitchFamily="49" charset="-122"/>
              </a:rPr>
              <a:t>后，一定要用</a:t>
            </a:r>
            <a:r>
              <a:rPr lang="zh-CN" altLang="en-US" sz="2800" dirty="0">
                <a:latin typeface="仿宋" panose="02010609060101010101" pitchFamily="49" charset="-122"/>
                <a:ea typeface="仿宋" panose="02010609060101010101" pitchFamily="49" charset="-122"/>
              </a:rPr>
              <a:t>整理</a:t>
            </a:r>
            <a:r>
              <a:rPr lang="zh-CN" altLang="zh-CN" sz="2800" dirty="0">
                <a:latin typeface="仿宋" panose="02010609060101010101" pitchFamily="49" charset="-122"/>
                <a:ea typeface="仿宋" panose="02010609060101010101" pitchFamily="49" charset="-122"/>
              </a:rPr>
              <a:t>干净湿法工作台；</a:t>
            </a:r>
          </a:p>
          <a:p>
            <a:pPr marL="514350" indent="-514350" algn="just" defTabSz="914400" fontAlgn="auto">
              <a:lnSpc>
                <a:spcPct val="150000"/>
              </a:lnSpc>
              <a:spcBef>
                <a:spcPts val="1200"/>
              </a:spcBef>
              <a:spcAft>
                <a:spcPts val="0"/>
              </a:spcAft>
              <a:buClr>
                <a:srgbClr val="FF0000"/>
              </a:buClr>
              <a:buFont typeface="+mj-lt"/>
              <a:buAutoNum type="arabicPeriod"/>
            </a:pPr>
            <a:r>
              <a:rPr lang="zh-CN" altLang="en-US" sz="2800" dirty="0">
                <a:latin typeface="仿宋" panose="02010609060101010101" pitchFamily="49" charset="-122"/>
                <a:ea typeface="仿宋" panose="02010609060101010101" pitchFamily="49" charset="-122"/>
              </a:rPr>
              <a:t>用户原则上工作时不能离开湿法操作台</a:t>
            </a:r>
            <a:r>
              <a:rPr lang="zh-CN"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如果需要临时离开，必须先整理台面，并在所用溶液旁作标识，标识内容包括</a:t>
            </a:r>
            <a:r>
              <a:rPr lang="zh-CN" altLang="en-US" sz="2800" b="1" dirty="0">
                <a:solidFill>
                  <a:srgbClr val="0000FF"/>
                </a:solidFill>
                <a:latin typeface="仿宋" panose="02010609060101010101" pitchFamily="49" charset="-122"/>
                <a:ea typeface="仿宋" panose="02010609060101010101" pitchFamily="49" charset="-122"/>
              </a:rPr>
              <a:t>溶液名称</a:t>
            </a:r>
            <a:r>
              <a:rPr lang="zh-CN" altLang="en-US" sz="2800" dirty="0">
                <a:solidFill>
                  <a:srgbClr val="0000FF"/>
                </a:solidFill>
                <a:latin typeface="仿宋" panose="02010609060101010101" pitchFamily="49" charset="-122"/>
                <a:ea typeface="仿宋" panose="02010609060101010101" pitchFamily="49" charset="-122"/>
              </a:rPr>
              <a:t>、</a:t>
            </a:r>
            <a:r>
              <a:rPr lang="zh-CN" altLang="en-US" sz="2800" b="1" dirty="0">
                <a:solidFill>
                  <a:srgbClr val="0000FF"/>
                </a:solidFill>
                <a:latin typeface="仿宋" panose="02010609060101010101" pitchFamily="49" charset="-122"/>
                <a:ea typeface="仿宋" panose="02010609060101010101" pitchFamily="49" charset="-122"/>
              </a:rPr>
              <a:t>操作人姓名</a:t>
            </a:r>
            <a:r>
              <a:rPr lang="zh-CN" altLang="en-US" sz="2800" dirty="0">
                <a:solidFill>
                  <a:srgbClr val="0000FF"/>
                </a:solidFill>
                <a:latin typeface="仿宋" panose="02010609060101010101" pitchFamily="49" charset="-122"/>
                <a:ea typeface="仿宋" panose="02010609060101010101" pitchFamily="49" charset="-122"/>
              </a:rPr>
              <a:t>、</a:t>
            </a:r>
            <a:r>
              <a:rPr lang="zh-CN" altLang="en-US" sz="2800" b="1" dirty="0">
                <a:solidFill>
                  <a:srgbClr val="0000FF"/>
                </a:solidFill>
                <a:latin typeface="仿宋" panose="02010609060101010101" pitchFamily="49" charset="-122"/>
                <a:ea typeface="仿宋" panose="02010609060101010101" pitchFamily="49" charset="-122"/>
              </a:rPr>
              <a:t>离开时间</a:t>
            </a:r>
            <a:r>
              <a:rPr lang="zh-CN" altLang="en-US" sz="2800" dirty="0">
                <a:solidFill>
                  <a:srgbClr val="0000FF"/>
                </a:solidFill>
                <a:latin typeface="仿宋" panose="02010609060101010101" pitchFamily="49" charset="-122"/>
                <a:ea typeface="仿宋" panose="02010609060101010101" pitchFamily="49" charset="-122"/>
              </a:rPr>
              <a:t>和</a:t>
            </a:r>
            <a:r>
              <a:rPr lang="zh-CN" altLang="en-US" sz="2800" b="1" dirty="0">
                <a:solidFill>
                  <a:srgbClr val="0000FF"/>
                </a:solidFill>
                <a:latin typeface="仿宋" panose="02010609060101010101" pitchFamily="49" charset="-122"/>
                <a:ea typeface="仿宋" panose="02010609060101010101" pitchFamily="49" charset="-122"/>
              </a:rPr>
              <a:t>回来时间</a:t>
            </a:r>
            <a:r>
              <a:rPr lang="zh-CN" altLang="en-US" sz="2800" dirty="0">
                <a:solidFill>
                  <a:srgbClr val="0000FF"/>
                </a:solidFill>
                <a:latin typeface="仿宋" panose="02010609060101010101" pitchFamily="49" charset="-122"/>
                <a:ea typeface="仿宋" panose="02010609060101010101" pitchFamily="49" charset="-122"/>
              </a:rPr>
              <a:t>、</a:t>
            </a:r>
            <a:r>
              <a:rPr lang="zh-CN" altLang="en-US" sz="2800" b="1" dirty="0">
                <a:solidFill>
                  <a:srgbClr val="0000FF"/>
                </a:solidFill>
                <a:latin typeface="仿宋" panose="02010609060101010101" pitchFamily="49" charset="-122"/>
                <a:ea typeface="仿宋" panose="02010609060101010101" pitchFamily="49" charset="-122"/>
              </a:rPr>
              <a:t>联系电话</a:t>
            </a:r>
            <a:r>
              <a:rPr lang="zh-CN" altLang="zh-CN" sz="2800" dirty="0">
                <a:solidFill>
                  <a:srgbClr val="0000FF"/>
                </a:solidFill>
                <a:latin typeface="仿宋" panose="02010609060101010101" pitchFamily="49" charset="-122"/>
                <a:ea typeface="仿宋" panose="02010609060101010101" pitchFamily="49" charset="-122"/>
              </a:rPr>
              <a:t>；</a:t>
            </a:r>
            <a:endParaRPr lang="en-US" altLang="zh-CN" sz="2800" dirty="0">
              <a:solidFill>
                <a:srgbClr val="0000FF"/>
              </a:solidFill>
              <a:latin typeface="仿宋" panose="02010609060101010101" pitchFamily="49" charset="-122"/>
              <a:ea typeface="仿宋" panose="02010609060101010101" pitchFamily="49" charset="-122"/>
            </a:endParaRPr>
          </a:p>
          <a:p>
            <a:pPr marL="514350" indent="-514350" algn="just" defTabSz="914400" fontAlgn="auto">
              <a:lnSpc>
                <a:spcPct val="150000"/>
              </a:lnSpc>
              <a:spcBef>
                <a:spcPts val="1200"/>
              </a:spcBef>
              <a:spcAft>
                <a:spcPts val="0"/>
              </a:spcAft>
              <a:buClr>
                <a:srgbClr val="FF0000"/>
              </a:buClr>
              <a:buFont typeface="+mj-lt"/>
              <a:buAutoNum type="arabicPeriod"/>
            </a:pPr>
            <a:r>
              <a:rPr lang="zh-CN" altLang="zh-CN" sz="2800" dirty="0">
                <a:latin typeface="仿宋" panose="02010609060101010101" pitchFamily="49" charset="-122"/>
                <a:ea typeface="仿宋" panose="02010609060101010101" pitchFamily="49" charset="-122"/>
              </a:rPr>
              <a:t>空化学品瓶会成为安全隐患。用完的空瓶子</a:t>
            </a:r>
            <a:r>
              <a:rPr lang="zh-CN" altLang="en-US" sz="2800" dirty="0">
                <a:latin typeface="仿宋" panose="02010609060101010101" pitchFamily="49" charset="-122"/>
                <a:ea typeface="仿宋" panose="02010609060101010101" pitchFamily="49" charset="-122"/>
              </a:rPr>
              <a:t>先在瓶子上</a:t>
            </a:r>
            <a:r>
              <a:rPr lang="zh-CN" altLang="en-US" sz="2800" b="1" dirty="0">
                <a:solidFill>
                  <a:srgbClr val="0000FF"/>
                </a:solidFill>
                <a:latin typeface="仿宋" panose="02010609060101010101" pitchFamily="49" charset="-122"/>
                <a:ea typeface="仿宋" panose="02010609060101010101" pitchFamily="49" charset="-122"/>
              </a:rPr>
              <a:t>划“</a:t>
            </a:r>
            <a:r>
              <a:rPr lang="en-US" altLang="zh-CN" sz="2800" b="1" dirty="0">
                <a:solidFill>
                  <a:srgbClr val="0000FF"/>
                </a:solidFill>
                <a:latin typeface="仿宋" panose="02010609060101010101" pitchFamily="49" charset="-122"/>
                <a:ea typeface="仿宋" panose="02010609060101010101" pitchFamily="49" charset="-122"/>
              </a:rPr>
              <a:t>X</a:t>
            </a:r>
            <a:r>
              <a:rPr lang="zh-CN" altLang="en-US" sz="2800" b="1" dirty="0">
                <a:solidFill>
                  <a:srgbClr val="0000FF"/>
                </a:solidFill>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，再放到指定空瓶区，由实验室工作人员进行适当处理；</a:t>
            </a:r>
            <a:endParaRPr lang="en-US" altLang="zh-CN" sz="2800" dirty="0">
              <a:latin typeface="仿宋" panose="02010609060101010101" pitchFamily="49" charset="-122"/>
              <a:ea typeface="仿宋" panose="02010609060101010101" pitchFamily="49" charset="-122"/>
            </a:endParaRPr>
          </a:p>
          <a:p>
            <a:pPr marL="514350" indent="-514350" algn="just" defTabSz="914400" fontAlgn="auto">
              <a:lnSpc>
                <a:spcPct val="150000"/>
              </a:lnSpc>
              <a:spcBef>
                <a:spcPts val="1200"/>
              </a:spcBef>
              <a:spcAft>
                <a:spcPts val="0"/>
              </a:spcAft>
              <a:buClr>
                <a:srgbClr val="FF0000"/>
              </a:buClr>
              <a:buFont typeface="+mj-lt"/>
              <a:buAutoNum type="arabicPeriod"/>
            </a:pPr>
            <a:r>
              <a:rPr lang="zh-CN" altLang="en-US" sz="2800" dirty="0">
                <a:solidFill>
                  <a:srgbClr val="FF0000"/>
                </a:solidFill>
                <a:latin typeface="仿宋" panose="02010609060101010101" pitchFamily="49" charset="-122"/>
                <a:ea typeface="仿宋" panose="02010609060101010101" pitchFamily="49" charset="-122"/>
              </a:rPr>
              <a:t>废液瓶一定要做专门标记，以防他人无用</a:t>
            </a:r>
            <a:r>
              <a:rPr lang="zh-CN" altLang="en-US" sz="2800" dirty="0">
                <a:latin typeface="仿宋" panose="02010609060101010101" pitchFamily="49" charset="-122"/>
                <a:ea typeface="仿宋" panose="02010609060101010101" pitchFamily="49" charset="-122"/>
              </a:rPr>
              <a:t>；</a:t>
            </a:r>
            <a:endParaRPr lang="zh-CN" altLang="zh-CN" sz="2800" dirty="0">
              <a:latin typeface="仿宋" panose="02010609060101010101" pitchFamily="49" charset="-122"/>
              <a:ea typeface="仿宋" panose="02010609060101010101" pitchFamily="49" charset="-122"/>
            </a:endParaRPr>
          </a:p>
          <a:p>
            <a:pPr marL="514350" indent="-514350" algn="just" defTabSz="914400" fontAlgn="auto">
              <a:lnSpc>
                <a:spcPct val="150000"/>
              </a:lnSpc>
              <a:spcBef>
                <a:spcPts val="1200"/>
              </a:spcBef>
              <a:spcAft>
                <a:spcPts val="0"/>
              </a:spcAft>
              <a:buClr>
                <a:srgbClr val="FF0000"/>
              </a:buClr>
              <a:buFont typeface="+mj-lt"/>
              <a:buAutoNum type="arabicPeriod"/>
            </a:pPr>
            <a:r>
              <a:rPr lang="zh-CN" altLang="zh-CN" sz="2800" dirty="0">
                <a:latin typeface="仿宋" panose="02010609060101010101" pitchFamily="49" charset="-122"/>
                <a:ea typeface="仿宋" panose="02010609060101010101" pitchFamily="49" charset="-122"/>
              </a:rPr>
              <a:t>先检查你工作的区域是否已经有你所需要的</a:t>
            </a:r>
            <a:r>
              <a:rPr lang="zh-CN" altLang="en-US" sz="2800" dirty="0">
                <a:latin typeface="仿宋" panose="02010609060101010101" pitchFamily="49" charset="-122"/>
                <a:ea typeface="仿宋" panose="02010609060101010101" pitchFamily="49" charset="-122"/>
              </a:rPr>
              <a:t>已开封的</a:t>
            </a:r>
            <a:r>
              <a:rPr lang="zh-CN" altLang="zh-CN" sz="2800" dirty="0">
                <a:latin typeface="仿宋" panose="02010609060101010101" pitchFamily="49" charset="-122"/>
                <a:ea typeface="仿宋" panose="02010609060101010101" pitchFamily="49" charset="-122"/>
              </a:rPr>
              <a:t>化学品。用完已有的化学品后，再去取或者开启新的化学品瓶</a:t>
            </a:r>
            <a:r>
              <a:rPr lang="zh-CN" altLang="en-US" sz="2800" dirty="0">
                <a:latin typeface="仿宋" panose="02010609060101010101" pitchFamily="49" charset="-122"/>
                <a:ea typeface="仿宋" panose="02010609060101010101" pitchFamily="49" charset="-122"/>
              </a:rPr>
              <a:t>；</a:t>
            </a:r>
            <a:endParaRPr lang="zh-CN" altLang="zh-CN" sz="2800" dirty="0">
              <a:latin typeface="仿宋" panose="02010609060101010101" pitchFamily="49" charset="-122"/>
              <a:ea typeface="仿宋" panose="02010609060101010101" pitchFamily="49" charset="-122"/>
            </a:endParaRPr>
          </a:p>
        </p:txBody>
      </p:sp>
      <p:sp>
        <p:nvSpPr>
          <p:cNvPr id="6" name="内容占位符 2"/>
          <p:cNvSpPr txBox="1">
            <a:spLocks/>
          </p:cNvSpPr>
          <p:nvPr/>
        </p:nvSpPr>
        <p:spPr bwMode="auto">
          <a:xfrm>
            <a:off x="34063" y="1852464"/>
            <a:ext cx="6324321" cy="671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zh-CN"/>
            </a:defPPr>
            <a:lvl1pPr marL="0" indent="0" algn="l" defTabSz="914400" eaLnBrk="1" fontAlgn="auto" hangingPunct="1">
              <a:spcBef>
                <a:spcPts val="580"/>
              </a:spcBef>
              <a:spcAft>
                <a:spcPts val="0"/>
              </a:spcAft>
              <a:buClr>
                <a:srgbClr val="D34817"/>
              </a:buClr>
              <a:buSzPct val="85000"/>
              <a:buFont typeface="Wingdings" panose="05000000000000000000" pitchFamily="2" charset="2"/>
              <a:buNone/>
              <a:defRPr sz="3200" b="0" i="0" baseline="0">
                <a:solidFill>
                  <a:schemeClr val="tx1"/>
                </a:solidFill>
                <a:latin typeface="黑体" panose="02010609060101010101" pitchFamily="49" charset="-122"/>
                <a:ea typeface="黑体" panose="02010609060101010101" pitchFamily="49" charset="-122"/>
                <a:cs typeface="Arial" panose="020B0604020202020204" pitchFamily="34" charset="0"/>
              </a:defRPr>
            </a:lvl1pPr>
            <a:lvl2pPr marL="1056623" indent="-406394" algn="l" eaLnBrk="1" hangingPunct="1">
              <a:spcBef>
                <a:spcPct val="20000"/>
              </a:spcBef>
              <a:buFont typeface="Arial" panose="020B0604020202020204" pitchFamily="34" charset="0"/>
              <a:buChar char="•"/>
              <a:defRPr sz="3982" b="0" i="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eaLnBrk="1" hangingPunct="1">
              <a:spcBef>
                <a:spcPct val="20000"/>
              </a:spcBef>
              <a:buSzPct val="50000"/>
              <a:buFont typeface="Wingdings" panose="05000000000000000000" pitchFamily="2" charset="2"/>
              <a:buChar char="n"/>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eaLnBrk="1" hangingPunct="1">
              <a:spcBef>
                <a:spcPct val="20000"/>
              </a:spcBef>
              <a:buFont typeface="Arial" charset="0"/>
              <a:buChar char="–"/>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eaLnBrk="1" hangingPunct="1">
              <a:spcBef>
                <a:spcPct val="20000"/>
              </a:spcBef>
              <a:buFont typeface="Arial" charset="0"/>
              <a:buChar char="»"/>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defTabSz="1300460">
              <a:spcBef>
                <a:spcPct val="20000"/>
              </a:spcBef>
              <a:buFont typeface="Arial" pitchFamily="34" charset="0"/>
              <a:buChar char="•"/>
              <a:defRPr sz="2844">
                <a:solidFill>
                  <a:schemeClr val="tx1"/>
                </a:solidFill>
                <a:latin typeface="+mn-lt"/>
                <a:ea typeface="+mn-ea"/>
                <a:cs typeface="+mn-cs"/>
              </a:defRPr>
            </a:lvl6pPr>
            <a:lvl7pPr marL="4226494" indent="-325115" defTabSz="1300460">
              <a:spcBef>
                <a:spcPct val="20000"/>
              </a:spcBef>
              <a:buFont typeface="Arial" pitchFamily="34" charset="0"/>
              <a:buChar char="•"/>
              <a:defRPr sz="2844">
                <a:solidFill>
                  <a:schemeClr val="tx1"/>
                </a:solidFill>
                <a:latin typeface="+mn-lt"/>
                <a:ea typeface="+mn-ea"/>
                <a:cs typeface="+mn-cs"/>
              </a:defRPr>
            </a:lvl7pPr>
            <a:lvl8pPr marL="4876724" indent="-325115" defTabSz="1300460">
              <a:spcBef>
                <a:spcPct val="20000"/>
              </a:spcBef>
              <a:buFont typeface="Arial" pitchFamily="34" charset="0"/>
              <a:buChar char="•"/>
              <a:defRPr sz="2844">
                <a:solidFill>
                  <a:schemeClr val="tx1"/>
                </a:solidFill>
                <a:latin typeface="+mn-lt"/>
                <a:ea typeface="+mn-ea"/>
                <a:cs typeface="+mn-cs"/>
              </a:defRPr>
            </a:lvl8pPr>
            <a:lvl9pPr marL="5526954" indent="-325115" defTabSz="1300460">
              <a:spcBef>
                <a:spcPct val="20000"/>
              </a:spcBef>
              <a:buFont typeface="Arial" pitchFamily="34" charset="0"/>
              <a:buChar char="•"/>
              <a:defRPr sz="2844">
                <a:solidFill>
                  <a:schemeClr val="tx1"/>
                </a:solidFill>
                <a:latin typeface="+mn-lt"/>
                <a:ea typeface="+mn-ea"/>
                <a:cs typeface="+mn-cs"/>
              </a:defRPr>
            </a:lvl9pPr>
          </a:lstStyle>
          <a:p>
            <a:r>
              <a:rPr lang="zh-CN" altLang="en-US" dirty="0">
                <a:latin typeface="Times New Roman" panose="02020603050405020304" pitchFamily="18" charset="0"/>
                <a:cs typeface="Times New Roman" panose="02020603050405020304" pitchFamily="18" charset="0"/>
              </a:rPr>
              <a:t>四、</a:t>
            </a:r>
            <a:r>
              <a:rPr lang="zh-CN" altLang="zh-CN" dirty="0">
                <a:latin typeface="Times New Roman" panose="02020603050405020304" pitchFamily="18" charset="0"/>
                <a:cs typeface="Times New Roman" panose="02020603050405020304" pitchFamily="18" charset="0"/>
              </a:rPr>
              <a:t>湿法</a:t>
            </a:r>
            <a:r>
              <a:rPr lang="zh-CN" altLang="en-US" dirty="0">
                <a:latin typeface="Times New Roman" panose="02020603050405020304" pitchFamily="18" charset="0"/>
                <a:cs typeface="Times New Roman" panose="02020603050405020304" pitchFamily="18" charset="0"/>
              </a:rPr>
              <a:t>区行为特别规定</a:t>
            </a:r>
            <a:endParaRPr lang="zh-CN"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425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33</a:t>
            </a:fld>
            <a:endParaRPr lang="zh-CN" altLang="en-US" dirty="0"/>
          </a:p>
        </p:txBody>
      </p:sp>
      <p:sp>
        <p:nvSpPr>
          <p:cNvPr id="5" name="标题 3"/>
          <p:cNvSpPr>
            <a:spLocks noGrp="1"/>
          </p:cNvSpPr>
          <p:nvPr>
            <p:ph type="title"/>
          </p:nvPr>
        </p:nvSpPr>
        <p:spPr>
          <a:xfrm>
            <a:off x="1476887" y="432594"/>
            <a:ext cx="10051026" cy="962219"/>
          </a:xfrm>
        </p:spPr>
        <p:txBody>
          <a:bodyPr/>
          <a:lstStyle/>
          <a:p>
            <a:r>
              <a:rPr lang="zh-CN" altLang="en-US" dirty="0"/>
              <a:t>超净实验室行为规范</a:t>
            </a:r>
          </a:p>
        </p:txBody>
      </p:sp>
      <p:sp>
        <p:nvSpPr>
          <p:cNvPr id="4" name="Content Placeholder 2"/>
          <p:cNvSpPr txBox="1">
            <a:spLocks/>
          </p:cNvSpPr>
          <p:nvPr/>
        </p:nvSpPr>
        <p:spPr>
          <a:xfrm>
            <a:off x="741760" y="2500536"/>
            <a:ext cx="11449272" cy="373214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手工甩胶结束后，要</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及时</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将匀胶台</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的胶处理</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干净</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、清理器皿，在登记表上登记是否清理；</a:t>
            </a:r>
            <a:endPar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光刻胶滴在工作台面或者地面上时，使用少许丙酮</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及无尘纸将</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光刻胶擦干净</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endPar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设备使用中禁止离开（尤其是：甩胶机、热板、磁力搅拌器）；</a:t>
            </a:r>
            <a:endPar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p:txBody>
      </p:sp>
      <p:sp>
        <p:nvSpPr>
          <p:cNvPr id="6" name="内容占位符 2"/>
          <p:cNvSpPr txBox="1">
            <a:spLocks/>
          </p:cNvSpPr>
          <p:nvPr/>
        </p:nvSpPr>
        <p:spPr bwMode="auto">
          <a:xfrm>
            <a:off x="26414" y="1852464"/>
            <a:ext cx="7404441" cy="576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zh-CN"/>
            </a:defPPr>
            <a:lvl1pPr marL="0" indent="0" algn="l" defTabSz="914400" eaLnBrk="1" fontAlgn="auto" hangingPunct="1">
              <a:spcBef>
                <a:spcPts val="580"/>
              </a:spcBef>
              <a:spcAft>
                <a:spcPts val="0"/>
              </a:spcAft>
              <a:buClr>
                <a:srgbClr val="D34817"/>
              </a:buClr>
              <a:buSzPct val="85000"/>
              <a:buFont typeface="Wingdings" panose="05000000000000000000" pitchFamily="2" charset="2"/>
              <a:buNone/>
              <a:defRPr sz="3200" b="0" i="0" baseline="0">
                <a:solidFill>
                  <a:schemeClr val="tx1"/>
                </a:solidFill>
                <a:latin typeface="黑体" panose="02010609060101010101" pitchFamily="49" charset="-122"/>
                <a:ea typeface="黑体" panose="02010609060101010101" pitchFamily="49" charset="-122"/>
                <a:cs typeface="Arial" panose="020B0604020202020204" pitchFamily="34" charset="0"/>
              </a:defRPr>
            </a:lvl1pPr>
            <a:lvl2pPr marL="1056623" indent="-406394" algn="l" eaLnBrk="1" hangingPunct="1">
              <a:spcBef>
                <a:spcPct val="20000"/>
              </a:spcBef>
              <a:buFont typeface="Arial" panose="020B0604020202020204" pitchFamily="34" charset="0"/>
              <a:buChar char="•"/>
              <a:defRPr sz="3982" b="0" i="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eaLnBrk="1" hangingPunct="1">
              <a:spcBef>
                <a:spcPct val="20000"/>
              </a:spcBef>
              <a:buSzPct val="50000"/>
              <a:buFont typeface="Wingdings" panose="05000000000000000000" pitchFamily="2" charset="2"/>
              <a:buChar char="n"/>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eaLnBrk="1" hangingPunct="1">
              <a:spcBef>
                <a:spcPct val="20000"/>
              </a:spcBef>
              <a:buFont typeface="Arial" charset="0"/>
              <a:buChar char="–"/>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eaLnBrk="1" hangingPunct="1">
              <a:spcBef>
                <a:spcPct val="20000"/>
              </a:spcBef>
              <a:buFont typeface="Arial" charset="0"/>
              <a:buChar char="»"/>
              <a:defRPr sz="3413" b="0" i="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defTabSz="1300460">
              <a:spcBef>
                <a:spcPct val="20000"/>
              </a:spcBef>
              <a:buFont typeface="Arial" pitchFamily="34" charset="0"/>
              <a:buChar char="•"/>
              <a:defRPr sz="2844">
                <a:solidFill>
                  <a:schemeClr val="tx1"/>
                </a:solidFill>
                <a:latin typeface="+mn-lt"/>
                <a:ea typeface="+mn-ea"/>
                <a:cs typeface="+mn-cs"/>
              </a:defRPr>
            </a:lvl6pPr>
            <a:lvl7pPr marL="4226494" indent="-325115" defTabSz="1300460">
              <a:spcBef>
                <a:spcPct val="20000"/>
              </a:spcBef>
              <a:buFont typeface="Arial" pitchFamily="34" charset="0"/>
              <a:buChar char="•"/>
              <a:defRPr sz="2844">
                <a:solidFill>
                  <a:schemeClr val="tx1"/>
                </a:solidFill>
                <a:latin typeface="+mn-lt"/>
                <a:ea typeface="+mn-ea"/>
                <a:cs typeface="+mn-cs"/>
              </a:defRPr>
            </a:lvl7pPr>
            <a:lvl8pPr marL="4876724" indent="-325115" defTabSz="1300460">
              <a:spcBef>
                <a:spcPct val="20000"/>
              </a:spcBef>
              <a:buFont typeface="Arial" pitchFamily="34" charset="0"/>
              <a:buChar char="•"/>
              <a:defRPr sz="2844">
                <a:solidFill>
                  <a:schemeClr val="tx1"/>
                </a:solidFill>
                <a:latin typeface="+mn-lt"/>
                <a:ea typeface="+mn-ea"/>
                <a:cs typeface="+mn-cs"/>
              </a:defRPr>
            </a:lvl8pPr>
            <a:lvl9pPr marL="5526954" indent="-325115" defTabSz="1300460">
              <a:spcBef>
                <a:spcPct val="20000"/>
              </a:spcBef>
              <a:buFont typeface="Arial" pitchFamily="34" charset="0"/>
              <a:buChar char="•"/>
              <a:defRPr sz="2844">
                <a:solidFill>
                  <a:schemeClr val="tx1"/>
                </a:solidFill>
                <a:latin typeface="+mn-lt"/>
                <a:ea typeface="+mn-ea"/>
                <a:cs typeface="+mn-cs"/>
              </a:defRPr>
            </a:lvl9pPr>
          </a:lstStyle>
          <a:p>
            <a:r>
              <a:rPr lang="zh-CN" altLang="en-US" dirty="0">
                <a:latin typeface="Times New Roman" panose="02020603050405020304" pitchFamily="18" charset="0"/>
                <a:cs typeface="Times New Roman" panose="02020603050405020304" pitchFamily="18" charset="0"/>
              </a:rPr>
              <a:t>五、光刻间行为特别规定</a:t>
            </a:r>
            <a:endParaRPr lang="zh-CN"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256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34</a:t>
            </a:fld>
            <a:endParaRPr lang="zh-CN" altLang="en-US" dirty="0"/>
          </a:p>
        </p:txBody>
      </p:sp>
      <p:sp>
        <p:nvSpPr>
          <p:cNvPr id="3" name="内容占位符 2"/>
          <p:cNvSpPr>
            <a:spLocks noGrp="1"/>
          </p:cNvSpPr>
          <p:nvPr>
            <p:ph idx="1"/>
          </p:nvPr>
        </p:nvSpPr>
        <p:spPr>
          <a:xfrm>
            <a:off x="650240" y="2634411"/>
            <a:ext cx="11704320" cy="5986805"/>
          </a:xfrm>
        </p:spPr>
        <p:txBody>
          <a:bodyPr/>
          <a:lstStyle/>
          <a:p>
            <a:pPr marL="742950" lvl="0" indent="-742950">
              <a:lnSpc>
                <a:spcPct val="150000"/>
              </a:lnSpc>
              <a:buClr>
                <a:srgbClr val="FF0000"/>
              </a:buClr>
              <a:buFont typeface="+mj-lt"/>
              <a:buAutoNum type="arabicPeriod"/>
            </a:pPr>
            <a:r>
              <a:rPr lang="zh-CN" altLang="en-US" sz="2800" dirty="0">
                <a:solidFill>
                  <a:sysClr val="windowText" lastClr="000000"/>
                </a:solidFill>
                <a:latin typeface="仿宋" panose="02010609060101010101" pitchFamily="49" charset="-122"/>
                <a:ea typeface="仿宋" panose="02010609060101010101" pitchFamily="49" charset="-122"/>
              </a:rPr>
              <a:t>做完实验准备离开时，请做好整理，将操作区域</a:t>
            </a:r>
            <a:r>
              <a:rPr lang="zh-CN" altLang="en-US" sz="2800" dirty="0">
                <a:solidFill>
                  <a:srgbClr val="FF0000"/>
                </a:solidFill>
                <a:latin typeface="仿宋" panose="02010609060101010101" pitchFamily="49" charset="-122"/>
                <a:ea typeface="仿宋" panose="02010609060101010101" pitchFamily="49" charset="-122"/>
              </a:rPr>
              <a:t>恢复</a:t>
            </a:r>
            <a:r>
              <a:rPr lang="zh-CN" altLang="en-US" sz="2800" dirty="0">
                <a:solidFill>
                  <a:sysClr val="windowText" lastClr="000000"/>
                </a:solidFill>
                <a:latin typeface="仿宋" panose="02010609060101010101" pitchFamily="49" charset="-122"/>
                <a:ea typeface="仿宋" panose="02010609060101010101" pitchFamily="49" charset="-122"/>
              </a:rPr>
              <a:t>干净整洁。</a:t>
            </a:r>
            <a:r>
              <a:rPr lang="zh-CN" altLang="en-US" sz="2800" dirty="0">
                <a:solidFill>
                  <a:srgbClr val="FF0000"/>
                </a:solidFill>
                <a:latin typeface="仿宋" panose="02010609060101010101" pitchFamily="49" charset="-122"/>
                <a:ea typeface="仿宋" panose="02010609060101010101" pitchFamily="49" charset="-122"/>
              </a:rPr>
              <a:t>将设备恢复到您使用前状况。</a:t>
            </a:r>
            <a:endParaRPr lang="en-US" altLang="zh-CN" sz="2800" dirty="0">
              <a:solidFill>
                <a:srgbClr val="FF0000"/>
              </a:solidFill>
              <a:latin typeface="仿宋" panose="02010609060101010101" pitchFamily="49" charset="-122"/>
              <a:ea typeface="仿宋" panose="02010609060101010101" pitchFamily="49" charset="-122"/>
            </a:endParaRPr>
          </a:p>
          <a:p>
            <a:pPr marL="742950" lvl="0" indent="-742950">
              <a:lnSpc>
                <a:spcPct val="150000"/>
              </a:lnSpc>
              <a:buClr>
                <a:srgbClr val="FF0000"/>
              </a:buClr>
              <a:buFont typeface="+mj-lt"/>
              <a:buAutoNum type="arabicPeriod"/>
            </a:pPr>
            <a:r>
              <a:rPr lang="zh-CN" altLang="en-US" sz="2800" dirty="0">
                <a:solidFill>
                  <a:srgbClr val="FF0000"/>
                </a:solidFill>
                <a:latin typeface="仿宋" panose="02010609060101010101" pitchFamily="49" charset="-122"/>
                <a:ea typeface="仿宋" panose="02010609060101010101" pitchFamily="49" charset="-122"/>
              </a:rPr>
              <a:t>妥善存放实验样品及工具</a:t>
            </a:r>
            <a:r>
              <a:rPr lang="zh-CN" altLang="en-US" sz="2800" dirty="0">
                <a:solidFill>
                  <a:sysClr val="windowText" lastClr="000000"/>
                </a:solidFill>
                <a:latin typeface="仿宋" panose="02010609060101010101" pitchFamily="49" charset="-122"/>
                <a:ea typeface="仿宋" panose="02010609060101010101" pitchFamily="49" charset="-122"/>
              </a:rPr>
              <a:t>到你所申请的氮气柜或物品箱中。</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742950" lvl="0" indent="-742950">
              <a:lnSpc>
                <a:spcPct val="150000"/>
              </a:lnSpc>
              <a:buClr>
                <a:srgbClr val="FF0000"/>
              </a:buClr>
              <a:buFont typeface="+mj-lt"/>
              <a:buAutoNum type="arabicPeriod"/>
            </a:pPr>
            <a:r>
              <a:rPr lang="zh-CN" altLang="en-US" sz="2800" dirty="0">
                <a:solidFill>
                  <a:sysClr val="windowText" lastClr="000000"/>
                </a:solidFill>
                <a:latin typeface="仿宋" panose="02010609060101010101" pitchFamily="49" charset="-122"/>
                <a:ea typeface="仿宋" panose="02010609060101010101" pitchFamily="49" charset="-122"/>
              </a:rPr>
              <a:t>实验样品若带出洁净区，请做合理包装、保护。</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742950" lvl="0" indent="-742950">
              <a:lnSpc>
                <a:spcPct val="150000"/>
              </a:lnSpc>
              <a:buClr>
                <a:srgbClr val="FF0000"/>
              </a:buClr>
              <a:buFont typeface="+mj-lt"/>
              <a:buAutoNum type="arabicPeriod"/>
            </a:pPr>
            <a:r>
              <a:rPr lang="zh-CN" altLang="en-US" sz="2800" dirty="0">
                <a:solidFill>
                  <a:sysClr val="windowText" lastClr="000000"/>
                </a:solidFill>
                <a:latin typeface="仿宋" panose="02010609060101010101" pitchFamily="49" charset="-122"/>
                <a:ea typeface="仿宋" panose="02010609060101010101" pitchFamily="49" charset="-122"/>
              </a:rPr>
              <a:t>通过</a:t>
            </a:r>
            <a:r>
              <a:rPr lang="zh-CN" altLang="en-US" sz="2800" dirty="0">
                <a:solidFill>
                  <a:srgbClr val="FF0000"/>
                </a:solidFill>
                <a:latin typeface="仿宋" panose="02010609060101010101" pitchFamily="49" charset="-122"/>
                <a:ea typeface="仿宋" panose="02010609060101010101" pitchFamily="49" charset="-122"/>
              </a:rPr>
              <a:t>风浴东侧的门</a:t>
            </a:r>
            <a:r>
              <a:rPr lang="zh-CN" altLang="en-US" sz="2800" dirty="0">
                <a:solidFill>
                  <a:sysClr val="windowText" lastClr="000000"/>
                </a:solidFill>
                <a:latin typeface="仿宋" panose="02010609060101010101" pitchFamily="49" charset="-122"/>
                <a:ea typeface="仿宋" panose="02010609060101010101" pitchFamily="49" charset="-122"/>
              </a:rPr>
              <a:t>出洁净间到更衣区。</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742950" lvl="0" indent="-742950">
              <a:lnSpc>
                <a:spcPct val="150000"/>
              </a:lnSpc>
              <a:buClr>
                <a:srgbClr val="FF0000"/>
              </a:buClr>
              <a:buFont typeface="+mj-lt"/>
              <a:buAutoNum type="arabicPeriod"/>
            </a:pPr>
            <a:r>
              <a:rPr lang="zh-CN" altLang="zh-CN" sz="2800" dirty="0">
                <a:solidFill>
                  <a:sysClr val="windowText" lastClr="000000"/>
                </a:solidFill>
                <a:latin typeface="仿宋" panose="02010609060101010101" pitchFamily="49" charset="-122"/>
                <a:ea typeface="仿宋" panose="02010609060101010101" pitchFamily="49" charset="-122"/>
              </a:rPr>
              <a:t>脱洁净服时，按照</a:t>
            </a:r>
            <a:r>
              <a:rPr lang="zh-CN" altLang="en-US" sz="2800" dirty="0">
                <a:solidFill>
                  <a:sysClr val="windowText" lastClr="000000"/>
                </a:solidFill>
                <a:latin typeface="仿宋" panose="02010609060101010101" pitchFamily="49" charset="-122"/>
                <a:ea typeface="仿宋" panose="02010609060101010101" pitchFamily="49" charset="-122"/>
              </a:rPr>
              <a:t>“</a:t>
            </a:r>
            <a:r>
              <a:rPr lang="zh-CN" altLang="zh-CN" sz="2800" dirty="0">
                <a:latin typeface="Times New Roman" panose="02020603050405020304" pitchFamily="18" charset="0"/>
                <a:ea typeface="仿宋" panose="02010609060101010101" pitchFamily="49" charset="-122"/>
                <a:cs typeface="Times New Roman" panose="02020603050405020304" pitchFamily="18" charset="0"/>
              </a:rPr>
              <a:t>洁净服的穿着顺序</a:t>
            </a:r>
            <a:r>
              <a:rPr lang="zh-CN" altLang="en-US" sz="2800" dirty="0">
                <a:solidFill>
                  <a:sysClr val="windowText" lastClr="000000"/>
                </a:solidFill>
                <a:latin typeface="仿宋" panose="02010609060101010101" pitchFamily="49" charset="-122"/>
                <a:ea typeface="仿宋" panose="02010609060101010101" pitchFamily="49" charset="-122"/>
              </a:rPr>
              <a:t>”的</a:t>
            </a:r>
            <a:r>
              <a:rPr lang="zh-CN" altLang="zh-CN" sz="2800" dirty="0">
                <a:solidFill>
                  <a:sysClr val="windowText" lastClr="000000"/>
                </a:solidFill>
                <a:latin typeface="仿宋" panose="02010609060101010101" pitchFamily="49" charset="-122"/>
                <a:ea typeface="仿宋" panose="02010609060101010101" pitchFamily="49" charset="-122"/>
              </a:rPr>
              <a:t>相反的顺序进行。</a:t>
            </a:r>
            <a:endParaRPr lang="en-US" altLang="zh-CN" sz="2800" dirty="0">
              <a:solidFill>
                <a:sysClr val="windowText" lastClr="000000"/>
              </a:solidFill>
              <a:latin typeface="仿宋" panose="02010609060101010101" pitchFamily="49" charset="-122"/>
              <a:ea typeface="仿宋" panose="02010609060101010101" pitchFamily="49" charset="-122"/>
            </a:endParaRPr>
          </a:p>
          <a:p>
            <a:pPr marL="742950" lvl="0" indent="-742950">
              <a:lnSpc>
                <a:spcPct val="150000"/>
              </a:lnSpc>
              <a:buClr>
                <a:srgbClr val="FF0000"/>
              </a:buClr>
              <a:buFont typeface="+mj-lt"/>
              <a:buAutoNum type="arabicPeriod"/>
            </a:pPr>
            <a:r>
              <a:rPr lang="zh-CN" altLang="zh-CN" sz="2800" dirty="0">
                <a:solidFill>
                  <a:sysClr val="windowText" lastClr="000000"/>
                </a:solidFill>
                <a:latin typeface="仿宋" panose="02010609060101010101" pitchFamily="49" charset="-122"/>
                <a:ea typeface="仿宋" panose="02010609060101010101" pitchFamily="49" charset="-122"/>
              </a:rPr>
              <a:t>从洁净区出来时，在踏入“污区”前，要先坐在长凳上脱掉洁净鞋。这样，洁净鞋就只在“净区”以及洁净实验室里面与地面接触。</a:t>
            </a:r>
          </a:p>
          <a:p>
            <a:pPr marL="0" indent="0">
              <a:buNone/>
            </a:pPr>
            <a:endParaRPr lang="zh-CN" altLang="en-US" dirty="0"/>
          </a:p>
        </p:txBody>
      </p:sp>
      <p:sp>
        <p:nvSpPr>
          <p:cNvPr id="4" name="标题 3"/>
          <p:cNvSpPr>
            <a:spLocks noGrp="1"/>
          </p:cNvSpPr>
          <p:nvPr>
            <p:ph type="title"/>
          </p:nvPr>
        </p:nvSpPr>
        <p:spPr/>
        <p:txBody>
          <a:bodyPr/>
          <a:lstStyle/>
          <a:p>
            <a:r>
              <a:rPr lang="zh-CN" altLang="en-US" dirty="0"/>
              <a:t>超净实验室行为规范</a:t>
            </a:r>
          </a:p>
        </p:txBody>
      </p:sp>
      <p:sp>
        <p:nvSpPr>
          <p:cNvPr id="6" name="内容占位符 2"/>
          <p:cNvSpPr txBox="1">
            <a:spLocks/>
          </p:cNvSpPr>
          <p:nvPr/>
        </p:nvSpPr>
        <p:spPr bwMode="auto">
          <a:xfrm>
            <a:off x="34063" y="1875753"/>
            <a:ext cx="6324321" cy="579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fontAlgn="auto">
              <a:spcBef>
                <a:spcPts val="580"/>
              </a:spcBef>
              <a:spcAft>
                <a:spcPts val="0"/>
              </a:spcAft>
              <a:buClr>
                <a:srgbClr val="D34817"/>
              </a:buClr>
              <a:buSzPct val="85000"/>
              <a:buNone/>
              <a:defRPr/>
            </a:pPr>
            <a:r>
              <a:rPr lang="zh-CN" altLang="en-US" sz="3200" dirty="0">
                <a:latin typeface="Times New Roman" panose="02020603050405020304" pitchFamily="18" charset="0"/>
                <a:cs typeface="Times New Roman" panose="02020603050405020304" pitchFamily="18" charset="0"/>
              </a:rPr>
              <a:t>六、离开洁净室内行为规范</a:t>
            </a:r>
          </a:p>
        </p:txBody>
      </p:sp>
    </p:spTree>
    <p:extLst>
      <p:ext uri="{BB962C8B-B14F-4D97-AF65-F5344CB8AC3E}">
        <p14:creationId xmlns:p14="http://schemas.microsoft.com/office/powerpoint/2010/main" val="2026298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35</a:t>
            </a:fld>
            <a:endParaRPr lang="zh-CN" altLang="en-US" dirty="0"/>
          </a:p>
        </p:txBody>
      </p:sp>
      <p:sp>
        <p:nvSpPr>
          <p:cNvPr id="4" name="标题 3"/>
          <p:cNvSpPr>
            <a:spLocks noGrp="1"/>
          </p:cNvSpPr>
          <p:nvPr>
            <p:ph type="title"/>
          </p:nvPr>
        </p:nvSpPr>
        <p:spPr>
          <a:xfrm>
            <a:off x="1476887" y="4084712"/>
            <a:ext cx="10051026" cy="1584176"/>
          </a:xfrm>
        </p:spPr>
        <p:txBody>
          <a:bodyPr/>
          <a:lstStyle/>
          <a:p>
            <a:r>
              <a:rPr lang="zh-CN" altLang="en-US" sz="8800" dirty="0"/>
              <a:t>超净实验室安全</a:t>
            </a:r>
          </a:p>
        </p:txBody>
      </p:sp>
      <p:sp>
        <p:nvSpPr>
          <p:cNvPr id="6" name="标题 3"/>
          <p:cNvSpPr txBox="1">
            <a:spLocks/>
          </p:cNvSpPr>
          <p:nvPr/>
        </p:nvSpPr>
        <p:spPr bwMode="auto">
          <a:xfrm>
            <a:off x="2541960" y="340296"/>
            <a:ext cx="8280920" cy="9622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551" b="1" kern="1200" baseline="0">
                <a:solidFill>
                  <a:srgbClr val="7030A0"/>
                </a:solidFill>
                <a:latin typeface="Times New Roman" panose="02020603050405020304" pitchFamily="18" charset="0"/>
                <a:ea typeface="黑体" panose="02010609060101010101" pitchFamily="49" charset="-122"/>
                <a:cs typeface="Times New Roman" panose="02020603050405020304" pitchFamily="18" charset="0"/>
              </a:defRPr>
            </a:lvl1pPr>
            <a:lvl2pPr algn="ctr" rtl="0" eaLnBrk="1" fontAlgn="base" hangingPunct="1">
              <a:spcBef>
                <a:spcPct val="0"/>
              </a:spcBef>
              <a:spcAft>
                <a:spcPct val="0"/>
              </a:spcAft>
              <a:defRPr sz="6258">
                <a:solidFill>
                  <a:schemeClr val="tx1"/>
                </a:solidFill>
                <a:latin typeface="Calibri" pitchFamily="34" charset="0"/>
                <a:ea typeface="宋体" charset="-122"/>
              </a:defRPr>
            </a:lvl2pPr>
            <a:lvl3pPr algn="ctr" rtl="0" eaLnBrk="1" fontAlgn="base" hangingPunct="1">
              <a:spcBef>
                <a:spcPct val="0"/>
              </a:spcBef>
              <a:spcAft>
                <a:spcPct val="0"/>
              </a:spcAft>
              <a:defRPr sz="6258">
                <a:solidFill>
                  <a:schemeClr val="tx1"/>
                </a:solidFill>
                <a:latin typeface="Calibri" pitchFamily="34" charset="0"/>
                <a:ea typeface="宋体" charset="-122"/>
              </a:defRPr>
            </a:lvl3pPr>
            <a:lvl4pPr algn="ctr" rtl="0" eaLnBrk="1" fontAlgn="base" hangingPunct="1">
              <a:spcBef>
                <a:spcPct val="0"/>
              </a:spcBef>
              <a:spcAft>
                <a:spcPct val="0"/>
              </a:spcAft>
              <a:defRPr sz="6258">
                <a:solidFill>
                  <a:schemeClr val="tx1"/>
                </a:solidFill>
                <a:latin typeface="Calibri" pitchFamily="34" charset="0"/>
                <a:ea typeface="宋体" charset="-122"/>
              </a:defRPr>
            </a:lvl4pPr>
            <a:lvl5pPr algn="ctr" rtl="0" eaLnBrk="1" fontAlgn="base" hangingPunct="1">
              <a:spcBef>
                <a:spcPct val="0"/>
              </a:spcBef>
              <a:spcAft>
                <a:spcPct val="0"/>
              </a:spcAft>
              <a:defRPr sz="6258">
                <a:solidFill>
                  <a:schemeClr val="tx1"/>
                </a:solidFill>
                <a:latin typeface="Calibri" pitchFamily="34" charset="0"/>
                <a:ea typeface="宋体" charset="-122"/>
              </a:defRPr>
            </a:lvl5pPr>
            <a:lvl6pPr marL="650230" algn="ctr" rtl="0" eaLnBrk="1" fontAlgn="base" hangingPunct="1">
              <a:spcBef>
                <a:spcPct val="0"/>
              </a:spcBef>
              <a:spcAft>
                <a:spcPct val="0"/>
              </a:spcAft>
              <a:defRPr sz="6258">
                <a:solidFill>
                  <a:schemeClr val="tx1"/>
                </a:solidFill>
                <a:latin typeface="Calibri" pitchFamily="34" charset="0"/>
                <a:ea typeface="宋体" charset="-122"/>
              </a:defRPr>
            </a:lvl6pPr>
            <a:lvl7pPr marL="1300460" algn="ctr" rtl="0" eaLnBrk="1" fontAlgn="base" hangingPunct="1">
              <a:spcBef>
                <a:spcPct val="0"/>
              </a:spcBef>
              <a:spcAft>
                <a:spcPct val="0"/>
              </a:spcAft>
              <a:defRPr sz="6258">
                <a:solidFill>
                  <a:schemeClr val="tx1"/>
                </a:solidFill>
                <a:latin typeface="Calibri" pitchFamily="34" charset="0"/>
                <a:ea typeface="宋体" charset="-122"/>
              </a:defRPr>
            </a:lvl7pPr>
            <a:lvl8pPr marL="1950690" algn="ctr" rtl="0" eaLnBrk="1" fontAlgn="base" hangingPunct="1">
              <a:spcBef>
                <a:spcPct val="0"/>
              </a:spcBef>
              <a:spcAft>
                <a:spcPct val="0"/>
              </a:spcAft>
              <a:defRPr sz="6258">
                <a:solidFill>
                  <a:schemeClr val="tx1"/>
                </a:solidFill>
                <a:latin typeface="Calibri" pitchFamily="34" charset="0"/>
                <a:ea typeface="宋体" charset="-122"/>
              </a:defRPr>
            </a:lvl8pPr>
            <a:lvl9pPr marL="2600919" algn="ctr" rtl="0" eaLnBrk="1" fontAlgn="base" hangingPunct="1">
              <a:spcBef>
                <a:spcPct val="0"/>
              </a:spcBef>
              <a:spcAft>
                <a:spcPct val="0"/>
              </a:spcAft>
              <a:defRPr sz="6258">
                <a:solidFill>
                  <a:schemeClr val="tx1"/>
                </a:solidFill>
                <a:latin typeface="Calibri" pitchFamily="34" charset="0"/>
                <a:ea typeface="宋体" charset="-122"/>
              </a:defRPr>
            </a:lvl9pPr>
          </a:lstStyle>
          <a:p>
            <a:pPr defTabSz="914400"/>
            <a:r>
              <a:rPr lang="zh-CN" altLang="en-US" dirty="0"/>
              <a:t>微纳加工平台超净实验室的申请与安全使用培训</a:t>
            </a:r>
          </a:p>
        </p:txBody>
      </p:sp>
    </p:spTree>
    <p:extLst>
      <p:ext uri="{BB962C8B-B14F-4D97-AF65-F5344CB8AC3E}">
        <p14:creationId xmlns:p14="http://schemas.microsoft.com/office/powerpoint/2010/main" val="3847591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36</a:t>
            </a:fld>
            <a:endParaRPr lang="zh-CN" altLang="en-US" dirty="0"/>
          </a:p>
        </p:txBody>
      </p:sp>
      <p:sp>
        <p:nvSpPr>
          <p:cNvPr id="4" name="标题 3"/>
          <p:cNvSpPr>
            <a:spLocks noGrp="1"/>
          </p:cNvSpPr>
          <p:nvPr>
            <p:ph type="title"/>
          </p:nvPr>
        </p:nvSpPr>
        <p:spPr/>
        <p:txBody>
          <a:bodyPr/>
          <a:lstStyle/>
          <a:p>
            <a:pPr defTabSz="914400"/>
            <a:r>
              <a:rPr lang="zh-CN" altLang="en-US" sz="4800" dirty="0"/>
              <a:t>超净实验室安全</a:t>
            </a:r>
          </a:p>
        </p:txBody>
      </p:sp>
      <p:sp>
        <p:nvSpPr>
          <p:cNvPr id="5" name="矩形 4"/>
          <p:cNvSpPr/>
          <p:nvPr/>
        </p:nvSpPr>
        <p:spPr>
          <a:xfrm>
            <a:off x="329660" y="2370106"/>
            <a:ext cx="12331370" cy="2192908"/>
          </a:xfrm>
          <a:prstGeom prst="rect">
            <a:avLst/>
          </a:prstGeom>
        </p:spPr>
        <p:txBody>
          <a:bodyPr wrap="square">
            <a:spAutoFit/>
          </a:bodyPr>
          <a:lstStyle/>
          <a:p>
            <a:pPr algn="l">
              <a:lnSpc>
                <a:spcPct val="150000"/>
              </a:lnSpc>
            </a:pPr>
            <a:r>
              <a:rPr lang="zh-CN" altLang="en-US" sz="3200" b="1" dirty="0">
                <a:solidFill>
                  <a:schemeClr val="tx1"/>
                </a:solidFill>
                <a:latin typeface="仿宋" panose="02010609060101010101" pitchFamily="49" charset="-122"/>
                <a:ea typeface="仿宋" panose="02010609060101010101" pitchFamily="49" charset="-122"/>
                <a:cs typeface="Times New Roman" panose="02020603050405020304" pitchFamily="18" charset="0"/>
              </a:rPr>
              <a:t>    超净间中有大量的危险源</a:t>
            </a:r>
            <a:r>
              <a:rPr lang="zh-CN" altLang="en-US" sz="3200" dirty="0">
                <a:solidFill>
                  <a:schemeClr val="tx1"/>
                </a:solidFill>
                <a:latin typeface="仿宋" panose="02010609060101010101" pitchFamily="49" charset="-122"/>
                <a:ea typeface="仿宋" panose="02010609060101010101" pitchFamily="49" charset="-122"/>
                <a:cs typeface="Times New Roman" panose="02020603050405020304" pitchFamily="18" charset="0"/>
              </a:rPr>
              <a:t>（各类工艺需要而引入），</a:t>
            </a:r>
            <a:r>
              <a:rPr lang="zh-CN" altLang="en-US" sz="32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为了人员的人身安全、设备财产安全，进入超净间的人员，务必遵守实验室安全相关规定。</a:t>
            </a:r>
            <a:endParaRPr lang="zh-CN" altLang="en-US" sz="3200" dirty="0">
              <a:latin typeface="仿宋" panose="02010609060101010101" pitchFamily="49" charset="-122"/>
              <a:ea typeface="仿宋" panose="02010609060101010101" pitchFamily="49" charset="-122"/>
            </a:endParaRPr>
          </a:p>
        </p:txBody>
      </p:sp>
      <p:sp>
        <p:nvSpPr>
          <p:cNvPr id="6" name="矩形 5"/>
          <p:cNvSpPr/>
          <p:nvPr/>
        </p:nvSpPr>
        <p:spPr>
          <a:xfrm>
            <a:off x="329660" y="4837764"/>
            <a:ext cx="12331370" cy="3529171"/>
          </a:xfrm>
          <a:prstGeom prst="rect">
            <a:avLst/>
          </a:prstGeom>
        </p:spPr>
        <p:txBody>
          <a:bodyPr wrap="square">
            <a:spAutoFit/>
          </a:bodyPr>
          <a:lstStyle/>
          <a:p>
            <a:pPr algn="just" fontAlgn="auto" hangingPunct="1">
              <a:lnSpc>
                <a:spcPct val="150000"/>
              </a:lnSpc>
              <a:spcBef>
                <a:spcPts val="432"/>
              </a:spcBef>
              <a:spcAft>
                <a:spcPts val="0"/>
              </a:spcAft>
              <a:defRPr/>
            </a:pPr>
            <a:r>
              <a:rPr lang="en-US" altLang="zh-CN" sz="2800" dirty="0">
                <a:latin typeface="仿宋" panose="02010609060101010101" pitchFamily="49" charset="-122"/>
                <a:ea typeface="仿宋" panose="02010609060101010101" pitchFamily="49" charset="-122"/>
              </a:rPr>
              <a:t>1 </a:t>
            </a:r>
            <a:r>
              <a:rPr lang="zh-CN" altLang="en-US" sz="2800" dirty="0">
                <a:latin typeface="仿宋" panose="02010609060101010101" pitchFamily="49" charset="-122"/>
                <a:ea typeface="仿宋" panose="02010609060101010101" pitchFamily="49" charset="-122"/>
              </a:rPr>
              <a:t>腐蚀性、有毒、易燃液体和气体。（例：</a:t>
            </a:r>
            <a:r>
              <a:rPr lang="en-US" altLang="zh-CN" sz="2800" dirty="0">
                <a:latin typeface="仿宋" panose="02010609060101010101" pitchFamily="49" charset="-122"/>
                <a:ea typeface="仿宋" panose="02010609060101010101" pitchFamily="49" charset="-122"/>
              </a:rPr>
              <a:t>B</a:t>
            </a:r>
            <a:r>
              <a:rPr lang="en-US" altLang="zh-CN" sz="2800" baseline="-25000" dirty="0">
                <a:latin typeface="仿宋" panose="02010609060101010101" pitchFamily="49" charset="-122"/>
                <a:ea typeface="仿宋" panose="02010609060101010101" pitchFamily="49" charset="-122"/>
              </a:rPr>
              <a:t>2</a:t>
            </a:r>
            <a:r>
              <a:rPr lang="en-US" altLang="zh-CN" sz="2800" dirty="0">
                <a:latin typeface="仿宋" panose="02010609060101010101" pitchFamily="49" charset="-122"/>
                <a:ea typeface="仿宋" panose="02010609060101010101" pitchFamily="49" charset="-122"/>
              </a:rPr>
              <a:t>H</a:t>
            </a:r>
            <a:r>
              <a:rPr lang="en-US" altLang="zh-CN" sz="2800" baseline="-25000" dirty="0">
                <a:latin typeface="仿宋" panose="02010609060101010101" pitchFamily="49" charset="-122"/>
                <a:ea typeface="仿宋" panose="02010609060101010101" pitchFamily="49" charset="-122"/>
              </a:rPr>
              <a:t>6</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PH</a:t>
            </a:r>
            <a:r>
              <a:rPr lang="en-US" altLang="zh-CN" sz="2800" baseline="-25000" dirty="0">
                <a:latin typeface="仿宋" panose="02010609060101010101" pitchFamily="49" charset="-122"/>
                <a:ea typeface="仿宋" panose="02010609060101010101" pitchFamily="49" charset="-122"/>
              </a:rPr>
              <a:t>3</a:t>
            </a:r>
            <a:r>
              <a:rPr lang="zh-CN" altLang="en-US" sz="2800" dirty="0">
                <a:latin typeface="仿宋" panose="02010609060101010101" pitchFamily="49" charset="-122"/>
                <a:ea typeface="仿宋" panose="02010609060101010101" pitchFamily="49" charset="-122"/>
              </a:rPr>
              <a:t>、</a:t>
            </a:r>
            <a:r>
              <a:rPr lang="en-US" altLang="zh-CN" sz="2800" dirty="0">
                <a:solidFill>
                  <a:srgbClr val="FF0000"/>
                </a:solidFill>
                <a:latin typeface="仿宋" panose="02010609060101010101" pitchFamily="49" charset="-122"/>
                <a:ea typeface="仿宋" panose="02010609060101010101" pitchFamily="49" charset="-122"/>
              </a:rPr>
              <a:t>Cl</a:t>
            </a:r>
            <a:r>
              <a:rPr lang="en-US" altLang="zh-CN" sz="2800" baseline="-25000" dirty="0">
                <a:solidFill>
                  <a:srgbClr val="FF0000"/>
                </a:solidFill>
                <a:latin typeface="仿宋" panose="02010609060101010101" pitchFamily="49" charset="-122"/>
                <a:ea typeface="仿宋" panose="02010609060101010101" pitchFamily="49" charset="-122"/>
              </a:rPr>
              <a:t>2</a:t>
            </a:r>
            <a:r>
              <a:rPr lang="zh-CN" altLang="en-US" sz="2800" dirty="0">
                <a:solidFill>
                  <a:srgbClr val="FF0000"/>
                </a:solidFill>
                <a:latin typeface="仿宋" panose="02010609060101010101" pitchFamily="49" charset="-122"/>
                <a:ea typeface="仿宋" panose="02010609060101010101" pitchFamily="49" charset="-122"/>
              </a:rPr>
              <a:t>、</a:t>
            </a:r>
            <a:r>
              <a:rPr lang="en-US" altLang="zh-CN" sz="2800" dirty="0">
                <a:solidFill>
                  <a:srgbClr val="FF0000"/>
                </a:solidFill>
                <a:latin typeface="仿宋" panose="02010609060101010101" pitchFamily="49" charset="-122"/>
                <a:ea typeface="仿宋" panose="02010609060101010101" pitchFamily="49" charset="-122"/>
              </a:rPr>
              <a:t>HF</a:t>
            </a:r>
            <a:r>
              <a:rPr lang="zh-CN" altLang="en-US" sz="2800" dirty="0">
                <a:solidFill>
                  <a:srgbClr val="FF0000"/>
                </a:solidFill>
                <a:latin typeface="仿宋" panose="02010609060101010101" pitchFamily="49" charset="-122"/>
                <a:ea typeface="仿宋" panose="02010609060101010101" pitchFamily="49" charset="-122"/>
              </a:rPr>
              <a:t>、</a:t>
            </a:r>
            <a:r>
              <a:rPr lang="en-US" altLang="zh-CN" sz="2800" dirty="0" err="1">
                <a:latin typeface="仿宋" panose="02010609060101010101" pitchFamily="49" charset="-122"/>
                <a:ea typeface="仿宋" panose="02010609060101010101" pitchFamily="49" charset="-122"/>
              </a:rPr>
              <a:t>HCl</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SiH</a:t>
            </a:r>
            <a:r>
              <a:rPr lang="en-US" altLang="zh-CN" sz="2800" baseline="-25000" dirty="0">
                <a:latin typeface="仿宋" panose="02010609060101010101" pitchFamily="49" charset="-122"/>
                <a:ea typeface="仿宋" panose="02010609060101010101" pitchFamily="49" charset="-122"/>
              </a:rPr>
              <a:t>2</a:t>
            </a:r>
            <a:r>
              <a:rPr lang="en-US" altLang="zh-CN" sz="2800" dirty="0">
                <a:latin typeface="仿宋" panose="02010609060101010101" pitchFamily="49" charset="-122"/>
                <a:ea typeface="仿宋" panose="02010609060101010101" pitchFamily="49" charset="-122"/>
              </a:rPr>
              <a:t>Cl</a:t>
            </a:r>
            <a:r>
              <a:rPr lang="en-US" altLang="zh-CN" sz="2800" baseline="-25000" dirty="0">
                <a:latin typeface="仿宋" panose="02010609060101010101" pitchFamily="49" charset="-122"/>
                <a:ea typeface="仿宋" panose="02010609060101010101" pitchFamily="49" charset="-122"/>
              </a:rPr>
              <a:t>2</a:t>
            </a:r>
            <a:r>
              <a:rPr lang="zh-CN" altLang="en-US" sz="2800" dirty="0">
                <a:latin typeface="仿宋" panose="02010609060101010101" pitchFamily="49" charset="-122"/>
                <a:ea typeface="仿宋" panose="02010609060101010101" pitchFamily="49" charset="-122"/>
              </a:rPr>
              <a:t>）</a:t>
            </a:r>
          </a:p>
          <a:p>
            <a:pPr algn="just" eaLnBrk="1" fontAlgn="auto" hangingPunct="1">
              <a:lnSpc>
                <a:spcPct val="150000"/>
              </a:lnSpc>
              <a:spcBef>
                <a:spcPts val="432"/>
              </a:spcBef>
              <a:spcAft>
                <a:spcPts val="0"/>
              </a:spcAft>
              <a:defRPr/>
            </a:pPr>
            <a:r>
              <a:rPr lang="en-US" altLang="zh-CN" sz="2800" dirty="0">
                <a:latin typeface="仿宋" panose="02010609060101010101" pitchFamily="49" charset="-122"/>
                <a:ea typeface="仿宋" panose="02010609060101010101" pitchFamily="49" charset="-122"/>
              </a:rPr>
              <a:t>2 </a:t>
            </a:r>
            <a:r>
              <a:rPr lang="zh-CN" altLang="en-US" sz="2800" dirty="0">
                <a:latin typeface="仿宋" panose="02010609060101010101" pitchFamily="49" charset="-122"/>
                <a:ea typeface="仿宋" panose="02010609060101010101" pitchFamily="49" charset="-122"/>
              </a:rPr>
              <a:t>高压、大电流工艺设备。（例：</a:t>
            </a:r>
            <a:r>
              <a:rPr lang="en-US" altLang="zh-CN" sz="2800" dirty="0">
                <a:latin typeface="仿宋" panose="02010609060101010101" pitchFamily="49" charset="-122"/>
                <a:ea typeface="仿宋" panose="02010609060101010101" pitchFamily="49" charset="-122"/>
              </a:rPr>
              <a:t>LPCVD</a:t>
            </a:r>
            <a:r>
              <a:rPr lang="zh-CN" altLang="en-US" sz="2800" dirty="0">
                <a:latin typeface="仿宋" panose="02010609060101010101" pitchFamily="49" charset="-122"/>
                <a:ea typeface="仿宋" panose="02010609060101010101" pitchFamily="49" charset="-122"/>
              </a:rPr>
              <a:t>：高压、高真空）</a:t>
            </a:r>
            <a:endParaRPr lang="en-US" altLang="zh-CN" sz="2800" dirty="0">
              <a:latin typeface="仿宋" panose="02010609060101010101" pitchFamily="49" charset="-122"/>
              <a:ea typeface="仿宋" panose="02010609060101010101" pitchFamily="49" charset="-122"/>
            </a:endParaRPr>
          </a:p>
          <a:p>
            <a:pPr algn="just" eaLnBrk="1" fontAlgn="auto" hangingPunct="1">
              <a:lnSpc>
                <a:spcPct val="150000"/>
              </a:lnSpc>
              <a:spcBef>
                <a:spcPts val="432"/>
              </a:spcBef>
              <a:spcAft>
                <a:spcPts val="0"/>
              </a:spcAft>
              <a:defRPr/>
            </a:pPr>
            <a:r>
              <a:rPr lang="en-US" altLang="zh-CN" sz="2800" dirty="0">
                <a:latin typeface="仿宋" panose="02010609060101010101" pitchFamily="49" charset="-122"/>
                <a:ea typeface="仿宋" panose="02010609060101010101" pitchFamily="49" charset="-122"/>
              </a:rPr>
              <a:t>3 </a:t>
            </a:r>
            <a:r>
              <a:rPr lang="zh-CN" altLang="en-US" sz="2800" dirty="0">
                <a:latin typeface="仿宋" panose="02010609060101010101" pitchFamily="49" charset="-122"/>
                <a:ea typeface="仿宋" panose="02010609060101010101" pitchFamily="49" charset="-122"/>
              </a:rPr>
              <a:t>高温，高热设备。（例：氧化扩散炉及红外退火炉、石墨烯）</a:t>
            </a:r>
            <a:endParaRPr lang="en-US" altLang="zh-CN" sz="2800" dirty="0">
              <a:latin typeface="仿宋" panose="02010609060101010101" pitchFamily="49" charset="-122"/>
              <a:ea typeface="仿宋" panose="02010609060101010101" pitchFamily="49" charset="-122"/>
            </a:endParaRPr>
          </a:p>
          <a:p>
            <a:pPr algn="just" eaLnBrk="1" fontAlgn="auto" hangingPunct="1">
              <a:lnSpc>
                <a:spcPct val="150000"/>
              </a:lnSpc>
              <a:spcBef>
                <a:spcPts val="432"/>
              </a:spcBef>
              <a:spcAft>
                <a:spcPts val="0"/>
              </a:spcAft>
              <a:defRPr/>
            </a:pPr>
            <a:r>
              <a:rPr lang="en-US" altLang="zh-CN" sz="2800" dirty="0">
                <a:latin typeface="仿宋" panose="02010609060101010101" pitchFamily="49" charset="-122"/>
                <a:ea typeface="仿宋" panose="02010609060101010101" pitchFamily="49" charset="-122"/>
              </a:rPr>
              <a:t>4 </a:t>
            </a:r>
            <a:r>
              <a:rPr lang="zh-CN" altLang="en-US" sz="2800" dirty="0">
                <a:latin typeface="仿宋" panose="02010609060101010101" pitchFamily="49" charset="-122"/>
                <a:ea typeface="仿宋" panose="02010609060101010101" pitchFamily="49" charset="-122"/>
              </a:rPr>
              <a:t>强光、激光源。（例：光刻机）</a:t>
            </a:r>
            <a:endParaRPr lang="en-US" altLang="zh-CN" sz="2800" dirty="0">
              <a:latin typeface="仿宋" panose="02010609060101010101" pitchFamily="49" charset="-122"/>
              <a:ea typeface="仿宋" panose="02010609060101010101" pitchFamily="49" charset="-122"/>
            </a:endParaRPr>
          </a:p>
          <a:p>
            <a:pPr algn="just" eaLnBrk="1" fontAlgn="auto" hangingPunct="1">
              <a:lnSpc>
                <a:spcPct val="150000"/>
              </a:lnSpc>
              <a:spcBef>
                <a:spcPts val="432"/>
              </a:spcBef>
              <a:spcAft>
                <a:spcPts val="0"/>
              </a:spcAft>
              <a:defRPr/>
            </a:pPr>
            <a:r>
              <a:rPr lang="en-US" altLang="zh-CN" sz="2800" dirty="0">
                <a:latin typeface="仿宋" panose="02010609060101010101" pitchFamily="49" charset="-122"/>
                <a:ea typeface="仿宋" panose="02010609060101010101" pitchFamily="49" charset="-122"/>
              </a:rPr>
              <a:t>5 </a:t>
            </a:r>
            <a:r>
              <a:rPr lang="zh-CN" altLang="en-US" sz="2800" dirty="0">
                <a:latin typeface="仿宋" panose="02010609060101010101" pitchFamily="49" charset="-122"/>
                <a:ea typeface="仿宋" panose="02010609060101010101" pitchFamily="49" charset="-122"/>
              </a:rPr>
              <a:t>放射源。（例：</a:t>
            </a:r>
            <a:r>
              <a:rPr lang="en-US" altLang="zh-CN" sz="2800" dirty="0">
                <a:latin typeface="仿宋" panose="02010609060101010101" pitchFamily="49" charset="-122"/>
                <a:ea typeface="仿宋" panose="02010609060101010101" pitchFamily="49" charset="-122"/>
              </a:rPr>
              <a:t>XRD</a:t>
            </a:r>
            <a:r>
              <a:rPr lang="zh-CN" altLang="en-US" sz="2800" dirty="0">
                <a:latin typeface="仿宋" panose="02010609060101010101" pitchFamily="49" charset="-122"/>
                <a:ea typeface="仿宋" panose="02010609060101010101" pitchFamily="49" charset="-122"/>
              </a:rPr>
              <a:t>）</a:t>
            </a:r>
            <a:endParaRPr lang="en-US" altLang="zh-CN" sz="2800" dirty="0">
              <a:latin typeface="仿宋" panose="02010609060101010101" pitchFamily="49" charset="-122"/>
              <a:ea typeface="仿宋" panose="02010609060101010101" pitchFamily="49" charset="-122"/>
            </a:endParaRPr>
          </a:p>
        </p:txBody>
      </p:sp>
      <p:sp>
        <p:nvSpPr>
          <p:cNvPr id="3" name="矩形 2"/>
          <p:cNvSpPr/>
          <p:nvPr/>
        </p:nvSpPr>
        <p:spPr>
          <a:xfrm>
            <a:off x="507734" y="5941592"/>
            <a:ext cx="11989332" cy="660758"/>
          </a:xfrm>
          <a:prstGeom prst="rect">
            <a:avLst/>
          </a:prstGeom>
        </p:spPr>
        <p:txBody>
          <a:bodyPr wrap="square">
            <a:spAutoFit/>
          </a:bodyPr>
          <a:lstStyle/>
          <a:p>
            <a:pPr algn="just">
              <a:lnSpc>
                <a:spcPct val="150000"/>
              </a:lnSpc>
            </a:pPr>
            <a:r>
              <a:rPr lang="zh-CN" altLang="en-US" sz="280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en-US" dirty="0"/>
          </a:p>
        </p:txBody>
      </p:sp>
      <p:sp>
        <p:nvSpPr>
          <p:cNvPr id="7" name="矩形 6"/>
          <p:cNvSpPr/>
          <p:nvPr/>
        </p:nvSpPr>
        <p:spPr>
          <a:xfrm>
            <a:off x="0" y="1716401"/>
            <a:ext cx="4817345" cy="646331"/>
          </a:xfrm>
          <a:prstGeom prst="rect">
            <a:avLst/>
          </a:prstGeom>
        </p:spPr>
        <p:txBody>
          <a:bodyPr wrap="none">
            <a:spAutoFit/>
          </a:bodyPr>
          <a:lstStyle/>
          <a:p>
            <a:r>
              <a:rPr lang="zh-CN" altLang="en-US" b="1" dirty="0">
                <a:solidFill>
                  <a:schemeClr val="tx1"/>
                </a:solidFill>
                <a:latin typeface="仿宋" panose="02010609060101010101" pitchFamily="49" charset="-122"/>
                <a:ea typeface="仿宋" panose="02010609060101010101" pitchFamily="49" charset="-122"/>
                <a:cs typeface="Times New Roman" panose="02020603050405020304" pitchFamily="18" charset="0"/>
              </a:rPr>
              <a:t>一、超净间中的危险源</a:t>
            </a:r>
            <a:endParaRPr lang="zh-CN" altLang="en-US" dirty="0"/>
          </a:p>
        </p:txBody>
      </p:sp>
    </p:spTree>
    <p:extLst>
      <p:ext uri="{BB962C8B-B14F-4D97-AF65-F5344CB8AC3E}">
        <p14:creationId xmlns:p14="http://schemas.microsoft.com/office/powerpoint/2010/main" val="2843566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37</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8" name="内容占位符 3">
            <a:extLst>
              <a:ext uri="{FF2B5EF4-FFF2-40B4-BE49-F238E27FC236}">
                <a16:creationId xmlns:a16="http://schemas.microsoft.com/office/drawing/2014/main" id="{08A90D5D-03D6-4749-98F5-B4675BAA45A0}"/>
              </a:ext>
            </a:extLst>
          </p:cNvPr>
          <p:cNvSpPr txBox="1">
            <a:spLocks/>
          </p:cNvSpPr>
          <p:nvPr/>
        </p:nvSpPr>
        <p:spPr>
          <a:xfrm>
            <a:off x="597744" y="2500536"/>
            <a:ext cx="11521280" cy="5227258"/>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defTabSz="914400" fontAlgn="auto">
              <a:spcAft>
                <a:spcPts val="0"/>
              </a:spcAft>
              <a:buFont typeface="Wingdings 2"/>
              <a:buNone/>
            </a:pPr>
            <a:endParaRPr lang="en-US" altLang="zh-CN" sz="1800" dirty="0">
              <a:latin typeface="+mn-ea"/>
            </a:endParaRPr>
          </a:p>
          <a:p>
            <a:pPr marL="0" indent="0" defTabSz="914400" fontAlgn="auto">
              <a:lnSpc>
                <a:spcPct val="150000"/>
              </a:lnSpc>
              <a:spcAft>
                <a:spcPts val="0"/>
              </a:spcAft>
              <a:buClr>
                <a:srgbClr val="FF0000"/>
              </a:buClr>
              <a:buNone/>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大宗气体</a:t>
            </a:r>
            <a:r>
              <a:rPr lang="en-US" altLang="zh-CN" sz="2800" b="1"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氮气、氢气、氧气，这是实验室里设备使用量最大的三种气体。重点需要防护的是</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氮气的泄漏</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，泄漏会造成实验室的</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缺氧</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，造成人员的窒息；</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氢气泄漏</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会造成</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燃烧或爆炸</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；在实验室里有泄漏报警装置。</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0" indent="0" defTabSz="914400" fontAlgn="auto">
              <a:lnSpc>
                <a:spcPct val="150000"/>
              </a:lnSpc>
              <a:spcAft>
                <a:spcPts val="0"/>
              </a:spcAft>
              <a:buClr>
                <a:srgbClr val="FF0000"/>
              </a:buClr>
              <a:buNone/>
            </a:pP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marL="0" indent="0" algn="just" defTabSz="914400" fontAlgn="auto">
              <a:lnSpc>
                <a:spcPct val="150000"/>
              </a:lnSpc>
              <a:spcAft>
                <a:spcPts val="0"/>
              </a:spcAft>
              <a:buClr>
                <a:srgbClr val="FF0000"/>
              </a:buClr>
              <a:buNone/>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工艺气体</a:t>
            </a:r>
            <a:r>
              <a:rPr lang="en-US" altLang="zh-CN" sz="2800" b="1"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总数量有近</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20</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种，其中</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有毒有害的气体</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主要有：</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Cl</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2</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BCl</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3</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SiH</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2</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Cl</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2</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SiH</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4</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err="1">
                <a:latin typeface="Times New Roman" panose="02020603050405020304" pitchFamily="18" charset="0"/>
                <a:ea typeface="仿宋" panose="02010609060101010101" pitchFamily="49" charset="-122"/>
                <a:cs typeface="Times New Roman" panose="02020603050405020304" pitchFamily="18" charset="0"/>
              </a:rPr>
              <a:t>HCl</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err="1">
                <a:latin typeface="Times New Roman" panose="02020603050405020304" pitchFamily="18" charset="0"/>
                <a:ea typeface="仿宋" panose="02010609060101010101" pitchFamily="49" charset="-122"/>
                <a:cs typeface="Times New Roman" panose="02020603050405020304" pitchFamily="18" charset="0"/>
              </a:rPr>
              <a:t>HBr</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GeH</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4</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等；一般称为</a:t>
            </a:r>
            <a:r>
              <a:rPr lang="zh-CN" altLang="en-US" sz="28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特气</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，其在实验室里有泄漏报警装置。</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p>
            <a:pPr defTabSz="914400" fontAlgn="auto">
              <a:spcAft>
                <a:spcPts val="0"/>
              </a:spcAft>
            </a:pPr>
            <a:endParaRPr lang="zh-CN" altLang="en-US" sz="1800" dirty="0">
              <a:latin typeface="+mn-ea"/>
            </a:endParaRPr>
          </a:p>
        </p:txBody>
      </p:sp>
      <p:sp>
        <p:nvSpPr>
          <p:cNvPr id="6" name="内容占位符 2"/>
          <p:cNvSpPr>
            <a:spLocks noGrp="1"/>
          </p:cNvSpPr>
          <p:nvPr>
            <p:ph idx="1"/>
          </p:nvPr>
        </p:nvSpPr>
        <p:spPr>
          <a:xfrm>
            <a:off x="24075" y="1848694"/>
            <a:ext cx="11503838" cy="779286"/>
          </a:xfrm>
        </p:spPr>
        <p:txBody>
          <a:bodyPr/>
          <a:lstStyle/>
          <a:p>
            <a:pPr marL="0" indent="0">
              <a:buNone/>
            </a:pPr>
            <a:r>
              <a:rPr lang="zh-CN" altLang="en-US" sz="3200" dirty="0">
                <a:latin typeface="黑体" panose="02010609060101010101" pitchFamily="49" charset="-122"/>
              </a:rPr>
              <a:t>二、实验室大宗气体、工艺气体侦测及警报处理办法</a:t>
            </a:r>
          </a:p>
        </p:txBody>
      </p:sp>
    </p:spTree>
    <p:extLst>
      <p:ext uri="{BB962C8B-B14F-4D97-AF65-F5344CB8AC3E}">
        <p14:creationId xmlns:p14="http://schemas.microsoft.com/office/powerpoint/2010/main" val="1780484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38</a:t>
            </a:fld>
            <a:endParaRPr lang="zh-CN" altLang="en-US" dirty="0"/>
          </a:p>
        </p:txBody>
      </p:sp>
      <p:sp>
        <p:nvSpPr>
          <p:cNvPr id="3" name="内容占位符 2"/>
          <p:cNvSpPr>
            <a:spLocks noGrp="1"/>
          </p:cNvSpPr>
          <p:nvPr>
            <p:ph idx="1"/>
          </p:nvPr>
        </p:nvSpPr>
        <p:spPr>
          <a:xfrm>
            <a:off x="24075" y="1852464"/>
            <a:ext cx="11503838" cy="779286"/>
          </a:xfrm>
        </p:spPr>
        <p:txBody>
          <a:bodyPr/>
          <a:lstStyle/>
          <a:p>
            <a:pPr marL="0" indent="0">
              <a:buNone/>
            </a:pPr>
            <a:r>
              <a:rPr lang="zh-CN" altLang="en-US" sz="3200" dirty="0">
                <a:latin typeface="黑体" panose="02010609060101010101" pitchFamily="49" charset="-122"/>
              </a:rPr>
              <a:t>二、实验室大宗气体、工艺气体侦测及警报处理办法</a:t>
            </a:r>
          </a:p>
        </p:txBody>
      </p:sp>
      <p:sp>
        <p:nvSpPr>
          <p:cNvPr id="6" name="内容占位符 3">
            <a:extLst>
              <a:ext uri="{FF2B5EF4-FFF2-40B4-BE49-F238E27FC236}">
                <a16:creationId xmlns:a16="http://schemas.microsoft.com/office/drawing/2014/main" id="{382CFEAD-F595-4E5D-B0F9-B73F0CB9E158}"/>
              </a:ext>
            </a:extLst>
          </p:cNvPr>
          <p:cNvSpPr txBox="1">
            <a:spLocks/>
          </p:cNvSpPr>
          <p:nvPr/>
        </p:nvSpPr>
        <p:spPr>
          <a:xfrm>
            <a:off x="736701" y="2559962"/>
            <a:ext cx="10801200" cy="6766101"/>
          </a:xfrm>
          <a:prstGeom prst="rect">
            <a:avLst/>
          </a:prstGeom>
        </p:spPr>
        <p:txBody>
          <a:bodyPr vert="horz">
            <a:normAutofit fontScale="250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lnSpc>
                <a:spcPct val="160000"/>
              </a:lnSpc>
              <a:spcAft>
                <a:spcPts val="0"/>
              </a:spcAft>
              <a:buClr>
                <a:srgbClr val="FF0000"/>
              </a:buClr>
              <a:buFont typeface="+mj-lt"/>
              <a:buAutoNum type="arabicPeriod"/>
            </a:pPr>
            <a:r>
              <a:rPr lang="zh-CN" altLang="en-US" sz="11200" b="1" dirty="0">
                <a:latin typeface="Times New Roman" panose="02020603050405020304" pitchFamily="18" charset="0"/>
                <a:ea typeface="仿宋" panose="02010609060101010101" pitchFamily="49" charset="-122"/>
                <a:cs typeface="Times New Roman" panose="02020603050405020304" pitchFamily="18" charset="0"/>
              </a:rPr>
              <a:t>实验室</a:t>
            </a:r>
            <a:r>
              <a:rPr lang="zh-CN" altLang="zh-CN" sz="11200" b="1" dirty="0">
                <a:latin typeface="Times New Roman" panose="02020603050405020304" pitchFamily="18" charset="0"/>
                <a:ea typeface="仿宋" panose="02010609060101010101" pitchFamily="49" charset="-122"/>
                <a:cs typeface="Times New Roman" panose="02020603050405020304" pitchFamily="18" charset="0"/>
              </a:rPr>
              <a:t>氧含量</a:t>
            </a:r>
            <a:r>
              <a:rPr lang="zh-CN" altLang="en-US" sz="11200" b="1" dirty="0">
                <a:latin typeface="Times New Roman" panose="02020603050405020304" pitchFamily="18" charset="0"/>
                <a:ea typeface="仿宋" panose="02010609060101010101" pitchFamily="49" charset="-122"/>
                <a:cs typeface="Times New Roman" panose="02020603050405020304" pitchFamily="18" charset="0"/>
              </a:rPr>
              <a:t>侦测系统</a:t>
            </a:r>
            <a:endParaRPr lang="en-US" altLang="zh-CN" sz="11200" b="1"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洁净室中氧含量侦测探头遍布整个实验室，</a:t>
            </a:r>
            <a:r>
              <a:rPr lang="en-US" altLang="zh-CN" sz="9600" dirty="0">
                <a:latin typeface="Times New Roman" panose="02020603050405020304" pitchFamily="18" charset="0"/>
                <a:ea typeface="仿宋" panose="02010609060101010101" pitchFamily="49" charset="-122"/>
                <a:cs typeface="Times New Roman" panose="02020603050405020304" pitchFamily="18" charset="0"/>
              </a:rPr>
              <a:t>O</a:t>
            </a:r>
            <a:r>
              <a:rPr lang="en-US" altLang="zh-CN" sz="9600" baseline="-25000" dirty="0">
                <a:latin typeface="Times New Roman" panose="02020603050405020304" pitchFamily="18" charset="0"/>
                <a:ea typeface="仿宋" panose="02010609060101010101" pitchFamily="49" charset="-122"/>
                <a:cs typeface="Times New Roman" panose="02020603050405020304" pitchFamily="18" charset="0"/>
              </a:rPr>
              <a:t>2</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气体侦测报警控制箱</a:t>
            </a:r>
            <a:r>
              <a:rPr lang="zh-CN" altLang="zh-CN" sz="9600" dirty="0">
                <a:latin typeface="Times New Roman" panose="02020603050405020304" pitchFamily="18" charset="0"/>
                <a:ea typeface="仿宋" panose="02010609060101010101" pitchFamily="49" charset="-122"/>
                <a:cs typeface="Times New Roman" panose="02020603050405020304" pitchFamily="18" charset="0"/>
              </a:rPr>
              <a:t>有两</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个</a:t>
            </a:r>
            <a:r>
              <a:rPr lang="zh-CN" altLang="zh-CN" sz="9600"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分别</a:t>
            </a:r>
            <a:r>
              <a:rPr lang="zh-CN" altLang="zh-CN" sz="9600" dirty="0">
                <a:latin typeface="Times New Roman" panose="02020603050405020304" pitchFamily="18" charset="0"/>
                <a:ea typeface="仿宋" panose="02010609060101010101" pitchFamily="49" charset="-122"/>
                <a:cs typeface="Times New Roman" panose="02020603050405020304" pitchFamily="18" charset="0"/>
              </a:rPr>
              <a:t>在实验室入口风淋室西侧墙上</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和</a:t>
            </a:r>
            <a:r>
              <a:rPr lang="zh-CN" altLang="zh-CN" sz="9600" dirty="0">
                <a:latin typeface="Times New Roman" panose="02020603050405020304" pitchFamily="18" charset="0"/>
                <a:ea typeface="仿宋" panose="02010609060101010101" pitchFamily="49" charset="-122"/>
                <a:cs typeface="Times New Roman" panose="02020603050405020304" pitchFamily="18" charset="0"/>
              </a:rPr>
              <a:t>在光刻间门口南侧墙上）</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6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zh-CN" altLang="zh-CN" sz="9600" dirty="0">
                <a:latin typeface="Times New Roman" panose="02020603050405020304" pitchFamily="18" charset="0"/>
                <a:ea typeface="仿宋" panose="02010609060101010101" pitchFamily="49" charset="-122"/>
                <a:cs typeface="Times New Roman" panose="02020603050405020304" pitchFamily="18" charset="0"/>
              </a:rPr>
              <a:t>警示灯是否闪烁（绿灯正常、黄灯和红灯均不正常）</a:t>
            </a: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6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zh-CN" altLang="en-US" sz="9600" dirty="0">
                <a:latin typeface="Times New Roman" panose="02020603050405020304" pitchFamily="18" charset="0"/>
                <a:ea typeface="仿宋" panose="02010609060101010101" pitchFamily="49" charset="-122"/>
                <a:cs typeface="Times New Roman" panose="02020603050405020304" pitchFamily="18" charset="0"/>
              </a:rPr>
              <a:t>报警灯处于不正常状态时（非绿灯），</a:t>
            </a:r>
            <a:r>
              <a:rPr lang="zh-CN" altLang="en-US" sz="96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第一时间离开并确保自身安全后，报告工作人员。</a:t>
            </a:r>
            <a:endParaRPr lang="en-US" altLang="zh-CN" sz="96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endParaRPr>
          </a:p>
          <a:p>
            <a:pPr marL="0" indent="0" defTabSz="914400" fontAlgn="auto">
              <a:lnSpc>
                <a:spcPct val="160000"/>
              </a:lnSpc>
              <a:spcAft>
                <a:spcPts val="0"/>
              </a:spcAft>
              <a:buClr>
                <a:srgbClr val="FF0000"/>
              </a:buClr>
              <a:buNone/>
            </a:pPr>
            <a:r>
              <a:rPr lang="en-US" altLang="zh-CN" sz="112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en-US" sz="11200" b="1" dirty="0">
                <a:latin typeface="Times New Roman" panose="02020603050405020304" pitchFamily="18" charset="0"/>
                <a:ea typeface="仿宋" panose="02010609060101010101" pitchFamily="49" charset="-122"/>
                <a:cs typeface="Times New Roman" panose="02020603050405020304" pitchFamily="18" charset="0"/>
              </a:rPr>
              <a:t>实验室</a:t>
            </a:r>
            <a:r>
              <a:rPr lang="en-US" altLang="zh-CN" sz="11200" b="1" dirty="0">
                <a:latin typeface="Times New Roman" panose="02020603050405020304" pitchFamily="18" charset="0"/>
                <a:ea typeface="仿宋" panose="02010609060101010101" pitchFamily="49" charset="-122"/>
                <a:cs typeface="Times New Roman" panose="02020603050405020304" pitchFamily="18" charset="0"/>
              </a:rPr>
              <a:t>H</a:t>
            </a:r>
            <a:r>
              <a:rPr lang="en-US" altLang="zh-CN" sz="11200" b="1" baseline="-25000" dirty="0">
                <a:latin typeface="Times New Roman" panose="02020603050405020304" pitchFamily="18" charset="0"/>
                <a:ea typeface="仿宋" panose="02010609060101010101" pitchFamily="49" charset="-122"/>
                <a:cs typeface="Times New Roman" panose="02020603050405020304" pitchFamily="18" charset="0"/>
              </a:rPr>
              <a:t>2</a:t>
            </a:r>
            <a:r>
              <a:rPr lang="zh-CN" altLang="en-US" sz="11200" b="1" dirty="0">
                <a:latin typeface="Times New Roman" panose="02020603050405020304" pitchFamily="18" charset="0"/>
                <a:ea typeface="仿宋" panose="02010609060101010101" pitchFamily="49" charset="-122"/>
                <a:cs typeface="Times New Roman" panose="02020603050405020304" pitchFamily="18" charset="0"/>
              </a:rPr>
              <a:t>泄露侦测系统</a:t>
            </a:r>
            <a:endParaRPr lang="en-US" altLang="zh-CN" sz="112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en-US" altLang="zh-CN" sz="9600" b="1" dirty="0">
                <a:latin typeface="仿宋" panose="02010609060101010101" pitchFamily="49" charset="-122"/>
                <a:ea typeface="仿宋" panose="02010609060101010101" pitchFamily="49" charset="-122"/>
                <a:cs typeface="Times New Roman" panose="02020603050405020304" pitchFamily="18" charset="0"/>
              </a:rPr>
              <a:t>H</a:t>
            </a:r>
            <a:r>
              <a:rPr lang="en-US" altLang="zh-CN" sz="9600" b="1" baseline="-25000" dirty="0">
                <a:latin typeface="仿宋" panose="02010609060101010101" pitchFamily="49" charset="-122"/>
                <a:ea typeface="仿宋" panose="02010609060101010101" pitchFamily="49" charset="-122"/>
                <a:cs typeface="Times New Roman" panose="02020603050405020304" pitchFamily="18" charset="0"/>
              </a:rPr>
              <a:t>2</a:t>
            </a:r>
            <a:r>
              <a:rPr lang="zh-CN" altLang="en-US" sz="9600" dirty="0">
                <a:latin typeface="仿宋" panose="02010609060101010101" pitchFamily="49" charset="-122"/>
                <a:ea typeface="仿宋" panose="02010609060101010101" pitchFamily="49" charset="-122"/>
                <a:cs typeface="Times New Roman" panose="02020603050405020304" pitchFamily="18" charset="0"/>
              </a:rPr>
              <a:t>侦测探头安装台整个实验室必要位置，</a:t>
            </a:r>
            <a:r>
              <a:rPr lang="en-US" altLang="zh-CN" sz="9600" dirty="0">
                <a:latin typeface="仿宋" panose="02010609060101010101" pitchFamily="49" charset="-122"/>
                <a:ea typeface="仿宋" panose="02010609060101010101" pitchFamily="49" charset="-122"/>
                <a:cs typeface="Times New Roman" panose="02020603050405020304" pitchFamily="18" charset="0"/>
              </a:rPr>
              <a:t>H</a:t>
            </a:r>
            <a:r>
              <a:rPr lang="en-US" altLang="zh-CN" sz="9600" baseline="-25000" dirty="0">
                <a:latin typeface="仿宋" panose="02010609060101010101" pitchFamily="49" charset="-122"/>
                <a:ea typeface="仿宋" panose="02010609060101010101" pitchFamily="49" charset="-122"/>
                <a:cs typeface="Times New Roman" panose="02020603050405020304" pitchFamily="18" charset="0"/>
              </a:rPr>
              <a:t>2</a:t>
            </a:r>
            <a:r>
              <a:rPr lang="zh-CN" altLang="en-US" sz="9600" dirty="0">
                <a:latin typeface="仿宋" panose="02010609060101010101" pitchFamily="49" charset="-122"/>
                <a:ea typeface="仿宋" panose="02010609060101010101" pitchFamily="49" charset="-122"/>
                <a:cs typeface="Times New Roman" panose="02020603050405020304" pitchFamily="18" charset="0"/>
              </a:rPr>
              <a:t>泄漏报警器（实验室</a:t>
            </a:r>
            <a:r>
              <a:rPr lang="en-US" altLang="zh-CN" sz="9600" dirty="0">
                <a:latin typeface="仿宋" panose="02010609060101010101" pitchFamily="49" charset="-122"/>
                <a:ea typeface="仿宋" panose="02010609060101010101" pitchFamily="49" charset="-122"/>
                <a:cs typeface="Times New Roman" panose="02020603050405020304" pitchFamily="18" charset="0"/>
              </a:rPr>
              <a:t>4</a:t>
            </a:r>
            <a:r>
              <a:rPr lang="zh-CN" altLang="en-US" sz="9600" dirty="0">
                <a:latin typeface="仿宋" panose="02010609060101010101" pitchFamily="49" charset="-122"/>
                <a:ea typeface="仿宋" panose="02010609060101010101" pitchFamily="49" charset="-122"/>
                <a:cs typeface="Times New Roman" panose="02020603050405020304" pitchFamily="18" charset="0"/>
              </a:rPr>
              <a:t>号柱对面柱子东墙）。</a:t>
            </a:r>
            <a:endParaRPr lang="en-US" altLang="zh-CN" sz="9600" dirty="0">
              <a:latin typeface="仿宋" panose="02010609060101010101" pitchFamily="49" charset="-122"/>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zh-CN" altLang="en-US" sz="9600" dirty="0">
                <a:latin typeface="仿宋" panose="02010609060101010101" pitchFamily="49" charset="-122"/>
                <a:ea typeface="仿宋" panose="02010609060101010101" pitchFamily="49" charset="-122"/>
                <a:cs typeface="Times New Roman" panose="02020603050405020304" pitchFamily="18" charset="0"/>
              </a:rPr>
              <a:t>警示灯是否闪烁（绿灯正常、黄灯和红灯均不正常）。</a:t>
            </a:r>
            <a:endParaRPr lang="en-US" altLang="zh-CN" sz="9600" dirty="0">
              <a:latin typeface="仿宋" panose="02010609060101010101" pitchFamily="49" charset="-122"/>
              <a:ea typeface="仿宋" panose="02010609060101010101" pitchFamily="49" charset="-122"/>
              <a:cs typeface="Times New Roman" panose="02020603050405020304" pitchFamily="18" charset="0"/>
            </a:endParaRPr>
          </a:p>
          <a:p>
            <a:pPr marL="342900" indent="-342900" defTabSz="914400" fontAlgn="auto">
              <a:lnSpc>
                <a:spcPct val="160000"/>
              </a:lnSpc>
              <a:spcAft>
                <a:spcPts val="0"/>
              </a:spcAft>
              <a:buClr>
                <a:srgbClr val="FF0000"/>
              </a:buClr>
              <a:buFont typeface="+mj-ea"/>
              <a:buAutoNum type="circleNumDbPlain"/>
            </a:pPr>
            <a:r>
              <a:rPr lang="zh-CN" altLang="en-US" sz="9600" dirty="0">
                <a:latin typeface="仿宋" panose="02010609060101010101" pitchFamily="49" charset="-122"/>
                <a:ea typeface="仿宋" panose="02010609060101010101" pitchFamily="49" charset="-122"/>
                <a:cs typeface="Times New Roman" panose="02020603050405020304" pitchFamily="18" charset="0"/>
              </a:rPr>
              <a:t>报警灯处于不正常（非绿灯）状态下，立即停止实验并且离开实验室后，报告工作人员。</a:t>
            </a:r>
            <a:endParaRPr lang="en-US" altLang="zh-CN" sz="9600" dirty="0">
              <a:solidFill>
                <a:srgbClr val="FF0000"/>
              </a:solidFill>
              <a:latin typeface="仿宋" panose="02010609060101010101" pitchFamily="49" charset="-122"/>
              <a:ea typeface="仿宋" panose="02010609060101010101" pitchFamily="49" charset="-122"/>
              <a:cs typeface="Times New Roman" panose="02020603050405020304" pitchFamily="18" charset="0"/>
            </a:endParaRPr>
          </a:p>
          <a:p>
            <a:pPr defTabSz="914400" fontAlgn="auto">
              <a:lnSpc>
                <a:spcPct val="160000"/>
              </a:lnSpc>
              <a:spcAft>
                <a:spcPts val="0"/>
              </a:spcAft>
            </a:pPr>
            <a:endParaRPr lang="zh-CN" altLang="en-US" sz="1800" dirty="0">
              <a:latin typeface="+mn-ea"/>
            </a:endParaRPr>
          </a:p>
        </p:txBody>
      </p:sp>
      <p:sp>
        <p:nvSpPr>
          <p:cNvPr id="7" name="标题 3"/>
          <p:cNvSpPr>
            <a:spLocks noGrp="1"/>
          </p:cNvSpPr>
          <p:nvPr>
            <p:ph type="title"/>
          </p:nvPr>
        </p:nvSpPr>
        <p:spPr/>
        <p:txBody>
          <a:bodyPr/>
          <a:lstStyle/>
          <a:p>
            <a:pPr defTabSz="914400"/>
            <a:r>
              <a:rPr lang="zh-CN" altLang="en-US" sz="4800" dirty="0"/>
              <a:t>超净实验室安全</a:t>
            </a:r>
          </a:p>
        </p:txBody>
      </p:sp>
    </p:spTree>
    <p:extLst>
      <p:ext uri="{BB962C8B-B14F-4D97-AF65-F5344CB8AC3E}">
        <p14:creationId xmlns:p14="http://schemas.microsoft.com/office/powerpoint/2010/main" val="2918341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39</a:t>
            </a:fld>
            <a:endParaRPr lang="zh-CN" altLang="en-US" dirty="0"/>
          </a:p>
        </p:txBody>
      </p:sp>
      <p:pic>
        <p:nvPicPr>
          <p:cNvPr id="17" name="图片 16">
            <a:extLst>
              <a:ext uri="{FF2B5EF4-FFF2-40B4-BE49-F238E27FC236}">
                <a16:creationId xmlns:a16="http://schemas.microsoft.com/office/drawing/2014/main" id="{0F1B6DDE-9AD4-4419-A49E-41350B628D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3" y="3089401"/>
            <a:ext cx="10441160" cy="6493016"/>
          </a:xfrm>
          <a:prstGeom prst="rect">
            <a:avLst/>
          </a:prstGeom>
        </p:spPr>
      </p:pic>
      <p:sp>
        <p:nvSpPr>
          <p:cNvPr id="24" name="标注: 线形(无边框) 7">
            <a:extLst>
              <a:ext uri="{FF2B5EF4-FFF2-40B4-BE49-F238E27FC236}">
                <a16:creationId xmlns:a16="http://schemas.microsoft.com/office/drawing/2014/main" id="{5E3F547D-C85C-45EF-A345-FAC78917EE65}"/>
              </a:ext>
            </a:extLst>
          </p:cNvPr>
          <p:cNvSpPr/>
          <p:nvPr/>
        </p:nvSpPr>
        <p:spPr>
          <a:xfrm>
            <a:off x="8692754" y="3643610"/>
            <a:ext cx="4014043" cy="707956"/>
          </a:xfrm>
          <a:prstGeom prst="callout1">
            <a:avLst>
              <a:gd name="adj1" fmla="val 54019"/>
              <a:gd name="adj2" fmla="val -1483"/>
              <a:gd name="adj3" fmla="val 326309"/>
              <a:gd name="adj4" fmla="val -661"/>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平台入口氧含量报警器</a:t>
            </a:r>
            <a:endPar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5" name="流程图: 接点 8">
            <a:hlinkClick r:id="rId3" action="ppaction://hlinksldjump"/>
            <a:extLst>
              <a:ext uri="{FF2B5EF4-FFF2-40B4-BE49-F238E27FC236}">
                <a16:creationId xmlns:a16="http://schemas.microsoft.com/office/drawing/2014/main" id="{3A917138-14D3-473C-B4B2-3D4C58A26A44}"/>
              </a:ext>
            </a:extLst>
          </p:cNvPr>
          <p:cNvSpPr/>
          <p:nvPr/>
        </p:nvSpPr>
        <p:spPr>
          <a:xfrm>
            <a:off x="8620746" y="6023506"/>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22" name="流程图: 接点 4">
            <a:hlinkClick r:id="rId4" action="ppaction://hlinksldjump"/>
            <a:extLst>
              <a:ext uri="{FF2B5EF4-FFF2-40B4-BE49-F238E27FC236}">
                <a16:creationId xmlns:a16="http://schemas.microsoft.com/office/drawing/2014/main" id="{68428728-5645-43B9-8631-29A5757BA230}"/>
              </a:ext>
            </a:extLst>
          </p:cNvPr>
          <p:cNvSpPr/>
          <p:nvPr/>
        </p:nvSpPr>
        <p:spPr>
          <a:xfrm>
            <a:off x="3118024" y="5083857"/>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23" name="标注: 线形(无边框) 5">
            <a:extLst>
              <a:ext uri="{FF2B5EF4-FFF2-40B4-BE49-F238E27FC236}">
                <a16:creationId xmlns:a16="http://schemas.microsoft.com/office/drawing/2014/main" id="{E04CC1CC-5859-4E2F-AE94-A247CAB836F2}"/>
              </a:ext>
            </a:extLst>
          </p:cNvPr>
          <p:cNvSpPr/>
          <p:nvPr/>
        </p:nvSpPr>
        <p:spPr>
          <a:xfrm>
            <a:off x="3545810" y="3643610"/>
            <a:ext cx="4392488" cy="707956"/>
          </a:xfrm>
          <a:prstGeom prst="callout1">
            <a:avLst>
              <a:gd name="adj1" fmla="val 55462"/>
              <a:gd name="adj2" fmla="val 363"/>
              <a:gd name="adj3" fmla="val 210233"/>
              <a:gd name="adj4" fmla="val -7210"/>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kern="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光刻间门口氧含量报警器</a:t>
            </a:r>
            <a:endParaRPr lang="en-US" altLang="zh-CN" sz="2800" kern="0" dirty="0">
              <a:solidFill>
                <a:prstClr val="black"/>
              </a:solidFill>
              <a:latin typeface="Times New Roman" panose="02020603050405020304" pitchFamily="18" charset="0"/>
              <a:ea typeface="仿宋" panose="02010609060101010101" pitchFamily="49" charset="-122"/>
              <a:cs typeface="Times New Roman" panose="02020603050405020304" pitchFamily="18" charset="0"/>
            </a:endParaRPr>
          </a:p>
        </p:txBody>
      </p:sp>
      <p:grpSp>
        <p:nvGrpSpPr>
          <p:cNvPr id="29" name="组合 28"/>
          <p:cNvGrpSpPr/>
          <p:nvPr/>
        </p:nvGrpSpPr>
        <p:grpSpPr>
          <a:xfrm>
            <a:off x="12177516" y="1760652"/>
            <a:ext cx="646332" cy="1528152"/>
            <a:chOff x="11366195" y="2699522"/>
            <a:chExt cx="646332" cy="1528152"/>
          </a:xfrm>
        </p:grpSpPr>
        <p:sp>
          <p:nvSpPr>
            <p:cNvPr id="30" name="任意多边形 29"/>
            <p:cNvSpPr/>
            <p:nvPr/>
          </p:nvSpPr>
          <p:spPr>
            <a:xfrm>
              <a:off x="11484939" y="2699522"/>
              <a:ext cx="410537" cy="860072"/>
            </a:xfrm>
            <a:custGeom>
              <a:avLst/>
              <a:gdLst>
                <a:gd name="connsiteX0" fmla="*/ 699247 w 1452282"/>
                <a:gd name="connsiteY0" fmla="*/ 0 h 2904565"/>
                <a:gd name="connsiteX1" fmla="*/ 0 w 1452282"/>
                <a:gd name="connsiteY1" fmla="*/ 2886635 h 2904565"/>
                <a:gd name="connsiteX2" fmla="*/ 717176 w 1452282"/>
                <a:gd name="connsiteY2" fmla="*/ 2169459 h 2904565"/>
                <a:gd name="connsiteX3" fmla="*/ 1452282 w 1452282"/>
                <a:gd name="connsiteY3" fmla="*/ 2904565 h 2904565"/>
                <a:gd name="connsiteX4" fmla="*/ 699247 w 1452282"/>
                <a:gd name="connsiteY4" fmla="*/ 0 h 2904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282" h="2904565">
                  <a:moveTo>
                    <a:pt x="699247" y="0"/>
                  </a:moveTo>
                  <a:lnTo>
                    <a:pt x="0" y="2886635"/>
                  </a:lnTo>
                  <a:lnTo>
                    <a:pt x="717176" y="2169459"/>
                  </a:lnTo>
                  <a:lnTo>
                    <a:pt x="1452282" y="2904565"/>
                  </a:lnTo>
                  <a:lnTo>
                    <a:pt x="699247" y="0"/>
                  </a:lnTo>
                  <a:close/>
                </a:path>
              </a:pathLst>
            </a:cu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31" name="文本框 30"/>
            <p:cNvSpPr txBox="1"/>
            <p:nvPr/>
          </p:nvSpPr>
          <p:spPr>
            <a:xfrm>
              <a:off x="11366195" y="3581343"/>
              <a:ext cx="646332" cy="646331"/>
            </a:xfrm>
            <a:prstGeom prst="rect">
              <a:avLst/>
            </a:prstGeom>
            <a:noFill/>
          </p:spPr>
          <p:txBody>
            <a:bodyPr wrap="none" rtlCol="0">
              <a:spAutoFit/>
            </a:bodyPr>
            <a:lstStyle/>
            <a:p>
              <a:r>
                <a:rPr lang="zh-CN" altLang="en-US" dirty="0">
                  <a:solidFill>
                    <a:srgbClr val="0000FF"/>
                  </a:solidFill>
                </a:rPr>
                <a:t>北</a:t>
              </a:r>
            </a:p>
          </p:txBody>
        </p:sp>
      </p:grpSp>
      <p:sp>
        <p:nvSpPr>
          <p:cNvPr id="15" name="内容占位符 3">
            <a:extLst>
              <a:ext uri="{FF2B5EF4-FFF2-40B4-BE49-F238E27FC236}">
                <a16:creationId xmlns:a16="http://schemas.microsoft.com/office/drawing/2014/main" id="{382CFEAD-F595-4E5D-B0F9-B73F0CB9E158}"/>
              </a:ext>
            </a:extLst>
          </p:cNvPr>
          <p:cNvSpPr txBox="1">
            <a:spLocks/>
          </p:cNvSpPr>
          <p:nvPr/>
        </p:nvSpPr>
        <p:spPr>
          <a:xfrm>
            <a:off x="453728" y="2428528"/>
            <a:ext cx="6989835" cy="660873"/>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defTabSz="914400" fontAlgn="auto">
              <a:lnSpc>
                <a:spcPct val="150000"/>
              </a:lnSpc>
              <a:spcAft>
                <a:spcPts val="0"/>
              </a:spcAft>
              <a:buClr>
                <a:srgbClr val="FF0000"/>
              </a:buClr>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实验室</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气体侦测报警控制箱位置示意图</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nvPicPr>
        <p:blipFill>
          <a:blip r:embed="rId5"/>
          <a:stretch>
            <a:fillRect/>
          </a:stretch>
        </p:blipFill>
        <p:spPr>
          <a:xfrm>
            <a:off x="9116093" y="4391794"/>
            <a:ext cx="3589979" cy="2379533"/>
          </a:xfrm>
          <a:prstGeom prst="rect">
            <a:avLst/>
          </a:prstGeom>
        </p:spPr>
      </p:pic>
      <p:pic>
        <p:nvPicPr>
          <p:cNvPr id="6" name="图片 5"/>
          <p:cNvPicPr>
            <a:picLocks noChangeAspect="1"/>
          </p:cNvPicPr>
          <p:nvPr/>
        </p:nvPicPr>
        <p:blipFill>
          <a:blip r:embed="rId6"/>
          <a:stretch>
            <a:fillRect/>
          </a:stretch>
        </p:blipFill>
        <p:spPr>
          <a:xfrm>
            <a:off x="4490947" y="4391794"/>
            <a:ext cx="3446262" cy="2362380"/>
          </a:xfrm>
          <a:prstGeom prst="rect">
            <a:avLst/>
          </a:prstGeom>
        </p:spPr>
      </p:pic>
      <p:sp>
        <p:nvSpPr>
          <p:cNvPr id="18" name="内容占位符 2"/>
          <p:cNvSpPr txBox="1">
            <a:spLocks/>
          </p:cNvSpPr>
          <p:nvPr/>
        </p:nvSpPr>
        <p:spPr bwMode="auto">
          <a:xfrm>
            <a:off x="24075" y="1848694"/>
            <a:ext cx="11503838" cy="7792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a:buFont typeface="Wingdings" panose="05000000000000000000" pitchFamily="2" charset="2"/>
              <a:buNone/>
            </a:pPr>
            <a:r>
              <a:rPr lang="zh-CN" altLang="en-US" sz="3200" dirty="0">
                <a:latin typeface="黑体" panose="02010609060101010101" pitchFamily="49" charset="-122"/>
              </a:rPr>
              <a:t>二、实验室大宗气体、工艺气体侦测及警报处理办法</a:t>
            </a:r>
          </a:p>
        </p:txBody>
      </p:sp>
      <p:sp>
        <p:nvSpPr>
          <p:cNvPr id="20"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Tree>
    <p:extLst>
      <p:ext uri="{BB962C8B-B14F-4D97-AF65-F5344CB8AC3E}">
        <p14:creationId xmlns:p14="http://schemas.microsoft.com/office/powerpoint/2010/main" val="121802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40</a:t>
            </a:fld>
            <a:endParaRPr lang="zh-CN" altLang="en-US" dirty="0"/>
          </a:p>
        </p:txBody>
      </p:sp>
      <p:sp>
        <p:nvSpPr>
          <p:cNvPr id="6" name="内容占位符 3">
            <a:extLst>
              <a:ext uri="{FF2B5EF4-FFF2-40B4-BE49-F238E27FC236}">
                <a16:creationId xmlns:a16="http://schemas.microsoft.com/office/drawing/2014/main" id="{382CFEAD-F595-4E5D-B0F9-B73F0CB9E158}"/>
              </a:ext>
            </a:extLst>
          </p:cNvPr>
          <p:cNvSpPr txBox="1">
            <a:spLocks/>
          </p:cNvSpPr>
          <p:nvPr/>
        </p:nvSpPr>
        <p:spPr>
          <a:xfrm>
            <a:off x="453728" y="2428528"/>
            <a:ext cx="6989835" cy="660873"/>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defTabSz="914400" fontAlgn="auto">
              <a:lnSpc>
                <a:spcPct val="150000"/>
              </a:lnSpc>
              <a:spcAft>
                <a:spcPts val="0"/>
              </a:spcAft>
              <a:buClr>
                <a:srgbClr val="FF0000"/>
              </a:buClr>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实验室</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H</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气体侦测报警控制箱位置示意图</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0F1B6DDE-9AD4-4419-A49E-41350B628D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3" y="3089401"/>
            <a:ext cx="10441160" cy="6493016"/>
          </a:xfrm>
          <a:prstGeom prst="rect">
            <a:avLst/>
          </a:prstGeom>
        </p:spPr>
      </p:pic>
      <p:grpSp>
        <p:nvGrpSpPr>
          <p:cNvPr id="8" name="组合 7"/>
          <p:cNvGrpSpPr/>
          <p:nvPr/>
        </p:nvGrpSpPr>
        <p:grpSpPr>
          <a:xfrm>
            <a:off x="12177516" y="1760652"/>
            <a:ext cx="646332" cy="1528152"/>
            <a:chOff x="11366195" y="2699522"/>
            <a:chExt cx="646332" cy="1528152"/>
          </a:xfrm>
        </p:grpSpPr>
        <p:sp>
          <p:nvSpPr>
            <p:cNvPr id="9" name="任意多边形 8"/>
            <p:cNvSpPr/>
            <p:nvPr/>
          </p:nvSpPr>
          <p:spPr>
            <a:xfrm>
              <a:off x="11484939" y="2699522"/>
              <a:ext cx="410537" cy="860072"/>
            </a:xfrm>
            <a:custGeom>
              <a:avLst/>
              <a:gdLst>
                <a:gd name="connsiteX0" fmla="*/ 699247 w 1452282"/>
                <a:gd name="connsiteY0" fmla="*/ 0 h 2904565"/>
                <a:gd name="connsiteX1" fmla="*/ 0 w 1452282"/>
                <a:gd name="connsiteY1" fmla="*/ 2886635 h 2904565"/>
                <a:gd name="connsiteX2" fmla="*/ 717176 w 1452282"/>
                <a:gd name="connsiteY2" fmla="*/ 2169459 h 2904565"/>
                <a:gd name="connsiteX3" fmla="*/ 1452282 w 1452282"/>
                <a:gd name="connsiteY3" fmla="*/ 2904565 h 2904565"/>
                <a:gd name="connsiteX4" fmla="*/ 699247 w 1452282"/>
                <a:gd name="connsiteY4" fmla="*/ 0 h 2904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282" h="2904565">
                  <a:moveTo>
                    <a:pt x="699247" y="0"/>
                  </a:moveTo>
                  <a:lnTo>
                    <a:pt x="0" y="2886635"/>
                  </a:lnTo>
                  <a:lnTo>
                    <a:pt x="717176" y="2169459"/>
                  </a:lnTo>
                  <a:lnTo>
                    <a:pt x="1452282" y="2904565"/>
                  </a:lnTo>
                  <a:lnTo>
                    <a:pt x="699247" y="0"/>
                  </a:lnTo>
                  <a:close/>
                </a:path>
              </a:pathLst>
            </a:cu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10" name="文本框 9"/>
            <p:cNvSpPr txBox="1"/>
            <p:nvPr/>
          </p:nvSpPr>
          <p:spPr>
            <a:xfrm>
              <a:off x="11366195" y="3581343"/>
              <a:ext cx="646332" cy="646331"/>
            </a:xfrm>
            <a:prstGeom prst="rect">
              <a:avLst/>
            </a:prstGeom>
            <a:noFill/>
          </p:spPr>
          <p:txBody>
            <a:bodyPr wrap="none" rtlCol="0">
              <a:spAutoFit/>
            </a:bodyPr>
            <a:lstStyle/>
            <a:p>
              <a:r>
                <a:rPr lang="zh-CN" altLang="en-US" dirty="0">
                  <a:solidFill>
                    <a:srgbClr val="0000FF"/>
                  </a:solidFill>
                </a:rPr>
                <a:t>北</a:t>
              </a:r>
            </a:p>
          </p:txBody>
        </p:sp>
      </p:grpSp>
      <p:sp>
        <p:nvSpPr>
          <p:cNvPr id="11" name="流程图: 接点 4">
            <a:hlinkClick r:id="" action="ppaction://noaction"/>
            <a:extLst>
              <a:ext uri="{FF2B5EF4-FFF2-40B4-BE49-F238E27FC236}">
                <a16:creationId xmlns:a16="http://schemas.microsoft.com/office/drawing/2014/main" id="{062F7096-0C06-4EE0-A029-D1E8C774CF52}"/>
              </a:ext>
            </a:extLst>
          </p:cNvPr>
          <p:cNvSpPr/>
          <p:nvPr/>
        </p:nvSpPr>
        <p:spPr>
          <a:xfrm>
            <a:off x="5738552" y="4996444"/>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12" name="标注: 线形(无边框) 5">
            <a:extLst>
              <a:ext uri="{FF2B5EF4-FFF2-40B4-BE49-F238E27FC236}">
                <a16:creationId xmlns:a16="http://schemas.microsoft.com/office/drawing/2014/main" id="{D86C06F4-69F7-4947-BD07-10B2F6A22600}"/>
              </a:ext>
            </a:extLst>
          </p:cNvPr>
          <p:cNvSpPr/>
          <p:nvPr/>
        </p:nvSpPr>
        <p:spPr>
          <a:xfrm>
            <a:off x="6646416" y="3579266"/>
            <a:ext cx="3003379" cy="709123"/>
          </a:xfrm>
          <a:prstGeom prst="callout1">
            <a:avLst>
              <a:gd name="adj1" fmla="val 50239"/>
              <a:gd name="adj2" fmla="val -404"/>
              <a:gd name="adj3" fmla="val 205525"/>
              <a:gd name="adj4" fmla="val -26140"/>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Perpetua"/>
                <a:ea typeface="宋体" panose="02010600030101010101" pitchFamily="2" charset="-122"/>
              </a:rPr>
              <a:t>H</a:t>
            </a:r>
            <a:r>
              <a:rPr kumimoji="0" lang="en-US" altLang="zh-CN" sz="2800" b="0" i="0" u="none" strike="noStrike" kern="0" cap="none" spc="0" normalizeH="0" baseline="-25000" noProof="0" dirty="0">
                <a:ln>
                  <a:noFill/>
                </a:ln>
                <a:solidFill>
                  <a:prstClr val="black"/>
                </a:solidFill>
                <a:effectLst/>
                <a:uLnTx/>
                <a:uFillTx/>
                <a:latin typeface="Perpetua"/>
                <a:ea typeface="宋体" panose="02010600030101010101" pitchFamily="2" charset="-122"/>
              </a:rPr>
              <a:t>2</a:t>
            </a:r>
            <a:r>
              <a:rPr kumimoji="0" lang="zh-CN" altLang="en-US" sz="2800" b="0" i="0" u="none" strike="noStrike" kern="0" cap="none" spc="0" normalizeH="0" baseline="0" noProof="0" dirty="0">
                <a:ln>
                  <a:noFill/>
                </a:ln>
                <a:solidFill>
                  <a:prstClr val="black"/>
                </a:solidFill>
                <a:effectLst/>
                <a:uLnTx/>
                <a:uFillTx/>
                <a:latin typeface="Perpetua"/>
                <a:ea typeface="宋体" panose="02010600030101010101" pitchFamily="2" charset="-122"/>
              </a:rPr>
              <a:t>泄露报警器</a:t>
            </a:r>
            <a:endParaRPr kumimoji="0" lang="en-US" altLang="zh-CN" sz="2800" b="0" i="0" u="none" strike="noStrike" kern="0" cap="none" spc="0" normalizeH="0" baseline="0" noProof="0" dirty="0">
              <a:ln>
                <a:noFill/>
              </a:ln>
              <a:solidFill>
                <a:prstClr val="black"/>
              </a:solidFill>
              <a:effectLst/>
              <a:uLnTx/>
              <a:uFillTx/>
              <a:latin typeface="Perpetua"/>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6646416" y="4288389"/>
            <a:ext cx="3353052" cy="2361600"/>
          </a:xfrm>
          <a:prstGeom prst="rect">
            <a:avLst/>
          </a:prstGeom>
        </p:spPr>
      </p:pic>
      <p:sp>
        <p:nvSpPr>
          <p:cNvPr id="14" name="内容占位符 2"/>
          <p:cNvSpPr>
            <a:spLocks noGrp="1"/>
          </p:cNvSpPr>
          <p:nvPr>
            <p:ph idx="1"/>
          </p:nvPr>
        </p:nvSpPr>
        <p:spPr>
          <a:xfrm>
            <a:off x="24075" y="1848694"/>
            <a:ext cx="11503838" cy="779286"/>
          </a:xfrm>
        </p:spPr>
        <p:txBody>
          <a:bodyPr/>
          <a:lstStyle/>
          <a:p>
            <a:pPr marL="0" indent="0">
              <a:buNone/>
            </a:pPr>
            <a:r>
              <a:rPr lang="zh-CN" altLang="en-US" sz="3200" dirty="0">
                <a:latin typeface="黑体" panose="02010609060101010101" pitchFamily="49" charset="-122"/>
              </a:rPr>
              <a:t>二、实验室大宗气体、工艺气体侦测及警报处理办法</a:t>
            </a:r>
          </a:p>
        </p:txBody>
      </p:sp>
      <p:sp>
        <p:nvSpPr>
          <p:cNvPr id="16"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Tree>
    <p:extLst>
      <p:ext uri="{BB962C8B-B14F-4D97-AF65-F5344CB8AC3E}">
        <p14:creationId xmlns:p14="http://schemas.microsoft.com/office/powerpoint/2010/main" val="144593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41</a:t>
            </a:fld>
            <a:endParaRPr lang="zh-CN" altLang="en-US" dirty="0"/>
          </a:p>
        </p:txBody>
      </p:sp>
      <p:sp>
        <p:nvSpPr>
          <p:cNvPr id="6" name="内容占位符 3">
            <a:extLst>
              <a:ext uri="{FF2B5EF4-FFF2-40B4-BE49-F238E27FC236}">
                <a16:creationId xmlns:a16="http://schemas.microsoft.com/office/drawing/2014/main" id="{382CFEAD-F595-4E5D-B0F9-B73F0CB9E158}"/>
              </a:ext>
            </a:extLst>
          </p:cNvPr>
          <p:cNvSpPr txBox="1">
            <a:spLocks/>
          </p:cNvSpPr>
          <p:nvPr/>
        </p:nvSpPr>
        <p:spPr>
          <a:xfrm>
            <a:off x="525736" y="2572544"/>
            <a:ext cx="11809312" cy="4189046"/>
          </a:xfrm>
          <a:prstGeom prst="rect">
            <a:avLst/>
          </a:prstGeom>
        </p:spPr>
        <p:txBody>
          <a:bodyPr vert="horz">
            <a:normAutofit fontScale="775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defTabSz="914400" fontAlgn="auto">
              <a:lnSpc>
                <a:spcPct val="150000"/>
              </a:lnSpc>
              <a:spcAft>
                <a:spcPts val="0"/>
              </a:spcAft>
              <a:buClr>
                <a:srgbClr val="FF0000"/>
              </a:buClr>
              <a:buNone/>
            </a:pPr>
            <a:r>
              <a:rPr lang="en-US" altLang="zh-CN" sz="33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en-US" sz="3300" b="1" dirty="0">
                <a:latin typeface="Times New Roman" panose="02020603050405020304" pitchFamily="18" charset="0"/>
                <a:ea typeface="仿宋" panose="02010609060101010101" pitchFamily="49" charset="-122"/>
                <a:cs typeface="Times New Roman" panose="02020603050405020304" pitchFamily="18" charset="0"/>
              </a:rPr>
              <a:t>实验室特气泄露侦测系统</a:t>
            </a:r>
            <a:endParaRPr lang="en-US" altLang="zh-CN" sz="3300" b="1" dirty="0">
              <a:latin typeface="Times New Roman" panose="02020603050405020304" pitchFamily="18" charset="0"/>
              <a:ea typeface="仿宋" panose="02010609060101010101" pitchFamily="49" charset="-122"/>
              <a:cs typeface="Times New Roman" panose="02020603050405020304" pitchFamily="18" charset="0"/>
            </a:endParaRPr>
          </a:p>
          <a:p>
            <a:pPr marL="742950" lvl="0" indent="-742950">
              <a:lnSpc>
                <a:spcPct val="150000"/>
              </a:lnSpc>
              <a:buClr>
                <a:srgbClr val="FF0000"/>
              </a:buClr>
              <a:buFont typeface="+mj-ea"/>
              <a:buAutoNum type="circleNumDbPlain"/>
            </a:pPr>
            <a:r>
              <a:rPr lang="zh-CN" altLang="en-US"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特气侦测探头安装台整个实验室必要位置。</a:t>
            </a:r>
            <a:r>
              <a:rPr lang="en-US" altLang="zh-CN"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SiH</a:t>
            </a:r>
            <a:r>
              <a:rPr lang="en-US" altLang="zh-CN" sz="3600" kern="0" baseline="-25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2</a:t>
            </a:r>
            <a:r>
              <a:rPr lang="en-US" altLang="zh-CN"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Cl</a:t>
            </a:r>
            <a:r>
              <a:rPr lang="en-US" altLang="zh-CN" sz="3600" kern="0" baseline="-25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2</a:t>
            </a:r>
            <a:r>
              <a:rPr lang="zh-CN" altLang="en-US"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en-US" altLang="zh-CN"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Cl</a:t>
            </a:r>
            <a:r>
              <a:rPr lang="en-US" altLang="zh-CN" sz="3600" kern="0" baseline="-25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2</a:t>
            </a:r>
            <a:r>
              <a:rPr lang="zh-CN" altLang="en-US"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en-US" altLang="zh-CN"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BCl</a:t>
            </a:r>
            <a:r>
              <a:rPr lang="en-US" altLang="zh-CN" sz="3600" kern="0" baseline="-25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3</a:t>
            </a:r>
            <a:r>
              <a:rPr lang="zh-CN" altLang="en-US"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泄露报警器位于实验室</a:t>
            </a:r>
            <a:r>
              <a:rPr lang="en-US" altLang="zh-CN" sz="3600" kern="0" dirty="0">
                <a:solidFill>
                  <a:prstClr val="black"/>
                </a:solidFill>
                <a:latin typeface="仿宋" panose="02010609060101010101" pitchFamily="49" charset="-122"/>
                <a:ea typeface="仿宋" panose="02010609060101010101" pitchFamily="49" charset="-122"/>
                <a:cs typeface="Times New Roman" panose="02020603050405020304" pitchFamily="18" charset="0"/>
              </a:rPr>
              <a:t>4</a:t>
            </a:r>
            <a:r>
              <a:rPr lang="zh-CN" altLang="zh-CN" sz="3600" dirty="0">
                <a:latin typeface="仿宋" panose="02010609060101010101" pitchFamily="49" charset="-122"/>
                <a:ea typeface="仿宋" panose="02010609060101010101" pitchFamily="49" charset="-122"/>
              </a:rPr>
              <a:t>号柱东墙</a:t>
            </a:r>
            <a:r>
              <a:rPr lang="zh-CN" altLang="en-US" sz="3600" dirty="0">
                <a:latin typeface="仿宋" panose="02010609060101010101" pitchFamily="49" charset="-122"/>
                <a:ea typeface="仿宋" panose="02010609060101010101" pitchFamily="49" charset="-122"/>
              </a:rPr>
              <a:t>；</a:t>
            </a:r>
            <a:r>
              <a:rPr lang="en-US" altLang="zh-CN" sz="3600" dirty="0" err="1">
                <a:latin typeface="仿宋" panose="02010609060101010101" pitchFamily="49" charset="-122"/>
                <a:ea typeface="仿宋" panose="02010609060101010101" pitchFamily="49" charset="-122"/>
              </a:rPr>
              <a:t>HBr</a:t>
            </a:r>
            <a:r>
              <a:rPr lang="zh-CN" altLang="zh-CN" sz="3600" dirty="0">
                <a:latin typeface="仿宋" panose="02010609060101010101" pitchFamily="49" charset="-122"/>
                <a:ea typeface="仿宋" panose="02010609060101010101" pitchFamily="49" charset="-122"/>
              </a:rPr>
              <a:t>、</a:t>
            </a:r>
            <a:r>
              <a:rPr lang="en-US" altLang="zh-CN" sz="3600" dirty="0" err="1">
                <a:latin typeface="仿宋" panose="02010609060101010101" pitchFamily="49" charset="-122"/>
                <a:ea typeface="仿宋" panose="02010609060101010101" pitchFamily="49" charset="-122"/>
              </a:rPr>
              <a:t>HCl</a:t>
            </a:r>
            <a:r>
              <a:rPr lang="zh-CN" altLang="zh-CN" sz="3600" dirty="0">
                <a:latin typeface="仿宋" panose="02010609060101010101" pitchFamily="49" charset="-122"/>
                <a:ea typeface="仿宋" panose="02010609060101010101" pitchFamily="49" charset="-122"/>
              </a:rPr>
              <a:t>、</a:t>
            </a:r>
            <a:r>
              <a:rPr lang="en-US" altLang="zh-CN" sz="3600" dirty="0">
                <a:latin typeface="仿宋" panose="02010609060101010101" pitchFamily="49" charset="-122"/>
                <a:ea typeface="仿宋" panose="02010609060101010101" pitchFamily="49" charset="-122"/>
              </a:rPr>
              <a:t>SiH</a:t>
            </a:r>
            <a:r>
              <a:rPr lang="en-US" altLang="zh-CN" sz="3600" baseline="-25000" dirty="0">
                <a:latin typeface="仿宋" panose="02010609060101010101" pitchFamily="49" charset="-122"/>
                <a:ea typeface="仿宋" panose="02010609060101010101" pitchFamily="49" charset="-122"/>
              </a:rPr>
              <a:t>4</a:t>
            </a:r>
            <a:r>
              <a:rPr lang="zh-CN" altLang="zh-CN" sz="3600" dirty="0">
                <a:latin typeface="仿宋" panose="02010609060101010101" pitchFamily="49" charset="-122"/>
                <a:ea typeface="仿宋" panose="02010609060101010101" pitchFamily="49" charset="-122"/>
              </a:rPr>
              <a:t>、</a:t>
            </a:r>
            <a:r>
              <a:rPr lang="en-US" altLang="zh-CN" sz="3600" dirty="0">
                <a:latin typeface="仿宋" panose="02010609060101010101" pitchFamily="49" charset="-122"/>
                <a:ea typeface="仿宋" panose="02010609060101010101" pitchFamily="49" charset="-122"/>
              </a:rPr>
              <a:t>GeH</a:t>
            </a:r>
            <a:r>
              <a:rPr lang="en-US" altLang="zh-CN" sz="3600" baseline="-25000" dirty="0">
                <a:latin typeface="仿宋" panose="02010609060101010101" pitchFamily="49" charset="-122"/>
                <a:ea typeface="仿宋" panose="02010609060101010101" pitchFamily="49" charset="-122"/>
              </a:rPr>
              <a:t>4</a:t>
            </a:r>
            <a:r>
              <a:rPr lang="zh-CN" altLang="zh-CN" sz="3600" dirty="0">
                <a:latin typeface="仿宋" panose="02010609060101010101" pitchFamily="49" charset="-122"/>
                <a:ea typeface="仿宋" panose="02010609060101010101" pitchFamily="49" charset="-122"/>
              </a:rPr>
              <a:t>泄漏报警器</a:t>
            </a:r>
            <a:r>
              <a:rPr lang="zh-CN" altLang="en-US" sz="3600" dirty="0">
                <a:latin typeface="仿宋" panose="02010609060101010101" pitchFamily="49" charset="-122"/>
                <a:ea typeface="仿宋" panose="02010609060101010101" pitchFamily="49" charset="-122"/>
              </a:rPr>
              <a:t>位于</a:t>
            </a:r>
            <a:r>
              <a:rPr lang="zh-CN" altLang="zh-CN" sz="3600" dirty="0">
                <a:latin typeface="仿宋" panose="02010609060101010101" pitchFamily="49" charset="-122"/>
                <a:ea typeface="仿宋" panose="02010609060101010101" pitchFamily="49" charset="-122"/>
              </a:rPr>
              <a:t>实验室</a:t>
            </a:r>
            <a:r>
              <a:rPr lang="en-US" altLang="zh-CN" sz="3600" dirty="0">
                <a:latin typeface="仿宋" panose="02010609060101010101" pitchFamily="49" charset="-122"/>
                <a:ea typeface="仿宋" panose="02010609060101010101" pitchFamily="49" charset="-122"/>
              </a:rPr>
              <a:t>5</a:t>
            </a:r>
            <a:r>
              <a:rPr lang="zh-CN" altLang="zh-CN" sz="3600" dirty="0">
                <a:latin typeface="仿宋" panose="02010609060101010101" pitchFamily="49" charset="-122"/>
                <a:ea typeface="仿宋" panose="02010609060101010101" pitchFamily="49" charset="-122"/>
              </a:rPr>
              <a:t>号柱东墙</a:t>
            </a:r>
            <a:r>
              <a:rPr lang="zh-CN" altLang="en-US" sz="3600" dirty="0">
                <a:latin typeface="仿宋" panose="02010609060101010101" pitchFamily="49" charset="-122"/>
                <a:ea typeface="仿宋" panose="02010609060101010101" pitchFamily="49" charset="-122"/>
              </a:rPr>
              <a:t>。</a:t>
            </a:r>
            <a:endParaRPr lang="en-US" altLang="zh-CN" sz="3600" dirty="0">
              <a:latin typeface="仿宋" panose="02010609060101010101" pitchFamily="49" charset="-122"/>
              <a:ea typeface="仿宋" panose="02010609060101010101" pitchFamily="49" charset="-122"/>
            </a:endParaRPr>
          </a:p>
          <a:p>
            <a:pPr marL="742950" indent="-742950">
              <a:lnSpc>
                <a:spcPct val="150000"/>
              </a:lnSpc>
              <a:buClr>
                <a:srgbClr val="FF0000"/>
              </a:buClr>
              <a:buFont typeface="+mj-ea"/>
              <a:buAutoNum type="circleNumDbPlain"/>
            </a:pPr>
            <a:r>
              <a:rPr lang="zh-CN" altLang="zh-CN" sz="3600" dirty="0">
                <a:latin typeface="仿宋" panose="02010609060101010101" pitchFamily="49" charset="-122"/>
                <a:ea typeface="仿宋" panose="02010609060101010101" pitchFamily="49" charset="-122"/>
              </a:rPr>
              <a:t>警示灯是否闪烁（绿灯正常、黄灯和红灯均不正常）</a:t>
            </a:r>
            <a:r>
              <a:rPr lang="zh-CN" altLang="en-US" sz="3600" dirty="0">
                <a:latin typeface="仿宋" panose="02010609060101010101" pitchFamily="49" charset="-122"/>
                <a:ea typeface="仿宋" panose="02010609060101010101" pitchFamily="49" charset="-122"/>
              </a:rPr>
              <a:t>。</a:t>
            </a:r>
            <a:endParaRPr lang="en-US" altLang="zh-CN" sz="3600" dirty="0">
              <a:latin typeface="仿宋" panose="02010609060101010101" pitchFamily="49" charset="-122"/>
              <a:ea typeface="仿宋" panose="02010609060101010101" pitchFamily="49" charset="-122"/>
            </a:endParaRPr>
          </a:p>
          <a:p>
            <a:pPr marL="742950" indent="-742950">
              <a:lnSpc>
                <a:spcPct val="150000"/>
              </a:lnSpc>
              <a:buClr>
                <a:srgbClr val="FF0000"/>
              </a:buClr>
              <a:buFont typeface="+mj-ea"/>
              <a:buAutoNum type="circleNumDbPlain"/>
            </a:pPr>
            <a:r>
              <a:rPr lang="zh-CN" altLang="en-US" sz="3600" dirty="0">
                <a:latin typeface="仿宋" panose="02010609060101010101" pitchFamily="49" charset="-122"/>
                <a:ea typeface="仿宋" panose="02010609060101010101" pitchFamily="49" charset="-122"/>
              </a:rPr>
              <a:t>报警灯处于不正常（非绿灯）状态下，立即停止实验并且离开实验室后，报告工作人员。</a:t>
            </a:r>
            <a:endParaRPr lang="en-US" altLang="zh-CN" sz="3600" dirty="0">
              <a:latin typeface="仿宋" panose="02010609060101010101" pitchFamily="49" charset="-122"/>
              <a:ea typeface="仿宋" panose="02010609060101010101" pitchFamily="49" charset="-122"/>
            </a:endParaRPr>
          </a:p>
          <a:p>
            <a:pPr defTabSz="914400" fontAlgn="auto">
              <a:lnSpc>
                <a:spcPct val="150000"/>
              </a:lnSpc>
              <a:spcAft>
                <a:spcPts val="0"/>
              </a:spcAft>
            </a:pPr>
            <a:endParaRPr lang="zh-CN" altLang="en-US" sz="1800" dirty="0">
              <a:latin typeface="+mn-ea"/>
            </a:endParaRPr>
          </a:p>
        </p:txBody>
      </p:sp>
      <p:sp>
        <p:nvSpPr>
          <p:cNvPr id="7" name="内容占位符 2"/>
          <p:cNvSpPr txBox="1">
            <a:spLocks/>
          </p:cNvSpPr>
          <p:nvPr/>
        </p:nvSpPr>
        <p:spPr bwMode="auto">
          <a:xfrm>
            <a:off x="24075" y="1848694"/>
            <a:ext cx="11503838" cy="7792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87672" indent="-487672" algn="l" rtl="0" eaLnBrk="1" fontAlgn="base" hangingPunct="1">
              <a:spcBef>
                <a:spcPct val="20000"/>
              </a:spcBef>
              <a:spcAft>
                <a:spcPct val="0"/>
              </a:spcAft>
              <a:buFont typeface="Wingdings" panose="05000000000000000000" pitchFamily="2" charset="2"/>
              <a:buChar char="Ø"/>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1056623" indent="-406394" algn="l" rtl="0" eaLnBrk="1" fontAlgn="base" hangingPunct="1">
              <a:spcBef>
                <a:spcPct val="20000"/>
              </a:spcBef>
              <a:spcAft>
                <a:spcPct val="0"/>
              </a:spcAft>
              <a:buFont typeface="Arial" panose="020B0604020202020204" pitchFamily="34" charset="0"/>
              <a:buChar char="•"/>
              <a:defRPr sz="3982"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788132" indent="-487672" algn="l" rtl="0" eaLnBrk="1" fontAlgn="base" hangingPunct="1">
              <a:spcBef>
                <a:spcPct val="20000"/>
              </a:spcBef>
              <a:spcAft>
                <a:spcPct val="0"/>
              </a:spcAft>
              <a:buSzPct val="50000"/>
              <a:buFont typeface="Wingdings" panose="05000000000000000000" pitchFamily="2" charset="2"/>
              <a:buChar char="n"/>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227580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926034" indent="-325115" algn="l" rtl="0" eaLnBrk="1" fontAlgn="base" hangingPunct="1">
              <a:spcBef>
                <a:spcPct val="20000"/>
              </a:spcBef>
              <a:spcAft>
                <a:spcPct val="0"/>
              </a:spcAft>
              <a:buFont typeface="Arial" charset="0"/>
              <a:buChar char="»"/>
              <a:defRPr sz="3413" b="0" i="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357626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6pPr>
            <a:lvl7pPr marL="422649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7pPr>
            <a:lvl8pPr marL="487672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8pPr>
            <a:lvl9pPr marL="5526954" indent="-325115" algn="l" defTabSz="1300460" rtl="0" eaLnBrk="1" latinLnBrk="0" hangingPunct="1">
              <a:spcBef>
                <a:spcPct val="20000"/>
              </a:spcBef>
              <a:buFont typeface="Arial" pitchFamily="34" charset="0"/>
              <a:buChar char="•"/>
              <a:defRPr sz="2844" kern="1200">
                <a:solidFill>
                  <a:schemeClr val="tx1"/>
                </a:solidFill>
                <a:latin typeface="+mn-lt"/>
                <a:ea typeface="+mn-ea"/>
                <a:cs typeface="+mn-cs"/>
              </a:defRPr>
            </a:lvl9pPr>
          </a:lstStyle>
          <a:p>
            <a:pPr marL="0" indent="0" defTabSz="914400">
              <a:buFont typeface="Wingdings" panose="05000000000000000000" pitchFamily="2" charset="2"/>
              <a:buNone/>
            </a:pPr>
            <a:r>
              <a:rPr lang="zh-CN" altLang="en-US" sz="3200" dirty="0">
                <a:latin typeface="黑体" panose="02010609060101010101" pitchFamily="49" charset="-122"/>
              </a:rPr>
              <a:t>二、实验室大宗气体、工艺气体侦测及警报处理办法</a:t>
            </a:r>
          </a:p>
        </p:txBody>
      </p:sp>
      <p:sp>
        <p:nvSpPr>
          <p:cNvPr id="9"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Tree>
    <p:extLst>
      <p:ext uri="{BB962C8B-B14F-4D97-AF65-F5344CB8AC3E}">
        <p14:creationId xmlns:p14="http://schemas.microsoft.com/office/powerpoint/2010/main" val="28013903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a:extLst>
              <a:ext uri="{FF2B5EF4-FFF2-40B4-BE49-F238E27FC236}">
                <a16:creationId xmlns:a16="http://schemas.microsoft.com/office/drawing/2014/main" id="{0F1B6DDE-9AD4-4419-A49E-41350B628D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1908" y="3036043"/>
            <a:ext cx="10441160" cy="6493016"/>
          </a:xfrm>
          <a:prstGeom prst="rect">
            <a:avLst/>
          </a:prstGeom>
        </p:spPr>
      </p:pic>
      <p:sp>
        <p:nvSpPr>
          <p:cNvPr id="2" name="灯片编号占位符 1"/>
          <p:cNvSpPr>
            <a:spLocks noGrp="1"/>
          </p:cNvSpPr>
          <p:nvPr>
            <p:ph type="sldNum" sz="quarter" idx="12"/>
          </p:nvPr>
        </p:nvSpPr>
        <p:spPr/>
        <p:txBody>
          <a:bodyPr/>
          <a:lstStyle/>
          <a:p>
            <a:fld id="{0C913308-F349-4B6D-A68A-DD1791B4A57B}" type="slidenum">
              <a:rPr lang="zh-CN" altLang="en-US" smtClean="0"/>
              <a:pPr/>
              <a:t>42</a:t>
            </a:fld>
            <a:endParaRPr lang="zh-CN" altLang="en-US" dirty="0"/>
          </a:p>
        </p:txBody>
      </p:sp>
      <p:sp>
        <p:nvSpPr>
          <p:cNvPr id="24" name="标注: 线形(无边框) 7">
            <a:extLst>
              <a:ext uri="{FF2B5EF4-FFF2-40B4-BE49-F238E27FC236}">
                <a16:creationId xmlns:a16="http://schemas.microsoft.com/office/drawing/2014/main" id="{5E3F547D-C85C-45EF-A345-FAC78917EE65}"/>
              </a:ext>
            </a:extLst>
          </p:cNvPr>
          <p:cNvSpPr/>
          <p:nvPr/>
        </p:nvSpPr>
        <p:spPr>
          <a:xfrm>
            <a:off x="6731967" y="3486414"/>
            <a:ext cx="5881608" cy="707956"/>
          </a:xfrm>
          <a:prstGeom prst="callout1">
            <a:avLst>
              <a:gd name="adj1" fmla="val 54019"/>
              <a:gd name="adj2" fmla="val -1483"/>
              <a:gd name="adj3" fmla="val 154095"/>
              <a:gd name="adj4" fmla="val -6078"/>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err="1">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HCl</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2800" b="0" i="0" u="none" strike="noStrike" kern="0" cap="none" spc="0" normalizeH="0" baseline="0" noProof="0" dirty="0" err="1">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HBr</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SiH</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4</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GeH</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4</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泄露报警器</a:t>
            </a:r>
            <a:endPar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5" name="流程图: 接点 8">
            <a:hlinkClick r:id="rId3" action="ppaction://hlinksldjump"/>
            <a:extLst>
              <a:ext uri="{FF2B5EF4-FFF2-40B4-BE49-F238E27FC236}">
                <a16:creationId xmlns:a16="http://schemas.microsoft.com/office/drawing/2014/main" id="{3A917138-14D3-473C-B4B2-3D4C58A26A44}"/>
              </a:ext>
            </a:extLst>
          </p:cNvPr>
          <p:cNvSpPr/>
          <p:nvPr/>
        </p:nvSpPr>
        <p:spPr>
          <a:xfrm>
            <a:off x="6260480" y="4560592"/>
            <a:ext cx="169912" cy="170039"/>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22" name="流程图: 接点 4">
            <a:hlinkClick r:id="rId4" action="ppaction://hlinksldjump"/>
            <a:extLst>
              <a:ext uri="{FF2B5EF4-FFF2-40B4-BE49-F238E27FC236}">
                <a16:creationId xmlns:a16="http://schemas.microsoft.com/office/drawing/2014/main" id="{68428728-5645-43B9-8631-29A5757BA230}"/>
              </a:ext>
            </a:extLst>
          </p:cNvPr>
          <p:cNvSpPr/>
          <p:nvPr/>
        </p:nvSpPr>
        <p:spPr>
          <a:xfrm>
            <a:off x="5726926" y="4569688"/>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23" name="标注: 线形(无边框) 5">
            <a:extLst>
              <a:ext uri="{FF2B5EF4-FFF2-40B4-BE49-F238E27FC236}">
                <a16:creationId xmlns:a16="http://schemas.microsoft.com/office/drawing/2014/main" id="{E04CC1CC-5859-4E2F-AE94-A247CAB836F2}"/>
              </a:ext>
            </a:extLst>
          </p:cNvPr>
          <p:cNvSpPr/>
          <p:nvPr/>
        </p:nvSpPr>
        <p:spPr>
          <a:xfrm>
            <a:off x="0" y="3552706"/>
            <a:ext cx="5256584" cy="707957"/>
          </a:xfrm>
          <a:prstGeom prst="callout1">
            <a:avLst>
              <a:gd name="adj1" fmla="val 52929"/>
              <a:gd name="adj2" fmla="val 99954"/>
              <a:gd name="adj3" fmla="val 144387"/>
              <a:gd name="adj4" fmla="val 110985"/>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SiH</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2</a:t>
            </a: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Cl</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Cl</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BCl</a:t>
            </a:r>
            <a:r>
              <a:rPr kumimoji="0" lang="en-US" altLang="zh-CN" sz="2800" b="0" i="0" u="none" strike="noStrike" kern="0" cap="none" spc="0" normalizeH="0" baseline="-2500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3</a:t>
            </a:r>
            <a:r>
              <a:rPr kumimoji="0" lang="zh-CN" altLang="en-US"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rPr>
              <a:t>泄露报警器</a:t>
            </a:r>
            <a:endParaRPr kumimoji="0" lang="en-US" altLang="zh-CN" sz="2800" b="0" i="0" u="none" strike="noStrike" kern="0" cap="none" spc="0" normalizeH="0" baseline="0" noProof="0" dirty="0">
              <a:ln>
                <a:noFill/>
              </a:ln>
              <a:solidFill>
                <a:prstClr val="black"/>
              </a:solidFill>
              <a:effectLst/>
              <a:uLnTx/>
              <a:uFillTx/>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2076082" y="4272980"/>
            <a:ext cx="3149900" cy="2361600"/>
          </a:xfrm>
          <a:prstGeom prst="rect">
            <a:avLst/>
          </a:prstGeom>
        </p:spPr>
      </p:pic>
      <p:pic>
        <p:nvPicPr>
          <p:cNvPr id="26" name="图片 25"/>
          <p:cNvPicPr>
            <a:picLocks noChangeAspect="1"/>
          </p:cNvPicPr>
          <p:nvPr/>
        </p:nvPicPr>
        <p:blipFill>
          <a:blip r:embed="rId6"/>
          <a:stretch>
            <a:fillRect/>
          </a:stretch>
        </p:blipFill>
        <p:spPr>
          <a:xfrm>
            <a:off x="6752050" y="4228728"/>
            <a:ext cx="3148800" cy="2361600"/>
          </a:xfrm>
          <a:prstGeom prst="rect">
            <a:avLst/>
          </a:prstGeom>
        </p:spPr>
      </p:pic>
      <p:grpSp>
        <p:nvGrpSpPr>
          <p:cNvPr id="29" name="组合 28"/>
          <p:cNvGrpSpPr/>
          <p:nvPr/>
        </p:nvGrpSpPr>
        <p:grpSpPr>
          <a:xfrm>
            <a:off x="12297159" y="999668"/>
            <a:ext cx="646332" cy="1528152"/>
            <a:chOff x="11366195" y="2699522"/>
            <a:chExt cx="646332" cy="1528152"/>
          </a:xfrm>
        </p:grpSpPr>
        <p:sp>
          <p:nvSpPr>
            <p:cNvPr id="30" name="任意多边形 29"/>
            <p:cNvSpPr/>
            <p:nvPr/>
          </p:nvSpPr>
          <p:spPr>
            <a:xfrm>
              <a:off x="11484939" y="2699522"/>
              <a:ext cx="410537" cy="860072"/>
            </a:xfrm>
            <a:custGeom>
              <a:avLst/>
              <a:gdLst>
                <a:gd name="connsiteX0" fmla="*/ 699247 w 1452282"/>
                <a:gd name="connsiteY0" fmla="*/ 0 h 2904565"/>
                <a:gd name="connsiteX1" fmla="*/ 0 w 1452282"/>
                <a:gd name="connsiteY1" fmla="*/ 2886635 h 2904565"/>
                <a:gd name="connsiteX2" fmla="*/ 717176 w 1452282"/>
                <a:gd name="connsiteY2" fmla="*/ 2169459 h 2904565"/>
                <a:gd name="connsiteX3" fmla="*/ 1452282 w 1452282"/>
                <a:gd name="connsiteY3" fmla="*/ 2904565 h 2904565"/>
                <a:gd name="connsiteX4" fmla="*/ 699247 w 1452282"/>
                <a:gd name="connsiteY4" fmla="*/ 0 h 2904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282" h="2904565">
                  <a:moveTo>
                    <a:pt x="699247" y="0"/>
                  </a:moveTo>
                  <a:lnTo>
                    <a:pt x="0" y="2886635"/>
                  </a:lnTo>
                  <a:lnTo>
                    <a:pt x="717176" y="2169459"/>
                  </a:lnTo>
                  <a:lnTo>
                    <a:pt x="1452282" y="2904565"/>
                  </a:lnTo>
                  <a:lnTo>
                    <a:pt x="699247" y="0"/>
                  </a:lnTo>
                  <a:close/>
                </a:path>
              </a:pathLst>
            </a:cu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31" name="文本框 30"/>
            <p:cNvSpPr txBox="1"/>
            <p:nvPr/>
          </p:nvSpPr>
          <p:spPr>
            <a:xfrm>
              <a:off x="11366195" y="3581343"/>
              <a:ext cx="646332" cy="646331"/>
            </a:xfrm>
            <a:prstGeom prst="rect">
              <a:avLst/>
            </a:prstGeom>
            <a:noFill/>
          </p:spPr>
          <p:txBody>
            <a:bodyPr wrap="none" rtlCol="0">
              <a:spAutoFit/>
            </a:bodyPr>
            <a:lstStyle/>
            <a:p>
              <a:r>
                <a:rPr lang="zh-CN" altLang="en-US" dirty="0">
                  <a:solidFill>
                    <a:srgbClr val="0000FF"/>
                  </a:solidFill>
                </a:rPr>
                <a:t>北</a:t>
              </a:r>
            </a:p>
          </p:txBody>
        </p:sp>
      </p:grpSp>
      <p:sp>
        <p:nvSpPr>
          <p:cNvPr id="33" name="内容占位符 3">
            <a:extLst>
              <a:ext uri="{FF2B5EF4-FFF2-40B4-BE49-F238E27FC236}">
                <a16:creationId xmlns:a16="http://schemas.microsoft.com/office/drawing/2014/main" id="{382CFEAD-F595-4E5D-B0F9-B73F0CB9E158}"/>
              </a:ext>
            </a:extLst>
          </p:cNvPr>
          <p:cNvSpPr txBox="1">
            <a:spLocks/>
          </p:cNvSpPr>
          <p:nvPr/>
        </p:nvSpPr>
        <p:spPr>
          <a:xfrm>
            <a:off x="453728" y="2428528"/>
            <a:ext cx="6989835" cy="660873"/>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defTabSz="914400" fontAlgn="auto">
              <a:lnSpc>
                <a:spcPct val="150000"/>
              </a:lnSpc>
              <a:spcAft>
                <a:spcPts val="0"/>
              </a:spcAft>
              <a:buClr>
                <a:srgbClr val="FF0000"/>
              </a:buClr>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实验室特气体侦测报警控制箱位置示意图</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内容占位符 2"/>
          <p:cNvSpPr>
            <a:spLocks noGrp="1"/>
          </p:cNvSpPr>
          <p:nvPr>
            <p:ph idx="1"/>
          </p:nvPr>
        </p:nvSpPr>
        <p:spPr>
          <a:xfrm>
            <a:off x="24075" y="1848694"/>
            <a:ext cx="11503838" cy="779286"/>
          </a:xfrm>
        </p:spPr>
        <p:txBody>
          <a:bodyPr/>
          <a:lstStyle/>
          <a:p>
            <a:pPr marL="0" indent="0">
              <a:buNone/>
            </a:pPr>
            <a:r>
              <a:rPr lang="zh-CN" altLang="en-US" sz="3200" dirty="0">
                <a:latin typeface="黑体" panose="02010609060101010101" pitchFamily="49" charset="-122"/>
              </a:rPr>
              <a:t>二、实验室大宗气体、工艺气体侦测及警报处理办法</a:t>
            </a:r>
          </a:p>
        </p:txBody>
      </p:sp>
      <p:sp>
        <p:nvSpPr>
          <p:cNvPr id="19"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Tree>
    <p:extLst>
      <p:ext uri="{BB962C8B-B14F-4D97-AF65-F5344CB8AC3E}">
        <p14:creationId xmlns:p14="http://schemas.microsoft.com/office/powerpoint/2010/main" val="195801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2" grpId="0" animBg="1"/>
      <p:bldP spid="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43</a:t>
            </a:fld>
            <a:endParaRPr lang="zh-CN" altLang="en-US" dirty="0"/>
          </a:p>
        </p:txBody>
      </p:sp>
      <p:sp>
        <p:nvSpPr>
          <p:cNvPr id="6" name="Content Placeholder 2"/>
          <p:cNvSpPr txBox="1">
            <a:spLocks/>
          </p:cNvSpPr>
          <p:nvPr/>
        </p:nvSpPr>
        <p:spPr>
          <a:xfrm>
            <a:off x="777764" y="2361990"/>
            <a:ext cx="11449272" cy="5971194"/>
          </a:xfrm>
          <a:prstGeom prst="rect">
            <a:avLst/>
          </a:prstGeom>
        </p:spPr>
        <p:txBody>
          <a:bodyPr vert="horz" tIns="108000" bIns="72000">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超净实验室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只能使用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的标准化学品。所谓“</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标准化学品”指由</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购买和存储的各类</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电子级别化学品</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。这些化学品的目录</a:t>
            </a:r>
            <a:r>
              <a:rPr kumimoji="0" lang="zh-CN" altLang="en-US"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和</a:t>
            </a:r>
            <a:r>
              <a:rPr kumimoji="0" lang="en-US" altLang="zh-CN"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MSDS</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网站上</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都会</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公布</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p>
          <a:p>
            <a:pPr marL="342900" marR="0" lvl="0" indent="-342900" algn="l" defTabSz="914400" rtl="0" eaLnBrk="1" fontAlgn="auto" latinLnBrk="0" hangingPunct="1">
              <a:lnSpc>
                <a:spcPct val="150000"/>
              </a:lnSpc>
              <a:spcBef>
                <a:spcPts val="580"/>
              </a:spcBef>
              <a:spcAft>
                <a:spcPts val="0"/>
              </a:spcAft>
              <a:buClr>
                <a:srgbClr val="FF0000"/>
              </a:buClr>
              <a:buSzPct val="85000"/>
              <a:buFont typeface="+mj-lt"/>
              <a:buAutoNum type="arabicPeriod"/>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如果用户需要</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带</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入新的化学品，</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必须先向</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实验室工艺工程师（宗莉或付玉霞）</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提供相关</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化学品</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安全数据</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表</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en-US"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Material Safety Data Sheet </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en-US"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MSDS</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评估并允许后，才能</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将新的化学品带</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入</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超净间</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工艺工程师最终将所有</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MSDS</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汇总给窦维治老师。</a:t>
            </a:r>
            <a:endPar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274320" marR="0" lvl="0" indent="-274320" algn="l" defTabSz="914400" rtl="0" eaLnBrk="1" fontAlgn="auto" latinLnBrk="0" hangingPunct="1">
              <a:lnSpc>
                <a:spcPct val="120000"/>
              </a:lnSpc>
              <a:spcBef>
                <a:spcPts val="580"/>
              </a:spcBef>
              <a:spcAft>
                <a:spcPts val="0"/>
              </a:spcAft>
              <a:buClr>
                <a:srgbClr val="D34817"/>
              </a:buClr>
              <a:buSzPct val="85000"/>
              <a:buFont typeface="Wingdings 2"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8" name="标题 3"/>
          <p:cNvSpPr>
            <a:spLocks noGrp="1"/>
          </p:cNvSpPr>
          <p:nvPr>
            <p:ph type="title"/>
          </p:nvPr>
        </p:nvSpPr>
        <p:spPr/>
        <p:txBody>
          <a:bodyPr/>
          <a:lstStyle/>
          <a:p>
            <a:pPr defTabSz="914400"/>
            <a:r>
              <a:rPr lang="zh-CN" altLang="en-US" sz="4800" dirty="0"/>
              <a:t>超净实验室安全</a:t>
            </a:r>
          </a:p>
        </p:txBody>
      </p:sp>
      <p:sp>
        <p:nvSpPr>
          <p:cNvPr id="9"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spTree>
    <p:extLst>
      <p:ext uri="{BB962C8B-B14F-4D97-AF65-F5344CB8AC3E}">
        <p14:creationId xmlns:p14="http://schemas.microsoft.com/office/powerpoint/2010/main" val="2864619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44</a:t>
            </a:fld>
            <a:endParaRPr lang="zh-CN" altLang="en-US" dirty="0"/>
          </a:p>
        </p:txBody>
      </p:sp>
      <p:sp>
        <p:nvSpPr>
          <p:cNvPr id="4" name="内容占位符 3"/>
          <p:cNvSpPr txBox="1">
            <a:spLocks/>
          </p:cNvSpPr>
          <p:nvPr/>
        </p:nvSpPr>
        <p:spPr>
          <a:xfrm>
            <a:off x="777764" y="2438398"/>
            <a:ext cx="11449272" cy="4964792"/>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startAt="3"/>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进入</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后，</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找负责相关存放区的工艺工程师（宗丽或付玉霞）填写</a:t>
            </a:r>
            <a:r>
              <a:rPr kumimoji="0" lang="en-US"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化学品信息登记表</a:t>
            </a:r>
            <a:r>
              <a:rPr kumimoji="0" lang="en-US"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和实验室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提供的</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专用</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标签</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，并将专用标签粘贴</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在化学品的容器外边。</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每一个新进入</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的</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化学品都必须登记</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，并</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粘贴</a:t>
            </a:r>
            <a:r>
              <a:rPr kumimoji="0" lang="zh-CN" altLang="en-US"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合格的实验室专用</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标签。</a:t>
            </a:r>
            <a:endPar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514350" marR="0" lvl="0" indent="-514350" algn="l" defTabSz="914400" rtl="0" eaLnBrk="1" fontAlgn="auto" latinLnBrk="0" hangingPunct="1">
              <a:lnSpc>
                <a:spcPct val="150000"/>
              </a:lnSpc>
              <a:spcBef>
                <a:spcPts val="580"/>
              </a:spcBef>
              <a:spcAft>
                <a:spcPts val="0"/>
              </a:spcAft>
              <a:buClr>
                <a:srgbClr val="FF0000"/>
              </a:buClr>
              <a:buSzPct val="85000"/>
              <a:buFont typeface="+mj-lt"/>
              <a:buAutoNum type="arabicPeriod" startAt="3"/>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化学品经常会从一个用户转移给另一个用户保管和使用，例如高年级用户向低年级用户的</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交接</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。此时，</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该</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用户有责任</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通知新接手的</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联系人</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重新填写</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化学品信息登记表</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及新标签信息，并重新进行粘贴</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endPar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p:txBody>
      </p:sp>
      <p:sp>
        <p:nvSpPr>
          <p:cNvPr id="6"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sp>
        <p:nvSpPr>
          <p:cNvPr id="7"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Tree>
    <p:extLst>
      <p:ext uri="{BB962C8B-B14F-4D97-AF65-F5344CB8AC3E}">
        <p14:creationId xmlns:p14="http://schemas.microsoft.com/office/powerpoint/2010/main" val="2419732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45</a:t>
            </a:fld>
            <a:endParaRPr lang="zh-CN" altLang="en-US" dirty="0"/>
          </a:p>
        </p:txBody>
      </p:sp>
      <p:sp>
        <p:nvSpPr>
          <p:cNvPr id="4" name="Content Placeholder 2"/>
          <p:cNvSpPr txBox="1">
            <a:spLocks/>
          </p:cNvSpPr>
          <p:nvPr/>
        </p:nvSpPr>
        <p:spPr>
          <a:xfrm>
            <a:off x="741760" y="2538473"/>
            <a:ext cx="11521280" cy="7056784"/>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algn="just" defTabSz="914400" fontAlgn="auto">
              <a:lnSpc>
                <a:spcPct val="150000"/>
              </a:lnSpc>
              <a:spcAft>
                <a:spcPts val="0"/>
              </a:spcAft>
              <a:buClr>
                <a:srgbClr val="FF0000"/>
              </a:buClr>
              <a:buFont typeface="+mj-lt"/>
              <a:buAutoNum type="arabicPeriod" startAt="5"/>
            </a:pPr>
            <a:r>
              <a:rPr lang="zh-CN" altLang="zh-CN" sz="2800" dirty="0">
                <a:latin typeface="仿宋" panose="02010609060101010101" pitchFamily="49" charset="-122"/>
                <a:ea typeface="仿宋" panose="02010609060101010101" pitchFamily="49" charset="-122"/>
              </a:rPr>
              <a:t>有些用户可能会利用不同化学品配置特殊的化学品原料，并需要保存一段时间。</a:t>
            </a:r>
            <a:r>
              <a:rPr lang="zh-CN" altLang="zh-CN" sz="2800" dirty="0">
                <a:solidFill>
                  <a:srgbClr val="FF0000"/>
                </a:solidFill>
                <a:latin typeface="仿宋" panose="02010609060101010101" pitchFamily="49" charset="-122"/>
                <a:ea typeface="仿宋" panose="02010609060101010101" pitchFamily="49" charset="-122"/>
              </a:rPr>
              <a:t>配置的化学品</a:t>
            </a:r>
            <a:r>
              <a:rPr lang="zh-CN" altLang="en-US" sz="2800" dirty="0">
                <a:solidFill>
                  <a:srgbClr val="FF0000"/>
                </a:solidFill>
                <a:latin typeface="仿宋" panose="02010609060101010101" pitchFamily="49" charset="-122"/>
                <a:ea typeface="仿宋" panose="02010609060101010101" pitchFamily="49" charset="-122"/>
              </a:rPr>
              <a:t>同样需粘贴专用标签</a:t>
            </a:r>
            <a:r>
              <a:rPr lang="zh-CN" altLang="en-US" sz="2800" dirty="0">
                <a:latin typeface="仿宋" panose="02010609060101010101" pitchFamily="49" charset="-122"/>
                <a:ea typeface="仿宋" panose="02010609060101010101" pitchFamily="49" charset="-122"/>
              </a:rPr>
              <a:t>，</a:t>
            </a:r>
            <a:r>
              <a:rPr lang="zh-CN" altLang="zh-CN" sz="2800" dirty="0">
                <a:latin typeface="仿宋" panose="02010609060101010101" pitchFamily="49" charset="-122"/>
                <a:ea typeface="仿宋" panose="02010609060101010101" pitchFamily="49" charset="-122"/>
              </a:rPr>
              <a:t>内容包括：化学品名称、联系人、联系方式、配制日期、有效期</a:t>
            </a:r>
            <a:r>
              <a:rPr lang="zh-CN" altLang="en-US" sz="2800" dirty="0">
                <a:latin typeface="仿宋" panose="02010609060101010101" pitchFamily="49" charset="-122"/>
                <a:ea typeface="仿宋" panose="02010609060101010101" pitchFamily="49" charset="-122"/>
              </a:rPr>
              <a:t>（</a:t>
            </a:r>
            <a:r>
              <a:rPr lang="zh-CN" altLang="zh-CN" sz="2800" dirty="0">
                <a:latin typeface="仿宋" panose="02010609060101010101" pitchFamily="49" charset="-122"/>
                <a:ea typeface="仿宋" panose="02010609060101010101" pitchFamily="49" charset="-122"/>
              </a:rPr>
              <a:t>有效期不能超过</a:t>
            </a:r>
            <a:r>
              <a:rPr lang="en-US" altLang="zh-CN" sz="2800" dirty="0">
                <a:latin typeface="仿宋" panose="02010609060101010101" pitchFamily="49" charset="-122"/>
                <a:ea typeface="仿宋" panose="02010609060101010101" pitchFamily="49" charset="-122"/>
              </a:rPr>
              <a:t>3</a:t>
            </a:r>
            <a:r>
              <a:rPr lang="zh-CN" altLang="zh-CN" sz="2800" dirty="0">
                <a:latin typeface="仿宋" panose="02010609060101010101" pitchFamily="49" charset="-122"/>
                <a:ea typeface="仿宋" panose="02010609060101010101" pitchFamily="49" charset="-122"/>
              </a:rPr>
              <a:t>个月</a:t>
            </a:r>
            <a:r>
              <a:rPr lang="zh-CN" altLang="en-US" sz="2800" dirty="0">
                <a:latin typeface="仿宋" panose="02010609060101010101" pitchFamily="49" charset="-122"/>
                <a:ea typeface="仿宋" panose="02010609060101010101" pitchFamily="49" charset="-122"/>
              </a:rPr>
              <a:t>）</a:t>
            </a:r>
            <a:r>
              <a:rPr lang="zh-CN" altLang="zh-CN" sz="2800" dirty="0">
                <a:latin typeface="仿宋" panose="02010609060101010101" pitchFamily="49" charset="-122"/>
                <a:ea typeface="仿宋" panose="02010609060101010101" pitchFamily="49" charset="-122"/>
              </a:rPr>
              <a:t>。超过有效期的化学品，联系人有责任和义务将其清理。</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lt"/>
              <a:buAutoNum type="arabicPeriod" startAt="6"/>
            </a:pPr>
            <a:r>
              <a:rPr lang="zh-CN" altLang="en-US" sz="2800" dirty="0">
                <a:latin typeface="仿宋" panose="02010609060101010101" pitchFamily="49" charset="-122"/>
                <a:ea typeface="仿宋" panose="02010609060101010101" pitchFamily="49" charset="-122"/>
              </a:rPr>
              <a:t>化学品必须存放在实验室指定的地点，同时听从实验室工作人员安排。</a:t>
            </a:r>
            <a:endParaRPr lang="zh-CN"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lt"/>
              <a:buAutoNum type="arabicPeriod" startAt="6"/>
            </a:pPr>
            <a:r>
              <a:rPr lang="zh-CN" altLang="en-US" sz="2800" dirty="0">
                <a:latin typeface="仿宋" panose="02010609060101010101" pitchFamily="49" charset="-122"/>
                <a:ea typeface="仿宋" panose="02010609060101010101" pitchFamily="49" charset="-122"/>
              </a:rPr>
              <a:t>实验室</a:t>
            </a:r>
            <a:r>
              <a:rPr lang="zh-CN" altLang="zh-CN" sz="2800" dirty="0">
                <a:latin typeface="仿宋" panose="02010609060101010101" pitchFamily="49" charset="-122"/>
                <a:ea typeface="仿宋" panose="02010609060101010101" pitchFamily="49" charset="-122"/>
              </a:rPr>
              <a:t>工作人员会定期检查</a:t>
            </a:r>
            <a:r>
              <a:rPr lang="zh-CN" altLang="en-US" sz="2800" dirty="0">
                <a:latin typeface="仿宋" panose="02010609060101010101" pitchFamily="49" charset="-122"/>
                <a:ea typeface="仿宋" panose="02010609060101010101" pitchFamily="49" charset="-122"/>
              </a:rPr>
              <a:t>洁净实验室</a:t>
            </a:r>
            <a:r>
              <a:rPr lang="zh-CN" altLang="zh-CN" sz="2800" dirty="0">
                <a:latin typeface="仿宋" panose="02010609060101010101" pitchFamily="49" charset="-122"/>
                <a:ea typeface="仿宋" panose="02010609060101010101" pitchFamily="49" charset="-122"/>
              </a:rPr>
              <a:t>的化学品，对于</a:t>
            </a:r>
            <a:r>
              <a:rPr lang="zh-CN" altLang="en-US" sz="2800" dirty="0">
                <a:latin typeface="仿宋" panose="02010609060101010101" pitchFamily="49" charset="-122"/>
                <a:ea typeface="仿宋" panose="02010609060101010101" pitchFamily="49" charset="-122"/>
              </a:rPr>
              <a:t>没有粘贴合格专用标签、</a:t>
            </a:r>
            <a:r>
              <a:rPr lang="zh-CN" altLang="zh-CN" sz="2800" dirty="0">
                <a:latin typeface="仿宋" panose="02010609060101010101" pitchFamily="49" charset="-122"/>
                <a:ea typeface="仿宋" panose="02010609060101010101" pitchFamily="49" charset="-122"/>
              </a:rPr>
              <a:t>标</a:t>
            </a:r>
            <a:r>
              <a:rPr lang="zh-CN" altLang="en-US" sz="2800" dirty="0">
                <a:latin typeface="仿宋" panose="02010609060101010101" pitchFamily="49" charset="-122"/>
                <a:ea typeface="仿宋" panose="02010609060101010101" pitchFamily="49" charset="-122"/>
              </a:rPr>
              <a:t>识</a:t>
            </a:r>
            <a:r>
              <a:rPr lang="zh-CN" altLang="zh-CN" sz="2800" dirty="0">
                <a:latin typeface="仿宋" panose="02010609060101010101" pitchFamily="49" charset="-122"/>
                <a:ea typeface="仿宋" panose="02010609060101010101" pitchFamily="49" charset="-122"/>
              </a:rPr>
              <a:t>内容不完整</a:t>
            </a:r>
            <a:r>
              <a:rPr lang="zh-CN" altLang="en-US" sz="2800" dirty="0">
                <a:latin typeface="仿宋" panose="02010609060101010101" pitchFamily="49" charset="-122"/>
                <a:ea typeface="仿宋" panose="02010609060101010101" pitchFamily="49" charset="-122"/>
              </a:rPr>
              <a:t>或</a:t>
            </a:r>
            <a:r>
              <a:rPr lang="zh-CN" altLang="zh-CN" sz="2800" dirty="0">
                <a:latin typeface="仿宋" panose="02010609060101010101" pitchFamily="49" charset="-122"/>
                <a:ea typeface="仿宋" panose="02010609060101010101" pitchFamily="49" charset="-122"/>
              </a:rPr>
              <a:t>标有不是有效</a:t>
            </a:r>
            <a:r>
              <a:rPr lang="zh-CN" altLang="en-US" sz="2800" dirty="0">
                <a:latin typeface="仿宋" panose="02010609060101010101" pitchFamily="49" charset="-122"/>
                <a:ea typeface="仿宋" panose="02010609060101010101" pitchFamily="49" charset="-122"/>
              </a:rPr>
              <a:t>实验室</a:t>
            </a:r>
            <a:r>
              <a:rPr lang="zh-CN" altLang="zh-CN" sz="2800" dirty="0">
                <a:latin typeface="仿宋" panose="02010609060101010101" pitchFamily="49" charset="-122"/>
                <a:ea typeface="仿宋" panose="02010609060101010101" pitchFamily="49" charset="-122"/>
              </a:rPr>
              <a:t>用户名字</a:t>
            </a:r>
            <a:r>
              <a:rPr lang="zh-CN" altLang="en-US" sz="2800" dirty="0">
                <a:latin typeface="仿宋" panose="02010609060101010101" pitchFamily="49" charset="-122"/>
                <a:ea typeface="仿宋" panose="02010609060101010101" pitchFamily="49" charset="-122"/>
              </a:rPr>
              <a:t>、</a:t>
            </a:r>
            <a:r>
              <a:rPr lang="zh-CN" altLang="zh-CN" sz="2800" dirty="0">
                <a:latin typeface="仿宋" panose="02010609060101010101" pitchFamily="49" charset="-122"/>
                <a:ea typeface="仿宋" panose="02010609060101010101" pitchFamily="49" charset="-122"/>
              </a:rPr>
              <a:t>超出有效期的化学品将被</a:t>
            </a:r>
            <a:r>
              <a:rPr lang="zh-CN" altLang="zh-CN" sz="2800" dirty="0">
                <a:solidFill>
                  <a:srgbClr val="FF0000"/>
                </a:solidFill>
                <a:latin typeface="仿宋" panose="02010609060101010101" pitchFamily="49" charset="-122"/>
                <a:ea typeface="仿宋" panose="02010609060101010101" pitchFamily="49" charset="-122"/>
              </a:rPr>
              <a:t>清理</a:t>
            </a:r>
            <a:r>
              <a:rPr lang="zh-CN" altLang="zh-CN" sz="2800" dirty="0">
                <a:latin typeface="仿宋" panose="02010609060101010101" pitchFamily="49" charset="-122"/>
                <a:ea typeface="仿宋" panose="02010609060101010101" pitchFamily="49" charset="-122"/>
              </a:rPr>
              <a:t>出</a:t>
            </a:r>
            <a:r>
              <a:rPr lang="zh-CN" altLang="en-US" sz="2800" dirty="0">
                <a:latin typeface="仿宋" panose="02010609060101010101" pitchFamily="49" charset="-122"/>
                <a:ea typeface="仿宋" panose="02010609060101010101" pitchFamily="49" charset="-122"/>
              </a:rPr>
              <a:t>实验室</a:t>
            </a:r>
            <a:r>
              <a:rPr lang="zh-CN" altLang="zh-CN" sz="2800" dirty="0">
                <a:latin typeface="仿宋" panose="02010609060101010101" pitchFamily="49" charset="-122"/>
                <a:ea typeface="仿宋" panose="02010609060101010101" pitchFamily="49" charset="-122"/>
              </a:rPr>
              <a:t>。</a:t>
            </a:r>
            <a:endParaRPr lang="en-US" altLang="zh-CN" sz="2800" dirty="0">
              <a:latin typeface="仿宋" panose="02010609060101010101" pitchFamily="49" charset="-122"/>
              <a:ea typeface="仿宋" panose="02010609060101010101" pitchFamily="49" charset="-122"/>
            </a:endParaRPr>
          </a:p>
          <a:p>
            <a:pPr marL="0" indent="0" defTabSz="914400" fontAlgn="auto">
              <a:lnSpc>
                <a:spcPct val="150000"/>
              </a:lnSpc>
              <a:spcAft>
                <a:spcPts val="0"/>
              </a:spcAft>
              <a:buNone/>
            </a:pPr>
            <a:r>
              <a:rPr lang="zh-CN" altLang="en-US" sz="2800" dirty="0">
                <a:solidFill>
                  <a:srgbClr val="FF0000"/>
                </a:solidFill>
                <a:latin typeface="仿宋" panose="02010609060101010101" pitchFamily="49" charset="-122"/>
                <a:ea typeface="仿宋" panose="02010609060101010101" pitchFamily="49" charset="-122"/>
              </a:rPr>
              <a:t>注意：毕业离校学生需要到实验室亲自取走自己的物品，如有特殊情况需要向窦维治老师说明。</a:t>
            </a:r>
            <a:endParaRPr lang="zh-CN" altLang="zh-CN" sz="2800" dirty="0">
              <a:solidFill>
                <a:srgbClr val="FF0000"/>
              </a:solidFill>
              <a:latin typeface="仿宋" panose="02010609060101010101" pitchFamily="49" charset="-122"/>
              <a:ea typeface="仿宋" panose="02010609060101010101" pitchFamily="49" charset="-122"/>
            </a:endParaRPr>
          </a:p>
          <a:p>
            <a:pPr defTabSz="914400" fontAlgn="auto">
              <a:lnSpc>
                <a:spcPct val="110000"/>
              </a:lnSpc>
              <a:spcAft>
                <a:spcPts val="0"/>
              </a:spcAft>
              <a:buFont typeface="Wingdings 2"/>
              <a:buNone/>
            </a:pPr>
            <a:endParaRPr lang="zh-CN" altLang="en-US" sz="1800" dirty="0">
              <a:latin typeface="+mn-ea"/>
            </a:endParaRPr>
          </a:p>
        </p:txBody>
      </p:sp>
      <p:sp>
        <p:nvSpPr>
          <p:cNvPr id="6"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7"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spTree>
    <p:extLst>
      <p:ext uri="{BB962C8B-B14F-4D97-AF65-F5344CB8AC3E}">
        <p14:creationId xmlns:p14="http://schemas.microsoft.com/office/powerpoint/2010/main" val="710561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46</a:t>
            </a:fld>
            <a:endParaRPr lang="zh-CN" altLang="en-US" dirty="0"/>
          </a:p>
        </p:txBody>
      </p:sp>
      <p:sp>
        <p:nvSpPr>
          <p:cNvPr id="6" name="Content Placeholder 2"/>
          <p:cNvSpPr txBox="1">
            <a:spLocks/>
          </p:cNvSpPr>
          <p:nvPr/>
        </p:nvSpPr>
        <p:spPr>
          <a:xfrm>
            <a:off x="813768" y="2644552"/>
            <a:ext cx="11449272" cy="6408712"/>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lnSpc>
                <a:spcPct val="150000"/>
              </a:lnSpc>
              <a:spcAft>
                <a:spcPts val="0"/>
              </a:spcAft>
              <a:buClr>
                <a:srgbClr val="FF0000"/>
              </a:buClr>
              <a:buFont typeface="+mj-lt"/>
              <a:buAutoNum type="arabicPeriod" startAt="8"/>
            </a:pPr>
            <a:r>
              <a:rPr lang="zh-CN" altLang="zh-CN" sz="2800" dirty="0">
                <a:latin typeface="仿宋" panose="02010609060101010101" pitchFamily="49" charset="-122"/>
                <a:ea typeface="仿宋" panose="02010609060101010101" pitchFamily="49" charset="-122"/>
              </a:rPr>
              <a:t>用户在进入</a:t>
            </a:r>
            <a:r>
              <a:rPr lang="zh-CN" altLang="en-US" sz="2800" dirty="0">
                <a:latin typeface="仿宋" panose="02010609060101010101" pitchFamily="49" charset="-122"/>
                <a:ea typeface="仿宋" panose="02010609060101010101" pitchFamily="49" charset="-122"/>
              </a:rPr>
              <a:t>湿法</a:t>
            </a:r>
            <a:r>
              <a:rPr lang="zh-CN" altLang="zh-CN" sz="2800" dirty="0">
                <a:latin typeface="仿宋" panose="02010609060101010101" pitchFamily="49" charset="-122"/>
                <a:ea typeface="仿宋" panose="02010609060101010101" pitchFamily="49" charset="-122"/>
              </a:rPr>
              <a:t>区工作时，</a:t>
            </a:r>
            <a:r>
              <a:rPr lang="zh-CN" altLang="zh-CN" sz="2800" dirty="0">
                <a:solidFill>
                  <a:srgbClr val="FF0000"/>
                </a:solidFill>
                <a:latin typeface="仿宋" panose="02010609060101010101" pitchFamily="49" charset="-122"/>
                <a:ea typeface="仿宋" panose="02010609060101010101" pitchFamily="49" charset="-122"/>
              </a:rPr>
              <a:t>必须</a:t>
            </a:r>
            <a:r>
              <a:rPr lang="zh-CN" altLang="en-US" sz="2800" dirty="0">
                <a:solidFill>
                  <a:srgbClr val="FF0000"/>
                </a:solidFill>
                <a:latin typeface="仿宋" panose="02010609060101010101" pitchFamily="49" charset="-122"/>
                <a:ea typeface="仿宋" panose="02010609060101010101" pitchFamily="49" charset="-122"/>
              </a:rPr>
              <a:t>戴</a:t>
            </a:r>
            <a:r>
              <a:rPr lang="zh-CN" altLang="zh-CN" sz="2800" dirty="0">
                <a:solidFill>
                  <a:srgbClr val="FF0000"/>
                </a:solidFill>
                <a:latin typeface="仿宋" panose="02010609060101010101" pitchFamily="49" charset="-122"/>
                <a:ea typeface="仿宋" panose="02010609060101010101" pitchFamily="49" charset="-122"/>
              </a:rPr>
              <a:t>防酸眼</a:t>
            </a:r>
            <a:r>
              <a:rPr lang="zh-CN" altLang="en-US" sz="2800" dirty="0">
                <a:solidFill>
                  <a:srgbClr val="FF0000"/>
                </a:solidFill>
                <a:latin typeface="仿宋" panose="02010609060101010101" pitchFamily="49" charset="-122"/>
                <a:ea typeface="仿宋" panose="02010609060101010101" pitchFamily="49" charset="-122"/>
              </a:rPr>
              <a:t>镜</a:t>
            </a:r>
            <a:r>
              <a:rPr lang="zh-CN" altLang="en-US" sz="2800" dirty="0">
                <a:latin typeface="仿宋" panose="02010609060101010101" pitchFamily="49" charset="-122"/>
                <a:ea typeface="仿宋" panose="02010609060101010101" pitchFamily="49" charset="-122"/>
              </a:rPr>
              <a:t>。防酸眼镜放置在湿法区入口处</a:t>
            </a:r>
            <a:r>
              <a:rPr lang="zh-CN"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使用完毕后，将眼镜放回原处。</a:t>
            </a:r>
            <a:r>
              <a:rPr lang="zh-CN" altLang="zh-CN" sz="2800" dirty="0">
                <a:latin typeface="仿宋" panose="02010609060101010101" pitchFamily="49" charset="-122"/>
                <a:ea typeface="仿宋" panose="02010609060101010101" pitchFamily="49" charset="-122"/>
              </a:rPr>
              <a:t>在操作酸溶液时，</a:t>
            </a:r>
            <a:r>
              <a:rPr lang="zh-CN" altLang="zh-CN" sz="2800" dirty="0">
                <a:solidFill>
                  <a:srgbClr val="FF0000"/>
                </a:solidFill>
                <a:latin typeface="仿宋" panose="02010609060101010101" pitchFamily="49" charset="-122"/>
                <a:ea typeface="仿宋" panose="02010609060101010101" pitchFamily="49" charset="-122"/>
              </a:rPr>
              <a:t>还必须佩戴防护面罩</a:t>
            </a:r>
            <a:r>
              <a:rPr lang="zh-CN" altLang="en-US" sz="2800" dirty="0">
                <a:solidFill>
                  <a:srgbClr val="FF0000"/>
                </a:solidFill>
                <a:latin typeface="仿宋" panose="02010609060101010101" pitchFamily="49" charset="-122"/>
                <a:ea typeface="仿宋" panose="02010609060101010101" pitchFamily="49" charset="-122"/>
              </a:rPr>
              <a:t>和</a:t>
            </a:r>
            <a:r>
              <a:rPr lang="zh-CN" altLang="zh-CN" sz="2800" dirty="0">
                <a:solidFill>
                  <a:srgbClr val="FF0000"/>
                </a:solidFill>
                <a:latin typeface="仿宋" panose="02010609060101010101" pitchFamily="49" charset="-122"/>
                <a:ea typeface="仿宋" panose="02010609060101010101" pitchFamily="49" charset="-122"/>
              </a:rPr>
              <a:t>防酸围裙，并在</a:t>
            </a:r>
            <a:r>
              <a:rPr lang="zh-CN" altLang="en-US" sz="2800" dirty="0">
                <a:solidFill>
                  <a:srgbClr val="FF0000"/>
                </a:solidFill>
                <a:latin typeface="仿宋" panose="02010609060101010101" pitchFamily="49" charset="-122"/>
                <a:ea typeface="仿宋" panose="02010609060101010101" pitchFamily="49" charset="-122"/>
              </a:rPr>
              <a:t>橡胶</a:t>
            </a:r>
            <a:r>
              <a:rPr lang="zh-CN" altLang="zh-CN" sz="2800" dirty="0">
                <a:solidFill>
                  <a:srgbClr val="FF0000"/>
                </a:solidFill>
                <a:latin typeface="仿宋" panose="02010609060101010101" pitchFamily="49" charset="-122"/>
                <a:ea typeface="仿宋" panose="02010609060101010101" pitchFamily="49" charset="-122"/>
              </a:rPr>
              <a:t>手套外面套</a:t>
            </a:r>
            <a:r>
              <a:rPr lang="zh-CN" altLang="zh-CN" sz="2800" b="1" dirty="0">
                <a:solidFill>
                  <a:srgbClr val="FF0000"/>
                </a:solidFill>
                <a:latin typeface="仿宋" panose="02010609060101010101" pitchFamily="49" charset="-122"/>
                <a:ea typeface="仿宋" panose="02010609060101010101" pitchFamily="49" charset="-122"/>
              </a:rPr>
              <a:t>防酸手套</a:t>
            </a:r>
            <a:r>
              <a:rPr lang="zh-CN"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这些用具都在湿法间常备。</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lt"/>
              <a:buAutoNum type="arabicPeriod" startAt="9"/>
            </a:pPr>
            <a:r>
              <a:rPr lang="zh-CN" altLang="en-US" sz="2800" dirty="0">
                <a:latin typeface="仿宋" panose="02010609060101010101" pitchFamily="49" charset="-122"/>
                <a:ea typeface="仿宋" panose="02010609060101010101" pitchFamily="49" charset="-122"/>
              </a:rPr>
              <a:t>湿法</a:t>
            </a:r>
            <a:r>
              <a:rPr lang="zh-CN" altLang="zh-CN" sz="2800" dirty="0">
                <a:latin typeface="仿宋" panose="02010609060101010101" pitchFamily="49" charset="-122"/>
                <a:ea typeface="仿宋" panose="02010609060101010101" pitchFamily="49" charset="-122"/>
              </a:rPr>
              <a:t>区配</a:t>
            </a:r>
            <a:r>
              <a:rPr lang="zh-CN" altLang="en-US" sz="2800" dirty="0">
                <a:latin typeface="仿宋" panose="02010609060101010101" pitchFamily="49" charset="-122"/>
                <a:ea typeface="仿宋" panose="02010609060101010101" pitchFamily="49" charset="-122"/>
              </a:rPr>
              <a:t>有淋浴、</a:t>
            </a:r>
            <a:r>
              <a:rPr lang="zh-CN" altLang="zh-CN" sz="2800" dirty="0">
                <a:latin typeface="仿宋" panose="02010609060101010101" pitchFamily="49" charset="-122"/>
                <a:ea typeface="仿宋" panose="02010609060101010101" pitchFamily="49" charset="-122"/>
              </a:rPr>
              <a:t>洗眼器和自来水池</a:t>
            </a:r>
            <a:r>
              <a:rPr lang="zh-CN" altLang="en-US" sz="2800" dirty="0">
                <a:latin typeface="仿宋" panose="02010609060101010101" pitchFamily="49" charset="-122"/>
                <a:ea typeface="仿宋" panose="02010609060101010101" pitchFamily="49" charset="-122"/>
              </a:rPr>
              <a:t>。</a:t>
            </a:r>
            <a:endParaRPr lang="en-US" altLang="zh-CN" sz="2800" dirty="0">
              <a:latin typeface="仿宋" panose="02010609060101010101" pitchFamily="49" charset="-122"/>
              <a:ea typeface="仿宋" panose="02010609060101010101" pitchFamily="49" charset="-122"/>
            </a:endParaRPr>
          </a:p>
          <a:p>
            <a:pPr marL="0" indent="0" defTabSz="914400" fontAlgn="auto">
              <a:lnSpc>
                <a:spcPct val="150000"/>
              </a:lnSpc>
              <a:spcAft>
                <a:spcPts val="0"/>
              </a:spcAft>
              <a:buClr>
                <a:srgbClr val="FF0000"/>
              </a:buClr>
              <a:buNone/>
            </a:pPr>
            <a:r>
              <a:rPr lang="zh-CN" altLang="en-US" sz="2800" dirty="0">
                <a:latin typeface="仿宋" panose="02010609060101010101" pitchFamily="49" charset="-122"/>
                <a:ea typeface="仿宋" panose="02010609060101010101" pitchFamily="49" charset="-122"/>
              </a:rPr>
              <a:t>    受</a:t>
            </a:r>
            <a:r>
              <a:rPr lang="zh-CN" altLang="en-US" sz="2800" dirty="0">
                <a:solidFill>
                  <a:srgbClr val="0000FF"/>
                </a:solidFill>
                <a:latin typeface="仿宋" panose="02010609060101010101" pitchFamily="49" charset="-122"/>
                <a:ea typeface="仿宋" panose="02010609060101010101" pitchFamily="49" charset="-122"/>
              </a:rPr>
              <a:t>酸</a:t>
            </a:r>
            <a:r>
              <a:rPr lang="zh-CN" altLang="en-US" sz="2800" dirty="0">
                <a:latin typeface="仿宋" panose="02010609060101010101" pitchFamily="49" charset="-122"/>
                <a:ea typeface="仿宋" panose="02010609060101010101" pitchFamily="49" charset="-122"/>
              </a:rPr>
              <a:t>腐蚀致伤时，用大量的水冲洗</a:t>
            </a:r>
            <a:r>
              <a:rPr lang="en-US" altLang="zh-CN" sz="2800" dirty="0">
                <a:latin typeface="仿宋" panose="02010609060101010101" pitchFamily="49" charset="-122"/>
                <a:ea typeface="仿宋" panose="02010609060101010101" pitchFamily="49" charset="-122"/>
              </a:rPr>
              <a:t>15</a:t>
            </a:r>
            <a:r>
              <a:rPr lang="zh-CN" altLang="en-US" sz="2800" dirty="0">
                <a:latin typeface="仿宋" panose="02010609060101010101" pitchFamily="49" charset="-122"/>
                <a:ea typeface="仿宋" panose="02010609060101010101" pitchFamily="49" charset="-122"/>
              </a:rPr>
              <a:t>分钟以上（洗眼器、淋浴、</a:t>
            </a:r>
            <a:r>
              <a:rPr lang="zh-CN" altLang="zh-CN" sz="2800" dirty="0">
                <a:latin typeface="仿宋" panose="02010609060101010101" pitchFamily="49" charset="-122"/>
                <a:ea typeface="仿宋" panose="02010609060101010101" pitchFamily="49" charset="-122"/>
              </a:rPr>
              <a:t>自来水池</a:t>
            </a:r>
            <a:r>
              <a:rPr lang="zh-CN" altLang="en-US" sz="2800" dirty="0">
                <a:latin typeface="仿宋" panose="02010609060101010101" pitchFamily="49" charset="-122"/>
                <a:ea typeface="仿宋" panose="02010609060101010101" pitchFamily="49" charset="-122"/>
              </a:rPr>
              <a:t>），再用</a:t>
            </a:r>
            <a:r>
              <a:rPr lang="zh-CN" altLang="en-US" sz="2800" dirty="0">
                <a:solidFill>
                  <a:srgbClr val="0000FF"/>
                </a:solidFill>
                <a:latin typeface="仿宋" panose="02010609060101010101" pitchFamily="49" charset="-122"/>
                <a:ea typeface="仿宋" panose="02010609060101010101" pitchFamily="49" charset="-122"/>
              </a:rPr>
              <a:t>饱和碳酸氢钠</a:t>
            </a:r>
            <a:r>
              <a:rPr lang="zh-CN" altLang="en-US" sz="2800" dirty="0">
                <a:latin typeface="仿宋" panose="02010609060101010101" pitchFamily="49" charset="-122"/>
                <a:ea typeface="仿宋" panose="02010609060101010101" pitchFamily="49" charset="-122"/>
              </a:rPr>
              <a:t>溶液清洗（急救箱内），最后再用水冲洗。</a:t>
            </a:r>
            <a:endParaRPr lang="en-US" altLang="zh-CN" sz="2800" dirty="0">
              <a:latin typeface="仿宋" panose="02010609060101010101" pitchFamily="49" charset="-122"/>
              <a:ea typeface="仿宋" panose="02010609060101010101" pitchFamily="49" charset="-122"/>
            </a:endParaRPr>
          </a:p>
          <a:p>
            <a:pPr marL="0" indent="0" defTabSz="914400" fontAlgn="auto">
              <a:lnSpc>
                <a:spcPct val="150000"/>
              </a:lnSpc>
              <a:spcAft>
                <a:spcPts val="0"/>
              </a:spcAft>
              <a:buClr>
                <a:srgbClr val="FF0000"/>
              </a:buClr>
              <a:buNone/>
            </a:pPr>
            <a:r>
              <a:rPr lang="zh-CN" altLang="en-US" sz="2800" dirty="0">
                <a:latin typeface="仿宋" panose="02010609060101010101" pitchFamily="49" charset="-122"/>
                <a:ea typeface="仿宋" panose="02010609060101010101" pitchFamily="49" charset="-122"/>
              </a:rPr>
              <a:t>    受</a:t>
            </a:r>
            <a:r>
              <a:rPr lang="zh-CN" altLang="en-US" sz="2800" dirty="0">
                <a:solidFill>
                  <a:srgbClr val="0000FF"/>
                </a:solidFill>
                <a:latin typeface="仿宋" panose="02010609060101010101" pitchFamily="49" charset="-122"/>
                <a:ea typeface="仿宋" panose="02010609060101010101" pitchFamily="49" charset="-122"/>
              </a:rPr>
              <a:t>碱</a:t>
            </a:r>
            <a:r>
              <a:rPr lang="zh-CN" altLang="en-US" sz="2800" dirty="0">
                <a:latin typeface="仿宋" panose="02010609060101010101" pitchFamily="49" charset="-122"/>
                <a:ea typeface="仿宋" panose="02010609060101010101" pitchFamily="49" charset="-122"/>
              </a:rPr>
              <a:t>腐蚀致伤时，用大量的水冲洗</a:t>
            </a:r>
            <a:r>
              <a:rPr lang="en-US" altLang="zh-CN" sz="2800" dirty="0">
                <a:latin typeface="仿宋" panose="02010609060101010101" pitchFamily="49" charset="-122"/>
                <a:ea typeface="仿宋" panose="02010609060101010101" pitchFamily="49" charset="-122"/>
              </a:rPr>
              <a:t>15</a:t>
            </a:r>
            <a:r>
              <a:rPr lang="zh-CN" altLang="en-US" sz="2800" dirty="0">
                <a:latin typeface="仿宋" panose="02010609060101010101" pitchFamily="49" charset="-122"/>
                <a:ea typeface="仿宋" panose="02010609060101010101" pitchFamily="49" charset="-122"/>
              </a:rPr>
              <a:t>分钟以上（洗眼器、淋浴、</a:t>
            </a:r>
            <a:r>
              <a:rPr lang="zh-CN" altLang="zh-CN" sz="2800" dirty="0">
                <a:latin typeface="仿宋" panose="02010609060101010101" pitchFamily="49" charset="-122"/>
                <a:ea typeface="仿宋" panose="02010609060101010101" pitchFamily="49" charset="-122"/>
              </a:rPr>
              <a:t>自来水池</a:t>
            </a:r>
            <a:r>
              <a:rPr lang="zh-CN" altLang="en-US" sz="2800" dirty="0">
                <a:latin typeface="仿宋" panose="02010609060101010101" pitchFamily="49" charset="-122"/>
                <a:ea typeface="仿宋" panose="02010609060101010101" pitchFamily="49" charset="-122"/>
              </a:rPr>
              <a:t>），再用</a:t>
            </a:r>
            <a:r>
              <a:rPr lang="zh-CN" altLang="en-US" sz="2800" dirty="0">
                <a:solidFill>
                  <a:srgbClr val="0000FF"/>
                </a:solidFill>
                <a:latin typeface="仿宋" panose="02010609060101010101" pitchFamily="49" charset="-122"/>
                <a:ea typeface="仿宋" panose="02010609060101010101" pitchFamily="49" charset="-122"/>
              </a:rPr>
              <a:t>饱和硼酸</a:t>
            </a:r>
            <a:r>
              <a:rPr lang="zh-CN" altLang="en-US" sz="2800" dirty="0">
                <a:latin typeface="仿宋" panose="02010609060101010101" pitchFamily="49" charset="-122"/>
                <a:ea typeface="仿宋" panose="02010609060101010101" pitchFamily="49" charset="-122"/>
              </a:rPr>
              <a:t>溶液清洗（急救箱内），最后再用水冲洗。</a:t>
            </a:r>
            <a:endParaRPr lang="en-US" altLang="zh-CN" sz="2800" dirty="0">
              <a:latin typeface="仿宋" panose="02010609060101010101" pitchFamily="49" charset="-122"/>
              <a:ea typeface="仿宋" panose="02010609060101010101" pitchFamily="49" charset="-122"/>
            </a:endParaRPr>
          </a:p>
          <a:p>
            <a:pPr marL="0" indent="0" defTabSz="914400" fontAlgn="auto">
              <a:lnSpc>
                <a:spcPct val="150000"/>
              </a:lnSpc>
              <a:spcAft>
                <a:spcPts val="0"/>
              </a:spcAft>
              <a:buClr>
                <a:srgbClr val="FF0000"/>
              </a:buClr>
              <a:buNone/>
            </a:pP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lt"/>
              <a:buAutoNum type="arabicPeriod" startAt="9"/>
            </a:pPr>
            <a:endParaRPr lang="zh-CN" altLang="en-US" sz="2800" dirty="0">
              <a:latin typeface="仿宋" panose="02010609060101010101" pitchFamily="49" charset="-122"/>
              <a:ea typeface="仿宋" panose="02010609060101010101" pitchFamily="49" charset="-122"/>
            </a:endParaRPr>
          </a:p>
        </p:txBody>
      </p:sp>
      <p:sp>
        <p:nvSpPr>
          <p:cNvPr id="7"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8"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spTree>
    <p:extLst>
      <p:ext uri="{BB962C8B-B14F-4D97-AF65-F5344CB8AC3E}">
        <p14:creationId xmlns:p14="http://schemas.microsoft.com/office/powerpoint/2010/main" val="6406118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47</a:t>
            </a:fld>
            <a:endParaRPr lang="zh-CN" altLang="en-US" dirty="0"/>
          </a:p>
        </p:txBody>
      </p:sp>
      <p:sp>
        <p:nvSpPr>
          <p:cNvPr id="4" name="标题 3"/>
          <p:cNvSpPr>
            <a:spLocks noGrp="1"/>
          </p:cNvSpPr>
          <p:nvPr>
            <p:ph type="title"/>
          </p:nvPr>
        </p:nvSpPr>
        <p:spPr/>
        <p:txBody>
          <a:bodyPr/>
          <a:lstStyle/>
          <a:p>
            <a:pPr defTabSz="914400"/>
            <a:r>
              <a:rPr lang="zh-CN" altLang="en-US" sz="4400" dirty="0"/>
              <a:t>超净实验室安全</a:t>
            </a:r>
          </a:p>
        </p:txBody>
      </p:sp>
      <p:pic>
        <p:nvPicPr>
          <p:cNvPr id="5" name="图片 4">
            <a:extLst>
              <a:ext uri="{FF2B5EF4-FFF2-40B4-BE49-F238E27FC236}">
                <a16:creationId xmlns:a16="http://schemas.microsoft.com/office/drawing/2014/main" id="{1CD92C2C-B68C-41EF-AC21-38F24E762B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255" y="3148608"/>
            <a:ext cx="8684489" cy="5400600"/>
          </a:xfrm>
          <a:prstGeom prst="rect">
            <a:avLst/>
          </a:prstGeom>
        </p:spPr>
      </p:pic>
      <p:sp>
        <p:nvSpPr>
          <p:cNvPr id="7" name="流程图: 接点 12">
            <a:hlinkClick r:id="rId3" action="ppaction://hlinksldjump"/>
            <a:extLst>
              <a:ext uri="{FF2B5EF4-FFF2-40B4-BE49-F238E27FC236}">
                <a16:creationId xmlns:a16="http://schemas.microsoft.com/office/drawing/2014/main" id="{202277D0-B425-48B2-9DE4-BC0C03DC825F}"/>
              </a:ext>
            </a:extLst>
          </p:cNvPr>
          <p:cNvSpPr/>
          <p:nvPr/>
        </p:nvSpPr>
        <p:spPr>
          <a:xfrm>
            <a:off x="8352844" y="4588768"/>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8" name="标注: 线形(无边框) 13">
            <a:hlinkClick r:id="rId4" action="ppaction://hlinkfile"/>
            <a:extLst>
              <a:ext uri="{FF2B5EF4-FFF2-40B4-BE49-F238E27FC236}">
                <a16:creationId xmlns:a16="http://schemas.microsoft.com/office/drawing/2014/main" id="{CC281149-9EAA-4CB0-9A96-F69F25006F59}"/>
              </a:ext>
            </a:extLst>
          </p:cNvPr>
          <p:cNvSpPr/>
          <p:nvPr/>
        </p:nvSpPr>
        <p:spPr>
          <a:xfrm>
            <a:off x="4874695" y="4228770"/>
            <a:ext cx="1430238" cy="432006"/>
          </a:xfrm>
          <a:prstGeom prst="callout1">
            <a:avLst>
              <a:gd name="adj1" fmla="val 58789"/>
              <a:gd name="adj2" fmla="val 99377"/>
              <a:gd name="adj3" fmla="val 79947"/>
              <a:gd name="adj4" fmla="val 244783"/>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急救箱</a:t>
            </a:r>
            <a:endParaRPr kumimoji="0" lang="en-US" altLang="zh-CN"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endParaRPr>
          </a:p>
        </p:txBody>
      </p:sp>
      <p:sp>
        <p:nvSpPr>
          <p:cNvPr id="9" name="文本框 8"/>
          <p:cNvSpPr txBox="1"/>
          <p:nvPr/>
        </p:nvSpPr>
        <p:spPr>
          <a:xfrm>
            <a:off x="24075" y="2508887"/>
            <a:ext cx="2339102" cy="523220"/>
          </a:xfrm>
          <a:prstGeom prst="rect">
            <a:avLst/>
          </a:prstGeom>
          <a:noFill/>
        </p:spPr>
        <p:txBody>
          <a:bodyPr wrap="none" rtlCol="0">
            <a:spAutoFit/>
          </a:bodyPr>
          <a:lstStyle/>
          <a:p>
            <a:r>
              <a:rPr lang="zh-CN" altLang="en-US" sz="2800" dirty="0">
                <a:solidFill>
                  <a:schemeClr val="tx1"/>
                </a:solidFill>
                <a:latin typeface="黑体" panose="02010609060101010101" pitchFamily="49" charset="-122"/>
                <a:ea typeface="黑体" panose="02010609060101010101" pitchFamily="49" charset="-122"/>
              </a:rPr>
              <a:t>急救药箱位置</a:t>
            </a:r>
          </a:p>
        </p:txBody>
      </p:sp>
      <p:sp>
        <p:nvSpPr>
          <p:cNvPr id="10" name="流程图: 接点 12">
            <a:hlinkClick r:id="rId3" action="ppaction://hlinksldjump"/>
            <a:extLst>
              <a:ext uri="{FF2B5EF4-FFF2-40B4-BE49-F238E27FC236}">
                <a16:creationId xmlns:a16="http://schemas.microsoft.com/office/drawing/2014/main" id="{202277D0-B425-48B2-9DE4-BC0C03DC825F}"/>
              </a:ext>
            </a:extLst>
          </p:cNvPr>
          <p:cNvSpPr/>
          <p:nvPr/>
        </p:nvSpPr>
        <p:spPr>
          <a:xfrm>
            <a:off x="7394975" y="4876800"/>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11" name="流程图: 接点 12">
            <a:hlinkClick r:id="rId3" action="ppaction://hlinksldjump"/>
            <a:extLst>
              <a:ext uri="{FF2B5EF4-FFF2-40B4-BE49-F238E27FC236}">
                <a16:creationId xmlns:a16="http://schemas.microsoft.com/office/drawing/2014/main" id="{202277D0-B425-48B2-9DE4-BC0C03DC825F}"/>
              </a:ext>
            </a:extLst>
          </p:cNvPr>
          <p:cNvSpPr/>
          <p:nvPr/>
        </p:nvSpPr>
        <p:spPr>
          <a:xfrm>
            <a:off x="7610999" y="7181056"/>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13" name="标注: 线形(无边框) 13">
            <a:hlinkClick r:id="rId4" action="ppaction://hlinkfile"/>
            <a:extLst>
              <a:ext uri="{FF2B5EF4-FFF2-40B4-BE49-F238E27FC236}">
                <a16:creationId xmlns:a16="http://schemas.microsoft.com/office/drawing/2014/main" id="{CC281149-9EAA-4CB0-9A96-F69F25006F59}"/>
              </a:ext>
            </a:extLst>
          </p:cNvPr>
          <p:cNvSpPr/>
          <p:nvPr/>
        </p:nvSpPr>
        <p:spPr>
          <a:xfrm>
            <a:off x="3918431" y="4660776"/>
            <a:ext cx="1430238" cy="432006"/>
          </a:xfrm>
          <a:prstGeom prst="callout1">
            <a:avLst>
              <a:gd name="adj1" fmla="val 58789"/>
              <a:gd name="adj2" fmla="val 99377"/>
              <a:gd name="adj3" fmla="val 79947"/>
              <a:gd name="adj4" fmla="val 244783"/>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急救箱</a:t>
            </a:r>
            <a:endParaRPr kumimoji="0" lang="en-US" altLang="zh-CN"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endParaRPr>
          </a:p>
        </p:txBody>
      </p:sp>
      <p:sp>
        <p:nvSpPr>
          <p:cNvPr id="14" name="标注: 线形(无边框) 13">
            <a:hlinkClick r:id="rId4" action="ppaction://hlinkfile"/>
            <a:extLst>
              <a:ext uri="{FF2B5EF4-FFF2-40B4-BE49-F238E27FC236}">
                <a16:creationId xmlns:a16="http://schemas.microsoft.com/office/drawing/2014/main" id="{CC281149-9EAA-4CB0-9A96-F69F25006F59}"/>
              </a:ext>
            </a:extLst>
          </p:cNvPr>
          <p:cNvSpPr/>
          <p:nvPr/>
        </p:nvSpPr>
        <p:spPr>
          <a:xfrm>
            <a:off x="4087568" y="6919765"/>
            <a:ext cx="1430238" cy="432006"/>
          </a:xfrm>
          <a:prstGeom prst="callout1">
            <a:avLst>
              <a:gd name="adj1" fmla="val 58789"/>
              <a:gd name="adj2" fmla="val 99377"/>
              <a:gd name="adj3" fmla="val 79947"/>
              <a:gd name="adj4" fmla="val 244783"/>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rPr>
              <a:t>急救箱</a:t>
            </a:r>
            <a:endParaRPr kumimoji="0" lang="en-US" altLang="zh-CN" sz="2800" b="0" i="0" u="none" strike="noStrike" kern="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endParaRPr>
          </a:p>
        </p:txBody>
      </p:sp>
      <p:sp>
        <p:nvSpPr>
          <p:cNvPr id="12"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pic>
        <p:nvPicPr>
          <p:cNvPr id="15" name="图片 14">
            <a:extLst>
              <a:ext uri="{FF2B5EF4-FFF2-40B4-BE49-F238E27FC236}">
                <a16:creationId xmlns:a16="http://schemas.microsoft.com/office/drawing/2014/main" id="{4566CE0C-68A2-4E10-9EA9-DEF8D8C8CB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98744" y="5546700"/>
            <a:ext cx="2826107" cy="2745648"/>
          </a:xfrm>
          <a:prstGeom prst="rect">
            <a:avLst/>
          </a:prstGeom>
        </p:spPr>
      </p:pic>
    </p:spTree>
    <p:extLst>
      <p:ext uri="{BB962C8B-B14F-4D97-AF65-F5344CB8AC3E}">
        <p14:creationId xmlns:p14="http://schemas.microsoft.com/office/powerpoint/2010/main" val="73991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48</a:t>
            </a:fld>
            <a:endParaRPr lang="zh-CN" altLang="en-US" dirty="0"/>
          </a:p>
        </p:txBody>
      </p:sp>
      <p:sp>
        <p:nvSpPr>
          <p:cNvPr id="4" name="标题 3"/>
          <p:cNvSpPr>
            <a:spLocks noGrp="1"/>
          </p:cNvSpPr>
          <p:nvPr>
            <p:ph type="title"/>
          </p:nvPr>
        </p:nvSpPr>
        <p:spPr/>
        <p:txBody>
          <a:bodyPr/>
          <a:lstStyle/>
          <a:p>
            <a:pPr defTabSz="914400"/>
            <a:r>
              <a:rPr lang="zh-CN" altLang="en-US" sz="4400" dirty="0"/>
              <a:t>超净实验室安全</a:t>
            </a:r>
          </a:p>
        </p:txBody>
      </p:sp>
      <p:pic>
        <p:nvPicPr>
          <p:cNvPr id="5" name="图片 4">
            <a:extLst>
              <a:ext uri="{FF2B5EF4-FFF2-40B4-BE49-F238E27FC236}">
                <a16:creationId xmlns:a16="http://schemas.microsoft.com/office/drawing/2014/main" id="{B8CFCA1E-1460-43BF-894A-5EBD64AC19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7784" y="3364632"/>
            <a:ext cx="8684489" cy="5400600"/>
          </a:xfrm>
          <a:prstGeom prst="rect">
            <a:avLst/>
          </a:prstGeom>
        </p:spPr>
      </p:pic>
      <p:pic>
        <p:nvPicPr>
          <p:cNvPr id="6" name="内容占位符 6">
            <a:extLst>
              <a:ext uri="{FF2B5EF4-FFF2-40B4-BE49-F238E27FC236}">
                <a16:creationId xmlns:a16="http://schemas.microsoft.com/office/drawing/2014/main" id="{A37E8FE0-CDEE-452B-ABDD-4837940F6D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9484" y="3497367"/>
            <a:ext cx="1429577" cy="1982527"/>
          </a:xfrm>
          <a:prstGeom prst="rect">
            <a:avLst/>
          </a:prstGeom>
        </p:spPr>
      </p:pic>
      <p:sp>
        <p:nvSpPr>
          <p:cNvPr id="7" name="流程图: 接点 8">
            <a:hlinkClick r:id="" action="ppaction://noaction"/>
            <a:extLst>
              <a:ext uri="{FF2B5EF4-FFF2-40B4-BE49-F238E27FC236}">
                <a16:creationId xmlns:a16="http://schemas.microsoft.com/office/drawing/2014/main" id="{E2C96D5B-5A99-4544-A08B-D1C8916865A3}"/>
              </a:ext>
            </a:extLst>
          </p:cNvPr>
          <p:cNvSpPr/>
          <p:nvPr/>
        </p:nvSpPr>
        <p:spPr>
          <a:xfrm>
            <a:off x="8036333" y="5092824"/>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8" name="流程图: 接点 9">
            <a:hlinkClick r:id="" action="ppaction://noaction"/>
            <a:extLst>
              <a:ext uri="{FF2B5EF4-FFF2-40B4-BE49-F238E27FC236}">
                <a16:creationId xmlns:a16="http://schemas.microsoft.com/office/drawing/2014/main" id="{8E52C605-ADD9-420D-B1B8-BDB11294356D}"/>
              </a:ext>
            </a:extLst>
          </p:cNvPr>
          <p:cNvSpPr/>
          <p:nvPr/>
        </p:nvSpPr>
        <p:spPr>
          <a:xfrm>
            <a:off x="8252357" y="5092824"/>
            <a:ext cx="144016" cy="144016"/>
          </a:xfrm>
          <a:prstGeom prst="flowChartConnector">
            <a:avLst/>
          </a:prstGeom>
          <a:solidFill>
            <a:srgbClr val="918485"/>
          </a:solidFill>
          <a:ln w="12700" cap="flat" cmpd="sng" algn="ctr">
            <a:solidFill>
              <a:srgbClr val="918485">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Perpetua"/>
              <a:ea typeface="宋体" panose="02010600030101010101" pitchFamily="2" charset="-122"/>
            </a:endParaRPr>
          </a:p>
        </p:txBody>
      </p:sp>
      <p:sp>
        <p:nvSpPr>
          <p:cNvPr id="9" name="标注: 线形(无边框) 11">
            <a:hlinkClick r:id="rId4" action="ppaction://hlinkfile"/>
            <a:extLst>
              <a:ext uri="{FF2B5EF4-FFF2-40B4-BE49-F238E27FC236}">
                <a16:creationId xmlns:a16="http://schemas.microsoft.com/office/drawing/2014/main" id="{B48BE3FB-4A00-4ACF-BA30-0CA7B237180B}"/>
              </a:ext>
            </a:extLst>
          </p:cNvPr>
          <p:cNvSpPr/>
          <p:nvPr/>
        </p:nvSpPr>
        <p:spPr>
          <a:xfrm>
            <a:off x="5243950" y="4701952"/>
            <a:ext cx="2400657" cy="390872"/>
          </a:xfrm>
          <a:prstGeom prst="callout1">
            <a:avLst>
              <a:gd name="adj1" fmla="val 58789"/>
              <a:gd name="adj2" fmla="val 99377"/>
              <a:gd name="adj3" fmla="val 103950"/>
              <a:gd name="adj4" fmla="val 123572"/>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chemeClr val="tx1"/>
                </a:solidFill>
                <a:effectLst/>
                <a:uLnTx/>
                <a:uFillTx/>
                <a:latin typeface="Perpetua"/>
                <a:ea typeface="宋体" panose="02010600030101010101" pitchFamily="2" charset="-122"/>
              </a:rPr>
              <a:t>洗眼器、淋浴</a:t>
            </a:r>
            <a:endParaRPr kumimoji="0" lang="en-US" altLang="zh-CN" sz="2800" b="0" i="0" u="none" strike="noStrike" kern="0" cap="none" spc="0" normalizeH="0" baseline="0" noProof="0" dirty="0">
              <a:ln>
                <a:noFill/>
              </a:ln>
              <a:solidFill>
                <a:schemeClr val="tx1"/>
              </a:solidFill>
              <a:effectLst/>
              <a:uLnTx/>
              <a:uFillTx/>
              <a:latin typeface="Perpetua"/>
              <a:ea typeface="宋体" panose="02010600030101010101" pitchFamily="2" charset="-122"/>
            </a:endParaRPr>
          </a:p>
        </p:txBody>
      </p:sp>
      <p:sp>
        <p:nvSpPr>
          <p:cNvPr id="10" name="标注: 线形(无边框) 17">
            <a:hlinkClick r:id="rId4" action="ppaction://hlinkfile"/>
            <a:extLst>
              <a:ext uri="{FF2B5EF4-FFF2-40B4-BE49-F238E27FC236}">
                <a16:creationId xmlns:a16="http://schemas.microsoft.com/office/drawing/2014/main" id="{0D601F2C-D4EE-4F0C-9180-4DBCD36DB322}"/>
              </a:ext>
            </a:extLst>
          </p:cNvPr>
          <p:cNvSpPr/>
          <p:nvPr/>
        </p:nvSpPr>
        <p:spPr>
          <a:xfrm>
            <a:off x="5243950" y="5465630"/>
            <a:ext cx="2409763" cy="360040"/>
          </a:xfrm>
          <a:prstGeom prst="callout1">
            <a:avLst>
              <a:gd name="adj1" fmla="val 58789"/>
              <a:gd name="adj2" fmla="val 99377"/>
              <a:gd name="adj3" fmla="val -79616"/>
              <a:gd name="adj4" fmla="val 130904"/>
            </a:avLst>
          </a:prstGeom>
          <a:solidFill>
            <a:srgbClr val="918485"/>
          </a:solidFill>
          <a:ln w="12700" cap="flat" cmpd="sng" algn="ctr">
            <a:solidFill>
              <a:srgbClr val="696464"/>
            </a:solidFill>
            <a:prstDash val="sysDash"/>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chemeClr val="tx1"/>
                </a:solidFill>
                <a:effectLst/>
                <a:uLnTx/>
                <a:uFillTx/>
                <a:latin typeface="Perpetua"/>
                <a:ea typeface="宋体" panose="02010600030101010101" pitchFamily="2" charset="-122"/>
              </a:rPr>
              <a:t>洗眼器、淋浴</a:t>
            </a:r>
            <a:endParaRPr kumimoji="0" lang="en-US" altLang="zh-CN" sz="2800" b="0" i="0" u="none" strike="noStrike" kern="0" cap="none" spc="0" normalizeH="0" baseline="0" noProof="0" dirty="0">
              <a:ln>
                <a:noFill/>
              </a:ln>
              <a:solidFill>
                <a:schemeClr val="tx1"/>
              </a:solidFill>
              <a:effectLst/>
              <a:uLnTx/>
              <a:uFillTx/>
              <a:latin typeface="Perpetua"/>
              <a:ea typeface="宋体" panose="02010600030101010101" pitchFamily="2" charset="-122"/>
            </a:endParaRPr>
          </a:p>
        </p:txBody>
      </p:sp>
      <p:pic>
        <p:nvPicPr>
          <p:cNvPr id="11" name="图片 10"/>
          <p:cNvPicPr>
            <a:picLocks noChangeAspect="1"/>
          </p:cNvPicPr>
          <p:nvPr/>
        </p:nvPicPr>
        <p:blipFill>
          <a:blip r:embed="rId5"/>
          <a:stretch>
            <a:fillRect/>
          </a:stretch>
        </p:blipFill>
        <p:spPr>
          <a:xfrm>
            <a:off x="9642273" y="6130838"/>
            <a:ext cx="2640100" cy="2618370"/>
          </a:xfrm>
          <a:prstGeom prst="rect">
            <a:avLst/>
          </a:prstGeom>
        </p:spPr>
      </p:pic>
      <p:sp>
        <p:nvSpPr>
          <p:cNvPr id="12" name="文本框 11"/>
          <p:cNvSpPr txBox="1"/>
          <p:nvPr/>
        </p:nvSpPr>
        <p:spPr>
          <a:xfrm>
            <a:off x="0" y="2708714"/>
            <a:ext cx="4493538" cy="523220"/>
          </a:xfrm>
          <a:prstGeom prst="rect">
            <a:avLst/>
          </a:prstGeom>
          <a:noFill/>
        </p:spPr>
        <p:txBody>
          <a:bodyPr wrap="none" rtlCol="0">
            <a:spAutoFit/>
          </a:bodyPr>
          <a:lstStyle/>
          <a:p>
            <a:r>
              <a:rPr lang="zh-CN" altLang="en-US" sz="2800" dirty="0">
                <a:solidFill>
                  <a:schemeClr val="tx1"/>
                </a:solidFill>
                <a:latin typeface="黑体" panose="02010609060101010101" pitchFamily="49" charset="-122"/>
                <a:ea typeface="黑体" panose="02010609060101010101" pitchFamily="49" charset="-122"/>
              </a:rPr>
              <a:t>紧急洗眼器、淋浴位置位置</a:t>
            </a:r>
          </a:p>
        </p:txBody>
      </p:sp>
      <p:sp>
        <p:nvSpPr>
          <p:cNvPr id="13" name="内容占位符 2"/>
          <p:cNvSpPr>
            <a:spLocks noGrp="1"/>
          </p:cNvSpPr>
          <p:nvPr>
            <p:ph idx="1"/>
          </p:nvPr>
        </p:nvSpPr>
        <p:spPr>
          <a:xfrm>
            <a:off x="39122" y="1851938"/>
            <a:ext cx="11503838" cy="581534"/>
          </a:xfrm>
        </p:spPr>
        <p:txBody>
          <a:bodyPr/>
          <a:lstStyle/>
          <a:p>
            <a:pPr marL="0" indent="0">
              <a:buNone/>
            </a:pPr>
            <a:r>
              <a:rPr lang="zh-CN" altLang="en-US" sz="3200" dirty="0">
                <a:latin typeface="黑体" panose="02010609060101010101" pitchFamily="49" charset="-122"/>
              </a:rPr>
              <a:t>三、化学品使用规定</a:t>
            </a:r>
          </a:p>
        </p:txBody>
      </p:sp>
    </p:spTree>
    <p:extLst>
      <p:ext uri="{BB962C8B-B14F-4D97-AF65-F5344CB8AC3E}">
        <p14:creationId xmlns:p14="http://schemas.microsoft.com/office/powerpoint/2010/main" val="177007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49</a:t>
            </a:fld>
            <a:endParaRPr lang="zh-CN" altLang="en-US" dirty="0"/>
          </a:p>
        </p:txBody>
      </p:sp>
      <p:sp>
        <p:nvSpPr>
          <p:cNvPr id="4" name="Content Placeholder 2"/>
          <p:cNvSpPr txBox="1">
            <a:spLocks/>
          </p:cNvSpPr>
          <p:nvPr/>
        </p:nvSpPr>
        <p:spPr>
          <a:xfrm>
            <a:off x="784424" y="2572544"/>
            <a:ext cx="11694640" cy="5544616"/>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spcAft>
                <a:spcPts val="0"/>
              </a:spcAft>
              <a:buClr>
                <a:srgbClr val="FF0000"/>
              </a:buClr>
              <a:buFont typeface="+mj-lt"/>
              <a:buAutoNum type="arabicPeriod" startAt="10"/>
            </a:pPr>
            <a:r>
              <a:rPr lang="zh-CN" altLang="en-US" sz="2800" b="1" dirty="0">
                <a:latin typeface="仿宋" panose="02010609060101010101" pitchFamily="49" charset="-122"/>
                <a:ea typeface="仿宋" panose="02010609060101010101" pitchFamily="49" charset="-122"/>
              </a:rPr>
              <a:t>化学废液的处理</a:t>
            </a:r>
            <a:endParaRPr lang="en-US" altLang="zh-CN" sz="2800" b="1" dirty="0">
              <a:latin typeface="仿宋" panose="02010609060101010101" pitchFamily="49" charset="-122"/>
              <a:ea typeface="仿宋" panose="02010609060101010101" pitchFamily="49" charset="-122"/>
            </a:endParaRPr>
          </a:p>
          <a:p>
            <a:pPr marL="342900" indent="-342900" defTabSz="914400" fontAlgn="auto">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工艺结束后，化学废液必须合理处理。不当处理，可能会产生危险的化学反应和环境污染。</a:t>
            </a:r>
            <a:endParaRPr lang="en-US" altLang="zh-CN" sz="2800" dirty="0">
              <a:latin typeface="仿宋" panose="02010609060101010101" pitchFamily="49" charset="-122"/>
              <a:ea typeface="仿宋" panose="02010609060101010101" pitchFamily="49" charset="-122"/>
            </a:endParaRPr>
          </a:p>
          <a:p>
            <a:pPr marL="342900" indent="-342900" defTabSz="914400" fontAlgn="auto">
              <a:spcAft>
                <a:spcPts val="0"/>
              </a:spcAft>
              <a:buClr>
                <a:srgbClr val="FF0000"/>
              </a:buClr>
              <a:buFont typeface="+mj-ea"/>
              <a:buAutoNum type="circleNumDbPlain"/>
            </a:pPr>
            <a:r>
              <a:rPr lang="en-US" altLang="zh-CN" sz="2800" dirty="0">
                <a:solidFill>
                  <a:srgbClr val="FF0000"/>
                </a:solidFill>
                <a:latin typeface="仿宋" panose="02010609060101010101" pitchFamily="49" charset="-122"/>
                <a:ea typeface="仿宋" panose="02010609060101010101" pitchFamily="49" charset="-122"/>
              </a:rPr>
              <a:t>10</a:t>
            </a:r>
            <a:r>
              <a:rPr lang="zh-CN" altLang="en-US" sz="2800" dirty="0">
                <a:solidFill>
                  <a:srgbClr val="FF0000"/>
                </a:solidFill>
                <a:latin typeface="仿宋" panose="02010609060101010101" pitchFamily="49" charset="-122"/>
                <a:ea typeface="仿宋" panose="02010609060101010101" pitchFamily="49" charset="-122"/>
              </a:rPr>
              <a:t>槽清洗机的酸液加载和废液处理均由工艺工程师负责，</a:t>
            </a:r>
            <a:r>
              <a:rPr lang="zh-CN" altLang="en-US" sz="2800" dirty="0">
                <a:latin typeface="仿宋" panose="02010609060101010101" pitchFamily="49" charset="-122"/>
                <a:ea typeface="仿宋" panose="02010609060101010101" pitchFamily="49" charset="-122"/>
              </a:rPr>
              <a:t>用户不能自行处理；</a:t>
            </a:r>
            <a:endParaRPr lang="en-US" altLang="zh-CN" sz="2800" dirty="0">
              <a:latin typeface="仿宋" panose="02010609060101010101" pitchFamily="49" charset="-122"/>
              <a:ea typeface="仿宋" panose="02010609060101010101" pitchFamily="49" charset="-122"/>
            </a:endParaRPr>
          </a:p>
          <a:p>
            <a:pPr marL="342900" indent="-342900" defTabSz="914400" fontAlgn="auto">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用户在普通工作台上完成工艺后，</a:t>
            </a:r>
            <a:r>
              <a:rPr lang="zh-CN" altLang="en-US" sz="2800" dirty="0">
                <a:solidFill>
                  <a:srgbClr val="FF0000"/>
                </a:solidFill>
                <a:latin typeface="仿宋" panose="02010609060101010101" pitchFamily="49" charset="-122"/>
                <a:ea typeface="仿宋" panose="02010609060101010101" pitchFamily="49" charset="-122"/>
              </a:rPr>
              <a:t>废酸</a:t>
            </a:r>
            <a:r>
              <a:rPr lang="en-US" altLang="zh-CN" sz="2800" dirty="0">
                <a:solidFill>
                  <a:srgbClr val="FF0000"/>
                </a:solidFill>
                <a:latin typeface="仿宋" panose="02010609060101010101" pitchFamily="49" charset="-122"/>
                <a:ea typeface="仿宋" panose="02010609060101010101" pitchFamily="49" charset="-122"/>
              </a:rPr>
              <a:t>/</a:t>
            </a:r>
            <a:r>
              <a:rPr lang="zh-CN" altLang="en-US" sz="2800" dirty="0">
                <a:solidFill>
                  <a:srgbClr val="FF0000"/>
                </a:solidFill>
                <a:latin typeface="仿宋" panose="02010609060101010101" pitchFamily="49" charset="-122"/>
                <a:ea typeface="仿宋" panose="02010609060101010101" pitchFamily="49" charset="-122"/>
              </a:rPr>
              <a:t>碱液冷却至室温，然后用虹吸管吸走</a:t>
            </a:r>
            <a:r>
              <a:rPr lang="zh-CN" altLang="en-US" sz="2800" dirty="0">
                <a:latin typeface="仿宋" panose="02010609060101010101" pitchFamily="49" charset="-122"/>
                <a:ea typeface="仿宋" panose="02010609060101010101" pitchFamily="49" charset="-122"/>
              </a:rPr>
              <a:t>；有机废液分别回收到指定的废液容器中，不能用虹吸管处理或者直接排入下水道。</a:t>
            </a:r>
          </a:p>
        </p:txBody>
      </p:sp>
      <p:graphicFrame>
        <p:nvGraphicFramePr>
          <p:cNvPr id="6" name="Table 4"/>
          <p:cNvGraphicFramePr>
            <a:graphicFrameLocks noGrp="1"/>
          </p:cNvGraphicFramePr>
          <p:nvPr>
            <p:extLst>
              <p:ext uri="{D42A27DB-BD31-4B8C-83A1-F6EECF244321}">
                <p14:modId xmlns:p14="http://schemas.microsoft.com/office/powerpoint/2010/main" val="2695104294"/>
              </p:ext>
            </p:extLst>
          </p:nvPr>
        </p:nvGraphicFramePr>
        <p:xfrm>
          <a:off x="3454400" y="6460976"/>
          <a:ext cx="6096000" cy="2072640"/>
        </p:xfrm>
        <a:graphic>
          <a:graphicData uri="http://schemas.openxmlformats.org/drawingml/2006/table">
            <a:tbl>
              <a:tblPr firstRow="1" bandRow="1">
                <a:tableStyleId>{5C22544A-7EE6-4342-B048-85BDC9FD1C3A}</a:tableStyleId>
              </a:tblPr>
              <a:tblGrid>
                <a:gridCol w="3168352">
                  <a:extLst>
                    <a:ext uri="{9D8B030D-6E8A-4147-A177-3AD203B41FA5}">
                      <a16:colId xmlns:a16="http://schemas.microsoft.com/office/drawing/2014/main" val="20000"/>
                    </a:ext>
                  </a:extLst>
                </a:gridCol>
                <a:gridCol w="2927648">
                  <a:extLst>
                    <a:ext uri="{9D8B030D-6E8A-4147-A177-3AD203B41FA5}">
                      <a16:colId xmlns:a16="http://schemas.microsoft.com/office/drawing/2014/main" val="20001"/>
                    </a:ext>
                  </a:extLst>
                </a:gridCol>
              </a:tblGrid>
              <a:tr h="370840">
                <a:tc>
                  <a:txBody>
                    <a:bodyPr/>
                    <a:lstStyle/>
                    <a:p>
                      <a:pPr algn="ct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虹吸处理</a:t>
                      </a:r>
                    </a:p>
                  </a:txBody>
                  <a:tcPr/>
                </a:tc>
                <a:tc>
                  <a:txBody>
                    <a:bodyPr/>
                    <a:lstStyle/>
                    <a:p>
                      <a:pPr algn="ct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回收</a:t>
                      </a:r>
                    </a:p>
                  </a:txBody>
                  <a:tcPr/>
                </a:tc>
                <a:extLst>
                  <a:ext uri="{0D108BD9-81ED-4DB2-BD59-A6C34878D82A}">
                    <a16:rowId xmlns:a16="http://schemas.microsoft.com/office/drawing/2014/main" val="10000"/>
                  </a:ext>
                </a:extLst>
              </a:tr>
              <a:tr h="370840">
                <a:tc>
                  <a:txBody>
                    <a:bodyPr/>
                    <a:lstStyle/>
                    <a:p>
                      <a:pPr algn="ct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HF</a:t>
                      </a:r>
                      <a:endParaRPr lang="zh-CN" altLang="en-US" sz="2800" dirty="0">
                        <a:latin typeface="Times New Roman" panose="02020603050405020304" pitchFamily="18" charset="0"/>
                        <a:ea typeface="仿宋" panose="02010609060101010101" pitchFamily="49" charset="-122"/>
                        <a:cs typeface="Times New Roman" panose="02020603050405020304" pitchFamily="18" charset="0"/>
                      </a:endParaRPr>
                    </a:p>
                  </a:txBody>
                  <a:tcPr/>
                </a:tc>
                <a:tc>
                  <a:txBody>
                    <a:bodyPr/>
                    <a:lstStyle/>
                    <a:p>
                      <a:pPr algn="ct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乙醇</a:t>
                      </a:r>
                    </a:p>
                  </a:txBody>
                  <a:tcPr/>
                </a:tc>
                <a:extLst>
                  <a:ext uri="{0D108BD9-81ED-4DB2-BD59-A6C34878D82A}">
                    <a16:rowId xmlns:a16="http://schemas.microsoft.com/office/drawing/2014/main" val="10001"/>
                  </a:ext>
                </a:extLst>
              </a:tr>
              <a:tr h="370840">
                <a:tc>
                  <a:txBody>
                    <a:bodyPr/>
                    <a:lstStyle/>
                    <a:p>
                      <a:pPr algn="ctr"/>
                      <a:r>
                        <a:rPr lang="en-US" altLang="zh-CN" sz="2800" dirty="0" err="1">
                          <a:latin typeface="Times New Roman" panose="02020603050405020304" pitchFamily="18" charset="0"/>
                          <a:ea typeface="仿宋" panose="02010609060101010101" pitchFamily="49" charset="-122"/>
                          <a:cs typeface="Times New Roman" panose="02020603050405020304" pitchFamily="18" charset="0"/>
                        </a:rPr>
                        <a:t>HCl</a:t>
                      </a: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  </a:t>
                      </a:r>
                    </a:p>
                  </a:txBody>
                  <a:tcPr/>
                </a:tc>
                <a:tc>
                  <a:txBody>
                    <a:bodyPr/>
                    <a:lstStyle/>
                    <a:p>
                      <a:pPr algn="ct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丙酮</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algn="ct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H</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2</a:t>
                      </a:r>
                      <a:r>
                        <a:rPr lang="en-US" altLang="zh-CN" sz="2800" dirty="0">
                          <a:latin typeface="Times New Roman" panose="02020603050405020304" pitchFamily="18" charset="0"/>
                          <a:ea typeface="仿宋" panose="02010609060101010101" pitchFamily="49" charset="-122"/>
                          <a:cs typeface="Times New Roman" panose="02020603050405020304" pitchFamily="18" charset="0"/>
                        </a:rPr>
                        <a:t>SO</a:t>
                      </a:r>
                      <a:r>
                        <a:rPr lang="en-US" altLang="zh-CN" sz="2800" baseline="-25000" dirty="0">
                          <a:latin typeface="Times New Roman" panose="02020603050405020304" pitchFamily="18" charset="0"/>
                          <a:ea typeface="仿宋" panose="02010609060101010101" pitchFamily="49" charset="-122"/>
                          <a:cs typeface="Times New Roman" panose="02020603050405020304" pitchFamily="18" charset="0"/>
                        </a:rPr>
                        <a:t>4</a:t>
                      </a:r>
                      <a:endParaRPr lang="zh-CN" altLang="en-US" sz="2800" baseline="-25000" dirty="0">
                        <a:latin typeface="Times New Roman" panose="02020603050405020304" pitchFamily="18" charset="0"/>
                        <a:ea typeface="仿宋" panose="02010609060101010101" pitchFamily="49" charset="-122"/>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800" dirty="0">
                          <a:latin typeface="Times New Roman" panose="02020603050405020304" pitchFamily="18" charset="0"/>
                          <a:ea typeface="仿宋" panose="02010609060101010101" pitchFamily="49" charset="-122"/>
                          <a:cs typeface="Times New Roman" panose="02020603050405020304" pitchFamily="18" charset="0"/>
                        </a:rPr>
                        <a:t>氯苯（密闭）</a:t>
                      </a:r>
                      <a:endParaRPr lang="en-US" altLang="zh-CN" sz="2800" dirty="0">
                        <a:latin typeface="Times New Roman" panose="02020603050405020304" pitchFamily="18" charset="0"/>
                        <a:ea typeface="仿宋" panose="02010609060101010101" pitchFamily="49" charset="-122"/>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9"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10" name="内容占位符 2"/>
          <p:cNvSpPr>
            <a:spLocks noGrp="1"/>
          </p:cNvSpPr>
          <p:nvPr>
            <p:ph idx="1"/>
          </p:nvPr>
        </p:nvSpPr>
        <p:spPr>
          <a:xfrm>
            <a:off x="24075" y="1846994"/>
            <a:ext cx="11503838" cy="581534"/>
          </a:xfrm>
        </p:spPr>
        <p:txBody>
          <a:bodyPr/>
          <a:lstStyle/>
          <a:p>
            <a:pPr marL="0" indent="0">
              <a:buNone/>
            </a:pPr>
            <a:r>
              <a:rPr lang="zh-CN" altLang="en-US" sz="3200" dirty="0">
                <a:latin typeface="黑体" panose="02010609060101010101" pitchFamily="49" charset="-122"/>
              </a:rPr>
              <a:t>三、化学品使用规定</a:t>
            </a:r>
          </a:p>
        </p:txBody>
      </p:sp>
    </p:spTree>
    <p:extLst>
      <p:ext uri="{BB962C8B-B14F-4D97-AF65-F5344CB8AC3E}">
        <p14:creationId xmlns:p14="http://schemas.microsoft.com/office/powerpoint/2010/main" val="2667907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50</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400" dirty="0"/>
              <a:t>超净实验室安全</a:t>
            </a:r>
          </a:p>
        </p:txBody>
      </p:sp>
      <p:sp>
        <p:nvSpPr>
          <p:cNvPr id="3" name="矩形 2"/>
          <p:cNvSpPr/>
          <p:nvPr/>
        </p:nvSpPr>
        <p:spPr>
          <a:xfrm>
            <a:off x="777764" y="2588960"/>
            <a:ext cx="11449272" cy="6063198"/>
          </a:xfrm>
          <a:prstGeom prst="rect">
            <a:avLst/>
          </a:prstGeom>
        </p:spPr>
        <p:txBody>
          <a:bodyPr wrap="square">
            <a:spAutoFit/>
          </a:bodyPr>
          <a:lstStyle/>
          <a:p>
            <a:pPr marL="514350" lvl="0" indent="-514350" algn="l" defTabSz="914400" fontAlgn="auto" hangingPunct="1">
              <a:lnSpc>
                <a:spcPct val="150000"/>
              </a:lnSpc>
              <a:spcBef>
                <a:spcPts val="580"/>
              </a:spcBef>
              <a:spcAft>
                <a:spcPts val="0"/>
              </a:spcAft>
              <a:buClr>
                <a:srgbClr val="FF0000"/>
              </a:buClr>
              <a:buSzPct val="85000"/>
              <a:buFont typeface="+mj-ea"/>
              <a:buAutoNum type="circleNumDbPlain"/>
            </a:pPr>
            <a:r>
              <a:rPr lang="zh-CN" altLang="zh-CN" sz="2800" dirty="0">
                <a:solidFill>
                  <a:prstClr val="black"/>
                </a:solidFill>
                <a:latin typeface="仿宋" panose="02010609060101010101" pitchFamily="49" charset="-122"/>
                <a:ea typeface="仿宋" panose="02010609060101010101" pitchFamily="49" charset="-122"/>
              </a:rPr>
              <a:t>使用高温设备时，注意由于温度过高造成的</a:t>
            </a:r>
            <a:r>
              <a:rPr lang="zh-CN" altLang="zh-CN" sz="2800" dirty="0">
                <a:solidFill>
                  <a:srgbClr val="FF0000"/>
                </a:solidFill>
                <a:latin typeface="仿宋" panose="02010609060101010101" pitchFamily="49" charset="-122"/>
                <a:ea typeface="仿宋" panose="02010609060101010101" pitchFamily="49" charset="-122"/>
              </a:rPr>
              <a:t>烫伤</a:t>
            </a:r>
            <a:r>
              <a:rPr lang="zh-CN" altLang="zh-CN" sz="2800" dirty="0">
                <a:solidFill>
                  <a:prstClr val="black"/>
                </a:solidFill>
                <a:latin typeface="仿宋" panose="02010609060101010101" pitchFamily="49" charset="-122"/>
                <a:ea typeface="仿宋" panose="02010609060101010101" pitchFamily="49" charset="-122"/>
              </a:rPr>
              <a:t>。检查设备周边是否有易燃易爆的物品如纸张、试剂等。检查</a:t>
            </a:r>
            <a:r>
              <a:rPr lang="zh-CN" altLang="zh-CN" sz="2800" dirty="0">
                <a:solidFill>
                  <a:srgbClr val="FF0000"/>
                </a:solidFill>
                <a:latin typeface="仿宋" panose="02010609060101010101" pitchFamily="49" charset="-122"/>
                <a:ea typeface="仿宋" panose="02010609060101010101" pitchFamily="49" charset="-122"/>
              </a:rPr>
              <a:t>冷却水系统是否运转正常</a:t>
            </a:r>
            <a:r>
              <a:rPr lang="zh-CN" altLang="zh-CN" sz="2800" dirty="0">
                <a:solidFill>
                  <a:prstClr val="black"/>
                </a:solidFill>
                <a:latin typeface="仿宋" panose="02010609060101010101" pitchFamily="49" charset="-122"/>
                <a:ea typeface="仿宋" panose="02010609060101010101" pitchFamily="49" charset="-122"/>
              </a:rPr>
              <a:t>，定期打开管道防水检查管路是否通畅。</a:t>
            </a:r>
          </a:p>
          <a:p>
            <a:pPr marL="342900" lvl="0" indent="-342900" algn="l" defTabSz="914400" fontAlgn="auto" hangingPunct="1">
              <a:lnSpc>
                <a:spcPct val="150000"/>
              </a:lnSpc>
              <a:spcBef>
                <a:spcPts val="580"/>
              </a:spcBef>
              <a:spcAft>
                <a:spcPts val="0"/>
              </a:spcAft>
              <a:buClr>
                <a:srgbClr val="D34817"/>
              </a:buClr>
              <a:buSzPct val="85000"/>
              <a:buFont typeface="+mj-ea"/>
              <a:buAutoNum type="circleNumDbPlain"/>
            </a:pPr>
            <a:r>
              <a:rPr lang="zh-CN" altLang="zh-CN" sz="2800" dirty="0">
                <a:solidFill>
                  <a:srgbClr val="FF0000"/>
                </a:solidFill>
                <a:latin typeface="仿宋" panose="02010609060101010101" pitchFamily="49" charset="-122"/>
                <a:ea typeface="仿宋" panose="02010609060101010101" pitchFamily="49" charset="-122"/>
              </a:rPr>
              <a:t>设备一定要降至设备规定温度才可将设备打开</a:t>
            </a:r>
            <a:r>
              <a:rPr lang="zh-CN" altLang="zh-CN" sz="2800" dirty="0">
                <a:solidFill>
                  <a:prstClr val="black"/>
                </a:solidFill>
                <a:latin typeface="仿宋" panose="02010609060101010101" pitchFamily="49" charset="-122"/>
                <a:ea typeface="仿宋" panose="02010609060101010101" pitchFamily="49" charset="-122"/>
              </a:rPr>
              <a:t>，不可在高温状态下打开设备以免造成危险。</a:t>
            </a:r>
            <a:r>
              <a:rPr lang="zh-CN" altLang="zh-CN" sz="2800" dirty="0">
                <a:solidFill>
                  <a:srgbClr val="FF0000"/>
                </a:solidFill>
                <a:latin typeface="仿宋" panose="02010609060101010101" pitchFamily="49" charset="-122"/>
                <a:ea typeface="仿宋" panose="02010609060101010101" pitchFamily="49" charset="-122"/>
              </a:rPr>
              <a:t>进出石英舟一定要缓慢进出</a:t>
            </a:r>
            <a:r>
              <a:rPr lang="zh-CN" altLang="zh-CN" sz="2800" dirty="0">
                <a:solidFill>
                  <a:prstClr val="black"/>
                </a:solidFill>
                <a:latin typeface="仿宋" panose="02010609060101010101" pitchFamily="49" charset="-122"/>
                <a:ea typeface="仿宋" panose="02010609060101010101" pitchFamily="49" charset="-122"/>
              </a:rPr>
              <a:t>，以免造成石英制品和样品的损坏。装取片时要注意手套衣物等不要与石英制品接触，避免沾污。</a:t>
            </a:r>
          </a:p>
          <a:p>
            <a:pPr marL="342900" lvl="0" indent="-342900" algn="l" defTabSz="914400" fontAlgn="auto" hangingPunct="1">
              <a:lnSpc>
                <a:spcPct val="150000"/>
              </a:lnSpc>
              <a:spcBef>
                <a:spcPts val="580"/>
              </a:spcBef>
              <a:spcAft>
                <a:spcPts val="0"/>
              </a:spcAft>
              <a:buClr>
                <a:srgbClr val="D34817"/>
              </a:buClr>
              <a:buSzPct val="85000"/>
              <a:buFont typeface="+mj-ea"/>
              <a:buAutoNum type="circleNumDbPlain"/>
            </a:pPr>
            <a:r>
              <a:rPr lang="zh-CN" altLang="zh-CN" sz="2800" dirty="0">
                <a:solidFill>
                  <a:prstClr val="black"/>
                </a:solidFill>
                <a:latin typeface="仿宋" panose="02010609060101010101" pitchFamily="49" charset="-122"/>
                <a:ea typeface="仿宋" panose="02010609060101010101" pitchFamily="49" charset="-122"/>
              </a:rPr>
              <a:t>工艺运行时定期检查工艺温度是否正常，将独立的超温保护设定合适的值并定期进行检查。</a:t>
            </a:r>
          </a:p>
        </p:txBody>
      </p:sp>
      <p:sp>
        <p:nvSpPr>
          <p:cNvPr id="6" name="内容占位符 2"/>
          <p:cNvSpPr>
            <a:spLocks noGrp="1"/>
          </p:cNvSpPr>
          <p:nvPr>
            <p:ph idx="1"/>
          </p:nvPr>
        </p:nvSpPr>
        <p:spPr>
          <a:xfrm>
            <a:off x="24075" y="1848694"/>
            <a:ext cx="11503838" cy="779286"/>
          </a:xfrm>
        </p:spPr>
        <p:txBody>
          <a:bodyPr/>
          <a:lstStyle/>
          <a:p>
            <a:pPr marL="0" indent="0">
              <a:buNone/>
            </a:pPr>
            <a:r>
              <a:rPr lang="zh-CN" altLang="en-US" sz="3200" dirty="0">
                <a:latin typeface="黑体" panose="02010609060101010101" pitchFamily="49" charset="-122"/>
              </a:rPr>
              <a:t>四、高温设备注意事项</a:t>
            </a:r>
          </a:p>
        </p:txBody>
      </p:sp>
    </p:spTree>
    <p:extLst>
      <p:ext uri="{BB962C8B-B14F-4D97-AF65-F5344CB8AC3E}">
        <p14:creationId xmlns:p14="http://schemas.microsoft.com/office/powerpoint/2010/main" val="2392039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51</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6" name="内容占位符 3">
            <a:extLst>
              <a:ext uri="{FF2B5EF4-FFF2-40B4-BE49-F238E27FC236}">
                <a16:creationId xmlns:a16="http://schemas.microsoft.com/office/drawing/2014/main" id="{1B63D8A5-6DB2-491C-BEC2-DB8D490551C9}"/>
              </a:ext>
            </a:extLst>
          </p:cNvPr>
          <p:cNvSpPr txBox="1">
            <a:spLocks/>
          </p:cNvSpPr>
          <p:nvPr/>
        </p:nvSpPr>
        <p:spPr>
          <a:xfrm>
            <a:off x="741760" y="2641059"/>
            <a:ext cx="6192688" cy="6340197"/>
          </a:xfrm>
          <a:prstGeom prst="rect">
            <a:avLst/>
          </a:prstGeom>
        </p:spPr>
        <p:txBody>
          <a:bodyPr vert="horz" wrap="square">
            <a:sp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580"/>
              </a:spcBef>
              <a:spcAft>
                <a:spcPts val="0"/>
              </a:spcAft>
              <a:buClr>
                <a:srgbClr val="D34817"/>
              </a:buClr>
              <a:buSzPct val="85000"/>
              <a:buFont typeface="+mj-lt"/>
              <a:buAutoNum type="arabicPeriod"/>
              <a:tabLst/>
              <a:defRPr/>
            </a:pPr>
            <a:r>
              <a:rPr kumimoji="0" lang="zh-CN" altLang="en-US"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实验室具有放射源的设备（例：</a:t>
            </a:r>
            <a:r>
              <a:rPr kumimoji="0" lang="en-US"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XRD</a:t>
            </a:r>
            <a:r>
              <a:rPr kumimoji="0" lang="zh-CN" altLang="en-US"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）上，会带有</a:t>
            </a: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电离辐射</a:t>
            </a:r>
            <a:r>
              <a:rPr kumimoji="0" lang="zh-CN" altLang="en-US"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警示</a:t>
            </a: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牌</a:t>
            </a:r>
            <a:r>
              <a:rPr kumimoji="0" lang="zh-CN" altLang="en-US"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，如下图：</a:t>
            </a:r>
            <a:endParaRPr kumimoji="0" lang="en-US"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50000"/>
              </a:lnSpc>
              <a:spcBef>
                <a:spcPts val="580"/>
              </a:spcBef>
              <a:spcAft>
                <a:spcPts val="0"/>
              </a:spcAft>
              <a:buClr>
                <a:srgbClr val="D34817"/>
              </a:buClr>
              <a:buSzPct val="85000"/>
              <a:buFont typeface="Wingdings 2"/>
              <a:buNone/>
              <a:tabLst/>
              <a:defRPr/>
            </a:pP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当看到此标志时，</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防护措施不当</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或者</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违反操作规程，人体受照射的剂量超过一定限度，则能发生有害作用</a:t>
            </a:r>
            <a:r>
              <a:rPr kumimoji="0" lang="zh-CN" altLang="en-US"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电离辐射可引起放射病，它是机体的全身性反应，几乎所有器官、系统均发生病理改变，但其中以神经系统、造血器官和消化系统的改变最为明显。</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18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pic>
        <p:nvPicPr>
          <p:cNvPr id="8" name="图片 7" descr="电离辐射标识牌">
            <a:hlinkClick r:id="rId2" tgtFrame="&quot;_blank&quot;" tooltip="&quot;电离辐射标识牌&quot;"/>
            <a:extLst>
              <a:ext uri="{FF2B5EF4-FFF2-40B4-BE49-F238E27FC236}">
                <a16:creationId xmlns:a16="http://schemas.microsoft.com/office/drawing/2014/main" id="{9F31F2FC-1A2D-426D-9A0D-98D17BB50FF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7421" y="2644085"/>
            <a:ext cx="4320480" cy="5976664"/>
          </a:xfrm>
          <a:prstGeom prst="rect">
            <a:avLst/>
          </a:prstGeom>
          <a:noFill/>
          <a:ln>
            <a:noFill/>
          </a:ln>
        </p:spPr>
      </p:pic>
      <p:sp>
        <p:nvSpPr>
          <p:cNvPr id="7" name="内容占位符 2"/>
          <p:cNvSpPr>
            <a:spLocks noGrp="1"/>
          </p:cNvSpPr>
          <p:nvPr>
            <p:ph idx="1"/>
          </p:nvPr>
        </p:nvSpPr>
        <p:spPr>
          <a:xfrm>
            <a:off x="24075" y="1848694"/>
            <a:ext cx="11503838" cy="579834"/>
          </a:xfrm>
        </p:spPr>
        <p:txBody>
          <a:bodyPr/>
          <a:lstStyle/>
          <a:p>
            <a:pPr marL="0" indent="0">
              <a:buNone/>
            </a:pPr>
            <a:r>
              <a:rPr lang="zh-CN" altLang="en-US" sz="3200" dirty="0">
                <a:latin typeface="黑体" panose="02010609060101010101" pitchFamily="49" charset="-122"/>
              </a:rPr>
              <a:t>五、实验室辐射及防护</a:t>
            </a:r>
          </a:p>
        </p:txBody>
      </p:sp>
    </p:spTree>
    <p:extLst>
      <p:ext uri="{BB962C8B-B14F-4D97-AF65-F5344CB8AC3E}">
        <p14:creationId xmlns:p14="http://schemas.microsoft.com/office/powerpoint/2010/main" val="1088967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52</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4" name="内容占位符 3">
            <a:extLst>
              <a:ext uri="{FF2B5EF4-FFF2-40B4-BE49-F238E27FC236}">
                <a16:creationId xmlns:a16="http://schemas.microsoft.com/office/drawing/2014/main" id="{2367A07E-719D-4345-B5B7-D09326A2F6C8}"/>
              </a:ext>
            </a:extLst>
          </p:cNvPr>
          <p:cNvSpPr txBox="1">
            <a:spLocks/>
          </p:cNvSpPr>
          <p:nvPr/>
        </p:nvSpPr>
        <p:spPr>
          <a:xfrm>
            <a:off x="741760" y="2313761"/>
            <a:ext cx="11521280" cy="7603599"/>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457200" marR="0" lvl="0" indent="-457200" algn="l" defTabSz="914400" rtl="0" eaLnBrk="1" fontAlgn="auto" latinLnBrk="0" hangingPunct="1">
              <a:lnSpc>
                <a:spcPct val="150000"/>
              </a:lnSpc>
              <a:spcBef>
                <a:spcPts val="580"/>
              </a:spcBef>
              <a:spcAft>
                <a:spcPts val="0"/>
              </a:spcAft>
              <a:buClr>
                <a:srgbClr val="D34817"/>
              </a:buClr>
              <a:buSzPct val="85000"/>
              <a:buFont typeface="+mj-lt"/>
              <a:buAutoNum type="arabicPeriod" startAt="2"/>
              <a:tabLst/>
              <a:defRPr/>
            </a:pPr>
            <a:r>
              <a:rPr kumimoji="0" lang="zh-CN" altLang="en-US"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防护要素</a:t>
            </a:r>
            <a:endParaRPr kumimoji="0" lang="en-US"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50000"/>
              </a:lnSpc>
              <a:spcBef>
                <a:spcPts val="580"/>
              </a:spcBef>
              <a:spcAft>
                <a:spcPts val="0"/>
              </a:spcAft>
              <a:buClr>
                <a:srgbClr val="D34817"/>
              </a:buClr>
              <a:buSzPct val="85000"/>
              <a:buFont typeface="Wingdings 2"/>
              <a:buNone/>
              <a:tabLst/>
              <a:defRPr/>
            </a:pP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    </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照射防护的</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三</a:t>
            </a:r>
            <a:r>
              <a:rPr kumimoji="0" lang="zh-CN" altLang="zh-CN" sz="2800" b="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要素是距离、时间和</a:t>
            </a:r>
            <a:r>
              <a:rPr kumimoji="0" lang="zh-CN" altLang="zh-CN" sz="2800" i="0" u="none" strike="noStrike" kern="1200" cap="none" spc="0" normalizeH="0" baseline="0" noProof="0" dirty="0">
                <a:ln>
                  <a:noFill/>
                </a:ln>
                <a:effectLst/>
                <a:uLnTx/>
                <a:uFillTx/>
                <a:latin typeface="仿宋" panose="02010609060101010101" pitchFamily="49" charset="-122"/>
                <a:ea typeface="仿宋" panose="02010609060101010101" pitchFamily="49" charset="-122"/>
              </a:rPr>
              <a:t>屏蔽</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，或者说辐射防护的主要方法是</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时间防护、距离防护和屏蔽防护</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，具体原理如下：</a:t>
            </a:r>
          </a:p>
          <a:p>
            <a:pPr marL="457200" marR="0" lvl="0" indent="-457200" algn="l" defTabSz="914400" rtl="0" eaLnBrk="1" fontAlgn="auto" latinLnBrk="0" hangingPunct="1">
              <a:lnSpc>
                <a:spcPct val="150000"/>
              </a:lnSpc>
              <a:spcBef>
                <a:spcPts val="580"/>
              </a:spcBef>
              <a:spcAft>
                <a:spcPts val="0"/>
              </a:spcAft>
              <a:buClr>
                <a:srgbClr val="D34817"/>
              </a:buClr>
              <a:buSzPct val="85000"/>
              <a:buFont typeface="+mj-lt"/>
              <a:buAutoNum type="arabicPeriod" startAt="3"/>
              <a:tabLst/>
              <a:defRPr/>
            </a:pP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时间防护</a:t>
            </a:r>
          </a:p>
          <a:p>
            <a:pPr marL="457200" marR="0" lvl="0" indent="-457200" algn="l" defTabSz="914400" rtl="0" eaLnBrk="1" fontAlgn="auto" latinLnBrk="0" hangingPunct="1">
              <a:lnSpc>
                <a:spcPct val="150000"/>
              </a:lnSpc>
              <a:spcBef>
                <a:spcPts val="580"/>
              </a:spcBef>
              <a:spcAft>
                <a:spcPts val="0"/>
              </a:spcAft>
              <a:buClr>
                <a:srgbClr val="D34817"/>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时间防护的原理是：在辐射场内的人员所受照射的累积剂量与时间成正比，因此，在照射率不变的情况下，缩短照射时间便可减少所接受的剂量，或者人们在限定的时间内工作，就可能使他们所受到的</a:t>
            </a:r>
            <a:r>
              <a:rPr kumimoji="0" lang="en-US" altLang="zh-CN" sz="2800" b="0" i="0" strike="noStrike" kern="1200" cap="none" spc="0" normalizeH="0" baseline="0" noProof="0" dirty="0" err="1">
                <a:ln>
                  <a:noFill/>
                </a:ln>
                <a:solidFill>
                  <a:sysClr val="windowText" lastClr="000000"/>
                </a:solidFill>
                <a:effectLst/>
                <a:uLnTx/>
                <a:uFillTx/>
                <a:latin typeface="仿宋" panose="02010609060101010101" pitchFamily="49" charset="-122"/>
                <a:ea typeface="仿宋" panose="02010609060101010101" pitchFamily="49" charset="-122"/>
              </a:rPr>
              <a:t>射线剂量</a:t>
            </a:r>
            <a:r>
              <a:rPr kumimoji="0" lang="zh-CN" altLang="zh-CN" sz="2800" b="0" i="0"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在最高允许剂量以下，确保人身安全（仅在非常情况下采用此法），从而达到防护目的。</a:t>
            </a:r>
          </a:p>
          <a:p>
            <a:pPr marL="457200" marR="0" lvl="0" indent="-457200" algn="l" defTabSz="914400" rtl="0" eaLnBrk="1" fontAlgn="auto" latinLnBrk="0" hangingPunct="1">
              <a:lnSpc>
                <a:spcPct val="150000"/>
              </a:lnSpc>
              <a:spcBef>
                <a:spcPts val="580"/>
              </a:spcBef>
              <a:spcAft>
                <a:spcPts val="0"/>
              </a:spcAft>
              <a:buClr>
                <a:srgbClr val="D34817"/>
              </a:buClr>
              <a:buSzPct val="85000"/>
              <a:buFont typeface="+mj-ea"/>
              <a:buAutoNum type="circleNumDbPlain"/>
              <a:tabLst/>
              <a:defRPr/>
            </a:pPr>
            <a:r>
              <a:rPr kumimoji="0" lang="zh-CN" altLang="zh-CN" sz="2800" b="0" i="0"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时间防护的要点是尽量减少人体与</a:t>
            </a:r>
            <a:r>
              <a:rPr kumimoji="0" lang="en-US" altLang="zh-CN" sz="2800" b="0" i="0" strike="noStrike" kern="1200" cap="none" spc="0" normalizeH="0" baseline="0" noProof="0" dirty="0" err="1">
                <a:ln>
                  <a:noFill/>
                </a:ln>
                <a:solidFill>
                  <a:sysClr val="windowText" lastClr="000000"/>
                </a:solidFill>
                <a:effectLst/>
                <a:uLnTx/>
                <a:uFillTx/>
                <a:latin typeface="仿宋" panose="02010609060101010101" pitchFamily="49" charset="-122"/>
                <a:ea typeface="仿宋" panose="02010609060101010101" pitchFamily="49" charset="-122"/>
              </a:rPr>
              <a:t>射线</a:t>
            </a:r>
            <a:r>
              <a:rPr kumimoji="0" lang="zh-CN" altLang="zh-CN" sz="2800" b="0" i="0"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的接触</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时间（</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缩短人体受照射的时间</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26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6" name="内容占位符 2"/>
          <p:cNvSpPr>
            <a:spLocks noGrp="1"/>
          </p:cNvSpPr>
          <p:nvPr>
            <p:ph idx="1"/>
          </p:nvPr>
        </p:nvSpPr>
        <p:spPr>
          <a:xfrm>
            <a:off x="24075" y="1848694"/>
            <a:ext cx="11503838" cy="579834"/>
          </a:xfrm>
        </p:spPr>
        <p:txBody>
          <a:bodyPr/>
          <a:lstStyle/>
          <a:p>
            <a:pPr marL="0" indent="0">
              <a:buNone/>
            </a:pPr>
            <a:r>
              <a:rPr lang="zh-CN" altLang="en-US" sz="3200" dirty="0">
                <a:latin typeface="黑体" panose="02010609060101010101" pitchFamily="49" charset="-122"/>
              </a:rPr>
              <a:t>五、实验室辐射及防护</a:t>
            </a:r>
          </a:p>
        </p:txBody>
      </p:sp>
    </p:spTree>
    <p:extLst>
      <p:ext uri="{BB962C8B-B14F-4D97-AF65-F5344CB8AC3E}">
        <p14:creationId xmlns:p14="http://schemas.microsoft.com/office/powerpoint/2010/main" val="3438697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53</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800" dirty="0"/>
              <a:t>超净实验室安全</a:t>
            </a:r>
          </a:p>
        </p:txBody>
      </p:sp>
      <p:sp>
        <p:nvSpPr>
          <p:cNvPr id="6" name="内容占位符 3">
            <a:extLst>
              <a:ext uri="{FF2B5EF4-FFF2-40B4-BE49-F238E27FC236}">
                <a16:creationId xmlns:a16="http://schemas.microsoft.com/office/drawing/2014/main" id="{1715CDAB-98C4-4B28-B772-989FE299D7D5}"/>
              </a:ext>
            </a:extLst>
          </p:cNvPr>
          <p:cNvSpPr txBox="1">
            <a:spLocks/>
          </p:cNvSpPr>
          <p:nvPr/>
        </p:nvSpPr>
        <p:spPr>
          <a:xfrm>
            <a:off x="741760" y="2371753"/>
            <a:ext cx="11521280" cy="732958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ts val="580"/>
              </a:spcBef>
              <a:spcAft>
                <a:spcPts val="0"/>
              </a:spcAft>
              <a:buClr>
                <a:srgbClr val="D34817"/>
              </a:buClr>
              <a:buSzPct val="85000"/>
              <a:buFont typeface="+mj-lt"/>
              <a:buAutoNum type="arabicPeriod" startAt="4"/>
              <a:tabLst/>
              <a:defRPr/>
            </a:pP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距离防护</a:t>
            </a:r>
          </a:p>
          <a:p>
            <a:pPr marL="342900" marR="0" lvl="0" indent="-342900" algn="l" defTabSz="914400" rtl="0" eaLnBrk="1" fontAlgn="auto" latinLnBrk="0" hangingPunct="1">
              <a:lnSpc>
                <a:spcPct val="160000"/>
              </a:lnSpc>
              <a:spcBef>
                <a:spcPts val="580"/>
              </a:spcBef>
              <a:spcAft>
                <a:spcPts val="0"/>
              </a:spcAft>
              <a:buClr>
                <a:srgbClr val="D34817"/>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距离防护是外部辐射防护的一种有效方法，采用距离防护的射线基本原理是首先将辐射源是作为点源的情况下，</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辐射场中某点的照射量、吸收剂量均与该点和源的距离的平方成反比，</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我们把这种规律称为平方反比定律，即辐射强度随距离的平方成反比变化（在源辐射强度一定的情况下，剂量率或照射量与离源的距离平方成反比）。增加射线源与人体之间的距离便可减少剂量率或照射量，或者说在一定距离以外工作，使人们所受到的射线剂量在最高允许剂量以下，就能保证人身安全。从而达到防护目的。</a:t>
            </a:r>
          </a:p>
          <a:p>
            <a:pPr marL="342900" marR="0" lvl="0" indent="-342900" algn="l" defTabSz="914400" rtl="0" eaLnBrk="1" fontAlgn="auto" latinLnBrk="0" hangingPunct="1">
              <a:lnSpc>
                <a:spcPct val="150000"/>
              </a:lnSpc>
              <a:spcBef>
                <a:spcPts val="580"/>
              </a:spcBef>
              <a:spcAft>
                <a:spcPts val="0"/>
              </a:spcAft>
              <a:buClr>
                <a:srgbClr val="D34817"/>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距离防护的要点</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是尽量增大人体与射线源的距离</a:t>
            </a: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endPar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24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7" name="内容占位符 2"/>
          <p:cNvSpPr>
            <a:spLocks noGrp="1"/>
          </p:cNvSpPr>
          <p:nvPr>
            <p:ph idx="1"/>
          </p:nvPr>
        </p:nvSpPr>
        <p:spPr>
          <a:xfrm>
            <a:off x="24075" y="1848694"/>
            <a:ext cx="11503838" cy="579834"/>
          </a:xfrm>
        </p:spPr>
        <p:txBody>
          <a:bodyPr/>
          <a:lstStyle/>
          <a:p>
            <a:pPr marL="0" indent="0">
              <a:buNone/>
            </a:pPr>
            <a:r>
              <a:rPr lang="zh-CN" altLang="en-US" sz="3200" dirty="0">
                <a:latin typeface="黑体" panose="02010609060101010101" pitchFamily="49" charset="-122"/>
              </a:rPr>
              <a:t>五、实验室辐射及防护</a:t>
            </a:r>
          </a:p>
        </p:txBody>
      </p:sp>
    </p:spTree>
    <p:extLst>
      <p:ext uri="{BB962C8B-B14F-4D97-AF65-F5344CB8AC3E}">
        <p14:creationId xmlns:p14="http://schemas.microsoft.com/office/powerpoint/2010/main" val="896913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54</a:t>
            </a:fld>
            <a:endParaRPr lang="zh-CN" altLang="en-US" dirty="0"/>
          </a:p>
        </p:txBody>
      </p:sp>
      <p:sp>
        <p:nvSpPr>
          <p:cNvPr id="5" name="标题 3"/>
          <p:cNvSpPr>
            <a:spLocks noGrp="1"/>
          </p:cNvSpPr>
          <p:nvPr>
            <p:ph type="title"/>
          </p:nvPr>
        </p:nvSpPr>
        <p:spPr>
          <a:xfrm>
            <a:off x="1476887" y="432594"/>
            <a:ext cx="10051026" cy="962219"/>
          </a:xfrm>
        </p:spPr>
        <p:txBody>
          <a:bodyPr/>
          <a:lstStyle/>
          <a:p>
            <a:pPr defTabSz="914400"/>
            <a:r>
              <a:rPr lang="zh-CN" altLang="en-US" sz="4400" dirty="0"/>
              <a:t>超净实验室安全</a:t>
            </a:r>
          </a:p>
        </p:txBody>
      </p:sp>
      <p:sp>
        <p:nvSpPr>
          <p:cNvPr id="7" name="内容占位符 3">
            <a:extLst>
              <a:ext uri="{FF2B5EF4-FFF2-40B4-BE49-F238E27FC236}">
                <a16:creationId xmlns:a16="http://schemas.microsoft.com/office/drawing/2014/main" id="{FA6CDB0E-3AA5-44BB-8724-C309BCF2674C}"/>
              </a:ext>
            </a:extLst>
          </p:cNvPr>
          <p:cNvSpPr txBox="1">
            <a:spLocks/>
          </p:cNvSpPr>
          <p:nvPr/>
        </p:nvSpPr>
        <p:spPr>
          <a:xfrm>
            <a:off x="741760" y="2356520"/>
            <a:ext cx="11434960" cy="6984776"/>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ts val="580"/>
              </a:spcBef>
              <a:spcAft>
                <a:spcPts val="0"/>
              </a:spcAft>
              <a:buClr>
                <a:srgbClr val="FF0000"/>
              </a:buClr>
              <a:buSzPct val="85000"/>
              <a:buFont typeface="+mj-lt"/>
              <a:buAutoNum type="arabicPeriod" startAt="5"/>
              <a:tabLst/>
              <a:defRPr/>
            </a:pPr>
            <a:r>
              <a:rPr kumimoji="0" lang="zh-CN" altLang="zh-CN" sz="2800" b="1"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屏蔽防护</a:t>
            </a:r>
          </a:p>
          <a:p>
            <a:pPr marL="342900" marR="0" lvl="0" indent="-342900" algn="l" defTabSz="914400" rtl="0" eaLnBrk="1" fontAlgn="auto" latinLnBrk="0" hangingPunct="1">
              <a:lnSpc>
                <a:spcPct val="150000"/>
              </a:lnSpc>
              <a:spcBef>
                <a:spcPts val="580"/>
              </a:spcBef>
              <a:spcAft>
                <a:spcPts val="0"/>
              </a:spcAft>
              <a:buClr>
                <a:srgbClr val="FF0000"/>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屏蔽防护的原理是：</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射线包括穿透物质时强度会减弱</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，一定厚度的屏蔽物质能减弱射线的强度，在辐射源与人体之间设置足够厚的屏蔽物（屏蔽材料），便可降低辐射水平，使人们在工作所受到的剂量降低最高允许剂量以下，确保人身安全，达到防护目的。</a:t>
            </a:r>
          </a:p>
          <a:p>
            <a:pPr marL="342900" marR="0" lvl="0" indent="-342900" algn="l" defTabSz="914400" rtl="0" eaLnBrk="1" fontAlgn="auto" latinLnBrk="0" hangingPunct="1">
              <a:lnSpc>
                <a:spcPct val="150000"/>
              </a:lnSpc>
              <a:spcBef>
                <a:spcPts val="580"/>
              </a:spcBef>
              <a:spcAft>
                <a:spcPts val="0"/>
              </a:spcAft>
              <a:buClr>
                <a:srgbClr val="FF0000"/>
              </a:buClr>
              <a:buSzPct val="85000"/>
              <a:buFont typeface="+mj-ea"/>
              <a:buAutoNum type="circleNumDbPlain"/>
              <a:tabLst/>
              <a:defRPr/>
            </a:pP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屏蔽防护的要点是在</a:t>
            </a:r>
            <a:r>
              <a:rPr kumimoji="0" lang="en-US" altLang="zh-CN" sz="2800" b="0" i="0" u="none" strike="noStrike" kern="1200" cap="none" spc="0" normalizeH="0" baseline="0" noProof="0" dirty="0" err="1">
                <a:ln>
                  <a:noFill/>
                </a:ln>
                <a:solidFill>
                  <a:sysClr val="windowText" lastClr="000000"/>
                </a:solidFill>
                <a:effectLst/>
                <a:uLnTx/>
                <a:uFillTx/>
                <a:latin typeface="仿宋" panose="02010609060101010101" pitchFamily="49" charset="-122"/>
                <a:ea typeface="仿宋" panose="02010609060101010101" pitchFamily="49" charset="-122"/>
              </a:rPr>
              <a:t>射线</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源与人体之间放置一种能有效吸收射线的</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屏蔽材料</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。对于</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X</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射线常用的屏蔽材料是</a:t>
            </a:r>
            <a:r>
              <a:rPr kumimoji="0" lang="zh-CN" altLang="zh-CN" sz="2800" b="0" i="0" u="none" strike="noStrike" kern="1200" cap="none" spc="0" normalizeH="0" baseline="0" noProof="0" dirty="0">
                <a:ln>
                  <a:noFill/>
                </a:ln>
                <a:solidFill>
                  <a:srgbClr val="FF0000"/>
                </a:solidFill>
                <a:effectLst/>
                <a:uLnTx/>
                <a:uFillTx/>
                <a:latin typeface="仿宋" panose="02010609060101010101" pitchFamily="49" charset="-122"/>
                <a:ea typeface="仿宋" panose="02010609060101010101" pitchFamily="49" charset="-122"/>
              </a:rPr>
              <a:t>铅板</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和混凝土墙、钢板，或者是钡水泥（添加有硫酸钡</a:t>
            </a:r>
            <a:r>
              <a:rPr kumimoji="0" lang="en-US"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a:t>
            </a:r>
            <a:r>
              <a:rPr kumimoji="0" lang="zh-CN" altLang="zh-CN" sz="2800" b="0" i="0" u="none" strike="noStrike" kern="1200" cap="none" spc="0" normalizeH="0" baseline="0" noProof="0" dirty="0">
                <a:ln>
                  <a:noFill/>
                </a:ln>
                <a:solidFill>
                  <a:sysClr val="windowText" lastClr="000000"/>
                </a:solidFill>
                <a:effectLst/>
                <a:uLnTx/>
                <a:uFillTx/>
                <a:latin typeface="仿宋" panose="02010609060101010101" pitchFamily="49" charset="-122"/>
                <a:ea typeface="仿宋" panose="02010609060101010101" pitchFamily="49" charset="-122"/>
              </a:rPr>
              <a:t>也称重晶石粉末的水泥）墙。</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endParaRPr kumimoji="0" lang="zh-CN" altLang="en-US" sz="2600" b="0" i="0" u="none" strike="noStrike" kern="1200" cap="none" spc="0" normalizeH="0" baseline="0" noProof="0" dirty="0">
              <a:ln>
                <a:noFill/>
              </a:ln>
              <a:solidFill>
                <a:sysClr val="windowText" lastClr="000000"/>
              </a:solidFill>
              <a:effectLst/>
              <a:uLnTx/>
              <a:uFillTx/>
              <a:latin typeface="Perpetua"/>
              <a:ea typeface="宋体" panose="02010600030101010101" pitchFamily="2" charset="-122"/>
            </a:endParaRPr>
          </a:p>
        </p:txBody>
      </p:sp>
      <p:sp>
        <p:nvSpPr>
          <p:cNvPr id="6" name="内容占位符 2"/>
          <p:cNvSpPr>
            <a:spLocks noGrp="1"/>
          </p:cNvSpPr>
          <p:nvPr>
            <p:ph idx="1"/>
          </p:nvPr>
        </p:nvSpPr>
        <p:spPr>
          <a:xfrm>
            <a:off x="24075" y="1848694"/>
            <a:ext cx="11503838" cy="579834"/>
          </a:xfrm>
        </p:spPr>
        <p:txBody>
          <a:bodyPr/>
          <a:lstStyle/>
          <a:p>
            <a:pPr marL="0" indent="0">
              <a:buNone/>
            </a:pPr>
            <a:r>
              <a:rPr lang="zh-CN" altLang="en-US" sz="3200" dirty="0">
                <a:latin typeface="黑体" panose="02010609060101010101" pitchFamily="49" charset="-122"/>
              </a:rPr>
              <a:t>五、实验室辐射及防护</a:t>
            </a:r>
          </a:p>
        </p:txBody>
      </p:sp>
    </p:spTree>
    <p:extLst>
      <p:ext uri="{BB962C8B-B14F-4D97-AF65-F5344CB8AC3E}">
        <p14:creationId xmlns:p14="http://schemas.microsoft.com/office/powerpoint/2010/main" val="3250735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55</a:t>
            </a:fld>
            <a:endParaRPr lang="zh-CN" altLang="en-US" dirty="0"/>
          </a:p>
        </p:txBody>
      </p:sp>
      <p:sp>
        <p:nvSpPr>
          <p:cNvPr id="6" name="内容占位符 3">
            <a:extLst>
              <a:ext uri="{FF2B5EF4-FFF2-40B4-BE49-F238E27FC236}">
                <a16:creationId xmlns:a16="http://schemas.microsoft.com/office/drawing/2014/main" id="{1E50A188-5C34-48C5-9471-BC56A7CB5742}"/>
              </a:ext>
            </a:extLst>
          </p:cNvPr>
          <p:cNvSpPr txBox="1">
            <a:spLocks/>
          </p:cNvSpPr>
          <p:nvPr/>
        </p:nvSpPr>
        <p:spPr>
          <a:xfrm>
            <a:off x="597744" y="2455587"/>
            <a:ext cx="11521280" cy="6222802"/>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lnSpc>
                <a:spcPct val="150000"/>
              </a:lnSpc>
              <a:spcAft>
                <a:spcPts val="0"/>
              </a:spcAft>
              <a:buClr>
                <a:srgbClr val="FF0000"/>
              </a:buClr>
              <a:buFont typeface="+mj-lt"/>
              <a:buAutoNum type="arabicPeriod"/>
            </a:pPr>
            <a:r>
              <a:rPr lang="zh-CN" altLang="en-US" sz="2800" dirty="0">
                <a:latin typeface="仿宋" panose="02010609060101010101" pitchFamily="49" charset="-122"/>
                <a:ea typeface="仿宋" panose="02010609060101010101" pitchFamily="49" charset="-122"/>
              </a:rPr>
              <a:t>实验室安全标志参考</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安全标志及其使用导则</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，安全标志用意在于传递安全信息的标志，适用于公共场所、工业企业等必要提醒人们注意安全，由图形符号、安全色、几何形状（边框）或文字构成。</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安全色：传递安全信息含义的颜色，包括</a:t>
            </a:r>
            <a:r>
              <a:rPr lang="zh-CN" altLang="en-US" sz="2800" dirty="0">
                <a:solidFill>
                  <a:srgbClr val="FF0000"/>
                </a:solidFill>
                <a:latin typeface="仿宋" panose="02010609060101010101" pitchFamily="49" charset="-122"/>
                <a:ea typeface="仿宋" panose="02010609060101010101" pitchFamily="49" charset="-122"/>
              </a:rPr>
              <a:t>红、蓝、黄、绿</a:t>
            </a:r>
            <a:r>
              <a:rPr lang="zh-CN" altLang="en-US" sz="2800" dirty="0">
                <a:latin typeface="仿宋" panose="02010609060101010101" pitchFamily="49" charset="-122"/>
                <a:ea typeface="仿宋" panose="02010609060101010101" pitchFamily="49" charset="-122"/>
              </a:rPr>
              <a:t>四种颜色。</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红色：表示禁止、停止、危险等意思；</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蓝色：表示指令，要求人们必须遵守的规定；</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黄色：表示提醒人们的注意，凡是警告人们注意的器件、设备及环境以黄色表示；</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绿色：表示给人们提供允许、安全的信息。</a:t>
            </a:r>
            <a:endParaRPr lang="en-US" altLang="zh-CN" sz="2800" dirty="0">
              <a:latin typeface="仿宋" panose="02010609060101010101" pitchFamily="49" charset="-122"/>
              <a:ea typeface="仿宋" panose="02010609060101010101" pitchFamily="49" charset="-122"/>
            </a:endParaRPr>
          </a:p>
        </p:txBody>
      </p:sp>
      <p:sp>
        <p:nvSpPr>
          <p:cNvPr id="7" name="内容占位符 2"/>
          <p:cNvSpPr>
            <a:spLocks noGrp="1"/>
          </p:cNvSpPr>
          <p:nvPr>
            <p:ph idx="1"/>
          </p:nvPr>
        </p:nvSpPr>
        <p:spPr>
          <a:xfrm>
            <a:off x="34063" y="1875753"/>
            <a:ext cx="4020065" cy="579834"/>
          </a:xfrm>
        </p:spPr>
        <p:txBody>
          <a:bodyPr/>
          <a:lstStyle/>
          <a:p>
            <a:pPr marL="0" indent="0">
              <a:buNone/>
            </a:pPr>
            <a:r>
              <a:rPr lang="zh-CN" altLang="en-US" sz="3200" dirty="0">
                <a:latin typeface="黑体" panose="02010609060101010101" pitchFamily="49" charset="-122"/>
              </a:rPr>
              <a:t>六、</a:t>
            </a:r>
            <a:r>
              <a:rPr lang="zh-CN" altLang="en-US" sz="3200" dirty="0"/>
              <a:t>实验室安全标志</a:t>
            </a:r>
            <a:endParaRPr lang="zh-CN" altLang="en-US" sz="3200" dirty="0">
              <a:latin typeface="黑体" panose="02010609060101010101" pitchFamily="49" charset="-122"/>
            </a:endParaRPr>
          </a:p>
        </p:txBody>
      </p:sp>
      <p:sp>
        <p:nvSpPr>
          <p:cNvPr id="8" name="标题 3"/>
          <p:cNvSpPr>
            <a:spLocks noGrp="1"/>
          </p:cNvSpPr>
          <p:nvPr>
            <p:ph type="title"/>
          </p:nvPr>
        </p:nvSpPr>
        <p:spPr>
          <a:xfrm>
            <a:off x="1476887" y="432594"/>
            <a:ext cx="10051026" cy="962219"/>
          </a:xfrm>
        </p:spPr>
        <p:txBody>
          <a:bodyPr/>
          <a:lstStyle/>
          <a:p>
            <a:pPr defTabSz="914400"/>
            <a:r>
              <a:rPr lang="zh-CN" altLang="en-US" sz="4400" dirty="0"/>
              <a:t>超净实验室安全</a:t>
            </a:r>
          </a:p>
        </p:txBody>
      </p:sp>
    </p:spTree>
    <p:extLst>
      <p:ext uri="{BB962C8B-B14F-4D97-AF65-F5344CB8AC3E}">
        <p14:creationId xmlns:p14="http://schemas.microsoft.com/office/powerpoint/2010/main" val="33891426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56</a:t>
            </a:fld>
            <a:endParaRPr lang="zh-CN" altLang="en-US" dirty="0"/>
          </a:p>
        </p:txBody>
      </p:sp>
      <p:sp>
        <p:nvSpPr>
          <p:cNvPr id="4" name="标题 3"/>
          <p:cNvSpPr>
            <a:spLocks noGrp="1"/>
          </p:cNvSpPr>
          <p:nvPr>
            <p:ph type="title"/>
          </p:nvPr>
        </p:nvSpPr>
        <p:spPr/>
        <p:txBody>
          <a:bodyPr/>
          <a:lstStyle/>
          <a:p>
            <a:pPr defTabSz="914400"/>
            <a:r>
              <a:rPr lang="zh-CN" altLang="en-US" sz="4800" dirty="0"/>
              <a:t>超净实验室安全</a:t>
            </a:r>
          </a:p>
        </p:txBody>
      </p:sp>
      <p:sp>
        <p:nvSpPr>
          <p:cNvPr id="6" name="内容占位符 3">
            <a:extLst>
              <a:ext uri="{FF2B5EF4-FFF2-40B4-BE49-F238E27FC236}">
                <a16:creationId xmlns:a16="http://schemas.microsoft.com/office/drawing/2014/main" id="{FF460E79-6CA9-49D9-A64D-828921C0637E}"/>
              </a:ext>
            </a:extLst>
          </p:cNvPr>
          <p:cNvSpPr txBox="1">
            <a:spLocks/>
          </p:cNvSpPr>
          <p:nvPr/>
        </p:nvSpPr>
        <p:spPr>
          <a:xfrm>
            <a:off x="705756" y="2455587"/>
            <a:ext cx="4212468" cy="837037"/>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defTabSz="914400" fontAlgn="auto">
              <a:lnSpc>
                <a:spcPct val="150000"/>
              </a:lnSpc>
              <a:spcAft>
                <a:spcPts val="0"/>
              </a:spcAft>
              <a:buClr>
                <a:srgbClr val="FF0000"/>
              </a:buClr>
              <a:buFont typeface="+mj-lt"/>
              <a:buAutoNum type="arabicPeriod" startAt="2"/>
            </a:pPr>
            <a:r>
              <a:rPr lang="zh-CN" altLang="en-US" sz="2800" dirty="0">
                <a:latin typeface="仿宋" panose="02010609060101010101" pitchFamily="49" charset="-122"/>
                <a:ea typeface="仿宋" panose="02010609060101010101" pitchFamily="49" charset="-122"/>
              </a:rPr>
              <a:t>常见安全标志分类例举：</a:t>
            </a:r>
            <a:endParaRPr lang="en-US" altLang="zh-CN" sz="2800" dirty="0">
              <a:latin typeface="仿宋" panose="02010609060101010101" pitchFamily="49" charset="-122"/>
              <a:ea typeface="仿宋" panose="02010609060101010101" pitchFamily="49" charset="-122"/>
            </a:endParaRPr>
          </a:p>
        </p:txBody>
      </p:sp>
      <p:sp>
        <p:nvSpPr>
          <p:cNvPr id="5" name="内容占位符 2"/>
          <p:cNvSpPr>
            <a:spLocks noGrp="1"/>
          </p:cNvSpPr>
          <p:nvPr>
            <p:ph idx="1"/>
          </p:nvPr>
        </p:nvSpPr>
        <p:spPr>
          <a:xfrm>
            <a:off x="34063" y="1875753"/>
            <a:ext cx="4020065" cy="579834"/>
          </a:xfrm>
        </p:spPr>
        <p:txBody>
          <a:bodyPr/>
          <a:lstStyle/>
          <a:p>
            <a:pPr marL="0" indent="0">
              <a:buNone/>
            </a:pPr>
            <a:r>
              <a:rPr lang="zh-CN" altLang="en-US" sz="3200" dirty="0">
                <a:latin typeface="黑体" panose="02010609060101010101" pitchFamily="49" charset="-122"/>
              </a:rPr>
              <a:t>六、</a:t>
            </a:r>
            <a:r>
              <a:rPr lang="zh-CN" altLang="en-US" sz="3200" dirty="0"/>
              <a:t>实验室安全标志</a:t>
            </a:r>
            <a:endParaRPr lang="zh-CN" altLang="en-US" sz="3200" dirty="0">
              <a:latin typeface="黑体" panose="02010609060101010101" pitchFamily="49" charset="-122"/>
            </a:endParaRPr>
          </a:p>
        </p:txBody>
      </p:sp>
      <p:grpSp>
        <p:nvGrpSpPr>
          <p:cNvPr id="27" name="组合 26"/>
          <p:cNvGrpSpPr/>
          <p:nvPr/>
        </p:nvGrpSpPr>
        <p:grpSpPr>
          <a:xfrm>
            <a:off x="2608252" y="3171126"/>
            <a:ext cx="2877711" cy="2853023"/>
            <a:chOff x="2758378" y="3543947"/>
            <a:chExt cx="2877711" cy="2853023"/>
          </a:xfrm>
        </p:grpSpPr>
        <p:grpSp>
          <p:nvGrpSpPr>
            <p:cNvPr id="13" name="组合 12"/>
            <p:cNvGrpSpPr/>
            <p:nvPr/>
          </p:nvGrpSpPr>
          <p:grpSpPr>
            <a:xfrm>
              <a:off x="2758378" y="4452753"/>
              <a:ext cx="2591500" cy="1944217"/>
              <a:chOff x="525736" y="5308847"/>
              <a:chExt cx="2591500" cy="1944217"/>
            </a:xfrm>
          </p:grpSpPr>
          <p:pic>
            <p:nvPicPr>
              <p:cNvPr id="3" name="图片 2"/>
              <p:cNvPicPr>
                <a:picLocks noChangeAspect="1"/>
              </p:cNvPicPr>
              <p:nvPr/>
            </p:nvPicPr>
            <p:blipFill>
              <a:blip r:embed="rId2"/>
              <a:stretch>
                <a:fillRect/>
              </a:stretch>
            </p:blipFill>
            <p:spPr>
              <a:xfrm>
                <a:off x="525736" y="5308847"/>
                <a:ext cx="1323374" cy="1944216"/>
              </a:xfrm>
              <a:prstGeom prst="rect">
                <a:avLst/>
              </a:prstGeom>
            </p:spPr>
          </p:pic>
          <p:pic>
            <p:nvPicPr>
              <p:cNvPr id="7" name="图片 6"/>
              <p:cNvPicPr>
                <a:picLocks noChangeAspect="1"/>
              </p:cNvPicPr>
              <p:nvPr/>
            </p:nvPicPr>
            <p:blipFill>
              <a:blip r:embed="rId3"/>
              <a:stretch>
                <a:fillRect/>
              </a:stretch>
            </p:blipFill>
            <p:spPr>
              <a:xfrm>
                <a:off x="1810200" y="5308848"/>
                <a:ext cx="1307036" cy="1944216"/>
              </a:xfrm>
              <a:prstGeom prst="rect">
                <a:avLst/>
              </a:prstGeom>
            </p:spPr>
          </p:pic>
        </p:grpSp>
        <p:sp>
          <p:nvSpPr>
            <p:cNvPr id="8" name="矩形 7"/>
            <p:cNvSpPr/>
            <p:nvPr/>
          </p:nvSpPr>
          <p:spPr>
            <a:xfrm>
              <a:off x="2758378" y="3543947"/>
              <a:ext cx="2877711" cy="954107"/>
            </a:xfrm>
            <a:prstGeom prst="rect">
              <a:avLst/>
            </a:prstGeom>
          </p:spPr>
          <p:txBody>
            <a:bodyPr wrap="none">
              <a:spAutoFit/>
            </a:bodyPr>
            <a:lstStyle/>
            <a:p>
              <a:r>
                <a:rPr lang="zh-CN" altLang="en-US" sz="2800" b="1" dirty="0">
                  <a:solidFill>
                    <a:schemeClr val="tx1"/>
                  </a:solidFill>
                  <a:latin typeface="仿宋" panose="02010609060101010101" pitchFamily="49" charset="-122"/>
                  <a:ea typeface="仿宋" panose="02010609060101010101" pitchFamily="49" charset="-122"/>
                </a:rPr>
                <a:t>禁止标志</a:t>
              </a:r>
              <a:r>
                <a:rPr lang="zh-CN" altLang="en-US" sz="2800" dirty="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r>
                <a:rPr lang="zh-CN" altLang="en-US" sz="2800" dirty="0">
                  <a:solidFill>
                    <a:schemeClr val="tx1"/>
                  </a:solidFill>
                  <a:latin typeface="仿宋" panose="02010609060101010101" pitchFamily="49" charset="-122"/>
                  <a:ea typeface="仿宋" panose="02010609060101010101" pitchFamily="49" charset="-122"/>
                </a:rPr>
                <a:t>带斜杠的圆边框</a:t>
              </a:r>
              <a:r>
                <a:rPr lang="en-US" altLang="zh-CN" sz="2800" dirty="0">
                  <a:solidFill>
                    <a:schemeClr val="tx1"/>
                  </a:solidFill>
                  <a:latin typeface="仿宋" panose="02010609060101010101" pitchFamily="49" charset="-122"/>
                  <a:ea typeface="仿宋" panose="02010609060101010101" pitchFamily="49" charset="-122"/>
                </a:rPr>
                <a:t> </a:t>
              </a:r>
              <a:endParaRPr lang="zh-CN" altLang="en-US" sz="2800" dirty="0">
                <a:solidFill>
                  <a:schemeClr val="tx1"/>
                </a:solidFill>
                <a:latin typeface="仿宋" panose="02010609060101010101" pitchFamily="49" charset="-122"/>
                <a:ea typeface="仿宋" panose="02010609060101010101" pitchFamily="49" charset="-122"/>
              </a:endParaRPr>
            </a:p>
          </p:txBody>
        </p:sp>
      </p:grpSp>
      <p:grpSp>
        <p:nvGrpSpPr>
          <p:cNvPr id="28" name="组合 27"/>
          <p:cNvGrpSpPr/>
          <p:nvPr/>
        </p:nvGrpSpPr>
        <p:grpSpPr>
          <a:xfrm>
            <a:off x="6940171" y="3292624"/>
            <a:ext cx="3717952" cy="2873944"/>
            <a:chOff x="6825015" y="3598193"/>
            <a:chExt cx="3717952" cy="2873944"/>
          </a:xfrm>
        </p:grpSpPr>
        <p:grpSp>
          <p:nvGrpSpPr>
            <p:cNvPr id="14" name="组合 13"/>
            <p:cNvGrpSpPr/>
            <p:nvPr/>
          </p:nvGrpSpPr>
          <p:grpSpPr>
            <a:xfrm>
              <a:off x="6825015" y="4527920"/>
              <a:ext cx="3717952" cy="1944217"/>
              <a:chOff x="3444966" y="5308847"/>
              <a:chExt cx="3717952" cy="1944217"/>
            </a:xfrm>
          </p:grpSpPr>
          <p:pic>
            <p:nvPicPr>
              <p:cNvPr id="9" name="图片 8"/>
              <p:cNvPicPr>
                <a:picLocks noChangeAspect="1"/>
              </p:cNvPicPr>
              <p:nvPr/>
            </p:nvPicPr>
            <p:blipFill>
              <a:blip r:embed="rId4"/>
              <a:stretch>
                <a:fillRect/>
              </a:stretch>
            </p:blipFill>
            <p:spPr>
              <a:xfrm>
                <a:off x="3444966" y="5308849"/>
                <a:ext cx="1270628" cy="1944215"/>
              </a:xfrm>
              <a:prstGeom prst="rect">
                <a:avLst/>
              </a:prstGeom>
            </p:spPr>
          </p:pic>
          <p:pic>
            <p:nvPicPr>
              <p:cNvPr id="10" name="图片 9"/>
              <p:cNvPicPr>
                <a:picLocks noChangeAspect="1"/>
              </p:cNvPicPr>
              <p:nvPr/>
            </p:nvPicPr>
            <p:blipFill>
              <a:blip r:embed="rId5"/>
              <a:stretch>
                <a:fillRect/>
              </a:stretch>
            </p:blipFill>
            <p:spPr>
              <a:xfrm>
                <a:off x="4681006" y="5308848"/>
                <a:ext cx="1255639" cy="1944215"/>
              </a:xfrm>
              <a:prstGeom prst="rect">
                <a:avLst/>
              </a:prstGeom>
            </p:spPr>
          </p:pic>
          <p:pic>
            <p:nvPicPr>
              <p:cNvPr id="11" name="图片 10"/>
              <p:cNvPicPr>
                <a:picLocks noChangeAspect="1"/>
              </p:cNvPicPr>
              <p:nvPr/>
            </p:nvPicPr>
            <p:blipFill>
              <a:blip r:embed="rId6"/>
              <a:stretch>
                <a:fillRect/>
              </a:stretch>
            </p:blipFill>
            <p:spPr>
              <a:xfrm>
                <a:off x="5887026" y="5308847"/>
                <a:ext cx="1275892" cy="1944216"/>
              </a:xfrm>
              <a:prstGeom prst="rect">
                <a:avLst/>
              </a:prstGeom>
            </p:spPr>
          </p:pic>
        </p:grpSp>
        <p:sp>
          <p:nvSpPr>
            <p:cNvPr id="18" name="矩形 17"/>
            <p:cNvSpPr/>
            <p:nvPr/>
          </p:nvSpPr>
          <p:spPr>
            <a:xfrm>
              <a:off x="7541642" y="3598193"/>
              <a:ext cx="2518638" cy="954107"/>
            </a:xfrm>
            <a:prstGeom prst="rect">
              <a:avLst/>
            </a:prstGeom>
          </p:spPr>
          <p:txBody>
            <a:bodyPr wrap="none">
              <a:spAutoFit/>
            </a:bodyPr>
            <a:lstStyle/>
            <a:p>
              <a:r>
                <a:rPr lang="zh-CN" altLang="en-US" sz="2800" b="1" dirty="0">
                  <a:solidFill>
                    <a:schemeClr val="tx1"/>
                  </a:solidFill>
                  <a:latin typeface="仿宋" panose="02010609060101010101" pitchFamily="49" charset="-122"/>
                  <a:ea typeface="仿宋" panose="02010609060101010101" pitchFamily="49" charset="-122"/>
                </a:rPr>
                <a:t>警告标志</a:t>
              </a:r>
              <a:r>
                <a:rPr lang="zh-CN" altLang="en-US" sz="2800" dirty="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r>
                <a:rPr lang="zh-CN" altLang="en-US" sz="2800" dirty="0">
                  <a:solidFill>
                    <a:schemeClr val="tx1"/>
                  </a:solidFill>
                  <a:latin typeface="仿宋" panose="02010609060101010101" pitchFamily="49" charset="-122"/>
                  <a:ea typeface="仿宋" panose="02010609060101010101" pitchFamily="49" charset="-122"/>
                </a:rPr>
                <a:t>正三角形边框 </a:t>
              </a:r>
            </a:p>
          </p:txBody>
        </p:sp>
      </p:grpSp>
      <p:grpSp>
        <p:nvGrpSpPr>
          <p:cNvPr id="29" name="组合 28"/>
          <p:cNvGrpSpPr/>
          <p:nvPr/>
        </p:nvGrpSpPr>
        <p:grpSpPr>
          <a:xfrm>
            <a:off x="2637144" y="6660827"/>
            <a:ext cx="2661716" cy="2924880"/>
            <a:chOff x="2730589" y="6828720"/>
            <a:chExt cx="2661716" cy="2924880"/>
          </a:xfrm>
        </p:grpSpPr>
        <p:pic>
          <p:nvPicPr>
            <p:cNvPr id="21" name="图片 20"/>
            <p:cNvPicPr>
              <a:picLocks noChangeAspect="1"/>
            </p:cNvPicPr>
            <p:nvPr/>
          </p:nvPicPr>
          <p:blipFill>
            <a:blip r:embed="rId7"/>
            <a:stretch>
              <a:fillRect/>
            </a:stretch>
          </p:blipFill>
          <p:spPr>
            <a:xfrm>
              <a:off x="2730589" y="7790039"/>
              <a:ext cx="2661716" cy="1963561"/>
            </a:xfrm>
            <a:prstGeom prst="rect">
              <a:avLst/>
            </a:prstGeom>
          </p:spPr>
        </p:pic>
        <p:sp>
          <p:nvSpPr>
            <p:cNvPr id="25" name="矩形 24"/>
            <p:cNvSpPr/>
            <p:nvPr/>
          </p:nvSpPr>
          <p:spPr>
            <a:xfrm>
              <a:off x="3057092" y="6828720"/>
              <a:ext cx="1980029" cy="954107"/>
            </a:xfrm>
            <a:prstGeom prst="rect">
              <a:avLst/>
            </a:prstGeom>
          </p:spPr>
          <p:txBody>
            <a:bodyPr wrap="none">
              <a:spAutoFit/>
            </a:bodyPr>
            <a:lstStyle/>
            <a:p>
              <a:r>
                <a:rPr lang="zh-CN" altLang="en-US" sz="2800" b="1" dirty="0">
                  <a:solidFill>
                    <a:schemeClr val="tx1"/>
                  </a:solidFill>
                  <a:latin typeface="仿宋" panose="02010609060101010101" pitchFamily="49" charset="-122"/>
                  <a:ea typeface="仿宋" panose="02010609060101010101" pitchFamily="49" charset="-122"/>
                </a:rPr>
                <a:t>指令标志</a:t>
              </a:r>
              <a:r>
                <a:rPr lang="zh-CN" altLang="en-US" sz="2800" dirty="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r>
                <a:rPr lang="zh-CN" altLang="en-US" sz="2800" dirty="0">
                  <a:solidFill>
                    <a:schemeClr val="tx1"/>
                  </a:solidFill>
                  <a:latin typeface="仿宋" panose="02010609060101010101" pitchFamily="49" charset="-122"/>
                  <a:ea typeface="仿宋" panose="02010609060101010101" pitchFamily="49" charset="-122"/>
                </a:rPr>
                <a:t>圆形边框 </a:t>
              </a:r>
            </a:p>
          </p:txBody>
        </p:sp>
      </p:grpSp>
      <p:grpSp>
        <p:nvGrpSpPr>
          <p:cNvPr id="30" name="组合 29"/>
          <p:cNvGrpSpPr/>
          <p:nvPr/>
        </p:nvGrpSpPr>
        <p:grpSpPr>
          <a:xfrm>
            <a:off x="7660039" y="6660827"/>
            <a:ext cx="2727054" cy="2917670"/>
            <a:chOff x="7931069" y="6755680"/>
            <a:chExt cx="2727054" cy="2917670"/>
          </a:xfrm>
        </p:grpSpPr>
        <p:grpSp>
          <p:nvGrpSpPr>
            <p:cNvPr id="22" name="组合 21"/>
            <p:cNvGrpSpPr/>
            <p:nvPr/>
          </p:nvGrpSpPr>
          <p:grpSpPr>
            <a:xfrm>
              <a:off x="7931069" y="7709788"/>
              <a:ext cx="2727054" cy="1963562"/>
              <a:chOff x="10200075" y="5289500"/>
              <a:chExt cx="2727054" cy="1963562"/>
            </a:xfrm>
          </p:grpSpPr>
          <p:pic>
            <p:nvPicPr>
              <p:cNvPr id="23" name="内容占位符 6">
                <a:extLst>
                  <a:ext uri="{FF2B5EF4-FFF2-40B4-BE49-F238E27FC236}">
                    <a16:creationId xmlns:a16="http://schemas.microsoft.com/office/drawing/2014/main" id="{A37E8FE0-CDEE-452B-ABDD-4837940F6DF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00075" y="5308847"/>
                <a:ext cx="1401951" cy="1944215"/>
              </a:xfrm>
              <a:prstGeom prst="rect">
                <a:avLst/>
              </a:prstGeom>
            </p:spPr>
          </p:pic>
          <p:pic>
            <p:nvPicPr>
              <p:cNvPr id="24" name="图片 23">
                <a:extLst>
                  <a:ext uri="{FF2B5EF4-FFF2-40B4-BE49-F238E27FC236}">
                    <a16:creationId xmlns:a16="http://schemas.microsoft.com/office/drawing/2014/main" id="{C2A2C958-99D6-4CFB-B350-6D1ECBEEA45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602026" y="5289500"/>
                <a:ext cx="1325103" cy="1963561"/>
              </a:xfrm>
              <a:prstGeom prst="rect">
                <a:avLst/>
              </a:prstGeom>
            </p:spPr>
          </p:pic>
        </p:grpSp>
        <p:sp>
          <p:nvSpPr>
            <p:cNvPr id="26" name="矩形 25"/>
            <p:cNvSpPr/>
            <p:nvPr/>
          </p:nvSpPr>
          <p:spPr>
            <a:xfrm>
              <a:off x="8176211" y="6755680"/>
              <a:ext cx="1980029" cy="954107"/>
            </a:xfrm>
            <a:prstGeom prst="rect">
              <a:avLst/>
            </a:prstGeom>
          </p:spPr>
          <p:txBody>
            <a:bodyPr wrap="none">
              <a:spAutoFit/>
            </a:bodyPr>
            <a:lstStyle/>
            <a:p>
              <a:r>
                <a:rPr lang="zh-CN" altLang="en-US" sz="2800" b="1" dirty="0">
                  <a:solidFill>
                    <a:schemeClr val="tx1"/>
                  </a:solidFill>
                  <a:latin typeface="仿宋" panose="02010609060101010101" pitchFamily="49" charset="-122"/>
                  <a:ea typeface="仿宋" panose="02010609060101010101" pitchFamily="49" charset="-122"/>
                </a:rPr>
                <a:t>提示标志</a:t>
              </a:r>
              <a:r>
                <a:rPr lang="zh-CN" altLang="en-US" sz="2800" dirty="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r>
                <a:rPr lang="zh-CN" altLang="en-US" sz="2800" dirty="0">
                  <a:solidFill>
                    <a:schemeClr val="tx1"/>
                  </a:solidFill>
                  <a:latin typeface="仿宋" panose="02010609060101010101" pitchFamily="49" charset="-122"/>
                  <a:ea typeface="仿宋" panose="02010609060101010101" pitchFamily="49" charset="-122"/>
                </a:rPr>
                <a:t>正方形边框</a:t>
              </a:r>
            </a:p>
          </p:txBody>
        </p:sp>
      </p:grpSp>
    </p:spTree>
    <p:extLst>
      <p:ext uri="{BB962C8B-B14F-4D97-AF65-F5344CB8AC3E}">
        <p14:creationId xmlns:p14="http://schemas.microsoft.com/office/powerpoint/2010/main" val="28157752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57</a:t>
            </a:fld>
            <a:endParaRPr lang="zh-CN" altLang="en-US" dirty="0"/>
          </a:p>
        </p:txBody>
      </p:sp>
      <p:sp>
        <p:nvSpPr>
          <p:cNvPr id="4" name="标题 3"/>
          <p:cNvSpPr>
            <a:spLocks noGrp="1"/>
          </p:cNvSpPr>
          <p:nvPr>
            <p:ph type="title"/>
          </p:nvPr>
        </p:nvSpPr>
        <p:spPr/>
        <p:txBody>
          <a:bodyPr/>
          <a:lstStyle/>
          <a:p>
            <a:pPr defTabSz="914400"/>
            <a:r>
              <a:rPr lang="zh-CN" altLang="en-US" sz="4400" dirty="0"/>
              <a:t>超净实验室安全</a:t>
            </a:r>
          </a:p>
        </p:txBody>
      </p:sp>
      <p:sp>
        <p:nvSpPr>
          <p:cNvPr id="6" name="内容占位符 3">
            <a:extLst>
              <a:ext uri="{FF2B5EF4-FFF2-40B4-BE49-F238E27FC236}">
                <a16:creationId xmlns:a16="http://schemas.microsoft.com/office/drawing/2014/main" id="{09461257-A233-457D-AB6A-9AF200065EF2}"/>
              </a:ext>
            </a:extLst>
          </p:cNvPr>
          <p:cNvSpPr txBox="1">
            <a:spLocks/>
          </p:cNvSpPr>
          <p:nvPr/>
        </p:nvSpPr>
        <p:spPr>
          <a:xfrm>
            <a:off x="1690823" y="2447691"/>
            <a:ext cx="7691897" cy="6878371"/>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defTabSz="914400" fontAlgn="auto">
              <a:lnSpc>
                <a:spcPct val="150000"/>
              </a:lnSpc>
              <a:spcAft>
                <a:spcPts val="0"/>
              </a:spcAft>
              <a:buNone/>
            </a:pPr>
            <a:r>
              <a:rPr lang="zh-CN" altLang="en-US" sz="2800" dirty="0">
                <a:latin typeface="仿宋" panose="02010609060101010101" pitchFamily="49" charset="-122"/>
                <a:ea typeface="仿宋" panose="02010609060101010101" pitchFamily="49" charset="-122"/>
              </a:rPr>
              <a:t>了解并牢记各类报警电话：</a:t>
            </a:r>
            <a:endParaRPr lang="en-US" altLang="zh-CN" sz="2800" dirty="0">
              <a:latin typeface="仿宋" panose="02010609060101010101" pitchFamily="49" charset="-122"/>
              <a:ea typeface="仿宋" panose="02010609060101010101" pitchFamily="49" charset="-122"/>
            </a:endParaRP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保卫部报警电话：</a:t>
            </a:r>
            <a:r>
              <a:rPr lang="en-US" altLang="zh-CN" sz="2800" dirty="0">
                <a:solidFill>
                  <a:srgbClr val="FF0000"/>
                </a:solidFill>
                <a:latin typeface="仿宋" panose="02010609060101010101" pitchFamily="49" charset="-122"/>
                <a:ea typeface="仿宋" panose="02010609060101010101" pitchFamily="49" charset="-122"/>
              </a:rPr>
              <a:t>62782001</a:t>
            </a:r>
            <a:r>
              <a:rPr lang="zh-CN" altLang="en-US" sz="2800" dirty="0">
                <a:solidFill>
                  <a:srgbClr val="FF0000"/>
                </a:solidFill>
                <a:latin typeface="仿宋" panose="02010609060101010101" pitchFamily="49" charset="-122"/>
                <a:ea typeface="仿宋" panose="02010609060101010101" pitchFamily="49" charset="-122"/>
              </a:rPr>
              <a:t>、</a:t>
            </a:r>
            <a:r>
              <a:rPr lang="en-US" altLang="zh-CN" sz="2800" dirty="0">
                <a:solidFill>
                  <a:srgbClr val="FF0000"/>
                </a:solidFill>
                <a:latin typeface="仿宋" panose="02010609060101010101" pitchFamily="49" charset="-122"/>
                <a:ea typeface="仿宋" panose="02010609060101010101" pitchFamily="49" charset="-122"/>
              </a:rPr>
              <a:t>62783779</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校医院急诊：</a:t>
            </a:r>
            <a:r>
              <a:rPr lang="en-US" altLang="zh-CN" sz="2800" dirty="0">
                <a:solidFill>
                  <a:srgbClr val="FF0000"/>
                </a:solidFill>
                <a:latin typeface="仿宋" panose="02010609060101010101" pitchFamily="49" charset="-122"/>
                <a:ea typeface="仿宋" panose="02010609060101010101" pitchFamily="49" charset="-122"/>
              </a:rPr>
              <a:t>62799120</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校园查号：</a:t>
            </a:r>
            <a:r>
              <a:rPr lang="en-US" altLang="zh-CN" sz="2800" dirty="0">
                <a:latin typeface="仿宋" panose="02010609060101010101" pitchFamily="49" charset="-122"/>
                <a:ea typeface="仿宋" panose="02010609060101010101" pitchFamily="49" charset="-122"/>
              </a:rPr>
              <a:t>62793001</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北京市红十字会急救中心：</a:t>
            </a:r>
            <a:r>
              <a:rPr lang="en-US" altLang="zh-CN" sz="2800" dirty="0">
                <a:latin typeface="仿宋" panose="02010609060101010101" pitchFamily="49" charset="-122"/>
                <a:ea typeface="仿宋" panose="02010609060101010101" pitchFamily="49" charset="-122"/>
              </a:rPr>
              <a:t>999</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匪警：</a:t>
            </a:r>
            <a:r>
              <a:rPr lang="en-US" altLang="zh-CN" sz="2800" dirty="0">
                <a:latin typeface="仿宋" panose="02010609060101010101" pitchFamily="49" charset="-122"/>
                <a:ea typeface="仿宋" panose="02010609060101010101" pitchFamily="49" charset="-122"/>
              </a:rPr>
              <a:t>110</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火警：</a:t>
            </a:r>
            <a:r>
              <a:rPr lang="en-US" altLang="zh-CN" sz="2800" dirty="0">
                <a:latin typeface="仿宋" panose="02010609060101010101" pitchFamily="49" charset="-122"/>
                <a:ea typeface="仿宋" panose="02010609060101010101" pitchFamily="49" charset="-122"/>
              </a:rPr>
              <a:t>119</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交通事故：</a:t>
            </a:r>
            <a:r>
              <a:rPr lang="en-US" altLang="zh-CN" sz="2800" dirty="0">
                <a:latin typeface="仿宋" panose="02010609060101010101" pitchFamily="49" charset="-122"/>
                <a:ea typeface="仿宋" panose="02010609060101010101" pitchFamily="49" charset="-122"/>
              </a:rPr>
              <a:t>122</a:t>
            </a:r>
          </a:p>
          <a:p>
            <a:pPr marL="342900" indent="-342900" defTabSz="914400" fontAlgn="auto">
              <a:lnSpc>
                <a:spcPct val="150000"/>
              </a:lnSpc>
              <a:spcAft>
                <a:spcPts val="0"/>
              </a:spcAft>
              <a:buClr>
                <a:srgbClr val="FF0000"/>
              </a:buClr>
              <a:buFont typeface="+mj-ea"/>
              <a:buAutoNum type="circleNumDbPlain"/>
            </a:pPr>
            <a:r>
              <a:rPr lang="zh-CN" altLang="en-US" sz="2800" dirty="0">
                <a:latin typeface="仿宋" panose="02010609060101010101" pitchFamily="49" charset="-122"/>
                <a:ea typeface="仿宋" panose="02010609060101010101" pitchFamily="49" charset="-122"/>
              </a:rPr>
              <a:t>急救中心：</a:t>
            </a:r>
            <a:r>
              <a:rPr lang="en-US" altLang="zh-CN" sz="2800" dirty="0">
                <a:latin typeface="仿宋" panose="02010609060101010101" pitchFamily="49" charset="-122"/>
                <a:ea typeface="仿宋" panose="02010609060101010101" pitchFamily="49" charset="-122"/>
              </a:rPr>
              <a:t>120</a:t>
            </a:r>
            <a:endParaRPr lang="zh-CN" altLang="en-US" sz="2800" dirty="0">
              <a:latin typeface="仿宋" panose="02010609060101010101" pitchFamily="49" charset="-122"/>
              <a:ea typeface="仿宋" panose="02010609060101010101" pitchFamily="49" charset="-122"/>
            </a:endParaRPr>
          </a:p>
        </p:txBody>
      </p:sp>
      <p:sp>
        <p:nvSpPr>
          <p:cNvPr id="7" name="内容占位符 2"/>
          <p:cNvSpPr>
            <a:spLocks noGrp="1"/>
          </p:cNvSpPr>
          <p:nvPr>
            <p:ph idx="1"/>
          </p:nvPr>
        </p:nvSpPr>
        <p:spPr>
          <a:xfrm>
            <a:off x="34063" y="1875753"/>
            <a:ext cx="4020065" cy="579834"/>
          </a:xfrm>
        </p:spPr>
        <p:txBody>
          <a:bodyPr/>
          <a:lstStyle/>
          <a:p>
            <a:pPr marL="0" indent="0">
              <a:buNone/>
            </a:pPr>
            <a:r>
              <a:rPr lang="zh-CN" altLang="en-US" sz="3200" dirty="0">
                <a:latin typeface="黑体" panose="02010609060101010101" pitchFamily="49" charset="-122"/>
              </a:rPr>
              <a:t>七、应急电话</a:t>
            </a:r>
          </a:p>
        </p:txBody>
      </p:sp>
    </p:spTree>
    <p:extLst>
      <p:ext uri="{BB962C8B-B14F-4D97-AF65-F5344CB8AC3E}">
        <p14:creationId xmlns:p14="http://schemas.microsoft.com/office/powerpoint/2010/main" val="34004153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58</a:t>
            </a:fld>
            <a:endParaRPr lang="zh-CN" altLang="en-US" dirty="0"/>
          </a:p>
        </p:txBody>
      </p:sp>
      <p:sp>
        <p:nvSpPr>
          <p:cNvPr id="4" name="标题 3"/>
          <p:cNvSpPr>
            <a:spLocks noGrp="1"/>
          </p:cNvSpPr>
          <p:nvPr>
            <p:ph type="title"/>
          </p:nvPr>
        </p:nvSpPr>
        <p:spPr>
          <a:xfrm>
            <a:off x="2541960" y="340296"/>
            <a:ext cx="8270803" cy="962219"/>
          </a:xfrm>
        </p:spPr>
        <p:txBody>
          <a:bodyPr/>
          <a:lstStyle/>
          <a:p>
            <a:r>
              <a:rPr lang="zh-CN" altLang="en-US" dirty="0"/>
              <a:t>微纳加工平台超净实验室的申请与安全使用培训</a:t>
            </a:r>
          </a:p>
        </p:txBody>
      </p:sp>
      <p:sp>
        <p:nvSpPr>
          <p:cNvPr id="7" name="内容占位符 1">
            <a:extLst>
              <a:ext uri="{FF2B5EF4-FFF2-40B4-BE49-F238E27FC236}">
                <a16:creationId xmlns:a16="http://schemas.microsoft.com/office/drawing/2014/main" id="{DB2AEC90-4A9E-42A4-8BA1-ED2977464239}"/>
              </a:ext>
            </a:extLst>
          </p:cNvPr>
          <p:cNvSpPr txBox="1">
            <a:spLocks/>
          </p:cNvSpPr>
          <p:nvPr/>
        </p:nvSpPr>
        <p:spPr>
          <a:xfrm>
            <a:off x="4846216" y="4156720"/>
            <a:ext cx="3312368" cy="1440160"/>
          </a:xfrm>
          <a:prstGeom prst="rect">
            <a:avLst/>
          </a:prstGeom>
          <a:ln>
            <a:no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zh-CN" altLang="en-US" sz="9600" b="1" i="1" dirty="0">
                <a:ln w="12700">
                  <a:solidFill>
                    <a:srgbClr val="7030A0"/>
                  </a:solidFill>
                  <a:prstDash val="solid"/>
                </a:ln>
                <a:solidFill>
                  <a:srgbClr val="7030A0"/>
                </a:solidFill>
                <a:effectLst>
                  <a:outerShdw dist="38100" dir="2640000" algn="bl" rotWithShape="0">
                    <a:schemeClr val="accent1"/>
                  </a:outerShdw>
                </a:effectLst>
                <a:latin typeface="隶书" panose="02010509060101010101" pitchFamily="49" charset="-122"/>
                <a:ea typeface="隶书" panose="02010509060101010101" pitchFamily="49" charset="-122"/>
              </a:rPr>
              <a:t>谢谢！</a:t>
            </a:r>
          </a:p>
        </p:txBody>
      </p:sp>
    </p:spTree>
    <p:extLst>
      <p:ext uri="{BB962C8B-B14F-4D97-AF65-F5344CB8AC3E}">
        <p14:creationId xmlns:p14="http://schemas.microsoft.com/office/powerpoint/2010/main" val="11765824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59</a:t>
            </a:fld>
            <a:endParaRPr lang="zh-CN" altLang="en-US" dirty="0"/>
          </a:p>
        </p:txBody>
      </p:sp>
      <p:sp>
        <p:nvSpPr>
          <p:cNvPr id="3" name="内容占位符 2"/>
          <p:cNvSpPr>
            <a:spLocks noGrp="1"/>
          </p:cNvSpPr>
          <p:nvPr>
            <p:ph idx="1"/>
          </p:nvPr>
        </p:nvSpPr>
        <p:spPr>
          <a:xfrm>
            <a:off x="1182809" y="1996480"/>
            <a:ext cx="10639182" cy="7848872"/>
          </a:xfrm>
        </p:spPr>
        <p:txBody>
          <a:bodyPr/>
          <a:lstStyle/>
          <a:p>
            <a:pPr marL="0" indent="0">
              <a:buNone/>
            </a:pP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苏鑫，曹秉军</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清华大学微纳加工平台实验室安全培训</a:t>
            </a:r>
            <a:r>
              <a:rPr lang="en-US" altLang="zh-CN" sz="2400" dirty="0">
                <a:latin typeface="Times New Roman" panose="02020603050405020304" pitchFamily="18" charset="0"/>
                <a:cs typeface="Times New Roman" panose="02020603050405020304" pitchFamily="18" charset="0"/>
              </a:rPr>
              <a:t>(PPT).</a:t>
            </a:r>
            <a:r>
              <a:rPr lang="zh-CN" altLang="en-US" sz="2400" dirty="0">
                <a:latin typeface="Times New Roman" panose="02020603050405020304" pitchFamily="18" charset="0"/>
                <a:cs typeface="Times New Roman" panose="02020603050405020304" pitchFamily="18" charset="0"/>
              </a:rPr>
              <a:t>版本号</a:t>
            </a:r>
            <a:r>
              <a:rPr lang="en-US" altLang="zh-CN" sz="2400" dirty="0">
                <a:latin typeface="Times New Roman" panose="02020603050405020304" pitchFamily="18" charset="0"/>
                <a:cs typeface="Times New Roman" panose="02020603050405020304" pitchFamily="18" charset="0"/>
              </a:rPr>
              <a:t>:20190711</a:t>
            </a:r>
          </a:p>
          <a:p>
            <a:pPr marL="0" indent="0">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吴华强</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微纳加工平台发展介绍</a:t>
            </a:r>
            <a:r>
              <a:rPr lang="en-US" altLang="zh-CN" sz="2400" dirty="0">
                <a:latin typeface="Times New Roman" panose="02020603050405020304" pitchFamily="18" charset="0"/>
                <a:cs typeface="Times New Roman" panose="02020603050405020304" pitchFamily="18" charset="0"/>
              </a:rPr>
              <a:t>(PPT).</a:t>
            </a:r>
            <a:r>
              <a:rPr lang="zh-CN" altLang="en-US" sz="2400" dirty="0">
                <a:latin typeface="Times New Roman" panose="02020603050405020304" pitchFamily="18" charset="0"/>
                <a:cs typeface="Times New Roman" panose="02020603050405020304" pitchFamily="18" charset="0"/>
              </a:rPr>
              <a:t>版本号</a:t>
            </a:r>
            <a:r>
              <a:rPr lang="en-US" altLang="zh-CN" sz="2400" dirty="0">
                <a:latin typeface="Times New Roman" panose="02020603050405020304" pitchFamily="18" charset="0"/>
                <a:cs typeface="Times New Roman" panose="02020603050405020304" pitchFamily="18" charset="0"/>
              </a:rPr>
              <a:t>: 20200109(</a:t>
            </a:r>
            <a:r>
              <a:rPr lang="zh-CN" altLang="en-US" sz="2400" dirty="0">
                <a:latin typeface="Times New Roman" panose="02020603050405020304" pitchFamily="18" charset="0"/>
                <a:cs typeface="Times New Roman" panose="02020603050405020304" pitchFamily="18" charset="0"/>
              </a:rPr>
              <a:t>修订版）</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王谦</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验室安全教育培训材料</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研究生入学安全教育</a:t>
            </a:r>
            <a:r>
              <a:rPr lang="en-US" altLang="zh-CN" sz="2400" dirty="0">
                <a:latin typeface="Times New Roman" panose="02020603050405020304" pitchFamily="18" charset="0"/>
                <a:cs typeface="Times New Roman" panose="02020603050405020304" pitchFamily="18" charset="0"/>
              </a:rPr>
              <a:t>(PPT).</a:t>
            </a:r>
            <a:r>
              <a:rPr lang="zh-CN" altLang="en-US" sz="2400" dirty="0">
                <a:latin typeface="Times New Roman" panose="02020603050405020304" pitchFamily="18" charset="0"/>
                <a:cs typeface="Times New Roman" panose="02020603050405020304" pitchFamily="18" charset="0"/>
              </a:rPr>
              <a:t>版本号</a:t>
            </a:r>
            <a:r>
              <a:rPr lang="en-US" altLang="zh-CN" sz="2400" dirty="0">
                <a:latin typeface="Times New Roman" panose="02020603050405020304" pitchFamily="18" charset="0"/>
                <a:cs typeface="Times New Roman" panose="02020603050405020304" pitchFamily="18" charset="0"/>
              </a:rPr>
              <a:t>:</a:t>
            </a:r>
            <a:r>
              <a:rPr lang="en-US" altLang="zh-CN" sz="2400" dirty="0"/>
              <a:t> 20190830</a:t>
            </a:r>
          </a:p>
          <a:p>
            <a:pPr marL="0" indent="0">
              <a:buNone/>
            </a:pP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刘朋</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实验室平面布置图</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包艳琳</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双创示范基地</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智能芯片智能硬件</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汇报</a:t>
            </a:r>
            <a:r>
              <a:rPr lang="en-US" altLang="zh-CN" sz="2400" dirty="0">
                <a:latin typeface="Times New Roman" panose="02020603050405020304" pitchFamily="18" charset="0"/>
                <a:cs typeface="Times New Roman" panose="02020603050405020304" pitchFamily="18" charset="0"/>
              </a:rPr>
              <a:t>(PPT).</a:t>
            </a:r>
            <a:r>
              <a:rPr lang="zh-CN" altLang="en-US" sz="2400" dirty="0">
                <a:latin typeface="Times New Roman" panose="02020603050405020304" pitchFamily="18" charset="0"/>
                <a:cs typeface="Times New Roman" panose="02020603050405020304" pitchFamily="18" charset="0"/>
              </a:rPr>
              <a:t>版本号</a:t>
            </a:r>
            <a:r>
              <a:rPr lang="en-US" altLang="zh-CN" sz="2400" dirty="0">
                <a:latin typeface="Times New Roman" panose="02020603050405020304" pitchFamily="18" charset="0"/>
                <a:cs typeface="Times New Roman" panose="02020603050405020304" pitchFamily="18" charset="0"/>
              </a:rPr>
              <a:t>:</a:t>
            </a:r>
            <a:r>
              <a:rPr lang="en-US" altLang="zh-CN" sz="2400" dirty="0"/>
              <a:t> 20181113 </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美）夸克，（美）瑟达</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半导体制造技术</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北京：电子工业出版社</a:t>
            </a:r>
            <a:r>
              <a:rPr lang="en-US" altLang="zh-CN" sz="2400" dirty="0">
                <a:latin typeface="Times New Roman" panose="02020603050405020304" pitchFamily="18" charset="0"/>
                <a:cs typeface="Times New Roman" panose="02020603050405020304" pitchFamily="18" charset="0"/>
              </a:rPr>
              <a:t>,2009</a:t>
            </a:r>
          </a:p>
          <a:p>
            <a:pPr marL="0" indent="0">
              <a:buNone/>
            </a:pPr>
            <a:r>
              <a:rPr lang="en-US" altLang="zh-CN" sz="2400" dirty="0">
                <a:latin typeface="Times New Roman" panose="02020603050405020304" pitchFamily="18" charset="0"/>
                <a:cs typeface="Times New Roman" panose="02020603050405020304" pitchFamily="18" charset="0"/>
              </a:rPr>
              <a:t>[7](</a:t>
            </a:r>
            <a:r>
              <a:rPr lang="zh-CN" altLang="en-US" sz="2400" dirty="0">
                <a:latin typeface="Times New Roman" panose="02020603050405020304" pitchFamily="18" charset="0"/>
                <a:cs typeface="Times New Roman" panose="02020603050405020304" pitchFamily="18" charset="0"/>
              </a:rPr>
              <a:t>美）赞特</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芯片制造：半导体工艺制程实用教程</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北京：电子工业出版社</a:t>
            </a:r>
            <a:r>
              <a:rPr lang="en-US" altLang="zh-CN" sz="2400" dirty="0">
                <a:latin typeface="Times New Roman" panose="02020603050405020304" pitchFamily="18" charset="0"/>
                <a:cs typeface="Times New Roman" panose="02020603050405020304" pitchFamily="18" charset="0"/>
              </a:rPr>
              <a:t>,2015</a:t>
            </a:r>
          </a:p>
          <a:p>
            <a:pPr marL="0" indent="0">
              <a:buNone/>
            </a:pPr>
            <a:r>
              <a:rPr lang="en-US" altLang="zh-CN" sz="2400" dirty="0">
                <a:latin typeface="Times New Roman" panose="02020603050405020304" pitchFamily="18" charset="0"/>
                <a:cs typeface="Times New Roman" panose="02020603050405020304" pitchFamily="18" charset="0"/>
              </a:rPr>
              <a:t>[8](</a:t>
            </a:r>
            <a:r>
              <a:rPr lang="zh-CN" altLang="en-US" sz="2400" dirty="0">
                <a:latin typeface="Times New Roman" panose="02020603050405020304" pitchFamily="18" charset="0"/>
                <a:cs typeface="Times New Roman" panose="02020603050405020304" pitchFamily="18" charset="0"/>
              </a:rPr>
              <a:t>美）坎儿贝</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微电子制造科学原理与工程技术</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北京：电子工业出版社</a:t>
            </a:r>
            <a:r>
              <a:rPr lang="en-US" altLang="zh-CN" sz="2400" dirty="0">
                <a:latin typeface="Times New Roman" panose="02020603050405020304" pitchFamily="18" charset="0"/>
                <a:cs typeface="Times New Roman" panose="02020603050405020304" pitchFamily="18" charset="0"/>
              </a:rPr>
              <a:t>, 2003</a:t>
            </a:r>
          </a:p>
          <a:p>
            <a:pPr marL="0" lvl="0" indent="0">
              <a:buNone/>
            </a:pPr>
            <a:r>
              <a:rPr lang="en-US" altLang="zh-CN" sz="2400" dirty="0">
                <a:latin typeface="Times New Roman" panose="02020603050405020304" pitchFamily="18" charset="0"/>
                <a:cs typeface="Times New Roman" panose="02020603050405020304" pitchFamily="18" charset="0"/>
              </a:rPr>
              <a:t>[9]</a:t>
            </a:r>
            <a:r>
              <a:rPr lang="zh-CN" altLang="en-US" sz="2400" dirty="0">
                <a:latin typeface="Times New Roman" panose="02020603050405020304" pitchFamily="18" charset="0"/>
                <a:cs typeface="Times New Roman" panose="02020603050405020304" pitchFamily="18" charset="0"/>
              </a:rPr>
              <a:t>微纳加工平台</a:t>
            </a:r>
            <a:r>
              <a:rPr lang="zh-CN" altLang="zh-CN" sz="2400" dirty="0">
                <a:latin typeface="Times New Roman" panose="02020603050405020304" pitchFamily="18" charset="0"/>
                <a:cs typeface="Times New Roman" panose="02020603050405020304" pitchFamily="18" charset="0"/>
              </a:rPr>
              <a:t>实验室管理规定</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微纳加工平台超净实验室工作规定</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[11]</a:t>
            </a:r>
            <a:r>
              <a:rPr lang="zh-CN" altLang="en-US" sz="2400" dirty="0">
                <a:latin typeface="Times New Roman" panose="02020603050405020304" pitchFamily="18" charset="0"/>
                <a:cs typeface="Times New Roman" panose="02020603050405020304" pitchFamily="18" charset="0"/>
              </a:rPr>
              <a:t>微纳加工平台超净实验室行为规范</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[12]</a:t>
            </a:r>
            <a:r>
              <a:rPr lang="zh-CN" altLang="en-US" sz="2400" dirty="0">
                <a:latin typeface="Times New Roman" panose="02020603050405020304" pitchFamily="18" charset="0"/>
                <a:cs typeface="Times New Roman" panose="02020603050405020304" pitchFamily="18" charset="0"/>
              </a:rPr>
              <a:t>微纳加工平台化学品使用规定</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[13]</a:t>
            </a:r>
            <a:r>
              <a:rPr lang="zh-CN" altLang="en-US" sz="2400" dirty="0">
                <a:latin typeface="Times New Roman" panose="02020603050405020304" pitchFamily="18" charset="0"/>
                <a:cs typeface="Times New Roman" panose="02020603050405020304" pitchFamily="18" charset="0"/>
              </a:rPr>
              <a:t>微纳加工平台实验室辐射及防护</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[14]</a:t>
            </a:r>
            <a:r>
              <a:rPr lang="zh-CN" altLang="en-US" sz="2400" dirty="0">
                <a:latin typeface="Times New Roman" panose="02020603050405020304" pitchFamily="18" charset="0"/>
                <a:cs typeface="Times New Roman" panose="02020603050405020304" pitchFamily="18" charset="0"/>
              </a:rPr>
              <a:t>微纳加工平台实验室应急预案</a:t>
            </a: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[15]</a:t>
            </a:r>
            <a:r>
              <a:rPr lang="zh-CN" altLang="en-US" sz="2400" dirty="0">
                <a:latin typeface="Times New Roman" panose="02020603050405020304" pitchFamily="18" charset="0"/>
                <a:cs typeface="Times New Roman" panose="02020603050405020304" pitchFamily="18" charset="0"/>
              </a:rPr>
              <a:t>清华大学微纳电子技术支撑平台官网 </a:t>
            </a:r>
            <a:r>
              <a:rPr lang="en-US" altLang="zh-CN" sz="2400" dirty="0">
                <a:latin typeface="Times New Roman" panose="02020603050405020304" pitchFamily="18" charset="0"/>
                <a:cs typeface="Times New Roman" panose="02020603050405020304" pitchFamily="18" charset="0"/>
              </a:rPr>
              <a:t>http://tnf.ime.tsinghua.edu.cn/qhm2/sdc/qh/dashboard/index.jsp</a:t>
            </a:r>
            <a:endParaRPr lang="zh-CN" altLang="en-US" sz="2800" dirty="0"/>
          </a:p>
        </p:txBody>
      </p:sp>
      <p:sp>
        <p:nvSpPr>
          <p:cNvPr id="4" name="标题 3"/>
          <p:cNvSpPr>
            <a:spLocks noGrp="1"/>
          </p:cNvSpPr>
          <p:nvPr>
            <p:ph type="title"/>
          </p:nvPr>
        </p:nvSpPr>
        <p:spPr/>
        <p:txBody>
          <a:bodyPr/>
          <a:lstStyle/>
          <a:p>
            <a:r>
              <a:rPr lang="zh-CN" altLang="en-US" dirty="0"/>
              <a:t>参考资料</a:t>
            </a:r>
          </a:p>
        </p:txBody>
      </p:sp>
    </p:spTree>
    <p:extLst>
      <p:ext uri="{BB962C8B-B14F-4D97-AF65-F5344CB8AC3E}">
        <p14:creationId xmlns:p14="http://schemas.microsoft.com/office/powerpoint/2010/main" val="16970251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ian-Ling Ren_EDSSC2015_V5 - 副本.pptx" id="{3D123B12-5A9A-4553-AA14-248D2BC5BCA6}" vid="{6A993217-8521-420A-8F05-4C64596298E5}"/>
    </a:ext>
  </a:extLst>
</a:theme>
</file>

<file path=ppt/theme/theme2.xml><?xml version="1.0" encoding="utf-8"?>
<a:theme xmlns:a="http://schemas.openxmlformats.org/drawingml/2006/main" name="Office 主题">
  <a:themeElements>
    <a:clrScheme name="">
      <a:dk1>
        <a:srgbClr val="000000"/>
      </a:dk1>
      <a:lt1>
        <a:srgbClr val="FFFFFF"/>
      </a:lt1>
      <a:dk2>
        <a:srgbClr val="5A5F5E"/>
      </a:dk2>
      <a:lt2>
        <a:srgbClr val="B4B4B4"/>
      </a:lt2>
      <a:accent1>
        <a:srgbClr val="78AAB3"/>
      </a:accent1>
      <a:accent2>
        <a:srgbClr val="9A9671"/>
      </a:accent2>
      <a:accent3>
        <a:srgbClr val="FFFFFF"/>
      </a:accent3>
      <a:accent4>
        <a:srgbClr val="000000"/>
      </a:accent4>
      <a:accent5>
        <a:srgbClr val="BED2D6"/>
      </a:accent5>
      <a:accent6>
        <a:srgbClr val="8B8766"/>
      </a:accent6>
      <a:hlink>
        <a:srgbClr val="0000FF"/>
      </a:hlink>
      <a:folHlink>
        <a:srgbClr val="FF00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Tian-Ling Ren_EDSSC2015_V5 - 副本</Template>
  <TotalTime>16514</TotalTime>
  <Words>7077</Words>
  <Application>Microsoft Office PowerPoint</Application>
  <PresentationFormat>自定义</PresentationFormat>
  <Paragraphs>536</Paragraphs>
  <Slides>59</Slides>
  <Notes>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59</vt:i4>
      </vt:variant>
    </vt:vector>
  </HeadingPairs>
  <TitlesOfParts>
    <vt:vector size="74" baseType="lpstr">
      <vt:lpstr>Avenir</vt:lpstr>
      <vt:lpstr>Gill Sans Light</vt:lpstr>
      <vt:lpstr>仿宋</vt:lpstr>
      <vt:lpstr>黑体</vt:lpstr>
      <vt:lpstr>隶书</vt:lpstr>
      <vt:lpstr>宋体</vt:lpstr>
      <vt:lpstr>微软雅黑</vt:lpstr>
      <vt:lpstr>微软雅黑</vt:lpstr>
      <vt:lpstr>Arial</vt:lpstr>
      <vt:lpstr>Calibri</vt:lpstr>
      <vt:lpstr>Perpetua</vt:lpstr>
      <vt:lpstr>Times New Roman</vt:lpstr>
      <vt:lpstr>Wingdings</vt:lpstr>
      <vt:lpstr>Wingdings 2</vt:lpstr>
      <vt:lpstr>Office 主题</vt:lpstr>
      <vt:lpstr>PowerPoint 演示文稿</vt:lpstr>
      <vt:lpstr>目   录</vt:lpstr>
      <vt:lpstr>微纳加工平台简介</vt:lpstr>
      <vt:lpstr>微纳加工平台简介</vt:lpstr>
      <vt:lpstr>超净间中的一些概念</vt:lpstr>
      <vt:lpstr>超净间中的一些概念</vt:lpstr>
      <vt:lpstr>超净间中的一些概念</vt:lpstr>
      <vt:lpstr>超净间中的一些概念</vt:lpstr>
      <vt:lpstr>超净间中的一些概念</vt:lpstr>
      <vt:lpstr>超净间中的一些概念</vt:lpstr>
      <vt:lpstr>超净间中的一些概念</vt:lpstr>
      <vt:lpstr>超净间中的一些概念</vt:lpstr>
      <vt:lpstr>实验室管理规定</vt:lpstr>
      <vt:lpstr>实验室管理规定</vt:lpstr>
      <vt:lpstr>实验室管理规定</vt:lpstr>
      <vt:lpstr>实验室管理规定</vt:lpstr>
      <vt:lpstr>实验室管理规定</vt:lpstr>
      <vt:lpstr>实验室管理规定</vt:lpstr>
      <vt:lpstr>实验室管理规定</vt:lpstr>
      <vt:lpstr>实验室管理规定</vt:lpstr>
      <vt:lpstr>实验室管理规定</vt:lpstr>
      <vt:lpstr>实验室管理规定</vt:lpstr>
      <vt:lpstr>实验室管理规定</vt:lpstr>
      <vt:lpstr>PowerPoint 演示文稿</vt:lpstr>
      <vt:lpstr>超净实验室行为规范</vt:lpstr>
      <vt:lpstr>超净实验室行为规范</vt:lpstr>
      <vt:lpstr>超净实验室行为规范</vt:lpstr>
      <vt:lpstr>超净实验室行为规范</vt:lpstr>
      <vt:lpstr>超净实验室行为规范</vt:lpstr>
      <vt:lpstr>超净实验室行为规范</vt:lpstr>
      <vt:lpstr>超净实验室行为规范</vt:lpstr>
      <vt:lpstr>超净实验室行为规范</vt:lpstr>
      <vt:lpstr>超净实验室行为规范</vt:lpstr>
      <vt:lpstr>超净实验室行为规范</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超净实验室安全</vt:lpstr>
      <vt:lpstr>微纳加工平台超净实验室的申请与安全使用培训</vt:lpstr>
      <vt:lpstr>参考资料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DESIGN FRONT OF PPT</dc:title>
  <dc:creator>Administrator</dc:creator>
  <cp:lastModifiedBy>bao yl</cp:lastModifiedBy>
  <cp:revision>1671</cp:revision>
  <dcterms:modified xsi:type="dcterms:W3CDTF">2021-09-18T07:15:45Z</dcterms:modified>
</cp:coreProperties>
</file>