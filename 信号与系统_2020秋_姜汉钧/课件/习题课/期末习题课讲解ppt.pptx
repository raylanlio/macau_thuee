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3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4.xml" ContentType="application/vnd.openxmlformats-officedocument.presentationml.notesSlide+xml"/>
  <Override PartName="/ppt/tags/tag7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9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86" r:id="rId3"/>
    <p:sldId id="288" r:id="rId4"/>
    <p:sldId id="302" r:id="rId5"/>
    <p:sldId id="289" r:id="rId6"/>
    <p:sldId id="290" r:id="rId7"/>
    <p:sldId id="291" r:id="rId8"/>
    <p:sldId id="303" r:id="rId9"/>
    <p:sldId id="292" r:id="rId10"/>
    <p:sldId id="293" r:id="rId11"/>
    <p:sldId id="294" r:id="rId12"/>
    <p:sldId id="295" r:id="rId13"/>
    <p:sldId id="296" r:id="rId14"/>
    <p:sldId id="297" r:id="rId15"/>
    <p:sldId id="298" r:id="rId16"/>
    <p:sldId id="299" r:id="rId17"/>
    <p:sldId id="300" r:id="rId18"/>
    <p:sldId id="301" r:id="rId19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0819" autoAdjust="0"/>
  </p:normalViewPr>
  <p:slideViewPr>
    <p:cSldViewPr>
      <p:cViewPr varScale="1">
        <p:scale>
          <a:sx n="69" d="100"/>
          <a:sy n="69" d="100"/>
        </p:scale>
        <p:origin x="1843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03F46F-1524-4CFA-911A-A94C638E323A}" type="datetimeFigureOut">
              <a:rPr lang="zh-CN" altLang="en-US" smtClean="0"/>
              <a:t>2021/1/4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22A1F0-6E3E-455F-8C27-9D28DCC945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5291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答案：逆时针</a:t>
            </a:r>
            <a:endParaRPr lang="en-US" altLang="zh-CN" dirty="0"/>
          </a:p>
          <a:p>
            <a:r>
              <a:rPr lang="zh-CN" altLang="en-US" dirty="0"/>
              <a:t>绕</a:t>
            </a:r>
            <a:r>
              <a:rPr lang="en-US" altLang="zh-CN" dirty="0"/>
              <a:t>-1/K</a:t>
            </a:r>
            <a:r>
              <a:rPr lang="zh-CN" altLang="en-US" dirty="0"/>
              <a:t>转的圈数必须等于负的右半平面极点数；</a:t>
            </a:r>
            <a:endParaRPr lang="en-US" altLang="zh-CN" dirty="0"/>
          </a:p>
          <a:p>
            <a:r>
              <a:rPr lang="zh-CN" altLang="en-US" dirty="0"/>
              <a:t>方向：</a:t>
            </a:r>
            <a:r>
              <a:rPr lang="en-US" altLang="zh-CN" dirty="0"/>
              <a:t>1</a:t>
            </a:r>
            <a:r>
              <a:rPr lang="zh-CN" altLang="en-US" dirty="0"/>
              <a:t>是实际算几个值，</a:t>
            </a:r>
            <a:r>
              <a:rPr lang="en-US" altLang="zh-CN" dirty="0"/>
              <a:t>2</a:t>
            </a:r>
            <a:r>
              <a:rPr lang="zh-CN" altLang="en-US" dirty="0"/>
              <a:t>是把它写成零极点形式的有理多项式，然后确定趋势。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22A1F0-6E3E-455F-8C27-9D28DCC945E5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88119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22A1F0-6E3E-455F-8C27-9D28DCC945E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76190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有重根的时候怎么办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22A1F0-6E3E-455F-8C27-9D28DCC945E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40719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22A1F0-6E3E-455F-8C27-9D28DCC945E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22769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希尔伯特正变换只是</a:t>
            </a:r>
            <a:r>
              <a:rPr lang="en-US" altLang="zh-CN" dirty="0"/>
              <a:t>1/(pit)</a:t>
            </a:r>
            <a:r>
              <a:rPr lang="zh-CN" altLang="en-US" dirty="0"/>
              <a:t>，没有负号；反变换有负号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22A1F0-6E3E-455F-8C27-9D28DCC945E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66414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把</a:t>
            </a:r>
            <a:r>
              <a:rPr lang="en-US" altLang="zh-CN" dirty="0"/>
              <a:t>z^{-1}</a:t>
            </a:r>
            <a:r>
              <a:rPr lang="zh-CN" altLang="en-US" dirty="0"/>
              <a:t>当成整体，除以最高次；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22A1F0-6E3E-455F-8C27-9D28DCC945E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89084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也可以只除一个</a:t>
            </a:r>
            <a:r>
              <a:rPr lang="en-US" altLang="zh-CN" dirty="0"/>
              <a:t>z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22A1F0-6E3E-455F-8C27-9D28DCC945E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02615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22A1F0-6E3E-455F-8C27-9D28DCC945E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10680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总体思路：不是平方的，就很难用能量定理，</a:t>
            </a:r>
            <a:r>
              <a:rPr lang="zh-CN" altLang="en-US" b="1" dirty="0"/>
              <a:t>然后就想具体值：时域积分，会不会是频域某个函数的具体值？频域积分，会不会是时域某个函数的具体值？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22A1F0-6E3E-455F-8C27-9D28DCC945E5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73130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22A1F0-6E3E-455F-8C27-9D28DCC945E5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74772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22A1F0-6E3E-455F-8C27-9D28DCC945E5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76449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22A1F0-6E3E-455F-8C27-9D28DCC945E5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94567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dirty="0"/>
              <a:t>注意题目注明是频率，频率要除以</a:t>
            </a:r>
            <a:r>
              <a:rPr lang="en-US" altLang="zh-CN" b="0" dirty="0"/>
              <a:t>2pi</a:t>
            </a:r>
            <a:r>
              <a:rPr lang="zh-CN" altLang="en-US" b="0" dirty="0"/>
              <a:t>；频率是正的</a:t>
            </a:r>
            <a:r>
              <a:rPr lang="en-US" altLang="zh-CN" b="0" dirty="0"/>
              <a:t>;</a:t>
            </a:r>
          </a:p>
          <a:p>
            <a:r>
              <a:rPr lang="zh-CN" altLang="en-US" b="0" dirty="0"/>
              <a:t>如果同学们不熟悉这个电路的表达式，手推。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22A1F0-6E3E-455F-8C27-9D28DCC945E5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09949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dirty="0"/>
              <a:t>低频增益就是</a:t>
            </a:r>
            <a:r>
              <a:rPr lang="en-US" altLang="zh-CN" b="0" dirty="0"/>
              <a:t>H(0)</a:t>
            </a:r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22A1F0-6E3E-455F-8C27-9D28DCC945E5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85926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dirty="0"/>
              <a:t>考的离散时间系统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22A1F0-6E3E-455F-8C27-9D28DCC945E5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52561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dirty="0"/>
              <a:t>先推导系统的频率响应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22A1F0-6E3E-455F-8C27-9D28DCC945E5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08050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dirty="0"/>
              <a:t>由频率响应求冲激响应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22A1F0-6E3E-455F-8C27-9D28DCC945E5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20514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2021/1/4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2021/1/4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2021/1/4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3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tags" Target="../tags/tag6.xml"/><Relationship Id="rId7" Type="http://schemas.openxmlformats.org/officeDocument/2006/relationships/image" Target="../media/image9.png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notesSlide" Target="../notesSlides/notesSlide3.xml"/><Relationship Id="rId10" Type="http://schemas.openxmlformats.org/officeDocument/2006/relationships/image" Target="../media/image12.png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14" Type="http://schemas.openxmlformats.org/officeDocument/2006/relationships/image" Target="../media/image4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jpeg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34.png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image" Target="../media/image33.png"/><Relationship Id="rId5" Type="http://schemas.openxmlformats.org/officeDocument/2006/relationships/image" Target="../media/image31.png"/><Relationship Id="rId4" Type="http://schemas.openxmlformats.org/officeDocument/2006/relationships/notesSlide" Target="../notesSlides/notesSlide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期末习题课解答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赵亢</a:t>
            </a:r>
            <a:endParaRPr lang="en-US" altLang="zh-CN" dirty="0"/>
          </a:p>
          <a:p>
            <a:r>
              <a:rPr lang="en-US" altLang="zh-CN" dirty="0"/>
              <a:t>2021.01.04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45513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1763688" y="2924944"/>
            <a:ext cx="5020359" cy="3864880"/>
            <a:chOff x="2339752" y="2924944"/>
            <a:chExt cx="5020359" cy="3864880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339752" y="2924944"/>
              <a:ext cx="5020359" cy="3864880"/>
            </a:xfrm>
            <a:prstGeom prst="rect">
              <a:avLst/>
            </a:prstGeom>
          </p:spPr>
        </p:pic>
        <p:sp>
          <p:nvSpPr>
            <p:cNvPr id="11" name="右箭头 10"/>
            <p:cNvSpPr/>
            <p:nvPr/>
          </p:nvSpPr>
          <p:spPr>
            <a:xfrm>
              <a:off x="4273338" y="5733256"/>
              <a:ext cx="288032" cy="298573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右箭头 11"/>
            <p:cNvSpPr/>
            <p:nvPr/>
          </p:nvSpPr>
          <p:spPr>
            <a:xfrm rot="10800000">
              <a:off x="4139952" y="3140968"/>
              <a:ext cx="288032" cy="298573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/>
          <a:lstStyle/>
          <a:p>
            <a:pPr algn="l"/>
            <a:r>
              <a:rPr lang="zh-CN" altLang="en-US" dirty="0"/>
              <a:t>习题一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525963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2000" dirty="0"/>
              <a:t>题目：</a:t>
            </a: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000" dirty="0"/>
              <a:t>解答：</a:t>
            </a:r>
            <a:br>
              <a:rPr lang="zh-CN" altLang="en-US" sz="2000" dirty="0"/>
            </a:br>
            <a:br>
              <a:rPr lang="zh-CN" altLang="en-US" sz="2000" dirty="0"/>
            </a:br>
            <a:br>
              <a:rPr lang="zh-CN" altLang="en-US" sz="2000" dirty="0"/>
            </a:br>
            <a:br>
              <a:rPr lang="zh-CN" altLang="en-US" sz="2000" dirty="0"/>
            </a:br>
            <a:endParaRPr lang="en-US" altLang="zh-CN" sz="20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endParaRPr lang="zh-CN" altLang="en-US" sz="24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560" y="1556792"/>
            <a:ext cx="8216433" cy="1470843"/>
          </a:xfrm>
          <a:prstGeom prst="rect">
            <a:avLst/>
          </a:prstGeom>
        </p:spPr>
      </p:pic>
      <p:pic>
        <p:nvPicPr>
          <p:cNvPr id="14" name="图片 13" descr="\documentclass{article}&#10;\usepackage{amsmath}&#10;\pagestyle{empty}&#10;\begin{document}&#10;&#10;$H(s)=-12\frac{(s+\frac{1}{2})(s+\frac{1}{3})}{(s+1)(s-2)}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8247" y="3885159"/>
            <a:ext cx="2853732" cy="490016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5958247" y="3717032"/>
            <a:ext cx="2934233" cy="792088"/>
          </a:xfrm>
          <a:prstGeom prst="rect">
            <a:avLst/>
          </a:prstGeom>
          <a:noFill/>
          <a:ln w="412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 descr="\documentclass{article}&#10;\usepackage{amsmath}&#10;\pagestyle{empty}&#10;\begin{document}&#10;&#10;$-12&lt;-\frac{1}{K}&lt;-1\\&#10;K&lt;-1 \quad or \quad K&gt;\frac{1}{12} $&#10;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6065" y="5319726"/>
            <a:ext cx="2438095" cy="6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192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/>
          <a:lstStyle/>
          <a:p>
            <a:pPr algn="l"/>
            <a:r>
              <a:rPr lang="zh-CN" altLang="en-US" dirty="0"/>
              <a:t>习题二</a:t>
            </a:r>
            <a:r>
              <a:rPr lang="en-US" altLang="zh-CN" sz="2000" dirty="0"/>
              <a:t>-(1)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525963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2000" dirty="0"/>
              <a:t>题目：</a:t>
            </a: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000" dirty="0"/>
              <a:t>解答（法一）：</a:t>
            </a:r>
            <a:br>
              <a:rPr lang="zh-CN" altLang="en-US" sz="2000" dirty="0"/>
            </a:br>
            <a:br>
              <a:rPr lang="zh-CN" altLang="en-US" sz="2000" dirty="0"/>
            </a:br>
            <a:br>
              <a:rPr lang="zh-CN" altLang="en-US" sz="2000" dirty="0"/>
            </a:br>
            <a:br>
              <a:rPr lang="zh-CN" altLang="en-US" sz="2000" dirty="0"/>
            </a:br>
            <a:endParaRPr lang="en-US" altLang="zh-CN" sz="20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endParaRPr lang="zh-CN" altLang="en-US" sz="24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616" y="1556792"/>
            <a:ext cx="6418660" cy="1879278"/>
          </a:xfrm>
          <a:prstGeom prst="rect">
            <a:avLst/>
          </a:prstGeom>
        </p:spPr>
      </p:pic>
      <p:grpSp>
        <p:nvGrpSpPr>
          <p:cNvPr id="9" name="组合 8"/>
          <p:cNvGrpSpPr/>
          <p:nvPr/>
        </p:nvGrpSpPr>
        <p:grpSpPr>
          <a:xfrm>
            <a:off x="899592" y="3724102"/>
            <a:ext cx="7125649" cy="2783781"/>
            <a:chOff x="899592" y="3724102"/>
            <a:chExt cx="7125649" cy="2783781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99592" y="3724102"/>
              <a:ext cx="7125649" cy="2783781"/>
            </a:xfrm>
            <a:prstGeom prst="rect">
              <a:avLst/>
            </a:prstGeom>
          </p:spPr>
        </p:pic>
        <p:sp>
          <p:nvSpPr>
            <p:cNvPr id="8" name="文本框 7"/>
            <p:cNvSpPr txBox="1"/>
            <p:nvPr/>
          </p:nvSpPr>
          <p:spPr>
            <a:xfrm>
              <a:off x="4770000" y="3834000"/>
              <a:ext cx="27768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/>
                <a:t>-</a:t>
              </a:r>
              <a:endParaRPr lang="zh-CN" altLang="en-US" sz="1600" dirty="0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6534000" y="4428000"/>
              <a:ext cx="27768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/>
                <a:t>-</a:t>
              </a:r>
              <a:endParaRPr lang="zh-CN" altLang="en-US" sz="1600" dirty="0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5112000" y="4950000"/>
              <a:ext cx="27768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/>
                <a:t>-</a:t>
              </a:r>
              <a:endParaRPr lang="zh-CN" altLang="en-US" sz="1600" dirty="0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4734000" y="6084000"/>
              <a:ext cx="27768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/>
                <a:t>-</a:t>
              </a:r>
              <a:endParaRPr lang="zh-CN" altLang="en-US" sz="1600" dirty="0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2934000" y="5741803"/>
              <a:ext cx="27768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/>
                <a:t>-</a:t>
              </a:r>
              <a:endParaRPr lang="zh-CN" altLang="en-US" sz="1600" dirty="0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4662952" y="5734080"/>
              <a:ext cx="27768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/>
                <a:t>-</a:t>
              </a:r>
              <a:endParaRPr lang="zh-CN" altLang="en-US" sz="1600" dirty="0"/>
            </a:p>
          </p:txBody>
        </p:sp>
      </p:grpSp>
      <p:pic>
        <p:nvPicPr>
          <p:cNvPr id="10" name="图片 9" descr="\documentclass{article}&#10;\usepackage{amsmath}&#10;\pagestyle{empty}&#10;\begin{document}&#10;&#10;$\begin{cases}a=3 \\b=-6 \\c=4\end{cases}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5309" y="5444264"/>
            <a:ext cx="940190" cy="1063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596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/>
          <a:lstStyle/>
          <a:p>
            <a:pPr algn="l"/>
            <a:r>
              <a:rPr lang="zh-CN" altLang="en-US" dirty="0"/>
              <a:t>习题二</a:t>
            </a:r>
            <a:r>
              <a:rPr lang="en-US" altLang="zh-CN" sz="2000" dirty="0"/>
              <a:t>-(2)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96752"/>
                <a:ext cx="8229600" cy="4525963"/>
              </a:xfrm>
            </p:spPr>
            <p:txBody>
              <a:bodyPr>
                <a:noAutofit/>
              </a:bodyPr>
              <a:lstStyle/>
              <a:p>
                <a:pPr>
                  <a:buFont typeface="Wingdings" panose="05000000000000000000" pitchFamily="2" charset="2"/>
                  <a:buChar char="Ø"/>
                </a:pPr>
                <a:r>
                  <a:rPr lang="zh-CN" altLang="en-US" sz="2000" dirty="0"/>
                  <a:t>解答（法二）：</a:t>
                </a:r>
                <a:endParaRPr lang="en-US" altLang="zh-CN" sz="2000" dirty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altLang="zh-CN" sz="2000" dirty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altLang="zh-CN" sz="2000" dirty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altLang="zh-CN" sz="2000" dirty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altLang="zh-CN" sz="2000" dirty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altLang="zh-CN" sz="2000" dirty="0"/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zh-CN" altLang="en-US" sz="1800" dirty="0"/>
                  <a:t>则：</a:t>
                </a:r>
                <a:br>
                  <a:rPr lang="zh-CN" altLang="en-US" sz="1200" dirty="0"/>
                </a:br>
                <a:br>
                  <a:rPr lang="zh-CN" altLang="en-US" sz="1200" dirty="0"/>
                </a:br>
                <a:br>
                  <a:rPr lang="zh-CN" altLang="en-US" sz="1200" dirty="0"/>
                </a:br>
                <a:br>
                  <a:rPr lang="zh-CN" altLang="en-US" sz="1200" dirty="0"/>
                </a:br>
                <a:endParaRPr lang="en-US" altLang="zh-CN" sz="12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pPr marL="0" indent="0">
                  <a:buNone/>
                </a:pPr>
                <a:endParaRPr lang="en-US" altLang="zh-CN" sz="2400" dirty="0"/>
              </a:p>
              <a:p>
                <a:pPr marL="0" indent="0">
                  <a:buNone/>
                </a:pPr>
                <a:endParaRPr lang="en-US" altLang="zh-CN" sz="2400" dirty="0"/>
              </a:p>
              <a:p>
                <a:pPr marL="0" indent="0">
                  <a:buNone/>
                </a:pPr>
                <a:r>
                  <a:rPr lang="en-US" altLang="zh-CN" sz="2400" dirty="0"/>
                  <a:t>      </a:t>
                </a:r>
                <a14:m>
                  <m:oMath xmlns:m="http://schemas.openxmlformats.org/officeDocument/2006/math">
                    <m:r>
                      <a:rPr lang="en-US" altLang="zh-CN" sz="1800" b="0" i="0" dirty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zh-CN" altLang="en-US" sz="1800" i="1" dirty="0" smtClean="0">
                        <a:latin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zh-CN" altLang="en-US" sz="1800" dirty="0"/>
                  <a:t>有</a:t>
                </a:r>
                <a14:m>
                  <m:oMath xmlns:m="http://schemas.openxmlformats.org/officeDocument/2006/math">
                    <m:r>
                      <a:rPr lang="en-US" altLang="zh-CN" sz="1800" dirty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sz="18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800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1800" dirty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1800" dirty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1800" dirty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zh-CN" altLang="en-US" sz="1800" dirty="0"/>
                  <a:t>，</a:t>
                </a:r>
                <a14:m>
                  <m:oMath xmlns:m="http://schemas.openxmlformats.org/officeDocument/2006/math">
                    <m:r>
                      <a:rPr lang="en-US" altLang="zh-CN" sz="2000" dirty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000" dirty="0">
                        <a:latin typeface="Cambria Math" panose="02040503050406030204" pitchFamily="18" charset="0"/>
                      </a:rPr>
                      <m:t>=−6</m:t>
                    </m:r>
                  </m:oMath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96752"/>
                <a:ext cx="8229600" cy="4525963"/>
              </a:xfrm>
              <a:blipFill>
                <a:blip r:embed="rId6"/>
                <a:stretch>
                  <a:fillRect l="-667" t="-1077" b="-222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 descr="\documentclass{article}&#10;\usepackage{amsmath}&#10;\pagestyle{empty}&#10;\begin{document}&#10;&#10;$a=Y(e^{je})(1-\frac{1}{2}e^{-jw})^2|_{e^{-jw}=2}=\frac{1}{1-\frac{1}{3}e^{-jw}}|_{e^{-jw}=2}=3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736" y="3789040"/>
            <a:ext cx="6030254" cy="388699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3887" y="1700808"/>
            <a:ext cx="7225092" cy="1728192"/>
          </a:xfrm>
          <a:prstGeom prst="rect">
            <a:avLst/>
          </a:prstGeom>
        </p:spPr>
      </p:pic>
      <p:pic>
        <p:nvPicPr>
          <p:cNvPr id="12" name="图片 11" descr="\documentclass{article}&#10;\usepackage{amsmath}&#10;\pagestyle{empty}&#10;\begin{document}&#10;&#10;$c=Y(e^{je})(1-\frac{1}{3}e^{-jw})|_{e^{-jw}=3}=\frac{1}{(1-\frac{1}{2}e^{-jw})^2}|_{e^{-jw}=3}=4$&#10;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136" y="4362119"/>
            <a:ext cx="6057144" cy="379429"/>
          </a:xfrm>
          <a:prstGeom prst="rect">
            <a:avLst/>
          </a:prstGeom>
        </p:spPr>
      </p:pic>
      <p:pic>
        <p:nvPicPr>
          <p:cNvPr id="20" name="图片 19" descr="\documentclass{article}&#10;\usepackage{amsmath}&#10;\pagestyle{empty}&#10;\begin{document}&#10;&#10;\begin{align*}&#10;&amp;\frac{d(Y(e^{jw})(1-\frac{1}{2}e^{-jw})^2)}{d(e^{-jw})}|_{e^{-jw}=2}\\&amp;=-\frac{1}{2}b-\frac{1}{3}c(1-\frac{1}{2}e^{-jw})^2-c(1-\frac{1}{3}e^{-jw})(1-\frac{1}{2}e^{-jw})|_{e^{-jw}=2}=-\frac{1}{2}b\\&#10;&amp;=\frac{1}{3}(1-\frac{1}{3}e^{-jw})|_{e^{-jw}=2}=3&#10;\end{align*}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195" y="4801368"/>
            <a:ext cx="5868526" cy="1435155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84433" y="5759073"/>
            <a:ext cx="3004327" cy="1074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783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/>
          <a:lstStyle/>
          <a:p>
            <a:pPr algn="l"/>
            <a:r>
              <a:rPr lang="zh-CN" altLang="en-US" dirty="0"/>
              <a:t>习题二</a:t>
            </a:r>
            <a:r>
              <a:rPr lang="en-US" altLang="zh-CN" sz="2000" dirty="0"/>
              <a:t>-(3)</a:t>
            </a:r>
            <a:endParaRPr lang="zh-CN" altLang="en-US" sz="2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525963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2000" dirty="0"/>
              <a:t>题目：</a:t>
            </a: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000" dirty="0"/>
              <a:t>解答：</a:t>
            </a:r>
            <a:br>
              <a:rPr lang="zh-CN" altLang="en-US" sz="2000" dirty="0"/>
            </a:br>
            <a:br>
              <a:rPr lang="zh-CN" altLang="en-US" sz="2000" dirty="0"/>
            </a:br>
            <a:br>
              <a:rPr lang="zh-CN" altLang="en-US" sz="2000" dirty="0"/>
            </a:br>
            <a:br>
              <a:rPr lang="zh-CN" altLang="en-US" sz="2000" dirty="0"/>
            </a:br>
            <a:endParaRPr lang="en-US" altLang="zh-CN" sz="20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endParaRPr lang="zh-CN" altLang="en-US" sz="24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616" y="1556792"/>
            <a:ext cx="6418660" cy="1879278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552" y="4221088"/>
            <a:ext cx="7704856" cy="1267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8151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/>
          <a:lstStyle/>
          <a:p>
            <a:pPr algn="l"/>
            <a:r>
              <a:rPr lang="zh-CN" altLang="en-US" dirty="0"/>
              <a:t>习题三</a:t>
            </a:r>
            <a:endParaRPr lang="zh-CN" altLang="en-US" sz="2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525963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2000" dirty="0"/>
              <a:t>题目：</a:t>
            </a: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000" dirty="0"/>
              <a:t>解答：</a:t>
            </a:r>
            <a:br>
              <a:rPr lang="zh-CN" altLang="en-US" sz="2000" dirty="0"/>
            </a:br>
            <a:br>
              <a:rPr lang="zh-CN" altLang="en-US" sz="2000" dirty="0"/>
            </a:br>
            <a:br>
              <a:rPr lang="zh-CN" altLang="en-US" sz="2000" dirty="0"/>
            </a:br>
            <a:br>
              <a:rPr lang="zh-CN" altLang="en-US" sz="2000" dirty="0"/>
            </a:br>
            <a:endParaRPr lang="en-US" altLang="zh-CN" sz="20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endParaRPr lang="zh-CN" altLang="en-US" sz="24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576" y="1772816"/>
            <a:ext cx="7992888" cy="616717"/>
          </a:xfrm>
          <a:prstGeom prst="rect">
            <a:avLst/>
          </a:prstGeom>
        </p:spPr>
      </p:pic>
      <p:pic>
        <p:nvPicPr>
          <p:cNvPr id="12" name="图片 11" descr="\documentclass{article}&#10;\usepackage{amsmath}&#10;\pagestyle{empty}&#10;\begin{document}&#10;&#10;\begin{equation*}&#10;\begin{split}&#10;&amp;s(t)cosw_ct*(\frac{1}{\pi t})\\&#10;&amp;=\frac{1}{2}S(jw)*[\delta(w-w_c)+\delta(w+w_c)]\cdot (-j)sgn(w)\\&#10;&amp;=\frac{1}{2}j[-S(j(w-w_c))+S(j(w+w_c))]\\&#10;&amp;=\frac{1}{2}S(jw)*(-j)[\delta(w-w_c)-\delta(w+w_c)]\qquad&#10;s(t)sinw_ct&#10;\end{split}&#10;\end{equation*}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5" y="2965597"/>
            <a:ext cx="7381215" cy="2774277"/>
          </a:xfrm>
          <a:prstGeom prst="rect">
            <a:avLst/>
          </a:prstGeom>
        </p:spPr>
      </p:pic>
      <p:grpSp>
        <p:nvGrpSpPr>
          <p:cNvPr id="8" name="组合 7"/>
          <p:cNvGrpSpPr/>
          <p:nvPr/>
        </p:nvGrpSpPr>
        <p:grpSpPr>
          <a:xfrm>
            <a:off x="6240195" y="5156847"/>
            <a:ext cx="564053" cy="369332"/>
            <a:chOff x="2998918" y="3068960"/>
            <a:chExt cx="564053" cy="3693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35"/>
                <p:cNvSpPr txBox="1"/>
                <p:nvPr/>
              </p:nvSpPr>
              <p:spPr>
                <a:xfrm>
                  <a:off x="3059832" y="3068960"/>
                  <a:ext cx="43848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latin typeface="Cambria Math"/>
                            <a:ea typeface="Cambria Math"/>
                          </a:rPr>
                          <m:t>ℱ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6" name="TextBox 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59832" y="3068960"/>
                  <a:ext cx="438481" cy="369332"/>
                </a:xfrm>
                <a:prstGeom prst="rect">
                  <a:avLst/>
                </a:prstGeom>
                <a:blipFill rotWithShape="1"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直接箭头连接符 9"/>
            <p:cNvCxnSpPr/>
            <p:nvPr/>
          </p:nvCxnSpPr>
          <p:spPr>
            <a:xfrm>
              <a:off x="2998918" y="3397662"/>
              <a:ext cx="564053" cy="0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/>
        </p:nvGrpSpPr>
        <p:grpSpPr>
          <a:xfrm>
            <a:off x="3059832" y="2987660"/>
            <a:ext cx="564053" cy="369332"/>
            <a:chOff x="2998918" y="3068960"/>
            <a:chExt cx="564053" cy="3693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35"/>
                <p:cNvSpPr txBox="1"/>
                <p:nvPr/>
              </p:nvSpPr>
              <p:spPr>
                <a:xfrm>
                  <a:off x="3059832" y="3068960"/>
                  <a:ext cx="43848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latin typeface="Cambria Math"/>
                            <a:ea typeface="Cambria Math"/>
                          </a:rPr>
                          <m:t>ℱ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6" name="TextBox 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59832" y="3068960"/>
                  <a:ext cx="438481" cy="369332"/>
                </a:xfrm>
                <a:prstGeom prst="rect">
                  <a:avLst/>
                </a:prstGeom>
                <a:blipFill rotWithShape="1"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直接箭头连接符 14"/>
            <p:cNvCxnSpPr/>
            <p:nvPr/>
          </p:nvCxnSpPr>
          <p:spPr>
            <a:xfrm>
              <a:off x="2998918" y="3397662"/>
              <a:ext cx="564053" cy="0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08501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9287" y="3258315"/>
            <a:ext cx="5565425" cy="359968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/>
          <a:lstStyle/>
          <a:p>
            <a:pPr algn="l"/>
            <a:r>
              <a:rPr lang="zh-CN" altLang="en-US" dirty="0"/>
              <a:t>习题四</a:t>
            </a:r>
            <a:r>
              <a:rPr lang="en-US" altLang="zh-CN" sz="2000" dirty="0"/>
              <a:t>-(1)</a:t>
            </a:r>
            <a:endParaRPr lang="zh-CN" altLang="en-US" sz="2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525963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2000" dirty="0"/>
              <a:t>题目：</a:t>
            </a: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000" dirty="0"/>
              <a:t>解答（法一）：</a:t>
            </a:r>
            <a:br>
              <a:rPr lang="zh-CN" altLang="en-US" sz="2000" dirty="0"/>
            </a:br>
            <a:br>
              <a:rPr lang="zh-CN" altLang="en-US" sz="2000" dirty="0"/>
            </a:br>
            <a:br>
              <a:rPr lang="zh-CN" altLang="en-US" sz="2000" dirty="0"/>
            </a:br>
            <a:br>
              <a:rPr lang="zh-CN" altLang="en-US" sz="2000" dirty="0"/>
            </a:br>
            <a:endParaRPr lang="en-US" altLang="zh-CN" sz="20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endParaRPr lang="zh-CN" altLang="en-US" sz="24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84" y="1628800"/>
            <a:ext cx="7545060" cy="1440160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3491880" y="6093296"/>
            <a:ext cx="3672408" cy="76470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05564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/>
          <a:lstStyle/>
          <a:p>
            <a:pPr algn="l"/>
            <a:r>
              <a:rPr lang="zh-CN" altLang="en-US" dirty="0"/>
              <a:t>习题四</a:t>
            </a:r>
            <a:r>
              <a:rPr lang="en-US" altLang="zh-CN" sz="2000" dirty="0"/>
              <a:t>-(2)</a:t>
            </a:r>
            <a:endParaRPr lang="zh-CN" altLang="en-US" sz="2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525963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2000" dirty="0"/>
              <a:t>题目：</a:t>
            </a: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000" dirty="0"/>
              <a:t>解答（法二）：</a:t>
            </a:r>
            <a:br>
              <a:rPr lang="zh-CN" altLang="en-US" sz="2000" dirty="0"/>
            </a:br>
            <a:br>
              <a:rPr lang="zh-CN" altLang="en-US" sz="2000" dirty="0"/>
            </a:br>
            <a:br>
              <a:rPr lang="zh-CN" altLang="en-US" sz="2000" dirty="0"/>
            </a:br>
            <a:br>
              <a:rPr lang="zh-CN" altLang="en-US" sz="2000" dirty="0"/>
            </a:br>
            <a:endParaRPr lang="en-US" altLang="zh-CN" sz="20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endParaRPr lang="zh-CN" altLang="en-US" sz="24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84" y="1628800"/>
            <a:ext cx="7545060" cy="144016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600" y="3959372"/>
            <a:ext cx="6707088" cy="1325256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01791" y="5445224"/>
            <a:ext cx="4392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原理：</a:t>
            </a:r>
            <a:r>
              <a:rPr lang="en-US" altLang="zh-CN" dirty="0"/>
              <a:t>z</a:t>
            </a:r>
            <a:r>
              <a:rPr lang="zh-CN" altLang="en-US" dirty="0"/>
              <a:t>变换的基本形式为</a:t>
            </a:r>
          </a:p>
        </p:txBody>
      </p:sp>
      <p:pic>
        <p:nvPicPr>
          <p:cNvPr id="8" name="图片 7" descr="\documentclass{article}&#10;\usepackage{amsmath}&#10;\pagestyle{empty}&#10;\begin{document}&#10;&#10;$\frac{z}{z-\alpha}\leftrightarrow\alpha^ku[k],\quad |z|&gt;|\alpha| 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990" y="5478271"/>
            <a:ext cx="2776381" cy="303238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3563888" y="5445224"/>
            <a:ext cx="484480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75277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/>
          <a:lstStyle/>
          <a:p>
            <a:pPr algn="l"/>
            <a:r>
              <a:rPr lang="zh-CN" altLang="en-US" dirty="0"/>
              <a:t>习题四</a:t>
            </a:r>
            <a:r>
              <a:rPr lang="en-US" altLang="zh-CN" sz="2000" dirty="0"/>
              <a:t>-(3)</a:t>
            </a:r>
            <a:endParaRPr lang="zh-CN" altLang="en-US" sz="2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525963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2000" dirty="0"/>
              <a:t>题目：</a:t>
            </a: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 marL="0" indent="0">
              <a:buNone/>
            </a:pPr>
            <a:br>
              <a:rPr lang="zh-CN" altLang="en-US" sz="2000" dirty="0"/>
            </a:br>
            <a:br>
              <a:rPr lang="zh-CN" altLang="en-US" sz="2000" dirty="0"/>
            </a:br>
            <a:br>
              <a:rPr lang="zh-CN" altLang="en-US" sz="2000" dirty="0"/>
            </a:br>
            <a:br>
              <a:rPr lang="zh-CN" altLang="en-US" sz="2000" dirty="0"/>
            </a:br>
            <a:endParaRPr lang="en-US" altLang="zh-CN" sz="20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endParaRPr lang="zh-CN" altLang="en-US" sz="24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1628800"/>
            <a:ext cx="7545060" cy="14401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表格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86894990"/>
                  </p:ext>
                </p:extLst>
              </p:nvPr>
            </p:nvGraphicFramePr>
            <p:xfrm>
              <a:off x="46611" y="3140968"/>
              <a:ext cx="8989885" cy="319305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6075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97038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2937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02937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375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/>
                            <a:t>ROC</a:t>
                          </a:r>
                          <a:endParaRPr lang="zh-CN" altLang="en-U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/>
                            <a:t>h[n]</a:t>
                          </a:r>
                          <a:endParaRPr lang="zh-CN" altLang="en-U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/>
                            <a:t>Stability</a:t>
                          </a:r>
                          <a:endParaRPr lang="zh-CN" altLang="en-U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/>
                            <a:t>Causality</a:t>
                          </a:r>
                          <a:endParaRPr lang="zh-CN" altLang="en-US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502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/>
                            <a:t>|z|&gt;2</a:t>
                          </a:r>
                          <a:endParaRPr lang="zh-CN" altLang="en-U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latin typeface="Cambria Math"/>
                                  </a:rPr>
                                  <m:t>h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600" b="0" i="1" smtClean="0">
                                        <a:latin typeface="Cambria Math"/>
                                      </a:rPr>
                                      <m:t>𝑛</m:t>
                                    </m:r>
                                  </m:e>
                                </m:d>
                                <m:r>
                                  <a:rPr lang="en-US" altLang="zh-CN" sz="1600" b="0" i="1" smtClean="0">
                                    <a:latin typeface="Cambria Math"/>
                                  </a:rPr>
                                  <m:t>=2</m:t>
                                </m:r>
                                <m:r>
                                  <a:rPr lang="en-US" altLang="zh-CN" sz="1600" b="0" i="1" smtClean="0">
                                    <a:latin typeface="Cambria Math"/>
                                  </a:rPr>
                                  <m:t>𝛿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600" b="0" i="1" smtClean="0">
                                        <a:latin typeface="Cambria Math"/>
                                      </a:rPr>
                                      <m:t>𝑛</m:t>
                                    </m:r>
                                    <m:r>
                                      <a:rPr lang="en-US" altLang="zh-CN" sz="1600" b="0" i="1" smtClean="0">
                                        <a:latin typeface="Cambria Math"/>
                                      </a:rPr>
                                      <m:t>−1</m:t>
                                    </m:r>
                                  </m:e>
                                </m:d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+6</m:t>
                                </m:r>
                                <m:r>
                                  <a:rPr lang="en-US" altLang="zh-CN" sz="1600" b="0" i="1" smtClean="0">
                                    <a:latin typeface="Cambria Math"/>
                                  </a:rPr>
                                  <m:t>𝛿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600" b="0" i="1" smtClean="0">
                                        <a:latin typeface="Cambria Math"/>
                                      </a:rPr>
                                      <m:t>𝑛</m:t>
                                    </m:r>
                                  </m:e>
                                </m:d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35</m:t>
                                    </m:r>
                                  </m:num>
                                  <m:den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  <m:sSup>
                                  <m:sSup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zh-CN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altLang="zh-CN" sz="16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altLang="zh-CN" sz="1600" b="0" i="1" smtClean="0">
                                                <a:latin typeface="Cambria Math"/>
                                              </a:rPr>
                                              <m:t>1</m:t>
                                            </m:r>
                                          </m:num>
                                          <m:den>
                                            <m:r>
                                              <a:rPr lang="en-US" altLang="zh-CN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zh-CN" sz="1600" b="0" i="1" smtClean="0">
                                        <a:latin typeface="Cambria Math"/>
                                      </a:rPr>
                                      <m:t>𝑛</m:t>
                                    </m:r>
                                  </m:sup>
                                </m:sSup>
                                <m:r>
                                  <a:rPr lang="en-US" altLang="zh-CN" sz="1600" b="0" i="1" smtClean="0">
                                    <a:latin typeface="Cambria Math"/>
                                  </a:rPr>
                                  <m:t>𝑢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600" b="0" i="1" smtClean="0">
                                        <a:latin typeface="Cambria Math"/>
                                      </a:rPr>
                                      <m:t>𝑛</m:t>
                                    </m:r>
                                  </m:e>
                                </m:d>
                                <m:r>
                                  <a:rPr lang="en-US" altLang="zh-CN" sz="1600" b="0" i="1" smtClean="0">
                                    <a:latin typeface="Cambria Math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num>
                                  <m:den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  <m:sSup>
                                  <m:sSup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zh-CN" sz="1600" b="0" i="1" smtClean="0">
                                        <a:latin typeface="Cambria Math"/>
                                      </a:rPr>
                                      <m:t>𝑛</m:t>
                                    </m:r>
                                  </m:sup>
                                </m:sSup>
                                <m:r>
                                  <a:rPr lang="en-US" altLang="zh-CN" sz="1600" b="0" i="1" smtClean="0">
                                    <a:latin typeface="Cambria Math"/>
                                  </a:rPr>
                                  <m:t>𝑢</m:t>
                                </m:r>
                                <m:r>
                                  <a:rPr lang="en-US" altLang="zh-CN" sz="1600" b="0" i="1" smtClean="0">
                                    <a:latin typeface="Cambria Math"/>
                                  </a:rPr>
                                  <m:t>[</m:t>
                                </m:r>
                                <m:r>
                                  <a:rPr lang="en-US" altLang="zh-CN" sz="1600" b="0" i="1" smtClean="0">
                                    <a:latin typeface="Cambria Math"/>
                                  </a:rPr>
                                  <m:t>𝑛</m:t>
                                </m:r>
                                <m:r>
                                  <a:rPr lang="en-US" altLang="zh-CN" sz="1600" b="0" i="1" smtClean="0">
                                    <a:latin typeface="Cambria Math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zh-CN" altLang="en-U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/>
                            <a:t>No </a:t>
                          </a:r>
                          <a:endParaRPr lang="zh-CN" altLang="en-U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/>
                            <a:t>Yes</a:t>
                          </a:r>
                          <a:endParaRPr lang="zh-CN" altLang="en-US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86753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600" b="0" i="1" smtClean="0">
                                      <a:latin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altLang="zh-CN" sz="1600" dirty="0"/>
                            <a:t>&lt;|z|&lt;2</a:t>
                          </a:r>
                          <a:endParaRPr lang="zh-CN" altLang="en-U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latin typeface="Cambria Math"/>
                                  </a:rPr>
                                  <m:t>h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600" b="0" i="1" smtClean="0">
                                        <a:latin typeface="Cambria Math"/>
                                      </a:rPr>
                                      <m:t>𝑛</m:t>
                                    </m:r>
                                  </m:e>
                                </m:d>
                                <m:r>
                                  <a:rPr lang="en-US" altLang="zh-CN" sz="1600" b="0" i="1" smtClean="0">
                                    <a:latin typeface="Cambria Math"/>
                                  </a:rPr>
                                  <m:t>=2</m:t>
                                </m:r>
                                <m:r>
                                  <a:rPr lang="en-US" altLang="zh-CN" sz="1600" b="0" i="1" smtClean="0">
                                    <a:latin typeface="Cambria Math"/>
                                  </a:rPr>
                                  <m:t>𝛿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600" b="0" i="1" smtClean="0">
                                        <a:latin typeface="Cambria Math"/>
                                      </a:rPr>
                                      <m:t>𝑛</m:t>
                                    </m:r>
                                    <m:r>
                                      <a:rPr lang="en-US" altLang="zh-CN" sz="1600" b="0" i="1" smtClean="0">
                                        <a:latin typeface="Cambria Math"/>
                                      </a:rPr>
                                      <m:t>−1</m:t>
                                    </m:r>
                                  </m:e>
                                </m:d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+6</m:t>
                                </m:r>
                                <m:r>
                                  <a:rPr lang="en-US" altLang="zh-CN" sz="1600" b="0" i="1" smtClean="0">
                                    <a:latin typeface="Cambria Math"/>
                                  </a:rPr>
                                  <m:t>𝛿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600" b="0" i="1" smtClean="0">
                                        <a:latin typeface="Cambria Math"/>
                                      </a:rPr>
                                      <m:t>𝑛</m:t>
                                    </m:r>
                                  </m:e>
                                </m:d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35</m:t>
                                    </m:r>
                                  </m:num>
                                  <m:den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  <m:sSup>
                                  <m:sSup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zh-CN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altLang="zh-CN" sz="16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altLang="zh-CN" sz="1600" b="0" i="1" smtClean="0">
                                                <a:latin typeface="Cambria Math"/>
                                              </a:rPr>
                                              <m:t>1</m:t>
                                            </m:r>
                                          </m:num>
                                          <m:den>
                                            <m:r>
                                              <a:rPr lang="en-US" altLang="zh-CN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zh-CN" sz="1600" b="0" i="1" smtClean="0">
                                        <a:latin typeface="Cambria Math"/>
                                      </a:rPr>
                                      <m:t>𝑛</m:t>
                                    </m:r>
                                  </m:sup>
                                </m:sSup>
                                <m:r>
                                  <a:rPr lang="en-US" altLang="zh-CN" sz="1600" b="0" i="1" smtClean="0">
                                    <a:latin typeface="Cambria Math"/>
                                  </a:rPr>
                                  <m:t>𝑢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600" b="0" i="1" smtClean="0">
                                        <a:latin typeface="Cambria Math"/>
                                      </a:rPr>
                                      <m:t>𝑛</m:t>
                                    </m:r>
                                  </m:e>
                                </m:d>
                                <m:r>
                                  <a:rPr lang="en-US" altLang="zh-CN" sz="1600" b="0" i="1" smtClean="0">
                                    <a:latin typeface="Cambria Math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num>
                                  <m:den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  <m:sSup>
                                  <m:sSup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zh-CN" sz="1600" b="0" i="1" smtClean="0">
                                        <a:latin typeface="Cambria Math"/>
                                      </a:rPr>
                                      <m:t>𝑛</m:t>
                                    </m:r>
                                  </m:sup>
                                </m:sSup>
                                <m:r>
                                  <a:rPr lang="en-US" altLang="zh-CN" sz="1600" b="0" i="1" smtClean="0">
                                    <a:latin typeface="Cambria Math"/>
                                  </a:rPr>
                                  <m:t>𝑢</m:t>
                                </m:r>
                                <m:r>
                                  <a:rPr lang="en-US" altLang="zh-CN" sz="1600" b="0" i="1" smtClean="0">
                                    <a:latin typeface="Cambria Math"/>
                                  </a:rPr>
                                  <m:t>[−</m:t>
                                </m:r>
                                <m:r>
                                  <a:rPr lang="en-US" altLang="zh-CN" sz="1600" b="0" i="1" smtClean="0">
                                    <a:latin typeface="Cambria Math"/>
                                  </a:rPr>
                                  <m:t>𝑛</m:t>
                                </m:r>
                                <m:r>
                                  <a:rPr lang="en-US" altLang="zh-CN" sz="1600" b="0" i="1" smtClean="0">
                                    <a:latin typeface="Cambria Math"/>
                                  </a:rPr>
                                  <m:t>−1]</m:t>
                                </m:r>
                              </m:oMath>
                            </m:oMathPara>
                          </a14:m>
                          <a:endParaRPr lang="zh-CN" altLang="en-US" sz="1600" dirty="0"/>
                        </a:p>
                        <a:p>
                          <a:pPr algn="ctr"/>
                          <a:endParaRPr lang="zh-CN" altLang="en-U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/>
                            <a:t>Yes </a:t>
                          </a:r>
                          <a:endParaRPr lang="zh-CN" altLang="en-U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/>
                            <a:t>No</a:t>
                          </a:r>
                          <a:endParaRPr lang="zh-CN" altLang="en-US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093825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dirty="0"/>
                            <a:t>0&lt;|z|&lt;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600" b="0" i="1" smtClean="0">
                                      <a:latin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endParaRPr lang="zh-CN" altLang="en-U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latin typeface="Cambria Math"/>
                                  </a:rPr>
                                  <m:t>h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600" b="0" i="1" smtClean="0">
                                        <a:latin typeface="Cambria Math"/>
                                      </a:rPr>
                                      <m:t>𝑛</m:t>
                                    </m:r>
                                  </m:e>
                                </m:d>
                                <m:r>
                                  <a:rPr lang="en-US" altLang="zh-CN" sz="1600" b="0" i="1" smtClean="0">
                                    <a:latin typeface="Cambria Math"/>
                                  </a:rPr>
                                  <m:t>=2</m:t>
                                </m:r>
                                <m:r>
                                  <a:rPr lang="en-US" altLang="zh-CN" sz="1600" b="0" i="1" smtClean="0">
                                    <a:latin typeface="Cambria Math"/>
                                  </a:rPr>
                                  <m:t>𝛿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600" b="0" i="1" smtClean="0">
                                        <a:latin typeface="Cambria Math"/>
                                      </a:rPr>
                                      <m:t>𝑛</m:t>
                                    </m:r>
                                    <m:r>
                                      <a:rPr lang="en-US" altLang="zh-CN" sz="1600" b="0" i="1" smtClean="0">
                                        <a:latin typeface="Cambria Math"/>
                                      </a:rPr>
                                      <m:t>−1</m:t>
                                    </m:r>
                                  </m:e>
                                </m:d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+6</m:t>
                                </m:r>
                                <m:r>
                                  <a:rPr lang="en-US" altLang="zh-CN" sz="1600" b="0" i="1" smtClean="0">
                                    <a:latin typeface="Cambria Math"/>
                                  </a:rPr>
                                  <m:t>𝛿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600" b="0" i="1" smtClean="0">
                                        <a:latin typeface="Cambria Math"/>
                                      </a:rPr>
                                      <m:t>𝑛</m:t>
                                    </m:r>
                                  </m:e>
                                </m:d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35</m:t>
                                    </m:r>
                                  </m:num>
                                  <m:den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  <m:sSup>
                                  <m:sSup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zh-CN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altLang="zh-CN" sz="16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altLang="zh-CN" sz="1600" b="0" i="1" smtClean="0">
                                                <a:latin typeface="Cambria Math"/>
                                              </a:rPr>
                                              <m:t>1</m:t>
                                            </m:r>
                                          </m:num>
                                          <m:den>
                                            <m:r>
                                              <a:rPr lang="en-US" altLang="zh-CN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zh-CN" sz="1600" b="0" i="1" smtClean="0">
                                        <a:latin typeface="Cambria Math"/>
                                      </a:rPr>
                                      <m:t>𝑛</m:t>
                                    </m:r>
                                  </m:sup>
                                </m:sSup>
                                <m:r>
                                  <a:rPr lang="en-US" altLang="zh-CN" sz="1600" b="0" i="1" smtClean="0">
                                    <a:latin typeface="Cambria Math"/>
                                  </a:rPr>
                                  <m:t>𝑢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600" b="0" i="1" smtClean="0">
                                        <a:latin typeface="Cambria Math"/>
                                      </a:rPr>
                                      <m:t>−</m:t>
                                    </m:r>
                                    <m:r>
                                      <a:rPr lang="en-US" altLang="zh-CN" sz="1600" b="0" i="1" smtClean="0">
                                        <a:latin typeface="Cambria Math"/>
                                      </a:rPr>
                                      <m:t>𝑛</m:t>
                                    </m:r>
                                    <m:r>
                                      <a:rPr lang="en-US" altLang="zh-CN" sz="1600" b="0" i="1" smtClean="0">
                                        <a:latin typeface="Cambria Math"/>
                                      </a:rPr>
                                      <m:t>−1</m:t>
                                    </m:r>
                                  </m:e>
                                </m:d>
                                <m:r>
                                  <a:rPr lang="en-US" altLang="zh-CN" sz="1600" b="0" i="1" smtClean="0">
                                    <a:latin typeface="Cambria Math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num>
                                  <m:den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  <m:sSup>
                                  <m:sSup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zh-CN" sz="1600" b="0" i="1" smtClean="0">
                                        <a:latin typeface="Cambria Math"/>
                                      </a:rPr>
                                      <m:t>𝑛</m:t>
                                    </m:r>
                                  </m:sup>
                                </m:sSup>
                                <m:r>
                                  <a:rPr lang="en-US" altLang="zh-CN" sz="1600" b="0" i="1" smtClean="0">
                                    <a:latin typeface="Cambria Math"/>
                                  </a:rPr>
                                  <m:t>𝑢</m:t>
                                </m:r>
                                <m:r>
                                  <a:rPr lang="en-US" altLang="zh-CN" sz="1600" b="0" i="1" smtClean="0">
                                    <a:latin typeface="Cambria Math"/>
                                  </a:rPr>
                                  <m:t>[−</m:t>
                                </m:r>
                                <m:r>
                                  <a:rPr lang="en-US" altLang="zh-CN" sz="1600" b="0" i="1" smtClean="0">
                                    <a:latin typeface="Cambria Math"/>
                                  </a:rPr>
                                  <m:t>𝑛</m:t>
                                </m:r>
                                <m:r>
                                  <a:rPr lang="en-US" altLang="zh-CN" sz="1600" b="0" i="1" smtClean="0">
                                    <a:latin typeface="Cambria Math"/>
                                  </a:rPr>
                                  <m:t>−1]</m:t>
                                </m:r>
                              </m:oMath>
                            </m:oMathPara>
                          </a14:m>
                          <a:endParaRPr lang="zh-CN" altLang="en-U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/>
                            <a:t>No</a:t>
                          </a:r>
                          <a:endParaRPr lang="zh-CN" altLang="en-U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/>
                            <a:t>No</a:t>
                          </a:r>
                          <a:endParaRPr lang="zh-CN" altLang="en-US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表格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86894990"/>
                  </p:ext>
                </p:extLst>
              </p:nvPr>
            </p:nvGraphicFramePr>
            <p:xfrm>
              <a:off x="46611" y="3140968"/>
              <a:ext cx="8989885" cy="319305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6075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97038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2937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02937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375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 smtClean="0"/>
                            <a:t>ROC</a:t>
                          </a:r>
                          <a:endParaRPr lang="zh-CN" altLang="en-U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 smtClean="0"/>
                            <a:t>h[n]</a:t>
                          </a:r>
                          <a:endParaRPr lang="zh-CN" altLang="en-U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 smtClean="0"/>
                            <a:t>Stability</a:t>
                          </a:r>
                          <a:endParaRPr lang="zh-CN" altLang="en-U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 smtClean="0"/>
                            <a:t>Causality</a:t>
                          </a:r>
                          <a:endParaRPr lang="zh-CN" altLang="en-US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502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 smtClean="0"/>
                            <a:t>|z</a:t>
                          </a:r>
                          <a:r>
                            <a:rPr lang="en-US" altLang="zh-CN" sz="1600" dirty="0" smtClean="0"/>
                            <a:t>|&gt;2</a:t>
                          </a:r>
                          <a:endParaRPr lang="zh-CN" altLang="en-U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6224" t="-59350" r="-34694" b="-2699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 smtClean="0"/>
                            <a:t>No </a:t>
                          </a:r>
                          <a:endParaRPr lang="zh-CN" altLang="en-U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 smtClean="0"/>
                            <a:t>Yes</a:t>
                          </a:r>
                          <a:endParaRPr lang="zh-CN" altLang="en-US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911479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633" t="-130667" r="-835443" b="-12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6224" t="-130667" r="-34694" b="-12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 smtClean="0"/>
                            <a:t>Yes </a:t>
                          </a:r>
                          <a:endParaRPr lang="zh-CN" altLang="en-U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 smtClean="0"/>
                            <a:t>No</a:t>
                          </a:r>
                          <a:endParaRPr lang="zh-CN" altLang="en-US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09382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633" t="-192222" r="-835443" b="-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6224" t="-192222" r="-34694" b="-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 smtClean="0"/>
                            <a:t>No</a:t>
                          </a:r>
                          <a:endParaRPr lang="zh-CN" altLang="en-U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 smtClean="0"/>
                            <a:t>No</a:t>
                          </a:r>
                          <a:endParaRPr lang="zh-CN" altLang="en-US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507815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/>
          <a:lstStyle/>
          <a:p>
            <a:pPr algn="l"/>
            <a:r>
              <a:rPr lang="zh-CN" altLang="en-US" dirty="0"/>
              <a:t>习题五</a:t>
            </a:r>
            <a:r>
              <a:rPr lang="en-US" altLang="zh-CN" sz="2000" dirty="0"/>
              <a:t>-(1)</a:t>
            </a:r>
            <a:endParaRPr lang="zh-CN" altLang="en-US" sz="2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525963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2000" dirty="0"/>
              <a:t>题目：</a:t>
            </a: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000" dirty="0"/>
              <a:t>解答（法一）：</a:t>
            </a: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 marL="0" indent="0">
              <a:buNone/>
            </a:pPr>
            <a:br>
              <a:rPr lang="zh-CN" altLang="en-US" sz="2000" dirty="0"/>
            </a:br>
            <a:br>
              <a:rPr lang="zh-CN" altLang="en-US" sz="2000" dirty="0"/>
            </a:br>
            <a:br>
              <a:rPr lang="zh-CN" altLang="en-US" sz="2000" dirty="0"/>
            </a:br>
            <a:br>
              <a:rPr lang="zh-CN" altLang="en-US" sz="2000" dirty="0"/>
            </a:br>
            <a:endParaRPr lang="en-US" altLang="zh-CN" sz="20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endParaRPr lang="zh-CN" altLang="en-US" sz="24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1599707"/>
            <a:ext cx="5344070" cy="1268209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9632" y="3573016"/>
            <a:ext cx="6760244" cy="2887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5586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48" y="3356992"/>
            <a:ext cx="6280795" cy="3375393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/>
          <a:lstStyle/>
          <a:p>
            <a:pPr algn="l"/>
            <a:r>
              <a:rPr lang="zh-CN" altLang="en-US" dirty="0"/>
              <a:t>习题五</a:t>
            </a:r>
            <a:r>
              <a:rPr lang="en-US" altLang="zh-CN" sz="2000" dirty="0"/>
              <a:t>-(2)</a:t>
            </a:r>
            <a:endParaRPr lang="zh-CN" altLang="en-US" sz="2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525963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2000" dirty="0"/>
              <a:t>题目：</a:t>
            </a: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000" dirty="0"/>
              <a:t>解答（法二）：</a:t>
            </a: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 marL="0" indent="0">
              <a:buNone/>
            </a:pPr>
            <a:br>
              <a:rPr lang="zh-CN" altLang="en-US" sz="2000" dirty="0"/>
            </a:br>
            <a:br>
              <a:rPr lang="zh-CN" altLang="en-US" sz="2000" dirty="0"/>
            </a:br>
            <a:br>
              <a:rPr lang="zh-CN" altLang="en-US" sz="2000" dirty="0"/>
            </a:br>
            <a:br>
              <a:rPr lang="zh-CN" altLang="en-US" sz="2000" dirty="0"/>
            </a:br>
            <a:endParaRPr lang="en-US" altLang="zh-CN" sz="20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endParaRPr lang="zh-CN" altLang="en-US" sz="2400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84" y="1674513"/>
            <a:ext cx="5344070" cy="1268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6596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/>
          <a:lstStyle/>
          <a:p>
            <a:pPr algn="l"/>
            <a:r>
              <a:rPr lang="zh-CN" altLang="en-US" dirty="0"/>
              <a:t>习题六</a:t>
            </a:r>
            <a:r>
              <a:rPr lang="en-US" altLang="zh-CN" sz="2000" dirty="0"/>
              <a:t>-(1)</a:t>
            </a:r>
            <a:endParaRPr lang="zh-CN" altLang="en-US" sz="2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525963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2000" dirty="0"/>
              <a:t>题目：</a:t>
            </a: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000" dirty="0"/>
              <a:t>解答：</a:t>
            </a: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 marL="0" indent="0">
              <a:buNone/>
            </a:pPr>
            <a:br>
              <a:rPr lang="zh-CN" altLang="en-US" sz="2000" dirty="0"/>
            </a:br>
            <a:br>
              <a:rPr lang="zh-CN" altLang="en-US" sz="2000" dirty="0"/>
            </a:br>
            <a:br>
              <a:rPr lang="zh-CN" altLang="en-US" sz="2000" dirty="0"/>
            </a:br>
            <a:br>
              <a:rPr lang="zh-CN" altLang="en-US" sz="2000" dirty="0"/>
            </a:br>
            <a:endParaRPr lang="en-US" altLang="zh-CN" sz="20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endParaRPr lang="zh-CN" altLang="en-US" sz="24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592" y="1686273"/>
            <a:ext cx="4896544" cy="138040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1403648" y="3692639"/>
                <a:ext cx="4572000" cy="2400657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zh-CN" altLang="en-US" sz="2000" dirty="0"/>
                  <a:t>对式子进行整理</a:t>
                </a:r>
                <a:r>
                  <a:rPr lang="en-US" altLang="zh-CN" sz="2000" dirty="0"/>
                  <a:t>:</a:t>
                </a:r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sz="2000" dirty="0"/>
                  <a:t>初始值</a:t>
                </a:r>
                <a:r>
                  <a:rPr lang="en-US" altLang="zh-CN" sz="2000" dirty="0"/>
                  <a:t>:20dB;   </a:t>
                </a:r>
                <a:r>
                  <a:rPr lang="zh-CN" altLang="en-US" sz="2000" dirty="0"/>
                  <a:t>一阶零点</a:t>
                </a:r>
                <a:r>
                  <a:rPr lang="en-US" altLang="zh-CN" sz="2000" dirty="0"/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a:rPr lang="en-US" altLang="zh-CN" sz="2000" i="1">
                            <a:latin typeface="Cambria Math"/>
                          </a:rPr>
                          <m:t>−1</m:t>
                        </m:r>
                      </m:sup>
                    </m:sSup>
                    <m:r>
                      <a:rPr lang="en-US" altLang="zh-CN" sz="2000" i="1">
                        <a:latin typeface="Cambria Math"/>
                      </a:rPr>
                      <m:t>, 10</m:t>
                    </m:r>
                  </m:oMath>
                </a14:m>
                <a:r>
                  <a:rPr lang="en-US" altLang="zh-CN" sz="2000" dirty="0"/>
                  <a:t>;</a:t>
                </a:r>
              </a:p>
              <a:p>
                <a:r>
                  <a:rPr lang="en-US" altLang="zh-CN" sz="2000" dirty="0"/>
                  <a:t>     </a:t>
                </a:r>
                <a:r>
                  <a:rPr lang="zh-CN" altLang="en-US" sz="2000" dirty="0"/>
                  <a:t>一阶极点</a:t>
                </a:r>
                <a:r>
                  <a:rPr lang="en-US" altLang="zh-CN" sz="2000" dirty="0"/>
                  <a:t>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a:rPr lang="en-US" altLang="zh-CN" sz="2000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000" dirty="0"/>
                  <a:t>; </a:t>
                </a:r>
                <a:r>
                  <a:rPr lang="zh-CN" altLang="en-US" sz="2000" dirty="0"/>
                  <a:t>二阶极点</a:t>
                </a:r>
                <a:r>
                  <a:rPr lang="en-US" altLang="zh-CN" sz="2000" dirty="0"/>
                  <a:t>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a:rPr lang="en-US" altLang="zh-CN" sz="2000" i="1">
                            <a:latin typeface="Cambria Math"/>
                          </a:rPr>
                          <m:t>0</m:t>
                        </m:r>
                      </m:sup>
                    </m:sSup>
                  </m:oMath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3648" y="3692639"/>
                <a:ext cx="4572000" cy="2400657"/>
              </a:xfrm>
              <a:prstGeom prst="rect">
                <a:avLst/>
              </a:prstGeom>
              <a:blipFill>
                <a:blip r:embed="rId5"/>
                <a:stretch>
                  <a:fillRect l="-1333" t="-2284" b="-38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图片 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4213173"/>
            <a:ext cx="4994432" cy="800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5110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/>
          <a:lstStyle/>
          <a:p>
            <a:pPr algn="l"/>
            <a:r>
              <a:rPr lang="zh-CN" altLang="en-US" dirty="0"/>
              <a:t>习题六</a:t>
            </a:r>
            <a:r>
              <a:rPr lang="en-US" altLang="zh-CN" sz="2000" dirty="0"/>
              <a:t>-(2)</a:t>
            </a:r>
            <a:endParaRPr lang="zh-CN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96752"/>
                <a:ext cx="8229600" cy="4525963"/>
              </a:xfrm>
            </p:spPr>
            <p:txBody>
              <a:bodyPr>
                <a:noAutofit/>
              </a:bodyPr>
              <a:lstStyle/>
              <a:p>
                <a:pPr>
                  <a:buFont typeface="Wingdings" panose="05000000000000000000" pitchFamily="2" charset="2"/>
                  <a:buChar char="Ø"/>
                </a:pPr>
                <a:r>
                  <a:rPr lang="zh-CN" altLang="en-US" sz="2000" dirty="0"/>
                  <a:t>解答：</a:t>
                </a:r>
                <a:endParaRPr lang="en-US" altLang="zh-CN" sz="2000" dirty="0"/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zh-CN" altLang="en-US" sz="1800" dirty="0"/>
                  <a:t>初始值</a:t>
                </a:r>
                <a:r>
                  <a:rPr lang="en-US" altLang="zh-CN" sz="1800" dirty="0"/>
                  <a:t>:20dB;   </a:t>
                </a:r>
                <a:r>
                  <a:rPr lang="zh-CN" altLang="en-US" sz="1800" dirty="0"/>
                  <a:t>一阶零点</a:t>
                </a:r>
                <a:r>
                  <a:rPr lang="en-US" altLang="zh-CN" sz="1800" dirty="0"/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80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180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1800">
                        <a:latin typeface="Cambria Math" panose="02040503050406030204" pitchFamily="18" charset="0"/>
                      </a:rPr>
                      <m:t>, 10</m:t>
                    </m:r>
                  </m:oMath>
                </a14:m>
                <a:r>
                  <a:rPr lang="en-US" altLang="zh-CN" sz="1800" dirty="0"/>
                  <a:t>;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US" altLang="zh-CN" sz="1800" dirty="0"/>
                  <a:t> </a:t>
                </a:r>
                <a:r>
                  <a:rPr lang="zh-CN" altLang="en-US" sz="1800" dirty="0"/>
                  <a:t>一阶极点</a:t>
                </a:r>
                <a:r>
                  <a:rPr lang="en-US" altLang="zh-CN" sz="1800" dirty="0"/>
                  <a:t>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80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18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800" dirty="0"/>
                  <a:t>; </a:t>
                </a:r>
                <a:r>
                  <a:rPr lang="zh-CN" altLang="en-US" sz="1800" dirty="0"/>
                  <a:t>二阶极点</a:t>
                </a:r>
                <a:r>
                  <a:rPr lang="en-US" altLang="zh-CN" sz="1800" dirty="0"/>
                  <a:t>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80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180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endParaRPr lang="en-US" altLang="zh-CN" sz="1800" dirty="0"/>
              </a:p>
              <a:p>
                <a:pPr marL="0" indent="0">
                  <a:buNone/>
                </a:pPr>
                <a:endParaRPr lang="en-US" altLang="zh-CN" sz="2000" dirty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altLang="zh-CN" sz="2000" dirty="0"/>
              </a:p>
              <a:p>
                <a:pPr marL="0" indent="0">
                  <a:buNone/>
                </a:pPr>
                <a:br>
                  <a:rPr lang="zh-CN" altLang="en-US" sz="2000" dirty="0"/>
                </a:br>
                <a:br>
                  <a:rPr lang="zh-CN" altLang="en-US" sz="2000" dirty="0"/>
                </a:br>
                <a:br>
                  <a:rPr lang="zh-CN" altLang="en-US" sz="2000" dirty="0"/>
                </a:br>
                <a:br>
                  <a:rPr lang="zh-CN" altLang="en-US" sz="2000" dirty="0"/>
                </a:br>
                <a:endParaRPr lang="en-US" altLang="zh-CN" sz="20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pPr marL="0" indent="0">
                  <a:buNone/>
                </a:pPr>
                <a:endParaRPr lang="en-US" altLang="zh-CN" sz="2400" dirty="0"/>
              </a:p>
              <a:p>
                <a:pPr marL="0" indent="0">
                  <a:buNone/>
                </a:pPr>
                <a:endParaRPr lang="en-US" altLang="zh-CN" sz="2400" dirty="0"/>
              </a:p>
              <a:p>
                <a:pPr marL="0" indent="0">
                  <a:buNone/>
                </a:pPr>
                <a:endParaRPr lang="zh-CN" altLang="en-US" sz="24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96752"/>
                <a:ext cx="8229600" cy="4525963"/>
              </a:xfrm>
              <a:blipFill>
                <a:blip r:embed="rId3"/>
                <a:stretch>
                  <a:fillRect l="-667" t="-1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2494508"/>
            <a:ext cx="4545080" cy="3684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3" descr="D:\scientificresearch\currirculum\signalprocessing\finalterm\bode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817065" y="2704771"/>
            <a:ext cx="3999257" cy="2999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本框 3"/>
          <p:cNvSpPr txBox="1"/>
          <p:nvPr/>
        </p:nvSpPr>
        <p:spPr>
          <a:xfrm>
            <a:off x="1259632" y="6237312"/>
            <a:ext cx="36724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图一 </a:t>
            </a:r>
            <a:r>
              <a:rPr lang="en-US" altLang="zh-CN" sz="1600" dirty="0" err="1"/>
              <a:t>Matlab</a:t>
            </a:r>
            <a:r>
              <a:rPr lang="zh-CN" altLang="en-US" sz="1600" dirty="0"/>
              <a:t>作的</a:t>
            </a:r>
            <a:r>
              <a:rPr lang="en-US" altLang="zh-CN" sz="1600" dirty="0"/>
              <a:t>Bode</a:t>
            </a:r>
            <a:r>
              <a:rPr lang="zh-CN" altLang="en-US" sz="1600" dirty="0"/>
              <a:t>图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5940152" y="6237312"/>
            <a:ext cx="36724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图二 手画的</a:t>
            </a:r>
            <a:r>
              <a:rPr lang="en-US" altLang="zh-CN" sz="1600" dirty="0"/>
              <a:t>Bode</a:t>
            </a:r>
            <a:r>
              <a:rPr lang="zh-CN" altLang="en-US" sz="1600" dirty="0"/>
              <a:t>图</a:t>
            </a:r>
          </a:p>
        </p:txBody>
      </p:sp>
    </p:spTree>
    <p:extLst>
      <p:ext uri="{BB962C8B-B14F-4D97-AF65-F5344CB8AC3E}">
        <p14:creationId xmlns:p14="http://schemas.microsoft.com/office/powerpoint/2010/main" val="6591429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80" y="1224206"/>
            <a:ext cx="5897885" cy="279184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/>
          <a:lstStyle/>
          <a:p>
            <a:pPr algn="l"/>
            <a:r>
              <a:rPr lang="zh-CN" altLang="en-US" dirty="0"/>
              <a:t>习题七</a:t>
            </a:r>
            <a:r>
              <a:rPr lang="en-US" altLang="zh-CN" sz="2000" dirty="0"/>
              <a:t>-(1)</a:t>
            </a:r>
            <a:endParaRPr lang="zh-CN" altLang="en-US" sz="2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525963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2000" dirty="0"/>
              <a:t>题目：</a:t>
            </a: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000" dirty="0"/>
              <a:t>解答</a:t>
            </a:r>
            <a:r>
              <a:rPr lang="en-US" altLang="zh-CN" sz="2000" dirty="0"/>
              <a:t>1</a:t>
            </a:r>
            <a:r>
              <a:rPr lang="zh-CN" altLang="en-US" sz="2000" dirty="0"/>
              <a:t>）</a:t>
            </a:r>
            <a:r>
              <a:rPr lang="en-US" altLang="zh-CN" sz="2000" dirty="0"/>
              <a:t>: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 marL="0" indent="0">
              <a:buNone/>
            </a:pPr>
            <a:br>
              <a:rPr lang="zh-CN" altLang="en-US" sz="2000" dirty="0"/>
            </a:br>
            <a:br>
              <a:rPr lang="zh-CN" altLang="en-US" sz="2000" dirty="0"/>
            </a:br>
            <a:br>
              <a:rPr lang="zh-CN" altLang="en-US" sz="2000" dirty="0"/>
            </a:br>
            <a:br>
              <a:rPr lang="zh-CN" altLang="en-US" sz="2000" dirty="0"/>
            </a:br>
            <a:endParaRPr lang="en-US" altLang="zh-CN" sz="20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endParaRPr lang="zh-CN" altLang="en-US" sz="24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2901" y="4239483"/>
            <a:ext cx="5976664" cy="2415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8034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1680" y="1224206"/>
            <a:ext cx="5897885" cy="279184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/>
          <a:lstStyle/>
          <a:p>
            <a:pPr algn="l"/>
            <a:r>
              <a:rPr lang="zh-CN" altLang="en-US" dirty="0"/>
              <a:t>习题七</a:t>
            </a:r>
            <a:r>
              <a:rPr lang="en-US" altLang="zh-CN" sz="2000" dirty="0"/>
              <a:t>-(2)</a:t>
            </a:r>
            <a:endParaRPr lang="zh-CN" altLang="en-US" sz="2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525963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2000" dirty="0"/>
              <a:t>题目：</a:t>
            </a: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000" dirty="0"/>
              <a:t>解答</a:t>
            </a:r>
            <a:r>
              <a:rPr lang="en-US" altLang="zh-CN" sz="2000" dirty="0"/>
              <a:t>2</a:t>
            </a:r>
            <a:r>
              <a:rPr lang="zh-CN" altLang="en-US" sz="2000" dirty="0"/>
              <a:t>）</a:t>
            </a:r>
            <a:r>
              <a:rPr lang="en-US" altLang="zh-CN" sz="2000" dirty="0"/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sz="1600" dirty="0"/>
              <a:t>将值代入（</a:t>
            </a:r>
            <a:r>
              <a:rPr lang="en-US" altLang="zh-CN" sz="1600" dirty="0"/>
              <a:t>1</a:t>
            </a:r>
            <a:r>
              <a:rPr lang="zh-CN" altLang="en-US" sz="1600" dirty="0"/>
              <a:t>）的表达式中，整理可得：</a:t>
            </a:r>
            <a:endParaRPr lang="en-US" altLang="zh-CN" sz="1600" dirty="0"/>
          </a:p>
          <a:p>
            <a:pPr lvl="1">
              <a:buFont typeface="Arial" panose="020B0604020202020204" pitchFamily="34" charset="0"/>
              <a:buChar char="•"/>
            </a:pPr>
            <a:endParaRPr lang="en-US" altLang="zh-CN" sz="1600" dirty="0"/>
          </a:p>
          <a:p>
            <a:pPr lvl="1">
              <a:buFont typeface="Arial" panose="020B0604020202020204" pitchFamily="34" charset="0"/>
              <a:buChar char="•"/>
            </a:pPr>
            <a:endParaRPr lang="en-US" altLang="zh-CN" sz="16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sz="1600" dirty="0"/>
              <a:t>零极点频率分别为：</a:t>
            </a:r>
            <a:endParaRPr lang="en-US" altLang="zh-CN" sz="1600" dirty="0"/>
          </a:p>
          <a:p>
            <a:pPr marL="457200" lvl="1" indent="0">
              <a:buNone/>
            </a:pPr>
            <a:endParaRPr lang="en-US" altLang="zh-CN" sz="1600" dirty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 marL="0" indent="0">
              <a:buNone/>
            </a:pPr>
            <a:br>
              <a:rPr lang="zh-CN" altLang="en-US" sz="2000" dirty="0"/>
            </a:br>
            <a:br>
              <a:rPr lang="zh-CN" altLang="en-US" sz="2000" dirty="0"/>
            </a:br>
            <a:br>
              <a:rPr lang="zh-CN" altLang="en-US" sz="2000" dirty="0"/>
            </a:br>
            <a:br>
              <a:rPr lang="zh-CN" altLang="en-US" sz="2000" dirty="0"/>
            </a:br>
            <a:endParaRPr lang="en-US" altLang="zh-CN" sz="20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endParaRPr lang="zh-CN" altLang="en-US" sz="2400" dirty="0"/>
          </a:p>
        </p:txBody>
      </p:sp>
      <p:pic>
        <p:nvPicPr>
          <p:cNvPr id="7" name="图片 6" descr="\documentclass{article}&#10;\usepackage{amsmath}&#10;\pagestyle{empty}&#10;\begin{document}&#10;&#10;$H(s)=-\frac{2}{3}\times 10^{-9}\frac{(s+10^9)(s+\frac{1}{2}\times10^9)}{s+\frac{1}{3}\times 10^9},\quad H(0)=-1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4491383"/>
            <a:ext cx="5256584" cy="451495"/>
          </a:xfrm>
          <a:prstGeom prst="rect">
            <a:avLst/>
          </a:prstGeom>
        </p:spPr>
      </p:pic>
      <p:pic>
        <p:nvPicPr>
          <p:cNvPr id="9" name="图片 8" descr="\documentclass{article}&#10;\usepackage{amsmath}&#10;\pagestyle{empty}&#10;\begin{document}&#10;&#10;\begin{align*}&#10;f_{z1}&amp;=\frac{1}{2\pi}\times 10^9=1.59 \times 10^8 \\&#10;f_{z2}&amp;=\frac{1}{2\pi}\times \frac{1}{2} \times 10^9=7.96 \times 10^7 \\&#10;f_{p1}&amp;=\frac{1}{2\pi}\times \frac{1}{3} \times 10^9=5.31 \times 10^7 &#10;\end{align*}&#10;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5365467"/>
            <a:ext cx="3043346" cy="1458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7009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/>
          <a:lstStyle/>
          <a:p>
            <a:pPr algn="l"/>
            <a:r>
              <a:rPr lang="zh-CN" altLang="en-US" dirty="0"/>
              <a:t>习题八</a:t>
            </a:r>
            <a:r>
              <a:rPr lang="en-US" altLang="zh-CN" sz="2000" dirty="0"/>
              <a:t>-(1)</a:t>
            </a:r>
            <a:endParaRPr lang="zh-CN" altLang="en-US" sz="2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525963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2000" dirty="0"/>
              <a:t>题目：</a:t>
            </a: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lvl="1">
              <a:buFont typeface="Arial" panose="020B0604020202020204" pitchFamily="34" charset="0"/>
              <a:buChar char="•"/>
            </a:pPr>
            <a:endParaRPr lang="en-US" altLang="zh-CN" sz="1600" dirty="0"/>
          </a:p>
          <a:p>
            <a:pPr lvl="1">
              <a:buFont typeface="Arial" panose="020B0604020202020204" pitchFamily="34" charset="0"/>
              <a:buChar char="•"/>
            </a:pPr>
            <a:endParaRPr lang="en-US" altLang="zh-CN" sz="1600" dirty="0"/>
          </a:p>
          <a:p>
            <a:pPr marL="457200" lvl="1" indent="0">
              <a:buNone/>
            </a:pPr>
            <a:endParaRPr lang="en-US" altLang="zh-CN" sz="1600" dirty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 marL="0" indent="0">
              <a:buNone/>
            </a:pPr>
            <a:br>
              <a:rPr lang="zh-CN" altLang="en-US" sz="2000" dirty="0"/>
            </a:br>
            <a:br>
              <a:rPr lang="zh-CN" altLang="en-US" sz="2000" dirty="0"/>
            </a:br>
            <a:br>
              <a:rPr lang="zh-CN" altLang="en-US" sz="2000" dirty="0"/>
            </a:br>
            <a:br>
              <a:rPr lang="zh-CN" altLang="en-US" sz="2000" dirty="0"/>
            </a:br>
            <a:endParaRPr lang="en-US" altLang="zh-CN" sz="20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endParaRPr lang="zh-CN" altLang="en-US" sz="24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80" y="1700808"/>
            <a:ext cx="8273784" cy="140392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9672" y="3212976"/>
            <a:ext cx="5744414" cy="2304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5578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/>
          <a:lstStyle/>
          <a:p>
            <a:pPr algn="l"/>
            <a:r>
              <a:rPr lang="zh-CN" altLang="en-US" dirty="0"/>
              <a:t>习题八</a:t>
            </a:r>
            <a:r>
              <a:rPr lang="en-US" altLang="zh-CN" sz="2000" dirty="0"/>
              <a:t>-(2)</a:t>
            </a:r>
            <a:endParaRPr lang="zh-CN" altLang="en-US" sz="2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525963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2000" dirty="0"/>
              <a:t>题目：</a:t>
            </a: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000" dirty="0"/>
              <a:t>解答</a:t>
            </a:r>
            <a:r>
              <a:rPr lang="en-US" altLang="zh-CN" sz="2000" dirty="0"/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altLang="zh-CN" sz="1600" dirty="0"/>
          </a:p>
          <a:p>
            <a:pPr lvl="1">
              <a:buFont typeface="Arial" panose="020B0604020202020204" pitchFamily="34" charset="0"/>
              <a:buChar char="•"/>
            </a:pPr>
            <a:endParaRPr lang="en-US" altLang="zh-CN" sz="1600" dirty="0"/>
          </a:p>
          <a:p>
            <a:pPr marL="457200" lvl="1" indent="0">
              <a:buNone/>
            </a:pPr>
            <a:endParaRPr lang="en-US" altLang="zh-CN" sz="1600" dirty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 marL="0" indent="0">
              <a:buNone/>
            </a:pPr>
            <a:br>
              <a:rPr lang="zh-CN" altLang="en-US" sz="2000" dirty="0"/>
            </a:br>
            <a:br>
              <a:rPr lang="zh-CN" altLang="en-US" sz="2000" dirty="0"/>
            </a:br>
            <a:br>
              <a:rPr lang="zh-CN" altLang="en-US" sz="2000" dirty="0"/>
            </a:br>
            <a:br>
              <a:rPr lang="zh-CN" altLang="en-US" sz="2000" dirty="0"/>
            </a:br>
            <a:endParaRPr lang="en-US" altLang="zh-CN" sz="20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endParaRPr lang="zh-CN" altLang="en-US" sz="2400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80" y="1298259"/>
            <a:ext cx="5328592" cy="2072928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1680" y="3400686"/>
            <a:ext cx="5583510" cy="2615852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3848" y="6016538"/>
            <a:ext cx="3379093" cy="394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013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/>
          <a:lstStyle/>
          <a:p>
            <a:pPr algn="l"/>
            <a:r>
              <a:rPr lang="zh-CN" altLang="en-US" dirty="0"/>
              <a:t>习题八</a:t>
            </a:r>
            <a:r>
              <a:rPr lang="en-US" altLang="zh-CN" sz="2000" dirty="0"/>
              <a:t>-(3)</a:t>
            </a:r>
            <a:endParaRPr lang="zh-CN" altLang="en-US" sz="2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525963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2000" dirty="0"/>
              <a:t>题目：</a:t>
            </a: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000" dirty="0"/>
              <a:t>解答</a:t>
            </a:r>
            <a:r>
              <a:rPr lang="en-US" altLang="zh-CN" sz="2000" dirty="0"/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altLang="zh-CN" sz="1600" dirty="0"/>
          </a:p>
          <a:p>
            <a:pPr lvl="1">
              <a:buFont typeface="Arial" panose="020B0604020202020204" pitchFamily="34" charset="0"/>
              <a:buChar char="•"/>
            </a:pPr>
            <a:endParaRPr lang="en-US" altLang="zh-CN" sz="1600" dirty="0"/>
          </a:p>
          <a:p>
            <a:pPr marL="457200" lvl="1" indent="0">
              <a:buNone/>
            </a:pPr>
            <a:endParaRPr lang="en-US" altLang="zh-CN" sz="1600" dirty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 marL="0" indent="0">
              <a:buNone/>
            </a:pPr>
            <a:br>
              <a:rPr lang="zh-CN" altLang="en-US" sz="2000" dirty="0"/>
            </a:br>
            <a:br>
              <a:rPr lang="zh-CN" altLang="en-US" sz="2000" dirty="0"/>
            </a:br>
            <a:br>
              <a:rPr lang="zh-CN" altLang="en-US" sz="2000" dirty="0"/>
            </a:br>
            <a:br>
              <a:rPr lang="zh-CN" altLang="en-US" sz="2000" dirty="0"/>
            </a:br>
            <a:endParaRPr lang="en-US" altLang="zh-CN" sz="20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endParaRPr lang="zh-CN" altLang="en-US" sz="2400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80" y="1298259"/>
            <a:ext cx="5328592" cy="207292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552" y="3573016"/>
            <a:ext cx="5142742" cy="2879936"/>
          </a:xfrm>
          <a:prstGeom prst="rect">
            <a:avLst/>
          </a:prstGeom>
        </p:spPr>
      </p:pic>
      <p:pic>
        <p:nvPicPr>
          <p:cNvPr id="9" name="图片 8"/>
          <p:cNvPicPr/>
          <p:nvPr/>
        </p:nvPicPr>
        <p:blipFill>
          <a:blip r:embed="rId5"/>
          <a:stretch>
            <a:fillRect/>
          </a:stretch>
        </p:blipFill>
        <p:spPr>
          <a:xfrm>
            <a:off x="5419444" y="5024530"/>
            <a:ext cx="3168352" cy="1428422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1589" y="4050096"/>
            <a:ext cx="3864061" cy="486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77606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08.4739"/>
  <p:tag name="ORIGINALWIDTH" val="1214.098"/>
  <p:tag name="LATEXADDIN" val="\documentclass{article}&#10;\usepackage{amsmath}&#10;\pagestyle{empty}&#10;\begin{document}&#10;&#10;$H(s)=-12\frac{(s+\frac{1}{2})(s+\frac{1}{3})}{(s+1)(s-2)}$&#10;&#10;&#10;\end{document}"/>
  <p:tag name="IGUANATEXSIZE" val="12"/>
  <p:tag name="IGUANATEXCURSOR" val="139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9.2126"/>
  <p:tag name="ORIGINALWIDTH" val="1199.85"/>
  <p:tag name="LATEXADDIN" val="\documentclass{article}&#10;\usepackage{amsmath}&#10;\pagestyle{empty}&#10;\begin{document}&#10;&#10;$-12&lt;-\frac{1}{K}&lt;-1\\&#10;K&lt;-1 \quad or \quad K&gt;\frac{1}{12} $&#10;&#10;&#10;\end{document}"/>
  <p:tag name="IGUANATEXSIZE" val="20"/>
  <p:tag name="IGUANATEXCURSOR" val="82"/>
  <p:tag name="TRANSPARENCY" val="Fals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23.4346"/>
  <p:tag name="ORIGINALWIDTH" val="462.6921"/>
  <p:tag name="LATEXADDIN" val="\documentclass{article}&#10;\usepackage{amsmath}&#10;\pagestyle{empty}&#10;\begin{document}&#10;&#10;$\begin{cases}a=3 \\b=-6 \\c=4\end{cases}$&#10;&#10;&#10;\end{document}"/>
  <p:tag name="IGUANATEXSIZE" val="20"/>
  <p:tag name="IGUANATEXCURSOR" val="123"/>
  <p:tag name="TRANSPARENCY" val="Fals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8.2265"/>
  <p:tag name="ORIGINALWIDTH" val="2920.135"/>
  <p:tag name="LATEXADDIN" val="\documentclass{article}&#10;\usepackage{amsmath}&#10;\pagestyle{empty}&#10;\begin{document}&#10;&#10;$a=Y(e^{je})(1-\frac{1}{2}e^{-jw})^2|_{e^{-jw}=2}=\frac{1}{1-\frac{1}{3}e^{-jw}}|_{e^{-jw}=2}=3$&#10;&#10;&#10;\end{document}"/>
  <p:tag name="IGUANATEXSIZE" val="16"/>
  <p:tag name="IGUANATEXCURSOR" val="176"/>
  <p:tag name="TRANSPARENCY" val="Fals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6.7267"/>
  <p:tag name="ORIGINALWIDTH" val="2980.877"/>
  <p:tag name="LATEXADDIN" val="\documentclass{article}&#10;\usepackage{amsmath}&#10;\pagestyle{empty}&#10;\begin{document}&#10;&#10;$c=Y(e^{je})(1-\frac{1}{3}e^{-jw})|_{e^{-jw}=3}=\frac{1}{(1-\frac{1}{2}e^{-jw})^2}|_{e^{-jw}=3}=4$&#10;&#10;&#10;\end{document}"/>
  <p:tag name="IGUANATEXSIZE" val="20"/>
  <p:tag name="IGUANATEXCURSOR" val="115"/>
  <p:tag name="TRANSPARENCY" val="Fals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17.1354"/>
  <p:tag name="ORIGINALWIDTH" val="3750.281"/>
  <p:tag name="LATEXADDIN" val="\documentclass{article}&#10;\usepackage{amsmath}&#10;\pagestyle{empty}&#10;\begin{document}&#10;&#10;\begin{align*}&#10;&amp;\frac{d(Y(e^{jw})(1-\frac{1}{2}e^{-jw})^2)}{d(e^{-jw})}|_{e^{-jw}=2}\\&amp;=-\frac{1}{2}b-\frac{1}{3}c(1-\frac{1}{2}e^{-jw})^2-c(1-\frac{1}{3}e^{-jw})(1-\frac{1}{2}e^{-jw})|_{e^{-jw}=2}=-\frac{1}{2}b\\&#10;&amp;=\frac{1}{3}(1-\frac{1}{3}e^{-jw})|_{e^{-jw}=2}=3&#10;\end{align*}&#10;&#10;&#10;\end{document}"/>
  <p:tag name="IGUANATEXSIZE" val="20"/>
  <p:tag name="IGUANATEXCURSOR" val="358"/>
  <p:tag name="TRANSPARENCY" val="Fals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51.106"/>
  <p:tag name="ORIGINALWIDTH" val="3062.617"/>
  <p:tag name="LATEXADDIN" val="\documentclass{article}&#10;\usepackage{amsmath}&#10;\pagestyle{empty}&#10;\begin{document}&#10;&#10;\begin{equation*}&#10;\begin{split}&#10;&amp;s(t)cosw_ct*(\frac{1}{\pi t})\\&#10;&amp;=\frac{1}{2}S(jw)*[\delta(w-w_c)+\delta(w+w_c)]\cdot (-j)sgn(w)\\&#10;&amp;=\frac{1}{2}j[-S(j(w-w_c))+S(j(w+w_c))]\\&#10;&amp;=\frac{1}{2}S(jw)*(-j)[\delta(w-w_c)-\delta(w+w_c)]\qquad&#10;s(t)sinw_ct&#10;\end{split}&#10;\end{equation*}&#10;&#10;\end{document}"/>
  <p:tag name="IGUANATEXSIZE" val="24"/>
  <p:tag name="IGUANATEXCURSOR" val="315"/>
  <p:tag name="TRANSPARENCY" val="Fals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9.2313"/>
  <p:tag name="ORIGINALWIDTH" val="1366.329"/>
  <p:tag name="LATEXADDIN" val="\documentclass{article}&#10;\usepackage{amsmath}&#10;\pagestyle{empty}&#10;\begin{document}&#10;&#10;$\frac{z}{z-\alpha}\leftrightarrow\alpha^ku[k],\quad |z|&gt;|\alpha| $&#10;&#10;&#10;\end{document}"/>
  <p:tag name="IGUANATEXSIZE" val="20"/>
  <p:tag name="IGUANATEXCURSOR" val="147"/>
  <p:tag name="TRANSPARENCY" val="Fals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48.7065"/>
  <p:tag name="ORIGINALWIDTH" val="2176.978"/>
  <p:tag name="LATEXADDIN" val="\documentclass{article}&#10;\usepackage{amsmath}&#10;\pagestyle{empty}&#10;\begin{document}&#10;&#10;\begin{equation*}&#10;X(jw) = \frac{10(1+\frac{jw}{0.1})(1+\frac{jw}{10})}{(1+\frac{jw}{100})(1+2\cdot\frac{1}{2}\frac{jw}{1}+(\frac{jw}{1})^2)}&#10;\end{equation*}&#10;&#10;&#10;\end{document}"/>
  <p:tag name="IGUANATEXSIZE" val="24"/>
  <p:tag name="IGUANATEXCURSOR" val="236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28.7214"/>
  <p:tag name="ORIGINALWIDTH" val="2662.917"/>
  <p:tag name="LATEXADDIN" val="\documentclass{article}&#10;\usepackage{amsmath}&#10;\pagestyle{empty}&#10;\begin{document}&#10;&#10;$H(s)=-\frac{2}{3}\times 10^{-9}\frac{(s+10^9)(s+\frac{1}{2}\times10^9)}{s+\frac{1}{3}\times 10^9},\quad H(0)=-1$&#10;&#10;&#10;\end{document}"/>
  <p:tag name="IGUANATEXSIZE" val="16"/>
  <p:tag name="IGUANATEXCURSOR" val="193"/>
  <p:tag name="TRANSPARENCY" val="Fals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54.8931"/>
  <p:tag name="ORIGINALWIDTH" val="1784.027"/>
  <p:tag name="LATEXADDIN" val="\documentclass{article}&#10;\usepackage{amsmath}&#10;\pagestyle{empty}&#10;\begin{document}&#10;&#10;\begin{align*}&#10;f_{z1}&amp;=\frac{1}{2\pi}\times 10^9=1.59 \times 10^8 \\&#10;f_{z2}&amp;=\frac{1}{2\pi}\times \frac{1}{2} \times 10^9=7.96 \times 10^7 \\&#10;f_{p1}&amp;=\frac{1}{2\pi}\times \frac{1}{3} \times 10^9=5.31 \times 10^7 &#10;\end{align*}&#10;&#10;&#10;\end{document}"/>
  <p:tag name="IGUANATEXSIZE" val="16"/>
  <p:tag name="IGUANATEXCURSOR" val="306"/>
  <p:tag name="TRANSPARENCY" val="False"/>
  <p:tag name="FILENAME" val=""/>
  <p:tag name="LATEXENGINEID" val="0"/>
  <p:tag name="TEMPFOLDER" val="c:\temp\"/>
  <p:tag name="LATEXFORMHEIGHT" val="305.25"/>
  <p:tag name="LATEXFORMWIDTH" val="384"/>
  <p:tag name="LATEXFORMWRAP" val="True"/>
  <p:tag name="BITMAPVECTOR" val="0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CCE8C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习题课答案ppt版" id="{D0880BA9-6E6D-4EFA-A7A8-3DCA28F807ED}" vid="{80E1D3A1-5A12-4C95-B5AD-396743014124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CCE8C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CCE8C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3278</TotalTime>
  <Words>657</Words>
  <Application>Microsoft Office PowerPoint</Application>
  <PresentationFormat>全屏显示(4:3)</PresentationFormat>
  <Paragraphs>311</Paragraphs>
  <Slides>18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3" baseType="lpstr">
      <vt:lpstr>Arial</vt:lpstr>
      <vt:lpstr>Calibri</vt:lpstr>
      <vt:lpstr>Cambria Math</vt:lpstr>
      <vt:lpstr>Wingdings</vt:lpstr>
      <vt:lpstr>Office 主题</vt:lpstr>
      <vt:lpstr>期末习题课解答</vt:lpstr>
      <vt:lpstr>习题一</vt:lpstr>
      <vt:lpstr>习题二-(1)</vt:lpstr>
      <vt:lpstr>习题二-(2)</vt:lpstr>
      <vt:lpstr>习题二-(3)</vt:lpstr>
      <vt:lpstr>习题三</vt:lpstr>
      <vt:lpstr>习题四-(1)</vt:lpstr>
      <vt:lpstr>习题四-(2)</vt:lpstr>
      <vt:lpstr>习题四-(3)</vt:lpstr>
      <vt:lpstr>习题五-(1)</vt:lpstr>
      <vt:lpstr>习题五-(2)</vt:lpstr>
      <vt:lpstr>习题六-(1)</vt:lpstr>
      <vt:lpstr>习题六-(2)</vt:lpstr>
      <vt:lpstr>习题七-(1)</vt:lpstr>
      <vt:lpstr>习题七-(2)</vt:lpstr>
      <vt:lpstr>习题八-(1)</vt:lpstr>
      <vt:lpstr>习题八-(2)</vt:lpstr>
      <vt:lpstr>习题八-(3)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期末习题课解答</dc:title>
  <dc:creator>Administrator</dc:creator>
  <cp:lastModifiedBy>zhaok14</cp:lastModifiedBy>
  <cp:revision>125</cp:revision>
  <dcterms:created xsi:type="dcterms:W3CDTF">2020-11-11T03:27:32Z</dcterms:created>
  <dcterms:modified xsi:type="dcterms:W3CDTF">2021-01-04T07:16:18Z</dcterms:modified>
</cp:coreProperties>
</file>