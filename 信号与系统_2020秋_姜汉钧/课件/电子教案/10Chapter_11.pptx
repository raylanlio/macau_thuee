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576" r:id="rId2"/>
    <p:sldId id="256" r:id="rId3"/>
    <p:sldId id="287" r:id="rId4"/>
    <p:sldId id="542" r:id="rId5"/>
    <p:sldId id="543" r:id="rId6"/>
    <p:sldId id="568" r:id="rId7"/>
    <p:sldId id="569" r:id="rId8"/>
    <p:sldId id="570" r:id="rId9"/>
    <p:sldId id="571" r:id="rId10"/>
    <p:sldId id="572" r:id="rId11"/>
    <p:sldId id="573" r:id="rId12"/>
    <p:sldId id="516" r:id="rId13"/>
    <p:sldId id="517" r:id="rId14"/>
    <p:sldId id="518" r:id="rId15"/>
    <p:sldId id="520" r:id="rId16"/>
    <p:sldId id="521" r:id="rId17"/>
    <p:sldId id="522" r:id="rId18"/>
    <p:sldId id="523" r:id="rId19"/>
    <p:sldId id="524" r:id="rId20"/>
    <p:sldId id="527" r:id="rId21"/>
    <p:sldId id="545" r:id="rId22"/>
    <p:sldId id="525" r:id="rId23"/>
    <p:sldId id="528" r:id="rId24"/>
    <p:sldId id="529" r:id="rId25"/>
    <p:sldId id="530" r:id="rId26"/>
    <p:sldId id="531" r:id="rId27"/>
    <p:sldId id="532" r:id="rId28"/>
    <p:sldId id="533" r:id="rId29"/>
    <p:sldId id="535" r:id="rId30"/>
    <p:sldId id="537" r:id="rId31"/>
    <p:sldId id="538" r:id="rId32"/>
    <p:sldId id="540" r:id="rId33"/>
    <p:sldId id="541" r:id="rId34"/>
    <p:sldId id="539" r:id="rId35"/>
    <p:sldId id="544" r:id="rId36"/>
    <p:sldId id="546" r:id="rId37"/>
    <p:sldId id="547" r:id="rId38"/>
    <p:sldId id="548" r:id="rId39"/>
    <p:sldId id="549" r:id="rId40"/>
    <p:sldId id="550" r:id="rId41"/>
    <p:sldId id="560" r:id="rId42"/>
    <p:sldId id="561" r:id="rId43"/>
    <p:sldId id="562" r:id="rId44"/>
    <p:sldId id="563" r:id="rId45"/>
    <p:sldId id="574" r:id="rId46"/>
    <p:sldId id="575" r:id="rId47"/>
    <p:sldId id="551" r:id="rId48"/>
    <p:sldId id="552" r:id="rId49"/>
    <p:sldId id="553" r:id="rId50"/>
    <p:sldId id="554" r:id="rId51"/>
    <p:sldId id="555" r:id="rId52"/>
    <p:sldId id="556" r:id="rId53"/>
    <p:sldId id="557" r:id="rId54"/>
    <p:sldId id="559" r:id="rId55"/>
    <p:sldId id="558" r:id="rId56"/>
    <p:sldId id="564" r:id="rId57"/>
    <p:sldId id="565" r:id="rId58"/>
    <p:sldId id="566" r:id="rId59"/>
    <p:sldId id="567" r:id="rId60"/>
    <p:sldId id="514" r:id="rId6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99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en-US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DD4AF6-EFF4-4C2A-B152-756C042088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1559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11891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32.wmf"/><Relationship Id="rId3" Type="http://schemas.openxmlformats.org/officeDocument/2006/relationships/oleObject" Target="../embeddings/oleObject7.bin"/><Relationship Id="rId7" Type="http://schemas.openxmlformats.org/officeDocument/2006/relationships/image" Target="../media/image33.emf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9.wmf"/><Relationship Id="rId11" Type="http://schemas.openxmlformats.org/officeDocument/2006/relationships/image" Target="../media/image31.wmf"/><Relationship Id="rId5" Type="http://schemas.openxmlformats.org/officeDocument/2006/relationships/oleObject" Target="../embeddings/oleObject8.bin"/><Relationship Id="rId10" Type="http://schemas.openxmlformats.org/officeDocument/2006/relationships/oleObject" Target="../embeddings/oleObject10.bin"/><Relationship Id="rId4" Type="http://schemas.openxmlformats.org/officeDocument/2006/relationships/image" Target="../media/image28.wmf"/><Relationship Id="rId9" Type="http://schemas.openxmlformats.org/officeDocument/2006/relationships/image" Target="../media/image30.wmf"/><Relationship Id="rId14" Type="http://schemas.openxmlformats.org/officeDocument/2006/relationships/image" Target="../media/image3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4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43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6.emf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3.png"/><Relationship Id="rId5" Type="http://schemas.openxmlformats.org/officeDocument/2006/relationships/image" Target="../media/image45.emf"/><Relationship Id="rId4" Type="http://schemas.openxmlformats.org/officeDocument/2006/relationships/image" Target="../media/image6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emf"/><Relationship Id="rId7" Type="http://schemas.openxmlformats.org/officeDocument/2006/relationships/image" Target="../media/image5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0.png"/><Relationship Id="rId4" Type="http://schemas.openxmlformats.org/officeDocument/2006/relationships/image" Target="../media/image50.emf"/><Relationship Id="rId9" Type="http://schemas.openxmlformats.org/officeDocument/2006/relationships/image" Target="../media/image57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1.emf"/><Relationship Id="rId7" Type="http://schemas.openxmlformats.org/officeDocument/2006/relationships/image" Target="../media/image6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2.png"/><Relationship Id="rId4" Type="http://schemas.openxmlformats.org/officeDocument/2006/relationships/image" Target="../media/image52.emf"/><Relationship Id="rId9" Type="http://schemas.openxmlformats.org/officeDocument/2006/relationships/image" Target="../media/image67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859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5276" y="1122363"/>
            <a:ext cx="8660920" cy="23876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Chapter 11 </a:t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Linear Feedback Systems</a:t>
            </a:r>
            <a:endParaRPr lang="zh-CN" altLang="en-US" sz="49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Linear Feedback Systems</a:t>
            </a:r>
          </a:p>
          <a:p>
            <a:endParaRPr lang="en-US" altLang="zh-CN" dirty="0"/>
          </a:p>
          <a:p>
            <a:r>
              <a:rPr lang="en-US" altLang="zh-CN" dirty="0"/>
              <a:t>Applications and Consequences of Feedback</a:t>
            </a:r>
          </a:p>
          <a:p>
            <a:endParaRPr lang="en-US" altLang="zh-CN" dirty="0" smtClean="0"/>
          </a:p>
          <a:p>
            <a:r>
              <a:rPr lang="en-US" altLang="zh-CN" dirty="0" smtClean="0"/>
              <a:t>Root Locus Analysis</a:t>
            </a:r>
          </a:p>
          <a:p>
            <a:endParaRPr lang="en-US" altLang="zh-CN" dirty="0"/>
          </a:p>
          <a:p>
            <a:r>
              <a:rPr lang="en-US" dirty="0"/>
              <a:t>Nyquist Stability </a:t>
            </a:r>
            <a:r>
              <a:rPr lang="en-US" dirty="0" smtClean="0"/>
              <a:t>Criterion</a:t>
            </a:r>
          </a:p>
          <a:p>
            <a:endParaRPr lang="en-US" dirty="0"/>
          </a:p>
          <a:p>
            <a:r>
              <a:rPr lang="en-US" altLang="zh-CN" dirty="0" smtClean="0"/>
              <a:t>Phase/Gain Margins</a:t>
            </a:r>
            <a:endParaRPr lang="en-US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Open-loop Control vs. Closed-Loop Control with Feedback</a:t>
            </a:r>
            <a:endParaRPr lang="en-US" sz="3600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Open-loop control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needs to precisely know the mathematical relationship between the controlling signal and the controlled signal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vulnerable to disturbance</a:t>
            </a:r>
          </a:p>
          <a:p>
            <a:r>
              <a:rPr lang="en-US" dirty="0"/>
              <a:t> </a:t>
            </a:r>
            <a:r>
              <a:rPr lang="en-US" dirty="0" smtClean="0"/>
              <a:t>Closed-loop control with feedback</a:t>
            </a:r>
          </a:p>
          <a:p>
            <a:pPr lvl="1"/>
            <a:r>
              <a:rPr lang="en-US" dirty="0" smtClean="0"/>
              <a:t> can detect and correct the output deviation promptly</a:t>
            </a:r>
          </a:p>
          <a:p>
            <a:pPr lvl="1"/>
            <a:r>
              <a:rPr lang="en-US" dirty="0" smtClean="0"/>
              <a:t> can improve the system transfer linearity and accuracy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can stabilize the unstable systems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§11.1 Linear Feedback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976875" y="5111693"/>
            <a:ext cx="7112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http://www.bilibili.com/video/BV1DW411x74c?from=search&amp;seid=14916568497393913519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865845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Feedback in Analog Circuit Design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Feedback is used in almost all the analog circuits</a:t>
            </a:r>
          </a:p>
          <a:p>
            <a:r>
              <a:rPr lang="en-US" dirty="0"/>
              <a:t> </a:t>
            </a:r>
            <a:r>
              <a:rPr lang="en-US" dirty="0" smtClean="0"/>
              <a:t>Negative feedback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reference generation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voltage regulator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active analog filters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common-mode feedback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Pipelined ADC/Successive-Approximation (SAR) ADC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oversampling ADC</a:t>
            </a:r>
          </a:p>
          <a:p>
            <a:r>
              <a:rPr lang="en-US" dirty="0"/>
              <a:t> </a:t>
            </a:r>
            <a:r>
              <a:rPr lang="en-US" dirty="0" smtClean="0"/>
              <a:t>Positive feedback: clock generators, oscillators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§11.1 Linear Feedback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32432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altLang="zh-CN" dirty="0" smtClean="0"/>
              <a:t>R</a:t>
            </a:r>
            <a:r>
              <a:rPr lang="en-US" dirty="0" smtClean="0"/>
              <a:t>eference generation (Bandgap)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5520" y="1403719"/>
            <a:ext cx="3987684" cy="4478921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§11.1 Linear Feedback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4703105" y="5913120"/>
            <a:ext cx="3932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W. </a:t>
            </a:r>
            <a:r>
              <a:rPr lang="en-US" i="1" dirty="0" err="1" smtClean="0"/>
              <a:t>Sansen</a:t>
            </a:r>
            <a:r>
              <a:rPr lang="en-US" i="1" dirty="0" smtClean="0"/>
              <a:t>, Analog Design Essentials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88628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Voltage Regulator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§11.1 Linear Feedback </a:t>
            </a:r>
            <a:r>
              <a:rPr lang="en-US" dirty="0" smtClean="0"/>
              <a:t>Systems</a:t>
            </a:r>
            <a:endParaRPr lang="en-US" dirty="0"/>
          </a:p>
        </p:txBody>
      </p:sp>
      <p:graphicFrame>
        <p:nvGraphicFramePr>
          <p:cNvPr id="9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1541017" y="1308100"/>
          <a:ext cx="6061965" cy="486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Visio" r:id="rId3" imgW="7283410" imgH="5849731" progId="Visio.Drawing.11">
                  <p:embed/>
                </p:oleObj>
              </mc:Choice>
              <mc:Fallback>
                <p:oleObj name="Visio" r:id="rId3" imgW="7283410" imgH="5849731" progId="Visio.Drawing.11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017" y="1308100"/>
                        <a:ext cx="6061965" cy="4868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516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Active Analog Filters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§11.1 Linear Feedback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18" name="矩形 17"/>
          <p:cNvSpPr/>
          <p:nvPr/>
        </p:nvSpPr>
        <p:spPr>
          <a:xfrm>
            <a:off x="1849120" y="5296326"/>
            <a:ext cx="584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2800" baseline="30000" dirty="0" smtClean="0">
                <a:latin typeface="Arial" panose="020B0604020202020204" pitchFamily="34" charset="0"/>
                <a:cs typeface="Arial" panose="020B0604020202020204" pitchFamily="34" charset="0"/>
              </a:rPr>
              <a:t>rd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Order Bessel Low-Pass Filter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内容占位符 19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262" r="8621"/>
          <a:stretch/>
        </p:blipFill>
        <p:spPr>
          <a:xfrm>
            <a:off x="464557" y="1502404"/>
            <a:ext cx="8420948" cy="352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0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Common-Mode Feedback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§11.1 Linear Feedback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8" name="矩形 7"/>
          <p:cNvSpPr/>
          <p:nvPr/>
        </p:nvSpPr>
        <p:spPr>
          <a:xfrm>
            <a:off x="5050007" y="1877434"/>
            <a:ext cx="3932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W. </a:t>
            </a:r>
            <a:r>
              <a:rPr lang="en-US" i="1" dirty="0" err="1" smtClean="0"/>
              <a:t>Sansen</a:t>
            </a:r>
            <a:r>
              <a:rPr lang="en-US" i="1" dirty="0" smtClean="0"/>
              <a:t>, Analog Design Essentials</a:t>
            </a:r>
            <a:endParaRPr lang="en-US" i="1" dirty="0"/>
          </a:p>
        </p:txBody>
      </p:sp>
      <p:pic>
        <p:nvPicPr>
          <p:cNvPr id="9" name="内容占位符 8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343287"/>
            <a:ext cx="4298461" cy="182587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75" y="3128196"/>
            <a:ext cx="8570041" cy="309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16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365126"/>
            <a:ext cx="8422640" cy="79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Successive-Approximation (SAR) ADC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§11.1 Linear Feedback </a:t>
            </a:r>
            <a:r>
              <a:rPr lang="en-US" dirty="0" smtClean="0"/>
              <a:t>Systems</a:t>
            </a:r>
            <a:endParaRPr lang="en-US" dirty="0"/>
          </a:p>
        </p:txBody>
      </p:sp>
      <p:pic>
        <p:nvPicPr>
          <p:cNvPr id="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38" y="1634318"/>
            <a:ext cx="7359164" cy="3862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727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Oversampling ADC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§11.1 Linear Feedback </a:t>
            </a:r>
            <a:r>
              <a:rPr lang="en-US" dirty="0" smtClean="0"/>
              <a:t>Systems</a:t>
            </a:r>
            <a:endParaRPr lang="en-US" dirty="0"/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351" y="1656080"/>
            <a:ext cx="7478114" cy="3739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4312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48574" y="365126"/>
            <a:ext cx="8695426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General Configuration of CT LTI Feedback System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8187546" cy="240225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 smtClean="0"/>
                  <a:t> Only consider the causal systems</a:t>
                </a:r>
              </a:p>
              <a:p>
                <a:r>
                  <a:rPr lang="en-US" dirty="0"/>
                  <a:t>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):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forward path transfer function, or open-loop transfer function</a:t>
                </a:r>
              </a:p>
              <a:p>
                <a:r>
                  <a:rPr lang="en-US" dirty="0"/>
                  <a:t>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):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feedback path transfer function</a:t>
                </a:r>
              </a:p>
              <a:p>
                <a:r>
                  <a:rPr lang="en-US" b="1" dirty="0"/>
                  <a:t> </a:t>
                </a:r>
                <a:r>
                  <a:rPr lang="en-US" i="1" dirty="0"/>
                  <a:t>H</a:t>
                </a:r>
                <a:r>
                  <a:rPr lang="en-US" dirty="0"/>
                  <a:t>(</a:t>
                </a:r>
                <a:r>
                  <a:rPr lang="en-US" i="1" dirty="0"/>
                  <a:t>s</a:t>
                </a:r>
                <a:r>
                  <a:rPr lang="en-US" dirty="0" smtClean="0"/>
                  <a:t>)∙</a:t>
                </a:r>
                <a:r>
                  <a:rPr lang="en-US" i="1" dirty="0"/>
                  <a:t> G</a:t>
                </a:r>
                <a:r>
                  <a:rPr lang="en-US" dirty="0"/>
                  <a:t>(</a:t>
                </a:r>
                <a:r>
                  <a:rPr lang="en-US" i="1" dirty="0"/>
                  <a:t>s</a:t>
                </a:r>
                <a:r>
                  <a:rPr lang="en-US" dirty="0"/>
                  <a:t>):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loop transfer function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 smtClean="0"/>
                  <a:t>: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closed-loop transfer function</a:t>
                </a:r>
              </a:p>
              <a:p>
                <a:r>
                  <a:rPr lang="en-US" dirty="0"/>
                  <a:t> </a:t>
                </a:r>
                <a:r>
                  <a:rPr lang="en-US" i="1" dirty="0" smtClean="0"/>
                  <a:t>e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):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error signal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8187546" cy="2402253"/>
              </a:xfrm>
              <a:blipFill>
                <a:blip r:embed="rId2"/>
                <a:stretch>
                  <a:fillRect l="-670" t="-5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§11.1 Linear Feedback Systems</a:t>
            </a:r>
            <a:endParaRPr 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980" y="3804249"/>
            <a:ext cx="4276256" cy="2127617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115050" y="2985484"/>
            <a:ext cx="1706685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get Q(</a:t>
            </a:r>
            <a:r>
              <a:rPr lang="en-US" sz="1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424647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48574" y="365126"/>
            <a:ext cx="8695426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General Configuration of DT LTI Feedback System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8187546" cy="228048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 Only consider the causal systems</a:t>
                </a:r>
              </a:p>
              <a:p>
                <a:r>
                  <a:rPr lang="en-US" dirty="0"/>
                  <a:t>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):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forward path/open-loop transfer function</a:t>
                </a:r>
              </a:p>
              <a:p>
                <a:r>
                  <a:rPr lang="en-US" dirty="0"/>
                  <a:t>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z</a:t>
                </a:r>
                <a:r>
                  <a:rPr lang="en-US" dirty="0" smtClean="0"/>
                  <a:t>):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feedback path transfer function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 smtClean="0"/>
                  <a:t>: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closed-loop transfer function</a:t>
                </a:r>
              </a:p>
              <a:p>
                <a:r>
                  <a:rPr lang="en-US" dirty="0"/>
                  <a:t> </a:t>
                </a:r>
                <a:r>
                  <a:rPr lang="en-US" i="1" dirty="0" smtClean="0"/>
                  <a:t>e</a:t>
                </a:r>
                <a:r>
                  <a:rPr lang="en-US" dirty="0" smtClean="0"/>
                  <a:t>[</a:t>
                </a:r>
                <a:r>
                  <a:rPr lang="en-US" i="1" dirty="0"/>
                  <a:t>n</a:t>
                </a:r>
                <a:r>
                  <a:rPr lang="en-US" dirty="0" smtClean="0"/>
                  <a:t>]: </a:t>
                </a:r>
                <a:r>
                  <a:rPr lang="en-US" b="1" dirty="0">
                    <a:solidFill>
                      <a:srgbClr val="C00000"/>
                    </a:solidFill>
                  </a:rPr>
                  <a:t>error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signal</a:t>
                </a:r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8187546" cy="2280488"/>
              </a:xfrm>
              <a:blipFill>
                <a:blip r:embed="rId2"/>
                <a:stretch>
                  <a:fillRect l="-1117" t="-7487" r="-521" b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§11.1 Linear Feedback Systems</a:t>
            </a:r>
            <a:endParaRPr 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507" y="3702502"/>
            <a:ext cx="4318987" cy="2131235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00554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Application of Feedback #1: </a:t>
            </a:r>
            <a:br>
              <a:rPr lang="en-US" dirty="0" smtClean="0"/>
            </a:br>
            <a:r>
              <a:rPr lang="en-US" dirty="0" smtClean="0"/>
              <a:t>Inverse System Design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032246"/>
                <a:ext cx="7886700" cy="202189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 Let the forward path transfer function to be a simple gain </a:t>
                </a:r>
                <a:r>
                  <a:rPr lang="en-US" i="1" dirty="0" smtClean="0"/>
                  <a:t>K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If </a:t>
                </a:r>
                <a:r>
                  <a:rPr lang="en-US" i="1" dirty="0" smtClean="0"/>
                  <a:t>K </a:t>
                </a:r>
                <a:r>
                  <a:rPr lang="en-US" dirty="0" smtClean="0"/>
                  <a:t>is sufficiently large,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032246"/>
                <a:ext cx="7886700" cy="2021899"/>
              </a:xfrm>
              <a:blipFill>
                <a:blip r:embed="rId2"/>
                <a:stretch>
                  <a:fillRect l="-1159" t="-8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11.2 Applications and Consequences of Feedback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452" y="1329567"/>
            <a:ext cx="5050169" cy="251267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355346" y="5290275"/>
            <a:ext cx="2160004" cy="461665"/>
          </a:xfrm>
          <a:prstGeom prst="rect">
            <a:avLst/>
          </a:prstGeom>
          <a:noFill/>
          <a:ln w="25400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Inverse System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3841906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Inverted Feedback </a:t>
            </a:r>
            <a:r>
              <a:rPr lang="en-US" altLang="zh-CN" sz="3200" dirty="0" smtClean="0"/>
              <a:t>with Operational Amplifier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807070"/>
                <a:ext cx="8172450" cy="2369894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dirty="0" smtClean="0"/>
                  <a:t> What’s the error signal?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=(1−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𝐼𝑁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𝑂𝑈𝑇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 smtClean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Not</a:t>
                </a:r>
                <a:r>
                  <a:rPr lang="en-US" dirty="0" smtClean="0"/>
                  <a:t> easy to map it to the typical feedback configuration!</a:t>
                </a:r>
                <a:endParaRPr lang="en-US" dirty="0"/>
              </a:p>
            </p:txBody>
          </p:sp>
        </mc:Choice>
        <mc:Fallback xmlns="">
          <p:sp>
            <p:nvSpPr>
              <p:cNvPr id="7" name="内容占位符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807070"/>
                <a:ext cx="8172450" cy="2369894"/>
              </a:xfrm>
              <a:blipFill>
                <a:blip r:embed="rId2"/>
                <a:stretch>
                  <a:fillRect l="-1119" t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979" y="1416137"/>
            <a:ext cx="4622991" cy="2311802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78070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Thévenin</a:t>
            </a:r>
            <a:r>
              <a:rPr lang="en-US" dirty="0"/>
              <a:t> </a:t>
            </a:r>
            <a:r>
              <a:rPr lang="en-US" dirty="0" smtClean="0"/>
              <a:t>Equivalent</a:t>
            </a:r>
            <a:endParaRPr 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619" y="1300153"/>
            <a:ext cx="6498893" cy="1936986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14400"/>
            <a:ext cx="4151385" cy="207596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589" y="3803122"/>
            <a:ext cx="4542615" cy="2075968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3964954" y="4465468"/>
            <a:ext cx="651434" cy="445843"/>
          </a:xfrm>
          <a:prstGeom prst="rightArrow">
            <a:avLst/>
          </a:prstGeom>
          <a:solidFill>
            <a:srgbClr val="00B0F0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9914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Inverted Feedback </a:t>
            </a:r>
            <a:r>
              <a:rPr lang="en-US" altLang="zh-CN" sz="3600" dirty="0"/>
              <a:t>with Operational </a:t>
            </a:r>
            <a:r>
              <a:rPr lang="en-US" altLang="zh-CN" sz="3600" dirty="0" smtClean="0"/>
              <a:t>Amplifier (</a:t>
            </a:r>
            <a:r>
              <a:rPr lang="en-US" altLang="zh-CN" sz="3600" dirty="0" err="1" smtClean="0"/>
              <a:t>cont</a:t>
            </a:r>
            <a:r>
              <a:rPr lang="en-US" altLang="zh-CN" sz="3600" dirty="0" smtClean="0"/>
              <a:t>’)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3446585"/>
                <a:ext cx="8383465" cy="273037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 smtClean="0"/>
                  <a:t> Forward path: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)∙(−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Feedback path: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=−1/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Closed-loop: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𝑂𝑈𝑇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Overall transfer function: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𝑂𝑈𝑇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𝑂𝑈𝑇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3446585"/>
                <a:ext cx="8383465" cy="2730378"/>
              </a:xfrm>
              <a:blipFill>
                <a:blip r:embed="rId2"/>
                <a:stretch>
                  <a:fillRect l="-1091" t="-3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881" y="1157125"/>
            <a:ext cx="5009774" cy="2289459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475631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Inverse </a:t>
            </a:r>
            <a:r>
              <a:rPr lang="en-US" sz="3600" dirty="0" smtClean="0"/>
              <a:t>System Example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677850"/>
                <a:ext cx="7886700" cy="257734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Overall transfer function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𝑂𝑈𝑇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𝑠𝐶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 smtClean="0"/>
                  <a:t>=-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</m:oMath>
                </a14:m>
                <a:r>
                  <a:rPr lang="en-US" dirty="0" smtClean="0"/>
                  <a:t>  </a:t>
                </a:r>
                <a:r>
                  <a:rPr lang="en-US" dirty="0" smtClean="0">
                    <a:sym typeface="Wingdings" panose="05000000000000000000" pitchFamily="2" charset="2"/>
                  </a:rPr>
                  <a:t> Integrator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Intuitive explanation: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 smtClean="0"/>
                  <a:t>, in which </a:t>
                </a:r>
                <a:r>
                  <a:rPr lang="en-US" i="1" dirty="0" smtClean="0"/>
                  <a:t>P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) is a differentiator, since for a capacitor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  <a:endParaRPr lang="en-US" dirty="0"/>
              </a:p>
              <a:p>
                <a:pPr lvl="1"/>
                <a:r>
                  <a:rPr lang="en-US" dirty="0" smtClean="0"/>
                  <a:t> The inverse system is then an integrator (inverse of differentiator)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677850"/>
                <a:ext cx="7886700" cy="2577348"/>
              </a:xfrm>
              <a:blipFill>
                <a:blip r:embed="rId2"/>
                <a:stretch>
                  <a:fillRect l="-1005" t="-3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8" name="内容占位符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189" y="1336515"/>
            <a:ext cx="3342661" cy="224018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14" y="1336515"/>
            <a:ext cx="4124749" cy="2062648"/>
          </a:xfrm>
          <a:prstGeom prst="rect">
            <a:avLst/>
          </a:prstGeom>
        </p:spPr>
      </p:pic>
      <p:sp>
        <p:nvSpPr>
          <p:cNvPr id="10" name="右箭头 9"/>
          <p:cNvSpPr/>
          <p:nvPr/>
        </p:nvSpPr>
        <p:spPr>
          <a:xfrm>
            <a:off x="4572000" y="2233684"/>
            <a:ext cx="651434" cy="445843"/>
          </a:xfrm>
          <a:prstGeom prst="rightArrow">
            <a:avLst/>
          </a:prstGeom>
          <a:solidFill>
            <a:srgbClr val="00B0F0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41845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 of Feedback </a:t>
            </a:r>
            <a:r>
              <a:rPr lang="en-US" dirty="0" smtClean="0"/>
              <a:t>#2:</a:t>
            </a:r>
            <a:br>
              <a:rPr lang="en-US" dirty="0" smtClean="0"/>
            </a:br>
            <a:r>
              <a:rPr lang="en-US" dirty="0" smtClean="0"/>
              <a:t>Compensation for Nonideal Elements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If the feedback network is a gain stage </a:t>
                </a:r>
                <a:r>
                  <a:rPr lang="en-US" i="1" dirty="0" smtClean="0"/>
                  <a:t>K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Usually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≤1 with passive feedback network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 can be very </a:t>
                </a:r>
                <a:r>
                  <a:rPr lang="en-US" b="1" dirty="0">
                    <a:solidFill>
                      <a:srgbClr val="0000FF"/>
                    </a:solidFill>
                  </a:rPr>
                  <a:t>linear</a:t>
                </a:r>
                <a:r>
                  <a:rPr lang="en-US" dirty="0" smtClean="0"/>
                  <a:t> and </a:t>
                </a:r>
                <a:r>
                  <a:rPr lang="en-US" b="1" dirty="0" smtClean="0">
                    <a:solidFill>
                      <a:srgbClr val="0000FF"/>
                    </a:solidFill>
                  </a:rPr>
                  <a:t>accurate</a:t>
                </a:r>
                <a:r>
                  <a:rPr lang="en-US" dirty="0" smtClean="0"/>
                  <a:t> </a:t>
                </a:r>
              </a:p>
              <a:p>
                <a:pPr lvl="2"/>
                <a:r>
                  <a:rPr lang="en-US" dirty="0"/>
                  <a:t> </a:t>
                </a:r>
                <a:r>
                  <a:rPr lang="en-US" dirty="0" smtClean="0"/>
                  <a:t>especially in integrated circuits which provide good passive element matching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Closed-loop frequency response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>
                    <a:ea typeface="Cambria Math" panose="020405030504060302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US" dirty="0" smtClean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 smtClean="0"/>
                  <a:t> It is allowed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is not linear, but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must provide sufficient amplification gain over the desired frequency band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Advantage: the closed-loop gain accuracy is guaranteed by K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Disadvantage: gain loss, the open-loop gain is much higher than the closed-loop gain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882" r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3277757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Extra Analysis: How the Closed-Loop Gain is Stabilized 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1"/>
            <a:ext cx="8216412" cy="3712308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 </a:t>
            </a:r>
            <a:r>
              <a:rPr lang="en-US" altLang="zh-CN" dirty="0" smtClean="0"/>
              <a:t>Basic assumptions:</a:t>
            </a:r>
          </a:p>
          <a:p>
            <a:pPr lvl="1"/>
            <a:r>
              <a:rPr lang="en-US" altLang="zh-CN" dirty="0" smtClean="0"/>
              <a:t> Ideal open-loop gain </a:t>
            </a:r>
            <a:r>
              <a:rPr lang="en-US" altLang="zh-CN" i="1" dirty="0" err="1" smtClean="0"/>
              <a:t>A</a:t>
            </a:r>
            <a:r>
              <a:rPr lang="en-US" altLang="zh-CN" i="1" baseline="-25000" dirty="0" err="1" smtClean="0"/>
              <a:t>op</a:t>
            </a:r>
            <a:endParaRPr lang="en-US" altLang="zh-CN" i="1" baseline="-25000" dirty="0"/>
          </a:p>
          <a:p>
            <a:pPr lvl="1"/>
            <a:r>
              <a:rPr lang="zh-CN" altLang="en-US" dirty="0"/>
              <a:t> </a:t>
            </a:r>
            <a:r>
              <a:rPr lang="en-US" altLang="zh-CN" dirty="0" smtClean="0"/>
              <a:t>Open-loop gain error </a:t>
            </a:r>
            <a:r>
              <a:rPr lang="zh-CN" altLang="en-US" dirty="0" smtClean="0">
                <a:sym typeface="Symbol" panose="05050102010706020507" pitchFamily="18" charset="2"/>
              </a:rPr>
              <a:t></a:t>
            </a:r>
            <a:r>
              <a:rPr lang="en-US" altLang="zh-CN" i="1" dirty="0" err="1" smtClean="0"/>
              <a:t>A</a:t>
            </a:r>
            <a:r>
              <a:rPr lang="en-US" altLang="zh-CN" baseline="-25000" dirty="0" err="1" smtClean="0"/>
              <a:t>op</a:t>
            </a:r>
            <a:endParaRPr lang="zh-CN" altLang="en-US" dirty="0"/>
          </a:p>
          <a:p>
            <a:pPr lvl="1"/>
            <a:r>
              <a:rPr lang="zh-CN" altLang="en-US" dirty="0" smtClean="0"/>
              <a:t> </a:t>
            </a:r>
            <a:r>
              <a:rPr lang="en-US" altLang="zh-CN" dirty="0" smtClean="0"/>
              <a:t>Actual open-loop gain </a:t>
            </a:r>
            <a:r>
              <a:rPr lang="en-US" altLang="zh-CN" i="1" dirty="0" err="1" smtClean="0"/>
              <a:t>A</a:t>
            </a:r>
            <a:r>
              <a:rPr lang="en-US" altLang="zh-CN" baseline="-25000" dirty="0" err="1" smtClean="0"/>
              <a:t>op</a:t>
            </a:r>
            <a:r>
              <a:rPr lang="en-US" altLang="zh-CN" dirty="0" smtClean="0"/>
              <a:t>’</a:t>
            </a:r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Relative open-loop gain error: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smtClean="0"/>
              <a:t>Loop feedback gain: </a:t>
            </a:r>
            <a:r>
              <a:rPr lang="en-US" altLang="zh-CN" i="1" dirty="0" smtClean="0"/>
              <a:t>F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Ideal closed-loop gain: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Actual closed-loop gain: </a:t>
            </a:r>
            <a:endParaRPr lang="zh-CN" altLang="en-US" baseline="-25000" dirty="0"/>
          </a:p>
          <a:p>
            <a:r>
              <a:rPr lang="en-US" dirty="0" smtClean="0"/>
              <a:t> </a:t>
            </a:r>
            <a:r>
              <a:rPr lang="en-US" altLang="zh-CN" dirty="0"/>
              <a:t>Relative </a:t>
            </a:r>
            <a:r>
              <a:rPr lang="en-US" altLang="zh-CN" dirty="0" smtClean="0"/>
              <a:t>closed-loop </a:t>
            </a:r>
            <a:r>
              <a:rPr lang="en-US" altLang="zh-CN" dirty="0"/>
              <a:t>gain error:</a:t>
            </a:r>
          </a:p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951976"/>
              </p:ext>
            </p:extLst>
          </p:nvPr>
        </p:nvGraphicFramePr>
        <p:xfrm>
          <a:off x="5018138" y="2510630"/>
          <a:ext cx="16192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5" name="Equation" r:id="rId3" imgW="1079500" imgH="457200" progId="Equation.DSMT4">
                  <p:embed/>
                </p:oleObj>
              </mc:Choice>
              <mc:Fallback>
                <p:oleObj name="Equation" r:id="rId3" imgW="1079500" imgH="457200" progId="Equation.DSMT4">
                  <p:embed/>
                  <p:pic>
                    <p:nvPicPr>
                      <p:cNvPr id="20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8138" y="2510630"/>
                        <a:ext cx="1619250" cy="685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127015"/>
              </p:ext>
            </p:extLst>
          </p:nvPr>
        </p:nvGraphicFramePr>
        <p:xfrm>
          <a:off x="2736083" y="5609240"/>
          <a:ext cx="2590380" cy="761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6" name="Equation" r:id="rId5" imgW="1726920" imgH="507960" progId="Equation.DSMT4">
                  <p:embed/>
                </p:oleObj>
              </mc:Choice>
              <mc:Fallback>
                <p:oleObj name="Equation" r:id="rId5" imgW="1726920" imgH="507960" progId="Equation.DSMT4">
                  <p:embed/>
                  <p:pic>
                    <p:nvPicPr>
                      <p:cNvPr id="20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083" y="5609240"/>
                        <a:ext cx="2590380" cy="76194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987796"/>
              </p:ext>
            </p:extLst>
          </p:nvPr>
        </p:nvGraphicFramePr>
        <p:xfrm>
          <a:off x="2595024" y="4851658"/>
          <a:ext cx="329562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7" name="Equation" r:id="rId7" imgW="2197080" imgH="482400" progId="Equation.DSMT4">
                  <p:embed/>
                </p:oleObj>
              </mc:Choice>
              <mc:Fallback>
                <p:oleObj name="Equation" r:id="rId7" imgW="2197080" imgH="482400" progId="Equation.DSMT4">
                  <p:embed/>
                  <p:pic>
                    <p:nvPicPr>
                      <p:cNvPr id="20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024" y="4851658"/>
                        <a:ext cx="3295620" cy="72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982586"/>
              </p:ext>
            </p:extLst>
          </p:nvPr>
        </p:nvGraphicFramePr>
        <p:xfrm>
          <a:off x="5239170" y="3820954"/>
          <a:ext cx="224748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8" name="Equation" r:id="rId9" imgW="1498320" imgH="482400" progId="Equation.DSMT4">
                  <p:embed/>
                </p:oleObj>
              </mc:Choice>
              <mc:Fallback>
                <p:oleObj name="Equation" r:id="rId9" imgW="1498320" imgH="482400" progId="Equation.DSMT4">
                  <p:embed/>
                  <p:pic>
                    <p:nvPicPr>
                      <p:cNvPr id="205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170" y="3820954"/>
                        <a:ext cx="2247480" cy="72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834200"/>
              </p:ext>
            </p:extLst>
          </p:nvPr>
        </p:nvGraphicFramePr>
        <p:xfrm>
          <a:off x="4341863" y="3302491"/>
          <a:ext cx="135255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59" name="Equation" r:id="rId11" imgW="901700" imgH="457200" progId="Equation.DSMT4">
                  <p:embed/>
                </p:oleObj>
              </mc:Choice>
              <mc:Fallback>
                <p:oleObj name="Equation" r:id="rId11" imgW="901700" imgH="457200" progId="Equation.DSMT4">
                  <p:embed/>
                  <p:pic>
                    <p:nvPicPr>
                      <p:cNvPr id="20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863" y="3302491"/>
                        <a:ext cx="135255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985339" y="5915161"/>
            <a:ext cx="2244261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if </a:t>
            </a:r>
            <a:r>
              <a:rPr lang="en-US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has error?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03565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Order </a:t>
            </a:r>
            <a:r>
              <a:rPr lang="en-US" dirty="0"/>
              <a:t>S</a:t>
            </a:r>
            <a:r>
              <a:rPr lang="en-US" dirty="0" smtClean="0"/>
              <a:t>ystem with Feedback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4188636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Feedforward/open-loop TF: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Feedforward/open-loop bandwidth: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/2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/>
                  <a:t>Feedforward/open-loop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gain-bandwidth product </a:t>
                </a:r>
                <a:r>
                  <a:rPr lang="en-US" altLang="zh-CN" dirty="0" smtClean="0"/>
                  <a:t>(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GBW</a:t>
                </a:r>
                <a:r>
                  <a:rPr lang="en-US" altLang="zh-CN" dirty="0" smtClean="0"/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/2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Feedback gain: </a:t>
                </a:r>
                <a:r>
                  <a:rPr lang="en-US" i="1" dirty="0" smtClean="0"/>
                  <a:t>K</a:t>
                </a:r>
                <a:endParaRPr lang="en-US" i="1" dirty="0"/>
              </a:p>
              <a:p>
                <a:r>
                  <a:rPr lang="en-US" dirty="0" smtClean="0"/>
                  <a:t> Loop transfer function: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𝐿𝑃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Loop </a:t>
                </a:r>
                <a:r>
                  <a:rPr lang="en-US" dirty="0"/>
                  <a:t>BW: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𝑙𝑝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𝑜𝑝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/2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Loop GBW: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𝐾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/2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 smtClean="0"/>
              </a:p>
              <a:p>
                <a:r>
                  <a:rPr lang="en-US" altLang="zh-CN" dirty="0" smtClean="0"/>
                  <a:t> Closed-l</a:t>
                </a:r>
                <a:r>
                  <a:rPr lang="en-US" dirty="0" smtClean="0"/>
                  <a:t>oop </a:t>
                </a:r>
                <a:r>
                  <a:rPr lang="en-US" dirty="0"/>
                  <a:t>transfer function: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den>
                    </m:f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𝑝𝐾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:r>
                  <a:rPr lang="en-US" altLang="zh-CN" dirty="0"/>
                  <a:t>Closed-l</a:t>
                </a:r>
                <a:r>
                  <a:rPr lang="en-US" dirty="0"/>
                  <a:t>oop BW: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𝑝𝐾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/2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 smtClean="0"/>
              </a:p>
              <a:p>
                <a:r>
                  <a:rPr lang="en-US" altLang="zh-CN" dirty="0"/>
                  <a:t> </a:t>
                </a:r>
                <a:r>
                  <a:rPr lang="en-US" altLang="zh-CN" dirty="0" smtClean="0"/>
                  <a:t>Closed-l</a:t>
                </a:r>
                <a:r>
                  <a:rPr lang="en-US" dirty="0" smtClean="0"/>
                  <a:t>oop </a:t>
                </a:r>
                <a:r>
                  <a:rPr lang="en-US" dirty="0"/>
                  <a:t>GBW: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𝐺𝐵𝑊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/2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4188636"/>
              </a:xfrm>
              <a:blipFill>
                <a:blip r:embed="rId2"/>
                <a:stretch>
                  <a:fillRect l="-464" t="-2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Feedback</a:t>
            </a:r>
          </a:p>
          <a:p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612" y="4668716"/>
            <a:ext cx="3530516" cy="175658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769577" y="4668716"/>
            <a:ext cx="1837592" cy="369276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/>
        </p:nvSpPr>
        <p:spPr>
          <a:xfrm>
            <a:off x="6460536" y="2095501"/>
            <a:ext cx="1837592" cy="369276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文本框 9"/>
          <p:cNvSpPr txBox="1"/>
          <p:nvPr/>
        </p:nvSpPr>
        <p:spPr>
          <a:xfrm>
            <a:off x="1213338" y="5327460"/>
            <a:ext cx="2409093" cy="338554"/>
          </a:xfrm>
          <a:prstGeom prst="rect">
            <a:avLst/>
          </a:prstGeom>
          <a:noFill/>
          <a:ln w="222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Gain-Bandwidth Exchange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213338" y="5853615"/>
            <a:ext cx="2244261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Bode plot?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425651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Application of Feedback </a:t>
            </a:r>
            <a:r>
              <a:rPr lang="en-US" sz="3600" dirty="0" smtClean="0"/>
              <a:t>#3: </a:t>
            </a:r>
            <a:br>
              <a:rPr lang="en-US" sz="3600" dirty="0" smtClean="0"/>
            </a:br>
            <a:r>
              <a:rPr lang="en-US" sz="3600" dirty="0" smtClean="0"/>
              <a:t>Stabilization of Unstable Systems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1</a:t>
                </a:r>
                <a:r>
                  <a:rPr lang="en-US" baseline="30000" dirty="0" smtClean="0"/>
                  <a:t>st</a:t>
                </a:r>
                <a:r>
                  <a:rPr lang="en-US" dirty="0" smtClean="0"/>
                  <a:t> order with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proportional feedback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b="1" dirty="0" smtClean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open-loop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unstable</a:t>
                </a:r>
                <a:r>
                  <a:rPr lang="en-US" dirty="0" smtClean="0"/>
                  <a:t> if </a:t>
                </a:r>
                <a:r>
                  <a:rPr lang="en-US" i="1" dirty="0" smtClean="0"/>
                  <a:t>a</a:t>
                </a:r>
                <a:r>
                  <a:rPr lang="en-US" dirty="0"/>
                  <a:t>≥</a:t>
                </a:r>
                <a:r>
                  <a:rPr lang="en-US" dirty="0" smtClean="0"/>
                  <a:t>0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closed-loop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𝐾𝑏</m:t>
                        </m:r>
                      </m:den>
                    </m:f>
                  </m:oMath>
                </a14:m>
                <a:r>
                  <a:rPr lang="en-US" dirty="0" smtClean="0"/>
                  <a:t>, 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stable</a:t>
                </a:r>
                <a:r>
                  <a:rPr lang="en-US" dirty="0" smtClean="0"/>
                  <a:t> if </a:t>
                </a:r>
                <a:r>
                  <a:rPr lang="en-US" i="1" dirty="0" smtClean="0"/>
                  <a:t>Kb&gt;a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2</a:t>
                </a:r>
                <a:r>
                  <a:rPr lang="en-US" baseline="30000" dirty="0" smtClean="0"/>
                  <a:t>nd</a:t>
                </a:r>
                <a:r>
                  <a:rPr lang="en-US" dirty="0" smtClean="0"/>
                  <a:t> order </a:t>
                </a:r>
                <a:r>
                  <a:rPr lang="en-US" dirty="0"/>
                  <a:t>with </a:t>
                </a:r>
                <a:r>
                  <a:rPr lang="en-US" b="1" dirty="0">
                    <a:solidFill>
                      <a:srgbClr val="C00000"/>
                    </a:solidFill>
                  </a:rPr>
                  <a:t>proportional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feedback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open-loop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unstable</a:t>
                </a:r>
              </a:p>
              <a:p>
                <a:pPr lvl="2"/>
                <a:r>
                  <a:rPr lang="en-US" dirty="0"/>
                  <a:t> </a:t>
                </a:r>
                <a:r>
                  <a:rPr lang="en-US" dirty="0" smtClean="0"/>
                  <a:t>a&gt;0, two poles on </a:t>
                </a:r>
                <a:r>
                  <a:rPr lang="en-US" i="1" dirty="0" smtClean="0"/>
                  <a:t>j</a:t>
                </a:r>
                <a:r>
                  <a:rPr lang="el-GR" i="1" dirty="0" smtClean="0"/>
                  <a:t>ω</a:t>
                </a:r>
                <a:r>
                  <a:rPr lang="en-US" i="1" dirty="0" smtClean="0"/>
                  <a:t> </a:t>
                </a:r>
                <a:r>
                  <a:rPr lang="en-US" dirty="0" smtClean="0"/>
                  <a:t>axis, impulse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𝑠𝑖𝑛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 smtClean="0"/>
                  <a:t>u(t) </a:t>
                </a:r>
                <a:r>
                  <a:rPr lang="en-US" dirty="0" smtClean="0">
                    <a:sym typeface="Wingdings" panose="05000000000000000000" pitchFamily="2" charset="2"/>
                  </a:rPr>
                  <a:t> oscillator</a:t>
                </a:r>
              </a:p>
              <a:p>
                <a:pPr lvl="2"/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a&lt;0, two poles, one on right-half plane</a:t>
                </a:r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closed-loop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𝐾𝑏</m:t>
                        </m:r>
                      </m:den>
                    </m:f>
                  </m:oMath>
                </a14:m>
                <a:r>
                  <a:rPr lang="en-US" dirty="0" smtClean="0"/>
                  <a:t>, still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unstable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16751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7780" y="373919"/>
            <a:ext cx="7886700" cy="792000"/>
          </a:xfrm>
        </p:spPr>
        <p:txBody>
          <a:bodyPr>
            <a:noAutofit/>
          </a:bodyPr>
          <a:lstStyle/>
          <a:p>
            <a:r>
              <a:rPr lang="en-US" sz="3600" dirty="0"/>
              <a:t>Application of Feedback #3: 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Stabilization </a:t>
            </a:r>
            <a:r>
              <a:rPr lang="en-US" sz="3600" dirty="0"/>
              <a:t>of Unstable </a:t>
            </a:r>
            <a:r>
              <a:rPr lang="en-US" sz="3600" dirty="0" smtClean="0"/>
              <a:t>Systems (</a:t>
            </a:r>
            <a:r>
              <a:rPr lang="en-US" sz="3600" dirty="0" err="1" smtClean="0"/>
              <a:t>cont</a:t>
            </a:r>
            <a:r>
              <a:rPr lang="en-US" sz="3600" dirty="0" smtClean="0"/>
              <a:t>’)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08100"/>
                <a:ext cx="8190035" cy="4868863"/>
              </a:xfrm>
            </p:spPr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dirty="0"/>
                  <a:t>2</a:t>
                </a:r>
                <a:r>
                  <a:rPr lang="en-US" baseline="30000" dirty="0"/>
                  <a:t>nd</a:t>
                </a:r>
                <a:r>
                  <a:rPr lang="en-US" dirty="0"/>
                  <a:t> order with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proportional-plus-derivative </a:t>
                </a:r>
                <a:r>
                  <a:rPr lang="en-US" b="1" dirty="0">
                    <a:solidFill>
                      <a:srgbClr val="C00000"/>
                    </a:solidFill>
                  </a:rPr>
                  <a:t>feedback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 smtClean="0"/>
                  <a:t>s</a:t>
                </a:r>
              </a:p>
              <a:p>
                <a:pPr lvl="1"/>
                <a:r>
                  <a:rPr lang="en-US" dirty="0"/>
                  <a:t> open-loop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unstable</a:t>
                </a:r>
              </a:p>
              <a:p>
                <a:pPr lvl="1"/>
                <a:r>
                  <a:rPr lang="en-US" dirty="0" smtClean="0"/>
                  <a:t> closed-loop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 smtClean="0"/>
                  <a:t> stable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 smtClean="0"/>
              </a:p>
              <a:p>
                <a:pPr lvl="2"/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𝜁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 smtClean="0"/>
                  <a:t> is stable with a positive damping ratio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08100"/>
                <a:ext cx="8190035" cy="4868863"/>
              </a:xfrm>
              <a:blipFill>
                <a:blip r:embed="rId2"/>
                <a:stretch>
                  <a:fillRect l="-1488" t="-2256" r="-1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92012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Stabilization of Unstable </a:t>
            </a:r>
            <a:r>
              <a:rPr lang="en-US" dirty="0" smtClean="0"/>
              <a:t>DT System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 represents the number of animals in the </a:t>
                </a:r>
                <a:r>
                  <a:rPr lang="en-US" i="1" dirty="0" smtClean="0"/>
                  <a:t>n</a:t>
                </a:r>
                <a:r>
                  <a:rPr lang="en-US" baseline="30000" dirty="0" smtClean="0"/>
                  <a:t>th</a:t>
                </a:r>
                <a:r>
                  <a:rPr lang="en-US" dirty="0" smtClean="0"/>
                  <a:t> generation</a:t>
                </a:r>
              </a:p>
              <a:p>
                <a:r>
                  <a:rPr lang="en-US" dirty="0" smtClean="0"/>
                  <a:t> if birthrate is larger than 1, </a:t>
                </a:r>
                <a:r>
                  <a:rPr lang="en-US" dirty="0" err="1" smtClean="0"/>
                  <a:t>eg</a:t>
                </a:r>
                <a:r>
                  <a:rPr lang="en-US" dirty="0" smtClean="0"/>
                  <a:t>., </a:t>
                </a:r>
                <a:r>
                  <a:rPr lang="en-US" i="1" dirty="0"/>
                  <a:t>y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 smtClean="0"/>
                  <a:t>]=2</a:t>
                </a:r>
                <a:r>
                  <a:rPr lang="en-US" i="1" dirty="0" smtClean="0"/>
                  <a:t> y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-1] +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/>
                  <a:t>, one pole (=2) outside unit circle,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unstable</a:t>
                </a:r>
                <a:r>
                  <a:rPr lang="en-US" dirty="0" smtClean="0"/>
                  <a:t> </a:t>
                </a:r>
              </a:p>
              <a:p>
                <a:pPr lvl="1"/>
                <a:r>
                  <a:rPr lang="en-US" dirty="0" smtClean="0"/>
                  <a:t> 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]: external influence such as migration or </a:t>
                </a:r>
                <a:r>
                  <a:rPr lang="en-US" dirty="0" smtClean="0"/>
                  <a:t>disease</a:t>
                </a:r>
              </a:p>
              <a:p>
                <a:pPr lvl="1"/>
                <a:r>
                  <a:rPr lang="en-US" dirty="0" smtClean="0"/>
                  <a:t>must be introduced to stabilize it</a:t>
                </a:r>
              </a:p>
              <a:p>
                <a:r>
                  <a:rPr lang="en-US" dirty="0"/>
                  <a:t> </a:t>
                </a:r>
                <a:r>
                  <a:rPr lang="en-US" i="1" dirty="0"/>
                  <a:t>y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]=</a:t>
                </a:r>
                <a:r>
                  <a:rPr lang="en-US" dirty="0" smtClean="0"/>
                  <a:t>2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-1]+</a:t>
                </a:r>
                <a:r>
                  <a:rPr lang="en-US" i="1" dirty="0" smtClean="0"/>
                  <a:t>e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], </a:t>
                </a:r>
                <a:r>
                  <a:rPr lang="en-US" i="1" dirty="0"/>
                  <a:t>e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 smtClean="0"/>
                  <a:t>]=</a:t>
                </a:r>
                <a:r>
                  <a:rPr lang="en-US" i="1" dirty="0" smtClean="0"/>
                  <a:t>x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]-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</a:t>
                </a:r>
              </a:p>
              <a:p>
                <a:pPr lvl="1"/>
                <a:r>
                  <a:rPr lang="en-US" i="1" dirty="0" smtClean="0"/>
                  <a:t> r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]: regulative </a:t>
                </a:r>
                <a:r>
                  <a:rPr lang="en-US" dirty="0"/>
                  <a:t>control</a:t>
                </a:r>
                <a:endParaRPr lang="en-US" dirty="0" smtClean="0"/>
              </a:p>
              <a:p>
                <a:r>
                  <a:rPr lang="en-US" dirty="0" smtClean="0"/>
                  <a:t> Example: </a:t>
                </a:r>
                <a:r>
                  <a:rPr lang="en-US" i="1" dirty="0"/>
                  <a:t>y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]=2</a:t>
                </a:r>
                <a:r>
                  <a:rPr lang="en-US" i="1" dirty="0"/>
                  <a:t>y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-1]+</a:t>
                </a:r>
                <a:r>
                  <a:rPr lang="en-US" i="1" dirty="0"/>
                  <a:t>e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], </a:t>
                </a:r>
                <a:r>
                  <a:rPr lang="en-US" i="1" dirty="0"/>
                  <a:t>e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]=</a:t>
                </a:r>
                <a:r>
                  <a:rPr lang="en-US" i="1" dirty="0"/>
                  <a:t>x</a:t>
                </a:r>
                <a:r>
                  <a:rPr lang="en-US" dirty="0"/>
                  <a:t>[</a:t>
                </a:r>
                <a:r>
                  <a:rPr lang="en-US" i="1" dirty="0"/>
                  <a:t>n</a:t>
                </a:r>
                <a:r>
                  <a:rPr lang="en-US" dirty="0"/>
                  <a:t>]-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], 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]=2</a:t>
                </a:r>
                <a:r>
                  <a:rPr lang="el-GR" i="1" dirty="0" smtClean="0"/>
                  <a:t>β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-1]  </a:t>
                </a:r>
                <a:r>
                  <a:rPr lang="en-US" dirty="0" smtClean="0">
                    <a:sym typeface="Wingdings" panose="05000000000000000000" pitchFamily="2" charset="2"/>
                  </a:rPr>
                  <a:t> feedback configuration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3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64424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Stabilization of Unstable DT </a:t>
            </a:r>
            <a:r>
              <a:rPr lang="en-US" sz="3200" dirty="0" smtClean="0"/>
              <a:t>System (</a:t>
            </a:r>
            <a:r>
              <a:rPr lang="en-US" sz="3200" dirty="0" err="1" smtClean="0"/>
              <a:t>cont</a:t>
            </a:r>
            <a:r>
              <a:rPr lang="en-US" sz="3200" dirty="0" smtClean="0"/>
              <a:t>’)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90013" y="3989754"/>
                <a:ext cx="7886700" cy="215606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 open-loop: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b="0" dirty="0" smtClean="0"/>
              </a:p>
              <a:p>
                <a:r>
                  <a:rPr lang="en-US" dirty="0" smtClean="0"/>
                  <a:t> feedback: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closed-loop: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1−2(1−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 smtClean="0"/>
                  <a:t>, </a:t>
                </a:r>
                <a:r>
                  <a:rPr lang="en-US" b="1" dirty="0" smtClean="0">
                    <a:solidFill>
                      <a:srgbClr val="00B050"/>
                    </a:solidFill>
                  </a:rPr>
                  <a:t>stable</a:t>
                </a:r>
                <a:r>
                  <a:rPr lang="en-US" dirty="0" smtClean="0"/>
                  <a:t> if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−1&lt;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 smtClean="0"/>
                  <a:t>, or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013" y="3989754"/>
                <a:ext cx="7886700" cy="2156069"/>
              </a:xfrm>
              <a:blipFill>
                <a:blip r:embed="rId2"/>
                <a:stretch>
                  <a:fillRect l="-1391" t="-3107" b="-3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567" y="1354532"/>
            <a:ext cx="4868115" cy="2402206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43953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smtClean="0"/>
              <a:t>Tracking Systems with Feedback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90013" y="3013721"/>
                <a:ext cx="8184710" cy="2853471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system function to be controlled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compensator for stability and other consideration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i="1" dirty="0" smtClean="0"/>
                  <a:t>e</a:t>
                </a:r>
                <a:r>
                  <a:rPr lang="en-US" dirty="0" smtClean="0"/>
                  <a:t>[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]: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tracking error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closed-loop transfer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error transfer function</a:t>
                </a:r>
                <a:r>
                  <a:rPr lang="en-US" dirty="0" smtClean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To track the input,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 smtClean="0"/>
                  <a:t> needs to minimized,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should be large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0013" y="3013721"/>
                <a:ext cx="8184710" cy="2853471"/>
              </a:xfrm>
              <a:blipFill>
                <a:blip r:embed="rId2"/>
                <a:stretch>
                  <a:fillRect l="-820" t="-4274" b="-3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986" y="1336515"/>
            <a:ext cx="6330579" cy="149781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457950" y="5008713"/>
            <a:ext cx="181714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prove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98582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Tracking Systems with </a:t>
            </a:r>
            <a:r>
              <a:rPr lang="en-US" altLang="zh-CN" sz="3600" dirty="0" smtClean="0"/>
              <a:t>Feedback (</a:t>
            </a:r>
            <a:r>
              <a:rPr lang="en-US" altLang="zh-CN" sz="3600" dirty="0" err="1" smtClean="0"/>
              <a:t>Cont</a:t>
            </a:r>
            <a:r>
              <a:rPr lang="en-US" altLang="zh-CN" sz="3600" dirty="0" smtClean="0"/>
              <a:t>’)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3107184"/>
                <a:ext cx="7886700" cy="3069779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altLang="zh-CN" dirty="0" smtClean="0"/>
                  <a:t>Consider disturbance </a:t>
                </a:r>
                <a:r>
                  <a:rPr lang="en-US" altLang="zh-CN" i="1" dirty="0" smtClean="0"/>
                  <a:t>d</a:t>
                </a:r>
                <a:r>
                  <a:rPr lang="en-US" altLang="zh-CN" dirty="0" smtClean="0"/>
                  <a:t>[</a:t>
                </a:r>
                <a:r>
                  <a:rPr lang="en-US" altLang="zh-CN" i="1" dirty="0" smtClean="0"/>
                  <a:t>n</a:t>
                </a:r>
                <a:r>
                  <a:rPr lang="en-US" altLang="zh-CN" dirty="0" smtClean="0"/>
                  <a:t>]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Disturbance transfer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 smtClean="0"/>
                  <a:t> , which also needs to be minimized</a:t>
                </a:r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However,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𝑐𝑙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Design challenge: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 smtClean="0"/>
                  <a:t> need to be minimized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𝒄𝒍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</m:oMath>
                </a14:m>
                <a:r>
                  <a:rPr lang="en-US" b="1" dirty="0" smtClean="0">
                    <a:solidFill>
                      <a:srgbClr val="FF0000"/>
                    </a:solidFill>
                  </a:rPr>
                  <a:t>?!</a:t>
                </a:r>
                <a:r>
                  <a:rPr lang="en-US" dirty="0" smtClean="0"/>
                  <a:t>)</a:t>
                </a:r>
              </a:p>
              <a:p>
                <a:r>
                  <a:rPr lang="en-US" dirty="0" smtClean="0"/>
                  <a:t> Usually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 smtClean="0"/>
                  <a:t> is low-pass</a:t>
                </a:r>
              </a:p>
              <a:p>
                <a:pPr lvl="1"/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is high-pass 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dirty="0" smtClean="0"/>
                  <a:t> is low-pass 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 track the low-frequency input change</a:t>
                </a:r>
                <a:r>
                  <a:rPr lang="zh-CN" altLang="en-US" sz="3400" b="1" dirty="0" smtClean="0">
                    <a:solidFill>
                      <a:srgbClr val="00B050"/>
                    </a:solidFill>
                    <a:sym typeface="Wingdings" panose="05000000000000000000" pitchFamily="2" charset="2"/>
                  </a:rPr>
                  <a:t>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, but also track the </a:t>
                </a:r>
                <a:r>
                  <a:rPr lang="en-US" altLang="zh-CN" dirty="0" smtClean="0"/>
                  <a:t>low frequency 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disturbance</a:t>
                </a:r>
                <a:r>
                  <a:rPr lang="zh-CN" altLang="en-US" sz="3400" b="1" dirty="0" smtClean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</a:t>
                </a:r>
                <a:endParaRPr lang="en-US" altLang="zh-CN" sz="3400" b="1" dirty="0">
                  <a:solidFill>
                    <a:srgbClr val="FF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3107184"/>
                <a:ext cx="7886700" cy="3069779"/>
              </a:xfrm>
              <a:blipFill>
                <a:blip r:embed="rId2"/>
                <a:stretch>
                  <a:fillRect l="-696" t="-3976" r="-1082" b="-3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324" y="1324027"/>
            <a:ext cx="6330579" cy="1847084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324130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 Typical Tracking System:</a:t>
            </a:r>
            <a:br>
              <a:rPr lang="en-US" sz="3600" dirty="0" smtClean="0"/>
            </a:br>
            <a:r>
              <a:rPr lang="en-US" sz="3600" dirty="0" smtClean="0"/>
              <a:t>Phase</a:t>
            </a:r>
            <a:r>
              <a:rPr lang="en-US" altLang="zh-CN" sz="3600" dirty="0" smtClean="0"/>
              <a:t>-Locked Loop (PLL)</a:t>
            </a:r>
            <a:endParaRPr lang="en-US" sz="36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884" y="1442888"/>
            <a:ext cx="7133707" cy="2425727"/>
          </a:xfrm>
          <a:prstGeom prst="rect">
            <a:avLst/>
          </a:prstGeom>
        </p:spPr>
      </p:pic>
      <p:sp>
        <p:nvSpPr>
          <p:cNvPr id="27" name="上箭头 26"/>
          <p:cNvSpPr/>
          <p:nvPr/>
        </p:nvSpPr>
        <p:spPr>
          <a:xfrm>
            <a:off x="3525715" y="3666392"/>
            <a:ext cx="281354" cy="404446"/>
          </a:xfrm>
          <a:prstGeom prst="up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8" name="组合 107"/>
          <p:cNvGrpSpPr/>
          <p:nvPr/>
        </p:nvGrpSpPr>
        <p:grpSpPr>
          <a:xfrm>
            <a:off x="1291004" y="4154377"/>
            <a:ext cx="6639658" cy="2057400"/>
            <a:chOff x="1291004" y="4154377"/>
            <a:chExt cx="6639658" cy="2057400"/>
          </a:xfrm>
        </p:grpSpPr>
        <p:sp>
          <p:nvSpPr>
            <p:cNvPr id="88" name="Rectangle 4"/>
            <p:cNvSpPr>
              <a:spLocks noChangeArrowheads="1"/>
            </p:cNvSpPr>
            <p:nvPr/>
          </p:nvSpPr>
          <p:spPr bwMode="auto">
            <a:xfrm>
              <a:off x="2357804" y="4535377"/>
              <a:ext cx="914400" cy="609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/>
                <a:t>PD</a:t>
              </a:r>
            </a:p>
          </p:txBody>
        </p:sp>
        <p:sp>
          <p:nvSpPr>
            <p:cNvPr id="89" name="Rectangle 5"/>
            <p:cNvSpPr>
              <a:spLocks noChangeArrowheads="1"/>
            </p:cNvSpPr>
            <p:nvPr/>
          </p:nvSpPr>
          <p:spPr bwMode="auto">
            <a:xfrm>
              <a:off x="3653204" y="4535377"/>
              <a:ext cx="838200" cy="609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/>
                <a:t>Loop Filter</a:t>
              </a:r>
            </a:p>
          </p:txBody>
        </p:sp>
        <p:sp>
          <p:nvSpPr>
            <p:cNvPr id="90" name="Line 6"/>
            <p:cNvSpPr>
              <a:spLocks noChangeShapeType="1"/>
            </p:cNvSpPr>
            <p:nvPr/>
          </p:nvSpPr>
          <p:spPr bwMode="auto">
            <a:xfrm>
              <a:off x="3272204" y="4840177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7"/>
            <p:cNvSpPr>
              <a:spLocks noChangeShapeType="1"/>
            </p:cNvSpPr>
            <p:nvPr/>
          </p:nvSpPr>
          <p:spPr bwMode="auto">
            <a:xfrm>
              <a:off x="4491404" y="4840177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Oval 8"/>
            <p:cNvSpPr>
              <a:spLocks noChangeArrowheads="1"/>
            </p:cNvSpPr>
            <p:nvPr/>
          </p:nvSpPr>
          <p:spPr bwMode="auto">
            <a:xfrm>
              <a:off x="4872404" y="4611577"/>
              <a:ext cx="457200" cy="457200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93" name="Group 9"/>
            <p:cNvGrpSpPr>
              <a:grpSpLocks/>
            </p:cNvGrpSpPr>
            <p:nvPr/>
          </p:nvGrpSpPr>
          <p:grpSpPr bwMode="auto">
            <a:xfrm>
              <a:off x="4948604" y="4687777"/>
              <a:ext cx="304800" cy="304800"/>
              <a:chOff x="184" y="3312"/>
              <a:chExt cx="672" cy="1072"/>
            </a:xfrm>
          </p:grpSpPr>
          <p:sp>
            <p:nvSpPr>
              <p:cNvPr id="94" name="Freeform 10"/>
              <p:cNvSpPr>
                <a:spLocks/>
              </p:cNvSpPr>
              <p:nvPr/>
            </p:nvSpPr>
            <p:spPr bwMode="auto">
              <a:xfrm>
                <a:off x="184" y="3312"/>
                <a:ext cx="336" cy="544"/>
              </a:xfrm>
              <a:custGeom>
                <a:avLst/>
                <a:gdLst>
                  <a:gd name="T0" fmla="*/ 0 w 336"/>
                  <a:gd name="T1" fmla="*/ 544 h 544"/>
                  <a:gd name="T2" fmla="*/ 96 w 336"/>
                  <a:gd name="T3" fmla="*/ 160 h 544"/>
                  <a:gd name="T4" fmla="*/ 192 w 336"/>
                  <a:gd name="T5" fmla="*/ 64 h 544"/>
                  <a:gd name="T6" fmla="*/ 336 w 336"/>
                  <a:gd name="T7" fmla="*/ 544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6" h="544">
                    <a:moveTo>
                      <a:pt x="0" y="544"/>
                    </a:moveTo>
                    <a:cubicBezTo>
                      <a:pt x="32" y="392"/>
                      <a:pt x="64" y="240"/>
                      <a:pt x="96" y="160"/>
                    </a:cubicBezTo>
                    <a:cubicBezTo>
                      <a:pt x="128" y="80"/>
                      <a:pt x="152" y="0"/>
                      <a:pt x="192" y="64"/>
                    </a:cubicBezTo>
                    <a:cubicBezTo>
                      <a:pt x="232" y="128"/>
                      <a:pt x="284" y="336"/>
                      <a:pt x="336" y="544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95" name="Freeform 11"/>
              <p:cNvSpPr>
                <a:spLocks/>
              </p:cNvSpPr>
              <p:nvPr/>
            </p:nvSpPr>
            <p:spPr bwMode="auto">
              <a:xfrm flipV="1">
                <a:off x="520" y="3840"/>
                <a:ext cx="336" cy="544"/>
              </a:xfrm>
              <a:custGeom>
                <a:avLst/>
                <a:gdLst>
                  <a:gd name="T0" fmla="*/ 0 w 336"/>
                  <a:gd name="T1" fmla="*/ 544 h 544"/>
                  <a:gd name="T2" fmla="*/ 96 w 336"/>
                  <a:gd name="T3" fmla="*/ 160 h 544"/>
                  <a:gd name="T4" fmla="*/ 192 w 336"/>
                  <a:gd name="T5" fmla="*/ 64 h 544"/>
                  <a:gd name="T6" fmla="*/ 336 w 336"/>
                  <a:gd name="T7" fmla="*/ 544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6" h="544">
                    <a:moveTo>
                      <a:pt x="0" y="544"/>
                    </a:moveTo>
                    <a:cubicBezTo>
                      <a:pt x="32" y="392"/>
                      <a:pt x="64" y="240"/>
                      <a:pt x="96" y="160"/>
                    </a:cubicBezTo>
                    <a:cubicBezTo>
                      <a:pt x="128" y="80"/>
                      <a:pt x="152" y="0"/>
                      <a:pt x="192" y="64"/>
                    </a:cubicBezTo>
                    <a:cubicBezTo>
                      <a:pt x="232" y="128"/>
                      <a:pt x="284" y="336"/>
                      <a:pt x="336" y="544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96" name="Rectangle 13"/>
            <p:cNvSpPr>
              <a:spLocks noChangeArrowheads="1"/>
            </p:cNvSpPr>
            <p:nvPr/>
          </p:nvSpPr>
          <p:spPr bwMode="auto">
            <a:xfrm>
              <a:off x="3424604" y="5449777"/>
              <a:ext cx="838200" cy="609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/>
                <a:t>1/N</a:t>
              </a:r>
            </a:p>
          </p:txBody>
        </p:sp>
        <p:sp>
          <p:nvSpPr>
            <p:cNvPr id="97" name="Line 14"/>
            <p:cNvSpPr>
              <a:spLocks noChangeShapeType="1"/>
            </p:cNvSpPr>
            <p:nvPr/>
          </p:nvSpPr>
          <p:spPr bwMode="auto">
            <a:xfrm flipH="1">
              <a:off x="4262804" y="5754577"/>
              <a:ext cx="1447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15"/>
            <p:cNvSpPr>
              <a:spLocks noChangeShapeType="1"/>
            </p:cNvSpPr>
            <p:nvPr/>
          </p:nvSpPr>
          <p:spPr bwMode="auto">
            <a:xfrm>
              <a:off x="2815004" y="5754577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9" name="Line 16"/>
            <p:cNvSpPr>
              <a:spLocks noChangeShapeType="1"/>
            </p:cNvSpPr>
            <p:nvPr/>
          </p:nvSpPr>
          <p:spPr bwMode="auto">
            <a:xfrm rot="16200000" flipV="1">
              <a:off x="2510204" y="5449777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17"/>
            <p:cNvSpPr>
              <a:spLocks noChangeShapeType="1"/>
            </p:cNvSpPr>
            <p:nvPr/>
          </p:nvSpPr>
          <p:spPr bwMode="auto">
            <a:xfrm>
              <a:off x="1748204" y="4840177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 Box 18"/>
            <p:cNvSpPr txBox="1">
              <a:spLocks noChangeArrowheads="1"/>
            </p:cNvSpPr>
            <p:nvPr/>
          </p:nvSpPr>
          <p:spPr bwMode="auto">
            <a:xfrm>
              <a:off x="1291004" y="4382977"/>
              <a:ext cx="91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Ref</a:t>
              </a:r>
            </a:p>
          </p:txBody>
        </p:sp>
        <p:sp>
          <p:nvSpPr>
            <p:cNvPr id="102" name="Text Box 19"/>
            <p:cNvSpPr txBox="1">
              <a:spLocks noChangeArrowheads="1"/>
            </p:cNvSpPr>
            <p:nvPr/>
          </p:nvSpPr>
          <p:spPr bwMode="auto">
            <a:xfrm>
              <a:off x="4720004" y="4154377"/>
              <a:ext cx="91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</a:rPr>
                <a:t>VCO</a:t>
              </a:r>
            </a:p>
          </p:txBody>
        </p:sp>
        <p:sp>
          <p:nvSpPr>
            <p:cNvPr id="103" name="Rectangle 20"/>
            <p:cNvSpPr>
              <a:spLocks noChangeArrowheads="1"/>
            </p:cNvSpPr>
            <p:nvPr/>
          </p:nvSpPr>
          <p:spPr bwMode="auto">
            <a:xfrm>
              <a:off x="2053004" y="4154377"/>
              <a:ext cx="3886200" cy="2057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Text Box 21"/>
            <p:cNvSpPr txBox="1">
              <a:spLocks noChangeArrowheads="1"/>
            </p:cNvSpPr>
            <p:nvPr/>
          </p:nvSpPr>
          <p:spPr bwMode="auto">
            <a:xfrm>
              <a:off x="5939204" y="5144977"/>
              <a:ext cx="1991458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Phase-Locked Loop</a:t>
              </a:r>
            </a:p>
          </p:txBody>
        </p:sp>
        <p:sp>
          <p:nvSpPr>
            <p:cNvPr id="105" name="Line 22"/>
            <p:cNvSpPr>
              <a:spLocks noChangeShapeType="1"/>
            </p:cNvSpPr>
            <p:nvPr/>
          </p:nvSpPr>
          <p:spPr bwMode="auto">
            <a:xfrm rot="16200000" flipV="1">
              <a:off x="5253404" y="5297377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Line 23"/>
            <p:cNvSpPr>
              <a:spLocks noChangeShapeType="1"/>
            </p:cNvSpPr>
            <p:nvPr/>
          </p:nvSpPr>
          <p:spPr bwMode="auto">
            <a:xfrm>
              <a:off x="5329604" y="4840177"/>
              <a:ext cx="1066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Text Box 24"/>
            <p:cNvSpPr txBox="1">
              <a:spLocks noChangeArrowheads="1"/>
            </p:cNvSpPr>
            <p:nvPr/>
          </p:nvSpPr>
          <p:spPr bwMode="auto">
            <a:xfrm>
              <a:off x="6015404" y="4382977"/>
              <a:ext cx="685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LO</a:t>
              </a: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05619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Functional Blocks in PLL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3994149"/>
            <a:ext cx="7886700" cy="218281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800" dirty="0"/>
              <a:t>Phase detector (PD): find difference between phase of two signals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800" dirty="0"/>
              <a:t>Loop filter: provide appropriate control voltage for voltage-controlled oscillator (VCO)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800" dirty="0"/>
              <a:t>VCO: generate signals with phase determined by the control voltage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800" dirty="0"/>
              <a:t>Divide-by-N: LO phase changes N times faster than Ref phase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grpSp>
        <p:nvGrpSpPr>
          <p:cNvPr id="44" name="组合 43"/>
          <p:cNvGrpSpPr/>
          <p:nvPr/>
        </p:nvGrpSpPr>
        <p:grpSpPr>
          <a:xfrm>
            <a:off x="1252171" y="1546937"/>
            <a:ext cx="6639658" cy="2057400"/>
            <a:chOff x="1291004" y="4154377"/>
            <a:chExt cx="6639658" cy="2057400"/>
          </a:xfrm>
        </p:grpSpPr>
        <p:sp>
          <p:nvSpPr>
            <p:cNvPr id="45" name="Rectangle 4"/>
            <p:cNvSpPr>
              <a:spLocks noChangeArrowheads="1"/>
            </p:cNvSpPr>
            <p:nvPr/>
          </p:nvSpPr>
          <p:spPr bwMode="auto">
            <a:xfrm>
              <a:off x="2357804" y="4535377"/>
              <a:ext cx="914400" cy="609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/>
                <a:t>PD</a:t>
              </a:r>
            </a:p>
          </p:txBody>
        </p:sp>
        <p:sp>
          <p:nvSpPr>
            <p:cNvPr id="46" name="Rectangle 5"/>
            <p:cNvSpPr>
              <a:spLocks noChangeArrowheads="1"/>
            </p:cNvSpPr>
            <p:nvPr/>
          </p:nvSpPr>
          <p:spPr bwMode="auto">
            <a:xfrm>
              <a:off x="3653204" y="4535377"/>
              <a:ext cx="838200" cy="609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/>
                <a:t>Loop Filter</a:t>
              </a:r>
            </a:p>
          </p:txBody>
        </p:sp>
        <p:sp>
          <p:nvSpPr>
            <p:cNvPr id="47" name="Line 6"/>
            <p:cNvSpPr>
              <a:spLocks noChangeShapeType="1"/>
            </p:cNvSpPr>
            <p:nvPr/>
          </p:nvSpPr>
          <p:spPr bwMode="auto">
            <a:xfrm>
              <a:off x="3272204" y="4840177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7"/>
            <p:cNvSpPr>
              <a:spLocks noChangeShapeType="1"/>
            </p:cNvSpPr>
            <p:nvPr/>
          </p:nvSpPr>
          <p:spPr bwMode="auto">
            <a:xfrm>
              <a:off x="4491404" y="4840177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Oval 8"/>
            <p:cNvSpPr>
              <a:spLocks noChangeArrowheads="1"/>
            </p:cNvSpPr>
            <p:nvPr/>
          </p:nvSpPr>
          <p:spPr bwMode="auto">
            <a:xfrm>
              <a:off x="4872404" y="4611577"/>
              <a:ext cx="457200" cy="457200"/>
            </a:xfrm>
            <a:prstGeom prst="ellipse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grpSp>
          <p:nvGrpSpPr>
            <p:cNvPr id="50" name="Group 9"/>
            <p:cNvGrpSpPr>
              <a:grpSpLocks/>
            </p:cNvGrpSpPr>
            <p:nvPr/>
          </p:nvGrpSpPr>
          <p:grpSpPr bwMode="auto">
            <a:xfrm>
              <a:off x="4948604" y="4687777"/>
              <a:ext cx="304800" cy="304800"/>
              <a:chOff x="184" y="3312"/>
              <a:chExt cx="672" cy="1072"/>
            </a:xfrm>
          </p:grpSpPr>
          <p:sp>
            <p:nvSpPr>
              <p:cNvPr id="63" name="Freeform 10"/>
              <p:cNvSpPr>
                <a:spLocks/>
              </p:cNvSpPr>
              <p:nvPr/>
            </p:nvSpPr>
            <p:spPr bwMode="auto">
              <a:xfrm>
                <a:off x="184" y="3312"/>
                <a:ext cx="336" cy="544"/>
              </a:xfrm>
              <a:custGeom>
                <a:avLst/>
                <a:gdLst>
                  <a:gd name="T0" fmla="*/ 0 w 336"/>
                  <a:gd name="T1" fmla="*/ 544 h 544"/>
                  <a:gd name="T2" fmla="*/ 96 w 336"/>
                  <a:gd name="T3" fmla="*/ 160 h 544"/>
                  <a:gd name="T4" fmla="*/ 192 w 336"/>
                  <a:gd name="T5" fmla="*/ 64 h 544"/>
                  <a:gd name="T6" fmla="*/ 336 w 336"/>
                  <a:gd name="T7" fmla="*/ 544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6" h="544">
                    <a:moveTo>
                      <a:pt x="0" y="544"/>
                    </a:moveTo>
                    <a:cubicBezTo>
                      <a:pt x="32" y="392"/>
                      <a:pt x="64" y="240"/>
                      <a:pt x="96" y="160"/>
                    </a:cubicBezTo>
                    <a:cubicBezTo>
                      <a:pt x="128" y="80"/>
                      <a:pt x="152" y="0"/>
                      <a:pt x="192" y="64"/>
                    </a:cubicBezTo>
                    <a:cubicBezTo>
                      <a:pt x="232" y="128"/>
                      <a:pt x="284" y="336"/>
                      <a:pt x="336" y="544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4" name="Freeform 11"/>
              <p:cNvSpPr>
                <a:spLocks/>
              </p:cNvSpPr>
              <p:nvPr/>
            </p:nvSpPr>
            <p:spPr bwMode="auto">
              <a:xfrm flipV="1">
                <a:off x="520" y="3840"/>
                <a:ext cx="336" cy="544"/>
              </a:xfrm>
              <a:custGeom>
                <a:avLst/>
                <a:gdLst>
                  <a:gd name="T0" fmla="*/ 0 w 336"/>
                  <a:gd name="T1" fmla="*/ 544 h 544"/>
                  <a:gd name="T2" fmla="*/ 96 w 336"/>
                  <a:gd name="T3" fmla="*/ 160 h 544"/>
                  <a:gd name="T4" fmla="*/ 192 w 336"/>
                  <a:gd name="T5" fmla="*/ 64 h 544"/>
                  <a:gd name="T6" fmla="*/ 336 w 336"/>
                  <a:gd name="T7" fmla="*/ 544 h 5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6" h="544">
                    <a:moveTo>
                      <a:pt x="0" y="544"/>
                    </a:moveTo>
                    <a:cubicBezTo>
                      <a:pt x="32" y="392"/>
                      <a:pt x="64" y="240"/>
                      <a:pt x="96" y="160"/>
                    </a:cubicBezTo>
                    <a:cubicBezTo>
                      <a:pt x="128" y="80"/>
                      <a:pt x="152" y="0"/>
                      <a:pt x="192" y="64"/>
                    </a:cubicBezTo>
                    <a:cubicBezTo>
                      <a:pt x="232" y="128"/>
                      <a:pt x="284" y="336"/>
                      <a:pt x="336" y="544"/>
                    </a:cubicBezTo>
                  </a:path>
                </a:pathLst>
              </a:custGeom>
              <a:noFill/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1" name="Rectangle 13"/>
            <p:cNvSpPr>
              <a:spLocks noChangeArrowheads="1"/>
            </p:cNvSpPr>
            <p:nvPr/>
          </p:nvSpPr>
          <p:spPr bwMode="auto">
            <a:xfrm>
              <a:off x="3424604" y="5449777"/>
              <a:ext cx="838200" cy="6096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/>
                <a:t>1/N</a:t>
              </a:r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 flipH="1">
              <a:off x="4262804" y="5754577"/>
              <a:ext cx="1447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>
              <a:off x="2815004" y="5754577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54" name="Line 16"/>
            <p:cNvSpPr>
              <a:spLocks noChangeShapeType="1"/>
            </p:cNvSpPr>
            <p:nvPr/>
          </p:nvSpPr>
          <p:spPr bwMode="auto">
            <a:xfrm rot="16200000" flipV="1">
              <a:off x="2510204" y="5449777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17"/>
            <p:cNvSpPr>
              <a:spLocks noChangeShapeType="1"/>
            </p:cNvSpPr>
            <p:nvPr/>
          </p:nvSpPr>
          <p:spPr bwMode="auto">
            <a:xfrm>
              <a:off x="1748204" y="4840177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Box 18"/>
            <p:cNvSpPr txBox="1">
              <a:spLocks noChangeArrowheads="1"/>
            </p:cNvSpPr>
            <p:nvPr/>
          </p:nvSpPr>
          <p:spPr bwMode="auto">
            <a:xfrm>
              <a:off x="1291004" y="4382977"/>
              <a:ext cx="91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Ref</a:t>
              </a:r>
            </a:p>
          </p:txBody>
        </p:sp>
        <p:sp>
          <p:nvSpPr>
            <p:cNvPr id="57" name="Text Box 19"/>
            <p:cNvSpPr txBox="1">
              <a:spLocks noChangeArrowheads="1"/>
            </p:cNvSpPr>
            <p:nvPr/>
          </p:nvSpPr>
          <p:spPr bwMode="auto">
            <a:xfrm>
              <a:off x="4720004" y="4154377"/>
              <a:ext cx="914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dirty="0">
                  <a:solidFill>
                    <a:schemeClr val="tx1"/>
                  </a:solidFill>
                </a:rPr>
                <a:t>VCO</a:t>
              </a:r>
            </a:p>
          </p:txBody>
        </p:sp>
        <p:sp>
          <p:nvSpPr>
            <p:cNvPr id="58" name="Rectangle 20"/>
            <p:cNvSpPr>
              <a:spLocks noChangeArrowheads="1"/>
            </p:cNvSpPr>
            <p:nvPr/>
          </p:nvSpPr>
          <p:spPr bwMode="auto">
            <a:xfrm>
              <a:off x="2053004" y="4154377"/>
              <a:ext cx="3886200" cy="205740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Text Box 21"/>
            <p:cNvSpPr txBox="1">
              <a:spLocks noChangeArrowheads="1"/>
            </p:cNvSpPr>
            <p:nvPr/>
          </p:nvSpPr>
          <p:spPr bwMode="auto">
            <a:xfrm>
              <a:off x="5939204" y="5144977"/>
              <a:ext cx="1991458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Phase-Locked Loop</a:t>
              </a:r>
            </a:p>
          </p:txBody>
        </p:sp>
        <p:sp>
          <p:nvSpPr>
            <p:cNvPr id="60" name="Line 22"/>
            <p:cNvSpPr>
              <a:spLocks noChangeShapeType="1"/>
            </p:cNvSpPr>
            <p:nvPr/>
          </p:nvSpPr>
          <p:spPr bwMode="auto">
            <a:xfrm rot="16200000" flipV="1">
              <a:off x="5253404" y="5297377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23"/>
            <p:cNvSpPr>
              <a:spLocks noChangeShapeType="1"/>
            </p:cNvSpPr>
            <p:nvPr/>
          </p:nvSpPr>
          <p:spPr bwMode="auto">
            <a:xfrm>
              <a:off x="5329604" y="4840177"/>
              <a:ext cx="1066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Box 24"/>
            <p:cNvSpPr txBox="1">
              <a:spLocks noChangeArrowheads="1"/>
            </p:cNvSpPr>
            <p:nvPr/>
          </p:nvSpPr>
          <p:spPr bwMode="auto">
            <a:xfrm>
              <a:off x="6015404" y="4382977"/>
              <a:ext cx="685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>
                  <a:solidFill>
                    <a:schemeClr val="tx1"/>
                  </a:solidFill>
                </a:rPr>
                <a:t>LO</a:t>
              </a:r>
            </a:p>
          </p:txBody>
        </p:sp>
      </p:grpSp>
      <p:sp>
        <p:nvSpPr>
          <p:cNvPr id="6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r>
              <a:rPr lang="en-US" altLang="zh-CN" dirty="0" smtClean="0"/>
              <a:t>19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88464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89" name="Rectangle 1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Charge Pump PLL</a:t>
            </a:r>
          </a:p>
        </p:txBody>
      </p:sp>
      <p:sp>
        <p:nvSpPr>
          <p:cNvPr id="284690" name="Rectangle 18"/>
          <p:cNvSpPr>
            <a:spLocks noGrp="1" noChangeArrowheads="1"/>
          </p:cNvSpPr>
          <p:nvPr>
            <p:ph idx="1"/>
          </p:nvPr>
        </p:nvSpPr>
        <p:spPr>
          <a:xfrm>
            <a:off x="628650" y="1308101"/>
            <a:ext cx="7886700" cy="2197100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sz="2800" dirty="0">
                <a:ea typeface="宋体" panose="02010600030101010101" pitchFamily="2" charset="-122"/>
              </a:rPr>
              <a:t>The charge pump PLL is one of the most popular PLL structures since 1980s </a:t>
            </a:r>
          </a:p>
          <a:p>
            <a:r>
              <a:rPr lang="en-US" altLang="en-US" sz="2800" dirty="0"/>
              <a:t>Featured with a digital phase detector and a charge pump</a:t>
            </a:r>
          </a:p>
          <a:p>
            <a:r>
              <a:rPr lang="en-US" altLang="en-US" sz="2800" dirty="0"/>
              <a:t> Advantages</a:t>
            </a:r>
          </a:p>
          <a:p>
            <a:pPr lvl="1"/>
            <a:r>
              <a:rPr lang="en-US" altLang="en-US" sz="2400" dirty="0"/>
              <a:t>Fast lock and tracking</a:t>
            </a:r>
          </a:p>
          <a:p>
            <a:pPr lvl="1"/>
            <a:r>
              <a:rPr lang="en-US" altLang="en-US" sz="2400" dirty="0"/>
              <a:t>No false lock</a:t>
            </a:r>
          </a:p>
          <a:p>
            <a:pPr lvl="1"/>
            <a:endParaRPr lang="en-US" altLang="en-US" sz="24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grpSp>
        <p:nvGrpSpPr>
          <p:cNvPr id="284691" name="Group 19"/>
          <p:cNvGrpSpPr>
            <a:grpSpLocks/>
          </p:cNvGrpSpPr>
          <p:nvPr/>
        </p:nvGrpSpPr>
        <p:grpSpPr bwMode="auto">
          <a:xfrm>
            <a:off x="700087" y="3481756"/>
            <a:ext cx="7815263" cy="2387600"/>
            <a:chOff x="480" y="1008"/>
            <a:chExt cx="4923" cy="1504"/>
          </a:xfrm>
        </p:grpSpPr>
        <p:sp>
          <p:nvSpPr>
            <p:cNvPr id="284692" name="Rectangle 20"/>
            <p:cNvSpPr>
              <a:spLocks noChangeArrowheads="1"/>
            </p:cNvSpPr>
            <p:nvPr/>
          </p:nvSpPr>
          <p:spPr bwMode="auto">
            <a:xfrm>
              <a:off x="1008" y="1200"/>
              <a:ext cx="768" cy="528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4693" name="Text Box 21"/>
            <p:cNvSpPr txBox="1">
              <a:spLocks noChangeArrowheads="1"/>
            </p:cNvSpPr>
            <p:nvPr/>
          </p:nvSpPr>
          <p:spPr bwMode="auto">
            <a:xfrm>
              <a:off x="960" y="1200"/>
              <a:ext cx="84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Phase</a:t>
              </a:r>
            </a:p>
            <a:p>
              <a:r>
                <a:rPr lang="en-US" altLang="en-US" dirty="0"/>
                <a:t>Detector</a:t>
              </a:r>
            </a:p>
          </p:txBody>
        </p:sp>
        <p:sp>
          <p:nvSpPr>
            <p:cNvPr id="284694" name="Rectangle 22"/>
            <p:cNvSpPr>
              <a:spLocks noChangeArrowheads="1"/>
            </p:cNvSpPr>
            <p:nvPr/>
          </p:nvSpPr>
          <p:spPr bwMode="auto">
            <a:xfrm>
              <a:off x="2064" y="1200"/>
              <a:ext cx="768" cy="528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4695" name="Text Box 23"/>
            <p:cNvSpPr txBox="1">
              <a:spLocks noChangeArrowheads="1"/>
            </p:cNvSpPr>
            <p:nvPr/>
          </p:nvSpPr>
          <p:spPr bwMode="auto">
            <a:xfrm>
              <a:off x="2064" y="1200"/>
              <a:ext cx="747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Charge</a:t>
              </a:r>
            </a:p>
            <a:p>
              <a:r>
                <a:rPr lang="en-US" altLang="en-US"/>
                <a:t>Pump</a:t>
              </a:r>
            </a:p>
          </p:txBody>
        </p:sp>
        <p:sp>
          <p:nvSpPr>
            <p:cNvPr id="284696" name="Rectangle 24"/>
            <p:cNvSpPr>
              <a:spLocks noChangeArrowheads="1"/>
            </p:cNvSpPr>
            <p:nvPr/>
          </p:nvSpPr>
          <p:spPr bwMode="auto">
            <a:xfrm>
              <a:off x="3120" y="1200"/>
              <a:ext cx="624" cy="528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84697" name="Text Box 25"/>
            <p:cNvSpPr txBox="1">
              <a:spLocks noChangeArrowheads="1"/>
            </p:cNvSpPr>
            <p:nvPr/>
          </p:nvSpPr>
          <p:spPr bwMode="auto">
            <a:xfrm>
              <a:off x="3168" y="1200"/>
              <a:ext cx="543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Loop</a:t>
              </a:r>
            </a:p>
            <a:p>
              <a:r>
                <a:rPr lang="en-US" altLang="en-US"/>
                <a:t>Filter</a:t>
              </a:r>
            </a:p>
          </p:txBody>
        </p:sp>
        <p:sp>
          <p:nvSpPr>
            <p:cNvPr id="284698" name="Rectangle 26"/>
            <p:cNvSpPr>
              <a:spLocks noChangeArrowheads="1"/>
            </p:cNvSpPr>
            <p:nvPr/>
          </p:nvSpPr>
          <p:spPr bwMode="auto">
            <a:xfrm>
              <a:off x="4032" y="1200"/>
              <a:ext cx="720" cy="528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4699" name="Text Box 27"/>
            <p:cNvSpPr txBox="1">
              <a:spLocks noChangeArrowheads="1"/>
            </p:cNvSpPr>
            <p:nvPr/>
          </p:nvSpPr>
          <p:spPr bwMode="auto">
            <a:xfrm>
              <a:off x="4080" y="1344"/>
              <a:ext cx="5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VCO</a:t>
              </a:r>
            </a:p>
          </p:txBody>
        </p:sp>
        <p:sp>
          <p:nvSpPr>
            <p:cNvPr id="284700" name="Rectangle 28"/>
            <p:cNvSpPr>
              <a:spLocks noChangeArrowheads="1"/>
            </p:cNvSpPr>
            <p:nvPr/>
          </p:nvSpPr>
          <p:spPr bwMode="auto">
            <a:xfrm>
              <a:off x="2163" y="2208"/>
              <a:ext cx="934" cy="304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/>
                <a:t>N-Divider</a:t>
              </a:r>
            </a:p>
          </p:txBody>
        </p:sp>
        <p:sp>
          <p:nvSpPr>
            <p:cNvPr id="284701" name="Line 29"/>
            <p:cNvSpPr>
              <a:spLocks noChangeShapeType="1"/>
            </p:cNvSpPr>
            <p:nvPr/>
          </p:nvSpPr>
          <p:spPr bwMode="auto">
            <a:xfrm>
              <a:off x="576" y="1296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02" name="Text Box 30"/>
            <p:cNvSpPr txBox="1">
              <a:spLocks noChangeArrowheads="1"/>
            </p:cNvSpPr>
            <p:nvPr/>
          </p:nvSpPr>
          <p:spPr bwMode="auto">
            <a:xfrm>
              <a:off x="480" y="1008"/>
              <a:ext cx="1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</a:t>
              </a:r>
              <a:r>
                <a:rPr lang="en-US" altLang="en-US" baseline="-25000"/>
                <a:t>i</a:t>
              </a:r>
            </a:p>
          </p:txBody>
        </p:sp>
        <p:sp>
          <p:nvSpPr>
            <p:cNvPr id="284703" name="Line 31"/>
            <p:cNvSpPr>
              <a:spLocks noChangeShapeType="1"/>
            </p:cNvSpPr>
            <p:nvPr/>
          </p:nvSpPr>
          <p:spPr bwMode="auto">
            <a:xfrm>
              <a:off x="1776" y="1440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04" name="Line 32"/>
            <p:cNvSpPr>
              <a:spLocks noChangeShapeType="1"/>
            </p:cNvSpPr>
            <p:nvPr/>
          </p:nvSpPr>
          <p:spPr bwMode="auto">
            <a:xfrm>
              <a:off x="2832" y="1440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05" name="Line 33"/>
            <p:cNvSpPr>
              <a:spLocks noChangeShapeType="1"/>
            </p:cNvSpPr>
            <p:nvPr/>
          </p:nvSpPr>
          <p:spPr bwMode="auto">
            <a:xfrm>
              <a:off x="3744" y="1440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06" name="Line 34"/>
            <p:cNvSpPr>
              <a:spLocks noChangeShapeType="1"/>
            </p:cNvSpPr>
            <p:nvPr/>
          </p:nvSpPr>
          <p:spPr bwMode="auto">
            <a:xfrm flipH="1">
              <a:off x="3120" y="2352"/>
              <a:ext cx="1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07" name="Line 35"/>
            <p:cNvSpPr>
              <a:spLocks noChangeShapeType="1"/>
            </p:cNvSpPr>
            <p:nvPr/>
          </p:nvSpPr>
          <p:spPr bwMode="auto">
            <a:xfrm flipV="1">
              <a:off x="4944" y="1440"/>
              <a:ext cx="0" cy="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08" name="Line 36"/>
            <p:cNvSpPr>
              <a:spLocks noChangeShapeType="1"/>
            </p:cNvSpPr>
            <p:nvPr/>
          </p:nvSpPr>
          <p:spPr bwMode="auto">
            <a:xfrm flipH="1">
              <a:off x="4752" y="1440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09" name="Line 37"/>
            <p:cNvSpPr>
              <a:spLocks noChangeShapeType="1"/>
            </p:cNvSpPr>
            <p:nvPr/>
          </p:nvSpPr>
          <p:spPr bwMode="auto">
            <a:xfrm flipH="1">
              <a:off x="720" y="2352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10" name="Line 38"/>
            <p:cNvSpPr>
              <a:spLocks noChangeShapeType="1"/>
            </p:cNvSpPr>
            <p:nvPr/>
          </p:nvSpPr>
          <p:spPr bwMode="auto">
            <a:xfrm flipV="1">
              <a:off x="720" y="1632"/>
              <a:ext cx="0" cy="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11" name="Line 39"/>
            <p:cNvSpPr>
              <a:spLocks noChangeShapeType="1"/>
            </p:cNvSpPr>
            <p:nvPr/>
          </p:nvSpPr>
          <p:spPr bwMode="auto">
            <a:xfrm>
              <a:off x="720" y="163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12" name="Line 40"/>
            <p:cNvSpPr>
              <a:spLocks noChangeShapeType="1"/>
            </p:cNvSpPr>
            <p:nvPr/>
          </p:nvSpPr>
          <p:spPr bwMode="auto">
            <a:xfrm>
              <a:off x="4800" y="1440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4713" name="Text Box 41"/>
            <p:cNvSpPr txBox="1">
              <a:spLocks noChangeArrowheads="1"/>
            </p:cNvSpPr>
            <p:nvPr/>
          </p:nvSpPr>
          <p:spPr bwMode="auto">
            <a:xfrm>
              <a:off x="5163" y="115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</a:t>
              </a:r>
              <a:r>
                <a:rPr lang="en-US" altLang="en-US" baseline="-25000"/>
                <a:t>o</a:t>
              </a:r>
            </a:p>
          </p:txBody>
        </p:sp>
        <p:sp>
          <p:nvSpPr>
            <p:cNvPr id="284714" name="Text Box 42"/>
            <p:cNvSpPr txBox="1">
              <a:spLocks noChangeArrowheads="1"/>
            </p:cNvSpPr>
            <p:nvPr/>
          </p:nvSpPr>
          <p:spPr bwMode="auto">
            <a:xfrm>
              <a:off x="528" y="148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</a:t>
              </a:r>
              <a:r>
                <a:rPr lang="en-US" altLang="en-US" baseline="-25000"/>
                <a:t>o</a:t>
              </a:r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9697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Modeling </a:t>
            </a:r>
            <a:r>
              <a:rPr lang="en-US" altLang="en-US" dirty="0"/>
              <a:t>Charge Pump PLL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25731" y="3422818"/>
            <a:ext cx="7815263" cy="2387600"/>
            <a:chOff x="480" y="1008"/>
            <a:chExt cx="4923" cy="1504"/>
          </a:xfrm>
        </p:grpSpPr>
        <p:sp>
          <p:nvSpPr>
            <p:cNvPr id="7" name="Rectangle 20"/>
            <p:cNvSpPr>
              <a:spLocks noChangeArrowheads="1"/>
            </p:cNvSpPr>
            <p:nvPr/>
          </p:nvSpPr>
          <p:spPr bwMode="auto">
            <a:xfrm>
              <a:off x="1008" y="1200"/>
              <a:ext cx="768" cy="528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" name="Text Box 21"/>
            <p:cNvSpPr txBox="1">
              <a:spLocks noChangeArrowheads="1"/>
            </p:cNvSpPr>
            <p:nvPr/>
          </p:nvSpPr>
          <p:spPr bwMode="auto">
            <a:xfrm>
              <a:off x="960" y="1200"/>
              <a:ext cx="84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Phase</a:t>
              </a:r>
            </a:p>
            <a:p>
              <a:r>
                <a:rPr lang="en-US" altLang="en-US" dirty="0"/>
                <a:t>Detector</a:t>
              </a:r>
            </a:p>
          </p:txBody>
        </p:sp>
        <p:sp>
          <p:nvSpPr>
            <p:cNvPr id="9" name="Rectangle 22"/>
            <p:cNvSpPr>
              <a:spLocks noChangeArrowheads="1"/>
            </p:cNvSpPr>
            <p:nvPr/>
          </p:nvSpPr>
          <p:spPr bwMode="auto">
            <a:xfrm>
              <a:off x="2064" y="1200"/>
              <a:ext cx="768" cy="528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" name="Text Box 23"/>
            <p:cNvSpPr txBox="1">
              <a:spLocks noChangeArrowheads="1"/>
            </p:cNvSpPr>
            <p:nvPr/>
          </p:nvSpPr>
          <p:spPr bwMode="auto">
            <a:xfrm>
              <a:off x="2064" y="1200"/>
              <a:ext cx="747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Charge</a:t>
              </a:r>
            </a:p>
            <a:p>
              <a:r>
                <a:rPr lang="en-US" altLang="en-US"/>
                <a:t>Pump</a:t>
              </a:r>
            </a:p>
          </p:txBody>
        </p:sp>
        <p:sp>
          <p:nvSpPr>
            <p:cNvPr id="11" name="Rectangle 24"/>
            <p:cNvSpPr>
              <a:spLocks noChangeArrowheads="1"/>
            </p:cNvSpPr>
            <p:nvPr/>
          </p:nvSpPr>
          <p:spPr bwMode="auto">
            <a:xfrm>
              <a:off x="3120" y="1200"/>
              <a:ext cx="624" cy="528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" name="Text Box 25"/>
            <p:cNvSpPr txBox="1">
              <a:spLocks noChangeArrowheads="1"/>
            </p:cNvSpPr>
            <p:nvPr/>
          </p:nvSpPr>
          <p:spPr bwMode="auto">
            <a:xfrm>
              <a:off x="3168" y="1200"/>
              <a:ext cx="543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Loop</a:t>
              </a:r>
            </a:p>
            <a:p>
              <a:r>
                <a:rPr lang="en-US" altLang="en-US"/>
                <a:t>Filter</a:t>
              </a:r>
            </a:p>
          </p:txBody>
        </p:sp>
        <p:sp>
          <p:nvSpPr>
            <p:cNvPr id="13" name="Rectangle 26"/>
            <p:cNvSpPr>
              <a:spLocks noChangeArrowheads="1"/>
            </p:cNvSpPr>
            <p:nvPr/>
          </p:nvSpPr>
          <p:spPr bwMode="auto">
            <a:xfrm>
              <a:off x="4032" y="1200"/>
              <a:ext cx="720" cy="528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4" name="Text Box 27"/>
            <p:cNvSpPr txBox="1">
              <a:spLocks noChangeArrowheads="1"/>
            </p:cNvSpPr>
            <p:nvPr/>
          </p:nvSpPr>
          <p:spPr bwMode="auto">
            <a:xfrm>
              <a:off x="4080" y="1344"/>
              <a:ext cx="5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VCO</a:t>
              </a:r>
            </a:p>
          </p:txBody>
        </p:sp>
        <p:sp>
          <p:nvSpPr>
            <p:cNvPr id="15" name="Rectangle 28"/>
            <p:cNvSpPr>
              <a:spLocks noChangeArrowheads="1"/>
            </p:cNvSpPr>
            <p:nvPr/>
          </p:nvSpPr>
          <p:spPr bwMode="auto">
            <a:xfrm>
              <a:off x="2163" y="2208"/>
              <a:ext cx="934" cy="304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en-US"/>
                <a:t>N-Divider</a:t>
              </a:r>
            </a:p>
          </p:txBody>
        </p:sp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576" y="1296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7" name="Text Box 30"/>
            <p:cNvSpPr txBox="1">
              <a:spLocks noChangeArrowheads="1"/>
            </p:cNvSpPr>
            <p:nvPr/>
          </p:nvSpPr>
          <p:spPr bwMode="auto">
            <a:xfrm>
              <a:off x="480" y="1008"/>
              <a:ext cx="19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</a:t>
              </a:r>
              <a:r>
                <a:rPr lang="en-US" altLang="en-US" baseline="-25000"/>
                <a:t>i</a:t>
              </a:r>
            </a:p>
          </p:txBody>
        </p:sp>
        <p:sp>
          <p:nvSpPr>
            <p:cNvPr id="18" name="Line 31"/>
            <p:cNvSpPr>
              <a:spLocks noChangeShapeType="1"/>
            </p:cNvSpPr>
            <p:nvPr/>
          </p:nvSpPr>
          <p:spPr bwMode="auto">
            <a:xfrm>
              <a:off x="1776" y="1440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9" name="Line 32"/>
            <p:cNvSpPr>
              <a:spLocks noChangeShapeType="1"/>
            </p:cNvSpPr>
            <p:nvPr/>
          </p:nvSpPr>
          <p:spPr bwMode="auto">
            <a:xfrm>
              <a:off x="2832" y="1440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0" name="Line 33"/>
            <p:cNvSpPr>
              <a:spLocks noChangeShapeType="1"/>
            </p:cNvSpPr>
            <p:nvPr/>
          </p:nvSpPr>
          <p:spPr bwMode="auto">
            <a:xfrm>
              <a:off x="3744" y="1440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1" name="Line 34"/>
            <p:cNvSpPr>
              <a:spLocks noChangeShapeType="1"/>
            </p:cNvSpPr>
            <p:nvPr/>
          </p:nvSpPr>
          <p:spPr bwMode="auto">
            <a:xfrm flipH="1">
              <a:off x="3120" y="2352"/>
              <a:ext cx="18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2" name="Line 35"/>
            <p:cNvSpPr>
              <a:spLocks noChangeShapeType="1"/>
            </p:cNvSpPr>
            <p:nvPr/>
          </p:nvSpPr>
          <p:spPr bwMode="auto">
            <a:xfrm flipV="1">
              <a:off x="4944" y="1440"/>
              <a:ext cx="0" cy="9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3" name="Line 36"/>
            <p:cNvSpPr>
              <a:spLocks noChangeShapeType="1"/>
            </p:cNvSpPr>
            <p:nvPr/>
          </p:nvSpPr>
          <p:spPr bwMode="auto">
            <a:xfrm flipH="1">
              <a:off x="4752" y="1440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4" name="Line 37"/>
            <p:cNvSpPr>
              <a:spLocks noChangeShapeType="1"/>
            </p:cNvSpPr>
            <p:nvPr/>
          </p:nvSpPr>
          <p:spPr bwMode="auto">
            <a:xfrm flipH="1">
              <a:off x="720" y="2352"/>
              <a:ext cx="14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5" name="Line 38"/>
            <p:cNvSpPr>
              <a:spLocks noChangeShapeType="1"/>
            </p:cNvSpPr>
            <p:nvPr/>
          </p:nvSpPr>
          <p:spPr bwMode="auto">
            <a:xfrm flipV="1">
              <a:off x="720" y="1632"/>
              <a:ext cx="0" cy="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6" name="Line 39"/>
            <p:cNvSpPr>
              <a:spLocks noChangeShapeType="1"/>
            </p:cNvSpPr>
            <p:nvPr/>
          </p:nvSpPr>
          <p:spPr bwMode="auto">
            <a:xfrm>
              <a:off x="720" y="163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7" name="Line 40"/>
            <p:cNvSpPr>
              <a:spLocks noChangeShapeType="1"/>
            </p:cNvSpPr>
            <p:nvPr/>
          </p:nvSpPr>
          <p:spPr bwMode="auto">
            <a:xfrm>
              <a:off x="4800" y="1440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" name="Text Box 41"/>
            <p:cNvSpPr txBox="1">
              <a:spLocks noChangeArrowheads="1"/>
            </p:cNvSpPr>
            <p:nvPr/>
          </p:nvSpPr>
          <p:spPr bwMode="auto">
            <a:xfrm>
              <a:off x="5163" y="115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</a:t>
              </a:r>
              <a:r>
                <a:rPr lang="en-US" altLang="en-US" baseline="-25000"/>
                <a:t>o</a:t>
              </a:r>
            </a:p>
          </p:txBody>
        </p:sp>
        <p:sp>
          <p:nvSpPr>
            <p:cNvPr id="29" name="Text Box 42"/>
            <p:cNvSpPr txBox="1">
              <a:spLocks noChangeArrowheads="1"/>
            </p:cNvSpPr>
            <p:nvPr/>
          </p:nvSpPr>
          <p:spPr bwMode="auto">
            <a:xfrm>
              <a:off x="528" y="148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</a:t>
              </a:r>
              <a:r>
                <a:rPr lang="en-US" altLang="en-US" baseline="-25000"/>
                <a:t>o</a:t>
              </a:r>
            </a:p>
          </p:txBody>
        </p:sp>
      </p:grpSp>
      <p:graphicFrame>
        <p:nvGraphicFramePr>
          <p:cNvPr id="3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5731108"/>
              </p:ext>
            </p:extLst>
          </p:nvPr>
        </p:nvGraphicFramePr>
        <p:xfrm>
          <a:off x="2724406" y="3450840"/>
          <a:ext cx="355273" cy="554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3" name="Equation" r:id="rId3" imgW="203040" imgH="317160" progId="Equation.3">
                  <p:embed/>
                </p:oleObj>
              </mc:Choice>
              <mc:Fallback>
                <p:oleObj name="Equation" r:id="rId3" imgW="203040" imgH="317160" progId="Equation.3">
                  <p:embed/>
                  <p:pic>
                    <p:nvPicPr>
                      <p:cNvPr id="292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406" y="3450840"/>
                        <a:ext cx="355273" cy="5549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4942957"/>
              </p:ext>
            </p:extLst>
          </p:nvPr>
        </p:nvGraphicFramePr>
        <p:xfrm>
          <a:off x="1865534" y="4599754"/>
          <a:ext cx="41599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4" name="Equation" r:id="rId5" imgW="203040" imgH="317160" progId="Equation.3">
                  <p:embed/>
                </p:oleObj>
              </mc:Choice>
              <mc:Fallback>
                <p:oleObj name="Equation" r:id="rId5" imgW="203040" imgH="317160" progId="Equation.3">
                  <p:embed/>
                  <p:pic>
                    <p:nvPicPr>
                      <p:cNvPr id="30824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5534" y="4599754"/>
                        <a:ext cx="415993" cy="6477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图片 6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2902" y="1368673"/>
            <a:ext cx="1397250" cy="2082167"/>
          </a:xfrm>
          <a:prstGeom prst="rect">
            <a:avLst/>
          </a:prstGeom>
        </p:spPr>
      </p:pic>
      <p:grpSp>
        <p:nvGrpSpPr>
          <p:cNvPr id="119" name="组合 118"/>
          <p:cNvGrpSpPr/>
          <p:nvPr/>
        </p:nvGrpSpPr>
        <p:grpSpPr>
          <a:xfrm>
            <a:off x="3807778" y="1217450"/>
            <a:ext cx="2244725" cy="2322512"/>
            <a:chOff x="2060575" y="2176382"/>
            <a:chExt cx="2244725" cy="2322512"/>
          </a:xfrm>
        </p:grpSpPr>
        <p:grpSp>
          <p:nvGrpSpPr>
            <p:cNvPr id="120" name="Group 4"/>
            <p:cNvGrpSpPr>
              <a:grpSpLocks/>
            </p:cNvGrpSpPr>
            <p:nvPr/>
          </p:nvGrpSpPr>
          <p:grpSpPr bwMode="auto">
            <a:xfrm>
              <a:off x="3087688" y="2670094"/>
              <a:ext cx="306387" cy="990600"/>
              <a:chOff x="4223" y="1728"/>
              <a:chExt cx="193" cy="624"/>
            </a:xfrm>
          </p:grpSpPr>
          <p:sp>
            <p:nvSpPr>
              <p:cNvPr id="139" name="Line 5"/>
              <p:cNvSpPr>
                <a:spLocks noChangeAspect="1" noChangeShapeType="1"/>
              </p:cNvSpPr>
              <p:nvPr/>
            </p:nvSpPr>
            <p:spPr bwMode="auto">
              <a:xfrm>
                <a:off x="4320" y="1728"/>
                <a:ext cx="0" cy="21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Line 6"/>
              <p:cNvSpPr>
                <a:spLocks noChangeAspect="1" noChangeShapeType="1"/>
              </p:cNvSpPr>
              <p:nvPr/>
            </p:nvSpPr>
            <p:spPr bwMode="auto">
              <a:xfrm>
                <a:off x="4320" y="1983"/>
                <a:ext cx="0" cy="2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Line 7"/>
              <p:cNvSpPr>
                <a:spLocks noChangeAspect="1" noChangeShapeType="1"/>
              </p:cNvSpPr>
              <p:nvPr/>
            </p:nvSpPr>
            <p:spPr bwMode="auto">
              <a:xfrm>
                <a:off x="4223" y="1947"/>
                <a:ext cx="19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Arc 8"/>
              <p:cNvSpPr>
                <a:spLocks noChangeAspect="1"/>
              </p:cNvSpPr>
              <p:nvPr/>
            </p:nvSpPr>
            <p:spPr bwMode="auto">
              <a:xfrm>
                <a:off x="4223" y="1983"/>
                <a:ext cx="192" cy="369"/>
              </a:xfrm>
              <a:custGeom>
                <a:avLst/>
                <a:gdLst>
                  <a:gd name="G0" fmla="+- 7430 0 0"/>
                  <a:gd name="G1" fmla="+- 21600 0 0"/>
                  <a:gd name="G2" fmla="+- 21600 0 0"/>
                  <a:gd name="T0" fmla="*/ 0 w 14870"/>
                  <a:gd name="T1" fmla="*/ 1318 h 21600"/>
                  <a:gd name="T2" fmla="*/ 14870 w 14870"/>
                  <a:gd name="T3" fmla="*/ 1322 h 21600"/>
                  <a:gd name="T4" fmla="*/ 7430 w 1487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4870" h="21600" fill="none" extrusionOk="0">
                    <a:moveTo>
                      <a:pt x="0" y="1318"/>
                    </a:moveTo>
                    <a:cubicBezTo>
                      <a:pt x="2380" y="446"/>
                      <a:pt x="4895" y="0"/>
                      <a:pt x="7430" y="0"/>
                    </a:cubicBezTo>
                    <a:cubicBezTo>
                      <a:pt x="9968" y="0"/>
                      <a:pt x="12486" y="447"/>
                      <a:pt x="14870" y="1321"/>
                    </a:cubicBezTo>
                  </a:path>
                  <a:path w="14870" h="21600" stroke="0" extrusionOk="0">
                    <a:moveTo>
                      <a:pt x="0" y="1318"/>
                    </a:moveTo>
                    <a:cubicBezTo>
                      <a:pt x="2380" y="446"/>
                      <a:pt x="4895" y="0"/>
                      <a:pt x="7430" y="0"/>
                    </a:cubicBezTo>
                    <a:cubicBezTo>
                      <a:pt x="9968" y="0"/>
                      <a:pt x="12486" y="447"/>
                      <a:pt x="14870" y="1321"/>
                    </a:cubicBezTo>
                    <a:lnTo>
                      <a:pt x="743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1" name="Freeform 9"/>
            <p:cNvSpPr>
              <a:spLocks noChangeAspect="1"/>
            </p:cNvSpPr>
            <p:nvPr/>
          </p:nvSpPr>
          <p:spPr bwMode="auto">
            <a:xfrm>
              <a:off x="3163888" y="3355894"/>
              <a:ext cx="152400" cy="762000"/>
            </a:xfrm>
            <a:custGeom>
              <a:avLst/>
              <a:gdLst>
                <a:gd name="T0" fmla="*/ 96 w 192"/>
                <a:gd name="T1" fmla="*/ 0 h 960"/>
                <a:gd name="T2" fmla="*/ 96 w 192"/>
                <a:gd name="T3" fmla="*/ 192 h 960"/>
                <a:gd name="T4" fmla="*/ 192 w 192"/>
                <a:gd name="T5" fmla="*/ 240 h 960"/>
                <a:gd name="T6" fmla="*/ 0 w 192"/>
                <a:gd name="T7" fmla="*/ 336 h 960"/>
                <a:gd name="T8" fmla="*/ 192 w 192"/>
                <a:gd name="T9" fmla="*/ 432 h 960"/>
                <a:gd name="T10" fmla="*/ 0 w 192"/>
                <a:gd name="T11" fmla="*/ 528 h 960"/>
                <a:gd name="T12" fmla="*/ 192 w 192"/>
                <a:gd name="T13" fmla="*/ 624 h 960"/>
                <a:gd name="T14" fmla="*/ 0 w 192"/>
                <a:gd name="T15" fmla="*/ 720 h 960"/>
                <a:gd name="T16" fmla="*/ 96 w 192"/>
                <a:gd name="T17" fmla="*/ 768 h 960"/>
                <a:gd name="T18" fmla="*/ 96 w 192"/>
                <a:gd name="T19" fmla="*/ 96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2" h="960">
                  <a:moveTo>
                    <a:pt x="96" y="0"/>
                  </a:moveTo>
                  <a:lnTo>
                    <a:pt x="96" y="192"/>
                  </a:lnTo>
                  <a:lnTo>
                    <a:pt x="192" y="240"/>
                  </a:lnTo>
                  <a:lnTo>
                    <a:pt x="0" y="336"/>
                  </a:lnTo>
                  <a:lnTo>
                    <a:pt x="192" y="432"/>
                  </a:lnTo>
                  <a:lnTo>
                    <a:pt x="0" y="528"/>
                  </a:lnTo>
                  <a:lnTo>
                    <a:pt x="192" y="624"/>
                  </a:lnTo>
                  <a:lnTo>
                    <a:pt x="0" y="720"/>
                  </a:lnTo>
                  <a:lnTo>
                    <a:pt x="96" y="768"/>
                  </a:lnTo>
                  <a:lnTo>
                    <a:pt x="96" y="96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2" name="Group 10"/>
            <p:cNvGrpSpPr>
              <a:grpSpLocks/>
            </p:cNvGrpSpPr>
            <p:nvPr/>
          </p:nvGrpSpPr>
          <p:grpSpPr bwMode="auto">
            <a:xfrm>
              <a:off x="3087688" y="4117894"/>
              <a:ext cx="304800" cy="381000"/>
              <a:chOff x="4272" y="3072"/>
              <a:chExt cx="192" cy="240"/>
            </a:xfrm>
          </p:grpSpPr>
          <p:sp>
            <p:nvSpPr>
              <p:cNvPr id="133" name="Line 11"/>
              <p:cNvSpPr>
                <a:spLocks noChangeAspect="1" noChangeShapeType="1"/>
              </p:cNvSpPr>
              <p:nvPr/>
            </p:nvSpPr>
            <p:spPr bwMode="auto">
              <a:xfrm>
                <a:off x="4272" y="3216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Line 12"/>
              <p:cNvSpPr>
                <a:spLocks noChangeAspect="1" noChangeShapeType="1"/>
              </p:cNvSpPr>
              <p:nvPr/>
            </p:nvSpPr>
            <p:spPr bwMode="auto">
              <a:xfrm>
                <a:off x="4368" y="3072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Line 13"/>
              <p:cNvSpPr>
                <a:spLocks noChangeAspect="1" noChangeShapeType="1"/>
              </p:cNvSpPr>
              <p:nvPr/>
            </p:nvSpPr>
            <p:spPr bwMode="auto">
              <a:xfrm>
                <a:off x="4296" y="324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Line 14"/>
              <p:cNvSpPr>
                <a:spLocks noChangeAspect="1" noChangeShapeType="1"/>
              </p:cNvSpPr>
              <p:nvPr/>
            </p:nvSpPr>
            <p:spPr bwMode="auto">
              <a:xfrm>
                <a:off x="4320" y="3264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Line 15"/>
              <p:cNvSpPr>
                <a:spLocks noChangeAspect="1" noChangeShapeType="1"/>
              </p:cNvSpPr>
              <p:nvPr/>
            </p:nvSpPr>
            <p:spPr bwMode="auto">
              <a:xfrm>
                <a:off x="4344" y="3288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Line 16"/>
              <p:cNvSpPr>
                <a:spLocks noChangeAspect="1" noChangeShapeType="1"/>
              </p:cNvSpPr>
              <p:nvPr/>
            </p:nvSpPr>
            <p:spPr bwMode="auto">
              <a:xfrm flipH="1">
                <a:off x="4365" y="3312"/>
                <a:ext cx="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" name="Line 18"/>
            <p:cNvSpPr>
              <a:spLocks noChangeShapeType="1"/>
            </p:cNvSpPr>
            <p:nvPr/>
          </p:nvSpPr>
          <p:spPr bwMode="auto">
            <a:xfrm flipH="1">
              <a:off x="2554288" y="2670094"/>
              <a:ext cx="6858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4" name="Line 20"/>
            <p:cNvSpPr>
              <a:spLocks noChangeShapeType="1"/>
            </p:cNvSpPr>
            <p:nvPr/>
          </p:nvSpPr>
          <p:spPr bwMode="auto">
            <a:xfrm>
              <a:off x="2401888" y="2517694"/>
              <a:ext cx="457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25" name="Text Box 21"/>
            <p:cNvSpPr txBox="1">
              <a:spLocks noChangeArrowheads="1"/>
            </p:cNvSpPr>
            <p:nvPr/>
          </p:nvSpPr>
          <p:spPr bwMode="auto">
            <a:xfrm>
              <a:off x="2060575" y="2176382"/>
              <a:ext cx="381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I</a:t>
              </a:r>
              <a:r>
                <a:rPr lang="en-US" altLang="en-US" baseline="-25000"/>
                <a:t>p</a:t>
              </a:r>
            </a:p>
          </p:txBody>
        </p:sp>
        <p:sp>
          <p:nvSpPr>
            <p:cNvPr id="126" name="Line 22"/>
            <p:cNvSpPr>
              <a:spLocks noChangeShapeType="1"/>
            </p:cNvSpPr>
            <p:nvPr/>
          </p:nvSpPr>
          <p:spPr bwMode="auto">
            <a:xfrm>
              <a:off x="3240088" y="2670094"/>
              <a:ext cx="457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grpSp>
          <p:nvGrpSpPr>
            <p:cNvPr id="127" name="Group 23"/>
            <p:cNvGrpSpPr>
              <a:grpSpLocks/>
            </p:cNvGrpSpPr>
            <p:nvPr/>
          </p:nvGrpSpPr>
          <p:grpSpPr bwMode="auto">
            <a:xfrm>
              <a:off x="3675063" y="2593894"/>
              <a:ext cx="152400" cy="152400"/>
              <a:chOff x="3360" y="1968"/>
              <a:chExt cx="96" cy="96"/>
            </a:xfrm>
          </p:grpSpPr>
          <p:sp>
            <p:nvSpPr>
              <p:cNvPr id="131" name="Rectangle 24"/>
              <p:cNvSpPr>
                <a:spLocks noChangeAspect="1" noChangeArrowheads="1"/>
              </p:cNvSpPr>
              <p:nvPr/>
            </p:nvSpPr>
            <p:spPr bwMode="auto">
              <a:xfrm>
                <a:off x="3360" y="1968"/>
                <a:ext cx="96" cy="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2" name="Oval 25"/>
              <p:cNvSpPr>
                <a:spLocks noChangeAspect="1" noChangeArrowheads="1"/>
              </p:cNvSpPr>
              <p:nvPr/>
            </p:nvSpPr>
            <p:spPr bwMode="auto">
              <a:xfrm>
                <a:off x="3384" y="1992"/>
                <a:ext cx="48" cy="4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8" name="Text Box 26"/>
            <p:cNvSpPr txBox="1">
              <a:spLocks noChangeArrowheads="1"/>
            </p:cNvSpPr>
            <p:nvPr/>
          </p:nvSpPr>
          <p:spPr bwMode="auto">
            <a:xfrm>
              <a:off x="3771900" y="2441494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V</a:t>
              </a:r>
              <a:r>
                <a:rPr lang="en-US" altLang="en-US" baseline="-25000"/>
                <a:t>C</a:t>
              </a:r>
            </a:p>
          </p:txBody>
        </p:sp>
        <p:sp>
          <p:nvSpPr>
            <p:cNvPr id="129" name="Text Box 28"/>
            <p:cNvSpPr txBox="1">
              <a:spLocks noChangeArrowheads="1"/>
            </p:cNvSpPr>
            <p:nvPr/>
          </p:nvSpPr>
          <p:spPr bwMode="auto">
            <a:xfrm>
              <a:off x="3308350" y="2822494"/>
              <a:ext cx="5746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C1</a:t>
              </a:r>
            </a:p>
          </p:txBody>
        </p:sp>
        <p:sp>
          <p:nvSpPr>
            <p:cNvPr id="130" name="Text Box 29"/>
            <p:cNvSpPr txBox="1">
              <a:spLocks noChangeArrowheads="1"/>
            </p:cNvSpPr>
            <p:nvPr/>
          </p:nvSpPr>
          <p:spPr bwMode="auto">
            <a:xfrm>
              <a:off x="3392488" y="3508294"/>
              <a:ext cx="40481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R</a:t>
              </a:r>
            </a:p>
          </p:txBody>
        </p:sp>
      </p:grpSp>
      <p:graphicFrame>
        <p:nvGraphicFramePr>
          <p:cNvPr id="143" name="Object 7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4014523732"/>
              </p:ext>
            </p:extLst>
          </p:nvPr>
        </p:nvGraphicFramePr>
        <p:xfrm>
          <a:off x="4564319" y="4626142"/>
          <a:ext cx="1277937" cy="584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5" name="Equation" r:id="rId8" imgW="749160" imgH="342720" progId="Equation.3">
                  <p:embed/>
                </p:oleObj>
              </mc:Choice>
              <mc:Fallback>
                <p:oleObj name="Equation" r:id="rId8" imgW="749160" imgH="342720" progId="Equation.3">
                  <p:embed/>
                  <p:pic>
                    <p:nvPicPr>
                      <p:cNvPr id="51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319" y="4626142"/>
                        <a:ext cx="1277937" cy="584819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" name="Object 4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154904790"/>
              </p:ext>
            </p:extLst>
          </p:nvPr>
        </p:nvGraphicFramePr>
        <p:xfrm>
          <a:off x="3514599" y="4635142"/>
          <a:ext cx="309495" cy="394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6" name="Equation" r:id="rId10" imgW="139680" imgH="177480" progId="Equation.3">
                  <p:embed/>
                </p:oleObj>
              </mc:Choice>
              <mc:Fallback>
                <p:oleObj name="Equation" r:id="rId10" imgW="139680" imgH="177480" progId="Equation.3">
                  <p:embed/>
                  <p:pic>
                    <p:nvPicPr>
                      <p:cNvPr id="293934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4599" y="4635142"/>
                        <a:ext cx="309495" cy="394752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5" name="组合 144"/>
          <p:cNvGrpSpPr/>
          <p:nvPr/>
        </p:nvGrpSpPr>
        <p:grpSpPr>
          <a:xfrm>
            <a:off x="6158706" y="1654300"/>
            <a:ext cx="2743200" cy="1447800"/>
            <a:chOff x="1219200" y="3429000"/>
            <a:chExt cx="2743200" cy="1447800"/>
          </a:xfrm>
        </p:grpSpPr>
        <p:grpSp>
          <p:nvGrpSpPr>
            <p:cNvPr id="146" name="Group 9"/>
            <p:cNvGrpSpPr>
              <a:grpSpLocks/>
            </p:cNvGrpSpPr>
            <p:nvPr/>
          </p:nvGrpSpPr>
          <p:grpSpPr bwMode="auto">
            <a:xfrm>
              <a:off x="1219200" y="3810000"/>
              <a:ext cx="685800" cy="685800"/>
              <a:chOff x="768" y="2160"/>
              <a:chExt cx="864" cy="864"/>
            </a:xfrm>
          </p:grpSpPr>
          <p:sp>
            <p:nvSpPr>
              <p:cNvPr id="181" name="Line 10"/>
              <p:cNvSpPr>
                <a:spLocks noChangeShapeType="1"/>
              </p:cNvSpPr>
              <p:nvPr/>
            </p:nvSpPr>
            <p:spPr bwMode="auto">
              <a:xfrm>
                <a:off x="768" y="235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Line 11"/>
              <p:cNvSpPr>
                <a:spLocks noChangeShapeType="1"/>
              </p:cNvSpPr>
              <p:nvPr/>
            </p:nvSpPr>
            <p:spPr bwMode="auto">
              <a:xfrm>
                <a:off x="768" y="283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Freeform 12"/>
              <p:cNvSpPr>
                <a:spLocks/>
              </p:cNvSpPr>
              <p:nvPr/>
            </p:nvSpPr>
            <p:spPr bwMode="auto">
              <a:xfrm>
                <a:off x="960" y="2160"/>
                <a:ext cx="672" cy="864"/>
              </a:xfrm>
              <a:custGeom>
                <a:avLst/>
                <a:gdLst>
                  <a:gd name="T0" fmla="*/ 432 w 432"/>
                  <a:gd name="T1" fmla="*/ 384 h 768"/>
                  <a:gd name="T2" fmla="*/ 0 w 432"/>
                  <a:gd name="T3" fmla="*/ 768 h 768"/>
                  <a:gd name="T4" fmla="*/ 0 w 432"/>
                  <a:gd name="T5" fmla="*/ 0 h 768"/>
                  <a:gd name="T6" fmla="*/ 432 w 432"/>
                  <a:gd name="T7" fmla="*/ 384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2" h="768">
                    <a:moveTo>
                      <a:pt x="432" y="384"/>
                    </a:moveTo>
                    <a:lnTo>
                      <a:pt x="0" y="768"/>
                    </a:lnTo>
                    <a:lnTo>
                      <a:pt x="0" y="0"/>
                    </a:lnTo>
                    <a:lnTo>
                      <a:pt x="432" y="384"/>
                    </a:lnTo>
                    <a:close/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Line 13"/>
              <p:cNvSpPr>
                <a:spLocks noChangeShapeType="1"/>
              </p:cNvSpPr>
              <p:nvPr/>
            </p:nvSpPr>
            <p:spPr bwMode="auto">
              <a:xfrm>
                <a:off x="1128" y="283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Line 14"/>
              <p:cNvSpPr>
                <a:spLocks noChangeShapeType="1"/>
              </p:cNvSpPr>
              <p:nvPr/>
            </p:nvSpPr>
            <p:spPr bwMode="auto">
              <a:xfrm>
                <a:off x="1152" y="2328"/>
                <a:ext cx="0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Line 15"/>
              <p:cNvSpPr>
                <a:spLocks noChangeShapeType="1"/>
              </p:cNvSpPr>
              <p:nvPr/>
            </p:nvSpPr>
            <p:spPr bwMode="auto">
              <a:xfrm>
                <a:off x="1128" y="235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Line 16"/>
              <p:cNvSpPr>
                <a:spLocks noChangeShapeType="1"/>
              </p:cNvSpPr>
              <p:nvPr/>
            </p:nvSpPr>
            <p:spPr bwMode="auto">
              <a:xfrm>
                <a:off x="1008" y="283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8" name="Line 17"/>
              <p:cNvSpPr>
                <a:spLocks noChangeShapeType="1"/>
              </p:cNvSpPr>
              <p:nvPr/>
            </p:nvSpPr>
            <p:spPr bwMode="auto">
              <a:xfrm>
                <a:off x="1032" y="2808"/>
                <a:ext cx="0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9" name="Line 18"/>
              <p:cNvSpPr>
                <a:spLocks noChangeShapeType="1"/>
              </p:cNvSpPr>
              <p:nvPr/>
            </p:nvSpPr>
            <p:spPr bwMode="auto">
              <a:xfrm>
                <a:off x="1008" y="235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0" name="Line 19"/>
              <p:cNvSpPr>
                <a:spLocks noChangeShapeType="1"/>
              </p:cNvSpPr>
              <p:nvPr/>
            </p:nvSpPr>
            <p:spPr bwMode="auto">
              <a:xfrm>
                <a:off x="1248" y="235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1" name="Line 20"/>
              <p:cNvSpPr>
                <a:spLocks noChangeShapeType="1"/>
              </p:cNvSpPr>
              <p:nvPr/>
            </p:nvSpPr>
            <p:spPr bwMode="auto">
              <a:xfrm>
                <a:off x="1248" y="283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7" name="Group 21"/>
            <p:cNvGrpSpPr>
              <a:grpSpLocks/>
            </p:cNvGrpSpPr>
            <p:nvPr/>
          </p:nvGrpSpPr>
          <p:grpSpPr bwMode="auto">
            <a:xfrm>
              <a:off x="2209800" y="3810000"/>
              <a:ext cx="685800" cy="685800"/>
              <a:chOff x="768" y="2160"/>
              <a:chExt cx="864" cy="864"/>
            </a:xfrm>
          </p:grpSpPr>
          <p:sp>
            <p:nvSpPr>
              <p:cNvPr id="170" name="Line 22"/>
              <p:cNvSpPr>
                <a:spLocks noChangeShapeType="1"/>
              </p:cNvSpPr>
              <p:nvPr/>
            </p:nvSpPr>
            <p:spPr bwMode="auto">
              <a:xfrm>
                <a:off x="768" y="235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Line 23"/>
              <p:cNvSpPr>
                <a:spLocks noChangeShapeType="1"/>
              </p:cNvSpPr>
              <p:nvPr/>
            </p:nvSpPr>
            <p:spPr bwMode="auto">
              <a:xfrm>
                <a:off x="768" y="283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24"/>
              <p:cNvSpPr>
                <a:spLocks/>
              </p:cNvSpPr>
              <p:nvPr/>
            </p:nvSpPr>
            <p:spPr bwMode="auto">
              <a:xfrm>
                <a:off x="960" y="2160"/>
                <a:ext cx="672" cy="864"/>
              </a:xfrm>
              <a:custGeom>
                <a:avLst/>
                <a:gdLst>
                  <a:gd name="T0" fmla="*/ 432 w 432"/>
                  <a:gd name="T1" fmla="*/ 384 h 768"/>
                  <a:gd name="T2" fmla="*/ 0 w 432"/>
                  <a:gd name="T3" fmla="*/ 768 h 768"/>
                  <a:gd name="T4" fmla="*/ 0 w 432"/>
                  <a:gd name="T5" fmla="*/ 0 h 768"/>
                  <a:gd name="T6" fmla="*/ 432 w 432"/>
                  <a:gd name="T7" fmla="*/ 384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2" h="768">
                    <a:moveTo>
                      <a:pt x="432" y="384"/>
                    </a:moveTo>
                    <a:lnTo>
                      <a:pt x="0" y="768"/>
                    </a:lnTo>
                    <a:lnTo>
                      <a:pt x="0" y="0"/>
                    </a:lnTo>
                    <a:lnTo>
                      <a:pt x="432" y="384"/>
                    </a:lnTo>
                    <a:close/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Line 25"/>
              <p:cNvSpPr>
                <a:spLocks noChangeShapeType="1"/>
              </p:cNvSpPr>
              <p:nvPr/>
            </p:nvSpPr>
            <p:spPr bwMode="auto">
              <a:xfrm>
                <a:off x="1128" y="283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Line 26"/>
              <p:cNvSpPr>
                <a:spLocks noChangeShapeType="1"/>
              </p:cNvSpPr>
              <p:nvPr/>
            </p:nvSpPr>
            <p:spPr bwMode="auto">
              <a:xfrm>
                <a:off x="1152" y="2328"/>
                <a:ext cx="0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Line 27"/>
              <p:cNvSpPr>
                <a:spLocks noChangeShapeType="1"/>
              </p:cNvSpPr>
              <p:nvPr/>
            </p:nvSpPr>
            <p:spPr bwMode="auto">
              <a:xfrm>
                <a:off x="1128" y="235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Line 28"/>
              <p:cNvSpPr>
                <a:spLocks noChangeShapeType="1"/>
              </p:cNvSpPr>
              <p:nvPr/>
            </p:nvSpPr>
            <p:spPr bwMode="auto">
              <a:xfrm>
                <a:off x="1008" y="283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7" name="Line 29"/>
              <p:cNvSpPr>
                <a:spLocks noChangeShapeType="1"/>
              </p:cNvSpPr>
              <p:nvPr/>
            </p:nvSpPr>
            <p:spPr bwMode="auto">
              <a:xfrm>
                <a:off x="1032" y="2808"/>
                <a:ext cx="0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8" name="Line 30"/>
              <p:cNvSpPr>
                <a:spLocks noChangeShapeType="1"/>
              </p:cNvSpPr>
              <p:nvPr/>
            </p:nvSpPr>
            <p:spPr bwMode="auto">
              <a:xfrm>
                <a:off x="1008" y="235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9" name="Line 31"/>
              <p:cNvSpPr>
                <a:spLocks noChangeShapeType="1"/>
              </p:cNvSpPr>
              <p:nvPr/>
            </p:nvSpPr>
            <p:spPr bwMode="auto">
              <a:xfrm>
                <a:off x="1248" y="235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0" name="Line 32"/>
              <p:cNvSpPr>
                <a:spLocks noChangeShapeType="1"/>
              </p:cNvSpPr>
              <p:nvPr/>
            </p:nvSpPr>
            <p:spPr bwMode="auto">
              <a:xfrm>
                <a:off x="1248" y="283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8" name="Group 33"/>
            <p:cNvGrpSpPr>
              <a:grpSpLocks/>
            </p:cNvGrpSpPr>
            <p:nvPr/>
          </p:nvGrpSpPr>
          <p:grpSpPr bwMode="auto">
            <a:xfrm>
              <a:off x="3276600" y="3810000"/>
              <a:ext cx="685800" cy="685800"/>
              <a:chOff x="768" y="2160"/>
              <a:chExt cx="864" cy="864"/>
            </a:xfrm>
          </p:grpSpPr>
          <p:sp>
            <p:nvSpPr>
              <p:cNvPr id="159" name="Line 34"/>
              <p:cNvSpPr>
                <a:spLocks noChangeShapeType="1"/>
              </p:cNvSpPr>
              <p:nvPr/>
            </p:nvSpPr>
            <p:spPr bwMode="auto">
              <a:xfrm>
                <a:off x="768" y="235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Line 35"/>
              <p:cNvSpPr>
                <a:spLocks noChangeShapeType="1"/>
              </p:cNvSpPr>
              <p:nvPr/>
            </p:nvSpPr>
            <p:spPr bwMode="auto">
              <a:xfrm>
                <a:off x="768" y="2832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36"/>
              <p:cNvSpPr>
                <a:spLocks/>
              </p:cNvSpPr>
              <p:nvPr/>
            </p:nvSpPr>
            <p:spPr bwMode="auto">
              <a:xfrm>
                <a:off x="960" y="2160"/>
                <a:ext cx="672" cy="864"/>
              </a:xfrm>
              <a:custGeom>
                <a:avLst/>
                <a:gdLst>
                  <a:gd name="T0" fmla="*/ 432 w 432"/>
                  <a:gd name="T1" fmla="*/ 384 h 768"/>
                  <a:gd name="T2" fmla="*/ 0 w 432"/>
                  <a:gd name="T3" fmla="*/ 768 h 768"/>
                  <a:gd name="T4" fmla="*/ 0 w 432"/>
                  <a:gd name="T5" fmla="*/ 0 h 768"/>
                  <a:gd name="T6" fmla="*/ 432 w 432"/>
                  <a:gd name="T7" fmla="*/ 384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32" h="768">
                    <a:moveTo>
                      <a:pt x="432" y="384"/>
                    </a:moveTo>
                    <a:lnTo>
                      <a:pt x="0" y="768"/>
                    </a:lnTo>
                    <a:lnTo>
                      <a:pt x="0" y="0"/>
                    </a:lnTo>
                    <a:lnTo>
                      <a:pt x="432" y="384"/>
                    </a:lnTo>
                    <a:close/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Line 37"/>
              <p:cNvSpPr>
                <a:spLocks noChangeShapeType="1"/>
              </p:cNvSpPr>
              <p:nvPr/>
            </p:nvSpPr>
            <p:spPr bwMode="auto">
              <a:xfrm>
                <a:off x="1128" y="283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Line 38"/>
              <p:cNvSpPr>
                <a:spLocks noChangeShapeType="1"/>
              </p:cNvSpPr>
              <p:nvPr/>
            </p:nvSpPr>
            <p:spPr bwMode="auto">
              <a:xfrm>
                <a:off x="1152" y="2328"/>
                <a:ext cx="0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Line 39"/>
              <p:cNvSpPr>
                <a:spLocks noChangeShapeType="1"/>
              </p:cNvSpPr>
              <p:nvPr/>
            </p:nvSpPr>
            <p:spPr bwMode="auto">
              <a:xfrm>
                <a:off x="1128" y="235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Line 40"/>
              <p:cNvSpPr>
                <a:spLocks noChangeShapeType="1"/>
              </p:cNvSpPr>
              <p:nvPr/>
            </p:nvSpPr>
            <p:spPr bwMode="auto">
              <a:xfrm>
                <a:off x="1008" y="283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6" name="Line 41"/>
              <p:cNvSpPr>
                <a:spLocks noChangeShapeType="1"/>
              </p:cNvSpPr>
              <p:nvPr/>
            </p:nvSpPr>
            <p:spPr bwMode="auto">
              <a:xfrm>
                <a:off x="1032" y="2808"/>
                <a:ext cx="0" cy="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7" name="Line 42"/>
              <p:cNvSpPr>
                <a:spLocks noChangeShapeType="1"/>
              </p:cNvSpPr>
              <p:nvPr/>
            </p:nvSpPr>
            <p:spPr bwMode="auto">
              <a:xfrm>
                <a:off x="1008" y="2352"/>
                <a:ext cx="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8" name="Line 43"/>
              <p:cNvSpPr>
                <a:spLocks noChangeShapeType="1"/>
              </p:cNvSpPr>
              <p:nvPr/>
            </p:nvSpPr>
            <p:spPr bwMode="auto">
              <a:xfrm>
                <a:off x="1248" y="235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9" name="Line 44"/>
              <p:cNvSpPr>
                <a:spLocks noChangeShapeType="1"/>
              </p:cNvSpPr>
              <p:nvPr/>
            </p:nvSpPr>
            <p:spPr bwMode="auto">
              <a:xfrm>
                <a:off x="1248" y="2832"/>
                <a:ext cx="38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49" name="Line 45"/>
            <p:cNvSpPr>
              <a:spLocks noChangeShapeType="1"/>
            </p:cNvSpPr>
            <p:nvPr/>
          </p:nvSpPr>
          <p:spPr bwMode="auto">
            <a:xfrm>
              <a:off x="1752600" y="3962400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0" name="Line 46"/>
            <p:cNvSpPr>
              <a:spLocks noChangeShapeType="1"/>
            </p:cNvSpPr>
            <p:nvPr/>
          </p:nvSpPr>
          <p:spPr bwMode="auto">
            <a:xfrm>
              <a:off x="1752600" y="4343400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1" name="Line 47"/>
            <p:cNvSpPr>
              <a:spLocks noChangeShapeType="1"/>
            </p:cNvSpPr>
            <p:nvPr/>
          </p:nvSpPr>
          <p:spPr bwMode="auto">
            <a:xfrm>
              <a:off x="2819400" y="3962400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2" name="Line 48"/>
            <p:cNvSpPr>
              <a:spLocks noChangeShapeType="1"/>
            </p:cNvSpPr>
            <p:nvPr/>
          </p:nvSpPr>
          <p:spPr bwMode="auto">
            <a:xfrm>
              <a:off x="2819400" y="4343400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3" name="Line 49"/>
            <p:cNvSpPr>
              <a:spLocks noChangeShapeType="1"/>
            </p:cNvSpPr>
            <p:nvPr/>
          </p:nvSpPr>
          <p:spPr bwMode="auto">
            <a:xfrm flipV="1">
              <a:off x="1219200" y="3429000"/>
              <a:ext cx="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4" name="Line 50"/>
            <p:cNvSpPr>
              <a:spLocks noChangeShapeType="1"/>
            </p:cNvSpPr>
            <p:nvPr/>
          </p:nvSpPr>
          <p:spPr bwMode="auto">
            <a:xfrm>
              <a:off x="1219200" y="3429000"/>
              <a:ext cx="2743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5" name="Line 51"/>
            <p:cNvSpPr>
              <a:spLocks noChangeShapeType="1"/>
            </p:cNvSpPr>
            <p:nvPr/>
          </p:nvSpPr>
          <p:spPr bwMode="auto">
            <a:xfrm>
              <a:off x="3962400" y="3429000"/>
              <a:ext cx="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6" name="Line 54"/>
            <p:cNvSpPr>
              <a:spLocks noChangeShapeType="1"/>
            </p:cNvSpPr>
            <p:nvPr/>
          </p:nvSpPr>
          <p:spPr bwMode="auto">
            <a:xfrm flipV="1">
              <a:off x="1219200" y="4343400"/>
              <a:ext cx="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7" name="Line 55"/>
            <p:cNvSpPr>
              <a:spLocks noChangeShapeType="1"/>
            </p:cNvSpPr>
            <p:nvPr/>
          </p:nvSpPr>
          <p:spPr bwMode="auto">
            <a:xfrm>
              <a:off x="1219200" y="4876800"/>
              <a:ext cx="2743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58" name="Line 56"/>
            <p:cNvSpPr>
              <a:spLocks noChangeShapeType="1"/>
            </p:cNvSpPr>
            <p:nvPr/>
          </p:nvSpPr>
          <p:spPr bwMode="auto">
            <a:xfrm>
              <a:off x="3962400" y="4343400"/>
              <a:ext cx="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192" name="Object 7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14822006"/>
              </p:ext>
            </p:extLst>
          </p:nvPr>
        </p:nvGraphicFramePr>
        <p:xfrm>
          <a:off x="6540979" y="4660949"/>
          <a:ext cx="511088" cy="555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7" name="Equation" r:id="rId12" imgW="291960" imgH="317160" progId="Equation.3">
                  <p:embed/>
                </p:oleObj>
              </mc:Choice>
              <mc:Fallback>
                <p:oleObj name="Equation" r:id="rId12" imgW="291960" imgH="317160" progId="Equation.3">
                  <p:embed/>
                  <p:pic>
                    <p:nvPicPr>
                      <p:cNvPr id="2959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979" y="4660949"/>
                        <a:ext cx="511088" cy="55541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矩形 192"/>
              <p:cNvSpPr/>
              <p:nvPr/>
            </p:nvSpPr>
            <p:spPr>
              <a:xfrm>
                <a:off x="3617715" y="5844003"/>
                <a:ext cx="421141" cy="610936"/>
              </a:xfrm>
              <a:prstGeom prst="rect">
                <a:avLst/>
              </a:prstGeom>
              <a:ln w="25400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3" name="矩形 1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7715" y="5844003"/>
                <a:ext cx="421141" cy="61093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5400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70398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ea typeface="宋体" panose="02010600030101010101" pitchFamily="2" charset="-122"/>
              </a:rPr>
              <a:t>2</a:t>
            </a:r>
            <a:r>
              <a:rPr lang="en-US" altLang="zh-CN" sz="4000" baseline="30000" dirty="0">
                <a:ea typeface="宋体" panose="02010600030101010101" pitchFamily="2" charset="-122"/>
              </a:rPr>
              <a:t>nd</a:t>
            </a:r>
            <a:r>
              <a:rPr lang="en-US" altLang="zh-CN" sz="4000" dirty="0">
                <a:ea typeface="宋体" panose="02010600030101010101" pitchFamily="2" charset="-122"/>
              </a:rPr>
              <a:t> </a:t>
            </a:r>
            <a:r>
              <a:rPr lang="en-US" altLang="zh-CN" sz="4000" dirty="0" smtClean="0"/>
              <a:t>Order PLL</a:t>
            </a:r>
            <a:r>
              <a:rPr lang="en-US" altLang="zh-CN" sz="4000" dirty="0" smtClean="0">
                <a:ea typeface="宋体" panose="02010600030101010101" pitchFamily="2" charset="-122"/>
              </a:rPr>
              <a:t> </a:t>
            </a:r>
            <a:r>
              <a:rPr lang="en-US" altLang="zh-CN" sz="4000" dirty="0">
                <a:ea typeface="宋体" panose="02010600030101010101" pitchFamily="2" charset="-122"/>
              </a:rPr>
              <a:t>Transfer Function</a:t>
            </a:r>
            <a:endParaRPr lang="en-US" altLang="en-US" sz="4000" dirty="0"/>
          </a:p>
        </p:txBody>
      </p:sp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Using a 1</a:t>
            </a:r>
            <a:r>
              <a:rPr lang="en-US" altLang="zh-CN" baseline="30000">
                <a:ea typeface="宋体" panose="02010600030101010101" pitchFamily="2" charset="-122"/>
              </a:rPr>
              <a:t>st</a:t>
            </a:r>
            <a:r>
              <a:rPr lang="en-US" altLang="zh-CN">
                <a:ea typeface="宋体" panose="02010600030101010101" pitchFamily="2" charset="-122"/>
              </a:rPr>
              <a:t> order LPF: Active PI type</a:t>
            </a:r>
          </a:p>
          <a:p>
            <a:r>
              <a:rPr lang="en-US" altLang="zh-CN">
                <a:ea typeface="宋体" panose="02010600030101010101" pitchFamily="2" charset="-122"/>
              </a:rPr>
              <a:t>Open-loop transfer function</a:t>
            </a: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	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Closed-loop transfer function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en-US"/>
          </a:p>
          <a:p>
            <a:pPr>
              <a:buFontTx/>
              <a:buNone/>
            </a:pPr>
            <a:endParaRPr lang="en-US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sp>
        <p:nvSpPr>
          <p:cNvPr id="296965" name="Rectangle 5"/>
          <p:cNvSpPr>
            <a:spLocks noChangeArrowheads="1"/>
          </p:cNvSpPr>
          <p:nvPr/>
        </p:nvSpPr>
        <p:spPr bwMode="auto">
          <a:xfrm>
            <a:off x="0" y="3167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96964" name="Object 4"/>
          <p:cNvGraphicFramePr>
            <a:graphicFrameLocks noChangeAspect="1"/>
          </p:cNvGraphicFramePr>
          <p:nvPr/>
        </p:nvGraphicFramePr>
        <p:xfrm>
          <a:off x="2971800" y="2514600"/>
          <a:ext cx="249078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6" name="Equation" r:id="rId3" imgW="838080" imgH="291960" progId="Equation.3">
                  <p:embed/>
                </p:oleObj>
              </mc:Choice>
              <mc:Fallback>
                <p:oleObj name="Equation" r:id="rId3" imgW="838080" imgH="291960" progId="Equation.3">
                  <p:embed/>
                  <p:pic>
                    <p:nvPicPr>
                      <p:cNvPr id="296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514600"/>
                        <a:ext cx="2490788" cy="87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6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96966" name="Object 6"/>
          <p:cNvGraphicFramePr>
            <a:graphicFrameLocks noChangeAspect="1"/>
          </p:cNvGraphicFramePr>
          <p:nvPr/>
        </p:nvGraphicFramePr>
        <p:xfrm>
          <a:off x="2743200" y="4038600"/>
          <a:ext cx="3162300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27" name="Equation" r:id="rId5" imgW="1066680" imgH="495000" progId="Equation.3">
                  <p:embed/>
                </p:oleObj>
              </mc:Choice>
              <mc:Fallback>
                <p:oleObj name="Equation" r:id="rId5" imgW="1066680" imgH="495000" progId="Equation.3">
                  <p:embed/>
                  <p:pic>
                    <p:nvPicPr>
                      <p:cNvPr id="2969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038600"/>
                        <a:ext cx="3162300" cy="1479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09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Transient Response of PLL (1)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8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1282546"/>
            <a:ext cx="7575071" cy="4868863"/>
          </a:xfrm>
        </p:spPr>
      </p:pic>
      <p:sp>
        <p:nvSpPr>
          <p:cNvPr id="9" name="矩形 8"/>
          <p:cNvSpPr/>
          <p:nvPr/>
        </p:nvSpPr>
        <p:spPr>
          <a:xfrm>
            <a:off x="2735445" y="6151409"/>
            <a:ext cx="5062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 response with frequency step (phase ramp)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418608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Transient Response of PLL </a:t>
            </a:r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6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4464" y="1308100"/>
            <a:ext cx="7575071" cy="4868863"/>
          </a:xfrm>
        </p:spPr>
      </p:pic>
      <p:sp>
        <p:nvSpPr>
          <p:cNvPr id="7" name="矩形 6"/>
          <p:cNvSpPr/>
          <p:nvPr/>
        </p:nvSpPr>
        <p:spPr>
          <a:xfrm>
            <a:off x="2735445" y="6151409"/>
            <a:ext cx="3933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 response with phase jump/step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7198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Destabilization Caused by Feedback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2428631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altLang="zh-CN" dirty="0" smtClean="0"/>
              <a:t>Destabilization: negative feedback </a:t>
            </a:r>
            <a:r>
              <a:rPr lang="en-US" altLang="zh-CN" dirty="0" smtClean="0">
                <a:sym typeface="Wingdings" panose="05000000000000000000" pitchFamily="2" charset="2"/>
              </a:rPr>
              <a:t> positive feedback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Example: self-excitation of audio system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 smtClean="0">
                <a:sym typeface="Wingdings" panose="05000000000000000000" pitchFamily="2" charset="2"/>
              </a:rPr>
              <a:t>e</a:t>
            </a:r>
            <a:r>
              <a:rPr lang="en-US" baseline="30000" dirty="0" smtClean="0">
                <a:sym typeface="Wingdings" panose="05000000000000000000" pitchFamily="2" charset="2"/>
              </a:rPr>
              <a:t>-</a:t>
            </a:r>
            <a:r>
              <a:rPr lang="en-US" i="1" baseline="30000" dirty="0" err="1" smtClean="0">
                <a:sym typeface="Wingdings" panose="05000000000000000000" pitchFamily="2" charset="2"/>
              </a:rPr>
              <a:t>sT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is the system function of delay network</a:t>
            </a:r>
          </a:p>
          <a:p>
            <a:pPr lvl="1"/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unstable</a:t>
            </a:r>
            <a:r>
              <a:rPr lang="en-US" altLang="zh-CN" dirty="0" smtClean="0">
                <a:sym typeface="Wingdings" panose="05000000000000000000" pitchFamily="2" charset="2"/>
              </a:rPr>
              <a:t> if </a:t>
            </a:r>
            <a:r>
              <a:rPr lang="en-US" altLang="zh-CN" i="1" dirty="0" smtClean="0">
                <a:sym typeface="Wingdings" panose="05000000000000000000" pitchFamily="2" charset="2"/>
              </a:rPr>
              <a:t>K</a:t>
            </a:r>
            <a:r>
              <a:rPr lang="en-US" altLang="zh-CN" baseline="-25000" dirty="0" smtClean="0">
                <a:sym typeface="Wingdings" panose="05000000000000000000" pitchFamily="2" charset="2"/>
              </a:rPr>
              <a:t>1</a:t>
            </a:r>
            <a:r>
              <a:rPr lang="en-US" altLang="zh-CN" i="1" dirty="0" smtClean="0">
                <a:sym typeface="Wingdings" panose="05000000000000000000" pitchFamily="2" charset="2"/>
              </a:rPr>
              <a:t>K</a:t>
            </a:r>
            <a:r>
              <a:rPr lang="en-US" altLang="zh-CN" baseline="-25000" dirty="0" smtClean="0">
                <a:sym typeface="Wingdings" panose="05000000000000000000" pitchFamily="2" charset="2"/>
              </a:rPr>
              <a:t>2</a:t>
            </a:r>
            <a:r>
              <a:rPr lang="en-US" altLang="zh-CN" dirty="0" smtClean="0">
                <a:sym typeface="Wingdings" panose="05000000000000000000" pitchFamily="2" charset="2"/>
              </a:rPr>
              <a:t>&gt;1</a:t>
            </a:r>
          </a:p>
          <a:p>
            <a:pPr marL="457200" lvl="1" indent="0">
              <a:buNone/>
            </a:pPr>
            <a:endParaRPr lang="en-US" altLang="zh-CN" dirty="0" smtClean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§11.2 Applications and Consequences of </a:t>
            </a:r>
            <a:r>
              <a:rPr lang="en-US" dirty="0" smtClean="0"/>
              <a:t>Feedback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269" y="3480343"/>
            <a:ext cx="4134825" cy="15551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115552" y="5357331"/>
                <a:ext cx="2363276" cy="656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𝑄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𝑠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𝑠𝑇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552" y="5357331"/>
                <a:ext cx="2363276" cy="656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00" y="3480344"/>
            <a:ext cx="4134825" cy="1555167"/>
          </a:xfrm>
          <a:prstGeom prst="rect">
            <a:avLst/>
          </a:prstGeom>
        </p:spPr>
      </p:pic>
      <p:sp>
        <p:nvSpPr>
          <p:cNvPr id="11" name="等号 10"/>
          <p:cNvSpPr/>
          <p:nvPr/>
        </p:nvSpPr>
        <p:spPr>
          <a:xfrm>
            <a:off x="4236894" y="4060099"/>
            <a:ext cx="534375" cy="395654"/>
          </a:xfrm>
          <a:prstGeom prst="mathEqual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41626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Root Locus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7886700" cy="2701192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Root locus</a:t>
                </a:r>
                <a:r>
                  <a:rPr lang="en-US" dirty="0" smtClean="0"/>
                  <a:t>: graphical representation of closed-loop poles of a rational system as a function of the gain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In </a:t>
                </a:r>
                <a:r>
                  <a:rPr lang="en-US" dirty="0" err="1" smtClean="0"/>
                  <a:t>Matlab</a:t>
                </a:r>
                <a:r>
                  <a:rPr lang="en-US" dirty="0" smtClean="0"/>
                  <a:t>, </a:t>
                </a:r>
                <a:r>
                  <a:rPr lang="en-US" i="1" dirty="0" err="1" smtClean="0"/>
                  <a:t>rlocus</a:t>
                </a:r>
                <a:r>
                  <a:rPr lang="en-US" i="1" dirty="0" smtClean="0"/>
                  <a:t>() </a:t>
                </a:r>
                <a:r>
                  <a:rPr lang="en-US" dirty="0" smtClean="0"/>
                  <a:t>draws the root locus with the gain ranging from </a:t>
                </a:r>
                <a:r>
                  <a:rPr lang="en-US" dirty="0"/>
                  <a:t>0 to +∞ </a:t>
                </a:r>
                <a:endParaRPr lang="en-US" dirty="0" smtClean="0"/>
              </a:p>
              <a:p>
                <a:r>
                  <a:rPr lang="en-US" dirty="0" smtClean="0"/>
                  <a:t> 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, use </a:t>
                </a:r>
                <a:r>
                  <a:rPr lang="en-US" dirty="0" err="1" smtClean="0"/>
                  <a:t>Matlab</a:t>
                </a:r>
                <a:r>
                  <a:rPr lang="en-US" dirty="0" smtClean="0"/>
                  <a:t> to draw the root locus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7886700" cy="2701192"/>
              </a:xfrm>
              <a:blipFill>
                <a:blip r:embed="rId2"/>
                <a:stretch>
                  <a:fillRect l="-850" t="-4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11.3 Root-locus Analysis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989" y="3807068"/>
            <a:ext cx="2692573" cy="246910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82" y="3807067"/>
            <a:ext cx="2655295" cy="24692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194858" y="6276177"/>
                <a:ext cx="6068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&gt;0</a:t>
                </a:r>
                <a:endParaRPr 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858" y="6276177"/>
                <a:ext cx="606833" cy="369332"/>
              </a:xfrm>
              <a:prstGeom prst="rect">
                <a:avLst/>
              </a:prstGeom>
              <a:blipFill>
                <a:blip r:embed="rId5"/>
                <a:stretch>
                  <a:fillRect l="-3000" t="-10000" r="-8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231849" y="6356351"/>
                <a:ext cx="6901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 smtClean="0"/>
                  <a:t>0</a:t>
                </a:r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849" y="6356351"/>
                <a:ext cx="690189" cy="369332"/>
              </a:xfrm>
              <a:prstGeom prst="rect">
                <a:avLst/>
              </a:prstGeom>
              <a:blipFill>
                <a:blip r:embed="rId6"/>
                <a:stretch>
                  <a:fillRect l="-2632" t="-10000" r="-614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185381" y="4804180"/>
            <a:ext cx="1817148" cy="33855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Replace 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altLang="zh-CN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60344" y="5281896"/>
            <a:ext cx="1817148" cy="584775"/>
          </a:xfrm>
          <a:prstGeom prst="rect">
            <a:avLst/>
          </a:prstGeom>
          <a:noFill/>
          <a:ln w="9525"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A: 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 difference in root locus</a:t>
            </a:r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0252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Equation for Closed-Loop Poles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4009292"/>
                <a:ext cx="7886700" cy="2167671"/>
              </a:xfrm>
            </p:spPr>
            <p:txBody>
              <a:bodyPr/>
              <a:lstStyle/>
              <a:p>
                <a:r>
                  <a:rPr lang="en-US" dirty="0" smtClean="0"/>
                  <a:t> If no pole-zero cancellation, the closed-loop poles are given by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4009292"/>
                <a:ext cx="7886700" cy="2167671"/>
              </a:xfrm>
              <a:blipFill>
                <a:blip r:embed="rId2"/>
                <a:stretch>
                  <a:fillRect l="-1314" t="-5070" r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§11.3 Root-locus </a:t>
            </a:r>
            <a:r>
              <a:rPr lang="en-US" dirty="0" smtClean="0"/>
              <a:t>Analysis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6859"/>
            <a:ext cx="4518035" cy="147740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175" y="1482440"/>
            <a:ext cx="4518035" cy="14921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061337" y="3064268"/>
                <a:ext cx="2519664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𝐾𝐻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37" y="3064268"/>
                <a:ext cx="2519664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5198118" y="3064268"/>
                <a:ext cx="2519664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𝐾𝐻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118" y="3064268"/>
                <a:ext cx="2519664" cy="669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49896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End Points of Root Locus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start point </a:t>
                </a:r>
                <a:r>
                  <a:rPr lang="en-US" altLang="zh-CN" i="1" dirty="0" smtClean="0"/>
                  <a:t>K</a:t>
                </a:r>
                <a:r>
                  <a:rPr lang="en-US" altLang="zh-CN" dirty="0" smtClean="0"/>
                  <a:t>=0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 smtClean="0"/>
                  <a:t>, the solutions are the poles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i="1" dirty="0" smtClean="0"/>
                  <a:t>K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m:rPr>
                        <m:nor/>
                      </m:rPr>
                      <a:rPr lang="en-US" altLang="zh-CN" dirty="0">
                        <a:sym typeface="Wingdings" panose="05000000000000000000" pitchFamily="2" charset="2"/>
                      </a:rPr>
                      <m:t>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 smtClean="0"/>
                  <a:t>, the root locus approach the zeros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 smtClean="0"/>
                  <a:t> as </a:t>
                </a: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:r>
                  <a:rPr lang="en-US" altLang="zh-CN" i="1" dirty="0"/>
                  <a:t>K</a:t>
                </a:r>
                <a:r>
                  <a:rPr lang="en-US" altLang="zh-CN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 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 </a:t>
                </a:r>
                <a:r>
                  <a:rPr lang="en-US" altLang="zh-CN" dirty="0" smtClean="0"/>
                  <a:t>If</a:t>
                </a:r>
                <a:r>
                  <a:rPr lang="zh-CN" altLang="en-US" dirty="0"/>
                  <a:t> </a:t>
                </a:r>
                <a:r>
                  <a:rPr lang="en-US" altLang="zh-CN" dirty="0" smtClean="0"/>
                  <a:t>the order of numerator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 smtClean="0"/>
                  <a:t> is lower than the order of the denominator, then some branch(</a:t>
                </a:r>
                <a:r>
                  <a:rPr lang="en-US" dirty="0" err="1" smtClean="0"/>
                  <a:t>es</a:t>
                </a:r>
                <a:r>
                  <a:rPr lang="en-US" dirty="0" smtClean="0"/>
                  <a:t>) of the root locus approach the infinity </a:t>
                </a:r>
                <a:r>
                  <a:rPr lang="en-US" dirty="0"/>
                  <a:t>as 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:r>
                  <a:rPr lang="en-US" altLang="zh-CN" i="1" dirty="0"/>
                  <a:t>K</a:t>
                </a:r>
                <a:r>
                  <a:rPr lang="en-US" altLang="zh-CN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§11.3 Root-locus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14524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Angle Criterion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Angle Criterion</a:t>
                </a:r>
                <a:r>
                  <a:rPr lang="en-US" dirty="0" smtClean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en-US" dirty="0" smtClean="0"/>
                  <a:t> ,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 is real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 is integer multiple of </a:t>
                </a:r>
                <a:r>
                  <a:rPr lang="el-GR" dirty="0" smtClean="0"/>
                  <a:t>π</a:t>
                </a:r>
                <a:r>
                  <a:rPr lang="en-US" dirty="0" smtClean="0"/>
                  <a:t>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is on the root locus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Method to check if a specific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is the closed-loop pole for a certain </a:t>
                </a:r>
                <a:r>
                  <a:rPr lang="en-US" i="1" dirty="0" smtClean="0"/>
                  <a:t>K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=odd multiple of </a:t>
                </a:r>
                <a:r>
                  <a:rPr lang="el-GR" dirty="0" smtClean="0"/>
                  <a:t>π</a:t>
                </a:r>
                <a:r>
                  <a:rPr lang="en-US" dirty="0" smtClean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is on the root locus for some value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&gt;0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=even </a:t>
                </a:r>
                <a:r>
                  <a:rPr lang="en-US" dirty="0"/>
                  <a:t>multiple of </a:t>
                </a:r>
                <a:r>
                  <a:rPr lang="el-GR" dirty="0"/>
                  <a:t>π</a:t>
                </a:r>
                <a:r>
                  <a:rPr lang="en-US" dirty="0"/>
                  <a:t> 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on the root locus for some value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&lt;0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</m:oMath>
                </a14:m>
                <a:r>
                  <a:rPr lang="en-US" dirty="0" smtClean="0"/>
                  <a:t>)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877" r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§11.3 Root-locus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3980213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to </a:t>
            </a:r>
            <a:r>
              <a:rPr lang="en-US" altLang="zh-CN" dirty="0" smtClean="0"/>
              <a:t>Use Angle Criterion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36941" y="1308101"/>
                <a:ext cx="7886700" cy="190109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 smtClean="0"/>
                  <a:t>, 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</m:den>
                    </m:f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i="1" dirty="0" smtClean="0"/>
                  <a:t>s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 real: (1) &gt;-1, (2) &lt;-2, (3) [-2, -1]</a:t>
                </a:r>
              </a:p>
              <a:p>
                <a:pPr lvl="1"/>
                <a:r>
                  <a:rPr lang="en-US" i="1" dirty="0" smtClean="0"/>
                  <a:t> s</a:t>
                </a:r>
                <a:r>
                  <a:rPr lang="en-US" baseline="-25000" dirty="0" smtClean="0"/>
                  <a:t>0</a:t>
                </a:r>
                <a:r>
                  <a:rPr lang="en-US" dirty="0" smtClean="0"/>
                  <a:t> complex:</a:t>
                </a:r>
              </a:p>
              <a:p>
                <a:pPr lvl="2"/>
                <a:r>
                  <a:rPr lang="en-US" dirty="0" smtClean="0"/>
                  <a:t> upper half-plane: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6941" y="1308101"/>
                <a:ext cx="7886700" cy="1901092"/>
              </a:xfrm>
              <a:blipFill>
                <a:blip r:embed="rId2"/>
                <a:stretch>
                  <a:fillRect l="-1159" t="-3537" b="-22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40</a:t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§11.3 Root-locus </a:t>
            </a:r>
            <a:r>
              <a:rPr lang="en-US" dirty="0" smtClean="0"/>
              <a:t>Analysis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lum bright="-50000" contrast="75000"/>
          </a:blip>
          <a:stretch>
            <a:fillRect/>
          </a:stretch>
        </p:blipFill>
        <p:spPr>
          <a:xfrm>
            <a:off x="5442488" y="3643851"/>
            <a:ext cx="3622500" cy="2712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594247" y="6395317"/>
                <a:ext cx="7126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 smtClean="0"/>
                  <a:t>0</a:t>
                </a:r>
                <a:endParaRPr 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4247" y="6395317"/>
                <a:ext cx="712631" cy="369332"/>
              </a:xfrm>
              <a:prstGeom prst="rect">
                <a:avLst/>
              </a:prstGeom>
              <a:blipFill>
                <a:blip r:embed="rId4"/>
                <a:stretch>
                  <a:fillRect t="-8197" r="-598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lum bright="-50000" contrast="75000"/>
          </a:blip>
          <a:stretch>
            <a:fillRect/>
          </a:stretch>
        </p:blipFill>
        <p:spPr>
          <a:xfrm>
            <a:off x="1802883" y="3643851"/>
            <a:ext cx="3622500" cy="2712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7130334" y="6432184"/>
                <a:ext cx="7126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 smtClean="0"/>
                  <a:t>0</a:t>
                </a:r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0334" y="6432184"/>
                <a:ext cx="712631" cy="369332"/>
              </a:xfrm>
              <a:prstGeom prst="rect">
                <a:avLst/>
              </a:prstGeom>
              <a:blipFill>
                <a:blip r:embed="rId6"/>
                <a:stretch>
                  <a:fillRect t="-8197" r="-598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7737" y="1308101"/>
            <a:ext cx="3451725" cy="2650500"/>
          </a:xfrm>
          <a:prstGeom prst="rect">
            <a:avLst/>
          </a:prstGeom>
        </p:spPr>
      </p:pic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30323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Root Locus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Property 1: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has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poles, then the root locus has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branches, with each starting (for 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=0) from one of the </a:t>
                </a:r>
                <a:r>
                  <a:rPr lang="en-US" i="1" dirty="0" smtClean="0"/>
                  <a:t>n</a:t>
                </a:r>
                <a:r>
                  <a:rPr lang="en-US" dirty="0" smtClean="0"/>
                  <a:t> poles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Property 2: as |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|</a:t>
                </a:r>
                <a:r>
                  <a:rPr lang="en-US" dirty="0" smtClean="0">
                    <a:sym typeface="Wingdings" panose="05000000000000000000" pitchFamily="2" charset="2"/>
                  </a:rPr>
                  <a:t>∞, each branch of the locus approaches a zero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 smtClean="0"/>
                  <a:t>. If the number of zeros is less than that of the poles, some branches approaching to the infinity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Property 4: Branches of the root locus between two real poles must break off into the complex plane for </a:t>
                </a:r>
                <a:r>
                  <a:rPr lang="en-US" dirty="0"/>
                  <a:t>|</a:t>
                </a:r>
                <a:r>
                  <a:rPr lang="en-US" i="1" dirty="0"/>
                  <a:t>K</a:t>
                </a:r>
                <a:r>
                  <a:rPr lang="en-US" dirty="0"/>
                  <a:t>| </a:t>
                </a:r>
                <a:r>
                  <a:rPr lang="en-US" dirty="0" smtClean="0"/>
                  <a:t>large enough</a:t>
                </a:r>
                <a:endParaRPr 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§11.3 Root-locus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18312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Root </a:t>
            </a:r>
            <a:r>
              <a:rPr lang="en-US" dirty="0" smtClean="0"/>
              <a:t>Locus (</a:t>
            </a:r>
            <a:r>
              <a:rPr lang="en-US" dirty="0" err="1" smtClean="0"/>
              <a:t>Cont</a:t>
            </a:r>
            <a:r>
              <a:rPr lang="en-US" dirty="0" smtClean="0"/>
              <a:t>’)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 </a:t>
                </a:r>
                <a:r>
                  <a:rPr lang="en-US" dirty="0" smtClean="0"/>
                  <a:t>Observation #1: if a real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 is to the left of one of the poles </a:t>
                </a:r>
                <a:r>
                  <a:rPr lang="en-US" dirty="0"/>
                  <a:t>and zeros</a:t>
                </a:r>
                <a:r>
                  <a:rPr lang="en-US" dirty="0" smtClean="0"/>
                  <a:t>, then the contribution of that pole or zero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 is –</a:t>
                </a:r>
                <a:r>
                  <a:rPr lang="el-GR" dirty="0" smtClean="0"/>
                  <a:t>π</a:t>
                </a:r>
                <a:r>
                  <a:rPr lang="en-US" dirty="0" smtClean="0"/>
                  <a:t> or +</a:t>
                </a:r>
                <a:r>
                  <a:rPr lang="el-GR" dirty="0" smtClean="0"/>
                  <a:t>π</a:t>
                </a:r>
                <a:r>
                  <a:rPr lang="en-US" dirty="0" smtClean="0"/>
                  <a:t>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Observation #2: for a </a:t>
                </a:r>
                <a:r>
                  <a:rPr lang="en-US" dirty="0"/>
                  <a:t>real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, </a:t>
                </a:r>
                <a:r>
                  <a:rPr lang="en-US" dirty="0"/>
                  <a:t>the contribution of </a:t>
                </a:r>
                <a:r>
                  <a:rPr lang="en-US" dirty="0" smtClean="0"/>
                  <a:t>a conjugate pole/zero pair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dirty="0" smtClean="0"/>
                  <a:t>2</a:t>
                </a:r>
                <a:r>
                  <a:rPr lang="el-GR" dirty="0" smtClean="0"/>
                  <a:t>π</a:t>
                </a:r>
                <a:r>
                  <a:rPr lang="en-US" dirty="0" smtClean="0"/>
                  <a:t> </a:t>
                </a:r>
                <a:r>
                  <a:rPr lang="en-US" dirty="0"/>
                  <a:t>or </a:t>
                </a:r>
                <a:r>
                  <a:rPr lang="en-US" dirty="0" smtClean="0"/>
                  <a:t>0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Property 3: (</a:t>
                </a:r>
                <a:r>
                  <a:rPr lang="en-US" dirty="0"/>
                  <a:t>Based on the </a:t>
                </a:r>
                <a:r>
                  <a:rPr lang="en-US" b="1" dirty="0">
                    <a:solidFill>
                      <a:srgbClr val="C00000"/>
                    </a:solidFill>
                  </a:rPr>
                  <a:t>Angle Criterion</a:t>
                </a:r>
                <a:r>
                  <a:rPr lang="en-US" dirty="0" smtClean="0"/>
                  <a:t>) parts of the real axis lie to the left of an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odd</a:t>
                </a:r>
                <a:r>
                  <a:rPr lang="en-US" dirty="0" smtClean="0"/>
                  <a:t> number of real poles and zeros are on the root locus for </a:t>
                </a:r>
                <a:r>
                  <a:rPr lang="en-US" i="1" dirty="0"/>
                  <a:t>K </a:t>
                </a:r>
                <a:r>
                  <a:rPr lang="en-US" dirty="0" smtClean="0"/>
                  <a:t>&gt;0</a:t>
                </a:r>
              </a:p>
              <a:p>
                <a:pPr lvl="1"/>
                <a:r>
                  <a:rPr lang="en-US" dirty="0" smtClean="0"/>
                  <a:t>parts </a:t>
                </a:r>
                <a:r>
                  <a:rPr lang="en-US" dirty="0"/>
                  <a:t>of the real axis lie to the left of an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even</a:t>
                </a:r>
                <a:r>
                  <a:rPr lang="en-US" dirty="0" smtClean="0"/>
                  <a:t> </a:t>
                </a:r>
                <a:r>
                  <a:rPr lang="en-US" dirty="0"/>
                  <a:t>number of real poles and zeros are on the root locus for </a:t>
                </a:r>
                <a:r>
                  <a:rPr lang="en-US" i="1" dirty="0"/>
                  <a:t>K </a:t>
                </a:r>
                <a:r>
                  <a:rPr lang="en-US" dirty="0" smtClean="0"/>
                  <a:t>&lt;0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 r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§11.3 Root-locus </a:t>
            </a:r>
            <a:r>
              <a:rPr lang="en-US" dirty="0" smtClean="0"/>
              <a:t>Analysis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354176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Example (1) of Root Locus Properties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1742830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r>
                  <a:rPr lang="en-US" dirty="0" smtClean="0"/>
                  <a:t>     real poles: -2, -1, real zero: 1</a:t>
                </a:r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&lt;-2 is </a:t>
                </a:r>
                <a:r>
                  <a:rPr lang="en-US" dirty="0"/>
                  <a:t>on the root locus for </a:t>
                </a:r>
                <a:r>
                  <a:rPr lang="en-US" i="1" dirty="0"/>
                  <a:t>K </a:t>
                </a:r>
                <a:r>
                  <a:rPr lang="en-US" dirty="0"/>
                  <a:t>&gt;0</a:t>
                </a:r>
              </a:p>
              <a:p>
                <a:r>
                  <a:rPr lang="en-US" dirty="0" smtClean="0"/>
                  <a:t> -2&lt;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&lt;-1 </a:t>
                </a:r>
                <a:r>
                  <a:rPr lang="en-US" dirty="0"/>
                  <a:t>is on the root locus for </a:t>
                </a:r>
                <a:r>
                  <a:rPr lang="en-US" i="1" dirty="0"/>
                  <a:t>K </a:t>
                </a:r>
                <a:r>
                  <a:rPr lang="en-US" dirty="0"/>
                  <a:t>&lt;</a:t>
                </a:r>
                <a:r>
                  <a:rPr lang="en-US" dirty="0" smtClean="0"/>
                  <a:t>0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-1&lt;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&lt;1 </a:t>
                </a:r>
                <a:r>
                  <a:rPr lang="en-US" dirty="0"/>
                  <a:t>is on the root locus for </a:t>
                </a:r>
                <a:r>
                  <a:rPr lang="en-US" i="1" dirty="0"/>
                  <a:t>K </a:t>
                </a:r>
                <a:r>
                  <a:rPr lang="en-US" dirty="0" smtClean="0"/>
                  <a:t>&gt;0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 smtClean="0"/>
                  <a:t>&gt;1 </a:t>
                </a:r>
                <a:r>
                  <a:rPr lang="en-US" dirty="0"/>
                  <a:t>is on the root locus for </a:t>
                </a:r>
                <a:r>
                  <a:rPr lang="en-US" i="1" dirty="0"/>
                  <a:t>K </a:t>
                </a:r>
                <a:r>
                  <a:rPr lang="en-US" dirty="0" smtClean="0"/>
                  <a:t>&lt;0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1742830"/>
              </a:xfrm>
              <a:blipFill>
                <a:blip r:embed="rId2"/>
                <a:stretch>
                  <a:fillRect l="-464" t="-4561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43</a:t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§11.3 Root-locus </a:t>
            </a:r>
            <a:r>
              <a:rPr lang="en-US" dirty="0" smtClean="0"/>
              <a:t>Analysis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603" y="3106296"/>
            <a:ext cx="3622500" cy="2712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050931"/>
            <a:ext cx="3622500" cy="2712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062652" y="5817991"/>
                <a:ext cx="7126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 smtClean="0"/>
                  <a:t>0</a:t>
                </a:r>
                <a:endParaRPr 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652" y="5817991"/>
                <a:ext cx="712631" cy="369332"/>
              </a:xfrm>
              <a:prstGeom prst="rect">
                <a:avLst/>
              </a:prstGeom>
              <a:blipFill>
                <a:blip r:embed="rId5"/>
                <a:stretch>
                  <a:fillRect t="-8197" r="-683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322466" y="5849579"/>
                <a:ext cx="7126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 smtClean="0"/>
                  <a:t>0</a:t>
                </a:r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466" y="5849579"/>
                <a:ext cx="712631" cy="369332"/>
              </a:xfrm>
              <a:prstGeom prst="rect">
                <a:avLst/>
              </a:prstGeom>
              <a:blipFill>
                <a:blip r:embed="rId6"/>
                <a:stretch>
                  <a:fillRect t="-10000" r="-683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368181" y="5671701"/>
                <a:ext cx="2266005" cy="6619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(0)|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181" y="5671701"/>
                <a:ext cx="2266005" cy="6619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箭头连接符 11"/>
          <p:cNvCxnSpPr/>
          <p:nvPr/>
        </p:nvCxnSpPr>
        <p:spPr>
          <a:xfrm flipV="1">
            <a:off x="3222594" y="4462546"/>
            <a:ext cx="213064" cy="1355445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920945" y="6333613"/>
                <a:ext cx="1861985" cy="369332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stable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945" y="6333613"/>
                <a:ext cx="1861985" cy="369332"/>
              </a:xfrm>
              <a:prstGeom prst="rect">
                <a:avLst/>
              </a:prstGeom>
              <a:blipFill>
                <a:blip r:embed="rId8"/>
                <a:stretch>
                  <a:fillRect t="-6154" b="-20000"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/>
          <p:cNvCxnSpPr/>
          <p:nvPr/>
        </p:nvCxnSpPr>
        <p:spPr>
          <a:xfrm flipV="1">
            <a:off x="5990681" y="5220275"/>
            <a:ext cx="228949" cy="1136076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5619658" y="6333613"/>
                <a:ext cx="1234569" cy="369332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b="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Q: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=?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658" y="6333613"/>
                <a:ext cx="1234569" cy="369332"/>
              </a:xfrm>
              <a:prstGeom prst="rect">
                <a:avLst/>
              </a:prstGeom>
              <a:blipFill>
                <a:blip r:embed="rId9"/>
                <a:stretch>
                  <a:fillRect l="-3398" t="-6154" r="-1942" b="-20000"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03025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3" grpId="0" animBg="1"/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Example </a:t>
            </a:r>
            <a:r>
              <a:rPr lang="en-US" sz="3600" dirty="0" smtClean="0"/>
              <a:t>(2) </a:t>
            </a:r>
            <a:r>
              <a:rPr lang="en-US" sz="3600" dirty="0"/>
              <a:t>of Root Locus Properties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160578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1605788"/>
              </a:xfrm>
              <a:blipFill>
                <a:blip r:embed="rId2"/>
                <a:stretch>
                  <a:fillRect l="-1314" t="-1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44</a:t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§11.3 Root-locus </a:t>
            </a:r>
            <a:r>
              <a:rPr lang="en-US" dirty="0" smtClean="0"/>
              <a:t>Analysis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07" y="2497525"/>
            <a:ext cx="4347000" cy="3255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363" y="2528031"/>
            <a:ext cx="4347000" cy="3255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200612" y="5595622"/>
                <a:ext cx="7126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 smtClean="0"/>
                  <a:t>0</a:t>
                </a:r>
                <a:endParaRPr 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612" y="5595622"/>
                <a:ext cx="712631" cy="369332"/>
              </a:xfrm>
              <a:prstGeom prst="rect">
                <a:avLst/>
              </a:prstGeom>
              <a:blipFill>
                <a:blip r:embed="rId5"/>
                <a:stretch>
                  <a:fillRect t="-9836" r="-598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5409824" y="5628871"/>
                <a:ext cx="62927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 smtClean="0"/>
                  <a:t>&lt;0</a:t>
                </a:r>
                <a:endParaRPr 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824" y="5628871"/>
                <a:ext cx="629275" cy="369332"/>
              </a:xfrm>
              <a:prstGeom prst="rect">
                <a:avLst/>
              </a:prstGeom>
              <a:blipFill>
                <a:blip r:embed="rId6"/>
                <a:stretch>
                  <a:fillRect t="-8197" r="-673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043302" y="5597696"/>
                <a:ext cx="2740494" cy="6674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(−1)|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302" y="5597696"/>
                <a:ext cx="2740494" cy="6674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5989440" y="5660290"/>
                <a:ext cx="2770374" cy="675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440" y="5660290"/>
                <a:ext cx="2770374" cy="6758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3741022" y="6189236"/>
                <a:ext cx="2711576" cy="489814"/>
              </a:xfrm>
              <a:prstGeom prst="rect">
                <a:avLst/>
              </a:prstGeom>
              <a:ln w="2222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stability: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022" y="6189236"/>
                <a:ext cx="2711576" cy="489814"/>
              </a:xfrm>
              <a:prstGeom prst="rect">
                <a:avLst/>
              </a:prstGeom>
              <a:blipFill>
                <a:blip r:embed="rId9"/>
                <a:stretch>
                  <a:fillRect l="-1563" b="-2353"/>
                </a:stretch>
              </a:blipFill>
              <a:ln w="2222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页脚占位符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521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Root locus of 2</a:t>
            </a:r>
            <a:r>
              <a:rPr lang="en-US" baseline="30000" dirty="0" smtClean="0"/>
              <a:t>nd</a:t>
            </a:r>
            <a:r>
              <a:rPr lang="en-US" dirty="0" smtClean="0"/>
              <a:t>-order loop</a:t>
            </a:r>
            <a:r>
              <a:rPr lang="en-US" baseline="30000" dirty="0" smtClean="0"/>
              <a:t>*</a:t>
            </a:r>
            <a:endParaRPr lang="en-US" baseline="30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08100"/>
                <a:ext cx="8515351" cy="486886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 smtClean="0"/>
                  <a:t> Loop transfer function (without gain stage)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Closed-loop transfer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𝐾𝐺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Pole(s)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 smtClean="0"/>
                  <a:t> are zero(s)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   </a:t>
                </a:r>
                <a:r>
                  <a:rPr lang="en-US" dirty="0" smtClean="0">
                    <a:sym typeface="Wingdings" panose="05000000000000000000" pitchFamily="2" charset="2"/>
                  </a:rPr>
                  <a:t></a:t>
                </a:r>
                <a:r>
                  <a:rPr lang="en-US" dirty="0" smtClean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𝑗𝑦</m:t>
                    </m:r>
                  </m:oMath>
                </a14:m>
                <a:r>
                  <a:rPr lang="en-US" dirty="0" smtClean="0"/>
                  <a:t> is on the root locus,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>
                    <a:sym typeface="Wingdings" panose="05000000000000000000" pitchFamily="2" charset="2"/>
                  </a:rPr>
                  <a:t>   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</a:rPr>
                      <m:t>   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≠0)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>
                    <a:sym typeface="Wingdings" panose="05000000000000000000" pitchFamily="2" charset="2"/>
                  </a:rPr>
                  <a:t>   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/>
                      <m:t>is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an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integer</m:t>
                    </m:r>
                  </m:oMath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ð"/>
                </a:pP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sz="2600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den>
                          </m:f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1,2,3</m:t>
                          </m:r>
                        </m:sub>
                      </m:sSub>
                      <m:r>
                        <a:rPr lang="en-US" sz="2600" i="1">
                          <a:latin typeface="Cambria Math" panose="02040503050406030204" pitchFamily="18" charset="0"/>
                        </a:rPr>
                        <m:t>=0 </m:t>
                      </m:r>
                      <m:r>
                        <m:rPr>
                          <m:nor/>
                        </m:rPr>
                        <a:rPr lang="en-US" sz="2600"/>
                        <m:t>or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1</m:t>
                      </m:r>
                    </m:oMath>
                  </m:oMathPara>
                </a14:m>
                <a:endParaRPr lang="en-US" sz="2600" i="1" dirty="0" smtClean="0"/>
              </a:p>
              <a:p>
                <a:pPr marL="0" indent="0">
                  <a:buNone/>
                </a:pPr>
                <a:endParaRPr lang="en-US" sz="2600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600" dirty="0">
                          <a:sym typeface="Wingdings" panose="05000000000000000000" pitchFamily="2" charset="2"/>
                        </a:rPr>
                        <m:t></m:t>
                      </m:r>
                      <m:sSup>
                        <m:sSup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𝑡𝑎𝑛</m:t>
                          </m:r>
                        </m:e>
                        <m:sup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𝑡𝑎𝑛</m:t>
                              </m:r>
                            </m:e>
                            <m:sup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f>
                            <m:f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en-US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600"/>
                        <m:t>is</m:t>
                      </m:r>
                      <m:r>
                        <m:rPr>
                          <m:nor/>
                        </m:rPr>
                        <a:rPr lang="en-US" sz="2600"/>
                        <m:t> </m:t>
                      </m:r>
                      <m:r>
                        <m:rPr>
                          <m:nor/>
                        </m:rPr>
                        <a:rPr lang="en-US" sz="2600"/>
                        <m:t>an</m:t>
                      </m:r>
                      <m:r>
                        <m:rPr>
                          <m:nor/>
                        </m:rPr>
                        <a:rPr lang="en-US" sz="2600"/>
                        <m:t> </m:t>
                      </m:r>
                      <m:r>
                        <m:rPr>
                          <m:nor/>
                        </m:rPr>
                        <a:rPr lang="en-US" sz="2600"/>
                        <m:t>integer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sz="2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08100"/>
                <a:ext cx="8515351" cy="4868863"/>
              </a:xfrm>
              <a:blipFill>
                <a:blip r:embed="rId2"/>
                <a:stretch>
                  <a:fillRect l="-644" t="-25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§11.3 Root-locus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32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Root locus of 2</a:t>
            </a:r>
            <a:r>
              <a:rPr lang="en-US" baseline="30000" dirty="0"/>
              <a:t>nd</a:t>
            </a:r>
            <a:r>
              <a:rPr lang="en-US" dirty="0"/>
              <a:t>-order </a:t>
            </a:r>
            <a:r>
              <a:rPr lang="en-US" dirty="0" smtClean="0"/>
              <a:t>loop (</a:t>
            </a:r>
            <a:r>
              <a:rPr lang="en-US" dirty="0" err="1" smtClean="0"/>
              <a:t>cont</a:t>
            </a:r>
            <a:r>
              <a:rPr lang="en-US" dirty="0" smtClean="0"/>
              <a:t>’)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41540" y="1308100"/>
                <a:ext cx="8781690" cy="4868863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 smtClean="0"/>
                  <a:t> Note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±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𝑥𝑦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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den>
                    </m:f>
                  </m:oMath>
                </a14:m>
                <a:endParaRPr lang="en-US" dirty="0" smtClean="0"/>
              </a:p>
              <a:p>
                <a:pPr>
                  <a:buFont typeface="Wingdings" panose="05000000000000000000" pitchFamily="2" charset="2"/>
                  <a:buChar char="ð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𝑡𝑎𝑛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endParaRPr lang="en-US" i="1" dirty="0" smtClean="0"/>
              </a:p>
              <a:p>
                <a:pPr>
                  <a:buFont typeface="Wingdings" panose="05000000000000000000" pitchFamily="2" charset="2"/>
                  <a:buChar char="ð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den>
                        </m:f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∙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∙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den>
                        </m:f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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i="1">
                            <a:latin typeface="Cambria Math" panose="02040503050406030204" pitchFamily="18" charset="0"/>
                          </a:rPr>
                          <m:t>𝑡𝑎𝑛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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smtClean="0">
                    <a:sym typeface="Wingdings" panose="05000000000000000000" pitchFamily="2" charset="2"/>
                  </a:rPr>
                  <a:t>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 smtClean="0"/>
                  <a:t>     the </a:t>
                </a:r>
                <a:r>
                  <a:rPr lang="en-US" b="1" dirty="0" smtClean="0">
                    <a:solidFill>
                      <a:srgbClr val="0000FF"/>
                    </a:solidFill>
                  </a:rPr>
                  <a:t>real axis </a:t>
                </a:r>
                <a:r>
                  <a:rPr lang="en-US" dirty="0" smtClean="0"/>
                  <a:t>is part of the root locus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>
                    <a:sym typeface="Wingdings" panose="05000000000000000000" pitchFamily="2" charset="2"/>
                  </a:rPr>
                  <a:t>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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The root locus includes </a:t>
                </a:r>
                <a:r>
                  <a:rPr lang="en-US" b="1" dirty="0" smtClean="0">
                    <a:solidFill>
                      <a:srgbClr val="0000FF"/>
                    </a:solidFill>
                  </a:rPr>
                  <a:t>a circle </a:t>
                </a:r>
                <a:r>
                  <a:rPr lang="en-US" dirty="0" smtClean="0"/>
                  <a:t>centered at (</a:t>
                </a:r>
                <a:r>
                  <a:rPr lang="en-US" i="1" dirty="0" smtClean="0"/>
                  <a:t>c</a:t>
                </a:r>
                <a:r>
                  <a:rPr lang="en-US" dirty="0" smtClean="0"/>
                  <a:t>, 0) with radius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𝑏𝑐</m:t>
                        </m:r>
                      </m:e>
                    </m:rad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540" y="1308100"/>
                <a:ext cx="8781690" cy="4868863"/>
              </a:xfrm>
              <a:blipFill>
                <a:blip r:embed="rId2"/>
                <a:stretch>
                  <a:fillRect l="-764" t="-16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§11.3 Root-locus </a:t>
            </a:r>
            <a:r>
              <a:rPr lang="en-US" dirty="0" smtClean="0"/>
              <a:t>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99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Encirclement Property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rational function </a:t>
            </a:r>
            <a:r>
              <a:rPr lang="en-US" i="1" dirty="0" smtClean="0"/>
              <a:t>W</a:t>
            </a:r>
            <a:r>
              <a:rPr lang="en-US" dirty="0" smtClean="0"/>
              <a:t>(</a:t>
            </a:r>
            <a:r>
              <a:rPr lang="en-US" i="1" dirty="0" smtClean="0"/>
              <a:t>p</a:t>
            </a:r>
            <a:r>
              <a:rPr lang="en-US" dirty="0" smtClean="0"/>
              <a:t>), </a:t>
            </a:r>
            <a:r>
              <a:rPr lang="en-US" i="1" dirty="0" smtClean="0"/>
              <a:t>p</a:t>
            </a:r>
            <a:r>
              <a:rPr lang="en-US" dirty="0" smtClean="0"/>
              <a:t> is a complex variable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for CT case, </a:t>
            </a:r>
            <a:r>
              <a:rPr lang="en-US" i="1" dirty="0" smtClean="0"/>
              <a:t>p</a:t>
            </a:r>
            <a:r>
              <a:rPr lang="en-US" dirty="0" smtClean="0"/>
              <a:t> is </a:t>
            </a:r>
            <a:r>
              <a:rPr lang="en-US" i="1" dirty="0" smtClean="0"/>
              <a:t>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for DT case, </a:t>
            </a:r>
            <a:r>
              <a:rPr lang="en-US" i="1" dirty="0" smtClean="0"/>
              <a:t>p</a:t>
            </a:r>
            <a:r>
              <a:rPr lang="en-US" dirty="0" smtClean="0"/>
              <a:t> is </a:t>
            </a:r>
            <a:r>
              <a:rPr lang="en-US" i="1" dirty="0" smtClean="0"/>
              <a:t>z</a:t>
            </a:r>
          </a:p>
          <a:p>
            <a:r>
              <a:rPr lang="en-US" dirty="0"/>
              <a:t> </a:t>
            </a:r>
            <a:r>
              <a:rPr lang="en-US" dirty="0" smtClean="0"/>
              <a:t>traverse a closed contour in the </a:t>
            </a:r>
            <a:r>
              <a:rPr lang="en-US" b="1" i="1" dirty="0" smtClean="0">
                <a:solidFill>
                  <a:srgbClr val="C00000"/>
                </a:solidFill>
              </a:rPr>
              <a:t>p</a:t>
            </a:r>
            <a:r>
              <a:rPr lang="en-US" b="1" dirty="0" smtClean="0">
                <a:solidFill>
                  <a:srgbClr val="C00000"/>
                </a:solidFill>
              </a:rPr>
              <a:t>-plane </a:t>
            </a:r>
            <a:r>
              <a:rPr lang="en-US" dirty="0"/>
              <a:t>in </a:t>
            </a:r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clockwise</a:t>
            </a:r>
            <a:r>
              <a:rPr lang="en-US" dirty="0" smtClean="0"/>
              <a:t> direction, and plot </a:t>
            </a:r>
            <a:r>
              <a:rPr lang="en-US" i="1" dirty="0" smtClean="0"/>
              <a:t>W</a:t>
            </a:r>
            <a:r>
              <a:rPr lang="en-US" dirty="0" smtClean="0"/>
              <a:t>(</a:t>
            </a:r>
            <a:r>
              <a:rPr lang="en-US" i="1" dirty="0" smtClean="0"/>
              <a:t>p</a:t>
            </a:r>
            <a:r>
              <a:rPr lang="en-US" dirty="0" smtClean="0"/>
              <a:t>) in the </a:t>
            </a:r>
            <a:r>
              <a:rPr lang="en-US" b="1" i="1" dirty="0" smtClean="0">
                <a:solidFill>
                  <a:srgbClr val="C00000"/>
                </a:solidFill>
              </a:rPr>
              <a:t>W</a:t>
            </a:r>
            <a:r>
              <a:rPr lang="en-US" b="1" dirty="0" smtClean="0">
                <a:solidFill>
                  <a:srgbClr val="C00000"/>
                </a:solidFill>
              </a:rPr>
              <a:t>-plane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Encirclement Property</a:t>
            </a:r>
            <a:r>
              <a:rPr lang="en-US" dirty="0" smtClean="0"/>
              <a:t>: As a closed contour </a:t>
            </a:r>
            <a:r>
              <a:rPr lang="en-US" i="1" dirty="0" smtClean="0"/>
              <a:t>C</a:t>
            </a:r>
            <a:r>
              <a:rPr lang="en-US" dirty="0" smtClean="0"/>
              <a:t> is traversed once in the </a:t>
            </a:r>
            <a:r>
              <a:rPr lang="en-US" u="sng" dirty="0" smtClean="0">
                <a:solidFill>
                  <a:srgbClr val="C00000"/>
                </a:solidFill>
              </a:rPr>
              <a:t>clockwise</a:t>
            </a:r>
            <a:r>
              <a:rPr lang="en-US" dirty="0" smtClean="0"/>
              <a:t> direction, the corresponding plot of </a:t>
            </a:r>
            <a:r>
              <a:rPr lang="en-US" i="1" dirty="0" smtClean="0"/>
              <a:t>W</a:t>
            </a:r>
            <a:r>
              <a:rPr lang="en-US" dirty="0" smtClean="0"/>
              <a:t>(</a:t>
            </a:r>
            <a:r>
              <a:rPr lang="en-US" i="1" dirty="0" smtClean="0"/>
              <a:t>p</a:t>
            </a:r>
            <a:r>
              <a:rPr lang="en-US" dirty="0" smtClean="0"/>
              <a:t>) encircles the origin in the </a:t>
            </a:r>
            <a:r>
              <a:rPr lang="en-US" u="sng" dirty="0" smtClean="0">
                <a:solidFill>
                  <a:srgbClr val="C00000"/>
                </a:solidFill>
              </a:rPr>
              <a:t>clockwise</a:t>
            </a:r>
            <a:r>
              <a:rPr lang="en-US" dirty="0" smtClean="0"/>
              <a:t> direction </a:t>
            </a:r>
            <a:r>
              <a:rPr lang="en-US" b="1" i="1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times, with </a:t>
            </a:r>
            <a:r>
              <a:rPr lang="en-US" b="1" i="1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number of zeros - number of poles contained within </a:t>
            </a:r>
            <a:r>
              <a:rPr lang="en-US" i="1" dirty="0" smtClean="0"/>
              <a:t>C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if </a:t>
            </a:r>
            <a:r>
              <a:rPr lang="en-US" b="1" i="1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&lt;0</a:t>
            </a:r>
            <a:r>
              <a:rPr lang="en-US" dirty="0"/>
              <a:t>, plot of </a:t>
            </a:r>
            <a:r>
              <a:rPr lang="en-US" i="1" dirty="0"/>
              <a:t>W</a:t>
            </a:r>
            <a:r>
              <a:rPr lang="en-US" dirty="0"/>
              <a:t>(</a:t>
            </a:r>
            <a:r>
              <a:rPr lang="en-US" i="1" dirty="0"/>
              <a:t>p</a:t>
            </a:r>
            <a:r>
              <a:rPr lang="en-US" dirty="0"/>
              <a:t>) encircles the origin in the </a:t>
            </a:r>
            <a:r>
              <a:rPr lang="en-US" u="sng" dirty="0" smtClean="0">
                <a:solidFill>
                  <a:srgbClr val="C00000"/>
                </a:solidFill>
              </a:rPr>
              <a:t>counterclockwise</a:t>
            </a:r>
            <a:r>
              <a:rPr lang="en-US" dirty="0" smtClean="0"/>
              <a:t> </a:t>
            </a:r>
            <a:r>
              <a:rPr lang="en-US" dirty="0"/>
              <a:t>direction </a:t>
            </a:r>
            <a:r>
              <a:rPr lang="en-US" b="1" dirty="0" smtClean="0">
                <a:solidFill>
                  <a:srgbClr val="C00000"/>
                </a:solidFill>
              </a:rPr>
              <a:t>|</a:t>
            </a:r>
            <a:r>
              <a:rPr lang="en-US" b="1" i="1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| </a:t>
            </a:r>
            <a:r>
              <a:rPr lang="en-US" dirty="0"/>
              <a:t>times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47</a:t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11.4 Nyquist Stability Criterion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937992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of Encirclement Property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§11.4 Nyquist Stability </a:t>
            </a:r>
            <a:r>
              <a:rPr lang="en-US" dirty="0" smtClean="0"/>
              <a:t>Criterion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2253"/>
            <a:ext cx="4508460" cy="204031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459" y="2142253"/>
            <a:ext cx="4571078" cy="204031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440" y="4249302"/>
            <a:ext cx="4536923" cy="204031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459" y="4192974"/>
            <a:ext cx="4559693" cy="2040317"/>
          </a:xfrm>
          <a:prstGeom prst="rect">
            <a:avLst/>
          </a:prstGeom>
        </p:spPr>
      </p:pic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81136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42788" cy="792000"/>
          </a:xfrm>
        </p:spPr>
        <p:txBody>
          <a:bodyPr>
            <a:noAutofit/>
          </a:bodyPr>
          <a:lstStyle/>
          <a:p>
            <a:r>
              <a:rPr lang="en-US" altLang="zh-CN" sz="2800" dirty="0" smtClean="0"/>
              <a:t>Stability Requirement of CT LTI Feedback Systems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Open-loop </a:t>
                </a:r>
                <a:r>
                  <a:rPr lang="en-US" i="1" dirty="0" smtClean="0"/>
                  <a:t>H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), feedback path </a:t>
                </a:r>
                <a:r>
                  <a:rPr lang="en-US" i="1" dirty="0" smtClean="0"/>
                  <a:t>G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)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Closed-loop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𝐾𝐺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Closed-loop poles are zeros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 smtClean="0"/>
                  <a:t>  poles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smtClean="0"/>
                  <a:t>are </a:t>
                </a:r>
                <a:r>
                  <a:rPr lang="en-US" smtClean="0"/>
                  <a:t>zeros </a:t>
                </a:r>
                <a:r>
                  <a:rPr lang="en-US" dirty="0" smtClean="0"/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 smtClean="0"/>
              </a:p>
              <a:p>
                <a:r>
                  <a:rPr lang="en-US" dirty="0" smtClean="0"/>
                  <a:t> Stability requires that no zeros of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 smtClean="0"/>
                  <a:t> lie in the right half-plane in the 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-plane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§11.4 Nyquist Stability </a:t>
            </a:r>
            <a:r>
              <a:rPr lang="en-US" dirty="0" smtClean="0"/>
              <a:t>Criterion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3911211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Contour Equivalent to Right Half-Plane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Construct a clockwise </a:t>
            </a:r>
            <a:r>
              <a:rPr lang="en-US" dirty="0" smtClean="0"/>
              <a:t>closed contour </a:t>
            </a:r>
            <a:r>
              <a:rPr lang="en-US" i="1" dirty="0" smtClean="0"/>
              <a:t>C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 When </a:t>
            </a:r>
            <a:r>
              <a:rPr lang="en-US" i="1" dirty="0" smtClean="0"/>
              <a:t>M</a:t>
            </a:r>
            <a:r>
              <a:rPr lang="en-US" dirty="0" smtClean="0"/>
              <a:t> goes to infinity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the contour </a:t>
            </a:r>
            <a:r>
              <a:rPr lang="en-US" i="1" dirty="0"/>
              <a:t>C </a:t>
            </a:r>
            <a:r>
              <a:rPr lang="en-US" dirty="0" smtClean="0"/>
              <a:t>is extended to the right half-plan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the contour </a:t>
            </a:r>
            <a:r>
              <a:rPr lang="en-US" i="1" dirty="0"/>
              <a:t>C </a:t>
            </a:r>
            <a:r>
              <a:rPr lang="en-US" dirty="0" smtClean="0"/>
              <a:t>becomes –</a:t>
            </a:r>
            <a:r>
              <a:rPr lang="en-US" i="1" dirty="0" err="1" smtClean="0"/>
              <a:t>jM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to </a:t>
            </a:r>
            <a:r>
              <a:rPr lang="en-US" i="1" dirty="0" err="1" smtClean="0">
                <a:sym typeface="Wingdings" panose="05000000000000000000" pitchFamily="2" charset="2"/>
              </a:rPr>
              <a:t>jM</a:t>
            </a:r>
            <a:endParaRPr lang="en-US" i="1" dirty="0" smtClean="0">
              <a:sym typeface="Wingdings" panose="05000000000000000000" pitchFamily="2" charset="2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§11.4 Nyquist Stability </a:t>
            </a:r>
            <a:r>
              <a:rPr lang="en-US" dirty="0" smtClean="0"/>
              <a:t>Criterion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788" y="1840250"/>
            <a:ext cx="2724966" cy="2831058"/>
          </a:xfrm>
          <a:prstGeom prst="rect">
            <a:avLst/>
          </a:prstGeom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04681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CT Nyquist Stability Criterion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08100"/>
                <a:ext cx="8160243" cy="527913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Use </a:t>
                </a:r>
                <a:r>
                  <a:rPr lang="en-US" dirty="0">
                    <a:solidFill>
                      <a:srgbClr val="C00000"/>
                    </a:solidFill>
                  </a:rPr>
                  <a:t>Encirclement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Property</a:t>
                </a:r>
                <a:r>
                  <a:rPr lang="en-US" dirty="0" smtClean="0"/>
                  <a:t>: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 </a:t>
                </a:r>
                <a:r>
                  <a:rPr lang="en-US" dirty="0" smtClean="0"/>
                  <a:t>number of zeros – number of poles of 𝑅</a:t>
                </a:r>
                <a:r>
                  <a:rPr lang="en-US" dirty="0"/>
                  <a:t>(𝑠)=1/𝐾+𝐺(𝑠)𝐻(𝑠</a:t>
                </a:r>
                <a:r>
                  <a:rPr lang="en-US" dirty="0" smtClean="0"/>
                  <a:t>) </a:t>
                </a:r>
                <a:r>
                  <a:rPr lang="en-US" dirty="0" smtClean="0">
                    <a:solidFill>
                      <a:srgbClr val="C00000"/>
                    </a:solidFill>
                  </a:rPr>
                  <a:t>on the right half-plane</a:t>
                </a:r>
                <a:r>
                  <a:rPr lang="en-US" dirty="0" smtClean="0"/>
                  <a:t> = number of clockwise encirclements of the origin by </a:t>
                </a:r>
                <a:r>
                  <a:rPr lang="en-US" dirty="0"/>
                  <a:t>𝑅(𝑠</a:t>
                </a:r>
                <a:r>
                  <a:rPr lang="en-US" dirty="0" smtClean="0"/>
                  <a:t>)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&lt;+∞</m:t>
                    </m:r>
                  </m:oMath>
                </a14:m>
                <a:endParaRPr lang="en-US" dirty="0" smtClean="0">
                  <a:solidFill>
                    <a:srgbClr val="C00000"/>
                  </a:solidFill>
                </a:endParaRPr>
              </a:p>
              <a:p>
                <a:pPr lvl="1"/>
                <a:r>
                  <a:rPr lang="en-US" dirty="0" smtClean="0"/>
                  <a:t> poles of </a:t>
                </a:r>
                <a:r>
                  <a:rPr lang="en-US" dirty="0"/>
                  <a:t>𝑅(𝑠</a:t>
                </a:r>
                <a:r>
                  <a:rPr lang="en-US" dirty="0" smtClean="0"/>
                  <a:t>) are poles of </a:t>
                </a:r>
                <a:r>
                  <a:rPr lang="en-US" dirty="0"/>
                  <a:t>𝐺(𝑠)𝐻(𝑠) </a:t>
                </a:r>
                <a:endParaRPr lang="en-US" dirty="0" smtClean="0"/>
              </a:p>
              <a:p>
                <a:pPr marL="228600" lvl="1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800" dirty="0"/>
                  <a:t> zeros of 𝑅(𝑠) are the closed-loop </a:t>
                </a:r>
                <a:r>
                  <a:rPr lang="en-US" sz="2800" dirty="0" smtClean="0"/>
                  <a:t>poles</a:t>
                </a:r>
              </a:p>
              <a:p>
                <a:pPr marL="685800" lvl="2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400" dirty="0"/>
                  <a:t> </a:t>
                </a:r>
                <a:r>
                  <a:rPr lang="en-US" sz="2400" b="1" dirty="0" smtClean="0">
                    <a:solidFill>
                      <a:srgbClr val="FF0000"/>
                    </a:solidFill>
                  </a:rPr>
                  <a:t>For stability</a:t>
                </a:r>
                <a:r>
                  <a:rPr lang="en-US" sz="2400" dirty="0" smtClean="0"/>
                  <a:t>, number of </a:t>
                </a:r>
                <a:r>
                  <a:rPr lang="en-US" sz="2400" dirty="0"/>
                  <a:t>zeros </a:t>
                </a:r>
                <a:r>
                  <a:rPr lang="en-US" sz="2400" dirty="0" smtClean="0"/>
                  <a:t>𝑅</a:t>
                </a:r>
                <a:r>
                  <a:rPr lang="en-US" sz="2400" dirty="0"/>
                  <a:t>(𝑠</a:t>
                </a:r>
                <a:r>
                  <a:rPr lang="en-US" sz="2400" dirty="0" smtClean="0"/>
                  <a:t>)</a:t>
                </a:r>
                <a:r>
                  <a:rPr lang="en-US" sz="2400" dirty="0"/>
                  <a:t> on the right half-plane must be 0</a:t>
                </a:r>
              </a:p>
              <a:p>
                <a:r>
                  <a:rPr lang="en-US" dirty="0"/>
                  <a:t> number of clockwise encirclements of the origin by 𝑅(𝑠</a:t>
                </a:r>
                <a:r>
                  <a:rPr lang="en-US" dirty="0" smtClean="0"/>
                  <a:t>) = number </a:t>
                </a:r>
                <a:r>
                  <a:rPr lang="en-US" dirty="0"/>
                  <a:t>of clockwise encirclements of the </a:t>
                </a:r>
                <a:r>
                  <a:rPr lang="en-US" dirty="0" smtClean="0"/>
                  <a:t>-1/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 by </a:t>
                </a:r>
                <a:r>
                  <a:rPr lang="en-US" dirty="0"/>
                  <a:t>𝐺(𝑠)𝐻(</a:t>
                </a:r>
                <a:r>
                  <a:rPr lang="en-US" dirty="0" smtClean="0"/>
                  <a:t>𝑠) </a:t>
                </a:r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CT Nyquist Stability Criterion: the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net</a:t>
                </a:r>
                <a:r>
                  <a:rPr lang="en-US" altLang="zh-CN" dirty="0" smtClean="0"/>
                  <a:t> number of </a:t>
                </a:r>
                <a:r>
                  <a:rPr lang="en-US" b="1" dirty="0">
                    <a:solidFill>
                      <a:srgbClr val="C00000"/>
                    </a:solidFill>
                  </a:rPr>
                  <a:t>clockwise</a:t>
                </a:r>
                <a:r>
                  <a:rPr lang="en-US" dirty="0"/>
                  <a:t> encirclements of </a:t>
                </a:r>
                <a:r>
                  <a:rPr lang="en-US" dirty="0" smtClean="0"/>
                  <a:t>-1/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 </a:t>
                </a:r>
                <a:r>
                  <a:rPr lang="en-US" dirty="0"/>
                  <a:t>by 𝐺(𝑠)𝐻(𝑠</a:t>
                </a:r>
                <a:r>
                  <a:rPr lang="en-US" dirty="0" smtClean="0"/>
                  <a:t>) must equal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minus</a:t>
                </a:r>
                <a:r>
                  <a:rPr lang="en-US" dirty="0" smtClean="0"/>
                  <a:t> the number of right-half-plane poles of </a:t>
                </a:r>
                <a:r>
                  <a:rPr lang="en-US" dirty="0"/>
                  <a:t>𝐺(𝑠)𝐻(𝑠) </a:t>
                </a:r>
                <a:endParaRPr lang="en-US" dirty="0" smtClean="0"/>
              </a:p>
              <a:p>
                <a:pPr lvl="1"/>
                <a:r>
                  <a:rPr lang="en-US" dirty="0" smtClean="0"/>
                  <a:t> </a:t>
                </a:r>
                <a:r>
                  <a:rPr lang="en-US" altLang="zh-CN" dirty="0"/>
                  <a:t>the </a:t>
                </a:r>
                <a:r>
                  <a:rPr lang="en-US" altLang="zh-CN" dirty="0" smtClean="0"/>
                  <a:t>number </a:t>
                </a:r>
                <a:r>
                  <a:rPr lang="en-US" altLang="zh-CN" dirty="0"/>
                  <a:t>of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counter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clockwise</a:t>
                </a:r>
                <a:r>
                  <a:rPr lang="en-US" dirty="0" smtClean="0"/>
                  <a:t> </a:t>
                </a:r>
                <a:r>
                  <a:rPr lang="en-US" dirty="0"/>
                  <a:t>encirclements </a:t>
                </a:r>
                <a:r>
                  <a:rPr lang="en-US" dirty="0" smtClean="0"/>
                  <a:t>of </a:t>
                </a:r>
                <a:r>
                  <a:rPr lang="en-US" dirty="0"/>
                  <a:t>-1/</a:t>
                </a:r>
                <a:r>
                  <a:rPr lang="en-US" i="1" dirty="0"/>
                  <a:t>K</a:t>
                </a:r>
                <a:r>
                  <a:rPr lang="en-US" dirty="0"/>
                  <a:t> by 𝐺(𝑠)𝐻(𝑠) must equal </a:t>
                </a:r>
                <a:r>
                  <a:rPr lang="en-US" dirty="0" smtClean="0"/>
                  <a:t>the </a:t>
                </a:r>
                <a:r>
                  <a:rPr lang="en-US" dirty="0"/>
                  <a:t>number of right-half-plane poles of 𝐺(𝑠)𝐻(𝑠) </a:t>
                </a:r>
                <a:endParaRPr lang="en-US" dirty="0" smtClean="0"/>
              </a:p>
              <a:p>
                <a:pPr lvl="1"/>
                <a:r>
                  <a:rPr lang="en-US" dirty="0"/>
                  <a:t> </a:t>
                </a:r>
                <a:r>
                  <a:rPr lang="en-US" altLang="zh-CN" dirty="0" smtClean="0"/>
                  <a:t>If both </a:t>
                </a:r>
                <a:r>
                  <a:rPr lang="en-US" dirty="0" smtClean="0"/>
                  <a:t>𝐺</a:t>
                </a:r>
                <a:r>
                  <a:rPr lang="en-US" dirty="0"/>
                  <a:t>(𝑠</a:t>
                </a:r>
                <a:r>
                  <a:rPr lang="en-US" dirty="0" smtClean="0"/>
                  <a:t>) and 𝐻</a:t>
                </a:r>
                <a:r>
                  <a:rPr lang="en-US" dirty="0"/>
                  <a:t>(𝑠</a:t>
                </a:r>
                <a:r>
                  <a:rPr lang="en-US" dirty="0" smtClean="0"/>
                  <a:t>) are stable</a:t>
                </a:r>
                <a:r>
                  <a:rPr lang="en-US" dirty="0" smtClean="0">
                    <a:sym typeface="Wingdings" panose="05000000000000000000" pitchFamily="2" charset="2"/>
                  </a:rPr>
                  <a:t></a:t>
                </a:r>
                <a:r>
                  <a:rPr lang="en-US" dirty="0" smtClean="0"/>
                  <a:t> </a:t>
                </a:r>
                <a:r>
                  <a:rPr lang="en-US" altLang="zh-CN" dirty="0"/>
                  <a:t>the </a:t>
                </a:r>
                <a:r>
                  <a:rPr lang="en-US" altLang="zh-CN" dirty="0" smtClean="0"/>
                  <a:t>number </a:t>
                </a:r>
                <a:r>
                  <a:rPr lang="en-US" altLang="zh-CN" dirty="0"/>
                  <a:t>of </a:t>
                </a:r>
                <a:r>
                  <a:rPr lang="en-US" dirty="0" smtClean="0"/>
                  <a:t>encirclements of </a:t>
                </a:r>
                <a:r>
                  <a:rPr lang="en-US" dirty="0"/>
                  <a:t>-1/</a:t>
                </a:r>
                <a:r>
                  <a:rPr lang="en-US" i="1" dirty="0"/>
                  <a:t>K</a:t>
                </a:r>
                <a:r>
                  <a:rPr lang="en-US" dirty="0"/>
                  <a:t> by 𝐺(𝑠)𝐻(𝑠) must equal </a:t>
                </a:r>
                <a:r>
                  <a:rPr lang="en-US" dirty="0" smtClean="0"/>
                  <a:t>0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altLang="zh-CN" dirty="0"/>
                  <a:t>If </a:t>
                </a:r>
                <a:r>
                  <a:rPr lang="en-US" altLang="zh-CN" dirty="0" smtClean="0"/>
                  <a:t>either </a:t>
                </a:r>
                <a:r>
                  <a:rPr lang="en-US" dirty="0"/>
                  <a:t>𝐺(𝑠) </a:t>
                </a:r>
                <a:r>
                  <a:rPr lang="en-US" dirty="0" smtClean="0"/>
                  <a:t>or </a:t>
                </a:r>
                <a:r>
                  <a:rPr lang="en-US" dirty="0"/>
                  <a:t>𝐻(𝑠) </a:t>
                </a:r>
                <a:r>
                  <a:rPr lang="en-US" smtClean="0"/>
                  <a:t>is unstable</a:t>
                </a:r>
                <a:r>
                  <a:rPr lang="en-US" dirty="0" smtClean="0"/>
                  <a:t>…..</a:t>
                </a: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08100"/>
                <a:ext cx="8160243" cy="5279131"/>
              </a:xfrm>
              <a:blipFill>
                <a:blip r:embed="rId2"/>
                <a:stretch>
                  <a:fillRect l="-971" t="-2771" r="-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§11.4 Nyquist Stability </a:t>
            </a:r>
            <a:r>
              <a:rPr lang="en-US" dirty="0" smtClean="0"/>
              <a:t>Criterion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8239523" y="1334267"/>
            <a:ext cx="832408" cy="26667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Why?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133415" y="2034379"/>
            <a:ext cx="832408" cy="26667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Why?</a:t>
            </a: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7173157" y="1557297"/>
            <a:ext cx="1066366" cy="698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48371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444330" cy="792000"/>
          </a:xfrm>
        </p:spPr>
        <p:txBody>
          <a:bodyPr>
            <a:noAutofit/>
          </a:bodyPr>
          <a:lstStyle/>
          <a:p>
            <a:r>
              <a:rPr lang="en-US" altLang="zh-CN" sz="3400" dirty="0" smtClean="0"/>
              <a:t>Example (1) of CT </a:t>
            </a:r>
            <a:r>
              <a:rPr lang="en-US" altLang="zh-CN" sz="3400" dirty="0"/>
              <a:t>Nyquist Stability Criterion</a:t>
            </a:r>
            <a:endParaRPr lang="en-US" sz="3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8169120" cy="486886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altLang="zh-CN" dirty="0" smtClean="0"/>
                  <a:t>Both </a:t>
                </a:r>
                <a:r>
                  <a:rPr lang="en-US" dirty="0"/>
                  <a:t>𝐺(𝑠) and 𝐻(𝑠) are stable</a:t>
                </a:r>
                <a:r>
                  <a:rPr lang="en-US" dirty="0">
                    <a:sym typeface="Wingdings" panose="05000000000000000000" pitchFamily="2" charset="2"/>
                  </a:rPr>
                  <a:t></a:t>
                </a:r>
                <a:r>
                  <a:rPr lang="en-US" dirty="0"/>
                  <a:t> </a:t>
                </a:r>
                <a:r>
                  <a:rPr lang="en-US" altLang="zh-CN" dirty="0"/>
                  <a:t>the </a:t>
                </a:r>
                <a:r>
                  <a:rPr lang="en-US" altLang="zh-CN" dirty="0" smtClean="0"/>
                  <a:t>number </a:t>
                </a:r>
                <a:r>
                  <a:rPr lang="en-US" altLang="zh-CN" dirty="0"/>
                  <a:t>of </a:t>
                </a:r>
                <a:r>
                  <a:rPr lang="en-US" dirty="0" smtClean="0"/>
                  <a:t>encirclements </a:t>
                </a:r>
                <a:r>
                  <a:rPr lang="en-US" dirty="0"/>
                  <a:t>of the -1/</a:t>
                </a:r>
                <a:r>
                  <a:rPr lang="en-US" i="1" dirty="0"/>
                  <a:t>K</a:t>
                </a:r>
                <a:r>
                  <a:rPr lang="en-US" dirty="0"/>
                  <a:t> by 𝐺(𝑠)𝐻(𝑠) must equal </a:t>
                </a:r>
                <a:r>
                  <a:rPr lang="en-US" dirty="0" smtClean="0"/>
                  <a:t>0</a:t>
                </a:r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For stability: -1/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≤0</a:t>
                </a:r>
                <a:r>
                  <a:rPr lang="en-US" i="1" dirty="0" smtClean="0"/>
                  <a:t> or </a:t>
                </a:r>
                <a:r>
                  <a:rPr lang="en-US" dirty="0"/>
                  <a:t>-</a:t>
                </a:r>
                <a:r>
                  <a:rPr lang="en-US" dirty="0" smtClean="0"/>
                  <a:t>1/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&gt;1</a:t>
                </a:r>
                <a:r>
                  <a:rPr lang="en-US" i="1" dirty="0" smtClean="0"/>
                  <a:t> </a:t>
                </a:r>
                <a:r>
                  <a:rPr lang="en-US" dirty="0" smtClean="0"/>
                  <a:t>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:r>
                  <a:rPr lang="en-US" dirty="0" smtClean="0"/>
                  <a:t>K</a:t>
                </a:r>
                <a:r>
                  <a:rPr lang="en-US" dirty="0"/>
                  <a:t>≥</a:t>
                </a:r>
                <a:r>
                  <a:rPr lang="en-US" dirty="0" smtClean="0"/>
                  <a:t>0  or -1&lt;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&lt;0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8169120" cy="4868863"/>
              </a:xfrm>
              <a:blipFill>
                <a:blip r:embed="rId2"/>
                <a:stretch>
                  <a:fillRect l="-970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§11.4 Nyquist Stability </a:t>
            </a:r>
            <a:r>
              <a:rPr lang="en-US" dirty="0" smtClean="0"/>
              <a:t>Criterion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907" y="2299318"/>
            <a:ext cx="4496125" cy="33713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457950" y="3640077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Nyquist Plot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12761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295543" cy="792000"/>
          </a:xfrm>
        </p:spPr>
        <p:txBody>
          <a:bodyPr>
            <a:noAutofit/>
          </a:bodyPr>
          <a:lstStyle/>
          <a:p>
            <a:r>
              <a:rPr lang="en-US" altLang="zh-CN" sz="3400" dirty="0"/>
              <a:t>Example </a:t>
            </a:r>
            <a:r>
              <a:rPr lang="en-US" altLang="zh-CN" sz="3400" dirty="0" smtClean="0"/>
              <a:t>(2) </a:t>
            </a:r>
            <a:r>
              <a:rPr lang="en-US" altLang="zh-CN" sz="3400" dirty="0"/>
              <a:t>of CT Nyquist Stability Criterion</a:t>
            </a:r>
            <a:endParaRPr lang="en-US" sz="3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1707662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−1)(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</m:oMath>
                </a14:m>
                <a:r>
                  <a:rPr lang="en-US" dirty="0" smtClean="0"/>
                  <a:t>   </a:t>
                </a:r>
                <a:r>
                  <a:rPr lang="en-US" dirty="0"/>
                  <a:t>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not stable! 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T</a:t>
                </a:r>
                <a:r>
                  <a:rPr lang="en-US" altLang="zh-CN" dirty="0" smtClean="0"/>
                  <a:t>he </a:t>
                </a:r>
                <a:r>
                  <a:rPr lang="en-US" altLang="zh-CN" dirty="0"/>
                  <a:t>number of 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counter</a:t>
                </a:r>
                <a:r>
                  <a:rPr lang="en-US" b="1" dirty="0">
                    <a:solidFill>
                      <a:srgbClr val="C00000"/>
                    </a:solidFill>
                  </a:rPr>
                  <a:t>clockwise</a:t>
                </a:r>
                <a:r>
                  <a:rPr lang="en-US" dirty="0"/>
                  <a:t> encirclements of the -1/</a:t>
                </a:r>
                <a:r>
                  <a:rPr lang="en-US" i="1" dirty="0"/>
                  <a:t>K</a:t>
                </a:r>
                <a:r>
                  <a:rPr lang="en-US" dirty="0"/>
                  <a:t> by 𝐺(𝑠)𝐻(𝑠) must equal the number of right-half-plane poles of 𝐺(𝑠)𝐻(𝑠) </a:t>
                </a:r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For stability, -1&lt;-1/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&lt;0  </a:t>
                </a:r>
                <a:r>
                  <a:rPr lang="en-US" dirty="0" smtClean="0">
                    <a:sym typeface="Wingdings" panose="05000000000000000000" pitchFamily="2" charset="2"/>
                  </a:rPr>
                  <a:t> </a:t>
                </a:r>
                <a:r>
                  <a:rPr lang="en-US" i="1" dirty="0" smtClean="0">
                    <a:sym typeface="Wingdings" panose="05000000000000000000" pitchFamily="2" charset="2"/>
                  </a:rPr>
                  <a:t>K</a:t>
                </a:r>
                <a:r>
                  <a:rPr lang="en-US" dirty="0" smtClean="0">
                    <a:sym typeface="Wingdings" panose="05000000000000000000" pitchFamily="2" charset="2"/>
                  </a:rPr>
                  <a:t>&gt;</a:t>
                </a:r>
                <a:r>
                  <a:rPr lang="en-US" altLang="zh-CN" dirty="0" smtClean="0">
                    <a:sym typeface="Wingdings" panose="05000000000000000000" pitchFamily="2" charset="2"/>
                  </a:rPr>
                  <a:t>1</a:t>
                </a:r>
                <a:r>
                  <a:rPr lang="en-US" i="1" dirty="0" smtClean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1707662"/>
              </a:xfrm>
              <a:blipFill>
                <a:blip r:embed="rId2"/>
                <a:stretch>
                  <a:fillRect l="-850" t="-6786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§11.4 Nyquist Stability </a:t>
            </a:r>
            <a:r>
              <a:rPr lang="en-US" dirty="0" smtClean="0"/>
              <a:t>Criterion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1257" y="3299073"/>
            <a:ext cx="4064858" cy="2991652"/>
          </a:xfrm>
          <a:prstGeom prst="rect">
            <a:avLst/>
          </a:prstGeom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1569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Extra Discussion on </a:t>
            </a:r>
            <a:r>
              <a:rPr lang="en-US" altLang="zh-CN" sz="2800" dirty="0"/>
              <a:t>Nyquist Stability Criterion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How if the poles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are on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 smtClean="0"/>
                  <a:t> axis?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values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are infinity on these points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dirty="0" smtClean="0"/>
                  <a:t>Nyquist stability criterion can be modified to allow </a:t>
                </a:r>
                <a:r>
                  <a:rPr lang="en-US" dirty="0"/>
                  <a:t>poles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 </a:t>
                </a:r>
                <a:r>
                  <a:rPr lang="en-US" dirty="0"/>
                  <a:t>on the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axis</a:t>
                </a:r>
              </a:p>
              <a:p>
                <a:pPr marL="228600" lvl="1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800" dirty="0"/>
                  <a:t> </a:t>
                </a:r>
                <a:r>
                  <a:rPr lang="en-US" sz="2800" dirty="0" smtClean="0"/>
                  <a:t>How if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smtClean="0"/>
                  <a:t>is not rational?</a:t>
                </a:r>
              </a:p>
              <a:p>
                <a:pPr marL="685800" lvl="2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400" dirty="0"/>
                  <a:t> </a:t>
                </a:r>
                <a:r>
                  <a:rPr lang="en-US" sz="2400" dirty="0" smtClean="0"/>
                  <a:t>If both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4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are stable, then the Nyquist Criterion can still be used</a:t>
                </a:r>
              </a:p>
              <a:p>
                <a:pPr marL="685800" lvl="2">
                  <a:spcBef>
                    <a:spcPts val="1000"/>
                  </a:spcBef>
                  <a:buFont typeface="Wingdings" panose="05000000000000000000" pitchFamily="2" charset="2"/>
                  <a:buChar char="p"/>
                </a:pPr>
                <a:r>
                  <a:rPr lang="en-US" sz="2400" dirty="0"/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</a:rPr>
                  <a:t>No encirclement </a:t>
                </a:r>
                <a:r>
                  <a:rPr lang="en-US" sz="2400" dirty="0"/>
                  <a:t>of </a:t>
                </a:r>
                <a:r>
                  <a:rPr lang="en-US" sz="2400" dirty="0" smtClean="0"/>
                  <a:t>-1/</a:t>
                </a:r>
                <a:r>
                  <a:rPr lang="en-US" sz="2400" i="1" dirty="0" smtClean="0"/>
                  <a:t>K</a:t>
                </a:r>
                <a:r>
                  <a:rPr lang="en-US" sz="2400" dirty="0" smtClean="0"/>
                  <a:t> </a:t>
                </a:r>
                <a:r>
                  <a:rPr lang="en-US" sz="2400" dirty="0"/>
                  <a:t>by 𝐺(𝑠)𝐻(𝑠</a:t>
                </a:r>
                <a:r>
                  <a:rPr lang="en-US" sz="2400" dirty="0" smtClean="0"/>
                  <a:t>)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§11.4 Nyquist Stability </a:t>
            </a:r>
            <a:r>
              <a:rPr lang="en-US" dirty="0" smtClean="0"/>
              <a:t>Criterion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49636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 dirty="0" smtClean="0"/>
              <a:t>Example (3) of CT Nyquist Stability Criterion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183954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𝑠𝑇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r>
                  <a:rPr lang="en-US" dirty="0" smtClean="0"/>
                  <a:t> Nyquist plot: infinity </a:t>
                </a:r>
                <a:r>
                  <a:rPr lang="en-US" altLang="zh-CN" dirty="0" smtClean="0"/>
                  <a:t>number </a:t>
                </a:r>
                <a:r>
                  <a:rPr lang="en-US" altLang="zh-CN" dirty="0"/>
                  <a:t>of </a:t>
                </a:r>
                <a:r>
                  <a:rPr lang="en-US" dirty="0"/>
                  <a:t>encirclements of </a:t>
                </a:r>
                <a:r>
                  <a:rPr lang="en-US" dirty="0" smtClean="0"/>
                  <a:t>the origin by </a:t>
                </a:r>
                <a:r>
                  <a:rPr lang="en-US" dirty="0"/>
                  <a:t>𝐺(𝑠)𝐻(𝑠</a:t>
                </a:r>
                <a:r>
                  <a:rPr lang="en-US" dirty="0" smtClean="0"/>
                  <a:t>)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varies from -∞ to +∞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</a:t>
                </a:r>
                <a:r>
                  <a:rPr lang="en-US" altLang="zh-CN" dirty="0" smtClean="0"/>
                  <a:t>For stability: </a:t>
                </a:r>
                <a:r>
                  <a:rPr lang="en-US" dirty="0" smtClean="0"/>
                  <a:t>-1/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&lt;-1 or </a:t>
                </a:r>
                <a:r>
                  <a:rPr lang="en-US" dirty="0"/>
                  <a:t>-</a:t>
                </a:r>
                <a:r>
                  <a:rPr lang="en-US" dirty="0" smtClean="0"/>
                  <a:t>1/</a:t>
                </a:r>
                <a:r>
                  <a:rPr lang="en-US" i="1" dirty="0" smtClean="0"/>
                  <a:t>K</a:t>
                </a:r>
                <a:r>
                  <a:rPr lang="en-US" dirty="0" smtClean="0"/>
                  <a:t>&gt;1  </a:t>
                </a:r>
                <a:r>
                  <a:rPr lang="en-US" dirty="0" smtClean="0">
                    <a:sym typeface="Wingdings" panose="05000000000000000000" pitchFamily="2" charset="2"/>
                  </a:rPr>
                  <a:t> |</a:t>
                </a:r>
                <a:r>
                  <a:rPr lang="en-US" i="1" dirty="0" smtClean="0"/>
                  <a:t>K|</a:t>
                </a:r>
                <a:r>
                  <a:rPr lang="en-US" dirty="0" smtClean="0"/>
                  <a:t>&lt;1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1839545"/>
              </a:xfrm>
              <a:blipFill>
                <a:blip r:embed="rId2"/>
                <a:stretch>
                  <a:fillRect l="-1005" t="-6645" r="-927" b="-4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§11.4 Nyquist Stability </a:t>
            </a:r>
            <a:r>
              <a:rPr lang="en-US" dirty="0" smtClean="0"/>
              <a:t>Criterion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651" y="3147646"/>
            <a:ext cx="4743004" cy="3057730"/>
          </a:xfrm>
          <a:prstGeom prst="rect">
            <a:avLst/>
          </a:prstGeom>
        </p:spPr>
      </p:pic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3128890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en-US" altLang="zh-CN" dirty="0" smtClean="0"/>
              <a:t>T </a:t>
            </a:r>
            <a:r>
              <a:rPr lang="en-US" altLang="zh-CN" dirty="0"/>
              <a:t>Nyquist Stability Criterion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 smtClean="0"/>
                  <a:t> For the closed-loop system to be stable, the </a:t>
                </a:r>
                <a:r>
                  <a:rPr lang="en-US" sz="2400" b="1" dirty="0" smtClean="0">
                    <a:solidFill>
                      <a:srgbClr val="C00000"/>
                    </a:solidFill>
                  </a:rPr>
                  <a:t>net</a:t>
                </a:r>
                <a:r>
                  <a:rPr lang="en-US" sz="2400" dirty="0" smtClean="0"/>
                  <a:t> number of </a:t>
                </a:r>
                <a:r>
                  <a:rPr lang="en-US" sz="2400" b="1" dirty="0" smtClean="0">
                    <a:solidFill>
                      <a:srgbClr val="C00000"/>
                    </a:solidFill>
                  </a:rPr>
                  <a:t>clockwise</a:t>
                </a:r>
                <a:r>
                  <a:rPr lang="en-US" sz="2400" dirty="0" smtClean="0"/>
                  <a:t> encirclements of -1/</a:t>
                </a:r>
                <a:r>
                  <a:rPr lang="en-US" sz="2400" i="1" dirty="0" smtClean="0"/>
                  <a:t>K</a:t>
                </a:r>
                <a:r>
                  <a:rPr lang="en-US" sz="2400" dirty="0" smtClean="0"/>
                  <a:t> by the Nyquist plot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 smtClean="0"/>
                  <a:t> must equal </a:t>
                </a:r>
                <a:r>
                  <a:rPr lang="en-US" sz="2400" b="1" dirty="0" smtClean="0">
                    <a:solidFill>
                      <a:srgbClr val="C00000"/>
                    </a:solidFill>
                  </a:rPr>
                  <a:t>minus</a:t>
                </a:r>
                <a:r>
                  <a:rPr lang="en-US" sz="2400" dirty="0" smtClean="0"/>
                  <a:t> the number of poles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400" dirty="0" smtClean="0"/>
                  <a:t> that lie outside the unit circle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§11.4 Nyquist Stability </a:t>
            </a:r>
            <a:r>
              <a:rPr lang="en-US" dirty="0" smtClean="0"/>
              <a:t>Criterion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510500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Gain Margin and Phase Margin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132385"/>
            <a:ext cx="7886700" cy="2044578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Gain</a:t>
            </a:r>
            <a:r>
              <a:rPr lang="en-US" b="1" dirty="0" smtClean="0">
                <a:solidFill>
                  <a:srgbClr val="C00000"/>
                </a:solidFill>
              </a:rPr>
              <a:t> margin</a:t>
            </a:r>
            <a:r>
              <a:rPr lang="en-US" dirty="0" smtClean="0"/>
              <a:t>: the minimum additional gain </a:t>
            </a:r>
            <a:r>
              <a:rPr lang="en-US" i="1" dirty="0" smtClean="0"/>
              <a:t>K</a:t>
            </a:r>
            <a:r>
              <a:rPr lang="en-US" dirty="0" smtClean="0"/>
              <a:t> (</a:t>
            </a:r>
            <a:r>
              <a:rPr lang="el-GR" i="1" dirty="0" smtClean="0"/>
              <a:t>φ</a:t>
            </a:r>
            <a:r>
              <a:rPr lang="en-US" dirty="0" smtClean="0"/>
              <a:t>=0) to make the closed-loop system unstable</a:t>
            </a:r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Phase margin</a:t>
            </a:r>
            <a:r>
              <a:rPr lang="en-US" dirty="0" smtClean="0"/>
              <a:t>: the minimum additional phase </a:t>
            </a:r>
            <a:r>
              <a:rPr lang="el-GR" i="1" dirty="0" smtClean="0"/>
              <a:t>φ</a:t>
            </a:r>
            <a:r>
              <a:rPr lang="en-US" dirty="0" smtClean="0"/>
              <a:t> (</a:t>
            </a:r>
            <a:r>
              <a:rPr lang="en-US" i="1" dirty="0" smtClean="0"/>
              <a:t>K</a:t>
            </a:r>
            <a:r>
              <a:rPr lang="en-US" dirty="0" smtClean="0"/>
              <a:t>=1) to make the </a:t>
            </a:r>
            <a:r>
              <a:rPr lang="en-US" dirty="0"/>
              <a:t>closed-loop system unstable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11.5 Phase and Gain Margins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4065"/>
            <a:ext cx="3438270" cy="171068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245" y="1734065"/>
            <a:ext cx="5231409" cy="1710684"/>
          </a:xfrm>
          <a:prstGeom prst="rect">
            <a:avLst/>
          </a:prstGeom>
        </p:spPr>
      </p:pic>
      <p:sp>
        <p:nvSpPr>
          <p:cNvPr id="8" name="虚尾箭头 7"/>
          <p:cNvSpPr/>
          <p:nvPr/>
        </p:nvSpPr>
        <p:spPr>
          <a:xfrm>
            <a:off x="3438270" y="2284270"/>
            <a:ext cx="624254" cy="476514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3672836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Alternative Definitions of Gain </a:t>
            </a:r>
            <a:r>
              <a:rPr lang="en-US" sz="3600" dirty="0"/>
              <a:t>Margin and Phase </a:t>
            </a:r>
            <a:r>
              <a:rPr lang="en-US" sz="3600" dirty="0" smtClean="0"/>
              <a:t>Margin (Bode Plot)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308101"/>
                <a:ext cx="8339505" cy="448603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 In the Bode plot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dirty="0" smtClean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Gain Margin</a:t>
                </a:r>
                <a:r>
                  <a:rPr lang="en-US" altLang="zh-CN" dirty="0" smtClean="0"/>
                  <a:t>: the difference between 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 smtClean="0"/>
                  <a:t> and 0 dB  for the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 smtClean="0"/>
                  <a:t> that </a:t>
                </a:r>
                <a:r>
                  <a:rPr lang="en-US" altLang="zh-CN" dirty="0" smtClean="0"/>
                  <a:t>makes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 smtClean="0"/>
                  <a:t> calculated </a:t>
                </a: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r>
                  <a:rPr lang="en-US" altLang="zh-CN" dirty="0" smtClean="0"/>
                  <a:t> </a:t>
                </a:r>
                <a:r>
                  <a:rPr lang="en-US" altLang="zh-CN" b="1" dirty="0" smtClean="0">
                    <a:solidFill>
                      <a:srgbClr val="C00000"/>
                    </a:solidFill>
                  </a:rPr>
                  <a:t>Phase Margin</a:t>
                </a:r>
                <a:r>
                  <a:rPr lang="en-US" altLang="zh-CN" dirty="0"/>
                  <a:t>: the difference between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 smtClean="0"/>
                  <a:t> or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 smtClean="0"/>
                  <a:t> for </a:t>
                </a:r>
                <a:r>
                  <a:rPr lang="en-US" dirty="0"/>
                  <a:t>the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that makes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 smtClean="0"/>
                  <a:t>  (assume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 smtClean="0"/>
                  <a:t>&lt;</a:t>
                </a:r>
                <a:r>
                  <a:rPr lang="en-US" dirty="0" smtClean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 smtClean="0"/>
                  <a:t>)</a:t>
                </a:r>
              </a:p>
              <a:p>
                <a:pPr lvl="1"/>
                <a:r>
                  <a:rPr lang="en-US" dirty="0"/>
                  <a:t>calculated as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 smtClean="0"/>
                  <a:t>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calculated as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308101"/>
                <a:ext cx="8339505" cy="4486030"/>
              </a:xfrm>
              <a:blipFill>
                <a:blip r:embed="rId2"/>
                <a:stretch>
                  <a:fillRect l="-1096" t="-3129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§11.5 Phase and Gain </a:t>
            </a:r>
            <a:r>
              <a:rPr lang="en-US" dirty="0" smtClean="0"/>
              <a:t>Margins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52858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Stability Analysis Based on Bode Plot</a:t>
            </a:r>
            <a:endParaRPr lang="en-US" sz="3600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187" y="1645690"/>
            <a:ext cx="6482357" cy="4265583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§11.5 Phase and Gain </a:t>
            </a:r>
            <a:r>
              <a:rPr lang="en-US" dirty="0" smtClean="0"/>
              <a:t>Margins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5709890" y="1582572"/>
            <a:ext cx="3005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</a:t>
            </a:r>
            <a:r>
              <a:rPr lang="en-US" altLang="zh-CN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Margin=48.92°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143999" y="3583709"/>
            <a:ext cx="0" cy="355600"/>
          </a:xfrm>
          <a:prstGeom prst="straightConnector1">
            <a:avLst/>
          </a:prstGeom>
          <a:ln w="44450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6143999" y="2041175"/>
            <a:ext cx="1928583" cy="1898134"/>
          </a:xfrm>
          <a:prstGeom prst="straightConnector1">
            <a:avLst/>
          </a:prstGeom>
          <a:ln w="222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718843" y="5965155"/>
            <a:ext cx="53832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 extra 180 phase shift with negative feedback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428546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Summary</a:t>
            </a:r>
            <a:endParaRPr 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Advantage of negative feedback</a:t>
            </a:r>
          </a:p>
          <a:p>
            <a:pPr lvl="1"/>
            <a:r>
              <a:rPr lang="en-US" dirty="0" smtClean="0"/>
              <a:t> improve linearity and accuracy, stabilization, ….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What’s the cost?</a:t>
            </a:r>
          </a:p>
          <a:p>
            <a:r>
              <a:rPr lang="en-US" dirty="0"/>
              <a:t> </a:t>
            </a:r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order feedback equation</a:t>
            </a:r>
          </a:p>
          <a:p>
            <a:r>
              <a:rPr lang="en-US" dirty="0"/>
              <a:t> </a:t>
            </a:r>
            <a:r>
              <a:rPr lang="en-US" dirty="0" smtClean="0"/>
              <a:t>Root locus for stability analysis</a:t>
            </a:r>
          </a:p>
          <a:p>
            <a:r>
              <a:rPr lang="en-US" dirty="0"/>
              <a:t> </a:t>
            </a:r>
            <a:r>
              <a:rPr lang="en-US" dirty="0" smtClean="0"/>
              <a:t>Nyquist Criterion for </a:t>
            </a:r>
            <a:r>
              <a:rPr lang="en-US" dirty="0"/>
              <a:t>stability </a:t>
            </a:r>
            <a:r>
              <a:rPr lang="en-US" dirty="0" smtClean="0"/>
              <a:t>analysis</a:t>
            </a:r>
          </a:p>
          <a:p>
            <a:r>
              <a:rPr lang="en-US" dirty="0"/>
              <a:t> </a:t>
            </a:r>
            <a:r>
              <a:rPr lang="en-US" dirty="0" smtClean="0"/>
              <a:t>Gain margin/Phase Margin </a:t>
            </a:r>
            <a:r>
              <a:rPr lang="en-US" smtClean="0"/>
              <a:t>for </a:t>
            </a:r>
            <a:r>
              <a:rPr lang="en-US"/>
              <a:t>stability analysis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</a:p>
        </p:txBody>
      </p:sp>
    </p:spTree>
    <p:extLst>
      <p:ext uri="{BB962C8B-B14F-4D97-AF65-F5344CB8AC3E}">
        <p14:creationId xmlns:p14="http://schemas.microsoft.com/office/powerpoint/2010/main" val="299159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19391</TotalTime>
  <Words>7002</Words>
  <Application>Microsoft Office PowerPoint</Application>
  <PresentationFormat>全屏显示(4:3)</PresentationFormat>
  <Paragraphs>586</Paragraphs>
  <Slides>60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60</vt:i4>
      </vt:variant>
    </vt:vector>
  </HeadingPairs>
  <TitlesOfParts>
    <vt:vector size="72" baseType="lpstr">
      <vt:lpstr>等线</vt:lpstr>
      <vt:lpstr>宋体</vt:lpstr>
      <vt:lpstr>微软雅黑</vt:lpstr>
      <vt:lpstr>微软雅黑</vt:lpstr>
      <vt:lpstr>Arial</vt:lpstr>
      <vt:lpstr>Cambria Math</vt:lpstr>
      <vt:lpstr>Symbol</vt:lpstr>
      <vt:lpstr>Times New Roman</vt:lpstr>
      <vt:lpstr>Wingdings</vt:lpstr>
      <vt:lpstr>Office 主题​​</vt:lpstr>
      <vt:lpstr>Visio</vt:lpstr>
      <vt:lpstr>Equation</vt:lpstr>
      <vt:lpstr>PowerPoint 演示文稿</vt:lpstr>
      <vt:lpstr>Chapter 11   Linear Feedback Systems</vt:lpstr>
      <vt:lpstr>Outline</vt:lpstr>
      <vt:lpstr>Open-loop Control vs. Closed-Loop Control with Feedback</vt:lpstr>
      <vt:lpstr>Feedback in Analog Circuit Design</vt:lpstr>
      <vt:lpstr> Reference generation (Bandgap)</vt:lpstr>
      <vt:lpstr>Voltage Regulator</vt:lpstr>
      <vt:lpstr>Active Analog Filters</vt:lpstr>
      <vt:lpstr>Common-Mode Feedback</vt:lpstr>
      <vt:lpstr>Successive-Approximation (SAR) ADC</vt:lpstr>
      <vt:lpstr>Oversampling ADC</vt:lpstr>
      <vt:lpstr>General Configuration of CT LTI Feedback System</vt:lpstr>
      <vt:lpstr>General Configuration of DT LTI Feedback System</vt:lpstr>
      <vt:lpstr>Application of Feedback #1:  Inverse System Design</vt:lpstr>
      <vt:lpstr>Inverted Feedback with Operational Amplifier</vt:lpstr>
      <vt:lpstr>Thévenin Equivalent</vt:lpstr>
      <vt:lpstr>Inverted Feedback with Operational Amplifier (cont’)</vt:lpstr>
      <vt:lpstr>Inverse System Example</vt:lpstr>
      <vt:lpstr>Application of Feedback #2: Compensation for Nonideal Elements</vt:lpstr>
      <vt:lpstr>Extra Analysis: How the Closed-Loop Gain is Stabilized </vt:lpstr>
      <vt:lpstr>1st Order System with Feedback</vt:lpstr>
      <vt:lpstr>Application of Feedback #3:  Stabilization of Unstable Systems</vt:lpstr>
      <vt:lpstr>Application of Feedback #3:  Stabilization of Unstable Systems (cont’)</vt:lpstr>
      <vt:lpstr>Stabilization of Unstable DT System</vt:lpstr>
      <vt:lpstr>Stabilization of Unstable DT System (cont’)</vt:lpstr>
      <vt:lpstr>Tracking Systems with Feedback</vt:lpstr>
      <vt:lpstr>Tracking Systems with Feedback (Cont’)</vt:lpstr>
      <vt:lpstr>A Typical Tracking System: Phase-Locked Loop (PLL)</vt:lpstr>
      <vt:lpstr>Functional Blocks in PLL</vt:lpstr>
      <vt:lpstr>Charge Pump PLL</vt:lpstr>
      <vt:lpstr>Modeling Charge Pump PLL</vt:lpstr>
      <vt:lpstr>2nd Order PLL Transfer Function</vt:lpstr>
      <vt:lpstr>Transient Response of PLL (1)</vt:lpstr>
      <vt:lpstr>Transient Response of PLL (2)</vt:lpstr>
      <vt:lpstr>Destabilization Caused by Feedback</vt:lpstr>
      <vt:lpstr>Root Locus</vt:lpstr>
      <vt:lpstr>Equation for Closed-Loop Poles</vt:lpstr>
      <vt:lpstr>End Points of Root Locus</vt:lpstr>
      <vt:lpstr>Angle Criterion</vt:lpstr>
      <vt:lpstr>Example to Use Angle Criterion</vt:lpstr>
      <vt:lpstr>Properties of Root Locus</vt:lpstr>
      <vt:lpstr>Properties of Root Locus (Cont’)</vt:lpstr>
      <vt:lpstr>Example (1) of Root Locus Properties</vt:lpstr>
      <vt:lpstr>Example (2) of Root Locus Properties</vt:lpstr>
      <vt:lpstr>Root locus of 2nd-order loop*</vt:lpstr>
      <vt:lpstr>Root locus of 2nd-order loop (cont’)</vt:lpstr>
      <vt:lpstr>Encirclement Property</vt:lpstr>
      <vt:lpstr>Example of Encirclement Property</vt:lpstr>
      <vt:lpstr>Stability Requirement of CT LTI Feedback Systems</vt:lpstr>
      <vt:lpstr>Contour Equivalent to Right Half-Plane</vt:lpstr>
      <vt:lpstr>CT Nyquist Stability Criterion</vt:lpstr>
      <vt:lpstr>Example (1) of CT Nyquist Stability Criterion</vt:lpstr>
      <vt:lpstr>Example (2) of CT Nyquist Stability Criterion</vt:lpstr>
      <vt:lpstr>Extra Discussion on Nyquist Stability Criterion</vt:lpstr>
      <vt:lpstr>Example (3) of CT Nyquist Stability Criterion</vt:lpstr>
      <vt:lpstr>DT Nyquist Stability Criterion</vt:lpstr>
      <vt:lpstr>Gain Margin and Phase Margin</vt:lpstr>
      <vt:lpstr>Alternative Definitions of Gain Margin and Phase Margin (Bode Plot)</vt:lpstr>
      <vt:lpstr>Stability Analysis Based on Bode Plot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1105</cp:revision>
  <dcterms:created xsi:type="dcterms:W3CDTF">2018-09-11T08:26:55Z</dcterms:created>
  <dcterms:modified xsi:type="dcterms:W3CDTF">2020-12-16T01:28:55Z</dcterms:modified>
</cp:coreProperties>
</file>